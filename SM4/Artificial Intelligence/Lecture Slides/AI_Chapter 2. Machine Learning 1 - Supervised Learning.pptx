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09" r:id="rId4"/>
  </p:sldMasterIdLst>
  <p:notesMasterIdLst>
    <p:notesMasterId r:id="rId334"/>
  </p:notesMasterIdLst>
  <p:sldIdLst>
    <p:sldId id="2252" r:id="rId5"/>
    <p:sldId id="2282" r:id="rId6"/>
    <p:sldId id="2363" r:id="rId7"/>
    <p:sldId id="2826" r:id="rId8"/>
    <p:sldId id="3245" r:id="rId9"/>
    <p:sldId id="3246" r:id="rId10"/>
    <p:sldId id="3249" r:id="rId11"/>
    <p:sldId id="3250" r:id="rId12"/>
    <p:sldId id="3251" r:id="rId13"/>
    <p:sldId id="3252" r:id="rId14"/>
    <p:sldId id="3253" r:id="rId15"/>
    <p:sldId id="3254" r:id="rId16"/>
    <p:sldId id="3255" r:id="rId17"/>
    <p:sldId id="3257" r:id="rId18"/>
    <p:sldId id="3258" r:id="rId19"/>
    <p:sldId id="3259" r:id="rId20"/>
    <p:sldId id="3284" r:id="rId21"/>
    <p:sldId id="3262" r:id="rId22"/>
    <p:sldId id="3266" r:id="rId23"/>
    <p:sldId id="3681" r:id="rId24"/>
    <p:sldId id="3267" r:id="rId25"/>
    <p:sldId id="3268" r:id="rId26"/>
    <p:sldId id="3269" r:id="rId27"/>
    <p:sldId id="3270" r:id="rId28"/>
    <p:sldId id="3271" r:id="rId29"/>
    <p:sldId id="3272" r:id="rId30"/>
    <p:sldId id="3273" r:id="rId31"/>
    <p:sldId id="3274" r:id="rId32"/>
    <p:sldId id="3275" r:id="rId33"/>
    <p:sldId id="3277" r:id="rId34"/>
    <p:sldId id="3276" r:id="rId35"/>
    <p:sldId id="3279" r:id="rId36"/>
    <p:sldId id="3280" r:id="rId37"/>
    <p:sldId id="3281" r:id="rId38"/>
    <p:sldId id="3287" r:id="rId39"/>
    <p:sldId id="3289" r:id="rId40"/>
    <p:sldId id="3290" r:id="rId41"/>
    <p:sldId id="3291" r:id="rId42"/>
    <p:sldId id="3292" r:id="rId43"/>
    <p:sldId id="3293" r:id="rId44"/>
    <p:sldId id="3295" r:id="rId45"/>
    <p:sldId id="3297" r:id="rId46"/>
    <p:sldId id="3298" r:id="rId47"/>
    <p:sldId id="3675" r:id="rId48"/>
    <p:sldId id="3300" r:id="rId49"/>
    <p:sldId id="3301" r:id="rId50"/>
    <p:sldId id="3303" r:id="rId51"/>
    <p:sldId id="3306" r:id="rId52"/>
    <p:sldId id="3307" r:id="rId53"/>
    <p:sldId id="3308" r:id="rId54"/>
    <p:sldId id="3309" r:id="rId55"/>
    <p:sldId id="3310" r:id="rId56"/>
    <p:sldId id="3311" r:id="rId57"/>
    <p:sldId id="3312" r:id="rId58"/>
    <p:sldId id="3683" r:id="rId59"/>
    <p:sldId id="3313" r:id="rId60"/>
    <p:sldId id="3315" r:id="rId61"/>
    <p:sldId id="3316" r:id="rId62"/>
    <p:sldId id="3317" r:id="rId63"/>
    <p:sldId id="3318" r:id="rId64"/>
    <p:sldId id="3319" r:id="rId65"/>
    <p:sldId id="3320" r:id="rId66"/>
    <p:sldId id="3321" r:id="rId67"/>
    <p:sldId id="3322" r:id="rId68"/>
    <p:sldId id="3323" r:id="rId69"/>
    <p:sldId id="3324" r:id="rId70"/>
    <p:sldId id="3325" r:id="rId71"/>
    <p:sldId id="3326" r:id="rId72"/>
    <p:sldId id="3327" r:id="rId73"/>
    <p:sldId id="3328" r:id="rId74"/>
    <p:sldId id="3329" r:id="rId75"/>
    <p:sldId id="3330" r:id="rId76"/>
    <p:sldId id="3331" r:id="rId77"/>
    <p:sldId id="3332" r:id="rId78"/>
    <p:sldId id="3333" r:id="rId79"/>
    <p:sldId id="3334" r:id="rId80"/>
    <p:sldId id="3335" r:id="rId81"/>
    <p:sldId id="3336" r:id="rId82"/>
    <p:sldId id="3337" r:id="rId83"/>
    <p:sldId id="3338" r:id="rId84"/>
    <p:sldId id="3339" r:id="rId85"/>
    <p:sldId id="3340" r:id="rId86"/>
    <p:sldId id="3341" r:id="rId87"/>
    <p:sldId id="3342" r:id="rId88"/>
    <p:sldId id="3343" r:id="rId89"/>
    <p:sldId id="3344" r:id="rId90"/>
    <p:sldId id="3372" r:id="rId91"/>
    <p:sldId id="3373" r:id="rId92"/>
    <p:sldId id="3374" r:id="rId93"/>
    <p:sldId id="3376" r:id="rId94"/>
    <p:sldId id="3375" r:id="rId95"/>
    <p:sldId id="3377" r:id="rId96"/>
    <p:sldId id="3378" r:id="rId97"/>
    <p:sldId id="3444" r:id="rId98"/>
    <p:sldId id="3445" r:id="rId99"/>
    <p:sldId id="3446" r:id="rId100"/>
    <p:sldId id="3447" r:id="rId101"/>
    <p:sldId id="3448" r:id="rId102"/>
    <p:sldId id="3449" r:id="rId103"/>
    <p:sldId id="3450" r:id="rId104"/>
    <p:sldId id="3451" r:id="rId105"/>
    <p:sldId id="3452" r:id="rId106"/>
    <p:sldId id="3453" r:id="rId107"/>
    <p:sldId id="3454" r:id="rId108"/>
    <p:sldId id="3455" r:id="rId109"/>
    <p:sldId id="3456" r:id="rId110"/>
    <p:sldId id="3457" r:id="rId111"/>
    <p:sldId id="3458" r:id="rId112"/>
    <p:sldId id="3459" r:id="rId113"/>
    <p:sldId id="3460" r:id="rId114"/>
    <p:sldId id="3461" r:id="rId115"/>
    <p:sldId id="3679" r:id="rId116"/>
    <p:sldId id="3462" r:id="rId117"/>
    <p:sldId id="3463" r:id="rId118"/>
    <p:sldId id="3464" r:id="rId119"/>
    <p:sldId id="3680" r:id="rId120"/>
    <p:sldId id="3465" r:id="rId121"/>
    <p:sldId id="3466" r:id="rId122"/>
    <p:sldId id="3467" r:id="rId123"/>
    <p:sldId id="3468" r:id="rId124"/>
    <p:sldId id="3469" r:id="rId125"/>
    <p:sldId id="3470" r:id="rId126"/>
    <p:sldId id="3471" r:id="rId127"/>
    <p:sldId id="3472" r:id="rId128"/>
    <p:sldId id="3473" r:id="rId129"/>
    <p:sldId id="3474" r:id="rId130"/>
    <p:sldId id="3475" r:id="rId131"/>
    <p:sldId id="3476" r:id="rId132"/>
    <p:sldId id="3477" r:id="rId133"/>
    <p:sldId id="3478" r:id="rId134"/>
    <p:sldId id="3479" r:id="rId135"/>
    <p:sldId id="3480" r:id="rId136"/>
    <p:sldId id="3481" r:id="rId137"/>
    <p:sldId id="3482" r:id="rId138"/>
    <p:sldId id="3483" r:id="rId139"/>
    <p:sldId id="3484" r:id="rId140"/>
    <p:sldId id="3485" r:id="rId141"/>
    <p:sldId id="3486" r:id="rId142"/>
    <p:sldId id="3487" r:id="rId143"/>
    <p:sldId id="3488" r:id="rId144"/>
    <p:sldId id="3489" r:id="rId145"/>
    <p:sldId id="3490" r:id="rId146"/>
    <p:sldId id="3491" r:id="rId147"/>
    <p:sldId id="3492" r:id="rId148"/>
    <p:sldId id="3493" r:id="rId149"/>
    <p:sldId id="3494" r:id="rId150"/>
    <p:sldId id="3495" r:id="rId151"/>
    <p:sldId id="3496" r:id="rId152"/>
    <p:sldId id="3497" r:id="rId153"/>
    <p:sldId id="3498" r:id="rId154"/>
    <p:sldId id="3499" r:id="rId155"/>
    <p:sldId id="3500" r:id="rId156"/>
    <p:sldId id="3501" r:id="rId157"/>
    <p:sldId id="3502" r:id="rId158"/>
    <p:sldId id="3503" r:id="rId159"/>
    <p:sldId id="3504" r:id="rId160"/>
    <p:sldId id="3505" r:id="rId161"/>
    <p:sldId id="3506" r:id="rId162"/>
    <p:sldId id="3507" r:id="rId163"/>
    <p:sldId id="3508" r:id="rId164"/>
    <p:sldId id="3509" r:id="rId165"/>
    <p:sldId id="3510" r:id="rId166"/>
    <p:sldId id="3511" r:id="rId167"/>
    <p:sldId id="3512" r:id="rId168"/>
    <p:sldId id="3513" r:id="rId169"/>
    <p:sldId id="3514" r:id="rId170"/>
    <p:sldId id="3515" r:id="rId171"/>
    <p:sldId id="3516" r:id="rId172"/>
    <p:sldId id="3517" r:id="rId173"/>
    <p:sldId id="3518" r:id="rId174"/>
    <p:sldId id="3519" r:id="rId175"/>
    <p:sldId id="3520" r:id="rId176"/>
    <p:sldId id="3521" r:id="rId177"/>
    <p:sldId id="3523" r:id="rId178"/>
    <p:sldId id="3524" r:id="rId179"/>
    <p:sldId id="3525" r:id="rId180"/>
    <p:sldId id="3526" r:id="rId181"/>
    <p:sldId id="3527" r:id="rId182"/>
    <p:sldId id="3528" r:id="rId183"/>
    <p:sldId id="3529" r:id="rId184"/>
    <p:sldId id="3530" r:id="rId185"/>
    <p:sldId id="3531" r:id="rId186"/>
    <p:sldId id="3532" r:id="rId187"/>
    <p:sldId id="3533" r:id="rId188"/>
    <p:sldId id="3534" r:id="rId189"/>
    <p:sldId id="3535" r:id="rId190"/>
    <p:sldId id="3536" r:id="rId191"/>
    <p:sldId id="3537" r:id="rId192"/>
    <p:sldId id="3538" r:id="rId193"/>
    <p:sldId id="3539" r:id="rId194"/>
    <p:sldId id="3540" r:id="rId195"/>
    <p:sldId id="3541" r:id="rId196"/>
    <p:sldId id="3542" r:id="rId197"/>
    <p:sldId id="3592" r:id="rId198"/>
    <p:sldId id="3593" r:id="rId199"/>
    <p:sldId id="3594" r:id="rId200"/>
    <p:sldId id="3595" r:id="rId201"/>
    <p:sldId id="3596" r:id="rId202"/>
    <p:sldId id="3597" r:id="rId203"/>
    <p:sldId id="3598" r:id="rId204"/>
    <p:sldId id="3599" r:id="rId205"/>
    <p:sldId id="3600" r:id="rId206"/>
    <p:sldId id="3601" r:id="rId207"/>
    <p:sldId id="3602" r:id="rId208"/>
    <p:sldId id="3603" r:id="rId209"/>
    <p:sldId id="3604" r:id="rId210"/>
    <p:sldId id="3605" r:id="rId211"/>
    <p:sldId id="3606" r:id="rId212"/>
    <p:sldId id="3607" r:id="rId213"/>
    <p:sldId id="3608" r:id="rId214"/>
    <p:sldId id="3609" r:id="rId215"/>
    <p:sldId id="3610" r:id="rId216"/>
    <p:sldId id="3611" r:id="rId217"/>
    <p:sldId id="3612" r:id="rId218"/>
    <p:sldId id="3613" r:id="rId219"/>
    <p:sldId id="3614" r:id="rId220"/>
    <p:sldId id="3615" r:id="rId221"/>
    <p:sldId id="3616" r:id="rId222"/>
    <p:sldId id="3617" r:id="rId223"/>
    <p:sldId id="3618" r:id="rId224"/>
    <p:sldId id="3619" r:id="rId225"/>
    <p:sldId id="3682" r:id="rId226"/>
    <p:sldId id="3620" r:id="rId227"/>
    <p:sldId id="3621" r:id="rId228"/>
    <p:sldId id="3622" r:id="rId229"/>
    <p:sldId id="3623" r:id="rId230"/>
    <p:sldId id="3624" r:id="rId231"/>
    <p:sldId id="3625" r:id="rId232"/>
    <p:sldId id="3626" r:id="rId233"/>
    <p:sldId id="3627" r:id="rId234"/>
    <p:sldId id="3628" r:id="rId235"/>
    <p:sldId id="3629" r:id="rId236"/>
    <p:sldId id="3630" r:id="rId237"/>
    <p:sldId id="3631" r:id="rId238"/>
    <p:sldId id="3632" r:id="rId239"/>
    <p:sldId id="3633" r:id="rId240"/>
    <p:sldId id="3634" r:id="rId241"/>
    <p:sldId id="3635" r:id="rId242"/>
    <p:sldId id="3636" r:id="rId243"/>
    <p:sldId id="3637" r:id="rId244"/>
    <p:sldId id="3638" r:id="rId245"/>
    <p:sldId id="3639" r:id="rId246"/>
    <p:sldId id="3640" r:id="rId247"/>
    <p:sldId id="3641" r:id="rId248"/>
    <p:sldId id="3642" r:id="rId249"/>
    <p:sldId id="3643" r:id="rId250"/>
    <p:sldId id="3644" r:id="rId251"/>
    <p:sldId id="3645" r:id="rId252"/>
    <p:sldId id="3646" r:id="rId253"/>
    <p:sldId id="3647" r:id="rId254"/>
    <p:sldId id="3648" r:id="rId255"/>
    <p:sldId id="3649" r:id="rId256"/>
    <p:sldId id="3650" r:id="rId257"/>
    <p:sldId id="3651" r:id="rId258"/>
    <p:sldId id="3652" r:id="rId259"/>
    <p:sldId id="3653" r:id="rId260"/>
    <p:sldId id="3655" r:id="rId261"/>
    <p:sldId id="3656" r:id="rId262"/>
    <p:sldId id="3657" r:id="rId263"/>
    <p:sldId id="3658" r:id="rId264"/>
    <p:sldId id="3659" r:id="rId265"/>
    <p:sldId id="3660" r:id="rId266"/>
    <p:sldId id="3663" r:id="rId267"/>
    <p:sldId id="3661" r:id="rId268"/>
    <p:sldId id="3664" r:id="rId269"/>
    <p:sldId id="3665" r:id="rId270"/>
    <p:sldId id="3666" r:id="rId271"/>
    <p:sldId id="3667" r:id="rId272"/>
    <p:sldId id="3668" r:id="rId273"/>
    <p:sldId id="3669" r:id="rId274"/>
    <p:sldId id="3670" r:id="rId275"/>
    <p:sldId id="3671" r:id="rId276"/>
    <p:sldId id="3672" r:id="rId277"/>
    <p:sldId id="3673" r:id="rId278"/>
    <p:sldId id="3674" r:id="rId279"/>
    <p:sldId id="3202" r:id="rId280"/>
    <p:sldId id="3203" r:id="rId281"/>
    <p:sldId id="3543" r:id="rId282"/>
    <p:sldId id="3544" r:id="rId283"/>
    <p:sldId id="3545" r:id="rId284"/>
    <p:sldId id="3546" r:id="rId285"/>
    <p:sldId id="3547" r:id="rId286"/>
    <p:sldId id="3548" r:id="rId287"/>
    <p:sldId id="3549" r:id="rId288"/>
    <p:sldId id="3550" r:id="rId289"/>
    <p:sldId id="3551" r:id="rId290"/>
    <p:sldId id="3552" r:id="rId291"/>
    <p:sldId id="3553" r:id="rId292"/>
    <p:sldId id="3554" r:id="rId293"/>
    <p:sldId id="3555" r:id="rId294"/>
    <p:sldId id="3556" r:id="rId295"/>
    <p:sldId id="3557" r:id="rId296"/>
    <p:sldId id="3558" r:id="rId297"/>
    <p:sldId id="3559" r:id="rId298"/>
    <p:sldId id="3560" r:id="rId299"/>
    <p:sldId id="3561" r:id="rId300"/>
    <p:sldId id="3562" r:id="rId301"/>
    <p:sldId id="3563" r:id="rId302"/>
    <p:sldId id="3564" r:id="rId303"/>
    <p:sldId id="3565" r:id="rId304"/>
    <p:sldId id="3566" r:id="rId305"/>
    <p:sldId id="3567" r:id="rId306"/>
    <p:sldId id="3568" r:id="rId307"/>
    <p:sldId id="3569" r:id="rId308"/>
    <p:sldId id="3570" r:id="rId309"/>
    <p:sldId id="3571" r:id="rId310"/>
    <p:sldId id="3572" r:id="rId311"/>
    <p:sldId id="3573" r:id="rId312"/>
    <p:sldId id="3574" r:id="rId313"/>
    <p:sldId id="3575" r:id="rId314"/>
    <p:sldId id="3576" r:id="rId315"/>
    <p:sldId id="3577" r:id="rId316"/>
    <p:sldId id="3578" r:id="rId317"/>
    <p:sldId id="3579" r:id="rId318"/>
    <p:sldId id="3580" r:id="rId319"/>
    <p:sldId id="3581" r:id="rId320"/>
    <p:sldId id="3582" r:id="rId321"/>
    <p:sldId id="3583" r:id="rId322"/>
    <p:sldId id="3584" r:id="rId323"/>
    <p:sldId id="3585" r:id="rId324"/>
    <p:sldId id="3586" r:id="rId325"/>
    <p:sldId id="3587" r:id="rId326"/>
    <p:sldId id="3588" r:id="rId327"/>
    <p:sldId id="3589" r:id="rId328"/>
    <p:sldId id="3238" r:id="rId329"/>
    <p:sldId id="3590" r:id="rId330"/>
    <p:sldId id="3591" r:id="rId331"/>
    <p:sldId id="2689" r:id="rId332"/>
    <p:sldId id="2690" r:id="rId333"/>
  </p:sldIdLst>
  <p:sldSz cx="9902825" cy="6858000"/>
  <p:notesSz cx="6858000" cy="9144000"/>
  <p:embeddedFontLst>
    <p:embeddedFont>
      <p:font typeface="D2Coding" panose="020B0604020202020204" charset="-127"/>
      <p:regular r:id="rId335"/>
      <p:bold r:id="rId336"/>
    </p:embeddedFont>
    <p:embeddedFont>
      <p:font typeface="HY견고딕" panose="020B0604020202020204" charset="-127"/>
      <p:regular r:id="rId337"/>
    </p:embeddedFont>
    <p:embeddedFont>
      <p:font typeface="맑은 고딕" panose="020B0503020000020004" pitchFamily="34" charset="-127"/>
      <p:regular r:id="rId338"/>
      <p:bold r:id="rId339"/>
    </p:embeddedFont>
    <p:embeddedFont>
      <p:font typeface="Cambria Math" panose="02040503050406030204" pitchFamily="18" charset="0"/>
      <p:regular r:id="rId340"/>
    </p:embeddedFont>
    <p:embeddedFont>
      <p:font typeface="Samsung Sharp Sans" panose="020B0604020202020204" charset="0"/>
      <p:bold r:id="rId341"/>
    </p:embeddedFont>
    <p:embeddedFont>
      <p:font typeface="SamsungOne 400" panose="020B0503030303020204" charset="0"/>
      <p:regular r:id="rId342"/>
    </p:embeddedFont>
    <p:embeddedFont>
      <p:font typeface="SamsungOne 400C" panose="020B0506030303020204" charset="0"/>
      <p:regular r:id="rId343"/>
    </p:embeddedFont>
    <p:embeddedFont>
      <p:font typeface="SamsungOne 700" panose="020B0803030303020204" charset="0"/>
      <p:bold r:id="rId344"/>
    </p:embeddedFont>
    <p:embeddedFont>
      <p:font typeface="SamsungOne-400" panose="020B0503030303020204" charset="0"/>
      <p:regular r:id="rId345"/>
    </p:embeddedFont>
    <p:embeddedFont>
      <p:font typeface="SamsungOne-700" panose="020B0803030303020204" charset="0"/>
      <p:bold r:id="rId34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68AC18A-1011-48CB-8492-9F868CF7B34D}">
          <p14:sldIdLst>
            <p14:sldId id="2252"/>
            <p14:sldId id="2282"/>
          </p14:sldIdLst>
        </p14:section>
        <p14:section name="Unit 1" id="{EF77ECDB-CDF4-447C-9C63-5ADBDC6690FD}">
          <p14:sldIdLst>
            <p14:sldId id="2363"/>
            <p14:sldId id="2826"/>
            <p14:sldId id="3245"/>
            <p14:sldId id="3246"/>
            <p14:sldId id="3249"/>
            <p14:sldId id="3250"/>
            <p14:sldId id="3251"/>
            <p14:sldId id="3252"/>
            <p14:sldId id="3253"/>
            <p14:sldId id="3254"/>
            <p14:sldId id="3255"/>
            <p14:sldId id="3257"/>
            <p14:sldId id="3258"/>
            <p14:sldId id="3259"/>
            <p14:sldId id="3284"/>
            <p14:sldId id="3262"/>
            <p14:sldId id="3266"/>
            <p14:sldId id="3681"/>
            <p14:sldId id="3267"/>
            <p14:sldId id="3268"/>
            <p14:sldId id="3269"/>
            <p14:sldId id="3270"/>
            <p14:sldId id="3271"/>
            <p14:sldId id="3272"/>
            <p14:sldId id="3273"/>
            <p14:sldId id="3274"/>
            <p14:sldId id="3275"/>
            <p14:sldId id="3277"/>
            <p14:sldId id="3276"/>
            <p14:sldId id="3279"/>
            <p14:sldId id="3280"/>
            <p14:sldId id="3281"/>
            <p14:sldId id="3287"/>
            <p14:sldId id="3289"/>
            <p14:sldId id="3290"/>
            <p14:sldId id="3291"/>
            <p14:sldId id="3292"/>
            <p14:sldId id="3293"/>
            <p14:sldId id="3295"/>
            <p14:sldId id="3297"/>
            <p14:sldId id="3298"/>
            <p14:sldId id="3675"/>
            <p14:sldId id="3300"/>
            <p14:sldId id="3301"/>
            <p14:sldId id="3303"/>
            <p14:sldId id="3306"/>
            <p14:sldId id="3307"/>
            <p14:sldId id="3308"/>
            <p14:sldId id="3309"/>
            <p14:sldId id="3310"/>
            <p14:sldId id="3311"/>
            <p14:sldId id="3312"/>
            <p14:sldId id="3683"/>
            <p14:sldId id="3313"/>
            <p14:sldId id="3315"/>
            <p14:sldId id="3316"/>
            <p14:sldId id="3317"/>
            <p14:sldId id="3318"/>
            <p14:sldId id="3319"/>
            <p14:sldId id="3320"/>
            <p14:sldId id="3321"/>
            <p14:sldId id="3322"/>
            <p14:sldId id="3323"/>
            <p14:sldId id="3324"/>
            <p14:sldId id="3325"/>
            <p14:sldId id="3326"/>
            <p14:sldId id="3327"/>
            <p14:sldId id="3328"/>
            <p14:sldId id="3329"/>
            <p14:sldId id="3330"/>
            <p14:sldId id="3331"/>
            <p14:sldId id="3332"/>
            <p14:sldId id="3333"/>
            <p14:sldId id="3334"/>
            <p14:sldId id="3335"/>
            <p14:sldId id="3336"/>
            <p14:sldId id="3337"/>
            <p14:sldId id="3338"/>
            <p14:sldId id="3339"/>
            <p14:sldId id="3340"/>
            <p14:sldId id="3341"/>
            <p14:sldId id="3342"/>
            <p14:sldId id="3343"/>
            <p14:sldId id="3344"/>
            <p14:sldId id="3372"/>
            <p14:sldId id="3373"/>
            <p14:sldId id="3374"/>
            <p14:sldId id="3376"/>
            <p14:sldId id="3375"/>
            <p14:sldId id="3377"/>
            <p14:sldId id="3378"/>
          </p14:sldIdLst>
        </p14:section>
        <p14:section name="Unit 2" id="{733831E7-DB1E-4850-AA69-4D36B01E7AF8}">
          <p14:sldIdLst>
            <p14:sldId id="3444"/>
            <p14:sldId id="3445"/>
            <p14:sldId id="3446"/>
            <p14:sldId id="3447"/>
            <p14:sldId id="3448"/>
            <p14:sldId id="3449"/>
            <p14:sldId id="3450"/>
            <p14:sldId id="3451"/>
            <p14:sldId id="3452"/>
            <p14:sldId id="3453"/>
            <p14:sldId id="3454"/>
            <p14:sldId id="3455"/>
            <p14:sldId id="3456"/>
            <p14:sldId id="3457"/>
            <p14:sldId id="3458"/>
            <p14:sldId id="3459"/>
            <p14:sldId id="3460"/>
            <p14:sldId id="3461"/>
            <p14:sldId id="3679"/>
            <p14:sldId id="3462"/>
            <p14:sldId id="3463"/>
            <p14:sldId id="3464"/>
            <p14:sldId id="3680"/>
            <p14:sldId id="3465"/>
            <p14:sldId id="3466"/>
            <p14:sldId id="3467"/>
            <p14:sldId id="3468"/>
            <p14:sldId id="3469"/>
            <p14:sldId id="3470"/>
            <p14:sldId id="3471"/>
            <p14:sldId id="3472"/>
            <p14:sldId id="3473"/>
            <p14:sldId id="3474"/>
            <p14:sldId id="3475"/>
            <p14:sldId id="3476"/>
            <p14:sldId id="3477"/>
            <p14:sldId id="3478"/>
            <p14:sldId id="3479"/>
            <p14:sldId id="3480"/>
            <p14:sldId id="3481"/>
            <p14:sldId id="3482"/>
            <p14:sldId id="3483"/>
            <p14:sldId id="3484"/>
            <p14:sldId id="3485"/>
            <p14:sldId id="3486"/>
            <p14:sldId id="3487"/>
            <p14:sldId id="3488"/>
            <p14:sldId id="3489"/>
            <p14:sldId id="3490"/>
            <p14:sldId id="3491"/>
            <p14:sldId id="3492"/>
            <p14:sldId id="3493"/>
            <p14:sldId id="3494"/>
            <p14:sldId id="3495"/>
            <p14:sldId id="3496"/>
            <p14:sldId id="3497"/>
            <p14:sldId id="3498"/>
            <p14:sldId id="3499"/>
            <p14:sldId id="3500"/>
            <p14:sldId id="3501"/>
            <p14:sldId id="3502"/>
            <p14:sldId id="3503"/>
            <p14:sldId id="3504"/>
            <p14:sldId id="3505"/>
            <p14:sldId id="3506"/>
            <p14:sldId id="3507"/>
            <p14:sldId id="3508"/>
            <p14:sldId id="3509"/>
            <p14:sldId id="3510"/>
            <p14:sldId id="3511"/>
            <p14:sldId id="3512"/>
          </p14:sldIdLst>
        </p14:section>
        <p14:section name="Unit 3" id="{7952FC69-47DA-4307-AED5-0F358A912050}">
          <p14:sldIdLst>
            <p14:sldId id="3513"/>
            <p14:sldId id="3514"/>
            <p14:sldId id="3515"/>
            <p14:sldId id="3516"/>
            <p14:sldId id="3517"/>
            <p14:sldId id="3518"/>
            <p14:sldId id="3519"/>
            <p14:sldId id="3520"/>
            <p14:sldId id="3521"/>
            <p14:sldId id="3523"/>
            <p14:sldId id="3524"/>
            <p14:sldId id="3525"/>
            <p14:sldId id="3526"/>
            <p14:sldId id="3527"/>
            <p14:sldId id="3528"/>
            <p14:sldId id="3529"/>
            <p14:sldId id="3530"/>
            <p14:sldId id="3531"/>
            <p14:sldId id="3532"/>
            <p14:sldId id="3533"/>
            <p14:sldId id="3534"/>
            <p14:sldId id="3535"/>
            <p14:sldId id="3536"/>
            <p14:sldId id="3537"/>
            <p14:sldId id="3538"/>
            <p14:sldId id="3539"/>
            <p14:sldId id="3540"/>
            <p14:sldId id="3541"/>
            <p14:sldId id="3542"/>
            <p14:sldId id="3592"/>
            <p14:sldId id="3593"/>
            <p14:sldId id="3594"/>
            <p14:sldId id="3595"/>
            <p14:sldId id="3596"/>
            <p14:sldId id="3597"/>
            <p14:sldId id="3598"/>
            <p14:sldId id="3599"/>
            <p14:sldId id="3600"/>
            <p14:sldId id="3601"/>
            <p14:sldId id="3602"/>
            <p14:sldId id="3603"/>
            <p14:sldId id="3604"/>
            <p14:sldId id="3605"/>
            <p14:sldId id="3606"/>
            <p14:sldId id="3607"/>
            <p14:sldId id="3608"/>
            <p14:sldId id="3609"/>
            <p14:sldId id="3610"/>
            <p14:sldId id="3611"/>
          </p14:sldIdLst>
        </p14:section>
        <p14:section name="Unit 4" id="{AC410066-2C62-4CF6-947D-9DC47AE461A3}">
          <p14:sldIdLst>
            <p14:sldId id="3612"/>
            <p14:sldId id="3613"/>
            <p14:sldId id="3614"/>
            <p14:sldId id="3615"/>
            <p14:sldId id="3616"/>
            <p14:sldId id="3617"/>
            <p14:sldId id="3618"/>
            <p14:sldId id="3619"/>
            <p14:sldId id="3682"/>
            <p14:sldId id="3620"/>
            <p14:sldId id="3621"/>
            <p14:sldId id="3622"/>
            <p14:sldId id="3623"/>
            <p14:sldId id="3624"/>
            <p14:sldId id="3625"/>
            <p14:sldId id="3626"/>
            <p14:sldId id="3627"/>
            <p14:sldId id="3628"/>
            <p14:sldId id="3629"/>
            <p14:sldId id="3630"/>
            <p14:sldId id="3631"/>
            <p14:sldId id="3632"/>
            <p14:sldId id="3633"/>
            <p14:sldId id="3634"/>
            <p14:sldId id="3635"/>
          </p14:sldIdLst>
        </p14:section>
        <p14:section name="Unit 5" id="{CC00D26E-1DBF-4886-9B1C-A0A8084D8FE6}">
          <p14:sldIdLst>
            <p14:sldId id="3636"/>
            <p14:sldId id="3637"/>
            <p14:sldId id="3638"/>
            <p14:sldId id="3639"/>
            <p14:sldId id="3640"/>
            <p14:sldId id="3641"/>
            <p14:sldId id="3642"/>
            <p14:sldId id="3643"/>
            <p14:sldId id="3644"/>
            <p14:sldId id="3645"/>
            <p14:sldId id="3646"/>
            <p14:sldId id="3647"/>
            <p14:sldId id="3648"/>
          </p14:sldIdLst>
        </p14:section>
        <p14:section name="Unit 6" id="{64E28EA9-7614-495B-8A1D-29A088219B21}">
          <p14:sldIdLst>
            <p14:sldId id="3649"/>
            <p14:sldId id="3650"/>
            <p14:sldId id="3651"/>
            <p14:sldId id="3652"/>
            <p14:sldId id="3653"/>
            <p14:sldId id="3655"/>
            <p14:sldId id="3656"/>
            <p14:sldId id="3657"/>
            <p14:sldId id="3658"/>
          </p14:sldIdLst>
        </p14:section>
        <p14:section name="Unit 7" id="{13B8A3AF-6303-429F-8654-ADB7B49FC0BA}">
          <p14:sldIdLst>
            <p14:sldId id="3659"/>
            <p14:sldId id="3660"/>
            <p14:sldId id="3663"/>
            <p14:sldId id="3661"/>
            <p14:sldId id="3664"/>
            <p14:sldId id="3665"/>
            <p14:sldId id="3666"/>
            <p14:sldId id="3667"/>
            <p14:sldId id="3668"/>
            <p14:sldId id="3669"/>
            <p14:sldId id="3670"/>
            <p14:sldId id="3671"/>
            <p14:sldId id="3672"/>
            <p14:sldId id="3673"/>
            <p14:sldId id="3674"/>
          </p14:sldIdLst>
        </p14:section>
        <p14:section name="Unit 8" id="{516D04AE-2BFD-4E3D-9889-2785A0E489C3}">
          <p14:sldIdLst>
            <p14:sldId id="3202"/>
            <p14:sldId id="3203"/>
            <p14:sldId id="3543"/>
            <p14:sldId id="3544"/>
            <p14:sldId id="3545"/>
            <p14:sldId id="3546"/>
            <p14:sldId id="3547"/>
            <p14:sldId id="3548"/>
            <p14:sldId id="3549"/>
            <p14:sldId id="3550"/>
            <p14:sldId id="3551"/>
            <p14:sldId id="3552"/>
            <p14:sldId id="3553"/>
            <p14:sldId id="3554"/>
            <p14:sldId id="3555"/>
            <p14:sldId id="3556"/>
            <p14:sldId id="3557"/>
            <p14:sldId id="3558"/>
            <p14:sldId id="3559"/>
            <p14:sldId id="3560"/>
            <p14:sldId id="3561"/>
            <p14:sldId id="3562"/>
            <p14:sldId id="3563"/>
            <p14:sldId id="3564"/>
            <p14:sldId id="3565"/>
            <p14:sldId id="3566"/>
            <p14:sldId id="3567"/>
            <p14:sldId id="3568"/>
            <p14:sldId id="3569"/>
            <p14:sldId id="3570"/>
            <p14:sldId id="3571"/>
            <p14:sldId id="3572"/>
            <p14:sldId id="3573"/>
            <p14:sldId id="3574"/>
            <p14:sldId id="3575"/>
            <p14:sldId id="3576"/>
            <p14:sldId id="3577"/>
            <p14:sldId id="3578"/>
            <p14:sldId id="3579"/>
            <p14:sldId id="3580"/>
            <p14:sldId id="3581"/>
            <p14:sldId id="3582"/>
            <p14:sldId id="3583"/>
            <p14:sldId id="3584"/>
            <p14:sldId id="3585"/>
            <p14:sldId id="3586"/>
            <p14:sldId id="3587"/>
            <p14:sldId id="3588"/>
            <p14:sldId id="3589"/>
            <p14:sldId id="3238"/>
            <p14:sldId id="3590"/>
            <p14:sldId id="3591"/>
            <p14:sldId id="2689"/>
            <p14:sldId id="2690"/>
          </p14:sldIdLst>
        </p14:section>
      </p14:sectionLst>
    </p:ext>
    <p:ext uri="{EFAFB233-063F-42B5-8137-9DF3F51BA10A}">
      <p15:sldGuideLst xmlns:p15="http://schemas.microsoft.com/office/powerpoint/2012/main">
        <p15:guide id="2" orient="horz" pos="777" userDrawn="1">
          <p15:clr>
            <a:srgbClr val="A4A3A4"/>
          </p15:clr>
        </p15:guide>
        <p15:guide id="3" orient="horz" pos="1071" userDrawn="1">
          <p15:clr>
            <a:srgbClr val="A4A3A4"/>
          </p15:clr>
        </p15:guide>
        <p15:guide id="4" pos="3119">
          <p15:clr>
            <a:srgbClr val="A4A3A4"/>
          </p15:clr>
        </p15:guide>
        <p15:guide id="5" pos="420" userDrawn="1">
          <p15:clr>
            <a:srgbClr val="A4A3A4"/>
          </p15:clr>
        </p15:guide>
        <p15:guide id="7" pos="284" userDrawn="1">
          <p15:clr>
            <a:srgbClr val="A4A3A4"/>
          </p15:clr>
        </p15:guide>
        <p15:guide id="8" orient="horz" pos="1207" userDrawn="1">
          <p15:clr>
            <a:srgbClr val="A4A3A4"/>
          </p15:clr>
        </p15:guide>
        <p15:guide id="9" pos="5886" userDrawn="1">
          <p15:clr>
            <a:srgbClr val="A4A3A4"/>
          </p15:clr>
        </p15:guide>
        <p15:guide id="10" orient="horz" pos="2160" userDrawn="1">
          <p15:clr>
            <a:srgbClr val="A4A3A4"/>
          </p15:clr>
        </p15:guide>
        <p15:guide id="11" orient="horz" pos="1117" userDrawn="1">
          <p15:clr>
            <a:srgbClr val="A4A3A4"/>
          </p15:clr>
        </p15:guide>
        <p15:guide id="12" pos="352" userDrawn="1">
          <p15:clr>
            <a:srgbClr val="A4A3A4"/>
          </p15:clr>
        </p15:guide>
        <p15:guide id="13" pos="5954" userDrawn="1">
          <p15:clr>
            <a:srgbClr val="A4A3A4"/>
          </p15:clr>
        </p15:guide>
        <p15:guide id="14" orient="horz" pos="867" userDrawn="1">
          <p15:clr>
            <a:srgbClr val="A4A3A4"/>
          </p15:clr>
        </p15:guide>
        <p15:guide id="15" orient="horz" pos="1298" userDrawn="1">
          <p15:clr>
            <a:srgbClr val="A4A3A4"/>
          </p15:clr>
        </p15:guide>
        <p15:guide id="17" pos="534" userDrawn="1">
          <p15:clr>
            <a:srgbClr val="A4A3A4"/>
          </p15:clr>
        </p15:guide>
        <p15:guide id="19" orient="horz" pos="3997" userDrawn="1">
          <p15:clr>
            <a:srgbClr val="A4A3A4"/>
          </p15:clr>
        </p15:guide>
        <p15:guide id="20" orient="horz" pos="100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Reed" initials="MR" lastIdx="2" clrIdx="0">
    <p:extLst>
      <p:ext uri="{19B8F6BF-5375-455C-9EA6-DF929625EA0E}">
        <p15:presenceInfo xmlns:p15="http://schemas.microsoft.com/office/powerpoint/2012/main" userId="Michelle Reed" providerId="None"/>
      </p:ext>
    </p:extLst>
  </p:cmAuthor>
  <p:cmAuthor id="2" name="Lee Ji Yeon" initials="LJY" lastIdx="1" clrIdx="1">
    <p:extLst>
      <p:ext uri="{19B8F6BF-5375-455C-9EA6-DF929625EA0E}">
        <p15:presenceInfo xmlns:p15="http://schemas.microsoft.com/office/powerpoint/2012/main" userId="5dadc81c46e5d47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EB0"/>
    <a:srgbClr val="D84315"/>
    <a:srgbClr val="C03148"/>
    <a:srgbClr val="1429A0"/>
    <a:srgbClr val="F7F7F7"/>
    <a:srgbClr val="249C24"/>
    <a:srgbClr val="FF9539"/>
    <a:srgbClr val="2178B4"/>
    <a:srgbClr val="397780"/>
    <a:srgbClr val="578C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63" autoAdjust="0"/>
    <p:restoredTop sz="91147" autoAdjust="0"/>
  </p:normalViewPr>
  <p:slideViewPr>
    <p:cSldViewPr>
      <p:cViewPr varScale="1">
        <p:scale>
          <a:sx n="66" d="100"/>
          <a:sy n="66" d="100"/>
        </p:scale>
        <p:origin x="1548" y="66"/>
      </p:cViewPr>
      <p:guideLst>
        <p:guide orient="horz" pos="777"/>
        <p:guide orient="horz" pos="1071"/>
        <p:guide pos="3119"/>
        <p:guide pos="420"/>
        <p:guide pos="284"/>
        <p:guide orient="horz" pos="1207"/>
        <p:guide pos="5886"/>
        <p:guide orient="horz" pos="2160"/>
        <p:guide orient="horz" pos="1117"/>
        <p:guide pos="352"/>
        <p:guide pos="5954"/>
        <p:guide orient="horz" pos="867"/>
        <p:guide orient="horz" pos="1298"/>
        <p:guide pos="534"/>
        <p:guide orient="horz" pos="3997"/>
        <p:guide orient="horz" pos="1003"/>
      </p:guideLst>
    </p:cSldViewPr>
  </p:slideViewPr>
  <p:notesTextViewPr>
    <p:cViewPr>
      <p:scale>
        <a:sx n="100" d="100"/>
        <a:sy n="100" d="100"/>
      </p:scale>
      <p:origin x="0" y="0"/>
    </p:cViewPr>
  </p:notesTextViewPr>
  <p:sorterViewPr>
    <p:cViewPr>
      <p:scale>
        <a:sx n="97" d="100"/>
        <a:sy n="97" d="100"/>
      </p:scale>
      <p:origin x="0" y="-136622"/>
    </p:cViewPr>
  </p:sorterViewPr>
  <p:gridSpacing cx="36004" cy="36004"/>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99" Type="http://schemas.openxmlformats.org/officeDocument/2006/relationships/slide" Target="slides/slide295.xml"/><Relationship Id="rId303" Type="http://schemas.openxmlformats.org/officeDocument/2006/relationships/slide" Target="slides/slide299.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324" Type="http://schemas.openxmlformats.org/officeDocument/2006/relationships/slide" Target="slides/slide320.xml"/><Relationship Id="rId345" Type="http://schemas.openxmlformats.org/officeDocument/2006/relationships/font" Target="fonts/font11.fntdata"/><Relationship Id="rId170" Type="http://schemas.openxmlformats.org/officeDocument/2006/relationships/slide" Target="slides/slide166.xml"/><Relationship Id="rId191" Type="http://schemas.openxmlformats.org/officeDocument/2006/relationships/slide" Target="slides/slide187.xml"/><Relationship Id="rId205" Type="http://schemas.openxmlformats.org/officeDocument/2006/relationships/slide" Target="slides/slide201.xml"/><Relationship Id="rId226" Type="http://schemas.openxmlformats.org/officeDocument/2006/relationships/slide" Target="slides/slide222.xml"/><Relationship Id="rId247" Type="http://schemas.openxmlformats.org/officeDocument/2006/relationships/slide" Target="slides/slide243.xml"/><Relationship Id="rId107" Type="http://schemas.openxmlformats.org/officeDocument/2006/relationships/slide" Target="slides/slide103.xml"/><Relationship Id="rId268" Type="http://schemas.openxmlformats.org/officeDocument/2006/relationships/slide" Target="slides/slide264.xml"/><Relationship Id="rId289" Type="http://schemas.openxmlformats.org/officeDocument/2006/relationships/slide" Target="slides/slide285.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314" Type="http://schemas.openxmlformats.org/officeDocument/2006/relationships/slide" Target="slides/slide310.xml"/><Relationship Id="rId335" Type="http://schemas.openxmlformats.org/officeDocument/2006/relationships/font" Target="fonts/font1.fntdata"/><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16" Type="http://schemas.openxmlformats.org/officeDocument/2006/relationships/slide" Target="slides/slide212.xml"/><Relationship Id="rId237" Type="http://schemas.openxmlformats.org/officeDocument/2006/relationships/slide" Target="slides/slide233.xml"/><Relationship Id="rId258" Type="http://schemas.openxmlformats.org/officeDocument/2006/relationships/slide" Target="slides/slide254.xml"/><Relationship Id="rId279" Type="http://schemas.openxmlformats.org/officeDocument/2006/relationships/slide" Target="slides/slide275.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290" Type="http://schemas.openxmlformats.org/officeDocument/2006/relationships/slide" Target="slides/slide286.xml"/><Relationship Id="rId304" Type="http://schemas.openxmlformats.org/officeDocument/2006/relationships/slide" Target="slides/slide300.xml"/><Relationship Id="rId325" Type="http://schemas.openxmlformats.org/officeDocument/2006/relationships/slide" Target="slides/slide321.xml"/><Relationship Id="rId346" Type="http://schemas.openxmlformats.org/officeDocument/2006/relationships/font" Target="fonts/font12.fntdata"/><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206" Type="http://schemas.openxmlformats.org/officeDocument/2006/relationships/slide" Target="slides/slide202.xml"/><Relationship Id="rId227" Type="http://schemas.openxmlformats.org/officeDocument/2006/relationships/slide" Target="slides/slide223.xml"/><Relationship Id="rId248" Type="http://schemas.openxmlformats.org/officeDocument/2006/relationships/slide" Target="slides/slide244.xml"/><Relationship Id="rId269" Type="http://schemas.openxmlformats.org/officeDocument/2006/relationships/slide" Target="slides/slide265.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280" Type="http://schemas.openxmlformats.org/officeDocument/2006/relationships/slide" Target="slides/slide276.xml"/><Relationship Id="rId315" Type="http://schemas.openxmlformats.org/officeDocument/2006/relationships/slide" Target="slides/slide311.xml"/><Relationship Id="rId336" Type="http://schemas.openxmlformats.org/officeDocument/2006/relationships/font" Target="fonts/font2.fntdata"/><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217" Type="http://schemas.openxmlformats.org/officeDocument/2006/relationships/slide" Target="slides/slide213.xml"/><Relationship Id="rId6" Type="http://schemas.openxmlformats.org/officeDocument/2006/relationships/slide" Target="slides/slide2.xml"/><Relationship Id="rId238" Type="http://schemas.openxmlformats.org/officeDocument/2006/relationships/slide" Target="slides/slide234.xml"/><Relationship Id="rId259" Type="http://schemas.openxmlformats.org/officeDocument/2006/relationships/slide" Target="slides/slide255.xml"/><Relationship Id="rId23" Type="http://schemas.openxmlformats.org/officeDocument/2006/relationships/slide" Target="slides/slide19.xml"/><Relationship Id="rId119" Type="http://schemas.openxmlformats.org/officeDocument/2006/relationships/slide" Target="slides/slide115.xml"/><Relationship Id="rId270" Type="http://schemas.openxmlformats.org/officeDocument/2006/relationships/slide" Target="slides/slide266.xml"/><Relationship Id="rId291" Type="http://schemas.openxmlformats.org/officeDocument/2006/relationships/slide" Target="slides/slide287.xml"/><Relationship Id="rId305" Type="http://schemas.openxmlformats.org/officeDocument/2006/relationships/slide" Target="slides/slide301.xml"/><Relationship Id="rId326" Type="http://schemas.openxmlformats.org/officeDocument/2006/relationships/slide" Target="slides/slide322.xml"/><Relationship Id="rId347" Type="http://schemas.openxmlformats.org/officeDocument/2006/relationships/commentAuthors" Target="commentAuthors.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228" Type="http://schemas.openxmlformats.org/officeDocument/2006/relationships/slide" Target="slides/slide224.xml"/><Relationship Id="rId249" Type="http://schemas.openxmlformats.org/officeDocument/2006/relationships/slide" Target="slides/slide245.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slide" Target="slides/slide256.xml"/><Relationship Id="rId281" Type="http://schemas.openxmlformats.org/officeDocument/2006/relationships/slide" Target="slides/slide277.xml"/><Relationship Id="rId316" Type="http://schemas.openxmlformats.org/officeDocument/2006/relationships/slide" Target="slides/slide312.xml"/><Relationship Id="rId337" Type="http://schemas.openxmlformats.org/officeDocument/2006/relationships/font" Target="fonts/font3.fntdata"/><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18" Type="http://schemas.openxmlformats.org/officeDocument/2006/relationships/slide" Target="slides/slide214.xml"/><Relationship Id="rId239" Type="http://schemas.openxmlformats.org/officeDocument/2006/relationships/slide" Target="slides/slide235.xml"/><Relationship Id="rId250" Type="http://schemas.openxmlformats.org/officeDocument/2006/relationships/slide" Target="slides/slide246.xml"/><Relationship Id="rId271" Type="http://schemas.openxmlformats.org/officeDocument/2006/relationships/slide" Target="slides/slide267.xml"/><Relationship Id="rId292" Type="http://schemas.openxmlformats.org/officeDocument/2006/relationships/slide" Target="slides/slide288.xml"/><Relationship Id="rId306" Type="http://schemas.openxmlformats.org/officeDocument/2006/relationships/slide" Target="slides/slide302.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327" Type="http://schemas.openxmlformats.org/officeDocument/2006/relationships/slide" Target="slides/slide323.xml"/><Relationship Id="rId348" Type="http://schemas.openxmlformats.org/officeDocument/2006/relationships/presProps" Target="presProps.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229" Type="http://schemas.openxmlformats.org/officeDocument/2006/relationships/slide" Target="slides/slide225.xml"/><Relationship Id="rId240" Type="http://schemas.openxmlformats.org/officeDocument/2006/relationships/slide" Target="slides/slide236.xml"/><Relationship Id="rId261" Type="http://schemas.openxmlformats.org/officeDocument/2006/relationships/slide" Target="slides/slide257.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282" Type="http://schemas.openxmlformats.org/officeDocument/2006/relationships/slide" Target="slides/slide278.xml"/><Relationship Id="rId317" Type="http://schemas.openxmlformats.org/officeDocument/2006/relationships/slide" Target="slides/slide313.xml"/><Relationship Id="rId338" Type="http://schemas.openxmlformats.org/officeDocument/2006/relationships/font" Target="fonts/font4.fntdata"/><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230" Type="http://schemas.openxmlformats.org/officeDocument/2006/relationships/slide" Target="slides/slide226.xml"/><Relationship Id="rId251" Type="http://schemas.openxmlformats.org/officeDocument/2006/relationships/slide" Target="slides/slide247.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72" Type="http://schemas.openxmlformats.org/officeDocument/2006/relationships/slide" Target="slides/slide268.xml"/><Relationship Id="rId293" Type="http://schemas.openxmlformats.org/officeDocument/2006/relationships/slide" Target="slides/slide289.xml"/><Relationship Id="rId307" Type="http://schemas.openxmlformats.org/officeDocument/2006/relationships/slide" Target="slides/slide303.xml"/><Relationship Id="rId328" Type="http://schemas.openxmlformats.org/officeDocument/2006/relationships/slide" Target="slides/slide324.xml"/><Relationship Id="rId34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95" Type="http://schemas.openxmlformats.org/officeDocument/2006/relationships/slide" Target="slides/slide191.xml"/><Relationship Id="rId209" Type="http://schemas.openxmlformats.org/officeDocument/2006/relationships/slide" Target="slides/slide205.xml"/><Relationship Id="rId190" Type="http://schemas.openxmlformats.org/officeDocument/2006/relationships/slide" Target="slides/slide186.xml"/><Relationship Id="rId204" Type="http://schemas.openxmlformats.org/officeDocument/2006/relationships/slide" Target="slides/slide200.xml"/><Relationship Id="rId220" Type="http://schemas.openxmlformats.org/officeDocument/2006/relationships/slide" Target="slides/slide216.xml"/><Relationship Id="rId225" Type="http://schemas.openxmlformats.org/officeDocument/2006/relationships/slide" Target="slides/slide221.xml"/><Relationship Id="rId241" Type="http://schemas.openxmlformats.org/officeDocument/2006/relationships/slide" Target="slides/slide237.xml"/><Relationship Id="rId246" Type="http://schemas.openxmlformats.org/officeDocument/2006/relationships/slide" Target="slides/slide242.xml"/><Relationship Id="rId267" Type="http://schemas.openxmlformats.org/officeDocument/2006/relationships/slide" Target="slides/slide263.xml"/><Relationship Id="rId288" Type="http://schemas.openxmlformats.org/officeDocument/2006/relationships/slide" Target="slides/slide284.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262" Type="http://schemas.openxmlformats.org/officeDocument/2006/relationships/slide" Target="slides/slide258.xml"/><Relationship Id="rId283" Type="http://schemas.openxmlformats.org/officeDocument/2006/relationships/slide" Target="slides/slide279.xml"/><Relationship Id="rId313" Type="http://schemas.openxmlformats.org/officeDocument/2006/relationships/slide" Target="slides/slide309.xml"/><Relationship Id="rId318" Type="http://schemas.openxmlformats.org/officeDocument/2006/relationships/slide" Target="slides/slide314.xml"/><Relationship Id="rId339" Type="http://schemas.openxmlformats.org/officeDocument/2006/relationships/font" Target="fonts/font5.fntdata"/><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slide" Target="slides/slide181.xml"/><Relationship Id="rId334" Type="http://schemas.openxmlformats.org/officeDocument/2006/relationships/notesMaster" Target="notesMasters/notesMaster1.xml"/><Relationship Id="rId35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80" Type="http://schemas.openxmlformats.org/officeDocument/2006/relationships/slide" Target="slides/slide176.xml"/><Relationship Id="rId210" Type="http://schemas.openxmlformats.org/officeDocument/2006/relationships/slide" Target="slides/slide206.xml"/><Relationship Id="rId215" Type="http://schemas.openxmlformats.org/officeDocument/2006/relationships/slide" Target="slides/slide211.xml"/><Relationship Id="rId236" Type="http://schemas.openxmlformats.org/officeDocument/2006/relationships/slide" Target="slides/slide232.xml"/><Relationship Id="rId257" Type="http://schemas.openxmlformats.org/officeDocument/2006/relationships/slide" Target="slides/slide253.xml"/><Relationship Id="rId278" Type="http://schemas.openxmlformats.org/officeDocument/2006/relationships/slide" Target="slides/slide274.xml"/><Relationship Id="rId26" Type="http://schemas.openxmlformats.org/officeDocument/2006/relationships/slide" Target="slides/slide22.xml"/><Relationship Id="rId231" Type="http://schemas.openxmlformats.org/officeDocument/2006/relationships/slide" Target="slides/slide227.xml"/><Relationship Id="rId252" Type="http://schemas.openxmlformats.org/officeDocument/2006/relationships/slide" Target="slides/slide248.xml"/><Relationship Id="rId273" Type="http://schemas.openxmlformats.org/officeDocument/2006/relationships/slide" Target="slides/slide269.xml"/><Relationship Id="rId294" Type="http://schemas.openxmlformats.org/officeDocument/2006/relationships/slide" Target="slides/slide290.xml"/><Relationship Id="rId308" Type="http://schemas.openxmlformats.org/officeDocument/2006/relationships/slide" Target="slides/slide304.xml"/><Relationship Id="rId329" Type="http://schemas.openxmlformats.org/officeDocument/2006/relationships/slide" Target="slides/slide325.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340" Type="http://schemas.openxmlformats.org/officeDocument/2006/relationships/font" Target="fonts/font6.fntdata"/><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slide" Target="slides/slide217.xml"/><Relationship Id="rId242" Type="http://schemas.openxmlformats.org/officeDocument/2006/relationships/slide" Target="slides/slide238.xml"/><Relationship Id="rId263" Type="http://schemas.openxmlformats.org/officeDocument/2006/relationships/slide" Target="slides/slide259.xml"/><Relationship Id="rId284" Type="http://schemas.openxmlformats.org/officeDocument/2006/relationships/slide" Target="slides/slide280.xml"/><Relationship Id="rId319" Type="http://schemas.openxmlformats.org/officeDocument/2006/relationships/slide" Target="slides/slide315.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330" Type="http://schemas.openxmlformats.org/officeDocument/2006/relationships/slide" Target="slides/slide326.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351" Type="http://schemas.openxmlformats.org/officeDocument/2006/relationships/tableStyles" Target="tableStyles.xml"/><Relationship Id="rId211" Type="http://schemas.openxmlformats.org/officeDocument/2006/relationships/slide" Target="slides/slide207.xml"/><Relationship Id="rId232" Type="http://schemas.openxmlformats.org/officeDocument/2006/relationships/slide" Target="slides/slide228.xml"/><Relationship Id="rId253" Type="http://schemas.openxmlformats.org/officeDocument/2006/relationships/slide" Target="slides/slide249.xml"/><Relationship Id="rId274" Type="http://schemas.openxmlformats.org/officeDocument/2006/relationships/slide" Target="slides/slide270.xml"/><Relationship Id="rId295" Type="http://schemas.openxmlformats.org/officeDocument/2006/relationships/slide" Target="slides/slide291.xml"/><Relationship Id="rId309" Type="http://schemas.openxmlformats.org/officeDocument/2006/relationships/slide" Target="slides/slide305.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320" Type="http://schemas.openxmlformats.org/officeDocument/2006/relationships/slide" Target="slides/slide316.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341" Type="http://schemas.openxmlformats.org/officeDocument/2006/relationships/font" Target="fonts/font7.fntdata"/><Relationship Id="rId201" Type="http://schemas.openxmlformats.org/officeDocument/2006/relationships/slide" Target="slides/slide197.xml"/><Relationship Id="rId222" Type="http://schemas.openxmlformats.org/officeDocument/2006/relationships/slide" Target="slides/slide218.xml"/><Relationship Id="rId243" Type="http://schemas.openxmlformats.org/officeDocument/2006/relationships/slide" Target="slides/slide239.xml"/><Relationship Id="rId264" Type="http://schemas.openxmlformats.org/officeDocument/2006/relationships/slide" Target="slides/slide260.xml"/><Relationship Id="rId285" Type="http://schemas.openxmlformats.org/officeDocument/2006/relationships/slide" Target="slides/slide28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310" Type="http://schemas.openxmlformats.org/officeDocument/2006/relationships/slide" Target="slides/slide306.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331" Type="http://schemas.openxmlformats.org/officeDocument/2006/relationships/slide" Target="slides/slide327.xml"/><Relationship Id="rId1" Type="http://schemas.openxmlformats.org/officeDocument/2006/relationships/customXml" Target="../customXml/item1.xml"/><Relationship Id="rId212" Type="http://schemas.openxmlformats.org/officeDocument/2006/relationships/slide" Target="slides/slide208.xml"/><Relationship Id="rId233" Type="http://schemas.openxmlformats.org/officeDocument/2006/relationships/slide" Target="slides/slide229.xml"/><Relationship Id="rId254" Type="http://schemas.openxmlformats.org/officeDocument/2006/relationships/slide" Target="slides/slide250.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275" Type="http://schemas.openxmlformats.org/officeDocument/2006/relationships/slide" Target="slides/slide271.xml"/><Relationship Id="rId296" Type="http://schemas.openxmlformats.org/officeDocument/2006/relationships/slide" Target="slides/slide292.xml"/><Relationship Id="rId300" Type="http://schemas.openxmlformats.org/officeDocument/2006/relationships/slide" Target="slides/slide296.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321" Type="http://schemas.openxmlformats.org/officeDocument/2006/relationships/slide" Target="slides/slide317.xml"/><Relationship Id="rId342" Type="http://schemas.openxmlformats.org/officeDocument/2006/relationships/font" Target="fonts/font8.fntdata"/><Relationship Id="rId202" Type="http://schemas.openxmlformats.org/officeDocument/2006/relationships/slide" Target="slides/slide198.xml"/><Relationship Id="rId223" Type="http://schemas.openxmlformats.org/officeDocument/2006/relationships/slide" Target="slides/slide219.xml"/><Relationship Id="rId244" Type="http://schemas.openxmlformats.org/officeDocument/2006/relationships/slide" Target="slides/slide240.xml"/><Relationship Id="rId18" Type="http://schemas.openxmlformats.org/officeDocument/2006/relationships/slide" Target="slides/slide14.xml"/><Relationship Id="rId39" Type="http://schemas.openxmlformats.org/officeDocument/2006/relationships/slide" Target="slides/slide35.xml"/><Relationship Id="rId265" Type="http://schemas.openxmlformats.org/officeDocument/2006/relationships/slide" Target="slides/slide261.xml"/><Relationship Id="rId286" Type="http://schemas.openxmlformats.org/officeDocument/2006/relationships/slide" Target="slides/slide282.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311" Type="http://schemas.openxmlformats.org/officeDocument/2006/relationships/slide" Target="slides/slide307.xml"/><Relationship Id="rId332" Type="http://schemas.openxmlformats.org/officeDocument/2006/relationships/slide" Target="slides/slide328.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255" Type="http://schemas.openxmlformats.org/officeDocument/2006/relationships/slide" Target="slides/slide251.xml"/><Relationship Id="rId276" Type="http://schemas.openxmlformats.org/officeDocument/2006/relationships/slide" Target="slides/slide272.xml"/><Relationship Id="rId297" Type="http://schemas.openxmlformats.org/officeDocument/2006/relationships/slide" Target="slides/slide293.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301" Type="http://schemas.openxmlformats.org/officeDocument/2006/relationships/slide" Target="slides/slide297.xml"/><Relationship Id="rId322" Type="http://schemas.openxmlformats.org/officeDocument/2006/relationships/slide" Target="slides/slide318.xml"/><Relationship Id="rId343" Type="http://schemas.openxmlformats.org/officeDocument/2006/relationships/font" Target="fonts/font9.fntdata"/><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slide" Target="slides/slide220.xml"/><Relationship Id="rId245" Type="http://schemas.openxmlformats.org/officeDocument/2006/relationships/slide" Target="slides/slide241.xml"/><Relationship Id="rId266" Type="http://schemas.openxmlformats.org/officeDocument/2006/relationships/slide" Target="slides/slide262.xml"/><Relationship Id="rId287" Type="http://schemas.openxmlformats.org/officeDocument/2006/relationships/slide" Target="slides/slide283.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312" Type="http://schemas.openxmlformats.org/officeDocument/2006/relationships/slide" Target="slides/slide308.xml"/><Relationship Id="rId333" Type="http://schemas.openxmlformats.org/officeDocument/2006/relationships/slide" Target="slides/slide329.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 Type="http://schemas.openxmlformats.org/officeDocument/2006/relationships/customXml" Target="../customXml/item3.xml"/><Relationship Id="rId214" Type="http://schemas.openxmlformats.org/officeDocument/2006/relationships/slide" Target="slides/slide210.xml"/><Relationship Id="rId235" Type="http://schemas.openxmlformats.org/officeDocument/2006/relationships/slide" Target="slides/slide231.xml"/><Relationship Id="rId256" Type="http://schemas.openxmlformats.org/officeDocument/2006/relationships/slide" Target="slides/slide252.xml"/><Relationship Id="rId277" Type="http://schemas.openxmlformats.org/officeDocument/2006/relationships/slide" Target="slides/slide273.xml"/><Relationship Id="rId298" Type="http://schemas.openxmlformats.org/officeDocument/2006/relationships/slide" Target="slides/slide294.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302" Type="http://schemas.openxmlformats.org/officeDocument/2006/relationships/slide" Target="slides/slide298.xml"/><Relationship Id="rId323" Type="http://schemas.openxmlformats.org/officeDocument/2006/relationships/slide" Target="slides/slide319.xml"/><Relationship Id="rId344"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57C17-E6FD-4AF5-A787-31E9CCE99A85}" type="datetimeFigureOut">
              <a:rPr lang="ko-KR" altLang="en-US" smtClean="0"/>
              <a:t>2025-02-23</a:t>
            </a:fld>
            <a:endParaRPr lang="ko-KR" altLang="en-US"/>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59C55F-00F1-4985-9065-F2D92AE05D03}" type="slidenum">
              <a:rPr lang="ko-KR" altLang="en-US" smtClean="0"/>
              <a:t>‹#›</a:t>
            </a:fld>
            <a:endParaRPr lang="ko-KR" altLang="en-US"/>
          </a:p>
        </p:txBody>
      </p:sp>
    </p:spTree>
    <p:extLst>
      <p:ext uri="{BB962C8B-B14F-4D97-AF65-F5344CB8AC3E}">
        <p14:creationId xmlns:p14="http://schemas.microsoft.com/office/powerpoint/2010/main" val="99125344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3" Type="http://schemas.openxmlformats.org/officeDocument/2006/relationships/hyperlink" Target="https://scikit-learn.org/stable/modules/generated/sklearn.tree.DecisionTreeClassifier.html" TargetMode="External"/><Relationship Id="rId2" Type="http://schemas.openxmlformats.org/officeDocument/2006/relationships/slide" Target="../slides/slide235.xml"/><Relationship Id="rId1" Type="http://schemas.openxmlformats.org/officeDocument/2006/relationships/notesMaster" Target="../notesMasters/notesMaster1.xml"/><Relationship Id="rId4" Type="http://schemas.openxmlformats.org/officeDocument/2006/relationships/hyperlink" Target="https://scikit-learn.org/stable/modules/generated/sklearn.tree.DecisionTreeRegressor.html" TargetMode="Externa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3" Type="http://schemas.openxmlformats.org/officeDocument/2006/relationships/hyperlink" Target="https://scikit-learn.org/stable/modules/generated/sklearn.ensemble.VotingClassifier.html" TargetMode="External"/><Relationship Id="rId2" Type="http://schemas.openxmlformats.org/officeDocument/2006/relationships/slide" Target="../slides/slide286.xml"/><Relationship Id="rId1" Type="http://schemas.openxmlformats.org/officeDocument/2006/relationships/notesMaster" Target="../notesMasters/notesMaster1.xml"/><Relationship Id="rId4" Type="http://schemas.openxmlformats.org/officeDocument/2006/relationships/hyperlink" Target="https://scikit-learn.org/stable/modules/generated/sklearn.ensemble.VotingRegressor.html" TargetMode="External"/></Relationships>
</file>

<file path=ppt/notesSlides/_rels/notesSlide287.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3" Type="http://schemas.openxmlformats.org/officeDocument/2006/relationships/hyperlink" Target="https://scikit-learn.org/stable/modules/generated/sklearn.ensemble.RandomForestClassifier.html" TargetMode="External"/><Relationship Id="rId2" Type="http://schemas.openxmlformats.org/officeDocument/2006/relationships/slide" Target="../slides/slide291.xml"/><Relationship Id="rId1" Type="http://schemas.openxmlformats.org/officeDocument/2006/relationships/notesMaster" Target="../notesMasters/notesMaster1.xml"/><Relationship Id="rId4" Type="http://schemas.openxmlformats.org/officeDocument/2006/relationships/hyperlink" Target="https://scikit-learn.org/stable/modules/generated/sklearn.ensemble.RandomForestRegressor.html" TargetMode="External"/></Relationships>
</file>

<file path=ppt/notesSlides/_rels/notesSlide292.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308.xml.rels><?xml version="1.0" encoding="UTF-8" standalone="yes"?>
<Relationships xmlns="http://schemas.openxmlformats.org/package/2006/relationships"><Relationship Id="rId2" Type="http://schemas.openxmlformats.org/officeDocument/2006/relationships/slide" Target="../slides/slide308.xml"/><Relationship Id="rId1" Type="http://schemas.openxmlformats.org/officeDocument/2006/relationships/notesMaster" Target="../notesMasters/notesMaster1.xml"/></Relationships>
</file>

<file path=ppt/notesSlides/_rels/notesSlide309.xml.rels><?xml version="1.0" encoding="UTF-8" standalone="yes"?>
<Relationships xmlns="http://schemas.openxmlformats.org/package/2006/relationships"><Relationship Id="rId2" Type="http://schemas.openxmlformats.org/officeDocument/2006/relationships/slide" Target="../slides/slide309.xml"/><Relationship Id="rId1" Type="http://schemas.openxmlformats.org/officeDocument/2006/relationships/notesMaster" Target="../notesMasters/notesMaster1.xml"/></Relationships>
</file>

<file path=ppt/notesSlides/_rels/notesSlide310.xml.rels><?xml version="1.0" encoding="UTF-8" standalone="yes"?>
<Relationships xmlns="http://schemas.openxmlformats.org/package/2006/relationships"><Relationship Id="rId2" Type="http://schemas.openxmlformats.org/officeDocument/2006/relationships/slide" Target="../slides/slide310.xml"/><Relationship Id="rId1" Type="http://schemas.openxmlformats.org/officeDocument/2006/relationships/notesMaster" Target="../notesMasters/notesMaster1.xml"/></Relationships>
</file>

<file path=ppt/notesSlides/_rels/notesSlide311.xml.rels><?xml version="1.0" encoding="UTF-8" standalone="yes"?>
<Relationships xmlns="http://schemas.openxmlformats.org/package/2006/relationships"><Relationship Id="rId3" Type="http://schemas.openxmlformats.org/officeDocument/2006/relationships/hyperlink" Target="https://xgboost.readthedocs.io/en/latest/python/index.html" TargetMode="External"/><Relationship Id="rId2" Type="http://schemas.openxmlformats.org/officeDocument/2006/relationships/slide" Target="../slides/slide311.xml"/><Relationship Id="rId1" Type="http://schemas.openxmlformats.org/officeDocument/2006/relationships/notesMaster" Target="../notesMasters/notesMaster1.xml"/></Relationships>
</file>

<file path=ppt/notesSlides/_rels/notesSlide312.xml.rels><?xml version="1.0" encoding="UTF-8" standalone="yes"?>
<Relationships xmlns="http://schemas.openxmlformats.org/package/2006/relationships"><Relationship Id="rId2" Type="http://schemas.openxmlformats.org/officeDocument/2006/relationships/slide" Target="../slides/slide312.xml"/><Relationship Id="rId1" Type="http://schemas.openxmlformats.org/officeDocument/2006/relationships/notesMaster" Target="../notesMasters/notesMaster1.xml"/></Relationships>
</file>

<file path=ppt/notesSlides/_rels/notesSlide313.xml.rels><?xml version="1.0" encoding="UTF-8" standalone="yes"?>
<Relationships xmlns="http://schemas.openxmlformats.org/package/2006/relationships"><Relationship Id="rId2" Type="http://schemas.openxmlformats.org/officeDocument/2006/relationships/slide" Target="../slides/slide313.xml"/><Relationship Id="rId1" Type="http://schemas.openxmlformats.org/officeDocument/2006/relationships/notesMaster" Target="../notesMasters/notesMaster1.xml"/></Relationships>
</file>

<file path=ppt/notesSlides/_rels/notesSlide314.xml.rels><?xml version="1.0" encoding="UTF-8" standalone="yes"?>
<Relationships xmlns="http://schemas.openxmlformats.org/package/2006/relationships"><Relationship Id="rId2" Type="http://schemas.openxmlformats.org/officeDocument/2006/relationships/slide" Target="../slides/slide314.xml"/><Relationship Id="rId1" Type="http://schemas.openxmlformats.org/officeDocument/2006/relationships/notesMaster" Target="../notesMasters/notesMaster1.xml"/></Relationships>
</file>

<file path=ppt/notesSlides/_rels/notesSlide315.xml.rels><?xml version="1.0" encoding="UTF-8" standalone="yes"?>
<Relationships xmlns="http://schemas.openxmlformats.org/package/2006/relationships"><Relationship Id="rId2" Type="http://schemas.openxmlformats.org/officeDocument/2006/relationships/slide" Target="../slides/slide315.xml"/><Relationship Id="rId1" Type="http://schemas.openxmlformats.org/officeDocument/2006/relationships/notesMaster" Target="../notesMasters/notesMaster1.xml"/></Relationships>
</file>

<file path=ppt/notesSlides/_rels/notesSlide316.xml.rels><?xml version="1.0" encoding="UTF-8" standalone="yes"?>
<Relationships xmlns="http://schemas.openxmlformats.org/package/2006/relationships"><Relationship Id="rId2" Type="http://schemas.openxmlformats.org/officeDocument/2006/relationships/slide" Target="../slides/slide316.xml"/><Relationship Id="rId1" Type="http://schemas.openxmlformats.org/officeDocument/2006/relationships/notesMaster" Target="../notesMasters/notesMaster1.xml"/></Relationships>
</file>

<file path=ppt/notesSlides/_rels/notesSlide317.xml.rels><?xml version="1.0" encoding="UTF-8" standalone="yes"?>
<Relationships xmlns="http://schemas.openxmlformats.org/package/2006/relationships"><Relationship Id="rId2" Type="http://schemas.openxmlformats.org/officeDocument/2006/relationships/slide" Target="../slides/slide317.xml"/><Relationship Id="rId1" Type="http://schemas.openxmlformats.org/officeDocument/2006/relationships/notesMaster" Target="../notesMasters/notesMaster1.xml"/></Relationships>
</file>

<file path=ppt/notesSlides/_rels/notesSlide318.xml.rels><?xml version="1.0" encoding="UTF-8" standalone="yes"?>
<Relationships xmlns="http://schemas.openxmlformats.org/package/2006/relationships"><Relationship Id="rId3" Type="http://schemas.openxmlformats.org/officeDocument/2006/relationships/hyperlink" Target="https://xgboost.readthedocs.io/en/latest/python/index.html" TargetMode="External"/><Relationship Id="rId2" Type="http://schemas.openxmlformats.org/officeDocument/2006/relationships/slide" Target="../slides/slide318.xml"/><Relationship Id="rId1" Type="http://schemas.openxmlformats.org/officeDocument/2006/relationships/notesMaster" Target="../notesMasters/notesMaster1.xml"/></Relationships>
</file>

<file path=ppt/notesSlides/_rels/notesSlide319.xml.rels><?xml version="1.0" encoding="UTF-8" standalone="yes"?>
<Relationships xmlns="http://schemas.openxmlformats.org/package/2006/relationships"><Relationship Id="rId2" Type="http://schemas.openxmlformats.org/officeDocument/2006/relationships/slide" Target="../slides/slide319.xml"/><Relationship Id="rId1" Type="http://schemas.openxmlformats.org/officeDocument/2006/relationships/notesMaster" Target="../notesMasters/notesMaster1.xml"/></Relationships>
</file>

<file path=ppt/notesSlides/_rels/notesSlide320.xml.rels><?xml version="1.0" encoding="UTF-8" standalone="yes"?>
<Relationships xmlns="http://schemas.openxmlformats.org/package/2006/relationships"><Relationship Id="rId2" Type="http://schemas.openxmlformats.org/officeDocument/2006/relationships/slide" Target="../slides/slide320.xml"/><Relationship Id="rId1" Type="http://schemas.openxmlformats.org/officeDocument/2006/relationships/notesMaster" Target="../notesMasters/notesMaster1.xml"/></Relationships>
</file>

<file path=ppt/notesSlides/_rels/notesSlide321.xml.rels><?xml version="1.0" encoding="UTF-8" standalone="yes"?>
<Relationships xmlns="http://schemas.openxmlformats.org/package/2006/relationships"><Relationship Id="rId2" Type="http://schemas.openxmlformats.org/officeDocument/2006/relationships/slide" Target="../slides/slide321.xml"/><Relationship Id="rId1" Type="http://schemas.openxmlformats.org/officeDocument/2006/relationships/notesMaster" Target="../notesMasters/notesMaster1.xml"/></Relationships>
</file>

<file path=ppt/notesSlides/_rels/notesSlide322.xml.rels><?xml version="1.0" encoding="UTF-8" standalone="yes"?>
<Relationships xmlns="http://schemas.openxmlformats.org/package/2006/relationships"><Relationship Id="rId2" Type="http://schemas.openxmlformats.org/officeDocument/2006/relationships/slide" Target="../slides/slide322.xml"/><Relationship Id="rId1" Type="http://schemas.openxmlformats.org/officeDocument/2006/relationships/notesMaster" Target="../notesMasters/notesMaster1.xml"/></Relationships>
</file>

<file path=ppt/notesSlides/_rels/notesSlide323.xml.rels><?xml version="1.0" encoding="UTF-8" standalone="yes"?>
<Relationships xmlns="http://schemas.openxmlformats.org/package/2006/relationships"><Relationship Id="rId2" Type="http://schemas.openxmlformats.org/officeDocument/2006/relationships/slide" Target="../slides/slide323.xml"/><Relationship Id="rId1" Type="http://schemas.openxmlformats.org/officeDocument/2006/relationships/notesMaster" Target="../notesMasters/notesMaster1.xml"/></Relationships>
</file>

<file path=ppt/notesSlides/_rels/notesSlide324.xml.rels><?xml version="1.0" encoding="UTF-8" standalone="yes"?>
<Relationships xmlns="http://schemas.openxmlformats.org/package/2006/relationships"><Relationship Id="rId2" Type="http://schemas.openxmlformats.org/officeDocument/2006/relationships/slide" Target="../slides/slide324.xml"/><Relationship Id="rId1" Type="http://schemas.openxmlformats.org/officeDocument/2006/relationships/notesMaster" Target="../notesMasters/notesMaster1.xml"/></Relationships>
</file>

<file path=ppt/notesSlides/_rels/notesSlide325.xml.rels><?xml version="1.0" encoding="UTF-8" standalone="yes"?>
<Relationships xmlns="http://schemas.openxmlformats.org/package/2006/relationships"><Relationship Id="rId2" Type="http://schemas.openxmlformats.org/officeDocument/2006/relationships/slide" Target="../slides/slide325.xml"/><Relationship Id="rId1" Type="http://schemas.openxmlformats.org/officeDocument/2006/relationships/notesMaster" Target="../notesMasters/notesMaster1.xml"/></Relationships>
</file>

<file path=ppt/notesSlides/_rels/notesSlide326.xml.rels><?xml version="1.0" encoding="UTF-8" standalone="yes"?>
<Relationships xmlns="http://schemas.openxmlformats.org/package/2006/relationships"><Relationship Id="rId2" Type="http://schemas.openxmlformats.org/officeDocument/2006/relationships/slide" Target="../slides/slide326.xml"/><Relationship Id="rId1" Type="http://schemas.openxmlformats.org/officeDocument/2006/relationships/notesMaster" Target="../notesMasters/notesMaster1.xml"/></Relationships>
</file>

<file path=ppt/notesSlides/_rels/notesSlide327.xml.rels><?xml version="1.0" encoding="UTF-8" standalone="yes"?>
<Relationships xmlns="http://schemas.openxmlformats.org/package/2006/relationships"><Relationship Id="rId2" Type="http://schemas.openxmlformats.org/officeDocument/2006/relationships/slide" Target="../slides/slide327.xml"/><Relationship Id="rId1" Type="http://schemas.openxmlformats.org/officeDocument/2006/relationships/notesMaster" Target="../notesMasters/notesMaster1.xml"/></Relationships>
</file>

<file path=ppt/notesSlides/_rels/notesSlide328.xml.rels><?xml version="1.0" encoding="UTF-8" standalone="yes"?>
<Relationships xmlns="http://schemas.openxmlformats.org/package/2006/relationships"><Relationship Id="rId2" Type="http://schemas.openxmlformats.org/officeDocument/2006/relationships/slide" Target="../slides/slide3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1</a:t>
            </a:fld>
            <a:endParaRPr lang="ko-KR" altLang="en-US"/>
          </a:p>
        </p:txBody>
      </p:sp>
    </p:spTree>
    <p:extLst>
      <p:ext uri="{BB962C8B-B14F-4D97-AF65-F5344CB8AC3E}">
        <p14:creationId xmlns:p14="http://schemas.microsoft.com/office/powerpoint/2010/main" val="347646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96850" y="763588"/>
            <a:ext cx="6653213" cy="4608512"/>
          </a:xfrm>
        </p:spPr>
      </p:sp>
      <p:sp>
        <p:nvSpPr>
          <p:cNvPr id="3" name="슬라이드 노트 개체 틀 2"/>
          <p:cNvSpPr>
            <a:spLocks noGrp="1"/>
          </p:cNvSpPr>
          <p:nvPr>
            <p:ph type="body" idx="1"/>
          </p:nvPr>
        </p:nvSpPr>
        <p:spPr>
          <a:xfrm>
            <a:off x="679768" y="5542373"/>
            <a:ext cx="5438140" cy="3639767"/>
          </a:xfrm>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7D50566-EB7F-4578-83A4-5927877D7F20}" type="slidenum">
              <a:rPr kumimoji="0" lang="ko-KR" altLang="en-US" sz="1300" b="0" i="0" u="none" strike="noStrike" kern="1200" cap="none" spc="0" normalizeH="0" baseline="0" noProof="0" smtClean="0">
                <a:ln>
                  <a:noFill/>
                </a:ln>
                <a:solidFill>
                  <a:prstClr val="black"/>
                </a:solidFill>
                <a:effectLst/>
                <a:uLnTx/>
                <a:uFillTx/>
                <a:latin typeface="SamsungOne 400" panose="020B0503030303020204" pitchFamily="34" charset="0"/>
                <a:ea typeface="KoPub돋움체 Medium" panose="02020603020101020101" pitchFamily="18"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ko-KR" altLang="en-US" sz="1300" b="0" i="0" u="none" strike="noStrike" kern="1200" cap="none" spc="0" normalizeH="0" baseline="0" noProof="0" dirty="0">
              <a:ln>
                <a:noFill/>
              </a:ln>
              <a:solidFill>
                <a:prstClr val="black"/>
              </a:solidFill>
              <a:effectLst/>
              <a:uLnTx/>
              <a:uFillTx/>
              <a:latin typeface="SamsungOne 400" panose="020B0503030303020204" pitchFamily="34" charset="0"/>
              <a:ea typeface="KoPub돋움체 Medium" panose="02020603020101020101" pitchFamily="18" charset="-127"/>
              <a:cs typeface="+mn-cs"/>
            </a:endParaRPr>
          </a:p>
        </p:txBody>
      </p:sp>
    </p:spTree>
    <p:extLst>
      <p:ext uri="{BB962C8B-B14F-4D97-AF65-F5344CB8AC3E}">
        <p14:creationId xmlns:p14="http://schemas.microsoft.com/office/powerpoint/2010/main" val="1896948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6488988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Traditionally decision making relied on “hard wired” combination of control structures.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Also, traditionally prediction relied on “hard wired” functions.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Machine learning is different in the sense that no “hard wiring” is necessary.</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Machine learning relies on rather simple models (or algorithms) that learn from data to do the decision making and prediction.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i="0" kern="1200" dirty="0">
                <a:solidFill>
                  <a:schemeClr val="tx1"/>
                </a:solidFill>
                <a:effectLst/>
                <a:latin typeface="+mn-lt"/>
                <a:ea typeface="+mn-ea"/>
                <a:cs typeface="+mn-cs"/>
              </a:rPr>
              <a:t>Hard-wiring is to create a permanent function in the computer through the permanently connected circuit so that it won’t be changed by software.</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a:t>
            </a:fld>
            <a:endParaRPr lang="ko-KR" altLang="en-US"/>
          </a:p>
        </p:txBody>
      </p:sp>
    </p:spTree>
    <p:extLst>
      <p:ext uri="{BB962C8B-B14F-4D97-AF65-F5344CB8AC3E}">
        <p14:creationId xmlns:p14="http://schemas.microsoft.com/office/powerpoint/2010/main" val="440906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aseline="0" dirty="0">
                <a:solidFill>
                  <a:prstClr val="black">
                    <a:lumMod val="85000"/>
                    <a:lumOff val="15000"/>
                  </a:prstClr>
                </a:solidFill>
                <a:latin typeface="SamsungOne 400" panose="020B0503030303020204" pitchFamily="34" charset="0"/>
              </a:rPr>
              <a:t>Machine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learning was invented as a subset of artificial intelligence related to the self-learning algorithm which makes prediction by extracting knowledge from data. </a:t>
            </a:r>
            <a:endParaRPr lang="en-US" altLang="ko-KR" baseline="0"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So, it is science for computer programming so that the computer can learn from data.</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common terms found in the definitions are experience, performance improvement, and computer. Thus, machine learning refers to a computer programming task to improve the performance so that the problems can be </a:t>
            </a:r>
            <a:r>
              <a:rPr lang="en-US" altLang="ko-KR"/>
              <a:t>solved by using </a:t>
            </a:r>
            <a:r>
              <a:rPr lang="en-US" altLang="ko-KR" dirty="0"/>
              <a:t>data (experience) that occur from a certain application area.</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a:t>
            </a:fld>
            <a:endParaRPr lang="ko-KR" altLang="en-US"/>
          </a:p>
        </p:txBody>
      </p:sp>
    </p:spTree>
    <p:extLst>
      <p:ext uri="{BB962C8B-B14F-4D97-AF65-F5344CB8AC3E}">
        <p14:creationId xmlns:p14="http://schemas.microsoft.com/office/powerpoint/2010/main" val="2942570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There are classification and regression problems.</a:t>
            </a:r>
          </a:p>
          <a:p>
            <a:r>
              <a:rPr lang="en-US" altLang="ko-KR" dirty="0"/>
              <a:t>While the target value of a regression problem is a real number, it is a categorical value in a classification problem. (The figure above is a regression problem.)</a:t>
            </a:r>
          </a:p>
          <a:p>
            <a:r>
              <a:rPr lang="en-US" altLang="ko-KR" dirty="0"/>
              <a:t>The purpose of machine learning is to find the optimal parameter to make an accurate prediction.</a:t>
            </a:r>
            <a:endParaRPr lang="ko-KR" altLang="en-US"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a:t>
            </a:fld>
            <a:endParaRPr lang="ko-KR" altLang="en-US"/>
          </a:p>
        </p:txBody>
      </p:sp>
    </p:spTree>
    <p:extLst>
      <p:ext uri="{BB962C8B-B14F-4D97-AF65-F5344CB8AC3E}">
        <p14:creationId xmlns:p14="http://schemas.microsoft.com/office/powerpoint/2010/main" val="1967242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There are three main types of machine learning.</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a:t>
                </a:r>
                <a14:m>
                  <m:oMath xmlns:m="http://schemas.openxmlformats.org/officeDocument/2006/math">
                    <m:r>
                      <a:rPr lang="en-US" altLang="ko-KR" i="1" dirty="0" smtClean="0">
                        <a:latin typeface="Cambria Math" panose="02040503050406030204" pitchFamily="18" charset="0"/>
                      </a:rPr>
                      <m:t>𝑌</m:t>
                    </m:r>
                  </m:oMath>
                </a14:m>
                <a:r>
                  <a:rPr lang="en-US" altLang="ko-KR" dirty="0"/>
                  <a:t> and the target “pattern”</a:t>
                </a:r>
                <a:r>
                  <a:rPr lang="en-US" altLang="ko-KR" baseline="0" dirty="0"/>
                  <a:t> is given, we can apply supervised learning.</a:t>
                </a:r>
                <a:r>
                  <a:rPr lang="en-US" altLang="ko-KR" dirty="0"/>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a:t>
                </a:r>
                <a14:m>
                  <m:oMath xmlns:m="http://schemas.openxmlformats.org/officeDocument/2006/math">
                    <m:r>
                      <a:rPr lang="en-US" altLang="ko-KR" i="1" dirty="0" smtClean="0">
                        <a:latin typeface="Cambria Math" panose="02040503050406030204" pitchFamily="18" charset="0"/>
                      </a:rPr>
                      <m:t>𝑌</m:t>
                    </m:r>
                  </m:oMath>
                </a14:m>
                <a:r>
                  <a:rPr lang="en-US" altLang="ko-KR" dirty="0"/>
                  <a:t> does</a:t>
                </a:r>
                <a:r>
                  <a:rPr lang="en-US" altLang="ko-KR" baseline="0" dirty="0"/>
                  <a:t> not exist, we should apply unsupervised learning to find out the hidden pattern.</a:t>
                </a:r>
                <a:r>
                  <a:rPr lang="en-US" altLang="ko-KR" dirty="0"/>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Although very relevant, reinforcement learning will not be covered in this course.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There can be many different criteria to classify machine-learning based data analysis method depending on different perspectives, but in general, it is classified into supervised learning and unsupervised learning depending on the presence of objective variables (or response variables, output target value),</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and</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it</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is</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also</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further</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classified</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into</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reinforced</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learning</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and</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semi-supervised</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learning,</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etc.</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There are three main types of machine learning.</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a:t>
                </a:r>
                <a:r>
                  <a:rPr lang="en-US" altLang="ko-KR" i="0" dirty="0">
                    <a:latin typeface="Cambria Math" panose="02040503050406030204" pitchFamily="18" charset="0"/>
                  </a:rPr>
                  <a:t>𝑌</a:t>
                </a:r>
                <a:r>
                  <a:rPr lang="en-US" altLang="ko-KR" dirty="0"/>
                  <a:t> and the target “pattern”</a:t>
                </a:r>
                <a:r>
                  <a:rPr lang="en-US" altLang="ko-KR" baseline="0" dirty="0"/>
                  <a:t> is given, we can apply supervised learning.</a:t>
                </a:r>
                <a:r>
                  <a:rPr lang="en-US" altLang="ko-KR" dirty="0"/>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a:t>
                </a:r>
                <a:r>
                  <a:rPr lang="en-US" altLang="ko-KR" i="0" dirty="0">
                    <a:latin typeface="Cambria Math" panose="02040503050406030204" pitchFamily="18" charset="0"/>
                  </a:rPr>
                  <a:t>𝑌</a:t>
                </a:r>
                <a:r>
                  <a:rPr lang="en-US" altLang="ko-KR" dirty="0"/>
                  <a:t> does</a:t>
                </a:r>
                <a:r>
                  <a:rPr lang="en-US" altLang="ko-KR" baseline="0" dirty="0"/>
                  <a:t> not exist, we should apply unsupervised learning to find out the hidden pattern.</a:t>
                </a:r>
                <a:r>
                  <a:rPr lang="en-US" altLang="ko-KR" dirty="0"/>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Although very relevant, reinforcement learning will not be covered in this course.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err="1"/>
                  <a:t>머신러닝</a:t>
                </a:r>
                <a:r>
                  <a:rPr lang="ko-KR" altLang="en-US" dirty="0"/>
                  <a:t> 기반의 데이터 분석 기법을 분류하는 기준은 다양한 관점에서 여러 가지 기준이 있을 수 있으나</a:t>
                </a:r>
                <a:r>
                  <a:rPr lang="en-US" altLang="ko-KR" dirty="0"/>
                  <a:t>, </a:t>
                </a:r>
                <a:r>
                  <a:rPr lang="ko-KR" altLang="en-US" dirty="0"/>
                  <a:t>일반적으로 목적변수</a:t>
                </a:r>
                <a:r>
                  <a:rPr lang="en-US" altLang="ko-KR" dirty="0"/>
                  <a:t>(</a:t>
                </a:r>
                <a:r>
                  <a:rPr lang="ko-KR" altLang="en-US" dirty="0"/>
                  <a:t>혹은 반응변수</a:t>
                </a:r>
                <a:r>
                  <a:rPr lang="en-US" altLang="ko-KR" dirty="0"/>
                  <a:t>, </a:t>
                </a:r>
                <a:r>
                  <a:rPr lang="ko-KR" altLang="en-US" dirty="0"/>
                  <a:t>목표변수</a:t>
                </a:r>
                <a:r>
                  <a:rPr lang="en-US" altLang="ko-KR" dirty="0"/>
                  <a:t>, </a:t>
                </a:r>
                <a:r>
                  <a:rPr lang="ko-KR" altLang="en-US" dirty="0"/>
                  <a:t>출력 </a:t>
                </a:r>
                <a:r>
                  <a:rPr lang="ko-KR" altLang="en-US" dirty="0" err="1"/>
                  <a:t>목표값</a:t>
                </a:r>
                <a:r>
                  <a:rPr lang="ko-KR" altLang="en-US" dirty="0"/>
                  <a:t> 등으로 표현</a:t>
                </a:r>
                <a:r>
                  <a:rPr lang="en-US" altLang="ko-KR" dirty="0"/>
                  <a:t>) </a:t>
                </a:r>
                <a:r>
                  <a:rPr lang="ko-KR" altLang="en-US" dirty="0"/>
                  <a:t>존재 여부 등에 따라</a:t>
                </a:r>
                <a:r>
                  <a:rPr lang="en-US" altLang="ko-KR" dirty="0"/>
                  <a:t>, </a:t>
                </a:r>
                <a:r>
                  <a:rPr lang="ko-KR" altLang="en-US" dirty="0"/>
                  <a:t>지도 학습</a:t>
                </a:r>
                <a:r>
                  <a:rPr lang="en-US" altLang="ko-KR" dirty="0"/>
                  <a:t>(Supervised Learning)</a:t>
                </a:r>
                <a:r>
                  <a:rPr lang="ko-KR" altLang="en-US" dirty="0"/>
                  <a:t>과 자율학습 혹은 비지도 학습 </a:t>
                </a:r>
                <a:r>
                  <a:rPr lang="en-US" altLang="ko-KR" dirty="0"/>
                  <a:t>(Unsupervised Learning)</a:t>
                </a:r>
                <a:r>
                  <a:rPr lang="ko-KR" altLang="en-US" dirty="0"/>
                  <a:t>으로 분류하며</a:t>
                </a:r>
                <a:r>
                  <a:rPr lang="en-US" altLang="ko-KR" dirty="0"/>
                  <a:t>, </a:t>
                </a:r>
                <a:r>
                  <a:rPr lang="ko-KR" altLang="en-US" dirty="0"/>
                  <a:t>추가적으로 강화학습</a:t>
                </a:r>
                <a:r>
                  <a:rPr lang="en-US" altLang="ko-KR" dirty="0"/>
                  <a:t>(Reinforcement Learning), </a:t>
                </a:r>
                <a:r>
                  <a:rPr lang="ko-KR" altLang="en-US" dirty="0"/>
                  <a:t>준 지도 학습</a:t>
                </a:r>
                <a:r>
                  <a:rPr lang="en-US" altLang="ko-KR" dirty="0"/>
                  <a:t>(Semi-Supervised Learning) </a:t>
                </a:r>
                <a:r>
                  <a:rPr lang="ko-KR" altLang="en-US" dirty="0"/>
                  <a:t>등으로 구분하기도 한다</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7</a:t>
            </a:fld>
            <a:endParaRPr lang="ko-KR" altLang="en-US"/>
          </a:p>
        </p:txBody>
      </p:sp>
    </p:spTree>
    <p:extLst>
      <p:ext uri="{BB962C8B-B14F-4D97-AF65-F5344CB8AC3E}">
        <p14:creationId xmlns:p14="http://schemas.microsoft.com/office/powerpoint/2010/main" val="353335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the machine learning workflow is illustrated.</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a:t>
            </a:fld>
            <a:endParaRPr lang="ko-KR" altLang="en-US"/>
          </a:p>
        </p:txBody>
      </p:sp>
    </p:spTree>
    <p:extLst>
      <p:ext uri="{BB962C8B-B14F-4D97-AF65-F5344CB8AC3E}">
        <p14:creationId xmlns:p14="http://schemas.microsoft.com/office/powerpoint/2010/main" val="1882939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this table, we summarize the machine learning algorithms; some of them are supervised and some of them are unsupervised.</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a:t>
            </a:fld>
            <a:endParaRPr lang="ko-KR" altLang="en-US"/>
          </a:p>
        </p:txBody>
      </p:sp>
    </p:spTree>
    <p:extLst>
      <p:ext uri="{BB962C8B-B14F-4D97-AF65-F5344CB8AC3E}">
        <p14:creationId xmlns:p14="http://schemas.microsoft.com/office/powerpoint/2010/main" val="1425611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we make a clear distinction between “parameters” and “</a:t>
            </a:r>
            <a:r>
              <a:rPr lang="en-US" altLang="ko-KR" dirty="0" err="1"/>
              <a:t>hyperparameters</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Parameters are “learned” values from the data.</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contrast, hyperparameters are conditions set by the practitioner to optimize the performance.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a:t>
            </a:fld>
            <a:endParaRPr lang="ko-KR" altLang="en-US"/>
          </a:p>
        </p:txBody>
      </p:sp>
    </p:spTree>
    <p:extLst>
      <p:ext uri="{BB962C8B-B14F-4D97-AF65-F5344CB8AC3E}">
        <p14:creationId xmlns:p14="http://schemas.microsoft.com/office/powerpoint/2010/main" val="3122233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11</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9617476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Façade pattern is one of the software engineering</a:t>
            </a:r>
            <a:r>
              <a:rPr lang="ko-KR" altLang="en-US" dirty="0"/>
              <a:t> </a:t>
            </a:r>
            <a:r>
              <a:rPr lang="en-US" altLang="ko-KR" dirty="0"/>
              <a:t>design</a:t>
            </a:r>
            <a:r>
              <a:rPr lang="ko-KR" altLang="en-US" dirty="0"/>
              <a:t> </a:t>
            </a:r>
            <a:r>
              <a:rPr lang="en-US" altLang="ko-KR" dirty="0"/>
              <a:t>patterns,</a:t>
            </a:r>
            <a:r>
              <a:rPr lang="ko-KR" altLang="en-US" dirty="0"/>
              <a:t> </a:t>
            </a:r>
            <a:r>
              <a:rPr lang="en-US" altLang="ko-KR" dirty="0"/>
              <a:t>which</a:t>
            </a:r>
            <a:r>
              <a:rPr lang="ko-KR" altLang="en-US" dirty="0"/>
              <a:t> </a:t>
            </a:r>
            <a:r>
              <a:rPr lang="en-US" altLang="ko-KR" dirty="0"/>
              <a:t>is</a:t>
            </a:r>
            <a:r>
              <a:rPr lang="ko-KR" altLang="en-US" dirty="0"/>
              <a:t> </a:t>
            </a:r>
            <a:r>
              <a:rPr lang="en-US" altLang="ko-KR" dirty="0"/>
              <a:t>commonly</a:t>
            </a:r>
            <a:r>
              <a:rPr lang="ko-KR" altLang="en-US" dirty="0"/>
              <a:t> </a:t>
            </a:r>
            <a:r>
              <a:rPr lang="en-US" altLang="ko-KR" dirty="0"/>
              <a:t>used</a:t>
            </a:r>
            <a:r>
              <a:rPr lang="ko-KR" altLang="en-US" dirty="0"/>
              <a:t> </a:t>
            </a:r>
            <a:r>
              <a:rPr lang="en-US" altLang="ko-KR" dirty="0"/>
              <a:t>in</a:t>
            </a:r>
            <a:r>
              <a:rPr lang="ko-KR" altLang="en-US" dirty="0"/>
              <a:t> </a:t>
            </a:r>
            <a:r>
              <a:rPr lang="en-US" altLang="ko-KR" dirty="0"/>
              <a:t>object-oriented programming. Façade means the front side of a building, and it is an object that provides a simplified interface regarding a larger different code in the software such as class library, etc.</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a:t>
            </a:fld>
            <a:endParaRPr lang="ko-KR" altLang="en-US"/>
          </a:p>
        </p:txBody>
      </p:sp>
    </p:spTree>
    <p:extLst>
      <p:ext uri="{BB962C8B-B14F-4D97-AF65-F5344CB8AC3E}">
        <p14:creationId xmlns:p14="http://schemas.microsoft.com/office/powerpoint/2010/main" val="3172302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err="1"/>
              <a:t>scikit</a:t>
            </a:r>
            <a:r>
              <a:rPr lang="en-US" altLang="ko-KR" dirty="0"/>
              <a:t>-learn is easy to use once you become familiar with four major concepts including estimator, fit, predict, and transform.</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a:t>
            </a:fld>
            <a:endParaRPr lang="ko-KR" altLang="en-US"/>
          </a:p>
        </p:txBody>
      </p:sp>
    </p:spTree>
    <p:extLst>
      <p:ext uri="{BB962C8B-B14F-4D97-AF65-F5344CB8AC3E}">
        <p14:creationId xmlns:p14="http://schemas.microsoft.com/office/powerpoint/2010/main" val="17425984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is a brief introduction to the </a:t>
            </a:r>
            <a:r>
              <a:rPr lang="en-US" altLang="ko-KR" dirty="0" err="1"/>
              <a:t>scikit</a:t>
            </a:r>
            <a:r>
              <a:rPr lang="en-US" altLang="ko-KR" dirty="0"/>
              <a:t>-learn library.</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err="1"/>
              <a:t>scikit</a:t>
            </a:r>
            <a:r>
              <a:rPr lang="en-US" altLang="ko-KR" dirty="0"/>
              <a:t>-learn is simple and easy to use.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err="1"/>
              <a:t>scikit</a:t>
            </a:r>
            <a:r>
              <a:rPr lang="en-US" altLang="ko-KR" dirty="0"/>
              <a:t>-learn is based on NumPy, SciPy and Matplotlib libraries that we have already covered.</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a:t>
            </a:fld>
            <a:endParaRPr lang="ko-KR" altLang="en-US"/>
          </a:p>
        </p:txBody>
      </p:sp>
    </p:spTree>
    <p:extLst>
      <p:ext uri="{BB962C8B-B14F-4D97-AF65-F5344CB8AC3E}">
        <p14:creationId xmlns:p14="http://schemas.microsoft.com/office/powerpoint/2010/main" val="1150346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With </a:t>
            </a:r>
            <a:r>
              <a:rPr lang="en-US" altLang="ko-KR" dirty="0" err="1"/>
              <a:t>scikit</a:t>
            </a:r>
            <a:r>
              <a:rPr lang="en-US" altLang="ko-KR" dirty="0"/>
              <a:t>-learn, we can easily train a model and make predictions.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Also, with </a:t>
            </a:r>
            <a:r>
              <a:rPr lang="en-US" altLang="ko-KR" dirty="0" err="1"/>
              <a:t>scikit</a:t>
            </a:r>
            <a:r>
              <a:rPr lang="en-US" altLang="ko-KR" dirty="0"/>
              <a:t>-learn calculating performance metrics, hyperparameter tuning, etc. are a breeze.</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a:t>
            </a:fld>
            <a:endParaRPr lang="ko-KR" altLang="en-US"/>
          </a:p>
        </p:txBody>
      </p:sp>
    </p:spTree>
    <p:extLst>
      <p:ext uri="{BB962C8B-B14F-4D97-AF65-F5344CB8AC3E}">
        <p14:creationId xmlns:p14="http://schemas.microsoft.com/office/powerpoint/2010/main" val="3663848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16</a:t>
            </a:fld>
            <a:endParaRPr lang="ko-KR" altLang="en-US"/>
          </a:p>
        </p:txBody>
      </p:sp>
    </p:spTree>
    <p:extLst>
      <p:ext uri="{BB962C8B-B14F-4D97-AF65-F5344CB8AC3E}">
        <p14:creationId xmlns:p14="http://schemas.microsoft.com/office/powerpoint/2010/main" val="27921587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a:t>
            </a:fld>
            <a:endParaRPr lang="ko-KR" altLang="en-US"/>
          </a:p>
        </p:txBody>
      </p:sp>
    </p:spTree>
    <p:extLst>
      <p:ext uri="{BB962C8B-B14F-4D97-AF65-F5344CB8AC3E}">
        <p14:creationId xmlns:p14="http://schemas.microsoft.com/office/powerpoint/2010/main" val="2605998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18</a:t>
            </a:fld>
            <a:endParaRPr lang="ko-KR" altLang="en-US"/>
          </a:p>
        </p:txBody>
      </p:sp>
    </p:spTree>
    <p:extLst>
      <p:ext uri="{BB962C8B-B14F-4D97-AF65-F5344CB8AC3E}">
        <p14:creationId xmlns:p14="http://schemas.microsoft.com/office/powerpoint/2010/main" val="3706288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19</a:t>
            </a:fld>
            <a:endParaRPr lang="ko-KR" altLang="en-US"/>
          </a:p>
        </p:txBody>
      </p:sp>
    </p:spTree>
    <p:extLst>
      <p:ext uri="{BB962C8B-B14F-4D97-AF65-F5344CB8AC3E}">
        <p14:creationId xmlns:p14="http://schemas.microsoft.com/office/powerpoint/2010/main" val="1596303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20</a:t>
            </a:fld>
            <a:endParaRPr lang="ko-KR" altLang="en-US"/>
          </a:p>
        </p:txBody>
      </p:sp>
    </p:spTree>
    <p:extLst>
      <p:ext uri="{BB962C8B-B14F-4D97-AF65-F5344CB8AC3E}">
        <p14:creationId xmlns:p14="http://schemas.microsoft.com/office/powerpoint/2010/main" val="42913543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21</a:t>
            </a:fld>
            <a:endParaRPr lang="ko-KR" altLang="en-US"/>
          </a:p>
        </p:txBody>
      </p:sp>
    </p:spTree>
    <p:extLst>
      <p:ext uri="{BB962C8B-B14F-4D97-AF65-F5344CB8AC3E}">
        <p14:creationId xmlns:p14="http://schemas.microsoft.com/office/powerpoint/2010/main" val="35093524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22</a:t>
            </a:fld>
            <a:endParaRPr lang="ko-KR" altLang="en-US"/>
          </a:p>
        </p:txBody>
      </p:sp>
    </p:spTree>
    <p:extLst>
      <p:ext uri="{BB962C8B-B14F-4D97-AF65-F5344CB8AC3E}">
        <p14:creationId xmlns:p14="http://schemas.microsoft.com/office/powerpoint/2010/main" val="20261355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t>Instancing is a process of selecting hyperparameters. Default values are applied to unset hyperparameters. Call the estimator to show parameter status.</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23</a:t>
            </a:fld>
            <a:endParaRPr lang="ko-KR" altLang="en-US"/>
          </a:p>
        </p:txBody>
      </p:sp>
    </p:spTree>
    <p:extLst>
      <p:ext uri="{BB962C8B-B14F-4D97-AF65-F5344CB8AC3E}">
        <p14:creationId xmlns:p14="http://schemas.microsoft.com/office/powerpoint/2010/main" val="18017070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24</a:t>
            </a:fld>
            <a:endParaRPr lang="ko-KR" altLang="en-US"/>
          </a:p>
        </p:txBody>
      </p:sp>
    </p:spTree>
    <p:extLst>
      <p:ext uri="{BB962C8B-B14F-4D97-AF65-F5344CB8AC3E}">
        <p14:creationId xmlns:p14="http://schemas.microsoft.com/office/powerpoint/2010/main" val="29108714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25</a:t>
            </a:fld>
            <a:endParaRPr lang="ko-KR" altLang="en-US"/>
          </a:p>
        </p:txBody>
      </p:sp>
    </p:spTree>
    <p:extLst>
      <p:ext uri="{BB962C8B-B14F-4D97-AF65-F5344CB8AC3E}">
        <p14:creationId xmlns:p14="http://schemas.microsoft.com/office/powerpoint/2010/main" val="11794029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26</a:t>
            </a:fld>
            <a:endParaRPr lang="ko-KR" altLang="en-US"/>
          </a:p>
        </p:txBody>
      </p:sp>
    </p:spTree>
    <p:extLst>
      <p:ext uri="{BB962C8B-B14F-4D97-AF65-F5344CB8AC3E}">
        <p14:creationId xmlns:p14="http://schemas.microsoft.com/office/powerpoint/2010/main" val="33031821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27</a:t>
            </a:fld>
            <a:endParaRPr lang="ko-KR" altLang="en-US"/>
          </a:p>
        </p:txBody>
      </p:sp>
    </p:spTree>
    <p:extLst>
      <p:ext uri="{BB962C8B-B14F-4D97-AF65-F5344CB8AC3E}">
        <p14:creationId xmlns:p14="http://schemas.microsoft.com/office/powerpoint/2010/main" val="10170964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a:t>
            </a:fld>
            <a:endParaRPr lang="ko-KR" altLang="en-US"/>
          </a:p>
        </p:txBody>
      </p:sp>
    </p:spTree>
    <p:extLst>
      <p:ext uri="{BB962C8B-B14F-4D97-AF65-F5344CB8AC3E}">
        <p14:creationId xmlns:p14="http://schemas.microsoft.com/office/powerpoint/2010/main" val="41720694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a:t>
            </a:fld>
            <a:endParaRPr lang="ko-KR" altLang="en-US"/>
          </a:p>
        </p:txBody>
      </p:sp>
    </p:spTree>
    <p:extLst>
      <p:ext uri="{BB962C8B-B14F-4D97-AF65-F5344CB8AC3E}">
        <p14:creationId xmlns:p14="http://schemas.microsoft.com/office/powerpoint/2010/main" val="37425944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30</a:t>
            </a:fld>
            <a:endParaRPr lang="ko-KR" altLang="en-US"/>
          </a:p>
        </p:txBody>
      </p:sp>
    </p:spTree>
    <p:extLst>
      <p:ext uri="{BB962C8B-B14F-4D97-AF65-F5344CB8AC3E}">
        <p14:creationId xmlns:p14="http://schemas.microsoft.com/office/powerpoint/2010/main" val="41517829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31</a:t>
            </a:fld>
            <a:endParaRPr lang="ko-KR" altLang="en-US"/>
          </a:p>
        </p:txBody>
      </p:sp>
    </p:spTree>
    <p:extLst>
      <p:ext uri="{BB962C8B-B14F-4D97-AF65-F5344CB8AC3E}">
        <p14:creationId xmlns:p14="http://schemas.microsoft.com/office/powerpoint/2010/main" val="2256820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32</a:t>
            </a:fld>
            <a:endParaRPr lang="ko-KR" altLang="en-US"/>
          </a:p>
        </p:txBody>
      </p:sp>
    </p:spTree>
    <p:extLst>
      <p:ext uri="{BB962C8B-B14F-4D97-AF65-F5344CB8AC3E}">
        <p14:creationId xmlns:p14="http://schemas.microsoft.com/office/powerpoint/2010/main" val="41553871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33</a:t>
            </a:fld>
            <a:endParaRPr lang="ko-KR" altLang="en-US"/>
          </a:p>
        </p:txBody>
      </p:sp>
    </p:spTree>
    <p:extLst>
      <p:ext uri="{BB962C8B-B14F-4D97-AF65-F5344CB8AC3E}">
        <p14:creationId xmlns:p14="http://schemas.microsoft.com/office/powerpoint/2010/main" val="5922999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34</a:t>
            </a:fld>
            <a:endParaRPr lang="ko-KR" altLang="en-US"/>
          </a:p>
        </p:txBody>
      </p:sp>
    </p:spTree>
    <p:extLst>
      <p:ext uri="{BB962C8B-B14F-4D97-AF65-F5344CB8AC3E}">
        <p14:creationId xmlns:p14="http://schemas.microsoft.com/office/powerpoint/2010/main" val="39203288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35</a:t>
            </a:fld>
            <a:endParaRPr lang="ko-KR" altLang="en-US"/>
          </a:p>
        </p:txBody>
      </p:sp>
    </p:spTree>
    <p:extLst>
      <p:ext uri="{BB962C8B-B14F-4D97-AF65-F5344CB8AC3E}">
        <p14:creationId xmlns:p14="http://schemas.microsoft.com/office/powerpoint/2010/main" val="9589847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Because all of the functions including algorithms in </a:t>
            </a:r>
            <a:r>
              <a:rPr lang="en-US" altLang="ko-KR" baseline="0" dirty="0" err="1"/>
              <a:t>scikit</a:t>
            </a:r>
            <a:r>
              <a:rPr lang="en-US" altLang="ko-KR" baseline="0" dirty="0"/>
              <a:t>-learn are standardized as </a:t>
            </a:r>
            <a:r>
              <a:rPr lang="en-US" altLang="ko-KR" dirty="0"/>
              <a:t>instance -&gt; fit -&gt; predict</a:t>
            </a:r>
            <a:r>
              <a:rPr lang="en-US" altLang="ko-KR" baseline="0" dirty="0"/>
              <a:t> or</a:t>
            </a:r>
            <a:r>
              <a:rPr lang="ko-KR" altLang="en-US" baseline="0" dirty="0"/>
              <a:t> </a:t>
            </a:r>
            <a:r>
              <a:rPr lang="en-US" altLang="ko-KR" baseline="0" dirty="0"/>
              <a:t>transform, it is extremely easy to use. </a:t>
            </a: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36</a:t>
            </a:fld>
            <a:endParaRPr lang="ko-KR" altLang="en-US"/>
          </a:p>
        </p:txBody>
      </p:sp>
    </p:spTree>
    <p:extLst>
      <p:ext uri="{BB962C8B-B14F-4D97-AF65-F5344CB8AC3E}">
        <p14:creationId xmlns:p14="http://schemas.microsoft.com/office/powerpoint/2010/main" val="24891227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37</a:t>
            </a:fld>
            <a:endParaRPr lang="ko-KR" altLang="en-US"/>
          </a:p>
        </p:txBody>
      </p:sp>
    </p:spTree>
    <p:extLst>
      <p:ext uri="{BB962C8B-B14F-4D97-AF65-F5344CB8AC3E}">
        <p14:creationId xmlns:p14="http://schemas.microsoft.com/office/powerpoint/2010/main" val="14314402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38</a:t>
            </a:fld>
            <a:endParaRPr lang="ko-KR" altLang="en-US"/>
          </a:p>
        </p:txBody>
      </p:sp>
    </p:spTree>
    <p:extLst>
      <p:ext uri="{BB962C8B-B14F-4D97-AF65-F5344CB8AC3E}">
        <p14:creationId xmlns:p14="http://schemas.microsoft.com/office/powerpoint/2010/main" val="41240575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39</a:t>
            </a:fld>
            <a:endParaRPr lang="ko-KR" altLang="en-US"/>
          </a:p>
        </p:txBody>
      </p:sp>
    </p:spTree>
    <p:extLst>
      <p:ext uri="{BB962C8B-B14F-4D97-AF65-F5344CB8AC3E}">
        <p14:creationId xmlns:p14="http://schemas.microsoft.com/office/powerpoint/2010/main" val="365049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40</a:t>
            </a:fld>
            <a:endParaRPr lang="ko-KR" altLang="en-US"/>
          </a:p>
        </p:txBody>
      </p:sp>
    </p:spTree>
    <p:extLst>
      <p:ext uri="{BB962C8B-B14F-4D97-AF65-F5344CB8AC3E}">
        <p14:creationId xmlns:p14="http://schemas.microsoft.com/office/powerpoint/2010/main" val="7558954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41</a:t>
            </a:fld>
            <a:endParaRPr lang="ko-KR" altLang="en-US"/>
          </a:p>
        </p:txBody>
      </p:sp>
    </p:spTree>
    <p:extLst>
      <p:ext uri="{BB962C8B-B14F-4D97-AF65-F5344CB8AC3E}">
        <p14:creationId xmlns:p14="http://schemas.microsoft.com/office/powerpoint/2010/main" val="31859360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42</a:t>
            </a:fld>
            <a:endParaRPr lang="ko-KR" altLang="en-US"/>
          </a:p>
        </p:txBody>
      </p:sp>
    </p:spTree>
    <p:extLst>
      <p:ext uri="{BB962C8B-B14F-4D97-AF65-F5344CB8AC3E}">
        <p14:creationId xmlns:p14="http://schemas.microsoft.com/office/powerpoint/2010/main" val="17359869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43</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41096871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In general,</a:t>
            </a:r>
            <a:r>
              <a:rPr lang="en-US" altLang="ko-KR" sz="1200" baseline="0" dirty="0">
                <a:solidFill>
                  <a:prstClr val="black">
                    <a:lumMod val="85000"/>
                    <a:lumOff val="15000"/>
                  </a:prstClr>
                </a:solidFill>
                <a:latin typeface="SamsungOne 400" panose="020B0503030303020204" pitchFamily="34" charset="0"/>
                <a:ea typeface="SamsungOne 400" panose="020B0503030303020204" pitchFamily="34" charset="0"/>
              </a:rPr>
              <a:t> k=10.</a:t>
            </a:r>
            <a:endPar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44</a:t>
            </a:fld>
            <a:endParaRPr lang="ko-KR" altLang="en-US"/>
          </a:p>
        </p:txBody>
      </p:sp>
    </p:spTree>
    <p:extLst>
      <p:ext uri="{BB962C8B-B14F-4D97-AF65-F5344CB8AC3E}">
        <p14:creationId xmlns:p14="http://schemas.microsoft.com/office/powerpoint/2010/main" val="28175826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45</a:t>
            </a:fld>
            <a:endParaRPr lang="ko-KR" altLang="en-US"/>
          </a:p>
        </p:txBody>
      </p:sp>
    </p:spTree>
    <p:extLst>
      <p:ext uri="{BB962C8B-B14F-4D97-AF65-F5344CB8AC3E}">
        <p14:creationId xmlns:p14="http://schemas.microsoft.com/office/powerpoint/2010/main" val="7979203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46</a:t>
            </a:fld>
            <a:endParaRPr lang="ko-KR" altLang="en-US"/>
          </a:p>
        </p:txBody>
      </p:sp>
    </p:spTree>
    <p:extLst>
      <p:ext uri="{BB962C8B-B14F-4D97-AF65-F5344CB8AC3E}">
        <p14:creationId xmlns:p14="http://schemas.microsoft.com/office/powerpoint/2010/main" val="11452537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47</a:t>
            </a:fld>
            <a:endParaRPr lang="ko-KR" altLang="en-US"/>
          </a:p>
        </p:txBody>
      </p:sp>
    </p:spTree>
    <p:extLst>
      <p:ext uri="{BB962C8B-B14F-4D97-AF65-F5344CB8AC3E}">
        <p14:creationId xmlns:p14="http://schemas.microsoft.com/office/powerpoint/2010/main" val="12095525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the concept of “cross-validation” is explained.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cannot emphasize enough that the final evaluation (testing) should be done only once.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Usually, hyperparameters are tuned during the cross-validation phase.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48</a:t>
            </a:fld>
            <a:endParaRPr lang="ko-KR" altLang="en-US"/>
          </a:p>
        </p:txBody>
      </p:sp>
    </p:spTree>
    <p:extLst>
      <p:ext uri="{BB962C8B-B14F-4D97-AF65-F5344CB8AC3E}">
        <p14:creationId xmlns:p14="http://schemas.microsoft.com/office/powerpoint/2010/main" val="234972671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the step by step procedure for cross-validation is explained.</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49</a:t>
            </a:fld>
            <a:endParaRPr lang="ko-KR" altLang="en-US"/>
          </a:p>
        </p:txBody>
      </p:sp>
    </p:spTree>
    <p:extLst>
      <p:ext uri="{BB962C8B-B14F-4D97-AF65-F5344CB8AC3E}">
        <p14:creationId xmlns:p14="http://schemas.microsoft.com/office/powerpoint/2010/main" val="12655171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most widely used cross-validation method is the so-called “k-fold.”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The training dataset is partitioned into </a:t>
                </a:r>
                <a14:m>
                  <m:oMath xmlns:m="http://schemas.openxmlformats.org/officeDocument/2006/math">
                    <m:r>
                      <a:rPr lang="en-US" altLang="ko-KR" sz="1200" i="1" dirty="0" smtClean="0">
                        <a:latin typeface="Cambria Math" panose="02040503050406030204" pitchFamily="18" charset="0"/>
                        <a:cs typeface="Times New Roman" panose="02020603050405020304" pitchFamily="18" charset="0"/>
                      </a:rPr>
                      <m:t>𝑘</m:t>
                    </m:r>
                  </m:oMath>
                </a14:m>
                <a:r>
                  <a:rPr lang="en-US" altLang="ko-KR" sz="1200" dirty="0">
                    <a:latin typeface="Times New Roman" panose="02020603050405020304" pitchFamily="18" charset="0"/>
                    <a:cs typeface="Times New Roman" panose="02020603050405020304" pitchFamily="18" charset="0"/>
                  </a:rPr>
                  <a:t> equal parts.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Then, we can sequentially take</a:t>
                </a:r>
                <a:r>
                  <a:rPr lang="en-US" altLang="ko-KR" sz="1200" baseline="0" dirty="0">
                    <a:latin typeface="Times New Roman" panose="02020603050405020304" pitchFamily="18" charset="0"/>
                    <a:cs typeface="Times New Roman" panose="02020603050405020304" pitchFamily="18" charset="0"/>
                  </a:rPr>
                  <a:t> one part as the validation set and the rest as the training set.</a:t>
                </a:r>
                <a:r>
                  <a:rPr lang="en-US" altLang="ko-KR" sz="1200" dirty="0">
                    <a:latin typeface="Times New Roman" panose="02020603050405020304" pitchFamily="18" charset="0"/>
                    <a:cs typeface="Times New Roman" panose="02020603050405020304" pitchFamily="18" charset="0"/>
                  </a:rPr>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most widely used cross-validation method is the so-called “k-fold”.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The training dataset is partitioned into </a:t>
                </a:r>
                <a:r>
                  <a:rPr lang="en-US" altLang="ko-KR" sz="1200" i="0" dirty="0">
                    <a:latin typeface="Cambria Math" panose="02040503050406030204" pitchFamily="18" charset="0"/>
                    <a:cs typeface="Times New Roman" panose="02020603050405020304" pitchFamily="18" charset="0"/>
                  </a:rPr>
                  <a:t>𝑘</a:t>
                </a:r>
                <a:r>
                  <a:rPr lang="en-US" altLang="ko-KR" sz="1200" dirty="0">
                    <a:latin typeface="Times New Roman" panose="02020603050405020304" pitchFamily="18" charset="0"/>
                    <a:cs typeface="Times New Roman" panose="02020603050405020304" pitchFamily="18" charset="0"/>
                  </a:rPr>
                  <a:t> equal parts.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Then, we can sequentially take</a:t>
                </a:r>
                <a:r>
                  <a:rPr lang="en-US" altLang="ko-KR" sz="1200" baseline="0" dirty="0">
                    <a:latin typeface="Times New Roman" panose="02020603050405020304" pitchFamily="18" charset="0"/>
                    <a:cs typeface="Times New Roman" panose="02020603050405020304" pitchFamily="18" charset="0"/>
                  </a:rPr>
                  <a:t> one part as the validation set and the rest as the training set.</a:t>
                </a:r>
                <a:r>
                  <a:rPr lang="en-US" altLang="ko-KR" sz="1200" dirty="0">
                    <a:latin typeface="Times New Roman" panose="02020603050405020304" pitchFamily="18" charset="0"/>
                    <a:cs typeface="Times New Roman" panose="02020603050405020304" pitchFamily="18" charset="0"/>
                  </a:rPr>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50</a:t>
            </a:fld>
            <a:endParaRPr lang="ko-KR" altLang="en-US"/>
          </a:p>
        </p:txBody>
      </p:sp>
    </p:spTree>
    <p:extLst>
      <p:ext uri="{BB962C8B-B14F-4D97-AF65-F5344CB8AC3E}">
        <p14:creationId xmlns:p14="http://schemas.microsoft.com/office/powerpoint/2010/main" val="170152804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the “Leave One Out” cross-validation method is explained.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Only one observation is left out for validation.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51</a:t>
            </a:fld>
            <a:endParaRPr lang="ko-KR" altLang="en-US"/>
          </a:p>
        </p:txBody>
      </p:sp>
    </p:spTree>
    <p:extLst>
      <p:ext uri="{BB962C8B-B14F-4D97-AF65-F5344CB8AC3E}">
        <p14:creationId xmlns:p14="http://schemas.microsoft.com/office/powerpoint/2010/main" val="30557708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the concept of “cross-validation” is explained.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cannot emphasize enough that the final evaluation (testing) should be done only once.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Usually, hyperparameters are tuned during the cross-validation phase.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52</a:t>
            </a:fld>
            <a:endParaRPr lang="ko-KR" altLang="en-US"/>
          </a:p>
        </p:txBody>
      </p:sp>
    </p:spTree>
    <p:extLst>
      <p:ext uri="{BB962C8B-B14F-4D97-AF65-F5344CB8AC3E}">
        <p14:creationId xmlns:p14="http://schemas.microsoft.com/office/powerpoint/2010/main" val="24491474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53</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3313916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54</a:t>
            </a:fld>
            <a:endParaRPr lang="ko-KR" altLang="en-US"/>
          </a:p>
        </p:txBody>
      </p:sp>
    </p:spTree>
    <p:extLst>
      <p:ext uri="{BB962C8B-B14F-4D97-AF65-F5344CB8AC3E}">
        <p14:creationId xmlns:p14="http://schemas.microsoft.com/office/powerpoint/2010/main" val="3778285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55</a:t>
            </a:fld>
            <a:endParaRPr lang="ko-KR" altLang="en-US"/>
          </a:p>
        </p:txBody>
      </p:sp>
    </p:spTree>
    <p:extLst>
      <p:ext uri="{BB962C8B-B14F-4D97-AF65-F5344CB8AC3E}">
        <p14:creationId xmlns:p14="http://schemas.microsoft.com/office/powerpoint/2010/main" val="166064570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56</a:t>
            </a:fld>
            <a:endParaRPr lang="ko-KR" altLang="en-US"/>
          </a:p>
        </p:txBody>
      </p:sp>
    </p:spTree>
    <p:extLst>
      <p:ext uri="{BB962C8B-B14F-4D97-AF65-F5344CB8AC3E}">
        <p14:creationId xmlns:p14="http://schemas.microsoft.com/office/powerpoint/2010/main" val="152652334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57</a:t>
            </a:fld>
            <a:endParaRPr lang="ko-KR" altLang="en-US"/>
          </a:p>
        </p:txBody>
      </p:sp>
    </p:spTree>
    <p:extLst>
      <p:ext uri="{BB962C8B-B14F-4D97-AF65-F5344CB8AC3E}">
        <p14:creationId xmlns:p14="http://schemas.microsoft.com/office/powerpoint/2010/main" val="339278799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58</a:t>
            </a:fld>
            <a:endParaRPr lang="ko-KR" altLang="en-US"/>
          </a:p>
        </p:txBody>
      </p:sp>
    </p:spTree>
    <p:extLst>
      <p:ext uri="{BB962C8B-B14F-4D97-AF65-F5344CB8AC3E}">
        <p14:creationId xmlns:p14="http://schemas.microsoft.com/office/powerpoint/2010/main" val="257947287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59</a:t>
            </a:fld>
            <a:endParaRPr lang="ko-KR" altLang="en-US"/>
          </a:p>
        </p:txBody>
      </p:sp>
    </p:spTree>
    <p:extLst>
      <p:ext uri="{BB962C8B-B14F-4D97-AF65-F5344CB8AC3E}">
        <p14:creationId xmlns:p14="http://schemas.microsoft.com/office/powerpoint/2010/main" val="31288976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60</a:t>
            </a:fld>
            <a:endParaRPr lang="ko-KR" altLang="en-US"/>
          </a:p>
        </p:txBody>
      </p:sp>
    </p:spTree>
    <p:extLst>
      <p:ext uri="{BB962C8B-B14F-4D97-AF65-F5344CB8AC3E}">
        <p14:creationId xmlns:p14="http://schemas.microsoft.com/office/powerpoint/2010/main" val="141300339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61</a:t>
            </a:fld>
            <a:endParaRPr lang="ko-KR" altLang="en-US"/>
          </a:p>
        </p:txBody>
      </p:sp>
    </p:spTree>
    <p:extLst>
      <p:ext uri="{BB962C8B-B14F-4D97-AF65-F5344CB8AC3E}">
        <p14:creationId xmlns:p14="http://schemas.microsoft.com/office/powerpoint/2010/main" val="40134908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62</a:t>
            </a:fld>
            <a:endParaRPr lang="ko-KR" altLang="en-US"/>
          </a:p>
        </p:txBody>
      </p:sp>
    </p:spTree>
    <p:extLst>
      <p:ext uri="{BB962C8B-B14F-4D97-AF65-F5344CB8AC3E}">
        <p14:creationId xmlns:p14="http://schemas.microsoft.com/office/powerpoint/2010/main" val="57993438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63</a:t>
            </a:fld>
            <a:endParaRPr lang="ko-KR" altLang="en-US"/>
          </a:p>
        </p:txBody>
      </p:sp>
    </p:spTree>
    <p:extLst>
      <p:ext uri="{BB962C8B-B14F-4D97-AF65-F5344CB8AC3E}">
        <p14:creationId xmlns:p14="http://schemas.microsoft.com/office/powerpoint/2010/main" val="313364505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64</a:t>
            </a:fld>
            <a:endParaRPr lang="ko-KR" altLang="en-US"/>
          </a:p>
        </p:txBody>
      </p:sp>
    </p:spTree>
    <p:extLst>
      <p:ext uri="{BB962C8B-B14F-4D97-AF65-F5344CB8AC3E}">
        <p14:creationId xmlns:p14="http://schemas.microsoft.com/office/powerpoint/2010/main" val="33089173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65</a:t>
            </a:fld>
            <a:endParaRPr lang="ko-KR" altLang="en-US"/>
          </a:p>
        </p:txBody>
      </p:sp>
    </p:spTree>
    <p:extLst>
      <p:ext uri="{BB962C8B-B14F-4D97-AF65-F5344CB8AC3E}">
        <p14:creationId xmlns:p14="http://schemas.microsoft.com/office/powerpoint/2010/main" val="46628616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66</a:t>
            </a:fld>
            <a:endParaRPr lang="ko-KR" altLang="en-US"/>
          </a:p>
        </p:txBody>
      </p:sp>
    </p:spTree>
    <p:extLst>
      <p:ext uri="{BB962C8B-B14F-4D97-AF65-F5344CB8AC3E}">
        <p14:creationId xmlns:p14="http://schemas.microsoft.com/office/powerpoint/2010/main" val="31920114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67</a:t>
            </a:fld>
            <a:endParaRPr lang="ko-KR" altLang="en-US"/>
          </a:p>
        </p:txBody>
      </p:sp>
    </p:spTree>
    <p:extLst>
      <p:ext uri="{BB962C8B-B14F-4D97-AF65-F5344CB8AC3E}">
        <p14:creationId xmlns:p14="http://schemas.microsoft.com/office/powerpoint/2010/main" val="274074139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68</a:t>
            </a:fld>
            <a:endParaRPr lang="ko-KR" altLang="en-US"/>
          </a:p>
        </p:txBody>
      </p:sp>
    </p:spTree>
    <p:extLst>
      <p:ext uri="{BB962C8B-B14F-4D97-AF65-F5344CB8AC3E}">
        <p14:creationId xmlns:p14="http://schemas.microsoft.com/office/powerpoint/2010/main" val="58095069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69</a:t>
            </a:fld>
            <a:endParaRPr lang="ko-KR" altLang="en-US"/>
          </a:p>
        </p:txBody>
      </p:sp>
    </p:spTree>
    <p:extLst>
      <p:ext uri="{BB962C8B-B14F-4D97-AF65-F5344CB8AC3E}">
        <p14:creationId xmlns:p14="http://schemas.microsoft.com/office/powerpoint/2010/main" val="63279516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70</a:t>
            </a:fld>
            <a:endParaRPr lang="ko-KR" altLang="en-US"/>
          </a:p>
        </p:txBody>
      </p:sp>
    </p:spTree>
    <p:extLst>
      <p:ext uri="{BB962C8B-B14F-4D97-AF65-F5344CB8AC3E}">
        <p14:creationId xmlns:p14="http://schemas.microsoft.com/office/powerpoint/2010/main" val="206970185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71</a:t>
            </a:fld>
            <a:endParaRPr lang="ko-KR" altLang="en-US"/>
          </a:p>
        </p:txBody>
      </p:sp>
    </p:spTree>
    <p:extLst>
      <p:ext uri="{BB962C8B-B14F-4D97-AF65-F5344CB8AC3E}">
        <p14:creationId xmlns:p14="http://schemas.microsoft.com/office/powerpoint/2010/main" val="230333243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72</a:t>
            </a:fld>
            <a:endParaRPr lang="ko-KR" altLang="en-US"/>
          </a:p>
        </p:txBody>
      </p:sp>
    </p:spTree>
    <p:extLst>
      <p:ext uri="{BB962C8B-B14F-4D97-AF65-F5344CB8AC3E}">
        <p14:creationId xmlns:p14="http://schemas.microsoft.com/office/powerpoint/2010/main" val="76082334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73</a:t>
            </a:fld>
            <a:endParaRPr lang="ko-KR" altLang="en-US"/>
          </a:p>
        </p:txBody>
      </p:sp>
    </p:spTree>
    <p:extLst>
      <p:ext uri="{BB962C8B-B14F-4D97-AF65-F5344CB8AC3E}">
        <p14:creationId xmlns:p14="http://schemas.microsoft.com/office/powerpoint/2010/main" val="118990488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74</a:t>
            </a:fld>
            <a:endParaRPr lang="ko-KR" altLang="en-US"/>
          </a:p>
        </p:txBody>
      </p:sp>
    </p:spTree>
    <p:extLst>
      <p:ext uri="{BB962C8B-B14F-4D97-AF65-F5344CB8AC3E}">
        <p14:creationId xmlns:p14="http://schemas.microsoft.com/office/powerpoint/2010/main" val="214863690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75</a:t>
            </a:fld>
            <a:endParaRPr lang="ko-KR" altLang="en-US"/>
          </a:p>
        </p:txBody>
      </p:sp>
    </p:spTree>
    <p:extLst>
      <p:ext uri="{BB962C8B-B14F-4D97-AF65-F5344CB8AC3E}">
        <p14:creationId xmlns:p14="http://schemas.microsoft.com/office/powerpoint/2010/main" val="421940068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76</a:t>
            </a:fld>
            <a:endParaRPr lang="ko-KR" altLang="en-US"/>
          </a:p>
        </p:txBody>
      </p:sp>
    </p:spTree>
    <p:extLst>
      <p:ext uri="{BB962C8B-B14F-4D97-AF65-F5344CB8AC3E}">
        <p14:creationId xmlns:p14="http://schemas.microsoft.com/office/powerpoint/2010/main" val="125285598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77</a:t>
            </a:fld>
            <a:endParaRPr lang="ko-KR" altLang="en-US"/>
          </a:p>
        </p:txBody>
      </p:sp>
    </p:spTree>
    <p:extLst>
      <p:ext uri="{BB962C8B-B14F-4D97-AF65-F5344CB8AC3E}">
        <p14:creationId xmlns:p14="http://schemas.microsoft.com/office/powerpoint/2010/main" val="54107739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78</a:t>
            </a:fld>
            <a:endParaRPr lang="ko-KR" altLang="en-US"/>
          </a:p>
        </p:txBody>
      </p:sp>
    </p:spTree>
    <p:extLst>
      <p:ext uri="{BB962C8B-B14F-4D97-AF65-F5344CB8AC3E}">
        <p14:creationId xmlns:p14="http://schemas.microsoft.com/office/powerpoint/2010/main" val="335895639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79</a:t>
            </a:fld>
            <a:endParaRPr lang="ko-KR" altLang="en-US"/>
          </a:p>
        </p:txBody>
      </p:sp>
    </p:spTree>
    <p:extLst>
      <p:ext uri="{BB962C8B-B14F-4D97-AF65-F5344CB8AC3E}">
        <p14:creationId xmlns:p14="http://schemas.microsoft.com/office/powerpoint/2010/main" val="201931480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80</a:t>
            </a:fld>
            <a:endParaRPr lang="ko-KR" altLang="en-US"/>
          </a:p>
        </p:txBody>
      </p:sp>
    </p:spTree>
    <p:extLst>
      <p:ext uri="{BB962C8B-B14F-4D97-AF65-F5344CB8AC3E}">
        <p14:creationId xmlns:p14="http://schemas.microsoft.com/office/powerpoint/2010/main" val="34993704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81</a:t>
            </a:fld>
            <a:endParaRPr lang="ko-KR" altLang="en-US"/>
          </a:p>
        </p:txBody>
      </p:sp>
    </p:spTree>
    <p:extLst>
      <p:ext uri="{BB962C8B-B14F-4D97-AF65-F5344CB8AC3E}">
        <p14:creationId xmlns:p14="http://schemas.microsoft.com/office/powerpoint/2010/main" val="186443154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82</a:t>
            </a:fld>
            <a:endParaRPr lang="ko-KR" altLang="en-US"/>
          </a:p>
        </p:txBody>
      </p:sp>
    </p:spTree>
    <p:extLst>
      <p:ext uri="{BB962C8B-B14F-4D97-AF65-F5344CB8AC3E}">
        <p14:creationId xmlns:p14="http://schemas.microsoft.com/office/powerpoint/2010/main" val="90771057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83</a:t>
            </a:fld>
            <a:endParaRPr lang="ko-KR" altLang="en-US"/>
          </a:p>
        </p:txBody>
      </p:sp>
    </p:spTree>
    <p:extLst>
      <p:ext uri="{BB962C8B-B14F-4D97-AF65-F5344CB8AC3E}">
        <p14:creationId xmlns:p14="http://schemas.microsoft.com/office/powerpoint/2010/main" val="344230621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84</a:t>
            </a:fld>
            <a:endParaRPr lang="ko-KR" altLang="en-US"/>
          </a:p>
        </p:txBody>
      </p:sp>
    </p:spTree>
    <p:extLst>
      <p:ext uri="{BB962C8B-B14F-4D97-AF65-F5344CB8AC3E}">
        <p14:creationId xmlns:p14="http://schemas.microsoft.com/office/powerpoint/2010/main" val="148089033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85</a:t>
            </a:fld>
            <a:endParaRPr lang="ko-KR" altLang="en-US"/>
          </a:p>
        </p:txBody>
      </p:sp>
    </p:spTree>
    <p:extLst>
      <p:ext uri="{BB962C8B-B14F-4D97-AF65-F5344CB8AC3E}">
        <p14:creationId xmlns:p14="http://schemas.microsoft.com/office/powerpoint/2010/main" val="111279388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86</a:t>
            </a:fld>
            <a:endParaRPr lang="ko-KR" altLang="en-US"/>
          </a:p>
        </p:txBody>
      </p:sp>
    </p:spTree>
    <p:extLst>
      <p:ext uri="{BB962C8B-B14F-4D97-AF65-F5344CB8AC3E}">
        <p14:creationId xmlns:p14="http://schemas.microsoft.com/office/powerpoint/2010/main" val="280407028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87</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80287653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r>
              <a:rPr lang="en-US" altLang="ko-KR" sz="1200" b="0" i="0" kern="1200" dirty="0">
                <a:solidFill>
                  <a:schemeClr val="tx1"/>
                </a:solidFill>
                <a:effectLst/>
                <a:latin typeface="+mn-lt"/>
                <a:ea typeface="+mn-ea"/>
                <a:cs typeface="+mn-cs"/>
              </a:rPr>
              <a:t>Sometimes, the most difficult task in solving machine learning problems is to find an</a:t>
            </a:r>
            <a:r>
              <a:rPr lang="ko-KR" altLang="en-US"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rPr>
              <a:t>estimator</a:t>
            </a:r>
            <a:r>
              <a:rPr lang="ko-KR" altLang="en-US"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rPr>
              <a:t>that is appropriate to the task.</a:t>
            </a:r>
          </a:p>
          <a:p>
            <a:r>
              <a:rPr lang="en-US" altLang="ko-KR" sz="1200" b="0" i="0" kern="1200" dirty="0">
                <a:solidFill>
                  <a:schemeClr val="tx1"/>
                </a:solidFill>
                <a:effectLst/>
                <a:latin typeface="+mn-lt"/>
                <a:ea typeface="+mn-ea"/>
                <a:cs typeface="+mn-cs"/>
              </a:rPr>
              <a:t>Various kinds of estimators are suitable for different types of data and problems.</a:t>
            </a:r>
          </a:p>
          <a:p>
            <a:r>
              <a:rPr lang="en-US" altLang="ko-KR" sz="1200" b="0" i="0" kern="1200" dirty="0">
                <a:solidFill>
                  <a:schemeClr val="tx1"/>
                </a:solidFill>
                <a:effectLst/>
                <a:latin typeface="+mn-lt"/>
                <a:ea typeface="+mn-ea"/>
                <a:cs typeface="+mn-cs"/>
              </a:rPr>
              <a:t>The flow chart above is designed to provide brief guidelines regarding methods to approach to the problem with the estimators to be used for the data.</a:t>
            </a:r>
          </a:p>
          <a:p>
            <a:endParaRPr lang="en-US" altLang="ko-KR"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88</a:t>
            </a:fld>
            <a:endParaRPr lang="ko-KR" altLang="en-US"/>
          </a:p>
        </p:txBody>
      </p:sp>
    </p:spTree>
    <p:extLst>
      <p:ext uri="{BB962C8B-B14F-4D97-AF65-F5344CB8AC3E}">
        <p14:creationId xmlns:p14="http://schemas.microsoft.com/office/powerpoint/2010/main" val="238704298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Learn the overall flow of machine learning while practicing classification analysis regarding the iris dataset. Referred to as the bible of introductory machine learning, iris data is an open dataset that is most frequently used.</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89</a:t>
            </a:fld>
            <a:endParaRPr lang="ko-KR" altLang="en-US"/>
          </a:p>
        </p:txBody>
      </p:sp>
    </p:spTree>
    <p:extLst>
      <p:ext uri="{BB962C8B-B14F-4D97-AF65-F5344CB8AC3E}">
        <p14:creationId xmlns:p14="http://schemas.microsoft.com/office/powerpoint/2010/main" val="289461092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90</a:t>
            </a:fld>
            <a:endParaRPr lang="ko-KR" altLang="en-US"/>
          </a:p>
        </p:txBody>
      </p:sp>
    </p:spTree>
    <p:extLst>
      <p:ext uri="{BB962C8B-B14F-4D97-AF65-F5344CB8AC3E}">
        <p14:creationId xmlns:p14="http://schemas.microsoft.com/office/powerpoint/2010/main" val="183290560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expertise knowledge that contains domain knowledge learning data is called domain knowledge.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Domain knowledge covers general background knowledge of a certain field and also to the meanings of each variable.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this practicing problem, it is enough to know different kinds of iris species.</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91</a:t>
            </a:fld>
            <a:endParaRPr lang="ko-KR" altLang="en-US"/>
          </a:p>
        </p:txBody>
      </p:sp>
    </p:spTree>
    <p:extLst>
      <p:ext uri="{BB962C8B-B14F-4D97-AF65-F5344CB8AC3E}">
        <p14:creationId xmlns:p14="http://schemas.microsoft.com/office/powerpoint/2010/main" val="376723278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92</a:t>
            </a:fld>
            <a:endParaRPr lang="ko-KR" altLang="en-US"/>
          </a:p>
        </p:txBody>
      </p:sp>
    </p:spTree>
    <p:extLst>
      <p:ext uri="{BB962C8B-B14F-4D97-AF65-F5344CB8AC3E}">
        <p14:creationId xmlns:p14="http://schemas.microsoft.com/office/powerpoint/2010/main" val="311659763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93</a:t>
            </a:fld>
            <a:endParaRPr lang="ko-KR" altLang="en-US"/>
          </a:p>
        </p:txBody>
      </p:sp>
    </p:spTree>
    <p:extLst>
      <p:ext uri="{BB962C8B-B14F-4D97-AF65-F5344CB8AC3E}">
        <p14:creationId xmlns:p14="http://schemas.microsoft.com/office/powerpoint/2010/main" val="124228722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94</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10468752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From now and on, we will stick the supervised learning.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 supervised learning algorithm is applicable when we have a response variable that provides the “target” pattern.</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95</a:t>
            </a:fld>
            <a:endParaRPr lang="ko-KR" altLang="en-US"/>
          </a:p>
        </p:txBody>
      </p:sp>
    </p:spTree>
    <p:extLst>
      <p:ext uri="{BB962C8B-B14F-4D97-AF65-F5344CB8AC3E}">
        <p14:creationId xmlns:p14="http://schemas.microsoft.com/office/powerpoint/2010/main" val="295452401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we take a step back and ask ourselves what “learning” means.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+Learning does not mean just a good memory.</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+To prove that you have learned, you should be tested!</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the supervised learning, the response variable is also present.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values of the response variable are like the “correct answers” that can be used to grade the test results.</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96</a:t>
            </a:fld>
            <a:endParaRPr lang="ko-KR" altLang="en-US"/>
          </a:p>
        </p:txBody>
      </p:sp>
    </p:spTree>
    <p:extLst>
      <p:ext uri="{BB962C8B-B14F-4D97-AF65-F5344CB8AC3E}">
        <p14:creationId xmlns:p14="http://schemas.microsoft.com/office/powerpoint/2010/main" val="298281651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Bias error is explained.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Often bias error is referred to as “</a:t>
            </a:r>
            <a:r>
              <a:rPr lang="en-US" altLang="ko-KR" dirty="0" err="1"/>
              <a:t>underfitting</a:t>
            </a:r>
            <a:r>
              <a:rPr lang="en-US" altLang="ko-KR" dirty="0"/>
              <a:t> error.”</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97</a:t>
            </a:fld>
            <a:endParaRPr lang="ko-KR" altLang="en-US"/>
          </a:p>
        </p:txBody>
      </p:sp>
    </p:spTree>
    <p:extLst>
      <p:ext uri="{BB962C8B-B14F-4D97-AF65-F5344CB8AC3E}">
        <p14:creationId xmlns:p14="http://schemas.microsoft.com/office/powerpoint/2010/main" val="186288728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Variance error is explained.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Often variance error is referred to as “overfitting error.”</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picture shows the result of the “in-sample” prediction: the prediction made on the same dataset that was used for training.</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98</a:t>
            </a:fld>
            <a:endParaRPr lang="ko-KR" altLang="en-US"/>
          </a:p>
        </p:txBody>
      </p:sp>
    </p:spTree>
    <p:extLst>
      <p:ext uri="{BB962C8B-B14F-4D97-AF65-F5344CB8AC3E}">
        <p14:creationId xmlns:p14="http://schemas.microsoft.com/office/powerpoint/2010/main" val="246781718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Usually, we cannot separately measure the bias and the variance errors.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What we can measure is the total error that is the sum of these two.</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main purpose of the (supervised) machine learning should be to minimize the total error.</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99</a:t>
            </a:fld>
            <a:endParaRPr lang="ko-KR" altLang="en-US"/>
          </a:p>
        </p:txBody>
      </p:sp>
    </p:spTree>
    <p:extLst>
      <p:ext uri="{BB962C8B-B14F-4D97-AF65-F5344CB8AC3E}">
        <p14:creationId xmlns:p14="http://schemas.microsoft.com/office/powerpoint/2010/main" val="218660868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+Training error means that exactly the same dataset was used for training and evaluation.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This situation is also called “in-sample.”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+Testing error means that the model was trained on one dataset and then evaluated on a different dataset.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This situation is also called “out-of-sample.”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Testing error is what ultimately matters (not the training error).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training and testing errors diverge when the model becomes too complex and the variance error dominates.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goal should be to introduce just enough complexity and minimize the testing error.</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100</a:t>
            </a:fld>
            <a:endParaRPr lang="ko-KR" altLang="en-US"/>
          </a:p>
        </p:txBody>
      </p:sp>
    </p:spTree>
    <p:extLst>
      <p:ext uri="{BB962C8B-B14F-4D97-AF65-F5344CB8AC3E}">
        <p14:creationId xmlns:p14="http://schemas.microsoft.com/office/powerpoint/2010/main" val="223157508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optimal model should not be biased nor overly complex.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prediction made by the optimal model approaches closely to the ideal.</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101</a:t>
            </a:fld>
            <a:endParaRPr lang="ko-KR" altLang="en-US"/>
          </a:p>
        </p:txBody>
      </p:sp>
    </p:spTree>
    <p:extLst>
      <p:ext uri="{BB962C8B-B14F-4D97-AF65-F5344CB8AC3E}">
        <p14:creationId xmlns:p14="http://schemas.microsoft.com/office/powerpoint/2010/main" val="324535017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So far, we have talked about “errors” a bit loosely.</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To be more precise, we should distinguish the case where the response variable </a:t>
                </a:r>
                <a14:m>
                  <m:oMath xmlns:m="http://schemas.openxmlformats.org/officeDocument/2006/math">
                    <m:r>
                      <a:rPr lang="en-US" altLang="ko-KR" i="1" dirty="0" smtClean="0">
                        <a:latin typeface="Cambria Math" panose="02040503050406030204" pitchFamily="18" charset="0"/>
                      </a:rPr>
                      <m:t>𝑌</m:t>
                    </m:r>
                  </m:oMath>
                </a14:m>
                <a:r>
                  <a:rPr lang="en-US" altLang="ko-KR" dirty="0"/>
                  <a:t> is numeric from the one where the </a:t>
                </a:r>
                <a14:m>
                  <m:oMath xmlns:m="http://schemas.openxmlformats.org/officeDocument/2006/math">
                    <m:r>
                      <a:rPr lang="en-US" altLang="ko-KR" i="1" dirty="0" smtClean="0">
                        <a:latin typeface="Cambria Math" panose="02040503050406030204" pitchFamily="18" charset="0"/>
                      </a:rPr>
                      <m:t>𝑌</m:t>
                    </m:r>
                  </m:oMath>
                </a14:m>
                <a:r>
                  <a:rPr lang="en-US" altLang="ko-KR" dirty="0"/>
                  <a:t> is 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a:t>
                </a:r>
                <a:r>
                  <a:rPr lang="en-US" altLang="ko-KR" baseline="0" dirty="0"/>
                  <a:t> </a:t>
                </a:r>
                <a:r>
                  <a:rPr lang="en-US" altLang="ko-KR" dirty="0"/>
                  <a:t>the response variable </a:t>
                </a:r>
                <a14:m>
                  <m:oMath xmlns:m="http://schemas.openxmlformats.org/officeDocument/2006/math">
                    <m:r>
                      <a:rPr lang="en-US" altLang="ko-KR" i="1" dirty="0" smtClean="0">
                        <a:latin typeface="Cambria Math" panose="02040503050406030204" pitchFamily="18" charset="0"/>
                      </a:rPr>
                      <m:t>𝑌</m:t>
                    </m:r>
                  </m:oMath>
                </a14:m>
                <a:r>
                  <a:rPr lang="en-US" altLang="ko-KR" dirty="0"/>
                  <a:t> is numeric, we would be predicting numeric values.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The suitable metrics are MSE, RMSE, etc. These are truly “errors”; the smaller values mean better performance.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a:t>
                </a:r>
                <a14:m>
                  <m:oMath xmlns:m="http://schemas.openxmlformats.org/officeDocument/2006/math">
                    <m:r>
                      <a:rPr lang="en-US" altLang="ko-KR" i="1" dirty="0" smtClean="0">
                        <a:latin typeface="Cambria Math" panose="02040503050406030204" pitchFamily="18" charset="0"/>
                      </a:rPr>
                      <m:t>𝑌</m:t>
                    </m:r>
                  </m:oMath>
                </a14:m>
                <a:r>
                  <a:rPr lang="en-US" altLang="ko-KR" dirty="0"/>
                  <a:t> is categorical,</a:t>
                </a:r>
                <a:r>
                  <a:rPr lang="en-US" altLang="ko-KR" baseline="0" dirty="0"/>
                  <a:t> we would be predicting classes or types.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  The suitable metrics are accuracy, recall, etc. These are, in a sense, inverse of “errors”; the larger values mean better performance.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So far, we have talked about “errors” a bit loosely.</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To be more precise, we should distinguish the case where the response variable </a:t>
                </a:r>
                <a:r>
                  <a:rPr lang="en-US" altLang="ko-KR" i="0" dirty="0">
                    <a:latin typeface="Cambria Math" panose="02040503050406030204" pitchFamily="18" charset="0"/>
                  </a:rPr>
                  <a:t>𝑌</a:t>
                </a:r>
                <a:r>
                  <a:rPr lang="en-US" altLang="ko-KR" dirty="0"/>
                  <a:t> is numeric from the one where the </a:t>
                </a:r>
                <a:r>
                  <a:rPr lang="en-US" altLang="ko-KR" i="0" dirty="0">
                    <a:latin typeface="Cambria Math" panose="02040503050406030204" pitchFamily="18" charset="0"/>
                  </a:rPr>
                  <a:t>𝑌</a:t>
                </a:r>
                <a:r>
                  <a:rPr lang="en-US" altLang="ko-KR" dirty="0"/>
                  <a:t> is 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a:t>
                </a:r>
                <a:r>
                  <a:rPr lang="en-US" altLang="ko-KR" baseline="0" dirty="0"/>
                  <a:t> </a:t>
                </a:r>
                <a:r>
                  <a:rPr lang="en-US" altLang="ko-KR" dirty="0"/>
                  <a:t>the response variable </a:t>
                </a:r>
                <a:r>
                  <a:rPr lang="en-US" altLang="ko-KR" i="0" dirty="0">
                    <a:latin typeface="Cambria Math" panose="02040503050406030204" pitchFamily="18" charset="0"/>
                  </a:rPr>
                  <a:t>𝑌</a:t>
                </a:r>
                <a:r>
                  <a:rPr lang="en-US" altLang="ko-KR" dirty="0"/>
                  <a:t> is numeric, we would be predicting numeric values.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The suitable metrics are MSE, RMSE, etc. These are truly “errors”; the smaller values mean better performance.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a:t>
                </a:r>
                <a:r>
                  <a:rPr lang="en-US" altLang="ko-KR" i="0" dirty="0">
                    <a:latin typeface="Cambria Math" panose="02040503050406030204" pitchFamily="18" charset="0"/>
                  </a:rPr>
                  <a:t>𝑌</a:t>
                </a:r>
                <a:r>
                  <a:rPr lang="en-US" altLang="ko-KR" dirty="0"/>
                  <a:t> is categorical,</a:t>
                </a:r>
                <a:r>
                  <a:rPr lang="en-US" altLang="ko-KR" baseline="0" dirty="0"/>
                  <a:t> we would be predicting classes or types.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  The suitable metrics are accuracy, recall, etc. These are, in a sense, inverse of “errors”; the larger values mean better performance. </a:t>
                </a:r>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102</a:t>
            </a:fld>
            <a:endParaRPr lang="ko-KR" altLang="en-US"/>
          </a:p>
        </p:txBody>
      </p:sp>
    </p:spTree>
    <p:extLst>
      <p:ext uri="{BB962C8B-B14F-4D97-AF65-F5344CB8AC3E}">
        <p14:creationId xmlns:p14="http://schemas.microsoft.com/office/powerpoint/2010/main" val="122519024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103</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41592853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a couple of slides back we made a distinction between the case where the response variable </a:t>
                </a:r>
                <a14:m>
                  <m:oMath xmlns:m="http://schemas.openxmlformats.org/officeDocument/2006/math">
                    <m:r>
                      <a:rPr lang="en-US" altLang="ko-KR" i="1" dirty="0" smtClean="0">
                        <a:latin typeface="Cambria Math" panose="02040503050406030204" pitchFamily="18" charset="0"/>
                      </a:rPr>
                      <m:t>𝑌</m:t>
                    </m:r>
                  </m:oMath>
                </a14:m>
                <a:r>
                  <a:rPr lang="en-US" altLang="ko-KR" dirty="0"/>
                  <a:t> is numeric from the one where the </a:t>
                </a:r>
                <a14:m>
                  <m:oMath xmlns:m="http://schemas.openxmlformats.org/officeDocument/2006/math">
                    <m:r>
                      <a:rPr lang="en-US" altLang="ko-KR" i="1" dirty="0" smtClean="0">
                        <a:latin typeface="Cambria Math" panose="02040503050406030204" pitchFamily="18" charset="0"/>
                      </a:rPr>
                      <m:t>𝑌</m:t>
                    </m:r>
                  </m:oMath>
                </a14:m>
                <a:r>
                  <a:rPr lang="en-US" altLang="ko-KR" dirty="0"/>
                  <a:t> is categorical.</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a machine learning algorithm that is applicable for the case where the response variable </a:t>
                </a:r>
                <a14:m>
                  <m:oMath xmlns:m="http://schemas.openxmlformats.org/officeDocument/2006/math">
                    <m:r>
                      <a:rPr lang="en-US" altLang="ko-KR" i="1" dirty="0" smtClean="0">
                        <a:latin typeface="Cambria Math" panose="02040503050406030204" pitchFamily="18" charset="0"/>
                      </a:rPr>
                      <m:t>𝑌</m:t>
                    </m:r>
                  </m:oMath>
                </a14:m>
                <a:r>
                  <a:rPr lang="en-US" altLang="ko-KR" dirty="0"/>
                  <a:t> is numeric.</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machine learning algorithm in question is called “linear regression.”</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a couple of slides back we made a distinction between the case where the response variable </a:t>
                </a:r>
                <a:r>
                  <a:rPr lang="en-US" altLang="ko-KR" i="0" dirty="0">
                    <a:latin typeface="Cambria Math" panose="02040503050406030204" pitchFamily="18" charset="0"/>
                  </a:rPr>
                  <a:t>𝑌</a:t>
                </a:r>
                <a:r>
                  <a:rPr lang="en-US" altLang="ko-KR" dirty="0"/>
                  <a:t> is numeric from the one where the </a:t>
                </a:r>
                <a:r>
                  <a:rPr lang="en-US" altLang="ko-KR" i="0" dirty="0">
                    <a:latin typeface="Cambria Math" panose="02040503050406030204" pitchFamily="18" charset="0"/>
                  </a:rPr>
                  <a:t>𝑌</a:t>
                </a:r>
                <a:r>
                  <a:rPr lang="en-US" altLang="ko-KR" dirty="0"/>
                  <a:t> is categorical.</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a machine learning algorithm that is applicable for the case where the response variable </a:t>
                </a:r>
                <a:r>
                  <a:rPr lang="en-US" altLang="ko-KR" i="0" dirty="0">
                    <a:latin typeface="Cambria Math" panose="02040503050406030204" pitchFamily="18" charset="0"/>
                  </a:rPr>
                  <a:t>𝑌</a:t>
                </a:r>
                <a:r>
                  <a:rPr lang="en-US" altLang="ko-KR" dirty="0"/>
                  <a:t> is numeric.</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machine learning algorithm in question is called “linear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104</a:t>
            </a:fld>
            <a:endParaRPr lang="ko-KR" altLang="en-US"/>
          </a:p>
        </p:txBody>
      </p:sp>
    </p:spTree>
    <p:extLst>
      <p:ext uri="{BB962C8B-B14F-4D97-AF65-F5344CB8AC3E}">
        <p14:creationId xmlns:p14="http://schemas.microsoft.com/office/powerpoint/2010/main" val="360563671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the linear regression, we assume that the response variable can be explained with the explanatory variables by a linear model.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Linear model or linear combination means that only “coefficient </a:t>
            </a:r>
            <a:r>
              <a:rPr lang="en-US" altLang="ko-KR" dirty="0">
                <a:sym typeface="Symbol" panose="05050102010706020507" pitchFamily="18" charset="2"/>
              </a:rPr>
              <a:t></a:t>
            </a:r>
            <a:r>
              <a:rPr lang="en-US" altLang="ko-KR" dirty="0"/>
              <a:t> variable” type of terms are present.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105</a:t>
            </a:fld>
            <a:endParaRPr lang="ko-KR" altLang="en-US"/>
          </a:p>
        </p:txBody>
      </p:sp>
    </p:spTree>
    <p:extLst>
      <p:ext uri="{BB962C8B-B14F-4D97-AF65-F5344CB8AC3E}">
        <p14:creationId xmlns:p14="http://schemas.microsoft.com/office/powerpoint/2010/main" val="255416642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Some examples where the linear regression would be useful.</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106</a:t>
            </a:fld>
            <a:endParaRPr lang="ko-KR" altLang="en-US"/>
          </a:p>
        </p:txBody>
      </p:sp>
    </p:spTree>
    <p:extLst>
      <p:ext uri="{BB962C8B-B14F-4D97-AF65-F5344CB8AC3E}">
        <p14:creationId xmlns:p14="http://schemas.microsoft.com/office/powerpoint/2010/main" val="386797906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Linear regression has</a:t>
            </a:r>
            <a:r>
              <a:rPr lang="ko-KR" altLang="en-US" dirty="0"/>
              <a:t> </a:t>
            </a:r>
            <a:r>
              <a:rPr lang="en-US" altLang="ko-KR" dirty="0"/>
              <a:t>a</a:t>
            </a:r>
            <a:r>
              <a:rPr lang="ko-KR" altLang="en-US" dirty="0"/>
              <a:t> </a:t>
            </a:r>
            <a:r>
              <a:rPr lang="en-US" altLang="ko-KR" dirty="0"/>
              <a:t>long</a:t>
            </a:r>
            <a:r>
              <a:rPr lang="ko-KR" altLang="en-US" dirty="0"/>
              <a:t> </a:t>
            </a:r>
            <a:r>
              <a:rPr lang="en-US" altLang="ko-KR" dirty="0"/>
              <a:t>history</a:t>
            </a:r>
            <a:r>
              <a:rPr lang="ko-KR" altLang="en-US" dirty="0"/>
              <a:t> </a:t>
            </a:r>
            <a:r>
              <a:rPr lang="en-US" altLang="ko-KR" dirty="0"/>
              <a:t>that</a:t>
            </a:r>
            <a:r>
              <a:rPr lang="ko-KR" altLang="en-US" dirty="0"/>
              <a:t> </a:t>
            </a:r>
            <a:r>
              <a:rPr lang="en-US" altLang="ko-KR" dirty="0"/>
              <a:t>dates back to the time before the invention of modern computers.</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107</a:t>
            </a:fld>
            <a:endParaRPr lang="ko-KR" altLang="en-US"/>
          </a:p>
        </p:txBody>
      </p:sp>
    </p:spTree>
    <p:extLst>
      <p:ext uri="{BB962C8B-B14F-4D97-AF65-F5344CB8AC3E}">
        <p14:creationId xmlns:p14="http://schemas.microsoft.com/office/powerpoint/2010/main" val="3692690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Just like any other machine learning algorithms, linear regression has</a:t>
            </a:r>
            <a:r>
              <a:rPr lang="ko-KR" altLang="en-US" dirty="0"/>
              <a:t> </a:t>
            </a:r>
            <a:r>
              <a:rPr lang="en-US" altLang="ko-KR" dirty="0"/>
              <a:t>many</a:t>
            </a:r>
            <a:r>
              <a:rPr lang="ko-KR" altLang="en-US" dirty="0"/>
              <a:t> </a:t>
            </a:r>
            <a:r>
              <a:rPr lang="en-US" altLang="ko-KR" dirty="0"/>
              <a:t>benefits</a:t>
            </a:r>
            <a:r>
              <a:rPr lang="ko-KR" altLang="en-US" dirty="0"/>
              <a:t> </a:t>
            </a:r>
            <a:r>
              <a:rPr lang="en-US" altLang="ko-KR" dirty="0"/>
              <a:t>as</a:t>
            </a:r>
            <a:r>
              <a:rPr lang="ko-KR" altLang="en-US" dirty="0"/>
              <a:t> </a:t>
            </a:r>
            <a:r>
              <a:rPr lang="en-US" altLang="ko-KR" dirty="0"/>
              <a:t>well</a:t>
            </a:r>
            <a:r>
              <a:rPr lang="ko-KR" altLang="en-US" dirty="0"/>
              <a:t> </a:t>
            </a:r>
            <a:r>
              <a:rPr lang="en-US" altLang="ko-KR" dirty="0"/>
              <a:t>as</a:t>
            </a:r>
            <a:r>
              <a:rPr lang="ko-KR" altLang="en-US" dirty="0"/>
              <a:t> </a:t>
            </a:r>
            <a:r>
              <a:rPr lang="en-US" altLang="ko-KR" dirty="0"/>
              <a:t>shortcomings.</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108</a:t>
            </a:fld>
            <a:endParaRPr lang="ko-KR" altLang="en-US"/>
          </a:p>
        </p:txBody>
      </p:sp>
    </p:spTree>
    <p:extLst>
      <p:ext uri="{BB962C8B-B14F-4D97-AF65-F5344CB8AC3E}">
        <p14:creationId xmlns:p14="http://schemas.microsoft.com/office/powerpoint/2010/main" val="71009078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Linear regression relies on a set of assumptions.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It is true that it might be difficult to meticulously check each one of them.</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But it is good to keep these assumptions in mind when we apply linear regression.</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109</a:t>
            </a:fld>
            <a:endParaRPr lang="ko-KR" altLang="en-US"/>
          </a:p>
        </p:txBody>
      </p:sp>
    </p:spTree>
    <p:extLst>
      <p:ext uri="{BB962C8B-B14F-4D97-AF65-F5344CB8AC3E}">
        <p14:creationId xmlns:p14="http://schemas.microsoft.com/office/powerpoint/2010/main" val="73281371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we take a close look at the linear model.</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110</a:t>
            </a:fld>
            <a:endParaRPr lang="ko-KR" altLang="en-US"/>
          </a:p>
        </p:txBody>
      </p:sp>
    </p:spTree>
    <p:extLst>
      <p:ext uri="{BB962C8B-B14F-4D97-AF65-F5344CB8AC3E}">
        <p14:creationId xmlns:p14="http://schemas.microsoft.com/office/powerpoint/2010/main" val="6697243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regression coefficients are the model parameters.</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111</a:t>
            </a:fld>
            <a:endParaRPr lang="ko-KR" altLang="en-US"/>
          </a:p>
        </p:txBody>
      </p:sp>
    </p:spTree>
    <p:extLst>
      <p:ext uri="{BB962C8B-B14F-4D97-AF65-F5344CB8AC3E}">
        <p14:creationId xmlns:p14="http://schemas.microsoft.com/office/powerpoint/2010/main" val="376367900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error term must represent a “white noise”: totally random process with zero mean and fixed variance.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112</a:t>
            </a:fld>
            <a:endParaRPr lang="ko-KR" altLang="en-US"/>
          </a:p>
        </p:txBody>
      </p:sp>
    </p:spTree>
    <p:extLst>
      <p:ext uri="{BB962C8B-B14F-4D97-AF65-F5344CB8AC3E}">
        <p14:creationId xmlns:p14="http://schemas.microsoft.com/office/powerpoint/2010/main" val="227712607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an example of linear model is shown.</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113</a:t>
            </a:fld>
            <a:endParaRPr lang="ko-KR" altLang="en-US"/>
          </a:p>
        </p:txBody>
      </p:sp>
    </p:spTree>
    <p:extLst>
      <p:ext uri="{BB962C8B-B14F-4D97-AF65-F5344CB8AC3E}">
        <p14:creationId xmlns:p14="http://schemas.microsoft.com/office/powerpoint/2010/main" val="309516940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To interpret the regression coefficients, let’s assume that we can change each explanatory variable by a small amount.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will cause a “response” in the </a:t>
                </a:r>
                <a14:m>
                  <m:oMath xmlns:m="http://schemas.openxmlformats.org/officeDocument/2006/math">
                    <m:r>
                      <a:rPr lang="en-US" altLang="ko-KR" i="1" dirty="0" smtClean="0">
                        <a:latin typeface="Cambria Math" panose="02040503050406030204" pitchFamily="18" charset="0"/>
                      </a:rPr>
                      <m:t>𝑌</m:t>
                    </m:r>
                  </m:oMath>
                </a14:m>
                <a:r>
                  <a:rPr lang="en-US" altLang="ko-KR" dirty="0"/>
                  <a:t> variable.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smtClean="0"/>
                  <a:t>To </a:t>
                </a:r>
                <a:r>
                  <a:rPr lang="en-US" altLang="ko-KR" dirty="0"/>
                  <a:t>interpret the regression coefficients, let’s assume that we can change each explanatory variable by a small amount.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will cause a “response” in the </a:t>
                </a:r>
                <a:r>
                  <a:rPr lang="en-US" altLang="ko-KR" i="0" dirty="0" smtClean="0">
                    <a:latin typeface="Cambria Math" panose="02040503050406030204" pitchFamily="18" charset="0"/>
                  </a:rPr>
                  <a:t>𝑌</a:t>
                </a:r>
                <a:r>
                  <a:rPr lang="en-US" altLang="ko-KR" dirty="0"/>
                  <a:t> variable. </a:t>
                </a:r>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114</a:t>
            </a:fld>
            <a:endParaRPr lang="ko-KR" altLang="en-US"/>
          </a:p>
        </p:txBody>
      </p:sp>
    </p:spTree>
    <p:extLst>
      <p:ext uri="{BB962C8B-B14F-4D97-AF65-F5344CB8AC3E}">
        <p14:creationId xmlns:p14="http://schemas.microsoft.com/office/powerpoint/2010/main" val="297006321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Each regression coefficient can </a:t>
                </a:r>
                <a:r>
                  <a:rPr lang="en-US" altLang="ko-KR" sz="1200" dirty="0">
                    <a:latin typeface="Times New Roman" panose="02020603050405020304" pitchFamily="18" charset="0"/>
                    <a:cs typeface="Times New Roman" panose="02020603050405020304" pitchFamily="18" charset="0"/>
                  </a:rPr>
                  <a:t>be interpreted as the change in</a:t>
                </a:r>
                <a:r>
                  <a:rPr lang="en-US" altLang="ko-KR" sz="1200" i="1" dirty="0">
                    <a:latin typeface="Times New Roman" panose="02020603050405020304" pitchFamily="18" charset="0"/>
                    <a:cs typeface="Times New Roman" panose="02020603050405020304" pitchFamily="18" charset="0"/>
                  </a:rPr>
                  <a:t> </a:t>
                </a:r>
                <a14:m>
                  <m:oMath xmlns:m="http://schemas.openxmlformats.org/officeDocument/2006/math">
                    <m:r>
                      <a:rPr lang="en-US" altLang="ko-KR" sz="1200" i="1" smtClean="0">
                        <a:solidFill>
                          <a:schemeClr val="tx1"/>
                        </a:solidFill>
                        <a:latin typeface="Cambria Math" panose="02040503050406030204" pitchFamily="18" charset="0"/>
                        <a:cs typeface="Times New Roman" panose="02020603050405020304" pitchFamily="18" charset="0"/>
                      </a:rPr>
                      <m:t>𝑌</m:t>
                    </m:r>
                  </m:oMath>
                </a14:m>
                <a:r>
                  <a:rPr lang="en-US" altLang="ko-KR" sz="1200" i="1" dirty="0">
                    <a:solidFill>
                      <a:schemeClr val="tx1"/>
                    </a:solidFill>
                    <a:latin typeface="Times New Roman" panose="02020603050405020304" pitchFamily="18" charset="0"/>
                    <a:cs typeface="Times New Roman" panose="02020603050405020304" pitchFamily="18" charset="0"/>
                  </a:rPr>
                  <a:t> </a:t>
                </a:r>
                <a:r>
                  <a:rPr lang="en-US" altLang="ko-KR" sz="1200" dirty="0">
                    <a:latin typeface="Times New Roman" panose="02020603050405020304" pitchFamily="18" charset="0"/>
                    <a:cs typeface="Times New Roman" panose="02020603050405020304" pitchFamily="18" charset="0"/>
                  </a:rPr>
                  <a:t>when the corresponding</a:t>
                </a:r>
                <a:r>
                  <a:rPr lang="en-US" altLang="ko-KR" sz="1200" baseline="0" dirty="0">
                    <a:latin typeface="Times New Roman" panose="02020603050405020304" pitchFamily="18" charset="0"/>
                    <a:cs typeface="Times New Roman" panose="02020603050405020304" pitchFamily="18" charset="0"/>
                  </a:rPr>
                  <a:t> variable i</a:t>
                </a:r>
                <a:r>
                  <a:rPr lang="en-US" altLang="ko-KR" sz="1200" dirty="0">
                    <a:latin typeface="Times New Roman" panose="02020603050405020304" pitchFamily="18" charset="0"/>
                    <a:cs typeface="Times New Roman" panose="02020603050405020304" pitchFamily="18" charset="0"/>
                  </a:rPr>
                  <a:t>s increased by a unit.</a:t>
                </a: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Each regression coefficient can </a:t>
                </a:r>
                <a:r>
                  <a:rPr lang="en-US" altLang="ko-KR" sz="1200" dirty="0">
                    <a:latin typeface="Times New Roman" panose="02020603050405020304" pitchFamily="18" charset="0"/>
                    <a:cs typeface="Times New Roman" panose="02020603050405020304" pitchFamily="18" charset="0"/>
                  </a:rPr>
                  <a:t>be interpreted as the change in</a:t>
                </a:r>
                <a:r>
                  <a:rPr lang="en-US" altLang="ko-KR" sz="1200" i="1" dirty="0">
                    <a:latin typeface="Times New Roman" panose="02020603050405020304" pitchFamily="18" charset="0"/>
                    <a:cs typeface="Times New Roman" panose="02020603050405020304" pitchFamily="18" charset="0"/>
                  </a:rPr>
                  <a:t> </a:t>
                </a:r>
                <a:r>
                  <a:rPr lang="en-US" altLang="ko-KR" sz="1200" i="0">
                    <a:solidFill>
                      <a:schemeClr val="tx1"/>
                    </a:solidFill>
                    <a:latin typeface="Cambria Math" panose="02040503050406030204" pitchFamily="18" charset="0"/>
                    <a:cs typeface="Times New Roman" panose="02020603050405020304" pitchFamily="18" charset="0"/>
                  </a:rPr>
                  <a:t>𝑌</a:t>
                </a:r>
                <a:r>
                  <a:rPr lang="en-US" altLang="ko-KR" sz="1200" i="1" dirty="0">
                    <a:solidFill>
                      <a:schemeClr val="tx1"/>
                    </a:solidFill>
                    <a:latin typeface="Times New Roman" panose="02020603050405020304" pitchFamily="18" charset="0"/>
                    <a:cs typeface="Times New Roman" panose="02020603050405020304" pitchFamily="18" charset="0"/>
                  </a:rPr>
                  <a:t> </a:t>
                </a:r>
                <a:r>
                  <a:rPr lang="en-US" altLang="ko-KR" sz="1200" dirty="0">
                    <a:latin typeface="Times New Roman" panose="02020603050405020304" pitchFamily="18" charset="0"/>
                    <a:cs typeface="Times New Roman" panose="02020603050405020304" pitchFamily="18" charset="0"/>
                  </a:rPr>
                  <a:t>when the corresponding</a:t>
                </a:r>
                <a:r>
                  <a:rPr lang="en-US" altLang="ko-KR" sz="1200" baseline="0" dirty="0">
                    <a:latin typeface="Times New Roman" panose="02020603050405020304" pitchFamily="18" charset="0"/>
                    <a:cs typeface="Times New Roman" panose="02020603050405020304" pitchFamily="18" charset="0"/>
                  </a:rPr>
                  <a:t> variable i</a:t>
                </a:r>
                <a:r>
                  <a:rPr lang="en-US" altLang="ko-KR" sz="1200" dirty="0">
                    <a:latin typeface="Times New Roman" panose="02020603050405020304" pitchFamily="18" charset="0"/>
                    <a:cs typeface="Times New Roman" panose="02020603050405020304" pitchFamily="18" charset="0"/>
                  </a:rPr>
                  <a:t>s increased by a unit.</a:t>
                </a: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115</a:t>
            </a:fld>
            <a:endParaRPr lang="ko-KR" altLang="en-US"/>
          </a:p>
        </p:txBody>
      </p:sp>
    </p:spTree>
    <p:extLst>
      <p:ext uri="{BB962C8B-B14F-4D97-AF65-F5344CB8AC3E}">
        <p14:creationId xmlns:p14="http://schemas.microsoft.com/office/powerpoint/2010/main" val="3463269295"/>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The intercept </a:t>
                </a:r>
                <a14:m>
                  <m:oMath xmlns:m="http://schemas.openxmlformats.org/officeDocument/2006/math">
                    <m:sSub>
                      <m:sSubPr>
                        <m:ctrlPr>
                          <a:rPr lang="ko-KR" altLang="ko-KR" sz="1200" i="1">
                            <a:solidFill>
                              <a:srgbClr val="FF0000"/>
                            </a:solidFill>
                            <a:latin typeface="Cambria Math" panose="02040503050406030204" pitchFamily="18" charset="0"/>
                          </a:rPr>
                        </m:ctrlPr>
                      </m:sSubPr>
                      <m:e>
                        <m:r>
                          <a:rPr lang="en-US" altLang="ko-KR" sz="1200" i="1">
                            <a:solidFill>
                              <a:srgbClr val="FF0000"/>
                            </a:solidFill>
                            <a:latin typeface="Cambria Math" panose="02040503050406030204" pitchFamily="18" charset="0"/>
                          </a:rPr>
                          <m:t>𝛽</m:t>
                        </m:r>
                      </m:e>
                      <m:sub>
                        <m:r>
                          <a:rPr lang="en-US" altLang="ko-KR" sz="1200" b="0" i="1" smtClean="0">
                            <a:solidFill>
                              <a:srgbClr val="FF0000"/>
                            </a:solidFill>
                            <a:latin typeface="Cambria Math" panose="02040503050406030204" pitchFamily="18" charset="0"/>
                          </a:rPr>
                          <m:t>0</m:t>
                        </m:r>
                      </m:sub>
                    </m:sSub>
                  </m:oMath>
                </a14:m>
                <a:r>
                  <a:rPr lang="en-US" altLang="ko-KR" sz="1200" dirty="0">
                    <a:latin typeface="Times New Roman" panose="02020603050405020304" pitchFamily="18" charset="0"/>
                    <a:cs typeface="Times New Roman" panose="02020603050405020304" pitchFamily="18" charset="0"/>
                  </a:rPr>
                  <a:t> has a special</a:t>
                </a:r>
                <a:r>
                  <a:rPr lang="en-US" altLang="ko-KR" sz="1200" baseline="0" dirty="0">
                    <a:latin typeface="Times New Roman" panose="02020603050405020304" pitchFamily="18" charset="0"/>
                    <a:cs typeface="Times New Roman" panose="02020603050405020304" pitchFamily="18" charset="0"/>
                  </a:rPr>
                  <a:t> meaning as we can see here.</a:t>
                </a: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Each regression coefficient can </a:t>
                </a:r>
                <a:r>
                  <a:rPr lang="en-US" altLang="ko-KR" sz="1200" dirty="0">
                    <a:latin typeface="Times New Roman" panose="02020603050405020304" pitchFamily="18" charset="0"/>
                    <a:cs typeface="Times New Roman" panose="02020603050405020304" pitchFamily="18" charset="0"/>
                  </a:rPr>
                  <a:t>be interpreted as the change in</a:t>
                </a:r>
                <a:r>
                  <a:rPr lang="en-US" altLang="ko-KR" sz="1200" i="1" dirty="0">
                    <a:latin typeface="Times New Roman" panose="02020603050405020304" pitchFamily="18" charset="0"/>
                    <a:cs typeface="Times New Roman" panose="02020603050405020304" pitchFamily="18" charset="0"/>
                  </a:rPr>
                  <a:t> </a:t>
                </a:r>
                <a:r>
                  <a:rPr lang="en-US" altLang="ko-KR" sz="1200" i="0">
                    <a:solidFill>
                      <a:schemeClr val="tx1"/>
                    </a:solidFill>
                    <a:latin typeface="Cambria Math" panose="02040503050406030204" pitchFamily="18" charset="0"/>
                    <a:cs typeface="Times New Roman" panose="02020603050405020304" pitchFamily="18" charset="0"/>
                  </a:rPr>
                  <a:t>𝑌</a:t>
                </a:r>
                <a:r>
                  <a:rPr lang="en-US" altLang="ko-KR" sz="1200" i="1" dirty="0">
                    <a:solidFill>
                      <a:schemeClr val="tx1"/>
                    </a:solidFill>
                    <a:latin typeface="Times New Roman" panose="02020603050405020304" pitchFamily="18" charset="0"/>
                    <a:cs typeface="Times New Roman" panose="02020603050405020304" pitchFamily="18" charset="0"/>
                  </a:rPr>
                  <a:t> </a:t>
                </a:r>
                <a:r>
                  <a:rPr lang="en-US" altLang="ko-KR" sz="1200" dirty="0">
                    <a:latin typeface="Times New Roman" panose="02020603050405020304" pitchFamily="18" charset="0"/>
                    <a:cs typeface="Times New Roman" panose="02020603050405020304" pitchFamily="18" charset="0"/>
                  </a:rPr>
                  <a:t>when the corresponding</a:t>
                </a:r>
                <a:r>
                  <a:rPr lang="en-US" altLang="ko-KR" sz="1200" baseline="0" dirty="0">
                    <a:latin typeface="Times New Roman" panose="02020603050405020304" pitchFamily="18" charset="0"/>
                    <a:cs typeface="Times New Roman" panose="02020603050405020304" pitchFamily="18" charset="0"/>
                  </a:rPr>
                  <a:t> variable i</a:t>
                </a:r>
                <a:r>
                  <a:rPr lang="en-US" altLang="ko-KR" sz="1200" dirty="0">
                    <a:latin typeface="Times New Roman" panose="02020603050405020304" pitchFamily="18" charset="0"/>
                    <a:cs typeface="Times New Roman" panose="02020603050405020304" pitchFamily="18" charset="0"/>
                  </a:rPr>
                  <a:t>s increased by a unit.</a:t>
                </a: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116</a:t>
            </a:fld>
            <a:endParaRPr lang="ko-KR" altLang="en-US"/>
          </a:p>
        </p:txBody>
      </p:sp>
    </p:spTree>
    <p:extLst>
      <p:ext uri="{BB962C8B-B14F-4D97-AF65-F5344CB8AC3E}">
        <p14:creationId xmlns:p14="http://schemas.microsoft.com/office/powerpoint/2010/main" val="326243474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this example, we can make sense out of each regression coefficient.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117</a:t>
            </a:fld>
            <a:endParaRPr lang="ko-KR" altLang="en-US"/>
          </a:p>
        </p:txBody>
      </p:sp>
    </p:spTree>
    <p:extLst>
      <p:ext uri="{BB962C8B-B14F-4D97-AF65-F5344CB8AC3E}">
        <p14:creationId xmlns:p14="http://schemas.microsoft.com/office/powerpoint/2010/main" val="321136435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So far, we expressed the linear relation in terms of the variables.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Now, we can rewrite the linear relation in term of the actual data values.</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118</a:t>
            </a:fld>
            <a:endParaRPr lang="ko-KR" altLang="en-US"/>
          </a:p>
        </p:txBody>
      </p:sp>
    </p:spTree>
    <p:extLst>
      <p:ext uri="{BB962C8B-B14F-4D97-AF65-F5344CB8AC3E}">
        <p14:creationId xmlns:p14="http://schemas.microsoft.com/office/powerpoint/2010/main" val="2533183742"/>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Then, we can introduce a </a:t>
            </a:r>
            <a:r>
              <a:rPr lang="en-US" altLang="ko-KR" sz="1200" dirty="0">
                <a:latin typeface="Times New Roman" panose="02020603050405020304" pitchFamily="18" charset="0"/>
                <a:cs typeface="Times New Roman" panose="02020603050405020304" pitchFamily="18" charset="0"/>
              </a:rPr>
              <a:t>compact notation using matrices.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The benefit of doing so is that we have converted the linear regression problem into a linear algebra problem.</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What we have is essentially a system of linear equations.</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119</a:t>
            </a:fld>
            <a:endParaRPr lang="ko-KR" altLang="en-US"/>
          </a:p>
        </p:txBody>
      </p:sp>
    </p:spTree>
    <p:extLst>
      <p:ext uri="{BB962C8B-B14F-4D97-AF65-F5344CB8AC3E}">
        <p14:creationId xmlns:p14="http://schemas.microsoft.com/office/powerpoint/2010/main" val="416208346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Each matrix is explained.</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120</a:t>
            </a:fld>
            <a:endParaRPr lang="ko-KR" altLang="en-US"/>
          </a:p>
        </p:txBody>
      </p:sp>
    </p:spTree>
    <p:extLst>
      <p:ext uri="{BB962C8B-B14F-4D97-AF65-F5344CB8AC3E}">
        <p14:creationId xmlns:p14="http://schemas.microsoft.com/office/powerpoint/2010/main" val="198154034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121</a:t>
            </a:fld>
            <a:endParaRPr lang="ko-KR" altLang="en-US"/>
          </a:p>
        </p:txBody>
      </p:sp>
    </p:spTree>
    <p:extLst>
      <p:ext uri="{BB962C8B-B14F-4D97-AF65-F5344CB8AC3E}">
        <p14:creationId xmlns:p14="http://schemas.microsoft.com/office/powerpoint/2010/main" val="125465522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122</a:t>
            </a:fld>
            <a:endParaRPr lang="ko-KR" altLang="en-US"/>
          </a:p>
        </p:txBody>
      </p:sp>
    </p:spTree>
    <p:extLst>
      <p:ext uri="{BB962C8B-B14F-4D97-AF65-F5344CB8AC3E}">
        <p14:creationId xmlns:p14="http://schemas.microsoft.com/office/powerpoint/2010/main" val="117140122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123</a:t>
            </a:fld>
            <a:endParaRPr lang="ko-KR" altLang="en-US"/>
          </a:p>
        </p:txBody>
      </p:sp>
    </p:spTree>
    <p:extLst>
      <p:ext uri="{BB962C8B-B14F-4D97-AF65-F5344CB8AC3E}">
        <p14:creationId xmlns:p14="http://schemas.microsoft.com/office/powerpoint/2010/main" val="54803672"/>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number of unknowns (coefficients) is largely outnumbered by the conditions (observations).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So, we have an over-determined system of linear equations.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From now and on, we outline a solution method called “ordinary least squares (OLS).”</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124</a:t>
            </a:fld>
            <a:endParaRPr lang="ko-KR" altLang="en-US"/>
          </a:p>
        </p:txBody>
      </p:sp>
    </p:spTree>
    <p:extLst>
      <p:ext uri="{BB962C8B-B14F-4D97-AF65-F5344CB8AC3E}">
        <p14:creationId xmlns:p14="http://schemas.microsoft.com/office/powerpoint/2010/main" val="266839783"/>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To derive the OLS solution, we have to rely on calculus.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minimization condition for</a:t>
                </a:r>
                <a:r>
                  <a:rPr lang="en-US" altLang="ko-KR" baseline="0" dirty="0"/>
                  <a:t> </a:t>
                </a:r>
                <a14:m>
                  <m:oMath xmlns:m="http://schemas.openxmlformats.org/officeDocument/2006/math">
                    <m:sSup>
                      <m:sSupPr>
                        <m:ctrlPr>
                          <a:rPr lang="en-US" altLang="ko-KR" sz="1200" i="1">
                            <a:latin typeface="Cambria Math" panose="02040503050406030204" pitchFamily="18" charset="0"/>
                          </a:rPr>
                        </m:ctrlPr>
                      </m:sSupPr>
                      <m:e>
                        <m:d>
                          <m:dPr>
                            <m:begChr m:val="|"/>
                            <m:endChr m:val="|"/>
                            <m:ctrlPr>
                              <a:rPr lang="en-US" altLang="ko-KR" sz="1200" b="1" i="1">
                                <a:latin typeface="Cambria Math" panose="02040503050406030204" pitchFamily="18" charset="0"/>
                              </a:rPr>
                            </m:ctrlPr>
                          </m:dPr>
                          <m:e>
                            <m:r>
                              <a:rPr lang="ko-KR" altLang="en-US" sz="1200" b="1" i="1">
                                <a:latin typeface="Cambria Math" panose="02040503050406030204" pitchFamily="18" charset="0"/>
                              </a:rPr>
                              <m:t>𝜺</m:t>
                            </m:r>
                          </m:e>
                        </m:d>
                      </m:e>
                      <m:sup>
                        <m:r>
                          <a:rPr lang="en-US" altLang="ko-KR" sz="1200" i="1">
                            <a:latin typeface="Cambria Math" panose="02040503050406030204" pitchFamily="18" charset="0"/>
                          </a:rPr>
                          <m:t>2</m:t>
                        </m:r>
                      </m:sup>
                    </m:sSup>
                  </m:oMath>
                </a14:m>
                <a:r>
                  <a:rPr lang="en-US" altLang="ko-KR" sz="1200" dirty="0">
                    <a:latin typeface="Times New Roman" panose="02020603050405020304" pitchFamily="18" charset="0"/>
                    <a:cs typeface="Times New Roman" panose="02020603050405020304" pitchFamily="18" charset="0"/>
                  </a:rPr>
                  <a:t> is given by the derivative.</a:t>
                </a: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To derive the OLS solution, we have to rely on calculus.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minimization condition for</a:t>
                </a:r>
                <a:r>
                  <a:rPr lang="en-US" altLang="ko-KR" baseline="0" dirty="0"/>
                  <a:t> </a:t>
                </a:r>
                <a:r>
                  <a:rPr lang="en-US" altLang="ko-KR" sz="1200" b="1" i="0">
                    <a:latin typeface="Cambria Math" panose="02040503050406030204" pitchFamily="18" charset="0"/>
                  </a:rPr>
                  <a:t>|</a:t>
                </a:r>
                <a:r>
                  <a:rPr lang="ko-KR" altLang="en-US" sz="1200" b="1" i="0">
                    <a:latin typeface="Cambria Math" panose="02040503050406030204" pitchFamily="18" charset="0"/>
                  </a:rPr>
                  <a:t>𝜺|</a:t>
                </a:r>
                <a:r>
                  <a:rPr lang="en-US" altLang="ko-KR" sz="1200" b="1" i="0">
                    <a:latin typeface="Cambria Math" panose="02040503050406030204" pitchFamily="18" charset="0"/>
                  </a:rPr>
                  <a:t>^</a:t>
                </a:r>
                <a:r>
                  <a:rPr lang="en-US" altLang="ko-KR" sz="1200" i="0">
                    <a:latin typeface="Cambria Math" panose="02040503050406030204" pitchFamily="18" charset="0"/>
                  </a:rPr>
                  <a:t>2</a:t>
                </a:r>
                <a:r>
                  <a:rPr lang="en-US" altLang="ko-KR" sz="1200" dirty="0">
                    <a:latin typeface="Times New Roman" panose="02020603050405020304" pitchFamily="18" charset="0"/>
                    <a:cs typeface="Times New Roman" panose="02020603050405020304" pitchFamily="18" charset="0"/>
                  </a:rPr>
                  <a:t> is given by the derivative.</a:t>
                </a: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125</a:t>
            </a:fld>
            <a:endParaRPr lang="ko-KR" altLang="en-US"/>
          </a:p>
        </p:txBody>
      </p:sp>
    </p:spTree>
    <p:extLst>
      <p:ext uri="{BB962C8B-B14F-4D97-AF65-F5344CB8AC3E}">
        <p14:creationId xmlns:p14="http://schemas.microsoft.com/office/powerpoint/2010/main" val="1606163797"/>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can derive the solution </a:t>
                </a:r>
                <a14:m>
                  <m:oMath xmlns:m="http://schemas.openxmlformats.org/officeDocument/2006/math">
                    <m:r>
                      <a:rPr lang="el-GR" altLang="ko-KR" sz="1200" b="1" i="1" smtClean="0">
                        <a:latin typeface="Cambria Math" panose="02040503050406030204" pitchFamily="18" charset="0"/>
                        <a:ea typeface="Cambria Math" panose="02040503050406030204" pitchFamily="18" charset="0"/>
                      </a:rPr>
                      <m:t>𝜷</m:t>
                    </m:r>
                    <m:r>
                      <a:rPr lang="el-GR" altLang="ko-KR" sz="1200" b="1" i="1" smtClean="0">
                        <a:latin typeface="Cambria Math" panose="02040503050406030204" pitchFamily="18" charset="0"/>
                        <a:ea typeface="Cambria Math" panose="02040503050406030204" pitchFamily="18" charset="0"/>
                      </a:rPr>
                      <m:t> </m:t>
                    </m:r>
                  </m:oMath>
                </a14:m>
                <a:r>
                  <a:rPr lang="en-US" altLang="ko-KR" dirty="0"/>
                  <a:t>which is a matrix (or vector) that contains the regression coefficients.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solution is given by a linear algebra expression. This is not so hard to calculate using NumPy!</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can derive the solution </a:t>
                </a:r>
                <a:r>
                  <a:rPr lang="el-GR" altLang="ko-KR" sz="1200" b="1" i="0">
                    <a:latin typeface="Cambria Math" panose="02040503050406030204" pitchFamily="18" charset="0"/>
                    <a:ea typeface="Cambria Math" panose="02040503050406030204" pitchFamily="18" charset="0"/>
                  </a:rPr>
                  <a:t>𝜷 </a:t>
                </a:r>
                <a:r>
                  <a:rPr lang="en-US" altLang="ko-KR" dirty="0"/>
                  <a:t>which is a matrix (or vector) that contains the regression coefficients.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solution is given by a linear algebra expression. This is not so hard to calculate using NumPy!</a:t>
                </a:r>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126</a:t>
            </a:fld>
            <a:endParaRPr lang="ko-KR" altLang="en-US"/>
          </a:p>
        </p:txBody>
      </p:sp>
    </p:spTree>
    <p:extLst>
      <p:ext uri="{BB962C8B-B14F-4D97-AF65-F5344CB8AC3E}">
        <p14:creationId xmlns:p14="http://schemas.microsoft.com/office/powerpoint/2010/main" val="2586345569"/>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we take a break from the math.</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Let’s think about what “prediction” means in the context of linear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First, we should train the model. That is, we should get the regression parameters </a:t>
                </a:r>
                <a14:m>
                  <m:oMath xmlns:m="http://schemas.openxmlformats.org/officeDocument/2006/math">
                    <m:d>
                      <m:dPr>
                        <m:begChr m:val="{"/>
                        <m:endChr m:val="}"/>
                        <m:ctrlPr>
                          <a:rPr lang="ko-KR" altLang="ko-KR" sz="1200" i="1" smtClean="0">
                            <a:latin typeface="Cambria Math" panose="02040503050406030204" pitchFamily="18" charset="0"/>
                          </a:rPr>
                        </m:ctrlPr>
                      </m:dPr>
                      <m:e>
                        <m:sSub>
                          <m:sSubPr>
                            <m:ctrlPr>
                              <a:rPr lang="en-US" altLang="ko-KR" sz="1200" i="1">
                                <a:latin typeface="Cambria Math" panose="02040503050406030204" pitchFamily="18" charset="0"/>
                              </a:rPr>
                            </m:ctrlPr>
                          </m:sSubPr>
                          <m:e>
                            <m:r>
                              <a:rPr lang="ko-KR" altLang="en-US" sz="1200" i="1">
                                <a:latin typeface="Cambria Math" panose="02040503050406030204" pitchFamily="18" charset="0"/>
                              </a:rPr>
                              <m:t>𝛽</m:t>
                            </m:r>
                          </m:e>
                          <m:sub>
                            <m:r>
                              <a:rPr lang="en-US" altLang="ko-KR" sz="1200" i="1">
                                <a:latin typeface="Cambria Math" panose="02040503050406030204" pitchFamily="18" charset="0"/>
                              </a:rPr>
                              <m:t>𝑖</m:t>
                            </m:r>
                          </m:sub>
                        </m:sSub>
                      </m:e>
                    </m:d>
                  </m:oMath>
                </a14:m>
                <a:r>
                  <a:rPr lang="en-US" altLang="ko-KR" sz="1200" dirty="0">
                    <a:latin typeface="Times New Roman" panose="02020603050405020304" pitchFamily="18" charset="0"/>
                    <a:cs typeface="Times New Roman" panose="02020603050405020304" pitchFamily="18" charset="0"/>
                  </a:rPr>
                  <a:t> using a training dataset.</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we take a break from the math.</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Let’s think about what “prediction” means in the context of linear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First, we should train the model. That is, we should get the regression parameters </a:t>
                </a:r>
                <a:r>
                  <a:rPr lang="ko-KR" altLang="ko-KR" sz="1200" i="0">
                    <a:latin typeface="Cambria Math" panose="02040503050406030204" pitchFamily="18" charset="0"/>
                  </a:rPr>
                  <a:t>{</a:t>
                </a:r>
                <a:r>
                  <a:rPr lang="ko-KR" altLang="en-US" sz="1200" i="0">
                    <a:latin typeface="Cambria Math" panose="02040503050406030204" pitchFamily="18" charset="0"/>
                  </a:rPr>
                  <a:t>𝛽</a:t>
                </a:r>
                <a:r>
                  <a:rPr lang="en-US" altLang="ko-KR" sz="1200" i="0">
                    <a:latin typeface="Cambria Math" panose="02040503050406030204" pitchFamily="18" charset="0"/>
                  </a:rPr>
                  <a:t>_𝑖 }</a:t>
                </a:r>
                <a:r>
                  <a:rPr lang="en-US" altLang="ko-KR" sz="1200" dirty="0">
                    <a:latin typeface="Times New Roman" panose="02020603050405020304" pitchFamily="18" charset="0"/>
                    <a:cs typeface="Times New Roman" panose="02020603050405020304" pitchFamily="18" charset="0"/>
                  </a:rPr>
                  <a:t> using a training dataset.</a:t>
                </a:r>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127</a:t>
            </a:fld>
            <a:endParaRPr lang="ko-KR" altLang="en-US"/>
          </a:p>
        </p:txBody>
      </p:sp>
    </p:spTree>
    <p:extLst>
      <p:ext uri="{BB962C8B-B14F-4D97-AF65-F5344CB8AC3E}">
        <p14:creationId xmlns:p14="http://schemas.microsoft.com/office/powerpoint/2010/main" val="2203258713"/>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“prediction” means to calculate the most probable value of the response variable given the conditions (of the explanatory variables).</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128</a:t>
            </a:fld>
            <a:endParaRPr lang="ko-KR" altLang="en-US"/>
          </a:p>
        </p:txBody>
      </p:sp>
    </p:spTree>
    <p:extLst>
      <p:ext uri="{BB962C8B-B14F-4D97-AF65-F5344CB8AC3E}">
        <p14:creationId xmlns:p14="http://schemas.microsoft.com/office/powerpoint/2010/main" val="1622201513"/>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Linear regression prediction is illustrated by a picture.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Please</a:t>
                </a:r>
                <a:r>
                  <a:rPr lang="en-US" altLang="ko-KR" sz="1200" baseline="0" dirty="0">
                    <a:latin typeface="Times New Roman" panose="02020603050405020304" pitchFamily="18" charset="0"/>
                    <a:cs typeface="Times New Roman" panose="02020603050405020304" pitchFamily="18" charset="0"/>
                  </a:rPr>
                  <a:t> n</a:t>
                </a:r>
                <a:r>
                  <a:rPr lang="en-US" altLang="ko-KR" sz="1200" dirty="0">
                    <a:latin typeface="Times New Roman" panose="02020603050405020304" pitchFamily="18" charset="0"/>
                    <a:cs typeface="Times New Roman" panose="02020603050405020304" pitchFamily="18" charset="0"/>
                  </a:rPr>
                  <a:t>otice that almost always some disagreement exists</a:t>
                </a:r>
                <a:r>
                  <a:rPr lang="en-US" altLang="ko-KR" sz="1200" baseline="0" dirty="0">
                    <a:latin typeface="Times New Roman" panose="02020603050405020304" pitchFamily="18" charset="0"/>
                    <a:cs typeface="Times New Roman" panose="02020603050405020304" pitchFamily="18" charset="0"/>
                  </a:rPr>
                  <a:t> </a:t>
                </a:r>
                <a:r>
                  <a:rPr lang="en-US" altLang="ko-KR" sz="1200" dirty="0">
                    <a:latin typeface="Times New Roman" panose="02020603050405020304" pitchFamily="18" charset="0"/>
                    <a:cs typeface="Times New Roman" panose="02020603050405020304" pitchFamily="18" charset="0"/>
                  </a:rPr>
                  <a:t>between the predicted </a:t>
                </a:r>
                <a14:m>
                  <m:oMath xmlns:m="http://schemas.openxmlformats.org/officeDocument/2006/math">
                    <m:acc>
                      <m:accPr>
                        <m:chr m:val="̂"/>
                        <m:ctrlPr>
                          <a:rPr lang="ko-KR" altLang="en-US" sz="1200" i="1">
                            <a:solidFill>
                              <a:srgbClr val="FF0000"/>
                            </a:solidFill>
                            <a:latin typeface="Cambria Math" panose="02040503050406030204" pitchFamily="18" charset="0"/>
                            <a:cs typeface="Times New Roman" panose="02020603050405020304" pitchFamily="18" charset="0"/>
                          </a:rPr>
                        </m:ctrlPr>
                      </m:accPr>
                      <m:e>
                        <m:r>
                          <a:rPr lang="en-US" altLang="ko-KR" sz="1200" i="1">
                            <a:solidFill>
                              <a:srgbClr val="FF0000"/>
                            </a:solidFill>
                            <a:latin typeface="Cambria Math" panose="02040503050406030204" pitchFamily="18" charset="0"/>
                            <a:cs typeface="Times New Roman" panose="02020603050405020304" pitchFamily="18" charset="0"/>
                          </a:rPr>
                          <m:t>𝑦</m:t>
                        </m:r>
                      </m:e>
                    </m:acc>
                  </m:oMath>
                </a14:m>
                <a:r>
                  <a:rPr lang="en-US" altLang="ko-KR" sz="1200" dirty="0">
                    <a:latin typeface="Times New Roman" panose="02020603050405020304" pitchFamily="18" charset="0"/>
                    <a:cs typeface="Times New Roman" panose="02020603050405020304" pitchFamily="18" charset="0"/>
                  </a:rPr>
                  <a:t> and the true </a:t>
                </a:r>
                <a14:m>
                  <m:oMath xmlns:m="http://schemas.openxmlformats.org/officeDocument/2006/math">
                    <m:r>
                      <a:rPr lang="en-US" altLang="ko-KR" sz="1200" i="1" dirty="0" smtClean="0">
                        <a:solidFill>
                          <a:srgbClr val="0070C0"/>
                        </a:solidFill>
                        <a:latin typeface="Cambria Math" panose="02040503050406030204" pitchFamily="18" charset="0"/>
                        <a:cs typeface="Times New Roman" panose="02020603050405020304" pitchFamily="18" charset="0"/>
                      </a:rPr>
                      <m:t>𝑦</m:t>
                    </m:r>
                  </m:oMath>
                </a14:m>
                <a:r>
                  <a:rPr lang="en-US" altLang="ko-KR" sz="1200" dirty="0">
                    <a:latin typeface="Times New Roman" panose="02020603050405020304" pitchFamily="18" charset="0"/>
                    <a:cs typeface="Times New Roman" panose="02020603050405020304" pitchFamily="18" charset="0"/>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This is the source of error in the prediction.</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Linear regression prediction is illustrated by a picture.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Please</a:t>
                </a:r>
                <a:r>
                  <a:rPr lang="en-US" altLang="ko-KR" sz="1200" baseline="0" dirty="0">
                    <a:latin typeface="Times New Roman" panose="02020603050405020304" pitchFamily="18" charset="0"/>
                    <a:cs typeface="Times New Roman" panose="02020603050405020304" pitchFamily="18" charset="0"/>
                  </a:rPr>
                  <a:t> n</a:t>
                </a:r>
                <a:r>
                  <a:rPr lang="en-US" altLang="ko-KR" sz="1200" dirty="0">
                    <a:latin typeface="Times New Roman" panose="02020603050405020304" pitchFamily="18" charset="0"/>
                    <a:cs typeface="Times New Roman" panose="02020603050405020304" pitchFamily="18" charset="0"/>
                  </a:rPr>
                  <a:t>otice that almost always some disagreement exists</a:t>
                </a:r>
                <a:r>
                  <a:rPr lang="en-US" altLang="ko-KR" sz="1200" baseline="0" dirty="0">
                    <a:latin typeface="Times New Roman" panose="02020603050405020304" pitchFamily="18" charset="0"/>
                    <a:cs typeface="Times New Roman" panose="02020603050405020304" pitchFamily="18" charset="0"/>
                  </a:rPr>
                  <a:t> </a:t>
                </a:r>
                <a:r>
                  <a:rPr lang="en-US" altLang="ko-KR" sz="1200" dirty="0">
                    <a:latin typeface="Times New Roman" panose="02020603050405020304" pitchFamily="18" charset="0"/>
                    <a:cs typeface="Times New Roman" panose="02020603050405020304" pitchFamily="18" charset="0"/>
                  </a:rPr>
                  <a:t>between the predicted </a:t>
                </a:r>
                <a:r>
                  <a:rPr lang="en-US" altLang="ko-KR" sz="1200" i="0">
                    <a:solidFill>
                      <a:srgbClr val="FF0000"/>
                    </a:solidFill>
                    <a:latin typeface="Cambria Math" panose="02040503050406030204" pitchFamily="18" charset="0"/>
                    <a:cs typeface="Times New Roman" panose="02020603050405020304" pitchFamily="18" charset="0"/>
                  </a:rPr>
                  <a:t>𝑦</a:t>
                </a:r>
                <a:r>
                  <a:rPr lang="ko-KR" altLang="en-US" sz="1200" i="0">
                    <a:solidFill>
                      <a:srgbClr val="FF0000"/>
                    </a:solidFill>
                    <a:latin typeface="Cambria Math" panose="02040503050406030204" pitchFamily="18" charset="0"/>
                    <a:cs typeface="Times New Roman" panose="02020603050405020304" pitchFamily="18" charset="0"/>
                  </a:rPr>
                  <a:t> ̂</a:t>
                </a:r>
                <a:r>
                  <a:rPr lang="en-US" altLang="ko-KR" sz="1200" dirty="0">
                    <a:latin typeface="Times New Roman" panose="02020603050405020304" pitchFamily="18" charset="0"/>
                    <a:cs typeface="Times New Roman" panose="02020603050405020304" pitchFamily="18" charset="0"/>
                  </a:rPr>
                  <a:t> and the true </a:t>
                </a:r>
                <a:r>
                  <a:rPr lang="en-US" altLang="ko-KR" sz="1200" i="0" dirty="0">
                    <a:solidFill>
                      <a:srgbClr val="0070C0"/>
                    </a:solidFill>
                    <a:latin typeface="Cambria Math" panose="02040503050406030204" pitchFamily="18" charset="0"/>
                    <a:cs typeface="Times New Roman" panose="02020603050405020304" pitchFamily="18" charset="0"/>
                  </a:rPr>
                  <a:t>𝑦</a:t>
                </a:r>
                <a:r>
                  <a:rPr lang="en-US" altLang="ko-KR" sz="1200" dirty="0">
                    <a:latin typeface="Times New Roman" panose="02020603050405020304" pitchFamily="18" charset="0"/>
                    <a:cs typeface="Times New Roman" panose="02020603050405020304" pitchFamily="18" charset="0"/>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This is the source of error in the prediction.</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129</a:t>
            </a:fld>
            <a:endParaRPr lang="ko-KR" altLang="en-US"/>
          </a:p>
        </p:txBody>
      </p:sp>
    </p:spTree>
    <p:extLst>
      <p:ext uri="{BB962C8B-B14F-4D97-AF65-F5344CB8AC3E}">
        <p14:creationId xmlns:p14="http://schemas.microsoft.com/office/powerpoint/2010/main" val="37761225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errors can be summarized using the error metrics as defined here.</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130</a:t>
            </a:fld>
            <a:endParaRPr lang="ko-KR" altLang="en-US"/>
          </a:p>
        </p:txBody>
      </p:sp>
    </p:spTree>
    <p:extLst>
      <p:ext uri="{BB962C8B-B14F-4D97-AF65-F5344CB8AC3E}">
        <p14:creationId xmlns:p14="http://schemas.microsoft.com/office/powerpoint/2010/main" val="933088718"/>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the simple linear regression </a:t>
                </a:r>
                <a:r>
                  <a:rPr lang="en-US" altLang="ko-KR" sz="1200" dirty="0">
                    <a:latin typeface="Times New Roman" panose="02020603050405020304" pitchFamily="18" charset="0"/>
                    <a:cs typeface="Times New Roman" panose="02020603050405020304" pitchFamily="18" charset="0"/>
                  </a:rPr>
                  <a:t>where there is only one explanatory variable, we can even set a confidence interval for the response </a:t>
                </a:r>
                <a14:m>
                  <m:oMath xmlns:m="http://schemas.openxmlformats.org/officeDocument/2006/math">
                    <m:r>
                      <a:rPr lang="en-US" altLang="ko-KR" sz="1200" i="1" dirty="0" smtClean="0">
                        <a:latin typeface="Cambria Math" panose="02040503050406030204" pitchFamily="18" charset="0"/>
                        <a:cs typeface="Times New Roman" panose="02020603050405020304" pitchFamily="18" charset="0"/>
                      </a:rPr>
                      <m:t>𝑌</m:t>
                    </m:r>
                  </m:oMath>
                </a14:m>
                <a:r>
                  <a:rPr lang="en-US" altLang="ko-KR" dirty="0"/>
                  <a:t>.</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the simple linear regression </a:t>
                </a:r>
                <a:r>
                  <a:rPr lang="en-US" altLang="ko-KR" sz="1200" dirty="0">
                    <a:latin typeface="Times New Roman" panose="02020603050405020304" pitchFamily="18" charset="0"/>
                    <a:cs typeface="Times New Roman" panose="02020603050405020304" pitchFamily="18" charset="0"/>
                  </a:rPr>
                  <a:t>where there is only one explanatory variable, we can even set a confidence interval for the response </a:t>
                </a:r>
                <a:r>
                  <a:rPr lang="en-US" altLang="ko-KR" sz="1200" i="0" dirty="0">
                    <a:latin typeface="Cambria Math" panose="02040503050406030204" pitchFamily="18" charset="0"/>
                    <a:cs typeface="Times New Roman" panose="02020603050405020304" pitchFamily="18" charset="0"/>
                  </a:rPr>
                  <a:t>𝑌</a:t>
                </a:r>
                <a:r>
                  <a:rPr lang="en-US" altLang="ko-KR" dirty="0"/>
                  <a:t>.</a:t>
                </a:r>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131</a:t>
            </a:fld>
            <a:endParaRPr lang="ko-KR" altLang="en-US"/>
          </a:p>
        </p:txBody>
      </p:sp>
    </p:spTree>
    <p:extLst>
      <p:ext uri="{BB962C8B-B14F-4D97-AF65-F5344CB8AC3E}">
        <p14:creationId xmlns:p14="http://schemas.microsoft.com/office/powerpoint/2010/main" val="33179440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there is no categorical variable, we get the main “trend” as prediction.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132</a:t>
            </a:fld>
            <a:endParaRPr lang="ko-KR" altLang="en-US"/>
          </a:p>
        </p:txBody>
      </p:sp>
    </p:spTree>
    <p:extLst>
      <p:ext uri="{BB962C8B-B14F-4D97-AF65-F5344CB8AC3E}">
        <p14:creationId xmlns:p14="http://schemas.microsoft.com/office/powerpoint/2010/main" val="499335798"/>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inclusion of a categorical variable introduces an effect that can be easily interpreted.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can assume that the categorical variable has been “treated”: dummy variables.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we include a categorical variable as an independent variable.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makes the intercept dependent on the category or type.</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133</a:t>
            </a:fld>
            <a:endParaRPr lang="ko-KR" altLang="en-US"/>
          </a:p>
        </p:txBody>
      </p:sp>
    </p:spTree>
    <p:extLst>
      <p:ext uri="{BB962C8B-B14F-4D97-AF65-F5344CB8AC3E}">
        <p14:creationId xmlns:p14="http://schemas.microsoft.com/office/powerpoint/2010/main" val="373460144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we include a categorical variable as an independent variable and as an interacting term (</a:t>
            </a:r>
            <a:r>
              <a:rPr lang="en-US" altLang="ko-KR" sz="1200" dirty="0">
                <a:latin typeface="Times New Roman" panose="02020603050405020304" pitchFamily="18" charset="0"/>
                <a:cs typeface="Times New Roman" panose="02020603050405020304" pitchFamily="18" charset="0"/>
              </a:rPr>
              <a:t>height </a:t>
            </a:r>
            <a:r>
              <a:rPr lang="en-US" altLang="ko-KR" sz="12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rPr>
              <a:t>gender)</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Now, the intercept and slope are dependent on the </a:t>
            </a:r>
            <a:r>
              <a:rPr lang="en-US" altLang="ko-KR" dirty="0"/>
              <a:t>category or type.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134</a:t>
            </a:fld>
            <a:endParaRPr lang="ko-KR" altLang="en-US"/>
          </a:p>
        </p:txBody>
      </p:sp>
    </p:spTree>
    <p:extLst>
      <p:ext uri="{BB962C8B-B14F-4D97-AF65-F5344CB8AC3E}">
        <p14:creationId xmlns:p14="http://schemas.microsoft.com/office/powerpoint/2010/main" val="883787444"/>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latin typeface="Times New Roman" panose="02020603050405020304" pitchFamily="18" charset="0"/>
              </a:rPr>
              <a:t>WHAT THIS PRACTICE ABOUT</a:t>
            </a:r>
            <a:endParaRPr lang="ko-KR" altLang="en-US" dirty="0"/>
          </a:p>
          <a:p>
            <a:pPr latinLnBrk="1"/>
            <a:r>
              <a:rPr lang="en-US" altLang="ko-KR" sz="1200" kern="1200" dirty="0">
                <a:solidFill>
                  <a:schemeClr val="tx1"/>
                </a:solidFill>
                <a:effectLst/>
                <a:latin typeface="+mn-lt"/>
                <a:ea typeface="+mn-ea"/>
                <a:cs typeface="+mn-cs"/>
              </a:rPr>
              <a:t>In this practice, we apply simple linear regression to the classical Galton’s data. Due to many repeated values, we have to prepare the data in a suitable way to visualize correctly.</a:t>
            </a:r>
          </a:p>
          <a:p>
            <a:pPr latinLnBrk="1"/>
            <a:r>
              <a:rPr lang="en-US" altLang="ko-KR" sz="1200" kern="1200" dirty="0">
                <a:solidFill>
                  <a:schemeClr val="tx1"/>
                </a:solidFill>
                <a:effectLst/>
                <a:latin typeface="+mn-lt"/>
                <a:ea typeface="+mn-ea"/>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Times New Roman" panose="02020603050405020304" pitchFamily="18" charset="0"/>
              </a:rPr>
              <a:t>PRACTICE INSTRUCTION</a:t>
            </a:r>
            <a:endParaRPr lang="ko-KR" altLang="ko-KR" sz="1000"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Start </a:t>
            </a:r>
            <a:r>
              <a:rPr lang="en-US" altLang="ko-KR" sz="1200" kern="100" dirty="0" err="1">
                <a:solidFill>
                  <a:srgbClr val="000000"/>
                </a:solidFill>
                <a:latin typeface="Times New Roman" panose="02020603050405020304" pitchFamily="18" charset="0"/>
                <a:cs typeface="Times New Roman" panose="02020603050405020304" pitchFamily="18" charset="0"/>
              </a:rPr>
              <a:t>Jupyter</a:t>
            </a:r>
            <a:r>
              <a:rPr lang="en-US" altLang="ko-KR" sz="1200" kern="100" dirty="0">
                <a:solidFill>
                  <a:srgbClr val="000000"/>
                </a:solidFill>
                <a:latin typeface="Times New Roman" panose="02020603050405020304" pitchFamily="18" charset="0"/>
                <a:cs typeface="Times New Roman" panose="02020603050405020304" pitchFamily="18" charset="0"/>
              </a:rPr>
              <a:t> Notebook.</a:t>
            </a:r>
          </a:p>
          <a:p>
            <a:pPr marL="342900" marR="0" lvl="0" indent="-342900" algn="l" defTabSz="914400" rtl="0" eaLnBrk="1" fontAlgn="auto" latinLnBrk="1" hangingPunct="1">
              <a:lnSpc>
                <a:spcPct val="100000"/>
              </a:lnSpc>
              <a:spcBef>
                <a:spcPts val="0"/>
              </a:spcBef>
              <a:spcAft>
                <a:spcPts val="800"/>
              </a:spcAft>
              <a:buClrTx/>
              <a:buSzTx/>
              <a:buFont typeface="+mj-lt"/>
              <a:buAutoNum type="arabicPeriod"/>
              <a:tabLst/>
              <a:defRPr/>
            </a:pPr>
            <a:r>
              <a:rPr lang="en-US" altLang="ko-KR" sz="1200" kern="1200" dirty="0">
                <a:solidFill>
                  <a:schemeClr val="tx1"/>
                </a:solidFill>
                <a:effectLst/>
                <a:latin typeface="+mn-lt"/>
                <a:ea typeface="+mn-ea"/>
                <a:cs typeface="+mn-cs"/>
              </a:rPr>
              <a:t>In </a:t>
            </a:r>
            <a:r>
              <a:rPr lang="en-US" altLang="ko-KR" sz="1200" kern="1200" dirty="0" err="1">
                <a:solidFill>
                  <a:schemeClr val="tx1"/>
                </a:solidFill>
                <a:effectLst/>
                <a:latin typeface="+mn-lt"/>
                <a:ea typeface="+mn-ea"/>
                <a:cs typeface="+mn-cs"/>
              </a:rPr>
              <a:t>Jupyter</a:t>
            </a:r>
            <a:r>
              <a:rPr lang="en-US" altLang="ko-KR" sz="1200" kern="1200" dirty="0">
                <a:solidFill>
                  <a:schemeClr val="tx1"/>
                </a:solidFill>
                <a:effectLst/>
                <a:latin typeface="+mn-lt"/>
                <a:ea typeface="+mn-ea"/>
                <a:cs typeface="+mn-cs"/>
              </a:rPr>
              <a:t> Notebook, click the </a:t>
            </a:r>
            <a:r>
              <a:rPr lang="en-US" altLang="ko-KR" sz="1200" b="1" kern="1200" dirty="0">
                <a:solidFill>
                  <a:schemeClr val="tx1"/>
                </a:solidFill>
                <a:effectLst/>
                <a:latin typeface="+mn-lt"/>
                <a:ea typeface="+mn-ea"/>
                <a:cs typeface="+mn-cs"/>
              </a:rPr>
              <a:t>ex_0301.ipynb</a:t>
            </a:r>
            <a:r>
              <a:rPr lang="en-US" altLang="ko-KR" sz="1200" kern="1200" dirty="0">
                <a:solidFill>
                  <a:schemeClr val="tx1"/>
                </a:solidFill>
                <a:effectLst/>
                <a:latin typeface="+mn-lt"/>
                <a:ea typeface="+mn-ea"/>
                <a:cs typeface="+mn-cs"/>
              </a:rPr>
              <a:t> files in the </a:t>
            </a:r>
            <a:r>
              <a:rPr lang="en-US" altLang="ko-KR" sz="1200" b="1" kern="1200" dirty="0">
                <a:solidFill>
                  <a:schemeClr val="tx1"/>
                </a:solidFill>
                <a:effectLst/>
                <a:latin typeface="+mn-lt"/>
                <a:ea typeface="+mn-ea"/>
                <a:cs typeface="+mn-cs"/>
              </a:rPr>
              <a:t>Coding Exercise</a:t>
            </a:r>
            <a:r>
              <a:rPr lang="en-US" altLang="ko-KR" sz="1200" kern="1200" dirty="0">
                <a:solidFill>
                  <a:schemeClr val="tx1"/>
                </a:solidFill>
                <a:effectLst/>
                <a:latin typeface="+mn-lt"/>
                <a:ea typeface="+mn-ea"/>
                <a:cs typeface="+mn-cs"/>
              </a:rPr>
              <a:t> folder.</a:t>
            </a:r>
            <a:endParaRPr lang="en-US" altLang="ko-KR" sz="1200" kern="1200" dirty="0">
              <a:solidFill>
                <a:srgbClr val="FF0000"/>
              </a:solidFill>
              <a:effectLst/>
              <a:latin typeface="+mn-lt"/>
              <a:ea typeface="+mn-ea"/>
              <a:cs typeface="+mn-cs"/>
            </a:endParaRPr>
          </a:p>
          <a:p>
            <a:pPr marL="342900" lvl="0" indent="-342900">
              <a:spcAft>
                <a:spcPts val="800"/>
              </a:spcAft>
              <a:buFont typeface="+mj-lt"/>
              <a:buAutoNum type="arabicPeriod"/>
            </a:pPr>
            <a:r>
              <a:rPr lang="en-US" altLang="ko-KR" sz="1200" kern="1200" dirty="0">
                <a:solidFill>
                  <a:srgbClr val="FF0000"/>
                </a:solidFill>
                <a:effectLst/>
                <a:latin typeface="+mn-lt"/>
                <a:ea typeface="+mn-ea"/>
                <a:cs typeface="+mn-cs"/>
              </a:rPr>
              <a:t>Review the examples on the topics below:</a:t>
            </a:r>
            <a:br>
              <a:rPr lang="en-US" altLang="ko-KR" sz="1000" i="0" kern="1200" dirty="0">
                <a:solidFill>
                  <a:srgbClr val="FF0000"/>
                </a:solidFill>
                <a:effectLst/>
                <a:latin typeface="+mn-lt"/>
                <a:ea typeface="+mn-ea"/>
                <a:cs typeface="+mn-cs"/>
              </a:rPr>
            </a:br>
            <a:br>
              <a:rPr lang="en-US" altLang="ko-KR" sz="1000" i="0" kern="1200" dirty="0">
                <a:solidFill>
                  <a:srgbClr val="FF0000"/>
                </a:solidFill>
                <a:effectLst/>
                <a:latin typeface="+mn-lt"/>
                <a:ea typeface="+mn-ea"/>
                <a:cs typeface="+mn-cs"/>
              </a:rPr>
            </a:br>
            <a:r>
              <a:rPr lang="en-US" altLang="ko-KR" sz="1200" i="1" kern="1200" dirty="0">
                <a:solidFill>
                  <a:schemeClr val="tx1"/>
                </a:solidFill>
                <a:effectLst/>
                <a:latin typeface="+mn-lt"/>
                <a:ea typeface="+mn-ea"/>
                <a:cs typeface="+mn-cs"/>
              </a:rPr>
              <a:t>A. Linear regression with 'Galton' data.</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Read in data and visualize.</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Linear regression training.</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iii. Visualization of the regression line.</a:t>
            </a:r>
          </a:p>
          <a:p>
            <a:pPr marL="342900" lvl="0" indent="-342900">
              <a:spcAft>
                <a:spcPts val="800"/>
              </a:spcAft>
              <a:buFont typeface="+mj-lt"/>
              <a:buAutoNum type="arabicPeriod"/>
            </a:pPr>
            <a:endParaRPr lang="en-US" altLang="ko-KR" sz="1200" i="1"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200" dirty="0">
                <a:solidFill>
                  <a:schemeClr val="tx1"/>
                </a:solidFill>
                <a:effectLst/>
                <a:latin typeface="+mn-lt"/>
                <a:ea typeface="+mn-ea"/>
                <a:cs typeface="+mn-cs"/>
              </a:rPr>
              <a:t>(Optional) Use the blank cell at the bottom to practice your own personal needs.</a:t>
            </a:r>
            <a:endParaRPr lang="ko-KR" altLang="ko-KR" sz="10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135</a:t>
            </a:fld>
            <a:endParaRPr lang="ko-KR" altLang="en-US" dirty="0"/>
          </a:p>
        </p:txBody>
      </p:sp>
    </p:spTree>
    <p:extLst>
      <p:ext uri="{BB962C8B-B14F-4D97-AF65-F5344CB8AC3E}">
        <p14:creationId xmlns:p14="http://schemas.microsoft.com/office/powerpoint/2010/main" val="117377506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136</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104333034"/>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There are many diagnostic methods related to the linear regression.</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137</a:t>
            </a:fld>
            <a:endParaRPr lang="ko-KR" altLang="en-US"/>
          </a:p>
        </p:txBody>
      </p:sp>
    </p:spTree>
    <p:extLst>
      <p:ext uri="{BB962C8B-B14F-4D97-AF65-F5344CB8AC3E}">
        <p14:creationId xmlns:p14="http://schemas.microsoft.com/office/powerpoint/2010/main" val="2016468993"/>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have already covered about the error metrics.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Please, remember that smaller errors are better.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138</a:t>
            </a:fld>
            <a:endParaRPr lang="ko-KR" altLang="en-US"/>
          </a:p>
        </p:txBody>
      </p:sp>
    </p:spTree>
    <p:extLst>
      <p:ext uri="{BB962C8B-B14F-4D97-AF65-F5344CB8AC3E}">
        <p14:creationId xmlns:p14="http://schemas.microsoft.com/office/powerpoint/2010/main" val="2833390319"/>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Here, coefficient of determination or </a:t>
                </a:r>
                <a14:m>
                  <m:oMath xmlns:m="http://schemas.openxmlformats.org/officeDocument/2006/math">
                    <m:sSup>
                      <m:sSupPr>
                        <m:ctrlPr>
                          <a:rPr lang="en-US" altLang="ko-KR" sz="1200" i="1">
                            <a:latin typeface="Cambria Math" panose="02040503050406030204" pitchFamily="18" charset="0"/>
                            <a:cs typeface="Times New Roman" panose="02020603050405020304" pitchFamily="18" charset="0"/>
                          </a:rPr>
                        </m:ctrlPr>
                      </m:sSupPr>
                      <m:e>
                        <m:r>
                          <a:rPr lang="en-US" altLang="ko-KR" sz="1200" i="1">
                            <a:latin typeface="Cambria Math" panose="02040503050406030204" pitchFamily="18" charset="0"/>
                            <a:cs typeface="Times New Roman" panose="02020603050405020304" pitchFamily="18" charset="0"/>
                          </a:rPr>
                          <m:t>𝑅</m:t>
                        </m:r>
                      </m:e>
                      <m:sup>
                        <m:r>
                          <a:rPr lang="en-US" altLang="ko-KR" sz="1200" i="1">
                            <a:latin typeface="Cambria Math" panose="02040503050406030204" pitchFamily="18" charset="0"/>
                            <a:cs typeface="Times New Roman" panose="02020603050405020304" pitchFamily="18" charset="0"/>
                          </a:rPr>
                          <m:t>2</m:t>
                        </m:r>
                      </m:sup>
                    </m:sSup>
                  </m:oMath>
                </a14:m>
                <a:r>
                  <a:rPr lang="en-US" altLang="ko-KR" sz="1200" dirty="0">
                    <a:latin typeface="Times New Roman" panose="02020603050405020304" pitchFamily="18" charset="0"/>
                    <a:cs typeface="Times New Roman" panose="02020603050405020304" pitchFamily="18" charset="0"/>
                  </a:rPr>
                  <a:t> is defined.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Adjusted </a:t>
                </a:r>
                <a14:m>
                  <m:oMath xmlns:m="http://schemas.openxmlformats.org/officeDocument/2006/math">
                    <m:sSup>
                      <m:sSupPr>
                        <m:ctrlPr>
                          <a:rPr lang="en-US" altLang="ko-KR" sz="1200" i="1" smtClean="0">
                            <a:latin typeface="Cambria Math" panose="02040503050406030204" pitchFamily="18" charset="0"/>
                            <a:cs typeface="Times New Roman" panose="02020603050405020304" pitchFamily="18" charset="0"/>
                          </a:rPr>
                        </m:ctrlPr>
                      </m:sSupPr>
                      <m:e>
                        <m:r>
                          <a:rPr lang="en-US" altLang="ko-KR" sz="1200" i="1">
                            <a:latin typeface="Cambria Math" panose="02040503050406030204" pitchFamily="18" charset="0"/>
                            <a:cs typeface="Times New Roman" panose="02020603050405020304" pitchFamily="18" charset="0"/>
                          </a:rPr>
                          <m:t>𝑅</m:t>
                        </m:r>
                      </m:e>
                      <m:sup>
                        <m:r>
                          <a:rPr lang="en-US" altLang="ko-KR" sz="1200" i="1">
                            <a:latin typeface="Cambria Math" panose="02040503050406030204" pitchFamily="18" charset="0"/>
                            <a:cs typeface="Times New Roman" panose="02020603050405020304" pitchFamily="18" charset="0"/>
                          </a:rPr>
                          <m:t>2</m:t>
                        </m:r>
                      </m:sup>
                    </m:sSup>
                  </m:oMath>
                </a14:m>
                <a:r>
                  <a:rPr lang="en-US" altLang="ko-KR" sz="1200" dirty="0">
                    <a:latin typeface="Times New Roman" panose="02020603050405020304" pitchFamily="18" charset="0"/>
                    <a:cs typeface="Times New Roman" panose="02020603050405020304" pitchFamily="18" charset="0"/>
                  </a:rPr>
                  <a:t> would</a:t>
                </a:r>
                <a:r>
                  <a:rPr lang="en-US" altLang="ko-KR" sz="1200" baseline="0" dirty="0">
                    <a:latin typeface="Times New Roman" panose="02020603050405020304" pitchFamily="18" charset="0"/>
                    <a:cs typeface="Times New Roman" panose="02020603050405020304" pitchFamily="18" charset="0"/>
                  </a:rPr>
                  <a:t> be more useful when there are many explanatory variables.</a:t>
                </a:r>
                <a:endParaRPr lang="en-US" altLang="ko-KR" sz="1200" dirty="0">
                  <a:latin typeface="Times New Roman" panose="02020603050405020304" pitchFamily="18" charset="0"/>
                  <a:cs typeface="Times New Roman" panose="02020603050405020304" pitchFamily="18" charset="0"/>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Here, coefficient of determination or </a:t>
                </a:r>
                <a:r>
                  <a:rPr lang="en-US" altLang="ko-KR" sz="1200" i="0">
                    <a:latin typeface="Cambria Math" panose="02040503050406030204" pitchFamily="18" charset="0"/>
                    <a:cs typeface="Times New Roman" panose="02020603050405020304" pitchFamily="18" charset="0"/>
                  </a:rPr>
                  <a:t>𝑅^2</a:t>
                </a:r>
                <a:r>
                  <a:rPr lang="en-US" altLang="ko-KR" sz="1200" dirty="0">
                    <a:latin typeface="Times New Roman" panose="02020603050405020304" pitchFamily="18" charset="0"/>
                    <a:cs typeface="Times New Roman" panose="02020603050405020304" pitchFamily="18" charset="0"/>
                  </a:rPr>
                  <a:t> is defined.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Adjusted </a:t>
                </a:r>
                <a:r>
                  <a:rPr lang="en-US" altLang="ko-KR" sz="1200" i="0">
                    <a:latin typeface="Cambria Math" panose="02040503050406030204" pitchFamily="18" charset="0"/>
                    <a:cs typeface="Times New Roman" panose="02020603050405020304" pitchFamily="18" charset="0"/>
                  </a:rPr>
                  <a:t>𝑅^2</a:t>
                </a:r>
                <a:r>
                  <a:rPr lang="en-US" altLang="ko-KR" sz="1200" dirty="0">
                    <a:latin typeface="Times New Roman" panose="02020603050405020304" pitchFamily="18" charset="0"/>
                    <a:cs typeface="Times New Roman" panose="02020603050405020304" pitchFamily="18" charset="0"/>
                  </a:rPr>
                  <a:t> would</a:t>
                </a:r>
                <a:r>
                  <a:rPr lang="en-US" altLang="ko-KR" sz="1200" baseline="0" dirty="0">
                    <a:latin typeface="Times New Roman" panose="02020603050405020304" pitchFamily="18" charset="0"/>
                    <a:cs typeface="Times New Roman" panose="02020603050405020304" pitchFamily="18" charset="0"/>
                  </a:rPr>
                  <a:t> be more useful when there are many explanatory variables.</a:t>
                </a:r>
                <a:endParaRPr lang="en-US" altLang="ko-KR" sz="1200" dirty="0">
                  <a:latin typeface="Times New Roman" panose="02020603050405020304" pitchFamily="18" charset="0"/>
                  <a:cs typeface="Times New Roman" panose="02020603050405020304" pitchFamily="18" charset="0"/>
                </a:endParaRPr>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139</a:t>
            </a:fld>
            <a:endParaRPr lang="ko-KR" altLang="en-US"/>
          </a:p>
        </p:txBody>
      </p:sp>
    </p:spTree>
    <p:extLst>
      <p:ext uri="{BB962C8B-B14F-4D97-AF65-F5344CB8AC3E}">
        <p14:creationId xmlns:p14="http://schemas.microsoft.com/office/powerpoint/2010/main" val="3396305326"/>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F-test in the context of linear regression is explained.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p-value must come out small (&lt;0.05) in order for the </a:t>
            </a:r>
            <a:r>
              <a:rPr lang="en-US" altLang="ko-KR" sz="1200" dirty="0">
                <a:solidFill>
                  <a:schemeClr val="tx1"/>
                </a:solidFill>
                <a:latin typeface="Times New Roman" panose="02020603050405020304" pitchFamily="18" charset="0"/>
                <a:cs typeface="Times New Roman" panose="02020603050405020304" pitchFamily="18" charset="0"/>
              </a:rPr>
              <a:t>linear model to have an overall significance.</a:t>
            </a: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140</a:t>
            </a:fld>
            <a:endParaRPr lang="ko-KR" altLang="en-US"/>
          </a:p>
        </p:txBody>
      </p:sp>
    </p:spTree>
    <p:extLst>
      <p:ext uri="{BB962C8B-B14F-4D97-AF65-F5344CB8AC3E}">
        <p14:creationId xmlns:p14="http://schemas.microsoft.com/office/powerpoint/2010/main" val="78754688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t-test in the context of linear regression is explained.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p-value must come out small (&lt;0.05) in order for each parameter (and variable)</a:t>
            </a:r>
            <a:r>
              <a:rPr lang="en-US" altLang="ko-KR" sz="1200" dirty="0">
                <a:solidFill>
                  <a:schemeClr val="tx1"/>
                </a:solidFill>
                <a:latin typeface="Times New Roman" panose="02020603050405020304" pitchFamily="18" charset="0"/>
                <a:cs typeface="Times New Roman" panose="02020603050405020304" pitchFamily="18" charset="0"/>
              </a:rPr>
              <a:t> to be meaningful. </a:t>
            </a: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141</a:t>
            </a:fld>
            <a:endParaRPr lang="ko-KR" altLang="en-US"/>
          </a:p>
        </p:txBody>
      </p:sp>
    </p:spTree>
    <p:extLst>
      <p:ext uri="{BB962C8B-B14F-4D97-AF65-F5344CB8AC3E}">
        <p14:creationId xmlns:p14="http://schemas.microsoft.com/office/powerpoint/2010/main" val="1785636069"/>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t-test in the context of linear regression is explained.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p-value must come out small (&lt;0.05) in order for each parameter (and variable)</a:t>
            </a:r>
            <a:r>
              <a:rPr lang="en-US" altLang="ko-KR" sz="1200" dirty="0">
                <a:solidFill>
                  <a:schemeClr val="tx1"/>
                </a:solidFill>
                <a:latin typeface="Times New Roman" panose="02020603050405020304" pitchFamily="18" charset="0"/>
                <a:cs typeface="Times New Roman" panose="02020603050405020304" pitchFamily="18" charset="0"/>
              </a:rPr>
              <a:t> to be meaningful. </a:t>
            </a: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142</a:t>
            </a:fld>
            <a:endParaRPr lang="ko-KR" altLang="en-US"/>
          </a:p>
        </p:txBody>
      </p:sp>
    </p:spTree>
    <p:extLst>
      <p:ext uri="{BB962C8B-B14F-4D97-AF65-F5344CB8AC3E}">
        <p14:creationId xmlns:p14="http://schemas.microsoft.com/office/powerpoint/2010/main" val="272021270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variance inflation factor (VIF) </a:t>
            </a:r>
            <a:r>
              <a:rPr lang="en-US" altLang="ko-KR" sz="1200" dirty="0">
                <a:latin typeface="Times New Roman" panose="02020603050405020304" pitchFamily="18" charset="0"/>
                <a:cs typeface="Times New Roman" panose="02020603050405020304" pitchFamily="18" charset="0"/>
              </a:rPr>
              <a:t>measure the “seriousness” of multi-collinearity due to the inclusion of a particular explanatory variable.</a:t>
            </a: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143</a:t>
            </a:fld>
            <a:endParaRPr lang="ko-KR" altLang="en-US"/>
          </a:p>
        </p:txBody>
      </p:sp>
    </p:spTree>
    <p:extLst>
      <p:ext uri="{BB962C8B-B14F-4D97-AF65-F5344CB8AC3E}">
        <p14:creationId xmlns:p14="http://schemas.microsoft.com/office/powerpoint/2010/main" val="3555727574"/>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the calculation method of VIF is explained.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VIF is calculated for each explanatory variable.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144</a:t>
            </a:fld>
            <a:endParaRPr lang="ko-KR" altLang="en-US"/>
          </a:p>
        </p:txBody>
      </p:sp>
    </p:spTree>
    <p:extLst>
      <p:ext uri="{BB962C8B-B14F-4D97-AF65-F5344CB8AC3E}">
        <p14:creationId xmlns:p14="http://schemas.microsoft.com/office/powerpoint/2010/main" val="73496728"/>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the information criteria is defined.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As the regression coefficients are labeled from the index zero: </a:t>
                </a:r>
                <a14:m>
                  <m:oMath xmlns:m="http://schemas.openxmlformats.org/officeDocument/2006/math">
                    <m:r>
                      <a:rPr lang="en-US" altLang="ko-KR" b="0" i="1" smtClean="0">
                        <a:latin typeface="Cambria Math" panose="02040503050406030204" pitchFamily="18" charset="0"/>
                      </a:rPr>
                      <m:t>0~</m:t>
                    </m:r>
                    <m:r>
                      <a:rPr lang="en-US" altLang="ko-KR" b="0" i="1" smtClean="0">
                        <a:latin typeface="Cambria Math" panose="02040503050406030204" pitchFamily="18" charset="0"/>
                      </a:rPr>
                      <m:t>𝑘</m:t>
                    </m:r>
                  </m:oMath>
                </a14:m>
                <a:r>
                  <a:rPr lang="en-US" altLang="ko-KR" dirty="0"/>
                  <a:t>, the number</a:t>
                </a:r>
                <a:r>
                  <a:rPr lang="en-US" altLang="ko-KR" baseline="0" dirty="0"/>
                  <a:t> of parameters </a:t>
                </a:r>
                <a14:m>
                  <m:oMath xmlns:m="http://schemas.openxmlformats.org/officeDocument/2006/math">
                    <m:r>
                      <a:rPr lang="en-US" altLang="ko-KR" b="0" i="1" baseline="0" smtClean="0">
                        <a:latin typeface="Cambria Math" panose="02040503050406030204" pitchFamily="18" charset="0"/>
                      </a:rPr>
                      <m:t>𝑝</m:t>
                    </m:r>
                    <m:r>
                      <a:rPr lang="en-US" altLang="ko-KR" b="0" i="1" baseline="0" smtClean="0">
                        <a:latin typeface="Cambria Math" panose="02040503050406030204" pitchFamily="18" charset="0"/>
                      </a:rPr>
                      <m:t>=</m:t>
                    </m:r>
                    <m:r>
                      <a:rPr lang="en-US" altLang="ko-KR" b="0" i="1" baseline="0" smtClean="0">
                        <a:latin typeface="Cambria Math" panose="02040503050406030204" pitchFamily="18" charset="0"/>
                      </a:rPr>
                      <m:t>𝑘</m:t>
                    </m:r>
                    <m:r>
                      <a:rPr lang="en-US" altLang="ko-KR" b="0" i="1" baseline="0" smtClean="0">
                        <a:latin typeface="Cambria Math" panose="02040503050406030204" pitchFamily="18" charset="0"/>
                      </a:rPr>
                      <m:t>+1</m:t>
                    </m:r>
                  </m:oMath>
                </a14:m>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AIC (or BIC) offers a criteria for model optimization.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However, this is just one of several possible measures for consideration.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Please, be aware that improving on all of the diagnostic measures is not easy and often impossible.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the information criteria is defined.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As the regression coefficients are labeled from the index zero: </a:t>
                </a:r>
                <a:r>
                  <a:rPr lang="en-US" altLang="ko-KR" b="0" i="0">
                    <a:latin typeface="Cambria Math" panose="02040503050406030204" pitchFamily="18" charset="0"/>
                  </a:rPr>
                  <a:t>0~𝑘</a:t>
                </a:r>
                <a:r>
                  <a:rPr lang="en-US" altLang="ko-KR" dirty="0"/>
                  <a:t>, the number</a:t>
                </a:r>
                <a:r>
                  <a:rPr lang="en-US" altLang="ko-KR" baseline="0" dirty="0"/>
                  <a:t> of parameters </a:t>
                </a:r>
                <a:r>
                  <a:rPr lang="en-US" altLang="ko-KR" b="0" i="0" baseline="0">
                    <a:latin typeface="Cambria Math" panose="02040503050406030204" pitchFamily="18" charset="0"/>
                  </a:rPr>
                  <a:t>𝑝=𝑘+1</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AIC (or BIC) offers a criteria for model optimization.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However, this is just one of several possible measures for consideration.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Please, be aware that improving on all of the diagnostic measures is not easy and often impossible.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145</a:t>
            </a:fld>
            <a:endParaRPr lang="ko-KR" altLang="en-US"/>
          </a:p>
        </p:txBody>
      </p:sp>
    </p:spTree>
    <p:extLst>
      <p:ext uri="{BB962C8B-B14F-4D97-AF65-F5344CB8AC3E}">
        <p14:creationId xmlns:p14="http://schemas.microsoft.com/office/powerpoint/2010/main" val="3556421920"/>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AIC and BIC are in fact sums of two opposing trends.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As the model complexity increases, the first term decreases monotonically while the second term does the opposite.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146</a:t>
            </a:fld>
            <a:endParaRPr lang="ko-KR" altLang="en-US"/>
          </a:p>
        </p:txBody>
      </p:sp>
    </p:spTree>
    <p:extLst>
      <p:ext uri="{BB962C8B-B14F-4D97-AF65-F5344CB8AC3E}">
        <p14:creationId xmlns:p14="http://schemas.microsoft.com/office/powerpoint/2010/main" val="3068005804"/>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we combine two opposing trends, we have a “U” shaped general trend.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One thing we can notice is that in that U shape there is a bottom minimum. This is where the model should be.</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147</a:t>
            </a:fld>
            <a:endParaRPr lang="ko-KR" altLang="en-US"/>
          </a:p>
        </p:txBody>
      </p:sp>
    </p:spTree>
    <p:extLst>
      <p:ext uri="{BB962C8B-B14F-4D97-AF65-F5344CB8AC3E}">
        <p14:creationId xmlns:p14="http://schemas.microsoft.com/office/powerpoint/2010/main" val="1687063159"/>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Residual is defined as the difference </a:t>
                </a:r>
                <a:r>
                  <a:rPr lang="en-US" altLang="ko-KR" sz="1200" dirty="0">
                    <a:latin typeface="Times New Roman" panose="02020603050405020304" pitchFamily="18" charset="0"/>
                    <a:cs typeface="Times New Roman" panose="02020603050405020304" pitchFamily="18" charset="0"/>
                  </a:rPr>
                  <a:t>between the predicted </a:t>
                </a:r>
                <a14:m>
                  <m:oMath xmlns:m="http://schemas.openxmlformats.org/officeDocument/2006/math">
                    <m:acc>
                      <m:accPr>
                        <m:chr m:val="̂"/>
                        <m:ctrlPr>
                          <a:rPr lang="en-US" altLang="ko-KR" sz="1200" i="1" smtClean="0">
                            <a:solidFill>
                              <a:srgbClr val="0070C0"/>
                            </a:solidFill>
                            <a:latin typeface="Cambria Math" panose="02040503050406030204" pitchFamily="18" charset="0"/>
                            <a:cs typeface="Times New Roman" panose="02020603050405020304" pitchFamily="18" charset="0"/>
                          </a:rPr>
                        </m:ctrlPr>
                      </m:accPr>
                      <m:e>
                        <m:r>
                          <a:rPr lang="en-US" altLang="ko-KR" sz="1200" b="0" i="1" smtClean="0">
                            <a:solidFill>
                              <a:srgbClr val="0070C0"/>
                            </a:solidFill>
                            <a:latin typeface="Cambria Math" panose="02040503050406030204" pitchFamily="18" charset="0"/>
                            <a:cs typeface="Times New Roman" panose="02020603050405020304" pitchFamily="18" charset="0"/>
                          </a:rPr>
                          <m:t>𝑦</m:t>
                        </m:r>
                      </m:e>
                    </m:acc>
                  </m:oMath>
                </a14:m>
                <a:r>
                  <a:rPr lang="en-US" altLang="ko-KR" sz="1200" dirty="0">
                    <a:latin typeface="Times New Roman" panose="02020603050405020304" pitchFamily="18" charset="0"/>
                    <a:cs typeface="Times New Roman" panose="02020603050405020304" pitchFamily="18" charset="0"/>
                  </a:rPr>
                  <a:t> and the real </a:t>
                </a:r>
                <a14:m>
                  <m:oMath xmlns:m="http://schemas.openxmlformats.org/officeDocument/2006/math">
                    <m:r>
                      <a:rPr lang="en-US" altLang="ko-KR" sz="1200" i="1" dirty="0" smtClean="0">
                        <a:solidFill>
                          <a:srgbClr val="FF0000"/>
                        </a:solidFill>
                        <a:latin typeface="Cambria Math" panose="02040503050406030204" pitchFamily="18" charset="0"/>
                        <a:cs typeface="Times New Roman" panose="02020603050405020304" pitchFamily="18" charset="0"/>
                      </a:rPr>
                      <m:t>𝑦</m:t>
                    </m:r>
                  </m:oMath>
                </a14:m>
                <a:r>
                  <a:rPr lang="en-US" altLang="ko-KR" dirty="0"/>
                  <a:t>.</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Residual is defined as the difference </a:t>
                </a:r>
                <a:r>
                  <a:rPr lang="en-US" altLang="ko-KR" sz="1200" dirty="0">
                    <a:latin typeface="Times New Roman" panose="02020603050405020304" pitchFamily="18" charset="0"/>
                    <a:cs typeface="Times New Roman" panose="02020603050405020304" pitchFamily="18" charset="0"/>
                  </a:rPr>
                  <a:t>between the predicted </a:t>
                </a:r>
                <a:r>
                  <a:rPr lang="en-US" altLang="ko-KR" sz="1200" b="0" i="0">
                    <a:solidFill>
                      <a:srgbClr val="0070C0"/>
                    </a:solidFill>
                    <a:latin typeface="Cambria Math" panose="02040503050406030204" pitchFamily="18" charset="0"/>
                    <a:cs typeface="Times New Roman" panose="02020603050405020304" pitchFamily="18" charset="0"/>
                  </a:rPr>
                  <a:t>𝑦 ̂</a:t>
                </a:r>
                <a:r>
                  <a:rPr lang="en-US" altLang="ko-KR" sz="1200" dirty="0">
                    <a:latin typeface="Times New Roman" panose="02020603050405020304" pitchFamily="18" charset="0"/>
                    <a:cs typeface="Times New Roman" panose="02020603050405020304" pitchFamily="18" charset="0"/>
                  </a:rPr>
                  <a:t> and the real </a:t>
                </a:r>
                <a:r>
                  <a:rPr lang="en-US" altLang="ko-KR" sz="1200" i="0" dirty="0">
                    <a:solidFill>
                      <a:srgbClr val="FF0000"/>
                    </a:solidFill>
                    <a:latin typeface="Cambria Math" panose="02040503050406030204" pitchFamily="18" charset="0"/>
                    <a:cs typeface="Times New Roman" panose="02020603050405020304" pitchFamily="18" charset="0"/>
                  </a:rPr>
                  <a:t>𝑦</a:t>
                </a: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148</a:t>
            </a:fld>
            <a:endParaRPr lang="ko-KR" altLang="en-US"/>
          </a:p>
        </p:txBody>
      </p:sp>
    </p:spTree>
    <p:extLst>
      <p:ext uri="{BB962C8B-B14F-4D97-AF65-F5344CB8AC3E}">
        <p14:creationId xmlns:p14="http://schemas.microsoft.com/office/powerpoint/2010/main" val="1798960564"/>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There are many reasons to do residual analysis.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With residual analysis, we can also verify the basic assumptions of linear regression.</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149</a:t>
            </a:fld>
            <a:endParaRPr lang="ko-KR" altLang="en-US"/>
          </a:p>
        </p:txBody>
      </p:sp>
    </p:spTree>
    <p:extLst>
      <p:ext uri="{BB962C8B-B14F-4D97-AF65-F5344CB8AC3E}">
        <p14:creationId xmlns:p14="http://schemas.microsoft.com/office/powerpoint/2010/main" val="1961144747"/>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leverage is defined.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Leverage is useful for detecting influential observations: those with outliers in the explanatory variables.</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150</a:t>
            </a:fld>
            <a:endParaRPr lang="ko-KR" altLang="en-US"/>
          </a:p>
        </p:txBody>
      </p:sp>
    </p:spTree>
    <p:extLst>
      <p:ext uri="{BB962C8B-B14F-4D97-AF65-F5344CB8AC3E}">
        <p14:creationId xmlns:p14="http://schemas.microsoft.com/office/powerpoint/2010/main" val="2967612029"/>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151</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308188935"/>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Let’s remember that </a:t>
                </a:r>
                <a14:m>
                  <m:oMath xmlns:m="http://schemas.openxmlformats.org/officeDocument/2006/math">
                    <m:r>
                      <a:rPr lang="en-US" altLang="ko-KR" sz="1200" i="1" dirty="0" smtClean="0">
                        <a:solidFill>
                          <a:srgbClr val="FF0000"/>
                        </a:solidFill>
                        <a:latin typeface="Cambria Math" panose="02040503050406030204" pitchFamily="18" charset="0"/>
                        <a:cs typeface="Times New Roman" panose="02020603050405020304" pitchFamily="18" charset="0"/>
                      </a:rPr>
                      <m:t>𝑡𝑜𝑡𝑎𝑙</m:t>
                    </m:r>
                    <m:r>
                      <a:rPr lang="en-US" altLang="ko-KR" sz="1200" i="1" dirty="0" smtClean="0">
                        <a:solidFill>
                          <a:srgbClr val="FF0000"/>
                        </a:solidFill>
                        <a:latin typeface="Cambria Math" panose="02040503050406030204" pitchFamily="18" charset="0"/>
                        <a:cs typeface="Times New Roman" panose="02020603050405020304" pitchFamily="18" charset="0"/>
                      </a:rPr>
                      <m:t> </m:t>
                    </m:r>
                    <m:r>
                      <a:rPr lang="en-US" altLang="ko-KR" sz="1200" i="1" dirty="0" smtClean="0">
                        <a:solidFill>
                          <a:srgbClr val="FF0000"/>
                        </a:solidFill>
                        <a:latin typeface="Cambria Math" panose="02040503050406030204" pitchFamily="18" charset="0"/>
                        <a:cs typeface="Times New Roman" panose="02020603050405020304" pitchFamily="18" charset="0"/>
                      </a:rPr>
                      <m:t>𝑒𝑟𝑟𝑜𝑟</m:t>
                    </m:r>
                    <m:r>
                      <a:rPr lang="en-US" altLang="ko-KR" sz="1200" i="1" dirty="0" smtClean="0">
                        <a:solidFill>
                          <a:srgbClr val="FF0000"/>
                        </a:solidFill>
                        <a:latin typeface="Cambria Math" panose="02040503050406030204" pitchFamily="18" charset="0"/>
                        <a:cs typeface="Times New Roman" panose="02020603050405020304" pitchFamily="18" charset="0"/>
                      </a:rPr>
                      <m:t> = </m:t>
                    </m:r>
                    <m:r>
                      <a:rPr lang="en-US" altLang="ko-KR" sz="1200" i="1" dirty="0" smtClean="0">
                        <a:solidFill>
                          <a:schemeClr val="accent2"/>
                        </a:solidFill>
                        <a:latin typeface="Cambria Math" panose="02040503050406030204" pitchFamily="18" charset="0"/>
                        <a:cs typeface="Times New Roman" panose="02020603050405020304" pitchFamily="18" charset="0"/>
                      </a:rPr>
                      <m:t>𝑏𝑖𝑎𝑠</m:t>
                    </m:r>
                    <m:r>
                      <a:rPr lang="en-US" altLang="ko-KR" sz="1200" i="1" dirty="0" smtClean="0">
                        <a:solidFill>
                          <a:schemeClr val="accent2"/>
                        </a:solidFill>
                        <a:latin typeface="Cambria Math" panose="02040503050406030204" pitchFamily="18" charset="0"/>
                        <a:cs typeface="Times New Roman" panose="02020603050405020304" pitchFamily="18" charset="0"/>
                      </a:rPr>
                      <m:t> </m:t>
                    </m:r>
                    <m:r>
                      <a:rPr lang="en-US" altLang="ko-KR" sz="1200" i="1" dirty="0" smtClean="0">
                        <a:solidFill>
                          <a:schemeClr val="accent2"/>
                        </a:solidFill>
                        <a:latin typeface="Cambria Math" panose="02040503050406030204" pitchFamily="18" charset="0"/>
                        <a:cs typeface="Times New Roman" panose="02020603050405020304" pitchFamily="18" charset="0"/>
                      </a:rPr>
                      <m:t>𝑒𝑟𝑟𝑜𝑟</m:t>
                    </m:r>
                    <m:r>
                      <a:rPr lang="en-US" altLang="ko-KR" sz="1200" i="1" dirty="0" smtClean="0">
                        <a:solidFill>
                          <a:schemeClr val="accent2"/>
                        </a:solidFill>
                        <a:latin typeface="Cambria Math" panose="02040503050406030204" pitchFamily="18" charset="0"/>
                        <a:cs typeface="Times New Roman" panose="02020603050405020304" pitchFamily="18" charset="0"/>
                      </a:rPr>
                      <m:t>  + </m:t>
                    </m:r>
                    <m:r>
                      <a:rPr lang="en-US" altLang="ko-KR" sz="1200" i="1" dirty="0" smtClean="0">
                        <a:solidFill>
                          <a:srgbClr val="00B050"/>
                        </a:solidFill>
                        <a:latin typeface="Cambria Math" panose="02040503050406030204" pitchFamily="18" charset="0"/>
                        <a:cs typeface="Times New Roman" panose="02020603050405020304" pitchFamily="18" charset="0"/>
                      </a:rPr>
                      <m:t>𝑣𝑎𝑟𝑖𝑎𝑛𝑐𝑒</m:t>
                    </m:r>
                    <m:r>
                      <a:rPr lang="en-US" altLang="ko-KR" sz="1200" i="1" dirty="0" smtClean="0">
                        <a:solidFill>
                          <a:srgbClr val="00B050"/>
                        </a:solidFill>
                        <a:latin typeface="Cambria Math" panose="02040503050406030204" pitchFamily="18" charset="0"/>
                        <a:cs typeface="Times New Roman" panose="02020603050405020304" pitchFamily="18" charset="0"/>
                      </a:rPr>
                      <m:t> </m:t>
                    </m:r>
                    <m:r>
                      <a:rPr lang="en-US" altLang="ko-KR" sz="1200" i="1" dirty="0" smtClean="0">
                        <a:solidFill>
                          <a:srgbClr val="00B050"/>
                        </a:solidFill>
                        <a:latin typeface="Cambria Math" panose="02040503050406030204" pitchFamily="18" charset="0"/>
                        <a:cs typeface="Times New Roman" panose="02020603050405020304" pitchFamily="18" charset="0"/>
                      </a:rPr>
                      <m:t>𝑒𝑟𝑟𝑜𝑟</m:t>
                    </m:r>
                  </m:oMath>
                </a14:m>
                <a:r>
                  <a:rPr lang="en-US" altLang="ko-KR" sz="1200" dirty="0">
                    <a:solidFill>
                      <a:srgbClr val="00B050"/>
                    </a:solidFill>
                    <a:latin typeface="Times New Roman" panose="02020603050405020304" pitchFamily="18" charset="0"/>
                    <a:cs typeface="Times New Roman" panose="02020603050405020304" pitchFamily="18" charset="0"/>
                  </a:rPr>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solidFill>
                      <a:srgbClr val="00B050"/>
                    </a:solidFill>
                    <a:latin typeface="Times New Roman" panose="02020603050405020304" pitchFamily="18" charset="0"/>
                    <a:cs typeface="Times New Roman" panose="02020603050405020304" pitchFamily="18" charset="0"/>
                  </a:rPr>
                  <a:t>Also, let’ remember that there is a tradeoff </a:t>
                </a:r>
                <a:r>
                  <a:rPr lang="en-US" altLang="ko-KR" sz="1200" dirty="0">
                    <a:latin typeface="Times New Roman" panose="02020603050405020304" pitchFamily="18" charset="0"/>
                    <a:cs typeface="Times New Roman" panose="02020603050405020304" pitchFamily="18" charset="0"/>
                  </a:rPr>
                  <a:t>relation between the </a:t>
                </a:r>
                <a:r>
                  <a:rPr lang="en-US" altLang="ko-KR" sz="1200" dirty="0">
                    <a:solidFill>
                      <a:schemeClr val="accent2"/>
                    </a:solidFill>
                    <a:latin typeface="Times New Roman" panose="02020603050405020304" pitchFamily="18" charset="0"/>
                    <a:cs typeface="Times New Roman" panose="02020603050405020304" pitchFamily="18" charset="0"/>
                  </a:rPr>
                  <a:t>bias error </a:t>
                </a:r>
                <a:r>
                  <a:rPr lang="en-US" altLang="ko-KR" sz="1200" dirty="0">
                    <a:latin typeface="Times New Roman" panose="02020603050405020304" pitchFamily="18" charset="0"/>
                    <a:cs typeface="Times New Roman" panose="02020603050405020304" pitchFamily="18" charset="0"/>
                  </a:rPr>
                  <a:t>and the </a:t>
                </a:r>
                <a:r>
                  <a:rPr lang="en-US" altLang="ko-KR" sz="1200" dirty="0">
                    <a:solidFill>
                      <a:srgbClr val="00B050"/>
                    </a:solidFill>
                    <a:latin typeface="Times New Roman" panose="02020603050405020304" pitchFamily="18" charset="0"/>
                    <a:cs typeface="Times New Roman" panose="02020603050405020304" pitchFamily="18" charset="0"/>
                  </a:rPr>
                  <a:t>variance error.</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solidFill>
                      <a:srgbClr val="00B050"/>
                    </a:solidFill>
                    <a:latin typeface="Times New Roman" panose="02020603050405020304" pitchFamily="18" charset="0"/>
                    <a:cs typeface="Times New Roman" panose="02020603050405020304" pitchFamily="18" charset="0"/>
                  </a:rPr>
                  <a:t>+When there is an excessive amount of variance error, we can apply regularized regressions such as Ridge and Lasso to bring the model towards the optimal point.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solidFill>
                      <a:srgbClr val="00B050"/>
                    </a:solidFill>
                    <a:latin typeface="Times New Roman" panose="02020603050405020304" pitchFamily="18" charset="0"/>
                    <a:cs typeface="Times New Roman" panose="02020603050405020304" pitchFamily="18" charset="0"/>
                  </a:rPr>
                  <a:t>+When there is an excessive amount of bias error, we can apply polynomial regression to bring the model towards the optimal point.</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Let’s remember that </a:t>
                </a:r>
                <a:r>
                  <a:rPr lang="en-US" altLang="ko-KR" sz="1200" i="0" dirty="0">
                    <a:solidFill>
                      <a:srgbClr val="FF0000"/>
                    </a:solidFill>
                    <a:latin typeface="Cambria Math" panose="02040503050406030204" pitchFamily="18" charset="0"/>
                    <a:cs typeface="Times New Roman" panose="02020603050405020304" pitchFamily="18" charset="0"/>
                  </a:rPr>
                  <a:t>𝑡𝑜𝑡𝑎𝑙 𝑒𝑟𝑟𝑜𝑟 = </a:t>
                </a:r>
                <a:r>
                  <a:rPr lang="en-US" altLang="ko-KR" sz="1200" i="0" dirty="0">
                    <a:solidFill>
                      <a:schemeClr val="accent2"/>
                    </a:solidFill>
                    <a:latin typeface="Cambria Math" panose="02040503050406030204" pitchFamily="18" charset="0"/>
                    <a:cs typeface="Times New Roman" panose="02020603050405020304" pitchFamily="18" charset="0"/>
                  </a:rPr>
                  <a:t>𝑏𝑖𝑎𝑠 𝑒𝑟𝑟𝑜𝑟  + </a:t>
                </a:r>
                <a:r>
                  <a:rPr lang="en-US" altLang="ko-KR" sz="1200" i="0" dirty="0">
                    <a:solidFill>
                      <a:srgbClr val="00B050"/>
                    </a:solidFill>
                    <a:latin typeface="Cambria Math" panose="02040503050406030204" pitchFamily="18" charset="0"/>
                    <a:cs typeface="Times New Roman" panose="02020603050405020304" pitchFamily="18" charset="0"/>
                  </a:rPr>
                  <a:t>𝑣𝑎𝑟𝑖𝑎𝑛𝑐𝑒 𝑒𝑟𝑟𝑜𝑟</a:t>
                </a:r>
                <a:r>
                  <a:rPr lang="en-US" altLang="ko-KR" sz="1200" dirty="0">
                    <a:solidFill>
                      <a:srgbClr val="00B050"/>
                    </a:solidFill>
                    <a:latin typeface="Times New Roman" panose="02020603050405020304" pitchFamily="18" charset="0"/>
                    <a:cs typeface="Times New Roman" panose="02020603050405020304" pitchFamily="18" charset="0"/>
                  </a:rPr>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solidFill>
                      <a:srgbClr val="00B050"/>
                    </a:solidFill>
                    <a:latin typeface="Times New Roman" panose="02020603050405020304" pitchFamily="18" charset="0"/>
                    <a:cs typeface="Times New Roman" panose="02020603050405020304" pitchFamily="18" charset="0"/>
                  </a:rPr>
                  <a:t>Also, let’ remember that there is a tradeoff </a:t>
                </a:r>
                <a:r>
                  <a:rPr lang="en-US" altLang="ko-KR" sz="1200" dirty="0">
                    <a:latin typeface="Times New Roman" panose="02020603050405020304" pitchFamily="18" charset="0"/>
                    <a:cs typeface="Times New Roman" panose="02020603050405020304" pitchFamily="18" charset="0"/>
                  </a:rPr>
                  <a:t>relation between the </a:t>
                </a:r>
                <a:r>
                  <a:rPr lang="en-US" altLang="ko-KR" sz="1200" dirty="0">
                    <a:solidFill>
                      <a:schemeClr val="accent2"/>
                    </a:solidFill>
                    <a:latin typeface="Times New Roman" panose="02020603050405020304" pitchFamily="18" charset="0"/>
                    <a:cs typeface="Times New Roman" panose="02020603050405020304" pitchFamily="18" charset="0"/>
                  </a:rPr>
                  <a:t>bias error </a:t>
                </a:r>
                <a:r>
                  <a:rPr lang="en-US" altLang="ko-KR" sz="1200" dirty="0">
                    <a:latin typeface="Times New Roman" panose="02020603050405020304" pitchFamily="18" charset="0"/>
                    <a:cs typeface="Times New Roman" panose="02020603050405020304" pitchFamily="18" charset="0"/>
                  </a:rPr>
                  <a:t>and the </a:t>
                </a:r>
                <a:r>
                  <a:rPr lang="en-US" altLang="ko-KR" sz="1200" dirty="0">
                    <a:solidFill>
                      <a:srgbClr val="00B050"/>
                    </a:solidFill>
                    <a:latin typeface="Times New Roman" panose="02020603050405020304" pitchFamily="18" charset="0"/>
                    <a:cs typeface="Times New Roman" panose="02020603050405020304" pitchFamily="18" charset="0"/>
                  </a:rPr>
                  <a:t>variance error.</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solidFill>
                      <a:srgbClr val="00B050"/>
                    </a:solidFill>
                    <a:latin typeface="Times New Roman" panose="02020603050405020304" pitchFamily="18" charset="0"/>
                    <a:cs typeface="Times New Roman" panose="02020603050405020304" pitchFamily="18" charset="0"/>
                  </a:rPr>
                  <a:t>+When there is an excessive amount of variance error, we can apply regularized regressions such as Ridge and Lasso to bring the model towards the optimal point.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solidFill>
                      <a:srgbClr val="00B050"/>
                    </a:solidFill>
                    <a:latin typeface="Times New Roman" panose="02020603050405020304" pitchFamily="18" charset="0"/>
                    <a:cs typeface="Times New Roman" panose="02020603050405020304" pitchFamily="18" charset="0"/>
                  </a:rPr>
                  <a:t>+When there is an excessive amount of bias error, we can apply polynomial regression to bring the model towards the optimal point.</a:t>
                </a:r>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152</a:t>
            </a:fld>
            <a:endParaRPr lang="ko-KR" altLang="en-US"/>
          </a:p>
        </p:txBody>
      </p:sp>
    </p:spTree>
    <p:extLst>
      <p:ext uri="{BB962C8B-B14F-4D97-AF65-F5344CB8AC3E}">
        <p14:creationId xmlns:p14="http://schemas.microsoft.com/office/powerpoint/2010/main" val="2006582782"/>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Ridge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Ridge regression is useful when</a:t>
            </a:r>
            <a:r>
              <a:rPr lang="ko-KR" altLang="en-US" dirty="0"/>
              <a:t> </a:t>
            </a:r>
            <a:r>
              <a:rPr lang="en-US" altLang="ko-KR" dirty="0"/>
              <a:t>there is an excessive amount of variance error.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153</a:t>
            </a:fld>
            <a:endParaRPr lang="ko-KR" altLang="en-US"/>
          </a:p>
        </p:txBody>
      </p:sp>
    </p:spTree>
    <p:extLst>
      <p:ext uri="{BB962C8B-B14F-4D97-AF65-F5344CB8AC3E}">
        <p14:creationId xmlns:p14="http://schemas.microsoft.com/office/powerpoint/2010/main" val="3331965042"/>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 xmlns:m="http://schemas.openxmlformats.org/officeDocument/2006/math">
                    <m:r>
                      <a:rPr lang="ko-KR" altLang="en-US" sz="1200" b="0" i="1" smtClean="0">
                        <a:solidFill>
                          <a:srgbClr val="00B050"/>
                        </a:solidFill>
                        <a:latin typeface="Cambria Math" panose="02040503050406030204" pitchFamily="18" charset="0"/>
                      </a:rPr>
                      <m:t>𝜆</m:t>
                    </m:r>
                  </m:oMath>
                </a14:m>
                <a:r>
                  <a:rPr lang="en-US" altLang="ko-KR" dirty="0"/>
                  <a:t> can be interpreted as the strength of regularization (or constraint on the coefficients).</a:t>
                </a:r>
                <a:r>
                  <a:rPr lang="en-US" altLang="ko-KR" baseline="0" dirty="0"/>
                  <a:t> </a:t>
                </a: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154</a:t>
            </a:fld>
            <a:endParaRPr lang="ko-KR" altLang="en-US"/>
          </a:p>
        </p:txBody>
      </p:sp>
    </p:spTree>
    <p:extLst>
      <p:ext uri="{BB962C8B-B14F-4D97-AF65-F5344CB8AC3E}">
        <p14:creationId xmlns:p14="http://schemas.microsoft.com/office/powerpoint/2010/main" val="529833523"/>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14:m>
                  <m:oMath xmlns:m="http://schemas.openxmlformats.org/officeDocument/2006/math">
                    <m:r>
                      <a:rPr lang="ko-KR" altLang="en-US" sz="1200" b="0" i="1" smtClean="0">
                        <a:solidFill>
                          <a:srgbClr val="00B050"/>
                        </a:solidFill>
                        <a:latin typeface="Cambria Math" panose="02040503050406030204" pitchFamily="18" charset="0"/>
                      </a:rPr>
                      <m:t>𝜆</m:t>
                    </m:r>
                  </m:oMath>
                </a14:m>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14:m>
                  <m:oMath xmlns:m="http://schemas.openxmlformats.org/officeDocument/2006/math">
                    <m:sSub>
                      <m:sSubPr>
                        <m:ctrlPr>
                          <a:rPr lang="en-US" altLang="ko-KR" sz="1200" i="1">
                            <a:latin typeface="Cambria Math" panose="02040503050406030204" pitchFamily="18" charset="0"/>
                            <a:cs typeface="Times New Roman" panose="02020603050405020304" pitchFamily="18" charset="0"/>
                            <a:sym typeface="Symbol" panose="05050102010706020507" pitchFamily="18" charset="2"/>
                          </a:rPr>
                        </m:ctrlPr>
                      </m:sSubPr>
                      <m:e>
                        <m:r>
                          <a:rPr lang="ko-KR" altLang="en-US" sz="1200" i="1">
                            <a:latin typeface="Cambria Math" panose="02040503050406030204" pitchFamily="18" charset="0"/>
                            <a:cs typeface="Times New Roman" panose="02020603050405020304" pitchFamily="18" charset="0"/>
                            <a:sym typeface="Symbol" panose="05050102010706020507" pitchFamily="18" charset="2"/>
                          </a:rPr>
                          <m:t>𝛽</m:t>
                        </m:r>
                      </m:e>
                      <m:sub>
                        <m:r>
                          <a:rPr lang="en-US" altLang="ko-KR" sz="1200" i="1">
                            <a:latin typeface="Cambria Math" panose="02040503050406030204" pitchFamily="18" charset="0"/>
                            <a:cs typeface="Times New Roman" panose="02020603050405020304" pitchFamily="18" charset="0"/>
                            <a:sym typeface="Symbol" panose="05050102010706020507" pitchFamily="18" charset="2"/>
                          </a:rPr>
                          <m:t>𝑖</m:t>
                        </m:r>
                      </m:sub>
                    </m:sSub>
                  </m:oMath>
                </a14:m>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155</a:t>
            </a:fld>
            <a:endParaRPr lang="ko-KR" altLang="en-US"/>
          </a:p>
        </p:txBody>
      </p:sp>
    </p:spTree>
    <p:extLst>
      <p:ext uri="{BB962C8B-B14F-4D97-AF65-F5344CB8AC3E}">
        <p14:creationId xmlns:p14="http://schemas.microsoft.com/office/powerpoint/2010/main" val="248597446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Polynomial regression is useful when the linear model is too biased.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higher polynomial terms are introduced to the model to make it more flexible.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However, be cautious that we can easily overshoot and cause overfitting.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156</a:t>
            </a:fld>
            <a:endParaRPr lang="ko-KR" altLang="en-US"/>
          </a:p>
        </p:txBody>
      </p:sp>
    </p:spTree>
    <p:extLst>
      <p:ext uri="{BB962C8B-B14F-4D97-AF65-F5344CB8AC3E}">
        <p14:creationId xmlns:p14="http://schemas.microsoft.com/office/powerpoint/2010/main" val="3679640457"/>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Poisson regression is useful when we model the response that represents counts.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underlying probability distribution is……. Poisson distribution (no surprise here!)</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157</a:t>
            </a:fld>
            <a:endParaRPr lang="ko-KR" altLang="en-US"/>
          </a:p>
        </p:txBody>
      </p:sp>
    </p:spTree>
    <p:extLst>
      <p:ext uri="{BB962C8B-B14F-4D97-AF65-F5344CB8AC3E}">
        <p14:creationId xmlns:p14="http://schemas.microsoft.com/office/powerpoint/2010/main" val="3059695927"/>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US" altLang="ko-KR" dirty="0"/>
          </a:p>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158</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64407868"/>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rgbClr val="00B05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159</a:t>
            </a:fld>
            <a:endParaRPr lang="ko-KR" altLang="en-US"/>
          </a:p>
        </p:txBody>
      </p:sp>
    </p:spTree>
    <p:extLst>
      <p:ext uri="{BB962C8B-B14F-4D97-AF65-F5344CB8AC3E}">
        <p14:creationId xmlns:p14="http://schemas.microsoft.com/office/powerpoint/2010/main" val="53447739"/>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latin typeface="Times New Roman" panose="02020603050405020304" pitchFamily="18" charset="0"/>
              </a:rPr>
              <a:t>WHAT THIS PRACTICE ABOUT</a:t>
            </a:r>
            <a:endParaRPr lang="ko-KR" altLang="en-US" dirty="0"/>
          </a:p>
          <a:p>
            <a:pPr latinLnBrk="1"/>
            <a:r>
              <a:rPr lang="en-US" altLang="ko-KR" sz="1200" kern="1200" dirty="0">
                <a:solidFill>
                  <a:schemeClr val="tx1"/>
                </a:solidFill>
                <a:effectLst/>
                <a:latin typeface="+mn-lt"/>
                <a:ea typeface="+mn-ea"/>
                <a:cs typeface="+mn-cs"/>
              </a:rPr>
              <a:t>In this practice, we go through some examples of linear regression and diagnostics.</a:t>
            </a:r>
          </a:p>
          <a:p>
            <a:pPr latinLnBrk="1"/>
            <a:r>
              <a:rPr lang="en-US" altLang="ko-KR" sz="1200" kern="1200" dirty="0">
                <a:solidFill>
                  <a:schemeClr val="tx1"/>
                </a:solidFill>
                <a:effectLst/>
                <a:latin typeface="+mn-lt"/>
                <a:ea typeface="+mn-ea"/>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Times New Roman" panose="02020603050405020304" pitchFamily="18" charset="0"/>
              </a:rPr>
              <a:t>PRACTICE INSTRUCTION</a:t>
            </a:r>
            <a:endParaRPr lang="ko-KR" altLang="ko-KR" sz="1000"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Start </a:t>
            </a:r>
            <a:r>
              <a:rPr lang="en-US" altLang="ko-KR" sz="1200" kern="100" dirty="0" err="1">
                <a:solidFill>
                  <a:srgbClr val="000000"/>
                </a:solidFill>
                <a:latin typeface="Times New Roman" panose="02020603050405020304" pitchFamily="18" charset="0"/>
                <a:cs typeface="Times New Roman" panose="02020603050405020304" pitchFamily="18" charset="0"/>
              </a:rPr>
              <a:t>Jupyter</a:t>
            </a:r>
            <a:r>
              <a:rPr lang="en-US" altLang="ko-KR" sz="1200" kern="100" dirty="0">
                <a:solidFill>
                  <a:srgbClr val="000000"/>
                </a:solidFill>
                <a:latin typeface="Times New Roman" panose="02020603050405020304" pitchFamily="18" charset="0"/>
                <a:cs typeface="Times New Roman" panose="02020603050405020304" pitchFamily="18" charset="0"/>
              </a:rPr>
              <a:t> Notebook. </a:t>
            </a:r>
          </a:p>
          <a:p>
            <a:pPr marL="342900" marR="0" lvl="0" indent="-342900" algn="l" defTabSz="914400" rtl="0" eaLnBrk="1" fontAlgn="auto" latinLnBrk="1" hangingPunct="1">
              <a:lnSpc>
                <a:spcPct val="100000"/>
              </a:lnSpc>
              <a:spcBef>
                <a:spcPts val="0"/>
              </a:spcBef>
              <a:spcAft>
                <a:spcPts val="800"/>
              </a:spcAft>
              <a:buClrTx/>
              <a:buSzTx/>
              <a:buFont typeface="+mj-lt"/>
              <a:buAutoNum type="arabicPeriod"/>
              <a:tabLst/>
              <a:defRPr/>
            </a:pPr>
            <a:r>
              <a:rPr lang="en-US" altLang="ko-KR" sz="1200" kern="1200" dirty="0">
                <a:solidFill>
                  <a:schemeClr val="tx1"/>
                </a:solidFill>
                <a:effectLst/>
                <a:latin typeface="+mn-lt"/>
                <a:ea typeface="+mn-ea"/>
                <a:cs typeface="+mn-cs"/>
              </a:rPr>
              <a:t>In </a:t>
            </a:r>
            <a:r>
              <a:rPr lang="en-US" altLang="ko-KR" sz="1200" kern="1200" dirty="0" err="1">
                <a:solidFill>
                  <a:schemeClr val="tx1"/>
                </a:solidFill>
                <a:effectLst/>
                <a:latin typeface="+mn-lt"/>
                <a:ea typeface="+mn-ea"/>
                <a:cs typeface="+mn-cs"/>
              </a:rPr>
              <a:t>Jupyter</a:t>
            </a:r>
            <a:r>
              <a:rPr lang="en-US" altLang="ko-KR" sz="1200" kern="1200" dirty="0">
                <a:solidFill>
                  <a:schemeClr val="tx1"/>
                </a:solidFill>
                <a:effectLst/>
                <a:latin typeface="+mn-lt"/>
                <a:ea typeface="+mn-ea"/>
                <a:cs typeface="+mn-cs"/>
              </a:rPr>
              <a:t> Notebook, click the </a:t>
            </a:r>
            <a:r>
              <a:rPr lang="en-US" altLang="ko-KR" sz="1200" b="1" kern="1200" dirty="0">
                <a:solidFill>
                  <a:schemeClr val="tx1"/>
                </a:solidFill>
                <a:effectLst/>
                <a:latin typeface="+mn-lt"/>
                <a:ea typeface="+mn-ea"/>
                <a:cs typeface="+mn-cs"/>
              </a:rPr>
              <a:t>ex_0302.ipynb</a:t>
            </a:r>
            <a:r>
              <a:rPr lang="en-US" altLang="ko-KR" sz="1200" kern="1200" dirty="0">
                <a:solidFill>
                  <a:schemeClr val="tx1"/>
                </a:solidFill>
                <a:effectLst/>
                <a:latin typeface="+mn-lt"/>
                <a:ea typeface="+mn-ea"/>
                <a:cs typeface="+mn-cs"/>
              </a:rPr>
              <a:t> files in the </a:t>
            </a:r>
            <a:r>
              <a:rPr lang="en-US" altLang="ko-KR" sz="1200" b="1" kern="1200" dirty="0">
                <a:solidFill>
                  <a:schemeClr val="tx1"/>
                </a:solidFill>
                <a:effectLst/>
                <a:latin typeface="+mn-lt"/>
                <a:ea typeface="+mn-ea"/>
                <a:cs typeface="+mn-cs"/>
              </a:rPr>
              <a:t>Coding Exercise</a:t>
            </a:r>
            <a:r>
              <a:rPr lang="en-US" altLang="ko-KR" sz="1200" kern="1200" dirty="0">
                <a:solidFill>
                  <a:schemeClr val="tx1"/>
                </a:solidFill>
                <a:effectLst/>
                <a:latin typeface="+mn-lt"/>
                <a:ea typeface="+mn-ea"/>
                <a:cs typeface="+mn-cs"/>
              </a:rPr>
              <a:t> folder.</a:t>
            </a:r>
            <a:endParaRPr lang="en-US" altLang="ko-KR" sz="1200" kern="1200" dirty="0">
              <a:solidFill>
                <a:srgbClr val="FF0000"/>
              </a:solidFill>
              <a:effectLst/>
              <a:latin typeface="+mn-lt"/>
              <a:ea typeface="+mn-ea"/>
              <a:cs typeface="+mn-cs"/>
            </a:endParaRPr>
          </a:p>
          <a:p>
            <a:pPr marL="342900" lvl="0" indent="-342900">
              <a:spcAft>
                <a:spcPts val="800"/>
              </a:spcAft>
              <a:buFont typeface="+mj-lt"/>
              <a:buAutoNum type="arabicPeriod"/>
            </a:pPr>
            <a:r>
              <a:rPr lang="en-US" altLang="ko-KR" sz="1200" kern="1200" dirty="0">
                <a:solidFill>
                  <a:srgbClr val="FF0000"/>
                </a:solidFill>
                <a:effectLst/>
                <a:latin typeface="+mn-lt"/>
                <a:ea typeface="+mn-ea"/>
                <a:cs typeface="+mn-cs"/>
              </a:rPr>
              <a:t>Review the examples on the topics below:</a:t>
            </a:r>
            <a:br>
              <a:rPr lang="en-US" altLang="ko-KR" sz="1000" i="0" kern="1200" dirty="0">
                <a:solidFill>
                  <a:srgbClr val="FF0000"/>
                </a:solidFill>
                <a:effectLst/>
                <a:latin typeface="+mn-lt"/>
                <a:ea typeface="+mn-ea"/>
                <a:cs typeface="+mn-cs"/>
              </a:rPr>
            </a:br>
            <a:br>
              <a:rPr lang="en-US" altLang="ko-KR" sz="1000" i="0" kern="1200" dirty="0">
                <a:solidFill>
                  <a:srgbClr val="FF0000"/>
                </a:solidFill>
                <a:effectLst/>
                <a:latin typeface="+mn-lt"/>
                <a:ea typeface="+mn-ea"/>
                <a:cs typeface="+mn-cs"/>
              </a:rPr>
            </a:br>
            <a:r>
              <a:rPr lang="en-US" altLang="ko-KR" sz="1200" i="1" kern="1200" dirty="0">
                <a:solidFill>
                  <a:schemeClr val="tx1"/>
                </a:solidFill>
                <a:effectLst/>
                <a:latin typeface="+mn-lt"/>
                <a:ea typeface="+mn-ea"/>
                <a:cs typeface="+mn-cs"/>
              </a:rPr>
              <a:t>A. Linear regression and diagnostics.</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Load the 'Boston' dataset from </a:t>
            </a:r>
            <a:r>
              <a:rPr lang="en-US" altLang="ko-KR" sz="1200" i="1" kern="1200" dirty="0" err="1">
                <a:solidFill>
                  <a:schemeClr val="tx1"/>
                </a:solidFill>
                <a:effectLst/>
                <a:latin typeface="+mn-lt"/>
                <a:ea typeface="+mn-ea"/>
                <a:cs typeface="+mn-cs"/>
              </a:rPr>
              <a:t>scikit</a:t>
            </a:r>
            <a:r>
              <a:rPr lang="en-US" altLang="ko-KR" sz="1200" i="1" kern="1200" dirty="0">
                <a:solidFill>
                  <a:schemeClr val="tx1"/>
                </a:solidFill>
                <a:effectLst/>
                <a:latin typeface="+mn-lt"/>
                <a:ea typeface="+mn-ea"/>
                <a:cs typeface="+mn-cs"/>
              </a:rPr>
              <a:t>-learn.</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Convert the data into a </a:t>
            </a:r>
            <a:r>
              <a:rPr lang="en-US" altLang="ko-KR" sz="1200" i="1" kern="1200" dirty="0" err="1">
                <a:solidFill>
                  <a:schemeClr val="tx1"/>
                </a:solidFill>
                <a:effectLst/>
                <a:latin typeface="+mn-lt"/>
                <a:ea typeface="+mn-ea"/>
                <a:cs typeface="+mn-cs"/>
              </a:rPr>
              <a:t>DataFrame</a:t>
            </a:r>
            <a:r>
              <a:rPr lang="en-US" altLang="ko-KR" sz="1200" i="1" kern="1200" dirty="0">
                <a:solidFill>
                  <a:schemeClr val="tx1"/>
                </a:solidFill>
                <a:effectLst/>
                <a:latin typeface="+mn-lt"/>
                <a:ea typeface="+mn-ea"/>
                <a:cs typeface="+mn-cs"/>
              </a:rPr>
              <a:t> and then explore.</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iii. Train by linear regression.</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iv. Diagnostics.</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v. In-sample and out-of-sample testing.</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vi. Residual analysis.</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vii. Given a new set of values for the explanatory variables, predict the response.</a:t>
            </a:r>
          </a:p>
          <a:p>
            <a:pPr marL="342900" lvl="0" indent="-342900">
              <a:spcAft>
                <a:spcPts val="800"/>
              </a:spcAft>
              <a:buFont typeface="+mj-lt"/>
              <a:buAutoNum type="arabicPeriod"/>
            </a:pPr>
            <a:endParaRPr lang="en-US" altLang="ko-KR" sz="1200" i="1"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200" dirty="0">
                <a:solidFill>
                  <a:schemeClr val="tx1"/>
                </a:solidFill>
                <a:effectLst/>
                <a:latin typeface="+mn-lt"/>
                <a:ea typeface="+mn-ea"/>
                <a:cs typeface="+mn-cs"/>
              </a:rPr>
              <a:t>(Optional) Use the blank cell at the bottom to practice your own personal needs.</a:t>
            </a:r>
            <a:endParaRPr lang="ko-KR" altLang="ko-KR" sz="10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160</a:t>
            </a:fld>
            <a:endParaRPr lang="ko-KR" altLang="en-US" dirty="0"/>
          </a:p>
        </p:txBody>
      </p:sp>
    </p:spTree>
    <p:extLst>
      <p:ext uri="{BB962C8B-B14F-4D97-AF65-F5344CB8AC3E}">
        <p14:creationId xmlns:p14="http://schemas.microsoft.com/office/powerpoint/2010/main" val="3749728302"/>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latin typeface="Times New Roman" panose="02020603050405020304" pitchFamily="18" charset="0"/>
              </a:rPr>
              <a:t>WHAT THIS PRACTICE ABOUT</a:t>
            </a:r>
            <a:endParaRPr lang="ko-KR" altLang="en-US" dirty="0"/>
          </a:p>
          <a:p>
            <a:pPr latinLnBrk="1"/>
            <a:r>
              <a:rPr lang="en-US" altLang="ko-KR" sz="1200" kern="1200" dirty="0">
                <a:solidFill>
                  <a:schemeClr val="tx1"/>
                </a:solidFill>
                <a:effectLst/>
                <a:latin typeface="+mn-lt"/>
                <a:ea typeface="+mn-ea"/>
                <a:cs typeface="+mn-cs"/>
              </a:rPr>
              <a:t>In this practice, we will use the </a:t>
            </a:r>
            <a:r>
              <a:rPr lang="en-US" altLang="ko-KR" sz="1200" kern="1200" dirty="0" err="1">
                <a:solidFill>
                  <a:schemeClr val="tx1"/>
                </a:solidFill>
                <a:effectLst/>
                <a:latin typeface="+mn-lt"/>
                <a:ea typeface="+mn-ea"/>
                <a:cs typeface="+mn-cs"/>
              </a:rPr>
              <a:t>StatsModels</a:t>
            </a:r>
            <a:r>
              <a:rPr lang="en-US" altLang="ko-KR" sz="1200" kern="1200" dirty="0">
                <a:solidFill>
                  <a:schemeClr val="tx1"/>
                </a:solidFill>
                <a:effectLst/>
                <a:latin typeface="+mn-lt"/>
                <a:ea typeface="+mn-ea"/>
                <a:cs typeface="+mn-cs"/>
              </a:rPr>
              <a:t> library for modeling and diagnosing. We can use formulas similar in fashion to those in the R language.</a:t>
            </a:r>
          </a:p>
          <a:p>
            <a:pPr latinLnBrk="1"/>
            <a:r>
              <a:rPr lang="en-US" altLang="ko-KR" sz="1200" kern="1200" dirty="0">
                <a:solidFill>
                  <a:schemeClr val="tx1"/>
                </a:solidFill>
                <a:effectLst/>
                <a:latin typeface="+mn-lt"/>
                <a:ea typeface="+mn-ea"/>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Times New Roman" panose="02020603050405020304" pitchFamily="18" charset="0"/>
              </a:rPr>
              <a:t>PRACTICE INSTRUCTION</a:t>
            </a:r>
            <a:endParaRPr lang="ko-KR" altLang="ko-KR" sz="1000"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Start </a:t>
            </a:r>
            <a:r>
              <a:rPr lang="en-US" altLang="ko-KR" sz="1200" kern="100" dirty="0" err="1">
                <a:solidFill>
                  <a:srgbClr val="000000"/>
                </a:solidFill>
                <a:latin typeface="Times New Roman" panose="02020603050405020304" pitchFamily="18" charset="0"/>
                <a:cs typeface="Times New Roman" panose="02020603050405020304" pitchFamily="18" charset="0"/>
              </a:rPr>
              <a:t>Jupyter</a:t>
            </a:r>
            <a:r>
              <a:rPr lang="en-US" altLang="ko-KR" sz="1200" kern="100" dirty="0">
                <a:solidFill>
                  <a:srgbClr val="000000"/>
                </a:solidFill>
                <a:latin typeface="Times New Roman" panose="02020603050405020304" pitchFamily="18" charset="0"/>
                <a:cs typeface="Times New Roman" panose="02020603050405020304" pitchFamily="18" charset="0"/>
              </a:rPr>
              <a:t> Notebook. </a:t>
            </a:r>
          </a:p>
          <a:p>
            <a:pPr marL="342900" marR="0" lvl="0" indent="-342900" algn="l" defTabSz="914400" rtl="0" eaLnBrk="1" fontAlgn="auto" latinLnBrk="1" hangingPunct="1">
              <a:lnSpc>
                <a:spcPct val="100000"/>
              </a:lnSpc>
              <a:spcBef>
                <a:spcPts val="0"/>
              </a:spcBef>
              <a:spcAft>
                <a:spcPts val="800"/>
              </a:spcAft>
              <a:buClrTx/>
              <a:buSzTx/>
              <a:buFont typeface="+mj-lt"/>
              <a:buAutoNum type="arabicPeriod"/>
              <a:tabLst/>
              <a:defRPr/>
            </a:pPr>
            <a:r>
              <a:rPr lang="en-US" altLang="ko-KR" sz="1200" kern="1200" dirty="0">
                <a:solidFill>
                  <a:schemeClr val="tx1"/>
                </a:solidFill>
                <a:effectLst/>
                <a:latin typeface="+mn-lt"/>
                <a:ea typeface="+mn-ea"/>
                <a:cs typeface="+mn-cs"/>
              </a:rPr>
              <a:t>In </a:t>
            </a:r>
            <a:r>
              <a:rPr lang="en-US" altLang="ko-KR" sz="1200" kern="1200" dirty="0" err="1">
                <a:solidFill>
                  <a:schemeClr val="tx1"/>
                </a:solidFill>
                <a:effectLst/>
                <a:latin typeface="+mn-lt"/>
                <a:ea typeface="+mn-ea"/>
                <a:cs typeface="+mn-cs"/>
              </a:rPr>
              <a:t>Jupyter</a:t>
            </a:r>
            <a:r>
              <a:rPr lang="en-US" altLang="ko-KR" sz="1200" kern="1200" dirty="0">
                <a:solidFill>
                  <a:schemeClr val="tx1"/>
                </a:solidFill>
                <a:effectLst/>
                <a:latin typeface="+mn-lt"/>
                <a:ea typeface="+mn-ea"/>
                <a:cs typeface="+mn-cs"/>
              </a:rPr>
              <a:t> Notebook, click the </a:t>
            </a:r>
            <a:r>
              <a:rPr lang="en-US" altLang="ko-KR" sz="1200" b="1" kern="1200" dirty="0">
                <a:solidFill>
                  <a:schemeClr val="tx1"/>
                </a:solidFill>
                <a:effectLst/>
                <a:latin typeface="+mn-lt"/>
                <a:ea typeface="+mn-ea"/>
                <a:cs typeface="+mn-cs"/>
              </a:rPr>
              <a:t>ex_0303.ipynb</a:t>
            </a:r>
            <a:r>
              <a:rPr lang="en-US" altLang="ko-KR" sz="1200" kern="1200" dirty="0">
                <a:solidFill>
                  <a:schemeClr val="tx1"/>
                </a:solidFill>
                <a:effectLst/>
                <a:latin typeface="+mn-lt"/>
                <a:ea typeface="+mn-ea"/>
                <a:cs typeface="+mn-cs"/>
              </a:rPr>
              <a:t> files in the </a:t>
            </a:r>
            <a:r>
              <a:rPr lang="en-US" altLang="ko-KR" sz="1200" b="1" kern="1200" dirty="0">
                <a:solidFill>
                  <a:schemeClr val="tx1"/>
                </a:solidFill>
                <a:effectLst/>
                <a:latin typeface="+mn-lt"/>
                <a:ea typeface="+mn-ea"/>
                <a:cs typeface="+mn-cs"/>
              </a:rPr>
              <a:t>Coding Exercise</a:t>
            </a:r>
            <a:r>
              <a:rPr lang="en-US" altLang="ko-KR" sz="1200" kern="1200" dirty="0">
                <a:solidFill>
                  <a:schemeClr val="tx1"/>
                </a:solidFill>
                <a:effectLst/>
                <a:latin typeface="+mn-lt"/>
                <a:ea typeface="+mn-ea"/>
                <a:cs typeface="+mn-cs"/>
              </a:rPr>
              <a:t> folder.</a:t>
            </a:r>
            <a:endParaRPr lang="en-US" altLang="ko-KR" sz="1200" kern="1200" dirty="0">
              <a:solidFill>
                <a:srgbClr val="FF0000"/>
              </a:solidFill>
              <a:effectLst/>
              <a:latin typeface="+mn-lt"/>
              <a:ea typeface="+mn-ea"/>
              <a:cs typeface="+mn-cs"/>
            </a:endParaRPr>
          </a:p>
          <a:p>
            <a:pPr marL="342900" lvl="0" indent="-342900">
              <a:spcAft>
                <a:spcPts val="800"/>
              </a:spcAft>
              <a:buFont typeface="+mj-lt"/>
              <a:buAutoNum type="arabicPeriod"/>
            </a:pPr>
            <a:r>
              <a:rPr lang="en-US" altLang="ko-KR" sz="1200" kern="1200" dirty="0">
                <a:solidFill>
                  <a:srgbClr val="FF0000"/>
                </a:solidFill>
                <a:effectLst/>
                <a:latin typeface="+mn-lt"/>
                <a:ea typeface="+mn-ea"/>
                <a:cs typeface="+mn-cs"/>
              </a:rPr>
              <a:t>Review the examples on the topics below:</a:t>
            </a:r>
            <a:br>
              <a:rPr lang="en-US" altLang="ko-KR" sz="1000" i="0" kern="1200" dirty="0">
                <a:solidFill>
                  <a:srgbClr val="FF0000"/>
                </a:solidFill>
                <a:effectLst/>
                <a:latin typeface="+mn-lt"/>
                <a:ea typeface="+mn-ea"/>
                <a:cs typeface="+mn-cs"/>
              </a:rPr>
            </a:br>
            <a:br>
              <a:rPr lang="en-US" altLang="ko-KR" sz="1000" i="0" kern="1200" dirty="0">
                <a:solidFill>
                  <a:srgbClr val="FF0000"/>
                </a:solidFill>
                <a:effectLst/>
                <a:latin typeface="+mn-lt"/>
                <a:ea typeface="+mn-ea"/>
                <a:cs typeface="+mn-cs"/>
              </a:rPr>
            </a:br>
            <a:r>
              <a:rPr lang="en-US" altLang="ko-KR" sz="1200" i="1" kern="1200" dirty="0">
                <a:solidFill>
                  <a:schemeClr val="tx1"/>
                </a:solidFill>
                <a:effectLst/>
                <a:latin typeface="+mn-lt"/>
                <a:ea typeface="+mn-ea"/>
                <a:cs typeface="+mn-cs"/>
              </a:rPr>
              <a:t>A. Linear regression diagnostics and modeling using </a:t>
            </a:r>
            <a:r>
              <a:rPr lang="en-US" altLang="ko-KR" sz="1200" i="1" kern="1200" dirty="0" err="1">
                <a:solidFill>
                  <a:schemeClr val="tx1"/>
                </a:solidFill>
                <a:effectLst/>
                <a:latin typeface="+mn-lt"/>
                <a:ea typeface="+mn-ea"/>
                <a:cs typeface="+mn-cs"/>
              </a:rPr>
              <a:t>StatsModels</a:t>
            </a:r>
            <a:r>
              <a:rPr lang="en-US" altLang="ko-KR" sz="1200" i="1" kern="1200" dirty="0">
                <a:solidFill>
                  <a:schemeClr val="tx1"/>
                </a:solidFill>
                <a:effectLst/>
                <a:latin typeface="+mn-lt"/>
                <a:ea typeface="+mn-ea"/>
                <a:cs typeface="+mn-cs"/>
              </a:rPr>
              <a:t> library.</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Load the 'Boston' dataset from </a:t>
            </a:r>
            <a:r>
              <a:rPr lang="en-US" altLang="ko-KR" sz="1200" i="1" kern="1200" dirty="0" err="1">
                <a:solidFill>
                  <a:schemeClr val="tx1"/>
                </a:solidFill>
                <a:effectLst/>
                <a:latin typeface="+mn-lt"/>
                <a:ea typeface="+mn-ea"/>
                <a:cs typeface="+mn-cs"/>
              </a:rPr>
              <a:t>scikit</a:t>
            </a:r>
            <a:r>
              <a:rPr lang="en-US" altLang="ko-KR" sz="1200" i="1" kern="1200" dirty="0">
                <a:solidFill>
                  <a:schemeClr val="tx1"/>
                </a:solidFill>
                <a:effectLst/>
                <a:latin typeface="+mn-lt"/>
                <a:ea typeface="+mn-ea"/>
                <a:cs typeface="+mn-cs"/>
              </a:rPr>
              <a:t>-learn and convert it into a </a:t>
            </a:r>
            <a:r>
              <a:rPr lang="en-US" altLang="ko-KR" sz="1200" i="1" kern="1200" dirty="0" err="1">
                <a:solidFill>
                  <a:schemeClr val="tx1"/>
                </a:solidFill>
                <a:effectLst/>
                <a:latin typeface="+mn-lt"/>
                <a:ea typeface="+mn-ea"/>
                <a:cs typeface="+mn-cs"/>
              </a:rPr>
              <a:t>DataFrame</a:t>
            </a:r>
            <a:r>
              <a:rPr lang="en-US" altLang="ko-KR" sz="1200" i="1" kern="1200" dirty="0">
                <a:solidFill>
                  <a:schemeClr val="tx1"/>
                </a:solidFill>
                <a:effectLst/>
                <a:latin typeface="+mn-lt"/>
                <a:ea typeface="+mn-ea"/>
                <a:cs typeface="+mn-cs"/>
              </a:rPr>
              <a:t>.</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Linear modeling using R-styled formula.</a:t>
            </a:r>
          </a:p>
          <a:p>
            <a:pPr marL="342900" lvl="0" indent="-342900">
              <a:spcAft>
                <a:spcPts val="800"/>
              </a:spcAft>
              <a:buFont typeface="+mj-lt"/>
              <a:buAutoNum type="arabicPeriod"/>
            </a:pPr>
            <a:endParaRPr lang="en-US" altLang="ko-KR" sz="1200" i="1"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200" dirty="0">
                <a:solidFill>
                  <a:schemeClr val="tx1"/>
                </a:solidFill>
                <a:effectLst/>
                <a:latin typeface="+mn-lt"/>
                <a:ea typeface="+mn-ea"/>
                <a:cs typeface="+mn-cs"/>
              </a:rPr>
              <a:t>(Optional) Use the blank cell at the bottom to practice your own personal needs.</a:t>
            </a:r>
            <a:endParaRPr lang="ko-KR" altLang="ko-KR" sz="10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161</a:t>
            </a:fld>
            <a:endParaRPr lang="ko-KR" altLang="en-US" dirty="0"/>
          </a:p>
        </p:txBody>
      </p:sp>
    </p:spTree>
    <p:extLst>
      <p:ext uri="{BB962C8B-B14F-4D97-AF65-F5344CB8AC3E}">
        <p14:creationId xmlns:p14="http://schemas.microsoft.com/office/powerpoint/2010/main" val="82943082"/>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latin typeface="Times New Roman" panose="02020603050405020304" pitchFamily="18" charset="0"/>
              </a:rPr>
              <a:t>WHAT THIS PRACTICE ABOUT</a:t>
            </a:r>
            <a:endParaRPr lang="ko-KR" altLang="en-US" dirty="0"/>
          </a:p>
          <a:p>
            <a:pPr latinLnBrk="1"/>
            <a:r>
              <a:rPr lang="en-US" altLang="ko-KR" sz="1200" kern="1200" dirty="0">
                <a:solidFill>
                  <a:schemeClr val="tx1"/>
                </a:solidFill>
                <a:effectLst/>
                <a:latin typeface="+mn-lt"/>
                <a:ea typeface="+mn-ea"/>
                <a:cs typeface="+mn-cs"/>
              </a:rPr>
              <a:t>In this practice, we go through an example of confidence interval calculation for the true values of the response variable.</a:t>
            </a:r>
          </a:p>
          <a:p>
            <a:pPr latinLnBrk="1"/>
            <a:r>
              <a:rPr lang="en-US" altLang="ko-KR" sz="1200" kern="1200" dirty="0">
                <a:solidFill>
                  <a:schemeClr val="tx1"/>
                </a:solidFill>
                <a:effectLst/>
                <a:latin typeface="+mn-lt"/>
                <a:ea typeface="+mn-ea"/>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Times New Roman" panose="02020603050405020304" pitchFamily="18" charset="0"/>
              </a:rPr>
              <a:t>PRACTICE INSTRUCTION</a:t>
            </a:r>
            <a:endParaRPr lang="ko-KR" altLang="ko-KR" sz="1000"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Start </a:t>
            </a:r>
            <a:r>
              <a:rPr lang="en-US" altLang="ko-KR" sz="1200" kern="100" dirty="0" err="1">
                <a:solidFill>
                  <a:srgbClr val="000000"/>
                </a:solidFill>
                <a:latin typeface="Times New Roman" panose="02020603050405020304" pitchFamily="18" charset="0"/>
                <a:cs typeface="Times New Roman" panose="02020603050405020304" pitchFamily="18" charset="0"/>
              </a:rPr>
              <a:t>Jupyter</a:t>
            </a:r>
            <a:r>
              <a:rPr lang="en-US" altLang="ko-KR" sz="1200" kern="100" dirty="0">
                <a:solidFill>
                  <a:srgbClr val="000000"/>
                </a:solidFill>
                <a:latin typeface="Times New Roman" panose="02020603050405020304" pitchFamily="18" charset="0"/>
                <a:cs typeface="Times New Roman" panose="02020603050405020304" pitchFamily="18" charset="0"/>
              </a:rPr>
              <a:t> Notebook. </a:t>
            </a:r>
          </a:p>
          <a:p>
            <a:pPr marL="342900" marR="0" lvl="0" indent="-342900" algn="l" defTabSz="914400" rtl="0" eaLnBrk="1" fontAlgn="auto" latinLnBrk="1" hangingPunct="1">
              <a:lnSpc>
                <a:spcPct val="100000"/>
              </a:lnSpc>
              <a:spcBef>
                <a:spcPts val="0"/>
              </a:spcBef>
              <a:spcAft>
                <a:spcPts val="800"/>
              </a:spcAft>
              <a:buClrTx/>
              <a:buSzTx/>
              <a:buFont typeface="+mj-lt"/>
              <a:buAutoNum type="arabicPeriod"/>
              <a:tabLst/>
              <a:defRPr/>
            </a:pPr>
            <a:r>
              <a:rPr lang="en-US" altLang="ko-KR" sz="1200" kern="1200" dirty="0">
                <a:solidFill>
                  <a:schemeClr val="tx1"/>
                </a:solidFill>
                <a:effectLst/>
                <a:latin typeface="+mn-lt"/>
                <a:ea typeface="+mn-ea"/>
                <a:cs typeface="+mn-cs"/>
              </a:rPr>
              <a:t>In </a:t>
            </a:r>
            <a:r>
              <a:rPr lang="en-US" altLang="ko-KR" sz="1200" kern="1200" dirty="0" err="1">
                <a:solidFill>
                  <a:schemeClr val="tx1"/>
                </a:solidFill>
                <a:effectLst/>
                <a:latin typeface="+mn-lt"/>
                <a:ea typeface="+mn-ea"/>
                <a:cs typeface="+mn-cs"/>
              </a:rPr>
              <a:t>Jupyter</a:t>
            </a:r>
            <a:r>
              <a:rPr lang="en-US" altLang="ko-KR" sz="1200" kern="1200" dirty="0">
                <a:solidFill>
                  <a:schemeClr val="tx1"/>
                </a:solidFill>
                <a:effectLst/>
                <a:latin typeface="+mn-lt"/>
                <a:ea typeface="+mn-ea"/>
                <a:cs typeface="+mn-cs"/>
              </a:rPr>
              <a:t> Notebook, click the </a:t>
            </a:r>
            <a:r>
              <a:rPr lang="en-US" altLang="ko-KR" sz="1200" b="1" kern="1200" dirty="0">
                <a:solidFill>
                  <a:schemeClr val="tx1"/>
                </a:solidFill>
                <a:effectLst/>
                <a:latin typeface="+mn-lt"/>
                <a:ea typeface="+mn-ea"/>
                <a:cs typeface="+mn-cs"/>
              </a:rPr>
              <a:t>ex_0304.ipynb</a:t>
            </a:r>
            <a:r>
              <a:rPr lang="en-US" altLang="ko-KR" sz="1200" kern="1200" dirty="0">
                <a:solidFill>
                  <a:schemeClr val="tx1"/>
                </a:solidFill>
                <a:effectLst/>
                <a:latin typeface="+mn-lt"/>
                <a:ea typeface="+mn-ea"/>
                <a:cs typeface="+mn-cs"/>
              </a:rPr>
              <a:t> files in the </a:t>
            </a:r>
            <a:r>
              <a:rPr lang="en-US" altLang="ko-KR" sz="1200" b="1" kern="1200" dirty="0">
                <a:solidFill>
                  <a:schemeClr val="tx1"/>
                </a:solidFill>
                <a:effectLst/>
                <a:latin typeface="+mn-lt"/>
                <a:ea typeface="+mn-ea"/>
                <a:cs typeface="+mn-cs"/>
              </a:rPr>
              <a:t>Coding Exercise</a:t>
            </a:r>
            <a:r>
              <a:rPr lang="en-US" altLang="ko-KR" sz="1200" kern="1200" dirty="0">
                <a:solidFill>
                  <a:schemeClr val="tx1"/>
                </a:solidFill>
                <a:effectLst/>
                <a:latin typeface="+mn-lt"/>
                <a:ea typeface="+mn-ea"/>
                <a:cs typeface="+mn-cs"/>
              </a:rPr>
              <a:t> folder.</a:t>
            </a:r>
            <a:endParaRPr lang="en-US" altLang="ko-KR" sz="1200" kern="1200" dirty="0">
              <a:solidFill>
                <a:srgbClr val="FF0000"/>
              </a:solidFill>
              <a:effectLst/>
              <a:latin typeface="+mn-lt"/>
              <a:ea typeface="+mn-ea"/>
              <a:cs typeface="+mn-cs"/>
            </a:endParaRPr>
          </a:p>
          <a:p>
            <a:pPr marL="342900" lvl="0" indent="-342900">
              <a:spcAft>
                <a:spcPts val="800"/>
              </a:spcAft>
              <a:buFont typeface="+mj-lt"/>
              <a:buAutoNum type="arabicPeriod"/>
            </a:pPr>
            <a:r>
              <a:rPr lang="en-US" altLang="ko-KR" sz="1200" kern="1200" dirty="0">
                <a:solidFill>
                  <a:srgbClr val="FF0000"/>
                </a:solidFill>
                <a:effectLst/>
                <a:latin typeface="+mn-lt"/>
                <a:ea typeface="+mn-ea"/>
                <a:cs typeface="+mn-cs"/>
              </a:rPr>
              <a:t>Review the examples on the topics below:</a:t>
            </a:r>
            <a:br>
              <a:rPr lang="en-US" altLang="ko-KR" sz="1000" i="0" kern="1200" dirty="0">
                <a:solidFill>
                  <a:srgbClr val="FF0000"/>
                </a:solidFill>
                <a:effectLst/>
                <a:latin typeface="+mn-lt"/>
                <a:ea typeface="+mn-ea"/>
                <a:cs typeface="+mn-cs"/>
              </a:rPr>
            </a:br>
            <a:br>
              <a:rPr lang="en-US" altLang="ko-KR" sz="1000" i="0" kern="1200" dirty="0">
                <a:solidFill>
                  <a:srgbClr val="FF0000"/>
                </a:solidFill>
                <a:effectLst/>
                <a:latin typeface="+mn-lt"/>
                <a:ea typeface="+mn-ea"/>
                <a:cs typeface="+mn-cs"/>
              </a:rPr>
            </a:br>
            <a:r>
              <a:rPr lang="en-US" altLang="ko-KR" sz="1200" i="1" kern="1200" dirty="0">
                <a:solidFill>
                  <a:schemeClr val="tx1"/>
                </a:solidFill>
                <a:effectLst/>
                <a:latin typeface="+mn-lt"/>
                <a:ea typeface="+mn-ea"/>
                <a:cs typeface="+mn-cs"/>
              </a:rPr>
              <a:t>A. Linear regression prediction and confidence interval.</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Data.</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Training.</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iii. Confidence interval and visualization.</a:t>
            </a:r>
          </a:p>
          <a:p>
            <a:pPr marL="342900" lvl="0" indent="-342900">
              <a:spcAft>
                <a:spcPts val="800"/>
              </a:spcAft>
              <a:buFont typeface="+mj-lt"/>
              <a:buAutoNum type="arabicPeriod"/>
            </a:pPr>
            <a:endParaRPr lang="en-US" altLang="ko-KR" sz="1200" i="1"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200" dirty="0">
                <a:solidFill>
                  <a:schemeClr val="tx1"/>
                </a:solidFill>
                <a:effectLst/>
                <a:latin typeface="+mn-lt"/>
                <a:ea typeface="+mn-ea"/>
                <a:cs typeface="+mn-cs"/>
              </a:rPr>
              <a:t>(Optional) Use the blank cell at the bottom to practice your own personal needs.</a:t>
            </a:r>
            <a:endParaRPr lang="ko-KR" altLang="ko-KR" sz="10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162</a:t>
            </a:fld>
            <a:endParaRPr lang="ko-KR" altLang="en-US" dirty="0"/>
          </a:p>
        </p:txBody>
      </p:sp>
    </p:spTree>
    <p:extLst>
      <p:ext uri="{BB962C8B-B14F-4D97-AF65-F5344CB8AC3E}">
        <p14:creationId xmlns:p14="http://schemas.microsoft.com/office/powerpoint/2010/main" val="1811725082"/>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latin typeface="Times New Roman" panose="02020603050405020304" pitchFamily="18" charset="0"/>
              </a:rPr>
              <a:t>WHAT THIS PRACTICE ABOUT</a:t>
            </a:r>
            <a:endParaRPr lang="ko-KR" altLang="en-US" dirty="0"/>
          </a:p>
          <a:p>
            <a:pPr latinLnBrk="1"/>
            <a:r>
              <a:rPr lang="en-US" altLang="ko-KR" sz="1200" kern="1200" dirty="0">
                <a:solidFill>
                  <a:schemeClr val="tx1"/>
                </a:solidFill>
                <a:effectLst/>
                <a:latin typeface="+mn-lt"/>
                <a:ea typeface="+mn-ea"/>
                <a:cs typeface="+mn-cs"/>
              </a:rPr>
              <a:t>In this practice, we learn how to convert a categorical variable into dummy variables. We will see that dummy variables can interact with other variables further improving the diagnostic metrics.</a:t>
            </a:r>
          </a:p>
          <a:p>
            <a:pPr latinLnBrk="1"/>
            <a:r>
              <a:rPr lang="en-US" altLang="ko-KR" sz="1200" kern="1200" dirty="0">
                <a:solidFill>
                  <a:schemeClr val="tx1"/>
                </a:solidFill>
                <a:effectLst/>
                <a:latin typeface="+mn-lt"/>
                <a:ea typeface="+mn-ea"/>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Times New Roman" panose="02020603050405020304" pitchFamily="18" charset="0"/>
              </a:rPr>
              <a:t>PRACTICE INSTRUCTION</a:t>
            </a:r>
            <a:endParaRPr lang="ko-KR" altLang="ko-KR" sz="1000"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Start </a:t>
            </a:r>
            <a:r>
              <a:rPr lang="en-US" altLang="ko-KR" sz="1200" kern="100" dirty="0" err="1">
                <a:solidFill>
                  <a:srgbClr val="000000"/>
                </a:solidFill>
                <a:latin typeface="Times New Roman" panose="02020603050405020304" pitchFamily="18" charset="0"/>
                <a:cs typeface="Times New Roman" panose="02020603050405020304" pitchFamily="18" charset="0"/>
              </a:rPr>
              <a:t>Jupyter</a:t>
            </a:r>
            <a:r>
              <a:rPr lang="en-US" altLang="ko-KR" sz="1200" kern="100" dirty="0">
                <a:solidFill>
                  <a:srgbClr val="000000"/>
                </a:solidFill>
                <a:latin typeface="Times New Roman" panose="02020603050405020304" pitchFamily="18" charset="0"/>
                <a:cs typeface="Times New Roman" panose="02020603050405020304" pitchFamily="18" charset="0"/>
              </a:rPr>
              <a:t> Notebook. </a:t>
            </a:r>
          </a:p>
          <a:p>
            <a:pPr marL="342900" marR="0" lvl="0" indent="-342900" algn="l" defTabSz="914400" rtl="0" eaLnBrk="1" fontAlgn="auto" latinLnBrk="1" hangingPunct="1">
              <a:lnSpc>
                <a:spcPct val="100000"/>
              </a:lnSpc>
              <a:spcBef>
                <a:spcPts val="0"/>
              </a:spcBef>
              <a:spcAft>
                <a:spcPts val="800"/>
              </a:spcAft>
              <a:buClrTx/>
              <a:buSzTx/>
              <a:buFont typeface="+mj-lt"/>
              <a:buAutoNum type="arabicPeriod"/>
              <a:tabLst/>
              <a:defRPr/>
            </a:pPr>
            <a:r>
              <a:rPr lang="en-US" altLang="ko-KR" sz="1200" kern="1200" dirty="0">
                <a:solidFill>
                  <a:schemeClr val="tx1"/>
                </a:solidFill>
                <a:effectLst/>
                <a:latin typeface="+mn-lt"/>
                <a:ea typeface="+mn-ea"/>
                <a:cs typeface="+mn-cs"/>
              </a:rPr>
              <a:t>In </a:t>
            </a:r>
            <a:r>
              <a:rPr lang="en-US" altLang="ko-KR" sz="1200" kern="1200" dirty="0" err="1">
                <a:solidFill>
                  <a:schemeClr val="tx1"/>
                </a:solidFill>
                <a:effectLst/>
                <a:latin typeface="+mn-lt"/>
                <a:ea typeface="+mn-ea"/>
                <a:cs typeface="+mn-cs"/>
              </a:rPr>
              <a:t>Jupyter</a:t>
            </a:r>
            <a:r>
              <a:rPr lang="en-US" altLang="ko-KR" sz="1200" kern="1200" dirty="0">
                <a:solidFill>
                  <a:schemeClr val="tx1"/>
                </a:solidFill>
                <a:effectLst/>
                <a:latin typeface="+mn-lt"/>
                <a:ea typeface="+mn-ea"/>
                <a:cs typeface="+mn-cs"/>
              </a:rPr>
              <a:t> Notebook, click the </a:t>
            </a:r>
            <a:r>
              <a:rPr lang="en-US" altLang="ko-KR" sz="1200" b="1" kern="1200" dirty="0">
                <a:solidFill>
                  <a:schemeClr val="tx1"/>
                </a:solidFill>
                <a:effectLst/>
                <a:latin typeface="+mn-lt"/>
                <a:ea typeface="+mn-ea"/>
                <a:cs typeface="+mn-cs"/>
              </a:rPr>
              <a:t>ex_0305.ipynb</a:t>
            </a:r>
            <a:r>
              <a:rPr lang="en-US" altLang="ko-KR" sz="1200" kern="1200" dirty="0">
                <a:solidFill>
                  <a:schemeClr val="tx1"/>
                </a:solidFill>
                <a:effectLst/>
                <a:latin typeface="+mn-lt"/>
                <a:ea typeface="+mn-ea"/>
                <a:cs typeface="+mn-cs"/>
              </a:rPr>
              <a:t> files in the </a:t>
            </a:r>
            <a:r>
              <a:rPr lang="en-US" altLang="ko-KR" sz="1200" b="1" kern="1200" dirty="0">
                <a:solidFill>
                  <a:schemeClr val="tx1"/>
                </a:solidFill>
                <a:effectLst/>
                <a:latin typeface="+mn-lt"/>
                <a:ea typeface="+mn-ea"/>
                <a:cs typeface="+mn-cs"/>
              </a:rPr>
              <a:t>Coding Exercise</a:t>
            </a:r>
            <a:r>
              <a:rPr lang="en-US" altLang="ko-KR" sz="1200" kern="1200" dirty="0">
                <a:solidFill>
                  <a:schemeClr val="tx1"/>
                </a:solidFill>
                <a:effectLst/>
                <a:latin typeface="+mn-lt"/>
                <a:ea typeface="+mn-ea"/>
                <a:cs typeface="+mn-cs"/>
              </a:rPr>
              <a:t> folder.</a:t>
            </a:r>
            <a:endParaRPr lang="en-US" altLang="ko-KR" sz="1200" kern="1200" dirty="0">
              <a:solidFill>
                <a:srgbClr val="FF0000"/>
              </a:solidFill>
              <a:effectLst/>
              <a:latin typeface="+mn-lt"/>
              <a:ea typeface="+mn-ea"/>
              <a:cs typeface="+mn-cs"/>
            </a:endParaRPr>
          </a:p>
          <a:p>
            <a:pPr marL="342900" lvl="0" indent="-342900">
              <a:spcAft>
                <a:spcPts val="800"/>
              </a:spcAft>
              <a:buFont typeface="+mj-lt"/>
              <a:buAutoNum type="arabicPeriod"/>
            </a:pPr>
            <a:r>
              <a:rPr lang="en-US" altLang="ko-KR" sz="1200" kern="1200" dirty="0">
                <a:solidFill>
                  <a:srgbClr val="FF0000"/>
                </a:solidFill>
                <a:effectLst/>
                <a:latin typeface="+mn-lt"/>
                <a:ea typeface="+mn-ea"/>
                <a:cs typeface="+mn-cs"/>
              </a:rPr>
              <a:t>Review the examples on the topics below:</a:t>
            </a:r>
            <a:br>
              <a:rPr lang="en-US" altLang="ko-KR" sz="1000" i="0" kern="1200" dirty="0">
                <a:solidFill>
                  <a:srgbClr val="FF0000"/>
                </a:solidFill>
                <a:effectLst/>
                <a:latin typeface="+mn-lt"/>
                <a:ea typeface="+mn-ea"/>
                <a:cs typeface="+mn-cs"/>
              </a:rPr>
            </a:br>
            <a:br>
              <a:rPr lang="en-US" altLang="ko-KR" sz="1000" i="0" kern="1200" dirty="0">
                <a:solidFill>
                  <a:srgbClr val="FF0000"/>
                </a:solidFill>
                <a:effectLst/>
                <a:latin typeface="+mn-lt"/>
                <a:ea typeface="+mn-ea"/>
                <a:cs typeface="+mn-cs"/>
              </a:rPr>
            </a:br>
            <a:r>
              <a:rPr lang="en-US" altLang="ko-KR" sz="1200" i="1" kern="1200" dirty="0">
                <a:solidFill>
                  <a:schemeClr val="tx1"/>
                </a:solidFill>
                <a:effectLst/>
                <a:latin typeface="+mn-lt"/>
                <a:ea typeface="+mn-ea"/>
                <a:cs typeface="+mn-cs"/>
              </a:rPr>
              <a:t>A. Dummy variable and interaction.</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Read in the data.</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Linear regression without dummy variable.</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iii. Linear regression with dummy variable.</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iv. Linear regression with dummy variable that interacts.</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v. Compare </a:t>
            </a:r>
            <a:r>
              <a:rPr lang="ko-KR" altLang="en-US" sz="1200" i="1" kern="1200" dirty="0">
                <a:solidFill>
                  <a:schemeClr val="tx1"/>
                </a:solidFill>
                <a:effectLst/>
                <a:latin typeface="+mn-lt"/>
                <a:ea typeface="+mn-ea"/>
                <a:cs typeface="+mn-cs"/>
              </a:rPr>
              <a:t>𝑅</a:t>
            </a:r>
            <a:r>
              <a:rPr lang="en-US" altLang="ko-KR" sz="1200" i="1" kern="1200" dirty="0">
                <a:solidFill>
                  <a:schemeClr val="tx1"/>
                </a:solidFill>
                <a:effectLst/>
                <a:latin typeface="+mn-lt"/>
                <a:ea typeface="+mn-ea"/>
                <a:cs typeface="+mn-cs"/>
              </a:rPr>
              <a:t>2 , RMSE for the different cases.</a:t>
            </a:r>
          </a:p>
          <a:p>
            <a:pPr marL="342900" lvl="0" indent="-342900">
              <a:spcAft>
                <a:spcPts val="800"/>
              </a:spcAft>
              <a:buFont typeface="+mj-lt"/>
              <a:buAutoNum type="arabicPeriod"/>
            </a:pPr>
            <a:endParaRPr lang="en-US" altLang="ko-KR" sz="1200" i="1"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200" dirty="0">
                <a:solidFill>
                  <a:schemeClr val="tx1"/>
                </a:solidFill>
                <a:effectLst/>
                <a:latin typeface="+mn-lt"/>
                <a:ea typeface="+mn-ea"/>
                <a:cs typeface="+mn-cs"/>
              </a:rPr>
              <a:t>(Optional) Use the blank cell at the bottom to practice your own personal needs.</a:t>
            </a:r>
            <a:endParaRPr lang="ko-KR" altLang="ko-KR" sz="10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163</a:t>
            </a:fld>
            <a:endParaRPr lang="ko-KR" altLang="en-US" dirty="0"/>
          </a:p>
        </p:txBody>
      </p:sp>
    </p:spTree>
    <p:extLst>
      <p:ext uri="{BB962C8B-B14F-4D97-AF65-F5344CB8AC3E}">
        <p14:creationId xmlns:p14="http://schemas.microsoft.com/office/powerpoint/2010/main" val="3404781436"/>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latin typeface="Times New Roman" panose="02020603050405020304" pitchFamily="18" charset="0"/>
                  </a:rPr>
                  <a:t>WHAT THIS PRACTICE ABOUT</a:t>
                </a:r>
                <a:endParaRPr lang="ko-KR" altLang="en-US" dirty="0"/>
              </a:p>
              <a:p>
                <a:pPr latinLnBrk="1"/>
                <a:r>
                  <a:rPr lang="en-US" altLang="ko-KR" sz="1200" kern="1200" dirty="0">
                    <a:solidFill>
                      <a:schemeClr val="tx1"/>
                    </a:solidFill>
                    <a:effectLst/>
                    <a:latin typeface="+mn-lt"/>
                    <a:ea typeface="+mn-ea"/>
                    <a:cs typeface="+mn-cs"/>
                  </a:rPr>
                  <a:t>In this practice, we apply regularized regression algorithms such as Ridge and Lasso. We tune the hyperparameter lambda (</a:t>
                </a:r>
                <a14:m>
                  <m:oMath xmlns:m="http://schemas.openxmlformats.org/officeDocument/2006/math">
                    <m:r>
                      <m:rPr>
                        <m:sty m:val="p"/>
                      </m:rPr>
                      <a:rPr lang="en-US" altLang="ko-KR" sz="1200" kern="1200">
                        <a:solidFill>
                          <a:schemeClr val="tx1"/>
                        </a:solidFill>
                        <a:effectLst/>
                        <a:latin typeface="Cambria Math" panose="02040503050406030204" pitchFamily="18" charset="0"/>
                        <a:ea typeface="+mn-ea"/>
                        <a:cs typeface="+mn-cs"/>
                      </a:rPr>
                      <m:t>λ</m:t>
                    </m:r>
                  </m:oMath>
                </a14:m>
                <a:r>
                  <a:rPr lang="en-US" altLang="ko-KR" sz="1200" kern="1200" dirty="0">
                    <a:solidFill>
                      <a:schemeClr val="tx1"/>
                    </a:solidFill>
                    <a:effectLst/>
                    <a:latin typeface="+mn-lt"/>
                    <a:ea typeface="+mn-ea"/>
                    <a:cs typeface="+mn-cs"/>
                  </a:rPr>
                  <a:t>) and interpret the results.</a:t>
                </a:r>
              </a:p>
              <a:p>
                <a:pPr latinLnBrk="1"/>
                <a:r>
                  <a:rPr lang="en-US" altLang="ko-KR" sz="1200" kern="1200" dirty="0">
                    <a:solidFill>
                      <a:schemeClr val="tx1"/>
                    </a:solidFill>
                    <a:effectLst/>
                    <a:latin typeface="+mn-lt"/>
                    <a:ea typeface="+mn-ea"/>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Times New Roman" panose="02020603050405020304" pitchFamily="18" charset="0"/>
                  </a:rPr>
                  <a:t>PRACTICE INSTRUCTION</a:t>
                </a:r>
                <a:endParaRPr lang="ko-KR" altLang="ko-KR" sz="1000"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Start Jupyter Notebook. </a:t>
                </a:r>
              </a:p>
              <a:p>
                <a:pPr marL="342900" marR="0" lvl="0" indent="-342900" algn="l" defTabSz="914400" rtl="0" eaLnBrk="1" fontAlgn="auto" latinLnBrk="1" hangingPunct="1">
                  <a:lnSpc>
                    <a:spcPct val="100000"/>
                  </a:lnSpc>
                  <a:spcBef>
                    <a:spcPts val="0"/>
                  </a:spcBef>
                  <a:spcAft>
                    <a:spcPts val="800"/>
                  </a:spcAft>
                  <a:buClrTx/>
                  <a:buSzTx/>
                  <a:buFont typeface="+mj-lt"/>
                  <a:buAutoNum type="arabicPeriod"/>
                  <a:tabLst/>
                  <a:defRPr/>
                </a:pPr>
                <a:r>
                  <a:rPr lang="en-US" altLang="ko-KR" sz="1200" kern="1200" dirty="0">
                    <a:solidFill>
                      <a:schemeClr val="tx1"/>
                    </a:solidFill>
                    <a:effectLst/>
                    <a:latin typeface="+mn-lt"/>
                    <a:ea typeface="+mn-ea"/>
                    <a:cs typeface="+mn-cs"/>
                  </a:rPr>
                  <a:t>In Jupyter Notebook, click the </a:t>
                </a:r>
                <a:r>
                  <a:rPr lang="en-US" altLang="ko-KR" sz="1200" b="1" kern="1200" dirty="0">
                    <a:solidFill>
                      <a:schemeClr val="tx1"/>
                    </a:solidFill>
                    <a:effectLst/>
                    <a:latin typeface="+mn-lt"/>
                    <a:ea typeface="+mn-ea"/>
                    <a:cs typeface="+mn-cs"/>
                  </a:rPr>
                  <a:t>ex_0306.ipynb</a:t>
                </a:r>
                <a:r>
                  <a:rPr lang="en-US" altLang="ko-KR" sz="1200" kern="1200" dirty="0">
                    <a:solidFill>
                      <a:schemeClr val="tx1"/>
                    </a:solidFill>
                    <a:effectLst/>
                    <a:latin typeface="+mn-lt"/>
                    <a:ea typeface="+mn-ea"/>
                    <a:cs typeface="+mn-cs"/>
                  </a:rPr>
                  <a:t> files in the </a:t>
                </a:r>
                <a:r>
                  <a:rPr lang="en-US" altLang="ko-KR" sz="1200" b="1" kern="1200" dirty="0">
                    <a:solidFill>
                      <a:schemeClr val="tx1"/>
                    </a:solidFill>
                    <a:effectLst/>
                    <a:latin typeface="+mn-lt"/>
                    <a:ea typeface="+mn-ea"/>
                    <a:cs typeface="+mn-cs"/>
                  </a:rPr>
                  <a:t>Coding Exercise</a:t>
                </a:r>
                <a:r>
                  <a:rPr lang="en-US" altLang="ko-KR" sz="1200" kern="1200" dirty="0">
                    <a:solidFill>
                      <a:schemeClr val="tx1"/>
                    </a:solidFill>
                    <a:effectLst/>
                    <a:latin typeface="+mn-lt"/>
                    <a:ea typeface="+mn-ea"/>
                    <a:cs typeface="+mn-cs"/>
                  </a:rPr>
                  <a:t> folder.</a:t>
                </a:r>
                <a:endParaRPr lang="en-US" altLang="ko-KR" sz="1200" kern="1200" dirty="0">
                  <a:solidFill>
                    <a:srgbClr val="FF0000"/>
                  </a:solidFill>
                  <a:effectLst/>
                  <a:latin typeface="+mn-lt"/>
                  <a:ea typeface="+mn-ea"/>
                  <a:cs typeface="+mn-cs"/>
                </a:endParaRPr>
              </a:p>
              <a:p>
                <a:pPr marL="342900" lvl="0" indent="-342900">
                  <a:spcAft>
                    <a:spcPts val="800"/>
                  </a:spcAft>
                  <a:buFont typeface="+mj-lt"/>
                  <a:buAutoNum type="arabicPeriod"/>
                </a:pPr>
                <a:r>
                  <a:rPr lang="en-US" altLang="ko-KR" sz="1200" kern="1200" dirty="0">
                    <a:solidFill>
                      <a:srgbClr val="FF0000"/>
                    </a:solidFill>
                    <a:effectLst/>
                    <a:latin typeface="+mn-lt"/>
                    <a:ea typeface="+mn-ea"/>
                    <a:cs typeface="+mn-cs"/>
                  </a:rPr>
                  <a:t>Review the examples on the topics below:</a:t>
                </a:r>
                <a:br>
                  <a:rPr lang="en-US" altLang="ko-KR" sz="1000" i="0" kern="1200" dirty="0">
                    <a:solidFill>
                      <a:srgbClr val="FF0000"/>
                    </a:solidFill>
                    <a:effectLst/>
                    <a:latin typeface="+mn-lt"/>
                    <a:ea typeface="+mn-ea"/>
                    <a:cs typeface="+mn-cs"/>
                  </a:rPr>
                </a:br>
                <a:br>
                  <a:rPr lang="en-US" altLang="ko-KR" sz="1000" i="0" kern="1200" dirty="0">
                    <a:solidFill>
                      <a:srgbClr val="FF0000"/>
                    </a:solidFill>
                    <a:effectLst/>
                    <a:latin typeface="+mn-lt"/>
                    <a:ea typeface="+mn-ea"/>
                    <a:cs typeface="+mn-cs"/>
                  </a:rPr>
                </a:br>
                <a:r>
                  <a:rPr lang="en-US" altLang="ko-KR" sz="1200" i="1" kern="1200" dirty="0">
                    <a:solidFill>
                      <a:schemeClr val="tx1"/>
                    </a:solidFill>
                    <a:effectLst/>
                    <a:latin typeface="+mn-lt"/>
                    <a:ea typeface="+mn-ea"/>
                    <a:cs typeface="+mn-cs"/>
                  </a:rPr>
                  <a:t>A. Regularized regressions</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Read in data</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Ridge regression</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iii. Lasso regression</a:t>
                </a:r>
              </a:p>
              <a:p>
                <a:pPr marL="342900" lvl="0" indent="-342900">
                  <a:spcAft>
                    <a:spcPts val="800"/>
                  </a:spcAft>
                  <a:buFont typeface="+mj-lt"/>
                  <a:buAutoNum type="arabicPeriod"/>
                </a:pPr>
                <a:endParaRPr lang="en-US" altLang="ko-KR" sz="1200" i="1"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200" dirty="0">
                    <a:solidFill>
                      <a:schemeClr val="tx1"/>
                    </a:solidFill>
                    <a:effectLst/>
                    <a:latin typeface="+mn-lt"/>
                    <a:ea typeface="+mn-ea"/>
                    <a:cs typeface="+mn-cs"/>
                  </a:rPr>
                  <a:t>(Optional) Use the blank cell at the bottom to practice your own personal needs.</a:t>
                </a:r>
                <a:endParaRPr lang="ko-KR" altLang="ko-KR" sz="1000" kern="1200" dirty="0">
                  <a:solidFill>
                    <a:schemeClr val="tx1"/>
                  </a:solidFill>
                  <a:effectLst/>
                  <a:latin typeface="+mn-lt"/>
                  <a:ea typeface="+mn-ea"/>
                  <a:cs typeface="+mn-cs"/>
                </a:endParaRPr>
              </a:p>
            </p:txBody>
          </p:sp>
        </mc:Choice>
        <mc:Fallback xmlns="">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br>
                  <a:rPr lang="en-US" altLang="ko-KR" sz="1200" b="1" dirty="0">
                    <a:latin typeface="Times New Roman" panose="02020603050405020304" pitchFamily="18" charset="0"/>
                  </a:rPr>
                </a:br>
                <a:r>
                  <a:rPr lang="en-US" altLang="ko-KR" sz="1200" b="1" dirty="0">
                    <a:latin typeface="Times New Roman" panose="02020603050405020304" pitchFamily="18" charset="0"/>
                  </a:rPr>
                  <a:t>WHAT THIS PRACTICE ABOUT</a:t>
                </a:r>
                <a:endParaRPr lang="ko-KR" altLang="en-US" dirty="0"/>
              </a:p>
              <a:p>
                <a:pPr latinLnBrk="1"/>
                <a:r>
                  <a:rPr lang="en-US" altLang="ko-KR" sz="1200" kern="1200" dirty="0">
                    <a:solidFill>
                      <a:schemeClr val="tx1"/>
                    </a:solidFill>
                    <a:effectLst/>
                    <a:latin typeface="+mn-lt"/>
                    <a:ea typeface="+mn-ea"/>
                    <a:cs typeface="+mn-cs"/>
                  </a:rPr>
                  <a:t>In this practice, we apply regularized regression algorithms such as Ridge and Lasso. We tune the hyperparameter lambda (</a:t>
                </a:r>
                <a:r>
                  <a:rPr lang="en-US" altLang="ko-KR" sz="1200" i="0" kern="1200">
                    <a:solidFill>
                      <a:schemeClr val="tx1"/>
                    </a:solidFill>
                    <a:effectLst/>
                    <a:latin typeface="Cambria Math" panose="02040503050406030204" pitchFamily="18" charset="0"/>
                    <a:ea typeface="+mn-ea"/>
                    <a:cs typeface="+mn-cs"/>
                  </a:rPr>
                  <a:t>λ</a:t>
                </a:r>
                <a:r>
                  <a:rPr lang="en-US" altLang="ko-KR" sz="1200" kern="1200" dirty="0">
                    <a:solidFill>
                      <a:schemeClr val="tx1"/>
                    </a:solidFill>
                    <a:effectLst/>
                    <a:latin typeface="+mn-lt"/>
                    <a:ea typeface="+mn-ea"/>
                    <a:cs typeface="+mn-cs"/>
                  </a:rPr>
                  <a:t>) and interpret the results.</a:t>
                </a:r>
              </a:p>
              <a:p>
                <a:pPr latinLnBrk="1"/>
                <a:r>
                  <a:rPr lang="en-US" altLang="ko-KR" sz="1200" kern="1200" dirty="0">
                    <a:solidFill>
                      <a:schemeClr val="tx1"/>
                    </a:solidFill>
                    <a:effectLst/>
                    <a:latin typeface="+mn-lt"/>
                    <a:ea typeface="+mn-ea"/>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Times New Roman" panose="02020603050405020304" pitchFamily="18" charset="0"/>
                  </a:rPr>
                  <a:t>PRACTICE INSTRUCTION</a:t>
                </a:r>
                <a:endParaRPr lang="ko-KR" altLang="ko-KR" sz="1000"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Start Jupyter Notebook. (Refer to steps 1-3 of </a:t>
                </a:r>
                <a:r>
                  <a:rPr lang="en-US" altLang="ko-KR" sz="1200" b="1" kern="100" dirty="0">
                    <a:solidFill>
                      <a:srgbClr val="000000"/>
                    </a:solidFill>
                    <a:latin typeface="Times New Roman" panose="02020603050405020304" pitchFamily="18" charset="0"/>
                    <a:cs typeface="Times New Roman" panose="02020603050405020304" pitchFamily="18" charset="0"/>
                  </a:rPr>
                  <a:t>Coding Exercise # 0401</a:t>
                </a:r>
                <a:r>
                  <a:rPr lang="en-US" altLang="ko-KR" sz="1200" kern="100" dirty="0">
                    <a:solidFill>
                      <a:srgbClr val="000000"/>
                    </a:solidFill>
                    <a:latin typeface="Times New Roman" panose="02020603050405020304" pitchFamily="18" charset="0"/>
                    <a:cs typeface="Times New Roman" panose="02020603050405020304" pitchFamily="18" charset="0"/>
                  </a:rPr>
                  <a:t>.)</a:t>
                </a:r>
              </a:p>
              <a:p>
                <a:pPr marL="342900" marR="0" lvl="0" indent="-342900" algn="l" defTabSz="914400" rtl="0" eaLnBrk="1" fontAlgn="auto" latinLnBrk="1" hangingPunct="1">
                  <a:lnSpc>
                    <a:spcPct val="100000"/>
                  </a:lnSpc>
                  <a:spcBef>
                    <a:spcPts val="0"/>
                  </a:spcBef>
                  <a:spcAft>
                    <a:spcPts val="800"/>
                  </a:spcAft>
                  <a:buClrTx/>
                  <a:buSzTx/>
                  <a:buFont typeface="+mj-lt"/>
                  <a:buAutoNum type="arabicPeriod"/>
                  <a:tabLst/>
                  <a:defRPr/>
                </a:pPr>
                <a:r>
                  <a:rPr lang="en-US" altLang="ko-KR" sz="1200" kern="1200" dirty="0">
                    <a:solidFill>
                      <a:schemeClr val="tx1"/>
                    </a:solidFill>
                    <a:effectLst/>
                    <a:latin typeface="+mn-lt"/>
                    <a:ea typeface="+mn-ea"/>
                    <a:cs typeface="+mn-cs"/>
                  </a:rPr>
                  <a:t>In Jupyter Notebook, click the </a:t>
                </a:r>
                <a:r>
                  <a:rPr lang="en-US" altLang="ko-KR" sz="1200" b="1" kern="1200" dirty="0">
                    <a:solidFill>
                      <a:schemeClr val="tx1"/>
                    </a:solidFill>
                    <a:effectLst/>
                    <a:latin typeface="+mn-lt"/>
                    <a:ea typeface="+mn-ea"/>
                    <a:cs typeface="+mn-cs"/>
                  </a:rPr>
                  <a:t>ex_0410.ipynb</a:t>
                </a:r>
                <a:r>
                  <a:rPr lang="en-US" altLang="ko-KR" sz="1200" kern="1200" dirty="0">
                    <a:solidFill>
                      <a:schemeClr val="tx1"/>
                    </a:solidFill>
                    <a:effectLst/>
                    <a:latin typeface="+mn-lt"/>
                    <a:ea typeface="+mn-ea"/>
                    <a:cs typeface="+mn-cs"/>
                  </a:rPr>
                  <a:t> files in the </a:t>
                </a:r>
                <a:r>
                  <a:rPr lang="en-US" altLang="ko-KR" sz="1200" b="1" kern="1200" dirty="0">
                    <a:solidFill>
                      <a:schemeClr val="tx1"/>
                    </a:solidFill>
                    <a:effectLst/>
                    <a:latin typeface="+mn-lt"/>
                    <a:ea typeface="+mn-ea"/>
                    <a:cs typeface="+mn-cs"/>
                  </a:rPr>
                  <a:t>Coding Exercise</a:t>
                </a:r>
                <a:r>
                  <a:rPr lang="en-US" altLang="ko-KR" sz="1200" kern="1200" dirty="0">
                    <a:solidFill>
                      <a:schemeClr val="tx1"/>
                    </a:solidFill>
                    <a:effectLst/>
                    <a:latin typeface="+mn-lt"/>
                    <a:ea typeface="+mn-ea"/>
                    <a:cs typeface="+mn-cs"/>
                  </a:rPr>
                  <a:t> folder.</a:t>
                </a:r>
                <a:endParaRPr lang="en-US" altLang="ko-KR" sz="1200" kern="1200" dirty="0">
                  <a:solidFill>
                    <a:srgbClr val="FF0000"/>
                  </a:solidFill>
                  <a:effectLst/>
                  <a:latin typeface="+mn-lt"/>
                  <a:ea typeface="+mn-ea"/>
                  <a:cs typeface="+mn-cs"/>
                </a:endParaRPr>
              </a:p>
              <a:p>
                <a:pPr marL="342900" lvl="0" indent="-342900">
                  <a:spcAft>
                    <a:spcPts val="800"/>
                  </a:spcAft>
                  <a:buFont typeface="+mj-lt"/>
                  <a:buAutoNum type="arabicPeriod"/>
                </a:pPr>
                <a:r>
                  <a:rPr lang="en-US" altLang="ko-KR" sz="1200" kern="1200" dirty="0">
                    <a:solidFill>
                      <a:srgbClr val="FF0000"/>
                    </a:solidFill>
                    <a:effectLst/>
                    <a:latin typeface="+mn-lt"/>
                    <a:ea typeface="+mn-ea"/>
                    <a:cs typeface="+mn-cs"/>
                  </a:rPr>
                  <a:t>Review the examples on the topics below:</a:t>
                </a:r>
                <a:br>
                  <a:rPr lang="en-US" altLang="ko-KR" sz="1000" i="0" kern="1200" dirty="0">
                    <a:solidFill>
                      <a:srgbClr val="FF0000"/>
                    </a:solidFill>
                    <a:effectLst/>
                    <a:latin typeface="+mn-lt"/>
                    <a:ea typeface="+mn-ea"/>
                    <a:cs typeface="+mn-cs"/>
                  </a:rPr>
                </a:br>
                <a:br>
                  <a:rPr lang="en-US" altLang="ko-KR" sz="1000" i="0" kern="1200" dirty="0">
                    <a:solidFill>
                      <a:srgbClr val="FF0000"/>
                    </a:solidFill>
                    <a:effectLst/>
                    <a:latin typeface="+mn-lt"/>
                    <a:ea typeface="+mn-ea"/>
                    <a:cs typeface="+mn-cs"/>
                  </a:rPr>
                </a:br>
                <a:r>
                  <a:rPr lang="en-US" altLang="ko-KR" sz="1200" i="1" kern="1200" dirty="0">
                    <a:solidFill>
                      <a:schemeClr val="tx1"/>
                    </a:solidFill>
                    <a:effectLst/>
                    <a:latin typeface="+mn-lt"/>
                    <a:ea typeface="+mn-ea"/>
                    <a:cs typeface="+mn-cs"/>
                  </a:rPr>
                  <a:t>A. Regularized regressions</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Read in data</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Ridge regression</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iii. Lasso regression</a:t>
                </a:r>
              </a:p>
              <a:p>
                <a:pPr marL="342900" lvl="0" indent="-342900">
                  <a:spcAft>
                    <a:spcPts val="800"/>
                  </a:spcAft>
                  <a:buFont typeface="+mj-lt"/>
                  <a:buAutoNum type="arabicPeriod"/>
                </a:pPr>
                <a:endParaRPr lang="en-US" altLang="ko-KR" sz="1200" i="1"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200" dirty="0">
                    <a:solidFill>
                      <a:schemeClr val="tx1"/>
                    </a:solidFill>
                    <a:effectLst/>
                    <a:latin typeface="+mn-lt"/>
                    <a:ea typeface="+mn-ea"/>
                    <a:cs typeface="+mn-cs"/>
                  </a:rPr>
                  <a:t>(Optional) Use the blank cell at the bottom to practice your own personal needs.</a:t>
                </a:r>
                <a:endParaRPr lang="ko-KR" altLang="ko-KR" sz="1000" kern="1200" dirty="0">
                  <a:solidFill>
                    <a:schemeClr val="tx1"/>
                  </a:solidFill>
                  <a:effectLst/>
                  <a:latin typeface="+mn-lt"/>
                  <a:ea typeface="+mn-ea"/>
                  <a:cs typeface="+mn-cs"/>
                </a:endParaRPr>
              </a:p>
            </p:txBody>
          </p:sp>
        </mc:Fallback>
      </mc:AlternateContent>
      <p:sp>
        <p:nvSpPr>
          <p:cNvPr id="4" name="슬라이드 번호 개체 틀 3"/>
          <p:cNvSpPr>
            <a:spLocks noGrp="1"/>
          </p:cNvSpPr>
          <p:nvPr>
            <p:ph type="sldNum" sz="quarter" idx="5"/>
          </p:nvPr>
        </p:nvSpPr>
        <p:spPr/>
        <p:txBody>
          <a:bodyPr/>
          <a:lstStyle/>
          <a:p>
            <a:fld id="{5B59C55F-00F1-4985-9065-F2D92AE05D03}" type="slidenum">
              <a:rPr lang="ko-KR" altLang="en-US" smtClean="0"/>
              <a:t>164</a:t>
            </a:fld>
            <a:endParaRPr lang="ko-KR" altLang="en-US" dirty="0"/>
          </a:p>
        </p:txBody>
      </p:sp>
    </p:spTree>
    <p:extLst>
      <p:ext uri="{BB962C8B-B14F-4D97-AF65-F5344CB8AC3E}">
        <p14:creationId xmlns:p14="http://schemas.microsoft.com/office/powerpoint/2010/main" val="4030097140"/>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en-US" altLang="ko-KR" dirty="0"/>
          </a:p>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165</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973298566"/>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14:m>
                  <m:oMath xmlns:m="http://schemas.openxmlformats.org/officeDocument/2006/math">
                    <m:r>
                      <a:rPr lang="en-US" altLang="ko-KR" i="1" dirty="0" smtClean="0">
                        <a:latin typeface="Cambria Math" panose="02040503050406030204" pitchFamily="18" charset="0"/>
                      </a:rPr>
                      <m:t>𝑌</m:t>
                    </m:r>
                  </m:oMath>
                </a14:m>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166</a:t>
            </a:fld>
            <a:endParaRPr lang="ko-KR" altLang="en-US"/>
          </a:p>
        </p:txBody>
      </p:sp>
    </p:spTree>
    <p:extLst>
      <p:ext uri="{BB962C8B-B14F-4D97-AF65-F5344CB8AC3E}">
        <p14:creationId xmlns:p14="http://schemas.microsoft.com/office/powerpoint/2010/main" val="1300416643"/>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14:m>
                  <m:oMath xmlns:m="http://schemas.openxmlformats.org/officeDocument/2006/math">
                    <m:r>
                      <a:rPr lang="ko-KR" altLang="en-US" sz="1200" b="0" i="1" smtClean="0">
                        <a:solidFill>
                          <a:srgbClr val="00B050"/>
                        </a:solidFill>
                        <a:latin typeface="Cambria Math" panose="02040503050406030204" pitchFamily="18" charset="0"/>
                      </a:rPr>
                      <m:t>𝜆</m:t>
                    </m:r>
                  </m:oMath>
                </a14:m>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14:m>
                  <m:oMath xmlns:m="http://schemas.openxmlformats.org/officeDocument/2006/math">
                    <m:sSub>
                      <m:sSubPr>
                        <m:ctrlPr>
                          <a:rPr lang="en-US" altLang="ko-KR" sz="1200" i="1">
                            <a:latin typeface="Cambria Math" panose="02040503050406030204" pitchFamily="18" charset="0"/>
                            <a:cs typeface="Times New Roman" panose="02020603050405020304" pitchFamily="18" charset="0"/>
                            <a:sym typeface="Symbol" panose="05050102010706020507" pitchFamily="18" charset="2"/>
                          </a:rPr>
                        </m:ctrlPr>
                      </m:sSubPr>
                      <m:e>
                        <m:r>
                          <a:rPr lang="ko-KR" altLang="en-US" sz="1200" i="1">
                            <a:latin typeface="Cambria Math" panose="02040503050406030204" pitchFamily="18" charset="0"/>
                            <a:cs typeface="Times New Roman" panose="02020603050405020304" pitchFamily="18" charset="0"/>
                            <a:sym typeface="Symbol" panose="05050102010706020507" pitchFamily="18" charset="2"/>
                          </a:rPr>
                          <m:t>𝛽</m:t>
                        </m:r>
                      </m:e>
                      <m:sub>
                        <m:r>
                          <a:rPr lang="en-US" altLang="ko-KR" sz="1200" i="1">
                            <a:latin typeface="Cambria Math" panose="02040503050406030204" pitchFamily="18" charset="0"/>
                            <a:cs typeface="Times New Roman" panose="02020603050405020304" pitchFamily="18" charset="0"/>
                            <a:sym typeface="Symbol" panose="05050102010706020507" pitchFamily="18" charset="2"/>
                          </a:rPr>
                          <m:t>𝑖</m:t>
                        </m:r>
                      </m:sub>
                    </m:sSub>
                  </m:oMath>
                </a14:m>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167</a:t>
            </a:fld>
            <a:endParaRPr lang="ko-KR" altLang="en-US"/>
          </a:p>
        </p:txBody>
      </p:sp>
    </p:spTree>
    <p:extLst>
      <p:ext uri="{BB962C8B-B14F-4D97-AF65-F5344CB8AC3E}">
        <p14:creationId xmlns:p14="http://schemas.microsoft.com/office/powerpoint/2010/main" val="2754294500"/>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168</a:t>
            </a:fld>
            <a:endParaRPr lang="ko-KR" altLang="en-US"/>
          </a:p>
        </p:txBody>
      </p:sp>
    </p:spTree>
    <p:extLst>
      <p:ext uri="{BB962C8B-B14F-4D97-AF65-F5344CB8AC3E}">
        <p14:creationId xmlns:p14="http://schemas.microsoft.com/office/powerpoint/2010/main" val="2494447060"/>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169</a:t>
            </a:fld>
            <a:endParaRPr lang="ko-KR" altLang="en-US"/>
          </a:p>
        </p:txBody>
      </p:sp>
    </p:spTree>
    <p:extLst>
      <p:ext uri="{BB962C8B-B14F-4D97-AF65-F5344CB8AC3E}">
        <p14:creationId xmlns:p14="http://schemas.microsoft.com/office/powerpoint/2010/main" val="2066614244"/>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170</a:t>
            </a:fld>
            <a:endParaRPr lang="ko-KR" altLang="en-US"/>
          </a:p>
        </p:txBody>
      </p:sp>
    </p:spTree>
    <p:extLst>
      <p:ext uri="{BB962C8B-B14F-4D97-AF65-F5344CB8AC3E}">
        <p14:creationId xmlns:p14="http://schemas.microsoft.com/office/powerpoint/2010/main" val="2169811570"/>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171</a:t>
            </a:fld>
            <a:endParaRPr lang="ko-KR" altLang="en-US"/>
          </a:p>
        </p:txBody>
      </p:sp>
    </p:spTree>
    <p:extLst>
      <p:ext uri="{BB962C8B-B14F-4D97-AF65-F5344CB8AC3E}">
        <p14:creationId xmlns:p14="http://schemas.microsoft.com/office/powerpoint/2010/main" val="1629789540"/>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172</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270737187"/>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the logistic regression, we assume one or more explanatory variables.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choice of the explanatory variables is quite flexible; they can be numeric, categorical, etc. in nature.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However, the response variable must be binary, that is, categorical with two classes.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notice that an integer variable with two possible values is essentially a categorical variable that represent two classes.</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173</a:t>
            </a:fld>
            <a:endParaRPr lang="ko-KR" altLang="en-US"/>
          </a:p>
        </p:txBody>
      </p:sp>
    </p:spTree>
    <p:extLst>
      <p:ext uri="{BB962C8B-B14F-4D97-AF65-F5344CB8AC3E}">
        <p14:creationId xmlns:p14="http://schemas.microsoft.com/office/powerpoint/2010/main" val="2313127184"/>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174</a:t>
            </a:fld>
            <a:endParaRPr lang="ko-KR" altLang="en-US"/>
          </a:p>
        </p:txBody>
      </p:sp>
    </p:spTree>
    <p:extLst>
      <p:ext uri="{BB962C8B-B14F-4D97-AF65-F5344CB8AC3E}">
        <p14:creationId xmlns:p14="http://schemas.microsoft.com/office/powerpoint/2010/main" val="2452642199"/>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Logistic regression is often a benchmark algorithm against which others are compared.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Logistic regression provides insights that are difficult to obtain from other algorithms.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Logistic regression is not among the best performing classification algorithms.</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175</a:t>
            </a:fld>
            <a:endParaRPr lang="ko-KR" altLang="en-US"/>
          </a:p>
        </p:txBody>
      </p:sp>
    </p:spTree>
    <p:extLst>
      <p:ext uri="{BB962C8B-B14F-4D97-AF65-F5344CB8AC3E}">
        <p14:creationId xmlns:p14="http://schemas.microsoft.com/office/powerpoint/2010/main" val="2169379582"/>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 linear relation is assumed between the explanatory variables and the logit.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response </a:t>
                </a:r>
                <a14:m>
                  <m:oMath xmlns:m="http://schemas.openxmlformats.org/officeDocument/2006/math">
                    <m:r>
                      <a:rPr lang="en-US" altLang="ko-KR" i="1" dirty="0" smtClean="0">
                        <a:latin typeface="Cambria Math" panose="02040503050406030204" pitchFamily="18" charset="0"/>
                      </a:rPr>
                      <m:t>𝑌</m:t>
                    </m:r>
                  </m:oMath>
                </a14:m>
                <a:r>
                  <a:rPr lang="en-US" altLang="ko-KR" dirty="0"/>
                  <a:t> is connected</a:t>
                </a:r>
                <a:r>
                  <a:rPr lang="en-US" altLang="ko-KR" baseline="0" dirty="0"/>
                  <a:t> to the logit by the “Sigmoid” function.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We can interpret that a large positive logit gives a higher probability of the response </a:t>
                </a:r>
                <a14:m>
                  <m:oMath xmlns:m="http://schemas.openxmlformats.org/officeDocument/2006/math">
                    <m:r>
                      <a:rPr lang="en-US" altLang="ko-KR" i="1" baseline="0" dirty="0" smtClean="0">
                        <a:latin typeface="Cambria Math" panose="02040503050406030204" pitchFamily="18" charset="0"/>
                      </a:rPr>
                      <m:t>𝑌</m:t>
                    </m:r>
                  </m:oMath>
                </a14:m>
                <a:r>
                  <a:rPr lang="en-US" altLang="ko-KR" baseline="0" dirty="0"/>
                  <a:t> being equal to 1.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We can interpret that a large negative logit gives a lower probability of the response </a:t>
                </a:r>
                <a14:m>
                  <m:oMath xmlns:m="http://schemas.openxmlformats.org/officeDocument/2006/math">
                    <m:r>
                      <a:rPr lang="en-US" altLang="ko-KR" i="1" baseline="0" dirty="0" smtClean="0">
                        <a:latin typeface="Cambria Math" panose="02040503050406030204" pitchFamily="18" charset="0"/>
                      </a:rPr>
                      <m:t>𝑌</m:t>
                    </m:r>
                  </m:oMath>
                </a14:m>
                <a:r>
                  <a:rPr lang="en-US" altLang="ko-KR" baseline="0" dirty="0"/>
                  <a:t> being equal to 1.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 linear relation is assumed between the explanatory variables and the logit.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response </a:t>
                </a:r>
                <a:r>
                  <a:rPr lang="en-US" altLang="ko-KR" i="0" dirty="0">
                    <a:latin typeface="Cambria Math" panose="02040503050406030204" pitchFamily="18" charset="0"/>
                  </a:rPr>
                  <a:t>𝑌</a:t>
                </a:r>
                <a:r>
                  <a:rPr lang="en-US" altLang="ko-KR" dirty="0"/>
                  <a:t> is connected</a:t>
                </a:r>
                <a:r>
                  <a:rPr lang="en-US" altLang="ko-KR" baseline="0" dirty="0"/>
                  <a:t> to the logit by the “Sigmoid” function.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We can interpret that a large positive logit gives a higher probability of the response </a:t>
                </a:r>
                <a:r>
                  <a:rPr lang="en-US" altLang="ko-KR" i="0" baseline="0" dirty="0">
                    <a:latin typeface="Cambria Math" panose="02040503050406030204" pitchFamily="18" charset="0"/>
                  </a:rPr>
                  <a:t>𝑌</a:t>
                </a:r>
                <a:r>
                  <a:rPr lang="en-US" altLang="ko-KR" baseline="0" dirty="0"/>
                  <a:t> being equal to 1.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We can interpret that a large negative logit gives a lower probability of the response </a:t>
                </a:r>
                <a:r>
                  <a:rPr lang="en-US" altLang="ko-KR" i="0" baseline="0" dirty="0">
                    <a:latin typeface="Cambria Math" panose="02040503050406030204" pitchFamily="18" charset="0"/>
                  </a:rPr>
                  <a:t>𝑌</a:t>
                </a:r>
                <a:r>
                  <a:rPr lang="en-US" altLang="ko-KR" baseline="0" dirty="0"/>
                  <a:t> being equal to 1.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176</a:t>
            </a:fld>
            <a:endParaRPr lang="ko-KR" altLang="en-US"/>
          </a:p>
        </p:txBody>
      </p:sp>
    </p:spTree>
    <p:extLst>
      <p:ext uri="{BB962C8B-B14F-4D97-AF65-F5344CB8AC3E}">
        <p14:creationId xmlns:p14="http://schemas.microsoft.com/office/powerpoint/2010/main" val="4199318383"/>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quantities such as “odds” and “logit” are formally defined.</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177</a:t>
            </a:fld>
            <a:endParaRPr lang="ko-KR" altLang="en-US"/>
          </a:p>
        </p:txBody>
      </p:sp>
    </p:spTree>
    <p:extLst>
      <p:ext uri="{BB962C8B-B14F-4D97-AF65-F5344CB8AC3E}">
        <p14:creationId xmlns:p14="http://schemas.microsoft.com/office/powerpoint/2010/main" val="278321211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178</a:t>
            </a:fld>
            <a:endParaRPr lang="ko-KR" altLang="en-US"/>
          </a:p>
        </p:txBody>
      </p:sp>
    </p:spTree>
    <p:extLst>
      <p:ext uri="{BB962C8B-B14F-4D97-AF65-F5344CB8AC3E}">
        <p14:creationId xmlns:p14="http://schemas.microsoft.com/office/powerpoint/2010/main" val="3951659529"/>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179</a:t>
            </a:fld>
            <a:endParaRPr lang="ko-KR" altLang="en-US"/>
          </a:p>
        </p:txBody>
      </p:sp>
    </p:spTree>
    <p:extLst>
      <p:ext uri="{BB962C8B-B14F-4D97-AF65-F5344CB8AC3E}">
        <p14:creationId xmlns:p14="http://schemas.microsoft.com/office/powerpoint/2010/main" val="3168931559"/>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180</a:t>
            </a:fld>
            <a:endParaRPr lang="ko-KR" altLang="en-US"/>
          </a:p>
        </p:txBody>
      </p:sp>
    </p:spTree>
    <p:extLst>
      <p:ext uri="{BB962C8B-B14F-4D97-AF65-F5344CB8AC3E}">
        <p14:creationId xmlns:p14="http://schemas.microsoft.com/office/powerpoint/2010/main" val="3368095792"/>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First, we should train the logistic regression model.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That is, we should get the regression parameters </a:t>
                </a:r>
                <a14:m>
                  <m:oMath xmlns:m="http://schemas.openxmlformats.org/officeDocument/2006/math">
                    <m:d>
                      <m:dPr>
                        <m:begChr m:val="{"/>
                        <m:endChr m:val="}"/>
                        <m:ctrlPr>
                          <a:rPr lang="ko-KR" altLang="ko-KR" sz="1200" i="1" smtClean="0">
                            <a:latin typeface="Cambria Math" panose="02040503050406030204" pitchFamily="18" charset="0"/>
                          </a:rPr>
                        </m:ctrlPr>
                      </m:dPr>
                      <m:e>
                        <m:sSub>
                          <m:sSubPr>
                            <m:ctrlPr>
                              <a:rPr lang="en-US" altLang="ko-KR" sz="1200" i="1">
                                <a:latin typeface="Cambria Math" panose="02040503050406030204" pitchFamily="18" charset="0"/>
                              </a:rPr>
                            </m:ctrlPr>
                          </m:sSubPr>
                          <m:e>
                            <m:r>
                              <a:rPr lang="ko-KR" altLang="en-US" sz="1200" i="1">
                                <a:latin typeface="Cambria Math" panose="02040503050406030204" pitchFamily="18" charset="0"/>
                              </a:rPr>
                              <m:t>𝛽</m:t>
                            </m:r>
                          </m:e>
                          <m:sub>
                            <m:r>
                              <a:rPr lang="en-US" altLang="ko-KR" sz="1200" i="1">
                                <a:latin typeface="Cambria Math" panose="02040503050406030204" pitchFamily="18" charset="0"/>
                              </a:rPr>
                              <m:t>𝑖</m:t>
                            </m:r>
                          </m:sub>
                        </m:sSub>
                      </m:e>
                    </m:d>
                  </m:oMath>
                </a14:m>
                <a:r>
                  <a:rPr lang="en-US" altLang="ko-KR" sz="1200" dirty="0">
                    <a:latin typeface="Times New Roman" panose="02020603050405020304" pitchFamily="18" charset="0"/>
                    <a:cs typeface="Times New Roman" panose="02020603050405020304" pitchFamily="18" charset="0"/>
                  </a:rPr>
                  <a:t> using a training dataset.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If there were any pattern in the data, it is summarized by the parameters </a:t>
                </a:r>
                <a14:m>
                  <m:oMath xmlns:m="http://schemas.openxmlformats.org/officeDocument/2006/math">
                    <m:d>
                      <m:dPr>
                        <m:begChr m:val="{"/>
                        <m:endChr m:val="}"/>
                        <m:ctrlPr>
                          <a:rPr lang="ko-KR" altLang="ko-KR" sz="1200" i="1" smtClean="0">
                            <a:latin typeface="Cambria Math" panose="02040503050406030204" pitchFamily="18" charset="0"/>
                          </a:rPr>
                        </m:ctrlPr>
                      </m:dPr>
                      <m:e>
                        <m:sSub>
                          <m:sSubPr>
                            <m:ctrlPr>
                              <a:rPr lang="en-US" altLang="ko-KR" sz="1200" i="1">
                                <a:latin typeface="Cambria Math" panose="02040503050406030204" pitchFamily="18" charset="0"/>
                              </a:rPr>
                            </m:ctrlPr>
                          </m:sSubPr>
                          <m:e>
                            <m:r>
                              <a:rPr lang="ko-KR" altLang="en-US" sz="1200" i="1">
                                <a:latin typeface="Cambria Math" panose="02040503050406030204" pitchFamily="18" charset="0"/>
                              </a:rPr>
                              <m:t>𝛽</m:t>
                            </m:r>
                          </m:e>
                          <m:sub>
                            <m:r>
                              <a:rPr lang="en-US" altLang="ko-KR" sz="1200" i="1">
                                <a:latin typeface="Cambria Math" panose="02040503050406030204" pitchFamily="18" charset="0"/>
                              </a:rPr>
                              <m:t>𝑖</m:t>
                            </m:r>
                          </m:sub>
                        </m:sSub>
                      </m:e>
                    </m:d>
                  </m:oMath>
                </a14:m>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makes the prediction step fast and efficient.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First, we should train the logistic regression model.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That is, we should get the regression parameters </a:t>
                </a:r>
                <a:r>
                  <a:rPr lang="ko-KR" altLang="ko-KR" sz="1200" i="0">
                    <a:latin typeface="Cambria Math" panose="02040503050406030204" pitchFamily="18" charset="0"/>
                  </a:rPr>
                  <a:t>{</a:t>
                </a:r>
                <a:r>
                  <a:rPr lang="ko-KR" altLang="en-US" sz="1200" i="0">
                    <a:latin typeface="Cambria Math" panose="02040503050406030204" pitchFamily="18" charset="0"/>
                  </a:rPr>
                  <a:t>𝛽</a:t>
                </a:r>
                <a:r>
                  <a:rPr lang="en-US" altLang="ko-KR" sz="1200" i="0">
                    <a:latin typeface="Cambria Math" panose="02040503050406030204" pitchFamily="18" charset="0"/>
                  </a:rPr>
                  <a:t>_𝑖 }</a:t>
                </a:r>
                <a:r>
                  <a:rPr lang="en-US" altLang="ko-KR" sz="1200" dirty="0">
                    <a:latin typeface="Times New Roman" panose="02020603050405020304" pitchFamily="18" charset="0"/>
                    <a:cs typeface="Times New Roman" panose="02020603050405020304" pitchFamily="18" charset="0"/>
                  </a:rPr>
                  <a:t> using a training dataset.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If there were any pattern in the data, it is summarized by the parameters </a:t>
                </a:r>
                <a:r>
                  <a:rPr lang="ko-KR" altLang="ko-KR" sz="1200" i="0">
                    <a:latin typeface="Cambria Math" panose="02040503050406030204" pitchFamily="18" charset="0"/>
                  </a:rPr>
                  <a:t>{</a:t>
                </a:r>
                <a:r>
                  <a:rPr lang="ko-KR" altLang="en-US" sz="1200" i="0">
                    <a:latin typeface="Cambria Math" panose="02040503050406030204" pitchFamily="18" charset="0"/>
                  </a:rPr>
                  <a:t>𝛽</a:t>
                </a:r>
                <a:r>
                  <a:rPr lang="en-US" altLang="ko-KR" sz="1200" i="0">
                    <a:latin typeface="Cambria Math" panose="02040503050406030204" pitchFamily="18" charset="0"/>
                  </a:rPr>
                  <a:t>_𝑖 }</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makes the prediction step fast and efficient.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a:t>
                </a:r>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181</a:t>
            </a:fld>
            <a:endParaRPr lang="ko-KR" altLang="en-US"/>
          </a:p>
        </p:txBody>
      </p:sp>
    </p:spTree>
    <p:extLst>
      <p:ext uri="{BB962C8B-B14F-4D97-AF65-F5344CB8AC3E}">
        <p14:creationId xmlns:p14="http://schemas.microsoft.com/office/powerpoint/2010/main" val="1190285382"/>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Logistic regression prediction is illustrated by a picture.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Please</a:t>
                </a:r>
                <a:r>
                  <a:rPr lang="en-US" altLang="ko-KR" sz="1200" baseline="0" dirty="0">
                    <a:latin typeface="Times New Roman" panose="02020603050405020304" pitchFamily="18" charset="0"/>
                    <a:cs typeface="Times New Roman" panose="02020603050405020304" pitchFamily="18" charset="0"/>
                  </a:rPr>
                  <a:t> n</a:t>
                </a:r>
                <a:r>
                  <a:rPr lang="en-US" altLang="ko-KR" sz="1200" dirty="0">
                    <a:latin typeface="Times New Roman" panose="02020603050405020304" pitchFamily="18" charset="0"/>
                    <a:cs typeface="Times New Roman" panose="02020603050405020304" pitchFamily="18" charset="0"/>
                  </a:rPr>
                  <a:t>otice that the output is not directly the predicted </a:t>
                </a:r>
                <a14:m>
                  <m:oMath xmlns:m="http://schemas.openxmlformats.org/officeDocument/2006/math">
                    <m:acc>
                      <m:accPr>
                        <m:chr m:val="̂"/>
                        <m:ctrlPr>
                          <a:rPr lang="ko-KR" altLang="en-US" sz="1200" i="1">
                            <a:solidFill>
                              <a:srgbClr val="FF0000"/>
                            </a:solidFill>
                            <a:latin typeface="Cambria Math" panose="02040503050406030204" pitchFamily="18" charset="0"/>
                            <a:cs typeface="Times New Roman" panose="02020603050405020304" pitchFamily="18" charset="0"/>
                          </a:rPr>
                        </m:ctrlPr>
                      </m:accPr>
                      <m:e>
                        <m:r>
                          <a:rPr lang="en-US" altLang="ko-KR" sz="1200" i="1">
                            <a:solidFill>
                              <a:srgbClr val="FF0000"/>
                            </a:solidFill>
                            <a:latin typeface="Cambria Math" panose="02040503050406030204" pitchFamily="18" charset="0"/>
                            <a:cs typeface="Times New Roman" panose="02020603050405020304" pitchFamily="18" charset="0"/>
                          </a:rPr>
                          <m:t>𝑦</m:t>
                        </m:r>
                      </m:e>
                    </m:acc>
                  </m:oMath>
                </a14:m>
                <a:r>
                  <a:rPr lang="en-US" altLang="ko-KR" sz="1200" dirty="0">
                    <a:latin typeface="Times New Roman" panose="02020603050405020304" pitchFamily="18" charset="0"/>
                    <a:cs typeface="Times New Roman" panose="02020603050405020304" pitchFamily="18" charset="0"/>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It has to be compared to a cutoff probability to make the final prediction.</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Logistic regression prediction is illustrated by a picture.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Please</a:t>
                </a:r>
                <a:r>
                  <a:rPr lang="en-US" altLang="ko-KR" sz="1200" baseline="0" dirty="0">
                    <a:latin typeface="Times New Roman" panose="02020603050405020304" pitchFamily="18" charset="0"/>
                    <a:cs typeface="Times New Roman" panose="02020603050405020304" pitchFamily="18" charset="0"/>
                  </a:rPr>
                  <a:t> n</a:t>
                </a:r>
                <a:r>
                  <a:rPr lang="en-US" altLang="ko-KR" sz="1200" dirty="0">
                    <a:latin typeface="Times New Roman" panose="02020603050405020304" pitchFamily="18" charset="0"/>
                    <a:cs typeface="Times New Roman" panose="02020603050405020304" pitchFamily="18" charset="0"/>
                  </a:rPr>
                  <a:t>otice that the output is not directly the predicted </a:t>
                </a:r>
                <a:r>
                  <a:rPr lang="en-US" altLang="ko-KR" sz="1200" i="0">
                    <a:solidFill>
                      <a:srgbClr val="FF0000"/>
                    </a:solidFill>
                    <a:latin typeface="Cambria Math" panose="02040503050406030204" pitchFamily="18" charset="0"/>
                    <a:cs typeface="Times New Roman" panose="02020603050405020304" pitchFamily="18" charset="0"/>
                  </a:rPr>
                  <a:t>𝑦</a:t>
                </a:r>
                <a:r>
                  <a:rPr lang="ko-KR" altLang="en-US" sz="1200" i="0">
                    <a:solidFill>
                      <a:srgbClr val="FF0000"/>
                    </a:solidFill>
                    <a:latin typeface="Cambria Math" panose="02040503050406030204" pitchFamily="18" charset="0"/>
                    <a:cs typeface="Times New Roman" panose="02020603050405020304" pitchFamily="18" charset="0"/>
                  </a:rPr>
                  <a:t> ̂</a:t>
                </a:r>
                <a:r>
                  <a:rPr lang="en-US" altLang="ko-KR" sz="1200" dirty="0">
                    <a:latin typeface="Times New Roman" panose="02020603050405020304" pitchFamily="18" charset="0"/>
                    <a:cs typeface="Times New Roman" panose="02020603050405020304" pitchFamily="18" charset="0"/>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It has to be compared to a cutoff probability to make the final prediction.</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182</a:t>
            </a:fld>
            <a:endParaRPr lang="ko-KR" altLang="en-US"/>
          </a:p>
        </p:txBody>
      </p:sp>
    </p:spTree>
    <p:extLst>
      <p:ext uri="{BB962C8B-B14F-4D97-AF65-F5344CB8AC3E}">
        <p14:creationId xmlns:p14="http://schemas.microsoft.com/office/powerpoint/2010/main" val="70125427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will go a bit deeper into the details.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Please, remember that,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linear regression (OLS): the minimization target is </a:t>
                </a:r>
                <a14:m>
                  <m:oMath xmlns:m="http://schemas.openxmlformats.org/officeDocument/2006/math">
                    <m:sSup>
                      <m:sSupPr>
                        <m:ctrlPr>
                          <a:rPr lang="en-US" altLang="ko-KR" sz="1200" i="1">
                            <a:latin typeface="Cambria Math" panose="02040503050406030204" pitchFamily="18" charset="0"/>
                          </a:rPr>
                        </m:ctrlPr>
                      </m:sSupPr>
                      <m:e>
                        <m:d>
                          <m:dPr>
                            <m:begChr m:val="|"/>
                            <m:endChr m:val="|"/>
                            <m:ctrlPr>
                              <a:rPr lang="en-US" altLang="ko-KR" sz="1200" b="1" i="1">
                                <a:latin typeface="Cambria Math" panose="02040503050406030204" pitchFamily="18" charset="0"/>
                              </a:rPr>
                            </m:ctrlPr>
                          </m:dPr>
                          <m:e>
                            <m:r>
                              <a:rPr lang="ko-KR" altLang="en-US" sz="1200" b="1" i="1">
                                <a:latin typeface="Cambria Math" panose="02040503050406030204" pitchFamily="18" charset="0"/>
                              </a:rPr>
                              <m:t>𝜺</m:t>
                            </m:r>
                          </m:e>
                        </m:d>
                      </m:e>
                      <m:sup>
                        <m:r>
                          <a:rPr lang="en-US" altLang="ko-KR" sz="1200" i="1">
                            <a:latin typeface="Cambria Math" panose="02040503050406030204" pitchFamily="18" charset="0"/>
                          </a:rPr>
                          <m:t>2</m:t>
                        </m:r>
                      </m:sup>
                    </m:sSup>
                  </m:oMath>
                </a14:m>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Lasso regression: the minimization target is </a:t>
                </a:r>
                <a14:m>
                  <m:oMath xmlns:m="http://schemas.openxmlformats.org/officeDocument/2006/math">
                    <m:r>
                      <a:rPr lang="en-US" altLang="ko-KR" sz="1200" b="1" i="1" smtClean="0">
                        <a:solidFill>
                          <a:srgbClr val="FF0000"/>
                        </a:solidFill>
                        <a:latin typeface="Cambria Math" panose="02040503050406030204" pitchFamily="18" charset="0"/>
                      </a:rPr>
                      <m:t>𝑳</m:t>
                    </m:r>
                    <m:r>
                      <a:rPr lang="en-US" altLang="ko-KR" sz="1200">
                        <a:latin typeface="Cambria Math" panose="02040503050406030204" pitchFamily="18" charset="0"/>
                      </a:rPr>
                      <m:t>=</m:t>
                    </m:r>
                    <m:sSup>
                      <m:sSupPr>
                        <m:ctrlPr>
                          <a:rPr lang="en-US" altLang="ko-KR" sz="1200" i="1" smtClean="0">
                            <a:solidFill>
                              <a:schemeClr val="tx1"/>
                            </a:solidFill>
                            <a:latin typeface="Cambria Math" panose="02040503050406030204" pitchFamily="18" charset="0"/>
                          </a:rPr>
                        </m:ctrlPr>
                      </m:sSupPr>
                      <m:e>
                        <m:d>
                          <m:dPr>
                            <m:begChr m:val="|"/>
                            <m:endChr m:val="|"/>
                            <m:ctrlPr>
                              <a:rPr lang="en-US" altLang="ko-KR" sz="1200" b="1" i="1">
                                <a:solidFill>
                                  <a:schemeClr val="tx1"/>
                                </a:solidFill>
                                <a:latin typeface="Cambria Math" panose="02040503050406030204" pitchFamily="18" charset="0"/>
                              </a:rPr>
                            </m:ctrlPr>
                          </m:dPr>
                          <m:e>
                            <m:r>
                              <a:rPr lang="ko-KR" altLang="en-US" sz="1200" b="1" i="1">
                                <a:solidFill>
                                  <a:schemeClr val="tx1"/>
                                </a:solidFill>
                                <a:latin typeface="Cambria Math" panose="02040503050406030204" pitchFamily="18" charset="0"/>
                              </a:rPr>
                              <m:t>𝜺</m:t>
                            </m:r>
                          </m:e>
                        </m:d>
                      </m:e>
                      <m:sup>
                        <m:r>
                          <a:rPr lang="en-US" altLang="ko-KR" sz="1200" i="1">
                            <a:solidFill>
                              <a:schemeClr val="tx1"/>
                            </a:solidFill>
                            <a:latin typeface="Cambria Math" panose="02040503050406030204" pitchFamily="18" charset="0"/>
                          </a:rPr>
                          <m:t>2</m:t>
                        </m:r>
                      </m:sup>
                    </m:sSup>
                    <m:r>
                      <a:rPr lang="en-US" altLang="ko-KR" sz="1200" i="1">
                        <a:latin typeface="Cambria Math" panose="02040503050406030204" pitchFamily="18" charset="0"/>
                      </a:rPr>
                      <m:t>+</m:t>
                    </m:r>
                    <m:r>
                      <a:rPr lang="ko-KR" altLang="en-US" sz="1200" b="1" i="1">
                        <a:solidFill>
                          <a:srgbClr val="00B050"/>
                        </a:solidFill>
                        <a:latin typeface="Cambria Math" panose="02040503050406030204" pitchFamily="18" charset="0"/>
                      </a:rPr>
                      <m:t>𝝀</m:t>
                    </m:r>
                    <m:nary>
                      <m:naryPr>
                        <m:chr m:val="∑"/>
                        <m:ctrlPr>
                          <a:rPr lang="en-US" altLang="ko-KR" sz="1200" i="1">
                            <a:latin typeface="Cambria Math" panose="02040503050406030204" pitchFamily="18" charset="0"/>
                          </a:rPr>
                        </m:ctrlPr>
                      </m:naryPr>
                      <m:sub>
                        <m:r>
                          <m:rPr>
                            <m:brk m:alnAt="23"/>
                          </m:rPr>
                          <a:rPr lang="en-US" altLang="ko-KR" sz="1200" i="1">
                            <a:latin typeface="Cambria Math" panose="02040503050406030204" pitchFamily="18" charset="0"/>
                          </a:rPr>
                          <m:t>𝑖</m:t>
                        </m:r>
                        <m:r>
                          <a:rPr lang="en-US" altLang="ko-KR" sz="1200" i="1">
                            <a:latin typeface="Cambria Math" panose="02040503050406030204" pitchFamily="18" charset="0"/>
                          </a:rPr>
                          <m:t>=0</m:t>
                        </m:r>
                      </m:sub>
                      <m:sup>
                        <m:r>
                          <a:rPr lang="en-US" altLang="ko-KR" sz="1200" b="0" i="1" smtClean="0">
                            <a:latin typeface="Cambria Math" panose="02040503050406030204" pitchFamily="18" charset="0"/>
                          </a:rPr>
                          <m:t>𝑘</m:t>
                        </m:r>
                      </m:sup>
                      <m:e>
                        <m:sSubSup>
                          <m:sSubSupPr>
                            <m:ctrlPr>
                              <a:rPr lang="en-US" altLang="ko-KR" sz="1200" i="1" smtClean="0">
                                <a:solidFill>
                                  <a:schemeClr val="accent1"/>
                                </a:solidFill>
                                <a:latin typeface="Cambria Math" panose="02040503050406030204" pitchFamily="18" charset="0"/>
                              </a:rPr>
                            </m:ctrlPr>
                          </m:sSubSupPr>
                          <m:e>
                            <m:r>
                              <a:rPr lang="ko-KR" altLang="en-US" sz="1200" i="1">
                                <a:solidFill>
                                  <a:schemeClr val="accent1"/>
                                </a:solidFill>
                                <a:latin typeface="Cambria Math" panose="02040503050406030204" pitchFamily="18" charset="0"/>
                              </a:rPr>
                              <m:t>𝛽</m:t>
                            </m:r>
                          </m:e>
                          <m:sub>
                            <m:r>
                              <a:rPr lang="en-US" altLang="ko-KR" sz="1200" i="1">
                                <a:solidFill>
                                  <a:schemeClr val="accent1"/>
                                </a:solidFill>
                                <a:latin typeface="Cambria Math" panose="02040503050406030204" pitchFamily="18" charset="0"/>
                              </a:rPr>
                              <m:t>𝑖</m:t>
                            </m:r>
                          </m:sub>
                          <m:sup>
                            <m:r>
                              <a:rPr lang="en-US" altLang="ko-KR" sz="1200" i="1">
                                <a:solidFill>
                                  <a:schemeClr val="accent1"/>
                                </a:solidFill>
                                <a:latin typeface="Cambria Math" panose="02040503050406030204" pitchFamily="18" charset="0"/>
                              </a:rPr>
                              <m:t>2</m:t>
                            </m:r>
                          </m:sup>
                        </m:sSubSup>
                      </m:e>
                    </m:nary>
                  </m:oMath>
                </a14:m>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Ridge regression: the minimization target is </a:t>
                </a:r>
                <a14:m>
                  <m:oMath xmlns:m="http://schemas.openxmlformats.org/officeDocument/2006/math">
                    <m:r>
                      <a:rPr lang="en-US" altLang="ko-KR" sz="1200" b="1" i="1" smtClean="0">
                        <a:solidFill>
                          <a:srgbClr val="FF0000"/>
                        </a:solidFill>
                        <a:latin typeface="Cambria Math" panose="02040503050406030204" pitchFamily="18" charset="0"/>
                      </a:rPr>
                      <m:t>𝑳</m:t>
                    </m:r>
                    <m:r>
                      <a:rPr lang="en-US" altLang="ko-KR" sz="1200">
                        <a:latin typeface="Cambria Math" panose="02040503050406030204" pitchFamily="18" charset="0"/>
                      </a:rPr>
                      <m:t>=</m:t>
                    </m:r>
                    <m:sSup>
                      <m:sSupPr>
                        <m:ctrlPr>
                          <a:rPr lang="en-US" altLang="ko-KR" sz="1200" i="1" smtClean="0">
                            <a:solidFill>
                              <a:schemeClr val="tx1"/>
                            </a:solidFill>
                            <a:latin typeface="Cambria Math" panose="02040503050406030204" pitchFamily="18" charset="0"/>
                          </a:rPr>
                        </m:ctrlPr>
                      </m:sSupPr>
                      <m:e>
                        <m:d>
                          <m:dPr>
                            <m:begChr m:val="|"/>
                            <m:endChr m:val="|"/>
                            <m:ctrlPr>
                              <a:rPr lang="en-US" altLang="ko-KR" sz="1200" b="1" i="1">
                                <a:solidFill>
                                  <a:schemeClr val="tx1"/>
                                </a:solidFill>
                                <a:latin typeface="Cambria Math" panose="02040503050406030204" pitchFamily="18" charset="0"/>
                              </a:rPr>
                            </m:ctrlPr>
                          </m:dPr>
                          <m:e>
                            <m:r>
                              <a:rPr lang="ko-KR" altLang="en-US" sz="1200" b="1" i="1">
                                <a:solidFill>
                                  <a:schemeClr val="tx1"/>
                                </a:solidFill>
                                <a:latin typeface="Cambria Math" panose="02040503050406030204" pitchFamily="18" charset="0"/>
                              </a:rPr>
                              <m:t>𝜺</m:t>
                            </m:r>
                          </m:e>
                        </m:d>
                      </m:e>
                      <m:sup>
                        <m:r>
                          <a:rPr lang="en-US" altLang="ko-KR" sz="1200" i="1">
                            <a:solidFill>
                              <a:schemeClr val="tx1"/>
                            </a:solidFill>
                            <a:latin typeface="Cambria Math" panose="02040503050406030204" pitchFamily="18" charset="0"/>
                          </a:rPr>
                          <m:t>2</m:t>
                        </m:r>
                      </m:sup>
                    </m:sSup>
                    <m:r>
                      <a:rPr lang="en-US" altLang="ko-KR" sz="1200" i="1">
                        <a:latin typeface="Cambria Math" panose="02040503050406030204" pitchFamily="18" charset="0"/>
                      </a:rPr>
                      <m:t>+</m:t>
                    </m:r>
                    <m:r>
                      <a:rPr lang="ko-KR" altLang="en-US" sz="1200" b="1" i="1">
                        <a:solidFill>
                          <a:srgbClr val="00B050"/>
                        </a:solidFill>
                        <a:latin typeface="Cambria Math" panose="02040503050406030204" pitchFamily="18" charset="0"/>
                      </a:rPr>
                      <m:t>𝝀</m:t>
                    </m:r>
                    <m:nary>
                      <m:naryPr>
                        <m:chr m:val="∑"/>
                        <m:ctrlPr>
                          <a:rPr lang="en-US" altLang="ko-KR" sz="1200" i="1">
                            <a:latin typeface="Cambria Math" panose="02040503050406030204" pitchFamily="18" charset="0"/>
                          </a:rPr>
                        </m:ctrlPr>
                      </m:naryPr>
                      <m:sub>
                        <m:r>
                          <m:rPr>
                            <m:brk m:alnAt="23"/>
                          </m:rPr>
                          <a:rPr lang="en-US" altLang="ko-KR" sz="1200" i="1">
                            <a:latin typeface="Cambria Math" panose="02040503050406030204" pitchFamily="18" charset="0"/>
                          </a:rPr>
                          <m:t>𝑖</m:t>
                        </m:r>
                        <m:r>
                          <a:rPr lang="en-US" altLang="ko-KR" sz="1200" i="1">
                            <a:latin typeface="Cambria Math" panose="02040503050406030204" pitchFamily="18" charset="0"/>
                          </a:rPr>
                          <m:t>=0</m:t>
                        </m:r>
                      </m:sub>
                      <m:sup>
                        <m:r>
                          <a:rPr lang="en-US" altLang="ko-KR" sz="1200" b="0" i="1" smtClean="0">
                            <a:latin typeface="Cambria Math" panose="02040503050406030204" pitchFamily="18" charset="0"/>
                          </a:rPr>
                          <m:t>𝑘</m:t>
                        </m:r>
                      </m:sup>
                      <m:e>
                        <m:d>
                          <m:dPr>
                            <m:begChr m:val="|"/>
                            <m:endChr m:val="|"/>
                            <m:ctrlPr>
                              <a:rPr lang="en-US" altLang="ko-KR" sz="1200" i="1" smtClean="0">
                                <a:solidFill>
                                  <a:srgbClr val="0070C0"/>
                                </a:solidFill>
                                <a:latin typeface="Cambria Math" panose="02040503050406030204" pitchFamily="18" charset="0"/>
                              </a:rPr>
                            </m:ctrlPr>
                          </m:dPr>
                          <m:e>
                            <m:sSub>
                              <m:sSubPr>
                                <m:ctrlPr>
                                  <a:rPr lang="en-US" altLang="ko-KR" sz="1200" i="1">
                                    <a:solidFill>
                                      <a:srgbClr val="0070C0"/>
                                    </a:solidFill>
                                    <a:latin typeface="Cambria Math" panose="02040503050406030204" pitchFamily="18" charset="0"/>
                                    <a:cs typeface="Times New Roman" panose="02020603050405020304" pitchFamily="18" charset="0"/>
                                    <a:sym typeface="Symbol" panose="05050102010706020507" pitchFamily="18" charset="2"/>
                                  </a:rPr>
                                </m:ctrlPr>
                              </m:sSubPr>
                              <m:e>
                                <m:r>
                                  <a:rPr lang="ko-KR" altLang="en-US" sz="1200" i="1">
                                    <a:solidFill>
                                      <a:srgbClr val="0070C0"/>
                                    </a:solidFill>
                                    <a:latin typeface="Cambria Math" panose="02040503050406030204" pitchFamily="18" charset="0"/>
                                    <a:cs typeface="Times New Roman" panose="02020603050405020304" pitchFamily="18" charset="0"/>
                                    <a:sym typeface="Symbol" panose="05050102010706020507" pitchFamily="18" charset="2"/>
                                  </a:rPr>
                                  <m:t>𝛽</m:t>
                                </m:r>
                              </m:e>
                              <m:sub>
                                <m:r>
                                  <a:rPr lang="en-US" altLang="ko-KR" sz="1200" i="1">
                                    <a:solidFill>
                                      <a:srgbClr val="0070C0"/>
                                    </a:solidFill>
                                    <a:latin typeface="Cambria Math" panose="02040503050406030204" pitchFamily="18" charset="0"/>
                                    <a:cs typeface="Times New Roman" panose="02020603050405020304" pitchFamily="18" charset="0"/>
                                    <a:sym typeface="Symbol" panose="05050102010706020507" pitchFamily="18" charset="2"/>
                                  </a:rPr>
                                  <m:t>𝑖</m:t>
                                </m:r>
                              </m:sub>
                            </m:sSub>
                          </m:e>
                        </m:d>
                      </m:e>
                    </m:nary>
                  </m:oMath>
                </a14:m>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Similarly, we will define an appropriate loss function for the logistic regression.</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will go a bit deeper into the details.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Please, remember that,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linear regression (OLS): the minimization target is </a:t>
                </a:r>
                <a:r>
                  <a:rPr lang="en-US" altLang="ko-KR" sz="1200" b="1" i="0">
                    <a:latin typeface="Cambria Math" panose="02040503050406030204" pitchFamily="18" charset="0"/>
                  </a:rPr>
                  <a:t>|</a:t>
                </a:r>
                <a:r>
                  <a:rPr lang="ko-KR" altLang="en-US" sz="1200" b="1" i="0">
                    <a:latin typeface="Cambria Math" panose="02040503050406030204" pitchFamily="18" charset="0"/>
                  </a:rPr>
                  <a:t>𝜺|</a:t>
                </a:r>
                <a:r>
                  <a:rPr lang="en-US" altLang="ko-KR" sz="1200" b="1" i="0">
                    <a:latin typeface="Cambria Math" panose="02040503050406030204" pitchFamily="18" charset="0"/>
                  </a:rPr>
                  <a:t>^</a:t>
                </a:r>
                <a:r>
                  <a:rPr lang="en-US" altLang="ko-KR" sz="1200" i="0">
                    <a:latin typeface="Cambria Math" panose="02040503050406030204" pitchFamily="18" charset="0"/>
                  </a:rPr>
                  <a:t>2</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Lasso regression: the minimization target is </a:t>
                </a:r>
                <a:r>
                  <a:rPr lang="en-US" altLang="ko-KR" sz="1200" b="1" i="0">
                    <a:solidFill>
                      <a:srgbClr val="FF0000"/>
                    </a:solidFill>
                    <a:latin typeface="Cambria Math" panose="02040503050406030204" pitchFamily="18" charset="0"/>
                  </a:rPr>
                  <a:t>𝑳</a:t>
                </a:r>
                <a:r>
                  <a:rPr lang="en-US" altLang="ko-KR" sz="1200" i="0">
                    <a:latin typeface="Cambria Math" panose="02040503050406030204" pitchFamily="18" charset="0"/>
                  </a:rPr>
                  <a:t>=</a:t>
                </a:r>
                <a:r>
                  <a:rPr lang="en-US" altLang="ko-KR" sz="1200" b="1" i="0">
                    <a:solidFill>
                      <a:schemeClr val="tx1"/>
                    </a:solidFill>
                    <a:latin typeface="Cambria Math" panose="02040503050406030204" pitchFamily="18" charset="0"/>
                  </a:rPr>
                  <a:t>|</a:t>
                </a:r>
                <a:r>
                  <a:rPr lang="ko-KR" altLang="en-US" sz="1200" b="1" i="0">
                    <a:solidFill>
                      <a:schemeClr val="tx1"/>
                    </a:solidFill>
                    <a:latin typeface="Cambria Math" panose="02040503050406030204" pitchFamily="18" charset="0"/>
                  </a:rPr>
                  <a:t>𝜺|</a:t>
                </a:r>
                <a:r>
                  <a:rPr lang="en-US" altLang="ko-KR" sz="1200" b="1" i="0">
                    <a:solidFill>
                      <a:schemeClr val="tx1"/>
                    </a:solidFill>
                    <a:latin typeface="Cambria Math" panose="02040503050406030204" pitchFamily="18" charset="0"/>
                  </a:rPr>
                  <a:t>^</a:t>
                </a:r>
                <a:r>
                  <a:rPr lang="en-US" altLang="ko-KR" sz="1200" i="0">
                    <a:solidFill>
                      <a:schemeClr val="tx1"/>
                    </a:solidFill>
                    <a:latin typeface="Cambria Math" panose="02040503050406030204" pitchFamily="18" charset="0"/>
                  </a:rPr>
                  <a:t>2</a:t>
                </a:r>
                <a:r>
                  <a:rPr lang="en-US" altLang="ko-KR" sz="1200" i="0">
                    <a:latin typeface="Cambria Math" panose="02040503050406030204" pitchFamily="18" charset="0"/>
                  </a:rPr>
                  <a:t>+</a:t>
                </a:r>
                <a:r>
                  <a:rPr lang="ko-KR" altLang="en-US" sz="1200" b="1" i="0">
                    <a:solidFill>
                      <a:srgbClr val="00B050"/>
                    </a:solidFill>
                    <a:latin typeface="Cambria Math" panose="02040503050406030204" pitchFamily="18" charset="0"/>
                  </a:rPr>
                  <a:t>𝝀</a:t>
                </a:r>
                <a:r>
                  <a:rPr lang="en-US" altLang="ko-KR" sz="1200" i="0">
                    <a:latin typeface="Cambria Math" panose="02040503050406030204" pitchFamily="18" charset="0"/>
                  </a:rPr>
                  <a:t>∑_(𝑖=0)</a:t>
                </a:r>
                <a:r>
                  <a:rPr lang="en-US" altLang="ko-KR" sz="1200" b="0" i="0">
                    <a:latin typeface="Cambria Math" panose="02040503050406030204" pitchFamily="18" charset="0"/>
                  </a:rPr>
                  <a:t>^𝑘</a:t>
                </a:r>
                <a:r>
                  <a:rPr lang="en-US" altLang="ko-KR" sz="1200" b="0" i="0">
                    <a:solidFill>
                      <a:schemeClr val="accent1"/>
                    </a:solidFill>
                    <a:latin typeface="Cambria Math" panose="02040503050406030204" pitchFamily="18" charset="0"/>
                  </a:rPr>
                  <a:t>▒</a:t>
                </a:r>
                <a:r>
                  <a:rPr lang="ko-KR" altLang="en-US" sz="1200" i="0">
                    <a:solidFill>
                      <a:schemeClr val="accent1"/>
                    </a:solidFill>
                    <a:latin typeface="Cambria Math" panose="02040503050406030204" pitchFamily="18" charset="0"/>
                  </a:rPr>
                  <a:t>𝛽</a:t>
                </a:r>
                <a:r>
                  <a:rPr lang="en-US" altLang="ko-KR" sz="1200" i="0">
                    <a:solidFill>
                      <a:schemeClr val="accent1"/>
                    </a:solidFill>
                    <a:latin typeface="Cambria Math" panose="02040503050406030204" pitchFamily="18" charset="0"/>
                  </a:rPr>
                  <a:t>_𝑖^2 </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Ridge regression: the minimization target is </a:t>
                </a:r>
                <a:r>
                  <a:rPr lang="en-US" altLang="ko-KR" sz="1200" b="1" i="0">
                    <a:solidFill>
                      <a:srgbClr val="FF0000"/>
                    </a:solidFill>
                    <a:latin typeface="Cambria Math" panose="02040503050406030204" pitchFamily="18" charset="0"/>
                  </a:rPr>
                  <a:t>𝑳</a:t>
                </a:r>
                <a:r>
                  <a:rPr lang="en-US" altLang="ko-KR" sz="1200" i="0">
                    <a:latin typeface="Cambria Math" panose="02040503050406030204" pitchFamily="18" charset="0"/>
                  </a:rPr>
                  <a:t>=</a:t>
                </a:r>
                <a:r>
                  <a:rPr lang="en-US" altLang="ko-KR" sz="1200" b="1" i="0">
                    <a:solidFill>
                      <a:schemeClr val="tx1"/>
                    </a:solidFill>
                    <a:latin typeface="Cambria Math" panose="02040503050406030204" pitchFamily="18" charset="0"/>
                  </a:rPr>
                  <a:t>|</a:t>
                </a:r>
                <a:r>
                  <a:rPr lang="ko-KR" altLang="en-US" sz="1200" b="1" i="0">
                    <a:solidFill>
                      <a:schemeClr val="tx1"/>
                    </a:solidFill>
                    <a:latin typeface="Cambria Math" panose="02040503050406030204" pitchFamily="18" charset="0"/>
                  </a:rPr>
                  <a:t>𝜺|</a:t>
                </a:r>
                <a:r>
                  <a:rPr lang="en-US" altLang="ko-KR" sz="1200" b="1" i="0">
                    <a:solidFill>
                      <a:schemeClr val="tx1"/>
                    </a:solidFill>
                    <a:latin typeface="Cambria Math" panose="02040503050406030204" pitchFamily="18" charset="0"/>
                  </a:rPr>
                  <a:t>^</a:t>
                </a:r>
                <a:r>
                  <a:rPr lang="en-US" altLang="ko-KR" sz="1200" i="0">
                    <a:solidFill>
                      <a:schemeClr val="tx1"/>
                    </a:solidFill>
                    <a:latin typeface="Cambria Math" panose="02040503050406030204" pitchFamily="18" charset="0"/>
                  </a:rPr>
                  <a:t>2</a:t>
                </a:r>
                <a:r>
                  <a:rPr lang="en-US" altLang="ko-KR" sz="1200" i="0">
                    <a:latin typeface="Cambria Math" panose="02040503050406030204" pitchFamily="18" charset="0"/>
                  </a:rPr>
                  <a:t>+</a:t>
                </a:r>
                <a:r>
                  <a:rPr lang="ko-KR" altLang="en-US" sz="1200" b="1" i="0">
                    <a:solidFill>
                      <a:srgbClr val="00B050"/>
                    </a:solidFill>
                    <a:latin typeface="Cambria Math" panose="02040503050406030204" pitchFamily="18" charset="0"/>
                  </a:rPr>
                  <a:t>𝝀</a:t>
                </a:r>
                <a:r>
                  <a:rPr lang="en-US" altLang="ko-KR" sz="1200" i="0">
                    <a:latin typeface="Cambria Math" panose="02040503050406030204" pitchFamily="18" charset="0"/>
                  </a:rPr>
                  <a:t>∑_(𝑖=0)</a:t>
                </a:r>
                <a:r>
                  <a:rPr lang="en-US" altLang="ko-KR" sz="1200" b="0" i="0">
                    <a:latin typeface="Cambria Math" panose="02040503050406030204" pitchFamily="18" charset="0"/>
                  </a:rPr>
                  <a:t>^𝑘</a:t>
                </a:r>
                <a:r>
                  <a:rPr lang="en-US" altLang="ko-KR" sz="1200" b="0" i="0">
                    <a:solidFill>
                      <a:srgbClr val="0070C0"/>
                    </a:solidFill>
                    <a:latin typeface="Cambria Math" panose="02040503050406030204" pitchFamily="18" charset="0"/>
                    <a:sym typeface="Symbol" panose="05050102010706020507" pitchFamily="18" charset="2"/>
                  </a:rPr>
                  <a:t>▒|</a:t>
                </a:r>
                <a:r>
                  <a:rPr lang="ko-KR" altLang="en-US" sz="1200" i="0">
                    <a:solidFill>
                      <a:srgbClr val="0070C0"/>
                    </a:solidFill>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solidFill>
                      <a:srgbClr val="0070C0"/>
                    </a:solidFill>
                    <a:latin typeface="Cambria Math" panose="02040503050406030204" pitchFamily="18" charset="0"/>
                    <a:cs typeface="Times New Roman" panose="02020603050405020304" pitchFamily="18" charset="0"/>
                    <a:sym typeface="Symbol" panose="05050102010706020507" pitchFamily="18" charset="2"/>
                  </a:rPr>
                  <a:t>_𝑖 | </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Similarly, we will define an appropriate loss function for the logistic regression.</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183</a:t>
            </a:fld>
            <a:endParaRPr lang="ko-KR" altLang="en-US"/>
          </a:p>
        </p:txBody>
      </p:sp>
    </p:spTree>
    <p:extLst>
      <p:ext uri="{BB962C8B-B14F-4D97-AF65-F5344CB8AC3E}">
        <p14:creationId xmlns:p14="http://schemas.microsoft.com/office/powerpoint/2010/main" val="2582096800"/>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Instead of pursuing the maximization of the logarithmic likelihood, we will minimize the </a:t>
                </a:r>
                <a:r>
                  <a:rPr lang="en-US" altLang="ko-KR" b="1" dirty="0"/>
                  <a:t>negative</a:t>
                </a:r>
                <a:r>
                  <a:rPr lang="en-US" altLang="ko-KR" dirty="0"/>
                  <a:t> logarithmic likelihood.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a:t>
                </a:r>
                <a:r>
                  <a:rPr lang="en-US" altLang="ko-KR" baseline="0" dirty="0"/>
                  <a:t> assume that t</a:t>
                </a:r>
                <a:r>
                  <a:rPr lang="en-US" altLang="ko-KR" dirty="0"/>
                  <a:t>he response </a:t>
                </a:r>
                <a14:m>
                  <m:oMath xmlns:m="http://schemas.openxmlformats.org/officeDocument/2006/math">
                    <m:r>
                      <a:rPr lang="en-US" altLang="ko-KR" i="1" dirty="0" smtClean="0">
                        <a:latin typeface="Cambria Math" panose="02040503050406030204" pitchFamily="18" charset="0"/>
                      </a:rPr>
                      <m:t>𝑌</m:t>
                    </m:r>
                  </m:oMath>
                </a14:m>
                <a:r>
                  <a:rPr lang="en-US" altLang="ko-KR" dirty="0"/>
                  <a:t> has</a:t>
                </a:r>
                <a:r>
                  <a:rPr lang="en-US" altLang="ko-KR" baseline="0" dirty="0"/>
                  <a:t> classes</a:t>
                </a:r>
                <a:r>
                  <a:rPr lang="en-US" altLang="ko-KR" dirty="0"/>
                  <a:t> </a:t>
                </a:r>
                <a14:m>
                  <m:oMath xmlns:m="http://schemas.openxmlformats.org/officeDocument/2006/math">
                    <m:d>
                      <m:dPr>
                        <m:begChr m:val="{"/>
                        <m:endChr m:val="}"/>
                        <m:ctrlPr>
                          <a:rPr lang="en-US" altLang="ko-KR" sz="1200" i="1" smtClean="0">
                            <a:latin typeface="Cambria Math" panose="02040503050406030204" pitchFamily="18" charset="0"/>
                            <a:cs typeface="Times New Roman" panose="02020603050405020304" pitchFamily="18" charset="0"/>
                          </a:rPr>
                        </m:ctrlPr>
                      </m:dPr>
                      <m:e>
                        <m:r>
                          <a:rPr lang="en-US" altLang="ko-KR" sz="1200" b="0" i="1" smtClean="0">
                            <a:latin typeface="Cambria Math" panose="02040503050406030204" pitchFamily="18" charset="0"/>
                            <a:cs typeface="Times New Roman" panose="02020603050405020304" pitchFamily="18" charset="0"/>
                          </a:rPr>
                          <m:t>−1</m:t>
                        </m:r>
                        <m:r>
                          <a:rPr lang="en-US" altLang="ko-KR" sz="1200" i="1">
                            <a:latin typeface="Cambria Math" panose="02040503050406030204" pitchFamily="18" charset="0"/>
                            <a:cs typeface="Times New Roman" panose="02020603050405020304" pitchFamily="18" charset="0"/>
                          </a:rPr>
                          <m:t>,</m:t>
                        </m:r>
                        <m:r>
                          <a:rPr lang="en-US" altLang="ko-KR" sz="1200" b="0" i="1" smtClean="0">
                            <a:latin typeface="Cambria Math" panose="02040503050406030204" pitchFamily="18" charset="0"/>
                            <a:cs typeface="Times New Roman" panose="02020603050405020304" pitchFamily="18" charset="0"/>
                          </a:rPr>
                          <m:t>+</m:t>
                        </m:r>
                        <m:r>
                          <a:rPr lang="en-US" altLang="ko-KR" sz="1200" i="1">
                            <a:latin typeface="Cambria Math" panose="02040503050406030204" pitchFamily="18" charset="0"/>
                            <a:cs typeface="Times New Roman" panose="02020603050405020304" pitchFamily="18" charset="0"/>
                          </a:rPr>
                          <m:t>1</m:t>
                        </m:r>
                      </m:e>
                    </m:d>
                  </m:oMath>
                </a14:m>
                <a:r>
                  <a:rPr lang="en-US" altLang="ko-KR" dirty="0"/>
                  <a:t> instead of </a:t>
                </a:r>
                <a14:m>
                  <m:oMath xmlns:m="http://schemas.openxmlformats.org/officeDocument/2006/math">
                    <m:d>
                      <m:dPr>
                        <m:begChr m:val="{"/>
                        <m:endChr m:val="}"/>
                        <m:ctrlPr>
                          <a:rPr lang="en-US" altLang="ko-KR" sz="1200" i="1" smtClean="0">
                            <a:latin typeface="Cambria Math" panose="02040503050406030204" pitchFamily="18" charset="0"/>
                            <a:cs typeface="Times New Roman" panose="02020603050405020304" pitchFamily="18" charset="0"/>
                          </a:rPr>
                        </m:ctrlPr>
                      </m:dPr>
                      <m:e>
                        <m:r>
                          <a:rPr lang="en-US" altLang="ko-KR" sz="1200" b="0" i="1" smtClean="0">
                            <a:latin typeface="Cambria Math" panose="02040503050406030204" pitchFamily="18" charset="0"/>
                            <a:cs typeface="Times New Roman" panose="02020603050405020304" pitchFamily="18" charset="0"/>
                          </a:rPr>
                          <m:t>0,1</m:t>
                        </m:r>
                      </m:e>
                    </m:d>
                  </m:oMath>
                </a14:m>
                <a:r>
                  <a:rPr lang="en-US" altLang="ko-KR" dirty="0"/>
                  <a:t>.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Instead of pursuing the maximization of the logarithmic likelihood, we will minimize the </a:t>
                </a:r>
                <a:r>
                  <a:rPr lang="en-US" altLang="ko-KR" b="1" dirty="0"/>
                  <a:t>negative</a:t>
                </a:r>
                <a:r>
                  <a:rPr lang="en-US" altLang="ko-KR" dirty="0"/>
                  <a:t> logarithmic likelihood.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a:t>
                </a:r>
                <a:r>
                  <a:rPr lang="en-US" altLang="ko-KR" baseline="0" dirty="0"/>
                  <a:t> assume that t</a:t>
                </a:r>
                <a:r>
                  <a:rPr lang="en-US" altLang="ko-KR" dirty="0"/>
                  <a:t>he response </a:t>
                </a:r>
                <a:r>
                  <a:rPr lang="en-US" altLang="ko-KR" i="0" dirty="0">
                    <a:latin typeface="Cambria Math" panose="02040503050406030204" pitchFamily="18" charset="0"/>
                  </a:rPr>
                  <a:t>𝑌</a:t>
                </a:r>
                <a:r>
                  <a:rPr lang="en-US" altLang="ko-KR" dirty="0"/>
                  <a:t> has</a:t>
                </a:r>
                <a:r>
                  <a:rPr lang="en-US" altLang="ko-KR" baseline="0" dirty="0"/>
                  <a:t> classes</a:t>
                </a:r>
                <a:r>
                  <a:rPr lang="en-US" altLang="ko-KR" dirty="0"/>
                  <a:t> </a:t>
                </a:r>
                <a:r>
                  <a:rPr lang="en-US" altLang="ko-KR" sz="1200" i="0">
                    <a:latin typeface="Cambria Math" panose="02040503050406030204" pitchFamily="18" charset="0"/>
                    <a:cs typeface="Times New Roman" panose="02020603050405020304" pitchFamily="18" charset="0"/>
                  </a:rPr>
                  <a:t>{</a:t>
                </a:r>
                <a:r>
                  <a:rPr lang="en-US" altLang="ko-KR" sz="1200" b="0" i="0">
                    <a:latin typeface="Cambria Math" panose="02040503050406030204" pitchFamily="18" charset="0"/>
                    <a:cs typeface="Times New Roman" panose="02020603050405020304" pitchFamily="18" charset="0"/>
                  </a:rPr>
                  <a:t>−1</a:t>
                </a:r>
                <a:r>
                  <a:rPr lang="en-US" altLang="ko-KR" sz="1200" i="0">
                    <a:latin typeface="Cambria Math" panose="02040503050406030204" pitchFamily="18" charset="0"/>
                    <a:cs typeface="Times New Roman" panose="02020603050405020304" pitchFamily="18" charset="0"/>
                  </a:rPr>
                  <a:t>,</a:t>
                </a:r>
                <a:r>
                  <a:rPr lang="en-US" altLang="ko-KR" sz="1200" b="0" i="0">
                    <a:latin typeface="Cambria Math" panose="02040503050406030204" pitchFamily="18" charset="0"/>
                    <a:cs typeface="Times New Roman" panose="02020603050405020304" pitchFamily="18" charset="0"/>
                  </a:rPr>
                  <a:t>+</a:t>
                </a:r>
                <a:r>
                  <a:rPr lang="en-US" altLang="ko-KR" sz="1200" i="0">
                    <a:latin typeface="Cambria Math" panose="02040503050406030204" pitchFamily="18" charset="0"/>
                    <a:cs typeface="Times New Roman" panose="02020603050405020304" pitchFamily="18" charset="0"/>
                  </a:rPr>
                  <a:t>1}</a:t>
                </a:r>
                <a:r>
                  <a:rPr lang="en-US" altLang="ko-KR" dirty="0"/>
                  <a:t> instead of </a:t>
                </a:r>
                <a:r>
                  <a:rPr lang="en-US" altLang="ko-KR" sz="1200" i="0">
                    <a:latin typeface="Cambria Math" panose="02040503050406030204" pitchFamily="18" charset="0"/>
                    <a:cs typeface="Times New Roman" panose="02020603050405020304" pitchFamily="18" charset="0"/>
                  </a:rPr>
                  <a:t>{</a:t>
                </a:r>
                <a:r>
                  <a:rPr lang="en-US" altLang="ko-KR" sz="1200" b="0" i="0">
                    <a:latin typeface="Cambria Math" panose="02040503050406030204" pitchFamily="18" charset="0"/>
                    <a:cs typeface="Times New Roman" panose="02020603050405020304" pitchFamily="18" charset="0"/>
                  </a:rPr>
                  <a:t>0,1}</a:t>
                </a:r>
                <a:r>
                  <a:rPr lang="en-US" altLang="ko-KR" dirty="0"/>
                  <a:t>. </a:t>
                </a:r>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184</a:t>
            </a:fld>
            <a:endParaRPr lang="ko-KR" altLang="en-US"/>
          </a:p>
        </p:txBody>
      </p:sp>
    </p:spTree>
    <p:extLst>
      <p:ext uri="{BB962C8B-B14F-4D97-AF65-F5344CB8AC3E}">
        <p14:creationId xmlns:p14="http://schemas.microsoft.com/office/powerpoint/2010/main" val="2361664143"/>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 xmlns:m="http://schemas.openxmlformats.org/officeDocument/2006/math">
                    <m:sSub>
                      <m:sSubPr>
                        <m:ctrlPr>
                          <a:rPr lang="ko-KR" altLang="ko-KR" sz="1200" i="1" smtClean="0">
                            <a:latin typeface="Cambria Math" panose="02040503050406030204" pitchFamily="18" charset="0"/>
                          </a:rPr>
                        </m:ctrlPr>
                      </m:sSubPr>
                      <m:e>
                        <m:r>
                          <a:rPr lang="en-US" altLang="ko-KR" sz="1200" b="1" i="1">
                            <a:latin typeface="Cambria Math" panose="02040503050406030204" pitchFamily="18" charset="0"/>
                          </a:rPr>
                          <m:t>𝒙</m:t>
                        </m:r>
                      </m:e>
                      <m:sub>
                        <m:r>
                          <a:rPr lang="en-US" altLang="ko-KR" sz="1200" i="1">
                            <a:latin typeface="Cambria Math" panose="02040503050406030204" pitchFamily="18" charset="0"/>
                          </a:rPr>
                          <m:t>𝑖</m:t>
                        </m:r>
                      </m:sub>
                    </m:sSub>
                  </m:oMath>
                </a14:m>
                <a:r>
                  <a:rPr lang="en-US" altLang="ko-KR" dirty="0"/>
                  <a:t> is a single column matrix that corresponds</a:t>
                </a:r>
                <a:r>
                  <a:rPr lang="en-US" altLang="ko-KR" baseline="0" dirty="0"/>
                  <a:t> to an observation. The sub-index </a:t>
                </a:r>
                <a14:m>
                  <m:oMath xmlns:m="http://schemas.openxmlformats.org/officeDocument/2006/math">
                    <m:r>
                      <a:rPr lang="en-US" altLang="ko-KR" i="1" baseline="0" dirty="0" smtClean="0">
                        <a:latin typeface="Cambria Math" panose="02040503050406030204" pitchFamily="18" charset="0"/>
                      </a:rPr>
                      <m:t>𝑖</m:t>
                    </m:r>
                  </m:oMath>
                </a14:m>
                <a:r>
                  <a:rPr lang="en-US" altLang="ko-KR" baseline="0" dirty="0"/>
                  <a:t> goes from </a:t>
                </a:r>
                <a14:m>
                  <m:oMath xmlns:m="http://schemas.openxmlformats.org/officeDocument/2006/math">
                    <m:r>
                      <a:rPr lang="en-US" altLang="ko-KR" i="1" baseline="0" dirty="0" smtClean="0">
                        <a:latin typeface="Cambria Math" panose="02040503050406030204" pitchFamily="18" charset="0"/>
                      </a:rPr>
                      <m:t>1</m:t>
                    </m:r>
                  </m:oMath>
                </a14:m>
                <a:r>
                  <a:rPr lang="en-US" altLang="ko-KR" baseline="0" dirty="0"/>
                  <a:t> to </a:t>
                </a:r>
                <a14:m>
                  <m:oMath xmlns:m="http://schemas.openxmlformats.org/officeDocument/2006/math">
                    <m:r>
                      <a:rPr lang="en-US" altLang="ko-KR" i="1" baseline="0" dirty="0" smtClean="0">
                        <a:latin typeface="Cambria Math" panose="02040503050406030204" pitchFamily="18" charset="0"/>
                      </a:rPr>
                      <m:t>𝑛</m:t>
                    </m:r>
                  </m:oMath>
                </a14:m>
                <a:r>
                  <a:rPr lang="en-US" altLang="ko-KR" baseline="0" dirty="0"/>
                  <a:t>.</a:t>
                </a:r>
              </a:p>
              <a:p>
                <a:pPr marL="0" marR="0" lvl="0" indent="0" algn="l" defTabSz="914400" rtl="0" eaLnBrk="1" fontAlgn="auto" latinLnBrk="1" hangingPunct="1">
                  <a:lnSpc>
                    <a:spcPct val="100000"/>
                  </a:lnSpc>
                  <a:spcBef>
                    <a:spcPts val="0"/>
                  </a:spcBef>
                  <a:spcAft>
                    <a:spcPts val="0"/>
                  </a:spcAft>
                  <a:buClrTx/>
                  <a:buSzTx/>
                  <a:buFontTx/>
                  <a:buNone/>
                  <a:tabLst/>
                  <a:defRPr/>
                </a:pPr>
                <a14:m>
                  <m:oMath xmlns:m="http://schemas.openxmlformats.org/officeDocument/2006/math">
                    <m:sSubSup>
                      <m:sSubSupPr>
                        <m:ctrlPr>
                          <a:rPr lang="ko-KR" altLang="ko-KR" sz="1200" i="1" smtClean="0">
                            <a:latin typeface="Cambria Math" panose="02040503050406030204" pitchFamily="18" charset="0"/>
                          </a:rPr>
                        </m:ctrlPr>
                      </m:sSubSupPr>
                      <m:e>
                        <m:r>
                          <a:rPr lang="en-US" altLang="ko-KR" sz="1200" b="1" i="1">
                            <a:latin typeface="Cambria Math" panose="02040503050406030204" pitchFamily="18" charset="0"/>
                          </a:rPr>
                          <m:t>𝒙</m:t>
                        </m:r>
                      </m:e>
                      <m:sub>
                        <m:r>
                          <a:rPr lang="en-US" altLang="ko-KR" sz="1200" i="1">
                            <a:latin typeface="Cambria Math"/>
                          </a:rPr>
                          <m:t>𝑖</m:t>
                        </m:r>
                      </m:sub>
                      <m:sup>
                        <m:r>
                          <a:rPr lang="en-US" altLang="ko-KR" sz="1200" i="1">
                            <a:latin typeface="Cambria Math"/>
                          </a:rPr>
                          <m:t>𝑡</m:t>
                        </m:r>
                      </m:sup>
                    </m:sSubSup>
                  </m:oMath>
                </a14:m>
                <a:r>
                  <a:rPr lang="en-US" altLang="ko-KR" baseline="0" dirty="0"/>
                  <a:t> is the transpose of </a:t>
                </a:r>
                <a14:m>
                  <m:oMath xmlns:m="http://schemas.openxmlformats.org/officeDocument/2006/math">
                    <m:sSub>
                      <m:sSubPr>
                        <m:ctrlPr>
                          <a:rPr lang="ko-KR" altLang="ko-KR" sz="1200" i="1" smtClean="0">
                            <a:latin typeface="Cambria Math" panose="02040503050406030204" pitchFamily="18" charset="0"/>
                          </a:rPr>
                        </m:ctrlPr>
                      </m:sSubPr>
                      <m:e>
                        <m:r>
                          <a:rPr lang="en-US" altLang="ko-KR" sz="1200" b="1" i="1">
                            <a:latin typeface="Cambria Math" panose="02040503050406030204" pitchFamily="18" charset="0"/>
                          </a:rPr>
                          <m:t>𝒙</m:t>
                        </m:r>
                      </m:e>
                      <m:sub>
                        <m:r>
                          <a:rPr lang="en-US" altLang="ko-KR" sz="1200" i="1">
                            <a:latin typeface="Cambria Math" panose="02040503050406030204" pitchFamily="18" charset="0"/>
                          </a:rPr>
                          <m:t>𝑖</m:t>
                        </m:r>
                      </m:sub>
                    </m:sSub>
                  </m:oMath>
                </a14:m>
                <a:r>
                  <a:rPr lang="en-US" altLang="ko-KR" dirty="0"/>
                  <a:t>. </a:t>
                </a:r>
                <a:endParaRPr lang="en-US" altLang="ko-KR" baseline="0" dirty="0"/>
              </a:p>
              <a:p>
                <a:pPr marL="0" marR="0" lvl="0" indent="0" algn="l" defTabSz="914400" rtl="0" eaLnBrk="1" fontAlgn="auto" latinLnBrk="1" hangingPunct="1">
                  <a:lnSpc>
                    <a:spcPct val="100000"/>
                  </a:lnSpc>
                  <a:spcBef>
                    <a:spcPts val="0"/>
                  </a:spcBef>
                  <a:spcAft>
                    <a:spcPts val="0"/>
                  </a:spcAft>
                  <a:buClrTx/>
                  <a:buSzTx/>
                  <a:buFontTx/>
                  <a:buNone/>
                  <a:tabLst/>
                  <a:defRPr/>
                </a:pPr>
                <a14:m>
                  <m:oMath xmlns:m="http://schemas.openxmlformats.org/officeDocument/2006/math">
                    <m:r>
                      <a:rPr lang="ko-KR" altLang="en-US" sz="1200" b="1" i="1" smtClean="0">
                        <a:latin typeface="Cambria Math" panose="02040503050406030204" pitchFamily="18" charset="0"/>
                      </a:rPr>
                      <m:t>𝜷</m:t>
                    </m:r>
                  </m:oMath>
                </a14:m>
                <a:r>
                  <a:rPr lang="en-US" altLang="ko-KR" dirty="0"/>
                  <a:t> is a single column matrix that</a:t>
                </a:r>
                <a:r>
                  <a:rPr lang="en-US" altLang="ko-KR" baseline="0" dirty="0"/>
                  <a:t> contains the model parameters.</a:t>
                </a:r>
              </a:p>
              <a:p>
                <a:pPr marL="0" marR="0" lvl="0" indent="0" algn="l" defTabSz="914400" rtl="0" eaLnBrk="1" fontAlgn="auto" latinLnBrk="1" hangingPunct="1">
                  <a:lnSpc>
                    <a:spcPct val="100000"/>
                  </a:lnSpc>
                  <a:spcBef>
                    <a:spcPts val="0"/>
                  </a:spcBef>
                  <a:spcAft>
                    <a:spcPts val="0"/>
                  </a:spcAft>
                  <a:buClrTx/>
                  <a:buSzTx/>
                  <a:buFontTx/>
                  <a:buNone/>
                  <a:tabLst/>
                  <a:defRPr/>
                </a:pPr>
                <a14:m>
                  <m:oMath xmlns:m="http://schemas.openxmlformats.org/officeDocument/2006/math">
                    <m:sSup>
                      <m:sSupPr>
                        <m:ctrlPr>
                          <a:rPr lang="ko-KR" altLang="ko-KR" sz="1200" i="1" smtClean="0">
                            <a:latin typeface="Cambria Math" panose="02040503050406030204" pitchFamily="18" charset="0"/>
                          </a:rPr>
                        </m:ctrlPr>
                      </m:sSupPr>
                      <m:e>
                        <m:r>
                          <a:rPr lang="ko-KR" altLang="en-US" sz="1200" b="1" i="1">
                            <a:latin typeface="Cambria Math" panose="02040503050406030204" pitchFamily="18" charset="0"/>
                          </a:rPr>
                          <m:t>𝜷</m:t>
                        </m:r>
                      </m:e>
                      <m:sup>
                        <m:r>
                          <a:rPr lang="en-US" altLang="ko-KR" sz="1200" i="1">
                            <a:latin typeface="Cambria Math"/>
                          </a:rPr>
                          <m:t>𝑡</m:t>
                        </m:r>
                      </m:sup>
                    </m:sSup>
                    <m:r>
                      <a:rPr lang="en-US" altLang="ko-KR" sz="1200" i="1">
                        <a:latin typeface="Cambria Math"/>
                      </a:rPr>
                      <m:t> </m:t>
                    </m:r>
                  </m:oMath>
                </a14:m>
                <a:r>
                  <a:rPr lang="en-US" altLang="ko-KR" baseline="0" dirty="0"/>
                  <a:t>is the transpose of </a:t>
                </a:r>
                <a14:m>
                  <m:oMath xmlns:m="http://schemas.openxmlformats.org/officeDocument/2006/math">
                    <m:r>
                      <a:rPr lang="ko-KR" altLang="en-US" sz="1200" b="1" i="1" smtClean="0">
                        <a:latin typeface="Cambria Math" panose="02040503050406030204" pitchFamily="18" charset="0"/>
                      </a:rPr>
                      <m:t>𝜷</m:t>
                    </m:r>
                  </m:oMath>
                </a14:m>
                <a:r>
                  <a:rPr lang="en-US" altLang="ko-KR" dirty="0"/>
                  <a:t>. </a:t>
                </a:r>
                <a:endParaRPr lang="en-US" altLang="ko-KR" baseline="0"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i="0">
                    <a:latin typeface="Cambria Math" panose="02040503050406030204" pitchFamily="18" charset="0"/>
                  </a:rPr>
                  <a:t>𝒙</a:t>
                </a:r>
                <a:r>
                  <a:rPr lang="ko-KR" altLang="ko-KR" sz="1200" b="1" i="0">
                    <a:latin typeface="Cambria Math" panose="02040503050406030204" pitchFamily="18" charset="0"/>
                  </a:rPr>
                  <a:t>_</a:t>
                </a:r>
                <a:r>
                  <a:rPr lang="en-US" altLang="ko-KR" sz="1200" i="0">
                    <a:latin typeface="Cambria Math" panose="02040503050406030204" pitchFamily="18" charset="0"/>
                  </a:rPr>
                  <a:t>𝑖</a:t>
                </a:r>
                <a:r>
                  <a:rPr lang="en-US" altLang="ko-KR" dirty="0"/>
                  <a:t> is a single column matrix that corresponds</a:t>
                </a:r>
                <a:r>
                  <a:rPr lang="en-US" altLang="ko-KR" baseline="0" dirty="0"/>
                  <a:t> to an observation. The sub-index </a:t>
                </a:r>
                <a:r>
                  <a:rPr lang="en-US" altLang="ko-KR" i="0" baseline="0" dirty="0">
                    <a:latin typeface="Cambria Math" panose="02040503050406030204" pitchFamily="18" charset="0"/>
                  </a:rPr>
                  <a:t>𝑖</a:t>
                </a:r>
                <a:r>
                  <a:rPr lang="en-US" altLang="ko-KR" baseline="0" dirty="0"/>
                  <a:t> goes from </a:t>
                </a:r>
                <a:r>
                  <a:rPr lang="en-US" altLang="ko-KR" i="0" baseline="0" dirty="0">
                    <a:latin typeface="Cambria Math" panose="02040503050406030204" pitchFamily="18" charset="0"/>
                  </a:rPr>
                  <a:t>1</a:t>
                </a:r>
                <a:r>
                  <a:rPr lang="en-US" altLang="ko-KR" baseline="0" dirty="0"/>
                  <a:t> to </a:t>
                </a:r>
                <a:r>
                  <a:rPr lang="en-US" altLang="ko-KR" i="0" baseline="0" dirty="0">
                    <a:latin typeface="Cambria Math" panose="02040503050406030204" pitchFamily="18" charset="0"/>
                  </a:rPr>
                  <a:t>𝑛</a:t>
                </a:r>
                <a:r>
                  <a:rPr lang="en-US" altLang="ko-KR" baseline="0"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i="0">
                    <a:latin typeface="Cambria Math" panose="02040503050406030204" pitchFamily="18" charset="0"/>
                  </a:rPr>
                  <a:t>𝒙</a:t>
                </a:r>
                <a:r>
                  <a:rPr lang="ko-KR" altLang="ko-KR" sz="1200" b="1" i="0">
                    <a:latin typeface="Cambria Math" panose="02040503050406030204" pitchFamily="18" charset="0"/>
                  </a:rPr>
                  <a:t>_</a:t>
                </a:r>
                <a:r>
                  <a:rPr lang="en-US" altLang="ko-KR" sz="1200" i="0">
                    <a:latin typeface="Cambria Math"/>
                  </a:rPr>
                  <a:t>𝑖</a:t>
                </a:r>
                <a:r>
                  <a:rPr lang="en-US" altLang="ko-KR" sz="1200" i="0">
                    <a:latin typeface="Cambria Math" panose="02040503050406030204" pitchFamily="18" charset="0"/>
                  </a:rPr>
                  <a:t>^</a:t>
                </a:r>
                <a:r>
                  <a:rPr lang="en-US" altLang="ko-KR" sz="1200" i="0">
                    <a:latin typeface="Cambria Math"/>
                  </a:rPr>
                  <a:t>𝑡</a:t>
                </a:r>
                <a:r>
                  <a:rPr lang="en-US" altLang="ko-KR" baseline="0" dirty="0"/>
                  <a:t> is the transpose of </a:t>
                </a:r>
                <a:r>
                  <a:rPr lang="en-US" altLang="ko-KR" sz="1200" b="1" i="0">
                    <a:latin typeface="Cambria Math" panose="02040503050406030204" pitchFamily="18" charset="0"/>
                  </a:rPr>
                  <a:t>𝒙</a:t>
                </a:r>
                <a:r>
                  <a:rPr lang="ko-KR" altLang="ko-KR" sz="1200" b="1" i="0">
                    <a:latin typeface="Cambria Math" panose="02040503050406030204" pitchFamily="18" charset="0"/>
                  </a:rPr>
                  <a:t>_</a:t>
                </a:r>
                <a:r>
                  <a:rPr lang="en-US" altLang="ko-KR" sz="1200" i="0">
                    <a:latin typeface="Cambria Math" panose="02040503050406030204" pitchFamily="18" charset="0"/>
                  </a:rPr>
                  <a:t>𝑖</a:t>
                </a:r>
                <a:r>
                  <a:rPr lang="en-US" altLang="ko-KR" dirty="0"/>
                  <a:t>. </a:t>
                </a:r>
                <a:endParaRPr lang="en-US" altLang="ko-KR" baseline="0" dirty="0"/>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1" i="0">
                    <a:latin typeface="Cambria Math" panose="02040503050406030204" pitchFamily="18" charset="0"/>
                  </a:rPr>
                  <a:t>𝜷</a:t>
                </a:r>
                <a:r>
                  <a:rPr lang="en-US" altLang="ko-KR" dirty="0"/>
                  <a:t> is a single column matrix that</a:t>
                </a:r>
                <a:r>
                  <a:rPr lang="en-US" altLang="ko-KR" baseline="0" dirty="0"/>
                  <a:t> contains the model parameters.</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1" i="0">
                    <a:latin typeface="Cambria Math" panose="02040503050406030204" pitchFamily="18" charset="0"/>
                  </a:rPr>
                  <a:t>𝜷</a:t>
                </a:r>
                <a:r>
                  <a:rPr lang="ko-KR" altLang="ko-KR" sz="1200" b="1" i="0">
                    <a:latin typeface="Cambria Math" panose="02040503050406030204" pitchFamily="18" charset="0"/>
                  </a:rPr>
                  <a:t>^</a:t>
                </a:r>
                <a:r>
                  <a:rPr lang="en-US" altLang="ko-KR" sz="1200" i="0">
                    <a:latin typeface="Cambria Math"/>
                  </a:rPr>
                  <a:t>𝑡  </a:t>
                </a:r>
                <a:r>
                  <a:rPr lang="en-US" altLang="ko-KR" baseline="0" dirty="0"/>
                  <a:t>is the transpose of </a:t>
                </a:r>
                <a:r>
                  <a:rPr lang="ko-KR" altLang="en-US" sz="1200" b="1" i="0">
                    <a:latin typeface="Cambria Math" panose="02040503050406030204" pitchFamily="18" charset="0"/>
                  </a:rPr>
                  <a:t>𝜷</a:t>
                </a:r>
                <a:r>
                  <a:rPr lang="en-US" altLang="ko-KR" dirty="0"/>
                  <a:t>. </a:t>
                </a:r>
                <a:endParaRPr lang="en-US" altLang="ko-KR" baseline="0"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185</a:t>
            </a:fld>
            <a:endParaRPr lang="ko-KR" altLang="en-US"/>
          </a:p>
        </p:txBody>
      </p:sp>
    </p:spTree>
    <p:extLst>
      <p:ext uri="{BB962C8B-B14F-4D97-AF65-F5344CB8AC3E}">
        <p14:creationId xmlns:p14="http://schemas.microsoft.com/office/powerpoint/2010/main" val="893757737"/>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the expression for the gradient is given.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gradient is a vector (or a single column matrix) that contains the direction of steepest growth of </a:t>
                </a:r>
                <a14:m>
                  <m:oMath xmlns:m="http://schemas.openxmlformats.org/officeDocument/2006/math">
                    <m:r>
                      <a:rPr lang="en-US" altLang="ko-KR" sz="1200" i="1" dirty="0" smtClean="0">
                        <a:solidFill>
                          <a:srgbClr val="FF0000"/>
                        </a:solidFill>
                        <a:latin typeface="Cambria Math" panose="02040503050406030204" pitchFamily="18" charset="0"/>
                        <a:cs typeface="Times New Roman" panose="02020603050405020304" pitchFamily="18" charset="0"/>
                      </a:rPr>
                      <m:t>𝐿</m:t>
                    </m:r>
                    <m:r>
                      <a:rPr lang="en-US" altLang="ko-KR" sz="1200" i="1">
                        <a:solidFill>
                          <a:srgbClr val="FF0000"/>
                        </a:solidFill>
                        <a:latin typeface="Cambria Math" panose="02040503050406030204" pitchFamily="18" charset="0"/>
                      </a:rPr>
                      <m:t>(</m:t>
                    </m:r>
                    <m:r>
                      <a:rPr lang="en-US" altLang="ko-KR" sz="1200" b="1" i="1">
                        <a:solidFill>
                          <a:srgbClr val="FF0000"/>
                        </a:solidFill>
                        <a:latin typeface="Cambria Math" panose="02040503050406030204" pitchFamily="18" charset="0"/>
                        <a:ea typeface="Cambria Math" panose="02040503050406030204" pitchFamily="18" charset="0"/>
                      </a:rPr>
                      <m:t>𝜷</m:t>
                    </m:r>
                    <m:r>
                      <a:rPr lang="en-US" altLang="ko-KR" sz="1200" i="1">
                        <a:solidFill>
                          <a:srgbClr val="FF0000"/>
                        </a:solidFill>
                        <a:latin typeface="Cambria Math" panose="02040503050406030204" pitchFamily="18" charset="0"/>
                      </a:rPr>
                      <m:t>)</m:t>
                    </m:r>
                  </m:oMath>
                </a14:m>
                <a:r>
                  <a:rPr lang="en-US" altLang="ko-KR" sz="1200" dirty="0">
                    <a:latin typeface="Times New Roman" panose="02020603050405020304" pitchFamily="18" charset="0"/>
                    <a:cs typeface="Times New Roman" panose="02020603050405020304" pitchFamily="18" charset="0"/>
                  </a:rPr>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Inversely, the negative gradient </a:t>
                </a:r>
                <a:r>
                  <a:rPr lang="en-US" altLang="ko-KR" dirty="0"/>
                  <a:t>contains the direction of steepest descent of </a:t>
                </a:r>
                <a14:m>
                  <m:oMath xmlns:m="http://schemas.openxmlformats.org/officeDocument/2006/math">
                    <m:r>
                      <a:rPr lang="en-US" altLang="ko-KR" sz="1200" i="1" dirty="0" smtClean="0">
                        <a:solidFill>
                          <a:srgbClr val="FF0000"/>
                        </a:solidFill>
                        <a:latin typeface="Cambria Math" panose="02040503050406030204" pitchFamily="18" charset="0"/>
                        <a:cs typeface="Times New Roman" panose="02020603050405020304" pitchFamily="18" charset="0"/>
                      </a:rPr>
                      <m:t>𝐿</m:t>
                    </m:r>
                    <m:r>
                      <a:rPr lang="en-US" altLang="ko-KR" sz="1200" i="1">
                        <a:solidFill>
                          <a:srgbClr val="FF0000"/>
                        </a:solidFill>
                        <a:latin typeface="Cambria Math" panose="02040503050406030204" pitchFamily="18" charset="0"/>
                      </a:rPr>
                      <m:t>(</m:t>
                    </m:r>
                    <m:r>
                      <a:rPr lang="en-US" altLang="ko-KR" sz="1200" b="1" i="1">
                        <a:solidFill>
                          <a:srgbClr val="FF0000"/>
                        </a:solidFill>
                        <a:latin typeface="Cambria Math" panose="02040503050406030204" pitchFamily="18" charset="0"/>
                        <a:ea typeface="Cambria Math" panose="02040503050406030204" pitchFamily="18" charset="0"/>
                      </a:rPr>
                      <m:t>𝜷</m:t>
                    </m:r>
                    <m:r>
                      <a:rPr lang="en-US" altLang="ko-KR" sz="1200" i="1">
                        <a:solidFill>
                          <a:srgbClr val="FF0000"/>
                        </a:solidFill>
                        <a:latin typeface="Cambria Math" panose="02040503050406030204" pitchFamily="18" charset="0"/>
                      </a:rPr>
                      <m:t>)</m:t>
                    </m:r>
                  </m:oMath>
                </a14:m>
                <a:r>
                  <a:rPr lang="en-US" altLang="ko-KR" sz="1200" dirty="0">
                    <a:latin typeface="Times New Roman" panose="02020603050405020304" pitchFamily="18" charset="0"/>
                    <a:cs typeface="Times New Roman" panose="02020603050405020304" pitchFamily="18" charset="0"/>
                  </a:rPr>
                  <a:t>.</a:t>
                </a: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the expression for the gradient is given.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gradient is a vector (or a single column matrix) that contains the direction of steepest growth of </a:t>
                </a:r>
                <a:r>
                  <a:rPr lang="en-US" altLang="ko-KR" sz="1200" i="0" dirty="0">
                    <a:solidFill>
                      <a:srgbClr val="FF0000"/>
                    </a:solidFill>
                    <a:latin typeface="Cambria Math" panose="02040503050406030204" pitchFamily="18" charset="0"/>
                    <a:cs typeface="Times New Roman" panose="02020603050405020304" pitchFamily="18" charset="0"/>
                  </a:rPr>
                  <a:t>𝐿</a:t>
                </a:r>
                <a:r>
                  <a:rPr lang="en-US" altLang="ko-KR" sz="1200" i="0">
                    <a:solidFill>
                      <a:srgbClr val="FF0000"/>
                    </a:solidFill>
                    <a:latin typeface="Cambria Math" panose="02040503050406030204" pitchFamily="18" charset="0"/>
                  </a:rPr>
                  <a:t>(</a:t>
                </a:r>
                <a:r>
                  <a:rPr lang="en-US" altLang="ko-KR" sz="1200" b="1" i="0">
                    <a:solidFill>
                      <a:srgbClr val="FF0000"/>
                    </a:solidFill>
                    <a:latin typeface="Cambria Math" panose="02040503050406030204" pitchFamily="18" charset="0"/>
                    <a:ea typeface="Cambria Math" panose="02040503050406030204" pitchFamily="18" charset="0"/>
                  </a:rPr>
                  <a:t>𝜷</a:t>
                </a:r>
                <a:r>
                  <a:rPr lang="en-US" altLang="ko-KR" sz="1200" i="0">
                    <a:solidFill>
                      <a:srgbClr val="FF0000"/>
                    </a:solidFill>
                    <a:latin typeface="Cambria Math" panose="02040503050406030204" pitchFamily="18" charset="0"/>
                  </a:rPr>
                  <a:t>)</a:t>
                </a:r>
                <a:r>
                  <a:rPr lang="en-US" altLang="ko-KR" sz="1200" dirty="0">
                    <a:latin typeface="Times New Roman" panose="02020603050405020304" pitchFamily="18" charset="0"/>
                    <a:cs typeface="Times New Roman" panose="02020603050405020304" pitchFamily="18" charset="0"/>
                  </a:rPr>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Inversely, the negative gradient </a:t>
                </a:r>
                <a:r>
                  <a:rPr lang="en-US" altLang="ko-KR" dirty="0"/>
                  <a:t>contains the direction of steepest descent of </a:t>
                </a:r>
                <a:r>
                  <a:rPr lang="en-US" altLang="ko-KR" sz="1200" i="0" dirty="0">
                    <a:solidFill>
                      <a:srgbClr val="FF0000"/>
                    </a:solidFill>
                    <a:latin typeface="Cambria Math" panose="02040503050406030204" pitchFamily="18" charset="0"/>
                    <a:cs typeface="Times New Roman" panose="02020603050405020304" pitchFamily="18" charset="0"/>
                  </a:rPr>
                  <a:t>𝐿</a:t>
                </a:r>
                <a:r>
                  <a:rPr lang="en-US" altLang="ko-KR" sz="1200" i="0">
                    <a:solidFill>
                      <a:srgbClr val="FF0000"/>
                    </a:solidFill>
                    <a:latin typeface="Cambria Math" panose="02040503050406030204" pitchFamily="18" charset="0"/>
                  </a:rPr>
                  <a:t>(</a:t>
                </a:r>
                <a:r>
                  <a:rPr lang="en-US" altLang="ko-KR" sz="1200" b="1" i="0">
                    <a:solidFill>
                      <a:srgbClr val="FF0000"/>
                    </a:solidFill>
                    <a:latin typeface="Cambria Math" panose="02040503050406030204" pitchFamily="18" charset="0"/>
                    <a:ea typeface="Cambria Math" panose="02040503050406030204" pitchFamily="18" charset="0"/>
                  </a:rPr>
                  <a:t>𝜷</a:t>
                </a:r>
                <a:r>
                  <a:rPr lang="en-US" altLang="ko-KR" sz="1200" i="0">
                    <a:solidFill>
                      <a:srgbClr val="FF0000"/>
                    </a:solidFill>
                    <a:latin typeface="Cambria Math" panose="02040503050406030204" pitchFamily="18" charset="0"/>
                  </a:rPr>
                  <a:t>)</a:t>
                </a:r>
                <a:r>
                  <a:rPr lang="en-US" altLang="ko-KR" sz="1200" dirty="0">
                    <a:latin typeface="Times New Roman" panose="02020603050405020304" pitchFamily="18" charset="0"/>
                    <a:cs typeface="Times New Roman" panose="02020603050405020304" pitchFamily="18" charset="0"/>
                  </a:rPr>
                  <a:t>.</a:t>
                </a: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186</a:t>
            </a:fld>
            <a:endParaRPr lang="ko-KR" altLang="en-US"/>
          </a:p>
        </p:txBody>
      </p:sp>
    </p:spTree>
    <p:extLst>
      <p:ext uri="{BB962C8B-B14F-4D97-AF65-F5344CB8AC3E}">
        <p14:creationId xmlns:p14="http://schemas.microsoft.com/office/powerpoint/2010/main" val="166436662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The gradient </a:t>
                </a:r>
                <a14:m>
                  <m:oMath xmlns:m="http://schemas.openxmlformats.org/officeDocument/2006/math">
                    <m:r>
                      <a:rPr lang="en-US" altLang="ko-KR" sz="1200" b="1" i="1">
                        <a:solidFill>
                          <a:srgbClr val="FF0000"/>
                        </a:solidFill>
                        <a:latin typeface="Cambria Math" panose="02040503050406030204" pitchFamily="18" charset="0"/>
                      </a:rPr>
                      <m:t>𝜵</m:t>
                    </m:r>
                    <m:r>
                      <a:rPr lang="en-US" altLang="ko-KR" sz="1200" i="1">
                        <a:solidFill>
                          <a:srgbClr val="FF0000"/>
                        </a:solidFill>
                        <a:latin typeface="Cambria Math" panose="02040503050406030204" pitchFamily="18" charset="0"/>
                      </a:rPr>
                      <m:t>𝐿</m:t>
                    </m:r>
                    <m:r>
                      <a:rPr lang="en-US" altLang="ko-KR" sz="1200" i="1" smtClean="0">
                        <a:solidFill>
                          <a:srgbClr val="FF0000"/>
                        </a:solidFill>
                        <a:latin typeface="Cambria Math" panose="02040503050406030204" pitchFamily="18" charset="0"/>
                      </a:rPr>
                      <m:t>(</m:t>
                    </m:r>
                    <m:r>
                      <a:rPr lang="en-US" altLang="ko-KR" sz="1200" b="1" i="1" smtClean="0">
                        <a:solidFill>
                          <a:srgbClr val="FF0000"/>
                        </a:solidFill>
                        <a:latin typeface="Cambria Math" panose="02040503050406030204" pitchFamily="18" charset="0"/>
                        <a:ea typeface="Cambria Math" panose="02040503050406030204" pitchFamily="18" charset="0"/>
                      </a:rPr>
                      <m:t>𝜷</m:t>
                    </m:r>
                    <m:r>
                      <a:rPr lang="en-US" altLang="ko-KR" sz="1200" i="1" smtClean="0">
                        <a:solidFill>
                          <a:srgbClr val="FF0000"/>
                        </a:solidFill>
                        <a:latin typeface="Cambria Math" panose="02040503050406030204" pitchFamily="18" charset="0"/>
                      </a:rPr>
                      <m:t>)</m:t>
                    </m:r>
                  </m:oMath>
                </a14:m>
                <a:r>
                  <a:rPr lang="en-US" altLang="ko-KR" sz="1200" dirty="0">
                    <a:latin typeface="Times New Roman" panose="02020603050405020304" pitchFamily="18" charset="0"/>
                    <a:cs typeface="Times New Roman" panose="02020603050405020304" pitchFamily="18" charset="0"/>
                  </a:rPr>
                  <a:t> </a:t>
                </a:r>
                <a:r>
                  <a:rPr lang="en-US" altLang="ko-KR" dirty="0"/>
                  <a:t>is a single column matrix that</a:t>
                </a:r>
                <a:r>
                  <a:rPr lang="en-US" altLang="ko-KR" baseline="0" dirty="0"/>
                  <a:t> contains the partial derivatives.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The gradient </a:t>
                </a:r>
                <a:r>
                  <a:rPr lang="en-US" altLang="ko-KR" sz="1200" b="1" i="0">
                    <a:solidFill>
                      <a:srgbClr val="FF0000"/>
                    </a:solidFill>
                    <a:latin typeface="Cambria Math" panose="02040503050406030204" pitchFamily="18" charset="0"/>
                  </a:rPr>
                  <a:t>𝜵</a:t>
                </a:r>
                <a:r>
                  <a:rPr lang="en-US" altLang="ko-KR" sz="1200" i="0">
                    <a:solidFill>
                      <a:srgbClr val="FF0000"/>
                    </a:solidFill>
                    <a:latin typeface="Cambria Math" panose="02040503050406030204" pitchFamily="18" charset="0"/>
                  </a:rPr>
                  <a:t>𝐿(</a:t>
                </a:r>
                <a:r>
                  <a:rPr lang="en-US" altLang="ko-KR" sz="1200" b="1" i="0">
                    <a:solidFill>
                      <a:srgbClr val="FF0000"/>
                    </a:solidFill>
                    <a:latin typeface="Cambria Math" panose="02040503050406030204" pitchFamily="18" charset="0"/>
                    <a:ea typeface="Cambria Math" panose="02040503050406030204" pitchFamily="18" charset="0"/>
                  </a:rPr>
                  <a:t>𝜷</a:t>
                </a:r>
                <a:r>
                  <a:rPr lang="en-US" altLang="ko-KR" sz="1200" i="0">
                    <a:solidFill>
                      <a:srgbClr val="FF0000"/>
                    </a:solidFill>
                    <a:latin typeface="Cambria Math" panose="02040503050406030204" pitchFamily="18" charset="0"/>
                  </a:rPr>
                  <a:t>)</a:t>
                </a:r>
                <a:r>
                  <a:rPr lang="en-US" altLang="ko-KR" sz="1200" dirty="0">
                    <a:latin typeface="Times New Roman" panose="02020603050405020304" pitchFamily="18" charset="0"/>
                    <a:cs typeface="Times New Roman" panose="02020603050405020304" pitchFamily="18" charset="0"/>
                  </a:rPr>
                  <a:t> </a:t>
                </a:r>
                <a:r>
                  <a:rPr lang="en-US" altLang="ko-KR" dirty="0"/>
                  <a:t>is a single column matrix that</a:t>
                </a:r>
                <a:r>
                  <a:rPr lang="en-US" altLang="ko-KR" baseline="0" dirty="0"/>
                  <a:t> contains the partial derivatives. </a:t>
                </a:r>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187</a:t>
            </a:fld>
            <a:endParaRPr lang="ko-KR" altLang="en-US"/>
          </a:p>
        </p:txBody>
      </p:sp>
    </p:spTree>
    <p:extLst>
      <p:ext uri="{BB962C8B-B14F-4D97-AF65-F5344CB8AC3E}">
        <p14:creationId xmlns:p14="http://schemas.microsoft.com/office/powerpoint/2010/main" val="3509105138"/>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the gradient descent algorithm is laid out.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is an iterative algorithm that approaches the optimal solution in small steps.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notice that the hyperparameter eta (</a:t>
                </a:r>
                <a14:m>
                  <m:oMath xmlns:m="http://schemas.openxmlformats.org/officeDocument/2006/math">
                    <m:r>
                      <a:rPr lang="en-US" altLang="ko-KR" sz="1200" i="1" smtClean="0">
                        <a:solidFill>
                          <a:srgbClr val="00B050"/>
                        </a:solidFill>
                        <a:latin typeface="Cambria Math" panose="02040503050406030204" pitchFamily="18" charset="0"/>
                      </a:rPr>
                      <m:t>𝜂</m:t>
                    </m:r>
                  </m:oMath>
                </a14:m>
                <a:r>
                  <a:rPr lang="en-US" altLang="ko-KR" dirty="0"/>
                  <a:t>) controls the convergence speed.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the gradient descent algorithm is laid out.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is an iterative algorithm that approaches the optimal solution in small steps.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notice that the hyperparameter eta (</a:t>
                </a:r>
                <a:r>
                  <a:rPr lang="en-US" altLang="ko-KR" sz="1200" i="0">
                    <a:solidFill>
                      <a:srgbClr val="00B050"/>
                    </a:solidFill>
                    <a:latin typeface="Cambria Math" panose="02040503050406030204" pitchFamily="18" charset="0"/>
                  </a:rPr>
                  <a:t>𝜂</a:t>
                </a:r>
                <a:r>
                  <a:rPr lang="en-US" altLang="ko-KR" dirty="0"/>
                  <a:t>) controls the convergence speed. </a:t>
                </a:r>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188</a:t>
            </a:fld>
            <a:endParaRPr lang="ko-KR" altLang="en-US"/>
          </a:p>
        </p:txBody>
      </p:sp>
    </p:spTree>
    <p:extLst>
      <p:ext uri="{BB962C8B-B14F-4D97-AF65-F5344CB8AC3E}">
        <p14:creationId xmlns:p14="http://schemas.microsoft.com/office/powerpoint/2010/main" val="832215685"/>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picture illustrates the gradient descent algorithm.</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189</a:t>
            </a:fld>
            <a:endParaRPr lang="ko-KR" altLang="en-US"/>
          </a:p>
        </p:txBody>
      </p:sp>
    </p:spTree>
    <p:extLst>
      <p:ext uri="{BB962C8B-B14F-4D97-AF65-F5344CB8AC3E}">
        <p14:creationId xmlns:p14="http://schemas.microsoft.com/office/powerpoint/2010/main" val="1833086400"/>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It is quite straightforward to implement the Sigmoid function and the gradient in Python.</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190</a:t>
            </a:fld>
            <a:endParaRPr lang="ko-KR" altLang="en-US"/>
          </a:p>
        </p:txBody>
      </p:sp>
    </p:spTree>
    <p:extLst>
      <p:ext uri="{BB962C8B-B14F-4D97-AF65-F5344CB8AC3E}">
        <p14:creationId xmlns:p14="http://schemas.microsoft.com/office/powerpoint/2010/main" val="213483768"/>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It does not require a lot of coding to implement the gradient descent algorithm in Python.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“train()” function is implemented as a member method of a class.</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191</a:t>
            </a:fld>
            <a:endParaRPr lang="ko-KR" altLang="en-US"/>
          </a:p>
        </p:txBody>
      </p:sp>
    </p:spTree>
    <p:extLst>
      <p:ext uri="{BB962C8B-B14F-4D97-AF65-F5344CB8AC3E}">
        <p14:creationId xmlns:p14="http://schemas.microsoft.com/office/powerpoint/2010/main" val="2208008885"/>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192</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24751094"/>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14:m>
                  <m:oMath xmlns:m="http://schemas.openxmlformats.org/officeDocument/2006/math">
                    <m:r>
                      <a:rPr lang="en-US" altLang="ko-KR" b="0" i="1" smtClean="0">
                        <a:latin typeface="Cambria Math" panose="02040503050406030204" pitchFamily="18" charset="0"/>
                      </a:rPr>
                      <m:t>2</m:t>
                    </m:r>
                    <m:r>
                      <a:rPr lang="en-US" altLang="ko-KR" b="0" i="1" smtClean="0">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2</m:t>
                    </m:r>
                  </m:oMath>
                </a14:m>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14:m>
                  <m:oMath xmlns:m="http://schemas.openxmlformats.org/officeDocument/2006/math">
                    <m:r>
                      <a:rPr lang="en-US" altLang="ko-KR" b="0" i="1" smtClean="0">
                        <a:latin typeface="Cambria Math" panose="02040503050406030204" pitchFamily="18" charset="0"/>
                      </a:rPr>
                      <m:t>𝐾</m:t>
                    </m:r>
                  </m:oMath>
                </a14:m>
                <a:r>
                  <a:rPr lang="en-US" altLang="ko-KR" dirty="0"/>
                  <a:t>, the confusion matrix is </a:t>
                </a:r>
                <a14:m>
                  <m:oMath xmlns:m="http://schemas.openxmlformats.org/officeDocument/2006/math">
                    <m:r>
                      <a:rPr lang="en-US" altLang="ko-KR" b="0" i="1" smtClean="0">
                        <a:latin typeface="Cambria Math" panose="02040503050406030204" pitchFamily="18" charset="0"/>
                      </a:rPr>
                      <m:t>𝐾</m:t>
                    </m:r>
                    <m:r>
                      <a:rPr lang="en-US" altLang="ko-KR" b="0" i="1" smtClean="0">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𝐾</m:t>
                    </m:r>
                  </m:oMath>
                </a14:m>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193</a:t>
            </a:fld>
            <a:endParaRPr lang="ko-KR" altLang="en-US"/>
          </a:p>
        </p:txBody>
      </p:sp>
    </p:spTree>
    <p:extLst>
      <p:ext uri="{BB962C8B-B14F-4D97-AF65-F5344CB8AC3E}">
        <p14:creationId xmlns:p14="http://schemas.microsoft.com/office/powerpoint/2010/main" val="46320584"/>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194</a:t>
            </a:fld>
            <a:endParaRPr lang="ko-KR" altLang="en-US"/>
          </a:p>
        </p:txBody>
      </p:sp>
    </p:spTree>
    <p:extLst>
      <p:ext uri="{BB962C8B-B14F-4D97-AF65-F5344CB8AC3E}">
        <p14:creationId xmlns:p14="http://schemas.microsoft.com/office/powerpoint/2010/main" val="2033338659"/>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195</a:t>
            </a:fld>
            <a:endParaRPr lang="ko-KR" altLang="en-US"/>
          </a:p>
        </p:txBody>
      </p:sp>
    </p:spTree>
    <p:extLst>
      <p:ext uri="{BB962C8B-B14F-4D97-AF65-F5344CB8AC3E}">
        <p14:creationId xmlns:p14="http://schemas.microsoft.com/office/powerpoint/2010/main" val="329574667"/>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196</a:t>
            </a:fld>
            <a:endParaRPr lang="ko-KR" altLang="en-US"/>
          </a:p>
        </p:txBody>
      </p:sp>
    </p:spTree>
    <p:extLst>
      <p:ext uri="{BB962C8B-B14F-4D97-AF65-F5344CB8AC3E}">
        <p14:creationId xmlns:p14="http://schemas.microsoft.com/office/powerpoint/2010/main" val="2591172054"/>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197</a:t>
            </a:fld>
            <a:endParaRPr lang="ko-KR" altLang="en-US"/>
          </a:p>
        </p:txBody>
      </p:sp>
    </p:spTree>
    <p:extLst>
      <p:ext uri="{BB962C8B-B14F-4D97-AF65-F5344CB8AC3E}">
        <p14:creationId xmlns:p14="http://schemas.microsoft.com/office/powerpoint/2010/main" val="1340392858"/>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198</a:t>
            </a:fld>
            <a:endParaRPr lang="ko-KR" altLang="en-US"/>
          </a:p>
        </p:txBody>
      </p:sp>
    </p:spTree>
    <p:extLst>
      <p:ext uri="{BB962C8B-B14F-4D97-AF65-F5344CB8AC3E}">
        <p14:creationId xmlns:p14="http://schemas.microsoft.com/office/powerpoint/2010/main" val="1335078898"/>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199</a:t>
            </a:fld>
            <a:endParaRPr lang="ko-KR" altLang="en-US"/>
          </a:p>
        </p:txBody>
      </p:sp>
    </p:spTree>
    <p:extLst>
      <p:ext uri="{BB962C8B-B14F-4D97-AF65-F5344CB8AC3E}">
        <p14:creationId xmlns:p14="http://schemas.microsoft.com/office/powerpoint/2010/main" val="343711784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Accuracy does not distinguish the class; it is the ratio between the correctly predicted counts and the total counts.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Accuracy can be as low as 0 and as high as 1.</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200</a:t>
            </a:fld>
            <a:endParaRPr lang="ko-KR" altLang="en-US"/>
          </a:p>
        </p:txBody>
      </p:sp>
    </p:spTree>
    <p:extLst>
      <p:ext uri="{BB962C8B-B14F-4D97-AF65-F5344CB8AC3E}">
        <p14:creationId xmlns:p14="http://schemas.microsoft.com/office/powerpoint/2010/main" val="3305091202"/>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Sensitivity is the ratio between the number of accurately predicted 1s and the total number of actual 1s.</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201</a:t>
            </a:fld>
            <a:endParaRPr lang="ko-KR" altLang="en-US"/>
          </a:p>
        </p:txBody>
      </p:sp>
    </p:spTree>
    <p:extLst>
      <p:ext uri="{BB962C8B-B14F-4D97-AF65-F5344CB8AC3E}">
        <p14:creationId xmlns:p14="http://schemas.microsoft.com/office/powerpoint/2010/main" val="531389305"/>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Specificity is the ratio between the number of accurately predicted 0s and the total number of actual 0s.</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202</a:t>
            </a:fld>
            <a:endParaRPr lang="ko-KR" altLang="en-US"/>
          </a:p>
        </p:txBody>
      </p:sp>
    </p:spTree>
    <p:extLst>
      <p:ext uri="{BB962C8B-B14F-4D97-AF65-F5344CB8AC3E}">
        <p14:creationId xmlns:p14="http://schemas.microsoft.com/office/powerpoint/2010/main" val="314307764"/>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Precision is the ratio between the number of correctly predicted 1s and the total number of predicted as 1s.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Precision and sensitivity are not the same; often they do not go “hand in hand.”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fact, it is possible to have a high precision while the sensitivity is low.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203</a:t>
            </a:fld>
            <a:endParaRPr lang="ko-KR" altLang="en-US"/>
          </a:p>
        </p:txBody>
      </p:sp>
    </p:spTree>
    <p:extLst>
      <p:ext uri="{BB962C8B-B14F-4D97-AF65-F5344CB8AC3E}">
        <p14:creationId xmlns:p14="http://schemas.microsoft.com/office/powerpoint/2010/main" val="1040844510"/>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Why not just rely on the accuracy to test the prediction performance?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example shows that accuracy is not sufficient to measure the classification performance.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we have high unbalance in the class distribution, we should definitely consider sensitivity, precision, etc. in addition to the accuracy.</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204</a:t>
            </a:fld>
            <a:endParaRPr lang="ko-KR" altLang="en-US"/>
          </a:p>
        </p:txBody>
      </p:sp>
    </p:spTree>
    <p:extLst>
      <p:ext uri="{BB962C8B-B14F-4D97-AF65-F5344CB8AC3E}">
        <p14:creationId xmlns:p14="http://schemas.microsoft.com/office/powerpoint/2010/main" val="397667900"/>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the performance metrics are summarized.</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205</a:t>
            </a:fld>
            <a:endParaRPr lang="ko-KR" altLang="en-US"/>
          </a:p>
        </p:txBody>
      </p:sp>
    </p:spTree>
    <p:extLst>
      <p:ext uri="{BB962C8B-B14F-4D97-AF65-F5344CB8AC3E}">
        <p14:creationId xmlns:p14="http://schemas.microsoft.com/office/powerpoint/2010/main" val="1354722627"/>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Sensitivity is also called True Positive Rate.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Specificity is also called True Negative Rate.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There are alternative names for the quantities previously defined.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206</a:t>
            </a:fld>
            <a:endParaRPr lang="ko-KR" altLang="en-US"/>
          </a:p>
        </p:txBody>
      </p:sp>
    </p:spTree>
    <p:extLst>
      <p:ext uri="{BB962C8B-B14F-4D97-AF65-F5344CB8AC3E}">
        <p14:creationId xmlns:p14="http://schemas.microsoft.com/office/powerpoint/2010/main" val="179155006"/>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ROC stands for “receiver operating characteristic.” ROC curve predates the machine learning;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its historic origin can be found in the radio technology.</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the machine learning, ROC curve summarizes the overall performance of a binary classifier where the cutoff (discriminating threshold) can be varied continuously (as in the logistic regression).</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ROC curve is a parametric plot because: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Vertical coordinate = True Positive Rate = Sensitivity = function of the </a:t>
                </a:r>
                <a:r>
                  <a:rPr lang="en-US" altLang="ko-KR" b="1" dirty="0"/>
                  <a:t>cutoff</a:t>
                </a:r>
                <a:r>
                  <a:rPr lang="en-US" altLang="ko-KR" dirty="0"/>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Horizontal coordinate = False Positive Rate = 1 - Specificity = function of the </a:t>
                </a:r>
                <a:r>
                  <a:rPr lang="en-US" altLang="ko-KR" b="1" dirty="0"/>
                  <a:t>cutoff</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Both the vertical and the horizontal coordinates are functions of a common parameter “cutoff.”</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207</a:t>
            </a:fld>
            <a:endParaRPr lang="ko-KR" altLang="en-US"/>
          </a:p>
        </p:txBody>
      </p:sp>
    </p:spTree>
    <p:extLst>
      <p:ext uri="{BB962C8B-B14F-4D97-AF65-F5344CB8AC3E}">
        <p14:creationId xmlns:p14="http://schemas.microsoft.com/office/powerpoint/2010/main" val="2045592795"/>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As the cutoff increases towards 1, the coordinate is pushed towards the lower left corner.</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is the situation where the sensitivity decreases while the specificity increases.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Please, notice that sensitivity and specificity are in a “trade-off” relation.</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208</a:t>
            </a:fld>
            <a:endParaRPr lang="ko-KR" altLang="en-US"/>
          </a:p>
        </p:txBody>
      </p:sp>
    </p:spTree>
    <p:extLst>
      <p:ext uri="{BB962C8B-B14F-4D97-AF65-F5344CB8AC3E}">
        <p14:creationId xmlns:p14="http://schemas.microsoft.com/office/powerpoint/2010/main" val="2175282364"/>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As the cutoff decreases towards 0, the coordinate is pushed towards the upper right corner.</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is the situation where the sensitivity increases while the specificity decreases.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we confirm again that sensitivity and specificity are in a “trade-off” relation.</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209</a:t>
            </a:fld>
            <a:endParaRPr lang="ko-KR" altLang="en-US"/>
          </a:p>
        </p:txBody>
      </p:sp>
    </p:spTree>
    <p:extLst>
      <p:ext uri="{BB962C8B-B14F-4D97-AF65-F5344CB8AC3E}">
        <p14:creationId xmlns:p14="http://schemas.microsoft.com/office/powerpoint/2010/main" val="230908227"/>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more bent towards the ceiling a ROC curve is,</a:t>
                </a:r>
                <a:r>
                  <a:rPr lang="ko-KR" altLang="en-US" dirty="0"/>
                  <a:t> </a:t>
                </a:r>
                <a:r>
                  <a:rPr lang="en-US" altLang="ko-KR" dirty="0"/>
                  <a:t>the better overall prediction performance is.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can be quantified by the AUC which stands for area under the curve.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210</a:t>
            </a:fld>
            <a:endParaRPr lang="ko-KR" altLang="en-US"/>
          </a:p>
        </p:txBody>
      </p:sp>
    </p:spTree>
    <p:extLst>
      <p:ext uri="{BB962C8B-B14F-4D97-AF65-F5344CB8AC3E}">
        <p14:creationId xmlns:p14="http://schemas.microsoft.com/office/powerpoint/2010/main" val="2806439438"/>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ltLang="ko-KR" dirty="0"/>
                  <a:t>Question: How do we interpret and “use” the sensitivity and specificity numbers?</a:t>
                </a:r>
              </a:p>
              <a:p>
                <a:r>
                  <a:rPr lang="en-US" altLang="ko-KR" dirty="0"/>
                  <a:t>We should apply Bayes’ theorem for correct interpretation.</a:t>
                </a:r>
              </a:p>
              <a:p>
                <a:r>
                  <a:rPr lang="en-US" altLang="ko-KR" dirty="0"/>
                  <a:t>This example illustrates a simulated case.</a:t>
                </a:r>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211</a:t>
            </a:fld>
            <a:endParaRPr lang="ko-KR" altLang="en-US"/>
          </a:p>
        </p:txBody>
      </p:sp>
    </p:spTree>
    <p:extLst>
      <p:ext uri="{BB962C8B-B14F-4D97-AF65-F5344CB8AC3E}">
        <p14:creationId xmlns:p14="http://schemas.microsoft.com/office/powerpoint/2010/main" val="1281682114"/>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ltLang="ko-KR" dirty="0"/>
                  <a:t>We can see that although the sensitivity and specificity values are quite high, </a:t>
                </a:r>
              </a:p>
              <a:p>
                <a:r>
                  <a:rPr lang="en-US" altLang="ko-KR" dirty="0"/>
                  <a:t>the positive prediction should not be taken at face value.</a:t>
                </a:r>
              </a:p>
              <a:p>
                <a:r>
                  <a:rPr lang="en-US" altLang="ko-KR" dirty="0"/>
                  <a:t>The probability </a:t>
                </a:r>
                <a14:m>
                  <m:oMath xmlns:m="http://schemas.openxmlformats.org/officeDocument/2006/math">
                    <m:r>
                      <a:rPr lang="en-US" altLang="ko-KR" sz="1200" i="1" dirty="0" smtClean="0">
                        <a:latin typeface="Cambria Math" panose="02040503050406030204" pitchFamily="18" charset="0"/>
                        <a:cs typeface="Times New Roman" panose="02020603050405020304" pitchFamily="18" charset="0"/>
                      </a:rPr>
                      <m:t>𝑃</m:t>
                    </m:r>
                    <m:r>
                      <a:rPr lang="en-US" altLang="ko-KR" sz="1200" i="1" dirty="0" smtClean="0">
                        <a:latin typeface="Cambria Math" panose="02040503050406030204" pitchFamily="18" charset="0"/>
                        <a:cs typeface="Times New Roman" panose="02020603050405020304" pitchFamily="18" charset="0"/>
                      </a:rPr>
                      <m:t>(</m:t>
                    </m:r>
                    <m:r>
                      <a:rPr lang="en-US" altLang="ko-KR" sz="1200" i="1" dirty="0" smtClean="0">
                        <a:latin typeface="Cambria Math" panose="02040503050406030204" pitchFamily="18" charset="0"/>
                        <a:cs typeface="Times New Roman" panose="02020603050405020304" pitchFamily="18" charset="0"/>
                      </a:rPr>
                      <m:t>𝐴𝑐𝑡𝑢𝑎𝑙</m:t>
                    </m:r>
                    <m:r>
                      <a:rPr lang="en-US" altLang="ko-KR" sz="1200" i="1" dirty="0" smtClean="0">
                        <a:latin typeface="Cambria Math" panose="02040503050406030204" pitchFamily="18" charset="0"/>
                        <a:cs typeface="Times New Roman" panose="02020603050405020304" pitchFamily="18" charset="0"/>
                      </a:rPr>
                      <m:t> 1|</m:t>
                    </m:r>
                    <m:r>
                      <a:rPr lang="en-US" altLang="ko-KR" sz="1200" i="1" dirty="0" smtClean="0">
                        <a:latin typeface="Cambria Math" panose="02040503050406030204" pitchFamily="18" charset="0"/>
                        <a:cs typeface="Times New Roman" panose="02020603050405020304" pitchFamily="18" charset="0"/>
                      </a:rPr>
                      <m:t>𝑃𝑟𝑒𝑑𝑖𝑐𝑡𝑒𝑑</m:t>
                    </m:r>
                    <m:r>
                      <a:rPr lang="en-US" altLang="ko-KR" sz="1200" i="1" dirty="0" smtClean="0">
                        <a:latin typeface="Cambria Math" panose="02040503050406030204" pitchFamily="18" charset="0"/>
                        <a:cs typeface="Times New Roman" panose="02020603050405020304" pitchFamily="18" charset="0"/>
                      </a:rPr>
                      <m:t> 1)</m:t>
                    </m:r>
                  </m:oMath>
                </a14:m>
                <a:r>
                  <a:rPr lang="ko-KR" altLang="en-US" dirty="0"/>
                  <a:t> </a:t>
                </a:r>
                <a:r>
                  <a:rPr lang="en-US" altLang="ko-KR" dirty="0"/>
                  <a:t>is mediocre at best.</a:t>
                </a:r>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test result of a classification prediction can be summarized by a confusion matrix.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columns correspond to the actual class labels while the rows correspond to the predicted class labels.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represents two classes, the confusion matrix is </a:t>
                </a:r>
                <a:r>
                  <a:rPr lang="en-US" altLang="ko-KR" b="0" i="0">
                    <a:latin typeface="Cambria Math" panose="02040503050406030204" pitchFamily="18" charset="0"/>
                  </a:rPr>
                  <a:t>2</a:t>
                </a:r>
                <a:r>
                  <a:rPr lang="en-US" altLang="ko-KR" b="0" i="0">
                    <a:latin typeface="Cambria Math" panose="02040503050406030204" pitchFamily="18" charset="0"/>
                    <a:ea typeface="Cambria Math" panose="02040503050406030204" pitchFamily="18" charset="0"/>
                  </a:rPr>
                  <a:t>×2</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For a given number of classes </a:t>
                </a:r>
                <a:r>
                  <a:rPr lang="en-US" altLang="ko-KR" b="0" i="0">
                    <a:latin typeface="Cambria Math" panose="02040503050406030204" pitchFamily="18" charset="0"/>
                  </a:rPr>
                  <a:t>𝐾</a:t>
                </a:r>
                <a:r>
                  <a:rPr lang="en-US" altLang="ko-KR" dirty="0"/>
                  <a:t>, the confusion matrix is </a:t>
                </a:r>
                <a:r>
                  <a:rPr lang="en-US" altLang="ko-KR" b="0" i="0">
                    <a:latin typeface="Cambria Math" panose="02040503050406030204" pitchFamily="18" charset="0"/>
                  </a:rPr>
                  <a:t>𝐾</a:t>
                </a:r>
                <a:r>
                  <a:rPr lang="en-US" altLang="ko-KR" b="0" i="0">
                    <a:latin typeface="Cambria Math" panose="02040503050406030204" pitchFamily="18" charset="0"/>
                    <a:ea typeface="Cambria Math" panose="02040503050406030204" pitchFamily="18" charset="0"/>
                  </a:rPr>
                  <a:t>×𝐾</a:t>
                </a:r>
                <a:r>
                  <a:rPr lang="en-US" altLang="ko-KR" dirty="0"/>
                  <a:t> in shape.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212</a:t>
            </a:fld>
            <a:endParaRPr lang="ko-KR" altLang="en-US"/>
          </a:p>
        </p:txBody>
      </p:sp>
    </p:spTree>
    <p:extLst>
      <p:ext uri="{BB962C8B-B14F-4D97-AF65-F5344CB8AC3E}">
        <p14:creationId xmlns:p14="http://schemas.microsoft.com/office/powerpoint/2010/main" val="3188937114"/>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latin typeface="Times New Roman" panose="02020603050405020304" pitchFamily="18" charset="0"/>
              </a:rPr>
              <a:t>WHAT THIS PRACTICE ABOUT</a:t>
            </a:r>
            <a:endParaRPr lang="ko-KR" altLang="en-US" dirty="0"/>
          </a:p>
          <a:p>
            <a:pPr latinLnBrk="1"/>
            <a:r>
              <a:rPr lang="en-US" altLang="ko-KR" sz="1200" kern="1200" dirty="0">
                <a:solidFill>
                  <a:schemeClr val="tx1"/>
                </a:solidFill>
                <a:effectLst/>
                <a:latin typeface="+mn-lt"/>
                <a:ea typeface="+mn-ea"/>
                <a:cs typeface="+mn-cs"/>
              </a:rPr>
              <a:t>In this practice, we apply classification with logistic regression.</a:t>
            </a:r>
            <a:endParaRPr lang="ko-KR" altLang="ko-KR" sz="10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Times New Roman" panose="02020603050405020304" pitchFamily="18" charset="0"/>
              </a:rPr>
              <a:t>PRACTICE INSTRUCTION</a:t>
            </a:r>
            <a:endParaRPr lang="ko-KR" altLang="ko-KR" sz="1000"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Click </a:t>
            </a:r>
            <a:r>
              <a:rPr lang="en-US" altLang="ko-KR" sz="1200" b="1" kern="100" dirty="0">
                <a:solidFill>
                  <a:srgbClr val="000000"/>
                </a:solidFill>
                <a:latin typeface="Times New Roman" panose="02020603050405020304" pitchFamily="18" charset="0"/>
                <a:cs typeface="Times New Roman" panose="02020603050405020304" pitchFamily="18" charset="0"/>
              </a:rPr>
              <a:t>Window</a:t>
            </a:r>
            <a:r>
              <a:rPr lang="en-US" altLang="ko-KR" sz="1200" kern="100" dirty="0">
                <a:solidFill>
                  <a:srgbClr val="000000"/>
                </a:solidFill>
                <a:latin typeface="Times New Roman" panose="02020603050405020304" pitchFamily="18" charset="0"/>
                <a:cs typeface="Times New Roman" panose="02020603050405020304" pitchFamily="18" charset="0"/>
              </a:rPr>
              <a:t> button. </a:t>
            </a:r>
            <a:endParaRPr lang="ko-KR" altLang="ko-KR" sz="1000" kern="100" dirty="0">
              <a:latin typeface="맑은 고딕" panose="020B0503020000020004" pitchFamily="50" charset="-127"/>
              <a:cs typeface="Times New Roman" panose="02020603050405020304" pitchFamily="18" charset="0"/>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Search the “</a:t>
            </a:r>
            <a:r>
              <a:rPr lang="en-US" altLang="ko-KR" sz="1200" b="1" kern="100" dirty="0">
                <a:solidFill>
                  <a:srgbClr val="000000"/>
                </a:solidFill>
                <a:latin typeface="Times New Roman" panose="02020603050405020304" pitchFamily="18" charset="0"/>
                <a:cs typeface="Times New Roman" panose="02020603050405020304" pitchFamily="18" charset="0"/>
              </a:rPr>
              <a:t>anaconda prompt</a:t>
            </a:r>
            <a:r>
              <a:rPr lang="en-US" altLang="ko-KR" sz="1200" kern="100" dirty="0">
                <a:solidFill>
                  <a:srgbClr val="000000"/>
                </a:solidFill>
                <a:latin typeface="Times New Roman" panose="02020603050405020304" pitchFamily="18" charset="0"/>
                <a:cs typeface="Times New Roman" panose="02020603050405020304" pitchFamily="18" charset="0"/>
              </a:rPr>
              <a:t>” and Run.</a:t>
            </a:r>
            <a:endParaRPr lang="ko-KR" altLang="ko-KR" sz="1000" kern="100" dirty="0">
              <a:latin typeface="맑은 고딕" panose="020B0503020000020004" pitchFamily="50" charset="-127"/>
              <a:cs typeface="Times New Roman" panose="02020603050405020304" pitchFamily="18" charset="0"/>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Type the command "</a:t>
            </a:r>
            <a:r>
              <a:rPr lang="en-US" altLang="ko-KR" sz="1200" b="1" kern="100" dirty="0" err="1">
                <a:solidFill>
                  <a:srgbClr val="000000"/>
                </a:solidFill>
                <a:latin typeface="Times New Roman" panose="02020603050405020304" pitchFamily="18" charset="0"/>
                <a:cs typeface="Times New Roman" panose="02020603050405020304" pitchFamily="18" charset="0"/>
              </a:rPr>
              <a:t>Jupyter</a:t>
            </a:r>
            <a:r>
              <a:rPr lang="en-US" altLang="ko-KR" sz="1200" b="1" kern="100" dirty="0">
                <a:solidFill>
                  <a:srgbClr val="000000"/>
                </a:solidFill>
                <a:latin typeface="Times New Roman" panose="02020603050405020304" pitchFamily="18" charset="0"/>
                <a:cs typeface="Times New Roman" panose="02020603050405020304" pitchFamily="18" charset="0"/>
              </a:rPr>
              <a:t> Notebook</a:t>
            </a:r>
            <a:r>
              <a:rPr lang="en-US" altLang="ko-KR" sz="1200" kern="100" dirty="0">
                <a:solidFill>
                  <a:srgbClr val="000000"/>
                </a:solidFill>
                <a:latin typeface="Times New Roman" panose="02020603050405020304" pitchFamily="18" charset="0"/>
                <a:cs typeface="Times New Roman" panose="02020603050405020304" pitchFamily="18" charset="0"/>
              </a:rPr>
              <a:t>" and press Enter. </a:t>
            </a: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In </a:t>
            </a:r>
            <a:r>
              <a:rPr lang="en-US" altLang="ko-KR" sz="1200" kern="100" dirty="0" err="1">
                <a:solidFill>
                  <a:srgbClr val="000000"/>
                </a:solidFill>
                <a:latin typeface="Times New Roman" panose="02020603050405020304" pitchFamily="18" charset="0"/>
                <a:cs typeface="Times New Roman" panose="02020603050405020304" pitchFamily="18" charset="0"/>
              </a:rPr>
              <a:t>Jupyter</a:t>
            </a:r>
            <a:r>
              <a:rPr lang="en-US" altLang="ko-KR" sz="1200" kern="100" dirty="0">
                <a:solidFill>
                  <a:srgbClr val="000000"/>
                </a:solidFill>
                <a:latin typeface="Times New Roman" panose="02020603050405020304" pitchFamily="18" charset="0"/>
                <a:cs typeface="Times New Roman" panose="02020603050405020304" pitchFamily="18" charset="0"/>
              </a:rPr>
              <a:t> Notebook, go to the folder containing the practice files.</a:t>
            </a:r>
            <a:r>
              <a:rPr lang="en-US" altLang="ko-KR" sz="1000" kern="100" dirty="0">
                <a:latin typeface="맑은 고딕" panose="020B0503020000020004" pitchFamily="50" charset="-127"/>
                <a:cs typeface="Times New Roman" panose="02020603050405020304" pitchFamily="18" charset="0"/>
              </a:rPr>
              <a:t> </a:t>
            </a:r>
            <a:r>
              <a:rPr lang="en-US" altLang="ko-KR" sz="1200" kern="100" dirty="0">
                <a:solidFill>
                  <a:srgbClr val="000000"/>
                </a:solidFill>
                <a:latin typeface="Times New Roman" panose="02020603050405020304" pitchFamily="18" charset="0"/>
                <a:cs typeface="Times New Roman" panose="02020603050405020304" pitchFamily="18" charset="0"/>
              </a:rPr>
              <a:t>(If you don’t have practice files yet, ask your instructor)</a:t>
            </a: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Click </a:t>
            </a:r>
            <a:r>
              <a:rPr lang="en-US" altLang="ko-KR" sz="1200" b="1" kern="100" dirty="0">
                <a:solidFill>
                  <a:srgbClr val="000000"/>
                </a:solidFill>
                <a:latin typeface="Times New Roman" panose="02020603050405020304" pitchFamily="18" charset="0"/>
                <a:cs typeface="Times New Roman" panose="02020603050405020304" pitchFamily="18" charset="0"/>
              </a:rPr>
              <a:t>Coding Exercise</a:t>
            </a:r>
            <a:r>
              <a:rPr lang="en-US" altLang="ko-KR" sz="1200" kern="100" dirty="0">
                <a:solidFill>
                  <a:srgbClr val="000000"/>
                </a:solidFill>
                <a:latin typeface="Times New Roman" panose="02020603050405020304" pitchFamily="18" charset="0"/>
                <a:cs typeface="Times New Roman" panose="02020603050405020304" pitchFamily="18" charset="0"/>
              </a:rPr>
              <a:t> folder.</a:t>
            </a:r>
            <a:endParaRPr lang="ko-KR" altLang="ko-KR" sz="1000" kern="100" dirty="0">
              <a:latin typeface="맑은 고딕" panose="020B0503020000020004" pitchFamily="50" charset="-127"/>
              <a:cs typeface="Times New Roman" panose="02020603050405020304" pitchFamily="18" charset="0"/>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Click the</a:t>
            </a:r>
            <a:r>
              <a:rPr lang="en-US" altLang="ko-KR" sz="1200" b="1" kern="100" dirty="0">
                <a:solidFill>
                  <a:srgbClr val="000000"/>
                </a:solidFill>
                <a:latin typeface="Times New Roman" panose="02020603050405020304" pitchFamily="18" charset="0"/>
                <a:cs typeface="Times New Roman" panose="02020603050405020304" pitchFamily="18" charset="0"/>
              </a:rPr>
              <a:t> ex_0307.ipynb</a:t>
            </a:r>
            <a:r>
              <a:rPr lang="en-US" altLang="ko-KR" sz="1200" kern="100" dirty="0">
                <a:solidFill>
                  <a:srgbClr val="000000"/>
                </a:solidFill>
                <a:latin typeface="Times New Roman" panose="02020603050405020304" pitchFamily="18" charset="0"/>
                <a:cs typeface="Times New Roman" panose="02020603050405020304" pitchFamily="18" charset="0"/>
              </a:rPr>
              <a:t> file.</a:t>
            </a:r>
          </a:p>
          <a:p>
            <a:pPr marL="342900" lvl="0" indent="-342900">
              <a:spcAft>
                <a:spcPts val="800"/>
              </a:spcAft>
              <a:buFont typeface="+mj-lt"/>
              <a:buAutoNum type="arabicPeriod"/>
            </a:pPr>
            <a:r>
              <a:rPr lang="en-US" altLang="ko-KR" sz="1200" kern="1200" dirty="0">
                <a:solidFill>
                  <a:srgbClr val="FF0000"/>
                </a:solidFill>
                <a:effectLst/>
                <a:highlight>
                  <a:srgbClr val="FF0000"/>
                </a:highlight>
                <a:latin typeface="+mn-lt"/>
                <a:ea typeface="+mn-ea"/>
                <a:cs typeface="+mn-cs"/>
              </a:rPr>
              <a:t>Review the examples on the topics below:</a:t>
            </a:r>
            <a:br>
              <a:rPr lang="en-US" altLang="ko-KR" sz="1000" i="0" kern="1200" dirty="0">
                <a:solidFill>
                  <a:srgbClr val="FF0000"/>
                </a:solidFill>
                <a:effectLst/>
                <a:highlight>
                  <a:srgbClr val="FF0000"/>
                </a:highlight>
                <a:latin typeface="+mn-lt"/>
                <a:ea typeface="+mn-ea"/>
                <a:cs typeface="+mn-cs"/>
              </a:rPr>
            </a:br>
            <a:br>
              <a:rPr lang="en-US" altLang="ko-KR" sz="1000" i="0" kern="1200" dirty="0">
                <a:solidFill>
                  <a:srgbClr val="FF0000"/>
                </a:solidFill>
                <a:effectLst/>
                <a:highlight>
                  <a:srgbClr val="FF0000"/>
                </a:highlight>
                <a:latin typeface="+mn-lt"/>
                <a:ea typeface="+mn-ea"/>
                <a:cs typeface="+mn-cs"/>
              </a:rPr>
            </a:br>
            <a:r>
              <a:rPr lang="en-US" altLang="ko-KR" sz="1200" i="1" kern="1200" dirty="0">
                <a:solidFill>
                  <a:schemeClr val="tx1"/>
                </a:solidFill>
                <a:effectLst/>
                <a:highlight>
                  <a:srgbClr val="FF0000"/>
                </a:highlight>
                <a:latin typeface="+mn-lt"/>
                <a:ea typeface="+mn-ea"/>
                <a:cs typeface="+mn-cs"/>
              </a:rPr>
              <a:t>A. </a:t>
            </a:r>
            <a:r>
              <a:rPr lang="en-US" altLang="ko-KR" sz="1200" i="1" kern="1200" dirty="0">
                <a:solidFill>
                  <a:schemeClr val="tx1"/>
                </a:solidFill>
                <a:effectLst/>
                <a:latin typeface="+mn-lt"/>
                <a:ea typeface="+mn-ea"/>
                <a:cs typeface="+mn-cs"/>
              </a:rPr>
              <a:t>Classification with logistic regression</a:t>
            </a:r>
            <a:br>
              <a:rPr lang="en-US" altLang="ko-KR" sz="1200" i="1" kern="1200" dirty="0">
                <a:solidFill>
                  <a:schemeClr val="tx1"/>
                </a:solidFill>
                <a:effectLst/>
                <a:highlight>
                  <a:srgbClr val="FF0000"/>
                </a:highlight>
                <a:latin typeface="+mn-lt"/>
                <a:ea typeface="+mn-ea"/>
                <a:cs typeface="+mn-cs"/>
              </a:rPr>
            </a:br>
            <a:r>
              <a:rPr lang="en-US" altLang="ko-KR" sz="1200" i="1" kern="1200" dirty="0">
                <a:solidFill>
                  <a:schemeClr val="tx1"/>
                </a:solidFill>
                <a:effectLst/>
                <a:highlight>
                  <a:srgbClr val="FF0000"/>
                </a:highlight>
                <a:latin typeface="+mn-lt"/>
                <a:ea typeface="+mn-ea"/>
                <a:cs typeface="+mn-cs"/>
              </a:rPr>
              <a:t>	</a:t>
            </a:r>
            <a:r>
              <a:rPr lang="en-US" altLang="ko-KR" sz="1200" i="1" kern="1200" dirty="0" err="1">
                <a:solidFill>
                  <a:schemeClr val="tx1"/>
                </a:solidFill>
                <a:effectLst/>
                <a:highlight>
                  <a:srgbClr val="FF0000"/>
                </a:highlight>
                <a:latin typeface="+mn-lt"/>
                <a:ea typeface="+mn-ea"/>
                <a:cs typeface="+mn-cs"/>
              </a:rPr>
              <a:t>i</a:t>
            </a:r>
            <a:r>
              <a:rPr lang="en-US" altLang="ko-KR" sz="1200" i="1" kern="1200" dirty="0">
                <a:solidFill>
                  <a:schemeClr val="tx1"/>
                </a:solidFill>
                <a:effectLst/>
                <a:highlight>
                  <a:srgbClr val="FF0000"/>
                </a:highlight>
                <a:latin typeface="+mn-lt"/>
                <a:ea typeface="+mn-ea"/>
                <a:cs typeface="+mn-cs"/>
              </a:rPr>
              <a:t>. </a:t>
            </a:r>
            <a:r>
              <a:rPr lang="en-US" altLang="ko-KR" sz="1200" i="1" kern="1200" dirty="0">
                <a:solidFill>
                  <a:schemeClr val="tx1"/>
                </a:solidFill>
                <a:effectLst/>
                <a:latin typeface="+mn-lt"/>
                <a:ea typeface="+mn-ea"/>
                <a:cs typeface="+mn-cs"/>
              </a:rPr>
              <a:t>Read in data and explore</a:t>
            </a:r>
            <a:r>
              <a:rPr lang="en-US" altLang="ko-KR" sz="1200" i="1" kern="1200" dirty="0">
                <a:solidFill>
                  <a:schemeClr val="tx1"/>
                </a:solidFill>
                <a:effectLst/>
                <a:highlight>
                  <a:srgbClr val="FF0000"/>
                </a:highlight>
                <a:latin typeface="+mn-lt"/>
                <a:ea typeface="+mn-ea"/>
                <a:cs typeface="+mn-cs"/>
              </a:rPr>
              <a:t>.</a:t>
            </a:r>
            <a:br>
              <a:rPr lang="en-US" altLang="ko-KR" sz="1200" i="1" kern="1200" dirty="0">
                <a:solidFill>
                  <a:schemeClr val="tx1"/>
                </a:solidFill>
                <a:effectLst/>
                <a:highlight>
                  <a:srgbClr val="FF0000"/>
                </a:highlight>
                <a:latin typeface="+mn-lt"/>
                <a:ea typeface="+mn-ea"/>
                <a:cs typeface="+mn-cs"/>
              </a:rPr>
            </a:br>
            <a:r>
              <a:rPr lang="en-US" altLang="ko-KR" sz="1200" i="1" kern="1200" dirty="0">
                <a:solidFill>
                  <a:schemeClr val="tx1"/>
                </a:solidFill>
                <a:effectLst/>
                <a:highlight>
                  <a:srgbClr val="FF0000"/>
                </a:highlight>
                <a:latin typeface="+mn-lt"/>
                <a:ea typeface="+mn-ea"/>
                <a:cs typeface="+mn-cs"/>
              </a:rPr>
              <a:t>	ii. </a:t>
            </a:r>
            <a:r>
              <a:rPr lang="en-US" altLang="ko-KR" sz="1200" i="1" kern="1200" dirty="0">
                <a:solidFill>
                  <a:schemeClr val="tx1"/>
                </a:solidFill>
                <a:effectLst/>
                <a:latin typeface="+mn-lt"/>
                <a:ea typeface="+mn-ea"/>
                <a:cs typeface="+mn-cs"/>
              </a:rPr>
              <a:t>Train and test</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iii.</a:t>
            </a:r>
            <a:r>
              <a:rPr lang="ko-KR" altLang="en-US" sz="1200" i="1" kern="1200" dirty="0">
                <a:solidFill>
                  <a:schemeClr val="tx1"/>
                </a:solidFill>
                <a:effectLst/>
                <a:latin typeface="+mn-lt"/>
                <a:ea typeface="+mn-ea"/>
                <a:cs typeface="+mn-cs"/>
              </a:rPr>
              <a:t> </a:t>
            </a:r>
            <a:r>
              <a:rPr lang="en-US" altLang="ko-KR" sz="1200" i="1" kern="1200" dirty="0">
                <a:solidFill>
                  <a:schemeClr val="tx1"/>
                </a:solidFill>
                <a:effectLst/>
                <a:latin typeface="+mn-lt"/>
                <a:ea typeface="+mn-ea"/>
                <a:cs typeface="+mn-cs"/>
              </a:rPr>
              <a:t>Cutoff (threshold)</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iv. ROC curve</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v. ROC curve (</a:t>
            </a:r>
            <a:r>
              <a:rPr lang="en-US" altLang="ko-KR" sz="1200" i="1" kern="1200" dirty="0" err="1">
                <a:solidFill>
                  <a:schemeClr val="tx1"/>
                </a:solidFill>
                <a:effectLst/>
                <a:latin typeface="+mn-lt"/>
                <a:ea typeface="+mn-ea"/>
                <a:cs typeface="+mn-cs"/>
              </a:rPr>
              <a:t>scikit</a:t>
            </a:r>
            <a:r>
              <a:rPr lang="en-US" altLang="ko-KR" sz="1200" i="1" kern="1200" dirty="0">
                <a:solidFill>
                  <a:schemeClr val="tx1"/>
                </a:solidFill>
                <a:effectLst/>
                <a:latin typeface="+mn-lt"/>
                <a:ea typeface="+mn-ea"/>
                <a:cs typeface="+mn-cs"/>
              </a:rPr>
              <a:t>-learn)</a:t>
            </a:r>
            <a:br>
              <a:rPr lang="en-US" altLang="ko-KR" sz="1200" i="1" kern="1200" dirty="0">
                <a:solidFill>
                  <a:schemeClr val="tx1"/>
                </a:solidFill>
                <a:effectLst/>
                <a:latin typeface="+mn-lt"/>
                <a:ea typeface="+mn-ea"/>
                <a:cs typeface="+mn-cs"/>
              </a:rPr>
            </a:br>
            <a:endParaRPr lang="en-US" altLang="ko-KR" sz="1000" i="1"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200" dirty="0">
                <a:solidFill>
                  <a:schemeClr val="tx1"/>
                </a:solidFill>
                <a:effectLst/>
                <a:latin typeface="+mn-lt"/>
                <a:ea typeface="+mn-ea"/>
                <a:cs typeface="+mn-cs"/>
              </a:rPr>
              <a:t>(Optional) Use the blank cell at the bottom to practice your own personal needs.</a:t>
            </a:r>
            <a:endParaRPr lang="ko-KR" altLang="ko-KR" sz="10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213</a:t>
            </a:fld>
            <a:endParaRPr lang="ko-KR" altLang="en-US" dirty="0"/>
          </a:p>
        </p:txBody>
      </p:sp>
    </p:spTree>
    <p:extLst>
      <p:ext uri="{BB962C8B-B14F-4D97-AF65-F5344CB8AC3E}">
        <p14:creationId xmlns:p14="http://schemas.microsoft.com/office/powerpoint/2010/main" val="2382152709"/>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214</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011825144"/>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215</a:t>
            </a:fld>
            <a:endParaRPr lang="ko-KR" altLang="en-US"/>
          </a:p>
        </p:txBody>
      </p:sp>
    </p:spTree>
    <p:extLst>
      <p:ext uri="{BB962C8B-B14F-4D97-AF65-F5344CB8AC3E}">
        <p14:creationId xmlns:p14="http://schemas.microsoft.com/office/powerpoint/2010/main" val="3598506269"/>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216</a:t>
            </a:fld>
            <a:endParaRPr lang="ko-KR" altLang="en-US"/>
          </a:p>
        </p:txBody>
      </p:sp>
    </p:spTree>
    <p:extLst>
      <p:ext uri="{BB962C8B-B14F-4D97-AF65-F5344CB8AC3E}">
        <p14:creationId xmlns:p14="http://schemas.microsoft.com/office/powerpoint/2010/main" val="2743395044"/>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217</a:t>
            </a:fld>
            <a:endParaRPr lang="ko-KR" altLang="en-US"/>
          </a:p>
        </p:txBody>
      </p:sp>
    </p:spTree>
    <p:extLst>
      <p:ext uri="{BB962C8B-B14F-4D97-AF65-F5344CB8AC3E}">
        <p14:creationId xmlns:p14="http://schemas.microsoft.com/office/powerpoint/2010/main" val="71001874"/>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218</a:t>
            </a:fld>
            <a:endParaRPr lang="ko-KR" altLang="en-US"/>
          </a:p>
        </p:txBody>
      </p:sp>
    </p:spTree>
    <p:extLst>
      <p:ext uri="{BB962C8B-B14F-4D97-AF65-F5344CB8AC3E}">
        <p14:creationId xmlns:p14="http://schemas.microsoft.com/office/powerpoint/2010/main" val="3005443503"/>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219</a:t>
            </a:fld>
            <a:endParaRPr lang="ko-KR" altLang="en-US"/>
          </a:p>
        </p:txBody>
      </p:sp>
    </p:spTree>
    <p:extLst>
      <p:ext uri="{BB962C8B-B14F-4D97-AF65-F5344CB8AC3E}">
        <p14:creationId xmlns:p14="http://schemas.microsoft.com/office/powerpoint/2010/main" val="2783029632"/>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220</a:t>
            </a:fld>
            <a:endParaRPr lang="ko-KR" altLang="en-US"/>
          </a:p>
        </p:txBody>
      </p:sp>
    </p:spTree>
    <p:extLst>
      <p:ext uri="{BB962C8B-B14F-4D97-AF65-F5344CB8AC3E}">
        <p14:creationId xmlns:p14="http://schemas.microsoft.com/office/powerpoint/2010/main" val="3767375618"/>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ltLang="ko-KR" sz="1200" dirty="0">
                    <a:solidFill>
                      <a:prstClr val="black"/>
                    </a:solidFill>
                    <a:latin typeface="HY견고딕" pitchFamily="18" charset="-127"/>
                    <a:ea typeface="HY견고딕" pitchFamily="18" charset="-127"/>
                  </a:rPr>
                  <a:t>Vs. Gini coefficient in economics:0 (equality) ~ 1(inequality)</a:t>
                </a:r>
                <a:endParaRPr lang="en-US" altLang="ko-KR" dirty="0"/>
              </a:p>
              <a:p>
                <a:r>
                  <a:rPr lang="en-US" altLang="ko-KR" dirty="0"/>
                  <a:t>Entropy: Degree of uncertainty</a:t>
                </a:r>
              </a:p>
              <a:p>
                <a:r>
                  <a:rPr lang="en-US" altLang="ko-KR" sz="1200" b="0" i="0" kern="1200" dirty="0">
                    <a:solidFill>
                      <a:schemeClr val="tx1"/>
                    </a:solidFill>
                    <a:effectLst/>
                    <a:latin typeface="+mn-lt"/>
                    <a:ea typeface="+mn-ea"/>
                    <a:cs typeface="+mn-cs"/>
                  </a:rPr>
                  <a:t>Entropy can be defined both thermodynamically and statistically.</a:t>
                </a:r>
                <a:endParaRPr lang="en-US" altLang="ko-KR" dirty="0"/>
              </a:p>
              <a:p>
                <a:r>
                  <a:rPr lang="en-US" altLang="ko-KR" sz="1200" b="0" i="0" kern="1200" dirty="0">
                    <a:solidFill>
                      <a:schemeClr val="tx1"/>
                    </a:solidFill>
                    <a:effectLst/>
                    <a:latin typeface="+mn-lt"/>
                    <a:ea typeface="+mn-ea"/>
                    <a:cs typeface="+mn-cs"/>
                  </a:rPr>
                  <a:t>Entropy is a state function used to explain the flow of</a:t>
                </a:r>
                <a:r>
                  <a:rPr lang="ko-KR" altLang="en-US"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rPr>
                  <a:t>thermodynamically not useful energy (energy that cannot be converted to work). Statistically, entropy is a log of microscopic state number responding to the macroscopic state. In general, entropy is not conserved. It increased through time according to the second law of thermodynamics. </a:t>
                </a:r>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221</a:t>
            </a:fld>
            <a:endParaRPr lang="ko-KR" altLang="en-US"/>
          </a:p>
        </p:txBody>
      </p:sp>
    </p:spTree>
    <p:extLst>
      <p:ext uri="{BB962C8B-B14F-4D97-AF65-F5344CB8AC3E}">
        <p14:creationId xmlns:p14="http://schemas.microsoft.com/office/powerpoint/2010/main" val="633918999"/>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ltLang="ko-KR" sz="1200" dirty="0">
                    <a:solidFill>
                      <a:prstClr val="black"/>
                    </a:solidFill>
                    <a:latin typeface="HY견고딕" pitchFamily="18" charset="-127"/>
                    <a:ea typeface="HY견고딕" pitchFamily="18" charset="-127"/>
                  </a:rPr>
                  <a:t>Vs. Gini coefficient in economics:0 (equality) ~ 1(inequality)</a:t>
                </a:r>
                <a:endParaRPr lang="en-US" altLang="ko-KR" dirty="0"/>
              </a:p>
              <a:p>
                <a:r>
                  <a:rPr lang="en-US" altLang="ko-KR" dirty="0"/>
                  <a:t>Entropy: Degree of uncertainty</a:t>
                </a:r>
              </a:p>
              <a:p>
                <a:r>
                  <a:rPr lang="en-US" altLang="ko-KR" sz="1200" b="0" i="0" kern="1200" dirty="0">
                    <a:solidFill>
                      <a:schemeClr val="tx1"/>
                    </a:solidFill>
                    <a:effectLst/>
                    <a:latin typeface="+mn-lt"/>
                    <a:ea typeface="+mn-ea"/>
                    <a:cs typeface="+mn-cs"/>
                  </a:rPr>
                  <a:t>Entropy can be defined both thermodynamically and statistically.</a:t>
                </a:r>
                <a:endParaRPr lang="en-US" altLang="ko-KR" dirty="0"/>
              </a:p>
              <a:p>
                <a:r>
                  <a:rPr lang="en-US" altLang="ko-KR" sz="1200" b="0" i="0" kern="1200" dirty="0">
                    <a:solidFill>
                      <a:schemeClr val="tx1"/>
                    </a:solidFill>
                    <a:effectLst/>
                    <a:latin typeface="+mn-lt"/>
                    <a:ea typeface="+mn-ea"/>
                    <a:cs typeface="+mn-cs"/>
                  </a:rPr>
                  <a:t>Entropy is a state function used to explain the flow of</a:t>
                </a:r>
                <a:r>
                  <a:rPr lang="ko-KR" altLang="en-US" sz="1200" b="0" i="0" kern="1200" dirty="0">
                    <a:solidFill>
                      <a:schemeClr val="tx1"/>
                    </a:solidFill>
                    <a:effectLst/>
                    <a:latin typeface="+mn-lt"/>
                    <a:ea typeface="+mn-ea"/>
                    <a:cs typeface="+mn-cs"/>
                  </a:rPr>
                  <a:t> </a:t>
                </a:r>
                <a:r>
                  <a:rPr lang="en-US" altLang="ko-KR" sz="1200" b="0" i="0" kern="1200" dirty="0">
                    <a:solidFill>
                      <a:schemeClr val="tx1"/>
                    </a:solidFill>
                    <a:effectLst/>
                    <a:latin typeface="+mn-lt"/>
                    <a:ea typeface="+mn-ea"/>
                    <a:cs typeface="+mn-cs"/>
                  </a:rPr>
                  <a:t>thermodynamically not useful energy (energy that cannot be converted to work). Statistically, entropy is a log of microscopic state number responding to the macroscopic state. In general, entropy is not conserved. It increased through time according to the second law of thermodynamics. </a:t>
                </a:r>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222</a:t>
            </a:fld>
            <a:endParaRPr lang="ko-KR" altLang="en-US"/>
          </a:p>
        </p:txBody>
      </p:sp>
    </p:spTree>
    <p:extLst>
      <p:ext uri="{BB962C8B-B14F-4D97-AF65-F5344CB8AC3E}">
        <p14:creationId xmlns:p14="http://schemas.microsoft.com/office/powerpoint/2010/main" val="27660517"/>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ltLang="ko-KR" dirty="0"/>
                  <a:t>0~1</a:t>
                </a:r>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223</a:t>
            </a:fld>
            <a:endParaRPr lang="ko-KR" altLang="en-US"/>
          </a:p>
        </p:txBody>
      </p:sp>
    </p:spTree>
    <p:extLst>
      <p:ext uri="{BB962C8B-B14F-4D97-AF65-F5344CB8AC3E}">
        <p14:creationId xmlns:p14="http://schemas.microsoft.com/office/powerpoint/2010/main" val="3790033134"/>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224</a:t>
            </a:fld>
            <a:endParaRPr lang="ko-KR" altLang="en-US"/>
          </a:p>
        </p:txBody>
      </p:sp>
    </p:spTree>
    <p:extLst>
      <p:ext uri="{BB962C8B-B14F-4D97-AF65-F5344CB8AC3E}">
        <p14:creationId xmlns:p14="http://schemas.microsoft.com/office/powerpoint/2010/main" val="2871381253"/>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225</a:t>
            </a:fld>
            <a:endParaRPr lang="ko-KR" altLang="en-US"/>
          </a:p>
        </p:txBody>
      </p:sp>
    </p:spTree>
    <p:extLst>
      <p:ext uri="{BB962C8B-B14F-4D97-AF65-F5344CB8AC3E}">
        <p14:creationId xmlns:p14="http://schemas.microsoft.com/office/powerpoint/2010/main" val="121290049"/>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ltLang="ko-KR" dirty="0"/>
                  <a:t>Greater error rate between training data and evaluation data -&gt; Overfitting only to the training data</a:t>
                </a:r>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226</a:t>
            </a:fld>
            <a:endParaRPr lang="ko-KR" altLang="en-US"/>
          </a:p>
        </p:txBody>
      </p:sp>
    </p:spTree>
    <p:extLst>
      <p:ext uri="{BB962C8B-B14F-4D97-AF65-F5344CB8AC3E}">
        <p14:creationId xmlns:p14="http://schemas.microsoft.com/office/powerpoint/2010/main" val="2261588295"/>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227</a:t>
            </a:fld>
            <a:endParaRPr lang="ko-KR" altLang="en-US"/>
          </a:p>
        </p:txBody>
      </p:sp>
    </p:spTree>
    <p:extLst>
      <p:ext uri="{BB962C8B-B14F-4D97-AF65-F5344CB8AC3E}">
        <p14:creationId xmlns:p14="http://schemas.microsoft.com/office/powerpoint/2010/main" val="1234756423"/>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this unit, we will be dealing with the “Tree-like” algorithms: Tree, Random Forest, </a:t>
                </a:r>
                <a:r>
                  <a:rPr lang="en-US" altLang="ko-KR" dirty="0" err="1"/>
                  <a:t>AdaBoost</a:t>
                </a:r>
                <a:r>
                  <a:rPr lang="en-US" altLang="ko-KR" dirty="0"/>
                  <a:t>, etc.</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basic ingredient is the Tree algorithm also known as “decision tree.”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pros and cons of the Tree algorithm are listed here.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228</a:t>
            </a:fld>
            <a:endParaRPr lang="ko-KR" altLang="en-US"/>
          </a:p>
        </p:txBody>
      </p:sp>
    </p:spTree>
    <p:extLst>
      <p:ext uri="{BB962C8B-B14F-4D97-AF65-F5344CB8AC3E}">
        <p14:creationId xmlns:p14="http://schemas.microsoft.com/office/powerpoint/2010/main" val="1210659475"/>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is categorical, we can apply the classification Tree.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this example, a pre-trained tree structure is shown.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You can follow through the nodes by answering the questions.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leaf nodes contain the predictions for the response variable.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229</a:t>
            </a:fld>
            <a:endParaRPr lang="ko-KR" altLang="en-US"/>
          </a:p>
        </p:txBody>
      </p:sp>
    </p:spTree>
    <p:extLst>
      <p:ext uri="{BB962C8B-B14F-4D97-AF65-F5344CB8AC3E}">
        <p14:creationId xmlns:p14="http://schemas.microsoft.com/office/powerpoint/2010/main" val="2899216975"/>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Gini impurity (or entropy) is the “loss” function that needs to be optimized during the training step.</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Gini impurity (or entropy) is at the lowest when the leaf node has a clear majority.</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230</a:t>
            </a:fld>
            <a:endParaRPr lang="ko-KR" altLang="en-US"/>
          </a:p>
        </p:txBody>
      </p:sp>
    </p:spTree>
    <p:extLst>
      <p:ext uri="{BB962C8B-B14F-4D97-AF65-F5344CB8AC3E}">
        <p14:creationId xmlns:p14="http://schemas.microsoft.com/office/powerpoint/2010/main" val="1251554085"/>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Often, a single training step is not enough for a tree.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should make considerations for the overfitting problem prevalent in the trees.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Usually, we carry out cross-validations where the “pruning” happens.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Pruning is carried out by putting restrictions on the growth of the tree structure.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231</a:t>
            </a:fld>
            <a:endParaRPr lang="ko-KR" altLang="en-US"/>
          </a:p>
        </p:txBody>
      </p:sp>
    </p:spTree>
    <p:extLst>
      <p:ext uri="{BB962C8B-B14F-4D97-AF65-F5344CB8AC3E}">
        <p14:creationId xmlns:p14="http://schemas.microsoft.com/office/powerpoint/2010/main" val="873746987"/>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the response variable is numeric, we can apply the regression Tree.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this example, a pre-trained tree structure is shown.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You can follow through the nodes by answering the questions.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leaf nodes contain the predictions for the response variable.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232</a:t>
            </a:fld>
            <a:endParaRPr lang="ko-KR" altLang="en-US"/>
          </a:p>
        </p:txBody>
      </p:sp>
    </p:spTree>
    <p:extLst>
      <p:ext uri="{BB962C8B-B14F-4D97-AF65-F5344CB8AC3E}">
        <p14:creationId xmlns:p14="http://schemas.microsoft.com/office/powerpoint/2010/main" val="128302343"/>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Each leaf node corresponds to a </a:t>
                </a:r>
                <a:r>
                  <a:rPr lang="en-US" altLang="ko-KR" sz="1200" dirty="0">
                    <a:solidFill>
                      <a:srgbClr val="0070C0"/>
                    </a:solidFill>
                    <a:latin typeface="Times New Roman" panose="02020603050405020304" pitchFamily="18" charset="0"/>
                    <a:cs typeface="Times New Roman" panose="02020603050405020304" pitchFamily="18" charset="0"/>
                  </a:rPr>
                  <a:t>region </a:t>
                </a:r>
                <a:r>
                  <a:rPr lang="en-US" altLang="ko-KR" sz="1200" dirty="0">
                    <a:latin typeface="Times New Roman" panose="02020603050405020304" pitchFamily="18" charset="0"/>
                    <a:cs typeface="Times New Roman" panose="02020603050405020304" pitchFamily="18" charset="0"/>
                  </a:rPr>
                  <a:t>in the configurational space.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The prediction for each leaf node is given by the average in the region.</a:t>
                </a: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233</a:t>
            </a:fld>
            <a:endParaRPr lang="ko-KR" altLang="en-US"/>
          </a:p>
        </p:txBody>
      </p:sp>
    </p:spTree>
    <p:extLst>
      <p:ext uri="{BB962C8B-B14F-4D97-AF65-F5344CB8AC3E}">
        <p14:creationId xmlns:p14="http://schemas.microsoft.com/office/powerpoint/2010/main" val="2620844244"/>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the training step of the regression tree is explained.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RSS is the loss function that needs to be minimized.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234</a:t>
            </a:fld>
            <a:endParaRPr lang="ko-KR" altLang="en-US"/>
          </a:p>
        </p:txBody>
      </p:sp>
    </p:spTree>
    <p:extLst>
      <p:ext uri="{BB962C8B-B14F-4D97-AF65-F5344CB8AC3E}">
        <p14:creationId xmlns:p14="http://schemas.microsoft.com/office/powerpoint/2010/main" val="4145497183"/>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More information can be found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+Classifier: </a:t>
            </a:r>
            <a:r>
              <a:rPr lang="en-US" altLang="ko-KR" dirty="0">
                <a:hlinkClick r:id="rId3"/>
              </a:rPr>
              <a:t>https://scikit-learn.org/stable/modules/generated/sklearn.tree.DecisionTreeClassifier.html</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+Regressor: </a:t>
            </a:r>
            <a:r>
              <a:rPr lang="en-US" altLang="ko-KR" dirty="0">
                <a:hlinkClick r:id="rId4"/>
              </a:rPr>
              <a:t>https://scikit-learn.org/stable/modules/generated/sklearn.tree.DecisionTreeRegressor.html</a:t>
            </a: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235</a:t>
            </a:fld>
            <a:endParaRPr lang="ko-KR" altLang="en-US"/>
          </a:p>
        </p:txBody>
      </p:sp>
    </p:spTree>
    <p:extLst>
      <p:ext uri="{BB962C8B-B14F-4D97-AF65-F5344CB8AC3E}">
        <p14:creationId xmlns:p14="http://schemas.microsoft.com/office/powerpoint/2010/main" val="1870854960"/>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236</a:t>
            </a:fld>
            <a:endParaRPr lang="ko-KR" altLang="en-US"/>
          </a:p>
        </p:txBody>
      </p:sp>
    </p:spTree>
    <p:extLst>
      <p:ext uri="{BB962C8B-B14F-4D97-AF65-F5344CB8AC3E}">
        <p14:creationId xmlns:p14="http://schemas.microsoft.com/office/powerpoint/2010/main" val="1704476305"/>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Lasso regression is explained.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Lasso regression is useful when</a:t>
                </a:r>
                <a:r>
                  <a:rPr lang="ko-KR" altLang="en-US" dirty="0"/>
                  <a:t> </a:t>
                </a:r>
                <a:r>
                  <a:rPr lang="en-US" altLang="ko-KR" dirty="0"/>
                  <a:t>there is an excessive amount of variance error.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a:solidFill>
                      <a:srgbClr val="00B050"/>
                    </a:solidFill>
                    <a:latin typeface="Cambria Math" panose="02040503050406030204" pitchFamily="18" charset="0"/>
                  </a:rPr>
                  <a:t>𝜆</a:t>
                </a:r>
                <a:r>
                  <a:rPr lang="en-US" altLang="ko-KR" dirty="0"/>
                  <a:t> can be interpreted as the strength of regularization (or constraint on the coefficients).</a:t>
                </a:r>
                <a:r>
                  <a:rPr lang="en-US" altLang="ko-KR" baseline="0" dirty="0"/>
                  <a:t>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An important different from Ridge is that in Lasso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the coefficients </a:t>
                </a:r>
                <a:r>
                  <a:rPr lang="ko-KR" altLang="en-US" sz="1200" i="0">
                    <a:latin typeface="Cambria Math" panose="02040503050406030204" pitchFamily="18" charset="0"/>
                    <a:cs typeface="Times New Roman" panose="02020603050405020304" pitchFamily="18" charset="0"/>
                    <a:sym typeface="Symbol" panose="05050102010706020507" pitchFamily="18" charset="2"/>
                  </a:rPr>
                  <a:t>𝛽</a:t>
                </a:r>
                <a:r>
                  <a:rPr lang="en-US" altLang="ko-KR" sz="1200" i="0">
                    <a:latin typeface="Cambria Math" panose="02040503050406030204" pitchFamily="18" charset="0"/>
                    <a:cs typeface="Times New Roman" panose="02020603050405020304" pitchFamily="18" charset="0"/>
                    <a:sym typeface="Symbol" panose="05050102010706020507" pitchFamily="18" charset="2"/>
                  </a:rPr>
                  <a:t>_𝑖</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can become </a:t>
                </a:r>
                <a:r>
                  <a:rPr lang="en-US" altLang="ko-KR" sz="1200" dirty="0">
                    <a:latin typeface="Times New Roman" panose="02020603050405020304" pitchFamily="18" charset="0"/>
                    <a:cs typeface="Times New Roman" panose="02020603050405020304" pitchFamily="18" charset="0"/>
                    <a:sym typeface="Symbol" panose="05050102010706020507" pitchFamily="18" charset="2"/>
                  </a:rPr>
                  <a:t>exactly equal to </a:t>
                </a:r>
                <a:r>
                  <a:rPr lang="en-US" altLang="ko-KR" sz="1200"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zero.</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237</a:t>
            </a:fld>
            <a:endParaRPr lang="ko-KR" altLang="en-US"/>
          </a:p>
        </p:txBody>
      </p:sp>
    </p:spTree>
    <p:extLst>
      <p:ext uri="{BB962C8B-B14F-4D97-AF65-F5344CB8AC3E}">
        <p14:creationId xmlns:p14="http://schemas.microsoft.com/office/powerpoint/2010/main" val="1724892620"/>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br>
              <a:rPr lang="en-US" altLang="ko-KR" sz="1200" b="1" dirty="0">
                <a:latin typeface="Times New Roman" panose="02020603050405020304" pitchFamily="18" charset="0"/>
              </a:rPr>
            </a:br>
            <a:r>
              <a:rPr lang="en-US" altLang="ko-KR" sz="1200" b="1" dirty="0">
                <a:latin typeface="Times New Roman" panose="02020603050405020304" pitchFamily="18" charset="0"/>
              </a:rPr>
              <a:t>WHAT THIS PRACTICE ABOUT</a:t>
            </a:r>
            <a:endParaRPr lang="ko-KR" altLang="en-US" dirty="0"/>
          </a:p>
          <a:p>
            <a:pPr latinLnBrk="1"/>
            <a:r>
              <a:rPr lang="en-US" altLang="ko-KR" sz="1200" kern="1200" dirty="0">
                <a:solidFill>
                  <a:schemeClr val="tx1"/>
                </a:solidFill>
                <a:effectLst/>
                <a:latin typeface="+mn-lt"/>
                <a:ea typeface="+mn-ea"/>
                <a:cs typeface="+mn-cs"/>
              </a:rPr>
              <a:t>In this practice, we will apply how to implement classification and regression with tree algorithm</a:t>
            </a:r>
          </a:p>
          <a:p>
            <a:pPr latinLnBrk="1"/>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Times New Roman" panose="02020603050405020304" pitchFamily="18" charset="0"/>
              </a:rPr>
              <a:t>PRACTICE INSTRUCTION</a:t>
            </a:r>
            <a:endParaRPr lang="ko-KR" altLang="ko-KR" sz="1000"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Start </a:t>
            </a:r>
            <a:r>
              <a:rPr lang="en-US" altLang="ko-KR" sz="1200" kern="100" dirty="0" err="1">
                <a:solidFill>
                  <a:srgbClr val="000000"/>
                </a:solidFill>
                <a:latin typeface="Times New Roman" panose="02020603050405020304" pitchFamily="18" charset="0"/>
                <a:cs typeface="Times New Roman" panose="02020603050405020304" pitchFamily="18" charset="0"/>
              </a:rPr>
              <a:t>Jupyter</a:t>
            </a:r>
            <a:r>
              <a:rPr lang="en-US" altLang="ko-KR" sz="1200" kern="100" dirty="0">
                <a:solidFill>
                  <a:srgbClr val="000000"/>
                </a:solidFill>
                <a:latin typeface="Times New Roman" panose="02020603050405020304" pitchFamily="18" charset="0"/>
                <a:cs typeface="Times New Roman" panose="02020603050405020304" pitchFamily="18" charset="0"/>
              </a:rPr>
              <a:t> Notebook. </a:t>
            </a:r>
          </a:p>
          <a:p>
            <a:pPr marL="342900" marR="0" lvl="0" indent="-342900" algn="l" defTabSz="914400" rtl="0" eaLnBrk="1" fontAlgn="auto" latinLnBrk="1" hangingPunct="1">
              <a:lnSpc>
                <a:spcPct val="100000"/>
              </a:lnSpc>
              <a:spcBef>
                <a:spcPts val="0"/>
              </a:spcBef>
              <a:spcAft>
                <a:spcPts val="800"/>
              </a:spcAft>
              <a:buClrTx/>
              <a:buSzTx/>
              <a:buFont typeface="+mj-lt"/>
              <a:buAutoNum type="arabicPeriod"/>
              <a:tabLst/>
              <a:defRPr/>
            </a:pPr>
            <a:r>
              <a:rPr lang="en-US" altLang="ko-KR" sz="1200" kern="1200" dirty="0">
                <a:solidFill>
                  <a:schemeClr val="tx1"/>
                </a:solidFill>
                <a:effectLst/>
                <a:latin typeface="+mn-lt"/>
                <a:ea typeface="+mn-ea"/>
                <a:cs typeface="+mn-cs"/>
              </a:rPr>
              <a:t>In </a:t>
            </a:r>
            <a:r>
              <a:rPr lang="en-US" altLang="ko-KR" sz="1200" kern="1200" dirty="0" err="1">
                <a:solidFill>
                  <a:schemeClr val="tx1"/>
                </a:solidFill>
                <a:effectLst/>
                <a:latin typeface="+mn-lt"/>
                <a:ea typeface="+mn-ea"/>
                <a:cs typeface="+mn-cs"/>
              </a:rPr>
              <a:t>Jupyter</a:t>
            </a:r>
            <a:r>
              <a:rPr lang="en-US" altLang="ko-KR" sz="1200" kern="1200" dirty="0">
                <a:solidFill>
                  <a:schemeClr val="tx1"/>
                </a:solidFill>
                <a:effectLst/>
                <a:latin typeface="+mn-lt"/>
                <a:ea typeface="+mn-ea"/>
                <a:cs typeface="+mn-cs"/>
              </a:rPr>
              <a:t> Notebook, click the </a:t>
            </a:r>
            <a:r>
              <a:rPr lang="en-US" altLang="ko-KR" sz="1200" b="1" kern="1200" dirty="0">
                <a:solidFill>
                  <a:schemeClr val="tx1"/>
                </a:solidFill>
                <a:effectLst/>
                <a:latin typeface="+mn-lt"/>
                <a:ea typeface="+mn-ea"/>
                <a:cs typeface="+mn-cs"/>
              </a:rPr>
              <a:t>ex_0308.ipynb</a:t>
            </a:r>
            <a:r>
              <a:rPr lang="en-US" altLang="ko-KR" sz="1200" kern="1200" dirty="0">
                <a:solidFill>
                  <a:schemeClr val="tx1"/>
                </a:solidFill>
                <a:effectLst/>
                <a:latin typeface="+mn-lt"/>
                <a:ea typeface="+mn-ea"/>
                <a:cs typeface="+mn-cs"/>
              </a:rPr>
              <a:t> files in the </a:t>
            </a:r>
            <a:r>
              <a:rPr lang="en-US" altLang="ko-KR" sz="1200" b="1" kern="1200" dirty="0">
                <a:solidFill>
                  <a:schemeClr val="tx1"/>
                </a:solidFill>
                <a:effectLst/>
                <a:latin typeface="+mn-lt"/>
                <a:ea typeface="+mn-ea"/>
                <a:cs typeface="+mn-cs"/>
              </a:rPr>
              <a:t>Coding Exercise</a:t>
            </a:r>
            <a:r>
              <a:rPr lang="en-US" altLang="ko-KR" sz="1200" kern="1200" dirty="0">
                <a:solidFill>
                  <a:schemeClr val="tx1"/>
                </a:solidFill>
                <a:effectLst/>
                <a:latin typeface="+mn-lt"/>
                <a:ea typeface="+mn-ea"/>
                <a:cs typeface="+mn-cs"/>
              </a:rPr>
              <a:t> folder.</a:t>
            </a:r>
            <a:endParaRPr lang="en-US" altLang="ko-KR" sz="1200" kern="1200" dirty="0">
              <a:solidFill>
                <a:srgbClr val="FF0000"/>
              </a:solidFill>
              <a:effectLst/>
              <a:latin typeface="+mn-lt"/>
              <a:ea typeface="+mn-ea"/>
              <a:cs typeface="+mn-cs"/>
            </a:endParaRPr>
          </a:p>
          <a:p>
            <a:pPr marL="342900" lvl="0" indent="-342900">
              <a:spcAft>
                <a:spcPts val="800"/>
              </a:spcAft>
              <a:buFont typeface="+mj-lt"/>
              <a:buAutoNum type="arabicPeriod"/>
            </a:pPr>
            <a:r>
              <a:rPr lang="en-US" altLang="ko-KR" sz="1200" kern="1200" dirty="0">
                <a:solidFill>
                  <a:srgbClr val="FF0000"/>
                </a:solidFill>
                <a:effectLst/>
                <a:latin typeface="+mn-lt"/>
                <a:ea typeface="+mn-ea"/>
                <a:cs typeface="+mn-cs"/>
              </a:rPr>
              <a:t>Review the examples on the topics below:</a:t>
            </a:r>
            <a:br>
              <a:rPr lang="en-US" altLang="ko-KR" sz="1000" i="0" kern="1200" dirty="0">
                <a:solidFill>
                  <a:srgbClr val="FF0000"/>
                </a:solidFill>
                <a:effectLst/>
                <a:latin typeface="+mn-lt"/>
                <a:ea typeface="+mn-ea"/>
                <a:cs typeface="+mn-cs"/>
              </a:rPr>
            </a:br>
            <a:br>
              <a:rPr lang="en-US" altLang="ko-KR" sz="1000" i="0" kern="1200" dirty="0">
                <a:solidFill>
                  <a:srgbClr val="FF0000"/>
                </a:solidFill>
                <a:effectLst/>
                <a:latin typeface="+mn-lt"/>
                <a:ea typeface="+mn-ea"/>
                <a:cs typeface="+mn-cs"/>
              </a:rPr>
            </a:br>
            <a:r>
              <a:rPr lang="en-US" altLang="ko-KR" sz="1200" i="1" kern="1200" dirty="0">
                <a:solidFill>
                  <a:schemeClr val="tx1"/>
                </a:solidFill>
                <a:effectLst/>
                <a:latin typeface="+mn-lt"/>
                <a:ea typeface="+mn-ea"/>
                <a:cs typeface="+mn-cs"/>
              </a:rPr>
              <a:t>A. Classification with Tree</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Read in data</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Tree hyperparameter optimization</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B. Regression with Tree</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Read in data</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Convert the data into a </a:t>
            </a:r>
            <a:r>
              <a:rPr lang="en-US" altLang="ko-KR" sz="1200" i="1" kern="1200" dirty="0" err="1">
                <a:solidFill>
                  <a:schemeClr val="tx1"/>
                </a:solidFill>
                <a:effectLst/>
                <a:latin typeface="+mn-lt"/>
                <a:ea typeface="+mn-ea"/>
                <a:cs typeface="+mn-cs"/>
              </a:rPr>
              <a:t>DataFrame</a:t>
            </a:r>
            <a:r>
              <a:rPr lang="en-US" altLang="ko-KR" sz="1200" i="1" kern="1200" dirty="0">
                <a:solidFill>
                  <a:schemeClr val="tx1"/>
                </a:solidFill>
                <a:effectLst/>
                <a:latin typeface="+mn-lt"/>
                <a:ea typeface="+mn-ea"/>
                <a:cs typeface="+mn-cs"/>
              </a:rPr>
              <a:t> and explore</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iii. Tree hyperparameter optimization</a:t>
            </a:r>
          </a:p>
          <a:p>
            <a:pPr marL="342900" lvl="0" indent="-342900">
              <a:spcAft>
                <a:spcPts val="800"/>
              </a:spcAft>
              <a:buFont typeface="+mj-lt"/>
              <a:buAutoNum type="arabicPeriod"/>
            </a:pPr>
            <a:endParaRPr lang="en-US" altLang="ko-KR" sz="1200" i="1"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200" dirty="0">
                <a:solidFill>
                  <a:schemeClr val="tx1"/>
                </a:solidFill>
                <a:effectLst/>
                <a:latin typeface="+mn-lt"/>
                <a:ea typeface="+mn-ea"/>
                <a:cs typeface="+mn-cs"/>
              </a:rPr>
              <a:t>(Optional) Use the blank cell at the bottom to practice your own personal needs.</a:t>
            </a:r>
            <a:endParaRPr lang="ko-KR" altLang="ko-KR" sz="10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238</a:t>
            </a:fld>
            <a:endParaRPr lang="ko-KR" altLang="en-US" dirty="0"/>
          </a:p>
        </p:txBody>
      </p:sp>
    </p:spTree>
    <p:extLst>
      <p:ext uri="{BB962C8B-B14F-4D97-AF65-F5344CB8AC3E}">
        <p14:creationId xmlns:p14="http://schemas.microsoft.com/office/powerpoint/2010/main" val="3639681448"/>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239</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904525013"/>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Naïve Bayes is not among the most powerful algorithms.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However, it is easy to understand and implement.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240</a:t>
            </a:fld>
            <a:endParaRPr lang="ko-KR" altLang="en-US"/>
          </a:p>
        </p:txBody>
      </p:sp>
    </p:spTree>
    <p:extLst>
      <p:ext uri="{BB962C8B-B14F-4D97-AF65-F5344CB8AC3E}">
        <p14:creationId xmlns:p14="http://schemas.microsoft.com/office/powerpoint/2010/main" val="1862120563"/>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ltLang="ko-KR" dirty="0"/>
                  <a:t>Naïve Bayes is a straight application of the Bayes’ theorem.</a:t>
                </a:r>
              </a:p>
              <a:p>
                <a:r>
                  <a:rPr lang="en-US" altLang="ko-KR" dirty="0"/>
                  <a:t>In Naïve Bayes classification, we would like to calculate the “posterior” probability of a class given the data.</a:t>
                </a:r>
              </a:p>
              <a:p>
                <a:r>
                  <a:rPr lang="en-US" altLang="ko-KR" dirty="0"/>
                  <a:t>Then, we will be able to make predictions by comparing the class probabilities. </a:t>
                </a:r>
              </a:p>
              <a:p>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241</a:t>
            </a:fld>
            <a:endParaRPr lang="ko-KR" altLang="en-US"/>
          </a:p>
        </p:txBody>
      </p:sp>
    </p:spTree>
    <p:extLst>
      <p:ext uri="{BB962C8B-B14F-4D97-AF65-F5344CB8AC3E}">
        <p14:creationId xmlns:p14="http://schemas.microsoft.com/office/powerpoint/2010/main" val="456328253"/>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ltLang="ko-KR" sz="1200" dirty="0">
                    <a:latin typeface="Times New Roman" panose="02020603050405020304" pitchFamily="18" charset="0"/>
                    <a:ea typeface="Noto Sans CJK KR Regular" panose="020B0500000000000000" pitchFamily="34" charset="-127"/>
                    <a:cs typeface="Times New Roman" panose="02020603050405020304" pitchFamily="18" charset="0"/>
                  </a:rPr>
                  <a:t>We can approximate the likelihood function </a:t>
                </a:r>
                <a14:m>
                  <m:oMath xmlns:m="http://schemas.openxmlformats.org/officeDocument/2006/math">
                    <m:r>
                      <a:rPr lang="en-US" altLang="ko-KR" sz="1200" i="1" smtClean="0">
                        <a:latin typeface="Cambria Math"/>
                      </a:rPr>
                      <m:t>𝑃</m:t>
                    </m:r>
                    <m:d>
                      <m:dPr>
                        <m:ctrlPr>
                          <a:rPr lang="en-US" altLang="ko-KR" sz="1200" i="1">
                            <a:latin typeface="Cambria Math" panose="02040503050406030204" pitchFamily="18" charset="0"/>
                          </a:rPr>
                        </m:ctrlPr>
                      </m:dPr>
                      <m:e>
                        <m:r>
                          <a:rPr lang="en-US" altLang="ko-KR" sz="1200" i="1" smtClean="0">
                            <a:latin typeface="Cambria Math"/>
                          </a:rPr>
                          <m:t>𝐷</m:t>
                        </m:r>
                        <m:r>
                          <a:rPr lang="en-US" altLang="ko-KR" sz="1200" i="1" smtClean="0">
                            <a:latin typeface="Cambria Math" panose="02040503050406030204" pitchFamily="18" charset="0"/>
                          </a:rPr>
                          <m:t>𝑎𝑡𝑎</m:t>
                        </m:r>
                      </m:e>
                      <m:e>
                        <m:r>
                          <a:rPr lang="en-US" altLang="ko-KR" sz="1200" i="1" smtClean="0">
                            <a:latin typeface="Cambria Math" panose="02040503050406030204" pitchFamily="18" charset="0"/>
                          </a:rPr>
                          <m:t>𝐶𝑙𝑎𝑠𝑠</m:t>
                        </m:r>
                      </m:e>
                    </m:d>
                  </m:oMath>
                </a14:m>
                <a:r>
                  <a:rPr lang="en-US" altLang="ko-KR" sz="1200" dirty="0">
                    <a:latin typeface="Times New Roman" panose="02020603050405020304" pitchFamily="18" charset="0"/>
                    <a:ea typeface="Noto Sans CJK KR Regular" panose="020B0500000000000000" pitchFamily="34" charset="-127"/>
                    <a:cs typeface="Times New Roman" panose="02020603050405020304" pitchFamily="18" charset="0"/>
                  </a:rPr>
                  <a:t> by a Gaussian (normal distribution).</a:t>
                </a:r>
              </a:p>
              <a:p>
                <a:r>
                  <a:rPr lang="en-US" altLang="ko-KR" sz="1200" dirty="0">
                    <a:latin typeface="Times New Roman" panose="02020603050405020304" pitchFamily="18" charset="0"/>
                    <a:ea typeface="Noto Sans CJK KR Regular" panose="020B0500000000000000" pitchFamily="34" charset="-127"/>
                    <a:cs typeface="Times New Roman" panose="02020603050405020304" pitchFamily="18" charset="0"/>
                  </a:rPr>
                  <a:t>A Gaussian (normal distribution) is parametrized by </a:t>
                </a:r>
                <a14:m>
                  <m:oMath xmlns:m="http://schemas.openxmlformats.org/officeDocument/2006/math">
                    <m:r>
                      <a:rPr lang="ko-KR" altLang="en-US" sz="1200" i="1" smtClean="0">
                        <a:latin typeface="Cambria Math" panose="02040503050406030204" pitchFamily="18" charset="0"/>
                        <a:ea typeface="Noto Sans CJK KR Regular" panose="020B0500000000000000" pitchFamily="34" charset="-127"/>
                        <a:cs typeface="Times New Roman" panose="02020603050405020304" pitchFamily="18" charset="0"/>
                      </a:rPr>
                      <m:t>𝜇</m:t>
                    </m:r>
                  </m:oMath>
                </a14:m>
                <a:r>
                  <a:rPr lang="ko-KR" altLang="en-US" dirty="0"/>
                  <a:t> </a:t>
                </a:r>
                <a:r>
                  <a:rPr lang="en-US" altLang="ko-KR" dirty="0"/>
                  <a:t>and </a:t>
                </a:r>
                <a14:m>
                  <m:oMath xmlns:m="http://schemas.openxmlformats.org/officeDocument/2006/math">
                    <m:r>
                      <a:rPr lang="ko-KR" altLang="en-US" i="1" smtClean="0">
                        <a:latin typeface="Cambria Math" panose="02040503050406030204" pitchFamily="18" charset="0"/>
                      </a:rPr>
                      <m:t>𝜎</m:t>
                    </m:r>
                  </m:oMath>
                </a14:m>
                <a:r>
                  <a:rPr lang="en-US" altLang="ko-KR" dirty="0"/>
                  <a:t>.</a:t>
                </a:r>
              </a:p>
              <a:p>
                <a:r>
                  <a:rPr lang="en-US" altLang="ko-KR" dirty="0"/>
                  <a:t>In this case, the </a:t>
                </a:r>
                <a14:m>
                  <m:oMath xmlns:m="http://schemas.openxmlformats.org/officeDocument/2006/math">
                    <m:sSub>
                      <m:sSubPr>
                        <m:ctrlPr>
                          <a:rPr lang="en-US" altLang="ko-KR" sz="1200" i="1" smtClean="0">
                            <a:latin typeface="Cambria Math" panose="02040503050406030204" pitchFamily="18" charset="0"/>
                            <a:cs typeface="Times New Roman" panose="02020603050405020304" pitchFamily="18" charset="0"/>
                          </a:rPr>
                        </m:ctrlPr>
                      </m:sSubPr>
                      <m:e>
                        <m:r>
                          <a:rPr lang="ko-KR" altLang="en-US" sz="1200" i="1">
                            <a:latin typeface="Cambria Math"/>
                            <a:cs typeface="Times New Roman" panose="02020603050405020304" pitchFamily="18" charset="0"/>
                          </a:rPr>
                          <m:t>𝜇</m:t>
                        </m:r>
                      </m:e>
                      <m:sub>
                        <m:r>
                          <a:rPr lang="en-US" altLang="ko-KR" sz="1200" i="1">
                            <a:latin typeface="Cambria Math"/>
                            <a:cs typeface="Times New Roman" panose="02020603050405020304" pitchFamily="18" charset="0"/>
                          </a:rPr>
                          <m:t>𝑗</m:t>
                        </m:r>
                      </m:sub>
                    </m:sSub>
                  </m:oMath>
                </a14:m>
                <a:r>
                  <a:rPr lang="ko-KR" altLang="en-US" sz="1200" dirty="0">
                    <a:latin typeface="Times New Roman" panose="02020603050405020304" pitchFamily="18" charset="0"/>
                    <a:cs typeface="Times New Roman" panose="02020603050405020304" pitchFamily="18" charset="0"/>
                  </a:rPr>
                  <a:t> </a:t>
                </a:r>
                <a:r>
                  <a:rPr lang="en-US" altLang="ko-KR" sz="1200" dirty="0">
                    <a:latin typeface="Times New Roman" panose="02020603050405020304" pitchFamily="18" charset="0"/>
                    <a:cs typeface="Times New Roman" panose="02020603050405020304" pitchFamily="18" charset="0"/>
                  </a:rPr>
                  <a:t>and</a:t>
                </a:r>
                <a:r>
                  <a:rPr lang="ko-KR" altLang="en-US" sz="12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ko-KR" sz="1200" i="1">
                            <a:latin typeface="Cambria Math" panose="02040503050406030204" pitchFamily="18" charset="0"/>
                            <a:cs typeface="Times New Roman" panose="02020603050405020304" pitchFamily="18" charset="0"/>
                          </a:rPr>
                        </m:ctrlPr>
                      </m:sSubPr>
                      <m:e>
                        <m:r>
                          <a:rPr lang="ko-KR" altLang="en-US" sz="1200" i="1">
                            <a:latin typeface="Cambria Math"/>
                            <a:cs typeface="Times New Roman" panose="02020603050405020304" pitchFamily="18" charset="0"/>
                          </a:rPr>
                          <m:t>𝜎</m:t>
                        </m:r>
                      </m:e>
                      <m:sub>
                        <m:r>
                          <a:rPr lang="en-US" altLang="ko-KR" sz="1200" i="1">
                            <a:latin typeface="Cambria Math"/>
                            <a:cs typeface="Times New Roman" panose="02020603050405020304" pitchFamily="18" charset="0"/>
                          </a:rPr>
                          <m:t>𝑗</m:t>
                        </m:r>
                      </m:sub>
                    </m:sSub>
                  </m:oMath>
                </a14:m>
                <a:r>
                  <a:rPr lang="ko-KR" altLang="en-US" dirty="0"/>
                  <a:t> </a:t>
                </a:r>
                <a:r>
                  <a:rPr lang="en-US" altLang="ko-KR" dirty="0"/>
                  <a:t>that correspond</a:t>
                </a:r>
                <a:r>
                  <a:rPr lang="en-US" altLang="ko-KR" baseline="0" dirty="0"/>
                  <a:t> to the class </a:t>
                </a:r>
                <a14:m>
                  <m:oMath xmlns:m="http://schemas.openxmlformats.org/officeDocument/2006/math">
                    <m:r>
                      <a:rPr lang="en-US" altLang="ko-KR" i="1" baseline="0" dirty="0" smtClean="0">
                        <a:latin typeface="Cambria Math" panose="02040503050406030204" pitchFamily="18" charset="0"/>
                      </a:rPr>
                      <m:t>𝑗</m:t>
                    </m:r>
                  </m:oMath>
                </a14:m>
                <a:r>
                  <a:rPr lang="en-US" altLang="ko-KR" baseline="0" dirty="0"/>
                  <a:t> are “learned” from the training data.</a:t>
                </a:r>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242</a:t>
            </a:fld>
            <a:endParaRPr lang="ko-KR" altLang="en-US"/>
          </a:p>
        </p:txBody>
      </p:sp>
    </p:spTree>
    <p:extLst>
      <p:ext uri="{BB962C8B-B14F-4D97-AF65-F5344CB8AC3E}">
        <p14:creationId xmlns:p14="http://schemas.microsoft.com/office/powerpoint/2010/main" val="3114301919"/>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ltLang="ko-KR" sz="1200" dirty="0">
                    <a:latin typeface="Times New Roman" panose="02020603050405020304" pitchFamily="18" charset="0"/>
                    <a:ea typeface="Noto Sans CJK KR Regular" panose="020B0500000000000000" pitchFamily="34" charset="-127"/>
                    <a:cs typeface="Times New Roman" panose="02020603050405020304" pitchFamily="18" charset="0"/>
                  </a:rPr>
                  <a:t>We can approximate the likelihood function </a:t>
                </a:r>
                <a14:m>
                  <m:oMath xmlns:m="http://schemas.openxmlformats.org/officeDocument/2006/math">
                    <m:r>
                      <a:rPr lang="en-US" altLang="ko-KR" sz="1200" i="1" smtClean="0">
                        <a:latin typeface="Cambria Math"/>
                      </a:rPr>
                      <m:t>𝑃</m:t>
                    </m:r>
                    <m:d>
                      <m:dPr>
                        <m:ctrlPr>
                          <a:rPr lang="en-US" altLang="ko-KR" sz="1200" i="1">
                            <a:latin typeface="Cambria Math" panose="02040503050406030204" pitchFamily="18" charset="0"/>
                          </a:rPr>
                        </m:ctrlPr>
                      </m:dPr>
                      <m:e>
                        <m:r>
                          <a:rPr lang="en-US" altLang="ko-KR" sz="1200" i="1" smtClean="0">
                            <a:latin typeface="Cambria Math"/>
                          </a:rPr>
                          <m:t>𝐷</m:t>
                        </m:r>
                        <m:r>
                          <a:rPr lang="en-US" altLang="ko-KR" sz="1200" i="1" smtClean="0">
                            <a:latin typeface="Cambria Math" panose="02040503050406030204" pitchFamily="18" charset="0"/>
                          </a:rPr>
                          <m:t>𝑎𝑡𝑎</m:t>
                        </m:r>
                      </m:e>
                      <m:e>
                        <m:r>
                          <a:rPr lang="en-US" altLang="ko-KR" sz="1200" i="1" smtClean="0">
                            <a:latin typeface="Cambria Math" panose="02040503050406030204" pitchFamily="18" charset="0"/>
                          </a:rPr>
                          <m:t>𝐶𝑙𝑎𝑠𝑠</m:t>
                        </m:r>
                      </m:e>
                    </m:d>
                  </m:oMath>
                </a14:m>
                <a:r>
                  <a:rPr lang="en-US" altLang="ko-KR" sz="1200" dirty="0">
                    <a:latin typeface="Times New Roman" panose="02020603050405020304" pitchFamily="18" charset="0"/>
                    <a:ea typeface="Noto Sans CJK KR Regular" panose="020B0500000000000000" pitchFamily="34" charset="-127"/>
                    <a:cs typeface="Times New Roman" panose="02020603050405020304" pitchFamily="18" charset="0"/>
                  </a:rPr>
                  <a:t> by a Gaussian (normal distribution).</a:t>
                </a:r>
              </a:p>
              <a:p>
                <a:r>
                  <a:rPr lang="en-US" altLang="ko-KR" sz="1200" dirty="0">
                    <a:latin typeface="Times New Roman" panose="02020603050405020304" pitchFamily="18" charset="0"/>
                    <a:ea typeface="Noto Sans CJK KR Regular" panose="020B0500000000000000" pitchFamily="34" charset="-127"/>
                    <a:cs typeface="Times New Roman" panose="02020603050405020304" pitchFamily="18" charset="0"/>
                  </a:rPr>
                  <a:t>A Gaussian (normal distribution) is parametrized by </a:t>
                </a:r>
                <a14:m>
                  <m:oMath xmlns:m="http://schemas.openxmlformats.org/officeDocument/2006/math">
                    <m:r>
                      <a:rPr lang="ko-KR" altLang="en-US" sz="1200" i="1" smtClean="0">
                        <a:latin typeface="Cambria Math" panose="02040503050406030204" pitchFamily="18" charset="0"/>
                        <a:ea typeface="Noto Sans CJK KR Regular" panose="020B0500000000000000" pitchFamily="34" charset="-127"/>
                        <a:cs typeface="Times New Roman" panose="02020603050405020304" pitchFamily="18" charset="0"/>
                      </a:rPr>
                      <m:t>𝜇</m:t>
                    </m:r>
                  </m:oMath>
                </a14:m>
                <a:r>
                  <a:rPr lang="ko-KR" altLang="en-US" dirty="0"/>
                  <a:t> </a:t>
                </a:r>
                <a:r>
                  <a:rPr lang="en-US" altLang="ko-KR" dirty="0"/>
                  <a:t>and </a:t>
                </a:r>
                <a14:m>
                  <m:oMath xmlns:m="http://schemas.openxmlformats.org/officeDocument/2006/math">
                    <m:r>
                      <a:rPr lang="ko-KR" altLang="en-US" i="1" smtClean="0">
                        <a:latin typeface="Cambria Math" panose="02040503050406030204" pitchFamily="18" charset="0"/>
                      </a:rPr>
                      <m:t>𝜎</m:t>
                    </m:r>
                  </m:oMath>
                </a14:m>
                <a:r>
                  <a:rPr lang="en-US" altLang="ko-KR" dirty="0"/>
                  <a:t>.</a:t>
                </a:r>
              </a:p>
              <a:p>
                <a:r>
                  <a:rPr lang="en-US" altLang="ko-KR" dirty="0"/>
                  <a:t>In this case, the </a:t>
                </a:r>
                <a14:m>
                  <m:oMath xmlns:m="http://schemas.openxmlformats.org/officeDocument/2006/math">
                    <m:sSub>
                      <m:sSubPr>
                        <m:ctrlPr>
                          <a:rPr lang="en-US" altLang="ko-KR" sz="1200" i="1" smtClean="0">
                            <a:latin typeface="Cambria Math" panose="02040503050406030204" pitchFamily="18" charset="0"/>
                            <a:cs typeface="Times New Roman" panose="02020603050405020304" pitchFamily="18" charset="0"/>
                          </a:rPr>
                        </m:ctrlPr>
                      </m:sSubPr>
                      <m:e>
                        <m:r>
                          <a:rPr lang="ko-KR" altLang="en-US" sz="1200" i="1">
                            <a:latin typeface="Cambria Math"/>
                            <a:cs typeface="Times New Roman" panose="02020603050405020304" pitchFamily="18" charset="0"/>
                          </a:rPr>
                          <m:t>𝜇</m:t>
                        </m:r>
                      </m:e>
                      <m:sub>
                        <m:r>
                          <a:rPr lang="en-US" altLang="ko-KR" sz="1200" i="1">
                            <a:latin typeface="Cambria Math"/>
                            <a:cs typeface="Times New Roman" panose="02020603050405020304" pitchFamily="18" charset="0"/>
                          </a:rPr>
                          <m:t>𝑗</m:t>
                        </m:r>
                      </m:sub>
                    </m:sSub>
                  </m:oMath>
                </a14:m>
                <a:r>
                  <a:rPr lang="ko-KR" altLang="en-US" sz="1200" dirty="0">
                    <a:latin typeface="Times New Roman" panose="02020603050405020304" pitchFamily="18" charset="0"/>
                    <a:cs typeface="Times New Roman" panose="02020603050405020304" pitchFamily="18" charset="0"/>
                  </a:rPr>
                  <a:t> </a:t>
                </a:r>
                <a:r>
                  <a:rPr lang="en-US" altLang="ko-KR" sz="1200" dirty="0">
                    <a:latin typeface="Times New Roman" panose="02020603050405020304" pitchFamily="18" charset="0"/>
                    <a:cs typeface="Times New Roman" panose="02020603050405020304" pitchFamily="18" charset="0"/>
                  </a:rPr>
                  <a:t>and</a:t>
                </a:r>
                <a:r>
                  <a:rPr lang="ko-KR" altLang="en-US" sz="12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ko-KR" sz="1200" i="1">
                            <a:latin typeface="Cambria Math" panose="02040503050406030204" pitchFamily="18" charset="0"/>
                            <a:cs typeface="Times New Roman" panose="02020603050405020304" pitchFamily="18" charset="0"/>
                          </a:rPr>
                        </m:ctrlPr>
                      </m:sSubPr>
                      <m:e>
                        <m:r>
                          <a:rPr lang="ko-KR" altLang="en-US" sz="1200" i="1">
                            <a:latin typeface="Cambria Math"/>
                            <a:cs typeface="Times New Roman" panose="02020603050405020304" pitchFamily="18" charset="0"/>
                          </a:rPr>
                          <m:t>𝜎</m:t>
                        </m:r>
                      </m:e>
                      <m:sub>
                        <m:r>
                          <a:rPr lang="en-US" altLang="ko-KR" sz="1200" i="1">
                            <a:latin typeface="Cambria Math"/>
                            <a:cs typeface="Times New Roman" panose="02020603050405020304" pitchFamily="18" charset="0"/>
                          </a:rPr>
                          <m:t>𝑗</m:t>
                        </m:r>
                      </m:sub>
                    </m:sSub>
                  </m:oMath>
                </a14:m>
                <a:r>
                  <a:rPr lang="ko-KR" altLang="en-US" dirty="0"/>
                  <a:t> </a:t>
                </a:r>
                <a:r>
                  <a:rPr lang="en-US" altLang="ko-KR" dirty="0"/>
                  <a:t>that correspond</a:t>
                </a:r>
                <a:r>
                  <a:rPr lang="en-US" altLang="ko-KR" baseline="0" dirty="0"/>
                  <a:t> to the class </a:t>
                </a:r>
                <a14:m>
                  <m:oMath xmlns:m="http://schemas.openxmlformats.org/officeDocument/2006/math">
                    <m:r>
                      <a:rPr lang="en-US" altLang="ko-KR" i="1" baseline="0" dirty="0" smtClean="0">
                        <a:latin typeface="Cambria Math" panose="02040503050406030204" pitchFamily="18" charset="0"/>
                      </a:rPr>
                      <m:t>𝑗</m:t>
                    </m:r>
                  </m:oMath>
                </a14:m>
                <a:r>
                  <a:rPr lang="en-US" altLang="ko-KR" baseline="0" dirty="0"/>
                  <a:t> are “learned” from the training data.</a:t>
                </a:r>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243</a:t>
            </a:fld>
            <a:endParaRPr lang="ko-KR" altLang="en-US"/>
          </a:p>
        </p:txBody>
      </p:sp>
    </p:spTree>
    <p:extLst>
      <p:ext uri="{BB962C8B-B14F-4D97-AF65-F5344CB8AC3E}">
        <p14:creationId xmlns:p14="http://schemas.microsoft.com/office/powerpoint/2010/main" val="778345308"/>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244</a:t>
            </a:fld>
            <a:endParaRPr lang="ko-KR" altLang="en-US"/>
          </a:p>
        </p:txBody>
      </p:sp>
    </p:spTree>
    <p:extLst>
      <p:ext uri="{BB962C8B-B14F-4D97-AF65-F5344CB8AC3E}">
        <p14:creationId xmlns:p14="http://schemas.microsoft.com/office/powerpoint/2010/main" val="2336713279"/>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ltLang="ko-KR" dirty="0"/>
                  <a:t>Note:</a:t>
                </a:r>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245</a:t>
            </a:fld>
            <a:endParaRPr lang="ko-KR" altLang="en-US"/>
          </a:p>
        </p:txBody>
      </p:sp>
    </p:spTree>
    <p:extLst>
      <p:ext uri="{BB962C8B-B14F-4D97-AF65-F5344CB8AC3E}">
        <p14:creationId xmlns:p14="http://schemas.microsoft.com/office/powerpoint/2010/main" val="2998576759"/>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246</a:t>
            </a:fld>
            <a:endParaRPr lang="ko-KR" altLang="en-US"/>
          </a:p>
        </p:txBody>
      </p:sp>
    </p:spTree>
    <p:extLst>
      <p:ext uri="{BB962C8B-B14F-4D97-AF65-F5344CB8AC3E}">
        <p14:creationId xmlns:p14="http://schemas.microsoft.com/office/powerpoint/2010/main" val="525425343"/>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247</a:t>
            </a:fld>
            <a:endParaRPr lang="ko-KR" altLang="en-US"/>
          </a:p>
        </p:txBody>
      </p:sp>
    </p:spTree>
    <p:extLst>
      <p:ext uri="{BB962C8B-B14F-4D97-AF65-F5344CB8AC3E}">
        <p14:creationId xmlns:p14="http://schemas.microsoft.com/office/powerpoint/2010/main" val="500113325"/>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248</a:t>
            </a:fld>
            <a:endParaRPr lang="ko-KR" altLang="en-US"/>
          </a:p>
        </p:txBody>
      </p:sp>
    </p:spTree>
    <p:extLst>
      <p:ext uri="{BB962C8B-B14F-4D97-AF65-F5344CB8AC3E}">
        <p14:creationId xmlns:p14="http://schemas.microsoft.com/office/powerpoint/2010/main" val="2808894189"/>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249</a:t>
            </a:fld>
            <a:endParaRPr lang="ko-KR" altLang="en-US"/>
          </a:p>
        </p:txBody>
      </p:sp>
    </p:spTree>
    <p:extLst>
      <p:ext uri="{BB962C8B-B14F-4D97-AF65-F5344CB8AC3E}">
        <p14:creationId xmlns:p14="http://schemas.microsoft.com/office/powerpoint/2010/main" val="3213260109"/>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ko-KR" alt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250</a:t>
            </a:fld>
            <a:endParaRPr lang="ko-KR" altLang="en-US"/>
          </a:p>
        </p:txBody>
      </p:sp>
    </p:spTree>
    <p:extLst>
      <p:ext uri="{BB962C8B-B14F-4D97-AF65-F5344CB8AC3E}">
        <p14:creationId xmlns:p14="http://schemas.microsoft.com/office/powerpoint/2010/main" val="4158493437"/>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latin typeface="Times New Roman" panose="02020603050405020304" pitchFamily="18" charset="0"/>
              </a:rPr>
              <a:t>WHAT THIS PRACTICE ABOUT</a:t>
            </a:r>
            <a:endParaRPr lang="ko-KR" altLang="en-US" dirty="0"/>
          </a:p>
          <a:p>
            <a:pPr latinLnBrk="1"/>
            <a:r>
              <a:rPr lang="en-US" altLang="ko-KR" sz="1200" kern="1200" dirty="0">
                <a:solidFill>
                  <a:schemeClr val="tx1"/>
                </a:solidFill>
                <a:effectLst/>
                <a:latin typeface="+mn-lt"/>
                <a:ea typeface="+mn-ea"/>
                <a:cs typeface="+mn-cs"/>
              </a:rPr>
              <a:t>In this practice, we will apply how to implement classification with Naïve Bayes</a:t>
            </a:r>
          </a:p>
          <a:p>
            <a:pPr latinLnBrk="1"/>
            <a:r>
              <a:rPr lang="en-US" altLang="ko-KR" sz="1200" kern="1200" dirty="0">
                <a:solidFill>
                  <a:schemeClr val="tx1"/>
                </a:solidFill>
                <a:effectLst/>
                <a:latin typeface="+mn-lt"/>
                <a:ea typeface="+mn-ea"/>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Times New Roman" panose="02020603050405020304" pitchFamily="18" charset="0"/>
              </a:rPr>
              <a:t>PRACTICE INSTRUCTION</a:t>
            </a:r>
            <a:endParaRPr lang="ko-KR" altLang="ko-KR" sz="1000"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Start </a:t>
            </a:r>
            <a:r>
              <a:rPr lang="en-US" altLang="ko-KR" sz="1200" kern="100" dirty="0" err="1">
                <a:solidFill>
                  <a:srgbClr val="000000"/>
                </a:solidFill>
                <a:latin typeface="Times New Roman" panose="02020603050405020304" pitchFamily="18" charset="0"/>
                <a:cs typeface="Times New Roman" panose="02020603050405020304" pitchFamily="18" charset="0"/>
              </a:rPr>
              <a:t>Jupyter</a:t>
            </a:r>
            <a:r>
              <a:rPr lang="en-US" altLang="ko-KR" sz="1200" kern="100" dirty="0">
                <a:solidFill>
                  <a:srgbClr val="000000"/>
                </a:solidFill>
                <a:latin typeface="Times New Roman" panose="02020603050405020304" pitchFamily="18" charset="0"/>
                <a:cs typeface="Times New Roman" panose="02020603050405020304" pitchFamily="18" charset="0"/>
              </a:rPr>
              <a:t> Notebook. </a:t>
            </a:r>
          </a:p>
          <a:p>
            <a:pPr marL="342900" marR="0" lvl="0" indent="-342900" algn="l" defTabSz="914400" rtl="0" eaLnBrk="1" fontAlgn="auto" latinLnBrk="1" hangingPunct="1">
              <a:lnSpc>
                <a:spcPct val="100000"/>
              </a:lnSpc>
              <a:spcBef>
                <a:spcPts val="0"/>
              </a:spcBef>
              <a:spcAft>
                <a:spcPts val="800"/>
              </a:spcAft>
              <a:buClrTx/>
              <a:buSzTx/>
              <a:buFont typeface="+mj-lt"/>
              <a:buAutoNum type="arabicPeriod"/>
              <a:tabLst/>
              <a:defRPr/>
            </a:pPr>
            <a:r>
              <a:rPr lang="en-US" altLang="ko-KR" sz="1200" kern="1200" dirty="0">
                <a:solidFill>
                  <a:schemeClr val="tx1"/>
                </a:solidFill>
                <a:effectLst/>
                <a:latin typeface="+mn-lt"/>
                <a:ea typeface="+mn-ea"/>
                <a:cs typeface="+mn-cs"/>
              </a:rPr>
              <a:t>In </a:t>
            </a:r>
            <a:r>
              <a:rPr lang="en-US" altLang="ko-KR" sz="1200" kern="1200" dirty="0" err="1">
                <a:solidFill>
                  <a:schemeClr val="tx1"/>
                </a:solidFill>
                <a:effectLst/>
                <a:latin typeface="+mn-lt"/>
                <a:ea typeface="+mn-ea"/>
                <a:cs typeface="+mn-cs"/>
              </a:rPr>
              <a:t>Jupyter</a:t>
            </a:r>
            <a:r>
              <a:rPr lang="en-US" altLang="ko-KR" sz="1200" kern="1200" dirty="0">
                <a:solidFill>
                  <a:schemeClr val="tx1"/>
                </a:solidFill>
                <a:effectLst/>
                <a:latin typeface="+mn-lt"/>
                <a:ea typeface="+mn-ea"/>
                <a:cs typeface="+mn-cs"/>
              </a:rPr>
              <a:t> Notebook, click the </a:t>
            </a:r>
            <a:r>
              <a:rPr lang="en-US" altLang="ko-KR" sz="1200" b="1" kern="1200" dirty="0">
                <a:solidFill>
                  <a:schemeClr val="tx1"/>
                </a:solidFill>
                <a:effectLst/>
                <a:latin typeface="+mn-lt"/>
                <a:ea typeface="+mn-ea"/>
                <a:cs typeface="+mn-cs"/>
              </a:rPr>
              <a:t>ex_0309.ipynb</a:t>
            </a:r>
            <a:r>
              <a:rPr lang="en-US" altLang="ko-KR" sz="1200" kern="1200" dirty="0">
                <a:solidFill>
                  <a:schemeClr val="tx1"/>
                </a:solidFill>
                <a:effectLst/>
                <a:latin typeface="+mn-lt"/>
                <a:ea typeface="+mn-ea"/>
                <a:cs typeface="+mn-cs"/>
              </a:rPr>
              <a:t> files in the </a:t>
            </a:r>
            <a:r>
              <a:rPr lang="en-US" altLang="ko-KR" sz="1200" b="1" kern="1200" dirty="0">
                <a:solidFill>
                  <a:schemeClr val="tx1"/>
                </a:solidFill>
                <a:effectLst/>
                <a:latin typeface="+mn-lt"/>
                <a:ea typeface="+mn-ea"/>
                <a:cs typeface="+mn-cs"/>
              </a:rPr>
              <a:t>Coding Exercise</a:t>
            </a:r>
            <a:r>
              <a:rPr lang="en-US" altLang="ko-KR" sz="1200" kern="1200" dirty="0">
                <a:solidFill>
                  <a:schemeClr val="tx1"/>
                </a:solidFill>
                <a:effectLst/>
                <a:latin typeface="+mn-lt"/>
                <a:ea typeface="+mn-ea"/>
                <a:cs typeface="+mn-cs"/>
              </a:rPr>
              <a:t> folder.</a:t>
            </a:r>
            <a:endParaRPr lang="en-US" altLang="ko-KR" sz="1200" kern="1200" dirty="0">
              <a:solidFill>
                <a:srgbClr val="FF0000"/>
              </a:solidFill>
              <a:effectLst/>
              <a:latin typeface="+mn-lt"/>
              <a:ea typeface="+mn-ea"/>
              <a:cs typeface="+mn-cs"/>
            </a:endParaRPr>
          </a:p>
          <a:p>
            <a:pPr marL="342900" lvl="0" indent="-342900">
              <a:spcAft>
                <a:spcPts val="800"/>
              </a:spcAft>
              <a:buFont typeface="+mj-lt"/>
              <a:buAutoNum type="arabicPeriod"/>
            </a:pPr>
            <a:r>
              <a:rPr lang="en-US" altLang="ko-KR" sz="1200" kern="1200" dirty="0">
                <a:solidFill>
                  <a:srgbClr val="FF0000"/>
                </a:solidFill>
                <a:effectLst/>
                <a:latin typeface="+mn-lt"/>
                <a:ea typeface="+mn-ea"/>
                <a:cs typeface="+mn-cs"/>
              </a:rPr>
              <a:t>Review the examples on the topics below:</a:t>
            </a:r>
            <a:br>
              <a:rPr lang="en-US" altLang="ko-KR" sz="1000" i="0" kern="1200" dirty="0">
                <a:solidFill>
                  <a:srgbClr val="FF0000"/>
                </a:solidFill>
                <a:effectLst/>
                <a:latin typeface="+mn-lt"/>
                <a:ea typeface="+mn-ea"/>
                <a:cs typeface="+mn-cs"/>
              </a:rPr>
            </a:br>
            <a:br>
              <a:rPr lang="en-US" altLang="ko-KR" sz="1000" i="0" kern="1200" dirty="0">
                <a:solidFill>
                  <a:srgbClr val="FF0000"/>
                </a:solidFill>
                <a:effectLst/>
                <a:latin typeface="+mn-lt"/>
                <a:ea typeface="+mn-ea"/>
                <a:cs typeface="+mn-cs"/>
              </a:rPr>
            </a:br>
            <a:r>
              <a:rPr lang="en-US" altLang="ko-KR" sz="1200" i="1" kern="1200" dirty="0">
                <a:solidFill>
                  <a:schemeClr val="tx1"/>
                </a:solidFill>
                <a:effectLst/>
                <a:latin typeface="+mn-lt"/>
                <a:ea typeface="+mn-ea"/>
                <a:cs typeface="+mn-cs"/>
              </a:rPr>
              <a:t>A. Classification with Naïve Bayes</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Read in data and explore</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Naïve Bayes train and test</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iii. Visualize the posterior probabilities</a:t>
            </a:r>
          </a:p>
          <a:p>
            <a:pPr marL="342900" lvl="0" indent="-342900">
              <a:spcAft>
                <a:spcPts val="800"/>
              </a:spcAft>
              <a:buFont typeface="+mj-lt"/>
              <a:buAutoNum type="arabicPeriod"/>
            </a:pPr>
            <a:endParaRPr lang="en-US" altLang="ko-KR" sz="1200" i="1"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200" dirty="0">
                <a:solidFill>
                  <a:schemeClr val="tx1"/>
                </a:solidFill>
                <a:effectLst/>
                <a:latin typeface="+mn-lt"/>
                <a:ea typeface="+mn-ea"/>
                <a:cs typeface="+mn-cs"/>
              </a:rPr>
              <a:t>(Optional) Use the blank cell at the bottom to practice your own personal needs.</a:t>
            </a:r>
            <a:endParaRPr lang="ko-KR" altLang="ko-KR" sz="10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251</a:t>
            </a:fld>
            <a:endParaRPr lang="ko-KR" altLang="en-US" dirty="0"/>
          </a:p>
        </p:txBody>
      </p:sp>
    </p:spTree>
    <p:extLst>
      <p:ext uri="{BB962C8B-B14F-4D97-AF65-F5344CB8AC3E}">
        <p14:creationId xmlns:p14="http://schemas.microsoft.com/office/powerpoint/2010/main" val="2232352890"/>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252</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500072047"/>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KNN is another simple machine learning algorithm.</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253</a:t>
            </a:fld>
            <a:endParaRPr lang="ko-KR" altLang="en-US"/>
          </a:p>
        </p:txBody>
      </p:sp>
    </p:spTree>
    <p:extLst>
      <p:ext uri="{BB962C8B-B14F-4D97-AF65-F5344CB8AC3E}">
        <p14:creationId xmlns:p14="http://schemas.microsoft.com/office/powerpoint/2010/main" val="1614697219"/>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advantage of a parametric model is that the data pattern is summarized by a relatively small set of parameters.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Although time and effort should be spent in training, the prediction using a pre-trained model is usually fast and efficient.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KNN is a so-called non-parametric model.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There is no parameter to fit; no need to spend time in training.</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As for the prediction, it is rather inefficient.</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254</a:t>
            </a:fld>
            <a:endParaRPr lang="ko-KR" altLang="en-US"/>
          </a:p>
        </p:txBody>
      </p:sp>
    </p:spTree>
    <p:extLst>
      <p:ext uri="{BB962C8B-B14F-4D97-AF65-F5344CB8AC3E}">
        <p14:creationId xmlns:p14="http://schemas.microsoft.com/office/powerpoint/2010/main" val="2435838086"/>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255</a:t>
            </a:fld>
            <a:endParaRPr lang="ko-KR" altLang="en-US"/>
          </a:p>
        </p:txBody>
      </p:sp>
    </p:spTree>
    <p:extLst>
      <p:ext uri="{BB962C8B-B14F-4D97-AF65-F5344CB8AC3E}">
        <p14:creationId xmlns:p14="http://schemas.microsoft.com/office/powerpoint/2010/main" val="2935130987"/>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256</a:t>
            </a:fld>
            <a:endParaRPr lang="ko-KR" altLang="en-US"/>
          </a:p>
        </p:txBody>
      </p:sp>
    </p:spTree>
    <p:extLst>
      <p:ext uri="{BB962C8B-B14F-4D97-AF65-F5344CB8AC3E}">
        <p14:creationId xmlns:p14="http://schemas.microsoft.com/office/powerpoint/2010/main" val="1010203050"/>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257</a:t>
            </a:fld>
            <a:endParaRPr lang="ko-KR" altLang="en-US"/>
          </a:p>
        </p:txBody>
      </p:sp>
    </p:spTree>
    <p:extLst>
      <p:ext uri="{BB962C8B-B14F-4D97-AF65-F5344CB8AC3E}">
        <p14:creationId xmlns:p14="http://schemas.microsoft.com/office/powerpoint/2010/main" val="3812677429"/>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picture illustrates the KNN prediction step when </a:t>
                </a:r>
                <a14:m>
                  <m:oMath xmlns:m="http://schemas.openxmlformats.org/officeDocument/2006/math">
                    <m:r>
                      <a:rPr lang="en-US" altLang="ko-KR" i="1" dirty="0" smtClean="0">
                        <a:latin typeface="Cambria Math" panose="02040503050406030204" pitchFamily="18" charset="0"/>
                      </a:rPr>
                      <m:t>𝑘</m:t>
                    </m:r>
                    <m:r>
                      <a:rPr lang="en-US" altLang="ko-KR" i="1" dirty="0" smtClean="0">
                        <a:latin typeface="Cambria Math" panose="02040503050406030204" pitchFamily="18" charset="0"/>
                      </a:rPr>
                      <m:t>=</m:t>
                    </m:r>
                  </m:oMath>
                </a14:m>
                <a:r>
                  <a:rPr lang="en-US" altLang="ko-KR" dirty="0"/>
                  <a:t>3.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258</a:t>
            </a:fld>
            <a:endParaRPr lang="ko-KR" altLang="en-US"/>
          </a:p>
        </p:txBody>
      </p:sp>
    </p:spTree>
    <p:extLst>
      <p:ext uri="{BB962C8B-B14F-4D97-AF65-F5344CB8AC3E}">
        <p14:creationId xmlns:p14="http://schemas.microsoft.com/office/powerpoint/2010/main" val="2939171978"/>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With an</a:t>
                </a:r>
                <a:r>
                  <a:rPr lang="en-US" altLang="ko-KR" baseline="0" dirty="0"/>
                  <a:t> </a:t>
                </a:r>
                <a:r>
                  <a:rPr lang="en-US" altLang="ko-KR" dirty="0"/>
                  <a:t>overly small </a:t>
                </a:r>
                <a14:m>
                  <m:oMath xmlns:m="http://schemas.openxmlformats.org/officeDocument/2006/math">
                    <m:r>
                      <a:rPr lang="en-US" altLang="ko-KR" i="1" dirty="0" smtClean="0">
                        <a:latin typeface="Cambria Math" panose="02040503050406030204" pitchFamily="18" charset="0"/>
                      </a:rPr>
                      <m:t>𝑘</m:t>
                    </m:r>
                  </m:oMath>
                </a14:m>
                <a:r>
                  <a:rPr lang="en-US" altLang="ko-KR" dirty="0"/>
                  <a:t>, overfitting may happen.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With an overly large </a:t>
                </a:r>
                <a14:m>
                  <m:oMath xmlns:m="http://schemas.openxmlformats.org/officeDocument/2006/math">
                    <m:r>
                      <a:rPr lang="en-US" altLang="ko-KR" i="1" dirty="0" smtClean="0">
                        <a:latin typeface="Cambria Math" panose="02040503050406030204" pitchFamily="18" charset="0"/>
                      </a:rPr>
                      <m:t>𝑘</m:t>
                    </m:r>
                  </m:oMath>
                </a14:m>
                <a:r>
                  <a:rPr lang="en-US" altLang="ko-KR" dirty="0"/>
                  <a:t>, underfitting may happen.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should find the optimal </a:t>
                </a:r>
                <a14:m>
                  <m:oMath xmlns:m="http://schemas.openxmlformats.org/officeDocument/2006/math">
                    <m:r>
                      <a:rPr lang="en-US" altLang="ko-KR" i="1" dirty="0" smtClean="0">
                        <a:latin typeface="Cambria Math" panose="02040503050406030204" pitchFamily="18" charset="0"/>
                      </a:rPr>
                      <m:t>𝑘</m:t>
                    </m:r>
                  </m:oMath>
                </a14:m>
                <a:r>
                  <a:rPr lang="en-US" altLang="ko-KR" dirty="0"/>
                  <a:t> such that the classification</a:t>
                </a:r>
                <a:r>
                  <a:rPr lang="en-US" altLang="ko-KR" baseline="0" dirty="0"/>
                  <a:t> boundary closely approximates the ideal (dashed line in the pictures). </a:t>
                </a: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259</a:t>
            </a:fld>
            <a:endParaRPr lang="ko-KR" altLang="en-US"/>
          </a:p>
        </p:txBody>
      </p:sp>
    </p:spTree>
    <p:extLst>
      <p:ext uri="{BB962C8B-B14F-4D97-AF65-F5344CB8AC3E}">
        <p14:creationId xmlns:p14="http://schemas.microsoft.com/office/powerpoint/2010/main" val="2999440924"/>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latin typeface="Times New Roman" panose="02020603050405020304" pitchFamily="18" charset="0"/>
              </a:rPr>
              <a:t>WHAT THIS PRACTICE ABOUT</a:t>
            </a:r>
            <a:endParaRPr lang="ko-KR" altLang="en-US" dirty="0"/>
          </a:p>
          <a:p>
            <a:pPr latinLnBrk="1"/>
            <a:r>
              <a:rPr lang="en-US" altLang="ko-KR" sz="1200" kern="1200" dirty="0">
                <a:solidFill>
                  <a:schemeClr val="tx1"/>
                </a:solidFill>
                <a:effectLst/>
                <a:latin typeface="+mn-lt"/>
                <a:ea typeface="+mn-ea"/>
                <a:cs typeface="+mn-cs"/>
              </a:rPr>
              <a:t>In this practice, we will apply how to implement classification with KNN</a:t>
            </a:r>
          </a:p>
          <a:p>
            <a:pPr latinLnBrk="1"/>
            <a:r>
              <a:rPr lang="en-US" altLang="ko-KR" sz="1200" kern="1200" dirty="0">
                <a:solidFill>
                  <a:schemeClr val="tx1"/>
                </a:solidFill>
                <a:effectLst/>
                <a:latin typeface="+mn-lt"/>
                <a:ea typeface="+mn-ea"/>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Times New Roman" panose="02020603050405020304" pitchFamily="18" charset="0"/>
              </a:rPr>
              <a:t>PRACTICE INSTRUCTION</a:t>
            </a:r>
            <a:endParaRPr lang="ko-KR" altLang="ko-KR" sz="1000"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Start </a:t>
            </a:r>
            <a:r>
              <a:rPr lang="en-US" altLang="ko-KR" sz="1200" kern="100" dirty="0" err="1">
                <a:solidFill>
                  <a:srgbClr val="000000"/>
                </a:solidFill>
                <a:latin typeface="Times New Roman" panose="02020603050405020304" pitchFamily="18" charset="0"/>
                <a:cs typeface="Times New Roman" panose="02020603050405020304" pitchFamily="18" charset="0"/>
              </a:rPr>
              <a:t>Jupyter</a:t>
            </a:r>
            <a:r>
              <a:rPr lang="en-US" altLang="ko-KR" sz="1200" kern="100" dirty="0">
                <a:solidFill>
                  <a:srgbClr val="000000"/>
                </a:solidFill>
                <a:latin typeface="Times New Roman" panose="02020603050405020304" pitchFamily="18" charset="0"/>
                <a:cs typeface="Times New Roman" panose="02020603050405020304" pitchFamily="18" charset="0"/>
              </a:rPr>
              <a:t> Notebook. </a:t>
            </a:r>
          </a:p>
          <a:p>
            <a:pPr marL="342900" marR="0" lvl="0" indent="-342900" algn="l" defTabSz="914400" rtl="0" eaLnBrk="1" fontAlgn="auto" latinLnBrk="1" hangingPunct="1">
              <a:lnSpc>
                <a:spcPct val="100000"/>
              </a:lnSpc>
              <a:spcBef>
                <a:spcPts val="0"/>
              </a:spcBef>
              <a:spcAft>
                <a:spcPts val="800"/>
              </a:spcAft>
              <a:buClrTx/>
              <a:buSzTx/>
              <a:buFont typeface="+mj-lt"/>
              <a:buAutoNum type="arabicPeriod"/>
              <a:tabLst/>
              <a:defRPr/>
            </a:pPr>
            <a:r>
              <a:rPr lang="en-US" altLang="ko-KR" sz="1200" kern="1200" dirty="0">
                <a:solidFill>
                  <a:schemeClr val="tx1"/>
                </a:solidFill>
                <a:effectLst/>
                <a:latin typeface="+mn-lt"/>
                <a:ea typeface="+mn-ea"/>
                <a:cs typeface="+mn-cs"/>
              </a:rPr>
              <a:t>In </a:t>
            </a:r>
            <a:r>
              <a:rPr lang="en-US" altLang="ko-KR" sz="1200" kern="1200" dirty="0" err="1">
                <a:solidFill>
                  <a:schemeClr val="tx1"/>
                </a:solidFill>
                <a:effectLst/>
                <a:latin typeface="+mn-lt"/>
                <a:ea typeface="+mn-ea"/>
                <a:cs typeface="+mn-cs"/>
              </a:rPr>
              <a:t>Jupyter</a:t>
            </a:r>
            <a:r>
              <a:rPr lang="en-US" altLang="ko-KR" sz="1200" kern="1200" dirty="0">
                <a:solidFill>
                  <a:schemeClr val="tx1"/>
                </a:solidFill>
                <a:effectLst/>
                <a:latin typeface="+mn-lt"/>
                <a:ea typeface="+mn-ea"/>
                <a:cs typeface="+mn-cs"/>
              </a:rPr>
              <a:t> Notebook, click the </a:t>
            </a:r>
            <a:r>
              <a:rPr lang="en-US" altLang="ko-KR" sz="1200" b="1" kern="1200" dirty="0">
                <a:solidFill>
                  <a:schemeClr val="tx1"/>
                </a:solidFill>
                <a:effectLst/>
                <a:latin typeface="+mn-lt"/>
                <a:ea typeface="+mn-ea"/>
                <a:cs typeface="+mn-cs"/>
              </a:rPr>
              <a:t>ex_0310.ipynb</a:t>
            </a:r>
            <a:r>
              <a:rPr lang="en-US" altLang="ko-KR" sz="1200" kern="1200" dirty="0">
                <a:solidFill>
                  <a:schemeClr val="tx1"/>
                </a:solidFill>
                <a:effectLst/>
                <a:latin typeface="+mn-lt"/>
                <a:ea typeface="+mn-ea"/>
                <a:cs typeface="+mn-cs"/>
              </a:rPr>
              <a:t> files in the </a:t>
            </a:r>
            <a:r>
              <a:rPr lang="en-US" altLang="ko-KR" sz="1200" b="1" kern="1200" dirty="0">
                <a:solidFill>
                  <a:schemeClr val="tx1"/>
                </a:solidFill>
                <a:effectLst/>
                <a:latin typeface="+mn-lt"/>
                <a:ea typeface="+mn-ea"/>
                <a:cs typeface="+mn-cs"/>
              </a:rPr>
              <a:t>Coding Exercise</a:t>
            </a:r>
            <a:r>
              <a:rPr lang="en-US" altLang="ko-KR" sz="1200" kern="1200" dirty="0">
                <a:solidFill>
                  <a:schemeClr val="tx1"/>
                </a:solidFill>
                <a:effectLst/>
                <a:latin typeface="+mn-lt"/>
                <a:ea typeface="+mn-ea"/>
                <a:cs typeface="+mn-cs"/>
              </a:rPr>
              <a:t> folder.</a:t>
            </a:r>
            <a:endParaRPr lang="en-US" altLang="ko-KR" sz="1200" kern="1200" dirty="0">
              <a:solidFill>
                <a:srgbClr val="FF0000"/>
              </a:solidFill>
              <a:effectLst/>
              <a:latin typeface="+mn-lt"/>
              <a:ea typeface="+mn-ea"/>
              <a:cs typeface="+mn-cs"/>
            </a:endParaRPr>
          </a:p>
          <a:p>
            <a:pPr marL="342900" lvl="0" indent="-342900">
              <a:spcAft>
                <a:spcPts val="800"/>
              </a:spcAft>
              <a:buFont typeface="+mj-lt"/>
              <a:buAutoNum type="arabicPeriod"/>
            </a:pPr>
            <a:r>
              <a:rPr lang="en-US" altLang="ko-KR" sz="1200" kern="1200" dirty="0">
                <a:solidFill>
                  <a:srgbClr val="FF0000"/>
                </a:solidFill>
                <a:effectLst/>
                <a:latin typeface="+mn-lt"/>
                <a:ea typeface="+mn-ea"/>
                <a:cs typeface="+mn-cs"/>
              </a:rPr>
              <a:t>Review the examples on the topics below:</a:t>
            </a:r>
            <a:br>
              <a:rPr lang="en-US" altLang="ko-KR" sz="1000" i="0" kern="1200" dirty="0">
                <a:solidFill>
                  <a:srgbClr val="FF0000"/>
                </a:solidFill>
                <a:effectLst/>
                <a:latin typeface="+mn-lt"/>
                <a:ea typeface="+mn-ea"/>
                <a:cs typeface="+mn-cs"/>
              </a:rPr>
            </a:br>
            <a:br>
              <a:rPr lang="en-US" altLang="ko-KR" sz="1000" i="0" kern="1200" dirty="0">
                <a:solidFill>
                  <a:srgbClr val="FF0000"/>
                </a:solidFill>
                <a:effectLst/>
                <a:latin typeface="+mn-lt"/>
                <a:ea typeface="+mn-ea"/>
                <a:cs typeface="+mn-cs"/>
              </a:rPr>
            </a:br>
            <a:r>
              <a:rPr lang="en-US" altLang="ko-KR" sz="1200" i="1" kern="1200" dirty="0">
                <a:solidFill>
                  <a:schemeClr val="tx1"/>
                </a:solidFill>
                <a:effectLst/>
                <a:latin typeface="+mn-lt"/>
                <a:ea typeface="+mn-ea"/>
                <a:cs typeface="+mn-cs"/>
              </a:rPr>
              <a:t>A. Classification with KNN</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Read in data</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Missing value processing.</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iii. Exploratory data analysis.</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iv. Feature engineering</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v. KNN train and test</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vi. KNN bias-Variance tradeoff as function of k</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vii. KNN hyperparameter optimization</a:t>
            </a:r>
          </a:p>
          <a:p>
            <a:pPr marL="342900" lvl="0" indent="-342900">
              <a:spcAft>
                <a:spcPts val="800"/>
              </a:spcAft>
              <a:buFont typeface="+mj-lt"/>
              <a:buAutoNum type="arabicPeriod"/>
            </a:pPr>
            <a:endParaRPr lang="en-US" altLang="ko-KR" sz="1200" i="1"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200" dirty="0">
                <a:solidFill>
                  <a:schemeClr val="tx1"/>
                </a:solidFill>
                <a:effectLst/>
                <a:latin typeface="+mn-lt"/>
                <a:ea typeface="+mn-ea"/>
                <a:cs typeface="+mn-cs"/>
              </a:rPr>
              <a:t>(Optional) Use the blank cell at the bottom to practice your own personal needs.</a:t>
            </a:r>
            <a:endParaRPr lang="ko-KR" altLang="ko-KR" sz="10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260</a:t>
            </a:fld>
            <a:endParaRPr lang="ko-KR" altLang="en-US" dirty="0"/>
          </a:p>
        </p:txBody>
      </p:sp>
    </p:spTree>
    <p:extLst>
      <p:ext uri="{BB962C8B-B14F-4D97-AF65-F5344CB8AC3E}">
        <p14:creationId xmlns:p14="http://schemas.microsoft.com/office/powerpoint/2010/main" val="1155959532"/>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261</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737963025"/>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SVM introduced many new concepts.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is a very powerful algorithm that can perform well even when non-linear classification boundary is required.</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262</a:t>
            </a:fld>
            <a:endParaRPr lang="ko-KR" altLang="en-US"/>
          </a:p>
        </p:txBody>
      </p:sp>
    </p:spTree>
    <p:extLst>
      <p:ext uri="{BB962C8B-B14F-4D97-AF65-F5344CB8AC3E}">
        <p14:creationId xmlns:p14="http://schemas.microsoft.com/office/powerpoint/2010/main" val="959395910"/>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SVM is a powerful algorithm. However, it takes more time and effort to train it properly.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263</a:t>
            </a:fld>
            <a:endParaRPr lang="ko-KR" altLang="en-US"/>
          </a:p>
        </p:txBody>
      </p:sp>
    </p:spTree>
    <p:extLst>
      <p:ext uri="{BB962C8B-B14F-4D97-AF65-F5344CB8AC3E}">
        <p14:creationId xmlns:p14="http://schemas.microsoft.com/office/powerpoint/2010/main" val="316357596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264</a:t>
            </a:fld>
            <a:endParaRPr lang="ko-KR" altLang="en-US"/>
          </a:p>
        </p:txBody>
      </p:sp>
    </p:spTree>
    <p:extLst>
      <p:ext uri="{BB962C8B-B14F-4D97-AF65-F5344CB8AC3E}">
        <p14:creationId xmlns:p14="http://schemas.microsoft.com/office/powerpoint/2010/main" val="762162768"/>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265</a:t>
            </a:fld>
            <a:endParaRPr lang="ko-KR" altLang="en-US"/>
          </a:p>
        </p:txBody>
      </p:sp>
    </p:spTree>
    <p:extLst>
      <p:ext uri="{BB962C8B-B14F-4D97-AF65-F5344CB8AC3E}">
        <p14:creationId xmlns:p14="http://schemas.microsoft.com/office/powerpoint/2010/main" val="745093187"/>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266</a:t>
            </a:fld>
            <a:endParaRPr lang="ko-KR" altLang="en-US"/>
          </a:p>
        </p:txBody>
      </p:sp>
    </p:spTree>
    <p:extLst>
      <p:ext uri="{BB962C8B-B14F-4D97-AF65-F5344CB8AC3E}">
        <p14:creationId xmlns:p14="http://schemas.microsoft.com/office/powerpoint/2010/main" val="1501072135"/>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Imagine a classification boundary as in the picture.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This is perfectly valid given the data as shown here.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267</a:t>
            </a:fld>
            <a:endParaRPr lang="ko-KR" altLang="en-US"/>
          </a:p>
        </p:txBody>
      </p:sp>
    </p:spTree>
    <p:extLst>
      <p:ext uri="{BB962C8B-B14F-4D97-AF65-F5344CB8AC3E}">
        <p14:creationId xmlns:p14="http://schemas.microsoft.com/office/powerpoint/2010/main" val="995069613"/>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Imagine another classification boundary.</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Compared to the one in the previous slide, there seems to be ambiguity about which one is a “better” classification boundary.</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268</a:t>
            </a:fld>
            <a:endParaRPr lang="ko-KR" altLang="en-US"/>
          </a:p>
        </p:txBody>
      </p:sp>
    </p:spTree>
    <p:extLst>
      <p:ext uri="{BB962C8B-B14F-4D97-AF65-F5344CB8AC3E}">
        <p14:creationId xmlns:p14="http://schemas.microsoft.com/office/powerpoint/2010/main" val="805249796"/>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SVM picks as classification boundary the one that maximizes the “margin.”</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269</a:t>
            </a:fld>
            <a:endParaRPr lang="ko-KR" altLang="en-US"/>
          </a:p>
        </p:txBody>
      </p:sp>
    </p:spTree>
    <p:extLst>
      <p:ext uri="{BB962C8B-B14F-4D97-AF65-F5344CB8AC3E}">
        <p14:creationId xmlns:p14="http://schemas.microsoft.com/office/powerpoint/2010/main" val="298446081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Here, we express mathematically the “hyperplane” that bisects the configurational space.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270</a:t>
            </a:fld>
            <a:endParaRPr lang="ko-KR" altLang="en-US"/>
          </a:p>
        </p:txBody>
      </p:sp>
    </p:spTree>
    <p:extLst>
      <p:ext uri="{BB962C8B-B14F-4D97-AF65-F5344CB8AC3E}">
        <p14:creationId xmlns:p14="http://schemas.microsoft.com/office/powerpoint/2010/main" val="3744094722"/>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SVM consists in optimizing the hyperplane’s parameters such that the margin is maximized.</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By tuning the hyperparameter </a:t>
                </a:r>
                <a14:m>
                  <m:oMath xmlns:m="http://schemas.openxmlformats.org/officeDocument/2006/math">
                    <m:r>
                      <a:rPr lang="en-US" altLang="ko-KR" sz="1200" i="1" dirty="0" smtClean="0">
                        <a:latin typeface="Cambria Math" panose="02040503050406030204" pitchFamily="18" charset="0"/>
                        <a:cs typeface="Times New Roman" panose="02020603050405020304" pitchFamily="18" charset="0"/>
                        <a:sym typeface="Symbol" panose="05050102010706020507" pitchFamily="18" charset="2"/>
                      </a:rPr>
                      <m:t>𝐶</m:t>
                    </m:r>
                  </m:oMath>
                </a14:m>
                <a:r>
                  <a:rPr lang="en-US" altLang="ko-KR" dirty="0"/>
                  <a:t>, we can control the “flexibility.”</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Although the</a:t>
                </a:r>
                <a:r>
                  <a:rPr lang="en-US" altLang="ko-KR" baseline="0" dirty="0"/>
                  <a:t> explanation</a:t>
                </a:r>
                <a:r>
                  <a:rPr lang="en-US" altLang="ko-KR" dirty="0"/>
                  <a:t> is limited to the binary response (</a:t>
                </a:r>
                <a14:m>
                  <m:oMath xmlns:m="http://schemas.openxmlformats.org/officeDocument/2006/math">
                    <m:r>
                      <a:rPr lang="en-US" altLang="ko-KR" i="1" dirty="0" smtClean="0">
                        <a:latin typeface="Cambria Math" panose="02040503050406030204" pitchFamily="18" charset="0"/>
                      </a:rPr>
                      <m:t>𝑦</m:t>
                    </m:r>
                  </m:oMath>
                </a14:m>
                <a:r>
                  <a:rPr lang="en-US" altLang="ko-KR" dirty="0"/>
                  <a:t>),</a:t>
                </a:r>
                <a:r>
                  <a:rPr lang="en-US" altLang="ko-KR" baseline="0" dirty="0"/>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baseline="0" dirty="0"/>
                  <a:t>SVM can be generalized to the multi-class prediction using the “one vs all” scheme. </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271</a:t>
            </a:fld>
            <a:endParaRPr lang="ko-KR" altLang="en-US"/>
          </a:p>
        </p:txBody>
      </p:sp>
    </p:spTree>
    <p:extLst>
      <p:ext uri="{BB962C8B-B14F-4D97-AF65-F5344CB8AC3E}">
        <p14:creationId xmlns:p14="http://schemas.microsoft.com/office/powerpoint/2010/main" val="3103484519"/>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 kernel function effectively transforms the configurational space into another of higher dimension.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benefit of doing so is illustrated in this example: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=&gt; In 1D, it is obviously impossible to find a linear boundary for the correct classification.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=&gt; In 2D, it is now possible to find a linear boundary for the correct classification.</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272</a:t>
            </a:fld>
            <a:endParaRPr lang="ko-KR" altLang="en-US"/>
          </a:p>
        </p:txBody>
      </p:sp>
    </p:spTree>
    <p:extLst>
      <p:ext uri="{BB962C8B-B14F-4D97-AF65-F5344CB8AC3E}">
        <p14:creationId xmlns:p14="http://schemas.microsoft.com/office/powerpoint/2010/main" val="2004064302"/>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Another example that shows the benefit of doing the kernel transformation: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=&gt; In 2D, it is impossible to find a linear boundary for the correct classification.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=&gt; In 3D, it is possible to find a linear boundary for the correct classification.</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273</a:t>
            </a:fld>
            <a:endParaRPr lang="ko-KR" altLang="en-US"/>
          </a:p>
        </p:txBody>
      </p:sp>
    </p:spTree>
    <p:extLst>
      <p:ext uri="{BB962C8B-B14F-4D97-AF65-F5344CB8AC3E}">
        <p14:creationId xmlns:p14="http://schemas.microsoft.com/office/powerpoint/2010/main" val="1352974201"/>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kernel function gives the inner product in higher dimensions.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There are several different types of kernel functions.</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let’s study machine learning algorithms that are applicable when the response variable </a:t>
                </a:r>
                <a:r>
                  <a:rPr lang="en-US" altLang="ko-KR" i="0" dirty="0">
                    <a:latin typeface="Cambria Math" panose="02040503050406030204" pitchFamily="18" charset="0"/>
                  </a:rPr>
                  <a:t>𝑌</a:t>
                </a:r>
                <a:r>
                  <a:rPr lang="en-US" altLang="ko-KR" dirty="0"/>
                  <a:t> is</a:t>
                </a:r>
                <a:r>
                  <a:rPr lang="en-US" altLang="ko-KR" baseline="0" dirty="0"/>
                  <a:t> </a:t>
                </a:r>
                <a:r>
                  <a:rPr lang="en-US" altLang="ko-KR" dirty="0"/>
                  <a:t>categorical.</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first of such algorithms is the so-called “logistic regression”.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274</a:t>
            </a:fld>
            <a:endParaRPr lang="ko-KR" altLang="en-US"/>
          </a:p>
        </p:txBody>
      </p:sp>
    </p:spTree>
    <p:extLst>
      <p:ext uri="{BB962C8B-B14F-4D97-AF65-F5344CB8AC3E}">
        <p14:creationId xmlns:p14="http://schemas.microsoft.com/office/powerpoint/2010/main" val="1785560857"/>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latin typeface="Times New Roman" panose="02020603050405020304" pitchFamily="18" charset="0"/>
              </a:rPr>
              <a:t>WHAT THIS PRACTICE ABOUT</a:t>
            </a:r>
            <a:endParaRPr lang="ko-KR" altLang="en-US" dirty="0"/>
          </a:p>
          <a:p>
            <a:pPr latinLnBrk="1"/>
            <a:r>
              <a:rPr lang="en-US" altLang="ko-KR" sz="1200" kern="1200" dirty="0">
                <a:solidFill>
                  <a:schemeClr val="tx1"/>
                </a:solidFill>
                <a:effectLst/>
                <a:latin typeface="+mn-lt"/>
                <a:ea typeface="+mn-ea"/>
                <a:cs typeface="+mn-cs"/>
              </a:rPr>
              <a:t>In this practice, we will apply how to implement classification with SVM</a:t>
            </a:r>
          </a:p>
          <a:p>
            <a:pPr latinLnBrk="1"/>
            <a:r>
              <a:rPr lang="en-US" altLang="ko-KR" sz="1200" kern="1200" dirty="0">
                <a:solidFill>
                  <a:schemeClr val="tx1"/>
                </a:solidFill>
                <a:effectLst/>
                <a:latin typeface="+mn-lt"/>
                <a:ea typeface="+mn-ea"/>
                <a:cs typeface="+mn-cs"/>
              </a:rPr>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Times New Roman" panose="02020603050405020304" pitchFamily="18" charset="0"/>
              </a:rPr>
              <a:t>PRACTICE INSTRUCTION</a:t>
            </a:r>
            <a:endParaRPr lang="ko-KR" altLang="ko-KR" sz="1000"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Start </a:t>
            </a:r>
            <a:r>
              <a:rPr lang="en-US" altLang="ko-KR" sz="1200" kern="100" dirty="0" err="1">
                <a:solidFill>
                  <a:srgbClr val="000000"/>
                </a:solidFill>
                <a:latin typeface="Times New Roman" panose="02020603050405020304" pitchFamily="18" charset="0"/>
                <a:cs typeface="Times New Roman" panose="02020603050405020304" pitchFamily="18" charset="0"/>
              </a:rPr>
              <a:t>Jupyter</a:t>
            </a:r>
            <a:r>
              <a:rPr lang="en-US" altLang="ko-KR" sz="1200" kern="100" dirty="0">
                <a:solidFill>
                  <a:srgbClr val="000000"/>
                </a:solidFill>
                <a:latin typeface="Times New Roman" panose="02020603050405020304" pitchFamily="18" charset="0"/>
                <a:cs typeface="Times New Roman" panose="02020603050405020304" pitchFamily="18" charset="0"/>
              </a:rPr>
              <a:t> Notebook. </a:t>
            </a:r>
          </a:p>
          <a:p>
            <a:pPr marL="342900" marR="0" lvl="0" indent="-342900" algn="l" defTabSz="914400" rtl="0" eaLnBrk="1" fontAlgn="auto" latinLnBrk="1" hangingPunct="1">
              <a:lnSpc>
                <a:spcPct val="100000"/>
              </a:lnSpc>
              <a:spcBef>
                <a:spcPts val="0"/>
              </a:spcBef>
              <a:spcAft>
                <a:spcPts val="800"/>
              </a:spcAft>
              <a:buClrTx/>
              <a:buSzTx/>
              <a:buFont typeface="+mj-lt"/>
              <a:buAutoNum type="arabicPeriod"/>
              <a:tabLst/>
              <a:defRPr/>
            </a:pPr>
            <a:r>
              <a:rPr lang="en-US" altLang="ko-KR" sz="1200" kern="1200" dirty="0">
                <a:solidFill>
                  <a:schemeClr val="tx1"/>
                </a:solidFill>
                <a:effectLst/>
                <a:latin typeface="+mn-lt"/>
                <a:ea typeface="+mn-ea"/>
                <a:cs typeface="+mn-cs"/>
              </a:rPr>
              <a:t>In </a:t>
            </a:r>
            <a:r>
              <a:rPr lang="en-US" altLang="ko-KR" sz="1200" kern="1200" dirty="0" err="1">
                <a:solidFill>
                  <a:schemeClr val="tx1"/>
                </a:solidFill>
                <a:effectLst/>
                <a:latin typeface="+mn-lt"/>
                <a:ea typeface="+mn-ea"/>
                <a:cs typeface="+mn-cs"/>
              </a:rPr>
              <a:t>Jupyter</a:t>
            </a:r>
            <a:r>
              <a:rPr lang="en-US" altLang="ko-KR" sz="1200" kern="1200" dirty="0">
                <a:solidFill>
                  <a:schemeClr val="tx1"/>
                </a:solidFill>
                <a:effectLst/>
                <a:latin typeface="+mn-lt"/>
                <a:ea typeface="+mn-ea"/>
                <a:cs typeface="+mn-cs"/>
              </a:rPr>
              <a:t> Notebook, click the </a:t>
            </a:r>
            <a:r>
              <a:rPr lang="en-US" altLang="ko-KR" sz="1200" b="1" kern="1200" dirty="0">
                <a:solidFill>
                  <a:schemeClr val="tx1"/>
                </a:solidFill>
                <a:effectLst/>
                <a:latin typeface="+mn-lt"/>
                <a:ea typeface="+mn-ea"/>
                <a:cs typeface="+mn-cs"/>
              </a:rPr>
              <a:t>ex_0311.ipynb</a:t>
            </a:r>
            <a:r>
              <a:rPr lang="en-US" altLang="ko-KR" sz="1200" kern="1200" dirty="0">
                <a:solidFill>
                  <a:schemeClr val="tx1"/>
                </a:solidFill>
                <a:effectLst/>
                <a:latin typeface="+mn-lt"/>
                <a:ea typeface="+mn-ea"/>
                <a:cs typeface="+mn-cs"/>
              </a:rPr>
              <a:t> files in the </a:t>
            </a:r>
            <a:r>
              <a:rPr lang="en-US" altLang="ko-KR" sz="1200" b="1" kern="1200" dirty="0">
                <a:solidFill>
                  <a:schemeClr val="tx1"/>
                </a:solidFill>
                <a:effectLst/>
                <a:latin typeface="+mn-lt"/>
                <a:ea typeface="+mn-ea"/>
                <a:cs typeface="+mn-cs"/>
              </a:rPr>
              <a:t>Coding Exercise</a:t>
            </a:r>
            <a:r>
              <a:rPr lang="en-US" altLang="ko-KR" sz="1200" kern="1200" dirty="0">
                <a:solidFill>
                  <a:schemeClr val="tx1"/>
                </a:solidFill>
                <a:effectLst/>
                <a:latin typeface="+mn-lt"/>
                <a:ea typeface="+mn-ea"/>
                <a:cs typeface="+mn-cs"/>
              </a:rPr>
              <a:t> folder.</a:t>
            </a:r>
            <a:endParaRPr lang="en-US" altLang="ko-KR" sz="1200" kern="1200" dirty="0">
              <a:solidFill>
                <a:srgbClr val="FF0000"/>
              </a:solidFill>
              <a:effectLst/>
              <a:latin typeface="+mn-lt"/>
              <a:ea typeface="+mn-ea"/>
              <a:cs typeface="+mn-cs"/>
            </a:endParaRPr>
          </a:p>
          <a:p>
            <a:pPr marL="342900" lvl="0" indent="-342900">
              <a:spcAft>
                <a:spcPts val="800"/>
              </a:spcAft>
              <a:buFont typeface="+mj-lt"/>
              <a:buAutoNum type="arabicPeriod"/>
            </a:pPr>
            <a:r>
              <a:rPr lang="en-US" altLang="ko-KR" sz="1200" kern="1200" dirty="0">
                <a:solidFill>
                  <a:srgbClr val="FF0000"/>
                </a:solidFill>
                <a:effectLst/>
                <a:latin typeface="+mn-lt"/>
                <a:ea typeface="+mn-ea"/>
                <a:cs typeface="+mn-cs"/>
              </a:rPr>
              <a:t>Review the examples on the topics below:</a:t>
            </a:r>
            <a:br>
              <a:rPr lang="en-US" altLang="ko-KR" sz="1000" i="0" kern="1200" dirty="0">
                <a:solidFill>
                  <a:srgbClr val="FF0000"/>
                </a:solidFill>
                <a:effectLst/>
                <a:latin typeface="+mn-lt"/>
                <a:ea typeface="+mn-ea"/>
                <a:cs typeface="+mn-cs"/>
              </a:rPr>
            </a:br>
            <a:br>
              <a:rPr lang="en-US" altLang="ko-KR" sz="1000" i="0" kern="1200" dirty="0">
                <a:solidFill>
                  <a:srgbClr val="FF0000"/>
                </a:solidFill>
                <a:effectLst/>
                <a:latin typeface="+mn-lt"/>
                <a:ea typeface="+mn-ea"/>
                <a:cs typeface="+mn-cs"/>
              </a:rPr>
            </a:br>
            <a:r>
              <a:rPr lang="en-US" altLang="ko-KR" sz="1200" i="1" kern="1200" dirty="0">
                <a:solidFill>
                  <a:schemeClr val="tx1"/>
                </a:solidFill>
                <a:effectLst/>
                <a:latin typeface="+mn-lt"/>
                <a:ea typeface="+mn-ea"/>
                <a:cs typeface="+mn-cs"/>
              </a:rPr>
              <a:t>A. Classification with SVM</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Read in data</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SVM hyperparameter optimization (RBF kernel)</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iii. SVM hyperparameter optimization (Polynomial kernel)</a:t>
            </a:r>
          </a:p>
          <a:p>
            <a:pPr marL="342900" lvl="0" indent="-342900">
              <a:spcAft>
                <a:spcPts val="800"/>
              </a:spcAft>
              <a:buFont typeface="+mj-lt"/>
              <a:buAutoNum type="arabicPeriod"/>
            </a:pPr>
            <a:endParaRPr lang="en-US" altLang="ko-KR" sz="1200" i="1"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200" dirty="0">
                <a:solidFill>
                  <a:schemeClr val="tx1"/>
                </a:solidFill>
                <a:effectLst/>
                <a:latin typeface="+mn-lt"/>
                <a:ea typeface="+mn-ea"/>
                <a:cs typeface="+mn-cs"/>
              </a:rPr>
              <a:t>(Optional) Use the blank cell at the bottom to practice your own personal needs.</a:t>
            </a:r>
            <a:endParaRPr lang="ko-KR" altLang="ko-KR" sz="10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275</a:t>
            </a:fld>
            <a:endParaRPr lang="ko-KR" altLang="en-US" dirty="0"/>
          </a:p>
        </p:txBody>
      </p:sp>
    </p:spTree>
    <p:extLst>
      <p:ext uri="{BB962C8B-B14F-4D97-AF65-F5344CB8AC3E}">
        <p14:creationId xmlns:p14="http://schemas.microsoft.com/office/powerpoint/2010/main" val="2563067601"/>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276</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125015457"/>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So far, we have covered several machine learning algorithms.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we consider the so-called ensemble algorithms that are based on relatively weak learners.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main types are as explained here.</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277</a:t>
            </a:fld>
            <a:endParaRPr lang="ko-KR" altLang="en-US"/>
          </a:p>
        </p:txBody>
      </p:sp>
    </p:spTree>
    <p:extLst>
      <p:ext uri="{BB962C8B-B14F-4D97-AF65-F5344CB8AC3E}">
        <p14:creationId xmlns:p14="http://schemas.microsoft.com/office/powerpoint/2010/main" val="1985610230"/>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It is quite easy to implement a voting ensemble with the </a:t>
            </a:r>
            <a:r>
              <a:rPr lang="en-US" altLang="ko-KR" dirty="0" err="1"/>
              <a:t>scikit</a:t>
            </a:r>
            <a:r>
              <a:rPr lang="en-US" altLang="ko-KR" dirty="0"/>
              <a:t>-learn library.</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278</a:t>
            </a:fld>
            <a:endParaRPr lang="ko-KR" altLang="en-US"/>
          </a:p>
        </p:txBody>
      </p:sp>
    </p:spTree>
    <p:extLst>
      <p:ext uri="{BB962C8B-B14F-4D97-AF65-F5344CB8AC3E}">
        <p14:creationId xmlns:p14="http://schemas.microsoft.com/office/powerpoint/2010/main" val="761194653"/>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279</a:t>
            </a:fld>
            <a:endParaRPr lang="ko-KR" altLang="en-US"/>
          </a:p>
        </p:txBody>
      </p:sp>
    </p:spTree>
    <p:extLst>
      <p:ext uri="{BB962C8B-B14F-4D97-AF65-F5344CB8AC3E}">
        <p14:creationId xmlns:p14="http://schemas.microsoft.com/office/powerpoint/2010/main" val="602013974"/>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280</a:t>
            </a:fld>
            <a:endParaRPr lang="ko-KR" altLang="en-US"/>
          </a:p>
        </p:txBody>
      </p:sp>
    </p:spTree>
    <p:extLst>
      <p:ext uri="{BB962C8B-B14F-4D97-AF65-F5344CB8AC3E}">
        <p14:creationId xmlns:p14="http://schemas.microsoft.com/office/powerpoint/2010/main" val="1000069742"/>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can make a voting ensemble where the basics learners should be of different kinds for a good performance.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“argmax” means the position at the largest value.</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281</a:t>
            </a:fld>
            <a:endParaRPr lang="ko-KR" altLang="en-US"/>
          </a:p>
        </p:txBody>
      </p:sp>
    </p:spTree>
    <p:extLst>
      <p:ext uri="{BB962C8B-B14F-4D97-AF65-F5344CB8AC3E}">
        <p14:creationId xmlns:p14="http://schemas.microsoft.com/office/powerpoint/2010/main" val="3612565258"/>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It is quite easy to implement a voting ensemble with the </a:t>
            </a:r>
            <a:r>
              <a:rPr lang="en-US" altLang="ko-KR" dirty="0" err="1"/>
              <a:t>scikit</a:t>
            </a:r>
            <a:r>
              <a:rPr lang="en-US" altLang="ko-KR" dirty="0"/>
              <a:t>-learn library.</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282</a:t>
            </a:fld>
            <a:endParaRPr lang="ko-KR" altLang="en-US"/>
          </a:p>
        </p:txBody>
      </p:sp>
    </p:spTree>
    <p:extLst>
      <p:ext uri="{BB962C8B-B14F-4D97-AF65-F5344CB8AC3E}">
        <p14:creationId xmlns:p14="http://schemas.microsoft.com/office/powerpoint/2010/main" val="2094307459"/>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283</a:t>
            </a:fld>
            <a:endParaRPr lang="ko-KR" altLang="en-US"/>
          </a:p>
        </p:txBody>
      </p:sp>
    </p:spTree>
    <p:extLst>
      <p:ext uri="{BB962C8B-B14F-4D97-AF65-F5344CB8AC3E}">
        <p14:creationId xmlns:p14="http://schemas.microsoft.com/office/powerpoint/2010/main" val="2348685448"/>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284</a:t>
            </a:fld>
            <a:endParaRPr lang="ko-KR" altLang="en-US"/>
          </a:p>
        </p:txBody>
      </p:sp>
    </p:spTree>
    <p:extLst>
      <p:ext uri="{BB962C8B-B14F-4D97-AF65-F5344CB8AC3E}">
        <p14:creationId xmlns:p14="http://schemas.microsoft.com/office/powerpoint/2010/main" val="3389177076"/>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285</a:t>
            </a:fld>
            <a:endParaRPr lang="ko-KR" altLang="en-US"/>
          </a:p>
        </p:txBody>
      </p:sp>
    </p:spTree>
    <p:extLst>
      <p:ext uri="{BB962C8B-B14F-4D97-AF65-F5344CB8AC3E}">
        <p14:creationId xmlns:p14="http://schemas.microsoft.com/office/powerpoint/2010/main" val="565940998"/>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More information can be found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+Classifier: </a:t>
            </a:r>
            <a:r>
              <a:rPr lang="en-US" altLang="ko-KR" dirty="0">
                <a:hlinkClick r:id="rId3"/>
              </a:rPr>
              <a:t>https://scikit-learn.org/stable/modules/generated/sklearn.ensemble.VotingClassifier.html</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+Regressor: </a:t>
            </a:r>
            <a:r>
              <a:rPr lang="en-US" altLang="ko-KR" dirty="0">
                <a:hlinkClick r:id="rId4"/>
              </a:rPr>
              <a:t>https://scikit-learn.org/stable/modules/generated/sklearn.ensemble.VotingRegressor.html</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286</a:t>
            </a:fld>
            <a:endParaRPr lang="ko-KR" altLang="en-US"/>
          </a:p>
        </p:txBody>
      </p:sp>
    </p:spTree>
    <p:extLst>
      <p:ext uri="{BB962C8B-B14F-4D97-AF65-F5344CB8AC3E}">
        <p14:creationId xmlns:p14="http://schemas.microsoft.com/office/powerpoint/2010/main" val="4274401750"/>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287</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333949157"/>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Random Forest is an </a:t>
            </a:r>
            <a:r>
              <a:rPr lang="en-US" altLang="ko-KR" sz="1200" dirty="0">
                <a:latin typeface="Times New Roman" panose="02020603050405020304" pitchFamily="18" charset="0"/>
                <a:cs typeface="Times New Roman" panose="02020603050405020304" pitchFamily="18" charset="0"/>
              </a:rPr>
              <a:t>ensemble algorithm based on the Trees learners (“weak learners”).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The pros and cons are listed here.</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288</a:t>
            </a:fld>
            <a:endParaRPr lang="ko-KR" altLang="en-US"/>
          </a:p>
        </p:txBody>
      </p:sp>
    </p:spTree>
    <p:extLst>
      <p:ext uri="{BB962C8B-B14F-4D97-AF65-F5344CB8AC3E}">
        <p14:creationId xmlns:p14="http://schemas.microsoft.com/office/powerpoint/2010/main" val="1355914232"/>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As previously mentioned, Random Forest is an </a:t>
            </a:r>
            <a:r>
              <a:rPr lang="en-US" altLang="ko-KR" sz="1200" dirty="0">
                <a:latin typeface="Times New Roman" panose="02020603050405020304" pitchFamily="18" charset="0"/>
                <a:cs typeface="Times New Roman" panose="02020603050405020304" pitchFamily="18" charset="0"/>
              </a:rPr>
              <a:t>ensemble algorithm based on the Trees learners.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Times New Roman" panose="02020603050405020304" pitchFamily="18" charset="0"/>
                <a:cs typeface="Times New Roman" panose="02020603050405020304" pitchFamily="18" charset="0"/>
              </a:rPr>
              <a:t>Predicted values are given by the majority vote.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289</a:t>
            </a:fld>
            <a:endParaRPr lang="ko-KR" altLang="en-US"/>
          </a:p>
        </p:txBody>
      </p:sp>
    </p:spTree>
    <p:extLst>
      <p:ext uri="{BB962C8B-B14F-4D97-AF65-F5344CB8AC3E}">
        <p14:creationId xmlns:p14="http://schemas.microsoft.com/office/powerpoint/2010/main" val="1163691232"/>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Each Tree that makes up a Random Forest ensemble is trained using a set of randomly selected observations and variables.</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290</a:t>
            </a:fld>
            <a:endParaRPr lang="ko-KR" altLang="en-US"/>
          </a:p>
        </p:txBody>
      </p:sp>
    </p:spTree>
    <p:extLst>
      <p:ext uri="{BB962C8B-B14F-4D97-AF65-F5344CB8AC3E}">
        <p14:creationId xmlns:p14="http://schemas.microsoft.com/office/powerpoint/2010/main" val="361403730"/>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More information can be found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+Classifier: </a:t>
            </a:r>
            <a:r>
              <a:rPr lang="en-US" altLang="ko-KR" dirty="0">
                <a:hlinkClick r:id="rId3"/>
              </a:rPr>
              <a:t>https://scikit-learn.org/stable/modules/generated/sklearn.ensemble.RandomForestClassifier.html</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+Regressor: </a:t>
            </a:r>
            <a:r>
              <a:rPr lang="en-US" altLang="ko-KR" dirty="0">
                <a:hlinkClick r:id="rId4"/>
              </a:rPr>
              <a:t>https://scikit-learn.org/stable/modules/generated/sklearn.ensemble.RandomForestRegressor.html</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291</a:t>
            </a:fld>
            <a:endParaRPr lang="ko-KR" altLang="en-US"/>
          </a:p>
        </p:txBody>
      </p:sp>
    </p:spTree>
    <p:extLst>
      <p:ext uri="{BB962C8B-B14F-4D97-AF65-F5344CB8AC3E}">
        <p14:creationId xmlns:p14="http://schemas.microsoft.com/office/powerpoint/2010/main" val="1391695000"/>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292</a:t>
            </a:fld>
            <a:endParaRPr lang="ko-KR" altLang="en-US"/>
          </a:p>
        </p:txBody>
      </p:sp>
    </p:spTree>
    <p:extLst>
      <p:ext uri="{BB962C8B-B14F-4D97-AF65-F5344CB8AC3E}">
        <p14:creationId xmlns:p14="http://schemas.microsoft.com/office/powerpoint/2010/main" val="1697029709"/>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293</a:t>
            </a:fld>
            <a:endParaRPr lang="ko-KR" altLang="en-US"/>
          </a:p>
        </p:txBody>
      </p:sp>
    </p:spTree>
    <p:extLst>
      <p:ext uri="{BB962C8B-B14F-4D97-AF65-F5344CB8AC3E}">
        <p14:creationId xmlns:p14="http://schemas.microsoft.com/office/powerpoint/2010/main" val="2635409901"/>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294</a:t>
            </a:fld>
            <a:endParaRPr lang="ko-KR" altLang="en-US"/>
          </a:p>
        </p:txBody>
      </p:sp>
    </p:spTree>
    <p:extLst>
      <p:ext uri="{BB962C8B-B14F-4D97-AF65-F5344CB8AC3E}">
        <p14:creationId xmlns:p14="http://schemas.microsoft.com/office/powerpoint/2010/main" val="3733499867"/>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295</a:t>
            </a:fld>
            <a:endParaRPr lang="ko-KR" altLang="en-US"/>
          </a:p>
        </p:txBody>
      </p:sp>
    </p:spTree>
    <p:extLst>
      <p:ext uri="{BB962C8B-B14F-4D97-AF65-F5344CB8AC3E}">
        <p14:creationId xmlns:p14="http://schemas.microsoft.com/office/powerpoint/2010/main" val="2891831799"/>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296</a:t>
            </a:fld>
            <a:endParaRPr lang="ko-KR" altLang="en-US"/>
          </a:p>
        </p:txBody>
      </p:sp>
    </p:spTree>
    <p:extLst>
      <p:ext uri="{BB962C8B-B14F-4D97-AF65-F5344CB8AC3E}">
        <p14:creationId xmlns:p14="http://schemas.microsoft.com/office/powerpoint/2010/main" val="4000606912"/>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297</a:t>
            </a:fld>
            <a:endParaRPr lang="ko-KR" altLang="en-US"/>
          </a:p>
        </p:txBody>
      </p:sp>
    </p:spTree>
    <p:extLst>
      <p:ext uri="{BB962C8B-B14F-4D97-AF65-F5344CB8AC3E}">
        <p14:creationId xmlns:p14="http://schemas.microsoft.com/office/powerpoint/2010/main" val="755257336"/>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298</a:t>
            </a:fld>
            <a:endParaRPr lang="ko-KR" altLang="en-US"/>
          </a:p>
        </p:txBody>
      </p:sp>
    </p:spTree>
    <p:extLst>
      <p:ext uri="{BB962C8B-B14F-4D97-AF65-F5344CB8AC3E}">
        <p14:creationId xmlns:p14="http://schemas.microsoft.com/office/powerpoint/2010/main" val="4135951696"/>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299</a:t>
            </a:fld>
            <a:endParaRPr lang="ko-KR" altLang="en-US"/>
          </a:p>
        </p:txBody>
      </p:sp>
    </p:spTree>
    <p:extLst>
      <p:ext uri="{BB962C8B-B14F-4D97-AF65-F5344CB8AC3E}">
        <p14:creationId xmlns:p14="http://schemas.microsoft.com/office/powerpoint/2010/main" val="322592152"/>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92225"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endParaRPr lang="ko-KR" altLang="en-US" b="0" dirty="0">
              <a:latin typeface="SamsungOne-400" panose="020B0503030303020204"/>
            </a:endParaRPr>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9BF5A829-16B0-48B1-95E4-1346D5D6247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300</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809576267"/>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err="1"/>
              <a:t>AdaBoost</a:t>
            </a:r>
            <a:r>
              <a:rPr lang="en-US" altLang="ko-KR" dirty="0"/>
              <a:t> is an ensemble of weak learners (usually trees).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Unlike Random Forest where the basic learners are trained at once in parallel, AdaBoost has a sequence of basic learners that are trained one after another.</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301</a:t>
            </a:fld>
            <a:endParaRPr lang="ko-KR" altLang="en-US"/>
          </a:p>
        </p:txBody>
      </p:sp>
    </p:spTree>
    <p:extLst>
      <p:ext uri="{BB962C8B-B14F-4D97-AF65-F5344CB8AC3E}">
        <p14:creationId xmlns:p14="http://schemas.microsoft.com/office/powerpoint/2010/main" val="1761595815"/>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Let’s see in detail how this algorithm works for the classification problem.</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Let’s suppose that the response is</a:t>
                </a:r>
                <a:r>
                  <a:rPr lang="en-US" altLang="ko-KR" baseline="0" dirty="0"/>
                  <a:t> binary</a:t>
                </a:r>
                <a:r>
                  <a:rPr lang="en-US" altLang="ko-KR" dirty="0"/>
                  <a:t> </a:t>
                </a:r>
                <a14:m>
                  <m:oMath xmlns:m="http://schemas.openxmlformats.org/officeDocument/2006/math">
                    <m:sSub>
                      <m:sSubPr>
                        <m:ctrlPr>
                          <a:rPr lang="en-US" altLang="ko-KR" sz="1200" i="1" smtClean="0">
                            <a:latin typeface="Cambria Math" panose="02040503050406030204" pitchFamily="18" charset="0"/>
                            <a:cs typeface="Times New Roman" panose="02020603050405020304" pitchFamily="18" charset="0"/>
                          </a:rPr>
                        </m:ctrlPr>
                      </m:sSubPr>
                      <m:e>
                        <m:r>
                          <a:rPr lang="en-US" altLang="ko-KR" sz="1200" i="1">
                            <a:latin typeface="Cambria Math" panose="02040503050406030204" pitchFamily="18" charset="0"/>
                            <a:cs typeface="Times New Roman" panose="02020603050405020304" pitchFamily="18" charset="0"/>
                          </a:rPr>
                          <m:t>𝑦</m:t>
                        </m:r>
                      </m:e>
                      <m:sub>
                        <m:r>
                          <a:rPr lang="en-US" altLang="ko-KR" sz="1200" i="1">
                            <a:latin typeface="Cambria Math" panose="02040503050406030204" pitchFamily="18" charset="0"/>
                            <a:cs typeface="Times New Roman" panose="02020603050405020304" pitchFamily="18" charset="0"/>
                          </a:rPr>
                          <m:t>𝑖</m:t>
                        </m:r>
                      </m:sub>
                    </m:sSub>
                    <m:r>
                      <a:rPr lang="en-US" altLang="ko-KR" sz="120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ko-KR" sz="120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R" sz="12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ko-KR" sz="1200" b="0" i="1" smtClean="0">
                            <a:latin typeface="Cambria Math" panose="02040503050406030204" pitchFamily="18" charset="0"/>
                            <a:ea typeface="Cambria Math" panose="02040503050406030204" pitchFamily="18" charset="0"/>
                            <a:cs typeface="Times New Roman" panose="02020603050405020304" pitchFamily="18" charset="0"/>
                          </a:rPr>
                          <m:t>1</m:t>
                        </m:r>
                        <m:r>
                          <a:rPr lang="en-US" altLang="ko-KR" sz="12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ko-KR" sz="1200" b="0" i="1" smtClean="0">
                            <a:latin typeface="Cambria Math" panose="02040503050406030204" pitchFamily="18" charset="0"/>
                            <a:ea typeface="Cambria Math" panose="02040503050406030204" pitchFamily="18" charset="0"/>
                            <a:cs typeface="Times New Roman" panose="02020603050405020304" pitchFamily="18" charset="0"/>
                          </a:rPr>
                          <m:t>1</m:t>
                        </m:r>
                      </m:e>
                    </m:d>
                  </m:oMath>
                </a14:m>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prediction relies</a:t>
                </a:r>
                <a:r>
                  <a:rPr lang="en-US" altLang="ko-KR" baseline="0" dirty="0"/>
                  <a:t> on</a:t>
                </a:r>
                <a:r>
                  <a:rPr lang="en-US" altLang="ko-KR" dirty="0"/>
                  <a:t> using the </a:t>
                </a:r>
                <a14:m>
                  <m:oMath xmlns:m="http://schemas.openxmlformats.org/officeDocument/2006/math">
                    <m:r>
                      <a:rPr lang="en-US" altLang="ko-KR" i="1" dirty="0" smtClean="0">
                        <a:latin typeface="Cambria Math" panose="02040503050406030204" pitchFamily="18" charset="0"/>
                      </a:rPr>
                      <m:t>𝑠𝑖𝑔𝑛</m:t>
                    </m:r>
                    <m:r>
                      <a:rPr lang="en-US" altLang="ko-KR" i="1" dirty="0" smtClean="0">
                        <a:latin typeface="Cambria Math" panose="02040503050406030204" pitchFamily="18" charset="0"/>
                      </a:rPr>
                      <m:t>() </m:t>
                    </m:r>
                  </m:oMath>
                </a14:m>
                <a:r>
                  <a:rPr lang="en-US" altLang="ko-KR" dirty="0"/>
                  <a:t>function which returns </a:t>
                </a:r>
                <a14:m>
                  <m:oMath xmlns:m="http://schemas.openxmlformats.org/officeDocument/2006/math">
                    <m:r>
                      <a:rPr lang="en-US" altLang="ko-KR" i="1" dirty="0" smtClean="0">
                        <a:latin typeface="Cambria Math" panose="02040503050406030204" pitchFamily="18" charset="0"/>
                      </a:rPr>
                      <m:t>+</m:t>
                    </m:r>
                  </m:oMath>
                </a14:m>
                <a:r>
                  <a:rPr lang="en-US" altLang="ko-KR" dirty="0"/>
                  <a:t>1 or </a:t>
                </a:r>
                <a14:m>
                  <m:oMath xmlns:m="http://schemas.openxmlformats.org/officeDocument/2006/math">
                    <m:r>
                      <a:rPr lang="en-US" altLang="ko-KR" i="1" dirty="0" smtClean="0">
                        <a:latin typeface="Cambria Math" panose="02040503050406030204" pitchFamily="18" charset="0"/>
                      </a:rPr>
                      <m:t>−</m:t>
                    </m:r>
                    <m:r>
                      <a:rPr lang="en-US" altLang="ko-KR" i="1" dirty="0" smtClean="0">
                        <a:latin typeface="Cambria Math" panose="02040503050406030204" pitchFamily="18" charset="0"/>
                      </a:rPr>
                      <m:t>1</m:t>
                    </m:r>
                  </m:oMath>
                </a14:m>
                <a:r>
                  <a:rPr lang="en-US" altLang="ko-KR" dirty="0"/>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ensemble in AdaBoost is, in reality, a sequence.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Better performing learners are given heavier weights.</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Let’s see in detail how this algorithm works for the classification problem.</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Let’s suppose that the response is</a:t>
                </a:r>
                <a:r>
                  <a:rPr lang="en-US" altLang="ko-KR" baseline="0" dirty="0"/>
                  <a:t> binary</a:t>
                </a:r>
                <a:r>
                  <a:rPr lang="en-US" altLang="ko-KR" dirty="0"/>
                  <a:t> </a:t>
                </a:r>
                <a:r>
                  <a:rPr lang="en-US" altLang="ko-KR" sz="1200" i="0">
                    <a:latin typeface="Cambria Math" panose="02040503050406030204" pitchFamily="18" charset="0"/>
                    <a:cs typeface="Times New Roman" panose="02020603050405020304" pitchFamily="18" charset="0"/>
                  </a:rPr>
                  <a:t>𝑦_𝑖</a:t>
                </a:r>
                <a:r>
                  <a:rPr lang="en-US" altLang="ko-KR" sz="1200" i="0">
                    <a:latin typeface="Cambria Math" panose="02040503050406030204" pitchFamily="18" charset="0"/>
                    <a:ea typeface="Cambria Math" panose="02040503050406030204" pitchFamily="18" charset="0"/>
                    <a:cs typeface="Times New Roman" panose="02020603050405020304" pitchFamily="18" charset="0"/>
                  </a:rPr>
                  <a:t>∈{</a:t>
                </a:r>
                <a:r>
                  <a:rPr lang="en-US" altLang="ko-KR" sz="1200" b="0" i="0">
                    <a:latin typeface="Cambria Math" panose="02040503050406030204" pitchFamily="18" charset="0"/>
                    <a:ea typeface="Cambria Math" panose="02040503050406030204" pitchFamily="18" charset="0"/>
                    <a:cs typeface="Times New Roman" panose="02020603050405020304" pitchFamily="18" charset="0"/>
                  </a:rPr>
                  <a:t>−1,+1}</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prediction relies</a:t>
                </a:r>
                <a:r>
                  <a:rPr lang="en-US" altLang="ko-KR" baseline="0" dirty="0"/>
                  <a:t> on</a:t>
                </a:r>
                <a:r>
                  <a:rPr lang="en-US" altLang="ko-KR" dirty="0"/>
                  <a:t> using the </a:t>
                </a:r>
                <a:r>
                  <a:rPr lang="en-US" altLang="ko-KR" i="0" dirty="0">
                    <a:latin typeface="Cambria Math" panose="02040503050406030204" pitchFamily="18" charset="0"/>
                  </a:rPr>
                  <a:t>𝑠𝑖𝑔𝑛() </a:t>
                </a:r>
                <a:r>
                  <a:rPr lang="en-US" altLang="ko-KR" dirty="0"/>
                  <a:t>function which returns </a:t>
                </a:r>
                <a:r>
                  <a:rPr lang="en-US" altLang="ko-KR" i="0" dirty="0">
                    <a:latin typeface="Cambria Math" panose="02040503050406030204" pitchFamily="18" charset="0"/>
                  </a:rPr>
                  <a:t>+</a:t>
                </a:r>
                <a:r>
                  <a:rPr lang="en-US" altLang="ko-KR" dirty="0"/>
                  <a:t>1 or </a:t>
                </a:r>
                <a:r>
                  <a:rPr lang="en-US" altLang="ko-KR" i="0" dirty="0">
                    <a:latin typeface="Cambria Math" panose="02040503050406030204" pitchFamily="18" charset="0"/>
                  </a:rPr>
                  <a:t>−1</a:t>
                </a:r>
                <a:r>
                  <a:rPr lang="en-US" altLang="ko-KR" dirty="0"/>
                  <a:t>.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ensemble in AdaBoost is, in reality, a sequence.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Better performing learners are given heavier weights.</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302</a:t>
            </a:fld>
            <a:endParaRPr lang="ko-KR" altLang="en-US"/>
          </a:p>
        </p:txBody>
      </p:sp>
    </p:spTree>
    <p:extLst>
      <p:ext uri="{BB962C8B-B14F-4D97-AF65-F5344CB8AC3E}">
        <p14:creationId xmlns:p14="http://schemas.microsoft.com/office/powerpoint/2010/main" val="1432216884"/>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Each step is comprised of training and prediction.</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 basic learner is trained and then the error ratios of the prediction are estimated.</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303</a:t>
            </a:fld>
            <a:endParaRPr lang="ko-KR" altLang="en-US"/>
          </a:p>
        </p:txBody>
      </p:sp>
    </p:spTree>
    <p:extLst>
      <p:ext uri="{BB962C8B-B14F-4D97-AF65-F5344CB8AC3E}">
        <p14:creationId xmlns:p14="http://schemas.microsoft.com/office/powerpoint/2010/main" val="557221429"/>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Error ratios are used to calculate the boosting weights.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 learner with a smaller error ratio receives a heavier weight.</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observation weights are updated according to the prediction result.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Those that were wrongly classified in the previous step receive heavier weights.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Please notice that </a:t>
                </a:r>
                <a14:m>
                  <m:oMath xmlns:m="http://schemas.openxmlformats.org/officeDocument/2006/math">
                    <m:r>
                      <a:rPr lang="en-US" altLang="ko-KR" sz="1200" i="1" smtClean="0">
                        <a:latin typeface="Cambria Math" panose="02040503050406030204" pitchFamily="18" charset="0"/>
                        <a:cs typeface="Times New Roman" panose="02020603050405020304" pitchFamily="18" charset="0"/>
                      </a:rPr>
                      <m:t>𝐼</m:t>
                    </m:r>
                    <m:d>
                      <m:dPr>
                        <m:ctrlPr>
                          <a:rPr lang="en-US" altLang="ko-KR" sz="1200" i="1">
                            <a:latin typeface="Cambria Math" panose="02040503050406030204" pitchFamily="18" charset="0"/>
                            <a:cs typeface="Times New Roman" panose="02020603050405020304" pitchFamily="18" charset="0"/>
                          </a:rPr>
                        </m:ctrlPr>
                      </m:dPr>
                      <m:e>
                        <m:sSub>
                          <m:sSubPr>
                            <m:ctrlPr>
                              <a:rPr lang="en-US" altLang="ko-KR" sz="1200" i="1">
                                <a:latin typeface="Cambria Math" panose="02040503050406030204" pitchFamily="18" charset="0"/>
                                <a:cs typeface="Times New Roman" panose="02020603050405020304" pitchFamily="18" charset="0"/>
                              </a:rPr>
                            </m:ctrlPr>
                          </m:sSubPr>
                          <m:e>
                            <m:r>
                              <a:rPr lang="en-US" altLang="ko-KR" sz="1200" i="1">
                                <a:latin typeface="Cambria Math" panose="02040503050406030204" pitchFamily="18" charset="0"/>
                                <a:cs typeface="Times New Roman" panose="02020603050405020304" pitchFamily="18" charset="0"/>
                              </a:rPr>
                              <m:t>𝑦</m:t>
                            </m:r>
                          </m:e>
                          <m:sub>
                            <m:r>
                              <a:rPr lang="en-US" altLang="ko-KR" sz="1200" i="1">
                                <a:latin typeface="Cambria Math" panose="02040503050406030204" pitchFamily="18" charset="0"/>
                                <a:cs typeface="Times New Roman" panose="02020603050405020304" pitchFamily="18" charset="0"/>
                              </a:rPr>
                              <m:t>𝑖</m:t>
                            </m:r>
                          </m:sub>
                        </m:sSub>
                        <m:r>
                          <a:rPr lang="en-US" altLang="ko-KR" sz="12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ko-KR"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R" sz="1200" i="1">
                                <a:latin typeface="Cambria Math" panose="02040503050406030204" pitchFamily="18" charset="0"/>
                                <a:ea typeface="Cambria Math" panose="02040503050406030204" pitchFamily="18" charset="0"/>
                                <a:cs typeface="Times New Roman" panose="02020603050405020304" pitchFamily="18" charset="0"/>
                              </a:rPr>
                              <m:t>𝐺</m:t>
                            </m:r>
                          </m:e>
                          <m:sub>
                            <m:r>
                              <a:rPr lang="en-US" altLang="ko-KR" sz="1200" i="1">
                                <a:latin typeface="Cambria Math" panose="02040503050406030204" pitchFamily="18" charset="0"/>
                                <a:ea typeface="Cambria Math" panose="02040503050406030204" pitchFamily="18" charset="0"/>
                                <a:cs typeface="Times New Roman" panose="02020603050405020304" pitchFamily="18" charset="0"/>
                              </a:rPr>
                              <m:t>𝑚</m:t>
                            </m:r>
                          </m:sub>
                        </m:sSub>
                        <m:d>
                          <m:dPr>
                            <m:ctrlPr>
                              <a:rPr lang="en-US" altLang="ko-KR" sz="12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ko-KR"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R" sz="1200" b="1" i="1">
                                    <a:latin typeface="Cambria Math" panose="02040503050406030204" pitchFamily="18" charset="0"/>
                                    <a:ea typeface="Cambria Math" panose="02040503050406030204" pitchFamily="18" charset="0"/>
                                    <a:cs typeface="Times New Roman" panose="02020603050405020304" pitchFamily="18" charset="0"/>
                                  </a:rPr>
                                  <m:t>𝒙</m:t>
                                </m:r>
                              </m:e>
                              <m:sub>
                                <m:r>
                                  <a:rPr lang="en-US" altLang="ko-KR" sz="1200" i="1">
                                    <a:latin typeface="Cambria Math" panose="02040503050406030204" pitchFamily="18" charset="0"/>
                                    <a:ea typeface="Cambria Math" panose="02040503050406030204" pitchFamily="18" charset="0"/>
                                    <a:cs typeface="Times New Roman" panose="02020603050405020304" pitchFamily="18" charset="0"/>
                                  </a:rPr>
                                  <m:t>𝑖</m:t>
                                </m:r>
                              </m:sub>
                            </m:sSub>
                          </m:e>
                        </m:d>
                      </m:e>
                    </m:d>
                  </m:oMath>
                </a14:m>
                <a:r>
                  <a:rPr lang="en-US" altLang="ko-KR" dirty="0"/>
                  <a:t> only</a:t>
                </a:r>
                <a:r>
                  <a:rPr lang="en-US" altLang="ko-KR" baseline="0" dirty="0"/>
                  <a:t> picks up the miss-classifications.</a:t>
                </a:r>
                <a:endParaRPr lang="en-US" altLang="ko-K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Error ratios are used to calculate the boosting weights.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 learner with a smaller error ratio receives a heavier weight.</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observation weights are updated according to the prediction result.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Those that were wrongly classified in the previous step receive heavier weights.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Please notice that </a:t>
                </a:r>
                <a:r>
                  <a:rPr lang="en-US" altLang="ko-KR" sz="1200" i="0">
                    <a:latin typeface="Cambria Math" panose="02040503050406030204" pitchFamily="18" charset="0"/>
                    <a:cs typeface="Times New Roman" panose="02020603050405020304" pitchFamily="18" charset="0"/>
                  </a:rPr>
                  <a:t>𝐼(𝑦_𝑖</a:t>
                </a:r>
                <a:r>
                  <a:rPr lang="en-US" altLang="ko-KR" sz="1200" i="0">
                    <a:latin typeface="Cambria Math" panose="02040503050406030204" pitchFamily="18" charset="0"/>
                    <a:ea typeface="Cambria Math" panose="02040503050406030204" pitchFamily="18" charset="0"/>
                    <a:cs typeface="Times New Roman" panose="02020603050405020304" pitchFamily="18" charset="0"/>
                  </a:rPr>
                  <a:t>≠𝐺_𝑚 (</a:t>
                </a:r>
                <a:r>
                  <a:rPr lang="en-US" altLang="ko-KR" sz="1200" b="1" i="0">
                    <a:latin typeface="Cambria Math" panose="02040503050406030204" pitchFamily="18" charset="0"/>
                    <a:ea typeface="Cambria Math" panose="02040503050406030204" pitchFamily="18" charset="0"/>
                    <a:cs typeface="Times New Roman" panose="02020603050405020304" pitchFamily="18" charset="0"/>
                  </a:rPr>
                  <a:t>𝒙_</a:t>
                </a:r>
                <a:r>
                  <a:rPr lang="en-US" altLang="ko-KR" sz="1200" i="0">
                    <a:latin typeface="Cambria Math" panose="02040503050406030204" pitchFamily="18" charset="0"/>
                    <a:ea typeface="Cambria Math" panose="02040503050406030204" pitchFamily="18" charset="0"/>
                    <a:cs typeface="Times New Roman" panose="02020603050405020304" pitchFamily="18" charset="0"/>
                  </a:rPr>
                  <a:t>𝑖 ))</a:t>
                </a:r>
                <a:r>
                  <a:rPr lang="en-US" altLang="ko-KR" dirty="0"/>
                  <a:t> only</a:t>
                </a:r>
                <a:r>
                  <a:rPr lang="en-US" altLang="ko-KR" baseline="0" dirty="0"/>
                  <a:t> picks up the miss-classifications.</a:t>
                </a:r>
                <a:endParaRPr lang="en-US" altLang="ko-KR" dirty="0"/>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304</a:t>
            </a:fld>
            <a:endParaRPr lang="ko-KR" altLang="en-US"/>
          </a:p>
        </p:txBody>
      </p:sp>
    </p:spTree>
    <p:extLst>
      <p:ext uri="{BB962C8B-B14F-4D97-AF65-F5344CB8AC3E}">
        <p14:creationId xmlns:p14="http://schemas.microsoft.com/office/powerpoint/2010/main" val="388254590"/>
      </p:ext>
    </p:extLst>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After the sequence (ensemble) is complete, the final prediction is given by the weighted average.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305</a:t>
            </a:fld>
            <a:endParaRPr lang="ko-KR" altLang="en-US"/>
          </a:p>
        </p:txBody>
      </p:sp>
    </p:spTree>
    <p:extLst>
      <p:ext uri="{BB962C8B-B14F-4D97-AF65-F5344CB8AC3E}">
        <p14:creationId xmlns:p14="http://schemas.microsoft.com/office/powerpoint/2010/main" val="691753603"/>
      </p:ext>
    </p:extLst>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err="1"/>
                  <a:t>AdaBoost</a:t>
                </a:r>
                <a:r>
                  <a:rPr lang="en-US" altLang="ko-KR" dirty="0"/>
                  <a:t> sequence is illustrated in this example.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wrongly classified observations are identified (enclosed by circles) and then given heavier weight </a:t>
                </a:r>
                <a14:m>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𝑤</m:t>
                        </m:r>
                      </m:e>
                      <m:sub>
                        <m:r>
                          <a:rPr lang="en-US" altLang="ko-KR" b="0" i="1" smtClean="0">
                            <a:latin typeface="Cambria Math" panose="02040503050406030204" pitchFamily="18" charset="0"/>
                          </a:rPr>
                          <m:t>𝑖</m:t>
                        </m:r>
                      </m:sub>
                    </m:sSub>
                  </m:oMath>
                </a14:m>
                <a:r>
                  <a:rPr lang="en-US" altLang="ko-KR" dirty="0"/>
                  <a:t> (</a:t>
                </a:r>
                <a:r>
                  <a:rPr lang="en-US" altLang="ko-KR" dirty="0">
                    <a:solidFill>
                      <a:srgbClr val="FF0000"/>
                    </a:solidFill>
                    <a:latin typeface="Times New Roman" panose="02020603050405020304" pitchFamily="18" charset="0"/>
                    <a:cs typeface="Times New Roman" panose="02020603050405020304" pitchFamily="18" charset="0"/>
                  </a:rPr>
                  <a:t>Step 1</a:t>
                </a:r>
                <a14:m>
                  <m:oMath xmlns:m="http://schemas.openxmlformats.org/officeDocument/2006/math">
                    <m:r>
                      <a:rPr lang="en-US" altLang="ko-KR" b="0" i="1" smtClean="0">
                        <a:solidFill>
                          <a:srgbClr val="FF0000"/>
                        </a:solidFill>
                        <a:latin typeface="Cambria Math" panose="02040503050406030204" pitchFamily="18" charset="0"/>
                        <a:cs typeface="Times New Roman" panose="02020603050405020304" pitchFamily="18" charset="0"/>
                      </a:rPr>
                      <m:t>′</m:t>
                    </m:r>
                  </m:oMath>
                </a14:m>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the next step, those observations that were marked as mistakes in the previous step are correctly classified (Step 2).</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we combine all these models or learners, we end up with the ensemble learner that is capable of making the best prediction.</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Note: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AdaBoost sequence is illustrated in this example.</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wrongly classified observations are identified (enclosed by circles) and then given heavier weight </a:t>
                </a:r>
                <a:r>
                  <a:rPr lang="en-US" altLang="ko-KR" b="0" i="0">
                    <a:latin typeface="Cambria Math" panose="02040503050406030204" pitchFamily="18" charset="0"/>
                  </a:rPr>
                  <a:t>𝑤_𝑖</a:t>
                </a:r>
                <a:r>
                  <a:rPr lang="en-US" altLang="ko-KR" dirty="0"/>
                  <a:t> (</a:t>
                </a:r>
                <a:r>
                  <a:rPr lang="en-US" altLang="ko-KR" dirty="0">
                    <a:solidFill>
                      <a:srgbClr val="FF0000"/>
                    </a:solidFill>
                    <a:latin typeface="Times New Roman" panose="02020603050405020304" pitchFamily="18" charset="0"/>
                    <a:cs typeface="Times New Roman" panose="02020603050405020304" pitchFamily="18" charset="0"/>
                  </a:rPr>
                  <a:t>Step 1</a:t>
                </a:r>
                <a:r>
                  <a:rPr lang="en-US" altLang="ko-KR" b="0" i="0">
                    <a:solidFill>
                      <a:srgbClr val="FF0000"/>
                    </a:solidFill>
                    <a:latin typeface="Cambria Math" panose="02040503050406030204" pitchFamily="18" charset="0"/>
                    <a:cs typeface="Times New Roman" panose="02020603050405020304" pitchFamily="18" charset="0"/>
                  </a:rPr>
                  <a:t>′</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In the next step, those observations that were marked as mistakes in the previous step are correctly classified (Step 2).</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When we combine all these models or learners, we end up with the ensemble learner that is capable of making the best prediction.</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a:t>
                </a:r>
              </a:p>
            </p:txBody>
          </p:sp>
        </mc:Fallback>
      </mc:AlternateContent>
      <p:sp>
        <p:nvSpPr>
          <p:cNvPr id="4" name="Slide Number Placeholder 3"/>
          <p:cNvSpPr>
            <a:spLocks noGrp="1"/>
          </p:cNvSpPr>
          <p:nvPr>
            <p:ph type="sldNum" sz="quarter" idx="10"/>
          </p:nvPr>
        </p:nvSpPr>
        <p:spPr/>
        <p:txBody>
          <a:bodyPr/>
          <a:lstStyle/>
          <a:p>
            <a:fld id="{5B59C55F-00F1-4985-9065-F2D92AE05D03}" type="slidenum">
              <a:rPr lang="ko-KR" altLang="en-US" smtClean="0"/>
              <a:t>306</a:t>
            </a:fld>
            <a:endParaRPr lang="ko-KR" altLang="en-US"/>
          </a:p>
        </p:txBody>
      </p:sp>
    </p:spTree>
    <p:extLst>
      <p:ext uri="{BB962C8B-B14F-4D97-AF65-F5344CB8AC3E}">
        <p14:creationId xmlns:p14="http://schemas.microsoft.com/office/powerpoint/2010/main" val="2361154846"/>
      </p:ext>
    </p:extLst>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307</a:t>
            </a:fld>
            <a:endParaRPr lang="ko-KR" altLang="en-US"/>
          </a:p>
        </p:txBody>
      </p:sp>
    </p:spTree>
    <p:extLst>
      <p:ext uri="{BB962C8B-B14F-4D97-AF65-F5344CB8AC3E}">
        <p14:creationId xmlns:p14="http://schemas.microsoft.com/office/powerpoint/2010/main" val="3436936404"/>
      </p:ext>
    </p:extLst>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GBM is another boosting ensemble similar to AdaBoost.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sequence of weak learners is driven towards a better predictive performance by application of gradients.</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308</a:t>
            </a:fld>
            <a:endParaRPr lang="ko-KR" altLang="en-US"/>
          </a:p>
        </p:txBody>
      </p:sp>
    </p:spTree>
    <p:extLst>
      <p:ext uri="{BB962C8B-B14F-4D97-AF65-F5344CB8AC3E}">
        <p14:creationId xmlns:p14="http://schemas.microsoft.com/office/powerpoint/2010/main" val="880316503"/>
      </p:ext>
    </p:extLst>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309</a:t>
            </a:fld>
            <a:endParaRPr lang="ko-KR" altLang="en-US"/>
          </a:p>
        </p:txBody>
      </p:sp>
    </p:spTree>
    <p:extLst>
      <p:ext uri="{BB962C8B-B14F-4D97-AF65-F5344CB8AC3E}">
        <p14:creationId xmlns:p14="http://schemas.microsoft.com/office/powerpoint/2010/main" val="1858456288"/>
      </p:ext>
    </p:extLst>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err="1"/>
              <a:t>XGBoost</a:t>
            </a:r>
            <a:r>
              <a:rPr lang="en-US" altLang="ko-KR" dirty="0"/>
              <a:t> improves upon GBM.</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310</a:t>
            </a:fld>
            <a:endParaRPr lang="ko-KR" altLang="en-US"/>
          </a:p>
        </p:txBody>
      </p:sp>
    </p:spTree>
    <p:extLst>
      <p:ext uri="{BB962C8B-B14F-4D97-AF65-F5344CB8AC3E}">
        <p14:creationId xmlns:p14="http://schemas.microsoft.com/office/powerpoint/2010/main" val="634133296"/>
      </p:ext>
    </p:extLst>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Python “wrapper” provides a familiar and easy to use interface.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More information can be found at: </a:t>
            </a:r>
            <a:r>
              <a:rPr lang="en-US" altLang="ko-KR" dirty="0">
                <a:hlinkClick r:id="rId3"/>
              </a:rPr>
              <a:t>https://xgboost.readthedocs.io/en/latest/python/index.html</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311</a:t>
            </a:fld>
            <a:endParaRPr lang="ko-KR" altLang="en-US"/>
          </a:p>
        </p:txBody>
      </p:sp>
    </p:spTree>
    <p:extLst>
      <p:ext uri="{BB962C8B-B14F-4D97-AF65-F5344CB8AC3E}">
        <p14:creationId xmlns:p14="http://schemas.microsoft.com/office/powerpoint/2010/main" val="3744376322"/>
      </p:ext>
    </p:extLst>
  </p:cSld>
  <p:clrMapOvr>
    <a:masterClrMapping/>
  </p:clrMapOvr>
</p:notes>
</file>

<file path=ppt/notesSlides/notesSlide3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312</a:t>
            </a:fld>
            <a:endParaRPr lang="ko-KR" altLang="en-US"/>
          </a:p>
        </p:txBody>
      </p:sp>
    </p:spTree>
    <p:extLst>
      <p:ext uri="{BB962C8B-B14F-4D97-AF65-F5344CB8AC3E}">
        <p14:creationId xmlns:p14="http://schemas.microsoft.com/office/powerpoint/2010/main" val="897244324"/>
      </p:ext>
    </p:extLst>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313</a:t>
            </a:fld>
            <a:endParaRPr lang="ko-KR" altLang="en-US"/>
          </a:p>
        </p:txBody>
      </p:sp>
    </p:spTree>
    <p:extLst>
      <p:ext uri="{BB962C8B-B14F-4D97-AF65-F5344CB8AC3E}">
        <p14:creationId xmlns:p14="http://schemas.microsoft.com/office/powerpoint/2010/main" val="3956870277"/>
      </p:ext>
    </p:extLst>
  </p:cSld>
  <p:clrMapOvr>
    <a:masterClrMapping/>
  </p:clrMapOvr>
</p:notes>
</file>

<file path=ppt/notesSlides/notesSlide3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314</a:t>
            </a:fld>
            <a:endParaRPr lang="ko-KR" altLang="en-US"/>
          </a:p>
        </p:txBody>
      </p:sp>
    </p:spTree>
    <p:extLst>
      <p:ext uri="{BB962C8B-B14F-4D97-AF65-F5344CB8AC3E}">
        <p14:creationId xmlns:p14="http://schemas.microsoft.com/office/powerpoint/2010/main" val="3151560262"/>
      </p:ext>
    </p:extLst>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315</a:t>
            </a:fld>
            <a:endParaRPr lang="ko-KR" altLang="en-US"/>
          </a:p>
        </p:txBody>
      </p:sp>
    </p:spTree>
    <p:extLst>
      <p:ext uri="{BB962C8B-B14F-4D97-AF65-F5344CB8AC3E}">
        <p14:creationId xmlns:p14="http://schemas.microsoft.com/office/powerpoint/2010/main" val="398126421"/>
      </p:ext>
    </p:extLst>
  </p:cSld>
  <p:clrMapOvr>
    <a:masterClrMapping/>
  </p:clrMapOvr>
</p:notes>
</file>

<file path=ppt/notesSlides/notesSlide3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316</a:t>
            </a:fld>
            <a:endParaRPr lang="ko-KR" altLang="en-US"/>
          </a:p>
        </p:txBody>
      </p:sp>
    </p:spTree>
    <p:extLst>
      <p:ext uri="{BB962C8B-B14F-4D97-AF65-F5344CB8AC3E}">
        <p14:creationId xmlns:p14="http://schemas.microsoft.com/office/powerpoint/2010/main" val="981896870"/>
      </p:ext>
    </p:extLst>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317</a:t>
            </a:fld>
            <a:endParaRPr lang="ko-KR" altLang="en-US"/>
          </a:p>
        </p:txBody>
      </p:sp>
    </p:spTree>
    <p:extLst>
      <p:ext uri="{BB962C8B-B14F-4D97-AF65-F5344CB8AC3E}">
        <p14:creationId xmlns:p14="http://schemas.microsoft.com/office/powerpoint/2010/main" val="3844332464"/>
      </p:ext>
    </p:extLst>
  </p:cSld>
  <p:clrMapOvr>
    <a:masterClrMapping/>
  </p:clrMapOvr>
</p:notes>
</file>

<file path=ppt/notesSlides/notesSlide3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The Python “wrapper” provides a familiar and easy to use interface. </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More information can be found at: </a:t>
            </a:r>
            <a:r>
              <a:rPr lang="en-US" altLang="ko-KR" dirty="0">
                <a:hlinkClick r:id="rId3"/>
              </a:rPr>
              <a:t>https://xgboost.readthedocs.io/en/latest/python/index.html</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a:t>
            </a:r>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318</a:t>
            </a:fld>
            <a:endParaRPr lang="ko-KR" altLang="en-US"/>
          </a:p>
        </p:txBody>
      </p:sp>
    </p:spTree>
    <p:extLst>
      <p:ext uri="{BB962C8B-B14F-4D97-AF65-F5344CB8AC3E}">
        <p14:creationId xmlns:p14="http://schemas.microsoft.com/office/powerpoint/2010/main" val="3214773693"/>
      </p:ext>
    </p:extLst>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319</a:t>
            </a:fld>
            <a:endParaRPr lang="ko-KR" altLang="en-US"/>
          </a:p>
        </p:txBody>
      </p:sp>
    </p:spTree>
    <p:extLst>
      <p:ext uri="{BB962C8B-B14F-4D97-AF65-F5344CB8AC3E}">
        <p14:creationId xmlns:p14="http://schemas.microsoft.com/office/powerpoint/2010/main" val="1663072941"/>
      </p:ext>
    </p:extLst>
  </p:cSld>
  <p:clrMapOvr>
    <a:masterClrMapping/>
  </p:clrMapOvr>
</p:notes>
</file>

<file path=ppt/notesSlides/notesSlide3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320</a:t>
            </a:fld>
            <a:endParaRPr lang="ko-KR" altLang="en-US"/>
          </a:p>
        </p:txBody>
      </p:sp>
    </p:spTree>
    <p:extLst>
      <p:ext uri="{BB962C8B-B14F-4D97-AF65-F5344CB8AC3E}">
        <p14:creationId xmlns:p14="http://schemas.microsoft.com/office/powerpoint/2010/main" val="1119200204"/>
      </p:ext>
    </p:extLst>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321</a:t>
            </a:fld>
            <a:endParaRPr lang="ko-KR" altLang="en-US"/>
          </a:p>
        </p:txBody>
      </p:sp>
    </p:spTree>
    <p:extLst>
      <p:ext uri="{BB962C8B-B14F-4D97-AF65-F5344CB8AC3E}">
        <p14:creationId xmlns:p14="http://schemas.microsoft.com/office/powerpoint/2010/main" val="3628100012"/>
      </p:ext>
    </p:extLst>
  </p:cSld>
  <p:clrMapOvr>
    <a:masterClrMapping/>
  </p:clrMapOvr>
</p:notes>
</file>

<file path=ppt/notesSlides/notesSlide3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322</a:t>
            </a:fld>
            <a:endParaRPr lang="ko-KR" altLang="en-US"/>
          </a:p>
        </p:txBody>
      </p:sp>
    </p:spTree>
    <p:extLst>
      <p:ext uri="{BB962C8B-B14F-4D97-AF65-F5344CB8AC3E}">
        <p14:creationId xmlns:p14="http://schemas.microsoft.com/office/powerpoint/2010/main" val="178732116"/>
      </p:ext>
    </p:extLst>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323</a:t>
            </a:fld>
            <a:endParaRPr lang="ko-KR" altLang="en-US"/>
          </a:p>
        </p:txBody>
      </p:sp>
    </p:spTree>
    <p:extLst>
      <p:ext uri="{BB962C8B-B14F-4D97-AF65-F5344CB8AC3E}">
        <p14:creationId xmlns:p14="http://schemas.microsoft.com/office/powerpoint/2010/main" val="2576715862"/>
      </p:ext>
    </p:extLst>
  </p:cSld>
  <p:clrMapOvr>
    <a:masterClrMapping/>
  </p:clrMapOvr>
</p:notes>
</file>

<file path=ppt/notesSlides/notesSlide3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p:txBody>
      </p:sp>
      <p:sp>
        <p:nvSpPr>
          <p:cNvPr id="4" name="Slide Number Placeholder 3"/>
          <p:cNvSpPr>
            <a:spLocks noGrp="1"/>
          </p:cNvSpPr>
          <p:nvPr>
            <p:ph type="sldNum" sz="quarter" idx="10"/>
          </p:nvPr>
        </p:nvSpPr>
        <p:spPr/>
        <p:txBody>
          <a:bodyPr/>
          <a:lstStyle/>
          <a:p>
            <a:fld id="{5B59C55F-00F1-4985-9065-F2D92AE05D03}" type="slidenum">
              <a:rPr lang="ko-KR" altLang="en-US" smtClean="0"/>
              <a:t>324</a:t>
            </a:fld>
            <a:endParaRPr lang="ko-KR" altLang="en-US"/>
          </a:p>
        </p:txBody>
      </p:sp>
    </p:spTree>
    <p:extLst>
      <p:ext uri="{BB962C8B-B14F-4D97-AF65-F5344CB8AC3E}">
        <p14:creationId xmlns:p14="http://schemas.microsoft.com/office/powerpoint/2010/main" val="3068743451"/>
      </p:ext>
    </p:extLst>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latin typeface="Times New Roman" panose="02020603050405020304" pitchFamily="18" charset="0"/>
              </a:rPr>
              <a:t>WHAT THIS PRACTICE ABOUT</a:t>
            </a:r>
            <a:endParaRPr lang="ko-KR" altLang="en-US" dirty="0"/>
          </a:p>
          <a:p>
            <a:pPr latinLnBrk="1"/>
            <a:r>
              <a:rPr lang="en-US" altLang="ko-KR" sz="1200" kern="1200" dirty="0">
                <a:solidFill>
                  <a:schemeClr val="tx1"/>
                </a:solidFill>
                <a:effectLst/>
                <a:latin typeface="+mn-lt"/>
                <a:ea typeface="+mn-ea"/>
                <a:cs typeface="+mn-cs"/>
              </a:rPr>
              <a:t>In this practice, we will apply how to implement classification with tree-like algorithm such as Random Forest and AdaBoost.</a:t>
            </a:r>
          </a:p>
          <a:p>
            <a:pPr latinLnBrk="1"/>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Times New Roman" panose="02020603050405020304" pitchFamily="18" charset="0"/>
              </a:rPr>
              <a:t>PRACTICE INSTRUCTION</a:t>
            </a:r>
            <a:endParaRPr lang="ko-KR" altLang="ko-KR" sz="1000"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Start </a:t>
            </a:r>
            <a:r>
              <a:rPr lang="en-US" altLang="ko-KR" sz="1200" kern="100" dirty="0" err="1">
                <a:solidFill>
                  <a:srgbClr val="000000"/>
                </a:solidFill>
                <a:latin typeface="Times New Roman" panose="02020603050405020304" pitchFamily="18" charset="0"/>
                <a:cs typeface="Times New Roman" panose="02020603050405020304" pitchFamily="18" charset="0"/>
              </a:rPr>
              <a:t>Jupyter</a:t>
            </a:r>
            <a:r>
              <a:rPr lang="en-US" altLang="ko-KR" sz="1200" kern="100" dirty="0">
                <a:solidFill>
                  <a:srgbClr val="000000"/>
                </a:solidFill>
                <a:latin typeface="Times New Roman" panose="02020603050405020304" pitchFamily="18" charset="0"/>
                <a:cs typeface="Times New Roman" panose="02020603050405020304" pitchFamily="18" charset="0"/>
              </a:rPr>
              <a:t> Notebook. </a:t>
            </a:r>
          </a:p>
          <a:p>
            <a:pPr marL="342900" marR="0" lvl="0" indent="-342900" algn="l" defTabSz="914400" rtl="0" eaLnBrk="1" fontAlgn="auto" latinLnBrk="1" hangingPunct="1">
              <a:lnSpc>
                <a:spcPct val="100000"/>
              </a:lnSpc>
              <a:spcBef>
                <a:spcPts val="0"/>
              </a:spcBef>
              <a:spcAft>
                <a:spcPts val="800"/>
              </a:spcAft>
              <a:buClrTx/>
              <a:buSzTx/>
              <a:buFont typeface="+mj-lt"/>
              <a:buAutoNum type="arabicPeriod"/>
              <a:tabLst/>
              <a:defRPr/>
            </a:pPr>
            <a:r>
              <a:rPr lang="en-US" altLang="ko-KR" sz="1200" kern="1200" dirty="0">
                <a:solidFill>
                  <a:schemeClr val="tx1"/>
                </a:solidFill>
                <a:effectLst/>
                <a:latin typeface="+mn-lt"/>
                <a:ea typeface="+mn-ea"/>
                <a:cs typeface="+mn-cs"/>
              </a:rPr>
              <a:t>In </a:t>
            </a:r>
            <a:r>
              <a:rPr lang="en-US" altLang="ko-KR" sz="1200" kern="1200" dirty="0" err="1">
                <a:solidFill>
                  <a:schemeClr val="tx1"/>
                </a:solidFill>
                <a:effectLst/>
                <a:latin typeface="+mn-lt"/>
                <a:ea typeface="+mn-ea"/>
                <a:cs typeface="+mn-cs"/>
              </a:rPr>
              <a:t>Jupyter</a:t>
            </a:r>
            <a:r>
              <a:rPr lang="en-US" altLang="ko-KR" sz="1200" kern="1200" dirty="0">
                <a:solidFill>
                  <a:schemeClr val="tx1"/>
                </a:solidFill>
                <a:effectLst/>
                <a:latin typeface="+mn-lt"/>
                <a:ea typeface="+mn-ea"/>
                <a:cs typeface="+mn-cs"/>
              </a:rPr>
              <a:t> Notebook, click the </a:t>
            </a:r>
            <a:r>
              <a:rPr lang="en-US" altLang="ko-KR" sz="1200" b="1" kern="1200" dirty="0">
                <a:solidFill>
                  <a:schemeClr val="tx1"/>
                </a:solidFill>
                <a:effectLst/>
                <a:latin typeface="+mn-lt"/>
                <a:ea typeface="+mn-ea"/>
                <a:cs typeface="+mn-cs"/>
              </a:rPr>
              <a:t>ex_0312.ipynb</a:t>
            </a:r>
            <a:r>
              <a:rPr lang="en-US" altLang="ko-KR" sz="1200" kern="1200" dirty="0">
                <a:solidFill>
                  <a:schemeClr val="tx1"/>
                </a:solidFill>
                <a:effectLst/>
                <a:latin typeface="+mn-lt"/>
                <a:ea typeface="+mn-ea"/>
                <a:cs typeface="+mn-cs"/>
              </a:rPr>
              <a:t> files in the </a:t>
            </a:r>
            <a:r>
              <a:rPr lang="en-US" altLang="ko-KR" sz="1200" b="1" kern="1200" dirty="0">
                <a:solidFill>
                  <a:schemeClr val="tx1"/>
                </a:solidFill>
                <a:effectLst/>
                <a:latin typeface="+mn-lt"/>
                <a:ea typeface="+mn-ea"/>
                <a:cs typeface="+mn-cs"/>
              </a:rPr>
              <a:t>Coding Exercise</a:t>
            </a:r>
            <a:r>
              <a:rPr lang="en-US" altLang="ko-KR" sz="1200" kern="1200" dirty="0">
                <a:solidFill>
                  <a:schemeClr val="tx1"/>
                </a:solidFill>
                <a:effectLst/>
                <a:latin typeface="+mn-lt"/>
                <a:ea typeface="+mn-ea"/>
                <a:cs typeface="+mn-cs"/>
              </a:rPr>
              <a:t> folder.</a:t>
            </a:r>
            <a:endParaRPr lang="en-US" altLang="ko-KR" sz="1200" kern="1200" dirty="0">
              <a:solidFill>
                <a:srgbClr val="FF0000"/>
              </a:solidFill>
              <a:effectLst/>
              <a:latin typeface="+mn-lt"/>
              <a:ea typeface="+mn-ea"/>
              <a:cs typeface="+mn-cs"/>
            </a:endParaRPr>
          </a:p>
          <a:p>
            <a:pPr marL="342900" lvl="0" indent="-342900">
              <a:spcAft>
                <a:spcPts val="800"/>
              </a:spcAft>
              <a:buFont typeface="+mj-lt"/>
              <a:buAutoNum type="arabicPeriod"/>
            </a:pPr>
            <a:r>
              <a:rPr lang="en-US" altLang="ko-KR" sz="1200" kern="1200" dirty="0">
                <a:solidFill>
                  <a:srgbClr val="FF0000"/>
                </a:solidFill>
                <a:effectLst/>
                <a:latin typeface="+mn-lt"/>
                <a:ea typeface="+mn-ea"/>
                <a:cs typeface="+mn-cs"/>
              </a:rPr>
              <a:t>Review the examples on the topics below:</a:t>
            </a:r>
            <a:br>
              <a:rPr lang="en-US" altLang="ko-KR" sz="1000" i="0" kern="1200" dirty="0">
                <a:solidFill>
                  <a:srgbClr val="FF0000"/>
                </a:solidFill>
                <a:effectLst/>
                <a:latin typeface="+mn-lt"/>
                <a:ea typeface="+mn-ea"/>
                <a:cs typeface="+mn-cs"/>
              </a:rPr>
            </a:br>
            <a:br>
              <a:rPr lang="en-US" altLang="ko-KR" sz="1000" i="0" kern="1200" dirty="0">
                <a:solidFill>
                  <a:srgbClr val="FF0000"/>
                </a:solidFill>
                <a:effectLst/>
                <a:latin typeface="+mn-lt"/>
                <a:ea typeface="+mn-ea"/>
                <a:cs typeface="+mn-cs"/>
              </a:rPr>
            </a:br>
            <a:r>
              <a:rPr lang="en-US" altLang="ko-KR" sz="1200" i="1" kern="1200" dirty="0">
                <a:solidFill>
                  <a:schemeClr val="tx1"/>
                </a:solidFill>
                <a:effectLst/>
                <a:latin typeface="+mn-lt"/>
                <a:ea typeface="+mn-ea"/>
                <a:cs typeface="+mn-cs"/>
              </a:rPr>
              <a:t>A. Compare the Tree-like algorithms</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Read in data and explore</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Data pre-processing</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iii. Classification with Tree (optimized hyperparameters)</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iv. Classification with Random Forest (optimized hyperparameters)</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v. Classification with AdaBoost (optimized hyperparameters)</a:t>
            </a:r>
          </a:p>
          <a:p>
            <a:pPr marL="342900" lvl="0" indent="-342900">
              <a:spcAft>
                <a:spcPts val="800"/>
              </a:spcAft>
              <a:buFont typeface="+mj-lt"/>
              <a:buAutoNum type="arabicPeriod"/>
            </a:pPr>
            <a:endParaRPr lang="en-US" altLang="ko-KR" sz="1200" i="1"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200" dirty="0">
                <a:solidFill>
                  <a:schemeClr val="tx1"/>
                </a:solidFill>
                <a:effectLst/>
                <a:latin typeface="+mn-lt"/>
                <a:ea typeface="+mn-ea"/>
                <a:cs typeface="+mn-cs"/>
              </a:rPr>
              <a:t>(Optional) Use the blank cell at the bottom to practice your own personal needs.</a:t>
            </a:r>
            <a:endParaRPr lang="ko-KR" altLang="ko-KR" sz="10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325</a:t>
            </a:fld>
            <a:endParaRPr lang="ko-KR" altLang="en-US" dirty="0"/>
          </a:p>
        </p:txBody>
      </p:sp>
    </p:spTree>
    <p:extLst>
      <p:ext uri="{BB962C8B-B14F-4D97-AF65-F5344CB8AC3E}">
        <p14:creationId xmlns:p14="http://schemas.microsoft.com/office/powerpoint/2010/main" val="1858798748"/>
      </p:ext>
    </p:extLst>
  </p:cSld>
  <p:clrMapOvr>
    <a:masterClrMapping/>
  </p:clrMapOvr>
</p:notes>
</file>

<file path=ppt/notesSlides/notesSlide3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latin typeface="Times New Roman" panose="02020603050405020304" pitchFamily="18" charset="0"/>
              </a:rPr>
              <a:t>WHAT THIS PRACTICE ABOUT</a:t>
            </a:r>
            <a:endParaRPr lang="ko-KR" altLang="en-US" dirty="0"/>
          </a:p>
          <a:p>
            <a:pPr latinLnBrk="1"/>
            <a:r>
              <a:rPr lang="en-US" altLang="ko-KR" sz="1200" kern="1200" dirty="0">
                <a:solidFill>
                  <a:schemeClr val="tx1"/>
                </a:solidFill>
                <a:effectLst/>
                <a:latin typeface="+mn-lt"/>
                <a:ea typeface="+mn-ea"/>
                <a:cs typeface="+mn-cs"/>
              </a:rPr>
              <a:t>In this practice, we will apply how to implement classification with Voting Ensemble algorithm.</a:t>
            </a:r>
          </a:p>
          <a:p>
            <a:pPr latinLnBrk="1"/>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Times New Roman" panose="02020603050405020304" pitchFamily="18" charset="0"/>
              </a:rPr>
              <a:t>PRACTICE INSTRUCTION</a:t>
            </a:r>
            <a:endParaRPr lang="ko-KR" altLang="ko-KR" sz="1000"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Start </a:t>
            </a:r>
            <a:r>
              <a:rPr lang="en-US" altLang="ko-KR" sz="1200" kern="100" dirty="0" err="1">
                <a:solidFill>
                  <a:srgbClr val="000000"/>
                </a:solidFill>
                <a:latin typeface="Times New Roman" panose="02020603050405020304" pitchFamily="18" charset="0"/>
                <a:cs typeface="Times New Roman" panose="02020603050405020304" pitchFamily="18" charset="0"/>
              </a:rPr>
              <a:t>Jupyter</a:t>
            </a:r>
            <a:r>
              <a:rPr lang="en-US" altLang="ko-KR" sz="1200" kern="100" dirty="0">
                <a:solidFill>
                  <a:srgbClr val="000000"/>
                </a:solidFill>
                <a:latin typeface="Times New Roman" panose="02020603050405020304" pitchFamily="18" charset="0"/>
                <a:cs typeface="Times New Roman" panose="02020603050405020304" pitchFamily="18" charset="0"/>
              </a:rPr>
              <a:t> Notebook. </a:t>
            </a:r>
          </a:p>
          <a:p>
            <a:pPr marL="342900" marR="0" lvl="0" indent="-342900" algn="l" defTabSz="914400" rtl="0" eaLnBrk="1" fontAlgn="auto" latinLnBrk="1" hangingPunct="1">
              <a:lnSpc>
                <a:spcPct val="100000"/>
              </a:lnSpc>
              <a:spcBef>
                <a:spcPts val="0"/>
              </a:spcBef>
              <a:spcAft>
                <a:spcPts val="800"/>
              </a:spcAft>
              <a:buClrTx/>
              <a:buSzTx/>
              <a:buFont typeface="+mj-lt"/>
              <a:buAutoNum type="arabicPeriod"/>
              <a:tabLst/>
              <a:defRPr/>
            </a:pPr>
            <a:r>
              <a:rPr lang="en-US" altLang="ko-KR" sz="1200" kern="1200" dirty="0">
                <a:solidFill>
                  <a:schemeClr val="tx1"/>
                </a:solidFill>
                <a:effectLst/>
                <a:latin typeface="+mn-lt"/>
                <a:ea typeface="+mn-ea"/>
                <a:cs typeface="+mn-cs"/>
              </a:rPr>
              <a:t>In </a:t>
            </a:r>
            <a:r>
              <a:rPr lang="en-US" altLang="ko-KR" sz="1200" kern="1200" dirty="0" err="1">
                <a:solidFill>
                  <a:schemeClr val="tx1"/>
                </a:solidFill>
                <a:effectLst/>
                <a:latin typeface="+mn-lt"/>
                <a:ea typeface="+mn-ea"/>
                <a:cs typeface="+mn-cs"/>
              </a:rPr>
              <a:t>Jupyter</a:t>
            </a:r>
            <a:r>
              <a:rPr lang="en-US" altLang="ko-KR" sz="1200" kern="1200" dirty="0">
                <a:solidFill>
                  <a:schemeClr val="tx1"/>
                </a:solidFill>
                <a:effectLst/>
                <a:latin typeface="+mn-lt"/>
                <a:ea typeface="+mn-ea"/>
                <a:cs typeface="+mn-cs"/>
              </a:rPr>
              <a:t> Notebook, click the </a:t>
            </a:r>
            <a:r>
              <a:rPr lang="en-US" altLang="ko-KR" sz="1200" b="1" kern="1200" dirty="0">
                <a:solidFill>
                  <a:schemeClr val="tx1"/>
                </a:solidFill>
                <a:effectLst/>
                <a:latin typeface="+mn-lt"/>
                <a:ea typeface="+mn-ea"/>
                <a:cs typeface="+mn-cs"/>
              </a:rPr>
              <a:t>ex_0313.ipynb</a:t>
            </a:r>
            <a:r>
              <a:rPr lang="en-US" altLang="ko-KR" sz="1200" kern="1200" dirty="0">
                <a:solidFill>
                  <a:schemeClr val="tx1"/>
                </a:solidFill>
                <a:effectLst/>
                <a:latin typeface="+mn-lt"/>
                <a:ea typeface="+mn-ea"/>
                <a:cs typeface="+mn-cs"/>
              </a:rPr>
              <a:t> files in the </a:t>
            </a:r>
            <a:r>
              <a:rPr lang="en-US" altLang="ko-KR" sz="1200" b="1" kern="1200" dirty="0">
                <a:solidFill>
                  <a:schemeClr val="tx1"/>
                </a:solidFill>
                <a:effectLst/>
                <a:latin typeface="+mn-lt"/>
                <a:ea typeface="+mn-ea"/>
                <a:cs typeface="+mn-cs"/>
              </a:rPr>
              <a:t>Coding Exercise</a:t>
            </a:r>
            <a:r>
              <a:rPr lang="en-US" altLang="ko-KR" sz="1200" kern="1200" dirty="0">
                <a:solidFill>
                  <a:schemeClr val="tx1"/>
                </a:solidFill>
                <a:effectLst/>
                <a:latin typeface="+mn-lt"/>
                <a:ea typeface="+mn-ea"/>
                <a:cs typeface="+mn-cs"/>
              </a:rPr>
              <a:t> folder.</a:t>
            </a:r>
            <a:endParaRPr lang="en-US" altLang="ko-KR" sz="1200" kern="1200" dirty="0">
              <a:solidFill>
                <a:srgbClr val="FF0000"/>
              </a:solidFill>
              <a:effectLst/>
              <a:latin typeface="+mn-lt"/>
              <a:ea typeface="+mn-ea"/>
              <a:cs typeface="+mn-cs"/>
            </a:endParaRPr>
          </a:p>
          <a:p>
            <a:pPr marL="342900" lvl="0" indent="-342900">
              <a:spcAft>
                <a:spcPts val="800"/>
              </a:spcAft>
              <a:buFont typeface="+mj-lt"/>
              <a:buAutoNum type="arabicPeriod"/>
            </a:pPr>
            <a:r>
              <a:rPr lang="en-US" altLang="ko-KR" sz="1200" kern="1200" dirty="0">
                <a:solidFill>
                  <a:srgbClr val="FF0000"/>
                </a:solidFill>
                <a:effectLst/>
                <a:latin typeface="+mn-lt"/>
                <a:ea typeface="+mn-ea"/>
                <a:cs typeface="+mn-cs"/>
              </a:rPr>
              <a:t>Review the examples on the topics below:</a:t>
            </a:r>
            <a:br>
              <a:rPr lang="en-US" altLang="ko-KR" sz="1000" i="0" kern="1200" dirty="0">
                <a:solidFill>
                  <a:srgbClr val="FF0000"/>
                </a:solidFill>
                <a:effectLst/>
                <a:latin typeface="+mn-lt"/>
                <a:ea typeface="+mn-ea"/>
                <a:cs typeface="+mn-cs"/>
              </a:rPr>
            </a:br>
            <a:br>
              <a:rPr lang="en-US" altLang="ko-KR" sz="1000" i="0" kern="1200" dirty="0">
                <a:solidFill>
                  <a:srgbClr val="FF0000"/>
                </a:solidFill>
                <a:effectLst/>
                <a:latin typeface="+mn-lt"/>
                <a:ea typeface="+mn-ea"/>
                <a:cs typeface="+mn-cs"/>
              </a:rPr>
            </a:br>
            <a:r>
              <a:rPr lang="en-US" altLang="ko-KR" sz="1200" i="1" kern="1200" dirty="0">
                <a:solidFill>
                  <a:schemeClr val="tx1"/>
                </a:solidFill>
                <a:effectLst/>
                <a:latin typeface="+mn-lt"/>
                <a:ea typeface="+mn-ea"/>
                <a:cs typeface="+mn-cs"/>
              </a:rPr>
              <a:t>A. Voting Ensemble</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Read in data</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Predicting with individual estimator</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iii. Predicting with a voting ensemble</a:t>
            </a:r>
          </a:p>
          <a:p>
            <a:pPr marL="342900" lvl="0" indent="-342900">
              <a:spcAft>
                <a:spcPts val="800"/>
              </a:spcAft>
              <a:buFont typeface="+mj-lt"/>
              <a:buAutoNum type="arabicPeriod"/>
            </a:pPr>
            <a:endParaRPr lang="en-US" altLang="ko-KR" sz="1200" i="1"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200" dirty="0">
                <a:solidFill>
                  <a:schemeClr val="tx1"/>
                </a:solidFill>
                <a:effectLst/>
                <a:latin typeface="+mn-lt"/>
                <a:ea typeface="+mn-ea"/>
                <a:cs typeface="+mn-cs"/>
              </a:rPr>
              <a:t>(Optional) Use the blank cell at the bottom to practice your own personal needs.</a:t>
            </a:r>
            <a:endParaRPr lang="ko-KR" altLang="ko-KR" sz="10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326</a:t>
            </a:fld>
            <a:endParaRPr lang="ko-KR" altLang="en-US" dirty="0"/>
          </a:p>
        </p:txBody>
      </p:sp>
    </p:spTree>
    <p:extLst>
      <p:ext uri="{BB962C8B-B14F-4D97-AF65-F5344CB8AC3E}">
        <p14:creationId xmlns:p14="http://schemas.microsoft.com/office/powerpoint/2010/main" val="3146657376"/>
      </p:ext>
    </p:extLst>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200150" y="1143000"/>
            <a:ext cx="4457700" cy="3086100"/>
          </a:xfrm>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a:latin typeface="Times New Roman" panose="02020603050405020304" pitchFamily="18" charset="0"/>
              </a:rPr>
              <a:t>WHAT THIS PRACTICE ABOUT</a:t>
            </a:r>
            <a:endParaRPr lang="ko-KR" altLang="en-US" dirty="0"/>
          </a:p>
          <a:p>
            <a:pPr latinLnBrk="1"/>
            <a:r>
              <a:rPr lang="en-US" altLang="ko-KR" sz="1200" kern="1200" dirty="0">
                <a:solidFill>
                  <a:schemeClr val="tx1"/>
                </a:solidFill>
                <a:effectLst/>
                <a:latin typeface="+mn-lt"/>
                <a:ea typeface="+mn-ea"/>
                <a:cs typeface="+mn-cs"/>
              </a:rPr>
              <a:t>In this practice, we will apply how to implement classification with Bagging Ensemble algorithm and Boosting Ensemble algorithm.</a:t>
            </a:r>
          </a:p>
          <a:p>
            <a:pPr latinLnBrk="1"/>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prstClr val="black"/>
                </a:solidFill>
                <a:latin typeface="Times New Roman" panose="02020603050405020304" pitchFamily="18" charset="0"/>
              </a:rPr>
              <a:t>PRACTICE INSTRUCTION</a:t>
            </a:r>
            <a:endParaRPr lang="ko-KR" altLang="ko-KR" sz="1000"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00" dirty="0">
                <a:solidFill>
                  <a:srgbClr val="000000"/>
                </a:solidFill>
                <a:latin typeface="Times New Roman" panose="02020603050405020304" pitchFamily="18" charset="0"/>
                <a:cs typeface="Times New Roman" panose="02020603050405020304" pitchFamily="18" charset="0"/>
              </a:rPr>
              <a:t>Start </a:t>
            </a:r>
            <a:r>
              <a:rPr lang="en-US" altLang="ko-KR" sz="1200" kern="100" dirty="0" err="1">
                <a:solidFill>
                  <a:srgbClr val="000000"/>
                </a:solidFill>
                <a:latin typeface="Times New Roman" panose="02020603050405020304" pitchFamily="18" charset="0"/>
                <a:cs typeface="Times New Roman" panose="02020603050405020304" pitchFamily="18" charset="0"/>
              </a:rPr>
              <a:t>Jupyter</a:t>
            </a:r>
            <a:r>
              <a:rPr lang="en-US" altLang="ko-KR" sz="1200" kern="100" dirty="0">
                <a:solidFill>
                  <a:srgbClr val="000000"/>
                </a:solidFill>
                <a:latin typeface="Times New Roman" panose="02020603050405020304" pitchFamily="18" charset="0"/>
                <a:cs typeface="Times New Roman" panose="02020603050405020304" pitchFamily="18" charset="0"/>
              </a:rPr>
              <a:t> Notebook. </a:t>
            </a:r>
          </a:p>
          <a:p>
            <a:pPr marL="342900" marR="0" lvl="0" indent="-342900" algn="l" defTabSz="914400" rtl="0" eaLnBrk="1" fontAlgn="auto" latinLnBrk="1" hangingPunct="1">
              <a:lnSpc>
                <a:spcPct val="100000"/>
              </a:lnSpc>
              <a:spcBef>
                <a:spcPts val="0"/>
              </a:spcBef>
              <a:spcAft>
                <a:spcPts val="800"/>
              </a:spcAft>
              <a:buClrTx/>
              <a:buSzTx/>
              <a:buFont typeface="+mj-lt"/>
              <a:buAutoNum type="arabicPeriod"/>
              <a:tabLst/>
              <a:defRPr/>
            </a:pPr>
            <a:r>
              <a:rPr lang="en-US" altLang="ko-KR" sz="1200" kern="1200" dirty="0">
                <a:solidFill>
                  <a:schemeClr val="tx1"/>
                </a:solidFill>
                <a:effectLst/>
                <a:latin typeface="+mn-lt"/>
                <a:ea typeface="+mn-ea"/>
                <a:cs typeface="+mn-cs"/>
              </a:rPr>
              <a:t>In </a:t>
            </a:r>
            <a:r>
              <a:rPr lang="en-US" altLang="ko-KR" sz="1200" kern="1200" dirty="0" err="1">
                <a:solidFill>
                  <a:schemeClr val="tx1"/>
                </a:solidFill>
                <a:effectLst/>
                <a:latin typeface="+mn-lt"/>
                <a:ea typeface="+mn-ea"/>
                <a:cs typeface="+mn-cs"/>
              </a:rPr>
              <a:t>Jupyter</a:t>
            </a:r>
            <a:r>
              <a:rPr lang="en-US" altLang="ko-KR" sz="1200" kern="1200" dirty="0">
                <a:solidFill>
                  <a:schemeClr val="tx1"/>
                </a:solidFill>
                <a:effectLst/>
                <a:latin typeface="+mn-lt"/>
                <a:ea typeface="+mn-ea"/>
                <a:cs typeface="+mn-cs"/>
              </a:rPr>
              <a:t> Notebook, click the </a:t>
            </a:r>
            <a:r>
              <a:rPr lang="en-US" altLang="ko-KR" sz="1200" b="1" kern="1200" dirty="0">
                <a:solidFill>
                  <a:schemeClr val="tx1"/>
                </a:solidFill>
                <a:effectLst/>
                <a:latin typeface="+mn-lt"/>
                <a:ea typeface="+mn-ea"/>
                <a:cs typeface="+mn-cs"/>
              </a:rPr>
              <a:t>ex_0314.ipynb</a:t>
            </a:r>
            <a:r>
              <a:rPr lang="en-US" altLang="ko-KR" sz="1200" kern="1200" dirty="0">
                <a:solidFill>
                  <a:schemeClr val="tx1"/>
                </a:solidFill>
                <a:effectLst/>
                <a:latin typeface="+mn-lt"/>
                <a:ea typeface="+mn-ea"/>
                <a:cs typeface="+mn-cs"/>
              </a:rPr>
              <a:t> files in the </a:t>
            </a:r>
            <a:r>
              <a:rPr lang="en-US" altLang="ko-KR" sz="1200" b="1" kern="1200" dirty="0">
                <a:solidFill>
                  <a:schemeClr val="tx1"/>
                </a:solidFill>
                <a:effectLst/>
                <a:latin typeface="+mn-lt"/>
                <a:ea typeface="+mn-ea"/>
                <a:cs typeface="+mn-cs"/>
              </a:rPr>
              <a:t>Coding Exercise</a:t>
            </a:r>
            <a:r>
              <a:rPr lang="en-US" altLang="ko-KR" sz="1200" kern="1200" dirty="0">
                <a:solidFill>
                  <a:schemeClr val="tx1"/>
                </a:solidFill>
                <a:effectLst/>
                <a:latin typeface="+mn-lt"/>
                <a:ea typeface="+mn-ea"/>
                <a:cs typeface="+mn-cs"/>
              </a:rPr>
              <a:t> folder.</a:t>
            </a:r>
            <a:endParaRPr lang="en-US" altLang="ko-KR" sz="1200" kern="1200" dirty="0">
              <a:solidFill>
                <a:srgbClr val="FF0000"/>
              </a:solidFill>
              <a:effectLst/>
              <a:latin typeface="+mn-lt"/>
              <a:ea typeface="+mn-ea"/>
              <a:cs typeface="+mn-cs"/>
            </a:endParaRPr>
          </a:p>
          <a:p>
            <a:pPr marL="342900" lvl="0" indent="-342900">
              <a:spcAft>
                <a:spcPts val="800"/>
              </a:spcAft>
              <a:buFont typeface="+mj-lt"/>
              <a:buAutoNum type="arabicPeriod"/>
            </a:pPr>
            <a:r>
              <a:rPr lang="en-US" altLang="ko-KR" sz="1200" kern="1200" dirty="0">
                <a:solidFill>
                  <a:srgbClr val="FF0000"/>
                </a:solidFill>
                <a:effectLst/>
                <a:latin typeface="+mn-lt"/>
                <a:ea typeface="+mn-ea"/>
                <a:cs typeface="+mn-cs"/>
              </a:rPr>
              <a:t>Review the examples on the topics below:</a:t>
            </a:r>
            <a:br>
              <a:rPr lang="en-US" altLang="ko-KR" sz="1000" i="0" kern="1200" dirty="0">
                <a:solidFill>
                  <a:srgbClr val="FF0000"/>
                </a:solidFill>
                <a:effectLst/>
                <a:latin typeface="+mn-lt"/>
                <a:ea typeface="+mn-ea"/>
                <a:cs typeface="+mn-cs"/>
              </a:rPr>
            </a:br>
            <a:br>
              <a:rPr lang="en-US" altLang="ko-KR" sz="1000" i="0" kern="1200" dirty="0">
                <a:solidFill>
                  <a:srgbClr val="FF0000"/>
                </a:solidFill>
                <a:effectLst/>
                <a:latin typeface="+mn-lt"/>
                <a:ea typeface="+mn-ea"/>
                <a:cs typeface="+mn-cs"/>
              </a:rPr>
            </a:br>
            <a:r>
              <a:rPr lang="en-US" altLang="ko-KR" sz="1200" i="1" kern="1200" dirty="0">
                <a:solidFill>
                  <a:schemeClr val="tx1"/>
                </a:solidFill>
                <a:effectLst/>
                <a:latin typeface="+mn-lt"/>
                <a:ea typeface="+mn-ea"/>
                <a:cs typeface="+mn-cs"/>
              </a:rPr>
              <a:t>A. Bagging ensemble</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Read in data</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Random Forest</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B. Boosting Ensemble</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a:t>
            </a:r>
            <a:r>
              <a:rPr lang="en-US" altLang="ko-KR" sz="1200" i="1" kern="1200" dirty="0" err="1">
                <a:solidFill>
                  <a:schemeClr val="tx1"/>
                </a:solidFill>
                <a:effectLst/>
                <a:latin typeface="+mn-lt"/>
                <a:ea typeface="+mn-ea"/>
                <a:cs typeface="+mn-cs"/>
              </a:rPr>
              <a:t>i</a:t>
            </a:r>
            <a:r>
              <a:rPr lang="en-US" altLang="ko-KR" sz="1200" i="1" kern="1200" dirty="0">
                <a:solidFill>
                  <a:schemeClr val="tx1"/>
                </a:solidFill>
                <a:effectLst/>
                <a:latin typeface="+mn-lt"/>
                <a:ea typeface="+mn-ea"/>
                <a:cs typeface="+mn-cs"/>
              </a:rPr>
              <a:t>. AdaBoost</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 Gradient Boosting</a:t>
            </a:r>
            <a:br>
              <a:rPr lang="en-US" altLang="ko-KR" sz="1200" i="1" kern="1200" dirty="0">
                <a:solidFill>
                  <a:schemeClr val="tx1"/>
                </a:solidFill>
                <a:effectLst/>
                <a:latin typeface="+mn-lt"/>
                <a:ea typeface="+mn-ea"/>
                <a:cs typeface="+mn-cs"/>
              </a:rPr>
            </a:br>
            <a:r>
              <a:rPr lang="en-US" altLang="ko-KR" sz="1200" i="1" kern="1200" dirty="0">
                <a:solidFill>
                  <a:schemeClr val="tx1"/>
                </a:solidFill>
                <a:effectLst/>
                <a:latin typeface="+mn-lt"/>
                <a:ea typeface="+mn-ea"/>
                <a:cs typeface="+mn-cs"/>
              </a:rPr>
              <a:t>	iii. </a:t>
            </a:r>
            <a:r>
              <a:rPr lang="en-US" altLang="ko-KR" sz="1200" i="1" kern="1200" dirty="0" err="1">
                <a:solidFill>
                  <a:schemeClr val="tx1"/>
                </a:solidFill>
                <a:effectLst/>
                <a:latin typeface="+mn-lt"/>
                <a:ea typeface="+mn-ea"/>
                <a:cs typeface="+mn-cs"/>
              </a:rPr>
              <a:t>XGBoost</a:t>
            </a:r>
            <a:endParaRPr lang="en-US" altLang="ko-KR" sz="1200" i="1" kern="1200" dirty="0">
              <a:solidFill>
                <a:schemeClr val="tx1"/>
              </a:solidFill>
              <a:effectLst/>
              <a:latin typeface="+mn-lt"/>
              <a:ea typeface="+mn-ea"/>
              <a:cs typeface="+mn-cs"/>
            </a:endParaRPr>
          </a:p>
          <a:p>
            <a:pPr marL="342900" lvl="0" indent="-342900">
              <a:spcAft>
                <a:spcPts val="800"/>
              </a:spcAft>
              <a:buFont typeface="+mj-lt"/>
              <a:buAutoNum type="arabicPeriod"/>
            </a:pPr>
            <a:endParaRPr lang="en-US" altLang="ko-KR" sz="1200" i="1" kern="1200" dirty="0">
              <a:solidFill>
                <a:schemeClr val="tx1"/>
              </a:solidFill>
              <a:effectLst/>
              <a:latin typeface="+mn-lt"/>
              <a:ea typeface="+mn-ea"/>
              <a:cs typeface="+mn-cs"/>
            </a:endParaRPr>
          </a:p>
          <a:p>
            <a:pPr marL="342900" lvl="0" indent="-342900">
              <a:spcAft>
                <a:spcPts val="800"/>
              </a:spcAft>
              <a:buFont typeface="+mj-lt"/>
              <a:buAutoNum type="arabicPeriod"/>
            </a:pPr>
            <a:r>
              <a:rPr lang="en-US" altLang="ko-KR" sz="1200" kern="1200" dirty="0">
                <a:solidFill>
                  <a:schemeClr val="tx1"/>
                </a:solidFill>
                <a:effectLst/>
                <a:latin typeface="+mn-lt"/>
                <a:ea typeface="+mn-ea"/>
                <a:cs typeface="+mn-cs"/>
              </a:rPr>
              <a:t>(Optional) Use the blank cell at the bottom to practice your own personal needs.</a:t>
            </a:r>
            <a:endParaRPr lang="ko-KR" altLang="ko-KR" sz="10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327</a:t>
            </a:fld>
            <a:endParaRPr lang="ko-KR" altLang="en-US" dirty="0"/>
          </a:p>
        </p:txBody>
      </p:sp>
    </p:spTree>
    <p:extLst>
      <p:ext uri="{BB962C8B-B14F-4D97-AF65-F5344CB8AC3E}">
        <p14:creationId xmlns:p14="http://schemas.microsoft.com/office/powerpoint/2010/main" val="637161703"/>
      </p:ext>
    </p:extLst>
  </p:cSld>
  <p:clrMapOvr>
    <a:masterClrMapping/>
  </p:clrMapOvr>
</p:notes>
</file>

<file path=ppt/notesSlides/notesSlide3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x-none" altLang="en-US" dirty="0"/>
          </a:p>
        </p:txBody>
      </p:sp>
      <p:sp>
        <p:nvSpPr>
          <p:cNvPr id="4" name="슬라이드 번호 개체 틀 3"/>
          <p:cNvSpPr>
            <a:spLocks noGrp="1"/>
          </p:cNvSpPr>
          <p:nvPr>
            <p:ph type="sldNum" sz="quarter" idx="5"/>
          </p:nvPr>
        </p:nvSpPr>
        <p:spPr/>
        <p:txBody>
          <a:bodyPr/>
          <a:lstStyle/>
          <a:p>
            <a:fld id="{5B59C55F-00F1-4985-9065-F2D92AE05D03}" type="slidenum">
              <a:rPr lang="ko-KR" altLang="en-US" smtClean="0"/>
              <a:t>328</a:t>
            </a:fld>
            <a:endParaRPr lang="ko-KR" altLang="en-US"/>
          </a:p>
        </p:txBody>
      </p:sp>
    </p:spTree>
    <p:extLst>
      <p:ext uri="{BB962C8B-B14F-4D97-AF65-F5344CB8AC3E}">
        <p14:creationId xmlns:p14="http://schemas.microsoft.com/office/powerpoint/2010/main" val="845372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6"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Chapter 5. Machine Learning 1 – Supervised </a:t>
            </a:r>
            <a:r>
              <a:rPr lang="en-US" altLang="ko-KR" sz="900" baseline="0" dirty="0">
                <a:solidFill>
                  <a:schemeClr val="bg1">
                    <a:lumMod val="50000"/>
                  </a:schemeClr>
                </a:solidFill>
                <a:latin typeface="Samsung Sharp Sans Medium" pitchFamily="2" charset="0"/>
                <a:ea typeface="Samsung Sharp Sans Medium" pitchFamily="2" charset="0"/>
                <a:cs typeface="Samsung Sharp Sans Medium" pitchFamily="2" charset="0"/>
              </a:rPr>
              <a:t>Learning</a:t>
            </a:r>
            <a:endParaRPr lang="ko-KR" altLang="en-US" sz="900" dirty="0">
              <a:solidFill>
                <a:schemeClr val="bg1">
                  <a:lumMod val="50000"/>
                </a:schemeClr>
              </a:solidFill>
              <a:latin typeface="Samsung Sharp Sans Medium" pitchFamily="2" charset="0"/>
              <a:ea typeface="Samsung Sharp Sans Medium" pitchFamily="2" charset="0"/>
              <a:cs typeface="Samsung Sharp Sans Medium" pitchFamily="2" charset="0"/>
            </a:endParaRPr>
          </a:p>
        </p:txBody>
      </p:sp>
    </p:spTree>
    <p:extLst>
      <p:ext uri="{BB962C8B-B14F-4D97-AF65-F5344CB8AC3E}">
        <p14:creationId xmlns:p14="http://schemas.microsoft.com/office/powerpoint/2010/main" val="1192416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3408681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Chapter 5. Machine Learning 1 – Supervised </a:t>
            </a:r>
            <a:r>
              <a:rPr lang="en-US" altLang="ko-KR" sz="900" baseline="0" dirty="0">
                <a:solidFill>
                  <a:schemeClr val="bg1">
                    <a:lumMod val="50000"/>
                  </a:schemeClr>
                </a:solidFill>
                <a:latin typeface="Samsung Sharp Sans Medium" pitchFamily="2" charset="0"/>
                <a:ea typeface="Samsung Sharp Sans Medium" pitchFamily="2" charset="0"/>
                <a:cs typeface="Samsung Sharp Sans Medium" pitchFamily="2" charset="0"/>
              </a:rPr>
              <a:t>Learning</a:t>
            </a:r>
            <a:endParaRPr lang="ko-KR" altLang="en-US" sz="900" dirty="0">
              <a:solidFill>
                <a:schemeClr val="bg1">
                  <a:lumMod val="50000"/>
                </a:schemeClr>
              </a:solidFill>
              <a:latin typeface="Samsung Sharp Sans Medium" pitchFamily="2" charset="0"/>
              <a:ea typeface="Samsung Sharp Sans Medium" pitchFamily="2" charset="0"/>
              <a:cs typeface="Samsung Sharp Sans Medium" pitchFamily="2" charset="0"/>
            </a:endParaRPr>
          </a:p>
        </p:txBody>
      </p:sp>
    </p:spTree>
    <p:extLst>
      <p:ext uri="{BB962C8B-B14F-4D97-AF65-F5344CB8AC3E}">
        <p14:creationId xmlns:p14="http://schemas.microsoft.com/office/powerpoint/2010/main" val="971237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Chapter 5. Machine Learning 1 – Supervised </a:t>
            </a:r>
            <a:r>
              <a:rPr lang="en-US" altLang="ko-KR" sz="900" baseline="0" dirty="0">
                <a:solidFill>
                  <a:schemeClr val="bg1">
                    <a:lumMod val="50000"/>
                  </a:schemeClr>
                </a:solidFill>
                <a:latin typeface="Samsung Sharp Sans Medium" pitchFamily="2" charset="0"/>
                <a:ea typeface="Samsung Sharp Sans Medium" pitchFamily="2" charset="0"/>
                <a:cs typeface="Samsung Sharp Sans Medium" pitchFamily="2" charset="0"/>
              </a:rPr>
              <a:t>Learning</a:t>
            </a:r>
            <a:endParaRPr lang="ko-KR" altLang="en-US" sz="900" dirty="0">
              <a:solidFill>
                <a:schemeClr val="bg1">
                  <a:lumMod val="50000"/>
                </a:schemeClr>
              </a:solidFill>
              <a:latin typeface="Samsung Sharp Sans Medium" pitchFamily="2" charset="0"/>
              <a:ea typeface="Samsung Sharp Sans Medium" pitchFamily="2" charset="0"/>
              <a:cs typeface="Samsung Sharp Sans Medium" pitchFamily="2" charset="0"/>
            </a:endParaRPr>
          </a:p>
        </p:txBody>
      </p:sp>
    </p:spTree>
    <p:extLst>
      <p:ext uri="{BB962C8B-B14F-4D97-AF65-F5344CB8AC3E}">
        <p14:creationId xmlns:p14="http://schemas.microsoft.com/office/powerpoint/2010/main" val="2163853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grpSp>
        <p:nvGrpSpPr>
          <p:cNvPr id="3" name="그룹 2">
            <a:extLst>
              <a:ext uri="{FF2B5EF4-FFF2-40B4-BE49-F238E27FC236}">
                <a16:creationId xmlns:a16="http://schemas.microsoft.com/office/drawing/2014/main" id="{423B230F-BF07-4420-8C5E-EAE4EFC61AF1}"/>
              </a:ext>
            </a:extLst>
          </p:cNvPr>
          <p:cNvGrpSpPr/>
          <p:nvPr userDrawn="1"/>
        </p:nvGrpSpPr>
        <p:grpSpPr>
          <a:xfrm>
            <a:off x="0" y="1"/>
            <a:ext cx="9902825" cy="999802"/>
            <a:chOff x="0" y="1"/>
            <a:chExt cx="9906000" cy="999802"/>
          </a:xfrm>
        </p:grpSpPr>
        <p:sp>
          <p:nvSpPr>
            <p:cNvPr id="10" name="직사각형 9">
              <a:extLst>
                <a:ext uri="{FF2B5EF4-FFF2-40B4-BE49-F238E27FC236}">
                  <a16:creationId xmlns:a16="http://schemas.microsoft.com/office/drawing/2014/main" id="{85CF76A4-51CF-4D05-A1A1-2F9ED08538A3}"/>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8" name="직사각형 7">
              <a:extLst>
                <a:ext uri="{FF2B5EF4-FFF2-40B4-BE49-F238E27FC236}">
                  <a16:creationId xmlns:a16="http://schemas.microsoft.com/office/drawing/2014/main" id="{B99AF68C-BDD5-4210-9E4D-B73D0E1AF2BC}"/>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grpSp>
      <p:grpSp>
        <p:nvGrpSpPr>
          <p:cNvPr id="16" name="그룹 15">
            <a:extLst>
              <a:ext uri="{FF2B5EF4-FFF2-40B4-BE49-F238E27FC236}">
                <a16:creationId xmlns:a16="http://schemas.microsoft.com/office/drawing/2014/main" id="{1AD70F94-445E-41A7-8574-B25CBA89D8C1}"/>
              </a:ext>
            </a:extLst>
          </p:cNvPr>
          <p:cNvGrpSpPr/>
          <p:nvPr userDrawn="1"/>
        </p:nvGrpSpPr>
        <p:grpSpPr>
          <a:xfrm>
            <a:off x="449855" y="1251376"/>
            <a:ext cx="9015111" cy="4993976"/>
            <a:chOff x="578678" y="1436154"/>
            <a:chExt cx="8748000" cy="4993976"/>
          </a:xfrm>
          <a:solidFill>
            <a:srgbClr val="ECEFF6"/>
          </a:solidFill>
        </p:grpSpPr>
        <p:sp>
          <p:nvSpPr>
            <p:cNvPr id="17" name="직사각형 16">
              <a:extLst>
                <a:ext uri="{FF2B5EF4-FFF2-40B4-BE49-F238E27FC236}">
                  <a16:creationId xmlns:a16="http://schemas.microsoft.com/office/drawing/2014/main" id="{DD7B4B47-6621-481B-B3CE-E8345036F393}"/>
                </a:ext>
              </a:extLst>
            </p:cNvPr>
            <p:cNvSpPr/>
            <p:nvPr/>
          </p:nvSpPr>
          <p:spPr>
            <a:xfrm>
              <a:off x="578678" y="1436154"/>
              <a:ext cx="8748000" cy="811746"/>
            </a:xfrm>
            <a:prstGeom prst="rect">
              <a:avLst/>
            </a:pr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sp>
          <p:nvSpPr>
            <p:cNvPr id="18" name="직사각형 17">
              <a:extLst>
                <a:ext uri="{FF2B5EF4-FFF2-40B4-BE49-F238E27FC236}">
                  <a16:creationId xmlns:a16="http://schemas.microsoft.com/office/drawing/2014/main" id="{CF06F76F-5148-46B2-9B1F-DC949288372A}"/>
                </a:ext>
              </a:extLst>
            </p:cNvPr>
            <p:cNvSpPr/>
            <p:nvPr/>
          </p:nvSpPr>
          <p:spPr>
            <a:xfrm>
              <a:off x="578678" y="2286000"/>
              <a:ext cx="8748000" cy="4144130"/>
            </a:xfrm>
            <a:prstGeom prst="rect">
              <a:avLst/>
            </a:pr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sp>
          <p:nvSpPr>
            <p:cNvPr id="19" name="직사각형 18">
              <a:extLst>
                <a:ext uri="{FF2B5EF4-FFF2-40B4-BE49-F238E27FC236}">
                  <a16:creationId xmlns:a16="http://schemas.microsoft.com/office/drawing/2014/main" id="{9F696305-6820-48F1-BDDE-99074AB95DFF}"/>
                </a:ext>
              </a:extLst>
            </p:cNvPr>
            <p:cNvSpPr/>
            <p:nvPr/>
          </p:nvSpPr>
          <p:spPr>
            <a:xfrm>
              <a:off x="768350" y="1631455"/>
              <a:ext cx="1029652" cy="4924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3199" dirty="0">
                  <a:solidFill>
                    <a:srgbClr val="0D0D0D"/>
                  </a:solidFill>
                  <a:latin typeface="Samsung Sharp Sans" pitchFamily="2" charset="0"/>
                  <a:ea typeface="Samsung Sharp Sans" pitchFamily="2" charset="0"/>
                  <a:cs typeface="Samsung Sharp Sans" pitchFamily="2" charset="0"/>
                </a:rPr>
                <a:t>Q1.</a:t>
              </a:r>
            </a:p>
          </p:txBody>
        </p:sp>
      </p:grpSp>
      <p:sp>
        <p:nvSpPr>
          <p:cNvPr id="20"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Chapter 5. Machine Learning 1 – Supervised </a:t>
            </a:r>
            <a:r>
              <a:rPr lang="en-US" altLang="ko-KR" sz="900" baseline="0" dirty="0">
                <a:solidFill>
                  <a:schemeClr val="bg1">
                    <a:lumMod val="50000"/>
                  </a:schemeClr>
                </a:solidFill>
                <a:latin typeface="Samsung Sharp Sans Medium" pitchFamily="2" charset="0"/>
                <a:ea typeface="Samsung Sharp Sans Medium" pitchFamily="2" charset="0"/>
                <a:cs typeface="Samsung Sharp Sans Medium" pitchFamily="2" charset="0"/>
              </a:rPr>
              <a:t>Learning</a:t>
            </a:r>
            <a:endParaRPr lang="ko-KR" altLang="en-US" sz="900" dirty="0">
              <a:solidFill>
                <a:schemeClr val="bg1">
                  <a:lumMod val="50000"/>
                </a:schemeClr>
              </a:solidFill>
              <a:latin typeface="Samsung Sharp Sans Medium" pitchFamily="2" charset="0"/>
              <a:ea typeface="Samsung Sharp Sans Medium" pitchFamily="2" charset="0"/>
              <a:cs typeface="Samsung Sharp Sans Medium" pitchFamily="2" charset="0"/>
            </a:endParaRPr>
          </a:p>
        </p:txBody>
      </p:sp>
    </p:spTree>
    <p:extLst>
      <p:ext uri="{BB962C8B-B14F-4D97-AF65-F5344CB8AC3E}">
        <p14:creationId xmlns:p14="http://schemas.microsoft.com/office/powerpoint/2010/main" val="696023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more">
    <p:spTree>
      <p:nvGrpSpPr>
        <p:cNvPr id="1" name=""/>
        <p:cNvGrpSpPr/>
        <p:nvPr/>
      </p:nvGrpSpPr>
      <p:grpSpPr>
        <a:xfrm>
          <a:off x="0" y="0"/>
          <a:ext cx="0" cy="0"/>
          <a:chOff x="0" y="0"/>
          <a:chExt cx="0" cy="0"/>
        </a:xfrm>
      </p:grpSpPr>
      <p:grpSp>
        <p:nvGrpSpPr>
          <p:cNvPr id="51" name="그룹 50">
            <a:extLst>
              <a:ext uri="{FF2B5EF4-FFF2-40B4-BE49-F238E27FC236}">
                <a16:creationId xmlns:a16="http://schemas.microsoft.com/office/drawing/2014/main" id="{85278258-AEB2-4213-B5E6-13FC86FAB418}"/>
              </a:ext>
            </a:extLst>
          </p:cNvPr>
          <p:cNvGrpSpPr/>
          <p:nvPr userDrawn="1"/>
        </p:nvGrpSpPr>
        <p:grpSpPr>
          <a:xfrm>
            <a:off x="449468" y="1462227"/>
            <a:ext cx="9000714" cy="4500283"/>
            <a:chOff x="578678" y="1445207"/>
            <a:chExt cx="8748000" cy="4136077"/>
          </a:xfrm>
        </p:grpSpPr>
        <p:sp>
          <p:nvSpPr>
            <p:cNvPr id="52" name="직사각형 51">
              <a:extLst>
                <a:ext uri="{FF2B5EF4-FFF2-40B4-BE49-F238E27FC236}">
                  <a16:creationId xmlns:a16="http://schemas.microsoft.com/office/drawing/2014/main" id="{8AE44DED-1433-4AE2-91CF-6B4CC836C247}"/>
                </a:ext>
              </a:extLst>
            </p:cNvPr>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sp>
          <p:nvSpPr>
            <p:cNvPr id="53" name="직사각형 52">
              <a:extLst>
                <a:ext uri="{FF2B5EF4-FFF2-40B4-BE49-F238E27FC236}">
                  <a16:creationId xmlns:a16="http://schemas.microsoft.com/office/drawing/2014/main" id="{16E0A36A-E308-4F66-AC01-5E98B501B58D}"/>
                </a:ext>
              </a:extLst>
            </p:cNvPr>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sp>
          <p:nvSpPr>
            <p:cNvPr id="54" name="이등변 삼각형 53">
              <a:extLst>
                <a:ext uri="{FF2B5EF4-FFF2-40B4-BE49-F238E27FC236}">
                  <a16:creationId xmlns:a16="http://schemas.microsoft.com/office/drawing/2014/main" id="{1AAE9217-6132-41DE-8B52-1E10CDDAD122}"/>
                </a:ext>
              </a:extLst>
            </p:cNvPr>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grpSp>
      <p:grpSp>
        <p:nvGrpSpPr>
          <p:cNvPr id="17" name="그룹 16">
            <a:extLst>
              <a:ext uri="{FF2B5EF4-FFF2-40B4-BE49-F238E27FC236}">
                <a16:creationId xmlns:a16="http://schemas.microsoft.com/office/drawing/2014/main" id="{8F9D91F2-1DA9-4775-A2F4-3EA836FC8AC8}"/>
              </a:ext>
            </a:extLst>
          </p:cNvPr>
          <p:cNvGrpSpPr/>
          <p:nvPr userDrawn="1"/>
        </p:nvGrpSpPr>
        <p:grpSpPr>
          <a:xfrm>
            <a:off x="0" y="1"/>
            <a:ext cx="9902825" cy="999802"/>
            <a:chOff x="0" y="1"/>
            <a:chExt cx="9906000" cy="999802"/>
          </a:xfrm>
        </p:grpSpPr>
        <p:sp>
          <p:nvSpPr>
            <p:cNvPr id="18" name="직사각형 17">
              <a:extLst>
                <a:ext uri="{FF2B5EF4-FFF2-40B4-BE49-F238E27FC236}">
                  <a16:creationId xmlns:a16="http://schemas.microsoft.com/office/drawing/2014/main"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19" name="직사각형 18">
              <a:extLst>
                <a:ext uri="{FF2B5EF4-FFF2-40B4-BE49-F238E27FC236}">
                  <a16:creationId xmlns:a16="http://schemas.microsoft.com/office/drawing/2014/main"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grpSp>
      <p:cxnSp>
        <p:nvCxnSpPr>
          <p:cNvPr id="20" name="직선 연결선 19">
            <a:extLst>
              <a:ext uri="{FF2B5EF4-FFF2-40B4-BE49-F238E27FC236}">
                <a16:creationId xmlns:a16="http://schemas.microsoft.com/office/drawing/2014/main" id="{F763F9BA-EE85-4466-9F91-463051CFC433}"/>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id="{83DE29B4-2918-48DA-8AAD-6689F9D9B25F}"/>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id="{3C9B8629-554D-4DBE-9C51-F645BAD954BC}"/>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grpSp>
        <p:nvGrpSpPr>
          <p:cNvPr id="8" name="그룹 7">
            <a:extLst>
              <a:ext uri="{FF2B5EF4-FFF2-40B4-BE49-F238E27FC236}">
                <a16:creationId xmlns:a16="http://schemas.microsoft.com/office/drawing/2014/main" id="{E8CA0DD3-9254-499A-BE4D-7F93C9791163}"/>
              </a:ext>
            </a:extLst>
          </p:cNvPr>
          <p:cNvGrpSpPr/>
          <p:nvPr userDrawn="1"/>
        </p:nvGrpSpPr>
        <p:grpSpPr>
          <a:xfrm>
            <a:off x="747594" y="2408824"/>
            <a:ext cx="8536863" cy="3303528"/>
            <a:chOff x="747834" y="2129937"/>
            <a:chExt cx="8539600" cy="3303528"/>
          </a:xfrm>
        </p:grpSpPr>
        <p:grpSp>
          <p:nvGrpSpPr>
            <p:cNvPr id="24" name="그룹 23">
              <a:extLst>
                <a:ext uri="{FF2B5EF4-FFF2-40B4-BE49-F238E27FC236}">
                  <a16:creationId xmlns:a16="http://schemas.microsoft.com/office/drawing/2014/main" id="{13D70919-1A43-46D4-9CAD-A2E01D8807D4}"/>
                </a:ext>
              </a:extLst>
            </p:cNvPr>
            <p:cNvGrpSpPr/>
            <p:nvPr userDrawn="1"/>
          </p:nvGrpSpPr>
          <p:grpSpPr>
            <a:xfrm>
              <a:off x="747834" y="2129937"/>
              <a:ext cx="8539600" cy="1267182"/>
              <a:chOff x="805623" y="2423005"/>
              <a:chExt cx="8539600" cy="1267182"/>
            </a:xfrm>
          </p:grpSpPr>
          <p:grpSp>
            <p:nvGrpSpPr>
              <p:cNvPr id="25" name="그룹 24">
                <a:extLst>
                  <a:ext uri="{FF2B5EF4-FFF2-40B4-BE49-F238E27FC236}">
                    <a16:creationId xmlns:a16="http://schemas.microsoft.com/office/drawing/2014/main"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Guideline, mechanisms &amp; contingency plan</a:t>
                  </a:r>
                </a:p>
              </p:txBody>
            </p:sp>
            <p:sp>
              <p:nvSpPr>
                <p:cNvPr id="28" name="직사각형 27">
                  <a:extLst>
                    <a:ext uri="{FF2B5EF4-FFF2-40B4-BE49-F238E27FC236}">
                      <a16:creationId xmlns:a16="http://schemas.microsoft.com/office/drawing/2014/main"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Preparing pair programming involves establishing guidelines and mechanisms to help students pair properly and to keep them paired. For example, students should take turns “driving the mouse.” Effective preparation requires contingency plans in case one partner is absent or decides not to participate for one reason or another. In these cases, it is important to make it clear that the active student will not be punished because the pairing did not work well.</a:t>
                  </a:r>
                </a:p>
              </p:txBody>
            </p:sp>
          </p:grpSp>
          <p:sp>
            <p:nvSpPr>
              <p:cNvPr id="26" name="직사각형 25">
                <a:extLst>
                  <a:ext uri="{FF2B5EF4-FFF2-40B4-BE49-F238E27FC236}">
                    <a16:creationId xmlns:a16="http://schemas.microsoft.com/office/drawing/2014/main"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solidFill>
                    <a:prstClr val="white"/>
                  </a:solidFill>
                  <a:latin typeface="SamsungOne 400" panose="020B0503030303020204" pitchFamily="34" charset="0"/>
                </a:endParaRPr>
              </a:p>
            </p:txBody>
          </p:sp>
        </p:grpSp>
        <p:grpSp>
          <p:nvGrpSpPr>
            <p:cNvPr id="30" name="그룹 29">
              <a:extLst>
                <a:ext uri="{FF2B5EF4-FFF2-40B4-BE49-F238E27FC236}">
                  <a16:creationId xmlns:a16="http://schemas.microsoft.com/office/drawing/2014/main" id="{EA101DA7-28A0-4825-8294-91ED14409235}"/>
                </a:ext>
              </a:extLst>
            </p:cNvPr>
            <p:cNvGrpSpPr/>
            <p:nvPr userDrawn="1"/>
          </p:nvGrpSpPr>
          <p:grpSpPr>
            <a:xfrm>
              <a:off x="747834" y="3559917"/>
              <a:ext cx="8539600" cy="1055714"/>
              <a:chOff x="805623" y="3889855"/>
              <a:chExt cx="8539600" cy="1055714"/>
            </a:xfrm>
          </p:grpSpPr>
          <p:grpSp>
            <p:nvGrpSpPr>
              <p:cNvPr id="31" name="그룹 30">
                <a:extLst>
                  <a:ext uri="{FF2B5EF4-FFF2-40B4-BE49-F238E27FC236}">
                    <a16:creationId xmlns:a16="http://schemas.microsoft.com/office/drawing/2014/main" id="{6D52BA93-54E3-4CA4-81A3-AAAA6FD74E74}"/>
                  </a:ext>
                </a:extLst>
              </p:cNvPr>
              <p:cNvGrpSpPr/>
              <p:nvPr/>
            </p:nvGrpSpPr>
            <p:grpSpPr>
              <a:xfrm>
                <a:off x="958539" y="3889855"/>
                <a:ext cx="8386684" cy="1055714"/>
                <a:chOff x="1098894" y="2558690"/>
                <a:chExt cx="8386684" cy="1055714"/>
              </a:xfrm>
            </p:grpSpPr>
            <p:sp>
              <p:nvSpPr>
                <p:cNvPr id="33" name="직사각형 32">
                  <a:extLst>
                    <a:ext uri="{FF2B5EF4-FFF2-40B4-BE49-F238E27FC236}">
                      <a16:creationId xmlns:a16="http://schemas.microsoft.com/office/drawing/2014/main"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Pairing similar, not necessarily equal, abilities as partners</a:t>
                  </a:r>
                </a:p>
              </p:txBody>
            </p:sp>
            <p:sp>
              <p:nvSpPr>
                <p:cNvPr id="34" name="직사각형 33">
                  <a:extLst>
                    <a:ext uri="{FF2B5EF4-FFF2-40B4-BE49-F238E27FC236}">
                      <a16:creationId xmlns:a16="http://schemas.microsoft.com/office/drawing/2014/main" id="{A138E381-77DA-4306-A103-3A1DDA69FDFA}"/>
                    </a:ext>
                  </a:extLst>
                </p:cNvPr>
                <p:cNvSpPr/>
                <p:nvPr/>
              </p:nvSpPr>
              <p:spPr>
                <a:xfrm>
                  <a:off x="1098894" y="2799950"/>
                  <a:ext cx="8386684" cy="814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Pair programming can be effective when students of similar, though not necessarily equal, abilities are paired as partners. Pairing mismatched students often can lead to unbalanced participation. Teachers must emphasize that pair programming is not a “divide-and-conquer” strategy, but rather a true collaborative effort in every endeavor for the entire project. Teachers should avoid pairing very weak students with very strong students.</a:t>
                  </a:r>
                </a:p>
              </p:txBody>
            </p:sp>
          </p:grpSp>
          <p:sp>
            <p:nvSpPr>
              <p:cNvPr id="32" name="직사각형 31">
                <a:extLst>
                  <a:ext uri="{FF2B5EF4-FFF2-40B4-BE49-F238E27FC236}">
                    <a16:creationId xmlns:a16="http://schemas.microsoft.com/office/drawing/2014/main"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solidFill>
                    <a:prstClr val="white"/>
                  </a:solidFill>
                  <a:latin typeface="SamsungOne 400" panose="020B0503030303020204" pitchFamily="34" charset="0"/>
                </a:endParaRPr>
              </a:p>
            </p:txBody>
          </p:sp>
        </p:grpSp>
        <p:grpSp>
          <p:nvGrpSpPr>
            <p:cNvPr id="35" name="그룹 34">
              <a:extLst>
                <a:ext uri="{FF2B5EF4-FFF2-40B4-BE49-F238E27FC236}">
                  <a16:creationId xmlns:a16="http://schemas.microsoft.com/office/drawing/2014/main" id="{093BAA16-736E-4E14-ADD4-D0B065F97B84}"/>
                </a:ext>
              </a:extLst>
            </p:cNvPr>
            <p:cNvGrpSpPr/>
            <p:nvPr userDrawn="1"/>
          </p:nvGrpSpPr>
          <p:grpSpPr>
            <a:xfrm>
              <a:off x="747834" y="4781836"/>
              <a:ext cx="8539600" cy="651629"/>
              <a:chOff x="805623" y="5143345"/>
              <a:chExt cx="8539600" cy="651629"/>
            </a:xfrm>
          </p:grpSpPr>
          <p:grpSp>
            <p:nvGrpSpPr>
              <p:cNvPr id="36" name="그룹 35">
                <a:extLst>
                  <a:ext uri="{FF2B5EF4-FFF2-40B4-BE49-F238E27FC236}">
                    <a16:creationId xmlns:a16="http://schemas.microsoft.com/office/drawing/2014/main" id="{D293E823-4052-43C0-BEAE-3C7039D15A90}"/>
                  </a:ext>
                </a:extLst>
              </p:cNvPr>
              <p:cNvGrpSpPr/>
              <p:nvPr/>
            </p:nvGrpSpPr>
            <p:grpSpPr>
              <a:xfrm>
                <a:off x="966159" y="5143345"/>
                <a:ext cx="8379064" cy="651629"/>
                <a:chOff x="1098894" y="2558690"/>
                <a:chExt cx="8379064" cy="651629"/>
              </a:xfrm>
            </p:grpSpPr>
            <p:sp>
              <p:nvSpPr>
                <p:cNvPr id="38" name="직사각형 37">
                  <a:extLst>
                    <a:ext uri="{FF2B5EF4-FFF2-40B4-BE49-F238E27FC236}">
                      <a16:creationId xmlns:a16="http://schemas.microsoft.com/office/drawing/2014/main" id="{65518604-971B-46EE-9C46-B0A61E2C0C76}"/>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b="1"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Motivate students by offering extra incentives </a:t>
                  </a:r>
                </a:p>
              </p:txBody>
            </p:sp>
            <p:sp>
              <p:nvSpPr>
                <p:cNvPr id="39" name="직사각형 38">
                  <a:extLst>
                    <a:ext uri="{FF2B5EF4-FFF2-40B4-BE49-F238E27FC236}">
                      <a16:creationId xmlns:a16="http://schemas.microsoft.com/office/drawing/2014/main" id="{EAD2FD8D-1FE7-49E5-8A52-6F8FA9CE371A}"/>
                    </a:ext>
                  </a:extLst>
                </p:cNvPr>
                <p:cNvSpPr/>
                <p:nvPr/>
              </p:nvSpPr>
              <p:spPr>
                <a:xfrm>
                  <a:off x="1098894" y="2799950"/>
                  <a:ext cx="8379064" cy="4103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Offering extra incentives can help motivate students to pair, especially with advanced students. Some teachers have found it helpful to require students to pair for only one or two assignments. </a:t>
                  </a:r>
                </a:p>
              </p:txBody>
            </p:sp>
          </p:grpSp>
          <p:sp>
            <p:nvSpPr>
              <p:cNvPr id="37" name="직사각형 36">
                <a:extLst>
                  <a:ext uri="{FF2B5EF4-FFF2-40B4-BE49-F238E27FC236}">
                    <a16:creationId xmlns:a16="http://schemas.microsoft.com/office/drawing/2014/main" id="{D4A20AB2-235D-462A-AFBE-F2CE15681FE2}"/>
                  </a:ext>
                </a:extLst>
              </p:cNvPr>
              <p:cNvSpPr/>
              <p:nvPr/>
            </p:nvSpPr>
            <p:spPr>
              <a:xfrm>
                <a:off x="805623" y="515601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solidFill>
                    <a:prstClr val="white"/>
                  </a:solidFill>
                  <a:latin typeface="SamsungOne 400" panose="020B0503030303020204" pitchFamily="34" charset="0"/>
                </a:endParaRPr>
              </a:p>
            </p:txBody>
          </p:sp>
        </p:grpSp>
      </p:grpSp>
      <p:grpSp>
        <p:nvGrpSpPr>
          <p:cNvPr id="40" name="그룹 39">
            <a:extLst>
              <a:ext uri="{FF2B5EF4-FFF2-40B4-BE49-F238E27FC236}">
                <a16:creationId xmlns:a16="http://schemas.microsoft.com/office/drawing/2014/main" id="{D8D49945-C464-4DDD-ADD7-9189776293B8}"/>
              </a:ext>
            </a:extLst>
          </p:cNvPr>
          <p:cNvGrpSpPr/>
          <p:nvPr userDrawn="1"/>
        </p:nvGrpSpPr>
        <p:grpSpPr>
          <a:xfrm>
            <a:off x="589619" y="1588472"/>
            <a:ext cx="6613544" cy="430887"/>
            <a:chOff x="790976" y="1592058"/>
            <a:chExt cx="6615664" cy="430887"/>
          </a:xfrm>
        </p:grpSpPr>
        <p:sp>
          <p:nvSpPr>
            <p:cNvPr id="41" name="직사각형 40">
              <a:extLst>
                <a:ext uri="{FF2B5EF4-FFF2-40B4-BE49-F238E27FC236}">
                  <a16:creationId xmlns:a16="http://schemas.microsoft.com/office/drawing/2014/main"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799" b="1" dirty="0">
                  <a:solidFill>
                    <a:srgbClr val="0D0D0D"/>
                  </a:solidFill>
                  <a:latin typeface="Samsung Sharp Sans" pitchFamily="2" charset="0"/>
                  <a:ea typeface="Samsung Sharp Sans" pitchFamily="2" charset="0"/>
                  <a:cs typeface="Samsung Sharp Sans" pitchFamily="2" charset="0"/>
                </a:rPr>
                <a:t>Pair Programming Practice</a:t>
              </a:r>
            </a:p>
          </p:txBody>
        </p:sp>
        <p:pic>
          <p:nvPicPr>
            <p:cNvPr id="42" name="그림 41">
              <a:extLst>
                <a:ext uri="{FF2B5EF4-FFF2-40B4-BE49-F238E27FC236}">
                  <a16:creationId xmlns:a16="http://schemas.microsoft.com/office/drawing/2014/main"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sp>
        <p:nvSpPr>
          <p:cNvPr id="43"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Chapter 5. Machine Learning 1 – Supervised </a:t>
            </a:r>
            <a:r>
              <a:rPr lang="en-US" altLang="ko-KR" sz="900" baseline="0" dirty="0">
                <a:solidFill>
                  <a:schemeClr val="bg1">
                    <a:lumMod val="50000"/>
                  </a:schemeClr>
                </a:solidFill>
                <a:latin typeface="Samsung Sharp Sans Medium" pitchFamily="2" charset="0"/>
                <a:ea typeface="Samsung Sharp Sans Medium" pitchFamily="2" charset="0"/>
                <a:cs typeface="Samsung Sharp Sans Medium" pitchFamily="2" charset="0"/>
              </a:rPr>
              <a:t>Learning</a:t>
            </a:r>
            <a:endParaRPr lang="ko-KR" altLang="en-US" sz="900" dirty="0">
              <a:solidFill>
                <a:schemeClr val="bg1">
                  <a:lumMod val="50000"/>
                </a:schemeClr>
              </a:solidFill>
              <a:latin typeface="Samsung Sharp Sans Medium" pitchFamily="2" charset="0"/>
              <a:ea typeface="Samsung Sharp Sans Medium" pitchFamily="2" charset="0"/>
              <a:cs typeface="Samsung Sharp Sans Medium" pitchFamily="2" charset="0"/>
            </a:endParaRPr>
          </a:p>
        </p:txBody>
      </p:sp>
    </p:spTree>
    <p:extLst>
      <p:ext uri="{BB962C8B-B14F-4D97-AF65-F5344CB8AC3E}">
        <p14:creationId xmlns:p14="http://schemas.microsoft.com/office/powerpoint/2010/main" val="1257613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more">
    <p:spTree>
      <p:nvGrpSpPr>
        <p:cNvPr id="1" name=""/>
        <p:cNvGrpSpPr/>
        <p:nvPr/>
      </p:nvGrpSpPr>
      <p:grpSpPr>
        <a:xfrm>
          <a:off x="0" y="0"/>
          <a:ext cx="0" cy="0"/>
          <a:chOff x="0" y="0"/>
          <a:chExt cx="0" cy="0"/>
        </a:xfrm>
      </p:grpSpPr>
      <p:grpSp>
        <p:nvGrpSpPr>
          <p:cNvPr id="17" name="그룹 16">
            <a:extLst>
              <a:ext uri="{FF2B5EF4-FFF2-40B4-BE49-F238E27FC236}">
                <a16:creationId xmlns:a16="http://schemas.microsoft.com/office/drawing/2014/main" id="{8F9D91F2-1DA9-4775-A2F4-3EA836FC8AC8}"/>
              </a:ext>
            </a:extLst>
          </p:cNvPr>
          <p:cNvGrpSpPr/>
          <p:nvPr userDrawn="1"/>
        </p:nvGrpSpPr>
        <p:grpSpPr>
          <a:xfrm>
            <a:off x="0" y="1"/>
            <a:ext cx="9902825" cy="999802"/>
            <a:chOff x="0" y="1"/>
            <a:chExt cx="9906000" cy="999802"/>
          </a:xfrm>
        </p:grpSpPr>
        <p:sp>
          <p:nvSpPr>
            <p:cNvPr id="18" name="직사각형 17">
              <a:extLst>
                <a:ext uri="{FF2B5EF4-FFF2-40B4-BE49-F238E27FC236}">
                  <a16:creationId xmlns:a16="http://schemas.microsoft.com/office/drawing/2014/main"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19" name="직사각형 18">
              <a:extLst>
                <a:ext uri="{FF2B5EF4-FFF2-40B4-BE49-F238E27FC236}">
                  <a16:creationId xmlns:a16="http://schemas.microsoft.com/office/drawing/2014/main"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grpSp>
      <p:cxnSp>
        <p:nvCxnSpPr>
          <p:cNvPr id="20" name="직선 연결선 19">
            <a:extLst>
              <a:ext uri="{FF2B5EF4-FFF2-40B4-BE49-F238E27FC236}">
                <a16:creationId xmlns:a16="http://schemas.microsoft.com/office/drawing/2014/main" id="{F763F9BA-EE85-4466-9F91-463051CFC433}"/>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id="{83DE29B4-2918-48DA-8AAD-6689F9D9B25F}"/>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id="{3C9B8629-554D-4DBE-9C51-F645BAD954BC}"/>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grpSp>
        <p:nvGrpSpPr>
          <p:cNvPr id="7" name="그룹 6">
            <a:extLst>
              <a:ext uri="{FF2B5EF4-FFF2-40B4-BE49-F238E27FC236}">
                <a16:creationId xmlns:a16="http://schemas.microsoft.com/office/drawing/2014/main" id="{FDEC6B4D-744D-4E9D-89EE-6B4FB27E7344}"/>
              </a:ext>
            </a:extLst>
          </p:cNvPr>
          <p:cNvGrpSpPr/>
          <p:nvPr userDrawn="1"/>
        </p:nvGrpSpPr>
        <p:grpSpPr>
          <a:xfrm>
            <a:off x="449468" y="1462227"/>
            <a:ext cx="9000714" cy="4500283"/>
            <a:chOff x="449612" y="1219200"/>
            <a:chExt cx="9003600" cy="4500283"/>
          </a:xfrm>
        </p:grpSpPr>
        <p:grpSp>
          <p:nvGrpSpPr>
            <p:cNvPr id="2" name="그룹 1">
              <a:extLst>
                <a:ext uri="{FF2B5EF4-FFF2-40B4-BE49-F238E27FC236}">
                  <a16:creationId xmlns:a16="http://schemas.microsoft.com/office/drawing/2014/main" id="{15B09C5B-34F7-4FED-9E9F-30D9359F898E}"/>
                </a:ext>
              </a:extLst>
            </p:cNvPr>
            <p:cNvGrpSpPr/>
            <p:nvPr userDrawn="1"/>
          </p:nvGrpSpPr>
          <p:grpSpPr>
            <a:xfrm>
              <a:off x="449612" y="1219200"/>
              <a:ext cx="9003600" cy="4500283"/>
              <a:chOff x="578678" y="1445207"/>
              <a:chExt cx="8748000" cy="4136077"/>
            </a:xfrm>
          </p:grpSpPr>
          <p:sp>
            <p:nvSpPr>
              <p:cNvPr id="3" name="직사각형 2"/>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sp>
            <p:nvSpPr>
              <p:cNvPr id="4" name="직사각형 3"/>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sp>
            <p:nvSpPr>
              <p:cNvPr id="29" name="이등변 삼각형 28"/>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grpSp>
        <p:grpSp>
          <p:nvGrpSpPr>
            <p:cNvPr id="24" name="그룹 23">
              <a:extLst>
                <a:ext uri="{FF2B5EF4-FFF2-40B4-BE49-F238E27FC236}">
                  <a16:creationId xmlns:a16="http://schemas.microsoft.com/office/drawing/2014/main" id="{13D70919-1A43-46D4-9CAD-A2E01D8807D4}"/>
                </a:ext>
              </a:extLst>
            </p:cNvPr>
            <p:cNvGrpSpPr/>
            <p:nvPr userDrawn="1"/>
          </p:nvGrpSpPr>
          <p:grpSpPr>
            <a:xfrm>
              <a:off x="747834" y="2165797"/>
              <a:ext cx="8539600" cy="1267182"/>
              <a:chOff x="805623" y="2423005"/>
              <a:chExt cx="8539600" cy="1267182"/>
            </a:xfrm>
          </p:grpSpPr>
          <p:grpSp>
            <p:nvGrpSpPr>
              <p:cNvPr id="25" name="그룹 24">
                <a:extLst>
                  <a:ext uri="{FF2B5EF4-FFF2-40B4-BE49-F238E27FC236}">
                    <a16:creationId xmlns:a16="http://schemas.microsoft.com/office/drawing/2014/main"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Prevent collaboration cheating</a:t>
                  </a:r>
                </a:p>
              </p:txBody>
            </p:sp>
            <p:sp>
              <p:nvSpPr>
                <p:cNvPr id="28" name="직사각형 27">
                  <a:extLst>
                    <a:ext uri="{FF2B5EF4-FFF2-40B4-BE49-F238E27FC236}">
                      <a16:creationId xmlns:a16="http://schemas.microsoft.com/office/drawing/2014/main"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The challenge for the teacher is to find ways to assess individual outcomes, while leveraging the benefits of collaboration. How do you know whether a student learned or cheated? Experts recommend revisiting course design and assessment, as well as explicitly and concretely discussing with the students on behaviors that will be interpreted as cheating. Experts encourage teachers to make assignments meaningful to students and to explain the value of what students will learn by completing them.</a:t>
                  </a:r>
                </a:p>
              </p:txBody>
            </p:sp>
          </p:grpSp>
          <p:sp>
            <p:nvSpPr>
              <p:cNvPr id="26" name="직사각형 25">
                <a:extLst>
                  <a:ext uri="{FF2B5EF4-FFF2-40B4-BE49-F238E27FC236}">
                    <a16:creationId xmlns:a16="http://schemas.microsoft.com/office/drawing/2014/main"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solidFill>
                    <a:prstClr val="white"/>
                  </a:solidFill>
                  <a:latin typeface="SamsungOne 400" panose="020B0503030303020204" pitchFamily="34" charset="0"/>
                </a:endParaRPr>
              </a:p>
            </p:txBody>
          </p:sp>
        </p:grpSp>
        <p:grpSp>
          <p:nvGrpSpPr>
            <p:cNvPr id="30" name="그룹 29">
              <a:extLst>
                <a:ext uri="{FF2B5EF4-FFF2-40B4-BE49-F238E27FC236}">
                  <a16:creationId xmlns:a16="http://schemas.microsoft.com/office/drawing/2014/main" id="{EA101DA7-28A0-4825-8294-91ED14409235}"/>
                </a:ext>
              </a:extLst>
            </p:cNvPr>
            <p:cNvGrpSpPr/>
            <p:nvPr userDrawn="1"/>
          </p:nvGrpSpPr>
          <p:grpSpPr>
            <a:xfrm>
              <a:off x="747834" y="3595777"/>
              <a:ext cx="8539600" cy="1876451"/>
              <a:chOff x="805623" y="3889855"/>
              <a:chExt cx="8539600" cy="1876451"/>
            </a:xfrm>
          </p:grpSpPr>
          <p:grpSp>
            <p:nvGrpSpPr>
              <p:cNvPr id="31" name="그룹 30">
                <a:extLst>
                  <a:ext uri="{FF2B5EF4-FFF2-40B4-BE49-F238E27FC236}">
                    <a16:creationId xmlns:a16="http://schemas.microsoft.com/office/drawing/2014/main" id="{6D52BA93-54E3-4CA4-81A3-AAAA6FD74E74}"/>
                  </a:ext>
                </a:extLst>
              </p:cNvPr>
              <p:cNvGrpSpPr/>
              <p:nvPr/>
            </p:nvGrpSpPr>
            <p:grpSpPr>
              <a:xfrm>
                <a:off x="958539" y="3889855"/>
                <a:ext cx="8386684" cy="1876451"/>
                <a:chOff x="1098894" y="2558690"/>
                <a:chExt cx="8386684" cy="1876451"/>
              </a:xfrm>
            </p:grpSpPr>
            <p:sp>
              <p:nvSpPr>
                <p:cNvPr id="33" name="직사각형 32">
                  <a:extLst>
                    <a:ext uri="{FF2B5EF4-FFF2-40B4-BE49-F238E27FC236}">
                      <a16:creationId xmlns:a16="http://schemas.microsoft.com/office/drawing/2014/main"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Collaborative learning environment</a:t>
                  </a:r>
                </a:p>
              </p:txBody>
            </p:sp>
            <p:sp>
              <p:nvSpPr>
                <p:cNvPr id="34" name="직사각형 33">
                  <a:extLst>
                    <a:ext uri="{FF2B5EF4-FFF2-40B4-BE49-F238E27FC236}">
                      <a16:creationId xmlns:a16="http://schemas.microsoft.com/office/drawing/2014/main" id="{A138E381-77DA-4306-A103-3A1DDA69FDFA}"/>
                    </a:ext>
                  </a:extLst>
                </p:cNvPr>
                <p:cNvSpPr/>
                <p:nvPr/>
              </p:nvSpPr>
              <p:spPr>
                <a:xfrm>
                  <a:off x="1098894" y="2799950"/>
                  <a:ext cx="8386684" cy="16351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 400" panose="020B0503030303020204" pitchFamily="34" charset="0"/>
                      <a:ea typeface="SamsungOne 400" panose="020B0503030303020204" pitchFamily="34" charset="0"/>
                      <a:cs typeface="Malgun Gothic Semilight" panose="020B0503020000020004" pitchFamily="34" charset="-127"/>
                    </a:rPr>
                    <a:t>A collaborative learning environment occurs anytime an instructor requires students to work together on learning activities. Collaborative learning environments can involve both formal and informal activities and may or may not include direct assessment. For example, pairs of students work on programming assignments; small groups of students discuss possible answers to a professor’s question during lecture; and students work together outside of class to learn new concepts. Collaborative learning is distinct from projects where students “divide and conquer.” When students divide the work, each is responsible for only part of the problem solving and there are very limited opportunities for working through problems with others. In collaborative environments, students are engaged in intellectual talk with each other.</a:t>
                  </a:r>
                </a:p>
              </p:txBody>
            </p:sp>
          </p:grpSp>
          <p:sp>
            <p:nvSpPr>
              <p:cNvPr id="32" name="직사각형 31">
                <a:extLst>
                  <a:ext uri="{FF2B5EF4-FFF2-40B4-BE49-F238E27FC236}">
                    <a16:creationId xmlns:a16="http://schemas.microsoft.com/office/drawing/2014/main"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solidFill>
                    <a:prstClr val="white"/>
                  </a:solidFill>
                  <a:latin typeface="SamsungOne 400" panose="020B0503030303020204" pitchFamily="34" charset="0"/>
                </a:endParaRPr>
              </a:p>
            </p:txBody>
          </p:sp>
        </p:grpSp>
        <p:grpSp>
          <p:nvGrpSpPr>
            <p:cNvPr id="40" name="그룹 39">
              <a:extLst>
                <a:ext uri="{FF2B5EF4-FFF2-40B4-BE49-F238E27FC236}">
                  <a16:creationId xmlns:a16="http://schemas.microsoft.com/office/drawing/2014/main" id="{D8D49945-C464-4DDD-ADD7-9189776293B8}"/>
                </a:ext>
              </a:extLst>
            </p:cNvPr>
            <p:cNvGrpSpPr/>
            <p:nvPr userDrawn="1"/>
          </p:nvGrpSpPr>
          <p:grpSpPr>
            <a:xfrm>
              <a:off x="589808" y="1345444"/>
              <a:ext cx="6615664" cy="430887"/>
              <a:chOff x="790976" y="1592058"/>
              <a:chExt cx="6615664" cy="430887"/>
            </a:xfrm>
          </p:grpSpPr>
          <p:sp>
            <p:nvSpPr>
              <p:cNvPr id="41" name="직사각형 40">
                <a:extLst>
                  <a:ext uri="{FF2B5EF4-FFF2-40B4-BE49-F238E27FC236}">
                    <a16:creationId xmlns:a16="http://schemas.microsoft.com/office/drawing/2014/main"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799" b="1" dirty="0">
                    <a:solidFill>
                      <a:srgbClr val="0D0D0D"/>
                    </a:solidFill>
                    <a:latin typeface="Samsung Sharp Sans" pitchFamily="2" charset="0"/>
                    <a:ea typeface="Samsung Sharp Sans" pitchFamily="2" charset="0"/>
                    <a:cs typeface="Samsung Sharp Sans" pitchFamily="2" charset="0"/>
                  </a:rPr>
                  <a:t>Pair Programming Practice</a:t>
                </a:r>
              </a:p>
            </p:txBody>
          </p:sp>
          <p:pic>
            <p:nvPicPr>
              <p:cNvPr id="42" name="그림 41">
                <a:extLst>
                  <a:ext uri="{FF2B5EF4-FFF2-40B4-BE49-F238E27FC236}">
                    <a16:creationId xmlns:a16="http://schemas.microsoft.com/office/drawing/2014/main"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grpSp>
      <p:sp>
        <p:nvSpPr>
          <p:cNvPr id="35"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Chapter 5. Machine Learning 1 – Supervised </a:t>
            </a:r>
            <a:r>
              <a:rPr lang="en-US" altLang="ko-KR" sz="900" baseline="0" dirty="0">
                <a:solidFill>
                  <a:schemeClr val="bg1">
                    <a:lumMod val="50000"/>
                  </a:schemeClr>
                </a:solidFill>
                <a:latin typeface="Samsung Sharp Sans Medium" pitchFamily="2" charset="0"/>
                <a:ea typeface="Samsung Sharp Sans Medium" pitchFamily="2" charset="0"/>
                <a:cs typeface="Samsung Sharp Sans Medium" pitchFamily="2" charset="0"/>
              </a:rPr>
              <a:t>Learning</a:t>
            </a:r>
            <a:endParaRPr lang="ko-KR" altLang="en-US" sz="900" dirty="0">
              <a:solidFill>
                <a:schemeClr val="bg1">
                  <a:lumMod val="50000"/>
                </a:schemeClr>
              </a:solidFill>
              <a:latin typeface="Samsung Sharp Sans Medium" pitchFamily="2" charset="0"/>
              <a:ea typeface="Samsung Sharp Sans Medium" pitchFamily="2" charset="0"/>
              <a:cs typeface="Samsung Sharp Sans Medium" pitchFamily="2" charset="0"/>
            </a:endParaRPr>
          </a:p>
        </p:txBody>
      </p:sp>
    </p:spTree>
    <p:extLst>
      <p:ext uri="{BB962C8B-B14F-4D97-AF65-F5344CB8AC3E}">
        <p14:creationId xmlns:p14="http://schemas.microsoft.com/office/powerpoint/2010/main" val="1051392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sp>
        <p:nvSpPr>
          <p:cNvPr id="3" name="직사각형 2"/>
          <p:cNvSpPr/>
          <p:nvPr userDrawn="1"/>
        </p:nvSpPr>
        <p:spPr>
          <a:xfrm>
            <a:off x="451162" y="1220478"/>
            <a:ext cx="8999020" cy="811746"/>
          </a:xfrm>
          <a:prstGeom prst="rect">
            <a:avLst/>
          </a:prstGeom>
          <a:solidFill>
            <a:srgbClr val="ECEFF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sp>
        <p:nvSpPr>
          <p:cNvPr id="4" name="직사각형 3"/>
          <p:cNvSpPr/>
          <p:nvPr userDrawn="1"/>
        </p:nvSpPr>
        <p:spPr>
          <a:xfrm>
            <a:off x="451162" y="2070324"/>
            <a:ext cx="8999020" cy="4231864"/>
          </a:xfrm>
          <a:prstGeom prst="rect">
            <a:avLst/>
          </a:prstGeom>
          <a:solidFill>
            <a:srgbClr val="ECEFF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sp>
        <p:nvSpPr>
          <p:cNvPr id="5" name="직사각형 4">
            <a:extLst>
              <a:ext uri="{FF2B5EF4-FFF2-40B4-BE49-F238E27FC236}">
                <a16:creationId xmlns:a16="http://schemas.microsoft.com/office/drawing/2014/main" id="{3B885908-D506-4EF6-8EA9-375133536ADE}"/>
              </a:ext>
            </a:extLst>
          </p:cNvPr>
          <p:cNvSpPr/>
          <p:nvPr userDrawn="1"/>
        </p:nvSpPr>
        <p:spPr>
          <a:xfrm>
            <a:off x="646276" y="1415780"/>
            <a:ext cx="1059197"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3199" dirty="0">
                <a:solidFill>
                  <a:srgbClr val="0D0D0D"/>
                </a:solidFill>
                <a:latin typeface="Samsung Sharp Sans" pitchFamily="2" charset="0"/>
                <a:ea typeface="Samsung Sharp Sans" pitchFamily="2" charset="0"/>
                <a:cs typeface="Samsung Sharp Sans" pitchFamily="2" charset="0"/>
              </a:rPr>
              <a:t>Q1.</a:t>
            </a:r>
          </a:p>
        </p:txBody>
      </p:sp>
      <p:pic>
        <p:nvPicPr>
          <p:cNvPr id="22" name="그림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2139" y="5406365"/>
            <a:ext cx="112868" cy="109719"/>
          </a:xfrm>
          <a:prstGeom prst="rect">
            <a:avLst/>
          </a:prstGeom>
        </p:spPr>
      </p:pic>
      <p:cxnSp>
        <p:nvCxnSpPr>
          <p:cNvPr id="14" name="직선 연결선 13">
            <a:extLst>
              <a:ext uri="{FF2B5EF4-FFF2-40B4-BE49-F238E27FC236}">
                <a16:creationId xmlns:a16="http://schemas.microsoft.com/office/drawing/2014/main" id="{3BBBBCF4-8F64-4C44-B381-7016C297D04F}"/>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슬라이드 번호 개체 틀 15">
            <a:extLst>
              <a:ext uri="{FF2B5EF4-FFF2-40B4-BE49-F238E27FC236}">
                <a16:creationId xmlns:a16="http://schemas.microsoft.com/office/drawing/2014/main" id="{2FC1FA6A-7119-4287-A121-C31068A9FCD3}"/>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id="{94BFF8EC-69D9-42AE-A84D-CEFDE15AD513}"/>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grpSp>
        <p:nvGrpSpPr>
          <p:cNvPr id="27" name="그룹 26">
            <a:extLst>
              <a:ext uri="{FF2B5EF4-FFF2-40B4-BE49-F238E27FC236}">
                <a16:creationId xmlns:a16="http://schemas.microsoft.com/office/drawing/2014/main" id="{A3338F14-C71C-49FB-9B8F-636CAA3F7EFA}"/>
              </a:ext>
            </a:extLst>
          </p:cNvPr>
          <p:cNvGrpSpPr/>
          <p:nvPr userDrawn="1"/>
        </p:nvGrpSpPr>
        <p:grpSpPr>
          <a:xfrm>
            <a:off x="0" y="1"/>
            <a:ext cx="9902825" cy="999802"/>
            <a:chOff x="0" y="1"/>
            <a:chExt cx="9906000" cy="999802"/>
          </a:xfrm>
        </p:grpSpPr>
        <p:sp>
          <p:nvSpPr>
            <p:cNvPr id="28" name="직사각형 27">
              <a:extLst>
                <a:ext uri="{FF2B5EF4-FFF2-40B4-BE49-F238E27FC236}">
                  <a16:creationId xmlns:a16="http://schemas.microsoft.com/office/drawing/2014/main" id="{845141B1-0821-46A7-A897-9E66E1D5B440}"/>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
          <p:nvSpPr>
            <p:cNvPr id="29" name="직사각형 28">
              <a:extLst>
                <a:ext uri="{FF2B5EF4-FFF2-40B4-BE49-F238E27FC236}">
                  <a16:creationId xmlns:a16="http://schemas.microsoft.com/office/drawing/2014/main" id="{1C7333F1-B594-4B0D-BB31-CF147773CE81}"/>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grpSp>
      <p:sp>
        <p:nvSpPr>
          <p:cNvPr id="13"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Chapter 5. Machine Learning 1 – Supervised </a:t>
            </a:r>
            <a:r>
              <a:rPr lang="en-US" altLang="ko-KR" sz="900" baseline="0" dirty="0">
                <a:solidFill>
                  <a:schemeClr val="bg1">
                    <a:lumMod val="50000"/>
                  </a:schemeClr>
                </a:solidFill>
                <a:latin typeface="Samsung Sharp Sans Medium" pitchFamily="2" charset="0"/>
                <a:ea typeface="Samsung Sharp Sans Medium" pitchFamily="2" charset="0"/>
                <a:cs typeface="Samsung Sharp Sans Medium" pitchFamily="2" charset="0"/>
              </a:rPr>
              <a:t>Learning</a:t>
            </a:r>
            <a:endParaRPr lang="ko-KR" altLang="en-US" sz="900" dirty="0">
              <a:solidFill>
                <a:schemeClr val="bg1">
                  <a:lumMod val="50000"/>
                </a:schemeClr>
              </a:solidFill>
              <a:latin typeface="Samsung Sharp Sans Medium" pitchFamily="2" charset="0"/>
              <a:ea typeface="Samsung Sharp Sans Medium" pitchFamily="2" charset="0"/>
              <a:cs typeface="Samsung Sharp Sans Medium" pitchFamily="2" charset="0"/>
            </a:endParaRPr>
          </a:p>
        </p:txBody>
      </p:sp>
    </p:spTree>
    <p:extLst>
      <p:ext uri="{BB962C8B-B14F-4D97-AF65-F5344CB8AC3E}">
        <p14:creationId xmlns:p14="http://schemas.microsoft.com/office/powerpoint/2010/main" val="185172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ody">
    <p:spTree>
      <p:nvGrpSpPr>
        <p:cNvPr id="1" name=""/>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cxnSp>
        <p:nvCxnSpPr>
          <p:cNvPr id="7" name="직선 연결선 6"/>
          <p:cNvCxnSpPr/>
          <p:nvPr userDrawn="1"/>
        </p:nvCxnSpPr>
        <p:spPr>
          <a:xfrm>
            <a:off x="449468" y="900000"/>
            <a:ext cx="9000714" cy="0"/>
          </a:xfrm>
          <a:prstGeom prst="line">
            <a:avLst/>
          </a:prstGeom>
          <a:ln w="15875">
            <a:solidFill>
              <a:srgbClr val="0924A5"/>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Chapter 5. Machine Learning 1 – Supervised </a:t>
            </a:r>
            <a:r>
              <a:rPr lang="en-US" altLang="ko-KR" sz="900" baseline="0" dirty="0">
                <a:solidFill>
                  <a:schemeClr val="bg1">
                    <a:lumMod val="50000"/>
                  </a:schemeClr>
                </a:solidFill>
                <a:latin typeface="Samsung Sharp Sans Medium" pitchFamily="2" charset="0"/>
                <a:ea typeface="Samsung Sharp Sans Medium" pitchFamily="2" charset="0"/>
                <a:cs typeface="Samsung Sharp Sans Medium" pitchFamily="2" charset="0"/>
              </a:rPr>
              <a:t>Learning</a:t>
            </a:r>
            <a:endParaRPr lang="ko-KR" altLang="en-US" sz="900" dirty="0">
              <a:solidFill>
                <a:schemeClr val="bg1">
                  <a:lumMod val="50000"/>
                </a:schemeClr>
              </a:solidFill>
              <a:latin typeface="Samsung Sharp Sans Medium" pitchFamily="2" charset="0"/>
              <a:ea typeface="Samsung Sharp Sans Medium" pitchFamily="2" charset="0"/>
              <a:cs typeface="Samsung Sharp Sans Medium" pitchFamily="2" charset="0"/>
            </a:endParaRPr>
          </a:p>
        </p:txBody>
      </p:sp>
    </p:spTree>
    <p:extLst>
      <p:ext uri="{BB962C8B-B14F-4D97-AF65-F5344CB8AC3E}">
        <p14:creationId xmlns:p14="http://schemas.microsoft.com/office/powerpoint/2010/main" val="895499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ast">
    <p:spTree>
      <p:nvGrpSpPr>
        <p:cNvPr id="1" name=""/>
        <p:cNvGrpSpPr/>
        <p:nvPr/>
      </p:nvGrpSpPr>
      <p:grpSpPr>
        <a:xfrm>
          <a:off x="0" y="0"/>
          <a:ext cx="0" cy="0"/>
          <a:chOff x="0" y="0"/>
          <a:chExt cx="0" cy="0"/>
        </a:xfrm>
      </p:grpSpPr>
      <p:pic>
        <p:nvPicPr>
          <p:cNvPr id="6" name="그림 2">
            <a:extLst>
              <a:ext uri="{FF2B5EF4-FFF2-40B4-BE49-F238E27FC236}">
                <a16:creationId xmlns:a16="http://schemas.microsoft.com/office/drawing/2014/main"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4395"/>
            <a:ext cx="9899651" cy="6853605"/>
          </a:xfrm>
          <a:prstGeom prst="rect">
            <a:avLst/>
          </a:prstGeom>
        </p:spPr>
      </p:pic>
      <p:sp>
        <p:nvSpPr>
          <p:cNvPr id="2" name="직사각형 1"/>
          <p:cNvSpPr/>
          <p:nvPr userDrawn="1"/>
        </p:nvSpPr>
        <p:spPr>
          <a:xfrm>
            <a:off x="2" y="0"/>
            <a:ext cx="9899651"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59"/>
          </a:p>
        </p:txBody>
      </p:sp>
      <p:sp>
        <p:nvSpPr>
          <p:cNvPr id="7" name="직사각형 6">
            <a:extLst>
              <a:ext uri="{FF2B5EF4-FFF2-40B4-BE49-F238E27FC236}">
                <a16:creationId xmlns:a16="http://schemas.microsoft.com/office/drawing/2014/main" id="{782B242C-8600-47F0-98D5-6EA512C41BF2}"/>
              </a:ext>
            </a:extLst>
          </p:cNvPr>
          <p:cNvSpPr/>
          <p:nvPr userDrawn="1"/>
        </p:nvSpPr>
        <p:spPr>
          <a:xfrm>
            <a:off x="449468" y="5677032"/>
            <a:ext cx="9000714"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 panose="020B0503030303020204" pitchFamily="34" charset="0"/>
                <a:cs typeface="+mn-cs"/>
              </a:rPr>
              <a:t>ⓒ</a:t>
            </a: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2023 SAMSUNG. All rights reserved.</a:t>
            </a:r>
          </a:p>
          <a:p>
            <a:pPr marL="0" marR="0" lvl="0" indent="0" algn="l" defTabSz="914126"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Samsung Electronics Corporate Citizenship Office holds the copyright of book.</a:t>
            </a:r>
          </a:p>
          <a:p>
            <a:pPr marL="0" marR="0" lvl="0" indent="0" algn="l" defTabSz="914126"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This book is a literary property protected by copyright law so reprint and reproduction without permission are prohibited. </a:t>
            </a:r>
          </a:p>
          <a:p>
            <a:pPr marL="0" marR="0" lvl="0" indent="0" algn="l" defTabSz="914126"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To use this book other than the curriculum of Samsung Innovation Campus or to use the entire or part of this book, you must receive written consent from copyright holder.</a:t>
            </a:r>
          </a:p>
        </p:txBody>
      </p:sp>
      <p:pic>
        <p:nvPicPr>
          <p:cNvPr id="10" name="그림 3">
            <a:extLst>
              <a:ext uri="{FF2B5EF4-FFF2-40B4-BE49-F238E27FC236}">
                <a16:creationId xmlns:a16="http://schemas.microsoft.com/office/drawing/2014/main"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1822" y="3022951"/>
            <a:ext cx="2476006" cy="812098"/>
          </a:xfrm>
          <a:prstGeom prst="rect">
            <a:avLst/>
          </a:prstGeom>
        </p:spPr>
      </p:pic>
      <p:sp>
        <p:nvSpPr>
          <p:cNvPr id="9"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90568"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spTree>
    <p:extLst>
      <p:ext uri="{BB962C8B-B14F-4D97-AF65-F5344CB8AC3E}">
        <p14:creationId xmlns:p14="http://schemas.microsoft.com/office/powerpoint/2010/main" val="2376301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ody">
    <p:bg>
      <p:bgPr>
        <a:solidFill>
          <a:schemeClr val="bg1">
            <a:lumMod val="95000"/>
          </a:schemeClr>
        </a:solidFill>
        <a:effectLst/>
      </p:bgPr>
    </p:bg>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5"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Tree>
    <p:extLst>
      <p:ext uri="{BB962C8B-B14F-4D97-AF65-F5344CB8AC3E}">
        <p14:creationId xmlns:p14="http://schemas.microsoft.com/office/powerpoint/2010/main" val="17266682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ront Cover">
    <p:bg>
      <p:bgPr>
        <a:solidFill>
          <a:schemeClr val="bg1">
            <a:lumMod val="95000"/>
          </a:schemeClr>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6"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Tree>
    <p:extLst>
      <p:ext uri="{BB962C8B-B14F-4D97-AF65-F5344CB8AC3E}">
        <p14:creationId xmlns:p14="http://schemas.microsoft.com/office/powerpoint/2010/main" val="36828224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reak Time Slide">
    <p:spTree>
      <p:nvGrpSpPr>
        <p:cNvPr id="1" name=""/>
        <p:cNvGrpSpPr/>
        <p:nvPr/>
      </p:nvGrpSpPr>
      <p:grpSpPr>
        <a:xfrm>
          <a:off x="0" y="0"/>
          <a:ext cx="0" cy="0"/>
          <a:chOff x="0" y="0"/>
          <a:chExt cx="0" cy="0"/>
        </a:xfrm>
      </p:grpSpPr>
      <p:sp>
        <p:nvSpPr>
          <p:cNvPr id="2" name="슬라이드 번호 개체 틀 15">
            <a:extLst>
              <a:ext uri="{FF2B5EF4-FFF2-40B4-BE49-F238E27FC236}">
                <a16:creationId xmlns:a16="http://schemas.microsoft.com/office/drawing/2014/main" id="{1B2B22C2-BBD9-4044-B049-D10CDF14FDE6}"/>
              </a:ext>
            </a:extLst>
          </p:cNvPr>
          <p:cNvSpPr txBox="1">
            <a:spLocks/>
          </p:cNvSpPr>
          <p:nvPr userDrawn="1"/>
        </p:nvSpPr>
        <p:spPr>
          <a:xfrm>
            <a:off x="4905739" y="6347711"/>
            <a:ext cx="3852017"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1100" dirty="0">
                <a:solidFill>
                  <a:schemeClr val="bg1">
                    <a:lumMod val="50000"/>
                  </a:schemeClr>
                </a:solidFill>
                <a:latin typeface="Samsung Sharp Sans Medium" pitchFamily="2" charset="0"/>
                <a:ea typeface="Samsung Sharp Sans Medium" pitchFamily="2" charset="0"/>
                <a:cs typeface="Samsung Sharp Sans Medium" pitchFamily="2" charset="0"/>
              </a:rPr>
              <a:t>Chapter 5. Machine Learning 1 – Supervised </a:t>
            </a:r>
            <a:r>
              <a:rPr lang="en-US" altLang="ko-KR" sz="1100" baseline="0" dirty="0">
                <a:solidFill>
                  <a:schemeClr val="bg1">
                    <a:lumMod val="50000"/>
                  </a:schemeClr>
                </a:solidFill>
                <a:latin typeface="Samsung Sharp Sans Medium" pitchFamily="2" charset="0"/>
                <a:ea typeface="Samsung Sharp Sans Medium" pitchFamily="2" charset="0"/>
                <a:cs typeface="Samsung Sharp Sans Medium" pitchFamily="2" charset="0"/>
              </a:rPr>
              <a:t>Learning</a:t>
            </a:r>
            <a:endParaRPr lang="ko-KR" altLang="en-US" sz="1100" dirty="0">
              <a:solidFill>
                <a:schemeClr val="bg1">
                  <a:lumMod val="50000"/>
                </a:schemeClr>
              </a:solidFill>
              <a:latin typeface="Samsung Sharp Sans Medium" pitchFamily="2" charset="0"/>
              <a:ea typeface="Samsung Sharp Sans Medium" pitchFamily="2" charset="0"/>
              <a:cs typeface="Samsung Sharp Sans Medium" pitchFamily="2" charset="0"/>
            </a:endParaRPr>
          </a:p>
        </p:txBody>
      </p:sp>
      <p:sp>
        <p:nvSpPr>
          <p:cNvPr id="3" name="슬라이드 번호 개체 틀 15">
            <a:extLst>
              <a:ext uri="{FF2B5EF4-FFF2-40B4-BE49-F238E27FC236}">
                <a16:creationId xmlns:a16="http://schemas.microsoft.com/office/drawing/2014/main" id="{8C6D6C91-60C1-41CF-B03F-1735A6A41637}"/>
              </a:ext>
            </a:extLst>
          </p:cNvPr>
          <p:cNvSpPr txBox="1">
            <a:spLocks/>
          </p:cNvSpPr>
          <p:nvPr userDrawn="1"/>
        </p:nvSpPr>
        <p:spPr>
          <a:xfrm>
            <a:off x="8805867" y="6347726"/>
            <a:ext cx="538163" cy="169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1100" smtClean="0">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r>
              <a:rPr lang="en-US" altLang="ko-KR" sz="11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rPr>
              <a:t>/44</a:t>
            </a:r>
          </a:p>
        </p:txBody>
      </p:sp>
    </p:spTree>
    <p:extLst>
      <p:ext uri="{BB962C8B-B14F-4D97-AF65-F5344CB8AC3E}">
        <p14:creationId xmlns:p14="http://schemas.microsoft.com/office/powerpoint/2010/main" val="16199758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7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4735388" y="6498001"/>
            <a:ext cx="446097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Chapter 5. Machine Learning 1 – Supervised </a:t>
            </a:r>
            <a:r>
              <a:rPr lang="en-US" altLang="ko-KR" sz="900" baseline="0" dirty="0">
                <a:solidFill>
                  <a:schemeClr val="bg1">
                    <a:lumMod val="50000"/>
                  </a:schemeClr>
                </a:solidFill>
                <a:latin typeface="Samsung Sharp Sans Medium" pitchFamily="2" charset="0"/>
                <a:ea typeface="Samsung Sharp Sans Medium" pitchFamily="2" charset="0"/>
                <a:cs typeface="Samsung Sharp Sans Medium" pitchFamily="2" charset="0"/>
              </a:rPr>
              <a:t>Learning</a:t>
            </a:r>
            <a:endParaRPr lang="ko-KR" altLang="en-US" sz="900" dirty="0">
              <a:solidFill>
                <a:schemeClr val="bg1">
                  <a:lumMod val="50000"/>
                </a:schemeClr>
              </a:solidFill>
              <a:latin typeface="Samsung Sharp Sans Medium" pitchFamily="2" charset="0"/>
              <a:ea typeface="Samsung Sharp Sans Medium" pitchFamily="2" charset="0"/>
              <a:cs typeface="Samsung Sharp Sans Medium" pitchFamily="2" charset="0"/>
            </a:endParaRPr>
          </a:p>
        </p:txBody>
      </p:sp>
    </p:spTree>
    <p:extLst>
      <p:ext uri="{BB962C8B-B14F-4D97-AF65-F5344CB8AC3E}">
        <p14:creationId xmlns:p14="http://schemas.microsoft.com/office/powerpoint/2010/main" val="3252172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322827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7" r:id="rId14"/>
  </p:sldLayoutIdLst>
  <p:txStyles>
    <p:titleStyle>
      <a:lvl1pPr algn="l" defTabSz="914126" rtl="0" eaLnBrk="1" latinLnBrk="1"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1"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1"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1"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1" hangingPunct="1">
        <a:defRPr sz="1799" kern="1200">
          <a:solidFill>
            <a:schemeClr val="tx1"/>
          </a:solidFill>
          <a:latin typeface="+mn-lt"/>
          <a:ea typeface="+mn-ea"/>
          <a:cs typeface="+mn-cs"/>
        </a:defRPr>
      </a:lvl1pPr>
      <a:lvl2pPr marL="457063" algn="l" defTabSz="914126" rtl="0" eaLnBrk="1" latinLnBrk="1" hangingPunct="1">
        <a:defRPr sz="1799" kern="1200">
          <a:solidFill>
            <a:schemeClr val="tx1"/>
          </a:solidFill>
          <a:latin typeface="+mn-lt"/>
          <a:ea typeface="+mn-ea"/>
          <a:cs typeface="+mn-cs"/>
        </a:defRPr>
      </a:lvl2pPr>
      <a:lvl3pPr marL="914126" algn="l" defTabSz="914126" rtl="0" eaLnBrk="1" latinLnBrk="1" hangingPunct="1">
        <a:defRPr sz="1799" kern="1200">
          <a:solidFill>
            <a:schemeClr val="tx1"/>
          </a:solidFill>
          <a:latin typeface="+mn-lt"/>
          <a:ea typeface="+mn-ea"/>
          <a:cs typeface="+mn-cs"/>
        </a:defRPr>
      </a:lvl3pPr>
      <a:lvl4pPr marL="1371189" algn="l" defTabSz="914126" rtl="0" eaLnBrk="1" latinLnBrk="1" hangingPunct="1">
        <a:defRPr sz="1799" kern="1200">
          <a:solidFill>
            <a:schemeClr val="tx1"/>
          </a:solidFill>
          <a:latin typeface="+mn-lt"/>
          <a:ea typeface="+mn-ea"/>
          <a:cs typeface="+mn-cs"/>
        </a:defRPr>
      </a:lvl4pPr>
      <a:lvl5pPr marL="1828251" algn="l" defTabSz="914126" rtl="0" eaLnBrk="1" latinLnBrk="1" hangingPunct="1">
        <a:defRPr sz="1799" kern="1200">
          <a:solidFill>
            <a:schemeClr val="tx1"/>
          </a:solidFill>
          <a:latin typeface="+mn-lt"/>
          <a:ea typeface="+mn-ea"/>
          <a:cs typeface="+mn-cs"/>
        </a:defRPr>
      </a:lvl5pPr>
      <a:lvl6pPr marL="2285314" algn="l" defTabSz="914126" rtl="0" eaLnBrk="1" latinLnBrk="1" hangingPunct="1">
        <a:defRPr sz="1799" kern="1200">
          <a:solidFill>
            <a:schemeClr val="tx1"/>
          </a:solidFill>
          <a:latin typeface="+mn-lt"/>
          <a:ea typeface="+mn-ea"/>
          <a:cs typeface="+mn-cs"/>
        </a:defRPr>
      </a:lvl6pPr>
      <a:lvl7pPr marL="2742377" algn="l" defTabSz="914126" rtl="0" eaLnBrk="1" latinLnBrk="1" hangingPunct="1">
        <a:defRPr sz="1799" kern="1200">
          <a:solidFill>
            <a:schemeClr val="tx1"/>
          </a:solidFill>
          <a:latin typeface="+mn-lt"/>
          <a:ea typeface="+mn-ea"/>
          <a:cs typeface="+mn-cs"/>
        </a:defRPr>
      </a:lvl7pPr>
      <a:lvl8pPr marL="3199440" algn="l" defTabSz="914126" rtl="0" eaLnBrk="1" latinLnBrk="1" hangingPunct="1">
        <a:defRPr sz="1799" kern="1200">
          <a:solidFill>
            <a:schemeClr val="tx1"/>
          </a:solidFill>
          <a:latin typeface="+mn-lt"/>
          <a:ea typeface="+mn-ea"/>
          <a:cs typeface="+mn-cs"/>
        </a:defRPr>
      </a:lvl8pPr>
      <a:lvl9pPr marL="3656503" algn="l" defTabSz="914126" rtl="0" eaLnBrk="1" latinLnBrk="1"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1.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1510.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4.xml"/><Relationship Id="rId5" Type="http://schemas.openxmlformats.org/officeDocument/2006/relationships/image" Target="../media/image24.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4.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4.xml"/><Relationship Id="rId5" Type="http://schemas.openxmlformats.org/officeDocument/2006/relationships/image" Target="../media/image26.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4.xml"/><Relationship Id="rId5" Type="http://schemas.openxmlformats.org/officeDocument/2006/relationships/image" Target="../media/image26.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4.xml"/><Relationship Id="rId5" Type="http://schemas.openxmlformats.org/officeDocument/2006/relationships/image" Target="../media/image32.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4.xml"/><Relationship Id="rId5" Type="http://schemas.openxmlformats.org/officeDocument/2006/relationships/image" Target="../media/image26.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4.xml"/><Relationship Id="rId5" Type="http://schemas.openxmlformats.org/officeDocument/2006/relationships/image" Target="../media/image34.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4.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4.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4.xm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4.xml"/><Relationship Id="rId5" Type="http://schemas.openxmlformats.org/officeDocument/2006/relationships/image" Target="../media/image26.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14.xml"/><Relationship Id="rId5" Type="http://schemas.openxmlformats.org/officeDocument/2006/relationships/image" Target="../media/image410.png"/><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14.xml"/><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14.xml"/><Relationship Id="rId5" Type="http://schemas.openxmlformats.org/officeDocument/2006/relationships/image" Target="../media/image26.pn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14.xml"/><Relationship Id="rId5" Type="http://schemas.openxmlformats.org/officeDocument/2006/relationships/image" Target="../media/image26.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14.xml"/><Relationship Id="rId5" Type="http://schemas.openxmlformats.org/officeDocument/2006/relationships/image" Target="../media/image45.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14.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14.xml"/><Relationship Id="rId6" Type="http://schemas.openxmlformats.org/officeDocument/2006/relationships/image" Target="../media/image26.png"/><Relationship Id="rId5" Type="http://schemas.openxmlformats.org/officeDocument/2006/relationships/image" Target="../media/image47.png"/><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4.xml"/><Relationship Id="rId6" Type="http://schemas.openxmlformats.org/officeDocument/2006/relationships/image" Target="../media/image26.png"/><Relationship Id="rId5" Type="http://schemas.openxmlformats.org/officeDocument/2006/relationships/image" Target="../media/image47.png"/><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14.xml"/><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14.xml"/><Relationship Id="rId5" Type="http://schemas.openxmlformats.org/officeDocument/2006/relationships/image" Target="../media/image26.png"/><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51.png"/><Relationship Id="rId2" Type="http://schemas.openxmlformats.org/officeDocument/2006/relationships/notesSlide" Target="../notesSlides/notesSlide46.xml"/><Relationship Id="rId1" Type="http://schemas.openxmlformats.org/officeDocument/2006/relationships/slideLayout" Target="../slideLayouts/slideLayout14.xml"/><Relationship Id="rId6" Type="http://schemas.openxmlformats.org/officeDocument/2006/relationships/image" Target="../media/image500.png"/><Relationship Id="rId5" Type="http://schemas.openxmlformats.org/officeDocument/2006/relationships/image" Target="../media/image480.png"/><Relationship Id="rId4" Type="http://schemas.openxmlformats.org/officeDocument/2006/relationships/image" Target="../media/image491.png"/></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53.png"/><Relationship Id="rId2" Type="http://schemas.openxmlformats.org/officeDocument/2006/relationships/notesSlide" Target="../notesSlides/notesSlide47.xml"/><Relationship Id="rId1" Type="http://schemas.openxmlformats.org/officeDocument/2006/relationships/slideLayout" Target="../slideLayouts/slideLayout14.xml"/><Relationship Id="rId6" Type="http://schemas.openxmlformats.org/officeDocument/2006/relationships/image" Target="../media/image500.png"/><Relationship Id="rId5" Type="http://schemas.openxmlformats.org/officeDocument/2006/relationships/image" Target="../media/image491.png"/><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4.xml"/><Relationship Id="rId1" Type="http://schemas.openxmlformats.org/officeDocument/2006/relationships/slideLayout" Target="../slideLayouts/slideLayout14.xml"/><Relationship Id="rId4" Type="http://schemas.openxmlformats.org/officeDocument/2006/relationships/image" Target="../media/image50.png"/></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5.xml"/><Relationship Id="rId1" Type="http://schemas.openxmlformats.org/officeDocument/2006/relationships/slideLayout" Target="../slideLayouts/slideLayout14.xml"/><Relationship Id="rId6" Type="http://schemas.openxmlformats.org/officeDocument/2006/relationships/image" Target="../media/image55.png"/><Relationship Id="rId5" Type="http://schemas.openxmlformats.org/officeDocument/2006/relationships/image" Target="../media/image46.png"/><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6.xml"/><Relationship Id="rId1" Type="http://schemas.openxmlformats.org/officeDocument/2006/relationships/slideLayout" Target="../slideLayouts/slideLayout14.xml"/><Relationship Id="rId5" Type="http://schemas.openxmlformats.org/officeDocument/2006/relationships/image" Target="../media/image57.png"/><Relationship Id="rId4" Type="http://schemas.openxmlformats.org/officeDocument/2006/relationships/image" Target="../media/image56.png"/></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1.xml"/><Relationship Id="rId1" Type="http://schemas.openxmlformats.org/officeDocument/2006/relationships/slideLayout" Target="../slideLayouts/slideLayout14.xml"/><Relationship Id="rId4" Type="http://schemas.openxmlformats.org/officeDocument/2006/relationships/image" Target="../media/image58.png"/></Relationships>
</file>

<file path=ppt/slides/_rels/slide6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2.xml"/><Relationship Id="rId1" Type="http://schemas.openxmlformats.org/officeDocument/2006/relationships/slideLayout" Target="../slideLayouts/slideLayout14.xml"/><Relationship Id="rId4" Type="http://schemas.openxmlformats.org/officeDocument/2006/relationships/image" Target="../media/image59.png"/></Relationships>
</file>

<file path=ppt/slides/_rels/slide6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3.xml"/><Relationship Id="rId1" Type="http://schemas.openxmlformats.org/officeDocument/2006/relationships/slideLayout" Target="../slideLayouts/slideLayout14.xml"/><Relationship Id="rId5" Type="http://schemas.openxmlformats.org/officeDocument/2006/relationships/image" Target="../media/image26.png"/><Relationship Id="rId4" Type="http://schemas.openxmlformats.org/officeDocument/2006/relationships/image" Target="../media/image60.png"/></Relationships>
</file>

<file path=ppt/slides/_rels/slide6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4.xml"/><Relationship Id="rId1" Type="http://schemas.openxmlformats.org/officeDocument/2006/relationships/slideLayout" Target="../slideLayouts/slideLayout14.xml"/><Relationship Id="rId5" Type="http://schemas.openxmlformats.org/officeDocument/2006/relationships/image" Target="../media/image61.png"/><Relationship Id="rId4" Type="http://schemas.openxmlformats.org/officeDocument/2006/relationships/image" Target="../media/image26.png"/></Relationships>
</file>

<file path=ppt/slides/_rels/slide6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5.xml"/><Relationship Id="rId1" Type="http://schemas.openxmlformats.org/officeDocument/2006/relationships/slideLayout" Target="../slideLayouts/slideLayout14.xml"/><Relationship Id="rId4" Type="http://schemas.openxmlformats.org/officeDocument/2006/relationships/image" Target="../media/image62.png"/></Relationships>
</file>

<file path=ppt/slides/_rels/slide6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6.xml"/><Relationship Id="rId1" Type="http://schemas.openxmlformats.org/officeDocument/2006/relationships/slideLayout" Target="../slideLayouts/slideLayout14.xml"/><Relationship Id="rId4" Type="http://schemas.openxmlformats.org/officeDocument/2006/relationships/image" Target="../media/image63.png"/></Relationships>
</file>

<file path=ppt/slides/_rels/slide6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7.xml"/><Relationship Id="rId1" Type="http://schemas.openxmlformats.org/officeDocument/2006/relationships/slideLayout" Target="../slideLayouts/slideLayout14.xml"/><Relationship Id="rId4" Type="http://schemas.openxmlformats.org/officeDocument/2006/relationships/image" Target="../media/image64.png"/></Relationships>
</file>

<file path=ppt/slides/_rels/slide6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8.xml"/><Relationship Id="rId1" Type="http://schemas.openxmlformats.org/officeDocument/2006/relationships/slideLayout" Target="../slideLayouts/slideLayout14.xml"/><Relationship Id="rId4" Type="http://schemas.openxmlformats.org/officeDocument/2006/relationships/image" Target="../media/image65.png"/></Relationships>
</file>

<file path=ppt/slides/_rels/slide6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9.xml"/><Relationship Id="rId1" Type="http://schemas.openxmlformats.org/officeDocument/2006/relationships/slideLayout" Target="../slideLayouts/slideLayout14.xml"/><Relationship Id="rId4" Type="http://schemas.openxmlformats.org/officeDocument/2006/relationships/image" Target="../media/image66.png"/></Relationships>
</file>

<file path=ppt/slides/_rels/slide7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0.xml"/><Relationship Id="rId1" Type="http://schemas.openxmlformats.org/officeDocument/2006/relationships/slideLayout" Target="../slideLayouts/slideLayout14.xml"/><Relationship Id="rId4" Type="http://schemas.openxmlformats.org/officeDocument/2006/relationships/image" Target="../media/image67.png"/></Relationships>
</file>

<file path=ppt/slides/_rels/slide7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1.xml"/><Relationship Id="rId1" Type="http://schemas.openxmlformats.org/officeDocument/2006/relationships/slideLayout" Target="../slideLayouts/slideLayout14.xml"/><Relationship Id="rId4" Type="http://schemas.openxmlformats.org/officeDocument/2006/relationships/image" Target="../media/image68.png"/></Relationships>
</file>

<file path=ppt/slides/_rels/slide7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2.xml"/><Relationship Id="rId1" Type="http://schemas.openxmlformats.org/officeDocument/2006/relationships/slideLayout" Target="../slideLayouts/slideLayout14.xml"/><Relationship Id="rId4" Type="http://schemas.openxmlformats.org/officeDocument/2006/relationships/image" Target="../media/image69.png"/></Relationships>
</file>

<file path=ppt/slides/_rels/slide7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3.xml"/><Relationship Id="rId1" Type="http://schemas.openxmlformats.org/officeDocument/2006/relationships/slideLayout" Target="../slideLayouts/slideLayout14.xml"/><Relationship Id="rId4" Type="http://schemas.openxmlformats.org/officeDocument/2006/relationships/image" Target="../media/image70.png"/></Relationships>
</file>

<file path=ppt/slides/_rels/slide7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4.xml"/><Relationship Id="rId1" Type="http://schemas.openxmlformats.org/officeDocument/2006/relationships/slideLayout" Target="../slideLayouts/slideLayout14.xml"/><Relationship Id="rId4" Type="http://schemas.openxmlformats.org/officeDocument/2006/relationships/image" Target="../media/image71.png"/></Relationships>
</file>

<file path=ppt/slides/_rels/slide7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5.xml"/><Relationship Id="rId1" Type="http://schemas.openxmlformats.org/officeDocument/2006/relationships/slideLayout" Target="../slideLayouts/slideLayout14.xml"/><Relationship Id="rId4" Type="http://schemas.openxmlformats.org/officeDocument/2006/relationships/image" Target="../media/image72.png"/></Relationships>
</file>

<file path=ppt/slides/_rels/slide7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6.xml"/><Relationship Id="rId1" Type="http://schemas.openxmlformats.org/officeDocument/2006/relationships/slideLayout" Target="../slideLayouts/slideLayout14.xml"/><Relationship Id="rId5" Type="http://schemas.openxmlformats.org/officeDocument/2006/relationships/image" Target="../media/image26.png"/><Relationship Id="rId4" Type="http://schemas.openxmlformats.org/officeDocument/2006/relationships/image" Target="../media/image73.png"/></Relationships>
</file>

<file path=ppt/slides/_rels/slide7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7.xml"/><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8.xml"/><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9.xml"/><Relationship Id="rId1" Type="http://schemas.openxmlformats.org/officeDocument/2006/relationships/slideLayout" Target="../slideLayouts/slideLayout14.xml"/><Relationship Id="rId4" Type="http://schemas.openxmlformats.org/officeDocument/2006/relationships/image" Target="../media/image74.png"/></Relationships>
</file>

<file path=ppt/slides/_rels/slide8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0.xml"/><Relationship Id="rId1" Type="http://schemas.openxmlformats.org/officeDocument/2006/relationships/slideLayout" Target="../slideLayouts/slideLayout14.xml"/><Relationship Id="rId4" Type="http://schemas.openxmlformats.org/officeDocument/2006/relationships/image" Target="../media/image75.png"/></Relationships>
</file>

<file path=ppt/slides/_rels/slide8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1.xml"/><Relationship Id="rId1" Type="http://schemas.openxmlformats.org/officeDocument/2006/relationships/slideLayout" Target="../slideLayouts/slideLayout14.xml"/><Relationship Id="rId4" Type="http://schemas.openxmlformats.org/officeDocument/2006/relationships/image" Target="../media/image76.png"/></Relationships>
</file>

<file path=ppt/slides/_rels/slide8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2.xml"/><Relationship Id="rId1" Type="http://schemas.openxmlformats.org/officeDocument/2006/relationships/slideLayout" Target="../slideLayouts/slideLayout14.xml"/><Relationship Id="rId4" Type="http://schemas.openxmlformats.org/officeDocument/2006/relationships/image" Target="../media/image77.png"/></Relationships>
</file>

<file path=ppt/slides/_rels/slide8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3.xml"/><Relationship Id="rId1" Type="http://schemas.openxmlformats.org/officeDocument/2006/relationships/slideLayout" Target="../slideLayouts/slideLayout14.xml"/><Relationship Id="rId5" Type="http://schemas.openxmlformats.org/officeDocument/2006/relationships/image" Target="../media/image79.png"/><Relationship Id="rId4" Type="http://schemas.openxmlformats.org/officeDocument/2006/relationships/image" Target="../media/image78.png"/></Relationships>
</file>

<file path=ppt/slides/_rels/slide8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4.xml"/><Relationship Id="rId1" Type="http://schemas.openxmlformats.org/officeDocument/2006/relationships/slideLayout" Target="../slideLayouts/slideLayout14.xml"/><Relationship Id="rId5" Type="http://schemas.openxmlformats.org/officeDocument/2006/relationships/image" Target="../media/image26.png"/><Relationship Id="rId4" Type="http://schemas.openxmlformats.org/officeDocument/2006/relationships/image" Target="../media/image80.png"/></Relationships>
</file>

<file path=ppt/slides/_rels/slide8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5.xml"/><Relationship Id="rId1" Type="http://schemas.openxmlformats.org/officeDocument/2006/relationships/slideLayout" Target="../slideLayouts/slideLayout14.xml"/><Relationship Id="rId4" Type="http://schemas.openxmlformats.org/officeDocument/2006/relationships/image" Target="../media/image81.png"/></Relationships>
</file>

<file path=ppt/slides/_rels/slide8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6.xml"/><Relationship Id="rId1" Type="http://schemas.openxmlformats.org/officeDocument/2006/relationships/slideLayout" Target="../slideLayouts/slideLayout14.xml"/><Relationship Id="rId4" Type="http://schemas.openxmlformats.org/officeDocument/2006/relationships/image" Target="../media/image82.png"/></Relationships>
</file>

<file path=ppt/slides/_rels/slide8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8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8.xml"/><Relationship Id="rId1" Type="http://schemas.openxmlformats.org/officeDocument/2006/relationships/slideLayout" Target="../slideLayouts/slideLayout14.xml"/><Relationship Id="rId4" Type="http://schemas.openxmlformats.org/officeDocument/2006/relationships/image" Target="../media/image83.png"/></Relationships>
</file>

<file path=ppt/slides/_rels/slide8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89.xml"/><Relationship Id="rId1" Type="http://schemas.openxmlformats.org/officeDocument/2006/relationships/slideLayout" Target="../slideLayouts/slideLayout14.xml"/><Relationship Id="rId5" Type="http://schemas.openxmlformats.org/officeDocument/2006/relationships/image" Target="../media/image11.png"/><Relationship Id="rId4" Type="http://schemas.microsoft.com/office/2007/relationships/hdphoto" Target="../media/hdphoto1.wdp"/></Relationships>
</file>

<file path=ppt/slides/_rels/slide9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0.xml"/><Relationship Id="rId1" Type="http://schemas.openxmlformats.org/officeDocument/2006/relationships/slideLayout" Target="../slideLayouts/slideLayout14.xml"/></Relationships>
</file>

<file path=ppt/slides/_rels/slide9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1.xml"/><Relationship Id="rId1" Type="http://schemas.openxmlformats.org/officeDocument/2006/relationships/slideLayout" Target="../slideLayouts/slideLayout14.xml"/><Relationship Id="rId4" Type="http://schemas.openxmlformats.org/officeDocument/2006/relationships/image" Target="../media/image85.png"/></Relationships>
</file>

<file path=ppt/slides/_rels/slide9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2.xml"/><Relationship Id="rId1" Type="http://schemas.openxmlformats.org/officeDocument/2006/relationships/slideLayout" Target="../slideLayouts/slideLayout14.xml"/><Relationship Id="rId4" Type="http://schemas.openxmlformats.org/officeDocument/2006/relationships/image" Target="../media/image86.png"/></Relationships>
</file>

<file path=ppt/slides/_rels/slide9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3.xml"/><Relationship Id="rId1" Type="http://schemas.openxmlformats.org/officeDocument/2006/relationships/slideLayout" Target="../slideLayouts/slideLayout14.xml"/><Relationship Id="rId4" Type="http://schemas.openxmlformats.org/officeDocument/2006/relationships/image" Target="../media/image87.png"/></Relationships>
</file>

<file path=ppt/slides/_rels/slide9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4.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9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5.xml"/><Relationship Id="rId1" Type="http://schemas.openxmlformats.org/officeDocument/2006/relationships/slideLayout" Target="../slideLayouts/slideLayout14.xml"/><Relationship Id="rId5" Type="http://schemas.openxmlformats.org/officeDocument/2006/relationships/image" Target="../media/image19.png"/><Relationship Id="rId4" Type="http://schemas.openxmlformats.org/officeDocument/2006/relationships/image" Target="../media/image21.png"/></Relationships>
</file>

<file path=ppt/slides/_rels/slide9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6.xml"/><Relationship Id="rId1"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7.xml"/><Relationship Id="rId1" Type="http://schemas.openxmlformats.org/officeDocument/2006/relationships/slideLayout" Target="../slideLayouts/slideLayout14.xml"/><Relationship Id="rId4" Type="http://schemas.openxmlformats.org/officeDocument/2006/relationships/image" Target="../media/image88.png"/></Relationships>
</file>

<file path=ppt/slides/_rels/slide9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8.xml"/><Relationship Id="rId1" Type="http://schemas.openxmlformats.org/officeDocument/2006/relationships/slideLayout" Target="../slideLayouts/slideLayout14.xml"/><Relationship Id="rId4" Type="http://schemas.openxmlformats.org/officeDocument/2006/relationships/image" Target="../media/image89.png"/></Relationships>
</file>

<file path=ppt/slides/_rels/slide9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9.xml"/><Relationship Id="rId1" Type="http://schemas.openxmlformats.org/officeDocument/2006/relationships/slideLayout" Target="../slideLayouts/slideLayout14.xml"/><Relationship Id="rId4" Type="http://schemas.openxmlformats.org/officeDocument/2006/relationships/image" Target="../media/image90.png"/></Relationships>
</file>

<file path=ppt/slides/_rels/slide10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0.xml"/><Relationship Id="rId1" Type="http://schemas.openxmlformats.org/officeDocument/2006/relationships/slideLayout" Target="../slideLayouts/slideLayout14.xml"/><Relationship Id="rId4" Type="http://schemas.openxmlformats.org/officeDocument/2006/relationships/image" Target="../media/image91.png"/></Relationships>
</file>

<file path=ppt/slides/_rels/slide10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1.xml"/><Relationship Id="rId1" Type="http://schemas.openxmlformats.org/officeDocument/2006/relationships/slideLayout" Target="../slideLayouts/slideLayout14.xml"/><Relationship Id="rId4" Type="http://schemas.openxmlformats.org/officeDocument/2006/relationships/image" Target="../media/image92.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4.xml"/></Relationships>
</file>

<file path=ppt/slides/_rels/slide10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3.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4.xml"/></Relationships>
</file>

<file path=ppt/slides/_rels/slide10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5.xml"/><Relationship Id="rId1" Type="http://schemas.openxmlformats.org/officeDocument/2006/relationships/slideLayout" Target="../slideLayouts/slideLayout14.xml"/><Relationship Id="rId4" Type="http://schemas.openxmlformats.org/officeDocument/2006/relationships/image" Target="../media/image179.png"/></Relationships>
</file>

<file path=ppt/slides/_rels/slide10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6.xml"/><Relationship Id="rId1" Type="http://schemas.openxmlformats.org/officeDocument/2006/relationships/slideLayout" Target="../slideLayouts/slideLayout14.xml"/><Relationship Id="rId4" Type="http://schemas.openxmlformats.org/officeDocument/2006/relationships/image" Target="../media/image1760.png"/></Relationships>
</file>

<file path=ppt/slides/_rels/slide10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7.xml"/><Relationship Id="rId1" Type="http://schemas.openxmlformats.org/officeDocument/2006/relationships/slideLayout" Target="../slideLayouts/slideLayout14.xml"/><Relationship Id="rId4" Type="http://schemas.openxmlformats.org/officeDocument/2006/relationships/image" Target="../media/image93.png"/></Relationships>
</file>

<file path=ppt/slides/_rels/slide10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8.xml"/><Relationship Id="rId1" Type="http://schemas.openxmlformats.org/officeDocument/2006/relationships/slideLayout" Target="../slideLayouts/slideLayout14.xml"/></Relationships>
</file>

<file path=ppt/slides/_rels/slide10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9.xml"/><Relationship Id="rId1" Type="http://schemas.openxmlformats.org/officeDocument/2006/relationships/slideLayout" Target="../slideLayouts/slideLayout14.xml"/></Relationships>
</file>

<file path=ppt/slides/_rels/slide1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0.xml"/><Relationship Id="rId1" Type="http://schemas.openxmlformats.org/officeDocument/2006/relationships/slideLayout" Target="../slideLayouts/slideLayout14.xml"/><Relationship Id="rId4" Type="http://schemas.openxmlformats.org/officeDocument/2006/relationships/image" Target="../media/image181.png"/></Relationships>
</file>

<file path=ppt/slides/_rels/slide1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1.xml"/><Relationship Id="rId1" Type="http://schemas.openxmlformats.org/officeDocument/2006/relationships/slideLayout" Target="../slideLayouts/slideLayout14.xml"/><Relationship Id="rId4" Type="http://schemas.openxmlformats.org/officeDocument/2006/relationships/image" Target="../media/image182.png"/></Relationships>
</file>

<file path=ppt/slides/_rels/slide1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2.xml"/><Relationship Id="rId1" Type="http://schemas.openxmlformats.org/officeDocument/2006/relationships/slideLayout" Target="../slideLayouts/slideLayout14.xml"/><Relationship Id="rId6" Type="http://schemas.openxmlformats.org/officeDocument/2006/relationships/image" Target="../media/image185.png"/><Relationship Id="rId5" Type="http://schemas.openxmlformats.org/officeDocument/2006/relationships/image" Target="../media/image184.png"/><Relationship Id="rId4" Type="http://schemas.openxmlformats.org/officeDocument/2006/relationships/image" Target="../media/image183.png"/></Relationships>
</file>

<file path=ppt/slides/_rels/slide1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3.xml"/><Relationship Id="rId1" Type="http://schemas.openxmlformats.org/officeDocument/2006/relationships/slideLayout" Target="../slideLayouts/slideLayout14.xml"/><Relationship Id="rId4" Type="http://schemas.openxmlformats.org/officeDocument/2006/relationships/image" Target="../media/image1830.png"/></Relationships>
</file>

<file path=ppt/slides/_rels/slide1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4.xml"/><Relationship Id="rId1" Type="http://schemas.openxmlformats.org/officeDocument/2006/relationships/slideLayout" Target="../slideLayouts/slideLayout14.xml"/><Relationship Id="rId5" Type="http://schemas.openxmlformats.org/officeDocument/2006/relationships/image" Target="../media/image1850.png"/><Relationship Id="rId4" Type="http://schemas.openxmlformats.org/officeDocument/2006/relationships/image" Target="../media/image1780.png"/></Relationships>
</file>

<file path=ppt/slides/_rels/slide1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5.xml"/><Relationship Id="rId1" Type="http://schemas.openxmlformats.org/officeDocument/2006/relationships/slideLayout" Target="../slideLayouts/slideLayout14.xml"/><Relationship Id="rId5" Type="http://schemas.openxmlformats.org/officeDocument/2006/relationships/image" Target="../media/image187.png"/><Relationship Id="rId4" Type="http://schemas.openxmlformats.org/officeDocument/2006/relationships/image" Target="../media/image186.png"/></Relationships>
</file>

<file path=ppt/slides/_rels/slide1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6.xml"/><Relationship Id="rId1" Type="http://schemas.openxmlformats.org/officeDocument/2006/relationships/slideLayout" Target="../slideLayouts/slideLayout14.xml"/><Relationship Id="rId4" Type="http://schemas.openxmlformats.org/officeDocument/2006/relationships/image" Target="../media/image188.png"/></Relationships>
</file>

<file path=ppt/slides/_rels/slide1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7.xml"/><Relationship Id="rId1" Type="http://schemas.openxmlformats.org/officeDocument/2006/relationships/slideLayout" Target="../slideLayouts/slideLayout14.xml"/><Relationship Id="rId4" Type="http://schemas.openxmlformats.org/officeDocument/2006/relationships/image" Target="../media/image1880.png"/></Relationships>
</file>

<file path=ppt/slides/_rels/slide1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8.xml"/><Relationship Id="rId1" Type="http://schemas.openxmlformats.org/officeDocument/2006/relationships/slideLayout" Target="../slideLayouts/slideLayout14.xml"/><Relationship Id="rId6" Type="http://schemas.openxmlformats.org/officeDocument/2006/relationships/image" Target="../media/image191.png"/><Relationship Id="rId5" Type="http://schemas.openxmlformats.org/officeDocument/2006/relationships/image" Target="../media/image190.png"/><Relationship Id="rId4" Type="http://schemas.openxmlformats.org/officeDocument/2006/relationships/image" Target="../media/image189.png"/></Relationships>
</file>

<file path=ppt/slides/_rels/slide1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9.xml"/><Relationship Id="rId1" Type="http://schemas.openxmlformats.org/officeDocument/2006/relationships/slideLayout" Target="../slideLayouts/slideLayout14.xml"/><Relationship Id="rId4" Type="http://schemas.openxmlformats.org/officeDocument/2006/relationships/image" Target="../media/image192.png"/></Relationships>
</file>

<file path=ppt/slides/_rels/slide1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0.xml"/><Relationship Id="rId1" Type="http://schemas.openxmlformats.org/officeDocument/2006/relationships/slideLayout" Target="../slideLayouts/slideLayout14.xml"/><Relationship Id="rId5" Type="http://schemas.openxmlformats.org/officeDocument/2006/relationships/image" Target="../media/image194.png"/><Relationship Id="rId4" Type="http://schemas.openxmlformats.org/officeDocument/2006/relationships/image" Target="../media/image193.png"/></Relationships>
</file>

<file path=ppt/slides/_rels/slide1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1.xml"/><Relationship Id="rId1" Type="http://schemas.openxmlformats.org/officeDocument/2006/relationships/slideLayout" Target="../slideLayouts/slideLayout14.xml"/><Relationship Id="rId5" Type="http://schemas.openxmlformats.org/officeDocument/2006/relationships/image" Target="../media/image196.png"/><Relationship Id="rId4" Type="http://schemas.openxmlformats.org/officeDocument/2006/relationships/image" Target="../media/image195.png"/></Relationships>
</file>

<file path=ppt/slides/_rels/slide1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2.xml"/><Relationship Id="rId1" Type="http://schemas.openxmlformats.org/officeDocument/2006/relationships/slideLayout" Target="../slideLayouts/slideLayout14.xml"/><Relationship Id="rId5" Type="http://schemas.openxmlformats.org/officeDocument/2006/relationships/image" Target="../media/image198.png"/><Relationship Id="rId4" Type="http://schemas.openxmlformats.org/officeDocument/2006/relationships/image" Target="../media/image197.png"/></Relationships>
</file>

<file path=ppt/slides/_rels/slide1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3.xml"/><Relationship Id="rId1" Type="http://schemas.openxmlformats.org/officeDocument/2006/relationships/slideLayout" Target="../slideLayouts/slideLayout14.xml"/><Relationship Id="rId5" Type="http://schemas.openxmlformats.org/officeDocument/2006/relationships/image" Target="../media/image200.png"/><Relationship Id="rId4" Type="http://schemas.openxmlformats.org/officeDocument/2006/relationships/image" Target="../media/image199.png"/></Relationships>
</file>

<file path=ppt/slides/_rels/slide1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4.xml"/><Relationship Id="rId1" Type="http://schemas.openxmlformats.org/officeDocument/2006/relationships/slideLayout" Target="../slideLayouts/slideLayout14.xml"/><Relationship Id="rId4" Type="http://schemas.openxmlformats.org/officeDocument/2006/relationships/image" Target="../media/image201.png"/></Relationships>
</file>

<file path=ppt/slides/_rels/slide1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5.xml"/><Relationship Id="rId1" Type="http://schemas.openxmlformats.org/officeDocument/2006/relationships/slideLayout" Target="../slideLayouts/slideLayout14.xml"/><Relationship Id="rId4" Type="http://schemas.openxmlformats.org/officeDocument/2006/relationships/image" Target="../media/image180.png"/></Relationships>
</file>

<file path=ppt/slides/_rels/slide1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6.xml"/><Relationship Id="rId1" Type="http://schemas.openxmlformats.org/officeDocument/2006/relationships/slideLayout" Target="../slideLayouts/slideLayout14.xml"/><Relationship Id="rId4" Type="http://schemas.openxmlformats.org/officeDocument/2006/relationships/image" Target="../media/image202.png"/></Relationships>
</file>

<file path=ppt/slides/_rels/slide1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7.xml"/><Relationship Id="rId1" Type="http://schemas.openxmlformats.org/officeDocument/2006/relationships/slideLayout" Target="../slideLayouts/slideLayout14.xml"/><Relationship Id="rId5" Type="http://schemas.openxmlformats.org/officeDocument/2006/relationships/image" Target="../media/image205.png"/><Relationship Id="rId4" Type="http://schemas.openxmlformats.org/officeDocument/2006/relationships/image" Target="../media/image204.png"/></Relationships>
</file>

<file path=ppt/slides/_rels/slide1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8.xml"/><Relationship Id="rId1" Type="http://schemas.openxmlformats.org/officeDocument/2006/relationships/slideLayout" Target="../slideLayouts/slideLayout14.xml"/><Relationship Id="rId6" Type="http://schemas.openxmlformats.org/officeDocument/2006/relationships/image" Target="../media/image2030.png"/><Relationship Id="rId5" Type="http://schemas.openxmlformats.org/officeDocument/2006/relationships/image" Target="../media/image206.png"/><Relationship Id="rId4" Type="http://schemas.openxmlformats.org/officeDocument/2006/relationships/image" Target="../media/image203.png"/></Relationships>
</file>

<file path=ppt/slides/_rels/slide129.xml.rels><?xml version="1.0" encoding="UTF-8" standalone="yes"?>
<Relationships xmlns="http://schemas.openxmlformats.org/package/2006/relationships"><Relationship Id="rId8" Type="http://schemas.openxmlformats.org/officeDocument/2006/relationships/image" Target="../media/image211.png"/><Relationship Id="rId13" Type="http://schemas.openxmlformats.org/officeDocument/2006/relationships/image" Target="../media/image216.png"/><Relationship Id="rId26" Type="http://schemas.openxmlformats.org/officeDocument/2006/relationships/image" Target="../media/image217.png"/><Relationship Id="rId3" Type="http://schemas.openxmlformats.org/officeDocument/2006/relationships/image" Target="../media/image11.png"/><Relationship Id="rId7" Type="http://schemas.openxmlformats.org/officeDocument/2006/relationships/image" Target="../media/image210.png"/><Relationship Id="rId12" Type="http://schemas.openxmlformats.org/officeDocument/2006/relationships/image" Target="../media/image215.png"/><Relationship Id="rId25" Type="http://schemas.openxmlformats.org/officeDocument/2006/relationships/image" Target="../media/image244.png"/><Relationship Id="rId2" Type="http://schemas.openxmlformats.org/officeDocument/2006/relationships/notesSlide" Target="../notesSlides/notesSlide129.xml"/><Relationship Id="rId1" Type="http://schemas.openxmlformats.org/officeDocument/2006/relationships/slideLayout" Target="../slideLayouts/slideLayout14.xml"/><Relationship Id="rId6" Type="http://schemas.openxmlformats.org/officeDocument/2006/relationships/image" Target="../media/image209.png"/><Relationship Id="rId11" Type="http://schemas.openxmlformats.org/officeDocument/2006/relationships/image" Target="../media/image214.png"/><Relationship Id="rId5" Type="http://schemas.openxmlformats.org/officeDocument/2006/relationships/image" Target="../media/image2080.png"/><Relationship Id="rId10" Type="http://schemas.openxmlformats.org/officeDocument/2006/relationships/image" Target="../media/image213.png"/><Relationship Id="rId4" Type="http://schemas.openxmlformats.org/officeDocument/2006/relationships/image" Target="../media/image208.png"/><Relationship Id="rId9" Type="http://schemas.openxmlformats.org/officeDocument/2006/relationships/image" Target="../media/image212.png"/><Relationship Id="rId27" Type="http://schemas.openxmlformats.org/officeDocument/2006/relationships/image" Target="../media/image246.png"/></Relationships>
</file>

<file path=ppt/slides/_rels/slide1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0.xml"/><Relationship Id="rId1" Type="http://schemas.openxmlformats.org/officeDocument/2006/relationships/slideLayout" Target="../slideLayouts/slideLayout14.xml"/><Relationship Id="rId4" Type="http://schemas.openxmlformats.org/officeDocument/2006/relationships/image" Target="../media/image218.png"/></Relationships>
</file>

<file path=ppt/slides/_rels/slide1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1.xml"/><Relationship Id="rId1" Type="http://schemas.openxmlformats.org/officeDocument/2006/relationships/slideLayout" Target="../slideLayouts/slideLayout14.xml"/><Relationship Id="rId4" Type="http://schemas.openxmlformats.org/officeDocument/2006/relationships/image" Target="../media/image207.png"/></Relationships>
</file>

<file path=ppt/slides/_rels/slide13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53.png"/><Relationship Id="rId2" Type="http://schemas.openxmlformats.org/officeDocument/2006/relationships/notesSlide" Target="../notesSlides/notesSlide132.xml"/><Relationship Id="rId1" Type="http://schemas.openxmlformats.org/officeDocument/2006/relationships/slideLayout" Target="../slideLayouts/slideLayout14.xml"/><Relationship Id="rId6" Type="http://schemas.openxmlformats.org/officeDocument/2006/relationships/image" Target="../media/image252.png"/><Relationship Id="rId4" Type="http://schemas.openxmlformats.org/officeDocument/2006/relationships/image" Target="../media/image94.png"/></Relationships>
</file>

<file path=ppt/slides/_rels/slide133.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11.png"/><Relationship Id="rId7" Type="http://schemas.openxmlformats.org/officeDocument/2006/relationships/image" Target="../media/image253.png"/><Relationship Id="rId2" Type="http://schemas.openxmlformats.org/officeDocument/2006/relationships/notesSlide" Target="../notesSlides/notesSlide133.xml"/><Relationship Id="rId1" Type="http://schemas.openxmlformats.org/officeDocument/2006/relationships/slideLayout" Target="../slideLayouts/slideLayout14.xml"/><Relationship Id="rId6" Type="http://schemas.openxmlformats.org/officeDocument/2006/relationships/image" Target="../media/image252.png"/></Relationships>
</file>

<file path=ppt/slides/_rels/slide134.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11.png"/><Relationship Id="rId7" Type="http://schemas.openxmlformats.org/officeDocument/2006/relationships/image" Target="../media/image253.png"/><Relationship Id="rId2" Type="http://schemas.openxmlformats.org/officeDocument/2006/relationships/notesSlide" Target="../notesSlides/notesSlide134.xml"/><Relationship Id="rId1" Type="http://schemas.openxmlformats.org/officeDocument/2006/relationships/slideLayout" Target="../slideLayouts/slideLayout14.xml"/><Relationship Id="rId6" Type="http://schemas.openxmlformats.org/officeDocument/2006/relationships/image" Target="../media/image252.png"/></Relationships>
</file>

<file path=ppt/slides/_rels/slide135.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35.xml"/><Relationship Id="rId1" Type="http://schemas.openxmlformats.org/officeDocument/2006/relationships/slideLayout" Target="../slideLayouts/slideLayout4.xml"/></Relationships>
</file>

<file path=ppt/slides/_rels/slide1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6.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37.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notesSlide" Target="../notesSlides/notesSlide137.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8.xml"/><Relationship Id="rId1" Type="http://schemas.openxmlformats.org/officeDocument/2006/relationships/slideLayout" Target="../slideLayouts/slideLayout14.xml"/><Relationship Id="rId4" Type="http://schemas.openxmlformats.org/officeDocument/2006/relationships/image" Target="../media/image2240.png"/></Relationships>
</file>

<file path=ppt/slides/_rels/slide1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9.xml"/><Relationship Id="rId1" Type="http://schemas.openxmlformats.org/officeDocument/2006/relationships/slideLayout" Target="../slideLayouts/slideLayout14.xml"/><Relationship Id="rId5" Type="http://schemas.openxmlformats.org/officeDocument/2006/relationships/image" Target="../media/image226.png"/><Relationship Id="rId4" Type="http://schemas.openxmlformats.org/officeDocument/2006/relationships/image" Target="../media/image225.png"/></Relationships>
</file>

<file path=ppt/slides/_rels/slide1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0.xml"/><Relationship Id="rId1" Type="http://schemas.openxmlformats.org/officeDocument/2006/relationships/slideLayout" Target="../slideLayouts/slideLayout14.xml"/><Relationship Id="rId4" Type="http://schemas.openxmlformats.org/officeDocument/2006/relationships/image" Target="../media/image227.png"/></Relationships>
</file>

<file path=ppt/slides/_rels/slide1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1.xml"/><Relationship Id="rId1" Type="http://schemas.openxmlformats.org/officeDocument/2006/relationships/slideLayout" Target="../slideLayouts/slideLayout14.xml"/><Relationship Id="rId4" Type="http://schemas.openxmlformats.org/officeDocument/2006/relationships/image" Target="../media/image2230.png"/></Relationships>
</file>

<file path=ppt/slides/_rels/slide142.xml.rels><?xml version="1.0" encoding="UTF-8" standalone="yes"?>
<Relationships xmlns="http://schemas.openxmlformats.org/package/2006/relationships"><Relationship Id="rId3" Type="http://schemas.openxmlformats.org/officeDocument/2006/relationships/image" Target="../media/image11.png"/><Relationship Id="rId12" Type="http://schemas.openxmlformats.org/officeDocument/2006/relationships/image" Target="../media/image275.png"/><Relationship Id="rId2" Type="http://schemas.openxmlformats.org/officeDocument/2006/relationships/notesSlide" Target="../notesSlides/notesSlide142.xml"/><Relationship Id="rId1" Type="http://schemas.openxmlformats.org/officeDocument/2006/relationships/slideLayout" Target="../slideLayouts/slideLayout14.xml"/><Relationship Id="rId11" Type="http://schemas.openxmlformats.org/officeDocument/2006/relationships/image" Target="../media/image274.png"/><Relationship Id="rId10" Type="http://schemas.openxmlformats.org/officeDocument/2006/relationships/image" Target="../media/image273.png"/><Relationship Id="rId4" Type="http://schemas.openxmlformats.org/officeDocument/2006/relationships/image" Target="../media/image229.png"/><Relationship Id="rId9" Type="http://schemas.openxmlformats.org/officeDocument/2006/relationships/image" Target="../media/image272.png"/></Relationships>
</file>

<file path=ppt/slides/_rels/slide1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3.xml"/><Relationship Id="rId1" Type="http://schemas.openxmlformats.org/officeDocument/2006/relationships/slideLayout" Target="../slideLayouts/slideLayout14.xml"/></Relationships>
</file>

<file path=ppt/slides/_rels/slide14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28.png"/><Relationship Id="rId2" Type="http://schemas.openxmlformats.org/officeDocument/2006/relationships/notesSlide" Target="../notesSlides/notesSlide144.xml"/><Relationship Id="rId1" Type="http://schemas.openxmlformats.org/officeDocument/2006/relationships/slideLayout" Target="../slideLayouts/slideLayout14.xml"/><Relationship Id="rId6" Type="http://schemas.openxmlformats.org/officeDocument/2006/relationships/image" Target="../media/image231.png"/><Relationship Id="rId5" Type="http://schemas.openxmlformats.org/officeDocument/2006/relationships/image" Target="../media/image230.png"/><Relationship Id="rId4" Type="http://schemas.openxmlformats.org/officeDocument/2006/relationships/image" Target="../media/image224.png"/></Relationships>
</file>

<file path=ppt/slides/_rels/slide1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5.xml"/><Relationship Id="rId1" Type="http://schemas.openxmlformats.org/officeDocument/2006/relationships/slideLayout" Target="../slideLayouts/slideLayout14.xml"/><Relationship Id="rId6" Type="http://schemas.openxmlformats.org/officeDocument/2006/relationships/image" Target="../media/image234.png"/><Relationship Id="rId5" Type="http://schemas.openxmlformats.org/officeDocument/2006/relationships/image" Target="../media/image233.png"/><Relationship Id="rId4" Type="http://schemas.openxmlformats.org/officeDocument/2006/relationships/image" Target="../media/image2320.png"/></Relationships>
</file>

<file path=ppt/slides/_rels/slide146.xml.rels><?xml version="1.0" encoding="UTF-8" standalone="yes"?>
<Relationships xmlns="http://schemas.openxmlformats.org/package/2006/relationships"><Relationship Id="rId8" Type="http://schemas.openxmlformats.org/officeDocument/2006/relationships/image" Target="../media/image287.png"/><Relationship Id="rId3" Type="http://schemas.openxmlformats.org/officeDocument/2006/relationships/image" Target="../media/image11.png"/><Relationship Id="rId7" Type="http://schemas.openxmlformats.org/officeDocument/2006/relationships/image" Target="../media/image286.png"/><Relationship Id="rId2" Type="http://schemas.openxmlformats.org/officeDocument/2006/relationships/notesSlide" Target="../notesSlides/notesSlide146.xml"/><Relationship Id="rId1" Type="http://schemas.openxmlformats.org/officeDocument/2006/relationships/slideLayout" Target="../slideLayouts/slideLayout14.xml"/><Relationship Id="rId4" Type="http://schemas.openxmlformats.org/officeDocument/2006/relationships/image" Target="../media/image235.png"/></Relationships>
</file>

<file path=ppt/slides/_rels/slide1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7.xml"/><Relationship Id="rId1" Type="http://schemas.openxmlformats.org/officeDocument/2006/relationships/slideLayout" Target="../slideLayouts/slideLayout14.xml"/><Relationship Id="rId5" Type="http://schemas.openxmlformats.org/officeDocument/2006/relationships/image" Target="../media/image287.png"/><Relationship Id="rId4" Type="http://schemas.openxmlformats.org/officeDocument/2006/relationships/image" Target="../media/image235.png"/></Relationships>
</file>

<file path=ppt/slides/_rels/slide1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8.xml"/><Relationship Id="rId1" Type="http://schemas.openxmlformats.org/officeDocument/2006/relationships/slideLayout" Target="../slideLayouts/slideLayout14.xml"/><Relationship Id="rId4" Type="http://schemas.openxmlformats.org/officeDocument/2006/relationships/image" Target="../media/image232.png"/></Relationships>
</file>

<file path=ppt/slides/_rels/slide1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9.xml"/><Relationship Id="rId1" Type="http://schemas.openxmlformats.org/officeDocument/2006/relationships/slideLayout" Target="../slideLayouts/slideLayout14.xml"/></Relationships>
</file>

<file path=ppt/slides/_rels/slide15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94.png"/><Relationship Id="rId2" Type="http://schemas.openxmlformats.org/officeDocument/2006/relationships/notesSlide" Target="../notesSlides/notesSlide150.xml"/><Relationship Id="rId1" Type="http://schemas.openxmlformats.org/officeDocument/2006/relationships/slideLayout" Target="../slideLayouts/slideLayout14.xml"/><Relationship Id="rId5" Type="http://schemas.openxmlformats.org/officeDocument/2006/relationships/image" Target="../media/image237.png"/><Relationship Id="rId4" Type="http://schemas.openxmlformats.org/officeDocument/2006/relationships/image" Target="../media/image2360.png"/></Relationships>
</file>

<file path=ppt/slides/_rels/slide1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1.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2.xml"/><Relationship Id="rId1" Type="http://schemas.openxmlformats.org/officeDocument/2006/relationships/slideLayout" Target="../slideLayouts/slideLayout14.xml"/><Relationship Id="rId4" Type="http://schemas.openxmlformats.org/officeDocument/2006/relationships/image" Target="../media/image90.png"/></Relationships>
</file>

<file path=ppt/slides/_rels/slide153.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notesSlide" Target="../notesSlides/notesSlide153.xml"/><Relationship Id="rId1" Type="http://schemas.openxmlformats.org/officeDocument/2006/relationships/slideLayout" Target="../slideLayouts/slideLayout14.xml"/><Relationship Id="rId5" Type="http://schemas.openxmlformats.org/officeDocument/2006/relationships/image" Target="../media/image2280.png"/><Relationship Id="rId4" Type="http://schemas.openxmlformats.org/officeDocument/2006/relationships/image" Target="../media/image11.png"/></Relationships>
</file>

<file path=ppt/slides/_rels/slide154.xml.rels><?xml version="1.0" encoding="UTF-8" standalone="yes"?>
<Relationships xmlns="http://schemas.openxmlformats.org/package/2006/relationships"><Relationship Id="rId3" Type="http://schemas.openxmlformats.org/officeDocument/2006/relationships/image" Target="../media/image239.png"/><Relationship Id="rId7" Type="http://schemas.openxmlformats.org/officeDocument/2006/relationships/image" Target="../media/image241.png"/><Relationship Id="rId2" Type="http://schemas.openxmlformats.org/officeDocument/2006/relationships/notesSlide" Target="../notesSlides/notesSlide154.xml"/><Relationship Id="rId1" Type="http://schemas.openxmlformats.org/officeDocument/2006/relationships/slideLayout" Target="../slideLayouts/slideLayout14.xml"/><Relationship Id="rId6" Type="http://schemas.openxmlformats.org/officeDocument/2006/relationships/image" Target="../media/image240.png"/><Relationship Id="rId5" Type="http://schemas.openxmlformats.org/officeDocument/2006/relationships/image" Target="../media/image236.png"/><Relationship Id="rId4" Type="http://schemas.openxmlformats.org/officeDocument/2006/relationships/image" Target="../media/image11.png"/></Relationships>
</file>

<file path=ppt/slides/_rels/slide155.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notesSlide" Target="../notesSlides/notesSlide155.xml"/><Relationship Id="rId1" Type="http://schemas.openxmlformats.org/officeDocument/2006/relationships/slideLayout" Target="../slideLayouts/slideLayout14.xml"/><Relationship Id="rId5" Type="http://schemas.openxmlformats.org/officeDocument/2006/relationships/image" Target="../media/image243.png"/><Relationship Id="rId4" Type="http://schemas.openxmlformats.org/officeDocument/2006/relationships/image" Target="../media/image11.png"/></Relationships>
</file>

<file path=ppt/slides/_rels/slide1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6.xml"/><Relationship Id="rId1" Type="http://schemas.openxmlformats.org/officeDocument/2006/relationships/slideLayout" Target="../slideLayouts/slideLayout14.xml"/><Relationship Id="rId4" Type="http://schemas.openxmlformats.org/officeDocument/2006/relationships/image" Target="../media/image247.png"/></Relationships>
</file>

<file path=ppt/slides/_rels/slide1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7.xml"/><Relationship Id="rId1" Type="http://schemas.openxmlformats.org/officeDocument/2006/relationships/slideLayout" Target="../slideLayouts/slideLayout14.xml"/><Relationship Id="rId6" Type="http://schemas.openxmlformats.org/officeDocument/2006/relationships/image" Target="../media/image250.png"/><Relationship Id="rId5" Type="http://schemas.openxmlformats.org/officeDocument/2006/relationships/image" Target="../media/image245.png"/><Relationship Id="rId4" Type="http://schemas.openxmlformats.org/officeDocument/2006/relationships/image" Target="../media/image248.png"/></Relationships>
</file>

<file path=ppt/slides/_rels/slide1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9.xml"/><Relationship Id="rId1" Type="http://schemas.openxmlformats.org/officeDocument/2006/relationships/slideLayout" Target="../slideLayouts/slideLayout14.xml"/><Relationship Id="rId4" Type="http://schemas.openxmlformats.org/officeDocument/2006/relationships/image" Target="../media/image98.png"/></Relationships>
</file>

<file path=ppt/slides/_rels/slide160.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60.xml"/><Relationship Id="rId1" Type="http://schemas.openxmlformats.org/officeDocument/2006/relationships/slideLayout" Target="../slideLayouts/slideLayout4.xml"/></Relationships>
</file>

<file path=ppt/slides/_rels/slide161.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61.xml"/><Relationship Id="rId1" Type="http://schemas.openxmlformats.org/officeDocument/2006/relationships/slideLayout" Target="../slideLayouts/slideLayout4.xml"/></Relationships>
</file>

<file path=ppt/slides/_rels/slide16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62.xml"/><Relationship Id="rId1" Type="http://schemas.openxmlformats.org/officeDocument/2006/relationships/slideLayout" Target="../slideLayouts/slideLayout4.xml"/></Relationships>
</file>

<file path=ppt/slides/_rels/slide163.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63.xml"/><Relationship Id="rId1" Type="http://schemas.openxmlformats.org/officeDocument/2006/relationships/slideLayout" Target="../slideLayouts/slideLayout4.xml"/></Relationships>
</file>

<file path=ppt/slides/_rels/slide164.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64.xml"/><Relationship Id="rId1" Type="http://schemas.openxmlformats.org/officeDocument/2006/relationships/slideLayout" Target="../slideLayouts/slideLayout4.xml"/></Relationships>
</file>

<file path=ppt/slides/_rels/slide16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5.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4.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4.xml"/></Relationships>
</file>

<file path=ppt/slides/_rels/slide16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68.xml"/><Relationship Id="rId1" Type="http://schemas.openxmlformats.org/officeDocument/2006/relationships/slideLayout" Target="../slideLayouts/slideLayout14.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4.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4.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4.xml"/></Relationships>
</file>

<file path=ppt/slides/_rels/slide17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2.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7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3.xml"/><Relationship Id="rId1" Type="http://schemas.openxmlformats.org/officeDocument/2006/relationships/slideLayout" Target="../slideLayouts/slideLayout14.xml"/></Relationships>
</file>

<file path=ppt/slides/_rels/slide17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4.xml"/><Relationship Id="rId1" Type="http://schemas.openxmlformats.org/officeDocument/2006/relationships/slideLayout" Target="../slideLayouts/slideLayout14.xml"/><Relationship Id="rId4" Type="http://schemas.openxmlformats.org/officeDocument/2006/relationships/image" Target="../media/image255.png"/></Relationships>
</file>

<file path=ppt/slides/_rels/slide17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5.xml"/><Relationship Id="rId1" Type="http://schemas.openxmlformats.org/officeDocument/2006/relationships/slideLayout" Target="../slideLayouts/slideLayout14.xml"/></Relationships>
</file>

<file path=ppt/slides/_rels/slide17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9.png"/><Relationship Id="rId2" Type="http://schemas.openxmlformats.org/officeDocument/2006/relationships/notesSlide" Target="../notesSlides/notesSlide176.xml"/><Relationship Id="rId1" Type="http://schemas.openxmlformats.org/officeDocument/2006/relationships/slideLayout" Target="../slideLayouts/slideLayout14.xml"/><Relationship Id="rId6" Type="http://schemas.openxmlformats.org/officeDocument/2006/relationships/image" Target="../media/image258.png"/><Relationship Id="rId5" Type="http://schemas.openxmlformats.org/officeDocument/2006/relationships/image" Target="../media/image251.png"/><Relationship Id="rId4" Type="http://schemas.openxmlformats.org/officeDocument/2006/relationships/image" Target="../media/image256.png"/></Relationships>
</file>

<file path=ppt/slides/_rels/slide17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7.xml"/><Relationship Id="rId1" Type="http://schemas.openxmlformats.org/officeDocument/2006/relationships/slideLayout" Target="../slideLayouts/slideLayout14.xml"/><Relationship Id="rId6" Type="http://schemas.openxmlformats.org/officeDocument/2006/relationships/image" Target="../media/image262.png"/><Relationship Id="rId5" Type="http://schemas.openxmlformats.org/officeDocument/2006/relationships/image" Target="../media/image261.png"/><Relationship Id="rId4" Type="http://schemas.openxmlformats.org/officeDocument/2006/relationships/image" Target="../media/image2220.png"/></Relationships>
</file>

<file path=ppt/slides/_rels/slide17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63.png"/><Relationship Id="rId2" Type="http://schemas.openxmlformats.org/officeDocument/2006/relationships/notesSlide" Target="../notesSlides/notesSlide178.xml"/><Relationship Id="rId1" Type="http://schemas.openxmlformats.org/officeDocument/2006/relationships/slideLayout" Target="../slideLayouts/slideLayout14.xml"/><Relationship Id="rId6" Type="http://schemas.openxmlformats.org/officeDocument/2006/relationships/image" Target="../media/image260.png"/><Relationship Id="rId5" Type="http://schemas.openxmlformats.org/officeDocument/2006/relationships/image" Target="../media/image259.png"/><Relationship Id="rId4" Type="http://schemas.openxmlformats.org/officeDocument/2006/relationships/image" Target="../media/image257.png"/></Relationships>
</file>

<file path=ppt/slides/_rels/slide17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9.xml"/><Relationship Id="rId1" Type="http://schemas.openxmlformats.org/officeDocument/2006/relationships/slideLayout" Target="../slideLayouts/slideLayout14.xml"/><Relationship Id="rId5" Type="http://schemas.openxmlformats.org/officeDocument/2006/relationships/image" Target="../media/image264.png"/><Relationship Id="rId4" Type="http://schemas.openxmlformats.org/officeDocument/2006/relationships/image" Target="../media/image2600.png"/></Relationships>
</file>

<file path=ppt/slides/_rels/slide18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0.xml"/><Relationship Id="rId1" Type="http://schemas.openxmlformats.org/officeDocument/2006/relationships/slideLayout" Target="../slideLayouts/slideLayout14.xml"/><Relationship Id="rId5" Type="http://schemas.openxmlformats.org/officeDocument/2006/relationships/image" Target="../media/image100.png"/><Relationship Id="rId4" Type="http://schemas.openxmlformats.org/officeDocument/2006/relationships/image" Target="../media/image265.png"/></Relationships>
</file>

<file path=ppt/slides/_rels/slide18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68.png"/><Relationship Id="rId2" Type="http://schemas.openxmlformats.org/officeDocument/2006/relationships/notesSlide" Target="../notesSlides/notesSlide181.xml"/><Relationship Id="rId1" Type="http://schemas.openxmlformats.org/officeDocument/2006/relationships/slideLayout" Target="../slideLayouts/slideLayout14.xml"/><Relationship Id="rId6" Type="http://schemas.openxmlformats.org/officeDocument/2006/relationships/image" Target="../media/image267.png"/><Relationship Id="rId5" Type="http://schemas.openxmlformats.org/officeDocument/2006/relationships/image" Target="../media/image269.png"/><Relationship Id="rId4" Type="http://schemas.openxmlformats.org/officeDocument/2006/relationships/image" Target="../media/image2660.png"/></Relationships>
</file>

<file path=ppt/slides/_rels/slide182.xml.rels><?xml version="1.0" encoding="UTF-8" standalone="yes"?>
<Relationships xmlns="http://schemas.openxmlformats.org/package/2006/relationships"><Relationship Id="rId8" Type="http://schemas.openxmlformats.org/officeDocument/2006/relationships/image" Target="../media/image1700.png"/><Relationship Id="rId13" Type="http://schemas.openxmlformats.org/officeDocument/2006/relationships/image" Target="../media/image2400.png"/><Relationship Id="rId3" Type="http://schemas.openxmlformats.org/officeDocument/2006/relationships/image" Target="../media/image11.png"/><Relationship Id="rId7" Type="http://schemas.openxmlformats.org/officeDocument/2006/relationships/image" Target="../media/image1600.png"/><Relationship Id="rId12" Type="http://schemas.openxmlformats.org/officeDocument/2006/relationships/image" Target="../media/image2310.png"/><Relationship Id="rId2" Type="http://schemas.openxmlformats.org/officeDocument/2006/relationships/notesSlide" Target="../notesSlides/notesSlide182.xml"/><Relationship Id="rId16" Type="http://schemas.openxmlformats.org/officeDocument/2006/relationships/image" Target="../media/image278.png"/><Relationship Id="rId1" Type="http://schemas.openxmlformats.org/officeDocument/2006/relationships/slideLayout" Target="../slideLayouts/slideLayout14.xml"/><Relationship Id="rId6" Type="http://schemas.openxmlformats.org/officeDocument/2006/relationships/image" Target="../media/image1300.png"/><Relationship Id="rId11" Type="http://schemas.openxmlformats.org/officeDocument/2006/relationships/image" Target="../media/image2200.png"/><Relationship Id="rId5" Type="http://schemas.openxmlformats.org/officeDocument/2006/relationships/image" Target="../media/image1200.png"/><Relationship Id="rId15" Type="http://schemas.openxmlformats.org/officeDocument/2006/relationships/image" Target="../media/image277.png"/><Relationship Id="rId10" Type="http://schemas.openxmlformats.org/officeDocument/2006/relationships/image" Target="../media/image2120.png"/><Relationship Id="rId4" Type="http://schemas.openxmlformats.org/officeDocument/2006/relationships/image" Target="../media/image1112.png"/><Relationship Id="rId9" Type="http://schemas.openxmlformats.org/officeDocument/2006/relationships/image" Target="../media/image2000.png"/><Relationship Id="rId14" Type="http://schemas.openxmlformats.org/officeDocument/2006/relationships/image" Target="../media/image276.png"/></Relationships>
</file>

<file path=ppt/slides/_rels/slide18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3.xml"/><Relationship Id="rId1" Type="http://schemas.openxmlformats.org/officeDocument/2006/relationships/slideLayout" Target="../slideLayouts/slideLayout14.xml"/><Relationship Id="rId4" Type="http://schemas.openxmlformats.org/officeDocument/2006/relationships/image" Target="../media/image2670.png"/></Relationships>
</file>

<file path=ppt/slides/_rels/slide18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4.xml"/><Relationship Id="rId1" Type="http://schemas.openxmlformats.org/officeDocument/2006/relationships/slideLayout" Target="../slideLayouts/slideLayout14.xml"/><Relationship Id="rId6" Type="http://schemas.openxmlformats.org/officeDocument/2006/relationships/image" Target="../media/image279.png"/><Relationship Id="rId5" Type="http://schemas.openxmlformats.org/officeDocument/2006/relationships/image" Target="../media/image271.png"/><Relationship Id="rId4" Type="http://schemas.openxmlformats.org/officeDocument/2006/relationships/image" Target="../media/image270.png"/></Relationships>
</file>

<file path=ppt/slides/_rels/slide18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5.xml"/><Relationship Id="rId1" Type="http://schemas.openxmlformats.org/officeDocument/2006/relationships/slideLayout" Target="../slideLayouts/slideLayout14.xml"/><Relationship Id="rId6" Type="http://schemas.openxmlformats.org/officeDocument/2006/relationships/image" Target="../media/image280.png"/><Relationship Id="rId5" Type="http://schemas.openxmlformats.org/officeDocument/2006/relationships/image" Target="../media/image279.png"/><Relationship Id="rId4" Type="http://schemas.openxmlformats.org/officeDocument/2006/relationships/image" Target="../media/image270.png"/></Relationships>
</file>

<file path=ppt/slides/_rels/slide18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6.xml"/><Relationship Id="rId1" Type="http://schemas.openxmlformats.org/officeDocument/2006/relationships/slideLayout" Target="../slideLayouts/slideLayout14.xml"/><Relationship Id="rId6" Type="http://schemas.openxmlformats.org/officeDocument/2006/relationships/image" Target="../media/image288.png"/><Relationship Id="rId5" Type="http://schemas.openxmlformats.org/officeDocument/2006/relationships/image" Target="../media/image285.png"/><Relationship Id="rId4" Type="http://schemas.openxmlformats.org/officeDocument/2006/relationships/image" Target="../media/image2700.png"/></Relationships>
</file>

<file path=ppt/slides/_rels/slide18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92.png"/><Relationship Id="rId2" Type="http://schemas.openxmlformats.org/officeDocument/2006/relationships/notesSlide" Target="../notesSlides/notesSlide187.xml"/><Relationship Id="rId1" Type="http://schemas.openxmlformats.org/officeDocument/2006/relationships/slideLayout" Target="../slideLayouts/slideLayout14.xml"/><Relationship Id="rId6" Type="http://schemas.openxmlformats.org/officeDocument/2006/relationships/image" Target="../media/image2711.png"/><Relationship Id="rId5" Type="http://schemas.openxmlformats.org/officeDocument/2006/relationships/image" Target="../media/image290.png"/><Relationship Id="rId4" Type="http://schemas.openxmlformats.org/officeDocument/2006/relationships/image" Target="../media/image289.png"/></Relationships>
</file>

<file path=ppt/slides/_rels/slide18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8.xml"/><Relationship Id="rId1" Type="http://schemas.openxmlformats.org/officeDocument/2006/relationships/slideLayout" Target="../slideLayouts/slideLayout14.xml"/><Relationship Id="rId4" Type="http://schemas.openxmlformats.org/officeDocument/2006/relationships/image" Target="../media/image2790.png"/></Relationships>
</file>

<file path=ppt/slides/_rels/slide18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9.xml"/><Relationship Id="rId1" Type="http://schemas.openxmlformats.org/officeDocument/2006/relationships/slideLayout" Target="../slideLayouts/slideLayout14.xml"/><Relationship Id="rId5" Type="http://schemas.openxmlformats.org/officeDocument/2006/relationships/image" Target="../media/image296.png"/><Relationship Id="rId4" Type="http://schemas.openxmlformats.org/officeDocument/2006/relationships/image" Target="../media/image295.png"/></Relationships>
</file>

<file path=ppt/slides/_rels/slide19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0.xml"/><Relationship Id="rId1" Type="http://schemas.openxmlformats.org/officeDocument/2006/relationships/slideLayout" Target="../slideLayouts/slideLayout14.xml"/><Relationship Id="rId4" Type="http://schemas.openxmlformats.org/officeDocument/2006/relationships/image" Target="../media/image101.png"/></Relationships>
</file>

<file path=ppt/slides/_rels/slide19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1.xml"/><Relationship Id="rId1" Type="http://schemas.openxmlformats.org/officeDocument/2006/relationships/slideLayout" Target="../slideLayouts/slideLayout14.xml"/><Relationship Id="rId4" Type="http://schemas.openxmlformats.org/officeDocument/2006/relationships/image" Target="../media/image102.png"/></Relationships>
</file>

<file path=ppt/slides/_rels/slide19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2.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9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3.xml"/><Relationship Id="rId1" Type="http://schemas.openxmlformats.org/officeDocument/2006/relationships/slideLayout" Target="../slideLayouts/slideLayout14.xml"/></Relationships>
</file>

<file path=ppt/slides/_rels/slide19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4.xml"/><Relationship Id="rId1" Type="http://schemas.openxmlformats.org/officeDocument/2006/relationships/slideLayout" Target="../slideLayouts/slideLayout14.xml"/></Relationships>
</file>

<file path=ppt/slides/_rels/slide19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5.xml"/><Relationship Id="rId1" Type="http://schemas.openxmlformats.org/officeDocument/2006/relationships/slideLayout" Target="../slideLayouts/slideLayout14.xml"/></Relationships>
</file>

<file path=ppt/slides/_rels/slide19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6.xml"/><Relationship Id="rId1" Type="http://schemas.openxmlformats.org/officeDocument/2006/relationships/slideLayout" Target="../slideLayouts/slideLayout14.xml"/></Relationships>
</file>

<file path=ppt/slides/_rels/slide19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7.xml"/><Relationship Id="rId1" Type="http://schemas.openxmlformats.org/officeDocument/2006/relationships/slideLayout" Target="../slideLayouts/slideLayout14.xml"/><Relationship Id="rId4" Type="http://schemas.openxmlformats.org/officeDocument/2006/relationships/image" Target="../media/image283.png"/></Relationships>
</file>

<file path=ppt/slides/_rels/slide19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8.xml"/><Relationship Id="rId1" Type="http://schemas.openxmlformats.org/officeDocument/2006/relationships/slideLayout" Target="../slideLayouts/slideLayout14.xml"/></Relationships>
</file>

<file path=ppt/slides/_rels/slide19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9.xml"/><Relationship Id="rId1" Type="http://schemas.openxmlformats.org/officeDocument/2006/relationships/slideLayout" Target="../slideLayouts/slideLayout14.xml"/></Relationships>
</file>

<file path=ppt/slides/_rels/slide20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0.xml"/><Relationship Id="rId1" Type="http://schemas.openxmlformats.org/officeDocument/2006/relationships/slideLayout" Target="../slideLayouts/slideLayout14.xml"/><Relationship Id="rId4" Type="http://schemas.openxmlformats.org/officeDocument/2006/relationships/image" Target="../media/image293.png"/></Relationships>
</file>

<file path=ppt/slides/_rels/slide20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1.xml"/><Relationship Id="rId1" Type="http://schemas.openxmlformats.org/officeDocument/2006/relationships/slideLayout" Target="../slideLayouts/slideLayout14.xml"/><Relationship Id="rId4" Type="http://schemas.openxmlformats.org/officeDocument/2006/relationships/image" Target="../media/image300.png"/></Relationships>
</file>

<file path=ppt/slides/_rels/slide20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2.xml"/><Relationship Id="rId1" Type="http://schemas.openxmlformats.org/officeDocument/2006/relationships/slideLayout" Target="../slideLayouts/slideLayout14.xml"/><Relationship Id="rId4" Type="http://schemas.openxmlformats.org/officeDocument/2006/relationships/image" Target="../media/image301.png"/></Relationships>
</file>

<file path=ppt/slides/_rels/slide20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3.xml"/><Relationship Id="rId1" Type="http://schemas.openxmlformats.org/officeDocument/2006/relationships/slideLayout" Target="../slideLayouts/slideLayout14.xml"/><Relationship Id="rId4" Type="http://schemas.openxmlformats.org/officeDocument/2006/relationships/image" Target="../media/image302.png"/></Relationships>
</file>

<file path=ppt/slides/_rels/slide20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4.xml"/><Relationship Id="rId1" Type="http://schemas.openxmlformats.org/officeDocument/2006/relationships/slideLayout" Target="../slideLayouts/slideLayout14.xml"/></Relationships>
</file>

<file path=ppt/slides/_rels/slide205.xml.rels><?xml version="1.0" encoding="UTF-8" standalone="yes"?>
<Relationships xmlns="http://schemas.openxmlformats.org/package/2006/relationships"><Relationship Id="rId8" Type="http://schemas.openxmlformats.org/officeDocument/2006/relationships/image" Target="../media/image304.png"/><Relationship Id="rId3" Type="http://schemas.openxmlformats.org/officeDocument/2006/relationships/image" Target="../media/image11.png"/><Relationship Id="rId7" Type="http://schemas.openxmlformats.org/officeDocument/2006/relationships/image" Target="../media/image303.png"/><Relationship Id="rId2" Type="http://schemas.openxmlformats.org/officeDocument/2006/relationships/notesSlide" Target="../notesSlides/notesSlide205.xml"/><Relationship Id="rId1" Type="http://schemas.openxmlformats.org/officeDocument/2006/relationships/slideLayout" Target="../slideLayouts/slideLayout14.xml"/><Relationship Id="rId6" Type="http://schemas.openxmlformats.org/officeDocument/2006/relationships/image" Target="../media/image2970.png"/><Relationship Id="rId5" Type="http://schemas.openxmlformats.org/officeDocument/2006/relationships/image" Target="../media/image2710.png"/><Relationship Id="rId4" Type="http://schemas.openxmlformats.org/officeDocument/2006/relationships/image" Target="../media/image297.png"/><Relationship Id="rId9" Type="http://schemas.openxmlformats.org/officeDocument/2006/relationships/image" Target="../media/image308.png"/></Relationships>
</file>

<file path=ppt/slides/_rels/slide20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6.xml"/><Relationship Id="rId1" Type="http://schemas.openxmlformats.org/officeDocument/2006/relationships/slideLayout" Target="../slideLayouts/slideLayout14.xml"/><Relationship Id="rId5" Type="http://schemas.openxmlformats.org/officeDocument/2006/relationships/image" Target="../media/image299.png"/><Relationship Id="rId4" Type="http://schemas.openxmlformats.org/officeDocument/2006/relationships/image" Target="../media/image298.png"/></Relationships>
</file>

<file path=ppt/slides/_rels/slide20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7.xml"/><Relationship Id="rId1" Type="http://schemas.openxmlformats.org/officeDocument/2006/relationships/slideLayout" Target="../slideLayouts/slideLayout14.xml"/><Relationship Id="rId4" Type="http://schemas.openxmlformats.org/officeDocument/2006/relationships/image" Target="../media/image103.png"/></Relationships>
</file>

<file path=ppt/slides/_rels/slide20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8.xml"/><Relationship Id="rId1" Type="http://schemas.openxmlformats.org/officeDocument/2006/relationships/slideLayout" Target="../slideLayouts/slideLayout14.xml"/><Relationship Id="rId4" Type="http://schemas.openxmlformats.org/officeDocument/2006/relationships/image" Target="../media/image103.png"/></Relationships>
</file>

<file path=ppt/slides/_rels/slide20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9.xml"/><Relationship Id="rId1" Type="http://schemas.openxmlformats.org/officeDocument/2006/relationships/slideLayout" Target="../slideLayouts/slideLayout14.xml"/><Relationship Id="rId4" Type="http://schemas.openxmlformats.org/officeDocument/2006/relationships/image" Target="../media/image103.png"/></Relationships>
</file>

<file path=ppt/slides/_rels/slide2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0.xml"/><Relationship Id="rId1" Type="http://schemas.openxmlformats.org/officeDocument/2006/relationships/slideLayout" Target="../slideLayouts/slideLayout14.xml"/><Relationship Id="rId4" Type="http://schemas.openxmlformats.org/officeDocument/2006/relationships/image" Target="../media/image104.png"/></Relationships>
</file>

<file path=ppt/slides/_rels/slide2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1.xml"/><Relationship Id="rId1" Type="http://schemas.openxmlformats.org/officeDocument/2006/relationships/slideLayout" Target="../slideLayouts/slideLayout14.xml"/><Relationship Id="rId4" Type="http://schemas.openxmlformats.org/officeDocument/2006/relationships/image" Target="../media/image307.png"/></Relationships>
</file>

<file path=ppt/slides/_rels/slide2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2.xml"/><Relationship Id="rId1" Type="http://schemas.openxmlformats.org/officeDocument/2006/relationships/slideLayout" Target="../slideLayouts/slideLayout14.xml"/><Relationship Id="rId4" Type="http://schemas.openxmlformats.org/officeDocument/2006/relationships/image" Target="../media/image305.png"/></Relationships>
</file>

<file path=ppt/slides/_rels/slide213.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213.xml"/><Relationship Id="rId1" Type="http://schemas.openxmlformats.org/officeDocument/2006/relationships/slideLayout" Target="../slideLayouts/slideLayout4.xml"/></Relationships>
</file>

<file path=ppt/slides/_rels/slide2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4.xml"/><Relationship Id="rId1" Type="http://schemas.openxmlformats.org/officeDocument/2006/relationships/slideLayout" Target="../slideLayouts/slideLayout3.xml"/></Relationships>
</file>

<file path=ppt/slides/_rels/slide2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5.xml"/><Relationship Id="rId1" Type="http://schemas.openxmlformats.org/officeDocument/2006/relationships/slideLayout" Target="../slideLayouts/slideLayout14.xml"/></Relationships>
</file>

<file path=ppt/slides/_rels/slide21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216.xml"/><Relationship Id="rId1" Type="http://schemas.openxmlformats.org/officeDocument/2006/relationships/slideLayout" Target="../slideLayouts/slideLayout14.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14.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14.xml"/></Relationships>
</file>

<file path=ppt/slides/_rels/slide21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219.xml"/><Relationship Id="rId1" Type="http://schemas.openxmlformats.org/officeDocument/2006/relationships/slideLayout" Target="../slideLayouts/slideLayout14.xml"/><Relationship Id="rId5" Type="http://schemas.openxmlformats.org/officeDocument/2006/relationships/image" Target="../media/image312.png"/><Relationship Id="rId4" Type="http://schemas.openxmlformats.org/officeDocument/2006/relationships/image" Target="../media/image107.png"/></Relationships>
</file>

<file path=ppt/slides/_rels/slide220.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notesSlide" Target="../notesSlides/notesSlide220.xml"/><Relationship Id="rId1" Type="http://schemas.openxmlformats.org/officeDocument/2006/relationships/slideLayout" Target="../slideLayouts/slideLayout14.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14.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14.xml"/></Relationships>
</file>

<file path=ppt/slides/_rels/slide223.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4.png"/><Relationship Id="rId3" Type="http://schemas.openxmlformats.org/officeDocument/2006/relationships/image" Target="../media/image313.png"/><Relationship Id="rId7" Type="http://schemas.openxmlformats.org/officeDocument/2006/relationships/image" Target="../media/image108.png"/><Relationship Id="rId12" Type="http://schemas.openxmlformats.org/officeDocument/2006/relationships/image" Target="../media/image113.png"/><Relationship Id="rId2" Type="http://schemas.openxmlformats.org/officeDocument/2006/relationships/notesSlide" Target="../notesSlides/notesSlide223.xml"/><Relationship Id="rId1" Type="http://schemas.openxmlformats.org/officeDocument/2006/relationships/slideLayout" Target="../slideLayouts/slideLayout14.xml"/><Relationship Id="rId6" Type="http://schemas.openxmlformats.org/officeDocument/2006/relationships/image" Target="../media/image320.png"/><Relationship Id="rId11" Type="http://schemas.openxmlformats.org/officeDocument/2006/relationships/image" Target="../media/image112.png"/><Relationship Id="rId5" Type="http://schemas.openxmlformats.org/officeDocument/2006/relationships/image" Target="../media/image319.png"/><Relationship Id="rId10" Type="http://schemas.openxmlformats.org/officeDocument/2006/relationships/image" Target="../media/image111.png"/><Relationship Id="rId4" Type="http://schemas.openxmlformats.org/officeDocument/2006/relationships/image" Target="../media/image318.png"/><Relationship Id="rId9" Type="http://schemas.openxmlformats.org/officeDocument/2006/relationships/image" Target="../media/image110.png"/></Relationships>
</file>

<file path=ppt/slides/_rels/slide224.xml.rels><?xml version="1.0" encoding="UTF-8" standalone="yes"?>
<Relationships xmlns="http://schemas.openxmlformats.org/package/2006/relationships"><Relationship Id="rId3" Type="http://schemas.openxmlformats.org/officeDocument/2006/relationships/image" Target="../media/image324.png"/><Relationship Id="rId2" Type="http://schemas.openxmlformats.org/officeDocument/2006/relationships/notesSlide" Target="../notesSlides/notesSlide224.xml"/><Relationship Id="rId1" Type="http://schemas.openxmlformats.org/officeDocument/2006/relationships/slideLayout" Target="../slideLayouts/slideLayout14.xml"/><Relationship Id="rId6" Type="http://schemas.openxmlformats.org/officeDocument/2006/relationships/image" Target="../media/image327.png"/><Relationship Id="rId5" Type="http://schemas.openxmlformats.org/officeDocument/2006/relationships/image" Target="../media/image326.png"/><Relationship Id="rId4" Type="http://schemas.openxmlformats.org/officeDocument/2006/relationships/image" Target="../media/image325.png"/></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14.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14.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14.xml"/></Relationships>
</file>

<file path=ppt/slides/_rels/slide2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8.xml"/><Relationship Id="rId1" Type="http://schemas.openxmlformats.org/officeDocument/2006/relationships/slideLayout" Target="../slideLayouts/slideLayout14.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9.xml"/><Relationship Id="rId1" Type="http://schemas.openxmlformats.org/officeDocument/2006/relationships/slideLayout" Target="../slideLayouts/slideLayout14.xml"/></Relationships>
</file>

<file path=ppt/slides/_rels/slide230.xml.rels><?xml version="1.0" encoding="UTF-8" standalone="yes"?>
<Relationships xmlns="http://schemas.openxmlformats.org/package/2006/relationships"><Relationship Id="rId8" Type="http://schemas.openxmlformats.org/officeDocument/2006/relationships/image" Target="../media/image3260.png"/><Relationship Id="rId3" Type="http://schemas.openxmlformats.org/officeDocument/2006/relationships/image" Target="../media/image115.png"/><Relationship Id="rId7" Type="http://schemas.openxmlformats.org/officeDocument/2006/relationships/image" Target="../media/image335.png"/><Relationship Id="rId2" Type="http://schemas.openxmlformats.org/officeDocument/2006/relationships/notesSlide" Target="../notesSlides/notesSlide230.xml"/><Relationship Id="rId1" Type="http://schemas.openxmlformats.org/officeDocument/2006/relationships/slideLayout" Target="../slideLayouts/slideLayout14.xml"/><Relationship Id="rId10" Type="http://schemas.openxmlformats.org/officeDocument/2006/relationships/image" Target="../media/image331.png"/><Relationship Id="rId4" Type="http://schemas.openxmlformats.org/officeDocument/2006/relationships/image" Target="../media/image332.png"/><Relationship Id="rId9" Type="http://schemas.openxmlformats.org/officeDocument/2006/relationships/image" Target="../media/image3270.png"/></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231.xml"/><Relationship Id="rId1" Type="http://schemas.openxmlformats.org/officeDocument/2006/relationships/slideLayout" Target="../slideLayouts/slideLayout14.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14.xml"/></Relationships>
</file>

<file path=ppt/slides/_rels/slide233.xml.rels><?xml version="1.0" encoding="UTF-8" standalone="yes"?>
<Relationships xmlns="http://schemas.openxmlformats.org/package/2006/relationships"><Relationship Id="rId3" Type="http://schemas.openxmlformats.org/officeDocument/2006/relationships/image" Target="../media/image652.png"/><Relationship Id="rId2" Type="http://schemas.openxmlformats.org/officeDocument/2006/relationships/notesSlide" Target="../notesSlides/notesSlide233.xml"/><Relationship Id="rId1" Type="http://schemas.openxmlformats.org/officeDocument/2006/relationships/slideLayout" Target="../slideLayouts/slideLayout14.xml"/><Relationship Id="rId5" Type="http://schemas.openxmlformats.org/officeDocument/2006/relationships/image" Target="../media/image671.png"/><Relationship Id="rId4" Type="http://schemas.openxmlformats.org/officeDocument/2006/relationships/image" Target="../media/image661.png"/></Relationships>
</file>

<file path=ppt/slides/_rels/slide234.xml.rels><?xml version="1.0" encoding="UTF-8" standalone="yes"?>
<Relationships xmlns="http://schemas.openxmlformats.org/package/2006/relationships"><Relationship Id="rId3" Type="http://schemas.openxmlformats.org/officeDocument/2006/relationships/image" Target="../media/image329.png"/><Relationship Id="rId2" Type="http://schemas.openxmlformats.org/officeDocument/2006/relationships/notesSlide" Target="../notesSlides/notesSlide234.xml"/><Relationship Id="rId1" Type="http://schemas.openxmlformats.org/officeDocument/2006/relationships/slideLayout" Target="../slideLayouts/slideLayout14.xml"/><Relationship Id="rId5" Type="http://schemas.openxmlformats.org/officeDocument/2006/relationships/image" Target="../media/image338.png"/><Relationship Id="rId4" Type="http://schemas.openxmlformats.org/officeDocument/2006/relationships/image" Target="../media/image3250.png"/></Relationships>
</file>

<file path=ppt/slides/_rels/slide235.xml.rels><?xml version="1.0" encoding="UTF-8" standalone="yes"?>
<Relationships xmlns="http://schemas.openxmlformats.org/package/2006/relationships"><Relationship Id="rId3" Type="http://schemas.openxmlformats.org/officeDocument/2006/relationships/hyperlink" Target="https://scikit-learn.org/stable/modules/generated/sklearn.tree.DecisionTreeClassifier.html" TargetMode="External"/><Relationship Id="rId2" Type="http://schemas.openxmlformats.org/officeDocument/2006/relationships/notesSlide" Target="../notesSlides/notesSlide235.xml"/><Relationship Id="rId1" Type="http://schemas.openxmlformats.org/officeDocument/2006/relationships/slideLayout" Target="../slideLayouts/slideLayout14.xml"/><Relationship Id="rId4" Type="http://schemas.openxmlformats.org/officeDocument/2006/relationships/hyperlink" Target="https://scikit-learn.org/stable/modules/generated/sklearn.tree.DecisionTreeRegressor.html" TargetMode="Externa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14.xml"/></Relationships>
</file>

<file path=ppt/slides/_rels/slide237.xml.rels><?xml version="1.0" encoding="UTF-8" standalone="yes"?>
<Relationships xmlns="http://schemas.openxmlformats.org/package/2006/relationships"><Relationship Id="rId3" Type="http://schemas.openxmlformats.org/officeDocument/2006/relationships/image" Target="../media/image3330.png"/><Relationship Id="rId2" Type="http://schemas.openxmlformats.org/officeDocument/2006/relationships/notesSlide" Target="../notesSlides/notesSlide237.xml"/><Relationship Id="rId1" Type="http://schemas.openxmlformats.org/officeDocument/2006/relationships/slideLayout" Target="../slideLayouts/slideLayout14.xml"/><Relationship Id="rId4" Type="http://schemas.openxmlformats.org/officeDocument/2006/relationships/image" Target="../media/image330.png"/></Relationships>
</file>

<file path=ppt/slides/_rels/slide238.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238.xml"/><Relationship Id="rId1" Type="http://schemas.openxmlformats.org/officeDocument/2006/relationships/slideLayout" Target="../slideLayouts/slideLayout4.xml"/></Relationships>
</file>

<file path=ppt/slides/_rels/slide2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9.xml"/><Relationship Id="rId1" Type="http://schemas.openxmlformats.org/officeDocument/2006/relationships/slideLayout" Target="../slideLayouts/slideLayout3.xml"/></Relationships>
</file>

<file path=ppt/slides/_rels/slide2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0.xml"/><Relationship Id="rId1" Type="http://schemas.openxmlformats.org/officeDocument/2006/relationships/slideLayout" Target="../slideLayouts/slideLayout14.xml"/></Relationships>
</file>

<file path=ppt/slides/_rels/slide241.xml.rels><?xml version="1.0" encoding="UTF-8" standalone="yes"?>
<Relationships xmlns="http://schemas.openxmlformats.org/package/2006/relationships"><Relationship Id="rId3" Type="http://schemas.openxmlformats.org/officeDocument/2006/relationships/image" Target="../media/image341.png"/><Relationship Id="rId2" Type="http://schemas.openxmlformats.org/officeDocument/2006/relationships/notesSlide" Target="../notesSlides/notesSlide241.xml"/><Relationship Id="rId1" Type="http://schemas.openxmlformats.org/officeDocument/2006/relationships/slideLayout" Target="../slideLayouts/slideLayout14.xml"/><Relationship Id="rId6" Type="http://schemas.openxmlformats.org/officeDocument/2006/relationships/image" Target="../media/image343.png"/><Relationship Id="rId5" Type="http://schemas.openxmlformats.org/officeDocument/2006/relationships/image" Target="../media/image342.png"/><Relationship Id="rId4" Type="http://schemas.openxmlformats.org/officeDocument/2006/relationships/image" Target="../media/image11.png"/></Relationships>
</file>

<file path=ppt/slides/_rels/slide242.xml.rels><?xml version="1.0" encoding="UTF-8" standalone="yes"?>
<Relationships xmlns="http://schemas.openxmlformats.org/package/2006/relationships"><Relationship Id="rId3" Type="http://schemas.openxmlformats.org/officeDocument/2006/relationships/image" Target="../media/image344.png"/><Relationship Id="rId2" Type="http://schemas.openxmlformats.org/officeDocument/2006/relationships/notesSlide" Target="../notesSlides/notesSlide242.xml"/><Relationship Id="rId1" Type="http://schemas.openxmlformats.org/officeDocument/2006/relationships/slideLayout" Target="../slideLayouts/slideLayout14.xml"/><Relationship Id="rId5" Type="http://schemas.openxmlformats.org/officeDocument/2006/relationships/image" Target="../media/image116.png"/><Relationship Id="rId4" Type="http://schemas.openxmlformats.org/officeDocument/2006/relationships/image" Target="../media/image11.png"/></Relationships>
</file>

<file path=ppt/slides/_rels/slide2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3.xml"/><Relationship Id="rId1" Type="http://schemas.openxmlformats.org/officeDocument/2006/relationships/slideLayout" Target="../slideLayouts/slideLayout14.xml"/><Relationship Id="rId4" Type="http://schemas.openxmlformats.org/officeDocument/2006/relationships/image" Target="../media/image337.png"/></Relationships>
</file>

<file path=ppt/slides/_rels/slide2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4.xml"/><Relationship Id="rId1" Type="http://schemas.openxmlformats.org/officeDocument/2006/relationships/slideLayout" Target="../slideLayouts/slideLayout14.xml"/></Relationships>
</file>

<file path=ppt/slides/_rels/slide2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5.xml"/><Relationship Id="rId1" Type="http://schemas.openxmlformats.org/officeDocument/2006/relationships/slideLayout" Target="../slideLayouts/slideLayout14.xml"/></Relationships>
</file>

<file path=ppt/slides/_rels/slide2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6.xml"/><Relationship Id="rId1" Type="http://schemas.openxmlformats.org/officeDocument/2006/relationships/slideLayout" Target="../slideLayouts/slideLayout14.xml"/></Relationships>
</file>

<file path=ppt/slides/_rels/slide2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7.xml"/><Relationship Id="rId1" Type="http://schemas.openxmlformats.org/officeDocument/2006/relationships/slideLayout" Target="../slideLayouts/slideLayout14.xml"/></Relationships>
</file>

<file path=ppt/slides/_rels/slide2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8.xml"/><Relationship Id="rId1" Type="http://schemas.openxmlformats.org/officeDocument/2006/relationships/slideLayout" Target="../slideLayouts/slideLayout14.xml"/></Relationships>
</file>

<file path=ppt/slides/_rels/slide2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9.xml"/><Relationship Id="rId1" Type="http://schemas.openxmlformats.org/officeDocument/2006/relationships/slideLayout" Target="../slideLayouts/slideLayout14.xml"/></Relationships>
</file>

<file path=ppt/slides/_rels/slide2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0.xml"/><Relationship Id="rId1" Type="http://schemas.openxmlformats.org/officeDocument/2006/relationships/slideLayout" Target="../slideLayouts/slideLayout14.xml"/></Relationships>
</file>

<file path=ppt/slides/_rels/slide251.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251.xml"/><Relationship Id="rId1" Type="http://schemas.openxmlformats.org/officeDocument/2006/relationships/slideLayout" Target="../slideLayouts/slideLayout4.xml"/></Relationships>
</file>

<file path=ppt/slides/_rels/slide2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2.xml"/><Relationship Id="rId1" Type="http://schemas.openxmlformats.org/officeDocument/2006/relationships/slideLayout" Target="../slideLayouts/slideLayout3.xml"/></Relationships>
</file>

<file path=ppt/slides/_rels/slide2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3.xml"/><Relationship Id="rId1" Type="http://schemas.openxmlformats.org/officeDocument/2006/relationships/slideLayout" Target="../slideLayouts/slideLayout14.xml"/></Relationships>
</file>

<file path=ppt/slides/_rels/slide2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4.xml"/><Relationship Id="rId1" Type="http://schemas.openxmlformats.org/officeDocument/2006/relationships/slideLayout" Target="../slideLayouts/slideLayout14.xml"/></Relationships>
</file>

<file path=ppt/slides/_rels/slide2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5.xml"/><Relationship Id="rId1" Type="http://schemas.openxmlformats.org/officeDocument/2006/relationships/slideLayout" Target="../slideLayouts/slideLayout14.xml"/></Relationships>
</file>

<file path=ppt/slides/_rels/slide2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6.xml"/><Relationship Id="rId1" Type="http://schemas.openxmlformats.org/officeDocument/2006/relationships/slideLayout" Target="../slideLayouts/slideLayout14.xml"/></Relationships>
</file>

<file path=ppt/slides/_rels/slide2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7.xml"/><Relationship Id="rId1" Type="http://schemas.openxmlformats.org/officeDocument/2006/relationships/slideLayout" Target="../slideLayouts/slideLayout14.xml"/></Relationships>
</file>

<file path=ppt/slides/_rels/slide2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8.xml"/><Relationship Id="rId1" Type="http://schemas.openxmlformats.org/officeDocument/2006/relationships/slideLayout" Target="../slideLayouts/slideLayout14.xml"/><Relationship Id="rId5" Type="http://schemas.openxmlformats.org/officeDocument/2006/relationships/image" Target="../media/image348.png"/><Relationship Id="rId4" Type="http://schemas.openxmlformats.org/officeDocument/2006/relationships/image" Target="../media/image490.png"/></Relationships>
</file>

<file path=ppt/slides/_rels/slide2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9.xml"/><Relationship Id="rId1" Type="http://schemas.openxmlformats.org/officeDocument/2006/relationships/slideLayout" Target="../slideLayouts/slideLayout14.xml"/></Relationships>
</file>

<file path=ppt/slides/_rels/slide260.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260.xml"/><Relationship Id="rId1" Type="http://schemas.openxmlformats.org/officeDocument/2006/relationships/slideLayout" Target="../slideLayouts/slideLayout4.xml"/></Relationships>
</file>

<file path=ppt/slides/_rels/slide2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1.xml"/><Relationship Id="rId1" Type="http://schemas.openxmlformats.org/officeDocument/2006/relationships/slideLayout" Target="../slideLayouts/slideLayout3.xml"/></Relationships>
</file>

<file path=ppt/slides/_rels/slide26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2.xml"/><Relationship Id="rId1" Type="http://schemas.openxmlformats.org/officeDocument/2006/relationships/slideLayout" Target="../slideLayouts/slideLayout14.xml"/></Relationships>
</file>

<file path=ppt/slides/_rels/slide26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3.xml"/><Relationship Id="rId1" Type="http://schemas.openxmlformats.org/officeDocument/2006/relationships/slideLayout" Target="../slideLayouts/slideLayout14.xml"/></Relationships>
</file>

<file path=ppt/slides/_rels/slide26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4.xml"/><Relationship Id="rId1" Type="http://schemas.openxmlformats.org/officeDocument/2006/relationships/slideLayout" Target="../slideLayouts/slideLayout14.xml"/></Relationships>
</file>

<file path=ppt/slides/_rels/slide26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5.xml"/><Relationship Id="rId1" Type="http://schemas.openxmlformats.org/officeDocument/2006/relationships/slideLayout" Target="../slideLayouts/slideLayout14.xml"/></Relationships>
</file>

<file path=ppt/slides/_rels/slide26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6.xml"/><Relationship Id="rId1" Type="http://schemas.openxmlformats.org/officeDocument/2006/relationships/slideLayout" Target="../slideLayouts/slideLayout14.xml"/></Relationships>
</file>

<file path=ppt/slides/_rels/slide26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7.xml"/><Relationship Id="rId1" Type="http://schemas.openxmlformats.org/officeDocument/2006/relationships/slideLayout" Target="../slideLayouts/slideLayout14.xml"/></Relationships>
</file>

<file path=ppt/slides/_rels/slide26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8.xml"/><Relationship Id="rId1" Type="http://schemas.openxmlformats.org/officeDocument/2006/relationships/slideLayout" Target="../slideLayouts/slideLayout14.xml"/></Relationships>
</file>

<file path=ppt/slides/_rels/slide26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9.xml"/><Relationship Id="rId1" Type="http://schemas.openxmlformats.org/officeDocument/2006/relationships/slideLayout" Target="../slideLayouts/slideLayout14.xml"/></Relationships>
</file>

<file path=ppt/slides/_rels/slide27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0.xml"/><Relationship Id="rId1" Type="http://schemas.openxmlformats.org/officeDocument/2006/relationships/slideLayout" Target="../slideLayouts/slideLayout14.xml"/><Relationship Id="rId5" Type="http://schemas.openxmlformats.org/officeDocument/2006/relationships/image" Target="../media/image347.png"/><Relationship Id="rId4" Type="http://schemas.openxmlformats.org/officeDocument/2006/relationships/image" Target="../media/image346.png"/></Relationships>
</file>

<file path=ppt/slides/_rels/slide27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1.xml"/><Relationship Id="rId1" Type="http://schemas.openxmlformats.org/officeDocument/2006/relationships/slideLayout" Target="../slideLayouts/slideLayout14.xml"/><Relationship Id="rId4" Type="http://schemas.openxmlformats.org/officeDocument/2006/relationships/image" Target="../media/image334.png"/></Relationships>
</file>

<file path=ppt/slides/_rels/slide27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2.xml"/><Relationship Id="rId1" Type="http://schemas.openxmlformats.org/officeDocument/2006/relationships/slideLayout" Target="../slideLayouts/slideLayout14.xml"/><Relationship Id="rId6" Type="http://schemas.openxmlformats.org/officeDocument/2006/relationships/image" Target="../media/image560.png"/><Relationship Id="rId5" Type="http://schemas.openxmlformats.org/officeDocument/2006/relationships/image" Target="../media/image550.png"/><Relationship Id="rId4" Type="http://schemas.openxmlformats.org/officeDocument/2006/relationships/image" Target="../media/image540.png"/></Relationships>
</file>

<file path=ppt/slides/_rels/slide273.xml.rels><?xml version="1.0" encoding="UTF-8" standalone="yes"?>
<Relationships xmlns="http://schemas.openxmlformats.org/package/2006/relationships"><Relationship Id="rId8" Type="http://schemas.openxmlformats.org/officeDocument/2006/relationships/image" Target="../media/image612.png"/><Relationship Id="rId3" Type="http://schemas.openxmlformats.org/officeDocument/2006/relationships/image" Target="../media/image11.png"/><Relationship Id="rId7" Type="http://schemas.openxmlformats.org/officeDocument/2006/relationships/image" Target="../media/image602.png"/><Relationship Id="rId2" Type="http://schemas.openxmlformats.org/officeDocument/2006/relationships/notesSlide" Target="../notesSlides/notesSlide273.xml"/><Relationship Id="rId1" Type="http://schemas.openxmlformats.org/officeDocument/2006/relationships/slideLayout" Target="../slideLayouts/slideLayout14.xml"/><Relationship Id="rId6" Type="http://schemas.openxmlformats.org/officeDocument/2006/relationships/image" Target="../media/image355.png"/><Relationship Id="rId5" Type="http://schemas.openxmlformats.org/officeDocument/2006/relationships/image" Target="../media/image354.png"/><Relationship Id="rId4" Type="http://schemas.openxmlformats.org/officeDocument/2006/relationships/image" Target="../media/image353.png"/></Relationships>
</file>

<file path=ppt/slides/_rels/slide27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4.xml"/><Relationship Id="rId1" Type="http://schemas.openxmlformats.org/officeDocument/2006/relationships/slideLayout" Target="../slideLayouts/slideLayout14.xml"/><Relationship Id="rId4" Type="http://schemas.openxmlformats.org/officeDocument/2006/relationships/image" Target="../media/image336.png"/></Relationships>
</file>

<file path=ppt/slides/_rels/slide275.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275.xml"/><Relationship Id="rId1" Type="http://schemas.openxmlformats.org/officeDocument/2006/relationships/slideLayout" Target="../slideLayouts/slideLayout4.xml"/></Relationships>
</file>

<file path=ppt/slides/_rels/slide27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6.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27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7.xml"/><Relationship Id="rId1" Type="http://schemas.openxmlformats.org/officeDocument/2006/relationships/slideLayout" Target="../slideLayouts/slideLayout14.xml"/></Relationships>
</file>

<file path=ppt/slides/_rels/slide27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8.xml"/><Relationship Id="rId1" Type="http://schemas.openxmlformats.org/officeDocument/2006/relationships/slideLayout" Target="../slideLayouts/slideLayout14.xml"/></Relationships>
</file>

<file path=ppt/slides/_rels/slide27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9.xml"/><Relationship Id="rId1" Type="http://schemas.openxmlformats.org/officeDocument/2006/relationships/slideLayout" Target="../slideLayouts/slideLayout14.xml"/></Relationships>
</file>

<file path=ppt/slides/_rels/slide28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0.xml"/><Relationship Id="rId1" Type="http://schemas.openxmlformats.org/officeDocument/2006/relationships/slideLayout" Target="../slideLayouts/slideLayout14.xml"/></Relationships>
</file>

<file path=ppt/slides/_rels/slide28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1.xml"/><Relationship Id="rId1" Type="http://schemas.openxmlformats.org/officeDocument/2006/relationships/slideLayout" Target="../slideLayouts/slideLayout14.xml"/></Relationships>
</file>

<file path=ppt/slides/_rels/slide28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2.xml"/><Relationship Id="rId1" Type="http://schemas.openxmlformats.org/officeDocument/2006/relationships/slideLayout" Target="../slideLayouts/slideLayout14.xml"/></Relationships>
</file>

<file path=ppt/slides/_rels/slide28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3.xml"/><Relationship Id="rId1" Type="http://schemas.openxmlformats.org/officeDocument/2006/relationships/slideLayout" Target="../slideLayouts/slideLayout14.xml"/></Relationships>
</file>

<file path=ppt/slides/_rels/slide28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4.xml"/><Relationship Id="rId1" Type="http://schemas.openxmlformats.org/officeDocument/2006/relationships/slideLayout" Target="../slideLayouts/slideLayout14.xml"/></Relationships>
</file>

<file path=ppt/slides/_rels/slide28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5.xml"/><Relationship Id="rId1" Type="http://schemas.openxmlformats.org/officeDocument/2006/relationships/slideLayout" Target="../slideLayouts/slideLayout14.xml"/></Relationships>
</file>

<file path=ppt/slides/_rels/slide28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6.xml"/><Relationship Id="rId1" Type="http://schemas.openxmlformats.org/officeDocument/2006/relationships/slideLayout" Target="../slideLayouts/slideLayout14.xml"/><Relationship Id="rId5" Type="http://schemas.openxmlformats.org/officeDocument/2006/relationships/hyperlink" Target="https://scikit-learn.org/stable/modules/generated/sklearn.ensemble.VotingRegressor.html" TargetMode="External"/><Relationship Id="rId4" Type="http://schemas.openxmlformats.org/officeDocument/2006/relationships/hyperlink" Target="https://scikit-learn.org/stable/modules/generated/sklearn.ensemble.VotingClassifier.html" TargetMode="External"/></Relationships>
</file>

<file path=ppt/slides/_rels/slide28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28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8.xml"/><Relationship Id="rId1" Type="http://schemas.openxmlformats.org/officeDocument/2006/relationships/slideLayout" Target="../slideLayouts/slideLayout14.xml"/></Relationships>
</file>

<file path=ppt/slides/_rels/slide28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9.xml"/><Relationship Id="rId1" Type="http://schemas.openxmlformats.org/officeDocument/2006/relationships/slideLayout" Target="../slideLayouts/slideLayout14.xml"/></Relationships>
</file>

<file path=ppt/slides/_rels/slide29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0.xml"/><Relationship Id="rId1" Type="http://schemas.openxmlformats.org/officeDocument/2006/relationships/slideLayout" Target="../slideLayouts/slideLayout14.xml"/></Relationships>
</file>

<file path=ppt/slides/_rels/slide29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1.xml"/><Relationship Id="rId1" Type="http://schemas.openxmlformats.org/officeDocument/2006/relationships/slideLayout" Target="../slideLayouts/slideLayout14.xml"/><Relationship Id="rId5" Type="http://schemas.openxmlformats.org/officeDocument/2006/relationships/hyperlink" Target="https://scikit-learn.org/stable/modules/generated/sklearn.ensemble.RandomForestRegressor.html" TargetMode="External"/><Relationship Id="rId4" Type="http://schemas.openxmlformats.org/officeDocument/2006/relationships/hyperlink" Target="https://scikit-learn.org/stable/modules/generated/sklearn.ensemble.RandomForestClassifier.html" TargetMode="External"/></Relationships>
</file>

<file path=ppt/slides/_rels/slide29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2.xml"/><Relationship Id="rId1" Type="http://schemas.openxmlformats.org/officeDocument/2006/relationships/slideLayout" Target="../slideLayouts/slideLayout14.xml"/></Relationships>
</file>

<file path=ppt/slides/_rels/slide29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3.xml"/><Relationship Id="rId1" Type="http://schemas.openxmlformats.org/officeDocument/2006/relationships/slideLayout" Target="../slideLayouts/slideLayout14.xml"/></Relationships>
</file>

<file path=ppt/slides/_rels/slide29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4.xml"/><Relationship Id="rId1" Type="http://schemas.openxmlformats.org/officeDocument/2006/relationships/slideLayout" Target="../slideLayouts/slideLayout14.xml"/></Relationships>
</file>

<file path=ppt/slides/_rels/slide29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5.xml"/><Relationship Id="rId1" Type="http://schemas.openxmlformats.org/officeDocument/2006/relationships/slideLayout" Target="../slideLayouts/slideLayout14.xml"/></Relationships>
</file>

<file path=ppt/slides/_rels/slide29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6.xml"/><Relationship Id="rId1" Type="http://schemas.openxmlformats.org/officeDocument/2006/relationships/slideLayout" Target="../slideLayouts/slideLayout14.xml"/></Relationships>
</file>

<file path=ppt/slides/_rels/slide29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7.xml"/><Relationship Id="rId1" Type="http://schemas.openxmlformats.org/officeDocument/2006/relationships/slideLayout" Target="../slideLayouts/slideLayout14.xml"/></Relationships>
</file>

<file path=ppt/slides/_rels/slide29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8.xml"/><Relationship Id="rId1" Type="http://schemas.openxmlformats.org/officeDocument/2006/relationships/slideLayout" Target="../slideLayouts/slideLayout14.xml"/></Relationships>
</file>

<file path=ppt/slides/_rels/slide29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9.xml"/><Relationship Id="rId1" Type="http://schemas.openxmlformats.org/officeDocument/2006/relationships/slideLayout" Target="../slideLayouts/slideLayout14.xml"/></Relationships>
</file>

<file path=ppt/slides/_rels/slide30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30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1.xml"/><Relationship Id="rId1" Type="http://schemas.openxmlformats.org/officeDocument/2006/relationships/slideLayout" Target="../slideLayouts/slideLayout14.xml"/></Relationships>
</file>

<file path=ppt/slides/_rels/slide30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2.xml"/><Relationship Id="rId1" Type="http://schemas.openxmlformats.org/officeDocument/2006/relationships/slideLayout" Target="../slideLayouts/slideLayout14.xml"/><Relationship Id="rId5" Type="http://schemas.openxmlformats.org/officeDocument/2006/relationships/image" Target="NULL"/><Relationship Id="rId4" Type="http://schemas.openxmlformats.org/officeDocument/2006/relationships/image" Target="NULL"/></Relationships>
</file>

<file path=ppt/slides/_rels/slide30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3.xml"/><Relationship Id="rId1" Type="http://schemas.openxmlformats.org/officeDocument/2006/relationships/slideLayout" Target="../slideLayouts/slideLayout14.xml"/><Relationship Id="rId6" Type="http://schemas.openxmlformats.org/officeDocument/2006/relationships/image" Target="NULL"/><Relationship Id="rId5" Type="http://schemas.openxmlformats.org/officeDocument/2006/relationships/image" Target="../media/image358.png"/><Relationship Id="rId4" Type="http://schemas.openxmlformats.org/officeDocument/2006/relationships/image" Target="../media/image357.png"/></Relationships>
</file>

<file path=ppt/slides/_rels/slide30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350.png"/><Relationship Id="rId2" Type="http://schemas.openxmlformats.org/officeDocument/2006/relationships/notesSlide" Target="../notesSlides/notesSlide304.xml"/><Relationship Id="rId1" Type="http://schemas.openxmlformats.org/officeDocument/2006/relationships/slideLayout" Target="../slideLayouts/slideLayout14.xml"/><Relationship Id="rId6" Type="http://schemas.openxmlformats.org/officeDocument/2006/relationships/image" Target="../media/image349.png"/><Relationship Id="rId5" Type="http://schemas.openxmlformats.org/officeDocument/2006/relationships/image" Target="../media/image345.png"/><Relationship Id="rId4" Type="http://schemas.openxmlformats.org/officeDocument/2006/relationships/image" Target="NULL"/></Relationships>
</file>

<file path=ppt/slides/_rels/slide30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5.xml"/><Relationship Id="rId1" Type="http://schemas.openxmlformats.org/officeDocument/2006/relationships/slideLayout" Target="../slideLayouts/slideLayout14.xml"/><Relationship Id="rId4" Type="http://schemas.openxmlformats.org/officeDocument/2006/relationships/image" Target="../media/image3500.png"/></Relationships>
</file>

<file path=ppt/slides/_rels/slide30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6.xml"/><Relationship Id="rId1" Type="http://schemas.openxmlformats.org/officeDocument/2006/relationships/slideLayout" Target="../slideLayouts/slideLayout14.xml"/><Relationship Id="rId4" Type="http://schemas.openxmlformats.org/officeDocument/2006/relationships/image" Target="../media/image361.png"/></Relationships>
</file>

<file path=ppt/slides/_rels/slide30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7.xml"/><Relationship Id="rId1" Type="http://schemas.openxmlformats.org/officeDocument/2006/relationships/slideLayout" Target="../slideLayouts/slideLayout14.xml"/><Relationship Id="rId5" Type="http://schemas.openxmlformats.org/officeDocument/2006/relationships/hyperlink" Target="https://scikit-learn.org/stable/modules/generated/sklearn.ensemble.AdaBoostRegressor.html" TargetMode="External"/><Relationship Id="rId4" Type="http://schemas.openxmlformats.org/officeDocument/2006/relationships/hyperlink" Target="https://scikit-learn.org/stable/modules/generated/sklearn.ensemble.AdaBoostClassifier.html" TargetMode="External"/></Relationships>
</file>

<file path=ppt/slides/_rels/slide308.xml.rels><?xml version="1.0" encoding="UTF-8" standalone="yes"?>
<Relationships xmlns="http://schemas.openxmlformats.org/package/2006/relationships"><Relationship Id="rId3" Type="http://schemas.openxmlformats.org/officeDocument/2006/relationships/image" Target="../media/image351.png"/><Relationship Id="rId2" Type="http://schemas.openxmlformats.org/officeDocument/2006/relationships/notesSlide" Target="../notesSlides/notesSlide308.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30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9.xml"/><Relationship Id="rId1" Type="http://schemas.openxmlformats.org/officeDocument/2006/relationships/slideLayout" Target="../slideLayouts/slideLayout14.xml"/><Relationship Id="rId5" Type="http://schemas.openxmlformats.org/officeDocument/2006/relationships/hyperlink" Target="https://scikit-learn.org/stable/modules/generated/sklearn.ensemble.GradientBoostingRegressor.html" TargetMode="External"/><Relationship Id="rId4" Type="http://schemas.openxmlformats.org/officeDocument/2006/relationships/hyperlink" Target="https://scikit-learn.org/stable/modules/generated/sklearn.ensemble.GradientBoostingClassifier.html" TargetMode="External"/></Relationships>
</file>

<file path=ppt/slides/_rels/slide3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0.xml"/><Relationship Id="rId1" Type="http://schemas.openxmlformats.org/officeDocument/2006/relationships/slideLayout" Target="../slideLayouts/slideLayout14.xml"/></Relationships>
</file>

<file path=ppt/slides/_rels/slide3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1.xml"/><Relationship Id="rId1" Type="http://schemas.openxmlformats.org/officeDocument/2006/relationships/slideLayout" Target="../slideLayouts/slideLayout14.xml"/><Relationship Id="rId4" Type="http://schemas.openxmlformats.org/officeDocument/2006/relationships/hyperlink" Target="https://xgboost.readthedocs.io/en/latest/python/index.htm" TargetMode="External"/></Relationships>
</file>

<file path=ppt/slides/_rels/slide3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2.xml"/><Relationship Id="rId1" Type="http://schemas.openxmlformats.org/officeDocument/2006/relationships/slideLayout" Target="../slideLayouts/slideLayout14.xml"/></Relationships>
</file>

<file path=ppt/slides/_rels/slide3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3.xml"/><Relationship Id="rId1" Type="http://schemas.openxmlformats.org/officeDocument/2006/relationships/slideLayout" Target="../slideLayouts/slideLayout14.xml"/><Relationship Id="rId4" Type="http://schemas.openxmlformats.org/officeDocument/2006/relationships/image" Target="../media/image117.png"/></Relationships>
</file>

<file path=ppt/slides/_rels/slide3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4.xml"/><Relationship Id="rId1" Type="http://schemas.openxmlformats.org/officeDocument/2006/relationships/slideLayout" Target="../slideLayouts/slideLayout14.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3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5.xml"/><Relationship Id="rId1" Type="http://schemas.openxmlformats.org/officeDocument/2006/relationships/slideLayout" Target="../slideLayouts/slideLayout14.xml"/></Relationships>
</file>

<file path=ppt/slides/_rels/slide3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6.xml"/><Relationship Id="rId1" Type="http://schemas.openxmlformats.org/officeDocument/2006/relationships/slideLayout" Target="../slideLayouts/slideLayout14.xml"/></Relationships>
</file>

<file path=ppt/slides/_rels/slide3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7.xml"/><Relationship Id="rId1" Type="http://schemas.openxmlformats.org/officeDocument/2006/relationships/slideLayout" Target="../slideLayouts/slideLayout14.xml"/><Relationship Id="rId4" Type="http://schemas.openxmlformats.org/officeDocument/2006/relationships/image" Target="../media/image121.png"/></Relationships>
</file>

<file path=ppt/slides/_rels/slide3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8.xml"/><Relationship Id="rId1" Type="http://schemas.openxmlformats.org/officeDocument/2006/relationships/slideLayout" Target="../slideLayouts/slideLayout14.xml"/></Relationships>
</file>

<file path=ppt/slides/_rels/slide3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9.xml"/><Relationship Id="rId1" Type="http://schemas.openxmlformats.org/officeDocument/2006/relationships/slideLayout" Target="../slideLayouts/slideLayout14.xml"/></Relationships>
</file>

<file path=ppt/slides/_rels/slide3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0.xml"/><Relationship Id="rId1" Type="http://schemas.openxmlformats.org/officeDocument/2006/relationships/slideLayout" Target="../slideLayouts/slideLayout14.xml"/></Relationships>
</file>

<file path=ppt/slides/_rels/slide3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1.xml"/><Relationship Id="rId1" Type="http://schemas.openxmlformats.org/officeDocument/2006/relationships/slideLayout" Target="../slideLayouts/slideLayout14.xml"/></Relationships>
</file>

<file path=ppt/slides/_rels/slide3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2.xml"/><Relationship Id="rId1" Type="http://schemas.openxmlformats.org/officeDocument/2006/relationships/slideLayout" Target="../slideLayouts/slideLayout14.xml"/><Relationship Id="rId4" Type="http://schemas.openxmlformats.org/officeDocument/2006/relationships/image" Target="../media/image122.png"/></Relationships>
</file>

<file path=ppt/slides/_rels/slide3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3.xml"/><Relationship Id="rId1" Type="http://schemas.openxmlformats.org/officeDocument/2006/relationships/slideLayout" Target="../slideLayouts/slideLayout14.xml"/></Relationships>
</file>

<file path=ppt/slides/_rels/slide3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4.xml"/><Relationship Id="rId1" Type="http://schemas.openxmlformats.org/officeDocument/2006/relationships/slideLayout" Target="../slideLayouts/slideLayout14.xml"/></Relationships>
</file>

<file path=ppt/slides/_rels/slide325.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325.xml"/><Relationship Id="rId1" Type="http://schemas.openxmlformats.org/officeDocument/2006/relationships/slideLayout" Target="../slideLayouts/slideLayout4.xml"/></Relationships>
</file>

<file path=ppt/slides/_rels/slide32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326.xml"/><Relationship Id="rId1" Type="http://schemas.openxmlformats.org/officeDocument/2006/relationships/slideLayout" Target="../slideLayouts/slideLayout4.xml"/></Relationships>
</file>

<file path=ppt/slides/_rels/slide327.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327.xml"/><Relationship Id="rId1" Type="http://schemas.openxmlformats.org/officeDocument/2006/relationships/slideLayout" Target="../slideLayouts/slideLayout4.xml"/></Relationships>
</file>

<file path=ppt/slides/_rels/slide32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28.xml"/><Relationship Id="rId1" Type="http://schemas.openxmlformats.org/officeDocument/2006/relationships/slideLayout" Target="../slideLayouts/slideLayout13.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그룹 10">
            <a:extLst>
              <a:ext uri="{FF2B5EF4-FFF2-40B4-BE49-F238E27FC236}">
                <a16:creationId xmlns:a16="http://schemas.microsoft.com/office/drawing/2014/main" id="{746D8F30-B58D-4663-85B2-14D4B12487AC}"/>
              </a:ext>
            </a:extLst>
          </p:cNvPr>
          <p:cNvGrpSpPr/>
          <p:nvPr/>
        </p:nvGrpSpPr>
        <p:grpSpPr>
          <a:xfrm>
            <a:off x="719769" y="2070436"/>
            <a:ext cx="7736103" cy="2410149"/>
            <a:chOff x="720000" y="2070000"/>
            <a:chExt cx="7738584" cy="2410922"/>
          </a:xfrm>
        </p:grpSpPr>
        <p:sp>
          <p:nvSpPr>
            <p:cNvPr id="6" name="직사각형 133">
              <a:extLst>
                <a:ext uri="{FF2B5EF4-FFF2-40B4-BE49-F238E27FC236}">
                  <a16:creationId xmlns:a16="http://schemas.microsoft.com/office/drawing/2014/main" id="{9ECD4F1E-56F2-4389-8493-B26C356AB15F}"/>
                </a:ext>
              </a:extLst>
            </p:cNvPr>
            <p:cNvSpPr/>
            <p:nvPr/>
          </p:nvSpPr>
          <p:spPr>
            <a:xfrm>
              <a:off x="990000" y="2583295"/>
              <a:ext cx="7468584" cy="9852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Machine Learning 1</a:t>
              </a:r>
              <a:b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b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 Supervised Learning</a:t>
              </a:r>
            </a:p>
          </p:txBody>
        </p:sp>
        <p:sp>
          <p:nvSpPr>
            <p:cNvPr id="7" name="직사각형 133">
              <a:extLst>
                <a:ext uri="{FF2B5EF4-FFF2-40B4-BE49-F238E27FC236}">
                  <a16:creationId xmlns:a16="http://schemas.microsoft.com/office/drawing/2014/main" id="{68C423AE-9FF7-4CCB-8CFB-0D036BBE42B6}"/>
                </a:ext>
              </a:extLst>
            </p:cNvPr>
            <p:cNvSpPr/>
            <p:nvPr/>
          </p:nvSpPr>
          <p:spPr>
            <a:xfrm>
              <a:off x="990000" y="4157769"/>
              <a:ext cx="3710016" cy="3231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marR="0" lvl="0" indent="0" defTabSz="457063" fontAlgn="base" latinLnBrk="1">
                <a:lnSpc>
                  <a:spcPct val="100000"/>
                </a:lnSpc>
                <a:spcBef>
                  <a:spcPct val="0"/>
                </a:spcBef>
                <a:spcAft>
                  <a:spcPct val="0"/>
                </a:spcAft>
                <a:buClrTx/>
                <a:buSzTx/>
                <a:buFontTx/>
                <a:buNone/>
                <a:tabLst/>
                <a:defRPr/>
              </a:pPr>
              <a:r>
                <a:rPr kumimoji="1" lang="en-US" altLang="ko-KR" sz="2099" dirty="0">
                  <a:solidFill>
                    <a:srgbClr val="1428A0"/>
                  </a:solidFill>
                  <a:latin typeface="Samsung Sharp Sans" pitchFamily="2" charset="0"/>
                  <a:ea typeface="Samsung Sharp Sans" pitchFamily="2" charset="0"/>
                  <a:cs typeface="Samsung Sharp Sans" pitchFamily="2" charset="0"/>
                </a:rPr>
                <a:t>AI Course</a:t>
              </a:r>
              <a:endParaRPr kumimoji="1" lang="ko-KR" altLang="en-US" sz="2099" dirty="0">
                <a:solidFill>
                  <a:srgbClr val="1428A0"/>
                </a:solidFill>
                <a:latin typeface="Samsung Sharp Sans" pitchFamily="2" charset="0"/>
                <a:cs typeface="Samsung Sharp Sans" pitchFamily="2" charset="0"/>
              </a:endParaRPr>
            </a:p>
          </p:txBody>
        </p:sp>
        <p:sp>
          <p:nvSpPr>
            <p:cNvPr id="8" name="직사각형 133">
              <a:extLst>
                <a:ext uri="{FF2B5EF4-FFF2-40B4-BE49-F238E27FC236}">
                  <a16:creationId xmlns:a16="http://schemas.microsoft.com/office/drawing/2014/main" id="{9AE80E35-DC50-4BA6-9B16-9297657601D5}"/>
                </a:ext>
              </a:extLst>
            </p:cNvPr>
            <p:cNvSpPr/>
            <p:nvPr/>
          </p:nvSpPr>
          <p:spPr>
            <a:xfrm>
              <a:off x="990000" y="2070000"/>
              <a:ext cx="5479711"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Chapter 5.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9" name="직사각형 8">
              <a:extLst>
                <a:ext uri="{FF2B5EF4-FFF2-40B4-BE49-F238E27FC236}">
                  <a16:creationId xmlns:a16="http://schemas.microsoft.com/office/drawing/2014/main" id="{5D14EC55-4505-4D03-B538-D66AAACB366E}"/>
                </a:ext>
              </a:extLst>
            </p:cNvPr>
            <p:cNvSpPr/>
            <p:nvPr/>
          </p:nvSpPr>
          <p:spPr>
            <a:xfrm>
              <a:off x="720000" y="2095275"/>
              <a:ext cx="60008" cy="1577703"/>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063" fontAlgn="base" latinLnBrk="1">
                <a:spcBef>
                  <a:spcPct val="0"/>
                </a:spcBef>
                <a:spcAft>
                  <a:spcPct val="0"/>
                </a:spcAft>
                <a:defRPr/>
              </a:pPr>
              <a:endParaRPr kumimoji="1" lang="ko-KR" altLang="en-US" sz="1799">
                <a:solidFill>
                  <a:prstClr val="white"/>
                </a:solidFill>
                <a:latin typeface="Calibri" panose="020F0502020204030204"/>
                <a:ea typeface="맑은 고딕" panose="020B0503020000020004" pitchFamily="50" charset="-127"/>
              </a:endParaRPr>
            </a:p>
          </p:txBody>
        </p:sp>
        <p:sp>
          <p:nvSpPr>
            <p:cNvPr id="10" name="직사각형 9">
              <a:extLst>
                <a:ext uri="{FF2B5EF4-FFF2-40B4-BE49-F238E27FC236}">
                  <a16:creationId xmlns:a16="http://schemas.microsoft.com/office/drawing/2014/main" id="{6490A05B-990A-4F39-A4F0-CDC93970D232}"/>
                </a:ext>
              </a:extLst>
            </p:cNvPr>
            <p:cNvSpPr/>
            <p:nvPr/>
          </p:nvSpPr>
          <p:spPr>
            <a:xfrm>
              <a:off x="720000" y="4157757"/>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063" fontAlgn="base" latinLnBrk="1">
                <a:spcBef>
                  <a:spcPct val="0"/>
                </a:spcBef>
                <a:spcAft>
                  <a:spcPct val="0"/>
                </a:spcAft>
                <a:defRPr/>
              </a:pPr>
              <a:endParaRPr kumimoji="1" lang="ko-KR" altLang="en-US" sz="1799">
                <a:solidFill>
                  <a:prstClr val="white"/>
                </a:solidFill>
                <a:latin typeface="Calibri" panose="020F0502020204030204"/>
                <a:ea typeface="맑은 고딕" panose="020B0503020000020004" pitchFamily="50" charset="-127"/>
              </a:endParaRPr>
            </a:p>
          </p:txBody>
        </p:sp>
      </p:grpSp>
    </p:spTree>
    <p:extLst>
      <p:ext uri="{BB962C8B-B14F-4D97-AF65-F5344CB8AC3E}">
        <p14:creationId xmlns:p14="http://schemas.microsoft.com/office/powerpoint/2010/main" val="3277173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p:cNvGrpSpPr/>
          <p:nvPr/>
        </p:nvGrpSpPr>
        <p:grpSpPr>
          <a:xfrm>
            <a:off x="441605" y="1098128"/>
            <a:ext cx="8899428" cy="2006836"/>
            <a:chOff x="441605" y="1288351"/>
            <a:chExt cx="8899428" cy="2006836"/>
          </a:xfrm>
        </p:grpSpPr>
        <p:sp>
          <p:nvSpPr>
            <p:cNvPr id="24" name="직사각형 23">
              <a:extLst>
                <a:ext uri="{FF2B5EF4-FFF2-40B4-BE49-F238E27FC236}">
                  <a16:creationId xmlns:a16="http://schemas.microsoft.com/office/drawing/2014/main" id="{3078C4E1-633F-4B6A-91AF-73907C46D4D5}"/>
                </a:ext>
              </a:extLst>
            </p:cNvPr>
            <p:cNvSpPr/>
            <p:nvPr/>
          </p:nvSpPr>
          <p:spPr>
            <a:xfrm>
              <a:off x="710974" y="1598954"/>
              <a:ext cx="8630058" cy="1696233"/>
            </a:xfrm>
            <a:prstGeom prst="rect">
              <a:avLst/>
            </a:prstGeom>
            <a:no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43954" tIns="143954" rIns="143954" bIns="143954" rtlCol="0" anchor="t">
              <a:spAutoFit/>
              <a:scene3d>
                <a:camera prst="orthographicFront"/>
                <a:lightRig rig="threePt" dir="t"/>
              </a:scene3d>
              <a:sp3d>
                <a:bevelT w="0" h="6350"/>
              </a:sp3d>
            </a:bodyPr>
            <a:lstStyle/>
            <a:p>
              <a:pPr marL="285750" indent="-285750" fontAlgn="base" latinLnBrk="1">
                <a:spcBef>
                  <a:spcPct val="0"/>
                </a:spcBef>
                <a:spcAft>
                  <a:spcPts val="800"/>
                </a:spcAft>
                <a:buClr>
                  <a:srgbClr val="A5A5A5"/>
                </a:buClr>
                <a:buFont typeface="Wingdings" panose="05000000000000000000" pitchFamily="2" charset="2"/>
                <a:buChar char="ü"/>
                <a:defRPr/>
              </a:pPr>
              <a:r>
                <a:rPr kumimoji="1" lang="en-US" altLang="ko-KR" sz="1300" dirty="0">
                  <a:solidFill>
                    <a:prstClr val="black">
                      <a:lumMod val="85000"/>
                      <a:lumOff val="15000"/>
                    </a:prstClr>
                  </a:solidFill>
                  <a:latin typeface="SamsungOne 400" panose="020B0503030303020204" pitchFamily="34" charset="0"/>
                </a:rPr>
                <a:t>Be able to introduce machine learning-based data analysis according to the business objective, strategy, and policy and manage the overall process.</a:t>
              </a:r>
            </a:p>
            <a:p>
              <a:pPr marL="285750" indent="-285750" fontAlgn="base" latinLnBrk="1">
                <a:spcBef>
                  <a:spcPct val="0"/>
                </a:spcBef>
                <a:spcAft>
                  <a:spcPts val="800"/>
                </a:spcAft>
                <a:buClr>
                  <a:srgbClr val="A5A5A5"/>
                </a:buClr>
                <a:buFont typeface="Wingdings" panose="05000000000000000000" pitchFamily="2" charset="2"/>
                <a:buChar char="ü"/>
                <a:defRPr/>
              </a:pPr>
              <a:r>
                <a:rPr kumimoji="1" lang="en-US" altLang="ko-KR" sz="1300" dirty="0">
                  <a:solidFill>
                    <a:prstClr val="black">
                      <a:lumMod val="85000"/>
                      <a:lumOff val="15000"/>
                    </a:prstClr>
                  </a:solidFill>
                  <a:latin typeface="SamsungOne 400" panose="020B0503030303020204" pitchFamily="34" charset="0"/>
                </a:rPr>
                <a:t>Be able to select and apply a machine learning algorithm that is the most suitable to the given problem and perform hyperparameter tuning.</a:t>
              </a:r>
            </a:p>
            <a:p>
              <a:pPr marL="285750" indent="-285750" fontAlgn="base" latinLnBrk="1">
                <a:spcBef>
                  <a:spcPct val="0"/>
                </a:spcBef>
                <a:spcAft>
                  <a:spcPts val="800"/>
                </a:spcAft>
                <a:buClr>
                  <a:srgbClr val="A5A5A5"/>
                </a:buClr>
                <a:buFont typeface="Wingdings" panose="05000000000000000000" pitchFamily="2" charset="2"/>
                <a:buChar char="ü"/>
                <a:defRPr/>
              </a:pPr>
              <a:r>
                <a:rPr kumimoji="1" lang="en-US" altLang="ko-KR" sz="1300" dirty="0">
                  <a:solidFill>
                    <a:prstClr val="black">
                      <a:lumMod val="85000"/>
                      <a:lumOff val="15000"/>
                    </a:prstClr>
                  </a:solidFill>
                  <a:latin typeface="SamsungOne 400" panose="020B0503030303020204" pitchFamily="34" charset="0"/>
                </a:rPr>
                <a:t>Be able to design,</a:t>
              </a:r>
              <a:r>
                <a:rPr kumimoji="1" lang="ko-KR" altLang="en-US" sz="1300" dirty="0">
                  <a:solidFill>
                    <a:prstClr val="black">
                      <a:lumMod val="85000"/>
                      <a:lumOff val="15000"/>
                    </a:prstClr>
                  </a:solidFill>
                  <a:latin typeface="SamsungOne 400" panose="020B0503030303020204" pitchFamily="34" charset="0"/>
                </a:rPr>
                <a:t> </a:t>
              </a:r>
              <a:r>
                <a:rPr kumimoji="1" lang="en-US" altLang="ko-KR" sz="1300" dirty="0">
                  <a:solidFill>
                    <a:prstClr val="black">
                      <a:lumMod val="85000"/>
                      <a:lumOff val="15000"/>
                    </a:prstClr>
                  </a:solidFill>
                  <a:latin typeface="SamsungOne 400" panose="020B0503030303020204" pitchFamily="34" charset="0"/>
                </a:rPr>
                <a:t>maintain, and optimize a machine learning workflow for AI modeling using structured and unstructured data.</a:t>
              </a:r>
            </a:p>
          </p:txBody>
        </p:sp>
        <p:grpSp>
          <p:nvGrpSpPr>
            <p:cNvPr id="4" name="그룹 3">
              <a:extLst>
                <a:ext uri="{FF2B5EF4-FFF2-40B4-BE49-F238E27FC236}">
                  <a16:creationId xmlns:a16="http://schemas.microsoft.com/office/drawing/2014/main" id="{7870E847-3299-4ABC-8767-69F8C62E3CCD}"/>
                </a:ext>
              </a:extLst>
            </p:cNvPr>
            <p:cNvGrpSpPr/>
            <p:nvPr/>
          </p:nvGrpSpPr>
          <p:grpSpPr>
            <a:xfrm>
              <a:off x="441605" y="1288351"/>
              <a:ext cx="8899428" cy="233692"/>
              <a:chOff x="441747" y="1714333"/>
              <a:chExt cx="8902281" cy="233767"/>
            </a:xfrm>
          </p:grpSpPr>
          <p:sp>
            <p:nvSpPr>
              <p:cNvPr id="23" name="직사각형 22">
                <a:extLst>
                  <a:ext uri="{FF2B5EF4-FFF2-40B4-BE49-F238E27FC236}">
                    <a16:creationId xmlns:a16="http://schemas.microsoft.com/office/drawing/2014/main" id="{0EA9FE45-AB34-4BC4-8C48-8878DD43D977}"/>
                  </a:ext>
                </a:extLst>
              </p:cNvPr>
              <p:cNvSpPr/>
              <p:nvPr/>
            </p:nvSpPr>
            <p:spPr>
              <a:xfrm>
                <a:off x="711203" y="1723495"/>
                <a:ext cx="8632825"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a:spcAft>
                    <a:spcPts val="600"/>
                  </a:spcAft>
                  <a:defRPr/>
                </a:pPr>
                <a:r>
                  <a:rPr lang="en-US" altLang="ko-KR" sz="1400" dirty="0">
                    <a:solidFill>
                      <a:prstClr val="black">
                        <a:lumMod val="85000"/>
                        <a:lumOff val="15000"/>
                      </a:prstClr>
                    </a:solidFill>
                    <a:latin typeface="Samsung Sharp Sans Bold" pitchFamily="2" charset="0"/>
                    <a:ea typeface="Samsung Sharp Sans Bold" pitchFamily="2" charset="0"/>
                    <a:cs typeface="Samsung Sharp Sans Bold" pitchFamily="2" charset="0"/>
                  </a:rPr>
                  <a:t>Chapter objectives</a:t>
                </a:r>
              </a:p>
            </p:txBody>
          </p:sp>
          <p:sp>
            <p:nvSpPr>
              <p:cNvPr id="27" name="AutoShape 2">
                <a:extLst>
                  <a:ext uri="{FF2B5EF4-FFF2-40B4-BE49-F238E27FC236}">
                    <a16:creationId xmlns:a16="http://schemas.microsoft.com/office/drawing/2014/main" id="{4351C268-981F-4778-A82A-47A4C748D467}"/>
                  </a:ext>
                </a:extLst>
              </p:cNvPr>
              <p:cNvSpPr>
                <a:spLocks noChangeAspect="1"/>
              </p:cNvSpPr>
              <p:nvPr/>
            </p:nvSpPr>
            <p:spPr bwMode="auto">
              <a:xfrm>
                <a:off x="441747" y="1714333"/>
                <a:ext cx="216000" cy="233767"/>
              </a:xfrm>
              <a:custGeom>
                <a:avLst/>
                <a:gdLst/>
                <a:ahLst/>
                <a:cxnLst/>
                <a:rect l="0" t="0" r="r" b="b"/>
                <a:pathLst>
                  <a:path w="21600" h="21251">
                    <a:moveTo>
                      <a:pt x="0" y="7472"/>
                    </a:moveTo>
                    <a:cubicBezTo>
                      <a:pt x="0" y="6079"/>
                      <a:pt x="1085" y="4368"/>
                      <a:pt x="2412" y="3670"/>
                    </a:cubicBezTo>
                    <a:lnTo>
                      <a:pt x="8389" y="523"/>
                    </a:lnTo>
                    <a:cubicBezTo>
                      <a:pt x="9715" y="-175"/>
                      <a:pt x="11885" y="-175"/>
                      <a:pt x="13211" y="523"/>
                    </a:cubicBezTo>
                    <a:lnTo>
                      <a:pt x="19188" y="3670"/>
                    </a:lnTo>
                    <a:cubicBezTo>
                      <a:pt x="20515" y="4368"/>
                      <a:pt x="21600" y="6079"/>
                      <a:pt x="21600" y="7472"/>
                    </a:cubicBezTo>
                    <a:lnTo>
                      <a:pt x="21600" y="13778"/>
                    </a:lnTo>
                    <a:cubicBezTo>
                      <a:pt x="21600" y="15171"/>
                      <a:pt x="20515" y="16882"/>
                      <a:pt x="19188" y="17580"/>
                    </a:cubicBezTo>
                    <a:lnTo>
                      <a:pt x="13211" y="20727"/>
                    </a:lnTo>
                    <a:cubicBezTo>
                      <a:pt x="11885" y="21425"/>
                      <a:pt x="9715" y="21425"/>
                      <a:pt x="8389" y="20727"/>
                    </a:cubicBezTo>
                    <a:lnTo>
                      <a:pt x="2412" y="17580"/>
                    </a:lnTo>
                    <a:cubicBezTo>
                      <a:pt x="1085" y="16882"/>
                      <a:pt x="0" y="15171"/>
                      <a:pt x="0" y="13778"/>
                    </a:cubicBezTo>
                    <a:lnTo>
                      <a:pt x="0" y="7472"/>
                    </a:lnTo>
                    <a:close/>
                    <a:moveTo>
                      <a:pt x="0" y="7472"/>
                    </a:moveTo>
                  </a:path>
                </a:pathLst>
              </a:custGeom>
              <a:solidFill>
                <a:schemeClr val="bg1">
                  <a:lumMod val="85000"/>
                </a:schemeClr>
              </a:solidFill>
              <a:ln w="76200">
                <a:solidFill>
                  <a:schemeClr val="bg1"/>
                </a:solidFill>
              </a:ln>
            </p:spPr>
            <p:txBody>
              <a:bodyPr lIns="0" tIns="0" rIns="0" bIns="0"/>
              <a:lstStyle/>
              <a:p>
                <a:endParaRPr lang="en-US" sz="1799"/>
              </a:p>
            </p:txBody>
          </p:sp>
        </p:grpSp>
      </p:grpSp>
      <p:grpSp>
        <p:nvGrpSpPr>
          <p:cNvPr id="2" name="그룹 1"/>
          <p:cNvGrpSpPr/>
          <p:nvPr/>
        </p:nvGrpSpPr>
        <p:grpSpPr>
          <a:xfrm>
            <a:off x="449856" y="3284984"/>
            <a:ext cx="8899428" cy="2914088"/>
            <a:chOff x="449856" y="2960948"/>
            <a:chExt cx="8899428" cy="2914088"/>
          </a:xfrm>
        </p:grpSpPr>
        <p:grpSp>
          <p:nvGrpSpPr>
            <p:cNvPr id="29" name="그룹 28">
              <a:extLst>
                <a:ext uri="{FF2B5EF4-FFF2-40B4-BE49-F238E27FC236}">
                  <a16:creationId xmlns:a16="http://schemas.microsoft.com/office/drawing/2014/main" id="{5546DDD7-0649-48D2-9E99-1C9EA17BFAF3}"/>
                </a:ext>
              </a:extLst>
            </p:cNvPr>
            <p:cNvGrpSpPr/>
            <p:nvPr/>
          </p:nvGrpSpPr>
          <p:grpSpPr>
            <a:xfrm>
              <a:off x="449856" y="2960948"/>
              <a:ext cx="8899428" cy="233692"/>
              <a:chOff x="441747" y="1714333"/>
              <a:chExt cx="8902281" cy="233767"/>
            </a:xfrm>
          </p:grpSpPr>
          <p:sp>
            <p:nvSpPr>
              <p:cNvPr id="30" name="직사각형 29">
                <a:extLst>
                  <a:ext uri="{FF2B5EF4-FFF2-40B4-BE49-F238E27FC236}">
                    <a16:creationId xmlns:a16="http://schemas.microsoft.com/office/drawing/2014/main" id="{17DF0D47-03CA-4F94-BB2B-EE84D1734ECC}"/>
                  </a:ext>
                </a:extLst>
              </p:cNvPr>
              <p:cNvSpPr/>
              <p:nvPr/>
            </p:nvSpPr>
            <p:spPr>
              <a:xfrm>
                <a:off x="711203" y="1723495"/>
                <a:ext cx="8632825"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a:spcAft>
                    <a:spcPts val="600"/>
                  </a:spcAft>
                  <a:defRPr/>
                </a:pPr>
                <a:r>
                  <a:rPr lang="en-US" altLang="ko-KR" sz="1400" dirty="0">
                    <a:solidFill>
                      <a:prstClr val="black">
                        <a:lumMod val="85000"/>
                        <a:lumOff val="15000"/>
                      </a:prstClr>
                    </a:solidFill>
                    <a:latin typeface="Samsung Sharp Sans Bold" pitchFamily="2" charset="0"/>
                    <a:ea typeface="Samsung Sharp Sans Bold" pitchFamily="2" charset="0"/>
                    <a:cs typeface="Samsung Sharp Sans Bold" pitchFamily="2" charset="0"/>
                  </a:rPr>
                  <a:t>Chapter contents</a:t>
                </a:r>
              </a:p>
            </p:txBody>
          </p:sp>
          <p:sp>
            <p:nvSpPr>
              <p:cNvPr id="31" name="AutoShape 2">
                <a:extLst>
                  <a:ext uri="{FF2B5EF4-FFF2-40B4-BE49-F238E27FC236}">
                    <a16:creationId xmlns:a16="http://schemas.microsoft.com/office/drawing/2014/main" id="{6A3695FF-0747-4FB4-858E-47D43CF4F995}"/>
                  </a:ext>
                </a:extLst>
              </p:cNvPr>
              <p:cNvSpPr>
                <a:spLocks noChangeAspect="1"/>
              </p:cNvSpPr>
              <p:nvPr/>
            </p:nvSpPr>
            <p:spPr bwMode="auto">
              <a:xfrm>
                <a:off x="441747" y="1714333"/>
                <a:ext cx="216000" cy="233767"/>
              </a:xfrm>
              <a:custGeom>
                <a:avLst/>
                <a:gdLst/>
                <a:ahLst/>
                <a:cxnLst/>
                <a:rect l="0" t="0" r="r" b="b"/>
                <a:pathLst>
                  <a:path w="21600" h="21251">
                    <a:moveTo>
                      <a:pt x="0" y="7472"/>
                    </a:moveTo>
                    <a:cubicBezTo>
                      <a:pt x="0" y="6079"/>
                      <a:pt x="1085" y="4368"/>
                      <a:pt x="2412" y="3670"/>
                    </a:cubicBezTo>
                    <a:lnTo>
                      <a:pt x="8389" y="523"/>
                    </a:lnTo>
                    <a:cubicBezTo>
                      <a:pt x="9715" y="-175"/>
                      <a:pt x="11885" y="-175"/>
                      <a:pt x="13211" y="523"/>
                    </a:cubicBezTo>
                    <a:lnTo>
                      <a:pt x="19188" y="3670"/>
                    </a:lnTo>
                    <a:cubicBezTo>
                      <a:pt x="20515" y="4368"/>
                      <a:pt x="21600" y="6079"/>
                      <a:pt x="21600" y="7472"/>
                    </a:cubicBezTo>
                    <a:lnTo>
                      <a:pt x="21600" y="13778"/>
                    </a:lnTo>
                    <a:cubicBezTo>
                      <a:pt x="21600" y="15171"/>
                      <a:pt x="20515" y="16882"/>
                      <a:pt x="19188" y="17580"/>
                    </a:cubicBezTo>
                    <a:lnTo>
                      <a:pt x="13211" y="20727"/>
                    </a:lnTo>
                    <a:cubicBezTo>
                      <a:pt x="11885" y="21425"/>
                      <a:pt x="9715" y="21425"/>
                      <a:pt x="8389" y="20727"/>
                    </a:cubicBezTo>
                    <a:lnTo>
                      <a:pt x="2412" y="17580"/>
                    </a:lnTo>
                    <a:cubicBezTo>
                      <a:pt x="1085" y="16882"/>
                      <a:pt x="0" y="15171"/>
                      <a:pt x="0" y="13778"/>
                    </a:cubicBezTo>
                    <a:lnTo>
                      <a:pt x="0" y="7472"/>
                    </a:lnTo>
                    <a:close/>
                    <a:moveTo>
                      <a:pt x="0" y="7472"/>
                    </a:moveTo>
                  </a:path>
                </a:pathLst>
              </a:custGeom>
              <a:solidFill>
                <a:schemeClr val="bg1">
                  <a:lumMod val="85000"/>
                </a:schemeClr>
              </a:solidFill>
              <a:ln w="76200">
                <a:solidFill>
                  <a:schemeClr val="bg1"/>
                </a:solidFill>
              </a:ln>
            </p:spPr>
            <p:txBody>
              <a:bodyPr lIns="0" tIns="0" rIns="0" bIns="0"/>
              <a:lstStyle/>
              <a:p>
                <a:endParaRPr lang="en-US" sz="1799"/>
              </a:p>
            </p:txBody>
          </p:sp>
        </p:grpSp>
        <p:sp>
          <p:nvSpPr>
            <p:cNvPr id="36" name="직사각형 35">
              <a:extLst>
                <a:ext uri="{FF2B5EF4-FFF2-40B4-BE49-F238E27FC236}">
                  <a16:creationId xmlns:a16="http://schemas.microsoft.com/office/drawing/2014/main" id="{244D4D2B-5542-4F46-90E9-10F108566ADA}"/>
                </a:ext>
              </a:extLst>
            </p:cNvPr>
            <p:cNvSpPr/>
            <p:nvPr/>
          </p:nvSpPr>
          <p:spPr>
            <a:xfrm>
              <a:off x="710974" y="3265733"/>
              <a:ext cx="8630058" cy="2609303"/>
            </a:xfrm>
            <a:prstGeom prst="rect">
              <a:avLst/>
            </a:prstGeom>
            <a:no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43954" tIns="143954" rIns="143954" bIns="143954" rtlCol="0" anchor="t">
              <a:spAutoFit/>
              <a:scene3d>
                <a:camera prst="orthographicFront"/>
                <a:lightRig rig="threePt" dir="t"/>
              </a:scene3d>
              <a:sp3d>
                <a:bevelT w="0" h="6350"/>
              </a:sp3d>
            </a:bodyPr>
            <a:lstStyle/>
            <a:p>
              <a:pPr marL="285750" indent="-285750" fontAlgn="base" latinLnBrk="1">
                <a:spcBef>
                  <a:spcPct val="0"/>
                </a:spcBef>
                <a:spcAft>
                  <a:spcPts val="800"/>
                </a:spcAft>
                <a:buClr>
                  <a:srgbClr val="A5A5A5"/>
                </a:buClr>
                <a:buFont typeface="Wingdings" panose="05000000000000000000" pitchFamily="2" charset="2"/>
                <a:buChar char="ü"/>
                <a:defRPr/>
              </a:pPr>
              <a:r>
                <a:rPr kumimoji="1" lang="en-US" altLang="ko-KR" sz="1300" dirty="0">
                  <a:solidFill>
                    <a:prstClr val="black">
                      <a:lumMod val="85000"/>
                      <a:lumOff val="15000"/>
                    </a:prstClr>
                  </a:solidFill>
                  <a:latin typeface="SamsungOne 400" panose="020B0503030303020204" pitchFamily="34" charset="0"/>
                </a:rPr>
                <a:t>Unit 1. Machine Learning Based Data Analysis</a:t>
              </a:r>
              <a:endParaRPr kumimoji="1" lang="ko-KR" altLang="en-US" sz="1300" dirty="0">
                <a:solidFill>
                  <a:prstClr val="black">
                    <a:lumMod val="85000"/>
                    <a:lumOff val="15000"/>
                  </a:prstClr>
                </a:solidFill>
                <a:latin typeface="SamsungOne 400" panose="020B0503030303020204" pitchFamily="34" charset="0"/>
              </a:endParaRPr>
            </a:p>
            <a:p>
              <a:pPr marL="285750" indent="-285750" fontAlgn="base" latinLnBrk="1">
                <a:spcBef>
                  <a:spcPct val="0"/>
                </a:spcBef>
                <a:spcAft>
                  <a:spcPts val="800"/>
                </a:spcAft>
                <a:buClr>
                  <a:srgbClr val="A5A5A5"/>
                </a:buClr>
                <a:buFont typeface="Wingdings" panose="05000000000000000000" pitchFamily="2" charset="2"/>
                <a:buChar char="ü"/>
                <a:defRPr/>
              </a:pPr>
              <a:r>
                <a:rPr kumimoji="1" lang="en-US" altLang="ko-KR" sz="1300" dirty="0">
                  <a:solidFill>
                    <a:schemeClr val="tx1"/>
                  </a:solidFill>
                  <a:latin typeface="SamsungOne 400" panose="020B0503030303020204" pitchFamily="34" charset="0"/>
                </a:rPr>
                <a:t>Unit 2. Application of Supervised Learning Model</a:t>
              </a:r>
              <a:r>
                <a:rPr kumimoji="1" lang="ko-KR" altLang="en-US" sz="1300" dirty="0">
                  <a:solidFill>
                    <a:schemeClr val="tx1"/>
                  </a:solidFill>
                  <a:latin typeface="SamsungOne 400" panose="020B0503030303020204" pitchFamily="34" charset="0"/>
                </a:rPr>
                <a:t> </a:t>
              </a:r>
              <a:r>
                <a:rPr kumimoji="1" lang="en-US" altLang="ko-KR" sz="1300" dirty="0">
                  <a:solidFill>
                    <a:schemeClr val="tx1"/>
                  </a:solidFill>
                  <a:latin typeface="SamsungOne 400" panose="020B0503030303020204" pitchFamily="34" charset="0"/>
                </a:rPr>
                <a:t>for Numerical Prediction </a:t>
              </a:r>
              <a:endParaRPr kumimoji="1" lang="ko-KR" altLang="en-US" sz="1300" dirty="0">
                <a:solidFill>
                  <a:schemeClr val="tx1"/>
                </a:solidFill>
                <a:latin typeface="SamsungOne 400" panose="020B0503030303020204" pitchFamily="34" charset="0"/>
              </a:endParaRPr>
            </a:p>
            <a:p>
              <a:pPr marL="285750" indent="-285750" fontAlgn="base" latinLnBrk="1">
                <a:spcBef>
                  <a:spcPct val="0"/>
                </a:spcBef>
                <a:spcAft>
                  <a:spcPts val="800"/>
                </a:spcAft>
                <a:buClr>
                  <a:srgbClr val="A5A5A5"/>
                </a:buClr>
                <a:buFont typeface="Wingdings" panose="05000000000000000000" pitchFamily="2" charset="2"/>
                <a:buChar char="ü"/>
                <a:defRPr/>
              </a:pPr>
              <a:r>
                <a:rPr kumimoji="1" lang="en-US" altLang="ko-KR" sz="1300" dirty="0">
                  <a:solidFill>
                    <a:schemeClr val="tx1"/>
                  </a:solidFill>
                  <a:latin typeface="SamsungOne 400" panose="020B0503030303020204" pitchFamily="34" charset="0"/>
                </a:rPr>
                <a:t>Unit 3. Application of Supervised Learning Model for Classification </a:t>
              </a:r>
              <a:endParaRPr kumimoji="1" lang="ko-KR" altLang="en-US" sz="1300" dirty="0">
                <a:solidFill>
                  <a:schemeClr val="tx1"/>
                </a:solidFill>
                <a:latin typeface="SamsungOne 400" panose="020B0503030303020204" pitchFamily="34" charset="0"/>
              </a:endParaRPr>
            </a:p>
            <a:p>
              <a:pPr marL="285750" indent="-285750" fontAlgn="base" latinLnBrk="1">
                <a:spcBef>
                  <a:spcPct val="0"/>
                </a:spcBef>
                <a:spcAft>
                  <a:spcPts val="800"/>
                </a:spcAft>
                <a:buClr>
                  <a:srgbClr val="A5A5A5"/>
                </a:buClr>
                <a:buFont typeface="Wingdings" panose="05000000000000000000" pitchFamily="2" charset="2"/>
                <a:buChar char="ü"/>
                <a:defRPr/>
              </a:pPr>
              <a:r>
                <a:rPr kumimoji="1" lang="en-US" altLang="ko-KR" sz="1300" dirty="0">
                  <a:solidFill>
                    <a:schemeClr val="tx1"/>
                  </a:solidFill>
                  <a:latin typeface="SamsungOne 400" panose="020B0503030303020204" pitchFamily="34" charset="0"/>
                </a:rPr>
                <a:t>Unit 4. Decision Tree</a:t>
              </a:r>
              <a:endParaRPr kumimoji="1" lang="ko-KR" altLang="en-US" sz="1300" dirty="0">
                <a:solidFill>
                  <a:schemeClr val="tx1"/>
                </a:solidFill>
                <a:latin typeface="SamsungOne 400" panose="020B0503030303020204" pitchFamily="34" charset="0"/>
              </a:endParaRPr>
            </a:p>
            <a:p>
              <a:pPr marL="285750" indent="-285750" fontAlgn="base" latinLnBrk="1">
                <a:spcBef>
                  <a:spcPct val="0"/>
                </a:spcBef>
                <a:spcAft>
                  <a:spcPts val="800"/>
                </a:spcAft>
                <a:buClr>
                  <a:srgbClr val="A5A5A5"/>
                </a:buClr>
                <a:buFont typeface="Wingdings" panose="05000000000000000000" pitchFamily="2" charset="2"/>
                <a:buChar char="ü"/>
                <a:defRPr/>
              </a:pPr>
              <a:r>
                <a:rPr kumimoji="1" lang="en-US" altLang="ko-KR" sz="1300" dirty="0">
                  <a:solidFill>
                    <a:schemeClr val="tx1"/>
                  </a:solidFill>
                  <a:latin typeface="SamsungOne 400" panose="020B0503030303020204" pitchFamily="34" charset="0"/>
                </a:rPr>
                <a:t>Unit 5. Naïve Bayes Algorithm</a:t>
              </a:r>
            </a:p>
            <a:p>
              <a:pPr marL="285750" indent="-285750" fontAlgn="base" latinLnBrk="1">
                <a:spcBef>
                  <a:spcPct val="0"/>
                </a:spcBef>
                <a:spcAft>
                  <a:spcPts val="800"/>
                </a:spcAft>
                <a:buClr>
                  <a:srgbClr val="A5A5A5"/>
                </a:buClr>
                <a:buFont typeface="Wingdings" panose="05000000000000000000" pitchFamily="2" charset="2"/>
                <a:buChar char="ü"/>
                <a:defRPr/>
              </a:pPr>
              <a:r>
                <a:rPr kumimoji="1" lang="en-US" altLang="ko-KR" sz="1300" dirty="0">
                  <a:solidFill>
                    <a:schemeClr val="tx1"/>
                  </a:solidFill>
                  <a:latin typeface="SamsungOne 400" panose="020B0503030303020204" pitchFamily="34" charset="0"/>
                </a:rPr>
                <a:t>Unit 6. KNN Algorithm</a:t>
              </a:r>
            </a:p>
            <a:p>
              <a:pPr marL="285750" indent="-285750" fontAlgn="base" latinLnBrk="1">
                <a:spcBef>
                  <a:spcPct val="0"/>
                </a:spcBef>
                <a:spcAft>
                  <a:spcPts val="800"/>
                </a:spcAft>
                <a:buClr>
                  <a:srgbClr val="A5A5A5"/>
                </a:buClr>
                <a:buFont typeface="Wingdings" panose="05000000000000000000" pitchFamily="2" charset="2"/>
                <a:buChar char="ü"/>
                <a:defRPr/>
              </a:pPr>
              <a:r>
                <a:rPr kumimoji="1" lang="en-US" altLang="ko-KR" sz="1300" dirty="0">
                  <a:solidFill>
                    <a:schemeClr val="tx1"/>
                  </a:solidFill>
                  <a:latin typeface="SamsungOne 400" panose="020B0503030303020204" pitchFamily="34" charset="0"/>
                </a:rPr>
                <a:t>Unit 7. SVM Algorithm</a:t>
              </a:r>
            </a:p>
            <a:p>
              <a:pPr marL="285750" indent="-285750" fontAlgn="base" latinLnBrk="1">
                <a:spcBef>
                  <a:spcPct val="0"/>
                </a:spcBef>
                <a:spcAft>
                  <a:spcPts val="800"/>
                </a:spcAft>
                <a:buClr>
                  <a:srgbClr val="A5A5A5"/>
                </a:buClr>
                <a:buFont typeface="Wingdings" panose="05000000000000000000" pitchFamily="2" charset="2"/>
                <a:buChar char="ü"/>
                <a:defRPr/>
              </a:pPr>
              <a:r>
                <a:rPr kumimoji="1" lang="en-US" altLang="ko-KR" sz="1300" dirty="0">
                  <a:solidFill>
                    <a:schemeClr val="tx1"/>
                  </a:solidFill>
                  <a:latin typeface="SamsungOne 400" panose="020B0503030303020204" pitchFamily="34" charset="0"/>
                </a:rPr>
                <a:t>Unit 8. Ensemble Algorithm</a:t>
              </a:r>
            </a:p>
          </p:txBody>
        </p:sp>
      </p:grpSp>
      <p:grpSp>
        <p:nvGrpSpPr>
          <p:cNvPr id="13" name="그룹 12">
            <a:extLst>
              <a:ext uri="{FF2B5EF4-FFF2-40B4-BE49-F238E27FC236}">
                <a16:creationId xmlns:a16="http://schemas.microsoft.com/office/drawing/2014/main" id="{F2C3C996-990D-46F7-8F6B-2959CDFD75A8}"/>
              </a:ext>
            </a:extLst>
          </p:cNvPr>
          <p:cNvGrpSpPr/>
          <p:nvPr/>
        </p:nvGrpSpPr>
        <p:grpSpPr>
          <a:xfrm>
            <a:off x="449856" y="450955"/>
            <a:ext cx="8999458" cy="369214"/>
            <a:chOff x="450000" y="450000"/>
            <a:chExt cx="9002343" cy="369332"/>
          </a:xfrm>
        </p:grpSpPr>
        <p:sp>
          <p:nvSpPr>
            <p:cNvPr id="14" name="직사각형 13">
              <a:extLst>
                <a:ext uri="{FF2B5EF4-FFF2-40B4-BE49-F238E27FC236}">
                  <a16:creationId xmlns:a16="http://schemas.microsoft.com/office/drawing/2014/main" id="{C5130492-D07E-450B-9AF0-4256A1B5D83F}"/>
                </a:ext>
              </a:extLst>
            </p:cNvPr>
            <p:cNvSpPr/>
            <p:nvPr/>
          </p:nvSpPr>
          <p:spPr>
            <a:xfrm>
              <a:off x="450000" y="450000"/>
              <a:ext cx="8785226" cy="369332"/>
            </a:xfrm>
            <a:prstGeom prst="rect">
              <a:avLst/>
            </a:prstGeom>
          </p:spPr>
          <p:txBody>
            <a:bodyPr wrap="square" lIns="0" tIns="0" rIns="0" bIns="0">
              <a:spAutoFit/>
            </a:bodyPr>
            <a:lstStyle/>
            <a:p>
              <a:pPr defTabSz="457063">
                <a:defRPr/>
              </a:pPr>
              <a:r>
                <a:rPr lang="en-US" altLang="ko-KR" sz="2399" dirty="0">
                  <a:solidFill>
                    <a:srgbClr val="002F8E"/>
                  </a:solidFill>
                  <a:latin typeface="Samsung Sharp Sans" pitchFamily="2" charset="0"/>
                  <a:ea typeface="Samsung Sharp Sans" pitchFamily="2" charset="0"/>
                  <a:cs typeface="Samsung Sharp Sans" pitchFamily="2" charset="0"/>
                </a:rPr>
                <a:t>Chapter Description</a:t>
              </a:r>
            </a:p>
          </p:txBody>
        </p:sp>
        <p:cxnSp>
          <p:nvCxnSpPr>
            <p:cNvPr id="15" name="직선 연결선 14">
              <a:extLst>
                <a:ext uri="{FF2B5EF4-FFF2-40B4-BE49-F238E27FC236}">
                  <a16:creationId xmlns:a16="http://schemas.microsoft.com/office/drawing/2014/main" id="{D4F9354B-F836-4327-921B-E0690AEB4C60}"/>
                </a:ext>
              </a:extLst>
            </p:cNvPr>
            <p:cNvCxnSpPr>
              <a:cxnSpLocks/>
            </p:cNvCxnSpPr>
            <p:nvPr/>
          </p:nvCxnSpPr>
          <p:spPr>
            <a:xfrm>
              <a:off x="3617843" y="630000"/>
              <a:ext cx="5834500" cy="0"/>
            </a:xfrm>
            <a:prstGeom prst="line">
              <a:avLst/>
            </a:prstGeom>
            <a:ln w="12700">
              <a:solidFill>
                <a:srgbClr val="1428A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36270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33">
            <a:extLst>
              <a:ext uri="{FF2B5EF4-FFF2-40B4-BE49-F238E27FC236}">
                <a16:creationId xmlns:a16="http://schemas.microsoft.com/office/drawing/2014/main" id="{551F01E8-8777-4A7B-AD71-63E7C805C68C}"/>
              </a:ext>
            </a:extLst>
          </p:cNvPr>
          <p:cNvSpPr/>
          <p:nvPr/>
        </p:nvSpPr>
        <p:spPr>
          <a:xfrm>
            <a:off x="989683" y="3133792"/>
            <a:ext cx="8913142"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Machine Learning Based Data Analysis</a:t>
            </a:r>
            <a:endParaRPr kumimoji="1" lang="ko-KR" altLang="en-US" sz="3200" dirty="0">
              <a:solidFill>
                <a:prstClr val="black"/>
              </a:solidFill>
              <a:latin typeface="Samsung Sharp Sans" pitchFamily="2" charset="0"/>
              <a:ea typeface="맑은 고딕" panose="020B0503020000020004" pitchFamily="50" charset="-127"/>
              <a:cs typeface="Samsung Sharp Sans" pitchFamily="2" charset="0"/>
            </a:endParaRP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1.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17" name="직사각형 16">
            <a:extLst>
              <a:ext uri="{FF2B5EF4-FFF2-40B4-BE49-F238E27FC236}">
                <a16:creationId xmlns:a16="http://schemas.microsoft.com/office/drawing/2014/main" id="{88522452-0F25-4CFF-B4F1-4F97F94CF66D}"/>
              </a:ext>
            </a:extLst>
          </p:cNvPr>
          <p:cNvSpPr/>
          <p:nvPr/>
        </p:nvSpPr>
        <p:spPr>
          <a:xfrm>
            <a:off x="1054111" y="3929021"/>
            <a:ext cx="8289789" cy="1897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algn="l" defTabSz="914400" rtl="0" eaLnBrk="1" fontAlgn="base" latinLnBrk="1" hangingPunct="1">
              <a:lnSpc>
                <a:spcPct val="100000"/>
              </a:lnSpc>
              <a:spcBef>
                <a:spcPct val="0"/>
              </a:spcBef>
              <a:spcAft>
                <a:spcPts val="1000"/>
              </a:spcAft>
              <a:buClrTx/>
              <a:buSzPct val="120000"/>
              <a:buBlip>
                <a:blip r:embed="rId3"/>
              </a:buBlip>
              <a:tabLst/>
              <a:defRPr/>
            </a:pPr>
            <a:r>
              <a:rPr kumimoji="1" lang="en-US" altLang="ko-KR" sz="1800" b="0" i="0" u="none" strike="noStrike" kern="1200" cap="none" spc="0" normalizeH="0" baseline="0" noProof="0" dirty="0">
                <a:ln>
                  <a:noFill/>
                </a:ln>
                <a:solidFill>
                  <a:prstClr val="black">
                    <a:lumMod val="75000"/>
                    <a:lumOff val="25000"/>
                  </a:prstClr>
                </a:solidFill>
                <a:effectLst/>
                <a:uLnTx/>
                <a:uFillTx/>
                <a:latin typeface="SamsungOne-700" panose="020B0803030303020204" pitchFamily="34" charset="0"/>
                <a:ea typeface="SamsungOne-700" panose="020B0803030303020204" pitchFamily="34" charset="0"/>
                <a:cs typeface="+mn-cs"/>
              </a:rPr>
              <a:t>1.1. What is Machine Learning?</a:t>
            </a:r>
          </a:p>
          <a:p>
            <a:pPr marL="176213" marR="0" lvl="0" indent="-176213" fontAlgn="base">
              <a:lnSpc>
                <a:spcPct val="100000"/>
              </a:lnSpc>
              <a:spcBef>
                <a:spcPct val="0"/>
              </a:spcBef>
              <a:spcAft>
                <a:spcPts val="1000"/>
              </a:spcAft>
              <a:buClrTx/>
              <a:buSzPct val="120000"/>
              <a:buBlip>
                <a:blip r:embed="rId4"/>
              </a:buBlip>
              <a:tabLst/>
              <a:defRPr/>
            </a:pPr>
            <a:r>
              <a:rPr lang="en-US" altLang="ko-KR" dirty="0">
                <a:solidFill>
                  <a:srgbClr val="A6A6A6"/>
                </a:solidFill>
                <a:latin typeface="SamsungOne 400" panose="020B0503030303020204" pitchFamily="34" charset="0"/>
                <a:ea typeface="SamsungOne 400" panose="020B0503030303020204" pitchFamily="34" charset="0"/>
              </a:rPr>
              <a:t>1.2. Python </a:t>
            </a:r>
            <a:r>
              <a:rPr lang="en-US" altLang="ko-KR" dirty="0" err="1">
                <a:solidFill>
                  <a:srgbClr val="A6A6A6"/>
                </a:solidFill>
                <a:latin typeface="SamsungOne 400" panose="020B0503030303020204" pitchFamily="34" charset="0"/>
                <a:ea typeface="SamsungOne 400" panose="020B0503030303020204" pitchFamily="34" charset="0"/>
              </a:rPr>
              <a:t>scikit</a:t>
            </a:r>
            <a:r>
              <a:rPr lang="en-US" altLang="ko-KR" dirty="0">
                <a:solidFill>
                  <a:srgbClr val="A6A6A6"/>
                </a:solidFill>
                <a:latin typeface="SamsungOne 400" panose="020B0503030303020204" pitchFamily="34" charset="0"/>
                <a:ea typeface="SamsungOne 400" panose="020B0503030303020204" pitchFamily="34" charset="0"/>
              </a:rPr>
              <a:t>-learn Library for Machine Learning </a:t>
            </a:r>
            <a:endParaRPr lang="en-US" altLang="ko-KR" dirty="0">
              <a:solidFill>
                <a:srgbClr val="A6A6A6"/>
              </a:solidFill>
              <a:latin typeface="SamsungOne 400" panose="020B0503030303020204" pitchFamily="34" charset="0"/>
            </a:endParaRPr>
          </a:p>
          <a:p>
            <a:pPr marL="176213" marR="0" lvl="0" indent="-176213" fontAlgn="base">
              <a:lnSpc>
                <a:spcPct val="100000"/>
              </a:lnSpc>
              <a:spcBef>
                <a:spcPct val="0"/>
              </a:spcBef>
              <a:spcAft>
                <a:spcPts val="1000"/>
              </a:spcAft>
              <a:buClrTx/>
              <a:buSzPct val="120000"/>
              <a:buBlip>
                <a:blip r:embed="rId4"/>
              </a:buBlip>
              <a:tabLst/>
              <a:defRPr/>
            </a:pPr>
            <a:r>
              <a:rPr lang="en-US" altLang="ko-KR" dirty="0">
                <a:solidFill>
                  <a:srgbClr val="A6A6A6"/>
                </a:solidFill>
                <a:latin typeface="SamsungOne 400" panose="020B0503030303020204" pitchFamily="34" charset="0"/>
              </a:rPr>
              <a:t>1.3. Preparation and Division of Dataset</a:t>
            </a:r>
            <a:endParaRPr lang="ko-KR" altLang="en-US" dirty="0">
              <a:solidFill>
                <a:srgbClr val="A6A6A6"/>
              </a:solidFill>
              <a:latin typeface="SamsungOne 400" panose="020B0503030303020204" pitchFamily="34" charset="0"/>
            </a:endParaRPr>
          </a:p>
          <a:p>
            <a:pPr marL="176213" marR="0" lvl="0" indent="-176213" fontAlgn="base">
              <a:lnSpc>
                <a:spcPct val="100000"/>
              </a:lnSpc>
              <a:spcBef>
                <a:spcPct val="0"/>
              </a:spcBef>
              <a:spcAft>
                <a:spcPts val="1000"/>
              </a:spcAft>
              <a:buClrTx/>
              <a:buSzPct val="120000"/>
              <a:buBlip>
                <a:blip r:embed="rId4"/>
              </a:buBlip>
              <a:tabLst/>
              <a:defRPr/>
            </a:pPr>
            <a:r>
              <a:rPr lang="en-US" altLang="ko-KR" dirty="0">
                <a:solidFill>
                  <a:srgbClr val="A6A6A6"/>
                </a:solidFill>
                <a:latin typeface="SamsungOne 400" panose="020B0503030303020204" pitchFamily="34" charset="0"/>
              </a:rPr>
              <a:t>1.4. Data Pre-processing for Making a Good Training Dataset</a:t>
            </a:r>
            <a:endParaRPr lang="ko-KR" altLang="en-US" dirty="0">
              <a:solidFill>
                <a:srgbClr val="A6A6A6"/>
              </a:solidFill>
              <a:latin typeface="SamsungOne 400" panose="020B0503030303020204" pitchFamily="34" charset="0"/>
            </a:endParaRPr>
          </a:p>
          <a:p>
            <a:pPr marL="176213" marR="0" lvl="0" indent="-176213" fontAlgn="base">
              <a:lnSpc>
                <a:spcPct val="100000"/>
              </a:lnSpc>
              <a:spcBef>
                <a:spcPct val="0"/>
              </a:spcBef>
              <a:spcAft>
                <a:spcPts val="1000"/>
              </a:spcAft>
              <a:buClrTx/>
              <a:buSzPct val="120000"/>
              <a:buBlip>
                <a:blip r:embed="rId4"/>
              </a:buBlip>
              <a:tabLst/>
              <a:defRPr/>
            </a:pPr>
            <a:r>
              <a:rPr lang="en-US" altLang="ko-KR" dirty="0">
                <a:solidFill>
                  <a:srgbClr val="A6A6A6"/>
                </a:solidFill>
                <a:latin typeface="SamsungOne 400" panose="020B0503030303020204" pitchFamily="34" charset="0"/>
              </a:rPr>
              <a:t>1.5. Practicing to Find an Optimal Method to Solve Problems with </a:t>
            </a:r>
            <a:r>
              <a:rPr lang="en-US" altLang="ko-KR" dirty="0" err="1">
                <a:solidFill>
                  <a:srgbClr val="A6A6A6"/>
                </a:solidFill>
                <a:latin typeface="SamsungOne 400" panose="020B0503030303020204" pitchFamily="34" charset="0"/>
              </a:rPr>
              <a:t>scikit</a:t>
            </a:r>
            <a:r>
              <a:rPr lang="en-US" altLang="ko-KR" dirty="0">
                <a:solidFill>
                  <a:srgbClr val="A6A6A6"/>
                </a:solidFill>
                <a:latin typeface="SamsungOne 400" panose="020B0503030303020204" pitchFamily="34" charset="0"/>
              </a:rPr>
              <a:t>-learn</a:t>
            </a:r>
            <a:endParaRPr lang="ko-KR" altLang="en-US" dirty="0">
              <a:solidFill>
                <a:srgbClr val="A6A6A6"/>
              </a:solidFill>
              <a:latin typeface="SamsungOne 400" panose="020B0503030303020204" pitchFamily="34" charset="0"/>
            </a:endParaRPr>
          </a:p>
        </p:txBody>
      </p:sp>
    </p:spTree>
    <p:extLst>
      <p:ext uri="{BB962C8B-B14F-4D97-AF65-F5344CB8AC3E}">
        <p14:creationId xmlns:p14="http://schemas.microsoft.com/office/powerpoint/2010/main" val="1339580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1.1. What is Machine Learning?</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What is Machine Learning?</a:t>
            </a:r>
          </a:p>
        </p:txBody>
      </p:sp>
      <p:sp>
        <p:nvSpPr>
          <p:cNvPr id="40" name="직사각형 39">
            <a:extLst>
              <a:ext uri="{FF2B5EF4-FFF2-40B4-BE49-F238E27FC236}">
                <a16:creationId xmlns:a16="http://schemas.microsoft.com/office/drawing/2014/main" id="{3A76204B-18F3-4CF1-ACE4-AFDF6C8ED0B9}"/>
              </a:ext>
            </a:extLst>
          </p:cNvPr>
          <p:cNvSpPr/>
          <p:nvPr/>
        </p:nvSpPr>
        <p:spPr>
          <a:xfrm>
            <a:off x="672080" y="4416331"/>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 statistical model that learns from </a:t>
            </a:r>
            <a:r>
              <a:rPr lang="en-US" altLang="ko-KR" sz="1300" dirty="0">
                <a:solidFill>
                  <a:srgbClr val="FF0000"/>
                </a:solidFill>
                <a:latin typeface="SamsungOne 400" panose="020B0503030303020204" pitchFamily="34" charset="0"/>
                <a:ea typeface="SamsungOne 400" panose="020B0503030303020204" pitchFamily="34" charset="0"/>
              </a:rPr>
              <a:t>data</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 rather </a:t>
            </a:r>
            <a:r>
              <a:rPr lang="en-US" altLang="ko-KR" sz="1300" dirty="0">
                <a:solidFill>
                  <a:srgbClr val="FF0000"/>
                </a:solidFill>
                <a:latin typeface="SamsungOne 400" panose="020B0503030303020204" pitchFamily="34" charset="0"/>
                <a:ea typeface="SamsungOne 400" panose="020B0503030303020204" pitchFamily="34" charset="0"/>
              </a:rPr>
              <a:t>simple</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model can make </a:t>
            </a:r>
            <a:r>
              <a:rPr lang="en-US" altLang="ko-KR" sz="1300" dirty="0">
                <a:solidFill>
                  <a:srgbClr val="FF0000"/>
                </a:solidFill>
                <a:latin typeface="SamsungOne 400" panose="020B0503030303020204" pitchFamily="34" charset="0"/>
                <a:ea typeface="SamsungOne 400" panose="020B0503030303020204" pitchFamily="34" charset="0"/>
              </a:rPr>
              <a:t>complex</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predictions.</a:t>
            </a:r>
          </a:p>
        </p:txBody>
      </p:sp>
      <p:sp>
        <p:nvSpPr>
          <p:cNvPr id="14" name="직사각형 13">
            <a:extLst>
              <a:ext uri="{FF2B5EF4-FFF2-40B4-BE49-F238E27FC236}">
                <a16:creationId xmlns:a16="http://schemas.microsoft.com/office/drawing/2014/main" id="{FA18C629-1018-4158-88B5-E2C18FF12CC3}"/>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What is machine learning?</a:t>
            </a:r>
          </a:p>
        </p:txBody>
      </p:sp>
      <p:pic>
        <p:nvPicPr>
          <p:cNvPr id="3" name="그림 2">
            <a:extLst>
              <a:ext uri="{FF2B5EF4-FFF2-40B4-BE49-F238E27FC236}">
                <a16:creationId xmlns:a16="http://schemas.microsoft.com/office/drawing/2014/main" id="{737397A3-F4CC-4BEA-8669-98FF6353EB9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9025" t="19025" r="19025" b="19025"/>
          <a:stretch/>
        </p:blipFill>
        <p:spPr>
          <a:xfrm>
            <a:off x="4105318" y="2353823"/>
            <a:ext cx="1692188" cy="1692188"/>
          </a:xfrm>
          <a:prstGeom prst="rect">
            <a:avLst/>
          </a:prstGeom>
        </p:spPr>
      </p:pic>
    </p:spTree>
    <p:extLst>
      <p:ext uri="{BB962C8B-B14F-4D97-AF65-F5344CB8AC3E}">
        <p14:creationId xmlns:p14="http://schemas.microsoft.com/office/powerpoint/2010/main" val="2431274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1.1. What is Machine Learning?</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Samuel’s definition in the early phase of artificial intelligence</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5" name="직사각형 14">
            <a:extLst>
              <a:ext uri="{FF2B5EF4-FFF2-40B4-BE49-F238E27FC236}">
                <a16:creationId xmlns:a16="http://schemas.microsoft.com/office/drawing/2014/main" id="{8E02D1CE-2859-45A1-90B6-A62349DC71E3}"/>
              </a:ext>
            </a:extLst>
          </p:cNvPr>
          <p:cNvSpPr/>
          <p:nvPr/>
        </p:nvSpPr>
        <p:spPr>
          <a:xfrm>
            <a:off x="671261" y="1700808"/>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“Programming Computers to learn from experience should eventually eliminate the need for much of this detailed programming effort.” – Samuel, 1959</a:t>
            </a:r>
          </a:p>
        </p:txBody>
      </p:sp>
      <p:sp>
        <p:nvSpPr>
          <p:cNvPr id="26" name="직사각형 25">
            <a:extLst>
              <a:ext uri="{FF2B5EF4-FFF2-40B4-BE49-F238E27FC236}">
                <a16:creationId xmlns:a16="http://schemas.microsoft.com/office/drawing/2014/main" id="{6AD4E377-BD70-4EE5-BB0D-D9F8403C4448}"/>
              </a:ext>
            </a:extLst>
          </p:cNvPr>
          <p:cNvSpPr/>
          <p:nvPr/>
        </p:nvSpPr>
        <p:spPr>
          <a:xfrm>
            <a:off x="558924" y="2454144"/>
            <a:ext cx="8909076"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Modern definition</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27" name="직사각형 26">
            <a:extLst>
              <a:ext uri="{FF2B5EF4-FFF2-40B4-BE49-F238E27FC236}">
                <a16:creationId xmlns:a16="http://schemas.microsoft.com/office/drawing/2014/main" id="{7C273948-3293-403B-B531-723D90051955}"/>
              </a:ext>
            </a:extLst>
          </p:cNvPr>
          <p:cNvSpPr/>
          <p:nvPr/>
        </p:nvSpPr>
        <p:spPr>
          <a:xfrm>
            <a:off x="671261" y="2726208"/>
            <a:ext cx="8672764" cy="1350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 computer program is said to learn from experience E with respect to some class of tasks T and performance measure P, if its performance at tasks in T, as measured by P, improves with experience E.” – Mitchell, 1997 (p.2)</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“Programming computers to optimize a performance criterion using example data or past experience.” </a:t>
            </a:r>
            <a:b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b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Alpaydin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2010</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“Computational methods using experience to improve performance or to make accurate predictions.” –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Mohri</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2012</a:t>
            </a:r>
          </a:p>
        </p:txBody>
      </p:sp>
    </p:spTree>
    <p:extLst>
      <p:ext uri="{BB962C8B-B14F-4D97-AF65-F5344CB8AC3E}">
        <p14:creationId xmlns:p14="http://schemas.microsoft.com/office/powerpoint/2010/main" val="3131595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1.1. What is Machine Learning?</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Mathematical definition</a:t>
            </a:r>
            <a:r>
              <a:rPr lang="ko-KR" altLang="en-US" sz="1400" dirty="0">
                <a:solidFill>
                  <a:schemeClr val="tx1"/>
                </a:solidFill>
                <a:latin typeface="SamsungOne 400" panose="020B0503030303020204" pitchFamily="34" charset="0"/>
                <a:ea typeface="SamsungOne 400" panose="020B0503030303020204" pitchFamily="34" charset="0"/>
              </a:rPr>
              <a:t> </a:t>
            </a:r>
          </a:p>
        </p:txBody>
      </p:sp>
      <p:sp>
        <p:nvSpPr>
          <p:cNvPr id="15" name="직사각형 14">
            <a:extLst>
              <a:ext uri="{FF2B5EF4-FFF2-40B4-BE49-F238E27FC236}">
                <a16:creationId xmlns:a16="http://schemas.microsoft.com/office/drawing/2014/main" id="{8E02D1CE-2859-45A1-90B6-A62349DC71E3}"/>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Suppose that the x-axis is invested advertising expenses while the y-axis is sales.</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sp>
        <p:nvSpPr>
          <p:cNvPr id="10" name="직사각형 9">
            <a:extLst>
              <a:ext uri="{FF2B5EF4-FFF2-40B4-BE49-F238E27FC236}">
                <a16:creationId xmlns:a16="http://schemas.microsoft.com/office/drawing/2014/main" id="{7969B200-44D3-427D-ACD4-4A5B77153C98}"/>
              </a:ext>
            </a:extLst>
          </p:cNvPr>
          <p:cNvSpPr/>
          <p:nvPr/>
        </p:nvSpPr>
        <p:spPr>
          <a:xfrm>
            <a:off x="3989031" y="2176020"/>
            <a:ext cx="5478969" cy="19971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lvl="1" indent="-182563">
              <a:spcAft>
                <a:spcPts val="800"/>
              </a:spcAft>
              <a:buClr>
                <a:srgbClr val="193EB0"/>
              </a:buClr>
              <a:buFont typeface="SamsungOne 400" panose="020B0503030303020204" pitchFamily="34" charset="0"/>
              <a:buChar char="‣"/>
            </a:pPr>
            <a:r>
              <a:rPr lang="en-US" altLang="ko-KR" sz="1200" dirty="0">
                <a:solidFill>
                  <a:prstClr val="black">
                    <a:lumMod val="85000"/>
                    <a:lumOff val="15000"/>
                  </a:prstClr>
                </a:solidFill>
                <a:latin typeface="SamsungOne 400" panose="020B0503030303020204" pitchFamily="34" charset="0"/>
              </a:rPr>
              <a:t>Question about prediction – What are the sales when random advertising expenses are given?</a:t>
            </a:r>
          </a:p>
          <a:p>
            <a:pPr marL="182563" lvl="1" indent="-182563">
              <a:spcAft>
                <a:spcPts val="800"/>
              </a:spcAft>
              <a:buClr>
                <a:srgbClr val="193EB0"/>
              </a:buClr>
              <a:buFont typeface="SamsungOne 400" panose="020B0503030303020204" pitchFamily="34" charset="0"/>
              <a:buChar char="‣"/>
            </a:pPr>
            <a:r>
              <a:rPr lang="en-US" altLang="ko-KR" sz="1200" dirty="0">
                <a:solidFill>
                  <a:prstClr val="black">
                    <a:lumMod val="85000"/>
                    <a:lumOff val="15000"/>
                  </a:prstClr>
                </a:solidFill>
                <a:latin typeface="SamsungOne 400" panose="020B0503030303020204" pitchFamily="34" charset="0"/>
              </a:rPr>
              <a:t>Linear regression</a:t>
            </a:r>
            <a:endParaRPr lang="ko-KR" altLang="en-US" sz="1200" dirty="0">
              <a:solidFill>
                <a:prstClr val="black">
                  <a:lumMod val="85000"/>
                  <a:lumOff val="15000"/>
                </a:prstClr>
              </a:solidFill>
              <a:latin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w</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and</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b</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as</a:t>
            </a:r>
            <a:r>
              <a:rPr lang="ko-KR" altLang="en-US"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parameters</a:t>
            </a:r>
          </a:p>
          <a:p>
            <a:pPr marL="361950" lvl="1" indent="-180975">
              <a:spcAft>
                <a:spcPts val="800"/>
              </a:spcAft>
              <a:buClr>
                <a:srgbClr val="193EB0"/>
              </a:buClr>
              <a:buFont typeface="Arial" panose="020B0604020202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endParaRPr lang="en-US" altLang="ko-KR" sz="1300" dirty="0">
              <a:solidFill>
                <a:prstClr val="black">
                  <a:lumMod val="85000"/>
                  <a:lumOff val="15000"/>
                </a:prstClr>
              </a:solidFill>
              <a:latin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is</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commonly</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used</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as</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an</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abbreviation</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of</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‘weigh.’</a:t>
            </a:r>
          </a:p>
        </p:txBody>
      </p:sp>
      <p:sp>
        <p:nvSpPr>
          <p:cNvPr id="11" name="직사각형 10">
            <a:extLst>
              <a:ext uri="{FF2B5EF4-FFF2-40B4-BE49-F238E27FC236}">
                <a16:creationId xmlns:a16="http://schemas.microsoft.com/office/drawing/2014/main" id="{F2558FEA-EEF5-46F3-8275-9F4A93371FA3}"/>
              </a:ext>
            </a:extLst>
          </p:cNvPr>
          <p:cNvSpPr/>
          <p:nvPr/>
        </p:nvSpPr>
        <p:spPr>
          <a:xfrm>
            <a:off x="671261" y="4576839"/>
            <a:ext cx="8632825" cy="11508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Since the optimal value is unknown in the beginning, start with an arbitrary value and then reach the optimal value by gradually enhancing the performance. </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From the graph, it starts from f1 to continue as f1 → f2 → f3.</a:t>
            </a: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optimal value is f3 where w=0.5 and</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b=2.0.</a:t>
            </a:r>
          </a:p>
        </p:txBody>
      </p:sp>
      <p:sp>
        <p:nvSpPr>
          <p:cNvPr id="73" name="직사각형 72">
            <a:extLst>
              <a:ext uri="{FF2B5EF4-FFF2-40B4-BE49-F238E27FC236}">
                <a16:creationId xmlns:a16="http://schemas.microsoft.com/office/drawing/2014/main" id="{8A0921B7-F3FE-4F4B-B84F-5E1B147E5590}"/>
              </a:ext>
            </a:extLst>
          </p:cNvPr>
          <p:cNvSpPr/>
          <p:nvPr/>
        </p:nvSpPr>
        <p:spPr>
          <a:xfrm>
            <a:off x="666750" y="2096852"/>
            <a:ext cx="3168538" cy="23317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lt1"/>
              </a:solidFill>
            </a:endParaRPr>
          </a:p>
        </p:txBody>
      </p:sp>
      <p:grpSp>
        <p:nvGrpSpPr>
          <p:cNvPr id="72" name="그룹 71">
            <a:extLst>
              <a:ext uri="{FF2B5EF4-FFF2-40B4-BE49-F238E27FC236}">
                <a16:creationId xmlns:a16="http://schemas.microsoft.com/office/drawing/2014/main" id="{E372C92D-2CDE-4401-B1A9-6C77BC4302F0}"/>
              </a:ext>
            </a:extLst>
          </p:cNvPr>
          <p:cNvGrpSpPr/>
          <p:nvPr/>
        </p:nvGrpSpPr>
        <p:grpSpPr>
          <a:xfrm>
            <a:off x="918964" y="2259859"/>
            <a:ext cx="3070065" cy="1995420"/>
            <a:chOff x="1078230" y="2273775"/>
            <a:chExt cx="3070065" cy="1995420"/>
          </a:xfrm>
        </p:grpSpPr>
        <p:grpSp>
          <p:nvGrpSpPr>
            <p:cNvPr id="14" name="그룹 13">
              <a:extLst>
                <a:ext uri="{FF2B5EF4-FFF2-40B4-BE49-F238E27FC236}">
                  <a16:creationId xmlns:a16="http://schemas.microsoft.com/office/drawing/2014/main" id="{00EFBF20-E7FD-4105-ADCB-ED2C466B7E59}"/>
                </a:ext>
              </a:extLst>
            </p:cNvPr>
            <p:cNvGrpSpPr/>
            <p:nvPr/>
          </p:nvGrpSpPr>
          <p:grpSpPr>
            <a:xfrm>
              <a:off x="1078230" y="2492896"/>
              <a:ext cx="1912620" cy="1584176"/>
              <a:chOff x="1078230" y="2492896"/>
              <a:chExt cx="1912620" cy="1584176"/>
            </a:xfrm>
          </p:grpSpPr>
          <p:cxnSp>
            <p:nvCxnSpPr>
              <p:cNvPr id="3" name="직선 화살표 연결선 2">
                <a:extLst>
                  <a:ext uri="{FF2B5EF4-FFF2-40B4-BE49-F238E27FC236}">
                    <a16:creationId xmlns:a16="http://schemas.microsoft.com/office/drawing/2014/main" id="{9803BB89-3BC0-4468-A5E3-9821AF6340BF}"/>
                  </a:ext>
                </a:extLst>
              </p:cNvPr>
              <p:cNvCxnSpPr/>
              <p:nvPr/>
            </p:nvCxnSpPr>
            <p:spPr>
              <a:xfrm flipV="1">
                <a:off x="1142608" y="2492896"/>
                <a:ext cx="0" cy="151216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직선 화살표 연결선 4">
                <a:extLst>
                  <a:ext uri="{FF2B5EF4-FFF2-40B4-BE49-F238E27FC236}">
                    <a16:creationId xmlns:a16="http://schemas.microsoft.com/office/drawing/2014/main" id="{1556595B-B76F-460D-B7F8-0BBAC33E50D9}"/>
                  </a:ext>
                </a:extLst>
              </p:cNvPr>
              <p:cNvCxnSpPr/>
              <p:nvPr/>
            </p:nvCxnSpPr>
            <p:spPr>
              <a:xfrm>
                <a:off x="1142608" y="4005064"/>
                <a:ext cx="184824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직선 연결선 6">
                <a:extLst>
                  <a:ext uri="{FF2B5EF4-FFF2-40B4-BE49-F238E27FC236}">
                    <a16:creationId xmlns:a16="http://schemas.microsoft.com/office/drawing/2014/main" id="{8722D41B-A422-4D5B-81B8-8B34B44D0C65}"/>
                  </a:ext>
                </a:extLst>
              </p:cNvPr>
              <p:cNvCxnSpPr>
                <a:cxnSpLocks/>
              </p:cNvCxnSpPr>
              <p:nvPr/>
            </p:nvCxnSpPr>
            <p:spPr>
              <a:xfrm>
                <a:off x="1078230" y="2672715"/>
                <a:ext cx="64378" cy="2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44663235-47D3-4AB7-A125-69831C1C9D6B}"/>
                  </a:ext>
                </a:extLst>
              </p:cNvPr>
              <p:cNvCxnSpPr>
                <a:cxnSpLocks/>
              </p:cNvCxnSpPr>
              <p:nvPr/>
            </p:nvCxnSpPr>
            <p:spPr>
              <a:xfrm>
                <a:off x="1078230" y="2834640"/>
                <a:ext cx="64378" cy="2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직선 연결선 20">
                <a:extLst>
                  <a:ext uri="{FF2B5EF4-FFF2-40B4-BE49-F238E27FC236}">
                    <a16:creationId xmlns:a16="http://schemas.microsoft.com/office/drawing/2014/main" id="{10BDF578-2E28-4E0B-914E-EDD7543F8BC5}"/>
                  </a:ext>
                </a:extLst>
              </p:cNvPr>
              <p:cNvCxnSpPr>
                <a:cxnSpLocks/>
              </p:cNvCxnSpPr>
              <p:nvPr/>
            </p:nvCxnSpPr>
            <p:spPr>
              <a:xfrm>
                <a:off x="1078230" y="3002280"/>
                <a:ext cx="64378" cy="2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a:extLst>
                  <a:ext uri="{FF2B5EF4-FFF2-40B4-BE49-F238E27FC236}">
                    <a16:creationId xmlns:a16="http://schemas.microsoft.com/office/drawing/2014/main" id="{E70DA7A3-CFAA-439D-B3D2-0A503D73A5B0}"/>
                  </a:ext>
                </a:extLst>
              </p:cNvPr>
              <p:cNvCxnSpPr>
                <a:cxnSpLocks/>
              </p:cNvCxnSpPr>
              <p:nvPr/>
            </p:nvCxnSpPr>
            <p:spPr>
              <a:xfrm>
                <a:off x="1078230" y="3168015"/>
                <a:ext cx="64378" cy="2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DD97B5B5-3C1B-468E-97BE-4AB43466B720}"/>
                  </a:ext>
                </a:extLst>
              </p:cNvPr>
              <p:cNvCxnSpPr>
                <a:cxnSpLocks/>
              </p:cNvCxnSpPr>
              <p:nvPr/>
            </p:nvCxnSpPr>
            <p:spPr>
              <a:xfrm>
                <a:off x="1078230" y="3329940"/>
                <a:ext cx="64378" cy="2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64D6E4C2-78C8-4AB0-88E4-EE565D760F67}"/>
                  </a:ext>
                </a:extLst>
              </p:cNvPr>
              <p:cNvCxnSpPr>
                <a:cxnSpLocks/>
              </p:cNvCxnSpPr>
              <p:nvPr/>
            </p:nvCxnSpPr>
            <p:spPr>
              <a:xfrm>
                <a:off x="1078230" y="3497580"/>
                <a:ext cx="64378" cy="2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04FC51B-33BE-41C4-943A-2F3A2A1F7E9C}"/>
                  </a:ext>
                </a:extLst>
              </p:cNvPr>
              <p:cNvCxnSpPr>
                <a:cxnSpLocks/>
              </p:cNvCxnSpPr>
              <p:nvPr/>
            </p:nvCxnSpPr>
            <p:spPr>
              <a:xfrm>
                <a:off x="1078230" y="3669784"/>
                <a:ext cx="64378" cy="2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53177A8D-9951-4F51-A8BA-417CF76FD13F}"/>
                  </a:ext>
                </a:extLst>
              </p:cNvPr>
              <p:cNvCxnSpPr>
                <a:cxnSpLocks/>
              </p:cNvCxnSpPr>
              <p:nvPr/>
            </p:nvCxnSpPr>
            <p:spPr>
              <a:xfrm>
                <a:off x="1078230" y="3837424"/>
                <a:ext cx="64378" cy="2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87153C92-CF9F-468B-9DA7-692037047E4C}"/>
                  </a:ext>
                </a:extLst>
              </p:cNvPr>
              <p:cNvCxnSpPr/>
              <p:nvPr/>
            </p:nvCxnSpPr>
            <p:spPr>
              <a:xfrm>
                <a:off x="1315008" y="4005064"/>
                <a:ext cx="0" cy="720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직선 연결선 33">
                <a:extLst>
                  <a:ext uri="{FF2B5EF4-FFF2-40B4-BE49-F238E27FC236}">
                    <a16:creationId xmlns:a16="http://schemas.microsoft.com/office/drawing/2014/main" id="{7A52AEA9-BA26-41B9-9464-4ECB461E91F3}"/>
                  </a:ext>
                </a:extLst>
              </p:cNvPr>
              <p:cNvCxnSpPr/>
              <p:nvPr/>
            </p:nvCxnSpPr>
            <p:spPr>
              <a:xfrm>
                <a:off x="1484553" y="4005064"/>
                <a:ext cx="0" cy="720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BE9162D3-7B88-405E-BF44-9D3826695F3D}"/>
                  </a:ext>
                </a:extLst>
              </p:cNvPr>
              <p:cNvCxnSpPr/>
              <p:nvPr/>
            </p:nvCxnSpPr>
            <p:spPr>
              <a:xfrm>
                <a:off x="1654098" y="4005064"/>
                <a:ext cx="0" cy="720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직선 연결선 35">
                <a:extLst>
                  <a:ext uri="{FF2B5EF4-FFF2-40B4-BE49-F238E27FC236}">
                    <a16:creationId xmlns:a16="http://schemas.microsoft.com/office/drawing/2014/main" id="{1149397A-4044-4F41-9047-7E6602CB6C5C}"/>
                  </a:ext>
                </a:extLst>
              </p:cNvPr>
              <p:cNvCxnSpPr/>
              <p:nvPr/>
            </p:nvCxnSpPr>
            <p:spPr>
              <a:xfrm>
                <a:off x="1823643" y="4005064"/>
                <a:ext cx="0" cy="720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EDA3256F-7929-40D8-AC1B-660B4179FD21}"/>
                  </a:ext>
                </a:extLst>
              </p:cNvPr>
              <p:cNvCxnSpPr/>
              <p:nvPr/>
            </p:nvCxnSpPr>
            <p:spPr>
              <a:xfrm>
                <a:off x="1983663" y="4005064"/>
                <a:ext cx="0" cy="720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36869068-B760-4B90-A3BB-1EEE9A186603}"/>
                  </a:ext>
                </a:extLst>
              </p:cNvPr>
              <p:cNvCxnSpPr/>
              <p:nvPr/>
            </p:nvCxnSpPr>
            <p:spPr>
              <a:xfrm>
                <a:off x="2153208" y="4005064"/>
                <a:ext cx="0" cy="720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직선 연결선 38">
                <a:extLst>
                  <a:ext uri="{FF2B5EF4-FFF2-40B4-BE49-F238E27FC236}">
                    <a16:creationId xmlns:a16="http://schemas.microsoft.com/office/drawing/2014/main" id="{47922A43-CB2C-4A18-82EC-BF9FCB007C9A}"/>
                  </a:ext>
                </a:extLst>
              </p:cNvPr>
              <p:cNvCxnSpPr/>
              <p:nvPr/>
            </p:nvCxnSpPr>
            <p:spPr>
              <a:xfrm>
                <a:off x="2322753" y="4005064"/>
                <a:ext cx="0" cy="720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직선 연결선 39">
                <a:extLst>
                  <a:ext uri="{FF2B5EF4-FFF2-40B4-BE49-F238E27FC236}">
                    <a16:creationId xmlns:a16="http://schemas.microsoft.com/office/drawing/2014/main" id="{9741098E-5113-49AA-A288-671663F71080}"/>
                  </a:ext>
                </a:extLst>
              </p:cNvPr>
              <p:cNvCxnSpPr/>
              <p:nvPr/>
            </p:nvCxnSpPr>
            <p:spPr>
              <a:xfrm>
                <a:off x="2492298" y="4005064"/>
                <a:ext cx="0" cy="720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직선 연결선 40">
                <a:extLst>
                  <a:ext uri="{FF2B5EF4-FFF2-40B4-BE49-F238E27FC236}">
                    <a16:creationId xmlns:a16="http://schemas.microsoft.com/office/drawing/2014/main" id="{D94B2854-DABA-43D7-A602-7A90D1246274}"/>
                  </a:ext>
                </a:extLst>
              </p:cNvPr>
              <p:cNvCxnSpPr/>
              <p:nvPr/>
            </p:nvCxnSpPr>
            <p:spPr>
              <a:xfrm>
                <a:off x="2648508" y="4005064"/>
                <a:ext cx="0" cy="720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CD8E0468-F854-4C79-9D36-EC8272AB4F98}"/>
                  </a:ext>
                </a:extLst>
              </p:cNvPr>
              <p:cNvCxnSpPr/>
              <p:nvPr/>
            </p:nvCxnSpPr>
            <p:spPr>
              <a:xfrm>
                <a:off x="2818053" y="4005064"/>
                <a:ext cx="0" cy="7200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 name="그룹 59">
              <a:extLst>
                <a:ext uri="{FF2B5EF4-FFF2-40B4-BE49-F238E27FC236}">
                  <a16:creationId xmlns:a16="http://schemas.microsoft.com/office/drawing/2014/main" id="{B5494257-E3CB-431E-9BB1-23DB6D193159}"/>
                </a:ext>
              </a:extLst>
            </p:cNvPr>
            <p:cNvGrpSpPr/>
            <p:nvPr/>
          </p:nvGrpSpPr>
          <p:grpSpPr>
            <a:xfrm>
              <a:off x="1142608" y="2672715"/>
              <a:ext cx="1681620" cy="1332349"/>
              <a:chOff x="1142608" y="2672715"/>
              <a:chExt cx="1681620" cy="1332349"/>
            </a:xfrm>
          </p:grpSpPr>
          <p:cxnSp>
            <p:nvCxnSpPr>
              <p:cNvPr id="17" name="직선 연결선 16">
                <a:extLst>
                  <a:ext uri="{FF2B5EF4-FFF2-40B4-BE49-F238E27FC236}">
                    <a16:creationId xmlns:a16="http://schemas.microsoft.com/office/drawing/2014/main" id="{0CD19736-801A-4BA1-8B35-DAF6ED67FDC9}"/>
                  </a:ext>
                </a:extLst>
              </p:cNvPr>
              <p:cNvCxnSpPr/>
              <p:nvPr/>
            </p:nvCxnSpPr>
            <p:spPr>
              <a:xfrm flipV="1">
                <a:off x="1142608" y="2672715"/>
                <a:ext cx="1675445" cy="133234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4A0CFA87-70A4-47DF-B58D-D8737813CEE1}"/>
                  </a:ext>
                </a:extLst>
              </p:cNvPr>
              <p:cNvCxnSpPr/>
              <p:nvPr/>
            </p:nvCxnSpPr>
            <p:spPr>
              <a:xfrm flipV="1">
                <a:off x="1142608" y="2834640"/>
                <a:ext cx="1675445" cy="835144"/>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직선 연결선 53">
                <a:extLst>
                  <a:ext uri="{FF2B5EF4-FFF2-40B4-BE49-F238E27FC236}">
                    <a16:creationId xmlns:a16="http://schemas.microsoft.com/office/drawing/2014/main" id="{FD64A33B-9433-44A2-B894-FF025342A8BE}"/>
                  </a:ext>
                </a:extLst>
              </p:cNvPr>
              <p:cNvCxnSpPr>
                <a:cxnSpLocks/>
              </p:cNvCxnSpPr>
              <p:nvPr/>
            </p:nvCxnSpPr>
            <p:spPr>
              <a:xfrm flipH="1">
                <a:off x="1150228" y="3168015"/>
                <a:ext cx="1674000" cy="170874"/>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타원 55">
                <a:extLst>
                  <a:ext uri="{FF2B5EF4-FFF2-40B4-BE49-F238E27FC236}">
                    <a16:creationId xmlns:a16="http://schemas.microsoft.com/office/drawing/2014/main" id="{965682DF-3BCC-44BB-9CD8-CF1F56655057}"/>
                  </a:ext>
                </a:extLst>
              </p:cNvPr>
              <p:cNvSpPr/>
              <p:nvPr/>
            </p:nvSpPr>
            <p:spPr>
              <a:xfrm>
                <a:off x="1466553" y="3486336"/>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7" name="타원 56">
                <a:extLst>
                  <a:ext uri="{FF2B5EF4-FFF2-40B4-BE49-F238E27FC236}">
                    <a16:creationId xmlns:a16="http://schemas.microsoft.com/office/drawing/2014/main" id="{1108545C-4F2D-4DF1-8943-818155C72FDA}"/>
                  </a:ext>
                </a:extLst>
              </p:cNvPr>
              <p:cNvSpPr/>
              <p:nvPr/>
            </p:nvSpPr>
            <p:spPr>
              <a:xfrm>
                <a:off x="1798023" y="3318696"/>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타원 57">
                <a:extLst>
                  <a:ext uri="{FF2B5EF4-FFF2-40B4-BE49-F238E27FC236}">
                    <a16:creationId xmlns:a16="http://schemas.microsoft.com/office/drawing/2014/main" id="{5F4AF352-24CB-4029-935B-CC4692520BD5}"/>
                  </a:ext>
                </a:extLst>
              </p:cNvPr>
              <p:cNvSpPr/>
              <p:nvPr/>
            </p:nvSpPr>
            <p:spPr>
              <a:xfrm>
                <a:off x="2135208" y="3151056"/>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타원 58">
                <a:extLst>
                  <a:ext uri="{FF2B5EF4-FFF2-40B4-BE49-F238E27FC236}">
                    <a16:creationId xmlns:a16="http://schemas.microsoft.com/office/drawing/2014/main" id="{9FEADAAF-E766-4464-AFEE-DA9AFFF2827A}"/>
                  </a:ext>
                </a:extLst>
              </p:cNvPr>
              <p:cNvSpPr/>
              <p:nvPr/>
            </p:nvSpPr>
            <p:spPr>
              <a:xfrm>
                <a:off x="2466678" y="2989131"/>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1" name="직사각형 60">
              <a:extLst>
                <a:ext uri="{FF2B5EF4-FFF2-40B4-BE49-F238E27FC236}">
                  <a16:creationId xmlns:a16="http://schemas.microsoft.com/office/drawing/2014/main" id="{6FEC9FA0-8181-4506-B000-844EF664A62D}"/>
                </a:ext>
              </a:extLst>
            </p:cNvPr>
            <p:cNvSpPr/>
            <p:nvPr/>
          </p:nvSpPr>
          <p:spPr>
            <a:xfrm>
              <a:off x="1444478" y="4084529"/>
              <a:ext cx="80150"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scene3d>
                <a:camera prst="orthographicFront"/>
                <a:lightRig rig="threePt" dir="t"/>
              </a:scene3d>
              <a:sp3d>
                <a:bevelT w="0" h="6350"/>
              </a:sp3d>
            </a:bodyPr>
            <a:lstStyle/>
            <a:p>
              <a:pPr>
                <a:spcAft>
                  <a:spcPts val="800"/>
                </a:spcAft>
                <a:buClr>
                  <a:srgbClr val="193EB0"/>
                </a:buClr>
              </a:pP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2</a:t>
              </a:r>
              <a:endParaRPr lang="en-US" altLang="ko-KR" sz="1200" dirty="0">
                <a:solidFill>
                  <a:prstClr val="black">
                    <a:lumMod val="85000"/>
                    <a:lumOff val="15000"/>
                  </a:prstClr>
                </a:solidFill>
                <a:latin typeface="SamsungOne 400" panose="020B0503030303020204" pitchFamily="34" charset="0"/>
              </a:endParaRPr>
            </a:p>
          </p:txBody>
        </p:sp>
        <p:sp>
          <p:nvSpPr>
            <p:cNvPr id="62" name="직사각형 61">
              <a:extLst>
                <a:ext uri="{FF2B5EF4-FFF2-40B4-BE49-F238E27FC236}">
                  <a16:creationId xmlns:a16="http://schemas.microsoft.com/office/drawing/2014/main" id="{73569E77-CD47-4872-A10A-D430557F1FF0}"/>
                </a:ext>
              </a:extLst>
            </p:cNvPr>
            <p:cNvSpPr/>
            <p:nvPr/>
          </p:nvSpPr>
          <p:spPr>
            <a:xfrm>
              <a:off x="1775948" y="4084529"/>
              <a:ext cx="86562"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scene3d>
                <a:camera prst="orthographicFront"/>
                <a:lightRig rig="threePt" dir="t"/>
              </a:scene3d>
              <a:sp3d>
                <a:bevelT w="0" h="6350"/>
              </a:sp3d>
            </a:bodyPr>
            <a:lstStyle/>
            <a:p>
              <a:pPr>
                <a:spcAft>
                  <a:spcPts val="800"/>
                </a:spcAft>
                <a:buClr>
                  <a:srgbClr val="193EB0"/>
                </a:buClr>
              </a:pP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4</a:t>
              </a:r>
              <a:endParaRPr lang="en-US" altLang="ko-KR" sz="1200" dirty="0">
                <a:solidFill>
                  <a:prstClr val="black">
                    <a:lumMod val="85000"/>
                    <a:lumOff val="15000"/>
                  </a:prstClr>
                </a:solidFill>
                <a:latin typeface="SamsungOne 400" panose="020B0503030303020204" pitchFamily="34" charset="0"/>
              </a:endParaRPr>
            </a:p>
          </p:txBody>
        </p:sp>
        <p:sp>
          <p:nvSpPr>
            <p:cNvPr id="64" name="직사각형 63">
              <a:extLst>
                <a:ext uri="{FF2B5EF4-FFF2-40B4-BE49-F238E27FC236}">
                  <a16:creationId xmlns:a16="http://schemas.microsoft.com/office/drawing/2014/main" id="{8B40E459-28BE-4F8B-9F3C-529FB1592987}"/>
                </a:ext>
              </a:extLst>
            </p:cNvPr>
            <p:cNvSpPr/>
            <p:nvPr/>
          </p:nvSpPr>
          <p:spPr>
            <a:xfrm>
              <a:off x="2107418" y="4084529"/>
              <a:ext cx="84960"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scene3d>
                <a:camera prst="orthographicFront"/>
                <a:lightRig rig="threePt" dir="t"/>
              </a:scene3d>
              <a:sp3d>
                <a:bevelT w="0" h="6350"/>
              </a:sp3d>
            </a:bodyPr>
            <a:lstStyle/>
            <a:p>
              <a:pPr>
                <a:spcAft>
                  <a:spcPts val="800"/>
                </a:spcAft>
                <a:buClr>
                  <a:srgbClr val="193EB0"/>
                </a:buClr>
              </a:pP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6</a:t>
              </a:r>
              <a:endParaRPr lang="en-US" altLang="ko-KR" sz="1200" dirty="0">
                <a:solidFill>
                  <a:prstClr val="black">
                    <a:lumMod val="85000"/>
                    <a:lumOff val="15000"/>
                  </a:prstClr>
                </a:solidFill>
                <a:latin typeface="SamsungOne 400" panose="020B0503030303020204" pitchFamily="34" charset="0"/>
              </a:endParaRPr>
            </a:p>
          </p:txBody>
        </p:sp>
        <p:sp>
          <p:nvSpPr>
            <p:cNvPr id="65" name="직사각형 64">
              <a:extLst>
                <a:ext uri="{FF2B5EF4-FFF2-40B4-BE49-F238E27FC236}">
                  <a16:creationId xmlns:a16="http://schemas.microsoft.com/office/drawing/2014/main" id="{252332F8-9338-411F-AAAF-73B7A112BF85}"/>
                </a:ext>
              </a:extLst>
            </p:cNvPr>
            <p:cNvSpPr/>
            <p:nvPr/>
          </p:nvSpPr>
          <p:spPr>
            <a:xfrm>
              <a:off x="2438888" y="4084529"/>
              <a:ext cx="88166"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scene3d>
                <a:camera prst="orthographicFront"/>
                <a:lightRig rig="threePt" dir="t"/>
              </a:scene3d>
              <a:sp3d>
                <a:bevelT w="0" h="6350"/>
              </a:sp3d>
            </a:bodyPr>
            <a:lstStyle/>
            <a:p>
              <a:pPr>
                <a:spcAft>
                  <a:spcPts val="800"/>
                </a:spcAft>
                <a:buClr>
                  <a:srgbClr val="193EB0"/>
                </a:buClr>
              </a:pP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8</a:t>
              </a:r>
              <a:endParaRPr lang="en-US" altLang="ko-KR" sz="1200" dirty="0">
                <a:solidFill>
                  <a:prstClr val="black">
                    <a:lumMod val="85000"/>
                    <a:lumOff val="15000"/>
                  </a:prstClr>
                </a:solidFill>
                <a:latin typeface="SamsungOne 400" panose="020B0503030303020204" pitchFamily="34" charset="0"/>
              </a:endParaRPr>
            </a:p>
          </p:txBody>
        </p:sp>
        <p:sp>
          <p:nvSpPr>
            <p:cNvPr id="66" name="직사각형 65">
              <a:extLst>
                <a:ext uri="{FF2B5EF4-FFF2-40B4-BE49-F238E27FC236}">
                  <a16:creationId xmlns:a16="http://schemas.microsoft.com/office/drawing/2014/main" id="{996104A7-0FC2-4245-B425-13A684876209}"/>
                </a:ext>
              </a:extLst>
            </p:cNvPr>
            <p:cNvSpPr/>
            <p:nvPr/>
          </p:nvSpPr>
          <p:spPr>
            <a:xfrm>
              <a:off x="2741997" y="4084529"/>
              <a:ext cx="160300"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scene3d>
                <a:camera prst="orthographicFront"/>
                <a:lightRig rig="threePt" dir="t"/>
              </a:scene3d>
              <a:sp3d>
                <a:bevelT w="0" h="6350"/>
              </a:sp3d>
            </a:bodyPr>
            <a:lstStyle/>
            <a:p>
              <a:pPr>
                <a:spcAft>
                  <a:spcPts val="800"/>
                </a:spcAft>
                <a:buClr>
                  <a:srgbClr val="193EB0"/>
                </a:buClr>
              </a:pP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10</a:t>
              </a:r>
              <a:endParaRPr lang="en-US" altLang="ko-KR" sz="1200" dirty="0">
                <a:solidFill>
                  <a:prstClr val="black">
                    <a:lumMod val="85000"/>
                    <a:lumOff val="15000"/>
                  </a:prstClr>
                </a:solidFill>
                <a:latin typeface="SamsungOne 400" panose="020B0503030303020204" pitchFamily="34" charset="0"/>
              </a:endParaRPr>
            </a:p>
          </p:txBody>
        </p:sp>
        <mc:AlternateContent xmlns:mc="http://schemas.openxmlformats.org/markup-compatibility/2006" xmlns:a14="http://schemas.microsoft.com/office/drawing/2010/main">
          <mc:Choice Requires="a14">
            <p:sp>
              <p:nvSpPr>
                <p:cNvPr id="67" name="직사각형 66">
                  <a:extLst>
                    <a:ext uri="{FF2B5EF4-FFF2-40B4-BE49-F238E27FC236}">
                      <a16:creationId xmlns:a16="http://schemas.microsoft.com/office/drawing/2014/main" id="{A8985FA7-D754-49F4-ACE1-62B273C361F4}"/>
                    </a:ext>
                  </a:extLst>
                </p:cNvPr>
                <p:cNvSpPr/>
                <p:nvPr/>
              </p:nvSpPr>
              <p:spPr>
                <a:xfrm>
                  <a:off x="3146718" y="3923400"/>
                  <a:ext cx="1001577"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800"/>
                    </a:spcAft>
                    <a:buClr>
                      <a:srgbClr val="193EB0"/>
                    </a:buClr>
                  </a:pPr>
                  <a14:m>
                    <m:oMath xmlns:m="http://schemas.openxmlformats.org/officeDocument/2006/math">
                      <m:r>
                        <a:rPr lang="en-US" altLang="ko-KR" sz="1200" i="1" dirty="0" smtClean="0">
                          <a:solidFill>
                            <a:prstClr val="black">
                              <a:lumMod val="85000"/>
                              <a:lumOff val="15000"/>
                            </a:prstClr>
                          </a:solidFill>
                          <a:latin typeface="Cambria Math" panose="02040503050406030204" pitchFamily="18" charset="0"/>
                        </a:rPr>
                        <m:t>𝑥</m:t>
                      </m:r>
                    </m:oMath>
                  </a14:m>
                  <a:r>
                    <a:rPr lang="en-US" altLang="ko-KR" sz="1200" dirty="0">
                      <a:solidFill>
                        <a:prstClr val="black">
                          <a:lumMod val="85000"/>
                          <a:lumOff val="15000"/>
                        </a:prstClr>
                      </a:solidFill>
                      <a:latin typeface="SamsungOne 400" panose="020B0503030303020204" pitchFamily="34" charset="0"/>
                    </a:rPr>
                    <a:t> (Feature)</a:t>
                  </a:r>
                </a:p>
              </p:txBody>
            </p:sp>
          </mc:Choice>
          <mc:Fallback xmlns="">
            <p:sp>
              <p:nvSpPr>
                <p:cNvPr id="67" name="직사각형 66">
                  <a:extLst>
                    <a:ext uri="{FF2B5EF4-FFF2-40B4-BE49-F238E27FC236}">
                      <a16:creationId xmlns:a16="http://schemas.microsoft.com/office/drawing/2014/main" id="{A8985FA7-D754-49F4-ACE1-62B273C361F4}"/>
                    </a:ext>
                  </a:extLst>
                </p:cNvPr>
                <p:cNvSpPr>
                  <a:spLocks noRot="1" noChangeAspect="1" noMove="1" noResize="1" noEditPoints="1" noAdjustHandles="1" noChangeArrowheads="1" noChangeShapeType="1" noTextEdit="1"/>
                </p:cNvSpPr>
                <p:nvPr/>
              </p:nvSpPr>
              <p:spPr>
                <a:xfrm>
                  <a:off x="3146718" y="3923400"/>
                  <a:ext cx="1001577" cy="184666"/>
                </a:xfrm>
                <a:prstGeom prst="rect">
                  <a:avLst/>
                </a:prstGeom>
                <a:blipFill>
                  <a:blip r:embed="rId4"/>
                  <a:stretch>
                    <a:fillRect l="-1266"/>
                  </a:stretch>
                </a:blipFill>
                <a:ln>
                  <a:noFill/>
                </a:ln>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68" name="직사각형 67">
                  <a:extLst>
                    <a:ext uri="{FF2B5EF4-FFF2-40B4-BE49-F238E27FC236}">
                      <a16:creationId xmlns:a16="http://schemas.microsoft.com/office/drawing/2014/main" id="{5F89B105-CBF4-48F5-B937-F454E88281FA}"/>
                    </a:ext>
                  </a:extLst>
                </p:cNvPr>
                <p:cNvSpPr/>
                <p:nvPr/>
              </p:nvSpPr>
              <p:spPr>
                <a:xfrm>
                  <a:off x="1132436" y="2273775"/>
                  <a:ext cx="1190317"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800"/>
                    </a:spcAft>
                    <a:buClr>
                      <a:srgbClr val="193EB0"/>
                    </a:buClr>
                  </a:pPr>
                  <a14:m>
                    <m:oMath xmlns:m="http://schemas.openxmlformats.org/officeDocument/2006/math">
                      <m:r>
                        <a:rPr lang="en-US" altLang="ko-KR" sz="1200" i="1" dirty="0" smtClean="0">
                          <a:solidFill>
                            <a:prstClr val="black">
                              <a:lumMod val="85000"/>
                              <a:lumOff val="15000"/>
                            </a:prstClr>
                          </a:solidFill>
                          <a:latin typeface="Cambria Math" panose="02040503050406030204" pitchFamily="18" charset="0"/>
                        </a:rPr>
                        <m:t>𝑦</m:t>
                      </m:r>
                    </m:oMath>
                  </a14:m>
                  <a:r>
                    <a:rPr lang="en-US" altLang="ko-KR" sz="1200" dirty="0">
                      <a:solidFill>
                        <a:prstClr val="black">
                          <a:lumMod val="85000"/>
                          <a:lumOff val="15000"/>
                        </a:prstClr>
                      </a:solidFill>
                      <a:latin typeface="SamsungOne 400" panose="020B0503030303020204" pitchFamily="34" charset="0"/>
                    </a:rPr>
                    <a:t> (Target)</a:t>
                  </a:r>
                </a:p>
              </p:txBody>
            </p:sp>
          </mc:Choice>
          <mc:Fallback xmlns="">
            <p:sp>
              <p:nvSpPr>
                <p:cNvPr id="68" name="직사각형 67">
                  <a:extLst>
                    <a:ext uri="{FF2B5EF4-FFF2-40B4-BE49-F238E27FC236}">
                      <a16:creationId xmlns:a16="http://schemas.microsoft.com/office/drawing/2014/main" id="{5F89B105-CBF4-48F5-B937-F454E88281FA}"/>
                    </a:ext>
                  </a:extLst>
                </p:cNvPr>
                <p:cNvSpPr>
                  <a:spLocks noRot="1" noChangeAspect="1" noMove="1" noResize="1" noEditPoints="1" noAdjustHandles="1" noChangeArrowheads="1" noChangeShapeType="1" noTextEdit="1"/>
                </p:cNvSpPr>
                <p:nvPr/>
              </p:nvSpPr>
              <p:spPr>
                <a:xfrm>
                  <a:off x="1132436" y="2273775"/>
                  <a:ext cx="1190317" cy="184666"/>
                </a:xfrm>
                <a:prstGeom prst="rect">
                  <a:avLst/>
                </a:prstGeom>
                <a:blipFill>
                  <a:blip r:embed="rId5"/>
                  <a:stretch>
                    <a:fillRect l="-1053"/>
                  </a:stretch>
                </a:blipFill>
                <a:ln>
                  <a:noFill/>
                </a:ln>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69" name="직사각형 68">
                  <a:extLst>
                    <a:ext uri="{FF2B5EF4-FFF2-40B4-BE49-F238E27FC236}">
                      <a16:creationId xmlns:a16="http://schemas.microsoft.com/office/drawing/2014/main" id="{0BD75A94-E8F6-414A-8F78-DDEC5C0AF898}"/>
                    </a:ext>
                  </a:extLst>
                </p:cNvPr>
                <p:cNvSpPr/>
                <p:nvPr/>
              </p:nvSpPr>
              <p:spPr>
                <a:xfrm>
                  <a:off x="2875550" y="2529086"/>
                  <a:ext cx="196074" cy="2872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800"/>
                    </a:spcAft>
                    <a:buClr>
                      <a:srgbClr val="193EB0"/>
                    </a:buClr>
                  </a:pPr>
                  <a14:m>
                    <m:oMathPara xmlns:m="http://schemas.openxmlformats.org/officeDocument/2006/math">
                      <m:oMathParaPr>
                        <m:jc m:val="centerGroup"/>
                      </m:oMathParaPr>
                      <m:oMath xmlns:m="http://schemas.openxmlformats.org/officeDocument/2006/math">
                        <m:sSub>
                          <m:sSubPr>
                            <m:ctrlPr>
                              <a:rPr lang="en-US" altLang="ko-KR" sz="1200" i="1" dirty="0" smtClean="0">
                                <a:solidFill>
                                  <a:prstClr val="black">
                                    <a:lumMod val="85000"/>
                                    <a:lumOff val="15000"/>
                                  </a:prstClr>
                                </a:solidFill>
                                <a:latin typeface="Cambria Math" panose="02040503050406030204" pitchFamily="18" charset="0"/>
                              </a:rPr>
                            </m:ctrlPr>
                          </m:sSubPr>
                          <m:e>
                            <m:r>
                              <a:rPr lang="en-US" altLang="ko-KR" sz="1200" i="1" dirty="0" smtClean="0">
                                <a:solidFill>
                                  <a:prstClr val="black">
                                    <a:lumMod val="85000"/>
                                    <a:lumOff val="15000"/>
                                  </a:prstClr>
                                </a:solidFill>
                                <a:latin typeface="Cambria Math" panose="02040503050406030204" pitchFamily="18" charset="0"/>
                              </a:rPr>
                              <m:t>𝑓</m:t>
                            </m:r>
                          </m:e>
                          <m:sub>
                            <m:r>
                              <a:rPr lang="en-US" altLang="ko-KR" sz="1200" i="1" dirty="0" smtClean="0">
                                <a:solidFill>
                                  <a:prstClr val="black">
                                    <a:lumMod val="85000"/>
                                    <a:lumOff val="15000"/>
                                  </a:prstClr>
                                </a:solidFill>
                                <a:latin typeface="Cambria Math" panose="02040503050406030204" pitchFamily="18" charset="0"/>
                              </a:rPr>
                              <m:t>2</m:t>
                            </m:r>
                          </m:sub>
                        </m:sSub>
                      </m:oMath>
                    </m:oMathPara>
                  </a14:m>
                  <a:endParaRPr lang="en-US" altLang="ko-KR" sz="1200" dirty="0">
                    <a:solidFill>
                      <a:prstClr val="black">
                        <a:lumMod val="85000"/>
                        <a:lumOff val="15000"/>
                      </a:prstClr>
                    </a:solidFill>
                    <a:latin typeface="SamsungOne 400" panose="020B0503030303020204" pitchFamily="34" charset="0"/>
                  </a:endParaRPr>
                </a:p>
              </p:txBody>
            </p:sp>
          </mc:Choice>
          <mc:Fallback xmlns="">
            <p:sp>
              <p:nvSpPr>
                <p:cNvPr id="69" name="직사각형 68">
                  <a:extLst>
                    <a:ext uri="{FF2B5EF4-FFF2-40B4-BE49-F238E27FC236}">
                      <a16:creationId xmlns:a16="http://schemas.microsoft.com/office/drawing/2014/main" id="{0BD75A94-E8F6-414A-8F78-DDEC5C0AF898}"/>
                    </a:ext>
                  </a:extLst>
                </p:cNvPr>
                <p:cNvSpPr>
                  <a:spLocks noRot="1" noChangeAspect="1" noMove="1" noResize="1" noEditPoints="1" noAdjustHandles="1" noChangeArrowheads="1" noChangeShapeType="1" noTextEdit="1"/>
                </p:cNvSpPr>
                <p:nvPr/>
              </p:nvSpPr>
              <p:spPr>
                <a:xfrm>
                  <a:off x="2875550" y="2529086"/>
                  <a:ext cx="196074" cy="287258"/>
                </a:xfrm>
                <a:prstGeom prst="rect">
                  <a:avLst/>
                </a:prstGeom>
                <a:blipFill>
                  <a:blip r:embed="rId6"/>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0" name="직사각형 69">
                  <a:extLst>
                    <a:ext uri="{FF2B5EF4-FFF2-40B4-BE49-F238E27FC236}">
                      <a16:creationId xmlns:a16="http://schemas.microsoft.com/office/drawing/2014/main" id="{A9BBC0EC-1B3A-4C1E-AF93-B6999B989F86}"/>
                    </a:ext>
                  </a:extLst>
                </p:cNvPr>
                <p:cNvSpPr/>
                <p:nvPr/>
              </p:nvSpPr>
              <p:spPr>
                <a:xfrm>
                  <a:off x="2875550" y="2752082"/>
                  <a:ext cx="196074" cy="2872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800"/>
                    </a:spcAft>
                    <a:buClr>
                      <a:srgbClr val="193EB0"/>
                    </a:buClr>
                  </a:pPr>
                  <a14:m>
                    <m:oMathPara xmlns:m="http://schemas.openxmlformats.org/officeDocument/2006/math">
                      <m:oMathParaPr>
                        <m:jc m:val="centerGroup"/>
                      </m:oMathParaPr>
                      <m:oMath xmlns:m="http://schemas.openxmlformats.org/officeDocument/2006/math">
                        <m:sSub>
                          <m:sSubPr>
                            <m:ctrlPr>
                              <a:rPr lang="en-US" altLang="ko-KR" sz="1200" i="1" dirty="0" smtClean="0">
                                <a:solidFill>
                                  <a:prstClr val="black">
                                    <a:lumMod val="85000"/>
                                    <a:lumOff val="15000"/>
                                  </a:prstClr>
                                </a:solidFill>
                                <a:latin typeface="Cambria Math" panose="02040503050406030204" pitchFamily="18" charset="0"/>
                              </a:rPr>
                            </m:ctrlPr>
                          </m:sSubPr>
                          <m:e>
                            <m:r>
                              <a:rPr lang="en-US" altLang="ko-KR" sz="1200" i="1" dirty="0" smtClean="0">
                                <a:solidFill>
                                  <a:prstClr val="black">
                                    <a:lumMod val="85000"/>
                                    <a:lumOff val="15000"/>
                                  </a:prstClr>
                                </a:solidFill>
                                <a:latin typeface="Cambria Math" panose="02040503050406030204" pitchFamily="18" charset="0"/>
                              </a:rPr>
                              <m:t>𝑓</m:t>
                            </m:r>
                          </m:e>
                          <m:sub>
                            <m:r>
                              <a:rPr lang="en-US" altLang="ko-KR" sz="1200" b="0" i="1" dirty="0" smtClean="0">
                                <a:solidFill>
                                  <a:prstClr val="black">
                                    <a:lumMod val="85000"/>
                                    <a:lumOff val="15000"/>
                                  </a:prstClr>
                                </a:solidFill>
                                <a:latin typeface="Cambria Math" panose="02040503050406030204" pitchFamily="18" charset="0"/>
                              </a:rPr>
                              <m:t>3</m:t>
                            </m:r>
                          </m:sub>
                        </m:sSub>
                      </m:oMath>
                    </m:oMathPara>
                  </a14:m>
                  <a:endParaRPr lang="en-US" altLang="ko-KR" sz="1200" dirty="0">
                    <a:solidFill>
                      <a:prstClr val="black">
                        <a:lumMod val="85000"/>
                        <a:lumOff val="15000"/>
                      </a:prstClr>
                    </a:solidFill>
                    <a:latin typeface="SamsungOne 400" panose="020B0503030303020204" pitchFamily="34" charset="0"/>
                  </a:endParaRPr>
                </a:p>
              </p:txBody>
            </p:sp>
          </mc:Choice>
          <mc:Fallback xmlns="">
            <p:sp>
              <p:nvSpPr>
                <p:cNvPr id="70" name="직사각형 69">
                  <a:extLst>
                    <a:ext uri="{FF2B5EF4-FFF2-40B4-BE49-F238E27FC236}">
                      <a16:creationId xmlns:a16="http://schemas.microsoft.com/office/drawing/2014/main" id="{A9BBC0EC-1B3A-4C1E-AF93-B6999B989F86}"/>
                    </a:ext>
                  </a:extLst>
                </p:cNvPr>
                <p:cNvSpPr>
                  <a:spLocks noRot="1" noChangeAspect="1" noMove="1" noResize="1" noEditPoints="1" noAdjustHandles="1" noChangeArrowheads="1" noChangeShapeType="1" noTextEdit="1"/>
                </p:cNvSpPr>
                <p:nvPr/>
              </p:nvSpPr>
              <p:spPr>
                <a:xfrm>
                  <a:off x="2875550" y="2752082"/>
                  <a:ext cx="196074" cy="287258"/>
                </a:xfrm>
                <a:prstGeom prst="rect">
                  <a:avLst/>
                </a:prstGeom>
                <a:blipFill>
                  <a:blip r:embed="rId7"/>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1" name="직사각형 70">
                  <a:extLst>
                    <a:ext uri="{FF2B5EF4-FFF2-40B4-BE49-F238E27FC236}">
                      <a16:creationId xmlns:a16="http://schemas.microsoft.com/office/drawing/2014/main" id="{09C399E9-5D2C-4D25-A507-CC0B8B335B24}"/>
                    </a:ext>
                  </a:extLst>
                </p:cNvPr>
                <p:cNvSpPr/>
                <p:nvPr/>
              </p:nvSpPr>
              <p:spPr>
                <a:xfrm>
                  <a:off x="2875550" y="3071315"/>
                  <a:ext cx="196074" cy="2872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800"/>
                    </a:spcAft>
                    <a:buClr>
                      <a:srgbClr val="193EB0"/>
                    </a:buClr>
                  </a:pPr>
                  <a14:m>
                    <m:oMathPara xmlns:m="http://schemas.openxmlformats.org/officeDocument/2006/math">
                      <m:oMathParaPr>
                        <m:jc m:val="centerGroup"/>
                      </m:oMathParaPr>
                      <m:oMath xmlns:m="http://schemas.openxmlformats.org/officeDocument/2006/math">
                        <m:sSub>
                          <m:sSubPr>
                            <m:ctrlPr>
                              <a:rPr lang="en-US" altLang="ko-KR" sz="1200" i="1" dirty="0" smtClean="0">
                                <a:solidFill>
                                  <a:prstClr val="black">
                                    <a:lumMod val="85000"/>
                                    <a:lumOff val="15000"/>
                                  </a:prstClr>
                                </a:solidFill>
                                <a:latin typeface="Cambria Math" panose="02040503050406030204" pitchFamily="18" charset="0"/>
                              </a:rPr>
                            </m:ctrlPr>
                          </m:sSubPr>
                          <m:e>
                            <m:r>
                              <a:rPr lang="en-US" altLang="ko-KR" sz="1200" i="1" dirty="0" smtClean="0">
                                <a:solidFill>
                                  <a:prstClr val="black">
                                    <a:lumMod val="85000"/>
                                    <a:lumOff val="15000"/>
                                  </a:prstClr>
                                </a:solidFill>
                                <a:latin typeface="Cambria Math" panose="02040503050406030204" pitchFamily="18" charset="0"/>
                              </a:rPr>
                              <m:t>𝑓</m:t>
                            </m:r>
                          </m:e>
                          <m:sub>
                            <m:r>
                              <a:rPr lang="en-US" altLang="ko-KR" sz="1200" b="0" i="1" dirty="0" smtClean="0">
                                <a:solidFill>
                                  <a:prstClr val="black">
                                    <a:lumMod val="85000"/>
                                    <a:lumOff val="15000"/>
                                  </a:prstClr>
                                </a:solidFill>
                                <a:latin typeface="Cambria Math" panose="02040503050406030204" pitchFamily="18" charset="0"/>
                              </a:rPr>
                              <m:t>1</m:t>
                            </m:r>
                          </m:sub>
                        </m:sSub>
                      </m:oMath>
                    </m:oMathPara>
                  </a14:m>
                  <a:endParaRPr lang="en-US" altLang="ko-KR" sz="1200" dirty="0">
                    <a:solidFill>
                      <a:prstClr val="black">
                        <a:lumMod val="85000"/>
                        <a:lumOff val="15000"/>
                      </a:prstClr>
                    </a:solidFill>
                    <a:latin typeface="SamsungOne 400" panose="020B0503030303020204" pitchFamily="34" charset="0"/>
                  </a:endParaRPr>
                </a:p>
              </p:txBody>
            </p:sp>
          </mc:Choice>
          <mc:Fallback xmlns="">
            <p:sp>
              <p:nvSpPr>
                <p:cNvPr id="71" name="직사각형 70">
                  <a:extLst>
                    <a:ext uri="{FF2B5EF4-FFF2-40B4-BE49-F238E27FC236}">
                      <a16:creationId xmlns:a16="http://schemas.microsoft.com/office/drawing/2014/main" id="{09C399E9-5D2C-4D25-A507-CC0B8B335B24}"/>
                    </a:ext>
                  </a:extLst>
                </p:cNvPr>
                <p:cNvSpPr>
                  <a:spLocks noRot="1" noChangeAspect="1" noMove="1" noResize="1" noEditPoints="1" noAdjustHandles="1" noChangeArrowheads="1" noChangeShapeType="1" noTextEdit="1"/>
                </p:cNvSpPr>
                <p:nvPr/>
              </p:nvSpPr>
              <p:spPr>
                <a:xfrm>
                  <a:off x="2875550" y="3071315"/>
                  <a:ext cx="196074" cy="287258"/>
                </a:xfrm>
                <a:prstGeom prst="rect">
                  <a:avLst/>
                </a:prstGeom>
                <a:blipFill>
                  <a:blip r:embed="rId8"/>
                  <a:stretch>
                    <a:fillRect/>
                  </a:stretch>
                </a:blipFill>
                <a:ln>
                  <a:noFill/>
                </a:ln>
              </p:spPr>
              <p:txBody>
                <a:bodyPr/>
                <a:lstStyle/>
                <a:p>
                  <a:r>
                    <a:rPr lang="ko-KR" altLang="en-US">
                      <a:noFill/>
                    </a:rPr>
                    <a:t> </a:t>
                  </a:r>
                </a:p>
              </p:txBody>
            </p:sp>
          </mc:Fallback>
        </mc:AlternateContent>
      </p:grpSp>
      <mc:AlternateContent xmlns:mc="http://schemas.openxmlformats.org/markup-compatibility/2006" xmlns:a14="http://schemas.microsoft.com/office/drawing/2010/main">
        <mc:Choice Requires="a14">
          <p:sp>
            <p:nvSpPr>
              <p:cNvPr id="74" name="직사각형 73">
                <a:extLst>
                  <a:ext uri="{FF2B5EF4-FFF2-40B4-BE49-F238E27FC236}">
                    <a16:creationId xmlns:a16="http://schemas.microsoft.com/office/drawing/2014/main" id="{0BA3070C-3CDC-4484-8639-00F14A53DCBA}"/>
                  </a:ext>
                </a:extLst>
              </p:cNvPr>
              <p:cNvSpPr/>
              <p:nvPr/>
            </p:nvSpPr>
            <p:spPr>
              <a:xfrm>
                <a:off x="4309557" y="3246043"/>
                <a:ext cx="1356232" cy="4527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spcAft>
                    <a:spcPts val="800"/>
                  </a:spcAft>
                  <a:buClr>
                    <a:srgbClr val="193EB0"/>
                  </a:buClr>
                </a:pPr>
                <a14:m>
                  <m:oMathPara xmlns:m="http://schemas.openxmlformats.org/officeDocument/2006/math">
                    <m:oMathParaPr>
                      <m:jc m:val="center"/>
                    </m:oMathParaPr>
                    <m:oMath xmlns:m="http://schemas.openxmlformats.org/officeDocument/2006/math">
                      <m:r>
                        <a:rPr lang="en-US" altLang="ko-KR" sz="1600" i="1" smtClean="0">
                          <a:solidFill>
                            <a:schemeClr val="tx1">
                              <a:lumMod val="85000"/>
                              <a:lumOff val="15000"/>
                            </a:schemeClr>
                          </a:solidFill>
                          <a:latin typeface="Cambria Math" panose="02040503050406030204" pitchFamily="18" charset="0"/>
                        </a:rPr>
                        <m:t>𝑦</m:t>
                      </m:r>
                      <m:r>
                        <a:rPr lang="en-US" altLang="ko-KR" sz="1600" i="0">
                          <a:solidFill>
                            <a:schemeClr val="tx1">
                              <a:lumMod val="85000"/>
                              <a:lumOff val="15000"/>
                            </a:schemeClr>
                          </a:solidFill>
                          <a:latin typeface="Cambria Math" panose="02040503050406030204" pitchFamily="18" charset="0"/>
                        </a:rPr>
                        <m:t>=</m:t>
                      </m:r>
                      <m:bar>
                        <m:barPr>
                          <m:ctrlPr>
                            <a:rPr lang="en-US" altLang="ko-KR" sz="1600" i="1" smtClean="0">
                              <a:solidFill>
                                <a:schemeClr val="tx1">
                                  <a:lumMod val="85000"/>
                                  <a:lumOff val="15000"/>
                                </a:schemeClr>
                              </a:solidFill>
                              <a:latin typeface="Cambria Math" panose="02040503050406030204" pitchFamily="18" charset="0"/>
                            </a:rPr>
                          </m:ctrlPr>
                        </m:barPr>
                        <m:e>
                          <m:r>
                            <a:rPr lang="en-US" altLang="ko-KR" sz="1600" i="1">
                              <a:solidFill>
                                <a:schemeClr val="tx1">
                                  <a:lumMod val="85000"/>
                                  <a:lumOff val="15000"/>
                                </a:schemeClr>
                              </a:solidFill>
                              <a:latin typeface="Cambria Math" panose="02040503050406030204" pitchFamily="18" charset="0"/>
                            </a:rPr>
                            <m:t>𝑤</m:t>
                          </m:r>
                        </m:e>
                      </m:bar>
                      <m:r>
                        <a:rPr lang="en-US" altLang="ko-KR" sz="1600" i="1">
                          <a:solidFill>
                            <a:schemeClr val="tx1">
                              <a:lumMod val="85000"/>
                              <a:lumOff val="15000"/>
                            </a:schemeClr>
                          </a:solidFill>
                          <a:latin typeface="Cambria Math" panose="02040503050406030204" pitchFamily="18" charset="0"/>
                        </a:rPr>
                        <m:t>𝑥</m:t>
                      </m:r>
                      <m:r>
                        <a:rPr lang="en-US" altLang="ko-KR" sz="1600" i="0">
                          <a:solidFill>
                            <a:schemeClr val="tx1">
                              <a:lumMod val="85000"/>
                              <a:lumOff val="15000"/>
                            </a:schemeClr>
                          </a:solidFill>
                          <a:latin typeface="Cambria Math" panose="02040503050406030204" pitchFamily="18" charset="0"/>
                        </a:rPr>
                        <m:t>+</m:t>
                      </m:r>
                      <m:bar>
                        <m:barPr>
                          <m:ctrlPr>
                            <a:rPr lang="en-US" altLang="ko-KR" sz="1600" i="1" smtClean="0">
                              <a:solidFill>
                                <a:schemeClr val="tx1">
                                  <a:lumMod val="85000"/>
                                  <a:lumOff val="15000"/>
                                </a:schemeClr>
                              </a:solidFill>
                              <a:latin typeface="Cambria Math" panose="02040503050406030204" pitchFamily="18" charset="0"/>
                            </a:rPr>
                          </m:ctrlPr>
                        </m:barPr>
                        <m:e>
                          <m:r>
                            <a:rPr lang="en-US" altLang="ko-KR" sz="1600" i="1">
                              <a:solidFill>
                                <a:schemeClr val="tx1">
                                  <a:lumMod val="85000"/>
                                  <a:lumOff val="15000"/>
                                </a:schemeClr>
                              </a:solidFill>
                              <a:latin typeface="Cambria Math" panose="02040503050406030204" pitchFamily="18" charset="0"/>
                            </a:rPr>
                            <m:t>𝑏</m:t>
                          </m:r>
                        </m:e>
                      </m:bar>
                    </m:oMath>
                  </m:oMathPara>
                </a14:m>
                <a:endParaRPr lang="en-US" altLang="ko-KR" sz="1600" dirty="0">
                  <a:solidFill>
                    <a:schemeClr val="tx1">
                      <a:lumMod val="85000"/>
                      <a:lumOff val="15000"/>
                    </a:schemeClr>
                  </a:solidFill>
                  <a:latin typeface="Cambria Math" panose="02040503050406030204" pitchFamily="18" charset="0"/>
                </a:endParaRPr>
              </a:p>
            </p:txBody>
          </p:sp>
        </mc:Choice>
        <mc:Fallback xmlns="">
          <p:sp>
            <p:nvSpPr>
              <p:cNvPr id="74" name="직사각형 73">
                <a:extLst>
                  <a:ext uri="{FF2B5EF4-FFF2-40B4-BE49-F238E27FC236}">
                    <a16:creationId xmlns="" xmlns:a16="http://schemas.microsoft.com/office/drawing/2014/main" xmlns:a14="http://schemas.microsoft.com/office/drawing/2010/main" id="{0BA3070C-3CDC-4484-8639-00F14A53DCBA}"/>
                  </a:ext>
                </a:extLst>
              </p:cNvPr>
              <p:cNvSpPr>
                <a:spLocks noRot="1" noChangeAspect="1" noMove="1" noResize="1" noEditPoints="1" noAdjustHandles="1" noChangeArrowheads="1" noChangeShapeType="1" noTextEdit="1"/>
              </p:cNvSpPr>
              <p:nvPr/>
            </p:nvSpPr>
            <p:spPr>
              <a:xfrm>
                <a:off x="4309557" y="3246043"/>
                <a:ext cx="1356232" cy="452753"/>
              </a:xfrm>
              <a:prstGeom prst="rect">
                <a:avLst/>
              </a:prstGeom>
              <a:blipFill rotWithShape="0">
                <a:blip r:embed="rId9"/>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3552752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1.1. What is Machine Learning?</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Types of machine learning according to methods of supervision  </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nvGrpSpPr>
          <p:cNvPr id="26" name="Group 1">
            <a:extLst>
              <a:ext uri="{FF2B5EF4-FFF2-40B4-BE49-F238E27FC236}">
                <a16:creationId xmlns:a16="http://schemas.microsoft.com/office/drawing/2014/main" id="{2DFC7014-EA44-48F7-88F2-A6E8F95DC9F7}"/>
              </a:ext>
            </a:extLst>
          </p:cNvPr>
          <p:cNvGrpSpPr/>
          <p:nvPr/>
        </p:nvGrpSpPr>
        <p:grpSpPr>
          <a:xfrm>
            <a:off x="450000" y="2168860"/>
            <a:ext cx="8881390" cy="3569931"/>
            <a:chOff x="514136" y="2241550"/>
            <a:chExt cx="8881390" cy="3569931"/>
          </a:xfrm>
        </p:grpSpPr>
        <p:sp>
          <p:nvSpPr>
            <p:cNvPr id="27" name="TextBox 26">
              <a:extLst>
                <a:ext uri="{FF2B5EF4-FFF2-40B4-BE49-F238E27FC236}">
                  <a16:creationId xmlns:a16="http://schemas.microsoft.com/office/drawing/2014/main" id="{7FC23090-8032-44B3-AC11-E14F310B7C9F}"/>
                </a:ext>
              </a:extLst>
            </p:cNvPr>
            <p:cNvSpPr txBox="1"/>
            <p:nvPr/>
          </p:nvSpPr>
          <p:spPr>
            <a:xfrm>
              <a:off x="3871236" y="2241550"/>
              <a:ext cx="2178308" cy="358775"/>
            </a:xfrm>
            <a:prstGeom prst="rect">
              <a:avLst/>
            </a:prstGeom>
            <a:solidFill>
              <a:srgbClr val="1429A0"/>
            </a:solidFill>
          </p:spPr>
          <p:txBody>
            <a:bodyPr wrap="square" lIns="0" tIns="0" rIns="0" bIns="0" rtlCol="0" anchor="ctr">
              <a:noAutofit/>
              <a:scene3d>
                <a:camera prst="orthographicFront"/>
                <a:lightRig rig="threePt" dir="t"/>
              </a:scene3d>
              <a:sp3d>
                <a:bevelT w="0" h="6350"/>
              </a:sp3d>
            </a:bodyPr>
            <a:lstStyle>
              <a:defPPr>
                <a:defRPr lang="en-US"/>
              </a:defPPr>
              <a:lvl1pPr algn="ctr">
                <a:defRPr sz="1100">
                  <a:solidFill>
                    <a:schemeClr val="bg1"/>
                  </a:solidFill>
                  <a:latin typeface="SamsungOne 700" panose="020B0803030303020204" pitchFamily="34" charset="0"/>
                  <a:ea typeface="SamsungOne 700" panose="020B0803030303020204" pitchFamily="34" charset="0"/>
                </a:defRPr>
              </a:lvl1pPr>
            </a:lstStyle>
            <a:p>
              <a:r>
                <a:rPr lang="en-US" altLang="ko-KR" sz="1800" dirty="0"/>
                <a:t>Machine Learning</a:t>
              </a:r>
            </a:p>
          </p:txBody>
        </p:sp>
        <p:sp>
          <p:nvSpPr>
            <p:cNvPr id="28" name="TextBox 27">
              <a:extLst>
                <a:ext uri="{FF2B5EF4-FFF2-40B4-BE49-F238E27FC236}">
                  <a16:creationId xmlns:a16="http://schemas.microsoft.com/office/drawing/2014/main" id="{509C479F-7622-48A0-BAA6-5DA1E2843FB7}"/>
                </a:ext>
              </a:extLst>
            </p:cNvPr>
            <p:cNvSpPr txBox="1"/>
            <p:nvPr/>
          </p:nvSpPr>
          <p:spPr>
            <a:xfrm>
              <a:off x="791140" y="3530819"/>
              <a:ext cx="2178307" cy="333218"/>
            </a:xfrm>
            <a:prstGeom prst="roundRect">
              <a:avLst>
                <a:gd name="adj" fmla="val 50000"/>
              </a:avLst>
            </a:prstGeom>
            <a:solidFill>
              <a:schemeClr val="bg1">
                <a:lumMod val="85000"/>
              </a:schemeClr>
            </a:solidFill>
          </p:spPr>
          <p:txBody>
            <a:bodyPr wrap="square" lIns="0" tIns="0" rIns="0" bIns="0" rtlCol="0" anchor="ctr">
              <a:noAutofit/>
              <a:scene3d>
                <a:camera prst="orthographicFront"/>
                <a:lightRig rig="threePt" dir="t"/>
              </a:scene3d>
              <a:sp3d>
                <a:bevelT w="0" h="6350"/>
              </a:sp3d>
            </a:bodyPr>
            <a:lstStyle>
              <a:defPPr>
                <a:defRPr lang="en-US"/>
              </a:defPPr>
              <a:lvl1pPr algn="ctr">
                <a:defRPr sz="14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sz="1600" dirty="0"/>
                <a:t>Supervised</a:t>
              </a:r>
            </a:p>
          </p:txBody>
        </p:sp>
        <p:sp>
          <p:nvSpPr>
            <p:cNvPr id="29" name="TextBox 28">
              <a:extLst>
                <a:ext uri="{FF2B5EF4-FFF2-40B4-BE49-F238E27FC236}">
                  <a16:creationId xmlns:a16="http://schemas.microsoft.com/office/drawing/2014/main" id="{15F222D1-1026-4981-9A4C-F5B2A1A7F835}"/>
                </a:ext>
              </a:extLst>
            </p:cNvPr>
            <p:cNvSpPr txBox="1"/>
            <p:nvPr/>
          </p:nvSpPr>
          <p:spPr>
            <a:xfrm>
              <a:off x="3871236" y="3530820"/>
              <a:ext cx="2178307" cy="333218"/>
            </a:xfrm>
            <a:prstGeom prst="roundRect">
              <a:avLst>
                <a:gd name="adj" fmla="val 50000"/>
              </a:avLst>
            </a:prstGeom>
            <a:solidFill>
              <a:schemeClr val="bg1">
                <a:lumMod val="85000"/>
              </a:schemeClr>
            </a:solidFill>
          </p:spPr>
          <p:txBody>
            <a:bodyPr wrap="square" lIns="0" tIns="0" rIns="0" bIns="0" rtlCol="0" anchor="ctr">
              <a:noAutofit/>
              <a:scene3d>
                <a:camera prst="orthographicFront"/>
                <a:lightRig rig="threePt" dir="t"/>
              </a:scene3d>
              <a:sp3d>
                <a:bevelT w="0" h="6350"/>
              </a:sp3d>
            </a:bodyPr>
            <a:lstStyle>
              <a:defPPr>
                <a:defRPr lang="en-US"/>
              </a:defPPr>
              <a:lvl1pPr algn="ctr">
                <a:defRPr sz="14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sz="1600" dirty="0"/>
                <a:t>Unsupervised</a:t>
              </a:r>
            </a:p>
          </p:txBody>
        </p:sp>
        <p:sp>
          <p:nvSpPr>
            <p:cNvPr id="30" name="TextBox 29">
              <a:extLst>
                <a:ext uri="{FF2B5EF4-FFF2-40B4-BE49-F238E27FC236}">
                  <a16:creationId xmlns:a16="http://schemas.microsoft.com/office/drawing/2014/main" id="{06828390-23CB-4E80-9551-469018A70B1C}"/>
                </a:ext>
              </a:extLst>
            </p:cNvPr>
            <p:cNvSpPr txBox="1"/>
            <p:nvPr/>
          </p:nvSpPr>
          <p:spPr>
            <a:xfrm>
              <a:off x="6949074" y="3530819"/>
              <a:ext cx="2178307" cy="333218"/>
            </a:xfrm>
            <a:prstGeom prst="roundRect">
              <a:avLst>
                <a:gd name="adj" fmla="val 50000"/>
              </a:avLst>
            </a:prstGeom>
            <a:solidFill>
              <a:schemeClr val="bg1">
                <a:lumMod val="85000"/>
              </a:schemeClr>
            </a:solidFill>
          </p:spPr>
          <p:txBody>
            <a:bodyPr wrap="square" lIns="0" tIns="0" rIns="0" bIns="0" rtlCol="0" anchor="ctr">
              <a:noAutofit/>
              <a:scene3d>
                <a:camera prst="orthographicFront"/>
                <a:lightRig rig="threePt" dir="t"/>
              </a:scene3d>
              <a:sp3d>
                <a:bevelT w="0" h="6350"/>
              </a:sp3d>
            </a:bodyPr>
            <a:lstStyle>
              <a:defPPr>
                <a:defRPr lang="en-US"/>
              </a:defPPr>
              <a:lvl1pPr algn="ctr">
                <a:defRPr sz="1100">
                  <a:solidFill>
                    <a:schemeClr val="bg1"/>
                  </a:solidFill>
                  <a:latin typeface="SamsungOne 700" panose="020B0803030303020204" pitchFamily="34" charset="0"/>
                  <a:ea typeface="SamsungOne 700" panose="020B0803030303020204" pitchFamily="34" charset="0"/>
                </a:defRPr>
              </a:lvl1pPr>
            </a:lstStyle>
            <a:p>
              <a:r>
                <a:rPr lang="en-US" altLang="ko-KR" sz="1600" dirty="0">
                  <a:solidFill>
                    <a:schemeClr val="tx1">
                      <a:lumMod val="85000"/>
                      <a:lumOff val="15000"/>
                    </a:schemeClr>
                  </a:solidFill>
                </a:rPr>
                <a:t>Reinforcement</a:t>
              </a:r>
            </a:p>
          </p:txBody>
        </p:sp>
        <p:pic>
          <p:nvPicPr>
            <p:cNvPr id="31" name="Picture 2">
              <a:extLst>
                <a:ext uri="{FF2B5EF4-FFF2-40B4-BE49-F238E27FC236}">
                  <a16:creationId xmlns:a16="http://schemas.microsoft.com/office/drawing/2014/main" id="{84B98CD5-BD77-4448-97A7-859C259A1B1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383" y="4004886"/>
              <a:ext cx="1811821" cy="1555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Rectangle 35">
              <a:extLst>
                <a:ext uri="{FF2B5EF4-FFF2-40B4-BE49-F238E27FC236}">
                  <a16:creationId xmlns:a16="http://schemas.microsoft.com/office/drawing/2014/main" id="{7BE2B74D-68BB-4EE8-8144-046C3BA7FE2E}"/>
                </a:ext>
              </a:extLst>
            </p:cNvPr>
            <p:cNvSpPr/>
            <p:nvPr/>
          </p:nvSpPr>
          <p:spPr>
            <a:xfrm>
              <a:off x="514136" y="5611426"/>
              <a:ext cx="2731702" cy="200055"/>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Target pattern is given. </a:t>
              </a:r>
            </a:p>
          </p:txBody>
        </p:sp>
        <p:pic>
          <p:nvPicPr>
            <p:cNvPr id="33" name="Picture 2">
              <a:extLst>
                <a:ext uri="{FF2B5EF4-FFF2-40B4-BE49-F238E27FC236}">
                  <a16:creationId xmlns:a16="http://schemas.microsoft.com/office/drawing/2014/main" id="{F68BAAB9-A65D-4382-9AD4-B0C7FEEA324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16136" y="4030501"/>
              <a:ext cx="1799574" cy="15557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Rectangle 38">
              <a:extLst>
                <a:ext uri="{FF2B5EF4-FFF2-40B4-BE49-F238E27FC236}">
                  <a16:creationId xmlns:a16="http://schemas.microsoft.com/office/drawing/2014/main" id="{17366E2A-EC34-40D6-A3F9-4507542B1F1C}"/>
                </a:ext>
              </a:extLst>
            </p:cNvPr>
            <p:cNvSpPr/>
            <p:nvPr/>
          </p:nvSpPr>
          <p:spPr>
            <a:xfrm>
              <a:off x="3514001" y="5611426"/>
              <a:ext cx="2862918" cy="200055"/>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Target pattern must be found out.</a:t>
              </a:r>
            </a:p>
          </p:txBody>
        </p:sp>
        <p:pic>
          <p:nvPicPr>
            <p:cNvPr id="35" name="Picture 40">
              <a:extLst>
                <a:ext uri="{FF2B5EF4-FFF2-40B4-BE49-F238E27FC236}">
                  <a16:creationId xmlns:a16="http://schemas.microsoft.com/office/drawing/2014/main" id="{1CD8645B-93C3-4350-9BB3-EB4F854AA69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163772" y="4160462"/>
              <a:ext cx="1697193" cy="1244608"/>
            </a:xfrm>
            <a:prstGeom prst="rect">
              <a:avLst/>
            </a:prstGeom>
          </p:spPr>
        </p:pic>
        <p:sp>
          <p:nvSpPr>
            <p:cNvPr id="36" name="Rectangle 41">
              <a:extLst>
                <a:ext uri="{FF2B5EF4-FFF2-40B4-BE49-F238E27FC236}">
                  <a16:creationId xmlns:a16="http://schemas.microsoft.com/office/drawing/2014/main" id="{8FE2E752-80FC-4C19-B361-C2477A57718F}"/>
                </a:ext>
              </a:extLst>
            </p:cNvPr>
            <p:cNvSpPr/>
            <p:nvPr/>
          </p:nvSpPr>
          <p:spPr>
            <a:xfrm>
              <a:off x="6663824" y="5611426"/>
              <a:ext cx="2731702" cy="200055"/>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Policy optimization </a:t>
              </a:r>
            </a:p>
          </p:txBody>
        </p:sp>
        <p:cxnSp>
          <p:nvCxnSpPr>
            <p:cNvPr id="37" name="꺾인 연결선 62">
              <a:extLst>
                <a:ext uri="{FF2B5EF4-FFF2-40B4-BE49-F238E27FC236}">
                  <a16:creationId xmlns:a16="http://schemas.microsoft.com/office/drawing/2014/main" id="{A7702D09-5635-40B8-9DF2-CE61F47FCB05}"/>
                </a:ext>
              </a:extLst>
            </p:cNvPr>
            <p:cNvCxnSpPr>
              <a:cxnSpLocks/>
              <a:stCxn id="27" idx="2"/>
              <a:endCxn id="28" idx="0"/>
            </p:cNvCxnSpPr>
            <p:nvPr/>
          </p:nvCxnSpPr>
          <p:spPr>
            <a:xfrm rot="5400000">
              <a:off x="2955095" y="1525524"/>
              <a:ext cx="930494" cy="3080096"/>
            </a:xfrm>
            <a:prstGeom prst="bentConnector3">
              <a:avLst>
                <a:gd name="adj1" fmla="val 50000"/>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꺾인 연결선 63">
              <a:extLst>
                <a:ext uri="{FF2B5EF4-FFF2-40B4-BE49-F238E27FC236}">
                  <a16:creationId xmlns:a16="http://schemas.microsoft.com/office/drawing/2014/main" id="{9BB05DA5-17E8-4228-99CE-DD606C45F92D}"/>
                </a:ext>
              </a:extLst>
            </p:cNvPr>
            <p:cNvCxnSpPr>
              <a:cxnSpLocks/>
              <a:stCxn id="27" idx="2"/>
              <a:endCxn id="30" idx="0"/>
            </p:cNvCxnSpPr>
            <p:nvPr/>
          </p:nvCxnSpPr>
          <p:spPr>
            <a:xfrm rot="16200000" flipH="1">
              <a:off x="6034062" y="1526653"/>
              <a:ext cx="930494" cy="3077838"/>
            </a:xfrm>
            <a:prstGeom prst="bentConnector3">
              <a:avLst>
                <a:gd name="adj1" fmla="val 50000"/>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직선 화살표 연결선 38">
              <a:extLst>
                <a:ext uri="{FF2B5EF4-FFF2-40B4-BE49-F238E27FC236}">
                  <a16:creationId xmlns:a16="http://schemas.microsoft.com/office/drawing/2014/main" id="{4FE6A897-4CB0-4CDB-9A39-1609ACDDDBE7}"/>
                </a:ext>
              </a:extLst>
            </p:cNvPr>
            <p:cNvCxnSpPr>
              <a:cxnSpLocks/>
              <a:stCxn id="27" idx="2"/>
              <a:endCxn id="29" idx="0"/>
            </p:cNvCxnSpPr>
            <p:nvPr/>
          </p:nvCxnSpPr>
          <p:spPr>
            <a:xfrm>
              <a:off x="4960390" y="2600325"/>
              <a:ext cx="0" cy="930495"/>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94530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1.1. What is Machine Learning?</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Machine learning workflow</a:t>
            </a:r>
          </a:p>
        </p:txBody>
      </p:sp>
      <p:grpSp>
        <p:nvGrpSpPr>
          <p:cNvPr id="69" name="그룹 68">
            <a:extLst>
              <a:ext uri="{FF2B5EF4-FFF2-40B4-BE49-F238E27FC236}">
                <a16:creationId xmlns:a16="http://schemas.microsoft.com/office/drawing/2014/main" id="{E3E475F5-EE3C-4F23-8795-894B92119064}"/>
              </a:ext>
            </a:extLst>
          </p:cNvPr>
          <p:cNvGrpSpPr/>
          <p:nvPr/>
        </p:nvGrpSpPr>
        <p:grpSpPr>
          <a:xfrm>
            <a:off x="600330" y="2122292"/>
            <a:ext cx="8484566" cy="3682972"/>
            <a:chOff x="540694" y="1899489"/>
            <a:chExt cx="8484566" cy="3682972"/>
          </a:xfrm>
        </p:grpSpPr>
        <p:sp>
          <p:nvSpPr>
            <p:cNvPr id="21" name="Rounded Rectangle 23">
              <a:extLst>
                <a:ext uri="{FF2B5EF4-FFF2-40B4-BE49-F238E27FC236}">
                  <a16:creationId xmlns:a16="http://schemas.microsoft.com/office/drawing/2014/main" id="{C0964877-4F59-4541-84CB-FE4257D471D5}"/>
                </a:ext>
              </a:extLst>
            </p:cNvPr>
            <p:cNvSpPr/>
            <p:nvPr/>
          </p:nvSpPr>
          <p:spPr>
            <a:xfrm>
              <a:off x="4792986" y="1899489"/>
              <a:ext cx="1521055" cy="2613600"/>
            </a:xfrm>
            <a:prstGeom prst="rect">
              <a:avLst/>
            </a:prstGeom>
            <a:noFill/>
            <a:ln w="12700">
              <a:solidFill>
                <a:srgbClr val="193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SamsungOne 400" panose="020B0503030303020204" pitchFamily="34" charset="0"/>
              </a:endParaRPr>
            </a:p>
          </p:txBody>
        </p:sp>
        <p:sp>
          <p:nvSpPr>
            <p:cNvPr id="40" name="TextBox 39">
              <a:extLst>
                <a:ext uri="{FF2B5EF4-FFF2-40B4-BE49-F238E27FC236}">
                  <a16:creationId xmlns:a16="http://schemas.microsoft.com/office/drawing/2014/main" id="{AA77E5AD-F03B-438C-BF5E-A39D1FE7DC20}"/>
                </a:ext>
              </a:extLst>
            </p:cNvPr>
            <p:cNvSpPr txBox="1"/>
            <p:nvPr/>
          </p:nvSpPr>
          <p:spPr>
            <a:xfrm>
              <a:off x="4739778" y="2026177"/>
              <a:ext cx="1636768" cy="215444"/>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sz="1400" b="1" dirty="0">
                  <a:latin typeface="SamsungOne 400" panose="020B0503030303020204" pitchFamily="34" charset="0"/>
                  <a:ea typeface="SamsungOne 400" panose="020B0503030303020204" pitchFamily="34" charset="0"/>
                </a:rPr>
                <a:t>Machine Learning</a:t>
              </a:r>
              <a:endParaRPr lang="ko-KR" altLang="en-US" sz="1400" b="1" dirty="0">
                <a:latin typeface="SamsungOne 400" panose="020B0503030303020204" pitchFamily="34" charset="0"/>
              </a:endParaRPr>
            </a:p>
          </p:txBody>
        </p:sp>
        <p:sp>
          <p:nvSpPr>
            <p:cNvPr id="41" name="원통형 1">
              <a:extLst>
                <a:ext uri="{FF2B5EF4-FFF2-40B4-BE49-F238E27FC236}">
                  <a16:creationId xmlns:a16="http://schemas.microsoft.com/office/drawing/2014/main" id="{AE6C575B-13C6-478B-BF28-E5274A9AA284}"/>
                </a:ext>
              </a:extLst>
            </p:cNvPr>
            <p:cNvSpPr/>
            <p:nvPr/>
          </p:nvSpPr>
          <p:spPr>
            <a:xfrm>
              <a:off x="3333158" y="3843317"/>
              <a:ext cx="727453" cy="1217259"/>
            </a:xfrm>
            <a:prstGeom prst="can">
              <a:avLst/>
            </a:prstGeom>
            <a:solidFill>
              <a:schemeClr val="bg1">
                <a:lumMod val="65000"/>
                <a:alpha val="3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SamsungOne 400" panose="020B0503030303020204" pitchFamily="34" charset="0"/>
              </a:endParaRPr>
            </a:p>
          </p:txBody>
        </p:sp>
        <p:sp>
          <p:nvSpPr>
            <p:cNvPr id="42" name="TextBox 41">
              <a:extLst>
                <a:ext uri="{FF2B5EF4-FFF2-40B4-BE49-F238E27FC236}">
                  <a16:creationId xmlns:a16="http://schemas.microsoft.com/office/drawing/2014/main" id="{B294055A-0C6C-4AB8-94DE-EB94643287B7}"/>
                </a:ext>
              </a:extLst>
            </p:cNvPr>
            <p:cNvSpPr txBox="1"/>
            <p:nvPr/>
          </p:nvSpPr>
          <p:spPr>
            <a:xfrm>
              <a:off x="3479118" y="4357055"/>
              <a:ext cx="435533" cy="338554"/>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defPPr>
                <a:defRPr lang="en-US"/>
              </a:defPPr>
              <a:lvl1pPr algn="ctr" defTabSz="914400">
                <a:defRPr sz="14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sz="1100" b="1" dirty="0">
                  <a:latin typeface="SamsungOne 400" panose="020B0503030303020204" pitchFamily="34" charset="0"/>
                  <a:ea typeface="SamsungOne 400" panose="020B0503030303020204" pitchFamily="34" charset="0"/>
                </a:rPr>
                <a:t>Raw Data</a:t>
              </a:r>
              <a:endParaRPr lang="ko-KR" altLang="en-US" sz="1100" b="1" dirty="0">
                <a:latin typeface="SamsungOne 400" panose="020B0503030303020204" pitchFamily="34" charset="0"/>
              </a:endParaRPr>
            </a:p>
          </p:txBody>
        </p:sp>
        <p:cxnSp>
          <p:nvCxnSpPr>
            <p:cNvPr id="43" name="직선 화살표 연결선 42">
              <a:extLst>
                <a:ext uri="{FF2B5EF4-FFF2-40B4-BE49-F238E27FC236}">
                  <a16:creationId xmlns:a16="http://schemas.microsoft.com/office/drawing/2014/main" id="{D6F5E4BD-A466-40E0-9230-16DABDF030BC}"/>
                </a:ext>
              </a:extLst>
            </p:cNvPr>
            <p:cNvCxnSpPr>
              <a:stCxn id="41" idx="1"/>
              <a:endCxn id="57" idx="2"/>
            </p:cNvCxnSpPr>
            <p:nvPr/>
          </p:nvCxnSpPr>
          <p:spPr>
            <a:xfrm flipV="1">
              <a:off x="3696885" y="3270863"/>
              <a:ext cx="0" cy="572454"/>
            </a:xfrm>
            <a:prstGeom prst="straightConnector1">
              <a:avLst/>
            </a:prstGeom>
            <a:ln w="635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sp>
          <p:nvSpPr>
            <p:cNvPr id="44" name="원통형 41">
              <a:extLst>
                <a:ext uri="{FF2B5EF4-FFF2-40B4-BE49-F238E27FC236}">
                  <a16:creationId xmlns:a16="http://schemas.microsoft.com/office/drawing/2014/main" id="{F332E073-801F-4723-8CF6-E22FFC009559}"/>
                </a:ext>
              </a:extLst>
            </p:cNvPr>
            <p:cNvSpPr/>
            <p:nvPr/>
          </p:nvSpPr>
          <p:spPr>
            <a:xfrm>
              <a:off x="5187235" y="2428171"/>
              <a:ext cx="727453" cy="608629"/>
            </a:xfrm>
            <a:prstGeom prst="can">
              <a:avLst/>
            </a:prstGeom>
            <a:solidFill>
              <a:srgbClr val="193EB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SamsungOne 400" panose="020B0503030303020204" pitchFamily="34" charset="0"/>
              </a:endParaRPr>
            </a:p>
          </p:txBody>
        </p:sp>
        <p:sp>
          <p:nvSpPr>
            <p:cNvPr id="45" name="TextBox 44">
              <a:extLst>
                <a:ext uri="{FF2B5EF4-FFF2-40B4-BE49-F238E27FC236}">
                  <a16:creationId xmlns:a16="http://schemas.microsoft.com/office/drawing/2014/main" id="{D0B19F64-EF9E-4701-AD01-A48E5C721534}"/>
                </a:ext>
              </a:extLst>
            </p:cNvPr>
            <p:cNvSpPr txBox="1"/>
            <p:nvPr/>
          </p:nvSpPr>
          <p:spPr>
            <a:xfrm>
              <a:off x="5390659" y="2723292"/>
              <a:ext cx="320601"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4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sz="1100" b="1" dirty="0">
                  <a:solidFill>
                    <a:schemeClr val="bg1"/>
                  </a:solidFill>
                  <a:latin typeface="SamsungOne 400" panose="020B0503030303020204" pitchFamily="34" charset="0"/>
                  <a:ea typeface="SamsungOne 400" panose="020B0503030303020204" pitchFamily="34" charset="0"/>
                </a:rPr>
                <a:t>Train</a:t>
              </a:r>
              <a:endParaRPr lang="ko-KR" altLang="en-US" sz="1100" b="1" dirty="0">
                <a:solidFill>
                  <a:schemeClr val="bg1"/>
                </a:solidFill>
                <a:latin typeface="SamsungOne 400" panose="020B0503030303020204" pitchFamily="34" charset="0"/>
              </a:endParaRPr>
            </a:p>
          </p:txBody>
        </p:sp>
        <p:sp>
          <p:nvSpPr>
            <p:cNvPr id="46" name="원통형 43">
              <a:extLst>
                <a:ext uri="{FF2B5EF4-FFF2-40B4-BE49-F238E27FC236}">
                  <a16:creationId xmlns:a16="http://schemas.microsoft.com/office/drawing/2014/main" id="{49A541F2-0771-4861-B5AB-F7351B1FDB94}"/>
                </a:ext>
              </a:extLst>
            </p:cNvPr>
            <p:cNvSpPr/>
            <p:nvPr/>
          </p:nvSpPr>
          <p:spPr>
            <a:xfrm>
              <a:off x="5187235" y="3065915"/>
              <a:ext cx="727453" cy="608629"/>
            </a:xfrm>
            <a:prstGeom prst="can">
              <a:avLst/>
            </a:prstGeom>
            <a:solidFill>
              <a:srgbClr val="193EB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SamsungOne 400" panose="020B0503030303020204" pitchFamily="34" charset="0"/>
              </a:endParaRPr>
            </a:p>
          </p:txBody>
        </p:sp>
        <p:sp>
          <p:nvSpPr>
            <p:cNvPr id="47" name="TextBox 46">
              <a:extLst>
                <a:ext uri="{FF2B5EF4-FFF2-40B4-BE49-F238E27FC236}">
                  <a16:creationId xmlns:a16="http://schemas.microsoft.com/office/drawing/2014/main" id="{26B42814-5B9A-4B65-930F-DFB3406D42A4}"/>
                </a:ext>
              </a:extLst>
            </p:cNvPr>
            <p:cNvSpPr txBox="1"/>
            <p:nvPr/>
          </p:nvSpPr>
          <p:spPr>
            <a:xfrm>
              <a:off x="5287268" y="3349933"/>
              <a:ext cx="527387"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4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sz="1100" b="1" dirty="0">
                  <a:solidFill>
                    <a:schemeClr val="bg1"/>
                  </a:solidFill>
                  <a:latin typeface="SamsungOne 400" panose="020B0503030303020204" pitchFamily="34" charset="0"/>
                  <a:ea typeface="SamsungOne 400" panose="020B0503030303020204" pitchFamily="34" charset="0"/>
                </a:rPr>
                <a:t>Validate</a:t>
              </a:r>
              <a:endParaRPr lang="ko-KR" altLang="en-US" sz="1100" b="1" dirty="0">
                <a:solidFill>
                  <a:schemeClr val="bg1"/>
                </a:solidFill>
                <a:latin typeface="SamsungOne 400" panose="020B0503030303020204" pitchFamily="34" charset="0"/>
              </a:endParaRPr>
            </a:p>
          </p:txBody>
        </p:sp>
        <p:sp>
          <p:nvSpPr>
            <p:cNvPr id="48" name="원통형 46">
              <a:extLst>
                <a:ext uri="{FF2B5EF4-FFF2-40B4-BE49-F238E27FC236}">
                  <a16:creationId xmlns:a16="http://schemas.microsoft.com/office/drawing/2014/main" id="{81A93C29-C7B7-4D6F-AD74-97EB8F2378D4}"/>
                </a:ext>
              </a:extLst>
            </p:cNvPr>
            <p:cNvSpPr/>
            <p:nvPr/>
          </p:nvSpPr>
          <p:spPr>
            <a:xfrm>
              <a:off x="5183311" y="3810788"/>
              <a:ext cx="727453" cy="608629"/>
            </a:xfrm>
            <a:prstGeom prst="can">
              <a:avLst/>
            </a:prstGeom>
            <a:solidFill>
              <a:schemeClr val="bg1">
                <a:lumMod val="65000"/>
                <a:alpha val="3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SamsungOne 400" panose="020B0503030303020204" pitchFamily="34" charset="0"/>
              </a:endParaRPr>
            </a:p>
          </p:txBody>
        </p:sp>
        <p:sp>
          <p:nvSpPr>
            <p:cNvPr id="49" name="TextBox 48">
              <a:extLst>
                <a:ext uri="{FF2B5EF4-FFF2-40B4-BE49-F238E27FC236}">
                  <a16:creationId xmlns:a16="http://schemas.microsoft.com/office/drawing/2014/main" id="{21FFC1E5-8B13-4ED4-8254-0BF9D9FBB0C9}"/>
                </a:ext>
              </a:extLst>
            </p:cNvPr>
            <p:cNvSpPr txBox="1"/>
            <p:nvPr/>
          </p:nvSpPr>
          <p:spPr>
            <a:xfrm>
              <a:off x="5417911" y="4094806"/>
              <a:ext cx="266098"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4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sz="1100" b="1" dirty="0">
                  <a:latin typeface="SamsungOne 400" panose="020B0503030303020204" pitchFamily="34" charset="0"/>
                  <a:ea typeface="SamsungOne 400" panose="020B0503030303020204" pitchFamily="34" charset="0"/>
                </a:rPr>
                <a:t>Test</a:t>
              </a:r>
              <a:endParaRPr lang="ko-KR" altLang="en-US" sz="1100" b="1" dirty="0">
                <a:latin typeface="SamsungOne 400" panose="020B0503030303020204" pitchFamily="34" charset="0"/>
              </a:endParaRPr>
            </a:p>
          </p:txBody>
        </p:sp>
        <p:sp>
          <p:nvSpPr>
            <p:cNvPr id="50" name="사각형: 둥근 모서리 48">
              <a:extLst>
                <a:ext uri="{FF2B5EF4-FFF2-40B4-BE49-F238E27FC236}">
                  <a16:creationId xmlns:a16="http://schemas.microsoft.com/office/drawing/2014/main" id="{A4320256-11CD-4257-9E5A-6C0F5EE6BC4C}"/>
                </a:ext>
              </a:extLst>
            </p:cNvPr>
            <p:cNvSpPr/>
            <p:nvPr/>
          </p:nvSpPr>
          <p:spPr>
            <a:xfrm>
              <a:off x="5052043" y="2361468"/>
              <a:ext cx="997836" cy="1368000"/>
            </a:xfrm>
            <a:prstGeom prst="rect">
              <a:avLst/>
            </a:prstGeom>
            <a:noFill/>
            <a:ln w="254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SamsungOne 400" panose="020B0503030303020204" pitchFamily="34" charset="0"/>
              </a:endParaRPr>
            </a:p>
          </p:txBody>
        </p:sp>
        <p:cxnSp>
          <p:nvCxnSpPr>
            <p:cNvPr id="51" name="직선 화살표 연결선 50">
              <a:extLst>
                <a:ext uri="{FF2B5EF4-FFF2-40B4-BE49-F238E27FC236}">
                  <a16:creationId xmlns:a16="http://schemas.microsoft.com/office/drawing/2014/main" id="{D3D99504-078D-4233-A116-0E0001457DE2}"/>
                </a:ext>
              </a:extLst>
            </p:cNvPr>
            <p:cNvCxnSpPr>
              <a:cxnSpLocks/>
            </p:cNvCxnSpPr>
            <p:nvPr/>
          </p:nvCxnSpPr>
          <p:spPr>
            <a:xfrm flipH="1">
              <a:off x="6068038" y="3073074"/>
              <a:ext cx="878598" cy="0"/>
            </a:xfrm>
            <a:prstGeom prst="straightConnector1">
              <a:avLst/>
            </a:prstGeom>
            <a:noFill/>
            <a:ln w="25400">
              <a:solidFill>
                <a:srgbClr val="FF0000"/>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52" name="TextBox 51">
              <a:extLst>
                <a:ext uri="{FF2B5EF4-FFF2-40B4-BE49-F238E27FC236}">
                  <a16:creationId xmlns:a16="http://schemas.microsoft.com/office/drawing/2014/main" id="{931CDA0D-DD0D-4ADF-ADCF-FF16CF1357CF}"/>
                </a:ext>
              </a:extLst>
            </p:cNvPr>
            <p:cNvSpPr txBox="1"/>
            <p:nvPr/>
          </p:nvSpPr>
          <p:spPr>
            <a:xfrm>
              <a:off x="7095750" y="2060848"/>
              <a:ext cx="1730678" cy="461665"/>
            </a:xfrm>
            <a:prstGeom prst="rect">
              <a:avLst/>
            </a:prstGeom>
            <a:solidFill>
              <a:srgbClr val="B4BBBD"/>
            </a:solid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threePt" dir="t"/>
              </a:scene3d>
              <a:sp3d>
                <a:bevelT w="0" h="6350"/>
              </a:sp3d>
            </a:bodyPr>
            <a:lstStyle>
              <a:defPPr>
                <a:defRPr lang="en-US"/>
              </a:defPPr>
              <a:lvl1pPr algn="ctr">
                <a:defRPr sz="1200">
                  <a:latin typeface="SamsungOne 700" panose="020B0803030303020204" pitchFamily="34" charset="0"/>
                  <a:ea typeface="맑은 고딕"/>
                </a:defRPr>
              </a:lvl1pPr>
            </a:lstStyle>
            <a:p>
              <a:r>
                <a:rPr lang="en-US" altLang="ko-KR" sz="1300" dirty="0">
                  <a:latin typeface="SamsungOne 400" panose="020B0503030303020204" pitchFamily="34" charset="0"/>
                  <a:ea typeface="SamsungOne 400" panose="020B0503030303020204" pitchFamily="34" charset="0"/>
                </a:rPr>
                <a:t>Feature engineering</a:t>
              </a:r>
              <a:endParaRPr lang="ko-KR" altLang="en-US" sz="1300" dirty="0">
                <a:latin typeface="SamsungOne 400" panose="020B0503030303020204" pitchFamily="34" charset="0"/>
              </a:endParaRPr>
            </a:p>
          </p:txBody>
        </p:sp>
        <p:sp>
          <p:nvSpPr>
            <p:cNvPr id="53" name="TextBox 52">
              <a:extLst>
                <a:ext uri="{FF2B5EF4-FFF2-40B4-BE49-F238E27FC236}">
                  <a16:creationId xmlns:a16="http://schemas.microsoft.com/office/drawing/2014/main" id="{A6EC8E3F-AB88-4244-8179-F4422A523467}"/>
                </a:ext>
              </a:extLst>
            </p:cNvPr>
            <p:cNvSpPr txBox="1"/>
            <p:nvPr/>
          </p:nvSpPr>
          <p:spPr>
            <a:xfrm>
              <a:off x="7095750" y="2815775"/>
              <a:ext cx="1730678" cy="461665"/>
            </a:xfrm>
            <a:prstGeom prst="rect">
              <a:avLst/>
            </a:prstGeom>
            <a:solidFill>
              <a:srgbClr val="B4BBBD"/>
            </a:solid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threePt" dir="t"/>
              </a:scene3d>
              <a:sp3d>
                <a:bevelT w="0" h="6350"/>
              </a:sp3d>
            </a:bodyPr>
            <a:lstStyle>
              <a:defPPr>
                <a:defRPr lang="en-US"/>
              </a:defPPr>
              <a:lvl1pPr algn="ctr">
                <a:defRPr sz="1200">
                  <a:latin typeface="SamsungOne 700" panose="020B0803030303020204" pitchFamily="34" charset="0"/>
                  <a:ea typeface="맑은 고딕"/>
                </a:defRPr>
              </a:lvl1pPr>
            </a:lstStyle>
            <a:p>
              <a:r>
                <a:rPr lang="en-US" altLang="ko-KR" sz="1300" dirty="0">
                  <a:latin typeface="SamsungOne 400" panose="020B0503030303020204" pitchFamily="34" charset="0"/>
                  <a:ea typeface="SamsungOne 400" panose="020B0503030303020204" pitchFamily="34" charset="0"/>
                </a:rPr>
                <a:t>Modeling and optimization</a:t>
              </a:r>
              <a:endParaRPr lang="ko-KR" altLang="en-US" sz="1300" dirty="0">
                <a:latin typeface="SamsungOne 400" panose="020B0503030303020204" pitchFamily="34" charset="0"/>
              </a:endParaRPr>
            </a:p>
          </p:txBody>
        </p:sp>
        <p:sp>
          <p:nvSpPr>
            <p:cNvPr id="54" name="TextBox 53">
              <a:extLst>
                <a:ext uri="{FF2B5EF4-FFF2-40B4-BE49-F238E27FC236}">
                  <a16:creationId xmlns:a16="http://schemas.microsoft.com/office/drawing/2014/main" id="{DCF86327-99CD-46EA-BF57-F27FD3BE0CCB}"/>
                </a:ext>
              </a:extLst>
            </p:cNvPr>
            <p:cNvSpPr txBox="1"/>
            <p:nvPr/>
          </p:nvSpPr>
          <p:spPr>
            <a:xfrm>
              <a:off x="7095750" y="3874972"/>
              <a:ext cx="1730678" cy="461665"/>
            </a:xfrm>
            <a:prstGeom prst="rect">
              <a:avLst/>
            </a:prstGeom>
            <a:solidFill>
              <a:srgbClr val="B4BBBD"/>
            </a:solid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threePt" dir="t"/>
              </a:scene3d>
              <a:sp3d>
                <a:bevelT w="0" h="6350"/>
              </a:sp3d>
            </a:bodyPr>
            <a:lstStyle>
              <a:defPPr>
                <a:defRPr lang="en-US"/>
              </a:defPPr>
              <a:lvl1pPr algn="ctr">
                <a:defRPr sz="1200">
                  <a:latin typeface="SamsungOne 700" panose="020B0803030303020204" pitchFamily="34" charset="0"/>
                  <a:ea typeface="맑은 고딕"/>
                </a:defRPr>
              </a:lvl1pPr>
            </a:lstStyle>
            <a:p>
              <a:r>
                <a:rPr lang="en-US" altLang="ko-KR" sz="1300" dirty="0">
                  <a:latin typeface="SamsungOne 400" panose="020B0503030303020204" pitchFamily="34" charset="0"/>
                  <a:ea typeface="SamsungOne 400" panose="020B0503030303020204" pitchFamily="34" charset="0"/>
                </a:rPr>
                <a:t>Performance metrics</a:t>
              </a:r>
              <a:endParaRPr lang="ko-KR" altLang="en-US" sz="1300" dirty="0">
                <a:latin typeface="SamsungOne 400" panose="020B0503030303020204" pitchFamily="34" charset="0"/>
              </a:endParaRPr>
            </a:p>
          </p:txBody>
        </p:sp>
        <p:sp>
          <p:nvSpPr>
            <p:cNvPr id="55" name="사각형: 둥근 모서리 64">
              <a:extLst>
                <a:ext uri="{FF2B5EF4-FFF2-40B4-BE49-F238E27FC236}">
                  <a16:creationId xmlns:a16="http://schemas.microsoft.com/office/drawing/2014/main" id="{31177E12-4A46-426A-9AA2-FFADE0F0D78C}"/>
                </a:ext>
              </a:extLst>
            </p:cNvPr>
            <p:cNvSpPr/>
            <p:nvPr/>
          </p:nvSpPr>
          <p:spPr>
            <a:xfrm>
              <a:off x="6946636" y="1899489"/>
              <a:ext cx="2000495" cy="2613600"/>
            </a:xfrm>
            <a:prstGeom prst="rect">
              <a:avLst/>
            </a:prstGeom>
            <a:noFill/>
            <a:ln w="254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SamsungOne 400" panose="020B0503030303020204" pitchFamily="34" charset="0"/>
              </a:endParaRPr>
            </a:p>
          </p:txBody>
        </p:sp>
        <p:sp>
          <p:nvSpPr>
            <p:cNvPr id="56" name="TextBox 55">
              <a:extLst>
                <a:ext uri="{FF2B5EF4-FFF2-40B4-BE49-F238E27FC236}">
                  <a16:creationId xmlns:a16="http://schemas.microsoft.com/office/drawing/2014/main" id="{11EBB342-2C21-471D-8943-F3E61A80BB7F}"/>
                </a:ext>
              </a:extLst>
            </p:cNvPr>
            <p:cNvSpPr txBox="1"/>
            <p:nvPr/>
          </p:nvSpPr>
          <p:spPr>
            <a:xfrm>
              <a:off x="853213" y="2838863"/>
              <a:ext cx="1630228" cy="432000"/>
            </a:xfrm>
            <a:prstGeom prst="rect">
              <a:avLst/>
            </a:prstGeom>
            <a:solidFill>
              <a:schemeClr val="bg1">
                <a:lumMod val="95000"/>
              </a:schemeClr>
            </a:solidFill>
            <a:ln>
              <a:solidFill>
                <a:srgbClr val="193EB0"/>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threePt" dir="t"/>
              </a:scene3d>
              <a:sp3d>
                <a:bevelT w="0" h="6350"/>
              </a:sp3d>
            </a:bodyPr>
            <a:lstStyle>
              <a:defPPr>
                <a:defRPr lang="en-US"/>
              </a:defPPr>
              <a:lvl1pPr algn="ctr">
                <a:defRPr sz="1200">
                  <a:latin typeface="SamsungOne 700" panose="020B0803030303020204" pitchFamily="34" charset="0"/>
                  <a:ea typeface="맑은 고딕"/>
                </a:defRPr>
              </a:lvl1pPr>
            </a:lstStyle>
            <a:p>
              <a:r>
                <a:rPr lang="en-US" altLang="ko-KR" sz="1300" b="1" dirty="0">
                  <a:solidFill>
                    <a:srgbClr val="1429A0"/>
                  </a:solidFill>
                  <a:latin typeface="SamsungOne 400" panose="020B0503030303020204" pitchFamily="34" charset="0"/>
                  <a:ea typeface="SamsungOne 400" panose="020B0503030303020204" pitchFamily="34" charset="0"/>
                </a:rPr>
                <a:t>Problem Definition</a:t>
              </a:r>
              <a:endParaRPr lang="ko-KR" altLang="en-US" sz="1300" b="1" dirty="0">
                <a:solidFill>
                  <a:srgbClr val="1429A0"/>
                </a:solidFill>
                <a:latin typeface="SamsungOne 400" panose="020B0503030303020204" pitchFamily="34" charset="0"/>
              </a:endParaRPr>
            </a:p>
          </p:txBody>
        </p:sp>
        <p:sp>
          <p:nvSpPr>
            <p:cNvPr id="57" name="TextBox 56">
              <a:extLst>
                <a:ext uri="{FF2B5EF4-FFF2-40B4-BE49-F238E27FC236}">
                  <a16:creationId xmlns:a16="http://schemas.microsoft.com/office/drawing/2014/main" id="{D1323999-BDCD-40C6-833E-F705E67B4E0D}"/>
                </a:ext>
              </a:extLst>
            </p:cNvPr>
            <p:cNvSpPr txBox="1"/>
            <p:nvPr/>
          </p:nvSpPr>
          <p:spPr>
            <a:xfrm>
              <a:off x="2969351" y="2838863"/>
              <a:ext cx="1455067" cy="432000"/>
            </a:xfrm>
            <a:prstGeom prst="rect">
              <a:avLst/>
            </a:prstGeom>
            <a:solidFill>
              <a:schemeClr val="bg1">
                <a:lumMod val="95000"/>
              </a:schemeClr>
            </a:solidFill>
            <a:ln>
              <a:solidFill>
                <a:srgbClr val="193EB0"/>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threePt" dir="t"/>
              </a:scene3d>
              <a:sp3d>
                <a:bevelT w="0" h="6350"/>
              </a:sp3d>
            </a:bodyPr>
            <a:lstStyle>
              <a:defPPr>
                <a:defRPr lang="en-US"/>
              </a:defPPr>
              <a:lvl1pPr algn="ctr">
                <a:defRPr sz="1200">
                  <a:latin typeface="SamsungOne 700" panose="020B0803030303020204" pitchFamily="34" charset="0"/>
                  <a:ea typeface="맑은 고딕"/>
                </a:defRPr>
              </a:lvl1pPr>
            </a:lstStyle>
            <a:p>
              <a:r>
                <a:rPr lang="en-US" altLang="ko-KR" sz="1300" b="1" dirty="0">
                  <a:solidFill>
                    <a:srgbClr val="1429A0"/>
                  </a:solidFill>
                  <a:latin typeface="SamsungOne 400" panose="020B0503030303020204" pitchFamily="34" charset="0"/>
                  <a:ea typeface="SamsungOne 400" panose="020B0503030303020204" pitchFamily="34" charset="0"/>
                </a:rPr>
                <a:t>Data Preparation</a:t>
              </a:r>
              <a:endParaRPr lang="ko-KR" altLang="en-US" sz="1300" b="1" dirty="0">
                <a:solidFill>
                  <a:srgbClr val="1429A0"/>
                </a:solidFill>
                <a:latin typeface="SamsungOne 400" panose="020B0503030303020204" pitchFamily="34" charset="0"/>
              </a:endParaRPr>
            </a:p>
          </p:txBody>
        </p:sp>
        <p:cxnSp>
          <p:nvCxnSpPr>
            <p:cNvPr id="58" name="직선 화살표 연결선 57">
              <a:extLst>
                <a:ext uri="{FF2B5EF4-FFF2-40B4-BE49-F238E27FC236}">
                  <a16:creationId xmlns:a16="http://schemas.microsoft.com/office/drawing/2014/main" id="{6100B878-4285-49F4-B0F5-1AA8B511D9EF}"/>
                </a:ext>
              </a:extLst>
            </p:cNvPr>
            <p:cNvCxnSpPr>
              <a:cxnSpLocks/>
              <a:stCxn id="56" idx="3"/>
              <a:endCxn id="57" idx="1"/>
            </p:cNvCxnSpPr>
            <p:nvPr/>
          </p:nvCxnSpPr>
          <p:spPr>
            <a:xfrm>
              <a:off x="2483441" y="3054863"/>
              <a:ext cx="485910" cy="0"/>
            </a:xfrm>
            <a:prstGeom prst="straightConnector1">
              <a:avLst/>
            </a:prstGeom>
            <a:ln w="635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직선 화살표 연결선 58">
              <a:extLst>
                <a:ext uri="{FF2B5EF4-FFF2-40B4-BE49-F238E27FC236}">
                  <a16:creationId xmlns:a16="http://schemas.microsoft.com/office/drawing/2014/main" id="{C8BE0FBD-CD64-4B94-B56E-9BD7543C4FEB}"/>
                </a:ext>
              </a:extLst>
            </p:cNvPr>
            <p:cNvCxnSpPr>
              <a:cxnSpLocks/>
              <a:stCxn id="57" idx="3"/>
            </p:cNvCxnSpPr>
            <p:nvPr/>
          </p:nvCxnSpPr>
          <p:spPr>
            <a:xfrm>
              <a:off x="4424418" y="3054863"/>
              <a:ext cx="368568" cy="0"/>
            </a:xfrm>
            <a:prstGeom prst="straightConnector1">
              <a:avLst/>
            </a:prstGeom>
            <a:ln w="635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60" name="직선 화살표 연결선 59">
              <a:extLst>
                <a:ext uri="{FF2B5EF4-FFF2-40B4-BE49-F238E27FC236}">
                  <a16:creationId xmlns:a16="http://schemas.microsoft.com/office/drawing/2014/main" id="{17FCB544-3E12-4D7D-BC47-5BAE4D55BE85}"/>
                </a:ext>
              </a:extLst>
            </p:cNvPr>
            <p:cNvCxnSpPr>
              <a:cxnSpLocks/>
              <a:stCxn id="52" idx="2"/>
              <a:endCxn id="53" idx="0"/>
            </p:cNvCxnSpPr>
            <p:nvPr/>
          </p:nvCxnSpPr>
          <p:spPr>
            <a:xfrm>
              <a:off x="7961089" y="2522513"/>
              <a:ext cx="0" cy="293262"/>
            </a:xfrm>
            <a:prstGeom prst="straightConnector1">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직선 화살표 연결선 60">
              <a:extLst>
                <a:ext uri="{FF2B5EF4-FFF2-40B4-BE49-F238E27FC236}">
                  <a16:creationId xmlns:a16="http://schemas.microsoft.com/office/drawing/2014/main" id="{9FF6096D-0FC9-4790-8118-46413F53BBE2}"/>
                </a:ext>
              </a:extLst>
            </p:cNvPr>
            <p:cNvCxnSpPr>
              <a:cxnSpLocks/>
            </p:cNvCxnSpPr>
            <p:nvPr/>
          </p:nvCxnSpPr>
          <p:spPr>
            <a:xfrm flipH="1">
              <a:off x="7958743" y="3581710"/>
              <a:ext cx="1" cy="293262"/>
            </a:xfrm>
            <a:prstGeom prst="straightConnector1">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2" name="직사각형 61">
              <a:extLst>
                <a:ext uri="{FF2B5EF4-FFF2-40B4-BE49-F238E27FC236}">
                  <a16:creationId xmlns:a16="http://schemas.microsoft.com/office/drawing/2014/main" id="{8CB9B66B-8670-4EE5-A83B-0D3032463BFF}"/>
                </a:ext>
              </a:extLst>
            </p:cNvPr>
            <p:cNvSpPr/>
            <p:nvPr/>
          </p:nvSpPr>
          <p:spPr>
            <a:xfrm>
              <a:off x="540694" y="2278294"/>
              <a:ext cx="2369238" cy="492443"/>
            </a:xfrm>
            <a:prstGeom prst="rect">
              <a:avLst/>
            </a:prstGeom>
          </p:spPr>
          <p:txBody>
            <a:bodyPr wrap="none">
              <a:spAutoFit/>
            </a:bodyPr>
            <a:lstStyle/>
            <a:p>
              <a:pPr algn="ctr"/>
              <a:r>
                <a:rPr lang="en-US" altLang="ko-KR" sz="1300" dirty="0">
                  <a:latin typeface="SamsungOne 400" panose="020B0503030303020204" pitchFamily="34" charset="0"/>
                </a:rPr>
                <a:t>Understanding the business and</a:t>
              </a:r>
            </a:p>
            <a:p>
              <a:pPr algn="ctr"/>
              <a:r>
                <a:rPr lang="en-US" altLang="ko-KR" sz="1300" dirty="0">
                  <a:latin typeface="SamsungOne 400" panose="020B0503030303020204" pitchFamily="34" charset="0"/>
                </a:rPr>
                <a:t>problem definition</a:t>
              </a:r>
              <a:r>
                <a:rPr lang="ko-KR" altLang="en-US" sz="1300" dirty="0">
                  <a:latin typeface="SamsungOne 400" panose="020B0503030303020204" pitchFamily="34" charset="0"/>
                </a:rPr>
                <a:t> </a:t>
              </a:r>
            </a:p>
          </p:txBody>
        </p:sp>
        <p:sp>
          <p:nvSpPr>
            <p:cNvPr id="63" name="직사각형 62">
              <a:extLst>
                <a:ext uri="{FF2B5EF4-FFF2-40B4-BE49-F238E27FC236}">
                  <a16:creationId xmlns:a16="http://schemas.microsoft.com/office/drawing/2014/main" id="{6C1E4AAE-B048-4DB0-9CEB-F925956175D0}"/>
                </a:ext>
              </a:extLst>
            </p:cNvPr>
            <p:cNvSpPr/>
            <p:nvPr/>
          </p:nvSpPr>
          <p:spPr>
            <a:xfrm>
              <a:off x="3111364" y="5012495"/>
              <a:ext cx="1197571" cy="292388"/>
            </a:xfrm>
            <a:prstGeom prst="rect">
              <a:avLst/>
            </a:prstGeom>
          </p:spPr>
          <p:txBody>
            <a:bodyPr wrap="none">
              <a:spAutoFit/>
            </a:bodyPr>
            <a:lstStyle/>
            <a:p>
              <a:pPr algn="ctr"/>
              <a:r>
                <a:rPr lang="en-US" altLang="ko-KR" sz="1300" dirty="0">
                  <a:latin typeface="SamsungOne 400" panose="020B0503030303020204" pitchFamily="34" charset="0"/>
                </a:rPr>
                <a:t>Data collection</a:t>
              </a:r>
              <a:endParaRPr lang="ko-KR" altLang="en-US" sz="1300" dirty="0">
                <a:latin typeface="SamsungOne 400" panose="020B0503030303020204" pitchFamily="34" charset="0"/>
              </a:endParaRPr>
            </a:p>
          </p:txBody>
        </p:sp>
        <p:sp>
          <p:nvSpPr>
            <p:cNvPr id="64" name="직사각형 63">
              <a:extLst>
                <a:ext uri="{FF2B5EF4-FFF2-40B4-BE49-F238E27FC236}">
                  <a16:creationId xmlns:a16="http://schemas.microsoft.com/office/drawing/2014/main" id="{85BD9271-1C5B-4DDD-B5E4-E4B75A09BC7A}"/>
                </a:ext>
              </a:extLst>
            </p:cNvPr>
            <p:cNvSpPr/>
            <p:nvPr/>
          </p:nvSpPr>
          <p:spPr>
            <a:xfrm>
              <a:off x="2887455" y="2311773"/>
              <a:ext cx="1645387" cy="492443"/>
            </a:xfrm>
            <a:prstGeom prst="rect">
              <a:avLst/>
            </a:prstGeom>
          </p:spPr>
          <p:txBody>
            <a:bodyPr wrap="none">
              <a:spAutoFit/>
            </a:bodyPr>
            <a:lstStyle/>
            <a:p>
              <a:pPr algn="ctr"/>
              <a:r>
                <a:rPr lang="en-US" altLang="ko-KR" sz="1300" dirty="0">
                  <a:latin typeface="SamsungOne 400" panose="020B0503030303020204" pitchFamily="34" charset="0"/>
                </a:rPr>
                <a:t>Pre-processing </a:t>
              </a:r>
            </a:p>
            <a:p>
              <a:pPr algn="ctr"/>
              <a:r>
                <a:rPr lang="en-US" altLang="ko-KR" sz="1300" dirty="0">
                  <a:latin typeface="SamsungOne 400" panose="020B0503030303020204" pitchFamily="34" charset="0"/>
                </a:rPr>
                <a:t>and searching of data</a:t>
              </a:r>
              <a:endParaRPr lang="ko-KR" altLang="en-US" sz="1300" dirty="0">
                <a:latin typeface="SamsungOne 400" panose="020B0503030303020204" pitchFamily="34" charset="0"/>
              </a:endParaRPr>
            </a:p>
          </p:txBody>
        </p:sp>
        <p:sp>
          <p:nvSpPr>
            <p:cNvPr id="65" name="직사각형 64">
              <a:extLst>
                <a:ext uri="{FF2B5EF4-FFF2-40B4-BE49-F238E27FC236}">
                  <a16:creationId xmlns:a16="http://schemas.microsoft.com/office/drawing/2014/main" id="{8C94B77A-00AE-4F76-A95D-5ABF3170DB64}"/>
                </a:ext>
              </a:extLst>
            </p:cNvPr>
            <p:cNvSpPr/>
            <p:nvPr/>
          </p:nvSpPr>
          <p:spPr>
            <a:xfrm>
              <a:off x="7129775" y="3304711"/>
              <a:ext cx="1662635" cy="276999"/>
            </a:xfrm>
            <a:prstGeom prst="rect">
              <a:avLst/>
            </a:prstGeom>
          </p:spPr>
          <p:txBody>
            <a:bodyPr wrap="none">
              <a:spAutoFit/>
            </a:bodyPr>
            <a:lstStyle/>
            <a:p>
              <a:pPr algn="ctr"/>
              <a:r>
                <a:rPr lang="en-US" altLang="ko-KR" sz="1200" dirty="0">
                  <a:latin typeface="SamsungOne 400" panose="020B0503030303020204" pitchFamily="34" charset="0"/>
                </a:rPr>
                <a:t>Model training for data</a:t>
              </a:r>
              <a:r>
                <a:rPr lang="ko-KR" altLang="en-US" sz="1200" dirty="0">
                  <a:latin typeface="SamsungOne 400" panose="020B0503030303020204" pitchFamily="34" charset="0"/>
                </a:rPr>
                <a:t> </a:t>
              </a:r>
            </a:p>
          </p:txBody>
        </p:sp>
        <p:sp>
          <p:nvSpPr>
            <p:cNvPr id="66" name="직사각형 65">
              <a:extLst>
                <a:ext uri="{FF2B5EF4-FFF2-40B4-BE49-F238E27FC236}">
                  <a16:creationId xmlns:a16="http://schemas.microsoft.com/office/drawing/2014/main" id="{72D497DC-080A-47B4-A90A-879EC64ECF5C}"/>
                </a:ext>
              </a:extLst>
            </p:cNvPr>
            <p:cNvSpPr/>
            <p:nvPr/>
          </p:nvSpPr>
          <p:spPr>
            <a:xfrm>
              <a:off x="6868516" y="4545269"/>
              <a:ext cx="2156744" cy="276999"/>
            </a:xfrm>
            <a:prstGeom prst="rect">
              <a:avLst/>
            </a:prstGeom>
          </p:spPr>
          <p:txBody>
            <a:bodyPr wrap="none">
              <a:spAutoFit/>
            </a:bodyPr>
            <a:lstStyle/>
            <a:p>
              <a:pPr algn="ctr"/>
              <a:r>
                <a:rPr lang="en-US" altLang="ko-KR" sz="1200" dirty="0">
                  <a:latin typeface="SamsungOne 400" panose="020B0503030303020204" pitchFamily="34" charset="0"/>
                </a:rPr>
                <a:t>Model performance evaluation</a:t>
              </a:r>
              <a:r>
                <a:rPr lang="ko-KR" altLang="en-US" sz="1200" dirty="0">
                  <a:latin typeface="SamsungOne 400" panose="020B0503030303020204" pitchFamily="34" charset="0"/>
                </a:rPr>
                <a:t> </a:t>
              </a:r>
            </a:p>
          </p:txBody>
        </p:sp>
        <p:sp>
          <p:nvSpPr>
            <p:cNvPr id="67" name="직사각형 66">
              <a:extLst>
                <a:ext uri="{FF2B5EF4-FFF2-40B4-BE49-F238E27FC236}">
                  <a16:creationId xmlns:a16="http://schemas.microsoft.com/office/drawing/2014/main" id="{93D2C81B-0B49-48F7-9333-1371A59FB542}"/>
                </a:ext>
              </a:extLst>
            </p:cNvPr>
            <p:cNvSpPr/>
            <p:nvPr/>
          </p:nvSpPr>
          <p:spPr>
            <a:xfrm>
              <a:off x="4286339" y="5090018"/>
              <a:ext cx="2534348" cy="492443"/>
            </a:xfrm>
            <a:prstGeom prst="rect">
              <a:avLst/>
            </a:prstGeom>
          </p:spPr>
          <p:txBody>
            <a:bodyPr wrap="none">
              <a:spAutoFit/>
            </a:bodyPr>
            <a:lstStyle/>
            <a:p>
              <a:pPr algn="ctr"/>
              <a:r>
                <a:rPr lang="en-US" altLang="ko-KR" sz="1300" dirty="0">
                  <a:latin typeface="SamsungOne 400" panose="020B0503030303020204" pitchFamily="34" charset="0"/>
                </a:rPr>
                <a:t>Enhanced model performance and</a:t>
              </a:r>
            </a:p>
            <a:p>
              <a:pPr algn="ctr"/>
              <a:r>
                <a:rPr lang="en-US" altLang="ko-KR" sz="1300" dirty="0">
                  <a:latin typeface="SamsungOne 400" panose="020B0503030303020204" pitchFamily="34" charset="0"/>
                </a:rPr>
                <a:t>application to real life</a:t>
              </a:r>
              <a:endParaRPr lang="ko-KR" altLang="en-US" sz="1300" dirty="0">
                <a:latin typeface="SamsungOne 400" panose="020B0503030303020204" pitchFamily="34" charset="0"/>
              </a:endParaRPr>
            </a:p>
          </p:txBody>
        </p:sp>
        <p:cxnSp>
          <p:nvCxnSpPr>
            <p:cNvPr id="68" name="직선 화살표 연결선 67">
              <a:extLst>
                <a:ext uri="{FF2B5EF4-FFF2-40B4-BE49-F238E27FC236}">
                  <a16:creationId xmlns:a16="http://schemas.microsoft.com/office/drawing/2014/main" id="{C56FB5A2-DB7F-418D-8C54-6D1481928385}"/>
                </a:ext>
              </a:extLst>
            </p:cNvPr>
            <p:cNvCxnSpPr>
              <a:endCxn id="67" idx="0"/>
            </p:cNvCxnSpPr>
            <p:nvPr/>
          </p:nvCxnSpPr>
          <p:spPr>
            <a:xfrm flipH="1">
              <a:off x="5553513" y="4513089"/>
              <a:ext cx="5591" cy="576929"/>
            </a:xfrm>
            <a:prstGeom prst="straightConnector1">
              <a:avLst/>
            </a:prstGeom>
            <a:ln>
              <a:solidFill>
                <a:srgbClr val="1429A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55031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1.1. What is Machine Learning?</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Machine learning types:</a:t>
            </a:r>
          </a:p>
        </p:txBody>
      </p:sp>
      <p:graphicFrame>
        <p:nvGraphicFramePr>
          <p:cNvPr id="37" name="표 36">
            <a:extLst>
              <a:ext uri="{FF2B5EF4-FFF2-40B4-BE49-F238E27FC236}">
                <a16:creationId xmlns:a16="http://schemas.microsoft.com/office/drawing/2014/main" id="{0DC7B995-B347-4A2E-A994-738216DD83E1}"/>
              </a:ext>
            </a:extLst>
          </p:cNvPr>
          <p:cNvGraphicFramePr>
            <a:graphicFrameLocks noGrp="1"/>
          </p:cNvGraphicFramePr>
          <p:nvPr>
            <p:extLst>
              <p:ext uri="{D42A27DB-BD31-4B8C-83A1-F6EECF244321}">
                <p14:modId xmlns:p14="http://schemas.microsoft.com/office/powerpoint/2010/main" val="3490914833"/>
              </p:ext>
            </p:extLst>
          </p:nvPr>
        </p:nvGraphicFramePr>
        <p:xfrm>
          <a:off x="558925" y="1801813"/>
          <a:ext cx="8785100" cy="3453052"/>
        </p:xfrm>
        <a:graphic>
          <a:graphicData uri="http://schemas.openxmlformats.org/drawingml/2006/table">
            <a:tbl>
              <a:tblPr firstRow="1" bandRow="1">
                <a:tableStyleId>{5940675A-B579-460E-94D1-54222C63F5DA}</a:tableStyleId>
              </a:tblPr>
              <a:tblGrid>
                <a:gridCol w="2735553">
                  <a:extLst>
                    <a:ext uri="{9D8B030D-6E8A-4147-A177-3AD203B41FA5}">
                      <a16:colId xmlns:a16="http://schemas.microsoft.com/office/drawing/2014/main" val="2044997058"/>
                    </a:ext>
                  </a:extLst>
                </a:gridCol>
                <a:gridCol w="6049547">
                  <a:extLst>
                    <a:ext uri="{9D8B030D-6E8A-4147-A177-3AD203B41FA5}">
                      <a16:colId xmlns:a16="http://schemas.microsoft.com/office/drawing/2014/main" val="490996645"/>
                    </a:ext>
                  </a:extLst>
                </a:gridCol>
              </a:tblGrid>
              <a:tr h="304030">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Type</a:t>
                      </a:r>
                      <a:endParaRPr lang="ko-KR" altLang="en-US"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endParaRPr>
                    </a:p>
                  </a:txBody>
                  <a:tcP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Algorithm/Method</a:t>
                      </a:r>
                      <a:endParaRPr lang="ko-KR" altLang="en-US"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endParaRPr>
                    </a:p>
                  </a:txBody>
                  <a:tcP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55872289"/>
                  </a:ext>
                </a:extLst>
              </a:tr>
              <a:tr h="269438">
                <a:tc rowSpan="4">
                  <a:txBody>
                    <a:bodyPr/>
                    <a:lstStyle/>
                    <a:p>
                      <a:pPr marL="0" algn="ctr" defTabSz="914400" rtl="0" eaLnBrk="1" latinLnBrk="1" hangingPunct="1">
                        <a:lnSpc>
                          <a:spcPct val="100000"/>
                        </a:lnSpc>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Unsupervised learning</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ctr" defTabSz="914400" rtl="0" eaLnBrk="1" fontAlgn="base" latinLnBrk="1" hangingPunct="1">
                        <a:lnSpc>
                          <a:spcPct val="100000"/>
                        </a:lnSpc>
                        <a:spcBef>
                          <a:spcPts val="0"/>
                        </a:spcBef>
                        <a:spcAft>
                          <a:spcPts val="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Clustering</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16463057"/>
                  </a:ext>
                </a:extLst>
              </a:tr>
              <a:tr h="269438">
                <a:tc vMerge="1">
                  <a:txBody>
                    <a:bodyPr/>
                    <a:lstStyle/>
                    <a:p>
                      <a:pPr latinLnBrk="1"/>
                      <a:endParaRPr lang="ko-KR" altLang="en-US"/>
                    </a:p>
                  </a:txBody>
                  <a:tcPr/>
                </a:tc>
                <a:tc>
                  <a:txBody>
                    <a:bodyPr/>
                    <a:lstStyle/>
                    <a:p>
                      <a:pPr marL="0" marR="0" indent="0" algn="ctr" defTabSz="914400" rtl="0" eaLnBrk="1" fontAlgn="base" latinLnBrk="1" hangingPunct="1">
                        <a:lnSpc>
                          <a:spcPct val="100000"/>
                        </a:lnSpc>
                        <a:spcBef>
                          <a:spcPts val="0"/>
                        </a:spcBef>
                        <a:spcAft>
                          <a:spcPts val="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MDS, t-SNE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07876990"/>
                  </a:ext>
                </a:extLst>
              </a:tr>
              <a:tr h="314353">
                <a:tc vMerge="1">
                  <a:txBody>
                    <a:bodyPr/>
                    <a:lstStyle/>
                    <a:p>
                      <a:pPr algn="ctr" latinLnBrk="1"/>
                      <a:endParaRPr lang="ko-KR" altLang="en-US"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base" latinLnBrk="1" hangingPunct="1">
                        <a:lnSpc>
                          <a:spcPct val="100000"/>
                        </a:lnSpc>
                        <a:spcBef>
                          <a:spcPts val="0"/>
                        </a:spcBef>
                        <a:spcAft>
                          <a:spcPts val="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PCA, NMF</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4231268"/>
                  </a:ext>
                </a:extLst>
              </a:tr>
              <a:tr h="314353">
                <a:tc vMerge="1">
                  <a:txBody>
                    <a:bodyPr/>
                    <a:lstStyle/>
                    <a:p>
                      <a:pPr algn="ctr" latinLnBrk="1"/>
                      <a:endParaRPr lang="ko-KR" altLang="en-US"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base" latinLnBrk="1" hangingPunct="1">
                        <a:lnSpc>
                          <a:spcPct val="100000"/>
                        </a:lnSpc>
                        <a:spcBef>
                          <a:spcPts val="0"/>
                        </a:spcBef>
                        <a:spcAft>
                          <a:spcPts val="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Association analysis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74922263"/>
                  </a:ext>
                </a:extLst>
              </a:tr>
              <a:tr h="314353">
                <a:tc rowSpan="7">
                  <a:txBody>
                    <a:bodyPr/>
                    <a:lstStyle/>
                    <a:p>
                      <a:pPr marL="0" algn="ctr" defTabSz="914400" rtl="0" eaLnBrk="1" latinLnBrk="1" hangingPunct="1">
                        <a:lnSpc>
                          <a:spcPct val="100000"/>
                        </a:lnSpc>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Supervised learning</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ctr" defTabSz="914400" rtl="0" eaLnBrk="1" fontAlgn="base" latinLnBrk="1" hangingPunct="1">
                        <a:lnSpc>
                          <a:spcPct val="100000"/>
                        </a:lnSpc>
                        <a:spcBef>
                          <a:spcPts val="0"/>
                        </a:spcBef>
                        <a:spcAft>
                          <a:spcPts val="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Linear regression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814710559"/>
                  </a:ext>
                </a:extLst>
              </a:tr>
              <a:tr h="314353">
                <a:tc vMerge="1">
                  <a:txBody>
                    <a:bodyPr/>
                    <a:lstStyle/>
                    <a:p>
                      <a:pPr algn="ctr" latinLnBrk="1"/>
                      <a:endParaRPr lang="ko-KR" altLang="en-US"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base" latinLnBrk="1" hangingPunct="1">
                        <a:lnSpc>
                          <a:spcPct val="100000"/>
                        </a:lnSpc>
                        <a:spcBef>
                          <a:spcPts val="0"/>
                        </a:spcBef>
                        <a:spcAft>
                          <a:spcPts val="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Logistic regression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03442805"/>
                  </a:ext>
                </a:extLst>
              </a:tr>
              <a:tr h="269438">
                <a:tc vMerge="1">
                  <a:txBody>
                    <a:bodyPr/>
                    <a:lstStyle/>
                    <a:p>
                      <a:pPr algn="ctr" latinLnBrk="1"/>
                      <a:endParaRPr lang="ko-KR" altLang="en-US"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base" latinLnBrk="1" hangingPunct="1">
                        <a:lnSpc>
                          <a:spcPct val="100000"/>
                        </a:lnSpc>
                        <a:spcBef>
                          <a:spcPts val="0"/>
                        </a:spcBef>
                        <a:spcAft>
                          <a:spcPts val="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Tree, Random Forest, Ada Boost, </a:t>
                      </a: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XGBoost</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90086599"/>
                  </a:ext>
                </a:extLst>
              </a:tr>
              <a:tr h="269438">
                <a:tc vMerge="1">
                  <a:txBody>
                    <a:bodyPr/>
                    <a:lstStyle/>
                    <a:p>
                      <a:pPr latinLnBrk="1"/>
                      <a:endParaRPr lang="ko-KR" altLang="en-US"/>
                    </a:p>
                  </a:txBody>
                  <a:tcPr/>
                </a:tc>
                <a:tc>
                  <a:txBody>
                    <a:bodyPr/>
                    <a:lstStyle/>
                    <a:p>
                      <a:pPr marL="0" marR="0" indent="0" algn="ctr" defTabSz="914400" rtl="0" eaLnBrk="1" fontAlgn="base" latinLnBrk="1" hangingPunct="1">
                        <a:lnSpc>
                          <a:spcPct val="100000"/>
                        </a:lnSpc>
                        <a:spcBef>
                          <a:spcPts val="0"/>
                        </a:spcBef>
                        <a:spcAft>
                          <a:spcPts val="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Naïve Bayes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519402244"/>
                  </a:ext>
                </a:extLst>
              </a:tr>
              <a:tr h="269438">
                <a:tc vMerge="1">
                  <a:txBody>
                    <a:bodyPr/>
                    <a:lstStyle/>
                    <a:p>
                      <a:pPr latinLnBrk="1"/>
                      <a:endParaRPr lang="ko-KR" altLang="en-US"/>
                    </a:p>
                  </a:txBody>
                  <a:tcPr/>
                </a:tc>
                <a:tc>
                  <a:txBody>
                    <a:bodyPr/>
                    <a:lstStyle/>
                    <a:p>
                      <a:pPr marL="0" marR="0" indent="0" algn="ctr" defTabSz="914400" rtl="0" eaLnBrk="1" fontAlgn="base" latinLnBrk="1" hangingPunct="1">
                        <a:lnSpc>
                          <a:spcPct val="100000"/>
                        </a:lnSpc>
                        <a:spcBef>
                          <a:spcPts val="0"/>
                        </a:spcBef>
                        <a:spcAft>
                          <a:spcPts val="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KNN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31141461"/>
                  </a:ext>
                </a:extLst>
              </a:tr>
              <a:tr h="269438">
                <a:tc vMerge="1">
                  <a:txBody>
                    <a:bodyPr/>
                    <a:lstStyle/>
                    <a:p>
                      <a:pPr latinLnBrk="1"/>
                      <a:endParaRPr lang="ko-KR" altLang="en-US"/>
                    </a:p>
                  </a:txBody>
                  <a:tcPr/>
                </a:tc>
                <a:tc>
                  <a:txBody>
                    <a:bodyPr/>
                    <a:lstStyle/>
                    <a:p>
                      <a:pPr marL="0" marR="0" indent="0" algn="ctr" defTabSz="914400" rtl="0" eaLnBrk="1" fontAlgn="base" latinLnBrk="1" hangingPunct="1">
                        <a:lnSpc>
                          <a:spcPct val="100000"/>
                        </a:lnSpc>
                        <a:spcBef>
                          <a:spcPts val="0"/>
                        </a:spcBef>
                        <a:spcAft>
                          <a:spcPts val="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Support vector machine (SVM)</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63476870"/>
                  </a:ext>
                </a:extLst>
              </a:tr>
              <a:tr h="269438">
                <a:tc vMerge="1">
                  <a:txBody>
                    <a:bodyPr/>
                    <a:lstStyle/>
                    <a:p>
                      <a:pPr latinLnBrk="1"/>
                      <a:endParaRPr lang="ko-KR" altLang="en-US"/>
                    </a:p>
                  </a:txBody>
                  <a:tcPr/>
                </a:tc>
                <a:tc>
                  <a:txBody>
                    <a:bodyPr/>
                    <a:lstStyle/>
                    <a:p>
                      <a:pPr marL="0" marR="0" indent="0" algn="ctr" defTabSz="914400" rtl="0" eaLnBrk="1" fontAlgn="base" latinLnBrk="1" hangingPunct="1">
                        <a:lnSpc>
                          <a:spcPct val="100000"/>
                        </a:lnSpc>
                        <a:spcBef>
                          <a:spcPts val="0"/>
                        </a:spcBef>
                        <a:spcAft>
                          <a:spcPts val="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Neural Network</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672304013"/>
                  </a:ext>
                </a:extLst>
              </a:tr>
            </a:tbl>
          </a:graphicData>
        </a:graphic>
      </p:graphicFrame>
    </p:spTree>
    <p:extLst>
      <p:ext uri="{BB962C8B-B14F-4D97-AF65-F5344CB8AC3E}">
        <p14:creationId xmlns:p14="http://schemas.microsoft.com/office/powerpoint/2010/main" val="4287070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1.1. What is Machine Learning?</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Parameters</a:t>
            </a:r>
            <a:r>
              <a:rPr lang="ko-KR" altLang="en-US" sz="2400" dirty="0">
                <a:solidFill>
                  <a:schemeClr val="tx1">
                    <a:lumMod val="95000"/>
                    <a:lumOff val="5000"/>
                  </a:schemeClr>
                </a:solidFill>
                <a:latin typeface="Samsung Sharp Sans" pitchFamily="2" charset="0"/>
                <a:ea typeface="Samsung Sharp Sans" pitchFamily="2" charset="0"/>
                <a:cs typeface="Samsung Sharp Sans" pitchFamily="2" charset="0"/>
              </a:rPr>
              <a:t> </a:t>
            </a:r>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vs. Hyperparameters</a:t>
            </a:r>
          </a:p>
        </p:txBody>
      </p:sp>
      <p:sp>
        <p:nvSpPr>
          <p:cNvPr id="14" name="직사각형 13">
            <a:extLst>
              <a:ext uri="{FF2B5EF4-FFF2-40B4-BE49-F238E27FC236}">
                <a16:creationId xmlns:a16="http://schemas.microsoft.com/office/drawing/2014/main" id="{FA18C629-1018-4158-88B5-E2C18FF12CC3}"/>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Parameters</a:t>
            </a:r>
          </a:p>
        </p:txBody>
      </p:sp>
      <p:sp>
        <p:nvSpPr>
          <p:cNvPr id="8" name="직사각형 7">
            <a:extLst>
              <a:ext uri="{FF2B5EF4-FFF2-40B4-BE49-F238E27FC236}">
                <a16:creationId xmlns:a16="http://schemas.microsoft.com/office/drawing/2014/main" id="{193CC837-AB84-4319-ADB7-123485761295}"/>
              </a:ext>
            </a:extLst>
          </p:cNvPr>
          <p:cNvSpPr/>
          <p:nvPr/>
        </p:nvSpPr>
        <p:spPr>
          <a:xfrm>
            <a:off x="672080" y="2204864"/>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Learned from data by training and not manually set by the practitioner.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Contain the data pattern.</a:t>
            </a:r>
          </a:p>
        </p:txBody>
      </p:sp>
      <p:grpSp>
        <p:nvGrpSpPr>
          <p:cNvPr id="2" name="그룹 1">
            <a:extLst>
              <a:ext uri="{FF2B5EF4-FFF2-40B4-BE49-F238E27FC236}">
                <a16:creationId xmlns:a16="http://schemas.microsoft.com/office/drawing/2014/main" id="{41129347-BFB2-419D-93AF-297068D82D57}"/>
              </a:ext>
            </a:extLst>
          </p:cNvPr>
          <p:cNvGrpSpPr/>
          <p:nvPr/>
        </p:nvGrpSpPr>
        <p:grpSpPr>
          <a:xfrm>
            <a:off x="850766" y="2893643"/>
            <a:ext cx="6979589" cy="664794"/>
            <a:chOff x="850766" y="2893643"/>
            <a:chExt cx="6979589" cy="664794"/>
          </a:xfrm>
        </p:grpSpPr>
        <p:sp>
          <p:nvSpPr>
            <p:cNvPr id="9" name="사각형: 둥근 모서리 2">
              <a:extLst>
                <a:ext uri="{FF2B5EF4-FFF2-40B4-BE49-F238E27FC236}">
                  <a16:creationId xmlns:a16="http://schemas.microsoft.com/office/drawing/2014/main" id="{9BC0D956-C00C-48ED-A64D-E96964C486C8}"/>
                </a:ext>
              </a:extLst>
            </p:cNvPr>
            <p:cNvSpPr/>
            <p:nvPr/>
          </p:nvSpPr>
          <p:spPr>
            <a:xfrm>
              <a:off x="850766" y="2954540"/>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10" name="직사각형 9">
              <a:extLst>
                <a:ext uri="{FF2B5EF4-FFF2-40B4-BE49-F238E27FC236}">
                  <a16:creationId xmlns:a16="http://schemas.microsoft.com/office/drawing/2014/main" id="{DAD51145-85D8-46E5-BE51-BBD06C0D24AB}"/>
                </a:ext>
              </a:extLst>
            </p:cNvPr>
            <p:cNvSpPr/>
            <p:nvPr/>
          </p:nvSpPr>
          <p:spPr>
            <a:xfrm>
              <a:off x="1226264" y="2893643"/>
              <a:ext cx="660409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indent="14288">
                <a:spcAft>
                  <a:spcPts val="800"/>
                </a:spcAft>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Coefficients of linear regression</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sym typeface="Symbol" panose="05050102010706020507" pitchFamily="18" charset="2"/>
              </a:endParaRPr>
            </a:p>
          </p:txBody>
        </p:sp>
        <p:sp>
          <p:nvSpPr>
            <p:cNvPr id="11" name="사각형: 둥근 모서리 2">
              <a:extLst>
                <a:ext uri="{FF2B5EF4-FFF2-40B4-BE49-F238E27FC236}">
                  <a16:creationId xmlns:a16="http://schemas.microsoft.com/office/drawing/2014/main" id="{3D0062C8-964B-4170-B7B9-537E81AA5144}"/>
                </a:ext>
              </a:extLst>
            </p:cNvPr>
            <p:cNvSpPr/>
            <p:nvPr/>
          </p:nvSpPr>
          <p:spPr>
            <a:xfrm>
              <a:off x="850766" y="3273873"/>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12" name="직사각형 11">
              <a:extLst>
                <a:ext uri="{FF2B5EF4-FFF2-40B4-BE49-F238E27FC236}">
                  <a16:creationId xmlns:a16="http://schemas.microsoft.com/office/drawing/2014/main" id="{16749F05-CC10-43C7-A553-C9BE6E8B58F2}"/>
                </a:ext>
              </a:extLst>
            </p:cNvPr>
            <p:cNvSpPr/>
            <p:nvPr/>
          </p:nvSpPr>
          <p:spPr>
            <a:xfrm>
              <a:off x="1226264" y="3212976"/>
              <a:ext cx="660409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indent="14288">
                <a:spcAft>
                  <a:spcPts val="800"/>
                </a:spcAft>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Weights of neural network</a:t>
              </a:r>
            </a:p>
          </p:txBody>
        </p:sp>
      </p:grpSp>
      <p:sp>
        <p:nvSpPr>
          <p:cNvPr id="15" name="직사각형 14">
            <a:extLst>
              <a:ext uri="{FF2B5EF4-FFF2-40B4-BE49-F238E27FC236}">
                <a16:creationId xmlns:a16="http://schemas.microsoft.com/office/drawing/2014/main" id="{535B6801-1A92-4095-8D20-3E2371A6934F}"/>
              </a:ext>
            </a:extLst>
          </p:cNvPr>
          <p:cNvSpPr/>
          <p:nvPr/>
        </p:nvSpPr>
        <p:spPr>
          <a:xfrm>
            <a:off x="558800" y="371703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Hyperparameters</a:t>
            </a:r>
          </a:p>
        </p:txBody>
      </p:sp>
      <p:sp>
        <p:nvSpPr>
          <p:cNvPr id="16" name="직사각형 15">
            <a:extLst>
              <a:ext uri="{FF2B5EF4-FFF2-40B4-BE49-F238E27FC236}">
                <a16:creationId xmlns:a16="http://schemas.microsoft.com/office/drawing/2014/main" id="{61E90A5E-AE24-4FC6-9438-A45533F308E0}"/>
              </a:ext>
            </a:extLst>
          </p:cNvPr>
          <p:cNvSpPr/>
          <p:nvPr/>
        </p:nvSpPr>
        <p:spPr>
          <a:xfrm>
            <a:off x="672080" y="4005064"/>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b="1" dirty="0">
                <a:solidFill>
                  <a:srgbClr val="1429A0"/>
                </a:solidFill>
                <a:latin typeface="SamsungOne 400" panose="020B0503030303020204" pitchFamily="34" charset="0"/>
                <a:ea typeface="SamsungOne 400" panose="020B0503030303020204" pitchFamily="34" charset="0"/>
              </a:rPr>
              <a:t>Can be set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manually by the practitioner.</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Can be tuned to optimize the machine learning performance.</a:t>
            </a:r>
          </a:p>
        </p:txBody>
      </p:sp>
      <p:grpSp>
        <p:nvGrpSpPr>
          <p:cNvPr id="17" name="그룹 16">
            <a:extLst>
              <a:ext uri="{FF2B5EF4-FFF2-40B4-BE49-F238E27FC236}">
                <a16:creationId xmlns:a16="http://schemas.microsoft.com/office/drawing/2014/main" id="{FFF1DC15-762C-4186-A8EA-3CDFDF20E7C9}"/>
              </a:ext>
            </a:extLst>
          </p:cNvPr>
          <p:cNvGrpSpPr/>
          <p:nvPr/>
        </p:nvGrpSpPr>
        <p:grpSpPr>
          <a:xfrm>
            <a:off x="850766" y="4693843"/>
            <a:ext cx="6979589" cy="974170"/>
            <a:chOff x="850766" y="2893643"/>
            <a:chExt cx="6979589" cy="974170"/>
          </a:xfrm>
        </p:grpSpPr>
        <p:sp>
          <p:nvSpPr>
            <p:cNvPr id="18" name="사각형: 둥근 모서리 2">
              <a:extLst>
                <a:ext uri="{FF2B5EF4-FFF2-40B4-BE49-F238E27FC236}">
                  <a16:creationId xmlns:a16="http://schemas.microsoft.com/office/drawing/2014/main" id="{33636FE0-DB0C-4BDF-B99B-014C0A76D8FE}"/>
                </a:ext>
              </a:extLst>
            </p:cNvPr>
            <p:cNvSpPr/>
            <p:nvPr/>
          </p:nvSpPr>
          <p:spPr>
            <a:xfrm>
              <a:off x="850766" y="2954540"/>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mc:AlternateContent xmlns:mc="http://schemas.openxmlformats.org/markup-compatibility/2006" xmlns:a14="http://schemas.microsoft.com/office/drawing/2010/main">
          <mc:Choice Requires="a14">
            <p:sp>
              <p:nvSpPr>
                <p:cNvPr id="19" name="직사각형 18">
                  <a:extLst>
                    <a:ext uri="{FF2B5EF4-FFF2-40B4-BE49-F238E27FC236}">
                      <a16:creationId xmlns:a16="http://schemas.microsoft.com/office/drawing/2014/main" id="{04F7AE97-1B1C-4697-BE57-3A867963777C}"/>
                    </a:ext>
                  </a:extLst>
                </p:cNvPr>
                <p:cNvSpPr/>
                <p:nvPr/>
              </p:nvSpPr>
              <p:spPr>
                <a:xfrm>
                  <a:off x="1226264" y="2893643"/>
                  <a:ext cx="660409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indent="14288">
                    <a:spcAft>
                      <a:spcPts val="800"/>
                    </a:spcAft>
                  </a:pPr>
                  <a14:m>
                    <m:oMath xmlns:m="http://schemas.openxmlformats.org/officeDocument/2006/math">
                      <m:r>
                        <a:rPr lang="ko-KR" altLang="en-US" sz="1300" i="1" smtClean="0">
                          <a:solidFill>
                            <a:schemeClr val="tx1">
                              <a:lumMod val="85000"/>
                              <a:lumOff val="15000"/>
                            </a:schemeClr>
                          </a:solidFill>
                          <a:latin typeface="Cambria Math" panose="02040503050406030204" pitchFamily="18" charset="0"/>
                        </a:rPr>
                        <m:t>𝑘</m:t>
                      </m:r>
                    </m:oMath>
                  </a14:m>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KNN algorithm </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sym typeface="Symbol" panose="05050102010706020507" pitchFamily="18" charset="2"/>
                  </a:endParaRPr>
                </a:p>
              </p:txBody>
            </p:sp>
          </mc:Choice>
          <mc:Fallback xmlns="">
            <p:sp>
              <p:nvSpPr>
                <p:cNvPr id="19" name="직사각형 18">
                  <a:extLst>
                    <a:ext uri="{FF2B5EF4-FFF2-40B4-BE49-F238E27FC236}">
                      <a16:creationId xmlns:a16="http://schemas.microsoft.com/office/drawing/2014/main" xmlns="" xmlns:a14="http://schemas.microsoft.com/office/drawing/2010/main" id="{04F7AE97-1B1C-4697-BE57-3A867963777C}"/>
                    </a:ext>
                  </a:extLst>
                </p:cNvPr>
                <p:cNvSpPr>
                  <a:spLocks noRot="1" noChangeAspect="1" noMove="1" noResize="1" noEditPoints="1" noAdjustHandles="1" noChangeArrowheads="1" noChangeShapeType="1" noTextEdit="1"/>
                </p:cNvSpPr>
                <p:nvPr/>
              </p:nvSpPr>
              <p:spPr>
                <a:xfrm>
                  <a:off x="1226264" y="2893643"/>
                  <a:ext cx="6604091" cy="345461"/>
                </a:xfrm>
                <a:prstGeom prst="rect">
                  <a:avLst/>
                </a:prstGeom>
                <a:blipFill rotWithShape="0">
                  <a:blip r:embed="rId4"/>
                  <a:stretch>
                    <a:fillRect/>
                  </a:stretch>
                </a:blipFill>
                <a:ln>
                  <a:noFill/>
                </a:ln>
              </p:spPr>
              <p:txBody>
                <a:bodyPr/>
                <a:lstStyle/>
                <a:p>
                  <a:r>
                    <a:rPr lang="ko-KR" altLang="en-US">
                      <a:noFill/>
                    </a:rPr>
                    <a:t> </a:t>
                  </a:r>
                </a:p>
              </p:txBody>
            </p:sp>
          </mc:Fallback>
        </mc:AlternateContent>
        <p:sp>
          <p:nvSpPr>
            <p:cNvPr id="20" name="사각형: 둥근 모서리 2">
              <a:extLst>
                <a:ext uri="{FF2B5EF4-FFF2-40B4-BE49-F238E27FC236}">
                  <a16:creationId xmlns:a16="http://schemas.microsoft.com/office/drawing/2014/main" id="{1E44798E-AC76-4144-8100-89FA360BB15A}"/>
                </a:ext>
              </a:extLst>
            </p:cNvPr>
            <p:cNvSpPr/>
            <p:nvPr/>
          </p:nvSpPr>
          <p:spPr>
            <a:xfrm>
              <a:off x="850766" y="3274897"/>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21" name="직사각형 20">
              <a:extLst>
                <a:ext uri="{FF2B5EF4-FFF2-40B4-BE49-F238E27FC236}">
                  <a16:creationId xmlns:a16="http://schemas.microsoft.com/office/drawing/2014/main" id="{1C65626E-A462-4DC7-B89E-E6FDAE53438B}"/>
                </a:ext>
              </a:extLst>
            </p:cNvPr>
            <p:cNvSpPr/>
            <p:nvPr/>
          </p:nvSpPr>
          <p:spPr>
            <a:xfrm>
              <a:off x="1226264" y="3214000"/>
              <a:ext cx="660409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indent="14288">
                <a:spcAft>
                  <a:spcPts val="800"/>
                </a:spcAft>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Learning rate in neural network</a:t>
              </a:r>
            </a:p>
          </p:txBody>
        </p:sp>
        <p:sp>
          <p:nvSpPr>
            <p:cNvPr id="22" name="사각형: 둥근 모서리 2">
              <a:extLst>
                <a:ext uri="{FF2B5EF4-FFF2-40B4-BE49-F238E27FC236}">
                  <a16:creationId xmlns:a16="http://schemas.microsoft.com/office/drawing/2014/main" id="{6FBF7A1E-F1B8-483A-9B31-CF232307EAFF}"/>
                </a:ext>
              </a:extLst>
            </p:cNvPr>
            <p:cNvSpPr/>
            <p:nvPr/>
          </p:nvSpPr>
          <p:spPr>
            <a:xfrm>
              <a:off x="850766" y="3583249"/>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27" name="직사각형 26">
              <a:extLst>
                <a:ext uri="{FF2B5EF4-FFF2-40B4-BE49-F238E27FC236}">
                  <a16:creationId xmlns:a16="http://schemas.microsoft.com/office/drawing/2014/main" id="{7197613B-BA5F-4BBA-82B6-D941EF69A24C}"/>
                </a:ext>
              </a:extLst>
            </p:cNvPr>
            <p:cNvSpPr/>
            <p:nvPr/>
          </p:nvSpPr>
          <p:spPr>
            <a:xfrm>
              <a:off x="1226264" y="3522352"/>
              <a:ext cx="660409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indent="14288">
                <a:spcAft>
                  <a:spcPts val="800"/>
                </a:spcAft>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Maximum depth in Tree algorithm </a:t>
              </a:r>
            </a:p>
          </p:txBody>
        </p:sp>
      </p:grpSp>
    </p:spTree>
    <p:extLst>
      <p:ext uri="{BB962C8B-B14F-4D97-AF65-F5344CB8AC3E}">
        <p14:creationId xmlns:p14="http://schemas.microsoft.com/office/powerpoint/2010/main" val="365418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33">
            <a:extLst>
              <a:ext uri="{FF2B5EF4-FFF2-40B4-BE49-F238E27FC236}">
                <a16:creationId xmlns:a16="http://schemas.microsoft.com/office/drawing/2014/main" id="{551F01E8-8777-4A7B-AD71-63E7C805C68C}"/>
              </a:ext>
            </a:extLst>
          </p:cNvPr>
          <p:cNvSpPr/>
          <p:nvPr/>
        </p:nvSpPr>
        <p:spPr>
          <a:xfrm>
            <a:off x="989683" y="3133792"/>
            <a:ext cx="8913142"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Machine Learning Based Data Analysis</a:t>
            </a:r>
            <a:endParaRPr kumimoji="1" lang="ko-KR" altLang="en-US" sz="3200" dirty="0">
              <a:solidFill>
                <a:prstClr val="black"/>
              </a:solidFill>
              <a:latin typeface="Samsung Sharp Sans" pitchFamily="2" charset="0"/>
              <a:ea typeface="맑은 고딕" panose="020B0503020000020004" pitchFamily="50" charset="-127"/>
              <a:cs typeface="Samsung Sharp Sans" pitchFamily="2" charset="0"/>
            </a:endParaRP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1.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17" name="직사각형 16">
            <a:extLst>
              <a:ext uri="{FF2B5EF4-FFF2-40B4-BE49-F238E27FC236}">
                <a16:creationId xmlns:a16="http://schemas.microsoft.com/office/drawing/2014/main" id="{88522452-0F25-4CFF-B4F1-4F97F94CF66D}"/>
              </a:ext>
            </a:extLst>
          </p:cNvPr>
          <p:cNvSpPr/>
          <p:nvPr/>
        </p:nvSpPr>
        <p:spPr>
          <a:xfrm>
            <a:off x="1054111" y="3929021"/>
            <a:ext cx="8397801" cy="1897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rPr>
              <a:t>1.1. What is Machine Learning?</a:t>
            </a: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1.2. Python </a:t>
            </a:r>
            <a:r>
              <a:rPr kumimoji="1" lang="en-US" altLang="ko-KR" dirty="0" err="1">
                <a:solidFill>
                  <a:prstClr val="black">
                    <a:lumMod val="75000"/>
                    <a:lumOff val="25000"/>
                  </a:prstClr>
                </a:solidFill>
                <a:latin typeface="SamsungOne-700" panose="020B0803030303020204" pitchFamily="34" charset="0"/>
                <a:ea typeface="SamsungOne-700" panose="020B0803030303020204" pitchFamily="34" charset="0"/>
              </a:rPr>
              <a:t>scikit</a:t>
            </a: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-learn Library for Machine Learning </a:t>
            </a:r>
          </a:p>
          <a:p>
            <a:pPr marL="176213" marR="0" lvl="0" indent="-176213" fontAlgn="base">
              <a:lnSpc>
                <a:spcPct val="100000"/>
              </a:lnSpc>
              <a:spcBef>
                <a:spcPct val="0"/>
              </a:spcBef>
              <a:spcAft>
                <a:spcPts val="1000"/>
              </a:spcAft>
              <a:buClrTx/>
              <a:buSzPct val="120000"/>
              <a:buBlip>
                <a:blip r:embed="rId3"/>
              </a:buBlip>
              <a:tabLst/>
              <a:defRPr/>
            </a:pPr>
            <a:r>
              <a:rPr lang="en-US" altLang="ko-KR" dirty="0">
                <a:solidFill>
                  <a:srgbClr val="A6A6A6"/>
                </a:solidFill>
                <a:latin typeface="SamsungOne 400" panose="020B0503030303020204" pitchFamily="34" charset="0"/>
              </a:rPr>
              <a:t>1.3. Preparation and Division of Dataset</a:t>
            </a:r>
            <a:endParaRPr lang="ko-KR" altLang="en-US" dirty="0">
              <a:solidFill>
                <a:srgbClr val="A6A6A6"/>
              </a:solidFill>
              <a:latin typeface="SamsungOne 400" panose="020B0503030303020204" pitchFamily="34" charset="0"/>
            </a:endParaRPr>
          </a:p>
          <a:p>
            <a:pPr marL="176213" marR="0" lvl="0" indent="-176213" fontAlgn="base">
              <a:lnSpc>
                <a:spcPct val="100000"/>
              </a:lnSpc>
              <a:spcBef>
                <a:spcPct val="0"/>
              </a:spcBef>
              <a:spcAft>
                <a:spcPts val="1000"/>
              </a:spcAft>
              <a:buClrTx/>
              <a:buSzPct val="120000"/>
              <a:buBlip>
                <a:blip r:embed="rId3"/>
              </a:buBlip>
              <a:tabLst/>
              <a:defRPr/>
            </a:pPr>
            <a:r>
              <a:rPr lang="en-US" altLang="ko-KR" dirty="0">
                <a:solidFill>
                  <a:srgbClr val="A6A6A6"/>
                </a:solidFill>
                <a:latin typeface="SamsungOne 400" panose="020B0503030303020204" pitchFamily="34" charset="0"/>
              </a:rPr>
              <a:t>1.4. Data Pre-processing for Making a Good Training Dataset</a:t>
            </a:r>
            <a:endParaRPr lang="ko-KR" altLang="en-US" dirty="0">
              <a:solidFill>
                <a:srgbClr val="A6A6A6"/>
              </a:solidFill>
              <a:latin typeface="SamsungOne 400" panose="020B0503030303020204" pitchFamily="34" charset="0"/>
            </a:endParaRPr>
          </a:p>
          <a:p>
            <a:pPr marL="176213" marR="0" lvl="0" indent="-176213" fontAlgn="base">
              <a:lnSpc>
                <a:spcPct val="100000"/>
              </a:lnSpc>
              <a:spcBef>
                <a:spcPct val="0"/>
              </a:spcBef>
              <a:spcAft>
                <a:spcPts val="1000"/>
              </a:spcAft>
              <a:buClrTx/>
              <a:buSzPct val="120000"/>
              <a:buBlip>
                <a:blip r:embed="rId3"/>
              </a:buBlip>
              <a:tabLst/>
              <a:defRPr/>
            </a:pPr>
            <a:r>
              <a:rPr lang="en-US" altLang="ko-KR" dirty="0">
                <a:solidFill>
                  <a:srgbClr val="A6A6A6"/>
                </a:solidFill>
                <a:latin typeface="SamsungOne 400" panose="020B0503030303020204" pitchFamily="34" charset="0"/>
              </a:rPr>
              <a:t>1.5. Practicing to Find an Optimal Method to Solve Problems with </a:t>
            </a:r>
            <a:r>
              <a:rPr lang="en-US" altLang="ko-KR" dirty="0" err="1">
                <a:solidFill>
                  <a:srgbClr val="A6A6A6"/>
                </a:solidFill>
                <a:latin typeface="SamsungOne 400" panose="020B0503030303020204" pitchFamily="34" charset="0"/>
              </a:rPr>
              <a:t>scikit</a:t>
            </a:r>
            <a:r>
              <a:rPr lang="en-US" altLang="ko-KR" dirty="0">
                <a:solidFill>
                  <a:srgbClr val="A6A6A6"/>
                </a:solidFill>
                <a:latin typeface="SamsungOne 400" panose="020B0503030303020204" pitchFamily="34" charset="0"/>
              </a:rPr>
              <a:t>-learn</a:t>
            </a:r>
            <a:endParaRPr lang="ko-KR" altLang="en-US" dirty="0">
              <a:solidFill>
                <a:srgbClr val="A6A6A6"/>
              </a:solidFill>
              <a:latin typeface="SamsungOne 400" panose="020B0503030303020204" pitchFamily="34" charset="0"/>
            </a:endParaRPr>
          </a:p>
        </p:txBody>
      </p:sp>
    </p:spTree>
    <p:extLst>
      <p:ext uri="{BB962C8B-B14F-4D97-AF65-F5344CB8AC3E}">
        <p14:creationId xmlns:p14="http://schemas.microsoft.com/office/powerpoint/2010/main" val="399819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Features of the </a:t>
            </a:r>
            <a:r>
              <a:rPr lang="en-US" altLang="ko-KR" sz="2400" dirty="0" err="1">
                <a:solidFill>
                  <a:schemeClr val="tx1">
                    <a:lumMod val="95000"/>
                    <a:lumOff val="5000"/>
                  </a:schemeClr>
                </a:solidFill>
                <a:latin typeface="Samsung Sharp Sans" pitchFamily="2" charset="0"/>
                <a:ea typeface="Samsung Sharp Sans" pitchFamily="2" charset="0"/>
                <a:cs typeface="Samsung Sharp Sans" pitchFamily="2" charset="0"/>
              </a:rPr>
              <a:t>scikit</a:t>
            </a:r>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-learn library</a:t>
            </a:r>
            <a:endParaRPr lang="ko-KR" altLang="en-US" sz="2400" dirty="0">
              <a:solidFill>
                <a:schemeClr val="tx1">
                  <a:lumMod val="95000"/>
                  <a:lumOff val="5000"/>
                </a:schemeClr>
              </a:solidFill>
              <a:latin typeface="Samsung Sharp Sans" pitchFamily="2" charset="0"/>
              <a:ea typeface="Samsung Sharp Sans" pitchFamily="2" charset="0"/>
              <a:cs typeface="Samsung Sharp Sans" pitchFamily="2" charset="0"/>
            </a:endParaRPr>
          </a:p>
        </p:txBody>
      </p:sp>
      <p:sp>
        <p:nvSpPr>
          <p:cNvPr id="14" name="직사각형 13">
            <a:extLst>
              <a:ext uri="{FF2B5EF4-FFF2-40B4-BE49-F238E27FC236}">
                <a16:creationId xmlns:a16="http://schemas.microsoft.com/office/drawing/2014/main" id="{FA18C629-1018-4158-88B5-E2C18FF12CC3}"/>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Features</a:t>
            </a:r>
          </a:p>
        </p:txBody>
      </p:sp>
      <p:sp>
        <p:nvSpPr>
          <p:cNvPr id="8" name="직사각형 7">
            <a:extLst>
              <a:ext uri="{FF2B5EF4-FFF2-40B4-BE49-F238E27FC236}">
                <a16:creationId xmlns:a16="http://schemas.microsoft.com/office/drawing/2014/main" id="{DAF6C85F-9794-4DE8-9466-6667B37819A8}"/>
              </a:ext>
            </a:extLst>
          </p:cNvPr>
          <p:cNvSpPr/>
          <p:nvPr/>
        </p:nvSpPr>
        <p:spPr>
          <a:xfrm>
            <a:off x="672080" y="2204864"/>
            <a:ext cx="8632825" cy="2463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Integrated library interface by applying the façade design pattern</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Installed with various kinds of machine learning algorithms, model selection, and data pre-processing functions</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Simple and efficient tool to analyze predicted data</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Based on NumPy, SciPy and</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matplotlib</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Easily accessible and can be reused in many different situations</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Highly compatible with different libraries</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Does not support GPU</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Can be used as an open source and for commercial purposes</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spTree>
    <p:extLst>
      <p:ext uri="{BB962C8B-B14F-4D97-AF65-F5344CB8AC3E}">
        <p14:creationId xmlns:p14="http://schemas.microsoft.com/office/powerpoint/2010/main" val="2552485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Mechanism of </a:t>
            </a:r>
            <a:r>
              <a:rPr lang="en-US" altLang="ko-KR" sz="2400" dirty="0" err="1">
                <a:solidFill>
                  <a:schemeClr val="tx1">
                    <a:lumMod val="95000"/>
                    <a:lumOff val="5000"/>
                  </a:schemeClr>
                </a:solidFill>
                <a:latin typeface="Samsung Sharp Sans" pitchFamily="2" charset="0"/>
                <a:ea typeface="Samsung Sharp Sans" pitchFamily="2" charset="0"/>
                <a:cs typeface="Samsung Sharp Sans" pitchFamily="2" charset="0"/>
              </a:rPr>
              <a:t>scikit</a:t>
            </a:r>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-learn</a:t>
            </a:r>
            <a:endParaRPr lang="ko-KR" altLang="en-US" sz="2400" dirty="0">
              <a:solidFill>
                <a:schemeClr val="tx1">
                  <a:lumMod val="95000"/>
                  <a:lumOff val="5000"/>
                </a:schemeClr>
              </a:solidFill>
              <a:latin typeface="Samsung Sharp Sans" pitchFamily="2" charset="0"/>
              <a:ea typeface="Samsung Sharp Sans" pitchFamily="2" charset="0"/>
              <a:cs typeface="Samsung Sharp Sans" pitchFamily="2" charset="0"/>
            </a:endParaRPr>
          </a:p>
        </p:txBody>
      </p:sp>
      <p:grpSp>
        <p:nvGrpSpPr>
          <p:cNvPr id="2" name="그룹 1">
            <a:extLst>
              <a:ext uri="{FF2B5EF4-FFF2-40B4-BE49-F238E27FC236}">
                <a16:creationId xmlns:a16="http://schemas.microsoft.com/office/drawing/2014/main" id="{99D11472-A183-4A91-B45D-815300DB3FAB}"/>
              </a:ext>
            </a:extLst>
          </p:cNvPr>
          <p:cNvGrpSpPr/>
          <p:nvPr/>
        </p:nvGrpSpPr>
        <p:grpSpPr>
          <a:xfrm>
            <a:off x="1926289" y="2636912"/>
            <a:ext cx="5832648" cy="1512000"/>
            <a:chOff x="2035089" y="2654620"/>
            <a:chExt cx="5832648" cy="1512000"/>
          </a:xfrm>
        </p:grpSpPr>
        <p:sp>
          <p:nvSpPr>
            <p:cNvPr id="9" name="모서리가 둥근 직사각형 1">
              <a:extLst>
                <a:ext uri="{FF2B5EF4-FFF2-40B4-BE49-F238E27FC236}">
                  <a16:creationId xmlns:a16="http://schemas.microsoft.com/office/drawing/2014/main" id="{99C57354-B465-4FD9-ABFF-46A44280DC33}"/>
                </a:ext>
              </a:extLst>
            </p:cNvPr>
            <p:cNvSpPr/>
            <p:nvPr/>
          </p:nvSpPr>
          <p:spPr>
            <a:xfrm>
              <a:off x="2035089" y="2654620"/>
              <a:ext cx="1512168" cy="15120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600" b="1" dirty="0">
                  <a:solidFill>
                    <a:srgbClr val="FFFFFF"/>
                  </a:solidFill>
                  <a:latin typeface="SamsungOne 400" panose="020B0503030303020204" pitchFamily="34" charset="0"/>
                  <a:ea typeface="SamsungOne 400" panose="020B0503030303020204" pitchFamily="34" charset="0"/>
                </a:rPr>
                <a:t>Instance</a:t>
              </a:r>
            </a:p>
          </p:txBody>
        </p:sp>
        <p:sp>
          <p:nvSpPr>
            <p:cNvPr id="10" name="모서리가 둥근 직사각형 11">
              <a:extLst>
                <a:ext uri="{FF2B5EF4-FFF2-40B4-BE49-F238E27FC236}">
                  <a16:creationId xmlns:a16="http://schemas.microsoft.com/office/drawing/2014/main" id="{75FA1DB4-2710-4D06-A207-F5E8BE123BEA}"/>
                </a:ext>
              </a:extLst>
            </p:cNvPr>
            <p:cNvSpPr/>
            <p:nvPr/>
          </p:nvSpPr>
          <p:spPr>
            <a:xfrm>
              <a:off x="4195329" y="2654620"/>
              <a:ext cx="1512168" cy="15120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600" b="1" dirty="0">
                  <a:solidFill>
                    <a:srgbClr val="FFFFFF"/>
                  </a:solidFill>
                  <a:latin typeface="SamsungOne 400" panose="020B0503030303020204" pitchFamily="34" charset="0"/>
                  <a:ea typeface="SamsungOne 400" panose="020B0503030303020204" pitchFamily="34" charset="0"/>
                </a:rPr>
                <a:t>Fit</a:t>
              </a:r>
              <a:endParaRPr lang="en-US" sz="1600" b="1" dirty="0">
                <a:solidFill>
                  <a:srgbClr val="FFFFFF"/>
                </a:solidFill>
                <a:latin typeface="SamsungOne 400" panose="020B0503030303020204" pitchFamily="34" charset="0"/>
                <a:ea typeface="SamsungOne 400" panose="020B0503030303020204" pitchFamily="34" charset="0"/>
              </a:endParaRPr>
            </a:p>
          </p:txBody>
        </p:sp>
        <p:sp>
          <p:nvSpPr>
            <p:cNvPr id="11" name="모서리가 둥근 직사각형 15">
              <a:extLst>
                <a:ext uri="{FF2B5EF4-FFF2-40B4-BE49-F238E27FC236}">
                  <a16:creationId xmlns:a16="http://schemas.microsoft.com/office/drawing/2014/main" id="{5A457F65-6DC3-4BA1-BA51-E06D1157AC8D}"/>
                </a:ext>
              </a:extLst>
            </p:cNvPr>
            <p:cNvSpPr/>
            <p:nvPr/>
          </p:nvSpPr>
          <p:spPr>
            <a:xfrm>
              <a:off x="6355569" y="2654620"/>
              <a:ext cx="1512168" cy="15120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600" b="1" dirty="0">
                  <a:solidFill>
                    <a:srgbClr val="FFFFFF"/>
                  </a:solidFill>
                  <a:latin typeface="SamsungOne 400" panose="020B0503030303020204" pitchFamily="34" charset="0"/>
                  <a:ea typeface="SamsungOne 400" panose="020B0503030303020204" pitchFamily="34" charset="0"/>
                </a:rPr>
                <a:t>Predict /</a:t>
              </a:r>
            </a:p>
            <a:p>
              <a:pPr algn="ctr"/>
              <a:r>
                <a:rPr lang="en-US" sz="1600" b="1" dirty="0">
                  <a:solidFill>
                    <a:srgbClr val="FFFFFF"/>
                  </a:solidFill>
                  <a:latin typeface="SamsungOne 400" panose="020B0503030303020204" pitchFamily="34" charset="0"/>
                  <a:ea typeface="SamsungOne 400" panose="020B0503030303020204" pitchFamily="34" charset="0"/>
                </a:rPr>
                <a:t>transform</a:t>
              </a:r>
            </a:p>
          </p:txBody>
        </p:sp>
        <p:sp>
          <p:nvSpPr>
            <p:cNvPr id="12" name="오른쪽 화살표 3">
              <a:extLst>
                <a:ext uri="{FF2B5EF4-FFF2-40B4-BE49-F238E27FC236}">
                  <a16:creationId xmlns:a16="http://schemas.microsoft.com/office/drawing/2014/main" id="{C8B5D100-CDE4-4582-98CB-F96CCBBEB971}"/>
                </a:ext>
              </a:extLst>
            </p:cNvPr>
            <p:cNvSpPr/>
            <p:nvPr/>
          </p:nvSpPr>
          <p:spPr>
            <a:xfrm>
              <a:off x="3691273" y="3230600"/>
              <a:ext cx="360040" cy="360040"/>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 name="오른쪽 화살표 16">
              <a:extLst>
                <a:ext uri="{FF2B5EF4-FFF2-40B4-BE49-F238E27FC236}">
                  <a16:creationId xmlns:a16="http://schemas.microsoft.com/office/drawing/2014/main" id="{075E7AFD-BEB7-47E7-9852-2FE17BF4E313}"/>
                </a:ext>
              </a:extLst>
            </p:cNvPr>
            <p:cNvSpPr/>
            <p:nvPr/>
          </p:nvSpPr>
          <p:spPr>
            <a:xfrm>
              <a:off x="5851513" y="3230600"/>
              <a:ext cx="360040" cy="360040"/>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15" name="직사각형 14">
            <a:extLst>
              <a:ext uri="{FF2B5EF4-FFF2-40B4-BE49-F238E27FC236}">
                <a16:creationId xmlns:a16="http://schemas.microsoft.com/office/drawing/2014/main" id="{FA18C629-1018-4158-88B5-E2C18FF12CC3}"/>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 is characterized by its intuitive and easy interface, complete with high-level API. </a:t>
            </a:r>
          </a:p>
        </p:txBody>
      </p:sp>
    </p:spTree>
    <p:extLst>
      <p:ext uri="{BB962C8B-B14F-4D97-AF65-F5344CB8AC3E}">
        <p14:creationId xmlns:p14="http://schemas.microsoft.com/office/powerpoint/2010/main" val="3471007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354C6744-A544-49B6-A439-70B51CB29506}"/>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err="1">
                <a:solidFill>
                  <a:schemeClr val="tx1">
                    <a:lumMod val="95000"/>
                    <a:lumOff val="5000"/>
                  </a:schemeClr>
                </a:solidFill>
                <a:latin typeface="Samsung Sharp Sans" pitchFamily="2" charset="0"/>
                <a:ea typeface="Samsung Sharp Sans" pitchFamily="2" charset="0"/>
                <a:cs typeface="Samsung Sharp Sans" pitchFamily="2" charset="0"/>
              </a:rPr>
              <a:t>scikit</a:t>
            </a:r>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-learn Library</a:t>
            </a:r>
            <a:endParaRPr lang="ko-KR" altLang="en-US" sz="2400" dirty="0">
              <a:solidFill>
                <a:schemeClr val="tx1">
                  <a:lumMod val="95000"/>
                  <a:lumOff val="5000"/>
                </a:schemeClr>
              </a:solidFill>
              <a:latin typeface="Samsung Sharp Sans" pitchFamily="2" charset="0"/>
              <a:ea typeface="Samsung Sharp Sans" pitchFamily="2" charset="0"/>
              <a:cs typeface="Samsung Sharp Sans" pitchFamily="2" charset="0"/>
            </a:endParaRPr>
          </a:p>
        </p:txBody>
      </p:sp>
      <p:sp>
        <p:nvSpPr>
          <p:cNvPr id="31" name="직사각형 30">
            <a:extLst>
              <a:ext uri="{FF2B5EF4-FFF2-40B4-BE49-F238E27FC236}">
                <a16:creationId xmlns:a16="http://schemas.microsoft.com/office/drawing/2014/main" id="{790C6A48-B1CF-4F17-AEB1-C61C4EE812B0}"/>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the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 library</a:t>
            </a:r>
          </a:p>
        </p:txBody>
      </p:sp>
      <p:sp>
        <p:nvSpPr>
          <p:cNvPr id="32" name="직사각형 31">
            <a:extLst>
              <a:ext uri="{FF2B5EF4-FFF2-40B4-BE49-F238E27FC236}">
                <a16:creationId xmlns:a16="http://schemas.microsoft.com/office/drawing/2014/main" id="{7778EC12-B0BC-4470-A178-00B3D1BDB9BB}"/>
              </a:ext>
            </a:extLst>
          </p:cNvPr>
          <p:cNvSpPr/>
          <p:nvPr/>
        </p:nvSpPr>
        <p:spPr>
          <a:xfrm>
            <a:off x="672080" y="2204864"/>
            <a:ext cx="8632825" cy="18586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It is a representative Python machine learning library.</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To import a machine learning algorithm as a class:</a:t>
            </a:r>
          </a:p>
          <a:p>
            <a:pPr marL="182563">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from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sklearn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.&lt;</a:t>
            </a:r>
            <a:r>
              <a:rPr lang="en-US" altLang="ko-KR" sz="1300" dirty="0">
                <a:solidFill>
                  <a:srgbClr val="00B050"/>
                </a:solidFill>
                <a:latin typeface="SamsungOne 400" panose="020B0503030303020204" pitchFamily="34" charset="0"/>
                <a:ea typeface="SamsungOne 400" panose="020B0503030303020204" pitchFamily="34" charset="0"/>
              </a:rPr>
              <a:t>family</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&gt; import &lt;</a:t>
            </a:r>
            <a:r>
              <a:rPr lang="en-US" altLang="ko-KR" sz="1300" dirty="0">
                <a:solidFill>
                  <a:srgbClr val="00B050"/>
                </a:solidFill>
                <a:latin typeface="SamsungOne 400" panose="020B0503030303020204" pitchFamily="34" charset="0"/>
                <a:ea typeface="SamsungOne 400" panose="020B0503030303020204" pitchFamily="34" charset="0"/>
              </a:rPr>
              <a:t>machine learning algorithm</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&gt;</a:t>
            </a:r>
          </a:p>
          <a:p>
            <a:pPr marL="182563" indent="-182563">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Hyperparameters are specified when the machine learning object is instantiated:</a:t>
            </a:r>
          </a:p>
          <a:p>
            <a:pPr>
              <a:spcAft>
                <a:spcPts val="800"/>
              </a:spcAft>
              <a:buClr>
                <a:srgbClr val="193EB0"/>
              </a:buCl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grpSp>
        <p:nvGrpSpPr>
          <p:cNvPr id="2" name="그룹 1">
            <a:extLst>
              <a:ext uri="{FF2B5EF4-FFF2-40B4-BE49-F238E27FC236}">
                <a16:creationId xmlns:a16="http://schemas.microsoft.com/office/drawing/2014/main" id="{B0109700-8F88-45E8-A4B6-1FCBC6C0BBBF}"/>
              </a:ext>
            </a:extLst>
          </p:cNvPr>
          <p:cNvGrpSpPr/>
          <p:nvPr/>
        </p:nvGrpSpPr>
        <p:grpSpPr>
          <a:xfrm>
            <a:off x="850766" y="3101986"/>
            <a:ext cx="6979589" cy="345461"/>
            <a:chOff x="850766" y="2893643"/>
            <a:chExt cx="6979589" cy="345461"/>
          </a:xfrm>
        </p:grpSpPr>
        <p:sp>
          <p:nvSpPr>
            <p:cNvPr id="33" name="사각형: 둥근 모서리 2">
              <a:extLst>
                <a:ext uri="{FF2B5EF4-FFF2-40B4-BE49-F238E27FC236}">
                  <a16:creationId xmlns:a16="http://schemas.microsoft.com/office/drawing/2014/main" id="{C1551761-2AC2-472F-B3A3-B12BF2FA0567}"/>
                </a:ext>
              </a:extLst>
            </p:cNvPr>
            <p:cNvSpPr/>
            <p:nvPr/>
          </p:nvSpPr>
          <p:spPr>
            <a:xfrm>
              <a:off x="850766" y="2954540"/>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34" name="직사각형 33">
              <a:extLst>
                <a:ext uri="{FF2B5EF4-FFF2-40B4-BE49-F238E27FC236}">
                  <a16:creationId xmlns:a16="http://schemas.microsoft.com/office/drawing/2014/main" id="{5DD88638-0325-4B57-9F5F-ED421FA9AD88}"/>
                </a:ext>
              </a:extLst>
            </p:cNvPr>
            <p:cNvSpPr/>
            <p:nvPr/>
          </p:nvSpPr>
          <p:spPr>
            <a:xfrm>
              <a:off x="1226264" y="2893643"/>
              <a:ext cx="660409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indent="14288">
                <a:spcAft>
                  <a:spcPts val="800"/>
                </a:spcAft>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from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sklearn.linear_model</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import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LinearRegression</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sym typeface="Symbol" panose="05050102010706020507" pitchFamily="18" charset="2"/>
              </a:endParaRPr>
            </a:p>
          </p:txBody>
        </p:sp>
      </p:grpSp>
      <p:grpSp>
        <p:nvGrpSpPr>
          <p:cNvPr id="35" name="그룹 34">
            <a:extLst>
              <a:ext uri="{FF2B5EF4-FFF2-40B4-BE49-F238E27FC236}">
                <a16:creationId xmlns:a16="http://schemas.microsoft.com/office/drawing/2014/main" id="{ED0C6BDD-9339-4D48-A318-85E8D9487084}"/>
              </a:ext>
            </a:extLst>
          </p:cNvPr>
          <p:cNvGrpSpPr/>
          <p:nvPr/>
        </p:nvGrpSpPr>
        <p:grpSpPr>
          <a:xfrm>
            <a:off x="850766" y="3731455"/>
            <a:ext cx="6979589" cy="345461"/>
            <a:chOff x="850766" y="2893643"/>
            <a:chExt cx="6979589" cy="345461"/>
          </a:xfrm>
        </p:grpSpPr>
        <p:sp>
          <p:nvSpPr>
            <p:cNvPr id="36" name="사각형: 둥근 모서리 2">
              <a:extLst>
                <a:ext uri="{FF2B5EF4-FFF2-40B4-BE49-F238E27FC236}">
                  <a16:creationId xmlns:a16="http://schemas.microsoft.com/office/drawing/2014/main" id="{DEFD0E2D-9024-4F0D-A491-31CA049D28A4}"/>
                </a:ext>
              </a:extLst>
            </p:cNvPr>
            <p:cNvSpPr/>
            <p:nvPr/>
          </p:nvSpPr>
          <p:spPr>
            <a:xfrm>
              <a:off x="850766" y="2954540"/>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37" name="직사각형 36">
              <a:extLst>
                <a:ext uri="{FF2B5EF4-FFF2-40B4-BE49-F238E27FC236}">
                  <a16:creationId xmlns:a16="http://schemas.microsoft.com/office/drawing/2014/main" id="{0E3413BE-A59C-4EA5-9806-4EB9E04C2849}"/>
                </a:ext>
              </a:extLst>
            </p:cNvPr>
            <p:cNvSpPr/>
            <p:nvPr/>
          </p:nvSpPr>
          <p:spPr>
            <a:xfrm>
              <a:off x="1226264" y="2893643"/>
              <a:ext cx="660409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indent="14288">
                <a:spcAft>
                  <a:spcPts val="800"/>
                </a:spcAft>
              </a:pP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myModel</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KNeighborsClassifier</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n_neighbors</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=10)           # KNN with k = 10</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sym typeface="Symbol" panose="05050102010706020507" pitchFamily="18" charset="2"/>
              </a:endParaRPr>
            </a:p>
          </p:txBody>
        </p:sp>
      </p:grpSp>
    </p:spTree>
    <p:extLst>
      <p:ext uri="{BB962C8B-B14F-4D97-AF65-F5344CB8AC3E}">
        <p14:creationId xmlns:p14="http://schemas.microsoft.com/office/powerpoint/2010/main" val="3841770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the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 library</a:t>
            </a:r>
          </a:p>
        </p:txBody>
      </p:sp>
      <p:sp>
        <p:nvSpPr>
          <p:cNvPr id="16" name="직사각형 15">
            <a:extLst>
              <a:ext uri="{FF2B5EF4-FFF2-40B4-BE49-F238E27FC236}">
                <a16:creationId xmlns:a16="http://schemas.microsoft.com/office/drawing/2014/main" id="{435914C4-B672-4888-9F80-42D15BA36757}"/>
              </a:ext>
            </a:extLst>
          </p:cNvPr>
          <p:cNvSpPr/>
          <p:nvPr/>
        </p:nvSpPr>
        <p:spPr>
          <a:xfrm>
            <a:off x="671261" y="1700808"/>
            <a:ext cx="8632825" cy="30231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To train a supervised learning model: </a:t>
            </a:r>
            <a:r>
              <a:rPr lang="en-US" altLang="ko-KR" sz="1200" dirty="0" err="1">
                <a:solidFill>
                  <a:srgbClr val="1429A0"/>
                </a:solidFill>
                <a:latin typeface="SamsungOne 400" panose="020B0503030303020204" pitchFamily="34" charset="0"/>
                <a:ea typeface="SamsungOne 400" panose="020B0503030303020204" pitchFamily="34" charset="0"/>
              </a:rPr>
              <a:t>myModel</a:t>
            </a:r>
            <a:r>
              <a:rPr lang="en-US" altLang="ko-KR" sz="1200" dirty="0" err="1">
                <a:solidFill>
                  <a:prstClr val="black">
                    <a:lumMod val="85000"/>
                    <a:lumOff val="15000"/>
                  </a:prstClr>
                </a:solidFill>
                <a:latin typeface="SamsungOne 400" panose="020B0503030303020204" pitchFamily="34" charset="0"/>
                <a:ea typeface="SamsungOne 400" panose="020B0503030303020204" pitchFamily="34" charset="0"/>
              </a:rPr>
              <a:t>.fit</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t>
            </a:r>
            <a:r>
              <a:rPr lang="en-US" altLang="ko-KR" sz="1200" dirty="0" err="1">
                <a:solidFill>
                  <a:srgbClr val="1429A0"/>
                </a:solidFill>
                <a:latin typeface="SamsungOne 400" panose="020B0503030303020204" pitchFamily="34" charset="0"/>
                <a:ea typeface="SamsungOne 400" panose="020B0503030303020204" pitchFamily="34" charset="0"/>
              </a:rPr>
              <a:t>X_train</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200" dirty="0" err="1">
                <a:solidFill>
                  <a:srgbClr val="1429A0"/>
                </a:solidFill>
                <a:latin typeface="SamsungOne 400" panose="020B0503030303020204" pitchFamily="34" charset="0"/>
                <a:ea typeface="SamsungOne 400" panose="020B0503030303020204" pitchFamily="34" charset="0"/>
              </a:rPr>
              <a:t>Y_train</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To train a unsupervised learning model: </a:t>
            </a:r>
            <a:r>
              <a:rPr lang="en-US" altLang="ko-KR" sz="1200" dirty="0" err="1">
                <a:solidFill>
                  <a:srgbClr val="1429A0"/>
                </a:solidFill>
                <a:latin typeface="SamsungOne 400" panose="020B0503030303020204" pitchFamily="34" charset="0"/>
                <a:ea typeface="SamsungOne 400" panose="020B0503030303020204" pitchFamily="34" charset="0"/>
              </a:rPr>
              <a:t>myModel</a:t>
            </a:r>
            <a:r>
              <a:rPr lang="en-US" altLang="ko-KR" sz="1200" dirty="0" err="1">
                <a:solidFill>
                  <a:prstClr val="black">
                    <a:lumMod val="85000"/>
                    <a:lumOff val="15000"/>
                  </a:prstClr>
                </a:solidFill>
                <a:latin typeface="SamsungOne 400" panose="020B0503030303020204" pitchFamily="34" charset="0"/>
                <a:ea typeface="SamsungOne 400" panose="020B0503030303020204" pitchFamily="34" charset="0"/>
              </a:rPr>
              <a:t>.fit</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t>
            </a:r>
            <a:r>
              <a:rPr lang="en-US" altLang="ko-KR" sz="1200" dirty="0" err="1">
                <a:solidFill>
                  <a:srgbClr val="1429A0"/>
                </a:solidFill>
                <a:latin typeface="SamsungOne 400" panose="020B0503030303020204" pitchFamily="34" charset="0"/>
                <a:ea typeface="SamsungOne 400" panose="020B0503030303020204" pitchFamily="34" charset="0"/>
              </a:rPr>
              <a:t>X_train</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t>
            </a: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To predict using an already trained model: </a:t>
            </a:r>
            <a:r>
              <a:rPr lang="en-US" altLang="ko-KR" sz="1200" dirty="0" err="1">
                <a:solidFill>
                  <a:srgbClr val="1429A0"/>
                </a:solidFill>
                <a:latin typeface="SamsungOne 400" panose="020B0503030303020204" pitchFamily="34" charset="0"/>
                <a:ea typeface="SamsungOne 400" panose="020B0503030303020204" pitchFamily="34" charset="0"/>
              </a:rPr>
              <a:t>myModel</a:t>
            </a:r>
            <a:r>
              <a:rPr lang="en-US" altLang="ko-KR" sz="1200" dirty="0" err="1">
                <a:solidFill>
                  <a:prstClr val="black">
                    <a:lumMod val="85000"/>
                    <a:lumOff val="15000"/>
                  </a:prstClr>
                </a:solidFill>
                <a:latin typeface="SamsungOne 400" panose="020B0503030303020204" pitchFamily="34" charset="0"/>
                <a:ea typeface="SamsungOne 400" panose="020B0503030303020204" pitchFamily="34" charset="0"/>
              </a:rPr>
              <a:t>.predict</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t>
            </a:r>
            <a:r>
              <a:rPr lang="en-US" altLang="ko-KR" sz="1200" dirty="0" err="1">
                <a:solidFill>
                  <a:srgbClr val="1429A0"/>
                </a:solidFill>
                <a:latin typeface="SamsungOne 400" panose="020B0503030303020204" pitchFamily="34" charset="0"/>
                <a:ea typeface="SamsungOne 400" panose="020B0503030303020204" pitchFamily="34" charset="0"/>
              </a:rPr>
              <a:t>X_test</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t>
            </a: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To import a preprocessor as class: </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from </a:t>
            </a:r>
            <a:r>
              <a:rPr lang="en-US" altLang="ko-KR" sz="1200" dirty="0" err="1">
                <a:solidFill>
                  <a:prstClr val="black">
                    <a:lumMod val="85000"/>
                    <a:lumOff val="15000"/>
                  </a:prstClr>
                </a:solidFill>
                <a:latin typeface="SamsungOne 400" panose="020B0503030303020204" pitchFamily="34" charset="0"/>
                <a:ea typeface="SamsungOne 400" panose="020B0503030303020204" pitchFamily="34" charset="0"/>
              </a:rPr>
              <a:t>sklearn.preprocessing</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 import &lt;</a:t>
            </a:r>
            <a:r>
              <a:rPr lang="en-US" altLang="ko-KR" sz="1200" dirty="0">
                <a:solidFill>
                  <a:srgbClr val="00B050"/>
                </a:solidFill>
                <a:latin typeface="SamsungOne 400" panose="020B0503030303020204" pitchFamily="34" charset="0"/>
                <a:ea typeface="SamsungOne 400" panose="020B0503030303020204" pitchFamily="34" charset="0"/>
              </a:rPr>
              <a:t>a preprocessor</a:t>
            </a:r>
            <a:r>
              <a:rPr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&gt;</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To split the dataset into a training set and a testing set: </a:t>
            </a:r>
          </a:p>
          <a:p>
            <a:pPr marL="182563">
              <a:spcAft>
                <a:spcPts val="800"/>
              </a:spcAft>
              <a:buClr>
                <a:srgbClr val="193EB0"/>
              </a:buClr>
            </a:pPr>
            <a:r>
              <a:rPr kumimoji="1" lang="en-US" altLang="ko-KR" sz="1200" dirty="0" err="1">
                <a:solidFill>
                  <a:srgbClr val="193EB0"/>
                </a:solidFill>
                <a:latin typeface="SamsungOne 400" panose="020B0503030303020204" pitchFamily="34" charset="0"/>
                <a:ea typeface="SamsungOne 400" panose="020B0503030303020204" pitchFamily="34" charset="0"/>
              </a:rPr>
              <a:t>X_train</a:t>
            </a:r>
            <a:r>
              <a:rPr kumimoji="1"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t>
            </a:r>
            <a:r>
              <a:rPr kumimoji="1" lang="en-US" altLang="ko-KR" sz="1200" dirty="0">
                <a:solidFill>
                  <a:srgbClr val="193EB0"/>
                </a:solidFill>
                <a:latin typeface="SamsungOne 400" panose="020B0503030303020204" pitchFamily="34" charset="0"/>
                <a:ea typeface="SamsungOne 400" panose="020B0503030303020204" pitchFamily="34" charset="0"/>
              </a:rPr>
              <a:t> </a:t>
            </a:r>
            <a:r>
              <a:rPr kumimoji="1" lang="en-US" altLang="ko-KR" sz="1200" dirty="0" err="1">
                <a:solidFill>
                  <a:srgbClr val="193EB0"/>
                </a:solidFill>
                <a:latin typeface="SamsungOne 400" panose="020B0503030303020204" pitchFamily="34" charset="0"/>
                <a:ea typeface="SamsungOne 400" panose="020B0503030303020204" pitchFamily="34" charset="0"/>
              </a:rPr>
              <a:t>X_test</a:t>
            </a:r>
            <a:r>
              <a:rPr kumimoji="1"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t>
            </a:r>
            <a:r>
              <a:rPr kumimoji="1" lang="en-US" altLang="ko-KR" sz="1200" dirty="0">
                <a:solidFill>
                  <a:srgbClr val="193EB0"/>
                </a:solidFill>
                <a:latin typeface="SamsungOne 400" panose="020B0503030303020204" pitchFamily="34" charset="0"/>
                <a:ea typeface="SamsungOne 400" panose="020B0503030303020204" pitchFamily="34" charset="0"/>
              </a:rPr>
              <a:t> </a:t>
            </a:r>
            <a:r>
              <a:rPr kumimoji="1" lang="en-US" altLang="ko-KR" sz="1200" dirty="0" err="1">
                <a:solidFill>
                  <a:srgbClr val="193EB0"/>
                </a:solidFill>
                <a:latin typeface="SamsungOne 400" panose="020B0503030303020204" pitchFamily="34" charset="0"/>
                <a:ea typeface="SamsungOne 400" panose="020B0503030303020204" pitchFamily="34" charset="0"/>
              </a:rPr>
              <a:t>Y_train</a:t>
            </a:r>
            <a:r>
              <a:rPr kumimoji="1"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t>
            </a:r>
            <a:r>
              <a:rPr kumimoji="1" lang="en-US" altLang="ko-KR" sz="1200" dirty="0">
                <a:solidFill>
                  <a:srgbClr val="193EB0"/>
                </a:solidFill>
                <a:latin typeface="SamsungOne 400" panose="020B0503030303020204" pitchFamily="34" charset="0"/>
                <a:ea typeface="SamsungOne 400" panose="020B0503030303020204" pitchFamily="34" charset="0"/>
              </a:rPr>
              <a:t> </a:t>
            </a:r>
            <a:r>
              <a:rPr kumimoji="1" lang="en-US" altLang="ko-KR" sz="1200" dirty="0" err="1">
                <a:solidFill>
                  <a:srgbClr val="193EB0"/>
                </a:solidFill>
                <a:latin typeface="SamsungOne 400" panose="020B0503030303020204" pitchFamily="34" charset="0"/>
                <a:ea typeface="SamsungOne 400" panose="020B0503030303020204" pitchFamily="34" charset="0"/>
              </a:rPr>
              <a:t>Y_test</a:t>
            </a:r>
            <a:r>
              <a:rPr kumimoji="1" lang="en-US" altLang="ko-KR" sz="1200" dirty="0">
                <a:solidFill>
                  <a:srgbClr val="193EB0"/>
                </a:solidFill>
                <a:latin typeface="SamsungOne 400" panose="020B0503030303020204" pitchFamily="34" charset="0"/>
                <a:ea typeface="SamsungOne 400" panose="020B0503030303020204" pitchFamily="34" charset="0"/>
              </a:rPr>
              <a:t> </a:t>
            </a:r>
            <a:r>
              <a:rPr kumimoji="1"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 </a:t>
            </a:r>
            <a:r>
              <a:rPr kumimoji="1" lang="en-US" altLang="ko-KR" sz="1200" dirty="0" err="1">
                <a:solidFill>
                  <a:prstClr val="black">
                    <a:lumMod val="85000"/>
                    <a:lumOff val="15000"/>
                  </a:prstClr>
                </a:solidFill>
                <a:latin typeface="SamsungOne 400" panose="020B0503030303020204" pitchFamily="34" charset="0"/>
                <a:ea typeface="SamsungOne 400" panose="020B0503030303020204" pitchFamily="34" charset="0"/>
              </a:rPr>
              <a:t>train_test_split</a:t>
            </a:r>
            <a:r>
              <a:rPr kumimoji="1"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t>
            </a:r>
            <a:r>
              <a:rPr kumimoji="1" lang="en-US" altLang="ko-KR" sz="1200" dirty="0">
                <a:solidFill>
                  <a:srgbClr val="193EB0"/>
                </a:solidFill>
                <a:latin typeface="SamsungOne 400" panose="020B0503030303020204" pitchFamily="34" charset="0"/>
                <a:ea typeface="SamsungOne 400" panose="020B0503030303020204" pitchFamily="34" charset="0"/>
              </a:rPr>
              <a:t>X</a:t>
            </a:r>
            <a:r>
              <a:rPr kumimoji="1"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 </a:t>
            </a:r>
            <a:r>
              <a:rPr kumimoji="1" lang="en-US" altLang="ko-KR" sz="1200" dirty="0">
                <a:solidFill>
                  <a:srgbClr val="193EB0"/>
                </a:solidFill>
                <a:latin typeface="SamsungOne 400" panose="020B0503030303020204" pitchFamily="34" charset="0"/>
                <a:ea typeface="SamsungOne 400" panose="020B0503030303020204" pitchFamily="34" charset="0"/>
              </a:rPr>
              <a:t>Y</a:t>
            </a:r>
            <a:r>
              <a:rPr kumimoji="1"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 </a:t>
            </a:r>
            <a:r>
              <a:rPr kumimoji="1" lang="en-US" altLang="ko-KR" sz="1200" dirty="0" err="1">
                <a:solidFill>
                  <a:prstClr val="black">
                    <a:lumMod val="85000"/>
                    <a:lumOff val="15000"/>
                  </a:prstClr>
                </a:solidFill>
                <a:latin typeface="SamsungOne 400" panose="020B0503030303020204" pitchFamily="34" charset="0"/>
                <a:ea typeface="SamsungOne 400" panose="020B0503030303020204" pitchFamily="34" charset="0"/>
              </a:rPr>
              <a:t>test_size</a:t>
            </a:r>
            <a:r>
              <a:rPr kumimoji="1"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t>
            </a:r>
            <a:r>
              <a:rPr kumimoji="1" lang="en-US" altLang="ko-KR" sz="1200" dirty="0">
                <a:solidFill>
                  <a:srgbClr val="193EB0"/>
                </a:solidFill>
                <a:latin typeface="SamsungOne 400" panose="020B0503030303020204" pitchFamily="34" charset="0"/>
                <a:ea typeface="SamsungOne 400" panose="020B0503030303020204" pitchFamily="34" charset="0"/>
              </a:rPr>
              <a:t>0.3</a:t>
            </a:r>
            <a:r>
              <a:rPr kumimoji="1"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t>
            </a:r>
            <a:r>
              <a:rPr kumimoji="1" lang="en-US" altLang="ko-KR" sz="1200" dirty="0">
                <a:solidFill>
                  <a:srgbClr val="193EB0"/>
                </a:solidFill>
                <a:latin typeface="SamsungOne 400" panose="020B0503030303020204" pitchFamily="34" charset="0"/>
                <a:ea typeface="SamsungOne 400" panose="020B0503030303020204" pitchFamily="34" charset="0"/>
              </a:rPr>
              <a:t> </a:t>
            </a:r>
            <a:r>
              <a:rPr kumimoji="1" lang="en-US" altLang="ko-KR" sz="1200" dirty="0" err="1">
                <a:solidFill>
                  <a:prstClr val="black">
                    <a:lumMod val="85000"/>
                    <a:lumOff val="15000"/>
                  </a:prstClr>
                </a:solidFill>
                <a:latin typeface="SamsungOne 400" panose="020B0503030303020204" pitchFamily="34" charset="0"/>
                <a:ea typeface="SamsungOne 400" panose="020B0503030303020204" pitchFamily="34" charset="0"/>
              </a:rPr>
              <a:t>random_state</a:t>
            </a:r>
            <a:r>
              <a:rPr kumimoji="1"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t>
            </a:r>
            <a:r>
              <a:rPr kumimoji="1" lang="en-US" altLang="ko-KR" sz="1200" dirty="0">
                <a:solidFill>
                  <a:srgbClr val="193EB0"/>
                </a:solidFill>
                <a:latin typeface="SamsungOne 400" panose="020B0503030303020204" pitchFamily="34" charset="0"/>
                <a:ea typeface="SamsungOne 400" panose="020B0503030303020204" pitchFamily="34" charset="0"/>
              </a:rPr>
              <a:t>123</a:t>
            </a:r>
            <a:r>
              <a:rPr kumimoji="1"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To calculate a performance metric (accuracy): </a:t>
            </a:r>
            <a:r>
              <a:rPr kumimoji="1" lang="en-US" altLang="ko-KR" sz="1200" dirty="0" err="1">
                <a:solidFill>
                  <a:prstClr val="black">
                    <a:lumMod val="85000"/>
                    <a:lumOff val="15000"/>
                  </a:prstClr>
                </a:solidFill>
                <a:latin typeface="SamsungOne 400" panose="020B0503030303020204" pitchFamily="34" charset="0"/>
                <a:ea typeface="SamsungOne 400" panose="020B0503030303020204" pitchFamily="34" charset="0"/>
              </a:rPr>
              <a:t>metrics.accuracy_score</a:t>
            </a:r>
            <a:r>
              <a:rPr kumimoji="1"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a:t>
            </a:r>
            <a:r>
              <a:rPr kumimoji="1" lang="en-US" altLang="ko-KR" sz="1200" dirty="0" err="1">
                <a:solidFill>
                  <a:srgbClr val="193EB0"/>
                </a:solidFill>
                <a:latin typeface="SamsungOne 400" panose="020B0503030303020204" pitchFamily="34" charset="0"/>
                <a:ea typeface="SamsungOne 400" panose="020B0503030303020204" pitchFamily="34" charset="0"/>
              </a:rPr>
              <a:t>Y_test</a:t>
            </a:r>
            <a:r>
              <a:rPr kumimoji="1" lang="en-US" altLang="ko-KR" sz="1200" dirty="0">
                <a:solidFill>
                  <a:srgbClr val="193EB0"/>
                </a:solidFill>
                <a:latin typeface="SamsungOne 400" panose="020B0503030303020204" pitchFamily="34" charset="0"/>
                <a:ea typeface="SamsungOne 400" panose="020B0503030303020204" pitchFamily="34" charset="0"/>
              </a:rPr>
              <a:t>, </a:t>
            </a:r>
            <a:r>
              <a:rPr kumimoji="1" lang="en-US" altLang="ko-KR" sz="1200" dirty="0" err="1">
                <a:solidFill>
                  <a:srgbClr val="193EB0"/>
                </a:solidFill>
                <a:latin typeface="SamsungOne 400" panose="020B0503030303020204" pitchFamily="34" charset="0"/>
                <a:ea typeface="SamsungOne 400" panose="020B0503030303020204" pitchFamily="34" charset="0"/>
              </a:rPr>
              <a:t>Y_pred</a:t>
            </a:r>
            <a:r>
              <a:rPr kumimoji="1" lang="en-US" altLang="ko-KR" sz="1200" dirty="0">
                <a:solidFill>
                  <a:prstClr val="black">
                    <a:lumMod val="85000"/>
                    <a:lumOff val="15000"/>
                  </a:prstClr>
                </a:solidFill>
                <a:latin typeface="SamsungOne 400" panose="020B0503030303020204" pitchFamily="34" charset="0"/>
                <a:ea typeface="SamsungOne 400" panose="020B0503030303020204" pitchFamily="34" charset="0"/>
              </a:rPr>
              <a:t>) </a:t>
            </a:r>
            <a:r>
              <a:rPr kumimoji="1" lang="en-US" altLang="ko-KR" sz="1200" dirty="0">
                <a:solidFill>
                  <a:srgbClr val="193EB0"/>
                </a:solidFill>
                <a:latin typeface="SamsungOne 400" panose="020B0503030303020204" pitchFamily="34" charset="0"/>
                <a:ea typeface="SamsungOne 400" panose="020B0503030303020204" pitchFamily="34" charset="0"/>
              </a:rPr>
              <a:t>  </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To cross validate and do hyperparameter tuning at the same time: </a:t>
            </a:r>
          </a:p>
          <a:p>
            <a:pPr marL="182563" lvl="1" fontAlgn="base">
              <a:spcAft>
                <a:spcPts val="800"/>
              </a:spcAft>
              <a:buClr>
                <a:srgbClr val="193EB0"/>
              </a:buClr>
            </a:pPr>
            <a:r>
              <a:rPr kumimoji="1" lang="en-US" altLang="ko-KR" sz="1200" dirty="0" err="1">
                <a:solidFill>
                  <a:srgbClr val="193EB0"/>
                </a:solidFill>
                <a:latin typeface="SamsungOne 400" panose="020B0503030303020204" pitchFamily="34" charset="0"/>
                <a:ea typeface="SamsungOne 400" panose="020B0503030303020204" pitchFamily="34" charset="0"/>
              </a:rPr>
              <a:t>myGridCV</a:t>
            </a:r>
            <a:r>
              <a:rPr kumimoji="1" lang="en-US" altLang="ko-KR" sz="1200" dirty="0">
                <a:solidFill>
                  <a:srgbClr val="193EB0"/>
                </a:solidFill>
                <a:latin typeface="SamsungOne 400" panose="020B0503030303020204" pitchFamily="34" charset="0"/>
                <a:ea typeface="SamsungOne 400" panose="020B0503030303020204" pitchFamily="34" charset="0"/>
              </a:rPr>
              <a:t> = </a:t>
            </a:r>
            <a:r>
              <a:rPr kumimoji="1" lang="en-US" altLang="ko-KR" sz="1200" dirty="0" err="1">
                <a:solidFill>
                  <a:srgbClr val="193EB0"/>
                </a:solidFill>
                <a:latin typeface="SamsungOne 400" panose="020B0503030303020204" pitchFamily="34" charset="0"/>
                <a:ea typeface="SamsungOne 400" panose="020B0503030303020204" pitchFamily="34" charset="0"/>
              </a:rPr>
              <a:t>GridSearchCV</a:t>
            </a:r>
            <a:r>
              <a:rPr kumimoji="1" lang="en-US" altLang="ko-KR" sz="1200" dirty="0">
                <a:solidFill>
                  <a:srgbClr val="193EB0"/>
                </a:solidFill>
                <a:latin typeface="SamsungOne 400" panose="020B0503030303020204" pitchFamily="34" charset="0"/>
                <a:ea typeface="SamsungOne 400" panose="020B0503030303020204" pitchFamily="34" charset="0"/>
              </a:rPr>
              <a:t>(estimator, </a:t>
            </a:r>
            <a:r>
              <a:rPr kumimoji="1" lang="en-US" altLang="ko-KR" sz="1200" dirty="0" err="1">
                <a:solidFill>
                  <a:srgbClr val="193EB0"/>
                </a:solidFill>
                <a:latin typeface="SamsungOne 400" panose="020B0503030303020204" pitchFamily="34" charset="0"/>
                <a:ea typeface="SamsungOne 400" panose="020B0503030303020204" pitchFamily="34" charset="0"/>
              </a:rPr>
              <a:t>parameter_grid</a:t>
            </a:r>
            <a:r>
              <a:rPr kumimoji="1" lang="en-US" altLang="ko-KR" sz="1200" dirty="0">
                <a:solidFill>
                  <a:srgbClr val="193EB0"/>
                </a:solidFill>
                <a:latin typeface="SamsungOne 400" panose="020B0503030303020204" pitchFamily="34" charset="0"/>
                <a:ea typeface="SamsungOne 400" panose="020B0503030303020204" pitchFamily="34" charset="0"/>
              </a:rPr>
              <a:t>, cv=k)</a:t>
            </a:r>
          </a:p>
          <a:p>
            <a:pPr marL="182563" lvl="1" fontAlgn="base">
              <a:spcAft>
                <a:spcPts val="800"/>
              </a:spcAft>
              <a:buClr>
                <a:srgbClr val="193EB0"/>
              </a:buClr>
            </a:pPr>
            <a:r>
              <a:rPr kumimoji="1" lang="en-US" altLang="ko-KR" sz="1200" dirty="0" err="1">
                <a:solidFill>
                  <a:srgbClr val="193EB0"/>
                </a:solidFill>
                <a:latin typeface="SamsungOne 400" panose="020B0503030303020204" pitchFamily="34" charset="0"/>
                <a:ea typeface="SamsungOne 400" panose="020B0503030303020204" pitchFamily="34" charset="0"/>
              </a:rPr>
              <a:t>myGridCV.fit</a:t>
            </a:r>
            <a:r>
              <a:rPr kumimoji="1" lang="en-US" altLang="ko-KR" sz="1200" dirty="0">
                <a:solidFill>
                  <a:srgbClr val="193EB0"/>
                </a:solidFill>
                <a:latin typeface="SamsungOne 400" panose="020B0503030303020204" pitchFamily="34" charset="0"/>
                <a:ea typeface="SamsungOne 400" panose="020B0503030303020204" pitchFamily="34" charset="0"/>
              </a:rPr>
              <a:t>(</a:t>
            </a:r>
            <a:r>
              <a:rPr kumimoji="1" lang="en-US" altLang="ko-KR" sz="1200" dirty="0" err="1">
                <a:solidFill>
                  <a:srgbClr val="193EB0"/>
                </a:solidFill>
                <a:latin typeface="SamsungOne 400" panose="020B0503030303020204" pitchFamily="34" charset="0"/>
                <a:ea typeface="SamsungOne 400" panose="020B0503030303020204" pitchFamily="34" charset="0"/>
              </a:rPr>
              <a:t>X_train</a:t>
            </a:r>
            <a:r>
              <a:rPr kumimoji="1" lang="en-US" altLang="ko-KR" sz="1200" dirty="0">
                <a:solidFill>
                  <a:srgbClr val="193EB0"/>
                </a:solidFill>
                <a:latin typeface="SamsungOne 400" panose="020B0503030303020204" pitchFamily="34" charset="0"/>
                <a:ea typeface="SamsungOne 400" panose="020B0503030303020204" pitchFamily="34" charset="0"/>
              </a:rPr>
              <a:t>, </a:t>
            </a:r>
            <a:r>
              <a:rPr kumimoji="1" lang="en-US" altLang="ko-KR" sz="1200" dirty="0" err="1">
                <a:solidFill>
                  <a:srgbClr val="193EB0"/>
                </a:solidFill>
                <a:latin typeface="SamsungOne 400" panose="020B0503030303020204" pitchFamily="34" charset="0"/>
                <a:ea typeface="SamsungOne 400" panose="020B0503030303020204" pitchFamily="34" charset="0"/>
              </a:rPr>
              <a:t>Y_train</a:t>
            </a:r>
            <a:r>
              <a:rPr kumimoji="1" lang="en-US" altLang="ko-KR" sz="1200" dirty="0">
                <a:solidFill>
                  <a:srgbClr val="193EB0"/>
                </a:solidFill>
                <a:latin typeface="SamsungOne 400" panose="020B0503030303020204" pitchFamily="34" charset="0"/>
                <a:ea typeface="SamsungOne 400" panose="020B0503030303020204" pitchFamily="34" charset="0"/>
              </a:rPr>
              <a:t>)</a:t>
            </a:r>
          </a:p>
        </p:txBody>
      </p:sp>
    </p:spTree>
    <p:extLst>
      <p:ext uri="{BB962C8B-B14F-4D97-AF65-F5344CB8AC3E}">
        <p14:creationId xmlns:p14="http://schemas.microsoft.com/office/powerpoint/2010/main" val="3124421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6" name="직사각형 15">
            <a:extLst>
              <a:ext uri="{FF2B5EF4-FFF2-40B4-BE49-F238E27FC236}">
                <a16:creationId xmlns:a16="http://schemas.microsoft.com/office/drawing/2014/main" id="{435914C4-B672-4888-9F80-42D15BA36757}"/>
              </a:ext>
            </a:extLst>
          </p:cNvPr>
          <p:cNvSpPr/>
          <p:nvPr/>
        </p:nvSpPr>
        <p:spPr>
          <a:xfrm>
            <a:off x="671261" y="1700808"/>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sklearn.datasets</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module includes utilities to load datasets, including methods to load and fetch popular reference datasets. It also features some artificial data generators.</a:t>
            </a:r>
          </a:p>
        </p:txBody>
      </p:sp>
      <p:grpSp>
        <p:nvGrpSpPr>
          <p:cNvPr id="2" name="그룹 1">
            <a:extLst>
              <a:ext uri="{FF2B5EF4-FFF2-40B4-BE49-F238E27FC236}">
                <a16:creationId xmlns:a16="http://schemas.microsoft.com/office/drawing/2014/main" id="{AD20F08F-F475-4E33-8FA2-C8BF8BFFEDA0}"/>
              </a:ext>
            </a:extLst>
          </p:cNvPr>
          <p:cNvGrpSpPr/>
          <p:nvPr/>
        </p:nvGrpSpPr>
        <p:grpSpPr>
          <a:xfrm>
            <a:off x="666749" y="2312875"/>
            <a:ext cx="8677276" cy="684077"/>
            <a:chOff x="666749" y="2348880"/>
            <a:chExt cx="8677276" cy="684077"/>
          </a:xfrm>
        </p:grpSpPr>
        <p:sp>
          <p:nvSpPr>
            <p:cNvPr id="7" name="모서리가 둥근 직사각형 4">
              <a:extLst>
                <a:ext uri="{FF2B5EF4-FFF2-40B4-BE49-F238E27FC236}">
                  <a16:creationId xmlns:a16="http://schemas.microsoft.com/office/drawing/2014/main" id="{549F4C64-5AF0-43ED-A9ED-34D502BF364D}"/>
                </a:ext>
              </a:extLst>
            </p:cNvPr>
            <p:cNvSpPr/>
            <p:nvPr/>
          </p:nvSpPr>
          <p:spPr>
            <a:xfrm>
              <a:off x="666749" y="2348880"/>
              <a:ext cx="8677275" cy="68407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8" name="그림 7">
              <a:extLst>
                <a:ext uri="{FF2B5EF4-FFF2-40B4-BE49-F238E27FC236}">
                  <a16:creationId xmlns:a16="http://schemas.microsoft.com/office/drawing/2014/main" id="{AFC9E97F-020C-4301-AE95-B749D6A04BB9}"/>
                </a:ext>
              </a:extLst>
            </p:cNvPr>
            <p:cNvPicPr>
              <a:picLocks noChangeAspect="1"/>
            </p:cNvPicPr>
            <p:nvPr/>
          </p:nvPicPr>
          <p:blipFill rotWithShape="1">
            <a:blip r:embed="rId4"/>
            <a:srcRect l="1084" t="7300" r="26355" b="1659"/>
            <a:stretch/>
          </p:blipFill>
          <p:spPr>
            <a:xfrm>
              <a:off x="774949" y="2451019"/>
              <a:ext cx="8569076" cy="476132"/>
            </a:xfrm>
            <a:prstGeom prst="rect">
              <a:avLst/>
            </a:prstGeom>
            <a:ln>
              <a:noFill/>
            </a:ln>
          </p:spPr>
        </p:pic>
      </p:grpSp>
      <p:sp>
        <p:nvSpPr>
          <p:cNvPr id="10" name="직사각형 9">
            <a:extLst>
              <a:ext uri="{FF2B5EF4-FFF2-40B4-BE49-F238E27FC236}">
                <a16:creationId xmlns:a16="http://schemas.microsoft.com/office/drawing/2014/main" id="{9ED9F632-06E6-4129-81BB-40903F3BD216}"/>
              </a:ext>
            </a:extLst>
          </p:cNvPr>
          <p:cNvSpPr/>
          <p:nvPr/>
        </p:nvSpPr>
        <p:spPr>
          <a:xfrm>
            <a:off x="671261" y="314096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Import data with the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load_breast_cancer</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p:txBody>
      </p:sp>
      <p:grpSp>
        <p:nvGrpSpPr>
          <p:cNvPr id="3" name="그룹 2">
            <a:extLst>
              <a:ext uri="{FF2B5EF4-FFF2-40B4-BE49-F238E27FC236}">
                <a16:creationId xmlns:a16="http://schemas.microsoft.com/office/drawing/2014/main" id="{91DC788E-4D41-4BFA-A6D0-E1032A3781C5}"/>
              </a:ext>
            </a:extLst>
          </p:cNvPr>
          <p:cNvGrpSpPr/>
          <p:nvPr/>
        </p:nvGrpSpPr>
        <p:grpSpPr>
          <a:xfrm>
            <a:off x="666749" y="3573017"/>
            <a:ext cx="8677276" cy="1423213"/>
            <a:chOff x="666749" y="3698291"/>
            <a:chExt cx="8677276" cy="1423213"/>
          </a:xfrm>
        </p:grpSpPr>
        <p:sp>
          <p:nvSpPr>
            <p:cNvPr id="12" name="모서리가 둥근 직사각형 4">
              <a:extLst>
                <a:ext uri="{FF2B5EF4-FFF2-40B4-BE49-F238E27FC236}">
                  <a16:creationId xmlns:a16="http://schemas.microsoft.com/office/drawing/2014/main" id="{A7AD9D79-A6DA-484B-B40B-C001BCE63448}"/>
                </a:ext>
              </a:extLst>
            </p:cNvPr>
            <p:cNvSpPr/>
            <p:nvPr/>
          </p:nvSpPr>
          <p:spPr>
            <a:xfrm>
              <a:off x="666749" y="3698291"/>
              <a:ext cx="8677275" cy="142321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SamsungOne 400" panose="020B0503030303020204" pitchFamily="34" charset="0"/>
              </a:endParaRPr>
            </a:p>
          </p:txBody>
        </p:sp>
        <p:pic>
          <p:nvPicPr>
            <p:cNvPr id="14" name="그림 13">
              <a:extLst>
                <a:ext uri="{FF2B5EF4-FFF2-40B4-BE49-F238E27FC236}">
                  <a16:creationId xmlns:a16="http://schemas.microsoft.com/office/drawing/2014/main" id="{326D4EB6-BBDA-4D45-B2F7-FD4F59834713}"/>
                </a:ext>
              </a:extLst>
            </p:cNvPr>
            <p:cNvPicPr>
              <a:picLocks noChangeAspect="1"/>
            </p:cNvPicPr>
            <p:nvPr/>
          </p:nvPicPr>
          <p:blipFill rotWithShape="1">
            <a:blip r:embed="rId5"/>
            <a:srcRect l="994" r="27803" b="-2141"/>
            <a:stretch/>
          </p:blipFill>
          <p:spPr>
            <a:xfrm>
              <a:off x="774949" y="3767048"/>
              <a:ext cx="8569076" cy="1273126"/>
            </a:xfrm>
            <a:prstGeom prst="rect">
              <a:avLst/>
            </a:prstGeom>
            <a:ln>
              <a:noFill/>
            </a:ln>
          </p:spPr>
        </p:pic>
      </p:grpSp>
      <p:sp>
        <p:nvSpPr>
          <p:cNvPr id="17" name="직사각형 16">
            <a:extLst>
              <a:ext uri="{FF2B5EF4-FFF2-40B4-BE49-F238E27FC236}">
                <a16:creationId xmlns:a16="http://schemas.microsoft.com/office/drawing/2014/main" id="{31D67CDE-0F28-4A60-8C16-F2F52152E445}"/>
              </a:ext>
            </a:extLst>
          </p:cNvPr>
          <p:cNvSpPr/>
          <p:nvPr/>
        </p:nvSpPr>
        <p:spPr>
          <a:xfrm>
            <a:off x="671261" y="5157192"/>
            <a:ext cx="8632825" cy="945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Container object exposing keys as attributes. </a:t>
            </a:r>
            <a:b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b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Bunch objects are sometimes used as an output for functions and methods. </a:t>
            </a:r>
            <a:b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b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They extend dictionaries by enabling values to be accessed by key, bunch[“</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value_key</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or by an attribute,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bunch.value_key</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p:txBody>
      </p:sp>
    </p:spTree>
    <p:extLst>
      <p:ext uri="{BB962C8B-B14F-4D97-AF65-F5344CB8AC3E}">
        <p14:creationId xmlns:p14="http://schemas.microsoft.com/office/powerpoint/2010/main" val="4183072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7" name="모서리가 둥근 직사각형 4">
            <a:extLst>
              <a:ext uri="{FF2B5EF4-FFF2-40B4-BE49-F238E27FC236}">
                <a16:creationId xmlns:a16="http://schemas.microsoft.com/office/drawing/2014/main" id="{549F4C64-5AF0-43ED-A9ED-34D502BF364D}"/>
              </a:ext>
            </a:extLst>
          </p:cNvPr>
          <p:cNvSpPr/>
          <p:nvPr/>
        </p:nvSpPr>
        <p:spPr>
          <a:xfrm>
            <a:off x="666749" y="1773239"/>
            <a:ext cx="8677275" cy="359208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8" name="그림 17">
            <a:extLst>
              <a:ext uri="{FF2B5EF4-FFF2-40B4-BE49-F238E27FC236}">
                <a16:creationId xmlns:a16="http://schemas.microsoft.com/office/drawing/2014/main" id="{ADF5FA8A-A073-470A-A099-F147AF11B443}"/>
              </a:ext>
            </a:extLst>
          </p:cNvPr>
          <p:cNvPicPr>
            <a:picLocks noChangeAspect="1"/>
          </p:cNvPicPr>
          <p:nvPr/>
        </p:nvPicPr>
        <p:blipFill rotWithShape="1">
          <a:blip r:embed="rId4"/>
          <a:srcRect r="3062"/>
          <a:stretch/>
        </p:blipFill>
        <p:spPr>
          <a:xfrm>
            <a:off x="722343" y="1844825"/>
            <a:ext cx="7361417" cy="3466098"/>
          </a:xfrm>
          <a:prstGeom prst="rect">
            <a:avLst/>
          </a:prstGeom>
          <a:ln>
            <a:noFill/>
          </a:ln>
        </p:spPr>
      </p:pic>
      <p:sp>
        <p:nvSpPr>
          <p:cNvPr id="20" name="직사각형 19">
            <a:extLst>
              <a:ext uri="{FF2B5EF4-FFF2-40B4-BE49-F238E27FC236}">
                <a16:creationId xmlns:a16="http://schemas.microsoft.com/office/drawing/2014/main" id="{D32AC27C-738E-4523-B3FB-113EA2FDBE3D}"/>
              </a:ext>
            </a:extLst>
          </p:cNvPr>
          <p:cNvSpPr/>
          <p:nvPr/>
        </p:nvSpPr>
        <p:spPr>
          <a:xfrm>
            <a:off x="2692861" y="1919446"/>
            <a:ext cx="3420380" cy="16458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9" name="그룹 8">
            <a:extLst>
              <a:ext uri="{FF2B5EF4-FFF2-40B4-BE49-F238E27FC236}">
                <a16:creationId xmlns:a16="http://schemas.microsoft.com/office/drawing/2014/main" id="{02C8543B-64FC-4852-829B-DD5E3675F602}"/>
              </a:ext>
            </a:extLst>
          </p:cNvPr>
          <p:cNvGrpSpPr/>
          <p:nvPr/>
        </p:nvGrpSpPr>
        <p:grpSpPr>
          <a:xfrm>
            <a:off x="666750" y="5481228"/>
            <a:ext cx="8677275" cy="720080"/>
            <a:chOff x="559817" y="3081411"/>
            <a:chExt cx="8677275" cy="720080"/>
          </a:xfrm>
        </p:grpSpPr>
        <p:sp>
          <p:nvSpPr>
            <p:cNvPr id="10" name="모서리가 둥근 직사각형 4">
              <a:extLst>
                <a:ext uri="{FF2B5EF4-FFF2-40B4-BE49-F238E27FC236}">
                  <a16:creationId xmlns:a16="http://schemas.microsoft.com/office/drawing/2014/main" id="{C37AF4D1-54C8-4B34-839E-68151B7657A7}"/>
                </a:ext>
              </a:extLst>
            </p:cNvPr>
            <p:cNvSpPr/>
            <p:nvPr/>
          </p:nvSpPr>
          <p:spPr>
            <a:xfrm>
              <a:off x="559817" y="3081411"/>
              <a:ext cx="8677275" cy="7200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1" name="Picture 2" descr="Byte - Free electronics icons">
              <a:extLst>
                <a:ext uri="{FF2B5EF4-FFF2-40B4-BE49-F238E27FC236}">
                  <a16:creationId xmlns:a16="http://schemas.microsoft.com/office/drawing/2014/main" id="{2BC38BB8-547D-4D99-A0D5-0FD66EB36D36}"/>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DA152DD-E131-444B-8A7D-A636C291292C}"/>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5</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3" name="TextBox 12">
              <a:extLst>
                <a:ext uri="{FF2B5EF4-FFF2-40B4-BE49-F238E27FC236}">
                  <a16:creationId xmlns:a16="http://schemas.microsoft.com/office/drawing/2014/main" id="{45652045-BD1F-4D3B-87CA-C1CEC28DC810}"/>
                </a:ext>
              </a:extLst>
            </p:cNvPr>
            <p:cNvSpPr txBox="1"/>
            <p:nvPr/>
          </p:nvSpPr>
          <p:spPr>
            <a:xfrm>
              <a:off x="1036273" y="3467475"/>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This data becomes x (independent variable, data).</a:t>
              </a:r>
            </a:p>
          </p:txBody>
        </p:sp>
      </p:grpSp>
    </p:spTree>
    <p:extLst>
      <p:ext uri="{BB962C8B-B14F-4D97-AF65-F5344CB8AC3E}">
        <p14:creationId xmlns:p14="http://schemas.microsoft.com/office/powerpoint/2010/main" val="20955721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7" name="모서리가 둥근 직사각형 4">
            <a:extLst>
              <a:ext uri="{FF2B5EF4-FFF2-40B4-BE49-F238E27FC236}">
                <a16:creationId xmlns:a16="http://schemas.microsoft.com/office/drawing/2014/main" id="{549F4C64-5AF0-43ED-A9ED-34D502BF364D}"/>
              </a:ext>
            </a:extLst>
          </p:cNvPr>
          <p:cNvSpPr/>
          <p:nvPr/>
        </p:nvSpPr>
        <p:spPr>
          <a:xfrm>
            <a:off x="666749" y="1773237"/>
            <a:ext cx="8677275" cy="280789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8" name="그림 7">
            <a:extLst>
              <a:ext uri="{FF2B5EF4-FFF2-40B4-BE49-F238E27FC236}">
                <a16:creationId xmlns:a16="http://schemas.microsoft.com/office/drawing/2014/main" id="{DFA4A99C-08E6-4C41-B054-8F132EACDBF2}"/>
              </a:ext>
            </a:extLst>
          </p:cNvPr>
          <p:cNvPicPr>
            <a:picLocks noChangeAspect="1"/>
          </p:cNvPicPr>
          <p:nvPr/>
        </p:nvPicPr>
        <p:blipFill rotWithShape="1">
          <a:blip r:embed="rId4"/>
          <a:srcRect l="1" r="9433" b="42017"/>
          <a:stretch/>
        </p:blipFill>
        <p:spPr>
          <a:xfrm>
            <a:off x="720090" y="1829295"/>
            <a:ext cx="8623936" cy="2535810"/>
          </a:xfrm>
          <a:prstGeom prst="rect">
            <a:avLst/>
          </a:prstGeom>
          <a:ln>
            <a:noFill/>
          </a:ln>
        </p:spPr>
      </p:pic>
      <p:sp>
        <p:nvSpPr>
          <p:cNvPr id="9" name="직사각형 8">
            <a:extLst>
              <a:ext uri="{FF2B5EF4-FFF2-40B4-BE49-F238E27FC236}">
                <a16:creationId xmlns:a16="http://schemas.microsoft.com/office/drawing/2014/main" id="{B71B1CA8-7DC8-4DBD-84A0-1E95178D31EC}"/>
              </a:ext>
            </a:extLst>
          </p:cNvPr>
          <p:cNvSpPr/>
          <p:nvPr/>
        </p:nvSpPr>
        <p:spPr>
          <a:xfrm>
            <a:off x="3367236" y="1922336"/>
            <a:ext cx="3420380" cy="231877"/>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5D2818B8-B219-4AF0-A748-225C7D3FA673}"/>
              </a:ext>
            </a:extLst>
          </p:cNvPr>
          <p:cNvPicPr>
            <a:picLocks noChangeAspect="1"/>
          </p:cNvPicPr>
          <p:nvPr/>
        </p:nvPicPr>
        <p:blipFill rotWithShape="1">
          <a:blip r:embed="rId4"/>
          <a:srcRect l="7185" t="57983" r="78825"/>
          <a:stretch/>
        </p:blipFill>
        <p:spPr>
          <a:xfrm>
            <a:off x="2467136" y="2611103"/>
            <a:ext cx="1332148" cy="1837575"/>
          </a:xfrm>
          <a:prstGeom prst="rect">
            <a:avLst/>
          </a:prstGeom>
          <a:ln>
            <a:noFill/>
          </a:ln>
        </p:spPr>
      </p:pic>
      <p:grpSp>
        <p:nvGrpSpPr>
          <p:cNvPr id="11" name="그룹 10">
            <a:extLst>
              <a:ext uri="{FF2B5EF4-FFF2-40B4-BE49-F238E27FC236}">
                <a16:creationId xmlns:a16="http://schemas.microsoft.com/office/drawing/2014/main" id="{F78A1988-197B-4219-BF3E-E8B87F3A3961}"/>
              </a:ext>
            </a:extLst>
          </p:cNvPr>
          <p:cNvGrpSpPr/>
          <p:nvPr/>
        </p:nvGrpSpPr>
        <p:grpSpPr>
          <a:xfrm>
            <a:off x="666750" y="4689140"/>
            <a:ext cx="8677275" cy="720080"/>
            <a:chOff x="559817" y="3081411"/>
            <a:chExt cx="8677275" cy="720080"/>
          </a:xfrm>
        </p:grpSpPr>
        <p:sp>
          <p:nvSpPr>
            <p:cNvPr id="12" name="모서리가 둥근 직사각형 4">
              <a:extLst>
                <a:ext uri="{FF2B5EF4-FFF2-40B4-BE49-F238E27FC236}">
                  <a16:creationId xmlns:a16="http://schemas.microsoft.com/office/drawing/2014/main" id="{4C437EB7-75FA-4403-9CA2-E0310B95238B}"/>
                </a:ext>
              </a:extLst>
            </p:cNvPr>
            <p:cNvSpPr/>
            <p:nvPr/>
          </p:nvSpPr>
          <p:spPr>
            <a:xfrm>
              <a:off x="559817" y="3081411"/>
              <a:ext cx="8677275" cy="7200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5C992575-8318-4859-A460-CF72310FF838}"/>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27CC69F4-4255-45CC-A281-6A1F6211A1ED}"/>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D84848DF-9C40-4709-A1A3-A3108E4859E4}"/>
                </a:ext>
              </a:extLst>
            </p:cNvPr>
            <p:cNvSpPr txBox="1"/>
            <p:nvPr/>
          </p:nvSpPr>
          <p:spPr>
            <a:xfrm>
              <a:off x="1036273" y="3467475"/>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mn-ea"/>
                  <a:cs typeface="+mn-cs"/>
                </a:rPr>
                <a:t>This data becomes y (dependent variable, actual value).</a:t>
              </a:r>
            </a:p>
          </p:txBody>
        </p:sp>
      </p:grpSp>
    </p:spTree>
    <p:extLst>
      <p:ext uri="{BB962C8B-B14F-4D97-AF65-F5344CB8AC3E}">
        <p14:creationId xmlns:p14="http://schemas.microsoft.com/office/powerpoint/2010/main" val="1572066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nvGrpSpPr>
          <p:cNvPr id="16" name="그룹 15">
            <a:extLst>
              <a:ext uri="{FF2B5EF4-FFF2-40B4-BE49-F238E27FC236}">
                <a16:creationId xmlns:a16="http://schemas.microsoft.com/office/drawing/2014/main" id="{BECC2A97-A6BE-43AC-9D3E-1AA2101DC16A}"/>
              </a:ext>
            </a:extLst>
          </p:cNvPr>
          <p:cNvGrpSpPr/>
          <p:nvPr/>
        </p:nvGrpSpPr>
        <p:grpSpPr>
          <a:xfrm>
            <a:off x="666750" y="3263113"/>
            <a:ext cx="8677275" cy="993979"/>
            <a:chOff x="559817" y="3081410"/>
            <a:chExt cx="8677275" cy="993979"/>
          </a:xfrm>
        </p:grpSpPr>
        <p:sp>
          <p:nvSpPr>
            <p:cNvPr id="17" name="모서리가 둥근 직사각형 4">
              <a:extLst>
                <a:ext uri="{FF2B5EF4-FFF2-40B4-BE49-F238E27FC236}">
                  <a16:creationId xmlns:a16="http://schemas.microsoft.com/office/drawing/2014/main" id="{BBA70AC6-E90F-4674-9A55-81B5FD1FD532}"/>
                </a:ext>
              </a:extLst>
            </p:cNvPr>
            <p:cNvSpPr/>
            <p:nvPr/>
          </p:nvSpPr>
          <p:spPr>
            <a:xfrm>
              <a:off x="559817" y="3081410"/>
              <a:ext cx="8677275" cy="99397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8" name="Picture 2" descr="Byte - Free electronics icons">
              <a:extLst>
                <a:ext uri="{FF2B5EF4-FFF2-40B4-BE49-F238E27FC236}">
                  <a16:creationId xmlns:a16="http://schemas.microsoft.com/office/drawing/2014/main" id="{F1A2D2B0-F537-41AC-9EF9-20BDA8274BE8}"/>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BBE91652-42AF-4AC3-9278-4E0FD8DBC095}"/>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0" name="TextBox 19">
              <a:extLst>
                <a:ext uri="{FF2B5EF4-FFF2-40B4-BE49-F238E27FC236}">
                  <a16:creationId xmlns:a16="http://schemas.microsoft.com/office/drawing/2014/main" id="{58E9E8FD-35BF-476F-B818-77648970FDB8}"/>
                </a:ext>
              </a:extLst>
            </p:cNvPr>
            <p:cNvSpPr txBox="1"/>
            <p:nvPr/>
          </p:nvSpPr>
          <p:spPr>
            <a:xfrm>
              <a:off x="1036273" y="3467475"/>
              <a:ext cx="8167303" cy="477054"/>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Provides details about the data.</a:t>
              </a:r>
            </a:p>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help shows that the default value of </a:t>
              </a:r>
              <a:r>
                <a:rPr lang="en-US" altLang="ko-KR" sz="1300" dirty="0" err="1">
                  <a:solidFill>
                    <a:prstClr val="black">
                      <a:lumMod val="85000"/>
                      <a:lumOff val="15000"/>
                    </a:prstClr>
                  </a:solidFill>
                  <a:latin typeface="SamsungOne 400" panose="020B0503030303020204" pitchFamily="34" charset="0"/>
                </a:rPr>
                <a:t>test_size</a:t>
              </a:r>
              <a:r>
                <a:rPr lang="en-US" altLang="ko-KR" sz="1300" dirty="0">
                  <a:solidFill>
                    <a:prstClr val="black">
                      <a:lumMod val="85000"/>
                      <a:lumOff val="15000"/>
                    </a:prstClr>
                  </a:solidFill>
                  <a:latin typeface="SamsungOne 400" panose="020B0503030303020204" pitchFamily="34" charset="0"/>
                </a:rPr>
                <a:t> is 0.25.</a:t>
              </a:r>
            </a:p>
          </p:txBody>
        </p:sp>
      </p:grpSp>
      <p:grpSp>
        <p:nvGrpSpPr>
          <p:cNvPr id="10" name="그룹 9">
            <a:extLst>
              <a:ext uri="{FF2B5EF4-FFF2-40B4-BE49-F238E27FC236}">
                <a16:creationId xmlns:a16="http://schemas.microsoft.com/office/drawing/2014/main" id="{3CED5BEA-E369-969B-6653-6BAB2C11968C}"/>
              </a:ext>
            </a:extLst>
          </p:cNvPr>
          <p:cNvGrpSpPr/>
          <p:nvPr/>
        </p:nvGrpSpPr>
        <p:grpSpPr>
          <a:xfrm>
            <a:off x="666749" y="1773237"/>
            <a:ext cx="8677275" cy="1388251"/>
            <a:chOff x="666749" y="1773237"/>
            <a:chExt cx="8677275" cy="1388251"/>
          </a:xfrm>
        </p:grpSpPr>
        <p:sp>
          <p:nvSpPr>
            <p:cNvPr id="4" name="모서리가 둥근 직사각형 4">
              <a:extLst>
                <a:ext uri="{FF2B5EF4-FFF2-40B4-BE49-F238E27FC236}">
                  <a16:creationId xmlns:a16="http://schemas.microsoft.com/office/drawing/2014/main" id="{7AF3B52F-CFC5-2D89-CFC3-7014E084D514}"/>
                </a:ext>
              </a:extLst>
            </p:cNvPr>
            <p:cNvSpPr/>
            <p:nvPr/>
          </p:nvSpPr>
          <p:spPr>
            <a:xfrm>
              <a:off x="666749" y="1773237"/>
              <a:ext cx="8677275" cy="138825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a:extLst>
                <a:ext uri="{FF2B5EF4-FFF2-40B4-BE49-F238E27FC236}">
                  <a16:creationId xmlns:a16="http://schemas.microsoft.com/office/drawing/2014/main" id="{4D4AF9AB-9D0C-17E8-3D9A-BEBF64DEC43A}"/>
                </a:ext>
              </a:extLst>
            </p:cNvPr>
            <p:cNvPicPr>
              <a:picLocks noChangeAspect="1"/>
            </p:cNvPicPr>
            <p:nvPr/>
          </p:nvPicPr>
          <p:blipFill rotWithShape="1">
            <a:blip r:embed="rId5"/>
            <a:srcRect r="8779" b="-5152"/>
            <a:stretch/>
          </p:blipFill>
          <p:spPr>
            <a:xfrm>
              <a:off x="767013" y="1848105"/>
              <a:ext cx="8572239" cy="418060"/>
            </a:xfrm>
            <a:prstGeom prst="rect">
              <a:avLst/>
            </a:prstGeom>
          </p:spPr>
        </p:pic>
        <p:sp>
          <p:nvSpPr>
            <p:cNvPr id="5" name="직사각형 4">
              <a:extLst>
                <a:ext uri="{FF2B5EF4-FFF2-40B4-BE49-F238E27FC236}">
                  <a16:creationId xmlns:a16="http://schemas.microsoft.com/office/drawing/2014/main" id="{FC2B7B6B-DF97-29A1-BB42-F8F5E077E8E2}"/>
                </a:ext>
              </a:extLst>
            </p:cNvPr>
            <p:cNvSpPr/>
            <p:nvPr/>
          </p:nvSpPr>
          <p:spPr>
            <a:xfrm>
              <a:off x="1131125" y="1974798"/>
              <a:ext cx="106364" cy="15763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50" dirty="0">
                  <a:solidFill>
                    <a:srgbClr val="2D3C9D"/>
                  </a:solidFill>
                  <a:latin typeface="D2Coding" panose="020B0609020101020101" pitchFamily="49" charset="-127"/>
                  <a:ea typeface="D2Coding" panose="020B0609020101020101" pitchFamily="49" charset="-127"/>
                </a:rPr>
                <a:t>1</a:t>
              </a:r>
              <a:endParaRPr lang="ko-KR" altLang="en-US" sz="1250" dirty="0">
                <a:solidFill>
                  <a:srgbClr val="2D3C9D"/>
                </a:solidFill>
                <a:latin typeface="D2Coding" panose="020B0609020101020101" pitchFamily="49" charset="-127"/>
                <a:ea typeface="D2Coding" panose="020B0609020101020101" pitchFamily="49" charset="-127"/>
              </a:endParaRPr>
            </a:p>
          </p:txBody>
        </p:sp>
        <p:pic>
          <p:nvPicPr>
            <p:cNvPr id="7" name="그림 6">
              <a:extLst>
                <a:ext uri="{FF2B5EF4-FFF2-40B4-BE49-F238E27FC236}">
                  <a16:creationId xmlns:a16="http://schemas.microsoft.com/office/drawing/2014/main" id="{28FEE38A-B2B9-9DDF-3937-9B8E856FBEC8}"/>
                </a:ext>
              </a:extLst>
            </p:cNvPr>
            <p:cNvPicPr>
              <a:picLocks noChangeAspect="1"/>
            </p:cNvPicPr>
            <p:nvPr/>
          </p:nvPicPr>
          <p:blipFill rotWithShape="1">
            <a:blip r:embed="rId6"/>
            <a:srcRect r="9799"/>
            <a:stretch/>
          </p:blipFill>
          <p:spPr>
            <a:xfrm>
              <a:off x="754380" y="2285900"/>
              <a:ext cx="8569632" cy="793453"/>
            </a:xfrm>
            <a:prstGeom prst="rect">
              <a:avLst/>
            </a:prstGeom>
          </p:spPr>
        </p:pic>
        <p:sp>
          <p:nvSpPr>
            <p:cNvPr id="8" name="직사각형 7">
              <a:extLst>
                <a:ext uri="{FF2B5EF4-FFF2-40B4-BE49-F238E27FC236}">
                  <a16:creationId xmlns:a16="http://schemas.microsoft.com/office/drawing/2014/main" id="{B001B759-C3F5-C6EE-F6DF-BA9D69592B23}"/>
                </a:ext>
              </a:extLst>
            </p:cNvPr>
            <p:cNvSpPr/>
            <p:nvPr/>
          </p:nvSpPr>
          <p:spPr>
            <a:xfrm>
              <a:off x="1127315" y="2404031"/>
              <a:ext cx="106364" cy="15763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50" dirty="0">
                  <a:solidFill>
                    <a:srgbClr val="2D3C9D"/>
                  </a:solidFill>
                  <a:latin typeface="D2Coding" panose="020B0609020101020101" pitchFamily="49" charset="-127"/>
                  <a:ea typeface="D2Coding" panose="020B0609020101020101" pitchFamily="49" charset="-127"/>
                </a:rPr>
                <a:t>2</a:t>
              </a:r>
              <a:endParaRPr lang="ko-KR" altLang="en-US" sz="1250" dirty="0">
                <a:solidFill>
                  <a:srgbClr val="2D3C9D"/>
                </a:solidFill>
                <a:latin typeface="D2Coding" panose="020B0609020101020101" pitchFamily="49" charset="-127"/>
                <a:ea typeface="D2Coding" panose="020B0609020101020101" pitchFamily="49" charset="-127"/>
              </a:endParaRPr>
            </a:p>
          </p:txBody>
        </p:sp>
      </p:grpSp>
    </p:spTree>
    <p:extLst>
      <p:ext uri="{BB962C8B-B14F-4D97-AF65-F5344CB8AC3E}">
        <p14:creationId xmlns:p14="http://schemas.microsoft.com/office/powerpoint/2010/main" val="10610154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nvGrpSpPr>
          <p:cNvPr id="5" name="그룹 4">
            <a:extLst>
              <a:ext uri="{FF2B5EF4-FFF2-40B4-BE49-F238E27FC236}">
                <a16:creationId xmlns:a16="http://schemas.microsoft.com/office/drawing/2014/main" id="{8BF8F57B-A257-4DF0-8724-861FDC1299D1}"/>
              </a:ext>
            </a:extLst>
          </p:cNvPr>
          <p:cNvGrpSpPr/>
          <p:nvPr/>
        </p:nvGrpSpPr>
        <p:grpSpPr>
          <a:xfrm>
            <a:off x="666749" y="1772816"/>
            <a:ext cx="8677275" cy="855858"/>
            <a:chOff x="666749" y="4302970"/>
            <a:chExt cx="8677275" cy="855858"/>
          </a:xfrm>
        </p:grpSpPr>
        <p:sp>
          <p:nvSpPr>
            <p:cNvPr id="14" name="모서리가 둥근 직사각형 4">
              <a:extLst>
                <a:ext uri="{FF2B5EF4-FFF2-40B4-BE49-F238E27FC236}">
                  <a16:creationId xmlns:a16="http://schemas.microsoft.com/office/drawing/2014/main" id="{945E03E8-06CF-4F53-9165-A7818728F674}"/>
                </a:ext>
              </a:extLst>
            </p:cNvPr>
            <p:cNvSpPr/>
            <p:nvPr/>
          </p:nvSpPr>
          <p:spPr>
            <a:xfrm>
              <a:off x="666749" y="4302970"/>
              <a:ext cx="8677275" cy="85585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9" name="그림 8">
              <a:extLst>
                <a:ext uri="{FF2B5EF4-FFF2-40B4-BE49-F238E27FC236}">
                  <a16:creationId xmlns:a16="http://schemas.microsoft.com/office/drawing/2014/main" id="{D1EFC405-DDA9-4B5C-B824-1198B1659A95}"/>
                </a:ext>
              </a:extLst>
            </p:cNvPr>
            <p:cNvPicPr>
              <a:picLocks noChangeAspect="1"/>
            </p:cNvPicPr>
            <p:nvPr/>
          </p:nvPicPr>
          <p:blipFill rotWithShape="1">
            <a:blip r:embed="rId4"/>
            <a:srcRect l="949" r="27437"/>
            <a:stretch/>
          </p:blipFill>
          <p:spPr>
            <a:xfrm>
              <a:off x="757083" y="4331848"/>
              <a:ext cx="8586941" cy="753693"/>
            </a:xfrm>
            <a:prstGeom prst="rect">
              <a:avLst/>
            </a:prstGeom>
            <a:ln>
              <a:noFill/>
            </a:ln>
          </p:spPr>
        </p:pic>
      </p:grpSp>
      <p:grpSp>
        <p:nvGrpSpPr>
          <p:cNvPr id="29" name="그룹 28">
            <a:extLst>
              <a:ext uri="{FF2B5EF4-FFF2-40B4-BE49-F238E27FC236}">
                <a16:creationId xmlns:a16="http://schemas.microsoft.com/office/drawing/2014/main" id="{4DDB9215-7094-4D99-81C3-DCB38F26D9E1}"/>
              </a:ext>
            </a:extLst>
          </p:cNvPr>
          <p:cNvGrpSpPr/>
          <p:nvPr/>
        </p:nvGrpSpPr>
        <p:grpSpPr>
          <a:xfrm>
            <a:off x="666750" y="2708920"/>
            <a:ext cx="8677275" cy="935331"/>
            <a:chOff x="559817" y="3081410"/>
            <a:chExt cx="8677275" cy="935331"/>
          </a:xfrm>
        </p:grpSpPr>
        <p:sp>
          <p:nvSpPr>
            <p:cNvPr id="30" name="모서리가 둥근 직사각형 4">
              <a:extLst>
                <a:ext uri="{FF2B5EF4-FFF2-40B4-BE49-F238E27FC236}">
                  <a16:creationId xmlns:a16="http://schemas.microsoft.com/office/drawing/2014/main" id="{5300AF98-9FD4-4797-801E-4258A2EBC62F}"/>
                </a:ext>
              </a:extLst>
            </p:cNvPr>
            <p:cNvSpPr/>
            <p:nvPr/>
          </p:nvSpPr>
          <p:spPr>
            <a:xfrm>
              <a:off x="559817" y="3081410"/>
              <a:ext cx="8677275" cy="93533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1" name="Picture 2" descr="Byte - Free electronics icons">
              <a:extLst>
                <a:ext uri="{FF2B5EF4-FFF2-40B4-BE49-F238E27FC236}">
                  <a16:creationId xmlns:a16="http://schemas.microsoft.com/office/drawing/2014/main" id="{B6BC5E5C-C30B-44BF-AA13-A5369D7D418B}"/>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BB108FD9-E660-4196-B341-AABF41E2D17C}"/>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33" name="TextBox 32">
              <a:extLst>
                <a:ext uri="{FF2B5EF4-FFF2-40B4-BE49-F238E27FC236}">
                  <a16:creationId xmlns:a16="http://schemas.microsoft.com/office/drawing/2014/main" id="{7C16F72E-94B1-4813-8ABC-44548D8359E2}"/>
                </a:ext>
              </a:extLst>
            </p:cNvPr>
            <p:cNvSpPr txBox="1"/>
            <p:nvPr/>
          </p:nvSpPr>
          <p:spPr>
            <a:xfrm>
              <a:off x="1036273" y="3467475"/>
              <a:ext cx="8167303" cy="400110"/>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From the total of 569 observed values, divide the data for training and evaluation into 7:3 or 8:2. </a:t>
              </a:r>
              <a:br>
                <a:rPr lang="en-US" altLang="ko-KR" sz="1300" dirty="0">
                  <a:solidFill>
                    <a:prstClr val="black">
                      <a:lumMod val="85000"/>
                      <a:lumOff val="15000"/>
                    </a:prstClr>
                  </a:solidFill>
                  <a:latin typeface="SamsungOne 400" panose="020B0503030303020204" pitchFamily="34" charset="0"/>
                </a:rPr>
              </a:br>
              <a:r>
                <a:rPr lang="en-US" altLang="ko-KR" sz="1300" dirty="0">
                  <a:solidFill>
                    <a:prstClr val="black">
                      <a:lumMod val="85000"/>
                      <a:lumOff val="15000"/>
                    </a:prstClr>
                  </a:solidFill>
                  <a:latin typeface="SamsungOne 400" panose="020B0503030303020204" pitchFamily="34" charset="0"/>
                </a:rPr>
                <a:t>7.5:2.5 is the default value.</a:t>
              </a:r>
            </a:p>
          </p:txBody>
        </p:sp>
      </p:grpSp>
    </p:spTree>
    <p:extLst>
      <p:ext uri="{BB962C8B-B14F-4D97-AF65-F5344CB8AC3E}">
        <p14:creationId xmlns:p14="http://schemas.microsoft.com/office/powerpoint/2010/main" val="4246691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4" name="모서리가 둥근 직사각형 4">
            <a:extLst>
              <a:ext uri="{FF2B5EF4-FFF2-40B4-BE49-F238E27FC236}">
                <a16:creationId xmlns:a16="http://schemas.microsoft.com/office/drawing/2014/main" id="{945E03E8-06CF-4F53-9165-A7818728F674}"/>
              </a:ext>
            </a:extLst>
          </p:cNvPr>
          <p:cNvSpPr/>
          <p:nvPr/>
        </p:nvSpPr>
        <p:spPr>
          <a:xfrm>
            <a:off x="666749" y="2119511"/>
            <a:ext cx="8677275" cy="235437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sp>
        <p:nvSpPr>
          <p:cNvPr id="26" name="직사각형 25">
            <a:extLst>
              <a:ext uri="{FF2B5EF4-FFF2-40B4-BE49-F238E27FC236}">
                <a16:creationId xmlns:a16="http://schemas.microsoft.com/office/drawing/2014/main" id="{E0E9A875-855D-4DD3-BA61-C3F6A0D3F901}"/>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Use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train_test_split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to split the data for making and evaluating the model. </a:t>
            </a:r>
          </a:p>
        </p:txBody>
      </p:sp>
      <p:pic>
        <p:nvPicPr>
          <p:cNvPr id="27" name="그림 26">
            <a:extLst>
              <a:ext uri="{FF2B5EF4-FFF2-40B4-BE49-F238E27FC236}">
                <a16:creationId xmlns:a16="http://schemas.microsoft.com/office/drawing/2014/main" id="{F67E93C1-65CA-4DB0-9CA1-B8656567AC3A}"/>
              </a:ext>
            </a:extLst>
          </p:cNvPr>
          <p:cNvPicPr>
            <a:picLocks noChangeAspect="1"/>
          </p:cNvPicPr>
          <p:nvPr/>
        </p:nvPicPr>
        <p:blipFill rotWithShape="1">
          <a:blip r:embed="rId4"/>
          <a:srcRect l="1316" t="3308" r="25033"/>
          <a:stretch/>
        </p:blipFill>
        <p:spPr>
          <a:xfrm>
            <a:off x="810951" y="2249220"/>
            <a:ext cx="8533073" cy="2104475"/>
          </a:xfrm>
          <a:prstGeom prst="rect">
            <a:avLst/>
          </a:prstGeom>
          <a:ln>
            <a:noFill/>
          </a:ln>
        </p:spPr>
      </p:pic>
    </p:spTree>
    <p:extLst>
      <p:ext uri="{BB962C8B-B14F-4D97-AF65-F5344CB8AC3E}">
        <p14:creationId xmlns:p14="http://schemas.microsoft.com/office/powerpoint/2010/main" val="1508465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7" name="모서리가 둥근 직사각형 4">
            <a:extLst>
              <a:ext uri="{FF2B5EF4-FFF2-40B4-BE49-F238E27FC236}">
                <a16:creationId xmlns:a16="http://schemas.microsoft.com/office/drawing/2014/main" id="{549F4C64-5AF0-43ED-A9ED-34D502BF364D}"/>
              </a:ext>
            </a:extLst>
          </p:cNvPr>
          <p:cNvSpPr/>
          <p:nvPr/>
        </p:nvSpPr>
        <p:spPr>
          <a:xfrm>
            <a:off x="666749" y="1773238"/>
            <a:ext cx="8677276" cy="227465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29" name="그룹 28">
            <a:extLst>
              <a:ext uri="{FF2B5EF4-FFF2-40B4-BE49-F238E27FC236}">
                <a16:creationId xmlns:a16="http://schemas.microsoft.com/office/drawing/2014/main" id="{4DDB9215-7094-4D99-81C3-DCB38F26D9E1}"/>
              </a:ext>
            </a:extLst>
          </p:cNvPr>
          <p:cNvGrpSpPr/>
          <p:nvPr/>
        </p:nvGrpSpPr>
        <p:grpSpPr>
          <a:xfrm>
            <a:off x="666750" y="4149080"/>
            <a:ext cx="8677275" cy="1332148"/>
            <a:chOff x="559817" y="3081410"/>
            <a:chExt cx="8677275" cy="1332148"/>
          </a:xfrm>
        </p:grpSpPr>
        <p:sp>
          <p:nvSpPr>
            <p:cNvPr id="30" name="모서리가 둥근 직사각형 4">
              <a:extLst>
                <a:ext uri="{FF2B5EF4-FFF2-40B4-BE49-F238E27FC236}">
                  <a16:creationId xmlns:a16="http://schemas.microsoft.com/office/drawing/2014/main" id="{5300AF98-9FD4-4797-801E-4258A2EBC62F}"/>
                </a:ext>
              </a:extLst>
            </p:cNvPr>
            <p:cNvSpPr/>
            <p:nvPr/>
          </p:nvSpPr>
          <p:spPr>
            <a:xfrm>
              <a:off x="559817" y="3081410"/>
              <a:ext cx="8677275" cy="133214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1" name="Picture 2" descr="Byte - Free electronics icons">
              <a:extLst>
                <a:ext uri="{FF2B5EF4-FFF2-40B4-BE49-F238E27FC236}">
                  <a16:creationId xmlns:a16="http://schemas.microsoft.com/office/drawing/2014/main" id="{B6BC5E5C-C30B-44BF-AA13-A5369D7D418B}"/>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BB108FD9-E660-4196-B341-AABF41E2D17C}"/>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11</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33" name="TextBox 32">
              <a:extLst>
                <a:ext uri="{FF2B5EF4-FFF2-40B4-BE49-F238E27FC236}">
                  <a16:creationId xmlns:a16="http://schemas.microsoft.com/office/drawing/2014/main" id="{7C16F72E-94B1-4813-8ABC-44548D8359E2}"/>
                </a:ext>
              </a:extLst>
            </p:cNvPr>
            <p:cNvSpPr txBox="1"/>
            <p:nvPr/>
          </p:nvSpPr>
          <p:spPr>
            <a:xfrm>
              <a:off x="1036273" y="3467475"/>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mn-ea"/>
                  <a:cs typeface="+mn-cs"/>
                </a:rPr>
                <a:t>426 observed values (75%) out of total 569 observations are found.</a:t>
              </a:r>
            </a:p>
          </p:txBody>
        </p:sp>
        <p:pic>
          <p:nvPicPr>
            <p:cNvPr id="28" name="Picture 2" descr="Byte - Free electronics icons">
              <a:extLst>
                <a:ext uri="{FF2B5EF4-FFF2-40B4-BE49-F238E27FC236}">
                  <a16:creationId xmlns:a16="http://schemas.microsoft.com/office/drawing/2014/main" id="{81263D13-5EB9-4BEF-934D-8065AE543711}"/>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811639"/>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79488786-E790-4D11-B906-C73803E73B88}"/>
                </a:ext>
              </a:extLst>
            </p:cNvPr>
            <p:cNvSpPr txBox="1"/>
            <p:nvPr/>
          </p:nvSpPr>
          <p:spPr>
            <a:xfrm>
              <a:off x="907642" y="3778818"/>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37" name="TextBox 36">
              <a:extLst>
                <a:ext uri="{FF2B5EF4-FFF2-40B4-BE49-F238E27FC236}">
                  <a16:creationId xmlns:a16="http://schemas.microsoft.com/office/drawing/2014/main" id="{5AD53559-30E2-4FF2-B4B3-DD47F62FF7E8}"/>
                </a:ext>
              </a:extLst>
            </p:cNvPr>
            <p:cNvSpPr txBox="1"/>
            <p:nvPr/>
          </p:nvSpPr>
          <p:spPr>
            <a:xfrm>
              <a:off x="1036273" y="4078217"/>
              <a:ext cx="8167303"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143 observed values (25%) out of total 569 observations are found.</a:t>
              </a:r>
            </a:p>
          </p:txBody>
        </p:sp>
      </p:grpSp>
      <p:pic>
        <p:nvPicPr>
          <p:cNvPr id="26" name="그림 25">
            <a:extLst>
              <a:ext uri="{FF2B5EF4-FFF2-40B4-BE49-F238E27FC236}">
                <a16:creationId xmlns:a16="http://schemas.microsoft.com/office/drawing/2014/main" id="{0787ED74-89E4-41A8-98B9-DCE5A319A994}"/>
              </a:ext>
            </a:extLst>
          </p:cNvPr>
          <p:cNvPicPr>
            <a:picLocks noChangeAspect="1"/>
          </p:cNvPicPr>
          <p:nvPr/>
        </p:nvPicPr>
        <p:blipFill rotWithShape="1">
          <a:blip r:embed="rId5"/>
          <a:srcRect l="787" r="23753" b="3609"/>
          <a:stretch/>
        </p:blipFill>
        <p:spPr>
          <a:xfrm>
            <a:off x="765810" y="1808821"/>
            <a:ext cx="8578215" cy="2160240"/>
          </a:xfrm>
          <a:prstGeom prst="rect">
            <a:avLst/>
          </a:prstGeom>
          <a:ln>
            <a:noFill/>
          </a:ln>
        </p:spPr>
      </p:pic>
    </p:spTree>
    <p:extLst>
      <p:ext uri="{BB962C8B-B14F-4D97-AF65-F5344CB8AC3E}">
        <p14:creationId xmlns:p14="http://schemas.microsoft.com/office/powerpoint/2010/main" val="1149628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4" name="모서리가 둥근 직사각형 4">
            <a:extLst>
              <a:ext uri="{FF2B5EF4-FFF2-40B4-BE49-F238E27FC236}">
                <a16:creationId xmlns:a16="http://schemas.microsoft.com/office/drawing/2014/main" id="{945E03E8-06CF-4F53-9165-A7818728F674}"/>
              </a:ext>
            </a:extLst>
          </p:cNvPr>
          <p:cNvSpPr/>
          <p:nvPr/>
        </p:nvSpPr>
        <p:spPr>
          <a:xfrm>
            <a:off x="666749" y="2276872"/>
            <a:ext cx="8677275" cy="227227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sp>
        <p:nvSpPr>
          <p:cNvPr id="26" name="직사각형 25">
            <a:extLst>
              <a:ext uri="{FF2B5EF4-FFF2-40B4-BE49-F238E27FC236}">
                <a16:creationId xmlns:a16="http://schemas.microsoft.com/office/drawing/2014/main" id="{E0E9A875-855D-4DD3-BA61-C3F6A0D3F901}"/>
              </a:ext>
            </a:extLst>
          </p:cNvPr>
          <p:cNvSpPr/>
          <p:nvPr/>
        </p:nvSpPr>
        <p:spPr>
          <a:xfrm>
            <a:off x="671261" y="1700808"/>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For instancing, use the model’s hyperparameter as an argument. Hyperparameter is an option that requires a human setting and greatly affects the model performance.</a:t>
            </a:r>
          </a:p>
        </p:txBody>
      </p:sp>
      <p:pic>
        <p:nvPicPr>
          <p:cNvPr id="10" name="그림 9">
            <a:extLst>
              <a:ext uri="{FF2B5EF4-FFF2-40B4-BE49-F238E27FC236}">
                <a16:creationId xmlns:a16="http://schemas.microsoft.com/office/drawing/2014/main" id="{20425234-4FDA-4194-84CB-963A6C2CF768}"/>
              </a:ext>
            </a:extLst>
          </p:cNvPr>
          <p:cNvPicPr>
            <a:picLocks noChangeAspect="1"/>
          </p:cNvPicPr>
          <p:nvPr/>
        </p:nvPicPr>
        <p:blipFill rotWithShape="1">
          <a:blip r:embed="rId4"/>
          <a:srcRect l="885" t="4224" r="21522"/>
          <a:stretch/>
        </p:blipFill>
        <p:spPr>
          <a:xfrm>
            <a:off x="847725" y="2352898"/>
            <a:ext cx="8496299" cy="2097443"/>
          </a:xfrm>
          <a:prstGeom prst="rect">
            <a:avLst/>
          </a:prstGeom>
          <a:ln>
            <a:noFill/>
          </a:ln>
        </p:spPr>
      </p:pic>
      <p:grpSp>
        <p:nvGrpSpPr>
          <p:cNvPr id="11" name="그룹 10">
            <a:extLst>
              <a:ext uri="{FF2B5EF4-FFF2-40B4-BE49-F238E27FC236}">
                <a16:creationId xmlns:a16="http://schemas.microsoft.com/office/drawing/2014/main" id="{C32608EA-2473-42F8-B27D-CAEB3D014D69}"/>
              </a:ext>
            </a:extLst>
          </p:cNvPr>
          <p:cNvGrpSpPr/>
          <p:nvPr/>
        </p:nvGrpSpPr>
        <p:grpSpPr>
          <a:xfrm>
            <a:off x="666750" y="4653136"/>
            <a:ext cx="8677275" cy="1584176"/>
            <a:chOff x="559817" y="3081410"/>
            <a:chExt cx="8677275" cy="1584176"/>
          </a:xfrm>
        </p:grpSpPr>
        <p:sp>
          <p:nvSpPr>
            <p:cNvPr id="12" name="모서리가 둥근 직사각형 4">
              <a:extLst>
                <a:ext uri="{FF2B5EF4-FFF2-40B4-BE49-F238E27FC236}">
                  <a16:creationId xmlns:a16="http://schemas.microsoft.com/office/drawing/2014/main" id="{30427F58-C193-4557-92E3-4C9C0A0D100C}"/>
                </a:ext>
              </a:extLst>
            </p:cNvPr>
            <p:cNvSpPr/>
            <p:nvPr/>
          </p:nvSpPr>
          <p:spPr>
            <a:xfrm>
              <a:off x="559817" y="3081410"/>
              <a:ext cx="8677275" cy="158417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6194D9C8-6786-4DB2-99EA-03049DDA6E4E}"/>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F09F80F1-8F19-4A82-B206-95D9CD4C11FD}"/>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1-5</a:t>
              </a:r>
            </a:p>
          </p:txBody>
        </p:sp>
        <p:sp>
          <p:nvSpPr>
            <p:cNvPr id="17" name="TextBox 16">
              <a:extLst>
                <a:ext uri="{FF2B5EF4-FFF2-40B4-BE49-F238E27FC236}">
                  <a16:creationId xmlns:a16="http://schemas.microsoft.com/office/drawing/2014/main" id="{CD8ECB4C-297E-4F96-9106-2C7D4DD3DD9B}"/>
                </a:ext>
              </a:extLst>
            </p:cNvPr>
            <p:cNvSpPr txBox="1"/>
            <p:nvPr/>
          </p:nvSpPr>
          <p:spPr>
            <a:xfrm>
              <a:off x="1036273" y="3467475"/>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mn-ea"/>
                  <a:cs typeface="+mn-cs"/>
                </a:rPr>
                <a:t>Loading the test dataset</a:t>
              </a:r>
              <a:endParaRPr lang="ko-KR" altLang="en-US" sz="1300" dirty="0">
                <a:solidFill>
                  <a:prstClr val="black">
                    <a:lumMod val="85000"/>
                    <a:lumOff val="15000"/>
                  </a:prstClr>
                </a:solidFill>
                <a:latin typeface="SamsungOne 400" panose="020B0503030303020204" pitchFamily="34" charset="0"/>
                <a:ea typeface="+mn-ea"/>
                <a:cs typeface="+mn-cs"/>
              </a:endParaRPr>
            </a:p>
          </p:txBody>
        </p:sp>
        <p:pic>
          <p:nvPicPr>
            <p:cNvPr id="18" name="Picture 2" descr="Byte - Free electronics icons">
              <a:extLst>
                <a:ext uri="{FF2B5EF4-FFF2-40B4-BE49-F238E27FC236}">
                  <a16:creationId xmlns:a16="http://schemas.microsoft.com/office/drawing/2014/main" id="{BCC72A28-C0DD-408D-B80E-FE945A199B09}"/>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808986"/>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0140A6AC-5D4A-4706-9261-46F90CA04F7A}"/>
                </a:ext>
              </a:extLst>
            </p:cNvPr>
            <p:cNvSpPr txBox="1"/>
            <p:nvPr/>
          </p:nvSpPr>
          <p:spPr>
            <a:xfrm>
              <a:off x="907642" y="3776165"/>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1-8</a:t>
              </a:r>
            </a:p>
          </p:txBody>
        </p:sp>
        <p:sp>
          <p:nvSpPr>
            <p:cNvPr id="20" name="TextBox 19">
              <a:extLst>
                <a:ext uri="{FF2B5EF4-FFF2-40B4-BE49-F238E27FC236}">
                  <a16:creationId xmlns:a16="http://schemas.microsoft.com/office/drawing/2014/main" id="{AF2EB721-FF76-40A8-B0E6-3AE067DE79C0}"/>
                </a:ext>
              </a:extLst>
            </p:cNvPr>
            <p:cNvSpPr txBox="1"/>
            <p:nvPr/>
          </p:nvSpPr>
          <p:spPr>
            <a:xfrm>
              <a:off x="1036273" y="4075564"/>
              <a:ext cx="8167303" cy="477054"/>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Instancing the estimator and hyperparameter setting</a:t>
              </a:r>
            </a:p>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Model initialization by using the entropy</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for branching</a:t>
              </a:r>
            </a:p>
          </p:txBody>
        </p:sp>
      </p:grpSp>
    </p:spTree>
    <p:extLst>
      <p:ext uri="{BB962C8B-B14F-4D97-AF65-F5344CB8AC3E}">
        <p14:creationId xmlns:p14="http://schemas.microsoft.com/office/powerpoint/2010/main" val="2449195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fit</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4" name="모서리가 둥근 직사각형 4">
            <a:extLst>
              <a:ext uri="{FF2B5EF4-FFF2-40B4-BE49-F238E27FC236}">
                <a16:creationId xmlns:a16="http://schemas.microsoft.com/office/drawing/2014/main" id="{945E03E8-06CF-4F53-9165-A7818728F674}"/>
              </a:ext>
            </a:extLst>
          </p:cNvPr>
          <p:cNvSpPr/>
          <p:nvPr/>
        </p:nvSpPr>
        <p:spPr>
          <a:xfrm>
            <a:off x="666749" y="3176972"/>
            <a:ext cx="8677275" cy="198560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sp>
        <p:nvSpPr>
          <p:cNvPr id="26" name="직사각형 25">
            <a:extLst>
              <a:ext uri="{FF2B5EF4-FFF2-40B4-BE49-F238E27FC236}">
                <a16:creationId xmlns:a16="http://schemas.microsoft.com/office/drawing/2014/main" id="{E0E9A875-855D-4DD3-BA61-C3F6A0D3F901}"/>
              </a:ext>
            </a:extLst>
          </p:cNvPr>
          <p:cNvSpPr/>
          <p:nvPr/>
        </p:nvSpPr>
        <p:spPr>
          <a:xfrm>
            <a:off x="671261" y="1700808"/>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Use the fit method with an instance estimator for training. Send the training data and label data together as an argument to the supervised learning algorithm.</a:t>
            </a:r>
          </a:p>
        </p:txBody>
      </p:sp>
      <p:grpSp>
        <p:nvGrpSpPr>
          <p:cNvPr id="11" name="그룹 10">
            <a:extLst>
              <a:ext uri="{FF2B5EF4-FFF2-40B4-BE49-F238E27FC236}">
                <a16:creationId xmlns:a16="http://schemas.microsoft.com/office/drawing/2014/main" id="{C32608EA-2473-42F8-B27D-CAEB3D014D69}"/>
              </a:ext>
            </a:extLst>
          </p:cNvPr>
          <p:cNvGrpSpPr/>
          <p:nvPr/>
        </p:nvGrpSpPr>
        <p:grpSpPr>
          <a:xfrm>
            <a:off x="666750" y="5255102"/>
            <a:ext cx="8677275" cy="918767"/>
            <a:chOff x="559817" y="3081410"/>
            <a:chExt cx="8677275" cy="918767"/>
          </a:xfrm>
        </p:grpSpPr>
        <p:sp>
          <p:nvSpPr>
            <p:cNvPr id="12" name="모서리가 둥근 직사각형 4">
              <a:extLst>
                <a:ext uri="{FF2B5EF4-FFF2-40B4-BE49-F238E27FC236}">
                  <a16:creationId xmlns:a16="http://schemas.microsoft.com/office/drawing/2014/main" id="{30427F58-C193-4557-92E3-4C9C0A0D100C}"/>
                </a:ext>
              </a:extLst>
            </p:cNvPr>
            <p:cNvSpPr/>
            <p:nvPr/>
          </p:nvSpPr>
          <p:spPr>
            <a:xfrm>
              <a:off x="559817" y="3081410"/>
              <a:ext cx="8677275" cy="91876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6194D9C8-6786-4DB2-99EA-03049DDA6E4E}"/>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F09F80F1-8F19-4A82-B206-95D9CD4C11FD}"/>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2</a:t>
              </a:r>
            </a:p>
          </p:txBody>
        </p:sp>
        <p:sp>
          <p:nvSpPr>
            <p:cNvPr id="17" name="TextBox 16">
              <a:extLst>
                <a:ext uri="{FF2B5EF4-FFF2-40B4-BE49-F238E27FC236}">
                  <a16:creationId xmlns:a16="http://schemas.microsoft.com/office/drawing/2014/main" id="{CD8ECB4C-297E-4F96-9106-2C7D4DD3DD9B}"/>
                </a:ext>
              </a:extLst>
            </p:cNvPr>
            <p:cNvSpPr txBox="1"/>
            <p:nvPr/>
          </p:nvSpPr>
          <p:spPr>
            <a:xfrm>
              <a:off x="1036273" y="3467475"/>
              <a:ext cx="8167303" cy="400110"/>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It is an estimated value, so the actual value for </a:t>
              </a:r>
              <a:r>
                <a:rPr lang="en-US" altLang="ko-KR" sz="1300" dirty="0" err="1">
                  <a:solidFill>
                    <a:prstClr val="black">
                      <a:lumMod val="85000"/>
                      <a:lumOff val="15000"/>
                    </a:prstClr>
                  </a:solidFill>
                  <a:latin typeface="SamsungOne 400" panose="020B0503030303020204" pitchFamily="34" charset="0"/>
                </a:rPr>
                <a:t>X_test</a:t>
              </a:r>
              <a:r>
                <a:rPr lang="en-US" altLang="ko-KR" sz="1300" dirty="0">
                  <a:solidFill>
                    <a:prstClr val="black">
                      <a:lumMod val="85000"/>
                      <a:lumOff val="15000"/>
                    </a:prstClr>
                  </a:solidFill>
                  <a:latin typeface="SamsungOne 400" panose="020B0503030303020204" pitchFamily="34" charset="0"/>
                </a:rPr>
                <a:t> may vary. </a:t>
              </a:r>
              <a:br>
                <a:rPr lang="en-US" altLang="ko-KR" sz="1300" dirty="0">
                  <a:solidFill>
                    <a:prstClr val="black">
                      <a:lumMod val="85000"/>
                      <a:lumOff val="15000"/>
                    </a:prstClr>
                  </a:solidFill>
                  <a:latin typeface="SamsungOne 400" panose="020B0503030303020204" pitchFamily="34" charset="0"/>
                </a:rPr>
              </a:br>
              <a:r>
                <a:rPr lang="en-US" altLang="ko-KR" sz="1300" dirty="0">
                  <a:solidFill>
                    <a:prstClr val="black">
                      <a:lumMod val="85000"/>
                      <a:lumOff val="15000"/>
                    </a:prstClr>
                  </a:solidFill>
                  <a:latin typeface="SamsungOne 400" panose="020B0503030303020204" pitchFamily="34" charset="0"/>
                </a:rPr>
                <a:t>Measure the accuracy by comparing the two values. </a:t>
              </a:r>
            </a:p>
          </p:txBody>
        </p:sp>
      </p:grpSp>
      <p:sp>
        <p:nvSpPr>
          <p:cNvPr id="21" name="직사각형 20">
            <a:extLst>
              <a:ext uri="{FF2B5EF4-FFF2-40B4-BE49-F238E27FC236}">
                <a16:creationId xmlns:a16="http://schemas.microsoft.com/office/drawing/2014/main" id="{5108AB2C-C0EA-44B8-8D30-1AB74D64AD46}"/>
              </a:ext>
            </a:extLst>
          </p:cNvPr>
          <p:cNvSpPr/>
          <p:nvPr/>
        </p:nvSpPr>
        <p:spPr>
          <a:xfrm>
            <a:off x="558924" y="234888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predict</a:t>
            </a:r>
          </a:p>
        </p:txBody>
      </p:sp>
      <p:sp>
        <p:nvSpPr>
          <p:cNvPr id="22" name="직사각형 21">
            <a:extLst>
              <a:ext uri="{FF2B5EF4-FFF2-40B4-BE49-F238E27FC236}">
                <a16:creationId xmlns:a16="http://schemas.microsoft.com/office/drawing/2014/main" id="{0E101362-ADA6-4048-B753-C952FA278033}"/>
              </a:ext>
            </a:extLst>
          </p:cNvPr>
          <p:cNvSpPr/>
          <p:nvPr/>
        </p:nvSpPr>
        <p:spPr>
          <a:xfrm>
            <a:off x="671261" y="2620943"/>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instance estimator that has completed training with fitting can be applied with the predict method. ‘Predict’ converts the estimated results of the model regarding the entered data.</a:t>
            </a:r>
          </a:p>
        </p:txBody>
      </p:sp>
      <p:pic>
        <p:nvPicPr>
          <p:cNvPr id="27" name="그림 26">
            <a:extLst>
              <a:ext uri="{FF2B5EF4-FFF2-40B4-BE49-F238E27FC236}">
                <a16:creationId xmlns:a16="http://schemas.microsoft.com/office/drawing/2014/main" id="{6A1DFC8F-34E9-41A2-90D5-492479493905}"/>
              </a:ext>
            </a:extLst>
          </p:cNvPr>
          <p:cNvPicPr>
            <a:picLocks noChangeAspect="1"/>
          </p:cNvPicPr>
          <p:nvPr/>
        </p:nvPicPr>
        <p:blipFill rotWithShape="1">
          <a:blip r:embed="rId5"/>
          <a:srcRect l="825" r="23896"/>
          <a:stretch/>
        </p:blipFill>
        <p:spPr>
          <a:xfrm>
            <a:off x="847725" y="3221567"/>
            <a:ext cx="8496300" cy="1869830"/>
          </a:xfrm>
          <a:prstGeom prst="rect">
            <a:avLst/>
          </a:prstGeom>
          <a:ln>
            <a:noFill/>
          </a:ln>
        </p:spPr>
      </p:pic>
    </p:spTree>
    <p:extLst>
      <p:ext uri="{BB962C8B-B14F-4D97-AF65-F5344CB8AC3E}">
        <p14:creationId xmlns:p14="http://schemas.microsoft.com/office/powerpoint/2010/main" val="149587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7" name="모서리가 둥근 직사각형 4">
            <a:extLst>
              <a:ext uri="{FF2B5EF4-FFF2-40B4-BE49-F238E27FC236}">
                <a16:creationId xmlns:a16="http://schemas.microsoft.com/office/drawing/2014/main" id="{549F4C64-5AF0-43ED-A9ED-34D502BF364D}"/>
              </a:ext>
            </a:extLst>
          </p:cNvPr>
          <p:cNvSpPr/>
          <p:nvPr/>
        </p:nvSpPr>
        <p:spPr>
          <a:xfrm>
            <a:off x="558799" y="1773237"/>
            <a:ext cx="8785226" cy="453548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그림 15">
            <a:extLst>
              <a:ext uri="{FF2B5EF4-FFF2-40B4-BE49-F238E27FC236}">
                <a16:creationId xmlns:a16="http://schemas.microsoft.com/office/drawing/2014/main" id="{20F8F52D-1604-449A-A5F3-D2B6547A3CFD}"/>
              </a:ext>
            </a:extLst>
          </p:cNvPr>
          <p:cNvPicPr>
            <a:picLocks noChangeAspect="1"/>
          </p:cNvPicPr>
          <p:nvPr/>
        </p:nvPicPr>
        <p:blipFill rotWithShape="1">
          <a:blip r:embed="rId4"/>
          <a:srcRect l="1281" r="18457"/>
          <a:stretch/>
        </p:blipFill>
        <p:spPr>
          <a:xfrm>
            <a:off x="847725" y="1813421"/>
            <a:ext cx="8496300" cy="4453563"/>
          </a:xfrm>
          <a:prstGeom prst="rect">
            <a:avLst/>
          </a:prstGeom>
          <a:ln>
            <a:noFill/>
          </a:ln>
        </p:spPr>
      </p:pic>
    </p:spTree>
    <p:extLst>
      <p:ext uri="{BB962C8B-B14F-4D97-AF65-F5344CB8AC3E}">
        <p14:creationId xmlns:p14="http://schemas.microsoft.com/office/powerpoint/2010/main" val="9517802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nvGrpSpPr>
          <p:cNvPr id="11" name="그룹 10">
            <a:extLst>
              <a:ext uri="{FF2B5EF4-FFF2-40B4-BE49-F238E27FC236}">
                <a16:creationId xmlns:a16="http://schemas.microsoft.com/office/drawing/2014/main" id="{6171951C-A9D0-3351-FDFB-DDBFFAD8A215}"/>
              </a:ext>
            </a:extLst>
          </p:cNvPr>
          <p:cNvGrpSpPr/>
          <p:nvPr/>
        </p:nvGrpSpPr>
        <p:grpSpPr>
          <a:xfrm>
            <a:off x="558799" y="1773237"/>
            <a:ext cx="8785226" cy="2195823"/>
            <a:chOff x="558799" y="1773237"/>
            <a:chExt cx="8785226" cy="2195823"/>
          </a:xfrm>
        </p:grpSpPr>
        <p:sp>
          <p:nvSpPr>
            <p:cNvPr id="10" name="모서리가 둥근 직사각형 4">
              <a:extLst>
                <a:ext uri="{FF2B5EF4-FFF2-40B4-BE49-F238E27FC236}">
                  <a16:creationId xmlns:a16="http://schemas.microsoft.com/office/drawing/2014/main" id="{2E0AF51A-32D0-3A86-E7E5-F9210BB51958}"/>
                </a:ext>
              </a:extLst>
            </p:cNvPr>
            <p:cNvSpPr/>
            <p:nvPr/>
          </p:nvSpPr>
          <p:spPr>
            <a:xfrm>
              <a:off x="558799" y="1773237"/>
              <a:ext cx="8785226" cy="219582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9" name="그림 8">
              <a:extLst>
                <a:ext uri="{FF2B5EF4-FFF2-40B4-BE49-F238E27FC236}">
                  <a16:creationId xmlns:a16="http://schemas.microsoft.com/office/drawing/2014/main" id="{243C1A08-84D0-2F46-AEE4-5D9C85D18AC1}"/>
                </a:ext>
              </a:extLst>
            </p:cNvPr>
            <p:cNvPicPr>
              <a:picLocks noChangeAspect="1"/>
            </p:cNvPicPr>
            <p:nvPr/>
          </p:nvPicPr>
          <p:blipFill rotWithShape="1">
            <a:blip r:embed="rId4"/>
            <a:srcRect r="7565"/>
            <a:stretch/>
          </p:blipFill>
          <p:spPr>
            <a:xfrm>
              <a:off x="688009" y="1876602"/>
              <a:ext cx="8656016" cy="1944211"/>
            </a:xfrm>
            <a:prstGeom prst="rect">
              <a:avLst/>
            </a:prstGeom>
          </p:spPr>
        </p:pic>
      </p:grpSp>
    </p:spTree>
    <p:extLst>
      <p:ext uri="{BB962C8B-B14F-4D97-AF65-F5344CB8AC3E}">
        <p14:creationId xmlns:p14="http://schemas.microsoft.com/office/powerpoint/2010/main" val="9617948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nvGrpSpPr>
          <p:cNvPr id="13" name="그룹 12">
            <a:extLst>
              <a:ext uri="{FF2B5EF4-FFF2-40B4-BE49-F238E27FC236}">
                <a16:creationId xmlns:a16="http://schemas.microsoft.com/office/drawing/2014/main" id="{AAACDB7A-1074-4CB6-B94F-E45887F595DC}"/>
              </a:ext>
            </a:extLst>
          </p:cNvPr>
          <p:cNvGrpSpPr/>
          <p:nvPr/>
        </p:nvGrpSpPr>
        <p:grpSpPr>
          <a:xfrm>
            <a:off x="666750" y="4723803"/>
            <a:ext cx="8677275" cy="711570"/>
            <a:chOff x="559817" y="3081410"/>
            <a:chExt cx="8677275" cy="711570"/>
          </a:xfrm>
        </p:grpSpPr>
        <p:sp>
          <p:nvSpPr>
            <p:cNvPr id="14" name="모서리가 둥근 직사각형 4">
              <a:extLst>
                <a:ext uri="{FF2B5EF4-FFF2-40B4-BE49-F238E27FC236}">
                  <a16:creationId xmlns:a16="http://schemas.microsoft.com/office/drawing/2014/main" id="{B99CB6C8-2C37-466F-A3A9-586B2D33CFDC}"/>
                </a:ext>
              </a:extLst>
            </p:cNvPr>
            <p:cNvSpPr/>
            <p:nvPr/>
          </p:nvSpPr>
          <p:spPr>
            <a:xfrm>
              <a:off x="559817" y="3081410"/>
              <a:ext cx="8677275" cy="71157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Picture 2" descr="Byte - Free electronics icons">
              <a:extLst>
                <a:ext uri="{FF2B5EF4-FFF2-40B4-BE49-F238E27FC236}">
                  <a16:creationId xmlns:a16="http://schemas.microsoft.com/office/drawing/2014/main" id="{FD68BCFE-E7E9-4C2F-8889-197DB8098D70}"/>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ACABC106-28F3-4309-B3CC-F69AE57E6A18}"/>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schemeClr val="tx1">
                      <a:lumMod val="85000"/>
                      <a:lumOff val="15000"/>
                    </a:schemeClr>
                  </a:solidFill>
                  <a:latin typeface="SamsungOne 400" panose="020B0503030303020204" pitchFamily="34" charset="0"/>
                  <a:ea typeface="SamsungOne 400" panose="020B0503030303020204" pitchFamily="34" charset="0"/>
                  <a:cs typeface="Samsung Sharp Sans Bold" pitchFamily="2" charset="0"/>
                </a:rPr>
                <a:t>Line 25</a:t>
              </a:r>
            </a:p>
          </p:txBody>
        </p:sp>
        <p:sp>
          <p:nvSpPr>
            <p:cNvPr id="18" name="TextBox 17">
              <a:extLst>
                <a:ext uri="{FF2B5EF4-FFF2-40B4-BE49-F238E27FC236}">
                  <a16:creationId xmlns:a16="http://schemas.microsoft.com/office/drawing/2014/main" id="{276EF6C4-16EA-4B3D-993C-4BA2F65A363A}"/>
                </a:ext>
              </a:extLst>
            </p:cNvPr>
            <p:cNvSpPr txBox="1"/>
            <p:nvPr/>
          </p:nvSpPr>
          <p:spPr>
            <a:xfrm>
              <a:off x="1036273" y="3467475"/>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mn-ea"/>
                  <a:cs typeface="+mn-cs"/>
                </a:rPr>
                <a:t>Data frame shows a result where predicted value and actual value differ.</a:t>
              </a:r>
            </a:p>
          </p:txBody>
        </p:sp>
      </p:grpSp>
      <p:grpSp>
        <p:nvGrpSpPr>
          <p:cNvPr id="6" name="그룹 5"/>
          <p:cNvGrpSpPr/>
          <p:nvPr/>
        </p:nvGrpSpPr>
        <p:grpSpPr>
          <a:xfrm>
            <a:off x="666749" y="1773237"/>
            <a:ext cx="8677276" cy="2843895"/>
            <a:chOff x="666749" y="1773237"/>
            <a:chExt cx="8677276" cy="2843895"/>
          </a:xfrm>
        </p:grpSpPr>
        <p:sp>
          <p:nvSpPr>
            <p:cNvPr id="19" name="모서리가 둥근 직사각형 4">
              <a:extLst>
                <a:ext uri="{FF2B5EF4-FFF2-40B4-BE49-F238E27FC236}">
                  <a16:creationId xmlns:a16="http://schemas.microsoft.com/office/drawing/2014/main" id="{2E0AF51A-32D0-3A86-E7E5-F9210BB51958}"/>
                </a:ext>
              </a:extLst>
            </p:cNvPr>
            <p:cNvSpPr/>
            <p:nvPr/>
          </p:nvSpPr>
          <p:spPr>
            <a:xfrm>
              <a:off x="666749" y="1773237"/>
              <a:ext cx="8677276" cy="284389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 name="그림 1"/>
            <p:cNvPicPr>
              <a:picLocks noChangeAspect="1"/>
            </p:cNvPicPr>
            <p:nvPr/>
          </p:nvPicPr>
          <p:blipFill>
            <a:blip r:embed="rId5"/>
            <a:stretch>
              <a:fillRect/>
            </a:stretch>
          </p:blipFill>
          <p:spPr>
            <a:xfrm>
              <a:off x="774636" y="1783850"/>
              <a:ext cx="8569389" cy="2762500"/>
            </a:xfrm>
            <a:prstGeom prst="rect">
              <a:avLst/>
            </a:prstGeom>
          </p:spPr>
        </p:pic>
        <p:pic>
          <p:nvPicPr>
            <p:cNvPr id="4" name="그림 3"/>
            <p:cNvPicPr>
              <a:picLocks noChangeAspect="1"/>
            </p:cNvPicPr>
            <p:nvPr/>
          </p:nvPicPr>
          <p:blipFill>
            <a:blip r:embed="rId6"/>
            <a:stretch>
              <a:fillRect/>
            </a:stretch>
          </p:blipFill>
          <p:spPr>
            <a:xfrm>
              <a:off x="3187090" y="2589371"/>
              <a:ext cx="1502923" cy="1750239"/>
            </a:xfrm>
            <a:prstGeom prst="rect">
              <a:avLst/>
            </a:prstGeom>
          </p:spPr>
        </p:pic>
        <p:sp>
          <p:nvSpPr>
            <p:cNvPr id="11" name="직사각형 10">
              <a:extLst>
                <a:ext uri="{FF2B5EF4-FFF2-40B4-BE49-F238E27FC236}">
                  <a16:creationId xmlns:a16="http://schemas.microsoft.com/office/drawing/2014/main" id="{E19C7474-E947-48DA-8DDD-26CE3B501C6A}"/>
                </a:ext>
              </a:extLst>
            </p:cNvPr>
            <p:cNvSpPr/>
            <p:nvPr/>
          </p:nvSpPr>
          <p:spPr>
            <a:xfrm>
              <a:off x="3249329" y="3248926"/>
              <a:ext cx="1378047" cy="411082"/>
            </a:xfrm>
            <a:prstGeom prst="rect">
              <a:avLst/>
            </a:prstGeom>
            <a:noFill/>
            <a:ln w="28575">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68881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nvGrpSpPr>
          <p:cNvPr id="7" name="그룹 6">
            <a:extLst>
              <a:ext uri="{FF2B5EF4-FFF2-40B4-BE49-F238E27FC236}">
                <a16:creationId xmlns:a16="http://schemas.microsoft.com/office/drawing/2014/main" id="{7543261A-268F-856C-B339-6E756D453FDD}"/>
              </a:ext>
            </a:extLst>
          </p:cNvPr>
          <p:cNvGrpSpPr/>
          <p:nvPr/>
        </p:nvGrpSpPr>
        <p:grpSpPr>
          <a:xfrm>
            <a:off x="558799" y="1773238"/>
            <a:ext cx="8785226" cy="1502398"/>
            <a:chOff x="558799" y="1773238"/>
            <a:chExt cx="8785226" cy="1502398"/>
          </a:xfrm>
        </p:grpSpPr>
        <p:sp>
          <p:nvSpPr>
            <p:cNvPr id="6" name="모서리가 둥근 직사각형 4">
              <a:extLst>
                <a:ext uri="{FF2B5EF4-FFF2-40B4-BE49-F238E27FC236}">
                  <a16:creationId xmlns:a16="http://schemas.microsoft.com/office/drawing/2014/main" id="{33C60729-AD00-9332-D1C2-7BB1CD757876}"/>
                </a:ext>
              </a:extLst>
            </p:cNvPr>
            <p:cNvSpPr/>
            <p:nvPr/>
          </p:nvSpPr>
          <p:spPr>
            <a:xfrm>
              <a:off x="558799" y="1773238"/>
              <a:ext cx="8785226" cy="150239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5" name="그림 4">
              <a:extLst>
                <a:ext uri="{FF2B5EF4-FFF2-40B4-BE49-F238E27FC236}">
                  <a16:creationId xmlns:a16="http://schemas.microsoft.com/office/drawing/2014/main" id="{1DC08278-DF30-B584-E54F-A733E6B979BA}"/>
                </a:ext>
              </a:extLst>
            </p:cNvPr>
            <p:cNvPicPr>
              <a:picLocks noChangeAspect="1"/>
            </p:cNvPicPr>
            <p:nvPr/>
          </p:nvPicPr>
          <p:blipFill rotWithShape="1">
            <a:blip r:embed="rId4"/>
            <a:srcRect r="8726"/>
            <a:stretch/>
          </p:blipFill>
          <p:spPr>
            <a:xfrm>
              <a:off x="683631" y="1892405"/>
              <a:ext cx="8660394" cy="1247193"/>
            </a:xfrm>
            <a:prstGeom prst="rect">
              <a:avLst/>
            </a:prstGeom>
          </p:spPr>
        </p:pic>
      </p:grpSp>
    </p:spTree>
    <p:extLst>
      <p:ext uri="{BB962C8B-B14F-4D97-AF65-F5344CB8AC3E}">
        <p14:creationId xmlns:p14="http://schemas.microsoft.com/office/powerpoint/2010/main" val="1662115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7" name="모서리가 둥근 직사각형 4">
            <a:extLst>
              <a:ext uri="{FF2B5EF4-FFF2-40B4-BE49-F238E27FC236}">
                <a16:creationId xmlns:a16="http://schemas.microsoft.com/office/drawing/2014/main" id="{549F4C64-5AF0-43ED-A9ED-34D502BF364D}"/>
              </a:ext>
            </a:extLst>
          </p:cNvPr>
          <p:cNvSpPr/>
          <p:nvPr/>
        </p:nvSpPr>
        <p:spPr>
          <a:xfrm>
            <a:off x="558799" y="1773237"/>
            <a:ext cx="8785226" cy="331194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8" name="그림 7">
            <a:extLst>
              <a:ext uri="{FF2B5EF4-FFF2-40B4-BE49-F238E27FC236}">
                <a16:creationId xmlns:a16="http://schemas.microsoft.com/office/drawing/2014/main" id="{DE37852E-26E8-4660-9A6B-870C8B17BE32}"/>
              </a:ext>
            </a:extLst>
          </p:cNvPr>
          <p:cNvPicPr>
            <a:picLocks noChangeAspect="1"/>
          </p:cNvPicPr>
          <p:nvPr/>
        </p:nvPicPr>
        <p:blipFill rotWithShape="1">
          <a:blip r:embed="rId4"/>
          <a:srcRect l="2136" t="1104" r="25864" b="43782"/>
          <a:stretch/>
        </p:blipFill>
        <p:spPr>
          <a:xfrm>
            <a:off x="834102" y="1875099"/>
            <a:ext cx="8509924" cy="2922053"/>
          </a:xfrm>
          <a:prstGeom prst="rect">
            <a:avLst/>
          </a:prstGeom>
          <a:ln>
            <a:noFill/>
          </a:ln>
        </p:spPr>
      </p:pic>
      <p:pic>
        <p:nvPicPr>
          <p:cNvPr id="11" name="그림 10">
            <a:extLst>
              <a:ext uri="{FF2B5EF4-FFF2-40B4-BE49-F238E27FC236}">
                <a16:creationId xmlns:a16="http://schemas.microsoft.com/office/drawing/2014/main" id="{C028E13F-A9FA-456A-BD3C-1F3E7106ACDB}"/>
              </a:ext>
            </a:extLst>
          </p:cNvPr>
          <p:cNvPicPr>
            <a:picLocks noChangeAspect="1"/>
          </p:cNvPicPr>
          <p:nvPr/>
        </p:nvPicPr>
        <p:blipFill rotWithShape="1">
          <a:blip r:embed="rId4"/>
          <a:srcRect l="7619" t="56789" r="78064"/>
          <a:stretch/>
        </p:blipFill>
        <p:spPr>
          <a:xfrm>
            <a:off x="3386754" y="2646809"/>
            <a:ext cx="1692188" cy="2290966"/>
          </a:xfrm>
          <a:prstGeom prst="rect">
            <a:avLst/>
          </a:prstGeom>
          <a:ln>
            <a:noFill/>
          </a:ln>
        </p:spPr>
      </p:pic>
    </p:spTree>
    <p:extLst>
      <p:ext uri="{BB962C8B-B14F-4D97-AF65-F5344CB8AC3E}">
        <p14:creationId xmlns:p14="http://schemas.microsoft.com/office/powerpoint/2010/main" val="3385971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7" name="모서리가 둥근 직사각형 4">
            <a:extLst>
              <a:ext uri="{FF2B5EF4-FFF2-40B4-BE49-F238E27FC236}">
                <a16:creationId xmlns:a16="http://schemas.microsoft.com/office/drawing/2014/main" id="{549F4C64-5AF0-43ED-A9ED-34D502BF364D}"/>
              </a:ext>
            </a:extLst>
          </p:cNvPr>
          <p:cNvSpPr/>
          <p:nvPr/>
        </p:nvSpPr>
        <p:spPr>
          <a:xfrm>
            <a:off x="558799" y="1773237"/>
            <a:ext cx="8785226" cy="165576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8" name="그림 7">
            <a:extLst>
              <a:ext uri="{FF2B5EF4-FFF2-40B4-BE49-F238E27FC236}">
                <a16:creationId xmlns:a16="http://schemas.microsoft.com/office/drawing/2014/main" id="{AB373113-63F0-4F93-9F01-26A6CB0755DE}"/>
              </a:ext>
            </a:extLst>
          </p:cNvPr>
          <p:cNvPicPr>
            <a:picLocks noChangeAspect="1"/>
          </p:cNvPicPr>
          <p:nvPr/>
        </p:nvPicPr>
        <p:blipFill rotWithShape="1">
          <a:blip r:embed="rId4"/>
          <a:srcRect l="2336" t="3361" r="25382" b="4125"/>
          <a:stretch/>
        </p:blipFill>
        <p:spPr>
          <a:xfrm>
            <a:off x="834390" y="1874521"/>
            <a:ext cx="8509635" cy="1392557"/>
          </a:xfrm>
          <a:prstGeom prst="rect">
            <a:avLst/>
          </a:prstGeom>
          <a:ln>
            <a:noFill/>
          </a:ln>
        </p:spPr>
      </p:pic>
      <p:grpSp>
        <p:nvGrpSpPr>
          <p:cNvPr id="12" name="그룹 11">
            <a:extLst>
              <a:ext uri="{FF2B5EF4-FFF2-40B4-BE49-F238E27FC236}">
                <a16:creationId xmlns:a16="http://schemas.microsoft.com/office/drawing/2014/main" id="{38E0E63A-769D-4836-8142-01F095AF8D27}"/>
              </a:ext>
            </a:extLst>
          </p:cNvPr>
          <p:cNvGrpSpPr/>
          <p:nvPr/>
        </p:nvGrpSpPr>
        <p:grpSpPr>
          <a:xfrm>
            <a:off x="558800" y="3537517"/>
            <a:ext cx="8785226" cy="755579"/>
            <a:chOff x="559817" y="3081410"/>
            <a:chExt cx="8677275" cy="755579"/>
          </a:xfrm>
        </p:grpSpPr>
        <p:sp>
          <p:nvSpPr>
            <p:cNvPr id="13" name="모서리가 둥근 직사각형 4">
              <a:extLst>
                <a:ext uri="{FF2B5EF4-FFF2-40B4-BE49-F238E27FC236}">
                  <a16:creationId xmlns:a16="http://schemas.microsoft.com/office/drawing/2014/main" id="{2D0AA238-EF82-4A27-8512-FC4D23356A2F}"/>
                </a:ext>
              </a:extLst>
            </p:cNvPr>
            <p:cNvSpPr/>
            <p:nvPr/>
          </p:nvSpPr>
          <p:spPr>
            <a:xfrm>
              <a:off x="559817" y="3081410"/>
              <a:ext cx="8677275" cy="75557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A4F80482-085F-4069-A28A-57525AAD8595}"/>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9B50DECC-EFE3-410B-8F71-3187FABAE552}"/>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66</a:t>
              </a:r>
            </a:p>
          </p:txBody>
        </p:sp>
        <p:sp>
          <p:nvSpPr>
            <p:cNvPr id="17" name="TextBox 16">
              <a:extLst>
                <a:ext uri="{FF2B5EF4-FFF2-40B4-BE49-F238E27FC236}">
                  <a16:creationId xmlns:a16="http://schemas.microsoft.com/office/drawing/2014/main" id="{CC1CA457-F343-4152-9180-CA33ABA88A7E}"/>
                </a:ext>
              </a:extLst>
            </p:cNvPr>
            <p:cNvSpPr txBox="1"/>
            <p:nvPr/>
          </p:nvSpPr>
          <p:spPr>
            <a:xfrm>
              <a:off x="1036273" y="3467475"/>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mn-ea"/>
                  <a:cs typeface="+mn-cs"/>
                </a:rPr>
                <a:t>133/143</a:t>
              </a:r>
            </a:p>
          </p:txBody>
        </p:sp>
      </p:grpSp>
      <p:sp>
        <p:nvSpPr>
          <p:cNvPr id="19" name="직사각형 18">
            <a:extLst>
              <a:ext uri="{FF2B5EF4-FFF2-40B4-BE49-F238E27FC236}">
                <a16:creationId xmlns:a16="http://schemas.microsoft.com/office/drawing/2014/main" id="{4B9BE95D-148C-47F6-90FE-01678CB6FAAB}"/>
              </a:ext>
            </a:extLst>
          </p:cNvPr>
          <p:cNvSpPr/>
          <p:nvPr/>
        </p:nvSpPr>
        <p:spPr>
          <a:xfrm>
            <a:off x="6175548" y="1950719"/>
            <a:ext cx="1116124" cy="231877"/>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419520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nvGrpSpPr>
          <p:cNvPr id="2" name="그룹 1"/>
          <p:cNvGrpSpPr/>
          <p:nvPr/>
        </p:nvGrpSpPr>
        <p:grpSpPr>
          <a:xfrm>
            <a:off x="560292" y="1770714"/>
            <a:ext cx="8819611" cy="1655763"/>
            <a:chOff x="666749" y="1773237"/>
            <a:chExt cx="8677276" cy="1655763"/>
          </a:xfrm>
        </p:grpSpPr>
        <p:sp>
          <p:nvSpPr>
            <p:cNvPr id="7" name="모서리가 둥근 직사각형 4">
              <a:extLst>
                <a:ext uri="{FF2B5EF4-FFF2-40B4-BE49-F238E27FC236}">
                  <a16:creationId xmlns:a16="http://schemas.microsoft.com/office/drawing/2014/main" id="{549F4C64-5AF0-43ED-A9ED-34D502BF364D}"/>
                </a:ext>
              </a:extLst>
            </p:cNvPr>
            <p:cNvSpPr/>
            <p:nvPr/>
          </p:nvSpPr>
          <p:spPr>
            <a:xfrm>
              <a:off x="666749" y="1773237"/>
              <a:ext cx="8677276" cy="165576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8" name="그림 7">
              <a:extLst>
                <a:ext uri="{FF2B5EF4-FFF2-40B4-BE49-F238E27FC236}">
                  <a16:creationId xmlns:a16="http://schemas.microsoft.com/office/drawing/2014/main" id="{AB373113-63F0-4F93-9F01-26A6CB0755DE}"/>
                </a:ext>
              </a:extLst>
            </p:cNvPr>
            <p:cNvPicPr>
              <a:picLocks noChangeAspect="1"/>
            </p:cNvPicPr>
            <p:nvPr/>
          </p:nvPicPr>
          <p:blipFill rotWithShape="1">
            <a:blip r:embed="rId4"/>
            <a:srcRect l="2336" t="3361" r="25382" b="4125"/>
            <a:stretch/>
          </p:blipFill>
          <p:spPr>
            <a:xfrm>
              <a:off x="834390" y="1874521"/>
              <a:ext cx="8509635" cy="1392557"/>
            </a:xfrm>
            <a:prstGeom prst="rect">
              <a:avLst/>
            </a:prstGeom>
            <a:ln>
              <a:noFill/>
            </a:ln>
          </p:spPr>
        </p:pic>
      </p:grpSp>
      <p:sp>
        <p:nvSpPr>
          <p:cNvPr id="18" name="직사각형 17">
            <a:extLst>
              <a:ext uri="{FF2B5EF4-FFF2-40B4-BE49-F238E27FC236}">
                <a16:creationId xmlns:a16="http://schemas.microsoft.com/office/drawing/2014/main" id="{CBE6D23F-E163-4797-9163-F0572D6E56F6}"/>
              </a:ext>
            </a:extLst>
          </p:cNvPr>
          <p:cNvSpPr/>
          <p:nvPr/>
        </p:nvSpPr>
        <p:spPr>
          <a:xfrm>
            <a:off x="671261" y="3535672"/>
            <a:ext cx="8796739" cy="1550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It showed 93% accuracy, which is quite a rare result. In fact, a process of increasing data accuracy is required during data pre-processing, and standardization is one of the options. The following is a brief summary of standardization.</a:t>
            </a: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Standardization can be done by calculating standard normal distribution.</a:t>
            </a:r>
            <a:br>
              <a:rPr lang="en-US" altLang="ko-KR" sz="1300" dirty="0">
                <a:solidFill>
                  <a:prstClr val="black">
                    <a:lumMod val="85000"/>
                    <a:lumOff val="15000"/>
                  </a:prstClr>
                </a:solidFill>
                <a:latin typeface="SamsungOne 400" panose="020B0503030303020204" pitchFamily="34" charset="0"/>
              </a:rPr>
            </a:br>
            <a:r>
              <a:rPr lang="en-US" altLang="ko-KR" sz="1300" dirty="0">
                <a:solidFill>
                  <a:prstClr val="black">
                    <a:lumMod val="85000"/>
                    <a:lumOff val="15000"/>
                  </a:prstClr>
                </a:solidFill>
                <a:latin typeface="SamsungOne 400" panose="020B0503030303020204" pitchFamily="34" charset="0"/>
              </a:rPr>
              <a:t>Another term for standardization is z-transformation, and the standardized value is also referred to as z-score. 94% accuracy would be obtained from KNN wine classification through standardization.</a:t>
            </a: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Standardization is widely used in data pre-processing in general other than KNN, and the following is the equation.</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9D1D201-91EA-4D54-B419-674DD497ACBB}"/>
                  </a:ext>
                </a:extLst>
              </p:cNvPr>
              <p:cNvSpPr txBox="1"/>
              <p:nvPr/>
            </p:nvSpPr>
            <p:spPr>
              <a:xfrm>
                <a:off x="1022522" y="5116515"/>
                <a:ext cx="4134237" cy="4217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14:m>
                  <m:oMath xmlns:m="http://schemas.openxmlformats.org/officeDocument/2006/math">
                    <m:r>
                      <a:rPr lang="en-US" smtClean="0">
                        <a:latin typeface="Cambria Math" panose="02040503050406030204" pitchFamily="18" charset="0"/>
                      </a:rPr>
                      <m:t>𝑥</m:t>
                    </m:r>
                    <m:r>
                      <a:rPr lang="en-US" smtClean="0">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𝑥</m:t>
                        </m:r>
                        <m:r>
                          <a:rPr lang="en-US">
                            <a:latin typeface="Cambria Math" panose="02040503050406030204" pitchFamily="18" charset="0"/>
                          </a:rPr>
                          <m:t>−</m:t>
                        </m:r>
                        <m:r>
                          <a:rPr lang="en-US">
                            <a:latin typeface="Cambria Math" panose="02040503050406030204" pitchFamily="18" charset="0"/>
                          </a:rPr>
                          <m:t>𝑚</m:t>
                        </m:r>
                      </m:num>
                      <m:den>
                        <m:r>
                          <a:rPr lang="en-US">
                            <a:latin typeface="Cambria Math" panose="02040503050406030204" pitchFamily="18" charset="0"/>
                          </a:rPr>
                          <m:t>𝜎</m:t>
                        </m:r>
                      </m:den>
                    </m:f>
                  </m:oMath>
                </a14:m>
                <a:r>
                  <a:rPr lang="ko-KR" altLang="en-US" dirty="0"/>
                  <a:t> </a:t>
                </a:r>
                <a:r>
                  <a:rPr lang="en-US" altLang="ko-KR" dirty="0"/>
                  <a:t>(</a:t>
                </a:r>
                <a14:m>
                  <m:oMath xmlns:m="http://schemas.openxmlformats.org/officeDocument/2006/math">
                    <m:r>
                      <a:rPr lang="en-US" altLang="ko-KR">
                        <a:latin typeface="Cambria Math" panose="02040503050406030204" pitchFamily="18" charset="0"/>
                      </a:rPr>
                      <m:t>𝑚</m:t>
                    </m:r>
                    <m:r>
                      <a:rPr lang="en-US" altLang="ko-KR">
                        <a:latin typeface="Cambria Math" panose="02040503050406030204" pitchFamily="18" charset="0"/>
                      </a:rPr>
                      <m:t>:</m:t>
                    </m:r>
                    <m:r>
                      <m:rPr>
                        <m:sty m:val="p"/>
                      </m:rPr>
                      <a:rPr lang="en-US" altLang="ko-KR" b="0" i="0" smtClean="0">
                        <a:latin typeface="Cambria Math" panose="02040503050406030204" pitchFamily="18" charset="0"/>
                      </a:rPr>
                      <m:t>average</m:t>
                    </m:r>
                  </m:oMath>
                </a14:m>
                <a:r>
                  <a:rPr lang="en-US" altLang="ko-KR" dirty="0"/>
                  <a:t>, </a:t>
                </a:r>
                <a14:m>
                  <m:oMath xmlns:m="http://schemas.openxmlformats.org/officeDocument/2006/math">
                    <m:r>
                      <a:rPr lang="ko-KR" altLang="en-US">
                        <a:latin typeface="Cambria Math" panose="02040503050406030204" pitchFamily="18" charset="0"/>
                      </a:rPr>
                      <m:t>𝜎</m:t>
                    </m:r>
                    <m:r>
                      <a:rPr lang="en-US" altLang="ko-KR">
                        <a:latin typeface="Cambria Math" panose="02040503050406030204" pitchFamily="18" charset="0"/>
                      </a:rPr>
                      <m:t>:</m:t>
                    </m:r>
                  </m:oMath>
                </a14:m>
                <a:r>
                  <a:rPr lang="ko-KR" altLang="en-US" dirty="0"/>
                  <a:t> </a:t>
                </a:r>
                <a:r>
                  <a:rPr lang="en-US" altLang="ko-KR" dirty="0"/>
                  <a:t>standard deviation)</a:t>
                </a:r>
                <a:endParaRPr lang="en-US" dirty="0"/>
              </a:p>
            </p:txBody>
          </p:sp>
        </mc:Choice>
        <mc:Fallback xmlns="">
          <p:sp>
            <p:nvSpPr>
              <p:cNvPr id="19" name="TextBox 18">
                <a:extLst>
                  <a:ext uri="{FF2B5EF4-FFF2-40B4-BE49-F238E27FC236}">
                    <a16:creationId xmlns:a16="http://schemas.microsoft.com/office/drawing/2014/main" xmlns="" xmlns:a14="http://schemas.microsoft.com/office/drawing/2010/main" id="{49D1D201-91EA-4D54-B419-674DD497ACBB}"/>
                  </a:ext>
                </a:extLst>
              </p:cNvPr>
              <p:cNvSpPr txBox="1">
                <a:spLocks noRot="1" noChangeAspect="1" noMove="1" noResize="1" noEditPoints="1" noAdjustHandles="1" noChangeArrowheads="1" noChangeShapeType="1" noTextEdit="1"/>
              </p:cNvSpPr>
              <p:nvPr/>
            </p:nvSpPr>
            <p:spPr>
              <a:xfrm>
                <a:off x="1022522" y="5116515"/>
                <a:ext cx="4134237" cy="421782"/>
              </a:xfrm>
              <a:prstGeom prst="rect">
                <a:avLst/>
              </a:prstGeom>
              <a:blipFill rotWithShape="0">
                <a:blip r:embed="rId5"/>
                <a:stretch>
                  <a:fillRect b="-4286"/>
                </a:stretch>
              </a:blipFill>
              <a:ln>
                <a:noFill/>
              </a:ln>
            </p:spPr>
            <p:txBody>
              <a:bodyPr/>
              <a:lstStyle/>
              <a:p>
                <a:r>
                  <a:rPr lang="ko-KR" altLang="en-US">
                    <a:noFill/>
                  </a:rPr>
                  <a:t> </a:t>
                </a:r>
              </a:p>
            </p:txBody>
          </p:sp>
        </mc:Fallback>
      </mc:AlternateContent>
      <p:sp>
        <p:nvSpPr>
          <p:cNvPr id="20" name="직사각형 19">
            <a:extLst>
              <a:ext uri="{FF2B5EF4-FFF2-40B4-BE49-F238E27FC236}">
                <a16:creationId xmlns:a16="http://schemas.microsoft.com/office/drawing/2014/main" id="{96D2F242-2076-4FF1-B855-94B915480E85}"/>
              </a:ext>
            </a:extLst>
          </p:cNvPr>
          <p:cNvSpPr/>
          <p:nvPr/>
        </p:nvSpPr>
        <p:spPr>
          <a:xfrm>
            <a:off x="671261" y="5639823"/>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standardization is available as </a:t>
            </a:r>
            <a:r>
              <a:rPr lang="en-US" altLang="ko-KR" sz="1300" dirty="0" err="1">
                <a:solidFill>
                  <a:prstClr val="black">
                    <a:lumMod val="85000"/>
                    <a:lumOff val="15000"/>
                  </a:prstClr>
                </a:solidFill>
                <a:latin typeface="SamsungOne 400" panose="020B0503030303020204" pitchFamily="34" charset="0"/>
              </a:rPr>
              <a:t>StandardScaler</a:t>
            </a:r>
            <a:r>
              <a:rPr lang="en-US" altLang="ko-KR" sz="1300" dirty="0">
                <a:solidFill>
                  <a:prstClr val="black">
                    <a:lumMod val="85000"/>
                    <a:lumOff val="15000"/>
                  </a:prstClr>
                </a:solidFill>
                <a:latin typeface="SamsungOne 400" panose="020B0503030303020204" pitchFamily="34" charset="0"/>
              </a:rPr>
              <a:t> class in the </a:t>
            </a:r>
            <a:r>
              <a:rPr lang="en-US" altLang="ko-KR" sz="1300" dirty="0" err="1">
                <a:solidFill>
                  <a:prstClr val="black">
                    <a:lumMod val="85000"/>
                    <a:lumOff val="15000"/>
                  </a:prstClr>
                </a:solidFill>
                <a:latin typeface="SamsungOne 400" panose="020B0503030303020204" pitchFamily="34" charset="0"/>
              </a:rPr>
              <a:t>scikit</a:t>
            </a:r>
            <a:r>
              <a:rPr lang="en-US" altLang="ko-KR" sz="1300" dirty="0">
                <a:solidFill>
                  <a:prstClr val="black">
                    <a:lumMod val="85000"/>
                    <a:lumOff val="15000"/>
                  </a:prstClr>
                </a:solidFill>
                <a:latin typeface="SamsungOne 400" panose="020B0503030303020204" pitchFamily="34" charset="0"/>
              </a:rPr>
              <a:t>-learn. </a:t>
            </a:r>
          </a:p>
        </p:txBody>
      </p:sp>
    </p:spTree>
    <p:extLst>
      <p:ext uri="{BB962C8B-B14F-4D97-AF65-F5344CB8AC3E}">
        <p14:creationId xmlns:p14="http://schemas.microsoft.com/office/powerpoint/2010/main" val="42492961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7" name="모서리가 둥근 직사각형 4">
            <a:extLst>
              <a:ext uri="{FF2B5EF4-FFF2-40B4-BE49-F238E27FC236}">
                <a16:creationId xmlns:a16="http://schemas.microsoft.com/office/drawing/2014/main" id="{549F4C64-5AF0-43ED-A9ED-34D502BF364D}"/>
              </a:ext>
            </a:extLst>
          </p:cNvPr>
          <p:cNvSpPr/>
          <p:nvPr/>
        </p:nvSpPr>
        <p:spPr>
          <a:xfrm>
            <a:off x="666749" y="1773237"/>
            <a:ext cx="8677276" cy="334795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1" name="그림 10">
            <a:extLst>
              <a:ext uri="{FF2B5EF4-FFF2-40B4-BE49-F238E27FC236}">
                <a16:creationId xmlns:a16="http://schemas.microsoft.com/office/drawing/2014/main" id="{53B0A157-C2FE-45C1-94E1-607A79554752}"/>
              </a:ext>
            </a:extLst>
          </p:cNvPr>
          <p:cNvPicPr>
            <a:picLocks noChangeAspect="1"/>
          </p:cNvPicPr>
          <p:nvPr/>
        </p:nvPicPr>
        <p:blipFill rotWithShape="1">
          <a:blip r:embed="rId4"/>
          <a:srcRect l="1712" t="1346" r="26476" b="1743"/>
          <a:stretch/>
        </p:blipFill>
        <p:spPr>
          <a:xfrm>
            <a:off x="847725" y="1844824"/>
            <a:ext cx="8496300" cy="3169447"/>
          </a:xfrm>
          <a:prstGeom prst="rect">
            <a:avLst/>
          </a:prstGeom>
          <a:ln>
            <a:noFill/>
          </a:ln>
        </p:spPr>
      </p:pic>
    </p:spTree>
    <p:extLst>
      <p:ext uri="{BB962C8B-B14F-4D97-AF65-F5344CB8AC3E}">
        <p14:creationId xmlns:p14="http://schemas.microsoft.com/office/powerpoint/2010/main" val="11778903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7" name="모서리가 둥근 직사각형 4">
            <a:extLst>
              <a:ext uri="{FF2B5EF4-FFF2-40B4-BE49-F238E27FC236}">
                <a16:creationId xmlns:a16="http://schemas.microsoft.com/office/drawing/2014/main" id="{549F4C64-5AF0-43ED-A9ED-34D502BF364D}"/>
              </a:ext>
            </a:extLst>
          </p:cNvPr>
          <p:cNvSpPr/>
          <p:nvPr/>
        </p:nvSpPr>
        <p:spPr>
          <a:xfrm>
            <a:off x="666749" y="1773237"/>
            <a:ext cx="8677276" cy="226783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8" name="그림 7">
            <a:extLst>
              <a:ext uri="{FF2B5EF4-FFF2-40B4-BE49-F238E27FC236}">
                <a16:creationId xmlns:a16="http://schemas.microsoft.com/office/drawing/2014/main" id="{CB79ECBF-CE91-4D6F-B131-7776C8B64B96}"/>
              </a:ext>
            </a:extLst>
          </p:cNvPr>
          <p:cNvPicPr>
            <a:picLocks noChangeAspect="1"/>
          </p:cNvPicPr>
          <p:nvPr/>
        </p:nvPicPr>
        <p:blipFill rotWithShape="1">
          <a:blip r:embed="rId4"/>
          <a:srcRect l="1570" r="25426"/>
          <a:stretch/>
        </p:blipFill>
        <p:spPr>
          <a:xfrm>
            <a:off x="847724" y="1808820"/>
            <a:ext cx="8496301" cy="2128112"/>
          </a:xfrm>
          <a:prstGeom prst="rect">
            <a:avLst/>
          </a:prstGeom>
          <a:ln>
            <a:noFill/>
          </a:ln>
        </p:spPr>
      </p:pic>
      <p:grpSp>
        <p:nvGrpSpPr>
          <p:cNvPr id="9" name="그룹 8">
            <a:extLst>
              <a:ext uri="{FF2B5EF4-FFF2-40B4-BE49-F238E27FC236}">
                <a16:creationId xmlns:a16="http://schemas.microsoft.com/office/drawing/2014/main" id="{EE61990D-B8DC-4A6A-B79D-773A41E3C0DB}"/>
              </a:ext>
            </a:extLst>
          </p:cNvPr>
          <p:cNvGrpSpPr/>
          <p:nvPr/>
        </p:nvGrpSpPr>
        <p:grpSpPr>
          <a:xfrm>
            <a:off x="666750" y="4170116"/>
            <a:ext cx="8677275" cy="742281"/>
            <a:chOff x="559817" y="3081410"/>
            <a:chExt cx="8677275" cy="742281"/>
          </a:xfrm>
        </p:grpSpPr>
        <p:sp>
          <p:nvSpPr>
            <p:cNvPr id="10" name="모서리가 둥근 직사각형 4">
              <a:extLst>
                <a:ext uri="{FF2B5EF4-FFF2-40B4-BE49-F238E27FC236}">
                  <a16:creationId xmlns:a16="http://schemas.microsoft.com/office/drawing/2014/main" id="{E4AC40D1-1CC1-4E96-B221-0751AE995D80}"/>
                </a:ext>
              </a:extLst>
            </p:cNvPr>
            <p:cNvSpPr/>
            <p:nvPr/>
          </p:nvSpPr>
          <p:spPr>
            <a:xfrm>
              <a:off x="559817" y="3081410"/>
              <a:ext cx="8677275" cy="74228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2" name="Picture 2" descr="Byte - Free electronics icons">
              <a:extLst>
                <a:ext uri="{FF2B5EF4-FFF2-40B4-BE49-F238E27FC236}">
                  <a16:creationId xmlns:a16="http://schemas.microsoft.com/office/drawing/2014/main" id="{25CAB303-D9DB-4EB9-B366-1F7553F76B6D}"/>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080DD22-3913-4451-85B1-94FA9C8DF6F2}"/>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35</a:t>
              </a:r>
            </a:p>
          </p:txBody>
        </p:sp>
        <p:sp>
          <p:nvSpPr>
            <p:cNvPr id="14" name="TextBox 13">
              <a:extLst>
                <a:ext uri="{FF2B5EF4-FFF2-40B4-BE49-F238E27FC236}">
                  <a16:creationId xmlns:a16="http://schemas.microsoft.com/office/drawing/2014/main" id="{B469129D-B5F5-49BF-BD05-3FF73A0E3AEB}"/>
                </a:ext>
              </a:extLst>
            </p:cNvPr>
            <p:cNvSpPr txBox="1"/>
            <p:nvPr/>
          </p:nvSpPr>
          <p:spPr>
            <a:xfrm>
              <a:off x="1036273" y="3467475"/>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mn-ea"/>
                  <a:cs typeface="+mn-cs"/>
                </a:rPr>
                <a:t>Data frame before standardization </a:t>
              </a:r>
              <a:endParaRPr lang="ko-KR" altLang="en-US" sz="1300" dirty="0">
                <a:solidFill>
                  <a:prstClr val="black">
                    <a:lumMod val="85000"/>
                    <a:lumOff val="15000"/>
                  </a:prstClr>
                </a:solidFill>
                <a:latin typeface="SamsungOne 400" panose="020B0503030303020204" pitchFamily="34" charset="0"/>
                <a:ea typeface="+mn-ea"/>
                <a:cs typeface="+mn-cs"/>
              </a:endParaRPr>
            </a:p>
          </p:txBody>
        </p:sp>
      </p:grpSp>
    </p:spTree>
    <p:extLst>
      <p:ext uri="{BB962C8B-B14F-4D97-AF65-F5344CB8AC3E}">
        <p14:creationId xmlns:p14="http://schemas.microsoft.com/office/powerpoint/2010/main" val="32626674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7" name="모서리가 둥근 직사각형 4">
            <a:extLst>
              <a:ext uri="{FF2B5EF4-FFF2-40B4-BE49-F238E27FC236}">
                <a16:creationId xmlns:a16="http://schemas.microsoft.com/office/drawing/2014/main" id="{549F4C64-5AF0-43ED-A9ED-34D502BF364D}"/>
              </a:ext>
            </a:extLst>
          </p:cNvPr>
          <p:cNvSpPr/>
          <p:nvPr/>
        </p:nvSpPr>
        <p:spPr>
          <a:xfrm>
            <a:off x="666749" y="1773237"/>
            <a:ext cx="8677276" cy="359208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8" name="그림 7">
            <a:extLst>
              <a:ext uri="{FF2B5EF4-FFF2-40B4-BE49-F238E27FC236}">
                <a16:creationId xmlns:a16="http://schemas.microsoft.com/office/drawing/2014/main" id="{843A6637-B706-4DEA-8DDE-B828C6E8DF2D}"/>
              </a:ext>
            </a:extLst>
          </p:cNvPr>
          <p:cNvPicPr>
            <a:picLocks noChangeAspect="1"/>
          </p:cNvPicPr>
          <p:nvPr/>
        </p:nvPicPr>
        <p:blipFill rotWithShape="1">
          <a:blip r:embed="rId4"/>
          <a:srcRect l="1549" r="3062"/>
          <a:stretch/>
        </p:blipFill>
        <p:spPr>
          <a:xfrm>
            <a:off x="847725" y="1834703"/>
            <a:ext cx="7272039" cy="3479581"/>
          </a:xfrm>
          <a:prstGeom prst="rect">
            <a:avLst/>
          </a:prstGeom>
          <a:ln>
            <a:noFill/>
          </a:ln>
        </p:spPr>
      </p:pic>
      <p:grpSp>
        <p:nvGrpSpPr>
          <p:cNvPr id="9" name="그룹 8">
            <a:extLst>
              <a:ext uri="{FF2B5EF4-FFF2-40B4-BE49-F238E27FC236}">
                <a16:creationId xmlns:a16="http://schemas.microsoft.com/office/drawing/2014/main" id="{7E74BD8D-BD66-4D67-9B30-B1CF3FCDCF11}"/>
              </a:ext>
            </a:extLst>
          </p:cNvPr>
          <p:cNvGrpSpPr/>
          <p:nvPr/>
        </p:nvGrpSpPr>
        <p:grpSpPr>
          <a:xfrm>
            <a:off x="666750" y="5445224"/>
            <a:ext cx="8677275" cy="720080"/>
            <a:chOff x="559817" y="3081411"/>
            <a:chExt cx="8677275" cy="720080"/>
          </a:xfrm>
        </p:grpSpPr>
        <p:sp>
          <p:nvSpPr>
            <p:cNvPr id="10" name="모서리가 둥근 직사각형 4">
              <a:extLst>
                <a:ext uri="{FF2B5EF4-FFF2-40B4-BE49-F238E27FC236}">
                  <a16:creationId xmlns:a16="http://schemas.microsoft.com/office/drawing/2014/main" id="{100DFCDB-392B-4359-9151-C248C28BAD31}"/>
                </a:ext>
              </a:extLst>
            </p:cNvPr>
            <p:cNvSpPr/>
            <p:nvPr/>
          </p:nvSpPr>
          <p:spPr>
            <a:xfrm>
              <a:off x="559817" y="3081411"/>
              <a:ext cx="8677275" cy="7200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2" name="Picture 2" descr="Byte - Free electronics icons">
              <a:extLst>
                <a:ext uri="{FF2B5EF4-FFF2-40B4-BE49-F238E27FC236}">
                  <a16:creationId xmlns:a16="http://schemas.microsoft.com/office/drawing/2014/main" id="{E7DFC570-0EB5-4ACC-9550-91A5AC5458C9}"/>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93C0C64-0797-4A15-B011-7309D1EDCF2D}"/>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4" name="TextBox 13">
              <a:extLst>
                <a:ext uri="{FF2B5EF4-FFF2-40B4-BE49-F238E27FC236}">
                  <a16:creationId xmlns:a16="http://schemas.microsoft.com/office/drawing/2014/main" id="{ACFDE08D-8138-4FFB-B1C1-B4A4A99887F9}"/>
                </a:ext>
              </a:extLst>
            </p:cNvPr>
            <p:cNvSpPr txBox="1"/>
            <p:nvPr/>
          </p:nvSpPr>
          <p:spPr>
            <a:xfrm>
              <a:off x="1036273" y="3467475"/>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mn-ea"/>
                  <a:cs typeface="+mn-cs"/>
                </a:rPr>
                <a:t>The differences among column values are huge before standardization.</a:t>
              </a:r>
            </a:p>
          </p:txBody>
        </p:sp>
      </p:grpSp>
      <p:sp>
        <p:nvSpPr>
          <p:cNvPr id="18" name="직사각형 17">
            <a:extLst>
              <a:ext uri="{FF2B5EF4-FFF2-40B4-BE49-F238E27FC236}">
                <a16:creationId xmlns:a16="http://schemas.microsoft.com/office/drawing/2014/main" id="{C3683219-910F-4AB5-8DAF-E7F862F7FD4B}"/>
              </a:ext>
            </a:extLst>
          </p:cNvPr>
          <p:cNvSpPr/>
          <p:nvPr/>
        </p:nvSpPr>
        <p:spPr>
          <a:xfrm>
            <a:off x="2323120" y="1910017"/>
            <a:ext cx="3420380" cy="16458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384385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7" name="모서리가 둥근 직사각형 4">
            <a:extLst>
              <a:ext uri="{FF2B5EF4-FFF2-40B4-BE49-F238E27FC236}">
                <a16:creationId xmlns:a16="http://schemas.microsoft.com/office/drawing/2014/main" id="{549F4C64-5AF0-43ED-A9ED-34D502BF364D}"/>
              </a:ext>
            </a:extLst>
          </p:cNvPr>
          <p:cNvSpPr/>
          <p:nvPr/>
        </p:nvSpPr>
        <p:spPr>
          <a:xfrm>
            <a:off x="666749" y="1773237"/>
            <a:ext cx="8677276" cy="331962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9" name="그룹 8">
            <a:extLst>
              <a:ext uri="{FF2B5EF4-FFF2-40B4-BE49-F238E27FC236}">
                <a16:creationId xmlns:a16="http://schemas.microsoft.com/office/drawing/2014/main" id="{EE61990D-B8DC-4A6A-B79D-773A41E3C0DB}"/>
              </a:ext>
            </a:extLst>
          </p:cNvPr>
          <p:cNvGrpSpPr/>
          <p:nvPr/>
        </p:nvGrpSpPr>
        <p:grpSpPr>
          <a:xfrm>
            <a:off x="666750" y="5193197"/>
            <a:ext cx="8677275" cy="1008111"/>
            <a:chOff x="559817" y="3081411"/>
            <a:chExt cx="8677275" cy="1008111"/>
          </a:xfrm>
        </p:grpSpPr>
        <p:sp>
          <p:nvSpPr>
            <p:cNvPr id="10" name="모서리가 둥근 직사각형 4">
              <a:extLst>
                <a:ext uri="{FF2B5EF4-FFF2-40B4-BE49-F238E27FC236}">
                  <a16:creationId xmlns:a16="http://schemas.microsoft.com/office/drawing/2014/main" id="{E4AC40D1-1CC1-4E96-B221-0751AE995D80}"/>
                </a:ext>
              </a:extLst>
            </p:cNvPr>
            <p:cNvSpPr/>
            <p:nvPr/>
          </p:nvSpPr>
          <p:spPr>
            <a:xfrm>
              <a:off x="559817" y="3081411"/>
              <a:ext cx="8677275" cy="100811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2" name="Picture 2" descr="Byte - Free electronics icons">
              <a:extLst>
                <a:ext uri="{FF2B5EF4-FFF2-40B4-BE49-F238E27FC236}">
                  <a16:creationId xmlns:a16="http://schemas.microsoft.com/office/drawing/2014/main" id="{25CAB303-D9DB-4EB9-B366-1F7553F76B6D}"/>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080DD22-3913-4451-85B1-94FA9C8DF6F2}"/>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40</a:t>
              </a:r>
            </a:p>
          </p:txBody>
        </p:sp>
        <p:sp>
          <p:nvSpPr>
            <p:cNvPr id="14" name="TextBox 13">
              <a:extLst>
                <a:ext uri="{FF2B5EF4-FFF2-40B4-BE49-F238E27FC236}">
                  <a16:creationId xmlns:a16="http://schemas.microsoft.com/office/drawing/2014/main" id="{B469129D-B5F5-49BF-BD05-3FF73A0E3AEB}"/>
                </a:ext>
              </a:extLst>
            </p:cNvPr>
            <p:cNvSpPr txBox="1"/>
            <p:nvPr/>
          </p:nvSpPr>
          <p:spPr>
            <a:xfrm>
              <a:off x="1036273" y="3467475"/>
              <a:ext cx="8167303" cy="477054"/>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mn-ea"/>
                  <a:cs typeface="+mn-cs"/>
                </a:rPr>
                <a:t>After standardization, the column values do not significantly deviate from 0. </a:t>
              </a:r>
            </a:p>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mn-ea"/>
                  <a:cs typeface="+mn-cs"/>
                </a:rPr>
                <a:t>Better performance would be possible compared to the performance before standardization.</a:t>
              </a:r>
            </a:p>
          </p:txBody>
        </p:sp>
      </p:grpSp>
      <p:pic>
        <p:nvPicPr>
          <p:cNvPr id="16" name="그림 15">
            <a:extLst>
              <a:ext uri="{FF2B5EF4-FFF2-40B4-BE49-F238E27FC236}">
                <a16:creationId xmlns:a16="http://schemas.microsoft.com/office/drawing/2014/main" id="{A8241192-D8D8-45CC-B032-D99641DCF1A2}"/>
              </a:ext>
            </a:extLst>
          </p:cNvPr>
          <p:cNvPicPr>
            <a:picLocks noChangeAspect="1"/>
          </p:cNvPicPr>
          <p:nvPr/>
        </p:nvPicPr>
        <p:blipFill rotWithShape="1">
          <a:blip r:embed="rId5"/>
          <a:srcRect l="1635" r="2158"/>
          <a:stretch/>
        </p:blipFill>
        <p:spPr>
          <a:xfrm>
            <a:off x="847725" y="1857342"/>
            <a:ext cx="6752743" cy="3173599"/>
          </a:xfrm>
          <a:prstGeom prst="rect">
            <a:avLst/>
          </a:prstGeom>
          <a:ln>
            <a:noFill/>
          </a:ln>
        </p:spPr>
      </p:pic>
    </p:spTree>
    <p:extLst>
      <p:ext uri="{BB962C8B-B14F-4D97-AF65-F5344CB8AC3E}">
        <p14:creationId xmlns:p14="http://schemas.microsoft.com/office/powerpoint/2010/main" val="16118414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transform</a:t>
            </a:r>
          </a:p>
        </p:txBody>
      </p:sp>
      <p:sp>
        <p:nvSpPr>
          <p:cNvPr id="26" name="직사각형 25">
            <a:extLst>
              <a:ext uri="{FF2B5EF4-FFF2-40B4-BE49-F238E27FC236}">
                <a16:creationId xmlns:a16="http://schemas.microsoft.com/office/drawing/2014/main" id="{E0E9A875-855D-4DD3-BA61-C3F6A0D3F901}"/>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Feature processing is done with ‘transform’ to return the result.</a:t>
            </a:r>
          </a:p>
        </p:txBody>
      </p:sp>
      <p:grpSp>
        <p:nvGrpSpPr>
          <p:cNvPr id="11" name="그룹 10">
            <a:extLst>
              <a:ext uri="{FF2B5EF4-FFF2-40B4-BE49-F238E27FC236}">
                <a16:creationId xmlns:a16="http://schemas.microsoft.com/office/drawing/2014/main" id="{1422A895-85C5-4919-AC5C-D3FD2A63D13B}"/>
              </a:ext>
            </a:extLst>
          </p:cNvPr>
          <p:cNvGrpSpPr/>
          <p:nvPr/>
        </p:nvGrpSpPr>
        <p:grpSpPr>
          <a:xfrm>
            <a:off x="666750" y="5660608"/>
            <a:ext cx="8677275" cy="648712"/>
            <a:chOff x="559817" y="3116135"/>
            <a:chExt cx="8677275" cy="648712"/>
          </a:xfrm>
        </p:grpSpPr>
        <p:sp>
          <p:nvSpPr>
            <p:cNvPr id="12" name="모서리가 둥근 직사각형 4">
              <a:extLst>
                <a:ext uri="{FF2B5EF4-FFF2-40B4-BE49-F238E27FC236}">
                  <a16:creationId xmlns:a16="http://schemas.microsoft.com/office/drawing/2014/main" id="{32118D81-E242-44FE-B10E-6CDB637B27FB}"/>
                </a:ext>
              </a:extLst>
            </p:cNvPr>
            <p:cNvSpPr/>
            <p:nvPr/>
          </p:nvSpPr>
          <p:spPr>
            <a:xfrm>
              <a:off x="559817" y="3116135"/>
              <a:ext cx="8677275" cy="64871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9B468530-8022-4BA5-B034-9A4324B59AD1}"/>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5D1A85D6-AB50-4B23-9283-B14F12225443}"/>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3-3</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16" name="TextBox 15">
              <a:extLst>
                <a:ext uri="{FF2B5EF4-FFF2-40B4-BE49-F238E27FC236}">
                  <a16:creationId xmlns:a16="http://schemas.microsoft.com/office/drawing/2014/main" id="{F7DC4EBA-65FE-47D6-A3C2-4796364A08D6}"/>
                </a:ext>
              </a:extLst>
            </p:cNvPr>
            <p:cNvSpPr txBox="1"/>
            <p:nvPr/>
          </p:nvSpPr>
          <p:spPr>
            <a:xfrm>
              <a:off x="1036273" y="3467475"/>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mn-ea"/>
                  <a:cs typeface="+mn-cs"/>
                </a:rPr>
                <a:t>Output before pre-processing</a:t>
              </a:r>
            </a:p>
          </p:txBody>
        </p:sp>
      </p:grpSp>
      <p:grpSp>
        <p:nvGrpSpPr>
          <p:cNvPr id="27" name="그룹 26">
            <a:extLst>
              <a:ext uri="{FF2B5EF4-FFF2-40B4-BE49-F238E27FC236}">
                <a16:creationId xmlns:a16="http://schemas.microsoft.com/office/drawing/2014/main" id="{4F9FEFAE-680E-D77F-2A6A-B4A4C73F737F}"/>
              </a:ext>
            </a:extLst>
          </p:cNvPr>
          <p:cNvGrpSpPr/>
          <p:nvPr/>
        </p:nvGrpSpPr>
        <p:grpSpPr>
          <a:xfrm>
            <a:off x="666749" y="2060848"/>
            <a:ext cx="8677277" cy="3514363"/>
            <a:chOff x="666749" y="2071427"/>
            <a:chExt cx="8677277" cy="3514363"/>
          </a:xfrm>
        </p:grpSpPr>
        <p:sp>
          <p:nvSpPr>
            <p:cNvPr id="9" name="모서리가 둥근 직사각형 4">
              <a:extLst>
                <a:ext uri="{FF2B5EF4-FFF2-40B4-BE49-F238E27FC236}">
                  <a16:creationId xmlns:a16="http://schemas.microsoft.com/office/drawing/2014/main" id="{D6725CE3-5C85-4FE2-90B1-C46F888E1081}"/>
                </a:ext>
              </a:extLst>
            </p:cNvPr>
            <p:cNvSpPr/>
            <p:nvPr/>
          </p:nvSpPr>
          <p:spPr>
            <a:xfrm>
              <a:off x="666749" y="2071427"/>
              <a:ext cx="8677276" cy="351436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8" name="그룹 17">
              <a:extLst>
                <a:ext uri="{FF2B5EF4-FFF2-40B4-BE49-F238E27FC236}">
                  <a16:creationId xmlns:a16="http://schemas.microsoft.com/office/drawing/2014/main" id="{B352B960-BB7D-35B0-0BE2-71C1087AF084}"/>
                </a:ext>
              </a:extLst>
            </p:cNvPr>
            <p:cNvGrpSpPr/>
            <p:nvPr/>
          </p:nvGrpSpPr>
          <p:grpSpPr>
            <a:xfrm>
              <a:off x="806901" y="2236076"/>
              <a:ext cx="494583" cy="181711"/>
              <a:chOff x="767144" y="2239034"/>
              <a:chExt cx="511860" cy="188059"/>
            </a:xfrm>
          </p:grpSpPr>
          <p:pic>
            <p:nvPicPr>
              <p:cNvPr id="8" name="그림 7">
                <a:extLst>
                  <a:ext uri="{FF2B5EF4-FFF2-40B4-BE49-F238E27FC236}">
                    <a16:creationId xmlns:a16="http://schemas.microsoft.com/office/drawing/2014/main" id="{7EA7B261-623F-8DA4-20AC-7DA50B6F78D6}"/>
                  </a:ext>
                </a:extLst>
              </p:cNvPr>
              <p:cNvPicPr>
                <a:picLocks noChangeAspect="1"/>
              </p:cNvPicPr>
              <p:nvPr/>
            </p:nvPicPr>
            <p:blipFill>
              <a:blip r:embed="rId5"/>
              <a:stretch>
                <a:fillRect/>
              </a:stretch>
            </p:blipFill>
            <p:spPr>
              <a:xfrm>
                <a:off x="767144" y="2239034"/>
                <a:ext cx="511860" cy="188059"/>
              </a:xfrm>
              <a:prstGeom prst="rect">
                <a:avLst/>
              </a:prstGeom>
            </p:spPr>
          </p:pic>
          <p:sp>
            <p:nvSpPr>
              <p:cNvPr id="17" name="직사각형 16">
                <a:extLst>
                  <a:ext uri="{FF2B5EF4-FFF2-40B4-BE49-F238E27FC236}">
                    <a16:creationId xmlns:a16="http://schemas.microsoft.com/office/drawing/2014/main" id="{47968706-FF6C-6697-8E89-109B0E505FDD}"/>
                  </a:ext>
                </a:extLst>
              </p:cNvPr>
              <p:cNvSpPr/>
              <p:nvPr/>
            </p:nvSpPr>
            <p:spPr>
              <a:xfrm>
                <a:off x="1076620" y="2259251"/>
                <a:ext cx="60665" cy="1490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dirty="0">
                    <a:solidFill>
                      <a:srgbClr val="2D3C9D"/>
                    </a:solidFill>
                    <a:latin typeface="D2Coding" panose="020B0609020101020101" pitchFamily="49" charset="-127"/>
                    <a:ea typeface="D2Coding" panose="020B0609020101020101" pitchFamily="49" charset="-127"/>
                  </a:rPr>
                  <a:t>3</a:t>
                </a:r>
                <a:endParaRPr lang="ko-KR" altLang="en-US" sz="1100" dirty="0">
                  <a:solidFill>
                    <a:srgbClr val="2D3C9D"/>
                  </a:solidFill>
                  <a:latin typeface="D2Coding" panose="020B0609020101020101" pitchFamily="49" charset="-127"/>
                  <a:ea typeface="D2Coding" panose="020B0609020101020101" pitchFamily="49" charset="-127"/>
                </a:endParaRPr>
              </a:p>
            </p:txBody>
          </p:sp>
        </p:grpSp>
        <p:pic>
          <p:nvPicPr>
            <p:cNvPr id="22" name="그림 21">
              <a:extLst>
                <a:ext uri="{FF2B5EF4-FFF2-40B4-BE49-F238E27FC236}">
                  <a16:creationId xmlns:a16="http://schemas.microsoft.com/office/drawing/2014/main" id="{2D70425B-591F-4D57-1311-0BA0A0037626}"/>
                </a:ext>
              </a:extLst>
            </p:cNvPr>
            <p:cNvPicPr>
              <a:picLocks noChangeAspect="1"/>
            </p:cNvPicPr>
            <p:nvPr/>
          </p:nvPicPr>
          <p:blipFill rotWithShape="1">
            <a:blip r:embed="rId6"/>
            <a:srcRect r="6850"/>
            <a:stretch/>
          </p:blipFill>
          <p:spPr>
            <a:xfrm>
              <a:off x="1340108" y="2159560"/>
              <a:ext cx="8003918" cy="3388933"/>
            </a:xfrm>
            <a:prstGeom prst="rect">
              <a:avLst/>
            </a:prstGeom>
          </p:spPr>
        </p:pic>
      </p:grpSp>
    </p:spTree>
    <p:extLst>
      <p:ext uri="{BB962C8B-B14F-4D97-AF65-F5344CB8AC3E}">
        <p14:creationId xmlns:p14="http://schemas.microsoft.com/office/powerpoint/2010/main" val="7047340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transform</a:t>
            </a:r>
          </a:p>
        </p:txBody>
      </p:sp>
      <p:sp>
        <p:nvSpPr>
          <p:cNvPr id="26" name="직사각형 25">
            <a:extLst>
              <a:ext uri="{FF2B5EF4-FFF2-40B4-BE49-F238E27FC236}">
                <a16:creationId xmlns:a16="http://schemas.microsoft.com/office/drawing/2014/main" id="{E0E9A875-855D-4DD3-BA61-C3F6A0D3F901}"/>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Feature processing is done with ‘transform’ to return the result.</a:t>
            </a:r>
          </a:p>
        </p:txBody>
      </p:sp>
      <p:grpSp>
        <p:nvGrpSpPr>
          <p:cNvPr id="4" name="그룹 3">
            <a:extLst>
              <a:ext uri="{FF2B5EF4-FFF2-40B4-BE49-F238E27FC236}">
                <a16:creationId xmlns:a16="http://schemas.microsoft.com/office/drawing/2014/main" id="{FF1EC1CD-A10C-6BC1-41F5-6ADA3C4AC0D0}"/>
              </a:ext>
            </a:extLst>
          </p:cNvPr>
          <p:cNvGrpSpPr/>
          <p:nvPr/>
        </p:nvGrpSpPr>
        <p:grpSpPr>
          <a:xfrm>
            <a:off x="666749" y="2060848"/>
            <a:ext cx="8677277" cy="3514363"/>
            <a:chOff x="666749" y="2071427"/>
            <a:chExt cx="8677277" cy="3514363"/>
          </a:xfrm>
        </p:grpSpPr>
        <p:sp>
          <p:nvSpPr>
            <p:cNvPr id="5" name="모서리가 둥근 직사각형 4">
              <a:extLst>
                <a:ext uri="{FF2B5EF4-FFF2-40B4-BE49-F238E27FC236}">
                  <a16:creationId xmlns:a16="http://schemas.microsoft.com/office/drawing/2014/main" id="{B0D78728-319B-1E73-D4E1-83026A0FE9D4}"/>
                </a:ext>
              </a:extLst>
            </p:cNvPr>
            <p:cNvSpPr/>
            <p:nvPr/>
          </p:nvSpPr>
          <p:spPr>
            <a:xfrm>
              <a:off x="666749" y="2071427"/>
              <a:ext cx="8677276" cy="351436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6" name="그룹 5">
              <a:extLst>
                <a:ext uri="{FF2B5EF4-FFF2-40B4-BE49-F238E27FC236}">
                  <a16:creationId xmlns:a16="http://schemas.microsoft.com/office/drawing/2014/main" id="{F25DBAD2-469B-C606-DCA5-3EFB6494F6F3}"/>
                </a:ext>
              </a:extLst>
            </p:cNvPr>
            <p:cNvGrpSpPr/>
            <p:nvPr/>
          </p:nvGrpSpPr>
          <p:grpSpPr>
            <a:xfrm>
              <a:off x="806901" y="2236076"/>
              <a:ext cx="494583" cy="181711"/>
              <a:chOff x="767144" y="2239034"/>
              <a:chExt cx="511860" cy="188059"/>
            </a:xfrm>
          </p:grpSpPr>
          <p:pic>
            <p:nvPicPr>
              <p:cNvPr id="8" name="그림 7">
                <a:extLst>
                  <a:ext uri="{FF2B5EF4-FFF2-40B4-BE49-F238E27FC236}">
                    <a16:creationId xmlns:a16="http://schemas.microsoft.com/office/drawing/2014/main" id="{486ADC8E-95CC-2CCA-027F-E3F106DD9E7F}"/>
                  </a:ext>
                </a:extLst>
              </p:cNvPr>
              <p:cNvPicPr>
                <a:picLocks noChangeAspect="1"/>
              </p:cNvPicPr>
              <p:nvPr/>
            </p:nvPicPr>
            <p:blipFill>
              <a:blip r:embed="rId4"/>
              <a:stretch>
                <a:fillRect/>
              </a:stretch>
            </p:blipFill>
            <p:spPr>
              <a:xfrm>
                <a:off x="767144" y="2239034"/>
                <a:ext cx="511860" cy="188059"/>
              </a:xfrm>
              <a:prstGeom prst="rect">
                <a:avLst/>
              </a:prstGeom>
            </p:spPr>
          </p:pic>
          <p:sp>
            <p:nvSpPr>
              <p:cNvPr id="17" name="직사각형 16">
                <a:extLst>
                  <a:ext uri="{FF2B5EF4-FFF2-40B4-BE49-F238E27FC236}">
                    <a16:creationId xmlns:a16="http://schemas.microsoft.com/office/drawing/2014/main" id="{6A048AEC-6DBE-8A75-3737-7CB6203324C8}"/>
                  </a:ext>
                </a:extLst>
              </p:cNvPr>
              <p:cNvSpPr/>
              <p:nvPr/>
            </p:nvSpPr>
            <p:spPr>
              <a:xfrm>
                <a:off x="1076620" y="2259251"/>
                <a:ext cx="60665" cy="1490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dirty="0">
                    <a:solidFill>
                      <a:srgbClr val="2D3C9D"/>
                    </a:solidFill>
                    <a:latin typeface="D2Coding" panose="020B0609020101020101" pitchFamily="49" charset="-127"/>
                    <a:ea typeface="D2Coding" panose="020B0609020101020101" pitchFamily="49" charset="-127"/>
                  </a:rPr>
                  <a:t>3</a:t>
                </a:r>
                <a:endParaRPr lang="ko-KR" altLang="en-US" sz="1100" dirty="0">
                  <a:solidFill>
                    <a:srgbClr val="2D3C9D"/>
                  </a:solidFill>
                  <a:latin typeface="D2Coding" panose="020B0609020101020101" pitchFamily="49" charset="-127"/>
                  <a:ea typeface="D2Coding" panose="020B0609020101020101" pitchFamily="49" charset="-127"/>
                </a:endParaRPr>
              </a:p>
            </p:txBody>
          </p:sp>
        </p:grpSp>
        <p:pic>
          <p:nvPicPr>
            <p:cNvPr id="7" name="그림 6">
              <a:extLst>
                <a:ext uri="{FF2B5EF4-FFF2-40B4-BE49-F238E27FC236}">
                  <a16:creationId xmlns:a16="http://schemas.microsoft.com/office/drawing/2014/main" id="{AB5C2F91-5CC7-B244-BAE9-B56140A8000A}"/>
                </a:ext>
              </a:extLst>
            </p:cNvPr>
            <p:cNvPicPr>
              <a:picLocks noChangeAspect="1"/>
            </p:cNvPicPr>
            <p:nvPr/>
          </p:nvPicPr>
          <p:blipFill rotWithShape="1">
            <a:blip r:embed="rId5"/>
            <a:srcRect r="6850"/>
            <a:stretch/>
          </p:blipFill>
          <p:spPr>
            <a:xfrm>
              <a:off x="1340108" y="2159560"/>
              <a:ext cx="8003918" cy="3388933"/>
            </a:xfrm>
            <a:prstGeom prst="rect">
              <a:avLst/>
            </a:prstGeom>
          </p:spPr>
        </p:pic>
      </p:grpSp>
      <p:grpSp>
        <p:nvGrpSpPr>
          <p:cNvPr id="18" name="그룹 17">
            <a:extLst>
              <a:ext uri="{FF2B5EF4-FFF2-40B4-BE49-F238E27FC236}">
                <a16:creationId xmlns:a16="http://schemas.microsoft.com/office/drawing/2014/main" id="{B36E506A-729E-17FB-658B-0F2C6B9CEF1D}"/>
              </a:ext>
            </a:extLst>
          </p:cNvPr>
          <p:cNvGrpSpPr/>
          <p:nvPr/>
        </p:nvGrpSpPr>
        <p:grpSpPr>
          <a:xfrm>
            <a:off x="666750" y="5660608"/>
            <a:ext cx="8677275" cy="648712"/>
            <a:chOff x="559817" y="3116135"/>
            <a:chExt cx="8677275" cy="648712"/>
          </a:xfrm>
        </p:grpSpPr>
        <p:sp>
          <p:nvSpPr>
            <p:cNvPr id="19" name="모서리가 둥근 직사각형 4">
              <a:extLst>
                <a:ext uri="{FF2B5EF4-FFF2-40B4-BE49-F238E27FC236}">
                  <a16:creationId xmlns:a16="http://schemas.microsoft.com/office/drawing/2014/main" id="{1337662A-ECAC-180C-03EE-6F0581FFC31D}"/>
                </a:ext>
              </a:extLst>
            </p:cNvPr>
            <p:cNvSpPr/>
            <p:nvPr/>
          </p:nvSpPr>
          <p:spPr>
            <a:xfrm>
              <a:off x="559817" y="3116135"/>
              <a:ext cx="8677275" cy="64871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0" name="Picture 2" descr="Byte - Free electronics icons">
              <a:extLst>
                <a:ext uri="{FF2B5EF4-FFF2-40B4-BE49-F238E27FC236}">
                  <a16:creationId xmlns:a16="http://schemas.microsoft.com/office/drawing/2014/main" id="{657C7A0B-57A7-B8BA-F621-EA13936BBB76}"/>
                </a:ext>
              </a:extLst>
            </p:cNvPr>
            <p:cNvPicPr>
              <a:picLocks noChangeAspect="1" noChangeArrowheads="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101D0BFE-6FCF-413C-7D14-9B5A0C544B00}"/>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3-7</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2" name="TextBox 21">
              <a:extLst>
                <a:ext uri="{FF2B5EF4-FFF2-40B4-BE49-F238E27FC236}">
                  <a16:creationId xmlns:a16="http://schemas.microsoft.com/office/drawing/2014/main" id="{17452286-B84C-00CB-5BB0-9D29D8053939}"/>
                </a:ext>
              </a:extLst>
            </p:cNvPr>
            <p:cNvSpPr txBox="1"/>
            <p:nvPr/>
          </p:nvSpPr>
          <p:spPr>
            <a:xfrm>
              <a:off x="1036273" y="3467475"/>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Pre-processing</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Apply scaling</a:t>
              </a:r>
            </a:p>
          </p:txBody>
        </p:sp>
      </p:grpSp>
    </p:spTree>
    <p:extLst>
      <p:ext uri="{BB962C8B-B14F-4D97-AF65-F5344CB8AC3E}">
        <p14:creationId xmlns:p14="http://schemas.microsoft.com/office/powerpoint/2010/main" val="22551739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transform</a:t>
            </a:r>
          </a:p>
        </p:txBody>
      </p:sp>
      <p:sp>
        <p:nvSpPr>
          <p:cNvPr id="26" name="직사각형 25">
            <a:extLst>
              <a:ext uri="{FF2B5EF4-FFF2-40B4-BE49-F238E27FC236}">
                <a16:creationId xmlns:a16="http://schemas.microsoft.com/office/drawing/2014/main" id="{E0E9A875-855D-4DD3-BA61-C3F6A0D3F901}"/>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Feature processing is done with ‘transform’ to return the result.</a:t>
            </a:r>
          </a:p>
        </p:txBody>
      </p:sp>
      <p:grpSp>
        <p:nvGrpSpPr>
          <p:cNvPr id="4" name="그룹 3">
            <a:extLst>
              <a:ext uri="{FF2B5EF4-FFF2-40B4-BE49-F238E27FC236}">
                <a16:creationId xmlns:a16="http://schemas.microsoft.com/office/drawing/2014/main" id="{ED31FF96-9374-177D-CC81-3753DBA35E10}"/>
              </a:ext>
            </a:extLst>
          </p:cNvPr>
          <p:cNvGrpSpPr/>
          <p:nvPr/>
        </p:nvGrpSpPr>
        <p:grpSpPr>
          <a:xfrm>
            <a:off x="666749" y="2060848"/>
            <a:ext cx="8677277" cy="3514363"/>
            <a:chOff x="666749" y="2071427"/>
            <a:chExt cx="8677277" cy="3514363"/>
          </a:xfrm>
        </p:grpSpPr>
        <p:sp>
          <p:nvSpPr>
            <p:cNvPr id="5" name="모서리가 둥근 직사각형 4">
              <a:extLst>
                <a:ext uri="{FF2B5EF4-FFF2-40B4-BE49-F238E27FC236}">
                  <a16:creationId xmlns:a16="http://schemas.microsoft.com/office/drawing/2014/main" id="{4526780B-FA8A-B699-E048-A242C059591A}"/>
                </a:ext>
              </a:extLst>
            </p:cNvPr>
            <p:cNvSpPr/>
            <p:nvPr/>
          </p:nvSpPr>
          <p:spPr>
            <a:xfrm>
              <a:off x="666749" y="2071427"/>
              <a:ext cx="8677276" cy="351436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6" name="그룹 5">
              <a:extLst>
                <a:ext uri="{FF2B5EF4-FFF2-40B4-BE49-F238E27FC236}">
                  <a16:creationId xmlns:a16="http://schemas.microsoft.com/office/drawing/2014/main" id="{7939F91A-A007-B91F-34AE-C780B7334E71}"/>
                </a:ext>
              </a:extLst>
            </p:cNvPr>
            <p:cNvGrpSpPr/>
            <p:nvPr/>
          </p:nvGrpSpPr>
          <p:grpSpPr>
            <a:xfrm>
              <a:off x="806901" y="2236076"/>
              <a:ext cx="494583" cy="181711"/>
              <a:chOff x="767144" y="2239034"/>
              <a:chExt cx="511860" cy="188059"/>
            </a:xfrm>
          </p:grpSpPr>
          <p:pic>
            <p:nvPicPr>
              <p:cNvPr id="8" name="그림 7">
                <a:extLst>
                  <a:ext uri="{FF2B5EF4-FFF2-40B4-BE49-F238E27FC236}">
                    <a16:creationId xmlns:a16="http://schemas.microsoft.com/office/drawing/2014/main" id="{7FDAF566-A419-3E72-F203-B23AC7ABBD9E}"/>
                  </a:ext>
                </a:extLst>
              </p:cNvPr>
              <p:cNvPicPr>
                <a:picLocks noChangeAspect="1"/>
              </p:cNvPicPr>
              <p:nvPr/>
            </p:nvPicPr>
            <p:blipFill>
              <a:blip r:embed="rId4"/>
              <a:stretch>
                <a:fillRect/>
              </a:stretch>
            </p:blipFill>
            <p:spPr>
              <a:xfrm>
                <a:off x="767144" y="2239034"/>
                <a:ext cx="511860" cy="188059"/>
              </a:xfrm>
              <a:prstGeom prst="rect">
                <a:avLst/>
              </a:prstGeom>
            </p:spPr>
          </p:pic>
          <p:sp>
            <p:nvSpPr>
              <p:cNvPr id="17" name="직사각형 16">
                <a:extLst>
                  <a:ext uri="{FF2B5EF4-FFF2-40B4-BE49-F238E27FC236}">
                    <a16:creationId xmlns:a16="http://schemas.microsoft.com/office/drawing/2014/main" id="{319D8932-8925-3A1F-8F75-A198CBB3473F}"/>
                  </a:ext>
                </a:extLst>
              </p:cNvPr>
              <p:cNvSpPr/>
              <p:nvPr/>
            </p:nvSpPr>
            <p:spPr>
              <a:xfrm>
                <a:off x="1076620" y="2259251"/>
                <a:ext cx="60665" cy="1490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dirty="0">
                    <a:solidFill>
                      <a:srgbClr val="2D3C9D"/>
                    </a:solidFill>
                    <a:latin typeface="D2Coding" panose="020B0609020101020101" pitchFamily="49" charset="-127"/>
                    <a:ea typeface="D2Coding" panose="020B0609020101020101" pitchFamily="49" charset="-127"/>
                  </a:rPr>
                  <a:t>3</a:t>
                </a:r>
                <a:endParaRPr lang="ko-KR" altLang="en-US" sz="1100" dirty="0">
                  <a:solidFill>
                    <a:srgbClr val="2D3C9D"/>
                  </a:solidFill>
                  <a:latin typeface="D2Coding" panose="020B0609020101020101" pitchFamily="49" charset="-127"/>
                  <a:ea typeface="D2Coding" panose="020B0609020101020101" pitchFamily="49" charset="-127"/>
                </a:endParaRPr>
              </a:p>
            </p:txBody>
          </p:sp>
        </p:grpSp>
        <p:pic>
          <p:nvPicPr>
            <p:cNvPr id="7" name="그림 6">
              <a:extLst>
                <a:ext uri="{FF2B5EF4-FFF2-40B4-BE49-F238E27FC236}">
                  <a16:creationId xmlns:a16="http://schemas.microsoft.com/office/drawing/2014/main" id="{60939E49-50F3-74C3-0305-C26F7F30797A}"/>
                </a:ext>
              </a:extLst>
            </p:cNvPr>
            <p:cNvPicPr>
              <a:picLocks noChangeAspect="1"/>
            </p:cNvPicPr>
            <p:nvPr/>
          </p:nvPicPr>
          <p:blipFill rotWithShape="1">
            <a:blip r:embed="rId5"/>
            <a:srcRect r="6850"/>
            <a:stretch/>
          </p:blipFill>
          <p:spPr>
            <a:xfrm>
              <a:off x="1340108" y="2159560"/>
              <a:ext cx="8003918" cy="3388933"/>
            </a:xfrm>
            <a:prstGeom prst="rect">
              <a:avLst/>
            </a:prstGeom>
          </p:spPr>
        </p:pic>
      </p:grpSp>
      <p:grpSp>
        <p:nvGrpSpPr>
          <p:cNvPr id="18" name="그룹 17">
            <a:extLst>
              <a:ext uri="{FF2B5EF4-FFF2-40B4-BE49-F238E27FC236}">
                <a16:creationId xmlns:a16="http://schemas.microsoft.com/office/drawing/2014/main" id="{51758B02-E8BA-8E7A-554E-9B685A11173D}"/>
              </a:ext>
            </a:extLst>
          </p:cNvPr>
          <p:cNvGrpSpPr/>
          <p:nvPr/>
        </p:nvGrpSpPr>
        <p:grpSpPr>
          <a:xfrm>
            <a:off x="666750" y="5660608"/>
            <a:ext cx="8677275" cy="648712"/>
            <a:chOff x="559817" y="3116135"/>
            <a:chExt cx="8677275" cy="648712"/>
          </a:xfrm>
        </p:grpSpPr>
        <p:sp>
          <p:nvSpPr>
            <p:cNvPr id="19" name="모서리가 둥근 직사각형 4">
              <a:extLst>
                <a:ext uri="{FF2B5EF4-FFF2-40B4-BE49-F238E27FC236}">
                  <a16:creationId xmlns:a16="http://schemas.microsoft.com/office/drawing/2014/main" id="{32F387AE-B0B4-A2D0-3621-1466E4DDA13B}"/>
                </a:ext>
              </a:extLst>
            </p:cNvPr>
            <p:cNvSpPr/>
            <p:nvPr/>
          </p:nvSpPr>
          <p:spPr>
            <a:xfrm>
              <a:off x="559817" y="3116135"/>
              <a:ext cx="8677275" cy="64871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0" name="Picture 2" descr="Byte - Free electronics icons">
              <a:extLst>
                <a:ext uri="{FF2B5EF4-FFF2-40B4-BE49-F238E27FC236}">
                  <a16:creationId xmlns:a16="http://schemas.microsoft.com/office/drawing/2014/main" id="{009FA8A8-6898-2252-7605-9A503AB9F33B}"/>
                </a:ext>
              </a:extLst>
            </p:cNvPr>
            <p:cNvPicPr>
              <a:picLocks noChangeAspect="1" noChangeArrowheads="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BD175FE4-CF38-366F-F179-85C959BF8FC2}"/>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3-9</a:t>
              </a:r>
              <a:endParaRPr lang="ko-KR" altLang="en-US" sz="1300" b="1" dirty="0">
                <a:solidFill>
                  <a:prstClr val="black">
                    <a:lumMod val="85000"/>
                    <a:lumOff val="15000"/>
                  </a:prstClr>
                </a:solidFill>
                <a:latin typeface="SamsungOne 400" panose="020B0503030303020204" pitchFamily="34" charset="0"/>
                <a:cs typeface="Samsung Sharp Sans Bold" pitchFamily="2" charset="0"/>
              </a:endParaRPr>
            </a:p>
          </p:txBody>
        </p:sp>
        <p:sp>
          <p:nvSpPr>
            <p:cNvPr id="22" name="TextBox 21">
              <a:extLst>
                <a:ext uri="{FF2B5EF4-FFF2-40B4-BE49-F238E27FC236}">
                  <a16:creationId xmlns:a16="http://schemas.microsoft.com/office/drawing/2014/main" id="{6F65EA04-7648-F956-AA0B-E3AD13A5EC98}"/>
                </a:ext>
              </a:extLst>
            </p:cNvPr>
            <p:cNvSpPr txBox="1"/>
            <p:nvPr/>
          </p:nvSpPr>
          <p:spPr>
            <a:xfrm>
              <a:off x="1036273" y="3467475"/>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mn-ea"/>
                  <a:cs typeface="+mn-cs"/>
                </a:rPr>
                <a:t>Result check after pre-processing</a:t>
              </a:r>
            </a:p>
          </p:txBody>
        </p:sp>
      </p:grpSp>
    </p:spTree>
    <p:extLst>
      <p:ext uri="{BB962C8B-B14F-4D97-AF65-F5344CB8AC3E}">
        <p14:creationId xmlns:p14="http://schemas.microsoft.com/office/powerpoint/2010/main" val="37987850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transform</a:t>
            </a:r>
          </a:p>
        </p:txBody>
      </p:sp>
      <p:sp>
        <p:nvSpPr>
          <p:cNvPr id="26" name="직사각형 25">
            <a:extLst>
              <a:ext uri="{FF2B5EF4-FFF2-40B4-BE49-F238E27FC236}">
                <a16:creationId xmlns:a16="http://schemas.microsoft.com/office/drawing/2014/main" id="{E0E9A875-855D-4DD3-BA61-C3F6A0D3F901}"/>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Feature processing is done with ‘transform’ to return the result.</a:t>
            </a:r>
          </a:p>
        </p:txBody>
      </p:sp>
      <p:grpSp>
        <p:nvGrpSpPr>
          <p:cNvPr id="2" name="그룹 1"/>
          <p:cNvGrpSpPr/>
          <p:nvPr/>
        </p:nvGrpSpPr>
        <p:grpSpPr>
          <a:xfrm>
            <a:off x="666749" y="2071428"/>
            <a:ext cx="8677276" cy="2280136"/>
            <a:chOff x="666749" y="2071428"/>
            <a:chExt cx="8677276" cy="2280136"/>
          </a:xfrm>
        </p:grpSpPr>
        <p:sp>
          <p:nvSpPr>
            <p:cNvPr id="9" name="모서리가 둥근 직사각형 4">
              <a:extLst>
                <a:ext uri="{FF2B5EF4-FFF2-40B4-BE49-F238E27FC236}">
                  <a16:creationId xmlns:a16="http://schemas.microsoft.com/office/drawing/2014/main" id="{D6725CE3-5C85-4FE2-90B1-C46F888E1081}"/>
                </a:ext>
              </a:extLst>
            </p:cNvPr>
            <p:cNvSpPr/>
            <p:nvPr/>
          </p:nvSpPr>
          <p:spPr>
            <a:xfrm>
              <a:off x="666749" y="2071428"/>
              <a:ext cx="8677276" cy="228013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7" name="그림 16">
              <a:extLst>
                <a:ext uri="{FF2B5EF4-FFF2-40B4-BE49-F238E27FC236}">
                  <a16:creationId xmlns:a16="http://schemas.microsoft.com/office/drawing/2014/main" id="{06A81FC7-E69D-4FF0-9CAD-B5F86495F656}"/>
                </a:ext>
              </a:extLst>
            </p:cNvPr>
            <p:cNvPicPr>
              <a:picLocks noChangeAspect="1"/>
            </p:cNvPicPr>
            <p:nvPr/>
          </p:nvPicPr>
          <p:blipFill rotWithShape="1">
            <a:blip r:embed="rId4"/>
            <a:srcRect l="1018" r="30370"/>
            <a:stretch/>
          </p:blipFill>
          <p:spPr>
            <a:xfrm>
              <a:off x="847724" y="2168860"/>
              <a:ext cx="8387502" cy="2125554"/>
            </a:xfrm>
            <a:prstGeom prst="rect">
              <a:avLst/>
            </a:prstGeom>
            <a:ln>
              <a:noFill/>
            </a:ln>
          </p:spPr>
        </p:pic>
      </p:grpSp>
    </p:spTree>
    <p:extLst>
      <p:ext uri="{BB962C8B-B14F-4D97-AF65-F5344CB8AC3E}">
        <p14:creationId xmlns:p14="http://schemas.microsoft.com/office/powerpoint/2010/main" val="37746879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err="1">
                <a:solidFill>
                  <a:schemeClr val="tx1"/>
                </a:solidFill>
                <a:latin typeface="SamsungOne 400" panose="020B0503030303020204" pitchFamily="34" charset="0"/>
                <a:ea typeface="SamsungOne 400" panose="020B0503030303020204" pitchFamily="34" charset="0"/>
              </a:rPr>
              <a:t>fit_transform</a:t>
            </a:r>
            <a:endParaRPr lang="en-US" altLang="ko-KR" sz="1400" dirty="0">
              <a:solidFill>
                <a:schemeClr val="tx1"/>
              </a:solidFill>
              <a:latin typeface="SamsungOne 400" panose="020B0503030303020204" pitchFamily="34" charset="0"/>
              <a:ea typeface="SamsungOne 400" panose="020B0503030303020204" pitchFamily="34" charset="0"/>
            </a:endParaRPr>
          </a:p>
        </p:txBody>
      </p:sp>
      <p:sp>
        <p:nvSpPr>
          <p:cNvPr id="26" name="직사각형 25">
            <a:extLst>
              <a:ext uri="{FF2B5EF4-FFF2-40B4-BE49-F238E27FC236}">
                <a16:creationId xmlns:a16="http://schemas.microsoft.com/office/drawing/2014/main" id="{E0E9A875-855D-4DD3-BA61-C3F6A0D3F901}"/>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Fit and Transform is combined as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fit_transform</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p:txBody>
      </p:sp>
      <p:sp>
        <p:nvSpPr>
          <p:cNvPr id="9" name="모서리가 둥근 직사각형 4">
            <a:extLst>
              <a:ext uri="{FF2B5EF4-FFF2-40B4-BE49-F238E27FC236}">
                <a16:creationId xmlns:a16="http://schemas.microsoft.com/office/drawing/2014/main" id="{D6725CE3-5C85-4FE2-90B1-C46F888E1081}"/>
              </a:ext>
            </a:extLst>
          </p:cNvPr>
          <p:cNvSpPr/>
          <p:nvPr/>
        </p:nvSpPr>
        <p:spPr>
          <a:xfrm>
            <a:off x="666749" y="2071428"/>
            <a:ext cx="8677276" cy="263265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7" name="그림 16">
            <a:extLst>
              <a:ext uri="{FF2B5EF4-FFF2-40B4-BE49-F238E27FC236}">
                <a16:creationId xmlns:a16="http://schemas.microsoft.com/office/drawing/2014/main" id="{97FDECD9-C8F1-4987-9495-06784F2827BE}"/>
              </a:ext>
            </a:extLst>
          </p:cNvPr>
          <p:cNvPicPr>
            <a:picLocks noChangeAspect="1"/>
          </p:cNvPicPr>
          <p:nvPr/>
        </p:nvPicPr>
        <p:blipFill rotWithShape="1">
          <a:blip r:embed="rId4"/>
          <a:srcRect l="1278" t="2589" r="18083" b="2390"/>
          <a:stretch/>
        </p:blipFill>
        <p:spPr>
          <a:xfrm>
            <a:off x="847724" y="2158530"/>
            <a:ext cx="8496301" cy="2428240"/>
          </a:xfrm>
          <a:prstGeom prst="rect">
            <a:avLst/>
          </a:prstGeom>
          <a:ln>
            <a:noFill/>
          </a:ln>
        </p:spPr>
      </p:pic>
      <p:grpSp>
        <p:nvGrpSpPr>
          <p:cNvPr id="2" name="그룹 1">
            <a:extLst>
              <a:ext uri="{FF2B5EF4-FFF2-40B4-BE49-F238E27FC236}">
                <a16:creationId xmlns:a16="http://schemas.microsoft.com/office/drawing/2014/main" id="{FAA7F14D-963B-406D-BDED-633B85697211}"/>
              </a:ext>
            </a:extLst>
          </p:cNvPr>
          <p:cNvGrpSpPr/>
          <p:nvPr/>
        </p:nvGrpSpPr>
        <p:grpSpPr>
          <a:xfrm>
            <a:off x="666750" y="4825142"/>
            <a:ext cx="8677275" cy="1270858"/>
            <a:chOff x="666750" y="4825142"/>
            <a:chExt cx="8677275" cy="1270858"/>
          </a:xfrm>
        </p:grpSpPr>
        <p:grpSp>
          <p:nvGrpSpPr>
            <p:cNvPr id="11" name="그룹 10">
              <a:extLst>
                <a:ext uri="{FF2B5EF4-FFF2-40B4-BE49-F238E27FC236}">
                  <a16:creationId xmlns:a16="http://schemas.microsoft.com/office/drawing/2014/main" id="{1422A895-85C5-4919-AC5C-D3FD2A63D13B}"/>
                </a:ext>
              </a:extLst>
            </p:cNvPr>
            <p:cNvGrpSpPr/>
            <p:nvPr/>
          </p:nvGrpSpPr>
          <p:grpSpPr>
            <a:xfrm>
              <a:off x="666750" y="4825142"/>
              <a:ext cx="8677275" cy="1270858"/>
              <a:chOff x="559817" y="3081411"/>
              <a:chExt cx="8677275" cy="1270858"/>
            </a:xfrm>
          </p:grpSpPr>
          <p:sp>
            <p:nvSpPr>
              <p:cNvPr id="12" name="모서리가 둥근 직사각형 4">
                <a:extLst>
                  <a:ext uri="{FF2B5EF4-FFF2-40B4-BE49-F238E27FC236}">
                    <a16:creationId xmlns:a16="http://schemas.microsoft.com/office/drawing/2014/main" id="{32118D81-E242-44FE-B10E-6CDB637B27FB}"/>
                  </a:ext>
                </a:extLst>
              </p:cNvPr>
              <p:cNvSpPr/>
              <p:nvPr/>
            </p:nvSpPr>
            <p:spPr>
              <a:xfrm>
                <a:off x="559817" y="3081411"/>
                <a:ext cx="8677275" cy="127085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9B468530-8022-4BA5-B034-9A4324B59AD1}"/>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5D1A85D6-AB50-4B23-9283-B14F12225443}"/>
                  </a:ext>
                </a:extLst>
              </p:cNvPr>
              <p:cNvSpPr txBox="1"/>
              <p:nvPr/>
            </p:nvSpPr>
            <p:spPr>
              <a:xfrm>
                <a:off x="907642" y="3168076"/>
                <a:ext cx="1380553"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4-1 &amp; 4-5</a:t>
                </a:r>
              </a:p>
            </p:txBody>
          </p:sp>
          <p:sp>
            <p:nvSpPr>
              <p:cNvPr id="16" name="TextBox 15">
                <a:extLst>
                  <a:ext uri="{FF2B5EF4-FFF2-40B4-BE49-F238E27FC236}">
                    <a16:creationId xmlns:a16="http://schemas.microsoft.com/office/drawing/2014/main" id="{F7DC4EBA-65FE-47D6-A3C2-4796364A08D6}"/>
                  </a:ext>
                </a:extLst>
              </p:cNvPr>
              <p:cNvSpPr txBox="1"/>
              <p:nvPr/>
            </p:nvSpPr>
            <p:spPr>
              <a:xfrm>
                <a:off x="1036273" y="3467475"/>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mn-ea"/>
                    <a:cs typeface="+mn-cs"/>
                  </a:rPr>
                  <a:t>Before &amp; After</a:t>
                </a:r>
              </a:p>
            </p:txBody>
          </p:sp>
        </p:grpSp>
        <p:grpSp>
          <p:nvGrpSpPr>
            <p:cNvPr id="18" name="그룹 17">
              <a:extLst>
                <a:ext uri="{FF2B5EF4-FFF2-40B4-BE49-F238E27FC236}">
                  <a16:creationId xmlns:a16="http://schemas.microsoft.com/office/drawing/2014/main" id="{EC55BAFD-882B-4956-8E01-C23D613E404D}"/>
                </a:ext>
              </a:extLst>
            </p:cNvPr>
            <p:cNvGrpSpPr/>
            <p:nvPr/>
          </p:nvGrpSpPr>
          <p:grpSpPr>
            <a:xfrm>
              <a:off x="783785" y="5491997"/>
              <a:ext cx="8526724" cy="499454"/>
              <a:chOff x="783785" y="4911807"/>
              <a:chExt cx="8526724" cy="499454"/>
            </a:xfrm>
          </p:grpSpPr>
          <p:pic>
            <p:nvPicPr>
              <p:cNvPr id="19" name="Picture 2" descr="Byte - Free electronics icons">
                <a:extLst>
                  <a:ext uri="{FF2B5EF4-FFF2-40B4-BE49-F238E27FC236}">
                    <a16:creationId xmlns:a16="http://schemas.microsoft.com/office/drawing/2014/main" id="{1F44595D-51C2-49C4-A0DE-A91C029F595B}"/>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783785" y="4944628"/>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85D119BB-E732-47B3-A05C-BE3C1E852E2E}"/>
                  </a:ext>
                </a:extLst>
              </p:cNvPr>
              <p:cNvSpPr txBox="1"/>
              <p:nvPr/>
            </p:nvSpPr>
            <p:spPr>
              <a:xfrm>
                <a:off x="1014575" y="4911807"/>
                <a:ext cx="1380553"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4-3</a:t>
                </a:r>
              </a:p>
            </p:txBody>
          </p:sp>
          <p:sp>
            <p:nvSpPr>
              <p:cNvPr id="21" name="TextBox 20">
                <a:extLst>
                  <a:ext uri="{FF2B5EF4-FFF2-40B4-BE49-F238E27FC236}">
                    <a16:creationId xmlns:a16="http://schemas.microsoft.com/office/drawing/2014/main" id="{5B302B35-6AD2-4BE5-B3BD-C93298876E77}"/>
                  </a:ext>
                </a:extLst>
              </p:cNvPr>
              <p:cNvSpPr txBox="1"/>
              <p:nvPr/>
            </p:nvSpPr>
            <p:spPr>
              <a:xfrm>
                <a:off x="1143206" y="5211206"/>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mn-ea"/>
                    <a:cs typeface="+mn-cs"/>
                  </a:rPr>
                  <a:t>Combination of fit and transform</a:t>
                </a:r>
                <a:endParaRPr lang="ko-KR" altLang="en-US" sz="1300" dirty="0">
                  <a:solidFill>
                    <a:prstClr val="black">
                      <a:lumMod val="85000"/>
                      <a:lumOff val="15000"/>
                    </a:prstClr>
                  </a:solidFill>
                  <a:latin typeface="SamsungOne 400" panose="020B0503030303020204" pitchFamily="34" charset="0"/>
                  <a:ea typeface="+mn-ea"/>
                  <a:cs typeface="+mn-cs"/>
                </a:endParaRPr>
              </a:p>
            </p:txBody>
          </p:sp>
        </p:grpSp>
      </p:grpSp>
    </p:spTree>
    <p:extLst>
      <p:ext uri="{BB962C8B-B14F-4D97-AF65-F5344CB8AC3E}">
        <p14:creationId xmlns:p14="http://schemas.microsoft.com/office/powerpoint/2010/main" val="20865108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Major scikit modules</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aphicFrame>
        <p:nvGraphicFramePr>
          <p:cNvPr id="18" name="표 17">
            <a:extLst>
              <a:ext uri="{FF2B5EF4-FFF2-40B4-BE49-F238E27FC236}">
                <a16:creationId xmlns:a16="http://schemas.microsoft.com/office/drawing/2014/main" id="{C2340708-59C0-4955-BCD0-405E60D5A414}"/>
              </a:ext>
            </a:extLst>
          </p:cNvPr>
          <p:cNvGraphicFramePr>
            <a:graphicFrameLocks noGrp="1"/>
          </p:cNvGraphicFramePr>
          <p:nvPr>
            <p:extLst>
              <p:ext uri="{D42A27DB-BD31-4B8C-83A1-F6EECF244321}">
                <p14:modId xmlns:p14="http://schemas.microsoft.com/office/powerpoint/2010/main" val="3987000220"/>
              </p:ext>
            </p:extLst>
          </p:nvPr>
        </p:nvGraphicFramePr>
        <p:xfrm>
          <a:off x="666751" y="1773238"/>
          <a:ext cx="8677275" cy="4278440"/>
        </p:xfrm>
        <a:graphic>
          <a:graphicData uri="http://schemas.openxmlformats.org/drawingml/2006/table">
            <a:tbl>
              <a:tblPr firstRow="1" bandRow="1">
                <a:tableStyleId>{5940675A-B579-460E-94D1-54222C63F5DA}</a:tableStyleId>
              </a:tblPr>
              <a:tblGrid>
                <a:gridCol w="1404341">
                  <a:extLst>
                    <a:ext uri="{9D8B030D-6E8A-4147-A177-3AD203B41FA5}">
                      <a16:colId xmlns:a16="http://schemas.microsoft.com/office/drawing/2014/main" val="2044997058"/>
                    </a:ext>
                  </a:extLst>
                </a:gridCol>
                <a:gridCol w="2160240">
                  <a:extLst>
                    <a:ext uri="{9D8B030D-6E8A-4147-A177-3AD203B41FA5}">
                      <a16:colId xmlns:a16="http://schemas.microsoft.com/office/drawing/2014/main" val="490996645"/>
                    </a:ext>
                  </a:extLst>
                </a:gridCol>
                <a:gridCol w="5112694">
                  <a:extLst>
                    <a:ext uri="{9D8B030D-6E8A-4147-A177-3AD203B41FA5}">
                      <a16:colId xmlns:a16="http://schemas.microsoft.com/office/drawing/2014/main" val="20002"/>
                    </a:ext>
                  </a:extLst>
                </a:gridCol>
              </a:tblGrid>
              <a:tr h="304030">
                <a:tc>
                  <a:txBody>
                    <a:bodyPr/>
                    <a:lstStyle/>
                    <a:p>
                      <a:pPr marL="0" marR="0" indent="0" algn="ctr" defTabSz="914400" rtl="0" eaLnBrk="1" fontAlgn="base" latinLnBrk="0" hangingPunct="1">
                        <a:lnSpc>
                          <a:spcPct val="100000"/>
                        </a:lnSpc>
                        <a:spcBef>
                          <a:spcPts val="0"/>
                        </a:spcBef>
                        <a:spcAft>
                          <a:spcPts val="800"/>
                        </a:spcAft>
                        <a:buClrTx/>
                        <a:buSzTx/>
                        <a:buFontTx/>
                        <a:buNone/>
                        <a:tabLst/>
                        <a:defRPr/>
                      </a:pPr>
                      <a:r>
                        <a:rPr lang="en-US" altLang="ko-KR" sz="1400" b="0" kern="1200" dirty="0">
                          <a:solidFill>
                            <a:schemeClr val="tx1"/>
                          </a:solidFill>
                          <a:latin typeface="SamsungOne 700" panose="020B0803030303020204" pitchFamily="34" charset="0"/>
                          <a:ea typeface="SamsungOne 700" panose="020B0803030303020204" pitchFamily="34" charset="0"/>
                          <a:cs typeface="Times New Roman" panose="02020603050405020304" pitchFamily="18" charset="0"/>
                        </a:rPr>
                        <a:t>Classification</a:t>
                      </a:r>
                      <a:endParaRPr lang="ko-KR" altLang="en-US" sz="1400" b="0" kern="1200" dirty="0">
                        <a:solidFill>
                          <a:schemeClr val="tx1"/>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base" latinLnBrk="0" hangingPunct="1">
                        <a:lnSpc>
                          <a:spcPct val="100000"/>
                        </a:lnSpc>
                        <a:spcBef>
                          <a:spcPts val="0"/>
                        </a:spcBef>
                        <a:spcAft>
                          <a:spcPts val="800"/>
                        </a:spcAft>
                        <a:buClrTx/>
                        <a:buSzTx/>
                        <a:buFontTx/>
                        <a:buNone/>
                        <a:tabLst/>
                        <a:defRPr/>
                      </a:pPr>
                      <a:r>
                        <a:rPr lang="en-US" altLang="ko-KR" sz="1400" b="0" kern="1200" dirty="0">
                          <a:solidFill>
                            <a:schemeClr val="tx1"/>
                          </a:solidFill>
                          <a:latin typeface="SamsungOne 700" panose="020B0803030303020204" pitchFamily="34" charset="0"/>
                          <a:ea typeface="SamsungOne 700" panose="020B0803030303020204" pitchFamily="34" charset="0"/>
                          <a:cs typeface="Times New Roman" panose="02020603050405020304" pitchFamily="18" charset="0"/>
                        </a:rPr>
                        <a:t>Module</a:t>
                      </a:r>
                      <a:endParaRPr lang="ko-KR" altLang="en-US" sz="1400" b="0" kern="1200" dirty="0">
                        <a:solidFill>
                          <a:schemeClr val="tx1"/>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base" latinLnBrk="0" hangingPunct="1">
                        <a:lnSpc>
                          <a:spcPct val="100000"/>
                        </a:lnSpc>
                        <a:spcBef>
                          <a:spcPts val="0"/>
                        </a:spcBef>
                        <a:spcAft>
                          <a:spcPts val="800"/>
                        </a:spcAft>
                        <a:buClrTx/>
                        <a:buSzTx/>
                        <a:buFontTx/>
                        <a:buNone/>
                        <a:tabLst/>
                        <a:defRPr/>
                      </a:pPr>
                      <a:r>
                        <a:rPr lang="en-US" altLang="ko-KR" sz="1400" b="0" kern="1200" dirty="0">
                          <a:solidFill>
                            <a:schemeClr val="tx1"/>
                          </a:solidFill>
                          <a:latin typeface="SamsungOne 700" panose="020B0803030303020204" pitchFamily="34" charset="0"/>
                          <a:ea typeface="SamsungOne 700" panose="020B0803030303020204" pitchFamily="34" charset="0"/>
                          <a:cs typeface="Times New Roman" panose="02020603050405020304" pitchFamily="18" charset="0"/>
                        </a:rPr>
                        <a:t>Embedded Functions</a:t>
                      </a:r>
                      <a:endParaRPr lang="ko-KR" altLang="en-US" sz="1400" b="0" kern="1200" dirty="0">
                        <a:solidFill>
                          <a:schemeClr val="tx1"/>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55872289"/>
                  </a:ext>
                </a:extLst>
              </a:tr>
              <a:tr h="269438">
                <a:tc>
                  <a:txBody>
                    <a:bodyPr/>
                    <a:lstStyle/>
                    <a:p>
                      <a:pPr marL="0" algn="ctr" defTabSz="914400" rtl="0" eaLnBrk="1" latinLnBrk="0" hangingPunct="1">
                        <a:lnSpc>
                          <a:spcPct val="100000"/>
                        </a:lnSpc>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Data example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0" hangingPunct="1">
                        <a:lnSpc>
                          <a:spcPct val="100000"/>
                        </a:lnSpc>
                        <a:spcBef>
                          <a:spcPts val="0"/>
                        </a:spcBef>
                        <a:spcAft>
                          <a:spcPts val="800"/>
                        </a:spcAft>
                      </a:pPr>
                      <a:r>
                        <a:rPr lang="en-US"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sklearn.datasets</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Dataset for practicing </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16463057"/>
                  </a:ext>
                </a:extLst>
              </a:tr>
              <a:tr h="314353">
                <a:tc rowSpan="3">
                  <a:txBody>
                    <a:bodyPr/>
                    <a:lstStyle/>
                    <a:p>
                      <a:pPr marL="0" algn="ctr" defTabSz="914400" rtl="0" eaLnBrk="1" latinLnBrk="0" hangingPunct="1">
                        <a:lnSpc>
                          <a:spcPct val="100000"/>
                        </a:lnSpc>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Feature processing</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0" hangingPunct="1">
                        <a:lnSpc>
                          <a:spcPct val="100000"/>
                        </a:lnSpc>
                        <a:spcBef>
                          <a:spcPts val="0"/>
                        </a:spcBef>
                        <a:spcAft>
                          <a:spcPts val="800"/>
                        </a:spcAft>
                      </a:pPr>
                      <a:r>
                        <a:rPr lang="en-US"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sklearn.preprocessing</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Pre-processing techniques</a:t>
                      </a:r>
                      <a:b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(One-hot encoding, normalization, scaling,</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etc.)</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814710559"/>
                  </a:ext>
                </a:extLst>
              </a:tr>
              <a:tr h="314353">
                <a:tc vMerge="1">
                  <a:txBody>
                    <a:bodyPr/>
                    <a:lstStyle/>
                    <a:p>
                      <a:pPr algn="ctr" latinLnBrk="1"/>
                      <a:endParaRPr lang="ko-KR" alt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base" latinLnBrk="0" hangingPunct="1">
                        <a:lnSpc>
                          <a:spcPct val="100000"/>
                        </a:lnSpc>
                        <a:spcBef>
                          <a:spcPts val="0"/>
                        </a:spcBef>
                        <a:spcAft>
                          <a:spcPts val="800"/>
                        </a:spcAft>
                      </a:pPr>
                      <a:r>
                        <a:rPr lang="en-US"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sklearn.feature_selection</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Technique to search and select a feature that provides a significant impact to the model</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03442805"/>
                  </a:ext>
                </a:extLst>
              </a:tr>
              <a:tr h="269438">
                <a:tc vMerge="1">
                  <a:txBody>
                    <a:bodyPr/>
                    <a:lstStyle/>
                    <a:p>
                      <a:pPr algn="ctr" latinLnBrk="1"/>
                      <a:endParaRPr lang="ko-KR" alt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base" latinLnBrk="0" hangingPunct="1">
                        <a:lnSpc>
                          <a:spcPct val="100000"/>
                        </a:lnSpc>
                        <a:spcBef>
                          <a:spcPts val="0"/>
                        </a:spcBef>
                        <a:spcAft>
                          <a:spcPts val="800"/>
                        </a:spcAft>
                      </a:pPr>
                      <a:r>
                        <a:rPr lang="en-US"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sklearn.feature_extraction</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Feature extraction from source data</a:t>
                      </a:r>
                    </a:p>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supporting API for feature extraction regarding image is present in the submodule image, while the supporting API for text data feature extraction is present in the submodule test.</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90086599"/>
                  </a:ext>
                </a:extLst>
              </a:tr>
              <a:tr h="269438">
                <a:tc>
                  <a:txBody>
                    <a:bodyPr/>
                    <a:lstStyle/>
                    <a:p>
                      <a:pPr marL="0" algn="ctr" defTabSz="914400" rtl="0" eaLnBrk="1" latinLnBrk="0" hangingPunct="1">
                        <a:lnSpc>
                          <a:spcPct val="100000"/>
                        </a:lnSpc>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Dimension reduction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sklearn.decomposition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Algorithms related to dimension reduction</a:t>
                      </a:r>
                      <a:b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(PCA, NMF, Truncated SVD,</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etc.)</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69438">
                <a:tc>
                  <a:txBody>
                    <a:bodyPr/>
                    <a:lstStyle/>
                    <a:p>
                      <a:pPr marL="0" algn="ctr" defTabSz="914400" rtl="0" eaLnBrk="1" latinLnBrk="0" hangingPunct="1">
                        <a:lnSpc>
                          <a:spcPct val="100000"/>
                        </a:lnSpc>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Validation, hyperparameter tuning, data separation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sklearn.model_selection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Validation, hyperparameter tuning, data separation, etc.</a:t>
                      </a:r>
                      <a:b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t>
                      </a: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corss_validate</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GridSearchCV</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train_test_split</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learning_curve</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etc.)</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69438">
                <a:tc>
                  <a:txBody>
                    <a:bodyPr/>
                    <a:lstStyle/>
                    <a:p>
                      <a:pPr marL="0" algn="ctr" defTabSz="914400" rtl="0" eaLnBrk="1" latinLnBrk="0" hangingPunct="1">
                        <a:lnSpc>
                          <a:spcPct val="100000"/>
                        </a:lnSpc>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Model evaluation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sklearn.metrics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Techniques to measure and evaluate model performance</a:t>
                      </a:r>
                      <a:b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(accuracy, precision, recall, ROC curve, etc.)</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682076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1.2. Python </a:t>
              </a:r>
              <a:r>
                <a:rPr lang="en-US" altLang="ko-KR"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dirty="0">
                  <a:solidFill>
                    <a:schemeClr val="bg1"/>
                  </a:solidFill>
                  <a:latin typeface="Samsung Sharp Sans Medium" pitchFamily="2" charset="0"/>
                  <a:ea typeface="Samsung Sharp Sans Medium" pitchFamily="2" charset="0"/>
                  <a:cs typeface="Samsung Sharp Sans Medium" pitchFamily="2" charset="0"/>
                </a:rPr>
                <a:t>-learn Library for Machine Learning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Major scikit modules</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aphicFrame>
        <p:nvGraphicFramePr>
          <p:cNvPr id="7" name="표 6">
            <a:extLst>
              <a:ext uri="{FF2B5EF4-FFF2-40B4-BE49-F238E27FC236}">
                <a16:creationId xmlns:a16="http://schemas.microsoft.com/office/drawing/2014/main" id="{D9810B12-6390-4ADC-BD62-308024BED862}"/>
              </a:ext>
            </a:extLst>
          </p:cNvPr>
          <p:cNvGraphicFramePr>
            <a:graphicFrameLocks noGrp="1"/>
          </p:cNvGraphicFramePr>
          <p:nvPr>
            <p:extLst>
              <p:ext uri="{D42A27DB-BD31-4B8C-83A1-F6EECF244321}">
                <p14:modId xmlns:p14="http://schemas.microsoft.com/office/powerpoint/2010/main" val="2481304499"/>
              </p:ext>
            </p:extLst>
          </p:nvPr>
        </p:nvGraphicFramePr>
        <p:xfrm>
          <a:off x="666751" y="1776242"/>
          <a:ext cx="8677275" cy="3104353"/>
        </p:xfrm>
        <a:graphic>
          <a:graphicData uri="http://schemas.openxmlformats.org/drawingml/2006/table">
            <a:tbl>
              <a:tblPr firstRow="1" bandRow="1">
                <a:tableStyleId>{5940675A-B579-460E-94D1-54222C63F5DA}</a:tableStyleId>
              </a:tblPr>
              <a:tblGrid>
                <a:gridCol w="1404341">
                  <a:extLst>
                    <a:ext uri="{9D8B030D-6E8A-4147-A177-3AD203B41FA5}">
                      <a16:colId xmlns:a16="http://schemas.microsoft.com/office/drawing/2014/main" val="2044997058"/>
                    </a:ext>
                  </a:extLst>
                </a:gridCol>
                <a:gridCol w="2088232">
                  <a:extLst>
                    <a:ext uri="{9D8B030D-6E8A-4147-A177-3AD203B41FA5}">
                      <a16:colId xmlns:a16="http://schemas.microsoft.com/office/drawing/2014/main" val="490996645"/>
                    </a:ext>
                  </a:extLst>
                </a:gridCol>
                <a:gridCol w="5184702">
                  <a:extLst>
                    <a:ext uri="{9D8B030D-6E8A-4147-A177-3AD203B41FA5}">
                      <a16:colId xmlns:a16="http://schemas.microsoft.com/office/drawing/2014/main" val="20002"/>
                    </a:ext>
                  </a:extLst>
                </a:gridCol>
              </a:tblGrid>
              <a:tr h="304030">
                <a:tc>
                  <a:txBody>
                    <a:bodyPr/>
                    <a:lstStyle/>
                    <a:p>
                      <a:pPr marL="0" marR="0" indent="0" algn="ctr" defTabSz="914400" rtl="0" eaLnBrk="1" fontAlgn="base" latinLnBrk="0" hangingPunct="1">
                        <a:lnSpc>
                          <a:spcPct val="100000"/>
                        </a:lnSpc>
                        <a:spcBef>
                          <a:spcPts val="0"/>
                        </a:spcBef>
                        <a:spcAft>
                          <a:spcPts val="800"/>
                        </a:spcAft>
                        <a:buClrTx/>
                        <a:buSzTx/>
                        <a:buFontTx/>
                        <a:buNone/>
                        <a:tabLst/>
                        <a:defRPr/>
                      </a:pPr>
                      <a:r>
                        <a:rPr lang="en-US" altLang="ko-KR" sz="1400" b="0" kern="1200" dirty="0">
                          <a:solidFill>
                            <a:schemeClr val="tx1"/>
                          </a:solidFill>
                          <a:latin typeface="SamsungOne 700" panose="020B0803030303020204" pitchFamily="34" charset="0"/>
                          <a:ea typeface="SamsungOne 700" panose="020B0803030303020204" pitchFamily="34" charset="0"/>
                          <a:cs typeface="Times New Roman" panose="02020603050405020304" pitchFamily="18" charset="0"/>
                        </a:rPr>
                        <a:t>Classification</a:t>
                      </a:r>
                      <a:endParaRPr lang="ko-KR" altLang="en-US" sz="1400" b="0" kern="1200" dirty="0">
                        <a:solidFill>
                          <a:schemeClr val="tx1"/>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base" latinLnBrk="0" hangingPunct="1">
                        <a:lnSpc>
                          <a:spcPct val="100000"/>
                        </a:lnSpc>
                        <a:spcBef>
                          <a:spcPts val="0"/>
                        </a:spcBef>
                        <a:spcAft>
                          <a:spcPts val="800"/>
                        </a:spcAft>
                        <a:buClrTx/>
                        <a:buSzTx/>
                        <a:buFontTx/>
                        <a:buNone/>
                        <a:tabLst/>
                        <a:defRPr/>
                      </a:pPr>
                      <a:r>
                        <a:rPr lang="en-US" altLang="ko-KR" sz="1400" b="0" kern="1200" dirty="0">
                          <a:solidFill>
                            <a:schemeClr val="tx1"/>
                          </a:solidFill>
                          <a:latin typeface="SamsungOne 700" panose="020B0803030303020204" pitchFamily="34" charset="0"/>
                          <a:ea typeface="SamsungOne 700" panose="020B0803030303020204" pitchFamily="34" charset="0"/>
                          <a:cs typeface="Times New Roman" panose="02020603050405020304" pitchFamily="18" charset="0"/>
                        </a:rPr>
                        <a:t>Module</a:t>
                      </a:r>
                      <a:endParaRPr lang="ko-KR" altLang="en-US" sz="1400" b="0" kern="1200" dirty="0">
                        <a:solidFill>
                          <a:schemeClr val="tx1"/>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base" latinLnBrk="0" hangingPunct="1">
                        <a:lnSpc>
                          <a:spcPct val="100000"/>
                        </a:lnSpc>
                        <a:spcBef>
                          <a:spcPts val="0"/>
                        </a:spcBef>
                        <a:spcAft>
                          <a:spcPts val="800"/>
                        </a:spcAft>
                        <a:buClrTx/>
                        <a:buSzTx/>
                        <a:buFontTx/>
                        <a:buNone/>
                        <a:tabLst/>
                        <a:defRPr/>
                      </a:pPr>
                      <a:r>
                        <a:rPr lang="en-US" altLang="ko-KR" sz="1400" b="0" kern="1200" dirty="0">
                          <a:solidFill>
                            <a:schemeClr val="tx1"/>
                          </a:solidFill>
                          <a:latin typeface="SamsungOne 700" panose="020B0803030303020204" pitchFamily="34" charset="0"/>
                          <a:ea typeface="SamsungOne 700" panose="020B0803030303020204" pitchFamily="34" charset="0"/>
                          <a:cs typeface="Times New Roman" panose="02020603050405020304" pitchFamily="18" charset="0"/>
                        </a:rPr>
                        <a:t>Embedded Functions</a:t>
                      </a:r>
                      <a:endParaRPr lang="ko-KR" altLang="en-US" sz="1400" b="0" kern="1200" dirty="0">
                        <a:solidFill>
                          <a:schemeClr val="tx1"/>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55872289"/>
                  </a:ext>
                </a:extLst>
              </a:tr>
              <a:tr h="269438">
                <a:tc rowSpan="7">
                  <a:txBody>
                    <a:bodyPr/>
                    <a:lstStyle/>
                    <a:p>
                      <a:pPr marL="0" algn="ctr" defTabSz="914400" rtl="0" eaLnBrk="1" latinLnBrk="0" hangingPunct="1">
                        <a:lnSpc>
                          <a:spcPct val="100000"/>
                        </a:lnSpc>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Machine learning algorithm</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0" hangingPunct="1">
                        <a:lnSpc>
                          <a:spcPct val="100000"/>
                        </a:lnSpc>
                        <a:spcBef>
                          <a:spcPts val="0"/>
                        </a:spcBef>
                        <a:spcAft>
                          <a:spcPts val="800"/>
                        </a:spcAft>
                      </a:pPr>
                      <a:r>
                        <a:rPr lang="en-US"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sklearn.ensemble</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Ensemble algorithms</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rPr>
                        <a:t> </a:t>
                      </a: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Random forest, AdaBoost, bagging, etc.)</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16463057"/>
                  </a:ext>
                </a:extLst>
              </a:tr>
              <a:tr h="314353">
                <a:tc vMerge="1">
                  <a:txBody>
                    <a:bodyPr/>
                    <a:lstStyle/>
                    <a:p>
                      <a:endParaRPr lang="en-US" dirty="0"/>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0" hangingPunct="1">
                        <a:lnSpc>
                          <a:spcPct val="100000"/>
                        </a:lnSpc>
                        <a:spcBef>
                          <a:spcPts val="0"/>
                        </a:spcBef>
                        <a:spcAft>
                          <a:spcPts val="800"/>
                        </a:spcAft>
                      </a:pPr>
                      <a:r>
                        <a:rPr lang="en-US"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sklearn.linear_model</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Linear algorithms</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Linear regression, logistic regression, SGD, etc.)</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814710559"/>
                  </a:ext>
                </a:extLst>
              </a:tr>
              <a:tr h="314353">
                <a:tc vMerge="1">
                  <a:txBody>
                    <a:bodyPr/>
                    <a:lstStyle/>
                    <a:p>
                      <a:pPr algn="ctr" latinLnBrk="1"/>
                      <a:endParaRPr lang="ko-KR" alt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base" latinLnBrk="0" hangingPunct="1">
                        <a:lnSpc>
                          <a:spcPct val="100000"/>
                        </a:lnSpc>
                        <a:spcBef>
                          <a:spcPts val="0"/>
                        </a:spcBef>
                        <a:spcAft>
                          <a:spcPts val="800"/>
                        </a:spcAft>
                      </a:pPr>
                      <a:r>
                        <a:rPr lang="en-US"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sklearn.naïve_bayes</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Naive Bayes algorithms</a:t>
                      </a:r>
                      <a:b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(Bernoulli</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NB, Gaussian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NB, multinomial distribution</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NB, etc.)</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03442805"/>
                  </a:ext>
                </a:extLst>
              </a:tr>
              <a:tr h="269438">
                <a:tc vMerge="1">
                  <a:txBody>
                    <a:bodyPr/>
                    <a:lstStyle/>
                    <a:p>
                      <a:pPr algn="ctr" latinLnBrk="1"/>
                      <a:endParaRPr lang="ko-KR" alt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base" latinLnBrk="0" hangingPunct="1">
                        <a:lnSpc>
                          <a:spcPct val="100000"/>
                        </a:lnSpc>
                        <a:spcBef>
                          <a:spcPts val="0"/>
                        </a:spcBef>
                        <a:spcAft>
                          <a:spcPts val="800"/>
                        </a:spcAft>
                      </a:pPr>
                      <a:r>
                        <a:rPr lang="en-US"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sklearn.neighbors</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Nearest neighbor algorithms</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(K-NN, etc.</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90086599"/>
                  </a:ext>
                </a:extLst>
              </a:tr>
              <a:tr h="269438">
                <a:tc vMerge="1">
                  <a:txBody>
                    <a:bodyPr/>
                    <a:lstStyle/>
                    <a:p>
                      <a:endParaRPr lang="en-US" dirty="0"/>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sklearn.svm</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Support Vector Machine algorithms</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69438">
                <a:tc vMerge="1">
                  <a:txBody>
                    <a:bodyPr/>
                    <a:lstStyle/>
                    <a:p>
                      <a:endParaRPr lang="en-US" dirty="0"/>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sklearn.tree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Decision tree algorithms</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69438">
                <a:tc vMerge="1">
                  <a:txBody>
                    <a:bodyPr/>
                    <a:lstStyle/>
                    <a:p>
                      <a:endParaRPr lang="en-US" dirty="0"/>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sklearn.cluster</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Unsupervised learning (clustering) algorithms</a:t>
                      </a:r>
                      <a:b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t>
                      </a:r>
                      <a:r>
                        <a:rPr lang="en-US"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Kmeans</a:t>
                      </a: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DBSCAN, etc.</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69438">
                <a:tc>
                  <a:txBody>
                    <a:bodyPr/>
                    <a:lstStyle/>
                    <a:p>
                      <a:pPr marL="0" algn="ctr" defTabSz="914400" rtl="0" eaLnBrk="1" latinLnBrk="0" hangingPunct="1">
                        <a:lnSpc>
                          <a:spcPct val="100000"/>
                        </a:lnSpc>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Utility</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sklearn.pipeline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Serial conversion of feature processing and machine learning algorithms, etc.</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838668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33">
            <a:extLst>
              <a:ext uri="{FF2B5EF4-FFF2-40B4-BE49-F238E27FC236}">
                <a16:creationId xmlns:a16="http://schemas.microsoft.com/office/drawing/2014/main" id="{551F01E8-8777-4A7B-AD71-63E7C805C68C}"/>
              </a:ext>
            </a:extLst>
          </p:cNvPr>
          <p:cNvSpPr/>
          <p:nvPr/>
        </p:nvSpPr>
        <p:spPr>
          <a:xfrm>
            <a:off x="989683" y="3133792"/>
            <a:ext cx="8913142"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Machine Learning Based Data Analysis</a:t>
            </a:r>
            <a:endParaRPr kumimoji="1" lang="ko-KR" altLang="en-US" sz="3200" dirty="0">
              <a:solidFill>
                <a:prstClr val="black"/>
              </a:solidFill>
              <a:latin typeface="Samsung Sharp Sans" pitchFamily="2" charset="0"/>
              <a:ea typeface="맑은 고딕" panose="020B0503020000020004" pitchFamily="50" charset="-127"/>
              <a:cs typeface="Samsung Sharp Sans" pitchFamily="2" charset="0"/>
            </a:endParaRP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1.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17" name="직사각형 16">
            <a:extLst>
              <a:ext uri="{FF2B5EF4-FFF2-40B4-BE49-F238E27FC236}">
                <a16:creationId xmlns:a16="http://schemas.microsoft.com/office/drawing/2014/main" id="{88522452-0F25-4CFF-B4F1-4F97F94CF66D}"/>
              </a:ext>
            </a:extLst>
          </p:cNvPr>
          <p:cNvSpPr/>
          <p:nvPr/>
        </p:nvSpPr>
        <p:spPr>
          <a:xfrm>
            <a:off x="1054111" y="3929021"/>
            <a:ext cx="8361797" cy="1897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rPr>
              <a:t>1.1. What is Machine Learning?</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rPr>
              <a:t>1.2. Python </a:t>
            </a:r>
            <a:r>
              <a:rPr lang="en-US" altLang="ko-KR" dirty="0" err="1">
                <a:solidFill>
                  <a:srgbClr val="A6A6A6"/>
                </a:solidFill>
                <a:latin typeface="SamsungOne 400" panose="020B0503030303020204" pitchFamily="34" charset="0"/>
              </a:rPr>
              <a:t>scikit</a:t>
            </a:r>
            <a:r>
              <a:rPr lang="en-US" altLang="ko-KR" dirty="0">
                <a:solidFill>
                  <a:srgbClr val="A6A6A6"/>
                </a:solidFill>
                <a:latin typeface="SamsungOne 400" panose="020B0503030303020204" pitchFamily="34" charset="0"/>
              </a:rPr>
              <a:t>-learn Library for Machine Learning </a:t>
            </a:r>
          </a:p>
          <a:p>
            <a:pPr marL="176213" marR="0" lvl="0" indent="-176213" defTabSz="914400" fontAlgn="base" latinLnBrk="1">
              <a:lnSpc>
                <a:spcPct val="100000"/>
              </a:lnSpc>
              <a:spcBef>
                <a:spcPct val="0"/>
              </a:spcBef>
              <a:spcAft>
                <a:spcPts val="1000"/>
              </a:spcAft>
              <a:buClrTx/>
              <a:buSzPct val="120000"/>
              <a:buBlip>
                <a:blip r:embed="rId4"/>
              </a:buBlip>
              <a:tabLst/>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1.3. Preparation and Division of Dataset</a:t>
            </a:r>
            <a:endParaRPr kumimoji="1" lang="ko-KR" altLang="en-US" dirty="0">
              <a:solidFill>
                <a:prstClr val="black">
                  <a:lumMod val="75000"/>
                  <a:lumOff val="25000"/>
                </a:prstClr>
              </a:solidFill>
              <a:latin typeface="SamsungOne-700" panose="020B0803030303020204" pitchFamily="34" charset="0"/>
              <a:ea typeface="SamsungOne-700" panose="020B0803030303020204" pitchFamily="34" charset="0"/>
            </a:endParaRPr>
          </a:p>
          <a:p>
            <a:pPr marL="176213" marR="0" lvl="0" indent="-176213" fontAlgn="base">
              <a:lnSpc>
                <a:spcPct val="100000"/>
              </a:lnSpc>
              <a:spcBef>
                <a:spcPct val="0"/>
              </a:spcBef>
              <a:spcAft>
                <a:spcPts val="1000"/>
              </a:spcAft>
              <a:buClrTx/>
              <a:buSzPct val="120000"/>
              <a:buBlip>
                <a:blip r:embed="rId3"/>
              </a:buBlip>
              <a:tabLst/>
              <a:defRPr/>
            </a:pPr>
            <a:r>
              <a:rPr lang="en-US" altLang="ko-KR" dirty="0">
                <a:solidFill>
                  <a:srgbClr val="A6A6A6"/>
                </a:solidFill>
                <a:latin typeface="SamsungOne 400" panose="020B0503030303020204" pitchFamily="34" charset="0"/>
              </a:rPr>
              <a:t>1.4. Data Pre-processing for Making a Good Training Dataset</a:t>
            </a:r>
            <a:endParaRPr lang="ko-KR" altLang="en-US" dirty="0">
              <a:solidFill>
                <a:srgbClr val="A6A6A6"/>
              </a:solidFill>
              <a:latin typeface="SamsungOne 400" panose="020B0503030303020204" pitchFamily="34" charset="0"/>
            </a:endParaRPr>
          </a:p>
          <a:p>
            <a:pPr marL="176213" marR="0" lvl="0" indent="-176213" fontAlgn="base">
              <a:lnSpc>
                <a:spcPct val="100000"/>
              </a:lnSpc>
              <a:spcBef>
                <a:spcPct val="0"/>
              </a:spcBef>
              <a:spcAft>
                <a:spcPts val="1000"/>
              </a:spcAft>
              <a:buClrTx/>
              <a:buSzPct val="120000"/>
              <a:buBlip>
                <a:blip r:embed="rId3"/>
              </a:buBlip>
              <a:tabLst/>
              <a:defRPr/>
            </a:pPr>
            <a:r>
              <a:rPr lang="en-US" altLang="ko-KR" dirty="0">
                <a:solidFill>
                  <a:srgbClr val="A6A6A6"/>
                </a:solidFill>
                <a:latin typeface="SamsungOne 400" panose="020B0503030303020204" pitchFamily="34" charset="0"/>
              </a:rPr>
              <a:t>1.5. Practicing to Find an Optimal Method to Solve Problems with </a:t>
            </a:r>
            <a:r>
              <a:rPr lang="en-US" altLang="ko-KR" dirty="0" err="1">
                <a:solidFill>
                  <a:srgbClr val="A6A6A6"/>
                </a:solidFill>
                <a:latin typeface="SamsungOne 400" panose="020B0503030303020204" pitchFamily="34" charset="0"/>
              </a:rPr>
              <a:t>scikit</a:t>
            </a:r>
            <a:r>
              <a:rPr lang="en-US" altLang="ko-KR" dirty="0">
                <a:solidFill>
                  <a:srgbClr val="A6A6A6"/>
                </a:solidFill>
                <a:latin typeface="SamsungOne 400" panose="020B0503030303020204" pitchFamily="34" charset="0"/>
              </a:rPr>
              <a:t>-learn</a:t>
            </a:r>
            <a:endParaRPr lang="ko-KR" altLang="en-US" dirty="0">
              <a:solidFill>
                <a:srgbClr val="A6A6A6"/>
              </a:solidFill>
              <a:latin typeface="SamsungOne 400" panose="020B0503030303020204" pitchFamily="34" charset="0"/>
            </a:endParaRPr>
          </a:p>
        </p:txBody>
      </p:sp>
    </p:spTree>
    <p:extLst>
      <p:ext uri="{BB962C8B-B14F-4D97-AF65-F5344CB8AC3E}">
        <p14:creationId xmlns:p14="http://schemas.microsoft.com/office/powerpoint/2010/main" val="39384270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1.3. Preparation and Division of Dataset</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880828"/>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Chapter objectives</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26" name="직사각형 25">
            <a:extLst>
              <a:ext uri="{FF2B5EF4-FFF2-40B4-BE49-F238E27FC236}">
                <a16:creationId xmlns:a16="http://schemas.microsoft.com/office/drawing/2014/main" id="{E0E9A875-855D-4DD3-BA61-C3F6A0D3F901}"/>
              </a:ext>
            </a:extLst>
          </p:cNvPr>
          <p:cNvSpPr/>
          <p:nvPr/>
        </p:nvSpPr>
        <p:spPr>
          <a:xfrm>
            <a:off x="671261" y="2152891"/>
            <a:ext cx="8632825" cy="24537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Be able to understand the meaning and ripple effect of overfitting and generalization and design dataset division to solve issues.</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Be able to properly divide the training and test datasets for machine learning technique application according to the analysis purpose and dataset features. </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Be able to divide the training and validation datasets and decide the appropriate k-value for cross-validation by deciding the necessity of cross-validation according to the issue and applied technique. Be able to divide the datasets and perform sampling by considering the prediction results based on data features and classified variable distribution.</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Be able to analyze differences among various sampling methods for dataset division and apply appropriate sampling methods.  </a:t>
            </a:r>
          </a:p>
        </p:txBody>
      </p:sp>
      <p:sp>
        <p:nvSpPr>
          <p:cNvPr id="7" name="직사각형 6">
            <a:extLst>
              <a:ext uri="{FF2B5EF4-FFF2-40B4-BE49-F238E27FC236}">
                <a16:creationId xmlns:a16="http://schemas.microsoft.com/office/drawing/2014/main" id="{E685271C-4277-4964-A4F6-88C01D1A45FF}"/>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cs typeface="Samsung Sharp Sans" pitchFamily="2" charset="0"/>
              </a:rPr>
              <a:t>Preparation and Division of Dataset</a:t>
            </a:r>
            <a:endParaRPr lang="ko-KR" altLang="en-US" sz="2400" dirty="0">
              <a:solidFill>
                <a:schemeClr val="tx1">
                  <a:lumMod val="95000"/>
                  <a:lumOff val="5000"/>
                </a:schemeClr>
              </a:solidFill>
              <a:latin typeface="Samsung Sharp Sans" pitchFamily="2" charset="0"/>
              <a:cs typeface="Samsung Sharp Sans" pitchFamily="2" charset="0"/>
            </a:endParaRPr>
          </a:p>
        </p:txBody>
      </p:sp>
    </p:spTree>
    <p:extLst>
      <p:ext uri="{BB962C8B-B14F-4D97-AF65-F5344CB8AC3E}">
        <p14:creationId xmlns:p14="http://schemas.microsoft.com/office/powerpoint/2010/main" val="33072762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1.3. Preparation and Division of Dataset</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Necessity of dataset division</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26" name="직사각형 25">
            <a:extLst>
              <a:ext uri="{FF2B5EF4-FFF2-40B4-BE49-F238E27FC236}">
                <a16:creationId xmlns:a16="http://schemas.microsoft.com/office/drawing/2014/main" id="{E0E9A875-855D-4DD3-BA61-C3F6A0D3F901}"/>
              </a:ext>
            </a:extLst>
          </p:cNvPr>
          <p:cNvSpPr/>
          <p:nvPr/>
        </p:nvSpPr>
        <p:spPr>
          <a:xfrm>
            <a:off x="671261" y="1700808"/>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When analyzing machine learning-based data, especially when applying a supervised learning-based model, do not analyze the overall dataset but analyze by dividing the training and evaluation (test) datasets.</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grpSp>
        <p:nvGrpSpPr>
          <p:cNvPr id="52" name="그룹 51">
            <a:extLst>
              <a:ext uri="{FF2B5EF4-FFF2-40B4-BE49-F238E27FC236}">
                <a16:creationId xmlns:a16="http://schemas.microsoft.com/office/drawing/2014/main" id="{3075FF1F-0E47-49DD-927D-D47ACCF04605}"/>
              </a:ext>
            </a:extLst>
          </p:cNvPr>
          <p:cNvGrpSpPr/>
          <p:nvPr/>
        </p:nvGrpSpPr>
        <p:grpSpPr>
          <a:xfrm>
            <a:off x="954968" y="2600908"/>
            <a:ext cx="7933747" cy="3238808"/>
            <a:chOff x="700077" y="2685981"/>
            <a:chExt cx="7933747" cy="3238808"/>
          </a:xfrm>
        </p:grpSpPr>
        <p:grpSp>
          <p:nvGrpSpPr>
            <p:cNvPr id="50" name="그룹 49">
              <a:extLst>
                <a:ext uri="{FF2B5EF4-FFF2-40B4-BE49-F238E27FC236}">
                  <a16:creationId xmlns:a16="http://schemas.microsoft.com/office/drawing/2014/main" id="{F00BC262-AA76-471D-AA09-8DB98EFADF38}"/>
                </a:ext>
              </a:extLst>
            </p:cNvPr>
            <p:cNvGrpSpPr/>
            <p:nvPr/>
          </p:nvGrpSpPr>
          <p:grpSpPr>
            <a:xfrm>
              <a:off x="700077" y="2914784"/>
              <a:ext cx="7933747" cy="2514471"/>
              <a:chOff x="700077" y="2914784"/>
              <a:chExt cx="7933747" cy="2514471"/>
            </a:xfrm>
          </p:grpSpPr>
          <p:sp>
            <p:nvSpPr>
              <p:cNvPr id="2" name="사각형: 둥근 모서리 1">
                <a:extLst>
                  <a:ext uri="{FF2B5EF4-FFF2-40B4-BE49-F238E27FC236}">
                    <a16:creationId xmlns:a16="http://schemas.microsoft.com/office/drawing/2014/main" id="{C72F61DF-FE5F-4F97-AF50-2D52AF363176}"/>
                  </a:ext>
                </a:extLst>
              </p:cNvPr>
              <p:cNvSpPr/>
              <p:nvPr/>
            </p:nvSpPr>
            <p:spPr>
              <a:xfrm>
                <a:off x="700077" y="2914784"/>
                <a:ext cx="1553664" cy="2514471"/>
              </a:xfrm>
              <a:prstGeom prst="roundRect">
                <a:avLst>
                  <a:gd name="adj" fmla="val 11174"/>
                </a:avLst>
              </a:prstGeom>
              <a:solidFill>
                <a:schemeClr val="accent1">
                  <a:lumMod val="20000"/>
                  <a:lumOff val="80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solidFill>
                      <a:schemeClr val="tx1"/>
                    </a:solidFill>
                    <a:latin typeface="SamsungOne 400" panose="020B0503030303020204" pitchFamily="34" charset="0"/>
                  </a:rPr>
                  <a:t>Overall dataset</a:t>
                </a:r>
                <a:endParaRPr lang="ko-KR" altLang="en-US" sz="1400" b="1" dirty="0">
                  <a:solidFill>
                    <a:schemeClr val="tx1"/>
                  </a:solidFill>
                  <a:latin typeface="SamsungOne 400" panose="020B0503030303020204" pitchFamily="34" charset="0"/>
                </a:endParaRPr>
              </a:p>
            </p:txBody>
          </p:sp>
          <p:sp>
            <p:nvSpPr>
              <p:cNvPr id="18" name="사각형: 둥근 모서리 17">
                <a:extLst>
                  <a:ext uri="{FF2B5EF4-FFF2-40B4-BE49-F238E27FC236}">
                    <a16:creationId xmlns:a16="http://schemas.microsoft.com/office/drawing/2014/main" id="{1EB1033F-7886-4004-9C2A-14D9E4D4DD2F}"/>
                  </a:ext>
                </a:extLst>
              </p:cNvPr>
              <p:cNvSpPr/>
              <p:nvPr/>
            </p:nvSpPr>
            <p:spPr>
              <a:xfrm>
                <a:off x="3295228" y="2914784"/>
                <a:ext cx="1914280" cy="1306304"/>
              </a:xfrm>
              <a:prstGeom prst="roundRect">
                <a:avLst>
                  <a:gd name="adj" fmla="val 12000"/>
                </a:avLst>
              </a:prstGeom>
              <a:solidFill>
                <a:schemeClr val="accent1">
                  <a:lumMod val="20000"/>
                  <a:lumOff val="80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solidFill>
                      <a:schemeClr val="tx1"/>
                    </a:solidFill>
                    <a:latin typeface="SamsungOne 400" panose="020B0503030303020204" pitchFamily="34" charset="0"/>
                  </a:rPr>
                  <a:t>Training dataset</a:t>
                </a:r>
              </a:p>
              <a:p>
                <a:pPr algn="ctr"/>
                <a:endParaRPr lang="en-US" altLang="ko-KR" sz="1400" b="1" dirty="0">
                  <a:solidFill>
                    <a:schemeClr val="tx1"/>
                  </a:solidFill>
                  <a:latin typeface="SamsungOne 400" panose="020B0503030303020204" pitchFamily="34" charset="0"/>
                </a:endParaRPr>
              </a:p>
              <a:p>
                <a:pPr algn="ctr"/>
                <a:r>
                  <a:rPr lang="en-US" altLang="ko-KR" sz="1400" b="1" dirty="0">
                    <a:solidFill>
                      <a:schemeClr val="tx1"/>
                    </a:solidFill>
                    <a:latin typeface="SamsungOne 400" panose="020B0503030303020204" pitchFamily="34" charset="0"/>
                  </a:rPr>
                  <a:t>(Perform K-fold cross validation if necessary)</a:t>
                </a:r>
                <a:endParaRPr lang="ko-KR" altLang="en-US" sz="1400" b="1" dirty="0">
                  <a:solidFill>
                    <a:schemeClr val="tx1"/>
                  </a:solidFill>
                  <a:latin typeface="SamsungOne 400" panose="020B0503030303020204" pitchFamily="34" charset="0"/>
                </a:endParaRPr>
              </a:p>
            </p:txBody>
          </p:sp>
          <p:sp>
            <p:nvSpPr>
              <p:cNvPr id="19" name="사각형: 둥근 모서리 18">
                <a:extLst>
                  <a:ext uri="{FF2B5EF4-FFF2-40B4-BE49-F238E27FC236}">
                    <a16:creationId xmlns:a16="http://schemas.microsoft.com/office/drawing/2014/main" id="{5D2B1C90-AD94-421B-972B-35FC3D4FA76E}"/>
                  </a:ext>
                </a:extLst>
              </p:cNvPr>
              <p:cNvSpPr/>
              <p:nvPr/>
            </p:nvSpPr>
            <p:spPr>
              <a:xfrm>
                <a:off x="3295228" y="4426952"/>
                <a:ext cx="1914280" cy="1002303"/>
              </a:xfrm>
              <a:prstGeom prst="roundRect">
                <a:avLst/>
              </a:prstGeom>
              <a:solidFill>
                <a:schemeClr val="accent1">
                  <a:lumMod val="20000"/>
                  <a:lumOff val="80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solidFill>
                      <a:schemeClr val="tx1"/>
                    </a:solidFill>
                    <a:latin typeface="SamsungOne 400" panose="020B0503030303020204" pitchFamily="34" charset="0"/>
                  </a:rPr>
                  <a:t>Test dataset</a:t>
                </a:r>
                <a:endParaRPr lang="ko-KR" altLang="en-US" sz="1400" b="1" dirty="0">
                  <a:solidFill>
                    <a:schemeClr val="tx1"/>
                  </a:solidFill>
                  <a:latin typeface="SamsungOne 400" panose="020B0503030303020204" pitchFamily="34" charset="0"/>
                </a:endParaRPr>
              </a:p>
            </p:txBody>
          </p:sp>
          <p:sp>
            <p:nvSpPr>
              <p:cNvPr id="20" name="사각형: 둥근 모서리 19">
                <a:extLst>
                  <a:ext uri="{FF2B5EF4-FFF2-40B4-BE49-F238E27FC236}">
                    <a16:creationId xmlns:a16="http://schemas.microsoft.com/office/drawing/2014/main" id="{E21F8580-0644-4F6C-8E31-AFE089A86BE3}"/>
                  </a:ext>
                </a:extLst>
              </p:cNvPr>
              <p:cNvSpPr/>
              <p:nvPr/>
            </p:nvSpPr>
            <p:spPr>
              <a:xfrm>
                <a:off x="5597309" y="4697012"/>
                <a:ext cx="1519341" cy="470167"/>
              </a:xfrm>
              <a:prstGeom prst="roundRect">
                <a:avLst/>
              </a:prstGeom>
              <a:solidFill>
                <a:schemeClr val="accent1">
                  <a:lumMod val="20000"/>
                  <a:lumOff val="80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solidFill>
                      <a:schemeClr val="tx1"/>
                    </a:solidFill>
                    <a:latin typeface="SamsungOne 400" panose="020B0503030303020204" pitchFamily="34" charset="0"/>
                  </a:rPr>
                  <a:t>Performance evaluation</a:t>
                </a:r>
                <a:endParaRPr lang="ko-KR" altLang="en-US" sz="1400" b="1" dirty="0">
                  <a:solidFill>
                    <a:schemeClr val="tx1"/>
                  </a:solidFill>
                  <a:latin typeface="SamsungOne 400" panose="020B0503030303020204" pitchFamily="34" charset="0"/>
                </a:endParaRPr>
              </a:p>
            </p:txBody>
          </p:sp>
          <p:sp>
            <p:nvSpPr>
              <p:cNvPr id="3" name="타원 2">
                <a:extLst>
                  <a:ext uri="{FF2B5EF4-FFF2-40B4-BE49-F238E27FC236}">
                    <a16:creationId xmlns:a16="http://schemas.microsoft.com/office/drawing/2014/main" id="{04D6BD1D-8C02-43FC-AF39-A7EE2C275CA4}"/>
                  </a:ext>
                </a:extLst>
              </p:cNvPr>
              <p:cNvSpPr/>
              <p:nvPr/>
            </p:nvSpPr>
            <p:spPr>
              <a:xfrm>
                <a:off x="5707496" y="3003398"/>
                <a:ext cx="1129076" cy="1129076"/>
              </a:xfrm>
              <a:prstGeom prst="ellipse">
                <a:avLst/>
              </a:prstGeom>
              <a:solidFill>
                <a:schemeClr val="accent5">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b="1" dirty="0">
                    <a:latin typeface="SamsungOne 400" panose="020B0503030303020204" pitchFamily="34" charset="0"/>
                  </a:rPr>
                  <a:t>Model</a:t>
                </a:r>
                <a:endParaRPr lang="ko-KR" altLang="en-US" sz="1600" b="1" dirty="0">
                  <a:latin typeface="SamsungOne 400" panose="020B0503030303020204" pitchFamily="34" charset="0"/>
                </a:endParaRPr>
              </a:p>
            </p:txBody>
          </p:sp>
          <p:sp>
            <p:nvSpPr>
              <p:cNvPr id="21" name="타원 20">
                <a:extLst>
                  <a:ext uri="{FF2B5EF4-FFF2-40B4-BE49-F238E27FC236}">
                    <a16:creationId xmlns:a16="http://schemas.microsoft.com/office/drawing/2014/main" id="{183461B2-EEA2-4A8B-BA69-CFD39BC62536}"/>
                  </a:ext>
                </a:extLst>
              </p:cNvPr>
              <p:cNvSpPr/>
              <p:nvPr/>
            </p:nvSpPr>
            <p:spPr>
              <a:xfrm>
                <a:off x="7303684" y="3340296"/>
                <a:ext cx="1330140" cy="1330140"/>
              </a:xfrm>
              <a:prstGeom prst="ellipse">
                <a:avLst/>
              </a:prstGeom>
              <a:solidFill>
                <a:schemeClr val="accent5">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b="1" dirty="0">
                    <a:latin typeface="SamsungOne 400" panose="020B0503030303020204" pitchFamily="34" charset="0"/>
                  </a:rPr>
                  <a:t>Final model</a:t>
                </a:r>
                <a:endParaRPr lang="ko-KR" altLang="en-US" sz="1600" b="1" dirty="0">
                  <a:latin typeface="SamsungOne 400" panose="020B0503030303020204" pitchFamily="34" charset="0"/>
                </a:endParaRPr>
              </a:p>
            </p:txBody>
          </p:sp>
          <p:cxnSp>
            <p:nvCxnSpPr>
              <p:cNvPr id="5" name="연결선: 꺾임 4">
                <a:extLst>
                  <a:ext uri="{FF2B5EF4-FFF2-40B4-BE49-F238E27FC236}">
                    <a16:creationId xmlns:a16="http://schemas.microsoft.com/office/drawing/2014/main" id="{7AE2D99B-75DD-42B8-962D-9C2A87145E68}"/>
                  </a:ext>
                </a:extLst>
              </p:cNvPr>
              <p:cNvCxnSpPr>
                <a:cxnSpLocks/>
                <a:stCxn id="2" idx="3"/>
                <a:endCxn id="18" idx="1"/>
              </p:cNvCxnSpPr>
              <p:nvPr/>
            </p:nvCxnSpPr>
            <p:spPr>
              <a:xfrm flipV="1">
                <a:off x="2253741" y="3567936"/>
                <a:ext cx="1041487" cy="604084"/>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연결선: 꺾임 6">
                <a:extLst>
                  <a:ext uri="{FF2B5EF4-FFF2-40B4-BE49-F238E27FC236}">
                    <a16:creationId xmlns:a16="http://schemas.microsoft.com/office/drawing/2014/main" id="{CF0C84E2-1714-46FA-A51A-5E79DC788C33}"/>
                  </a:ext>
                </a:extLst>
              </p:cNvPr>
              <p:cNvCxnSpPr>
                <a:cxnSpLocks/>
                <a:stCxn id="2" idx="3"/>
                <a:endCxn id="19" idx="1"/>
              </p:cNvCxnSpPr>
              <p:nvPr/>
            </p:nvCxnSpPr>
            <p:spPr>
              <a:xfrm>
                <a:off x="2253741" y="4172020"/>
                <a:ext cx="1041487" cy="756084"/>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0B217DCB-1036-4D17-ADE9-15A65B6F89F9}"/>
                  </a:ext>
                </a:extLst>
              </p:cNvPr>
              <p:cNvCxnSpPr>
                <a:cxnSpLocks/>
                <a:stCxn id="18" idx="3"/>
                <a:endCxn id="3" idx="2"/>
              </p:cNvCxnSpPr>
              <p:nvPr/>
            </p:nvCxnSpPr>
            <p:spPr>
              <a:xfrm>
                <a:off x="5209508" y="3567936"/>
                <a:ext cx="49798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직선 화살표 연결선 28">
                <a:extLst>
                  <a:ext uri="{FF2B5EF4-FFF2-40B4-BE49-F238E27FC236}">
                    <a16:creationId xmlns:a16="http://schemas.microsoft.com/office/drawing/2014/main" id="{8810EFC3-EFD9-41CF-A573-20AFBF469973}"/>
                  </a:ext>
                </a:extLst>
              </p:cNvPr>
              <p:cNvCxnSpPr>
                <a:cxnSpLocks/>
              </p:cNvCxnSpPr>
              <p:nvPr/>
            </p:nvCxnSpPr>
            <p:spPr>
              <a:xfrm flipV="1">
                <a:off x="6371268" y="4131195"/>
                <a:ext cx="0" cy="55867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68F0C0EB-C2BE-4BC4-AAC8-8E1994F4A624}"/>
                  </a:ext>
                </a:extLst>
              </p:cNvPr>
              <p:cNvCxnSpPr>
                <a:cxnSpLocks/>
              </p:cNvCxnSpPr>
              <p:nvPr/>
            </p:nvCxnSpPr>
            <p:spPr>
              <a:xfrm>
                <a:off x="6175548" y="4132474"/>
                <a:ext cx="0" cy="56453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직선 연결선 33">
                <a:extLst>
                  <a:ext uri="{FF2B5EF4-FFF2-40B4-BE49-F238E27FC236}">
                    <a16:creationId xmlns:a16="http://schemas.microsoft.com/office/drawing/2014/main" id="{B4D00FD7-5B57-4103-AB95-914CD3191C4D}"/>
                  </a:ext>
                </a:extLst>
              </p:cNvPr>
              <p:cNvCxnSpPr>
                <a:cxnSpLocks/>
                <a:stCxn id="19" idx="3"/>
                <a:endCxn id="20" idx="1"/>
              </p:cNvCxnSpPr>
              <p:nvPr/>
            </p:nvCxnSpPr>
            <p:spPr>
              <a:xfrm>
                <a:off x="5209508" y="4928104"/>
                <a:ext cx="387801" cy="399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연결선: 꺾임 35">
                <a:extLst>
                  <a:ext uri="{FF2B5EF4-FFF2-40B4-BE49-F238E27FC236}">
                    <a16:creationId xmlns:a16="http://schemas.microsoft.com/office/drawing/2014/main" id="{9EBE5350-720A-4EB5-964A-3937A40ECA8D}"/>
                  </a:ext>
                </a:extLst>
              </p:cNvPr>
              <p:cNvCxnSpPr>
                <a:stCxn id="3" idx="6"/>
                <a:endCxn id="21" idx="2"/>
              </p:cNvCxnSpPr>
              <p:nvPr/>
            </p:nvCxnSpPr>
            <p:spPr>
              <a:xfrm>
                <a:off x="6836572" y="3567936"/>
                <a:ext cx="467112" cy="437430"/>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직사각형 38">
                <a:extLst>
                  <a:ext uri="{FF2B5EF4-FFF2-40B4-BE49-F238E27FC236}">
                    <a16:creationId xmlns:a16="http://schemas.microsoft.com/office/drawing/2014/main" id="{4227FB7E-D0CB-45E4-B71B-B9E901C44D27}"/>
                  </a:ext>
                </a:extLst>
              </p:cNvPr>
              <p:cNvSpPr/>
              <p:nvPr/>
            </p:nvSpPr>
            <p:spPr>
              <a:xfrm>
                <a:off x="2368122" y="3065948"/>
                <a:ext cx="812723" cy="4001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scene3d>
                  <a:camera prst="orthographicFront"/>
                  <a:lightRig rig="threePt" dir="t"/>
                </a:scene3d>
                <a:sp3d>
                  <a:bevelT w="0" h="6350"/>
                </a:sp3d>
              </a:bodyPr>
              <a:lstStyle/>
              <a:p>
                <a:pPr algn="ctr">
                  <a:buClr>
                    <a:srgbClr val="193EB0"/>
                  </a:buClr>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rPr>
                  <a:t>Division of </a:t>
                </a:r>
              </a:p>
              <a:p>
                <a:pPr algn="ctr">
                  <a:buClr>
                    <a:srgbClr val="193EB0"/>
                  </a:buClr>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rPr>
                  <a:t>dataset</a:t>
                </a:r>
              </a:p>
            </p:txBody>
          </p:sp>
        </p:grpSp>
        <p:sp>
          <p:nvSpPr>
            <p:cNvPr id="41" name="직사각형 40">
              <a:extLst>
                <a:ext uri="{FF2B5EF4-FFF2-40B4-BE49-F238E27FC236}">
                  <a16:creationId xmlns:a16="http://schemas.microsoft.com/office/drawing/2014/main" id="{B7EFA834-9E97-4253-93EB-65258BF41554}"/>
                </a:ext>
              </a:extLst>
            </p:cNvPr>
            <p:cNvSpPr/>
            <p:nvPr/>
          </p:nvSpPr>
          <p:spPr>
            <a:xfrm>
              <a:off x="1726183" y="5724734"/>
              <a:ext cx="6153212"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ctr">
                <a:spcAft>
                  <a:spcPts val="800"/>
                </a:spcAft>
                <a:buClr>
                  <a:srgbClr val="193EB0"/>
                </a:buClr>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rPr>
                <a:t>Machine learning modeling process through division of training and test datasets</a:t>
              </a:r>
            </a:p>
          </p:txBody>
        </p:sp>
        <p:sp>
          <p:nvSpPr>
            <p:cNvPr id="51" name="타원 50">
              <a:extLst>
                <a:ext uri="{FF2B5EF4-FFF2-40B4-BE49-F238E27FC236}">
                  <a16:creationId xmlns:a16="http://schemas.microsoft.com/office/drawing/2014/main" id="{C684F028-2B9E-4ED7-9ECB-21C3D6E72D1A}"/>
                </a:ext>
              </a:extLst>
            </p:cNvPr>
            <p:cNvSpPr/>
            <p:nvPr/>
          </p:nvSpPr>
          <p:spPr>
            <a:xfrm>
              <a:off x="3013411" y="2685981"/>
              <a:ext cx="2487414" cy="289298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317111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1.3. Preparation and Division of Dataset</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Overfitting and generalization of modeling</a:t>
            </a:r>
            <a:r>
              <a:rPr lang="ko-KR" altLang="en-US" sz="1400" dirty="0">
                <a:solidFill>
                  <a:schemeClr val="tx1"/>
                </a:solidFill>
                <a:latin typeface="SamsungOne 400" panose="020B0503030303020204" pitchFamily="34" charset="0"/>
                <a:ea typeface="SamsungOne 400" panose="020B0503030303020204" pitchFamily="34" charset="0"/>
              </a:rPr>
              <a:t> </a:t>
            </a:r>
          </a:p>
        </p:txBody>
      </p:sp>
      <p:sp>
        <p:nvSpPr>
          <p:cNvPr id="26" name="직사각형 25">
            <a:extLst>
              <a:ext uri="{FF2B5EF4-FFF2-40B4-BE49-F238E27FC236}">
                <a16:creationId xmlns:a16="http://schemas.microsoft.com/office/drawing/2014/main" id="{E0E9A875-855D-4DD3-BA61-C3F6A0D3F901}"/>
              </a:ext>
            </a:extLst>
          </p:cNvPr>
          <p:cNvSpPr/>
          <p:nvPr/>
        </p:nvSpPr>
        <p:spPr>
          <a:xfrm>
            <a:off x="671261" y="1700808"/>
            <a:ext cx="8632825" cy="23511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Strictly speaking, the data included in the provided training dataset can be considered as the values obtained by chance. Hence, a new dataset obtained to predict the values of new objective variables (or response variables) is not the same as the existing training dataset.</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chance that the patterns from the training data and new data to perfectly accord is extremely low. Thus, when learning the machine learning-based model, overfitting occurs in highlighting the training dataset pattern when reflecting too much of the training dataset. At the same time, generalization for accurate prediction of new data is underperformed.</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To prevent such issues, the datasets are generally divided into training and test datasets. Measure how the machine learning model learned with the training dataset accurately predicts the test dataset’s objective variables (or response variables). The resulting standard will become the model performance evaluation standard.</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grpSp>
        <p:nvGrpSpPr>
          <p:cNvPr id="9" name="그룹 8">
            <a:extLst>
              <a:ext uri="{FF2B5EF4-FFF2-40B4-BE49-F238E27FC236}">
                <a16:creationId xmlns:a16="http://schemas.microsoft.com/office/drawing/2014/main" id="{236253B6-EA89-4549-91E6-F0EDF7A2E4FA}"/>
              </a:ext>
            </a:extLst>
          </p:cNvPr>
          <p:cNvGrpSpPr/>
          <p:nvPr/>
        </p:nvGrpSpPr>
        <p:grpSpPr>
          <a:xfrm>
            <a:off x="1730570" y="4169198"/>
            <a:ext cx="6353190" cy="1866779"/>
            <a:chOff x="1646364" y="1751181"/>
            <a:chExt cx="6521804" cy="2031594"/>
          </a:xfrm>
        </p:grpSpPr>
        <p:grpSp>
          <p:nvGrpSpPr>
            <p:cNvPr id="11" name="그룹 10">
              <a:extLst>
                <a:ext uri="{FF2B5EF4-FFF2-40B4-BE49-F238E27FC236}">
                  <a16:creationId xmlns:a16="http://schemas.microsoft.com/office/drawing/2014/main" id="{B6130B5E-B68E-4979-BD00-DEF11E7A4F59}"/>
                </a:ext>
              </a:extLst>
            </p:cNvPr>
            <p:cNvGrpSpPr/>
            <p:nvPr/>
          </p:nvGrpSpPr>
          <p:grpSpPr>
            <a:xfrm>
              <a:off x="1831340" y="2335090"/>
              <a:ext cx="1092200" cy="927120"/>
              <a:chOff x="1831340" y="2335090"/>
              <a:chExt cx="1092200" cy="927120"/>
            </a:xfrm>
          </p:grpSpPr>
          <p:cxnSp>
            <p:nvCxnSpPr>
              <p:cNvPr id="132" name="직선 연결선 131">
                <a:extLst>
                  <a:ext uri="{FF2B5EF4-FFF2-40B4-BE49-F238E27FC236}">
                    <a16:creationId xmlns:a16="http://schemas.microsoft.com/office/drawing/2014/main" id="{3071CF8D-DFA6-4AC1-B3EC-619BA9677B44}"/>
                  </a:ext>
                </a:extLst>
              </p:cNvPr>
              <p:cNvCxnSpPr>
                <a:cxnSpLocks/>
              </p:cNvCxnSpPr>
              <p:nvPr/>
            </p:nvCxnSpPr>
            <p:spPr>
              <a:xfrm>
                <a:off x="1831340" y="2702560"/>
                <a:ext cx="1092200" cy="162560"/>
              </a:xfrm>
              <a:prstGeom prst="line">
                <a:avLst/>
              </a:prstGeom>
              <a:ln w="12700">
                <a:solidFill>
                  <a:srgbClr val="1429A0"/>
                </a:solidFill>
              </a:ln>
            </p:spPr>
            <p:style>
              <a:lnRef idx="1">
                <a:schemeClr val="accent1"/>
              </a:lnRef>
              <a:fillRef idx="0">
                <a:schemeClr val="accent1"/>
              </a:fillRef>
              <a:effectRef idx="0">
                <a:schemeClr val="accent1"/>
              </a:effectRef>
              <a:fontRef idx="minor">
                <a:schemeClr val="tx1"/>
              </a:fontRef>
            </p:style>
          </p:cxnSp>
          <p:sp>
            <p:nvSpPr>
              <p:cNvPr id="133" name="타원 132">
                <a:extLst>
                  <a:ext uri="{FF2B5EF4-FFF2-40B4-BE49-F238E27FC236}">
                    <a16:creationId xmlns:a16="http://schemas.microsoft.com/office/drawing/2014/main" id="{08B3FF87-C9AA-4DF1-8442-F06EBD525028}"/>
                  </a:ext>
                </a:extLst>
              </p:cNvPr>
              <p:cNvSpPr/>
              <p:nvPr/>
            </p:nvSpPr>
            <p:spPr>
              <a:xfrm>
                <a:off x="1840230" y="268751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4" name="타원 133">
                <a:extLst>
                  <a:ext uri="{FF2B5EF4-FFF2-40B4-BE49-F238E27FC236}">
                    <a16:creationId xmlns:a16="http://schemas.microsoft.com/office/drawing/2014/main" id="{14D6C1BC-114F-4F55-9897-07474A806AA8}"/>
                  </a:ext>
                </a:extLst>
              </p:cNvPr>
              <p:cNvSpPr/>
              <p:nvPr/>
            </p:nvSpPr>
            <p:spPr>
              <a:xfrm>
                <a:off x="1901190" y="248177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5" name="타원 134">
                <a:extLst>
                  <a:ext uri="{FF2B5EF4-FFF2-40B4-BE49-F238E27FC236}">
                    <a16:creationId xmlns:a16="http://schemas.microsoft.com/office/drawing/2014/main" id="{E4C911F4-A4D0-41C9-BB5A-7FE360283FE4}"/>
                  </a:ext>
                </a:extLst>
              </p:cNvPr>
              <p:cNvSpPr/>
              <p:nvPr/>
            </p:nvSpPr>
            <p:spPr>
              <a:xfrm>
                <a:off x="1960245" y="240367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6" name="타원 135">
                <a:extLst>
                  <a:ext uri="{FF2B5EF4-FFF2-40B4-BE49-F238E27FC236}">
                    <a16:creationId xmlns:a16="http://schemas.microsoft.com/office/drawing/2014/main" id="{6835987A-F8AD-4774-8A5D-BF0D9D48102D}"/>
                  </a:ext>
                </a:extLst>
              </p:cNvPr>
              <p:cNvSpPr/>
              <p:nvPr/>
            </p:nvSpPr>
            <p:spPr>
              <a:xfrm>
                <a:off x="2013585" y="235985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7" name="타원 136">
                <a:extLst>
                  <a:ext uri="{FF2B5EF4-FFF2-40B4-BE49-F238E27FC236}">
                    <a16:creationId xmlns:a16="http://schemas.microsoft.com/office/drawing/2014/main" id="{23F98EF3-534F-447F-8A25-1434D86B3CBE}"/>
                  </a:ext>
                </a:extLst>
              </p:cNvPr>
              <p:cNvSpPr/>
              <p:nvPr/>
            </p:nvSpPr>
            <p:spPr>
              <a:xfrm>
                <a:off x="2036445" y="236557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8" name="타원 137">
                <a:extLst>
                  <a:ext uri="{FF2B5EF4-FFF2-40B4-BE49-F238E27FC236}">
                    <a16:creationId xmlns:a16="http://schemas.microsoft.com/office/drawing/2014/main" id="{DC7D422B-5323-4DE7-8746-313F281B4A62}"/>
                  </a:ext>
                </a:extLst>
              </p:cNvPr>
              <p:cNvSpPr/>
              <p:nvPr/>
            </p:nvSpPr>
            <p:spPr>
              <a:xfrm>
                <a:off x="2105025" y="256178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9" name="타원 138">
                <a:extLst>
                  <a:ext uri="{FF2B5EF4-FFF2-40B4-BE49-F238E27FC236}">
                    <a16:creationId xmlns:a16="http://schemas.microsoft.com/office/drawing/2014/main" id="{E04902FF-1E03-47DD-ADD6-45C72A8A2D53}"/>
                  </a:ext>
                </a:extLst>
              </p:cNvPr>
              <p:cNvSpPr/>
              <p:nvPr/>
            </p:nvSpPr>
            <p:spPr>
              <a:xfrm>
                <a:off x="2137410" y="264560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0" name="타원 139">
                <a:extLst>
                  <a:ext uri="{FF2B5EF4-FFF2-40B4-BE49-F238E27FC236}">
                    <a16:creationId xmlns:a16="http://schemas.microsoft.com/office/drawing/2014/main" id="{A05B0BCB-A9F1-4937-B387-F9EBAB4C7607}"/>
                  </a:ext>
                </a:extLst>
              </p:cNvPr>
              <p:cNvSpPr/>
              <p:nvPr/>
            </p:nvSpPr>
            <p:spPr>
              <a:xfrm>
                <a:off x="2173605" y="275609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1" name="타원 140">
                <a:extLst>
                  <a:ext uri="{FF2B5EF4-FFF2-40B4-BE49-F238E27FC236}">
                    <a16:creationId xmlns:a16="http://schemas.microsoft.com/office/drawing/2014/main" id="{BD62AE2C-47C4-45BD-85E8-F11DC0BE6338}"/>
                  </a:ext>
                </a:extLst>
              </p:cNvPr>
              <p:cNvSpPr/>
              <p:nvPr/>
            </p:nvSpPr>
            <p:spPr>
              <a:xfrm>
                <a:off x="2668905" y="23350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2" name="타원 141">
                <a:extLst>
                  <a:ext uri="{FF2B5EF4-FFF2-40B4-BE49-F238E27FC236}">
                    <a16:creationId xmlns:a16="http://schemas.microsoft.com/office/drawing/2014/main" id="{03CEC62A-3D38-4E23-A028-98A1CC936A97}"/>
                  </a:ext>
                </a:extLst>
              </p:cNvPr>
              <p:cNvSpPr/>
              <p:nvPr/>
            </p:nvSpPr>
            <p:spPr>
              <a:xfrm>
                <a:off x="2737485" y="23350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3" name="타원 142">
                <a:extLst>
                  <a:ext uri="{FF2B5EF4-FFF2-40B4-BE49-F238E27FC236}">
                    <a16:creationId xmlns:a16="http://schemas.microsoft.com/office/drawing/2014/main" id="{677672F5-8B93-4EEB-8795-6A4B006321B2}"/>
                  </a:ext>
                </a:extLst>
              </p:cNvPr>
              <p:cNvSpPr/>
              <p:nvPr/>
            </p:nvSpPr>
            <p:spPr>
              <a:xfrm>
                <a:off x="2747010" y="239605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4" name="타원 143">
                <a:extLst>
                  <a:ext uri="{FF2B5EF4-FFF2-40B4-BE49-F238E27FC236}">
                    <a16:creationId xmlns:a16="http://schemas.microsoft.com/office/drawing/2014/main" id="{927D651E-A521-4826-B3DA-948A3BF44FA8}"/>
                  </a:ext>
                </a:extLst>
              </p:cNvPr>
              <p:cNvSpPr/>
              <p:nvPr/>
            </p:nvSpPr>
            <p:spPr>
              <a:xfrm>
                <a:off x="2491740" y="29104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5" name="타원 144">
                <a:extLst>
                  <a:ext uri="{FF2B5EF4-FFF2-40B4-BE49-F238E27FC236}">
                    <a16:creationId xmlns:a16="http://schemas.microsoft.com/office/drawing/2014/main" id="{D22CD5DE-9B1D-4CFF-9A82-F8F952F41B13}"/>
                  </a:ext>
                </a:extLst>
              </p:cNvPr>
              <p:cNvSpPr/>
              <p:nvPr/>
            </p:nvSpPr>
            <p:spPr>
              <a:xfrm>
                <a:off x="2484120" y="29332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6" name="타원 145">
                <a:extLst>
                  <a:ext uri="{FF2B5EF4-FFF2-40B4-BE49-F238E27FC236}">
                    <a16:creationId xmlns:a16="http://schemas.microsoft.com/office/drawing/2014/main" id="{8BA3F2B0-ABBF-4D88-B3C4-036DEF619148}"/>
                  </a:ext>
                </a:extLst>
              </p:cNvPr>
              <p:cNvSpPr/>
              <p:nvPr/>
            </p:nvSpPr>
            <p:spPr>
              <a:xfrm>
                <a:off x="2386965" y="30628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7" name="타원 146">
                <a:extLst>
                  <a:ext uri="{FF2B5EF4-FFF2-40B4-BE49-F238E27FC236}">
                    <a16:creationId xmlns:a16="http://schemas.microsoft.com/office/drawing/2014/main" id="{304F13FA-C591-40E8-81BD-C13F80A97ABC}"/>
                  </a:ext>
                </a:extLst>
              </p:cNvPr>
              <p:cNvSpPr/>
              <p:nvPr/>
            </p:nvSpPr>
            <p:spPr>
              <a:xfrm>
                <a:off x="2276475" y="308756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8" name="타원 147">
                <a:extLst>
                  <a:ext uri="{FF2B5EF4-FFF2-40B4-BE49-F238E27FC236}">
                    <a16:creationId xmlns:a16="http://schemas.microsoft.com/office/drawing/2014/main" id="{EB7814A2-A595-467B-B0A8-1E93643E5B57}"/>
                  </a:ext>
                </a:extLst>
              </p:cNvPr>
              <p:cNvSpPr/>
              <p:nvPr/>
            </p:nvSpPr>
            <p:spPr>
              <a:xfrm>
                <a:off x="2287905" y="313709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9" name="타원 148">
                <a:extLst>
                  <a:ext uri="{FF2B5EF4-FFF2-40B4-BE49-F238E27FC236}">
                    <a16:creationId xmlns:a16="http://schemas.microsoft.com/office/drawing/2014/main" id="{31A19855-1BFF-42D3-A861-2F0568ED1D9D}"/>
                  </a:ext>
                </a:extLst>
              </p:cNvPr>
              <p:cNvSpPr/>
              <p:nvPr/>
            </p:nvSpPr>
            <p:spPr>
              <a:xfrm>
                <a:off x="2286000" y="315233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0" name="타원 149">
                <a:extLst>
                  <a:ext uri="{FF2B5EF4-FFF2-40B4-BE49-F238E27FC236}">
                    <a16:creationId xmlns:a16="http://schemas.microsoft.com/office/drawing/2014/main" id="{39D27DF8-C85C-4A0F-B0D7-C3101D75AB6C}"/>
                  </a:ext>
                </a:extLst>
              </p:cNvPr>
              <p:cNvSpPr/>
              <p:nvPr/>
            </p:nvSpPr>
            <p:spPr>
              <a:xfrm>
                <a:off x="2348865" y="31732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1" name="타원 150">
                <a:extLst>
                  <a:ext uri="{FF2B5EF4-FFF2-40B4-BE49-F238E27FC236}">
                    <a16:creationId xmlns:a16="http://schemas.microsoft.com/office/drawing/2014/main" id="{36656B5C-52E9-4EB2-884D-193CDD11AE9E}"/>
                  </a:ext>
                </a:extLst>
              </p:cNvPr>
              <p:cNvSpPr/>
              <p:nvPr/>
            </p:nvSpPr>
            <p:spPr>
              <a:xfrm>
                <a:off x="2369820" y="31732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2" name="타원 151">
                <a:extLst>
                  <a:ext uri="{FF2B5EF4-FFF2-40B4-BE49-F238E27FC236}">
                    <a16:creationId xmlns:a16="http://schemas.microsoft.com/office/drawing/2014/main" id="{2B6BF02F-EEE1-4CE3-970D-A77BF4AFCC15}"/>
                  </a:ext>
                </a:extLst>
              </p:cNvPr>
              <p:cNvSpPr/>
              <p:nvPr/>
            </p:nvSpPr>
            <p:spPr>
              <a:xfrm>
                <a:off x="2411730" y="321901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2" name="그룹 11">
              <a:extLst>
                <a:ext uri="{FF2B5EF4-FFF2-40B4-BE49-F238E27FC236}">
                  <a16:creationId xmlns:a16="http://schemas.microsoft.com/office/drawing/2014/main" id="{B689AEF3-DE98-4A91-9F1E-EDD17674F39E}"/>
                </a:ext>
              </a:extLst>
            </p:cNvPr>
            <p:cNvGrpSpPr/>
            <p:nvPr/>
          </p:nvGrpSpPr>
          <p:grpSpPr>
            <a:xfrm>
              <a:off x="3147060" y="1969770"/>
              <a:ext cx="1059180" cy="1292440"/>
              <a:chOff x="3147060" y="1969770"/>
              <a:chExt cx="1059180" cy="1292440"/>
            </a:xfrm>
          </p:grpSpPr>
          <p:sp>
            <p:nvSpPr>
              <p:cNvPr id="111" name="타원 110">
                <a:extLst>
                  <a:ext uri="{FF2B5EF4-FFF2-40B4-BE49-F238E27FC236}">
                    <a16:creationId xmlns:a16="http://schemas.microsoft.com/office/drawing/2014/main" id="{B4D8A36E-85AD-4F0C-ABE0-41056EF5E841}"/>
                  </a:ext>
                </a:extLst>
              </p:cNvPr>
              <p:cNvSpPr/>
              <p:nvPr/>
            </p:nvSpPr>
            <p:spPr>
              <a:xfrm>
                <a:off x="3150870" y="26894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자유형: 도형 111">
                <a:extLst>
                  <a:ext uri="{FF2B5EF4-FFF2-40B4-BE49-F238E27FC236}">
                    <a16:creationId xmlns:a16="http://schemas.microsoft.com/office/drawing/2014/main" id="{A7E27865-BF10-44E8-B542-0AF5145F938C}"/>
                  </a:ext>
                </a:extLst>
              </p:cNvPr>
              <p:cNvSpPr/>
              <p:nvPr/>
            </p:nvSpPr>
            <p:spPr>
              <a:xfrm>
                <a:off x="3147060" y="1969770"/>
                <a:ext cx="1059180" cy="1046330"/>
              </a:xfrm>
              <a:custGeom>
                <a:avLst/>
                <a:gdLst>
                  <a:gd name="connsiteX0" fmla="*/ 0 w 1059180"/>
                  <a:gd name="connsiteY0" fmla="*/ 160020 h 1052778"/>
                  <a:gd name="connsiteX1" fmla="*/ 36195 w 1059180"/>
                  <a:gd name="connsiteY1" fmla="*/ 278130 h 1052778"/>
                  <a:gd name="connsiteX2" fmla="*/ 85725 w 1059180"/>
                  <a:gd name="connsiteY2" fmla="*/ 436245 h 1052778"/>
                  <a:gd name="connsiteX3" fmla="*/ 139065 w 1059180"/>
                  <a:gd name="connsiteY3" fmla="*/ 592455 h 1052778"/>
                  <a:gd name="connsiteX4" fmla="*/ 205740 w 1059180"/>
                  <a:gd name="connsiteY4" fmla="*/ 737235 h 1052778"/>
                  <a:gd name="connsiteX5" fmla="*/ 251460 w 1059180"/>
                  <a:gd name="connsiteY5" fmla="*/ 815340 h 1052778"/>
                  <a:gd name="connsiteX6" fmla="*/ 320040 w 1059180"/>
                  <a:gd name="connsiteY6" fmla="*/ 920115 h 1052778"/>
                  <a:gd name="connsiteX7" fmla="*/ 375285 w 1059180"/>
                  <a:gd name="connsiteY7" fmla="*/ 986790 h 1052778"/>
                  <a:gd name="connsiteX8" fmla="*/ 436245 w 1059180"/>
                  <a:gd name="connsiteY8" fmla="*/ 1032510 h 1052778"/>
                  <a:gd name="connsiteX9" fmla="*/ 521970 w 1059180"/>
                  <a:gd name="connsiteY9" fmla="*/ 1051560 h 1052778"/>
                  <a:gd name="connsiteX10" fmla="*/ 632460 w 1059180"/>
                  <a:gd name="connsiteY10" fmla="*/ 1000125 h 1052778"/>
                  <a:gd name="connsiteX11" fmla="*/ 701040 w 1059180"/>
                  <a:gd name="connsiteY11" fmla="*/ 908685 h 1052778"/>
                  <a:gd name="connsiteX12" fmla="*/ 777240 w 1059180"/>
                  <a:gd name="connsiteY12" fmla="*/ 788670 h 1052778"/>
                  <a:gd name="connsiteX13" fmla="*/ 838200 w 1059180"/>
                  <a:gd name="connsiteY13" fmla="*/ 659130 h 1052778"/>
                  <a:gd name="connsiteX14" fmla="*/ 901065 w 1059180"/>
                  <a:gd name="connsiteY14" fmla="*/ 514350 h 1052778"/>
                  <a:gd name="connsiteX15" fmla="*/ 933450 w 1059180"/>
                  <a:gd name="connsiteY15" fmla="*/ 394335 h 1052778"/>
                  <a:gd name="connsiteX16" fmla="*/ 975360 w 1059180"/>
                  <a:gd name="connsiteY16" fmla="*/ 274320 h 1052778"/>
                  <a:gd name="connsiteX17" fmla="*/ 1019175 w 1059180"/>
                  <a:gd name="connsiteY17" fmla="*/ 144780 h 1052778"/>
                  <a:gd name="connsiteX18" fmla="*/ 1059180 w 1059180"/>
                  <a:gd name="connsiteY18" fmla="*/ 0 h 1052778"/>
                  <a:gd name="connsiteX0" fmla="*/ 0 w 1059180"/>
                  <a:gd name="connsiteY0" fmla="*/ 160020 h 1052778"/>
                  <a:gd name="connsiteX1" fmla="*/ 36195 w 1059180"/>
                  <a:gd name="connsiteY1" fmla="*/ 278130 h 1052778"/>
                  <a:gd name="connsiteX2" fmla="*/ 85725 w 1059180"/>
                  <a:gd name="connsiteY2" fmla="*/ 436245 h 1052778"/>
                  <a:gd name="connsiteX3" fmla="*/ 139065 w 1059180"/>
                  <a:gd name="connsiteY3" fmla="*/ 592455 h 1052778"/>
                  <a:gd name="connsiteX4" fmla="*/ 205740 w 1059180"/>
                  <a:gd name="connsiteY4" fmla="*/ 737235 h 1052778"/>
                  <a:gd name="connsiteX5" fmla="*/ 251460 w 1059180"/>
                  <a:gd name="connsiteY5" fmla="*/ 815340 h 1052778"/>
                  <a:gd name="connsiteX6" fmla="*/ 320040 w 1059180"/>
                  <a:gd name="connsiteY6" fmla="*/ 920115 h 1052778"/>
                  <a:gd name="connsiteX7" fmla="*/ 375285 w 1059180"/>
                  <a:gd name="connsiteY7" fmla="*/ 986790 h 1052778"/>
                  <a:gd name="connsiteX8" fmla="*/ 436245 w 1059180"/>
                  <a:gd name="connsiteY8" fmla="*/ 1032510 h 1052778"/>
                  <a:gd name="connsiteX9" fmla="*/ 521970 w 1059180"/>
                  <a:gd name="connsiteY9" fmla="*/ 1051560 h 1052778"/>
                  <a:gd name="connsiteX10" fmla="*/ 632460 w 1059180"/>
                  <a:gd name="connsiteY10" fmla="*/ 1000125 h 1052778"/>
                  <a:gd name="connsiteX11" fmla="*/ 701040 w 1059180"/>
                  <a:gd name="connsiteY11" fmla="*/ 908685 h 1052778"/>
                  <a:gd name="connsiteX12" fmla="*/ 777240 w 1059180"/>
                  <a:gd name="connsiteY12" fmla="*/ 788670 h 1052778"/>
                  <a:gd name="connsiteX13" fmla="*/ 838200 w 1059180"/>
                  <a:gd name="connsiteY13" fmla="*/ 659130 h 1052778"/>
                  <a:gd name="connsiteX14" fmla="*/ 901065 w 1059180"/>
                  <a:gd name="connsiteY14" fmla="*/ 514350 h 1052778"/>
                  <a:gd name="connsiteX15" fmla="*/ 941070 w 1059180"/>
                  <a:gd name="connsiteY15" fmla="*/ 398145 h 1052778"/>
                  <a:gd name="connsiteX16" fmla="*/ 975360 w 1059180"/>
                  <a:gd name="connsiteY16" fmla="*/ 274320 h 1052778"/>
                  <a:gd name="connsiteX17" fmla="*/ 1019175 w 1059180"/>
                  <a:gd name="connsiteY17" fmla="*/ 144780 h 1052778"/>
                  <a:gd name="connsiteX18" fmla="*/ 1059180 w 1059180"/>
                  <a:gd name="connsiteY18" fmla="*/ 0 h 1052778"/>
                  <a:gd name="connsiteX0" fmla="*/ 0 w 1059180"/>
                  <a:gd name="connsiteY0" fmla="*/ 160020 h 1052885"/>
                  <a:gd name="connsiteX1" fmla="*/ 36195 w 1059180"/>
                  <a:gd name="connsiteY1" fmla="*/ 278130 h 1052885"/>
                  <a:gd name="connsiteX2" fmla="*/ 85725 w 1059180"/>
                  <a:gd name="connsiteY2" fmla="*/ 436245 h 1052885"/>
                  <a:gd name="connsiteX3" fmla="*/ 139065 w 1059180"/>
                  <a:gd name="connsiteY3" fmla="*/ 592455 h 1052885"/>
                  <a:gd name="connsiteX4" fmla="*/ 205740 w 1059180"/>
                  <a:gd name="connsiteY4" fmla="*/ 737235 h 1052885"/>
                  <a:gd name="connsiteX5" fmla="*/ 251460 w 1059180"/>
                  <a:gd name="connsiteY5" fmla="*/ 815340 h 1052885"/>
                  <a:gd name="connsiteX6" fmla="*/ 320040 w 1059180"/>
                  <a:gd name="connsiteY6" fmla="*/ 920115 h 1052885"/>
                  <a:gd name="connsiteX7" fmla="*/ 375285 w 1059180"/>
                  <a:gd name="connsiteY7" fmla="*/ 986790 h 1052885"/>
                  <a:gd name="connsiteX8" fmla="*/ 436245 w 1059180"/>
                  <a:gd name="connsiteY8" fmla="*/ 1032510 h 1052885"/>
                  <a:gd name="connsiteX9" fmla="*/ 521970 w 1059180"/>
                  <a:gd name="connsiteY9" fmla="*/ 1051560 h 1052885"/>
                  <a:gd name="connsiteX10" fmla="*/ 626745 w 1059180"/>
                  <a:gd name="connsiteY10" fmla="*/ 998220 h 1052885"/>
                  <a:gd name="connsiteX11" fmla="*/ 701040 w 1059180"/>
                  <a:gd name="connsiteY11" fmla="*/ 908685 h 1052885"/>
                  <a:gd name="connsiteX12" fmla="*/ 777240 w 1059180"/>
                  <a:gd name="connsiteY12" fmla="*/ 788670 h 1052885"/>
                  <a:gd name="connsiteX13" fmla="*/ 838200 w 1059180"/>
                  <a:gd name="connsiteY13" fmla="*/ 659130 h 1052885"/>
                  <a:gd name="connsiteX14" fmla="*/ 901065 w 1059180"/>
                  <a:gd name="connsiteY14" fmla="*/ 514350 h 1052885"/>
                  <a:gd name="connsiteX15" fmla="*/ 941070 w 1059180"/>
                  <a:gd name="connsiteY15" fmla="*/ 398145 h 1052885"/>
                  <a:gd name="connsiteX16" fmla="*/ 975360 w 1059180"/>
                  <a:gd name="connsiteY16" fmla="*/ 274320 h 1052885"/>
                  <a:gd name="connsiteX17" fmla="*/ 1019175 w 1059180"/>
                  <a:gd name="connsiteY17" fmla="*/ 144780 h 1052885"/>
                  <a:gd name="connsiteX18" fmla="*/ 1059180 w 1059180"/>
                  <a:gd name="connsiteY18" fmla="*/ 0 h 1052885"/>
                  <a:gd name="connsiteX0" fmla="*/ 0 w 1059180"/>
                  <a:gd name="connsiteY0" fmla="*/ 160020 h 1052885"/>
                  <a:gd name="connsiteX1" fmla="*/ 36195 w 1059180"/>
                  <a:gd name="connsiteY1" fmla="*/ 278130 h 1052885"/>
                  <a:gd name="connsiteX2" fmla="*/ 85725 w 1059180"/>
                  <a:gd name="connsiteY2" fmla="*/ 436245 h 1052885"/>
                  <a:gd name="connsiteX3" fmla="*/ 139065 w 1059180"/>
                  <a:gd name="connsiteY3" fmla="*/ 592455 h 1052885"/>
                  <a:gd name="connsiteX4" fmla="*/ 205740 w 1059180"/>
                  <a:gd name="connsiteY4" fmla="*/ 737235 h 1052885"/>
                  <a:gd name="connsiteX5" fmla="*/ 251460 w 1059180"/>
                  <a:gd name="connsiteY5" fmla="*/ 815340 h 1052885"/>
                  <a:gd name="connsiteX6" fmla="*/ 320040 w 1059180"/>
                  <a:gd name="connsiteY6" fmla="*/ 920115 h 1052885"/>
                  <a:gd name="connsiteX7" fmla="*/ 375285 w 1059180"/>
                  <a:gd name="connsiteY7" fmla="*/ 986790 h 1052885"/>
                  <a:gd name="connsiteX8" fmla="*/ 436245 w 1059180"/>
                  <a:gd name="connsiteY8" fmla="*/ 1032510 h 1052885"/>
                  <a:gd name="connsiteX9" fmla="*/ 521970 w 1059180"/>
                  <a:gd name="connsiteY9" fmla="*/ 1051560 h 1052885"/>
                  <a:gd name="connsiteX10" fmla="*/ 626745 w 1059180"/>
                  <a:gd name="connsiteY10" fmla="*/ 998220 h 1052885"/>
                  <a:gd name="connsiteX11" fmla="*/ 701040 w 1059180"/>
                  <a:gd name="connsiteY11" fmla="*/ 908685 h 1052885"/>
                  <a:gd name="connsiteX12" fmla="*/ 777240 w 1059180"/>
                  <a:gd name="connsiteY12" fmla="*/ 788670 h 1052885"/>
                  <a:gd name="connsiteX13" fmla="*/ 838200 w 1059180"/>
                  <a:gd name="connsiteY13" fmla="*/ 659130 h 1052885"/>
                  <a:gd name="connsiteX14" fmla="*/ 901065 w 1059180"/>
                  <a:gd name="connsiteY14" fmla="*/ 514350 h 1052885"/>
                  <a:gd name="connsiteX15" fmla="*/ 941070 w 1059180"/>
                  <a:gd name="connsiteY15" fmla="*/ 398145 h 1052885"/>
                  <a:gd name="connsiteX16" fmla="*/ 1019175 w 1059180"/>
                  <a:gd name="connsiteY16" fmla="*/ 144780 h 1052885"/>
                  <a:gd name="connsiteX17" fmla="*/ 1059180 w 1059180"/>
                  <a:gd name="connsiteY17" fmla="*/ 0 h 1052885"/>
                  <a:gd name="connsiteX0" fmla="*/ 0 w 1059180"/>
                  <a:gd name="connsiteY0" fmla="*/ 160020 h 1052885"/>
                  <a:gd name="connsiteX1" fmla="*/ 36195 w 1059180"/>
                  <a:gd name="connsiteY1" fmla="*/ 278130 h 1052885"/>
                  <a:gd name="connsiteX2" fmla="*/ 85725 w 1059180"/>
                  <a:gd name="connsiteY2" fmla="*/ 436245 h 1052885"/>
                  <a:gd name="connsiteX3" fmla="*/ 139065 w 1059180"/>
                  <a:gd name="connsiteY3" fmla="*/ 592455 h 1052885"/>
                  <a:gd name="connsiteX4" fmla="*/ 205740 w 1059180"/>
                  <a:gd name="connsiteY4" fmla="*/ 737235 h 1052885"/>
                  <a:gd name="connsiteX5" fmla="*/ 251460 w 1059180"/>
                  <a:gd name="connsiteY5" fmla="*/ 815340 h 1052885"/>
                  <a:gd name="connsiteX6" fmla="*/ 320040 w 1059180"/>
                  <a:gd name="connsiteY6" fmla="*/ 920115 h 1052885"/>
                  <a:gd name="connsiteX7" fmla="*/ 375285 w 1059180"/>
                  <a:gd name="connsiteY7" fmla="*/ 986790 h 1052885"/>
                  <a:gd name="connsiteX8" fmla="*/ 436245 w 1059180"/>
                  <a:gd name="connsiteY8" fmla="*/ 1032510 h 1052885"/>
                  <a:gd name="connsiteX9" fmla="*/ 521970 w 1059180"/>
                  <a:gd name="connsiteY9" fmla="*/ 1051560 h 1052885"/>
                  <a:gd name="connsiteX10" fmla="*/ 626745 w 1059180"/>
                  <a:gd name="connsiteY10" fmla="*/ 998220 h 1052885"/>
                  <a:gd name="connsiteX11" fmla="*/ 701040 w 1059180"/>
                  <a:gd name="connsiteY11" fmla="*/ 908685 h 1052885"/>
                  <a:gd name="connsiteX12" fmla="*/ 777240 w 1059180"/>
                  <a:gd name="connsiteY12" fmla="*/ 788670 h 1052885"/>
                  <a:gd name="connsiteX13" fmla="*/ 838200 w 1059180"/>
                  <a:gd name="connsiteY13" fmla="*/ 659130 h 1052885"/>
                  <a:gd name="connsiteX14" fmla="*/ 941070 w 1059180"/>
                  <a:gd name="connsiteY14" fmla="*/ 398145 h 1052885"/>
                  <a:gd name="connsiteX15" fmla="*/ 1019175 w 1059180"/>
                  <a:gd name="connsiteY15" fmla="*/ 144780 h 1052885"/>
                  <a:gd name="connsiteX16" fmla="*/ 1059180 w 1059180"/>
                  <a:gd name="connsiteY16" fmla="*/ 0 h 1052885"/>
                  <a:gd name="connsiteX0" fmla="*/ 0 w 1059180"/>
                  <a:gd name="connsiteY0" fmla="*/ 160020 h 1052885"/>
                  <a:gd name="connsiteX1" fmla="*/ 85725 w 1059180"/>
                  <a:gd name="connsiteY1" fmla="*/ 436245 h 1052885"/>
                  <a:gd name="connsiteX2" fmla="*/ 139065 w 1059180"/>
                  <a:gd name="connsiteY2" fmla="*/ 592455 h 1052885"/>
                  <a:gd name="connsiteX3" fmla="*/ 205740 w 1059180"/>
                  <a:gd name="connsiteY3" fmla="*/ 737235 h 1052885"/>
                  <a:gd name="connsiteX4" fmla="*/ 251460 w 1059180"/>
                  <a:gd name="connsiteY4" fmla="*/ 815340 h 1052885"/>
                  <a:gd name="connsiteX5" fmla="*/ 320040 w 1059180"/>
                  <a:gd name="connsiteY5" fmla="*/ 920115 h 1052885"/>
                  <a:gd name="connsiteX6" fmla="*/ 375285 w 1059180"/>
                  <a:gd name="connsiteY6" fmla="*/ 986790 h 1052885"/>
                  <a:gd name="connsiteX7" fmla="*/ 436245 w 1059180"/>
                  <a:gd name="connsiteY7" fmla="*/ 1032510 h 1052885"/>
                  <a:gd name="connsiteX8" fmla="*/ 521970 w 1059180"/>
                  <a:gd name="connsiteY8" fmla="*/ 1051560 h 1052885"/>
                  <a:gd name="connsiteX9" fmla="*/ 626745 w 1059180"/>
                  <a:gd name="connsiteY9" fmla="*/ 998220 h 1052885"/>
                  <a:gd name="connsiteX10" fmla="*/ 701040 w 1059180"/>
                  <a:gd name="connsiteY10" fmla="*/ 908685 h 1052885"/>
                  <a:gd name="connsiteX11" fmla="*/ 777240 w 1059180"/>
                  <a:gd name="connsiteY11" fmla="*/ 788670 h 1052885"/>
                  <a:gd name="connsiteX12" fmla="*/ 838200 w 1059180"/>
                  <a:gd name="connsiteY12" fmla="*/ 659130 h 1052885"/>
                  <a:gd name="connsiteX13" fmla="*/ 941070 w 1059180"/>
                  <a:gd name="connsiteY13" fmla="*/ 398145 h 1052885"/>
                  <a:gd name="connsiteX14" fmla="*/ 1019175 w 1059180"/>
                  <a:gd name="connsiteY14" fmla="*/ 144780 h 1052885"/>
                  <a:gd name="connsiteX15" fmla="*/ 1059180 w 1059180"/>
                  <a:gd name="connsiteY15" fmla="*/ 0 h 1052885"/>
                  <a:gd name="connsiteX0" fmla="*/ 0 w 1059180"/>
                  <a:gd name="connsiteY0" fmla="*/ 160020 h 1052885"/>
                  <a:gd name="connsiteX1" fmla="*/ 85725 w 1059180"/>
                  <a:gd name="connsiteY1" fmla="*/ 436245 h 1052885"/>
                  <a:gd name="connsiteX2" fmla="*/ 139065 w 1059180"/>
                  <a:gd name="connsiteY2" fmla="*/ 592455 h 1052885"/>
                  <a:gd name="connsiteX3" fmla="*/ 205740 w 1059180"/>
                  <a:gd name="connsiteY3" fmla="*/ 737235 h 1052885"/>
                  <a:gd name="connsiteX4" fmla="*/ 320040 w 1059180"/>
                  <a:gd name="connsiteY4" fmla="*/ 920115 h 1052885"/>
                  <a:gd name="connsiteX5" fmla="*/ 375285 w 1059180"/>
                  <a:gd name="connsiteY5" fmla="*/ 986790 h 1052885"/>
                  <a:gd name="connsiteX6" fmla="*/ 436245 w 1059180"/>
                  <a:gd name="connsiteY6" fmla="*/ 1032510 h 1052885"/>
                  <a:gd name="connsiteX7" fmla="*/ 521970 w 1059180"/>
                  <a:gd name="connsiteY7" fmla="*/ 1051560 h 1052885"/>
                  <a:gd name="connsiteX8" fmla="*/ 626745 w 1059180"/>
                  <a:gd name="connsiteY8" fmla="*/ 998220 h 1052885"/>
                  <a:gd name="connsiteX9" fmla="*/ 701040 w 1059180"/>
                  <a:gd name="connsiteY9" fmla="*/ 908685 h 1052885"/>
                  <a:gd name="connsiteX10" fmla="*/ 777240 w 1059180"/>
                  <a:gd name="connsiteY10" fmla="*/ 788670 h 1052885"/>
                  <a:gd name="connsiteX11" fmla="*/ 838200 w 1059180"/>
                  <a:gd name="connsiteY11" fmla="*/ 659130 h 1052885"/>
                  <a:gd name="connsiteX12" fmla="*/ 941070 w 1059180"/>
                  <a:gd name="connsiteY12" fmla="*/ 398145 h 1052885"/>
                  <a:gd name="connsiteX13" fmla="*/ 1019175 w 1059180"/>
                  <a:gd name="connsiteY13" fmla="*/ 144780 h 1052885"/>
                  <a:gd name="connsiteX14" fmla="*/ 1059180 w 1059180"/>
                  <a:gd name="connsiteY14" fmla="*/ 0 h 1052885"/>
                  <a:gd name="connsiteX0" fmla="*/ 0 w 1059180"/>
                  <a:gd name="connsiteY0" fmla="*/ 160020 h 1054114"/>
                  <a:gd name="connsiteX1" fmla="*/ 85725 w 1059180"/>
                  <a:gd name="connsiteY1" fmla="*/ 436245 h 1054114"/>
                  <a:gd name="connsiteX2" fmla="*/ 139065 w 1059180"/>
                  <a:gd name="connsiteY2" fmla="*/ 592455 h 1054114"/>
                  <a:gd name="connsiteX3" fmla="*/ 205740 w 1059180"/>
                  <a:gd name="connsiteY3" fmla="*/ 737235 h 1054114"/>
                  <a:gd name="connsiteX4" fmla="*/ 320040 w 1059180"/>
                  <a:gd name="connsiteY4" fmla="*/ 920115 h 1054114"/>
                  <a:gd name="connsiteX5" fmla="*/ 436245 w 1059180"/>
                  <a:gd name="connsiteY5" fmla="*/ 1032510 h 1054114"/>
                  <a:gd name="connsiteX6" fmla="*/ 521970 w 1059180"/>
                  <a:gd name="connsiteY6" fmla="*/ 1051560 h 1054114"/>
                  <a:gd name="connsiteX7" fmla="*/ 626745 w 1059180"/>
                  <a:gd name="connsiteY7" fmla="*/ 998220 h 1054114"/>
                  <a:gd name="connsiteX8" fmla="*/ 701040 w 1059180"/>
                  <a:gd name="connsiteY8" fmla="*/ 908685 h 1054114"/>
                  <a:gd name="connsiteX9" fmla="*/ 777240 w 1059180"/>
                  <a:gd name="connsiteY9" fmla="*/ 788670 h 1054114"/>
                  <a:gd name="connsiteX10" fmla="*/ 838200 w 1059180"/>
                  <a:gd name="connsiteY10" fmla="*/ 659130 h 1054114"/>
                  <a:gd name="connsiteX11" fmla="*/ 941070 w 1059180"/>
                  <a:gd name="connsiteY11" fmla="*/ 398145 h 1054114"/>
                  <a:gd name="connsiteX12" fmla="*/ 1019175 w 1059180"/>
                  <a:gd name="connsiteY12" fmla="*/ 144780 h 1054114"/>
                  <a:gd name="connsiteX13" fmla="*/ 1059180 w 1059180"/>
                  <a:gd name="connsiteY13" fmla="*/ 0 h 1054114"/>
                  <a:gd name="connsiteX0" fmla="*/ 0 w 1059180"/>
                  <a:gd name="connsiteY0" fmla="*/ 160020 h 1051073"/>
                  <a:gd name="connsiteX1" fmla="*/ 85725 w 1059180"/>
                  <a:gd name="connsiteY1" fmla="*/ 436245 h 1051073"/>
                  <a:gd name="connsiteX2" fmla="*/ 139065 w 1059180"/>
                  <a:gd name="connsiteY2" fmla="*/ 592455 h 1051073"/>
                  <a:gd name="connsiteX3" fmla="*/ 205740 w 1059180"/>
                  <a:gd name="connsiteY3" fmla="*/ 737235 h 1051073"/>
                  <a:gd name="connsiteX4" fmla="*/ 320040 w 1059180"/>
                  <a:gd name="connsiteY4" fmla="*/ 920115 h 1051073"/>
                  <a:gd name="connsiteX5" fmla="*/ 436245 w 1059180"/>
                  <a:gd name="connsiteY5" fmla="*/ 1032510 h 1051073"/>
                  <a:gd name="connsiteX6" fmla="*/ 539115 w 1059180"/>
                  <a:gd name="connsiteY6" fmla="*/ 1047750 h 1051073"/>
                  <a:gd name="connsiteX7" fmla="*/ 626745 w 1059180"/>
                  <a:gd name="connsiteY7" fmla="*/ 998220 h 1051073"/>
                  <a:gd name="connsiteX8" fmla="*/ 701040 w 1059180"/>
                  <a:gd name="connsiteY8" fmla="*/ 908685 h 1051073"/>
                  <a:gd name="connsiteX9" fmla="*/ 777240 w 1059180"/>
                  <a:gd name="connsiteY9" fmla="*/ 788670 h 1051073"/>
                  <a:gd name="connsiteX10" fmla="*/ 838200 w 1059180"/>
                  <a:gd name="connsiteY10" fmla="*/ 659130 h 1051073"/>
                  <a:gd name="connsiteX11" fmla="*/ 941070 w 1059180"/>
                  <a:gd name="connsiteY11" fmla="*/ 398145 h 1051073"/>
                  <a:gd name="connsiteX12" fmla="*/ 1019175 w 1059180"/>
                  <a:gd name="connsiteY12" fmla="*/ 144780 h 1051073"/>
                  <a:gd name="connsiteX13" fmla="*/ 1059180 w 1059180"/>
                  <a:gd name="connsiteY13" fmla="*/ 0 h 1051073"/>
                  <a:gd name="connsiteX0" fmla="*/ 0 w 1059180"/>
                  <a:gd name="connsiteY0" fmla="*/ 160020 h 1057701"/>
                  <a:gd name="connsiteX1" fmla="*/ 85725 w 1059180"/>
                  <a:gd name="connsiteY1" fmla="*/ 436245 h 1057701"/>
                  <a:gd name="connsiteX2" fmla="*/ 139065 w 1059180"/>
                  <a:gd name="connsiteY2" fmla="*/ 592455 h 1057701"/>
                  <a:gd name="connsiteX3" fmla="*/ 205740 w 1059180"/>
                  <a:gd name="connsiteY3" fmla="*/ 737235 h 1057701"/>
                  <a:gd name="connsiteX4" fmla="*/ 320040 w 1059180"/>
                  <a:gd name="connsiteY4" fmla="*/ 920115 h 1057701"/>
                  <a:gd name="connsiteX5" fmla="*/ 436245 w 1059180"/>
                  <a:gd name="connsiteY5" fmla="*/ 1032510 h 1057701"/>
                  <a:gd name="connsiteX6" fmla="*/ 539115 w 1059180"/>
                  <a:gd name="connsiteY6" fmla="*/ 1047750 h 1057701"/>
                  <a:gd name="connsiteX7" fmla="*/ 701040 w 1059180"/>
                  <a:gd name="connsiteY7" fmla="*/ 908685 h 1057701"/>
                  <a:gd name="connsiteX8" fmla="*/ 777240 w 1059180"/>
                  <a:gd name="connsiteY8" fmla="*/ 788670 h 1057701"/>
                  <a:gd name="connsiteX9" fmla="*/ 838200 w 1059180"/>
                  <a:gd name="connsiteY9" fmla="*/ 659130 h 1057701"/>
                  <a:gd name="connsiteX10" fmla="*/ 941070 w 1059180"/>
                  <a:gd name="connsiteY10" fmla="*/ 398145 h 1057701"/>
                  <a:gd name="connsiteX11" fmla="*/ 1019175 w 1059180"/>
                  <a:gd name="connsiteY11" fmla="*/ 144780 h 1057701"/>
                  <a:gd name="connsiteX12" fmla="*/ 1059180 w 1059180"/>
                  <a:gd name="connsiteY12" fmla="*/ 0 h 1057701"/>
                  <a:gd name="connsiteX0" fmla="*/ 0 w 1059180"/>
                  <a:gd name="connsiteY0" fmla="*/ 160020 h 1049600"/>
                  <a:gd name="connsiteX1" fmla="*/ 85725 w 1059180"/>
                  <a:gd name="connsiteY1" fmla="*/ 436245 h 1049600"/>
                  <a:gd name="connsiteX2" fmla="*/ 139065 w 1059180"/>
                  <a:gd name="connsiteY2" fmla="*/ 592455 h 1049600"/>
                  <a:gd name="connsiteX3" fmla="*/ 205740 w 1059180"/>
                  <a:gd name="connsiteY3" fmla="*/ 737235 h 1049600"/>
                  <a:gd name="connsiteX4" fmla="*/ 320040 w 1059180"/>
                  <a:gd name="connsiteY4" fmla="*/ 920115 h 1049600"/>
                  <a:gd name="connsiteX5" fmla="*/ 436245 w 1059180"/>
                  <a:gd name="connsiteY5" fmla="*/ 1032510 h 1049600"/>
                  <a:gd name="connsiteX6" fmla="*/ 567690 w 1059180"/>
                  <a:gd name="connsiteY6" fmla="*/ 1036320 h 1049600"/>
                  <a:gd name="connsiteX7" fmla="*/ 701040 w 1059180"/>
                  <a:gd name="connsiteY7" fmla="*/ 908685 h 1049600"/>
                  <a:gd name="connsiteX8" fmla="*/ 777240 w 1059180"/>
                  <a:gd name="connsiteY8" fmla="*/ 788670 h 1049600"/>
                  <a:gd name="connsiteX9" fmla="*/ 838200 w 1059180"/>
                  <a:gd name="connsiteY9" fmla="*/ 659130 h 1049600"/>
                  <a:gd name="connsiteX10" fmla="*/ 941070 w 1059180"/>
                  <a:gd name="connsiteY10" fmla="*/ 398145 h 1049600"/>
                  <a:gd name="connsiteX11" fmla="*/ 1019175 w 1059180"/>
                  <a:gd name="connsiteY11" fmla="*/ 144780 h 1049600"/>
                  <a:gd name="connsiteX12" fmla="*/ 1059180 w 1059180"/>
                  <a:gd name="connsiteY12" fmla="*/ 0 h 1049600"/>
                  <a:gd name="connsiteX0" fmla="*/ 0 w 1059180"/>
                  <a:gd name="connsiteY0" fmla="*/ 160020 h 1049600"/>
                  <a:gd name="connsiteX1" fmla="*/ 85725 w 1059180"/>
                  <a:gd name="connsiteY1" fmla="*/ 436245 h 1049600"/>
                  <a:gd name="connsiteX2" fmla="*/ 139065 w 1059180"/>
                  <a:gd name="connsiteY2" fmla="*/ 592455 h 1049600"/>
                  <a:gd name="connsiteX3" fmla="*/ 205740 w 1059180"/>
                  <a:gd name="connsiteY3" fmla="*/ 737235 h 1049600"/>
                  <a:gd name="connsiteX4" fmla="*/ 320040 w 1059180"/>
                  <a:gd name="connsiteY4" fmla="*/ 920115 h 1049600"/>
                  <a:gd name="connsiteX5" fmla="*/ 436245 w 1059180"/>
                  <a:gd name="connsiteY5" fmla="*/ 1032510 h 1049600"/>
                  <a:gd name="connsiteX6" fmla="*/ 567690 w 1059180"/>
                  <a:gd name="connsiteY6" fmla="*/ 1036320 h 1049600"/>
                  <a:gd name="connsiteX7" fmla="*/ 699135 w 1059180"/>
                  <a:gd name="connsiteY7" fmla="*/ 908685 h 1049600"/>
                  <a:gd name="connsiteX8" fmla="*/ 777240 w 1059180"/>
                  <a:gd name="connsiteY8" fmla="*/ 788670 h 1049600"/>
                  <a:gd name="connsiteX9" fmla="*/ 838200 w 1059180"/>
                  <a:gd name="connsiteY9" fmla="*/ 659130 h 1049600"/>
                  <a:gd name="connsiteX10" fmla="*/ 941070 w 1059180"/>
                  <a:gd name="connsiteY10" fmla="*/ 398145 h 1049600"/>
                  <a:gd name="connsiteX11" fmla="*/ 1019175 w 1059180"/>
                  <a:gd name="connsiteY11" fmla="*/ 144780 h 1049600"/>
                  <a:gd name="connsiteX12" fmla="*/ 1059180 w 1059180"/>
                  <a:gd name="connsiteY12" fmla="*/ 0 h 1049600"/>
                  <a:gd name="connsiteX0" fmla="*/ 0 w 1059180"/>
                  <a:gd name="connsiteY0" fmla="*/ 160020 h 1049600"/>
                  <a:gd name="connsiteX1" fmla="*/ 85725 w 1059180"/>
                  <a:gd name="connsiteY1" fmla="*/ 436245 h 1049600"/>
                  <a:gd name="connsiteX2" fmla="*/ 139065 w 1059180"/>
                  <a:gd name="connsiteY2" fmla="*/ 592455 h 1049600"/>
                  <a:gd name="connsiteX3" fmla="*/ 205740 w 1059180"/>
                  <a:gd name="connsiteY3" fmla="*/ 737235 h 1049600"/>
                  <a:gd name="connsiteX4" fmla="*/ 320040 w 1059180"/>
                  <a:gd name="connsiteY4" fmla="*/ 920115 h 1049600"/>
                  <a:gd name="connsiteX5" fmla="*/ 436245 w 1059180"/>
                  <a:gd name="connsiteY5" fmla="*/ 1032510 h 1049600"/>
                  <a:gd name="connsiteX6" fmla="*/ 567690 w 1059180"/>
                  <a:gd name="connsiteY6" fmla="*/ 1036320 h 1049600"/>
                  <a:gd name="connsiteX7" fmla="*/ 699135 w 1059180"/>
                  <a:gd name="connsiteY7" fmla="*/ 908685 h 1049600"/>
                  <a:gd name="connsiteX8" fmla="*/ 838200 w 1059180"/>
                  <a:gd name="connsiteY8" fmla="*/ 659130 h 1049600"/>
                  <a:gd name="connsiteX9" fmla="*/ 941070 w 1059180"/>
                  <a:gd name="connsiteY9" fmla="*/ 398145 h 1049600"/>
                  <a:gd name="connsiteX10" fmla="*/ 1019175 w 1059180"/>
                  <a:gd name="connsiteY10" fmla="*/ 144780 h 1049600"/>
                  <a:gd name="connsiteX11" fmla="*/ 1059180 w 1059180"/>
                  <a:gd name="connsiteY11" fmla="*/ 0 h 1049600"/>
                  <a:gd name="connsiteX0" fmla="*/ 0 w 1059180"/>
                  <a:gd name="connsiteY0" fmla="*/ 160020 h 1046330"/>
                  <a:gd name="connsiteX1" fmla="*/ 85725 w 1059180"/>
                  <a:gd name="connsiteY1" fmla="*/ 436245 h 1046330"/>
                  <a:gd name="connsiteX2" fmla="*/ 139065 w 1059180"/>
                  <a:gd name="connsiteY2" fmla="*/ 592455 h 1046330"/>
                  <a:gd name="connsiteX3" fmla="*/ 205740 w 1059180"/>
                  <a:gd name="connsiteY3" fmla="*/ 737235 h 1046330"/>
                  <a:gd name="connsiteX4" fmla="*/ 320040 w 1059180"/>
                  <a:gd name="connsiteY4" fmla="*/ 920115 h 1046330"/>
                  <a:gd name="connsiteX5" fmla="*/ 432435 w 1059180"/>
                  <a:gd name="connsiteY5" fmla="*/ 1024890 h 1046330"/>
                  <a:gd name="connsiteX6" fmla="*/ 567690 w 1059180"/>
                  <a:gd name="connsiteY6" fmla="*/ 1036320 h 1046330"/>
                  <a:gd name="connsiteX7" fmla="*/ 699135 w 1059180"/>
                  <a:gd name="connsiteY7" fmla="*/ 908685 h 1046330"/>
                  <a:gd name="connsiteX8" fmla="*/ 838200 w 1059180"/>
                  <a:gd name="connsiteY8" fmla="*/ 659130 h 1046330"/>
                  <a:gd name="connsiteX9" fmla="*/ 941070 w 1059180"/>
                  <a:gd name="connsiteY9" fmla="*/ 398145 h 1046330"/>
                  <a:gd name="connsiteX10" fmla="*/ 1019175 w 1059180"/>
                  <a:gd name="connsiteY10" fmla="*/ 144780 h 1046330"/>
                  <a:gd name="connsiteX11" fmla="*/ 1059180 w 1059180"/>
                  <a:gd name="connsiteY11" fmla="*/ 0 h 1046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9180" h="1046330">
                    <a:moveTo>
                      <a:pt x="0" y="160020"/>
                    </a:moveTo>
                    <a:cubicBezTo>
                      <a:pt x="17860" y="217567"/>
                      <a:pt x="62548" y="364173"/>
                      <a:pt x="85725" y="436245"/>
                    </a:cubicBezTo>
                    <a:cubicBezTo>
                      <a:pt x="108902" y="508317"/>
                      <a:pt x="119063" y="542290"/>
                      <a:pt x="139065" y="592455"/>
                    </a:cubicBezTo>
                    <a:cubicBezTo>
                      <a:pt x="159067" y="642620"/>
                      <a:pt x="175578" y="682625"/>
                      <a:pt x="205740" y="737235"/>
                    </a:cubicBezTo>
                    <a:cubicBezTo>
                      <a:pt x="235903" y="791845"/>
                      <a:pt x="282258" y="872173"/>
                      <a:pt x="320040" y="920115"/>
                    </a:cubicBezTo>
                    <a:cubicBezTo>
                      <a:pt x="357823" y="968058"/>
                      <a:pt x="391160" y="1005523"/>
                      <a:pt x="432435" y="1024890"/>
                    </a:cubicBezTo>
                    <a:cubicBezTo>
                      <a:pt x="473710" y="1044258"/>
                      <a:pt x="523240" y="1055688"/>
                      <a:pt x="567690" y="1036320"/>
                    </a:cubicBezTo>
                    <a:cubicBezTo>
                      <a:pt x="612140" y="1016953"/>
                      <a:pt x="654050" y="971550"/>
                      <a:pt x="699135" y="908685"/>
                    </a:cubicBezTo>
                    <a:cubicBezTo>
                      <a:pt x="744220" y="845820"/>
                      <a:pt x="797878" y="744220"/>
                      <a:pt x="838200" y="659130"/>
                    </a:cubicBezTo>
                    <a:cubicBezTo>
                      <a:pt x="865505" y="594043"/>
                      <a:pt x="910908" y="483870"/>
                      <a:pt x="941070" y="398145"/>
                    </a:cubicBezTo>
                    <a:cubicBezTo>
                      <a:pt x="960755" y="336550"/>
                      <a:pt x="999490" y="211138"/>
                      <a:pt x="1019175" y="144780"/>
                    </a:cubicBezTo>
                    <a:cubicBezTo>
                      <a:pt x="1033145" y="99060"/>
                      <a:pt x="1052513" y="9525"/>
                      <a:pt x="1059180" y="0"/>
                    </a:cubicBezTo>
                  </a:path>
                </a:pathLst>
              </a:custGeom>
              <a:no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3" name="타원 112">
                <a:extLst>
                  <a:ext uri="{FF2B5EF4-FFF2-40B4-BE49-F238E27FC236}">
                    <a16:creationId xmlns:a16="http://schemas.microsoft.com/office/drawing/2014/main" id="{41B9C743-E348-4908-8376-5DC784AC7417}"/>
                  </a:ext>
                </a:extLst>
              </p:cNvPr>
              <p:cNvSpPr/>
              <p:nvPr/>
            </p:nvSpPr>
            <p:spPr>
              <a:xfrm>
                <a:off x="3208020" y="24836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4" name="타원 113">
                <a:extLst>
                  <a:ext uri="{FF2B5EF4-FFF2-40B4-BE49-F238E27FC236}">
                    <a16:creationId xmlns:a16="http://schemas.microsoft.com/office/drawing/2014/main" id="{C7D6C599-1452-40BE-A234-63F35190DF6E}"/>
                  </a:ext>
                </a:extLst>
              </p:cNvPr>
              <p:cNvSpPr/>
              <p:nvPr/>
            </p:nvSpPr>
            <p:spPr>
              <a:xfrm>
                <a:off x="3267075" y="24074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5" name="타원 114">
                <a:extLst>
                  <a:ext uri="{FF2B5EF4-FFF2-40B4-BE49-F238E27FC236}">
                    <a16:creationId xmlns:a16="http://schemas.microsoft.com/office/drawing/2014/main" id="{FFFE9D2C-DF5D-4B53-858B-A8661F5DBC73}"/>
                  </a:ext>
                </a:extLst>
              </p:cNvPr>
              <p:cNvSpPr/>
              <p:nvPr/>
            </p:nvSpPr>
            <p:spPr>
              <a:xfrm>
                <a:off x="3320415" y="235985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6" name="타원 115">
                <a:extLst>
                  <a:ext uri="{FF2B5EF4-FFF2-40B4-BE49-F238E27FC236}">
                    <a16:creationId xmlns:a16="http://schemas.microsoft.com/office/drawing/2014/main" id="{21CB6B99-8E3F-4DD1-9052-5579A008E64E}"/>
                  </a:ext>
                </a:extLst>
              </p:cNvPr>
              <p:cNvSpPr/>
              <p:nvPr/>
            </p:nvSpPr>
            <p:spPr>
              <a:xfrm>
                <a:off x="3343275" y="236366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타원 116">
                <a:extLst>
                  <a:ext uri="{FF2B5EF4-FFF2-40B4-BE49-F238E27FC236}">
                    <a16:creationId xmlns:a16="http://schemas.microsoft.com/office/drawing/2014/main" id="{5E523252-FA9E-484E-8FBF-239CCE99F1D2}"/>
                  </a:ext>
                </a:extLst>
              </p:cNvPr>
              <p:cNvSpPr/>
              <p:nvPr/>
            </p:nvSpPr>
            <p:spPr>
              <a:xfrm>
                <a:off x="3413760" y="256178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8" name="타원 117">
                <a:extLst>
                  <a:ext uri="{FF2B5EF4-FFF2-40B4-BE49-F238E27FC236}">
                    <a16:creationId xmlns:a16="http://schemas.microsoft.com/office/drawing/2014/main" id="{8D4F3E2E-45B1-419C-9769-4BB02AAAC258}"/>
                  </a:ext>
                </a:extLst>
              </p:cNvPr>
              <p:cNvSpPr/>
              <p:nvPr/>
            </p:nvSpPr>
            <p:spPr>
              <a:xfrm>
                <a:off x="3448050" y="264560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9" name="타원 118">
                <a:extLst>
                  <a:ext uri="{FF2B5EF4-FFF2-40B4-BE49-F238E27FC236}">
                    <a16:creationId xmlns:a16="http://schemas.microsoft.com/office/drawing/2014/main" id="{23D8C20C-1DF5-4B37-9E48-DA9004C1CEC4}"/>
                  </a:ext>
                </a:extLst>
              </p:cNvPr>
              <p:cNvSpPr/>
              <p:nvPr/>
            </p:nvSpPr>
            <p:spPr>
              <a:xfrm>
                <a:off x="3484245" y="27541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타원 119">
                <a:extLst>
                  <a:ext uri="{FF2B5EF4-FFF2-40B4-BE49-F238E27FC236}">
                    <a16:creationId xmlns:a16="http://schemas.microsoft.com/office/drawing/2014/main" id="{D951F036-9AF3-41AF-B8A2-1BE8C5FE750B}"/>
                  </a:ext>
                </a:extLst>
              </p:cNvPr>
              <p:cNvSpPr/>
              <p:nvPr/>
            </p:nvSpPr>
            <p:spPr>
              <a:xfrm>
                <a:off x="3979545" y="23350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타원 120">
                <a:extLst>
                  <a:ext uri="{FF2B5EF4-FFF2-40B4-BE49-F238E27FC236}">
                    <a16:creationId xmlns:a16="http://schemas.microsoft.com/office/drawing/2014/main" id="{EA97A817-F742-4F6A-B4B1-F4F245E89190}"/>
                  </a:ext>
                </a:extLst>
              </p:cNvPr>
              <p:cNvSpPr/>
              <p:nvPr/>
            </p:nvSpPr>
            <p:spPr>
              <a:xfrm>
                <a:off x="4048125" y="233699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타원 121">
                <a:extLst>
                  <a:ext uri="{FF2B5EF4-FFF2-40B4-BE49-F238E27FC236}">
                    <a16:creationId xmlns:a16="http://schemas.microsoft.com/office/drawing/2014/main" id="{A050C55C-2396-45A8-879E-62144B607FDD}"/>
                  </a:ext>
                </a:extLst>
              </p:cNvPr>
              <p:cNvSpPr/>
              <p:nvPr/>
            </p:nvSpPr>
            <p:spPr>
              <a:xfrm>
                <a:off x="4051935" y="239605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타원 122">
                <a:extLst>
                  <a:ext uri="{FF2B5EF4-FFF2-40B4-BE49-F238E27FC236}">
                    <a16:creationId xmlns:a16="http://schemas.microsoft.com/office/drawing/2014/main" id="{72D8A4C6-13F9-4823-8182-47017E544BA1}"/>
                  </a:ext>
                </a:extLst>
              </p:cNvPr>
              <p:cNvSpPr/>
              <p:nvPr/>
            </p:nvSpPr>
            <p:spPr>
              <a:xfrm>
                <a:off x="3798570" y="291230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타원 123">
                <a:extLst>
                  <a:ext uri="{FF2B5EF4-FFF2-40B4-BE49-F238E27FC236}">
                    <a16:creationId xmlns:a16="http://schemas.microsoft.com/office/drawing/2014/main" id="{99802217-6F21-407C-8F2B-1E7DC7A9CC20}"/>
                  </a:ext>
                </a:extLst>
              </p:cNvPr>
              <p:cNvSpPr/>
              <p:nvPr/>
            </p:nvSpPr>
            <p:spPr>
              <a:xfrm>
                <a:off x="3798570" y="293707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5" name="타원 124">
                <a:extLst>
                  <a:ext uri="{FF2B5EF4-FFF2-40B4-BE49-F238E27FC236}">
                    <a16:creationId xmlns:a16="http://schemas.microsoft.com/office/drawing/2014/main" id="{7E06CC22-118E-4AAD-BDA2-E56484B36259}"/>
                  </a:ext>
                </a:extLst>
              </p:cNvPr>
              <p:cNvSpPr/>
              <p:nvPr/>
            </p:nvSpPr>
            <p:spPr>
              <a:xfrm>
                <a:off x="3699510" y="30589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6" name="타원 125">
                <a:extLst>
                  <a:ext uri="{FF2B5EF4-FFF2-40B4-BE49-F238E27FC236}">
                    <a16:creationId xmlns:a16="http://schemas.microsoft.com/office/drawing/2014/main" id="{004A68E3-0244-4F0B-9E9E-6B41F4105146}"/>
                  </a:ext>
                </a:extLst>
              </p:cNvPr>
              <p:cNvSpPr/>
              <p:nvPr/>
            </p:nvSpPr>
            <p:spPr>
              <a:xfrm>
                <a:off x="3581400" y="30856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7" name="타원 126">
                <a:extLst>
                  <a:ext uri="{FF2B5EF4-FFF2-40B4-BE49-F238E27FC236}">
                    <a16:creationId xmlns:a16="http://schemas.microsoft.com/office/drawing/2014/main" id="{1C2CB4C1-08A7-4382-99E9-B229206EBBFA}"/>
                  </a:ext>
                </a:extLst>
              </p:cNvPr>
              <p:cNvSpPr/>
              <p:nvPr/>
            </p:nvSpPr>
            <p:spPr>
              <a:xfrm>
                <a:off x="3600450" y="314281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8" name="타원 127">
                <a:extLst>
                  <a:ext uri="{FF2B5EF4-FFF2-40B4-BE49-F238E27FC236}">
                    <a16:creationId xmlns:a16="http://schemas.microsoft.com/office/drawing/2014/main" id="{2C08EE44-9BCC-483D-AB88-72E08FA1C2D8}"/>
                  </a:ext>
                </a:extLst>
              </p:cNvPr>
              <p:cNvSpPr/>
              <p:nvPr/>
            </p:nvSpPr>
            <p:spPr>
              <a:xfrm>
                <a:off x="3602355" y="315233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9" name="타원 128">
                <a:extLst>
                  <a:ext uri="{FF2B5EF4-FFF2-40B4-BE49-F238E27FC236}">
                    <a16:creationId xmlns:a16="http://schemas.microsoft.com/office/drawing/2014/main" id="{2698759D-6154-4D7B-93D8-BC5AA9EB8A10}"/>
                  </a:ext>
                </a:extLst>
              </p:cNvPr>
              <p:cNvSpPr/>
              <p:nvPr/>
            </p:nvSpPr>
            <p:spPr>
              <a:xfrm>
                <a:off x="3663315" y="317138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0" name="타원 129">
                <a:extLst>
                  <a:ext uri="{FF2B5EF4-FFF2-40B4-BE49-F238E27FC236}">
                    <a16:creationId xmlns:a16="http://schemas.microsoft.com/office/drawing/2014/main" id="{A71F58F7-D195-4D58-AFD1-4896308111BA}"/>
                  </a:ext>
                </a:extLst>
              </p:cNvPr>
              <p:cNvSpPr/>
              <p:nvPr/>
            </p:nvSpPr>
            <p:spPr>
              <a:xfrm>
                <a:off x="3682365" y="317138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1" name="타원 130">
                <a:extLst>
                  <a:ext uri="{FF2B5EF4-FFF2-40B4-BE49-F238E27FC236}">
                    <a16:creationId xmlns:a16="http://schemas.microsoft.com/office/drawing/2014/main" id="{4CFE33E8-CDF7-43B0-BB04-70FF38BD9131}"/>
                  </a:ext>
                </a:extLst>
              </p:cNvPr>
              <p:cNvSpPr/>
              <p:nvPr/>
            </p:nvSpPr>
            <p:spPr>
              <a:xfrm>
                <a:off x="3726180" y="321901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3" name="그룹 12">
              <a:extLst>
                <a:ext uri="{FF2B5EF4-FFF2-40B4-BE49-F238E27FC236}">
                  <a16:creationId xmlns:a16="http://schemas.microsoft.com/office/drawing/2014/main" id="{76842242-570C-4692-B7D1-3236B4C84B1B}"/>
                </a:ext>
              </a:extLst>
            </p:cNvPr>
            <p:cNvGrpSpPr/>
            <p:nvPr/>
          </p:nvGrpSpPr>
          <p:grpSpPr>
            <a:xfrm>
              <a:off x="4455160" y="1968500"/>
              <a:ext cx="957580" cy="1292720"/>
              <a:chOff x="4455160" y="1968500"/>
              <a:chExt cx="957580" cy="1292720"/>
            </a:xfrm>
          </p:grpSpPr>
          <p:sp>
            <p:nvSpPr>
              <p:cNvPr id="90" name="타원 89">
                <a:extLst>
                  <a:ext uri="{FF2B5EF4-FFF2-40B4-BE49-F238E27FC236}">
                    <a16:creationId xmlns:a16="http://schemas.microsoft.com/office/drawing/2014/main" id="{BE741237-03AE-49FE-BBB3-F746352D99A3}"/>
                  </a:ext>
                </a:extLst>
              </p:cNvPr>
              <p:cNvSpPr/>
              <p:nvPr/>
            </p:nvSpPr>
            <p:spPr>
              <a:xfrm>
                <a:off x="4466024" y="26871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1" name="자유형: 도형 90">
                <a:extLst>
                  <a:ext uri="{FF2B5EF4-FFF2-40B4-BE49-F238E27FC236}">
                    <a16:creationId xmlns:a16="http://schemas.microsoft.com/office/drawing/2014/main" id="{BA42D03A-7F5F-4DF2-A3E6-E8C0931F0595}"/>
                  </a:ext>
                </a:extLst>
              </p:cNvPr>
              <p:cNvSpPr/>
              <p:nvPr/>
            </p:nvSpPr>
            <p:spPr>
              <a:xfrm>
                <a:off x="4455160" y="1968500"/>
                <a:ext cx="957580" cy="1177719"/>
              </a:xfrm>
              <a:custGeom>
                <a:avLst/>
                <a:gdLst>
                  <a:gd name="connsiteX0" fmla="*/ 0 w 957580"/>
                  <a:gd name="connsiteY0" fmla="*/ 627380 h 1177719"/>
                  <a:gd name="connsiteX1" fmla="*/ 60960 w 957580"/>
                  <a:gd name="connsiteY1" fmla="*/ 538480 h 1177719"/>
                  <a:gd name="connsiteX2" fmla="*/ 132080 w 957580"/>
                  <a:gd name="connsiteY2" fmla="*/ 515620 h 1177719"/>
                  <a:gd name="connsiteX3" fmla="*/ 193040 w 957580"/>
                  <a:gd name="connsiteY3" fmla="*/ 546100 h 1177719"/>
                  <a:gd name="connsiteX4" fmla="*/ 276860 w 957580"/>
                  <a:gd name="connsiteY4" fmla="*/ 660400 h 1177719"/>
                  <a:gd name="connsiteX5" fmla="*/ 500380 w 957580"/>
                  <a:gd name="connsiteY5" fmla="*/ 1079500 h 1177719"/>
                  <a:gd name="connsiteX6" fmla="*/ 647700 w 957580"/>
                  <a:gd name="connsiteY6" fmla="*/ 1176020 h 1177719"/>
                  <a:gd name="connsiteX7" fmla="*/ 762000 w 957580"/>
                  <a:gd name="connsiteY7" fmla="*/ 1031240 h 1177719"/>
                  <a:gd name="connsiteX8" fmla="*/ 858520 w 957580"/>
                  <a:gd name="connsiteY8" fmla="*/ 680720 h 1177719"/>
                  <a:gd name="connsiteX9" fmla="*/ 957580 w 957580"/>
                  <a:gd name="connsiteY9" fmla="*/ 0 h 1177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7580" h="1177719">
                    <a:moveTo>
                      <a:pt x="0" y="627380"/>
                    </a:moveTo>
                    <a:cubicBezTo>
                      <a:pt x="19473" y="592243"/>
                      <a:pt x="38947" y="557107"/>
                      <a:pt x="60960" y="538480"/>
                    </a:cubicBezTo>
                    <a:cubicBezTo>
                      <a:pt x="82973" y="519853"/>
                      <a:pt x="110067" y="514350"/>
                      <a:pt x="132080" y="515620"/>
                    </a:cubicBezTo>
                    <a:cubicBezTo>
                      <a:pt x="154093" y="516890"/>
                      <a:pt x="168910" y="521970"/>
                      <a:pt x="193040" y="546100"/>
                    </a:cubicBezTo>
                    <a:cubicBezTo>
                      <a:pt x="217170" y="570230"/>
                      <a:pt x="225637" y="571500"/>
                      <a:pt x="276860" y="660400"/>
                    </a:cubicBezTo>
                    <a:cubicBezTo>
                      <a:pt x="328083" y="749300"/>
                      <a:pt x="438573" y="993563"/>
                      <a:pt x="500380" y="1079500"/>
                    </a:cubicBezTo>
                    <a:cubicBezTo>
                      <a:pt x="562187" y="1165437"/>
                      <a:pt x="604097" y="1184063"/>
                      <a:pt x="647700" y="1176020"/>
                    </a:cubicBezTo>
                    <a:cubicBezTo>
                      <a:pt x="691303" y="1167977"/>
                      <a:pt x="726863" y="1113790"/>
                      <a:pt x="762000" y="1031240"/>
                    </a:cubicBezTo>
                    <a:cubicBezTo>
                      <a:pt x="797137" y="948690"/>
                      <a:pt x="825923" y="852593"/>
                      <a:pt x="858520" y="680720"/>
                    </a:cubicBezTo>
                    <a:cubicBezTo>
                      <a:pt x="891117" y="508847"/>
                      <a:pt x="924348" y="254423"/>
                      <a:pt x="957580" y="0"/>
                    </a:cubicBezTo>
                  </a:path>
                </a:pathLst>
              </a:custGeom>
              <a:no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a:extLst>
                  <a:ext uri="{FF2B5EF4-FFF2-40B4-BE49-F238E27FC236}">
                    <a16:creationId xmlns:a16="http://schemas.microsoft.com/office/drawing/2014/main" id="{06A86FAD-2F09-4AE8-946E-9F6C2C21F7F1}"/>
                  </a:ext>
                </a:extLst>
              </p:cNvPr>
              <p:cNvSpPr/>
              <p:nvPr/>
            </p:nvSpPr>
            <p:spPr>
              <a:xfrm>
                <a:off x="4521904" y="24788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a:extLst>
                  <a:ext uri="{FF2B5EF4-FFF2-40B4-BE49-F238E27FC236}">
                    <a16:creationId xmlns:a16="http://schemas.microsoft.com/office/drawing/2014/main" id="{57F70A74-91F5-4BC0-BFCC-22314390A0DE}"/>
                  </a:ext>
                </a:extLst>
              </p:cNvPr>
              <p:cNvSpPr/>
              <p:nvPr/>
            </p:nvSpPr>
            <p:spPr>
              <a:xfrm>
                <a:off x="4580324" y="24001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a:extLst>
                  <a:ext uri="{FF2B5EF4-FFF2-40B4-BE49-F238E27FC236}">
                    <a16:creationId xmlns:a16="http://schemas.microsoft.com/office/drawing/2014/main" id="{5F84CE7F-7301-43E5-96D3-DBF5D5C419FC}"/>
                  </a:ext>
                </a:extLst>
              </p:cNvPr>
              <p:cNvSpPr/>
              <p:nvPr/>
            </p:nvSpPr>
            <p:spPr>
              <a:xfrm>
                <a:off x="4633664" y="23620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5" name="타원 94">
                <a:extLst>
                  <a:ext uri="{FF2B5EF4-FFF2-40B4-BE49-F238E27FC236}">
                    <a16:creationId xmlns:a16="http://schemas.microsoft.com/office/drawing/2014/main" id="{B1AFDFAB-8EA4-4539-91FF-8D128EDE8E4B}"/>
                  </a:ext>
                </a:extLst>
              </p:cNvPr>
              <p:cNvSpPr/>
              <p:nvPr/>
            </p:nvSpPr>
            <p:spPr>
              <a:xfrm>
                <a:off x="4656524" y="23671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타원 95">
                <a:extLst>
                  <a:ext uri="{FF2B5EF4-FFF2-40B4-BE49-F238E27FC236}">
                    <a16:creationId xmlns:a16="http://schemas.microsoft.com/office/drawing/2014/main" id="{CB9226A0-9CA3-4409-B616-7AF7C8208FF0}"/>
                  </a:ext>
                </a:extLst>
              </p:cNvPr>
              <p:cNvSpPr/>
              <p:nvPr/>
            </p:nvSpPr>
            <p:spPr>
              <a:xfrm>
                <a:off x="4725104" y="25550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a:extLst>
                  <a:ext uri="{FF2B5EF4-FFF2-40B4-BE49-F238E27FC236}">
                    <a16:creationId xmlns:a16="http://schemas.microsoft.com/office/drawing/2014/main" id="{19133662-E4B6-47AA-BF7B-451F8D27A247}"/>
                  </a:ext>
                </a:extLst>
              </p:cNvPr>
              <p:cNvSpPr/>
              <p:nvPr/>
            </p:nvSpPr>
            <p:spPr>
              <a:xfrm>
                <a:off x="4758124" y="26439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a:extLst>
                  <a:ext uri="{FF2B5EF4-FFF2-40B4-BE49-F238E27FC236}">
                    <a16:creationId xmlns:a16="http://schemas.microsoft.com/office/drawing/2014/main" id="{01B5F40C-EB24-41DF-B260-FE3D2FAFDDEC}"/>
                  </a:ext>
                </a:extLst>
              </p:cNvPr>
              <p:cNvSpPr/>
              <p:nvPr/>
            </p:nvSpPr>
            <p:spPr>
              <a:xfrm>
                <a:off x="4791144" y="27582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a:extLst>
                  <a:ext uri="{FF2B5EF4-FFF2-40B4-BE49-F238E27FC236}">
                    <a16:creationId xmlns:a16="http://schemas.microsoft.com/office/drawing/2014/main" id="{2057C7FA-9C05-413D-A9AB-0633B43E7421}"/>
                  </a:ext>
                </a:extLst>
              </p:cNvPr>
              <p:cNvSpPr/>
              <p:nvPr/>
            </p:nvSpPr>
            <p:spPr>
              <a:xfrm>
                <a:off x="4890204" y="30834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a:extLst>
                  <a:ext uri="{FF2B5EF4-FFF2-40B4-BE49-F238E27FC236}">
                    <a16:creationId xmlns:a16="http://schemas.microsoft.com/office/drawing/2014/main" id="{A47A159E-3CDE-4E04-B313-8090D45F1377}"/>
                  </a:ext>
                </a:extLst>
              </p:cNvPr>
              <p:cNvSpPr/>
              <p:nvPr/>
            </p:nvSpPr>
            <p:spPr>
              <a:xfrm>
                <a:off x="4910524" y="31418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타원 100">
                <a:extLst>
                  <a:ext uri="{FF2B5EF4-FFF2-40B4-BE49-F238E27FC236}">
                    <a16:creationId xmlns:a16="http://schemas.microsoft.com/office/drawing/2014/main" id="{A27A36C2-6E45-4B88-AD1F-714810643D74}"/>
                  </a:ext>
                </a:extLst>
              </p:cNvPr>
              <p:cNvSpPr/>
              <p:nvPr/>
            </p:nvSpPr>
            <p:spPr>
              <a:xfrm>
                <a:off x="4910524" y="31494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a:extLst>
                  <a:ext uri="{FF2B5EF4-FFF2-40B4-BE49-F238E27FC236}">
                    <a16:creationId xmlns:a16="http://schemas.microsoft.com/office/drawing/2014/main" id="{B1D24004-D85F-41AB-AF73-ECA2AAF2E7DC}"/>
                  </a:ext>
                </a:extLst>
              </p:cNvPr>
              <p:cNvSpPr/>
              <p:nvPr/>
            </p:nvSpPr>
            <p:spPr>
              <a:xfrm>
                <a:off x="4971484" y="31748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a:extLst>
                  <a:ext uri="{FF2B5EF4-FFF2-40B4-BE49-F238E27FC236}">
                    <a16:creationId xmlns:a16="http://schemas.microsoft.com/office/drawing/2014/main" id="{567B0661-5699-451A-91B1-7A5A5B09FEF9}"/>
                  </a:ext>
                </a:extLst>
              </p:cNvPr>
              <p:cNvSpPr/>
              <p:nvPr/>
            </p:nvSpPr>
            <p:spPr>
              <a:xfrm>
                <a:off x="4991804" y="31697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a:extLst>
                  <a:ext uri="{FF2B5EF4-FFF2-40B4-BE49-F238E27FC236}">
                    <a16:creationId xmlns:a16="http://schemas.microsoft.com/office/drawing/2014/main" id="{62295DC6-22BF-468D-A358-D3938D651554}"/>
                  </a:ext>
                </a:extLst>
              </p:cNvPr>
              <p:cNvSpPr/>
              <p:nvPr/>
            </p:nvSpPr>
            <p:spPr>
              <a:xfrm>
                <a:off x="5029904" y="32180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5" name="타원 104">
                <a:extLst>
                  <a:ext uri="{FF2B5EF4-FFF2-40B4-BE49-F238E27FC236}">
                    <a16:creationId xmlns:a16="http://schemas.microsoft.com/office/drawing/2014/main" id="{FBED2EE4-A419-48B5-B37B-23406A202D38}"/>
                  </a:ext>
                </a:extLst>
              </p:cNvPr>
              <p:cNvSpPr/>
              <p:nvPr/>
            </p:nvSpPr>
            <p:spPr>
              <a:xfrm>
                <a:off x="5012124" y="30580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타원 105">
                <a:extLst>
                  <a:ext uri="{FF2B5EF4-FFF2-40B4-BE49-F238E27FC236}">
                    <a16:creationId xmlns:a16="http://schemas.microsoft.com/office/drawing/2014/main" id="{F97116B8-E345-40B4-B431-B13945B272F5}"/>
                  </a:ext>
                </a:extLst>
              </p:cNvPr>
              <p:cNvSpPr/>
              <p:nvPr/>
            </p:nvSpPr>
            <p:spPr>
              <a:xfrm>
                <a:off x="5111184" y="29106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7" name="타원 106">
                <a:extLst>
                  <a:ext uri="{FF2B5EF4-FFF2-40B4-BE49-F238E27FC236}">
                    <a16:creationId xmlns:a16="http://schemas.microsoft.com/office/drawing/2014/main" id="{C368A256-4F1C-464D-9927-8B579CC97A69}"/>
                  </a:ext>
                </a:extLst>
              </p:cNvPr>
              <p:cNvSpPr/>
              <p:nvPr/>
            </p:nvSpPr>
            <p:spPr>
              <a:xfrm>
                <a:off x="5108644" y="29284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8" name="타원 107">
                <a:extLst>
                  <a:ext uri="{FF2B5EF4-FFF2-40B4-BE49-F238E27FC236}">
                    <a16:creationId xmlns:a16="http://schemas.microsoft.com/office/drawing/2014/main" id="{0EC6ABF0-EAD1-4F28-9417-34D4486A6D28}"/>
                  </a:ext>
                </a:extLst>
              </p:cNvPr>
              <p:cNvSpPr/>
              <p:nvPr/>
            </p:nvSpPr>
            <p:spPr>
              <a:xfrm>
                <a:off x="5286444" y="23315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9" name="타원 108">
                <a:extLst>
                  <a:ext uri="{FF2B5EF4-FFF2-40B4-BE49-F238E27FC236}">
                    <a16:creationId xmlns:a16="http://schemas.microsoft.com/office/drawing/2014/main" id="{7C736224-1B74-4EC2-AFDC-DAAE7772F51C}"/>
                  </a:ext>
                </a:extLst>
              </p:cNvPr>
              <p:cNvSpPr/>
              <p:nvPr/>
            </p:nvSpPr>
            <p:spPr>
              <a:xfrm>
                <a:off x="5360104" y="23315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타원 109">
                <a:extLst>
                  <a:ext uri="{FF2B5EF4-FFF2-40B4-BE49-F238E27FC236}">
                    <a16:creationId xmlns:a16="http://schemas.microsoft.com/office/drawing/2014/main" id="{B54A16EB-FDBD-4FE5-882D-D90590EF3F48}"/>
                  </a:ext>
                </a:extLst>
              </p:cNvPr>
              <p:cNvSpPr/>
              <p:nvPr/>
            </p:nvSpPr>
            <p:spPr>
              <a:xfrm>
                <a:off x="5362644" y="23976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4" name="그룹 13">
              <a:extLst>
                <a:ext uri="{FF2B5EF4-FFF2-40B4-BE49-F238E27FC236}">
                  <a16:creationId xmlns:a16="http://schemas.microsoft.com/office/drawing/2014/main" id="{59B07266-0614-4B05-B552-A43BB57D13B4}"/>
                </a:ext>
              </a:extLst>
            </p:cNvPr>
            <p:cNvGrpSpPr/>
            <p:nvPr/>
          </p:nvGrpSpPr>
          <p:grpSpPr>
            <a:xfrm>
              <a:off x="5760720" y="2308472"/>
              <a:ext cx="1089660" cy="1069728"/>
              <a:chOff x="5760720" y="2308472"/>
              <a:chExt cx="1089660" cy="1069728"/>
            </a:xfrm>
          </p:grpSpPr>
          <p:sp>
            <p:nvSpPr>
              <p:cNvPr id="69" name="자유형: 도형 68">
                <a:extLst>
                  <a:ext uri="{FF2B5EF4-FFF2-40B4-BE49-F238E27FC236}">
                    <a16:creationId xmlns:a16="http://schemas.microsoft.com/office/drawing/2014/main" id="{40B0BD2D-D44F-4BA8-86A6-5B8BE3087835}"/>
                  </a:ext>
                </a:extLst>
              </p:cNvPr>
              <p:cNvSpPr/>
              <p:nvPr/>
            </p:nvSpPr>
            <p:spPr>
              <a:xfrm>
                <a:off x="5760720" y="2308472"/>
                <a:ext cx="1089660" cy="1069728"/>
              </a:xfrm>
              <a:custGeom>
                <a:avLst/>
                <a:gdLst>
                  <a:gd name="connsiteX0" fmla="*/ 0 w 1084580"/>
                  <a:gd name="connsiteY0" fmla="*/ 721748 h 1069728"/>
                  <a:gd name="connsiteX1" fmla="*/ 22860 w 1084580"/>
                  <a:gd name="connsiteY1" fmla="*/ 472828 h 1069728"/>
                  <a:gd name="connsiteX2" fmla="*/ 71120 w 1084580"/>
                  <a:gd name="connsiteY2" fmla="*/ 173108 h 1069728"/>
                  <a:gd name="connsiteX3" fmla="*/ 111760 w 1084580"/>
                  <a:gd name="connsiteY3" fmla="*/ 25788 h 1069728"/>
                  <a:gd name="connsiteX4" fmla="*/ 167640 w 1084580"/>
                  <a:gd name="connsiteY4" fmla="*/ 13088 h 1069728"/>
                  <a:gd name="connsiteX5" fmla="*/ 241300 w 1084580"/>
                  <a:gd name="connsiteY5" fmla="*/ 162948 h 1069728"/>
                  <a:gd name="connsiteX6" fmla="*/ 391160 w 1084580"/>
                  <a:gd name="connsiteY6" fmla="*/ 655708 h 1069728"/>
                  <a:gd name="connsiteX7" fmla="*/ 492760 w 1084580"/>
                  <a:gd name="connsiteY7" fmla="*/ 846208 h 1069728"/>
                  <a:gd name="connsiteX8" fmla="*/ 601980 w 1084580"/>
                  <a:gd name="connsiteY8" fmla="*/ 813188 h 1069728"/>
                  <a:gd name="connsiteX9" fmla="*/ 744220 w 1084580"/>
                  <a:gd name="connsiteY9" fmla="*/ 422028 h 1069728"/>
                  <a:gd name="connsiteX10" fmla="*/ 863600 w 1084580"/>
                  <a:gd name="connsiteY10" fmla="*/ 89288 h 1069728"/>
                  <a:gd name="connsiteX11" fmla="*/ 947420 w 1084580"/>
                  <a:gd name="connsiteY11" fmla="*/ 71508 h 1069728"/>
                  <a:gd name="connsiteX12" fmla="*/ 1018540 w 1084580"/>
                  <a:gd name="connsiteY12" fmla="*/ 391548 h 1069728"/>
                  <a:gd name="connsiteX13" fmla="*/ 1084580 w 1084580"/>
                  <a:gd name="connsiteY13" fmla="*/ 1069728 h 1069728"/>
                  <a:gd name="connsiteX0" fmla="*/ 0 w 1084580"/>
                  <a:gd name="connsiteY0" fmla="*/ 721748 h 1069728"/>
                  <a:gd name="connsiteX1" fmla="*/ 22860 w 1084580"/>
                  <a:gd name="connsiteY1" fmla="*/ 472828 h 1069728"/>
                  <a:gd name="connsiteX2" fmla="*/ 71120 w 1084580"/>
                  <a:gd name="connsiteY2" fmla="*/ 173108 h 1069728"/>
                  <a:gd name="connsiteX3" fmla="*/ 111760 w 1084580"/>
                  <a:gd name="connsiteY3" fmla="*/ 25788 h 1069728"/>
                  <a:gd name="connsiteX4" fmla="*/ 167640 w 1084580"/>
                  <a:gd name="connsiteY4" fmla="*/ 13088 h 1069728"/>
                  <a:gd name="connsiteX5" fmla="*/ 241300 w 1084580"/>
                  <a:gd name="connsiteY5" fmla="*/ 162948 h 1069728"/>
                  <a:gd name="connsiteX6" fmla="*/ 391160 w 1084580"/>
                  <a:gd name="connsiteY6" fmla="*/ 655708 h 1069728"/>
                  <a:gd name="connsiteX7" fmla="*/ 492760 w 1084580"/>
                  <a:gd name="connsiteY7" fmla="*/ 846208 h 1069728"/>
                  <a:gd name="connsiteX8" fmla="*/ 612140 w 1084580"/>
                  <a:gd name="connsiteY8" fmla="*/ 795408 h 1069728"/>
                  <a:gd name="connsiteX9" fmla="*/ 744220 w 1084580"/>
                  <a:gd name="connsiteY9" fmla="*/ 422028 h 1069728"/>
                  <a:gd name="connsiteX10" fmla="*/ 863600 w 1084580"/>
                  <a:gd name="connsiteY10" fmla="*/ 89288 h 1069728"/>
                  <a:gd name="connsiteX11" fmla="*/ 947420 w 1084580"/>
                  <a:gd name="connsiteY11" fmla="*/ 71508 h 1069728"/>
                  <a:gd name="connsiteX12" fmla="*/ 1018540 w 1084580"/>
                  <a:gd name="connsiteY12" fmla="*/ 391548 h 1069728"/>
                  <a:gd name="connsiteX13" fmla="*/ 1084580 w 1084580"/>
                  <a:gd name="connsiteY13" fmla="*/ 1069728 h 1069728"/>
                  <a:gd name="connsiteX0" fmla="*/ 0 w 1089660"/>
                  <a:gd name="connsiteY0" fmla="*/ 770008 h 1069728"/>
                  <a:gd name="connsiteX1" fmla="*/ 27940 w 1089660"/>
                  <a:gd name="connsiteY1" fmla="*/ 472828 h 1069728"/>
                  <a:gd name="connsiteX2" fmla="*/ 76200 w 1089660"/>
                  <a:gd name="connsiteY2" fmla="*/ 173108 h 1069728"/>
                  <a:gd name="connsiteX3" fmla="*/ 116840 w 1089660"/>
                  <a:gd name="connsiteY3" fmla="*/ 25788 h 1069728"/>
                  <a:gd name="connsiteX4" fmla="*/ 172720 w 1089660"/>
                  <a:gd name="connsiteY4" fmla="*/ 13088 h 1069728"/>
                  <a:gd name="connsiteX5" fmla="*/ 246380 w 1089660"/>
                  <a:gd name="connsiteY5" fmla="*/ 162948 h 1069728"/>
                  <a:gd name="connsiteX6" fmla="*/ 396240 w 1089660"/>
                  <a:gd name="connsiteY6" fmla="*/ 655708 h 1069728"/>
                  <a:gd name="connsiteX7" fmla="*/ 497840 w 1089660"/>
                  <a:gd name="connsiteY7" fmla="*/ 846208 h 1069728"/>
                  <a:gd name="connsiteX8" fmla="*/ 617220 w 1089660"/>
                  <a:gd name="connsiteY8" fmla="*/ 795408 h 1069728"/>
                  <a:gd name="connsiteX9" fmla="*/ 749300 w 1089660"/>
                  <a:gd name="connsiteY9" fmla="*/ 422028 h 1069728"/>
                  <a:gd name="connsiteX10" fmla="*/ 868680 w 1089660"/>
                  <a:gd name="connsiteY10" fmla="*/ 89288 h 1069728"/>
                  <a:gd name="connsiteX11" fmla="*/ 952500 w 1089660"/>
                  <a:gd name="connsiteY11" fmla="*/ 71508 h 1069728"/>
                  <a:gd name="connsiteX12" fmla="*/ 1023620 w 1089660"/>
                  <a:gd name="connsiteY12" fmla="*/ 391548 h 1069728"/>
                  <a:gd name="connsiteX13" fmla="*/ 1089660 w 1089660"/>
                  <a:gd name="connsiteY13" fmla="*/ 1069728 h 1069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9660" h="1069728">
                    <a:moveTo>
                      <a:pt x="0" y="770008"/>
                    </a:moveTo>
                    <a:cubicBezTo>
                      <a:pt x="5503" y="691268"/>
                      <a:pt x="15240" y="572311"/>
                      <a:pt x="27940" y="472828"/>
                    </a:cubicBezTo>
                    <a:cubicBezTo>
                      <a:pt x="40640" y="373345"/>
                      <a:pt x="61383" y="247615"/>
                      <a:pt x="76200" y="173108"/>
                    </a:cubicBezTo>
                    <a:cubicBezTo>
                      <a:pt x="91017" y="98601"/>
                      <a:pt x="100753" y="52458"/>
                      <a:pt x="116840" y="25788"/>
                    </a:cubicBezTo>
                    <a:cubicBezTo>
                      <a:pt x="132927" y="-882"/>
                      <a:pt x="151130" y="-9772"/>
                      <a:pt x="172720" y="13088"/>
                    </a:cubicBezTo>
                    <a:cubicBezTo>
                      <a:pt x="194310" y="35948"/>
                      <a:pt x="209127" y="55845"/>
                      <a:pt x="246380" y="162948"/>
                    </a:cubicBezTo>
                    <a:cubicBezTo>
                      <a:pt x="283633" y="270051"/>
                      <a:pt x="354330" y="541831"/>
                      <a:pt x="396240" y="655708"/>
                    </a:cubicBezTo>
                    <a:cubicBezTo>
                      <a:pt x="438150" y="769585"/>
                      <a:pt x="461010" y="822925"/>
                      <a:pt x="497840" y="846208"/>
                    </a:cubicBezTo>
                    <a:cubicBezTo>
                      <a:pt x="534670" y="869491"/>
                      <a:pt x="575310" y="866105"/>
                      <a:pt x="617220" y="795408"/>
                    </a:cubicBezTo>
                    <a:cubicBezTo>
                      <a:pt x="659130" y="724711"/>
                      <a:pt x="707390" y="539715"/>
                      <a:pt x="749300" y="422028"/>
                    </a:cubicBezTo>
                    <a:cubicBezTo>
                      <a:pt x="791210" y="304341"/>
                      <a:pt x="834813" y="147708"/>
                      <a:pt x="868680" y="89288"/>
                    </a:cubicBezTo>
                    <a:cubicBezTo>
                      <a:pt x="902547" y="30868"/>
                      <a:pt x="926677" y="21131"/>
                      <a:pt x="952500" y="71508"/>
                    </a:cubicBezTo>
                    <a:cubicBezTo>
                      <a:pt x="978323" y="121885"/>
                      <a:pt x="1000760" y="225178"/>
                      <a:pt x="1023620" y="391548"/>
                    </a:cubicBezTo>
                    <a:cubicBezTo>
                      <a:pt x="1046480" y="557918"/>
                      <a:pt x="1068070" y="813823"/>
                      <a:pt x="1089660" y="1069728"/>
                    </a:cubicBezTo>
                  </a:path>
                </a:pathLst>
              </a:custGeom>
              <a:no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a:extLst>
                  <a:ext uri="{FF2B5EF4-FFF2-40B4-BE49-F238E27FC236}">
                    <a16:creationId xmlns:a16="http://schemas.microsoft.com/office/drawing/2014/main" id="{C8358111-E876-4FB0-8441-C2C03C90F9B1}"/>
                  </a:ext>
                </a:extLst>
              </p:cNvPr>
              <p:cNvSpPr/>
              <p:nvPr/>
            </p:nvSpPr>
            <p:spPr>
              <a:xfrm>
                <a:off x="5771584" y="26871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타원 70">
                <a:extLst>
                  <a:ext uri="{FF2B5EF4-FFF2-40B4-BE49-F238E27FC236}">
                    <a16:creationId xmlns:a16="http://schemas.microsoft.com/office/drawing/2014/main" id="{32130357-390E-4E60-81D0-2565F26DC39A}"/>
                  </a:ext>
                </a:extLst>
              </p:cNvPr>
              <p:cNvSpPr/>
              <p:nvPr/>
            </p:nvSpPr>
            <p:spPr>
              <a:xfrm>
                <a:off x="5832544" y="24839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a:extLst>
                  <a:ext uri="{FF2B5EF4-FFF2-40B4-BE49-F238E27FC236}">
                    <a16:creationId xmlns:a16="http://schemas.microsoft.com/office/drawing/2014/main" id="{B94AAA93-4EFF-4ACB-B08E-1FDFC326D5DB}"/>
                  </a:ext>
                </a:extLst>
              </p:cNvPr>
              <p:cNvSpPr/>
              <p:nvPr/>
            </p:nvSpPr>
            <p:spPr>
              <a:xfrm>
                <a:off x="5890964" y="24026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a:extLst>
                  <a:ext uri="{FF2B5EF4-FFF2-40B4-BE49-F238E27FC236}">
                    <a16:creationId xmlns:a16="http://schemas.microsoft.com/office/drawing/2014/main" id="{BC933D0D-C701-4EBB-AD61-551D31858F5B}"/>
                  </a:ext>
                </a:extLst>
              </p:cNvPr>
              <p:cNvSpPr/>
              <p:nvPr/>
            </p:nvSpPr>
            <p:spPr>
              <a:xfrm>
                <a:off x="5941764" y="23595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타원 73">
                <a:extLst>
                  <a:ext uri="{FF2B5EF4-FFF2-40B4-BE49-F238E27FC236}">
                    <a16:creationId xmlns:a16="http://schemas.microsoft.com/office/drawing/2014/main" id="{C2E43DEA-07FD-45AD-BAB2-B58341436106}"/>
                  </a:ext>
                </a:extLst>
              </p:cNvPr>
              <p:cNvSpPr/>
              <p:nvPr/>
            </p:nvSpPr>
            <p:spPr>
              <a:xfrm>
                <a:off x="5967164" y="23620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타원 74">
                <a:extLst>
                  <a:ext uri="{FF2B5EF4-FFF2-40B4-BE49-F238E27FC236}">
                    <a16:creationId xmlns:a16="http://schemas.microsoft.com/office/drawing/2014/main" id="{7CDFA5C3-2732-4887-8896-E725F1257444}"/>
                  </a:ext>
                </a:extLst>
              </p:cNvPr>
              <p:cNvSpPr/>
              <p:nvPr/>
            </p:nvSpPr>
            <p:spPr>
              <a:xfrm>
                <a:off x="6030664" y="25601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6" name="타원 75">
                <a:extLst>
                  <a:ext uri="{FF2B5EF4-FFF2-40B4-BE49-F238E27FC236}">
                    <a16:creationId xmlns:a16="http://schemas.microsoft.com/office/drawing/2014/main" id="{9AE9656F-085C-4090-9518-0305E233EB66}"/>
                  </a:ext>
                </a:extLst>
              </p:cNvPr>
              <p:cNvSpPr/>
              <p:nvPr/>
            </p:nvSpPr>
            <p:spPr>
              <a:xfrm>
                <a:off x="6068764" y="26439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타원 76">
                <a:extLst>
                  <a:ext uri="{FF2B5EF4-FFF2-40B4-BE49-F238E27FC236}">
                    <a16:creationId xmlns:a16="http://schemas.microsoft.com/office/drawing/2014/main" id="{3E323D08-C408-4510-BC8F-52B67547FB85}"/>
                  </a:ext>
                </a:extLst>
              </p:cNvPr>
              <p:cNvSpPr/>
              <p:nvPr/>
            </p:nvSpPr>
            <p:spPr>
              <a:xfrm>
                <a:off x="6101784" y="27506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타원 77">
                <a:extLst>
                  <a:ext uri="{FF2B5EF4-FFF2-40B4-BE49-F238E27FC236}">
                    <a16:creationId xmlns:a16="http://schemas.microsoft.com/office/drawing/2014/main" id="{CD8F473E-C641-4D76-8266-9DB9EF2AB1C2}"/>
                  </a:ext>
                </a:extLst>
              </p:cNvPr>
              <p:cNvSpPr/>
              <p:nvPr/>
            </p:nvSpPr>
            <p:spPr>
              <a:xfrm>
                <a:off x="6198304" y="30834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타원 78">
                <a:extLst>
                  <a:ext uri="{FF2B5EF4-FFF2-40B4-BE49-F238E27FC236}">
                    <a16:creationId xmlns:a16="http://schemas.microsoft.com/office/drawing/2014/main" id="{26D9BF16-159F-457F-9220-C65498380173}"/>
                  </a:ext>
                </a:extLst>
              </p:cNvPr>
              <p:cNvSpPr/>
              <p:nvPr/>
            </p:nvSpPr>
            <p:spPr>
              <a:xfrm>
                <a:off x="6320224" y="30580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0" name="타원 79">
                <a:extLst>
                  <a:ext uri="{FF2B5EF4-FFF2-40B4-BE49-F238E27FC236}">
                    <a16:creationId xmlns:a16="http://schemas.microsoft.com/office/drawing/2014/main" id="{4D5612CC-C355-4B3B-87D8-207D35BB2B67}"/>
                  </a:ext>
                </a:extLst>
              </p:cNvPr>
              <p:cNvSpPr/>
              <p:nvPr/>
            </p:nvSpPr>
            <p:spPr>
              <a:xfrm>
                <a:off x="6421824" y="29081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타원 80">
                <a:extLst>
                  <a:ext uri="{FF2B5EF4-FFF2-40B4-BE49-F238E27FC236}">
                    <a16:creationId xmlns:a16="http://schemas.microsoft.com/office/drawing/2014/main" id="{30D126BF-BF50-4C1D-B585-F6546E358F38}"/>
                  </a:ext>
                </a:extLst>
              </p:cNvPr>
              <p:cNvSpPr/>
              <p:nvPr/>
            </p:nvSpPr>
            <p:spPr>
              <a:xfrm>
                <a:off x="6421824" y="29284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타원 81">
                <a:extLst>
                  <a:ext uri="{FF2B5EF4-FFF2-40B4-BE49-F238E27FC236}">
                    <a16:creationId xmlns:a16="http://schemas.microsoft.com/office/drawing/2014/main" id="{B5FADF34-B811-4D10-872C-3C4B0C7690AB}"/>
                  </a:ext>
                </a:extLst>
              </p:cNvPr>
              <p:cNvSpPr/>
              <p:nvPr/>
            </p:nvSpPr>
            <p:spPr>
              <a:xfrm>
                <a:off x="6218624" y="31367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3" name="타원 82">
                <a:extLst>
                  <a:ext uri="{FF2B5EF4-FFF2-40B4-BE49-F238E27FC236}">
                    <a16:creationId xmlns:a16="http://schemas.microsoft.com/office/drawing/2014/main" id="{1A8B5ABD-C18F-4980-A708-1CC257110DF2}"/>
                  </a:ext>
                </a:extLst>
              </p:cNvPr>
              <p:cNvSpPr/>
              <p:nvPr/>
            </p:nvSpPr>
            <p:spPr>
              <a:xfrm>
                <a:off x="6218624" y="31519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4" name="타원 83">
                <a:extLst>
                  <a:ext uri="{FF2B5EF4-FFF2-40B4-BE49-F238E27FC236}">
                    <a16:creationId xmlns:a16="http://schemas.microsoft.com/office/drawing/2014/main" id="{84054E94-1CBE-40F6-9EB5-A3CA93E2152E}"/>
                  </a:ext>
                </a:extLst>
              </p:cNvPr>
              <p:cNvSpPr/>
              <p:nvPr/>
            </p:nvSpPr>
            <p:spPr>
              <a:xfrm>
                <a:off x="6277044" y="31748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5" name="타원 84">
                <a:extLst>
                  <a:ext uri="{FF2B5EF4-FFF2-40B4-BE49-F238E27FC236}">
                    <a16:creationId xmlns:a16="http://schemas.microsoft.com/office/drawing/2014/main" id="{87FDF7A8-F981-4DB9-A016-0A3772618EEB}"/>
                  </a:ext>
                </a:extLst>
              </p:cNvPr>
              <p:cNvSpPr/>
              <p:nvPr/>
            </p:nvSpPr>
            <p:spPr>
              <a:xfrm>
                <a:off x="6302444" y="31697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타원 85">
                <a:extLst>
                  <a:ext uri="{FF2B5EF4-FFF2-40B4-BE49-F238E27FC236}">
                    <a16:creationId xmlns:a16="http://schemas.microsoft.com/office/drawing/2014/main" id="{C5B9DB0F-D08B-460C-9F52-1AFE657E0C7E}"/>
                  </a:ext>
                </a:extLst>
              </p:cNvPr>
              <p:cNvSpPr/>
              <p:nvPr/>
            </p:nvSpPr>
            <p:spPr>
              <a:xfrm>
                <a:off x="6340544" y="32129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a:extLst>
                  <a:ext uri="{FF2B5EF4-FFF2-40B4-BE49-F238E27FC236}">
                    <a16:creationId xmlns:a16="http://schemas.microsoft.com/office/drawing/2014/main" id="{5C777A76-CAB1-4D1C-8BF7-580CFB557EAD}"/>
                  </a:ext>
                </a:extLst>
              </p:cNvPr>
              <p:cNvSpPr/>
              <p:nvPr/>
            </p:nvSpPr>
            <p:spPr>
              <a:xfrm>
                <a:off x="6599624" y="23290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a:extLst>
                  <a:ext uri="{FF2B5EF4-FFF2-40B4-BE49-F238E27FC236}">
                    <a16:creationId xmlns:a16="http://schemas.microsoft.com/office/drawing/2014/main" id="{CEE2D063-0CED-4790-AD4E-7FB2F7343FA8}"/>
                  </a:ext>
                </a:extLst>
              </p:cNvPr>
              <p:cNvSpPr/>
              <p:nvPr/>
            </p:nvSpPr>
            <p:spPr>
              <a:xfrm>
                <a:off x="6665664" y="23290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a:extLst>
                  <a:ext uri="{FF2B5EF4-FFF2-40B4-BE49-F238E27FC236}">
                    <a16:creationId xmlns:a16="http://schemas.microsoft.com/office/drawing/2014/main" id="{520B1008-8A70-403F-91C0-DB622F029ACE}"/>
                  </a:ext>
                </a:extLst>
              </p:cNvPr>
              <p:cNvSpPr/>
              <p:nvPr/>
            </p:nvSpPr>
            <p:spPr>
              <a:xfrm>
                <a:off x="6675824" y="23976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6" name="그룹 15">
              <a:extLst>
                <a:ext uri="{FF2B5EF4-FFF2-40B4-BE49-F238E27FC236}">
                  <a16:creationId xmlns:a16="http://schemas.microsoft.com/office/drawing/2014/main" id="{9C2D453F-08F3-48AF-8800-DA44E8DF9247}"/>
                </a:ext>
              </a:extLst>
            </p:cNvPr>
            <p:cNvGrpSpPr/>
            <p:nvPr/>
          </p:nvGrpSpPr>
          <p:grpSpPr>
            <a:xfrm>
              <a:off x="7075874" y="1969770"/>
              <a:ext cx="951885" cy="1619251"/>
              <a:chOff x="7075874" y="1969770"/>
              <a:chExt cx="951885" cy="1619251"/>
            </a:xfrm>
          </p:grpSpPr>
          <p:sp>
            <p:nvSpPr>
              <p:cNvPr id="47" name="자유형: 도형 46">
                <a:extLst>
                  <a:ext uri="{FF2B5EF4-FFF2-40B4-BE49-F238E27FC236}">
                    <a16:creationId xmlns:a16="http://schemas.microsoft.com/office/drawing/2014/main" id="{123FDAD2-2B40-41A1-A05E-1B279176B481}"/>
                  </a:ext>
                </a:extLst>
              </p:cNvPr>
              <p:cNvSpPr/>
              <p:nvPr/>
            </p:nvSpPr>
            <p:spPr>
              <a:xfrm>
                <a:off x="7090410" y="1969771"/>
                <a:ext cx="723900" cy="1619250"/>
              </a:xfrm>
              <a:custGeom>
                <a:avLst/>
                <a:gdLst>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20040 w 926563"/>
                  <a:gd name="connsiteY7" fmla="*/ 801534 h 1708314"/>
                  <a:gd name="connsiteX8" fmla="*/ 403860 w 926563"/>
                  <a:gd name="connsiteY8" fmla="*/ 1159674 h 1708314"/>
                  <a:gd name="connsiteX9" fmla="*/ 464820 w 926563"/>
                  <a:gd name="connsiteY9" fmla="*/ 1296834 h 1708314"/>
                  <a:gd name="connsiteX10" fmla="*/ 537210 w 926563"/>
                  <a:gd name="connsiteY10" fmla="*/ 1273974 h 1708314"/>
                  <a:gd name="connsiteX11" fmla="*/ 575310 w 926563"/>
                  <a:gd name="connsiteY11" fmla="*/ 1304454 h 1708314"/>
                  <a:gd name="connsiteX12" fmla="*/ 621030 w 926563"/>
                  <a:gd name="connsiteY12" fmla="*/ 1289214 h 1708314"/>
                  <a:gd name="connsiteX13" fmla="*/ 659130 w 926563"/>
                  <a:gd name="connsiteY13" fmla="*/ 1072044 h 1708314"/>
                  <a:gd name="connsiteX14" fmla="*/ 727710 w 926563"/>
                  <a:gd name="connsiteY14" fmla="*/ 89064 h 1708314"/>
                  <a:gd name="connsiteX15" fmla="*/ 819150 w 926563"/>
                  <a:gd name="connsiteY15" fmla="*/ 89064 h 1708314"/>
                  <a:gd name="connsiteX16" fmla="*/ 834390 w 926563"/>
                  <a:gd name="connsiteY16" fmla="*/ 470064 h 1708314"/>
                  <a:gd name="connsiteX17" fmla="*/ 857250 w 926563"/>
                  <a:gd name="connsiteY17" fmla="*/ 748194 h 1708314"/>
                  <a:gd name="connsiteX18" fmla="*/ 887730 w 926563"/>
                  <a:gd name="connsiteY18" fmla="*/ 691044 h 1708314"/>
                  <a:gd name="connsiteX19" fmla="*/ 902970 w 926563"/>
                  <a:gd name="connsiteY19" fmla="*/ 485304 h 1708314"/>
                  <a:gd name="connsiteX20" fmla="*/ 918210 w 926563"/>
                  <a:gd name="connsiteY20" fmla="*/ 809154 h 1708314"/>
                  <a:gd name="connsiteX21" fmla="*/ 925830 w 926563"/>
                  <a:gd name="connsiteY21" fmla="*/ 1433994 h 1708314"/>
                  <a:gd name="connsiteX22" fmla="*/ 925830 w 926563"/>
                  <a:gd name="connsiteY22"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96834 h 1708314"/>
                  <a:gd name="connsiteX10" fmla="*/ 537210 w 926563"/>
                  <a:gd name="connsiteY10" fmla="*/ 1273974 h 1708314"/>
                  <a:gd name="connsiteX11" fmla="*/ 575310 w 926563"/>
                  <a:gd name="connsiteY11" fmla="*/ 1304454 h 1708314"/>
                  <a:gd name="connsiteX12" fmla="*/ 621030 w 926563"/>
                  <a:gd name="connsiteY12" fmla="*/ 1289214 h 1708314"/>
                  <a:gd name="connsiteX13" fmla="*/ 659130 w 926563"/>
                  <a:gd name="connsiteY13" fmla="*/ 1072044 h 1708314"/>
                  <a:gd name="connsiteX14" fmla="*/ 727710 w 926563"/>
                  <a:gd name="connsiteY14" fmla="*/ 89064 h 1708314"/>
                  <a:gd name="connsiteX15" fmla="*/ 819150 w 926563"/>
                  <a:gd name="connsiteY15" fmla="*/ 89064 h 1708314"/>
                  <a:gd name="connsiteX16" fmla="*/ 834390 w 926563"/>
                  <a:gd name="connsiteY16" fmla="*/ 470064 h 1708314"/>
                  <a:gd name="connsiteX17" fmla="*/ 857250 w 926563"/>
                  <a:gd name="connsiteY17" fmla="*/ 748194 h 1708314"/>
                  <a:gd name="connsiteX18" fmla="*/ 887730 w 926563"/>
                  <a:gd name="connsiteY18" fmla="*/ 691044 h 1708314"/>
                  <a:gd name="connsiteX19" fmla="*/ 902970 w 926563"/>
                  <a:gd name="connsiteY19" fmla="*/ 485304 h 1708314"/>
                  <a:gd name="connsiteX20" fmla="*/ 918210 w 926563"/>
                  <a:gd name="connsiteY20" fmla="*/ 809154 h 1708314"/>
                  <a:gd name="connsiteX21" fmla="*/ 925830 w 926563"/>
                  <a:gd name="connsiteY21" fmla="*/ 1433994 h 1708314"/>
                  <a:gd name="connsiteX22" fmla="*/ 925830 w 926563"/>
                  <a:gd name="connsiteY22"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575310 w 926563"/>
                  <a:gd name="connsiteY11" fmla="*/ 1304454 h 1708314"/>
                  <a:gd name="connsiteX12" fmla="*/ 621030 w 926563"/>
                  <a:gd name="connsiteY12" fmla="*/ 1289214 h 1708314"/>
                  <a:gd name="connsiteX13" fmla="*/ 659130 w 926563"/>
                  <a:gd name="connsiteY13" fmla="*/ 1072044 h 1708314"/>
                  <a:gd name="connsiteX14" fmla="*/ 727710 w 926563"/>
                  <a:gd name="connsiteY14" fmla="*/ 89064 h 1708314"/>
                  <a:gd name="connsiteX15" fmla="*/ 819150 w 926563"/>
                  <a:gd name="connsiteY15" fmla="*/ 89064 h 1708314"/>
                  <a:gd name="connsiteX16" fmla="*/ 834390 w 926563"/>
                  <a:gd name="connsiteY16" fmla="*/ 470064 h 1708314"/>
                  <a:gd name="connsiteX17" fmla="*/ 857250 w 926563"/>
                  <a:gd name="connsiteY17" fmla="*/ 748194 h 1708314"/>
                  <a:gd name="connsiteX18" fmla="*/ 887730 w 926563"/>
                  <a:gd name="connsiteY18" fmla="*/ 691044 h 1708314"/>
                  <a:gd name="connsiteX19" fmla="*/ 902970 w 926563"/>
                  <a:gd name="connsiteY19" fmla="*/ 485304 h 1708314"/>
                  <a:gd name="connsiteX20" fmla="*/ 918210 w 926563"/>
                  <a:gd name="connsiteY20" fmla="*/ 809154 h 1708314"/>
                  <a:gd name="connsiteX21" fmla="*/ 925830 w 926563"/>
                  <a:gd name="connsiteY21" fmla="*/ 1433994 h 1708314"/>
                  <a:gd name="connsiteX22" fmla="*/ 925830 w 926563"/>
                  <a:gd name="connsiteY22"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590550 w 926563"/>
                  <a:gd name="connsiteY11" fmla="*/ 1306359 h 1708314"/>
                  <a:gd name="connsiteX12" fmla="*/ 621030 w 926563"/>
                  <a:gd name="connsiteY12" fmla="*/ 1289214 h 1708314"/>
                  <a:gd name="connsiteX13" fmla="*/ 659130 w 926563"/>
                  <a:gd name="connsiteY13" fmla="*/ 1072044 h 1708314"/>
                  <a:gd name="connsiteX14" fmla="*/ 727710 w 926563"/>
                  <a:gd name="connsiteY14" fmla="*/ 89064 h 1708314"/>
                  <a:gd name="connsiteX15" fmla="*/ 819150 w 926563"/>
                  <a:gd name="connsiteY15" fmla="*/ 89064 h 1708314"/>
                  <a:gd name="connsiteX16" fmla="*/ 834390 w 926563"/>
                  <a:gd name="connsiteY16" fmla="*/ 470064 h 1708314"/>
                  <a:gd name="connsiteX17" fmla="*/ 857250 w 926563"/>
                  <a:gd name="connsiteY17" fmla="*/ 748194 h 1708314"/>
                  <a:gd name="connsiteX18" fmla="*/ 887730 w 926563"/>
                  <a:gd name="connsiteY18" fmla="*/ 691044 h 1708314"/>
                  <a:gd name="connsiteX19" fmla="*/ 902970 w 926563"/>
                  <a:gd name="connsiteY19" fmla="*/ 485304 h 1708314"/>
                  <a:gd name="connsiteX20" fmla="*/ 918210 w 926563"/>
                  <a:gd name="connsiteY20" fmla="*/ 809154 h 1708314"/>
                  <a:gd name="connsiteX21" fmla="*/ 925830 w 926563"/>
                  <a:gd name="connsiteY21" fmla="*/ 1433994 h 1708314"/>
                  <a:gd name="connsiteX22" fmla="*/ 925830 w 926563"/>
                  <a:gd name="connsiteY22"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590550 w 926563"/>
                  <a:gd name="connsiteY11" fmla="*/ 1306359 h 1708314"/>
                  <a:gd name="connsiteX12" fmla="*/ 638175 w 926563"/>
                  <a:gd name="connsiteY12" fmla="*/ 1249209 h 1708314"/>
                  <a:gd name="connsiteX13" fmla="*/ 659130 w 926563"/>
                  <a:gd name="connsiteY13" fmla="*/ 1072044 h 1708314"/>
                  <a:gd name="connsiteX14" fmla="*/ 727710 w 926563"/>
                  <a:gd name="connsiteY14" fmla="*/ 89064 h 1708314"/>
                  <a:gd name="connsiteX15" fmla="*/ 819150 w 926563"/>
                  <a:gd name="connsiteY15" fmla="*/ 89064 h 1708314"/>
                  <a:gd name="connsiteX16" fmla="*/ 834390 w 926563"/>
                  <a:gd name="connsiteY16" fmla="*/ 470064 h 1708314"/>
                  <a:gd name="connsiteX17" fmla="*/ 857250 w 926563"/>
                  <a:gd name="connsiteY17" fmla="*/ 748194 h 1708314"/>
                  <a:gd name="connsiteX18" fmla="*/ 887730 w 926563"/>
                  <a:gd name="connsiteY18" fmla="*/ 691044 h 1708314"/>
                  <a:gd name="connsiteX19" fmla="*/ 902970 w 926563"/>
                  <a:gd name="connsiteY19" fmla="*/ 485304 h 1708314"/>
                  <a:gd name="connsiteX20" fmla="*/ 918210 w 926563"/>
                  <a:gd name="connsiteY20" fmla="*/ 809154 h 1708314"/>
                  <a:gd name="connsiteX21" fmla="*/ 925830 w 926563"/>
                  <a:gd name="connsiteY21" fmla="*/ 1433994 h 1708314"/>
                  <a:gd name="connsiteX22" fmla="*/ 925830 w 926563"/>
                  <a:gd name="connsiteY22"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590550 w 926563"/>
                  <a:gd name="connsiteY11" fmla="*/ 1306359 h 1708314"/>
                  <a:gd name="connsiteX12" fmla="*/ 628650 w 926563"/>
                  <a:gd name="connsiteY12" fmla="*/ 1247304 h 1708314"/>
                  <a:gd name="connsiteX13" fmla="*/ 659130 w 926563"/>
                  <a:gd name="connsiteY13" fmla="*/ 1072044 h 1708314"/>
                  <a:gd name="connsiteX14" fmla="*/ 727710 w 926563"/>
                  <a:gd name="connsiteY14" fmla="*/ 89064 h 1708314"/>
                  <a:gd name="connsiteX15" fmla="*/ 819150 w 926563"/>
                  <a:gd name="connsiteY15" fmla="*/ 89064 h 1708314"/>
                  <a:gd name="connsiteX16" fmla="*/ 834390 w 926563"/>
                  <a:gd name="connsiteY16" fmla="*/ 470064 h 1708314"/>
                  <a:gd name="connsiteX17" fmla="*/ 857250 w 926563"/>
                  <a:gd name="connsiteY17" fmla="*/ 748194 h 1708314"/>
                  <a:gd name="connsiteX18" fmla="*/ 887730 w 926563"/>
                  <a:gd name="connsiteY18" fmla="*/ 691044 h 1708314"/>
                  <a:gd name="connsiteX19" fmla="*/ 902970 w 926563"/>
                  <a:gd name="connsiteY19" fmla="*/ 485304 h 1708314"/>
                  <a:gd name="connsiteX20" fmla="*/ 918210 w 926563"/>
                  <a:gd name="connsiteY20" fmla="*/ 809154 h 1708314"/>
                  <a:gd name="connsiteX21" fmla="*/ 925830 w 926563"/>
                  <a:gd name="connsiteY21" fmla="*/ 1433994 h 1708314"/>
                  <a:gd name="connsiteX22" fmla="*/ 925830 w 926563"/>
                  <a:gd name="connsiteY22"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590550 w 926563"/>
                  <a:gd name="connsiteY11" fmla="*/ 1306359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609600 w 926563"/>
                  <a:gd name="connsiteY11" fmla="*/ 129683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609600 w 926563"/>
                  <a:gd name="connsiteY11" fmla="*/ 129683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605790 w 926563"/>
                  <a:gd name="connsiteY11" fmla="*/ 130064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3400 w 926563"/>
                  <a:gd name="connsiteY10" fmla="*/ 1275879 h 1708314"/>
                  <a:gd name="connsiteX11" fmla="*/ 605790 w 926563"/>
                  <a:gd name="connsiteY11" fmla="*/ 130064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3400 w 926563"/>
                  <a:gd name="connsiteY10" fmla="*/ 1275879 h 1708314"/>
                  <a:gd name="connsiteX11" fmla="*/ 617220 w 926563"/>
                  <a:gd name="connsiteY11" fmla="*/ 1287309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3400 w 926563"/>
                  <a:gd name="connsiteY10" fmla="*/ 1275879 h 1708314"/>
                  <a:gd name="connsiteX11" fmla="*/ 611505 w 926563"/>
                  <a:gd name="connsiteY11" fmla="*/ 128921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27189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3400 w 926563"/>
                  <a:gd name="connsiteY10" fmla="*/ 1275879 h 1708314"/>
                  <a:gd name="connsiteX11" fmla="*/ 611505 w 926563"/>
                  <a:gd name="connsiteY11" fmla="*/ 128921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27189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3400 w 926563"/>
                  <a:gd name="connsiteY10" fmla="*/ 1275879 h 1708314"/>
                  <a:gd name="connsiteX11" fmla="*/ 611505 w 926563"/>
                  <a:gd name="connsiteY11" fmla="*/ 128921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61060 w 926563"/>
                  <a:gd name="connsiteY16" fmla="*/ 780579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27189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3400 w 926563"/>
                  <a:gd name="connsiteY10" fmla="*/ 1275879 h 1708314"/>
                  <a:gd name="connsiteX11" fmla="*/ 611505 w 926563"/>
                  <a:gd name="connsiteY11" fmla="*/ 128921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61060 w 926563"/>
                  <a:gd name="connsiteY16" fmla="*/ 780579 h 1708314"/>
                  <a:gd name="connsiteX17" fmla="*/ 887730 w 926563"/>
                  <a:gd name="connsiteY17" fmla="*/ 691044 h 1708314"/>
                  <a:gd name="connsiteX18" fmla="*/ 904875 w 926563"/>
                  <a:gd name="connsiteY18" fmla="*/ 464349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27189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3400 w 926563"/>
                  <a:gd name="connsiteY10" fmla="*/ 1275879 h 1708314"/>
                  <a:gd name="connsiteX11" fmla="*/ 611505 w 926563"/>
                  <a:gd name="connsiteY11" fmla="*/ 128921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61060 w 926563"/>
                  <a:gd name="connsiteY16" fmla="*/ 780579 h 1708314"/>
                  <a:gd name="connsiteX17" fmla="*/ 882015 w 926563"/>
                  <a:gd name="connsiteY17" fmla="*/ 691044 h 1708314"/>
                  <a:gd name="connsiteX18" fmla="*/ 904875 w 926563"/>
                  <a:gd name="connsiteY18" fmla="*/ 464349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10792 h 1710792"/>
                  <a:gd name="connsiteX1" fmla="*/ 7620 w 926563"/>
                  <a:gd name="connsiteY1" fmla="*/ 807822 h 1710792"/>
                  <a:gd name="connsiteX2" fmla="*/ 26670 w 926563"/>
                  <a:gd name="connsiteY2" fmla="*/ 329667 h 1710792"/>
                  <a:gd name="connsiteX3" fmla="*/ 64770 w 926563"/>
                  <a:gd name="connsiteY3" fmla="*/ 594462 h 1710792"/>
                  <a:gd name="connsiteX4" fmla="*/ 95250 w 926563"/>
                  <a:gd name="connsiteY4" fmla="*/ 674472 h 1710792"/>
                  <a:gd name="connsiteX5" fmla="*/ 144780 w 926563"/>
                  <a:gd name="connsiteY5" fmla="*/ 480162 h 1710792"/>
                  <a:gd name="connsiteX6" fmla="*/ 209550 w 926563"/>
                  <a:gd name="connsiteY6" fmla="*/ 541122 h 1710792"/>
                  <a:gd name="connsiteX7" fmla="*/ 306705 w 926563"/>
                  <a:gd name="connsiteY7" fmla="*/ 790677 h 1710792"/>
                  <a:gd name="connsiteX8" fmla="*/ 403860 w 926563"/>
                  <a:gd name="connsiteY8" fmla="*/ 1162152 h 1710792"/>
                  <a:gd name="connsiteX9" fmla="*/ 464820 w 926563"/>
                  <a:gd name="connsiteY9" fmla="*/ 1280262 h 1710792"/>
                  <a:gd name="connsiteX10" fmla="*/ 533400 w 926563"/>
                  <a:gd name="connsiteY10" fmla="*/ 1278357 h 1710792"/>
                  <a:gd name="connsiteX11" fmla="*/ 611505 w 926563"/>
                  <a:gd name="connsiteY11" fmla="*/ 1291692 h 1710792"/>
                  <a:gd name="connsiteX12" fmla="*/ 659130 w 926563"/>
                  <a:gd name="connsiteY12" fmla="*/ 1074522 h 1710792"/>
                  <a:gd name="connsiteX13" fmla="*/ 727710 w 926563"/>
                  <a:gd name="connsiteY13" fmla="*/ 91542 h 1710792"/>
                  <a:gd name="connsiteX14" fmla="*/ 815340 w 926563"/>
                  <a:gd name="connsiteY14" fmla="*/ 85827 h 1710792"/>
                  <a:gd name="connsiteX15" fmla="*/ 834390 w 926563"/>
                  <a:gd name="connsiteY15" fmla="*/ 472542 h 1710792"/>
                  <a:gd name="connsiteX16" fmla="*/ 861060 w 926563"/>
                  <a:gd name="connsiteY16" fmla="*/ 783057 h 1710792"/>
                  <a:gd name="connsiteX17" fmla="*/ 882015 w 926563"/>
                  <a:gd name="connsiteY17" fmla="*/ 693522 h 1710792"/>
                  <a:gd name="connsiteX18" fmla="*/ 904875 w 926563"/>
                  <a:gd name="connsiteY18" fmla="*/ 466827 h 1710792"/>
                  <a:gd name="connsiteX19" fmla="*/ 918210 w 926563"/>
                  <a:gd name="connsiteY19" fmla="*/ 811632 h 1710792"/>
                  <a:gd name="connsiteX20" fmla="*/ 925830 w 926563"/>
                  <a:gd name="connsiteY20" fmla="*/ 1436472 h 1710792"/>
                  <a:gd name="connsiteX21" fmla="*/ 925830 w 926563"/>
                  <a:gd name="connsiteY21" fmla="*/ 1710792 h 1710792"/>
                  <a:gd name="connsiteX0" fmla="*/ 0 w 926563"/>
                  <a:gd name="connsiteY0" fmla="*/ 1710792 h 1710792"/>
                  <a:gd name="connsiteX1" fmla="*/ 7620 w 926563"/>
                  <a:gd name="connsiteY1" fmla="*/ 807822 h 1710792"/>
                  <a:gd name="connsiteX2" fmla="*/ 26670 w 926563"/>
                  <a:gd name="connsiteY2" fmla="*/ 329667 h 1710792"/>
                  <a:gd name="connsiteX3" fmla="*/ 64770 w 926563"/>
                  <a:gd name="connsiteY3" fmla="*/ 594462 h 1710792"/>
                  <a:gd name="connsiteX4" fmla="*/ 95250 w 926563"/>
                  <a:gd name="connsiteY4" fmla="*/ 674472 h 1710792"/>
                  <a:gd name="connsiteX5" fmla="*/ 144780 w 926563"/>
                  <a:gd name="connsiteY5" fmla="*/ 480162 h 1710792"/>
                  <a:gd name="connsiteX6" fmla="*/ 209550 w 926563"/>
                  <a:gd name="connsiteY6" fmla="*/ 541122 h 1710792"/>
                  <a:gd name="connsiteX7" fmla="*/ 306705 w 926563"/>
                  <a:gd name="connsiteY7" fmla="*/ 790677 h 1710792"/>
                  <a:gd name="connsiteX8" fmla="*/ 403860 w 926563"/>
                  <a:gd name="connsiteY8" fmla="*/ 1162152 h 1710792"/>
                  <a:gd name="connsiteX9" fmla="*/ 464820 w 926563"/>
                  <a:gd name="connsiteY9" fmla="*/ 1280262 h 1710792"/>
                  <a:gd name="connsiteX10" fmla="*/ 533400 w 926563"/>
                  <a:gd name="connsiteY10" fmla="*/ 1278357 h 1710792"/>
                  <a:gd name="connsiteX11" fmla="*/ 611505 w 926563"/>
                  <a:gd name="connsiteY11" fmla="*/ 1291692 h 1710792"/>
                  <a:gd name="connsiteX12" fmla="*/ 659130 w 926563"/>
                  <a:gd name="connsiteY12" fmla="*/ 1074522 h 1710792"/>
                  <a:gd name="connsiteX13" fmla="*/ 727710 w 926563"/>
                  <a:gd name="connsiteY13" fmla="*/ 91542 h 1710792"/>
                  <a:gd name="connsiteX14" fmla="*/ 815340 w 926563"/>
                  <a:gd name="connsiteY14" fmla="*/ 85827 h 1710792"/>
                  <a:gd name="connsiteX15" fmla="*/ 834390 w 926563"/>
                  <a:gd name="connsiteY15" fmla="*/ 472542 h 1710792"/>
                  <a:gd name="connsiteX16" fmla="*/ 861060 w 926563"/>
                  <a:gd name="connsiteY16" fmla="*/ 783057 h 1710792"/>
                  <a:gd name="connsiteX17" fmla="*/ 882015 w 926563"/>
                  <a:gd name="connsiteY17" fmla="*/ 693522 h 1710792"/>
                  <a:gd name="connsiteX18" fmla="*/ 904875 w 926563"/>
                  <a:gd name="connsiteY18" fmla="*/ 466827 h 1710792"/>
                  <a:gd name="connsiteX19" fmla="*/ 918210 w 926563"/>
                  <a:gd name="connsiteY19" fmla="*/ 811632 h 1710792"/>
                  <a:gd name="connsiteX20" fmla="*/ 925830 w 926563"/>
                  <a:gd name="connsiteY20" fmla="*/ 1436472 h 1710792"/>
                  <a:gd name="connsiteX21" fmla="*/ 925830 w 926563"/>
                  <a:gd name="connsiteY21" fmla="*/ 1710792 h 1710792"/>
                  <a:gd name="connsiteX0" fmla="*/ 0 w 926563"/>
                  <a:gd name="connsiteY0" fmla="*/ 1681976 h 1681976"/>
                  <a:gd name="connsiteX1" fmla="*/ 7620 w 926563"/>
                  <a:gd name="connsiteY1" fmla="*/ 779006 h 1681976"/>
                  <a:gd name="connsiteX2" fmla="*/ 26670 w 926563"/>
                  <a:gd name="connsiteY2" fmla="*/ 300851 h 1681976"/>
                  <a:gd name="connsiteX3" fmla="*/ 64770 w 926563"/>
                  <a:gd name="connsiteY3" fmla="*/ 565646 h 1681976"/>
                  <a:gd name="connsiteX4" fmla="*/ 95250 w 926563"/>
                  <a:gd name="connsiteY4" fmla="*/ 645656 h 1681976"/>
                  <a:gd name="connsiteX5" fmla="*/ 144780 w 926563"/>
                  <a:gd name="connsiteY5" fmla="*/ 451346 h 1681976"/>
                  <a:gd name="connsiteX6" fmla="*/ 209550 w 926563"/>
                  <a:gd name="connsiteY6" fmla="*/ 512306 h 1681976"/>
                  <a:gd name="connsiteX7" fmla="*/ 306705 w 926563"/>
                  <a:gd name="connsiteY7" fmla="*/ 761861 h 1681976"/>
                  <a:gd name="connsiteX8" fmla="*/ 403860 w 926563"/>
                  <a:gd name="connsiteY8" fmla="*/ 1133336 h 1681976"/>
                  <a:gd name="connsiteX9" fmla="*/ 464820 w 926563"/>
                  <a:gd name="connsiteY9" fmla="*/ 1251446 h 1681976"/>
                  <a:gd name="connsiteX10" fmla="*/ 533400 w 926563"/>
                  <a:gd name="connsiteY10" fmla="*/ 1249541 h 1681976"/>
                  <a:gd name="connsiteX11" fmla="*/ 611505 w 926563"/>
                  <a:gd name="connsiteY11" fmla="*/ 1262876 h 1681976"/>
                  <a:gd name="connsiteX12" fmla="*/ 659130 w 926563"/>
                  <a:gd name="connsiteY12" fmla="*/ 1045706 h 1681976"/>
                  <a:gd name="connsiteX13" fmla="*/ 727710 w 926563"/>
                  <a:gd name="connsiteY13" fmla="*/ 62726 h 1681976"/>
                  <a:gd name="connsiteX14" fmla="*/ 771525 w 926563"/>
                  <a:gd name="connsiteY14" fmla="*/ 95111 h 1681976"/>
                  <a:gd name="connsiteX15" fmla="*/ 815340 w 926563"/>
                  <a:gd name="connsiteY15" fmla="*/ 57011 h 1681976"/>
                  <a:gd name="connsiteX16" fmla="*/ 834390 w 926563"/>
                  <a:gd name="connsiteY16" fmla="*/ 443726 h 1681976"/>
                  <a:gd name="connsiteX17" fmla="*/ 861060 w 926563"/>
                  <a:gd name="connsiteY17" fmla="*/ 754241 h 1681976"/>
                  <a:gd name="connsiteX18" fmla="*/ 882015 w 926563"/>
                  <a:gd name="connsiteY18" fmla="*/ 664706 h 1681976"/>
                  <a:gd name="connsiteX19" fmla="*/ 904875 w 926563"/>
                  <a:gd name="connsiteY19" fmla="*/ 438011 h 1681976"/>
                  <a:gd name="connsiteX20" fmla="*/ 918210 w 926563"/>
                  <a:gd name="connsiteY20" fmla="*/ 782816 h 1681976"/>
                  <a:gd name="connsiteX21" fmla="*/ 925830 w 926563"/>
                  <a:gd name="connsiteY21" fmla="*/ 1407656 h 1681976"/>
                  <a:gd name="connsiteX22" fmla="*/ 925830 w 926563"/>
                  <a:gd name="connsiteY22" fmla="*/ 1681976 h 1681976"/>
                  <a:gd name="connsiteX0" fmla="*/ 0 w 926563"/>
                  <a:gd name="connsiteY0" fmla="*/ 1710792 h 1710792"/>
                  <a:gd name="connsiteX1" fmla="*/ 7620 w 926563"/>
                  <a:gd name="connsiteY1" fmla="*/ 807822 h 1710792"/>
                  <a:gd name="connsiteX2" fmla="*/ 26670 w 926563"/>
                  <a:gd name="connsiteY2" fmla="*/ 329667 h 1710792"/>
                  <a:gd name="connsiteX3" fmla="*/ 64770 w 926563"/>
                  <a:gd name="connsiteY3" fmla="*/ 594462 h 1710792"/>
                  <a:gd name="connsiteX4" fmla="*/ 95250 w 926563"/>
                  <a:gd name="connsiteY4" fmla="*/ 674472 h 1710792"/>
                  <a:gd name="connsiteX5" fmla="*/ 144780 w 926563"/>
                  <a:gd name="connsiteY5" fmla="*/ 480162 h 1710792"/>
                  <a:gd name="connsiteX6" fmla="*/ 209550 w 926563"/>
                  <a:gd name="connsiteY6" fmla="*/ 541122 h 1710792"/>
                  <a:gd name="connsiteX7" fmla="*/ 306705 w 926563"/>
                  <a:gd name="connsiteY7" fmla="*/ 790677 h 1710792"/>
                  <a:gd name="connsiteX8" fmla="*/ 403860 w 926563"/>
                  <a:gd name="connsiteY8" fmla="*/ 1162152 h 1710792"/>
                  <a:gd name="connsiteX9" fmla="*/ 464820 w 926563"/>
                  <a:gd name="connsiteY9" fmla="*/ 1280262 h 1710792"/>
                  <a:gd name="connsiteX10" fmla="*/ 533400 w 926563"/>
                  <a:gd name="connsiteY10" fmla="*/ 1278357 h 1710792"/>
                  <a:gd name="connsiteX11" fmla="*/ 611505 w 926563"/>
                  <a:gd name="connsiteY11" fmla="*/ 1291692 h 1710792"/>
                  <a:gd name="connsiteX12" fmla="*/ 659130 w 926563"/>
                  <a:gd name="connsiteY12" fmla="*/ 1074522 h 1710792"/>
                  <a:gd name="connsiteX13" fmla="*/ 727710 w 926563"/>
                  <a:gd name="connsiteY13" fmla="*/ 91542 h 1710792"/>
                  <a:gd name="connsiteX14" fmla="*/ 815340 w 926563"/>
                  <a:gd name="connsiteY14" fmla="*/ 85827 h 1710792"/>
                  <a:gd name="connsiteX15" fmla="*/ 834390 w 926563"/>
                  <a:gd name="connsiteY15" fmla="*/ 472542 h 1710792"/>
                  <a:gd name="connsiteX16" fmla="*/ 861060 w 926563"/>
                  <a:gd name="connsiteY16" fmla="*/ 783057 h 1710792"/>
                  <a:gd name="connsiteX17" fmla="*/ 882015 w 926563"/>
                  <a:gd name="connsiteY17" fmla="*/ 693522 h 1710792"/>
                  <a:gd name="connsiteX18" fmla="*/ 904875 w 926563"/>
                  <a:gd name="connsiteY18" fmla="*/ 466827 h 1710792"/>
                  <a:gd name="connsiteX19" fmla="*/ 918210 w 926563"/>
                  <a:gd name="connsiteY19" fmla="*/ 811632 h 1710792"/>
                  <a:gd name="connsiteX20" fmla="*/ 925830 w 926563"/>
                  <a:gd name="connsiteY20" fmla="*/ 1436472 h 1710792"/>
                  <a:gd name="connsiteX21" fmla="*/ 925830 w 926563"/>
                  <a:gd name="connsiteY21" fmla="*/ 1710792 h 1710792"/>
                  <a:gd name="connsiteX0" fmla="*/ 0 w 926563"/>
                  <a:gd name="connsiteY0" fmla="*/ 1636463 h 1636463"/>
                  <a:gd name="connsiteX1" fmla="*/ 7620 w 926563"/>
                  <a:gd name="connsiteY1" fmla="*/ 733493 h 1636463"/>
                  <a:gd name="connsiteX2" fmla="*/ 26670 w 926563"/>
                  <a:gd name="connsiteY2" fmla="*/ 255338 h 1636463"/>
                  <a:gd name="connsiteX3" fmla="*/ 64770 w 926563"/>
                  <a:gd name="connsiteY3" fmla="*/ 520133 h 1636463"/>
                  <a:gd name="connsiteX4" fmla="*/ 95250 w 926563"/>
                  <a:gd name="connsiteY4" fmla="*/ 600143 h 1636463"/>
                  <a:gd name="connsiteX5" fmla="*/ 144780 w 926563"/>
                  <a:gd name="connsiteY5" fmla="*/ 405833 h 1636463"/>
                  <a:gd name="connsiteX6" fmla="*/ 209550 w 926563"/>
                  <a:gd name="connsiteY6" fmla="*/ 466793 h 1636463"/>
                  <a:gd name="connsiteX7" fmla="*/ 306705 w 926563"/>
                  <a:gd name="connsiteY7" fmla="*/ 716348 h 1636463"/>
                  <a:gd name="connsiteX8" fmla="*/ 403860 w 926563"/>
                  <a:gd name="connsiteY8" fmla="*/ 1087823 h 1636463"/>
                  <a:gd name="connsiteX9" fmla="*/ 464820 w 926563"/>
                  <a:gd name="connsiteY9" fmla="*/ 1205933 h 1636463"/>
                  <a:gd name="connsiteX10" fmla="*/ 533400 w 926563"/>
                  <a:gd name="connsiteY10" fmla="*/ 1204028 h 1636463"/>
                  <a:gd name="connsiteX11" fmla="*/ 611505 w 926563"/>
                  <a:gd name="connsiteY11" fmla="*/ 1217363 h 1636463"/>
                  <a:gd name="connsiteX12" fmla="*/ 659130 w 926563"/>
                  <a:gd name="connsiteY12" fmla="*/ 1000193 h 1636463"/>
                  <a:gd name="connsiteX13" fmla="*/ 727710 w 926563"/>
                  <a:gd name="connsiteY13" fmla="*/ 17213 h 1636463"/>
                  <a:gd name="connsiteX14" fmla="*/ 834390 w 926563"/>
                  <a:gd name="connsiteY14" fmla="*/ 398213 h 1636463"/>
                  <a:gd name="connsiteX15" fmla="*/ 861060 w 926563"/>
                  <a:gd name="connsiteY15" fmla="*/ 708728 h 1636463"/>
                  <a:gd name="connsiteX16" fmla="*/ 882015 w 926563"/>
                  <a:gd name="connsiteY16" fmla="*/ 619193 h 1636463"/>
                  <a:gd name="connsiteX17" fmla="*/ 904875 w 926563"/>
                  <a:gd name="connsiteY17" fmla="*/ 392498 h 1636463"/>
                  <a:gd name="connsiteX18" fmla="*/ 918210 w 926563"/>
                  <a:gd name="connsiteY18" fmla="*/ 737303 h 1636463"/>
                  <a:gd name="connsiteX19" fmla="*/ 925830 w 926563"/>
                  <a:gd name="connsiteY19" fmla="*/ 1362143 h 1636463"/>
                  <a:gd name="connsiteX20" fmla="*/ 925830 w 926563"/>
                  <a:gd name="connsiteY20" fmla="*/ 1636463 h 1636463"/>
                  <a:gd name="connsiteX0" fmla="*/ 0 w 926563"/>
                  <a:gd name="connsiteY0" fmla="*/ 1621878 h 1621878"/>
                  <a:gd name="connsiteX1" fmla="*/ 7620 w 926563"/>
                  <a:gd name="connsiteY1" fmla="*/ 718908 h 1621878"/>
                  <a:gd name="connsiteX2" fmla="*/ 26670 w 926563"/>
                  <a:gd name="connsiteY2" fmla="*/ 240753 h 1621878"/>
                  <a:gd name="connsiteX3" fmla="*/ 64770 w 926563"/>
                  <a:gd name="connsiteY3" fmla="*/ 505548 h 1621878"/>
                  <a:gd name="connsiteX4" fmla="*/ 95250 w 926563"/>
                  <a:gd name="connsiteY4" fmla="*/ 585558 h 1621878"/>
                  <a:gd name="connsiteX5" fmla="*/ 144780 w 926563"/>
                  <a:gd name="connsiteY5" fmla="*/ 391248 h 1621878"/>
                  <a:gd name="connsiteX6" fmla="*/ 209550 w 926563"/>
                  <a:gd name="connsiteY6" fmla="*/ 452208 h 1621878"/>
                  <a:gd name="connsiteX7" fmla="*/ 306705 w 926563"/>
                  <a:gd name="connsiteY7" fmla="*/ 701763 h 1621878"/>
                  <a:gd name="connsiteX8" fmla="*/ 403860 w 926563"/>
                  <a:gd name="connsiteY8" fmla="*/ 1073238 h 1621878"/>
                  <a:gd name="connsiteX9" fmla="*/ 464820 w 926563"/>
                  <a:gd name="connsiteY9" fmla="*/ 1191348 h 1621878"/>
                  <a:gd name="connsiteX10" fmla="*/ 533400 w 926563"/>
                  <a:gd name="connsiteY10" fmla="*/ 1189443 h 1621878"/>
                  <a:gd name="connsiteX11" fmla="*/ 611505 w 926563"/>
                  <a:gd name="connsiteY11" fmla="*/ 1202778 h 1621878"/>
                  <a:gd name="connsiteX12" fmla="*/ 659130 w 926563"/>
                  <a:gd name="connsiteY12" fmla="*/ 985608 h 1621878"/>
                  <a:gd name="connsiteX13" fmla="*/ 727710 w 926563"/>
                  <a:gd name="connsiteY13" fmla="*/ 2628 h 1621878"/>
                  <a:gd name="connsiteX14" fmla="*/ 861060 w 926563"/>
                  <a:gd name="connsiteY14" fmla="*/ 694143 h 1621878"/>
                  <a:gd name="connsiteX15" fmla="*/ 882015 w 926563"/>
                  <a:gd name="connsiteY15" fmla="*/ 604608 h 1621878"/>
                  <a:gd name="connsiteX16" fmla="*/ 904875 w 926563"/>
                  <a:gd name="connsiteY16" fmla="*/ 377913 h 1621878"/>
                  <a:gd name="connsiteX17" fmla="*/ 918210 w 926563"/>
                  <a:gd name="connsiteY17" fmla="*/ 722718 h 1621878"/>
                  <a:gd name="connsiteX18" fmla="*/ 925830 w 926563"/>
                  <a:gd name="connsiteY18" fmla="*/ 1347558 h 1621878"/>
                  <a:gd name="connsiteX19" fmla="*/ 925830 w 926563"/>
                  <a:gd name="connsiteY19" fmla="*/ 1621878 h 1621878"/>
                  <a:gd name="connsiteX0" fmla="*/ 0 w 926563"/>
                  <a:gd name="connsiteY0" fmla="*/ 1623927 h 1623927"/>
                  <a:gd name="connsiteX1" fmla="*/ 7620 w 926563"/>
                  <a:gd name="connsiteY1" fmla="*/ 720957 h 1623927"/>
                  <a:gd name="connsiteX2" fmla="*/ 26670 w 926563"/>
                  <a:gd name="connsiteY2" fmla="*/ 242802 h 1623927"/>
                  <a:gd name="connsiteX3" fmla="*/ 64770 w 926563"/>
                  <a:gd name="connsiteY3" fmla="*/ 507597 h 1623927"/>
                  <a:gd name="connsiteX4" fmla="*/ 95250 w 926563"/>
                  <a:gd name="connsiteY4" fmla="*/ 587607 h 1623927"/>
                  <a:gd name="connsiteX5" fmla="*/ 144780 w 926563"/>
                  <a:gd name="connsiteY5" fmla="*/ 393297 h 1623927"/>
                  <a:gd name="connsiteX6" fmla="*/ 209550 w 926563"/>
                  <a:gd name="connsiteY6" fmla="*/ 454257 h 1623927"/>
                  <a:gd name="connsiteX7" fmla="*/ 306705 w 926563"/>
                  <a:gd name="connsiteY7" fmla="*/ 703812 h 1623927"/>
                  <a:gd name="connsiteX8" fmla="*/ 403860 w 926563"/>
                  <a:gd name="connsiteY8" fmla="*/ 1075287 h 1623927"/>
                  <a:gd name="connsiteX9" fmla="*/ 464820 w 926563"/>
                  <a:gd name="connsiteY9" fmla="*/ 1193397 h 1623927"/>
                  <a:gd name="connsiteX10" fmla="*/ 533400 w 926563"/>
                  <a:gd name="connsiteY10" fmla="*/ 1191492 h 1623927"/>
                  <a:gd name="connsiteX11" fmla="*/ 611505 w 926563"/>
                  <a:gd name="connsiteY11" fmla="*/ 1204827 h 1623927"/>
                  <a:gd name="connsiteX12" fmla="*/ 659130 w 926563"/>
                  <a:gd name="connsiteY12" fmla="*/ 987657 h 1623927"/>
                  <a:gd name="connsiteX13" fmla="*/ 727710 w 926563"/>
                  <a:gd name="connsiteY13" fmla="*/ 4677 h 1623927"/>
                  <a:gd name="connsiteX14" fmla="*/ 882015 w 926563"/>
                  <a:gd name="connsiteY14" fmla="*/ 606657 h 1623927"/>
                  <a:gd name="connsiteX15" fmla="*/ 904875 w 926563"/>
                  <a:gd name="connsiteY15" fmla="*/ 379962 h 1623927"/>
                  <a:gd name="connsiteX16" fmla="*/ 918210 w 926563"/>
                  <a:gd name="connsiteY16" fmla="*/ 724767 h 1623927"/>
                  <a:gd name="connsiteX17" fmla="*/ 925830 w 926563"/>
                  <a:gd name="connsiteY17" fmla="*/ 1349607 h 1623927"/>
                  <a:gd name="connsiteX18" fmla="*/ 925830 w 926563"/>
                  <a:gd name="connsiteY18" fmla="*/ 1623927 h 1623927"/>
                  <a:gd name="connsiteX0" fmla="*/ 0 w 926563"/>
                  <a:gd name="connsiteY0" fmla="*/ 1624373 h 1624373"/>
                  <a:gd name="connsiteX1" fmla="*/ 7620 w 926563"/>
                  <a:gd name="connsiteY1" fmla="*/ 721403 h 1624373"/>
                  <a:gd name="connsiteX2" fmla="*/ 26670 w 926563"/>
                  <a:gd name="connsiteY2" fmla="*/ 243248 h 1624373"/>
                  <a:gd name="connsiteX3" fmla="*/ 64770 w 926563"/>
                  <a:gd name="connsiteY3" fmla="*/ 508043 h 1624373"/>
                  <a:gd name="connsiteX4" fmla="*/ 95250 w 926563"/>
                  <a:gd name="connsiteY4" fmla="*/ 588053 h 1624373"/>
                  <a:gd name="connsiteX5" fmla="*/ 144780 w 926563"/>
                  <a:gd name="connsiteY5" fmla="*/ 393743 h 1624373"/>
                  <a:gd name="connsiteX6" fmla="*/ 209550 w 926563"/>
                  <a:gd name="connsiteY6" fmla="*/ 454703 h 1624373"/>
                  <a:gd name="connsiteX7" fmla="*/ 306705 w 926563"/>
                  <a:gd name="connsiteY7" fmla="*/ 704258 h 1624373"/>
                  <a:gd name="connsiteX8" fmla="*/ 403860 w 926563"/>
                  <a:gd name="connsiteY8" fmla="*/ 1075733 h 1624373"/>
                  <a:gd name="connsiteX9" fmla="*/ 464820 w 926563"/>
                  <a:gd name="connsiteY9" fmla="*/ 1193843 h 1624373"/>
                  <a:gd name="connsiteX10" fmla="*/ 533400 w 926563"/>
                  <a:gd name="connsiteY10" fmla="*/ 1191938 h 1624373"/>
                  <a:gd name="connsiteX11" fmla="*/ 611505 w 926563"/>
                  <a:gd name="connsiteY11" fmla="*/ 1205273 h 1624373"/>
                  <a:gd name="connsiteX12" fmla="*/ 659130 w 926563"/>
                  <a:gd name="connsiteY12" fmla="*/ 988103 h 1624373"/>
                  <a:gd name="connsiteX13" fmla="*/ 727710 w 926563"/>
                  <a:gd name="connsiteY13" fmla="*/ 5123 h 1624373"/>
                  <a:gd name="connsiteX14" fmla="*/ 882015 w 926563"/>
                  <a:gd name="connsiteY14" fmla="*/ 607103 h 1624373"/>
                  <a:gd name="connsiteX15" fmla="*/ 918210 w 926563"/>
                  <a:gd name="connsiteY15" fmla="*/ 725213 h 1624373"/>
                  <a:gd name="connsiteX16" fmla="*/ 925830 w 926563"/>
                  <a:gd name="connsiteY16" fmla="*/ 1350053 h 1624373"/>
                  <a:gd name="connsiteX17" fmla="*/ 925830 w 926563"/>
                  <a:gd name="connsiteY17" fmla="*/ 1624373 h 1624373"/>
                  <a:gd name="connsiteX0" fmla="*/ 0 w 926563"/>
                  <a:gd name="connsiteY0" fmla="*/ 1621768 h 1621768"/>
                  <a:gd name="connsiteX1" fmla="*/ 7620 w 926563"/>
                  <a:gd name="connsiteY1" fmla="*/ 718798 h 1621768"/>
                  <a:gd name="connsiteX2" fmla="*/ 26670 w 926563"/>
                  <a:gd name="connsiteY2" fmla="*/ 240643 h 1621768"/>
                  <a:gd name="connsiteX3" fmla="*/ 64770 w 926563"/>
                  <a:gd name="connsiteY3" fmla="*/ 505438 h 1621768"/>
                  <a:gd name="connsiteX4" fmla="*/ 95250 w 926563"/>
                  <a:gd name="connsiteY4" fmla="*/ 585448 h 1621768"/>
                  <a:gd name="connsiteX5" fmla="*/ 144780 w 926563"/>
                  <a:gd name="connsiteY5" fmla="*/ 391138 h 1621768"/>
                  <a:gd name="connsiteX6" fmla="*/ 209550 w 926563"/>
                  <a:gd name="connsiteY6" fmla="*/ 452098 h 1621768"/>
                  <a:gd name="connsiteX7" fmla="*/ 306705 w 926563"/>
                  <a:gd name="connsiteY7" fmla="*/ 701653 h 1621768"/>
                  <a:gd name="connsiteX8" fmla="*/ 403860 w 926563"/>
                  <a:gd name="connsiteY8" fmla="*/ 1073128 h 1621768"/>
                  <a:gd name="connsiteX9" fmla="*/ 464820 w 926563"/>
                  <a:gd name="connsiteY9" fmla="*/ 1191238 h 1621768"/>
                  <a:gd name="connsiteX10" fmla="*/ 533400 w 926563"/>
                  <a:gd name="connsiteY10" fmla="*/ 1189333 h 1621768"/>
                  <a:gd name="connsiteX11" fmla="*/ 611505 w 926563"/>
                  <a:gd name="connsiteY11" fmla="*/ 1202668 h 1621768"/>
                  <a:gd name="connsiteX12" fmla="*/ 659130 w 926563"/>
                  <a:gd name="connsiteY12" fmla="*/ 985498 h 1621768"/>
                  <a:gd name="connsiteX13" fmla="*/ 727710 w 926563"/>
                  <a:gd name="connsiteY13" fmla="*/ 2518 h 1621768"/>
                  <a:gd name="connsiteX14" fmla="*/ 918210 w 926563"/>
                  <a:gd name="connsiteY14" fmla="*/ 722608 h 1621768"/>
                  <a:gd name="connsiteX15" fmla="*/ 925830 w 926563"/>
                  <a:gd name="connsiteY15" fmla="*/ 1347448 h 1621768"/>
                  <a:gd name="connsiteX16" fmla="*/ 925830 w 926563"/>
                  <a:gd name="connsiteY16" fmla="*/ 1621768 h 1621768"/>
                  <a:gd name="connsiteX0" fmla="*/ 0 w 926563"/>
                  <a:gd name="connsiteY0" fmla="*/ 1622330 h 1622330"/>
                  <a:gd name="connsiteX1" fmla="*/ 7620 w 926563"/>
                  <a:gd name="connsiteY1" fmla="*/ 719360 h 1622330"/>
                  <a:gd name="connsiteX2" fmla="*/ 26670 w 926563"/>
                  <a:gd name="connsiteY2" fmla="*/ 241205 h 1622330"/>
                  <a:gd name="connsiteX3" fmla="*/ 64770 w 926563"/>
                  <a:gd name="connsiteY3" fmla="*/ 506000 h 1622330"/>
                  <a:gd name="connsiteX4" fmla="*/ 95250 w 926563"/>
                  <a:gd name="connsiteY4" fmla="*/ 586010 h 1622330"/>
                  <a:gd name="connsiteX5" fmla="*/ 144780 w 926563"/>
                  <a:gd name="connsiteY5" fmla="*/ 391700 h 1622330"/>
                  <a:gd name="connsiteX6" fmla="*/ 209550 w 926563"/>
                  <a:gd name="connsiteY6" fmla="*/ 452660 h 1622330"/>
                  <a:gd name="connsiteX7" fmla="*/ 306705 w 926563"/>
                  <a:gd name="connsiteY7" fmla="*/ 702215 h 1622330"/>
                  <a:gd name="connsiteX8" fmla="*/ 403860 w 926563"/>
                  <a:gd name="connsiteY8" fmla="*/ 1073690 h 1622330"/>
                  <a:gd name="connsiteX9" fmla="*/ 464820 w 926563"/>
                  <a:gd name="connsiteY9" fmla="*/ 1191800 h 1622330"/>
                  <a:gd name="connsiteX10" fmla="*/ 533400 w 926563"/>
                  <a:gd name="connsiteY10" fmla="*/ 1189895 h 1622330"/>
                  <a:gd name="connsiteX11" fmla="*/ 611505 w 926563"/>
                  <a:gd name="connsiteY11" fmla="*/ 1203230 h 1622330"/>
                  <a:gd name="connsiteX12" fmla="*/ 659130 w 926563"/>
                  <a:gd name="connsiteY12" fmla="*/ 986060 h 1622330"/>
                  <a:gd name="connsiteX13" fmla="*/ 727710 w 926563"/>
                  <a:gd name="connsiteY13" fmla="*/ 3080 h 1622330"/>
                  <a:gd name="connsiteX14" fmla="*/ 925830 w 926563"/>
                  <a:gd name="connsiteY14" fmla="*/ 1348010 h 1622330"/>
                  <a:gd name="connsiteX15" fmla="*/ 925830 w 926563"/>
                  <a:gd name="connsiteY15" fmla="*/ 1622330 h 1622330"/>
                  <a:gd name="connsiteX0" fmla="*/ 0 w 925830"/>
                  <a:gd name="connsiteY0" fmla="*/ 1627999 h 1627999"/>
                  <a:gd name="connsiteX1" fmla="*/ 7620 w 925830"/>
                  <a:gd name="connsiteY1" fmla="*/ 725029 h 1627999"/>
                  <a:gd name="connsiteX2" fmla="*/ 26670 w 925830"/>
                  <a:gd name="connsiteY2" fmla="*/ 246874 h 1627999"/>
                  <a:gd name="connsiteX3" fmla="*/ 64770 w 925830"/>
                  <a:gd name="connsiteY3" fmla="*/ 511669 h 1627999"/>
                  <a:gd name="connsiteX4" fmla="*/ 95250 w 925830"/>
                  <a:gd name="connsiteY4" fmla="*/ 591679 h 1627999"/>
                  <a:gd name="connsiteX5" fmla="*/ 144780 w 925830"/>
                  <a:gd name="connsiteY5" fmla="*/ 397369 h 1627999"/>
                  <a:gd name="connsiteX6" fmla="*/ 209550 w 925830"/>
                  <a:gd name="connsiteY6" fmla="*/ 458329 h 1627999"/>
                  <a:gd name="connsiteX7" fmla="*/ 306705 w 925830"/>
                  <a:gd name="connsiteY7" fmla="*/ 707884 h 1627999"/>
                  <a:gd name="connsiteX8" fmla="*/ 403860 w 925830"/>
                  <a:gd name="connsiteY8" fmla="*/ 1079359 h 1627999"/>
                  <a:gd name="connsiteX9" fmla="*/ 464820 w 925830"/>
                  <a:gd name="connsiteY9" fmla="*/ 1197469 h 1627999"/>
                  <a:gd name="connsiteX10" fmla="*/ 533400 w 925830"/>
                  <a:gd name="connsiteY10" fmla="*/ 1195564 h 1627999"/>
                  <a:gd name="connsiteX11" fmla="*/ 611505 w 925830"/>
                  <a:gd name="connsiteY11" fmla="*/ 1208899 h 1627999"/>
                  <a:gd name="connsiteX12" fmla="*/ 659130 w 925830"/>
                  <a:gd name="connsiteY12" fmla="*/ 991729 h 1627999"/>
                  <a:gd name="connsiteX13" fmla="*/ 727710 w 925830"/>
                  <a:gd name="connsiteY13" fmla="*/ 8749 h 1627999"/>
                  <a:gd name="connsiteX14" fmla="*/ 925830 w 925830"/>
                  <a:gd name="connsiteY14" fmla="*/ 1627999 h 1627999"/>
                  <a:gd name="connsiteX0" fmla="*/ 0 w 727710"/>
                  <a:gd name="connsiteY0" fmla="*/ 1627999 h 1627999"/>
                  <a:gd name="connsiteX1" fmla="*/ 7620 w 727710"/>
                  <a:gd name="connsiteY1" fmla="*/ 725029 h 1627999"/>
                  <a:gd name="connsiteX2" fmla="*/ 26670 w 727710"/>
                  <a:gd name="connsiteY2" fmla="*/ 246874 h 1627999"/>
                  <a:gd name="connsiteX3" fmla="*/ 64770 w 727710"/>
                  <a:gd name="connsiteY3" fmla="*/ 511669 h 1627999"/>
                  <a:gd name="connsiteX4" fmla="*/ 95250 w 727710"/>
                  <a:gd name="connsiteY4" fmla="*/ 591679 h 1627999"/>
                  <a:gd name="connsiteX5" fmla="*/ 144780 w 727710"/>
                  <a:gd name="connsiteY5" fmla="*/ 397369 h 1627999"/>
                  <a:gd name="connsiteX6" fmla="*/ 209550 w 727710"/>
                  <a:gd name="connsiteY6" fmla="*/ 458329 h 1627999"/>
                  <a:gd name="connsiteX7" fmla="*/ 306705 w 727710"/>
                  <a:gd name="connsiteY7" fmla="*/ 707884 h 1627999"/>
                  <a:gd name="connsiteX8" fmla="*/ 403860 w 727710"/>
                  <a:gd name="connsiteY8" fmla="*/ 1079359 h 1627999"/>
                  <a:gd name="connsiteX9" fmla="*/ 464820 w 727710"/>
                  <a:gd name="connsiteY9" fmla="*/ 1197469 h 1627999"/>
                  <a:gd name="connsiteX10" fmla="*/ 533400 w 727710"/>
                  <a:gd name="connsiteY10" fmla="*/ 1195564 h 1627999"/>
                  <a:gd name="connsiteX11" fmla="*/ 611505 w 727710"/>
                  <a:gd name="connsiteY11" fmla="*/ 1208899 h 1627999"/>
                  <a:gd name="connsiteX12" fmla="*/ 659130 w 727710"/>
                  <a:gd name="connsiteY12" fmla="*/ 991729 h 1627999"/>
                  <a:gd name="connsiteX13" fmla="*/ 727710 w 727710"/>
                  <a:gd name="connsiteY13" fmla="*/ 8749 h 1627999"/>
                  <a:gd name="connsiteX0" fmla="*/ 0 w 748665"/>
                  <a:gd name="connsiteY0" fmla="*/ 1618548 h 1618548"/>
                  <a:gd name="connsiteX1" fmla="*/ 7620 w 748665"/>
                  <a:gd name="connsiteY1" fmla="*/ 715578 h 1618548"/>
                  <a:gd name="connsiteX2" fmla="*/ 26670 w 748665"/>
                  <a:gd name="connsiteY2" fmla="*/ 237423 h 1618548"/>
                  <a:gd name="connsiteX3" fmla="*/ 64770 w 748665"/>
                  <a:gd name="connsiteY3" fmla="*/ 502218 h 1618548"/>
                  <a:gd name="connsiteX4" fmla="*/ 95250 w 748665"/>
                  <a:gd name="connsiteY4" fmla="*/ 582228 h 1618548"/>
                  <a:gd name="connsiteX5" fmla="*/ 144780 w 748665"/>
                  <a:gd name="connsiteY5" fmla="*/ 387918 h 1618548"/>
                  <a:gd name="connsiteX6" fmla="*/ 209550 w 748665"/>
                  <a:gd name="connsiteY6" fmla="*/ 448878 h 1618548"/>
                  <a:gd name="connsiteX7" fmla="*/ 306705 w 748665"/>
                  <a:gd name="connsiteY7" fmla="*/ 698433 h 1618548"/>
                  <a:gd name="connsiteX8" fmla="*/ 403860 w 748665"/>
                  <a:gd name="connsiteY8" fmla="*/ 1069908 h 1618548"/>
                  <a:gd name="connsiteX9" fmla="*/ 464820 w 748665"/>
                  <a:gd name="connsiteY9" fmla="*/ 1188018 h 1618548"/>
                  <a:gd name="connsiteX10" fmla="*/ 533400 w 748665"/>
                  <a:gd name="connsiteY10" fmla="*/ 1186113 h 1618548"/>
                  <a:gd name="connsiteX11" fmla="*/ 611505 w 748665"/>
                  <a:gd name="connsiteY11" fmla="*/ 1199448 h 1618548"/>
                  <a:gd name="connsiteX12" fmla="*/ 659130 w 748665"/>
                  <a:gd name="connsiteY12" fmla="*/ 982278 h 1618548"/>
                  <a:gd name="connsiteX13" fmla="*/ 748665 w 748665"/>
                  <a:gd name="connsiteY13" fmla="*/ 8823 h 1618548"/>
                  <a:gd name="connsiteX0" fmla="*/ 0 w 748665"/>
                  <a:gd name="connsiteY0" fmla="*/ 1609725 h 1609725"/>
                  <a:gd name="connsiteX1" fmla="*/ 7620 w 748665"/>
                  <a:gd name="connsiteY1" fmla="*/ 706755 h 1609725"/>
                  <a:gd name="connsiteX2" fmla="*/ 26670 w 748665"/>
                  <a:gd name="connsiteY2" fmla="*/ 228600 h 1609725"/>
                  <a:gd name="connsiteX3" fmla="*/ 64770 w 748665"/>
                  <a:gd name="connsiteY3" fmla="*/ 493395 h 1609725"/>
                  <a:gd name="connsiteX4" fmla="*/ 95250 w 748665"/>
                  <a:gd name="connsiteY4" fmla="*/ 573405 h 1609725"/>
                  <a:gd name="connsiteX5" fmla="*/ 144780 w 748665"/>
                  <a:gd name="connsiteY5" fmla="*/ 379095 h 1609725"/>
                  <a:gd name="connsiteX6" fmla="*/ 209550 w 748665"/>
                  <a:gd name="connsiteY6" fmla="*/ 440055 h 1609725"/>
                  <a:gd name="connsiteX7" fmla="*/ 306705 w 748665"/>
                  <a:gd name="connsiteY7" fmla="*/ 689610 h 1609725"/>
                  <a:gd name="connsiteX8" fmla="*/ 403860 w 748665"/>
                  <a:gd name="connsiteY8" fmla="*/ 1061085 h 1609725"/>
                  <a:gd name="connsiteX9" fmla="*/ 464820 w 748665"/>
                  <a:gd name="connsiteY9" fmla="*/ 1179195 h 1609725"/>
                  <a:gd name="connsiteX10" fmla="*/ 533400 w 748665"/>
                  <a:gd name="connsiteY10" fmla="*/ 1177290 h 1609725"/>
                  <a:gd name="connsiteX11" fmla="*/ 611505 w 748665"/>
                  <a:gd name="connsiteY11" fmla="*/ 1190625 h 1609725"/>
                  <a:gd name="connsiteX12" fmla="*/ 659130 w 748665"/>
                  <a:gd name="connsiteY12" fmla="*/ 973455 h 1609725"/>
                  <a:gd name="connsiteX13" fmla="*/ 714375 w 748665"/>
                  <a:gd name="connsiteY13" fmla="*/ 139064 h 1609725"/>
                  <a:gd name="connsiteX14" fmla="*/ 748665 w 748665"/>
                  <a:gd name="connsiteY14" fmla="*/ 0 h 1609725"/>
                  <a:gd name="connsiteX0" fmla="*/ 0 w 723900"/>
                  <a:gd name="connsiteY0" fmla="*/ 1615440 h 1615440"/>
                  <a:gd name="connsiteX1" fmla="*/ 7620 w 723900"/>
                  <a:gd name="connsiteY1" fmla="*/ 712470 h 1615440"/>
                  <a:gd name="connsiteX2" fmla="*/ 26670 w 723900"/>
                  <a:gd name="connsiteY2" fmla="*/ 234315 h 1615440"/>
                  <a:gd name="connsiteX3" fmla="*/ 64770 w 723900"/>
                  <a:gd name="connsiteY3" fmla="*/ 499110 h 1615440"/>
                  <a:gd name="connsiteX4" fmla="*/ 95250 w 723900"/>
                  <a:gd name="connsiteY4" fmla="*/ 579120 h 1615440"/>
                  <a:gd name="connsiteX5" fmla="*/ 144780 w 723900"/>
                  <a:gd name="connsiteY5" fmla="*/ 384810 h 1615440"/>
                  <a:gd name="connsiteX6" fmla="*/ 209550 w 723900"/>
                  <a:gd name="connsiteY6" fmla="*/ 445770 h 1615440"/>
                  <a:gd name="connsiteX7" fmla="*/ 306705 w 723900"/>
                  <a:gd name="connsiteY7" fmla="*/ 695325 h 1615440"/>
                  <a:gd name="connsiteX8" fmla="*/ 403860 w 723900"/>
                  <a:gd name="connsiteY8" fmla="*/ 1066800 h 1615440"/>
                  <a:gd name="connsiteX9" fmla="*/ 464820 w 723900"/>
                  <a:gd name="connsiteY9" fmla="*/ 1184910 h 1615440"/>
                  <a:gd name="connsiteX10" fmla="*/ 533400 w 723900"/>
                  <a:gd name="connsiteY10" fmla="*/ 1183005 h 1615440"/>
                  <a:gd name="connsiteX11" fmla="*/ 611505 w 723900"/>
                  <a:gd name="connsiteY11" fmla="*/ 1196340 h 1615440"/>
                  <a:gd name="connsiteX12" fmla="*/ 659130 w 723900"/>
                  <a:gd name="connsiteY12" fmla="*/ 979170 h 1615440"/>
                  <a:gd name="connsiteX13" fmla="*/ 714375 w 723900"/>
                  <a:gd name="connsiteY13" fmla="*/ 144779 h 1615440"/>
                  <a:gd name="connsiteX14" fmla="*/ 723900 w 723900"/>
                  <a:gd name="connsiteY14" fmla="*/ 0 h 1615440"/>
                  <a:gd name="connsiteX0" fmla="*/ 0 w 723900"/>
                  <a:gd name="connsiteY0" fmla="*/ 1619250 h 1619250"/>
                  <a:gd name="connsiteX1" fmla="*/ 7620 w 723900"/>
                  <a:gd name="connsiteY1" fmla="*/ 716280 h 1619250"/>
                  <a:gd name="connsiteX2" fmla="*/ 26670 w 723900"/>
                  <a:gd name="connsiteY2" fmla="*/ 238125 h 1619250"/>
                  <a:gd name="connsiteX3" fmla="*/ 64770 w 723900"/>
                  <a:gd name="connsiteY3" fmla="*/ 502920 h 1619250"/>
                  <a:gd name="connsiteX4" fmla="*/ 95250 w 723900"/>
                  <a:gd name="connsiteY4" fmla="*/ 582930 h 1619250"/>
                  <a:gd name="connsiteX5" fmla="*/ 144780 w 723900"/>
                  <a:gd name="connsiteY5" fmla="*/ 388620 h 1619250"/>
                  <a:gd name="connsiteX6" fmla="*/ 209550 w 723900"/>
                  <a:gd name="connsiteY6" fmla="*/ 449580 h 1619250"/>
                  <a:gd name="connsiteX7" fmla="*/ 306705 w 723900"/>
                  <a:gd name="connsiteY7" fmla="*/ 699135 h 1619250"/>
                  <a:gd name="connsiteX8" fmla="*/ 403860 w 723900"/>
                  <a:gd name="connsiteY8" fmla="*/ 1070610 h 1619250"/>
                  <a:gd name="connsiteX9" fmla="*/ 464820 w 723900"/>
                  <a:gd name="connsiteY9" fmla="*/ 1188720 h 1619250"/>
                  <a:gd name="connsiteX10" fmla="*/ 533400 w 723900"/>
                  <a:gd name="connsiteY10" fmla="*/ 1186815 h 1619250"/>
                  <a:gd name="connsiteX11" fmla="*/ 611505 w 723900"/>
                  <a:gd name="connsiteY11" fmla="*/ 1200150 h 1619250"/>
                  <a:gd name="connsiteX12" fmla="*/ 659130 w 723900"/>
                  <a:gd name="connsiteY12" fmla="*/ 982980 h 1619250"/>
                  <a:gd name="connsiteX13" fmla="*/ 714375 w 723900"/>
                  <a:gd name="connsiteY13" fmla="*/ 148589 h 1619250"/>
                  <a:gd name="connsiteX14" fmla="*/ 723900 w 723900"/>
                  <a:gd name="connsiteY14" fmla="*/ 0 h 1619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3900" h="1619250">
                    <a:moveTo>
                      <a:pt x="0" y="1619250"/>
                    </a:moveTo>
                    <a:cubicBezTo>
                      <a:pt x="1587" y="1281430"/>
                      <a:pt x="3175" y="946467"/>
                      <a:pt x="7620" y="716280"/>
                    </a:cubicBezTo>
                    <a:cubicBezTo>
                      <a:pt x="12065" y="486093"/>
                      <a:pt x="17145" y="273685"/>
                      <a:pt x="26670" y="238125"/>
                    </a:cubicBezTo>
                    <a:cubicBezTo>
                      <a:pt x="36195" y="202565"/>
                      <a:pt x="53340" y="445452"/>
                      <a:pt x="64770" y="502920"/>
                    </a:cubicBezTo>
                    <a:cubicBezTo>
                      <a:pt x="76200" y="560388"/>
                      <a:pt x="81915" y="601980"/>
                      <a:pt x="95250" y="582930"/>
                    </a:cubicBezTo>
                    <a:cubicBezTo>
                      <a:pt x="108585" y="563880"/>
                      <a:pt x="125730" y="410845"/>
                      <a:pt x="144780" y="388620"/>
                    </a:cubicBezTo>
                    <a:cubicBezTo>
                      <a:pt x="163830" y="366395"/>
                      <a:pt x="188278" y="399733"/>
                      <a:pt x="209550" y="449580"/>
                    </a:cubicBezTo>
                    <a:cubicBezTo>
                      <a:pt x="230822" y="499427"/>
                      <a:pt x="274320" y="595630"/>
                      <a:pt x="306705" y="699135"/>
                    </a:cubicBezTo>
                    <a:cubicBezTo>
                      <a:pt x="339090" y="802640"/>
                      <a:pt x="377508" y="989013"/>
                      <a:pt x="403860" y="1070610"/>
                    </a:cubicBezTo>
                    <a:cubicBezTo>
                      <a:pt x="430212" y="1152207"/>
                      <a:pt x="443230" y="1169353"/>
                      <a:pt x="464820" y="1188720"/>
                    </a:cubicBezTo>
                    <a:cubicBezTo>
                      <a:pt x="486410" y="1208087"/>
                      <a:pt x="508953" y="1184910"/>
                      <a:pt x="533400" y="1186815"/>
                    </a:cubicBezTo>
                    <a:cubicBezTo>
                      <a:pt x="557847" y="1188720"/>
                      <a:pt x="590550" y="1234122"/>
                      <a:pt x="611505" y="1200150"/>
                    </a:cubicBezTo>
                    <a:cubicBezTo>
                      <a:pt x="632460" y="1166178"/>
                      <a:pt x="641985" y="1158240"/>
                      <a:pt x="659130" y="982980"/>
                    </a:cubicBezTo>
                    <a:cubicBezTo>
                      <a:pt x="676275" y="807720"/>
                      <a:pt x="699453" y="310831"/>
                      <a:pt x="714375" y="148589"/>
                    </a:cubicBezTo>
                    <a:cubicBezTo>
                      <a:pt x="729297" y="-13653"/>
                      <a:pt x="718185" y="23177"/>
                      <a:pt x="723900" y="0"/>
                    </a:cubicBezTo>
                  </a:path>
                </a:pathLst>
              </a:custGeom>
              <a:no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자유형: 도형 47">
                <a:extLst>
                  <a:ext uri="{FF2B5EF4-FFF2-40B4-BE49-F238E27FC236}">
                    <a16:creationId xmlns:a16="http://schemas.microsoft.com/office/drawing/2014/main" id="{A1542E19-83A2-4266-A708-7D32B27A3406}"/>
                  </a:ext>
                </a:extLst>
              </p:cNvPr>
              <p:cNvSpPr/>
              <p:nvPr/>
            </p:nvSpPr>
            <p:spPr>
              <a:xfrm>
                <a:off x="7905750" y="1969770"/>
                <a:ext cx="112395" cy="1619250"/>
              </a:xfrm>
              <a:custGeom>
                <a:avLst/>
                <a:gdLst>
                  <a:gd name="connsiteX0" fmla="*/ 0 w 112395"/>
                  <a:gd name="connsiteY0" fmla="*/ 0 h 1617345"/>
                  <a:gd name="connsiteX1" fmla="*/ 38100 w 112395"/>
                  <a:gd name="connsiteY1" fmla="*/ 649605 h 1617345"/>
                  <a:gd name="connsiteX2" fmla="*/ 72390 w 112395"/>
                  <a:gd name="connsiteY2" fmla="*/ 527685 h 1617345"/>
                  <a:gd name="connsiteX3" fmla="*/ 89535 w 112395"/>
                  <a:gd name="connsiteY3" fmla="*/ 386715 h 1617345"/>
                  <a:gd name="connsiteX4" fmla="*/ 110490 w 112395"/>
                  <a:gd name="connsiteY4" fmla="*/ 794385 h 1617345"/>
                  <a:gd name="connsiteX5" fmla="*/ 110490 w 112395"/>
                  <a:gd name="connsiteY5" fmla="*/ 1455420 h 1617345"/>
                  <a:gd name="connsiteX6" fmla="*/ 112395 w 112395"/>
                  <a:gd name="connsiteY6" fmla="*/ 1617345 h 1617345"/>
                  <a:gd name="connsiteX0" fmla="*/ 0 w 112395"/>
                  <a:gd name="connsiteY0" fmla="*/ 0 h 1619250"/>
                  <a:gd name="connsiteX1" fmla="*/ 38100 w 112395"/>
                  <a:gd name="connsiteY1" fmla="*/ 651510 h 1619250"/>
                  <a:gd name="connsiteX2" fmla="*/ 72390 w 112395"/>
                  <a:gd name="connsiteY2" fmla="*/ 529590 h 1619250"/>
                  <a:gd name="connsiteX3" fmla="*/ 89535 w 112395"/>
                  <a:gd name="connsiteY3" fmla="*/ 388620 h 1619250"/>
                  <a:gd name="connsiteX4" fmla="*/ 110490 w 112395"/>
                  <a:gd name="connsiteY4" fmla="*/ 796290 h 1619250"/>
                  <a:gd name="connsiteX5" fmla="*/ 110490 w 112395"/>
                  <a:gd name="connsiteY5" fmla="*/ 1457325 h 1619250"/>
                  <a:gd name="connsiteX6" fmla="*/ 112395 w 112395"/>
                  <a:gd name="connsiteY6" fmla="*/ 1619250 h 1619250"/>
                  <a:gd name="connsiteX0" fmla="*/ 0 w 112395"/>
                  <a:gd name="connsiteY0" fmla="*/ 0 h 1619250"/>
                  <a:gd name="connsiteX1" fmla="*/ 45720 w 112395"/>
                  <a:gd name="connsiteY1" fmla="*/ 683895 h 1619250"/>
                  <a:gd name="connsiteX2" fmla="*/ 72390 w 112395"/>
                  <a:gd name="connsiteY2" fmla="*/ 529590 h 1619250"/>
                  <a:gd name="connsiteX3" fmla="*/ 89535 w 112395"/>
                  <a:gd name="connsiteY3" fmla="*/ 388620 h 1619250"/>
                  <a:gd name="connsiteX4" fmla="*/ 110490 w 112395"/>
                  <a:gd name="connsiteY4" fmla="*/ 796290 h 1619250"/>
                  <a:gd name="connsiteX5" fmla="*/ 110490 w 112395"/>
                  <a:gd name="connsiteY5" fmla="*/ 1457325 h 1619250"/>
                  <a:gd name="connsiteX6" fmla="*/ 112395 w 112395"/>
                  <a:gd name="connsiteY6" fmla="*/ 1619250 h 1619250"/>
                  <a:gd name="connsiteX0" fmla="*/ 0 w 112395"/>
                  <a:gd name="connsiteY0" fmla="*/ 0 h 1619250"/>
                  <a:gd name="connsiteX1" fmla="*/ 45720 w 112395"/>
                  <a:gd name="connsiteY1" fmla="*/ 683895 h 1619250"/>
                  <a:gd name="connsiteX2" fmla="*/ 72390 w 112395"/>
                  <a:gd name="connsiteY2" fmla="*/ 529590 h 1619250"/>
                  <a:gd name="connsiteX3" fmla="*/ 89535 w 112395"/>
                  <a:gd name="connsiteY3" fmla="*/ 388620 h 1619250"/>
                  <a:gd name="connsiteX4" fmla="*/ 104775 w 112395"/>
                  <a:gd name="connsiteY4" fmla="*/ 796290 h 1619250"/>
                  <a:gd name="connsiteX5" fmla="*/ 110490 w 112395"/>
                  <a:gd name="connsiteY5" fmla="*/ 1457325 h 1619250"/>
                  <a:gd name="connsiteX6" fmla="*/ 112395 w 112395"/>
                  <a:gd name="connsiteY6" fmla="*/ 1619250 h 1619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395" h="1619250">
                    <a:moveTo>
                      <a:pt x="0" y="0"/>
                    </a:moveTo>
                    <a:cubicBezTo>
                      <a:pt x="13017" y="280829"/>
                      <a:pt x="33655" y="595630"/>
                      <a:pt x="45720" y="683895"/>
                    </a:cubicBezTo>
                    <a:cubicBezTo>
                      <a:pt x="57785" y="772160"/>
                      <a:pt x="65088" y="578802"/>
                      <a:pt x="72390" y="529590"/>
                    </a:cubicBezTo>
                    <a:cubicBezTo>
                      <a:pt x="79692" y="480378"/>
                      <a:pt x="84137" y="344170"/>
                      <a:pt x="89535" y="388620"/>
                    </a:cubicBezTo>
                    <a:cubicBezTo>
                      <a:pt x="94933" y="433070"/>
                      <a:pt x="101283" y="618173"/>
                      <a:pt x="104775" y="796290"/>
                    </a:cubicBezTo>
                    <a:cubicBezTo>
                      <a:pt x="108267" y="974407"/>
                      <a:pt x="110490" y="1457325"/>
                      <a:pt x="110490" y="1457325"/>
                    </a:cubicBezTo>
                    <a:cubicBezTo>
                      <a:pt x="110808" y="1594485"/>
                      <a:pt x="111601" y="1606867"/>
                      <a:pt x="112395" y="1619250"/>
                    </a:cubicBezTo>
                  </a:path>
                </a:pathLst>
              </a:custGeom>
              <a:no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6A598E3E-6CB1-46A9-A94C-2ED5B62B77D0}"/>
                  </a:ext>
                </a:extLst>
              </p:cNvPr>
              <p:cNvSpPr/>
              <p:nvPr/>
            </p:nvSpPr>
            <p:spPr>
              <a:xfrm>
                <a:off x="7075874" y="269097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타원 49">
                <a:extLst>
                  <a:ext uri="{FF2B5EF4-FFF2-40B4-BE49-F238E27FC236}">
                    <a16:creationId xmlns:a16="http://schemas.microsoft.com/office/drawing/2014/main" id="{7E52F3C2-BDA2-4D79-A022-A1E1ACA79745}"/>
                  </a:ext>
                </a:extLst>
              </p:cNvPr>
              <p:cNvSpPr/>
              <p:nvPr/>
            </p:nvSpPr>
            <p:spPr>
              <a:xfrm>
                <a:off x="7136834" y="24814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타원 50">
                <a:extLst>
                  <a:ext uri="{FF2B5EF4-FFF2-40B4-BE49-F238E27FC236}">
                    <a16:creationId xmlns:a16="http://schemas.microsoft.com/office/drawing/2014/main" id="{8BCD468B-3231-427E-AA4F-F2C680ABFD97}"/>
                  </a:ext>
                </a:extLst>
              </p:cNvPr>
              <p:cNvSpPr/>
              <p:nvPr/>
            </p:nvSpPr>
            <p:spPr>
              <a:xfrm>
                <a:off x="7344479" y="255952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타원 51">
                <a:extLst>
                  <a:ext uri="{FF2B5EF4-FFF2-40B4-BE49-F238E27FC236}">
                    <a16:creationId xmlns:a16="http://schemas.microsoft.com/office/drawing/2014/main" id="{22091F7D-549E-47C4-BDCF-2DA732008A3B}"/>
                  </a:ext>
                </a:extLst>
              </p:cNvPr>
              <p:cNvSpPr/>
              <p:nvPr/>
            </p:nvSpPr>
            <p:spPr>
              <a:xfrm>
                <a:off x="7376864" y="264334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타원 52">
                <a:extLst>
                  <a:ext uri="{FF2B5EF4-FFF2-40B4-BE49-F238E27FC236}">
                    <a16:creationId xmlns:a16="http://schemas.microsoft.com/office/drawing/2014/main" id="{11D51EF8-5880-4715-8096-6306E437605B}"/>
                  </a:ext>
                </a:extLst>
              </p:cNvPr>
              <p:cNvSpPr/>
              <p:nvPr/>
            </p:nvSpPr>
            <p:spPr>
              <a:xfrm>
                <a:off x="7411154" y="275764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타원 53">
                <a:extLst>
                  <a:ext uri="{FF2B5EF4-FFF2-40B4-BE49-F238E27FC236}">
                    <a16:creationId xmlns:a16="http://schemas.microsoft.com/office/drawing/2014/main" id="{1DB70A68-CEE0-4DF5-BE04-352F10EB80BF}"/>
                  </a:ext>
                </a:extLst>
              </p:cNvPr>
              <p:cNvSpPr/>
              <p:nvPr/>
            </p:nvSpPr>
            <p:spPr>
              <a:xfrm>
                <a:off x="7512119" y="308530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타원 54">
                <a:extLst>
                  <a:ext uri="{FF2B5EF4-FFF2-40B4-BE49-F238E27FC236}">
                    <a16:creationId xmlns:a16="http://schemas.microsoft.com/office/drawing/2014/main" id="{9C2CAFCF-EDE8-40AA-8F11-99358CFE36E1}"/>
                  </a:ext>
                </a:extLst>
              </p:cNvPr>
              <p:cNvSpPr/>
              <p:nvPr/>
            </p:nvSpPr>
            <p:spPr>
              <a:xfrm>
                <a:off x="7525454" y="313864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타원 55">
                <a:extLst>
                  <a:ext uri="{FF2B5EF4-FFF2-40B4-BE49-F238E27FC236}">
                    <a16:creationId xmlns:a16="http://schemas.microsoft.com/office/drawing/2014/main" id="{D320960E-2C32-4E39-B16E-0C85E129DF37}"/>
                  </a:ext>
                </a:extLst>
              </p:cNvPr>
              <p:cNvSpPr/>
              <p:nvPr/>
            </p:nvSpPr>
            <p:spPr>
              <a:xfrm>
                <a:off x="7527359" y="31519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타원 56">
                <a:extLst>
                  <a:ext uri="{FF2B5EF4-FFF2-40B4-BE49-F238E27FC236}">
                    <a16:creationId xmlns:a16="http://schemas.microsoft.com/office/drawing/2014/main" id="{E5D69BB4-F1D9-45F7-A1DD-8E31C92C0946}"/>
                  </a:ext>
                </a:extLst>
              </p:cNvPr>
              <p:cNvSpPr/>
              <p:nvPr/>
            </p:nvSpPr>
            <p:spPr>
              <a:xfrm>
                <a:off x="7584509" y="317293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타원 57">
                <a:extLst>
                  <a:ext uri="{FF2B5EF4-FFF2-40B4-BE49-F238E27FC236}">
                    <a16:creationId xmlns:a16="http://schemas.microsoft.com/office/drawing/2014/main" id="{12448DF3-59C4-48D5-BF75-0390F6F78CBB}"/>
                  </a:ext>
                </a:extLst>
              </p:cNvPr>
              <p:cNvSpPr/>
              <p:nvPr/>
            </p:nvSpPr>
            <p:spPr>
              <a:xfrm>
                <a:off x="7614989" y="31672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타원 58">
                <a:extLst>
                  <a:ext uri="{FF2B5EF4-FFF2-40B4-BE49-F238E27FC236}">
                    <a16:creationId xmlns:a16="http://schemas.microsoft.com/office/drawing/2014/main" id="{F8C6F624-4719-49B9-AED2-D2F7C0B7D5A4}"/>
                  </a:ext>
                </a:extLst>
              </p:cNvPr>
              <p:cNvSpPr/>
              <p:nvPr/>
            </p:nvSpPr>
            <p:spPr>
              <a:xfrm>
                <a:off x="7649279" y="321865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타원 59">
                <a:extLst>
                  <a:ext uri="{FF2B5EF4-FFF2-40B4-BE49-F238E27FC236}">
                    <a16:creationId xmlns:a16="http://schemas.microsoft.com/office/drawing/2014/main" id="{201B8074-FF8B-4A78-9471-2063F8FB8B0B}"/>
                  </a:ext>
                </a:extLst>
              </p:cNvPr>
              <p:cNvSpPr/>
              <p:nvPr/>
            </p:nvSpPr>
            <p:spPr>
              <a:xfrm>
                <a:off x="7626419" y="305673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1" name="타원 60">
                <a:extLst>
                  <a:ext uri="{FF2B5EF4-FFF2-40B4-BE49-F238E27FC236}">
                    <a16:creationId xmlns:a16="http://schemas.microsoft.com/office/drawing/2014/main" id="{B3C01337-FB61-4362-9324-777202D06D2A}"/>
                  </a:ext>
                </a:extLst>
              </p:cNvPr>
              <p:cNvSpPr/>
              <p:nvPr/>
            </p:nvSpPr>
            <p:spPr>
              <a:xfrm>
                <a:off x="7727384" y="29081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타원 61">
                <a:extLst>
                  <a:ext uri="{FF2B5EF4-FFF2-40B4-BE49-F238E27FC236}">
                    <a16:creationId xmlns:a16="http://schemas.microsoft.com/office/drawing/2014/main" id="{BAF820E1-590A-42FD-BDDF-1FAA91F1E176}"/>
                  </a:ext>
                </a:extLst>
              </p:cNvPr>
              <p:cNvSpPr/>
              <p:nvPr/>
            </p:nvSpPr>
            <p:spPr>
              <a:xfrm>
                <a:off x="7725479" y="29310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타원 62">
                <a:extLst>
                  <a:ext uri="{FF2B5EF4-FFF2-40B4-BE49-F238E27FC236}">
                    <a16:creationId xmlns:a16="http://schemas.microsoft.com/office/drawing/2014/main" id="{08118ED6-E4CA-41BC-8EC1-72D3D7A9C06A}"/>
                  </a:ext>
                </a:extLst>
              </p:cNvPr>
              <p:cNvSpPr/>
              <p:nvPr/>
            </p:nvSpPr>
            <p:spPr>
              <a:xfrm>
                <a:off x="7984559" y="23937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타원 63">
                <a:extLst>
                  <a:ext uri="{FF2B5EF4-FFF2-40B4-BE49-F238E27FC236}">
                    <a16:creationId xmlns:a16="http://schemas.microsoft.com/office/drawing/2014/main" id="{D8479B68-D3F8-4188-B6F4-9CE359F12DB2}"/>
                  </a:ext>
                </a:extLst>
              </p:cNvPr>
              <p:cNvSpPr/>
              <p:nvPr/>
            </p:nvSpPr>
            <p:spPr>
              <a:xfrm>
                <a:off x="7971224" y="233283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5" name="타원 64">
                <a:extLst>
                  <a:ext uri="{FF2B5EF4-FFF2-40B4-BE49-F238E27FC236}">
                    <a16:creationId xmlns:a16="http://schemas.microsoft.com/office/drawing/2014/main" id="{F8636504-5BB8-4656-90F8-2E57AD59BE59}"/>
                  </a:ext>
                </a:extLst>
              </p:cNvPr>
              <p:cNvSpPr/>
              <p:nvPr/>
            </p:nvSpPr>
            <p:spPr>
              <a:xfrm>
                <a:off x="7908359" y="233092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6" name="타원 65">
                <a:extLst>
                  <a:ext uri="{FF2B5EF4-FFF2-40B4-BE49-F238E27FC236}">
                    <a16:creationId xmlns:a16="http://schemas.microsoft.com/office/drawing/2014/main" id="{72CA7322-7D17-4EE7-8572-A9A32867531A}"/>
                  </a:ext>
                </a:extLst>
              </p:cNvPr>
              <p:cNvSpPr/>
              <p:nvPr/>
            </p:nvSpPr>
            <p:spPr>
              <a:xfrm>
                <a:off x="7195889" y="240712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타원 66">
                <a:extLst>
                  <a:ext uri="{FF2B5EF4-FFF2-40B4-BE49-F238E27FC236}">
                    <a16:creationId xmlns:a16="http://schemas.microsoft.com/office/drawing/2014/main" id="{F67AC74C-477B-4201-9227-3543BD6CD019}"/>
                  </a:ext>
                </a:extLst>
              </p:cNvPr>
              <p:cNvSpPr/>
              <p:nvPr/>
            </p:nvSpPr>
            <p:spPr>
              <a:xfrm>
                <a:off x="7249229" y="23595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a:extLst>
                  <a:ext uri="{FF2B5EF4-FFF2-40B4-BE49-F238E27FC236}">
                    <a16:creationId xmlns:a16="http://schemas.microsoft.com/office/drawing/2014/main" id="{A30C56B9-1481-4AE1-8520-0FA78C8CEF5D}"/>
                  </a:ext>
                </a:extLst>
              </p:cNvPr>
              <p:cNvSpPr/>
              <p:nvPr/>
            </p:nvSpPr>
            <p:spPr>
              <a:xfrm>
                <a:off x="7273994" y="236331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7" name="그룹 16">
              <a:extLst>
                <a:ext uri="{FF2B5EF4-FFF2-40B4-BE49-F238E27FC236}">
                  <a16:creationId xmlns:a16="http://schemas.microsoft.com/office/drawing/2014/main" id="{6EA44D1E-549C-4069-BFD5-09211BBA7B1F}"/>
                </a:ext>
              </a:extLst>
            </p:cNvPr>
            <p:cNvGrpSpPr/>
            <p:nvPr/>
          </p:nvGrpSpPr>
          <p:grpSpPr>
            <a:xfrm>
              <a:off x="1646364" y="1751181"/>
              <a:ext cx="1284776" cy="2031594"/>
              <a:chOff x="1646364" y="1751181"/>
              <a:chExt cx="1284776" cy="2031594"/>
            </a:xfrm>
          </p:grpSpPr>
          <p:sp>
            <p:nvSpPr>
              <p:cNvPr id="43" name="직사각형 42">
                <a:extLst>
                  <a:ext uri="{FF2B5EF4-FFF2-40B4-BE49-F238E27FC236}">
                    <a16:creationId xmlns:a16="http://schemas.microsoft.com/office/drawing/2014/main" id="{516787CB-AF17-4EE3-ACE4-273388A39ED8}"/>
                  </a:ext>
                </a:extLst>
              </p:cNvPr>
              <p:cNvSpPr/>
              <p:nvPr/>
            </p:nvSpPr>
            <p:spPr>
              <a:xfrm>
                <a:off x="1830725" y="1968499"/>
                <a:ext cx="1100415" cy="1620521"/>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38F9403E-EB37-42E6-8775-DA00C2240156}"/>
                      </a:ext>
                    </a:extLst>
                  </p:cNvPr>
                  <p:cNvSpPr txBox="1"/>
                  <p:nvPr/>
                </p:nvSpPr>
                <p:spPr>
                  <a:xfrm>
                    <a:off x="2298075" y="3610590"/>
                    <a:ext cx="166626" cy="1721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𝑥</m:t>
                          </m:r>
                        </m:oMath>
                      </m:oMathPara>
                    </a14:m>
                    <a:endParaRPr lang="en-US" sz="1300" dirty="0">
                      <a:solidFill>
                        <a:schemeClr val="tx1"/>
                      </a:solidFill>
                    </a:endParaRPr>
                  </a:p>
                </p:txBody>
              </p:sp>
            </mc:Choice>
            <mc:Fallback xmlns="">
              <p:sp>
                <p:nvSpPr>
                  <p:cNvPr id="155" name="TextBox 154">
                    <a:extLst>
                      <a:ext uri="{FF2B5EF4-FFF2-40B4-BE49-F238E27FC236}">
                        <a16:creationId xmlns:a16="http://schemas.microsoft.com/office/drawing/2014/main" id="{ABA38A78-BE69-49CC-8740-22C67CA45B46}"/>
                      </a:ext>
                    </a:extLst>
                  </p:cNvPr>
                  <p:cNvSpPr txBox="1">
                    <a:spLocks noRot="1" noChangeAspect="1" noMove="1" noResize="1" noEditPoints="1" noAdjustHandles="1" noChangeArrowheads="1" noChangeShapeType="1" noTextEdit="1"/>
                  </p:cNvSpPr>
                  <p:nvPr/>
                </p:nvSpPr>
                <p:spPr>
                  <a:xfrm>
                    <a:off x="2298075" y="3610590"/>
                    <a:ext cx="166626" cy="172185"/>
                  </a:xfrm>
                  <a:prstGeom prst="rect">
                    <a:avLst/>
                  </a:prstGeom>
                  <a:blipFill>
                    <a:blip r:embed="rId4"/>
                    <a:stretch>
                      <a:fillRect l="-3704" b="-3448"/>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BBC095A-AB6B-489B-9EBC-2346E779276B}"/>
                      </a:ext>
                    </a:extLst>
                  </p:cNvPr>
                  <p:cNvSpPr txBox="1"/>
                  <p:nvPr/>
                </p:nvSpPr>
                <p:spPr>
                  <a:xfrm>
                    <a:off x="1646364" y="2607925"/>
                    <a:ext cx="157171" cy="182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𝑦</m:t>
                          </m:r>
                        </m:oMath>
                      </m:oMathPara>
                    </a14:m>
                    <a:endParaRPr lang="en-US" sz="1300" dirty="0">
                      <a:solidFill>
                        <a:schemeClr val="tx1"/>
                      </a:solidFill>
                    </a:endParaRPr>
                  </a:p>
                </p:txBody>
              </p:sp>
            </mc:Choice>
            <mc:Fallback xmlns="">
              <p:sp>
                <p:nvSpPr>
                  <p:cNvPr id="45" name="TextBox 44">
                    <a:extLst>
                      <a:ext uri="{FF2B5EF4-FFF2-40B4-BE49-F238E27FC236}">
                        <a16:creationId xmlns:a16="http://schemas.microsoft.com/office/drawing/2014/main" xmlns="" xmlns:a14="http://schemas.microsoft.com/office/drawing/2010/main" id="{9BBC095A-AB6B-489B-9EBC-2346E779276B}"/>
                      </a:ext>
                    </a:extLst>
                  </p:cNvPr>
                  <p:cNvSpPr txBox="1">
                    <a:spLocks noRot="1" noChangeAspect="1" noMove="1" noResize="1" noEditPoints="1" noAdjustHandles="1" noChangeArrowheads="1" noChangeShapeType="1" noTextEdit="1"/>
                  </p:cNvSpPr>
                  <p:nvPr/>
                </p:nvSpPr>
                <p:spPr>
                  <a:xfrm>
                    <a:off x="1646364" y="2607925"/>
                    <a:ext cx="157171" cy="182542"/>
                  </a:xfrm>
                  <a:prstGeom prst="rect">
                    <a:avLst/>
                  </a:prstGeom>
                  <a:blipFill rotWithShape="0">
                    <a:blip r:embed="rId5"/>
                    <a:stretch>
                      <a:fillRect l="-20000" r="-20000" b="-39286"/>
                    </a:stretch>
                  </a:blipFill>
                  <a:ln>
                    <a:noFill/>
                  </a:ln>
                </p:spPr>
                <p:txBody>
                  <a:bodyPr/>
                  <a:lstStyle/>
                  <a:p>
                    <a:r>
                      <a:rPr lang="ko-KR" altLang="en-US">
                        <a:noFill/>
                      </a:rPr>
                      <a:t> </a:t>
                    </a:r>
                  </a:p>
                </p:txBody>
              </p:sp>
            </mc:Fallback>
          </mc:AlternateContent>
          <p:sp>
            <p:nvSpPr>
              <p:cNvPr id="46" name="TextBox 45">
                <a:extLst>
                  <a:ext uri="{FF2B5EF4-FFF2-40B4-BE49-F238E27FC236}">
                    <a16:creationId xmlns:a16="http://schemas.microsoft.com/office/drawing/2014/main" id="{577AE912-6746-4D27-B657-25BE5B6BD20B}"/>
                  </a:ext>
                </a:extLst>
              </p:cNvPr>
              <p:cNvSpPr txBox="1"/>
              <p:nvPr/>
            </p:nvSpPr>
            <p:spPr>
              <a:xfrm>
                <a:off x="2220216" y="1751181"/>
                <a:ext cx="307104" cy="184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ea typeface="SamsungOne 400" panose="020B0503030303020204" pitchFamily="34" charset="0"/>
                  </a:rPr>
                  <a:t>1st</a:t>
                </a:r>
              </a:p>
            </p:txBody>
          </p:sp>
        </p:grpSp>
        <p:grpSp>
          <p:nvGrpSpPr>
            <p:cNvPr id="18" name="그룹 17">
              <a:extLst>
                <a:ext uri="{FF2B5EF4-FFF2-40B4-BE49-F238E27FC236}">
                  <a16:creationId xmlns:a16="http://schemas.microsoft.com/office/drawing/2014/main" id="{F48EC37F-039C-420C-8DB7-F76D86ABEE2C}"/>
                </a:ext>
              </a:extLst>
            </p:cNvPr>
            <p:cNvGrpSpPr/>
            <p:nvPr/>
          </p:nvGrpSpPr>
          <p:grpSpPr>
            <a:xfrm>
              <a:off x="2956375" y="1751181"/>
              <a:ext cx="1283378" cy="2031594"/>
              <a:chOff x="2956375" y="1751181"/>
              <a:chExt cx="1283378" cy="2031594"/>
            </a:xfrm>
          </p:grpSpPr>
          <p:sp>
            <p:nvSpPr>
              <p:cNvPr id="39" name="TextBox 38">
                <a:extLst>
                  <a:ext uri="{FF2B5EF4-FFF2-40B4-BE49-F238E27FC236}">
                    <a16:creationId xmlns:a16="http://schemas.microsoft.com/office/drawing/2014/main" id="{A40B739E-8F84-4602-B2BC-871506ABCA2F}"/>
                  </a:ext>
                </a:extLst>
              </p:cNvPr>
              <p:cNvSpPr txBox="1"/>
              <p:nvPr/>
            </p:nvSpPr>
            <p:spPr>
              <a:xfrm>
                <a:off x="3545958" y="1751181"/>
                <a:ext cx="307104" cy="184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ea typeface="SamsungOne 400" panose="020B0503030303020204" pitchFamily="34" charset="0"/>
                  </a:rPr>
                  <a:t>2nd</a:t>
                </a:r>
              </a:p>
            </p:txBody>
          </p:sp>
          <p:sp>
            <p:nvSpPr>
              <p:cNvPr id="40" name="직사각형 39">
                <a:extLst>
                  <a:ext uri="{FF2B5EF4-FFF2-40B4-BE49-F238E27FC236}">
                    <a16:creationId xmlns:a16="http://schemas.microsoft.com/office/drawing/2014/main" id="{04D85575-C542-4F72-8DBB-A978AA630105}"/>
                  </a:ext>
                </a:extLst>
              </p:cNvPr>
              <p:cNvSpPr/>
              <p:nvPr/>
            </p:nvSpPr>
            <p:spPr>
              <a:xfrm>
                <a:off x="3139338" y="1968499"/>
                <a:ext cx="1100415" cy="1620521"/>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5F2A51E-0B03-4CF6-AECA-7F5C13440FE1}"/>
                      </a:ext>
                    </a:extLst>
                  </p:cNvPr>
                  <p:cNvSpPr txBox="1"/>
                  <p:nvPr/>
                </p:nvSpPr>
                <p:spPr>
                  <a:xfrm>
                    <a:off x="3601608" y="3610590"/>
                    <a:ext cx="166626" cy="1721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𝑥</m:t>
                          </m:r>
                        </m:oMath>
                      </m:oMathPara>
                    </a14:m>
                    <a:endParaRPr lang="en-US" sz="1300" dirty="0">
                      <a:solidFill>
                        <a:schemeClr val="tx1"/>
                      </a:solidFill>
                    </a:endParaRPr>
                  </a:p>
                </p:txBody>
              </p:sp>
            </mc:Choice>
            <mc:Fallback xmlns="">
              <p:sp>
                <p:nvSpPr>
                  <p:cNvPr id="160" name="TextBox 159">
                    <a:extLst>
                      <a:ext uri="{FF2B5EF4-FFF2-40B4-BE49-F238E27FC236}">
                        <a16:creationId xmlns:a16="http://schemas.microsoft.com/office/drawing/2014/main" id="{C1738094-8D35-4FF7-9A90-6F46DB089815}"/>
                      </a:ext>
                    </a:extLst>
                  </p:cNvPr>
                  <p:cNvSpPr txBox="1">
                    <a:spLocks noRot="1" noChangeAspect="1" noMove="1" noResize="1" noEditPoints="1" noAdjustHandles="1" noChangeArrowheads="1" noChangeShapeType="1" noTextEdit="1"/>
                  </p:cNvSpPr>
                  <p:nvPr/>
                </p:nvSpPr>
                <p:spPr>
                  <a:xfrm>
                    <a:off x="3601608" y="3610590"/>
                    <a:ext cx="166626" cy="172185"/>
                  </a:xfrm>
                  <a:prstGeom prst="rect">
                    <a:avLst/>
                  </a:prstGeom>
                  <a:blipFill>
                    <a:blip r:embed="rId4"/>
                    <a:stretch>
                      <a:fillRect l="-3704" b="-3448"/>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4D97123-12A0-4837-9838-27FC1088C76A}"/>
                      </a:ext>
                    </a:extLst>
                  </p:cNvPr>
                  <p:cNvSpPr txBox="1"/>
                  <p:nvPr/>
                </p:nvSpPr>
                <p:spPr>
                  <a:xfrm>
                    <a:off x="2956375" y="2614848"/>
                    <a:ext cx="157171" cy="182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𝑦</m:t>
                          </m:r>
                        </m:oMath>
                      </m:oMathPara>
                    </a14:m>
                    <a:endParaRPr lang="en-US" sz="1300" dirty="0">
                      <a:solidFill>
                        <a:schemeClr val="tx1"/>
                      </a:solidFill>
                    </a:endParaRPr>
                  </a:p>
                </p:txBody>
              </p:sp>
            </mc:Choice>
            <mc:Fallback xmlns="">
              <p:sp>
                <p:nvSpPr>
                  <p:cNvPr id="42" name="TextBox 41">
                    <a:extLst>
                      <a:ext uri="{FF2B5EF4-FFF2-40B4-BE49-F238E27FC236}">
                        <a16:creationId xmlns:a16="http://schemas.microsoft.com/office/drawing/2014/main" xmlns="" xmlns:a14="http://schemas.microsoft.com/office/drawing/2010/main" id="{14D97123-12A0-4837-9838-27FC1088C76A}"/>
                      </a:ext>
                    </a:extLst>
                  </p:cNvPr>
                  <p:cNvSpPr txBox="1">
                    <a:spLocks noRot="1" noChangeAspect="1" noMove="1" noResize="1" noEditPoints="1" noAdjustHandles="1" noChangeArrowheads="1" noChangeShapeType="1" noTextEdit="1"/>
                  </p:cNvSpPr>
                  <p:nvPr/>
                </p:nvSpPr>
                <p:spPr>
                  <a:xfrm>
                    <a:off x="2956375" y="2614848"/>
                    <a:ext cx="157171" cy="182542"/>
                  </a:xfrm>
                  <a:prstGeom prst="rect">
                    <a:avLst/>
                  </a:prstGeom>
                  <a:blipFill rotWithShape="0">
                    <a:blip r:embed="rId5"/>
                    <a:stretch>
                      <a:fillRect l="-20000" r="-20000" b="-39286"/>
                    </a:stretch>
                  </a:blipFill>
                  <a:ln>
                    <a:noFill/>
                  </a:ln>
                </p:spPr>
                <p:txBody>
                  <a:bodyPr/>
                  <a:lstStyle/>
                  <a:p>
                    <a:r>
                      <a:rPr lang="ko-KR" altLang="en-US">
                        <a:noFill/>
                      </a:rPr>
                      <a:t> </a:t>
                    </a:r>
                  </a:p>
                </p:txBody>
              </p:sp>
            </mc:Fallback>
          </mc:AlternateContent>
        </p:grpSp>
        <p:grpSp>
          <p:nvGrpSpPr>
            <p:cNvPr id="19" name="그룹 18">
              <a:extLst>
                <a:ext uri="{FF2B5EF4-FFF2-40B4-BE49-F238E27FC236}">
                  <a16:creationId xmlns:a16="http://schemas.microsoft.com/office/drawing/2014/main" id="{32118D71-733B-42F9-B4FF-AA5B1E63E13F}"/>
                </a:ext>
              </a:extLst>
            </p:cNvPr>
            <p:cNvGrpSpPr/>
            <p:nvPr/>
          </p:nvGrpSpPr>
          <p:grpSpPr>
            <a:xfrm>
              <a:off x="4257708" y="1751181"/>
              <a:ext cx="1286902" cy="2031594"/>
              <a:chOff x="4257708" y="1751181"/>
              <a:chExt cx="1286902" cy="2031594"/>
            </a:xfrm>
          </p:grpSpPr>
          <p:sp>
            <p:nvSpPr>
              <p:cNvPr id="35" name="TextBox 34">
                <a:extLst>
                  <a:ext uri="{FF2B5EF4-FFF2-40B4-BE49-F238E27FC236}">
                    <a16:creationId xmlns:a16="http://schemas.microsoft.com/office/drawing/2014/main" id="{7A19A9F4-0F58-4CCE-AB97-AC51C78B9845}"/>
                  </a:ext>
                </a:extLst>
              </p:cNvPr>
              <p:cNvSpPr txBox="1"/>
              <p:nvPr/>
            </p:nvSpPr>
            <p:spPr>
              <a:xfrm>
                <a:off x="4833079" y="1751181"/>
                <a:ext cx="307104" cy="184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ea typeface="SamsungOne 400" panose="020B0503030303020204" pitchFamily="34" charset="0"/>
                  </a:rPr>
                  <a:t>3rd</a:t>
                </a:r>
              </a:p>
            </p:txBody>
          </p:sp>
          <p:sp>
            <p:nvSpPr>
              <p:cNvPr id="36" name="직사각형 35">
                <a:extLst>
                  <a:ext uri="{FF2B5EF4-FFF2-40B4-BE49-F238E27FC236}">
                    <a16:creationId xmlns:a16="http://schemas.microsoft.com/office/drawing/2014/main" id="{E9CCB791-D650-4839-A063-108FC19AA4AC}"/>
                  </a:ext>
                </a:extLst>
              </p:cNvPr>
              <p:cNvSpPr/>
              <p:nvPr/>
            </p:nvSpPr>
            <p:spPr>
              <a:xfrm>
                <a:off x="4444195" y="1968499"/>
                <a:ext cx="1100415" cy="1620521"/>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BAD7B08-A5C1-4E6A-8E35-24C844E818FF}"/>
                      </a:ext>
                    </a:extLst>
                  </p:cNvPr>
                  <p:cNvSpPr txBox="1"/>
                  <p:nvPr/>
                </p:nvSpPr>
                <p:spPr>
                  <a:xfrm>
                    <a:off x="4911545" y="3610590"/>
                    <a:ext cx="166626" cy="1721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𝑥</m:t>
                          </m:r>
                        </m:oMath>
                      </m:oMathPara>
                    </a14:m>
                    <a:endParaRPr lang="en-US" sz="1300" dirty="0">
                      <a:solidFill>
                        <a:schemeClr val="tx1"/>
                      </a:solidFill>
                    </a:endParaRPr>
                  </a:p>
                </p:txBody>
              </p:sp>
            </mc:Choice>
            <mc:Fallback xmlns="">
              <p:sp>
                <p:nvSpPr>
                  <p:cNvPr id="164" name="TextBox 163">
                    <a:extLst>
                      <a:ext uri="{FF2B5EF4-FFF2-40B4-BE49-F238E27FC236}">
                        <a16:creationId xmlns:a16="http://schemas.microsoft.com/office/drawing/2014/main" id="{F4BE0031-B110-4D4B-9E9E-E5A8D2819FC8}"/>
                      </a:ext>
                    </a:extLst>
                  </p:cNvPr>
                  <p:cNvSpPr txBox="1">
                    <a:spLocks noRot="1" noChangeAspect="1" noMove="1" noResize="1" noEditPoints="1" noAdjustHandles="1" noChangeArrowheads="1" noChangeShapeType="1" noTextEdit="1"/>
                  </p:cNvSpPr>
                  <p:nvPr/>
                </p:nvSpPr>
                <p:spPr>
                  <a:xfrm>
                    <a:off x="4911545" y="3610590"/>
                    <a:ext cx="166626" cy="172185"/>
                  </a:xfrm>
                  <a:prstGeom prst="rect">
                    <a:avLst/>
                  </a:prstGeom>
                  <a:blipFill>
                    <a:blip r:embed="rId4"/>
                    <a:stretch>
                      <a:fillRect l="-3704" b="-3448"/>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9EEE9E7-B4F9-43E8-B35A-883CF06E5643}"/>
                      </a:ext>
                    </a:extLst>
                  </p:cNvPr>
                  <p:cNvSpPr txBox="1"/>
                  <p:nvPr/>
                </p:nvSpPr>
                <p:spPr>
                  <a:xfrm>
                    <a:off x="4257708" y="2607925"/>
                    <a:ext cx="157171" cy="182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𝑦</m:t>
                          </m:r>
                        </m:oMath>
                      </m:oMathPara>
                    </a14:m>
                    <a:endParaRPr lang="en-US" sz="1300" dirty="0">
                      <a:solidFill>
                        <a:schemeClr val="tx1"/>
                      </a:solidFill>
                    </a:endParaRPr>
                  </a:p>
                </p:txBody>
              </p:sp>
            </mc:Choice>
            <mc:Fallback xmlns="">
              <p:sp>
                <p:nvSpPr>
                  <p:cNvPr id="38" name="TextBox 37">
                    <a:extLst>
                      <a:ext uri="{FF2B5EF4-FFF2-40B4-BE49-F238E27FC236}">
                        <a16:creationId xmlns:a16="http://schemas.microsoft.com/office/drawing/2014/main" xmlns="" xmlns:a14="http://schemas.microsoft.com/office/drawing/2010/main" id="{89EEE9E7-B4F9-43E8-B35A-883CF06E5643}"/>
                      </a:ext>
                    </a:extLst>
                  </p:cNvPr>
                  <p:cNvSpPr txBox="1">
                    <a:spLocks noRot="1" noChangeAspect="1" noMove="1" noResize="1" noEditPoints="1" noAdjustHandles="1" noChangeArrowheads="1" noChangeShapeType="1" noTextEdit="1"/>
                  </p:cNvSpPr>
                  <p:nvPr/>
                </p:nvSpPr>
                <p:spPr>
                  <a:xfrm>
                    <a:off x="4257708" y="2607925"/>
                    <a:ext cx="157171" cy="182542"/>
                  </a:xfrm>
                  <a:prstGeom prst="rect">
                    <a:avLst/>
                  </a:prstGeom>
                  <a:blipFill rotWithShape="0">
                    <a:blip r:embed="rId5"/>
                    <a:stretch>
                      <a:fillRect l="-20000" r="-20000" b="-39286"/>
                    </a:stretch>
                  </a:blipFill>
                  <a:ln>
                    <a:noFill/>
                  </a:ln>
                </p:spPr>
                <p:txBody>
                  <a:bodyPr/>
                  <a:lstStyle/>
                  <a:p>
                    <a:r>
                      <a:rPr lang="ko-KR" altLang="en-US">
                        <a:noFill/>
                      </a:rPr>
                      <a:t> </a:t>
                    </a:r>
                  </a:p>
                </p:txBody>
              </p:sp>
            </mc:Fallback>
          </mc:AlternateContent>
        </p:grpSp>
        <p:grpSp>
          <p:nvGrpSpPr>
            <p:cNvPr id="20" name="그룹 19">
              <a:extLst>
                <a:ext uri="{FF2B5EF4-FFF2-40B4-BE49-F238E27FC236}">
                  <a16:creationId xmlns:a16="http://schemas.microsoft.com/office/drawing/2014/main" id="{2C6D24BF-D272-4003-B056-FA9ACF220C1E}"/>
                </a:ext>
              </a:extLst>
            </p:cNvPr>
            <p:cNvGrpSpPr/>
            <p:nvPr/>
          </p:nvGrpSpPr>
          <p:grpSpPr>
            <a:xfrm>
              <a:off x="5566125" y="1751181"/>
              <a:ext cx="1289125" cy="2031594"/>
              <a:chOff x="5566125" y="1751181"/>
              <a:chExt cx="1289125" cy="2031594"/>
            </a:xfrm>
          </p:grpSpPr>
          <p:sp>
            <p:nvSpPr>
              <p:cNvPr id="31" name="TextBox 30">
                <a:extLst>
                  <a:ext uri="{FF2B5EF4-FFF2-40B4-BE49-F238E27FC236}">
                    <a16:creationId xmlns:a16="http://schemas.microsoft.com/office/drawing/2014/main" id="{F2FB11B1-42B0-4AA9-8A42-69E49756B940}"/>
                  </a:ext>
                </a:extLst>
              </p:cNvPr>
              <p:cNvSpPr txBox="1"/>
              <p:nvPr/>
            </p:nvSpPr>
            <p:spPr>
              <a:xfrm>
                <a:off x="6158821" y="1751181"/>
                <a:ext cx="307104" cy="184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dirty="0">
                    <a:solidFill>
                      <a:schemeClr val="tx1"/>
                    </a:solidFill>
                    <a:ea typeface="SamsungOne 400" panose="020B0503030303020204" pitchFamily="34" charset="0"/>
                  </a:rPr>
                  <a:t>4th</a:t>
                </a:r>
                <a:endParaRPr lang="en-US" dirty="0">
                  <a:solidFill>
                    <a:schemeClr val="tx1"/>
                  </a:solidFill>
                  <a:ea typeface="SamsungOne 400" panose="020B0503030303020204" pitchFamily="34" charset="0"/>
                </a:endParaRPr>
              </a:p>
            </p:txBody>
          </p:sp>
          <p:sp>
            <p:nvSpPr>
              <p:cNvPr id="32" name="직사각형 31">
                <a:extLst>
                  <a:ext uri="{FF2B5EF4-FFF2-40B4-BE49-F238E27FC236}">
                    <a16:creationId xmlns:a16="http://schemas.microsoft.com/office/drawing/2014/main" id="{9DD7434E-5E63-4B85-9019-D7C79FE8D44B}"/>
                  </a:ext>
                </a:extLst>
              </p:cNvPr>
              <p:cNvSpPr/>
              <p:nvPr/>
            </p:nvSpPr>
            <p:spPr>
              <a:xfrm>
                <a:off x="5754835" y="1968499"/>
                <a:ext cx="1100415" cy="1620521"/>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D73B5ED-BDE3-4602-820F-A409632C8239}"/>
                      </a:ext>
                    </a:extLst>
                  </p:cNvPr>
                  <p:cNvSpPr txBox="1"/>
                  <p:nvPr/>
                </p:nvSpPr>
                <p:spPr>
                  <a:xfrm>
                    <a:off x="6222185" y="3610590"/>
                    <a:ext cx="166626" cy="1721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𝑥</m:t>
                          </m:r>
                        </m:oMath>
                      </m:oMathPara>
                    </a14:m>
                    <a:endParaRPr lang="en-US" sz="1300" dirty="0">
                      <a:solidFill>
                        <a:schemeClr val="tx1"/>
                      </a:solidFill>
                    </a:endParaRPr>
                  </a:p>
                </p:txBody>
              </p:sp>
            </mc:Choice>
            <mc:Fallback xmlns="">
              <p:sp>
                <p:nvSpPr>
                  <p:cNvPr id="168" name="TextBox 167">
                    <a:extLst>
                      <a:ext uri="{FF2B5EF4-FFF2-40B4-BE49-F238E27FC236}">
                        <a16:creationId xmlns:a16="http://schemas.microsoft.com/office/drawing/2014/main" id="{1C1C29C5-7E3B-40CC-8668-BF5562860432}"/>
                      </a:ext>
                    </a:extLst>
                  </p:cNvPr>
                  <p:cNvSpPr txBox="1">
                    <a:spLocks noRot="1" noChangeAspect="1" noMove="1" noResize="1" noEditPoints="1" noAdjustHandles="1" noChangeArrowheads="1" noChangeShapeType="1" noTextEdit="1"/>
                  </p:cNvSpPr>
                  <p:nvPr/>
                </p:nvSpPr>
                <p:spPr>
                  <a:xfrm>
                    <a:off x="6222185" y="3610590"/>
                    <a:ext cx="166626" cy="172185"/>
                  </a:xfrm>
                  <a:prstGeom prst="rect">
                    <a:avLst/>
                  </a:prstGeom>
                  <a:blipFill>
                    <a:blip r:embed="rId4"/>
                    <a:stretch>
                      <a:fillRect l="-3704" b="-3448"/>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741923B-FA63-4531-86B2-C3BA9E1ADA0B}"/>
                      </a:ext>
                    </a:extLst>
                  </p:cNvPr>
                  <p:cNvSpPr txBox="1"/>
                  <p:nvPr/>
                </p:nvSpPr>
                <p:spPr>
                  <a:xfrm>
                    <a:off x="5566125" y="2611289"/>
                    <a:ext cx="157171" cy="182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𝑦</m:t>
                          </m:r>
                        </m:oMath>
                      </m:oMathPara>
                    </a14:m>
                    <a:endParaRPr lang="en-US" sz="1300" dirty="0">
                      <a:solidFill>
                        <a:schemeClr val="tx1"/>
                      </a:solidFill>
                    </a:endParaRPr>
                  </a:p>
                </p:txBody>
              </p:sp>
            </mc:Choice>
            <mc:Fallback xmlns="">
              <p:sp>
                <p:nvSpPr>
                  <p:cNvPr id="34" name="TextBox 33">
                    <a:extLst>
                      <a:ext uri="{FF2B5EF4-FFF2-40B4-BE49-F238E27FC236}">
                        <a16:creationId xmlns:a16="http://schemas.microsoft.com/office/drawing/2014/main" xmlns="" xmlns:a14="http://schemas.microsoft.com/office/drawing/2010/main" id="{B741923B-FA63-4531-86B2-C3BA9E1ADA0B}"/>
                      </a:ext>
                    </a:extLst>
                  </p:cNvPr>
                  <p:cNvSpPr txBox="1">
                    <a:spLocks noRot="1" noChangeAspect="1" noMove="1" noResize="1" noEditPoints="1" noAdjustHandles="1" noChangeArrowheads="1" noChangeShapeType="1" noTextEdit="1"/>
                  </p:cNvSpPr>
                  <p:nvPr/>
                </p:nvSpPr>
                <p:spPr>
                  <a:xfrm>
                    <a:off x="5566125" y="2611289"/>
                    <a:ext cx="157171" cy="182542"/>
                  </a:xfrm>
                  <a:prstGeom prst="rect">
                    <a:avLst/>
                  </a:prstGeom>
                  <a:blipFill rotWithShape="0">
                    <a:blip r:embed="rId6"/>
                    <a:stretch>
                      <a:fillRect l="-20000" r="-20000" b="-40741"/>
                    </a:stretch>
                  </a:blipFill>
                  <a:ln>
                    <a:noFill/>
                  </a:ln>
                </p:spPr>
                <p:txBody>
                  <a:bodyPr/>
                  <a:lstStyle/>
                  <a:p>
                    <a:r>
                      <a:rPr lang="ko-KR" altLang="en-US">
                        <a:noFill/>
                      </a:rPr>
                      <a:t> </a:t>
                    </a:r>
                  </a:p>
                </p:txBody>
              </p:sp>
            </mc:Fallback>
          </mc:AlternateContent>
        </p:grpSp>
        <p:grpSp>
          <p:nvGrpSpPr>
            <p:cNvPr id="21" name="그룹 20">
              <a:extLst>
                <a:ext uri="{FF2B5EF4-FFF2-40B4-BE49-F238E27FC236}">
                  <a16:creationId xmlns:a16="http://schemas.microsoft.com/office/drawing/2014/main" id="{53C37F92-170B-4B6B-8C58-0BB9F48D1240}"/>
                </a:ext>
              </a:extLst>
            </p:cNvPr>
            <p:cNvGrpSpPr/>
            <p:nvPr/>
          </p:nvGrpSpPr>
          <p:grpSpPr>
            <a:xfrm>
              <a:off x="6887518" y="1751181"/>
              <a:ext cx="1280650" cy="2031594"/>
              <a:chOff x="6887518" y="1751181"/>
              <a:chExt cx="1280650" cy="2031594"/>
            </a:xfrm>
          </p:grpSpPr>
          <p:sp>
            <p:nvSpPr>
              <p:cNvPr id="22" name="TextBox 21">
                <a:extLst>
                  <a:ext uri="{FF2B5EF4-FFF2-40B4-BE49-F238E27FC236}">
                    <a16:creationId xmlns:a16="http://schemas.microsoft.com/office/drawing/2014/main" id="{1261D28F-DBDE-4BE3-BBAE-1ED20E21E77C}"/>
                  </a:ext>
                </a:extLst>
              </p:cNvPr>
              <p:cNvSpPr txBox="1"/>
              <p:nvPr/>
            </p:nvSpPr>
            <p:spPr>
              <a:xfrm>
                <a:off x="7483037" y="1751181"/>
                <a:ext cx="307104" cy="184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dirty="0">
                    <a:solidFill>
                      <a:schemeClr val="tx1"/>
                    </a:solidFill>
                    <a:ea typeface="SamsungOne 400" panose="020B0503030303020204" pitchFamily="34" charset="0"/>
                  </a:rPr>
                  <a:t>12th</a:t>
                </a:r>
                <a:endParaRPr lang="en-US" dirty="0">
                  <a:solidFill>
                    <a:schemeClr val="tx1"/>
                  </a:solidFill>
                  <a:ea typeface="SamsungOne 400" panose="020B0503030303020204" pitchFamily="34" charset="0"/>
                </a:endParaRPr>
              </a:p>
            </p:txBody>
          </p:sp>
          <p:sp>
            <p:nvSpPr>
              <p:cNvPr id="28" name="직사각형 27">
                <a:extLst>
                  <a:ext uri="{FF2B5EF4-FFF2-40B4-BE49-F238E27FC236}">
                    <a16:creationId xmlns:a16="http://schemas.microsoft.com/office/drawing/2014/main" id="{D8983510-5F15-48B7-8B9A-5A1ED6B537C5}"/>
                  </a:ext>
                </a:extLst>
              </p:cNvPr>
              <p:cNvSpPr/>
              <p:nvPr/>
            </p:nvSpPr>
            <p:spPr>
              <a:xfrm>
                <a:off x="7067753" y="1968499"/>
                <a:ext cx="1100415" cy="1620521"/>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4970C68-E6BD-4827-9BEA-3FAA566C99BA}"/>
                      </a:ext>
                    </a:extLst>
                  </p:cNvPr>
                  <p:cNvSpPr txBox="1"/>
                  <p:nvPr/>
                </p:nvSpPr>
                <p:spPr>
                  <a:xfrm>
                    <a:off x="7535103" y="3610590"/>
                    <a:ext cx="166626" cy="1721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𝑥</m:t>
                          </m:r>
                        </m:oMath>
                      </m:oMathPara>
                    </a14:m>
                    <a:endParaRPr lang="en-US" sz="1300" dirty="0">
                      <a:solidFill>
                        <a:schemeClr val="tx1"/>
                      </a:solidFill>
                    </a:endParaRPr>
                  </a:p>
                </p:txBody>
              </p:sp>
            </mc:Choice>
            <mc:Fallback xmlns="">
              <p:sp>
                <p:nvSpPr>
                  <p:cNvPr id="173" name="TextBox 172">
                    <a:extLst>
                      <a:ext uri="{FF2B5EF4-FFF2-40B4-BE49-F238E27FC236}">
                        <a16:creationId xmlns:a16="http://schemas.microsoft.com/office/drawing/2014/main" id="{CB2B1DE2-C0DD-4237-B814-739E5F13CAB6}"/>
                      </a:ext>
                    </a:extLst>
                  </p:cNvPr>
                  <p:cNvSpPr txBox="1">
                    <a:spLocks noRot="1" noChangeAspect="1" noMove="1" noResize="1" noEditPoints="1" noAdjustHandles="1" noChangeArrowheads="1" noChangeShapeType="1" noTextEdit="1"/>
                  </p:cNvSpPr>
                  <p:nvPr/>
                </p:nvSpPr>
                <p:spPr>
                  <a:xfrm>
                    <a:off x="7535103" y="3610590"/>
                    <a:ext cx="166626" cy="172185"/>
                  </a:xfrm>
                  <a:prstGeom prst="rect">
                    <a:avLst/>
                  </a:prstGeom>
                  <a:blipFill>
                    <a:blip r:embed="rId4"/>
                    <a:stretch>
                      <a:fillRect l="-3704" b="-3448"/>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AA1EFA0-BA47-43AC-9205-7651D75B31F4}"/>
                      </a:ext>
                    </a:extLst>
                  </p:cNvPr>
                  <p:cNvSpPr txBox="1"/>
                  <p:nvPr/>
                </p:nvSpPr>
                <p:spPr>
                  <a:xfrm>
                    <a:off x="6887518" y="2639087"/>
                    <a:ext cx="157171" cy="182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𝑦</m:t>
                          </m:r>
                        </m:oMath>
                      </m:oMathPara>
                    </a14:m>
                    <a:endParaRPr lang="en-US" sz="1300" dirty="0">
                      <a:solidFill>
                        <a:schemeClr val="tx1"/>
                      </a:solidFill>
                    </a:endParaRPr>
                  </a:p>
                </p:txBody>
              </p:sp>
            </mc:Choice>
            <mc:Fallback xmlns="">
              <p:sp>
                <p:nvSpPr>
                  <p:cNvPr id="30" name="TextBox 29">
                    <a:extLst>
                      <a:ext uri="{FF2B5EF4-FFF2-40B4-BE49-F238E27FC236}">
                        <a16:creationId xmlns:a16="http://schemas.microsoft.com/office/drawing/2014/main" xmlns="" xmlns:a14="http://schemas.microsoft.com/office/drawing/2010/main" id="{AAA1EFA0-BA47-43AC-9205-7651D75B31F4}"/>
                      </a:ext>
                    </a:extLst>
                  </p:cNvPr>
                  <p:cNvSpPr txBox="1">
                    <a:spLocks noRot="1" noChangeAspect="1" noMove="1" noResize="1" noEditPoints="1" noAdjustHandles="1" noChangeArrowheads="1" noChangeShapeType="1" noTextEdit="1"/>
                  </p:cNvSpPr>
                  <p:nvPr/>
                </p:nvSpPr>
                <p:spPr>
                  <a:xfrm>
                    <a:off x="6887518" y="2639087"/>
                    <a:ext cx="157171" cy="182542"/>
                  </a:xfrm>
                  <a:prstGeom prst="rect">
                    <a:avLst/>
                  </a:prstGeom>
                  <a:blipFill rotWithShape="0">
                    <a:blip r:embed="rId7"/>
                    <a:stretch>
                      <a:fillRect l="-19231" r="-15385" b="-40741"/>
                    </a:stretch>
                  </a:blipFill>
                  <a:ln>
                    <a:noFill/>
                  </a:ln>
                </p:spPr>
                <p:txBody>
                  <a:bodyPr/>
                  <a:lstStyle/>
                  <a:p>
                    <a:r>
                      <a:rPr lang="ko-KR" altLang="en-US">
                        <a:noFill/>
                      </a:rPr>
                      <a:t> </a:t>
                    </a:r>
                  </a:p>
                </p:txBody>
              </p:sp>
            </mc:Fallback>
          </mc:AlternateContent>
        </p:grpSp>
      </p:grpSp>
      <p:sp>
        <p:nvSpPr>
          <p:cNvPr id="10" name="직사각형 9">
            <a:extLst>
              <a:ext uri="{FF2B5EF4-FFF2-40B4-BE49-F238E27FC236}">
                <a16:creationId xmlns:a16="http://schemas.microsoft.com/office/drawing/2014/main" id="{D11AE9A9-3208-4DAA-8759-636993E31A67}"/>
              </a:ext>
            </a:extLst>
          </p:cNvPr>
          <p:cNvSpPr/>
          <p:nvPr/>
        </p:nvSpPr>
        <p:spPr>
          <a:xfrm>
            <a:off x="1943746" y="6089491"/>
            <a:ext cx="5994128"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ctr">
              <a:spcAft>
                <a:spcPts val="800"/>
              </a:spcAft>
              <a:buClr>
                <a:srgbClr val="193EB0"/>
              </a:buClr>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rPr>
              <a:t>Overfitting and underfitting</a:t>
            </a:r>
          </a:p>
        </p:txBody>
      </p:sp>
    </p:spTree>
    <p:extLst>
      <p:ext uri="{BB962C8B-B14F-4D97-AF65-F5344CB8AC3E}">
        <p14:creationId xmlns:p14="http://schemas.microsoft.com/office/powerpoint/2010/main" val="7877942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1.3. Preparation and Division of Dataset</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Overfitting and generalization of modeling</a:t>
            </a:r>
            <a:r>
              <a:rPr lang="ko-KR" altLang="en-US" sz="1400" dirty="0">
                <a:solidFill>
                  <a:schemeClr val="tx1"/>
                </a:solidFill>
                <a:latin typeface="SamsungOne 400" panose="020B0503030303020204" pitchFamily="34" charset="0"/>
                <a:ea typeface="SamsungOne 400" panose="020B0503030303020204" pitchFamily="34" charset="0"/>
              </a:rPr>
              <a:t> </a:t>
            </a:r>
          </a:p>
        </p:txBody>
      </p:sp>
      <p:sp>
        <p:nvSpPr>
          <p:cNvPr id="185" name="직사각형 184">
            <a:extLst>
              <a:ext uri="{FF2B5EF4-FFF2-40B4-BE49-F238E27FC236}">
                <a16:creationId xmlns:a16="http://schemas.microsoft.com/office/drawing/2014/main" id="{775E6F2A-A251-4511-9977-09460BC84258}"/>
              </a:ext>
            </a:extLst>
          </p:cNvPr>
          <p:cNvSpPr/>
          <p:nvPr/>
        </p:nvSpPr>
        <p:spPr>
          <a:xfrm>
            <a:off x="1865198" y="3749806"/>
            <a:ext cx="6153212"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ctr">
              <a:spcAft>
                <a:spcPts val="800"/>
              </a:spcAft>
              <a:buClr>
                <a:srgbClr val="193EB0"/>
              </a:buClr>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rPr>
              <a:t>Overfitting and underfitting</a:t>
            </a:r>
          </a:p>
        </p:txBody>
      </p:sp>
      <p:sp>
        <p:nvSpPr>
          <p:cNvPr id="188" name="직사각형 187">
            <a:extLst>
              <a:ext uri="{FF2B5EF4-FFF2-40B4-BE49-F238E27FC236}">
                <a16:creationId xmlns:a16="http://schemas.microsoft.com/office/drawing/2014/main" id="{31841FC7-3957-48D1-991D-1F3E552F0ECE}"/>
              </a:ext>
            </a:extLst>
          </p:cNvPr>
          <p:cNvSpPr/>
          <p:nvPr/>
        </p:nvSpPr>
        <p:spPr>
          <a:xfrm>
            <a:off x="671261" y="4115749"/>
            <a:ext cx="8632825" cy="1653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Even if machine learning finds the optimal solution in data distribution, a wide margin of error occurs since the model has a small capacity. Such a phenomenon is referred to as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underfitting</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the linear</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equation model on the leftmost figure above is an example. </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An easy alternative is to use higher-degree polynomials, which are non-linear equations.</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rightmost figure provided above is applied with the 12</a:t>
            </a:r>
            <a:r>
              <a:rPr lang="en-US" altLang="ko-KR" sz="1300" baseline="30000" dirty="0">
                <a:solidFill>
                  <a:schemeClr val="tx1">
                    <a:lumMod val="85000"/>
                    <a:lumOff val="15000"/>
                  </a:schemeClr>
                </a:solidFill>
                <a:latin typeface="SamsungOne 400" panose="020B0503030303020204" pitchFamily="34" charset="0"/>
                <a:ea typeface="SamsungOne 400" panose="020B0503030303020204" pitchFamily="34" charset="0"/>
              </a:rPr>
              <a:t>th</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-order polynomial.</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model capacity got larger, and there are 13 parameters for estimation.</a:t>
            </a:r>
          </a:p>
        </p:txBody>
      </p:sp>
      <mc:AlternateContent xmlns:mc="http://schemas.openxmlformats.org/markup-compatibility/2006" xmlns:a14="http://schemas.microsoft.com/office/drawing/2010/main">
        <mc:Choice Requires="a14">
          <p:sp>
            <p:nvSpPr>
              <p:cNvPr id="189" name="TextBox 188">
                <a:extLst>
                  <a:ext uri="{FF2B5EF4-FFF2-40B4-BE49-F238E27FC236}">
                    <a16:creationId xmlns:a16="http://schemas.microsoft.com/office/drawing/2014/main" id="{B9A2D60B-E7C2-4B99-BD31-1F26DBE2FAD9}"/>
                  </a:ext>
                </a:extLst>
              </p:cNvPr>
              <p:cNvSpPr txBox="1"/>
              <p:nvPr/>
            </p:nvSpPr>
            <p:spPr>
              <a:xfrm>
                <a:off x="2826649" y="5841268"/>
                <a:ext cx="4249525" cy="4411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𝑦</m:t>
                      </m:r>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𝑤</m:t>
                          </m:r>
                        </m:e>
                        <m:sub>
                          <m:r>
                            <a:rPr lang="en-US">
                              <a:latin typeface="Cambria Math" panose="02040503050406030204" pitchFamily="18" charset="0"/>
                            </a:rPr>
                            <m:t>12</m:t>
                          </m:r>
                        </m:sub>
                      </m:sSub>
                      <m:sSup>
                        <m:sSupPr>
                          <m:ctrlPr>
                            <a:rPr lang="en-US" altLang="ko-KR" i="1">
                              <a:latin typeface="Cambria Math" panose="02040503050406030204" pitchFamily="18" charset="0"/>
                            </a:rPr>
                          </m:ctrlPr>
                        </m:sSupPr>
                        <m:e>
                          <m:r>
                            <a:rPr lang="en-US" altLang="ko-KR">
                              <a:latin typeface="Cambria Math" panose="02040503050406030204" pitchFamily="18" charset="0"/>
                            </a:rPr>
                            <m:t>𝑥</m:t>
                          </m:r>
                        </m:e>
                        <m:sup>
                          <m:r>
                            <a:rPr lang="en-US" altLang="ko-KR">
                              <a:latin typeface="Cambria Math" panose="02040503050406030204" pitchFamily="18" charset="0"/>
                            </a:rPr>
                            <m:t>12</m:t>
                          </m:r>
                        </m:sup>
                      </m:sSup>
                      <m:r>
                        <a:rPr lang="en-US" altLang="ko-KR">
                          <a:latin typeface="Cambria Math" panose="02040503050406030204" pitchFamily="18" charset="0"/>
                        </a:rPr>
                        <m:t>+</m:t>
                      </m:r>
                      <m:sSub>
                        <m:sSubPr>
                          <m:ctrlPr>
                            <a:rPr lang="en-US" altLang="ko-KR" i="1">
                              <a:latin typeface="Cambria Math" panose="02040503050406030204" pitchFamily="18" charset="0"/>
                            </a:rPr>
                          </m:ctrlPr>
                        </m:sSubPr>
                        <m:e>
                          <m:r>
                            <a:rPr lang="en-US" altLang="ko-KR">
                              <a:latin typeface="Cambria Math" panose="02040503050406030204" pitchFamily="18" charset="0"/>
                            </a:rPr>
                            <m:t>𝑤</m:t>
                          </m:r>
                        </m:e>
                        <m:sub>
                          <m:r>
                            <a:rPr lang="en-US" altLang="ko-KR">
                              <a:latin typeface="Cambria Math" panose="02040503050406030204" pitchFamily="18" charset="0"/>
                            </a:rPr>
                            <m:t>11</m:t>
                          </m:r>
                        </m:sub>
                      </m:sSub>
                      <m:sSup>
                        <m:sSupPr>
                          <m:ctrlPr>
                            <a:rPr lang="en-US" altLang="ko-KR" i="1">
                              <a:latin typeface="Cambria Math" panose="02040503050406030204" pitchFamily="18" charset="0"/>
                            </a:rPr>
                          </m:ctrlPr>
                        </m:sSupPr>
                        <m:e>
                          <m:r>
                            <a:rPr lang="en-US" altLang="ko-KR">
                              <a:latin typeface="Cambria Math" panose="02040503050406030204" pitchFamily="18" charset="0"/>
                            </a:rPr>
                            <m:t>𝑥</m:t>
                          </m:r>
                        </m:e>
                        <m:sup>
                          <m:r>
                            <a:rPr lang="en-US" altLang="ko-KR">
                              <a:latin typeface="Cambria Math" panose="02040503050406030204" pitchFamily="18" charset="0"/>
                            </a:rPr>
                            <m:t>11</m:t>
                          </m:r>
                        </m:sup>
                      </m:sSup>
                      <m:r>
                        <a:rPr lang="en-US" altLang="ko-KR">
                          <a:latin typeface="Cambria Math" panose="02040503050406030204" pitchFamily="18" charset="0"/>
                        </a:rPr>
                        <m:t>+</m:t>
                      </m:r>
                      <m:sSub>
                        <m:sSubPr>
                          <m:ctrlPr>
                            <a:rPr lang="en-US" altLang="ko-KR" i="1">
                              <a:latin typeface="Cambria Math" panose="02040503050406030204" pitchFamily="18" charset="0"/>
                            </a:rPr>
                          </m:ctrlPr>
                        </m:sSubPr>
                        <m:e>
                          <m:r>
                            <a:rPr lang="en-US" altLang="ko-KR">
                              <a:latin typeface="Cambria Math" panose="02040503050406030204" pitchFamily="18" charset="0"/>
                            </a:rPr>
                            <m:t>𝑤</m:t>
                          </m:r>
                        </m:e>
                        <m:sub>
                          <m:r>
                            <a:rPr lang="en-US" altLang="ko-KR">
                              <a:latin typeface="Cambria Math" panose="02040503050406030204" pitchFamily="18" charset="0"/>
                            </a:rPr>
                            <m:t>10</m:t>
                          </m:r>
                        </m:sub>
                      </m:sSub>
                      <m:sSup>
                        <m:sSupPr>
                          <m:ctrlPr>
                            <a:rPr lang="en-US" altLang="ko-KR" i="1">
                              <a:latin typeface="Cambria Math" panose="02040503050406030204" pitchFamily="18" charset="0"/>
                            </a:rPr>
                          </m:ctrlPr>
                        </m:sSupPr>
                        <m:e>
                          <m:r>
                            <a:rPr lang="en-US" altLang="ko-KR">
                              <a:latin typeface="Cambria Math" panose="02040503050406030204" pitchFamily="18" charset="0"/>
                            </a:rPr>
                            <m:t>𝑥</m:t>
                          </m:r>
                        </m:e>
                        <m:sup>
                          <m:r>
                            <a:rPr lang="en-US" altLang="ko-KR">
                              <a:latin typeface="Cambria Math" panose="02040503050406030204" pitchFamily="18" charset="0"/>
                            </a:rPr>
                            <m:t>10</m:t>
                          </m:r>
                        </m:sup>
                      </m:sSup>
                      <m:r>
                        <a:rPr lang="en-US" altLang="ko-KR">
                          <a:latin typeface="Cambria Math" panose="02040503050406030204" pitchFamily="18" charset="0"/>
                        </a:rPr>
                        <m:t>⋯</m:t>
                      </m:r>
                      <m:sSub>
                        <m:sSubPr>
                          <m:ctrlPr>
                            <a:rPr lang="en-US" altLang="ko-KR" i="1">
                              <a:latin typeface="Cambria Math" panose="02040503050406030204" pitchFamily="18" charset="0"/>
                            </a:rPr>
                          </m:ctrlPr>
                        </m:sSubPr>
                        <m:e>
                          <m:r>
                            <a:rPr lang="en-US" altLang="ko-KR">
                              <a:latin typeface="Cambria Math" panose="02040503050406030204" pitchFamily="18" charset="0"/>
                            </a:rPr>
                            <m:t>𝑤</m:t>
                          </m:r>
                        </m:e>
                        <m:sub>
                          <m:r>
                            <a:rPr lang="en-US" altLang="ko-KR">
                              <a:latin typeface="Cambria Math" panose="02040503050406030204" pitchFamily="18" charset="0"/>
                            </a:rPr>
                            <m:t>1</m:t>
                          </m:r>
                        </m:sub>
                      </m:sSub>
                      <m:sSup>
                        <m:sSupPr>
                          <m:ctrlPr>
                            <a:rPr lang="en-US" altLang="ko-KR" i="1">
                              <a:latin typeface="Cambria Math" panose="02040503050406030204" pitchFamily="18" charset="0"/>
                            </a:rPr>
                          </m:ctrlPr>
                        </m:sSupPr>
                        <m:e>
                          <m:r>
                            <a:rPr lang="en-US" altLang="ko-KR">
                              <a:latin typeface="Cambria Math" panose="02040503050406030204" pitchFamily="18" charset="0"/>
                            </a:rPr>
                            <m:t>𝑥</m:t>
                          </m:r>
                        </m:e>
                        <m:sup>
                          <m:r>
                            <a:rPr lang="en-US" altLang="ko-KR">
                              <a:latin typeface="Cambria Math" panose="02040503050406030204" pitchFamily="18" charset="0"/>
                            </a:rPr>
                            <m:t>1</m:t>
                          </m:r>
                        </m:sup>
                      </m:sSup>
                      <m:r>
                        <a:rPr lang="en-US" altLang="ko-KR">
                          <a:latin typeface="Cambria Math" panose="02040503050406030204" pitchFamily="18" charset="0"/>
                        </a:rPr>
                        <m:t>+</m:t>
                      </m:r>
                      <m:sSub>
                        <m:sSubPr>
                          <m:ctrlPr>
                            <a:rPr lang="en-US" altLang="ko-KR" i="1">
                              <a:latin typeface="Cambria Math" panose="02040503050406030204" pitchFamily="18" charset="0"/>
                            </a:rPr>
                          </m:ctrlPr>
                        </m:sSubPr>
                        <m:e>
                          <m:r>
                            <a:rPr lang="en-US" altLang="ko-KR">
                              <a:latin typeface="Cambria Math" panose="02040503050406030204" pitchFamily="18" charset="0"/>
                            </a:rPr>
                            <m:t>𝑤</m:t>
                          </m:r>
                        </m:e>
                        <m:sub>
                          <m:r>
                            <a:rPr lang="en-US" altLang="ko-KR">
                              <a:latin typeface="Cambria Math" panose="02040503050406030204" pitchFamily="18" charset="0"/>
                            </a:rPr>
                            <m:t>0</m:t>
                          </m:r>
                        </m:sub>
                      </m:sSub>
                    </m:oMath>
                  </m:oMathPara>
                </a14:m>
                <a:endParaRPr lang="en-US" dirty="0"/>
              </a:p>
            </p:txBody>
          </p:sp>
        </mc:Choice>
        <mc:Fallback xmlns="">
          <p:sp>
            <p:nvSpPr>
              <p:cNvPr id="189" name="TextBox 188">
                <a:extLst>
                  <a:ext uri="{FF2B5EF4-FFF2-40B4-BE49-F238E27FC236}">
                    <a16:creationId xmlns:a16="http://schemas.microsoft.com/office/drawing/2014/main" xmlns="" xmlns:a14="http://schemas.microsoft.com/office/drawing/2010/main" id="{B9A2D60B-E7C2-4B99-BD31-1F26DBE2FAD9}"/>
                  </a:ext>
                </a:extLst>
              </p:cNvPr>
              <p:cNvSpPr txBox="1">
                <a:spLocks noRot="1" noChangeAspect="1" noMove="1" noResize="1" noEditPoints="1" noAdjustHandles="1" noChangeArrowheads="1" noChangeShapeType="1" noTextEdit="1"/>
              </p:cNvSpPr>
              <p:nvPr/>
            </p:nvSpPr>
            <p:spPr>
              <a:xfrm>
                <a:off x="2826649" y="5841268"/>
                <a:ext cx="4249525" cy="441146"/>
              </a:xfrm>
              <a:prstGeom prst="rect">
                <a:avLst/>
              </a:prstGeom>
              <a:blipFill rotWithShape="0">
                <a:blip r:embed="rId4"/>
                <a:stretch>
                  <a:fillRect/>
                </a:stretch>
              </a:blipFill>
              <a:ln>
                <a:noFill/>
              </a:ln>
            </p:spPr>
            <p:txBody>
              <a:bodyPr/>
              <a:lstStyle/>
              <a:p>
                <a:r>
                  <a:rPr lang="ko-KR" altLang="en-US">
                    <a:noFill/>
                  </a:rPr>
                  <a:t> </a:t>
                </a:r>
              </a:p>
            </p:txBody>
          </p:sp>
        </mc:Fallback>
      </mc:AlternateContent>
      <p:grpSp>
        <p:nvGrpSpPr>
          <p:cNvPr id="320" name="그룹 319">
            <a:extLst>
              <a:ext uri="{FF2B5EF4-FFF2-40B4-BE49-F238E27FC236}">
                <a16:creationId xmlns:a16="http://schemas.microsoft.com/office/drawing/2014/main" id="{236253B6-EA89-4549-91E6-F0EDF7A2E4FA}"/>
              </a:ext>
            </a:extLst>
          </p:cNvPr>
          <p:cNvGrpSpPr/>
          <p:nvPr/>
        </p:nvGrpSpPr>
        <p:grpSpPr>
          <a:xfrm>
            <a:off x="1676474" y="1778245"/>
            <a:ext cx="6353190" cy="1866779"/>
            <a:chOff x="1646364" y="1751181"/>
            <a:chExt cx="6521804" cy="2031594"/>
          </a:xfrm>
        </p:grpSpPr>
        <p:grpSp>
          <p:nvGrpSpPr>
            <p:cNvPr id="321" name="그룹 320">
              <a:extLst>
                <a:ext uri="{FF2B5EF4-FFF2-40B4-BE49-F238E27FC236}">
                  <a16:creationId xmlns:a16="http://schemas.microsoft.com/office/drawing/2014/main" id="{B6130B5E-B68E-4979-BD00-DEF11E7A4F59}"/>
                </a:ext>
              </a:extLst>
            </p:cNvPr>
            <p:cNvGrpSpPr/>
            <p:nvPr/>
          </p:nvGrpSpPr>
          <p:grpSpPr>
            <a:xfrm>
              <a:off x="1831340" y="2335090"/>
              <a:ext cx="1092200" cy="927120"/>
              <a:chOff x="1831340" y="2335090"/>
              <a:chExt cx="1092200" cy="927120"/>
            </a:xfrm>
          </p:grpSpPr>
          <p:cxnSp>
            <p:nvCxnSpPr>
              <p:cNvPr id="436" name="직선 연결선 435">
                <a:extLst>
                  <a:ext uri="{FF2B5EF4-FFF2-40B4-BE49-F238E27FC236}">
                    <a16:creationId xmlns:a16="http://schemas.microsoft.com/office/drawing/2014/main" id="{3071CF8D-DFA6-4AC1-B3EC-619BA9677B44}"/>
                  </a:ext>
                </a:extLst>
              </p:cNvPr>
              <p:cNvCxnSpPr>
                <a:cxnSpLocks/>
              </p:cNvCxnSpPr>
              <p:nvPr/>
            </p:nvCxnSpPr>
            <p:spPr>
              <a:xfrm>
                <a:off x="1831340" y="2702560"/>
                <a:ext cx="1092200" cy="162560"/>
              </a:xfrm>
              <a:prstGeom prst="line">
                <a:avLst/>
              </a:prstGeom>
              <a:ln w="12700">
                <a:solidFill>
                  <a:srgbClr val="1429A0"/>
                </a:solidFill>
              </a:ln>
            </p:spPr>
            <p:style>
              <a:lnRef idx="1">
                <a:schemeClr val="accent1"/>
              </a:lnRef>
              <a:fillRef idx="0">
                <a:schemeClr val="accent1"/>
              </a:fillRef>
              <a:effectRef idx="0">
                <a:schemeClr val="accent1"/>
              </a:effectRef>
              <a:fontRef idx="minor">
                <a:schemeClr val="tx1"/>
              </a:fontRef>
            </p:style>
          </p:cxnSp>
          <p:sp>
            <p:nvSpPr>
              <p:cNvPr id="437" name="타원 436">
                <a:extLst>
                  <a:ext uri="{FF2B5EF4-FFF2-40B4-BE49-F238E27FC236}">
                    <a16:creationId xmlns:a16="http://schemas.microsoft.com/office/drawing/2014/main" id="{08B3FF87-C9AA-4DF1-8442-F06EBD525028}"/>
                  </a:ext>
                </a:extLst>
              </p:cNvPr>
              <p:cNvSpPr/>
              <p:nvPr/>
            </p:nvSpPr>
            <p:spPr>
              <a:xfrm>
                <a:off x="1840230" y="268751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8" name="타원 437">
                <a:extLst>
                  <a:ext uri="{FF2B5EF4-FFF2-40B4-BE49-F238E27FC236}">
                    <a16:creationId xmlns:a16="http://schemas.microsoft.com/office/drawing/2014/main" id="{14D6C1BC-114F-4F55-9897-07474A806AA8}"/>
                  </a:ext>
                </a:extLst>
              </p:cNvPr>
              <p:cNvSpPr/>
              <p:nvPr/>
            </p:nvSpPr>
            <p:spPr>
              <a:xfrm>
                <a:off x="1901190" y="248177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9" name="타원 438">
                <a:extLst>
                  <a:ext uri="{FF2B5EF4-FFF2-40B4-BE49-F238E27FC236}">
                    <a16:creationId xmlns:a16="http://schemas.microsoft.com/office/drawing/2014/main" id="{E4C911F4-A4D0-41C9-BB5A-7FE360283FE4}"/>
                  </a:ext>
                </a:extLst>
              </p:cNvPr>
              <p:cNvSpPr/>
              <p:nvPr/>
            </p:nvSpPr>
            <p:spPr>
              <a:xfrm>
                <a:off x="1960245" y="240367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0" name="타원 439">
                <a:extLst>
                  <a:ext uri="{FF2B5EF4-FFF2-40B4-BE49-F238E27FC236}">
                    <a16:creationId xmlns:a16="http://schemas.microsoft.com/office/drawing/2014/main" id="{6835987A-F8AD-4774-8A5D-BF0D9D48102D}"/>
                  </a:ext>
                </a:extLst>
              </p:cNvPr>
              <p:cNvSpPr/>
              <p:nvPr/>
            </p:nvSpPr>
            <p:spPr>
              <a:xfrm>
                <a:off x="2013585" y="235985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1" name="타원 440">
                <a:extLst>
                  <a:ext uri="{FF2B5EF4-FFF2-40B4-BE49-F238E27FC236}">
                    <a16:creationId xmlns:a16="http://schemas.microsoft.com/office/drawing/2014/main" id="{23F98EF3-534F-447F-8A25-1434D86B3CBE}"/>
                  </a:ext>
                </a:extLst>
              </p:cNvPr>
              <p:cNvSpPr/>
              <p:nvPr/>
            </p:nvSpPr>
            <p:spPr>
              <a:xfrm>
                <a:off x="2036445" y="236557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2" name="타원 441">
                <a:extLst>
                  <a:ext uri="{FF2B5EF4-FFF2-40B4-BE49-F238E27FC236}">
                    <a16:creationId xmlns:a16="http://schemas.microsoft.com/office/drawing/2014/main" id="{DC7D422B-5323-4DE7-8746-313F281B4A62}"/>
                  </a:ext>
                </a:extLst>
              </p:cNvPr>
              <p:cNvSpPr/>
              <p:nvPr/>
            </p:nvSpPr>
            <p:spPr>
              <a:xfrm>
                <a:off x="2105025" y="256178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3" name="타원 442">
                <a:extLst>
                  <a:ext uri="{FF2B5EF4-FFF2-40B4-BE49-F238E27FC236}">
                    <a16:creationId xmlns:a16="http://schemas.microsoft.com/office/drawing/2014/main" id="{E04902FF-1E03-47DD-ADD6-45C72A8A2D53}"/>
                  </a:ext>
                </a:extLst>
              </p:cNvPr>
              <p:cNvSpPr/>
              <p:nvPr/>
            </p:nvSpPr>
            <p:spPr>
              <a:xfrm>
                <a:off x="2137410" y="264560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4" name="타원 443">
                <a:extLst>
                  <a:ext uri="{FF2B5EF4-FFF2-40B4-BE49-F238E27FC236}">
                    <a16:creationId xmlns:a16="http://schemas.microsoft.com/office/drawing/2014/main" id="{A05B0BCB-A9F1-4937-B387-F9EBAB4C7607}"/>
                  </a:ext>
                </a:extLst>
              </p:cNvPr>
              <p:cNvSpPr/>
              <p:nvPr/>
            </p:nvSpPr>
            <p:spPr>
              <a:xfrm>
                <a:off x="2173605" y="275609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5" name="타원 444">
                <a:extLst>
                  <a:ext uri="{FF2B5EF4-FFF2-40B4-BE49-F238E27FC236}">
                    <a16:creationId xmlns:a16="http://schemas.microsoft.com/office/drawing/2014/main" id="{BD62AE2C-47C4-45BD-85E8-F11DC0BE6338}"/>
                  </a:ext>
                </a:extLst>
              </p:cNvPr>
              <p:cNvSpPr/>
              <p:nvPr/>
            </p:nvSpPr>
            <p:spPr>
              <a:xfrm>
                <a:off x="2668905" y="23350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6" name="타원 445">
                <a:extLst>
                  <a:ext uri="{FF2B5EF4-FFF2-40B4-BE49-F238E27FC236}">
                    <a16:creationId xmlns:a16="http://schemas.microsoft.com/office/drawing/2014/main" id="{03CEC62A-3D38-4E23-A028-98A1CC936A97}"/>
                  </a:ext>
                </a:extLst>
              </p:cNvPr>
              <p:cNvSpPr/>
              <p:nvPr/>
            </p:nvSpPr>
            <p:spPr>
              <a:xfrm>
                <a:off x="2737485" y="23350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7" name="타원 446">
                <a:extLst>
                  <a:ext uri="{FF2B5EF4-FFF2-40B4-BE49-F238E27FC236}">
                    <a16:creationId xmlns:a16="http://schemas.microsoft.com/office/drawing/2014/main" id="{677672F5-8B93-4EEB-8795-6A4B006321B2}"/>
                  </a:ext>
                </a:extLst>
              </p:cNvPr>
              <p:cNvSpPr/>
              <p:nvPr/>
            </p:nvSpPr>
            <p:spPr>
              <a:xfrm>
                <a:off x="2747010" y="239605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8" name="타원 447">
                <a:extLst>
                  <a:ext uri="{FF2B5EF4-FFF2-40B4-BE49-F238E27FC236}">
                    <a16:creationId xmlns:a16="http://schemas.microsoft.com/office/drawing/2014/main" id="{927D651E-A521-4826-B3DA-948A3BF44FA8}"/>
                  </a:ext>
                </a:extLst>
              </p:cNvPr>
              <p:cNvSpPr/>
              <p:nvPr/>
            </p:nvSpPr>
            <p:spPr>
              <a:xfrm>
                <a:off x="2491740" y="29104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9" name="타원 448">
                <a:extLst>
                  <a:ext uri="{FF2B5EF4-FFF2-40B4-BE49-F238E27FC236}">
                    <a16:creationId xmlns:a16="http://schemas.microsoft.com/office/drawing/2014/main" id="{D22CD5DE-9B1D-4CFF-9A82-F8F952F41B13}"/>
                  </a:ext>
                </a:extLst>
              </p:cNvPr>
              <p:cNvSpPr/>
              <p:nvPr/>
            </p:nvSpPr>
            <p:spPr>
              <a:xfrm>
                <a:off x="2484120" y="29332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0" name="타원 449">
                <a:extLst>
                  <a:ext uri="{FF2B5EF4-FFF2-40B4-BE49-F238E27FC236}">
                    <a16:creationId xmlns:a16="http://schemas.microsoft.com/office/drawing/2014/main" id="{8BA3F2B0-ABBF-4D88-B3C4-036DEF619148}"/>
                  </a:ext>
                </a:extLst>
              </p:cNvPr>
              <p:cNvSpPr/>
              <p:nvPr/>
            </p:nvSpPr>
            <p:spPr>
              <a:xfrm>
                <a:off x="2386965" y="30628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1" name="타원 450">
                <a:extLst>
                  <a:ext uri="{FF2B5EF4-FFF2-40B4-BE49-F238E27FC236}">
                    <a16:creationId xmlns:a16="http://schemas.microsoft.com/office/drawing/2014/main" id="{304F13FA-C591-40E8-81BD-C13F80A97ABC}"/>
                  </a:ext>
                </a:extLst>
              </p:cNvPr>
              <p:cNvSpPr/>
              <p:nvPr/>
            </p:nvSpPr>
            <p:spPr>
              <a:xfrm>
                <a:off x="2276475" y="308756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2" name="타원 451">
                <a:extLst>
                  <a:ext uri="{FF2B5EF4-FFF2-40B4-BE49-F238E27FC236}">
                    <a16:creationId xmlns:a16="http://schemas.microsoft.com/office/drawing/2014/main" id="{EB7814A2-A595-467B-B0A8-1E93643E5B57}"/>
                  </a:ext>
                </a:extLst>
              </p:cNvPr>
              <p:cNvSpPr/>
              <p:nvPr/>
            </p:nvSpPr>
            <p:spPr>
              <a:xfrm>
                <a:off x="2287905" y="313709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3" name="타원 452">
                <a:extLst>
                  <a:ext uri="{FF2B5EF4-FFF2-40B4-BE49-F238E27FC236}">
                    <a16:creationId xmlns:a16="http://schemas.microsoft.com/office/drawing/2014/main" id="{31A19855-1BFF-42D3-A861-2F0568ED1D9D}"/>
                  </a:ext>
                </a:extLst>
              </p:cNvPr>
              <p:cNvSpPr/>
              <p:nvPr/>
            </p:nvSpPr>
            <p:spPr>
              <a:xfrm>
                <a:off x="2286000" y="315233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4" name="타원 453">
                <a:extLst>
                  <a:ext uri="{FF2B5EF4-FFF2-40B4-BE49-F238E27FC236}">
                    <a16:creationId xmlns:a16="http://schemas.microsoft.com/office/drawing/2014/main" id="{39D27DF8-C85C-4A0F-B0D7-C3101D75AB6C}"/>
                  </a:ext>
                </a:extLst>
              </p:cNvPr>
              <p:cNvSpPr/>
              <p:nvPr/>
            </p:nvSpPr>
            <p:spPr>
              <a:xfrm>
                <a:off x="2348865" y="31732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5" name="타원 454">
                <a:extLst>
                  <a:ext uri="{FF2B5EF4-FFF2-40B4-BE49-F238E27FC236}">
                    <a16:creationId xmlns:a16="http://schemas.microsoft.com/office/drawing/2014/main" id="{36656B5C-52E9-4EB2-884D-193CDD11AE9E}"/>
                  </a:ext>
                </a:extLst>
              </p:cNvPr>
              <p:cNvSpPr/>
              <p:nvPr/>
            </p:nvSpPr>
            <p:spPr>
              <a:xfrm>
                <a:off x="2369820" y="31732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6" name="타원 455">
                <a:extLst>
                  <a:ext uri="{FF2B5EF4-FFF2-40B4-BE49-F238E27FC236}">
                    <a16:creationId xmlns:a16="http://schemas.microsoft.com/office/drawing/2014/main" id="{2B6BF02F-EEE1-4CE3-970D-A77BF4AFCC15}"/>
                  </a:ext>
                </a:extLst>
              </p:cNvPr>
              <p:cNvSpPr/>
              <p:nvPr/>
            </p:nvSpPr>
            <p:spPr>
              <a:xfrm>
                <a:off x="2411730" y="321901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322" name="그룹 321">
              <a:extLst>
                <a:ext uri="{FF2B5EF4-FFF2-40B4-BE49-F238E27FC236}">
                  <a16:creationId xmlns:a16="http://schemas.microsoft.com/office/drawing/2014/main" id="{B689AEF3-DE98-4A91-9F1E-EDD17674F39E}"/>
                </a:ext>
              </a:extLst>
            </p:cNvPr>
            <p:cNvGrpSpPr/>
            <p:nvPr/>
          </p:nvGrpSpPr>
          <p:grpSpPr>
            <a:xfrm>
              <a:off x="3147060" y="1969770"/>
              <a:ext cx="1059180" cy="1292440"/>
              <a:chOff x="3147060" y="1969770"/>
              <a:chExt cx="1059180" cy="1292440"/>
            </a:xfrm>
          </p:grpSpPr>
          <p:sp>
            <p:nvSpPr>
              <p:cNvPr id="415" name="타원 414">
                <a:extLst>
                  <a:ext uri="{FF2B5EF4-FFF2-40B4-BE49-F238E27FC236}">
                    <a16:creationId xmlns:a16="http://schemas.microsoft.com/office/drawing/2014/main" id="{B4D8A36E-85AD-4F0C-ABE0-41056EF5E841}"/>
                  </a:ext>
                </a:extLst>
              </p:cNvPr>
              <p:cNvSpPr/>
              <p:nvPr/>
            </p:nvSpPr>
            <p:spPr>
              <a:xfrm>
                <a:off x="3150870" y="26894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6" name="자유형: 도형 111">
                <a:extLst>
                  <a:ext uri="{FF2B5EF4-FFF2-40B4-BE49-F238E27FC236}">
                    <a16:creationId xmlns:a16="http://schemas.microsoft.com/office/drawing/2014/main" id="{A7E27865-BF10-44E8-B542-0AF5145F938C}"/>
                  </a:ext>
                </a:extLst>
              </p:cNvPr>
              <p:cNvSpPr/>
              <p:nvPr/>
            </p:nvSpPr>
            <p:spPr>
              <a:xfrm>
                <a:off x="3147060" y="1969770"/>
                <a:ext cx="1059180" cy="1046330"/>
              </a:xfrm>
              <a:custGeom>
                <a:avLst/>
                <a:gdLst>
                  <a:gd name="connsiteX0" fmla="*/ 0 w 1059180"/>
                  <a:gd name="connsiteY0" fmla="*/ 160020 h 1052778"/>
                  <a:gd name="connsiteX1" fmla="*/ 36195 w 1059180"/>
                  <a:gd name="connsiteY1" fmla="*/ 278130 h 1052778"/>
                  <a:gd name="connsiteX2" fmla="*/ 85725 w 1059180"/>
                  <a:gd name="connsiteY2" fmla="*/ 436245 h 1052778"/>
                  <a:gd name="connsiteX3" fmla="*/ 139065 w 1059180"/>
                  <a:gd name="connsiteY3" fmla="*/ 592455 h 1052778"/>
                  <a:gd name="connsiteX4" fmla="*/ 205740 w 1059180"/>
                  <a:gd name="connsiteY4" fmla="*/ 737235 h 1052778"/>
                  <a:gd name="connsiteX5" fmla="*/ 251460 w 1059180"/>
                  <a:gd name="connsiteY5" fmla="*/ 815340 h 1052778"/>
                  <a:gd name="connsiteX6" fmla="*/ 320040 w 1059180"/>
                  <a:gd name="connsiteY6" fmla="*/ 920115 h 1052778"/>
                  <a:gd name="connsiteX7" fmla="*/ 375285 w 1059180"/>
                  <a:gd name="connsiteY7" fmla="*/ 986790 h 1052778"/>
                  <a:gd name="connsiteX8" fmla="*/ 436245 w 1059180"/>
                  <a:gd name="connsiteY8" fmla="*/ 1032510 h 1052778"/>
                  <a:gd name="connsiteX9" fmla="*/ 521970 w 1059180"/>
                  <a:gd name="connsiteY9" fmla="*/ 1051560 h 1052778"/>
                  <a:gd name="connsiteX10" fmla="*/ 632460 w 1059180"/>
                  <a:gd name="connsiteY10" fmla="*/ 1000125 h 1052778"/>
                  <a:gd name="connsiteX11" fmla="*/ 701040 w 1059180"/>
                  <a:gd name="connsiteY11" fmla="*/ 908685 h 1052778"/>
                  <a:gd name="connsiteX12" fmla="*/ 777240 w 1059180"/>
                  <a:gd name="connsiteY12" fmla="*/ 788670 h 1052778"/>
                  <a:gd name="connsiteX13" fmla="*/ 838200 w 1059180"/>
                  <a:gd name="connsiteY13" fmla="*/ 659130 h 1052778"/>
                  <a:gd name="connsiteX14" fmla="*/ 901065 w 1059180"/>
                  <a:gd name="connsiteY14" fmla="*/ 514350 h 1052778"/>
                  <a:gd name="connsiteX15" fmla="*/ 933450 w 1059180"/>
                  <a:gd name="connsiteY15" fmla="*/ 394335 h 1052778"/>
                  <a:gd name="connsiteX16" fmla="*/ 975360 w 1059180"/>
                  <a:gd name="connsiteY16" fmla="*/ 274320 h 1052778"/>
                  <a:gd name="connsiteX17" fmla="*/ 1019175 w 1059180"/>
                  <a:gd name="connsiteY17" fmla="*/ 144780 h 1052778"/>
                  <a:gd name="connsiteX18" fmla="*/ 1059180 w 1059180"/>
                  <a:gd name="connsiteY18" fmla="*/ 0 h 1052778"/>
                  <a:gd name="connsiteX0" fmla="*/ 0 w 1059180"/>
                  <a:gd name="connsiteY0" fmla="*/ 160020 h 1052778"/>
                  <a:gd name="connsiteX1" fmla="*/ 36195 w 1059180"/>
                  <a:gd name="connsiteY1" fmla="*/ 278130 h 1052778"/>
                  <a:gd name="connsiteX2" fmla="*/ 85725 w 1059180"/>
                  <a:gd name="connsiteY2" fmla="*/ 436245 h 1052778"/>
                  <a:gd name="connsiteX3" fmla="*/ 139065 w 1059180"/>
                  <a:gd name="connsiteY3" fmla="*/ 592455 h 1052778"/>
                  <a:gd name="connsiteX4" fmla="*/ 205740 w 1059180"/>
                  <a:gd name="connsiteY4" fmla="*/ 737235 h 1052778"/>
                  <a:gd name="connsiteX5" fmla="*/ 251460 w 1059180"/>
                  <a:gd name="connsiteY5" fmla="*/ 815340 h 1052778"/>
                  <a:gd name="connsiteX6" fmla="*/ 320040 w 1059180"/>
                  <a:gd name="connsiteY6" fmla="*/ 920115 h 1052778"/>
                  <a:gd name="connsiteX7" fmla="*/ 375285 w 1059180"/>
                  <a:gd name="connsiteY7" fmla="*/ 986790 h 1052778"/>
                  <a:gd name="connsiteX8" fmla="*/ 436245 w 1059180"/>
                  <a:gd name="connsiteY8" fmla="*/ 1032510 h 1052778"/>
                  <a:gd name="connsiteX9" fmla="*/ 521970 w 1059180"/>
                  <a:gd name="connsiteY9" fmla="*/ 1051560 h 1052778"/>
                  <a:gd name="connsiteX10" fmla="*/ 632460 w 1059180"/>
                  <a:gd name="connsiteY10" fmla="*/ 1000125 h 1052778"/>
                  <a:gd name="connsiteX11" fmla="*/ 701040 w 1059180"/>
                  <a:gd name="connsiteY11" fmla="*/ 908685 h 1052778"/>
                  <a:gd name="connsiteX12" fmla="*/ 777240 w 1059180"/>
                  <a:gd name="connsiteY12" fmla="*/ 788670 h 1052778"/>
                  <a:gd name="connsiteX13" fmla="*/ 838200 w 1059180"/>
                  <a:gd name="connsiteY13" fmla="*/ 659130 h 1052778"/>
                  <a:gd name="connsiteX14" fmla="*/ 901065 w 1059180"/>
                  <a:gd name="connsiteY14" fmla="*/ 514350 h 1052778"/>
                  <a:gd name="connsiteX15" fmla="*/ 941070 w 1059180"/>
                  <a:gd name="connsiteY15" fmla="*/ 398145 h 1052778"/>
                  <a:gd name="connsiteX16" fmla="*/ 975360 w 1059180"/>
                  <a:gd name="connsiteY16" fmla="*/ 274320 h 1052778"/>
                  <a:gd name="connsiteX17" fmla="*/ 1019175 w 1059180"/>
                  <a:gd name="connsiteY17" fmla="*/ 144780 h 1052778"/>
                  <a:gd name="connsiteX18" fmla="*/ 1059180 w 1059180"/>
                  <a:gd name="connsiteY18" fmla="*/ 0 h 1052778"/>
                  <a:gd name="connsiteX0" fmla="*/ 0 w 1059180"/>
                  <a:gd name="connsiteY0" fmla="*/ 160020 h 1052885"/>
                  <a:gd name="connsiteX1" fmla="*/ 36195 w 1059180"/>
                  <a:gd name="connsiteY1" fmla="*/ 278130 h 1052885"/>
                  <a:gd name="connsiteX2" fmla="*/ 85725 w 1059180"/>
                  <a:gd name="connsiteY2" fmla="*/ 436245 h 1052885"/>
                  <a:gd name="connsiteX3" fmla="*/ 139065 w 1059180"/>
                  <a:gd name="connsiteY3" fmla="*/ 592455 h 1052885"/>
                  <a:gd name="connsiteX4" fmla="*/ 205740 w 1059180"/>
                  <a:gd name="connsiteY4" fmla="*/ 737235 h 1052885"/>
                  <a:gd name="connsiteX5" fmla="*/ 251460 w 1059180"/>
                  <a:gd name="connsiteY5" fmla="*/ 815340 h 1052885"/>
                  <a:gd name="connsiteX6" fmla="*/ 320040 w 1059180"/>
                  <a:gd name="connsiteY6" fmla="*/ 920115 h 1052885"/>
                  <a:gd name="connsiteX7" fmla="*/ 375285 w 1059180"/>
                  <a:gd name="connsiteY7" fmla="*/ 986790 h 1052885"/>
                  <a:gd name="connsiteX8" fmla="*/ 436245 w 1059180"/>
                  <a:gd name="connsiteY8" fmla="*/ 1032510 h 1052885"/>
                  <a:gd name="connsiteX9" fmla="*/ 521970 w 1059180"/>
                  <a:gd name="connsiteY9" fmla="*/ 1051560 h 1052885"/>
                  <a:gd name="connsiteX10" fmla="*/ 626745 w 1059180"/>
                  <a:gd name="connsiteY10" fmla="*/ 998220 h 1052885"/>
                  <a:gd name="connsiteX11" fmla="*/ 701040 w 1059180"/>
                  <a:gd name="connsiteY11" fmla="*/ 908685 h 1052885"/>
                  <a:gd name="connsiteX12" fmla="*/ 777240 w 1059180"/>
                  <a:gd name="connsiteY12" fmla="*/ 788670 h 1052885"/>
                  <a:gd name="connsiteX13" fmla="*/ 838200 w 1059180"/>
                  <a:gd name="connsiteY13" fmla="*/ 659130 h 1052885"/>
                  <a:gd name="connsiteX14" fmla="*/ 901065 w 1059180"/>
                  <a:gd name="connsiteY14" fmla="*/ 514350 h 1052885"/>
                  <a:gd name="connsiteX15" fmla="*/ 941070 w 1059180"/>
                  <a:gd name="connsiteY15" fmla="*/ 398145 h 1052885"/>
                  <a:gd name="connsiteX16" fmla="*/ 975360 w 1059180"/>
                  <a:gd name="connsiteY16" fmla="*/ 274320 h 1052885"/>
                  <a:gd name="connsiteX17" fmla="*/ 1019175 w 1059180"/>
                  <a:gd name="connsiteY17" fmla="*/ 144780 h 1052885"/>
                  <a:gd name="connsiteX18" fmla="*/ 1059180 w 1059180"/>
                  <a:gd name="connsiteY18" fmla="*/ 0 h 1052885"/>
                  <a:gd name="connsiteX0" fmla="*/ 0 w 1059180"/>
                  <a:gd name="connsiteY0" fmla="*/ 160020 h 1052885"/>
                  <a:gd name="connsiteX1" fmla="*/ 36195 w 1059180"/>
                  <a:gd name="connsiteY1" fmla="*/ 278130 h 1052885"/>
                  <a:gd name="connsiteX2" fmla="*/ 85725 w 1059180"/>
                  <a:gd name="connsiteY2" fmla="*/ 436245 h 1052885"/>
                  <a:gd name="connsiteX3" fmla="*/ 139065 w 1059180"/>
                  <a:gd name="connsiteY3" fmla="*/ 592455 h 1052885"/>
                  <a:gd name="connsiteX4" fmla="*/ 205740 w 1059180"/>
                  <a:gd name="connsiteY4" fmla="*/ 737235 h 1052885"/>
                  <a:gd name="connsiteX5" fmla="*/ 251460 w 1059180"/>
                  <a:gd name="connsiteY5" fmla="*/ 815340 h 1052885"/>
                  <a:gd name="connsiteX6" fmla="*/ 320040 w 1059180"/>
                  <a:gd name="connsiteY6" fmla="*/ 920115 h 1052885"/>
                  <a:gd name="connsiteX7" fmla="*/ 375285 w 1059180"/>
                  <a:gd name="connsiteY7" fmla="*/ 986790 h 1052885"/>
                  <a:gd name="connsiteX8" fmla="*/ 436245 w 1059180"/>
                  <a:gd name="connsiteY8" fmla="*/ 1032510 h 1052885"/>
                  <a:gd name="connsiteX9" fmla="*/ 521970 w 1059180"/>
                  <a:gd name="connsiteY9" fmla="*/ 1051560 h 1052885"/>
                  <a:gd name="connsiteX10" fmla="*/ 626745 w 1059180"/>
                  <a:gd name="connsiteY10" fmla="*/ 998220 h 1052885"/>
                  <a:gd name="connsiteX11" fmla="*/ 701040 w 1059180"/>
                  <a:gd name="connsiteY11" fmla="*/ 908685 h 1052885"/>
                  <a:gd name="connsiteX12" fmla="*/ 777240 w 1059180"/>
                  <a:gd name="connsiteY12" fmla="*/ 788670 h 1052885"/>
                  <a:gd name="connsiteX13" fmla="*/ 838200 w 1059180"/>
                  <a:gd name="connsiteY13" fmla="*/ 659130 h 1052885"/>
                  <a:gd name="connsiteX14" fmla="*/ 901065 w 1059180"/>
                  <a:gd name="connsiteY14" fmla="*/ 514350 h 1052885"/>
                  <a:gd name="connsiteX15" fmla="*/ 941070 w 1059180"/>
                  <a:gd name="connsiteY15" fmla="*/ 398145 h 1052885"/>
                  <a:gd name="connsiteX16" fmla="*/ 1019175 w 1059180"/>
                  <a:gd name="connsiteY16" fmla="*/ 144780 h 1052885"/>
                  <a:gd name="connsiteX17" fmla="*/ 1059180 w 1059180"/>
                  <a:gd name="connsiteY17" fmla="*/ 0 h 1052885"/>
                  <a:gd name="connsiteX0" fmla="*/ 0 w 1059180"/>
                  <a:gd name="connsiteY0" fmla="*/ 160020 h 1052885"/>
                  <a:gd name="connsiteX1" fmla="*/ 36195 w 1059180"/>
                  <a:gd name="connsiteY1" fmla="*/ 278130 h 1052885"/>
                  <a:gd name="connsiteX2" fmla="*/ 85725 w 1059180"/>
                  <a:gd name="connsiteY2" fmla="*/ 436245 h 1052885"/>
                  <a:gd name="connsiteX3" fmla="*/ 139065 w 1059180"/>
                  <a:gd name="connsiteY3" fmla="*/ 592455 h 1052885"/>
                  <a:gd name="connsiteX4" fmla="*/ 205740 w 1059180"/>
                  <a:gd name="connsiteY4" fmla="*/ 737235 h 1052885"/>
                  <a:gd name="connsiteX5" fmla="*/ 251460 w 1059180"/>
                  <a:gd name="connsiteY5" fmla="*/ 815340 h 1052885"/>
                  <a:gd name="connsiteX6" fmla="*/ 320040 w 1059180"/>
                  <a:gd name="connsiteY6" fmla="*/ 920115 h 1052885"/>
                  <a:gd name="connsiteX7" fmla="*/ 375285 w 1059180"/>
                  <a:gd name="connsiteY7" fmla="*/ 986790 h 1052885"/>
                  <a:gd name="connsiteX8" fmla="*/ 436245 w 1059180"/>
                  <a:gd name="connsiteY8" fmla="*/ 1032510 h 1052885"/>
                  <a:gd name="connsiteX9" fmla="*/ 521970 w 1059180"/>
                  <a:gd name="connsiteY9" fmla="*/ 1051560 h 1052885"/>
                  <a:gd name="connsiteX10" fmla="*/ 626745 w 1059180"/>
                  <a:gd name="connsiteY10" fmla="*/ 998220 h 1052885"/>
                  <a:gd name="connsiteX11" fmla="*/ 701040 w 1059180"/>
                  <a:gd name="connsiteY11" fmla="*/ 908685 h 1052885"/>
                  <a:gd name="connsiteX12" fmla="*/ 777240 w 1059180"/>
                  <a:gd name="connsiteY12" fmla="*/ 788670 h 1052885"/>
                  <a:gd name="connsiteX13" fmla="*/ 838200 w 1059180"/>
                  <a:gd name="connsiteY13" fmla="*/ 659130 h 1052885"/>
                  <a:gd name="connsiteX14" fmla="*/ 941070 w 1059180"/>
                  <a:gd name="connsiteY14" fmla="*/ 398145 h 1052885"/>
                  <a:gd name="connsiteX15" fmla="*/ 1019175 w 1059180"/>
                  <a:gd name="connsiteY15" fmla="*/ 144780 h 1052885"/>
                  <a:gd name="connsiteX16" fmla="*/ 1059180 w 1059180"/>
                  <a:gd name="connsiteY16" fmla="*/ 0 h 1052885"/>
                  <a:gd name="connsiteX0" fmla="*/ 0 w 1059180"/>
                  <a:gd name="connsiteY0" fmla="*/ 160020 h 1052885"/>
                  <a:gd name="connsiteX1" fmla="*/ 85725 w 1059180"/>
                  <a:gd name="connsiteY1" fmla="*/ 436245 h 1052885"/>
                  <a:gd name="connsiteX2" fmla="*/ 139065 w 1059180"/>
                  <a:gd name="connsiteY2" fmla="*/ 592455 h 1052885"/>
                  <a:gd name="connsiteX3" fmla="*/ 205740 w 1059180"/>
                  <a:gd name="connsiteY3" fmla="*/ 737235 h 1052885"/>
                  <a:gd name="connsiteX4" fmla="*/ 251460 w 1059180"/>
                  <a:gd name="connsiteY4" fmla="*/ 815340 h 1052885"/>
                  <a:gd name="connsiteX5" fmla="*/ 320040 w 1059180"/>
                  <a:gd name="connsiteY5" fmla="*/ 920115 h 1052885"/>
                  <a:gd name="connsiteX6" fmla="*/ 375285 w 1059180"/>
                  <a:gd name="connsiteY6" fmla="*/ 986790 h 1052885"/>
                  <a:gd name="connsiteX7" fmla="*/ 436245 w 1059180"/>
                  <a:gd name="connsiteY7" fmla="*/ 1032510 h 1052885"/>
                  <a:gd name="connsiteX8" fmla="*/ 521970 w 1059180"/>
                  <a:gd name="connsiteY8" fmla="*/ 1051560 h 1052885"/>
                  <a:gd name="connsiteX9" fmla="*/ 626745 w 1059180"/>
                  <a:gd name="connsiteY9" fmla="*/ 998220 h 1052885"/>
                  <a:gd name="connsiteX10" fmla="*/ 701040 w 1059180"/>
                  <a:gd name="connsiteY10" fmla="*/ 908685 h 1052885"/>
                  <a:gd name="connsiteX11" fmla="*/ 777240 w 1059180"/>
                  <a:gd name="connsiteY11" fmla="*/ 788670 h 1052885"/>
                  <a:gd name="connsiteX12" fmla="*/ 838200 w 1059180"/>
                  <a:gd name="connsiteY12" fmla="*/ 659130 h 1052885"/>
                  <a:gd name="connsiteX13" fmla="*/ 941070 w 1059180"/>
                  <a:gd name="connsiteY13" fmla="*/ 398145 h 1052885"/>
                  <a:gd name="connsiteX14" fmla="*/ 1019175 w 1059180"/>
                  <a:gd name="connsiteY14" fmla="*/ 144780 h 1052885"/>
                  <a:gd name="connsiteX15" fmla="*/ 1059180 w 1059180"/>
                  <a:gd name="connsiteY15" fmla="*/ 0 h 1052885"/>
                  <a:gd name="connsiteX0" fmla="*/ 0 w 1059180"/>
                  <a:gd name="connsiteY0" fmla="*/ 160020 h 1052885"/>
                  <a:gd name="connsiteX1" fmla="*/ 85725 w 1059180"/>
                  <a:gd name="connsiteY1" fmla="*/ 436245 h 1052885"/>
                  <a:gd name="connsiteX2" fmla="*/ 139065 w 1059180"/>
                  <a:gd name="connsiteY2" fmla="*/ 592455 h 1052885"/>
                  <a:gd name="connsiteX3" fmla="*/ 205740 w 1059180"/>
                  <a:gd name="connsiteY3" fmla="*/ 737235 h 1052885"/>
                  <a:gd name="connsiteX4" fmla="*/ 320040 w 1059180"/>
                  <a:gd name="connsiteY4" fmla="*/ 920115 h 1052885"/>
                  <a:gd name="connsiteX5" fmla="*/ 375285 w 1059180"/>
                  <a:gd name="connsiteY5" fmla="*/ 986790 h 1052885"/>
                  <a:gd name="connsiteX6" fmla="*/ 436245 w 1059180"/>
                  <a:gd name="connsiteY6" fmla="*/ 1032510 h 1052885"/>
                  <a:gd name="connsiteX7" fmla="*/ 521970 w 1059180"/>
                  <a:gd name="connsiteY7" fmla="*/ 1051560 h 1052885"/>
                  <a:gd name="connsiteX8" fmla="*/ 626745 w 1059180"/>
                  <a:gd name="connsiteY8" fmla="*/ 998220 h 1052885"/>
                  <a:gd name="connsiteX9" fmla="*/ 701040 w 1059180"/>
                  <a:gd name="connsiteY9" fmla="*/ 908685 h 1052885"/>
                  <a:gd name="connsiteX10" fmla="*/ 777240 w 1059180"/>
                  <a:gd name="connsiteY10" fmla="*/ 788670 h 1052885"/>
                  <a:gd name="connsiteX11" fmla="*/ 838200 w 1059180"/>
                  <a:gd name="connsiteY11" fmla="*/ 659130 h 1052885"/>
                  <a:gd name="connsiteX12" fmla="*/ 941070 w 1059180"/>
                  <a:gd name="connsiteY12" fmla="*/ 398145 h 1052885"/>
                  <a:gd name="connsiteX13" fmla="*/ 1019175 w 1059180"/>
                  <a:gd name="connsiteY13" fmla="*/ 144780 h 1052885"/>
                  <a:gd name="connsiteX14" fmla="*/ 1059180 w 1059180"/>
                  <a:gd name="connsiteY14" fmla="*/ 0 h 1052885"/>
                  <a:gd name="connsiteX0" fmla="*/ 0 w 1059180"/>
                  <a:gd name="connsiteY0" fmla="*/ 160020 h 1054114"/>
                  <a:gd name="connsiteX1" fmla="*/ 85725 w 1059180"/>
                  <a:gd name="connsiteY1" fmla="*/ 436245 h 1054114"/>
                  <a:gd name="connsiteX2" fmla="*/ 139065 w 1059180"/>
                  <a:gd name="connsiteY2" fmla="*/ 592455 h 1054114"/>
                  <a:gd name="connsiteX3" fmla="*/ 205740 w 1059180"/>
                  <a:gd name="connsiteY3" fmla="*/ 737235 h 1054114"/>
                  <a:gd name="connsiteX4" fmla="*/ 320040 w 1059180"/>
                  <a:gd name="connsiteY4" fmla="*/ 920115 h 1054114"/>
                  <a:gd name="connsiteX5" fmla="*/ 436245 w 1059180"/>
                  <a:gd name="connsiteY5" fmla="*/ 1032510 h 1054114"/>
                  <a:gd name="connsiteX6" fmla="*/ 521970 w 1059180"/>
                  <a:gd name="connsiteY6" fmla="*/ 1051560 h 1054114"/>
                  <a:gd name="connsiteX7" fmla="*/ 626745 w 1059180"/>
                  <a:gd name="connsiteY7" fmla="*/ 998220 h 1054114"/>
                  <a:gd name="connsiteX8" fmla="*/ 701040 w 1059180"/>
                  <a:gd name="connsiteY8" fmla="*/ 908685 h 1054114"/>
                  <a:gd name="connsiteX9" fmla="*/ 777240 w 1059180"/>
                  <a:gd name="connsiteY9" fmla="*/ 788670 h 1054114"/>
                  <a:gd name="connsiteX10" fmla="*/ 838200 w 1059180"/>
                  <a:gd name="connsiteY10" fmla="*/ 659130 h 1054114"/>
                  <a:gd name="connsiteX11" fmla="*/ 941070 w 1059180"/>
                  <a:gd name="connsiteY11" fmla="*/ 398145 h 1054114"/>
                  <a:gd name="connsiteX12" fmla="*/ 1019175 w 1059180"/>
                  <a:gd name="connsiteY12" fmla="*/ 144780 h 1054114"/>
                  <a:gd name="connsiteX13" fmla="*/ 1059180 w 1059180"/>
                  <a:gd name="connsiteY13" fmla="*/ 0 h 1054114"/>
                  <a:gd name="connsiteX0" fmla="*/ 0 w 1059180"/>
                  <a:gd name="connsiteY0" fmla="*/ 160020 h 1051073"/>
                  <a:gd name="connsiteX1" fmla="*/ 85725 w 1059180"/>
                  <a:gd name="connsiteY1" fmla="*/ 436245 h 1051073"/>
                  <a:gd name="connsiteX2" fmla="*/ 139065 w 1059180"/>
                  <a:gd name="connsiteY2" fmla="*/ 592455 h 1051073"/>
                  <a:gd name="connsiteX3" fmla="*/ 205740 w 1059180"/>
                  <a:gd name="connsiteY3" fmla="*/ 737235 h 1051073"/>
                  <a:gd name="connsiteX4" fmla="*/ 320040 w 1059180"/>
                  <a:gd name="connsiteY4" fmla="*/ 920115 h 1051073"/>
                  <a:gd name="connsiteX5" fmla="*/ 436245 w 1059180"/>
                  <a:gd name="connsiteY5" fmla="*/ 1032510 h 1051073"/>
                  <a:gd name="connsiteX6" fmla="*/ 539115 w 1059180"/>
                  <a:gd name="connsiteY6" fmla="*/ 1047750 h 1051073"/>
                  <a:gd name="connsiteX7" fmla="*/ 626745 w 1059180"/>
                  <a:gd name="connsiteY7" fmla="*/ 998220 h 1051073"/>
                  <a:gd name="connsiteX8" fmla="*/ 701040 w 1059180"/>
                  <a:gd name="connsiteY8" fmla="*/ 908685 h 1051073"/>
                  <a:gd name="connsiteX9" fmla="*/ 777240 w 1059180"/>
                  <a:gd name="connsiteY9" fmla="*/ 788670 h 1051073"/>
                  <a:gd name="connsiteX10" fmla="*/ 838200 w 1059180"/>
                  <a:gd name="connsiteY10" fmla="*/ 659130 h 1051073"/>
                  <a:gd name="connsiteX11" fmla="*/ 941070 w 1059180"/>
                  <a:gd name="connsiteY11" fmla="*/ 398145 h 1051073"/>
                  <a:gd name="connsiteX12" fmla="*/ 1019175 w 1059180"/>
                  <a:gd name="connsiteY12" fmla="*/ 144780 h 1051073"/>
                  <a:gd name="connsiteX13" fmla="*/ 1059180 w 1059180"/>
                  <a:gd name="connsiteY13" fmla="*/ 0 h 1051073"/>
                  <a:gd name="connsiteX0" fmla="*/ 0 w 1059180"/>
                  <a:gd name="connsiteY0" fmla="*/ 160020 h 1057701"/>
                  <a:gd name="connsiteX1" fmla="*/ 85725 w 1059180"/>
                  <a:gd name="connsiteY1" fmla="*/ 436245 h 1057701"/>
                  <a:gd name="connsiteX2" fmla="*/ 139065 w 1059180"/>
                  <a:gd name="connsiteY2" fmla="*/ 592455 h 1057701"/>
                  <a:gd name="connsiteX3" fmla="*/ 205740 w 1059180"/>
                  <a:gd name="connsiteY3" fmla="*/ 737235 h 1057701"/>
                  <a:gd name="connsiteX4" fmla="*/ 320040 w 1059180"/>
                  <a:gd name="connsiteY4" fmla="*/ 920115 h 1057701"/>
                  <a:gd name="connsiteX5" fmla="*/ 436245 w 1059180"/>
                  <a:gd name="connsiteY5" fmla="*/ 1032510 h 1057701"/>
                  <a:gd name="connsiteX6" fmla="*/ 539115 w 1059180"/>
                  <a:gd name="connsiteY6" fmla="*/ 1047750 h 1057701"/>
                  <a:gd name="connsiteX7" fmla="*/ 701040 w 1059180"/>
                  <a:gd name="connsiteY7" fmla="*/ 908685 h 1057701"/>
                  <a:gd name="connsiteX8" fmla="*/ 777240 w 1059180"/>
                  <a:gd name="connsiteY8" fmla="*/ 788670 h 1057701"/>
                  <a:gd name="connsiteX9" fmla="*/ 838200 w 1059180"/>
                  <a:gd name="connsiteY9" fmla="*/ 659130 h 1057701"/>
                  <a:gd name="connsiteX10" fmla="*/ 941070 w 1059180"/>
                  <a:gd name="connsiteY10" fmla="*/ 398145 h 1057701"/>
                  <a:gd name="connsiteX11" fmla="*/ 1019175 w 1059180"/>
                  <a:gd name="connsiteY11" fmla="*/ 144780 h 1057701"/>
                  <a:gd name="connsiteX12" fmla="*/ 1059180 w 1059180"/>
                  <a:gd name="connsiteY12" fmla="*/ 0 h 1057701"/>
                  <a:gd name="connsiteX0" fmla="*/ 0 w 1059180"/>
                  <a:gd name="connsiteY0" fmla="*/ 160020 h 1049600"/>
                  <a:gd name="connsiteX1" fmla="*/ 85725 w 1059180"/>
                  <a:gd name="connsiteY1" fmla="*/ 436245 h 1049600"/>
                  <a:gd name="connsiteX2" fmla="*/ 139065 w 1059180"/>
                  <a:gd name="connsiteY2" fmla="*/ 592455 h 1049600"/>
                  <a:gd name="connsiteX3" fmla="*/ 205740 w 1059180"/>
                  <a:gd name="connsiteY3" fmla="*/ 737235 h 1049600"/>
                  <a:gd name="connsiteX4" fmla="*/ 320040 w 1059180"/>
                  <a:gd name="connsiteY4" fmla="*/ 920115 h 1049600"/>
                  <a:gd name="connsiteX5" fmla="*/ 436245 w 1059180"/>
                  <a:gd name="connsiteY5" fmla="*/ 1032510 h 1049600"/>
                  <a:gd name="connsiteX6" fmla="*/ 567690 w 1059180"/>
                  <a:gd name="connsiteY6" fmla="*/ 1036320 h 1049600"/>
                  <a:gd name="connsiteX7" fmla="*/ 701040 w 1059180"/>
                  <a:gd name="connsiteY7" fmla="*/ 908685 h 1049600"/>
                  <a:gd name="connsiteX8" fmla="*/ 777240 w 1059180"/>
                  <a:gd name="connsiteY8" fmla="*/ 788670 h 1049600"/>
                  <a:gd name="connsiteX9" fmla="*/ 838200 w 1059180"/>
                  <a:gd name="connsiteY9" fmla="*/ 659130 h 1049600"/>
                  <a:gd name="connsiteX10" fmla="*/ 941070 w 1059180"/>
                  <a:gd name="connsiteY10" fmla="*/ 398145 h 1049600"/>
                  <a:gd name="connsiteX11" fmla="*/ 1019175 w 1059180"/>
                  <a:gd name="connsiteY11" fmla="*/ 144780 h 1049600"/>
                  <a:gd name="connsiteX12" fmla="*/ 1059180 w 1059180"/>
                  <a:gd name="connsiteY12" fmla="*/ 0 h 1049600"/>
                  <a:gd name="connsiteX0" fmla="*/ 0 w 1059180"/>
                  <a:gd name="connsiteY0" fmla="*/ 160020 h 1049600"/>
                  <a:gd name="connsiteX1" fmla="*/ 85725 w 1059180"/>
                  <a:gd name="connsiteY1" fmla="*/ 436245 h 1049600"/>
                  <a:gd name="connsiteX2" fmla="*/ 139065 w 1059180"/>
                  <a:gd name="connsiteY2" fmla="*/ 592455 h 1049600"/>
                  <a:gd name="connsiteX3" fmla="*/ 205740 w 1059180"/>
                  <a:gd name="connsiteY3" fmla="*/ 737235 h 1049600"/>
                  <a:gd name="connsiteX4" fmla="*/ 320040 w 1059180"/>
                  <a:gd name="connsiteY4" fmla="*/ 920115 h 1049600"/>
                  <a:gd name="connsiteX5" fmla="*/ 436245 w 1059180"/>
                  <a:gd name="connsiteY5" fmla="*/ 1032510 h 1049600"/>
                  <a:gd name="connsiteX6" fmla="*/ 567690 w 1059180"/>
                  <a:gd name="connsiteY6" fmla="*/ 1036320 h 1049600"/>
                  <a:gd name="connsiteX7" fmla="*/ 699135 w 1059180"/>
                  <a:gd name="connsiteY7" fmla="*/ 908685 h 1049600"/>
                  <a:gd name="connsiteX8" fmla="*/ 777240 w 1059180"/>
                  <a:gd name="connsiteY8" fmla="*/ 788670 h 1049600"/>
                  <a:gd name="connsiteX9" fmla="*/ 838200 w 1059180"/>
                  <a:gd name="connsiteY9" fmla="*/ 659130 h 1049600"/>
                  <a:gd name="connsiteX10" fmla="*/ 941070 w 1059180"/>
                  <a:gd name="connsiteY10" fmla="*/ 398145 h 1049600"/>
                  <a:gd name="connsiteX11" fmla="*/ 1019175 w 1059180"/>
                  <a:gd name="connsiteY11" fmla="*/ 144780 h 1049600"/>
                  <a:gd name="connsiteX12" fmla="*/ 1059180 w 1059180"/>
                  <a:gd name="connsiteY12" fmla="*/ 0 h 1049600"/>
                  <a:gd name="connsiteX0" fmla="*/ 0 w 1059180"/>
                  <a:gd name="connsiteY0" fmla="*/ 160020 h 1049600"/>
                  <a:gd name="connsiteX1" fmla="*/ 85725 w 1059180"/>
                  <a:gd name="connsiteY1" fmla="*/ 436245 h 1049600"/>
                  <a:gd name="connsiteX2" fmla="*/ 139065 w 1059180"/>
                  <a:gd name="connsiteY2" fmla="*/ 592455 h 1049600"/>
                  <a:gd name="connsiteX3" fmla="*/ 205740 w 1059180"/>
                  <a:gd name="connsiteY3" fmla="*/ 737235 h 1049600"/>
                  <a:gd name="connsiteX4" fmla="*/ 320040 w 1059180"/>
                  <a:gd name="connsiteY4" fmla="*/ 920115 h 1049600"/>
                  <a:gd name="connsiteX5" fmla="*/ 436245 w 1059180"/>
                  <a:gd name="connsiteY5" fmla="*/ 1032510 h 1049600"/>
                  <a:gd name="connsiteX6" fmla="*/ 567690 w 1059180"/>
                  <a:gd name="connsiteY6" fmla="*/ 1036320 h 1049600"/>
                  <a:gd name="connsiteX7" fmla="*/ 699135 w 1059180"/>
                  <a:gd name="connsiteY7" fmla="*/ 908685 h 1049600"/>
                  <a:gd name="connsiteX8" fmla="*/ 838200 w 1059180"/>
                  <a:gd name="connsiteY8" fmla="*/ 659130 h 1049600"/>
                  <a:gd name="connsiteX9" fmla="*/ 941070 w 1059180"/>
                  <a:gd name="connsiteY9" fmla="*/ 398145 h 1049600"/>
                  <a:gd name="connsiteX10" fmla="*/ 1019175 w 1059180"/>
                  <a:gd name="connsiteY10" fmla="*/ 144780 h 1049600"/>
                  <a:gd name="connsiteX11" fmla="*/ 1059180 w 1059180"/>
                  <a:gd name="connsiteY11" fmla="*/ 0 h 1049600"/>
                  <a:gd name="connsiteX0" fmla="*/ 0 w 1059180"/>
                  <a:gd name="connsiteY0" fmla="*/ 160020 h 1046330"/>
                  <a:gd name="connsiteX1" fmla="*/ 85725 w 1059180"/>
                  <a:gd name="connsiteY1" fmla="*/ 436245 h 1046330"/>
                  <a:gd name="connsiteX2" fmla="*/ 139065 w 1059180"/>
                  <a:gd name="connsiteY2" fmla="*/ 592455 h 1046330"/>
                  <a:gd name="connsiteX3" fmla="*/ 205740 w 1059180"/>
                  <a:gd name="connsiteY3" fmla="*/ 737235 h 1046330"/>
                  <a:gd name="connsiteX4" fmla="*/ 320040 w 1059180"/>
                  <a:gd name="connsiteY4" fmla="*/ 920115 h 1046330"/>
                  <a:gd name="connsiteX5" fmla="*/ 432435 w 1059180"/>
                  <a:gd name="connsiteY5" fmla="*/ 1024890 h 1046330"/>
                  <a:gd name="connsiteX6" fmla="*/ 567690 w 1059180"/>
                  <a:gd name="connsiteY6" fmla="*/ 1036320 h 1046330"/>
                  <a:gd name="connsiteX7" fmla="*/ 699135 w 1059180"/>
                  <a:gd name="connsiteY7" fmla="*/ 908685 h 1046330"/>
                  <a:gd name="connsiteX8" fmla="*/ 838200 w 1059180"/>
                  <a:gd name="connsiteY8" fmla="*/ 659130 h 1046330"/>
                  <a:gd name="connsiteX9" fmla="*/ 941070 w 1059180"/>
                  <a:gd name="connsiteY9" fmla="*/ 398145 h 1046330"/>
                  <a:gd name="connsiteX10" fmla="*/ 1019175 w 1059180"/>
                  <a:gd name="connsiteY10" fmla="*/ 144780 h 1046330"/>
                  <a:gd name="connsiteX11" fmla="*/ 1059180 w 1059180"/>
                  <a:gd name="connsiteY11" fmla="*/ 0 h 1046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9180" h="1046330">
                    <a:moveTo>
                      <a:pt x="0" y="160020"/>
                    </a:moveTo>
                    <a:cubicBezTo>
                      <a:pt x="17860" y="217567"/>
                      <a:pt x="62548" y="364173"/>
                      <a:pt x="85725" y="436245"/>
                    </a:cubicBezTo>
                    <a:cubicBezTo>
                      <a:pt x="108902" y="508317"/>
                      <a:pt x="119063" y="542290"/>
                      <a:pt x="139065" y="592455"/>
                    </a:cubicBezTo>
                    <a:cubicBezTo>
                      <a:pt x="159067" y="642620"/>
                      <a:pt x="175578" y="682625"/>
                      <a:pt x="205740" y="737235"/>
                    </a:cubicBezTo>
                    <a:cubicBezTo>
                      <a:pt x="235903" y="791845"/>
                      <a:pt x="282258" y="872173"/>
                      <a:pt x="320040" y="920115"/>
                    </a:cubicBezTo>
                    <a:cubicBezTo>
                      <a:pt x="357823" y="968058"/>
                      <a:pt x="391160" y="1005523"/>
                      <a:pt x="432435" y="1024890"/>
                    </a:cubicBezTo>
                    <a:cubicBezTo>
                      <a:pt x="473710" y="1044258"/>
                      <a:pt x="523240" y="1055688"/>
                      <a:pt x="567690" y="1036320"/>
                    </a:cubicBezTo>
                    <a:cubicBezTo>
                      <a:pt x="612140" y="1016953"/>
                      <a:pt x="654050" y="971550"/>
                      <a:pt x="699135" y="908685"/>
                    </a:cubicBezTo>
                    <a:cubicBezTo>
                      <a:pt x="744220" y="845820"/>
                      <a:pt x="797878" y="744220"/>
                      <a:pt x="838200" y="659130"/>
                    </a:cubicBezTo>
                    <a:cubicBezTo>
                      <a:pt x="865505" y="594043"/>
                      <a:pt x="910908" y="483870"/>
                      <a:pt x="941070" y="398145"/>
                    </a:cubicBezTo>
                    <a:cubicBezTo>
                      <a:pt x="960755" y="336550"/>
                      <a:pt x="999490" y="211138"/>
                      <a:pt x="1019175" y="144780"/>
                    </a:cubicBezTo>
                    <a:cubicBezTo>
                      <a:pt x="1033145" y="99060"/>
                      <a:pt x="1052513" y="9525"/>
                      <a:pt x="1059180" y="0"/>
                    </a:cubicBezTo>
                  </a:path>
                </a:pathLst>
              </a:custGeom>
              <a:no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7" name="타원 416">
                <a:extLst>
                  <a:ext uri="{FF2B5EF4-FFF2-40B4-BE49-F238E27FC236}">
                    <a16:creationId xmlns:a16="http://schemas.microsoft.com/office/drawing/2014/main" id="{41B9C743-E348-4908-8376-5DC784AC7417}"/>
                  </a:ext>
                </a:extLst>
              </p:cNvPr>
              <p:cNvSpPr/>
              <p:nvPr/>
            </p:nvSpPr>
            <p:spPr>
              <a:xfrm>
                <a:off x="3208020" y="24836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8" name="타원 417">
                <a:extLst>
                  <a:ext uri="{FF2B5EF4-FFF2-40B4-BE49-F238E27FC236}">
                    <a16:creationId xmlns:a16="http://schemas.microsoft.com/office/drawing/2014/main" id="{C7D6C599-1452-40BE-A234-63F35190DF6E}"/>
                  </a:ext>
                </a:extLst>
              </p:cNvPr>
              <p:cNvSpPr/>
              <p:nvPr/>
            </p:nvSpPr>
            <p:spPr>
              <a:xfrm>
                <a:off x="3267075" y="24074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9" name="타원 418">
                <a:extLst>
                  <a:ext uri="{FF2B5EF4-FFF2-40B4-BE49-F238E27FC236}">
                    <a16:creationId xmlns:a16="http://schemas.microsoft.com/office/drawing/2014/main" id="{FFFE9D2C-DF5D-4B53-858B-A8661F5DBC73}"/>
                  </a:ext>
                </a:extLst>
              </p:cNvPr>
              <p:cNvSpPr/>
              <p:nvPr/>
            </p:nvSpPr>
            <p:spPr>
              <a:xfrm>
                <a:off x="3320415" y="235985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0" name="타원 419">
                <a:extLst>
                  <a:ext uri="{FF2B5EF4-FFF2-40B4-BE49-F238E27FC236}">
                    <a16:creationId xmlns:a16="http://schemas.microsoft.com/office/drawing/2014/main" id="{21CB6B99-8E3F-4DD1-9052-5579A008E64E}"/>
                  </a:ext>
                </a:extLst>
              </p:cNvPr>
              <p:cNvSpPr/>
              <p:nvPr/>
            </p:nvSpPr>
            <p:spPr>
              <a:xfrm>
                <a:off x="3343275" y="236366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1" name="타원 420">
                <a:extLst>
                  <a:ext uri="{FF2B5EF4-FFF2-40B4-BE49-F238E27FC236}">
                    <a16:creationId xmlns:a16="http://schemas.microsoft.com/office/drawing/2014/main" id="{5E523252-FA9E-484E-8FBF-239CCE99F1D2}"/>
                  </a:ext>
                </a:extLst>
              </p:cNvPr>
              <p:cNvSpPr/>
              <p:nvPr/>
            </p:nvSpPr>
            <p:spPr>
              <a:xfrm>
                <a:off x="3413760" y="256178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2" name="타원 421">
                <a:extLst>
                  <a:ext uri="{FF2B5EF4-FFF2-40B4-BE49-F238E27FC236}">
                    <a16:creationId xmlns:a16="http://schemas.microsoft.com/office/drawing/2014/main" id="{8D4F3E2E-45B1-419C-9769-4BB02AAAC258}"/>
                  </a:ext>
                </a:extLst>
              </p:cNvPr>
              <p:cNvSpPr/>
              <p:nvPr/>
            </p:nvSpPr>
            <p:spPr>
              <a:xfrm>
                <a:off x="3448050" y="264560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3" name="타원 422">
                <a:extLst>
                  <a:ext uri="{FF2B5EF4-FFF2-40B4-BE49-F238E27FC236}">
                    <a16:creationId xmlns:a16="http://schemas.microsoft.com/office/drawing/2014/main" id="{23D8C20C-1DF5-4B37-9E48-DA9004C1CEC4}"/>
                  </a:ext>
                </a:extLst>
              </p:cNvPr>
              <p:cNvSpPr/>
              <p:nvPr/>
            </p:nvSpPr>
            <p:spPr>
              <a:xfrm>
                <a:off x="3484245" y="27541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4" name="타원 423">
                <a:extLst>
                  <a:ext uri="{FF2B5EF4-FFF2-40B4-BE49-F238E27FC236}">
                    <a16:creationId xmlns:a16="http://schemas.microsoft.com/office/drawing/2014/main" id="{D951F036-9AF3-41AF-B8A2-1BE8C5FE750B}"/>
                  </a:ext>
                </a:extLst>
              </p:cNvPr>
              <p:cNvSpPr/>
              <p:nvPr/>
            </p:nvSpPr>
            <p:spPr>
              <a:xfrm>
                <a:off x="3979545" y="23350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5" name="타원 424">
                <a:extLst>
                  <a:ext uri="{FF2B5EF4-FFF2-40B4-BE49-F238E27FC236}">
                    <a16:creationId xmlns:a16="http://schemas.microsoft.com/office/drawing/2014/main" id="{EA97A817-F742-4F6A-B4B1-F4F245E89190}"/>
                  </a:ext>
                </a:extLst>
              </p:cNvPr>
              <p:cNvSpPr/>
              <p:nvPr/>
            </p:nvSpPr>
            <p:spPr>
              <a:xfrm>
                <a:off x="4048125" y="233699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6" name="타원 425">
                <a:extLst>
                  <a:ext uri="{FF2B5EF4-FFF2-40B4-BE49-F238E27FC236}">
                    <a16:creationId xmlns:a16="http://schemas.microsoft.com/office/drawing/2014/main" id="{A050C55C-2396-45A8-879E-62144B607FDD}"/>
                  </a:ext>
                </a:extLst>
              </p:cNvPr>
              <p:cNvSpPr/>
              <p:nvPr/>
            </p:nvSpPr>
            <p:spPr>
              <a:xfrm>
                <a:off x="4051935" y="239605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7" name="타원 426">
                <a:extLst>
                  <a:ext uri="{FF2B5EF4-FFF2-40B4-BE49-F238E27FC236}">
                    <a16:creationId xmlns:a16="http://schemas.microsoft.com/office/drawing/2014/main" id="{72D8A4C6-13F9-4823-8182-47017E544BA1}"/>
                  </a:ext>
                </a:extLst>
              </p:cNvPr>
              <p:cNvSpPr/>
              <p:nvPr/>
            </p:nvSpPr>
            <p:spPr>
              <a:xfrm>
                <a:off x="3798570" y="291230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8" name="타원 427">
                <a:extLst>
                  <a:ext uri="{FF2B5EF4-FFF2-40B4-BE49-F238E27FC236}">
                    <a16:creationId xmlns:a16="http://schemas.microsoft.com/office/drawing/2014/main" id="{99802217-6F21-407C-8F2B-1E7DC7A9CC20}"/>
                  </a:ext>
                </a:extLst>
              </p:cNvPr>
              <p:cNvSpPr/>
              <p:nvPr/>
            </p:nvSpPr>
            <p:spPr>
              <a:xfrm>
                <a:off x="3798570" y="293707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9" name="타원 428">
                <a:extLst>
                  <a:ext uri="{FF2B5EF4-FFF2-40B4-BE49-F238E27FC236}">
                    <a16:creationId xmlns:a16="http://schemas.microsoft.com/office/drawing/2014/main" id="{7E06CC22-118E-4AAD-BDA2-E56484B36259}"/>
                  </a:ext>
                </a:extLst>
              </p:cNvPr>
              <p:cNvSpPr/>
              <p:nvPr/>
            </p:nvSpPr>
            <p:spPr>
              <a:xfrm>
                <a:off x="3699510" y="30589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0" name="타원 429">
                <a:extLst>
                  <a:ext uri="{FF2B5EF4-FFF2-40B4-BE49-F238E27FC236}">
                    <a16:creationId xmlns:a16="http://schemas.microsoft.com/office/drawing/2014/main" id="{004A68E3-0244-4F0B-9E9E-6B41F4105146}"/>
                  </a:ext>
                </a:extLst>
              </p:cNvPr>
              <p:cNvSpPr/>
              <p:nvPr/>
            </p:nvSpPr>
            <p:spPr>
              <a:xfrm>
                <a:off x="3581400" y="30856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1" name="타원 430">
                <a:extLst>
                  <a:ext uri="{FF2B5EF4-FFF2-40B4-BE49-F238E27FC236}">
                    <a16:creationId xmlns:a16="http://schemas.microsoft.com/office/drawing/2014/main" id="{1C2CB4C1-08A7-4382-99E9-B229206EBBFA}"/>
                  </a:ext>
                </a:extLst>
              </p:cNvPr>
              <p:cNvSpPr/>
              <p:nvPr/>
            </p:nvSpPr>
            <p:spPr>
              <a:xfrm>
                <a:off x="3600450" y="314281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2" name="타원 431">
                <a:extLst>
                  <a:ext uri="{FF2B5EF4-FFF2-40B4-BE49-F238E27FC236}">
                    <a16:creationId xmlns:a16="http://schemas.microsoft.com/office/drawing/2014/main" id="{2C08EE44-9BCC-483D-AB88-72E08FA1C2D8}"/>
                  </a:ext>
                </a:extLst>
              </p:cNvPr>
              <p:cNvSpPr/>
              <p:nvPr/>
            </p:nvSpPr>
            <p:spPr>
              <a:xfrm>
                <a:off x="3602355" y="315233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3" name="타원 432">
                <a:extLst>
                  <a:ext uri="{FF2B5EF4-FFF2-40B4-BE49-F238E27FC236}">
                    <a16:creationId xmlns:a16="http://schemas.microsoft.com/office/drawing/2014/main" id="{2698759D-6154-4D7B-93D8-BC5AA9EB8A10}"/>
                  </a:ext>
                </a:extLst>
              </p:cNvPr>
              <p:cNvSpPr/>
              <p:nvPr/>
            </p:nvSpPr>
            <p:spPr>
              <a:xfrm>
                <a:off x="3663315" y="317138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4" name="타원 433">
                <a:extLst>
                  <a:ext uri="{FF2B5EF4-FFF2-40B4-BE49-F238E27FC236}">
                    <a16:creationId xmlns:a16="http://schemas.microsoft.com/office/drawing/2014/main" id="{A71F58F7-D195-4D58-AFD1-4896308111BA}"/>
                  </a:ext>
                </a:extLst>
              </p:cNvPr>
              <p:cNvSpPr/>
              <p:nvPr/>
            </p:nvSpPr>
            <p:spPr>
              <a:xfrm>
                <a:off x="3682365" y="317138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5" name="타원 434">
                <a:extLst>
                  <a:ext uri="{FF2B5EF4-FFF2-40B4-BE49-F238E27FC236}">
                    <a16:creationId xmlns:a16="http://schemas.microsoft.com/office/drawing/2014/main" id="{4CFE33E8-CDF7-43B0-BB04-70FF38BD9131}"/>
                  </a:ext>
                </a:extLst>
              </p:cNvPr>
              <p:cNvSpPr/>
              <p:nvPr/>
            </p:nvSpPr>
            <p:spPr>
              <a:xfrm>
                <a:off x="3726180" y="321901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323" name="그룹 322">
              <a:extLst>
                <a:ext uri="{FF2B5EF4-FFF2-40B4-BE49-F238E27FC236}">
                  <a16:creationId xmlns:a16="http://schemas.microsoft.com/office/drawing/2014/main" id="{76842242-570C-4692-B7D1-3236B4C84B1B}"/>
                </a:ext>
              </a:extLst>
            </p:cNvPr>
            <p:cNvGrpSpPr/>
            <p:nvPr/>
          </p:nvGrpSpPr>
          <p:grpSpPr>
            <a:xfrm>
              <a:off x="4455160" y="1968500"/>
              <a:ext cx="957580" cy="1292720"/>
              <a:chOff x="4455160" y="1968500"/>
              <a:chExt cx="957580" cy="1292720"/>
            </a:xfrm>
          </p:grpSpPr>
          <p:sp>
            <p:nvSpPr>
              <p:cNvPr id="394" name="타원 393">
                <a:extLst>
                  <a:ext uri="{FF2B5EF4-FFF2-40B4-BE49-F238E27FC236}">
                    <a16:creationId xmlns:a16="http://schemas.microsoft.com/office/drawing/2014/main" id="{BE741237-03AE-49FE-BBB3-F746352D99A3}"/>
                  </a:ext>
                </a:extLst>
              </p:cNvPr>
              <p:cNvSpPr/>
              <p:nvPr/>
            </p:nvSpPr>
            <p:spPr>
              <a:xfrm>
                <a:off x="4466024" y="26871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5" name="자유형: 도형 90">
                <a:extLst>
                  <a:ext uri="{FF2B5EF4-FFF2-40B4-BE49-F238E27FC236}">
                    <a16:creationId xmlns:a16="http://schemas.microsoft.com/office/drawing/2014/main" id="{BA42D03A-7F5F-4DF2-A3E6-E8C0931F0595}"/>
                  </a:ext>
                </a:extLst>
              </p:cNvPr>
              <p:cNvSpPr/>
              <p:nvPr/>
            </p:nvSpPr>
            <p:spPr>
              <a:xfrm>
                <a:off x="4455160" y="1968500"/>
                <a:ext cx="957580" cy="1177719"/>
              </a:xfrm>
              <a:custGeom>
                <a:avLst/>
                <a:gdLst>
                  <a:gd name="connsiteX0" fmla="*/ 0 w 957580"/>
                  <a:gd name="connsiteY0" fmla="*/ 627380 h 1177719"/>
                  <a:gd name="connsiteX1" fmla="*/ 60960 w 957580"/>
                  <a:gd name="connsiteY1" fmla="*/ 538480 h 1177719"/>
                  <a:gd name="connsiteX2" fmla="*/ 132080 w 957580"/>
                  <a:gd name="connsiteY2" fmla="*/ 515620 h 1177719"/>
                  <a:gd name="connsiteX3" fmla="*/ 193040 w 957580"/>
                  <a:gd name="connsiteY3" fmla="*/ 546100 h 1177719"/>
                  <a:gd name="connsiteX4" fmla="*/ 276860 w 957580"/>
                  <a:gd name="connsiteY4" fmla="*/ 660400 h 1177719"/>
                  <a:gd name="connsiteX5" fmla="*/ 500380 w 957580"/>
                  <a:gd name="connsiteY5" fmla="*/ 1079500 h 1177719"/>
                  <a:gd name="connsiteX6" fmla="*/ 647700 w 957580"/>
                  <a:gd name="connsiteY6" fmla="*/ 1176020 h 1177719"/>
                  <a:gd name="connsiteX7" fmla="*/ 762000 w 957580"/>
                  <a:gd name="connsiteY7" fmla="*/ 1031240 h 1177719"/>
                  <a:gd name="connsiteX8" fmla="*/ 858520 w 957580"/>
                  <a:gd name="connsiteY8" fmla="*/ 680720 h 1177719"/>
                  <a:gd name="connsiteX9" fmla="*/ 957580 w 957580"/>
                  <a:gd name="connsiteY9" fmla="*/ 0 h 1177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7580" h="1177719">
                    <a:moveTo>
                      <a:pt x="0" y="627380"/>
                    </a:moveTo>
                    <a:cubicBezTo>
                      <a:pt x="19473" y="592243"/>
                      <a:pt x="38947" y="557107"/>
                      <a:pt x="60960" y="538480"/>
                    </a:cubicBezTo>
                    <a:cubicBezTo>
                      <a:pt x="82973" y="519853"/>
                      <a:pt x="110067" y="514350"/>
                      <a:pt x="132080" y="515620"/>
                    </a:cubicBezTo>
                    <a:cubicBezTo>
                      <a:pt x="154093" y="516890"/>
                      <a:pt x="168910" y="521970"/>
                      <a:pt x="193040" y="546100"/>
                    </a:cubicBezTo>
                    <a:cubicBezTo>
                      <a:pt x="217170" y="570230"/>
                      <a:pt x="225637" y="571500"/>
                      <a:pt x="276860" y="660400"/>
                    </a:cubicBezTo>
                    <a:cubicBezTo>
                      <a:pt x="328083" y="749300"/>
                      <a:pt x="438573" y="993563"/>
                      <a:pt x="500380" y="1079500"/>
                    </a:cubicBezTo>
                    <a:cubicBezTo>
                      <a:pt x="562187" y="1165437"/>
                      <a:pt x="604097" y="1184063"/>
                      <a:pt x="647700" y="1176020"/>
                    </a:cubicBezTo>
                    <a:cubicBezTo>
                      <a:pt x="691303" y="1167977"/>
                      <a:pt x="726863" y="1113790"/>
                      <a:pt x="762000" y="1031240"/>
                    </a:cubicBezTo>
                    <a:cubicBezTo>
                      <a:pt x="797137" y="948690"/>
                      <a:pt x="825923" y="852593"/>
                      <a:pt x="858520" y="680720"/>
                    </a:cubicBezTo>
                    <a:cubicBezTo>
                      <a:pt x="891117" y="508847"/>
                      <a:pt x="924348" y="254423"/>
                      <a:pt x="957580" y="0"/>
                    </a:cubicBezTo>
                  </a:path>
                </a:pathLst>
              </a:custGeom>
              <a:no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6" name="타원 395">
                <a:extLst>
                  <a:ext uri="{FF2B5EF4-FFF2-40B4-BE49-F238E27FC236}">
                    <a16:creationId xmlns:a16="http://schemas.microsoft.com/office/drawing/2014/main" id="{06A86FAD-2F09-4AE8-946E-9F6C2C21F7F1}"/>
                  </a:ext>
                </a:extLst>
              </p:cNvPr>
              <p:cNvSpPr/>
              <p:nvPr/>
            </p:nvSpPr>
            <p:spPr>
              <a:xfrm>
                <a:off x="4521904" y="24788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7" name="타원 396">
                <a:extLst>
                  <a:ext uri="{FF2B5EF4-FFF2-40B4-BE49-F238E27FC236}">
                    <a16:creationId xmlns:a16="http://schemas.microsoft.com/office/drawing/2014/main" id="{57F70A74-91F5-4BC0-BFCC-22314390A0DE}"/>
                  </a:ext>
                </a:extLst>
              </p:cNvPr>
              <p:cNvSpPr/>
              <p:nvPr/>
            </p:nvSpPr>
            <p:spPr>
              <a:xfrm>
                <a:off x="4580324" y="24001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8" name="타원 397">
                <a:extLst>
                  <a:ext uri="{FF2B5EF4-FFF2-40B4-BE49-F238E27FC236}">
                    <a16:creationId xmlns:a16="http://schemas.microsoft.com/office/drawing/2014/main" id="{5F84CE7F-7301-43E5-96D3-DBF5D5C419FC}"/>
                  </a:ext>
                </a:extLst>
              </p:cNvPr>
              <p:cNvSpPr/>
              <p:nvPr/>
            </p:nvSpPr>
            <p:spPr>
              <a:xfrm>
                <a:off x="4633664" y="23620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9" name="타원 398">
                <a:extLst>
                  <a:ext uri="{FF2B5EF4-FFF2-40B4-BE49-F238E27FC236}">
                    <a16:creationId xmlns:a16="http://schemas.microsoft.com/office/drawing/2014/main" id="{B1AFDFAB-8EA4-4539-91FF-8D128EDE8E4B}"/>
                  </a:ext>
                </a:extLst>
              </p:cNvPr>
              <p:cNvSpPr/>
              <p:nvPr/>
            </p:nvSpPr>
            <p:spPr>
              <a:xfrm>
                <a:off x="4656524" y="23671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0" name="타원 399">
                <a:extLst>
                  <a:ext uri="{FF2B5EF4-FFF2-40B4-BE49-F238E27FC236}">
                    <a16:creationId xmlns:a16="http://schemas.microsoft.com/office/drawing/2014/main" id="{CB9226A0-9CA3-4409-B616-7AF7C8208FF0}"/>
                  </a:ext>
                </a:extLst>
              </p:cNvPr>
              <p:cNvSpPr/>
              <p:nvPr/>
            </p:nvSpPr>
            <p:spPr>
              <a:xfrm>
                <a:off x="4725104" y="25550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1" name="타원 400">
                <a:extLst>
                  <a:ext uri="{FF2B5EF4-FFF2-40B4-BE49-F238E27FC236}">
                    <a16:creationId xmlns:a16="http://schemas.microsoft.com/office/drawing/2014/main" id="{19133662-E4B6-47AA-BF7B-451F8D27A247}"/>
                  </a:ext>
                </a:extLst>
              </p:cNvPr>
              <p:cNvSpPr/>
              <p:nvPr/>
            </p:nvSpPr>
            <p:spPr>
              <a:xfrm>
                <a:off x="4758124" y="26439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2" name="타원 401">
                <a:extLst>
                  <a:ext uri="{FF2B5EF4-FFF2-40B4-BE49-F238E27FC236}">
                    <a16:creationId xmlns:a16="http://schemas.microsoft.com/office/drawing/2014/main" id="{01B5F40C-EB24-41DF-B260-FE3D2FAFDDEC}"/>
                  </a:ext>
                </a:extLst>
              </p:cNvPr>
              <p:cNvSpPr/>
              <p:nvPr/>
            </p:nvSpPr>
            <p:spPr>
              <a:xfrm>
                <a:off x="4791144" y="27582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3" name="타원 402">
                <a:extLst>
                  <a:ext uri="{FF2B5EF4-FFF2-40B4-BE49-F238E27FC236}">
                    <a16:creationId xmlns:a16="http://schemas.microsoft.com/office/drawing/2014/main" id="{2057C7FA-9C05-413D-A9AB-0633B43E7421}"/>
                  </a:ext>
                </a:extLst>
              </p:cNvPr>
              <p:cNvSpPr/>
              <p:nvPr/>
            </p:nvSpPr>
            <p:spPr>
              <a:xfrm>
                <a:off x="4890204" y="30834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4" name="타원 403">
                <a:extLst>
                  <a:ext uri="{FF2B5EF4-FFF2-40B4-BE49-F238E27FC236}">
                    <a16:creationId xmlns:a16="http://schemas.microsoft.com/office/drawing/2014/main" id="{A47A159E-3CDE-4E04-B313-8090D45F1377}"/>
                  </a:ext>
                </a:extLst>
              </p:cNvPr>
              <p:cNvSpPr/>
              <p:nvPr/>
            </p:nvSpPr>
            <p:spPr>
              <a:xfrm>
                <a:off x="4910524" y="31418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5" name="타원 404">
                <a:extLst>
                  <a:ext uri="{FF2B5EF4-FFF2-40B4-BE49-F238E27FC236}">
                    <a16:creationId xmlns:a16="http://schemas.microsoft.com/office/drawing/2014/main" id="{A27A36C2-6E45-4B88-AD1F-714810643D74}"/>
                  </a:ext>
                </a:extLst>
              </p:cNvPr>
              <p:cNvSpPr/>
              <p:nvPr/>
            </p:nvSpPr>
            <p:spPr>
              <a:xfrm>
                <a:off x="4910524" y="31494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6" name="타원 405">
                <a:extLst>
                  <a:ext uri="{FF2B5EF4-FFF2-40B4-BE49-F238E27FC236}">
                    <a16:creationId xmlns:a16="http://schemas.microsoft.com/office/drawing/2014/main" id="{B1D24004-D85F-41AB-AF73-ECA2AAF2E7DC}"/>
                  </a:ext>
                </a:extLst>
              </p:cNvPr>
              <p:cNvSpPr/>
              <p:nvPr/>
            </p:nvSpPr>
            <p:spPr>
              <a:xfrm>
                <a:off x="4971484" y="31748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7" name="타원 406">
                <a:extLst>
                  <a:ext uri="{FF2B5EF4-FFF2-40B4-BE49-F238E27FC236}">
                    <a16:creationId xmlns:a16="http://schemas.microsoft.com/office/drawing/2014/main" id="{567B0661-5699-451A-91B1-7A5A5B09FEF9}"/>
                  </a:ext>
                </a:extLst>
              </p:cNvPr>
              <p:cNvSpPr/>
              <p:nvPr/>
            </p:nvSpPr>
            <p:spPr>
              <a:xfrm>
                <a:off x="4991804" y="31697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8" name="타원 407">
                <a:extLst>
                  <a:ext uri="{FF2B5EF4-FFF2-40B4-BE49-F238E27FC236}">
                    <a16:creationId xmlns:a16="http://schemas.microsoft.com/office/drawing/2014/main" id="{62295DC6-22BF-468D-A358-D3938D651554}"/>
                  </a:ext>
                </a:extLst>
              </p:cNvPr>
              <p:cNvSpPr/>
              <p:nvPr/>
            </p:nvSpPr>
            <p:spPr>
              <a:xfrm>
                <a:off x="5029904" y="32180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9" name="타원 408">
                <a:extLst>
                  <a:ext uri="{FF2B5EF4-FFF2-40B4-BE49-F238E27FC236}">
                    <a16:creationId xmlns:a16="http://schemas.microsoft.com/office/drawing/2014/main" id="{FBED2EE4-A419-48B5-B37B-23406A202D38}"/>
                  </a:ext>
                </a:extLst>
              </p:cNvPr>
              <p:cNvSpPr/>
              <p:nvPr/>
            </p:nvSpPr>
            <p:spPr>
              <a:xfrm>
                <a:off x="5012124" y="30580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0" name="타원 409">
                <a:extLst>
                  <a:ext uri="{FF2B5EF4-FFF2-40B4-BE49-F238E27FC236}">
                    <a16:creationId xmlns:a16="http://schemas.microsoft.com/office/drawing/2014/main" id="{F97116B8-E345-40B4-B431-B13945B272F5}"/>
                  </a:ext>
                </a:extLst>
              </p:cNvPr>
              <p:cNvSpPr/>
              <p:nvPr/>
            </p:nvSpPr>
            <p:spPr>
              <a:xfrm>
                <a:off x="5111184" y="29106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1" name="타원 410">
                <a:extLst>
                  <a:ext uri="{FF2B5EF4-FFF2-40B4-BE49-F238E27FC236}">
                    <a16:creationId xmlns:a16="http://schemas.microsoft.com/office/drawing/2014/main" id="{C368A256-4F1C-464D-9927-8B579CC97A69}"/>
                  </a:ext>
                </a:extLst>
              </p:cNvPr>
              <p:cNvSpPr/>
              <p:nvPr/>
            </p:nvSpPr>
            <p:spPr>
              <a:xfrm>
                <a:off x="5108644" y="29284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2" name="타원 411">
                <a:extLst>
                  <a:ext uri="{FF2B5EF4-FFF2-40B4-BE49-F238E27FC236}">
                    <a16:creationId xmlns:a16="http://schemas.microsoft.com/office/drawing/2014/main" id="{0EC6ABF0-EAD1-4F28-9417-34D4486A6D28}"/>
                  </a:ext>
                </a:extLst>
              </p:cNvPr>
              <p:cNvSpPr/>
              <p:nvPr/>
            </p:nvSpPr>
            <p:spPr>
              <a:xfrm>
                <a:off x="5286444" y="23315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3" name="타원 412">
                <a:extLst>
                  <a:ext uri="{FF2B5EF4-FFF2-40B4-BE49-F238E27FC236}">
                    <a16:creationId xmlns:a16="http://schemas.microsoft.com/office/drawing/2014/main" id="{7C736224-1B74-4EC2-AFDC-DAAE7772F51C}"/>
                  </a:ext>
                </a:extLst>
              </p:cNvPr>
              <p:cNvSpPr/>
              <p:nvPr/>
            </p:nvSpPr>
            <p:spPr>
              <a:xfrm>
                <a:off x="5360104" y="23315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4" name="타원 413">
                <a:extLst>
                  <a:ext uri="{FF2B5EF4-FFF2-40B4-BE49-F238E27FC236}">
                    <a16:creationId xmlns:a16="http://schemas.microsoft.com/office/drawing/2014/main" id="{B54A16EB-FDBD-4FE5-882D-D90590EF3F48}"/>
                  </a:ext>
                </a:extLst>
              </p:cNvPr>
              <p:cNvSpPr/>
              <p:nvPr/>
            </p:nvSpPr>
            <p:spPr>
              <a:xfrm>
                <a:off x="5362644" y="23976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324" name="그룹 323">
              <a:extLst>
                <a:ext uri="{FF2B5EF4-FFF2-40B4-BE49-F238E27FC236}">
                  <a16:creationId xmlns:a16="http://schemas.microsoft.com/office/drawing/2014/main" id="{59B07266-0614-4B05-B552-A43BB57D13B4}"/>
                </a:ext>
              </a:extLst>
            </p:cNvPr>
            <p:cNvGrpSpPr/>
            <p:nvPr/>
          </p:nvGrpSpPr>
          <p:grpSpPr>
            <a:xfrm>
              <a:off x="5760720" y="2308472"/>
              <a:ext cx="1089660" cy="1069728"/>
              <a:chOff x="5760720" y="2308472"/>
              <a:chExt cx="1089660" cy="1069728"/>
            </a:xfrm>
          </p:grpSpPr>
          <p:sp>
            <p:nvSpPr>
              <p:cNvPr id="373" name="자유형: 도형 68">
                <a:extLst>
                  <a:ext uri="{FF2B5EF4-FFF2-40B4-BE49-F238E27FC236}">
                    <a16:creationId xmlns:a16="http://schemas.microsoft.com/office/drawing/2014/main" id="{40B0BD2D-D44F-4BA8-86A6-5B8BE3087835}"/>
                  </a:ext>
                </a:extLst>
              </p:cNvPr>
              <p:cNvSpPr/>
              <p:nvPr/>
            </p:nvSpPr>
            <p:spPr>
              <a:xfrm>
                <a:off x="5760720" y="2308472"/>
                <a:ext cx="1089660" cy="1069728"/>
              </a:xfrm>
              <a:custGeom>
                <a:avLst/>
                <a:gdLst>
                  <a:gd name="connsiteX0" fmla="*/ 0 w 1084580"/>
                  <a:gd name="connsiteY0" fmla="*/ 721748 h 1069728"/>
                  <a:gd name="connsiteX1" fmla="*/ 22860 w 1084580"/>
                  <a:gd name="connsiteY1" fmla="*/ 472828 h 1069728"/>
                  <a:gd name="connsiteX2" fmla="*/ 71120 w 1084580"/>
                  <a:gd name="connsiteY2" fmla="*/ 173108 h 1069728"/>
                  <a:gd name="connsiteX3" fmla="*/ 111760 w 1084580"/>
                  <a:gd name="connsiteY3" fmla="*/ 25788 h 1069728"/>
                  <a:gd name="connsiteX4" fmla="*/ 167640 w 1084580"/>
                  <a:gd name="connsiteY4" fmla="*/ 13088 h 1069728"/>
                  <a:gd name="connsiteX5" fmla="*/ 241300 w 1084580"/>
                  <a:gd name="connsiteY5" fmla="*/ 162948 h 1069728"/>
                  <a:gd name="connsiteX6" fmla="*/ 391160 w 1084580"/>
                  <a:gd name="connsiteY6" fmla="*/ 655708 h 1069728"/>
                  <a:gd name="connsiteX7" fmla="*/ 492760 w 1084580"/>
                  <a:gd name="connsiteY7" fmla="*/ 846208 h 1069728"/>
                  <a:gd name="connsiteX8" fmla="*/ 601980 w 1084580"/>
                  <a:gd name="connsiteY8" fmla="*/ 813188 h 1069728"/>
                  <a:gd name="connsiteX9" fmla="*/ 744220 w 1084580"/>
                  <a:gd name="connsiteY9" fmla="*/ 422028 h 1069728"/>
                  <a:gd name="connsiteX10" fmla="*/ 863600 w 1084580"/>
                  <a:gd name="connsiteY10" fmla="*/ 89288 h 1069728"/>
                  <a:gd name="connsiteX11" fmla="*/ 947420 w 1084580"/>
                  <a:gd name="connsiteY11" fmla="*/ 71508 h 1069728"/>
                  <a:gd name="connsiteX12" fmla="*/ 1018540 w 1084580"/>
                  <a:gd name="connsiteY12" fmla="*/ 391548 h 1069728"/>
                  <a:gd name="connsiteX13" fmla="*/ 1084580 w 1084580"/>
                  <a:gd name="connsiteY13" fmla="*/ 1069728 h 1069728"/>
                  <a:gd name="connsiteX0" fmla="*/ 0 w 1084580"/>
                  <a:gd name="connsiteY0" fmla="*/ 721748 h 1069728"/>
                  <a:gd name="connsiteX1" fmla="*/ 22860 w 1084580"/>
                  <a:gd name="connsiteY1" fmla="*/ 472828 h 1069728"/>
                  <a:gd name="connsiteX2" fmla="*/ 71120 w 1084580"/>
                  <a:gd name="connsiteY2" fmla="*/ 173108 h 1069728"/>
                  <a:gd name="connsiteX3" fmla="*/ 111760 w 1084580"/>
                  <a:gd name="connsiteY3" fmla="*/ 25788 h 1069728"/>
                  <a:gd name="connsiteX4" fmla="*/ 167640 w 1084580"/>
                  <a:gd name="connsiteY4" fmla="*/ 13088 h 1069728"/>
                  <a:gd name="connsiteX5" fmla="*/ 241300 w 1084580"/>
                  <a:gd name="connsiteY5" fmla="*/ 162948 h 1069728"/>
                  <a:gd name="connsiteX6" fmla="*/ 391160 w 1084580"/>
                  <a:gd name="connsiteY6" fmla="*/ 655708 h 1069728"/>
                  <a:gd name="connsiteX7" fmla="*/ 492760 w 1084580"/>
                  <a:gd name="connsiteY7" fmla="*/ 846208 h 1069728"/>
                  <a:gd name="connsiteX8" fmla="*/ 612140 w 1084580"/>
                  <a:gd name="connsiteY8" fmla="*/ 795408 h 1069728"/>
                  <a:gd name="connsiteX9" fmla="*/ 744220 w 1084580"/>
                  <a:gd name="connsiteY9" fmla="*/ 422028 h 1069728"/>
                  <a:gd name="connsiteX10" fmla="*/ 863600 w 1084580"/>
                  <a:gd name="connsiteY10" fmla="*/ 89288 h 1069728"/>
                  <a:gd name="connsiteX11" fmla="*/ 947420 w 1084580"/>
                  <a:gd name="connsiteY11" fmla="*/ 71508 h 1069728"/>
                  <a:gd name="connsiteX12" fmla="*/ 1018540 w 1084580"/>
                  <a:gd name="connsiteY12" fmla="*/ 391548 h 1069728"/>
                  <a:gd name="connsiteX13" fmla="*/ 1084580 w 1084580"/>
                  <a:gd name="connsiteY13" fmla="*/ 1069728 h 1069728"/>
                  <a:gd name="connsiteX0" fmla="*/ 0 w 1089660"/>
                  <a:gd name="connsiteY0" fmla="*/ 770008 h 1069728"/>
                  <a:gd name="connsiteX1" fmla="*/ 27940 w 1089660"/>
                  <a:gd name="connsiteY1" fmla="*/ 472828 h 1069728"/>
                  <a:gd name="connsiteX2" fmla="*/ 76200 w 1089660"/>
                  <a:gd name="connsiteY2" fmla="*/ 173108 h 1069728"/>
                  <a:gd name="connsiteX3" fmla="*/ 116840 w 1089660"/>
                  <a:gd name="connsiteY3" fmla="*/ 25788 h 1069728"/>
                  <a:gd name="connsiteX4" fmla="*/ 172720 w 1089660"/>
                  <a:gd name="connsiteY4" fmla="*/ 13088 h 1069728"/>
                  <a:gd name="connsiteX5" fmla="*/ 246380 w 1089660"/>
                  <a:gd name="connsiteY5" fmla="*/ 162948 h 1069728"/>
                  <a:gd name="connsiteX6" fmla="*/ 396240 w 1089660"/>
                  <a:gd name="connsiteY6" fmla="*/ 655708 h 1069728"/>
                  <a:gd name="connsiteX7" fmla="*/ 497840 w 1089660"/>
                  <a:gd name="connsiteY7" fmla="*/ 846208 h 1069728"/>
                  <a:gd name="connsiteX8" fmla="*/ 617220 w 1089660"/>
                  <a:gd name="connsiteY8" fmla="*/ 795408 h 1069728"/>
                  <a:gd name="connsiteX9" fmla="*/ 749300 w 1089660"/>
                  <a:gd name="connsiteY9" fmla="*/ 422028 h 1069728"/>
                  <a:gd name="connsiteX10" fmla="*/ 868680 w 1089660"/>
                  <a:gd name="connsiteY10" fmla="*/ 89288 h 1069728"/>
                  <a:gd name="connsiteX11" fmla="*/ 952500 w 1089660"/>
                  <a:gd name="connsiteY11" fmla="*/ 71508 h 1069728"/>
                  <a:gd name="connsiteX12" fmla="*/ 1023620 w 1089660"/>
                  <a:gd name="connsiteY12" fmla="*/ 391548 h 1069728"/>
                  <a:gd name="connsiteX13" fmla="*/ 1089660 w 1089660"/>
                  <a:gd name="connsiteY13" fmla="*/ 1069728 h 1069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9660" h="1069728">
                    <a:moveTo>
                      <a:pt x="0" y="770008"/>
                    </a:moveTo>
                    <a:cubicBezTo>
                      <a:pt x="5503" y="691268"/>
                      <a:pt x="15240" y="572311"/>
                      <a:pt x="27940" y="472828"/>
                    </a:cubicBezTo>
                    <a:cubicBezTo>
                      <a:pt x="40640" y="373345"/>
                      <a:pt x="61383" y="247615"/>
                      <a:pt x="76200" y="173108"/>
                    </a:cubicBezTo>
                    <a:cubicBezTo>
                      <a:pt x="91017" y="98601"/>
                      <a:pt x="100753" y="52458"/>
                      <a:pt x="116840" y="25788"/>
                    </a:cubicBezTo>
                    <a:cubicBezTo>
                      <a:pt x="132927" y="-882"/>
                      <a:pt x="151130" y="-9772"/>
                      <a:pt x="172720" y="13088"/>
                    </a:cubicBezTo>
                    <a:cubicBezTo>
                      <a:pt x="194310" y="35948"/>
                      <a:pt x="209127" y="55845"/>
                      <a:pt x="246380" y="162948"/>
                    </a:cubicBezTo>
                    <a:cubicBezTo>
                      <a:pt x="283633" y="270051"/>
                      <a:pt x="354330" y="541831"/>
                      <a:pt x="396240" y="655708"/>
                    </a:cubicBezTo>
                    <a:cubicBezTo>
                      <a:pt x="438150" y="769585"/>
                      <a:pt x="461010" y="822925"/>
                      <a:pt x="497840" y="846208"/>
                    </a:cubicBezTo>
                    <a:cubicBezTo>
                      <a:pt x="534670" y="869491"/>
                      <a:pt x="575310" y="866105"/>
                      <a:pt x="617220" y="795408"/>
                    </a:cubicBezTo>
                    <a:cubicBezTo>
                      <a:pt x="659130" y="724711"/>
                      <a:pt x="707390" y="539715"/>
                      <a:pt x="749300" y="422028"/>
                    </a:cubicBezTo>
                    <a:cubicBezTo>
                      <a:pt x="791210" y="304341"/>
                      <a:pt x="834813" y="147708"/>
                      <a:pt x="868680" y="89288"/>
                    </a:cubicBezTo>
                    <a:cubicBezTo>
                      <a:pt x="902547" y="30868"/>
                      <a:pt x="926677" y="21131"/>
                      <a:pt x="952500" y="71508"/>
                    </a:cubicBezTo>
                    <a:cubicBezTo>
                      <a:pt x="978323" y="121885"/>
                      <a:pt x="1000760" y="225178"/>
                      <a:pt x="1023620" y="391548"/>
                    </a:cubicBezTo>
                    <a:cubicBezTo>
                      <a:pt x="1046480" y="557918"/>
                      <a:pt x="1068070" y="813823"/>
                      <a:pt x="1089660" y="1069728"/>
                    </a:cubicBezTo>
                  </a:path>
                </a:pathLst>
              </a:custGeom>
              <a:no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4" name="타원 373">
                <a:extLst>
                  <a:ext uri="{FF2B5EF4-FFF2-40B4-BE49-F238E27FC236}">
                    <a16:creationId xmlns:a16="http://schemas.microsoft.com/office/drawing/2014/main" id="{C8358111-E876-4FB0-8441-C2C03C90F9B1}"/>
                  </a:ext>
                </a:extLst>
              </p:cNvPr>
              <p:cNvSpPr/>
              <p:nvPr/>
            </p:nvSpPr>
            <p:spPr>
              <a:xfrm>
                <a:off x="5771584" y="26871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5" name="타원 374">
                <a:extLst>
                  <a:ext uri="{FF2B5EF4-FFF2-40B4-BE49-F238E27FC236}">
                    <a16:creationId xmlns:a16="http://schemas.microsoft.com/office/drawing/2014/main" id="{32130357-390E-4E60-81D0-2565F26DC39A}"/>
                  </a:ext>
                </a:extLst>
              </p:cNvPr>
              <p:cNvSpPr/>
              <p:nvPr/>
            </p:nvSpPr>
            <p:spPr>
              <a:xfrm>
                <a:off x="5832544" y="24839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6" name="타원 375">
                <a:extLst>
                  <a:ext uri="{FF2B5EF4-FFF2-40B4-BE49-F238E27FC236}">
                    <a16:creationId xmlns:a16="http://schemas.microsoft.com/office/drawing/2014/main" id="{B94AAA93-4EFF-4ACB-B08E-1FDFC326D5DB}"/>
                  </a:ext>
                </a:extLst>
              </p:cNvPr>
              <p:cNvSpPr/>
              <p:nvPr/>
            </p:nvSpPr>
            <p:spPr>
              <a:xfrm>
                <a:off x="5890964" y="24026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7" name="타원 376">
                <a:extLst>
                  <a:ext uri="{FF2B5EF4-FFF2-40B4-BE49-F238E27FC236}">
                    <a16:creationId xmlns:a16="http://schemas.microsoft.com/office/drawing/2014/main" id="{BC933D0D-C701-4EBB-AD61-551D31858F5B}"/>
                  </a:ext>
                </a:extLst>
              </p:cNvPr>
              <p:cNvSpPr/>
              <p:nvPr/>
            </p:nvSpPr>
            <p:spPr>
              <a:xfrm>
                <a:off x="5941764" y="23595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8" name="타원 377">
                <a:extLst>
                  <a:ext uri="{FF2B5EF4-FFF2-40B4-BE49-F238E27FC236}">
                    <a16:creationId xmlns:a16="http://schemas.microsoft.com/office/drawing/2014/main" id="{C2E43DEA-07FD-45AD-BAB2-B58341436106}"/>
                  </a:ext>
                </a:extLst>
              </p:cNvPr>
              <p:cNvSpPr/>
              <p:nvPr/>
            </p:nvSpPr>
            <p:spPr>
              <a:xfrm>
                <a:off x="5967164" y="23620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9" name="타원 378">
                <a:extLst>
                  <a:ext uri="{FF2B5EF4-FFF2-40B4-BE49-F238E27FC236}">
                    <a16:creationId xmlns:a16="http://schemas.microsoft.com/office/drawing/2014/main" id="{7CDFA5C3-2732-4887-8896-E725F1257444}"/>
                  </a:ext>
                </a:extLst>
              </p:cNvPr>
              <p:cNvSpPr/>
              <p:nvPr/>
            </p:nvSpPr>
            <p:spPr>
              <a:xfrm>
                <a:off x="6030664" y="25601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0" name="타원 379">
                <a:extLst>
                  <a:ext uri="{FF2B5EF4-FFF2-40B4-BE49-F238E27FC236}">
                    <a16:creationId xmlns:a16="http://schemas.microsoft.com/office/drawing/2014/main" id="{9AE9656F-085C-4090-9518-0305E233EB66}"/>
                  </a:ext>
                </a:extLst>
              </p:cNvPr>
              <p:cNvSpPr/>
              <p:nvPr/>
            </p:nvSpPr>
            <p:spPr>
              <a:xfrm>
                <a:off x="6068764" y="26439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1" name="타원 380">
                <a:extLst>
                  <a:ext uri="{FF2B5EF4-FFF2-40B4-BE49-F238E27FC236}">
                    <a16:creationId xmlns:a16="http://schemas.microsoft.com/office/drawing/2014/main" id="{3E323D08-C408-4510-BC8F-52B67547FB85}"/>
                  </a:ext>
                </a:extLst>
              </p:cNvPr>
              <p:cNvSpPr/>
              <p:nvPr/>
            </p:nvSpPr>
            <p:spPr>
              <a:xfrm>
                <a:off x="6101784" y="27506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2" name="타원 381">
                <a:extLst>
                  <a:ext uri="{FF2B5EF4-FFF2-40B4-BE49-F238E27FC236}">
                    <a16:creationId xmlns:a16="http://schemas.microsoft.com/office/drawing/2014/main" id="{CD8F473E-C641-4D76-8266-9DB9EF2AB1C2}"/>
                  </a:ext>
                </a:extLst>
              </p:cNvPr>
              <p:cNvSpPr/>
              <p:nvPr/>
            </p:nvSpPr>
            <p:spPr>
              <a:xfrm>
                <a:off x="6198304" y="30834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3" name="타원 382">
                <a:extLst>
                  <a:ext uri="{FF2B5EF4-FFF2-40B4-BE49-F238E27FC236}">
                    <a16:creationId xmlns:a16="http://schemas.microsoft.com/office/drawing/2014/main" id="{26D9BF16-159F-457F-9220-C65498380173}"/>
                  </a:ext>
                </a:extLst>
              </p:cNvPr>
              <p:cNvSpPr/>
              <p:nvPr/>
            </p:nvSpPr>
            <p:spPr>
              <a:xfrm>
                <a:off x="6320224" y="30580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4" name="타원 383">
                <a:extLst>
                  <a:ext uri="{FF2B5EF4-FFF2-40B4-BE49-F238E27FC236}">
                    <a16:creationId xmlns:a16="http://schemas.microsoft.com/office/drawing/2014/main" id="{4D5612CC-C355-4B3B-87D8-207D35BB2B67}"/>
                  </a:ext>
                </a:extLst>
              </p:cNvPr>
              <p:cNvSpPr/>
              <p:nvPr/>
            </p:nvSpPr>
            <p:spPr>
              <a:xfrm>
                <a:off x="6421824" y="29081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5" name="타원 384">
                <a:extLst>
                  <a:ext uri="{FF2B5EF4-FFF2-40B4-BE49-F238E27FC236}">
                    <a16:creationId xmlns:a16="http://schemas.microsoft.com/office/drawing/2014/main" id="{30D126BF-BF50-4C1D-B585-F6546E358F38}"/>
                  </a:ext>
                </a:extLst>
              </p:cNvPr>
              <p:cNvSpPr/>
              <p:nvPr/>
            </p:nvSpPr>
            <p:spPr>
              <a:xfrm>
                <a:off x="6421824" y="29284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6" name="타원 385">
                <a:extLst>
                  <a:ext uri="{FF2B5EF4-FFF2-40B4-BE49-F238E27FC236}">
                    <a16:creationId xmlns:a16="http://schemas.microsoft.com/office/drawing/2014/main" id="{B5FADF34-B811-4D10-872C-3C4B0C7690AB}"/>
                  </a:ext>
                </a:extLst>
              </p:cNvPr>
              <p:cNvSpPr/>
              <p:nvPr/>
            </p:nvSpPr>
            <p:spPr>
              <a:xfrm>
                <a:off x="6218624" y="31367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7" name="타원 386">
                <a:extLst>
                  <a:ext uri="{FF2B5EF4-FFF2-40B4-BE49-F238E27FC236}">
                    <a16:creationId xmlns:a16="http://schemas.microsoft.com/office/drawing/2014/main" id="{1A8B5ABD-C18F-4980-A708-1CC257110DF2}"/>
                  </a:ext>
                </a:extLst>
              </p:cNvPr>
              <p:cNvSpPr/>
              <p:nvPr/>
            </p:nvSpPr>
            <p:spPr>
              <a:xfrm>
                <a:off x="6218624" y="31519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8" name="타원 387">
                <a:extLst>
                  <a:ext uri="{FF2B5EF4-FFF2-40B4-BE49-F238E27FC236}">
                    <a16:creationId xmlns:a16="http://schemas.microsoft.com/office/drawing/2014/main" id="{84054E94-1CBE-40F6-9EB5-A3CA93E2152E}"/>
                  </a:ext>
                </a:extLst>
              </p:cNvPr>
              <p:cNvSpPr/>
              <p:nvPr/>
            </p:nvSpPr>
            <p:spPr>
              <a:xfrm>
                <a:off x="6277044" y="31748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9" name="타원 388">
                <a:extLst>
                  <a:ext uri="{FF2B5EF4-FFF2-40B4-BE49-F238E27FC236}">
                    <a16:creationId xmlns:a16="http://schemas.microsoft.com/office/drawing/2014/main" id="{87FDF7A8-F981-4DB9-A016-0A3772618EEB}"/>
                  </a:ext>
                </a:extLst>
              </p:cNvPr>
              <p:cNvSpPr/>
              <p:nvPr/>
            </p:nvSpPr>
            <p:spPr>
              <a:xfrm>
                <a:off x="6302444" y="316976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0" name="타원 389">
                <a:extLst>
                  <a:ext uri="{FF2B5EF4-FFF2-40B4-BE49-F238E27FC236}">
                    <a16:creationId xmlns:a16="http://schemas.microsoft.com/office/drawing/2014/main" id="{C5B9DB0F-D08B-460C-9F52-1AFE657E0C7E}"/>
                  </a:ext>
                </a:extLst>
              </p:cNvPr>
              <p:cNvSpPr/>
              <p:nvPr/>
            </p:nvSpPr>
            <p:spPr>
              <a:xfrm>
                <a:off x="6340544" y="32129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1" name="타원 390">
                <a:extLst>
                  <a:ext uri="{FF2B5EF4-FFF2-40B4-BE49-F238E27FC236}">
                    <a16:creationId xmlns:a16="http://schemas.microsoft.com/office/drawing/2014/main" id="{5C777A76-CAB1-4D1C-8BF7-580CFB557EAD}"/>
                  </a:ext>
                </a:extLst>
              </p:cNvPr>
              <p:cNvSpPr/>
              <p:nvPr/>
            </p:nvSpPr>
            <p:spPr>
              <a:xfrm>
                <a:off x="6599624" y="23290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2" name="타원 391">
                <a:extLst>
                  <a:ext uri="{FF2B5EF4-FFF2-40B4-BE49-F238E27FC236}">
                    <a16:creationId xmlns:a16="http://schemas.microsoft.com/office/drawing/2014/main" id="{CEE2D063-0CED-4790-AD4E-7FB2F7343FA8}"/>
                  </a:ext>
                </a:extLst>
              </p:cNvPr>
              <p:cNvSpPr/>
              <p:nvPr/>
            </p:nvSpPr>
            <p:spPr>
              <a:xfrm>
                <a:off x="6665664" y="23290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3" name="타원 392">
                <a:extLst>
                  <a:ext uri="{FF2B5EF4-FFF2-40B4-BE49-F238E27FC236}">
                    <a16:creationId xmlns:a16="http://schemas.microsoft.com/office/drawing/2014/main" id="{520B1008-8A70-403F-91C0-DB622F029ACE}"/>
                  </a:ext>
                </a:extLst>
              </p:cNvPr>
              <p:cNvSpPr/>
              <p:nvPr/>
            </p:nvSpPr>
            <p:spPr>
              <a:xfrm>
                <a:off x="6675824" y="23976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325" name="그룹 324">
              <a:extLst>
                <a:ext uri="{FF2B5EF4-FFF2-40B4-BE49-F238E27FC236}">
                  <a16:creationId xmlns:a16="http://schemas.microsoft.com/office/drawing/2014/main" id="{9C2D453F-08F3-48AF-8800-DA44E8DF9247}"/>
                </a:ext>
              </a:extLst>
            </p:cNvPr>
            <p:cNvGrpSpPr/>
            <p:nvPr/>
          </p:nvGrpSpPr>
          <p:grpSpPr>
            <a:xfrm>
              <a:off x="7075874" y="1969770"/>
              <a:ext cx="951885" cy="1619251"/>
              <a:chOff x="7075874" y="1969770"/>
              <a:chExt cx="951885" cy="1619251"/>
            </a:xfrm>
          </p:grpSpPr>
          <p:sp>
            <p:nvSpPr>
              <p:cNvPr id="351" name="자유형: 도형 46">
                <a:extLst>
                  <a:ext uri="{FF2B5EF4-FFF2-40B4-BE49-F238E27FC236}">
                    <a16:creationId xmlns:a16="http://schemas.microsoft.com/office/drawing/2014/main" id="{123FDAD2-2B40-41A1-A05E-1B279176B481}"/>
                  </a:ext>
                </a:extLst>
              </p:cNvPr>
              <p:cNvSpPr/>
              <p:nvPr/>
            </p:nvSpPr>
            <p:spPr>
              <a:xfrm>
                <a:off x="7090410" y="1969771"/>
                <a:ext cx="723900" cy="1619250"/>
              </a:xfrm>
              <a:custGeom>
                <a:avLst/>
                <a:gdLst>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20040 w 926563"/>
                  <a:gd name="connsiteY7" fmla="*/ 801534 h 1708314"/>
                  <a:gd name="connsiteX8" fmla="*/ 403860 w 926563"/>
                  <a:gd name="connsiteY8" fmla="*/ 1159674 h 1708314"/>
                  <a:gd name="connsiteX9" fmla="*/ 464820 w 926563"/>
                  <a:gd name="connsiteY9" fmla="*/ 1296834 h 1708314"/>
                  <a:gd name="connsiteX10" fmla="*/ 537210 w 926563"/>
                  <a:gd name="connsiteY10" fmla="*/ 1273974 h 1708314"/>
                  <a:gd name="connsiteX11" fmla="*/ 575310 w 926563"/>
                  <a:gd name="connsiteY11" fmla="*/ 1304454 h 1708314"/>
                  <a:gd name="connsiteX12" fmla="*/ 621030 w 926563"/>
                  <a:gd name="connsiteY12" fmla="*/ 1289214 h 1708314"/>
                  <a:gd name="connsiteX13" fmla="*/ 659130 w 926563"/>
                  <a:gd name="connsiteY13" fmla="*/ 1072044 h 1708314"/>
                  <a:gd name="connsiteX14" fmla="*/ 727710 w 926563"/>
                  <a:gd name="connsiteY14" fmla="*/ 89064 h 1708314"/>
                  <a:gd name="connsiteX15" fmla="*/ 819150 w 926563"/>
                  <a:gd name="connsiteY15" fmla="*/ 89064 h 1708314"/>
                  <a:gd name="connsiteX16" fmla="*/ 834390 w 926563"/>
                  <a:gd name="connsiteY16" fmla="*/ 470064 h 1708314"/>
                  <a:gd name="connsiteX17" fmla="*/ 857250 w 926563"/>
                  <a:gd name="connsiteY17" fmla="*/ 748194 h 1708314"/>
                  <a:gd name="connsiteX18" fmla="*/ 887730 w 926563"/>
                  <a:gd name="connsiteY18" fmla="*/ 691044 h 1708314"/>
                  <a:gd name="connsiteX19" fmla="*/ 902970 w 926563"/>
                  <a:gd name="connsiteY19" fmla="*/ 485304 h 1708314"/>
                  <a:gd name="connsiteX20" fmla="*/ 918210 w 926563"/>
                  <a:gd name="connsiteY20" fmla="*/ 809154 h 1708314"/>
                  <a:gd name="connsiteX21" fmla="*/ 925830 w 926563"/>
                  <a:gd name="connsiteY21" fmla="*/ 1433994 h 1708314"/>
                  <a:gd name="connsiteX22" fmla="*/ 925830 w 926563"/>
                  <a:gd name="connsiteY22"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96834 h 1708314"/>
                  <a:gd name="connsiteX10" fmla="*/ 537210 w 926563"/>
                  <a:gd name="connsiteY10" fmla="*/ 1273974 h 1708314"/>
                  <a:gd name="connsiteX11" fmla="*/ 575310 w 926563"/>
                  <a:gd name="connsiteY11" fmla="*/ 1304454 h 1708314"/>
                  <a:gd name="connsiteX12" fmla="*/ 621030 w 926563"/>
                  <a:gd name="connsiteY12" fmla="*/ 1289214 h 1708314"/>
                  <a:gd name="connsiteX13" fmla="*/ 659130 w 926563"/>
                  <a:gd name="connsiteY13" fmla="*/ 1072044 h 1708314"/>
                  <a:gd name="connsiteX14" fmla="*/ 727710 w 926563"/>
                  <a:gd name="connsiteY14" fmla="*/ 89064 h 1708314"/>
                  <a:gd name="connsiteX15" fmla="*/ 819150 w 926563"/>
                  <a:gd name="connsiteY15" fmla="*/ 89064 h 1708314"/>
                  <a:gd name="connsiteX16" fmla="*/ 834390 w 926563"/>
                  <a:gd name="connsiteY16" fmla="*/ 470064 h 1708314"/>
                  <a:gd name="connsiteX17" fmla="*/ 857250 w 926563"/>
                  <a:gd name="connsiteY17" fmla="*/ 748194 h 1708314"/>
                  <a:gd name="connsiteX18" fmla="*/ 887730 w 926563"/>
                  <a:gd name="connsiteY18" fmla="*/ 691044 h 1708314"/>
                  <a:gd name="connsiteX19" fmla="*/ 902970 w 926563"/>
                  <a:gd name="connsiteY19" fmla="*/ 485304 h 1708314"/>
                  <a:gd name="connsiteX20" fmla="*/ 918210 w 926563"/>
                  <a:gd name="connsiteY20" fmla="*/ 809154 h 1708314"/>
                  <a:gd name="connsiteX21" fmla="*/ 925830 w 926563"/>
                  <a:gd name="connsiteY21" fmla="*/ 1433994 h 1708314"/>
                  <a:gd name="connsiteX22" fmla="*/ 925830 w 926563"/>
                  <a:gd name="connsiteY22"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575310 w 926563"/>
                  <a:gd name="connsiteY11" fmla="*/ 1304454 h 1708314"/>
                  <a:gd name="connsiteX12" fmla="*/ 621030 w 926563"/>
                  <a:gd name="connsiteY12" fmla="*/ 1289214 h 1708314"/>
                  <a:gd name="connsiteX13" fmla="*/ 659130 w 926563"/>
                  <a:gd name="connsiteY13" fmla="*/ 1072044 h 1708314"/>
                  <a:gd name="connsiteX14" fmla="*/ 727710 w 926563"/>
                  <a:gd name="connsiteY14" fmla="*/ 89064 h 1708314"/>
                  <a:gd name="connsiteX15" fmla="*/ 819150 w 926563"/>
                  <a:gd name="connsiteY15" fmla="*/ 89064 h 1708314"/>
                  <a:gd name="connsiteX16" fmla="*/ 834390 w 926563"/>
                  <a:gd name="connsiteY16" fmla="*/ 470064 h 1708314"/>
                  <a:gd name="connsiteX17" fmla="*/ 857250 w 926563"/>
                  <a:gd name="connsiteY17" fmla="*/ 748194 h 1708314"/>
                  <a:gd name="connsiteX18" fmla="*/ 887730 w 926563"/>
                  <a:gd name="connsiteY18" fmla="*/ 691044 h 1708314"/>
                  <a:gd name="connsiteX19" fmla="*/ 902970 w 926563"/>
                  <a:gd name="connsiteY19" fmla="*/ 485304 h 1708314"/>
                  <a:gd name="connsiteX20" fmla="*/ 918210 w 926563"/>
                  <a:gd name="connsiteY20" fmla="*/ 809154 h 1708314"/>
                  <a:gd name="connsiteX21" fmla="*/ 925830 w 926563"/>
                  <a:gd name="connsiteY21" fmla="*/ 1433994 h 1708314"/>
                  <a:gd name="connsiteX22" fmla="*/ 925830 w 926563"/>
                  <a:gd name="connsiteY22"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590550 w 926563"/>
                  <a:gd name="connsiteY11" fmla="*/ 1306359 h 1708314"/>
                  <a:gd name="connsiteX12" fmla="*/ 621030 w 926563"/>
                  <a:gd name="connsiteY12" fmla="*/ 1289214 h 1708314"/>
                  <a:gd name="connsiteX13" fmla="*/ 659130 w 926563"/>
                  <a:gd name="connsiteY13" fmla="*/ 1072044 h 1708314"/>
                  <a:gd name="connsiteX14" fmla="*/ 727710 w 926563"/>
                  <a:gd name="connsiteY14" fmla="*/ 89064 h 1708314"/>
                  <a:gd name="connsiteX15" fmla="*/ 819150 w 926563"/>
                  <a:gd name="connsiteY15" fmla="*/ 89064 h 1708314"/>
                  <a:gd name="connsiteX16" fmla="*/ 834390 w 926563"/>
                  <a:gd name="connsiteY16" fmla="*/ 470064 h 1708314"/>
                  <a:gd name="connsiteX17" fmla="*/ 857250 w 926563"/>
                  <a:gd name="connsiteY17" fmla="*/ 748194 h 1708314"/>
                  <a:gd name="connsiteX18" fmla="*/ 887730 w 926563"/>
                  <a:gd name="connsiteY18" fmla="*/ 691044 h 1708314"/>
                  <a:gd name="connsiteX19" fmla="*/ 902970 w 926563"/>
                  <a:gd name="connsiteY19" fmla="*/ 485304 h 1708314"/>
                  <a:gd name="connsiteX20" fmla="*/ 918210 w 926563"/>
                  <a:gd name="connsiteY20" fmla="*/ 809154 h 1708314"/>
                  <a:gd name="connsiteX21" fmla="*/ 925830 w 926563"/>
                  <a:gd name="connsiteY21" fmla="*/ 1433994 h 1708314"/>
                  <a:gd name="connsiteX22" fmla="*/ 925830 w 926563"/>
                  <a:gd name="connsiteY22"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590550 w 926563"/>
                  <a:gd name="connsiteY11" fmla="*/ 1306359 h 1708314"/>
                  <a:gd name="connsiteX12" fmla="*/ 638175 w 926563"/>
                  <a:gd name="connsiteY12" fmla="*/ 1249209 h 1708314"/>
                  <a:gd name="connsiteX13" fmla="*/ 659130 w 926563"/>
                  <a:gd name="connsiteY13" fmla="*/ 1072044 h 1708314"/>
                  <a:gd name="connsiteX14" fmla="*/ 727710 w 926563"/>
                  <a:gd name="connsiteY14" fmla="*/ 89064 h 1708314"/>
                  <a:gd name="connsiteX15" fmla="*/ 819150 w 926563"/>
                  <a:gd name="connsiteY15" fmla="*/ 89064 h 1708314"/>
                  <a:gd name="connsiteX16" fmla="*/ 834390 w 926563"/>
                  <a:gd name="connsiteY16" fmla="*/ 470064 h 1708314"/>
                  <a:gd name="connsiteX17" fmla="*/ 857250 w 926563"/>
                  <a:gd name="connsiteY17" fmla="*/ 748194 h 1708314"/>
                  <a:gd name="connsiteX18" fmla="*/ 887730 w 926563"/>
                  <a:gd name="connsiteY18" fmla="*/ 691044 h 1708314"/>
                  <a:gd name="connsiteX19" fmla="*/ 902970 w 926563"/>
                  <a:gd name="connsiteY19" fmla="*/ 485304 h 1708314"/>
                  <a:gd name="connsiteX20" fmla="*/ 918210 w 926563"/>
                  <a:gd name="connsiteY20" fmla="*/ 809154 h 1708314"/>
                  <a:gd name="connsiteX21" fmla="*/ 925830 w 926563"/>
                  <a:gd name="connsiteY21" fmla="*/ 1433994 h 1708314"/>
                  <a:gd name="connsiteX22" fmla="*/ 925830 w 926563"/>
                  <a:gd name="connsiteY22"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590550 w 926563"/>
                  <a:gd name="connsiteY11" fmla="*/ 1306359 h 1708314"/>
                  <a:gd name="connsiteX12" fmla="*/ 628650 w 926563"/>
                  <a:gd name="connsiteY12" fmla="*/ 1247304 h 1708314"/>
                  <a:gd name="connsiteX13" fmla="*/ 659130 w 926563"/>
                  <a:gd name="connsiteY13" fmla="*/ 1072044 h 1708314"/>
                  <a:gd name="connsiteX14" fmla="*/ 727710 w 926563"/>
                  <a:gd name="connsiteY14" fmla="*/ 89064 h 1708314"/>
                  <a:gd name="connsiteX15" fmla="*/ 819150 w 926563"/>
                  <a:gd name="connsiteY15" fmla="*/ 89064 h 1708314"/>
                  <a:gd name="connsiteX16" fmla="*/ 834390 w 926563"/>
                  <a:gd name="connsiteY16" fmla="*/ 470064 h 1708314"/>
                  <a:gd name="connsiteX17" fmla="*/ 857250 w 926563"/>
                  <a:gd name="connsiteY17" fmla="*/ 748194 h 1708314"/>
                  <a:gd name="connsiteX18" fmla="*/ 887730 w 926563"/>
                  <a:gd name="connsiteY18" fmla="*/ 691044 h 1708314"/>
                  <a:gd name="connsiteX19" fmla="*/ 902970 w 926563"/>
                  <a:gd name="connsiteY19" fmla="*/ 485304 h 1708314"/>
                  <a:gd name="connsiteX20" fmla="*/ 918210 w 926563"/>
                  <a:gd name="connsiteY20" fmla="*/ 809154 h 1708314"/>
                  <a:gd name="connsiteX21" fmla="*/ 925830 w 926563"/>
                  <a:gd name="connsiteY21" fmla="*/ 1433994 h 1708314"/>
                  <a:gd name="connsiteX22" fmla="*/ 925830 w 926563"/>
                  <a:gd name="connsiteY22"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590550 w 926563"/>
                  <a:gd name="connsiteY11" fmla="*/ 1306359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609600 w 926563"/>
                  <a:gd name="connsiteY11" fmla="*/ 129683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609600 w 926563"/>
                  <a:gd name="connsiteY11" fmla="*/ 129683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7210 w 926563"/>
                  <a:gd name="connsiteY10" fmla="*/ 1273974 h 1708314"/>
                  <a:gd name="connsiteX11" fmla="*/ 605790 w 926563"/>
                  <a:gd name="connsiteY11" fmla="*/ 130064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3400 w 926563"/>
                  <a:gd name="connsiteY10" fmla="*/ 1275879 h 1708314"/>
                  <a:gd name="connsiteX11" fmla="*/ 605790 w 926563"/>
                  <a:gd name="connsiteY11" fmla="*/ 130064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3400 w 926563"/>
                  <a:gd name="connsiteY10" fmla="*/ 1275879 h 1708314"/>
                  <a:gd name="connsiteX11" fmla="*/ 617220 w 926563"/>
                  <a:gd name="connsiteY11" fmla="*/ 1287309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44334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3400 w 926563"/>
                  <a:gd name="connsiteY10" fmla="*/ 1275879 h 1708314"/>
                  <a:gd name="connsiteX11" fmla="*/ 611505 w 926563"/>
                  <a:gd name="connsiteY11" fmla="*/ 128921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27189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3400 w 926563"/>
                  <a:gd name="connsiteY10" fmla="*/ 1275879 h 1708314"/>
                  <a:gd name="connsiteX11" fmla="*/ 611505 w 926563"/>
                  <a:gd name="connsiteY11" fmla="*/ 128921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57250 w 926563"/>
                  <a:gd name="connsiteY16" fmla="*/ 748194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27189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3400 w 926563"/>
                  <a:gd name="connsiteY10" fmla="*/ 1275879 h 1708314"/>
                  <a:gd name="connsiteX11" fmla="*/ 611505 w 926563"/>
                  <a:gd name="connsiteY11" fmla="*/ 128921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61060 w 926563"/>
                  <a:gd name="connsiteY16" fmla="*/ 780579 h 1708314"/>
                  <a:gd name="connsiteX17" fmla="*/ 887730 w 926563"/>
                  <a:gd name="connsiteY17" fmla="*/ 691044 h 1708314"/>
                  <a:gd name="connsiteX18" fmla="*/ 902970 w 926563"/>
                  <a:gd name="connsiteY18" fmla="*/ 485304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27189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3400 w 926563"/>
                  <a:gd name="connsiteY10" fmla="*/ 1275879 h 1708314"/>
                  <a:gd name="connsiteX11" fmla="*/ 611505 w 926563"/>
                  <a:gd name="connsiteY11" fmla="*/ 128921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61060 w 926563"/>
                  <a:gd name="connsiteY16" fmla="*/ 780579 h 1708314"/>
                  <a:gd name="connsiteX17" fmla="*/ 887730 w 926563"/>
                  <a:gd name="connsiteY17" fmla="*/ 691044 h 1708314"/>
                  <a:gd name="connsiteX18" fmla="*/ 904875 w 926563"/>
                  <a:gd name="connsiteY18" fmla="*/ 464349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08314 h 1708314"/>
                  <a:gd name="connsiteX1" fmla="*/ 7620 w 926563"/>
                  <a:gd name="connsiteY1" fmla="*/ 805344 h 1708314"/>
                  <a:gd name="connsiteX2" fmla="*/ 26670 w 926563"/>
                  <a:gd name="connsiteY2" fmla="*/ 327189 h 1708314"/>
                  <a:gd name="connsiteX3" fmla="*/ 64770 w 926563"/>
                  <a:gd name="connsiteY3" fmla="*/ 591984 h 1708314"/>
                  <a:gd name="connsiteX4" fmla="*/ 95250 w 926563"/>
                  <a:gd name="connsiteY4" fmla="*/ 671994 h 1708314"/>
                  <a:gd name="connsiteX5" fmla="*/ 144780 w 926563"/>
                  <a:gd name="connsiteY5" fmla="*/ 477684 h 1708314"/>
                  <a:gd name="connsiteX6" fmla="*/ 209550 w 926563"/>
                  <a:gd name="connsiteY6" fmla="*/ 538644 h 1708314"/>
                  <a:gd name="connsiteX7" fmla="*/ 306705 w 926563"/>
                  <a:gd name="connsiteY7" fmla="*/ 788199 h 1708314"/>
                  <a:gd name="connsiteX8" fmla="*/ 403860 w 926563"/>
                  <a:gd name="connsiteY8" fmla="*/ 1159674 h 1708314"/>
                  <a:gd name="connsiteX9" fmla="*/ 464820 w 926563"/>
                  <a:gd name="connsiteY9" fmla="*/ 1277784 h 1708314"/>
                  <a:gd name="connsiteX10" fmla="*/ 533400 w 926563"/>
                  <a:gd name="connsiteY10" fmla="*/ 1275879 h 1708314"/>
                  <a:gd name="connsiteX11" fmla="*/ 611505 w 926563"/>
                  <a:gd name="connsiteY11" fmla="*/ 1289214 h 1708314"/>
                  <a:gd name="connsiteX12" fmla="*/ 659130 w 926563"/>
                  <a:gd name="connsiteY12" fmla="*/ 1072044 h 1708314"/>
                  <a:gd name="connsiteX13" fmla="*/ 727710 w 926563"/>
                  <a:gd name="connsiteY13" fmla="*/ 89064 h 1708314"/>
                  <a:gd name="connsiteX14" fmla="*/ 819150 w 926563"/>
                  <a:gd name="connsiteY14" fmla="*/ 89064 h 1708314"/>
                  <a:gd name="connsiteX15" fmla="*/ 834390 w 926563"/>
                  <a:gd name="connsiteY15" fmla="*/ 470064 h 1708314"/>
                  <a:gd name="connsiteX16" fmla="*/ 861060 w 926563"/>
                  <a:gd name="connsiteY16" fmla="*/ 780579 h 1708314"/>
                  <a:gd name="connsiteX17" fmla="*/ 882015 w 926563"/>
                  <a:gd name="connsiteY17" fmla="*/ 691044 h 1708314"/>
                  <a:gd name="connsiteX18" fmla="*/ 904875 w 926563"/>
                  <a:gd name="connsiteY18" fmla="*/ 464349 h 1708314"/>
                  <a:gd name="connsiteX19" fmla="*/ 918210 w 926563"/>
                  <a:gd name="connsiteY19" fmla="*/ 809154 h 1708314"/>
                  <a:gd name="connsiteX20" fmla="*/ 925830 w 926563"/>
                  <a:gd name="connsiteY20" fmla="*/ 1433994 h 1708314"/>
                  <a:gd name="connsiteX21" fmla="*/ 925830 w 926563"/>
                  <a:gd name="connsiteY21" fmla="*/ 1708314 h 1708314"/>
                  <a:gd name="connsiteX0" fmla="*/ 0 w 926563"/>
                  <a:gd name="connsiteY0" fmla="*/ 1710792 h 1710792"/>
                  <a:gd name="connsiteX1" fmla="*/ 7620 w 926563"/>
                  <a:gd name="connsiteY1" fmla="*/ 807822 h 1710792"/>
                  <a:gd name="connsiteX2" fmla="*/ 26670 w 926563"/>
                  <a:gd name="connsiteY2" fmla="*/ 329667 h 1710792"/>
                  <a:gd name="connsiteX3" fmla="*/ 64770 w 926563"/>
                  <a:gd name="connsiteY3" fmla="*/ 594462 h 1710792"/>
                  <a:gd name="connsiteX4" fmla="*/ 95250 w 926563"/>
                  <a:gd name="connsiteY4" fmla="*/ 674472 h 1710792"/>
                  <a:gd name="connsiteX5" fmla="*/ 144780 w 926563"/>
                  <a:gd name="connsiteY5" fmla="*/ 480162 h 1710792"/>
                  <a:gd name="connsiteX6" fmla="*/ 209550 w 926563"/>
                  <a:gd name="connsiteY6" fmla="*/ 541122 h 1710792"/>
                  <a:gd name="connsiteX7" fmla="*/ 306705 w 926563"/>
                  <a:gd name="connsiteY7" fmla="*/ 790677 h 1710792"/>
                  <a:gd name="connsiteX8" fmla="*/ 403860 w 926563"/>
                  <a:gd name="connsiteY8" fmla="*/ 1162152 h 1710792"/>
                  <a:gd name="connsiteX9" fmla="*/ 464820 w 926563"/>
                  <a:gd name="connsiteY9" fmla="*/ 1280262 h 1710792"/>
                  <a:gd name="connsiteX10" fmla="*/ 533400 w 926563"/>
                  <a:gd name="connsiteY10" fmla="*/ 1278357 h 1710792"/>
                  <a:gd name="connsiteX11" fmla="*/ 611505 w 926563"/>
                  <a:gd name="connsiteY11" fmla="*/ 1291692 h 1710792"/>
                  <a:gd name="connsiteX12" fmla="*/ 659130 w 926563"/>
                  <a:gd name="connsiteY12" fmla="*/ 1074522 h 1710792"/>
                  <a:gd name="connsiteX13" fmla="*/ 727710 w 926563"/>
                  <a:gd name="connsiteY13" fmla="*/ 91542 h 1710792"/>
                  <a:gd name="connsiteX14" fmla="*/ 815340 w 926563"/>
                  <a:gd name="connsiteY14" fmla="*/ 85827 h 1710792"/>
                  <a:gd name="connsiteX15" fmla="*/ 834390 w 926563"/>
                  <a:gd name="connsiteY15" fmla="*/ 472542 h 1710792"/>
                  <a:gd name="connsiteX16" fmla="*/ 861060 w 926563"/>
                  <a:gd name="connsiteY16" fmla="*/ 783057 h 1710792"/>
                  <a:gd name="connsiteX17" fmla="*/ 882015 w 926563"/>
                  <a:gd name="connsiteY17" fmla="*/ 693522 h 1710792"/>
                  <a:gd name="connsiteX18" fmla="*/ 904875 w 926563"/>
                  <a:gd name="connsiteY18" fmla="*/ 466827 h 1710792"/>
                  <a:gd name="connsiteX19" fmla="*/ 918210 w 926563"/>
                  <a:gd name="connsiteY19" fmla="*/ 811632 h 1710792"/>
                  <a:gd name="connsiteX20" fmla="*/ 925830 w 926563"/>
                  <a:gd name="connsiteY20" fmla="*/ 1436472 h 1710792"/>
                  <a:gd name="connsiteX21" fmla="*/ 925830 w 926563"/>
                  <a:gd name="connsiteY21" fmla="*/ 1710792 h 1710792"/>
                  <a:gd name="connsiteX0" fmla="*/ 0 w 926563"/>
                  <a:gd name="connsiteY0" fmla="*/ 1710792 h 1710792"/>
                  <a:gd name="connsiteX1" fmla="*/ 7620 w 926563"/>
                  <a:gd name="connsiteY1" fmla="*/ 807822 h 1710792"/>
                  <a:gd name="connsiteX2" fmla="*/ 26670 w 926563"/>
                  <a:gd name="connsiteY2" fmla="*/ 329667 h 1710792"/>
                  <a:gd name="connsiteX3" fmla="*/ 64770 w 926563"/>
                  <a:gd name="connsiteY3" fmla="*/ 594462 h 1710792"/>
                  <a:gd name="connsiteX4" fmla="*/ 95250 w 926563"/>
                  <a:gd name="connsiteY4" fmla="*/ 674472 h 1710792"/>
                  <a:gd name="connsiteX5" fmla="*/ 144780 w 926563"/>
                  <a:gd name="connsiteY5" fmla="*/ 480162 h 1710792"/>
                  <a:gd name="connsiteX6" fmla="*/ 209550 w 926563"/>
                  <a:gd name="connsiteY6" fmla="*/ 541122 h 1710792"/>
                  <a:gd name="connsiteX7" fmla="*/ 306705 w 926563"/>
                  <a:gd name="connsiteY7" fmla="*/ 790677 h 1710792"/>
                  <a:gd name="connsiteX8" fmla="*/ 403860 w 926563"/>
                  <a:gd name="connsiteY8" fmla="*/ 1162152 h 1710792"/>
                  <a:gd name="connsiteX9" fmla="*/ 464820 w 926563"/>
                  <a:gd name="connsiteY9" fmla="*/ 1280262 h 1710792"/>
                  <a:gd name="connsiteX10" fmla="*/ 533400 w 926563"/>
                  <a:gd name="connsiteY10" fmla="*/ 1278357 h 1710792"/>
                  <a:gd name="connsiteX11" fmla="*/ 611505 w 926563"/>
                  <a:gd name="connsiteY11" fmla="*/ 1291692 h 1710792"/>
                  <a:gd name="connsiteX12" fmla="*/ 659130 w 926563"/>
                  <a:gd name="connsiteY12" fmla="*/ 1074522 h 1710792"/>
                  <a:gd name="connsiteX13" fmla="*/ 727710 w 926563"/>
                  <a:gd name="connsiteY13" fmla="*/ 91542 h 1710792"/>
                  <a:gd name="connsiteX14" fmla="*/ 815340 w 926563"/>
                  <a:gd name="connsiteY14" fmla="*/ 85827 h 1710792"/>
                  <a:gd name="connsiteX15" fmla="*/ 834390 w 926563"/>
                  <a:gd name="connsiteY15" fmla="*/ 472542 h 1710792"/>
                  <a:gd name="connsiteX16" fmla="*/ 861060 w 926563"/>
                  <a:gd name="connsiteY16" fmla="*/ 783057 h 1710792"/>
                  <a:gd name="connsiteX17" fmla="*/ 882015 w 926563"/>
                  <a:gd name="connsiteY17" fmla="*/ 693522 h 1710792"/>
                  <a:gd name="connsiteX18" fmla="*/ 904875 w 926563"/>
                  <a:gd name="connsiteY18" fmla="*/ 466827 h 1710792"/>
                  <a:gd name="connsiteX19" fmla="*/ 918210 w 926563"/>
                  <a:gd name="connsiteY19" fmla="*/ 811632 h 1710792"/>
                  <a:gd name="connsiteX20" fmla="*/ 925830 w 926563"/>
                  <a:gd name="connsiteY20" fmla="*/ 1436472 h 1710792"/>
                  <a:gd name="connsiteX21" fmla="*/ 925830 w 926563"/>
                  <a:gd name="connsiteY21" fmla="*/ 1710792 h 1710792"/>
                  <a:gd name="connsiteX0" fmla="*/ 0 w 926563"/>
                  <a:gd name="connsiteY0" fmla="*/ 1681976 h 1681976"/>
                  <a:gd name="connsiteX1" fmla="*/ 7620 w 926563"/>
                  <a:gd name="connsiteY1" fmla="*/ 779006 h 1681976"/>
                  <a:gd name="connsiteX2" fmla="*/ 26670 w 926563"/>
                  <a:gd name="connsiteY2" fmla="*/ 300851 h 1681976"/>
                  <a:gd name="connsiteX3" fmla="*/ 64770 w 926563"/>
                  <a:gd name="connsiteY3" fmla="*/ 565646 h 1681976"/>
                  <a:gd name="connsiteX4" fmla="*/ 95250 w 926563"/>
                  <a:gd name="connsiteY4" fmla="*/ 645656 h 1681976"/>
                  <a:gd name="connsiteX5" fmla="*/ 144780 w 926563"/>
                  <a:gd name="connsiteY5" fmla="*/ 451346 h 1681976"/>
                  <a:gd name="connsiteX6" fmla="*/ 209550 w 926563"/>
                  <a:gd name="connsiteY6" fmla="*/ 512306 h 1681976"/>
                  <a:gd name="connsiteX7" fmla="*/ 306705 w 926563"/>
                  <a:gd name="connsiteY7" fmla="*/ 761861 h 1681976"/>
                  <a:gd name="connsiteX8" fmla="*/ 403860 w 926563"/>
                  <a:gd name="connsiteY8" fmla="*/ 1133336 h 1681976"/>
                  <a:gd name="connsiteX9" fmla="*/ 464820 w 926563"/>
                  <a:gd name="connsiteY9" fmla="*/ 1251446 h 1681976"/>
                  <a:gd name="connsiteX10" fmla="*/ 533400 w 926563"/>
                  <a:gd name="connsiteY10" fmla="*/ 1249541 h 1681976"/>
                  <a:gd name="connsiteX11" fmla="*/ 611505 w 926563"/>
                  <a:gd name="connsiteY11" fmla="*/ 1262876 h 1681976"/>
                  <a:gd name="connsiteX12" fmla="*/ 659130 w 926563"/>
                  <a:gd name="connsiteY12" fmla="*/ 1045706 h 1681976"/>
                  <a:gd name="connsiteX13" fmla="*/ 727710 w 926563"/>
                  <a:gd name="connsiteY13" fmla="*/ 62726 h 1681976"/>
                  <a:gd name="connsiteX14" fmla="*/ 771525 w 926563"/>
                  <a:gd name="connsiteY14" fmla="*/ 95111 h 1681976"/>
                  <a:gd name="connsiteX15" fmla="*/ 815340 w 926563"/>
                  <a:gd name="connsiteY15" fmla="*/ 57011 h 1681976"/>
                  <a:gd name="connsiteX16" fmla="*/ 834390 w 926563"/>
                  <a:gd name="connsiteY16" fmla="*/ 443726 h 1681976"/>
                  <a:gd name="connsiteX17" fmla="*/ 861060 w 926563"/>
                  <a:gd name="connsiteY17" fmla="*/ 754241 h 1681976"/>
                  <a:gd name="connsiteX18" fmla="*/ 882015 w 926563"/>
                  <a:gd name="connsiteY18" fmla="*/ 664706 h 1681976"/>
                  <a:gd name="connsiteX19" fmla="*/ 904875 w 926563"/>
                  <a:gd name="connsiteY19" fmla="*/ 438011 h 1681976"/>
                  <a:gd name="connsiteX20" fmla="*/ 918210 w 926563"/>
                  <a:gd name="connsiteY20" fmla="*/ 782816 h 1681976"/>
                  <a:gd name="connsiteX21" fmla="*/ 925830 w 926563"/>
                  <a:gd name="connsiteY21" fmla="*/ 1407656 h 1681976"/>
                  <a:gd name="connsiteX22" fmla="*/ 925830 w 926563"/>
                  <a:gd name="connsiteY22" fmla="*/ 1681976 h 1681976"/>
                  <a:gd name="connsiteX0" fmla="*/ 0 w 926563"/>
                  <a:gd name="connsiteY0" fmla="*/ 1710792 h 1710792"/>
                  <a:gd name="connsiteX1" fmla="*/ 7620 w 926563"/>
                  <a:gd name="connsiteY1" fmla="*/ 807822 h 1710792"/>
                  <a:gd name="connsiteX2" fmla="*/ 26670 w 926563"/>
                  <a:gd name="connsiteY2" fmla="*/ 329667 h 1710792"/>
                  <a:gd name="connsiteX3" fmla="*/ 64770 w 926563"/>
                  <a:gd name="connsiteY3" fmla="*/ 594462 h 1710792"/>
                  <a:gd name="connsiteX4" fmla="*/ 95250 w 926563"/>
                  <a:gd name="connsiteY4" fmla="*/ 674472 h 1710792"/>
                  <a:gd name="connsiteX5" fmla="*/ 144780 w 926563"/>
                  <a:gd name="connsiteY5" fmla="*/ 480162 h 1710792"/>
                  <a:gd name="connsiteX6" fmla="*/ 209550 w 926563"/>
                  <a:gd name="connsiteY6" fmla="*/ 541122 h 1710792"/>
                  <a:gd name="connsiteX7" fmla="*/ 306705 w 926563"/>
                  <a:gd name="connsiteY7" fmla="*/ 790677 h 1710792"/>
                  <a:gd name="connsiteX8" fmla="*/ 403860 w 926563"/>
                  <a:gd name="connsiteY8" fmla="*/ 1162152 h 1710792"/>
                  <a:gd name="connsiteX9" fmla="*/ 464820 w 926563"/>
                  <a:gd name="connsiteY9" fmla="*/ 1280262 h 1710792"/>
                  <a:gd name="connsiteX10" fmla="*/ 533400 w 926563"/>
                  <a:gd name="connsiteY10" fmla="*/ 1278357 h 1710792"/>
                  <a:gd name="connsiteX11" fmla="*/ 611505 w 926563"/>
                  <a:gd name="connsiteY11" fmla="*/ 1291692 h 1710792"/>
                  <a:gd name="connsiteX12" fmla="*/ 659130 w 926563"/>
                  <a:gd name="connsiteY12" fmla="*/ 1074522 h 1710792"/>
                  <a:gd name="connsiteX13" fmla="*/ 727710 w 926563"/>
                  <a:gd name="connsiteY13" fmla="*/ 91542 h 1710792"/>
                  <a:gd name="connsiteX14" fmla="*/ 815340 w 926563"/>
                  <a:gd name="connsiteY14" fmla="*/ 85827 h 1710792"/>
                  <a:gd name="connsiteX15" fmla="*/ 834390 w 926563"/>
                  <a:gd name="connsiteY15" fmla="*/ 472542 h 1710792"/>
                  <a:gd name="connsiteX16" fmla="*/ 861060 w 926563"/>
                  <a:gd name="connsiteY16" fmla="*/ 783057 h 1710792"/>
                  <a:gd name="connsiteX17" fmla="*/ 882015 w 926563"/>
                  <a:gd name="connsiteY17" fmla="*/ 693522 h 1710792"/>
                  <a:gd name="connsiteX18" fmla="*/ 904875 w 926563"/>
                  <a:gd name="connsiteY18" fmla="*/ 466827 h 1710792"/>
                  <a:gd name="connsiteX19" fmla="*/ 918210 w 926563"/>
                  <a:gd name="connsiteY19" fmla="*/ 811632 h 1710792"/>
                  <a:gd name="connsiteX20" fmla="*/ 925830 w 926563"/>
                  <a:gd name="connsiteY20" fmla="*/ 1436472 h 1710792"/>
                  <a:gd name="connsiteX21" fmla="*/ 925830 w 926563"/>
                  <a:gd name="connsiteY21" fmla="*/ 1710792 h 1710792"/>
                  <a:gd name="connsiteX0" fmla="*/ 0 w 926563"/>
                  <a:gd name="connsiteY0" fmla="*/ 1636463 h 1636463"/>
                  <a:gd name="connsiteX1" fmla="*/ 7620 w 926563"/>
                  <a:gd name="connsiteY1" fmla="*/ 733493 h 1636463"/>
                  <a:gd name="connsiteX2" fmla="*/ 26670 w 926563"/>
                  <a:gd name="connsiteY2" fmla="*/ 255338 h 1636463"/>
                  <a:gd name="connsiteX3" fmla="*/ 64770 w 926563"/>
                  <a:gd name="connsiteY3" fmla="*/ 520133 h 1636463"/>
                  <a:gd name="connsiteX4" fmla="*/ 95250 w 926563"/>
                  <a:gd name="connsiteY4" fmla="*/ 600143 h 1636463"/>
                  <a:gd name="connsiteX5" fmla="*/ 144780 w 926563"/>
                  <a:gd name="connsiteY5" fmla="*/ 405833 h 1636463"/>
                  <a:gd name="connsiteX6" fmla="*/ 209550 w 926563"/>
                  <a:gd name="connsiteY6" fmla="*/ 466793 h 1636463"/>
                  <a:gd name="connsiteX7" fmla="*/ 306705 w 926563"/>
                  <a:gd name="connsiteY7" fmla="*/ 716348 h 1636463"/>
                  <a:gd name="connsiteX8" fmla="*/ 403860 w 926563"/>
                  <a:gd name="connsiteY8" fmla="*/ 1087823 h 1636463"/>
                  <a:gd name="connsiteX9" fmla="*/ 464820 w 926563"/>
                  <a:gd name="connsiteY9" fmla="*/ 1205933 h 1636463"/>
                  <a:gd name="connsiteX10" fmla="*/ 533400 w 926563"/>
                  <a:gd name="connsiteY10" fmla="*/ 1204028 h 1636463"/>
                  <a:gd name="connsiteX11" fmla="*/ 611505 w 926563"/>
                  <a:gd name="connsiteY11" fmla="*/ 1217363 h 1636463"/>
                  <a:gd name="connsiteX12" fmla="*/ 659130 w 926563"/>
                  <a:gd name="connsiteY12" fmla="*/ 1000193 h 1636463"/>
                  <a:gd name="connsiteX13" fmla="*/ 727710 w 926563"/>
                  <a:gd name="connsiteY13" fmla="*/ 17213 h 1636463"/>
                  <a:gd name="connsiteX14" fmla="*/ 834390 w 926563"/>
                  <a:gd name="connsiteY14" fmla="*/ 398213 h 1636463"/>
                  <a:gd name="connsiteX15" fmla="*/ 861060 w 926563"/>
                  <a:gd name="connsiteY15" fmla="*/ 708728 h 1636463"/>
                  <a:gd name="connsiteX16" fmla="*/ 882015 w 926563"/>
                  <a:gd name="connsiteY16" fmla="*/ 619193 h 1636463"/>
                  <a:gd name="connsiteX17" fmla="*/ 904875 w 926563"/>
                  <a:gd name="connsiteY17" fmla="*/ 392498 h 1636463"/>
                  <a:gd name="connsiteX18" fmla="*/ 918210 w 926563"/>
                  <a:gd name="connsiteY18" fmla="*/ 737303 h 1636463"/>
                  <a:gd name="connsiteX19" fmla="*/ 925830 w 926563"/>
                  <a:gd name="connsiteY19" fmla="*/ 1362143 h 1636463"/>
                  <a:gd name="connsiteX20" fmla="*/ 925830 w 926563"/>
                  <a:gd name="connsiteY20" fmla="*/ 1636463 h 1636463"/>
                  <a:gd name="connsiteX0" fmla="*/ 0 w 926563"/>
                  <a:gd name="connsiteY0" fmla="*/ 1621878 h 1621878"/>
                  <a:gd name="connsiteX1" fmla="*/ 7620 w 926563"/>
                  <a:gd name="connsiteY1" fmla="*/ 718908 h 1621878"/>
                  <a:gd name="connsiteX2" fmla="*/ 26670 w 926563"/>
                  <a:gd name="connsiteY2" fmla="*/ 240753 h 1621878"/>
                  <a:gd name="connsiteX3" fmla="*/ 64770 w 926563"/>
                  <a:gd name="connsiteY3" fmla="*/ 505548 h 1621878"/>
                  <a:gd name="connsiteX4" fmla="*/ 95250 w 926563"/>
                  <a:gd name="connsiteY4" fmla="*/ 585558 h 1621878"/>
                  <a:gd name="connsiteX5" fmla="*/ 144780 w 926563"/>
                  <a:gd name="connsiteY5" fmla="*/ 391248 h 1621878"/>
                  <a:gd name="connsiteX6" fmla="*/ 209550 w 926563"/>
                  <a:gd name="connsiteY6" fmla="*/ 452208 h 1621878"/>
                  <a:gd name="connsiteX7" fmla="*/ 306705 w 926563"/>
                  <a:gd name="connsiteY7" fmla="*/ 701763 h 1621878"/>
                  <a:gd name="connsiteX8" fmla="*/ 403860 w 926563"/>
                  <a:gd name="connsiteY8" fmla="*/ 1073238 h 1621878"/>
                  <a:gd name="connsiteX9" fmla="*/ 464820 w 926563"/>
                  <a:gd name="connsiteY9" fmla="*/ 1191348 h 1621878"/>
                  <a:gd name="connsiteX10" fmla="*/ 533400 w 926563"/>
                  <a:gd name="connsiteY10" fmla="*/ 1189443 h 1621878"/>
                  <a:gd name="connsiteX11" fmla="*/ 611505 w 926563"/>
                  <a:gd name="connsiteY11" fmla="*/ 1202778 h 1621878"/>
                  <a:gd name="connsiteX12" fmla="*/ 659130 w 926563"/>
                  <a:gd name="connsiteY12" fmla="*/ 985608 h 1621878"/>
                  <a:gd name="connsiteX13" fmla="*/ 727710 w 926563"/>
                  <a:gd name="connsiteY13" fmla="*/ 2628 h 1621878"/>
                  <a:gd name="connsiteX14" fmla="*/ 861060 w 926563"/>
                  <a:gd name="connsiteY14" fmla="*/ 694143 h 1621878"/>
                  <a:gd name="connsiteX15" fmla="*/ 882015 w 926563"/>
                  <a:gd name="connsiteY15" fmla="*/ 604608 h 1621878"/>
                  <a:gd name="connsiteX16" fmla="*/ 904875 w 926563"/>
                  <a:gd name="connsiteY16" fmla="*/ 377913 h 1621878"/>
                  <a:gd name="connsiteX17" fmla="*/ 918210 w 926563"/>
                  <a:gd name="connsiteY17" fmla="*/ 722718 h 1621878"/>
                  <a:gd name="connsiteX18" fmla="*/ 925830 w 926563"/>
                  <a:gd name="connsiteY18" fmla="*/ 1347558 h 1621878"/>
                  <a:gd name="connsiteX19" fmla="*/ 925830 w 926563"/>
                  <a:gd name="connsiteY19" fmla="*/ 1621878 h 1621878"/>
                  <a:gd name="connsiteX0" fmla="*/ 0 w 926563"/>
                  <a:gd name="connsiteY0" fmla="*/ 1623927 h 1623927"/>
                  <a:gd name="connsiteX1" fmla="*/ 7620 w 926563"/>
                  <a:gd name="connsiteY1" fmla="*/ 720957 h 1623927"/>
                  <a:gd name="connsiteX2" fmla="*/ 26670 w 926563"/>
                  <a:gd name="connsiteY2" fmla="*/ 242802 h 1623927"/>
                  <a:gd name="connsiteX3" fmla="*/ 64770 w 926563"/>
                  <a:gd name="connsiteY3" fmla="*/ 507597 h 1623927"/>
                  <a:gd name="connsiteX4" fmla="*/ 95250 w 926563"/>
                  <a:gd name="connsiteY4" fmla="*/ 587607 h 1623927"/>
                  <a:gd name="connsiteX5" fmla="*/ 144780 w 926563"/>
                  <a:gd name="connsiteY5" fmla="*/ 393297 h 1623927"/>
                  <a:gd name="connsiteX6" fmla="*/ 209550 w 926563"/>
                  <a:gd name="connsiteY6" fmla="*/ 454257 h 1623927"/>
                  <a:gd name="connsiteX7" fmla="*/ 306705 w 926563"/>
                  <a:gd name="connsiteY7" fmla="*/ 703812 h 1623927"/>
                  <a:gd name="connsiteX8" fmla="*/ 403860 w 926563"/>
                  <a:gd name="connsiteY8" fmla="*/ 1075287 h 1623927"/>
                  <a:gd name="connsiteX9" fmla="*/ 464820 w 926563"/>
                  <a:gd name="connsiteY9" fmla="*/ 1193397 h 1623927"/>
                  <a:gd name="connsiteX10" fmla="*/ 533400 w 926563"/>
                  <a:gd name="connsiteY10" fmla="*/ 1191492 h 1623927"/>
                  <a:gd name="connsiteX11" fmla="*/ 611505 w 926563"/>
                  <a:gd name="connsiteY11" fmla="*/ 1204827 h 1623927"/>
                  <a:gd name="connsiteX12" fmla="*/ 659130 w 926563"/>
                  <a:gd name="connsiteY12" fmla="*/ 987657 h 1623927"/>
                  <a:gd name="connsiteX13" fmla="*/ 727710 w 926563"/>
                  <a:gd name="connsiteY13" fmla="*/ 4677 h 1623927"/>
                  <a:gd name="connsiteX14" fmla="*/ 882015 w 926563"/>
                  <a:gd name="connsiteY14" fmla="*/ 606657 h 1623927"/>
                  <a:gd name="connsiteX15" fmla="*/ 904875 w 926563"/>
                  <a:gd name="connsiteY15" fmla="*/ 379962 h 1623927"/>
                  <a:gd name="connsiteX16" fmla="*/ 918210 w 926563"/>
                  <a:gd name="connsiteY16" fmla="*/ 724767 h 1623927"/>
                  <a:gd name="connsiteX17" fmla="*/ 925830 w 926563"/>
                  <a:gd name="connsiteY17" fmla="*/ 1349607 h 1623927"/>
                  <a:gd name="connsiteX18" fmla="*/ 925830 w 926563"/>
                  <a:gd name="connsiteY18" fmla="*/ 1623927 h 1623927"/>
                  <a:gd name="connsiteX0" fmla="*/ 0 w 926563"/>
                  <a:gd name="connsiteY0" fmla="*/ 1624373 h 1624373"/>
                  <a:gd name="connsiteX1" fmla="*/ 7620 w 926563"/>
                  <a:gd name="connsiteY1" fmla="*/ 721403 h 1624373"/>
                  <a:gd name="connsiteX2" fmla="*/ 26670 w 926563"/>
                  <a:gd name="connsiteY2" fmla="*/ 243248 h 1624373"/>
                  <a:gd name="connsiteX3" fmla="*/ 64770 w 926563"/>
                  <a:gd name="connsiteY3" fmla="*/ 508043 h 1624373"/>
                  <a:gd name="connsiteX4" fmla="*/ 95250 w 926563"/>
                  <a:gd name="connsiteY4" fmla="*/ 588053 h 1624373"/>
                  <a:gd name="connsiteX5" fmla="*/ 144780 w 926563"/>
                  <a:gd name="connsiteY5" fmla="*/ 393743 h 1624373"/>
                  <a:gd name="connsiteX6" fmla="*/ 209550 w 926563"/>
                  <a:gd name="connsiteY6" fmla="*/ 454703 h 1624373"/>
                  <a:gd name="connsiteX7" fmla="*/ 306705 w 926563"/>
                  <a:gd name="connsiteY7" fmla="*/ 704258 h 1624373"/>
                  <a:gd name="connsiteX8" fmla="*/ 403860 w 926563"/>
                  <a:gd name="connsiteY8" fmla="*/ 1075733 h 1624373"/>
                  <a:gd name="connsiteX9" fmla="*/ 464820 w 926563"/>
                  <a:gd name="connsiteY9" fmla="*/ 1193843 h 1624373"/>
                  <a:gd name="connsiteX10" fmla="*/ 533400 w 926563"/>
                  <a:gd name="connsiteY10" fmla="*/ 1191938 h 1624373"/>
                  <a:gd name="connsiteX11" fmla="*/ 611505 w 926563"/>
                  <a:gd name="connsiteY11" fmla="*/ 1205273 h 1624373"/>
                  <a:gd name="connsiteX12" fmla="*/ 659130 w 926563"/>
                  <a:gd name="connsiteY12" fmla="*/ 988103 h 1624373"/>
                  <a:gd name="connsiteX13" fmla="*/ 727710 w 926563"/>
                  <a:gd name="connsiteY13" fmla="*/ 5123 h 1624373"/>
                  <a:gd name="connsiteX14" fmla="*/ 882015 w 926563"/>
                  <a:gd name="connsiteY14" fmla="*/ 607103 h 1624373"/>
                  <a:gd name="connsiteX15" fmla="*/ 918210 w 926563"/>
                  <a:gd name="connsiteY15" fmla="*/ 725213 h 1624373"/>
                  <a:gd name="connsiteX16" fmla="*/ 925830 w 926563"/>
                  <a:gd name="connsiteY16" fmla="*/ 1350053 h 1624373"/>
                  <a:gd name="connsiteX17" fmla="*/ 925830 w 926563"/>
                  <a:gd name="connsiteY17" fmla="*/ 1624373 h 1624373"/>
                  <a:gd name="connsiteX0" fmla="*/ 0 w 926563"/>
                  <a:gd name="connsiteY0" fmla="*/ 1621768 h 1621768"/>
                  <a:gd name="connsiteX1" fmla="*/ 7620 w 926563"/>
                  <a:gd name="connsiteY1" fmla="*/ 718798 h 1621768"/>
                  <a:gd name="connsiteX2" fmla="*/ 26670 w 926563"/>
                  <a:gd name="connsiteY2" fmla="*/ 240643 h 1621768"/>
                  <a:gd name="connsiteX3" fmla="*/ 64770 w 926563"/>
                  <a:gd name="connsiteY3" fmla="*/ 505438 h 1621768"/>
                  <a:gd name="connsiteX4" fmla="*/ 95250 w 926563"/>
                  <a:gd name="connsiteY4" fmla="*/ 585448 h 1621768"/>
                  <a:gd name="connsiteX5" fmla="*/ 144780 w 926563"/>
                  <a:gd name="connsiteY5" fmla="*/ 391138 h 1621768"/>
                  <a:gd name="connsiteX6" fmla="*/ 209550 w 926563"/>
                  <a:gd name="connsiteY6" fmla="*/ 452098 h 1621768"/>
                  <a:gd name="connsiteX7" fmla="*/ 306705 w 926563"/>
                  <a:gd name="connsiteY7" fmla="*/ 701653 h 1621768"/>
                  <a:gd name="connsiteX8" fmla="*/ 403860 w 926563"/>
                  <a:gd name="connsiteY8" fmla="*/ 1073128 h 1621768"/>
                  <a:gd name="connsiteX9" fmla="*/ 464820 w 926563"/>
                  <a:gd name="connsiteY9" fmla="*/ 1191238 h 1621768"/>
                  <a:gd name="connsiteX10" fmla="*/ 533400 w 926563"/>
                  <a:gd name="connsiteY10" fmla="*/ 1189333 h 1621768"/>
                  <a:gd name="connsiteX11" fmla="*/ 611505 w 926563"/>
                  <a:gd name="connsiteY11" fmla="*/ 1202668 h 1621768"/>
                  <a:gd name="connsiteX12" fmla="*/ 659130 w 926563"/>
                  <a:gd name="connsiteY12" fmla="*/ 985498 h 1621768"/>
                  <a:gd name="connsiteX13" fmla="*/ 727710 w 926563"/>
                  <a:gd name="connsiteY13" fmla="*/ 2518 h 1621768"/>
                  <a:gd name="connsiteX14" fmla="*/ 918210 w 926563"/>
                  <a:gd name="connsiteY14" fmla="*/ 722608 h 1621768"/>
                  <a:gd name="connsiteX15" fmla="*/ 925830 w 926563"/>
                  <a:gd name="connsiteY15" fmla="*/ 1347448 h 1621768"/>
                  <a:gd name="connsiteX16" fmla="*/ 925830 w 926563"/>
                  <a:gd name="connsiteY16" fmla="*/ 1621768 h 1621768"/>
                  <a:gd name="connsiteX0" fmla="*/ 0 w 926563"/>
                  <a:gd name="connsiteY0" fmla="*/ 1622330 h 1622330"/>
                  <a:gd name="connsiteX1" fmla="*/ 7620 w 926563"/>
                  <a:gd name="connsiteY1" fmla="*/ 719360 h 1622330"/>
                  <a:gd name="connsiteX2" fmla="*/ 26670 w 926563"/>
                  <a:gd name="connsiteY2" fmla="*/ 241205 h 1622330"/>
                  <a:gd name="connsiteX3" fmla="*/ 64770 w 926563"/>
                  <a:gd name="connsiteY3" fmla="*/ 506000 h 1622330"/>
                  <a:gd name="connsiteX4" fmla="*/ 95250 w 926563"/>
                  <a:gd name="connsiteY4" fmla="*/ 586010 h 1622330"/>
                  <a:gd name="connsiteX5" fmla="*/ 144780 w 926563"/>
                  <a:gd name="connsiteY5" fmla="*/ 391700 h 1622330"/>
                  <a:gd name="connsiteX6" fmla="*/ 209550 w 926563"/>
                  <a:gd name="connsiteY6" fmla="*/ 452660 h 1622330"/>
                  <a:gd name="connsiteX7" fmla="*/ 306705 w 926563"/>
                  <a:gd name="connsiteY7" fmla="*/ 702215 h 1622330"/>
                  <a:gd name="connsiteX8" fmla="*/ 403860 w 926563"/>
                  <a:gd name="connsiteY8" fmla="*/ 1073690 h 1622330"/>
                  <a:gd name="connsiteX9" fmla="*/ 464820 w 926563"/>
                  <a:gd name="connsiteY9" fmla="*/ 1191800 h 1622330"/>
                  <a:gd name="connsiteX10" fmla="*/ 533400 w 926563"/>
                  <a:gd name="connsiteY10" fmla="*/ 1189895 h 1622330"/>
                  <a:gd name="connsiteX11" fmla="*/ 611505 w 926563"/>
                  <a:gd name="connsiteY11" fmla="*/ 1203230 h 1622330"/>
                  <a:gd name="connsiteX12" fmla="*/ 659130 w 926563"/>
                  <a:gd name="connsiteY12" fmla="*/ 986060 h 1622330"/>
                  <a:gd name="connsiteX13" fmla="*/ 727710 w 926563"/>
                  <a:gd name="connsiteY13" fmla="*/ 3080 h 1622330"/>
                  <a:gd name="connsiteX14" fmla="*/ 925830 w 926563"/>
                  <a:gd name="connsiteY14" fmla="*/ 1348010 h 1622330"/>
                  <a:gd name="connsiteX15" fmla="*/ 925830 w 926563"/>
                  <a:gd name="connsiteY15" fmla="*/ 1622330 h 1622330"/>
                  <a:gd name="connsiteX0" fmla="*/ 0 w 925830"/>
                  <a:gd name="connsiteY0" fmla="*/ 1627999 h 1627999"/>
                  <a:gd name="connsiteX1" fmla="*/ 7620 w 925830"/>
                  <a:gd name="connsiteY1" fmla="*/ 725029 h 1627999"/>
                  <a:gd name="connsiteX2" fmla="*/ 26670 w 925830"/>
                  <a:gd name="connsiteY2" fmla="*/ 246874 h 1627999"/>
                  <a:gd name="connsiteX3" fmla="*/ 64770 w 925830"/>
                  <a:gd name="connsiteY3" fmla="*/ 511669 h 1627999"/>
                  <a:gd name="connsiteX4" fmla="*/ 95250 w 925830"/>
                  <a:gd name="connsiteY4" fmla="*/ 591679 h 1627999"/>
                  <a:gd name="connsiteX5" fmla="*/ 144780 w 925830"/>
                  <a:gd name="connsiteY5" fmla="*/ 397369 h 1627999"/>
                  <a:gd name="connsiteX6" fmla="*/ 209550 w 925830"/>
                  <a:gd name="connsiteY6" fmla="*/ 458329 h 1627999"/>
                  <a:gd name="connsiteX7" fmla="*/ 306705 w 925830"/>
                  <a:gd name="connsiteY7" fmla="*/ 707884 h 1627999"/>
                  <a:gd name="connsiteX8" fmla="*/ 403860 w 925830"/>
                  <a:gd name="connsiteY8" fmla="*/ 1079359 h 1627999"/>
                  <a:gd name="connsiteX9" fmla="*/ 464820 w 925830"/>
                  <a:gd name="connsiteY9" fmla="*/ 1197469 h 1627999"/>
                  <a:gd name="connsiteX10" fmla="*/ 533400 w 925830"/>
                  <a:gd name="connsiteY10" fmla="*/ 1195564 h 1627999"/>
                  <a:gd name="connsiteX11" fmla="*/ 611505 w 925830"/>
                  <a:gd name="connsiteY11" fmla="*/ 1208899 h 1627999"/>
                  <a:gd name="connsiteX12" fmla="*/ 659130 w 925830"/>
                  <a:gd name="connsiteY12" fmla="*/ 991729 h 1627999"/>
                  <a:gd name="connsiteX13" fmla="*/ 727710 w 925830"/>
                  <a:gd name="connsiteY13" fmla="*/ 8749 h 1627999"/>
                  <a:gd name="connsiteX14" fmla="*/ 925830 w 925830"/>
                  <a:gd name="connsiteY14" fmla="*/ 1627999 h 1627999"/>
                  <a:gd name="connsiteX0" fmla="*/ 0 w 727710"/>
                  <a:gd name="connsiteY0" fmla="*/ 1627999 h 1627999"/>
                  <a:gd name="connsiteX1" fmla="*/ 7620 w 727710"/>
                  <a:gd name="connsiteY1" fmla="*/ 725029 h 1627999"/>
                  <a:gd name="connsiteX2" fmla="*/ 26670 w 727710"/>
                  <a:gd name="connsiteY2" fmla="*/ 246874 h 1627999"/>
                  <a:gd name="connsiteX3" fmla="*/ 64770 w 727710"/>
                  <a:gd name="connsiteY3" fmla="*/ 511669 h 1627999"/>
                  <a:gd name="connsiteX4" fmla="*/ 95250 w 727710"/>
                  <a:gd name="connsiteY4" fmla="*/ 591679 h 1627999"/>
                  <a:gd name="connsiteX5" fmla="*/ 144780 w 727710"/>
                  <a:gd name="connsiteY5" fmla="*/ 397369 h 1627999"/>
                  <a:gd name="connsiteX6" fmla="*/ 209550 w 727710"/>
                  <a:gd name="connsiteY6" fmla="*/ 458329 h 1627999"/>
                  <a:gd name="connsiteX7" fmla="*/ 306705 w 727710"/>
                  <a:gd name="connsiteY7" fmla="*/ 707884 h 1627999"/>
                  <a:gd name="connsiteX8" fmla="*/ 403860 w 727710"/>
                  <a:gd name="connsiteY8" fmla="*/ 1079359 h 1627999"/>
                  <a:gd name="connsiteX9" fmla="*/ 464820 w 727710"/>
                  <a:gd name="connsiteY9" fmla="*/ 1197469 h 1627999"/>
                  <a:gd name="connsiteX10" fmla="*/ 533400 w 727710"/>
                  <a:gd name="connsiteY10" fmla="*/ 1195564 h 1627999"/>
                  <a:gd name="connsiteX11" fmla="*/ 611505 w 727710"/>
                  <a:gd name="connsiteY11" fmla="*/ 1208899 h 1627999"/>
                  <a:gd name="connsiteX12" fmla="*/ 659130 w 727710"/>
                  <a:gd name="connsiteY12" fmla="*/ 991729 h 1627999"/>
                  <a:gd name="connsiteX13" fmla="*/ 727710 w 727710"/>
                  <a:gd name="connsiteY13" fmla="*/ 8749 h 1627999"/>
                  <a:gd name="connsiteX0" fmla="*/ 0 w 748665"/>
                  <a:gd name="connsiteY0" fmla="*/ 1618548 h 1618548"/>
                  <a:gd name="connsiteX1" fmla="*/ 7620 w 748665"/>
                  <a:gd name="connsiteY1" fmla="*/ 715578 h 1618548"/>
                  <a:gd name="connsiteX2" fmla="*/ 26670 w 748665"/>
                  <a:gd name="connsiteY2" fmla="*/ 237423 h 1618548"/>
                  <a:gd name="connsiteX3" fmla="*/ 64770 w 748665"/>
                  <a:gd name="connsiteY3" fmla="*/ 502218 h 1618548"/>
                  <a:gd name="connsiteX4" fmla="*/ 95250 w 748665"/>
                  <a:gd name="connsiteY4" fmla="*/ 582228 h 1618548"/>
                  <a:gd name="connsiteX5" fmla="*/ 144780 w 748665"/>
                  <a:gd name="connsiteY5" fmla="*/ 387918 h 1618548"/>
                  <a:gd name="connsiteX6" fmla="*/ 209550 w 748665"/>
                  <a:gd name="connsiteY6" fmla="*/ 448878 h 1618548"/>
                  <a:gd name="connsiteX7" fmla="*/ 306705 w 748665"/>
                  <a:gd name="connsiteY7" fmla="*/ 698433 h 1618548"/>
                  <a:gd name="connsiteX8" fmla="*/ 403860 w 748665"/>
                  <a:gd name="connsiteY8" fmla="*/ 1069908 h 1618548"/>
                  <a:gd name="connsiteX9" fmla="*/ 464820 w 748665"/>
                  <a:gd name="connsiteY9" fmla="*/ 1188018 h 1618548"/>
                  <a:gd name="connsiteX10" fmla="*/ 533400 w 748665"/>
                  <a:gd name="connsiteY10" fmla="*/ 1186113 h 1618548"/>
                  <a:gd name="connsiteX11" fmla="*/ 611505 w 748665"/>
                  <a:gd name="connsiteY11" fmla="*/ 1199448 h 1618548"/>
                  <a:gd name="connsiteX12" fmla="*/ 659130 w 748665"/>
                  <a:gd name="connsiteY12" fmla="*/ 982278 h 1618548"/>
                  <a:gd name="connsiteX13" fmla="*/ 748665 w 748665"/>
                  <a:gd name="connsiteY13" fmla="*/ 8823 h 1618548"/>
                  <a:gd name="connsiteX0" fmla="*/ 0 w 748665"/>
                  <a:gd name="connsiteY0" fmla="*/ 1609725 h 1609725"/>
                  <a:gd name="connsiteX1" fmla="*/ 7620 w 748665"/>
                  <a:gd name="connsiteY1" fmla="*/ 706755 h 1609725"/>
                  <a:gd name="connsiteX2" fmla="*/ 26670 w 748665"/>
                  <a:gd name="connsiteY2" fmla="*/ 228600 h 1609725"/>
                  <a:gd name="connsiteX3" fmla="*/ 64770 w 748665"/>
                  <a:gd name="connsiteY3" fmla="*/ 493395 h 1609725"/>
                  <a:gd name="connsiteX4" fmla="*/ 95250 w 748665"/>
                  <a:gd name="connsiteY4" fmla="*/ 573405 h 1609725"/>
                  <a:gd name="connsiteX5" fmla="*/ 144780 w 748665"/>
                  <a:gd name="connsiteY5" fmla="*/ 379095 h 1609725"/>
                  <a:gd name="connsiteX6" fmla="*/ 209550 w 748665"/>
                  <a:gd name="connsiteY6" fmla="*/ 440055 h 1609725"/>
                  <a:gd name="connsiteX7" fmla="*/ 306705 w 748665"/>
                  <a:gd name="connsiteY7" fmla="*/ 689610 h 1609725"/>
                  <a:gd name="connsiteX8" fmla="*/ 403860 w 748665"/>
                  <a:gd name="connsiteY8" fmla="*/ 1061085 h 1609725"/>
                  <a:gd name="connsiteX9" fmla="*/ 464820 w 748665"/>
                  <a:gd name="connsiteY9" fmla="*/ 1179195 h 1609725"/>
                  <a:gd name="connsiteX10" fmla="*/ 533400 w 748665"/>
                  <a:gd name="connsiteY10" fmla="*/ 1177290 h 1609725"/>
                  <a:gd name="connsiteX11" fmla="*/ 611505 w 748665"/>
                  <a:gd name="connsiteY11" fmla="*/ 1190625 h 1609725"/>
                  <a:gd name="connsiteX12" fmla="*/ 659130 w 748665"/>
                  <a:gd name="connsiteY12" fmla="*/ 973455 h 1609725"/>
                  <a:gd name="connsiteX13" fmla="*/ 714375 w 748665"/>
                  <a:gd name="connsiteY13" fmla="*/ 139064 h 1609725"/>
                  <a:gd name="connsiteX14" fmla="*/ 748665 w 748665"/>
                  <a:gd name="connsiteY14" fmla="*/ 0 h 1609725"/>
                  <a:gd name="connsiteX0" fmla="*/ 0 w 723900"/>
                  <a:gd name="connsiteY0" fmla="*/ 1615440 h 1615440"/>
                  <a:gd name="connsiteX1" fmla="*/ 7620 w 723900"/>
                  <a:gd name="connsiteY1" fmla="*/ 712470 h 1615440"/>
                  <a:gd name="connsiteX2" fmla="*/ 26670 w 723900"/>
                  <a:gd name="connsiteY2" fmla="*/ 234315 h 1615440"/>
                  <a:gd name="connsiteX3" fmla="*/ 64770 w 723900"/>
                  <a:gd name="connsiteY3" fmla="*/ 499110 h 1615440"/>
                  <a:gd name="connsiteX4" fmla="*/ 95250 w 723900"/>
                  <a:gd name="connsiteY4" fmla="*/ 579120 h 1615440"/>
                  <a:gd name="connsiteX5" fmla="*/ 144780 w 723900"/>
                  <a:gd name="connsiteY5" fmla="*/ 384810 h 1615440"/>
                  <a:gd name="connsiteX6" fmla="*/ 209550 w 723900"/>
                  <a:gd name="connsiteY6" fmla="*/ 445770 h 1615440"/>
                  <a:gd name="connsiteX7" fmla="*/ 306705 w 723900"/>
                  <a:gd name="connsiteY7" fmla="*/ 695325 h 1615440"/>
                  <a:gd name="connsiteX8" fmla="*/ 403860 w 723900"/>
                  <a:gd name="connsiteY8" fmla="*/ 1066800 h 1615440"/>
                  <a:gd name="connsiteX9" fmla="*/ 464820 w 723900"/>
                  <a:gd name="connsiteY9" fmla="*/ 1184910 h 1615440"/>
                  <a:gd name="connsiteX10" fmla="*/ 533400 w 723900"/>
                  <a:gd name="connsiteY10" fmla="*/ 1183005 h 1615440"/>
                  <a:gd name="connsiteX11" fmla="*/ 611505 w 723900"/>
                  <a:gd name="connsiteY11" fmla="*/ 1196340 h 1615440"/>
                  <a:gd name="connsiteX12" fmla="*/ 659130 w 723900"/>
                  <a:gd name="connsiteY12" fmla="*/ 979170 h 1615440"/>
                  <a:gd name="connsiteX13" fmla="*/ 714375 w 723900"/>
                  <a:gd name="connsiteY13" fmla="*/ 144779 h 1615440"/>
                  <a:gd name="connsiteX14" fmla="*/ 723900 w 723900"/>
                  <a:gd name="connsiteY14" fmla="*/ 0 h 1615440"/>
                  <a:gd name="connsiteX0" fmla="*/ 0 w 723900"/>
                  <a:gd name="connsiteY0" fmla="*/ 1619250 h 1619250"/>
                  <a:gd name="connsiteX1" fmla="*/ 7620 w 723900"/>
                  <a:gd name="connsiteY1" fmla="*/ 716280 h 1619250"/>
                  <a:gd name="connsiteX2" fmla="*/ 26670 w 723900"/>
                  <a:gd name="connsiteY2" fmla="*/ 238125 h 1619250"/>
                  <a:gd name="connsiteX3" fmla="*/ 64770 w 723900"/>
                  <a:gd name="connsiteY3" fmla="*/ 502920 h 1619250"/>
                  <a:gd name="connsiteX4" fmla="*/ 95250 w 723900"/>
                  <a:gd name="connsiteY4" fmla="*/ 582930 h 1619250"/>
                  <a:gd name="connsiteX5" fmla="*/ 144780 w 723900"/>
                  <a:gd name="connsiteY5" fmla="*/ 388620 h 1619250"/>
                  <a:gd name="connsiteX6" fmla="*/ 209550 w 723900"/>
                  <a:gd name="connsiteY6" fmla="*/ 449580 h 1619250"/>
                  <a:gd name="connsiteX7" fmla="*/ 306705 w 723900"/>
                  <a:gd name="connsiteY7" fmla="*/ 699135 h 1619250"/>
                  <a:gd name="connsiteX8" fmla="*/ 403860 w 723900"/>
                  <a:gd name="connsiteY8" fmla="*/ 1070610 h 1619250"/>
                  <a:gd name="connsiteX9" fmla="*/ 464820 w 723900"/>
                  <a:gd name="connsiteY9" fmla="*/ 1188720 h 1619250"/>
                  <a:gd name="connsiteX10" fmla="*/ 533400 w 723900"/>
                  <a:gd name="connsiteY10" fmla="*/ 1186815 h 1619250"/>
                  <a:gd name="connsiteX11" fmla="*/ 611505 w 723900"/>
                  <a:gd name="connsiteY11" fmla="*/ 1200150 h 1619250"/>
                  <a:gd name="connsiteX12" fmla="*/ 659130 w 723900"/>
                  <a:gd name="connsiteY12" fmla="*/ 982980 h 1619250"/>
                  <a:gd name="connsiteX13" fmla="*/ 714375 w 723900"/>
                  <a:gd name="connsiteY13" fmla="*/ 148589 h 1619250"/>
                  <a:gd name="connsiteX14" fmla="*/ 723900 w 723900"/>
                  <a:gd name="connsiteY14" fmla="*/ 0 h 1619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3900" h="1619250">
                    <a:moveTo>
                      <a:pt x="0" y="1619250"/>
                    </a:moveTo>
                    <a:cubicBezTo>
                      <a:pt x="1587" y="1281430"/>
                      <a:pt x="3175" y="946467"/>
                      <a:pt x="7620" y="716280"/>
                    </a:cubicBezTo>
                    <a:cubicBezTo>
                      <a:pt x="12065" y="486093"/>
                      <a:pt x="17145" y="273685"/>
                      <a:pt x="26670" y="238125"/>
                    </a:cubicBezTo>
                    <a:cubicBezTo>
                      <a:pt x="36195" y="202565"/>
                      <a:pt x="53340" y="445452"/>
                      <a:pt x="64770" y="502920"/>
                    </a:cubicBezTo>
                    <a:cubicBezTo>
                      <a:pt x="76200" y="560388"/>
                      <a:pt x="81915" y="601980"/>
                      <a:pt x="95250" y="582930"/>
                    </a:cubicBezTo>
                    <a:cubicBezTo>
                      <a:pt x="108585" y="563880"/>
                      <a:pt x="125730" y="410845"/>
                      <a:pt x="144780" y="388620"/>
                    </a:cubicBezTo>
                    <a:cubicBezTo>
                      <a:pt x="163830" y="366395"/>
                      <a:pt x="188278" y="399733"/>
                      <a:pt x="209550" y="449580"/>
                    </a:cubicBezTo>
                    <a:cubicBezTo>
                      <a:pt x="230822" y="499427"/>
                      <a:pt x="274320" y="595630"/>
                      <a:pt x="306705" y="699135"/>
                    </a:cubicBezTo>
                    <a:cubicBezTo>
                      <a:pt x="339090" y="802640"/>
                      <a:pt x="377508" y="989013"/>
                      <a:pt x="403860" y="1070610"/>
                    </a:cubicBezTo>
                    <a:cubicBezTo>
                      <a:pt x="430212" y="1152207"/>
                      <a:pt x="443230" y="1169353"/>
                      <a:pt x="464820" y="1188720"/>
                    </a:cubicBezTo>
                    <a:cubicBezTo>
                      <a:pt x="486410" y="1208087"/>
                      <a:pt x="508953" y="1184910"/>
                      <a:pt x="533400" y="1186815"/>
                    </a:cubicBezTo>
                    <a:cubicBezTo>
                      <a:pt x="557847" y="1188720"/>
                      <a:pt x="590550" y="1234122"/>
                      <a:pt x="611505" y="1200150"/>
                    </a:cubicBezTo>
                    <a:cubicBezTo>
                      <a:pt x="632460" y="1166178"/>
                      <a:pt x="641985" y="1158240"/>
                      <a:pt x="659130" y="982980"/>
                    </a:cubicBezTo>
                    <a:cubicBezTo>
                      <a:pt x="676275" y="807720"/>
                      <a:pt x="699453" y="310831"/>
                      <a:pt x="714375" y="148589"/>
                    </a:cubicBezTo>
                    <a:cubicBezTo>
                      <a:pt x="729297" y="-13653"/>
                      <a:pt x="718185" y="23177"/>
                      <a:pt x="723900" y="0"/>
                    </a:cubicBezTo>
                  </a:path>
                </a:pathLst>
              </a:custGeom>
              <a:no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2" name="자유형: 도형 47">
                <a:extLst>
                  <a:ext uri="{FF2B5EF4-FFF2-40B4-BE49-F238E27FC236}">
                    <a16:creationId xmlns:a16="http://schemas.microsoft.com/office/drawing/2014/main" id="{A1542E19-83A2-4266-A708-7D32B27A3406}"/>
                  </a:ext>
                </a:extLst>
              </p:cNvPr>
              <p:cNvSpPr/>
              <p:nvPr/>
            </p:nvSpPr>
            <p:spPr>
              <a:xfrm>
                <a:off x="7905750" y="1969770"/>
                <a:ext cx="112395" cy="1619250"/>
              </a:xfrm>
              <a:custGeom>
                <a:avLst/>
                <a:gdLst>
                  <a:gd name="connsiteX0" fmla="*/ 0 w 112395"/>
                  <a:gd name="connsiteY0" fmla="*/ 0 h 1617345"/>
                  <a:gd name="connsiteX1" fmla="*/ 38100 w 112395"/>
                  <a:gd name="connsiteY1" fmla="*/ 649605 h 1617345"/>
                  <a:gd name="connsiteX2" fmla="*/ 72390 w 112395"/>
                  <a:gd name="connsiteY2" fmla="*/ 527685 h 1617345"/>
                  <a:gd name="connsiteX3" fmla="*/ 89535 w 112395"/>
                  <a:gd name="connsiteY3" fmla="*/ 386715 h 1617345"/>
                  <a:gd name="connsiteX4" fmla="*/ 110490 w 112395"/>
                  <a:gd name="connsiteY4" fmla="*/ 794385 h 1617345"/>
                  <a:gd name="connsiteX5" fmla="*/ 110490 w 112395"/>
                  <a:gd name="connsiteY5" fmla="*/ 1455420 h 1617345"/>
                  <a:gd name="connsiteX6" fmla="*/ 112395 w 112395"/>
                  <a:gd name="connsiteY6" fmla="*/ 1617345 h 1617345"/>
                  <a:gd name="connsiteX0" fmla="*/ 0 w 112395"/>
                  <a:gd name="connsiteY0" fmla="*/ 0 h 1619250"/>
                  <a:gd name="connsiteX1" fmla="*/ 38100 w 112395"/>
                  <a:gd name="connsiteY1" fmla="*/ 651510 h 1619250"/>
                  <a:gd name="connsiteX2" fmla="*/ 72390 w 112395"/>
                  <a:gd name="connsiteY2" fmla="*/ 529590 h 1619250"/>
                  <a:gd name="connsiteX3" fmla="*/ 89535 w 112395"/>
                  <a:gd name="connsiteY3" fmla="*/ 388620 h 1619250"/>
                  <a:gd name="connsiteX4" fmla="*/ 110490 w 112395"/>
                  <a:gd name="connsiteY4" fmla="*/ 796290 h 1619250"/>
                  <a:gd name="connsiteX5" fmla="*/ 110490 w 112395"/>
                  <a:gd name="connsiteY5" fmla="*/ 1457325 h 1619250"/>
                  <a:gd name="connsiteX6" fmla="*/ 112395 w 112395"/>
                  <a:gd name="connsiteY6" fmla="*/ 1619250 h 1619250"/>
                  <a:gd name="connsiteX0" fmla="*/ 0 w 112395"/>
                  <a:gd name="connsiteY0" fmla="*/ 0 h 1619250"/>
                  <a:gd name="connsiteX1" fmla="*/ 45720 w 112395"/>
                  <a:gd name="connsiteY1" fmla="*/ 683895 h 1619250"/>
                  <a:gd name="connsiteX2" fmla="*/ 72390 w 112395"/>
                  <a:gd name="connsiteY2" fmla="*/ 529590 h 1619250"/>
                  <a:gd name="connsiteX3" fmla="*/ 89535 w 112395"/>
                  <a:gd name="connsiteY3" fmla="*/ 388620 h 1619250"/>
                  <a:gd name="connsiteX4" fmla="*/ 110490 w 112395"/>
                  <a:gd name="connsiteY4" fmla="*/ 796290 h 1619250"/>
                  <a:gd name="connsiteX5" fmla="*/ 110490 w 112395"/>
                  <a:gd name="connsiteY5" fmla="*/ 1457325 h 1619250"/>
                  <a:gd name="connsiteX6" fmla="*/ 112395 w 112395"/>
                  <a:gd name="connsiteY6" fmla="*/ 1619250 h 1619250"/>
                  <a:gd name="connsiteX0" fmla="*/ 0 w 112395"/>
                  <a:gd name="connsiteY0" fmla="*/ 0 h 1619250"/>
                  <a:gd name="connsiteX1" fmla="*/ 45720 w 112395"/>
                  <a:gd name="connsiteY1" fmla="*/ 683895 h 1619250"/>
                  <a:gd name="connsiteX2" fmla="*/ 72390 w 112395"/>
                  <a:gd name="connsiteY2" fmla="*/ 529590 h 1619250"/>
                  <a:gd name="connsiteX3" fmla="*/ 89535 w 112395"/>
                  <a:gd name="connsiteY3" fmla="*/ 388620 h 1619250"/>
                  <a:gd name="connsiteX4" fmla="*/ 104775 w 112395"/>
                  <a:gd name="connsiteY4" fmla="*/ 796290 h 1619250"/>
                  <a:gd name="connsiteX5" fmla="*/ 110490 w 112395"/>
                  <a:gd name="connsiteY5" fmla="*/ 1457325 h 1619250"/>
                  <a:gd name="connsiteX6" fmla="*/ 112395 w 112395"/>
                  <a:gd name="connsiteY6" fmla="*/ 1619250 h 1619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395" h="1619250">
                    <a:moveTo>
                      <a:pt x="0" y="0"/>
                    </a:moveTo>
                    <a:cubicBezTo>
                      <a:pt x="13017" y="280829"/>
                      <a:pt x="33655" y="595630"/>
                      <a:pt x="45720" y="683895"/>
                    </a:cubicBezTo>
                    <a:cubicBezTo>
                      <a:pt x="57785" y="772160"/>
                      <a:pt x="65088" y="578802"/>
                      <a:pt x="72390" y="529590"/>
                    </a:cubicBezTo>
                    <a:cubicBezTo>
                      <a:pt x="79692" y="480378"/>
                      <a:pt x="84137" y="344170"/>
                      <a:pt x="89535" y="388620"/>
                    </a:cubicBezTo>
                    <a:cubicBezTo>
                      <a:pt x="94933" y="433070"/>
                      <a:pt x="101283" y="618173"/>
                      <a:pt x="104775" y="796290"/>
                    </a:cubicBezTo>
                    <a:cubicBezTo>
                      <a:pt x="108267" y="974407"/>
                      <a:pt x="110490" y="1457325"/>
                      <a:pt x="110490" y="1457325"/>
                    </a:cubicBezTo>
                    <a:cubicBezTo>
                      <a:pt x="110808" y="1594485"/>
                      <a:pt x="111601" y="1606867"/>
                      <a:pt x="112395" y="1619250"/>
                    </a:cubicBezTo>
                  </a:path>
                </a:pathLst>
              </a:custGeom>
              <a:no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3" name="타원 352">
                <a:extLst>
                  <a:ext uri="{FF2B5EF4-FFF2-40B4-BE49-F238E27FC236}">
                    <a16:creationId xmlns:a16="http://schemas.microsoft.com/office/drawing/2014/main" id="{6A598E3E-6CB1-46A9-A94C-2ED5B62B77D0}"/>
                  </a:ext>
                </a:extLst>
              </p:cNvPr>
              <p:cNvSpPr/>
              <p:nvPr/>
            </p:nvSpPr>
            <p:spPr>
              <a:xfrm>
                <a:off x="7075874" y="269097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4" name="타원 353">
                <a:extLst>
                  <a:ext uri="{FF2B5EF4-FFF2-40B4-BE49-F238E27FC236}">
                    <a16:creationId xmlns:a16="http://schemas.microsoft.com/office/drawing/2014/main" id="{7E52F3C2-BDA2-4D79-A022-A1E1ACA79745}"/>
                  </a:ext>
                </a:extLst>
              </p:cNvPr>
              <p:cNvSpPr/>
              <p:nvPr/>
            </p:nvSpPr>
            <p:spPr>
              <a:xfrm>
                <a:off x="7136834" y="24814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5" name="타원 354">
                <a:extLst>
                  <a:ext uri="{FF2B5EF4-FFF2-40B4-BE49-F238E27FC236}">
                    <a16:creationId xmlns:a16="http://schemas.microsoft.com/office/drawing/2014/main" id="{8BCD468B-3231-427E-AA4F-F2C680ABFD97}"/>
                  </a:ext>
                </a:extLst>
              </p:cNvPr>
              <p:cNvSpPr/>
              <p:nvPr/>
            </p:nvSpPr>
            <p:spPr>
              <a:xfrm>
                <a:off x="7344479" y="255952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6" name="타원 355">
                <a:extLst>
                  <a:ext uri="{FF2B5EF4-FFF2-40B4-BE49-F238E27FC236}">
                    <a16:creationId xmlns:a16="http://schemas.microsoft.com/office/drawing/2014/main" id="{22091F7D-549E-47C4-BDCF-2DA732008A3B}"/>
                  </a:ext>
                </a:extLst>
              </p:cNvPr>
              <p:cNvSpPr/>
              <p:nvPr/>
            </p:nvSpPr>
            <p:spPr>
              <a:xfrm>
                <a:off x="7376864" y="264334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7" name="타원 356">
                <a:extLst>
                  <a:ext uri="{FF2B5EF4-FFF2-40B4-BE49-F238E27FC236}">
                    <a16:creationId xmlns:a16="http://schemas.microsoft.com/office/drawing/2014/main" id="{11D51EF8-5880-4715-8096-6306E437605B}"/>
                  </a:ext>
                </a:extLst>
              </p:cNvPr>
              <p:cNvSpPr/>
              <p:nvPr/>
            </p:nvSpPr>
            <p:spPr>
              <a:xfrm>
                <a:off x="7411154" y="275764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8" name="타원 357">
                <a:extLst>
                  <a:ext uri="{FF2B5EF4-FFF2-40B4-BE49-F238E27FC236}">
                    <a16:creationId xmlns:a16="http://schemas.microsoft.com/office/drawing/2014/main" id="{1DB70A68-CEE0-4DF5-BE04-352F10EB80BF}"/>
                  </a:ext>
                </a:extLst>
              </p:cNvPr>
              <p:cNvSpPr/>
              <p:nvPr/>
            </p:nvSpPr>
            <p:spPr>
              <a:xfrm>
                <a:off x="7512119" y="308530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9" name="타원 358">
                <a:extLst>
                  <a:ext uri="{FF2B5EF4-FFF2-40B4-BE49-F238E27FC236}">
                    <a16:creationId xmlns:a16="http://schemas.microsoft.com/office/drawing/2014/main" id="{9C2CAFCF-EDE8-40AA-8F11-99358CFE36E1}"/>
                  </a:ext>
                </a:extLst>
              </p:cNvPr>
              <p:cNvSpPr/>
              <p:nvPr/>
            </p:nvSpPr>
            <p:spPr>
              <a:xfrm>
                <a:off x="7525454" y="313864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0" name="타원 359">
                <a:extLst>
                  <a:ext uri="{FF2B5EF4-FFF2-40B4-BE49-F238E27FC236}">
                    <a16:creationId xmlns:a16="http://schemas.microsoft.com/office/drawing/2014/main" id="{D320960E-2C32-4E39-B16E-0C85E129DF37}"/>
                  </a:ext>
                </a:extLst>
              </p:cNvPr>
              <p:cNvSpPr/>
              <p:nvPr/>
            </p:nvSpPr>
            <p:spPr>
              <a:xfrm>
                <a:off x="7527359" y="315198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1" name="타원 360">
                <a:extLst>
                  <a:ext uri="{FF2B5EF4-FFF2-40B4-BE49-F238E27FC236}">
                    <a16:creationId xmlns:a16="http://schemas.microsoft.com/office/drawing/2014/main" id="{E5D69BB4-F1D9-45F7-A1DD-8E31C92C0946}"/>
                  </a:ext>
                </a:extLst>
              </p:cNvPr>
              <p:cNvSpPr/>
              <p:nvPr/>
            </p:nvSpPr>
            <p:spPr>
              <a:xfrm>
                <a:off x="7584509" y="317293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2" name="타원 361">
                <a:extLst>
                  <a:ext uri="{FF2B5EF4-FFF2-40B4-BE49-F238E27FC236}">
                    <a16:creationId xmlns:a16="http://schemas.microsoft.com/office/drawing/2014/main" id="{12448DF3-59C4-48D5-BF75-0390F6F78CBB}"/>
                  </a:ext>
                </a:extLst>
              </p:cNvPr>
              <p:cNvSpPr/>
              <p:nvPr/>
            </p:nvSpPr>
            <p:spPr>
              <a:xfrm>
                <a:off x="7614989" y="316722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3" name="타원 362">
                <a:extLst>
                  <a:ext uri="{FF2B5EF4-FFF2-40B4-BE49-F238E27FC236}">
                    <a16:creationId xmlns:a16="http://schemas.microsoft.com/office/drawing/2014/main" id="{F8C6F624-4719-49B9-AED2-D2F7C0B7D5A4}"/>
                  </a:ext>
                </a:extLst>
              </p:cNvPr>
              <p:cNvSpPr/>
              <p:nvPr/>
            </p:nvSpPr>
            <p:spPr>
              <a:xfrm>
                <a:off x="7649279" y="321865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4" name="타원 363">
                <a:extLst>
                  <a:ext uri="{FF2B5EF4-FFF2-40B4-BE49-F238E27FC236}">
                    <a16:creationId xmlns:a16="http://schemas.microsoft.com/office/drawing/2014/main" id="{201B8074-FF8B-4A78-9471-2063F8FB8B0B}"/>
                  </a:ext>
                </a:extLst>
              </p:cNvPr>
              <p:cNvSpPr/>
              <p:nvPr/>
            </p:nvSpPr>
            <p:spPr>
              <a:xfrm>
                <a:off x="7626419" y="305673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5" name="타원 364">
                <a:extLst>
                  <a:ext uri="{FF2B5EF4-FFF2-40B4-BE49-F238E27FC236}">
                    <a16:creationId xmlns:a16="http://schemas.microsoft.com/office/drawing/2014/main" id="{B3C01337-FB61-4362-9324-777202D06D2A}"/>
                  </a:ext>
                </a:extLst>
              </p:cNvPr>
              <p:cNvSpPr/>
              <p:nvPr/>
            </p:nvSpPr>
            <p:spPr>
              <a:xfrm>
                <a:off x="7727384" y="290814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6" name="타원 365">
                <a:extLst>
                  <a:ext uri="{FF2B5EF4-FFF2-40B4-BE49-F238E27FC236}">
                    <a16:creationId xmlns:a16="http://schemas.microsoft.com/office/drawing/2014/main" id="{BAF820E1-590A-42FD-BDDF-1FAA91F1E176}"/>
                  </a:ext>
                </a:extLst>
              </p:cNvPr>
              <p:cNvSpPr/>
              <p:nvPr/>
            </p:nvSpPr>
            <p:spPr>
              <a:xfrm>
                <a:off x="7725479" y="29310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7" name="타원 366">
                <a:extLst>
                  <a:ext uri="{FF2B5EF4-FFF2-40B4-BE49-F238E27FC236}">
                    <a16:creationId xmlns:a16="http://schemas.microsoft.com/office/drawing/2014/main" id="{08118ED6-E4CA-41BC-8EC1-72D3D7A9C06A}"/>
                  </a:ext>
                </a:extLst>
              </p:cNvPr>
              <p:cNvSpPr/>
              <p:nvPr/>
            </p:nvSpPr>
            <p:spPr>
              <a:xfrm>
                <a:off x="7984559" y="239379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8" name="타원 367">
                <a:extLst>
                  <a:ext uri="{FF2B5EF4-FFF2-40B4-BE49-F238E27FC236}">
                    <a16:creationId xmlns:a16="http://schemas.microsoft.com/office/drawing/2014/main" id="{D8479B68-D3F8-4188-B6F4-9CE359F12DB2}"/>
                  </a:ext>
                </a:extLst>
              </p:cNvPr>
              <p:cNvSpPr/>
              <p:nvPr/>
            </p:nvSpPr>
            <p:spPr>
              <a:xfrm>
                <a:off x="7971224" y="233283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9" name="타원 368">
                <a:extLst>
                  <a:ext uri="{FF2B5EF4-FFF2-40B4-BE49-F238E27FC236}">
                    <a16:creationId xmlns:a16="http://schemas.microsoft.com/office/drawing/2014/main" id="{F8636504-5BB8-4656-90F8-2E57AD59BE59}"/>
                  </a:ext>
                </a:extLst>
              </p:cNvPr>
              <p:cNvSpPr/>
              <p:nvPr/>
            </p:nvSpPr>
            <p:spPr>
              <a:xfrm>
                <a:off x="7908359" y="233092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0" name="타원 369">
                <a:extLst>
                  <a:ext uri="{FF2B5EF4-FFF2-40B4-BE49-F238E27FC236}">
                    <a16:creationId xmlns:a16="http://schemas.microsoft.com/office/drawing/2014/main" id="{72CA7322-7D17-4EE7-8572-A9A32867531A}"/>
                  </a:ext>
                </a:extLst>
              </p:cNvPr>
              <p:cNvSpPr/>
              <p:nvPr/>
            </p:nvSpPr>
            <p:spPr>
              <a:xfrm>
                <a:off x="7195889" y="2407125"/>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1" name="타원 370">
                <a:extLst>
                  <a:ext uri="{FF2B5EF4-FFF2-40B4-BE49-F238E27FC236}">
                    <a16:creationId xmlns:a16="http://schemas.microsoft.com/office/drawing/2014/main" id="{F67AC74C-477B-4201-9227-3543BD6CD019}"/>
                  </a:ext>
                </a:extLst>
              </p:cNvPr>
              <p:cNvSpPr/>
              <p:nvPr/>
            </p:nvSpPr>
            <p:spPr>
              <a:xfrm>
                <a:off x="7249229" y="235950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2" name="타원 371">
                <a:extLst>
                  <a:ext uri="{FF2B5EF4-FFF2-40B4-BE49-F238E27FC236}">
                    <a16:creationId xmlns:a16="http://schemas.microsoft.com/office/drawing/2014/main" id="{A30C56B9-1481-4AE1-8520-0FA78C8CEF5D}"/>
                  </a:ext>
                </a:extLst>
              </p:cNvPr>
              <p:cNvSpPr/>
              <p:nvPr/>
            </p:nvSpPr>
            <p:spPr>
              <a:xfrm>
                <a:off x="7273994" y="2363310"/>
                <a:ext cx="43200" cy="43200"/>
              </a:xfrm>
              <a:prstGeom prst="ellipse">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326" name="그룹 325">
              <a:extLst>
                <a:ext uri="{FF2B5EF4-FFF2-40B4-BE49-F238E27FC236}">
                  <a16:creationId xmlns:a16="http://schemas.microsoft.com/office/drawing/2014/main" id="{6EA44D1E-549C-4069-BFD5-09211BBA7B1F}"/>
                </a:ext>
              </a:extLst>
            </p:cNvPr>
            <p:cNvGrpSpPr/>
            <p:nvPr/>
          </p:nvGrpSpPr>
          <p:grpSpPr>
            <a:xfrm>
              <a:off x="1646364" y="1751181"/>
              <a:ext cx="1284776" cy="2031594"/>
              <a:chOff x="1646364" y="1751181"/>
              <a:chExt cx="1284776" cy="2031594"/>
            </a:xfrm>
          </p:grpSpPr>
          <p:sp>
            <p:nvSpPr>
              <p:cNvPr id="347" name="직사각형 346">
                <a:extLst>
                  <a:ext uri="{FF2B5EF4-FFF2-40B4-BE49-F238E27FC236}">
                    <a16:creationId xmlns:a16="http://schemas.microsoft.com/office/drawing/2014/main" id="{516787CB-AF17-4EE3-ACE4-273388A39ED8}"/>
                  </a:ext>
                </a:extLst>
              </p:cNvPr>
              <p:cNvSpPr/>
              <p:nvPr/>
            </p:nvSpPr>
            <p:spPr>
              <a:xfrm>
                <a:off x="1830725" y="1968499"/>
                <a:ext cx="1100415" cy="1620521"/>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mc:AlternateContent xmlns:mc="http://schemas.openxmlformats.org/markup-compatibility/2006" xmlns:a14="http://schemas.microsoft.com/office/drawing/2010/main">
            <mc:Choice Requires="a14">
              <p:sp>
                <p:nvSpPr>
                  <p:cNvPr id="348" name="TextBox 347">
                    <a:extLst>
                      <a:ext uri="{FF2B5EF4-FFF2-40B4-BE49-F238E27FC236}">
                        <a16:creationId xmlns:a16="http://schemas.microsoft.com/office/drawing/2014/main" id="{38F9403E-EB37-42E6-8775-DA00C2240156}"/>
                      </a:ext>
                    </a:extLst>
                  </p:cNvPr>
                  <p:cNvSpPr txBox="1"/>
                  <p:nvPr/>
                </p:nvSpPr>
                <p:spPr>
                  <a:xfrm>
                    <a:off x="2298075" y="3610590"/>
                    <a:ext cx="166626" cy="1721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𝑥</m:t>
                          </m:r>
                        </m:oMath>
                      </m:oMathPara>
                    </a14:m>
                    <a:endParaRPr lang="en-US" sz="1300" dirty="0">
                      <a:solidFill>
                        <a:schemeClr val="tx1"/>
                      </a:solidFill>
                    </a:endParaRPr>
                  </a:p>
                </p:txBody>
              </p:sp>
            </mc:Choice>
            <mc:Fallback xmlns="">
              <p:sp>
                <p:nvSpPr>
                  <p:cNvPr id="155" name="TextBox 154">
                    <a:extLst>
                      <a:ext uri="{FF2B5EF4-FFF2-40B4-BE49-F238E27FC236}">
                        <a16:creationId xmlns:a16="http://schemas.microsoft.com/office/drawing/2014/main" id="{ABA38A78-BE69-49CC-8740-22C67CA45B46}"/>
                      </a:ext>
                    </a:extLst>
                  </p:cNvPr>
                  <p:cNvSpPr txBox="1">
                    <a:spLocks noRot="1" noChangeAspect="1" noMove="1" noResize="1" noEditPoints="1" noAdjustHandles="1" noChangeArrowheads="1" noChangeShapeType="1" noTextEdit="1"/>
                  </p:cNvSpPr>
                  <p:nvPr/>
                </p:nvSpPr>
                <p:spPr>
                  <a:xfrm>
                    <a:off x="2298075" y="3610590"/>
                    <a:ext cx="166626" cy="172185"/>
                  </a:xfrm>
                  <a:prstGeom prst="rect">
                    <a:avLst/>
                  </a:prstGeom>
                  <a:blipFill>
                    <a:blip r:embed="rId5"/>
                    <a:stretch>
                      <a:fillRect l="-3704" b="-3448"/>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49" name="TextBox 348">
                    <a:extLst>
                      <a:ext uri="{FF2B5EF4-FFF2-40B4-BE49-F238E27FC236}">
                        <a16:creationId xmlns:a16="http://schemas.microsoft.com/office/drawing/2014/main" id="{9BBC095A-AB6B-489B-9EBC-2346E779276B}"/>
                      </a:ext>
                    </a:extLst>
                  </p:cNvPr>
                  <p:cNvSpPr txBox="1"/>
                  <p:nvPr/>
                </p:nvSpPr>
                <p:spPr>
                  <a:xfrm>
                    <a:off x="1646364" y="2607925"/>
                    <a:ext cx="157171" cy="182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𝑦</m:t>
                          </m:r>
                        </m:oMath>
                      </m:oMathPara>
                    </a14:m>
                    <a:endParaRPr lang="en-US" sz="1300" dirty="0">
                      <a:solidFill>
                        <a:schemeClr val="tx1"/>
                      </a:solidFill>
                    </a:endParaRPr>
                  </a:p>
                </p:txBody>
              </p:sp>
            </mc:Choice>
            <mc:Fallback xmlns="">
              <p:sp>
                <p:nvSpPr>
                  <p:cNvPr id="349" name="TextBox 348">
                    <a:extLst>
                      <a:ext uri="{FF2B5EF4-FFF2-40B4-BE49-F238E27FC236}">
                        <a16:creationId xmlns:a16="http://schemas.microsoft.com/office/drawing/2014/main" xmlns="" xmlns:a14="http://schemas.microsoft.com/office/drawing/2010/main" id="{9BBC095A-AB6B-489B-9EBC-2346E779276B}"/>
                      </a:ext>
                    </a:extLst>
                  </p:cNvPr>
                  <p:cNvSpPr txBox="1">
                    <a:spLocks noRot="1" noChangeAspect="1" noMove="1" noResize="1" noEditPoints="1" noAdjustHandles="1" noChangeArrowheads="1" noChangeShapeType="1" noTextEdit="1"/>
                  </p:cNvSpPr>
                  <p:nvPr/>
                </p:nvSpPr>
                <p:spPr>
                  <a:xfrm>
                    <a:off x="1646364" y="2607925"/>
                    <a:ext cx="157171" cy="182542"/>
                  </a:xfrm>
                  <a:prstGeom prst="rect">
                    <a:avLst/>
                  </a:prstGeom>
                  <a:blipFill rotWithShape="0">
                    <a:blip r:embed="rId6"/>
                    <a:stretch>
                      <a:fillRect l="-20000" r="-20000" b="-40741"/>
                    </a:stretch>
                  </a:blipFill>
                  <a:ln>
                    <a:noFill/>
                  </a:ln>
                </p:spPr>
                <p:txBody>
                  <a:bodyPr/>
                  <a:lstStyle/>
                  <a:p>
                    <a:r>
                      <a:rPr lang="ko-KR" altLang="en-US">
                        <a:noFill/>
                      </a:rPr>
                      <a:t> </a:t>
                    </a:r>
                  </a:p>
                </p:txBody>
              </p:sp>
            </mc:Fallback>
          </mc:AlternateContent>
          <p:sp>
            <p:nvSpPr>
              <p:cNvPr id="350" name="TextBox 349">
                <a:extLst>
                  <a:ext uri="{FF2B5EF4-FFF2-40B4-BE49-F238E27FC236}">
                    <a16:creationId xmlns:a16="http://schemas.microsoft.com/office/drawing/2014/main" id="{577AE912-6746-4D27-B657-25BE5B6BD20B}"/>
                  </a:ext>
                </a:extLst>
              </p:cNvPr>
              <p:cNvSpPr txBox="1"/>
              <p:nvPr/>
            </p:nvSpPr>
            <p:spPr>
              <a:xfrm>
                <a:off x="2220216" y="1751181"/>
                <a:ext cx="307104" cy="184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ea typeface="SamsungOne 400" panose="020B0503030303020204" pitchFamily="34" charset="0"/>
                  </a:rPr>
                  <a:t>1st</a:t>
                </a:r>
              </a:p>
            </p:txBody>
          </p:sp>
        </p:grpSp>
        <p:grpSp>
          <p:nvGrpSpPr>
            <p:cNvPr id="327" name="그룹 326">
              <a:extLst>
                <a:ext uri="{FF2B5EF4-FFF2-40B4-BE49-F238E27FC236}">
                  <a16:creationId xmlns:a16="http://schemas.microsoft.com/office/drawing/2014/main" id="{F48EC37F-039C-420C-8DB7-F76D86ABEE2C}"/>
                </a:ext>
              </a:extLst>
            </p:cNvPr>
            <p:cNvGrpSpPr/>
            <p:nvPr/>
          </p:nvGrpSpPr>
          <p:grpSpPr>
            <a:xfrm>
              <a:off x="2956375" y="1751181"/>
              <a:ext cx="1283378" cy="2031594"/>
              <a:chOff x="2956375" y="1751181"/>
              <a:chExt cx="1283378" cy="2031594"/>
            </a:xfrm>
          </p:grpSpPr>
          <p:sp>
            <p:nvSpPr>
              <p:cNvPr id="343" name="TextBox 342">
                <a:extLst>
                  <a:ext uri="{FF2B5EF4-FFF2-40B4-BE49-F238E27FC236}">
                    <a16:creationId xmlns:a16="http://schemas.microsoft.com/office/drawing/2014/main" id="{A40B739E-8F84-4602-B2BC-871506ABCA2F}"/>
                  </a:ext>
                </a:extLst>
              </p:cNvPr>
              <p:cNvSpPr txBox="1"/>
              <p:nvPr/>
            </p:nvSpPr>
            <p:spPr>
              <a:xfrm>
                <a:off x="3545958" y="1751181"/>
                <a:ext cx="307104" cy="184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ea typeface="SamsungOne 400" panose="020B0503030303020204" pitchFamily="34" charset="0"/>
                  </a:rPr>
                  <a:t>2nd</a:t>
                </a:r>
              </a:p>
            </p:txBody>
          </p:sp>
          <p:sp>
            <p:nvSpPr>
              <p:cNvPr id="344" name="직사각형 343">
                <a:extLst>
                  <a:ext uri="{FF2B5EF4-FFF2-40B4-BE49-F238E27FC236}">
                    <a16:creationId xmlns:a16="http://schemas.microsoft.com/office/drawing/2014/main" id="{04D85575-C542-4F72-8DBB-A978AA630105}"/>
                  </a:ext>
                </a:extLst>
              </p:cNvPr>
              <p:cNvSpPr/>
              <p:nvPr/>
            </p:nvSpPr>
            <p:spPr>
              <a:xfrm>
                <a:off x="3139338" y="1968499"/>
                <a:ext cx="1100415" cy="1620521"/>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345" name="TextBox 344">
                    <a:extLst>
                      <a:ext uri="{FF2B5EF4-FFF2-40B4-BE49-F238E27FC236}">
                        <a16:creationId xmlns:a16="http://schemas.microsoft.com/office/drawing/2014/main" id="{F5F2A51E-0B03-4CF6-AECA-7F5C13440FE1}"/>
                      </a:ext>
                    </a:extLst>
                  </p:cNvPr>
                  <p:cNvSpPr txBox="1"/>
                  <p:nvPr/>
                </p:nvSpPr>
                <p:spPr>
                  <a:xfrm>
                    <a:off x="3601608" y="3610590"/>
                    <a:ext cx="166626" cy="1721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𝑥</m:t>
                          </m:r>
                        </m:oMath>
                      </m:oMathPara>
                    </a14:m>
                    <a:endParaRPr lang="en-US" sz="1300" dirty="0">
                      <a:solidFill>
                        <a:schemeClr val="tx1"/>
                      </a:solidFill>
                    </a:endParaRPr>
                  </a:p>
                </p:txBody>
              </p:sp>
            </mc:Choice>
            <mc:Fallback xmlns="">
              <p:sp>
                <p:nvSpPr>
                  <p:cNvPr id="160" name="TextBox 159">
                    <a:extLst>
                      <a:ext uri="{FF2B5EF4-FFF2-40B4-BE49-F238E27FC236}">
                        <a16:creationId xmlns:a16="http://schemas.microsoft.com/office/drawing/2014/main" id="{C1738094-8D35-4FF7-9A90-6F46DB089815}"/>
                      </a:ext>
                    </a:extLst>
                  </p:cNvPr>
                  <p:cNvSpPr txBox="1">
                    <a:spLocks noRot="1" noChangeAspect="1" noMove="1" noResize="1" noEditPoints="1" noAdjustHandles="1" noChangeArrowheads="1" noChangeShapeType="1" noTextEdit="1"/>
                  </p:cNvSpPr>
                  <p:nvPr/>
                </p:nvSpPr>
                <p:spPr>
                  <a:xfrm>
                    <a:off x="3601608" y="3610590"/>
                    <a:ext cx="166626" cy="172185"/>
                  </a:xfrm>
                  <a:prstGeom prst="rect">
                    <a:avLst/>
                  </a:prstGeom>
                  <a:blipFill>
                    <a:blip r:embed="rId5"/>
                    <a:stretch>
                      <a:fillRect l="-3704" b="-3448"/>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46" name="TextBox 345">
                    <a:extLst>
                      <a:ext uri="{FF2B5EF4-FFF2-40B4-BE49-F238E27FC236}">
                        <a16:creationId xmlns:a16="http://schemas.microsoft.com/office/drawing/2014/main" id="{14D97123-12A0-4837-9838-27FC1088C76A}"/>
                      </a:ext>
                    </a:extLst>
                  </p:cNvPr>
                  <p:cNvSpPr txBox="1"/>
                  <p:nvPr/>
                </p:nvSpPr>
                <p:spPr>
                  <a:xfrm>
                    <a:off x="2956375" y="2614848"/>
                    <a:ext cx="157171" cy="182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𝑦</m:t>
                          </m:r>
                        </m:oMath>
                      </m:oMathPara>
                    </a14:m>
                    <a:endParaRPr lang="en-US" sz="1300" dirty="0">
                      <a:solidFill>
                        <a:schemeClr val="tx1"/>
                      </a:solidFill>
                    </a:endParaRPr>
                  </a:p>
                </p:txBody>
              </p:sp>
            </mc:Choice>
            <mc:Fallback xmlns="">
              <p:sp>
                <p:nvSpPr>
                  <p:cNvPr id="346" name="TextBox 345">
                    <a:extLst>
                      <a:ext uri="{FF2B5EF4-FFF2-40B4-BE49-F238E27FC236}">
                        <a16:creationId xmlns:a16="http://schemas.microsoft.com/office/drawing/2014/main" xmlns="" xmlns:a14="http://schemas.microsoft.com/office/drawing/2010/main" id="{14D97123-12A0-4837-9838-27FC1088C76A}"/>
                      </a:ext>
                    </a:extLst>
                  </p:cNvPr>
                  <p:cNvSpPr txBox="1">
                    <a:spLocks noRot="1" noChangeAspect="1" noMove="1" noResize="1" noEditPoints="1" noAdjustHandles="1" noChangeArrowheads="1" noChangeShapeType="1" noTextEdit="1"/>
                  </p:cNvSpPr>
                  <p:nvPr/>
                </p:nvSpPr>
                <p:spPr>
                  <a:xfrm>
                    <a:off x="2956375" y="2614848"/>
                    <a:ext cx="157171" cy="182542"/>
                  </a:xfrm>
                  <a:prstGeom prst="rect">
                    <a:avLst/>
                  </a:prstGeom>
                  <a:blipFill rotWithShape="0">
                    <a:blip r:embed="rId6"/>
                    <a:stretch>
                      <a:fillRect l="-20000" r="-20000" b="-40741"/>
                    </a:stretch>
                  </a:blipFill>
                  <a:ln>
                    <a:noFill/>
                  </a:ln>
                </p:spPr>
                <p:txBody>
                  <a:bodyPr/>
                  <a:lstStyle/>
                  <a:p>
                    <a:r>
                      <a:rPr lang="ko-KR" altLang="en-US">
                        <a:noFill/>
                      </a:rPr>
                      <a:t> </a:t>
                    </a:r>
                  </a:p>
                </p:txBody>
              </p:sp>
            </mc:Fallback>
          </mc:AlternateContent>
        </p:grpSp>
        <p:grpSp>
          <p:nvGrpSpPr>
            <p:cNvPr id="328" name="그룹 327">
              <a:extLst>
                <a:ext uri="{FF2B5EF4-FFF2-40B4-BE49-F238E27FC236}">
                  <a16:creationId xmlns:a16="http://schemas.microsoft.com/office/drawing/2014/main" id="{32118D71-733B-42F9-B4FF-AA5B1E63E13F}"/>
                </a:ext>
              </a:extLst>
            </p:cNvPr>
            <p:cNvGrpSpPr/>
            <p:nvPr/>
          </p:nvGrpSpPr>
          <p:grpSpPr>
            <a:xfrm>
              <a:off x="4257708" y="1751181"/>
              <a:ext cx="1286902" cy="2031594"/>
              <a:chOff x="4257708" y="1751181"/>
              <a:chExt cx="1286902" cy="2031594"/>
            </a:xfrm>
          </p:grpSpPr>
          <p:sp>
            <p:nvSpPr>
              <p:cNvPr id="339" name="TextBox 338">
                <a:extLst>
                  <a:ext uri="{FF2B5EF4-FFF2-40B4-BE49-F238E27FC236}">
                    <a16:creationId xmlns:a16="http://schemas.microsoft.com/office/drawing/2014/main" id="{7A19A9F4-0F58-4CCE-AB97-AC51C78B9845}"/>
                  </a:ext>
                </a:extLst>
              </p:cNvPr>
              <p:cNvSpPr txBox="1"/>
              <p:nvPr/>
            </p:nvSpPr>
            <p:spPr>
              <a:xfrm>
                <a:off x="4833079" y="1751181"/>
                <a:ext cx="307104" cy="184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ea typeface="SamsungOne 400" panose="020B0503030303020204" pitchFamily="34" charset="0"/>
                  </a:rPr>
                  <a:t>3rd</a:t>
                </a:r>
              </a:p>
            </p:txBody>
          </p:sp>
          <p:sp>
            <p:nvSpPr>
              <p:cNvPr id="340" name="직사각형 339">
                <a:extLst>
                  <a:ext uri="{FF2B5EF4-FFF2-40B4-BE49-F238E27FC236}">
                    <a16:creationId xmlns:a16="http://schemas.microsoft.com/office/drawing/2014/main" id="{E9CCB791-D650-4839-A063-108FC19AA4AC}"/>
                  </a:ext>
                </a:extLst>
              </p:cNvPr>
              <p:cNvSpPr/>
              <p:nvPr/>
            </p:nvSpPr>
            <p:spPr>
              <a:xfrm>
                <a:off x="4444195" y="1968499"/>
                <a:ext cx="1100415" cy="1620521"/>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341" name="TextBox 340">
                    <a:extLst>
                      <a:ext uri="{FF2B5EF4-FFF2-40B4-BE49-F238E27FC236}">
                        <a16:creationId xmlns:a16="http://schemas.microsoft.com/office/drawing/2014/main" id="{4BAD7B08-A5C1-4E6A-8E35-24C844E818FF}"/>
                      </a:ext>
                    </a:extLst>
                  </p:cNvPr>
                  <p:cNvSpPr txBox="1"/>
                  <p:nvPr/>
                </p:nvSpPr>
                <p:spPr>
                  <a:xfrm>
                    <a:off x="4911545" y="3610590"/>
                    <a:ext cx="166626" cy="1721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𝑥</m:t>
                          </m:r>
                        </m:oMath>
                      </m:oMathPara>
                    </a14:m>
                    <a:endParaRPr lang="en-US" sz="1300" dirty="0">
                      <a:solidFill>
                        <a:schemeClr val="tx1"/>
                      </a:solidFill>
                    </a:endParaRPr>
                  </a:p>
                </p:txBody>
              </p:sp>
            </mc:Choice>
            <mc:Fallback xmlns="">
              <p:sp>
                <p:nvSpPr>
                  <p:cNvPr id="164" name="TextBox 163">
                    <a:extLst>
                      <a:ext uri="{FF2B5EF4-FFF2-40B4-BE49-F238E27FC236}">
                        <a16:creationId xmlns:a16="http://schemas.microsoft.com/office/drawing/2014/main" id="{F4BE0031-B110-4D4B-9E9E-E5A8D2819FC8}"/>
                      </a:ext>
                    </a:extLst>
                  </p:cNvPr>
                  <p:cNvSpPr txBox="1">
                    <a:spLocks noRot="1" noChangeAspect="1" noMove="1" noResize="1" noEditPoints="1" noAdjustHandles="1" noChangeArrowheads="1" noChangeShapeType="1" noTextEdit="1"/>
                  </p:cNvSpPr>
                  <p:nvPr/>
                </p:nvSpPr>
                <p:spPr>
                  <a:xfrm>
                    <a:off x="4911545" y="3610590"/>
                    <a:ext cx="166626" cy="172185"/>
                  </a:xfrm>
                  <a:prstGeom prst="rect">
                    <a:avLst/>
                  </a:prstGeom>
                  <a:blipFill>
                    <a:blip r:embed="rId5"/>
                    <a:stretch>
                      <a:fillRect l="-3704" b="-3448"/>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42" name="TextBox 341">
                    <a:extLst>
                      <a:ext uri="{FF2B5EF4-FFF2-40B4-BE49-F238E27FC236}">
                        <a16:creationId xmlns:a16="http://schemas.microsoft.com/office/drawing/2014/main" id="{89EEE9E7-B4F9-43E8-B35A-883CF06E5643}"/>
                      </a:ext>
                    </a:extLst>
                  </p:cNvPr>
                  <p:cNvSpPr txBox="1"/>
                  <p:nvPr/>
                </p:nvSpPr>
                <p:spPr>
                  <a:xfrm>
                    <a:off x="4257708" y="2607925"/>
                    <a:ext cx="157171" cy="182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𝑦</m:t>
                          </m:r>
                        </m:oMath>
                      </m:oMathPara>
                    </a14:m>
                    <a:endParaRPr lang="en-US" sz="1300" dirty="0">
                      <a:solidFill>
                        <a:schemeClr val="tx1"/>
                      </a:solidFill>
                    </a:endParaRPr>
                  </a:p>
                </p:txBody>
              </p:sp>
            </mc:Choice>
            <mc:Fallback xmlns="">
              <p:sp>
                <p:nvSpPr>
                  <p:cNvPr id="342" name="TextBox 341">
                    <a:extLst>
                      <a:ext uri="{FF2B5EF4-FFF2-40B4-BE49-F238E27FC236}">
                        <a16:creationId xmlns:a16="http://schemas.microsoft.com/office/drawing/2014/main" xmlns="" xmlns:a14="http://schemas.microsoft.com/office/drawing/2010/main" id="{89EEE9E7-B4F9-43E8-B35A-883CF06E5643}"/>
                      </a:ext>
                    </a:extLst>
                  </p:cNvPr>
                  <p:cNvSpPr txBox="1">
                    <a:spLocks noRot="1" noChangeAspect="1" noMove="1" noResize="1" noEditPoints="1" noAdjustHandles="1" noChangeArrowheads="1" noChangeShapeType="1" noTextEdit="1"/>
                  </p:cNvSpPr>
                  <p:nvPr/>
                </p:nvSpPr>
                <p:spPr>
                  <a:xfrm>
                    <a:off x="4257708" y="2607925"/>
                    <a:ext cx="157171" cy="182542"/>
                  </a:xfrm>
                  <a:prstGeom prst="rect">
                    <a:avLst/>
                  </a:prstGeom>
                  <a:blipFill rotWithShape="0">
                    <a:blip r:embed="rId6"/>
                    <a:stretch>
                      <a:fillRect l="-20000" r="-20000" b="-40741"/>
                    </a:stretch>
                  </a:blipFill>
                  <a:ln>
                    <a:noFill/>
                  </a:ln>
                </p:spPr>
                <p:txBody>
                  <a:bodyPr/>
                  <a:lstStyle/>
                  <a:p>
                    <a:r>
                      <a:rPr lang="ko-KR" altLang="en-US">
                        <a:noFill/>
                      </a:rPr>
                      <a:t> </a:t>
                    </a:r>
                  </a:p>
                </p:txBody>
              </p:sp>
            </mc:Fallback>
          </mc:AlternateContent>
        </p:grpSp>
        <p:grpSp>
          <p:nvGrpSpPr>
            <p:cNvPr id="329" name="그룹 328">
              <a:extLst>
                <a:ext uri="{FF2B5EF4-FFF2-40B4-BE49-F238E27FC236}">
                  <a16:creationId xmlns:a16="http://schemas.microsoft.com/office/drawing/2014/main" id="{2C6D24BF-D272-4003-B056-FA9ACF220C1E}"/>
                </a:ext>
              </a:extLst>
            </p:cNvPr>
            <p:cNvGrpSpPr/>
            <p:nvPr/>
          </p:nvGrpSpPr>
          <p:grpSpPr>
            <a:xfrm>
              <a:off x="5566125" y="1751181"/>
              <a:ext cx="1289125" cy="2031594"/>
              <a:chOff x="5566125" y="1751181"/>
              <a:chExt cx="1289125" cy="2031594"/>
            </a:xfrm>
          </p:grpSpPr>
          <p:sp>
            <p:nvSpPr>
              <p:cNvPr id="335" name="TextBox 334">
                <a:extLst>
                  <a:ext uri="{FF2B5EF4-FFF2-40B4-BE49-F238E27FC236}">
                    <a16:creationId xmlns:a16="http://schemas.microsoft.com/office/drawing/2014/main" id="{F2FB11B1-42B0-4AA9-8A42-69E49756B940}"/>
                  </a:ext>
                </a:extLst>
              </p:cNvPr>
              <p:cNvSpPr txBox="1"/>
              <p:nvPr/>
            </p:nvSpPr>
            <p:spPr>
              <a:xfrm>
                <a:off x="6158821" y="1751181"/>
                <a:ext cx="307104" cy="184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dirty="0">
                    <a:solidFill>
                      <a:schemeClr val="tx1"/>
                    </a:solidFill>
                    <a:ea typeface="SamsungOne 400" panose="020B0503030303020204" pitchFamily="34" charset="0"/>
                  </a:rPr>
                  <a:t>4th</a:t>
                </a:r>
                <a:endParaRPr lang="en-US" dirty="0">
                  <a:solidFill>
                    <a:schemeClr val="tx1"/>
                  </a:solidFill>
                  <a:ea typeface="SamsungOne 400" panose="020B0503030303020204" pitchFamily="34" charset="0"/>
                </a:endParaRPr>
              </a:p>
            </p:txBody>
          </p:sp>
          <p:sp>
            <p:nvSpPr>
              <p:cNvPr id="336" name="직사각형 335">
                <a:extLst>
                  <a:ext uri="{FF2B5EF4-FFF2-40B4-BE49-F238E27FC236}">
                    <a16:creationId xmlns:a16="http://schemas.microsoft.com/office/drawing/2014/main" id="{9DD7434E-5E63-4B85-9019-D7C79FE8D44B}"/>
                  </a:ext>
                </a:extLst>
              </p:cNvPr>
              <p:cNvSpPr/>
              <p:nvPr/>
            </p:nvSpPr>
            <p:spPr>
              <a:xfrm>
                <a:off x="5754835" y="1968499"/>
                <a:ext cx="1100415" cy="1620521"/>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337" name="TextBox 336">
                    <a:extLst>
                      <a:ext uri="{FF2B5EF4-FFF2-40B4-BE49-F238E27FC236}">
                        <a16:creationId xmlns:a16="http://schemas.microsoft.com/office/drawing/2014/main" id="{6D73B5ED-BDE3-4602-820F-A409632C8239}"/>
                      </a:ext>
                    </a:extLst>
                  </p:cNvPr>
                  <p:cNvSpPr txBox="1"/>
                  <p:nvPr/>
                </p:nvSpPr>
                <p:spPr>
                  <a:xfrm>
                    <a:off x="6222185" y="3610590"/>
                    <a:ext cx="166626" cy="1721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𝑥</m:t>
                          </m:r>
                        </m:oMath>
                      </m:oMathPara>
                    </a14:m>
                    <a:endParaRPr lang="en-US" sz="1300" dirty="0">
                      <a:solidFill>
                        <a:schemeClr val="tx1"/>
                      </a:solidFill>
                    </a:endParaRPr>
                  </a:p>
                </p:txBody>
              </p:sp>
            </mc:Choice>
            <mc:Fallback xmlns="">
              <p:sp>
                <p:nvSpPr>
                  <p:cNvPr id="168" name="TextBox 167">
                    <a:extLst>
                      <a:ext uri="{FF2B5EF4-FFF2-40B4-BE49-F238E27FC236}">
                        <a16:creationId xmlns:a16="http://schemas.microsoft.com/office/drawing/2014/main" id="{1C1C29C5-7E3B-40CC-8668-BF5562860432}"/>
                      </a:ext>
                    </a:extLst>
                  </p:cNvPr>
                  <p:cNvSpPr txBox="1">
                    <a:spLocks noRot="1" noChangeAspect="1" noMove="1" noResize="1" noEditPoints="1" noAdjustHandles="1" noChangeArrowheads="1" noChangeShapeType="1" noTextEdit="1"/>
                  </p:cNvSpPr>
                  <p:nvPr/>
                </p:nvSpPr>
                <p:spPr>
                  <a:xfrm>
                    <a:off x="6222185" y="3610590"/>
                    <a:ext cx="166626" cy="172185"/>
                  </a:xfrm>
                  <a:prstGeom prst="rect">
                    <a:avLst/>
                  </a:prstGeom>
                  <a:blipFill>
                    <a:blip r:embed="rId5"/>
                    <a:stretch>
                      <a:fillRect l="-3704" b="-3448"/>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38" name="TextBox 337">
                    <a:extLst>
                      <a:ext uri="{FF2B5EF4-FFF2-40B4-BE49-F238E27FC236}">
                        <a16:creationId xmlns:a16="http://schemas.microsoft.com/office/drawing/2014/main" id="{B741923B-FA63-4531-86B2-C3BA9E1ADA0B}"/>
                      </a:ext>
                    </a:extLst>
                  </p:cNvPr>
                  <p:cNvSpPr txBox="1"/>
                  <p:nvPr/>
                </p:nvSpPr>
                <p:spPr>
                  <a:xfrm>
                    <a:off x="5566125" y="2611289"/>
                    <a:ext cx="157171" cy="182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𝑦</m:t>
                          </m:r>
                        </m:oMath>
                      </m:oMathPara>
                    </a14:m>
                    <a:endParaRPr lang="en-US" sz="1300" dirty="0">
                      <a:solidFill>
                        <a:schemeClr val="tx1"/>
                      </a:solidFill>
                    </a:endParaRPr>
                  </a:p>
                </p:txBody>
              </p:sp>
            </mc:Choice>
            <mc:Fallback xmlns="">
              <p:sp>
                <p:nvSpPr>
                  <p:cNvPr id="338" name="TextBox 337">
                    <a:extLst>
                      <a:ext uri="{FF2B5EF4-FFF2-40B4-BE49-F238E27FC236}">
                        <a16:creationId xmlns:a16="http://schemas.microsoft.com/office/drawing/2014/main" xmlns="" xmlns:a14="http://schemas.microsoft.com/office/drawing/2010/main" id="{B741923B-FA63-4531-86B2-C3BA9E1ADA0B}"/>
                      </a:ext>
                    </a:extLst>
                  </p:cNvPr>
                  <p:cNvSpPr txBox="1">
                    <a:spLocks noRot="1" noChangeAspect="1" noMove="1" noResize="1" noEditPoints="1" noAdjustHandles="1" noChangeArrowheads="1" noChangeShapeType="1" noTextEdit="1"/>
                  </p:cNvSpPr>
                  <p:nvPr/>
                </p:nvSpPr>
                <p:spPr>
                  <a:xfrm>
                    <a:off x="5566125" y="2611289"/>
                    <a:ext cx="157171" cy="182542"/>
                  </a:xfrm>
                  <a:prstGeom prst="rect">
                    <a:avLst/>
                  </a:prstGeom>
                  <a:blipFill rotWithShape="0">
                    <a:blip r:embed="rId7"/>
                    <a:stretch>
                      <a:fillRect l="-19231" r="-15385" b="-39286"/>
                    </a:stretch>
                  </a:blipFill>
                  <a:ln>
                    <a:noFill/>
                  </a:ln>
                </p:spPr>
                <p:txBody>
                  <a:bodyPr/>
                  <a:lstStyle/>
                  <a:p>
                    <a:r>
                      <a:rPr lang="ko-KR" altLang="en-US">
                        <a:noFill/>
                      </a:rPr>
                      <a:t> </a:t>
                    </a:r>
                  </a:p>
                </p:txBody>
              </p:sp>
            </mc:Fallback>
          </mc:AlternateContent>
        </p:grpSp>
        <p:grpSp>
          <p:nvGrpSpPr>
            <p:cNvPr id="330" name="그룹 329">
              <a:extLst>
                <a:ext uri="{FF2B5EF4-FFF2-40B4-BE49-F238E27FC236}">
                  <a16:creationId xmlns:a16="http://schemas.microsoft.com/office/drawing/2014/main" id="{53C37F92-170B-4B6B-8C58-0BB9F48D1240}"/>
                </a:ext>
              </a:extLst>
            </p:cNvPr>
            <p:cNvGrpSpPr/>
            <p:nvPr/>
          </p:nvGrpSpPr>
          <p:grpSpPr>
            <a:xfrm>
              <a:off x="6887518" y="1751181"/>
              <a:ext cx="1280650" cy="2031594"/>
              <a:chOff x="6887518" y="1751181"/>
              <a:chExt cx="1280650" cy="2031594"/>
            </a:xfrm>
          </p:grpSpPr>
          <p:sp>
            <p:nvSpPr>
              <p:cNvPr id="331" name="TextBox 330">
                <a:extLst>
                  <a:ext uri="{FF2B5EF4-FFF2-40B4-BE49-F238E27FC236}">
                    <a16:creationId xmlns:a16="http://schemas.microsoft.com/office/drawing/2014/main" id="{1261D28F-DBDE-4BE3-BBAE-1ED20E21E77C}"/>
                  </a:ext>
                </a:extLst>
              </p:cNvPr>
              <p:cNvSpPr txBox="1"/>
              <p:nvPr/>
            </p:nvSpPr>
            <p:spPr>
              <a:xfrm>
                <a:off x="7483037" y="1751181"/>
                <a:ext cx="307104" cy="184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dirty="0">
                    <a:solidFill>
                      <a:schemeClr val="tx1"/>
                    </a:solidFill>
                    <a:ea typeface="SamsungOne 400" panose="020B0503030303020204" pitchFamily="34" charset="0"/>
                  </a:rPr>
                  <a:t>12th</a:t>
                </a:r>
                <a:endParaRPr lang="en-US" dirty="0">
                  <a:solidFill>
                    <a:schemeClr val="tx1"/>
                  </a:solidFill>
                  <a:ea typeface="SamsungOne 400" panose="020B0503030303020204" pitchFamily="34" charset="0"/>
                </a:endParaRPr>
              </a:p>
            </p:txBody>
          </p:sp>
          <p:sp>
            <p:nvSpPr>
              <p:cNvPr id="332" name="직사각형 331">
                <a:extLst>
                  <a:ext uri="{FF2B5EF4-FFF2-40B4-BE49-F238E27FC236}">
                    <a16:creationId xmlns:a16="http://schemas.microsoft.com/office/drawing/2014/main" id="{D8983510-5F15-48B7-8B9A-5A1ED6B537C5}"/>
                  </a:ext>
                </a:extLst>
              </p:cNvPr>
              <p:cNvSpPr/>
              <p:nvPr/>
            </p:nvSpPr>
            <p:spPr>
              <a:xfrm>
                <a:off x="7067753" y="1968499"/>
                <a:ext cx="1100415" cy="1620521"/>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333" name="TextBox 332">
                    <a:extLst>
                      <a:ext uri="{FF2B5EF4-FFF2-40B4-BE49-F238E27FC236}">
                        <a16:creationId xmlns:a16="http://schemas.microsoft.com/office/drawing/2014/main" id="{F4970C68-E6BD-4827-9BEA-3FAA566C99BA}"/>
                      </a:ext>
                    </a:extLst>
                  </p:cNvPr>
                  <p:cNvSpPr txBox="1"/>
                  <p:nvPr/>
                </p:nvSpPr>
                <p:spPr>
                  <a:xfrm>
                    <a:off x="7535103" y="3610590"/>
                    <a:ext cx="166626" cy="1721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𝑥</m:t>
                          </m:r>
                        </m:oMath>
                      </m:oMathPara>
                    </a14:m>
                    <a:endParaRPr lang="en-US" sz="1300" dirty="0">
                      <a:solidFill>
                        <a:schemeClr val="tx1"/>
                      </a:solidFill>
                    </a:endParaRPr>
                  </a:p>
                </p:txBody>
              </p:sp>
            </mc:Choice>
            <mc:Fallback xmlns="">
              <p:sp>
                <p:nvSpPr>
                  <p:cNvPr id="173" name="TextBox 172">
                    <a:extLst>
                      <a:ext uri="{FF2B5EF4-FFF2-40B4-BE49-F238E27FC236}">
                        <a16:creationId xmlns:a16="http://schemas.microsoft.com/office/drawing/2014/main" id="{CB2B1DE2-C0DD-4237-B814-739E5F13CAB6}"/>
                      </a:ext>
                    </a:extLst>
                  </p:cNvPr>
                  <p:cNvSpPr txBox="1">
                    <a:spLocks noRot="1" noChangeAspect="1" noMove="1" noResize="1" noEditPoints="1" noAdjustHandles="1" noChangeArrowheads="1" noChangeShapeType="1" noTextEdit="1"/>
                  </p:cNvSpPr>
                  <p:nvPr/>
                </p:nvSpPr>
                <p:spPr>
                  <a:xfrm>
                    <a:off x="7535103" y="3610590"/>
                    <a:ext cx="166626" cy="172185"/>
                  </a:xfrm>
                  <a:prstGeom prst="rect">
                    <a:avLst/>
                  </a:prstGeom>
                  <a:blipFill>
                    <a:blip r:embed="rId5"/>
                    <a:stretch>
                      <a:fillRect l="-3704" b="-3448"/>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34" name="TextBox 333">
                    <a:extLst>
                      <a:ext uri="{FF2B5EF4-FFF2-40B4-BE49-F238E27FC236}">
                        <a16:creationId xmlns:a16="http://schemas.microsoft.com/office/drawing/2014/main" id="{AAA1EFA0-BA47-43AC-9205-7651D75B31F4}"/>
                      </a:ext>
                    </a:extLst>
                  </p:cNvPr>
                  <p:cNvSpPr txBox="1"/>
                  <p:nvPr/>
                </p:nvSpPr>
                <p:spPr>
                  <a:xfrm>
                    <a:off x="6887518" y="2639087"/>
                    <a:ext cx="157171" cy="182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algn="ctr">
                      <a:defRPr sz="1100" b="0">
                        <a:latin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14:m>
                      <m:oMathPara xmlns:m="http://schemas.openxmlformats.org/officeDocument/2006/math">
                        <m:oMathParaPr>
                          <m:jc m:val="centerGroup"/>
                        </m:oMathParaPr>
                        <m:oMath xmlns:m="http://schemas.openxmlformats.org/officeDocument/2006/math">
                          <m:r>
                            <a:rPr lang="en-US" altLang="ko-KR" sz="1300" i="1" smtClean="0">
                              <a:solidFill>
                                <a:schemeClr val="tx1"/>
                              </a:solidFill>
                              <a:latin typeface="Cambria Math" panose="02040503050406030204" pitchFamily="18" charset="0"/>
                            </a:rPr>
                            <m:t>𝑦</m:t>
                          </m:r>
                        </m:oMath>
                      </m:oMathPara>
                    </a14:m>
                    <a:endParaRPr lang="en-US" sz="1300" dirty="0">
                      <a:solidFill>
                        <a:schemeClr val="tx1"/>
                      </a:solidFill>
                    </a:endParaRPr>
                  </a:p>
                </p:txBody>
              </p:sp>
            </mc:Choice>
            <mc:Fallback xmlns="">
              <p:sp>
                <p:nvSpPr>
                  <p:cNvPr id="334" name="TextBox 333">
                    <a:extLst>
                      <a:ext uri="{FF2B5EF4-FFF2-40B4-BE49-F238E27FC236}">
                        <a16:creationId xmlns:a16="http://schemas.microsoft.com/office/drawing/2014/main" xmlns="" xmlns:a14="http://schemas.microsoft.com/office/drawing/2010/main" id="{AAA1EFA0-BA47-43AC-9205-7651D75B31F4}"/>
                      </a:ext>
                    </a:extLst>
                  </p:cNvPr>
                  <p:cNvSpPr txBox="1">
                    <a:spLocks noRot="1" noChangeAspect="1" noMove="1" noResize="1" noEditPoints="1" noAdjustHandles="1" noChangeArrowheads="1" noChangeShapeType="1" noTextEdit="1"/>
                  </p:cNvSpPr>
                  <p:nvPr/>
                </p:nvSpPr>
                <p:spPr>
                  <a:xfrm>
                    <a:off x="6887518" y="2639087"/>
                    <a:ext cx="157171" cy="182542"/>
                  </a:xfrm>
                  <a:prstGeom prst="rect">
                    <a:avLst/>
                  </a:prstGeom>
                  <a:blipFill rotWithShape="0">
                    <a:blip r:embed="rId6"/>
                    <a:stretch>
                      <a:fillRect l="-20000" r="-20000" b="-40741"/>
                    </a:stretch>
                  </a:blipFill>
                  <a:ln>
                    <a:noFill/>
                  </a:ln>
                </p:spPr>
                <p:txBody>
                  <a:bodyPr/>
                  <a:lstStyle/>
                  <a:p>
                    <a:r>
                      <a:rPr lang="ko-KR" altLang="en-US">
                        <a:noFill/>
                      </a:rPr>
                      <a:t> </a:t>
                    </a:r>
                  </a:p>
                </p:txBody>
              </p:sp>
            </mc:Fallback>
          </mc:AlternateContent>
        </p:grpSp>
      </p:grpSp>
    </p:spTree>
    <p:extLst>
      <p:ext uri="{BB962C8B-B14F-4D97-AF65-F5344CB8AC3E}">
        <p14:creationId xmlns:p14="http://schemas.microsoft.com/office/powerpoint/2010/main" val="4474711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1.3. Preparation and Division of Dataset</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Method and Process of Dataset Division</a:t>
            </a:r>
            <a:endParaRPr lang="ko-KR" altLang="en-US" sz="2400" dirty="0">
              <a:solidFill>
                <a:schemeClr val="tx1">
                  <a:lumMod val="95000"/>
                  <a:lumOff val="5000"/>
                </a:schemeClr>
              </a:solidFill>
              <a:latin typeface="Samsung Sharp Sans" pitchFamily="2" charset="0"/>
              <a:ea typeface="Samsung Sharp Sans" pitchFamily="2" charset="0"/>
              <a:cs typeface="Samsung Sharp Sans" pitchFamily="2" charset="0"/>
            </a:endParaRPr>
          </a:p>
        </p:txBody>
      </p:sp>
      <p:sp>
        <p:nvSpPr>
          <p:cNvPr id="40" name="직사각형 39">
            <a:extLst>
              <a:ext uri="{FF2B5EF4-FFF2-40B4-BE49-F238E27FC236}">
                <a16:creationId xmlns:a16="http://schemas.microsoft.com/office/drawing/2014/main" id="{3A76204B-18F3-4CF1-ACE4-AFDF6C8ED0B9}"/>
              </a:ext>
            </a:extLst>
          </p:cNvPr>
          <p:cNvSpPr/>
          <p:nvPr/>
        </p:nvSpPr>
        <p:spPr>
          <a:xfrm>
            <a:off x="672080" y="2204864"/>
            <a:ext cx="8632825" cy="125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data should be split into a training set and a testing set. </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 principle, the testing set should be used only once! It should not be reused!</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If the training set is also used for evaluation, the errors can be unrealistically small.</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We would like to evaluate realistic errors while training by splitting the training data into two.</a:t>
            </a:r>
          </a:p>
        </p:txBody>
      </p:sp>
      <p:sp>
        <p:nvSpPr>
          <p:cNvPr id="14" name="직사각형 13">
            <a:extLst>
              <a:ext uri="{FF2B5EF4-FFF2-40B4-BE49-F238E27FC236}">
                <a16:creationId xmlns:a16="http://schemas.microsoft.com/office/drawing/2014/main" id="{FA18C629-1018-4158-88B5-E2C18FF12CC3}"/>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Cross-Validation:</a:t>
            </a:r>
          </a:p>
        </p:txBody>
      </p:sp>
      <p:grpSp>
        <p:nvGrpSpPr>
          <p:cNvPr id="2" name="그룹 1"/>
          <p:cNvGrpSpPr/>
          <p:nvPr/>
        </p:nvGrpSpPr>
        <p:grpSpPr>
          <a:xfrm>
            <a:off x="558800" y="4943114"/>
            <a:ext cx="8763637" cy="648153"/>
            <a:chOff x="558800" y="5205743"/>
            <a:chExt cx="8763637" cy="648153"/>
          </a:xfrm>
        </p:grpSpPr>
        <p:sp>
          <p:nvSpPr>
            <p:cNvPr id="12" name="직사각형 11">
              <a:extLst>
                <a:ext uri="{FF2B5EF4-FFF2-40B4-BE49-F238E27FC236}">
                  <a16:creationId xmlns:a16="http://schemas.microsoft.com/office/drawing/2014/main" id="{BABF1097-C09A-4521-AC30-F6FD1AACBCCF}"/>
                </a:ext>
              </a:extLst>
            </p:cNvPr>
            <p:cNvSpPr/>
            <p:nvPr/>
          </p:nvSpPr>
          <p:spPr>
            <a:xfrm>
              <a:off x="672080" y="5508435"/>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As we can repeatedly evaluate errors while training, it is also possible to tune the hyperparameters. </a:t>
              </a:r>
            </a:p>
          </p:txBody>
        </p:sp>
        <p:sp>
          <p:nvSpPr>
            <p:cNvPr id="13" name="직사각형 12">
              <a:extLst>
                <a:ext uri="{FF2B5EF4-FFF2-40B4-BE49-F238E27FC236}">
                  <a16:creationId xmlns:a16="http://schemas.microsoft.com/office/drawing/2014/main" id="{369886E5-85F9-41A8-8C19-DF372CB8976C}"/>
                </a:ext>
              </a:extLst>
            </p:cNvPr>
            <p:cNvSpPr/>
            <p:nvPr/>
          </p:nvSpPr>
          <p:spPr>
            <a:xfrm>
              <a:off x="558800" y="5205743"/>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Cross-Validation and </a:t>
              </a:r>
              <a:r>
                <a:rPr lang="en-US" altLang="ko-KR" sz="1400" dirty="0" err="1">
                  <a:solidFill>
                    <a:schemeClr val="tx1"/>
                  </a:solidFill>
                  <a:latin typeface="SamsungOne 400" panose="020B0503030303020204" pitchFamily="34" charset="0"/>
                  <a:ea typeface="SamsungOne 400" panose="020B0503030303020204" pitchFamily="34" charset="0"/>
                </a:rPr>
                <a:t>Hyperparameter</a:t>
              </a:r>
              <a:r>
                <a:rPr lang="en-US" altLang="ko-KR" sz="1400" dirty="0">
                  <a:solidFill>
                    <a:schemeClr val="tx1"/>
                  </a:solidFill>
                  <a:latin typeface="SamsungOne 400" panose="020B0503030303020204" pitchFamily="34" charset="0"/>
                  <a:ea typeface="SamsungOne 400" panose="020B0503030303020204" pitchFamily="34" charset="0"/>
                </a:rPr>
                <a:t> Optimization:</a:t>
              </a:r>
            </a:p>
          </p:txBody>
        </p:sp>
      </p:grpSp>
      <p:grpSp>
        <p:nvGrpSpPr>
          <p:cNvPr id="15" name="그룹 14">
            <a:extLst>
              <a:ext uri="{FF2B5EF4-FFF2-40B4-BE49-F238E27FC236}">
                <a16:creationId xmlns:a16="http://schemas.microsoft.com/office/drawing/2014/main" id="{E084946E-9961-4272-BC06-53B1D334CAA5}"/>
              </a:ext>
            </a:extLst>
          </p:cNvPr>
          <p:cNvGrpSpPr/>
          <p:nvPr/>
        </p:nvGrpSpPr>
        <p:grpSpPr>
          <a:xfrm>
            <a:off x="1628775" y="3645024"/>
            <a:ext cx="6270624" cy="954327"/>
            <a:chOff x="1285875" y="3914297"/>
            <a:chExt cx="6270624" cy="954327"/>
          </a:xfrm>
        </p:grpSpPr>
        <p:sp>
          <p:nvSpPr>
            <p:cNvPr id="16" name="Rounded Rectangle 7">
              <a:extLst>
                <a:ext uri="{FF2B5EF4-FFF2-40B4-BE49-F238E27FC236}">
                  <a16:creationId xmlns:a16="http://schemas.microsoft.com/office/drawing/2014/main" id="{F2EF07D6-1C55-4220-983A-84C912464C99}"/>
                </a:ext>
              </a:extLst>
            </p:cNvPr>
            <p:cNvSpPr/>
            <p:nvPr/>
          </p:nvSpPr>
          <p:spPr>
            <a:xfrm>
              <a:off x="1285875" y="4162394"/>
              <a:ext cx="3762374" cy="706230"/>
            </a:xfrm>
            <a:prstGeom prst="rect">
              <a:avLst/>
            </a:prstGeom>
            <a:solidFill>
              <a:srgbClr val="B4BBBD">
                <a:alpha val="50000"/>
              </a:srgb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sz="1100">
                <a:solidFill>
                  <a:schemeClr val="bg1"/>
                </a:solidFill>
                <a:latin typeface="SamsungOne 700" panose="020B0803030303020204" pitchFamily="34" charset="0"/>
                <a:ea typeface="SamsungOne 700" panose="020B0803030303020204" pitchFamily="34" charset="0"/>
              </a:endParaRPr>
            </a:p>
          </p:txBody>
        </p:sp>
        <p:sp>
          <p:nvSpPr>
            <p:cNvPr id="17" name="Rounded Rectangle 28">
              <a:extLst>
                <a:ext uri="{FF2B5EF4-FFF2-40B4-BE49-F238E27FC236}">
                  <a16:creationId xmlns:a16="http://schemas.microsoft.com/office/drawing/2014/main" id="{0A5D4CFC-C5BB-4EB1-B14E-86EB40DD2C0A}"/>
                </a:ext>
              </a:extLst>
            </p:cNvPr>
            <p:cNvSpPr/>
            <p:nvPr/>
          </p:nvSpPr>
          <p:spPr>
            <a:xfrm>
              <a:off x="5814659" y="4162394"/>
              <a:ext cx="1741840" cy="706230"/>
            </a:xfrm>
            <a:prstGeom prst="rect">
              <a:avLst/>
            </a:prstGeom>
            <a:solidFill>
              <a:schemeClr val="bg1"/>
            </a:solidFill>
            <a:ln>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sz="1100">
                <a:solidFill>
                  <a:schemeClr val="bg1"/>
                </a:solidFill>
                <a:latin typeface="SamsungOne 700" panose="020B0803030303020204" pitchFamily="34" charset="0"/>
                <a:ea typeface="SamsungOne 700" panose="020B0803030303020204" pitchFamily="34" charset="0"/>
              </a:endParaRPr>
            </a:p>
          </p:txBody>
        </p:sp>
        <p:sp>
          <p:nvSpPr>
            <p:cNvPr id="18" name="TextBox 17">
              <a:extLst>
                <a:ext uri="{FF2B5EF4-FFF2-40B4-BE49-F238E27FC236}">
                  <a16:creationId xmlns:a16="http://schemas.microsoft.com/office/drawing/2014/main" id="{44078AB5-F07A-4B18-866D-5A1E800CE6AB}"/>
                </a:ext>
              </a:extLst>
            </p:cNvPr>
            <p:cNvSpPr txBox="1"/>
            <p:nvPr/>
          </p:nvSpPr>
          <p:spPr>
            <a:xfrm>
              <a:off x="1494896" y="4335509"/>
              <a:ext cx="1463146" cy="360000"/>
            </a:xfrm>
            <a:prstGeom prst="rect">
              <a:avLst/>
            </a:prstGeom>
            <a:solidFill>
              <a:schemeClr val="bg1"/>
            </a:solidFill>
            <a:ln w="6350" cap="flat" cmpd="sng" algn="ctr">
              <a:solidFill>
                <a:srgbClr val="1429A0"/>
              </a:solidFill>
              <a:prstDash val="solid"/>
            </a:ln>
            <a:effectLst/>
          </p:spPr>
          <p:txBody>
            <a:bodyPr wrap="none" lIns="0" tIns="0" rIns="0" bIns="0" rtlCol="0" anchor="ctr">
              <a:noAutofit/>
              <a:scene3d>
                <a:camera prst="orthographicFront"/>
                <a:lightRig rig="threePt" dir="t"/>
              </a:scene3d>
              <a:sp3d>
                <a:bevelT w="0" h="6350"/>
              </a:sp3d>
            </a:bodyPr>
            <a:lstStyle>
              <a:defPPr>
                <a:defRPr lang="en-US"/>
              </a:defPPr>
              <a:lvl1pPr algn="ctr" defTabSz="914400">
                <a:defRPr sz="800">
                  <a:solidFill>
                    <a:srgbClr val="0077C8"/>
                  </a:solidFill>
                  <a:latin typeface="SamsungOne 700" panose="020B0803030303020204" pitchFamily="34" charset="0"/>
                  <a:ea typeface="SamsungOne 700" panose="020B0803030303020204" pitchFamily="34" charset="0"/>
                </a:defRPr>
              </a:lvl1pPr>
            </a:lstStyle>
            <a:p>
              <a:r>
                <a:rPr lang="en-US" altLang="ko-KR" sz="1100" dirty="0">
                  <a:solidFill>
                    <a:srgbClr val="1429A0"/>
                  </a:solidFill>
                </a:rPr>
                <a:t>Train</a:t>
              </a:r>
              <a:endParaRPr lang="en-US" sz="1100" dirty="0">
                <a:solidFill>
                  <a:srgbClr val="1429A0"/>
                </a:solidFill>
              </a:endParaRPr>
            </a:p>
          </p:txBody>
        </p:sp>
        <p:sp>
          <p:nvSpPr>
            <p:cNvPr id="19" name="TextBox 18">
              <a:extLst>
                <a:ext uri="{FF2B5EF4-FFF2-40B4-BE49-F238E27FC236}">
                  <a16:creationId xmlns:a16="http://schemas.microsoft.com/office/drawing/2014/main" id="{0CCD8F46-A403-4EE4-A458-72CFEE801C40}"/>
                </a:ext>
              </a:extLst>
            </p:cNvPr>
            <p:cNvSpPr txBox="1"/>
            <p:nvPr/>
          </p:nvSpPr>
          <p:spPr>
            <a:xfrm>
              <a:off x="3376083" y="4335509"/>
              <a:ext cx="1463146" cy="360000"/>
            </a:xfrm>
            <a:prstGeom prst="rect">
              <a:avLst/>
            </a:prstGeom>
            <a:solidFill>
              <a:schemeClr val="bg1"/>
            </a:solidFill>
            <a:ln w="6350" cap="flat" cmpd="sng" algn="ctr">
              <a:solidFill>
                <a:srgbClr val="1429A0"/>
              </a:solidFill>
              <a:prstDash val="solid"/>
            </a:ln>
            <a:effectLst/>
          </p:spPr>
          <p:txBody>
            <a:bodyPr wrap="none" lIns="0" tIns="0" rIns="0" bIns="0" rtlCol="0" anchor="ctr">
              <a:noAutofit/>
              <a:scene3d>
                <a:camera prst="orthographicFront"/>
                <a:lightRig rig="threePt" dir="t"/>
              </a:scene3d>
              <a:sp3d>
                <a:bevelT w="0" h="6350"/>
              </a:sp3d>
            </a:bodyPr>
            <a:lstStyle>
              <a:defPPr>
                <a:defRPr lang="en-US"/>
              </a:defPPr>
              <a:lvl1pPr algn="ctr" defTabSz="914400">
                <a:defRPr sz="800">
                  <a:solidFill>
                    <a:srgbClr val="0077C8"/>
                  </a:solidFill>
                  <a:latin typeface="SamsungOne 700" panose="020B0803030303020204" pitchFamily="34" charset="0"/>
                  <a:ea typeface="SamsungOne 700" panose="020B0803030303020204" pitchFamily="34" charset="0"/>
                </a:defRPr>
              </a:lvl1pPr>
            </a:lstStyle>
            <a:p>
              <a:r>
                <a:rPr lang="en-US" altLang="ko-KR" sz="1100" dirty="0">
                  <a:solidFill>
                    <a:srgbClr val="1429A0"/>
                  </a:solidFill>
                </a:rPr>
                <a:t>Cross Validate</a:t>
              </a:r>
              <a:endParaRPr lang="en-US" sz="1100" dirty="0">
                <a:solidFill>
                  <a:srgbClr val="1429A0"/>
                </a:solidFill>
              </a:endParaRPr>
            </a:p>
          </p:txBody>
        </p:sp>
        <p:cxnSp>
          <p:nvCxnSpPr>
            <p:cNvPr id="20" name="Straight Arrow Connector 6">
              <a:extLst>
                <a:ext uri="{FF2B5EF4-FFF2-40B4-BE49-F238E27FC236}">
                  <a16:creationId xmlns:a16="http://schemas.microsoft.com/office/drawing/2014/main" id="{E7503D1E-ABAE-476E-9E8F-738B0B6DD536}"/>
                </a:ext>
              </a:extLst>
            </p:cNvPr>
            <p:cNvCxnSpPr>
              <a:stCxn id="18" idx="3"/>
              <a:endCxn id="19" idx="1"/>
            </p:cNvCxnSpPr>
            <p:nvPr/>
          </p:nvCxnSpPr>
          <p:spPr>
            <a:xfrm>
              <a:off x="2958042" y="4515509"/>
              <a:ext cx="418041" cy="0"/>
            </a:xfrm>
            <a:prstGeom prst="straightConnector1">
              <a:avLst/>
            </a:prstGeom>
            <a:ln w="12700">
              <a:solidFill>
                <a:srgbClr val="1429A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D635058-C843-4A23-BB0C-6E88FAACD9EA}"/>
                </a:ext>
              </a:extLst>
            </p:cNvPr>
            <p:cNvSpPr txBox="1"/>
            <p:nvPr/>
          </p:nvSpPr>
          <p:spPr>
            <a:xfrm>
              <a:off x="5954006" y="4335509"/>
              <a:ext cx="1463146" cy="360000"/>
            </a:xfrm>
            <a:prstGeom prst="rect">
              <a:avLst/>
            </a:prstGeom>
            <a:solidFill>
              <a:schemeClr val="bg1"/>
            </a:solidFill>
            <a:ln w="6350" cap="flat" cmpd="sng" algn="ctr">
              <a:solidFill>
                <a:srgbClr val="0033CC"/>
              </a:solidFill>
              <a:prstDash val="solid"/>
            </a:ln>
            <a:effectLst/>
          </p:spPr>
          <p:txBody>
            <a:bodyPr wrap="none" lIns="0" tIns="0" rIns="0" bIns="0" rtlCol="0" anchor="ctr">
              <a:noAutofit/>
              <a:scene3d>
                <a:camera prst="orthographicFront"/>
                <a:lightRig rig="threePt" dir="t"/>
              </a:scene3d>
              <a:sp3d>
                <a:bevelT w="0" h="6350"/>
              </a:sp3d>
            </a:bodyPr>
            <a:lstStyle>
              <a:defPPr>
                <a:defRPr lang="en-US"/>
              </a:defPPr>
              <a:lvl1pPr algn="ctr" defTabSz="914400">
                <a:defRPr sz="800">
                  <a:solidFill>
                    <a:srgbClr val="0033CC"/>
                  </a:solidFill>
                  <a:latin typeface="SamsungOne 700" panose="020B0803030303020204" pitchFamily="34" charset="0"/>
                  <a:ea typeface="SamsungOne 700" panose="020B0803030303020204" pitchFamily="34" charset="0"/>
                </a:defRPr>
              </a:lvl1pPr>
            </a:lstStyle>
            <a:p>
              <a:r>
                <a:rPr lang="en-US" altLang="ko-KR" sz="1100" dirty="0">
                  <a:solidFill>
                    <a:srgbClr val="1429A0"/>
                  </a:solidFill>
                </a:rPr>
                <a:t>Evaluate</a:t>
              </a:r>
              <a:endParaRPr lang="en-US" sz="1100" dirty="0">
                <a:solidFill>
                  <a:srgbClr val="1429A0"/>
                </a:solidFill>
              </a:endParaRPr>
            </a:p>
          </p:txBody>
        </p:sp>
        <p:sp>
          <p:nvSpPr>
            <p:cNvPr id="22" name="TextBox 21">
              <a:extLst>
                <a:ext uri="{FF2B5EF4-FFF2-40B4-BE49-F238E27FC236}">
                  <a16:creationId xmlns:a16="http://schemas.microsoft.com/office/drawing/2014/main" id="{9CABC8FF-F021-4356-9A57-6964C04207D9}"/>
                </a:ext>
              </a:extLst>
            </p:cNvPr>
            <p:cNvSpPr txBox="1"/>
            <p:nvPr/>
          </p:nvSpPr>
          <p:spPr>
            <a:xfrm>
              <a:off x="2608606" y="3914297"/>
              <a:ext cx="923330"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200">
                  <a:solidFill>
                    <a:srgbClr val="0077C8"/>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rgbClr val="1429A0"/>
                  </a:solidFill>
                </a:rPr>
                <a:t>Training Data</a:t>
              </a:r>
            </a:p>
          </p:txBody>
        </p:sp>
        <p:sp>
          <p:nvSpPr>
            <p:cNvPr id="27" name="TextBox 26">
              <a:extLst>
                <a:ext uri="{FF2B5EF4-FFF2-40B4-BE49-F238E27FC236}">
                  <a16:creationId xmlns:a16="http://schemas.microsoft.com/office/drawing/2014/main" id="{6CC5355D-8845-4FFB-B189-761E6701DD8F}"/>
                </a:ext>
              </a:extLst>
            </p:cNvPr>
            <p:cNvSpPr txBox="1"/>
            <p:nvPr/>
          </p:nvSpPr>
          <p:spPr>
            <a:xfrm>
              <a:off x="6253570" y="3914297"/>
              <a:ext cx="864018"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200">
                  <a:solidFill>
                    <a:srgbClr val="0033CC"/>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dirty="0">
                  <a:solidFill>
                    <a:srgbClr val="1429A0"/>
                  </a:solidFill>
                </a:rPr>
                <a:t>Testing Data</a:t>
              </a:r>
              <a:endParaRPr lang="en-US" dirty="0">
                <a:solidFill>
                  <a:srgbClr val="1429A0"/>
                </a:solidFill>
              </a:endParaRPr>
            </a:p>
          </p:txBody>
        </p:sp>
        <p:sp>
          <p:nvSpPr>
            <p:cNvPr id="28" name="화살표: 아래쪽 6">
              <a:extLst>
                <a:ext uri="{FF2B5EF4-FFF2-40B4-BE49-F238E27FC236}">
                  <a16:creationId xmlns:a16="http://schemas.microsoft.com/office/drawing/2014/main" id="{47718933-A8B1-4DA3-8577-07A99309DD76}"/>
                </a:ext>
              </a:extLst>
            </p:cNvPr>
            <p:cNvSpPr/>
            <p:nvPr/>
          </p:nvSpPr>
          <p:spPr>
            <a:xfrm rot="16200000">
              <a:off x="5283656" y="4303852"/>
              <a:ext cx="332326" cy="450987"/>
            </a:xfrm>
            <a:prstGeom prst="downArrow">
              <a:avLst>
                <a:gd name="adj1" fmla="val 56781"/>
                <a:gd name="adj2" fmla="val 5686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defTabSz="914400" latinLnBrk="1">
                <a:defRPr/>
              </a:pPr>
              <a:endParaRPr lang="ko-KR" altLang="en-US" dirty="0">
                <a:solidFill>
                  <a:schemeClr val="bg1">
                    <a:lumMod val="65000"/>
                  </a:schemeClr>
                </a:solidFill>
                <a:latin typeface="SamsungOne 400" panose="020B0503030303020204" pitchFamily="34" charset="0"/>
                <a:ea typeface="KoPub돋움체 Bold" panose="02020603020101020101" pitchFamily="18" charset="-127"/>
              </a:endParaRPr>
            </a:p>
          </p:txBody>
        </p:sp>
      </p:grpSp>
    </p:spTree>
    <p:extLst>
      <p:ext uri="{BB962C8B-B14F-4D97-AF65-F5344CB8AC3E}">
        <p14:creationId xmlns:p14="http://schemas.microsoft.com/office/powerpoint/2010/main" val="17837461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1.3. Preparation and Division of Dataset</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Cross-Validation:</a:t>
            </a:r>
          </a:p>
        </p:txBody>
      </p:sp>
      <p:sp>
        <p:nvSpPr>
          <p:cNvPr id="26" name="직사각형 25">
            <a:extLst>
              <a:ext uri="{FF2B5EF4-FFF2-40B4-BE49-F238E27FC236}">
                <a16:creationId xmlns:a16="http://schemas.microsoft.com/office/drawing/2014/main" id="{E0E9A875-855D-4DD3-BA61-C3F6A0D3F901}"/>
              </a:ext>
            </a:extLst>
          </p:cNvPr>
          <p:cNvSpPr/>
          <p:nvPr/>
        </p:nvSpPr>
        <p:spPr>
          <a:xfrm>
            <a:off x="671261" y="1700808"/>
            <a:ext cx="8632825" cy="15560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1) Split the data into a training set and a testing set.</a:t>
            </a:r>
          </a:p>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2) Further subdivide the training set into a smaller training and a validation set.</a:t>
            </a:r>
          </a:p>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3) Train the model with the smaller training set.</a:t>
            </a:r>
          </a:p>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4) Evaluate the errors with the validation set.</a:t>
            </a:r>
          </a:p>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5) Repeat from step 2) a few times.</a:t>
            </a:r>
          </a:p>
        </p:txBody>
      </p:sp>
    </p:spTree>
    <p:extLst>
      <p:ext uri="{BB962C8B-B14F-4D97-AF65-F5344CB8AC3E}">
        <p14:creationId xmlns:p14="http://schemas.microsoft.com/office/powerpoint/2010/main" val="15035912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1.3. Preparation and Division of Dataset</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Cross-Validation method: k-Fold</a:t>
            </a:r>
          </a:p>
        </p:txBody>
      </p:sp>
      <p:sp>
        <p:nvSpPr>
          <p:cNvPr id="26" name="직사각형 25">
            <a:extLst>
              <a:ext uri="{FF2B5EF4-FFF2-40B4-BE49-F238E27FC236}">
                <a16:creationId xmlns:a16="http://schemas.microsoft.com/office/drawing/2014/main" id="{E0E9A875-855D-4DD3-BA61-C3F6A0D3F901}"/>
              </a:ext>
            </a:extLst>
          </p:cNvPr>
          <p:cNvSpPr/>
          <p:nvPr/>
        </p:nvSpPr>
        <p:spPr>
          <a:xfrm>
            <a:off x="671261" y="45715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Subdivide the training dataset into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𝑘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equal parts. Then, apply sequentially.</a:t>
            </a:r>
          </a:p>
        </p:txBody>
      </p:sp>
      <p:grpSp>
        <p:nvGrpSpPr>
          <p:cNvPr id="2" name="그룹 1">
            <a:extLst>
              <a:ext uri="{FF2B5EF4-FFF2-40B4-BE49-F238E27FC236}">
                <a16:creationId xmlns:a16="http://schemas.microsoft.com/office/drawing/2014/main" id="{2E264061-4C7B-4523-AC0A-39B3DDD1E62B}"/>
              </a:ext>
            </a:extLst>
          </p:cNvPr>
          <p:cNvGrpSpPr/>
          <p:nvPr/>
        </p:nvGrpSpPr>
        <p:grpSpPr>
          <a:xfrm>
            <a:off x="681315" y="1916113"/>
            <a:ext cx="8545660" cy="2370894"/>
            <a:chOff x="681315" y="1885951"/>
            <a:chExt cx="8545660" cy="2370894"/>
          </a:xfrm>
        </p:grpSpPr>
        <p:grpSp>
          <p:nvGrpSpPr>
            <p:cNvPr id="7" name="그룹 6">
              <a:extLst>
                <a:ext uri="{FF2B5EF4-FFF2-40B4-BE49-F238E27FC236}">
                  <a16:creationId xmlns:a16="http://schemas.microsoft.com/office/drawing/2014/main" id="{0A4F641C-4255-4CB9-B05D-C8CBE876D541}"/>
                </a:ext>
              </a:extLst>
            </p:cNvPr>
            <p:cNvGrpSpPr/>
            <p:nvPr/>
          </p:nvGrpSpPr>
          <p:grpSpPr>
            <a:xfrm>
              <a:off x="8059420" y="3562044"/>
              <a:ext cx="1167555" cy="694801"/>
              <a:chOff x="8089900" y="4692622"/>
              <a:chExt cx="1167555" cy="694801"/>
            </a:xfrm>
          </p:grpSpPr>
          <p:grpSp>
            <p:nvGrpSpPr>
              <p:cNvPr id="8" name="그룹 7">
                <a:extLst>
                  <a:ext uri="{FF2B5EF4-FFF2-40B4-BE49-F238E27FC236}">
                    <a16:creationId xmlns:a16="http://schemas.microsoft.com/office/drawing/2014/main" id="{4BEBB7BB-AC02-44F1-90AF-159B5090EF22}"/>
                  </a:ext>
                </a:extLst>
              </p:cNvPr>
              <p:cNvGrpSpPr/>
              <p:nvPr/>
            </p:nvGrpSpPr>
            <p:grpSpPr>
              <a:xfrm>
                <a:off x="8089900" y="4692622"/>
                <a:ext cx="303217" cy="694801"/>
                <a:chOff x="8215579" y="4549539"/>
                <a:chExt cx="177538" cy="764289"/>
              </a:xfrm>
            </p:grpSpPr>
            <p:sp>
              <p:nvSpPr>
                <p:cNvPr id="10" name="Rectangle 36">
                  <a:extLst>
                    <a:ext uri="{FF2B5EF4-FFF2-40B4-BE49-F238E27FC236}">
                      <a16:creationId xmlns:a16="http://schemas.microsoft.com/office/drawing/2014/main" id="{36B3846D-219E-40EA-8595-76074917C9C7}"/>
                    </a:ext>
                  </a:extLst>
                </p:cNvPr>
                <p:cNvSpPr/>
                <p:nvPr/>
              </p:nvSpPr>
              <p:spPr>
                <a:xfrm>
                  <a:off x="8215579" y="4549539"/>
                  <a:ext cx="177538" cy="311841"/>
                </a:xfrm>
                <a:prstGeom prst="rect">
                  <a:avLst/>
                </a:prstGeom>
                <a:solidFill>
                  <a:srgbClr val="1429A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93EB0"/>
                    </a:solidFill>
                  </a:endParaRPr>
                </a:p>
              </p:txBody>
            </p:sp>
            <p:sp>
              <p:nvSpPr>
                <p:cNvPr id="11" name="Rectangle 37">
                  <a:extLst>
                    <a:ext uri="{FF2B5EF4-FFF2-40B4-BE49-F238E27FC236}">
                      <a16:creationId xmlns:a16="http://schemas.microsoft.com/office/drawing/2014/main" id="{D168565A-4B0F-4BF5-A604-D31BB3FF2FF9}"/>
                    </a:ext>
                  </a:extLst>
                </p:cNvPr>
                <p:cNvSpPr/>
                <p:nvPr/>
              </p:nvSpPr>
              <p:spPr>
                <a:xfrm>
                  <a:off x="8215579" y="5001987"/>
                  <a:ext cx="177538" cy="311841"/>
                </a:xfrm>
                <a:prstGeom prst="rect">
                  <a:avLst/>
                </a:prstGeom>
                <a:solidFill>
                  <a:schemeClr val="bg1">
                    <a:lumMod val="85000"/>
                  </a:schemeClr>
                </a:solid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7BC49EE7-642A-456B-A8E7-8876EBABDB90}"/>
                  </a:ext>
                </a:extLst>
              </p:cNvPr>
              <p:cNvSpPr txBox="1"/>
              <p:nvPr/>
            </p:nvSpPr>
            <p:spPr>
              <a:xfrm>
                <a:off x="8492822" y="4738187"/>
                <a:ext cx="764633"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ko-KR" sz="1300" dirty="0"/>
                  <a:t>Validation</a:t>
                </a:r>
                <a:br>
                  <a:rPr lang="en-US" altLang="ko-KR" sz="1300" dirty="0"/>
                </a:br>
                <a:endParaRPr lang="en-US" altLang="ko-KR" sz="1300" dirty="0"/>
              </a:p>
              <a:p>
                <a:pPr algn="l"/>
                <a:r>
                  <a:rPr lang="en-US" sz="1300" dirty="0"/>
                  <a:t>Training</a:t>
                </a:r>
              </a:p>
            </p:txBody>
          </p:sp>
        </p:grpSp>
        <p:grpSp>
          <p:nvGrpSpPr>
            <p:cNvPr id="13" name="그룹 12">
              <a:extLst>
                <a:ext uri="{FF2B5EF4-FFF2-40B4-BE49-F238E27FC236}">
                  <a16:creationId xmlns:a16="http://schemas.microsoft.com/office/drawing/2014/main" id="{09287AB5-8642-42BE-BDA5-0611AC165A8E}"/>
                </a:ext>
              </a:extLst>
            </p:cNvPr>
            <p:cNvGrpSpPr/>
            <p:nvPr/>
          </p:nvGrpSpPr>
          <p:grpSpPr>
            <a:xfrm>
              <a:off x="681315" y="1885951"/>
              <a:ext cx="7101537" cy="623681"/>
              <a:chOff x="711795" y="2612503"/>
              <a:chExt cx="7101537" cy="623681"/>
            </a:xfrm>
          </p:grpSpPr>
          <p:sp>
            <p:nvSpPr>
              <p:cNvPr id="21" name="Rectangle 3">
                <a:extLst>
                  <a:ext uri="{FF2B5EF4-FFF2-40B4-BE49-F238E27FC236}">
                    <a16:creationId xmlns:a16="http://schemas.microsoft.com/office/drawing/2014/main" id="{8A055DB0-0D14-41A3-9D9E-226F0A87D20A}"/>
                  </a:ext>
                </a:extLst>
              </p:cNvPr>
              <p:cNvSpPr/>
              <p:nvPr/>
            </p:nvSpPr>
            <p:spPr>
              <a:xfrm>
                <a:off x="711795" y="2612503"/>
                <a:ext cx="7101537" cy="623681"/>
              </a:xfrm>
              <a:prstGeom prst="rect">
                <a:avLst/>
              </a:prstGeom>
              <a:solidFill>
                <a:schemeClr val="bg1">
                  <a:lumMod val="85000"/>
                </a:schemeClr>
              </a:solid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5">
                <a:extLst>
                  <a:ext uri="{FF2B5EF4-FFF2-40B4-BE49-F238E27FC236}">
                    <a16:creationId xmlns:a16="http://schemas.microsoft.com/office/drawing/2014/main" id="{D6C12DD6-4E3E-48CA-BBEC-0D029DC9DDF2}"/>
                  </a:ext>
                </a:extLst>
              </p:cNvPr>
              <p:cNvSpPr/>
              <p:nvPr/>
            </p:nvSpPr>
            <p:spPr>
              <a:xfrm>
                <a:off x="711795" y="2612503"/>
                <a:ext cx="2368363" cy="623681"/>
              </a:xfrm>
              <a:prstGeom prst="rect">
                <a:avLst/>
              </a:prstGeom>
              <a:solidFill>
                <a:srgbClr val="1429A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93EB0"/>
                  </a:solidFill>
                </a:endParaRPr>
              </a:p>
            </p:txBody>
          </p:sp>
        </p:grpSp>
        <p:grpSp>
          <p:nvGrpSpPr>
            <p:cNvPr id="14" name="그룹 13">
              <a:extLst>
                <a:ext uri="{FF2B5EF4-FFF2-40B4-BE49-F238E27FC236}">
                  <a16:creationId xmlns:a16="http://schemas.microsoft.com/office/drawing/2014/main" id="{EA1C8987-9591-4E18-AA03-69FD60885F37}"/>
                </a:ext>
              </a:extLst>
            </p:cNvPr>
            <p:cNvGrpSpPr/>
            <p:nvPr/>
          </p:nvGrpSpPr>
          <p:grpSpPr>
            <a:xfrm>
              <a:off x="681315" y="2755914"/>
              <a:ext cx="7101537" cy="623681"/>
              <a:chOff x="711795" y="3676218"/>
              <a:chExt cx="7101537" cy="623681"/>
            </a:xfrm>
          </p:grpSpPr>
          <p:sp>
            <p:nvSpPr>
              <p:cNvPr id="19" name="Rectangle 16">
                <a:extLst>
                  <a:ext uri="{FF2B5EF4-FFF2-40B4-BE49-F238E27FC236}">
                    <a16:creationId xmlns:a16="http://schemas.microsoft.com/office/drawing/2014/main" id="{F67D5F8E-90CA-411A-B7EF-6A145C033ECE}"/>
                  </a:ext>
                </a:extLst>
              </p:cNvPr>
              <p:cNvSpPr/>
              <p:nvPr/>
            </p:nvSpPr>
            <p:spPr>
              <a:xfrm>
                <a:off x="711795" y="3676218"/>
                <a:ext cx="7101537" cy="623681"/>
              </a:xfrm>
              <a:prstGeom prst="rect">
                <a:avLst/>
              </a:prstGeom>
              <a:solidFill>
                <a:schemeClr val="bg1">
                  <a:lumMod val="85000"/>
                </a:schemeClr>
              </a:solid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38">
                <a:extLst>
                  <a:ext uri="{FF2B5EF4-FFF2-40B4-BE49-F238E27FC236}">
                    <a16:creationId xmlns:a16="http://schemas.microsoft.com/office/drawing/2014/main" id="{E7159259-6B50-4A44-8F27-6E1C9DEA4CD4}"/>
                  </a:ext>
                </a:extLst>
              </p:cNvPr>
              <p:cNvSpPr/>
              <p:nvPr/>
            </p:nvSpPr>
            <p:spPr>
              <a:xfrm>
                <a:off x="3101991" y="3676218"/>
                <a:ext cx="2368363" cy="623681"/>
              </a:xfrm>
              <a:prstGeom prst="rect">
                <a:avLst/>
              </a:prstGeom>
              <a:solidFill>
                <a:srgbClr val="1429A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93EB0"/>
                  </a:solidFill>
                </a:endParaRPr>
              </a:p>
            </p:txBody>
          </p:sp>
        </p:grpSp>
        <p:grpSp>
          <p:nvGrpSpPr>
            <p:cNvPr id="16" name="그룹 15">
              <a:extLst>
                <a:ext uri="{FF2B5EF4-FFF2-40B4-BE49-F238E27FC236}">
                  <a16:creationId xmlns:a16="http://schemas.microsoft.com/office/drawing/2014/main" id="{B1854C07-AEE3-48E7-99ED-28D6452666B9}"/>
                </a:ext>
              </a:extLst>
            </p:cNvPr>
            <p:cNvGrpSpPr/>
            <p:nvPr/>
          </p:nvGrpSpPr>
          <p:grpSpPr>
            <a:xfrm>
              <a:off x="681315" y="3625878"/>
              <a:ext cx="7101537" cy="623681"/>
              <a:chOff x="711795" y="4735398"/>
              <a:chExt cx="7101537" cy="623681"/>
            </a:xfrm>
          </p:grpSpPr>
          <p:sp>
            <p:nvSpPr>
              <p:cNvPr id="17" name="Rectangle 17">
                <a:extLst>
                  <a:ext uri="{FF2B5EF4-FFF2-40B4-BE49-F238E27FC236}">
                    <a16:creationId xmlns:a16="http://schemas.microsoft.com/office/drawing/2014/main" id="{3D39224B-FFD8-4F81-BAA8-37D143BD71E7}"/>
                  </a:ext>
                </a:extLst>
              </p:cNvPr>
              <p:cNvSpPr/>
              <p:nvPr/>
            </p:nvSpPr>
            <p:spPr>
              <a:xfrm>
                <a:off x="711795" y="4735398"/>
                <a:ext cx="7101537" cy="623681"/>
              </a:xfrm>
              <a:prstGeom prst="rect">
                <a:avLst/>
              </a:prstGeom>
              <a:solidFill>
                <a:schemeClr val="bg1">
                  <a:lumMod val="85000"/>
                </a:schemeClr>
              </a:solid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39">
                <a:extLst>
                  <a:ext uri="{FF2B5EF4-FFF2-40B4-BE49-F238E27FC236}">
                    <a16:creationId xmlns:a16="http://schemas.microsoft.com/office/drawing/2014/main" id="{B6F62704-94E0-47AA-B137-2B26473700A9}"/>
                  </a:ext>
                </a:extLst>
              </p:cNvPr>
              <p:cNvSpPr/>
              <p:nvPr/>
            </p:nvSpPr>
            <p:spPr>
              <a:xfrm>
                <a:off x="5444969" y="4735398"/>
                <a:ext cx="2368363" cy="623681"/>
              </a:xfrm>
              <a:prstGeom prst="rect">
                <a:avLst/>
              </a:prstGeom>
              <a:solidFill>
                <a:srgbClr val="1429A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93EB0"/>
                  </a:solidFill>
                </a:endParaRPr>
              </a:p>
            </p:txBody>
          </p:sp>
        </p:grpSp>
      </p:grpSp>
    </p:spTree>
    <p:extLst>
      <p:ext uri="{BB962C8B-B14F-4D97-AF65-F5344CB8AC3E}">
        <p14:creationId xmlns:p14="http://schemas.microsoft.com/office/powerpoint/2010/main" val="4496101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1.3. Preparation and Division of Dataset</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Cross-Validation method: Leave One Out (LOO)</a:t>
            </a:r>
          </a:p>
        </p:txBody>
      </p:sp>
      <p:sp>
        <p:nvSpPr>
          <p:cNvPr id="26" name="직사각형 25">
            <a:extLst>
              <a:ext uri="{FF2B5EF4-FFF2-40B4-BE49-F238E27FC236}">
                <a16:creationId xmlns:a16="http://schemas.microsoft.com/office/drawing/2014/main" id="{E0E9A875-855D-4DD3-BA61-C3F6A0D3F901}"/>
              </a:ext>
            </a:extLst>
          </p:cNvPr>
          <p:cNvSpPr/>
          <p:nvPr/>
        </p:nvSpPr>
        <p:spPr>
          <a:xfrm>
            <a:off x="671261" y="45715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Leave only one observation for validation. Apply sequentially. More time consuming. </a:t>
            </a:r>
          </a:p>
        </p:txBody>
      </p:sp>
      <p:grpSp>
        <p:nvGrpSpPr>
          <p:cNvPr id="12" name="그룹 11">
            <a:extLst>
              <a:ext uri="{FF2B5EF4-FFF2-40B4-BE49-F238E27FC236}">
                <a16:creationId xmlns:a16="http://schemas.microsoft.com/office/drawing/2014/main" id="{369F0658-3EEF-49F3-AFCB-716CC6E9A23F}"/>
              </a:ext>
            </a:extLst>
          </p:cNvPr>
          <p:cNvGrpSpPr/>
          <p:nvPr/>
        </p:nvGrpSpPr>
        <p:grpSpPr>
          <a:xfrm>
            <a:off x="681315" y="1916113"/>
            <a:ext cx="8545660" cy="2370894"/>
            <a:chOff x="681315" y="1916113"/>
            <a:chExt cx="8545660" cy="2370894"/>
          </a:xfrm>
        </p:grpSpPr>
        <p:grpSp>
          <p:nvGrpSpPr>
            <p:cNvPr id="6" name="그룹 5">
              <a:extLst>
                <a:ext uri="{FF2B5EF4-FFF2-40B4-BE49-F238E27FC236}">
                  <a16:creationId xmlns:a16="http://schemas.microsoft.com/office/drawing/2014/main" id="{FBC59562-0D9B-4888-9F0A-F13A316A7847}"/>
                </a:ext>
              </a:extLst>
            </p:cNvPr>
            <p:cNvGrpSpPr/>
            <p:nvPr/>
          </p:nvGrpSpPr>
          <p:grpSpPr>
            <a:xfrm>
              <a:off x="8059420" y="3592206"/>
              <a:ext cx="1167555" cy="694801"/>
              <a:chOff x="8059420" y="3592206"/>
              <a:chExt cx="1167555" cy="694801"/>
            </a:xfrm>
          </p:grpSpPr>
          <p:grpSp>
            <p:nvGrpSpPr>
              <p:cNvPr id="8" name="그룹 7">
                <a:extLst>
                  <a:ext uri="{FF2B5EF4-FFF2-40B4-BE49-F238E27FC236}">
                    <a16:creationId xmlns:a16="http://schemas.microsoft.com/office/drawing/2014/main" id="{4BEBB7BB-AC02-44F1-90AF-159B5090EF22}"/>
                  </a:ext>
                </a:extLst>
              </p:cNvPr>
              <p:cNvGrpSpPr/>
              <p:nvPr/>
            </p:nvGrpSpPr>
            <p:grpSpPr>
              <a:xfrm>
                <a:off x="8059420" y="3592206"/>
                <a:ext cx="303217" cy="694801"/>
                <a:chOff x="8215579" y="4549539"/>
                <a:chExt cx="177538" cy="764289"/>
              </a:xfrm>
            </p:grpSpPr>
            <p:sp>
              <p:nvSpPr>
                <p:cNvPr id="10" name="Rectangle 36">
                  <a:extLst>
                    <a:ext uri="{FF2B5EF4-FFF2-40B4-BE49-F238E27FC236}">
                      <a16:creationId xmlns:a16="http://schemas.microsoft.com/office/drawing/2014/main" id="{36B3846D-219E-40EA-8595-76074917C9C7}"/>
                    </a:ext>
                  </a:extLst>
                </p:cNvPr>
                <p:cNvSpPr/>
                <p:nvPr/>
              </p:nvSpPr>
              <p:spPr>
                <a:xfrm>
                  <a:off x="8215579" y="4549539"/>
                  <a:ext cx="177538" cy="311841"/>
                </a:xfrm>
                <a:prstGeom prst="rect">
                  <a:avLst/>
                </a:prstGeom>
                <a:solidFill>
                  <a:srgbClr val="1429A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93EB0"/>
                    </a:solidFill>
                  </a:endParaRPr>
                </a:p>
              </p:txBody>
            </p:sp>
            <p:sp>
              <p:nvSpPr>
                <p:cNvPr id="11" name="Rectangle 37">
                  <a:extLst>
                    <a:ext uri="{FF2B5EF4-FFF2-40B4-BE49-F238E27FC236}">
                      <a16:creationId xmlns:a16="http://schemas.microsoft.com/office/drawing/2014/main" id="{D168565A-4B0F-4BF5-A604-D31BB3FF2FF9}"/>
                    </a:ext>
                  </a:extLst>
                </p:cNvPr>
                <p:cNvSpPr/>
                <p:nvPr/>
              </p:nvSpPr>
              <p:spPr>
                <a:xfrm>
                  <a:off x="8215579" y="5001987"/>
                  <a:ext cx="177538" cy="311841"/>
                </a:xfrm>
                <a:prstGeom prst="rect">
                  <a:avLst/>
                </a:prstGeom>
                <a:solidFill>
                  <a:schemeClr val="bg1">
                    <a:lumMod val="85000"/>
                  </a:schemeClr>
                </a:solid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7BC49EE7-642A-456B-A8E7-8876EBABDB90}"/>
                  </a:ext>
                </a:extLst>
              </p:cNvPr>
              <p:cNvSpPr txBox="1"/>
              <p:nvPr/>
            </p:nvSpPr>
            <p:spPr>
              <a:xfrm>
                <a:off x="8462342" y="3637771"/>
                <a:ext cx="764633"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ko-KR" sz="1300" dirty="0"/>
                  <a:t>Validation</a:t>
                </a:r>
                <a:br>
                  <a:rPr lang="en-US" altLang="ko-KR" sz="1300" dirty="0"/>
                </a:br>
                <a:endParaRPr lang="en-US" altLang="ko-KR" sz="1300" dirty="0"/>
              </a:p>
              <a:p>
                <a:pPr algn="l"/>
                <a:r>
                  <a:rPr lang="en-US" sz="1300" dirty="0"/>
                  <a:t>Training</a:t>
                </a:r>
              </a:p>
            </p:txBody>
          </p:sp>
        </p:grpSp>
        <p:grpSp>
          <p:nvGrpSpPr>
            <p:cNvPr id="3" name="그룹 2">
              <a:extLst>
                <a:ext uri="{FF2B5EF4-FFF2-40B4-BE49-F238E27FC236}">
                  <a16:creationId xmlns:a16="http://schemas.microsoft.com/office/drawing/2014/main" id="{077AD57E-319B-468D-B708-5906C4CB0F23}"/>
                </a:ext>
              </a:extLst>
            </p:cNvPr>
            <p:cNvGrpSpPr/>
            <p:nvPr/>
          </p:nvGrpSpPr>
          <p:grpSpPr>
            <a:xfrm>
              <a:off x="681315" y="1916113"/>
              <a:ext cx="7101537" cy="623681"/>
              <a:chOff x="681315" y="1916113"/>
              <a:chExt cx="7101537" cy="623681"/>
            </a:xfrm>
          </p:grpSpPr>
          <p:sp>
            <p:nvSpPr>
              <p:cNvPr id="21" name="Rectangle 3">
                <a:extLst>
                  <a:ext uri="{FF2B5EF4-FFF2-40B4-BE49-F238E27FC236}">
                    <a16:creationId xmlns:a16="http://schemas.microsoft.com/office/drawing/2014/main" id="{8A055DB0-0D14-41A3-9D9E-226F0A87D20A}"/>
                  </a:ext>
                </a:extLst>
              </p:cNvPr>
              <p:cNvSpPr/>
              <p:nvPr/>
            </p:nvSpPr>
            <p:spPr>
              <a:xfrm>
                <a:off x="681315" y="1916113"/>
                <a:ext cx="7101537" cy="623681"/>
              </a:xfrm>
              <a:prstGeom prst="rect">
                <a:avLst/>
              </a:prstGeom>
              <a:solidFill>
                <a:schemeClr val="bg1">
                  <a:lumMod val="85000"/>
                </a:schemeClr>
              </a:solid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5">
                <a:extLst>
                  <a:ext uri="{FF2B5EF4-FFF2-40B4-BE49-F238E27FC236}">
                    <a16:creationId xmlns:a16="http://schemas.microsoft.com/office/drawing/2014/main" id="{D6C12DD6-4E3E-48CA-BBEC-0D029DC9DDF2}"/>
                  </a:ext>
                </a:extLst>
              </p:cNvPr>
              <p:cNvSpPr/>
              <p:nvPr/>
            </p:nvSpPr>
            <p:spPr>
              <a:xfrm>
                <a:off x="681316" y="1916113"/>
                <a:ext cx="166410" cy="623681"/>
              </a:xfrm>
              <a:prstGeom prst="rect">
                <a:avLst/>
              </a:prstGeom>
              <a:solidFill>
                <a:srgbClr val="1429A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93EB0"/>
                  </a:solidFill>
                </a:endParaRPr>
              </a:p>
            </p:txBody>
          </p:sp>
        </p:grpSp>
        <p:grpSp>
          <p:nvGrpSpPr>
            <p:cNvPr id="4" name="그룹 3">
              <a:extLst>
                <a:ext uri="{FF2B5EF4-FFF2-40B4-BE49-F238E27FC236}">
                  <a16:creationId xmlns:a16="http://schemas.microsoft.com/office/drawing/2014/main" id="{A62DC2F0-ACF7-4AED-A842-AC4CEBF806EE}"/>
                </a:ext>
              </a:extLst>
            </p:cNvPr>
            <p:cNvGrpSpPr/>
            <p:nvPr/>
          </p:nvGrpSpPr>
          <p:grpSpPr>
            <a:xfrm>
              <a:off x="681315" y="2786076"/>
              <a:ext cx="7101537" cy="623681"/>
              <a:chOff x="681315" y="2786076"/>
              <a:chExt cx="7101537" cy="623681"/>
            </a:xfrm>
          </p:grpSpPr>
          <p:sp>
            <p:nvSpPr>
              <p:cNvPr id="19" name="Rectangle 16">
                <a:extLst>
                  <a:ext uri="{FF2B5EF4-FFF2-40B4-BE49-F238E27FC236}">
                    <a16:creationId xmlns:a16="http://schemas.microsoft.com/office/drawing/2014/main" id="{F67D5F8E-90CA-411A-B7EF-6A145C033ECE}"/>
                  </a:ext>
                </a:extLst>
              </p:cNvPr>
              <p:cNvSpPr/>
              <p:nvPr/>
            </p:nvSpPr>
            <p:spPr>
              <a:xfrm>
                <a:off x="681315" y="2786076"/>
                <a:ext cx="7101537" cy="623681"/>
              </a:xfrm>
              <a:prstGeom prst="rect">
                <a:avLst/>
              </a:prstGeom>
              <a:solidFill>
                <a:schemeClr val="bg1">
                  <a:lumMod val="85000"/>
                </a:schemeClr>
              </a:solid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5">
                <a:extLst>
                  <a:ext uri="{FF2B5EF4-FFF2-40B4-BE49-F238E27FC236}">
                    <a16:creationId xmlns:a16="http://schemas.microsoft.com/office/drawing/2014/main" id="{4C411EAF-CC9B-4F4D-A35A-744947D072FD}"/>
                  </a:ext>
                </a:extLst>
              </p:cNvPr>
              <p:cNvSpPr/>
              <p:nvPr/>
            </p:nvSpPr>
            <p:spPr>
              <a:xfrm>
                <a:off x="847726" y="2786076"/>
                <a:ext cx="166410" cy="623681"/>
              </a:xfrm>
              <a:prstGeom prst="rect">
                <a:avLst/>
              </a:prstGeom>
              <a:solidFill>
                <a:srgbClr val="1429A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93EB0"/>
                  </a:solidFill>
                </a:endParaRPr>
              </a:p>
            </p:txBody>
          </p:sp>
        </p:grpSp>
        <p:grpSp>
          <p:nvGrpSpPr>
            <p:cNvPr id="5" name="그룹 4">
              <a:extLst>
                <a:ext uri="{FF2B5EF4-FFF2-40B4-BE49-F238E27FC236}">
                  <a16:creationId xmlns:a16="http://schemas.microsoft.com/office/drawing/2014/main" id="{65D5CE57-5D88-4736-8BE2-EAFBEDD7657E}"/>
                </a:ext>
              </a:extLst>
            </p:cNvPr>
            <p:cNvGrpSpPr/>
            <p:nvPr/>
          </p:nvGrpSpPr>
          <p:grpSpPr>
            <a:xfrm>
              <a:off x="681315" y="3656040"/>
              <a:ext cx="7101537" cy="630967"/>
              <a:chOff x="681315" y="3656040"/>
              <a:chExt cx="7101537" cy="630967"/>
            </a:xfrm>
          </p:grpSpPr>
          <p:sp>
            <p:nvSpPr>
              <p:cNvPr id="17" name="Rectangle 17">
                <a:extLst>
                  <a:ext uri="{FF2B5EF4-FFF2-40B4-BE49-F238E27FC236}">
                    <a16:creationId xmlns:a16="http://schemas.microsoft.com/office/drawing/2014/main" id="{3D39224B-FFD8-4F81-BAA8-37D143BD71E7}"/>
                  </a:ext>
                </a:extLst>
              </p:cNvPr>
              <p:cNvSpPr/>
              <p:nvPr/>
            </p:nvSpPr>
            <p:spPr>
              <a:xfrm>
                <a:off x="681315" y="3656040"/>
                <a:ext cx="7101537" cy="623681"/>
              </a:xfrm>
              <a:prstGeom prst="rect">
                <a:avLst/>
              </a:prstGeom>
              <a:solidFill>
                <a:schemeClr val="bg1">
                  <a:lumMod val="85000"/>
                </a:schemeClr>
              </a:solid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5">
                <a:extLst>
                  <a:ext uri="{FF2B5EF4-FFF2-40B4-BE49-F238E27FC236}">
                    <a16:creationId xmlns:a16="http://schemas.microsoft.com/office/drawing/2014/main" id="{01A67A72-9585-4166-A886-77C571BF382A}"/>
                  </a:ext>
                </a:extLst>
              </p:cNvPr>
              <p:cNvSpPr/>
              <p:nvPr/>
            </p:nvSpPr>
            <p:spPr>
              <a:xfrm>
                <a:off x="1014136" y="3663326"/>
                <a:ext cx="166410" cy="623681"/>
              </a:xfrm>
              <a:prstGeom prst="rect">
                <a:avLst/>
              </a:prstGeom>
              <a:solidFill>
                <a:srgbClr val="1429A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93EB0"/>
                  </a:solidFill>
                </a:endParaRPr>
              </a:p>
            </p:txBody>
          </p:sp>
        </p:grpSp>
      </p:grpSp>
    </p:spTree>
    <p:extLst>
      <p:ext uri="{BB962C8B-B14F-4D97-AF65-F5344CB8AC3E}">
        <p14:creationId xmlns:p14="http://schemas.microsoft.com/office/powerpoint/2010/main" val="33159304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1.3. Preparation and Division of Dataset</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5" name="직사각형 14">
            <a:extLst>
              <a:ext uri="{FF2B5EF4-FFF2-40B4-BE49-F238E27FC236}">
                <a16:creationId xmlns:a16="http://schemas.microsoft.com/office/drawing/2014/main" id="{ED19143F-DCA8-40CD-8857-C1A5DE2C12D0}"/>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Cross-Validation method: k-cross folding</a:t>
            </a:r>
          </a:p>
        </p:txBody>
      </p:sp>
      <p:grpSp>
        <p:nvGrpSpPr>
          <p:cNvPr id="3" name="그룹 2"/>
          <p:cNvGrpSpPr/>
          <p:nvPr/>
        </p:nvGrpSpPr>
        <p:grpSpPr>
          <a:xfrm>
            <a:off x="558923" y="1830216"/>
            <a:ext cx="8856227" cy="3836360"/>
            <a:chOff x="558923" y="1830216"/>
            <a:chExt cx="8856227" cy="3836360"/>
          </a:xfrm>
        </p:grpSpPr>
        <p:sp>
          <p:nvSpPr>
            <p:cNvPr id="90" name="직사각형 89"/>
            <p:cNvSpPr/>
            <p:nvPr/>
          </p:nvSpPr>
          <p:spPr>
            <a:xfrm>
              <a:off x="558923" y="1962214"/>
              <a:ext cx="8856227" cy="3430992"/>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직사각형 96">
              <a:extLst>
                <a:ext uri="{FF2B5EF4-FFF2-40B4-BE49-F238E27FC236}">
                  <a16:creationId xmlns:a16="http://schemas.microsoft.com/office/drawing/2014/main" id="{6F92E460-ECB8-448C-98FE-F1D217E82457}"/>
                </a:ext>
              </a:extLst>
            </p:cNvPr>
            <p:cNvSpPr/>
            <p:nvPr/>
          </p:nvSpPr>
          <p:spPr>
            <a:xfrm>
              <a:off x="2774897" y="5451132"/>
              <a:ext cx="435497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ctr">
                <a:spcAft>
                  <a:spcPts val="800"/>
                </a:spcAft>
                <a:buClr>
                  <a:srgbClr val="193EB0"/>
                </a:buClr>
              </a:pPr>
              <a:r>
                <a:rPr lang="en-US" altLang="ko-KR" sz="1400" dirty="0">
                  <a:solidFill>
                    <a:prstClr val="black">
                      <a:lumMod val="85000"/>
                      <a:lumOff val="15000"/>
                    </a:prstClr>
                  </a:solidFill>
                  <a:latin typeface="SamsungOne 400" panose="020B0503030303020204" pitchFamily="34" charset="0"/>
                  <a:ea typeface="SamsungOne 400" panose="020B0503030303020204" pitchFamily="34" charset="0"/>
                </a:rPr>
                <a:t>Final average accuracy (Round1, Round2, …, Round10)</a:t>
              </a:r>
            </a:p>
          </p:txBody>
        </p:sp>
        <p:grpSp>
          <p:nvGrpSpPr>
            <p:cNvPr id="20" name="그룹 19">
              <a:extLst>
                <a:ext uri="{FF2B5EF4-FFF2-40B4-BE49-F238E27FC236}">
                  <a16:creationId xmlns:a16="http://schemas.microsoft.com/office/drawing/2014/main" id="{B948B260-06CB-4AF0-A319-7CC3D5B77735}"/>
                </a:ext>
              </a:extLst>
            </p:cNvPr>
            <p:cNvGrpSpPr/>
            <p:nvPr/>
          </p:nvGrpSpPr>
          <p:grpSpPr>
            <a:xfrm>
              <a:off x="601327" y="2214044"/>
              <a:ext cx="8721607" cy="2961193"/>
              <a:chOff x="601327" y="2108559"/>
              <a:chExt cx="8721607" cy="2961193"/>
            </a:xfrm>
          </p:grpSpPr>
          <p:grpSp>
            <p:nvGrpSpPr>
              <p:cNvPr id="7" name="그룹 6">
                <a:extLst>
                  <a:ext uri="{FF2B5EF4-FFF2-40B4-BE49-F238E27FC236}">
                    <a16:creationId xmlns:a16="http://schemas.microsoft.com/office/drawing/2014/main" id="{953D2DEA-F522-411A-8D3D-3BA555AF2787}"/>
                  </a:ext>
                </a:extLst>
              </p:cNvPr>
              <p:cNvGrpSpPr/>
              <p:nvPr/>
            </p:nvGrpSpPr>
            <p:grpSpPr>
              <a:xfrm>
                <a:off x="1279880" y="2825006"/>
                <a:ext cx="7955346" cy="1980000"/>
                <a:chOff x="847725" y="2205038"/>
                <a:chExt cx="7955346" cy="1980000"/>
              </a:xfrm>
            </p:grpSpPr>
            <p:sp>
              <p:nvSpPr>
                <p:cNvPr id="2" name="직사각형 1">
                  <a:extLst>
                    <a:ext uri="{FF2B5EF4-FFF2-40B4-BE49-F238E27FC236}">
                      <a16:creationId xmlns:a16="http://schemas.microsoft.com/office/drawing/2014/main" id="{6D5F8AD1-F652-41E0-AA82-CF68689F0AF1}"/>
                    </a:ext>
                  </a:extLst>
                </p:cNvPr>
                <p:cNvSpPr/>
                <p:nvPr/>
              </p:nvSpPr>
              <p:spPr>
                <a:xfrm>
                  <a:off x="847725" y="2205038"/>
                  <a:ext cx="611299" cy="19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7" name="직사각형 26">
                  <a:extLst>
                    <a:ext uri="{FF2B5EF4-FFF2-40B4-BE49-F238E27FC236}">
                      <a16:creationId xmlns:a16="http://schemas.microsoft.com/office/drawing/2014/main" id="{9083031B-31D7-4546-B361-9433BD43DD3E}"/>
                    </a:ext>
                  </a:extLst>
                </p:cNvPr>
                <p:cNvSpPr/>
                <p:nvPr/>
              </p:nvSpPr>
              <p:spPr>
                <a:xfrm>
                  <a:off x="1663730" y="2205038"/>
                  <a:ext cx="611299" cy="19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98448B19-1EA9-4E3B-96FC-04FA135B547D}"/>
                    </a:ext>
                  </a:extLst>
                </p:cNvPr>
                <p:cNvSpPr/>
                <p:nvPr/>
              </p:nvSpPr>
              <p:spPr>
                <a:xfrm>
                  <a:off x="2479735" y="2205038"/>
                  <a:ext cx="611299" cy="19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AE5B5711-F454-4A14-AECC-2D6DC67EF486}"/>
                    </a:ext>
                  </a:extLst>
                </p:cNvPr>
                <p:cNvSpPr/>
                <p:nvPr/>
              </p:nvSpPr>
              <p:spPr>
                <a:xfrm>
                  <a:off x="3295740" y="2205038"/>
                  <a:ext cx="611299" cy="19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31">
                  <a:extLst>
                    <a:ext uri="{FF2B5EF4-FFF2-40B4-BE49-F238E27FC236}">
                      <a16:creationId xmlns:a16="http://schemas.microsoft.com/office/drawing/2014/main" id="{8FB1795D-6033-4F4F-8291-D64BD3E06C65}"/>
                    </a:ext>
                  </a:extLst>
                </p:cNvPr>
                <p:cNvSpPr/>
                <p:nvPr/>
              </p:nvSpPr>
              <p:spPr>
                <a:xfrm>
                  <a:off x="4111745" y="2205038"/>
                  <a:ext cx="611299" cy="19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직사각형 32">
                  <a:extLst>
                    <a:ext uri="{FF2B5EF4-FFF2-40B4-BE49-F238E27FC236}">
                      <a16:creationId xmlns:a16="http://schemas.microsoft.com/office/drawing/2014/main" id="{666E6378-D474-4288-A7E6-212C032EA3CE}"/>
                    </a:ext>
                  </a:extLst>
                </p:cNvPr>
                <p:cNvSpPr/>
                <p:nvPr/>
              </p:nvSpPr>
              <p:spPr>
                <a:xfrm>
                  <a:off x="4927750" y="2205038"/>
                  <a:ext cx="611299" cy="19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9C00066E-00A5-45B1-ADA7-3153BD9CBED6}"/>
                    </a:ext>
                  </a:extLst>
                </p:cNvPr>
                <p:cNvSpPr/>
                <p:nvPr/>
              </p:nvSpPr>
              <p:spPr>
                <a:xfrm>
                  <a:off x="5743755" y="2205038"/>
                  <a:ext cx="611299" cy="19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B80A3EB9-959E-47A5-97DE-8865078DF8F9}"/>
                    </a:ext>
                  </a:extLst>
                </p:cNvPr>
                <p:cNvSpPr/>
                <p:nvPr/>
              </p:nvSpPr>
              <p:spPr>
                <a:xfrm>
                  <a:off x="6559760" y="2205038"/>
                  <a:ext cx="611299" cy="19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620C09B3-F776-497B-B94C-17C52AD5D159}"/>
                    </a:ext>
                  </a:extLst>
                </p:cNvPr>
                <p:cNvSpPr/>
                <p:nvPr/>
              </p:nvSpPr>
              <p:spPr>
                <a:xfrm>
                  <a:off x="7375765" y="2205038"/>
                  <a:ext cx="611299" cy="19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a:extLst>
                    <a:ext uri="{FF2B5EF4-FFF2-40B4-BE49-F238E27FC236}">
                      <a16:creationId xmlns:a16="http://schemas.microsoft.com/office/drawing/2014/main" id="{18098C4C-0E56-42DB-9912-9056CFFFB8BC}"/>
                    </a:ext>
                  </a:extLst>
                </p:cNvPr>
                <p:cNvSpPr/>
                <p:nvPr/>
              </p:nvSpPr>
              <p:spPr>
                <a:xfrm>
                  <a:off x="8191772" y="2205038"/>
                  <a:ext cx="611299" cy="198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a:extLst>
                    <a:ext uri="{FF2B5EF4-FFF2-40B4-BE49-F238E27FC236}">
                      <a16:creationId xmlns:a16="http://schemas.microsoft.com/office/drawing/2014/main" id="{E20B781F-0ACB-4583-A7AD-1FA09DD4F4AC}"/>
                    </a:ext>
                  </a:extLst>
                </p:cNvPr>
                <p:cNvSpPr/>
                <p:nvPr/>
              </p:nvSpPr>
              <p:spPr>
                <a:xfrm>
                  <a:off x="847725" y="2205038"/>
                  <a:ext cx="611299" cy="1980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bg1"/>
                    </a:solidFill>
                    <a:latin typeface="SamsungOne 400" panose="020B0503030303020204" pitchFamily="34" charset="0"/>
                  </a:endParaRPr>
                </a:p>
              </p:txBody>
            </p:sp>
            <p:sp>
              <p:nvSpPr>
                <p:cNvPr id="39" name="직사각형 38">
                  <a:extLst>
                    <a:ext uri="{FF2B5EF4-FFF2-40B4-BE49-F238E27FC236}">
                      <a16:creationId xmlns:a16="http://schemas.microsoft.com/office/drawing/2014/main" id="{72ED0675-B562-4455-A9EF-8E3879000D59}"/>
                    </a:ext>
                  </a:extLst>
                </p:cNvPr>
                <p:cNvSpPr/>
                <p:nvPr/>
              </p:nvSpPr>
              <p:spPr>
                <a:xfrm>
                  <a:off x="1663728" y="2403038"/>
                  <a:ext cx="611299" cy="1980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bg1"/>
                    </a:solidFill>
                    <a:latin typeface="SamsungOne 400" panose="020B0503030303020204" pitchFamily="34" charset="0"/>
                  </a:endParaRPr>
                </a:p>
              </p:txBody>
            </p:sp>
            <p:sp>
              <p:nvSpPr>
                <p:cNvPr id="40" name="직사각형 39">
                  <a:extLst>
                    <a:ext uri="{FF2B5EF4-FFF2-40B4-BE49-F238E27FC236}">
                      <a16:creationId xmlns:a16="http://schemas.microsoft.com/office/drawing/2014/main" id="{AB933562-F282-4E89-AE2E-434A47C06BAF}"/>
                    </a:ext>
                  </a:extLst>
                </p:cNvPr>
                <p:cNvSpPr/>
                <p:nvPr/>
              </p:nvSpPr>
              <p:spPr>
                <a:xfrm>
                  <a:off x="2479733" y="2601038"/>
                  <a:ext cx="611299" cy="1980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bg1"/>
                    </a:solidFill>
                    <a:latin typeface="SamsungOne 400" panose="020B0503030303020204" pitchFamily="34" charset="0"/>
                  </a:endParaRPr>
                </a:p>
              </p:txBody>
            </p:sp>
            <p:sp>
              <p:nvSpPr>
                <p:cNvPr id="41" name="직사각형 40">
                  <a:extLst>
                    <a:ext uri="{FF2B5EF4-FFF2-40B4-BE49-F238E27FC236}">
                      <a16:creationId xmlns:a16="http://schemas.microsoft.com/office/drawing/2014/main" id="{94095BA6-984B-4188-A2DB-060DF05F083B}"/>
                    </a:ext>
                  </a:extLst>
                </p:cNvPr>
                <p:cNvSpPr/>
                <p:nvPr/>
              </p:nvSpPr>
              <p:spPr>
                <a:xfrm>
                  <a:off x="3295736" y="2799038"/>
                  <a:ext cx="611299" cy="1980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bg1"/>
                    </a:solidFill>
                    <a:latin typeface="SamsungOne 400" panose="020B0503030303020204" pitchFamily="34" charset="0"/>
                  </a:endParaRPr>
                </a:p>
              </p:txBody>
            </p:sp>
            <p:sp>
              <p:nvSpPr>
                <p:cNvPr id="42" name="직사각형 41">
                  <a:extLst>
                    <a:ext uri="{FF2B5EF4-FFF2-40B4-BE49-F238E27FC236}">
                      <a16:creationId xmlns:a16="http://schemas.microsoft.com/office/drawing/2014/main" id="{338E54FE-05EF-4232-9F5F-B52179C51A53}"/>
                    </a:ext>
                  </a:extLst>
                </p:cNvPr>
                <p:cNvSpPr/>
                <p:nvPr/>
              </p:nvSpPr>
              <p:spPr>
                <a:xfrm>
                  <a:off x="4111743" y="2997038"/>
                  <a:ext cx="611299" cy="1980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bg1"/>
                    </a:solidFill>
                    <a:latin typeface="SamsungOne 400" panose="020B0503030303020204" pitchFamily="34" charset="0"/>
                  </a:endParaRPr>
                </a:p>
              </p:txBody>
            </p:sp>
            <p:sp>
              <p:nvSpPr>
                <p:cNvPr id="43" name="직사각형 42">
                  <a:extLst>
                    <a:ext uri="{FF2B5EF4-FFF2-40B4-BE49-F238E27FC236}">
                      <a16:creationId xmlns:a16="http://schemas.microsoft.com/office/drawing/2014/main" id="{CD5B3989-F8CA-42B6-B32C-8BE76E958742}"/>
                    </a:ext>
                  </a:extLst>
                </p:cNvPr>
                <p:cNvSpPr/>
                <p:nvPr/>
              </p:nvSpPr>
              <p:spPr>
                <a:xfrm>
                  <a:off x="4927746" y="3195038"/>
                  <a:ext cx="611299" cy="1980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bg1"/>
                    </a:solidFill>
                    <a:latin typeface="SamsungOne 400" panose="020B0503030303020204" pitchFamily="34" charset="0"/>
                  </a:endParaRPr>
                </a:p>
              </p:txBody>
            </p:sp>
            <p:sp>
              <p:nvSpPr>
                <p:cNvPr id="44" name="직사각형 43">
                  <a:extLst>
                    <a:ext uri="{FF2B5EF4-FFF2-40B4-BE49-F238E27FC236}">
                      <a16:creationId xmlns:a16="http://schemas.microsoft.com/office/drawing/2014/main" id="{E34AC372-EC82-4672-A83A-15F0AC736D7F}"/>
                    </a:ext>
                  </a:extLst>
                </p:cNvPr>
                <p:cNvSpPr/>
                <p:nvPr/>
              </p:nvSpPr>
              <p:spPr>
                <a:xfrm>
                  <a:off x="5743747" y="3393038"/>
                  <a:ext cx="611299" cy="1980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bg1"/>
                    </a:solidFill>
                    <a:latin typeface="SamsungOne 400" panose="020B0503030303020204" pitchFamily="34" charset="0"/>
                  </a:endParaRPr>
                </a:p>
              </p:txBody>
            </p:sp>
            <p:sp>
              <p:nvSpPr>
                <p:cNvPr id="45" name="직사각형 44">
                  <a:extLst>
                    <a:ext uri="{FF2B5EF4-FFF2-40B4-BE49-F238E27FC236}">
                      <a16:creationId xmlns:a16="http://schemas.microsoft.com/office/drawing/2014/main" id="{58FCE26B-B46A-4E82-AF98-54CA3895B1E2}"/>
                    </a:ext>
                  </a:extLst>
                </p:cNvPr>
                <p:cNvSpPr/>
                <p:nvPr/>
              </p:nvSpPr>
              <p:spPr>
                <a:xfrm>
                  <a:off x="6559750" y="3591038"/>
                  <a:ext cx="611299" cy="1980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bg1"/>
                    </a:solidFill>
                    <a:latin typeface="SamsungOne 400" panose="020B0503030303020204" pitchFamily="34" charset="0"/>
                  </a:endParaRPr>
                </a:p>
              </p:txBody>
            </p:sp>
            <p:sp>
              <p:nvSpPr>
                <p:cNvPr id="46" name="직사각형 45">
                  <a:extLst>
                    <a:ext uri="{FF2B5EF4-FFF2-40B4-BE49-F238E27FC236}">
                      <a16:creationId xmlns:a16="http://schemas.microsoft.com/office/drawing/2014/main" id="{B428B48E-8108-4FC1-935E-4A2459578F5B}"/>
                    </a:ext>
                  </a:extLst>
                </p:cNvPr>
                <p:cNvSpPr/>
                <p:nvPr/>
              </p:nvSpPr>
              <p:spPr>
                <a:xfrm>
                  <a:off x="7375765" y="3789038"/>
                  <a:ext cx="611299" cy="1980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bg1"/>
                    </a:solidFill>
                    <a:latin typeface="SamsungOne 400" panose="020B0503030303020204" pitchFamily="34" charset="0"/>
                  </a:endParaRPr>
                </a:p>
              </p:txBody>
            </p:sp>
            <p:sp>
              <p:nvSpPr>
                <p:cNvPr id="47" name="직사각형 46">
                  <a:extLst>
                    <a:ext uri="{FF2B5EF4-FFF2-40B4-BE49-F238E27FC236}">
                      <a16:creationId xmlns:a16="http://schemas.microsoft.com/office/drawing/2014/main" id="{D5EA5C8B-8C38-4096-9405-50AAB02C8E9F}"/>
                    </a:ext>
                  </a:extLst>
                </p:cNvPr>
                <p:cNvSpPr/>
                <p:nvPr/>
              </p:nvSpPr>
              <p:spPr>
                <a:xfrm>
                  <a:off x="8191768" y="3987038"/>
                  <a:ext cx="611299" cy="1980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bg1"/>
                    </a:solidFill>
                    <a:latin typeface="SamsungOne 400" panose="020B0503030303020204" pitchFamily="34" charset="0"/>
                  </a:endParaRPr>
                </a:p>
              </p:txBody>
            </p:sp>
          </p:grpSp>
          <p:sp>
            <p:nvSpPr>
              <p:cNvPr id="58" name="TextBox 57">
                <a:extLst>
                  <a:ext uri="{FF2B5EF4-FFF2-40B4-BE49-F238E27FC236}">
                    <a16:creationId xmlns:a16="http://schemas.microsoft.com/office/drawing/2014/main" id="{BE331CDA-3FC2-4040-9E58-35CFAA010FC3}"/>
                  </a:ext>
                </a:extLst>
              </p:cNvPr>
              <p:cNvSpPr txBox="1"/>
              <p:nvPr/>
            </p:nvSpPr>
            <p:spPr>
              <a:xfrm>
                <a:off x="1385750" y="4869697"/>
                <a:ext cx="333425"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sz="1300" b="1" dirty="0">
                    <a:latin typeface="SamsungOne 400" panose="020B0503030303020204" pitchFamily="34" charset="0"/>
                    <a:ea typeface="SamsungOne 400" panose="020B0503030303020204" pitchFamily="34" charset="0"/>
                  </a:rPr>
                  <a:t>93%</a:t>
                </a:r>
                <a:endParaRPr lang="en-US" sz="1300" b="1" dirty="0">
                  <a:latin typeface="SamsungOne 400" panose="020B0503030303020204" pitchFamily="34" charset="0"/>
                  <a:ea typeface="SamsungOne 400" panose="020B0503030303020204" pitchFamily="34" charset="0"/>
                </a:endParaRPr>
              </a:p>
            </p:txBody>
          </p:sp>
          <p:sp>
            <p:nvSpPr>
              <p:cNvPr id="59" name="TextBox 58">
                <a:extLst>
                  <a:ext uri="{FF2B5EF4-FFF2-40B4-BE49-F238E27FC236}">
                    <a16:creationId xmlns:a16="http://schemas.microsoft.com/office/drawing/2014/main" id="{1D8E3379-0FC8-4083-8498-4D3BA000D05D}"/>
                  </a:ext>
                </a:extLst>
              </p:cNvPr>
              <p:cNvSpPr txBox="1"/>
              <p:nvPr/>
            </p:nvSpPr>
            <p:spPr>
              <a:xfrm>
                <a:off x="2200871" y="4869697"/>
                <a:ext cx="343043"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sz="1300" b="1" dirty="0">
                    <a:latin typeface="SamsungOne 400" panose="020B0503030303020204" pitchFamily="34" charset="0"/>
                    <a:ea typeface="SamsungOne 400" panose="020B0503030303020204" pitchFamily="34" charset="0"/>
                  </a:rPr>
                  <a:t>90%</a:t>
                </a:r>
                <a:endParaRPr lang="en-US" sz="1300" b="1" dirty="0">
                  <a:latin typeface="SamsungOne 400" panose="020B0503030303020204" pitchFamily="34" charset="0"/>
                  <a:ea typeface="SamsungOne 400" panose="020B0503030303020204" pitchFamily="34" charset="0"/>
                </a:endParaRPr>
              </a:p>
            </p:txBody>
          </p:sp>
          <p:sp>
            <p:nvSpPr>
              <p:cNvPr id="60" name="TextBox 59">
                <a:extLst>
                  <a:ext uri="{FF2B5EF4-FFF2-40B4-BE49-F238E27FC236}">
                    <a16:creationId xmlns:a16="http://schemas.microsoft.com/office/drawing/2014/main" id="{63DAEB91-AC20-4461-B38C-892FEF8CDC76}"/>
                  </a:ext>
                </a:extLst>
              </p:cNvPr>
              <p:cNvSpPr txBox="1"/>
              <p:nvPr/>
            </p:nvSpPr>
            <p:spPr>
              <a:xfrm>
                <a:off x="3041293" y="4869697"/>
                <a:ext cx="315792"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sz="1300" b="1" dirty="0">
                    <a:latin typeface="SamsungOne 400" panose="020B0503030303020204" pitchFamily="34" charset="0"/>
                    <a:ea typeface="SamsungOne 400" panose="020B0503030303020204" pitchFamily="34" charset="0"/>
                  </a:rPr>
                  <a:t>91%</a:t>
                </a:r>
                <a:endParaRPr lang="en-US" sz="1300" b="1" dirty="0">
                  <a:latin typeface="SamsungOne 400" panose="020B0503030303020204" pitchFamily="34" charset="0"/>
                  <a:ea typeface="SamsungOne 400" panose="020B0503030303020204" pitchFamily="34" charset="0"/>
                </a:endParaRPr>
              </a:p>
            </p:txBody>
          </p:sp>
          <p:sp>
            <p:nvSpPr>
              <p:cNvPr id="67" name="TextBox 66">
                <a:extLst>
                  <a:ext uri="{FF2B5EF4-FFF2-40B4-BE49-F238E27FC236}">
                    <a16:creationId xmlns:a16="http://schemas.microsoft.com/office/drawing/2014/main" id="{4751B95D-01E0-47F3-89E2-692ABBD48178}"/>
                  </a:ext>
                </a:extLst>
              </p:cNvPr>
              <p:cNvSpPr txBox="1"/>
              <p:nvPr/>
            </p:nvSpPr>
            <p:spPr>
              <a:xfrm>
                <a:off x="8775540" y="4869697"/>
                <a:ext cx="331822"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sz="1300" b="1" dirty="0">
                    <a:latin typeface="SamsungOne 400" panose="020B0503030303020204" pitchFamily="34" charset="0"/>
                    <a:ea typeface="SamsungOne 400" panose="020B0503030303020204" pitchFamily="34" charset="0"/>
                  </a:rPr>
                  <a:t>95%</a:t>
                </a:r>
                <a:endParaRPr lang="en-US" sz="1300" b="1" dirty="0">
                  <a:latin typeface="SamsungOne 400" panose="020B0503030303020204" pitchFamily="34" charset="0"/>
                  <a:ea typeface="SamsungOne 400" panose="020B0503030303020204" pitchFamily="34" charset="0"/>
                </a:endParaRPr>
              </a:p>
            </p:txBody>
          </p:sp>
          <p:sp>
            <p:nvSpPr>
              <p:cNvPr id="68" name="TextBox 67">
                <a:extLst>
                  <a:ext uri="{FF2B5EF4-FFF2-40B4-BE49-F238E27FC236}">
                    <a16:creationId xmlns:a16="http://schemas.microsoft.com/office/drawing/2014/main" id="{BCB8836E-A844-4353-8678-25D8A5E88ECB}"/>
                  </a:ext>
                </a:extLst>
              </p:cNvPr>
              <p:cNvSpPr txBox="1"/>
              <p:nvPr/>
            </p:nvSpPr>
            <p:spPr>
              <a:xfrm>
                <a:off x="601327" y="4863563"/>
                <a:ext cx="753941"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300" dirty="0">
                    <a:latin typeface="SamsungOne 400" panose="020B0503030303020204" pitchFamily="34" charset="0"/>
                    <a:ea typeface="SamsungOne 400" panose="020B0503030303020204" pitchFamily="34" charset="0"/>
                  </a:rPr>
                  <a:t>Accuracy</a:t>
                </a:r>
              </a:p>
            </p:txBody>
          </p:sp>
          <p:sp>
            <p:nvSpPr>
              <p:cNvPr id="48" name="TextBox 47">
                <a:extLst>
                  <a:ext uri="{FF2B5EF4-FFF2-40B4-BE49-F238E27FC236}">
                    <a16:creationId xmlns:a16="http://schemas.microsoft.com/office/drawing/2014/main" id="{8A0C792F-8590-4AFB-A2EF-1DF90BBC6165}"/>
                  </a:ext>
                </a:extLst>
              </p:cNvPr>
              <p:cNvSpPr txBox="1"/>
              <p:nvPr/>
            </p:nvSpPr>
            <p:spPr>
              <a:xfrm>
                <a:off x="1280753" y="2621712"/>
                <a:ext cx="543418"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ko-KR" sz="1300" b="1" dirty="0">
                    <a:latin typeface="SamsungOne 400" panose="020B0503030303020204" pitchFamily="34" charset="0"/>
                    <a:ea typeface="SamsungOne 400" panose="020B0503030303020204" pitchFamily="34" charset="0"/>
                  </a:rPr>
                  <a:t>round 1</a:t>
                </a:r>
                <a:endParaRPr lang="en-US" sz="1300" b="1" dirty="0">
                  <a:latin typeface="SamsungOne 400" panose="020B0503030303020204" pitchFamily="34" charset="0"/>
                  <a:ea typeface="SamsungOne 400" panose="020B0503030303020204" pitchFamily="34" charset="0"/>
                </a:endParaRPr>
              </a:p>
            </p:txBody>
          </p:sp>
          <p:sp>
            <p:nvSpPr>
              <p:cNvPr id="49" name="TextBox 48">
                <a:extLst>
                  <a:ext uri="{FF2B5EF4-FFF2-40B4-BE49-F238E27FC236}">
                    <a16:creationId xmlns:a16="http://schemas.microsoft.com/office/drawing/2014/main" id="{3833ED30-FFF4-415A-BF43-5DA5C40DA7D9}"/>
                  </a:ext>
                </a:extLst>
              </p:cNvPr>
              <p:cNvSpPr txBox="1"/>
              <p:nvPr/>
            </p:nvSpPr>
            <p:spPr>
              <a:xfrm>
                <a:off x="2091867" y="2621712"/>
                <a:ext cx="561051"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ko-KR" sz="1300" b="1" dirty="0">
                    <a:latin typeface="SamsungOne 400" panose="020B0503030303020204" pitchFamily="34" charset="0"/>
                    <a:ea typeface="SamsungOne 400" panose="020B0503030303020204" pitchFamily="34" charset="0"/>
                  </a:rPr>
                  <a:t>round 2</a:t>
                </a:r>
                <a:endParaRPr lang="en-US" sz="1300" b="1" dirty="0">
                  <a:latin typeface="SamsungOne 400" panose="020B0503030303020204" pitchFamily="34" charset="0"/>
                  <a:ea typeface="SamsungOne 400" panose="020B0503030303020204" pitchFamily="34" charset="0"/>
                </a:endParaRPr>
              </a:p>
            </p:txBody>
          </p:sp>
          <p:sp>
            <p:nvSpPr>
              <p:cNvPr id="50" name="TextBox 49">
                <a:extLst>
                  <a:ext uri="{FF2B5EF4-FFF2-40B4-BE49-F238E27FC236}">
                    <a16:creationId xmlns:a16="http://schemas.microsoft.com/office/drawing/2014/main" id="{31F3F5FB-78F1-4E6D-A66D-ECAC2A7AB4F2}"/>
                  </a:ext>
                </a:extLst>
              </p:cNvPr>
              <p:cNvSpPr txBox="1"/>
              <p:nvPr/>
            </p:nvSpPr>
            <p:spPr>
              <a:xfrm>
                <a:off x="2916258" y="2621712"/>
                <a:ext cx="565861"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ko-KR" sz="1300" b="1" dirty="0">
                    <a:latin typeface="SamsungOne 400" panose="020B0503030303020204" pitchFamily="34" charset="0"/>
                    <a:ea typeface="SamsungOne 400" panose="020B0503030303020204" pitchFamily="34" charset="0"/>
                  </a:rPr>
                  <a:t>round 3</a:t>
                </a:r>
                <a:endParaRPr lang="en-US" sz="1300" b="1" dirty="0">
                  <a:latin typeface="SamsungOne 400" panose="020B0503030303020204" pitchFamily="34" charset="0"/>
                  <a:ea typeface="SamsungOne 400" panose="020B0503030303020204" pitchFamily="34" charset="0"/>
                </a:endParaRPr>
              </a:p>
            </p:txBody>
          </p:sp>
          <p:sp>
            <p:nvSpPr>
              <p:cNvPr id="51" name="TextBox 50">
                <a:extLst>
                  <a:ext uri="{FF2B5EF4-FFF2-40B4-BE49-F238E27FC236}">
                    <a16:creationId xmlns:a16="http://schemas.microsoft.com/office/drawing/2014/main" id="{12AC0430-065E-468C-BF55-A25DD27C8A62}"/>
                  </a:ext>
                </a:extLst>
              </p:cNvPr>
              <p:cNvSpPr txBox="1"/>
              <p:nvPr/>
            </p:nvSpPr>
            <p:spPr>
              <a:xfrm>
                <a:off x="3727372" y="2621712"/>
                <a:ext cx="569067"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ko-KR" sz="1300" b="1" dirty="0">
                    <a:latin typeface="SamsungOne 400" panose="020B0503030303020204" pitchFamily="34" charset="0"/>
                    <a:ea typeface="SamsungOne 400" panose="020B0503030303020204" pitchFamily="34" charset="0"/>
                  </a:rPr>
                  <a:t>round 4</a:t>
                </a:r>
                <a:endParaRPr lang="en-US" sz="1300" b="1" dirty="0">
                  <a:latin typeface="SamsungOne 400" panose="020B0503030303020204" pitchFamily="34" charset="0"/>
                  <a:ea typeface="SamsungOne 400" panose="020B0503030303020204" pitchFamily="34" charset="0"/>
                </a:endParaRPr>
              </a:p>
            </p:txBody>
          </p:sp>
          <p:sp>
            <p:nvSpPr>
              <p:cNvPr id="52" name="TextBox 51">
                <a:extLst>
                  <a:ext uri="{FF2B5EF4-FFF2-40B4-BE49-F238E27FC236}">
                    <a16:creationId xmlns:a16="http://schemas.microsoft.com/office/drawing/2014/main" id="{808BAFC2-0B16-4032-8A64-DD429A1E6073}"/>
                  </a:ext>
                </a:extLst>
              </p:cNvPr>
              <p:cNvSpPr txBox="1"/>
              <p:nvPr/>
            </p:nvSpPr>
            <p:spPr>
              <a:xfrm>
                <a:off x="4546084" y="2621712"/>
                <a:ext cx="564257"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ko-KR" sz="1300" b="1" dirty="0">
                    <a:latin typeface="SamsungOne 400" panose="020B0503030303020204" pitchFamily="34" charset="0"/>
                    <a:ea typeface="SamsungOne 400" panose="020B0503030303020204" pitchFamily="34" charset="0"/>
                  </a:rPr>
                  <a:t>round 5</a:t>
                </a:r>
                <a:endParaRPr lang="en-US" sz="1300" b="1" dirty="0">
                  <a:latin typeface="SamsungOne 400" panose="020B0503030303020204" pitchFamily="34" charset="0"/>
                  <a:ea typeface="SamsungOne 400" panose="020B0503030303020204" pitchFamily="34" charset="0"/>
                </a:endParaRPr>
              </a:p>
            </p:txBody>
          </p:sp>
          <p:sp>
            <p:nvSpPr>
              <p:cNvPr id="53" name="TextBox 52">
                <a:extLst>
                  <a:ext uri="{FF2B5EF4-FFF2-40B4-BE49-F238E27FC236}">
                    <a16:creationId xmlns:a16="http://schemas.microsoft.com/office/drawing/2014/main" id="{75A249A8-45C4-482C-8119-87A89F260455}"/>
                  </a:ext>
                </a:extLst>
              </p:cNvPr>
              <p:cNvSpPr txBox="1"/>
              <p:nvPr/>
            </p:nvSpPr>
            <p:spPr>
              <a:xfrm>
                <a:off x="5357198" y="2621712"/>
                <a:ext cx="565861"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ko-KR" sz="1300" b="1" dirty="0">
                    <a:latin typeface="SamsungOne 400" panose="020B0503030303020204" pitchFamily="34" charset="0"/>
                    <a:ea typeface="SamsungOne 400" panose="020B0503030303020204" pitchFamily="34" charset="0"/>
                  </a:rPr>
                  <a:t>round 6</a:t>
                </a:r>
                <a:endParaRPr lang="en-US" sz="1300" b="1" dirty="0">
                  <a:latin typeface="SamsungOne 400" panose="020B0503030303020204" pitchFamily="34" charset="0"/>
                  <a:ea typeface="SamsungOne 400" panose="020B0503030303020204" pitchFamily="34" charset="0"/>
                </a:endParaRPr>
              </a:p>
            </p:txBody>
          </p:sp>
          <p:sp>
            <p:nvSpPr>
              <p:cNvPr id="54" name="TextBox 53">
                <a:extLst>
                  <a:ext uri="{FF2B5EF4-FFF2-40B4-BE49-F238E27FC236}">
                    <a16:creationId xmlns:a16="http://schemas.microsoft.com/office/drawing/2014/main" id="{3F661CF2-B2F0-4ECD-9BCE-04F340A8B11D}"/>
                  </a:ext>
                </a:extLst>
              </p:cNvPr>
              <p:cNvSpPr txBox="1"/>
              <p:nvPr/>
            </p:nvSpPr>
            <p:spPr>
              <a:xfrm>
                <a:off x="6175902" y="2621712"/>
                <a:ext cx="554639"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ko-KR" sz="1300" b="1" dirty="0">
                    <a:latin typeface="SamsungOne 400" panose="020B0503030303020204" pitchFamily="34" charset="0"/>
                    <a:ea typeface="SamsungOne 400" panose="020B0503030303020204" pitchFamily="34" charset="0"/>
                  </a:rPr>
                  <a:t>round 7</a:t>
                </a:r>
                <a:endParaRPr lang="en-US" sz="1300" b="1" dirty="0">
                  <a:latin typeface="SamsungOne 400" panose="020B0503030303020204" pitchFamily="34" charset="0"/>
                  <a:ea typeface="SamsungOne 400" panose="020B0503030303020204" pitchFamily="34" charset="0"/>
                </a:endParaRPr>
              </a:p>
            </p:txBody>
          </p:sp>
          <p:sp>
            <p:nvSpPr>
              <p:cNvPr id="55" name="TextBox 54">
                <a:extLst>
                  <a:ext uri="{FF2B5EF4-FFF2-40B4-BE49-F238E27FC236}">
                    <a16:creationId xmlns:a16="http://schemas.microsoft.com/office/drawing/2014/main" id="{5B8E5264-2644-4CE9-893F-752BAC8D6094}"/>
                  </a:ext>
                </a:extLst>
              </p:cNvPr>
              <p:cNvSpPr txBox="1"/>
              <p:nvPr/>
            </p:nvSpPr>
            <p:spPr>
              <a:xfrm>
                <a:off x="6987016" y="2621712"/>
                <a:ext cx="569067"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ko-KR" sz="1300" b="1" dirty="0">
                    <a:latin typeface="SamsungOne 400" panose="020B0503030303020204" pitchFamily="34" charset="0"/>
                    <a:ea typeface="SamsungOne 400" panose="020B0503030303020204" pitchFamily="34" charset="0"/>
                  </a:rPr>
                  <a:t>round 8</a:t>
                </a:r>
                <a:endParaRPr lang="en-US" sz="1300" b="1" dirty="0">
                  <a:latin typeface="SamsungOne 400" panose="020B0503030303020204" pitchFamily="34" charset="0"/>
                  <a:ea typeface="SamsungOne 400" panose="020B0503030303020204" pitchFamily="34" charset="0"/>
                </a:endParaRPr>
              </a:p>
            </p:txBody>
          </p:sp>
          <p:sp>
            <p:nvSpPr>
              <p:cNvPr id="56" name="TextBox 55">
                <a:extLst>
                  <a:ext uri="{FF2B5EF4-FFF2-40B4-BE49-F238E27FC236}">
                    <a16:creationId xmlns:a16="http://schemas.microsoft.com/office/drawing/2014/main" id="{239C31DA-07C3-4C2B-8EF7-C359E62557DF}"/>
                  </a:ext>
                </a:extLst>
              </p:cNvPr>
              <p:cNvSpPr txBox="1"/>
              <p:nvPr/>
            </p:nvSpPr>
            <p:spPr>
              <a:xfrm>
                <a:off x="7805728" y="2621712"/>
                <a:ext cx="565861"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ko-KR" sz="1300" b="1" dirty="0">
                    <a:latin typeface="SamsungOne 400" panose="020B0503030303020204" pitchFamily="34" charset="0"/>
                    <a:ea typeface="SamsungOne 400" panose="020B0503030303020204" pitchFamily="34" charset="0"/>
                  </a:rPr>
                  <a:t>round 9</a:t>
                </a:r>
                <a:endParaRPr lang="en-US" sz="1300" b="1" dirty="0">
                  <a:latin typeface="SamsungOne 400" panose="020B0503030303020204" pitchFamily="34" charset="0"/>
                  <a:ea typeface="SamsungOne 400" panose="020B0503030303020204" pitchFamily="34" charset="0"/>
                </a:endParaRPr>
              </a:p>
            </p:txBody>
          </p:sp>
          <p:sp>
            <p:nvSpPr>
              <p:cNvPr id="57" name="TextBox 56">
                <a:extLst>
                  <a:ext uri="{FF2B5EF4-FFF2-40B4-BE49-F238E27FC236}">
                    <a16:creationId xmlns:a16="http://schemas.microsoft.com/office/drawing/2014/main" id="{6FB9C70E-01D4-4967-8DD9-9E088C6F28BC}"/>
                  </a:ext>
                </a:extLst>
              </p:cNvPr>
              <p:cNvSpPr txBox="1"/>
              <p:nvPr/>
            </p:nvSpPr>
            <p:spPr>
              <a:xfrm>
                <a:off x="8616842" y="2621712"/>
                <a:ext cx="649217"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ko-KR" sz="1300" b="1" dirty="0">
                    <a:latin typeface="SamsungOne 400" panose="020B0503030303020204" pitchFamily="34" charset="0"/>
                    <a:ea typeface="SamsungOne 400" panose="020B0503030303020204" pitchFamily="34" charset="0"/>
                  </a:rPr>
                  <a:t>round 10</a:t>
                </a:r>
                <a:endParaRPr lang="en-US" sz="1300" b="1" dirty="0">
                  <a:latin typeface="SamsungOne 400" panose="020B0503030303020204" pitchFamily="34" charset="0"/>
                  <a:ea typeface="SamsungOne 400" panose="020B0503030303020204" pitchFamily="34" charset="0"/>
                </a:endParaRPr>
              </a:p>
            </p:txBody>
          </p:sp>
          <p:sp>
            <p:nvSpPr>
              <p:cNvPr id="69" name="TextBox 68">
                <a:extLst>
                  <a:ext uri="{FF2B5EF4-FFF2-40B4-BE49-F238E27FC236}">
                    <a16:creationId xmlns:a16="http://schemas.microsoft.com/office/drawing/2014/main" id="{DB1A142E-4B11-49D5-BD8F-DC8B8916CE30}"/>
                  </a:ext>
                </a:extLst>
              </p:cNvPr>
              <p:cNvSpPr txBox="1"/>
              <p:nvPr/>
            </p:nvSpPr>
            <p:spPr>
              <a:xfrm>
                <a:off x="1280753" y="2418418"/>
                <a:ext cx="444032"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300" b="1" dirty="0">
                    <a:latin typeface="SamsungOne 400" panose="020B0503030303020204" pitchFamily="34" charset="0"/>
                    <a:ea typeface="SamsungOne 400" panose="020B0503030303020204" pitchFamily="34" charset="0"/>
                  </a:rPr>
                  <a:t>epoch</a:t>
                </a:r>
              </a:p>
            </p:txBody>
          </p:sp>
          <p:grpSp>
            <p:nvGrpSpPr>
              <p:cNvPr id="13" name="그룹 12">
                <a:extLst>
                  <a:ext uri="{FF2B5EF4-FFF2-40B4-BE49-F238E27FC236}">
                    <a16:creationId xmlns:a16="http://schemas.microsoft.com/office/drawing/2014/main" id="{78D8900B-AB6D-4196-B631-473FA48158A6}"/>
                  </a:ext>
                </a:extLst>
              </p:cNvPr>
              <p:cNvGrpSpPr/>
              <p:nvPr/>
            </p:nvGrpSpPr>
            <p:grpSpPr>
              <a:xfrm>
                <a:off x="1215465" y="2851994"/>
                <a:ext cx="8107469" cy="1923602"/>
                <a:chOff x="1215465" y="2627896"/>
                <a:chExt cx="8107469" cy="1923602"/>
              </a:xfrm>
            </p:grpSpPr>
            <p:sp>
              <p:nvSpPr>
                <p:cNvPr id="70" name="TextBox 69">
                  <a:extLst>
                    <a:ext uri="{FF2B5EF4-FFF2-40B4-BE49-F238E27FC236}">
                      <a16:creationId xmlns:a16="http://schemas.microsoft.com/office/drawing/2014/main" id="{0CFD0D13-204D-4757-BD31-59F19734FEE9}"/>
                    </a:ext>
                  </a:extLst>
                </p:cNvPr>
                <p:cNvSpPr txBox="1"/>
                <p:nvPr/>
              </p:nvSpPr>
              <p:spPr>
                <a:xfrm>
                  <a:off x="1215465" y="2627896"/>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00" b="1" dirty="0">
                      <a:latin typeface="SamsungOne 400" panose="020B0503030303020204" pitchFamily="34" charset="0"/>
                      <a:ea typeface="SamsungOne 400" panose="020B0503030303020204" pitchFamily="34" charset="0"/>
                    </a:rPr>
                    <a:t>validation set</a:t>
                  </a:r>
                </a:p>
              </p:txBody>
            </p:sp>
            <p:sp>
              <p:nvSpPr>
                <p:cNvPr id="71" name="TextBox 70">
                  <a:extLst>
                    <a:ext uri="{FF2B5EF4-FFF2-40B4-BE49-F238E27FC236}">
                      <a16:creationId xmlns:a16="http://schemas.microsoft.com/office/drawing/2014/main" id="{E055A90E-AF5D-4070-AA03-283818271269}"/>
                    </a:ext>
                  </a:extLst>
                </p:cNvPr>
                <p:cNvSpPr txBox="1"/>
                <p:nvPr/>
              </p:nvSpPr>
              <p:spPr>
                <a:xfrm>
                  <a:off x="2030093" y="2824175"/>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00" b="1" dirty="0">
                      <a:latin typeface="SamsungOne 400" panose="020B0503030303020204" pitchFamily="34" charset="0"/>
                      <a:ea typeface="SamsungOne 400" panose="020B0503030303020204" pitchFamily="34" charset="0"/>
                    </a:rPr>
                    <a:t>validation set</a:t>
                  </a:r>
                </a:p>
              </p:txBody>
            </p:sp>
            <p:sp>
              <p:nvSpPr>
                <p:cNvPr id="72" name="TextBox 71">
                  <a:extLst>
                    <a:ext uri="{FF2B5EF4-FFF2-40B4-BE49-F238E27FC236}">
                      <a16:creationId xmlns:a16="http://schemas.microsoft.com/office/drawing/2014/main" id="{ED6BB1A3-7B30-4831-99F3-D4BC97E18C80}"/>
                    </a:ext>
                  </a:extLst>
                </p:cNvPr>
                <p:cNvSpPr txBox="1"/>
                <p:nvPr/>
              </p:nvSpPr>
              <p:spPr>
                <a:xfrm>
                  <a:off x="2859031" y="3026246"/>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000" b="1" dirty="0">
                      <a:latin typeface="SamsungOne 400" panose="020B0503030303020204" pitchFamily="34" charset="0"/>
                      <a:ea typeface="SamsungOne 400" panose="020B0503030303020204" pitchFamily="34" charset="0"/>
                    </a:rPr>
                    <a:t>validation set</a:t>
                  </a:r>
                </a:p>
              </p:txBody>
            </p:sp>
            <p:sp>
              <p:nvSpPr>
                <p:cNvPr id="73" name="TextBox 72">
                  <a:extLst>
                    <a:ext uri="{FF2B5EF4-FFF2-40B4-BE49-F238E27FC236}">
                      <a16:creationId xmlns:a16="http://schemas.microsoft.com/office/drawing/2014/main" id="{BADEA0A4-4DC5-43F0-92AE-633CE30AE3A2}"/>
                    </a:ext>
                  </a:extLst>
                </p:cNvPr>
                <p:cNvSpPr txBox="1"/>
                <p:nvPr/>
              </p:nvSpPr>
              <p:spPr>
                <a:xfrm>
                  <a:off x="3655268" y="3218866"/>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000" b="1" dirty="0">
                      <a:latin typeface="SamsungOne 400" panose="020B0503030303020204" pitchFamily="34" charset="0"/>
                      <a:ea typeface="SamsungOne 400" panose="020B0503030303020204" pitchFamily="34" charset="0"/>
                    </a:rPr>
                    <a:t>validation set</a:t>
                  </a:r>
                </a:p>
              </p:txBody>
            </p:sp>
            <p:sp>
              <p:nvSpPr>
                <p:cNvPr id="74" name="TextBox 73">
                  <a:extLst>
                    <a:ext uri="{FF2B5EF4-FFF2-40B4-BE49-F238E27FC236}">
                      <a16:creationId xmlns:a16="http://schemas.microsoft.com/office/drawing/2014/main" id="{3398C53E-1F5C-4F19-B096-2271832BE96B}"/>
                    </a:ext>
                  </a:extLst>
                </p:cNvPr>
                <p:cNvSpPr txBox="1"/>
                <p:nvPr/>
              </p:nvSpPr>
              <p:spPr>
                <a:xfrm>
                  <a:off x="4465780" y="3414964"/>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00" b="1" dirty="0">
                      <a:latin typeface="SamsungOne 400" panose="020B0503030303020204" pitchFamily="34" charset="0"/>
                      <a:ea typeface="SamsungOne 400" panose="020B0503030303020204" pitchFamily="34" charset="0"/>
                    </a:rPr>
                    <a:t>validation set</a:t>
                  </a:r>
                </a:p>
              </p:txBody>
            </p:sp>
            <p:sp>
              <p:nvSpPr>
                <p:cNvPr id="75" name="TextBox 74">
                  <a:extLst>
                    <a:ext uri="{FF2B5EF4-FFF2-40B4-BE49-F238E27FC236}">
                      <a16:creationId xmlns:a16="http://schemas.microsoft.com/office/drawing/2014/main" id="{3AF395FB-BA38-4AAC-A142-35E2F25320F3}"/>
                    </a:ext>
                  </a:extLst>
                </p:cNvPr>
                <p:cNvSpPr txBox="1"/>
                <p:nvPr/>
              </p:nvSpPr>
              <p:spPr>
                <a:xfrm>
                  <a:off x="5297401" y="3625988"/>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00" b="1" dirty="0">
                      <a:latin typeface="SamsungOne 400" panose="020B0503030303020204" pitchFamily="34" charset="0"/>
                      <a:ea typeface="SamsungOne 400" panose="020B0503030303020204" pitchFamily="34" charset="0"/>
                    </a:rPr>
                    <a:t>validation set</a:t>
                  </a:r>
                </a:p>
              </p:txBody>
            </p:sp>
            <p:sp>
              <p:nvSpPr>
                <p:cNvPr id="76" name="TextBox 75">
                  <a:extLst>
                    <a:ext uri="{FF2B5EF4-FFF2-40B4-BE49-F238E27FC236}">
                      <a16:creationId xmlns:a16="http://schemas.microsoft.com/office/drawing/2014/main" id="{A216118C-71E9-4420-8F9D-AF37C1EF412B}"/>
                    </a:ext>
                  </a:extLst>
                </p:cNvPr>
                <p:cNvSpPr txBox="1"/>
                <p:nvPr/>
              </p:nvSpPr>
              <p:spPr>
                <a:xfrm>
                  <a:off x="6103791" y="3810964"/>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00" b="1" dirty="0">
                      <a:latin typeface="SamsungOne 400" panose="020B0503030303020204" pitchFamily="34" charset="0"/>
                      <a:ea typeface="SamsungOne 400" panose="020B0503030303020204" pitchFamily="34" charset="0"/>
                    </a:rPr>
                    <a:t>validation set</a:t>
                  </a:r>
                </a:p>
              </p:txBody>
            </p:sp>
            <p:sp>
              <p:nvSpPr>
                <p:cNvPr id="77" name="TextBox 76">
                  <a:extLst>
                    <a:ext uri="{FF2B5EF4-FFF2-40B4-BE49-F238E27FC236}">
                      <a16:creationId xmlns:a16="http://schemas.microsoft.com/office/drawing/2014/main" id="{2D837F7D-5599-4A81-A44B-56BEF0C582B6}"/>
                    </a:ext>
                  </a:extLst>
                </p:cNvPr>
                <p:cNvSpPr txBox="1"/>
                <p:nvPr/>
              </p:nvSpPr>
              <p:spPr>
                <a:xfrm>
                  <a:off x="6929408" y="4005234"/>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00" b="1" dirty="0">
                      <a:latin typeface="SamsungOne 400" panose="020B0503030303020204" pitchFamily="34" charset="0"/>
                      <a:ea typeface="SamsungOne 400" panose="020B0503030303020204" pitchFamily="34" charset="0"/>
                    </a:rPr>
                    <a:t>validation set</a:t>
                  </a:r>
                </a:p>
              </p:txBody>
            </p:sp>
            <p:sp>
              <p:nvSpPr>
                <p:cNvPr id="78" name="TextBox 77">
                  <a:extLst>
                    <a:ext uri="{FF2B5EF4-FFF2-40B4-BE49-F238E27FC236}">
                      <a16:creationId xmlns:a16="http://schemas.microsoft.com/office/drawing/2014/main" id="{C6B507CA-53FD-4567-8156-2C1FEBC2FFA8}"/>
                    </a:ext>
                  </a:extLst>
                </p:cNvPr>
                <p:cNvSpPr txBox="1"/>
                <p:nvPr/>
              </p:nvSpPr>
              <p:spPr>
                <a:xfrm>
                  <a:off x="7732083" y="4211532"/>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00" b="1" dirty="0">
                      <a:latin typeface="SamsungOne 400" panose="020B0503030303020204" pitchFamily="34" charset="0"/>
                      <a:ea typeface="SamsungOne 400" panose="020B0503030303020204" pitchFamily="34" charset="0"/>
                    </a:rPr>
                    <a:t>validation set</a:t>
                  </a:r>
                </a:p>
              </p:txBody>
            </p:sp>
            <p:sp>
              <p:nvSpPr>
                <p:cNvPr id="79" name="TextBox 78">
                  <a:extLst>
                    <a:ext uri="{FF2B5EF4-FFF2-40B4-BE49-F238E27FC236}">
                      <a16:creationId xmlns:a16="http://schemas.microsoft.com/office/drawing/2014/main" id="{6A157878-A187-4F80-8619-104F775C0E0F}"/>
                    </a:ext>
                  </a:extLst>
                </p:cNvPr>
                <p:cNvSpPr txBox="1"/>
                <p:nvPr/>
              </p:nvSpPr>
              <p:spPr>
                <a:xfrm>
                  <a:off x="8559965" y="4397610"/>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00" b="1" dirty="0">
                      <a:latin typeface="SamsungOne 400" panose="020B0503030303020204" pitchFamily="34" charset="0"/>
                      <a:ea typeface="SamsungOne 400" panose="020B0503030303020204" pitchFamily="34" charset="0"/>
                    </a:rPr>
                    <a:t>validation set</a:t>
                  </a:r>
                </a:p>
              </p:txBody>
            </p:sp>
          </p:grpSp>
          <p:grpSp>
            <p:nvGrpSpPr>
              <p:cNvPr id="14" name="그룹 13">
                <a:extLst>
                  <a:ext uri="{FF2B5EF4-FFF2-40B4-BE49-F238E27FC236}">
                    <a16:creationId xmlns:a16="http://schemas.microsoft.com/office/drawing/2014/main" id="{50BB2A2B-CC23-4313-9B60-F7C60315FEFE}"/>
                  </a:ext>
                </a:extLst>
              </p:cNvPr>
              <p:cNvGrpSpPr/>
              <p:nvPr/>
            </p:nvGrpSpPr>
            <p:grpSpPr>
              <a:xfrm>
                <a:off x="1195414" y="3446414"/>
                <a:ext cx="8102314" cy="913863"/>
                <a:chOff x="1195414" y="3222316"/>
                <a:chExt cx="8102314" cy="913863"/>
              </a:xfrm>
            </p:grpSpPr>
            <p:sp>
              <p:nvSpPr>
                <p:cNvPr id="80" name="TextBox 79">
                  <a:extLst>
                    <a:ext uri="{FF2B5EF4-FFF2-40B4-BE49-F238E27FC236}">
                      <a16:creationId xmlns:a16="http://schemas.microsoft.com/office/drawing/2014/main" id="{F3200B39-88D3-499C-85C4-9BFEA136D8F7}"/>
                    </a:ext>
                  </a:extLst>
                </p:cNvPr>
                <p:cNvSpPr txBox="1"/>
                <p:nvPr/>
              </p:nvSpPr>
              <p:spPr>
                <a:xfrm>
                  <a:off x="1195414" y="3608710"/>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000" b="1" dirty="0">
                      <a:latin typeface="SamsungOne 400" panose="020B0503030303020204" pitchFamily="34" charset="0"/>
                      <a:ea typeface="SamsungOne 400" panose="020B0503030303020204" pitchFamily="34" charset="0"/>
                    </a:rPr>
                    <a:t>training set</a:t>
                  </a:r>
                </a:p>
              </p:txBody>
            </p:sp>
            <p:sp>
              <p:nvSpPr>
                <p:cNvPr id="81" name="TextBox 80">
                  <a:extLst>
                    <a:ext uri="{FF2B5EF4-FFF2-40B4-BE49-F238E27FC236}">
                      <a16:creationId xmlns:a16="http://schemas.microsoft.com/office/drawing/2014/main" id="{3BF76ECE-2ED3-47D2-B02E-E8DD0709E02F}"/>
                    </a:ext>
                  </a:extLst>
                </p:cNvPr>
                <p:cNvSpPr txBox="1"/>
                <p:nvPr/>
              </p:nvSpPr>
              <p:spPr>
                <a:xfrm>
                  <a:off x="2034177" y="3608710"/>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000" b="1" dirty="0">
                      <a:latin typeface="SamsungOne 400" panose="020B0503030303020204" pitchFamily="34" charset="0"/>
                      <a:ea typeface="SamsungOne 400" panose="020B0503030303020204" pitchFamily="34" charset="0"/>
                    </a:rPr>
                    <a:t>training set</a:t>
                  </a:r>
                </a:p>
              </p:txBody>
            </p:sp>
            <p:sp>
              <p:nvSpPr>
                <p:cNvPr id="82" name="TextBox 81">
                  <a:extLst>
                    <a:ext uri="{FF2B5EF4-FFF2-40B4-BE49-F238E27FC236}">
                      <a16:creationId xmlns:a16="http://schemas.microsoft.com/office/drawing/2014/main" id="{CB9E663A-BFE9-4FF3-AD85-999222DD23F6}"/>
                    </a:ext>
                  </a:extLst>
                </p:cNvPr>
                <p:cNvSpPr txBox="1"/>
                <p:nvPr/>
              </p:nvSpPr>
              <p:spPr>
                <a:xfrm>
                  <a:off x="2861954" y="3608710"/>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000" b="1" dirty="0">
                      <a:latin typeface="SamsungOne 400" panose="020B0503030303020204" pitchFamily="34" charset="0"/>
                      <a:ea typeface="SamsungOne 400" panose="020B0503030303020204" pitchFamily="34" charset="0"/>
                    </a:rPr>
                    <a:t>training set</a:t>
                  </a:r>
                </a:p>
              </p:txBody>
            </p:sp>
            <p:sp>
              <p:nvSpPr>
                <p:cNvPr id="83" name="TextBox 82">
                  <a:extLst>
                    <a:ext uri="{FF2B5EF4-FFF2-40B4-BE49-F238E27FC236}">
                      <a16:creationId xmlns:a16="http://schemas.microsoft.com/office/drawing/2014/main" id="{91C6D3DC-3766-4613-83D9-459C6EBCE2FE}"/>
                    </a:ext>
                  </a:extLst>
                </p:cNvPr>
                <p:cNvSpPr txBox="1"/>
                <p:nvPr/>
              </p:nvSpPr>
              <p:spPr>
                <a:xfrm>
                  <a:off x="3658039" y="3608710"/>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000" b="1" dirty="0">
                      <a:latin typeface="SamsungOne 400" panose="020B0503030303020204" pitchFamily="34" charset="0"/>
                      <a:ea typeface="SamsungOne 400" panose="020B0503030303020204" pitchFamily="34" charset="0"/>
                    </a:rPr>
                    <a:t>training set</a:t>
                  </a:r>
                </a:p>
              </p:txBody>
            </p:sp>
            <p:sp>
              <p:nvSpPr>
                <p:cNvPr id="84" name="TextBox 83">
                  <a:extLst>
                    <a:ext uri="{FF2B5EF4-FFF2-40B4-BE49-F238E27FC236}">
                      <a16:creationId xmlns:a16="http://schemas.microsoft.com/office/drawing/2014/main" id="{F9514269-9A99-422E-84F9-CC71886A03D6}"/>
                    </a:ext>
                  </a:extLst>
                </p:cNvPr>
                <p:cNvSpPr txBox="1"/>
                <p:nvPr/>
              </p:nvSpPr>
              <p:spPr>
                <a:xfrm>
                  <a:off x="6098258" y="3222316"/>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000" b="1" dirty="0">
                      <a:latin typeface="SamsungOne 400" panose="020B0503030303020204" pitchFamily="34" charset="0"/>
                      <a:ea typeface="SamsungOne 400" panose="020B0503030303020204" pitchFamily="34" charset="0"/>
                    </a:rPr>
                    <a:t>training set</a:t>
                  </a:r>
                </a:p>
              </p:txBody>
            </p:sp>
            <p:sp>
              <p:nvSpPr>
                <p:cNvPr id="85" name="TextBox 84">
                  <a:extLst>
                    <a:ext uri="{FF2B5EF4-FFF2-40B4-BE49-F238E27FC236}">
                      <a16:creationId xmlns:a16="http://schemas.microsoft.com/office/drawing/2014/main" id="{F0EF1D7A-2594-4EBD-880D-72D545A1F7D5}"/>
                    </a:ext>
                  </a:extLst>
                </p:cNvPr>
                <p:cNvSpPr txBox="1"/>
                <p:nvPr/>
              </p:nvSpPr>
              <p:spPr>
                <a:xfrm>
                  <a:off x="6929409" y="3226127"/>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000" b="1" dirty="0">
                      <a:latin typeface="SamsungOne 400" panose="020B0503030303020204" pitchFamily="34" charset="0"/>
                      <a:ea typeface="SamsungOne 400" panose="020B0503030303020204" pitchFamily="34" charset="0"/>
                    </a:rPr>
                    <a:t>training set</a:t>
                  </a:r>
                </a:p>
              </p:txBody>
            </p:sp>
            <p:sp>
              <p:nvSpPr>
                <p:cNvPr id="86" name="TextBox 85">
                  <a:extLst>
                    <a:ext uri="{FF2B5EF4-FFF2-40B4-BE49-F238E27FC236}">
                      <a16:creationId xmlns:a16="http://schemas.microsoft.com/office/drawing/2014/main" id="{B6594A07-2AA6-4542-A90C-7DA038B4563C}"/>
                    </a:ext>
                  </a:extLst>
                </p:cNvPr>
                <p:cNvSpPr txBox="1"/>
                <p:nvPr/>
              </p:nvSpPr>
              <p:spPr>
                <a:xfrm>
                  <a:off x="7732084" y="3229846"/>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000" b="1" dirty="0">
                      <a:latin typeface="SamsungOne 400" panose="020B0503030303020204" pitchFamily="34" charset="0"/>
                      <a:ea typeface="SamsungOne 400" panose="020B0503030303020204" pitchFamily="34" charset="0"/>
                    </a:rPr>
                    <a:t>training set</a:t>
                  </a:r>
                </a:p>
              </p:txBody>
            </p:sp>
            <p:sp>
              <p:nvSpPr>
                <p:cNvPr id="87" name="TextBox 86">
                  <a:extLst>
                    <a:ext uri="{FF2B5EF4-FFF2-40B4-BE49-F238E27FC236}">
                      <a16:creationId xmlns:a16="http://schemas.microsoft.com/office/drawing/2014/main" id="{E012CBBE-B630-4BA9-83FD-C70731A3BCAF}"/>
                    </a:ext>
                  </a:extLst>
                </p:cNvPr>
                <p:cNvSpPr txBox="1"/>
                <p:nvPr/>
              </p:nvSpPr>
              <p:spPr>
                <a:xfrm>
                  <a:off x="8534759" y="3229846"/>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000" b="1" dirty="0">
                      <a:latin typeface="SamsungOne 400" panose="020B0503030303020204" pitchFamily="34" charset="0"/>
                      <a:ea typeface="SamsungOne 400" panose="020B0503030303020204" pitchFamily="34" charset="0"/>
                    </a:rPr>
                    <a:t>training set</a:t>
                  </a:r>
                </a:p>
              </p:txBody>
            </p:sp>
            <p:sp>
              <p:nvSpPr>
                <p:cNvPr id="88" name="TextBox 87">
                  <a:extLst>
                    <a:ext uri="{FF2B5EF4-FFF2-40B4-BE49-F238E27FC236}">
                      <a16:creationId xmlns:a16="http://schemas.microsoft.com/office/drawing/2014/main" id="{428051A1-F6CE-4BEC-BA64-E142809DC4F9}"/>
                    </a:ext>
                  </a:extLst>
                </p:cNvPr>
                <p:cNvSpPr txBox="1"/>
                <p:nvPr/>
              </p:nvSpPr>
              <p:spPr>
                <a:xfrm>
                  <a:off x="4472247" y="3783850"/>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000" b="1" dirty="0">
                      <a:latin typeface="SamsungOne 400" panose="020B0503030303020204" pitchFamily="34" charset="0"/>
                      <a:ea typeface="SamsungOne 400" panose="020B0503030303020204" pitchFamily="34" charset="0"/>
                    </a:rPr>
                    <a:t>training set</a:t>
                  </a:r>
                </a:p>
              </p:txBody>
            </p:sp>
            <p:sp>
              <p:nvSpPr>
                <p:cNvPr id="89" name="TextBox 88">
                  <a:extLst>
                    <a:ext uri="{FF2B5EF4-FFF2-40B4-BE49-F238E27FC236}">
                      <a16:creationId xmlns:a16="http://schemas.microsoft.com/office/drawing/2014/main" id="{77B24D12-C0B4-4939-ABAE-0E0943B504EF}"/>
                    </a:ext>
                  </a:extLst>
                </p:cNvPr>
                <p:cNvSpPr txBox="1"/>
                <p:nvPr/>
              </p:nvSpPr>
              <p:spPr>
                <a:xfrm>
                  <a:off x="5282655" y="3982291"/>
                  <a:ext cx="7629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en-US"/>
                  </a:defPPr>
                  <a:lvl1pPr algn="ctr">
                    <a:defRPr sz="1100">
                      <a:solidFill>
                        <a:schemeClr val="tx1">
                          <a:lumMod val="85000"/>
                          <a:lumOff val="15000"/>
                        </a:schemeClr>
                      </a:solidFill>
                      <a:latin typeface="SamsungOne 700" panose="020B0803030303020204" pitchFamily="34" charset="0"/>
                      <a:ea typeface="SamsungOne 700" panose="020B08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000" b="1" dirty="0">
                      <a:latin typeface="SamsungOne 400" panose="020B0503030303020204" pitchFamily="34" charset="0"/>
                      <a:ea typeface="SamsungOne 400" panose="020B0503030303020204" pitchFamily="34" charset="0"/>
                    </a:rPr>
                    <a:t>training set</a:t>
                  </a:r>
                </a:p>
              </p:txBody>
            </p:sp>
          </p:grpSp>
          <p:sp>
            <p:nvSpPr>
              <p:cNvPr id="98" name="직사각형 97">
                <a:extLst>
                  <a:ext uri="{FF2B5EF4-FFF2-40B4-BE49-F238E27FC236}">
                    <a16:creationId xmlns:a16="http://schemas.microsoft.com/office/drawing/2014/main" id="{FD750C8D-2D38-4961-9155-F94E9E52EBAC}"/>
                  </a:ext>
                </a:extLst>
              </p:cNvPr>
              <p:cNvSpPr/>
              <p:nvPr/>
            </p:nvSpPr>
            <p:spPr>
              <a:xfrm>
                <a:off x="4090108" y="2346957"/>
                <a:ext cx="1972833" cy="202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Repeated measurement</a:t>
                </a:r>
              </a:p>
            </p:txBody>
          </p:sp>
          <p:sp>
            <p:nvSpPr>
              <p:cNvPr id="99" name="직사각형 98">
                <a:extLst>
                  <a:ext uri="{FF2B5EF4-FFF2-40B4-BE49-F238E27FC236}">
                    <a16:creationId xmlns:a16="http://schemas.microsoft.com/office/drawing/2014/main" id="{31B5FF43-A3E4-48FD-AF97-DB87D460A31F}"/>
                  </a:ext>
                </a:extLst>
              </p:cNvPr>
              <p:cNvSpPr/>
              <p:nvPr/>
            </p:nvSpPr>
            <p:spPr>
              <a:xfrm>
                <a:off x="4870641" y="2111024"/>
                <a:ext cx="411766"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n=k</a:t>
                </a:r>
              </a:p>
            </p:txBody>
          </p:sp>
          <p:sp>
            <p:nvSpPr>
              <p:cNvPr id="100" name="직사각형 99">
                <a:extLst>
                  <a:ext uri="{FF2B5EF4-FFF2-40B4-BE49-F238E27FC236}">
                    <a16:creationId xmlns:a16="http://schemas.microsoft.com/office/drawing/2014/main" id="{468715D7-AE64-44F4-AD1A-3000D0AC42B3}"/>
                  </a:ext>
                </a:extLst>
              </p:cNvPr>
              <p:cNvSpPr/>
              <p:nvPr/>
            </p:nvSpPr>
            <p:spPr>
              <a:xfrm>
                <a:off x="5349988" y="2108559"/>
                <a:ext cx="1759834" cy="200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n=10 most of the time</a:t>
                </a:r>
              </a:p>
            </p:txBody>
          </p:sp>
        </p:grpSp>
        <p:sp>
          <p:nvSpPr>
            <p:cNvPr id="96" name="직사각형 95">
              <a:extLst>
                <a:ext uri="{FF2B5EF4-FFF2-40B4-BE49-F238E27FC236}">
                  <a16:creationId xmlns:a16="http://schemas.microsoft.com/office/drawing/2014/main" id="{207A0BDC-18F4-43CB-A178-A560C10DC076}"/>
                </a:ext>
              </a:extLst>
            </p:cNvPr>
            <p:cNvSpPr/>
            <p:nvPr/>
          </p:nvSpPr>
          <p:spPr>
            <a:xfrm>
              <a:off x="4249549" y="1830216"/>
              <a:ext cx="1405668" cy="2154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ctr">
                <a:spcAft>
                  <a:spcPts val="800"/>
                </a:spcAft>
                <a:buClr>
                  <a:srgbClr val="193EB0"/>
                </a:buClr>
              </a:pPr>
              <a:r>
                <a:rPr lang="en-US" altLang="ko-KR" sz="1400" b="1" dirty="0">
                  <a:solidFill>
                    <a:schemeClr val="tx1"/>
                  </a:solidFill>
                  <a:latin typeface="SamsungOne 400" panose="020B0503030303020204" pitchFamily="34" charset="0"/>
                  <a:ea typeface="SamsungOne 400" panose="020B0503030303020204" pitchFamily="34" charset="0"/>
                </a:rPr>
                <a:t>k-cross folding</a:t>
              </a:r>
              <a:endParaRPr lang="en-US" altLang="ko-KR" sz="1400" b="1" dirty="0">
                <a:solidFill>
                  <a:prstClr val="black">
                    <a:lumMod val="85000"/>
                    <a:lumOff val="15000"/>
                  </a:prstClr>
                </a:solidFill>
                <a:latin typeface="SamsungOne 400" panose="020B0503030303020204" pitchFamily="34" charset="0"/>
                <a:ea typeface="SamsungOne 400" panose="020B0503030303020204" pitchFamily="34" charset="0"/>
              </a:endParaRPr>
            </a:p>
          </p:txBody>
        </p:sp>
      </p:grpSp>
    </p:spTree>
    <p:extLst>
      <p:ext uri="{BB962C8B-B14F-4D97-AF65-F5344CB8AC3E}">
        <p14:creationId xmlns:p14="http://schemas.microsoft.com/office/powerpoint/2010/main" val="7735412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33">
            <a:extLst>
              <a:ext uri="{FF2B5EF4-FFF2-40B4-BE49-F238E27FC236}">
                <a16:creationId xmlns:a16="http://schemas.microsoft.com/office/drawing/2014/main" id="{551F01E8-8777-4A7B-AD71-63E7C805C68C}"/>
              </a:ext>
            </a:extLst>
          </p:cNvPr>
          <p:cNvSpPr/>
          <p:nvPr/>
        </p:nvSpPr>
        <p:spPr>
          <a:xfrm>
            <a:off x="989683" y="3133792"/>
            <a:ext cx="8913142"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Machine Learning Based Data Analysis</a:t>
            </a:r>
            <a:endParaRPr kumimoji="1" lang="ko-KR" altLang="en-US" sz="3200" dirty="0">
              <a:solidFill>
                <a:prstClr val="black"/>
              </a:solidFill>
              <a:latin typeface="Samsung Sharp Sans" pitchFamily="2" charset="0"/>
              <a:ea typeface="맑은 고딕" panose="020B0503020000020004" pitchFamily="50" charset="-127"/>
              <a:cs typeface="Samsung Sharp Sans" pitchFamily="2" charset="0"/>
            </a:endParaRP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1.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17" name="직사각형 16">
            <a:extLst>
              <a:ext uri="{FF2B5EF4-FFF2-40B4-BE49-F238E27FC236}">
                <a16:creationId xmlns:a16="http://schemas.microsoft.com/office/drawing/2014/main" id="{88522452-0F25-4CFF-B4F1-4F97F94CF66D}"/>
              </a:ext>
            </a:extLst>
          </p:cNvPr>
          <p:cNvSpPr/>
          <p:nvPr/>
        </p:nvSpPr>
        <p:spPr>
          <a:xfrm>
            <a:off x="1054111" y="3929021"/>
            <a:ext cx="8613825" cy="1897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rPr>
              <a:t>1.1. What is Machine Learning?</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rPr>
              <a:t>1.2. Python </a:t>
            </a:r>
            <a:r>
              <a:rPr lang="en-US" altLang="ko-KR" dirty="0" err="1">
                <a:solidFill>
                  <a:srgbClr val="A6A6A6"/>
                </a:solidFill>
                <a:latin typeface="SamsungOne 400" panose="020B0503030303020204" pitchFamily="34" charset="0"/>
              </a:rPr>
              <a:t>scikit</a:t>
            </a:r>
            <a:r>
              <a:rPr lang="en-US" altLang="ko-KR" dirty="0">
                <a:solidFill>
                  <a:srgbClr val="A6A6A6"/>
                </a:solidFill>
                <a:latin typeface="SamsungOne 400" panose="020B0503030303020204" pitchFamily="34" charset="0"/>
              </a:rPr>
              <a:t>-learn Library for Machine Learning </a:t>
            </a:r>
          </a:p>
          <a:p>
            <a:pPr marL="176213" marR="0" lvl="0" indent="-176213" fontAlgn="base">
              <a:lnSpc>
                <a:spcPct val="100000"/>
              </a:lnSpc>
              <a:spcBef>
                <a:spcPct val="0"/>
              </a:spcBef>
              <a:spcAft>
                <a:spcPts val="1000"/>
              </a:spcAft>
              <a:buClrTx/>
              <a:buSzPct val="120000"/>
              <a:buBlip>
                <a:blip r:embed="rId3"/>
              </a:buBlip>
              <a:tabLst/>
              <a:defRPr/>
            </a:pPr>
            <a:r>
              <a:rPr lang="en-US" altLang="ko-KR" dirty="0">
                <a:solidFill>
                  <a:srgbClr val="A6A6A6"/>
                </a:solidFill>
                <a:latin typeface="SamsungOne 400" panose="020B0503030303020204" pitchFamily="34" charset="0"/>
              </a:rPr>
              <a:t>1.3. Preparation and Division of Dataset</a:t>
            </a:r>
            <a:endParaRPr lang="ko-KR" altLang="en-US" dirty="0">
              <a:solidFill>
                <a:srgbClr val="A6A6A6"/>
              </a:solidFill>
              <a:latin typeface="SamsungOne 400" panose="020B0503030303020204" pitchFamily="34" charset="0"/>
            </a:endParaRP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1.4. Data Pre-processing for Making a Good Training Dataset </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rPr>
              <a:t>1.5. Practicing to Find an Optimal Method to Solve Problems with </a:t>
            </a:r>
            <a:r>
              <a:rPr lang="en-US" altLang="ko-KR" dirty="0" err="1">
                <a:solidFill>
                  <a:srgbClr val="A6A6A6"/>
                </a:solidFill>
                <a:latin typeface="SamsungOne 400" panose="020B0503030303020204" pitchFamily="34" charset="0"/>
              </a:rPr>
              <a:t>scikit</a:t>
            </a:r>
            <a:r>
              <a:rPr lang="en-US" altLang="ko-KR" dirty="0">
                <a:solidFill>
                  <a:srgbClr val="A6A6A6"/>
                </a:solidFill>
                <a:latin typeface="SamsungOne 400" panose="020B0503030303020204" pitchFamily="34" charset="0"/>
              </a:rPr>
              <a:t>-learn</a:t>
            </a:r>
            <a:endParaRPr lang="ko-KR" altLang="en-US" dirty="0">
              <a:solidFill>
                <a:srgbClr val="A6A6A6"/>
              </a:solidFill>
              <a:latin typeface="SamsungOne 400" panose="020B0503030303020204" pitchFamily="34" charset="0"/>
            </a:endParaRPr>
          </a:p>
        </p:txBody>
      </p:sp>
    </p:spTree>
    <p:extLst>
      <p:ext uri="{BB962C8B-B14F-4D97-AF65-F5344CB8AC3E}">
        <p14:creationId xmlns:p14="http://schemas.microsoft.com/office/powerpoint/2010/main" val="7842716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7" name="직사각형 26">
            <a:extLst>
              <a:ext uri="{FF2B5EF4-FFF2-40B4-BE49-F238E27FC236}">
                <a16:creationId xmlns:a16="http://schemas.microsoft.com/office/drawing/2014/main" id="{27404FC2-DE98-4D13-B8E1-FD41E93BAF80}"/>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Missing Value Processing</a:t>
            </a:r>
            <a:endParaRPr lang="ko-KR" altLang="en-US" sz="2400" dirty="0">
              <a:solidFill>
                <a:schemeClr val="tx1">
                  <a:lumMod val="95000"/>
                  <a:lumOff val="5000"/>
                </a:schemeClr>
              </a:solidFill>
              <a:latin typeface="Samsung Sharp Sans" pitchFamily="2" charset="0"/>
              <a:ea typeface="Samsung Sharp Sans" pitchFamily="2" charset="0"/>
              <a:cs typeface="Samsung Sharp Sans" pitchFamily="2" charset="0"/>
            </a:endParaRPr>
          </a:p>
        </p:txBody>
      </p:sp>
      <p:sp>
        <p:nvSpPr>
          <p:cNvPr id="28" name="직사각형 27">
            <a:extLst>
              <a:ext uri="{FF2B5EF4-FFF2-40B4-BE49-F238E27FC236}">
                <a16:creationId xmlns:a16="http://schemas.microsoft.com/office/drawing/2014/main" id="{1ADC1D4B-BEE0-431F-83C7-77A5B95E0E0C}"/>
              </a:ext>
            </a:extLst>
          </p:cNvPr>
          <p:cNvSpPr/>
          <p:nvPr/>
        </p:nvSpPr>
        <p:spPr>
          <a:xfrm>
            <a:off x="558800" y="1902172"/>
            <a:ext cx="8763637"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Data cleansing for machine learning-based data analysis uses missing value and noise processing to eliminate discrepancies in collected data.</a:t>
            </a:r>
          </a:p>
        </p:txBody>
      </p:sp>
      <p:sp>
        <p:nvSpPr>
          <p:cNvPr id="30" name="직사각형 29">
            <a:extLst>
              <a:ext uri="{FF2B5EF4-FFF2-40B4-BE49-F238E27FC236}">
                <a16:creationId xmlns:a16="http://schemas.microsoft.com/office/drawing/2014/main" id="{BD56C405-6DBF-4B19-BB5D-730EB11C9453}"/>
              </a:ext>
            </a:extLst>
          </p:cNvPr>
          <p:cNvSpPr/>
          <p:nvPr/>
        </p:nvSpPr>
        <p:spPr>
          <a:xfrm>
            <a:off x="672080" y="2367368"/>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Missing value processing is done as follows.</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First, import the iris data for quick examination.</a:t>
            </a:r>
          </a:p>
        </p:txBody>
      </p:sp>
      <p:grpSp>
        <p:nvGrpSpPr>
          <p:cNvPr id="2" name="그룹 1"/>
          <p:cNvGrpSpPr/>
          <p:nvPr/>
        </p:nvGrpSpPr>
        <p:grpSpPr>
          <a:xfrm>
            <a:off x="666749" y="3058173"/>
            <a:ext cx="8677277" cy="3208607"/>
            <a:chOff x="666749" y="3100118"/>
            <a:chExt cx="8677277" cy="3208607"/>
          </a:xfrm>
        </p:grpSpPr>
        <p:sp>
          <p:nvSpPr>
            <p:cNvPr id="32" name="모서리가 둥근 직사각형 4">
              <a:extLst>
                <a:ext uri="{FF2B5EF4-FFF2-40B4-BE49-F238E27FC236}">
                  <a16:creationId xmlns:a16="http://schemas.microsoft.com/office/drawing/2014/main" id="{935CB238-DDBF-4639-9CA8-D76F59314EEA}"/>
                </a:ext>
              </a:extLst>
            </p:cNvPr>
            <p:cNvSpPr/>
            <p:nvPr/>
          </p:nvSpPr>
          <p:spPr>
            <a:xfrm>
              <a:off x="666749" y="3100118"/>
              <a:ext cx="8677276" cy="320860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3" name="그림 32">
              <a:extLst>
                <a:ext uri="{FF2B5EF4-FFF2-40B4-BE49-F238E27FC236}">
                  <a16:creationId xmlns:a16="http://schemas.microsoft.com/office/drawing/2014/main" id="{DEFF22BB-247F-413A-B211-B3634190FFA4}"/>
                </a:ext>
              </a:extLst>
            </p:cNvPr>
            <p:cNvPicPr>
              <a:picLocks noChangeAspect="1"/>
            </p:cNvPicPr>
            <p:nvPr/>
          </p:nvPicPr>
          <p:blipFill rotWithShape="1">
            <a:blip r:embed="rId4"/>
            <a:srcRect l="2257" t="-1" r="24254" b="939"/>
            <a:stretch/>
          </p:blipFill>
          <p:spPr>
            <a:xfrm>
              <a:off x="847726" y="3176973"/>
              <a:ext cx="8496300" cy="3010467"/>
            </a:xfrm>
            <a:prstGeom prst="rect">
              <a:avLst/>
            </a:prstGeom>
            <a:ln>
              <a:noFill/>
            </a:ln>
          </p:spPr>
        </p:pic>
      </p:grpSp>
    </p:spTree>
    <p:extLst>
      <p:ext uri="{BB962C8B-B14F-4D97-AF65-F5344CB8AC3E}">
        <p14:creationId xmlns:p14="http://schemas.microsoft.com/office/powerpoint/2010/main" val="23960188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Missing value processing</a:t>
            </a:r>
            <a:endParaRPr lang="ko-KR" altLang="en-US" sz="14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grpSp>
        <p:nvGrpSpPr>
          <p:cNvPr id="29" name="그룹 28">
            <a:extLst>
              <a:ext uri="{FF2B5EF4-FFF2-40B4-BE49-F238E27FC236}">
                <a16:creationId xmlns:a16="http://schemas.microsoft.com/office/drawing/2014/main" id="{A4D6EBC9-455E-14D4-0A65-FDA934A17A13}"/>
              </a:ext>
            </a:extLst>
          </p:cNvPr>
          <p:cNvGrpSpPr/>
          <p:nvPr/>
        </p:nvGrpSpPr>
        <p:grpSpPr>
          <a:xfrm>
            <a:off x="558799" y="1725237"/>
            <a:ext cx="8785227" cy="4559654"/>
            <a:chOff x="558799" y="1725237"/>
            <a:chExt cx="8785227" cy="4559654"/>
          </a:xfrm>
        </p:grpSpPr>
        <p:sp>
          <p:nvSpPr>
            <p:cNvPr id="2" name="모서리가 둥근 직사각형 4">
              <a:extLst>
                <a:ext uri="{FF2B5EF4-FFF2-40B4-BE49-F238E27FC236}">
                  <a16:creationId xmlns:a16="http://schemas.microsoft.com/office/drawing/2014/main" id="{2418A180-4FA1-AC6A-6011-00A21BBF0B87}"/>
                </a:ext>
              </a:extLst>
            </p:cNvPr>
            <p:cNvSpPr/>
            <p:nvPr/>
          </p:nvSpPr>
          <p:spPr>
            <a:xfrm>
              <a:off x="558799" y="1725237"/>
              <a:ext cx="8785226" cy="455965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 name="그림 2">
              <a:extLst>
                <a:ext uri="{FF2B5EF4-FFF2-40B4-BE49-F238E27FC236}">
                  <a16:creationId xmlns:a16="http://schemas.microsoft.com/office/drawing/2014/main" id="{9A9B5621-2CC1-DE3B-4681-F6121E39D98E}"/>
                </a:ext>
              </a:extLst>
            </p:cNvPr>
            <p:cNvPicPr>
              <a:picLocks noChangeAspect="1"/>
            </p:cNvPicPr>
            <p:nvPr/>
          </p:nvPicPr>
          <p:blipFill rotWithShape="1">
            <a:blip r:embed="rId4"/>
            <a:srcRect r="14132"/>
            <a:stretch/>
          </p:blipFill>
          <p:spPr>
            <a:xfrm>
              <a:off x="1360066" y="1820315"/>
              <a:ext cx="7983960" cy="4414046"/>
            </a:xfrm>
            <a:prstGeom prst="rect">
              <a:avLst/>
            </a:prstGeom>
          </p:spPr>
        </p:pic>
        <p:grpSp>
          <p:nvGrpSpPr>
            <p:cNvPr id="11" name="그룹 10">
              <a:extLst>
                <a:ext uri="{FF2B5EF4-FFF2-40B4-BE49-F238E27FC236}">
                  <a16:creationId xmlns:a16="http://schemas.microsoft.com/office/drawing/2014/main" id="{DC64897F-5129-8258-FBAD-270CD2B8235C}"/>
                </a:ext>
              </a:extLst>
            </p:cNvPr>
            <p:cNvGrpSpPr/>
            <p:nvPr/>
          </p:nvGrpSpPr>
          <p:grpSpPr>
            <a:xfrm>
              <a:off x="729487" y="1897766"/>
              <a:ext cx="575057" cy="211278"/>
              <a:chOff x="729487" y="1897766"/>
              <a:chExt cx="575057" cy="211278"/>
            </a:xfrm>
          </p:grpSpPr>
          <p:pic>
            <p:nvPicPr>
              <p:cNvPr id="7" name="그림 6">
                <a:extLst>
                  <a:ext uri="{FF2B5EF4-FFF2-40B4-BE49-F238E27FC236}">
                    <a16:creationId xmlns:a16="http://schemas.microsoft.com/office/drawing/2014/main" id="{C05B805D-1BC2-1EB9-D626-29C6D37102D6}"/>
                  </a:ext>
                </a:extLst>
              </p:cNvPr>
              <p:cNvPicPr>
                <a:picLocks noChangeAspect="1"/>
              </p:cNvPicPr>
              <p:nvPr/>
            </p:nvPicPr>
            <p:blipFill>
              <a:blip r:embed="rId5"/>
              <a:stretch>
                <a:fillRect/>
              </a:stretch>
            </p:blipFill>
            <p:spPr>
              <a:xfrm>
                <a:off x="729487" y="1897766"/>
                <a:ext cx="575057" cy="211278"/>
              </a:xfrm>
              <a:prstGeom prst="rect">
                <a:avLst/>
              </a:prstGeom>
            </p:spPr>
          </p:pic>
          <p:sp>
            <p:nvSpPr>
              <p:cNvPr id="9" name="직사각형 8">
                <a:extLst>
                  <a:ext uri="{FF2B5EF4-FFF2-40B4-BE49-F238E27FC236}">
                    <a16:creationId xmlns:a16="http://schemas.microsoft.com/office/drawing/2014/main" id="{766C112F-FBEC-0A19-4D1D-305BA31550A1}"/>
                  </a:ext>
                </a:extLst>
              </p:cNvPr>
              <p:cNvSpPr/>
              <p:nvPr/>
            </p:nvSpPr>
            <p:spPr>
              <a:xfrm>
                <a:off x="1059687" y="1945279"/>
                <a:ext cx="92457" cy="1212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dirty="0">
                    <a:solidFill>
                      <a:srgbClr val="2D3C9D"/>
                    </a:solidFill>
                    <a:latin typeface="D2Coding" panose="020B0609020101020101" pitchFamily="49" charset="-127"/>
                    <a:ea typeface="D2Coding" panose="020B0609020101020101" pitchFamily="49" charset="-127"/>
                  </a:rPr>
                  <a:t>7</a:t>
                </a:r>
                <a:endParaRPr lang="ko-KR" altLang="en-US" sz="1100" dirty="0">
                  <a:solidFill>
                    <a:srgbClr val="2D3C9D"/>
                  </a:solidFill>
                  <a:latin typeface="D2Coding" panose="020B0609020101020101" pitchFamily="49" charset="-127"/>
                  <a:ea typeface="D2Coding" panose="020B0609020101020101" pitchFamily="49" charset="-127"/>
                </a:endParaRPr>
              </a:p>
            </p:txBody>
          </p:sp>
        </p:grpSp>
        <p:grpSp>
          <p:nvGrpSpPr>
            <p:cNvPr id="12" name="그룹 11">
              <a:extLst>
                <a:ext uri="{FF2B5EF4-FFF2-40B4-BE49-F238E27FC236}">
                  <a16:creationId xmlns:a16="http://schemas.microsoft.com/office/drawing/2014/main" id="{B9CCC886-A87A-8377-443F-9C6B466152FD}"/>
                </a:ext>
              </a:extLst>
            </p:cNvPr>
            <p:cNvGrpSpPr/>
            <p:nvPr/>
          </p:nvGrpSpPr>
          <p:grpSpPr>
            <a:xfrm>
              <a:off x="729487" y="2593995"/>
              <a:ext cx="575057" cy="211278"/>
              <a:chOff x="729487" y="1897766"/>
              <a:chExt cx="575057" cy="211278"/>
            </a:xfrm>
          </p:grpSpPr>
          <p:pic>
            <p:nvPicPr>
              <p:cNvPr id="13" name="그림 12">
                <a:extLst>
                  <a:ext uri="{FF2B5EF4-FFF2-40B4-BE49-F238E27FC236}">
                    <a16:creationId xmlns:a16="http://schemas.microsoft.com/office/drawing/2014/main" id="{C9419C12-6D74-AD18-DB0A-FAF9F2E6C4B1}"/>
                  </a:ext>
                </a:extLst>
              </p:cNvPr>
              <p:cNvPicPr>
                <a:picLocks noChangeAspect="1"/>
              </p:cNvPicPr>
              <p:nvPr/>
            </p:nvPicPr>
            <p:blipFill>
              <a:blip r:embed="rId5"/>
              <a:stretch>
                <a:fillRect/>
              </a:stretch>
            </p:blipFill>
            <p:spPr>
              <a:xfrm>
                <a:off x="729487" y="1897766"/>
                <a:ext cx="575057" cy="211278"/>
              </a:xfrm>
              <a:prstGeom prst="rect">
                <a:avLst/>
              </a:prstGeom>
            </p:spPr>
          </p:pic>
          <p:sp>
            <p:nvSpPr>
              <p:cNvPr id="14" name="직사각형 13">
                <a:extLst>
                  <a:ext uri="{FF2B5EF4-FFF2-40B4-BE49-F238E27FC236}">
                    <a16:creationId xmlns:a16="http://schemas.microsoft.com/office/drawing/2014/main" id="{50640F0C-6822-FD50-950E-4AAEF283AA7F}"/>
                  </a:ext>
                </a:extLst>
              </p:cNvPr>
              <p:cNvSpPr/>
              <p:nvPr/>
            </p:nvSpPr>
            <p:spPr>
              <a:xfrm>
                <a:off x="1059687" y="1945279"/>
                <a:ext cx="92457" cy="1212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dirty="0">
                    <a:solidFill>
                      <a:srgbClr val="2D3C9D"/>
                    </a:solidFill>
                    <a:latin typeface="D2Coding" panose="020B0609020101020101" pitchFamily="49" charset="-127"/>
                    <a:ea typeface="D2Coding" panose="020B0609020101020101" pitchFamily="49" charset="-127"/>
                  </a:rPr>
                  <a:t>8</a:t>
                </a:r>
                <a:endParaRPr lang="ko-KR" altLang="en-US" sz="1100" dirty="0">
                  <a:solidFill>
                    <a:srgbClr val="2D3C9D"/>
                  </a:solidFill>
                  <a:latin typeface="D2Coding" panose="020B0609020101020101" pitchFamily="49" charset="-127"/>
                  <a:ea typeface="D2Coding" panose="020B0609020101020101" pitchFamily="49" charset="-127"/>
                </a:endParaRPr>
              </a:p>
            </p:txBody>
          </p:sp>
        </p:grpSp>
        <p:grpSp>
          <p:nvGrpSpPr>
            <p:cNvPr id="19" name="그룹 18">
              <a:extLst>
                <a:ext uri="{FF2B5EF4-FFF2-40B4-BE49-F238E27FC236}">
                  <a16:creationId xmlns:a16="http://schemas.microsoft.com/office/drawing/2014/main" id="{CAAE40E5-8C60-38B5-CCD6-3E83061F5AC6}"/>
                </a:ext>
              </a:extLst>
            </p:cNvPr>
            <p:cNvGrpSpPr/>
            <p:nvPr/>
          </p:nvGrpSpPr>
          <p:grpSpPr>
            <a:xfrm>
              <a:off x="721943" y="2940255"/>
              <a:ext cx="585954" cy="206900"/>
              <a:chOff x="716863" y="2946260"/>
              <a:chExt cx="585954" cy="206900"/>
            </a:xfrm>
          </p:grpSpPr>
          <p:pic>
            <p:nvPicPr>
              <p:cNvPr id="15" name="그림 14">
                <a:extLst>
                  <a:ext uri="{FF2B5EF4-FFF2-40B4-BE49-F238E27FC236}">
                    <a16:creationId xmlns:a16="http://schemas.microsoft.com/office/drawing/2014/main" id="{09C6FC02-5012-7ECC-C965-0B82A30ED1C3}"/>
                  </a:ext>
                </a:extLst>
              </p:cNvPr>
              <p:cNvPicPr>
                <a:picLocks noChangeAspect="1"/>
              </p:cNvPicPr>
              <p:nvPr/>
            </p:nvPicPr>
            <p:blipFill>
              <a:blip r:embed="rId6"/>
              <a:stretch>
                <a:fillRect/>
              </a:stretch>
            </p:blipFill>
            <p:spPr>
              <a:xfrm>
                <a:off x="716863" y="2946260"/>
                <a:ext cx="585954" cy="206900"/>
              </a:xfrm>
              <a:prstGeom prst="rect">
                <a:avLst/>
              </a:prstGeom>
            </p:spPr>
          </p:pic>
          <p:sp>
            <p:nvSpPr>
              <p:cNvPr id="16" name="직사각형 15">
                <a:extLst>
                  <a:ext uri="{FF2B5EF4-FFF2-40B4-BE49-F238E27FC236}">
                    <a16:creationId xmlns:a16="http://schemas.microsoft.com/office/drawing/2014/main" id="{8CD1B7BC-8574-D03D-59D1-4EEFD04E5E8C}"/>
                  </a:ext>
                </a:extLst>
              </p:cNvPr>
              <p:cNvSpPr/>
              <p:nvPr/>
            </p:nvSpPr>
            <p:spPr>
              <a:xfrm>
                <a:off x="1068061" y="2977210"/>
                <a:ext cx="7240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ko-KR" sz="1100" dirty="0">
                    <a:solidFill>
                      <a:srgbClr val="D84315"/>
                    </a:solidFill>
                    <a:latin typeface="D2Coding" panose="020B0609020101020101" pitchFamily="49" charset="-127"/>
                    <a:ea typeface="D2Coding" panose="020B0609020101020101" pitchFamily="49" charset="-127"/>
                  </a:rPr>
                  <a:t>8</a:t>
                </a:r>
                <a:endParaRPr lang="ko-KR" altLang="en-US" sz="1100" dirty="0">
                  <a:solidFill>
                    <a:srgbClr val="D84315"/>
                  </a:solidFill>
                  <a:latin typeface="D2Coding" panose="020B0609020101020101" pitchFamily="49" charset="-127"/>
                  <a:ea typeface="D2Coding" panose="020B0609020101020101" pitchFamily="49" charset="-127"/>
                </a:endParaRPr>
              </a:p>
            </p:txBody>
          </p:sp>
        </p:grpSp>
        <p:grpSp>
          <p:nvGrpSpPr>
            <p:cNvPr id="20" name="그룹 19">
              <a:extLst>
                <a:ext uri="{FF2B5EF4-FFF2-40B4-BE49-F238E27FC236}">
                  <a16:creationId xmlns:a16="http://schemas.microsoft.com/office/drawing/2014/main" id="{3F7702B5-C4EF-F729-1F6F-7D329106B6DE}"/>
                </a:ext>
              </a:extLst>
            </p:cNvPr>
            <p:cNvGrpSpPr/>
            <p:nvPr/>
          </p:nvGrpSpPr>
          <p:grpSpPr>
            <a:xfrm>
              <a:off x="724335" y="3433993"/>
              <a:ext cx="575057" cy="211278"/>
              <a:chOff x="729487" y="1897766"/>
              <a:chExt cx="575057" cy="211278"/>
            </a:xfrm>
          </p:grpSpPr>
          <p:pic>
            <p:nvPicPr>
              <p:cNvPr id="21" name="그림 20">
                <a:extLst>
                  <a:ext uri="{FF2B5EF4-FFF2-40B4-BE49-F238E27FC236}">
                    <a16:creationId xmlns:a16="http://schemas.microsoft.com/office/drawing/2014/main" id="{B4F99109-77D4-01FF-1B64-EDCC36FB618E}"/>
                  </a:ext>
                </a:extLst>
              </p:cNvPr>
              <p:cNvPicPr>
                <a:picLocks noChangeAspect="1"/>
              </p:cNvPicPr>
              <p:nvPr/>
            </p:nvPicPr>
            <p:blipFill>
              <a:blip r:embed="rId5"/>
              <a:stretch>
                <a:fillRect/>
              </a:stretch>
            </p:blipFill>
            <p:spPr>
              <a:xfrm>
                <a:off x="729487" y="1897766"/>
                <a:ext cx="575057" cy="211278"/>
              </a:xfrm>
              <a:prstGeom prst="rect">
                <a:avLst/>
              </a:prstGeom>
            </p:spPr>
          </p:pic>
          <p:sp>
            <p:nvSpPr>
              <p:cNvPr id="22" name="직사각형 21">
                <a:extLst>
                  <a:ext uri="{FF2B5EF4-FFF2-40B4-BE49-F238E27FC236}">
                    <a16:creationId xmlns:a16="http://schemas.microsoft.com/office/drawing/2014/main" id="{B8774878-0FB0-0E7F-0EE0-E6A29F55AA03}"/>
                  </a:ext>
                </a:extLst>
              </p:cNvPr>
              <p:cNvSpPr/>
              <p:nvPr/>
            </p:nvSpPr>
            <p:spPr>
              <a:xfrm>
                <a:off x="1059687" y="1945279"/>
                <a:ext cx="92457" cy="1212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dirty="0">
                    <a:solidFill>
                      <a:srgbClr val="2D3C9D"/>
                    </a:solidFill>
                    <a:latin typeface="D2Coding" panose="020B0609020101020101" pitchFamily="49" charset="-127"/>
                    <a:ea typeface="D2Coding" panose="020B0609020101020101" pitchFamily="49" charset="-127"/>
                  </a:rPr>
                  <a:t>9</a:t>
                </a:r>
                <a:endParaRPr lang="ko-KR" altLang="en-US" sz="1100" dirty="0">
                  <a:solidFill>
                    <a:srgbClr val="2D3C9D"/>
                  </a:solidFill>
                  <a:latin typeface="D2Coding" panose="020B0609020101020101" pitchFamily="49" charset="-127"/>
                  <a:ea typeface="D2Coding" panose="020B0609020101020101" pitchFamily="49" charset="-127"/>
                </a:endParaRPr>
              </a:p>
            </p:txBody>
          </p:sp>
        </p:grpSp>
        <p:grpSp>
          <p:nvGrpSpPr>
            <p:cNvPr id="26" name="그룹 25">
              <a:extLst>
                <a:ext uri="{FF2B5EF4-FFF2-40B4-BE49-F238E27FC236}">
                  <a16:creationId xmlns:a16="http://schemas.microsoft.com/office/drawing/2014/main" id="{F3F1F178-1C4A-EDCA-A97F-0D215944F471}"/>
                </a:ext>
              </a:extLst>
            </p:cNvPr>
            <p:cNvGrpSpPr/>
            <p:nvPr/>
          </p:nvGrpSpPr>
          <p:grpSpPr>
            <a:xfrm>
              <a:off x="716791" y="3787252"/>
              <a:ext cx="585954" cy="206900"/>
              <a:chOff x="716863" y="2946260"/>
              <a:chExt cx="585954" cy="206900"/>
            </a:xfrm>
          </p:grpSpPr>
          <p:pic>
            <p:nvPicPr>
              <p:cNvPr id="27" name="그림 26">
                <a:extLst>
                  <a:ext uri="{FF2B5EF4-FFF2-40B4-BE49-F238E27FC236}">
                    <a16:creationId xmlns:a16="http://schemas.microsoft.com/office/drawing/2014/main" id="{52FA0EA9-21A6-B8C8-E2C2-DF415D482EB5}"/>
                  </a:ext>
                </a:extLst>
              </p:cNvPr>
              <p:cNvPicPr>
                <a:picLocks noChangeAspect="1"/>
              </p:cNvPicPr>
              <p:nvPr/>
            </p:nvPicPr>
            <p:blipFill>
              <a:blip r:embed="rId6"/>
              <a:stretch>
                <a:fillRect/>
              </a:stretch>
            </p:blipFill>
            <p:spPr>
              <a:xfrm>
                <a:off x="716863" y="2946260"/>
                <a:ext cx="585954" cy="206900"/>
              </a:xfrm>
              <a:prstGeom prst="rect">
                <a:avLst/>
              </a:prstGeom>
            </p:spPr>
          </p:pic>
          <p:sp>
            <p:nvSpPr>
              <p:cNvPr id="28" name="직사각형 27">
                <a:extLst>
                  <a:ext uri="{FF2B5EF4-FFF2-40B4-BE49-F238E27FC236}">
                    <a16:creationId xmlns:a16="http://schemas.microsoft.com/office/drawing/2014/main" id="{1D2F54A5-3C58-5714-0227-917D96E928D4}"/>
                  </a:ext>
                </a:extLst>
              </p:cNvPr>
              <p:cNvSpPr/>
              <p:nvPr/>
            </p:nvSpPr>
            <p:spPr>
              <a:xfrm>
                <a:off x="1068061" y="2977210"/>
                <a:ext cx="72400" cy="1558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ko-KR" sz="1100" dirty="0">
                    <a:solidFill>
                      <a:srgbClr val="D84315"/>
                    </a:solidFill>
                    <a:latin typeface="D2Coding" panose="020B0609020101020101" pitchFamily="49" charset="-127"/>
                    <a:ea typeface="D2Coding" panose="020B0609020101020101" pitchFamily="49" charset="-127"/>
                  </a:rPr>
                  <a:t>9</a:t>
                </a:r>
                <a:endParaRPr lang="ko-KR" altLang="en-US" sz="1100" dirty="0">
                  <a:solidFill>
                    <a:srgbClr val="D84315"/>
                  </a:solidFill>
                  <a:latin typeface="D2Coding" panose="020B0609020101020101" pitchFamily="49" charset="-127"/>
                  <a:ea typeface="D2Coding" panose="020B0609020101020101" pitchFamily="49" charset="-127"/>
                </a:endParaRPr>
              </a:p>
            </p:txBody>
          </p:sp>
        </p:grpSp>
      </p:grpSp>
    </p:spTree>
    <p:extLst>
      <p:ext uri="{BB962C8B-B14F-4D97-AF65-F5344CB8AC3E}">
        <p14:creationId xmlns:p14="http://schemas.microsoft.com/office/powerpoint/2010/main" val="20552125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Missing value processing</a:t>
            </a:r>
            <a:endParaRPr lang="ko-KR" altLang="en-US" sz="14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grpSp>
        <p:nvGrpSpPr>
          <p:cNvPr id="52" name="그룹 51">
            <a:extLst>
              <a:ext uri="{FF2B5EF4-FFF2-40B4-BE49-F238E27FC236}">
                <a16:creationId xmlns:a16="http://schemas.microsoft.com/office/drawing/2014/main" id="{7C3782AC-A7E8-E669-35FC-2988D0935442}"/>
              </a:ext>
            </a:extLst>
          </p:cNvPr>
          <p:cNvGrpSpPr/>
          <p:nvPr/>
        </p:nvGrpSpPr>
        <p:grpSpPr>
          <a:xfrm>
            <a:off x="558799" y="1725237"/>
            <a:ext cx="8785227" cy="1415731"/>
            <a:chOff x="558799" y="1725237"/>
            <a:chExt cx="8785227" cy="1415731"/>
          </a:xfrm>
        </p:grpSpPr>
        <p:sp>
          <p:nvSpPr>
            <p:cNvPr id="13" name="모서리가 둥근 직사각형 4">
              <a:extLst>
                <a:ext uri="{FF2B5EF4-FFF2-40B4-BE49-F238E27FC236}">
                  <a16:creationId xmlns:a16="http://schemas.microsoft.com/office/drawing/2014/main" id="{7AFF8BAD-B2CB-8AE0-ABAB-55DE334F5F0C}"/>
                </a:ext>
              </a:extLst>
            </p:cNvPr>
            <p:cNvSpPr/>
            <p:nvPr/>
          </p:nvSpPr>
          <p:spPr>
            <a:xfrm>
              <a:off x="558799" y="1725237"/>
              <a:ext cx="8785226" cy="141573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34" name="그림 33">
              <a:extLst>
                <a:ext uri="{FF2B5EF4-FFF2-40B4-BE49-F238E27FC236}">
                  <a16:creationId xmlns:a16="http://schemas.microsoft.com/office/drawing/2014/main" id="{02178B2F-0AEB-07C2-1131-AF94EF811C68}"/>
                </a:ext>
              </a:extLst>
            </p:cNvPr>
            <p:cNvPicPr>
              <a:picLocks noChangeAspect="1"/>
            </p:cNvPicPr>
            <p:nvPr/>
          </p:nvPicPr>
          <p:blipFill rotWithShape="1">
            <a:blip r:embed="rId4"/>
            <a:srcRect r="19549"/>
            <a:stretch/>
          </p:blipFill>
          <p:spPr>
            <a:xfrm>
              <a:off x="1377148" y="1800601"/>
              <a:ext cx="7966878" cy="1237853"/>
            </a:xfrm>
            <a:prstGeom prst="rect">
              <a:avLst/>
            </a:prstGeom>
          </p:spPr>
        </p:pic>
        <p:grpSp>
          <p:nvGrpSpPr>
            <p:cNvPr id="42" name="그룹 41">
              <a:extLst>
                <a:ext uri="{FF2B5EF4-FFF2-40B4-BE49-F238E27FC236}">
                  <a16:creationId xmlns:a16="http://schemas.microsoft.com/office/drawing/2014/main" id="{67548F42-D1BC-4DEF-9919-793F44164736}"/>
                </a:ext>
              </a:extLst>
            </p:cNvPr>
            <p:cNvGrpSpPr/>
            <p:nvPr/>
          </p:nvGrpSpPr>
          <p:grpSpPr>
            <a:xfrm>
              <a:off x="731594" y="1901190"/>
              <a:ext cx="630294" cy="200618"/>
              <a:chOff x="731594" y="1901190"/>
              <a:chExt cx="630294" cy="200618"/>
            </a:xfrm>
          </p:grpSpPr>
          <p:pic>
            <p:nvPicPr>
              <p:cNvPr id="43" name="그림 42">
                <a:extLst>
                  <a:ext uri="{FF2B5EF4-FFF2-40B4-BE49-F238E27FC236}">
                    <a16:creationId xmlns:a16="http://schemas.microsoft.com/office/drawing/2014/main" id="{97CE78A7-8C41-B03F-F6C8-A6C05B026ACA}"/>
                  </a:ext>
                </a:extLst>
              </p:cNvPr>
              <p:cNvPicPr>
                <a:picLocks noChangeAspect="1"/>
              </p:cNvPicPr>
              <p:nvPr/>
            </p:nvPicPr>
            <p:blipFill rotWithShape="1">
              <a:blip r:embed="rId5"/>
              <a:srcRect b="60642"/>
              <a:stretch/>
            </p:blipFill>
            <p:spPr>
              <a:xfrm>
                <a:off x="731594" y="1901190"/>
                <a:ext cx="630294" cy="200618"/>
              </a:xfrm>
              <a:prstGeom prst="rect">
                <a:avLst/>
              </a:prstGeom>
            </p:spPr>
          </p:pic>
          <p:sp>
            <p:nvSpPr>
              <p:cNvPr id="44" name="직사각형 43">
                <a:extLst>
                  <a:ext uri="{FF2B5EF4-FFF2-40B4-BE49-F238E27FC236}">
                    <a16:creationId xmlns:a16="http://schemas.microsoft.com/office/drawing/2014/main" id="{6CB83A1F-F3A8-43A6-19C0-7349110B43B7}"/>
                  </a:ext>
                </a:extLst>
              </p:cNvPr>
              <p:cNvSpPr/>
              <p:nvPr/>
            </p:nvSpPr>
            <p:spPr>
              <a:xfrm>
                <a:off x="1053465" y="1934948"/>
                <a:ext cx="154305" cy="1422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ko-KR" sz="1100" dirty="0">
                    <a:solidFill>
                      <a:srgbClr val="2D3C9D"/>
                    </a:solidFill>
                    <a:latin typeface="D2Coding" panose="020B0609020101020101" pitchFamily="49" charset="-127"/>
                    <a:ea typeface="D2Coding" panose="020B0609020101020101" pitchFamily="49" charset="-127"/>
                  </a:rPr>
                  <a:t>10</a:t>
                </a:r>
                <a:endParaRPr lang="ko-KR" altLang="en-US" sz="1100" dirty="0">
                  <a:solidFill>
                    <a:srgbClr val="2D3C9D"/>
                  </a:solidFill>
                  <a:latin typeface="D2Coding" panose="020B0609020101020101" pitchFamily="49" charset="-127"/>
                  <a:ea typeface="D2Coding" panose="020B0609020101020101" pitchFamily="49" charset="-127"/>
                </a:endParaRPr>
              </a:p>
            </p:txBody>
          </p:sp>
        </p:grpSp>
        <p:grpSp>
          <p:nvGrpSpPr>
            <p:cNvPr id="45" name="그룹 44">
              <a:extLst>
                <a:ext uri="{FF2B5EF4-FFF2-40B4-BE49-F238E27FC236}">
                  <a16:creationId xmlns:a16="http://schemas.microsoft.com/office/drawing/2014/main" id="{5FE9B882-9D21-2A4B-C956-E3E75F2B01EE}"/>
                </a:ext>
              </a:extLst>
            </p:cNvPr>
            <p:cNvGrpSpPr/>
            <p:nvPr/>
          </p:nvGrpSpPr>
          <p:grpSpPr>
            <a:xfrm>
              <a:off x="731594" y="2441449"/>
              <a:ext cx="630294" cy="200618"/>
              <a:chOff x="731594" y="1901190"/>
              <a:chExt cx="630294" cy="200618"/>
            </a:xfrm>
          </p:grpSpPr>
          <p:pic>
            <p:nvPicPr>
              <p:cNvPr id="46" name="그림 45">
                <a:extLst>
                  <a:ext uri="{FF2B5EF4-FFF2-40B4-BE49-F238E27FC236}">
                    <a16:creationId xmlns:a16="http://schemas.microsoft.com/office/drawing/2014/main" id="{1E34592C-E1FE-8A24-87B0-4180F259BABA}"/>
                  </a:ext>
                </a:extLst>
              </p:cNvPr>
              <p:cNvPicPr>
                <a:picLocks noChangeAspect="1"/>
              </p:cNvPicPr>
              <p:nvPr/>
            </p:nvPicPr>
            <p:blipFill rotWithShape="1">
              <a:blip r:embed="rId5"/>
              <a:srcRect b="60642"/>
              <a:stretch/>
            </p:blipFill>
            <p:spPr>
              <a:xfrm>
                <a:off x="731594" y="1901190"/>
                <a:ext cx="630294" cy="200618"/>
              </a:xfrm>
              <a:prstGeom prst="rect">
                <a:avLst/>
              </a:prstGeom>
            </p:spPr>
          </p:pic>
          <p:sp>
            <p:nvSpPr>
              <p:cNvPr id="47" name="직사각형 46">
                <a:extLst>
                  <a:ext uri="{FF2B5EF4-FFF2-40B4-BE49-F238E27FC236}">
                    <a16:creationId xmlns:a16="http://schemas.microsoft.com/office/drawing/2014/main" id="{2138E679-C242-14A7-8F7A-9A98A639AA59}"/>
                  </a:ext>
                </a:extLst>
              </p:cNvPr>
              <p:cNvSpPr/>
              <p:nvPr/>
            </p:nvSpPr>
            <p:spPr>
              <a:xfrm>
                <a:off x="1059361" y="1933043"/>
                <a:ext cx="141833" cy="1422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ko-KR" sz="1100" dirty="0">
                    <a:solidFill>
                      <a:srgbClr val="2D3C9D"/>
                    </a:solidFill>
                    <a:latin typeface="D2Coding" panose="020B0609020101020101" pitchFamily="49" charset="-127"/>
                    <a:ea typeface="D2Coding" panose="020B0609020101020101" pitchFamily="49" charset="-127"/>
                  </a:rPr>
                  <a:t>11</a:t>
                </a:r>
                <a:endParaRPr lang="ko-KR" altLang="en-US" sz="1100" dirty="0">
                  <a:solidFill>
                    <a:srgbClr val="2D3C9D"/>
                  </a:solidFill>
                  <a:latin typeface="D2Coding" panose="020B0609020101020101" pitchFamily="49" charset="-127"/>
                  <a:ea typeface="D2Coding" panose="020B0609020101020101" pitchFamily="49" charset="-127"/>
                </a:endParaRPr>
              </a:p>
            </p:txBody>
          </p:sp>
        </p:grpSp>
        <p:grpSp>
          <p:nvGrpSpPr>
            <p:cNvPr id="48" name="그룹 47">
              <a:extLst>
                <a:ext uri="{FF2B5EF4-FFF2-40B4-BE49-F238E27FC236}">
                  <a16:creationId xmlns:a16="http://schemas.microsoft.com/office/drawing/2014/main" id="{19C53A3A-34FB-FF40-8DB0-D25887E53A00}"/>
                </a:ext>
              </a:extLst>
            </p:cNvPr>
            <p:cNvGrpSpPr/>
            <p:nvPr/>
          </p:nvGrpSpPr>
          <p:grpSpPr>
            <a:xfrm>
              <a:off x="738318" y="2807204"/>
              <a:ext cx="630294" cy="200618"/>
              <a:chOff x="731594" y="1901190"/>
              <a:chExt cx="630294" cy="200618"/>
            </a:xfrm>
          </p:grpSpPr>
          <p:pic>
            <p:nvPicPr>
              <p:cNvPr id="49" name="그림 48">
                <a:extLst>
                  <a:ext uri="{FF2B5EF4-FFF2-40B4-BE49-F238E27FC236}">
                    <a16:creationId xmlns:a16="http://schemas.microsoft.com/office/drawing/2014/main" id="{402B2212-4E7F-4D92-1F1A-BA709ECAE6A1}"/>
                  </a:ext>
                </a:extLst>
              </p:cNvPr>
              <p:cNvPicPr>
                <a:picLocks noChangeAspect="1"/>
              </p:cNvPicPr>
              <p:nvPr/>
            </p:nvPicPr>
            <p:blipFill rotWithShape="1">
              <a:blip r:embed="rId5"/>
              <a:srcRect t="60943" b="-301"/>
              <a:stretch/>
            </p:blipFill>
            <p:spPr>
              <a:xfrm>
                <a:off x="731594" y="1901190"/>
                <a:ext cx="630294" cy="200618"/>
              </a:xfrm>
              <a:prstGeom prst="rect">
                <a:avLst/>
              </a:prstGeom>
            </p:spPr>
          </p:pic>
          <p:sp>
            <p:nvSpPr>
              <p:cNvPr id="50" name="직사각형 49">
                <a:extLst>
                  <a:ext uri="{FF2B5EF4-FFF2-40B4-BE49-F238E27FC236}">
                    <a16:creationId xmlns:a16="http://schemas.microsoft.com/office/drawing/2014/main" id="{6C7287B0-573F-017F-B073-91A9B76633E7}"/>
                  </a:ext>
                </a:extLst>
              </p:cNvPr>
              <p:cNvSpPr/>
              <p:nvPr/>
            </p:nvSpPr>
            <p:spPr>
              <a:xfrm>
                <a:off x="1059361" y="1933043"/>
                <a:ext cx="141833" cy="1422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ko-KR" sz="1100" dirty="0">
                    <a:solidFill>
                      <a:srgbClr val="D84315"/>
                    </a:solidFill>
                    <a:latin typeface="D2Coding" panose="020B0609020101020101" pitchFamily="49" charset="-127"/>
                    <a:ea typeface="D2Coding" panose="020B0609020101020101" pitchFamily="49" charset="-127"/>
                  </a:rPr>
                  <a:t>11</a:t>
                </a:r>
                <a:endParaRPr lang="ko-KR" altLang="en-US" sz="1100" dirty="0">
                  <a:solidFill>
                    <a:srgbClr val="D84315"/>
                  </a:solidFill>
                  <a:latin typeface="D2Coding" panose="020B0609020101020101" pitchFamily="49" charset="-127"/>
                  <a:ea typeface="D2Coding" panose="020B0609020101020101" pitchFamily="49" charset="-127"/>
                </a:endParaRPr>
              </a:p>
            </p:txBody>
          </p:sp>
        </p:grpSp>
      </p:grpSp>
    </p:spTree>
    <p:extLst>
      <p:ext uri="{BB962C8B-B14F-4D97-AF65-F5344CB8AC3E}">
        <p14:creationId xmlns:p14="http://schemas.microsoft.com/office/powerpoint/2010/main" val="10144727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Missing value processing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1) Ignore the record (row)</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In data classification, ignore the record if the class label is not distinguished.</a:t>
            </a:r>
          </a:p>
        </p:txBody>
      </p:sp>
      <p:grpSp>
        <p:nvGrpSpPr>
          <p:cNvPr id="2" name="그룹 1">
            <a:extLst>
              <a:ext uri="{FF2B5EF4-FFF2-40B4-BE49-F238E27FC236}">
                <a16:creationId xmlns:a16="http://schemas.microsoft.com/office/drawing/2014/main" id="{6D8C8243-F288-441D-B7F8-49BA212885EA}"/>
              </a:ext>
            </a:extLst>
          </p:cNvPr>
          <p:cNvGrpSpPr/>
          <p:nvPr/>
        </p:nvGrpSpPr>
        <p:grpSpPr>
          <a:xfrm>
            <a:off x="846956" y="2343262"/>
            <a:ext cx="6979589" cy="345461"/>
            <a:chOff x="846956" y="3582236"/>
            <a:chExt cx="6979589" cy="345461"/>
          </a:xfrm>
        </p:grpSpPr>
        <p:sp>
          <p:nvSpPr>
            <p:cNvPr id="9" name="사각형: 둥근 모서리 2">
              <a:extLst>
                <a:ext uri="{FF2B5EF4-FFF2-40B4-BE49-F238E27FC236}">
                  <a16:creationId xmlns:a16="http://schemas.microsoft.com/office/drawing/2014/main" id="{9123D876-6205-40C8-A20D-FCA71E68C196}"/>
                </a:ext>
              </a:extLst>
            </p:cNvPr>
            <p:cNvSpPr/>
            <p:nvPr/>
          </p:nvSpPr>
          <p:spPr>
            <a:xfrm>
              <a:off x="846956" y="3643133"/>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13" name="직사각형 12">
              <a:extLst>
                <a:ext uri="{FF2B5EF4-FFF2-40B4-BE49-F238E27FC236}">
                  <a16:creationId xmlns:a16="http://schemas.microsoft.com/office/drawing/2014/main" id="{A202934D-7E40-4FDF-82B7-91F685A3BE87}"/>
                </a:ext>
              </a:extLst>
            </p:cNvPr>
            <p:cNvSpPr/>
            <p:nvPr/>
          </p:nvSpPr>
          <p:spPr>
            <a:xfrm>
              <a:off x="1222454" y="3582236"/>
              <a:ext cx="660409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 the case of the iris data, ignore the fourth row as shown on the table below.</a:t>
              </a:r>
            </a:p>
          </p:txBody>
        </p:sp>
      </p:grpSp>
      <p:sp>
        <p:nvSpPr>
          <p:cNvPr id="14" name="직사각형 13">
            <a:extLst>
              <a:ext uri="{FF2B5EF4-FFF2-40B4-BE49-F238E27FC236}">
                <a16:creationId xmlns:a16="http://schemas.microsoft.com/office/drawing/2014/main" id="{F4288644-92DD-4386-B5CE-FF10FFCE9AA6}"/>
              </a:ext>
            </a:extLst>
          </p:cNvPr>
          <p:cNvSpPr/>
          <p:nvPr/>
        </p:nvSpPr>
        <p:spPr>
          <a:xfrm>
            <a:off x="671261" y="4852680"/>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‘Ignore the record’ is extremely inefficient if missing values frequently occur.</a:t>
            </a:r>
          </a:p>
        </p:txBody>
      </p:sp>
      <p:graphicFrame>
        <p:nvGraphicFramePr>
          <p:cNvPr id="3" name="표 3">
            <a:extLst>
              <a:ext uri="{FF2B5EF4-FFF2-40B4-BE49-F238E27FC236}">
                <a16:creationId xmlns:a16="http://schemas.microsoft.com/office/drawing/2014/main" id="{EB52B5E6-3F88-46BE-9680-9D035E1E38A0}"/>
              </a:ext>
            </a:extLst>
          </p:cNvPr>
          <p:cNvGraphicFramePr>
            <a:graphicFrameLocks noGrp="1"/>
          </p:cNvGraphicFramePr>
          <p:nvPr>
            <p:extLst>
              <p:ext uri="{D42A27DB-BD31-4B8C-83A1-F6EECF244321}">
                <p14:modId xmlns:p14="http://schemas.microsoft.com/office/powerpoint/2010/main" val="4160084334"/>
              </p:ext>
            </p:extLst>
          </p:nvPr>
        </p:nvGraphicFramePr>
        <p:xfrm>
          <a:off x="1222122" y="2760778"/>
          <a:ext cx="5399999" cy="1917120"/>
        </p:xfrm>
        <a:graphic>
          <a:graphicData uri="http://schemas.openxmlformats.org/drawingml/2006/table">
            <a:tbl>
              <a:tblPr firstRow="1" bandRow="1">
                <a:tableStyleId>{5C22544A-7EE6-4342-B048-85BDC9FD1C3A}</a:tableStyleId>
              </a:tblPr>
              <a:tblGrid>
                <a:gridCol w="428396">
                  <a:extLst>
                    <a:ext uri="{9D8B030D-6E8A-4147-A177-3AD203B41FA5}">
                      <a16:colId xmlns:a16="http://schemas.microsoft.com/office/drawing/2014/main" val="2802731657"/>
                    </a:ext>
                  </a:extLst>
                </a:gridCol>
                <a:gridCol w="1038713">
                  <a:extLst>
                    <a:ext uri="{9D8B030D-6E8A-4147-A177-3AD203B41FA5}">
                      <a16:colId xmlns:a16="http://schemas.microsoft.com/office/drawing/2014/main" val="1044611708"/>
                    </a:ext>
                  </a:extLst>
                </a:gridCol>
                <a:gridCol w="1038713">
                  <a:extLst>
                    <a:ext uri="{9D8B030D-6E8A-4147-A177-3AD203B41FA5}">
                      <a16:colId xmlns:a16="http://schemas.microsoft.com/office/drawing/2014/main" val="1288837626"/>
                    </a:ext>
                  </a:extLst>
                </a:gridCol>
                <a:gridCol w="1038713">
                  <a:extLst>
                    <a:ext uri="{9D8B030D-6E8A-4147-A177-3AD203B41FA5}">
                      <a16:colId xmlns:a16="http://schemas.microsoft.com/office/drawing/2014/main" val="1537072357"/>
                    </a:ext>
                  </a:extLst>
                </a:gridCol>
                <a:gridCol w="1038713">
                  <a:extLst>
                    <a:ext uri="{9D8B030D-6E8A-4147-A177-3AD203B41FA5}">
                      <a16:colId xmlns:a16="http://schemas.microsoft.com/office/drawing/2014/main" val="558924247"/>
                    </a:ext>
                  </a:extLst>
                </a:gridCol>
                <a:gridCol w="816751">
                  <a:extLst>
                    <a:ext uri="{9D8B030D-6E8A-4147-A177-3AD203B41FA5}">
                      <a16:colId xmlns:a16="http://schemas.microsoft.com/office/drawing/2014/main" val="2754753095"/>
                    </a:ext>
                  </a:extLst>
                </a:gridCol>
              </a:tblGrid>
              <a:tr h="167211">
                <a:tc>
                  <a:txBody>
                    <a:bodyPr/>
                    <a:lstStyle/>
                    <a:p>
                      <a:pPr latinLnBrk="1"/>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x1</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y</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37846415"/>
                  </a:ext>
                </a:extLst>
              </a:tr>
              <a:tr h="167211">
                <a:tc>
                  <a:txBody>
                    <a:bodyPr/>
                    <a:lstStyle/>
                    <a:p>
                      <a:pPr latinLnBrk="1"/>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Sepal.Length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Sepal.Width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Petal.Length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Petal.Width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Species</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57602625"/>
                  </a:ext>
                </a:extLst>
              </a:tr>
              <a:tr h="167211">
                <a:tc>
                  <a:txBody>
                    <a:bodyPr/>
                    <a:lstStyle/>
                    <a:p>
                      <a:pPr algn="r" latinLnBrk="1"/>
                      <a:r>
                        <a:rPr lang="en-US" altLang="ko-KR" sz="1100" b="0" dirty="0">
                          <a:solidFill>
                            <a:schemeClr val="tx1"/>
                          </a:solidFill>
                          <a:latin typeface="SamsungOne 400" panose="020B0503030303020204" pitchFamily="34" charset="0"/>
                          <a:ea typeface="SamsungOne 400" panose="020B0503030303020204" pitchFamily="34" charset="0"/>
                        </a:rPr>
                        <a:t>1</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5.1</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36656663"/>
                  </a:ext>
                </a:extLst>
              </a:tr>
              <a:tr h="167211">
                <a:tc>
                  <a:txBody>
                    <a:bodyPr/>
                    <a:lstStyle/>
                    <a:p>
                      <a:pPr algn="r" latinLnBrk="1"/>
                      <a:r>
                        <a:rPr lang="en-US" altLang="ko-KR" sz="1100" b="0" dirty="0">
                          <a:solidFill>
                            <a:schemeClr val="tx1"/>
                          </a:solidFill>
                          <a:latin typeface="SamsungOne 400" panose="020B0503030303020204" pitchFamily="34" charset="0"/>
                        </a:rPr>
                        <a:t>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4.9</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54053847"/>
                  </a:ext>
                </a:extLst>
              </a:tr>
              <a:tr h="167211">
                <a:tc>
                  <a:txBody>
                    <a:bodyPr/>
                    <a:lstStyle/>
                    <a:p>
                      <a:pPr algn="r" latinLnBrk="1"/>
                      <a:r>
                        <a:rPr lang="en-US" altLang="ko-KR" sz="1100" b="0" dirty="0">
                          <a:solidFill>
                            <a:schemeClr val="tx1"/>
                          </a:solidFill>
                          <a:latin typeface="SamsungOne 400" panose="020B0503030303020204" pitchFamily="34" charset="0"/>
                        </a:rPr>
                        <a:t>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4.7</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06834140"/>
                  </a:ext>
                </a:extLst>
              </a:tr>
              <a:tr h="167211">
                <a:tc>
                  <a:txBody>
                    <a:bodyPr/>
                    <a:lstStyle/>
                    <a:p>
                      <a:pPr algn="r" latinLnBrk="1"/>
                      <a:r>
                        <a:rPr lang="en-US" altLang="ko-KR" sz="1100" b="0" dirty="0">
                          <a:solidFill>
                            <a:schemeClr val="tx1"/>
                          </a:solidFill>
                          <a:latin typeface="SamsungOne 400" panose="020B0503030303020204" pitchFamily="34" charset="0"/>
                        </a:rPr>
                        <a:t>4</a:t>
                      </a:r>
                      <a:endParaRPr lang="ko-KR" altLang="en-US" sz="1100" b="0" dirty="0">
                        <a:solidFill>
                          <a:schemeClr val="tx1"/>
                        </a:solidFill>
                        <a:latin typeface="SamsungOne 400" panose="020B0503030303020204" pitchFamily="34" charset="0"/>
                      </a:endParaRPr>
                    </a:p>
                  </a:txBody>
                  <a:tcPr marL="72000" marR="72000" marT="36000" marB="36000" anchor="ctr">
                    <a:lnL w="19050" cap="flat" cmpd="sng" algn="ctr">
                      <a:solidFill>
                        <a:schemeClr val="accent6">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lumMod val="85000"/>
                      </a:schemeClr>
                    </a:solidFill>
                  </a:tcPr>
                </a:tc>
                <a:tc>
                  <a:txBody>
                    <a:bodyPr/>
                    <a:lstStyle/>
                    <a:p>
                      <a:pPr algn="r" latinLnBrk="1"/>
                      <a:r>
                        <a:rPr lang="en-US" altLang="ko-KR" sz="1100" b="0" dirty="0">
                          <a:solidFill>
                            <a:schemeClr val="tx1"/>
                          </a:solidFill>
                          <a:latin typeface="SamsungOne 400" panose="020B0503030303020204" pitchFamily="34" charset="0"/>
                        </a:rPr>
                        <a:t>4.6</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lumMod val="85000"/>
                      </a:schemeClr>
                    </a:solidFill>
                  </a:tcPr>
                </a:tc>
                <a:tc>
                  <a:txBody>
                    <a:bodyPr/>
                    <a:lstStyle/>
                    <a:p>
                      <a:pPr algn="r" latinLnBrk="1"/>
                      <a:r>
                        <a:rPr lang="en-US" altLang="ko-KR" sz="1100" b="0" dirty="0">
                          <a:solidFill>
                            <a:schemeClr val="tx1"/>
                          </a:solidFill>
                          <a:latin typeface="SamsungOne 400" panose="020B0503030303020204" pitchFamily="34" charset="0"/>
                        </a:rPr>
                        <a:t>3.1</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lumMod val="85000"/>
                      </a:schemeClr>
                    </a:solidFill>
                  </a:tcPr>
                </a:tc>
                <a:tc>
                  <a:txBody>
                    <a:bodyPr/>
                    <a:lstStyle/>
                    <a:p>
                      <a:pPr algn="r" latinLnBrk="1"/>
                      <a:r>
                        <a:rPr lang="en-US" altLang="ko-KR" sz="1100" b="0" dirty="0">
                          <a:solidFill>
                            <a:schemeClr val="tx1"/>
                          </a:solidFill>
                          <a:latin typeface="SamsungOne 400" panose="020B0503030303020204" pitchFamily="34" charset="0"/>
                        </a:rPr>
                        <a:t>1.5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lumMod val="85000"/>
                      </a:schemeClr>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lumMod val="85000"/>
                      </a:schemeClr>
                    </a:solidFill>
                  </a:tcPr>
                </a:tc>
                <a:tc>
                  <a:txBody>
                    <a:bodyPr/>
                    <a:lstStyle/>
                    <a:p>
                      <a:pPr latinLnBrk="1"/>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rgbClr val="C00000"/>
                    </a:solidFill>
                  </a:tcPr>
                </a:tc>
                <a:extLst>
                  <a:ext uri="{0D108BD9-81ED-4DB2-BD59-A6C34878D82A}">
                    <a16:rowId xmlns:a16="http://schemas.microsoft.com/office/drawing/2014/main" val="3536193724"/>
                  </a:ext>
                </a:extLst>
              </a:tr>
              <a:tr h="167211">
                <a:tc>
                  <a:txBody>
                    <a:bodyPr/>
                    <a:lstStyle/>
                    <a:p>
                      <a:pPr algn="r" latinLnBrk="1"/>
                      <a:r>
                        <a:rPr lang="en-US" altLang="ko-KR" sz="1100" b="0" dirty="0">
                          <a:solidFill>
                            <a:schemeClr val="tx1"/>
                          </a:solidFill>
                          <a:latin typeface="SamsungOne 400" panose="020B0503030303020204" pitchFamily="34" charset="0"/>
                        </a:rPr>
                        <a:t>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3.6</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7613953"/>
                  </a:ext>
                </a:extLst>
              </a:tr>
              <a:tr h="167211">
                <a:tc>
                  <a:txBody>
                    <a:bodyPr/>
                    <a:lstStyle/>
                    <a:p>
                      <a:pPr algn="r" latinLnBrk="1"/>
                      <a:r>
                        <a:rPr lang="en-US" altLang="ko-KR" sz="1100" b="0" dirty="0">
                          <a:solidFill>
                            <a:schemeClr val="tx1"/>
                          </a:solidFill>
                          <a:latin typeface="SamsungOne 400" panose="020B0503030303020204" pitchFamily="34" charset="0"/>
                        </a:rPr>
                        <a:t>6</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5.4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3.9</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1.7</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4899085"/>
                  </a:ext>
                </a:extLst>
              </a:tr>
            </a:tbl>
          </a:graphicData>
        </a:graphic>
      </p:graphicFrame>
    </p:spTree>
    <p:extLst>
      <p:ext uri="{BB962C8B-B14F-4D97-AF65-F5344CB8AC3E}">
        <p14:creationId xmlns:p14="http://schemas.microsoft.com/office/powerpoint/2010/main" val="37328132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Missing value processing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848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2) Insert the missing value</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Enter a certain value like ‘unknown’ for missing value. Or enter the average value of data, such as the overall average value, median value, or class that belongs to the same record.</a:t>
            </a:r>
          </a:p>
        </p:txBody>
      </p:sp>
      <p:graphicFrame>
        <p:nvGraphicFramePr>
          <p:cNvPr id="3" name="표 3">
            <a:extLst>
              <a:ext uri="{FF2B5EF4-FFF2-40B4-BE49-F238E27FC236}">
                <a16:creationId xmlns:a16="http://schemas.microsoft.com/office/drawing/2014/main" id="{EB52B5E6-3F88-46BE-9680-9D035E1E38A0}"/>
              </a:ext>
            </a:extLst>
          </p:cNvPr>
          <p:cNvGraphicFramePr>
            <a:graphicFrameLocks noGrp="1"/>
          </p:cNvGraphicFramePr>
          <p:nvPr>
            <p:extLst>
              <p:ext uri="{D42A27DB-BD31-4B8C-83A1-F6EECF244321}">
                <p14:modId xmlns:p14="http://schemas.microsoft.com/office/powerpoint/2010/main" val="146402406"/>
              </p:ext>
            </p:extLst>
          </p:nvPr>
        </p:nvGraphicFramePr>
        <p:xfrm>
          <a:off x="1026976" y="2605590"/>
          <a:ext cx="5400000" cy="1917120"/>
        </p:xfrm>
        <a:graphic>
          <a:graphicData uri="http://schemas.openxmlformats.org/drawingml/2006/table">
            <a:tbl>
              <a:tblPr firstRow="1" bandRow="1">
                <a:tableStyleId>{5C22544A-7EE6-4342-B048-85BDC9FD1C3A}</a:tableStyleId>
              </a:tblPr>
              <a:tblGrid>
                <a:gridCol w="428396">
                  <a:extLst>
                    <a:ext uri="{9D8B030D-6E8A-4147-A177-3AD203B41FA5}">
                      <a16:colId xmlns:a16="http://schemas.microsoft.com/office/drawing/2014/main" val="2802731657"/>
                    </a:ext>
                  </a:extLst>
                </a:gridCol>
                <a:gridCol w="1038713">
                  <a:extLst>
                    <a:ext uri="{9D8B030D-6E8A-4147-A177-3AD203B41FA5}">
                      <a16:colId xmlns:a16="http://schemas.microsoft.com/office/drawing/2014/main" val="1044611708"/>
                    </a:ext>
                  </a:extLst>
                </a:gridCol>
                <a:gridCol w="1038713">
                  <a:extLst>
                    <a:ext uri="{9D8B030D-6E8A-4147-A177-3AD203B41FA5}">
                      <a16:colId xmlns:a16="http://schemas.microsoft.com/office/drawing/2014/main" val="1288837626"/>
                    </a:ext>
                  </a:extLst>
                </a:gridCol>
                <a:gridCol w="1038713">
                  <a:extLst>
                    <a:ext uri="{9D8B030D-6E8A-4147-A177-3AD203B41FA5}">
                      <a16:colId xmlns:a16="http://schemas.microsoft.com/office/drawing/2014/main" val="1537072357"/>
                    </a:ext>
                  </a:extLst>
                </a:gridCol>
                <a:gridCol w="1038713">
                  <a:extLst>
                    <a:ext uri="{9D8B030D-6E8A-4147-A177-3AD203B41FA5}">
                      <a16:colId xmlns:a16="http://schemas.microsoft.com/office/drawing/2014/main" val="558924247"/>
                    </a:ext>
                  </a:extLst>
                </a:gridCol>
                <a:gridCol w="816752">
                  <a:extLst>
                    <a:ext uri="{9D8B030D-6E8A-4147-A177-3AD203B41FA5}">
                      <a16:colId xmlns:a16="http://schemas.microsoft.com/office/drawing/2014/main" val="2754753095"/>
                    </a:ext>
                  </a:extLst>
                </a:gridCol>
              </a:tblGrid>
              <a:tr h="201937">
                <a:tc>
                  <a:txBody>
                    <a:bodyPr/>
                    <a:lstStyle/>
                    <a:p>
                      <a:pPr latinLnBrk="1"/>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x1</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y</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37846415"/>
                  </a:ext>
                </a:extLst>
              </a:tr>
              <a:tr h="201937">
                <a:tc>
                  <a:txBody>
                    <a:bodyPr/>
                    <a:lstStyle/>
                    <a:p>
                      <a:pPr latinLnBrk="1"/>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Sepal.Length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Sepal.Width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Petal.Length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Petal.Width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Species</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57602625"/>
                  </a:ext>
                </a:extLst>
              </a:tr>
              <a:tr h="201937">
                <a:tc>
                  <a:txBody>
                    <a:bodyPr/>
                    <a:lstStyle/>
                    <a:p>
                      <a:pPr algn="r" latinLnBrk="1"/>
                      <a:r>
                        <a:rPr lang="en-US" altLang="ko-KR" sz="1100" b="0" dirty="0">
                          <a:solidFill>
                            <a:schemeClr val="tx1"/>
                          </a:solidFill>
                          <a:latin typeface="SamsungOne 400" panose="020B0503030303020204" pitchFamily="34" charset="0"/>
                          <a:ea typeface="SamsungOne 400" panose="020B0503030303020204" pitchFamily="34" charset="0"/>
                        </a:rPr>
                        <a:t>1</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5.1</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36656663"/>
                  </a:ext>
                </a:extLst>
              </a:tr>
              <a:tr h="201937">
                <a:tc>
                  <a:txBody>
                    <a:bodyPr/>
                    <a:lstStyle/>
                    <a:p>
                      <a:pPr algn="r" latinLnBrk="1"/>
                      <a:r>
                        <a:rPr lang="en-US" altLang="ko-KR" sz="1100" b="0" dirty="0">
                          <a:solidFill>
                            <a:schemeClr val="tx1"/>
                          </a:solidFill>
                          <a:latin typeface="SamsungOne 400" panose="020B0503030303020204" pitchFamily="34" charset="0"/>
                        </a:rPr>
                        <a:t>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4.9</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54053847"/>
                  </a:ext>
                </a:extLst>
              </a:tr>
              <a:tr h="201937">
                <a:tc>
                  <a:txBody>
                    <a:bodyPr/>
                    <a:lstStyle/>
                    <a:p>
                      <a:pPr algn="r" latinLnBrk="1"/>
                      <a:r>
                        <a:rPr lang="en-US" altLang="ko-KR" sz="1100" b="0" dirty="0">
                          <a:solidFill>
                            <a:schemeClr val="tx1"/>
                          </a:solidFill>
                          <a:latin typeface="SamsungOne 400" panose="020B0503030303020204" pitchFamily="34" charset="0"/>
                        </a:rPr>
                        <a:t>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4.7</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06834140"/>
                  </a:ext>
                </a:extLst>
              </a:tr>
              <a:tr h="201937">
                <a:tc>
                  <a:txBody>
                    <a:bodyPr/>
                    <a:lstStyle/>
                    <a:p>
                      <a:pPr algn="r" latinLnBrk="1"/>
                      <a:r>
                        <a:rPr lang="en-US" altLang="ko-KR" sz="1100" b="0" dirty="0">
                          <a:solidFill>
                            <a:schemeClr val="tx1"/>
                          </a:solidFill>
                          <a:latin typeface="SamsungOne 400" panose="020B0503030303020204" pitchFamily="34" charset="0"/>
                        </a:rPr>
                        <a:t>4</a:t>
                      </a:r>
                      <a:endParaRPr lang="ko-KR" altLang="en-US" sz="1100" b="0" dirty="0">
                        <a:solidFill>
                          <a:schemeClr val="tx1"/>
                        </a:solidFill>
                        <a:latin typeface="SamsungOne 400" panose="020B0503030303020204" pitchFamily="34" charset="0"/>
                      </a:endParaRPr>
                    </a:p>
                  </a:txBody>
                  <a:tcPr marL="72000" marR="72000" marT="36000" marB="36000" anchor="ctr">
                    <a:lnL w="19050" cap="flat" cmpd="sng" algn="ctr">
                      <a:solidFill>
                        <a:schemeClr val="accent6">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lumMod val="85000"/>
                      </a:schemeClr>
                    </a:solidFill>
                  </a:tcPr>
                </a:tc>
                <a:tc>
                  <a:txBody>
                    <a:bodyPr/>
                    <a:lstStyle/>
                    <a:p>
                      <a:pPr algn="r" latinLnBrk="1"/>
                      <a:r>
                        <a:rPr lang="en-US" altLang="ko-KR" sz="1100" b="0" dirty="0">
                          <a:solidFill>
                            <a:schemeClr val="tx1"/>
                          </a:solidFill>
                          <a:latin typeface="SamsungOne 400" panose="020B0503030303020204" pitchFamily="34" charset="0"/>
                        </a:rPr>
                        <a:t>4.6</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lumMod val="85000"/>
                      </a:schemeClr>
                    </a:solidFill>
                  </a:tcPr>
                </a:tc>
                <a:tc>
                  <a:txBody>
                    <a:bodyPr/>
                    <a:lstStyle/>
                    <a:p>
                      <a:pPr algn="r" latinLnBrk="1"/>
                      <a:r>
                        <a:rPr lang="en-US" altLang="ko-KR" sz="1100" b="0" dirty="0">
                          <a:solidFill>
                            <a:schemeClr val="tx1"/>
                          </a:solidFill>
                          <a:latin typeface="SamsungOne 400" panose="020B0503030303020204" pitchFamily="34" charset="0"/>
                        </a:rPr>
                        <a:t>3.1</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lumMod val="85000"/>
                      </a:schemeClr>
                    </a:solidFill>
                  </a:tcPr>
                </a:tc>
                <a:tc>
                  <a:txBody>
                    <a:bodyPr/>
                    <a:lstStyle/>
                    <a:p>
                      <a:pPr algn="r" latinLnBrk="1"/>
                      <a:r>
                        <a:rPr lang="en-US" altLang="ko-KR" sz="1100" b="0" dirty="0">
                          <a:solidFill>
                            <a:schemeClr val="tx1"/>
                          </a:solidFill>
                          <a:latin typeface="SamsungOne 400" panose="020B0503030303020204" pitchFamily="34" charset="0"/>
                        </a:rPr>
                        <a:t>1.5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lumMod val="85000"/>
                      </a:schemeClr>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lumMod val="85000"/>
                      </a:schemeClr>
                    </a:solidFill>
                  </a:tcPr>
                </a:tc>
                <a:tc>
                  <a:txBody>
                    <a:bodyPr/>
                    <a:lstStyle/>
                    <a:p>
                      <a:pPr latinLnBrk="1"/>
                      <a:r>
                        <a:rPr lang="en-US" altLang="ko-KR" sz="1100" b="0" dirty="0">
                          <a:solidFill>
                            <a:schemeClr val="tx1"/>
                          </a:solidFill>
                          <a:latin typeface="SamsungOne 400" panose="020B0503030303020204" pitchFamily="34" charset="0"/>
                        </a:rPr>
                        <a:t>unknown</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536193724"/>
                  </a:ext>
                </a:extLst>
              </a:tr>
              <a:tr h="201937">
                <a:tc>
                  <a:txBody>
                    <a:bodyPr/>
                    <a:lstStyle/>
                    <a:p>
                      <a:pPr algn="r" latinLnBrk="1"/>
                      <a:r>
                        <a:rPr lang="en-US" altLang="ko-KR" sz="1100" b="0" dirty="0">
                          <a:solidFill>
                            <a:schemeClr val="tx1"/>
                          </a:solidFill>
                          <a:latin typeface="SamsungOne 400" panose="020B0503030303020204" pitchFamily="34" charset="0"/>
                        </a:rPr>
                        <a:t>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3.6</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7613953"/>
                  </a:ext>
                </a:extLst>
              </a:tr>
              <a:tr h="201937">
                <a:tc>
                  <a:txBody>
                    <a:bodyPr/>
                    <a:lstStyle/>
                    <a:p>
                      <a:pPr algn="r" latinLnBrk="1"/>
                      <a:r>
                        <a:rPr lang="en-US" altLang="ko-KR" sz="1100" b="0" dirty="0">
                          <a:solidFill>
                            <a:schemeClr val="tx1"/>
                          </a:solidFill>
                          <a:latin typeface="SamsungOne 400" panose="020B0503030303020204" pitchFamily="34" charset="0"/>
                        </a:rPr>
                        <a:t>6</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5.4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3.9</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1.7</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4899085"/>
                  </a:ext>
                </a:extLst>
              </a:tr>
            </a:tbl>
          </a:graphicData>
        </a:graphic>
      </p:graphicFrame>
    </p:spTree>
    <p:extLst>
      <p:ext uri="{BB962C8B-B14F-4D97-AF65-F5344CB8AC3E}">
        <p14:creationId xmlns:p14="http://schemas.microsoft.com/office/powerpoint/2010/main" val="12866209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Missing value processing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2) Insert the missing value</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average value of </a:t>
            </a:r>
            <a:r>
              <a:rPr lang="en-US" altLang="ko-KR" sz="1300" dirty="0" err="1">
                <a:solidFill>
                  <a:prstClr val="black">
                    <a:lumMod val="85000"/>
                    <a:lumOff val="15000"/>
                  </a:prstClr>
                </a:solidFill>
                <a:latin typeface="SamsungOne 400" panose="020B0503030303020204" pitchFamily="34" charset="0"/>
              </a:rPr>
              <a:t>Sepal.Length</a:t>
            </a:r>
            <a:r>
              <a:rPr lang="en-US" altLang="ko-KR" sz="1300" dirty="0">
                <a:solidFill>
                  <a:prstClr val="black">
                    <a:lumMod val="85000"/>
                    <a:lumOff val="15000"/>
                  </a:prstClr>
                </a:solidFill>
                <a:latin typeface="SamsungOne 400" panose="020B0503030303020204" pitchFamily="34" charset="0"/>
              </a:rPr>
              <a:t> for iris is 5.843 as provided earlier, so insert 5.843.</a:t>
            </a:r>
          </a:p>
        </p:txBody>
      </p:sp>
      <p:graphicFrame>
        <p:nvGraphicFramePr>
          <p:cNvPr id="3" name="표 3">
            <a:extLst>
              <a:ext uri="{FF2B5EF4-FFF2-40B4-BE49-F238E27FC236}">
                <a16:creationId xmlns:a16="http://schemas.microsoft.com/office/drawing/2014/main" id="{EB52B5E6-3F88-46BE-9680-9D035E1E38A0}"/>
              </a:ext>
            </a:extLst>
          </p:cNvPr>
          <p:cNvGraphicFramePr>
            <a:graphicFrameLocks noGrp="1"/>
          </p:cNvGraphicFramePr>
          <p:nvPr>
            <p:extLst>
              <p:ext uri="{D42A27DB-BD31-4B8C-83A1-F6EECF244321}">
                <p14:modId xmlns:p14="http://schemas.microsoft.com/office/powerpoint/2010/main" val="439309692"/>
              </p:ext>
            </p:extLst>
          </p:nvPr>
        </p:nvGraphicFramePr>
        <p:xfrm>
          <a:off x="1026976" y="2384884"/>
          <a:ext cx="5400000" cy="1917120"/>
        </p:xfrm>
        <a:graphic>
          <a:graphicData uri="http://schemas.openxmlformats.org/drawingml/2006/table">
            <a:tbl>
              <a:tblPr firstRow="1" bandRow="1">
                <a:tableStyleId>{5C22544A-7EE6-4342-B048-85BDC9FD1C3A}</a:tableStyleId>
              </a:tblPr>
              <a:tblGrid>
                <a:gridCol w="428396">
                  <a:extLst>
                    <a:ext uri="{9D8B030D-6E8A-4147-A177-3AD203B41FA5}">
                      <a16:colId xmlns:a16="http://schemas.microsoft.com/office/drawing/2014/main" val="2802731657"/>
                    </a:ext>
                  </a:extLst>
                </a:gridCol>
                <a:gridCol w="1038713">
                  <a:extLst>
                    <a:ext uri="{9D8B030D-6E8A-4147-A177-3AD203B41FA5}">
                      <a16:colId xmlns:a16="http://schemas.microsoft.com/office/drawing/2014/main" val="1044611708"/>
                    </a:ext>
                  </a:extLst>
                </a:gridCol>
                <a:gridCol w="1038713">
                  <a:extLst>
                    <a:ext uri="{9D8B030D-6E8A-4147-A177-3AD203B41FA5}">
                      <a16:colId xmlns:a16="http://schemas.microsoft.com/office/drawing/2014/main" val="1288837626"/>
                    </a:ext>
                  </a:extLst>
                </a:gridCol>
                <a:gridCol w="1038713">
                  <a:extLst>
                    <a:ext uri="{9D8B030D-6E8A-4147-A177-3AD203B41FA5}">
                      <a16:colId xmlns:a16="http://schemas.microsoft.com/office/drawing/2014/main" val="1537072357"/>
                    </a:ext>
                  </a:extLst>
                </a:gridCol>
                <a:gridCol w="1038713">
                  <a:extLst>
                    <a:ext uri="{9D8B030D-6E8A-4147-A177-3AD203B41FA5}">
                      <a16:colId xmlns:a16="http://schemas.microsoft.com/office/drawing/2014/main" val="558924247"/>
                    </a:ext>
                  </a:extLst>
                </a:gridCol>
                <a:gridCol w="816752">
                  <a:extLst>
                    <a:ext uri="{9D8B030D-6E8A-4147-A177-3AD203B41FA5}">
                      <a16:colId xmlns:a16="http://schemas.microsoft.com/office/drawing/2014/main" val="2754753095"/>
                    </a:ext>
                  </a:extLst>
                </a:gridCol>
              </a:tblGrid>
              <a:tr h="201937">
                <a:tc>
                  <a:txBody>
                    <a:bodyPr/>
                    <a:lstStyle/>
                    <a:p>
                      <a:pPr latinLnBrk="1"/>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x1</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y</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37846415"/>
                  </a:ext>
                </a:extLst>
              </a:tr>
              <a:tr h="201937">
                <a:tc>
                  <a:txBody>
                    <a:bodyPr/>
                    <a:lstStyle/>
                    <a:p>
                      <a:pPr latinLnBrk="1"/>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Sepal.Length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Sepal.Width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Petal.Length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Petal.Width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Species</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57602625"/>
                  </a:ext>
                </a:extLst>
              </a:tr>
              <a:tr h="201937">
                <a:tc>
                  <a:txBody>
                    <a:bodyPr/>
                    <a:lstStyle/>
                    <a:p>
                      <a:pPr algn="r" latinLnBrk="1"/>
                      <a:r>
                        <a:rPr lang="en-US" altLang="ko-KR" sz="1100" b="0" dirty="0">
                          <a:solidFill>
                            <a:schemeClr val="tx1"/>
                          </a:solidFill>
                          <a:latin typeface="SamsungOne 400" panose="020B0503030303020204" pitchFamily="34" charset="0"/>
                          <a:ea typeface="SamsungOne 400" panose="020B0503030303020204" pitchFamily="34" charset="0"/>
                        </a:rPr>
                        <a:t>1</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5.1</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36656663"/>
                  </a:ext>
                </a:extLst>
              </a:tr>
              <a:tr h="201937">
                <a:tc>
                  <a:txBody>
                    <a:bodyPr/>
                    <a:lstStyle/>
                    <a:p>
                      <a:pPr algn="r" latinLnBrk="1"/>
                      <a:r>
                        <a:rPr lang="en-US" altLang="ko-KR" sz="1100" b="0" dirty="0">
                          <a:solidFill>
                            <a:schemeClr val="tx1"/>
                          </a:solidFill>
                          <a:latin typeface="SamsungOne 400" panose="020B0503030303020204" pitchFamily="34" charset="0"/>
                        </a:rPr>
                        <a:t>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4.9</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54053847"/>
                  </a:ext>
                </a:extLst>
              </a:tr>
              <a:tr h="201937">
                <a:tc>
                  <a:txBody>
                    <a:bodyPr/>
                    <a:lstStyle/>
                    <a:p>
                      <a:pPr algn="r" latinLnBrk="1"/>
                      <a:r>
                        <a:rPr lang="en-US" altLang="ko-KR" sz="1100" b="0" dirty="0">
                          <a:solidFill>
                            <a:schemeClr val="tx1"/>
                          </a:solidFill>
                          <a:latin typeface="SamsungOne 400" panose="020B0503030303020204" pitchFamily="34" charset="0"/>
                        </a:rPr>
                        <a:t>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4.7</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06834140"/>
                  </a:ext>
                </a:extLst>
              </a:tr>
              <a:tr h="201937">
                <a:tc>
                  <a:txBody>
                    <a:bodyPr/>
                    <a:lstStyle/>
                    <a:p>
                      <a:pPr algn="r" latinLnBrk="1"/>
                      <a:r>
                        <a:rPr lang="en-US" altLang="ko-KR" sz="1100" b="0" dirty="0">
                          <a:solidFill>
                            <a:schemeClr val="tx1"/>
                          </a:solidFill>
                          <a:latin typeface="SamsungOne 400" panose="020B0503030303020204" pitchFamily="34" charset="0"/>
                        </a:rPr>
                        <a:t>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85000"/>
                      </a:schemeClr>
                    </a:solidFill>
                  </a:tcPr>
                </a:tc>
                <a:tc>
                  <a:txBody>
                    <a:bodyPr/>
                    <a:lstStyle/>
                    <a:p>
                      <a:pPr algn="r" latinLnBrk="1"/>
                      <a:endParaRPr lang="ko-KR" altLang="en-US" sz="1100" b="0" dirty="0">
                        <a:solidFill>
                          <a:schemeClr val="tx1"/>
                        </a:solidFill>
                        <a:latin typeface="SamsungOne 400" panose="020B0503030303020204" pitchFamily="34" charset="0"/>
                      </a:endParaRPr>
                    </a:p>
                  </a:txBody>
                  <a:tcPr marL="72000" marR="72000" marT="36000" marB="36000" anchor="ctr">
                    <a:lnL w="19050" cap="flat" cmpd="sng" algn="ctr">
                      <a:solidFill>
                        <a:schemeClr val="accent6">
                          <a:lumMod val="75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solidFill>
                      <a:schemeClr val="bg1">
                        <a:lumMod val="85000"/>
                      </a:schemeClr>
                    </a:solidFill>
                  </a:tcPr>
                </a:tc>
                <a:tc>
                  <a:txBody>
                    <a:bodyPr/>
                    <a:lstStyle/>
                    <a:p>
                      <a:pPr algn="r" latinLnBrk="1"/>
                      <a:r>
                        <a:rPr lang="en-US" altLang="ko-KR" sz="1100" b="0" dirty="0">
                          <a:solidFill>
                            <a:schemeClr val="tx1"/>
                          </a:solidFill>
                          <a:latin typeface="SamsungOne 400" panose="020B0503030303020204" pitchFamily="34" charset="0"/>
                        </a:rPr>
                        <a:t>3.1</a:t>
                      </a:r>
                      <a:endParaRPr lang="ko-KR" altLang="en-US" sz="1100" b="0" dirty="0">
                        <a:solidFill>
                          <a:schemeClr val="tx1"/>
                        </a:solidFill>
                        <a:latin typeface="SamsungOne 400" panose="020B0503030303020204" pitchFamily="34" charset="0"/>
                      </a:endParaRPr>
                    </a:p>
                  </a:txBody>
                  <a:tcPr marL="72000" marR="72000" marT="36000" marB="36000" anchor="ctr">
                    <a:lnL w="19050" cap="flat" cmpd="sng" algn="ctr">
                      <a:solidFill>
                        <a:schemeClr val="accent6">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85000"/>
                      </a:schemeClr>
                    </a:solidFill>
                  </a:tcPr>
                </a:tc>
                <a:tc>
                  <a:txBody>
                    <a:bodyPr/>
                    <a:lstStyle/>
                    <a:p>
                      <a:pPr algn="r" latinLnBrk="1"/>
                      <a:r>
                        <a:rPr lang="en-US" altLang="ko-KR" sz="1100" b="0" dirty="0">
                          <a:solidFill>
                            <a:schemeClr val="tx1"/>
                          </a:solidFill>
                          <a:latin typeface="SamsungOne 400" panose="020B0503030303020204" pitchFamily="34" charset="0"/>
                        </a:rPr>
                        <a:t>1.5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85000"/>
                      </a:schemeClr>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85000"/>
                      </a:schemeClr>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536193724"/>
                  </a:ext>
                </a:extLst>
              </a:tr>
              <a:tr h="201937">
                <a:tc>
                  <a:txBody>
                    <a:bodyPr/>
                    <a:lstStyle/>
                    <a:p>
                      <a:pPr algn="r" latinLnBrk="1"/>
                      <a:r>
                        <a:rPr lang="en-US" altLang="ko-KR" sz="1100" b="0" dirty="0">
                          <a:solidFill>
                            <a:schemeClr val="tx1"/>
                          </a:solidFill>
                          <a:latin typeface="SamsungOne 400" panose="020B0503030303020204" pitchFamily="34" charset="0"/>
                        </a:rPr>
                        <a:t>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3.6</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7613953"/>
                  </a:ext>
                </a:extLst>
              </a:tr>
              <a:tr h="201937">
                <a:tc>
                  <a:txBody>
                    <a:bodyPr/>
                    <a:lstStyle/>
                    <a:p>
                      <a:pPr algn="r" latinLnBrk="1"/>
                      <a:r>
                        <a:rPr lang="en-US" altLang="ko-KR" sz="1100" b="0" dirty="0">
                          <a:solidFill>
                            <a:schemeClr val="tx1"/>
                          </a:solidFill>
                          <a:latin typeface="SamsungOne 400" panose="020B0503030303020204" pitchFamily="34" charset="0"/>
                        </a:rPr>
                        <a:t>6</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5.4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3.9</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1.7</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4899085"/>
                  </a:ext>
                </a:extLst>
              </a:tr>
            </a:tbl>
          </a:graphicData>
        </a:graphic>
      </p:graphicFrame>
      <p:graphicFrame>
        <p:nvGraphicFramePr>
          <p:cNvPr id="9" name="표 3">
            <a:extLst>
              <a:ext uri="{FF2B5EF4-FFF2-40B4-BE49-F238E27FC236}">
                <a16:creationId xmlns:a16="http://schemas.microsoft.com/office/drawing/2014/main" id="{2410616A-AE6E-431D-8038-91C58DE704AD}"/>
              </a:ext>
            </a:extLst>
          </p:cNvPr>
          <p:cNvGraphicFramePr>
            <a:graphicFrameLocks noGrp="1"/>
          </p:cNvGraphicFramePr>
          <p:nvPr>
            <p:extLst>
              <p:ext uri="{D42A27DB-BD31-4B8C-83A1-F6EECF244321}">
                <p14:modId xmlns:p14="http://schemas.microsoft.com/office/powerpoint/2010/main" val="2741649867"/>
              </p:ext>
            </p:extLst>
          </p:nvPr>
        </p:nvGraphicFramePr>
        <p:xfrm>
          <a:off x="1026976" y="4399380"/>
          <a:ext cx="5400000" cy="1917120"/>
        </p:xfrm>
        <a:graphic>
          <a:graphicData uri="http://schemas.openxmlformats.org/drawingml/2006/table">
            <a:tbl>
              <a:tblPr firstRow="1" bandRow="1">
                <a:tableStyleId>{5C22544A-7EE6-4342-B048-85BDC9FD1C3A}</a:tableStyleId>
              </a:tblPr>
              <a:tblGrid>
                <a:gridCol w="428396">
                  <a:extLst>
                    <a:ext uri="{9D8B030D-6E8A-4147-A177-3AD203B41FA5}">
                      <a16:colId xmlns:a16="http://schemas.microsoft.com/office/drawing/2014/main" val="2802731657"/>
                    </a:ext>
                  </a:extLst>
                </a:gridCol>
                <a:gridCol w="1038713">
                  <a:extLst>
                    <a:ext uri="{9D8B030D-6E8A-4147-A177-3AD203B41FA5}">
                      <a16:colId xmlns:a16="http://schemas.microsoft.com/office/drawing/2014/main" val="1044611708"/>
                    </a:ext>
                  </a:extLst>
                </a:gridCol>
                <a:gridCol w="1038713">
                  <a:extLst>
                    <a:ext uri="{9D8B030D-6E8A-4147-A177-3AD203B41FA5}">
                      <a16:colId xmlns:a16="http://schemas.microsoft.com/office/drawing/2014/main" val="1288837626"/>
                    </a:ext>
                  </a:extLst>
                </a:gridCol>
                <a:gridCol w="1038713">
                  <a:extLst>
                    <a:ext uri="{9D8B030D-6E8A-4147-A177-3AD203B41FA5}">
                      <a16:colId xmlns:a16="http://schemas.microsoft.com/office/drawing/2014/main" val="1537072357"/>
                    </a:ext>
                  </a:extLst>
                </a:gridCol>
                <a:gridCol w="1038713">
                  <a:extLst>
                    <a:ext uri="{9D8B030D-6E8A-4147-A177-3AD203B41FA5}">
                      <a16:colId xmlns:a16="http://schemas.microsoft.com/office/drawing/2014/main" val="558924247"/>
                    </a:ext>
                  </a:extLst>
                </a:gridCol>
                <a:gridCol w="816752">
                  <a:extLst>
                    <a:ext uri="{9D8B030D-6E8A-4147-A177-3AD203B41FA5}">
                      <a16:colId xmlns:a16="http://schemas.microsoft.com/office/drawing/2014/main" val="2754753095"/>
                    </a:ext>
                  </a:extLst>
                </a:gridCol>
              </a:tblGrid>
              <a:tr h="201937">
                <a:tc>
                  <a:txBody>
                    <a:bodyPr/>
                    <a:lstStyle/>
                    <a:p>
                      <a:pPr latinLnBrk="1"/>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x1</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x4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y</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37846415"/>
                  </a:ext>
                </a:extLst>
              </a:tr>
              <a:tr h="201937">
                <a:tc>
                  <a:txBody>
                    <a:bodyPr/>
                    <a:lstStyle/>
                    <a:p>
                      <a:pPr latinLnBrk="1"/>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Sepal.Length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Sepal.Width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Petal.Length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err="1">
                          <a:solidFill>
                            <a:schemeClr val="tx1"/>
                          </a:solidFill>
                          <a:latin typeface="SamsungOne 400" panose="020B0503030303020204" pitchFamily="34" charset="0"/>
                        </a:rPr>
                        <a:t>Petal.Width</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Species</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57602625"/>
                  </a:ext>
                </a:extLst>
              </a:tr>
              <a:tr h="201937">
                <a:tc>
                  <a:txBody>
                    <a:bodyPr/>
                    <a:lstStyle/>
                    <a:p>
                      <a:pPr algn="r" latinLnBrk="1"/>
                      <a:r>
                        <a:rPr lang="en-US" altLang="ko-KR" sz="1100" b="0" dirty="0">
                          <a:solidFill>
                            <a:schemeClr val="tx1"/>
                          </a:solidFill>
                          <a:latin typeface="SamsungOne 400" panose="020B0503030303020204" pitchFamily="34" charset="0"/>
                          <a:ea typeface="SamsungOne 400" panose="020B0503030303020204" pitchFamily="34" charset="0"/>
                        </a:rPr>
                        <a:t>1</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5.1</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36656663"/>
                  </a:ext>
                </a:extLst>
              </a:tr>
              <a:tr h="201937">
                <a:tc>
                  <a:txBody>
                    <a:bodyPr/>
                    <a:lstStyle/>
                    <a:p>
                      <a:pPr algn="r" latinLnBrk="1"/>
                      <a:r>
                        <a:rPr lang="en-US" altLang="ko-KR" sz="1100" b="0" dirty="0">
                          <a:solidFill>
                            <a:schemeClr val="tx1"/>
                          </a:solidFill>
                          <a:latin typeface="SamsungOne 400" panose="020B0503030303020204" pitchFamily="34" charset="0"/>
                        </a:rPr>
                        <a:t>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4.9</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54053847"/>
                  </a:ext>
                </a:extLst>
              </a:tr>
              <a:tr h="201937">
                <a:tc>
                  <a:txBody>
                    <a:bodyPr/>
                    <a:lstStyle/>
                    <a:p>
                      <a:pPr algn="r" latinLnBrk="1"/>
                      <a:r>
                        <a:rPr lang="en-US" altLang="ko-KR" sz="1100" b="0" dirty="0">
                          <a:solidFill>
                            <a:schemeClr val="tx1"/>
                          </a:solidFill>
                          <a:latin typeface="SamsungOne 400" panose="020B0503030303020204" pitchFamily="34" charset="0"/>
                        </a:rPr>
                        <a:t>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4.7</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06834140"/>
                  </a:ext>
                </a:extLst>
              </a:tr>
              <a:tr h="201937">
                <a:tc>
                  <a:txBody>
                    <a:bodyPr/>
                    <a:lstStyle/>
                    <a:p>
                      <a:pPr algn="r" latinLnBrk="1"/>
                      <a:r>
                        <a:rPr lang="en-US" altLang="ko-KR" sz="1100" b="0" dirty="0">
                          <a:solidFill>
                            <a:schemeClr val="tx1"/>
                          </a:solidFill>
                          <a:latin typeface="SamsungOne 400" panose="020B0503030303020204" pitchFamily="34" charset="0"/>
                        </a:rPr>
                        <a:t>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85000"/>
                      </a:schemeClr>
                    </a:solidFill>
                  </a:tcPr>
                </a:tc>
                <a:tc>
                  <a:txBody>
                    <a:bodyPr/>
                    <a:lstStyle/>
                    <a:p>
                      <a:pPr algn="r" latinLnBrk="1"/>
                      <a:r>
                        <a:rPr lang="en-US" altLang="ko-KR" sz="1100" b="0" dirty="0">
                          <a:solidFill>
                            <a:schemeClr val="tx1"/>
                          </a:solidFill>
                          <a:latin typeface="SamsungOne 400" panose="020B0503030303020204" pitchFamily="34" charset="0"/>
                        </a:rPr>
                        <a:t>5.843</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r" latinLnBrk="1"/>
                      <a:r>
                        <a:rPr lang="en-US" altLang="ko-KR" sz="1100" b="0" dirty="0">
                          <a:solidFill>
                            <a:schemeClr val="tx1"/>
                          </a:solidFill>
                          <a:latin typeface="SamsungOne 400" panose="020B0503030303020204" pitchFamily="34" charset="0"/>
                        </a:rPr>
                        <a:t>3.1</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rgbClr val="FF0000"/>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85000"/>
                      </a:schemeClr>
                    </a:solidFill>
                  </a:tcPr>
                </a:tc>
                <a:tc>
                  <a:txBody>
                    <a:bodyPr/>
                    <a:lstStyle/>
                    <a:p>
                      <a:pPr algn="r" latinLnBrk="1"/>
                      <a:r>
                        <a:rPr lang="en-US" altLang="ko-KR" sz="1100" b="0" dirty="0">
                          <a:solidFill>
                            <a:schemeClr val="tx1"/>
                          </a:solidFill>
                          <a:latin typeface="SamsungOne 400" panose="020B0503030303020204" pitchFamily="34" charset="0"/>
                        </a:rPr>
                        <a:t>1.5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85000"/>
                      </a:schemeClr>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85000"/>
                      </a:schemeClr>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536193724"/>
                  </a:ext>
                </a:extLst>
              </a:tr>
              <a:tr h="201937">
                <a:tc>
                  <a:txBody>
                    <a:bodyPr/>
                    <a:lstStyle/>
                    <a:p>
                      <a:pPr algn="r" latinLnBrk="1"/>
                      <a:r>
                        <a:rPr lang="en-US" altLang="ko-KR" sz="1100" b="0" dirty="0">
                          <a:solidFill>
                            <a:schemeClr val="tx1"/>
                          </a:solidFill>
                          <a:latin typeface="SamsungOne 400" panose="020B0503030303020204" pitchFamily="34" charset="0"/>
                        </a:rPr>
                        <a:t>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5</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3.6</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0.2</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7613953"/>
                  </a:ext>
                </a:extLst>
              </a:tr>
              <a:tr h="201937">
                <a:tc>
                  <a:txBody>
                    <a:bodyPr/>
                    <a:lstStyle/>
                    <a:p>
                      <a:pPr algn="r" latinLnBrk="1"/>
                      <a:r>
                        <a:rPr lang="en-US" altLang="ko-KR" sz="1100" b="0" dirty="0">
                          <a:solidFill>
                            <a:schemeClr val="tx1"/>
                          </a:solidFill>
                          <a:latin typeface="SamsungOne 400" panose="020B0503030303020204" pitchFamily="34" charset="0"/>
                        </a:rPr>
                        <a:t>6</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5.4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3.9</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1.7</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algn="r" latinLnBrk="1"/>
                      <a:r>
                        <a:rPr lang="en-US" altLang="ko-KR" sz="1100" b="0" dirty="0">
                          <a:solidFill>
                            <a:schemeClr val="tx1"/>
                          </a:solidFill>
                          <a:latin typeface="SamsungOne 400" panose="020B0503030303020204" pitchFamily="34" charset="0"/>
                        </a:rPr>
                        <a:t>0.4</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pPr latinLnBrk="1"/>
                      <a:r>
                        <a:rPr lang="en-US" altLang="ko-KR" sz="1100" b="0" dirty="0">
                          <a:solidFill>
                            <a:schemeClr val="tx1"/>
                          </a:solidFill>
                          <a:latin typeface="SamsungOne 400" panose="020B0503030303020204" pitchFamily="34" charset="0"/>
                        </a:rPr>
                        <a:t>setosa</a:t>
                      </a:r>
                      <a:endParaRPr lang="ko-KR" altLang="en-US" sz="1100" b="0" dirty="0">
                        <a:solidFill>
                          <a:schemeClr val="tx1"/>
                        </a:solidFill>
                        <a:latin typeface="SamsungOne 400" panose="020B0503030303020204" pitchFamily="34" charset="0"/>
                      </a:endParaRPr>
                    </a:p>
                  </a:txBody>
                  <a:tcPr marL="72000" marR="72000" marT="36000" marB="36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4899085"/>
                  </a:ext>
                </a:extLst>
              </a:tr>
            </a:tbl>
          </a:graphicData>
        </a:graphic>
      </p:graphicFrame>
    </p:spTree>
    <p:extLst>
      <p:ext uri="{BB962C8B-B14F-4D97-AF65-F5344CB8AC3E}">
        <p14:creationId xmlns:p14="http://schemas.microsoft.com/office/powerpoint/2010/main" val="13047477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Missing value processing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3) Manual entry </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 person in charge (or an expert) should check the data and modify it into an appropriate value.</a:t>
            </a: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It requires a lot of time but provides high reliability.</a:t>
            </a:r>
          </a:p>
        </p:txBody>
      </p:sp>
    </p:spTree>
    <p:extLst>
      <p:ext uri="{BB962C8B-B14F-4D97-AF65-F5344CB8AC3E}">
        <p14:creationId xmlns:p14="http://schemas.microsoft.com/office/powerpoint/2010/main" val="23881511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Missing value processing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Identify the missing</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value</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from</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table</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type of</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data</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below</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and</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make</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appropriate</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processing.</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In</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python,</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the</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missing</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value</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is specified as </a:t>
            </a:r>
            <a:r>
              <a:rPr lang="en-US" altLang="ko-KR" sz="1300" dirty="0" err="1">
                <a:solidFill>
                  <a:prstClr val="black">
                    <a:lumMod val="85000"/>
                    <a:lumOff val="15000"/>
                  </a:prstClr>
                </a:solidFill>
                <a:latin typeface="SamsungOne 400" panose="020B0503030303020204" pitchFamily="34" charset="0"/>
              </a:rPr>
              <a:t>np.nan</a:t>
            </a:r>
            <a:r>
              <a:rPr lang="en-US" altLang="ko-KR" sz="1300" dirty="0">
                <a:solidFill>
                  <a:prstClr val="black">
                    <a:lumMod val="85000"/>
                    <a:lumOff val="15000"/>
                  </a:prstClr>
                </a:solidFill>
                <a:latin typeface="SamsungOne 400" panose="020B0503030303020204" pitchFamily="34" charset="0"/>
              </a:rPr>
              <a:t> or null value.</a:t>
            </a:r>
            <a:endParaRPr lang="ko-KR" altLang="en-US" sz="1300" dirty="0">
              <a:solidFill>
                <a:prstClr val="black">
                  <a:lumMod val="85000"/>
                  <a:lumOff val="15000"/>
                </a:prstClr>
              </a:solidFill>
              <a:latin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’nan’ is an abbreviation of Not a Number.</a:t>
            </a:r>
          </a:p>
        </p:txBody>
      </p:sp>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2708183"/>
            <a:ext cx="8677276" cy="149825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9" name="그림 8">
            <a:extLst>
              <a:ext uri="{FF2B5EF4-FFF2-40B4-BE49-F238E27FC236}">
                <a16:creationId xmlns:a16="http://schemas.microsoft.com/office/drawing/2014/main" id="{8ED08024-3E1A-444E-A848-A9B453D0A3F3}"/>
              </a:ext>
            </a:extLst>
          </p:cNvPr>
          <p:cNvPicPr>
            <a:picLocks noChangeAspect="1"/>
          </p:cNvPicPr>
          <p:nvPr/>
        </p:nvPicPr>
        <p:blipFill rotWithShape="1">
          <a:blip r:embed="rId4"/>
          <a:srcRect l="2272" t="5662" r="23840"/>
          <a:stretch/>
        </p:blipFill>
        <p:spPr>
          <a:xfrm>
            <a:off x="847725" y="2772602"/>
            <a:ext cx="8496300" cy="1340474"/>
          </a:xfrm>
          <a:prstGeom prst="rect">
            <a:avLst/>
          </a:prstGeom>
          <a:ln>
            <a:noFill/>
          </a:ln>
        </p:spPr>
      </p:pic>
    </p:spTree>
    <p:extLst>
      <p:ext uri="{BB962C8B-B14F-4D97-AF65-F5344CB8AC3E}">
        <p14:creationId xmlns:p14="http://schemas.microsoft.com/office/powerpoint/2010/main" val="20748523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Missing value processing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4710177"/>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omitted value is changed to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NaN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In this case, it is not problematic due to the low number of data, but it is extremely inconvenient to manually find missing values from a huge data frame.</a:t>
            </a:r>
          </a:p>
        </p:txBody>
      </p:sp>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1773238"/>
            <a:ext cx="8677276" cy="280789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1" name="그림 10">
            <a:extLst>
              <a:ext uri="{FF2B5EF4-FFF2-40B4-BE49-F238E27FC236}">
                <a16:creationId xmlns:a16="http://schemas.microsoft.com/office/drawing/2014/main" id="{F9859968-5B01-4303-8E89-42B3F2A0AF8B}"/>
              </a:ext>
            </a:extLst>
          </p:cNvPr>
          <p:cNvPicPr>
            <a:picLocks noChangeAspect="1"/>
          </p:cNvPicPr>
          <p:nvPr/>
        </p:nvPicPr>
        <p:blipFill rotWithShape="1">
          <a:blip r:embed="rId4"/>
          <a:srcRect l="2212" t="1791" r="24180"/>
          <a:stretch/>
        </p:blipFill>
        <p:spPr>
          <a:xfrm>
            <a:off x="847725" y="1864805"/>
            <a:ext cx="8496300" cy="2574858"/>
          </a:xfrm>
          <a:prstGeom prst="rect">
            <a:avLst/>
          </a:prstGeom>
          <a:ln>
            <a:noFill/>
          </a:ln>
        </p:spPr>
      </p:pic>
    </p:spTree>
    <p:extLst>
      <p:ext uri="{BB962C8B-B14F-4D97-AF65-F5344CB8AC3E}">
        <p14:creationId xmlns:p14="http://schemas.microsoft.com/office/powerpoint/2010/main" val="42795223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Missing value processing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848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isnull</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returns </a:t>
            </a:r>
            <a:r>
              <a:rPr lang="en-US" altLang="ko-KR" sz="1300">
                <a:solidFill>
                  <a:prstClr val="black">
                    <a:lumMod val="85000"/>
                    <a:lumOff val="15000"/>
                  </a:prstClr>
                </a:solidFill>
                <a:latin typeface="SamsungOne 400" panose="020B0503030303020204" pitchFamily="34" charset="0"/>
                <a:ea typeface="SamsungOne 400" panose="020B0503030303020204" pitchFamily="34" charset="0"/>
              </a:rPr>
              <a:t>the data frame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with a Boolean, which shows if the cell has a numerical value (False) or is omitted with a numerical value (True). Then, sum() is used to obtain the number of omissions.</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It is mandatory to check the number of missing values when importing data.</a:t>
            </a:r>
          </a:p>
        </p:txBody>
      </p:sp>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2630322"/>
            <a:ext cx="8677276" cy="279893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1" name="그림 10">
            <a:extLst>
              <a:ext uri="{FF2B5EF4-FFF2-40B4-BE49-F238E27FC236}">
                <a16:creationId xmlns:a16="http://schemas.microsoft.com/office/drawing/2014/main" id="{DCF1A382-1138-4E22-86B0-684B48808E39}"/>
              </a:ext>
            </a:extLst>
          </p:cNvPr>
          <p:cNvPicPr>
            <a:picLocks noChangeAspect="1"/>
          </p:cNvPicPr>
          <p:nvPr/>
        </p:nvPicPr>
        <p:blipFill rotWithShape="1">
          <a:blip r:embed="rId4"/>
          <a:srcRect l="2147" t="2475" r="5489"/>
          <a:stretch/>
        </p:blipFill>
        <p:spPr>
          <a:xfrm>
            <a:off x="847725" y="2720898"/>
            <a:ext cx="8496300" cy="2640068"/>
          </a:xfrm>
          <a:prstGeom prst="rect">
            <a:avLst/>
          </a:prstGeom>
          <a:ln>
            <a:noFill/>
          </a:ln>
        </p:spPr>
      </p:pic>
      <p:grpSp>
        <p:nvGrpSpPr>
          <p:cNvPr id="12" name="그룹 11">
            <a:extLst>
              <a:ext uri="{FF2B5EF4-FFF2-40B4-BE49-F238E27FC236}">
                <a16:creationId xmlns:a16="http://schemas.microsoft.com/office/drawing/2014/main" id="{5ED6A188-B203-4450-B432-79AFAA70B9D1}"/>
              </a:ext>
            </a:extLst>
          </p:cNvPr>
          <p:cNvGrpSpPr/>
          <p:nvPr/>
        </p:nvGrpSpPr>
        <p:grpSpPr>
          <a:xfrm>
            <a:off x="666750" y="5517233"/>
            <a:ext cx="8677275" cy="720080"/>
            <a:chOff x="559817" y="3081411"/>
            <a:chExt cx="8677275" cy="720080"/>
          </a:xfrm>
        </p:grpSpPr>
        <p:sp>
          <p:nvSpPr>
            <p:cNvPr id="13" name="모서리가 둥근 직사각형 4">
              <a:extLst>
                <a:ext uri="{FF2B5EF4-FFF2-40B4-BE49-F238E27FC236}">
                  <a16:creationId xmlns:a16="http://schemas.microsoft.com/office/drawing/2014/main" id="{A5BDF88D-363B-443E-B7AC-B53ADD6AE766}"/>
                </a:ext>
              </a:extLst>
            </p:cNvPr>
            <p:cNvSpPr/>
            <p:nvPr/>
          </p:nvSpPr>
          <p:spPr>
            <a:xfrm>
              <a:off x="559817" y="3081411"/>
              <a:ext cx="8677275" cy="7200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802B9CB2-F872-4308-83B5-9701154EE364}"/>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1195CE42-23A8-42F6-997B-7648519F9CFC}"/>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17</a:t>
              </a:r>
            </a:p>
          </p:txBody>
        </p:sp>
        <p:sp>
          <p:nvSpPr>
            <p:cNvPr id="16" name="TextBox 15">
              <a:extLst>
                <a:ext uri="{FF2B5EF4-FFF2-40B4-BE49-F238E27FC236}">
                  <a16:creationId xmlns:a16="http://schemas.microsoft.com/office/drawing/2014/main" id="{4CF12A5C-C944-4A90-8D35-7928D38496B7}"/>
                </a:ext>
              </a:extLst>
            </p:cNvPr>
            <p:cNvSpPr txBox="1"/>
            <p:nvPr/>
          </p:nvSpPr>
          <p:spPr>
            <a:xfrm>
              <a:off x="1036273" y="3467475"/>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number of missing values can be counted.</a:t>
              </a:r>
            </a:p>
          </p:txBody>
        </p:sp>
      </p:grpSp>
      <p:sp>
        <p:nvSpPr>
          <p:cNvPr id="17" name="직사각형 16">
            <a:extLst>
              <a:ext uri="{FF2B5EF4-FFF2-40B4-BE49-F238E27FC236}">
                <a16:creationId xmlns:a16="http://schemas.microsoft.com/office/drawing/2014/main" id="{5BFAEC7C-AED0-417E-93E1-8AAF8BF54FF7}"/>
              </a:ext>
            </a:extLst>
          </p:cNvPr>
          <p:cNvSpPr/>
          <p:nvPr/>
        </p:nvSpPr>
        <p:spPr>
          <a:xfrm>
            <a:off x="2647156" y="4509120"/>
            <a:ext cx="2196244" cy="195873"/>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779563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Removing the training sample or feature with missing value  </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Use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dropna</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to completely delete a certain training sample (row) or feature (column).</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help(</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df.dropna</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shows axis=0 is default.</a:t>
            </a:r>
          </a:p>
        </p:txBody>
      </p:sp>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2435583"/>
            <a:ext cx="8677276" cy="164149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grpSp>
        <p:nvGrpSpPr>
          <p:cNvPr id="12" name="그룹 11">
            <a:extLst>
              <a:ext uri="{FF2B5EF4-FFF2-40B4-BE49-F238E27FC236}">
                <a16:creationId xmlns:a16="http://schemas.microsoft.com/office/drawing/2014/main" id="{5ED6A188-B203-4450-B432-79AFAA70B9D1}"/>
              </a:ext>
            </a:extLst>
          </p:cNvPr>
          <p:cNvGrpSpPr/>
          <p:nvPr/>
        </p:nvGrpSpPr>
        <p:grpSpPr>
          <a:xfrm>
            <a:off x="666750" y="4185084"/>
            <a:ext cx="8677275" cy="765855"/>
            <a:chOff x="559817" y="3081410"/>
            <a:chExt cx="8677275" cy="765855"/>
          </a:xfrm>
        </p:grpSpPr>
        <p:sp>
          <p:nvSpPr>
            <p:cNvPr id="13" name="모서리가 둥근 직사각형 4">
              <a:extLst>
                <a:ext uri="{FF2B5EF4-FFF2-40B4-BE49-F238E27FC236}">
                  <a16:creationId xmlns:a16="http://schemas.microsoft.com/office/drawing/2014/main" id="{A5BDF88D-363B-443E-B7AC-B53ADD6AE766}"/>
                </a:ext>
              </a:extLst>
            </p:cNvPr>
            <p:cNvSpPr/>
            <p:nvPr/>
          </p:nvSpPr>
          <p:spPr>
            <a:xfrm>
              <a:off x="559817" y="3081410"/>
              <a:ext cx="8677275" cy="76585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Picture 2" descr="Byte - Free electronics icons">
              <a:extLst>
                <a:ext uri="{FF2B5EF4-FFF2-40B4-BE49-F238E27FC236}">
                  <a16:creationId xmlns:a16="http://schemas.microsoft.com/office/drawing/2014/main" id="{802B9CB2-F872-4308-83B5-9701154EE364}"/>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1195CE42-23A8-42F6-997B-7648519F9CFC}"/>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18</a:t>
              </a:r>
            </a:p>
          </p:txBody>
        </p:sp>
        <p:sp>
          <p:nvSpPr>
            <p:cNvPr id="16" name="TextBox 15">
              <a:extLst>
                <a:ext uri="{FF2B5EF4-FFF2-40B4-BE49-F238E27FC236}">
                  <a16:creationId xmlns:a16="http://schemas.microsoft.com/office/drawing/2014/main" id="{4CF12A5C-C944-4A90-8D35-7928D38496B7}"/>
                </a:ext>
              </a:extLst>
            </p:cNvPr>
            <p:cNvSpPr txBox="1"/>
            <p:nvPr/>
          </p:nvSpPr>
          <p:spPr>
            <a:xfrm>
              <a:off x="1036273" y="3467475"/>
              <a:ext cx="8167303" cy="200055"/>
            </a:xfrm>
            <a:prstGeom prst="rect">
              <a:avLst/>
            </a:prstGeom>
            <a:noFill/>
          </p:spPr>
          <p:txBody>
            <a:bodyPr wrap="square" lIns="0" tIns="0" rIns="0" bIns="0">
              <a:spAutoFit/>
            </a:bodyPr>
            <a:lstStyle/>
            <a:p>
              <a:pPr marL="182563" indent="-182563">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axis=0 is default, so the row with the </a:t>
              </a:r>
              <a:r>
                <a:rPr lang="en-US" altLang="ko-KR" sz="1300" dirty="0" err="1">
                  <a:solidFill>
                    <a:prstClr val="black">
                      <a:lumMod val="85000"/>
                      <a:lumOff val="15000"/>
                    </a:prstClr>
                  </a:solidFill>
                  <a:latin typeface="SamsungOne 400" panose="020B0503030303020204" pitchFamily="34" charset="0"/>
                </a:rPr>
                <a:t>NaN</a:t>
              </a:r>
              <a:r>
                <a:rPr lang="en-US" altLang="ko-KR" sz="1300" dirty="0">
                  <a:solidFill>
                    <a:prstClr val="black">
                      <a:lumMod val="85000"/>
                      <a:lumOff val="15000"/>
                    </a:prstClr>
                  </a:solidFill>
                  <a:latin typeface="SamsungOne 400" panose="020B0503030303020204" pitchFamily="34" charset="0"/>
                </a:rPr>
                <a:t> value is deleted. </a:t>
              </a:r>
            </a:p>
          </p:txBody>
        </p:sp>
      </p:grpSp>
      <p:pic>
        <p:nvPicPr>
          <p:cNvPr id="19" name="그림 18">
            <a:extLst>
              <a:ext uri="{FF2B5EF4-FFF2-40B4-BE49-F238E27FC236}">
                <a16:creationId xmlns:a16="http://schemas.microsoft.com/office/drawing/2014/main" id="{65F2B252-77B1-494E-B6BA-E9C74FAE23B8}"/>
              </a:ext>
            </a:extLst>
          </p:cNvPr>
          <p:cNvPicPr>
            <a:picLocks noChangeAspect="1"/>
          </p:cNvPicPr>
          <p:nvPr/>
        </p:nvPicPr>
        <p:blipFill rotWithShape="1">
          <a:blip r:embed="rId5"/>
          <a:srcRect l="2317" t="4932" r="26294"/>
          <a:stretch/>
        </p:blipFill>
        <p:spPr>
          <a:xfrm>
            <a:off x="847726" y="2518055"/>
            <a:ext cx="8496300" cy="1487009"/>
          </a:xfrm>
          <a:prstGeom prst="rect">
            <a:avLst/>
          </a:prstGeom>
          <a:ln>
            <a:noFill/>
          </a:ln>
        </p:spPr>
      </p:pic>
      <p:sp>
        <p:nvSpPr>
          <p:cNvPr id="17" name="직사각형 16">
            <a:extLst>
              <a:ext uri="{FF2B5EF4-FFF2-40B4-BE49-F238E27FC236}">
                <a16:creationId xmlns:a16="http://schemas.microsoft.com/office/drawing/2014/main" id="{5BFAEC7C-AED0-417E-93E1-8AAF8BF54FF7}"/>
              </a:ext>
            </a:extLst>
          </p:cNvPr>
          <p:cNvSpPr/>
          <p:nvPr/>
        </p:nvSpPr>
        <p:spPr>
          <a:xfrm>
            <a:off x="2647156" y="2639677"/>
            <a:ext cx="4752528" cy="195873"/>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334485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Removing the training sample or feature with missing value  </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When trying to reflect the deleted result immediately to the object, do not omit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inplace</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=True option.</a:t>
            </a:r>
          </a:p>
        </p:txBody>
      </p:sp>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2102888"/>
            <a:ext cx="8677276" cy="204619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8" name="그림 17">
            <a:extLst>
              <a:ext uri="{FF2B5EF4-FFF2-40B4-BE49-F238E27FC236}">
                <a16:creationId xmlns:a16="http://schemas.microsoft.com/office/drawing/2014/main" id="{A934C560-4851-4B00-8EBC-712BED2EB432}"/>
              </a:ext>
            </a:extLst>
          </p:cNvPr>
          <p:cNvPicPr>
            <a:picLocks noChangeAspect="1"/>
          </p:cNvPicPr>
          <p:nvPr/>
        </p:nvPicPr>
        <p:blipFill rotWithShape="1">
          <a:blip r:embed="rId4"/>
          <a:srcRect l="2234" r="24293"/>
          <a:stretch/>
        </p:blipFill>
        <p:spPr>
          <a:xfrm>
            <a:off x="847723" y="2169034"/>
            <a:ext cx="8496301" cy="1908038"/>
          </a:xfrm>
          <a:prstGeom prst="rect">
            <a:avLst/>
          </a:prstGeom>
          <a:ln>
            <a:noFill/>
          </a:ln>
        </p:spPr>
      </p:pic>
    </p:spTree>
    <p:extLst>
      <p:ext uri="{BB962C8B-B14F-4D97-AF65-F5344CB8AC3E}">
        <p14:creationId xmlns:p14="http://schemas.microsoft.com/office/powerpoint/2010/main" val="30247885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Removing the training sample or feature with missing value  </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Delete the row with missing value.</a:t>
            </a:r>
          </a:p>
        </p:txBody>
      </p:sp>
      <p:grpSp>
        <p:nvGrpSpPr>
          <p:cNvPr id="2" name="그룹 1"/>
          <p:cNvGrpSpPr/>
          <p:nvPr/>
        </p:nvGrpSpPr>
        <p:grpSpPr>
          <a:xfrm>
            <a:off x="666749" y="2102888"/>
            <a:ext cx="8677276" cy="2628503"/>
            <a:chOff x="666749" y="2102888"/>
            <a:chExt cx="8677276" cy="2628503"/>
          </a:xfrm>
        </p:grpSpPr>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2102888"/>
              <a:ext cx="8677276" cy="262850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9" name="그림 8">
              <a:extLst>
                <a:ext uri="{FF2B5EF4-FFF2-40B4-BE49-F238E27FC236}">
                  <a16:creationId xmlns:a16="http://schemas.microsoft.com/office/drawing/2014/main" id="{794E2596-8C92-4513-A330-E57C5C771933}"/>
                </a:ext>
              </a:extLst>
            </p:cNvPr>
            <p:cNvPicPr>
              <a:picLocks noChangeAspect="1"/>
            </p:cNvPicPr>
            <p:nvPr/>
          </p:nvPicPr>
          <p:blipFill rotWithShape="1">
            <a:blip r:embed="rId4"/>
            <a:srcRect l="2238" r="22775"/>
            <a:stretch/>
          </p:blipFill>
          <p:spPr>
            <a:xfrm>
              <a:off x="847723" y="2166467"/>
              <a:ext cx="8496302" cy="2525065"/>
            </a:xfrm>
            <a:prstGeom prst="rect">
              <a:avLst/>
            </a:prstGeom>
            <a:ln>
              <a:noFill/>
            </a:ln>
          </p:spPr>
        </p:pic>
      </p:grpSp>
    </p:spTree>
    <p:extLst>
      <p:ext uri="{BB962C8B-B14F-4D97-AF65-F5344CB8AC3E}">
        <p14:creationId xmlns:p14="http://schemas.microsoft.com/office/powerpoint/2010/main" val="21185671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Removing the training sample or feature with missing value  </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nvGrpSpPr>
          <p:cNvPr id="2" name="그룹 1"/>
          <p:cNvGrpSpPr/>
          <p:nvPr/>
        </p:nvGrpSpPr>
        <p:grpSpPr>
          <a:xfrm>
            <a:off x="666749" y="1773238"/>
            <a:ext cx="8677276" cy="2709552"/>
            <a:chOff x="666749" y="1773238"/>
            <a:chExt cx="8677276" cy="2709552"/>
          </a:xfrm>
        </p:grpSpPr>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1773238"/>
              <a:ext cx="8677276" cy="270955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1" name="그림 10">
              <a:extLst>
                <a:ext uri="{FF2B5EF4-FFF2-40B4-BE49-F238E27FC236}">
                  <a16:creationId xmlns:a16="http://schemas.microsoft.com/office/drawing/2014/main" id="{4AEC8355-58B3-4CB2-AAB0-AC62E19F9BAB}"/>
                </a:ext>
              </a:extLst>
            </p:cNvPr>
            <p:cNvPicPr>
              <a:picLocks noChangeAspect="1"/>
            </p:cNvPicPr>
            <p:nvPr/>
          </p:nvPicPr>
          <p:blipFill rotWithShape="1">
            <a:blip r:embed="rId4"/>
            <a:srcRect l="2233" t="2304" r="22942"/>
            <a:stretch/>
          </p:blipFill>
          <p:spPr>
            <a:xfrm>
              <a:off x="847725" y="1844824"/>
              <a:ext cx="8496300" cy="2575223"/>
            </a:xfrm>
            <a:prstGeom prst="rect">
              <a:avLst/>
            </a:prstGeom>
            <a:ln>
              <a:noFill/>
            </a:ln>
          </p:spPr>
        </p:pic>
      </p:grpSp>
    </p:spTree>
    <p:extLst>
      <p:ext uri="{BB962C8B-B14F-4D97-AF65-F5344CB8AC3E}">
        <p14:creationId xmlns:p14="http://schemas.microsoft.com/office/powerpoint/2010/main" val="12387028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Removing the training sample or feature with missing value  </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If all rows have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NaN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use how='all’ to delete. </a:t>
            </a:r>
          </a:p>
        </p:txBody>
      </p:sp>
      <p:grpSp>
        <p:nvGrpSpPr>
          <p:cNvPr id="2" name="그룹 1"/>
          <p:cNvGrpSpPr/>
          <p:nvPr/>
        </p:nvGrpSpPr>
        <p:grpSpPr>
          <a:xfrm>
            <a:off x="666749" y="2102887"/>
            <a:ext cx="8677276" cy="2770195"/>
            <a:chOff x="666749" y="2102887"/>
            <a:chExt cx="8677276" cy="2770195"/>
          </a:xfrm>
        </p:grpSpPr>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2102887"/>
              <a:ext cx="8677276" cy="277019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1" name="그림 10">
              <a:extLst>
                <a:ext uri="{FF2B5EF4-FFF2-40B4-BE49-F238E27FC236}">
                  <a16:creationId xmlns:a16="http://schemas.microsoft.com/office/drawing/2014/main" id="{703CE4CF-2B12-4227-AAB2-3CB47D4D5745}"/>
                </a:ext>
              </a:extLst>
            </p:cNvPr>
            <p:cNvPicPr>
              <a:picLocks noChangeAspect="1"/>
            </p:cNvPicPr>
            <p:nvPr/>
          </p:nvPicPr>
          <p:blipFill rotWithShape="1">
            <a:blip r:embed="rId4"/>
            <a:srcRect l="2275" r="23420"/>
            <a:stretch/>
          </p:blipFill>
          <p:spPr>
            <a:xfrm>
              <a:off x="847725" y="2174005"/>
              <a:ext cx="8496300" cy="2613575"/>
            </a:xfrm>
            <a:prstGeom prst="rect">
              <a:avLst/>
            </a:prstGeom>
            <a:ln>
              <a:noFill/>
            </a:ln>
          </p:spPr>
        </p:pic>
      </p:grpSp>
    </p:spTree>
    <p:extLst>
      <p:ext uri="{BB962C8B-B14F-4D97-AF65-F5344CB8AC3E}">
        <p14:creationId xmlns:p14="http://schemas.microsoft.com/office/powerpoint/2010/main" val="30264857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Removing the training sample or feature with missing value  </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nvGrpSpPr>
          <p:cNvPr id="2" name="그룹 1"/>
          <p:cNvGrpSpPr/>
          <p:nvPr/>
        </p:nvGrpSpPr>
        <p:grpSpPr>
          <a:xfrm>
            <a:off x="666749" y="1773238"/>
            <a:ext cx="8677276" cy="2966030"/>
            <a:chOff x="666749" y="1773238"/>
            <a:chExt cx="8677276" cy="2966030"/>
          </a:xfrm>
        </p:grpSpPr>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1773238"/>
              <a:ext cx="8677276" cy="296603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8" name="그림 7">
              <a:extLst>
                <a:ext uri="{FF2B5EF4-FFF2-40B4-BE49-F238E27FC236}">
                  <a16:creationId xmlns:a16="http://schemas.microsoft.com/office/drawing/2014/main" id="{307E2751-47A7-4489-BBFC-B4CDC61432B4}"/>
                </a:ext>
              </a:extLst>
            </p:cNvPr>
            <p:cNvPicPr>
              <a:picLocks noChangeAspect="1"/>
            </p:cNvPicPr>
            <p:nvPr/>
          </p:nvPicPr>
          <p:blipFill rotWithShape="1">
            <a:blip r:embed="rId4"/>
            <a:srcRect l="2226" r="21806"/>
            <a:stretch/>
          </p:blipFill>
          <p:spPr>
            <a:xfrm>
              <a:off x="847725" y="1808820"/>
              <a:ext cx="8496300" cy="2851951"/>
            </a:xfrm>
            <a:prstGeom prst="rect">
              <a:avLst/>
            </a:prstGeom>
            <a:ln>
              <a:noFill/>
            </a:ln>
          </p:spPr>
        </p:pic>
      </p:grpSp>
    </p:spTree>
    <p:extLst>
      <p:ext uri="{BB962C8B-B14F-4D97-AF65-F5344CB8AC3E}">
        <p14:creationId xmlns:p14="http://schemas.microsoft.com/office/powerpoint/2010/main" val="9970533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Removing the training sample or feature with missing value  </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nvGrpSpPr>
          <p:cNvPr id="2" name="그룹 1"/>
          <p:cNvGrpSpPr/>
          <p:nvPr/>
        </p:nvGrpSpPr>
        <p:grpSpPr>
          <a:xfrm>
            <a:off x="666749" y="1773238"/>
            <a:ext cx="8677277" cy="2771886"/>
            <a:chOff x="666749" y="1773238"/>
            <a:chExt cx="8677277" cy="2771886"/>
          </a:xfrm>
        </p:grpSpPr>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1773238"/>
              <a:ext cx="8677276" cy="2771886"/>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9" name="그림 8">
              <a:extLst>
                <a:ext uri="{FF2B5EF4-FFF2-40B4-BE49-F238E27FC236}">
                  <a16:creationId xmlns:a16="http://schemas.microsoft.com/office/drawing/2014/main" id="{385C307B-ACB2-407F-80BD-BDB8D9E54449}"/>
                </a:ext>
              </a:extLst>
            </p:cNvPr>
            <p:cNvPicPr>
              <a:picLocks noChangeAspect="1"/>
            </p:cNvPicPr>
            <p:nvPr/>
          </p:nvPicPr>
          <p:blipFill rotWithShape="1">
            <a:blip r:embed="rId4"/>
            <a:srcRect l="2223" r="21892"/>
            <a:stretch/>
          </p:blipFill>
          <p:spPr>
            <a:xfrm>
              <a:off x="847726" y="1809941"/>
              <a:ext cx="8496300" cy="2591167"/>
            </a:xfrm>
            <a:prstGeom prst="rect">
              <a:avLst/>
            </a:prstGeom>
            <a:ln>
              <a:noFill/>
            </a:ln>
          </p:spPr>
        </p:pic>
      </p:grpSp>
    </p:spTree>
    <p:extLst>
      <p:ext uri="{BB962C8B-B14F-4D97-AF65-F5344CB8AC3E}">
        <p14:creationId xmlns:p14="http://schemas.microsoft.com/office/powerpoint/2010/main" val="10875777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Removing the training sample or feature with missing value  </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When deleting 3 or more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NaN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values, use thresh.</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grpSp>
        <p:nvGrpSpPr>
          <p:cNvPr id="2" name="그룹 1"/>
          <p:cNvGrpSpPr/>
          <p:nvPr/>
        </p:nvGrpSpPr>
        <p:grpSpPr>
          <a:xfrm>
            <a:off x="666749" y="2102887"/>
            <a:ext cx="8677276" cy="3162317"/>
            <a:chOff x="666749" y="2102887"/>
            <a:chExt cx="8677276" cy="3162317"/>
          </a:xfrm>
        </p:grpSpPr>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2102887"/>
              <a:ext cx="8677276" cy="316231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9" name="그림 8">
              <a:extLst>
                <a:ext uri="{FF2B5EF4-FFF2-40B4-BE49-F238E27FC236}">
                  <a16:creationId xmlns:a16="http://schemas.microsoft.com/office/drawing/2014/main" id="{D3602E42-D964-4408-B773-6823C445D45A}"/>
                </a:ext>
              </a:extLst>
            </p:cNvPr>
            <p:cNvPicPr>
              <a:picLocks noChangeAspect="1"/>
            </p:cNvPicPr>
            <p:nvPr/>
          </p:nvPicPr>
          <p:blipFill rotWithShape="1">
            <a:blip r:embed="rId4"/>
            <a:srcRect l="2255" r="20809"/>
            <a:stretch/>
          </p:blipFill>
          <p:spPr>
            <a:xfrm>
              <a:off x="847724" y="2234149"/>
              <a:ext cx="8496301" cy="2887039"/>
            </a:xfrm>
            <a:prstGeom prst="rect">
              <a:avLst/>
            </a:prstGeom>
            <a:ln>
              <a:noFill/>
            </a:ln>
          </p:spPr>
        </p:pic>
      </p:grpSp>
    </p:spTree>
    <p:extLst>
      <p:ext uri="{BB962C8B-B14F-4D97-AF65-F5344CB8AC3E}">
        <p14:creationId xmlns:p14="http://schemas.microsoft.com/office/powerpoint/2010/main" val="26027313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Removing the training sample or feature with missing value  </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nvGrpSpPr>
          <p:cNvPr id="2" name="그룹 1"/>
          <p:cNvGrpSpPr/>
          <p:nvPr/>
        </p:nvGrpSpPr>
        <p:grpSpPr>
          <a:xfrm>
            <a:off x="666749" y="1773238"/>
            <a:ext cx="8677276" cy="2879898"/>
            <a:chOff x="666749" y="1773238"/>
            <a:chExt cx="8677276" cy="2879898"/>
          </a:xfrm>
        </p:grpSpPr>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1773238"/>
              <a:ext cx="8677276" cy="287989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8" name="그림 7">
              <a:extLst>
                <a:ext uri="{FF2B5EF4-FFF2-40B4-BE49-F238E27FC236}">
                  <a16:creationId xmlns:a16="http://schemas.microsoft.com/office/drawing/2014/main" id="{76FE6860-E0DF-4BDA-8FC4-F5C70DC9570E}"/>
                </a:ext>
              </a:extLst>
            </p:cNvPr>
            <p:cNvPicPr>
              <a:picLocks noChangeAspect="1"/>
            </p:cNvPicPr>
            <p:nvPr/>
          </p:nvPicPr>
          <p:blipFill rotWithShape="1">
            <a:blip r:embed="rId4"/>
            <a:srcRect l="2271" t="1675" r="23345"/>
            <a:stretch/>
          </p:blipFill>
          <p:spPr>
            <a:xfrm>
              <a:off x="847725" y="1945458"/>
              <a:ext cx="8496300" cy="2591167"/>
            </a:xfrm>
            <a:prstGeom prst="rect">
              <a:avLst/>
            </a:prstGeom>
            <a:ln>
              <a:noFill/>
            </a:ln>
          </p:spPr>
        </p:pic>
      </p:grpSp>
    </p:spTree>
    <p:extLst>
      <p:ext uri="{BB962C8B-B14F-4D97-AF65-F5344CB8AC3E}">
        <p14:creationId xmlns:p14="http://schemas.microsoft.com/office/powerpoint/2010/main" val="34398866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Removing the training sample or feature with missing value  </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When deleting a row with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NaN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on a certain column, use subject.</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grpSp>
        <p:nvGrpSpPr>
          <p:cNvPr id="2" name="그룹 1"/>
          <p:cNvGrpSpPr/>
          <p:nvPr/>
        </p:nvGrpSpPr>
        <p:grpSpPr>
          <a:xfrm>
            <a:off x="666749" y="2060848"/>
            <a:ext cx="8677276" cy="4205838"/>
            <a:chOff x="666749" y="2102887"/>
            <a:chExt cx="8677276" cy="4205838"/>
          </a:xfrm>
        </p:grpSpPr>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2102887"/>
              <a:ext cx="8677276" cy="420583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1" name="그림 10">
              <a:extLst>
                <a:ext uri="{FF2B5EF4-FFF2-40B4-BE49-F238E27FC236}">
                  <a16:creationId xmlns:a16="http://schemas.microsoft.com/office/drawing/2014/main" id="{87B39F24-D6FB-4362-8037-58315643D2F0}"/>
                </a:ext>
              </a:extLst>
            </p:cNvPr>
            <p:cNvPicPr>
              <a:picLocks noChangeAspect="1"/>
            </p:cNvPicPr>
            <p:nvPr/>
          </p:nvPicPr>
          <p:blipFill rotWithShape="1">
            <a:blip r:embed="rId4"/>
            <a:srcRect l="2331" r="19554" b="3198"/>
            <a:stretch/>
          </p:blipFill>
          <p:spPr>
            <a:xfrm>
              <a:off x="847724" y="2201940"/>
              <a:ext cx="8496301" cy="3963364"/>
            </a:xfrm>
            <a:prstGeom prst="rect">
              <a:avLst/>
            </a:prstGeom>
            <a:ln>
              <a:noFill/>
            </a:ln>
          </p:spPr>
        </p:pic>
      </p:grpSp>
    </p:spTree>
    <p:extLst>
      <p:ext uri="{BB962C8B-B14F-4D97-AF65-F5344CB8AC3E}">
        <p14:creationId xmlns:p14="http://schemas.microsoft.com/office/powerpoint/2010/main" val="23284260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Imputation</a:t>
            </a: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945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It is sometimes hard to delete a training sample or a certain column because it loses too much useful data. If so, estimate missing values from other training samples in the dataset by kriging. The most commonly used method is to impute with average value, which is to change the missing value into the overall average of a certain column. In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scikit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-learn, use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SimpleImputer</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class.  </a:t>
            </a:r>
          </a:p>
        </p:txBody>
      </p:sp>
      <p:grpSp>
        <p:nvGrpSpPr>
          <p:cNvPr id="3" name="그룹 2"/>
          <p:cNvGrpSpPr/>
          <p:nvPr/>
        </p:nvGrpSpPr>
        <p:grpSpPr>
          <a:xfrm>
            <a:off x="666749" y="2703053"/>
            <a:ext cx="8677276" cy="2886188"/>
            <a:chOff x="666749" y="2703053"/>
            <a:chExt cx="8677276" cy="2886188"/>
          </a:xfrm>
        </p:grpSpPr>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2703053"/>
              <a:ext cx="8677276" cy="288618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9" name="그림 8">
              <a:extLst>
                <a:ext uri="{FF2B5EF4-FFF2-40B4-BE49-F238E27FC236}">
                  <a16:creationId xmlns:a16="http://schemas.microsoft.com/office/drawing/2014/main" id="{630C7791-8914-4F58-B758-A97A672E5436}"/>
                </a:ext>
              </a:extLst>
            </p:cNvPr>
            <p:cNvPicPr>
              <a:picLocks noChangeAspect="1"/>
            </p:cNvPicPr>
            <p:nvPr/>
          </p:nvPicPr>
          <p:blipFill rotWithShape="1">
            <a:blip r:embed="rId4"/>
            <a:srcRect l="1534" t="2202" r="21634" b="3546"/>
            <a:stretch/>
          </p:blipFill>
          <p:spPr>
            <a:xfrm>
              <a:off x="847724" y="2821258"/>
              <a:ext cx="8496301" cy="2598235"/>
            </a:xfrm>
            <a:prstGeom prst="rect">
              <a:avLst/>
            </a:prstGeom>
            <a:ln>
              <a:noFill/>
            </a:ln>
          </p:spPr>
        </p:pic>
        <p:sp>
          <p:nvSpPr>
            <p:cNvPr id="11" name="직사각형 10">
              <a:extLst>
                <a:ext uri="{FF2B5EF4-FFF2-40B4-BE49-F238E27FC236}">
                  <a16:creationId xmlns:a16="http://schemas.microsoft.com/office/drawing/2014/main" id="{F1C29B38-CDE0-9045-A589-71498EE9E28D}"/>
                </a:ext>
              </a:extLst>
            </p:cNvPr>
            <p:cNvSpPr/>
            <p:nvPr/>
          </p:nvSpPr>
          <p:spPr>
            <a:xfrm>
              <a:off x="1531032" y="4146147"/>
              <a:ext cx="5364596" cy="3454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Impute with using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df.values</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p:txBody>
        </p:sp>
      </p:grpSp>
    </p:spTree>
    <p:extLst>
      <p:ext uri="{BB962C8B-B14F-4D97-AF65-F5344CB8AC3E}">
        <p14:creationId xmlns:p14="http://schemas.microsoft.com/office/powerpoint/2010/main" val="40038289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Imputation</a:t>
            </a:r>
          </a:p>
        </p:txBody>
      </p:sp>
      <p:grpSp>
        <p:nvGrpSpPr>
          <p:cNvPr id="2" name="그룹 1"/>
          <p:cNvGrpSpPr/>
          <p:nvPr/>
        </p:nvGrpSpPr>
        <p:grpSpPr>
          <a:xfrm>
            <a:off x="666749" y="1773238"/>
            <a:ext cx="8677276" cy="3534742"/>
            <a:chOff x="666749" y="1773238"/>
            <a:chExt cx="8677276" cy="3534742"/>
          </a:xfrm>
        </p:grpSpPr>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1773238"/>
              <a:ext cx="8677276" cy="353474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9" name="그림 8">
              <a:extLst>
                <a:ext uri="{FF2B5EF4-FFF2-40B4-BE49-F238E27FC236}">
                  <a16:creationId xmlns:a16="http://schemas.microsoft.com/office/drawing/2014/main" id="{3DE4D4F0-69CF-41A8-BECC-6C5E2F10560A}"/>
                </a:ext>
              </a:extLst>
            </p:cNvPr>
            <p:cNvPicPr>
              <a:picLocks noChangeAspect="1"/>
            </p:cNvPicPr>
            <p:nvPr/>
          </p:nvPicPr>
          <p:blipFill rotWithShape="1">
            <a:blip r:embed="rId4"/>
            <a:srcRect l="1571" t="919" r="24549"/>
            <a:stretch/>
          </p:blipFill>
          <p:spPr>
            <a:xfrm>
              <a:off x="847724" y="1839950"/>
              <a:ext cx="8496301" cy="3353245"/>
            </a:xfrm>
            <a:prstGeom prst="rect">
              <a:avLst/>
            </a:prstGeom>
            <a:ln>
              <a:noFill/>
            </a:ln>
          </p:spPr>
        </p:pic>
      </p:grpSp>
    </p:spTree>
    <p:extLst>
      <p:ext uri="{BB962C8B-B14F-4D97-AF65-F5344CB8AC3E}">
        <p14:creationId xmlns:p14="http://schemas.microsoft.com/office/powerpoint/2010/main" val="9167754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Imputation</a:t>
            </a:r>
          </a:p>
        </p:txBody>
      </p:sp>
      <p:grpSp>
        <p:nvGrpSpPr>
          <p:cNvPr id="2" name="그룹 1"/>
          <p:cNvGrpSpPr/>
          <p:nvPr/>
        </p:nvGrpSpPr>
        <p:grpSpPr>
          <a:xfrm>
            <a:off x="666749" y="1773238"/>
            <a:ext cx="8677277" cy="2339838"/>
            <a:chOff x="666749" y="1773238"/>
            <a:chExt cx="8677277" cy="2339838"/>
          </a:xfrm>
        </p:grpSpPr>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1773238"/>
              <a:ext cx="8677276" cy="2339838"/>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8" name="그림 7">
              <a:extLst>
                <a:ext uri="{FF2B5EF4-FFF2-40B4-BE49-F238E27FC236}">
                  <a16:creationId xmlns:a16="http://schemas.microsoft.com/office/drawing/2014/main" id="{36C6CC55-523F-4A38-B863-092BC074837F}"/>
                </a:ext>
              </a:extLst>
            </p:cNvPr>
            <p:cNvPicPr>
              <a:picLocks noChangeAspect="1"/>
            </p:cNvPicPr>
            <p:nvPr/>
          </p:nvPicPr>
          <p:blipFill rotWithShape="1">
            <a:blip r:embed="rId4"/>
            <a:srcRect l="1498" t="2124" r="24323"/>
            <a:stretch/>
          </p:blipFill>
          <p:spPr>
            <a:xfrm>
              <a:off x="847726" y="1851102"/>
              <a:ext cx="8496300" cy="2081954"/>
            </a:xfrm>
            <a:prstGeom prst="rect">
              <a:avLst/>
            </a:prstGeom>
            <a:ln>
              <a:noFill/>
            </a:ln>
          </p:spPr>
        </p:pic>
      </p:grpSp>
      <p:grpSp>
        <p:nvGrpSpPr>
          <p:cNvPr id="11" name="그룹 10">
            <a:extLst>
              <a:ext uri="{FF2B5EF4-FFF2-40B4-BE49-F238E27FC236}">
                <a16:creationId xmlns:a16="http://schemas.microsoft.com/office/drawing/2014/main" id="{553BE242-4799-4FC0-9EB2-9716D13BA503}"/>
              </a:ext>
            </a:extLst>
          </p:cNvPr>
          <p:cNvGrpSpPr/>
          <p:nvPr/>
        </p:nvGrpSpPr>
        <p:grpSpPr>
          <a:xfrm>
            <a:off x="666750" y="4221089"/>
            <a:ext cx="8677275" cy="720080"/>
            <a:chOff x="559817" y="3081411"/>
            <a:chExt cx="8677275" cy="720080"/>
          </a:xfrm>
        </p:grpSpPr>
        <p:sp>
          <p:nvSpPr>
            <p:cNvPr id="12" name="모서리가 둥근 직사각형 4">
              <a:extLst>
                <a:ext uri="{FF2B5EF4-FFF2-40B4-BE49-F238E27FC236}">
                  <a16:creationId xmlns:a16="http://schemas.microsoft.com/office/drawing/2014/main" id="{4694B0F7-DB72-4D21-8547-553D388C50FF}"/>
                </a:ext>
              </a:extLst>
            </p:cNvPr>
            <p:cNvSpPr/>
            <p:nvPr/>
          </p:nvSpPr>
          <p:spPr>
            <a:xfrm>
              <a:off x="559817" y="3081411"/>
              <a:ext cx="8677275" cy="720080"/>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Picture 2" descr="Byte - Free electronics icons">
              <a:extLst>
                <a:ext uri="{FF2B5EF4-FFF2-40B4-BE49-F238E27FC236}">
                  <a16:creationId xmlns:a16="http://schemas.microsoft.com/office/drawing/2014/main" id="{B13929EA-1F6C-48D3-8634-716A3ADCF0CB}"/>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1A38382-F8AC-47A5-9F3F-7E4E5631CD30}"/>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45</a:t>
              </a:r>
            </a:p>
          </p:txBody>
        </p:sp>
        <p:sp>
          <p:nvSpPr>
            <p:cNvPr id="15" name="TextBox 14">
              <a:extLst>
                <a:ext uri="{FF2B5EF4-FFF2-40B4-BE49-F238E27FC236}">
                  <a16:creationId xmlns:a16="http://schemas.microsoft.com/office/drawing/2014/main" id="{750C35FF-832A-4061-8C21-9CE77C766478}"/>
                </a:ext>
              </a:extLst>
            </p:cNvPr>
            <p:cNvSpPr txBox="1"/>
            <p:nvPr/>
          </p:nvSpPr>
          <p:spPr>
            <a:xfrm>
              <a:off x="1036273" y="3467475"/>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ea typeface="+mn-ea"/>
                  <a:cs typeface="+mn-cs"/>
                </a:rPr>
                <a:t>Check it is the average of the column.</a:t>
              </a:r>
            </a:p>
          </p:txBody>
        </p:sp>
      </p:grpSp>
      <p:sp>
        <p:nvSpPr>
          <p:cNvPr id="16" name="직사각형 15">
            <a:extLst>
              <a:ext uri="{FF2B5EF4-FFF2-40B4-BE49-F238E27FC236}">
                <a16:creationId xmlns:a16="http://schemas.microsoft.com/office/drawing/2014/main" id="{9B98892A-9960-4B97-9851-F6C168194CBC}"/>
              </a:ext>
            </a:extLst>
          </p:cNvPr>
          <p:cNvSpPr/>
          <p:nvPr/>
        </p:nvSpPr>
        <p:spPr>
          <a:xfrm>
            <a:off x="671261" y="5036637"/>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For strategy parameters, median and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most_frequent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can also be set.</a:t>
            </a:r>
          </a:p>
        </p:txBody>
      </p:sp>
    </p:spTree>
    <p:extLst>
      <p:ext uri="{BB962C8B-B14F-4D97-AF65-F5344CB8AC3E}">
        <p14:creationId xmlns:p14="http://schemas.microsoft.com/office/powerpoint/2010/main" val="19661809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Review on the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 estimator API</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18586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Impute the missing value of the dataset by using the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SimpleImputer</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class of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scikit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-learn from the previous clause.</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SimpleImputer</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class is a transformer class of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scikit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-learn that is used for data conversion.</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two main methods for the estimator include fit and transform.</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Use the fit method to learn the model parameter in the training data.</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Use the transform method to convert the data into the learned parameter.</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data array for conversion should be the same as the number of data features used in the model learning.</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spTree>
    <p:extLst>
      <p:ext uri="{BB962C8B-B14F-4D97-AF65-F5344CB8AC3E}">
        <p14:creationId xmlns:p14="http://schemas.microsoft.com/office/powerpoint/2010/main" val="10704419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Categorical data processing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27615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Data is generally classified into categorical and continuous scales depending on their features. </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 liberal arts and social science, questionnaires are mainly used to collect data.</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26" indent="-182526">
              <a:spcAft>
                <a:spcPts val="800"/>
              </a:spcAft>
              <a:buClr>
                <a:srgbClr val="193EB0"/>
              </a:buClr>
              <a:buFont typeface="SamsungOne 400" panose="020B0503030303020204" pitchFamily="34" charset="0"/>
              <a:buChar char="‣"/>
            </a:pPr>
            <a:r>
              <a:rPr lang="en-US" altLang="ko-KR" sz="1300" b="1" dirty="0">
                <a:solidFill>
                  <a:srgbClr val="1429A0"/>
                </a:solidFill>
                <a:latin typeface="SamsungOne 400" panose="020B0503030303020204" pitchFamily="34" charset="0"/>
                <a:ea typeface="SamsungOne 400" panose="020B0503030303020204" pitchFamily="34" charset="0"/>
              </a:rPr>
              <a:t>Categorical scale</a:t>
            </a:r>
            <a:endParaRPr lang="ko-KR" altLang="en-US" sz="1300" b="1" dirty="0">
              <a:solidFill>
                <a:srgbClr val="1429A0"/>
              </a:solidFill>
              <a:latin typeface="SamsungOne 400" panose="020B0503030303020204" pitchFamily="34" charset="0"/>
              <a:ea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It is a scale that can distinguish data into different categories and is classified into the nominal and ordinal scales.</a:t>
            </a:r>
          </a:p>
          <a:p>
            <a:pPr marL="182526" lvl="1" indent="-182526">
              <a:spcAft>
                <a:spcPts val="800"/>
              </a:spcAft>
              <a:buClr>
                <a:srgbClr val="193EB0"/>
              </a:buClr>
              <a:buFont typeface="SamsungOne 400" panose="020B0503030303020204" pitchFamily="34" charset="0"/>
              <a:buChar char="‣"/>
            </a:pPr>
            <a:r>
              <a:rPr lang="en-US" altLang="ko-KR" sz="1300" b="1" dirty="0">
                <a:solidFill>
                  <a:srgbClr val="1429A0"/>
                </a:solidFill>
                <a:latin typeface="SamsungOne 400" panose="020B0503030303020204" pitchFamily="34" charset="0"/>
              </a:rPr>
              <a:t>Continuous scale</a:t>
            </a:r>
            <a:endParaRPr lang="ko-KR" altLang="en-US" sz="1300" b="1" dirty="0">
              <a:solidFill>
                <a:srgbClr val="1429A0"/>
              </a:solidFill>
              <a:latin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It is a scale that divides linked data into the purpose of the survey. It is classified into interval and ratio scales.</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Actual datasets would include more than one categorical feature. As explained earlier, categorical data would classify sequential and non-sequential features. Ordinal scale can be referred to as sequential categorical scale that can array features with sequences.</a:t>
            </a:r>
          </a:p>
        </p:txBody>
      </p:sp>
    </p:spTree>
    <p:extLst>
      <p:ext uri="{BB962C8B-B14F-4D97-AF65-F5344CB8AC3E}">
        <p14:creationId xmlns:p14="http://schemas.microsoft.com/office/powerpoint/2010/main" val="28900433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Categorical data processing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nvGrpSpPr>
          <p:cNvPr id="2" name="그룹 1"/>
          <p:cNvGrpSpPr/>
          <p:nvPr/>
        </p:nvGrpSpPr>
        <p:grpSpPr>
          <a:xfrm>
            <a:off x="666749" y="1773238"/>
            <a:ext cx="8677276" cy="3095922"/>
            <a:chOff x="666749" y="1773238"/>
            <a:chExt cx="8677276" cy="3095922"/>
          </a:xfrm>
        </p:grpSpPr>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1773238"/>
              <a:ext cx="8677276" cy="309592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8" name="그림 7">
              <a:extLst>
                <a:ext uri="{FF2B5EF4-FFF2-40B4-BE49-F238E27FC236}">
                  <a16:creationId xmlns:a16="http://schemas.microsoft.com/office/drawing/2014/main" id="{3924DAD8-4A22-4D60-92DA-54CF9A55D6DB}"/>
                </a:ext>
              </a:extLst>
            </p:cNvPr>
            <p:cNvPicPr>
              <a:picLocks noChangeAspect="1"/>
            </p:cNvPicPr>
            <p:nvPr/>
          </p:nvPicPr>
          <p:blipFill rotWithShape="1">
            <a:blip r:embed="rId4"/>
            <a:srcRect l="1580" r="24226"/>
            <a:stretch/>
          </p:blipFill>
          <p:spPr>
            <a:xfrm>
              <a:off x="847725" y="1832810"/>
              <a:ext cx="8496300" cy="2928338"/>
            </a:xfrm>
            <a:prstGeom prst="rect">
              <a:avLst/>
            </a:prstGeom>
            <a:ln>
              <a:noFill/>
            </a:ln>
          </p:spPr>
        </p:pic>
      </p:grpSp>
      <p:sp>
        <p:nvSpPr>
          <p:cNvPr id="11" name="직사각형 10">
            <a:extLst>
              <a:ext uri="{FF2B5EF4-FFF2-40B4-BE49-F238E27FC236}">
                <a16:creationId xmlns:a16="http://schemas.microsoft.com/office/drawing/2014/main" id="{90BADD79-AC72-47DB-B775-13D949C79955}"/>
              </a:ext>
            </a:extLst>
          </p:cNvPr>
          <p:cNvSpPr/>
          <p:nvPr/>
        </p:nvSpPr>
        <p:spPr>
          <a:xfrm>
            <a:off x="671261" y="4977172"/>
            <a:ext cx="8632825" cy="7455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data on the table has features that have orders and do not have orders. </a:t>
            </a:r>
            <a:b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b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size is ordered, but the color is not ordered. Thus, the size is classified as the ordinal scale, while the color is the nominal scale.</a:t>
            </a:r>
          </a:p>
        </p:txBody>
      </p:sp>
    </p:spTree>
    <p:extLst>
      <p:ext uri="{BB962C8B-B14F-4D97-AF65-F5344CB8AC3E}">
        <p14:creationId xmlns:p14="http://schemas.microsoft.com/office/powerpoint/2010/main" val="13985459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Categorical data processing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3CC33E21-CB2E-4A86-BD53-4A9A8776B571}"/>
              </a:ext>
            </a:extLst>
          </p:cNvPr>
          <p:cNvSpPr/>
          <p:nvPr/>
        </p:nvSpPr>
        <p:spPr>
          <a:xfrm>
            <a:off x="671261" y="1700808"/>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Convert ordered data into numerical values. The reason why changing text data into numerical data is to allow a computer to process arithmetic operations.</a:t>
            </a:r>
          </a:p>
        </p:txBody>
      </p:sp>
      <p:grpSp>
        <p:nvGrpSpPr>
          <p:cNvPr id="2" name="그룹 1"/>
          <p:cNvGrpSpPr/>
          <p:nvPr/>
        </p:nvGrpSpPr>
        <p:grpSpPr>
          <a:xfrm>
            <a:off x="666749" y="2296215"/>
            <a:ext cx="8677276" cy="3581057"/>
            <a:chOff x="666749" y="2345935"/>
            <a:chExt cx="8677276" cy="3581057"/>
          </a:xfrm>
        </p:grpSpPr>
        <p:sp>
          <p:nvSpPr>
            <p:cNvPr id="7" name="모서리가 둥근 직사각형 4">
              <a:extLst>
                <a:ext uri="{FF2B5EF4-FFF2-40B4-BE49-F238E27FC236}">
                  <a16:creationId xmlns:a16="http://schemas.microsoft.com/office/drawing/2014/main" id="{F19C9F30-03BB-4E48-82DB-E63D4BBFA267}"/>
                </a:ext>
              </a:extLst>
            </p:cNvPr>
            <p:cNvSpPr/>
            <p:nvPr/>
          </p:nvSpPr>
          <p:spPr>
            <a:xfrm>
              <a:off x="666749" y="2345935"/>
              <a:ext cx="8677276" cy="358105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1" name="그림 10">
              <a:extLst>
                <a:ext uri="{FF2B5EF4-FFF2-40B4-BE49-F238E27FC236}">
                  <a16:creationId xmlns:a16="http://schemas.microsoft.com/office/drawing/2014/main" id="{FBB421AE-9604-4B11-A793-7B1F079CF28D}"/>
                </a:ext>
              </a:extLst>
            </p:cNvPr>
            <p:cNvPicPr>
              <a:picLocks noChangeAspect="1"/>
            </p:cNvPicPr>
            <p:nvPr/>
          </p:nvPicPr>
          <p:blipFill rotWithShape="1">
            <a:blip r:embed="rId4"/>
            <a:srcRect l="1614" r="22635"/>
            <a:stretch/>
          </p:blipFill>
          <p:spPr>
            <a:xfrm>
              <a:off x="847725" y="2472640"/>
              <a:ext cx="8496300" cy="3308731"/>
            </a:xfrm>
            <a:prstGeom prst="rect">
              <a:avLst/>
            </a:prstGeom>
            <a:ln>
              <a:noFill/>
            </a:ln>
          </p:spPr>
        </p:pic>
      </p:grpSp>
    </p:spTree>
    <p:extLst>
      <p:ext uri="{BB962C8B-B14F-4D97-AF65-F5344CB8AC3E}">
        <p14:creationId xmlns:p14="http://schemas.microsoft.com/office/powerpoint/2010/main" val="29621830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Categorical data processing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nvGrpSpPr>
          <p:cNvPr id="2" name="그룹 1"/>
          <p:cNvGrpSpPr/>
          <p:nvPr/>
        </p:nvGrpSpPr>
        <p:grpSpPr>
          <a:xfrm>
            <a:off x="666749" y="1736812"/>
            <a:ext cx="8677276" cy="4535487"/>
            <a:chOff x="666749" y="1773237"/>
            <a:chExt cx="8677276" cy="4535487"/>
          </a:xfrm>
        </p:grpSpPr>
        <p:sp>
          <p:nvSpPr>
            <p:cNvPr id="7" name="모서리가 둥근 직사각형 4">
              <a:extLst>
                <a:ext uri="{FF2B5EF4-FFF2-40B4-BE49-F238E27FC236}">
                  <a16:creationId xmlns:a16="http://schemas.microsoft.com/office/drawing/2014/main" id="{39E97CD2-E626-4A82-9B42-F7BD06FCB768}"/>
                </a:ext>
              </a:extLst>
            </p:cNvPr>
            <p:cNvSpPr/>
            <p:nvPr/>
          </p:nvSpPr>
          <p:spPr>
            <a:xfrm>
              <a:off x="666749" y="1773237"/>
              <a:ext cx="8677276" cy="453548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9" name="그림 8">
              <a:extLst>
                <a:ext uri="{FF2B5EF4-FFF2-40B4-BE49-F238E27FC236}">
                  <a16:creationId xmlns:a16="http://schemas.microsoft.com/office/drawing/2014/main" id="{02089983-C338-4F94-834D-17F985FF56A2}"/>
                </a:ext>
              </a:extLst>
            </p:cNvPr>
            <p:cNvPicPr>
              <a:picLocks noChangeAspect="1"/>
            </p:cNvPicPr>
            <p:nvPr/>
          </p:nvPicPr>
          <p:blipFill rotWithShape="1">
            <a:blip r:embed="rId4"/>
            <a:srcRect l="1497" r="18236"/>
            <a:stretch/>
          </p:blipFill>
          <p:spPr>
            <a:xfrm>
              <a:off x="847724" y="1820250"/>
              <a:ext cx="8496301" cy="4445775"/>
            </a:xfrm>
            <a:prstGeom prst="rect">
              <a:avLst/>
            </a:prstGeom>
            <a:ln>
              <a:noFill/>
            </a:ln>
          </p:spPr>
        </p:pic>
      </p:grpSp>
    </p:spTree>
    <p:extLst>
      <p:ext uri="{BB962C8B-B14F-4D97-AF65-F5344CB8AC3E}">
        <p14:creationId xmlns:p14="http://schemas.microsoft.com/office/powerpoint/2010/main" val="153713768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Class label encoding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B32FBCDC-2C13-44BD-9F3D-D320021A9AFF}"/>
              </a:ext>
            </a:extLst>
          </p:cNvPr>
          <p:cNvSpPr/>
          <p:nvPr/>
        </p:nvSpPr>
        <p:spPr>
          <a:xfrm>
            <a:off x="671261" y="1700808"/>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class refers to the y value,</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 column with an actual value.</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Create a mapping to convert the class label from strings to integers.</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grpSp>
        <p:nvGrpSpPr>
          <p:cNvPr id="2" name="그룹 1"/>
          <p:cNvGrpSpPr/>
          <p:nvPr/>
        </p:nvGrpSpPr>
        <p:grpSpPr>
          <a:xfrm>
            <a:off x="666749" y="2432876"/>
            <a:ext cx="8677277" cy="2918057"/>
            <a:chOff x="666749" y="2432876"/>
            <a:chExt cx="8677277" cy="2918057"/>
          </a:xfrm>
        </p:grpSpPr>
        <p:sp>
          <p:nvSpPr>
            <p:cNvPr id="11" name="모서리가 둥근 직사각형 4">
              <a:extLst>
                <a:ext uri="{FF2B5EF4-FFF2-40B4-BE49-F238E27FC236}">
                  <a16:creationId xmlns:a16="http://schemas.microsoft.com/office/drawing/2014/main" id="{ADDF9713-7347-4CF3-B1CD-7A4EB9301D91}"/>
                </a:ext>
              </a:extLst>
            </p:cNvPr>
            <p:cNvSpPr/>
            <p:nvPr/>
          </p:nvSpPr>
          <p:spPr>
            <a:xfrm>
              <a:off x="666749" y="2432876"/>
              <a:ext cx="8677276" cy="291805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그림 12">
              <a:extLst>
                <a:ext uri="{FF2B5EF4-FFF2-40B4-BE49-F238E27FC236}">
                  <a16:creationId xmlns:a16="http://schemas.microsoft.com/office/drawing/2014/main" id="{832D7734-A641-4DCF-886A-3A46A77CC789}"/>
                </a:ext>
              </a:extLst>
            </p:cNvPr>
            <p:cNvPicPr>
              <a:picLocks noChangeAspect="1"/>
            </p:cNvPicPr>
            <p:nvPr/>
          </p:nvPicPr>
          <p:blipFill rotWithShape="1">
            <a:blip r:embed="rId4"/>
            <a:srcRect l="1561" r="22270"/>
            <a:stretch/>
          </p:blipFill>
          <p:spPr>
            <a:xfrm>
              <a:off x="847726" y="2543804"/>
              <a:ext cx="8496300" cy="2716927"/>
            </a:xfrm>
            <a:prstGeom prst="rect">
              <a:avLst/>
            </a:prstGeom>
            <a:ln>
              <a:noFill/>
            </a:ln>
          </p:spPr>
        </p:pic>
      </p:grpSp>
    </p:spTree>
    <p:extLst>
      <p:ext uri="{BB962C8B-B14F-4D97-AF65-F5344CB8AC3E}">
        <p14:creationId xmlns:p14="http://schemas.microsoft.com/office/powerpoint/2010/main" val="30163858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Class label encoding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B32FBCDC-2C13-44BD-9F3D-D320021A9AFF}"/>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‘enumerate’ creates an object with an index.</a:t>
            </a:r>
          </a:p>
        </p:txBody>
      </p:sp>
      <p:grpSp>
        <p:nvGrpSpPr>
          <p:cNvPr id="2" name="그룹 1"/>
          <p:cNvGrpSpPr/>
          <p:nvPr/>
        </p:nvGrpSpPr>
        <p:grpSpPr>
          <a:xfrm>
            <a:off x="666749" y="2102889"/>
            <a:ext cx="8677276" cy="1825952"/>
            <a:chOff x="666749" y="2102889"/>
            <a:chExt cx="8677276" cy="1825952"/>
          </a:xfrm>
        </p:grpSpPr>
        <p:sp>
          <p:nvSpPr>
            <p:cNvPr id="11" name="모서리가 둥근 직사각형 4">
              <a:extLst>
                <a:ext uri="{FF2B5EF4-FFF2-40B4-BE49-F238E27FC236}">
                  <a16:creationId xmlns:a16="http://schemas.microsoft.com/office/drawing/2014/main" id="{ADDF9713-7347-4CF3-B1CD-7A4EB9301D91}"/>
                </a:ext>
              </a:extLst>
            </p:cNvPr>
            <p:cNvSpPr/>
            <p:nvPr/>
          </p:nvSpPr>
          <p:spPr>
            <a:xfrm>
              <a:off x="666749" y="2102889"/>
              <a:ext cx="8677276" cy="182595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9" name="그림 8">
              <a:extLst>
                <a:ext uri="{FF2B5EF4-FFF2-40B4-BE49-F238E27FC236}">
                  <a16:creationId xmlns:a16="http://schemas.microsoft.com/office/drawing/2014/main" id="{9EF66622-AB8A-4D84-9BE4-BFC885225053}"/>
                </a:ext>
              </a:extLst>
            </p:cNvPr>
            <p:cNvPicPr>
              <a:picLocks noChangeAspect="1"/>
            </p:cNvPicPr>
            <p:nvPr/>
          </p:nvPicPr>
          <p:blipFill rotWithShape="1">
            <a:blip r:embed="rId4"/>
            <a:srcRect l="1470" r="21212" b="6432"/>
            <a:stretch/>
          </p:blipFill>
          <p:spPr>
            <a:xfrm>
              <a:off x="847724" y="2168859"/>
              <a:ext cx="8496301" cy="1681861"/>
            </a:xfrm>
            <a:prstGeom prst="rect">
              <a:avLst/>
            </a:prstGeom>
            <a:ln>
              <a:noFill/>
            </a:ln>
          </p:spPr>
        </p:pic>
      </p:grpSp>
      <p:sp>
        <p:nvSpPr>
          <p:cNvPr id="12" name="직사각형 11">
            <a:extLst>
              <a:ext uri="{FF2B5EF4-FFF2-40B4-BE49-F238E27FC236}">
                <a16:creationId xmlns:a16="http://schemas.microsoft.com/office/drawing/2014/main" id="{4BA422BF-814D-4814-BD51-04D4DAA29C69}"/>
              </a:ext>
            </a:extLst>
          </p:cNvPr>
          <p:cNvSpPr/>
          <p:nvPr/>
        </p:nvSpPr>
        <p:spPr>
          <a:xfrm>
            <a:off x="671261" y="4053705"/>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‘enumerate’ creates an object with an index.</a:t>
            </a:r>
          </a:p>
        </p:txBody>
      </p:sp>
      <p:grpSp>
        <p:nvGrpSpPr>
          <p:cNvPr id="3" name="그룹 2"/>
          <p:cNvGrpSpPr/>
          <p:nvPr/>
        </p:nvGrpSpPr>
        <p:grpSpPr>
          <a:xfrm>
            <a:off x="666749" y="4455786"/>
            <a:ext cx="8677276" cy="1385482"/>
            <a:chOff x="666749" y="4455786"/>
            <a:chExt cx="8677276" cy="1385482"/>
          </a:xfrm>
        </p:grpSpPr>
        <p:sp>
          <p:nvSpPr>
            <p:cNvPr id="14" name="모서리가 둥근 직사각형 4">
              <a:extLst>
                <a:ext uri="{FF2B5EF4-FFF2-40B4-BE49-F238E27FC236}">
                  <a16:creationId xmlns:a16="http://schemas.microsoft.com/office/drawing/2014/main" id="{1CFAC233-3ABD-484B-8ED5-10414D832043}"/>
                </a:ext>
              </a:extLst>
            </p:cNvPr>
            <p:cNvSpPr/>
            <p:nvPr/>
          </p:nvSpPr>
          <p:spPr>
            <a:xfrm>
              <a:off x="666749" y="4455786"/>
              <a:ext cx="8677276" cy="138548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5" name="그림 14">
              <a:extLst>
                <a:ext uri="{FF2B5EF4-FFF2-40B4-BE49-F238E27FC236}">
                  <a16:creationId xmlns:a16="http://schemas.microsoft.com/office/drawing/2014/main" id="{87E71AED-0656-477C-9FDB-BEBB12EACB96}"/>
                </a:ext>
              </a:extLst>
            </p:cNvPr>
            <p:cNvPicPr>
              <a:picLocks noChangeAspect="1"/>
            </p:cNvPicPr>
            <p:nvPr/>
          </p:nvPicPr>
          <p:blipFill rotWithShape="1">
            <a:blip r:embed="rId5"/>
            <a:srcRect l="1436" r="21326"/>
            <a:stretch/>
          </p:blipFill>
          <p:spPr>
            <a:xfrm>
              <a:off x="847724" y="4524030"/>
              <a:ext cx="8496301" cy="1178581"/>
            </a:xfrm>
            <a:prstGeom prst="rect">
              <a:avLst/>
            </a:prstGeom>
            <a:ln>
              <a:noFill/>
            </a:ln>
          </p:spPr>
        </p:pic>
      </p:grpSp>
    </p:spTree>
    <p:extLst>
      <p:ext uri="{BB962C8B-B14F-4D97-AF65-F5344CB8AC3E}">
        <p14:creationId xmlns:p14="http://schemas.microsoft.com/office/powerpoint/2010/main" val="35003080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Class label encoding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B32FBCDC-2C13-44BD-9F3D-D320021A9AFF}"/>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‘enumerate’ creates an object with an index.</a:t>
            </a:r>
          </a:p>
        </p:txBody>
      </p:sp>
      <p:grpSp>
        <p:nvGrpSpPr>
          <p:cNvPr id="3" name="그룹 2"/>
          <p:cNvGrpSpPr/>
          <p:nvPr/>
        </p:nvGrpSpPr>
        <p:grpSpPr>
          <a:xfrm>
            <a:off x="666749" y="2112745"/>
            <a:ext cx="8677276" cy="2375842"/>
            <a:chOff x="666749" y="1773239"/>
            <a:chExt cx="8677276" cy="2375842"/>
          </a:xfrm>
        </p:grpSpPr>
        <p:sp>
          <p:nvSpPr>
            <p:cNvPr id="13" name="모서리가 둥근 직사각형 4">
              <a:extLst>
                <a:ext uri="{FF2B5EF4-FFF2-40B4-BE49-F238E27FC236}">
                  <a16:creationId xmlns:a16="http://schemas.microsoft.com/office/drawing/2014/main" id="{4EC248AE-AC2A-4E71-842A-A8F06FAE0639}"/>
                </a:ext>
              </a:extLst>
            </p:cNvPr>
            <p:cNvSpPr/>
            <p:nvPr/>
          </p:nvSpPr>
          <p:spPr>
            <a:xfrm>
              <a:off x="666749" y="1773239"/>
              <a:ext cx="8677276" cy="237584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그림 15">
              <a:extLst>
                <a:ext uri="{FF2B5EF4-FFF2-40B4-BE49-F238E27FC236}">
                  <a16:creationId xmlns:a16="http://schemas.microsoft.com/office/drawing/2014/main" id="{B112C652-AB39-42A4-9175-931C90F5FAC4}"/>
                </a:ext>
              </a:extLst>
            </p:cNvPr>
            <p:cNvPicPr>
              <a:picLocks noChangeAspect="1"/>
            </p:cNvPicPr>
            <p:nvPr/>
          </p:nvPicPr>
          <p:blipFill rotWithShape="1">
            <a:blip r:embed="rId4"/>
            <a:srcRect l="1446" r="20873"/>
            <a:stretch/>
          </p:blipFill>
          <p:spPr>
            <a:xfrm>
              <a:off x="847724" y="1844824"/>
              <a:ext cx="8496301" cy="2203112"/>
            </a:xfrm>
            <a:prstGeom prst="rect">
              <a:avLst/>
            </a:prstGeom>
            <a:ln>
              <a:noFill/>
            </a:ln>
          </p:spPr>
        </p:pic>
      </p:grpSp>
      <p:grpSp>
        <p:nvGrpSpPr>
          <p:cNvPr id="18" name="그룹 17">
            <a:extLst>
              <a:ext uri="{FF2B5EF4-FFF2-40B4-BE49-F238E27FC236}">
                <a16:creationId xmlns:a16="http://schemas.microsoft.com/office/drawing/2014/main" id="{912148FD-3AD5-455E-9F2C-F6035E82EBBA}"/>
              </a:ext>
            </a:extLst>
          </p:cNvPr>
          <p:cNvGrpSpPr/>
          <p:nvPr/>
        </p:nvGrpSpPr>
        <p:grpSpPr>
          <a:xfrm>
            <a:off x="666750" y="4617637"/>
            <a:ext cx="8677275" cy="755579"/>
            <a:chOff x="559817" y="3081410"/>
            <a:chExt cx="8677275" cy="755579"/>
          </a:xfrm>
        </p:grpSpPr>
        <p:sp>
          <p:nvSpPr>
            <p:cNvPr id="19" name="모서리가 둥근 직사각형 4">
              <a:extLst>
                <a:ext uri="{FF2B5EF4-FFF2-40B4-BE49-F238E27FC236}">
                  <a16:creationId xmlns:a16="http://schemas.microsoft.com/office/drawing/2014/main" id="{E6477180-15CB-490D-BC33-757827CA6E80}"/>
                </a:ext>
              </a:extLst>
            </p:cNvPr>
            <p:cNvSpPr/>
            <p:nvPr/>
          </p:nvSpPr>
          <p:spPr>
            <a:xfrm>
              <a:off x="559817" y="3081410"/>
              <a:ext cx="8677275" cy="75557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0" name="Picture 2" descr="Byte - Free electronics icons">
              <a:extLst>
                <a:ext uri="{FF2B5EF4-FFF2-40B4-BE49-F238E27FC236}">
                  <a16:creationId xmlns:a16="http://schemas.microsoft.com/office/drawing/2014/main" id="{4E884E3A-2090-479D-91CD-F293FD134955}"/>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13871" t="-7084" r="14480" b="-5938"/>
            <a:stretch/>
          </p:blipFill>
          <p:spPr bwMode="auto">
            <a:xfrm>
              <a:off x="676852" y="3200897"/>
              <a:ext cx="295715" cy="244889"/>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D44D896E-46DA-49E5-A008-898F9FA32B36}"/>
                </a:ext>
              </a:extLst>
            </p:cNvPr>
            <p:cNvSpPr txBox="1"/>
            <p:nvPr/>
          </p:nvSpPr>
          <p:spPr>
            <a:xfrm>
              <a:off x="907642" y="3168076"/>
              <a:ext cx="862665" cy="292388"/>
            </a:xfrm>
            <a:prstGeom prst="rect">
              <a:avLst/>
            </a:prstGeom>
            <a:noFill/>
          </p:spPr>
          <p:txBody>
            <a:bodyPr wrap="square">
              <a:spAutoFit/>
            </a:bodyPr>
            <a:lstStyle/>
            <a:p>
              <a:pPr>
                <a:spcAft>
                  <a:spcPts val="600"/>
                </a:spcAft>
              </a:pP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cs typeface="Samsung Sharp Sans Bold" pitchFamily="2" charset="0"/>
                </a:rPr>
                <a:t>Line 62</a:t>
              </a:r>
            </a:p>
          </p:txBody>
        </p:sp>
        <p:sp>
          <p:nvSpPr>
            <p:cNvPr id="22" name="TextBox 21">
              <a:extLst>
                <a:ext uri="{FF2B5EF4-FFF2-40B4-BE49-F238E27FC236}">
                  <a16:creationId xmlns:a16="http://schemas.microsoft.com/office/drawing/2014/main" id="{1CDAE19F-4AC2-4BDF-8A11-688A39A4608B}"/>
                </a:ext>
              </a:extLst>
            </p:cNvPr>
            <p:cNvSpPr txBox="1"/>
            <p:nvPr/>
          </p:nvSpPr>
          <p:spPr>
            <a:xfrm>
              <a:off x="1036273" y="3467475"/>
              <a:ext cx="8167303" cy="200055"/>
            </a:xfrm>
            <a:prstGeom prst="rect">
              <a:avLst/>
            </a:prstGeom>
            <a:noFill/>
          </p:spPr>
          <p:txBody>
            <a:bodyPr wrap="square" lIns="0" tIns="0" rIns="0" bIns="0">
              <a:spAutoFit/>
            </a:bodyPr>
            <a:lstStyle/>
            <a:p>
              <a:pPr marL="182563" indent="-182563" latinLnBrk="0">
                <a:spcAft>
                  <a:spcPts val="600"/>
                </a:spcAft>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Change the class label from strings to integers.</a:t>
              </a:r>
              <a:endParaRPr lang="ko-KR" altLang="en-US" sz="1300" dirty="0">
                <a:solidFill>
                  <a:prstClr val="black">
                    <a:lumMod val="85000"/>
                    <a:lumOff val="15000"/>
                  </a:prstClr>
                </a:solidFill>
                <a:latin typeface="SamsungOne 400" panose="020B0503030303020204" pitchFamily="34" charset="0"/>
              </a:endParaRPr>
            </a:p>
          </p:txBody>
        </p:sp>
      </p:grpSp>
    </p:spTree>
    <p:extLst>
      <p:ext uri="{BB962C8B-B14F-4D97-AF65-F5344CB8AC3E}">
        <p14:creationId xmlns:p14="http://schemas.microsoft.com/office/powerpoint/2010/main" val="26447645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Class label encoding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B32FBCDC-2C13-44BD-9F3D-D320021A9AFF}"/>
              </a:ext>
            </a:extLst>
          </p:cNvPr>
          <p:cNvSpPr/>
          <p:nvPr/>
        </p:nvSpPr>
        <p:spPr>
          <a:xfrm>
            <a:off x="671261" y="1700808"/>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Since the method in the previous slide is rather inconvenient,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scikit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-learn supports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LabelEncoder</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for easy conversion. </a:t>
            </a:r>
          </a:p>
        </p:txBody>
      </p:sp>
      <p:grpSp>
        <p:nvGrpSpPr>
          <p:cNvPr id="2" name="그룹 1"/>
          <p:cNvGrpSpPr/>
          <p:nvPr/>
        </p:nvGrpSpPr>
        <p:grpSpPr>
          <a:xfrm>
            <a:off x="666749" y="2318191"/>
            <a:ext cx="8677276" cy="3127033"/>
            <a:chOff x="666749" y="2102889"/>
            <a:chExt cx="8677276" cy="3127033"/>
          </a:xfrm>
        </p:grpSpPr>
        <p:sp>
          <p:nvSpPr>
            <p:cNvPr id="11" name="모서리가 둥근 직사각형 4">
              <a:extLst>
                <a:ext uri="{FF2B5EF4-FFF2-40B4-BE49-F238E27FC236}">
                  <a16:creationId xmlns:a16="http://schemas.microsoft.com/office/drawing/2014/main" id="{ADDF9713-7347-4CF3-B1CD-7A4EB9301D91}"/>
                </a:ext>
              </a:extLst>
            </p:cNvPr>
            <p:cNvSpPr/>
            <p:nvPr/>
          </p:nvSpPr>
          <p:spPr>
            <a:xfrm>
              <a:off x="666749" y="2102889"/>
              <a:ext cx="8677276" cy="312703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3" name="그림 12">
              <a:extLst>
                <a:ext uri="{FF2B5EF4-FFF2-40B4-BE49-F238E27FC236}">
                  <a16:creationId xmlns:a16="http://schemas.microsoft.com/office/drawing/2014/main" id="{9FAD53B6-D604-4836-895A-B6F05EF73BA4}"/>
                </a:ext>
              </a:extLst>
            </p:cNvPr>
            <p:cNvPicPr>
              <a:picLocks noChangeAspect="1"/>
            </p:cNvPicPr>
            <p:nvPr/>
          </p:nvPicPr>
          <p:blipFill rotWithShape="1">
            <a:blip r:embed="rId4"/>
            <a:srcRect l="1459" t="2145" r="20371"/>
            <a:stretch/>
          </p:blipFill>
          <p:spPr>
            <a:xfrm>
              <a:off x="847725" y="2196790"/>
              <a:ext cx="8496300" cy="2917272"/>
            </a:xfrm>
            <a:prstGeom prst="rect">
              <a:avLst/>
            </a:prstGeom>
            <a:ln>
              <a:noFill/>
            </a:ln>
          </p:spPr>
        </p:pic>
      </p:grpSp>
    </p:spTree>
    <p:extLst>
      <p:ext uri="{BB962C8B-B14F-4D97-AF65-F5344CB8AC3E}">
        <p14:creationId xmlns:p14="http://schemas.microsoft.com/office/powerpoint/2010/main" val="371076592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1.4. Data Pre-processing for Making a Good Training Dataset </a:t>
              </a:r>
              <a:endParaRPr lang="ko-KR" altLang="en-US"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Class label encoding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nvGrpSpPr>
          <p:cNvPr id="2" name="그룹 1"/>
          <p:cNvGrpSpPr/>
          <p:nvPr/>
        </p:nvGrpSpPr>
        <p:grpSpPr>
          <a:xfrm>
            <a:off x="666749" y="1700808"/>
            <a:ext cx="8677276" cy="2190968"/>
            <a:chOff x="666749" y="1700808"/>
            <a:chExt cx="8677276" cy="2190968"/>
          </a:xfrm>
        </p:grpSpPr>
        <p:sp>
          <p:nvSpPr>
            <p:cNvPr id="8" name="직사각형 7">
              <a:extLst>
                <a:ext uri="{FF2B5EF4-FFF2-40B4-BE49-F238E27FC236}">
                  <a16:creationId xmlns:a16="http://schemas.microsoft.com/office/drawing/2014/main" id="{B32FBCDC-2C13-44BD-9F3D-D320021A9AFF}"/>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enumerate</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는 열거형으로 인덱스가 있는 형태의 객체로 만들어 준다</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p:txBody>
        </p:sp>
        <p:sp>
          <p:nvSpPr>
            <p:cNvPr id="13" name="모서리가 둥근 직사각형 4">
              <a:extLst>
                <a:ext uri="{FF2B5EF4-FFF2-40B4-BE49-F238E27FC236}">
                  <a16:creationId xmlns:a16="http://schemas.microsoft.com/office/drawing/2014/main" id="{4EC248AE-AC2A-4E71-842A-A8F06FAE0639}"/>
                </a:ext>
              </a:extLst>
            </p:cNvPr>
            <p:cNvSpPr/>
            <p:nvPr/>
          </p:nvSpPr>
          <p:spPr>
            <a:xfrm>
              <a:off x="666749" y="1773239"/>
              <a:ext cx="8677276" cy="2118537"/>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4" name="그림 13">
              <a:extLst>
                <a:ext uri="{FF2B5EF4-FFF2-40B4-BE49-F238E27FC236}">
                  <a16:creationId xmlns:a16="http://schemas.microsoft.com/office/drawing/2014/main" id="{0E788DE5-5356-466B-99C2-8FBAC3328DE3}"/>
                </a:ext>
              </a:extLst>
            </p:cNvPr>
            <p:cNvPicPr>
              <a:picLocks noChangeAspect="1"/>
            </p:cNvPicPr>
            <p:nvPr/>
          </p:nvPicPr>
          <p:blipFill rotWithShape="1">
            <a:blip r:embed="rId4"/>
            <a:srcRect l="1244" t="2807" r="20803"/>
            <a:stretch/>
          </p:blipFill>
          <p:spPr>
            <a:xfrm>
              <a:off x="847724" y="1865300"/>
              <a:ext cx="8496301" cy="1959744"/>
            </a:xfrm>
            <a:prstGeom prst="rect">
              <a:avLst/>
            </a:prstGeom>
            <a:ln>
              <a:noFill/>
            </a:ln>
          </p:spPr>
        </p:pic>
      </p:grpSp>
    </p:spTree>
    <p:extLst>
      <p:ext uri="{BB962C8B-B14F-4D97-AF65-F5344CB8AC3E}">
        <p14:creationId xmlns:p14="http://schemas.microsoft.com/office/powerpoint/2010/main" val="13600408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33">
            <a:extLst>
              <a:ext uri="{FF2B5EF4-FFF2-40B4-BE49-F238E27FC236}">
                <a16:creationId xmlns:a16="http://schemas.microsoft.com/office/drawing/2014/main" id="{551F01E8-8777-4A7B-AD71-63E7C805C68C}"/>
              </a:ext>
            </a:extLst>
          </p:cNvPr>
          <p:cNvSpPr/>
          <p:nvPr/>
        </p:nvSpPr>
        <p:spPr>
          <a:xfrm>
            <a:off x="989683" y="3133792"/>
            <a:ext cx="8913142"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Machine Learning Based Data Analysis</a:t>
            </a:r>
            <a:endParaRPr kumimoji="1" lang="ko-KR" altLang="en-US" sz="3200" dirty="0">
              <a:solidFill>
                <a:prstClr val="black"/>
              </a:solidFill>
              <a:latin typeface="Samsung Sharp Sans" pitchFamily="2" charset="0"/>
              <a:ea typeface="맑은 고딕" panose="020B0503020000020004" pitchFamily="50" charset="-127"/>
              <a:cs typeface="Samsung Sharp Sans" pitchFamily="2" charset="0"/>
            </a:endParaRP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1.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17" name="직사각형 16">
            <a:extLst>
              <a:ext uri="{FF2B5EF4-FFF2-40B4-BE49-F238E27FC236}">
                <a16:creationId xmlns:a16="http://schemas.microsoft.com/office/drawing/2014/main" id="{88522452-0F25-4CFF-B4F1-4F97F94CF66D}"/>
              </a:ext>
            </a:extLst>
          </p:cNvPr>
          <p:cNvSpPr/>
          <p:nvPr/>
        </p:nvSpPr>
        <p:spPr>
          <a:xfrm>
            <a:off x="1054111" y="3929021"/>
            <a:ext cx="8397801" cy="1897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rPr>
              <a:t>1.1. What is Machine Learning?</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rPr>
              <a:t>1.2. Python </a:t>
            </a:r>
            <a:r>
              <a:rPr lang="en-US" altLang="ko-KR" dirty="0" err="1">
                <a:solidFill>
                  <a:srgbClr val="A6A6A6"/>
                </a:solidFill>
                <a:latin typeface="SamsungOne 400" panose="020B0503030303020204" pitchFamily="34" charset="0"/>
              </a:rPr>
              <a:t>scikit</a:t>
            </a:r>
            <a:r>
              <a:rPr lang="en-US" altLang="ko-KR" dirty="0">
                <a:solidFill>
                  <a:srgbClr val="A6A6A6"/>
                </a:solidFill>
                <a:latin typeface="SamsungOne 400" panose="020B0503030303020204" pitchFamily="34" charset="0"/>
              </a:rPr>
              <a:t>-learn Library for Machine Learning </a:t>
            </a:r>
          </a:p>
          <a:p>
            <a:pPr marL="176213" marR="0" lvl="0" indent="-176213" fontAlgn="base">
              <a:lnSpc>
                <a:spcPct val="100000"/>
              </a:lnSpc>
              <a:spcBef>
                <a:spcPct val="0"/>
              </a:spcBef>
              <a:spcAft>
                <a:spcPts val="1000"/>
              </a:spcAft>
              <a:buClrTx/>
              <a:buSzPct val="120000"/>
              <a:buBlip>
                <a:blip r:embed="rId3"/>
              </a:buBlip>
              <a:tabLst/>
              <a:defRPr/>
            </a:pPr>
            <a:r>
              <a:rPr lang="en-US" altLang="ko-KR" dirty="0">
                <a:solidFill>
                  <a:srgbClr val="A6A6A6"/>
                </a:solidFill>
                <a:latin typeface="SamsungOne 400" panose="020B0503030303020204" pitchFamily="34" charset="0"/>
              </a:rPr>
              <a:t>1.3. Preparation and Division of Dataset</a:t>
            </a:r>
            <a:endParaRPr lang="ko-KR" altLang="en-US" dirty="0">
              <a:solidFill>
                <a:srgbClr val="A6A6A6"/>
              </a:solidFill>
              <a:latin typeface="SamsungOne 400" panose="020B0503030303020204" pitchFamily="34" charset="0"/>
            </a:endParaRP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rPr>
              <a:t>1.4. Data Pre-processing for Making a Good Training Dataset</a:t>
            </a:r>
            <a:endParaRPr lang="ko-KR" altLang="en-US" dirty="0">
              <a:solidFill>
                <a:srgbClr val="A6A6A6"/>
              </a:solidFill>
              <a:latin typeface="SamsungOne 400" panose="020B0503030303020204" pitchFamily="34" charset="0"/>
            </a:endParaRPr>
          </a:p>
          <a:p>
            <a:pPr marL="176213" marR="0" lvl="0" indent="-176213" defTabSz="914400" fontAlgn="base" latinLnBrk="1">
              <a:lnSpc>
                <a:spcPct val="100000"/>
              </a:lnSpc>
              <a:spcBef>
                <a:spcPct val="0"/>
              </a:spcBef>
              <a:spcAft>
                <a:spcPts val="1000"/>
              </a:spcAft>
              <a:buClrTx/>
              <a:buSzPct val="120000"/>
              <a:buBlip>
                <a:blip r:embed="rId4"/>
              </a:buBlip>
              <a:tabLst/>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1.5. Practicing to Find an Optimal Method to Solve Problems with </a:t>
            </a:r>
            <a:r>
              <a:rPr kumimoji="1" lang="en-US" altLang="ko-KR" dirty="0" err="1">
                <a:solidFill>
                  <a:prstClr val="black">
                    <a:lumMod val="75000"/>
                    <a:lumOff val="25000"/>
                  </a:prstClr>
                </a:solidFill>
                <a:latin typeface="SamsungOne-700" panose="020B0803030303020204" pitchFamily="34" charset="0"/>
                <a:ea typeface="SamsungOne-700" panose="020B0803030303020204" pitchFamily="34" charset="0"/>
              </a:rPr>
              <a:t>scikit</a:t>
            </a: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-learn</a:t>
            </a:r>
            <a:endParaRPr kumimoji="1" lang="ko-KR" altLang="en-US" dirty="0">
              <a:solidFill>
                <a:prstClr val="black">
                  <a:lumMod val="75000"/>
                  <a:lumOff val="25000"/>
                </a:prstClr>
              </a:solidFill>
              <a:latin typeface="SamsungOne-700" panose="020B0803030303020204" pitchFamily="34" charset="0"/>
              <a:ea typeface="SamsungOne-700" panose="020B0803030303020204" pitchFamily="34" charset="0"/>
            </a:endParaRPr>
          </a:p>
        </p:txBody>
      </p:sp>
    </p:spTree>
    <p:extLst>
      <p:ext uri="{BB962C8B-B14F-4D97-AF65-F5344CB8AC3E}">
        <p14:creationId xmlns:p14="http://schemas.microsoft.com/office/powerpoint/2010/main" val="15487962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spc="-80" dirty="0">
                  <a:solidFill>
                    <a:schemeClr val="bg1"/>
                  </a:solidFill>
                  <a:latin typeface="Samsung Sharp Sans Medium" pitchFamily="2" charset="0"/>
                  <a:ea typeface="Samsung Sharp Sans Medium" pitchFamily="2" charset="0"/>
                  <a:cs typeface="Samsung Sharp Sans Medium" pitchFamily="2" charset="0"/>
                </a:rPr>
                <a:t>1.5. Practicing to Find an Optimal Method to Solve Problems with </a:t>
              </a:r>
              <a:r>
                <a:rPr lang="en-US" altLang="ko-KR" spc="-80"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spc="-80" dirty="0">
                  <a:solidFill>
                    <a:schemeClr val="bg1"/>
                  </a:solidFill>
                  <a:latin typeface="Samsung Sharp Sans Medium" pitchFamily="2" charset="0"/>
                  <a:ea typeface="Samsung Sharp Sans Medium" pitchFamily="2" charset="0"/>
                  <a:cs typeface="Samsung Sharp Sans Medium" pitchFamily="2" charset="0"/>
                </a:rPr>
                <a:t>-learn</a:t>
              </a:r>
              <a:endParaRPr lang="ko-KR" altLang="en-US" spc="-80"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849F57CA-4CE9-4808-992C-284C3A971D9A}"/>
              </a:ext>
            </a:extLst>
          </p:cNvPr>
          <p:cNvSpPr/>
          <p:nvPr/>
        </p:nvSpPr>
        <p:spPr>
          <a:xfrm>
            <a:off x="558924" y="1844824"/>
            <a:ext cx="8785101"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Practicing</a:t>
            </a:r>
          </a:p>
        </p:txBody>
      </p:sp>
      <p:pic>
        <p:nvPicPr>
          <p:cNvPr id="146" name="그림 145">
            <a:extLst>
              <a:ext uri="{FF2B5EF4-FFF2-40B4-BE49-F238E27FC236}">
                <a16:creationId xmlns:a16="http://schemas.microsoft.com/office/drawing/2014/main" id="{F4C9148A-7B15-4CC1-927F-CA972191DC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1559" y="2797254"/>
            <a:ext cx="6639706" cy="3414574"/>
          </a:xfrm>
          <a:prstGeom prst="rect">
            <a:avLst/>
          </a:prstGeom>
        </p:spPr>
      </p:pic>
      <p:sp>
        <p:nvSpPr>
          <p:cNvPr id="7" name="직사각형 6">
            <a:extLst>
              <a:ext uri="{FF2B5EF4-FFF2-40B4-BE49-F238E27FC236}">
                <a16:creationId xmlns:a16="http://schemas.microsoft.com/office/drawing/2014/main" id="{6EB76397-0DBB-4803-80B2-FED232CB6613}"/>
              </a:ext>
            </a:extLst>
          </p:cNvPr>
          <p:cNvSpPr/>
          <p:nvPr/>
        </p:nvSpPr>
        <p:spPr>
          <a:xfrm>
            <a:off x="449998" y="1375101"/>
            <a:ext cx="9004986"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200" dirty="0">
                <a:solidFill>
                  <a:schemeClr val="tx1">
                    <a:lumMod val="95000"/>
                    <a:lumOff val="5000"/>
                  </a:schemeClr>
                </a:solidFill>
                <a:latin typeface="Samsung Sharp Sans" pitchFamily="2" charset="0"/>
                <a:cs typeface="Samsung Sharp Sans" pitchFamily="2" charset="0"/>
              </a:rPr>
              <a:t>Finding an Optimal Method to Solve Problems with </a:t>
            </a:r>
            <a:r>
              <a:rPr lang="en-US" altLang="ko-KR" sz="2200" dirty="0" err="1">
                <a:solidFill>
                  <a:schemeClr val="tx1">
                    <a:lumMod val="95000"/>
                    <a:lumOff val="5000"/>
                  </a:schemeClr>
                </a:solidFill>
                <a:latin typeface="Samsung Sharp Sans" pitchFamily="2" charset="0"/>
                <a:cs typeface="Samsung Sharp Sans" pitchFamily="2" charset="0"/>
              </a:rPr>
              <a:t>scikit</a:t>
            </a:r>
            <a:r>
              <a:rPr lang="en-US" altLang="ko-KR" sz="2200" dirty="0">
                <a:solidFill>
                  <a:schemeClr val="tx1">
                    <a:lumMod val="95000"/>
                    <a:lumOff val="5000"/>
                  </a:schemeClr>
                </a:solidFill>
                <a:latin typeface="Samsung Sharp Sans" pitchFamily="2" charset="0"/>
                <a:cs typeface="Samsung Sharp Sans" pitchFamily="2" charset="0"/>
              </a:rPr>
              <a:t>-learn</a:t>
            </a:r>
            <a:endParaRPr lang="ko-KR" altLang="en-US" sz="2200" dirty="0">
              <a:solidFill>
                <a:schemeClr val="tx1">
                  <a:lumMod val="95000"/>
                  <a:lumOff val="5000"/>
                </a:schemeClr>
              </a:solidFill>
              <a:latin typeface="Samsung Sharp Sans" pitchFamily="2" charset="0"/>
              <a:cs typeface="Samsung Sharp Sans" pitchFamily="2" charset="0"/>
            </a:endParaRPr>
          </a:p>
        </p:txBody>
      </p:sp>
      <p:sp>
        <p:nvSpPr>
          <p:cNvPr id="8" name="직사각형 7">
            <a:extLst>
              <a:ext uri="{FF2B5EF4-FFF2-40B4-BE49-F238E27FC236}">
                <a16:creationId xmlns:a16="http://schemas.microsoft.com/office/drawing/2014/main" id="{263C784C-A043-459F-8287-C3E8734FBE69}"/>
              </a:ext>
            </a:extLst>
          </p:cNvPr>
          <p:cNvSpPr/>
          <p:nvPr/>
        </p:nvSpPr>
        <p:spPr>
          <a:xfrm>
            <a:off x="558861" y="2127778"/>
            <a:ext cx="8785101" cy="4001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82563" indent="-182563" defTabSz="914400" latinLnBrk="1">
              <a:spcAft>
                <a:spcPts val="800"/>
              </a:spcAft>
              <a:buClr>
                <a:srgbClr val="193EB0"/>
              </a:buClr>
              <a:buSzPct val="120000"/>
              <a:buFont typeface="SamsungOne 400" panose="020B0503030303020204" pitchFamily="34" charset="0"/>
              <a:buChar char="‣"/>
              <a:defRP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Use the following problem-solving methodology and consider which algorithm to apply. Perform pre-processing and overall process regarding the iris data and compare with the result code provided below.</a:t>
            </a:r>
          </a:p>
        </p:txBody>
      </p:sp>
    </p:spTree>
    <p:extLst>
      <p:ext uri="{BB962C8B-B14F-4D97-AF65-F5344CB8AC3E}">
        <p14:creationId xmlns:p14="http://schemas.microsoft.com/office/powerpoint/2010/main" val="58293566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spc="-80" dirty="0">
                  <a:solidFill>
                    <a:schemeClr val="bg1"/>
                  </a:solidFill>
                  <a:latin typeface="Samsung Sharp Sans Medium" pitchFamily="2" charset="0"/>
                  <a:ea typeface="Samsung Sharp Sans Medium" pitchFamily="2" charset="0"/>
                  <a:cs typeface="Samsung Sharp Sans Medium" pitchFamily="2" charset="0"/>
                </a:rPr>
                <a:t>1.5. Practicing to Find an Optimal Method to Solve Problems with </a:t>
              </a:r>
              <a:r>
                <a:rPr lang="en-US" altLang="ko-KR" spc="-80"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spc="-80" dirty="0">
                  <a:solidFill>
                    <a:schemeClr val="bg1"/>
                  </a:solidFill>
                  <a:latin typeface="Samsung Sharp Sans Medium" pitchFamily="2" charset="0"/>
                  <a:ea typeface="Samsung Sharp Sans Medium" pitchFamily="2" charset="0"/>
                  <a:cs typeface="Samsung Sharp Sans Medium" pitchFamily="2" charset="0"/>
                </a:rPr>
                <a:t>-learn</a:t>
              </a:r>
              <a:endParaRPr lang="ko-KR" altLang="en-US" spc="-80"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aphicFrame>
        <p:nvGraphicFramePr>
          <p:cNvPr id="146" name="Table 5">
            <a:extLst>
              <a:ext uri="{FF2B5EF4-FFF2-40B4-BE49-F238E27FC236}">
                <a16:creationId xmlns:a16="http://schemas.microsoft.com/office/drawing/2014/main" id="{12DB1FCF-AC4E-4142-976C-6C188057EB0A}"/>
              </a:ext>
            </a:extLst>
          </p:cNvPr>
          <p:cNvGraphicFramePr>
            <a:graphicFrameLocks noGrp="1"/>
          </p:cNvGraphicFramePr>
          <p:nvPr>
            <p:extLst>
              <p:ext uri="{D42A27DB-BD31-4B8C-83A1-F6EECF244321}">
                <p14:modId xmlns:p14="http://schemas.microsoft.com/office/powerpoint/2010/main" val="2938643158"/>
              </p:ext>
            </p:extLst>
          </p:nvPr>
        </p:nvGraphicFramePr>
        <p:xfrm>
          <a:off x="1167103" y="2467382"/>
          <a:ext cx="4731439" cy="2439504"/>
        </p:xfrm>
        <a:graphic>
          <a:graphicData uri="http://schemas.openxmlformats.org/drawingml/2006/table">
            <a:tbl>
              <a:tblPr firstRow="1" bandRow="1">
                <a:tableStyleId>{5940675A-B579-460E-94D1-54222C63F5DA}</a:tableStyleId>
              </a:tblPr>
              <a:tblGrid>
                <a:gridCol w="524416">
                  <a:extLst>
                    <a:ext uri="{9D8B030D-6E8A-4147-A177-3AD203B41FA5}">
                      <a16:colId xmlns:a16="http://schemas.microsoft.com/office/drawing/2014/main" val="20000"/>
                    </a:ext>
                  </a:extLst>
                </a:gridCol>
                <a:gridCol w="826962">
                  <a:extLst>
                    <a:ext uri="{9D8B030D-6E8A-4147-A177-3AD203B41FA5}">
                      <a16:colId xmlns:a16="http://schemas.microsoft.com/office/drawing/2014/main" val="1453301034"/>
                    </a:ext>
                  </a:extLst>
                </a:gridCol>
                <a:gridCol w="826962">
                  <a:extLst>
                    <a:ext uri="{9D8B030D-6E8A-4147-A177-3AD203B41FA5}">
                      <a16:colId xmlns:a16="http://schemas.microsoft.com/office/drawing/2014/main" val="3508091064"/>
                    </a:ext>
                  </a:extLst>
                </a:gridCol>
                <a:gridCol w="726113">
                  <a:extLst>
                    <a:ext uri="{9D8B030D-6E8A-4147-A177-3AD203B41FA5}">
                      <a16:colId xmlns:a16="http://schemas.microsoft.com/office/drawing/2014/main" val="1837172879"/>
                    </a:ext>
                  </a:extLst>
                </a:gridCol>
                <a:gridCol w="726113">
                  <a:extLst>
                    <a:ext uri="{9D8B030D-6E8A-4147-A177-3AD203B41FA5}">
                      <a16:colId xmlns:a16="http://schemas.microsoft.com/office/drawing/2014/main" val="1215860686"/>
                    </a:ext>
                  </a:extLst>
                </a:gridCol>
                <a:gridCol w="1100873">
                  <a:extLst>
                    <a:ext uri="{9D8B030D-6E8A-4147-A177-3AD203B41FA5}">
                      <a16:colId xmlns:a16="http://schemas.microsoft.com/office/drawing/2014/main" val="20002"/>
                    </a:ext>
                  </a:extLst>
                </a:gridCol>
              </a:tblGrid>
              <a:tr h="429656">
                <a:tc>
                  <a:txBody>
                    <a:bodyPr/>
                    <a:lstStyle/>
                    <a:p>
                      <a:pPr marL="0" algn="ctr" defTabSz="914400" rtl="0" eaLnBrk="1" latinLnBrk="0" hangingPunct="1">
                        <a:spcAft>
                          <a:spcPts val="800"/>
                        </a:spcAft>
                      </a:pPr>
                      <a:endParaRPr lang="en-US" sz="1400" b="1"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12700" cmpd="sng">
                      <a:noFill/>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algn="l" defTabSz="914400" rtl="0" eaLnBrk="1" latinLnBrk="0" hangingPunct="1">
                        <a:spcAft>
                          <a:spcPts val="800"/>
                        </a:spcAft>
                      </a:pPr>
                      <a:r>
                        <a:rPr lang="en-US" altLang="ko-KR" sz="1400" b="1"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Sepal length</a:t>
                      </a:r>
                      <a:endParaRPr lang="en-US" sz="1400" b="1"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algn="l" defTabSz="914400" rtl="0" eaLnBrk="1" latinLnBrk="0" hangingPunct="1">
                        <a:spcAft>
                          <a:spcPts val="800"/>
                        </a:spcAft>
                      </a:pPr>
                      <a:r>
                        <a:rPr lang="en-US" altLang="ko-KR" sz="1400" b="1"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Sepal width</a:t>
                      </a:r>
                      <a:endParaRPr lang="en-US" sz="1400" b="1"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algn="l" defTabSz="914400" rtl="0" eaLnBrk="1" latinLnBrk="0" hangingPunct="1">
                        <a:spcAft>
                          <a:spcPts val="800"/>
                        </a:spcAft>
                      </a:pPr>
                      <a:r>
                        <a:rPr lang="en-US" sz="1400" b="1"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Petal length</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algn="l" defTabSz="914400" rtl="0" eaLnBrk="1" latinLnBrk="0" hangingPunct="1">
                        <a:spcAft>
                          <a:spcPts val="800"/>
                        </a:spcAft>
                      </a:pPr>
                      <a:r>
                        <a:rPr lang="en-US" altLang="ko-KR" sz="1400" b="1"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Petal width</a:t>
                      </a:r>
                      <a:endParaRPr lang="en-US" sz="1400" b="1"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algn="l" defTabSz="914400" rtl="0" eaLnBrk="1" latinLnBrk="0" hangingPunct="1">
                        <a:spcAft>
                          <a:spcPts val="800"/>
                        </a:spcAft>
                      </a:pPr>
                      <a:r>
                        <a:rPr lang="en-US" altLang="ko-KR" sz="1400" b="1"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Class label</a:t>
                      </a:r>
                    </a:p>
                  </a:txBody>
                  <a:tcPr anchor="ctr">
                    <a:lnL w="6350" cap="flat" cmpd="sng" algn="ctr">
                      <a:solidFill>
                        <a:schemeClr val="bg1">
                          <a:lumMod val="75000"/>
                        </a:schemeClr>
                      </a:solidFill>
                      <a:prstDash val="solid"/>
                      <a:round/>
                      <a:headEnd type="none" w="med" len="med"/>
                      <a:tailEnd type="none" w="med" len="med"/>
                    </a:lnL>
                    <a:lnR w="12700" cmpd="sng">
                      <a:noFill/>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320224">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5.1</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3.5</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1.4</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0.2</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Setosa</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20224">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4.9</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1.4</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0.2</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Setosa</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20224">
                <a:tc gridSpan="6">
                  <a:txBody>
                    <a:bodyPr/>
                    <a:lstStyle/>
                    <a:p>
                      <a:pPr marL="0" algn="ctr"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algn="l" defTabSz="914400" rtl="0" eaLnBrk="1" latinLnBrk="0" hangingPunct="1">
                        <a:spcAft>
                          <a:spcPts val="800"/>
                        </a:spcAft>
                      </a:pP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algn="l" defTabSz="914400" rtl="0" eaLnBrk="1" latinLnBrk="0" hangingPunct="1">
                        <a:spcAft>
                          <a:spcPts val="800"/>
                        </a:spcAft>
                      </a:pP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algn="l" defTabSz="914400" rtl="0" eaLnBrk="1" latinLnBrk="0" hangingPunct="1">
                        <a:spcAft>
                          <a:spcPts val="800"/>
                        </a:spcAft>
                      </a:pP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algn="l" defTabSz="914400" rtl="0" eaLnBrk="1" latinLnBrk="0" hangingPunct="1">
                        <a:spcAft>
                          <a:spcPts val="800"/>
                        </a:spcAft>
                      </a:pP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algn="l" defTabSz="914400" rtl="0" eaLnBrk="1" latinLnBrk="0" hangingPunct="1">
                        <a:spcAft>
                          <a:spcPts val="800"/>
                        </a:spcAft>
                      </a:pP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320224">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50</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6.4</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3.5</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4.5</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1.2</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Versicolor</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64392036"/>
                  </a:ext>
                </a:extLst>
              </a:tr>
              <a:tr h="320224">
                <a:tc gridSpan="6">
                  <a:txBody>
                    <a:bodyPr/>
                    <a:lstStyle/>
                    <a:p>
                      <a:pPr marL="0" algn="ctr"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t>
                      </a:r>
                    </a:p>
                  </a:txBody>
                  <a:tcPr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algn="l" defTabSz="914400" rtl="0" eaLnBrk="1" latinLnBrk="0" hangingPunct="1">
                        <a:spcAft>
                          <a:spcPts val="800"/>
                        </a:spcAft>
                      </a:pP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algn="l" defTabSz="914400" rtl="0" eaLnBrk="1" latinLnBrk="0" hangingPunct="1">
                        <a:spcAft>
                          <a:spcPts val="800"/>
                        </a:spcAft>
                      </a:pP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algn="l" defTabSz="914400" rtl="0" eaLnBrk="1" latinLnBrk="0" hangingPunct="1">
                        <a:spcAft>
                          <a:spcPts val="800"/>
                        </a:spcAft>
                      </a:pP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algn="l" defTabSz="914400" rtl="0" eaLnBrk="1" latinLnBrk="0" hangingPunct="1">
                        <a:spcAft>
                          <a:spcPts val="800"/>
                        </a:spcAft>
                      </a:pP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algn="l" defTabSz="914400" rtl="0" eaLnBrk="1" latinLnBrk="0" hangingPunct="1">
                        <a:spcAft>
                          <a:spcPts val="800"/>
                        </a:spcAft>
                      </a:pP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4"/>
                  </a:ext>
                </a:extLst>
              </a:tr>
              <a:tr h="320224">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150</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5.9</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5.0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spcAft>
                          <a:spcPts val="800"/>
                        </a:spcAft>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1.8</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Virginica</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bl>
          </a:graphicData>
        </a:graphic>
      </p:graphicFrame>
      <p:sp>
        <p:nvSpPr>
          <p:cNvPr id="2" name="오른쪽 대괄호 1">
            <a:extLst>
              <a:ext uri="{FF2B5EF4-FFF2-40B4-BE49-F238E27FC236}">
                <a16:creationId xmlns:a16="http://schemas.microsoft.com/office/drawing/2014/main" id="{519F4143-1307-45EA-BBFE-5C5304BF3B87}"/>
              </a:ext>
            </a:extLst>
          </p:cNvPr>
          <p:cNvSpPr/>
          <p:nvPr/>
        </p:nvSpPr>
        <p:spPr>
          <a:xfrm flipH="1">
            <a:off x="879071" y="3080169"/>
            <a:ext cx="216024" cy="1692188"/>
          </a:xfrm>
          <a:prstGeom prst="rightBracket">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49" name="오른쪽 대괄호 148">
            <a:extLst>
              <a:ext uri="{FF2B5EF4-FFF2-40B4-BE49-F238E27FC236}">
                <a16:creationId xmlns:a16="http://schemas.microsoft.com/office/drawing/2014/main" id="{0F2DCA2F-416A-484E-A3AA-77EF1BBE40FC}"/>
              </a:ext>
            </a:extLst>
          </p:cNvPr>
          <p:cNvSpPr/>
          <p:nvPr/>
        </p:nvSpPr>
        <p:spPr>
          <a:xfrm rot="16200000" flipH="1">
            <a:off x="3117781" y="3597617"/>
            <a:ext cx="216024" cy="2893245"/>
          </a:xfrm>
          <a:prstGeom prst="rightBracket">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50" name="오른쪽 대괄호 149">
            <a:extLst>
              <a:ext uri="{FF2B5EF4-FFF2-40B4-BE49-F238E27FC236}">
                <a16:creationId xmlns:a16="http://schemas.microsoft.com/office/drawing/2014/main" id="{DCC46B9F-0281-4ED7-A604-2362A0DE05BA}"/>
              </a:ext>
            </a:extLst>
          </p:cNvPr>
          <p:cNvSpPr/>
          <p:nvPr/>
        </p:nvSpPr>
        <p:spPr>
          <a:xfrm rot="16200000" flipH="1">
            <a:off x="5249475" y="4503185"/>
            <a:ext cx="216024" cy="1082109"/>
          </a:xfrm>
          <a:prstGeom prst="rightBracket">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51" name="TextBox 150">
            <a:extLst>
              <a:ext uri="{FF2B5EF4-FFF2-40B4-BE49-F238E27FC236}">
                <a16:creationId xmlns:a16="http://schemas.microsoft.com/office/drawing/2014/main" id="{2695FF4E-BD0C-466A-847E-77E142E4365A}"/>
              </a:ext>
            </a:extLst>
          </p:cNvPr>
          <p:cNvSpPr txBox="1"/>
          <p:nvPr/>
        </p:nvSpPr>
        <p:spPr>
          <a:xfrm>
            <a:off x="4915044" y="5348421"/>
            <a:ext cx="792452" cy="472813"/>
          </a:xfrm>
          <a:prstGeom prst="rect">
            <a:avLst/>
          </a:prstGeom>
          <a:noFill/>
        </p:spPr>
        <p:txBody>
          <a:bodyPr wrap="none" lIns="36000" tIns="36000" rIns="36000" bIns="36000" rtlCol="0">
            <a:spAutoFit/>
          </a:bodyPr>
          <a:lstStyle/>
          <a:p>
            <a:r>
              <a:rPr lang="en-US" altLang="ko-KR" sz="1300" b="1" dirty="0">
                <a:latin typeface="SamsungOne 400" panose="020B0503030303020204" pitchFamily="34" charset="0"/>
                <a:ea typeface="SamsungOne 400" panose="020B0503030303020204" pitchFamily="34" charset="0"/>
              </a:rPr>
              <a:t>Class label</a:t>
            </a:r>
            <a:br>
              <a:rPr lang="en-US" altLang="ko-KR" sz="1300" dirty="0">
                <a:latin typeface="SamsungOne 400" panose="020B0503030303020204" pitchFamily="34" charset="0"/>
                <a:ea typeface="SamsungOne 400" panose="020B0503030303020204" pitchFamily="34" charset="0"/>
              </a:rPr>
            </a:br>
            <a:r>
              <a:rPr lang="en-US" altLang="ko-KR" sz="1300" dirty="0">
                <a:latin typeface="SamsungOne 400" panose="020B0503030303020204" pitchFamily="34" charset="0"/>
                <a:ea typeface="SamsungOne 400" panose="020B0503030303020204" pitchFamily="34" charset="0"/>
              </a:rPr>
              <a:t>(Target)</a:t>
            </a:r>
            <a:endParaRPr lang="en-US" sz="1300" dirty="0">
              <a:latin typeface="SamsungOne 400" panose="020B0503030303020204" pitchFamily="34" charset="0"/>
              <a:ea typeface="SamsungOne 400" panose="020B0503030303020204" pitchFamily="34" charset="0"/>
            </a:endParaRPr>
          </a:p>
        </p:txBody>
      </p:sp>
      <p:sp>
        <p:nvSpPr>
          <p:cNvPr id="153" name="TextBox 152">
            <a:extLst>
              <a:ext uri="{FF2B5EF4-FFF2-40B4-BE49-F238E27FC236}">
                <a16:creationId xmlns:a16="http://schemas.microsoft.com/office/drawing/2014/main" id="{D2511D37-6143-45E2-A41E-73E841E1327C}"/>
              </a:ext>
            </a:extLst>
          </p:cNvPr>
          <p:cNvSpPr txBox="1"/>
          <p:nvPr/>
        </p:nvSpPr>
        <p:spPr>
          <a:xfrm>
            <a:off x="2304686" y="5348421"/>
            <a:ext cx="2265868" cy="672867"/>
          </a:xfrm>
          <a:prstGeom prst="rect">
            <a:avLst/>
          </a:prstGeom>
          <a:noFill/>
        </p:spPr>
        <p:txBody>
          <a:bodyPr wrap="none" lIns="36000" tIns="36000" rIns="36000" bIns="36000" rtlCol="0">
            <a:spAutoFit/>
          </a:bodyPr>
          <a:lstStyle/>
          <a:p>
            <a:r>
              <a:rPr lang="en-US" altLang="ko-KR" sz="1300" b="1" dirty="0">
                <a:latin typeface="SamsungOne 400" panose="020B0503030303020204" pitchFamily="34" charset="0"/>
                <a:ea typeface="SamsungOne 400" panose="020B0503030303020204" pitchFamily="34" charset="0"/>
              </a:rPr>
              <a:t>Feature</a:t>
            </a:r>
            <a:br>
              <a:rPr lang="en-US" altLang="ko-KR" sz="1300" dirty="0">
                <a:latin typeface="SamsungOne 400" panose="020B0503030303020204" pitchFamily="34" charset="0"/>
                <a:ea typeface="SamsungOne 400" panose="020B0503030303020204" pitchFamily="34" charset="0"/>
              </a:rPr>
            </a:br>
            <a:r>
              <a:rPr lang="en-US" altLang="ko-KR" sz="1300" dirty="0">
                <a:latin typeface="SamsungOne 400" panose="020B0503030303020204" pitchFamily="34" charset="0"/>
                <a:ea typeface="SamsungOne 400" panose="020B0503030303020204" pitchFamily="34" charset="0"/>
              </a:rPr>
              <a:t>(Property, </a:t>
            </a:r>
          </a:p>
          <a:p>
            <a:r>
              <a:rPr lang="en-US" altLang="ko-KR" sz="1300" dirty="0">
                <a:latin typeface="SamsungOne 400" panose="020B0503030303020204" pitchFamily="34" charset="0"/>
                <a:ea typeface="SamsungOne 400" panose="020B0503030303020204" pitchFamily="34" charset="0"/>
              </a:rPr>
              <a:t>measurement value, dimension)</a:t>
            </a:r>
            <a:endParaRPr lang="en-US" sz="1300" dirty="0">
              <a:latin typeface="SamsungOne 400" panose="020B0503030303020204" pitchFamily="34" charset="0"/>
              <a:ea typeface="SamsungOne 400" panose="020B0503030303020204" pitchFamily="34" charset="0"/>
            </a:endParaRPr>
          </a:p>
        </p:txBody>
      </p:sp>
      <p:cxnSp>
        <p:nvCxnSpPr>
          <p:cNvPr id="32" name="직선 연결선 31">
            <a:extLst>
              <a:ext uri="{FF2B5EF4-FFF2-40B4-BE49-F238E27FC236}">
                <a16:creationId xmlns:a16="http://schemas.microsoft.com/office/drawing/2014/main" id="{575BA436-E3CE-4D31-A89B-B3CC58407468}"/>
              </a:ext>
            </a:extLst>
          </p:cNvPr>
          <p:cNvCxnSpPr/>
          <p:nvPr/>
        </p:nvCxnSpPr>
        <p:spPr>
          <a:xfrm>
            <a:off x="2485467" y="5152252"/>
            <a:ext cx="0" cy="196169"/>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5" name="직선 연결선 154">
            <a:extLst>
              <a:ext uri="{FF2B5EF4-FFF2-40B4-BE49-F238E27FC236}">
                <a16:creationId xmlns:a16="http://schemas.microsoft.com/office/drawing/2014/main" id="{6320704A-BDC1-4E03-B2EA-78A98C204831}"/>
              </a:ext>
            </a:extLst>
          </p:cNvPr>
          <p:cNvCxnSpPr/>
          <p:nvPr/>
        </p:nvCxnSpPr>
        <p:spPr>
          <a:xfrm>
            <a:off x="5104465" y="5152252"/>
            <a:ext cx="0" cy="196169"/>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1EA05D74-932A-4ECB-9F9A-487AFA3A4051}"/>
              </a:ext>
            </a:extLst>
          </p:cNvPr>
          <p:cNvSpPr txBox="1"/>
          <p:nvPr/>
        </p:nvSpPr>
        <p:spPr>
          <a:xfrm>
            <a:off x="628449" y="1964045"/>
            <a:ext cx="1631656" cy="472813"/>
          </a:xfrm>
          <a:prstGeom prst="rect">
            <a:avLst/>
          </a:prstGeom>
          <a:noFill/>
        </p:spPr>
        <p:txBody>
          <a:bodyPr wrap="none" lIns="36000" tIns="36000" rIns="36000" bIns="36000" rtlCol="0">
            <a:spAutoFit/>
          </a:bodyPr>
          <a:lstStyle/>
          <a:p>
            <a:r>
              <a:rPr lang="en-US" altLang="ko-KR" sz="1300" b="1" dirty="0">
                <a:latin typeface="SamsungOne 400" panose="020B0503030303020204" pitchFamily="34" charset="0"/>
                <a:ea typeface="SamsungOne 400" panose="020B0503030303020204" pitchFamily="34" charset="0"/>
              </a:rPr>
              <a:t>Sample</a:t>
            </a:r>
            <a:br>
              <a:rPr lang="en-US" altLang="ko-KR" sz="1300" dirty="0">
                <a:latin typeface="SamsungOne 400" panose="020B0503030303020204" pitchFamily="34" charset="0"/>
                <a:ea typeface="SamsungOne 400" panose="020B0503030303020204" pitchFamily="34" charset="0"/>
              </a:rPr>
            </a:br>
            <a:r>
              <a:rPr lang="en-US" altLang="ko-KR" sz="1300" dirty="0">
                <a:latin typeface="SamsungOne 400" panose="020B0503030303020204" pitchFamily="34" charset="0"/>
                <a:ea typeface="SamsungOne 400" panose="020B0503030303020204" pitchFamily="34" charset="0"/>
              </a:rPr>
              <a:t>(Instance, observation)</a:t>
            </a:r>
            <a:endParaRPr lang="en-US" sz="1300" dirty="0">
              <a:latin typeface="SamsungOne 400" panose="020B0503030303020204" pitchFamily="34" charset="0"/>
              <a:ea typeface="SamsungOne 400" panose="020B0503030303020204" pitchFamily="34" charset="0"/>
            </a:endParaRPr>
          </a:p>
        </p:txBody>
      </p:sp>
      <p:cxnSp>
        <p:nvCxnSpPr>
          <p:cNvPr id="162" name="연결선: 꺾임 161">
            <a:extLst>
              <a:ext uri="{FF2B5EF4-FFF2-40B4-BE49-F238E27FC236}">
                <a16:creationId xmlns:a16="http://schemas.microsoft.com/office/drawing/2014/main" id="{1D1F29CC-8E21-459C-B9E5-358B5146C39D}"/>
              </a:ext>
            </a:extLst>
          </p:cNvPr>
          <p:cNvCxnSpPr>
            <a:cxnSpLocks/>
          </p:cNvCxnSpPr>
          <p:nvPr/>
        </p:nvCxnSpPr>
        <p:spPr>
          <a:xfrm rot="10800000">
            <a:off x="772465" y="2406081"/>
            <a:ext cx="106606" cy="999521"/>
          </a:xfrm>
          <a:prstGeom prst="bentConnector2">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80" name="그룹 179">
            <a:extLst>
              <a:ext uri="{FF2B5EF4-FFF2-40B4-BE49-F238E27FC236}">
                <a16:creationId xmlns:a16="http://schemas.microsoft.com/office/drawing/2014/main" id="{58AB1D71-5F77-4693-849A-985E0E50925E}"/>
              </a:ext>
            </a:extLst>
          </p:cNvPr>
          <p:cNvGrpSpPr/>
          <p:nvPr/>
        </p:nvGrpSpPr>
        <p:grpSpPr>
          <a:xfrm>
            <a:off x="5594157" y="2300209"/>
            <a:ext cx="3642205" cy="2950127"/>
            <a:chOff x="5593695" y="1756226"/>
            <a:chExt cx="3642205" cy="2950127"/>
          </a:xfrm>
        </p:grpSpPr>
        <p:pic>
          <p:nvPicPr>
            <p:cNvPr id="165" name="그림 164" descr="파란색이(가) 표시된 사진&#10;&#10;자동 생성된 설명">
              <a:extLst>
                <a:ext uri="{FF2B5EF4-FFF2-40B4-BE49-F238E27FC236}">
                  <a16:creationId xmlns:a16="http://schemas.microsoft.com/office/drawing/2014/main" id="{D6E107FF-9B05-453B-B89A-9572040C173D}"/>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7926" b="98302" l="8647" r="91255">
                          <a14:foregroundMark x1="52244" y1="8006" x2="46348" y2="8006"/>
                          <a14:foregroundMark x1="55028" y1="8006" x2="54700" y2="8006"/>
                          <a14:foregroundMark x1="91287" y1="62353" x2="87553" y2="62353"/>
                          <a14:foregroundMark x1="46020" y1="92196" x2="47593" y2="97169"/>
                          <a14:foregroundMark x1="47887" y1="84917" x2="50049" y2="98342"/>
                          <a14:foregroundMark x1="8647" y1="74565" x2="9335" y2="74565"/>
                        </a14:backgroundRemoval>
                      </a14:imgEffect>
                    </a14:imgLayer>
                  </a14:imgProps>
                </a:ext>
                <a:ext uri="{28A0092B-C50C-407E-A947-70E740481C1C}">
                  <a14:useLocalDpi xmlns:a14="http://schemas.microsoft.com/office/drawing/2010/main" val="0"/>
                </a:ext>
              </a:extLst>
            </a:blip>
            <a:stretch>
              <a:fillRect/>
            </a:stretch>
          </p:blipFill>
          <p:spPr>
            <a:xfrm>
              <a:off x="5593695" y="1756226"/>
              <a:ext cx="3642205" cy="2950127"/>
            </a:xfrm>
            <a:prstGeom prst="rect">
              <a:avLst/>
            </a:prstGeom>
          </p:spPr>
        </p:pic>
        <p:sp>
          <p:nvSpPr>
            <p:cNvPr id="166" name="TextBox 165">
              <a:extLst>
                <a:ext uri="{FF2B5EF4-FFF2-40B4-BE49-F238E27FC236}">
                  <a16:creationId xmlns:a16="http://schemas.microsoft.com/office/drawing/2014/main" id="{D575E11E-09DB-4D39-953E-D315B126A6B9}"/>
                </a:ext>
              </a:extLst>
            </p:cNvPr>
            <p:cNvSpPr txBox="1"/>
            <p:nvPr/>
          </p:nvSpPr>
          <p:spPr>
            <a:xfrm>
              <a:off x="8072952" y="4428289"/>
              <a:ext cx="447806" cy="272758"/>
            </a:xfrm>
            <a:prstGeom prst="rect">
              <a:avLst/>
            </a:prstGeom>
            <a:noFill/>
          </p:spPr>
          <p:txBody>
            <a:bodyPr wrap="none" lIns="36000" tIns="36000" rIns="36000" bIns="36000" rtlCol="0">
              <a:spAutoFit/>
            </a:bodyPr>
            <a:lstStyle/>
            <a:p>
              <a:r>
                <a:rPr lang="en-US" sz="1300" b="1" dirty="0">
                  <a:latin typeface="SamsungOne 400" panose="020B0503030303020204" pitchFamily="34" charset="0"/>
                  <a:ea typeface="SamsungOne 400" panose="020B0503030303020204" pitchFamily="34" charset="0"/>
                </a:rPr>
                <a:t>Sepal</a:t>
              </a:r>
              <a:endParaRPr lang="en-US" sz="1300" dirty="0">
                <a:latin typeface="SamsungOne 400" panose="020B0503030303020204" pitchFamily="34" charset="0"/>
                <a:ea typeface="SamsungOne 400" panose="020B0503030303020204" pitchFamily="34" charset="0"/>
              </a:endParaRPr>
            </a:p>
          </p:txBody>
        </p:sp>
        <p:cxnSp>
          <p:nvCxnSpPr>
            <p:cNvPr id="167" name="직선 연결선 166">
              <a:extLst>
                <a:ext uri="{FF2B5EF4-FFF2-40B4-BE49-F238E27FC236}">
                  <a16:creationId xmlns:a16="http://schemas.microsoft.com/office/drawing/2014/main" id="{A12D9B22-DDCD-4AF1-A868-9491FBD153D2}"/>
                </a:ext>
              </a:extLst>
            </p:cNvPr>
            <p:cNvCxnSpPr>
              <a:cxnSpLocks/>
            </p:cNvCxnSpPr>
            <p:nvPr/>
          </p:nvCxnSpPr>
          <p:spPr>
            <a:xfrm>
              <a:off x="7795728" y="4196075"/>
              <a:ext cx="432048" cy="232214"/>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41FF80CC-DBD3-4D3C-A817-EDC1FEC05452}"/>
                </a:ext>
              </a:extLst>
            </p:cNvPr>
            <p:cNvSpPr txBox="1"/>
            <p:nvPr/>
          </p:nvSpPr>
          <p:spPr>
            <a:xfrm>
              <a:off x="6191062" y="1805806"/>
              <a:ext cx="419914" cy="272758"/>
            </a:xfrm>
            <a:prstGeom prst="rect">
              <a:avLst/>
            </a:prstGeom>
            <a:noFill/>
          </p:spPr>
          <p:txBody>
            <a:bodyPr wrap="none" lIns="36000" tIns="36000" rIns="36000" bIns="36000" rtlCol="0">
              <a:spAutoFit/>
            </a:bodyPr>
            <a:lstStyle/>
            <a:p>
              <a:r>
                <a:rPr lang="en-US" sz="1300" b="1" dirty="0">
                  <a:latin typeface="SamsungOne 400" panose="020B0503030303020204" pitchFamily="34" charset="0"/>
                  <a:ea typeface="SamsungOne 400" panose="020B0503030303020204" pitchFamily="34" charset="0"/>
                </a:rPr>
                <a:t>Petal</a:t>
              </a:r>
              <a:endParaRPr lang="en-US" sz="1300" dirty="0">
                <a:latin typeface="SamsungOne 400" panose="020B0503030303020204" pitchFamily="34" charset="0"/>
                <a:ea typeface="SamsungOne 400" panose="020B0503030303020204" pitchFamily="34" charset="0"/>
              </a:endParaRPr>
            </a:p>
          </p:txBody>
        </p:sp>
        <p:cxnSp>
          <p:nvCxnSpPr>
            <p:cNvPr id="170" name="직선 연결선 169">
              <a:extLst>
                <a:ext uri="{FF2B5EF4-FFF2-40B4-BE49-F238E27FC236}">
                  <a16:creationId xmlns:a16="http://schemas.microsoft.com/office/drawing/2014/main" id="{5450A937-4DFA-4AA2-983D-70B6230F6FE6}"/>
                </a:ext>
              </a:extLst>
            </p:cNvPr>
            <p:cNvCxnSpPr>
              <a:cxnSpLocks/>
            </p:cNvCxnSpPr>
            <p:nvPr/>
          </p:nvCxnSpPr>
          <p:spPr>
            <a:xfrm>
              <a:off x="6437623" y="2052492"/>
              <a:ext cx="432048" cy="232214"/>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2" name="직선 화살표 연결선 171">
              <a:extLst>
                <a:ext uri="{FF2B5EF4-FFF2-40B4-BE49-F238E27FC236}">
                  <a16:creationId xmlns:a16="http://schemas.microsoft.com/office/drawing/2014/main" id="{E83C75AC-0B7C-40C8-BF3C-E91DC2D34583}"/>
                </a:ext>
              </a:extLst>
            </p:cNvPr>
            <p:cNvCxnSpPr/>
            <p:nvPr/>
          </p:nvCxnSpPr>
          <p:spPr>
            <a:xfrm>
              <a:off x="7255668" y="2052492"/>
              <a:ext cx="612068" cy="908456"/>
            </a:xfrm>
            <a:prstGeom prst="straightConnector1">
              <a:avLst/>
            </a:prstGeom>
            <a:ln w="28575">
              <a:solidFill>
                <a:schemeClr val="accent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4" name="직선 화살표 연결선 173">
              <a:extLst>
                <a:ext uri="{FF2B5EF4-FFF2-40B4-BE49-F238E27FC236}">
                  <a16:creationId xmlns:a16="http://schemas.microsoft.com/office/drawing/2014/main" id="{12D7DEC9-564A-409E-9A34-CE7A950D3513}"/>
                </a:ext>
              </a:extLst>
            </p:cNvPr>
            <p:cNvCxnSpPr/>
            <p:nvPr/>
          </p:nvCxnSpPr>
          <p:spPr>
            <a:xfrm flipV="1">
              <a:off x="7116232" y="2168599"/>
              <a:ext cx="828092" cy="432309"/>
            </a:xfrm>
            <a:prstGeom prst="straightConnector1">
              <a:avLst/>
            </a:prstGeom>
            <a:ln w="28575">
              <a:solidFill>
                <a:schemeClr val="accent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5" name="직선 화살표 연결선 174">
              <a:extLst>
                <a:ext uri="{FF2B5EF4-FFF2-40B4-BE49-F238E27FC236}">
                  <a16:creationId xmlns:a16="http://schemas.microsoft.com/office/drawing/2014/main" id="{6B0EC548-7CCB-458D-BC54-0C40C00DF91E}"/>
                </a:ext>
              </a:extLst>
            </p:cNvPr>
            <p:cNvCxnSpPr>
              <a:cxnSpLocks/>
            </p:cNvCxnSpPr>
            <p:nvPr/>
          </p:nvCxnSpPr>
          <p:spPr>
            <a:xfrm>
              <a:off x="7291672" y="3310734"/>
              <a:ext cx="252028" cy="1117555"/>
            </a:xfrm>
            <a:prstGeom prst="straightConnector1">
              <a:avLst/>
            </a:prstGeom>
            <a:ln w="28575">
              <a:solidFill>
                <a:schemeClr val="accent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6" name="직선 화살표 연결선 175">
              <a:extLst>
                <a:ext uri="{FF2B5EF4-FFF2-40B4-BE49-F238E27FC236}">
                  <a16:creationId xmlns:a16="http://schemas.microsoft.com/office/drawing/2014/main" id="{D0977AD9-125E-4C8A-A708-FEA0A5246EAA}"/>
                </a:ext>
              </a:extLst>
            </p:cNvPr>
            <p:cNvCxnSpPr>
              <a:cxnSpLocks/>
            </p:cNvCxnSpPr>
            <p:nvPr/>
          </p:nvCxnSpPr>
          <p:spPr>
            <a:xfrm flipV="1">
              <a:off x="6869671" y="3717032"/>
              <a:ext cx="818045" cy="186249"/>
            </a:xfrm>
            <a:prstGeom prst="straightConnector1">
              <a:avLst/>
            </a:prstGeom>
            <a:ln w="28575">
              <a:solidFill>
                <a:schemeClr val="accent4"/>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6" name="직사각형 25">
            <a:extLst>
              <a:ext uri="{FF2B5EF4-FFF2-40B4-BE49-F238E27FC236}">
                <a16:creationId xmlns:a16="http://schemas.microsoft.com/office/drawing/2014/main" id="{40DB9158-98C2-48C5-9379-8B15C6F1D8EC}"/>
              </a:ext>
            </a:extLst>
          </p:cNvPr>
          <p:cNvSpPr/>
          <p:nvPr/>
        </p:nvSpPr>
        <p:spPr>
          <a:xfrm>
            <a:off x="558924" y="1459006"/>
            <a:ext cx="8785101"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5"/>
              </a:buBlip>
              <a:defRPr/>
            </a:pPr>
            <a:r>
              <a:rPr lang="en-US" altLang="ko-KR" sz="1400" dirty="0">
                <a:solidFill>
                  <a:schemeClr val="tx1"/>
                </a:solidFill>
                <a:latin typeface="SamsungOne 400" panose="020B0503030303020204" pitchFamily="34" charset="0"/>
                <a:ea typeface="SamsungOne 400" panose="020B0503030303020204" pitchFamily="34" charset="0"/>
              </a:rPr>
              <a:t>Practicing </a:t>
            </a:r>
          </a:p>
        </p:txBody>
      </p:sp>
    </p:spTree>
    <p:extLst>
      <p:ext uri="{BB962C8B-B14F-4D97-AF65-F5344CB8AC3E}">
        <p14:creationId xmlns:p14="http://schemas.microsoft.com/office/powerpoint/2010/main" val="35051066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spc="-80" dirty="0">
                  <a:solidFill>
                    <a:schemeClr val="bg1"/>
                  </a:solidFill>
                  <a:latin typeface="Samsung Sharp Sans Medium" pitchFamily="2" charset="0"/>
                  <a:ea typeface="Samsung Sharp Sans Medium" pitchFamily="2" charset="0"/>
                  <a:cs typeface="Samsung Sharp Sans Medium" pitchFamily="2" charset="0"/>
                </a:rPr>
                <a:t>1.5. Practicing to Find an Optimal Method to Solve Problems with </a:t>
              </a:r>
              <a:r>
                <a:rPr lang="en-US" altLang="ko-KR" spc="-80"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spc="-80" dirty="0">
                  <a:solidFill>
                    <a:schemeClr val="bg1"/>
                  </a:solidFill>
                  <a:latin typeface="Samsung Sharp Sans Medium" pitchFamily="2" charset="0"/>
                  <a:ea typeface="Samsung Sharp Sans Medium" pitchFamily="2" charset="0"/>
                  <a:cs typeface="Samsung Sharp Sans Medium" pitchFamily="2" charset="0"/>
                </a:rPr>
                <a:t>-learn</a:t>
              </a:r>
              <a:endParaRPr lang="ko-KR" altLang="en-US" spc="-80"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Considerations in machine learning</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B32FBCDC-2C13-44BD-9F3D-D320021A9AFF}"/>
              </a:ext>
            </a:extLst>
          </p:cNvPr>
          <p:cNvSpPr/>
          <p:nvPr/>
        </p:nvSpPr>
        <p:spPr>
          <a:xfrm>
            <a:off x="671261" y="1688690"/>
            <a:ext cx="8632825" cy="1453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1) Define the problem of the business and check for solutions or best alternative plans.</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2) Check if it is possible to define it as a supervised or unsupervised problem.</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3) Check which method to use for measuring model performance.</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4) Check if the performance index is linked with the business objective and confirm if the project participants made an agreement regarding the performance.</a:t>
            </a:r>
          </a:p>
        </p:txBody>
      </p:sp>
      <p:sp>
        <p:nvSpPr>
          <p:cNvPr id="9" name="직사각형 8">
            <a:extLst>
              <a:ext uri="{FF2B5EF4-FFF2-40B4-BE49-F238E27FC236}">
                <a16:creationId xmlns:a16="http://schemas.microsoft.com/office/drawing/2014/main" id="{E966F66D-AEC5-4EE9-8878-895352B03621}"/>
              </a:ext>
            </a:extLst>
          </p:cNvPr>
          <p:cNvSpPr/>
          <p:nvPr/>
        </p:nvSpPr>
        <p:spPr>
          <a:xfrm>
            <a:off x="671261" y="3099508"/>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this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practicing</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problem,</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define</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problem</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iris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species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(supervised)</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and</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suppose</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that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result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satisfactory</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performance</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predicts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85%</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or</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higher</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classification</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accuracy.</a:t>
            </a:r>
          </a:p>
        </p:txBody>
      </p:sp>
    </p:spTree>
    <p:extLst>
      <p:ext uri="{BB962C8B-B14F-4D97-AF65-F5344CB8AC3E}">
        <p14:creationId xmlns:p14="http://schemas.microsoft.com/office/powerpoint/2010/main" val="274463504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spc="-80" dirty="0">
                  <a:solidFill>
                    <a:schemeClr val="bg1"/>
                  </a:solidFill>
                  <a:latin typeface="Samsung Sharp Sans Medium" pitchFamily="2" charset="0"/>
                  <a:ea typeface="Samsung Sharp Sans Medium" pitchFamily="2" charset="0"/>
                  <a:cs typeface="Samsung Sharp Sans Medium" pitchFamily="2" charset="0"/>
                </a:rPr>
                <a:t>1.5. Practicing to Find an Optimal Method to Solve Problems with </a:t>
              </a:r>
              <a:r>
                <a:rPr lang="en-US" altLang="ko-KR" spc="-80"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spc="-80" dirty="0">
                  <a:solidFill>
                    <a:schemeClr val="bg1"/>
                  </a:solidFill>
                  <a:latin typeface="Samsung Sharp Sans Medium" pitchFamily="2" charset="0"/>
                  <a:ea typeface="Samsung Sharp Sans Medium" pitchFamily="2" charset="0"/>
                  <a:cs typeface="Samsung Sharp Sans Medium" pitchFamily="2" charset="0"/>
                </a:rPr>
                <a:t>-learn</a:t>
              </a:r>
              <a:endParaRPr lang="ko-KR" altLang="en-US" spc="-80"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Understanding the iris data</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1" name="모서리가 둥근 직사각형 4">
            <a:extLst>
              <a:ext uri="{FF2B5EF4-FFF2-40B4-BE49-F238E27FC236}">
                <a16:creationId xmlns:a16="http://schemas.microsoft.com/office/drawing/2014/main" id="{6BB4A2D8-6AD6-44A7-861F-785BA16AAF79}"/>
              </a:ext>
            </a:extLst>
          </p:cNvPr>
          <p:cNvSpPr/>
          <p:nvPr/>
        </p:nvSpPr>
        <p:spPr>
          <a:xfrm>
            <a:off x="558799" y="1773241"/>
            <a:ext cx="8785226" cy="125971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2" name="그림 11">
            <a:extLst>
              <a:ext uri="{FF2B5EF4-FFF2-40B4-BE49-F238E27FC236}">
                <a16:creationId xmlns:a16="http://schemas.microsoft.com/office/drawing/2014/main" id="{801EACA3-787B-4F9C-98B2-20503AC10663}"/>
              </a:ext>
            </a:extLst>
          </p:cNvPr>
          <p:cNvPicPr>
            <a:picLocks noChangeAspect="1"/>
          </p:cNvPicPr>
          <p:nvPr/>
        </p:nvPicPr>
        <p:blipFill rotWithShape="1">
          <a:blip r:embed="rId4"/>
          <a:srcRect l="1014" r="22297"/>
          <a:stretch/>
        </p:blipFill>
        <p:spPr>
          <a:xfrm>
            <a:off x="847725" y="1820395"/>
            <a:ext cx="8496300" cy="1091366"/>
          </a:xfrm>
          <a:prstGeom prst="rect">
            <a:avLst/>
          </a:prstGeom>
          <a:ln>
            <a:noFill/>
          </a:ln>
        </p:spPr>
      </p:pic>
      <p:sp>
        <p:nvSpPr>
          <p:cNvPr id="13" name="직사각형 12">
            <a:extLst>
              <a:ext uri="{FF2B5EF4-FFF2-40B4-BE49-F238E27FC236}">
                <a16:creationId xmlns:a16="http://schemas.microsoft.com/office/drawing/2014/main" id="{350B4016-9FFA-435C-9E46-76B486D33E2A}"/>
              </a:ext>
            </a:extLst>
          </p:cNvPr>
          <p:cNvSpPr/>
          <p:nvPr/>
        </p:nvSpPr>
        <p:spPr>
          <a:xfrm>
            <a:off x="558800" y="3213556"/>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Domain knowledge of the iris data</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4" name="직사각형 13">
            <a:extLst>
              <a:ext uri="{FF2B5EF4-FFF2-40B4-BE49-F238E27FC236}">
                <a16:creationId xmlns:a16="http://schemas.microsoft.com/office/drawing/2014/main" id="{5F433367-F296-41D4-A17C-0FC73AB436B8}"/>
              </a:ext>
            </a:extLst>
          </p:cNvPr>
          <p:cNvSpPr/>
          <p:nvPr/>
        </p:nvSpPr>
        <p:spPr>
          <a:xfrm>
            <a:off x="672080" y="3516248"/>
            <a:ext cx="8632825" cy="125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Data name: IRIS</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Number of data: 150</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Number of variables: 5</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Understanding variables</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graphicFrame>
        <p:nvGraphicFramePr>
          <p:cNvPr id="15" name="표 14">
            <a:extLst>
              <a:ext uri="{FF2B5EF4-FFF2-40B4-BE49-F238E27FC236}">
                <a16:creationId xmlns:a16="http://schemas.microsoft.com/office/drawing/2014/main" id="{B3F0BB91-5302-46BF-BE85-97DAE7000146}"/>
              </a:ext>
            </a:extLst>
          </p:cNvPr>
          <p:cNvGraphicFramePr>
            <a:graphicFrameLocks noGrp="1"/>
          </p:cNvGraphicFramePr>
          <p:nvPr>
            <p:extLst>
              <p:ext uri="{D42A27DB-BD31-4B8C-83A1-F6EECF244321}">
                <p14:modId xmlns:p14="http://schemas.microsoft.com/office/powerpoint/2010/main" val="1563700081"/>
              </p:ext>
            </p:extLst>
          </p:nvPr>
        </p:nvGraphicFramePr>
        <p:xfrm>
          <a:off x="847725" y="4769650"/>
          <a:ext cx="6876951" cy="1447800"/>
        </p:xfrm>
        <a:graphic>
          <a:graphicData uri="http://schemas.openxmlformats.org/drawingml/2006/table">
            <a:tbl>
              <a:tblPr firstRow="1" bandRow="1">
                <a:tableStyleId>{5940675A-B579-460E-94D1-54222C63F5DA}</a:tableStyleId>
              </a:tblPr>
              <a:tblGrid>
                <a:gridCol w="1738999">
                  <a:extLst>
                    <a:ext uri="{9D8B030D-6E8A-4147-A177-3AD203B41FA5}">
                      <a16:colId xmlns:a16="http://schemas.microsoft.com/office/drawing/2014/main" val="2044997058"/>
                    </a:ext>
                  </a:extLst>
                </a:gridCol>
                <a:gridCol w="5137952">
                  <a:extLst>
                    <a:ext uri="{9D8B030D-6E8A-4147-A177-3AD203B41FA5}">
                      <a16:colId xmlns:a16="http://schemas.microsoft.com/office/drawing/2014/main" val="490996645"/>
                    </a:ext>
                  </a:extLst>
                </a:gridCol>
              </a:tblGrid>
              <a:tr h="289560">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r>
                        <a:rPr lang="en-US" altLang="ko-KR"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rPr>
                        <a:t>Sepal Length</a:t>
                      </a:r>
                      <a:endParaRPr lang="ko-KR" altLang="en-US"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endParaRPr>
                    </a:p>
                  </a:txBody>
                  <a:tcP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a:txBody>
                    <a:bodyPr/>
                    <a:lstStyle/>
                    <a:p>
                      <a:pPr marL="0" marR="0" indent="0" algn="l" defTabSz="914400" rtl="0" eaLnBrk="1" fontAlgn="base" latinLnBrk="1" hangingPunct="1">
                        <a:lnSpc>
                          <a:spcPct val="100000"/>
                        </a:lnSpc>
                        <a:spcBef>
                          <a:spcPts val="0"/>
                        </a:spcBef>
                        <a:spcAft>
                          <a:spcPts val="0"/>
                        </a:spcAft>
                        <a:buClrTx/>
                        <a:buSzTx/>
                        <a:buFontTx/>
                        <a:buNone/>
                        <a:tabLst/>
                        <a:defRPr/>
                      </a:pPr>
                      <a:r>
                        <a:rPr lang="en-US" altLang="ko-KR"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rPr>
                        <a:t>Length information of the sepal</a:t>
                      </a:r>
                      <a:endParaRPr lang="ko-KR" altLang="en-US"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55872289"/>
                  </a:ext>
                </a:extLst>
              </a:tr>
              <a:tr h="289560">
                <a:tc>
                  <a:txBody>
                    <a:bodyPr/>
                    <a:lstStyle/>
                    <a:p>
                      <a:pPr marL="0" algn="ctr" defTabSz="914400" rtl="0" eaLnBrk="1" latinLnBrk="1" hangingPunct="1">
                        <a:lnSpc>
                          <a:spcPct val="100000"/>
                        </a:lnSpc>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Sepal</a:t>
                      </a:r>
                      <a:r>
                        <a:rPr lang="en-US" altLang="ko-KR" sz="13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Width</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a:txBody>
                    <a:bodyPr/>
                    <a:lstStyle/>
                    <a:p>
                      <a:pPr marL="0" marR="0" indent="0" algn="l" defTabSz="914400" rtl="0" eaLnBrk="1" fontAlgn="base" latinLnBrk="1" hangingPunct="1">
                        <a:lnSpc>
                          <a:spcPct val="100000"/>
                        </a:lnSpc>
                        <a:spcBef>
                          <a:spcPts val="0"/>
                        </a:spcBef>
                        <a:spcAft>
                          <a:spcPts val="0"/>
                        </a:spcAft>
                        <a:buClrTx/>
                        <a:buSzTx/>
                        <a:buFontTx/>
                        <a:buNone/>
                        <a:tabLst/>
                        <a:defRPr/>
                      </a:pPr>
                      <a:r>
                        <a:rPr lang="en-US" altLang="ko-KR"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rPr>
                        <a:t>Width information of the sepal</a:t>
                      </a:r>
                      <a:endParaRPr lang="ko-KR" altLang="en-US"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16463057"/>
                  </a:ext>
                </a:extLst>
              </a:tr>
              <a:tr h="289560">
                <a:tc>
                  <a:txBody>
                    <a:bodyPr/>
                    <a:lstStyle/>
                    <a:p>
                      <a:pPr marL="0" algn="ctr" defTabSz="914400" rtl="0" eaLnBrk="1" latinLnBrk="1" hangingPunct="1">
                        <a:lnSpc>
                          <a:spcPct val="100000"/>
                        </a:lnSpc>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Petal Length</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1" hangingPunct="1">
                        <a:lnSpc>
                          <a:spcPct val="100000"/>
                        </a:lnSpc>
                        <a:spcBef>
                          <a:spcPts val="0"/>
                        </a:spcBef>
                        <a:spcAft>
                          <a:spcPts val="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Length information of the petal</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89560">
                <a:tc>
                  <a:txBody>
                    <a:bodyPr/>
                    <a:lstStyle/>
                    <a:p>
                      <a:pPr marL="0" algn="ctr" defTabSz="914400" rtl="0" eaLnBrk="1" latinLnBrk="1" hangingPunct="1">
                        <a:lnSpc>
                          <a:spcPct val="100000"/>
                        </a:lnSpc>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Petal</a:t>
                      </a:r>
                      <a:r>
                        <a:rPr lang="en-US" altLang="ko-KR" sz="13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Width</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1" hangingPunct="1">
                        <a:lnSpc>
                          <a:spcPct val="100000"/>
                        </a:lnSpc>
                        <a:spcBef>
                          <a:spcPts val="0"/>
                        </a:spcBef>
                        <a:spcAft>
                          <a:spcPts val="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Width information of the petal</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89560">
                <a:tc>
                  <a:txBody>
                    <a:bodyPr/>
                    <a:lstStyle/>
                    <a:p>
                      <a:pPr marL="0" algn="ctr" defTabSz="914400" rtl="0" eaLnBrk="1" latinLnBrk="1" hangingPunct="1">
                        <a:lnSpc>
                          <a:spcPct val="100000"/>
                        </a:lnSpc>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Species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1" hangingPunct="1">
                        <a:lnSpc>
                          <a:spcPct val="100000"/>
                        </a:lnSpc>
                        <a:spcBef>
                          <a:spcPts val="0"/>
                        </a:spcBef>
                        <a:spcAft>
                          <a:spcPts val="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Flower species, classified into setosa /</a:t>
                      </a:r>
                      <a:r>
                        <a:rPr lang="en-US" altLang="ko-KR" sz="13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versicolor / virginica</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7814313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spc="-80" dirty="0">
                  <a:solidFill>
                    <a:schemeClr val="bg1"/>
                  </a:solidFill>
                  <a:latin typeface="Samsung Sharp Sans Medium" pitchFamily="2" charset="0"/>
                  <a:ea typeface="Samsung Sharp Sans Medium" pitchFamily="2" charset="0"/>
                  <a:cs typeface="Samsung Sharp Sans Medium" pitchFamily="2" charset="0"/>
                </a:rPr>
                <a:t>1.5. Practicing to Find an Optimal Method to Solve Problems with </a:t>
              </a:r>
              <a:r>
                <a:rPr lang="en-US" altLang="ko-KR" spc="-80"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spc="-80" dirty="0">
                  <a:solidFill>
                    <a:schemeClr val="bg1"/>
                  </a:solidFill>
                  <a:latin typeface="Samsung Sharp Sans Medium" pitchFamily="2" charset="0"/>
                  <a:ea typeface="Samsung Sharp Sans Medium" pitchFamily="2" charset="0"/>
                  <a:cs typeface="Samsung Sharp Sans Medium" pitchFamily="2" charset="0"/>
                </a:rPr>
                <a:t>-learn</a:t>
              </a:r>
              <a:endParaRPr lang="ko-KR" altLang="en-US" spc="-80"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Understanding the iris data</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1" name="모서리가 둥근 직사각형 4">
            <a:extLst>
              <a:ext uri="{FF2B5EF4-FFF2-40B4-BE49-F238E27FC236}">
                <a16:creationId xmlns:a16="http://schemas.microsoft.com/office/drawing/2014/main" id="{6BB4A2D8-6AD6-44A7-861F-785BA16AAF79}"/>
              </a:ext>
            </a:extLst>
          </p:cNvPr>
          <p:cNvSpPr/>
          <p:nvPr/>
        </p:nvSpPr>
        <p:spPr>
          <a:xfrm>
            <a:off x="558799" y="1773241"/>
            <a:ext cx="8785226" cy="4212043"/>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그림 15">
            <a:extLst>
              <a:ext uri="{FF2B5EF4-FFF2-40B4-BE49-F238E27FC236}">
                <a16:creationId xmlns:a16="http://schemas.microsoft.com/office/drawing/2014/main" id="{B4FD216C-8B5A-45BD-8C35-845DC57F594C}"/>
              </a:ext>
            </a:extLst>
          </p:cNvPr>
          <p:cNvPicPr>
            <a:picLocks noChangeAspect="1"/>
          </p:cNvPicPr>
          <p:nvPr/>
        </p:nvPicPr>
        <p:blipFill rotWithShape="1">
          <a:blip r:embed="rId4"/>
          <a:srcRect l="1115" t="1008" r="22486" b="1365"/>
          <a:stretch/>
        </p:blipFill>
        <p:spPr>
          <a:xfrm>
            <a:off x="847724" y="1856399"/>
            <a:ext cx="8496301" cy="4051140"/>
          </a:xfrm>
          <a:prstGeom prst="rect">
            <a:avLst/>
          </a:prstGeom>
          <a:ln>
            <a:noFill/>
          </a:ln>
        </p:spPr>
      </p:pic>
    </p:spTree>
    <p:extLst>
      <p:ext uri="{BB962C8B-B14F-4D97-AF65-F5344CB8AC3E}">
        <p14:creationId xmlns:p14="http://schemas.microsoft.com/office/powerpoint/2010/main" val="74861733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spc="-80" dirty="0">
                  <a:solidFill>
                    <a:schemeClr val="bg1"/>
                  </a:solidFill>
                  <a:latin typeface="Samsung Sharp Sans Medium" pitchFamily="2" charset="0"/>
                  <a:ea typeface="Samsung Sharp Sans Medium" pitchFamily="2" charset="0"/>
                  <a:cs typeface="Samsung Sharp Sans Medium" pitchFamily="2" charset="0"/>
                </a:rPr>
                <a:t>1.5. Practicing to Find an Optimal Method to Solve Problems with </a:t>
              </a:r>
              <a:r>
                <a:rPr lang="en-US" altLang="ko-KR" spc="-80" dirty="0" err="1">
                  <a:solidFill>
                    <a:schemeClr val="bg1"/>
                  </a:solidFill>
                  <a:latin typeface="Samsung Sharp Sans Medium" pitchFamily="2" charset="0"/>
                  <a:ea typeface="Samsung Sharp Sans Medium" pitchFamily="2" charset="0"/>
                  <a:cs typeface="Samsung Sharp Sans Medium" pitchFamily="2" charset="0"/>
                </a:rPr>
                <a:t>scikit</a:t>
              </a:r>
              <a:r>
                <a:rPr lang="en-US" altLang="ko-KR" spc="-80" dirty="0">
                  <a:solidFill>
                    <a:schemeClr val="bg1"/>
                  </a:solidFill>
                  <a:latin typeface="Samsung Sharp Sans Medium" pitchFamily="2" charset="0"/>
                  <a:ea typeface="Samsung Sharp Sans Medium" pitchFamily="2" charset="0"/>
                  <a:cs typeface="Samsung Sharp Sans Medium" pitchFamily="2" charset="0"/>
                </a:rPr>
                <a:t>-learn</a:t>
              </a:r>
              <a:endParaRPr lang="ko-KR" altLang="en-US" spc="-80"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01</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D1E10778-C5B4-4490-87BD-CC2513F824E9}"/>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a:solidFill>
                  <a:schemeClr val="tx1"/>
                </a:solidFill>
                <a:latin typeface="SamsungOne 400" panose="020B0503030303020204" pitchFamily="34" charset="0"/>
                <a:ea typeface="SamsungOne 400" panose="020B0503030303020204" pitchFamily="34" charset="0"/>
              </a:rPr>
              <a:t>Understanding the iris </a:t>
            </a:r>
            <a:r>
              <a:rPr lang="en-US" altLang="ko-KR" sz="1400" dirty="0">
                <a:solidFill>
                  <a:schemeClr val="tx1"/>
                </a:solidFill>
                <a:latin typeface="SamsungOne 400" panose="020B0503030303020204" pitchFamily="34" charset="0"/>
                <a:ea typeface="SamsungOne 400" panose="020B0503030303020204" pitchFamily="34" charset="0"/>
              </a:rPr>
              <a:t>data</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1" name="모서리가 둥근 직사각형 4">
            <a:extLst>
              <a:ext uri="{FF2B5EF4-FFF2-40B4-BE49-F238E27FC236}">
                <a16:creationId xmlns:a16="http://schemas.microsoft.com/office/drawing/2014/main" id="{6BB4A2D8-6AD6-44A7-861F-785BA16AAF79}"/>
              </a:ext>
            </a:extLst>
          </p:cNvPr>
          <p:cNvSpPr/>
          <p:nvPr/>
        </p:nvSpPr>
        <p:spPr>
          <a:xfrm>
            <a:off x="557950" y="1759173"/>
            <a:ext cx="8677276" cy="453548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8" name="그림 7">
            <a:extLst>
              <a:ext uri="{FF2B5EF4-FFF2-40B4-BE49-F238E27FC236}">
                <a16:creationId xmlns:a16="http://schemas.microsoft.com/office/drawing/2014/main" id="{D02CDE93-6C6C-4C31-88E7-1CE769DED8CD}"/>
              </a:ext>
            </a:extLst>
          </p:cNvPr>
          <p:cNvPicPr>
            <a:picLocks noChangeAspect="1"/>
          </p:cNvPicPr>
          <p:nvPr/>
        </p:nvPicPr>
        <p:blipFill rotWithShape="1">
          <a:blip r:embed="rId4"/>
          <a:srcRect r="5606"/>
          <a:stretch/>
        </p:blipFill>
        <p:spPr>
          <a:xfrm>
            <a:off x="805429" y="1861759"/>
            <a:ext cx="8286444" cy="4330313"/>
          </a:xfrm>
          <a:prstGeom prst="rect">
            <a:avLst/>
          </a:prstGeom>
          <a:ln>
            <a:noFill/>
          </a:ln>
        </p:spPr>
      </p:pic>
    </p:spTree>
    <p:extLst>
      <p:ext uri="{BB962C8B-B14F-4D97-AF65-F5344CB8AC3E}">
        <p14:creationId xmlns:p14="http://schemas.microsoft.com/office/powerpoint/2010/main" val="197240402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33">
            <a:extLst>
              <a:ext uri="{FF2B5EF4-FFF2-40B4-BE49-F238E27FC236}">
                <a16:creationId xmlns:a16="http://schemas.microsoft.com/office/drawing/2014/main" id="{551F01E8-8777-4A7B-AD71-63E7C805C68C}"/>
              </a:ext>
            </a:extLst>
          </p:cNvPr>
          <p:cNvSpPr/>
          <p:nvPr/>
        </p:nvSpPr>
        <p:spPr>
          <a:xfrm>
            <a:off x="989683" y="3191956"/>
            <a:ext cx="8462229" cy="9848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Application of Supervised Learning Model for</a:t>
            </a:r>
            <a:r>
              <a:rPr kumimoji="1" lang="ko-KR" altLang="en-US" sz="3200" dirty="0">
                <a:solidFill>
                  <a:prstClr val="black"/>
                </a:solidFill>
                <a:latin typeface="Samsung Sharp Sans" pitchFamily="2" charset="0"/>
                <a:ea typeface="맑은 고딕" panose="020B0503020000020004" pitchFamily="50" charset="-127"/>
                <a:cs typeface="Samsung Sharp Sans" pitchFamily="2" charset="0"/>
              </a:rPr>
              <a:t> </a:t>
            </a: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Numerical Prediction</a:t>
            </a:r>
            <a:r>
              <a:rPr kumimoji="1" lang="ko-KR" altLang="en-US" sz="3200" dirty="0">
                <a:solidFill>
                  <a:prstClr val="black"/>
                </a:solidFill>
                <a:latin typeface="Samsung Sharp Sans" pitchFamily="2" charset="0"/>
                <a:ea typeface="맑은 고딕" panose="020B0503020000020004" pitchFamily="50" charset="-127"/>
                <a:cs typeface="Samsung Sharp Sans" pitchFamily="2" charset="0"/>
              </a:rPr>
              <a:t> </a:t>
            </a: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2.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17" name="직사각형 16">
            <a:extLst>
              <a:ext uri="{FF2B5EF4-FFF2-40B4-BE49-F238E27FC236}">
                <a16:creationId xmlns:a16="http://schemas.microsoft.com/office/drawing/2014/main" id="{88522452-0F25-4CFF-B4F1-4F97F94CF66D}"/>
              </a:ext>
            </a:extLst>
          </p:cNvPr>
          <p:cNvSpPr/>
          <p:nvPr/>
        </p:nvSpPr>
        <p:spPr>
          <a:xfrm>
            <a:off x="1054111" y="4364851"/>
            <a:ext cx="7317681" cy="1897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algn="l" defTabSz="914400" rtl="0" eaLnBrk="1" fontAlgn="base" latinLnBrk="1" hangingPunct="1">
              <a:lnSpc>
                <a:spcPct val="100000"/>
              </a:lnSpc>
              <a:spcBef>
                <a:spcPct val="0"/>
              </a:spcBef>
              <a:spcAft>
                <a:spcPts val="1000"/>
              </a:spcAft>
              <a:buClrTx/>
              <a:buSzPct val="120000"/>
              <a:buBlip>
                <a:blip r:embed="rId3"/>
              </a:buBlip>
              <a:tabLst/>
              <a:defRPr/>
            </a:pPr>
            <a:r>
              <a:rPr kumimoji="1" lang="en-US" altLang="ko-KR" sz="1800" b="0" i="0" u="none" strike="noStrike" kern="1200" cap="none" spc="0" normalizeH="0" baseline="0" noProof="0" dirty="0">
                <a:ln>
                  <a:noFill/>
                </a:ln>
                <a:solidFill>
                  <a:prstClr val="black">
                    <a:lumMod val="75000"/>
                    <a:lumOff val="25000"/>
                  </a:prstClr>
                </a:solidFill>
                <a:effectLst/>
                <a:uLnTx/>
                <a:uFillTx/>
                <a:latin typeface="SamsungOne-700" panose="020B0803030303020204" pitchFamily="34" charset="0"/>
                <a:ea typeface="SamsungOne-700" panose="020B0803030303020204" pitchFamily="34" charset="0"/>
                <a:cs typeface="+mn-cs"/>
              </a:rPr>
              <a:t>2.1. Training and Testing in Machine Learning</a:t>
            </a:r>
          </a:p>
          <a:p>
            <a:pPr marL="176213" indent="-176213" fontAlgn="base">
              <a:spcBef>
                <a:spcPct val="0"/>
              </a:spcBef>
              <a:spcAft>
                <a:spcPts val="1000"/>
              </a:spcAft>
              <a:buSzPct val="120000"/>
              <a:buBlip>
                <a:blip r:embed="rId4"/>
              </a:buBlip>
              <a:defRPr/>
            </a:pPr>
            <a:r>
              <a:rPr lang="en-US" altLang="ko-KR" dirty="0">
                <a:solidFill>
                  <a:srgbClr val="A6A6A6"/>
                </a:solidFill>
                <a:latin typeface="SamsungOne 400" panose="020B0503030303020204" pitchFamily="34" charset="0"/>
                <a:ea typeface="SamsungOne 400" panose="020B0503030303020204" pitchFamily="34" charset="0"/>
              </a:rPr>
              <a:t>2.2. Linear Regression Basics</a:t>
            </a:r>
          </a:p>
          <a:p>
            <a:pPr marL="176213" indent="-176213" fontAlgn="base">
              <a:spcBef>
                <a:spcPct val="0"/>
              </a:spcBef>
              <a:spcAft>
                <a:spcPts val="1000"/>
              </a:spcAft>
              <a:buSzPct val="120000"/>
              <a:buBlip>
                <a:blip r:embed="rId4"/>
              </a:buBlip>
              <a:defRPr/>
            </a:pPr>
            <a:r>
              <a:rPr lang="en-US" altLang="ko-KR" dirty="0">
                <a:solidFill>
                  <a:srgbClr val="A6A6A6"/>
                </a:solidFill>
                <a:latin typeface="SamsungOne 400" panose="020B0503030303020204" pitchFamily="34" charset="0"/>
                <a:ea typeface="SamsungOne 400" panose="020B0503030303020204" pitchFamily="34" charset="0"/>
              </a:rPr>
              <a:t>2.3. Linear Regression Diagnostics</a:t>
            </a:r>
          </a:p>
          <a:p>
            <a:pPr marL="176213" indent="-176213" fontAlgn="base">
              <a:spcBef>
                <a:spcPct val="0"/>
              </a:spcBef>
              <a:spcAft>
                <a:spcPts val="1000"/>
              </a:spcAft>
              <a:buSzPct val="120000"/>
              <a:buBlip>
                <a:blip r:embed="rId4"/>
              </a:buBlip>
              <a:defRPr/>
            </a:pPr>
            <a:r>
              <a:rPr lang="en-US" altLang="ko-KR" dirty="0">
                <a:solidFill>
                  <a:srgbClr val="A6A6A6"/>
                </a:solidFill>
                <a:latin typeface="SamsungOne 400" panose="020B0503030303020204" pitchFamily="34" charset="0"/>
                <a:ea typeface="SamsungOne 400" panose="020B0503030303020204" pitchFamily="34" charset="0"/>
              </a:rPr>
              <a:t>2.4. Other Regression Types</a:t>
            </a:r>
          </a:p>
          <a:p>
            <a:pPr marL="176213" indent="-176213" fontAlgn="base">
              <a:spcBef>
                <a:spcPct val="0"/>
              </a:spcBef>
              <a:spcAft>
                <a:spcPts val="1000"/>
              </a:spcAft>
              <a:buSzPct val="120000"/>
              <a:buBlip>
                <a:blip r:embed="rId4"/>
              </a:buBlip>
              <a:defRPr/>
            </a:pPr>
            <a:r>
              <a:rPr lang="en-US" altLang="ko-KR" dirty="0">
                <a:solidFill>
                  <a:srgbClr val="A6A6A6"/>
                </a:solidFill>
                <a:latin typeface="SamsungOne 400" panose="020B0503030303020204" pitchFamily="34" charset="0"/>
                <a:ea typeface="SamsungOne 400" panose="020B0503030303020204" pitchFamily="34" charset="0"/>
              </a:rPr>
              <a:t>2.5. Practicing the Supervised Learning Model for Numerical Prediction</a:t>
            </a:r>
            <a:endParaRPr lang="ko-KR" altLang="en-US" dirty="0">
              <a:solidFill>
                <a:srgbClr val="A6A6A6"/>
              </a:solidFill>
              <a:latin typeface="SamsungOne 400" panose="020B0503030303020204" pitchFamily="34" charset="0"/>
              <a:ea typeface="SamsungOne 400" panose="020B0503030303020204" pitchFamily="34" charset="0"/>
            </a:endParaRPr>
          </a:p>
        </p:txBody>
      </p:sp>
    </p:spTree>
    <p:extLst>
      <p:ext uri="{BB962C8B-B14F-4D97-AF65-F5344CB8AC3E}">
        <p14:creationId xmlns:p14="http://schemas.microsoft.com/office/powerpoint/2010/main" val="24444612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2.1. Training and Testing in Machine Learning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Machine Learning Types</a:t>
            </a:r>
          </a:p>
        </p:txBody>
      </p:sp>
      <p:grpSp>
        <p:nvGrpSpPr>
          <p:cNvPr id="8" name="Group 2">
            <a:extLst>
              <a:ext uri="{FF2B5EF4-FFF2-40B4-BE49-F238E27FC236}">
                <a16:creationId xmlns:a16="http://schemas.microsoft.com/office/drawing/2014/main" id="{D59C03E7-F667-4F87-A68F-D668F7A03E1F}"/>
              </a:ext>
            </a:extLst>
          </p:cNvPr>
          <p:cNvGrpSpPr/>
          <p:nvPr/>
        </p:nvGrpSpPr>
        <p:grpSpPr>
          <a:xfrm>
            <a:off x="514136" y="2096926"/>
            <a:ext cx="8881390" cy="3816350"/>
            <a:chOff x="514136" y="2241550"/>
            <a:chExt cx="8881390" cy="3816350"/>
          </a:xfrm>
        </p:grpSpPr>
        <p:sp>
          <p:nvSpPr>
            <p:cNvPr id="10" name="TextBox 9">
              <a:extLst>
                <a:ext uri="{FF2B5EF4-FFF2-40B4-BE49-F238E27FC236}">
                  <a16:creationId xmlns:a16="http://schemas.microsoft.com/office/drawing/2014/main" id="{AF208167-C78B-4CE9-A8FF-E9CD62301A09}"/>
                </a:ext>
              </a:extLst>
            </p:cNvPr>
            <p:cNvSpPr txBox="1"/>
            <p:nvPr/>
          </p:nvSpPr>
          <p:spPr>
            <a:xfrm>
              <a:off x="3871236" y="3530820"/>
              <a:ext cx="2178307" cy="333218"/>
            </a:xfrm>
            <a:prstGeom prst="roundRect">
              <a:avLst>
                <a:gd name="adj" fmla="val 50000"/>
              </a:avLst>
            </a:prstGeom>
            <a:solidFill>
              <a:schemeClr val="bg1">
                <a:lumMod val="85000"/>
              </a:schemeClr>
            </a:solidFill>
          </p:spPr>
          <p:txBody>
            <a:bodyPr wrap="square" lIns="0" tIns="0" rIns="0" bIns="0" rtlCol="0" anchor="ctr">
              <a:noAutofit/>
              <a:scene3d>
                <a:camera prst="orthographicFront"/>
                <a:lightRig rig="threePt" dir="t"/>
              </a:scene3d>
              <a:sp3d>
                <a:bevelT w="0" h="6350"/>
              </a:sp3d>
            </a:bodyPr>
            <a:lstStyle>
              <a:defPPr>
                <a:defRPr lang="en-US"/>
              </a:defPPr>
              <a:lvl1pPr algn="ctr">
                <a:defRPr sz="16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dirty="0"/>
                <a:t>Unsupervised</a:t>
              </a:r>
            </a:p>
          </p:txBody>
        </p:sp>
        <p:sp>
          <p:nvSpPr>
            <p:cNvPr id="11" name="TextBox 10">
              <a:extLst>
                <a:ext uri="{FF2B5EF4-FFF2-40B4-BE49-F238E27FC236}">
                  <a16:creationId xmlns:a16="http://schemas.microsoft.com/office/drawing/2014/main" id="{B57770CB-F054-4825-9214-BDF59CDAA724}"/>
                </a:ext>
              </a:extLst>
            </p:cNvPr>
            <p:cNvSpPr txBox="1"/>
            <p:nvPr/>
          </p:nvSpPr>
          <p:spPr>
            <a:xfrm>
              <a:off x="6949074" y="3530819"/>
              <a:ext cx="2178307" cy="333218"/>
            </a:xfrm>
            <a:prstGeom prst="roundRect">
              <a:avLst>
                <a:gd name="adj" fmla="val 50000"/>
              </a:avLst>
            </a:prstGeom>
            <a:solidFill>
              <a:schemeClr val="bg1">
                <a:lumMod val="85000"/>
              </a:schemeClr>
            </a:solidFill>
          </p:spPr>
          <p:txBody>
            <a:bodyPr wrap="square" lIns="0" tIns="0" rIns="0" bIns="0" rtlCol="0" anchor="ctr">
              <a:noAutofit/>
              <a:scene3d>
                <a:camera prst="orthographicFront"/>
                <a:lightRig rig="threePt" dir="t"/>
              </a:scene3d>
              <a:sp3d>
                <a:bevelT w="0" h="6350"/>
              </a:sp3d>
            </a:bodyPr>
            <a:lstStyle>
              <a:defPPr>
                <a:defRPr lang="en-US"/>
              </a:defPPr>
              <a:lvl1pPr algn="ctr">
                <a:defRPr sz="16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dirty="0"/>
                <a:t>Reinforcement</a:t>
              </a:r>
            </a:p>
          </p:txBody>
        </p:sp>
        <p:pic>
          <p:nvPicPr>
            <p:cNvPr id="12" name="Picture 2">
              <a:extLst>
                <a:ext uri="{FF2B5EF4-FFF2-40B4-BE49-F238E27FC236}">
                  <a16:creationId xmlns:a16="http://schemas.microsoft.com/office/drawing/2014/main" id="{FD1BE5CB-7AF0-4D72-8CBD-39AC3D21601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6136" y="4030501"/>
              <a:ext cx="1799574" cy="15557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ectangle 38">
              <a:extLst>
                <a:ext uri="{FF2B5EF4-FFF2-40B4-BE49-F238E27FC236}">
                  <a16:creationId xmlns:a16="http://schemas.microsoft.com/office/drawing/2014/main" id="{00627A9F-037D-47C6-A001-34B6A5424A99}"/>
                </a:ext>
              </a:extLst>
            </p:cNvPr>
            <p:cNvSpPr/>
            <p:nvPr/>
          </p:nvSpPr>
          <p:spPr>
            <a:xfrm>
              <a:off x="3514001" y="5611427"/>
              <a:ext cx="2862918" cy="200055"/>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Target pattern must be found out.</a:t>
              </a:r>
            </a:p>
          </p:txBody>
        </p:sp>
        <p:pic>
          <p:nvPicPr>
            <p:cNvPr id="15" name="Picture 40">
              <a:extLst>
                <a:ext uri="{FF2B5EF4-FFF2-40B4-BE49-F238E27FC236}">
                  <a16:creationId xmlns:a16="http://schemas.microsoft.com/office/drawing/2014/main" id="{31F0B4CE-163E-468F-AA0E-15181BC541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63772" y="4160462"/>
              <a:ext cx="1697193" cy="1244608"/>
            </a:xfrm>
            <a:prstGeom prst="rect">
              <a:avLst/>
            </a:prstGeom>
          </p:spPr>
        </p:pic>
        <p:sp>
          <p:nvSpPr>
            <p:cNvPr id="16" name="Rectangle 41">
              <a:extLst>
                <a:ext uri="{FF2B5EF4-FFF2-40B4-BE49-F238E27FC236}">
                  <a16:creationId xmlns:a16="http://schemas.microsoft.com/office/drawing/2014/main" id="{3630945F-E791-4088-8198-8EED3DA08E38}"/>
                </a:ext>
              </a:extLst>
            </p:cNvPr>
            <p:cNvSpPr/>
            <p:nvPr/>
          </p:nvSpPr>
          <p:spPr>
            <a:xfrm>
              <a:off x="6663824" y="5611427"/>
              <a:ext cx="2731702" cy="200055"/>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Policy optimization </a:t>
              </a:r>
            </a:p>
          </p:txBody>
        </p:sp>
        <p:sp>
          <p:nvSpPr>
            <p:cNvPr id="17" name="TextBox 16">
              <a:extLst>
                <a:ext uri="{FF2B5EF4-FFF2-40B4-BE49-F238E27FC236}">
                  <a16:creationId xmlns:a16="http://schemas.microsoft.com/office/drawing/2014/main" id="{CB9CF5F0-5390-4FE4-820F-1809565E9E67}"/>
                </a:ext>
              </a:extLst>
            </p:cNvPr>
            <p:cNvSpPr txBox="1"/>
            <p:nvPr/>
          </p:nvSpPr>
          <p:spPr>
            <a:xfrm>
              <a:off x="3871237" y="2241550"/>
              <a:ext cx="2178306" cy="358775"/>
            </a:xfrm>
            <a:prstGeom prst="rect">
              <a:avLst/>
            </a:prstGeom>
            <a:solidFill>
              <a:srgbClr val="1429A0"/>
            </a:solidFill>
          </p:spPr>
          <p:txBody>
            <a:bodyPr wrap="square" lIns="0" tIns="0" rIns="0" bIns="0" rtlCol="0" anchor="ctr">
              <a:noAutofit/>
              <a:scene3d>
                <a:camera prst="orthographicFront"/>
                <a:lightRig rig="threePt" dir="t"/>
              </a:scene3d>
              <a:sp3d>
                <a:bevelT w="0" h="6350"/>
              </a:sp3d>
            </a:bodyPr>
            <a:lstStyle>
              <a:defPPr>
                <a:defRPr lang="en-US"/>
              </a:defPPr>
              <a:lvl1pPr algn="ctr">
                <a:defRPr>
                  <a:solidFill>
                    <a:schemeClr val="bg1"/>
                  </a:solidFill>
                  <a:latin typeface="SamsungOne 700" panose="020B0803030303020204" pitchFamily="34" charset="0"/>
                  <a:ea typeface="SamsungOne 700" panose="020B0803030303020204" pitchFamily="34" charset="0"/>
                </a:defRPr>
              </a:lvl1pPr>
            </a:lstStyle>
            <a:p>
              <a:r>
                <a:rPr lang="en-US" altLang="ko-KR" dirty="0"/>
                <a:t>Machine Learning</a:t>
              </a:r>
            </a:p>
          </p:txBody>
        </p:sp>
        <p:cxnSp>
          <p:nvCxnSpPr>
            <p:cNvPr id="18" name="꺾인 연결선 62">
              <a:extLst>
                <a:ext uri="{FF2B5EF4-FFF2-40B4-BE49-F238E27FC236}">
                  <a16:creationId xmlns:a16="http://schemas.microsoft.com/office/drawing/2014/main" id="{B284A3C3-B208-497A-81B6-68AA9091DE32}"/>
                </a:ext>
              </a:extLst>
            </p:cNvPr>
            <p:cNvCxnSpPr>
              <a:cxnSpLocks/>
              <a:stCxn id="17" idx="2"/>
              <a:endCxn id="22" idx="0"/>
            </p:cNvCxnSpPr>
            <p:nvPr/>
          </p:nvCxnSpPr>
          <p:spPr>
            <a:xfrm rot="5400000">
              <a:off x="2955095" y="1525524"/>
              <a:ext cx="930494" cy="3080096"/>
            </a:xfrm>
            <a:prstGeom prst="bentConnector3">
              <a:avLst>
                <a:gd name="adj1" fmla="val 50000"/>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꺾인 연결선 63">
              <a:extLst>
                <a:ext uri="{FF2B5EF4-FFF2-40B4-BE49-F238E27FC236}">
                  <a16:creationId xmlns:a16="http://schemas.microsoft.com/office/drawing/2014/main" id="{11DB41B6-DA20-45A3-8856-E3599CFAFAF1}"/>
                </a:ext>
              </a:extLst>
            </p:cNvPr>
            <p:cNvCxnSpPr>
              <a:cxnSpLocks/>
              <a:stCxn id="17" idx="2"/>
              <a:endCxn id="11" idx="0"/>
            </p:cNvCxnSpPr>
            <p:nvPr/>
          </p:nvCxnSpPr>
          <p:spPr>
            <a:xfrm rot="16200000" flipH="1">
              <a:off x="6034062" y="1526653"/>
              <a:ext cx="930494" cy="3077838"/>
            </a:xfrm>
            <a:prstGeom prst="bentConnector3">
              <a:avLst>
                <a:gd name="adj1" fmla="val 50000"/>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직선 화살표 연결선 64">
              <a:extLst>
                <a:ext uri="{FF2B5EF4-FFF2-40B4-BE49-F238E27FC236}">
                  <a16:creationId xmlns:a16="http://schemas.microsoft.com/office/drawing/2014/main" id="{30488B80-4780-4168-AE0D-8B38DCD637D3}"/>
                </a:ext>
              </a:extLst>
            </p:cNvPr>
            <p:cNvCxnSpPr>
              <a:cxnSpLocks/>
              <a:stCxn id="17" idx="2"/>
            </p:cNvCxnSpPr>
            <p:nvPr/>
          </p:nvCxnSpPr>
          <p:spPr>
            <a:xfrm>
              <a:off x="4960390" y="2600325"/>
              <a:ext cx="0" cy="930495"/>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1" name="Group 1">
              <a:extLst>
                <a:ext uri="{FF2B5EF4-FFF2-40B4-BE49-F238E27FC236}">
                  <a16:creationId xmlns:a16="http://schemas.microsoft.com/office/drawing/2014/main" id="{9815E1D7-8202-4FE0-A8CA-D9F34A47C68E}"/>
                </a:ext>
              </a:extLst>
            </p:cNvPr>
            <p:cNvGrpSpPr/>
            <p:nvPr/>
          </p:nvGrpSpPr>
          <p:grpSpPr>
            <a:xfrm>
              <a:off x="514136" y="3448637"/>
              <a:ext cx="2731702" cy="2609263"/>
              <a:chOff x="514136" y="3448637"/>
              <a:chExt cx="2731702" cy="2609263"/>
            </a:xfrm>
          </p:grpSpPr>
          <p:sp>
            <p:nvSpPr>
              <p:cNvPr id="22" name="TextBox 21">
                <a:extLst>
                  <a:ext uri="{FF2B5EF4-FFF2-40B4-BE49-F238E27FC236}">
                    <a16:creationId xmlns:a16="http://schemas.microsoft.com/office/drawing/2014/main" id="{6AB6E1F0-7E22-4CFC-9581-E2CB3875062A}"/>
                  </a:ext>
                </a:extLst>
              </p:cNvPr>
              <p:cNvSpPr txBox="1"/>
              <p:nvPr/>
            </p:nvSpPr>
            <p:spPr>
              <a:xfrm>
                <a:off x="791140" y="3530819"/>
                <a:ext cx="2178307" cy="333218"/>
              </a:xfrm>
              <a:prstGeom prst="roundRect">
                <a:avLst>
                  <a:gd name="adj" fmla="val 50000"/>
                </a:avLst>
              </a:prstGeom>
              <a:solidFill>
                <a:srgbClr val="1429A0"/>
              </a:solidFill>
            </p:spPr>
            <p:txBody>
              <a:bodyPr wrap="square" lIns="0" tIns="0" rIns="0" bIns="0" rtlCol="0" anchor="ctr">
                <a:noAutofit/>
                <a:scene3d>
                  <a:camera prst="orthographicFront"/>
                  <a:lightRig rig="threePt" dir="t"/>
                </a:scene3d>
                <a:sp3d>
                  <a:bevelT w="0" h="6350"/>
                </a:sp3d>
              </a:bodyPr>
              <a:lstStyle>
                <a:defPPr>
                  <a:defRPr lang="en-US"/>
                </a:defPPr>
                <a:lvl1pPr algn="ctr">
                  <a:defRPr>
                    <a:solidFill>
                      <a:schemeClr val="bg1"/>
                    </a:solidFill>
                    <a:latin typeface="SamsungOne 700" panose="020B0803030303020204" pitchFamily="34" charset="0"/>
                    <a:ea typeface="SamsungOne 700" panose="020B0803030303020204" pitchFamily="34" charset="0"/>
                  </a:defRPr>
                </a:lvl1pPr>
              </a:lstStyle>
              <a:p>
                <a:r>
                  <a:rPr lang="en-US" altLang="ko-KR" sz="1600" dirty="0"/>
                  <a:t>Supervised</a:t>
                </a:r>
              </a:p>
            </p:txBody>
          </p:sp>
          <p:pic>
            <p:nvPicPr>
              <p:cNvPr id="27" name="Picture 2">
                <a:extLst>
                  <a:ext uri="{FF2B5EF4-FFF2-40B4-BE49-F238E27FC236}">
                    <a16:creationId xmlns:a16="http://schemas.microsoft.com/office/drawing/2014/main" id="{8153BFBA-5F18-47AC-BCF7-C7D16CF898A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74383" y="4004886"/>
                <a:ext cx="1811821" cy="1555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Rectangle 35">
                <a:extLst>
                  <a:ext uri="{FF2B5EF4-FFF2-40B4-BE49-F238E27FC236}">
                    <a16:creationId xmlns:a16="http://schemas.microsoft.com/office/drawing/2014/main" id="{3E863737-CC3A-4028-B094-B51A3D8DCB01}"/>
                  </a:ext>
                </a:extLst>
              </p:cNvPr>
              <p:cNvSpPr/>
              <p:nvPr/>
            </p:nvSpPr>
            <p:spPr>
              <a:xfrm>
                <a:off x="514136" y="5611427"/>
                <a:ext cx="2731702" cy="200055"/>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Target pattern is given. </a:t>
                </a:r>
              </a:p>
            </p:txBody>
          </p:sp>
          <p:sp>
            <p:nvSpPr>
              <p:cNvPr id="29" name="사각형: 둥근 모서리 31">
                <a:extLst>
                  <a:ext uri="{FF2B5EF4-FFF2-40B4-BE49-F238E27FC236}">
                    <a16:creationId xmlns:a16="http://schemas.microsoft.com/office/drawing/2014/main" id="{11CAE241-D13E-4D7C-A652-0DB0E971F16A}"/>
                  </a:ext>
                </a:extLst>
              </p:cNvPr>
              <p:cNvSpPr/>
              <p:nvPr/>
            </p:nvSpPr>
            <p:spPr>
              <a:xfrm>
                <a:off x="575680" y="3448637"/>
                <a:ext cx="2644388" cy="2609263"/>
              </a:xfrm>
              <a:prstGeom prst="roundRect">
                <a:avLst>
                  <a:gd name="adj" fmla="val 5278"/>
                </a:avLst>
              </a:prstGeom>
              <a:noFill/>
              <a:ln>
                <a:solidFill>
                  <a:srgbClr val="1D48D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50602534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2.1. Training and Testing in Machine Learning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Training and Testing in Machine Learning</a:t>
            </a:r>
          </a:p>
        </p:txBody>
      </p:sp>
      <p:sp>
        <p:nvSpPr>
          <p:cNvPr id="40" name="직사각형 39">
            <a:extLst>
              <a:ext uri="{FF2B5EF4-FFF2-40B4-BE49-F238E27FC236}">
                <a16:creationId xmlns:a16="http://schemas.microsoft.com/office/drawing/2014/main" id="{3A76204B-18F3-4CF1-ACE4-AFDF6C8ED0B9}"/>
              </a:ext>
            </a:extLst>
          </p:cNvPr>
          <p:cNvSpPr/>
          <p:nvPr/>
        </p:nvSpPr>
        <p:spPr>
          <a:xfrm>
            <a:off x="672080" y="2206510"/>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True learning is not just having a good memory.</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Learned material must be put to test.</a:t>
            </a:r>
          </a:p>
        </p:txBody>
      </p:sp>
      <p:sp>
        <p:nvSpPr>
          <p:cNvPr id="14" name="직사각형 13">
            <a:extLst>
              <a:ext uri="{FF2B5EF4-FFF2-40B4-BE49-F238E27FC236}">
                <a16:creationId xmlns:a16="http://schemas.microsoft.com/office/drawing/2014/main" id="{FA18C629-1018-4158-88B5-E2C18FF12CC3}"/>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What is learning (human)?</a:t>
            </a:r>
          </a:p>
        </p:txBody>
      </p:sp>
      <p:sp>
        <p:nvSpPr>
          <p:cNvPr id="8" name="직사각형 7">
            <a:extLst>
              <a:ext uri="{FF2B5EF4-FFF2-40B4-BE49-F238E27FC236}">
                <a16:creationId xmlns:a16="http://schemas.microsoft.com/office/drawing/2014/main" id="{533F7FED-40A7-450C-955B-253014A3557C}"/>
              </a:ext>
            </a:extLst>
          </p:cNvPr>
          <p:cNvSpPr/>
          <p:nvPr/>
        </p:nvSpPr>
        <p:spPr>
          <a:xfrm>
            <a:off x="672080" y="3229282"/>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 trained model must be put to test to generalize.</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Testing result is measured by errors. </a:t>
            </a:r>
          </a:p>
        </p:txBody>
      </p:sp>
      <p:sp>
        <p:nvSpPr>
          <p:cNvPr id="9" name="직사각형 8">
            <a:extLst>
              <a:ext uri="{FF2B5EF4-FFF2-40B4-BE49-F238E27FC236}">
                <a16:creationId xmlns:a16="http://schemas.microsoft.com/office/drawing/2014/main" id="{C3080411-19A3-44E5-8043-B053FB435DEE}"/>
              </a:ext>
            </a:extLst>
          </p:cNvPr>
          <p:cNvSpPr/>
          <p:nvPr/>
        </p:nvSpPr>
        <p:spPr>
          <a:xfrm>
            <a:off x="558800" y="2924944"/>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Training and testing in machine learning</a:t>
            </a:r>
          </a:p>
        </p:txBody>
      </p:sp>
    </p:spTree>
    <p:extLst>
      <p:ext uri="{BB962C8B-B14F-4D97-AF65-F5344CB8AC3E}">
        <p14:creationId xmlns:p14="http://schemas.microsoft.com/office/powerpoint/2010/main" val="350512854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2.1. Training and Testing in Machine Learning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Error Types</a:t>
            </a:r>
          </a:p>
        </p:txBody>
      </p:sp>
      <p:sp>
        <p:nvSpPr>
          <p:cNvPr id="40" name="직사각형 39">
            <a:extLst>
              <a:ext uri="{FF2B5EF4-FFF2-40B4-BE49-F238E27FC236}">
                <a16:creationId xmlns:a16="http://schemas.microsoft.com/office/drawing/2014/main" id="{3A76204B-18F3-4CF1-ACE4-AFDF6C8ED0B9}"/>
              </a:ext>
            </a:extLst>
          </p:cNvPr>
          <p:cNvSpPr/>
          <p:nvPr/>
        </p:nvSpPr>
        <p:spPr>
          <a:xfrm>
            <a:off x="672080" y="2206510"/>
            <a:ext cx="863282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Associated with simple/rigid/biased models.</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Prediction cannot account for the detailed data pattern.</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To lower this error type, increase the model complexity.</a:t>
            </a:r>
          </a:p>
        </p:txBody>
      </p:sp>
      <p:sp>
        <p:nvSpPr>
          <p:cNvPr id="14" name="직사각형 13">
            <a:extLst>
              <a:ext uri="{FF2B5EF4-FFF2-40B4-BE49-F238E27FC236}">
                <a16:creationId xmlns:a16="http://schemas.microsoft.com/office/drawing/2014/main" id="{FA18C629-1018-4158-88B5-E2C18FF12CC3}"/>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Bias error (Underfitting error)</a:t>
            </a:r>
          </a:p>
        </p:txBody>
      </p:sp>
      <p:grpSp>
        <p:nvGrpSpPr>
          <p:cNvPr id="10" name="Group 1">
            <a:extLst>
              <a:ext uri="{FF2B5EF4-FFF2-40B4-BE49-F238E27FC236}">
                <a16:creationId xmlns:a16="http://schemas.microsoft.com/office/drawing/2014/main" id="{E9749261-885A-43FF-949C-F3EAD1391218}"/>
              </a:ext>
            </a:extLst>
          </p:cNvPr>
          <p:cNvGrpSpPr/>
          <p:nvPr/>
        </p:nvGrpSpPr>
        <p:grpSpPr>
          <a:xfrm>
            <a:off x="4081046" y="3320988"/>
            <a:ext cx="1743136" cy="2449089"/>
            <a:chOff x="4081046" y="3612189"/>
            <a:chExt cx="1743136" cy="2449089"/>
          </a:xfrm>
        </p:grpSpPr>
        <p:pic>
          <p:nvPicPr>
            <p:cNvPr id="11" name="그림 10">
              <a:extLst>
                <a:ext uri="{FF2B5EF4-FFF2-40B4-BE49-F238E27FC236}">
                  <a16:creationId xmlns:a16="http://schemas.microsoft.com/office/drawing/2014/main" id="{6130677D-AC00-4CD2-B743-C70CF5E6C7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81046" y="3612189"/>
              <a:ext cx="1743136" cy="2449089"/>
            </a:xfrm>
            <a:prstGeom prst="rect">
              <a:avLst/>
            </a:prstGeom>
            <a:ln w="6350">
              <a:solidFill>
                <a:srgbClr val="00B3E3"/>
              </a:solidFill>
            </a:ln>
          </p:spPr>
        </p:pic>
        <p:sp>
          <p:nvSpPr>
            <p:cNvPr id="12" name="TextBox 11">
              <a:extLst>
                <a:ext uri="{FF2B5EF4-FFF2-40B4-BE49-F238E27FC236}">
                  <a16:creationId xmlns:a16="http://schemas.microsoft.com/office/drawing/2014/main" id="{59A0204A-5047-4C78-BBAD-A3160EB62B47}"/>
                </a:ext>
              </a:extLst>
            </p:cNvPr>
            <p:cNvSpPr txBox="1"/>
            <p:nvPr/>
          </p:nvSpPr>
          <p:spPr>
            <a:xfrm>
              <a:off x="4798754" y="3684968"/>
              <a:ext cx="709649" cy="912083"/>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spcAft>
                  <a:spcPts val="600"/>
                </a:spcAft>
                <a:defRPr sz="105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sz="1200" dirty="0"/>
                <a:t>Data</a:t>
              </a:r>
            </a:p>
            <a:p>
              <a:r>
                <a:rPr lang="en-US" altLang="ko-KR" sz="1200" dirty="0"/>
                <a:t>Predicted</a:t>
              </a:r>
            </a:p>
            <a:p>
              <a:r>
                <a:rPr lang="en-US" altLang="ko-KR" sz="1200" dirty="0"/>
                <a:t>Target</a:t>
              </a:r>
              <a:endParaRPr lang="ko-KR" altLang="en-US" sz="1200" dirty="0"/>
            </a:p>
          </p:txBody>
        </p:sp>
      </p:grpSp>
    </p:spTree>
    <p:extLst>
      <p:ext uri="{BB962C8B-B14F-4D97-AF65-F5344CB8AC3E}">
        <p14:creationId xmlns:p14="http://schemas.microsoft.com/office/powerpoint/2010/main" val="315823068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2.1. Training and Testing in Machine Learning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Variance error (Overfitting error)</a:t>
            </a:r>
          </a:p>
        </p:txBody>
      </p:sp>
      <p:sp>
        <p:nvSpPr>
          <p:cNvPr id="15" name="직사각형 14">
            <a:extLst>
              <a:ext uri="{FF2B5EF4-FFF2-40B4-BE49-F238E27FC236}">
                <a16:creationId xmlns:a16="http://schemas.microsoft.com/office/drawing/2014/main" id="{8E02D1CE-2859-45A1-90B6-A62349DC71E3}"/>
              </a:ext>
            </a:extLst>
          </p:cNvPr>
          <p:cNvSpPr/>
          <p:nvPr/>
        </p:nvSpPr>
        <p:spPr>
          <a:xfrm>
            <a:off x="671261" y="1700808"/>
            <a:ext cx="863282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Associated with models overly complex and sensitive to noise.</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Prediction performance is good while training but worsens when testing with a different dataset. </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To lower this error type, increase the amount of training data (*) or decrease the model complexity.</a:t>
            </a:r>
          </a:p>
        </p:txBody>
      </p:sp>
      <p:grpSp>
        <p:nvGrpSpPr>
          <p:cNvPr id="26" name="그룹 25">
            <a:extLst>
              <a:ext uri="{FF2B5EF4-FFF2-40B4-BE49-F238E27FC236}">
                <a16:creationId xmlns:a16="http://schemas.microsoft.com/office/drawing/2014/main" id="{8E1DA20B-46BD-4240-841C-6483AF6BBCEF}"/>
              </a:ext>
            </a:extLst>
          </p:cNvPr>
          <p:cNvGrpSpPr/>
          <p:nvPr/>
        </p:nvGrpSpPr>
        <p:grpSpPr>
          <a:xfrm>
            <a:off x="3913716" y="2996952"/>
            <a:ext cx="1740732" cy="2445711"/>
            <a:chOff x="5251103" y="3287432"/>
            <a:chExt cx="2049836" cy="2880000"/>
          </a:xfrm>
        </p:grpSpPr>
        <p:pic>
          <p:nvPicPr>
            <p:cNvPr id="27" name="그림 26">
              <a:extLst>
                <a:ext uri="{FF2B5EF4-FFF2-40B4-BE49-F238E27FC236}">
                  <a16:creationId xmlns:a16="http://schemas.microsoft.com/office/drawing/2014/main" id="{31C36D95-1960-4636-B0D0-02E200461E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51103" y="3287432"/>
              <a:ext cx="2049836" cy="2880000"/>
            </a:xfrm>
            <a:prstGeom prst="rect">
              <a:avLst/>
            </a:prstGeom>
            <a:ln w="6350">
              <a:solidFill>
                <a:srgbClr val="00B3E3"/>
              </a:solidFill>
            </a:ln>
          </p:spPr>
        </p:pic>
        <p:sp>
          <p:nvSpPr>
            <p:cNvPr id="28" name="TextBox 27">
              <a:extLst>
                <a:ext uri="{FF2B5EF4-FFF2-40B4-BE49-F238E27FC236}">
                  <a16:creationId xmlns:a16="http://schemas.microsoft.com/office/drawing/2014/main" id="{FAF65286-34E7-429E-85C5-FDB574AAB8A6}"/>
                </a:ext>
              </a:extLst>
            </p:cNvPr>
            <p:cNvSpPr txBox="1"/>
            <p:nvPr/>
          </p:nvSpPr>
          <p:spPr>
            <a:xfrm>
              <a:off x="6096254" y="3373135"/>
              <a:ext cx="835662" cy="1074043"/>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spcAft>
                  <a:spcPts val="600"/>
                </a:spcAft>
                <a:defRPr sz="105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sz="1200" dirty="0"/>
                <a:t>Data</a:t>
              </a:r>
            </a:p>
            <a:p>
              <a:r>
                <a:rPr lang="en-US" altLang="ko-KR" sz="1200" dirty="0"/>
                <a:t>Predicted</a:t>
              </a:r>
            </a:p>
            <a:p>
              <a:r>
                <a:rPr lang="en-US" altLang="ko-KR" sz="1200" dirty="0"/>
                <a:t>Target</a:t>
              </a:r>
              <a:endParaRPr lang="ko-KR" altLang="en-US" sz="1200" dirty="0"/>
            </a:p>
          </p:txBody>
        </p:sp>
      </p:grpSp>
      <p:sp>
        <p:nvSpPr>
          <p:cNvPr id="29" name="TextBox 28">
            <a:extLst>
              <a:ext uri="{FF2B5EF4-FFF2-40B4-BE49-F238E27FC236}">
                <a16:creationId xmlns:a16="http://schemas.microsoft.com/office/drawing/2014/main" id="{4EA4163A-E144-49A8-9895-179CA5C35B85}"/>
              </a:ext>
            </a:extLst>
          </p:cNvPr>
          <p:cNvSpPr txBox="1"/>
          <p:nvPr/>
        </p:nvSpPr>
        <p:spPr>
          <a:xfrm>
            <a:off x="5860853" y="5136697"/>
            <a:ext cx="3366641" cy="415498"/>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spcAft>
                <a:spcPts val="600"/>
              </a:spcAft>
              <a:defRPr sz="105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sz="1200" dirty="0">
                <a:solidFill>
                  <a:srgbClr val="193EB0"/>
                </a:solidFill>
                <a:latin typeface="SamsungOne 700" panose="020B0803030303020204" pitchFamily="34" charset="0"/>
                <a:ea typeface="SamsungOne 700" panose="020B0803030303020204" pitchFamily="34" charset="0"/>
              </a:rPr>
              <a:t>(*) By data augmentation method, for example.</a:t>
            </a:r>
            <a:endParaRPr lang="ko-KR" altLang="en-US" sz="1200" dirty="0">
              <a:solidFill>
                <a:srgbClr val="193EB0"/>
              </a:solidFill>
              <a:latin typeface="SamsungOne 700" panose="020B0803030303020204" pitchFamily="34" charset="0"/>
            </a:endParaRPr>
          </a:p>
        </p:txBody>
      </p:sp>
    </p:spTree>
    <p:extLst>
      <p:ext uri="{BB962C8B-B14F-4D97-AF65-F5344CB8AC3E}">
        <p14:creationId xmlns:p14="http://schemas.microsoft.com/office/powerpoint/2010/main" val="38322724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2.1. Training and Testing in Machine Learning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Total error</a:t>
            </a:r>
          </a:p>
        </p:txBody>
      </p:sp>
      <p:sp>
        <p:nvSpPr>
          <p:cNvPr id="15" name="직사각형 14">
            <a:extLst>
              <a:ext uri="{FF2B5EF4-FFF2-40B4-BE49-F238E27FC236}">
                <a16:creationId xmlns:a16="http://schemas.microsoft.com/office/drawing/2014/main" id="{8E02D1CE-2859-45A1-90B6-A62349DC71E3}"/>
              </a:ext>
            </a:extLst>
          </p:cNvPr>
          <p:cNvSpPr/>
          <p:nvPr/>
        </p:nvSpPr>
        <p:spPr>
          <a:xfrm>
            <a:off x="671261" y="4767591"/>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goal is to minimize the </a:t>
            </a:r>
            <a:r>
              <a:rPr lang="en-US" altLang="ko-KR" sz="1300" b="1" dirty="0">
                <a:solidFill>
                  <a:srgbClr val="FF0000"/>
                </a:solidFill>
                <a:latin typeface="SamsungOne 400" panose="020B0503030303020204" pitchFamily="34" charset="0"/>
                <a:ea typeface="SamsungOne 400" panose="020B0503030303020204" pitchFamily="34" charset="0"/>
              </a:rPr>
              <a:t>Total error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b="1" dirty="0">
                <a:solidFill>
                  <a:schemeClr val="accent4"/>
                </a:solidFill>
                <a:latin typeface="SamsungOne 400" panose="020B0503030303020204" pitchFamily="34" charset="0"/>
                <a:ea typeface="SamsungOne 400" panose="020B0503030303020204" pitchFamily="34" charset="0"/>
              </a:rPr>
              <a:t>Bias error</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 </a:t>
            </a:r>
            <a:r>
              <a:rPr lang="en-US" altLang="ko-KR" sz="1300" b="1" dirty="0">
                <a:solidFill>
                  <a:srgbClr val="00B050"/>
                </a:solidFill>
                <a:latin typeface="SamsungOne 400" panose="020B0503030303020204" pitchFamily="34" charset="0"/>
                <a:ea typeface="SamsungOne 400" panose="020B0503030303020204" pitchFamily="34" charset="0"/>
              </a:rPr>
              <a:t>Variance error</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Just enough complexity is required to “optimize” the model.</a:t>
            </a:r>
          </a:p>
        </p:txBody>
      </p:sp>
      <p:pic>
        <p:nvPicPr>
          <p:cNvPr id="11" name="그림 10">
            <a:extLst>
              <a:ext uri="{FF2B5EF4-FFF2-40B4-BE49-F238E27FC236}">
                <a16:creationId xmlns:a16="http://schemas.microsoft.com/office/drawing/2014/main" id="{125A025D-382E-4FB7-8663-875245E9C7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4892" y="1773238"/>
            <a:ext cx="4113041" cy="2880000"/>
          </a:xfrm>
          <a:prstGeom prst="rect">
            <a:avLst/>
          </a:prstGeom>
        </p:spPr>
      </p:pic>
      <p:sp>
        <p:nvSpPr>
          <p:cNvPr id="12" name="TextBox 11">
            <a:extLst>
              <a:ext uri="{FF2B5EF4-FFF2-40B4-BE49-F238E27FC236}">
                <a16:creationId xmlns:a16="http://schemas.microsoft.com/office/drawing/2014/main" id="{FEBDD6AB-E3DD-4DD8-9EDE-93817B7E1AA0}"/>
              </a:ext>
            </a:extLst>
          </p:cNvPr>
          <p:cNvSpPr txBox="1"/>
          <p:nvPr/>
        </p:nvSpPr>
        <p:spPr>
          <a:xfrm>
            <a:off x="4159324" y="4293096"/>
            <a:ext cx="1433085" cy="215444"/>
          </a:xfrm>
          <a:prstGeom prst="rect">
            <a:avLst/>
          </a:prstGeom>
          <a:solidFill>
            <a:schemeClr val="bg1"/>
          </a:solidFill>
        </p:spPr>
        <p:txBody>
          <a:bodyPr wrap="none" lIns="0" tIns="0" rIns="0" bIns="0" rtlCol="0">
            <a:spAutoFit/>
          </a:bodyPr>
          <a:lstStyle/>
          <a:p>
            <a:pPr algn="ctr"/>
            <a:r>
              <a:rPr lang="en-US" sz="1400" dirty="0">
                <a:latin typeface="SamsungOne 400" panose="020B0503030303020204" pitchFamily="34" charset="0"/>
                <a:ea typeface="SamsungOne 400" panose="020B0503030303020204" pitchFamily="34" charset="0"/>
              </a:rPr>
              <a:t>Model Complexity</a:t>
            </a:r>
          </a:p>
        </p:txBody>
      </p:sp>
      <p:sp>
        <p:nvSpPr>
          <p:cNvPr id="13" name="TextBox 12">
            <a:extLst>
              <a:ext uri="{FF2B5EF4-FFF2-40B4-BE49-F238E27FC236}">
                <a16:creationId xmlns:a16="http://schemas.microsoft.com/office/drawing/2014/main" id="{A1D31622-F326-408A-8D3E-4B554EF98CC7}"/>
              </a:ext>
            </a:extLst>
          </p:cNvPr>
          <p:cNvSpPr txBox="1"/>
          <p:nvPr/>
        </p:nvSpPr>
        <p:spPr>
          <a:xfrm>
            <a:off x="3655268" y="1864955"/>
            <a:ext cx="668453" cy="184666"/>
          </a:xfrm>
          <a:prstGeom prst="rect">
            <a:avLst/>
          </a:prstGeom>
          <a:solidFill>
            <a:schemeClr val="bg1"/>
          </a:solidFill>
        </p:spPr>
        <p:txBody>
          <a:bodyPr wrap="none" lIns="0" tIns="0" rIns="0" bIns="0" rtlCol="0">
            <a:spAutoFit/>
          </a:bodyPr>
          <a:lstStyle/>
          <a:p>
            <a:pPr algn="ctr"/>
            <a:r>
              <a:rPr lang="en-US" sz="1200" dirty="0">
                <a:latin typeface="SamsungOne 400" panose="020B0503030303020204" pitchFamily="34" charset="0"/>
                <a:ea typeface="SamsungOne 400" panose="020B0503030303020204" pitchFamily="34" charset="0"/>
              </a:rPr>
              <a:t>Bias Error</a:t>
            </a:r>
          </a:p>
        </p:txBody>
      </p:sp>
      <p:sp>
        <p:nvSpPr>
          <p:cNvPr id="14" name="TextBox 13">
            <a:extLst>
              <a:ext uri="{FF2B5EF4-FFF2-40B4-BE49-F238E27FC236}">
                <a16:creationId xmlns:a16="http://schemas.microsoft.com/office/drawing/2014/main" id="{C85ABF27-0CB2-400D-BD29-6E9446A6881D}"/>
              </a:ext>
            </a:extLst>
          </p:cNvPr>
          <p:cNvSpPr txBox="1"/>
          <p:nvPr/>
        </p:nvSpPr>
        <p:spPr>
          <a:xfrm>
            <a:off x="4616180" y="1859743"/>
            <a:ext cx="976229" cy="184666"/>
          </a:xfrm>
          <a:prstGeom prst="rect">
            <a:avLst/>
          </a:prstGeom>
          <a:solidFill>
            <a:schemeClr val="bg1"/>
          </a:solidFill>
        </p:spPr>
        <p:txBody>
          <a:bodyPr wrap="none" lIns="0" tIns="0" rIns="0" bIns="0" rtlCol="0">
            <a:spAutoFit/>
          </a:bodyPr>
          <a:lstStyle/>
          <a:p>
            <a:pPr algn="ctr"/>
            <a:r>
              <a:rPr lang="en-US" sz="1200" dirty="0">
                <a:latin typeface="SamsungOne 400" panose="020B0503030303020204" pitchFamily="34" charset="0"/>
                <a:ea typeface="SamsungOne 400" panose="020B0503030303020204" pitchFamily="34" charset="0"/>
              </a:rPr>
              <a:t>Variance Error</a:t>
            </a:r>
          </a:p>
        </p:txBody>
      </p:sp>
      <p:sp>
        <p:nvSpPr>
          <p:cNvPr id="17" name="TextBox 16">
            <a:extLst>
              <a:ext uri="{FF2B5EF4-FFF2-40B4-BE49-F238E27FC236}">
                <a16:creationId xmlns:a16="http://schemas.microsoft.com/office/drawing/2014/main" id="{3DC5D79F-E0FD-4352-AD0E-7EAB1AA3725F}"/>
              </a:ext>
            </a:extLst>
          </p:cNvPr>
          <p:cNvSpPr txBox="1"/>
          <p:nvPr/>
        </p:nvSpPr>
        <p:spPr>
          <a:xfrm>
            <a:off x="5851512" y="1859743"/>
            <a:ext cx="729367" cy="184666"/>
          </a:xfrm>
          <a:prstGeom prst="rect">
            <a:avLst/>
          </a:prstGeom>
          <a:solidFill>
            <a:schemeClr val="bg1"/>
          </a:solidFill>
        </p:spPr>
        <p:txBody>
          <a:bodyPr wrap="none" lIns="0" tIns="0" rIns="0" bIns="0" rtlCol="0">
            <a:spAutoFit/>
          </a:bodyPr>
          <a:lstStyle/>
          <a:p>
            <a:pPr algn="ctr"/>
            <a:r>
              <a:rPr lang="en-US" sz="1200" dirty="0">
                <a:latin typeface="SamsungOne 400" panose="020B0503030303020204" pitchFamily="34" charset="0"/>
                <a:ea typeface="SamsungOne 400" panose="020B0503030303020204" pitchFamily="34" charset="0"/>
              </a:rPr>
              <a:t>Total Error</a:t>
            </a:r>
          </a:p>
        </p:txBody>
      </p:sp>
    </p:spTree>
    <p:extLst>
      <p:ext uri="{BB962C8B-B14F-4D97-AF65-F5344CB8AC3E}">
        <p14:creationId xmlns:p14="http://schemas.microsoft.com/office/powerpoint/2010/main" val="423229830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2.1. Training and Testing in Machine Learning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Minimizing Errors</a:t>
            </a:r>
          </a:p>
        </p:txBody>
      </p:sp>
      <p:sp>
        <p:nvSpPr>
          <p:cNvPr id="40" name="직사각형 39">
            <a:extLst>
              <a:ext uri="{FF2B5EF4-FFF2-40B4-BE49-F238E27FC236}">
                <a16:creationId xmlns:a16="http://schemas.microsoft.com/office/drawing/2014/main" id="{3A76204B-18F3-4CF1-ACE4-AFDF6C8ED0B9}"/>
              </a:ext>
            </a:extLst>
          </p:cNvPr>
          <p:cNvSpPr/>
          <p:nvPr/>
        </p:nvSpPr>
        <p:spPr>
          <a:xfrm>
            <a:off x="672080" y="2206510"/>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Prediction performance should be good in both training and testing.</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Given a machine learning algorithm, there is a model with just enough complexity (*).</a:t>
            </a:r>
          </a:p>
        </p:txBody>
      </p:sp>
      <p:sp>
        <p:nvSpPr>
          <p:cNvPr id="14" name="직사각형 13">
            <a:extLst>
              <a:ext uri="{FF2B5EF4-FFF2-40B4-BE49-F238E27FC236}">
                <a16:creationId xmlns:a16="http://schemas.microsoft.com/office/drawing/2014/main" id="{FA18C629-1018-4158-88B5-E2C18FF12CC3}"/>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Optimized machine learning model</a:t>
            </a:r>
          </a:p>
        </p:txBody>
      </p:sp>
      <p:grpSp>
        <p:nvGrpSpPr>
          <p:cNvPr id="13" name="그룹 12">
            <a:extLst>
              <a:ext uri="{FF2B5EF4-FFF2-40B4-BE49-F238E27FC236}">
                <a16:creationId xmlns:a16="http://schemas.microsoft.com/office/drawing/2014/main" id="{BE6D2BE7-D35A-4E08-B5C9-95F3565822F9}"/>
              </a:ext>
            </a:extLst>
          </p:cNvPr>
          <p:cNvGrpSpPr/>
          <p:nvPr/>
        </p:nvGrpSpPr>
        <p:grpSpPr>
          <a:xfrm>
            <a:off x="847724" y="3104964"/>
            <a:ext cx="8338999" cy="2726344"/>
            <a:chOff x="1046733" y="3203443"/>
            <a:chExt cx="9810179" cy="3207331"/>
          </a:xfrm>
        </p:grpSpPr>
        <p:grpSp>
          <p:nvGrpSpPr>
            <p:cNvPr id="15" name="그룹 14">
              <a:extLst>
                <a:ext uri="{FF2B5EF4-FFF2-40B4-BE49-F238E27FC236}">
                  <a16:creationId xmlns:a16="http://schemas.microsoft.com/office/drawing/2014/main" id="{9F631D0F-EE20-444C-97BE-B4CBDEEBB268}"/>
                </a:ext>
              </a:extLst>
            </p:cNvPr>
            <p:cNvGrpSpPr/>
            <p:nvPr/>
          </p:nvGrpSpPr>
          <p:grpSpPr>
            <a:xfrm>
              <a:off x="3427222" y="3203443"/>
              <a:ext cx="7429690" cy="3207331"/>
              <a:chOff x="3809810" y="2577511"/>
              <a:chExt cx="7429690" cy="3207331"/>
            </a:xfrm>
          </p:grpSpPr>
          <p:pic>
            <p:nvPicPr>
              <p:cNvPr id="17" name="그림 16">
                <a:extLst>
                  <a:ext uri="{FF2B5EF4-FFF2-40B4-BE49-F238E27FC236}">
                    <a16:creationId xmlns:a16="http://schemas.microsoft.com/office/drawing/2014/main" id="{6C66282E-C7FE-46FD-9112-0712B626DE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86483" y="2904842"/>
                <a:ext cx="4779073" cy="2880000"/>
              </a:xfrm>
              <a:prstGeom prst="rect">
                <a:avLst/>
              </a:prstGeom>
            </p:spPr>
          </p:pic>
          <p:sp>
            <p:nvSpPr>
              <p:cNvPr id="18" name="TextBox 17">
                <a:extLst>
                  <a:ext uri="{FF2B5EF4-FFF2-40B4-BE49-F238E27FC236}">
                    <a16:creationId xmlns:a16="http://schemas.microsoft.com/office/drawing/2014/main" id="{411B96CC-BDA3-4D91-B34A-DF82FA7AF04D}"/>
                  </a:ext>
                </a:extLst>
              </p:cNvPr>
              <p:cNvSpPr txBox="1"/>
              <p:nvPr/>
            </p:nvSpPr>
            <p:spPr>
              <a:xfrm>
                <a:off x="3809810" y="2613719"/>
                <a:ext cx="1424162" cy="325868"/>
              </a:xfrm>
              <a:prstGeom prst="rect">
                <a:avLst/>
              </a:prstGeom>
              <a:noFill/>
            </p:spPr>
            <p:txBody>
              <a:bodyPr wrap="none" rtlCol="0">
                <a:spAutoFit/>
                <a:scene3d>
                  <a:camera prst="orthographicFront"/>
                  <a:lightRig rig="threePt" dir="t"/>
                </a:scene3d>
                <a:sp3d>
                  <a:bevelT w="0" h="6350"/>
                  <a:bevelB w="0" h="0"/>
                </a:sp3d>
              </a:bodyPr>
              <a:lstStyle>
                <a:defPPr>
                  <a:defRPr lang="en-US"/>
                </a:defPPr>
                <a:lvl1pPr algn="ctr">
                  <a:defRPr sz="16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sz="1200" dirty="0">
                    <a:latin typeface="SamsungOne 400" panose="020B0503030303020204" pitchFamily="34" charset="0"/>
                    <a:ea typeface="SamsungOne 400" panose="020B0503030303020204" pitchFamily="34" charset="0"/>
                    <a:sym typeface="Symbol" panose="05050102010706020507" pitchFamily="18" charset="2"/>
                  </a:rPr>
                  <a:t>⇦ </a:t>
                </a:r>
                <a:r>
                  <a:rPr lang="en-US" sz="1200" dirty="0">
                    <a:latin typeface="SamsungOne 400" panose="020B0503030303020204" pitchFamily="34" charset="0"/>
                    <a:ea typeface="SamsungOne 400" panose="020B0503030303020204" pitchFamily="34" charset="0"/>
                  </a:rPr>
                  <a:t>Underfitting</a:t>
                </a:r>
              </a:p>
            </p:txBody>
          </p:sp>
          <p:sp>
            <p:nvSpPr>
              <p:cNvPr id="19" name="TextBox 18">
                <a:extLst>
                  <a:ext uri="{FF2B5EF4-FFF2-40B4-BE49-F238E27FC236}">
                    <a16:creationId xmlns:a16="http://schemas.microsoft.com/office/drawing/2014/main" id="{47094BB8-33FC-4F5A-B78C-DE85F4297E6F}"/>
                  </a:ext>
                </a:extLst>
              </p:cNvPr>
              <p:cNvSpPr txBox="1"/>
              <p:nvPr/>
            </p:nvSpPr>
            <p:spPr>
              <a:xfrm>
                <a:off x="7104284" y="2613719"/>
                <a:ext cx="1318557" cy="325868"/>
              </a:xfrm>
              <a:prstGeom prst="rect">
                <a:avLst/>
              </a:prstGeom>
              <a:noFill/>
            </p:spPr>
            <p:txBody>
              <a:bodyPr wrap="none" rtlCol="0">
                <a:spAutoFit/>
                <a:scene3d>
                  <a:camera prst="orthographicFront"/>
                  <a:lightRig rig="threePt" dir="t"/>
                </a:scene3d>
                <a:sp3d>
                  <a:bevelT w="0" h="6350"/>
                  <a:bevelB w="0" h="0"/>
                </a:sp3d>
              </a:bodyPr>
              <a:lstStyle>
                <a:defPPr>
                  <a:defRPr lang="en-US"/>
                </a:defPPr>
                <a:lvl1pPr algn="ctr">
                  <a:defRPr sz="16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sz="1200">
                    <a:latin typeface="SamsungOne 400" panose="020B0503030303020204" pitchFamily="34" charset="0"/>
                    <a:ea typeface="SamsungOne 400" panose="020B0503030303020204" pitchFamily="34" charset="0"/>
                  </a:rPr>
                  <a:t>Overfitting </a:t>
                </a:r>
                <a:r>
                  <a:rPr lang="en-US" sz="1200">
                    <a:latin typeface="SamsungOne 400" panose="020B0503030303020204" pitchFamily="34" charset="0"/>
                    <a:ea typeface="SamsungOne 400" panose="020B0503030303020204" pitchFamily="34" charset="0"/>
                    <a:sym typeface="Symbol" panose="05050102010706020507" pitchFamily="18" charset="2"/>
                  </a:rPr>
                  <a:t>⇨</a:t>
                </a:r>
                <a:endParaRPr lang="en-US" sz="1200" dirty="0">
                  <a:latin typeface="SamsungOne 400" panose="020B0503030303020204" pitchFamily="34" charset="0"/>
                  <a:ea typeface="SamsungOne 400" panose="020B0503030303020204" pitchFamily="34" charset="0"/>
                </a:endParaRPr>
              </a:p>
            </p:txBody>
          </p:sp>
          <p:sp>
            <p:nvSpPr>
              <p:cNvPr id="20" name="TextBox 19">
                <a:extLst>
                  <a:ext uri="{FF2B5EF4-FFF2-40B4-BE49-F238E27FC236}">
                    <a16:creationId xmlns:a16="http://schemas.microsoft.com/office/drawing/2014/main" id="{8F8B8C74-FCCE-4A32-8C83-183CAE7D612B}"/>
                  </a:ext>
                </a:extLst>
              </p:cNvPr>
              <p:cNvSpPr txBox="1"/>
              <p:nvPr/>
            </p:nvSpPr>
            <p:spPr>
              <a:xfrm>
                <a:off x="5559176" y="2577511"/>
                <a:ext cx="1235583" cy="398282"/>
              </a:xfrm>
              <a:prstGeom prst="rect">
                <a:avLst/>
              </a:prstGeom>
              <a:noFill/>
            </p:spPr>
            <p:txBody>
              <a:bodyPr wrap="non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pPr algn="ctr"/>
                <a:r>
                  <a:rPr lang="en-US" altLang="ko-KR" sz="1600" dirty="0"/>
                  <a:t>Optimum</a:t>
                </a:r>
                <a:endParaRPr lang="en-US" sz="1600" dirty="0"/>
              </a:p>
            </p:txBody>
          </p:sp>
          <p:sp>
            <p:nvSpPr>
              <p:cNvPr id="21" name="TextBox 20">
                <a:extLst>
                  <a:ext uri="{FF2B5EF4-FFF2-40B4-BE49-F238E27FC236}">
                    <a16:creationId xmlns:a16="http://schemas.microsoft.com/office/drawing/2014/main" id="{1F79FF66-DBC8-4C96-81CD-07E3C10A9D1F}"/>
                  </a:ext>
                </a:extLst>
              </p:cNvPr>
              <p:cNvSpPr txBox="1"/>
              <p:nvPr/>
            </p:nvSpPr>
            <p:spPr>
              <a:xfrm>
                <a:off x="8180614" y="3272610"/>
                <a:ext cx="3058886" cy="325868"/>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spcAft>
                    <a:spcPts val="600"/>
                  </a:spcAft>
                  <a:defRPr sz="1200">
                    <a:solidFill>
                      <a:srgbClr val="193EB0"/>
                    </a:solidFill>
                    <a:latin typeface="SamsungOne 700" panose="020B0803030303020204" pitchFamily="34" charset="0"/>
                    <a:ea typeface="SamsungOne 700" panose="020B0803030303020204" pitchFamily="34" charset="0"/>
                  </a:defRPr>
                </a:lvl1pPr>
              </a:lstStyle>
              <a:p>
                <a:r>
                  <a:rPr lang="en-US" altLang="ko-KR" dirty="0">
                    <a:solidFill>
                      <a:srgbClr val="FF0000"/>
                    </a:solidFill>
                  </a:rPr>
                  <a:t>Testing error (Out of sample)</a:t>
                </a:r>
                <a:endParaRPr lang="ko-KR" altLang="en-US" dirty="0">
                  <a:solidFill>
                    <a:srgbClr val="FF0000"/>
                  </a:solidFill>
                </a:endParaRPr>
              </a:p>
            </p:txBody>
          </p:sp>
          <p:sp>
            <p:nvSpPr>
              <p:cNvPr id="22" name="TextBox 21">
                <a:extLst>
                  <a:ext uri="{FF2B5EF4-FFF2-40B4-BE49-F238E27FC236}">
                    <a16:creationId xmlns:a16="http://schemas.microsoft.com/office/drawing/2014/main" id="{B43524CC-7561-40FC-A650-BD7B6E1441E5}"/>
                  </a:ext>
                </a:extLst>
              </p:cNvPr>
              <p:cNvSpPr txBox="1"/>
              <p:nvPr/>
            </p:nvSpPr>
            <p:spPr>
              <a:xfrm>
                <a:off x="8180614" y="5025854"/>
                <a:ext cx="3058886" cy="325868"/>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spcAft>
                    <a:spcPts val="600"/>
                  </a:spcAft>
                  <a:defRPr sz="1200">
                    <a:solidFill>
                      <a:srgbClr val="193EB0"/>
                    </a:solidFill>
                    <a:latin typeface="SamsungOne 700" panose="020B0803030303020204" pitchFamily="34" charset="0"/>
                    <a:ea typeface="SamsungOne 700" panose="020B0803030303020204" pitchFamily="34" charset="0"/>
                  </a:defRPr>
                </a:lvl1pPr>
              </a:lstStyle>
              <a:p>
                <a:r>
                  <a:rPr lang="en-US" altLang="ko-KR" dirty="0"/>
                  <a:t>Training error (In sample)</a:t>
                </a:r>
                <a:endParaRPr lang="ko-KR" altLang="en-US" dirty="0"/>
              </a:p>
            </p:txBody>
          </p:sp>
        </p:grpSp>
        <p:sp>
          <p:nvSpPr>
            <p:cNvPr id="16" name="TextBox 15">
              <a:extLst>
                <a:ext uri="{FF2B5EF4-FFF2-40B4-BE49-F238E27FC236}">
                  <a16:creationId xmlns:a16="http://schemas.microsoft.com/office/drawing/2014/main" id="{BF385D7A-D670-409B-A635-CE3B1FB0F494}"/>
                </a:ext>
              </a:extLst>
            </p:cNvPr>
            <p:cNvSpPr txBox="1"/>
            <p:nvPr/>
          </p:nvSpPr>
          <p:spPr>
            <a:xfrm>
              <a:off x="1046733" y="5488852"/>
              <a:ext cx="2429058" cy="760358"/>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spcAft>
                  <a:spcPts val="600"/>
                </a:spcAft>
                <a:defRPr sz="1200">
                  <a:solidFill>
                    <a:srgbClr val="193EB0"/>
                  </a:solidFill>
                  <a:latin typeface="SamsungOne 700" panose="020B0803030303020204" pitchFamily="34" charset="0"/>
                  <a:ea typeface="SamsungOne 700" panose="020B0803030303020204" pitchFamily="34" charset="0"/>
                </a:defRPr>
              </a:lvl1pPr>
            </a:lstStyle>
            <a:p>
              <a:r>
                <a:rPr lang="en-US" altLang="ko-KR" dirty="0"/>
                <a:t>(*) Complexity is usually controlled by the number of parameters.</a:t>
              </a:r>
              <a:endParaRPr lang="ko-KR" altLang="en-US" dirty="0"/>
            </a:p>
          </p:txBody>
        </p:sp>
      </p:grpSp>
    </p:spTree>
    <p:extLst>
      <p:ext uri="{BB962C8B-B14F-4D97-AF65-F5344CB8AC3E}">
        <p14:creationId xmlns:p14="http://schemas.microsoft.com/office/powerpoint/2010/main" val="20387975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2.1. Training and Testing in Machine Learning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Optimized machine learning model</a:t>
            </a:r>
          </a:p>
        </p:txBody>
      </p:sp>
      <p:sp>
        <p:nvSpPr>
          <p:cNvPr id="15" name="직사각형 14">
            <a:extLst>
              <a:ext uri="{FF2B5EF4-FFF2-40B4-BE49-F238E27FC236}">
                <a16:creationId xmlns:a16="http://schemas.microsoft.com/office/drawing/2014/main" id="{8E02D1CE-2859-45A1-90B6-A62349DC71E3}"/>
              </a:ext>
            </a:extLst>
          </p:cNvPr>
          <p:cNvSpPr/>
          <p:nvPr/>
        </p:nvSpPr>
        <p:spPr>
          <a:xfrm>
            <a:off x="671261" y="1700808"/>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Prediction performance should be good in both training and testing.</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Given a machine learning algorithm, there is a model with just enough complexity (*). </a:t>
            </a:r>
          </a:p>
        </p:txBody>
      </p:sp>
      <p:grpSp>
        <p:nvGrpSpPr>
          <p:cNvPr id="11" name="그룹 10">
            <a:extLst>
              <a:ext uri="{FF2B5EF4-FFF2-40B4-BE49-F238E27FC236}">
                <a16:creationId xmlns:a16="http://schemas.microsoft.com/office/drawing/2014/main" id="{FC83C7A9-1943-440C-AFFE-6B818CFA0D28}"/>
              </a:ext>
            </a:extLst>
          </p:cNvPr>
          <p:cNvGrpSpPr/>
          <p:nvPr/>
        </p:nvGrpSpPr>
        <p:grpSpPr>
          <a:xfrm>
            <a:off x="3970504" y="2528900"/>
            <a:ext cx="1961818" cy="2756336"/>
            <a:chOff x="5251102" y="3287049"/>
            <a:chExt cx="2049836" cy="2880000"/>
          </a:xfrm>
        </p:grpSpPr>
        <p:pic>
          <p:nvPicPr>
            <p:cNvPr id="12" name="그림 11">
              <a:extLst>
                <a:ext uri="{FF2B5EF4-FFF2-40B4-BE49-F238E27FC236}">
                  <a16:creationId xmlns:a16="http://schemas.microsoft.com/office/drawing/2014/main" id="{223A0DC6-E252-49E1-B35C-FE84214BD2E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51102" y="3287049"/>
              <a:ext cx="2049836" cy="2880000"/>
            </a:xfrm>
            <a:prstGeom prst="rect">
              <a:avLst/>
            </a:prstGeom>
            <a:ln w="6350">
              <a:solidFill>
                <a:srgbClr val="00B3E3"/>
              </a:solidFill>
            </a:ln>
          </p:spPr>
        </p:pic>
        <p:sp>
          <p:nvSpPr>
            <p:cNvPr id="13" name="TextBox 12">
              <a:extLst>
                <a:ext uri="{FF2B5EF4-FFF2-40B4-BE49-F238E27FC236}">
                  <a16:creationId xmlns:a16="http://schemas.microsoft.com/office/drawing/2014/main" id="{138CF78C-A35D-4770-A9A8-DC8981F003AB}"/>
                </a:ext>
              </a:extLst>
            </p:cNvPr>
            <p:cNvSpPr txBox="1"/>
            <p:nvPr/>
          </p:nvSpPr>
          <p:spPr>
            <a:xfrm>
              <a:off x="6073887" y="3501565"/>
              <a:ext cx="835661" cy="754053"/>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spcAft>
                  <a:spcPts val="600"/>
                </a:spcAft>
                <a:defRPr sz="1050">
                  <a:solidFill>
                    <a:schemeClr val="tx1">
                      <a:lumMod val="85000"/>
                      <a:lumOff val="15000"/>
                    </a:schemeClr>
                  </a:solidFill>
                  <a:latin typeface="SamsungOne 400" panose="020B0503030303020204" pitchFamily="34" charset="0"/>
                  <a:ea typeface="SamsungOne 400" panose="020B0503030303020204" pitchFamily="34" charset="0"/>
                </a:defRPr>
              </a:lvl1pPr>
            </a:lstStyle>
            <a:p>
              <a:pPr>
                <a:spcAft>
                  <a:spcPts val="900"/>
                </a:spcAft>
              </a:pPr>
              <a:r>
                <a:rPr lang="en-US" altLang="ko-KR" sz="1200" dirty="0"/>
                <a:t>Data</a:t>
              </a:r>
            </a:p>
            <a:p>
              <a:pPr>
                <a:spcAft>
                  <a:spcPts val="900"/>
                </a:spcAft>
              </a:pPr>
              <a:r>
                <a:rPr lang="en-US" altLang="ko-KR" sz="1200" dirty="0"/>
                <a:t>Predicted</a:t>
              </a:r>
            </a:p>
            <a:p>
              <a:pPr>
                <a:spcAft>
                  <a:spcPts val="900"/>
                </a:spcAft>
              </a:pPr>
              <a:r>
                <a:rPr lang="en-US" altLang="ko-KR" sz="1200" dirty="0"/>
                <a:t>Target</a:t>
              </a:r>
              <a:endParaRPr lang="ko-KR" altLang="en-US" sz="1200" dirty="0"/>
            </a:p>
          </p:txBody>
        </p:sp>
      </p:grpSp>
      <p:sp>
        <p:nvSpPr>
          <p:cNvPr id="14" name="TextBox 13">
            <a:extLst>
              <a:ext uri="{FF2B5EF4-FFF2-40B4-BE49-F238E27FC236}">
                <a16:creationId xmlns:a16="http://schemas.microsoft.com/office/drawing/2014/main" id="{4D2FA062-5D08-4613-825C-19666B1338BF}"/>
              </a:ext>
            </a:extLst>
          </p:cNvPr>
          <p:cNvSpPr txBox="1"/>
          <p:nvPr/>
        </p:nvSpPr>
        <p:spPr>
          <a:xfrm>
            <a:off x="1386600" y="4874385"/>
            <a:ext cx="2583904" cy="461665"/>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spcAft>
                <a:spcPts val="600"/>
              </a:spcAft>
              <a:defRPr sz="1200">
                <a:solidFill>
                  <a:srgbClr val="193EB0"/>
                </a:solidFill>
                <a:latin typeface="SamsungOne 700" panose="020B0803030303020204" pitchFamily="34" charset="0"/>
                <a:ea typeface="SamsungOne 700" panose="020B0803030303020204" pitchFamily="34" charset="0"/>
              </a:defRPr>
            </a:lvl1pPr>
          </a:lstStyle>
          <a:p>
            <a:r>
              <a:rPr lang="en-US" altLang="ko-KR" dirty="0"/>
              <a:t>(*) Complexity is usually controlled by the number of parameters.</a:t>
            </a:r>
            <a:endParaRPr lang="ko-KR" altLang="en-US" dirty="0"/>
          </a:p>
        </p:txBody>
      </p:sp>
    </p:spTree>
    <p:extLst>
      <p:ext uri="{BB962C8B-B14F-4D97-AF65-F5344CB8AC3E}">
        <p14:creationId xmlns:p14="http://schemas.microsoft.com/office/powerpoint/2010/main" val="322354386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2.1. Training and Testing in Machine Learning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Machine Learning Types</a:t>
            </a:r>
          </a:p>
        </p:txBody>
      </p:sp>
      <p:grpSp>
        <p:nvGrpSpPr>
          <p:cNvPr id="30" name="그룹 29">
            <a:extLst>
              <a:ext uri="{FF2B5EF4-FFF2-40B4-BE49-F238E27FC236}">
                <a16:creationId xmlns:a16="http://schemas.microsoft.com/office/drawing/2014/main" id="{AB085B7C-3638-4F88-8D2E-152C523B2DD1}"/>
              </a:ext>
            </a:extLst>
          </p:cNvPr>
          <p:cNvGrpSpPr/>
          <p:nvPr/>
        </p:nvGrpSpPr>
        <p:grpSpPr>
          <a:xfrm>
            <a:off x="1666608" y="2409427"/>
            <a:ext cx="6571765" cy="2553983"/>
            <a:chOff x="1692743" y="2241550"/>
            <a:chExt cx="6571765" cy="2553983"/>
          </a:xfrm>
        </p:grpSpPr>
        <p:sp>
          <p:nvSpPr>
            <p:cNvPr id="31" name="TextBox 30">
              <a:extLst>
                <a:ext uri="{FF2B5EF4-FFF2-40B4-BE49-F238E27FC236}">
                  <a16:creationId xmlns:a16="http://schemas.microsoft.com/office/drawing/2014/main" id="{ABAF9F83-13B7-4CBD-842E-ED17DD00BBD3}"/>
                </a:ext>
              </a:extLst>
            </p:cNvPr>
            <p:cNvSpPr txBox="1"/>
            <p:nvPr/>
          </p:nvSpPr>
          <p:spPr>
            <a:xfrm>
              <a:off x="1692743" y="3720936"/>
              <a:ext cx="2178307" cy="333218"/>
            </a:xfrm>
            <a:prstGeom prst="roundRect">
              <a:avLst>
                <a:gd name="adj" fmla="val 50000"/>
              </a:avLst>
            </a:prstGeom>
            <a:solidFill>
              <a:schemeClr val="bg1">
                <a:lumMod val="85000"/>
              </a:schemeClr>
            </a:solidFill>
          </p:spPr>
          <p:txBody>
            <a:bodyPr wrap="square" lIns="0" tIns="0" rIns="0" bIns="0" rtlCol="0" anchor="ctr">
              <a:noAutofit/>
              <a:scene3d>
                <a:camera prst="orthographicFront"/>
                <a:lightRig rig="threePt" dir="t"/>
              </a:scene3d>
              <a:sp3d>
                <a:bevelT w="0" h="6350"/>
              </a:sp3d>
            </a:bodyPr>
            <a:lstStyle>
              <a:defPPr>
                <a:defRPr lang="en-US"/>
              </a:defPPr>
              <a:lvl1pPr algn="ctr">
                <a:defRPr sz="16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dirty="0"/>
                <a:t>Numeric </a:t>
              </a:r>
              <a:r>
                <a:rPr lang="ko-KR" altLang="en-US" dirty="0"/>
                <a:t>𝑌</a:t>
              </a:r>
            </a:p>
          </p:txBody>
        </p:sp>
        <p:sp>
          <p:nvSpPr>
            <p:cNvPr id="32" name="TextBox 31">
              <a:extLst>
                <a:ext uri="{FF2B5EF4-FFF2-40B4-BE49-F238E27FC236}">
                  <a16:creationId xmlns:a16="http://schemas.microsoft.com/office/drawing/2014/main" id="{59E68893-B11A-4917-AEFD-93BF23065C67}"/>
                </a:ext>
              </a:extLst>
            </p:cNvPr>
            <p:cNvSpPr txBox="1"/>
            <p:nvPr/>
          </p:nvSpPr>
          <p:spPr>
            <a:xfrm>
              <a:off x="6020518" y="3720935"/>
              <a:ext cx="2178307" cy="333218"/>
            </a:xfrm>
            <a:prstGeom prst="roundRect">
              <a:avLst>
                <a:gd name="adj" fmla="val 50000"/>
              </a:avLst>
            </a:prstGeom>
            <a:solidFill>
              <a:schemeClr val="bg1">
                <a:lumMod val="85000"/>
              </a:schemeClr>
            </a:solidFill>
          </p:spPr>
          <p:txBody>
            <a:bodyPr wrap="square" lIns="0" tIns="0" rIns="0" bIns="0" rtlCol="0" anchor="ctr">
              <a:noAutofit/>
              <a:scene3d>
                <a:camera prst="orthographicFront"/>
                <a:lightRig rig="threePt" dir="t"/>
              </a:scene3d>
              <a:sp3d>
                <a:bevelT w="0" h="6350"/>
              </a:sp3d>
            </a:bodyPr>
            <a:lstStyle>
              <a:defPPr>
                <a:defRPr lang="en-US"/>
              </a:defPPr>
              <a:lvl1pPr algn="ctr">
                <a:defRPr sz="16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dirty="0"/>
                <a:t>Categorical </a:t>
              </a:r>
              <a:r>
                <a:rPr lang="ko-KR" altLang="en-US" dirty="0"/>
                <a:t>𝑌</a:t>
              </a:r>
            </a:p>
          </p:txBody>
        </p:sp>
        <p:grpSp>
          <p:nvGrpSpPr>
            <p:cNvPr id="33" name="Group 1">
              <a:extLst>
                <a:ext uri="{FF2B5EF4-FFF2-40B4-BE49-F238E27FC236}">
                  <a16:creationId xmlns:a16="http://schemas.microsoft.com/office/drawing/2014/main" id="{28A7DDB8-2D10-4173-8E77-9A8464E8578C}"/>
                </a:ext>
              </a:extLst>
            </p:cNvPr>
            <p:cNvGrpSpPr/>
            <p:nvPr/>
          </p:nvGrpSpPr>
          <p:grpSpPr>
            <a:xfrm>
              <a:off x="2781898" y="2241550"/>
              <a:ext cx="4327773" cy="1479385"/>
              <a:chOff x="2781898" y="2241550"/>
              <a:chExt cx="4327773" cy="1479385"/>
            </a:xfrm>
          </p:grpSpPr>
          <p:sp>
            <p:nvSpPr>
              <p:cNvPr id="36" name="TextBox 35">
                <a:extLst>
                  <a:ext uri="{FF2B5EF4-FFF2-40B4-BE49-F238E27FC236}">
                    <a16:creationId xmlns:a16="http://schemas.microsoft.com/office/drawing/2014/main" id="{E1B6D9E7-5BFF-472B-B9A5-6B1847CAC84A}"/>
                  </a:ext>
                </a:extLst>
              </p:cNvPr>
              <p:cNvSpPr txBox="1"/>
              <p:nvPr/>
            </p:nvSpPr>
            <p:spPr>
              <a:xfrm>
                <a:off x="4116137" y="2241550"/>
                <a:ext cx="1659296" cy="358775"/>
              </a:xfrm>
              <a:prstGeom prst="rect">
                <a:avLst/>
              </a:prstGeom>
              <a:solidFill>
                <a:srgbClr val="1429A0"/>
              </a:solidFill>
            </p:spPr>
            <p:txBody>
              <a:bodyPr wrap="square" lIns="0" tIns="0" rIns="0" bIns="0" rtlCol="0" anchor="ctr">
                <a:noAutofit/>
                <a:scene3d>
                  <a:camera prst="orthographicFront"/>
                  <a:lightRig rig="threePt" dir="t"/>
                </a:scene3d>
                <a:sp3d>
                  <a:bevelT w="0" h="6350"/>
                </a:sp3d>
              </a:bodyPr>
              <a:lstStyle>
                <a:defPPr>
                  <a:defRPr lang="en-US"/>
                </a:defPPr>
                <a:lvl1pPr algn="ctr">
                  <a:defRPr>
                    <a:solidFill>
                      <a:schemeClr val="bg1"/>
                    </a:solidFill>
                    <a:latin typeface="SamsungOne 700" panose="020B0803030303020204" pitchFamily="34" charset="0"/>
                    <a:ea typeface="SamsungOne 700" panose="020B0803030303020204" pitchFamily="34" charset="0"/>
                  </a:defRPr>
                </a:lvl1pPr>
              </a:lstStyle>
              <a:p>
                <a:r>
                  <a:rPr lang="en-US" altLang="ko-KR" dirty="0"/>
                  <a:t>Error Metric</a:t>
                </a:r>
              </a:p>
            </p:txBody>
          </p:sp>
          <p:cxnSp>
            <p:nvCxnSpPr>
              <p:cNvPr id="37" name="꺾인 연결선 30">
                <a:extLst>
                  <a:ext uri="{FF2B5EF4-FFF2-40B4-BE49-F238E27FC236}">
                    <a16:creationId xmlns:a16="http://schemas.microsoft.com/office/drawing/2014/main" id="{950611FE-87CA-4323-8CE1-26ED035E59F0}"/>
                  </a:ext>
                </a:extLst>
              </p:cNvPr>
              <p:cNvCxnSpPr>
                <a:cxnSpLocks/>
                <a:stCxn id="36" idx="2"/>
                <a:endCxn id="31" idx="0"/>
              </p:cNvCxnSpPr>
              <p:nvPr/>
            </p:nvCxnSpPr>
            <p:spPr>
              <a:xfrm rot="5400000">
                <a:off x="3303536" y="2078686"/>
                <a:ext cx="1120611" cy="2163888"/>
              </a:xfrm>
              <a:prstGeom prst="bentConnector3">
                <a:avLst>
                  <a:gd name="adj1" fmla="val 50000"/>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꺾인 연결선 31">
                <a:extLst>
                  <a:ext uri="{FF2B5EF4-FFF2-40B4-BE49-F238E27FC236}">
                    <a16:creationId xmlns:a16="http://schemas.microsoft.com/office/drawing/2014/main" id="{57F72AD7-B043-4490-92C4-811661D9CC4B}"/>
                  </a:ext>
                </a:extLst>
              </p:cNvPr>
              <p:cNvCxnSpPr>
                <a:cxnSpLocks/>
                <a:stCxn id="36" idx="2"/>
                <a:endCxn id="32" idx="0"/>
              </p:cNvCxnSpPr>
              <p:nvPr/>
            </p:nvCxnSpPr>
            <p:spPr>
              <a:xfrm rot="16200000" flipH="1">
                <a:off x="5467423" y="2078686"/>
                <a:ext cx="1120610" cy="2163887"/>
              </a:xfrm>
              <a:prstGeom prst="bentConnector3">
                <a:avLst>
                  <a:gd name="adj1" fmla="val 50000"/>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34" name="Rectangle 33">
              <a:extLst>
                <a:ext uri="{FF2B5EF4-FFF2-40B4-BE49-F238E27FC236}">
                  <a16:creationId xmlns:a16="http://schemas.microsoft.com/office/drawing/2014/main" id="{229219D7-2E19-4BDD-BD49-8261402DF901}"/>
                </a:ext>
              </a:extLst>
            </p:cNvPr>
            <p:cNvSpPr/>
            <p:nvPr/>
          </p:nvSpPr>
          <p:spPr>
            <a:xfrm>
              <a:off x="1902679" y="4395423"/>
              <a:ext cx="1758434" cy="400110"/>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MSE, MAE, RMSE, Correlation, etc.</a:t>
              </a:r>
            </a:p>
          </p:txBody>
        </p:sp>
        <p:sp>
          <p:nvSpPr>
            <p:cNvPr id="35" name="Rectangle 43">
              <a:extLst>
                <a:ext uri="{FF2B5EF4-FFF2-40B4-BE49-F238E27FC236}">
                  <a16:creationId xmlns:a16="http://schemas.microsoft.com/office/drawing/2014/main" id="{0E13FB59-1FB6-4E22-9ED4-EA44A6D22904}"/>
                </a:ext>
              </a:extLst>
            </p:cNvPr>
            <p:cNvSpPr/>
            <p:nvPr/>
          </p:nvSpPr>
          <p:spPr>
            <a:xfrm>
              <a:off x="5954833" y="4395423"/>
              <a:ext cx="2309675" cy="400110"/>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Accuracy, Precision, Recall, Specificity, etc.</a:t>
              </a:r>
            </a:p>
          </p:txBody>
        </p:sp>
      </p:grpSp>
    </p:spTree>
    <p:extLst>
      <p:ext uri="{BB962C8B-B14F-4D97-AF65-F5344CB8AC3E}">
        <p14:creationId xmlns:p14="http://schemas.microsoft.com/office/powerpoint/2010/main" val="7632461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88522452-0F25-4CFF-B4F1-4F97F94CF66D}"/>
              </a:ext>
            </a:extLst>
          </p:cNvPr>
          <p:cNvSpPr/>
          <p:nvPr/>
        </p:nvSpPr>
        <p:spPr>
          <a:xfrm>
            <a:off x="1054111" y="4364850"/>
            <a:ext cx="7317681" cy="1897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fontAlgn="base">
              <a:lnSpc>
                <a:spcPct val="100000"/>
              </a:lnSpc>
              <a:spcBef>
                <a:spcPct val="0"/>
              </a:spcBef>
              <a:spcAft>
                <a:spcPts val="1000"/>
              </a:spcAft>
              <a:buClrTx/>
              <a:buSzPct val="120000"/>
              <a:buBlip>
                <a:blip r:embed="rId3"/>
              </a:buBlip>
              <a:tabLst/>
              <a:defRPr/>
            </a:pPr>
            <a:r>
              <a:rPr lang="en-US" altLang="ko-KR" dirty="0">
                <a:solidFill>
                  <a:srgbClr val="A6A6A6"/>
                </a:solidFill>
                <a:latin typeface="SamsungOne 400" panose="020B0503030303020204" pitchFamily="34" charset="0"/>
                <a:ea typeface="SamsungOne 400" panose="020B0503030303020204" pitchFamily="34" charset="0"/>
              </a:rPr>
              <a:t>2.1. Training and Testing in Machine Learning</a:t>
            </a: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2.2. Linear Regression Basics</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2.3. Linear Regression Diagnostics</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2.4. Other Regression Types</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2.5. Practicing the Supervised Learning Model for Numerical Prediction</a:t>
            </a:r>
            <a:endParaRPr lang="ko-KR" altLang="en-US" dirty="0">
              <a:solidFill>
                <a:srgbClr val="A6A6A6"/>
              </a:solidFill>
              <a:latin typeface="SamsungOne 400" panose="020B0503030303020204" pitchFamily="34" charset="0"/>
              <a:ea typeface="SamsungOne 400" panose="020B0503030303020204" pitchFamily="34" charset="0"/>
            </a:endParaRP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2.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7" name="직사각형 133">
            <a:extLst>
              <a:ext uri="{FF2B5EF4-FFF2-40B4-BE49-F238E27FC236}">
                <a16:creationId xmlns:a16="http://schemas.microsoft.com/office/drawing/2014/main" id="{551F01E8-8777-4A7B-AD71-63E7C805C68C}"/>
              </a:ext>
            </a:extLst>
          </p:cNvPr>
          <p:cNvSpPr/>
          <p:nvPr/>
        </p:nvSpPr>
        <p:spPr>
          <a:xfrm>
            <a:off x="989683" y="3191956"/>
            <a:ext cx="8462229" cy="9848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Application of Supervised Learning Model for</a:t>
            </a:r>
            <a:r>
              <a:rPr kumimoji="1" lang="ko-KR" altLang="en-US" sz="3200" dirty="0">
                <a:solidFill>
                  <a:prstClr val="black"/>
                </a:solidFill>
                <a:latin typeface="Samsung Sharp Sans" pitchFamily="2" charset="0"/>
                <a:ea typeface="맑은 고딕" panose="020B0503020000020004" pitchFamily="50" charset="-127"/>
                <a:cs typeface="Samsung Sharp Sans" pitchFamily="2" charset="0"/>
              </a:rPr>
              <a:t> </a:t>
            </a: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Numerical Prediction</a:t>
            </a:r>
            <a:r>
              <a:rPr kumimoji="1" lang="ko-KR" altLang="en-US" sz="3200" dirty="0">
                <a:solidFill>
                  <a:prstClr val="black"/>
                </a:solidFill>
                <a:latin typeface="Samsung Sharp Sans" pitchFamily="2" charset="0"/>
                <a:ea typeface="맑은 고딕" panose="020B0503020000020004" pitchFamily="50" charset="-127"/>
                <a:cs typeface="Samsung Sharp Sans" pitchFamily="2" charset="0"/>
              </a:rPr>
              <a:t> </a:t>
            </a:r>
          </a:p>
        </p:txBody>
      </p:sp>
    </p:spTree>
    <p:extLst>
      <p:ext uri="{BB962C8B-B14F-4D97-AF65-F5344CB8AC3E}">
        <p14:creationId xmlns:p14="http://schemas.microsoft.com/office/powerpoint/2010/main" val="360160374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Linear Regression Basics</a:t>
            </a:r>
          </a:p>
        </p:txBody>
      </p:sp>
      <p:sp>
        <p:nvSpPr>
          <p:cNvPr id="37" name="Rectangle 43">
            <a:extLst>
              <a:ext uri="{FF2B5EF4-FFF2-40B4-BE49-F238E27FC236}">
                <a16:creationId xmlns:a16="http://schemas.microsoft.com/office/drawing/2014/main" id="{85C673A6-29D8-45F5-BEED-5AE4619CA957}"/>
              </a:ext>
            </a:extLst>
          </p:cNvPr>
          <p:cNvSpPr/>
          <p:nvPr/>
        </p:nvSpPr>
        <p:spPr>
          <a:xfrm>
            <a:off x="5408975" y="3867540"/>
            <a:ext cx="3528392" cy="200055"/>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300" dirty="0">
                <a:solidFill>
                  <a:schemeClr val="tx1">
                    <a:lumMod val="85000"/>
                    <a:lumOff val="15000"/>
                  </a:schemeClr>
                </a:solidFill>
                <a:latin typeface="SamsungOne 700" panose="020B0803030303020204" pitchFamily="34" charset="0"/>
                <a:ea typeface="SamsungOne 700" panose="020B0803030303020204" pitchFamily="34" charset="0"/>
              </a:rPr>
              <a:t> Y = </a:t>
            </a:r>
            <a:r>
              <a:rPr lang="en-US" altLang="ko-KR" sz="1300" dirty="0">
                <a:solidFill>
                  <a:srgbClr val="FF0000"/>
                </a:solidFill>
                <a:latin typeface="SamsungOne 700" panose="020B0803030303020204" pitchFamily="34" charset="0"/>
                <a:ea typeface="SamsungOne 700" panose="020B0803030303020204" pitchFamily="34" charset="0"/>
              </a:rPr>
              <a:t>red</a:t>
            </a:r>
            <a:r>
              <a:rPr lang="en-US" altLang="ko-KR" sz="1300" dirty="0">
                <a:solidFill>
                  <a:schemeClr val="tx1">
                    <a:lumMod val="85000"/>
                    <a:lumOff val="15000"/>
                  </a:schemeClr>
                </a:solidFill>
                <a:latin typeface="SamsungOne 700" panose="020B0803030303020204" pitchFamily="34" charset="0"/>
                <a:ea typeface="SamsungOne 700" panose="020B0803030303020204" pitchFamily="34" charset="0"/>
              </a:rPr>
              <a:t>,</a:t>
            </a:r>
            <a:r>
              <a:rPr lang="en-US" altLang="ko-KR" sz="1300" dirty="0">
                <a:solidFill>
                  <a:srgbClr val="FF0000"/>
                </a:solidFill>
                <a:latin typeface="SamsungOne 700" panose="020B0803030303020204" pitchFamily="34" charset="0"/>
                <a:ea typeface="SamsungOne 700" panose="020B0803030303020204" pitchFamily="34" charset="0"/>
              </a:rPr>
              <a:t> </a:t>
            </a:r>
            <a:r>
              <a:rPr lang="en-US" altLang="ko-KR" sz="1300" dirty="0">
                <a:solidFill>
                  <a:srgbClr val="00B050"/>
                </a:solidFill>
                <a:latin typeface="SamsungOne 700" panose="020B0803030303020204" pitchFamily="34" charset="0"/>
                <a:ea typeface="SamsungOne 700" panose="020B0803030303020204" pitchFamily="34" charset="0"/>
              </a:rPr>
              <a:t>green</a:t>
            </a:r>
            <a:r>
              <a:rPr lang="en-US" altLang="ko-KR" sz="1300" dirty="0">
                <a:solidFill>
                  <a:schemeClr val="tx1">
                    <a:lumMod val="85000"/>
                    <a:lumOff val="15000"/>
                  </a:schemeClr>
                </a:solidFill>
                <a:latin typeface="SamsungOne 700" panose="020B0803030303020204" pitchFamily="34" charset="0"/>
                <a:ea typeface="SamsungOne 700" panose="020B0803030303020204" pitchFamily="34" charset="0"/>
              </a:rPr>
              <a:t>, </a:t>
            </a:r>
            <a:r>
              <a:rPr lang="en-US" altLang="ko-KR" sz="1300" dirty="0">
                <a:solidFill>
                  <a:srgbClr val="193EB0"/>
                </a:solidFill>
                <a:latin typeface="SamsungOne 700" panose="020B0803030303020204" pitchFamily="34" charset="0"/>
                <a:ea typeface="SamsungOne 700" panose="020B0803030303020204" pitchFamily="34" charset="0"/>
              </a:rPr>
              <a:t>blue</a:t>
            </a:r>
            <a:r>
              <a:rPr lang="en-US" altLang="ko-KR" sz="1300" dirty="0">
                <a:solidFill>
                  <a:schemeClr val="tx1">
                    <a:lumMod val="85000"/>
                    <a:lumOff val="15000"/>
                  </a:schemeClr>
                </a:solidFill>
                <a:latin typeface="SamsungOne 700" panose="020B0803030303020204" pitchFamily="34" charset="0"/>
                <a:ea typeface="SamsungOne 700" panose="020B0803030303020204" pitchFamily="34" charset="0"/>
              </a:rPr>
              <a:t>, ….. </a:t>
            </a:r>
          </a:p>
        </p:txBody>
      </p:sp>
      <p:grpSp>
        <p:nvGrpSpPr>
          <p:cNvPr id="4" name="그룹 3">
            <a:extLst>
              <a:ext uri="{FF2B5EF4-FFF2-40B4-BE49-F238E27FC236}">
                <a16:creationId xmlns:a16="http://schemas.microsoft.com/office/drawing/2014/main" id="{07649491-0791-4BD1-AD46-3CE612BBD5FA}"/>
              </a:ext>
            </a:extLst>
          </p:cNvPr>
          <p:cNvGrpSpPr/>
          <p:nvPr/>
        </p:nvGrpSpPr>
        <p:grpSpPr>
          <a:xfrm>
            <a:off x="1253824" y="1906985"/>
            <a:ext cx="6945001" cy="3816350"/>
            <a:chOff x="1253824" y="1906985"/>
            <a:chExt cx="6945001" cy="3816350"/>
          </a:xfrm>
        </p:grpSpPr>
        <p:sp>
          <p:nvSpPr>
            <p:cNvPr id="30" name="TextBox 29">
              <a:extLst>
                <a:ext uri="{FF2B5EF4-FFF2-40B4-BE49-F238E27FC236}">
                  <a16:creationId xmlns:a16="http://schemas.microsoft.com/office/drawing/2014/main" id="{F2CCC7A4-2A88-4609-872F-B8B2E41A0EEC}"/>
                </a:ext>
              </a:extLst>
            </p:cNvPr>
            <p:cNvSpPr txBox="1"/>
            <p:nvPr/>
          </p:nvSpPr>
          <p:spPr>
            <a:xfrm>
              <a:off x="3691273" y="1906985"/>
              <a:ext cx="2509024" cy="358775"/>
            </a:xfrm>
            <a:prstGeom prst="rect">
              <a:avLst/>
            </a:prstGeom>
            <a:solidFill>
              <a:srgbClr val="1429A0"/>
            </a:solidFill>
          </p:spPr>
          <p:txBody>
            <a:bodyPr wrap="square" lIns="0" tIns="0" rIns="0" bIns="0" rtlCol="0" anchor="ctr">
              <a:noAutofit/>
              <a:scene3d>
                <a:camera prst="orthographicFront"/>
                <a:lightRig rig="threePt" dir="t"/>
              </a:scene3d>
              <a:sp3d>
                <a:bevelT w="0" h="6350"/>
              </a:sp3d>
            </a:bodyPr>
            <a:lstStyle>
              <a:defPPr>
                <a:defRPr lang="en-US"/>
              </a:defPPr>
              <a:lvl1pPr algn="ctr">
                <a:defRPr>
                  <a:solidFill>
                    <a:schemeClr val="bg1"/>
                  </a:solidFill>
                  <a:latin typeface="SamsungOne 700" panose="020B0803030303020204" pitchFamily="34" charset="0"/>
                  <a:ea typeface="SamsungOne 700" panose="020B0803030303020204" pitchFamily="34" charset="0"/>
                </a:defRPr>
              </a:lvl1pPr>
            </a:lstStyle>
            <a:p>
              <a:r>
                <a:rPr lang="en-US" altLang="ko-KR" dirty="0"/>
                <a:t>Supervised Learning</a:t>
              </a:r>
            </a:p>
          </p:txBody>
        </p:sp>
        <p:sp>
          <p:nvSpPr>
            <p:cNvPr id="31" name="TextBox 30">
              <a:extLst>
                <a:ext uri="{FF2B5EF4-FFF2-40B4-BE49-F238E27FC236}">
                  <a16:creationId xmlns:a16="http://schemas.microsoft.com/office/drawing/2014/main" id="{47FA25A5-F64C-424D-9FA6-4FACE3019C76}"/>
                </a:ext>
              </a:extLst>
            </p:cNvPr>
            <p:cNvSpPr txBox="1"/>
            <p:nvPr/>
          </p:nvSpPr>
          <p:spPr>
            <a:xfrm>
              <a:off x="1692743" y="3304634"/>
              <a:ext cx="2178307" cy="333218"/>
            </a:xfrm>
            <a:prstGeom prst="roundRect">
              <a:avLst>
                <a:gd name="adj" fmla="val 50000"/>
              </a:avLst>
            </a:prstGeom>
            <a:solidFill>
              <a:srgbClr val="1429A0"/>
            </a:solidFill>
          </p:spPr>
          <p:txBody>
            <a:bodyPr wrap="square" lIns="0" tIns="0" rIns="0" bIns="0" rtlCol="0" anchor="ctr">
              <a:noAutofit/>
              <a:scene3d>
                <a:camera prst="orthographicFront"/>
                <a:lightRig rig="threePt" dir="t"/>
              </a:scene3d>
              <a:sp3d>
                <a:bevelT w="0" h="6350"/>
              </a:sp3d>
            </a:bodyPr>
            <a:lstStyle>
              <a:defPPr>
                <a:defRPr lang="en-US"/>
              </a:defPPr>
              <a:lvl1pPr algn="ctr">
                <a:defRPr sz="1400">
                  <a:solidFill>
                    <a:schemeClr val="bg1"/>
                  </a:solidFill>
                  <a:latin typeface="SamsungOne 700" panose="020B0803030303020204" pitchFamily="34" charset="0"/>
                  <a:ea typeface="SamsungOne 700" panose="020B0803030303020204" pitchFamily="34" charset="0"/>
                </a:defRPr>
              </a:lvl1pPr>
            </a:lstStyle>
            <a:p>
              <a:r>
                <a:rPr lang="en-US" altLang="ko-KR" sz="1300" dirty="0"/>
                <a:t>Numeric </a:t>
              </a:r>
              <a:r>
                <a:rPr lang="ko-KR" altLang="en-US" sz="1300" dirty="0"/>
                <a:t>𝑌</a:t>
              </a:r>
            </a:p>
          </p:txBody>
        </p:sp>
        <p:sp>
          <p:nvSpPr>
            <p:cNvPr id="32" name="TextBox 31">
              <a:extLst>
                <a:ext uri="{FF2B5EF4-FFF2-40B4-BE49-F238E27FC236}">
                  <a16:creationId xmlns:a16="http://schemas.microsoft.com/office/drawing/2014/main" id="{F78FC74A-4B72-4579-9E06-269F66F16D01}"/>
                </a:ext>
              </a:extLst>
            </p:cNvPr>
            <p:cNvSpPr txBox="1"/>
            <p:nvPr/>
          </p:nvSpPr>
          <p:spPr>
            <a:xfrm>
              <a:off x="6020518" y="3304633"/>
              <a:ext cx="2178307" cy="333218"/>
            </a:xfrm>
            <a:prstGeom prst="roundRect">
              <a:avLst>
                <a:gd name="adj" fmla="val 50000"/>
              </a:avLst>
            </a:prstGeom>
            <a:solidFill>
              <a:schemeClr val="bg1">
                <a:lumMod val="85000"/>
              </a:schemeClr>
            </a:solidFill>
          </p:spPr>
          <p:txBody>
            <a:bodyPr wrap="square" lIns="0" tIns="0" rIns="0" bIns="0" rtlCol="0" anchor="ctr">
              <a:noAutofit/>
              <a:scene3d>
                <a:camera prst="orthographicFront"/>
                <a:lightRig rig="threePt" dir="t"/>
              </a:scene3d>
              <a:sp3d>
                <a:bevelT w="0" h="6350"/>
              </a:sp3d>
            </a:bodyPr>
            <a:lstStyle>
              <a:defPPr>
                <a:defRPr lang="en-US"/>
              </a:defPPr>
              <a:lvl1pPr algn="ctr">
                <a:defRPr sz="1100">
                  <a:solidFill>
                    <a:schemeClr val="bg1"/>
                  </a:solidFill>
                  <a:latin typeface="SamsungOne 700" panose="020B0803030303020204" pitchFamily="34" charset="0"/>
                  <a:ea typeface="SamsungOne 700" panose="020B0803030303020204" pitchFamily="34" charset="0"/>
                </a:defRPr>
              </a:lvl1pPr>
            </a:lstStyle>
            <a:p>
              <a:r>
                <a:rPr lang="en-US" altLang="ko-KR" sz="1300" dirty="0">
                  <a:solidFill>
                    <a:schemeClr val="tx1">
                      <a:lumMod val="85000"/>
                      <a:lumOff val="15000"/>
                    </a:schemeClr>
                  </a:solidFill>
                </a:rPr>
                <a:t>Categorical </a:t>
              </a:r>
              <a:r>
                <a:rPr lang="ko-KR" altLang="en-US" sz="1300" dirty="0">
                  <a:solidFill>
                    <a:schemeClr val="tx1">
                      <a:lumMod val="85000"/>
                      <a:lumOff val="15000"/>
                    </a:schemeClr>
                  </a:solidFill>
                </a:rPr>
                <a:t>𝑌</a:t>
              </a:r>
            </a:p>
          </p:txBody>
        </p:sp>
        <p:cxnSp>
          <p:nvCxnSpPr>
            <p:cNvPr id="33" name="꺾인 연결선 75">
              <a:extLst>
                <a:ext uri="{FF2B5EF4-FFF2-40B4-BE49-F238E27FC236}">
                  <a16:creationId xmlns:a16="http://schemas.microsoft.com/office/drawing/2014/main" id="{708E917E-234F-4ECF-857B-5F830CE09461}"/>
                </a:ext>
              </a:extLst>
            </p:cNvPr>
            <p:cNvCxnSpPr>
              <a:cxnSpLocks/>
              <a:stCxn id="30" idx="2"/>
              <a:endCxn id="31" idx="0"/>
            </p:cNvCxnSpPr>
            <p:nvPr/>
          </p:nvCxnSpPr>
          <p:spPr>
            <a:xfrm rot="5400000">
              <a:off x="3344404" y="1703253"/>
              <a:ext cx="1038874" cy="2163888"/>
            </a:xfrm>
            <a:prstGeom prst="bentConnector3">
              <a:avLst>
                <a:gd name="adj1" fmla="val 50000"/>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꺾인 연결선 76">
              <a:extLst>
                <a:ext uri="{FF2B5EF4-FFF2-40B4-BE49-F238E27FC236}">
                  <a16:creationId xmlns:a16="http://schemas.microsoft.com/office/drawing/2014/main" id="{1941A1E8-3B5A-4055-BB98-96E4F3CE601C}"/>
                </a:ext>
              </a:extLst>
            </p:cNvPr>
            <p:cNvCxnSpPr>
              <a:cxnSpLocks/>
              <a:stCxn id="30" idx="2"/>
              <a:endCxn id="32" idx="0"/>
            </p:cNvCxnSpPr>
            <p:nvPr/>
          </p:nvCxnSpPr>
          <p:spPr>
            <a:xfrm rot="16200000" flipH="1">
              <a:off x="5508292" y="1703252"/>
              <a:ext cx="1038873" cy="2163887"/>
            </a:xfrm>
            <a:prstGeom prst="bentConnector3">
              <a:avLst>
                <a:gd name="adj1" fmla="val 50000"/>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사각형: 둥근 모서리 31">
              <a:extLst>
                <a:ext uri="{FF2B5EF4-FFF2-40B4-BE49-F238E27FC236}">
                  <a16:creationId xmlns:a16="http://schemas.microsoft.com/office/drawing/2014/main" id="{E2D1F107-D3C8-4E7E-8CD3-CE26A28CD1A8}"/>
                </a:ext>
              </a:extLst>
            </p:cNvPr>
            <p:cNvSpPr/>
            <p:nvPr/>
          </p:nvSpPr>
          <p:spPr>
            <a:xfrm>
              <a:off x="1464652" y="3114072"/>
              <a:ext cx="2644388" cy="2609263"/>
            </a:xfrm>
            <a:prstGeom prst="roundRect">
              <a:avLst>
                <a:gd name="adj" fmla="val 5278"/>
              </a:avLst>
            </a:prstGeom>
            <a:noFill/>
            <a:ln>
              <a:solidFill>
                <a:srgbClr val="1D48D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Rectangle 33">
              <a:extLst>
                <a:ext uri="{FF2B5EF4-FFF2-40B4-BE49-F238E27FC236}">
                  <a16:creationId xmlns:a16="http://schemas.microsoft.com/office/drawing/2014/main" id="{6D5D5C59-4369-4777-8CC8-0CD4AED008B5}"/>
                </a:ext>
              </a:extLst>
            </p:cNvPr>
            <p:cNvSpPr/>
            <p:nvPr/>
          </p:nvSpPr>
          <p:spPr>
            <a:xfrm>
              <a:off x="1253824" y="3867540"/>
              <a:ext cx="3160553" cy="200055"/>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300" dirty="0">
                  <a:solidFill>
                    <a:schemeClr val="tx1">
                      <a:lumMod val="85000"/>
                      <a:lumOff val="15000"/>
                    </a:schemeClr>
                  </a:solidFill>
                  <a:latin typeface="SamsungOne 700" panose="020B0803030303020204" pitchFamily="34" charset="0"/>
                  <a:ea typeface="SamsungOne 700" panose="020B0803030303020204" pitchFamily="34" charset="0"/>
                </a:rPr>
                <a:t> Y = 13.45, 73, 9.5, ….. </a:t>
              </a:r>
            </a:p>
          </p:txBody>
        </p:sp>
        <p:grpSp>
          <p:nvGrpSpPr>
            <p:cNvPr id="38" name="그룹 37">
              <a:extLst>
                <a:ext uri="{FF2B5EF4-FFF2-40B4-BE49-F238E27FC236}">
                  <a16:creationId xmlns:a16="http://schemas.microsoft.com/office/drawing/2014/main" id="{9411D310-B246-4C7E-A5E3-017C531D5705}"/>
                </a:ext>
              </a:extLst>
            </p:cNvPr>
            <p:cNvGrpSpPr/>
            <p:nvPr/>
          </p:nvGrpSpPr>
          <p:grpSpPr>
            <a:xfrm>
              <a:off x="2081807" y="4186536"/>
              <a:ext cx="1294994" cy="1296347"/>
              <a:chOff x="2081807" y="4521101"/>
              <a:chExt cx="1294994" cy="1296347"/>
            </a:xfrm>
          </p:grpSpPr>
          <p:grpSp>
            <p:nvGrpSpPr>
              <p:cNvPr id="39" name="Group 16">
                <a:extLst>
                  <a:ext uri="{FF2B5EF4-FFF2-40B4-BE49-F238E27FC236}">
                    <a16:creationId xmlns:a16="http://schemas.microsoft.com/office/drawing/2014/main" id="{022EE111-8B30-4BF2-9714-F375B173D981}"/>
                  </a:ext>
                </a:extLst>
              </p:cNvPr>
              <p:cNvGrpSpPr/>
              <p:nvPr/>
            </p:nvGrpSpPr>
            <p:grpSpPr>
              <a:xfrm>
                <a:off x="2081807" y="4521101"/>
                <a:ext cx="1294994" cy="1296347"/>
                <a:chOff x="2711624" y="4864968"/>
                <a:chExt cx="1011248" cy="1012304"/>
              </a:xfrm>
            </p:grpSpPr>
            <p:cxnSp>
              <p:nvCxnSpPr>
                <p:cNvPr id="46" name="Straight Arrow Connector 7">
                  <a:extLst>
                    <a:ext uri="{FF2B5EF4-FFF2-40B4-BE49-F238E27FC236}">
                      <a16:creationId xmlns:a16="http://schemas.microsoft.com/office/drawing/2014/main" id="{C3C4130E-DDC3-47EC-8398-548C1123FEB2}"/>
                    </a:ext>
                  </a:extLst>
                </p:cNvPr>
                <p:cNvCxnSpPr/>
                <p:nvPr/>
              </p:nvCxnSpPr>
              <p:spPr>
                <a:xfrm>
                  <a:off x="2711624" y="5877272"/>
                  <a:ext cx="1011248" cy="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22">
                  <a:extLst>
                    <a:ext uri="{FF2B5EF4-FFF2-40B4-BE49-F238E27FC236}">
                      <a16:creationId xmlns:a16="http://schemas.microsoft.com/office/drawing/2014/main" id="{30E255EE-C6FC-4997-94D1-0D4D6C814807}"/>
                    </a:ext>
                  </a:extLst>
                </p:cNvPr>
                <p:cNvCxnSpPr/>
                <p:nvPr/>
              </p:nvCxnSpPr>
              <p:spPr>
                <a:xfrm flipH="1" flipV="1">
                  <a:off x="2711624" y="4864968"/>
                  <a:ext cx="0" cy="1012304"/>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40" name="Straight Connector 19">
                <a:extLst>
                  <a:ext uri="{FF2B5EF4-FFF2-40B4-BE49-F238E27FC236}">
                    <a16:creationId xmlns:a16="http://schemas.microsoft.com/office/drawing/2014/main" id="{23DD4C07-1801-4A91-B291-C3F74D67EDEF}"/>
                  </a:ext>
                </a:extLst>
              </p:cNvPr>
              <p:cNvCxnSpPr/>
              <p:nvPr/>
            </p:nvCxnSpPr>
            <p:spPr>
              <a:xfrm flipV="1">
                <a:off x="2177410" y="4889567"/>
                <a:ext cx="1131012" cy="828685"/>
              </a:xfrm>
              <a:prstGeom prst="line">
                <a:avLst/>
              </a:prstGeom>
              <a:ln w="19050">
                <a:solidFill>
                  <a:srgbClr val="00B050">
                    <a:alpha val="50000"/>
                  </a:srgbClr>
                </a:solidFill>
              </a:ln>
            </p:spPr>
            <p:style>
              <a:lnRef idx="1">
                <a:schemeClr val="accent1"/>
              </a:lnRef>
              <a:fillRef idx="0">
                <a:schemeClr val="accent1"/>
              </a:fillRef>
              <a:effectRef idx="0">
                <a:schemeClr val="accent1"/>
              </a:effectRef>
              <a:fontRef idx="minor">
                <a:schemeClr val="tx1"/>
              </a:fontRef>
            </p:style>
          </p:cxnSp>
          <p:sp>
            <p:nvSpPr>
              <p:cNvPr id="41" name="Oval 24">
                <a:extLst>
                  <a:ext uri="{FF2B5EF4-FFF2-40B4-BE49-F238E27FC236}">
                    <a16:creationId xmlns:a16="http://schemas.microsoft.com/office/drawing/2014/main" id="{8EE33546-D2FD-4374-818A-94964E8BF0EF}"/>
                  </a:ext>
                </a:extLst>
              </p:cNvPr>
              <p:cNvSpPr/>
              <p:nvPr/>
            </p:nvSpPr>
            <p:spPr>
              <a:xfrm>
                <a:off x="2338133" y="5376574"/>
                <a:ext cx="108000" cy="108000"/>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31">
                <a:extLst>
                  <a:ext uri="{FF2B5EF4-FFF2-40B4-BE49-F238E27FC236}">
                    <a16:creationId xmlns:a16="http://schemas.microsoft.com/office/drawing/2014/main" id="{0764B72C-ECFC-46DD-9126-206359AACF18}"/>
                  </a:ext>
                </a:extLst>
              </p:cNvPr>
              <p:cNvSpPr/>
              <p:nvPr/>
            </p:nvSpPr>
            <p:spPr>
              <a:xfrm>
                <a:off x="2683250" y="5327533"/>
                <a:ext cx="108000" cy="108000"/>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34">
                <a:extLst>
                  <a:ext uri="{FF2B5EF4-FFF2-40B4-BE49-F238E27FC236}">
                    <a16:creationId xmlns:a16="http://schemas.microsoft.com/office/drawing/2014/main" id="{3BAEC9AD-5015-4151-B71E-56D69467C25F}"/>
                  </a:ext>
                </a:extLst>
              </p:cNvPr>
              <p:cNvSpPr/>
              <p:nvPr/>
            </p:nvSpPr>
            <p:spPr>
              <a:xfrm>
                <a:off x="2845461" y="5122781"/>
                <a:ext cx="108000" cy="108000"/>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35">
                <a:extLst>
                  <a:ext uri="{FF2B5EF4-FFF2-40B4-BE49-F238E27FC236}">
                    <a16:creationId xmlns:a16="http://schemas.microsoft.com/office/drawing/2014/main" id="{B3F0DEF2-A70E-4CA5-9AEF-3792F200727E}"/>
                  </a:ext>
                </a:extLst>
              </p:cNvPr>
              <p:cNvSpPr/>
              <p:nvPr/>
            </p:nvSpPr>
            <p:spPr>
              <a:xfrm>
                <a:off x="3043430" y="4931295"/>
                <a:ext cx="108000" cy="108000"/>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36">
                <a:extLst>
                  <a:ext uri="{FF2B5EF4-FFF2-40B4-BE49-F238E27FC236}">
                    <a16:creationId xmlns:a16="http://schemas.microsoft.com/office/drawing/2014/main" id="{BE73FCAF-4015-463A-ACA3-1945DC60DD11}"/>
                  </a:ext>
                </a:extLst>
              </p:cNvPr>
              <p:cNvSpPr/>
              <p:nvPr/>
            </p:nvSpPr>
            <p:spPr>
              <a:xfrm>
                <a:off x="3249505" y="4951356"/>
                <a:ext cx="108000" cy="108000"/>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그룹 47">
              <a:extLst>
                <a:ext uri="{FF2B5EF4-FFF2-40B4-BE49-F238E27FC236}">
                  <a16:creationId xmlns:a16="http://schemas.microsoft.com/office/drawing/2014/main" id="{AA716F45-1134-4A0C-9C60-D1C5B6B52070}"/>
                </a:ext>
              </a:extLst>
            </p:cNvPr>
            <p:cNvGrpSpPr/>
            <p:nvPr/>
          </p:nvGrpSpPr>
          <p:grpSpPr>
            <a:xfrm>
              <a:off x="6475663" y="4186880"/>
              <a:ext cx="1296000" cy="1296000"/>
              <a:chOff x="6475663" y="4521445"/>
              <a:chExt cx="1296000" cy="1296000"/>
            </a:xfrm>
          </p:grpSpPr>
          <p:grpSp>
            <p:nvGrpSpPr>
              <p:cNvPr id="49" name="Group 16">
                <a:extLst>
                  <a:ext uri="{FF2B5EF4-FFF2-40B4-BE49-F238E27FC236}">
                    <a16:creationId xmlns:a16="http://schemas.microsoft.com/office/drawing/2014/main" id="{0C1D5DFD-82E6-40F6-98E6-D4BF5FE84F6B}"/>
                  </a:ext>
                </a:extLst>
              </p:cNvPr>
              <p:cNvGrpSpPr/>
              <p:nvPr/>
            </p:nvGrpSpPr>
            <p:grpSpPr>
              <a:xfrm>
                <a:off x="6475663" y="4521445"/>
                <a:ext cx="1296000" cy="1296000"/>
                <a:chOff x="2711624" y="4907358"/>
                <a:chExt cx="969915" cy="969914"/>
              </a:xfrm>
            </p:grpSpPr>
            <p:cxnSp>
              <p:nvCxnSpPr>
                <p:cNvPr id="64" name="Straight Arrow Connector 7">
                  <a:extLst>
                    <a:ext uri="{FF2B5EF4-FFF2-40B4-BE49-F238E27FC236}">
                      <a16:creationId xmlns:a16="http://schemas.microsoft.com/office/drawing/2014/main" id="{BAFE07F4-3A02-42A8-B75F-029DB2F624EC}"/>
                    </a:ext>
                  </a:extLst>
                </p:cNvPr>
                <p:cNvCxnSpPr/>
                <p:nvPr/>
              </p:nvCxnSpPr>
              <p:spPr>
                <a:xfrm>
                  <a:off x="2711624" y="5877272"/>
                  <a:ext cx="969915" cy="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Straight Arrow Connector 22">
                  <a:extLst>
                    <a:ext uri="{FF2B5EF4-FFF2-40B4-BE49-F238E27FC236}">
                      <a16:creationId xmlns:a16="http://schemas.microsoft.com/office/drawing/2014/main" id="{9AFD6125-643E-466F-89A9-76A8C66045AD}"/>
                    </a:ext>
                  </a:extLst>
                </p:cNvPr>
                <p:cNvCxnSpPr/>
                <p:nvPr/>
              </p:nvCxnSpPr>
              <p:spPr>
                <a:xfrm flipH="1" flipV="1">
                  <a:off x="2711624" y="4907358"/>
                  <a:ext cx="0" cy="969914"/>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0" name="그룹 49">
                <a:extLst>
                  <a:ext uri="{FF2B5EF4-FFF2-40B4-BE49-F238E27FC236}">
                    <a16:creationId xmlns:a16="http://schemas.microsoft.com/office/drawing/2014/main" id="{D4012B57-FE53-4E01-813C-E14E32810840}"/>
                  </a:ext>
                </a:extLst>
              </p:cNvPr>
              <p:cNvGrpSpPr/>
              <p:nvPr/>
            </p:nvGrpSpPr>
            <p:grpSpPr>
              <a:xfrm>
                <a:off x="6586631" y="4759011"/>
                <a:ext cx="1129303" cy="974357"/>
                <a:chOff x="17076832" y="4653561"/>
                <a:chExt cx="1060244" cy="914773"/>
              </a:xfrm>
            </p:grpSpPr>
            <p:sp>
              <p:nvSpPr>
                <p:cNvPr id="51" name="Oval 40">
                  <a:extLst>
                    <a:ext uri="{FF2B5EF4-FFF2-40B4-BE49-F238E27FC236}">
                      <a16:creationId xmlns:a16="http://schemas.microsoft.com/office/drawing/2014/main" id="{44C86B22-92B5-4725-A02A-7DFA78EDDE7D}"/>
                    </a:ext>
                  </a:extLst>
                </p:cNvPr>
                <p:cNvSpPr/>
                <p:nvPr/>
              </p:nvSpPr>
              <p:spPr>
                <a:xfrm>
                  <a:off x="17076832" y="5264135"/>
                  <a:ext cx="101396" cy="101396"/>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41">
                  <a:extLst>
                    <a:ext uri="{FF2B5EF4-FFF2-40B4-BE49-F238E27FC236}">
                      <a16:creationId xmlns:a16="http://schemas.microsoft.com/office/drawing/2014/main" id="{F23DBF26-B602-4586-942F-008AE31C3428}"/>
                    </a:ext>
                  </a:extLst>
                </p:cNvPr>
                <p:cNvSpPr/>
                <p:nvPr/>
              </p:nvSpPr>
              <p:spPr>
                <a:xfrm>
                  <a:off x="17245180" y="5213525"/>
                  <a:ext cx="101396" cy="101396"/>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42">
                  <a:extLst>
                    <a:ext uri="{FF2B5EF4-FFF2-40B4-BE49-F238E27FC236}">
                      <a16:creationId xmlns:a16="http://schemas.microsoft.com/office/drawing/2014/main" id="{4A3AEFD6-7EE3-480B-A278-650A0219520D}"/>
                    </a:ext>
                  </a:extLst>
                </p:cNvPr>
                <p:cNvSpPr/>
                <p:nvPr/>
              </p:nvSpPr>
              <p:spPr>
                <a:xfrm>
                  <a:off x="17348940" y="5433651"/>
                  <a:ext cx="101396" cy="101396"/>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44">
                  <a:extLst>
                    <a:ext uri="{FF2B5EF4-FFF2-40B4-BE49-F238E27FC236}">
                      <a16:creationId xmlns:a16="http://schemas.microsoft.com/office/drawing/2014/main" id="{4FCDA6F3-2984-4E83-899B-B0A77491D3E5}"/>
                    </a:ext>
                  </a:extLst>
                </p:cNvPr>
                <p:cNvSpPr/>
                <p:nvPr/>
              </p:nvSpPr>
              <p:spPr>
                <a:xfrm>
                  <a:off x="17139952" y="5466938"/>
                  <a:ext cx="101396" cy="101396"/>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45">
                  <a:extLst>
                    <a:ext uri="{FF2B5EF4-FFF2-40B4-BE49-F238E27FC236}">
                      <a16:creationId xmlns:a16="http://schemas.microsoft.com/office/drawing/2014/main" id="{DA40BE25-29A0-4ED3-A3E0-ED992C42272E}"/>
                    </a:ext>
                  </a:extLst>
                </p:cNvPr>
                <p:cNvSpPr/>
                <p:nvPr/>
              </p:nvSpPr>
              <p:spPr>
                <a:xfrm>
                  <a:off x="17476076" y="5293295"/>
                  <a:ext cx="101396" cy="101396"/>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Connector 46">
                  <a:extLst>
                    <a:ext uri="{FF2B5EF4-FFF2-40B4-BE49-F238E27FC236}">
                      <a16:creationId xmlns:a16="http://schemas.microsoft.com/office/drawing/2014/main" id="{4FF7DC69-AA84-4776-AC80-11D1D7A624C7}"/>
                    </a:ext>
                  </a:extLst>
                </p:cNvPr>
                <p:cNvCxnSpPr/>
                <p:nvPr/>
              </p:nvCxnSpPr>
              <p:spPr>
                <a:xfrm>
                  <a:off x="17139952" y="4908983"/>
                  <a:ext cx="838630" cy="614523"/>
                </a:xfrm>
                <a:prstGeom prst="line">
                  <a:avLst/>
                </a:prstGeom>
                <a:ln w="19050">
                  <a:solidFill>
                    <a:schemeClr val="tx1">
                      <a:alpha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7" name="Isosceles Triangle 48">
                  <a:extLst>
                    <a:ext uri="{FF2B5EF4-FFF2-40B4-BE49-F238E27FC236}">
                      <a16:creationId xmlns:a16="http://schemas.microsoft.com/office/drawing/2014/main" id="{5D7E0C3D-316E-4964-9C5C-79B3D3F3748B}"/>
                    </a:ext>
                  </a:extLst>
                </p:cNvPr>
                <p:cNvSpPr/>
                <p:nvPr/>
              </p:nvSpPr>
              <p:spPr>
                <a:xfrm>
                  <a:off x="17396550" y="4812184"/>
                  <a:ext cx="144016" cy="109996"/>
                </a:xfrm>
                <a:prstGeom prst="triangle">
                  <a:avLst/>
                </a:prstGeom>
                <a:solidFill>
                  <a:srgbClr val="FF0000">
                    <a:alpha val="50000"/>
                  </a:srgb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Isosceles Triangle 49">
                  <a:extLst>
                    <a:ext uri="{FF2B5EF4-FFF2-40B4-BE49-F238E27FC236}">
                      <a16:creationId xmlns:a16="http://schemas.microsoft.com/office/drawing/2014/main" id="{DCBCB2B4-AFB0-4127-8AC8-4C0F9281499D}"/>
                    </a:ext>
                  </a:extLst>
                </p:cNvPr>
                <p:cNvSpPr/>
                <p:nvPr/>
              </p:nvSpPr>
              <p:spPr>
                <a:xfrm>
                  <a:off x="17548950" y="4964583"/>
                  <a:ext cx="144016" cy="109996"/>
                </a:xfrm>
                <a:prstGeom prst="triangle">
                  <a:avLst/>
                </a:prstGeom>
                <a:solidFill>
                  <a:srgbClr val="FF0000">
                    <a:alpha val="50000"/>
                  </a:srgb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Isosceles Triangle 50">
                  <a:extLst>
                    <a:ext uri="{FF2B5EF4-FFF2-40B4-BE49-F238E27FC236}">
                      <a16:creationId xmlns:a16="http://schemas.microsoft.com/office/drawing/2014/main" id="{5B0C53A5-E7EF-441C-8C0E-AB6B868EA707}"/>
                    </a:ext>
                  </a:extLst>
                </p:cNvPr>
                <p:cNvSpPr/>
                <p:nvPr/>
              </p:nvSpPr>
              <p:spPr>
                <a:xfrm>
                  <a:off x="17781742" y="5041970"/>
                  <a:ext cx="144016" cy="109996"/>
                </a:xfrm>
                <a:prstGeom prst="triangle">
                  <a:avLst/>
                </a:prstGeom>
                <a:solidFill>
                  <a:srgbClr val="FF0000">
                    <a:alpha val="50000"/>
                  </a:srgb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Isosceles Triangle 51">
                  <a:extLst>
                    <a:ext uri="{FF2B5EF4-FFF2-40B4-BE49-F238E27FC236}">
                      <a16:creationId xmlns:a16="http://schemas.microsoft.com/office/drawing/2014/main" id="{B08161C9-81FB-4A50-A471-120EB2C47171}"/>
                    </a:ext>
                  </a:extLst>
                </p:cNvPr>
                <p:cNvSpPr/>
                <p:nvPr/>
              </p:nvSpPr>
              <p:spPr>
                <a:xfrm>
                  <a:off x="17947232" y="5170300"/>
                  <a:ext cx="144016" cy="109996"/>
                </a:xfrm>
                <a:prstGeom prst="triangle">
                  <a:avLst/>
                </a:prstGeom>
                <a:solidFill>
                  <a:srgbClr val="FF0000">
                    <a:alpha val="50000"/>
                  </a:srgb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Isosceles Triangle 52">
                  <a:extLst>
                    <a:ext uri="{FF2B5EF4-FFF2-40B4-BE49-F238E27FC236}">
                      <a16:creationId xmlns:a16="http://schemas.microsoft.com/office/drawing/2014/main" id="{F8B3CE41-6701-4280-A281-7C5C1B38A690}"/>
                    </a:ext>
                  </a:extLst>
                </p:cNvPr>
                <p:cNvSpPr/>
                <p:nvPr/>
              </p:nvSpPr>
              <p:spPr>
                <a:xfrm>
                  <a:off x="17805548" y="4781748"/>
                  <a:ext cx="144016" cy="109996"/>
                </a:xfrm>
                <a:prstGeom prst="triangle">
                  <a:avLst/>
                </a:prstGeom>
                <a:solidFill>
                  <a:srgbClr val="FF0000">
                    <a:alpha val="50000"/>
                  </a:srgb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Isosceles Triangle 53">
                  <a:extLst>
                    <a:ext uri="{FF2B5EF4-FFF2-40B4-BE49-F238E27FC236}">
                      <a16:creationId xmlns:a16="http://schemas.microsoft.com/office/drawing/2014/main" id="{15B7178F-8793-4DDE-A73B-A27F5C92B88C}"/>
                    </a:ext>
                  </a:extLst>
                </p:cNvPr>
                <p:cNvSpPr/>
                <p:nvPr/>
              </p:nvSpPr>
              <p:spPr>
                <a:xfrm>
                  <a:off x="17548950" y="4653561"/>
                  <a:ext cx="144016" cy="109996"/>
                </a:xfrm>
                <a:prstGeom prst="triangle">
                  <a:avLst/>
                </a:prstGeom>
                <a:solidFill>
                  <a:srgbClr val="FF0000">
                    <a:alpha val="50000"/>
                  </a:srgb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Isosceles Triangle 54">
                  <a:extLst>
                    <a:ext uri="{FF2B5EF4-FFF2-40B4-BE49-F238E27FC236}">
                      <a16:creationId xmlns:a16="http://schemas.microsoft.com/office/drawing/2014/main" id="{39D80F70-5DDD-47F3-B544-1D18A496A113}"/>
                    </a:ext>
                  </a:extLst>
                </p:cNvPr>
                <p:cNvSpPr/>
                <p:nvPr/>
              </p:nvSpPr>
              <p:spPr>
                <a:xfrm>
                  <a:off x="17993060" y="4987268"/>
                  <a:ext cx="144016" cy="109996"/>
                </a:xfrm>
                <a:prstGeom prst="triangle">
                  <a:avLst/>
                </a:prstGeom>
                <a:solidFill>
                  <a:srgbClr val="FF0000">
                    <a:alpha val="50000"/>
                  </a:srgb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Tree>
    <p:extLst>
      <p:ext uri="{BB962C8B-B14F-4D97-AF65-F5344CB8AC3E}">
        <p14:creationId xmlns:p14="http://schemas.microsoft.com/office/powerpoint/2010/main" val="126483848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linear regression</a:t>
            </a:r>
          </a:p>
        </p:txBody>
      </p:sp>
      <mc:AlternateContent xmlns:mc="http://schemas.openxmlformats.org/markup-compatibility/2006" xmlns:a14="http://schemas.microsoft.com/office/drawing/2010/main">
        <mc:Choice Requires="a14">
          <p:sp>
            <p:nvSpPr>
              <p:cNvPr id="15" name="직사각형 14">
                <a:extLst>
                  <a:ext uri="{FF2B5EF4-FFF2-40B4-BE49-F238E27FC236}">
                    <a16:creationId xmlns:a16="http://schemas.microsoft.com/office/drawing/2014/main" id="{8E02D1CE-2859-45A1-90B6-A62349DC71E3}"/>
                  </a:ext>
                </a:extLst>
              </p:cNvPr>
              <p:cNvSpPr/>
              <p:nvPr/>
            </p:nvSpPr>
            <p:spPr>
              <a:xfrm>
                <a:off x="671261" y="1700808"/>
                <a:ext cx="8632825" cy="10892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There is one ore more explanatory variables: </a:t>
                </a:r>
                <a:r>
                  <a:rPr lang="ko-KR" altLang="en-US" sz="1600" dirty="0">
                    <a:solidFill>
                      <a:srgbClr val="193EB0"/>
                    </a:solidFill>
                    <a:latin typeface="SamsungOne 400" panose="020B0503030303020204" pitchFamily="34" charset="0"/>
                    <a:ea typeface="SamsungOne 400" panose="020B0503030303020204" pitchFamily="34" charset="0"/>
                  </a:rPr>
                  <a:t>𝑋</a:t>
                </a:r>
                <a:r>
                  <a:rPr lang="en-US" altLang="ko-KR" sz="1600" baseline="-25000" dirty="0">
                    <a:solidFill>
                      <a:srgbClr val="193EB0"/>
                    </a:solidFill>
                    <a:latin typeface="SamsungOne 400" panose="020B0503030303020204" pitchFamily="34" charset="0"/>
                    <a:ea typeface="SamsungOne 400" panose="020B0503030303020204" pitchFamily="34" charset="0"/>
                  </a:rPr>
                  <a:t>1</a:t>
                </a:r>
                <a:r>
                  <a:rPr lang="en-US" altLang="ko-KR" sz="1600" baseline="-25000" dirty="0">
                    <a:solidFill>
                      <a:srgbClr val="262626"/>
                    </a:solidFill>
                    <a:latin typeface="SamsungOne 400" panose="020B0503030303020204" pitchFamily="34" charset="0"/>
                    <a:ea typeface="SamsungOne 400" panose="020B0503030303020204" pitchFamily="34" charset="0"/>
                  </a:rPr>
                  <a:t> </a:t>
                </a:r>
                <a:r>
                  <a:rPr lang="en-US" altLang="ko-KR" sz="1600" dirty="0">
                    <a:solidFill>
                      <a:srgbClr val="262626"/>
                    </a:solidFill>
                    <a:latin typeface="SamsungOne 400" panose="020B0503030303020204" pitchFamily="34" charset="0"/>
                    <a:ea typeface="SamsungOne 400" panose="020B0503030303020204" pitchFamily="34" charset="0"/>
                  </a:rPr>
                  <a:t>, </a:t>
                </a:r>
                <a:r>
                  <a:rPr lang="ko-KR" altLang="en-US" sz="1600" dirty="0">
                    <a:solidFill>
                      <a:srgbClr val="193EB0"/>
                    </a:solidFill>
                    <a:latin typeface="SamsungOne 400" panose="020B0503030303020204" pitchFamily="34" charset="0"/>
                    <a:ea typeface="SamsungOne 400" panose="020B0503030303020204" pitchFamily="34" charset="0"/>
                  </a:rPr>
                  <a:t>𝑋</a:t>
                </a:r>
                <a:r>
                  <a:rPr lang="en-US" altLang="ko-KR" sz="1600" baseline="-25000" dirty="0">
                    <a:solidFill>
                      <a:srgbClr val="193EB0"/>
                    </a:solidFill>
                    <a:latin typeface="SamsungOne 400" panose="020B0503030303020204" pitchFamily="34" charset="0"/>
                    <a:ea typeface="SamsungOne 400" panose="020B0503030303020204" pitchFamily="34" charset="0"/>
                  </a:rPr>
                  <a:t>2</a:t>
                </a:r>
                <a:r>
                  <a:rPr lang="en-US" altLang="ko-KR" sz="1600" baseline="-25000" dirty="0">
                    <a:solidFill>
                      <a:srgbClr val="262626"/>
                    </a:solidFill>
                    <a:latin typeface="SamsungOne 400" panose="020B0503030303020204" pitchFamily="34" charset="0"/>
                    <a:ea typeface="SamsungOne 400" panose="020B0503030303020204" pitchFamily="34" charset="0"/>
                  </a:rPr>
                  <a:t> </a:t>
                </a:r>
                <a:r>
                  <a:rPr lang="en-US" altLang="ko-KR" sz="1600" dirty="0">
                    <a:solidFill>
                      <a:srgbClr val="262626"/>
                    </a:solidFill>
                    <a:latin typeface="SamsungOne 400" panose="020B0503030303020204" pitchFamily="34" charset="0"/>
                    <a:ea typeface="SamsungOne 400" panose="020B0503030303020204" pitchFamily="34" charset="0"/>
                  </a:rPr>
                  <a:t>,…, </a:t>
                </a:r>
                <a:r>
                  <a:rPr lang="ko-KR" altLang="en-US" sz="1600" dirty="0">
                    <a:solidFill>
                      <a:srgbClr val="193EB0"/>
                    </a:solidFill>
                    <a:latin typeface="SamsungOne 400" panose="020B0503030303020204" pitchFamily="34" charset="0"/>
                    <a:ea typeface="SamsungOne 400" panose="020B0503030303020204" pitchFamily="34" charset="0"/>
                  </a:rPr>
                  <a:t>𝑋</a:t>
                </a:r>
                <a:r>
                  <a:rPr lang="ko-KR" altLang="en-US" sz="1600" baseline="-25000" dirty="0">
                    <a:solidFill>
                      <a:srgbClr val="193EB0"/>
                    </a:solidFill>
                    <a:latin typeface="SamsungOne 400" panose="020B0503030303020204" pitchFamily="34" charset="0"/>
                    <a:ea typeface="SamsungOne 400" panose="020B0503030303020204" pitchFamily="34" charset="0"/>
                  </a:rPr>
                  <a:t>𝑘</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There is one response variable: </a:t>
                </a:r>
                <a:r>
                  <a:rPr lang="ko-KR" altLang="en-US" sz="1600" dirty="0">
                    <a:solidFill>
                      <a:srgbClr val="193EB0"/>
                    </a:solidFill>
                    <a:latin typeface="SamsungOne 400" panose="020B0503030303020204" pitchFamily="34" charset="0"/>
                    <a:ea typeface="SamsungOne 400" panose="020B0503030303020204" pitchFamily="34" charset="0"/>
                  </a:rPr>
                  <a:t>𝑌</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variables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𝑋</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_</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𝑖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and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𝑌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are connected by a linear relation: </a:t>
                </a:r>
                <a:r>
                  <a:rPr lang="ko-KR" altLang="en-US" sz="1600" dirty="0">
                    <a:solidFill>
                      <a:srgbClr val="193EB0"/>
                    </a:solidFill>
                    <a:latin typeface="SamsungOne 400" panose="020B0503030303020204" pitchFamily="34" charset="0"/>
                    <a:ea typeface="SamsungOne 400" panose="020B0503030303020204" pitchFamily="34" charset="0"/>
                  </a:rPr>
                  <a:t>𝑌</a:t>
                </a:r>
                <a:r>
                  <a:rPr lang="en-US" altLang="ko-KR" sz="1600" dirty="0">
                    <a:solidFill>
                      <a:srgbClr val="193EB0"/>
                    </a:solidFill>
                    <a:latin typeface="SamsungOne 400" panose="020B0503030303020204" pitchFamily="34" charset="0"/>
                    <a:ea typeface="SamsungOne 400" panose="020B0503030303020204" pitchFamily="34" charset="0"/>
                  </a:rPr>
                  <a:t>=</a:t>
                </a:r>
                <a:r>
                  <a:rPr lang="ko-KR" altLang="en-US" sz="1600" dirty="0">
                    <a:solidFill>
                      <a:srgbClr val="FF0000"/>
                    </a:solidFill>
                    <a:latin typeface="SamsungOne 400" panose="020B0503030303020204" pitchFamily="34" charset="0"/>
                    <a:ea typeface="SamsungOne 400" panose="020B0503030303020204" pitchFamily="34" charset="0"/>
                  </a:rPr>
                  <a:t>𝛽</a:t>
                </a:r>
                <a:r>
                  <a:rPr lang="en-US" altLang="ko-KR" sz="1600" baseline="-25000" dirty="0">
                    <a:solidFill>
                      <a:srgbClr val="FF0000"/>
                    </a:solidFill>
                    <a:latin typeface="SamsungOne 400" panose="020B0503030303020204" pitchFamily="34" charset="0"/>
                    <a:ea typeface="SamsungOne 400" panose="020B0503030303020204" pitchFamily="34" charset="0"/>
                  </a:rPr>
                  <a:t>0</a:t>
                </a:r>
                <a:r>
                  <a:rPr lang="en-US" altLang="ko-KR" sz="1600" dirty="0">
                    <a:solidFill>
                      <a:srgbClr val="262626"/>
                    </a:solidFill>
                    <a:latin typeface="SamsungOne 400" panose="020B0503030303020204" pitchFamily="34" charset="0"/>
                    <a:ea typeface="SamsungOne 400" panose="020B0503030303020204" pitchFamily="34" charset="0"/>
                  </a:rPr>
                  <a:t>+</a:t>
                </a:r>
                <a:r>
                  <a:rPr lang="ko-KR" altLang="en-US" sz="1600" dirty="0">
                    <a:solidFill>
                      <a:srgbClr val="FF0000"/>
                    </a:solidFill>
                    <a:latin typeface="SamsungOne 400" panose="020B0503030303020204" pitchFamily="34" charset="0"/>
                    <a:ea typeface="SamsungOne 400" panose="020B0503030303020204" pitchFamily="34" charset="0"/>
                  </a:rPr>
                  <a:t>𝛽</a:t>
                </a:r>
                <a:r>
                  <a:rPr lang="en-US" altLang="ko-KR" sz="1600" baseline="-25000" dirty="0">
                    <a:solidFill>
                      <a:srgbClr val="FF0000"/>
                    </a:solidFill>
                    <a:latin typeface="SamsungOne 400" panose="020B0503030303020204" pitchFamily="34" charset="0"/>
                    <a:ea typeface="SamsungOne 400" panose="020B0503030303020204" pitchFamily="34" charset="0"/>
                  </a:rPr>
                  <a:t>1</a:t>
                </a:r>
                <a:r>
                  <a:rPr lang="en-US" altLang="ko-KR" sz="1600" dirty="0">
                    <a:solidFill>
                      <a:srgbClr val="FF0000"/>
                    </a:solidFill>
                    <a:latin typeface="SamsungOne 400" panose="020B0503030303020204" pitchFamily="34" charset="0"/>
                    <a:ea typeface="SamsungOne 400" panose="020B0503030303020204" pitchFamily="34" charset="0"/>
                  </a:rPr>
                  <a:t> </a:t>
                </a:r>
                <a:r>
                  <a:rPr lang="ko-KR" altLang="en-US" sz="1600" dirty="0">
                    <a:solidFill>
                      <a:srgbClr val="193EB0"/>
                    </a:solidFill>
                    <a:latin typeface="SamsungOne 400" panose="020B0503030303020204" pitchFamily="34" charset="0"/>
                    <a:ea typeface="SamsungOne 400" panose="020B0503030303020204" pitchFamily="34" charset="0"/>
                  </a:rPr>
                  <a:t>𝑋</a:t>
                </a:r>
                <a:r>
                  <a:rPr lang="en-US" altLang="ko-KR" sz="1600" baseline="-25000" dirty="0">
                    <a:solidFill>
                      <a:srgbClr val="193EB0"/>
                    </a:solidFill>
                    <a:latin typeface="SamsungOne 400" panose="020B0503030303020204" pitchFamily="34" charset="0"/>
                    <a:ea typeface="SamsungOne 400" panose="020B0503030303020204" pitchFamily="34" charset="0"/>
                  </a:rPr>
                  <a:t>1</a:t>
                </a:r>
                <a:r>
                  <a:rPr lang="en-US" altLang="ko-KR" sz="1600" dirty="0">
                    <a:solidFill>
                      <a:srgbClr val="262626"/>
                    </a:solidFill>
                    <a:latin typeface="SamsungOne 400" panose="020B0503030303020204" pitchFamily="34" charset="0"/>
                    <a:ea typeface="SamsungOne 400" panose="020B0503030303020204" pitchFamily="34" charset="0"/>
                  </a:rPr>
                  <a:t>+</a:t>
                </a:r>
                <a:r>
                  <a:rPr lang="ko-KR" altLang="en-US" sz="1600" dirty="0">
                    <a:solidFill>
                      <a:srgbClr val="FF0000"/>
                    </a:solidFill>
                    <a:latin typeface="SamsungOne 400" panose="020B0503030303020204" pitchFamily="34" charset="0"/>
                    <a:ea typeface="SamsungOne 400" panose="020B0503030303020204" pitchFamily="34" charset="0"/>
                  </a:rPr>
                  <a:t>𝛽</a:t>
                </a:r>
                <a:r>
                  <a:rPr lang="en-US" altLang="ko-KR" sz="1600" baseline="-25000" dirty="0">
                    <a:solidFill>
                      <a:srgbClr val="FF0000"/>
                    </a:solidFill>
                    <a:latin typeface="SamsungOne 400" panose="020B0503030303020204" pitchFamily="34" charset="0"/>
                    <a:ea typeface="SamsungOne 400" panose="020B0503030303020204" pitchFamily="34" charset="0"/>
                  </a:rPr>
                  <a:t>2</a:t>
                </a:r>
                <a:r>
                  <a:rPr lang="en-US" altLang="ko-KR" sz="1600" dirty="0">
                    <a:solidFill>
                      <a:srgbClr val="FF0000"/>
                    </a:solidFill>
                    <a:latin typeface="SamsungOne 400" panose="020B0503030303020204" pitchFamily="34" charset="0"/>
                    <a:ea typeface="SamsungOne 400" panose="020B0503030303020204" pitchFamily="34" charset="0"/>
                  </a:rPr>
                  <a:t> </a:t>
                </a:r>
                <a:r>
                  <a:rPr lang="ko-KR" altLang="en-US" sz="1600" dirty="0">
                    <a:solidFill>
                      <a:srgbClr val="193EB0"/>
                    </a:solidFill>
                    <a:latin typeface="SamsungOne 400" panose="020B0503030303020204" pitchFamily="34" charset="0"/>
                    <a:ea typeface="SamsungOne 400" panose="020B0503030303020204" pitchFamily="34" charset="0"/>
                  </a:rPr>
                  <a:t>𝑋</a:t>
                </a:r>
                <a:r>
                  <a:rPr lang="en-US" altLang="ko-KR" sz="1600" baseline="-25000" dirty="0">
                    <a:solidFill>
                      <a:srgbClr val="193EB0"/>
                    </a:solidFill>
                    <a:latin typeface="SamsungOne 400" panose="020B0503030303020204" pitchFamily="34" charset="0"/>
                    <a:ea typeface="SamsungOne 400" panose="020B0503030303020204" pitchFamily="34" charset="0"/>
                  </a:rPr>
                  <a:t>2</a:t>
                </a:r>
                <a:r>
                  <a:rPr lang="en-US" altLang="ko-KR" sz="1600" dirty="0">
                    <a:solidFill>
                      <a:srgbClr val="262626"/>
                    </a:solidFill>
                    <a:latin typeface="SamsungOne 400" panose="020B0503030303020204" pitchFamily="34" charset="0"/>
                    <a:ea typeface="SamsungOne 400" panose="020B0503030303020204" pitchFamily="34" charset="0"/>
                  </a:rPr>
                  <a:t>+⋯+</a:t>
                </a:r>
                <a:r>
                  <a:rPr lang="ko-KR" altLang="en-US" sz="1600" dirty="0">
                    <a:solidFill>
                      <a:srgbClr val="FF0000"/>
                    </a:solidFill>
                    <a:latin typeface="SamsungOne 400" panose="020B0503030303020204" pitchFamily="34" charset="0"/>
                    <a:ea typeface="SamsungOne 400" panose="020B0503030303020204" pitchFamily="34" charset="0"/>
                  </a:rPr>
                  <a:t>𝛽</a:t>
                </a:r>
                <a:r>
                  <a:rPr lang="ko-KR" altLang="en-US" sz="1600" baseline="-25000" dirty="0">
                    <a:solidFill>
                      <a:srgbClr val="FF0000"/>
                    </a:solidFill>
                    <a:latin typeface="SamsungOne 400" panose="020B0503030303020204" pitchFamily="34" charset="0"/>
                    <a:ea typeface="SamsungOne 400" panose="020B0503030303020204" pitchFamily="34" charset="0"/>
                  </a:rPr>
                  <a:t>𝑘</a:t>
                </a:r>
                <a:r>
                  <a:rPr lang="ko-KR" altLang="en-US" sz="1600" dirty="0">
                    <a:solidFill>
                      <a:srgbClr val="FF0000"/>
                    </a:solidFill>
                    <a:latin typeface="SamsungOne 400" panose="020B0503030303020204" pitchFamily="34" charset="0"/>
                    <a:ea typeface="SamsungOne 400" panose="020B0503030303020204" pitchFamily="34" charset="0"/>
                  </a:rPr>
                  <a:t> </a:t>
                </a:r>
                <a:r>
                  <a:rPr lang="ko-KR" altLang="en-US" sz="1600" dirty="0">
                    <a:solidFill>
                      <a:srgbClr val="193EB0"/>
                    </a:solidFill>
                    <a:latin typeface="SamsungOne 400" panose="020B0503030303020204" pitchFamily="34" charset="0"/>
                    <a:ea typeface="SamsungOne 400" panose="020B0503030303020204" pitchFamily="34" charset="0"/>
                  </a:rPr>
                  <a:t>𝑋</a:t>
                </a:r>
                <a:r>
                  <a:rPr lang="ko-KR" altLang="en-US" sz="1600" baseline="-25000" dirty="0">
                    <a:solidFill>
                      <a:srgbClr val="193EB0"/>
                    </a:solidFill>
                    <a:latin typeface="SamsungOne 400" panose="020B0503030303020204" pitchFamily="34" charset="0"/>
                    <a:ea typeface="SamsungOne 400" panose="020B0503030303020204" pitchFamily="34" charset="0"/>
                  </a:rPr>
                  <a:t>𝑘</a:t>
                </a:r>
                <a:r>
                  <a:rPr lang="en-US" altLang="ko-KR" sz="1600" dirty="0">
                    <a:solidFill>
                      <a:srgbClr val="262626"/>
                    </a:solidFill>
                    <a:latin typeface="SamsungOne 400" panose="020B0503030303020204" pitchFamily="34" charset="0"/>
                    <a:ea typeface="SamsungOne 400" panose="020B0503030303020204" pitchFamily="34" charset="0"/>
                  </a:rPr>
                  <a:t>+</a:t>
                </a:r>
                <a:r>
                  <a:rPr lang="en-US" altLang="ko-KR" sz="1600" dirty="0">
                    <a:solidFill>
                      <a:srgbClr val="FF0000"/>
                    </a:solidFill>
                    <a:sym typeface="Symbol"/>
                  </a:rPr>
                  <a:t> </a:t>
                </a:r>
                <a14:m>
                  <m:oMath xmlns:m="http://schemas.openxmlformats.org/officeDocument/2006/math">
                    <m:r>
                      <a:rPr lang="en-US" altLang="ko-KR" sz="1600">
                        <a:solidFill>
                          <a:srgbClr val="FF0000"/>
                        </a:solidFill>
                        <a:latin typeface="Cambria Math" panose="02040503050406030204" pitchFamily="18" charset="0"/>
                        <a:ea typeface="SamsungOne 400" panose="020B0503030303020204" pitchFamily="34" charset="0"/>
                        <a:sym typeface="Symbol"/>
                      </a:rPr>
                      <m:t></m:t>
                    </m:r>
                  </m:oMath>
                </a14:m>
                <a:endParaRPr lang="en-US" altLang="ko-KR" sz="1600" dirty="0">
                  <a:solidFill>
                    <a:srgbClr val="FF0000"/>
                  </a:solidFill>
                  <a:latin typeface="SamsungOne 400" panose="020B0503030303020204" pitchFamily="34" charset="0"/>
                  <a:ea typeface="SamsungOne 400" panose="020B0503030303020204" pitchFamily="34" charset="0"/>
                </a:endParaRPr>
              </a:p>
            </p:txBody>
          </p:sp>
        </mc:Choice>
        <mc:Fallback xmlns="">
          <p:sp>
            <p:nvSpPr>
              <p:cNvPr id="15" name="직사각형 14">
                <a:extLst>
                  <a:ext uri="{FF2B5EF4-FFF2-40B4-BE49-F238E27FC236}">
                    <a16:creationId xmlns:a16="http://schemas.microsoft.com/office/drawing/2014/main" id="{8E02D1CE-2859-45A1-90B6-A62349DC71E3}"/>
                  </a:ext>
                </a:extLst>
              </p:cNvPr>
              <p:cNvSpPr>
                <a:spLocks noRot="1" noChangeAspect="1" noMove="1" noResize="1" noEditPoints="1" noAdjustHandles="1" noChangeArrowheads="1" noChangeShapeType="1" noTextEdit="1"/>
              </p:cNvSpPr>
              <p:nvPr/>
            </p:nvSpPr>
            <p:spPr>
              <a:xfrm>
                <a:off x="671261" y="1700808"/>
                <a:ext cx="8632825" cy="1089254"/>
              </a:xfrm>
              <a:prstGeom prst="rect">
                <a:avLst/>
              </a:prstGeom>
              <a:blipFill>
                <a:blip r:embed="rId4"/>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34068936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Purpose of linear regression</a:t>
            </a:r>
          </a:p>
        </p:txBody>
      </p:sp>
      <p:sp>
        <p:nvSpPr>
          <p:cNvPr id="15" name="직사각형 14">
            <a:extLst>
              <a:ext uri="{FF2B5EF4-FFF2-40B4-BE49-F238E27FC236}">
                <a16:creationId xmlns:a16="http://schemas.microsoft.com/office/drawing/2014/main" id="{8E02D1CE-2859-45A1-90B6-A62349DC71E3}"/>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 By modeling, find out which explanatory variables have the most impact on the response variable.</a:t>
            </a:r>
          </a:p>
        </p:txBody>
      </p:sp>
      <p:grpSp>
        <p:nvGrpSpPr>
          <p:cNvPr id="2" name="그룹 1">
            <a:extLst>
              <a:ext uri="{FF2B5EF4-FFF2-40B4-BE49-F238E27FC236}">
                <a16:creationId xmlns:a16="http://schemas.microsoft.com/office/drawing/2014/main" id="{C72EDC63-A83E-4031-A74E-F37A55C5DBED}"/>
              </a:ext>
            </a:extLst>
          </p:cNvPr>
          <p:cNvGrpSpPr/>
          <p:nvPr/>
        </p:nvGrpSpPr>
        <p:grpSpPr>
          <a:xfrm>
            <a:off x="846956" y="2044049"/>
            <a:ext cx="8497069" cy="545516"/>
            <a:chOff x="846956" y="2044049"/>
            <a:chExt cx="8497069" cy="545516"/>
          </a:xfrm>
        </p:grpSpPr>
        <p:sp>
          <p:nvSpPr>
            <p:cNvPr id="7" name="사각형: 둥근 모서리 2">
              <a:extLst>
                <a:ext uri="{FF2B5EF4-FFF2-40B4-BE49-F238E27FC236}">
                  <a16:creationId xmlns:a16="http://schemas.microsoft.com/office/drawing/2014/main" id="{A820013A-AA96-4DB6-BE1A-76C41EA5A832}"/>
                </a:ext>
              </a:extLst>
            </p:cNvPr>
            <p:cNvSpPr/>
            <p:nvPr/>
          </p:nvSpPr>
          <p:spPr>
            <a:xfrm>
              <a:off x="846956" y="2104946"/>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8" name="직사각형 7">
              <a:extLst>
                <a:ext uri="{FF2B5EF4-FFF2-40B4-BE49-F238E27FC236}">
                  <a16:creationId xmlns:a16="http://schemas.microsoft.com/office/drawing/2014/main" id="{B1C67988-FF60-4F75-A95E-5004736E1BBE}"/>
                </a:ext>
              </a:extLst>
            </p:cNvPr>
            <p:cNvSpPr/>
            <p:nvPr/>
          </p:nvSpPr>
          <p:spPr>
            <a:xfrm>
              <a:off x="1222454" y="2044049"/>
              <a:ext cx="8121571"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If real estate price is the response variable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𝑌</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which are the most statistically meaningful explanatory variables? Area, location, age, distance to business center, etc. </a:t>
              </a:r>
              <a:endParaRPr lang="it-IT"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grpSp>
      <p:sp>
        <p:nvSpPr>
          <p:cNvPr id="10" name="직사각형 9">
            <a:extLst>
              <a:ext uri="{FF2B5EF4-FFF2-40B4-BE49-F238E27FC236}">
                <a16:creationId xmlns:a16="http://schemas.microsoft.com/office/drawing/2014/main" id="{5033DF0F-8C0A-4A0F-AE82-46AA0ED8310C}"/>
              </a:ext>
            </a:extLst>
          </p:cNvPr>
          <p:cNvSpPr/>
          <p:nvPr/>
        </p:nvSpPr>
        <p:spPr>
          <a:xfrm>
            <a:off x="671261" y="2636912"/>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b) Predict the response given the conditions for the explanatory variables.</a:t>
            </a:r>
          </a:p>
        </p:txBody>
      </p:sp>
      <p:grpSp>
        <p:nvGrpSpPr>
          <p:cNvPr id="11" name="그룹 10">
            <a:extLst>
              <a:ext uri="{FF2B5EF4-FFF2-40B4-BE49-F238E27FC236}">
                <a16:creationId xmlns:a16="http://schemas.microsoft.com/office/drawing/2014/main" id="{D50CCEE2-6368-4B3D-96CA-E64AF9C1C4DC}"/>
              </a:ext>
            </a:extLst>
          </p:cNvPr>
          <p:cNvGrpSpPr/>
          <p:nvPr/>
        </p:nvGrpSpPr>
        <p:grpSpPr>
          <a:xfrm>
            <a:off x="846956" y="2980153"/>
            <a:ext cx="8497069" cy="545516"/>
            <a:chOff x="846956" y="2044049"/>
            <a:chExt cx="8497069" cy="545516"/>
          </a:xfrm>
        </p:grpSpPr>
        <p:sp>
          <p:nvSpPr>
            <p:cNvPr id="12" name="사각형: 둥근 모서리 2">
              <a:extLst>
                <a:ext uri="{FF2B5EF4-FFF2-40B4-BE49-F238E27FC236}">
                  <a16:creationId xmlns:a16="http://schemas.microsoft.com/office/drawing/2014/main" id="{4B83B6F0-8AB6-4579-A0AE-5097AA137E23}"/>
                </a:ext>
              </a:extLst>
            </p:cNvPr>
            <p:cNvSpPr/>
            <p:nvPr/>
          </p:nvSpPr>
          <p:spPr>
            <a:xfrm>
              <a:off x="846956" y="2104946"/>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mc:AlternateContent xmlns:mc="http://schemas.openxmlformats.org/markup-compatibility/2006" xmlns:a14="http://schemas.microsoft.com/office/drawing/2010/main">
          <mc:Choice Requires="a14">
            <p:sp>
              <p:nvSpPr>
                <p:cNvPr id="13" name="직사각형 12">
                  <a:extLst>
                    <a:ext uri="{FF2B5EF4-FFF2-40B4-BE49-F238E27FC236}">
                      <a16:creationId xmlns:a16="http://schemas.microsoft.com/office/drawing/2014/main" id="{678A60EB-64CF-42A0-8835-CFB15F17170C}"/>
                    </a:ext>
                  </a:extLst>
                </p:cNvPr>
                <p:cNvSpPr/>
                <p:nvPr/>
              </p:nvSpPr>
              <p:spPr>
                <a:xfrm>
                  <a:off x="1222454" y="2044049"/>
                  <a:ext cx="8121571"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What is the price of a 10-year-old apartment with an area of 100 </a:t>
                  </a:r>
                  <a14:m>
                    <m:oMath xmlns:m="http://schemas.openxmlformats.org/officeDocument/2006/math">
                      <m:sSup>
                        <m:sSupPr>
                          <m:ctrlPr>
                            <a:rPr lang="en-US" altLang="ko-KR" sz="1300" i="1" smtClean="0">
                              <a:solidFill>
                                <a:prstClr val="black">
                                  <a:lumMod val="85000"/>
                                  <a:lumOff val="15000"/>
                                </a:prstClr>
                              </a:solidFill>
                              <a:latin typeface="Cambria Math" panose="02040503050406030204" pitchFamily="18" charset="0"/>
                              <a:ea typeface="SamsungOne 400" panose="020B0503030303020204" pitchFamily="34" charset="0"/>
                            </a:rPr>
                          </m:ctrlPr>
                        </m:sSupPr>
                        <m:e>
                          <m:r>
                            <a:rPr lang="en-US" altLang="ko-KR" sz="1300" b="0" i="1" smtClean="0">
                              <a:solidFill>
                                <a:prstClr val="black">
                                  <a:lumMod val="85000"/>
                                  <a:lumOff val="15000"/>
                                </a:prstClr>
                              </a:solidFill>
                              <a:latin typeface="Cambria Math" panose="02040503050406030204" pitchFamily="18" charset="0"/>
                              <a:ea typeface="SamsungOne 400" panose="020B0503030303020204" pitchFamily="34" charset="0"/>
                            </a:rPr>
                            <m:t>𝑚</m:t>
                          </m:r>
                        </m:e>
                        <m:sup>
                          <m:r>
                            <a:rPr lang="en-US" altLang="ko-KR" sz="1300" b="0" i="1" smtClean="0">
                              <a:solidFill>
                                <a:prstClr val="black">
                                  <a:lumMod val="85000"/>
                                  <a:lumOff val="15000"/>
                                </a:prstClr>
                              </a:solidFill>
                              <a:latin typeface="Cambria Math" panose="02040503050406030204" pitchFamily="18" charset="0"/>
                              <a:ea typeface="SamsungOne 400" panose="020B0503030303020204" pitchFamily="34" charset="0"/>
                            </a:rPr>
                            <m:t>2</m:t>
                          </m:r>
                        </m:sup>
                      </m:sSup>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and located 3 km away from the business center? ← “predict” the value that is not open to the public yet. </a:t>
                  </a:r>
                  <a:endParaRPr lang="it-IT"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mc:Choice>
          <mc:Fallback xmlns="">
            <p:sp>
              <p:nvSpPr>
                <p:cNvPr id="13" name="직사각형 12">
                  <a:extLst>
                    <a:ext uri="{FF2B5EF4-FFF2-40B4-BE49-F238E27FC236}">
                      <a16:creationId xmlns:a16="http://schemas.microsoft.com/office/drawing/2014/main" xmlns="" id="{678A60EB-64CF-42A0-8835-CFB15F17170C}"/>
                    </a:ext>
                  </a:extLst>
                </p:cNvPr>
                <p:cNvSpPr>
                  <a:spLocks noRot="1" noChangeAspect="1" noMove="1" noResize="1" noEditPoints="1" noAdjustHandles="1" noChangeArrowheads="1" noChangeShapeType="1" noTextEdit="1"/>
                </p:cNvSpPr>
                <p:nvPr/>
              </p:nvSpPr>
              <p:spPr>
                <a:xfrm>
                  <a:off x="1222454" y="2044049"/>
                  <a:ext cx="8121571" cy="545516"/>
                </a:xfrm>
                <a:prstGeom prst="rect">
                  <a:avLst/>
                </a:prstGeom>
                <a:blipFill rotWithShape="0">
                  <a:blip r:embed="rId4"/>
                  <a:stretch>
                    <a:fillRect l="-150"/>
                  </a:stretch>
                </a:blipFill>
                <a:ln>
                  <a:noFill/>
                </a:ln>
              </p:spPr>
              <p:txBody>
                <a:bodyPr/>
                <a:lstStyle/>
                <a:p>
                  <a:r>
                    <a:rPr lang="ko-KR" altLang="en-US">
                      <a:noFill/>
                    </a:rPr>
                    <a:t> </a:t>
                  </a:r>
                </a:p>
              </p:txBody>
            </p:sp>
          </mc:Fallback>
        </mc:AlternateContent>
      </p:grpSp>
    </p:spTree>
    <p:extLst>
      <p:ext uri="{BB962C8B-B14F-4D97-AF65-F5344CB8AC3E}">
        <p14:creationId xmlns:p14="http://schemas.microsoft.com/office/powerpoint/2010/main" val="220582203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Historical background</a:t>
            </a:r>
          </a:p>
        </p:txBody>
      </p:sp>
      <p:sp>
        <p:nvSpPr>
          <p:cNvPr id="15" name="직사각형 14">
            <a:extLst>
              <a:ext uri="{FF2B5EF4-FFF2-40B4-BE49-F238E27FC236}">
                <a16:creationId xmlns:a16="http://schemas.microsoft.com/office/drawing/2014/main" id="{8E02D1CE-2859-45A1-90B6-A62349DC71E3}"/>
              </a:ext>
            </a:extLst>
          </p:cNvPr>
          <p:cNvSpPr/>
          <p:nvPr/>
        </p:nvSpPr>
        <p:spPr>
          <a:xfrm>
            <a:off x="671261" y="1700808"/>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Term “regression” was coined by Francis Galton, 19</a:t>
            </a:r>
            <a:r>
              <a:rPr lang="en-US" altLang="ko-KR" sz="1300" baseline="30000" dirty="0">
                <a:solidFill>
                  <a:prstClr val="black">
                    <a:lumMod val="85000"/>
                    <a:lumOff val="15000"/>
                  </a:prstClr>
                </a:solidFill>
                <a:latin typeface="SamsungOne 400" panose="020B0503030303020204" pitchFamily="34" charset="0"/>
                <a:ea typeface="SamsungOne 400" panose="020B0503030303020204" pitchFamily="34" charset="0"/>
              </a:rPr>
              <a:t>th</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-century biologist. </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heights of the descendants tend to regress towards the mean. </a:t>
            </a:r>
          </a:p>
        </p:txBody>
      </p:sp>
      <p:grpSp>
        <p:nvGrpSpPr>
          <p:cNvPr id="8" name="그룹 7">
            <a:extLst>
              <a:ext uri="{FF2B5EF4-FFF2-40B4-BE49-F238E27FC236}">
                <a16:creationId xmlns:a16="http://schemas.microsoft.com/office/drawing/2014/main" id="{B0641CF3-74CE-4C3D-9A7B-92D06E951A43}"/>
              </a:ext>
            </a:extLst>
          </p:cNvPr>
          <p:cNvGrpSpPr/>
          <p:nvPr/>
        </p:nvGrpSpPr>
        <p:grpSpPr>
          <a:xfrm>
            <a:off x="929758" y="2634905"/>
            <a:ext cx="4077542" cy="2391678"/>
            <a:chOff x="970856" y="3648531"/>
            <a:chExt cx="4077542" cy="2391678"/>
          </a:xfrm>
        </p:grpSpPr>
        <p:grpSp>
          <p:nvGrpSpPr>
            <p:cNvPr id="9" name="Group 21">
              <a:extLst>
                <a:ext uri="{FF2B5EF4-FFF2-40B4-BE49-F238E27FC236}">
                  <a16:creationId xmlns:a16="http://schemas.microsoft.com/office/drawing/2014/main" id="{74AE2B50-2FF9-4D4E-9C99-EF5D7959ACA1}"/>
                </a:ext>
              </a:extLst>
            </p:cNvPr>
            <p:cNvGrpSpPr/>
            <p:nvPr/>
          </p:nvGrpSpPr>
          <p:grpSpPr>
            <a:xfrm>
              <a:off x="970856" y="3648531"/>
              <a:ext cx="4077542" cy="2391678"/>
              <a:chOff x="2469455" y="3848762"/>
              <a:chExt cx="4077542" cy="2391678"/>
            </a:xfrm>
          </p:grpSpPr>
          <p:cxnSp>
            <p:nvCxnSpPr>
              <p:cNvPr id="17" name="Straight Arrow Connector 16">
                <a:extLst>
                  <a:ext uri="{FF2B5EF4-FFF2-40B4-BE49-F238E27FC236}">
                    <a16:creationId xmlns:a16="http://schemas.microsoft.com/office/drawing/2014/main" id="{F171EA3B-64E8-44FB-B5D4-8836B35358E5}"/>
                  </a:ext>
                </a:extLst>
              </p:cNvPr>
              <p:cNvCxnSpPr/>
              <p:nvPr/>
            </p:nvCxnSpPr>
            <p:spPr>
              <a:xfrm flipV="1">
                <a:off x="3503712" y="3884750"/>
                <a:ext cx="0" cy="199936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84F948B-1178-4093-B316-BF5B9B50B642}"/>
                  </a:ext>
                </a:extLst>
              </p:cNvPr>
              <p:cNvCxnSpPr/>
              <p:nvPr/>
            </p:nvCxnSpPr>
            <p:spPr>
              <a:xfrm>
                <a:off x="3503712" y="5882355"/>
                <a:ext cx="2952008" cy="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578A015-7FAA-4FDD-BC45-5020101FE28E}"/>
                  </a:ext>
                </a:extLst>
              </p:cNvPr>
              <p:cNvSpPr txBox="1"/>
              <p:nvPr/>
            </p:nvSpPr>
            <p:spPr>
              <a:xfrm>
                <a:off x="5406941" y="5963441"/>
                <a:ext cx="1140056" cy="276999"/>
              </a:xfrm>
              <a:prstGeom prst="rect">
                <a:avLst/>
              </a:prstGeom>
              <a:noFill/>
            </p:spPr>
            <p:txBody>
              <a:bodyPr wrap="non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dirty="0"/>
                  <a:t>Parent</a:t>
                </a:r>
                <a:r>
                  <a:rPr lang="ko-KR" altLang="en-US" dirty="0"/>
                  <a:t> </a:t>
                </a:r>
                <a:r>
                  <a:rPr lang="en-US" altLang="ko-KR" dirty="0"/>
                  <a:t>Height</a:t>
                </a:r>
                <a:endParaRPr lang="ko-KR" altLang="en-US" dirty="0"/>
              </a:p>
            </p:txBody>
          </p:sp>
          <p:sp>
            <p:nvSpPr>
              <p:cNvPr id="20" name="TextBox 19">
                <a:extLst>
                  <a:ext uri="{FF2B5EF4-FFF2-40B4-BE49-F238E27FC236}">
                    <a16:creationId xmlns:a16="http://schemas.microsoft.com/office/drawing/2014/main" id="{E42A5263-BF5C-4E53-A046-40EBEBC2FEC7}"/>
                  </a:ext>
                </a:extLst>
              </p:cNvPr>
              <p:cNvSpPr txBox="1"/>
              <p:nvPr/>
            </p:nvSpPr>
            <p:spPr>
              <a:xfrm>
                <a:off x="2469455" y="3848762"/>
                <a:ext cx="1034257" cy="276999"/>
              </a:xfrm>
              <a:prstGeom prst="rect">
                <a:avLst/>
              </a:prstGeom>
              <a:noFill/>
            </p:spPr>
            <p:txBody>
              <a:bodyPr wrap="non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dirty="0"/>
                  <a:t>Child</a:t>
                </a:r>
                <a:r>
                  <a:rPr lang="ko-KR" altLang="en-US" dirty="0"/>
                  <a:t> </a:t>
                </a:r>
                <a:r>
                  <a:rPr lang="en-US" altLang="ko-KR" dirty="0"/>
                  <a:t>Height</a:t>
                </a:r>
                <a:endParaRPr lang="ko-KR" altLang="en-US" dirty="0"/>
              </a:p>
            </p:txBody>
          </p:sp>
        </p:grpSp>
        <p:cxnSp>
          <p:nvCxnSpPr>
            <p:cNvPr id="10" name="Straight Connector 19">
              <a:extLst>
                <a:ext uri="{FF2B5EF4-FFF2-40B4-BE49-F238E27FC236}">
                  <a16:creationId xmlns:a16="http://schemas.microsoft.com/office/drawing/2014/main" id="{4B97C1BA-868A-4C1C-8D5E-B20CA9F7FF86}"/>
                </a:ext>
              </a:extLst>
            </p:cNvPr>
            <p:cNvCxnSpPr/>
            <p:nvPr/>
          </p:nvCxnSpPr>
          <p:spPr>
            <a:xfrm flipV="1">
              <a:off x="2189285" y="4127321"/>
              <a:ext cx="2365130" cy="1411833"/>
            </a:xfrm>
            <a:prstGeom prst="line">
              <a:avLst/>
            </a:prstGeom>
            <a:ln w="19050">
              <a:solidFill>
                <a:srgbClr val="193EB0"/>
              </a:solidFill>
            </a:ln>
          </p:spPr>
          <p:style>
            <a:lnRef idx="1">
              <a:schemeClr val="accent1"/>
            </a:lnRef>
            <a:fillRef idx="0">
              <a:schemeClr val="accent1"/>
            </a:fillRef>
            <a:effectRef idx="0">
              <a:schemeClr val="accent1"/>
            </a:effectRef>
            <a:fontRef idx="minor">
              <a:schemeClr val="tx1"/>
            </a:fontRef>
          </p:style>
        </p:cxnSp>
        <p:sp>
          <p:nvSpPr>
            <p:cNvPr id="11" name="Oval 34">
              <a:extLst>
                <a:ext uri="{FF2B5EF4-FFF2-40B4-BE49-F238E27FC236}">
                  <a16:creationId xmlns:a16="http://schemas.microsoft.com/office/drawing/2014/main" id="{F9FE6C25-28CE-4BD7-B3E3-E18B9F472048}"/>
                </a:ext>
              </a:extLst>
            </p:cNvPr>
            <p:cNvSpPr/>
            <p:nvPr/>
          </p:nvSpPr>
          <p:spPr>
            <a:xfrm>
              <a:off x="2444805" y="5350657"/>
              <a:ext cx="188497" cy="188497"/>
            </a:xfrm>
            <a:prstGeom prst="ellipse">
              <a:avLst/>
            </a:prstGeom>
            <a:solidFill>
              <a:srgbClr val="FF0000">
                <a:alpha val="50000"/>
              </a:srgbClr>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34">
              <a:extLst>
                <a:ext uri="{FF2B5EF4-FFF2-40B4-BE49-F238E27FC236}">
                  <a16:creationId xmlns:a16="http://schemas.microsoft.com/office/drawing/2014/main" id="{692B7236-D3A6-4EB8-990D-DFA0B530D2CE}"/>
                </a:ext>
              </a:extLst>
            </p:cNvPr>
            <p:cNvSpPr/>
            <p:nvPr/>
          </p:nvSpPr>
          <p:spPr>
            <a:xfrm>
              <a:off x="3148189" y="4946211"/>
              <a:ext cx="188497" cy="188497"/>
            </a:xfrm>
            <a:prstGeom prst="ellipse">
              <a:avLst/>
            </a:prstGeom>
            <a:solidFill>
              <a:srgbClr val="FF0000">
                <a:alpha val="50000"/>
              </a:srgbClr>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34">
              <a:extLst>
                <a:ext uri="{FF2B5EF4-FFF2-40B4-BE49-F238E27FC236}">
                  <a16:creationId xmlns:a16="http://schemas.microsoft.com/office/drawing/2014/main" id="{C545624A-A69B-483C-8987-039A27B284FE}"/>
                </a:ext>
              </a:extLst>
            </p:cNvPr>
            <p:cNvSpPr/>
            <p:nvPr/>
          </p:nvSpPr>
          <p:spPr>
            <a:xfrm>
              <a:off x="3772443" y="3970264"/>
              <a:ext cx="188497" cy="188497"/>
            </a:xfrm>
            <a:prstGeom prst="ellipse">
              <a:avLst/>
            </a:prstGeom>
            <a:solidFill>
              <a:srgbClr val="FF0000">
                <a:alpha val="50000"/>
              </a:srgbClr>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34">
              <a:extLst>
                <a:ext uri="{FF2B5EF4-FFF2-40B4-BE49-F238E27FC236}">
                  <a16:creationId xmlns:a16="http://schemas.microsoft.com/office/drawing/2014/main" id="{364D15B5-C46B-40DA-9BD0-C1AD8342C8BE}"/>
                </a:ext>
              </a:extLst>
            </p:cNvPr>
            <p:cNvSpPr/>
            <p:nvPr/>
          </p:nvSpPr>
          <p:spPr>
            <a:xfrm>
              <a:off x="4458243" y="4207657"/>
              <a:ext cx="188497" cy="188497"/>
            </a:xfrm>
            <a:prstGeom prst="ellipse">
              <a:avLst/>
            </a:prstGeom>
            <a:solidFill>
              <a:srgbClr val="FF0000">
                <a:alpha val="50000"/>
              </a:srgbClr>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위쪽/아래쪽 화살표 41">
              <a:extLst>
                <a:ext uri="{FF2B5EF4-FFF2-40B4-BE49-F238E27FC236}">
                  <a16:creationId xmlns:a16="http://schemas.microsoft.com/office/drawing/2014/main" id="{5199BC17-C5A6-4CD8-B743-F998A2A0F69F}"/>
                </a:ext>
              </a:extLst>
            </p:cNvPr>
            <p:cNvSpPr/>
            <p:nvPr/>
          </p:nvSpPr>
          <p:spPr>
            <a:xfrm>
              <a:off x="3825040" y="4179699"/>
              <a:ext cx="83302" cy="335187"/>
            </a:xfrm>
            <a:prstGeom prst="upDownArrow">
              <a:avLst>
                <a:gd name="adj1" fmla="val 42376"/>
                <a:gd name="adj2" fmla="val 72869"/>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3" name="그룹 2"/>
          <p:cNvGrpSpPr/>
          <p:nvPr/>
        </p:nvGrpSpPr>
        <p:grpSpPr>
          <a:xfrm>
            <a:off x="5620034" y="2551110"/>
            <a:ext cx="1563626" cy="2477150"/>
            <a:chOff x="5620034" y="2551110"/>
            <a:chExt cx="1563626" cy="2477150"/>
          </a:xfrm>
        </p:grpSpPr>
        <p:pic>
          <p:nvPicPr>
            <p:cNvPr id="7" name="Picture 1">
              <a:extLst>
                <a:ext uri="{FF2B5EF4-FFF2-40B4-BE49-F238E27FC236}">
                  <a16:creationId xmlns:a16="http://schemas.microsoft.com/office/drawing/2014/main" id="{0050252D-8054-4363-85EB-2DD339B9CE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20034" y="2551110"/>
              <a:ext cx="1563626" cy="2128762"/>
            </a:xfrm>
            <a:prstGeom prst="rect">
              <a:avLst/>
            </a:prstGeom>
          </p:spPr>
        </p:pic>
        <p:sp>
          <p:nvSpPr>
            <p:cNvPr id="2" name="직사각형 1"/>
            <p:cNvSpPr/>
            <p:nvPr/>
          </p:nvSpPr>
          <p:spPr>
            <a:xfrm>
              <a:off x="5762088" y="4735872"/>
              <a:ext cx="1279517" cy="292388"/>
            </a:xfrm>
            <a:prstGeom prst="rect">
              <a:avLst/>
            </a:prstGeom>
          </p:spPr>
          <p:txBody>
            <a:bodyPr wrap="none">
              <a:spAutoFit/>
            </a:bodyPr>
            <a:lstStyle/>
            <a:p>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Francis Galton</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grpSp>
    </p:spTree>
    <p:extLst>
      <p:ext uri="{BB962C8B-B14F-4D97-AF65-F5344CB8AC3E}">
        <p14:creationId xmlns:p14="http://schemas.microsoft.com/office/powerpoint/2010/main" val="419736060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Pros</a:t>
            </a:r>
          </a:p>
        </p:txBody>
      </p:sp>
      <p:sp>
        <p:nvSpPr>
          <p:cNvPr id="15" name="직사각형 14">
            <a:extLst>
              <a:ext uri="{FF2B5EF4-FFF2-40B4-BE49-F238E27FC236}">
                <a16:creationId xmlns:a16="http://schemas.microsoft.com/office/drawing/2014/main" id="{8E02D1CE-2859-45A1-90B6-A62349DC71E3}"/>
              </a:ext>
            </a:extLst>
          </p:cNvPr>
          <p:cNvSpPr/>
          <p:nvPr/>
        </p:nvSpPr>
        <p:spPr>
          <a:xfrm>
            <a:off x="671261" y="1700808"/>
            <a:ext cx="863282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Solid statistical and mathematical background</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Source of insights</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Fast training</a:t>
            </a:r>
          </a:p>
        </p:txBody>
      </p:sp>
      <p:sp>
        <p:nvSpPr>
          <p:cNvPr id="27" name="직사각형 26">
            <a:extLst>
              <a:ext uri="{FF2B5EF4-FFF2-40B4-BE49-F238E27FC236}">
                <a16:creationId xmlns:a16="http://schemas.microsoft.com/office/drawing/2014/main" id="{EF13D27E-96C5-4D1B-A96A-F234B48A944D}"/>
              </a:ext>
            </a:extLst>
          </p:cNvPr>
          <p:cNvSpPr/>
          <p:nvPr/>
        </p:nvSpPr>
        <p:spPr>
          <a:xfrm>
            <a:off x="558924" y="2796897"/>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Cons</a:t>
            </a:r>
          </a:p>
        </p:txBody>
      </p:sp>
      <p:sp>
        <p:nvSpPr>
          <p:cNvPr id="28" name="직사각형 27">
            <a:extLst>
              <a:ext uri="{FF2B5EF4-FFF2-40B4-BE49-F238E27FC236}">
                <a16:creationId xmlns:a16="http://schemas.microsoft.com/office/drawing/2014/main" id="{BC2F2D29-A22B-4AA7-8B38-FA43A3C01865}"/>
              </a:ext>
            </a:extLst>
          </p:cNvPr>
          <p:cNvSpPr/>
          <p:nvPr/>
        </p:nvSpPr>
        <p:spPr>
          <a:xfrm>
            <a:off x="671261" y="3068960"/>
            <a:ext cx="863282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Many assumptions: linearity, normality, independence of the explanatory variables, etc.</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Sensitive to outliers</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Prone to multi-collinearity</a:t>
            </a:r>
          </a:p>
        </p:txBody>
      </p:sp>
    </p:spTree>
    <p:extLst>
      <p:ext uri="{BB962C8B-B14F-4D97-AF65-F5344CB8AC3E}">
        <p14:creationId xmlns:p14="http://schemas.microsoft.com/office/powerpoint/2010/main" val="403970718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Assumptions</a:t>
            </a:r>
          </a:p>
        </p:txBody>
      </p:sp>
      <p:sp>
        <p:nvSpPr>
          <p:cNvPr id="15" name="직사각형 14">
            <a:extLst>
              <a:ext uri="{FF2B5EF4-FFF2-40B4-BE49-F238E27FC236}">
                <a16:creationId xmlns:a16="http://schemas.microsoft.com/office/drawing/2014/main" id="{8E02D1CE-2859-45A1-90B6-A62349DC71E3}"/>
              </a:ext>
            </a:extLst>
          </p:cNvPr>
          <p:cNvSpPr/>
          <p:nvPr/>
        </p:nvSpPr>
        <p:spPr>
          <a:xfrm>
            <a:off x="671261" y="1700808"/>
            <a:ext cx="8632825" cy="15560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response variable can be explained by a linear combination of the explanatory variables.</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There should be no multi-collinearity. </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Residuals should be normally distributed centered around 0.</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Residuals should be distributed with a constant variance.</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Residuals should be randomly distributed without a pattern.</a:t>
            </a:r>
          </a:p>
        </p:txBody>
      </p:sp>
      <p:grpSp>
        <p:nvGrpSpPr>
          <p:cNvPr id="9" name="그룹 8">
            <a:extLst>
              <a:ext uri="{FF2B5EF4-FFF2-40B4-BE49-F238E27FC236}">
                <a16:creationId xmlns:a16="http://schemas.microsoft.com/office/drawing/2014/main" id="{D9CBD845-14B8-4FC0-AADB-F62BC5886849}"/>
              </a:ext>
            </a:extLst>
          </p:cNvPr>
          <p:cNvGrpSpPr/>
          <p:nvPr/>
        </p:nvGrpSpPr>
        <p:grpSpPr>
          <a:xfrm>
            <a:off x="5515997" y="2363331"/>
            <a:ext cx="2478766" cy="813641"/>
            <a:chOff x="5515997" y="3196401"/>
            <a:chExt cx="2478766" cy="878876"/>
          </a:xfrm>
        </p:grpSpPr>
        <p:sp>
          <p:nvSpPr>
            <p:cNvPr id="10" name="오른쪽 중괄호 9">
              <a:extLst>
                <a:ext uri="{FF2B5EF4-FFF2-40B4-BE49-F238E27FC236}">
                  <a16:creationId xmlns:a16="http://schemas.microsoft.com/office/drawing/2014/main" id="{DB51A17B-4C09-476D-B8D8-6C66B53235BF}"/>
                </a:ext>
              </a:extLst>
            </p:cNvPr>
            <p:cNvSpPr/>
            <p:nvPr/>
          </p:nvSpPr>
          <p:spPr>
            <a:xfrm>
              <a:off x="5515997" y="3196401"/>
              <a:ext cx="199004" cy="878876"/>
            </a:xfrm>
            <a:prstGeom prst="rightBrace">
              <a:avLst>
                <a:gd name="adj1" fmla="val 34851"/>
                <a:gd name="adj2" fmla="val 50000"/>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dirty="0"/>
            </a:p>
          </p:txBody>
        </p:sp>
        <p:sp>
          <p:nvSpPr>
            <p:cNvPr id="11" name="TextBox 10">
              <a:extLst>
                <a:ext uri="{FF2B5EF4-FFF2-40B4-BE49-F238E27FC236}">
                  <a16:creationId xmlns:a16="http://schemas.microsoft.com/office/drawing/2014/main" id="{65DDF5BD-C6B0-4A22-A774-3B166AFD3C14}"/>
                </a:ext>
              </a:extLst>
            </p:cNvPr>
            <p:cNvSpPr txBox="1"/>
            <p:nvPr/>
          </p:nvSpPr>
          <p:spPr>
            <a:xfrm>
              <a:off x="5815039" y="3502083"/>
              <a:ext cx="2179724" cy="276999"/>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spcAft>
                  <a:spcPts val="600"/>
                </a:spcAft>
                <a:defRPr sz="1200">
                  <a:solidFill>
                    <a:srgbClr val="193EB0"/>
                  </a:solidFill>
                  <a:latin typeface="SamsungOne 700" panose="020B0803030303020204" pitchFamily="34" charset="0"/>
                  <a:ea typeface="SamsungOne 700" panose="020B0803030303020204" pitchFamily="34" charset="0"/>
                </a:defRPr>
              </a:lvl1pPr>
            </a:lstStyle>
            <a:p>
              <a:r>
                <a:rPr lang="en-US" altLang="ko-KR" sz="1300" dirty="0"/>
                <a:t>Residual analysis</a:t>
              </a:r>
              <a:endParaRPr lang="en-US" sz="1300" dirty="0"/>
            </a:p>
          </p:txBody>
        </p:sp>
      </p:grpSp>
    </p:spTree>
    <p:extLst>
      <p:ext uri="{BB962C8B-B14F-4D97-AF65-F5344CB8AC3E}">
        <p14:creationId xmlns:p14="http://schemas.microsoft.com/office/powerpoint/2010/main" val="126079089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Linear model</a:t>
            </a:r>
          </a:p>
        </p:txBody>
      </p:sp>
      <p:sp>
        <p:nvSpPr>
          <p:cNvPr id="15" name="직사각형 14">
            <a:extLst>
              <a:ext uri="{FF2B5EF4-FFF2-40B4-BE49-F238E27FC236}">
                <a16:creationId xmlns:a16="http://schemas.microsoft.com/office/drawing/2014/main" id="{8E02D1CE-2859-45A1-90B6-A62349DC71E3}"/>
              </a:ext>
            </a:extLst>
          </p:cNvPr>
          <p:cNvSpPr/>
          <p:nvPr/>
        </p:nvSpPr>
        <p:spPr>
          <a:xfrm>
            <a:off x="671261" y="3335326"/>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Variable values are given by data.</a:t>
            </a:r>
          </a:p>
        </p:txBody>
      </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094484C5-2855-44F1-B543-271FC5A64EF4}"/>
                  </a:ext>
                </a:extLst>
              </p:cNvPr>
              <p:cNvSpPr/>
              <p:nvPr/>
            </p:nvSpPr>
            <p:spPr>
              <a:xfrm>
                <a:off x="3097300" y="1786898"/>
                <a:ext cx="3708223" cy="3385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14:m>
                  <m:oMathPara xmlns:m="http://schemas.openxmlformats.org/officeDocument/2006/math">
                    <m:oMathParaPr>
                      <m:jc m:val="center"/>
                    </m:oMathParaPr>
                    <m:oMath xmlns:m="http://schemas.openxmlformats.org/officeDocument/2006/math">
                      <m:r>
                        <a:rPr lang="en-US" altLang="ko-KR" sz="1600">
                          <a:solidFill>
                            <a:srgbClr val="193EB0"/>
                          </a:solidFill>
                          <a:latin typeface="Cambria Math" panose="02040503050406030204" pitchFamily="18" charset="0"/>
                        </a:rPr>
                        <m:t>𝑌</m:t>
                      </m:r>
                      <m:r>
                        <a:rPr lang="en-US" altLang="ko-KR" sz="1600" smtClean="0">
                          <a:solidFill>
                            <a:schemeClr val="tx1"/>
                          </a:solidFill>
                          <a:latin typeface="Cambria Math" panose="02040503050406030204" pitchFamily="18" charset="0"/>
                        </a:rPr>
                        <m:t>=</m:t>
                      </m:r>
                      <m:sSub>
                        <m:sSubPr>
                          <m:ctrlPr>
                            <a:rPr lang="ko-KR" altLang="ko-KR" sz="1600" i="1">
                              <a:solidFill>
                                <a:schemeClr val="tx1"/>
                              </a:solidFill>
                              <a:latin typeface="Cambria Math" panose="02040503050406030204" pitchFamily="18" charset="0"/>
                            </a:rPr>
                          </m:ctrlPr>
                        </m:sSubPr>
                        <m:e>
                          <m:sSub>
                            <m:sSubPr>
                              <m:ctrlPr>
                                <a:rPr lang="ko-KR" altLang="ko-KR" sz="1600" i="1">
                                  <a:solidFill>
                                    <a:schemeClr val="tx1"/>
                                  </a:solidFill>
                                  <a:latin typeface="Cambria Math" panose="02040503050406030204" pitchFamily="18" charset="0"/>
                                </a:rPr>
                              </m:ctrlPr>
                            </m:sSubPr>
                            <m:e>
                              <m:r>
                                <a:rPr lang="en-US" altLang="ko-KR" sz="1600">
                                  <a:solidFill>
                                    <a:schemeClr val="tx1"/>
                                  </a:solidFill>
                                  <a:latin typeface="Cambria Math" panose="02040503050406030204" pitchFamily="18" charset="0"/>
                                </a:rPr>
                                <m:t>𝛽</m:t>
                              </m:r>
                            </m:e>
                            <m:sub>
                              <m:r>
                                <a:rPr lang="en-US" altLang="ko-KR" sz="1600">
                                  <a:solidFill>
                                    <a:schemeClr val="tx1"/>
                                  </a:solidFill>
                                  <a:latin typeface="Cambria Math" panose="02040503050406030204" pitchFamily="18" charset="0"/>
                                </a:rPr>
                                <m:t>0</m:t>
                              </m:r>
                            </m:sub>
                          </m:sSub>
                          <m:r>
                            <a:rPr lang="en-US" altLang="ko-KR" sz="1600">
                              <a:solidFill>
                                <a:schemeClr val="tx1"/>
                              </a:solidFill>
                              <a:latin typeface="Cambria Math" panose="02040503050406030204" pitchFamily="18" charset="0"/>
                            </a:rPr>
                            <m:t>+</m:t>
                          </m:r>
                          <m:r>
                            <a:rPr lang="en-US" altLang="ko-KR" sz="1600">
                              <a:solidFill>
                                <a:schemeClr val="tx1"/>
                              </a:solidFill>
                              <a:latin typeface="Cambria Math" panose="02040503050406030204" pitchFamily="18" charset="0"/>
                            </a:rPr>
                            <m:t>𝛽</m:t>
                          </m:r>
                        </m:e>
                        <m:sub>
                          <m:r>
                            <a:rPr lang="en-US" altLang="ko-KR" sz="1600">
                              <a:solidFill>
                                <a:schemeClr val="tx1"/>
                              </a:solidFill>
                              <a:latin typeface="Cambria Math" panose="02040503050406030204" pitchFamily="18" charset="0"/>
                            </a:rPr>
                            <m:t>1</m:t>
                          </m:r>
                        </m:sub>
                      </m:sSub>
                      <m:sSub>
                        <m:sSubPr>
                          <m:ctrlPr>
                            <a:rPr lang="ko-KR" altLang="ko-KR" sz="1600" i="1">
                              <a:solidFill>
                                <a:srgbClr val="00B050"/>
                              </a:solidFill>
                              <a:latin typeface="Cambria Math" panose="02040503050406030204" pitchFamily="18" charset="0"/>
                            </a:rPr>
                          </m:ctrlPr>
                        </m:sSubPr>
                        <m:e>
                          <m:r>
                            <a:rPr lang="en-US" altLang="ko-KR" sz="1600">
                              <a:solidFill>
                                <a:srgbClr val="00B050"/>
                              </a:solidFill>
                              <a:latin typeface="Cambria Math" panose="02040503050406030204" pitchFamily="18" charset="0"/>
                            </a:rPr>
                            <m:t>𝑋</m:t>
                          </m:r>
                        </m:e>
                        <m:sub>
                          <m:r>
                            <a:rPr lang="en-US" altLang="ko-KR" sz="1600">
                              <a:solidFill>
                                <a:srgbClr val="00B050"/>
                              </a:solidFill>
                              <a:latin typeface="Cambria Math" panose="02040503050406030204" pitchFamily="18" charset="0"/>
                            </a:rPr>
                            <m:t>1</m:t>
                          </m:r>
                        </m:sub>
                      </m:sSub>
                      <m:r>
                        <a:rPr lang="en-US" altLang="ko-KR" sz="1600" smtClean="0">
                          <a:solidFill>
                            <a:schemeClr val="tx1"/>
                          </a:solidFill>
                          <a:latin typeface="Cambria Math" panose="02040503050406030204" pitchFamily="18" charset="0"/>
                        </a:rPr>
                        <m:t>+</m:t>
                      </m:r>
                      <m:sSub>
                        <m:sSubPr>
                          <m:ctrlPr>
                            <a:rPr lang="ko-KR" altLang="ko-KR" sz="1600" i="1">
                              <a:solidFill>
                                <a:schemeClr val="tx1"/>
                              </a:solidFill>
                              <a:latin typeface="Cambria Math" panose="02040503050406030204" pitchFamily="18" charset="0"/>
                            </a:rPr>
                          </m:ctrlPr>
                        </m:sSubPr>
                        <m:e>
                          <m:r>
                            <a:rPr lang="en-US" altLang="ko-KR" sz="1600">
                              <a:solidFill>
                                <a:schemeClr val="tx1"/>
                              </a:solidFill>
                              <a:latin typeface="Cambria Math" panose="02040503050406030204" pitchFamily="18" charset="0"/>
                            </a:rPr>
                            <m:t>𝛽</m:t>
                          </m:r>
                        </m:e>
                        <m:sub>
                          <m:r>
                            <a:rPr lang="en-US" altLang="ko-KR" sz="1600">
                              <a:solidFill>
                                <a:schemeClr val="tx1"/>
                              </a:solidFill>
                              <a:latin typeface="Cambria Math" panose="02040503050406030204" pitchFamily="18" charset="0"/>
                            </a:rPr>
                            <m:t>2</m:t>
                          </m:r>
                        </m:sub>
                      </m:sSub>
                      <m:sSub>
                        <m:sSubPr>
                          <m:ctrlPr>
                            <a:rPr lang="ko-KR" altLang="ko-KR" sz="1600" i="1">
                              <a:solidFill>
                                <a:srgbClr val="00B050"/>
                              </a:solidFill>
                              <a:latin typeface="Cambria Math" panose="02040503050406030204" pitchFamily="18" charset="0"/>
                            </a:rPr>
                          </m:ctrlPr>
                        </m:sSubPr>
                        <m:e>
                          <m:r>
                            <a:rPr lang="en-US" altLang="ko-KR" sz="1600">
                              <a:solidFill>
                                <a:srgbClr val="00B050"/>
                              </a:solidFill>
                              <a:latin typeface="Cambria Math" panose="02040503050406030204" pitchFamily="18" charset="0"/>
                            </a:rPr>
                            <m:t>𝑋</m:t>
                          </m:r>
                        </m:e>
                        <m:sub>
                          <m:r>
                            <a:rPr lang="en-US" altLang="ko-KR" sz="1600">
                              <a:solidFill>
                                <a:srgbClr val="00B050"/>
                              </a:solidFill>
                              <a:latin typeface="Cambria Math" panose="02040503050406030204" pitchFamily="18" charset="0"/>
                            </a:rPr>
                            <m:t>2</m:t>
                          </m:r>
                        </m:sub>
                      </m:sSub>
                      <m:r>
                        <a:rPr lang="en-US" altLang="ko-KR" sz="1600" smtClean="0">
                          <a:solidFill>
                            <a:schemeClr val="tx1"/>
                          </a:solidFill>
                          <a:latin typeface="Cambria Math" panose="02040503050406030204" pitchFamily="18" charset="0"/>
                        </a:rPr>
                        <m:t>+⋯+</m:t>
                      </m:r>
                      <m:sSub>
                        <m:sSubPr>
                          <m:ctrlPr>
                            <a:rPr lang="ko-KR" altLang="ko-KR" sz="1600" i="1">
                              <a:solidFill>
                                <a:schemeClr val="tx1"/>
                              </a:solidFill>
                              <a:latin typeface="Cambria Math" panose="02040503050406030204" pitchFamily="18" charset="0"/>
                            </a:rPr>
                          </m:ctrlPr>
                        </m:sSubPr>
                        <m:e>
                          <m:r>
                            <a:rPr lang="en-US" altLang="ko-KR" sz="1600">
                              <a:solidFill>
                                <a:schemeClr val="tx1"/>
                              </a:solidFill>
                              <a:latin typeface="Cambria Math" panose="02040503050406030204" pitchFamily="18" charset="0"/>
                            </a:rPr>
                            <m:t>𝛽</m:t>
                          </m:r>
                        </m:e>
                        <m:sub>
                          <m:r>
                            <a:rPr lang="en-US" altLang="ko-KR" sz="1600">
                              <a:solidFill>
                                <a:schemeClr val="tx1"/>
                              </a:solidFill>
                              <a:latin typeface="Cambria Math" panose="02040503050406030204" pitchFamily="18" charset="0"/>
                            </a:rPr>
                            <m:t>𝑘</m:t>
                          </m:r>
                        </m:sub>
                      </m:sSub>
                      <m:sSub>
                        <m:sSubPr>
                          <m:ctrlPr>
                            <a:rPr lang="ko-KR" altLang="ko-KR" sz="1600" i="1">
                              <a:solidFill>
                                <a:srgbClr val="00B050"/>
                              </a:solidFill>
                              <a:latin typeface="Cambria Math" panose="02040503050406030204" pitchFamily="18" charset="0"/>
                            </a:rPr>
                          </m:ctrlPr>
                        </m:sSubPr>
                        <m:e>
                          <m:r>
                            <a:rPr lang="en-US" altLang="ko-KR" sz="1600">
                              <a:solidFill>
                                <a:srgbClr val="00B050"/>
                              </a:solidFill>
                              <a:latin typeface="Cambria Math" panose="02040503050406030204" pitchFamily="18" charset="0"/>
                            </a:rPr>
                            <m:t>𝑋</m:t>
                          </m:r>
                        </m:e>
                        <m:sub>
                          <m:r>
                            <a:rPr lang="en-US" altLang="ko-KR" sz="1600">
                              <a:solidFill>
                                <a:srgbClr val="00B050"/>
                              </a:solidFill>
                              <a:latin typeface="Cambria Math" panose="02040503050406030204" pitchFamily="18" charset="0"/>
                            </a:rPr>
                            <m:t>𝑘</m:t>
                          </m:r>
                        </m:sub>
                      </m:sSub>
                      <m:r>
                        <a:rPr lang="en-US" altLang="ko-KR" sz="1600" smtClean="0">
                          <a:solidFill>
                            <a:schemeClr val="tx1"/>
                          </a:solidFill>
                          <a:latin typeface="Cambria Math" panose="02040503050406030204" pitchFamily="18" charset="0"/>
                        </a:rPr>
                        <m:t>+</m:t>
                      </m:r>
                      <m:r>
                        <a:rPr lang="en-US" altLang="ko-KR" sz="1600">
                          <a:solidFill>
                            <a:schemeClr val="tx1"/>
                          </a:solidFill>
                          <a:latin typeface="Cambria Math" panose="02040503050406030204" pitchFamily="18" charset="0"/>
                          <a:sym typeface="Symbol"/>
                        </a:rPr>
                        <m:t></m:t>
                      </m:r>
                    </m:oMath>
                  </m:oMathPara>
                </a14:m>
                <a:endParaRPr lang="en-US" altLang="ko-KR" sz="1600" dirty="0"/>
              </a:p>
            </p:txBody>
          </p:sp>
        </mc:Choice>
        <mc:Fallback xmlns="">
          <p:sp>
            <p:nvSpPr>
              <p:cNvPr id="12" name="직사각형 11">
                <a:extLst>
                  <a:ext uri="{FF2B5EF4-FFF2-40B4-BE49-F238E27FC236}">
                    <a16:creationId xmlns:a16="http://schemas.microsoft.com/office/drawing/2014/main" id="{094484C5-2855-44F1-B543-271FC5A64EF4}"/>
                  </a:ext>
                </a:extLst>
              </p:cNvPr>
              <p:cNvSpPr>
                <a:spLocks noRot="1" noChangeAspect="1" noMove="1" noResize="1" noEditPoints="1" noAdjustHandles="1" noChangeArrowheads="1" noChangeShapeType="1" noTextEdit="1"/>
              </p:cNvSpPr>
              <p:nvPr/>
            </p:nvSpPr>
            <p:spPr>
              <a:xfrm>
                <a:off x="3097300" y="1786898"/>
                <a:ext cx="3708223" cy="338554"/>
              </a:xfrm>
              <a:prstGeom prst="rect">
                <a:avLst/>
              </a:prstGeom>
              <a:blipFill>
                <a:blip r:embed="rId4"/>
                <a:stretch>
                  <a:fillRect b="-8929"/>
                </a:stretch>
              </a:blipFill>
              <a:ln>
                <a:noFill/>
              </a:ln>
            </p:spPr>
            <p:txBody>
              <a:bodyPr/>
              <a:lstStyle/>
              <a:p>
                <a:r>
                  <a:rPr lang="ko-KR" altLang="en-US">
                    <a:noFill/>
                  </a:rPr>
                  <a:t> </a:t>
                </a:r>
              </a:p>
            </p:txBody>
          </p:sp>
        </mc:Fallback>
      </mc:AlternateContent>
      <p:cxnSp>
        <p:nvCxnSpPr>
          <p:cNvPr id="13" name="Straight Arrow Connector 8">
            <a:extLst>
              <a:ext uri="{FF2B5EF4-FFF2-40B4-BE49-F238E27FC236}">
                <a16:creationId xmlns:a16="http://schemas.microsoft.com/office/drawing/2014/main" id="{EBA5C28C-06FB-4254-8D2A-72914B216F52}"/>
              </a:ext>
            </a:extLst>
          </p:cNvPr>
          <p:cNvCxnSpPr/>
          <p:nvPr/>
        </p:nvCxnSpPr>
        <p:spPr>
          <a:xfrm flipV="1">
            <a:off x="3321072" y="2190120"/>
            <a:ext cx="0" cy="437259"/>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56FA34D-19BD-4871-83A6-EF178C114A6D}"/>
              </a:ext>
            </a:extLst>
          </p:cNvPr>
          <p:cNvSpPr txBox="1"/>
          <p:nvPr/>
        </p:nvSpPr>
        <p:spPr>
          <a:xfrm>
            <a:off x="2599577" y="2703759"/>
            <a:ext cx="1442990" cy="292388"/>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spcAft>
                <a:spcPts val="600"/>
              </a:spcAft>
              <a:defRPr sz="1300">
                <a:solidFill>
                  <a:srgbClr val="193EB0"/>
                </a:solidFill>
                <a:latin typeface="SamsungOne 700" panose="020B0803030303020204" pitchFamily="34" charset="0"/>
                <a:ea typeface="SamsungOne 700" panose="020B0803030303020204" pitchFamily="34" charset="0"/>
              </a:defRPr>
            </a:lvl1pPr>
          </a:lstStyle>
          <a:p>
            <a:pPr algn="ctr"/>
            <a:r>
              <a:rPr lang="en-US" altLang="ko-KR" dirty="0"/>
              <a:t>Response variable</a:t>
            </a:r>
          </a:p>
        </p:txBody>
      </p:sp>
      <p:grpSp>
        <p:nvGrpSpPr>
          <p:cNvPr id="16" name="그룹 15">
            <a:extLst>
              <a:ext uri="{FF2B5EF4-FFF2-40B4-BE49-F238E27FC236}">
                <a16:creationId xmlns:a16="http://schemas.microsoft.com/office/drawing/2014/main" id="{CC67A208-98B1-446A-A82F-80D955383C21}"/>
              </a:ext>
            </a:extLst>
          </p:cNvPr>
          <p:cNvGrpSpPr/>
          <p:nvPr/>
        </p:nvGrpSpPr>
        <p:grpSpPr>
          <a:xfrm>
            <a:off x="4411352" y="2183958"/>
            <a:ext cx="1764195" cy="443420"/>
            <a:chOff x="4214889" y="3397537"/>
            <a:chExt cx="2296458" cy="443420"/>
          </a:xfrm>
        </p:grpSpPr>
        <p:cxnSp>
          <p:nvCxnSpPr>
            <p:cNvPr id="17" name="Straight Arrow Connector 11">
              <a:extLst>
                <a:ext uri="{FF2B5EF4-FFF2-40B4-BE49-F238E27FC236}">
                  <a16:creationId xmlns:a16="http://schemas.microsoft.com/office/drawing/2014/main" id="{C4044825-8A37-4795-B678-5F80917319C9}"/>
                </a:ext>
              </a:extLst>
            </p:cNvPr>
            <p:cNvCxnSpPr/>
            <p:nvPr/>
          </p:nvCxnSpPr>
          <p:spPr>
            <a:xfrm flipV="1">
              <a:off x="4214889" y="3403698"/>
              <a:ext cx="0" cy="437259"/>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2">
              <a:extLst>
                <a:ext uri="{FF2B5EF4-FFF2-40B4-BE49-F238E27FC236}">
                  <a16:creationId xmlns:a16="http://schemas.microsoft.com/office/drawing/2014/main" id="{8EE41C1F-CDBA-49DB-B65D-FE205237ADF4}"/>
                </a:ext>
              </a:extLst>
            </p:cNvPr>
            <p:cNvCxnSpPr/>
            <p:nvPr/>
          </p:nvCxnSpPr>
          <p:spPr>
            <a:xfrm flipV="1">
              <a:off x="5072551" y="3397537"/>
              <a:ext cx="0" cy="437259"/>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3">
              <a:extLst>
                <a:ext uri="{FF2B5EF4-FFF2-40B4-BE49-F238E27FC236}">
                  <a16:creationId xmlns:a16="http://schemas.microsoft.com/office/drawing/2014/main" id="{B8C1D53B-EA78-4D54-9A69-EC32033BE5A5}"/>
                </a:ext>
              </a:extLst>
            </p:cNvPr>
            <p:cNvCxnSpPr/>
            <p:nvPr/>
          </p:nvCxnSpPr>
          <p:spPr>
            <a:xfrm flipV="1">
              <a:off x="6511346" y="3403698"/>
              <a:ext cx="0" cy="437259"/>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4">
              <a:extLst>
                <a:ext uri="{FF2B5EF4-FFF2-40B4-BE49-F238E27FC236}">
                  <a16:creationId xmlns:a16="http://schemas.microsoft.com/office/drawing/2014/main" id="{539B5B9F-4E5E-49B9-8308-F19577492128}"/>
                </a:ext>
              </a:extLst>
            </p:cNvPr>
            <p:cNvCxnSpPr>
              <a:cxnSpLocks/>
            </p:cNvCxnSpPr>
            <p:nvPr/>
          </p:nvCxnSpPr>
          <p:spPr>
            <a:xfrm flipV="1">
              <a:off x="4214889" y="3834796"/>
              <a:ext cx="2296458" cy="6161"/>
            </a:xfrm>
            <a:prstGeom prst="line">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328FD110-8662-4357-B281-DAB0028A0CF1}"/>
              </a:ext>
            </a:extLst>
          </p:cNvPr>
          <p:cNvSpPr txBox="1"/>
          <p:nvPr/>
        </p:nvSpPr>
        <p:spPr>
          <a:xfrm>
            <a:off x="4361088" y="2703758"/>
            <a:ext cx="1886466" cy="292388"/>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spcAft>
                <a:spcPts val="600"/>
              </a:spcAft>
              <a:defRPr sz="1300">
                <a:solidFill>
                  <a:srgbClr val="193EB0"/>
                </a:solidFill>
                <a:latin typeface="SamsungOne 700" panose="020B0803030303020204" pitchFamily="34" charset="0"/>
                <a:ea typeface="SamsungOne 700" panose="020B0803030303020204" pitchFamily="34" charset="0"/>
              </a:defRPr>
            </a:lvl1pPr>
          </a:lstStyle>
          <a:p>
            <a:pPr algn="ctr"/>
            <a:r>
              <a:rPr lang="en-US" altLang="ko-KR" dirty="0">
                <a:solidFill>
                  <a:srgbClr val="00B050"/>
                </a:solidFill>
              </a:rPr>
              <a:t>Explanatory</a:t>
            </a:r>
            <a:r>
              <a:rPr lang="ko-KR" altLang="en-US" dirty="0">
                <a:solidFill>
                  <a:srgbClr val="00B050"/>
                </a:solidFill>
              </a:rPr>
              <a:t> </a:t>
            </a:r>
            <a:r>
              <a:rPr lang="en-US" altLang="ko-KR" dirty="0">
                <a:solidFill>
                  <a:srgbClr val="00B050"/>
                </a:solidFill>
              </a:rPr>
              <a:t>variables</a:t>
            </a:r>
          </a:p>
        </p:txBody>
      </p:sp>
    </p:spTree>
    <p:extLst>
      <p:ext uri="{BB962C8B-B14F-4D97-AF65-F5344CB8AC3E}">
        <p14:creationId xmlns:p14="http://schemas.microsoft.com/office/powerpoint/2010/main" val="335058876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Linear model</a:t>
            </a:r>
          </a:p>
        </p:txBody>
      </p:sp>
      <p:sp>
        <p:nvSpPr>
          <p:cNvPr id="15" name="직사각형 14">
            <a:extLst>
              <a:ext uri="{FF2B5EF4-FFF2-40B4-BE49-F238E27FC236}">
                <a16:creationId xmlns:a16="http://schemas.microsoft.com/office/drawing/2014/main" id="{8E02D1CE-2859-45A1-90B6-A62349DC71E3}"/>
              </a:ext>
            </a:extLst>
          </p:cNvPr>
          <p:cNvSpPr/>
          <p:nvPr/>
        </p:nvSpPr>
        <p:spPr>
          <a:xfrm>
            <a:off x="671261" y="3335326"/>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Regression coefficients are </a:t>
            </a: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rPr>
              <a:t>model parameters</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capture the data patterns.</a:t>
            </a:r>
          </a:p>
        </p:txBody>
      </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094484C5-2855-44F1-B543-271FC5A64EF4}"/>
                  </a:ext>
                </a:extLst>
              </p:cNvPr>
              <p:cNvSpPr/>
              <p:nvPr/>
            </p:nvSpPr>
            <p:spPr>
              <a:xfrm>
                <a:off x="3097300" y="1786898"/>
                <a:ext cx="3708223" cy="3385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14:m>
                  <m:oMathPara xmlns:m="http://schemas.openxmlformats.org/officeDocument/2006/math">
                    <m:oMathParaPr>
                      <m:jc m:val="centerGroup"/>
                    </m:oMathParaPr>
                    <m:oMath xmlns:m="http://schemas.openxmlformats.org/officeDocument/2006/math">
                      <m:r>
                        <a:rPr lang="en-US" altLang="ko-KR" sz="1600">
                          <a:solidFill>
                            <a:prstClr val="black">
                              <a:lumMod val="85000"/>
                              <a:lumOff val="15000"/>
                            </a:prstClr>
                          </a:solidFill>
                          <a:latin typeface="Cambria Math" panose="02040503050406030204" pitchFamily="18" charset="0"/>
                        </a:rPr>
                        <m:t>𝑌</m:t>
                      </m:r>
                      <m:r>
                        <a:rPr lang="en-US" altLang="ko-KR" sz="1600">
                          <a:solidFill>
                            <a:prstClr val="black">
                              <a:lumMod val="85000"/>
                              <a:lumOff val="15000"/>
                            </a:prstClr>
                          </a:solidFill>
                          <a:latin typeface="Cambria Math" panose="02040503050406030204" pitchFamily="18" charset="0"/>
                        </a:rPr>
                        <m:t>=</m:t>
                      </m:r>
                      <m:sSub>
                        <m:sSubPr>
                          <m:ctrlPr>
                            <a:rPr lang="ko-KR" altLang="ko-KR" sz="1600" i="1">
                              <a:solidFill>
                                <a:prstClr val="black">
                                  <a:lumMod val="85000"/>
                                  <a:lumOff val="15000"/>
                                </a:prstClr>
                              </a:solidFill>
                              <a:latin typeface="Cambria Math" panose="02040503050406030204" pitchFamily="18" charset="0"/>
                            </a:rPr>
                          </m:ctrlPr>
                        </m:sSubPr>
                        <m:e>
                          <m:sSub>
                            <m:sSubPr>
                              <m:ctrlPr>
                                <a:rPr lang="ko-KR" altLang="ko-KR" sz="1600" i="1">
                                  <a:solidFill>
                                    <a:prstClr val="black">
                                      <a:lumMod val="85000"/>
                                      <a:lumOff val="15000"/>
                                    </a:prstClr>
                                  </a:solidFill>
                                  <a:latin typeface="Cambria Math" panose="02040503050406030204" pitchFamily="18" charset="0"/>
                                </a:rPr>
                              </m:ctrlPr>
                            </m:sSubPr>
                            <m:e>
                              <m:sSub>
                                <m:sSubPr>
                                  <m:ctrlPr>
                                    <a:rPr lang="ko-KR" altLang="ko-KR" sz="1600" i="1" smtClean="0">
                                      <a:solidFill>
                                        <a:srgbClr val="193EB0"/>
                                      </a:solidFill>
                                      <a:latin typeface="Cambria Math" panose="02040503050406030204" pitchFamily="18" charset="0"/>
                                    </a:rPr>
                                  </m:ctrlPr>
                                </m:sSubPr>
                                <m:e>
                                  <m:r>
                                    <a:rPr lang="en-US" altLang="ko-KR" sz="1600">
                                      <a:solidFill>
                                        <a:srgbClr val="193EB0"/>
                                      </a:solidFill>
                                      <a:latin typeface="Cambria Math" panose="02040503050406030204" pitchFamily="18" charset="0"/>
                                    </a:rPr>
                                    <m:t>𝛽</m:t>
                                  </m:r>
                                </m:e>
                                <m:sub>
                                  <m:r>
                                    <a:rPr lang="en-US" altLang="ko-KR" sz="1600">
                                      <a:solidFill>
                                        <a:srgbClr val="193EB0"/>
                                      </a:solidFill>
                                      <a:latin typeface="Cambria Math" panose="02040503050406030204" pitchFamily="18" charset="0"/>
                                    </a:rPr>
                                    <m:t>0</m:t>
                                  </m:r>
                                </m:sub>
                              </m:sSub>
                              <m:r>
                                <a:rPr lang="en-US" altLang="ko-KR" sz="1600">
                                  <a:solidFill>
                                    <a:prstClr val="black">
                                      <a:lumMod val="85000"/>
                                      <a:lumOff val="15000"/>
                                    </a:prstClr>
                                  </a:solidFill>
                                  <a:latin typeface="Cambria Math" panose="02040503050406030204" pitchFamily="18" charset="0"/>
                                </a:rPr>
                                <m:t>+</m:t>
                              </m:r>
                              <m:r>
                                <a:rPr lang="en-US" altLang="ko-KR" sz="1600" smtClean="0">
                                  <a:solidFill>
                                    <a:srgbClr val="193EB0"/>
                                  </a:solidFill>
                                  <a:latin typeface="Cambria Math" panose="02040503050406030204" pitchFamily="18" charset="0"/>
                                </a:rPr>
                                <m:t>𝛽</m:t>
                              </m:r>
                            </m:e>
                            <m:sub>
                              <m:r>
                                <a:rPr lang="en-US" altLang="ko-KR" sz="1600">
                                  <a:solidFill>
                                    <a:srgbClr val="193EB0"/>
                                  </a:solidFill>
                                  <a:latin typeface="Cambria Math" panose="02040503050406030204" pitchFamily="18" charset="0"/>
                                </a:rPr>
                                <m:t>1</m:t>
                              </m:r>
                            </m:sub>
                          </m:sSub>
                          <m:r>
                            <a:rPr lang="en-US" altLang="ko-KR" sz="1600">
                              <a:solidFill>
                                <a:prstClr val="black">
                                  <a:lumMod val="85000"/>
                                  <a:lumOff val="15000"/>
                                </a:prstClr>
                              </a:solidFill>
                              <a:latin typeface="Cambria Math" panose="02040503050406030204" pitchFamily="18" charset="0"/>
                            </a:rPr>
                            <m:t>𝑋</m:t>
                          </m:r>
                        </m:e>
                        <m:sub>
                          <m:r>
                            <a:rPr lang="en-US" altLang="ko-KR" sz="1600">
                              <a:solidFill>
                                <a:prstClr val="black">
                                  <a:lumMod val="85000"/>
                                  <a:lumOff val="15000"/>
                                </a:prstClr>
                              </a:solidFill>
                              <a:latin typeface="Cambria Math" panose="02040503050406030204" pitchFamily="18" charset="0"/>
                            </a:rPr>
                            <m:t>1</m:t>
                          </m:r>
                        </m:sub>
                      </m:sSub>
                      <m:r>
                        <a:rPr lang="en-US" altLang="ko-KR" sz="1600">
                          <a:solidFill>
                            <a:prstClr val="black">
                              <a:lumMod val="85000"/>
                              <a:lumOff val="15000"/>
                            </a:prstClr>
                          </a:solidFill>
                          <a:latin typeface="Cambria Math" panose="02040503050406030204" pitchFamily="18" charset="0"/>
                        </a:rPr>
                        <m:t>+</m:t>
                      </m:r>
                      <m:sSub>
                        <m:sSubPr>
                          <m:ctrlPr>
                            <a:rPr lang="ko-KR" altLang="ko-KR" sz="1600" i="1">
                              <a:solidFill>
                                <a:srgbClr val="193EB0"/>
                              </a:solidFill>
                              <a:latin typeface="Cambria Math" panose="02040503050406030204" pitchFamily="18" charset="0"/>
                            </a:rPr>
                          </m:ctrlPr>
                        </m:sSubPr>
                        <m:e>
                          <m:r>
                            <a:rPr lang="en-US" altLang="ko-KR" sz="1600">
                              <a:solidFill>
                                <a:srgbClr val="193EB0"/>
                              </a:solidFill>
                              <a:latin typeface="Cambria Math" panose="02040503050406030204" pitchFamily="18" charset="0"/>
                            </a:rPr>
                            <m:t>𝛽</m:t>
                          </m:r>
                        </m:e>
                        <m:sub>
                          <m:r>
                            <a:rPr lang="en-US" altLang="ko-KR" sz="1600">
                              <a:solidFill>
                                <a:srgbClr val="193EB0"/>
                              </a:solidFill>
                              <a:latin typeface="Cambria Math" panose="02040503050406030204" pitchFamily="18" charset="0"/>
                            </a:rPr>
                            <m:t>2</m:t>
                          </m:r>
                        </m:sub>
                      </m:sSub>
                      <m:sSub>
                        <m:sSubPr>
                          <m:ctrlPr>
                            <a:rPr lang="ko-KR" altLang="ko-KR" sz="1600" i="1">
                              <a:solidFill>
                                <a:prstClr val="black">
                                  <a:lumMod val="85000"/>
                                  <a:lumOff val="15000"/>
                                </a:prstClr>
                              </a:solidFill>
                              <a:latin typeface="Cambria Math" panose="02040503050406030204" pitchFamily="18" charset="0"/>
                            </a:rPr>
                          </m:ctrlPr>
                        </m:sSubPr>
                        <m:e>
                          <m:r>
                            <a:rPr lang="en-US" altLang="ko-KR" sz="1600">
                              <a:solidFill>
                                <a:prstClr val="black">
                                  <a:lumMod val="85000"/>
                                  <a:lumOff val="15000"/>
                                </a:prstClr>
                              </a:solidFill>
                              <a:latin typeface="Cambria Math" panose="02040503050406030204" pitchFamily="18" charset="0"/>
                            </a:rPr>
                            <m:t>𝑋</m:t>
                          </m:r>
                        </m:e>
                        <m:sub>
                          <m:r>
                            <a:rPr lang="en-US" altLang="ko-KR" sz="1600">
                              <a:solidFill>
                                <a:prstClr val="black">
                                  <a:lumMod val="85000"/>
                                  <a:lumOff val="15000"/>
                                </a:prstClr>
                              </a:solidFill>
                              <a:latin typeface="Cambria Math" panose="02040503050406030204" pitchFamily="18" charset="0"/>
                            </a:rPr>
                            <m:t>2</m:t>
                          </m:r>
                        </m:sub>
                      </m:sSub>
                      <m:r>
                        <a:rPr lang="en-US" altLang="ko-KR" sz="1600">
                          <a:solidFill>
                            <a:prstClr val="black">
                              <a:lumMod val="85000"/>
                              <a:lumOff val="15000"/>
                            </a:prstClr>
                          </a:solidFill>
                          <a:latin typeface="Cambria Math" panose="02040503050406030204" pitchFamily="18" charset="0"/>
                        </a:rPr>
                        <m:t>+⋯+</m:t>
                      </m:r>
                      <m:sSub>
                        <m:sSubPr>
                          <m:ctrlPr>
                            <a:rPr lang="ko-KR" altLang="ko-KR" sz="1600" i="1">
                              <a:solidFill>
                                <a:srgbClr val="193EB0"/>
                              </a:solidFill>
                              <a:latin typeface="Cambria Math" panose="02040503050406030204" pitchFamily="18" charset="0"/>
                            </a:rPr>
                          </m:ctrlPr>
                        </m:sSubPr>
                        <m:e>
                          <m:r>
                            <a:rPr lang="en-US" altLang="ko-KR" sz="1600">
                              <a:solidFill>
                                <a:srgbClr val="193EB0"/>
                              </a:solidFill>
                              <a:latin typeface="Cambria Math" panose="02040503050406030204" pitchFamily="18" charset="0"/>
                            </a:rPr>
                            <m:t>𝛽</m:t>
                          </m:r>
                        </m:e>
                        <m:sub>
                          <m:r>
                            <a:rPr lang="en-US" altLang="ko-KR" sz="1600">
                              <a:solidFill>
                                <a:srgbClr val="193EB0"/>
                              </a:solidFill>
                              <a:latin typeface="Cambria Math" panose="02040503050406030204" pitchFamily="18" charset="0"/>
                            </a:rPr>
                            <m:t>𝑘</m:t>
                          </m:r>
                        </m:sub>
                      </m:sSub>
                      <m:sSub>
                        <m:sSubPr>
                          <m:ctrlPr>
                            <a:rPr lang="ko-KR" altLang="ko-KR" sz="1600" i="1">
                              <a:solidFill>
                                <a:prstClr val="black">
                                  <a:lumMod val="85000"/>
                                  <a:lumOff val="15000"/>
                                </a:prstClr>
                              </a:solidFill>
                              <a:latin typeface="Cambria Math" panose="02040503050406030204" pitchFamily="18" charset="0"/>
                            </a:rPr>
                          </m:ctrlPr>
                        </m:sSubPr>
                        <m:e>
                          <m:r>
                            <a:rPr lang="en-US" altLang="ko-KR" sz="1600">
                              <a:solidFill>
                                <a:prstClr val="black">
                                  <a:lumMod val="85000"/>
                                  <a:lumOff val="15000"/>
                                </a:prstClr>
                              </a:solidFill>
                              <a:latin typeface="Cambria Math" panose="02040503050406030204" pitchFamily="18" charset="0"/>
                            </a:rPr>
                            <m:t>𝑋</m:t>
                          </m:r>
                        </m:e>
                        <m:sub>
                          <m:r>
                            <a:rPr lang="en-US" altLang="ko-KR" sz="1600">
                              <a:solidFill>
                                <a:prstClr val="black">
                                  <a:lumMod val="85000"/>
                                  <a:lumOff val="15000"/>
                                </a:prstClr>
                              </a:solidFill>
                              <a:latin typeface="Cambria Math" panose="02040503050406030204" pitchFamily="18" charset="0"/>
                            </a:rPr>
                            <m:t>𝑘</m:t>
                          </m:r>
                        </m:sub>
                      </m:sSub>
                      <m:r>
                        <a:rPr lang="en-US" altLang="ko-KR" sz="1600">
                          <a:solidFill>
                            <a:prstClr val="black">
                              <a:lumMod val="85000"/>
                              <a:lumOff val="15000"/>
                            </a:prstClr>
                          </a:solidFill>
                          <a:latin typeface="Cambria Math" panose="02040503050406030204" pitchFamily="18" charset="0"/>
                        </a:rPr>
                        <m:t>+</m:t>
                      </m:r>
                      <m:r>
                        <a:rPr lang="en-US" altLang="ko-KR" sz="1600">
                          <a:solidFill>
                            <a:prstClr val="black">
                              <a:lumMod val="85000"/>
                              <a:lumOff val="15000"/>
                            </a:prstClr>
                          </a:solidFill>
                          <a:latin typeface="Cambria Math" panose="02040503050406030204" pitchFamily="18" charset="0"/>
                          <a:sym typeface="Symbol"/>
                        </a:rPr>
                        <m:t></m:t>
                      </m:r>
                    </m:oMath>
                  </m:oMathPara>
                </a14:m>
                <a:endParaRPr lang="en-US" altLang="ko-KR" sz="1600" dirty="0">
                  <a:solidFill>
                    <a:prstClr val="black">
                      <a:lumMod val="85000"/>
                      <a:lumOff val="15000"/>
                    </a:prstClr>
                  </a:solidFill>
                </a:endParaRPr>
              </a:p>
            </p:txBody>
          </p:sp>
        </mc:Choice>
        <mc:Fallback xmlns="">
          <p:sp>
            <p:nvSpPr>
              <p:cNvPr id="12" name="직사각형 11">
                <a:extLst>
                  <a:ext uri="{FF2B5EF4-FFF2-40B4-BE49-F238E27FC236}">
                    <a16:creationId xmlns:a16="http://schemas.microsoft.com/office/drawing/2014/main" id="{094484C5-2855-44F1-B543-271FC5A64EF4}"/>
                  </a:ext>
                </a:extLst>
              </p:cNvPr>
              <p:cNvSpPr>
                <a:spLocks noRot="1" noChangeAspect="1" noMove="1" noResize="1" noEditPoints="1" noAdjustHandles="1" noChangeArrowheads="1" noChangeShapeType="1" noTextEdit="1"/>
              </p:cNvSpPr>
              <p:nvPr/>
            </p:nvSpPr>
            <p:spPr>
              <a:xfrm>
                <a:off x="3097300" y="1786898"/>
                <a:ext cx="3708223" cy="338554"/>
              </a:xfrm>
              <a:prstGeom prst="rect">
                <a:avLst/>
              </a:prstGeom>
              <a:blipFill>
                <a:blip r:embed="rId4"/>
                <a:stretch>
                  <a:fillRect b="-8929"/>
                </a:stretch>
              </a:blipFill>
              <a:ln>
                <a:noFill/>
              </a:ln>
            </p:spPr>
            <p:txBody>
              <a:bodyPr/>
              <a:lstStyle/>
              <a:p>
                <a:r>
                  <a:rPr lang="ko-KR" altLang="en-US">
                    <a:noFill/>
                  </a:rPr>
                  <a:t> </a:t>
                </a:r>
              </a:p>
            </p:txBody>
          </p:sp>
        </mc:Fallback>
      </mc:AlternateContent>
      <p:sp>
        <p:nvSpPr>
          <p:cNvPr id="14" name="TextBox 13">
            <a:extLst>
              <a:ext uri="{FF2B5EF4-FFF2-40B4-BE49-F238E27FC236}">
                <a16:creationId xmlns:a16="http://schemas.microsoft.com/office/drawing/2014/main" id="{C56FA34D-19BD-4871-83A6-EF178C114A6D}"/>
              </a:ext>
            </a:extLst>
          </p:cNvPr>
          <p:cNvSpPr txBox="1"/>
          <p:nvPr/>
        </p:nvSpPr>
        <p:spPr>
          <a:xfrm>
            <a:off x="3810711" y="2571472"/>
            <a:ext cx="2063803" cy="292388"/>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spcAft>
                <a:spcPts val="600"/>
              </a:spcAft>
              <a:defRPr sz="1300">
                <a:solidFill>
                  <a:srgbClr val="193EB0"/>
                </a:solidFill>
                <a:latin typeface="SamsungOne 700" panose="020B0803030303020204" pitchFamily="34" charset="0"/>
                <a:ea typeface="SamsungOne 700" panose="020B0803030303020204" pitchFamily="34" charset="0"/>
              </a:defRPr>
            </a:lvl1pPr>
          </a:lstStyle>
          <a:p>
            <a:pPr algn="ctr"/>
            <a:r>
              <a:rPr lang="en-US" altLang="ko-KR" dirty="0"/>
              <a:t>Regression coefficients</a:t>
            </a:r>
          </a:p>
        </p:txBody>
      </p:sp>
      <p:grpSp>
        <p:nvGrpSpPr>
          <p:cNvPr id="26" name="그룹 25">
            <a:extLst>
              <a:ext uri="{FF2B5EF4-FFF2-40B4-BE49-F238E27FC236}">
                <a16:creationId xmlns:a16="http://schemas.microsoft.com/office/drawing/2014/main" id="{1EFB62D6-7988-49BB-88D6-C4E40B60EFC3}"/>
              </a:ext>
            </a:extLst>
          </p:cNvPr>
          <p:cNvGrpSpPr/>
          <p:nvPr/>
        </p:nvGrpSpPr>
        <p:grpSpPr>
          <a:xfrm>
            <a:off x="3763280" y="2164034"/>
            <a:ext cx="2196244" cy="363801"/>
            <a:chOff x="3426265" y="3391009"/>
            <a:chExt cx="2682920" cy="363801"/>
          </a:xfrm>
        </p:grpSpPr>
        <p:cxnSp>
          <p:nvCxnSpPr>
            <p:cNvPr id="27" name="Straight Arrow Connector 17">
              <a:extLst>
                <a:ext uri="{FF2B5EF4-FFF2-40B4-BE49-F238E27FC236}">
                  <a16:creationId xmlns:a16="http://schemas.microsoft.com/office/drawing/2014/main" id="{4100E6F2-3662-4BEF-9906-98853FE5AEDF}"/>
                </a:ext>
              </a:extLst>
            </p:cNvPr>
            <p:cNvCxnSpPr/>
            <p:nvPr/>
          </p:nvCxnSpPr>
          <p:spPr>
            <a:xfrm flipV="1">
              <a:off x="3994360" y="3396064"/>
              <a:ext cx="0" cy="358746"/>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18">
              <a:extLst>
                <a:ext uri="{FF2B5EF4-FFF2-40B4-BE49-F238E27FC236}">
                  <a16:creationId xmlns:a16="http://schemas.microsoft.com/office/drawing/2014/main" id="{58AF2D19-236E-44FC-8086-49C43A13FBF9}"/>
                </a:ext>
              </a:extLst>
            </p:cNvPr>
            <p:cNvCxnSpPr/>
            <p:nvPr/>
          </p:nvCxnSpPr>
          <p:spPr>
            <a:xfrm flipV="1">
              <a:off x="4809763" y="3391009"/>
              <a:ext cx="0" cy="358746"/>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19">
              <a:extLst>
                <a:ext uri="{FF2B5EF4-FFF2-40B4-BE49-F238E27FC236}">
                  <a16:creationId xmlns:a16="http://schemas.microsoft.com/office/drawing/2014/main" id="{3755C234-F4EC-47FC-A20E-AB2C42031793}"/>
                </a:ext>
              </a:extLst>
            </p:cNvPr>
            <p:cNvCxnSpPr/>
            <p:nvPr/>
          </p:nvCxnSpPr>
          <p:spPr>
            <a:xfrm flipV="1">
              <a:off x="6109185" y="3396064"/>
              <a:ext cx="0" cy="358746"/>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0">
              <a:extLst>
                <a:ext uri="{FF2B5EF4-FFF2-40B4-BE49-F238E27FC236}">
                  <a16:creationId xmlns:a16="http://schemas.microsoft.com/office/drawing/2014/main" id="{C5FB9979-8C96-40C1-961E-E421A3CD6430}"/>
                </a:ext>
              </a:extLst>
            </p:cNvPr>
            <p:cNvCxnSpPr>
              <a:cxnSpLocks/>
            </p:cNvCxnSpPr>
            <p:nvPr/>
          </p:nvCxnSpPr>
          <p:spPr>
            <a:xfrm>
              <a:off x="3426265" y="3754810"/>
              <a:ext cx="2682920" cy="0"/>
            </a:xfrm>
            <a:prstGeom prst="line">
              <a:avLst/>
            </a:prstGeom>
            <a:ln w="9525">
              <a:solidFill>
                <a:srgbClr val="FF0000"/>
              </a:solidFill>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22">
              <a:extLst>
                <a:ext uri="{FF2B5EF4-FFF2-40B4-BE49-F238E27FC236}">
                  <a16:creationId xmlns:a16="http://schemas.microsoft.com/office/drawing/2014/main" id="{A075BC35-0D0D-4C16-A9B7-95B1EE97CE7D}"/>
                </a:ext>
              </a:extLst>
            </p:cNvPr>
            <p:cNvCxnSpPr/>
            <p:nvPr/>
          </p:nvCxnSpPr>
          <p:spPr>
            <a:xfrm flipV="1">
              <a:off x="3428242" y="3396064"/>
              <a:ext cx="0" cy="358746"/>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4286687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Linear model</a:t>
            </a:r>
          </a:p>
        </p:txBody>
      </p:sp>
      <mc:AlternateContent xmlns:mc="http://schemas.openxmlformats.org/markup-compatibility/2006" xmlns:a14="http://schemas.microsoft.com/office/drawing/2010/main">
        <mc:Choice Requires="a14">
          <p:sp>
            <p:nvSpPr>
              <p:cNvPr id="15" name="직사각형 14">
                <a:extLst>
                  <a:ext uri="{FF2B5EF4-FFF2-40B4-BE49-F238E27FC236}">
                    <a16:creationId xmlns:a16="http://schemas.microsoft.com/office/drawing/2014/main" id="{8E02D1CE-2859-45A1-90B6-A62349DC71E3}"/>
                  </a:ext>
                </a:extLst>
              </p:cNvPr>
              <p:cNvSpPr/>
              <p:nvPr/>
            </p:nvSpPr>
            <p:spPr>
              <a:xfrm>
                <a:off x="671261" y="3590412"/>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error term</a:t>
                </a:r>
                <a:r>
                  <a:rPr lang="en-US" altLang="ko-KR" sz="1300" dirty="0">
                    <a:solidFill>
                      <a:srgbClr val="193EB0"/>
                    </a:solidFill>
                    <a:latin typeface="SamsungOne 400" panose="020B0503030303020204" pitchFamily="34" charset="0"/>
                    <a:ea typeface="SamsungOne 400" panose="020B0503030303020204" pitchFamily="34" charset="0"/>
                  </a:rPr>
                  <a:t> </a:t>
                </a:r>
                <a14:m>
                  <m:oMath xmlns:m="http://schemas.openxmlformats.org/officeDocument/2006/math">
                    <m:r>
                      <m:rPr>
                        <m:nor/>
                      </m:rPr>
                      <a:rPr lang="en-US" altLang="ko-KR" sz="1300" dirty="0" smtClean="0">
                        <a:solidFill>
                          <a:srgbClr val="1429A0"/>
                        </a:solidFill>
                        <a:latin typeface="SamsungOne 400" panose="020B0503030303020204" pitchFamily="34" charset="0"/>
                        <a:ea typeface="SamsungOne 400" panose="020B0503030303020204" pitchFamily="34" charset="0"/>
                        <a:sym typeface="Symbol"/>
                      </a:rPr>
                      <m:t></m:t>
                    </m:r>
                  </m:oMath>
                </a14:m>
                <a:r>
                  <a:rPr lang="en-US" altLang="ko-KR" sz="1300" dirty="0">
                    <a:solidFill>
                      <a:srgbClr val="1429A0"/>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should have zero mean and constant variance. </a:t>
                </a:r>
              </a:p>
            </p:txBody>
          </p:sp>
        </mc:Choice>
        <mc:Fallback xmlns="">
          <p:sp>
            <p:nvSpPr>
              <p:cNvPr id="15" name="직사각형 14">
                <a:extLst>
                  <a:ext uri="{FF2B5EF4-FFF2-40B4-BE49-F238E27FC236}">
                    <a16:creationId xmlns:a16="http://schemas.microsoft.com/office/drawing/2014/main" id="{8E02D1CE-2859-45A1-90B6-A62349DC71E3}"/>
                  </a:ext>
                </a:extLst>
              </p:cNvPr>
              <p:cNvSpPr>
                <a:spLocks noRot="1" noChangeAspect="1" noMove="1" noResize="1" noEditPoints="1" noAdjustHandles="1" noChangeArrowheads="1" noChangeShapeType="1" noTextEdit="1"/>
              </p:cNvSpPr>
              <p:nvPr/>
            </p:nvSpPr>
            <p:spPr>
              <a:xfrm>
                <a:off x="671261" y="3590412"/>
                <a:ext cx="8632825" cy="345461"/>
              </a:xfrm>
              <a:prstGeom prst="rect">
                <a:avLst/>
              </a:prstGeom>
              <a:blipFill>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094484C5-2855-44F1-B543-271FC5A64EF4}"/>
                  </a:ext>
                </a:extLst>
              </p:cNvPr>
              <p:cNvSpPr/>
              <p:nvPr/>
            </p:nvSpPr>
            <p:spPr>
              <a:xfrm>
                <a:off x="3097300" y="1786898"/>
                <a:ext cx="3708223" cy="3385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14:m>
                  <m:oMathPara xmlns:m="http://schemas.openxmlformats.org/officeDocument/2006/math">
                    <m:oMathParaPr>
                      <m:jc m:val="centerGroup"/>
                    </m:oMathParaPr>
                    <m:oMath xmlns:m="http://schemas.openxmlformats.org/officeDocument/2006/math">
                      <m:r>
                        <a:rPr lang="en-US" altLang="ko-KR" sz="1600">
                          <a:solidFill>
                            <a:prstClr val="black">
                              <a:lumMod val="85000"/>
                              <a:lumOff val="15000"/>
                            </a:prstClr>
                          </a:solidFill>
                          <a:latin typeface="Cambria Math" panose="02040503050406030204" pitchFamily="18" charset="0"/>
                        </a:rPr>
                        <m:t>𝑌</m:t>
                      </m:r>
                      <m:r>
                        <a:rPr lang="en-US" altLang="ko-KR" sz="1600">
                          <a:solidFill>
                            <a:prstClr val="black">
                              <a:lumMod val="85000"/>
                              <a:lumOff val="15000"/>
                            </a:prstClr>
                          </a:solidFill>
                          <a:latin typeface="Cambria Math" panose="02040503050406030204" pitchFamily="18" charset="0"/>
                        </a:rPr>
                        <m:t>=</m:t>
                      </m:r>
                      <m:sSub>
                        <m:sSubPr>
                          <m:ctrlPr>
                            <a:rPr lang="ko-KR" altLang="ko-KR" sz="1600" i="1">
                              <a:solidFill>
                                <a:prstClr val="black">
                                  <a:lumMod val="85000"/>
                                  <a:lumOff val="15000"/>
                                </a:prstClr>
                              </a:solidFill>
                              <a:latin typeface="Cambria Math" panose="02040503050406030204" pitchFamily="18" charset="0"/>
                            </a:rPr>
                          </m:ctrlPr>
                        </m:sSubPr>
                        <m:e>
                          <m:sSub>
                            <m:sSubPr>
                              <m:ctrlPr>
                                <a:rPr lang="ko-KR" altLang="ko-KR" sz="1600" i="1">
                                  <a:solidFill>
                                    <a:prstClr val="black">
                                      <a:lumMod val="85000"/>
                                      <a:lumOff val="15000"/>
                                    </a:prstClr>
                                  </a:solidFill>
                                  <a:latin typeface="Cambria Math" panose="02040503050406030204" pitchFamily="18" charset="0"/>
                                </a:rPr>
                              </m:ctrlPr>
                            </m:sSubPr>
                            <m:e>
                              <m:sSub>
                                <m:sSubPr>
                                  <m:ctrlPr>
                                    <a:rPr lang="ko-KR" altLang="ko-KR" sz="1600" i="1">
                                      <a:solidFill>
                                        <a:prstClr val="black">
                                          <a:lumMod val="85000"/>
                                          <a:lumOff val="15000"/>
                                        </a:prstClr>
                                      </a:solidFill>
                                      <a:latin typeface="Cambria Math" panose="02040503050406030204" pitchFamily="18" charset="0"/>
                                    </a:rPr>
                                  </m:ctrlPr>
                                </m:sSubPr>
                                <m:e>
                                  <m:r>
                                    <a:rPr lang="en-US" altLang="ko-KR" sz="1600">
                                      <a:solidFill>
                                        <a:prstClr val="black">
                                          <a:lumMod val="85000"/>
                                          <a:lumOff val="15000"/>
                                        </a:prstClr>
                                      </a:solidFill>
                                      <a:latin typeface="Cambria Math" panose="02040503050406030204" pitchFamily="18" charset="0"/>
                                    </a:rPr>
                                    <m:t>𝛽</m:t>
                                  </m:r>
                                </m:e>
                                <m:sub>
                                  <m:r>
                                    <a:rPr lang="en-US" altLang="ko-KR" sz="1600">
                                      <a:solidFill>
                                        <a:prstClr val="black">
                                          <a:lumMod val="85000"/>
                                          <a:lumOff val="15000"/>
                                        </a:prstClr>
                                      </a:solidFill>
                                      <a:latin typeface="Cambria Math" panose="02040503050406030204" pitchFamily="18" charset="0"/>
                                    </a:rPr>
                                    <m:t>0</m:t>
                                  </m:r>
                                </m:sub>
                              </m:sSub>
                              <m:r>
                                <a:rPr lang="en-US" altLang="ko-KR" sz="1600">
                                  <a:solidFill>
                                    <a:prstClr val="black">
                                      <a:lumMod val="85000"/>
                                      <a:lumOff val="15000"/>
                                    </a:prstClr>
                                  </a:solidFill>
                                  <a:latin typeface="Cambria Math" panose="02040503050406030204" pitchFamily="18" charset="0"/>
                                </a:rPr>
                                <m:t>+</m:t>
                              </m:r>
                              <m:r>
                                <a:rPr lang="en-US" altLang="ko-KR" sz="1600">
                                  <a:solidFill>
                                    <a:prstClr val="black">
                                      <a:lumMod val="85000"/>
                                      <a:lumOff val="15000"/>
                                    </a:prstClr>
                                  </a:solidFill>
                                  <a:latin typeface="Cambria Math" panose="02040503050406030204" pitchFamily="18" charset="0"/>
                                </a:rPr>
                                <m:t>𝛽</m:t>
                              </m:r>
                            </m:e>
                            <m:sub>
                              <m:r>
                                <a:rPr lang="en-US" altLang="ko-KR" sz="1600">
                                  <a:solidFill>
                                    <a:prstClr val="black">
                                      <a:lumMod val="85000"/>
                                      <a:lumOff val="15000"/>
                                    </a:prstClr>
                                  </a:solidFill>
                                  <a:latin typeface="Cambria Math" panose="02040503050406030204" pitchFamily="18" charset="0"/>
                                </a:rPr>
                                <m:t>1</m:t>
                              </m:r>
                            </m:sub>
                          </m:sSub>
                          <m:r>
                            <a:rPr lang="en-US" altLang="ko-KR" sz="1600">
                              <a:solidFill>
                                <a:prstClr val="black">
                                  <a:lumMod val="85000"/>
                                  <a:lumOff val="15000"/>
                                </a:prstClr>
                              </a:solidFill>
                              <a:latin typeface="Cambria Math" panose="02040503050406030204" pitchFamily="18" charset="0"/>
                            </a:rPr>
                            <m:t>𝑋</m:t>
                          </m:r>
                        </m:e>
                        <m:sub>
                          <m:r>
                            <a:rPr lang="en-US" altLang="ko-KR" sz="1600">
                              <a:solidFill>
                                <a:prstClr val="black">
                                  <a:lumMod val="85000"/>
                                  <a:lumOff val="15000"/>
                                </a:prstClr>
                              </a:solidFill>
                              <a:latin typeface="Cambria Math" panose="02040503050406030204" pitchFamily="18" charset="0"/>
                            </a:rPr>
                            <m:t>1</m:t>
                          </m:r>
                        </m:sub>
                      </m:sSub>
                      <m:r>
                        <a:rPr lang="en-US" altLang="ko-KR" sz="1600">
                          <a:solidFill>
                            <a:prstClr val="black">
                              <a:lumMod val="85000"/>
                              <a:lumOff val="15000"/>
                            </a:prstClr>
                          </a:solidFill>
                          <a:latin typeface="Cambria Math" panose="02040503050406030204" pitchFamily="18" charset="0"/>
                        </a:rPr>
                        <m:t>+</m:t>
                      </m:r>
                      <m:sSub>
                        <m:sSubPr>
                          <m:ctrlPr>
                            <a:rPr lang="ko-KR" altLang="ko-KR" sz="1600" i="1">
                              <a:solidFill>
                                <a:prstClr val="black">
                                  <a:lumMod val="85000"/>
                                  <a:lumOff val="15000"/>
                                </a:prstClr>
                              </a:solidFill>
                              <a:latin typeface="Cambria Math" panose="02040503050406030204" pitchFamily="18" charset="0"/>
                            </a:rPr>
                          </m:ctrlPr>
                        </m:sSubPr>
                        <m:e>
                          <m:r>
                            <a:rPr lang="en-US" altLang="ko-KR" sz="1600">
                              <a:solidFill>
                                <a:prstClr val="black">
                                  <a:lumMod val="85000"/>
                                  <a:lumOff val="15000"/>
                                </a:prstClr>
                              </a:solidFill>
                              <a:latin typeface="Cambria Math" panose="02040503050406030204" pitchFamily="18" charset="0"/>
                            </a:rPr>
                            <m:t>𝛽</m:t>
                          </m:r>
                        </m:e>
                        <m:sub>
                          <m:r>
                            <a:rPr lang="en-US" altLang="ko-KR" sz="1600">
                              <a:solidFill>
                                <a:prstClr val="black">
                                  <a:lumMod val="85000"/>
                                  <a:lumOff val="15000"/>
                                </a:prstClr>
                              </a:solidFill>
                              <a:latin typeface="Cambria Math" panose="02040503050406030204" pitchFamily="18" charset="0"/>
                            </a:rPr>
                            <m:t>2</m:t>
                          </m:r>
                        </m:sub>
                      </m:sSub>
                      <m:sSub>
                        <m:sSubPr>
                          <m:ctrlPr>
                            <a:rPr lang="ko-KR" altLang="ko-KR" sz="1600" i="1">
                              <a:solidFill>
                                <a:prstClr val="black">
                                  <a:lumMod val="85000"/>
                                  <a:lumOff val="15000"/>
                                </a:prstClr>
                              </a:solidFill>
                              <a:latin typeface="Cambria Math" panose="02040503050406030204" pitchFamily="18" charset="0"/>
                            </a:rPr>
                          </m:ctrlPr>
                        </m:sSubPr>
                        <m:e>
                          <m:r>
                            <a:rPr lang="en-US" altLang="ko-KR" sz="1600">
                              <a:solidFill>
                                <a:prstClr val="black">
                                  <a:lumMod val="85000"/>
                                  <a:lumOff val="15000"/>
                                </a:prstClr>
                              </a:solidFill>
                              <a:latin typeface="Cambria Math" panose="02040503050406030204" pitchFamily="18" charset="0"/>
                            </a:rPr>
                            <m:t>𝑋</m:t>
                          </m:r>
                        </m:e>
                        <m:sub>
                          <m:r>
                            <a:rPr lang="en-US" altLang="ko-KR" sz="1600">
                              <a:solidFill>
                                <a:prstClr val="black">
                                  <a:lumMod val="85000"/>
                                  <a:lumOff val="15000"/>
                                </a:prstClr>
                              </a:solidFill>
                              <a:latin typeface="Cambria Math" panose="02040503050406030204" pitchFamily="18" charset="0"/>
                            </a:rPr>
                            <m:t>2</m:t>
                          </m:r>
                        </m:sub>
                      </m:sSub>
                      <m:r>
                        <a:rPr lang="en-US" altLang="ko-KR" sz="1600">
                          <a:solidFill>
                            <a:prstClr val="black">
                              <a:lumMod val="85000"/>
                              <a:lumOff val="15000"/>
                            </a:prstClr>
                          </a:solidFill>
                          <a:latin typeface="Cambria Math" panose="02040503050406030204" pitchFamily="18" charset="0"/>
                        </a:rPr>
                        <m:t>+⋯+</m:t>
                      </m:r>
                      <m:sSub>
                        <m:sSubPr>
                          <m:ctrlPr>
                            <a:rPr lang="ko-KR" altLang="ko-KR" sz="1600" i="1">
                              <a:solidFill>
                                <a:prstClr val="black">
                                  <a:lumMod val="85000"/>
                                  <a:lumOff val="15000"/>
                                </a:prstClr>
                              </a:solidFill>
                              <a:latin typeface="Cambria Math" panose="02040503050406030204" pitchFamily="18" charset="0"/>
                            </a:rPr>
                          </m:ctrlPr>
                        </m:sSubPr>
                        <m:e>
                          <m:r>
                            <a:rPr lang="en-US" altLang="ko-KR" sz="1600">
                              <a:solidFill>
                                <a:prstClr val="black">
                                  <a:lumMod val="85000"/>
                                  <a:lumOff val="15000"/>
                                </a:prstClr>
                              </a:solidFill>
                              <a:latin typeface="Cambria Math" panose="02040503050406030204" pitchFamily="18" charset="0"/>
                            </a:rPr>
                            <m:t>𝛽</m:t>
                          </m:r>
                        </m:e>
                        <m:sub>
                          <m:r>
                            <a:rPr lang="en-US" altLang="ko-KR" sz="1600">
                              <a:solidFill>
                                <a:prstClr val="black">
                                  <a:lumMod val="85000"/>
                                  <a:lumOff val="15000"/>
                                </a:prstClr>
                              </a:solidFill>
                              <a:latin typeface="Cambria Math" panose="02040503050406030204" pitchFamily="18" charset="0"/>
                            </a:rPr>
                            <m:t>𝑘</m:t>
                          </m:r>
                        </m:sub>
                      </m:sSub>
                      <m:sSub>
                        <m:sSubPr>
                          <m:ctrlPr>
                            <a:rPr lang="ko-KR" altLang="ko-KR" sz="1600" i="1">
                              <a:solidFill>
                                <a:prstClr val="black">
                                  <a:lumMod val="85000"/>
                                  <a:lumOff val="15000"/>
                                </a:prstClr>
                              </a:solidFill>
                              <a:latin typeface="Cambria Math" panose="02040503050406030204" pitchFamily="18" charset="0"/>
                            </a:rPr>
                          </m:ctrlPr>
                        </m:sSubPr>
                        <m:e>
                          <m:r>
                            <a:rPr lang="en-US" altLang="ko-KR" sz="1600">
                              <a:solidFill>
                                <a:prstClr val="black">
                                  <a:lumMod val="85000"/>
                                  <a:lumOff val="15000"/>
                                </a:prstClr>
                              </a:solidFill>
                              <a:latin typeface="Cambria Math" panose="02040503050406030204" pitchFamily="18" charset="0"/>
                            </a:rPr>
                            <m:t>𝑋</m:t>
                          </m:r>
                        </m:e>
                        <m:sub>
                          <m:r>
                            <a:rPr lang="en-US" altLang="ko-KR" sz="1600">
                              <a:solidFill>
                                <a:prstClr val="black">
                                  <a:lumMod val="85000"/>
                                  <a:lumOff val="15000"/>
                                </a:prstClr>
                              </a:solidFill>
                              <a:latin typeface="Cambria Math" panose="02040503050406030204" pitchFamily="18" charset="0"/>
                            </a:rPr>
                            <m:t>𝑘</m:t>
                          </m:r>
                        </m:sub>
                      </m:sSub>
                      <m:r>
                        <a:rPr lang="en-US" altLang="ko-KR" sz="1600">
                          <a:solidFill>
                            <a:prstClr val="black">
                              <a:lumMod val="85000"/>
                              <a:lumOff val="15000"/>
                            </a:prstClr>
                          </a:solidFill>
                          <a:latin typeface="Cambria Math" panose="02040503050406030204" pitchFamily="18" charset="0"/>
                        </a:rPr>
                        <m:t>+</m:t>
                      </m:r>
                      <m:r>
                        <a:rPr lang="en-US" altLang="ko-KR" sz="1600" smtClean="0">
                          <a:solidFill>
                            <a:srgbClr val="1429A0"/>
                          </a:solidFill>
                          <a:latin typeface="Cambria Math" panose="02040503050406030204" pitchFamily="18" charset="0"/>
                          <a:sym typeface="Symbol"/>
                        </a:rPr>
                        <m:t></m:t>
                      </m:r>
                    </m:oMath>
                  </m:oMathPara>
                </a14:m>
                <a:endParaRPr lang="en-US" altLang="ko-KR" sz="1600" dirty="0">
                  <a:solidFill>
                    <a:prstClr val="black">
                      <a:lumMod val="85000"/>
                      <a:lumOff val="15000"/>
                    </a:prstClr>
                  </a:solidFill>
                </a:endParaRPr>
              </a:p>
            </p:txBody>
          </p:sp>
        </mc:Choice>
        <mc:Fallback xmlns="">
          <p:sp>
            <p:nvSpPr>
              <p:cNvPr id="12" name="직사각형 11">
                <a:extLst>
                  <a:ext uri="{FF2B5EF4-FFF2-40B4-BE49-F238E27FC236}">
                    <a16:creationId xmlns:a16="http://schemas.microsoft.com/office/drawing/2014/main" id="{094484C5-2855-44F1-B543-271FC5A64EF4}"/>
                  </a:ext>
                </a:extLst>
              </p:cNvPr>
              <p:cNvSpPr>
                <a:spLocks noRot="1" noChangeAspect="1" noMove="1" noResize="1" noEditPoints="1" noAdjustHandles="1" noChangeArrowheads="1" noChangeShapeType="1" noTextEdit="1"/>
              </p:cNvSpPr>
              <p:nvPr/>
            </p:nvSpPr>
            <p:spPr>
              <a:xfrm>
                <a:off x="3097300" y="1786898"/>
                <a:ext cx="3708223" cy="338554"/>
              </a:xfrm>
              <a:prstGeom prst="rect">
                <a:avLst/>
              </a:prstGeom>
              <a:blipFill>
                <a:blip r:embed="rId5"/>
                <a:stretch>
                  <a:fillRect b="-8929"/>
                </a:stretch>
              </a:blipFill>
              <a:ln>
                <a:noFill/>
              </a:ln>
            </p:spPr>
            <p:txBody>
              <a:bodyPr/>
              <a:lstStyle/>
              <a:p>
                <a:r>
                  <a:rPr lang="ko-KR" altLang="en-US">
                    <a:noFill/>
                  </a:rPr>
                  <a:t> </a:t>
                </a:r>
              </a:p>
            </p:txBody>
          </p:sp>
        </mc:Fallback>
      </mc:AlternateContent>
      <p:cxnSp>
        <p:nvCxnSpPr>
          <p:cNvPr id="16" name="Straight Arrow Connector 8">
            <a:extLst>
              <a:ext uri="{FF2B5EF4-FFF2-40B4-BE49-F238E27FC236}">
                <a16:creationId xmlns:a16="http://schemas.microsoft.com/office/drawing/2014/main" id="{02327588-DF6D-4810-9042-88A41FE3E294}"/>
              </a:ext>
            </a:extLst>
          </p:cNvPr>
          <p:cNvCxnSpPr/>
          <p:nvPr/>
        </p:nvCxnSpPr>
        <p:spPr>
          <a:xfrm flipV="1">
            <a:off x="6571592" y="2168860"/>
            <a:ext cx="0" cy="437259"/>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B0192ABB-4720-4154-B8E3-B2EDA4A318C7}"/>
                  </a:ext>
                </a:extLst>
              </p:cNvPr>
              <p:cNvSpPr txBox="1"/>
              <p:nvPr/>
            </p:nvSpPr>
            <p:spPr>
              <a:xfrm>
                <a:off x="6000346" y="2632870"/>
                <a:ext cx="1142492" cy="646331"/>
              </a:xfrm>
              <a:prstGeom prst="rect">
                <a:avLst/>
              </a:prstGeom>
              <a:noFill/>
            </p:spPr>
            <p:txBody>
              <a:bodyPr wrap="none" lIns="0" tIns="0" rIns="0" bIns="0" rtlCol="0" anchor="ctr">
                <a:spAutoFit/>
                <a:scene3d>
                  <a:camera prst="orthographicFront"/>
                  <a:lightRig rig="threePt" dir="t"/>
                </a:scene3d>
                <a:sp3d>
                  <a:bevelT w="0" h="6350"/>
                </a:sp3d>
              </a:bodyPr>
              <a:lstStyle>
                <a:defPPr>
                  <a:defRPr lang="en-US"/>
                </a:defPPr>
                <a:lvl1pPr algn="ctr">
                  <a:spcAft>
                    <a:spcPts val="600"/>
                  </a:spcAft>
                  <a:defRPr sz="1300">
                    <a:solidFill>
                      <a:srgbClr val="193EB0"/>
                    </a:solidFill>
                    <a:latin typeface="SamsungOne 700" panose="020B0803030303020204" pitchFamily="34" charset="0"/>
                    <a:ea typeface="SamsungOne 700" panose="020B0803030303020204" pitchFamily="34" charset="0"/>
                  </a:defRPr>
                </a:lvl1pPr>
              </a:lstStyle>
              <a:p>
                <a:pPr>
                  <a:lnSpc>
                    <a:spcPct val="100000"/>
                  </a:lnSpc>
                </a:pPr>
                <a14:m>
                  <m:oMathPara xmlns:m="http://schemas.openxmlformats.org/officeDocument/2006/math">
                    <m:oMathParaPr>
                      <m:jc m:val="centerGroup"/>
                    </m:oMathParaPr>
                    <m:oMath xmlns:m="http://schemas.openxmlformats.org/officeDocument/2006/math">
                      <m:r>
                        <a:rPr lang="en-US" altLang="ko-KR" sz="1600" smtClean="0">
                          <a:solidFill>
                            <a:schemeClr val="tx1"/>
                          </a:solidFill>
                          <a:latin typeface="Cambria Math" panose="02040503050406030204" pitchFamily="18" charset="0"/>
                        </a:rPr>
                        <m:t>𝐸</m:t>
                      </m:r>
                      <m:r>
                        <a:rPr lang="en-US" altLang="ko-KR" sz="1600" smtClean="0">
                          <a:solidFill>
                            <a:schemeClr val="tx1"/>
                          </a:solidFill>
                          <a:latin typeface="Cambria Math" panose="02040503050406030204" pitchFamily="18" charset="0"/>
                        </a:rPr>
                        <m:t>[</m:t>
                      </m:r>
                      <m:r>
                        <m:rPr>
                          <m:nor/>
                        </m:rPr>
                        <a:rPr lang="en-US" altLang="ko-KR" sz="1600" dirty="0" smtClean="0">
                          <a:solidFill>
                            <a:srgbClr val="1429A0"/>
                          </a:solidFill>
                          <a:sym typeface="Symbol"/>
                        </a:rPr>
                        <m:t></m:t>
                      </m:r>
                      <m:r>
                        <a:rPr lang="en-US" altLang="ko-KR" sz="1600">
                          <a:solidFill>
                            <a:schemeClr val="tx1"/>
                          </a:solidFill>
                          <a:latin typeface="Cambria Math" panose="02040503050406030204" pitchFamily="18" charset="0"/>
                        </a:rPr>
                        <m:t>]=0</m:t>
                      </m:r>
                    </m:oMath>
                  </m:oMathPara>
                </a14:m>
                <a:endParaRPr lang="en-US" altLang="ko-KR" sz="1600" dirty="0">
                  <a:solidFill>
                    <a:schemeClr val="tx1"/>
                  </a:solidFill>
                </a:endParaRPr>
              </a:p>
              <a:p>
                <a:pPr>
                  <a:lnSpc>
                    <a:spcPct val="100000"/>
                  </a:lnSpc>
                </a:pPr>
                <a14:m>
                  <m:oMathPara xmlns:m="http://schemas.openxmlformats.org/officeDocument/2006/math">
                    <m:oMathParaPr>
                      <m:jc m:val="centerGroup"/>
                    </m:oMathParaPr>
                    <m:oMath xmlns:m="http://schemas.openxmlformats.org/officeDocument/2006/math">
                      <m:r>
                        <a:rPr lang="en-US" altLang="ko-KR" sz="1600">
                          <a:solidFill>
                            <a:schemeClr val="tx1"/>
                          </a:solidFill>
                          <a:latin typeface="Cambria Math" panose="02040503050406030204" pitchFamily="18" charset="0"/>
                        </a:rPr>
                        <m:t>𝑉𝑎𝑟</m:t>
                      </m:r>
                      <m:r>
                        <a:rPr lang="en-US" altLang="ko-KR" sz="1600">
                          <a:solidFill>
                            <a:schemeClr val="tx1"/>
                          </a:solidFill>
                          <a:latin typeface="Cambria Math" panose="02040503050406030204" pitchFamily="18" charset="0"/>
                        </a:rPr>
                        <m:t>(</m:t>
                      </m:r>
                      <m:r>
                        <m:rPr>
                          <m:nor/>
                        </m:rPr>
                        <a:rPr lang="en-US" altLang="ko-KR" sz="1600" dirty="0" smtClean="0">
                          <a:solidFill>
                            <a:srgbClr val="1429A0"/>
                          </a:solidFill>
                          <a:sym typeface="Symbol"/>
                        </a:rPr>
                        <m:t></m:t>
                      </m:r>
                      <m:r>
                        <a:rPr lang="en-US" altLang="ko-KR" sz="1600" dirty="0">
                          <a:solidFill>
                            <a:schemeClr val="tx1"/>
                          </a:solidFill>
                          <a:latin typeface="Cambria Math" panose="02040503050406030204" pitchFamily="18" charset="0"/>
                          <a:sym typeface="Symbol"/>
                        </a:rPr>
                        <m:t>)</m:t>
                      </m:r>
                      <m:r>
                        <a:rPr lang="en-US" altLang="ko-KR" sz="1600">
                          <a:solidFill>
                            <a:schemeClr val="tx1"/>
                          </a:solidFill>
                          <a:latin typeface="Cambria Math" panose="02040503050406030204" pitchFamily="18" charset="0"/>
                        </a:rPr>
                        <m:t>=</m:t>
                      </m:r>
                      <m:sSubSup>
                        <m:sSubSupPr>
                          <m:ctrlPr>
                            <a:rPr lang="en-US" altLang="ko-KR" sz="1600" i="1">
                              <a:solidFill>
                                <a:schemeClr val="tx1"/>
                              </a:solidFill>
                              <a:latin typeface="Cambria Math" panose="02040503050406030204" pitchFamily="18" charset="0"/>
                            </a:rPr>
                          </m:ctrlPr>
                        </m:sSubSupPr>
                        <m:e>
                          <m:r>
                            <a:rPr lang="ko-KR" altLang="en-US" sz="1600">
                              <a:solidFill>
                                <a:schemeClr val="tx1"/>
                              </a:solidFill>
                              <a:latin typeface="Cambria Math" panose="02040503050406030204" pitchFamily="18" charset="0"/>
                            </a:rPr>
                            <m:t>𝜎</m:t>
                          </m:r>
                        </m:e>
                        <m:sub>
                          <m:r>
                            <a:rPr lang="ko-KR" altLang="en-US" sz="1600">
                              <a:solidFill>
                                <a:schemeClr val="tx1"/>
                              </a:solidFill>
                              <a:latin typeface="Cambria Math" panose="02040503050406030204" pitchFamily="18" charset="0"/>
                            </a:rPr>
                            <m:t>𝜀</m:t>
                          </m:r>
                        </m:sub>
                        <m:sup>
                          <m:r>
                            <a:rPr lang="en-US" altLang="ko-KR" sz="1600">
                              <a:solidFill>
                                <a:schemeClr val="tx1"/>
                              </a:solidFill>
                              <a:latin typeface="Cambria Math" panose="02040503050406030204" pitchFamily="18" charset="0"/>
                            </a:rPr>
                            <m:t>2</m:t>
                          </m:r>
                        </m:sup>
                      </m:sSubSup>
                    </m:oMath>
                  </m:oMathPara>
                </a14:m>
                <a:endParaRPr lang="ko-KR" altLang="ko-KR" sz="1600" dirty="0">
                  <a:solidFill>
                    <a:schemeClr val="tx1"/>
                  </a:solidFill>
                </a:endParaRPr>
              </a:p>
            </p:txBody>
          </p:sp>
        </mc:Choice>
        <mc:Fallback xmlns="">
          <p:sp>
            <p:nvSpPr>
              <p:cNvPr id="43" name="TextBox 42">
                <a:extLst>
                  <a:ext uri="{FF2B5EF4-FFF2-40B4-BE49-F238E27FC236}">
                    <a16:creationId xmlns:a16="http://schemas.microsoft.com/office/drawing/2014/main" id="{B0192ABB-4720-4154-B8E3-B2EDA4A318C7}"/>
                  </a:ext>
                </a:extLst>
              </p:cNvPr>
              <p:cNvSpPr txBox="1">
                <a:spLocks noRot="1" noChangeAspect="1" noMove="1" noResize="1" noEditPoints="1" noAdjustHandles="1" noChangeArrowheads="1" noChangeShapeType="1" noTextEdit="1"/>
              </p:cNvSpPr>
              <p:nvPr/>
            </p:nvSpPr>
            <p:spPr>
              <a:xfrm>
                <a:off x="6000346" y="2632870"/>
                <a:ext cx="1142492" cy="646331"/>
              </a:xfrm>
              <a:prstGeom prst="rect">
                <a:avLst/>
              </a:prstGeom>
              <a:blipFill>
                <a:blip r:embed="rId6"/>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13450129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Linear model</a:t>
            </a:r>
          </a:p>
        </p:txBody>
      </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094484C5-2855-44F1-B543-271FC5A64EF4}"/>
                  </a:ext>
                </a:extLst>
              </p:cNvPr>
              <p:cNvSpPr/>
              <p:nvPr/>
            </p:nvSpPr>
            <p:spPr>
              <a:xfrm>
                <a:off x="2979320" y="2060575"/>
                <a:ext cx="3944185" cy="3385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14:m>
                  <m:oMathPara xmlns:m="http://schemas.openxmlformats.org/officeDocument/2006/math">
                    <m:oMathParaPr>
                      <m:jc m:val="centerGroup"/>
                    </m:oMathParaPr>
                    <m:oMath xmlns:m="http://schemas.openxmlformats.org/officeDocument/2006/math">
                      <m:r>
                        <a:rPr lang="en-US" altLang="ko-KR" sz="1600" smtClean="0">
                          <a:solidFill>
                            <a:srgbClr val="FF0000"/>
                          </a:solidFill>
                          <a:latin typeface="Cambria Math" panose="02040503050406030204" pitchFamily="18" charset="0"/>
                        </a:rPr>
                        <m:t>𝑌</m:t>
                      </m:r>
                      <m:r>
                        <a:rPr lang="en-US" altLang="ko-KR" sz="1600">
                          <a:solidFill>
                            <a:srgbClr val="262626"/>
                          </a:solidFill>
                          <a:latin typeface="Cambria Math" panose="02040503050406030204" pitchFamily="18" charset="0"/>
                        </a:rPr>
                        <m:t>=</m:t>
                      </m:r>
                      <m:sSub>
                        <m:sSubPr>
                          <m:ctrlPr>
                            <a:rPr lang="ko-KR" altLang="ko-KR" sz="1600" i="1">
                              <a:solidFill>
                                <a:srgbClr val="262626"/>
                              </a:solidFill>
                              <a:latin typeface="Cambria Math" panose="02040503050406030204" pitchFamily="18" charset="0"/>
                            </a:rPr>
                          </m:ctrlPr>
                        </m:sSubPr>
                        <m:e>
                          <m:sSub>
                            <m:sSubPr>
                              <m:ctrlPr>
                                <a:rPr lang="ko-KR" altLang="ko-KR" sz="1600" i="1">
                                  <a:solidFill>
                                    <a:srgbClr val="262626"/>
                                  </a:solidFill>
                                  <a:latin typeface="Cambria Math" panose="02040503050406030204" pitchFamily="18" charset="0"/>
                                </a:rPr>
                              </m:ctrlPr>
                            </m:sSubPr>
                            <m:e>
                              <m:r>
                                <a:rPr lang="en-US" altLang="ko-KR" sz="1600">
                                  <a:solidFill>
                                    <a:srgbClr val="262626"/>
                                  </a:solidFill>
                                  <a:latin typeface="Cambria Math" panose="02040503050406030204" pitchFamily="18" charset="0"/>
                                </a:rPr>
                                <m:t>𝛽</m:t>
                              </m:r>
                            </m:e>
                            <m:sub>
                              <m:r>
                                <a:rPr lang="en-US" altLang="ko-KR" sz="1600">
                                  <a:solidFill>
                                    <a:srgbClr val="262626"/>
                                  </a:solidFill>
                                  <a:latin typeface="Cambria Math" panose="02040503050406030204" pitchFamily="18" charset="0"/>
                                </a:rPr>
                                <m:t>0</m:t>
                              </m:r>
                            </m:sub>
                          </m:sSub>
                          <m:r>
                            <a:rPr lang="en-US" altLang="ko-KR" sz="1600">
                              <a:solidFill>
                                <a:srgbClr val="262626"/>
                              </a:solidFill>
                              <a:latin typeface="Cambria Math" panose="02040503050406030204" pitchFamily="18" charset="0"/>
                            </a:rPr>
                            <m:t>+</m:t>
                          </m:r>
                          <m:r>
                            <a:rPr lang="en-US" altLang="ko-KR" sz="1600">
                              <a:solidFill>
                                <a:srgbClr val="262626"/>
                              </a:solidFill>
                              <a:latin typeface="Cambria Math" panose="02040503050406030204" pitchFamily="18" charset="0"/>
                            </a:rPr>
                            <m:t>𝛽</m:t>
                          </m:r>
                        </m:e>
                        <m:sub>
                          <m:r>
                            <a:rPr lang="en-US" altLang="ko-KR" sz="1600">
                              <a:solidFill>
                                <a:srgbClr val="262626"/>
                              </a:solidFill>
                              <a:latin typeface="Cambria Math" panose="02040503050406030204" pitchFamily="18" charset="0"/>
                            </a:rPr>
                            <m:t>1</m:t>
                          </m:r>
                        </m:sub>
                      </m:sSub>
                      <m:sSub>
                        <m:sSubPr>
                          <m:ctrlPr>
                            <a:rPr lang="ko-KR" altLang="ko-KR" sz="1600" i="1" smtClean="0">
                              <a:solidFill>
                                <a:srgbClr val="FF0000"/>
                              </a:solidFill>
                              <a:latin typeface="Cambria Math" panose="02040503050406030204" pitchFamily="18" charset="0"/>
                            </a:rPr>
                          </m:ctrlPr>
                        </m:sSubPr>
                        <m:e>
                          <m:r>
                            <a:rPr lang="en-US" altLang="ko-KR" sz="1600">
                              <a:solidFill>
                                <a:srgbClr val="FF0000"/>
                              </a:solidFill>
                              <a:latin typeface="Cambria Math" panose="02040503050406030204" pitchFamily="18" charset="0"/>
                            </a:rPr>
                            <m:t>𝑋</m:t>
                          </m:r>
                        </m:e>
                        <m:sub>
                          <m:r>
                            <a:rPr lang="en-US" altLang="ko-KR" sz="1600">
                              <a:solidFill>
                                <a:srgbClr val="FF0000"/>
                              </a:solidFill>
                              <a:latin typeface="Cambria Math" panose="02040503050406030204" pitchFamily="18" charset="0"/>
                            </a:rPr>
                            <m:t>1</m:t>
                          </m:r>
                        </m:sub>
                      </m:sSub>
                      <m:r>
                        <a:rPr lang="en-US" altLang="ko-KR" sz="1600">
                          <a:solidFill>
                            <a:srgbClr val="262626"/>
                          </a:solidFill>
                          <a:latin typeface="Cambria Math" panose="02040503050406030204" pitchFamily="18" charset="0"/>
                        </a:rPr>
                        <m:t>+</m:t>
                      </m:r>
                      <m:sSub>
                        <m:sSubPr>
                          <m:ctrlPr>
                            <a:rPr lang="ko-KR" altLang="ko-KR" sz="1600" i="1">
                              <a:solidFill>
                                <a:srgbClr val="262626"/>
                              </a:solidFill>
                              <a:latin typeface="Cambria Math" panose="02040503050406030204" pitchFamily="18" charset="0"/>
                            </a:rPr>
                          </m:ctrlPr>
                        </m:sSubPr>
                        <m:e>
                          <m:r>
                            <a:rPr lang="en-US" altLang="ko-KR" sz="1600">
                              <a:solidFill>
                                <a:srgbClr val="262626"/>
                              </a:solidFill>
                              <a:latin typeface="Cambria Math" panose="02040503050406030204" pitchFamily="18" charset="0"/>
                            </a:rPr>
                            <m:t>𝛽</m:t>
                          </m:r>
                        </m:e>
                        <m:sub>
                          <m:r>
                            <a:rPr lang="en-US" altLang="ko-KR" sz="1600">
                              <a:solidFill>
                                <a:srgbClr val="262626"/>
                              </a:solidFill>
                              <a:latin typeface="Cambria Math" panose="02040503050406030204" pitchFamily="18" charset="0"/>
                            </a:rPr>
                            <m:t>2</m:t>
                          </m:r>
                        </m:sub>
                      </m:sSub>
                      <m:sSub>
                        <m:sSubPr>
                          <m:ctrlPr>
                            <a:rPr lang="ko-KR" altLang="ko-KR" sz="1600" i="1" smtClean="0">
                              <a:solidFill>
                                <a:srgbClr val="FF0000"/>
                              </a:solidFill>
                              <a:latin typeface="Cambria Math" panose="02040503050406030204" pitchFamily="18" charset="0"/>
                            </a:rPr>
                          </m:ctrlPr>
                        </m:sSubPr>
                        <m:e>
                          <m:r>
                            <a:rPr lang="en-US" altLang="ko-KR" sz="1600">
                              <a:solidFill>
                                <a:srgbClr val="FF0000"/>
                              </a:solidFill>
                              <a:latin typeface="Cambria Math" panose="02040503050406030204" pitchFamily="18" charset="0"/>
                            </a:rPr>
                            <m:t>𝑋</m:t>
                          </m:r>
                        </m:e>
                        <m:sub>
                          <m:r>
                            <a:rPr lang="en-US" altLang="ko-KR" sz="1600">
                              <a:solidFill>
                                <a:srgbClr val="FF0000"/>
                              </a:solidFill>
                              <a:latin typeface="Cambria Math" panose="02040503050406030204" pitchFamily="18" charset="0"/>
                            </a:rPr>
                            <m:t>2</m:t>
                          </m:r>
                        </m:sub>
                      </m:sSub>
                      <m:r>
                        <a:rPr lang="en-US" altLang="ko-KR" sz="1600">
                          <a:solidFill>
                            <a:srgbClr val="262626"/>
                          </a:solidFill>
                          <a:latin typeface="Cambria Math" panose="02040503050406030204" pitchFamily="18" charset="0"/>
                        </a:rPr>
                        <m:t>+</m:t>
                      </m:r>
                      <m:sSub>
                        <m:sSubPr>
                          <m:ctrlPr>
                            <a:rPr lang="ko-KR" altLang="ko-KR" sz="1600" i="1">
                              <a:solidFill>
                                <a:srgbClr val="262626"/>
                              </a:solidFill>
                              <a:latin typeface="Cambria Math" panose="02040503050406030204" pitchFamily="18" charset="0"/>
                            </a:rPr>
                          </m:ctrlPr>
                        </m:sSubPr>
                        <m:e>
                          <m:r>
                            <a:rPr lang="en-US" altLang="ko-KR" sz="1600">
                              <a:solidFill>
                                <a:srgbClr val="262626"/>
                              </a:solidFill>
                              <a:latin typeface="Cambria Math" panose="02040503050406030204" pitchFamily="18" charset="0"/>
                            </a:rPr>
                            <m:t>𝛽</m:t>
                          </m:r>
                        </m:e>
                        <m:sub>
                          <m:r>
                            <a:rPr lang="en-US" altLang="ko-KR" sz="1600">
                              <a:solidFill>
                                <a:srgbClr val="262626"/>
                              </a:solidFill>
                              <a:latin typeface="Cambria Math" panose="02040503050406030204" pitchFamily="18" charset="0"/>
                            </a:rPr>
                            <m:t>3</m:t>
                          </m:r>
                        </m:sub>
                      </m:sSub>
                      <m:sSub>
                        <m:sSubPr>
                          <m:ctrlPr>
                            <a:rPr lang="ko-KR" altLang="ko-KR" sz="1600" i="1" smtClean="0">
                              <a:solidFill>
                                <a:srgbClr val="FF0000"/>
                              </a:solidFill>
                              <a:latin typeface="Cambria Math" panose="02040503050406030204" pitchFamily="18" charset="0"/>
                            </a:rPr>
                          </m:ctrlPr>
                        </m:sSubPr>
                        <m:e>
                          <m:r>
                            <a:rPr lang="en-US" altLang="ko-KR" sz="1600">
                              <a:solidFill>
                                <a:srgbClr val="FF0000"/>
                              </a:solidFill>
                              <a:latin typeface="Cambria Math" panose="02040503050406030204" pitchFamily="18" charset="0"/>
                            </a:rPr>
                            <m:t>𝑋</m:t>
                          </m:r>
                        </m:e>
                        <m:sub>
                          <m:r>
                            <a:rPr lang="en-US" altLang="ko-KR" sz="1600">
                              <a:solidFill>
                                <a:srgbClr val="FF0000"/>
                              </a:solidFill>
                              <a:latin typeface="Cambria Math" panose="02040503050406030204" pitchFamily="18" charset="0"/>
                            </a:rPr>
                            <m:t>3</m:t>
                          </m:r>
                        </m:sub>
                      </m:sSub>
                      <m:r>
                        <a:rPr lang="en-US" altLang="ko-KR" sz="1600">
                          <a:solidFill>
                            <a:srgbClr val="262626"/>
                          </a:solidFill>
                          <a:latin typeface="Cambria Math" panose="02040503050406030204" pitchFamily="18" charset="0"/>
                        </a:rPr>
                        <m:t>+</m:t>
                      </m:r>
                      <m:sSub>
                        <m:sSubPr>
                          <m:ctrlPr>
                            <a:rPr lang="ko-KR" altLang="ko-KR" sz="1600" i="1">
                              <a:solidFill>
                                <a:srgbClr val="262626"/>
                              </a:solidFill>
                              <a:latin typeface="Cambria Math" panose="02040503050406030204" pitchFamily="18" charset="0"/>
                            </a:rPr>
                          </m:ctrlPr>
                        </m:sSubPr>
                        <m:e>
                          <m:r>
                            <a:rPr lang="en-US" altLang="ko-KR" sz="1600">
                              <a:solidFill>
                                <a:srgbClr val="262626"/>
                              </a:solidFill>
                              <a:latin typeface="Cambria Math" panose="02040503050406030204" pitchFamily="18" charset="0"/>
                            </a:rPr>
                            <m:t>𝛽</m:t>
                          </m:r>
                        </m:e>
                        <m:sub>
                          <m:r>
                            <a:rPr lang="en-US" altLang="ko-KR" sz="1600">
                              <a:solidFill>
                                <a:srgbClr val="262626"/>
                              </a:solidFill>
                              <a:latin typeface="Cambria Math" panose="02040503050406030204" pitchFamily="18" charset="0"/>
                            </a:rPr>
                            <m:t>4</m:t>
                          </m:r>
                        </m:sub>
                      </m:sSub>
                      <m:sSub>
                        <m:sSubPr>
                          <m:ctrlPr>
                            <a:rPr lang="ko-KR" altLang="ko-KR" sz="1600" i="1" smtClean="0">
                              <a:solidFill>
                                <a:srgbClr val="FF0000"/>
                              </a:solidFill>
                              <a:latin typeface="Cambria Math" panose="02040503050406030204" pitchFamily="18" charset="0"/>
                            </a:rPr>
                          </m:ctrlPr>
                        </m:sSubPr>
                        <m:e>
                          <m:r>
                            <a:rPr lang="en-US" altLang="ko-KR" sz="1600">
                              <a:solidFill>
                                <a:srgbClr val="FF0000"/>
                              </a:solidFill>
                              <a:latin typeface="Cambria Math" panose="02040503050406030204" pitchFamily="18" charset="0"/>
                            </a:rPr>
                            <m:t>𝑋</m:t>
                          </m:r>
                        </m:e>
                        <m:sub>
                          <m:r>
                            <a:rPr lang="en-US" altLang="ko-KR" sz="1600">
                              <a:solidFill>
                                <a:srgbClr val="FF0000"/>
                              </a:solidFill>
                              <a:latin typeface="Cambria Math" panose="02040503050406030204" pitchFamily="18" charset="0"/>
                            </a:rPr>
                            <m:t>4</m:t>
                          </m:r>
                        </m:sub>
                      </m:sSub>
                      <m:r>
                        <a:rPr lang="en-US" altLang="ko-KR" sz="1600">
                          <a:solidFill>
                            <a:srgbClr val="262626"/>
                          </a:solidFill>
                          <a:latin typeface="Cambria Math" panose="02040503050406030204" pitchFamily="18" charset="0"/>
                        </a:rPr>
                        <m:t>+</m:t>
                      </m:r>
                      <m:r>
                        <m:rPr>
                          <m:nor/>
                        </m:rPr>
                        <a:rPr lang="en-US" altLang="ko-KR" sz="1600" dirty="0">
                          <a:solidFill>
                            <a:srgbClr val="193EB0"/>
                          </a:solidFill>
                          <a:sym typeface="Symbol"/>
                        </a:rPr>
                        <m:t></m:t>
                      </m:r>
                    </m:oMath>
                  </m:oMathPara>
                </a14:m>
                <a:endParaRPr lang="en-US" altLang="ko-KR" sz="1600" dirty="0"/>
              </a:p>
            </p:txBody>
          </p:sp>
        </mc:Choice>
        <mc:Fallback xmlns="">
          <p:sp>
            <p:nvSpPr>
              <p:cNvPr id="12" name="직사각형 11">
                <a:extLst>
                  <a:ext uri="{FF2B5EF4-FFF2-40B4-BE49-F238E27FC236}">
                    <a16:creationId xmlns:a16="http://schemas.microsoft.com/office/drawing/2014/main" id="{094484C5-2855-44F1-B543-271FC5A64EF4}"/>
                  </a:ext>
                </a:extLst>
              </p:cNvPr>
              <p:cNvSpPr>
                <a:spLocks noRot="1" noChangeAspect="1" noMove="1" noResize="1" noEditPoints="1" noAdjustHandles="1" noChangeArrowheads="1" noChangeShapeType="1" noTextEdit="1"/>
              </p:cNvSpPr>
              <p:nvPr/>
            </p:nvSpPr>
            <p:spPr>
              <a:xfrm>
                <a:off x="2979320" y="2060575"/>
                <a:ext cx="3944185" cy="338554"/>
              </a:xfrm>
              <a:prstGeom prst="rect">
                <a:avLst/>
              </a:prstGeom>
              <a:blipFill>
                <a:blip r:embed="rId4"/>
                <a:stretch>
                  <a:fillRect b="-8929"/>
                </a:stretch>
              </a:blipFill>
              <a:ln>
                <a:noFill/>
              </a:ln>
            </p:spPr>
            <p:txBody>
              <a:bodyPr/>
              <a:lstStyle/>
              <a:p>
                <a:r>
                  <a:rPr lang="ko-KR" altLang="en-US">
                    <a:noFill/>
                  </a:rPr>
                  <a:t> </a:t>
                </a:r>
              </a:p>
            </p:txBody>
          </p:sp>
        </mc:Fallback>
      </mc:AlternateContent>
      <p:grpSp>
        <p:nvGrpSpPr>
          <p:cNvPr id="19" name="그룹 18">
            <a:extLst>
              <a:ext uri="{FF2B5EF4-FFF2-40B4-BE49-F238E27FC236}">
                <a16:creationId xmlns:a16="http://schemas.microsoft.com/office/drawing/2014/main" id="{617454ED-0C14-4151-AB47-0BA77DB02082}"/>
              </a:ext>
            </a:extLst>
          </p:cNvPr>
          <p:cNvGrpSpPr/>
          <p:nvPr/>
        </p:nvGrpSpPr>
        <p:grpSpPr>
          <a:xfrm>
            <a:off x="2984005" y="2478715"/>
            <a:ext cx="3583979" cy="1076219"/>
            <a:chOff x="1792700" y="3417379"/>
            <a:chExt cx="5233506" cy="1354457"/>
          </a:xfrm>
        </p:grpSpPr>
        <p:grpSp>
          <p:nvGrpSpPr>
            <p:cNvPr id="20" name="Group 12">
              <a:extLst>
                <a:ext uri="{FF2B5EF4-FFF2-40B4-BE49-F238E27FC236}">
                  <a16:creationId xmlns:a16="http://schemas.microsoft.com/office/drawing/2014/main" id="{58B2A574-C661-496A-AD07-F15964359785}"/>
                </a:ext>
              </a:extLst>
            </p:cNvPr>
            <p:cNvGrpSpPr/>
            <p:nvPr/>
          </p:nvGrpSpPr>
          <p:grpSpPr>
            <a:xfrm>
              <a:off x="1792700" y="3417380"/>
              <a:ext cx="505610" cy="850904"/>
              <a:chOff x="2530826" y="3092937"/>
              <a:chExt cx="505610" cy="850904"/>
            </a:xfrm>
          </p:grpSpPr>
          <p:cxnSp>
            <p:nvCxnSpPr>
              <p:cNvPr id="43" name="Straight Arrow Connector 13">
                <a:extLst>
                  <a:ext uri="{FF2B5EF4-FFF2-40B4-BE49-F238E27FC236}">
                    <a16:creationId xmlns:a16="http://schemas.microsoft.com/office/drawing/2014/main" id="{EEA29EEE-FC59-4211-8617-5EDB9A0A054B}"/>
                  </a:ext>
                </a:extLst>
              </p:cNvPr>
              <p:cNvCxnSpPr/>
              <p:nvPr/>
            </p:nvCxnSpPr>
            <p:spPr>
              <a:xfrm flipV="1">
                <a:off x="2783632" y="3092937"/>
                <a:ext cx="0" cy="585194"/>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95D9F981-3794-4AB0-9FB7-A3FE679B4BDC}"/>
                  </a:ext>
                </a:extLst>
              </p:cNvPr>
              <p:cNvSpPr txBox="1"/>
              <p:nvPr/>
            </p:nvSpPr>
            <p:spPr>
              <a:xfrm>
                <a:off x="2530826" y="3692065"/>
                <a:ext cx="505610" cy="251776"/>
              </a:xfrm>
              <a:prstGeom prst="rect">
                <a:avLst/>
              </a:prstGeom>
              <a:noFill/>
            </p:spPr>
            <p:txBody>
              <a:bodyPr wrap="none" lIns="0" tIns="0" rIns="0" bIns="0" rtlCol="0" anchor="ctr">
                <a:spAutoFit/>
                <a:scene3d>
                  <a:camera prst="orthographicFront"/>
                  <a:lightRig rig="threePt" dir="t"/>
                </a:scene3d>
                <a:sp3d>
                  <a:bevelT w="0" h="6350"/>
                </a:sp3d>
              </a:bodyPr>
              <a:lstStyle>
                <a:defPPr>
                  <a:defRPr lang="en-US"/>
                </a:defPPr>
                <a:lvl1pPr algn="ctr">
                  <a:spcAft>
                    <a:spcPts val="600"/>
                  </a:spcAft>
                  <a:defRPr sz="1300">
                    <a:solidFill>
                      <a:srgbClr val="193EB0"/>
                    </a:solidFill>
                    <a:latin typeface="SamsungOne 700" panose="020B0803030303020204" pitchFamily="34" charset="0"/>
                    <a:ea typeface="SamsungOne 700" panose="020B0803030303020204" pitchFamily="34" charset="0"/>
                  </a:defRPr>
                </a:lvl1pPr>
              </a:lstStyle>
              <a:p>
                <a:r>
                  <a:rPr lang="en-US" altLang="ko-KR" dirty="0">
                    <a:solidFill>
                      <a:srgbClr val="262626"/>
                    </a:solidFill>
                  </a:rPr>
                  <a:t>MPG</a:t>
                </a:r>
              </a:p>
            </p:txBody>
          </p:sp>
        </p:grpSp>
        <p:grpSp>
          <p:nvGrpSpPr>
            <p:cNvPr id="21" name="Group 8">
              <a:extLst>
                <a:ext uri="{FF2B5EF4-FFF2-40B4-BE49-F238E27FC236}">
                  <a16:creationId xmlns:a16="http://schemas.microsoft.com/office/drawing/2014/main" id="{64B44B46-C2E6-41F6-B337-68F22AC36004}"/>
                </a:ext>
              </a:extLst>
            </p:cNvPr>
            <p:cNvGrpSpPr/>
            <p:nvPr/>
          </p:nvGrpSpPr>
          <p:grpSpPr>
            <a:xfrm>
              <a:off x="3125396" y="3417379"/>
              <a:ext cx="1025264" cy="1102684"/>
              <a:chOff x="2276413" y="3092937"/>
              <a:chExt cx="1025264" cy="1102684"/>
            </a:xfrm>
          </p:grpSpPr>
          <p:cxnSp>
            <p:nvCxnSpPr>
              <p:cNvPr id="41" name="Straight Arrow Connector 9">
                <a:extLst>
                  <a:ext uri="{FF2B5EF4-FFF2-40B4-BE49-F238E27FC236}">
                    <a16:creationId xmlns:a16="http://schemas.microsoft.com/office/drawing/2014/main" id="{BB5C0B43-22F4-407F-BE4D-FFE61183AE58}"/>
                  </a:ext>
                </a:extLst>
              </p:cNvPr>
              <p:cNvCxnSpPr/>
              <p:nvPr/>
            </p:nvCxnSpPr>
            <p:spPr>
              <a:xfrm flipV="1">
                <a:off x="2783632" y="3092937"/>
                <a:ext cx="0" cy="585194"/>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C51AF3B-5162-4174-86CF-DA6F1AB25A97}"/>
                  </a:ext>
                </a:extLst>
              </p:cNvPr>
              <p:cNvSpPr txBox="1"/>
              <p:nvPr/>
            </p:nvSpPr>
            <p:spPr>
              <a:xfrm>
                <a:off x="2276413" y="3692068"/>
                <a:ext cx="1025264" cy="503553"/>
              </a:xfrm>
              <a:prstGeom prst="rect">
                <a:avLst/>
              </a:prstGeom>
              <a:noFill/>
            </p:spPr>
            <p:txBody>
              <a:bodyPr wrap="none" lIns="0" tIns="0" rIns="0" bIns="0" rtlCol="0" anchor="ctr">
                <a:spAutoFit/>
                <a:scene3d>
                  <a:camera prst="orthographicFront"/>
                  <a:lightRig rig="threePt" dir="t"/>
                </a:scene3d>
                <a:sp3d>
                  <a:bevelT w="0" h="6350"/>
                </a:sp3d>
              </a:bodyPr>
              <a:lstStyle>
                <a:defPPr>
                  <a:defRPr lang="en-US"/>
                </a:defPPr>
                <a:lvl1pPr algn="ctr">
                  <a:spcAft>
                    <a:spcPts val="600"/>
                  </a:spcAft>
                  <a:defRPr sz="1300">
                    <a:solidFill>
                      <a:srgbClr val="193EB0"/>
                    </a:solidFill>
                    <a:latin typeface="SamsungOne 700" panose="020B0803030303020204" pitchFamily="34" charset="0"/>
                    <a:ea typeface="SamsungOne 700" panose="020B0803030303020204" pitchFamily="34" charset="0"/>
                  </a:defRPr>
                </a:lvl1pPr>
              </a:lstStyle>
              <a:p>
                <a:r>
                  <a:rPr lang="en-US" altLang="ko-KR" dirty="0">
                    <a:solidFill>
                      <a:srgbClr val="262626"/>
                    </a:solidFill>
                  </a:rPr>
                  <a:t>N# of </a:t>
                </a:r>
                <a:br>
                  <a:rPr lang="en-US" altLang="ko-KR" dirty="0">
                    <a:solidFill>
                      <a:srgbClr val="262626"/>
                    </a:solidFill>
                  </a:rPr>
                </a:br>
                <a:r>
                  <a:rPr lang="en-US" altLang="ko-KR" dirty="0">
                    <a:solidFill>
                      <a:srgbClr val="262626"/>
                    </a:solidFill>
                  </a:rPr>
                  <a:t>Cylinders</a:t>
                </a:r>
              </a:p>
            </p:txBody>
          </p:sp>
        </p:grpSp>
        <p:grpSp>
          <p:nvGrpSpPr>
            <p:cNvPr id="32" name="Group 11">
              <a:extLst>
                <a:ext uri="{FF2B5EF4-FFF2-40B4-BE49-F238E27FC236}">
                  <a16:creationId xmlns:a16="http://schemas.microsoft.com/office/drawing/2014/main" id="{0D7EEC7B-1D06-4DB6-8575-A5009D4B3410}"/>
                </a:ext>
              </a:extLst>
            </p:cNvPr>
            <p:cNvGrpSpPr/>
            <p:nvPr/>
          </p:nvGrpSpPr>
          <p:grpSpPr>
            <a:xfrm>
              <a:off x="4489169" y="3417380"/>
              <a:ext cx="308983" cy="850905"/>
              <a:chOff x="2629141" y="3092937"/>
              <a:chExt cx="308983" cy="850905"/>
            </a:xfrm>
          </p:grpSpPr>
          <p:cxnSp>
            <p:nvCxnSpPr>
              <p:cNvPr id="39" name="Straight Arrow Connector 15">
                <a:extLst>
                  <a:ext uri="{FF2B5EF4-FFF2-40B4-BE49-F238E27FC236}">
                    <a16:creationId xmlns:a16="http://schemas.microsoft.com/office/drawing/2014/main" id="{FE623227-9FF6-48C8-A133-84D2F2BDEFB8}"/>
                  </a:ext>
                </a:extLst>
              </p:cNvPr>
              <p:cNvCxnSpPr/>
              <p:nvPr/>
            </p:nvCxnSpPr>
            <p:spPr>
              <a:xfrm flipV="1">
                <a:off x="2783632" y="3092937"/>
                <a:ext cx="0" cy="585194"/>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F973BCA-FAAB-4445-8F8C-FEF8A129F53E}"/>
                  </a:ext>
                </a:extLst>
              </p:cNvPr>
              <p:cNvSpPr txBox="1"/>
              <p:nvPr/>
            </p:nvSpPr>
            <p:spPr>
              <a:xfrm>
                <a:off x="2629141" y="3692066"/>
                <a:ext cx="308983" cy="251776"/>
              </a:xfrm>
              <a:prstGeom prst="rect">
                <a:avLst/>
              </a:prstGeom>
              <a:noFill/>
            </p:spPr>
            <p:txBody>
              <a:bodyPr wrap="none" lIns="0" tIns="0" rIns="0" bIns="0" rtlCol="0" anchor="ctr">
                <a:spAutoFit/>
                <a:scene3d>
                  <a:camera prst="orthographicFront"/>
                  <a:lightRig rig="threePt" dir="t"/>
                </a:scene3d>
                <a:sp3d>
                  <a:bevelT w="0" h="6350"/>
                </a:sp3d>
              </a:bodyPr>
              <a:lstStyle>
                <a:defPPr>
                  <a:defRPr lang="en-US"/>
                </a:defPPr>
                <a:lvl1pPr algn="ctr">
                  <a:spcAft>
                    <a:spcPts val="600"/>
                  </a:spcAft>
                  <a:defRPr sz="1300">
                    <a:solidFill>
                      <a:srgbClr val="193EB0"/>
                    </a:solidFill>
                    <a:latin typeface="SamsungOne 700" panose="020B0803030303020204" pitchFamily="34" charset="0"/>
                    <a:ea typeface="SamsungOne 700" panose="020B0803030303020204" pitchFamily="34" charset="0"/>
                  </a:defRPr>
                </a:lvl1pPr>
              </a:lstStyle>
              <a:p>
                <a:r>
                  <a:rPr lang="en-US" altLang="ko-KR" dirty="0">
                    <a:solidFill>
                      <a:srgbClr val="262626"/>
                    </a:solidFill>
                  </a:rPr>
                  <a:t>HP</a:t>
                </a:r>
              </a:p>
            </p:txBody>
          </p:sp>
        </p:grpSp>
        <p:grpSp>
          <p:nvGrpSpPr>
            <p:cNvPr id="33" name="Group 17">
              <a:extLst>
                <a:ext uri="{FF2B5EF4-FFF2-40B4-BE49-F238E27FC236}">
                  <a16:creationId xmlns:a16="http://schemas.microsoft.com/office/drawing/2014/main" id="{7CC61023-5589-43F3-86CD-8A6AA1B437CD}"/>
                </a:ext>
              </a:extLst>
            </p:cNvPr>
            <p:cNvGrpSpPr/>
            <p:nvPr/>
          </p:nvGrpSpPr>
          <p:grpSpPr>
            <a:xfrm>
              <a:off x="5286103" y="3417380"/>
              <a:ext cx="779482" cy="850906"/>
              <a:chOff x="2393892" y="3092937"/>
              <a:chExt cx="779482" cy="850906"/>
            </a:xfrm>
          </p:grpSpPr>
          <p:cxnSp>
            <p:nvCxnSpPr>
              <p:cNvPr id="37" name="Straight Arrow Connector 18">
                <a:extLst>
                  <a:ext uri="{FF2B5EF4-FFF2-40B4-BE49-F238E27FC236}">
                    <a16:creationId xmlns:a16="http://schemas.microsoft.com/office/drawing/2014/main" id="{A3EB7B70-0CB3-4BF1-B62A-F4EDA7B6E130}"/>
                  </a:ext>
                </a:extLst>
              </p:cNvPr>
              <p:cNvCxnSpPr/>
              <p:nvPr/>
            </p:nvCxnSpPr>
            <p:spPr>
              <a:xfrm flipV="1">
                <a:off x="2783632" y="3092937"/>
                <a:ext cx="0" cy="585194"/>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5BF3F2D-6F0B-46DC-B0F0-9F5320DB1FFF}"/>
                  </a:ext>
                </a:extLst>
              </p:cNvPr>
              <p:cNvSpPr txBox="1"/>
              <p:nvPr/>
            </p:nvSpPr>
            <p:spPr>
              <a:xfrm>
                <a:off x="2393892" y="3692067"/>
                <a:ext cx="779482" cy="251776"/>
              </a:xfrm>
              <a:prstGeom prst="rect">
                <a:avLst/>
              </a:prstGeom>
              <a:noFill/>
            </p:spPr>
            <p:txBody>
              <a:bodyPr wrap="none" lIns="0" tIns="0" rIns="0" bIns="0" rtlCol="0" anchor="ctr">
                <a:sp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r>
                  <a:rPr lang="en-US" altLang="ko-KR" dirty="0"/>
                  <a:t>Weight</a:t>
                </a:r>
              </a:p>
            </p:txBody>
          </p:sp>
        </p:grpSp>
        <p:grpSp>
          <p:nvGrpSpPr>
            <p:cNvPr id="34" name="Group 20">
              <a:extLst>
                <a:ext uri="{FF2B5EF4-FFF2-40B4-BE49-F238E27FC236}">
                  <a16:creationId xmlns:a16="http://schemas.microsoft.com/office/drawing/2014/main" id="{547B4783-20DF-493B-B40E-7A227150F9F4}"/>
                </a:ext>
              </a:extLst>
            </p:cNvPr>
            <p:cNvGrpSpPr/>
            <p:nvPr/>
          </p:nvGrpSpPr>
          <p:grpSpPr>
            <a:xfrm>
              <a:off x="6213953" y="3417379"/>
              <a:ext cx="812253" cy="1354457"/>
              <a:chOff x="2377506" y="3092937"/>
              <a:chExt cx="812253" cy="1354457"/>
            </a:xfrm>
          </p:grpSpPr>
          <p:cxnSp>
            <p:nvCxnSpPr>
              <p:cNvPr id="35" name="Straight Arrow Connector 21">
                <a:extLst>
                  <a:ext uri="{FF2B5EF4-FFF2-40B4-BE49-F238E27FC236}">
                    <a16:creationId xmlns:a16="http://schemas.microsoft.com/office/drawing/2014/main" id="{254C56AF-EAA6-466D-983F-997F3E6346FF}"/>
                  </a:ext>
                </a:extLst>
              </p:cNvPr>
              <p:cNvCxnSpPr/>
              <p:nvPr/>
            </p:nvCxnSpPr>
            <p:spPr>
              <a:xfrm flipV="1">
                <a:off x="2783632" y="3092937"/>
                <a:ext cx="0" cy="585194"/>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8ED7DA17-3A35-4793-863D-9FE60F812B82}"/>
                  </a:ext>
                </a:extLst>
              </p:cNvPr>
              <p:cNvSpPr txBox="1"/>
              <p:nvPr/>
            </p:nvSpPr>
            <p:spPr>
              <a:xfrm>
                <a:off x="2377506" y="3692068"/>
                <a:ext cx="812253" cy="755326"/>
              </a:xfrm>
              <a:prstGeom prst="rect">
                <a:avLst/>
              </a:prstGeom>
              <a:noFill/>
            </p:spPr>
            <p:txBody>
              <a:bodyPr wrap="none" lIns="0" tIns="0" rIns="0" bIns="0" rtlCol="0" anchor="ctr">
                <a:spAutoFit/>
                <a:scene3d>
                  <a:camera prst="orthographicFront"/>
                  <a:lightRig rig="threePt" dir="t"/>
                </a:scene3d>
                <a:sp3d>
                  <a:bevelT w="0" h="6350"/>
                </a:sp3d>
              </a:bodyPr>
              <a:lstStyle>
                <a:defPPr>
                  <a:defRPr lang="en-US"/>
                </a:defPPr>
                <a:lvl1pPr algn="ctr">
                  <a:spcAft>
                    <a:spcPts val="600"/>
                  </a:spcAft>
                  <a:defRPr sz="1300">
                    <a:solidFill>
                      <a:srgbClr val="193EB0"/>
                    </a:solidFill>
                    <a:latin typeface="SamsungOne 700" panose="020B0803030303020204" pitchFamily="34" charset="0"/>
                    <a:ea typeface="SamsungOne 700" panose="020B0803030303020204" pitchFamily="34" charset="0"/>
                  </a:defRPr>
                </a:lvl1pPr>
              </a:lstStyle>
              <a:p>
                <a:r>
                  <a:rPr lang="en-US" altLang="ko-KR" dirty="0">
                    <a:solidFill>
                      <a:srgbClr val="262626"/>
                    </a:solidFill>
                  </a:rPr>
                  <a:t>Auto </a:t>
                </a:r>
                <a:br>
                  <a:rPr lang="en-US" altLang="ko-KR" dirty="0">
                    <a:solidFill>
                      <a:srgbClr val="262626"/>
                    </a:solidFill>
                  </a:rPr>
                </a:br>
                <a:r>
                  <a:rPr lang="en-US" altLang="ko-KR" dirty="0">
                    <a:solidFill>
                      <a:srgbClr val="262626"/>
                    </a:solidFill>
                  </a:rPr>
                  <a:t>or </a:t>
                </a:r>
                <a:br>
                  <a:rPr lang="en-US" altLang="ko-KR" dirty="0">
                    <a:solidFill>
                      <a:srgbClr val="262626"/>
                    </a:solidFill>
                  </a:rPr>
                </a:br>
                <a:r>
                  <a:rPr lang="en-US" altLang="ko-KR" dirty="0">
                    <a:solidFill>
                      <a:srgbClr val="262626"/>
                    </a:solidFill>
                  </a:rPr>
                  <a:t>Manual</a:t>
                </a:r>
              </a:p>
            </p:txBody>
          </p:sp>
        </p:grpSp>
      </p:grpSp>
      <p:sp>
        <p:nvSpPr>
          <p:cNvPr id="45" name="TextBox 44">
            <a:extLst>
              <a:ext uri="{FF2B5EF4-FFF2-40B4-BE49-F238E27FC236}">
                <a16:creationId xmlns:a16="http://schemas.microsoft.com/office/drawing/2014/main" id="{6273AFDB-6EE9-4C83-B5BE-ECE3D7DE17F9}"/>
              </a:ext>
            </a:extLst>
          </p:cNvPr>
          <p:cNvSpPr txBox="1"/>
          <p:nvPr/>
        </p:nvSpPr>
        <p:spPr>
          <a:xfrm>
            <a:off x="3392092" y="3956446"/>
            <a:ext cx="3118642" cy="308257"/>
          </a:xfrm>
          <a:prstGeom prst="rect">
            <a:avLst/>
          </a:prstGeom>
          <a:solidFill>
            <a:schemeClr val="accent1">
              <a:lumMod val="20000"/>
              <a:lumOff val="80000"/>
            </a:schemeClr>
          </a:solidFill>
          <a:ln w="12700">
            <a:solidFill>
              <a:schemeClr val="accent1">
                <a:lumMod val="60000"/>
                <a:lumOff val="40000"/>
              </a:schemeClr>
            </a:solidFill>
            <a:miter lim="400000"/>
          </a:ln>
        </p:spPr>
        <p:txBody>
          <a:bodyPr wrap="none" lIns="53578" tIns="53578" rIns="53578" bIns="53578" anchor="ctr">
            <a:spAutoFit/>
          </a:bodyPr>
          <a:lstStyle>
            <a:defPPr>
              <a:defRPr lang="ko-KR"/>
            </a:defPPr>
            <a:lvl1pPr defTabSz="821531" latinLnBrk="0">
              <a:spcAft>
                <a:spcPts val="600"/>
              </a:spcAft>
              <a:defRPr sz="1300">
                <a:solidFill>
                  <a:prstClr val="black">
                    <a:lumMod val="85000"/>
                    <a:lumOff val="15000"/>
                  </a:prstClr>
                </a:solidFill>
                <a:latin typeface="SamsungOne 400" panose="020B0503030303020204" pitchFamily="34" charset="0"/>
                <a:ea typeface="+mn-ea"/>
                <a:cs typeface="+mn-cs"/>
              </a:defRPr>
            </a:lvl1pPr>
          </a:lstStyle>
          <a:p>
            <a:r>
              <a:rPr lang="en-US" altLang="ko-KR" b="1" dirty="0"/>
              <a:t>MPG</a:t>
            </a:r>
            <a:r>
              <a:rPr lang="en-US" altLang="ko-KR" dirty="0"/>
              <a:t> can be </a:t>
            </a:r>
            <a:r>
              <a:rPr lang="en-US" altLang="ko-KR" b="1" dirty="0">
                <a:solidFill>
                  <a:srgbClr val="1429A0"/>
                </a:solidFill>
              </a:rPr>
              <a:t>explained</a:t>
            </a:r>
            <a:r>
              <a:rPr lang="en-US" altLang="ko-KR" dirty="0"/>
              <a:t> by other variables.</a:t>
            </a:r>
          </a:p>
        </p:txBody>
      </p:sp>
      <p:sp>
        <p:nvSpPr>
          <p:cNvPr id="46" name="사각형: 둥근 모서리 2">
            <a:extLst>
              <a:ext uri="{FF2B5EF4-FFF2-40B4-BE49-F238E27FC236}">
                <a16:creationId xmlns:a16="http://schemas.microsoft.com/office/drawing/2014/main" id="{45F05EA0-DE79-47AE-86DE-2E027CB43F56}"/>
              </a:ext>
            </a:extLst>
          </p:cNvPr>
          <p:cNvSpPr/>
          <p:nvPr/>
        </p:nvSpPr>
        <p:spPr>
          <a:xfrm>
            <a:off x="678614" y="1773238"/>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Tree>
    <p:extLst>
      <p:ext uri="{BB962C8B-B14F-4D97-AF65-F5344CB8AC3E}">
        <p14:creationId xmlns:p14="http://schemas.microsoft.com/office/powerpoint/2010/main" val="374414119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Interpreting the regression coefficients</a:t>
            </a:r>
          </a:p>
        </p:txBody>
      </p:sp>
      <mc:AlternateContent xmlns:mc="http://schemas.openxmlformats.org/markup-compatibility/2006" xmlns:a14="http://schemas.microsoft.com/office/drawing/2010/main">
        <mc:Choice Requires="a14">
          <p:sp>
            <p:nvSpPr>
              <p:cNvPr id="15" name="직사각형 14">
                <a:extLst>
                  <a:ext uri="{FF2B5EF4-FFF2-40B4-BE49-F238E27FC236}">
                    <a16:creationId xmlns:a16="http://schemas.microsoft.com/office/drawing/2014/main" id="{8E02D1CE-2859-45A1-90B6-A62349DC71E3}"/>
                  </a:ext>
                </a:extLst>
              </p:cNvPr>
              <p:cNvSpPr/>
              <p:nvPr/>
            </p:nvSpPr>
            <p:spPr>
              <a:xfrm>
                <a:off x="671261" y="2345935"/>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If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𝑋</a:t>
                </a:r>
                <a:r>
                  <a:rPr lang="en-US" altLang="ko-KR" sz="1300" baseline="-25000" dirty="0">
                    <a:solidFill>
                      <a:prstClr val="black">
                        <a:lumMod val="85000"/>
                        <a:lumOff val="15000"/>
                      </a:prstClr>
                    </a:solidFill>
                    <a:latin typeface="SamsungOne 400" panose="020B0503030303020204" pitchFamily="34" charset="0"/>
                    <a:ea typeface="SamsungOne 400" panose="020B0503030303020204" pitchFamily="34" charset="0"/>
                  </a:rPr>
                  <a:t>1</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𝑋</a:t>
                </a:r>
                <a:r>
                  <a:rPr lang="en-US" altLang="ko-KR" sz="1300" baseline="-25000" dirty="0">
                    <a:solidFill>
                      <a:prstClr val="black">
                        <a:lumMod val="85000"/>
                        <a:lumOff val="15000"/>
                      </a:prstClr>
                    </a:solidFill>
                    <a:latin typeface="SamsungOne 400" panose="020B0503030303020204" pitchFamily="34" charset="0"/>
                    <a:ea typeface="SamsungOne 400" panose="020B0503030303020204" pitchFamily="34" charset="0"/>
                  </a:rPr>
                  <a:t>1</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𝑋</a:t>
                </a:r>
                <a:r>
                  <a:rPr lang="ko-KR" altLang="en-US" sz="1300" baseline="-25000" dirty="0">
                    <a:solidFill>
                      <a:prstClr val="black">
                        <a:lumMod val="85000"/>
                        <a:lumOff val="15000"/>
                      </a:prstClr>
                    </a:solidFill>
                    <a:latin typeface="SamsungOne 400" panose="020B0503030303020204" pitchFamily="34" charset="0"/>
                    <a:ea typeface="SamsungOne 400" panose="020B0503030303020204" pitchFamily="34" charset="0"/>
                  </a:rPr>
                  <a:t>𝑘</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change by </a:t>
                </a:r>
                <a14:m>
                  <m:oMath xmlns:m="http://schemas.openxmlformats.org/officeDocument/2006/math">
                    <m:r>
                      <a:rPr lang="ko-KR" altLang="en-US" sz="1300">
                        <a:solidFill>
                          <a:srgbClr val="FF0000"/>
                        </a:solidFill>
                        <a:latin typeface="Cambria Math" panose="02040503050406030204" pitchFamily="18" charset="0"/>
                        <a:ea typeface="SamsungOne 400" panose="020B0503030303020204" pitchFamily="34" charset="0"/>
                        <a:sym typeface="Symbol"/>
                      </a:rPr>
                      <m:t> </m:t>
                    </m:r>
                  </m:oMath>
                </a14:m>
                <a:r>
                  <a:rPr lang="ko-KR" altLang="en-US" sz="1300" dirty="0">
                    <a:solidFill>
                      <a:srgbClr val="FF0000"/>
                    </a:solidFill>
                    <a:latin typeface="SamsungOne 400" panose="020B0503030303020204" pitchFamily="34" charset="0"/>
                    <a:ea typeface="SamsungOne 400" panose="020B0503030303020204" pitchFamily="34" charset="0"/>
                  </a:rPr>
                  <a:t>𝑋</a:t>
                </a:r>
                <a:r>
                  <a:rPr lang="en-US" altLang="ko-KR" sz="1300" baseline="-25000" dirty="0">
                    <a:solidFill>
                      <a:srgbClr val="FF0000"/>
                    </a:solidFill>
                    <a:latin typeface="SamsungOne 400" panose="020B0503030303020204" pitchFamily="34" charset="0"/>
                    <a:ea typeface="SamsungOne 400" panose="020B0503030303020204" pitchFamily="34" charset="0"/>
                  </a:rPr>
                  <a:t>1</a:t>
                </a:r>
                <a:r>
                  <a:rPr lang="en-US" altLang="ko-KR" sz="1300" dirty="0">
                    <a:solidFill>
                      <a:srgbClr val="FF0000"/>
                    </a:solidFill>
                    <a:latin typeface="SamsungOne 400" panose="020B0503030303020204" pitchFamily="34" charset="0"/>
                    <a:ea typeface="SamsungOne 400" panose="020B0503030303020204" pitchFamily="34" charset="0"/>
                  </a:rPr>
                  <a:t>,  </a:t>
                </a:r>
                <a14:m>
                  <m:oMath xmlns:m="http://schemas.openxmlformats.org/officeDocument/2006/math">
                    <m:r>
                      <a:rPr lang="ko-KR" altLang="en-US" sz="1300">
                        <a:solidFill>
                          <a:srgbClr val="FF0000"/>
                        </a:solidFill>
                        <a:latin typeface="Cambria Math" panose="02040503050406030204" pitchFamily="18" charset="0"/>
                        <a:ea typeface="SamsungOne 400" panose="020B0503030303020204" pitchFamily="34" charset="0"/>
                        <a:sym typeface="Symbol"/>
                      </a:rPr>
                      <m:t> </m:t>
                    </m:r>
                  </m:oMath>
                </a14:m>
                <a:r>
                  <a:rPr lang="ko-KR" altLang="en-US" sz="1300" dirty="0">
                    <a:solidFill>
                      <a:srgbClr val="FF0000"/>
                    </a:solidFill>
                    <a:latin typeface="SamsungOne 400" panose="020B0503030303020204" pitchFamily="34" charset="0"/>
                    <a:ea typeface="SamsungOne 400" panose="020B0503030303020204" pitchFamily="34" charset="0"/>
                  </a:rPr>
                  <a:t>𝑋</a:t>
                </a:r>
                <a:r>
                  <a:rPr lang="en-US" altLang="ko-KR" sz="1300" baseline="-25000" dirty="0">
                    <a:solidFill>
                      <a:srgbClr val="FF0000"/>
                    </a:solidFill>
                    <a:latin typeface="SamsungOne 400" panose="020B0503030303020204" pitchFamily="34" charset="0"/>
                    <a:ea typeface="SamsungOne 400" panose="020B0503030303020204" pitchFamily="34" charset="0"/>
                  </a:rPr>
                  <a:t>2</a:t>
                </a:r>
                <a:r>
                  <a:rPr lang="en-US" altLang="ko-KR" sz="1300" dirty="0">
                    <a:solidFill>
                      <a:srgbClr val="FF0000"/>
                    </a:solidFill>
                    <a:latin typeface="SamsungOne 400" panose="020B0503030303020204" pitchFamily="34" charset="0"/>
                    <a:ea typeface="SamsungOne 400" panose="020B0503030303020204" pitchFamily="34" charset="0"/>
                  </a:rPr>
                  <a:t>, …, </a:t>
                </a:r>
                <a14:m>
                  <m:oMath xmlns:m="http://schemas.openxmlformats.org/officeDocument/2006/math">
                    <m:r>
                      <a:rPr lang="ko-KR" altLang="en-US" sz="1300">
                        <a:solidFill>
                          <a:srgbClr val="FF0000"/>
                        </a:solidFill>
                        <a:latin typeface="Cambria Math" panose="02040503050406030204" pitchFamily="18" charset="0"/>
                        <a:ea typeface="SamsungOne 400" panose="020B0503030303020204" pitchFamily="34" charset="0"/>
                        <a:sym typeface="Symbol"/>
                      </a:rPr>
                      <m:t> </m:t>
                    </m:r>
                  </m:oMath>
                </a14:m>
                <a:r>
                  <a:rPr lang="ko-KR" altLang="en-US" sz="1300" dirty="0">
                    <a:solidFill>
                      <a:srgbClr val="FF0000"/>
                    </a:solidFill>
                    <a:latin typeface="SamsungOne 400" panose="020B0503030303020204" pitchFamily="34" charset="0"/>
                    <a:ea typeface="SamsungOne 400" panose="020B0503030303020204" pitchFamily="34" charset="0"/>
                  </a:rPr>
                  <a:t>𝑋</a:t>
                </a:r>
                <a:r>
                  <a:rPr lang="ko-KR" altLang="en-US" sz="1300" baseline="-25000" dirty="0">
                    <a:solidFill>
                      <a:srgbClr val="FF0000"/>
                    </a:solidFill>
                    <a:latin typeface="SamsungOne 400" panose="020B0503030303020204" pitchFamily="34" charset="0"/>
                    <a:ea typeface="SamsungOne 400" panose="020B0503030303020204" pitchFamily="34" charset="0"/>
                  </a:rPr>
                  <a:t>𝑘</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then the change in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𝑌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is </a:t>
                </a:r>
                <a14:m>
                  <m:oMath xmlns:m="http://schemas.openxmlformats.org/officeDocument/2006/math">
                    <m:r>
                      <a:rPr lang="ko-KR" altLang="en-US" sz="1300">
                        <a:solidFill>
                          <a:srgbClr val="FF0000"/>
                        </a:solidFill>
                        <a:latin typeface="Cambria Math" panose="02040503050406030204" pitchFamily="18" charset="0"/>
                        <a:ea typeface="SamsungOne 400" panose="020B0503030303020204" pitchFamily="34" charset="0"/>
                        <a:sym typeface="Symbol"/>
                      </a:rPr>
                      <m:t> </m:t>
                    </m:r>
                  </m:oMath>
                </a14:m>
                <a:r>
                  <a:rPr lang="ko-KR" altLang="en-US" sz="1300" dirty="0">
                    <a:solidFill>
                      <a:srgbClr val="FF0000"/>
                    </a:solidFill>
                    <a:latin typeface="SamsungOne 400" panose="020B0503030303020204" pitchFamily="34" charset="0"/>
                    <a:ea typeface="SamsungOne 400" panose="020B0503030303020204" pitchFamily="34" charset="0"/>
                  </a:rPr>
                  <a:t>𝑌</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p:txBody>
          </p:sp>
        </mc:Choice>
        <mc:Fallback xmlns="">
          <p:sp>
            <p:nvSpPr>
              <p:cNvPr id="15" name="직사각형 14">
                <a:extLst>
                  <a:ext uri="{FF2B5EF4-FFF2-40B4-BE49-F238E27FC236}">
                    <a16:creationId xmlns:a16="http://schemas.microsoft.com/office/drawing/2014/main" xmlns="" xmlns:a14="http://schemas.microsoft.com/office/drawing/2010/main" id="{8E02D1CE-2859-45A1-90B6-A62349DC71E3}"/>
                  </a:ext>
                </a:extLst>
              </p:cNvPr>
              <p:cNvSpPr>
                <a:spLocks noRot="1" noChangeAspect="1" noMove="1" noResize="1" noEditPoints="1" noAdjustHandles="1" noChangeArrowheads="1" noChangeShapeType="1" noTextEdit="1"/>
              </p:cNvSpPr>
              <p:nvPr/>
            </p:nvSpPr>
            <p:spPr>
              <a:xfrm>
                <a:off x="671261" y="2345935"/>
                <a:ext cx="8632825" cy="345461"/>
              </a:xfrm>
              <a:prstGeom prst="rect">
                <a:avLst/>
              </a:prstGeom>
              <a:blipFill rotWithShape="0">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094484C5-2855-44F1-B543-271FC5A64EF4}"/>
                  </a:ext>
                </a:extLst>
              </p:cNvPr>
              <p:cNvSpPr/>
              <p:nvPr/>
            </p:nvSpPr>
            <p:spPr>
              <a:xfrm>
                <a:off x="3097300" y="1786898"/>
                <a:ext cx="3819151" cy="3385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14:m>
                  <m:oMathPara xmlns:m="http://schemas.openxmlformats.org/officeDocument/2006/math">
                    <m:oMathParaPr>
                      <m:jc m:val="centerGroup"/>
                    </m:oMathParaPr>
                    <m:oMath xmlns:m="http://schemas.openxmlformats.org/officeDocument/2006/math">
                      <m:r>
                        <a:rPr lang="en-US" altLang="ko-KR" sz="1600">
                          <a:solidFill>
                            <a:srgbClr val="FF0000"/>
                          </a:solidFill>
                          <a:latin typeface="Cambria Math" panose="02040503050406030204" pitchFamily="18" charset="0"/>
                          <a:sym typeface="Symbol"/>
                        </a:rPr>
                        <m:t></m:t>
                      </m:r>
                      <m:r>
                        <a:rPr lang="en-US" altLang="ko-KR" sz="1600">
                          <a:solidFill>
                            <a:srgbClr val="FF0000"/>
                          </a:solidFill>
                          <a:latin typeface="Cambria Math" panose="02040503050406030204" pitchFamily="18" charset="0"/>
                        </a:rPr>
                        <m:t>𝑌</m:t>
                      </m:r>
                      <m:r>
                        <a:rPr lang="en-US" altLang="ko-KR" sz="1600" smtClean="0">
                          <a:solidFill>
                            <a:schemeClr val="tx1"/>
                          </a:solidFill>
                          <a:latin typeface="Cambria Math" panose="02040503050406030204" pitchFamily="18" charset="0"/>
                        </a:rPr>
                        <m:t>= </m:t>
                      </m:r>
                      <m:sSub>
                        <m:sSubPr>
                          <m:ctrlPr>
                            <a:rPr lang="ko-KR" altLang="ko-KR" sz="1600" i="1">
                              <a:solidFill>
                                <a:schemeClr val="tx1"/>
                              </a:solidFill>
                              <a:latin typeface="Cambria Math" panose="02040503050406030204" pitchFamily="18" charset="0"/>
                            </a:rPr>
                          </m:ctrlPr>
                        </m:sSubPr>
                        <m:e>
                          <m:r>
                            <a:rPr lang="en-US" altLang="ko-KR" sz="1600">
                              <a:solidFill>
                                <a:schemeClr val="tx1"/>
                              </a:solidFill>
                              <a:latin typeface="Cambria Math" panose="02040503050406030204" pitchFamily="18" charset="0"/>
                            </a:rPr>
                            <m:t>𝛽</m:t>
                          </m:r>
                        </m:e>
                        <m:sub>
                          <m:r>
                            <a:rPr lang="en-US" altLang="ko-KR" sz="1600">
                              <a:solidFill>
                                <a:schemeClr val="tx1"/>
                              </a:solidFill>
                              <a:latin typeface="Cambria Math" panose="02040503050406030204" pitchFamily="18" charset="0"/>
                            </a:rPr>
                            <m:t>1</m:t>
                          </m:r>
                        </m:sub>
                      </m:sSub>
                      <m:sSub>
                        <m:sSubPr>
                          <m:ctrlPr>
                            <a:rPr lang="ko-KR" altLang="ko-KR" sz="1600" i="1">
                              <a:solidFill>
                                <a:srgbClr val="FF0000"/>
                              </a:solidFill>
                              <a:latin typeface="Cambria Math" panose="02040503050406030204" pitchFamily="18" charset="0"/>
                            </a:rPr>
                          </m:ctrlPr>
                        </m:sSubPr>
                        <m:e>
                          <m:r>
                            <a:rPr lang="ko-KR" altLang="en-US" sz="1600">
                              <a:solidFill>
                                <a:srgbClr val="FF0000"/>
                              </a:solidFill>
                              <a:latin typeface="Cambria Math" panose="02040503050406030204" pitchFamily="18" charset="0"/>
                              <a:sym typeface="Symbol"/>
                            </a:rPr>
                            <m:t></m:t>
                          </m:r>
                          <m:r>
                            <a:rPr lang="en-US" altLang="ko-KR" sz="1600">
                              <a:solidFill>
                                <a:srgbClr val="FF0000"/>
                              </a:solidFill>
                              <a:latin typeface="Cambria Math" panose="02040503050406030204" pitchFamily="18" charset="0"/>
                            </a:rPr>
                            <m:t>𝑋</m:t>
                          </m:r>
                        </m:e>
                        <m:sub>
                          <m:r>
                            <a:rPr lang="en-US" altLang="ko-KR" sz="1600">
                              <a:solidFill>
                                <a:srgbClr val="FF0000"/>
                              </a:solidFill>
                              <a:latin typeface="Cambria Math" panose="02040503050406030204" pitchFamily="18" charset="0"/>
                            </a:rPr>
                            <m:t>1</m:t>
                          </m:r>
                        </m:sub>
                      </m:sSub>
                      <m:r>
                        <a:rPr lang="en-US" altLang="ko-KR" sz="1600" smtClean="0">
                          <a:solidFill>
                            <a:schemeClr val="tx1"/>
                          </a:solidFill>
                          <a:latin typeface="Cambria Math" panose="02040503050406030204" pitchFamily="18" charset="0"/>
                        </a:rPr>
                        <m:t>+⋯+</m:t>
                      </m:r>
                      <m:sSub>
                        <m:sSubPr>
                          <m:ctrlPr>
                            <a:rPr lang="ko-KR" altLang="ko-KR" sz="1600" i="1">
                              <a:solidFill>
                                <a:schemeClr val="tx1"/>
                              </a:solidFill>
                              <a:latin typeface="Cambria Math" panose="02040503050406030204" pitchFamily="18" charset="0"/>
                            </a:rPr>
                          </m:ctrlPr>
                        </m:sSubPr>
                        <m:e>
                          <m:r>
                            <a:rPr lang="en-US" altLang="ko-KR" sz="1600">
                              <a:solidFill>
                                <a:schemeClr val="tx1"/>
                              </a:solidFill>
                              <a:latin typeface="Cambria Math" panose="02040503050406030204" pitchFamily="18" charset="0"/>
                            </a:rPr>
                            <m:t>𝛽</m:t>
                          </m:r>
                        </m:e>
                        <m:sub>
                          <m:r>
                            <a:rPr lang="en-US" altLang="ko-KR" sz="1600">
                              <a:solidFill>
                                <a:schemeClr val="tx1"/>
                              </a:solidFill>
                              <a:latin typeface="Cambria Math" panose="02040503050406030204" pitchFamily="18" charset="0"/>
                            </a:rPr>
                            <m:t>𝑖</m:t>
                          </m:r>
                        </m:sub>
                      </m:sSub>
                      <m:sSub>
                        <m:sSubPr>
                          <m:ctrlPr>
                            <a:rPr lang="ko-KR" altLang="ko-KR" sz="1600" i="1">
                              <a:solidFill>
                                <a:srgbClr val="FF0000"/>
                              </a:solidFill>
                              <a:latin typeface="Cambria Math" panose="02040503050406030204" pitchFamily="18" charset="0"/>
                            </a:rPr>
                          </m:ctrlPr>
                        </m:sSubPr>
                        <m:e>
                          <m:r>
                            <a:rPr lang="ko-KR" altLang="en-US" sz="1600">
                              <a:solidFill>
                                <a:srgbClr val="FF0000"/>
                              </a:solidFill>
                              <a:latin typeface="Cambria Math" panose="02040503050406030204" pitchFamily="18" charset="0"/>
                              <a:sym typeface="Symbol"/>
                            </a:rPr>
                            <m:t></m:t>
                          </m:r>
                          <m:r>
                            <a:rPr lang="en-US" altLang="ko-KR" sz="1600">
                              <a:solidFill>
                                <a:srgbClr val="FF0000"/>
                              </a:solidFill>
                              <a:latin typeface="Cambria Math" panose="02040503050406030204" pitchFamily="18" charset="0"/>
                            </a:rPr>
                            <m:t>𝑋</m:t>
                          </m:r>
                        </m:e>
                        <m:sub>
                          <m:r>
                            <a:rPr lang="en-US" altLang="ko-KR" sz="1600">
                              <a:solidFill>
                                <a:srgbClr val="FF0000"/>
                              </a:solidFill>
                              <a:latin typeface="Cambria Math" panose="02040503050406030204" pitchFamily="18" charset="0"/>
                            </a:rPr>
                            <m:t>𝑖</m:t>
                          </m:r>
                        </m:sub>
                      </m:sSub>
                      <m:r>
                        <a:rPr lang="en-US" altLang="ko-KR" sz="1600" smtClean="0">
                          <a:solidFill>
                            <a:schemeClr val="tx1"/>
                          </a:solidFill>
                          <a:latin typeface="Cambria Math" panose="02040503050406030204" pitchFamily="18" charset="0"/>
                        </a:rPr>
                        <m:t>+⋯+</m:t>
                      </m:r>
                      <m:sSub>
                        <m:sSubPr>
                          <m:ctrlPr>
                            <a:rPr lang="ko-KR" altLang="ko-KR" sz="1600" i="1">
                              <a:solidFill>
                                <a:schemeClr val="tx1"/>
                              </a:solidFill>
                              <a:latin typeface="Cambria Math" panose="02040503050406030204" pitchFamily="18" charset="0"/>
                            </a:rPr>
                          </m:ctrlPr>
                        </m:sSubPr>
                        <m:e>
                          <m:r>
                            <a:rPr lang="en-US" altLang="ko-KR" sz="1600">
                              <a:solidFill>
                                <a:schemeClr val="tx1"/>
                              </a:solidFill>
                              <a:latin typeface="Cambria Math" panose="02040503050406030204" pitchFamily="18" charset="0"/>
                            </a:rPr>
                            <m:t>𝛽</m:t>
                          </m:r>
                        </m:e>
                        <m:sub>
                          <m:r>
                            <a:rPr lang="en-US" altLang="ko-KR" sz="1600">
                              <a:solidFill>
                                <a:schemeClr val="tx1"/>
                              </a:solidFill>
                              <a:latin typeface="Cambria Math" panose="02040503050406030204" pitchFamily="18" charset="0"/>
                            </a:rPr>
                            <m:t>𝑘</m:t>
                          </m:r>
                        </m:sub>
                      </m:sSub>
                      <m:sSub>
                        <m:sSubPr>
                          <m:ctrlPr>
                            <a:rPr lang="ko-KR" altLang="ko-KR" sz="1600" i="1">
                              <a:solidFill>
                                <a:srgbClr val="FF0000"/>
                              </a:solidFill>
                              <a:latin typeface="Cambria Math" panose="02040503050406030204" pitchFamily="18" charset="0"/>
                            </a:rPr>
                          </m:ctrlPr>
                        </m:sSubPr>
                        <m:e>
                          <m:r>
                            <a:rPr lang="ko-KR" altLang="en-US" sz="1600">
                              <a:solidFill>
                                <a:srgbClr val="FF0000"/>
                              </a:solidFill>
                              <a:latin typeface="Cambria Math" panose="02040503050406030204" pitchFamily="18" charset="0"/>
                              <a:sym typeface="Symbol"/>
                            </a:rPr>
                            <m:t></m:t>
                          </m:r>
                          <m:r>
                            <a:rPr lang="en-US" altLang="ko-KR" sz="1600">
                              <a:solidFill>
                                <a:srgbClr val="FF0000"/>
                              </a:solidFill>
                              <a:latin typeface="Cambria Math" panose="02040503050406030204" pitchFamily="18" charset="0"/>
                            </a:rPr>
                            <m:t>𝑋</m:t>
                          </m:r>
                        </m:e>
                        <m:sub>
                          <m:r>
                            <a:rPr lang="en-US" altLang="ko-KR" sz="1600">
                              <a:solidFill>
                                <a:srgbClr val="FF0000"/>
                              </a:solidFill>
                              <a:latin typeface="Cambria Math" panose="02040503050406030204" pitchFamily="18" charset="0"/>
                            </a:rPr>
                            <m:t>𝑘</m:t>
                          </m:r>
                        </m:sub>
                      </m:sSub>
                    </m:oMath>
                  </m:oMathPara>
                </a14:m>
                <a:endParaRPr lang="ko-KR" altLang="en-US" sz="1600" dirty="0"/>
              </a:p>
            </p:txBody>
          </p:sp>
        </mc:Choice>
        <mc:Fallback xmlns="">
          <p:sp>
            <p:nvSpPr>
              <p:cNvPr id="12" name="직사각형 11">
                <a:extLst>
                  <a:ext uri="{FF2B5EF4-FFF2-40B4-BE49-F238E27FC236}">
                    <a16:creationId xmlns:a16="http://schemas.microsoft.com/office/drawing/2014/main" id="{094484C5-2855-44F1-B543-271FC5A64EF4}"/>
                  </a:ext>
                </a:extLst>
              </p:cNvPr>
              <p:cNvSpPr>
                <a:spLocks noRot="1" noChangeAspect="1" noMove="1" noResize="1" noEditPoints="1" noAdjustHandles="1" noChangeArrowheads="1" noChangeShapeType="1" noTextEdit="1"/>
              </p:cNvSpPr>
              <p:nvPr/>
            </p:nvSpPr>
            <p:spPr>
              <a:xfrm>
                <a:off x="3097300" y="1786898"/>
                <a:ext cx="3819151" cy="338554"/>
              </a:xfrm>
              <a:prstGeom prst="rect">
                <a:avLst/>
              </a:prstGeom>
              <a:blipFill>
                <a:blip r:embed="rId5"/>
                <a:stretch>
                  <a:fillRect b="-8929"/>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313810082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Interpreting the regression coefficients</a:t>
            </a:r>
          </a:p>
        </p:txBody>
      </p:sp>
      <mc:AlternateContent xmlns:mc="http://schemas.openxmlformats.org/markup-compatibility/2006" xmlns:a14="http://schemas.microsoft.com/office/drawing/2010/main">
        <mc:Choice Requires="a14">
          <p:sp>
            <p:nvSpPr>
              <p:cNvPr id="15" name="직사각형 14">
                <a:extLst>
                  <a:ext uri="{FF2B5EF4-FFF2-40B4-BE49-F238E27FC236}">
                    <a16:creationId xmlns:a16="http://schemas.microsoft.com/office/drawing/2014/main" id="{8E02D1CE-2859-45A1-90B6-A62349DC71E3}"/>
                  </a:ext>
                </a:extLst>
              </p:cNvPr>
              <p:cNvSpPr/>
              <p:nvPr/>
            </p:nvSpPr>
            <p:spPr>
              <a:xfrm>
                <a:off x="671261" y="2888940"/>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ko-KR" altLang="en-US" sz="1300" dirty="0">
                    <a:solidFill>
                      <a:srgbClr val="FF0000"/>
                    </a:solidFill>
                    <a:latin typeface="SamsungOne 400" panose="020B0503030303020204" pitchFamily="34" charset="0"/>
                    <a:ea typeface="SamsungOne 400" panose="020B0503030303020204" pitchFamily="34" charset="0"/>
                  </a:rPr>
                  <a:t>𝛽</a:t>
                </a:r>
                <a:r>
                  <a:rPr lang="ko-KR" altLang="en-US" sz="1300" baseline="-25000" dirty="0">
                    <a:solidFill>
                      <a:srgbClr val="FF0000"/>
                    </a:solidFill>
                    <a:latin typeface="SamsungOne 400" panose="020B0503030303020204" pitchFamily="34" charset="0"/>
                    <a:ea typeface="SamsungOne 400" panose="020B0503030303020204" pitchFamily="34" charset="0"/>
                  </a:rPr>
                  <a:t>𝑖</a:t>
                </a:r>
                <a:r>
                  <a:rPr lang="ko-KR" altLang="en-US" sz="1300" dirty="0">
                    <a:solidFill>
                      <a:srgbClr val="FF0000"/>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can be interpreted as the change in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𝑌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when the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𝑋</a:t>
                </a:r>
                <a:r>
                  <a:rPr lang="ko-KR" altLang="en-US" sz="1300" baseline="-25000" dirty="0">
                    <a:solidFill>
                      <a:prstClr val="black">
                        <a:lumMod val="85000"/>
                        <a:lumOff val="15000"/>
                      </a:prstClr>
                    </a:solidFill>
                    <a:latin typeface="SamsungOne 400" panose="020B0503030303020204" pitchFamily="34" charset="0"/>
                    <a:ea typeface="SamsungOne 400" panose="020B0503030303020204" pitchFamily="34" charset="0"/>
                  </a:rPr>
                  <a:t>𝑖</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is increased by a unit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sym typeface="Symbol"/>
                  </a:rPr>
                  <a:t> </a:t>
                </a:r>
                <a14:m>
                  <m:oMath xmlns:m="http://schemas.openxmlformats.org/officeDocument/2006/math">
                    <m:r>
                      <a:rPr lang="en-US" altLang="ko-KR" sz="1300">
                        <a:solidFill>
                          <a:prstClr val="black">
                            <a:lumMod val="85000"/>
                            <a:lumOff val="15000"/>
                          </a:prstClr>
                        </a:solidFill>
                        <a:latin typeface="Cambria Math" panose="02040503050406030204" pitchFamily="18" charset="0"/>
                        <a:ea typeface="SamsungOne 400" panose="020B0503030303020204" pitchFamily="34" charset="0"/>
                        <a:sym typeface="Symbol"/>
                      </a:rPr>
                      <m:t></m:t>
                    </m:r>
                  </m:oMath>
                </a14:m>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𝑋</a:t>
                </a:r>
                <a:r>
                  <a:rPr lang="ko-KR" altLang="en-US" sz="1300" baseline="-25000" dirty="0">
                    <a:solidFill>
                      <a:prstClr val="black">
                        <a:lumMod val="85000"/>
                        <a:lumOff val="15000"/>
                      </a:prstClr>
                    </a:solidFill>
                    <a:latin typeface="SamsungOne 400" panose="020B0503030303020204" pitchFamily="34" charset="0"/>
                    <a:ea typeface="SamsungOne 400" panose="020B0503030303020204" pitchFamily="34" charset="0"/>
                  </a:rPr>
                  <a:t>𝑖</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=1).</a:t>
                </a:r>
              </a:p>
            </p:txBody>
          </p:sp>
        </mc:Choice>
        <mc:Fallback xmlns="">
          <p:sp>
            <p:nvSpPr>
              <p:cNvPr id="15" name="직사각형 14">
                <a:extLst>
                  <a:ext uri="{FF2B5EF4-FFF2-40B4-BE49-F238E27FC236}">
                    <a16:creationId xmlns:a16="http://schemas.microsoft.com/office/drawing/2014/main" id="{8E02D1CE-2859-45A1-90B6-A62349DC71E3}"/>
                  </a:ext>
                </a:extLst>
              </p:cNvPr>
              <p:cNvSpPr>
                <a:spLocks noRot="1" noChangeAspect="1" noMove="1" noResize="1" noEditPoints="1" noAdjustHandles="1" noChangeArrowheads="1" noChangeShapeType="1" noTextEdit="1"/>
              </p:cNvSpPr>
              <p:nvPr/>
            </p:nvSpPr>
            <p:spPr>
              <a:xfrm>
                <a:off x="671261" y="2888940"/>
                <a:ext cx="8632825" cy="345461"/>
              </a:xfrm>
              <a:prstGeom prst="rect">
                <a:avLst/>
              </a:prstGeom>
              <a:blipFill>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094484C5-2855-44F1-B543-271FC5A64EF4}"/>
                  </a:ext>
                </a:extLst>
              </p:cNvPr>
              <p:cNvSpPr/>
              <p:nvPr/>
            </p:nvSpPr>
            <p:spPr>
              <a:xfrm>
                <a:off x="3097300" y="1786898"/>
                <a:ext cx="3819151" cy="3385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14:m>
                  <m:oMathPara xmlns:m="http://schemas.openxmlformats.org/officeDocument/2006/math">
                    <m:oMathParaPr>
                      <m:jc m:val="centerGroup"/>
                    </m:oMathParaPr>
                    <m:oMath xmlns:m="http://schemas.openxmlformats.org/officeDocument/2006/math">
                      <m:r>
                        <a:rPr lang="en-US" altLang="ko-KR" sz="1600" smtClean="0">
                          <a:solidFill>
                            <a:schemeClr val="tx1"/>
                          </a:solidFill>
                          <a:latin typeface="Cambria Math" panose="02040503050406030204" pitchFamily="18" charset="0"/>
                          <a:sym typeface="Symbol"/>
                        </a:rPr>
                        <m:t></m:t>
                      </m:r>
                      <m:r>
                        <a:rPr lang="en-US" altLang="ko-KR" sz="1600">
                          <a:solidFill>
                            <a:schemeClr val="tx1"/>
                          </a:solidFill>
                          <a:latin typeface="Cambria Math" panose="02040503050406030204" pitchFamily="18" charset="0"/>
                        </a:rPr>
                        <m:t>𝑌</m:t>
                      </m:r>
                      <m:r>
                        <a:rPr lang="en-US" altLang="ko-KR" sz="1600">
                          <a:solidFill>
                            <a:schemeClr val="tx1"/>
                          </a:solidFill>
                          <a:latin typeface="Cambria Math" panose="02040503050406030204" pitchFamily="18" charset="0"/>
                        </a:rPr>
                        <m:t>= </m:t>
                      </m:r>
                      <m:sSub>
                        <m:sSubPr>
                          <m:ctrlPr>
                            <a:rPr lang="ko-KR" altLang="ko-KR" sz="1600" i="1" smtClean="0">
                              <a:solidFill>
                                <a:schemeClr val="tx1">
                                  <a:lumMod val="50000"/>
                                  <a:lumOff val="50000"/>
                                </a:schemeClr>
                              </a:solidFill>
                              <a:latin typeface="Cambria Math" panose="02040503050406030204" pitchFamily="18" charset="0"/>
                            </a:rPr>
                          </m:ctrlPr>
                        </m:sSubPr>
                        <m:e>
                          <m:r>
                            <a:rPr lang="en-US" altLang="ko-KR" sz="1600">
                              <a:solidFill>
                                <a:schemeClr val="tx1">
                                  <a:lumMod val="50000"/>
                                  <a:lumOff val="50000"/>
                                </a:schemeClr>
                              </a:solidFill>
                              <a:latin typeface="Cambria Math" panose="02040503050406030204" pitchFamily="18" charset="0"/>
                            </a:rPr>
                            <m:t>𝛽</m:t>
                          </m:r>
                        </m:e>
                        <m:sub>
                          <m:r>
                            <a:rPr lang="en-US" altLang="ko-KR" sz="1600">
                              <a:solidFill>
                                <a:schemeClr val="tx1">
                                  <a:lumMod val="50000"/>
                                  <a:lumOff val="50000"/>
                                </a:schemeClr>
                              </a:solidFill>
                              <a:latin typeface="Cambria Math" panose="02040503050406030204" pitchFamily="18" charset="0"/>
                            </a:rPr>
                            <m:t>1</m:t>
                          </m:r>
                        </m:sub>
                      </m:sSub>
                      <m:sSub>
                        <m:sSubPr>
                          <m:ctrlPr>
                            <a:rPr lang="ko-KR" altLang="ko-KR" sz="1600" i="1">
                              <a:solidFill>
                                <a:schemeClr val="tx1">
                                  <a:lumMod val="50000"/>
                                  <a:lumOff val="50000"/>
                                </a:schemeClr>
                              </a:solidFill>
                              <a:latin typeface="Cambria Math" panose="02040503050406030204" pitchFamily="18" charset="0"/>
                            </a:rPr>
                          </m:ctrlPr>
                        </m:sSubPr>
                        <m:e>
                          <m:r>
                            <a:rPr lang="ko-KR" altLang="en-US" sz="1600">
                              <a:solidFill>
                                <a:schemeClr val="tx1">
                                  <a:lumMod val="50000"/>
                                  <a:lumOff val="50000"/>
                                </a:schemeClr>
                              </a:solidFill>
                              <a:latin typeface="Cambria Math" panose="02040503050406030204" pitchFamily="18" charset="0"/>
                              <a:sym typeface="Symbol"/>
                            </a:rPr>
                            <m:t></m:t>
                          </m:r>
                          <m:r>
                            <a:rPr lang="en-US" altLang="ko-KR" sz="1600">
                              <a:solidFill>
                                <a:schemeClr val="tx1">
                                  <a:lumMod val="50000"/>
                                  <a:lumOff val="50000"/>
                                </a:schemeClr>
                              </a:solidFill>
                              <a:latin typeface="Cambria Math" panose="02040503050406030204" pitchFamily="18" charset="0"/>
                            </a:rPr>
                            <m:t>𝑋</m:t>
                          </m:r>
                        </m:e>
                        <m:sub>
                          <m:r>
                            <a:rPr lang="en-US" altLang="ko-KR" sz="1600">
                              <a:solidFill>
                                <a:schemeClr val="tx1">
                                  <a:lumMod val="50000"/>
                                  <a:lumOff val="50000"/>
                                </a:schemeClr>
                              </a:solidFill>
                              <a:latin typeface="Cambria Math" panose="02040503050406030204" pitchFamily="18" charset="0"/>
                            </a:rPr>
                            <m:t>1</m:t>
                          </m:r>
                        </m:sub>
                      </m:sSub>
                      <m:r>
                        <a:rPr lang="en-US" altLang="ko-KR" sz="1600">
                          <a:solidFill>
                            <a:schemeClr val="tx1">
                              <a:lumMod val="50000"/>
                              <a:lumOff val="50000"/>
                            </a:schemeClr>
                          </a:solidFill>
                          <a:latin typeface="Cambria Math" panose="02040503050406030204" pitchFamily="18" charset="0"/>
                        </a:rPr>
                        <m:t>+⋯+</m:t>
                      </m:r>
                      <m:sSub>
                        <m:sSubPr>
                          <m:ctrlPr>
                            <a:rPr lang="ko-KR" altLang="ko-KR" sz="1600" i="1">
                              <a:solidFill>
                                <a:srgbClr val="FF0000"/>
                              </a:solidFill>
                              <a:latin typeface="Cambria Math" panose="02040503050406030204" pitchFamily="18" charset="0"/>
                            </a:rPr>
                          </m:ctrlPr>
                        </m:sSubPr>
                        <m:e>
                          <m:r>
                            <a:rPr lang="en-US" altLang="ko-KR" sz="1600">
                              <a:solidFill>
                                <a:srgbClr val="FF0000"/>
                              </a:solidFill>
                              <a:latin typeface="Cambria Math" panose="02040503050406030204" pitchFamily="18" charset="0"/>
                            </a:rPr>
                            <m:t>𝛽</m:t>
                          </m:r>
                        </m:e>
                        <m:sub>
                          <m:r>
                            <a:rPr lang="en-US" altLang="ko-KR" sz="1600">
                              <a:solidFill>
                                <a:srgbClr val="FF0000"/>
                              </a:solidFill>
                              <a:latin typeface="Cambria Math" panose="02040503050406030204" pitchFamily="18" charset="0"/>
                            </a:rPr>
                            <m:t>𝑖</m:t>
                          </m:r>
                        </m:sub>
                      </m:sSub>
                      <m:sSub>
                        <m:sSubPr>
                          <m:ctrlPr>
                            <a:rPr lang="ko-KR" altLang="ko-KR" sz="1600" i="1" smtClean="0">
                              <a:solidFill>
                                <a:schemeClr val="tx1"/>
                              </a:solidFill>
                              <a:latin typeface="Cambria Math" panose="02040503050406030204" pitchFamily="18" charset="0"/>
                            </a:rPr>
                          </m:ctrlPr>
                        </m:sSubPr>
                        <m:e>
                          <m:r>
                            <a:rPr lang="ko-KR" altLang="en-US" sz="1600">
                              <a:solidFill>
                                <a:schemeClr val="tx1"/>
                              </a:solidFill>
                              <a:latin typeface="Cambria Math" panose="02040503050406030204" pitchFamily="18" charset="0"/>
                              <a:sym typeface="Symbol"/>
                            </a:rPr>
                            <m:t></m:t>
                          </m:r>
                          <m:r>
                            <a:rPr lang="en-US" altLang="ko-KR" sz="1600" smtClean="0">
                              <a:solidFill>
                                <a:schemeClr val="tx1"/>
                              </a:solidFill>
                              <a:latin typeface="Cambria Math" panose="02040503050406030204" pitchFamily="18" charset="0"/>
                            </a:rPr>
                            <m:t>𝑋</m:t>
                          </m:r>
                        </m:e>
                        <m:sub>
                          <m:r>
                            <a:rPr lang="en-US" altLang="ko-KR" sz="1600">
                              <a:solidFill>
                                <a:schemeClr val="tx1"/>
                              </a:solidFill>
                              <a:latin typeface="Cambria Math" panose="02040503050406030204" pitchFamily="18" charset="0"/>
                            </a:rPr>
                            <m:t>𝑖</m:t>
                          </m:r>
                        </m:sub>
                      </m:sSub>
                      <m:r>
                        <a:rPr lang="en-US" altLang="ko-KR" sz="1600" smtClean="0">
                          <a:solidFill>
                            <a:schemeClr val="tx1">
                              <a:lumMod val="50000"/>
                              <a:lumOff val="50000"/>
                            </a:schemeClr>
                          </a:solidFill>
                          <a:latin typeface="Cambria Math" panose="02040503050406030204" pitchFamily="18" charset="0"/>
                        </a:rPr>
                        <m:t>+⋯+</m:t>
                      </m:r>
                      <m:sSub>
                        <m:sSubPr>
                          <m:ctrlPr>
                            <a:rPr lang="ko-KR" altLang="ko-KR" sz="1600" i="1">
                              <a:solidFill>
                                <a:schemeClr val="tx1">
                                  <a:lumMod val="50000"/>
                                  <a:lumOff val="50000"/>
                                </a:schemeClr>
                              </a:solidFill>
                              <a:latin typeface="Cambria Math" panose="02040503050406030204" pitchFamily="18" charset="0"/>
                            </a:rPr>
                          </m:ctrlPr>
                        </m:sSubPr>
                        <m:e>
                          <m:r>
                            <a:rPr lang="en-US" altLang="ko-KR" sz="1600">
                              <a:solidFill>
                                <a:schemeClr val="tx1">
                                  <a:lumMod val="50000"/>
                                  <a:lumOff val="50000"/>
                                </a:schemeClr>
                              </a:solidFill>
                              <a:latin typeface="Cambria Math" panose="02040503050406030204" pitchFamily="18" charset="0"/>
                            </a:rPr>
                            <m:t>𝛽</m:t>
                          </m:r>
                        </m:e>
                        <m:sub>
                          <m:r>
                            <a:rPr lang="en-US" altLang="ko-KR" sz="1600">
                              <a:solidFill>
                                <a:schemeClr val="tx1">
                                  <a:lumMod val="50000"/>
                                  <a:lumOff val="50000"/>
                                </a:schemeClr>
                              </a:solidFill>
                              <a:latin typeface="Cambria Math" panose="02040503050406030204" pitchFamily="18" charset="0"/>
                            </a:rPr>
                            <m:t>𝑘</m:t>
                          </m:r>
                        </m:sub>
                      </m:sSub>
                      <m:sSub>
                        <m:sSubPr>
                          <m:ctrlPr>
                            <a:rPr lang="ko-KR" altLang="ko-KR" sz="1600" i="1">
                              <a:solidFill>
                                <a:schemeClr val="tx1">
                                  <a:lumMod val="50000"/>
                                  <a:lumOff val="50000"/>
                                </a:schemeClr>
                              </a:solidFill>
                              <a:latin typeface="Cambria Math" panose="02040503050406030204" pitchFamily="18" charset="0"/>
                            </a:rPr>
                          </m:ctrlPr>
                        </m:sSubPr>
                        <m:e>
                          <m:r>
                            <a:rPr lang="ko-KR" altLang="en-US" sz="1600">
                              <a:solidFill>
                                <a:schemeClr val="tx1">
                                  <a:lumMod val="50000"/>
                                  <a:lumOff val="50000"/>
                                </a:schemeClr>
                              </a:solidFill>
                              <a:latin typeface="Cambria Math" panose="02040503050406030204" pitchFamily="18" charset="0"/>
                              <a:sym typeface="Symbol"/>
                            </a:rPr>
                            <m:t></m:t>
                          </m:r>
                          <m:r>
                            <a:rPr lang="en-US" altLang="ko-KR" sz="1600">
                              <a:solidFill>
                                <a:schemeClr val="tx1">
                                  <a:lumMod val="50000"/>
                                  <a:lumOff val="50000"/>
                                </a:schemeClr>
                              </a:solidFill>
                              <a:latin typeface="Cambria Math" panose="02040503050406030204" pitchFamily="18" charset="0"/>
                            </a:rPr>
                            <m:t>𝑋</m:t>
                          </m:r>
                        </m:e>
                        <m:sub>
                          <m:r>
                            <a:rPr lang="en-US" altLang="ko-KR" sz="1600">
                              <a:solidFill>
                                <a:schemeClr val="tx1">
                                  <a:lumMod val="50000"/>
                                  <a:lumOff val="50000"/>
                                </a:schemeClr>
                              </a:solidFill>
                              <a:latin typeface="Cambria Math" panose="02040503050406030204" pitchFamily="18" charset="0"/>
                            </a:rPr>
                            <m:t>𝑘</m:t>
                          </m:r>
                        </m:sub>
                      </m:sSub>
                    </m:oMath>
                  </m:oMathPara>
                </a14:m>
                <a:endParaRPr lang="ko-KR" altLang="en-US" sz="1600" dirty="0">
                  <a:solidFill>
                    <a:schemeClr val="bg1">
                      <a:lumMod val="75000"/>
                    </a:schemeClr>
                  </a:solidFill>
                </a:endParaRPr>
              </a:p>
            </p:txBody>
          </p:sp>
        </mc:Choice>
        <mc:Fallback xmlns="">
          <p:sp>
            <p:nvSpPr>
              <p:cNvPr id="12" name="직사각형 11">
                <a:extLst>
                  <a:ext uri="{FF2B5EF4-FFF2-40B4-BE49-F238E27FC236}">
                    <a16:creationId xmlns:a16="http://schemas.microsoft.com/office/drawing/2014/main" id="{094484C5-2855-44F1-B543-271FC5A64EF4}"/>
                  </a:ext>
                </a:extLst>
              </p:cNvPr>
              <p:cNvSpPr>
                <a:spLocks noRot="1" noChangeAspect="1" noMove="1" noResize="1" noEditPoints="1" noAdjustHandles="1" noChangeArrowheads="1" noChangeShapeType="1" noTextEdit="1"/>
              </p:cNvSpPr>
              <p:nvPr/>
            </p:nvSpPr>
            <p:spPr>
              <a:xfrm>
                <a:off x="3097300" y="1786898"/>
                <a:ext cx="3819151" cy="338554"/>
              </a:xfrm>
              <a:prstGeom prst="rect">
                <a:avLst/>
              </a:prstGeom>
              <a:blipFill>
                <a:blip r:embed="rId5"/>
                <a:stretch>
                  <a:fillRect b="-8929"/>
                </a:stretch>
              </a:blipFill>
              <a:ln>
                <a:noFill/>
              </a:ln>
            </p:spPr>
            <p:txBody>
              <a:bodyPr/>
              <a:lstStyle/>
              <a:p>
                <a:r>
                  <a:rPr lang="ko-KR" altLang="en-US">
                    <a:noFill/>
                  </a:rPr>
                  <a:t> </a:t>
                </a:r>
              </a:p>
            </p:txBody>
          </p:sp>
        </mc:Fallback>
      </mc:AlternateContent>
      <p:sp>
        <p:nvSpPr>
          <p:cNvPr id="8" name="타원 7">
            <a:extLst>
              <a:ext uri="{FF2B5EF4-FFF2-40B4-BE49-F238E27FC236}">
                <a16:creationId xmlns:a16="http://schemas.microsoft.com/office/drawing/2014/main" id="{EDAE1406-CC44-45B6-AAA2-6F0E036D27C1}"/>
              </a:ext>
            </a:extLst>
          </p:cNvPr>
          <p:cNvSpPr/>
          <p:nvPr/>
        </p:nvSpPr>
        <p:spPr>
          <a:xfrm>
            <a:off x="5188201" y="1773239"/>
            <a:ext cx="360040" cy="360040"/>
          </a:xfrm>
          <a:prstGeom prst="ellipse">
            <a:avLst/>
          </a:prstGeom>
          <a:noFill/>
          <a:ln>
            <a:solidFill>
              <a:srgbClr val="193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 name="Straight Arrow Connector 27">
            <a:extLst>
              <a:ext uri="{FF2B5EF4-FFF2-40B4-BE49-F238E27FC236}">
                <a16:creationId xmlns:a16="http://schemas.microsoft.com/office/drawing/2014/main" id="{5B2EADCE-08B2-45C1-8C73-BC9A0E5342A0}"/>
              </a:ext>
            </a:extLst>
          </p:cNvPr>
          <p:cNvCxnSpPr>
            <a:cxnSpLocks/>
          </p:cNvCxnSpPr>
          <p:nvPr/>
        </p:nvCxnSpPr>
        <p:spPr>
          <a:xfrm flipV="1">
            <a:off x="5383460" y="2125452"/>
            <a:ext cx="0" cy="331440"/>
          </a:xfrm>
          <a:prstGeom prst="straightConnector1">
            <a:avLst/>
          </a:prstGeom>
          <a:ln w="9525">
            <a:solidFill>
              <a:srgbClr val="193EB0"/>
            </a:solidFill>
            <a:tailEnd type="triangle" w="med"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0E3109F-0B4D-4CBB-A1F3-E001329C8D38}"/>
              </a:ext>
            </a:extLst>
          </p:cNvPr>
          <p:cNvSpPr txBox="1"/>
          <p:nvPr/>
        </p:nvSpPr>
        <p:spPr>
          <a:xfrm>
            <a:off x="5336171" y="2492896"/>
            <a:ext cx="94577" cy="246221"/>
          </a:xfrm>
          <a:prstGeom prst="rect">
            <a:avLst/>
          </a:prstGeom>
          <a:noFill/>
        </p:spPr>
        <p:txBody>
          <a:bodyPr wrap="none" lIns="0" tIns="0" rIns="0" bIns="0" rtlCol="0" anchor="ctr">
            <a:spAutoFit/>
            <a:scene3d>
              <a:camera prst="orthographicFront"/>
              <a:lightRig rig="threePt" dir="t"/>
            </a:scene3d>
            <a:sp3d>
              <a:bevelT w="0" h="6350"/>
            </a:sp3d>
          </a:bodyPr>
          <a:lstStyle>
            <a:defPPr>
              <a:defRPr lang="en-US"/>
            </a:defPPr>
            <a:lvl1pPr algn="ctr">
              <a:spcAft>
                <a:spcPts val="600"/>
              </a:spcAft>
              <a:defRPr sz="1600">
                <a:solidFill>
                  <a:srgbClr val="1429A0"/>
                </a:solidFill>
                <a:latin typeface="SamsungOne 700" panose="020B0803030303020204" pitchFamily="34" charset="0"/>
                <a:ea typeface="SamsungOne 700" panose="020B0803030303020204" pitchFamily="34" charset="0"/>
              </a:defRPr>
            </a:lvl1pPr>
          </a:lstStyle>
          <a:p>
            <a:r>
              <a:rPr lang="en-US" altLang="ko-KR" dirty="0"/>
              <a:t>1</a:t>
            </a:r>
            <a:endParaRPr lang="ko-KR" altLang="en-US" dirty="0"/>
          </a:p>
        </p:txBody>
      </p:sp>
    </p:spTree>
    <p:extLst>
      <p:ext uri="{BB962C8B-B14F-4D97-AF65-F5344CB8AC3E}">
        <p14:creationId xmlns:p14="http://schemas.microsoft.com/office/powerpoint/2010/main" val="337202862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Interpreting the regression coefficients</a:t>
            </a:r>
          </a:p>
        </p:txBody>
      </p:sp>
      <p:sp>
        <p:nvSpPr>
          <p:cNvPr id="15" name="직사각형 14">
            <a:extLst>
              <a:ext uri="{FF2B5EF4-FFF2-40B4-BE49-F238E27FC236}">
                <a16:creationId xmlns:a16="http://schemas.microsoft.com/office/drawing/2014/main" id="{8E02D1CE-2859-45A1-90B6-A62349DC71E3}"/>
              </a:ext>
            </a:extLst>
          </p:cNvPr>
          <p:cNvSpPr/>
          <p:nvPr/>
        </p:nvSpPr>
        <p:spPr>
          <a:xfrm>
            <a:off x="671261" y="3256269"/>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intercept </a:t>
            </a:r>
            <a:r>
              <a:rPr lang="ko-KR" altLang="en-US" sz="1300" dirty="0">
                <a:solidFill>
                  <a:srgbClr val="FF0000"/>
                </a:solidFill>
                <a:latin typeface="SamsungOne 400" panose="020B0503030303020204" pitchFamily="34" charset="0"/>
                <a:ea typeface="SamsungOne 400" panose="020B0503030303020204" pitchFamily="34" charset="0"/>
              </a:rPr>
              <a:t>𝛽</a:t>
            </a:r>
            <a:r>
              <a:rPr lang="en-US" altLang="ko-KR" sz="1300" baseline="-25000" dirty="0">
                <a:solidFill>
                  <a:srgbClr val="FF0000"/>
                </a:solidFill>
                <a:latin typeface="SamsungOne 400" panose="020B0503030303020204" pitchFamily="34" charset="0"/>
                <a:ea typeface="SamsungOne 400" panose="020B0503030303020204" pitchFamily="34" charset="0"/>
              </a:rPr>
              <a:t>0</a:t>
            </a:r>
            <a:r>
              <a:rPr lang="en-US" altLang="ko-KR" sz="1300" dirty="0">
                <a:solidFill>
                  <a:srgbClr val="FF0000"/>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is the value of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𝑌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when </a:t>
            </a:r>
            <a:r>
              <a:rPr lang="en-US" altLang="ko-KR" sz="1300" dirty="0">
                <a:solidFill>
                  <a:srgbClr val="1429A0"/>
                </a:solidFill>
                <a:latin typeface="SamsungOne 400" panose="020B0503030303020204" pitchFamily="34" charset="0"/>
                <a:ea typeface="SamsungOne 400" panose="020B0503030303020204" pitchFamily="34" charset="0"/>
              </a:rPr>
              <a:t>all the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𝑋</a:t>
            </a:r>
            <a:r>
              <a:rPr lang="ko-KR" altLang="en-US" sz="1300" baseline="-25000" dirty="0">
                <a:solidFill>
                  <a:prstClr val="black">
                    <a:lumMod val="85000"/>
                    <a:lumOff val="15000"/>
                  </a:prstClr>
                </a:solidFill>
                <a:latin typeface="SamsungOne 400" panose="020B0503030303020204" pitchFamily="34" charset="0"/>
                <a:ea typeface="SamsungOne 400" panose="020B0503030303020204" pitchFamily="34" charset="0"/>
              </a:rPr>
              <a:t>𝑖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0. It’s like a “baseline.” </a:t>
            </a:r>
          </a:p>
        </p:txBody>
      </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094484C5-2855-44F1-B543-271FC5A64EF4}"/>
                  </a:ext>
                </a:extLst>
              </p:cNvPr>
              <p:cNvSpPr/>
              <p:nvPr/>
            </p:nvSpPr>
            <p:spPr>
              <a:xfrm>
                <a:off x="3129521" y="1786898"/>
                <a:ext cx="3754709" cy="3385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lgn="ctr"/>
                <a14:m>
                  <m:oMathPara xmlns:m="http://schemas.openxmlformats.org/officeDocument/2006/math">
                    <m:oMathParaPr>
                      <m:jc m:val="centerGroup"/>
                    </m:oMathParaPr>
                    <m:oMath xmlns:m="http://schemas.openxmlformats.org/officeDocument/2006/math">
                      <m:r>
                        <a:rPr lang="en-US" altLang="ko-KR" sz="1600" smtClean="0">
                          <a:solidFill>
                            <a:schemeClr val="tx1">
                              <a:lumMod val="50000"/>
                              <a:lumOff val="50000"/>
                            </a:schemeClr>
                          </a:solidFill>
                          <a:latin typeface="Cambria Math" panose="02040503050406030204" pitchFamily="18" charset="0"/>
                        </a:rPr>
                        <m:t>𝑌</m:t>
                      </m:r>
                      <m:r>
                        <a:rPr lang="en-US" altLang="ko-KR" sz="1600" smtClean="0">
                          <a:solidFill>
                            <a:schemeClr val="tx1">
                              <a:lumMod val="50000"/>
                              <a:lumOff val="50000"/>
                            </a:schemeClr>
                          </a:solidFill>
                          <a:latin typeface="Cambria Math" panose="02040503050406030204" pitchFamily="18" charset="0"/>
                        </a:rPr>
                        <m:t>=</m:t>
                      </m:r>
                      <m:sSub>
                        <m:sSubPr>
                          <m:ctrlPr>
                            <a:rPr lang="ko-KR" altLang="ko-KR" sz="1600" i="1" smtClean="0">
                              <a:solidFill>
                                <a:srgbClr val="FF0000"/>
                              </a:solidFill>
                              <a:latin typeface="Cambria Math" panose="02040503050406030204" pitchFamily="18" charset="0"/>
                            </a:rPr>
                          </m:ctrlPr>
                        </m:sSubPr>
                        <m:e>
                          <m:r>
                            <a:rPr lang="en-US" altLang="ko-KR" sz="1600">
                              <a:solidFill>
                                <a:srgbClr val="FF0000"/>
                              </a:solidFill>
                              <a:latin typeface="Cambria Math" panose="02040503050406030204" pitchFamily="18" charset="0"/>
                            </a:rPr>
                            <m:t>𝛽</m:t>
                          </m:r>
                        </m:e>
                        <m:sub>
                          <m:r>
                            <a:rPr lang="en-US" altLang="ko-KR" sz="1600">
                              <a:solidFill>
                                <a:srgbClr val="FF0000"/>
                              </a:solidFill>
                              <a:latin typeface="Cambria Math" panose="02040503050406030204" pitchFamily="18" charset="0"/>
                            </a:rPr>
                            <m:t>0</m:t>
                          </m:r>
                        </m:sub>
                      </m:sSub>
                      <m:r>
                        <a:rPr lang="en-US" altLang="ko-KR" sz="1600">
                          <a:solidFill>
                            <a:schemeClr val="tx1">
                              <a:lumMod val="50000"/>
                              <a:lumOff val="50000"/>
                            </a:schemeClr>
                          </a:solidFill>
                          <a:latin typeface="Cambria Math" panose="02040503050406030204" pitchFamily="18" charset="0"/>
                        </a:rPr>
                        <m:t>+</m:t>
                      </m:r>
                      <m:sSub>
                        <m:sSubPr>
                          <m:ctrlPr>
                            <a:rPr lang="ko-KR" altLang="ko-KR" sz="1600" i="1">
                              <a:solidFill>
                                <a:schemeClr val="tx1">
                                  <a:lumMod val="50000"/>
                                  <a:lumOff val="50000"/>
                                </a:schemeClr>
                              </a:solidFill>
                              <a:latin typeface="Cambria Math" panose="02040503050406030204" pitchFamily="18" charset="0"/>
                            </a:rPr>
                          </m:ctrlPr>
                        </m:sSubPr>
                        <m:e>
                          <m:r>
                            <a:rPr lang="en-US" altLang="ko-KR" sz="1600">
                              <a:solidFill>
                                <a:schemeClr val="tx1">
                                  <a:lumMod val="50000"/>
                                  <a:lumOff val="50000"/>
                                </a:schemeClr>
                              </a:solidFill>
                              <a:latin typeface="Cambria Math" panose="02040503050406030204" pitchFamily="18" charset="0"/>
                            </a:rPr>
                            <m:t>𝛽</m:t>
                          </m:r>
                        </m:e>
                        <m:sub>
                          <m:r>
                            <a:rPr lang="en-US" altLang="ko-KR" sz="1600">
                              <a:solidFill>
                                <a:schemeClr val="tx1">
                                  <a:lumMod val="50000"/>
                                  <a:lumOff val="50000"/>
                                </a:schemeClr>
                              </a:solidFill>
                              <a:latin typeface="Cambria Math" panose="02040503050406030204" pitchFamily="18" charset="0"/>
                            </a:rPr>
                            <m:t>1</m:t>
                          </m:r>
                        </m:sub>
                      </m:sSub>
                      <m:sSub>
                        <m:sSubPr>
                          <m:ctrlPr>
                            <a:rPr lang="ko-KR" altLang="ko-KR" sz="1600" i="1">
                              <a:solidFill>
                                <a:schemeClr val="tx1">
                                  <a:lumMod val="50000"/>
                                  <a:lumOff val="50000"/>
                                </a:schemeClr>
                              </a:solidFill>
                              <a:latin typeface="Cambria Math" panose="02040503050406030204" pitchFamily="18" charset="0"/>
                            </a:rPr>
                          </m:ctrlPr>
                        </m:sSubPr>
                        <m:e>
                          <m:r>
                            <a:rPr lang="en-US" altLang="ko-KR" sz="1600">
                              <a:solidFill>
                                <a:schemeClr val="tx1">
                                  <a:lumMod val="50000"/>
                                  <a:lumOff val="50000"/>
                                </a:schemeClr>
                              </a:solidFill>
                              <a:latin typeface="Cambria Math" panose="02040503050406030204" pitchFamily="18" charset="0"/>
                            </a:rPr>
                            <m:t>𝑋</m:t>
                          </m:r>
                        </m:e>
                        <m:sub>
                          <m:r>
                            <a:rPr lang="en-US" altLang="ko-KR" sz="1600">
                              <a:solidFill>
                                <a:schemeClr val="tx1">
                                  <a:lumMod val="50000"/>
                                  <a:lumOff val="50000"/>
                                </a:schemeClr>
                              </a:solidFill>
                              <a:latin typeface="Cambria Math" panose="02040503050406030204" pitchFamily="18" charset="0"/>
                            </a:rPr>
                            <m:t>1</m:t>
                          </m:r>
                        </m:sub>
                      </m:sSub>
                      <m:sSub>
                        <m:sSubPr>
                          <m:ctrlPr>
                            <a:rPr lang="ko-KR" altLang="ko-KR" sz="1600" i="1">
                              <a:solidFill>
                                <a:schemeClr val="tx1">
                                  <a:lumMod val="50000"/>
                                  <a:lumOff val="50000"/>
                                </a:schemeClr>
                              </a:solidFill>
                              <a:latin typeface="Cambria Math" panose="02040503050406030204" pitchFamily="18" charset="0"/>
                            </a:rPr>
                          </m:ctrlPr>
                        </m:sSubPr>
                        <m:e>
                          <m:r>
                            <a:rPr lang="en-US" altLang="ko-KR" sz="1600">
                              <a:solidFill>
                                <a:schemeClr val="tx1">
                                  <a:lumMod val="50000"/>
                                  <a:lumOff val="50000"/>
                                </a:schemeClr>
                              </a:solidFill>
                              <a:latin typeface="Cambria Math" panose="02040503050406030204" pitchFamily="18" charset="0"/>
                            </a:rPr>
                            <m:t>+</m:t>
                          </m:r>
                          <m:r>
                            <a:rPr lang="en-US" altLang="ko-KR" sz="1600">
                              <a:solidFill>
                                <a:schemeClr val="tx1">
                                  <a:lumMod val="50000"/>
                                  <a:lumOff val="50000"/>
                                </a:schemeClr>
                              </a:solidFill>
                              <a:latin typeface="Cambria Math" panose="02040503050406030204" pitchFamily="18" charset="0"/>
                            </a:rPr>
                            <m:t>𝛽</m:t>
                          </m:r>
                        </m:e>
                        <m:sub>
                          <m:r>
                            <a:rPr lang="en-US" altLang="ko-KR" sz="1600">
                              <a:solidFill>
                                <a:schemeClr val="tx1">
                                  <a:lumMod val="50000"/>
                                  <a:lumOff val="50000"/>
                                </a:schemeClr>
                              </a:solidFill>
                              <a:latin typeface="Cambria Math" panose="02040503050406030204" pitchFamily="18" charset="0"/>
                            </a:rPr>
                            <m:t>2</m:t>
                          </m:r>
                        </m:sub>
                      </m:sSub>
                      <m:sSub>
                        <m:sSubPr>
                          <m:ctrlPr>
                            <a:rPr lang="ko-KR" altLang="ko-KR" sz="1600" i="1">
                              <a:solidFill>
                                <a:schemeClr val="tx1">
                                  <a:lumMod val="50000"/>
                                  <a:lumOff val="50000"/>
                                </a:schemeClr>
                              </a:solidFill>
                              <a:latin typeface="Cambria Math" panose="02040503050406030204" pitchFamily="18" charset="0"/>
                            </a:rPr>
                          </m:ctrlPr>
                        </m:sSubPr>
                        <m:e>
                          <m:r>
                            <a:rPr lang="en-US" altLang="ko-KR" sz="1600">
                              <a:solidFill>
                                <a:schemeClr val="tx1">
                                  <a:lumMod val="50000"/>
                                  <a:lumOff val="50000"/>
                                </a:schemeClr>
                              </a:solidFill>
                              <a:latin typeface="Cambria Math" panose="02040503050406030204" pitchFamily="18" charset="0"/>
                            </a:rPr>
                            <m:t>𝑋</m:t>
                          </m:r>
                        </m:e>
                        <m:sub>
                          <m:r>
                            <a:rPr lang="en-US" altLang="ko-KR" sz="1600">
                              <a:solidFill>
                                <a:schemeClr val="tx1">
                                  <a:lumMod val="50000"/>
                                  <a:lumOff val="50000"/>
                                </a:schemeClr>
                              </a:solidFill>
                              <a:latin typeface="Cambria Math" panose="02040503050406030204" pitchFamily="18" charset="0"/>
                            </a:rPr>
                            <m:t>2</m:t>
                          </m:r>
                        </m:sub>
                      </m:sSub>
                      <m:r>
                        <a:rPr lang="en-US" altLang="ko-KR" sz="1600">
                          <a:solidFill>
                            <a:schemeClr val="tx1">
                              <a:lumMod val="50000"/>
                              <a:lumOff val="50000"/>
                            </a:schemeClr>
                          </a:solidFill>
                          <a:latin typeface="Cambria Math" panose="02040503050406030204" pitchFamily="18" charset="0"/>
                        </a:rPr>
                        <m:t>+⋯+</m:t>
                      </m:r>
                      <m:sSub>
                        <m:sSubPr>
                          <m:ctrlPr>
                            <a:rPr lang="ko-KR" altLang="ko-KR" sz="1600" i="1">
                              <a:solidFill>
                                <a:schemeClr val="tx1">
                                  <a:lumMod val="50000"/>
                                  <a:lumOff val="50000"/>
                                </a:schemeClr>
                              </a:solidFill>
                              <a:latin typeface="Cambria Math" panose="02040503050406030204" pitchFamily="18" charset="0"/>
                            </a:rPr>
                          </m:ctrlPr>
                        </m:sSubPr>
                        <m:e>
                          <m:r>
                            <a:rPr lang="en-US" altLang="ko-KR" sz="1600">
                              <a:solidFill>
                                <a:schemeClr val="tx1">
                                  <a:lumMod val="50000"/>
                                  <a:lumOff val="50000"/>
                                </a:schemeClr>
                              </a:solidFill>
                              <a:latin typeface="Cambria Math" panose="02040503050406030204" pitchFamily="18" charset="0"/>
                            </a:rPr>
                            <m:t>𝛽</m:t>
                          </m:r>
                        </m:e>
                        <m:sub>
                          <m:r>
                            <a:rPr lang="en-US" altLang="ko-KR" sz="1600">
                              <a:solidFill>
                                <a:schemeClr val="tx1">
                                  <a:lumMod val="50000"/>
                                  <a:lumOff val="50000"/>
                                </a:schemeClr>
                              </a:solidFill>
                              <a:latin typeface="Cambria Math" panose="02040503050406030204" pitchFamily="18" charset="0"/>
                            </a:rPr>
                            <m:t>𝑘</m:t>
                          </m:r>
                        </m:sub>
                      </m:sSub>
                      <m:sSub>
                        <m:sSubPr>
                          <m:ctrlPr>
                            <a:rPr lang="ko-KR" altLang="ko-KR" sz="1600" i="1">
                              <a:solidFill>
                                <a:schemeClr val="tx1">
                                  <a:lumMod val="50000"/>
                                  <a:lumOff val="50000"/>
                                </a:schemeClr>
                              </a:solidFill>
                              <a:latin typeface="Cambria Math" panose="02040503050406030204" pitchFamily="18" charset="0"/>
                            </a:rPr>
                          </m:ctrlPr>
                        </m:sSubPr>
                        <m:e>
                          <m:r>
                            <a:rPr lang="en-US" altLang="ko-KR" sz="1600">
                              <a:solidFill>
                                <a:schemeClr val="tx1">
                                  <a:lumMod val="50000"/>
                                  <a:lumOff val="50000"/>
                                </a:schemeClr>
                              </a:solidFill>
                              <a:latin typeface="Cambria Math" panose="02040503050406030204" pitchFamily="18" charset="0"/>
                            </a:rPr>
                            <m:t>𝑋</m:t>
                          </m:r>
                        </m:e>
                        <m:sub>
                          <m:r>
                            <a:rPr lang="en-US" altLang="ko-KR" sz="1600">
                              <a:solidFill>
                                <a:schemeClr val="tx1">
                                  <a:lumMod val="50000"/>
                                  <a:lumOff val="50000"/>
                                </a:schemeClr>
                              </a:solidFill>
                              <a:latin typeface="Cambria Math" panose="02040503050406030204" pitchFamily="18" charset="0"/>
                            </a:rPr>
                            <m:t>𝑘</m:t>
                          </m:r>
                        </m:sub>
                      </m:sSub>
                      <m:r>
                        <m:rPr>
                          <m:nor/>
                        </m:rPr>
                        <a:rPr lang="en-US" altLang="ko-KR" sz="1600" dirty="0">
                          <a:solidFill>
                            <a:schemeClr val="tx1">
                              <a:lumMod val="50000"/>
                              <a:lumOff val="50000"/>
                            </a:schemeClr>
                          </a:solidFill>
                        </a:rPr>
                        <m:t> </m:t>
                      </m:r>
                      <m:r>
                        <a:rPr lang="en-US" altLang="ko-KR" sz="1600">
                          <a:solidFill>
                            <a:schemeClr val="tx1">
                              <a:lumMod val="50000"/>
                              <a:lumOff val="50000"/>
                            </a:schemeClr>
                          </a:solidFill>
                          <a:latin typeface="Cambria Math" panose="02040503050406030204" pitchFamily="18" charset="0"/>
                        </a:rPr>
                        <m:t>+</m:t>
                      </m:r>
                      <m:r>
                        <a:rPr lang="en-US" altLang="ko-KR" sz="1600">
                          <a:solidFill>
                            <a:schemeClr val="tx1">
                              <a:lumMod val="50000"/>
                              <a:lumOff val="50000"/>
                            </a:schemeClr>
                          </a:solidFill>
                          <a:latin typeface="Cambria Math" panose="02040503050406030204" pitchFamily="18" charset="0"/>
                          <a:sym typeface="Symbol"/>
                        </a:rPr>
                        <m:t></m:t>
                      </m:r>
                    </m:oMath>
                  </m:oMathPara>
                </a14:m>
                <a:endParaRPr lang="ko-KR" altLang="en-US" sz="1600" dirty="0">
                  <a:solidFill>
                    <a:schemeClr val="tx1">
                      <a:lumMod val="50000"/>
                      <a:lumOff val="50000"/>
                    </a:schemeClr>
                  </a:solidFill>
                </a:endParaRPr>
              </a:p>
            </p:txBody>
          </p:sp>
        </mc:Choice>
        <mc:Fallback xmlns="">
          <p:sp>
            <p:nvSpPr>
              <p:cNvPr id="12" name="직사각형 11">
                <a:extLst>
                  <a:ext uri="{FF2B5EF4-FFF2-40B4-BE49-F238E27FC236}">
                    <a16:creationId xmlns:a16="http://schemas.microsoft.com/office/drawing/2014/main" id="{094484C5-2855-44F1-B543-271FC5A64EF4}"/>
                  </a:ext>
                </a:extLst>
              </p:cNvPr>
              <p:cNvSpPr>
                <a:spLocks noRot="1" noChangeAspect="1" noMove="1" noResize="1" noEditPoints="1" noAdjustHandles="1" noChangeArrowheads="1" noChangeShapeType="1" noTextEdit="1"/>
              </p:cNvSpPr>
              <p:nvPr/>
            </p:nvSpPr>
            <p:spPr>
              <a:xfrm>
                <a:off x="3129521" y="1786898"/>
                <a:ext cx="3754709" cy="338554"/>
              </a:xfrm>
              <a:prstGeom prst="rect">
                <a:avLst/>
              </a:prstGeom>
              <a:blipFill>
                <a:blip r:embed="rId4"/>
                <a:stretch>
                  <a:fillRect b="-8929"/>
                </a:stretch>
              </a:blipFill>
              <a:ln>
                <a:noFill/>
              </a:ln>
            </p:spPr>
            <p:txBody>
              <a:bodyPr/>
              <a:lstStyle/>
              <a:p>
                <a:r>
                  <a:rPr lang="ko-KR" altLang="en-US">
                    <a:noFill/>
                  </a:rPr>
                  <a:t> </a:t>
                </a:r>
              </a:p>
            </p:txBody>
          </p:sp>
        </mc:Fallback>
      </mc:AlternateContent>
      <p:cxnSp>
        <p:nvCxnSpPr>
          <p:cNvPr id="11" name="Straight Arrow Connector 27">
            <a:extLst>
              <a:ext uri="{FF2B5EF4-FFF2-40B4-BE49-F238E27FC236}">
                <a16:creationId xmlns:a16="http://schemas.microsoft.com/office/drawing/2014/main" id="{B8C9654D-6851-4AFF-A0B0-7B102AAA8AB7}"/>
              </a:ext>
            </a:extLst>
          </p:cNvPr>
          <p:cNvCxnSpPr/>
          <p:nvPr/>
        </p:nvCxnSpPr>
        <p:spPr>
          <a:xfrm flipV="1">
            <a:off x="3794106" y="2126627"/>
            <a:ext cx="0" cy="468000"/>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B9BE4EB-24A7-4BDB-A7F9-8D772A0C5F47}"/>
              </a:ext>
            </a:extLst>
          </p:cNvPr>
          <p:cNvSpPr txBox="1"/>
          <p:nvPr/>
        </p:nvSpPr>
        <p:spPr>
          <a:xfrm>
            <a:off x="3461336" y="2590833"/>
            <a:ext cx="687688" cy="200055"/>
          </a:xfrm>
          <a:prstGeom prst="rect">
            <a:avLst/>
          </a:prstGeom>
          <a:noFill/>
        </p:spPr>
        <p:txBody>
          <a:bodyPr wrap="none" lIns="0" tIns="0" rIns="0" bIns="0" rtlCol="0" anchor="ctr">
            <a:sp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r>
              <a:rPr lang="en-US" altLang="ko-KR" dirty="0"/>
              <a:t>Intercept</a:t>
            </a:r>
          </a:p>
        </p:txBody>
      </p:sp>
      <p:sp>
        <p:nvSpPr>
          <p:cNvPr id="14" name="모서리가 둥근 직사각형 29">
            <a:extLst>
              <a:ext uri="{FF2B5EF4-FFF2-40B4-BE49-F238E27FC236}">
                <a16:creationId xmlns:a16="http://schemas.microsoft.com/office/drawing/2014/main" id="{183513F6-E4E0-40C1-A8DF-15BC377A2570}"/>
              </a:ext>
            </a:extLst>
          </p:cNvPr>
          <p:cNvSpPr/>
          <p:nvPr/>
        </p:nvSpPr>
        <p:spPr>
          <a:xfrm>
            <a:off x="4099986" y="1757533"/>
            <a:ext cx="2651624" cy="383688"/>
          </a:xfrm>
          <a:prstGeom prst="roundRect">
            <a:avLst/>
          </a:prstGeom>
          <a:no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TextBox 15">
            <a:extLst>
              <a:ext uri="{FF2B5EF4-FFF2-40B4-BE49-F238E27FC236}">
                <a16:creationId xmlns:a16="http://schemas.microsoft.com/office/drawing/2014/main" id="{07024C5E-C859-40B8-A73E-2177F078A9D2}"/>
              </a:ext>
            </a:extLst>
          </p:cNvPr>
          <p:cNvSpPr txBox="1"/>
          <p:nvPr/>
        </p:nvSpPr>
        <p:spPr>
          <a:xfrm>
            <a:off x="5351007" y="2577014"/>
            <a:ext cx="125035" cy="246221"/>
          </a:xfrm>
          <a:prstGeom prst="rect">
            <a:avLst/>
          </a:prstGeom>
          <a:noFill/>
        </p:spPr>
        <p:txBody>
          <a:bodyPr wrap="none" lIns="0" tIns="0" rIns="0" bIns="0" rtlCol="0" anchor="ctr">
            <a:sp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r>
              <a:rPr lang="en-US" altLang="ko-KR" sz="1600" dirty="0">
                <a:solidFill>
                  <a:srgbClr val="1429A0"/>
                </a:solidFill>
              </a:rPr>
              <a:t>0</a:t>
            </a:r>
          </a:p>
        </p:txBody>
      </p:sp>
      <p:sp>
        <p:nvSpPr>
          <p:cNvPr id="17" name="등호 1">
            <a:extLst>
              <a:ext uri="{FF2B5EF4-FFF2-40B4-BE49-F238E27FC236}">
                <a16:creationId xmlns:a16="http://schemas.microsoft.com/office/drawing/2014/main" id="{6C9D2682-E5CE-4FE0-A4D3-D73F4269E522}"/>
              </a:ext>
            </a:extLst>
          </p:cNvPr>
          <p:cNvSpPr/>
          <p:nvPr/>
        </p:nvSpPr>
        <p:spPr>
          <a:xfrm rot="16200000">
            <a:off x="5249356" y="2233548"/>
            <a:ext cx="328337" cy="224773"/>
          </a:xfrm>
          <a:prstGeom prst="mathEqual">
            <a:avLst>
              <a:gd name="adj1" fmla="val 10029"/>
              <a:gd name="adj2" fmla="val 38742"/>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Tree>
    <p:extLst>
      <p:ext uri="{BB962C8B-B14F-4D97-AF65-F5344CB8AC3E}">
        <p14:creationId xmlns:p14="http://schemas.microsoft.com/office/powerpoint/2010/main" val="41773478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Interpreting the regression coefficients</a:t>
            </a:r>
          </a:p>
        </p:txBody>
      </p:sp>
      <p:sp>
        <p:nvSpPr>
          <p:cNvPr id="15" name="직사각형 14">
            <a:extLst>
              <a:ext uri="{FF2B5EF4-FFF2-40B4-BE49-F238E27FC236}">
                <a16:creationId xmlns:a16="http://schemas.microsoft.com/office/drawing/2014/main" id="{8E02D1CE-2859-45A1-90B6-A62349DC71E3}"/>
              </a:ext>
            </a:extLst>
          </p:cNvPr>
          <p:cNvSpPr/>
          <p:nvPr/>
        </p:nvSpPr>
        <p:spPr>
          <a:xfrm>
            <a:off x="670190" y="3737275"/>
            <a:ext cx="863282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ko-KR" altLang="en-US" sz="1300" dirty="0">
                <a:solidFill>
                  <a:srgbClr val="193EB0"/>
                </a:solidFill>
                <a:latin typeface="SamsungOne 400" panose="020B0503030303020204" pitchFamily="34" charset="0"/>
                <a:ea typeface="SamsungOne 400" panose="020B0503030303020204" pitchFamily="34" charset="0"/>
              </a:rPr>
              <a:t>𝛽</a:t>
            </a:r>
            <a:r>
              <a:rPr lang="en-US" altLang="ko-KR" sz="1300" baseline="-25000" dirty="0">
                <a:solidFill>
                  <a:srgbClr val="193EB0"/>
                </a:solidFill>
                <a:latin typeface="SamsungOne 400" panose="020B0503030303020204" pitchFamily="34" charset="0"/>
                <a:ea typeface="SamsungOne 400" panose="020B0503030303020204" pitchFamily="34" charset="0"/>
              </a:rPr>
              <a:t>0</a:t>
            </a:r>
            <a:r>
              <a:rPr lang="en-US" altLang="ko-KR" sz="1300" dirty="0">
                <a:solidFill>
                  <a:srgbClr val="193EB0"/>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can be interpreted as the base wage when there is no experience or qualification.</a:t>
            </a:r>
          </a:p>
          <a:p>
            <a:pPr marL="182526" indent="-182526">
              <a:spcAft>
                <a:spcPts val="800"/>
              </a:spcAft>
              <a:buClr>
                <a:srgbClr val="193EB0"/>
              </a:buClr>
              <a:buFont typeface="SamsungOne 400" panose="020B0503030303020204" pitchFamily="34" charset="0"/>
              <a:buChar char="‣"/>
            </a:pPr>
            <a:r>
              <a:rPr lang="ko-KR" altLang="en-US" sz="1300" dirty="0">
                <a:solidFill>
                  <a:srgbClr val="193EB0"/>
                </a:solidFill>
                <a:latin typeface="SamsungOne 400" panose="020B0503030303020204" pitchFamily="34" charset="0"/>
                <a:ea typeface="SamsungOne 400" panose="020B0503030303020204" pitchFamily="34" charset="0"/>
              </a:rPr>
              <a:t>𝛽</a:t>
            </a:r>
            <a:r>
              <a:rPr lang="en-US" altLang="ko-KR" sz="1300" baseline="-25000" dirty="0">
                <a:solidFill>
                  <a:srgbClr val="193EB0"/>
                </a:solidFill>
                <a:latin typeface="SamsungOne 400" panose="020B0503030303020204" pitchFamily="34" charset="0"/>
                <a:ea typeface="SamsungOne 400" panose="020B0503030303020204" pitchFamily="34" charset="0"/>
              </a:rPr>
              <a:t>1</a:t>
            </a:r>
            <a:r>
              <a:rPr lang="en-US" altLang="ko-KR" sz="1300" dirty="0">
                <a:solidFill>
                  <a:srgbClr val="193EB0"/>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can be interpreted as the change in wage when the experience is increased by a unit.</a:t>
            </a:r>
          </a:p>
          <a:p>
            <a:pPr marL="182526" indent="-182526">
              <a:spcAft>
                <a:spcPts val="800"/>
              </a:spcAft>
              <a:buClr>
                <a:srgbClr val="193EB0"/>
              </a:buClr>
              <a:buFont typeface="SamsungOne 400" panose="020B0503030303020204" pitchFamily="34" charset="0"/>
              <a:buChar char="‣"/>
            </a:pPr>
            <a:r>
              <a:rPr lang="ko-KR" altLang="en-US" sz="1300" dirty="0">
                <a:solidFill>
                  <a:srgbClr val="193EB0"/>
                </a:solidFill>
                <a:latin typeface="SamsungOne 400" panose="020B0503030303020204" pitchFamily="34" charset="0"/>
                <a:ea typeface="SamsungOne 400" panose="020B0503030303020204" pitchFamily="34" charset="0"/>
              </a:rPr>
              <a:t>𝛽</a:t>
            </a:r>
            <a:r>
              <a:rPr lang="en-US" altLang="ko-KR" sz="1300" baseline="-25000" dirty="0">
                <a:solidFill>
                  <a:srgbClr val="193EB0"/>
                </a:solidFill>
                <a:latin typeface="SamsungOne 400" panose="020B0503030303020204" pitchFamily="34" charset="0"/>
                <a:ea typeface="SamsungOne 400" panose="020B0503030303020204" pitchFamily="34" charset="0"/>
              </a:rPr>
              <a:t>2</a:t>
            </a:r>
            <a:r>
              <a:rPr lang="en-US" altLang="ko-KR" sz="1300" dirty="0">
                <a:solidFill>
                  <a:srgbClr val="193EB0"/>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can be interpreted as the change in wage when the qualification is increased by a unit.</a:t>
            </a:r>
          </a:p>
        </p:txBody>
      </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094484C5-2855-44F1-B543-271FC5A64EF4}"/>
                  </a:ext>
                </a:extLst>
              </p:cNvPr>
              <p:cNvSpPr/>
              <p:nvPr/>
            </p:nvSpPr>
            <p:spPr>
              <a:xfrm>
                <a:off x="3074058" y="2205038"/>
                <a:ext cx="2608626" cy="3385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14:m>
                  <m:oMathPara xmlns:m="http://schemas.openxmlformats.org/officeDocument/2006/math">
                    <m:oMathParaPr>
                      <m:jc m:val="centerGroup"/>
                    </m:oMathParaPr>
                    <m:oMath xmlns:m="http://schemas.openxmlformats.org/officeDocument/2006/math">
                      <m:r>
                        <a:rPr lang="en-US" altLang="ko-KR" sz="1600">
                          <a:solidFill>
                            <a:srgbClr val="FF0000"/>
                          </a:solidFill>
                          <a:latin typeface="Cambria Math" panose="02040503050406030204" pitchFamily="18" charset="0"/>
                        </a:rPr>
                        <m:t>𝑌</m:t>
                      </m:r>
                      <m:r>
                        <a:rPr lang="en-US" altLang="ko-KR" sz="1600" smtClean="0">
                          <a:solidFill>
                            <a:schemeClr val="tx1"/>
                          </a:solidFill>
                          <a:latin typeface="Cambria Math" panose="02040503050406030204" pitchFamily="18" charset="0"/>
                        </a:rPr>
                        <m:t>=</m:t>
                      </m:r>
                      <m:sSub>
                        <m:sSubPr>
                          <m:ctrlPr>
                            <a:rPr lang="ko-KR" altLang="ko-KR" sz="1600" i="1">
                              <a:latin typeface="Cambria Math" panose="02040503050406030204" pitchFamily="18" charset="0"/>
                            </a:rPr>
                          </m:ctrlPr>
                        </m:sSubPr>
                        <m:e>
                          <m:sSub>
                            <m:sSubPr>
                              <m:ctrlPr>
                                <a:rPr lang="ko-KR" altLang="ko-KR" sz="1600" i="1">
                                  <a:solidFill>
                                    <a:srgbClr val="193EB0"/>
                                  </a:solidFill>
                                  <a:latin typeface="Cambria Math" panose="02040503050406030204" pitchFamily="18" charset="0"/>
                                </a:rPr>
                              </m:ctrlPr>
                            </m:sSubPr>
                            <m:e>
                              <m:r>
                                <a:rPr lang="en-US" altLang="ko-KR" sz="1600">
                                  <a:solidFill>
                                    <a:srgbClr val="193EB0"/>
                                  </a:solidFill>
                                  <a:latin typeface="Cambria Math" panose="02040503050406030204" pitchFamily="18" charset="0"/>
                                </a:rPr>
                                <m:t>𝛽</m:t>
                              </m:r>
                            </m:e>
                            <m:sub>
                              <m:r>
                                <a:rPr lang="en-US" altLang="ko-KR" sz="1600">
                                  <a:solidFill>
                                    <a:srgbClr val="193EB0"/>
                                  </a:solidFill>
                                  <a:latin typeface="Cambria Math" panose="02040503050406030204" pitchFamily="18" charset="0"/>
                                </a:rPr>
                                <m:t>0</m:t>
                              </m:r>
                            </m:sub>
                          </m:sSub>
                          <m:r>
                            <a:rPr lang="en-US" altLang="ko-KR" sz="1600" smtClean="0">
                              <a:solidFill>
                                <a:schemeClr val="tx1"/>
                              </a:solidFill>
                              <a:latin typeface="Cambria Math" panose="02040503050406030204" pitchFamily="18" charset="0"/>
                            </a:rPr>
                            <m:t>+</m:t>
                          </m:r>
                          <m:r>
                            <a:rPr lang="en-US" altLang="ko-KR" sz="1600">
                              <a:solidFill>
                                <a:srgbClr val="193EB0"/>
                              </a:solidFill>
                              <a:latin typeface="Cambria Math" panose="02040503050406030204" pitchFamily="18" charset="0"/>
                            </a:rPr>
                            <m:t>𝛽</m:t>
                          </m:r>
                        </m:e>
                        <m:sub>
                          <m:r>
                            <a:rPr lang="en-US" altLang="ko-KR" sz="1600">
                              <a:solidFill>
                                <a:srgbClr val="193EB0"/>
                              </a:solidFill>
                              <a:latin typeface="Cambria Math" panose="02040503050406030204" pitchFamily="18" charset="0"/>
                            </a:rPr>
                            <m:t>1</m:t>
                          </m:r>
                        </m:sub>
                      </m:sSub>
                      <m:sSub>
                        <m:sSubPr>
                          <m:ctrlPr>
                            <a:rPr lang="ko-KR" altLang="ko-KR" sz="1600" i="1">
                              <a:solidFill>
                                <a:srgbClr val="FF0000"/>
                              </a:solidFill>
                              <a:latin typeface="Cambria Math" panose="02040503050406030204" pitchFamily="18" charset="0"/>
                            </a:rPr>
                          </m:ctrlPr>
                        </m:sSubPr>
                        <m:e>
                          <m:r>
                            <a:rPr lang="en-US" altLang="ko-KR" sz="1600">
                              <a:solidFill>
                                <a:srgbClr val="FF0000"/>
                              </a:solidFill>
                              <a:latin typeface="Cambria Math" panose="02040503050406030204" pitchFamily="18" charset="0"/>
                            </a:rPr>
                            <m:t>𝑋</m:t>
                          </m:r>
                        </m:e>
                        <m:sub>
                          <m:r>
                            <a:rPr lang="en-US" altLang="ko-KR" sz="1600">
                              <a:solidFill>
                                <a:srgbClr val="FF0000"/>
                              </a:solidFill>
                              <a:latin typeface="Cambria Math" panose="02040503050406030204" pitchFamily="18" charset="0"/>
                            </a:rPr>
                            <m:t>1</m:t>
                          </m:r>
                        </m:sub>
                      </m:sSub>
                      <m:r>
                        <a:rPr lang="en-US" altLang="ko-KR" sz="1600" smtClean="0">
                          <a:solidFill>
                            <a:schemeClr val="tx1"/>
                          </a:solidFill>
                          <a:latin typeface="Cambria Math" panose="02040503050406030204" pitchFamily="18" charset="0"/>
                        </a:rPr>
                        <m:t>+</m:t>
                      </m:r>
                      <m:sSub>
                        <m:sSubPr>
                          <m:ctrlPr>
                            <a:rPr lang="ko-KR" altLang="ko-KR" sz="1600" i="1">
                              <a:latin typeface="Cambria Math" panose="02040503050406030204" pitchFamily="18" charset="0"/>
                            </a:rPr>
                          </m:ctrlPr>
                        </m:sSubPr>
                        <m:e>
                          <m:r>
                            <a:rPr lang="en-US" altLang="ko-KR" sz="1600">
                              <a:solidFill>
                                <a:srgbClr val="193EB0"/>
                              </a:solidFill>
                              <a:latin typeface="Cambria Math" panose="02040503050406030204" pitchFamily="18" charset="0"/>
                            </a:rPr>
                            <m:t>𝛽</m:t>
                          </m:r>
                        </m:e>
                        <m:sub>
                          <m:r>
                            <a:rPr lang="en-US" altLang="ko-KR" sz="1600">
                              <a:solidFill>
                                <a:srgbClr val="193EB0"/>
                              </a:solidFill>
                              <a:latin typeface="Cambria Math" panose="02040503050406030204" pitchFamily="18" charset="0"/>
                            </a:rPr>
                            <m:t>2</m:t>
                          </m:r>
                        </m:sub>
                      </m:sSub>
                      <m:sSub>
                        <m:sSubPr>
                          <m:ctrlPr>
                            <a:rPr lang="ko-KR" altLang="ko-KR" sz="1600" i="1">
                              <a:solidFill>
                                <a:srgbClr val="FF0000"/>
                              </a:solidFill>
                              <a:latin typeface="Cambria Math" panose="02040503050406030204" pitchFamily="18" charset="0"/>
                            </a:rPr>
                          </m:ctrlPr>
                        </m:sSubPr>
                        <m:e>
                          <m:r>
                            <a:rPr lang="en-US" altLang="ko-KR" sz="1600">
                              <a:solidFill>
                                <a:srgbClr val="FF0000"/>
                              </a:solidFill>
                              <a:latin typeface="Cambria Math" panose="02040503050406030204" pitchFamily="18" charset="0"/>
                            </a:rPr>
                            <m:t>𝑋</m:t>
                          </m:r>
                        </m:e>
                        <m:sub>
                          <m:r>
                            <a:rPr lang="en-US" altLang="ko-KR" sz="1600">
                              <a:solidFill>
                                <a:srgbClr val="FF0000"/>
                              </a:solidFill>
                              <a:latin typeface="Cambria Math" panose="02040503050406030204" pitchFamily="18" charset="0"/>
                            </a:rPr>
                            <m:t>2</m:t>
                          </m:r>
                        </m:sub>
                      </m:sSub>
                      <m:r>
                        <a:rPr lang="en-US" altLang="ko-KR" sz="1600" smtClean="0">
                          <a:solidFill>
                            <a:schemeClr val="tx1"/>
                          </a:solidFill>
                          <a:latin typeface="Cambria Math" panose="02040503050406030204" pitchFamily="18" charset="0"/>
                        </a:rPr>
                        <m:t>+</m:t>
                      </m:r>
                      <m:r>
                        <m:rPr>
                          <m:nor/>
                        </m:rPr>
                        <a:rPr lang="en-US" altLang="ko-KR" sz="1600" dirty="0">
                          <a:solidFill>
                            <a:srgbClr val="193EB0"/>
                          </a:solidFill>
                          <a:sym typeface="Symbol"/>
                        </a:rPr>
                        <m:t></m:t>
                      </m:r>
                    </m:oMath>
                  </m:oMathPara>
                </a14:m>
                <a:endParaRPr lang="en-US" altLang="ko-KR" sz="1600" dirty="0"/>
              </a:p>
            </p:txBody>
          </p:sp>
        </mc:Choice>
        <mc:Fallback xmlns="">
          <p:sp>
            <p:nvSpPr>
              <p:cNvPr id="12" name="직사각형 11">
                <a:extLst>
                  <a:ext uri="{FF2B5EF4-FFF2-40B4-BE49-F238E27FC236}">
                    <a16:creationId xmlns:a16="http://schemas.microsoft.com/office/drawing/2014/main" id="{094484C5-2855-44F1-B543-271FC5A64EF4}"/>
                  </a:ext>
                </a:extLst>
              </p:cNvPr>
              <p:cNvSpPr>
                <a:spLocks noRot="1" noChangeAspect="1" noMove="1" noResize="1" noEditPoints="1" noAdjustHandles="1" noChangeArrowheads="1" noChangeShapeType="1" noTextEdit="1"/>
              </p:cNvSpPr>
              <p:nvPr/>
            </p:nvSpPr>
            <p:spPr>
              <a:xfrm>
                <a:off x="3074058" y="2205038"/>
                <a:ext cx="2608626" cy="338554"/>
              </a:xfrm>
              <a:prstGeom prst="rect">
                <a:avLst/>
              </a:prstGeom>
              <a:blipFill>
                <a:blip r:embed="rId4"/>
                <a:stretch>
                  <a:fillRect b="-10909"/>
                </a:stretch>
              </a:blipFill>
              <a:ln>
                <a:noFill/>
              </a:ln>
            </p:spPr>
            <p:txBody>
              <a:bodyPr/>
              <a:lstStyle/>
              <a:p>
                <a:r>
                  <a:rPr lang="ko-KR" altLang="en-US">
                    <a:noFill/>
                  </a:rPr>
                  <a:t> </a:t>
                </a:r>
              </a:p>
            </p:txBody>
          </p:sp>
        </mc:Fallback>
      </mc:AlternateContent>
      <p:grpSp>
        <p:nvGrpSpPr>
          <p:cNvPr id="2" name="그룹 1">
            <a:extLst>
              <a:ext uri="{FF2B5EF4-FFF2-40B4-BE49-F238E27FC236}">
                <a16:creationId xmlns:a16="http://schemas.microsoft.com/office/drawing/2014/main" id="{63351DE0-4D9E-41E2-AB2E-1C03695C75D9}"/>
              </a:ext>
            </a:extLst>
          </p:cNvPr>
          <p:cNvGrpSpPr/>
          <p:nvPr/>
        </p:nvGrpSpPr>
        <p:grpSpPr>
          <a:xfrm>
            <a:off x="670190" y="1717154"/>
            <a:ext cx="6979589" cy="345461"/>
            <a:chOff x="670190" y="1717154"/>
            <a:chExt cx="6979589" cy="345461"/>
          </a:xfrm>
        </p:grpSpPr>
        <p:sp>
          <p:nvSpPr>
            <p:cNvPr id="18" name="사각형: 둥근 모서리 2">
              <a:extLst>
                <a:ext uri="{FF2B5EF4-FFF2-40B4-BE49-F238E27FC236}">
                  <a16:creationId xmlns:a16="http://schemas.microsoft.com/office/drawing/2014/main" id="{0E79AE14-4C1A-4794-9DCC-0AF903F566FB}"/>
                </a:ext>
              </a:extLst>
            </p:cNvPr>
            <p:cNvSpPr/>
            <p:nvPr/>
          </p:nvSpPr>
          <p:spPr>
            <a:xfrm>
              <a:off x="670190" y="1778051"/>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19" name="직사각형 18">
              <a:extLst>
                <a:ext uri="{FF2B5EF4-FFF2-40B4-BE49-F238E27FC236}">
                  <a16:creationId xmlns:a16="http://schemas.microsoft.com/office/drawing/2014/main" id="{46697A32-7404-4312-A822-265F211FB244}"/>
                </a:ext>
              </a:extLst>
            </p:cNvPr>
            <p:cNvSpPr/>
            <p:nvPr/>
          </p:nvSpPr>
          <p:spPr>
            <a:xfrm>
              <a:off x="1045688" y="1717154"/>
              <a:ext cx="660409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Wage survey of a company’s employees </a:t>
              </a:r>
              <a:endParaRPr lang="it-IT"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grpSp>
      <p:grpSp>
        <p:nvGrpSpPr>
          <p:cNvPr id="20" name="그룹 19">
            <a:extLst>
              <a:ext uri="{FF2B5EF4-FFF2-40B4-BE49-F238E27FC236}">
                <a16:creationId xmlns:a16="http://schemas.microsoft.com/office/drawing/2014/main" id="{2B8884B4-23D2-4CBE-BFE6-AC898F2EBBE6}"/>
              </a:ext>
            </a:extLst>
          </p:cNvPr>
          <p:cNvGrpSpPr/>
          <p:nvPr/>
        </p:nvGrpSpPr>
        <p:grpSpPr>
          <a:xfrm>
            <a:off x="3088041" y="2543589"/>
            <a:ext cx="2476341" cy="848093"/>
            <a:chOff x="13956730" y="3368580"/>
            <a:chExt cx="3502399" cy="1107850"/>
          </a:xfrm>
        </p:grpSpPr>
        <p:grpSp>
          <p:nvGrpSpPr>
            <p:cNvPr id="21" name="Group 12">
              <a:extLst>
                <a:ext uri="{FF2B5EF4-FFF2-40B4-BE49-F238E27FC236}">
                  <a16:creationId xmlns:a16="http://schemas.microsoft.com/office/drawing/2014/main" id="{69CE7B8E-E3F0-40DD-8F9F-B10F66235FA5}"/>
                </a:ext>
              </a:extLst>
            </p:cNvPr>
            <p:cNvGrpSpPr/>
            <p:nvPr/>
          </p:nvGrpSpPr>
          <p:grpSpPr>
            <a:xfrm>
              <a:off x="13956730" y="3368580"/>
              <a:ext cx="587205" cy="698600"/>
              <a:chOff x="2451922" y="3087680"/>
              <a:chExt cx="956660" cy="698600"/>
            </a:xfrm>
          </p:grpSpPr>
          <p:cxnSp>
            <p:nvCxnSpPr>
              <p:cNvPr id="32" name="Straight Arrow Connector 13">
                <a:extLst>
                  <a:ext uri="{FF2B5EF4-FFF2-40B4-BE49-F238E27FC236}">
                    <a16:creationId xmlns:a16="http://schemas.microsoft.com/office/drawing/2014/main" id="{BEC39EF5-1912-4307-8AF4-D3043E8FAF8D}"/>
                  </a:ext>
                </a:extLst>
              </p:cNvPr>
              <p:cNvCxnSpPr>
                <a:cxnSpLocks/>
                <a:stCxn id="33" idx="0"/>
              </p:cNvCxnSpPr>
              <p:nvPr/>
            </p:nvCxnSpPr>
            <p:spPr>
              <a:xfrm flipV="1">
                <a:off x="2930252" y="3087680"/>
                <a:ext cx="0" cy="437271"/>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FD6124E-139D-482E-B320-FBD30E43EFC4}"/>
                  </a:ext>
                </a:extLst>
              </p:cNvPr>
              <p:cNvSpPr txBox="1"/>
              <p:nvPr/>
            </p:nvSpPr>
            <p:spPr>
              <a:xfrm>
                <a:off x="2451922" y="3524952"/>
                <a:ext cx="956660" cy="261328"/>
              </a:xfrm>
              <a:prstGeom prst="rect">
                <a:avLst/>
              </a:prstGeom>
              <a:noFill/>
            </p:spPr>
            <p:txBody>
              <a:bodyPr wrap="none" lIns="0" tIns="0" rIns="0" bIns="0" rtlCol="0" anchor="ctr">
                <a:sp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r>
                  <a:rPr lang="en-US" altLang="ko-KR" dirty="0"/>
                  <a:t>Wage</a:t>
                </a:r>
              </a:p>
            </p:txBody>
          </p:sp>
        </p:grpSp>
        <p:grpSp>
          <p:nvGrpSpPr>
            <p:cNvPr id="26" name="Group 12">
              <a:extLst>
                <a:ext uri="{FF2B5EF4-FFF2-40B4-BE49-F238E27FC236}">
                  <a16:creationId xmlns:a16="http://schemas.microsoft.com/office/drawing/2014/main" id="{3668E825-2E1E-405F-8376-AC35FF1BDBE6}"/>
                </a:ext>
              </a:extLst>
            </p:cNvPr>
            <p:cNvGrpSpPr/>
            <p:nvPr/>
          </p:nvGrpSpPr>
          <p:grpSpPr>
            <a:xfrm>
              <a:off x="15194247" y="3368584"/>
              <a:ext cx="1163072" cy="698596"/>
              <a:chOff x="1836207" y="3086313"/>
              <a:chExt cx="1894848" cy="698596"/>
            </a:xfrm>
          </p:grpSpPr>
          <p:cxnSp>
            <p:nvCxnSpPr>
              <p:cNvPr id="30" name="Straight Arrow Connector 13">
                <a:extLst>
                  <a:ext uri="{FF2B5EF4-FFF2-40B4-BE49-F238E27FC236}">
                    <a16:creationId xmlns:a16="http://schemas.microsoft.com/office/drawing/2014/main" id="{638154D4-6D63-47BE-84DF-78A885DF566C}"/>
                  </a:ext>
                </a:extLst>
              </p:cNvPr>
              <p:cNvCxnSpPr>
                <a:cxnSpLocks/>
                <a:stCxn id="31" idx="0"/>
                <a:endCxn id="12" idx="2"/>
              </p:cNvCxnSpPr>
              <p:nvPr/>
            </p:nvCxnSpPr>
            <p:spPr>
              <a:xfrm flipV="1">
                <a:off x="2783631" y="3086313"/>
                <a:ext cx="9641" cy="437269"/>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31C3437-EDBC-4A26-9D84-D229555315D5}"/>
                  </a:ext>
                </a:extLst>
              </p:cNvPr>
              <p:cNvSpPr txBox="1"/>
              <p:nvPr/>
            </p:nvSpPr>
            <p:spPr>
              <a:xfrm>
                <a:off x="1836207" y="3523582"/>
                <a:ext cx="1894848" cy="261327"/>
              </a:xfrm>
              <a:prstGeom prst="rect">
                <a:avLst/>
              </a:prstGeom>
              <a:noFill/>
            </p:spPr>
            <p:txBody>
              <a:bodyPr wrap="none" lIns="0" tIns="0" rIns="0" bIns="0" rtlCol="0" anchor="ctr">
                <a:sp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r>
                  <a:rPr lang="en-US" altLang="ko-KR" dirty="0"/>
                  <a:t>Experience</a:t>
                </a:r>
              </a:p>
            </p:txBody>
          </p:sp>
        </p:grpSp>
        <p:grpSp>
          <p:nvGrpSpPr>
            <p:cNvPr id="27" name="그룹 26">
              <a:extLst>
                <a:ext uri="{FF2B5EF4-FFF2-40B4-BE49-F238E27FC236}">
                  <a16:creationId xmlns:a16="http://schemas.microsoft.com/office/drawing/2014/main" id="{1FDE5C1B-D864-4304-AD4D-B195E2B5D2D7}"/>
                </a:ext>
              </a:extLst>
            </p:cNvPr>
            <p:cNvGrpSpPr/>
            <p:nvPr/>
          </p:nvGrpSpPr>
          <p:grpSpPr>
            <a:xfrm>
              <a:off x="16098810" y="3368581"/>
              <a:ext cx="1360319" cy="1107849"/>
              <a:chOff x="6444769" y="3368580"/>
              <a:chExt cx="1360319" cy="1107849"/>
            </a:xfrm>
          </p:grpSpPr>
          <p:cxnSp>
            <p:nvCxnSpPr>
              <p:cNvPr id="28" name="Straight Arrow Connector 13">
                <a:extLst>
                  <a:ext uri="{FF2B5EF4-FFF2-40B4-BE49-F238E27FC236}">
                    <a16:creationId xmlns:a16="http://schemas.microsoft.com/office/drawing/2014/main" id="{1F7D81C7-94FC-42D2-965D-C1639F267398}"/>
                  </a:ext>
                </a:extLst>
              </p:cNvPr>
              <p:cNvCxnSpPr>
                <a:cxnSpLocks/>
                <a:stCxn id="29" idx="0"/>
              </p:cNvCxnSpPr>
              <p:nvPr/>
            </p:nvCxnSpPr>
            <p:spPr>
              <a:xfrm flipV="1">
                <a:off x="7124929" y="3368580"/>
                <a:ext cx="0" cy="846522"/>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0CF20A0-A5CC-462C-B08A-3628557B83E0}"/>
                  </a:ext>
                </a:extLst>
              </p:cNvPr>
              <p:cNvSpPr txBox="1"/>
              <p:nvPr/>
            </p:nvSpPr>
            <p:spPr>
              <a:xfrm>
                <a:off x="6444769" y="4215102"/>
                <a:ext cx="1360319" cy="261327"/>
              </a:xfrm>
              <a:prstGeom prst="rect">
                <a:avLst/>
              </a:prstGeom>
              <a:noFill/>
            </p:spPr>
            <p:txBody>
              <a:bodyPr wrap="none" lIns="0" tIns="0" rIns="0" bIns="0" rtlCol="0" anchor="ctr">
                <a:sp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r>
                  <a:rPr lang="en-US" altLang="ko-KR" dirty="0"/>
                  <a:t>Qualification</a:t>
                </a:r>
              </a:p>
            </p:txBody>
          </p:sp>
        </p:grpSp>
      </p:grpSp>
    </p:spTree>
    <p:extLst>
      <p:ext uri="{BB962C8B-B14F-4D97-AF65-F5344CB8AC3E}">
        <p14:creationId xmlns:p14="http://schemas.microsoft.com/office/powerpoint/2010/main" val="380631500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Ordinary Least Squares (OLS) solution</a:t>
            </a:r>
          </a:p>
        </p:txBody>
      </p:sp>
      <p:sp>
        <p:nvSpPr>
          <p:cNvPr id="15" name="직사각형 14">
            <a:extLst>
              <a:ext uri="{FF2B5EF4-FFF2-40B4-BE49-F238E27FC236}">
                <a16:creationId xmlns:a16="http://schemas.microsoft.com/office/drawing/2014/main" id="{8E02D1CE-2859-45A1-90B6-A62349DC71E3}"/>
              </a:ext>
            </a:extLst>
          </p:cNvPr>
          <p:cNvSpPr/>
          <p:nvPr/>
        </p:nvSpPr>
        <p:spPr>
          <a:xfrm>
            <a:off x="666750" y="3429000"/>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Now, we can write the linear relation in term of the actual data values.</a:t>
            </a:r>
          </a:p>
        </p:txBody>
      </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094484C5-2855-44F1-B543-271FC5A64EF4}"/>
                  </a:ext>
                </a:extLst>
              </p:cNvPr>
              <p:cNvSpPr/>
              <p:nvPr/>
            </p:nvSpPr>
            <p:spPr>
              <a:xfrm>
                <a:off x="3097300" y="1776991"/>
                <a:ext cx="4056331" cy="3583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14:m>
                  <m:oMathPara xmlns:m="http://schemas.openxmlformats.org/officeDocument/2006/math">
                    <m:oMathParaPr>
                      <m:jc m:val="centerGroup"/>
                    </m:oMathParaPr>
                    <m:oMath xmlns:m="http://schemas.openxmlformats.org/officeDocument/2006/math">
                      <m:sSub>
                        <m:sSubPr>
                          <m:ctrlPr>
                            <a:rPr lang="ko-KR" altLang="ko-KR" sz="1600" i="1">
                              <a:solidFill>
                                <a:srgbClr val="262626"/>
                              </a:solidFill>
                              <a:latin typeface="Cambria Math" panose="02040503050406030204" pitchFamily="18" charset="0"/>
                            </a:rPr>
                          </m:ctrlPr>
                        </m:sSubPr>
                        <m:e>
                          <m:r>
                            <a:rPr lang="en-US" altLang="ko-KR" sz="1600">
                              <a:solidFill>
                                <a:srgbClr val="262626"/>
                              </a:solidFill>
                              <a:latin typeface="Cambria Math" panose="02040503050406030204" pitchFamily="18" charset="0"/>
                            </a:rPr>
                            <m:t>𝑦</m:t>
                          </m:r>
                        </m:e>
                        <m:sub>
                          <m:r>
                            <a:rPr lang="en-US" altLang="ko-KR" sz="1600">
                              <a:solidFill>
                                <a:srgbClr val="FF0000"/>
                              </a:solidFill>
                              <a:latin typeface="Cambria Math" panose="02040503050406030204" pitchFamily="18" charset="0"/>
                            </a:rPr>
                            <m:t>𝑗</m:t>
                          </m:r>
                        </m:sub>
                      </m:sSub>
                      <m:r>
                        <a:rPr lang="en-US" altLang="ko-KR" sz="1600">
                          <a:solidFill>
                            <a:srgbClr val="262626"/>
                          </a:solidFill>
                          <a:latin typeface="Cambria Math" panose="02040503050406030204" pitchFamily="18" charset="0"/>
                        </a:rPr>
                        <m:t>=</m:t>
                      </m:r>
                      <m:sSub>
                        <m:sSubPr>
                          <m:ctrlPr>
                            <a:rPr lang="ko-KR" altLang="ko-KR" sz="1600" i="1">
                              <a:solidFill>
                                <a:srgbClr val="262626"/>
                              </a:solidFill>
                              <a:latin typeface="Cambria Math" panose="02040503050406030204" pitchFamily="18" charset="0"/>
                            </a:rPr>
                          </m:ctrlPr>
                        </m:sSubPr>
                        <m:e>
                          <m:sSub>
                            <m:sSubPr>
                              <m:ctrlPr>
                                <a:rPr lang="ko-KR" altLang="ko-KR" sz="1600" i="1">
                                  <a:solidFill>
                                    <a:srgbClr val="262626"/>
                                  </a:solidFill>
                                  <a:latin typeface="Cambria Math" panose="02040503050406030204" pitchFamily="18" charset="0"/>
                                </a:rPr>
                              </m:ctrlPr>
                            </m:sSubPr>
                            <m:e>
                              <m:r>
                                <a:rPr lang="en-US" altLang="ko-KR" sz="1600">
                                  <a:solidFill>
                                    <a:srgbClr val="262626"/>
                                  </a:solidFill>
                                  <a:latin typeface="Cambria Math" panose="02040503050406030204" pitchFamily="18" charset="0"/>
                                </a:rPr>
                                <m:t>𝛽</m:t>
                              </m:r>
                            </m:e>
                            <m:sub>
                              <m:r>
                                <a:rPr lang="en-US" altLang="ko-KR" sz="1600">
                                  <a:solidFill>
                                    <a:srgbClr val="262626"/>
                                  </a:solidFill>
                                  <a:latin typeface="Cambria Math" panose="02040503050406030204" pitchFamily="18" charset="0"/>
                                </a:rPr>
                                <m:t>0</m:t>
                              </m:r>
                            </m:sub>
                          </m:sSub>
                          <m:r>
                            <a:rPr lang="en-US" altLang="ko-KR" sz="1600">
                              <a:solidFill>
                                <a:srgbClr val="262626"/>
                              </a:solidFill>
                              <a:latin typeface="Cambria Math" panose="02040503050406030204" pitchFamily="18" charset="0"/>
                            </a:rPr>
                            <m:t>+</m:t>
                          </m:r>
                          <m:r>
                            <a:rPr lang="en-US" altLang="ko-KR" sz="1600">
                              <a:solidFill>
                                <a:srgbClr val="262626"/>
                              </a:solidFill>
                              <a:latin typeface="Cambria Math" panose="02040503050406030204" pitchFamily="18" charset="0"/>
                            </a:rPr>
                            <m:t>𝛽</m:t>
                          </m:r>
                        </m:e>
                        <m:sub>
                          <m:r>
                            <a:rPr lang="en-US" altLang="ko-KR" sz="1600">
                              <a:solidFill>
                                <a:srgbClr val="262626"/>
                              </a:solidFill>
                              <a:latin typeface="Cambria Math" panose="02040503050406030204" pitchFamily="18" charset="0"/>
                            </a:rPr>
                            <m:t>1</m:t>
                          </m:r>
                        </m:sub>
                      </m:sSub>
                      <m:sSub>
                        <m:sSubPr>
                          <m:ctrlPr>
                            <a:rPr lang="ko-KR" altLang="ko-KR" sz="1600" i="1">
                              <a:solidFill>
                                <a:srgbClr val="262626"/>
                              </a:solidFill>
                              <a:latin typeface="Cambria Math" panose="02040503050406030204" pitchFamily="18" charset="0"/>
                            </a:rPr>
                          </m:ctrlPr>
                        </m:sSubPr>
                        <m:e>
                          <m:r>
                            <a:rPr lang="en-US" altLang="ko-KR" sz="1600">
                              <a:solidFill>
                                <a:srgbClr val="262626"/>
                              </a:solidFill>
                              <a:latin typeface="Cambria Math" panose="02040503050406030204" pitchFamily="18" charset="0"/>
                            </a:rPr>
                            <m:t>𝑥</m:t>
                          </m:r>
                        </m:e>
                        <m:sub>
                          <m:r>
                            <a:rPr lang="en-US" altLang="ko-KR" sz="1600">
                              <a:solidFill>
                                <a:srgbClr val="FF0000"/>
                              </a:solidFill>
                              <a:latin typeface="Cambria Math" panose="02040503050406030204" pitchFamily="18" charset="0"/>
                            </a:rPr>
                            <m:t>𝑗</m:t>
                          </m:r>
                          <m:r>
                            <a:rPr lang="en-US" altLang="ko-KR" sz="1600">
                              <a:solidFill>
                                <a:srgbClr val="262626"/>
                              </a:solidFill>
                              <a:latin typeface="Cambria Math" panose="02040503050406030204" pitchFamily="18" charset="0"/>
                            </a:rPr>
                            <m:t>,1</m:t>
                          </m:r>
                        </m:sub>
                      </m:sSub>
                      <m:r>
                        <a:rPr lang="en-US" altLang="ko-KR" sz="1600">
                          <a:solidFill>
                            <a:srgbClr val="262626"/>
                          </a:solidFill>
                          <a:latin typeface="Cambria Math" panose="02040503050406030204" pitchFamily="18" charset="0"/>
                        </a:rPr>
                        <m:t>+</m:t>
                      </m:r>
                      <m:sSub>
                        <m:sSubPr>
                          <m:ctrlPr>
                            <a:rPr lang="ko-KR" altLang="ko-KR" sz="1600" i="1">
                              <a:solidFill>
                                <a:srgbClr val="262626"/>
                              </a:solidFill>
                              <a:latin typeface="Cambria Math" panose="02040503050406030204" pitchFamily="18" charset="0"/>
                            </a:rPr>
                          </m:ctrlPr>
                        </m:sSubPr>
                        <m:e>
                          <m:r>
                            <a:rPr lang="en-US" altLang="ko-KR" sz="1600">
                              <a:solidFill>
                                <a:srgbClr val="262626"/>
                              </a:solidFill>
                              <a:latin typeface="Cambria Math" panose="02040503050406030204" pitchFamily="18" charset="0"/>
                            </a:rPr>
                            <m:t>𝛽</m:t>
                          </m:r>
                        </m:e>
                        <m:sub>
                          <m:r>
                            <a:rPr lang="en-US" altLang="ko-KR" sz="1600">
                              <a:solidFill>
                                <a:srgbClr val="262626"/>
                              </a:solidFill>
                              <a:latin typeface="Cambria Math" panose="02040503050406030204" pitchFamily="18" charset="0"/>
                            </a:rPr>
                            <m:t>2</m:t>
                          </m:r>
                        </m:sub>
                      </m:sSub>
                      <m:sSub>
                        <m:sSubPr>
                          <m:ctrlPr>
                            <a:rPr lang="ko-KR" altLang="ko-KR" sz="1600" i="1">
                              <a:solidFill>
                                <a:srgbClr val="262626"/>
                              </a:solidFill>
                              <a:latin typeface="Cambria Math" panose="02040503050406030204" pitchFamily="18" charset="0"/>
                            </a:rPr>
                          </m:ctrlPr>
                        </m:sSubPr>
                        <m:e>
                          <m:r>
                            <a:rPr lang="en-US" altLang="ko-KR" sz="1600">
                              <a:solidFill>
                                <a:srgbClr val="262626"/>
                              </a:solidFill>
                              <a:latin typeface="Cambria Math" panose="02040503050406030204" pitchFamily="18" charset="0"/>
                            </a:rPr>
                            <m:t>𝑥</m:t>
                          </m:r>
                        </m:e>
                        <m:sub>
                          <m:r>
                            <a:rPr lang="en-US" altLang="ko-KR" sz="1600">
                              <a:solidFill>
                                <a:srgbClr val="FF0000"/>
                              </a:solidFill>
                              <a:latin typeface="Cambria Math" panose="02040503050406030204" pitchFamily="18" charset="0"/>
                            </a:rPr>
                            <m:t>𝑗</m:t>
                          </m:r>
                          <m:r>
                            <a:rPr lang="en-US" altLang="ko-KR" sz="1600">
                              <a:solidFill>
                                <a:srgbClr val="262626"/>
                              </a:solidFill>
                              <a:latin typeface="Cambria Math" panose="02040503050406030204" pitchFamily="18" charset="0"/>
                            </a:rPr>
                            <m:t>,2</m:t>
                          </m:r>
                        </m:sub>
                      </m:sSub>
                      <m:r>
                        <a:rPr lang="en-US" altLang="ko-KR" sz="1600">
                          <a:solidFill>
                            <a:srgbClr val="262626"/>
                          </a:solidFill>
                          <a:latin typeface="Cambria Math" panose="02040503050406030204" pitchFamily="18" charset="0"/>
                        </a:rPr>
                        <m:t>+⋯+</m:t>
                      </m:r>
                      <m:sSub>
                        <m:sSubPr>
                          <m:ctrlPr>
                            <a:rPr lang="ko-KR" altLang="ko-KR" sz="1600" i="1">
                              <a:solidFill>
                                <a:srgbClr val="262626"/>
                              </a:solidFill>
                              <a:latin typeface="Cambria Math" panose="02040503050406030204" pitchFamily="18" charset="0"/>
                            </a:rPr>
                          </m:ctrlPr>
                        </m:sSubPr>
                        <m:e>
                          <m:r>
                            <a:rPr lang="en-US" altLang="ko-KR" sz="1600">
                              <a:solidFill>
                                <a:srgbClr val="262626"/>
                              </a:solidFill>
                              <a:latin typeface="Cambria Math" panose="02040503050406030204" pitchFamily="18" charset="0"/>
                            </a:rPr>
                            <m:t>𝛽</m:t>
                          </m:r>
                        </m:e>
                        <m:sub>
                          <m:r>
                            <a:rPr lang="en-US" altLang="ko-KR" sz="1600">
                              <a:solidFill>
                                <a:srgbClr val="262626"/>
                              </a:solidFill>
                              <a:latin typeface="Cambria Math" panose="02040503050406030204" pitchFamily="18" charset="0"/>
                            </a:rPr>
                            <m:t>𝐾</m:t>
                          </m:r>
                        </m:sub>
                      </m:sSub>
                      <m:sSub>
                        <m:sSubPr>
                          <m:ctrlPr>
                            <a:rPr lang="ko-KR" altLang="ko-KR" sz="1600" i="1">
                              <a:solidFill>
                                <a:srgbClr val="262626"/>
                              </a:solidFill>
                              <a:latin typeface="Cambria Math" panose="02040503050406030204" pitchFamily="18" charset="0"/>
                            </a:rPr>
                          </m:ctrlPr>
                        </m:sSubPr>
                        <m:e>
                          <m:r>
                            <a:rPr lang="en-US" altLang="ko-KR" sz="1600">
                              <a:solidFill>
                                <a:srgbClr val="262626"/>
                              </a:solidFill>
                              <a:latin typeface="Cambria Math" panose="02040503050406030204" pitchFamily="18" charset="0"/>
                            </a:rPr>
                            <m:t>𝑥</m:t>
                          </m:r>
                        </m:e>
                        <m:sub>
                          <m:r>
                            <a:rPr lang="en-US" altLang="ko-KR" sz="1600">
                              <a:solidFill>
                                <a:srgbClr val="FF0000"/>
                              </a:solidFill>
                              <a:latin typeface="Cambria Math" panose="02040503050406030204" pitchFamily="18" charset="0"/>
                            </a:rPr>
                            <m:t>𝑗</m:t>
                          </m:r>
                          <m:r>
                            <a:rPr lang="en-US" altLang="ko-KR" sz="1600">
                              <a:solidFill>
                                <a:srgbClr val="262626"/>
                              </a:solidFill>
                              <a:latin typeface="Cambria Math" panose="02040503050406030204" pitchFamily="18" charset="0"/>
                            </a:rPr>
                            <m:t>,  </m:t>
                          </m:r>
                          <m:r>
                            <a:rPr lang="en-US" altLang="ko-KR" sz="1600" dirty="0">
                              <a:solidFill>
                                <a:srgbClr val="00B050"/>
                              </a:solidFill>
                              <a:latin typeface="Cambria Math" panose="02040503050406030204" pitchFamily="18" charset="0"/>
                            </a:rPr>
                            <m:t>𝒌</m:t>
                          </m:r>
                        </m:sub>
                      </m:sSub>
                      <m:r>
                        <a:rPr lang="en-US" altLang="ko-KR" sz="1600">
                          <a:solidFill>
                            <a:srgbClr val="262626"/>
                          </a:solidFill>
                          <a:latin typeface="Cambria Math" panose="02040503050406030204" pitchFamily="18" charset="0"/>
                        </a:rPr>
                        <m:t>+</m:t>
                      </m:r>
                      <m:sSub>
                        <m:sSubPr>
                          <m:ctrlPr>
                            <a:rPr lang="ko-KR" altLang="ko-KR" sz="1600" i="1">
                              <a:solidFill>
                                <a:srgbClr val="262626"/>
                              </a:solidFill>
                              <a:latin typeface="Cambria Math" panose="02040503050406030204" pitchFamily="18" charset="0"/>
                            </a:rPr>
                          </m:ctrlPr>
                        </m:sSubPr>
                        <m:e>
                          <m:r>
                            <a:rPr lang="en-US" altLang="ko-KR" sz="1600">
                              <a:solidFill>
                                <a:srgbClr val="262626"/>
                              </a:solidFill>
                              <a:latin typeface="Cambria Math" panose="02040503050406030204" pitchFamily="18" charset="0"/>
                            </a:rPr>
                            <m:t>𝜀</m:t>
                          </m:r>
                        </m:e>
                        <m:sub>
                          <m:r>
                            <a:rPr lang="en-US" altLang="ko-KR" sz="1600">
                              <a:solidFill>
                                <a:srgbClr val="FF0000"/>
                              </a:solidFill>
                              <a:latin typeface="Cambria Math" panose="02040503050406030204" pitchFamily="18" charset="0"/>
                            </a:rPr>
                            <m:t>𝑗</m:t>
                          </m:r>
                        </m:sub>
                      </m:sSub>
                    </m:oMath>
                  </m:oMathPara>
                </a14:m>
                <a:endParaRPr lang="ko-KR" altLang="en-US" sz="1600" dirty="0">
                  <a:solidFill>
                    <a:srgbClr val="262626"/>
                  </a:solidFill>
                </a:endParaRPr>
              </a:p>
            </p:txBody>
          </p:sp>
        </mc:Choice>
        <mc:Fallback xmlns="">
          <p:sp>
            <p:nvSpPr>
              <p:cNvPr id="12" name="직사각형 11">
                <a:extLst>
                  <a:ext uri="{FF2B5EF4-FFF2-40B4-BE49-F238E27FC236}">
                    <a16:creationId xmlns:a16="http://schemas.microsoft.com/office/drawing/2014/main" id="{094484C5-2855-44F1-B543-271FC5A64EF4}"/>
                  </a:ext>
                </a:extLst>
              </p:cNvPr>
              <p:cNvSpPr>
                <a:spLocks noRot="1" noChangeAspect="1" noMove="1" noResize="1" noEditPoints="1" noAdjustHandles="1" noChangeArrowheads="1" noChangeShapeType="1" noTextEdit="1"/>
              </p:cNvSpPr>
              <p:nvPr/>
            </p:nvSpPr>
            <p:spPr>
              <a:xfrm>
                <a:off x="3097300" y="1776991"/>
                <a:ext cx="4056331" cy="358368"/>
              </a:xfrm>
              <a:prstGeom prst="rect">
                <a:avLst/>
              </a:prstGeom>
              <a:blipFill>
                <a:blip r:embed="rId4"/>
                <a:stretch>
                  <a:fillRect b="-8621"/>
                </a:stretch>
              </a:blipFill>
              <a:ln>
                <a:noFill/>
              </a:ln>
            </p:spPr>
            <p:txBody>
              <a:bodyPr/>
              <a:lstStyle/>
              <a:p>
                <a:r>
                  <a:rPr lang="ko-KR" altLang="en-US">
                    <a:noFill/>
                  </a:rPr>
                  <a:t> </a:t>
                </a:r>
              </a:p>
            </p:txBody>
          </p:sp>
        </mc:Fallback>
      </mc:AlternateContent>
      <p:grpSp>
        <p:nvGrpSpPr>
          <p:cNvPr id="11" name="Group 12">
            <a:extLst>
              <a:ext uri="{FF2B5EF4-FFF2-40B4-BE49-F238E27FC236}">
                <a16:creationId xmlns:a16="http://schemas.microsoft.com/office/drawing/2014/main" id="{7DC10FC7-2A12-46B4-BE06-40F42CCD4C06}"/>
              </a:ext>
            </a:extLst>
          </p:cNvPr>
          <p:cNvGrpSpPr/>
          <p:nvPr/>
        </p:nvGrpSpPr>
        <p:grpSpPr>
          <a:xfrm>
            <a:off x="2884955" y="2128035"/>
            <a:ext cx="885820" cy="801206"/>
            <a:chOff x="1979291" y="3244323"/>
            <a:chExt cx="1443156" cy="801206"/>
          </a:xfrm>
        </p:grpSpPr>
        <p:cxnSp>
          <p:nvCxnSpPr>
            <p:cNvPr id="13" name="Straight Arrow Connector 13">
              <a:extLst>
                <a:ext uri="{FF2B5EF4-FFF2-40B4-BE49-F238E27FC236}">
                  <a16:creationId xmlns:a16="http://schemas.microsoft.com/office/drawing/2014/main" id="{5E841499-E64A-42B8-B148-A230ED7A68DD}"/>
                </a:ext>
              </a:extLst>
            </p:cNvPr>
            <p:cNvCxnSpPr/>
            <p:nvPr/>
          </p:nvCxnSpPr>
          <p:spPr>
            <a:xfrm flipV="1">
              <a:off x="2700869" y="3244323"/>
              <a:ext cx="0" cy="432000"/>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571C32C-0441-4152-8014-5867DDCED875}"/>
                    </a:ext>
                  </a:extLst>
                </p:cNvPr>
                <p:cNvSpPr txBox="1"/>
                <p:nvPr/>
              </p:nvSpPr>
              <p:spPr>
                <a:xfrm>
                  <a:off x="1979291" y="3714028"/>
                  <a:ext cx="1443156" cy="331501"/>
                </a:xfrm>
                <a:prstGeom prst="rect">
                  <a:avLst/>
                </a:prstGeom>
              </p:spPr>
              <p:txBody>
                <a:bodyPr wrap="none" lIns="0" tIns="0" rIns="0" bIns="0" anchor="ctr" anchorCtr="0">
                  <a:spAutoFit/>
                  <a:scene3d>
                    <a:camera prst="orthographicFront"/>
                    <a:lightRig rig="threePt" dir="t"/>
                  </a:scene3d>
                  <a:sp3d>
                    <a:bevelT w="0" h="6350"/>
                  </a:sp3d>
                </a:bodyPr>
                <a:lstStyle>
                  <a:defPPr>
                    <a:defRPr lang="en-US"/>
                  </a:defPPr>
                  <a:lvl1pPr indent="0">
                    <a:lnSpc>
                      <a:spcPct val="150000"/>
                    </a:lnSpc>
                    <a:spcBef>
                      <a:spcPts val="1000"/>
                    </a:spcBef>
                    <a:spcAft>
                      <a:spcPts val="800"/>
                    </a:spcAft>
                    <a:buClr>
                      <a:srgbClr val="193EB0"/>
                    </a:buClr>
                    <a:buFont typeface="Arial" panose="020B0604020202020204" pitchFamily="34" charset="0"/>
                    <a:buNone/>
                    <a:defRPr sz="2000" i="1">
                      <a:solidFill>
                        <a:srgbClr val="262626"/>
                      </a:solidFill>
                      <a:latin typeface="SamsungOne 400" panose="020B0503030303020204" pitchFamily="34" charset="0"/>
                      <a:ea typeface="SamsungOne 400" panose="020B0503030303020204" pitchFamily="34" charset="0"/>
                    </a:defRPr>
                  </a:lvl1pPr>
                  <a:lvl2pPr marL="685800" indent="-228600" defTabSz="914400" latinLnBrk="1">
                    <a:lnSpc>
                      <a:spcPct val="90000"/>
                    </a:lnSpc>
                    <a:spcBef>
                      <a:spcPts val="500"/>
                    </a:spcBef>
                    <a:buFont typeface="Arial" panose="020B0604020202020204" pitchFamily="34" charset="0"/>
                    <a:buChar char="•"/>
                    <a:defRPr sz="2400"/>
                  </a:lvl2pPr>
                  <a:lvl3pPr marL="1143000" indent="-228600" defTabSz="914400" latinLnBrk="1">
                    <a:lnSpc>
                      <a:spcPct val="90000"/>
                    </a:lnSpc>
                    <a:spcBef>
                      <a:spcPts val="500"/>
                    </a:spcBef>
                    <a:buFont typeface="Arial" panose="020B0604020202020204" pitchFamily="34" charset="0"/>
                    <a:buChar char="•"/>
                    <a:defRPr sz="2000"/>
                  </a:lvl3pPr>
                  <a:lvl4pPr marL="1600200" indent="-228600" defTabSz="914400" latinLnBrk="1">
                    <a:lnSpc>
                      <a:spcPct val="90000"/>
                    </a:lnSpc>
                    <a:spcBef>
                      <a:spcPts val="500"/>
                    </a:spcBef>
                    <a:buFont typeface="Arial" panose="020B0604020202020204" pitchFamily="34" charset="0"/>
                    <a:buChar char="•"/>
                  </a:lvl4pPr>
                  <a:lvl5pPr marL="2057400" indent="-228600" defTabSz="914400" latinLnBrk="1">
                    <a:lnSpc>
                      <a:spcPct val="90000"/>
                    </a:lnSpc>
                    <a:spcBef>
                      <a:spcPts val="500"/>
                    </a:spcBef>
                    <a:buFont typeface="Arial" panose="020B0604020202020204" pitchFamily="34" charset="0"/>
                    <a:buChar char="•"/>
                  </a:lvl5pPr>
                  <a:lvl6pPr marL="2514600" indent="-228600" defTabSz="914400" latinLnBrk="1">
                    <a:lnSpc>
                      <a:spcPct val="90000"/>
                    </a:lnSpc>
                    <a:spcBef>
                      <a:spcPts val="500"/>
                    </a:spcBef>
                    <a:buFont typeface="Arial" panose="020B0604020202020204" pitchFamily="34" charset="0"/>
                    <a:buChar char="•"/>
                  </a:lvl6pPr>
                  <a:lvl7pPr marL="2971800" indent="-228600" defTabSz="914400" latinLnBrk="1">
                    <a:lnSpc>
                      <a:spcPct val="90000"/>
                    </a:lnSpc>
                    <a:spcBef>
                      <a:spcPts val="500"/>
                    </a:spcBef>
                    <a:buFont typeface="Arial" panose="020B0604020202020204" pitchFamily="34" charset="0"/>
                    <a:buChar char="•"/>
                  </a:lvl7pPr>
                  <a:lvl8pPr marL="3429000" indent="-228600" defTabSz="914400" latinLnBrk="1">
                    <a:lnSpc>
                      <a:spcPct val="90000"/>
                    </a:lnSpc>
                    <a:spcBef>
                      <a:spcPts val="500"/>
                    </a:spcBef>
                    <a:buFont typeface="Arial" panose="020B0604020202020204" pitchFamily="34" charset="0"/>
                    <a:buChar char="•"/>
                  </a:lvl8pPr>
                  <a:lvl9pPr marL="3886200" indent="-228600" defTabSz="914400" latinLnBrk="1">
                    <a:lnSpc>
                      <a:spcPct val="90000"/>
                    </a:lnSpc>
                    <a:spcBef>
                      <a:spcPts val="500"/>
                    </a:spcBef>
                    <a:buFont typeface="Arial" panose="020B0604020202020204" pitchFamily="34" charset="0"/>
                    <a:buChar char="•"/>
                  </a:lvl9pPr>
                </a:lstStyle>
                <a:p>
                  <a:r>
                    <a:rPr lang="en-US" altLang="ko-KR" sz="1600" dirty="0">
                      <a:solidFill>
                        <a:srgbClr val="FF0000"/>
                      </a:solidFill>
                    </a:rPr>
                    <a:t>j</a:t>
                  </a:r>
                  <a14:m>
                    <m:oMath xmlns:m="http://schemas.openxmlformats.org/officeDocument/2006/math">
                      <m:r>
                        <a:rPr lang="en-US" altLang="ko-KR" sz="1600">
                          <a:solidFill>
                            <a:srgbClr val="FF0000"/>
                          </a:solidFill>
                          <a:latin typeface="Cambria Math" panose="02040503050406030204" pitchFamily="18" charset="0"/>
                        </a:rPr>
                        <m:t> </m:t>
                      </m:r>
                      <m:r>
                        <a:rPr lang="ko-KR" altLang="en-US" sz="1600">
                          <a:latin typeface="Cambria Math" panose="02040503050406030204" pitchFamily="18" charset="0"/>
                        </a:rPr>
                        <m:t>𝜖</m:t>
                      </m:r>
                      <m:r>
                        <a:rPr lang="en-US" altLang="ko-KR" sz="1600">
                          <a:latin typeface="Cambria Math" panose="02040503050406030204" pitchFamily="18" charset="0"/>
                        </a:rPr>
                        <m:t> [1,</m:t>
                      </m:r>
                      <m:r>
                        <a:rPr lang="en-US" altLang="ko-KR" sz="1600">
                          <a:latin typeface="Cambria Math" panose="02040503050406030204" pitchFamily="18" charset="0"/>
                        </a:rPr>
                        <m:t>𝑛</m:t>
                      </m:r>
                      <m:r>
                        <a:rPr lang="en-US" altLang="ko-KR" sz="1600">
                          <a:latin typeface="Cambria Math" panose="02040503050406030204" pitchFamily="18" charset="0"/>
                        </a:rPr>
                        <m:t>]</m:t>
                      </m:r>
                    </m:oMath>
                  </a14:m>
                  <a:r>
                    <a:rPr lang="en-US" altLang="ko-KR" sz="1600" dirty="0"/>
                    <a:t>    </a:t>
                  </a:r>
                  <a:endParaRPr lang="ko-KR" altLang="ko-KR" sz="1600" dirty="0"/>
                </a:p>
              </p:txBody>
            </p:sp>
          </mc:Choice>
          <mc:Fallback xmlns="">
            <p:sp>
              <p:nvSpPr>
                <p:cNvPr id="14" name="TextBox 13">
                  <a:extLst>
                    <a:ext uri="{FF2B5EF4-FFF2-40B4-BE49-F238E27FC236}">
                      <a16:creationId xmlns:a16="http://schemas.microsoft.com/office/drawing/2014/main" id="{4571C32C-0441-4152-8014-5867DDCED875}"/>
                    </a:ext>
                  </a:extLst>
                </p:cNvPr>
                <p:cNvSpPr txBox="1">
                  <a:spLocks noRot="1" noChangeAspect="1" noMove="1" noResize="1" noEditPoints="1" noAdjustHandles="1" noChangeArrowheads="1" noChangeShapeType="1" noTextEdit="1"/>
                </p:cNvSpPr>
                <p:nvPr/>
              </p:nvSpPr>
              <p:spPr>
                <a:xfrm>
                  <a:off x="1979291" y="3714028"/>
                  <a:ext cx="1443156" cy="331501"/>
                </a:xfrm>
                <a:prstGeom prst="rect">
                  <a:avLst/>
                </a:prstGeom>
                <a:blipFill>
                  <a:blip r:embed="rId5"/>
                  <a:stretch>
                    <a:fillRect l="-3425"/>
                  </a:stretch>
                </a:blipFill>
              </p:spPr>
              <p:txBody>
                <a:bodyPr/>
                <a:lstStyle/>
                <a:p>
                  <a:r>
                    <a:rPr lang="ko-KR" altLang="en-US">
                      <a:noFill/>
                    </a:rPr>
                    <a:t> </a:t>
                  </a:r>
                </a:p>
              </p:txBody>
            </p:sp>
          </mc:Fallback>
        </mc:AlternateContent>
      </p:grpSp>
      <mc:AlternateContent xmlns:mc="http://schemas.openxmlformats.org/markup-compatibility/2006" xmlns:a14="http://schemas.microsoft.com/office/drawing/2010/main">
        <mc:Choice Requires="a14">
          <p:sp>
            <p:nvSpPr>
              <p:cNvPr id="16" name="Rectangle 22">
                <a:extLst>
                  <a:ext uri="{FF2B5EF4-FFF2-40B4-BE49-F238E27FC236}">
                    <a16:creationId xmlns:a16="http://schemas.microsoft.com/office/drawing/2014/main" id="{E8AD30BD-50A5-4B69-9FF7-1BD3DB4005FF}"/>
                  </a:ext>
                </a:extLst>
              </p:cNvPr>
              <p:cNvSpPr/>
              <p:nvPr/>
            </p:nvSpPr>
            <p:spPr>
              <a:xfrm>
                <a:off x="4527923" y="2560035"/>
                <a:ext cx="1641475" cy="530915"/>
              </a:xfrm>
              <a:prstGeom prst="rect">
                <a:avLst/>
              </a:prstGeom>
            </p:spPr>
            <p:txBody>
              <a:bodyPr wrap="none" lIns="0" tIns="0" rIns="0" bIns="0" anchor="ctr" anchorCtr="0">
                <a:spAutoFit/>
                <a:scene3d>
                  <a:camera prst="orthographicFront"/>
                  <a:lightRig rig="threePt" dir="t"/>
                </a:scene3d>
                <a:sp3d>
                  <a:bevelT w="0" h="6350"/>
                </a:sp3d>
              </a:bodyPr>
              <a:lstStyle/>
              <a:p>
                <a:pPr>
                  <a:spcAft>
                    <a:spcPts val="300"/>
                  </a:spcAft>
                  <a:buClr>
                    <a:srgbClr val="193EB0"/>
                  </a:buClr>
                  <a:buFont typeface="Arial" panose="020B0604020202020204" pitchFamily="34" charset="0"/>
                  <a:buNone/>
                </a:pPr>
                <a14:m>
                  <m:oMathPara xmlns:m="http://schemas.openxmlformats.org/officeDocument/2006/math">
                    <m:oMathParaPr>
                      <m:jc m:val="center"/>
                    </m:oMathParaPr>
                    <m:oMath xmlns:m="http://schemas.openxmlformats.org/officeDocument/2006/math">
                      <m:r>
                        <a:rPr lang="en-US" altLang="ko-KR" sz="1600" i="1" dirty="0">
                          <a:solidFill>
                            <a:srgbClr val="262626"/>
                          </a:solidFill>
                          <a:latin typeface="Cambria Math" panose="02040503050406030204" pitchFamily="18" charset="0"/>
                          <a:ea typeface="SamsungOne 400" panose="020B0503030303020204" pitchFamily="34" charset="0"/>
                        </a:rPr>
                        <m:t>𝑛</m:t>
                      </m:r>
                      <m:r>
                        <a:rPr lang="en-US" altLang="ko-KR" sz="1600" i="1" dirty="0">
                          <a:solidFill>
                            <a:srgbClr val="262626"/>
                          </a:solidFill>
                          <a:latin typeface="Cambria Math" panose="02040503050406030204" pitchFamily="18" charset="0"/>
                          <a:ea typeface="SamsungOne 400" panose="020B0503030303020204" pitchFamily="34" charset="0"/>
                        </a:rPr>
                        <m:t> &gt;&gt;</m:t>
                      </m:r>
                      <m:r>
                        <a:rPr lang="en-US" altLang="ko-KR" sz="1600" i="1" dirty="0" smtClean="0">
                          <a:solidFill>
                            <a:srgbClr val="00B050"/>
                          </a:solidFill>
                          <a:latin typeface="Cambria Math" panose="02040503050406030204" pitchFamily="18" charset="0"/>
                          <a:ea typeface="SamsungOne 400" panose="020B0503030303020204" pitchFamily="34" charset="0"/>
                        </a:rPr>
                        <m:t>𝑘</m:t>
                      </m:r>
                    </m:oMath>
                  </m:oMathPara>
                </a14:m>
                <a:endParaRPr lang="en-US" altLang="ko-KR" sz="1600" i="1" dirty="0">
                  <a:solidFill>
                    <a:srgbClr val="00B050"/>
                  </a:solidFill>
                  <a:latin typeface="SamsungOne 400" panose="020B0503030303020204" pitchFamily="34" charset="0"/>
                  <a:ea typeface="SamsungOne 400" panose="020B0503030303020204" pitchFamily="34" charset="0"/>
                </a:endParaRPr>
              </a:p>
              <a:p>
                <a:pPr algn="ctr">
                  <a:spcAft>
                    <a:spcPts val="300"/>
                  </a:spcAft>
                  <a:buClr>
                    <a:srgbClr val="193EB0"/>
                  </a:buClr>
                  <a:buFont typeface="Arial" panose="020B0604020202020204" pitchFamily="34" charset="0"/>
                  <a:buNone/>
                </a:pPr>
                <a:r>
                  <a:rPr lang="en-US" altLang="ko-KR" sz="1600" dirty="0">
                    <a:solidFill>
                      <a:srgbClr val="262626"/>
                    </a:solidFill>
                    <a:latin typeface="SamsungOne 400" panose="020B0503030303020204" pitchFamily="34" charset="0"/>
                    <a:ea typeface="SamsungOne 400" panose="020B0503030303020204" pitchFamily="34" charset="0"/>
                  </a:rPr>
                  <a:t>Over-determined!</a:t>
                </a:r>
                <a:endParaRPr lang="ko-KR" altLang="ko-KR" sz="1600" dirty="0">
                  <a:solidFill>
                    <a:srgbClr val="262626"/>
                  </a:solidFill>
                  <a:latin typeface="SamsungOne 400" panose="020B0503030303020204" pitchFamily="34" charset="0"/>
                  <a:ea typeface="SamsungOne 400" panose="020B0503030303020204" pitchFamily="34" charset="0"/>
                </a:endParaRPr>
              </a:p>
            </p:txBody>
          </p:sp>
        </mc:Choice>
        <mc:Fallback xmlns="">
          <p:sp>
            <p:nvSpPr>
              <p:cNvPr id="16" name="Rectangle 22">
                <a:extLst>
                  <a:ext uri="{FF2B5EF4-FFF2-40B4-BE49-F238E27FC236}">
                    <a16:creationId xmlns:a16="http://schemas.microsoft.com/office/drawing/2014/main" id="{E8AD30BD-50A5-4B69-9FF7-1BD3DB4005FF}"/>
                  </a:ext>
                </a:extLst>
              </p:cNvPr>
              <p:cNvSpPr>
                <a:spLocks noRot="1" noChangeAspect="1" noMove="1" noResize="1" noEditPoints="1" noAdjustHandles="1" noChangeArrowheads="1" noChangeShapeType="1" noTextEdit="1"/>
              </p:cNvSpPr>
              <p:nvPr/>
            </p:nvSpPr>
            <p:spPr>
              <a:xfrm>
                <a:off x="4527923" y="2560035"/>
                <a:ext cx="1641475" cy="530915"/>
              </a:xfrm>
              <a:prstGeom prst="rect">
                <a:avLst/>
              </a:prstGeom>
              <a:blipFill>
                <a:blip r:embed="rId6"/>
                <a:stretch>
                  <a:fillRect/>
                </a:stretch>
              </a:blipFill>
            </p:spPr>
            <p:txBody>
              <a:bodyPr/>
              <a:lstStyle/>
              <a:p>
                <a:r>
                  <a:rPr lang="ko-KR" altLang="en-US">
                    <a:noFill/>
                  </a:rPr>
                  <a:t> </a:t>
                </a:r>
              </a:p>
            </p:txBody>
          </p:sp>
        </mc:Fallback>
      </mc:AlternateContent>
      <p:sp>
        <p:nvSpPr>
          <p:cNvPr id="17" name="오른쪽 중괄호 16">
            <a:extLst>
              <a:ext uri="{FF2B5EF4-FFF2-40B4-BE49-F238E27FC236}">
                <a16:creationId xmlns:a16="http://schemas.microsoft.com/office/drawing/2014/main" id="{FE50331A-5E3A-4F3A-B9AD-8AD159A9F39A}"/>
              </a:ext>
            </a:extLst>
          </p:cNvPr>
          <p:cNvSpPr/>
          <p:nvPr/>
        </p:nvSpPr>
        <p:spPr>
          <a:xfrm rot="5400000" flipV="1">
            <a:off x="5177493" y="721147"/>
            <a:ext cx="342337" cy="3170764"/>
          </a:xfrm>
          <a:prstGeom prst="rightBrace">
            <a:avLst>
              <a:gd name="adj1" fmla="val 34851"/>
              <a:gd name="adj2" fmla="val 50000"/>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Tree>
    <p:extLst>
      <p:ext uri="{BB962C8B-B14F-4D97-AF65-F5344CB8AC3E}">
        <p14:creationId xmlns:p14="http://schemas.microsoft.com/office/powerpoint/2010/main" val="396227871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Ordinary Least Squares (OLS) solution</a:t>
            </a:r>
          </a:p>
        </p:txBody>
      </p:sp>
      <p:sp>
        <p:nvSpPr>
          <p:cNvPr id="15" name="직사각형 14">
            <a:extLst>
              <a:ext uri="{FF2B5EF4-FFF2-40B4-BE49-F238E27FC236}">
                <a16:creationId xmlns:a16="http://schemas.microsoft.com/office/drawing/2014/main" id="{8E02D1CE-2859-45A1-90B6-A62349DC71E3}"/>
              </a:ext>
            </a:extLst>
          </p:cNvPr>
          <p:cNvSpPr/>
          <p:nvPr/>
        </p:nvSpPr>
        <p:spPr>
          <a:xfrm>
            <a:off x="666750" y="2345935"/>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 compact notation using matrices </a:t>
            </a:r>
          </a:p>
        </p:txBody>
      </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094484C5-2855-44F1-B543-271FC5A64EF4}"/>
                  </a:ext>
                </a:extLst>
              </p:cNvPr>
              <p:cNvSpPr/>
              <p:nvPr/>
            </p:nvSpPr>
            <p:spPr>
              <a:xfrm>
                <a:off x="4221712" y="1786898"/>
                <a:ext cx="1459401" cy="3385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lgn="ctr"/>
                <a14:m>
                  <m:oMathPara xmlns:m="http://schemas.openxmlformats.org/officeDocument/2006/math">
                    <m:oMathParaPr>
                      <m:jc m:val="center"/>
                    </m:oMathParaPr>
                    <m:oMath xmlns:m="http://schemas.openxmlformats.org/officeDocument/2006/math">
                      <m:r>
                        <a:rPr lang="en-US" altLang="ko-KR" sz="1600" dirty="0" smtClean="0">
                          <a:solidFill>
                            <a:schemeClr val="tx1"/>
                          </a:solidFill>
                          <a:latin typeface="Cambria Math" panose="02040503050406030204" pitchFamily="18" charset="0"/>
                        </a:rPr>
                        <m:t>𝒀</m:t>
                      </m:r>
                      <m:r>
                        <a:rPr lang="en-US" altLang="ko-KR" sz="1600">
                          <a:solidFill>
                            <a:schemeClr val="tx1"/>
                          </a:solidFill>
                          <a:latin typeface="Cambria Math" panose="02040503050406030204" pitchFamily="18" charset="0"/>
                        </a:rPr>
                        <m:t>=</m:t>
                      </m:r>
                      <m:r>
                        <a:rPr lang="en-US" altLang="ko-KR" sz="1600">
                          <a:solidFill>
                            <a:schemeClr val="tx1"/>
                          </a:solidFill>
                          <a:latin typeface="Cambria Math" panose="02040503050406030204" pitchFamily="18" charset="0"/>
                        </a:rPr>
                        <m:t>𝑿</m:t>
                      </m:r>
                      <m:r>
                        <a:rPr lang="en-US" altLang="ko-KR" sz="1600">
                          <a:solidFill>
                            <a:schemeClr val="tx1"/>
                          </a:solidFill>
                          <a:latin typeface="Cambria Math" panose="02040503050406030204" pitchFamily="18" charset="0"/>
                        </a:rPr>
                        <m:t> </m:t>
                      </m:r>
                      <m:r>
                        <a:rPr lang="en-US" altLang="ko-KR" sz="1600">
                          <a:solidFill>
                            <a:schemeClr val="tx1"/>
                          </a:solidFill>
                          <a:latin typeface="Cambria Math" panose="02040503050406030204" pitchFamily="18" charset="0"/>
                        </a:rPr>
                        <m:t>𝜷</m:t>
                      </m:r>
                      <m:r>
                        <a:rPr lang="en-US" altLang="ko-KR" sz="1600">
                          <a:solidFill>
                            <a:schemeClr val="tx1"/>
                          </a:solidFill>
                          <a:latin typeface="Cambria Math" panose="02040503050406030204" pitchFamily="18" charset="0"/>
                        </a:rPr>
                        <m:t>+</m:t>
                      </m:r>
                      <m:r>
                        <a:rPr lang="en-US" altLang="ko-KR" sz="1600">
                          <a:solidFill>
                            <a:schemeClr val="tx1"/>
                          </a:solidFill>
                          <a:latin typeface="Cambria Math" panose="02040503050406030204" pitchFamily="18" charset="0"/>
                        </a:rPr>
                        <m:t>𝜺</m:t>
                      </m:r>
                      <m:r>
                        <m:rPr>
                          <m:nor/>
                        </m:rPr>
                        <a:rPr lang="en-US" altLang="ko-KR" sz="1600" dirty="0">
                          <a:solidFill>
                            <a:schemeClr val="tx1"/>
                          </a:solidFill>
                        </a:rPr>
                        <m:t> </m:t>
                      </m:r>
                    </m:oMath>
                  </m:oMathPara>
                </a14:m>
                <a:endParaRPr lang="en-US" altLang="ko-KR" sz="1600" dirty="0">
                  <a:solidFill>
                    <a:schemeClr val="tx1"/>
                  </a:solidFill>
                </a:endParaRPr>
              </a:p>
            </p:txBody>
          </p:sp>
        </mc:Choice>
        <mc:Fallback xmlns="">
          <p:sp>
            <p:nvSpPr>
              <p:cNvPr id="12" name="직사각형 11">
                <a:extLst>
                  <a:ext uri="{FF2B5EF4-FFF2-40B4-BE49-F238E27FC236}">
                    <a16:creationId xmlns:a16="http://schemas.microsoft.com/office/drawing/2014/main" id="{094484C5-2855-44F1-B543-271FC5A64EF4}"/>
                  </a:ext>
                </a:extLst>
              </p:cNvPr>
              <p:cNvSpPr>
                <a:spLocks noRot="1" noChangeAspect="1" noMove="1" noResize="1" noEditPoints="1" noAdjustHandles="1" noChangeArrowheads="1" noChangeShapeType="1" noTextEdit="1"/>
              </p:cNvSpPr>
              <p:nvPr/>
            </p:nvSpPr>
            <p:spPr>
              <a:xfrm>
                <a:off x="4221712" y="1786898"/>
                <a:ext cx="1459401" cy="338554"/>
              </a:xfrm>
              <a:prstGeom prst="rect">
                <a:avLst/>
              </a:prstGeom>
              <a:blipFill>
                <a:blip r:embed="rId4"/>
                <a:stretch>
                  <a:fillRect b="-8929"/>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280884375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Ordinary Least Squares (OLS) solution</a:t>
            </a:r>
          </a:p>
        </p:txBody>
      </p:sp>
      <p:sp>
        <p:nvSpPr>
          <p:cNvPr id="15" name="직사각형 14">
            <a:extLst>
              <a:ext uri="{FF2B5EF4-FFF2-40B4-BE49-F238E27FC236}">
                <a16:creationId xmlns:a16="http://schemas.microsoft.com/office/drawing/2014/main" id="{8E02D1CE-2859-45A1-90B6-A62349DC71E3}"/>
              </a:ext>
            </a:extLst>
          </p:cNvPr>
          <p:cNvSpPr/>
          <p:nvPr/>
        </p:nvSpPr>
        <p:spPr>
          <a:xfrm>
            <a:off x="666750" y="3904549"/>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 compact notation using matrices </a:t>
            </a:r>
          </a:p>
        </p:txBody>
      </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094484C5-2855-44F1-B543-271FC5A64EF4}"/>
                  </a:ext>
                </a:extLst>
              </p:cNvPr>
              <p:cNvSpPr/>
              <p:nvPr/>
            </p:nvSpPr>
            <p:spPr>
              <a:xfrm>
                <a:off x="4221712" y="1786898"/>
                <a:ext cx="1459401" cy="3385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lgn="ctr"/>
                <a14:m>
                  <m:oMathPara xmlns:m="http://schemas.openxmlformats.org/officeDocument/2006/math">
                    <m:oMathParaPr>
                      <m:jc m:val="center"/>
                    </m:oMathParaPr>
                    <m:oMath xmlns:m="http://schemas.openxmlformats.org/officeDocument/2006/math">
                      <m:r>
                        <a:rPr lang="en-US" altLang="ko-KR" sz="1600" dirty="0" smtClean="0">
                          <a:solidFill>
                            <a:srgbClr val="FF0000"/>
                          </a:solidFill>
                          <a:latin typeface="Cambria Math" panose="02040503050406030204" pitchFamily="18" charset="0"/>
                        </a:rPr>
                        <m:t>𝒀</m:t>
                      </m:r>
                      <m:r>
                        <a:rPr lang="en-US" altLang="ko-KR" sz="1600">
                          <a:solidFill>
                            <a:schemeClr val="tx1"/>
                          </a:solidFill>
                          <a:latin typeface="Cambria Math" panose="02040503050406030204" pitchFamily="18" charset="0"/>
                        </a:rPr>
                        <m:t>=</m:t>
                      </m:r>
                      <m:r>
                        <a:rPr lang="en-US" altLang="ko-KR" sz="1600">
                          <a:solidFill>
                            <a:schemeClr val="tx1"/>
                          </a:solidFill>
                          <a:latin typeface="Cambria Math" panose="02040503050406030204" pitchFamily="18" charset="0"/>
                        </a:rPr>
                        <m:t>𝑿</m:t>
                      </m:r>
                      <m:r>
                        <a:rPr lang="en-US" altLang="ko-KR" sz="1600">
                          <a:solidFill>
                            <a:schemeClr val="tx1"/>
                          </a:solidFill>
                          <a:latin typeface="Cambria Math" panose="02040503050406030204" pitchFamily="18" charset="0"/>
                        </a:rPr>
                        <m:t> </m:t>
                      </m:r>
                      <m:r>
                        <a:rPr lang="en-US" altLang="ko-KR" sz="1600">
                          <a:solidFill>
                            <a:schemeClr val="tx1"/>
                          </a:solidFill>
                          <a:latin typeface="Cambria Math" panose="02040503050406030204" pitchFamily="18" charset="0"/>
                        </a:rPr>
                        <m:t>𝜷</m:t>
                      </m:r>
                      <m:r>
                        <a:rPr lang="en-US" altLang="ko-KR" sz="1600">
                          <a:solidFill>
                            <a:schemeClr val="tx1"/>
                          </a:solidFill>
                          <a:latin typeface="Cambria Math" panose="02040503050406030204" pitchFamily="18" charset="0"/>
                        </a:rPr>
                        <m:t>+</m:t>
                      </m:r>
                      <m:r>
                        <a:rPr lang="en-US" altLang="ko-KR" sz="1600">
                          <a:solidFill>
                            <a:schemeClr val="tx1"/>
                          </a:solidFill>
                          <a:latin typeface="Cambria Math" panose="02040503050406030204" pitchFamily="18" charset="0"/>
                        </a:rPr>
                        <m:t>𝜺</m:t>
                      </m:r>
                      <m:r>
                        <m:rPr>
                          <m:nor/>
                        </m:rPr>
                        <a:rPr lang="en-US" altLang="ko-KR" sz="1600" dirty="0">
                          <a:solidFill>
                            <a:schemeClr val="tx1"/>
                          </a:solidFill>
                        </a:rPr>
                        <m:t> </m:t>
                      </m:r>
                    </m:oMath>
                  </m:oMathPara>
                </a14:m>
                <a:endParaRPr lang="en-US" altLang="ko-KR" sz="1600" dirty="0">
                  <a:solidFill>
                    <a:schemeClr val="tx1"/>
                  </a:solidFill>
                </a:endParaRPr>
              </a:p>
            </p:txBody>
          </p:sp>
        </mc:Choice>
        <mc:Fallback xmlns="">
          <p:sp>
            <p:nvSpPr>
              <p:cNvPr id="12" name="직사각형 11">
                <a:extLst>
                  <a:ext uri="{FF2B5EF4-FFF2-40B4-BE49-F238E27FC236}">
                    <a16:creationId xmlns:a16="http://schemas.microsoft.com/office/drawing/2014/main" id="{094484C5-2855-44F1-B543-271FC5A64EF4}"/>
                  </a:ext>
                </a:extLst>
              </p:cNvPr>
              <p:cNvSpPr>
                <a:spLocks noRot="1" noChangeAspect="1" noMove="1" noResize="1" noEditPoints="1" noAdjustHandles="1" noChangeArrowheads="1" noChangeShapeType="1" noTextEdit="1"/>
              </p:cNvSpPr>
              <p:nvPr/>
            </p:nvSpPr>
            <p:spPr>
              <a:xfrm>
                <a:off x="4221712" y="1786898"/>
                <a:ext cx="1459401" cy="338554"/>
              </a:xfrm>
              <a:prstGeom prst="rect">
                <a:avLst/>
              </a:prstGeom>
              <a:blipFill>
                <a:blip r:embed="rId4"/>
                <a:stretch>
                  <a:fillRect b="-8929"/>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Rectangle 8">
                <a:extLst>
                  <a:ext uri="{FF2B5EF4-FFF2-40B4-BE49-F238E27FC236}">
                    <a16:creationId xmlns:a16="http://schemas.microsoft.com/office/drawing/2014/main" id="{D4BE6A4C-35B0-4BDF-B0F9-BDCFCB6541DC}"/>
                  </a:ext>
                </a:extLst>
              </p:cNvPr>
              <p:cNvSpPr/>
              <p:nvPr/>
            </p:nvSpPr>
            <p:spPr>
              <a:xfrm>
                <a:off x="4169408" y="2193786"/>
                <a:ext cx="1214307" cy="1463286"/>
              </a:xfrm>
              <a:prstGeom prst="rect">
                <a:avLst/>
              </a:prstGeom>
            </p:spPr>
            <p:txBody>
              <a:bodyPr lIns="0" tIns="0" rIns="0" bIns="0" anchor="ctr" anchorCtr="0">
                <a:spAutoFit/>
                <a:scene3d>
                  <a:camera prst="orthographicFront"/>
                  <a:lightRig rig="threePt" dir="t"/>
                </a:scene3d>
                <a:sp3d>
                  <a:bevelT w="0" h="6350"/>
                </a:sp3d>
              </a:bodyPr>
              <a:lstStyle/>
              <a:p>
                <a:pPr algn="ctr">
                  <a:lnSpc>
                    <a:spcPct val="150000"/>
                  </a:lnSpc>
                  <a:spcBef>
                    <a:spcPts val="1000"/>
                  </a:spcBef>
                  <a:spcAft>
                    <a:spcPts val="800"/>
                  </a:spcAft>
                  <a:buClr>
                    <a:srgbClr val="193EB0"/>
                  </a:buClr>
                  <a:buFont typeface="Arial" panose="020B0604020202020204" pitchFamily="34" charset="0"/>
                  <a:buNone/>
                </a:pPr>
                <a14:m>
                  <m:oMathPara xmlns:m="http://schemas.openxmlformats.org/officeDocument/2006/math">
                    <m:oMathParaPr>
                      <m:jc m:val="center"/>
                    </m:oMathParaPr>
                    <m:oMath xmlns:m="http://schemas.openxmlformats.org/officeDocument/2006/math">
                      <m:r>
                        <a:rPr lang="en-US" altLang="ko-KR" sz="1600" i="1" dirty="0" smtClean="0">
                          <a:solidFill>
                            <a:srgbClr val="262626"/>
                          </a:solidFill>
                          <a:latin typeface="Cambria Math" panose="02040503050406030204" pitchFamily="18" charset="0"/>
                          <a:ea typeface="SamsungOne 400" panose="020B0503030303020204" pitchFamily="34" charset="0"/>
                        </a:rPr>
                        <m:t>𝒀</m:t>
                      </m:r>
                      <m:r>
                        <a:rPr lang="en-US" altLang="ko-KR" sz="1600" i="1">
                          <a:solidFill>
                            <a:srgbClr val="262626"/>
                          </a:solidFill>
                          <a:latin typeface="Cambria Math" panose="02040503050406030204" pitchFamily="18" charset="0"/>
                          <a:ea typeface="SamsungOne 400" panose="020B0503030303020204" pitchFamily="34" charset="0"/>
                        </a:rPr>
                        <m:t>=</m:t>
                      </m:r>
                      <m:d>
                        <m:dPr>
                          <m:begChr m:val="["/>
                          <m:endChr m:val="]"/>
                          <m:ctrlPr>
                            <a:rPr lang="en-US" altLang="ko-KR" sz="1600" i="1">
                              <a:solidFill>
                                <a:srgbClr val="262626"/>
                              </a:solidFill>
                              <a:latin typeface="Cambria Math" panose="02040503050406030204" pitchFamily="18" charset="0"/>
                              <a:ea typeface="SamsungOne 400" panose="020B0503030303020204" pitchFamily="34" charset="0"/>
                            </a:rPr>
                          </m:ctrlPr>
                        </m:dPr>
                        <m:e>
                          <m:eqArr>
                            <m:eqArrPr>
                              <m:ctrlPr>
                                <a:rPr lang="ko-KR" altLang="ko-KR" sz="1600" i="1">
                                  <a:solidFill>
                                    <a:srgbClr val="262626"/>
                                  </a:solidFill>
                                  <a:latin typeface="Cambria Math" panose="02040503050406030204" pitchFamily="18" charset="0"/>
                                  <a:ea typeface="SamsungOne 400" panose="020B0503030303020204" pitchFamily="34" charset="0"/>
                                </a:rPr>
                              </m:ctrlPr>
                            </m:eqArrPr>
                            <m:e>
                              <m:sSub>
                                <m:sSubPr>
                                  <m:ctrlPr>
                                    <a:rPr lang="ko-KR" altLang="ko-KR" sz="1600" i="1">
                                      <a:solidFill>
                                        <a:srgbClr val="262626"/>
                                      </a:solidFill>
                                      <a:latin typeface="Cambria Math" panose="02040503050406030204" pitchFamily="18" charset="0"/>
                                      <a:ea typeface="SamsungOne 400" panose="020B0503030303020204" pitchFamily="34" charset="0"/>
                                    </a:rPr>
                                  </m:ctrlPr>
                                </m:sSubPr>
                                <m:e>
                                  <m:r>
                                    <a:rPr lang="en-US" altLang="ko-KR" sz="1600" i="1">
                                      <a:solidFill>
                                        <a:srgbClr val="262626"/>
                                      </a:solidFill>
                                      <a:latin typeface="Cambria Math" panose="02040503050406030204" pitchFamily="18" charset="0"/>
                                      <a:ea typeface="SamsungOne 400" panose="020B0503030303020204" pitchFamily="34" charset="0"/>
                                    </a:rPr>
                                    <m:t>𝑦</m:t>
                                  </m:r>
                                </m:e>
                                <m:sub>
                                  <m:r>
                                    <a:rPr lang="en-US" altLang="ko-KR" sz="1600" i="1">
                                      <a:solidFill>
                                        <a:srgbClr val="262626"/>
                                      </a:solidFill>
                                      <a:latin typeface="Cambria Math" panose="02040503050406030204" pitchFamily="18" charset="0"/>
                                      <a:ea typeface="SamsungOne 400" panose="020B0503030303020204" pitchFamily="34" charset="0"/>
                                    </a:rPr>
                                    <m:t>1</m:t>
                                  </m:r>
                                </m:sub>
                              </m:sSub>
                            </m:e>
                            <m:e>
                              <m:sSub>
                                <m:sSubPr>
                                  <m:ctrlPr>
                                    <a:rPr lang="ko-KR" altLang="ko-KR" sz="1600" i="1">
                                      <a:solidFill>
                                        <a:srgbClr val="262626"/>
                                      </a:solidFill>
                                      <a:latin typeface="Cambria Math" panose="02040503050406030204" pitchFamily="18" charset="0"/>
                                      <a:ea typeface="SamsungOne 400" panose="020B0503030303020204" pitchFamily="34" charset="0"/>
                                    </a:rPr>
                                  </m:ctrlPr>
                                </m:sSubPr>
                                <m:e>
                                  <m:r>
                                    <a:rPr lang="en-US" altLang="ko-KR" sz="1600" i="1">
                                      <a:solidFill>
                                        <a:srgbClr val="262626"/>
                                      </a:solidFill>
                                      <a:latin typeface="Cambria Math" panose="02040503050406030204" pitchFamily="18" charset="0"/>
                                      <a:ea typeface="SamsungOne 400" panose="020B0503030303020204" pitchFamily="34" charset="0"/>
                                    </a:rPr>
                                    <m:t>𝑦</m:t>
                                  </m:r>
                                </m:e>
                                <m:sub>
                                  <m:r>
                                    <a:rPr lang="en-US" altLang="ko-KR" sz="1600" i="1">
                                      <a:solidFill>
                                        <a:srgbClr val="262626"/>
                                      </a:solidFill>
                                      <a:latin typeface="Cambria Math" panose="02040503050406030204" pitchFamily="18" charset="0"/>
                                      <a:ea typeface="SamsungOne 400" panose="020B0503030303020204" pitchFamily="34" charset="0"/>
                                    </a:rPr>
                                    <m:t>2</m:t>
                                  </m:r>
                                </m:sub>
                              </m:sSub>
                            </m:e>
                            <m:e>
                              <m:r>
                                <a:rPr lang="en-US" altLang="ko-KR" sz="1600" i="1">
                                  <a:solidFill>
                                    <a:srgbClr val="262626"/>
                                  </a:solidFill>
                                  <a:latin typeface="Cambria Math" panose="02040503050406030204" pitchFamily="18" charset="0"/>
                                  <a:ea typeface="SamsungOne 400" panose="020B0503030303020204" pitchFamily="34" charset="0"/>
                                </a:rPr>
                                <m:t>⋮</m:t>
                              </m:r>
                            </m:e>
                            <m:e>
                              <m:sSub>
                                <m:sSubPr>
                                  <m:ctrlPr>
                                    <a:rPr lang="ko-KR" altLang="ko-KR" sz="1600" i="1">
                                      <a:solidFill>
                                        <a:srgbClr val="262626"/>
                                      </a:solidFill>
                                      <a:latin typeface="Cambria Math" panose="02040503050406030204" pitchFamily="18" charset="0"/>
                                      <a:ea typeface="SamsungOne 400" panose="020B0503030303020204" pitchFamily="34" charset="0"/>
                                    </a:rPr>
                                  </m:ctrlPr>
                                </m:sSubPr>
                                <m:e>
                                  <m:r>
                                    <a:rPr lang="en-US" altLang="ko-KR" sz="1600" i="1">
                                      <a:solidFill>
                                        <a:srgbClr val="262626"/>
                                      </a:solidFill>
                                      <a:latin typeface="Cambria Math" panose="02040503050406030204" pitchFamily="18" charset="0"/>
                                      <a:ea typeface="SamsungOne 400" panose="020B0503030303020204" pitchFamily="34" charset="0"/>
                                    </a:rPr>
                                    <m:t>𝑦</m:t>
                                  </m:r>
                                </m:e>
                                <m:sub>
                                  <m:r>
                                    <a:rPr lang="en-US" altLang="ko-KR" sz="1600" i="1">
                                      <a:solidFill>
                                        <a:srgbClr val="262626"/>
                                      </a:solidFill>
                                      <a:latin typeface="Cambria Math" panose="02040503050406030204" pitchFamily="18" charset="0"/>
                                      <a:ea typeface="SamsungOne 400" panose="020B0503030303020204" pitchFamily="34" charset="0"/>
                                    </a:rPr>
                                    <m:t>𝑛</m:t>
                                  </m:r>
                                </m:sub>
                              </m:sSub>
                            </m:e>
                          </m:eqArr>
                        </m:e>
                      </m:d>
                    </m:oMath>
                  </m:oMathPara>
                </a14:m>
                <a:endParaRPr lang="ko-KR" altLang="en-US" sz="1600" i="1" dirty="0">
                  <a:solidFill>
                    <a:srgbClr val="262626"/>
                  </a:solidFill>
                  <a:latin typeface="SamsungOne 400" panose="020B0503030303020204" pitchFamily="34" charset="0"/>
                  <a:ea typeface="SamsungOne 400" panose="020B0503030303020204" pitchFamily="34" charset="0"/>
                </a:endParaRPr>
              </a:p>
            </p:txBody>
          </p:sp>
        </mc:Choice>
        <mc:Fallback xmlns="">
          <p:sp>
            <p:nvSpPr>
              <p:cNvPr id="8" name="Rectangle 8">
                <a:extLst>
                  <a:ext uri="{FF2B5EF4-FFF2-40B4-BE49-F238E27FC236}">
                    <a16:creationId xmlns:a16="http://schemas.microsoft.com/office/drawing/2014/main" id="{D4BE6A4C-35B0-4BDF-B0F9-BDCFCB6541DC}"/>
                  </a:ext>
                </a:extLst>
              </p:cNvPr>
              <p:cNvSpPr>
                <a:spLocks noRot="1" noChangeAspect="1" noMove="1" noResize="1" noEditPoints="1" noAdjustHandles="1" noChangeArrowheads="1" noChangeShapeType="1" noTextEdit="1"/>
              </p:cNvSpPr>
              <p:nvPr/>
            </p:nvSpPr>
            <p:spPr>
              <a:xfrm>
                <a:off x="4169408" y="2193786"/>
                <a:ext cx="1214307" cy="1463286"/>
              </a:xfrm>
              <a:prstGeom prst="rect">
                <a:avLst/>
              </a:prstGeom>
              <a:blipFill>
                <a:blip r:embed="rId5"/>
                <a:stretch>
                  <a:fillRect/>
                </a:stretch>
              </a:blipFill>
            </p:spPr>
            <p:txBody>
              <a:bodyPr/>
              <a:lstStyle/>
              <a:p>
                <a:r>
                  <a:rPr lang="ko-KR" altLang="en-US">
                    <a:noFill/>
                  </a:rPr>
                  <a:t> </a:t>
                </a:r>
              </a:p>
            </p:txBody>
          </p:sp>
        </mc:Fallback>
      </mc:AlternateContent>
      <p:cxnSp>
        <p:nvCxnSpPr>
          <p:cNvPr id="9" name="Straight Arrow Connector 13">
            <a:extLst>
              <a:ext uri="{FF2B5EF4-FFF2-40B4-BE49-F238E27FC236}">
                <a16:creationId xmlns:a16="http://schemas.microsoft.com/office/drawing/2014/main" id="{30940E40-6AF4-495F-AAA7-7C60A675B1BD}"/>
              </a:ext>
            </a:extLst>
          </p:cNvPr>
          <p:cNvCxnSpPr/>
          <p:nvPr/>
        </p:nvCxnSpPr>
        <p:spPr>
          <a:xfrm flipV="1">
            <a:off x="4411352" y="2125452"/>
            <a:ext cx="0" cy="828000"/>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09222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Ordinary Least Squares (OLS) solution</a:t>
            </a:r>
          </a:p>
        </p:txBody>
      </p:sp>
      <p:sp>
        <p:nvSpPr>
          <p:cNvPr id="15" name="직사각형 14">
            <a:extLst>
              <a:ext uri="{FF2B5EF4-FFF2-40B4-BE49-F238E27FC236}">
                <a16:creationId xmlns:a16="http://schemas.microsoft.com/office/drawing/2014/main" id="{8E02D1CE-2859-45A1-90B6-A62349DC71E3}"/>
              </a:ext>
            </a:extLst>
          </p:cNvPr>
          <p:cNvSpPr/>
          <p:nvPr/>
        </p:nvSpPr>
        <p:spPr>
          <a:xfrm>
            <a:off x="666750" y="3904549"/>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 compact notation using matrices </a:t>
            </a:r>
          </a:p>
        </p:txBody>
      </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094484C5-2855-44F1-B543-271FC5A64EF4}"/>
                  </a:ext>
                </a:extLst>
              </p:cNvPr>
              <p:cNvSpPr/>
              <p:nvPr/>
            </p:nvSpPr>
            <p:spPr>
              <a:xfrm>
                <a:off x="4221712" y="1786898"/>
                <a:ext cx="1459401" cy="3385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lgn="ctr"/>
                <a14:m>
                  <m:oMathPara xmlns:m="http://schemas.openxmlformats.org/officeDocument/2006/math">
                    <m:oMathParaPr>
                      <m:jc m:val="center"/>
                    </m:oMathParaPr>
                    <m:oMath xmlns:m="http://schemas.openxmlformats.org/officeDocument/2006/math">
                      <m:r>
                        <a:rPr lang="en-US" altLang="ko-KR" sz="1600" dirty="0" smtClean="0">
                          <a:solidFill>
                            <a:schemeClr val="tx1"/>
                          </a:solidFill>
                          <a:latin typeface="Cambria Math" panose="02040503050406030204" pitchFamily="18" charset="0"/>
                        </a:rPr>
                        <m:t>𝒀</m:t>
                      </m:r>
                      <m:r>
                        <a:rPr lang="en-US" altLang="ko-KR" sz="1600">
                          <a:solidFill>
                            <a:schemeClr val="tx1"/>
                          </a:solidFill>
                          <a:latin typeface="Cambria Math" panose="02040503050406030204" pitchFamily="18" charset="0"/>
                        </a:rPr>
                        <m:t>=</m:t>
                      </m:r>
                      <m:r>
                        <a:rPr lang="en-US" altLang="ko-KR" sz="1600" smtClean="0">
                          <a:solidFill>
                            <a:srgbClr val="FF0000"/>
                          </a:solidFill>
                          <a:latin typeface="Cambria Math" panose="02040503050406030204" pitchFamily="18" charset="0"/>
                        </a:rPr>
                        <m:t>𝑿</m:t>
                      </m:r>
                      <m:r>
                        <a:rPr lang="en-US" altLang="ko-KR" sz="1600">
                          <a:solidFill>
                            <a:schemeClr val="tx1"/>
                          </a:solidFill>
                          <a:latin typeface="Cambria Math" panose="02040503050406030204" pitchFamily="18" charset="0"/>
                        </a:rPr>
                        <m:t> </m:t>
                      </m:r>
                      <m:r>
                        <a:rPr lang="en-US" altLang="ko-KR" sz="1600">
                          <a:solidFill>
                            <a:schemeClr val="tx1"/>
                          </a:solidFill>
                          <a:latin typeface="Cambria Math" panose="02040503050406030204" pitchFamily="18" charset="0"/>
                        </a:rPr>
                        <m:t>𝜷</m:t>
                      </m:r>
                      <m:r>
                        <a:rPr lang="en-US" altLang="ko-KR" sz="1600">
                          <a:solidFill>
                            <a:schemeClr val="tx1"/>
                          </a:solidFill>
                          <a:latin typeface="Cambria Math" panose="02040503050406030204" pitchFamily="18" charset="0"/>
                        </a:rPr>
                        <m:t>+</m:t>
                      </m:r>
                      <m:r>
                        <a:rPr lang="en-US" altLang="ko-KR" sz="1600">
                          <a:solidFill>
                            <a:schemeClr val="tx1"/>
                          </a:solidFill>
                          <a:latin typeface="Cambria Math" panose="02040503050406030204" pitchFamily="18" charset="0"/>
                        </a:rPr>
                        <m:t>𝜺</m:t>
                      </m:r>
                      <m:r>
                        <m:rPr>
                          <m:nor/>
                        </m:rPr>
                        <a:rPr lang="en-US" altLang="ko-KR" sz="1600" dirty="0">
                          <a:solidFill>
                            <a:schemeClr val="tx1"/>
                          </a:solidFill>
                        </a:rPr>
                        <m:t> </m:t>
                      </m:r>
                    </m:oMath>
                  </m:oMathPara>
                </a14:m>
                <a:endParaRPr lang="en-US" altLang="ko-KR" sz="1600" dirty="0">
                  <a:solidFill>
                    <a:schemeClr val="tx1"/>
                  </a:solidFill>
                </a:endParaRPr>
              </a:p>
            </p:txBody>
          </p:sp>
        </mc:Choice>
        <mc:Fallback xmlns="">
          <p:sp>
            <p:nvSpPr>
              <p:cNvPr id="12" name="직사각형 11">
                <a:extLst>
                  <a:ext uri="{FF2B5EF4-FFF2-40B4-BE49-F238E27FC236}">
                    <a16:creationId xmlns:a16="http://schemas.microsoft.com/office/drawing/2014/main" id="{094484C5-2855-44F1-B543-271FC5A64EF4}"/>
                  </a:ext>
                </a:extLst>
              </p:cNvPr>
              <p:cNvSpPr>
                <a:spLocks noRot="1" noChangeAspect="1" noMove="1" noResize="1" noEditPoints="1" noAdjustHandles="1" noChangeArrowheads="1" noChangeShapeType="1" noTextEdit="1"/>
              </p:cNvSpPr>
              <p:nvPr/>
            </p:nvSpPr>
            <p:spPr>
              <a:xfrm>
                <a:off x="4221712" y="1786898"/>
                <a:ext cx="1459401" cy="338554"/>
              </a:xfrm>
              <a:prstGeom prst="rect">
                <a:avLst/>
              </a:prstGeom>
              <a:blipFill>
                <a:blip r:embed="rId4"/>
                <a:stretch>
                  <a:fillRect b="-8929"/>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Rectangle 8">
                <a:extLst>
                  <a:ext uri="{FF2B5EF4-FFF2-40B4-BE49-F238E27FC236}">
                    <a16:creationId xmlns:a16="http://schemas.microsoft.com/office/drawing/2014/main" id="{D4BE6A4C-35B0-4BDF-B0F9-BDCFCB6541DC}"/>
                  </a:ext>
                </a:extLst>
              </p:cNvPr>
              <p:cNvSpPr/>
              <p:nvPr/>
            </p:nvSpPr>
            <p:spPr>
              <a:xfrm>
                <a:off x="4577840" y="2127710"/>
                <a:ext cx="2474190" cy="1595437"/>
              </a:xfrm>
              <a:prstGeom prst="rect">
                <a:avLst/>
              </a:prstGeom>
            </p:spPr>
            <p:txBody>
              <a:bodyPr wrap="square" lIns="0" tIns="0" rIns="0" bIns="0" anchor="ctr" anchorCtr="0">
                <a:spAutoFit/>
                <a:scene3d>
                  <a:camera prst="orthographicFront"/>
                  <a:lightRig rig="threePt" dir="t"/>
                </a:scene3d>
                <a:sp3d>
                  <a:bevelT w="0" h="6350"/>
                </a:sp3d>
              </a:bodyPr>
              <a:lstStyle/>
              <a:p>
                <a:pPr algn="ctr">
                  <a:lnSpc>
                    <a:spcPct val="150000"/>
                  </a:lnSpc>
                  <a:spcBef>
                    <a:spcPts val="1000"/>
                  </a:spcBef>
                  <a:spcAft>
                    <a:spcPts val="800"/>
                  </a:spcAft>
                  <a:buClr>
                    <a:srgbClr val="193EB0"/>
                  </a:buClr>
                  <a:buFont typeface="Arial" panose="020B0604020202020204" pitchFamily="34" charset="0"/>
                  <a:buNone/>
                </a:pPr>
                <a14:m>
                  <m:oMathPara xmlns:m="http://schemas.openxmlformats.org/officeDocument/2006/math">
                    <m:oMathParaPr>
                      <m:jc m:val="center"/>
                    </m:oMathParaPr>
                    <m:oMath xmlns:m="http://schemas.openxmlformats.org/officeDocument/2006/math">
                      <m:r>
                        <a:rPr lang="en-US" altLang="ko-KR" sz="1600" i="1">
                          <a:solidFill>
                            <a:srgbClr val="262626"/>
                          </a:solidFill>
                          <a:latin typeface="Cambria Math" panose="02040503050406030204" pitchFamily="18" charset="0"/>
                          <a:ea typeface="SamsungOne 400" panose="020B0503030303020204" pitchFamily="34" charset="0"/>
                        </a:rPr>
                        <m:t>𝑿</m:t>
                      </m:r>
                      <m:r>
                        <a:rPr lang="en-US" altLang="ko-KR" sz="1600" i="1">
                          <a:solidFill>
                            <a:srgbClr val="262626"/>
                          </a:solidFill>
                          <a:latin typeface="Cambria Math" panose="02040503050406030204" pitchFamily="18" charset="0"/>
                          <a:ea typeface="SamsungOne 400" panose="020B0503030303020204" pitchFamily="34" charset="0"/>
                        </a:rPr>
                        <m:t>=</m:t>
                      </m:r>
                      <m:d>
                        <m:dPr>
                          <m:begChr m:val="["/>
                          <m:endChr m:val="]"/>
                          <m:ctrlPr>
                            <a:rPr lang="en-US" altLang="ko-KR" sz="1600" i="1">
                              <a:solidFill>
                                <a:srgbClr val="262626"/>
                              </a:solidFill>
                              <a:latin typeface="Cambria Math" panose="02040503050406030204" pitchFamily="18" charset="0"/>
                              <a:ea typeface="SamsungOne 400" panose="020B0503030303020204" pitchFamily="34" charset="0"/>
                            </a:rPr>
                          </m:ctrlPr>
                        </m:dPr>
                        <m:e>
                          <m:m>
                            <m:mPr>
                              <m:mcs>
                                <m:mc>
                                  <m:mcPr>
                                    <m:count m:val="2"/>
                                    <m:mcJc m:val="center"/>
                                  </m:mcPr>
                                </m:mc>
                              </m:mcs>
                              <m:ctrlPr>
                                <a:rPr lang="ko-KR" altLang="ko-KR" sz="1600" i="1">
                                  <a:solidFill>
                                    <a:srgbClr val="262626"/>
                                  </a:solidFill>
                                  <a:latin typeface="Cambria Math" panose="02040503050406030204" pitchFamily="18" charset="0"/>
                                  <a:ea typeface="SamsungOne 400" panose="020B0503030303020204" pitchFamily="34" charset="0"/>
                                </a:rPr>
                              </m:ctrlPr>
                            </m:mPr>
                            <m:mr>
                              <m:e>
                                <m:m>
                                  <m:mPr>
                                    <m:mcs>
                                      <m:mc>
                                        <m:mcPr>
                                          <m:count m:val="2"/>
                                          <m:mcJc m:val="center"/>
                                        </m:mcPr>
                                      </m:mc>
                                    </m:mcs>
                                    <m:ctrlPr>
                                      <a:rPr lang="ko-KR" altLang="ko-KR" sz="1600" i="1">
                                        <a:solidFill>
                                          <a:srgbClr val="262626"/>
                                        </a:solidFill>
                                        <a:latin typeface="Cambria Math" panose="02040503050406030204" pitchFamily="18" charset="0"/>
                                        <a:ea typeface="SamsungOne 400" panose="020B0503030303020204" pitchFamily="34" charset="0"/>
                                      </a:rPr>
                                    </m:ctrlPr>
                                  </m:mPr>
                                  <m:mr>
                                    <m:e>
                                      <m:r>
                                        <a:rPr lang="en-US" altLang="ko-KR" sz="1600" i="1">
                                          <a:solidFill>
                                            <a:srgbClr val="262626"/>
                                          </a:solidFill>
                                          <a:latin typeface="Cambria Math" panose="02040503050406030204" pitchFamily="18" charset="0"/>
                                          <a:ea typeface="SamsungOne 400" panose="020B0503030303020204" pitchFamily="34" charset="0"/>
                                        </a:rPr>
                                        <m:t>1</m:t>
                                      </m:r>
                                    </m:e>
                                    <m:e>
                                      <m:sSub>
                                        <m:sSubPr>
                                          <m:ctrlPr>
                                            <a:rPr lang="ko-KR" altLang="ko-KR" sz="1600" i="1">
                                              <a:solidFill>
                                                <a:srgbClr val="262626"/>
                                              </a:solidFill>
                                              <a:latin typeface="Cambria Math" panose="02040503050406030204" pitchFamily="18" charset="0"/>
                                              <a:ea typeface="SamsungOne 400" panose="020B0503030303020204" pitchFamily="34" charset="0"/>
                                            </a:rPr>
                                          </m:ctrlPr>
                                        </m:sSubPr>
                                        <m:e>
                                          <m:r>
                                            <a:rPr lang="en-US" altLang="ko-KR" sz="1600" i="1">
                                              <a:solidFill>
                                                <a:srgbClr val="262626"/>
                                              </a:solidFill>
                                              <a:latin typeface="Cambria Math" panose="02040503050406030204" pitchFamily="18" charset="0"/>
                                              <a:ea typeface="SamsungOne 400" panose="020B0503030303020204" pitchFamily="34" charset="0"/>
                                            </a:rPr>
                                            <m:t>𝑥</m:t>
                                          </m:r>
                                        </m:e>
                                        <m:sub>
                                          <m:r>
                                            <a:rPr lang="en-US" altLang="ko-KR" sz="1600" i="1">
                                              <a:solidFill>
                                                <a:srgbClr val="262626"/>
                                              </a:solidFill>
                                              <a:latin typeface="Cambria Math" panose="02040503050406030204" pitchFamily="18" charset="0"/>
                                              <a:ea typeface="SamsungOne 400" panose="020B0503030303020204" pitchFamily="34" charset="0"/>
                                            </a:rPr>
                                            <m:t>1,1</m:t>
                                          </m:r>
                                        </m:sub>
                                      </m:sSub>
                                    </m:e>
                                  </m:mr>
                                  <m:mr>
                                    <m:e>
                                      <m:r>
                                        <a:rPr lang="en-US" altLang="ko-KR" sz="1600" i="1">
                                          <a:solidFill>
                                            <a:srgbClr val="262626"/>
                                          </a:solidFill>
                                          <a:latin typeface="Cambria Math" panose="02040503050406030204" pitchFamily="18" charset="0"/>
                                          <a:ea typeface="SamsungOne 400" panose="020B0503030303020204" pitchFamily="34" charset="0"/>
                                        </a:rPr>
                                        <m:t>1</m:t>
                                      </m:r>
                                    </m:e>
                                    <m:e>
                                      <m:sSub>
                                        <m:sSubPr>
                                          <m:ctrlPr>
                                            <a:rPr lang="ko-KR" altLang="ko-KR" sz="1600" i="1">
                                              <a:solidFill>
                                                <a:srgbClr val="262626"/>
                                              </a:solidFill>
                                              <a:latin typeface="Cambria Math" panose="02040503050406030204" pitchFamily="18" charset="0"/>
                                              <a:ea typeface="SamsungOne 400" panose="020B0503030303020204" pitchFamily="34" charset="0"/>
                                            </a:rPr>
                                          </m:ctrlPr>
                                        </m:sSubPr>
                                        <m:e>
                                          <m:r>
                                            <a:rPr lang="en-US" altLang="ko-KR" sz="1600" i="1">
                                              <a:solidFill>
                                                <a:srgbClr val="262626"/>
                                              </a:solidFill>
                                              <a:latin typeface="Cambria Math" panose="02040503050406030204" pitchFamily="18" charset="0"/>
                                              <a:ea typeface="SamsungOne 400" panose="020B0503030303020204" pitchFamily="34" charset="0"/>
                                            </a:rPr>
                                            <m:t>𝑥</m:t>
                                          </m:r>
                                        </m:e>
                                        <m:sub>
                                          <m:r>
                                            <a:rPr lang="en-US" altLang="ko-KR" sz="1600" i="1">
                                              <a:solidFill>
                                                <a:srgbClr val="262626"/>
                                              </a:solidFill>
                                              <a:latin typeface="Cambria Math" panose="02040503050406030204" pitchFamily="18" charset="0"/>
                                              <a:ea typeface="SamsungOne 400" panose="020B0503030303020204" pitchFamily="34" charset="0"/>
                                            </a:rPr>
                                            <m:t>2,1</m:t>
                                          </m:r>
                                        </m:sub>
                                      </m:sSub>
                                    </m:e>
                                  </m:mr>
                                </m:m>
                              </m:e>
                              <m:e>
                                <m:m>
                                  <m:mPr>
                                    <m:mcs>
                                      <m:mc>
                                        <m:mcPr>
                                          <m:count m:val="2"/>
                                          <m:mcJc m:val="center"/>
                                        </m:mcPr>
                                      </m:mc>
                                    </m:mcs>
                                    <m:ctrlPr>
                                      <a:rPr lang="ko-KR" altLang="ko-KR" sz="1600" i="1">
                                        <a:solidFill>
                                          <a:srgbClr val="262626"/>
                                        </a:solidFill>
                                        <a:latin typeface="Cambria Math" panose="02040503050406030204" pitchFamily="18" charset="0"/>
                                        <a:ea typeface="SamsungOne 400" panose="020B0503030303020204" pitchFamily="34" charset="0"/>
                                      </a:rPr>
                                    </m:ctrlPr>
                                  </m:mPr>
                                  <m:mr>
                                    <m:e>
                                      <m:r>
                                        <a:rPr lang="en-US" altLang="ko-KR" sz="1600" i="1">
                                          <a:solidFill>
                                            <a:srgbClr val="262626"/>
                                          </a:solidFill>
                                          <a:latin typeface="Cambria Math" panose="02040503050406030204" pitchFamily="18" charset="0"/>
                                          <a:ea typeface="SamsungOne 400" panose="020B0503030303020204" pitchFamily="34" charset="0"/>
                                        </a:rPr>
                                        <m:t>⋯</m:t>
                                      </m:r>
                                    </m:e>
                                    <m:e>
                                      <m:sSub>
                                        <m:sSubPr>
                                          <m:ctrlPr>
                                            <a:rPr lang="ko-KR" altLang="ko-KR" sz="1600" i="1">
                                              <a:solidFill>
                                                <a:srgbClr val="262626"/>
                                              </a:solidFill>
                                              <a:latin typeface="Cambria Math" panose="02040503050406030204" pitchFamily="18" charset="0"/>
                                              <a:ea typeface="SamsungOne 400" panose="020B0503030303020204" pitchFamily="34" charset="0"/>
                                            </a:rPr>
                                          </m:ctrlPr>
                                        </m:sSubPr>
                                        <m:e>
                                          <m:r>
                                            <a:rPr lang="en-US" altLang="ko-KR" sz="1600" i="1">
                                              <a:solidFill>
                                                <a:srgbClr val="262626"/>
                                              </a:solidFill>
                                              <a:latin typeface="Cambria Math" panose="02040503050406030204" pitchFamily="18" charset="0"/>
                                              <a:ea typeface="SamsungOne 400" panose="020B0503030303020204" pitchFamily="34" charset="0"/>
                                            </a:rPr>
                                            <m:t>𝑥</m:t>
                                          </m:r>
                                        </m:e>
                                        <m:sub>
                                          <m:r>
                                            <a:rPr lang="en-US" altLang="ko-KR" sz="1600" i="1">
                                              <a:solidFill>
                                                <a:srgbClr val="262626"/>
                                              </a:solidFill>
                                              <a:latin typeface="Cambria Math" panose="02040503050406030204" pitchFamily="18" charset="0"/>
                                              <a:ea typeface="SamsungOne 400" panose="020B0503030303020204" pitchFamily="34" charset="0"/>
                                            </a:rPr>
                                            <m:t>1,</m:t>
                                          </m:r>
                                          <m:r>
                                            <a:rPr lang="en-US" altLang="ko-KR" sz="1600" i="1">
                                              <a:solidFill>
                                                <a:srgbClr val="262626"/>
                                              </a:solidFill>
                                              <a:latin typeface="Cambria Math" panose="02040503050406030204" pitchFamily="18" charset="0"/>
                                              <a:ea typeface="SamsungOne 400" panose="020B0503030303020204" pitchFamily="34" charset="0"/>
                                            </a:rPr>
                                            <m:t>𝑘</m:t>
                                          </m:r>
                                        </m:sub>
                                      </m:sSub>
                                    </m:e>
                                  </m:mr>
                                  <m:mr>
                                    <m:e>
                                      <m:r>
                                        <a:rPr lang="en-US" altLang="ko-KR" sz="1600" i="1">
                                          <a:solidFill>
                                            <a:srgbClr val="262626"/>
                                          </a:solidFill>
                                          <a:latin typeface="Cambria Math" panose="02040503050406030204" pitchFamily="18" charset="0"/>
                                          <a:ea typeface="SamsungOne 400" panose="020B0503030303020204" pitchFamily="34" charset="0"/>
                                        </a:rPr>
                                        <m:t>⋯</m:t>
                                      </m:r>
                                    </m:e>
                                    <m:e>
                                      <m:sSub>
                                        <m:sSubPr>
                                          <m:ctrlPr>
                                            <a:rPr lang="ko-KR" altLang="ko-KR" sz="1600" i="1">
                                              <a:solidFill>
                                                <a:srgbClr val="262626"/>
                                              </a:solidFill>
                                              <a:latin typeface="Cambria Math" panose="02040503050406030204" pitchFamily="18" charset="0"/>
                                              <a:ea typeface="SamsungOne 400" panose="020B0503030303020204" pitchFamily="34" charset="0"/>
                                            </a:rPr>
                                          </m:ctrlPr>
                                        </m:sSubPr>
                                        <m:e>
                                          <m:r>
                                            <a:rPr lang="en-US" altLang="ko-KR" sz="1600" i="1">
                                              <a:solidFill>
                                                <a:srgbClr val="262626"/>
                                              </a:solidFill>
                                              <a:latin typeface="Cambria Math" panose="02040503050406030204" pitchFamily="18" charset="0"/>
                                              <a:ea typeface="SamsungOne 400" panose="020B0503030303020204" pitchFamily="34" charset="0"/>
                                            </a:rPr>
                                            <m:t>𝑥</m:t>
                                          </m:r>
                                        </m:e>
                                        <m:sub>
                                          <m:r>
                                            <a:rPr lang="en-US" altLang="ko-KR" sz="1600" i="1">
                                              <a:solidFill>
                                                <a:srgbClr val="262626"/>
                                              </a:solidFill>
                                              <a:latin typeface="Cambria Math" panose="02040503050406030204" pitchFamily="18" charset="0"/>
                                              <a:ea typeface="SamsungOne 400" panose="020B0503030303020204" pitchFamily="34" charset="0"/>
                                            </a:rPr>
                                            <m:t>2,</m:t>
                                          </m:r>
                                          <m:r>
                                            <a:rPr lang="en-US" altLang="ko-KR" sz="1600" i="1">
                                              <a:solidFill>
                                                <a:srgbClr val="262626"/>
                                              </a:solidFill>
                                              <a:latin typeface="Cambria Math" panose="02040503050406030204" pitchFamily="18" charset="0"/>
                                              <a:ea typeface="SamsungOne 400" panose="020B0503030303020204" pitchFamily="34" charset="0"/>
                                            </a:rPr>
                                            <m:t>𝑘</m:t>
                                          </m:r>
                                        </m:sub>
                                      </m:sSub>
                                    </m:e>
                                  </m:mr>
                                </m:m>
                              </m:e>
                            </m:mr>
                            <m:mr>
                              <m:e>
                                <m:m>
                                  <m:mPr>
                                    <m:mcs>
                                      <m:mc>
                                        <m:mcPr>
                                          <m:count m:val="2"/>
                                          <m:mcJc m:val="center"/>
                                        </m:mcPr>
                                      </m:mc>
                                    </m:mcs>
                                    <m:ctrlPr>
                                      <a:rPr lang="ko-KR" altLang="ko-KR" sz="1600" i="1">
                                        <a:solidFill>
                                          <a:srgbClr val="262626"/>
                                        </a:solidFill>
                                        <a:latin typeface="Cambria Math" panose="02040503050406030204" pitchFamily="18" charset="0"/>
                                        <a:ea typeface="SamsungOne 400" panose="020B0503030303020204" pitchFamily="34" charset="0"/>
                                      </a:rPr>
                                    </m:ctrlPr>
                                  </m:mPr>
                                  <m:mr>
                                    <m:e>
                                      <m:r>
                                        <a:rPr lang="en-US" altLang="ko-KR" sz="1600" i="1">
                                          <a:solidFill>
                                            <a:srgbClr val="262626"/>
                                          </a:solidFill>
                                          <a:latin typeface="Cambria Math" panose="02040503050406030204" pitchFamily="18" charset="0"/>
                                          <a:ea typeface="SamsungOne 400" panose="020B0503030303020204" pitchFamily="34" charset="0"/>
                                        </a:rPr>
                                        <m:t>⋮</m:t>
                                      </m:r>
                                    </m:e>
                                    <m:e>
                                      <m:r>
                                        <a:rPr lang="en-US" altLang="ko-KR" sz="1600" i="1">
                                          <a:solidFill>
                                            <a:srgbClr val="262626"/>
                                          </a:solidFill>
                                          <a:latin typeface="Cambria Math" panose="02040503050406030204" pitchFamily="18" charset="0"/>
                                          <a:ea typeface="SamsungOne 400" panose="020B0503030303020204" pitchFamily="34" charset="0"/>
                                        </a:rPr>
                                        <m:t>⋮</m:t>
                                      </m:r>
                                    </m:e>
                                  </m:mr>
                                  <m:mr>
                                    <m:e>
                                      <m:r>
                                        <a:rPr lang="en-US" altLang="ko-KR" sz="1600" i="1">
                                          <a:solidFill>
                                            <a:srgbClr val="262626"/>
                                          </a:solidFill>
                                          <a:latin typeface="Cambria Math" panose="02040503050406030204" pitchFamily="18" charset="0"/>
                                          <a:ea typeface="SamsungOne 400" panose="020B0503030303020204" pitchFamily="34" charset="0"/>
                                        </a:rPr>
                                        <m:t>1</m:t>
                                      </m:r>
                                    </m:e>
                                    <m:e>
                                      <m:sSub>
                                        <m:sSubPr>
                                          <m:ctrlPr>
                                            <a:rPr lang="ko-KR" altLang="ko-KR" sz="1600" i="1">
                                              <a:solidFill>
                                                <a:srgbClr val="262626"/>
                                              </a:solidFill>
                                              <a:latin typeface="Cambria Math" panose="02040503050406030204" pitchFamily="18" charset="0"/>
                                              <a:ea typeface="SamsungOne 400" panose="020B0503030303020204" pitchFamily="34" charset="0"/>
                                            </a:rPr>
                                          </m:ctrlPr>
                                        </m:sSubPr>
                                        <m:e>
                                          <m:r>
                                            <a:rPr lang="en-US" altLang="ko-KR" sz="1600" i="1">
                                              <a:solidFill>
                                                <a:srgbClr val="262626"/>
                                              </a:solidFill>
                                              <a:latin typeface="Cambria Math" panose="02040503050406030204" pitchFamily="18" charset="0"/>
                                              <a:ea typeface="SamsungOne 400" panose="020B0503030303020204" pitchFamily="34" charset="0"/>
                                            </a:rPr>
                                            <m:t>𝑥</m:t>
                                          </m:r>
                                        </m:e>
                                        <m:sub>
                                          <m:r>
                                            <a:rPr lang="en-US" altLang="ko-KR" sz="1600" i="1">
                                              <a:solidFill>
                                                <a:srgbClr val="262626"/>
                                              </a:solidFill>
                                              <a:latin typeface="Cambria Math" panose="02040503050406030204" pitchFamily="18" charset="0"/>
                                              <a:ea typeface="SamsungOne 400" panose="020B0503030303020204" pitchFamily="34" charset="0"/>
                                            </a:rPr>
                                            <m:t>𝑛</m:t>
                                          </m:r>
                                          <m:r>
                                            <a:rPr lang="en-US" altLang="ko-KR" sz="1600" i="1">
                                              <a:solidFill>
                                                <a:srgbClr val="262626"/>
                                              </a:solidFill>
                                              <a:latin typeface="Cambria Math" panose="02040503050406030204" pitchFamily="18" charset="0"/>
                                              <a:ea typeface="SamsungOne 400" panose="020B0503030303020204" pitchFamily="34" charset="0"/>
                                            </a:rPr>
                                            <m:t>,1</m:t>
                                          </m:r>
                                        </m:sub>
                                      </m:sSub>
                                    </m:e>
                                  </m:mr>
                                </m:m>
                              </m:e>
                              <m:e>
                                <m:m>
                                  <m:mPr>
                                    <m:mcs>
                                      <m:mc>
                                        <m:mcPr>
                                          <m:count m:val="2"/>
                                          <m:mcJc m:val="center"/>
                                        </m:mcPr>
                                      </m:mc>
                                    </m:mcs>
                                    <m:ctrlPr>
                                      <a:rPr lang="ko-KR" altLang="ko-KR" sz="1600" i="1">
                                        <a:solidFill>
                                          <a:srgbClr val="262626"/>
                                        </a:solidFill>
                                        <a:latin typeface="Cambria Math" panose="02040503050406030204" pitchFamily="18" charset="0"/>
                                        <a:ea typeface="SamsungOne 400" panose="020B0503030303020204" pitchFamily="34" charset="0"/>
                                      </a:rPr>
                                    </m:ctrlPr>
                                  </m:mPr>
                                  <m:mr>
                                    <m:e>
                                      <m:r>
                                        <a:rPr lang="en-US" altLang="ko-KR" sz="1600" i="1">
                                          <a:solidFill>
                                            <a:srgbClr val="262626"/>
                                          </a:solidFill>
                                          <a:latin typeface="Cambria Math" panose="02040503050406030204" pitchFamily="18" charset="0"/>
                                          <a:ea typeface="SamsungOne 400" panose="020B0503030303020204" pitchFamily="34" charset="0"/>
                                        </a:rPr>
                                        <m:t>⋮</m:t>
                                      </m:r>
                                    </m:e>
                                    <m:e>
                                      <m:r>
                                        <a:rPr lang="en-US" altLang="ko-KR" sz="1600" i="1">
                                          <a:solidFill>
                                            <a:srgbClr val="262626"/>
                                          </a:solidFill>
                                          <a:latin typeface="Cambria Math" panose="02040503050406030204" pitchFamily="18" charset="0"/>
                                          <a:ea typeface="SamsungOne 400" panose="020B0503030303020204" pitchFamily="34" charset="0"/>
                                        </a:rPr>
                                        <m:t>⋮</m:t>
                                      </m:r>
                                    </m:e>
                                  </m:mr>
                                  <m:mr>
                                    <m:e>
                                      <m:r>
                                        <a:rPr lang="en-US" altLang="ko-KR" sz="1600" i="1">
                                          <a:solidFill>
                                            <a:srgbClr val="262626"/>
                                          </a:solidFill>
                                          <a:latin typeface="Cambria Math" panose="02040503050406030204" pitchFamily="18" charset="0"/>
                                          <a:ea typeface="SamsungOne 400" panose="020B0503030303020204" pitchFamily="34" charset="0"/>
                                        </a:rPr>
                                        <m:t>⋯</m:t>
                                      </m:r>
                                    </m:e>
                                    <m:e>
                                      <m:sSub>
                                        <m:sSubPr>
                                          <m:ctrlPr>
                                            <a:rPr lang="ko-KR" altLang="ko-KR" sz="1600" i="1">
                                              <a:solidFill>
                                                <a:srgbClr val="262626"/>
                                              </a:solidFill>
                                              <a:latin typeface="Cambria Math" panose="02040503050406030204" pitchFamily="18" charset="0"/>
                                              <a:ea typeface="SamsungOne 400" panose="020B0503030303020204" pitchFamily="34" charset="0"/>
                                            </a:rPr>
                                          </m:ctrlPr>
                                        </m:sSubPr>
                                        <m:e>
                                          <m:r>
                                            <a:rPr lang="en-US" altLang="ko-KR" sz="1600" i="1">
                                              <a:solidFill>
                                                <a:srgbClr val="262626"/>
                                              </a:solidFill>
                                              <a:latin typeface="Cambria Math" panose="02040503050406030204" pitchFamily="18" charset="0"/>
                                              <a:ea typeface="SamsungOne 400" panose="020B0503030303020204" pitchFamily="34" charset="0"/>
                                            </a:rPr>
                                            <m:t>𝑥</m:t>
                                          </m:r>
                                        </m:e>
                                        <m:sub>
                                          <m:r>
                                            <a:rPr lang="en-US" altLang="ko-KR" sz="1600" i="1">
                                              <a:solidFill>
                                                <a:srgbClr val="262626"/>
                                              </a:solidFill>
                                              <a:latin typeface="Cambria Math" panose="02040503050406030204" pitchFamily="18" charset="0"/>
                                              <a:ea typeface="SamsungOne 400" panose="020B0503030303020204" pitchFamily="34" charset="0"/>
                                            </a:rPr>
                                            <m:t>𝑛</m:t>
                                          </m:r>
                                          <m:r>
                                            <a:rPr lang="en-US" altLang="ko-KR" sz="1600" i="1">
                                              <a:solidFill>
                                                <a:srgbClr val="262626"/>
                                              </a:solidFill>
                                              <a:latin typeface="Cambria Math" panose="02040503050406030204" pitchFamily="18" charset="0"/>
                                              <a:ea typeface="SamsungOne 400" panose="020B0503030303020204" pitchFamily="34" charset="0"/>
                                            </a:rPr>
                                            <m:t>,</m:t>
                                          </m:r>
                                          <m:r>
                                            <a:rPr lang="en-US" altLang="ko-KR" sz="1600" i="1">
                                              <a:solidFill>
                                                <a:srgbClr val="262626"/>
                                              </a:solidFill>
                                              <a:latin typeface="Cambria Math" panose="02040503050406030204" pitchFamily="18" charset="0"/>
                                              <a:ea typeface="SamsungOne 400" panose="020B0503030303020204" pitchFamily="34" charset="0"/>
                                            </a:rPr>
                                            <m:t>𝑘</m:t>
                                          </m:r>
                                        </m:sub>
                                      </m:sSub>
                                    </m:e>
                                  </m:mr>
                                </m:m>
                              </m:e>
                            </m:mr>
                          </m:m>
                        </m:e>
                      </m:d>
                    </m:oMath>
                  </m:oMathPara>
                </a14:m>
                <a:endParaRPr lang="ko-KR" altLang="en-US" sz="1600" i="1" dirty="0">
                  <a:solidFill>
                    <a:srgbClr val="262626"/>
                  </a:solidFill>
                  <a:latin typeface="SamsungOne 400" panose="020B0503030303020204" pitchFamily="34" charset="0"/>
                  <a:ea typeface="SamsungOne 400" panose="020B0503030303020204" pitchFamily="34" charset="0"/>
                </a:endParaRPr>
              </a:p>
            </p:txBody>
          </p:sp>
        </mc:Choice>
        <mc:Fallback xmlns="">
          <p:sp>
            <p:nvSpPr>
              <p:cNvPr id="8" name="Rectangle 8">
                <a:extLst>
                  <a:ext uri="{FF2B5EF4-FFF2-40B4-BE49-F238E27FC236}">
                    <a16:creationId xmlns:a16="http://schemas.microsoft.com/office/drawing/2014/main" id="{D4BE6A4C-35B0-4BDF-B0F9-BDCFCB6541DC}"/>
                  </a:ext>
                </a:extLst>
              </p:cNvPr>
              <p:cNvSpPr>
                <a:spLocks noRot="1" noChangeAspect="1" noMove="1" noResize="1" noEditPoints="1" noAdjustHandles="1" noChangeArrowheads="1" noChangeShapeType="1" noTextEdit="1"/>
              </p:cNvSpPr>
              <p:nvPr/>
            </p:nvSpPr>
            <p:spPr>
              <a:xfrm>
                <a:off x="4577840" y="2127710"/>
                <a:ext cx="2474190" cy="1595437"/>
              </a:xfrm>
              <a:prstGeom prst="rect">
                <a:avLst/>
              </a:prstGeom>
              <a:blipFill>
                <a:blip r:embed="rId5"/>
                <a:stretch>
                  <a:fillRect/>
                </a:stretch>
              </a:blipFill>
            </p:spPr>
            <p:txBody>
              <a:bodyPr/>
              <a:lstStyle/>
              <a:p>
                <a:r>
                  <a:rPr lang="ko-KR" altLang="en-US">
                    <a:noFill/>
                  </a:rPr>
                  <a:t> </a:t>
                </a:r>
              </a:p>
            </p:txBody>
          </p:sp>
        </mc:Fallback>
      </mc:AlternateContent>
      <p:cxnSp>
        <p:nvCxnSpPr>
          <p:cNvPr id="9" name="Straight Arrow Connector 13">
            <a:extLst>
              <a:ext uri="{FF2B5EF4-FFF2-40B4-BE49-F238E27FC236}">
                <a16:creationId xmlns:a16="http://schemas.microsoft.com/office/drawing/2014/main" id="{30940E40-6AF4-495F-AAA7-7C60A675B1BD}"/>
              </a:ext>
            </a:extLst>
          </p:cNvPr>
          <p:cNvCxnSpPr/>
          <p:nvPr/>
        </p:nvCxnSpPr>
        <p:spPr>
          <a:xfrm flipV="1">
            <a:off x="4819784" y="2125452"/>
            <a:ext cx="0" cy="828000"/>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399710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Ordinary Least Squares (OLS) solution</a:t>
            </a:r>
          </a:p>
        </p:txBody>
      </p:sp>
      <p:sp>
        <p:nvSpPr>
          <p:cNvPr id="15" name="직사각형 14">
            <a:extLst>
              <a:ext uri="{FF2B5EF4-FFF2-40B4-BE49-F238E27FC236}">
                <a16:creationId xmlns:a16="http://schemas.microsoft.com/office/drawing/2014/main" id="{8E02D1CE-2859-45A1-90B6-A62349DC71E3}"/>
              </a:ext>
            </a:extLst>
          </p:cNvPr>
          <p:cNvSpPr/>
          <p:nvPr/>
        </p:nvSpPr>
        <p:spPr>
          <a:xfrm>
            <a:off x="666750" y="3904549"/>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 compact notation using matrices </a:t>
            </a:r>
          </a:p>
        </p:txBody>
      </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094484C5-2855-44F1-B543-271FC5A64EF4}"/>
                  </a:ext>
                </a:extLst>
              </p:cNvPr>
              <p:cNvSpPr/>
              <p:nvPr/>
            </p:nvSpPr>
            <p:spPr>
              <a:xfrm>
                <a:off x="4221712" y="1786898"/>
                <a:ext cx="1459401" cy="3385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lgn="ctr"/>
                <a14:m>
                  <m:oMathPara xmlns:m="http://schemas.openxmlformats.org/officeDocument/2006/math">
                    <m:oMathParaPr>
                      <m:jc m:val="center"/>
                    </m:oMathParaPr>
                    <m:oMath xmlns:m="http://schemas.openxmlformats.org/officeDocument/2006/math">
                      <m:r>
                        <a:rPr lang="en-US" altLang="ko-KR" sz="1600" dirty="0" smtClean="0">
                          <a:solidFill>
                            <a:schemeClr val="tx1"/>
                          </a:solidFill>
                          <a:latin typeface="Cambria Math" panose="02040503050406030204" pitchFamily="18" charset="0"/>
                        </a:rPr>
                        <m:t>𝒀</m:t>
                      </m:r>
                      <m:r>
                        <a:rPr lang="en-US" altLang="ko-KR" sz="1600">
                          <a:solidFill>
                            <a:schemeClr val="tx1"/>
                          </a:solidFill>
                          <a:latin typeface="Cambria Math" panose="02040503050406030204" pitchFamily="18" charset="0"/>
                        </a:rPr>
                        <m:t>=</m:t>
                      </m:r>
                      <m:r>
                        <a:rPr lang="en-US" altLang="ko-KR" sz="1600" smtClean="0">
                          <a:solidFill>
                            <a:schemeClr val="tx1"/>
                          </a:solidFill>
                          <a:latin typeface="Cambria Math" panose="02040503050406030204" pitchFamily="18" charset="0"/>
                        </a:rPr>
                        <m:t>𝑿</m:t>
                      </m:r>
                      <m:r>
                        <a:rPr lang="en-US" altLang="ko-KR" sz="1600">
                          <a:solidFill>
                            <a:schemeClr val="tx1"/>
                          </a:solidFill>
                          <a:latin typeface="Cambria Math" panose="02040503050406030204" pitchFamily="18" charset="0"/>
                        </a:rPr>
                        <m:t> </m:t>
                      </m:r>
                      <m:r>
                        <a:rPr lang="en-US" altLang="ko-KR" sz="1600" smtClean="0">
                          <a:solidFill>
                            <a:srgbClr val="FF0000"/>
                          </a:solidFill>
                          <a:latin typeface="Cambria Math" panose="02040503050406030204" pitchFamily="18" charset="0"/>
                        </a:rPr>
                        <m:t>𝜷</m:t>
                      </m:r>
                      <m:r>
                        <a:rPr lang="en-US" altLang="ko-KR" sz="1600">
                          <a:solidFill>
                            <a:schemeClr val="tx1"/>
                          </a:solidFill>
                          <a:latin typeface="Cambria Math" panose="02040503050406030204" pitchFamily="18" charset="0"/>
                        </a:rPr>
                        <m:t>+</m:t>
                      </m:r>
                      <m:r>
                        <a:rPr lang="en-US" altLang="ko-KR" sz="1600">
                          <a:solidFill>
                            <a:schemeClr val="tx1"/>
                          </a:solidFill>
                          <a:latin typeface="Cambria Math" panose="02040503050406030204" pitchFamily="18" charset="0"/>
                        </a:rPr>
                        <m:t>𝜺</m:t>
                      </m:r>
                      <m:r>
                        <m:rPr>
                          <m:nor/>
                        </m:rPr>
                        <a:rPr lang="en-US" altLang="ko-KR" sz="1600" dirty="0">
                          <a:solidFill>
                            <a:schemeClr val="tx1"/>
                          </a:solidFill>
                        </a:rPr>
                        <m:t> </m:t>
                      </m:r>
                    </m:oMath>
                  </m:oMathPara>
                </a14:m>
                <a:endParaRPr lang="en-US" altLang="ko-KR" sz="1600" dirty="0">
                  <a:solidFill>
                    <a:schemeClr val="tx1"/>
                  </a:solidFill>
                </a:endParaRPr>
              </a:p>
            </p:txBody>
          </p:sp>
        </mc:Choice>
        <mc:Fallback xmlns="">
          <p:sp>
            <p:nvSpPr>
              <p:cNvPr id="12" name="직사각형 11">
                <a:extLst>
                  <a:ext uri="{FF2B5EF4-FFF2-40B4-BE49-F238E27FC236}">
                    <a16:creationId xmlns:a16="http://schemas.microsoft.com/office/drawing/2014/main" id="{094484C5-2855-44F1-B543-271FC5A64EF4}"/>
                  </a:ext>
                </a:extLst>
              </p:cNvPr>
              <p:cNvSpPr>
                <a:spLocks noRot="1" noChangeAspect="1" noMove="1" noResize="1" noEditPoints="1" noAdjustHandles="1" noChangeArrowheads="1" noChangeShapeType="1" noTextEdit="1"/>
              </p:cNvSpPr>
              <p:nvPr/>
            </p:nvSpPr>
            <p:spPr>
              <a:xfrm>
                <a:off x="4221712" y="1786898"/>
                <a:ext cx="1459401" cy="338554"/>
              </a:xfrm>
              <a:prstGeom prst="rect">
                <a:avLst/>
              </a:prstGeom>
              <a:blipFill>
                <a:blip r:embed="rId4"/>
                <a:stretch>
                  <a:fillRect b="-8929"/>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Rectangle 8">
                <a:extLst>
                  <a:ext uri="{FF2B5EF4-FFF2-40B4-BE49-F238E27FC236}">
                    <a16:creationId xmlns:a16="http://schemas.microsoft.com/office/drawing/2014/main" id="{D4BE6A4C-35B0-4BDF-B0F9-BDCFCB6541DC}"/>
                  </a:ext>
                </a:extLst>
              </p:cNvPr>
              <p:cNvSpPr/>
              <p:nvPr/>
            </p:nvSpPr>
            <p:spPr>
              <a:xfrm>
                <a:off x="4951413" y="2161373"/>
                <a:ext cx="900100" cy="1528111"/>
              </a:xfrm>
              <a:prstGeom prst="rect">
                <a:avLst/>
              </a:prstGeom>
            </p:spPr>
            <p:txBody>
              <a:bodyPr wrap="square" lIns="0" tIns="0" rIns="0" bIns="0" anchor="ctr" anchorCtr="0">
                <a:spAutoFit/>
                <a:scene3d>
                  <a:camera prst="orthographicFront"/>
                  <a:lightRig rig="threePt" dir="t"/>
                </a:scene3d>
                <a:sp3d>
                  <a:bevelT w="0" h="6350"/>
                </a:sp3d>
              </a:bodyPr>
              <a:lstStyle/>
              <a:p>
                <a:pPr algn="ctr">
                  <a:lnSpc>
                    <a:spcPct val="150000"/>
                  </a:lnSpc>
                  <a:spcBef>
                    <a:spcPts val="1000"/>
                  </a:spcBef>
                  <a:spcAft>
                    <a:spcPts val="800"/>
                  </a:spcAft>
                  <a:buClr>
                    <a:srgbClr val="193EB0"/>
                  </a:buClr>
                  <a:buFont typeface="Arial" panose="020B0604020202020204" pitchFamily="34" charset="0"/>
                  <a:buNone/>
                </a:pPr>
                <a14:m>
                  <m:oMathPara xmlns:m="http://schemas.openxmlformats.org/officeDocument/2006/math">
                    <m:oMathParaPr>
                      <m:jc m:val="left"/>
                    </m:oMathParaPr>
                    <m:oMath xmlns:m="http://schemas.openxmlformats.org/officeDocument/2006/math">
                      <m:r>
                        <a:rPr lang="en-US" altLang="ko-KR" sz="1600" i="1">
                          <a:solidFill>
                            <a:srgbClr val="262626"/>
                          </a:solidFill>
                          <a:latin typeface="Cambria Math" panose="02040503050406030204" pitchFamily="18" charset="0"/>
                          <a:ea typeface="SamsungOne 400" panose="020B0503030303020204" pitchFamily="34" charset="0"/>
                        </a:rPr>
                        <m:t>𝜷</m:t>
                      </m:r>
                      <m:r>
                        <a:rPr lang="en-US" altLang="ko-KR" sz="1600" i="1">
                          <a:solidFill>
                            <a:srgbClr val="262626"/>
                          </a:solidFill>
                          <a:latin typeface="Cambria Math" panose="02040503050406030204" pitchFamily="18" charset="0"/>
                          <a:ea typeface="SamsungOne 400" panose="020B0503030303020204" pitchFamily="34" charset="0"/>
                        </a:rPr>
                        <m:t>=</m:t>
                      </m:r>
                      <m:d>
                        <m:dPr>
                          <m:begChr m:val="["/>
                          <m:endChr m:val="]"/>
                          <m:ctrlPr>
                            <a:rPr lang="en-US" altLang="ko-KR" sz="1600" i="1">
                              <a:solidFill>
                                <a:srgbClr val="262626"/>
                              </a:solidFill>
                              <a:latin typeface="Cambria Math" panose="02040503050406030204" pitchFamily="18" charset="0"/>
                              <a:ea typeface="SamsungOne 400" panose="020B0503030303020204" pitchFamily="34" charset="0"/>
                            </a:rPr>
                          </m:ctrlPr>
                        </m:dPr>
                        <m:e>
                          <m:eqArr>
                            <m:eqArrPr>
                              <m:ctrlPr>
                                <a:rPr lang="ko-KR" altLang="ko-KR" sz="1600" i="1">
                                  <a:solidFill>
                                    <a:srgbClr val="262626"/>
                                  </a:solidFill>
                                  <a:latin typeface="Cambria Math" panose="02040503050406030204" pitchFamily="18" charset="0"/>
                                  <a:ea typeface="SamsungOne 400" panose="020B0503030303020204" pitchFamily="34" charset="0"/>
                                </a:rPr>
                              </m:ctrlPr>
                            </m:eqArrPr>
                            <m:e>
                              <m:sSub>
                                <m:sSubPr>
                                  <m:ctrlPr>
                                    <a:rPr lang="ko-KR" altLang="ko-KR" sz="1600" i="1">
                                      <a:solidFill>
                                        <a:srgbClr val="262626"/>
                                      </a:solidFill>
                                      <a:latin typeface="Cambria Math" panose="02040503050406030204" pitchFamily="18" charset="0"/>
                                      <a:ea typeface="SamsungOne 400" panose="020B0503030303020204" pitchFamily="34" charset="0"/>
                                    </a:rPr>
                                  </m:ctrlPr>
                                </m:sSubPr>
                                <m:e>
                                  <m:r>
                                    <a:rPr lang="en-US" altLang="ko-KR" sz="1600" i="1">
                                      <a:solidFill>
                                        <a:srgbClr val="262626"/>
                                      </a:solidFill>
                                      <a:latin typeface="Cambria Math" panose="02040503050406030204" pitchFamily="18" charset="0"/>
                                      <a:ea typeface="SamsungOne 400" panose="020B0503030303020204" pitchFamily="34" charset="0"/>
                                      <a:sym typeface="Symbol"/>
                                    </a:rPr>
                                    <m:t></m:t>
                                  </m:r>
                                </m:e>
                                <m:sub>
                                  <m:r>
                                    <a:rPr lang="en-US" altLang="ko-KR" sz="1600" i="1">
                                      <a:solidFill>
                                        <a:srgbClr val="262626"/>
                                      </a:solidFill>
                                      <a:latin typeface="Cambria Math" panose="02040503050406030204" pitchFamily="18" charset="0"/>
                                      <a:ea typeface="SamsungOne 400" panose="020B0503030303020204" pitchFamily="34" charset="0"/>
                                    </a:rPr>
                                    <m:t>0</m:t>
                                  </m:r>
                                </m:sub>
                              </m:sSub>
                            </m:e>
                            <m:e>
                              <m:sSub>
                                <m:sSubPr>
                                  <m:ctrlPr>
                                    <a:rPr lang="ko-KR" altLang="ko-KR" sz="1600" i="1">
                                      <a:solidFill>
                                        <a:srgbClr val="262626"/>
                                      </a:solidFill>
                                      <a:latin typeface="Cambria Math" panose="02040503050406030204" pitchFamily="18" charset="0"/>
                                      <a:ea typeface="SamsungOne 400" panose="020B0503030303020204" pitchFamily="34" charset="0"/>
                                    </a:rPr>
                                  </m:ctrlPr>
                                </m:sSubPr>
                                <m:e>
                                  <m:r>
                                    <a:rPr lang="en-US" altLang="ko-KR" sz="1600" i="1">
                                      <a:solidFill>
                                        <a:srgbClr val="262626"/>
                                      </a:solidFill>
                                      <a:latin typeface="Cambria Math" panose="02040503050406030204" pitchFamily="18" charset="0"/>
                                      <a:ea typeface="SamsungOne 400" panose="020B0503030303020204" pitchFamily="34" charset="0"/>
                                      <a:sym typeface="Symbol"/>
                                    </a:rPr>
                                    <m:t></m:t>
                                  </m:r>
                                </m:e>
                                <m:sub>
                                  <m:r>
                                    <a:rPr lang="en-US" altLang="ko-KR" sz="1600" i="1">
                                      <a:solidFill>
                                        <a:srgbClr val="262626"/>
                                      </a:solidFill>
                                      <a:latin typeface="Cambria Math" panose="02040503050406030204" pitchFamily="18" charset="0"/>
                                      <a:ea typeface="SamsungOne 400" panose="020B0503030303020204" pitchFamily="34" charset="0"/>
                                    </a:rPr>
                                    <m:t>1</m:t>
                                  </m:r>
                                </m:sub>
                              </m:sSub>
                            </m:e>
                            <m:e>
                              <m:r>
                                <a:rPr lang="en-US" altLang="ko-KR" sz="1600" i="1">
                                  <a:solidFill>
                                    <a:srgbClr val="262626"/>
                                  </a:solidFill>
                                  <a:latin typeface="Cambria Math" panose="02040503050406030204" pitchFamily="18" charset="0"/>
                                  <a:ea typeface="SamsungOne 400" panose="020B0503030303020204" pitchFamily="34" charset="0"/>
                                </a:rPr>
                                <m:t>⋮</m:t>
                              </m:r>
                            </m:e>
                            <m:e>
                              <m:sSub>
                                <m:sSubPr>
                                  <m:ctrlPr>
                                    <a:rPr lang="ko-KR" altLang="ko-KR" sz="1600" i="1">
                                      <a:solidFill>
                                        <a:srgbClr val="262626"/>
                                      </a:solidFill>
                                      <a:latin typeface="Cambria Math" panose="02040503050406030204" pitchFamily="18" charset="0"/>
                                      <a:ea typeface="SamsungOne 400" panose="020B0503030303020204" pitchFamily="34" charset="0"/>
                                    </a:rPr>
                                  </m:ctrlPr>
                                </m:sSubPr>
                                <m:e>
                                  <m:r>
                                    <a:rPr lang="en-US" altLang="ko-KR" sz="1600" i="1">
                                      <a:solidFill>
                                        <a:srgbClr val="262626"/>
                                      </a:solidFill>
                                      <a:latin typeface="Cambria Math" panose="02040503050406030204" pitchFamily="18" charset="0"/>
                                      <a:ea typeface="SamsungOne 400" panose="020B0503030303020204" pitchFamily="34" charset="0"/>
                                      <a:sym typeface="Symbol"/>
                                    </a:rPr>
                                    <m:t></m:t>
                                  </m:r>
                                </m:e>
                                <m:sub>
                                  <m:r>
                                    <a:rPr lang="en-US" altLang="ko-KR" sz="1600" i="1">
                                      <a:solidFill>
                                        <a:srgbClr val="262626"/>
                                      </a:solidFill>
                                      <a:latin typeface="Cambria Math" panose="02040503050406030204" pitchFamily="18" charset="0"/>
                                      <a:ea typeface="SamsungOne 400" panose="020B0503030303020204" pitchFamily="34" charset="0"/>
                                      <a:sym typeface="Symbol"/>
                                    </a:rPr>
                                    <m:t>𝑘</m:t>
                                  </m:r>
                                </m:sub>
                              </m:sSub>
                            </m:e>
                          </m:eqArr>
                        </m:e>
                      </m:d>
                    </m:oMath>
                  </m:oMathPara>
                </a14:m>
                <a:endParaRPr lang="ko-KR" altLang="en-US" sz="1600" i="1" dirty="0">
                  <a:solidFill>
                    <a:srgbClr val="262626"/>
                  </a:solidFill>
                  <a:latin typeface="SamsungOne 400" panose="020B0503030303020204" pitchFamily="34" charset="0"/>
                  <a:ea typeface="SamsungOne 400" panose="020B0503030303020204" pitchFamily="34" charset="0"/>
                </a:endParaRPr>
              </a:p>
            </p:txBody>
          </p:sp>
        </mc:Choice>
        <mc:Fallback xmlns="">
          <p:sp>
            <p:nvSpPr>
              <p:cNvPr id="8" name="Rectangle 8">
                <a:extLst>
                  <a:ext uri="{FF2B5EF4-FFF2-40B4-BE49-F238E27FC236}">
                    <a16:creationId xmlns:a16="http://schemas.microsoft.com/office/drawing/2014/main" id="{D4BE6A4C-35B0-4BDF-B0F9-BDCFCB6541DC}"/>
                  </a:ext>
                </a:extLst>
              </p:cNvPr>
              <p:cNvSpPr>
                <a:spLocks noRot="1" noChangeAspect="1" noMove="1" noResize="1" noEditPoints="1" noAdjustHandles="1" noChangeArrowheads="1" noChangeShapeType="1" noTextEdit="1"/>
              </p:cNvSpPr>
              <p:nvPr/>
            </p:nvSpPr>
            <p:spPr>
              <a:xfrm>
                <a:off x="4951413" y="2161373"/>
                <a:ext cx="900100" cy="1528111"/>
              </a:xfrm>
              <a:prstGeom prst="rect">
                <a:avLst/>
              </a:prstGeom>
              <a:blipFill>
                <a:blip r:embed="rId5"/>
                <a:stretch>
                  <a:fillRect l="-1351"/>
                </a:stretch>
              </a:blipFill>
            </p:spPr>
            <p:txBody>
              <a:bodyPr/>
              <a:lstStyle/>
              <a:p>
                <a:r>
                  <a:rPr lang="ko-KR" altLang="en-US">
                    <a:noFill/>
                  </a:rPr>
                  <a:t> </a:t>
                </a:r>
              </a:p>
            </p:txBody>
          </p:sp>
        </mc:Fallback>
      </mc:AlternateContent>
      <p:cxnSp>
        <p:nvCxnSpPr>
          <p:cNvPr id="9" name="Straight Arrow Connector 13">
            <a:extLst>
              <a:ext uri="{FF2B5EF4-FFF2-40B4-BE49-F238E27FC236}">
                <a16:creationId xmlns:a16="http://schemas.microsoft.com/office/drawing/2014/main" id="{30940E40-6AF4-495F-AAA7-7C60A675B1BD}"/>
              </a:ext>
            </a:extLst>
          </p:cNvPr>
          <p:cNvCxnSpPr/>
          <p:nvPr/>
        </p:nvCxnSpPr>
        <p:spPr>
          <a:xfrm flipV="1">
            <a:off x="5022984" y="2125452"/>
            <a:ext cx="0" cy="828000"/>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447961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Ordinary Least Squares (OLS) solution</a:t>
            </a:r>
          </a:p>
        </p:txBody>
      </p:sp>
      <p:sp>
        <p:nvSpPr>
          <p:cNvPr id="15" name="직사각형 14">
            <a:extLst>
              <a:ext uri="{FF2B5EF4-FFF2-40B4-BE49-F238E27FC236}">
                <a16:creationId xmlns:a16="http://schemas.microsoft.com/office/drawing/2014/main" id="{8E02D1CE-2859-45A1-90B6-A62349DC71E3}"/>
              </a:ext>
            </a:extLst>
          </p:cNvPr>
          <p:cNvSpPr/>
          <p:nvPr/>
        </p:nvSpPr>
        <p:spPr>
          <a:xfrm>
            <a:off x="666750" y="3904549"/>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 compact notation using matrices </a:t>
            </a:r>
          </a:p>
        </p:txBody>
      </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094484C5-2855-44F1-B543-271FC5A64EF4}"/>
                  </a:ext>
                </a:extLst>
              </p:cNvPr>
              <p:cNvSpPr/>
              <p:nvPr/>
            </p:nvSpPr>
            <p:spPr>
              <a:xfrm>
                <a:off x="4221712" y="1786898"/>
                <a:ext cx="1459401" cy="3385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lgn="ctr"/>
                <a14:m>
                  <m:oMathPara xmlns:m="http://schemas.openxmlformats.org/officeDocument/2006/math">
                    <m:oMathParaPr>
                      <m:jc m:val="center"/>
                    </m:oMathParaPr>
                    <m:oMath xmlns:m="http://schemas.openxmlformats.org/officeDocument/2006/math">
                      <m:r>
                        <a:rPr lang="en-US" altLang="ko-KR" sz="1600" dirty="0" smtClean="0">
                          <a:solidFill>
                            <a:schemeClr val="tx1"/>
                          </a:solidFill>
                          <a:latin typeface="Cambria Math" panose="02040503050406030204" pitchFamily="18" charset="0"/>
                        </a:rPr>
                        <m:t>𝒀</m:t>
                      </m:r>
                      <m:r>
                        <a:rPr lang="en-US" altLang="ko-KR" sz="1600">
                          <a:solidFill>
                            <a:schemeClr val="tx1"/>
                          </a:solidFill>
                          <a:latin typeface="Cambria Math" panose="02040503050406030204" pitchFamily="18" charset="0"/>
                        </a:rPr>
                        <m:t>=</m:t>
                      </m:r>
                      <m:r>
                        <a:rPr lang="en-US" altLang="ko-KR" sz="1600" smtClean="0">
                          <a:solidFill>
                            <a:schemeClr val="tx1"/>
                          </a:solidFill>
                          <a:latin typeface="Cambria Math" panose="02040503050406030204" pitchFamily="18" charset="0"/>
                        </a:rPr>
                        <m:t>𝑿</m:t>
                      </m:r>
                      <m:r>
                        <a:rPr lang="en-US" altLang="ko-KR" sz="1600">
                          <a:solidFill>
                            <a:schemeClr val="tx1"/>
                          </a:solidFill>
                          <a:latin typeface="Cambria Math" panose="02040503050406030204" pitchFamily="18" charset="0"/>
                        </a:rPr>
                        <m:t> </m:t>
                      </m:r>
                      <m:r>
                        <a:rPr lang="en-US" altLang="ko-KR" sz="1600" smtClean="0">
                          <a:solidFill>
                            <a:schemeClr val="tx1"/>
                          </a:solidFill>
                          <a:latin typeface="Cambria Math" panose="02040503050406030204" pitchFamily="18" charset="0"/>
                        </a:rPr>
                        <m:t>𝜷</m:t>
                      </m:r>
                      <m:r>
                        <a:rPr lang="en-US" altLang="ko-KR" sz="1600">
                          <a:solidFill>
                            <a:schemeClr val="tx1"/>
                          </a:solidFill>
                          <a:latin typeface="Cambria Math" panose="02040503050406030204" pitchFamily="18" charset="0"/>
                        </a:rPr>
                        <m:t>+</m:t>
                      </m:r>
                      <m:r>
                        <a:rPr lang="en-US" altLang="ko-KR" sz="1600" smtClean="0">
                          <a:solidFill>
                            <a:srgbClr val="FF0000"/>
                          </a:solidFill>
                          <a:latin typeface="Cambria Math" panose="02040503050406030204" pitchFamily="18" charset="0"/>
                        </a:rPr>
                        <m:t>𝜺</m:t>
                      </m:r>
                      <m:r>
                        <m:rPr>
                          <m:nor/>
                        </m:rPr>
                        <a:rPr lang="en-US" altLang="ko-KR" sz="1600" dirty="0">
                          <a:solidFill>
                            <a:schemeClr val="tx1"/>
                          </a:solidFill>
                        </a:rPr>
                        <m:t> </m:t>
                      </m:r>
                    </m:oMath>
                  </m:oMathPara>
                </a14:m>
                <a:endParaRPr lang="en-US" altLang="ko-KR" sz="1600" dirty="0">
                  <a:solidFill>
                    <a:schemeClr val="tx1"/>
                  </a:solidFill>
                </a:endParaRPr>
              </a:p>
            </p:txBody>
          </p:sp>
        </mc:Choice>
        <mc:Fallback xmlns="">
          <p:sp>
            <p:nvSpPr>
              <p:cNvPr id="12" name="직사각형 11">
                <a:extLst>
                  <a:ext uri="{FF2B5EF4-FFF2-40B4-BE49-F238E27FC236}">
                    <a16:creationId xmlns:a16="http://schemas.microsoft.com/office/drawing/2014/main" id="{094484C5-2855-44F1-B543-271FC5A64EF4}"/>
                  </a:ext>
                </a:extLst>
              </p:cNvPr>
              <p:cNvSpPr>
                <a:spLocks noRot="1" noChangeAspect="1" noMove="1" noResize="1" noEditPoints="1" noAdjustHandles="1" noChangeArrowheads="1" noChangeShapeType="1" noTextEdit="1"/>
              </p:cNvSpPr>
              <p:nvPr/>
            </p:nvSpPr>
            <p:spPr>
              <a:xfrm>
                <a:off x="4221712" y="1786898"/>
                <a:ext cx="1459401" cy="338554"/>
              </a:xfrm>
              <a:prstGeom prst="rect">
                <a:avLst/>
              </a:prstGeom>
              <a:blipFill>
                <a:blip r:embed="rId4"/>
                <a:stretch>
                  <a:fillRect b="-8929"/>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Rectangle 8">
                <a:extLst>
                  <a:ext uri="{FF2B5EF4-FFF2-40B4-BE49-F238E27FC236}">
                    <a16:creationId xmlns:a16="http://schemas.microsoft.com/office/drawing/2014/main" id="{D4BE6A4C-35B0-4BDF-B0F9-BDCFCB6541DC}"/>
                  </a:ext>
                </a:extLst>
              </p:cNvPr>
              <p:cNvSpPr/>
              <p:nvPr/>
            </p:nvSpPr>
            <p:spPr>
              <a:xfrm>
                <a:off x="5311889" y="2193785"/>
                <a:ext cx="900100" cy="1463286"/>
              </a:xfrm>
              <a:prstGeom prst="rect">
                <a:avLst/>
              </a:prstGeom>
            </p:spPr>
            <p:txBody>
              <a:bodyPr wrap="square" lIns="0" tIns="0" rIns="0" bIns="0" anchor="ctr" anchorCtr="0">
                <a:spAutoFit/>
                <a:scene3d>
                  <a:camera prst="orthographicFront"/>
                  <a:lightRig rig="threePt" dir="t"/>
                </a:scene3d>
                <a:sp3d>
                  <a:bevelT w="0" h="6350"/>
                </a:sp3d>
              </a:bodyPr>
              <a:lstStyle/>
              <a:p>
                <a:pPr algn="ctr">
                  <a:lnSpc>
                    <a:spcPct val="150000"/>
                  </a:lnSpc>
                  <a:spcBef>
                    <a:spcPts val="1000"/>
                  </a:spcBef>
                  <a:spcAft>
                    <a:spcPts val="800"/>
                  </a:spcAft>
                  <a:buClr>
                    <a:srgbClr val="193EB0"/>
                  </a:buClr>
                  <a:buFont typeface="Arial" panose="020B0604020202020204" pitchFamily="34" charset="0"/>
                  <a:buNone/>
                </a:pPr>
                <a14:m>
                  <m:oMathPara xmlns:m="http://schemas.openxmlformats.org/officeDocument/2006/math">
                    <m:oMathParaPr>
                      <m:jc m:val="left"/>
                    </m:oMathParaPr>
                    <m:oMath xmlns:m="http://schemas.openxmlformats.org/officeDocument/2006/math">
                      <m:r>
                        <a:rPr lang="en-US" altLang="ko-KR" sz="1600" i="1">
                          <a:solidFill>
                            <a:srgbClr val="262626"/>
                          </a:solidFill>
                          <a:latin typeface="Cambria Math" panose="02040503050406030204" pitchFamily="18" charset="0"/>
                          <a:ea typeface="SamsungOne 400" panose="020B0503030303020204" pitchFamily="34" charset="0"/>
                        </a:rPr>
                        <m:t>𝜺</m:t>
                      </m:r>
                      <m:r>
                        <a:rPr lang="en-US" altLang="ko-KR" sz="1600" i="1">
                          <a:solidFill>
                            <a:srgbClr val="262626"/>
                          </a:solidFill>
                          <a:latin typeface="Cambria Math" panose="02040503050406030204" pitchFamily="18" charset="0"/>
                          <a:ea typeface="SamsungOne 400" panose="020B0503030303020204" pitchFamily="34" charset="0"/>
                        </a:rPr>
                        <m:t>=</m:t>
                      </m:r>
                      <m:d>
                        <m:dPr>
                          <m:begChr m:val="["/>
                          <m:endChr m:val="]"/>
                          <m:ctrlPr>
                            <a:rPr lang="en-US" altLang="ko-KR" sz="1600" i="1">
                              <a:solidFill>
                                <a:srgbClr val="262626"/>
                              </a:solidFill>
                              <a:latin typeface="Cambria Math" panose="02040503050406030204" pitchFamily="18" charset="0"/>
                              <a:ea typeface="SamsungOne 400" panose="020B0503030303020204" pitchFamily="34" charset="0"/>
                            </a:rPr>
                          </m:ctrlPr>
                        </m:dPr>
                        <m:e>
                          <m:eqArr>
                            <m:eqArrPr>
                              <m:ctrlPr>
                                <a:rPr lang="ko-KR" altLang="ko-KR" sz="1600" i="1">
                                  <a:solidFill>
                                    <a:srgbClr val="262626"/>
                                  </a:solidFill>
                                  <a:latin typeface="Cambria Math" panose="02040503050406030204" pitchFamily="18" charset="0"/>
                                  <a:ea typeface="SamsungOne 400" panose="020B0503030303020204" pitchFamily="34" charset="0"/>
                                </a:rPr>
                              </m:ctrlPr>
                            </m:eqArrPr>
                            <m:e>
                              <m:sSub>
                                <m:sSubPr>
                                  <m:ctrlPr>
                                    <a:rPr lang="ko-KR" altLang="ko-KR" sz="1600" i="1">
                                      <a:solidFill>
                                        <a:srgbClr val="262626"/>
                                      </a:solidFill>
                                      <a:latin typeface="Cambria Math" panose="02040503050406030204" pitchFamily="18" charset="0"/>
                                      <a:ea typeface="SamsungOne 400" panose="020B0503030303020204" pitchFamily="34" charset="0"/>
                                    </a:rPr>
                                  </m:ctrlPr>
                                </m:sSubPr>
                                <m:e>
                                  <m:r>
                                    <a:rPr lang="en-US" altLang="ko-KR" sz="1600" i="1">
                                      <a:solidFill>
                                        <a:srgbClr val="262626"/>
                                      </a:solidFill>
                                      <a:latin typeface="Cambria Math" panose="02040503050406030204" pitchFamily="18" charset="0"/>
                                      <a:ea typeface="SamsungOne 400" panose="020B0503030303020204" pitchFamily="34" charset="0"/>
                                    </a:rPr>
                                    <m:t>𝜀</m:t>
                                  </m:r>
                                </m:e>
                                <m:sub>
                                  <m:r>
                                    <a:rPr lang="en-US" altLang="ko-KR" sz="1600" i="1">
                                      <a:solidFill>
                                        <a:srgbClr val="262626"/>
                                      </a:solidFill>
                                      <a:latin typeface="Cambria Math" panose="02040503050406030204" pitchFamily="18" charset="0"/>
                                      <a:ea typeface="SamsungOne 400" panose="020B0503030303020204" pitchFamily="34" charset="0"/>
                                    </a:rPr>
                                    <m:t>1</m:t>
                                  </m:r>
                                </m:sub>
                              </m:sSub>
                            </m:e>
                            <m:e>
                              <m:sSub>
                                <m:sSubPr>
                                  <m:ctrlPr>
                                    <a:rPr lang="ko-KR" altLang="ko-KR" sz="1600" i="1">
                                      <a:solidFill>
                                        <a:srgbClr val="262626"/>
                                      </a:solidFill>
                                      <a:latin typeface="Cambria Math" panose="02040503050406030204" pitchFamily="18" charset="0"/>
                                      <a:ea typeface="SamsungOne 400" panose="020B0503030303020204" pitchFamily="34" charset="0"/>
                                    </a:rPr>
                                  </m:ctrlPr>
                                </m:sSubPr>
                                <m:e>
                                  <m:r>
                                    <a:rPr lang="en-US" altLang="ko-KR" sz="1600" i="1">
                                      <a:solidFill>
                                        <a:srgbClr val="262626"/>
                                      </a:solidFill>
                                      <a:latin typeface="Cambria Math" panose="02040503050406030204" pitchFamily="18" charset="0"/>
                                      <a:ea typeface="SamsungOne 400" panose="020B0503030303020204" pitchFamily="34" charset="0"/>
                                    </a:rPr>
                                    <m:t>𝜀</m:t>
                                  </m:r>
                                </m:e>
                                <m:sub>
                                  <m:r>
                                    <a:rPr lang="en-US" altLang="ko-KR" sz="1600" i="1">
                                      <a:solidFill>
                                        <a:srgbClr val="262626"/>
                                      </a:solidFill>
                                      <a:latin typeface="Cambria Math" panose="02040503050406030204" pitchFamily="18" charset="0"/>
                                      <a:ea typeface="SamsungOne 400" panose="020B0503030303020204" pitchFamily="34" charset="0"/>
                                    </a:rPr>
                                    <m:t>2</m:t>
                                  </m:r>
                                </m:sub>
                              </m:sSub>
                            </m:e>
                            <m:e>
                              <m:r>
                                <a:rPr lang="en-US" altLang="ko-KR" sz="1600" i="1">
                                  <a:solidFill>
                                    <a:srgbClr val="262626"/>
                                  </a:solidFill>
                                  <a:latin typeface="Cambria Math" panose="02040503050406030204" pitchFamily="18" charset="0"/>
                                  <a:ea typeface="SamsungOne 400" panose="020B0503030303020204" pitchFamily="34" charset="0"/>
                                </a:rPr>
                                <m:t>⋮</m:t>
                              </m:r>
                            </m:e>
                            <m:e>
                              <m:sSub>
                                <m:sSubPr>
                                  <m:ctrlPr>
                                    <a:rPr lang="ko-KR" altLang="ko-KR" sz="1600" i="1">
                                      <a:solidFill>
                                        <a:srgbClr val="262626"/>
                                      </a:solidFill>
                                      <a:latin typeface="Cambria Math" panose="02040503050406030204" pitchFamily="18" charset="0"/>
                                      <a:ea typeface="SamsungOne 400" panose="020B0503030303020204" pitchFamily="34" charset="0"/>
                                    </a:rPr>
                                  </m:ctrlPr>
                                </m:sSubPr>
                                <m:e>
                                  <m:r>
                                    <a:rPr lang="en-US" altLang="ko-KR" sz="1600" i="1">
                                      <a:solidFill>
                                        <a:srgbClr val="262626"/>
                                      </a:solidFill>
                                      <a:latin typeface="Cambria Math" panose="02040503050406030204" pitchFamily="18" charset="0"/>
                                      <a:ea typeface="SamsungOne 400" panose="020B0503030303020204" pitchFamily="34" charset="0"/>
                                    </a:rPr>
                                    <m:t>𝜀</m:t>
                                  </m:r>
                                </m:e>
                                <m:sub>
                                  <m:r>
                                    <a:rPr lang="en-US" altLang="ko-KR" sz="1600" i="1">
                                      <a:solidFill>
                                        <a:srgbClr val="262626"/>
                                      </a:solidFill>
                                      <a:latin typeface="Cambria Math" panose="02040503050406030204" pitchFamily="18" charset="0"/>
                                      <a:ea typeface="SamsungOne 400" panose="020B0503030303020204" pitchFamily="34" charset="0"/>
                                    </a:rPr>
                                    <m:t>𝑛</m:t>
                                  </m:r>
                                </m:sub>
                              </m:sSub>
                            </m:e>
                          </m:eqArr>
                        </m:e>
                      </m:d>
                    </m:oMath>
                  </m:oMathPara>
                </a14:m>
                <a:endParaRPr lang="ko-KR" altLang="en-US" sz="1600" i="1" dirty="0">
                  <a:solidFill>
                    <a:srgbClr val="262626"/>
                  </a:solidFill>
                  <a:latin typeface="SamsungOne 400" panose="020B0503030303020204" pitchFamily="34" charset="0"/>
                  <a:ea typeface="SamsungOne 400" panose="020B0503030303020204" pitchFamily="34" charset="0"/>
                </a:endParaRPr>
              </a:p>
            </p:txBody>
          </p:sp>
        </mc:Choice>
        <mc:Fallback xmlns="">
          <p:sp>
            <p:nvSpPr>
              <p:cNvPr id="8" name="Rectangle 8">
                <a:extLst>
                  <a:ext uri="{FF2B5EF4-FFF2-40B4-BE49-F238E27FC236}">
                    <a16:creationId xmlns:a16="http://schemas.microsoft.com/office/drawing/2014/main" id="{D4BE6A4C-35B0-4BDF-B0F9-BDCFCB6541DC}"/>
                  </a:ext>
                </a:extLst>
              </p:cNvPr>
              <p:cNvSpPr>
                <a:spLocks noRot="1" noChangeAspect="1" noMove="1" noResize="1" noEditPoints="1" noAdjustHandles="1" noChangeArrowheads="1" noChangeShapeType="1" noTextEdit="1"/>
              </p:cNvSpPr>
              <p:nvPr/>
            </p:nvSpPr>
            <p:spPr>
              <a:xfrm>
                <a:off x="5311889" y="2193785"/>
                <a:ext cx="900100" cy="1463286"/>
              </a:xfrm>
              <a:prstGeom prst="rect">
                <a:avLst/>
              </a:prstGeom>
              <a:blipFill>
                <a:blip r:embed="rId5"/>
                <a:stretch>
                  <a:fillRect l="-676"/>
                </a:stretch>
              </a:blipFill>
            </p:spPr>
            <p:txBody>
              <a:bodyPr/>
              <a:lstStyle/>
              <a:p>
                <a:r>
                  <a:rPr lang="ko-KR" altLang="en-US">
                    <a:noFill/>
                  </a:rPr>
                  <a:t> </a:t>
                </a:r>
              </a:p>
            </p:txBody>
          </p:sp>
        </mc:Fallback>
      </mc:AlternateContent>
      <p:cxnSp>
        <p:nvCxnSpPr>
          <p:cNvPr id="9" name="Straight Arrow Connector 13">
            <a:extLst>
              <a:ext uri="{FF2B5EF4-FFF2-40B4-BE49-F238E27FC236}">
                <a16:creationId xmlns:a16="http://schemas.microsoft.com/office/drawing/2014/main" id="{30940E40-6AF4-495F-AAA7-7C60A675B1BD}"/>
              </a:ext>
            </a:extLst>
          </p:cNvPr>
          <p:cNvCxnSpPr/>
          <p:nvPr/>
        </p:nvCxnSpPr>
        <p:spPr>
          <a:xfrm flipV="1">
            <a:off x="5383460" y="2125452"/>
            <a:ext cx="0" cy="828000"/>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396949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Ordinary Least Squares (OLS) solution</a:t>
            </a:r>
          </a:p>
        </p:txBody>
      </p:sp>
      <p:sp>
        <p:nvSpPr>
          <p:cNvPr id="10" name="직사각형 9">
            <a:extLst>
              <a:ext uri="{FF2B5EF4-FFF2-40B4-BE49-F238E27FC236}">
                <a16:creationId xmlns:a16="http://schemas.microsoft.com/office/drawing/2014/main" id="{E5B73998-95AD-4DF4-A9AB-D07639C34B25}"/>
              </a:ext>
            </a:extLst>
          </p:cNvPr>
          <p:cNvSpPr/>
          <p:nvPr/>
        </p:nvSpPr>
        <p:spPr>
          <a:xfrm>
            <a:off x="671261" y="1700808"/>
            <a:ext cx="863282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As we have an overdetermined system of linear equations, the exact solution does not exist.</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We can minimize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𝜺</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en-US" altLang="ko-KR" sz="1300" baseline="30000" dirty="0">
                <a:solidFill>
                  <a:prstClr val="black">
                    <a:lumMod val="85000"/>
                    <a:lumOff val="15000"/>
                  </a:prstClr>
                </a:solidFill>
                <a:latin typeface="SamsungOne 400" panose="020B0503030303020204" pitchFamily="34" charset="0"/>
                <a:ea typeface="SamsungOne 400" panose="020B0503030303020204" pitchFamily="34" charset="0"/>
              </a:rPr>
              <a:t>2</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and get the “best” solution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𝜷</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minimization condition for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𝜺</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en-US" altLang="ko-KR" sz="1300" baseline="30000" dirty="0">
                <a:solidFill>
                  <a:prstClr val="black">
                    <a:lumMod val="85000"/>
                    <a:lumOff val="15000"/>
                  </a:prstClr>
                </a:solidFill>
                <a:latin typeface="SamsungOne 400" panose="020B0503030303020204" pitchFamily="34" charset="0"/>
                <a:ea typeface="SamsungOne 400" panose="020B0503030303020204" pitchFamily="34" charset="0"/>
              </a:rPr>
              <a:t>2</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 given by the derivative:</a:t>
            </a:r>
          </a:p>
        </p:txBody>
      </p:sp>
      <mc:AlternateContent xmlns:mc="http://schemas.openxmlformats.org/markup-compatibility/2006" xmlns:a14="http://schemas.microsoft.com/office/drawing/2010/main">
        <mc:Choice Requires="a14">
          <p:sp>
            <p:nvSpPr>
              <p:cNvPr id="11" name="직사각형 10">
                <a:extLst>
                  <a:ext uri="{FF2B5EF4-FFF2-40B4-BE49-F238E27FC236}">
                    <a16:creationId xmlns:a16="http://schemas.microsoft.com/office/drawing/2014/main" id="{83C53DF8-07BC-440E-8513-7DE7973BFFB6}"/>
                  </a:ext>
                </a:extLst>
              </p:cNvPr>
              <p:cNvSpPr/>
              <p:nvPr/>
            </p:nvSpPr>
            <p:spPr>
              <a:xfrm>
                <a:off x="4363929" y="2801071"/>
                <a:ext cx="1174965" cy="6279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14:m>
                  <m:oMathPara xmlns:m="http://schemas.openxmlformats.org/officeDocument/2006/math">
                    <m:oMathParaPr>
                      <m:jc m:val="centerGroup"/>
                    </m:oMathParaPr>
                    <m:oMath xmlns:m="http://schemas.openxmlformats.org/officeDocument/2006/math">
                      <m:f>
                        <m:fPr>
                          <m:ctrlPr>
                            <a:rPr lang="ko-KR" altLang="ko-KR" sz="1600" i="1" smtClean="0">
                              <a:solidFill>
                                <a:schemeClr val="tx1"/>
                              </a:solidFill>
                              <a:latin typeface="Cambria Math" panose="02040503050406030204" pitchFamily="18" charset="0"/>
                            </a:rPr>
                          </m:ctrlPr>
                        </m:fPr>
                        <m:num>
                          <m:r>
                            <a:rPr lang="en-US" altLang="ko-KR" sz="1600">
                              <a:solidFill>
                                <a:schemeClr val="tx1"/>
                              </a:solidFill>
                              <a:latin typeface="Cambria Math" panose="02040503050406030204" pitchFamily="18" charset="0"/>
                            </a:rPr>
                            <m:t>𝑑</m:t>
                          </m:r>
                          <m:sSup>
                            <m:sSupPr>
                              <m:ctrlPr>
                                <a:rPr lang="en-US" altLang="ko-KR" sz="1600" i="1">
                                  <a:solidFill>
                                    <a:schemeClr val="tx1"/>
                                  </a:solidFill>
                                  <a:latin typeface="Cambria Math" panose="02040503050406030204" pitchFamily="18" charset="0"/>
                                </a:rPr>
                              </m:ctrlPr>
                            </m:sSupPr>
                            <m:e>
                              <m:d>
                                <m:dPr>
                                  <m:begChr m:val="|"/>
                                  <m:endChr m:val="|"/>
                                  <m:ctrlPr>
                                    <a:rPr lang="en-US" altLang="ko-KR" sz="1600" i="1">
                                      <a:solidFill>
                                        <a:schemeClr val="tx1"/>
                                      </a:solidFill>
                                      <a:latin typeface="Cambria Math" panose="02040503050406030204" pitchFamily="18" charset="0"/>
                                    </a:rPr>
                                  </m:ctrlPr>
                                </m:dPr>
                                <m:e>
                                  <m:r>
                                    <a:rPr lang="ko-KR" altLang="en-US" sz="1600">
                                      <a:solidFill>
                                        <a:schemeClr val="tx1"/>
                                      </a:solidFill>
                                      <a:latin typeface="Cambria Math" panose="02040503050406030204" pitchFamily="18" charset="0"/>
                                    </a:rPr>
                                    <m:t>𝜺</m:t>
                                  </m:r>
                                </m:e>
                              </m:d>
                            </m:e>
                            <m:sup>
                              <m:r>
                                <a:rPr lang="en-US" altLang="ko-KR" sz="1600">
                                  <a:solidFill>
                                    <a:schemeClr val="tx1"/>
                                  </a:solidFill>
                                  <a:latin typeface="Cambria Math" panose="02040503050406030204" pitchFamily="18" charset="0"/>
                                </a:rPr>
                                <m:t>2</m:t>
                              </m:r>
                            </m:sup>
                          </m:sSup>
                        </m:num>
                        <m:den>
                          <m:r>
                            <a:rPr lang="en-US" altLang="ko-KR" sz="1600">
                              <a:solidFill>
                                <a:schemeClr val="tx1"/>
                              </a:solidFill>
                              <a:latin typeface="Cambria Math" panose="02040503050406030204" pitchFamily="18" charset="0"/>
                            </a:rPr>
                            <m:t>𝑑</m:t>
                          </m:r>
                          <m:r>
                            <a:rPr lang="ko-KR" altLang="en-US" sz="1600">
                              <a:solidFill>
                                <a:schemeClr val="tx1"/>
                              </a:solidFill>
                              <a:latin typeface="Cambria Math" panose="02040503050406030204" pitchFamily="18" charset="0"/>
                            </a:rPr>
                            <m:t>𝛽</m:t>
                          </m:r>
                        </m:den>
                      </m:f>
                      <m:r>
                        <a:rPr lang="en-US" altLang="ko-KR" sz="1600">
                          <a:solidFill>
                            <a:schemeClr val="tx1"/>
                          </a:solidFill>
                          <a:latin typeface="Cambria Math" panose="02040503050406030204" pitchFamily="18" charset="0"/>
                        </a:rPr>
                        <m:t>=</m:t>
                      </m:r>
                      <m:r>
                        <a:rPr lang="en-US" altLang="ko-KR" sz="1600">
                          <a:solidFill>
                            <a:srgbClr val="193EB0"/>
                          </a:solidFill>
                          <a:latin typeface="Cambria Math" panose="02040503050406030204" pitchFamily="18" charset="0"/>
                        </a:rPr>
                        <m:t>0</m:t>
                      </m:r>
                    </m:oMath>
                  </m:oMathPara>
                </a14:m>
                <a:endParaRPr lang="ko-KR" altLang="ko-KR" sz="1600" dirty="0"/>
              </a:p>
            </p:txBody>
          </p:sp>
        </mc:Choice>
        <mc:Fallback xmlns="">
          <p:sp>
            <p:nvSpPr>
              <p:cNvPr id="11" name="직사각형 10">
                <a:extLst>
                  <a:ext uri="{FF2B5EF4-FFF2-40B4-BE49-F238E27FC236}">
                    <a16:creationId xmlns:a16="http://schemas.microsoft.com/office/drawing/2014/main" id="{83C53DF8-07BC-440E-8513-7DE7973BFFB6}"/>
                  </a:ext>
                </a:extLst>
              </p:cNvPr>
              <p:cNvSpPr>
                <a:spLocks noRot="1" noChangeAspect="1" noMove="1" noResize="1" noEditPoints="1" noAdjustHandles="1" noChangeArrowheads="1" noChangeShapeType="1" noTextEdit="1"/>
              </p:cNvSpPr>
              <p:nvPr/>
            </p:nvSpPr>
            <p:spPr>
              <a:xfrm>
                <a:off x="4363929" y="2801071"/>
                <a:ext cx="1174965" cy="627929"/>
              </a:xfrm>
              <a:prstGeom prst="rect">
                <a:avLst/>
              </a:prstGeom>
              <a:blipFill>
                <a:blip r:embed="rId4"/>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220536783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Ordinary Least Squares (OLS) solution</a:t>
            </a:r>
          </a:p>
        </p:txBody>
      </p:sp>
      <p:sp>
        <p:nvSpPr>
          <p:cNvPr id="10" name="직사각형 9">
            <a:extLst>
              <a:ext uri="{FF2B5EF4-FFF2-40B4-BE49-F238E27FC236}">
                <a16:creationId xmlns:a16="http://schemas.microsoft.com/office/drawing/2014/main" id="{E5B73998-95AD-4DF4-A9AB-D07639C34B25}"/>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minimization condition for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𝜺</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en-US" altLang="ko-KR" sz="1300" baseline="30000" dirty="0">
                <a:solidFill>
                  <a:prstClr val="black">
                    <a:lumMod val="85000"/>
                    <a:lumOff val="15000"/>
                  </a:prstClr>
                </a:solidFill>
                <a:latin typeface="SamsungOne 400" panose="020B0503030303020204" pitchFamily="34" charset="0"/>
                <a:ea typeface="SamsungOne 400" panose="020B0503030303020204" pitchFamily="34" charset="0"/>
              </a:rPr>
              <a:t>2</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 given by the derivative that can be expanded as following:</a:t>
            </a:r>
          </a:p>
        </p:txBody>
      </p:sp>
      <mc:AlternateContent xmlns:mc="http://schemas.openxmlformats.org/markup-compatibility/2006" xmlns:a14="http://schemas.microsoft.com/office/drawing/2010/main">
        <mc:Choice Requires="a14">
          <p:sp>
            <p:nvSpPr>
              <p:cNvPr id="11" name="직사각형 10">
                <a:extLst>
                  <a:ext uri="{FF2B5EF4-FFF2-40B4-BE49-F238E27FC236}">
                    <a16:creationId xmlns:a16="http://schemas.microsoft.com/office/drawing/2014/main" id="{83C53DF8-07BC-440E-8513-7DE7973BFFB6}"/>
                  </a:ext>
                </a:extLst>
              </p:cNvPr>
              <p:cNvSpPr/>
              <p:nvPr/>
            </p:nvSpPr>
            <p:spPr>
              <a:xfrm>
                <a:off x="2238941" y="2201479"/>
                <a:ext cx="5088735" cy="26842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rtlCol="0" anchor="ctr" anchorCtr="0">
                <a:spAutoFit/>
              </a:bodyPr>
              <a:lstStyle/>
              <a:p>
                <a:pP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ko-KR" altLang="ko-KR" sz="1600" i="1" smtClean="0">
                              <a:solidFill>
                                <a:schemeClr val="tx1">
                                  <a:lumMod val="85000"/>
                                  <a:lumOff val="15000"/>
                                </a:schemeClr>
                              </a:solidFill>
                              <a:latin typeface="Cambria Math" panose="02040503050406030204" pitchFamily="18" charset="0"/>
                            </a:rPr>
                          </m:ctrlPr>
                        </m:fPr>
                        <m:num>
                          <m:r>
                            <a:rPr lang="en-US" altLang="ko-KR" sz="1600">
                              <a:solidFill>
                                <a:schemeClr val="tx1">
                                  <a:lumMod val="85000"/>
                                  <a:lumOff val="15000"/>
                                </a:schemeClr>
                              </a:solidFill>
                              <a:latin typeface="Cambria Math" panose="02040503050406030204" pitchFamily="18" charset="0"/>
                            </a:rPr>
                            <m:t>𝑑</m:t>
                          </m:r>
                          <m:sSup>
                            <m:sSupPr>
                              <m:ctrlPr>
                                <a:rPr lang="en-US" altLang="ko-KR" sz="1600" i="1">
                                  <a:solidFill>
                                    <a:schemeClr val="tx1">
                                      <a:lumMod val="85000"/>
                                      <a:lumOff val="15000"/>
                                    </a:schemeClr>
                                  </a:solidFill>
                                  <a:latin typeface="Cambria Math" panose="02040503050406030204" pitchFamily="18" charset="0"/>
                                </a:rPr>
                              </m:ctrlPr>
                            </m:sSupPr>
                            <m:e>
                              <m:d>
                                <m:dPr>
                                  <m:begChr m:val="|"/>
                                  <m:endChr m:val="|"/>
                                  <m:ctrlPr>
                                    <a:rPr lang="en-US" altLang="ko-KR" sz="1600" i="1">
                                      <a:solidFill>
                                        <a:schemeClr val="tx1">
                                          <a:lumMod val="85000"/>
                                          <a:lumOff val="15000"/>
                                        </a:schemeClr>
                                      </a:solidFill>
                                      <a:latin typeface="Cambria Math" panose="02040503050406030204" pitchFamily="18" charset="0"/>
                                    </a:rPr>
                                  </m:ctrlPr>
                                </m:dPr>
                                <m:e>
                                  <m:r>
                                    <a:rPr lang="ko-KR" altLang="en-US" sz="1600">
                                      <a:solidFill>
                                        <a:schemeClr val="tx1">
                                          <a:lumMod val="85000"/>
                                          <a:lumOff val="15000"/>
                                        </a:schemeClr>
                                      </a:solidFill>
                                      <a:latin typeface="Cambria Math" panose="02040503050406030204" pitchFamily="18" charset="0"/>
                                    </a:rPr>
                                    <m:t>𝜺</m:t>
                                  </m:r>
                                </m:e>
                              </m:d>
                            </m:e>
                            <m:sup>
                              <m:r>
                                <a:rPr lang="en-US" altLang="ko-KR" sz="1600">
                                  <a:solidFill>
                                    <a:schemeClr val="tx1">
                                      <a:lumMod val="85000"/>
                                      <a:lumOff val="15000"/>
                                    </a:schemeClr>
                                  </a:solidFill>
                                  <a:latin typeface="Cambria Math" panose="02040503050406030204" pitchFamily="18" charset="0"/>
                                </a:rPr>
                                <m:t>2</m:t>
                              </m:r>
                            </m:sup>
                          </m:sSup>
                        </m:num>
                        <m:den>
                          <m:r>
                            <a:rPr lang="en-US" altLang="ko-KR" sz="1600">
                              <a:solidFill>
                                <a:schemeClr val="tx1">
                                  <a:lumMod val="85000"/>
                                  <a:lumOff val="15000"/>
                                </a:schemeClr>
                              </a:solidFill>
                              <a:latin typeface="Cambria Math" panose="02040503050406030204" pitchFamily="18" charset="0"/>
                            </a:rPr>
                            <m:t>𝑑</m:t>
                          </m:r>
                          <m:r>
                            <a:rPr lang="ko-KR" altLang="en-US" sz="1600">
                              <a:solidFill>
                                <a:schemeClr val="tx1">
                                  <a:lumMod val="85000"/>
                                  <a:lumOff val="15000"/>
                                </a:schemeClr>
                              </a:solidFill>
                              <a:latin typeface="Cambria Math" panose="02040503050406030204" pitchFamily="18" charset="0"/>
                            </a:rPr>
                            <m:t>𝛽</m:t>
                          </m:r>
                        </m:den>
                      </m:f>
                      <m:r>
                        <a:rPr lang="en-US" altLang="ko-KR" sz="1600">
                          <a:solidFill>
                            <a:schemeClr val="tx1">
                              <a:lumMod val="85000"/>
                              <a:lumOff val="15000"/>
                            </a:schemeClr>
                          </a:solidFill>
                          <a:latin typeface="Cambria Math" panose="02040503050406030204" pitchFamily="18" charset="0"/>
                        </a:rPr>
                        <m:t>=</m:t>
                      </m:r>
                      <m:f>
                        <m:fPr>
                          <m:ctrlPr>
                            <a:rPr lang="ko-KR" altLang="ko-KR" sz="1600" i="1">
                              <a:solidFill>
                                <a:schemeClr val="tx1">
                                  <a:lumMod val="85000"/>
                                  <a:lumOff val="15000"/>
                                </a:schemeClr>
                              </a:solidFill>
                              <a:latin typeface="Cambria Math" panose="02040503050406030204" pitchFamily="18" charset="0"/>
                            </a:rPr>
                          </m:ctrlPr>
                        </m:fPr>
                        <m:num>
                          <m:r>
                            <a:rPr lang="en-US" altLang="ko-KR" sz="1600">
                              <a:solidFill>
                                <a:schemeClr val="tx1">
                                  <a:lumMod val="85000"/>
                                  <a:lumOff val="15000"/>
                                </a:schemeClr>
                              </a:solidFill>
                              <a:latin typeface="Cambria Math" panose="02040503050406030204" pitchFamily="18" charset="0"/>
                            </a:rPr>
                            <m:t>𝑑</m:t>
                          </m:r>
                          <m:sSup>
                            <m:sSupPr>
                              <m:ctrlPr>
                                <a:rPr lang="en-US" altLang="ko-KR" sz="1600" i="1">
                                  <a:solidFill>
                                    <a:schemeClr val="tx1">
                                      <a:lumMod val="85000"/>
                                      <a:lumOff val="15000"/>
                                    </a:schemeClr>
                                  </a:solidFill>
                                  <a:latin typeface="Cambria Math" panose="02040503050406030204" pitchFamily="18" charset="0"/>
                                </a:rPr>
                              </m:ctrlPr>
                            </m:sSupPr>
                            <m:e>
                              <m:d>
                                <m:dPr>
                                  <m:begChr m:val="|"/>
                                  <m:endChr m:val="|"/>
                                  <m:ctrlPr>
                                    <a:rPr lang="en-US" altLang="ko-KR" sz="1600" i="1">
                                      <a:solidFill>
                                        <a:schemeClr val="tx1">
                                          <a:lumMod val="85000"/>
                                          <a:lumOff val="15000"/>
                                        </a:schemeClr>
                                      </a:solidFill>
                                      <a:latin typeface="Cambria Math" panose="02040503050406030204" pitchFamily="18" charset="0"/>
                                    </a:rPr>
                                  </m:ctrlPr>
                                </m:dPr>
                                <m:e>
                                  <m:r>
                                    <a:rPr lang="en-US" altLang="ko-KR" sz="1600">
                                      <a:solidFill>
                                        <a:schemeClr val="tx1">
                                          <a:lumMod val="85000"/>
                                          <a:lumOff val="15000"/>
                                        </a:schemeClr>
                                      </a:solidFill>
                                      <a:latin typeface="Cambria Math" panose="02040503050406030204" pitchFamily="18" charset="0"/>
                                    </a:rPr>
                                    <m:t>𝒀</m:t>
                                  </m:r>
                                  <m:r>
                                    <a:rPr lang="en-US" altLang="ko-KR" sz="1600">
                                      <a:solidFill>
                                        <a:schemeClr val="tx1">
                                          <a:lumMod val="85000"/>
                                          <a:lumOff val="15000"/>
                                        </a:schemeClr>
                                      </a:solidFill>
                                      <a:latin typeface="Cambria Math" panose="02040503050406030204" pitchFamily="18" charset="0"/>
                                    </a:rPr>
                                    <m:t>−</m:t>
                                  </m:r>
                                  <m:r>
                                    <a:rPr lang="en-US" altLang="ko-KR" sz="1600">
                                      <a:solidFill>
                                        <a:schemeClr val="tx1">
                                          <a:lumMod val="85000"/>
                                          <a:lumOff val="15000"/>
                                        </a:schemeClr>
                                      </a:solidFill>
                                      <a:latin typeface="Cambria Math" panose="02040503050406030204" pitchFamily="18" charset="0"/>
                                    </a:rPr>
                                    <m:t>𝑿</m:t>
                                  </m:r>
                                  <m:r>
                                    <a:rPr lang="en-US" altLang="ko-KR" sz="1600">
                                      <a:solidFill>
                                        <a:schemeClr val="tx1">
                                          <a:lumMod val="85000"/>
                                          <a:lumOff val="15000"/>
                                        </a:schemeClr>
                                      </a:solidFill>
                                      <a:latin typeface="Cambria Math" panose="02040503050406030204" pitchFamily="18" charset="0"/>
                                    </a:rPr>
                                    <m:t>𝜷</m:t>
                                  </m:r>
                                </m:e>
                              </m:d>
                            </m:e>
                            <m:sup>
                              <m:r>
                                <a:rPr lang="en-US" altLang="ko-KR" sz="1600">
                                  <a:solidFill>
                                    <a:schemeClr val="tx1">
                                      <a:lumMod val="85000"/>
                                      <a:lumOff val="15000"/>
                                    </a:schemeClr>
                                  </a:solidFill>
                                  <a:latin typeface="Cambria Math" panose="02040503050406030204" pitchFamily="18" charset="0"/>
                                </a:rPr>
                                <m:t>2</m:t>
                              </m:r>
                            </m:sup>
                          </m:sSup>
                        </m:num>
                        <m:den>
                          <m:r>
                            <a:rPr lang="en-US" altLang="ko-KR" sz="1600">
                              <a:solidFill>
                                <a:schemeClr val="tx1">
                                  <a:lumMod val="85000"/>
                                  <a:lumOff val="15000"/>
                                </a:schemeClr>
                              </a:solidFill>
                              <a:latin typeface="Cambria Math" panose="02040503050406030204" pitchFamily="18" charset="0"/>
                            </a:rPr>
                            <m:t>𝑑</m:t>
                          </m:r>
                          <m:r>
                            <a:rPr lang="en-US" altLang="ko-KR" sz="1600">
                              <a:solidFill>
                                <a:schemeClr val="tx1">
                                  <a:lumMod val="85000"/>
                                  <a:lumOff val="15000"/>
                                </a:schemeClr>
                              </a:solidFill>
                              <a:latin typeface="Cambria Math" panose="02040503050406030204" pitchFamily="18" charset="0"/>
                            </a:rPr>
                            <m:t>𝛽</m:t>
                          </m:r>
                        </m:den>
                      </m:f>
                      <m:r>
                        <a:rPr lang="en-US" altLang="ko-KR" sz="1600">
                          <a:solidFill>
                            <a:schemeClr val="tx1">
                              <a:lumMod val="85000"/>
                              <a:lumOff val="15000"/>
                            </a:schemeClr>
                          </a:solidFill>
                          <a:latin typeface="Cambria Math" panose="02040503050406030204" pitchFamily="18" charset="0"/>
                        </a:rPr>
                        <m:t>                                  </m:t>
                      </m:r>
                    </m:oMath>
                  </m:oMathPara>
                </a14:m>
                <a:endParaRPr lang="en-US" altLang="ko-KR" sz="1600" dirty="0">
                  <a:solidFill>
                    <a:schemeClr val="tx1">
                      <a:lumMod val="85000"/>
                      <a:lumOff val="15000"/>
                    </a:schemeClr>
                  </a:solidFill>
                </a:endParaRPr>
              </a:p>
              <a:p>
                <a:pPr>
                  <a:lnSpc>
                    <a:spcPct val="100000"/>
                  </a:lnSpc>
                  <a:spcBef>
                    <a:spcPts val="0"/>
                  </a:spcBef>
                  <a:spcAft>
                    <a:spcPts val="0"/>
                  </a:spcAft>
                </a:pPr>
                <a:endParaRPr lang="ko-KR" altLang="ko-KR" sz="1600" dirty="0">
                  <a:solidFill>
                    <a:schemeClr val="tx1">
                      <a:lumMod val="85000"/>
                      <a:lumOff val="15000"/>
                    </a:schemeClr>
                  </a:solidFill>
                </a:endParaRPr>
              </a:p>
              <a:p>
                <a:pP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altLang="ko-KR" sz="1600" smtClean="0">
                          <a:solidFill>
                            <a:schemeClr val="tx1">
                              <a:lumMod val="85000"/>
                              <a:lumOff val="15000"/>
                            </a:schemeClr>
                          </a:solidFill>
                          <a:latin typeface="Cambria Math" panose="02040503050406030204" pitchFamily="18" charset="0"/>
                        </a:rPr>
                        <m:t>=</m:t>
                      </m:r>
                      <m:f>
                        <m:fPr>
                          <m:ctrlPr>
                            <a:rPr lang="ko-KR" altLang="ko-KR" sz="1600" i="1">
                              <a:solidFill>
                                <a:schemeClr val="tx1">
                                  <a:lumMod val="85000"/>
                                  <a:lumOff val="15000"/>
                                </a:schemeClr>
                              </a:solidFill>
                              <a:latin typeface="Cambria Math" panose="02040503050406030204" pitchFamily="18" charset="0"/>
                            </a:rPr>
                          </m:ctrlPr>
                        </m:fPr>
                        <m:num>
                          <m:r>
                            <a:rPr lang="en-US" altLang="ko-KR" sz="1600">
                              <a:solidFill>
                                <a:schemeClr val="tx1">
                                  <a:lumMod val="85000"/>
                                  <a:lumOff val="15000"/>
                                </a:schemeClr>
                              </a:solidFill>
                              <a:latin typeface="Cambria Math" panose="02040503050406030204" pitchFamily="18" charset="0"/>
                            </a:rPr>
                            <m:t>𝑑</m:t>
                          </m:r>
                          <m:d>
                            <m:dPr>
                              <m:begChr m:val="{"/>
                              <m:endChr m:val="}"/>
                              <m:ctrlPr>
                                <a:rPr lang="ko-KR" altLang="ko-KR" sz="1600" i="1">
                                  <a:solidFill>
                                    <a:schemeClr val="tx1">
                                      <a:lumMod val="85000"/>
                                      <a:lumOff val="15000"/>
                                    </a:schemeClr>
                                  </a:solidFill>
                                  <a:latin typeface="Cambria Math" panose="02040503050406030204" pitchFamily="18" charset="0"/>
                                </a:rPr>
                              </m:ctrlPr>
                            </m:dPr>
                            <m:e>
                              <m:sSup>
                                <m:sSupPr>
                                  <m:ctrlPr>
                                    <a:rPr lang="ko-KR" altLang="ko-KR" sz="1600" i="1">
                                      <a:solidFill>
                                        <a:schemeClr val="tx1">
                                          <a:lumMod val="85000"/>
                                          <a:lumOff val="15000"/>
                                        </a:schemeClr>
                                      </a:solidFill>
                                      <a:latin typeface="Cambria Math" panose="02040503050406030204" pitchFamily="18" charset="0"/>
                                    </a:rPr>
                                  </m:ctrlPr>
                                </m:sSupPr>
                                <m:e>
                                  <m:d>
                                    <m:dPr>
                                      <m:ctrlPr>
                                        <a:rPr lang="ko-KR" altLang="ko-KR" sz="1600" i="1">
                                          <a:solidFill>
                                            <a:schemeClr val="tx1">
                                              <a:lumMod val="85000"/>
                                              <a:lumOff val="15000"/>
                                            </a:schemeClr>
                                          </a:solidFill>
                                          <a:latin typeface="Cambria Math" panose="02040503050406030204" pitchFamily="18" charset="0"/>
                                        </a:rPr>
                                      </m:ctrlPr>
                                    </m:dPr>
                                    <m:e>
                                      <m:r>
                                        <a:rPr lang="en-US" altLang="ko-KR" sz="1600">
                                          <a:solidFill>
                                            <a:schemeClr val="tx1">
                                              <a:lumMod val="85000"/>
                                              <a:lumOff val="15000"/>
                                            </a:schemeClr>
                                          </a:solidFill>
                                          <a:latin typeface="Cambria Math" panose="02040503050406030204" pitchFamily="18" charset="0"/>
                                        </a:rPr>
                                        <m:t>𝒀</m:t>
                                      </m:r>
                                      <m:r>
                                        <a:rPr lang="en-US" altLang="ko-KR" sz="1600">
                                          <a:solidFill>
                                            <a:schemeClr val="tx1">
                                              <a:lumMod val="85000"/>
                                              <a:lumOff val="15000"/>
                                            </a:schemeClr>
                                          </a:solidFill>
                                          <a:latin typeface="Cambria Math" panose="02040503050406030204" pitchFamily="18" charset="0"/>
                                        </a:rPr>
                                        <m:t>−</m:t>
                                      </m:r>
                                      <m:r>
                                        <a:rPr lang="en-US" altLang="ko-KR" sz="1600">
                                          <a:solidFill>
                                            <a:schemeClr val="tx1">
                                              <a:lumMod val="85000"/>
                                              <a:lumOff val="15000"/>
                                            </a:schemeClr>
                                          </a:solidFill>
                                          <a:latin typeface="Cambria Math" panose="02040503050406030204" pitchFamily="18" charset="0"/>
                                        </a:rPr>
                                        <m:t>𝑿</m:t>
                                      </m:r>
                                      <m:r>
                                        <a:rPr lang="en-US" altLang="ko-KR" sz="1600">
                                          <a:solidFill>
                                            <a:schemeClr val="tx1">
                                              <a:lumMod val="85000"/>
                                              <a:lumOff val="15000"/>
                                            </a:schemeClr>
                                          </a:solidFill>
                                          <a:latin typeface="Cambria Math" panose="02040503050406030204" pitchFamily="18" charset="0"/>
                                        </a:rPr>
                                        <m:t>𝜷</m:t>
                                      </m:r>
                                    </m:e>
                                  </m:d>
                                </m:e>
                                <m:sup>
                                  <m:r>
                                    <a:rPr lang="en-US" altLang="ko-KR" sz="1600" b="0" i="1" smtClean="0">
                                      <a:solidFill>
                                        <a:schemeClr val="tx1">
                                          <a:lumMod val="85000"/>
                                          <a:lumOff val="15000"/>
                                        </a:schemeClr>
                                      </a:solidFill>
                                      <a:latin typeface="Cambria Math" panose="02040503050406030204" pitchFamily="18" charset="0"/>
                                    </a:rPr>
                                    <m:t>𝑇</m:t>
                                  </m:r>
                                </m:sup>
                              </m:sSup>
                              <m:d>
                                <m:dPr>
                                  <m:ctrlPr>
                                    <a:rPr lang="ko-KR" altLang="ko-KR" sz="1600" i="1">
                                      <a:solidFill>
                                        <a:schemeClr val="tx1">
                                          <a:lumMod val="85000"/>
                                          <a:lumOff val="15000"/>
                                        </a:schemeClr>
                                      </a:solidFill>
                                      <a:latin typeface="Cambria Math" panose="02040503050406030204" pitchFamily="18" charset="0"/>
                                    </a:rPr>
                                  </m:ctrlPr>
                                </m:dPr>
                                <m:e>
                                  <m:r>
                                    <a:rPr lang="en-US" altLang="ko-KR" sz="1600">
                                      <a:solidFill>
                                        <a:schemeClr val="tx1">
                                          <a:lumMod val="85000"/>
                                          <a:lumOff val="15000"/>
                                        </a:schemeClr>
                                      </a:solidFill>
                                      <a:latin typeface="Cambria Math" panose="02040503050406030204" pitchFamily="18" charset="0"/>
                                    </a:rPr>
                                    <m:t>𝒀</m:t>
                                  </m:r>
                                  <m:r>
                                    <a:rPr lang="en-US" altLang="ko-KR" sz="1600">
                                      <a:solidFill>
                                        <a:schemeClr val="tx1">
                                          <a:lumMod val="85000"/>
                                          <a:lumOff val="15000"/>
                                        </a:schemeClr>
                                      </a:solidFill>
                                      <a:latin typeface="Cambria Math" panose="02040503050406030204" pitchFamily="18" charset="0"/>
                                    </a:rPr>
                                    <m:t>−</m:t>
                                  </m:r>
                                  <m:r>
                                    <a:rPr lang="en-US" altLang="ko-KR" sz="1600">
                                      <a:solidFill>
                                        <a:schemeClr val="tx1">
                                          <a:lumMod val="85000"/>
                                          <a:lumOff val="15000"/>
                                        </a:schemeClr>
                                      </a:solidFill>
                                      <a:latin typeface="Cambria Math" panose="02040503050406030204" pitchFamily="18" charset="0"/>
                                    </a:rPr>
                                    <m:t>𝑿</m:t>
                                  </m:r>
                                  <m:r>
                                    <a:rPr lang="en-US" altLang="ko-KR" sz="1600">
                                      <a:solidFill>
                                        <a:schemeClr val="tx1">
                                          <a:lumMod val="85000"/>
                                          <a:lumOff val="15000"/>
                                        </a:schemeClr>
                                      </a:solidFill>
                                      <a:latin typeface="Cambria Math" panose="02040503050406030204" pitchFamily="18" charset="0"/>
                                    </a:rPr>
                                    <m:t>𝜷</m:t>
                                  </m:r>
                                </m:e>
                              </m:d>
                            </m:e>
                          </m:d>
                        </m:num>
                        <m:den>
                          <m:r>
                            <a:rPr lang="en-US" altLang="ko-KR" sz="1600">
                              <a:solidFill>
                                <a:schemeClr val="tx1">
                                  <a:lumMod val="85000"/>
                                  <a:lumOff val="15000"/>
                                </a:schemeClr>
                              </a:solidFill>
                              <a:latin typeface="Cambria Math" panose="02040503050406030204" pitchFamily="18" charset="0"/>
                            </a:rPr>
                            <m:t>𝑑</m:t>
                          </m:r>
                          <m:r>
                            <a:rPr lang="en-US" altLang="ko-KR" sz="1600">
                              <a:solidFill>
                                <a:schemeClr val="tx1">
                                  <a:lumMod val="85000"/>
                                  <a:lumOff val="15000"/>
                                </a:schemeClr>
                              </a:solidFill>
                              <a:latin typeface="Cambria Math" panose="02040503050406030204" pitchFamily="18" charset="0"/>
                            </a:rPr>
                            <m:t>𝛽</m:t>
                          </m:r>
                        </m:den>
                      </m:f>
                    </m:oMath>
                  </m:oMathPara>
                </a14:m>
                <a:endParaRPr lang="en-US" altLang="ko-KR" sz="1600" dirty="0">
                  <a:solidFill>
                    <a:schemeClr val="tx1">
                      <a:lumMod val="85000"/>
                      <a:lumOff val="15000"/>
                    </a:schemeClr>
                  </a:solidFill>
                </a:endParaRPr>
              </a:p>
              <a:p>
                <a:pPr>
                  <a:lnSpc>
                    <a:spcPct val="100000"/>
                  </a:lnSpc>
                  <a:spcBef>
                    <a:spcPts val="0"/>
                  </a:spcBef>
                  <a:spcAft>
                    <a:spcPts val="0"/>
                  </a:spcAft>
                </a:pPr>
                <a:endParaRPr lang="ko-KR" altLang="ko-KR" sz="1600" dirty="0">
                  <a:solidFill>
                    <a:schemeClr val="tx1">
                      <a:lumMod val="85000"/>
                      <a:lumOff val="15000"/>
                    </a:schemeClr>
                  </a:solidFill>
                </a:endParaRPr>
              </a:p>
              <a:p>
                <a:pP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altLang="ko-KR" sz="1600" b="0" i="0" smtClean="0">
                          <a:solidFill>
                            <a:schemeClr val="tx1">
                              <a:lumMod val="85000"/>
                              <a:lumOff val="15000"/>
                            </a:schemeClr>
                          </a:solidFill>
                          <a:latin typeface="Cambria Math" panose="02040503050406030204" pitchFamily="18" charset="0"/>
                        </a:rPr>
                        <m:t>  </m:t>
                      </m:r>
                      <m:r>
                        <a:rPr lang="en-US" altLang="ko-KR" sz="1600">
                          <a:solidFill>
                            <a:schemeClr val="tx1">
                              <a:lumMod val="85000"/>
                              <a:lumOff val="15000"/>
                            </a:schemeClr>
                          </a:solidFill>
                          <a:latin typeface="Cambria Math" panose="02040503050406030204" pitchFamily="18" charset="0"/>
                        </a:rPr>
                        <m:t>           </m:t>
                      </m:r>
                      <m:r>
                        <a:rPr lang="en-US" altLang="ko-KR" sz="1600" b="0" i="0" smtClean="0">
                          <a:solidFill>
                            <a:schemeClr val="tx1">
                              <a:lumMod val="85000"/>
                              <a:lumOff val="15000"/>
                            </a:schemeClr>
                          </a:solidFill>
                          <a:latin typeface="Cambria Math" panose="02040503050406030204" pitchFamily="18" charset="0"/>
                        </a:rPr>
                        <m:t> </m:t>
                      </m:r>
                      <m:r>
                        <a:rPr lang="en-US" altLang="ko-KR" sz="1600">
                          <a:solidFill>
                            <a:schemeClr val="tx1">
                              <a:lumMod val="85000"/>
                              <a:lumOff val="15000"/>
                            </a:schemeClr>
                          </a:solidFill>
                          <a:latin typeface="Cambria Math" panose="02040503050406030204" pitchFamily="18" charset="0"/>
                        </a:rPr>
                        <m:t>             =</m:t>
                      </m:r>
                      <m:f>
                        <m:fPr>
                          <m:ctrlPr>
                            <a:rPr lang="ko-KR" altLang="ko-KR" sz="1600" i="1">
                              <a:solidFill>
                                <a:schemeClr val="tx1">
                                  <a:lumMod val="85000"/>
                                  <a:lumOff val="15000"/>
                                </a:schemeClr>
                              </a:solidFill>
                              <a:latin typeface="Cambria Math" panose="02040503050406030204" pitchFamily="18" charset="0"/>
                            </a:rPr>
                          </m:ctrlPr>
                        </m:fPr>
                        <m:num>
                          <m:r>
                            <a:rPr lang="en-US" altLang="ko-KR" sz="1600">
                              <a:solidFill>
                                <a:schemeClr val="tx1">
                                  <a:lumMod val="85000"/>
                                  <a:lumOff val="15000"/>
                                </a:schemeClr>
                              </a:solidFill>
                              <a:latin typeface="Cambria Math" panose="02040503050406030204" pitchFamily="18" charset="0"/>
                            </a:rPr>
                            <m:t>𝑑</m:t>
                          </m:r>
                          <m:d>
                            <m:dPr>
                              <m:begChr m:val="{"/>
                              <m:endChr m:val="}"/>
                              <m:ctrlPr>
                                <a:rPr lang="ko-KR" altLang="ko-KR" sz="1600" i="1">
                                  <a:solidFill>
                                    <a:schemeClr val="tx1">
                                      <a:lumMod val="85000"/>
                                      <a:lumOff val="15000"/>
                                    </a:schemeClr>
                                  </a:solidFill>
                                  <a:latin typeface="Cambria Math" panose="02040503050406030204" pitchFamily="18" charset="0"/>
                                </a:rPr>
                              </m:ctrlPr>
                            </m:dPr>
                            <m:e>
                              <m:sSup>
                                <m:sSupPr>
                                  <m:ctrlPr>
                                    <a:rPr lang="ko-KR" altLang="ko-KR" sz="1600" i="1">
                                      <a:solidFill>
                                        <a:schemeClr val="tx1">
                                          <a:lumMod val="85000"/>
                                          <a:lumOff val="15000"/>
                                        </a:schemeClr>
                                      </a:solidFill>
                                      <a:latin typeface="Cambria Math" panose="02040503050406030204" pitchFamily="18" charset="0"/>
                                    </a:rPr>
                                  </m:ctrlPr>
                                </m:sSupPr>
                                <m:e>
                                  <m:r>
                                    <a:rPr lang="en-US" altLang="ko-KR" sz="1600">
                                      <a:solidFill>
                                        <a:schemeClr val="tx1">
                                          <a:lumMod val="85000"/>
                                          <a:lumOff val="15000"/>
                                        </a:schemeClr>
                                      </a:solidFill>
                                      <a:latin typeface="Cambria Math" panose="02040503050406030204" pitchFamily="18" charset="0"/>
                                    </a:rPr>
                                    <m:t>𝒀</m:t>
                                  </m:r>
                                </m:e>
                                <m:sup>
                                  <m:r>
                                    <a:rPr lang="en-US" altLang="ko-KR" sz="1600" b="0" i="1" smtClean="0">
                                      <a:solidFill>
                                        <a:schemeClr val="tx1">
                                          <a:lumMod val="85000"/>
                                          <a:lumOff val="15000"/>
                                        </a:schemeClr>
                                      </a:solidFill>
                                      <a:latin typeface="Cambria Math" panose="02040503050406030204" pitchFamily="18" charset="0"/>
                                    </a:rPr>
                                    <m:t>𝑇</m:t>
                                  </m:r>
                                </m:sup>
                              </m:sSup>
                              <m:r>
                                <a:rPr lang="en-US" altLang="ko-KR" sz="1600">
                                  <a:solidFill>
                                    <a:schemeClr val="tx1">
                                      <a:lumMod val="85000"/>
                                      <a:lumOff val="15000"/>
                                    </a:schemeClr>
                                  </a:solidFill>
                                  <a:latin typeface="Cambria Math" panose="02040503050406030204" pitchFamily="18" charset="0"/>
                                </a:rPr>
                                <m:t>𝒀</m:t>
                              </m:r>
                              <m:r>
                                <a:rPr lang="en-US" altLang="ko-KR" sz="1600">
                                  <a:solidFill>
                                    <a:schemeClr val="tx1">
                                      <a:lumMod val="85000"/>
                                      <a:lumOff val="15000"/>
                                    </a:schemeClr>
                                  </a:solidFill>
                                  <a:latin typeface="Cambria Math" panose="02040503050406030204" pitchFamily="18" charset="0"/>
                                </a:rPr>
                                <m:t>−</m:t>
                              </m:r>
                              <m:sSup>
                                <m:sSupPr>
                                  <m:ctrlPr>
                                    <a:rPr lang="ko-KR" altLang="ko-KR" sz="1600" i="1">
                                      <a:solidFill>
                                        <a:schemeClr val="tx1">
                                          <a:lumMod val="85000"/>
                                          <a:lumOff val="15000"/>
                                        </a:schemeClr>
                                      </a:solidFill>
                                      <a:latin typeface="Cambria Math" panose="02040503050406030204" pitchFamily="18" charset="0"/>
                                    </a:rPr>
                                  </m:ctrlPr>
                                </m:sSupPr>
                                <m:e>
                                  <m:r>
                                    <a:rPr lang="ko-KR" altLang="en-US" sz="1600">
                                      <a:solidFill>
                                        <a:schemeClr val="tx1">
                                          <a:lumMod val="85000"/>
                                          <a:lumOff val="15000"/>
                                        </a:schemeClr>
                                      </a:solidFill>
                                      <a:latin typeface="Cambria Math" panose="02040503050406030204" pitchFamily="18" charset="0"/>
                                    </a:rPr>
                                    <m:t>𝜷</m:t>
                                  </m:r>
                                </m:e>
                                <m:sup>
                                  <m:r>
                                    <a:rPr lang="en-US" altLang="ko-KR" sz="1600" b="0" i="1" smtClean="0">
                                      <a:solidFill>
                                        <a:schemeClr val="tx1">
                                          <a:lumMod val="85000"/>
                                          <a:lumOff val="15000"/>
                                        </a:schemeClr>
                                      </a:solidFill>
                                      <a:latin typeface="Cambria Math" panose="02040503050406030204" pitchFamily="18" charset="0"/>
                                    </a:rPr>
                                    <m:t>𝑇</m:t>
                                  </m:r>
                                </m:sup>
                              </m:sSup>
                              <m:sSup>
                                <m:sSupPr>
                                  <m:ctrlPr>
                                    <a:rPr lang="ko-KR" altLang="ko-KR" sz="1600" i="1">
                                      <a:solidFill>
                                        <a:schemeClr val="tx1">
                                          <a:lumMod val="85000"/>
                                          <a:lumOff val="15000"/>
                                        </a:schemeClr>
                                      </a:solidFill>
                                      <a:latin typeface="Cambria Math" panose="02040503050406030204" pitchFamily="18" charset="0"/>
                                    </a:rPr>
                                  </m:ctrlPr>
                                </m:sSupPr>
                                <m:e>
                                  <m:r>
                                    <a:rPr lang="en-US" altLang="ko-KR" sz="1600">
                                      <a:solidFill>
                                        <a:schemeClr val="tx1">
                                          <a:lumMod val="85000"/>
                                          <a:lumOff val="15000"/>
                                        </a:schemeClr>
                                      </a:solidFill>
                                      <a:latin typeface="Cambria Math" panose="02040503050406030204" pitchFamily="18" charset="0"/>
                                    </a:rPr>
                                    <m:t>𝑿</m:t>
                                  </m:r>
                                </m:e>
                                <m:sup>
                                  <m:r>
                                    <a:rPr lang="en-US" altLang="ko-KR" sz="1600" b="0" i="1" smtClean="0">
                                      <a:solidFill>
                                        <a:schemeClr val="tx1">
                                          <a:lumMod val="85000"/>
                                          <a:lumOff val="15000"/>
                                        </a:schemeClr>
                                      </a:solidFill>
                                      <a:latin typeface="Cambria Math" panose="02040503050406030204" pitchFamily="18" charset="0"/>
                                    </a:rPr>
                                    <m:t>𝑇</m:t>
                                  </m:r>
                                </m:sup>
                              </m:sSup>
                              <m:r>
                                <a:rPr lang="en-US" altLang="ko-KR" sz="1600">
                                  <a:solidFill>
                                    <a:schemeClr val="tx1">
                                      <a:lumMod val="85000"/>
                                      <a:lumOff val="15000"/>
                                    </a:schemeClr>
                                  </a:solidFill>
                                  <a:latin typeface="Cambria Math" panose="02040503050406030204" pitchFamily="18" charset="0"/>
                                </a:rPr>
                                <m:t>𝒀</m:t>
                              </m:r>
                              <m:r>
                                <a:rPr lang="en-US" altLang="ko-KR" sz="1600">
                                  <a:solidFill>
                                    <a:schemeClr val="tx1">
                                      <a:lumMod val="85000"/>
                                      <a:lumOff val="15000"/>
                                    </a:schemeClr>
                                  </a:solidFill>
                                  <a:latin typeface="Cambria Math" panose="02040503050406030204" pitchFamily="18" charset="0"/>
                                </a:rPr>
                                <m:t>−</m:t>
                              </m:r>
                              <m:sSup>
                                <m:sSupPr>
                                  <m:ctrlPr>
                                    <a:rPr lang="ko-KR" altLang="ko-KR" sz="1600" i="1">
                                      <a:solidFill>
                                        <a:schemeClr val="tx1">
                                          <a:lumMod val="85000"/>
                                          <a:lumOff val="15000"/>
                                        </a:schemeClr>
                                      </a:solidFill>
                                      <a:latin typeface="Cambria Math" panose="02040503050406030204" pitchFamily="18" charset="0"/>
                                    </a:rPr>
                                  </m:ctrlPr>
                                </m:sSupPr>
                                <m:e>
                                  <m:r>
                                    <a:rPr lang="en-US" altLang="ko-KR" sz="1600">
                                      <a:solidFill>
                                        <a:schemeClr val="tx1">
                                          <a:lumMod val="85000"/>
                                          <a:lumOff val="15000"/>
                                        </a:schemeClr>
                                      </a:solidFill>
                                      <a:latin typeface="Cambria Math" panose="02040503050406030204" pitchFamily="18" charset="0"/>
                                    </a:rPr>
                                    <m:t>𝒀</m:t>
                                  </m:r>
                                </m:e>
                                <m:sup>
                                  <m:r>
                                    <a:rPr lang="en-US" altLang="ko-KR" sz="1600" b="0" i="1" smtClean="0">
                                      <a:solidFill>
                                        <a:schemeClr val="tx1">
                                          <a:lumMod val="85000"/>
                                          <a:lumOff val="15000"/>
                                        </a:schemeClr>
                                      </a:solidFill>
                                      <a:latin typeface="Cambria Math" panose="02040503050406030204" pitchFamily="18" charset="0"/>
                                    </a:rPr>
                                    <m:t>𝑇</m:t>
                                  </m:r>
                                </m:sup>
                              </m:sSup>
                              <m:r>
                                <a:rPr lang="en-US" altLang="ko-KR" sz="1600">
                                  <a:solidFill>
                                    <a:schemeClr val="tx1">
                                      <a:lumMod val="85000"/>
                                      <a:lumOff val="15000"/>
                                    </a:schemeClr>
                                  </a:solidFill>
                                  <a:latin typeface="Cambria Math" panose="02040503050406030204" pitchFamily="18" charset="0"/>
                                </a:rPr>
                                <m:t>𝑿</m:t>
                              </m:r>
                              <m:r>
                                <a:rPr lang="el-GR" altLang="ko-KR" sz="1600">
                                  <a:solidFill>
                                    <a:schemeClr val="tx1">
                                      <a:lumMod val="85000"/>
                                      <a:lumOff val="15000"/>
                                    </a:schemeClr>
                                  </a:solidFill>
                                  <a:latin typeface="Cambria Math" panose="02040503050406030204" pitchFamily="18" charset="0"/>
                                </a:rPr>
                                <m:t>𝜷</m:t>
                              </m:r>
                              <m:r>
                                <a:rPr lang="en-US" altLang="ko-KR" sz="1600">
                                  <a:solidFill>
                                    <a:schemeClr val="tx1">
                                      <a:lumMod val="85000"/>
                                      <a:lumOff val="15000"/>
                                    </a:schemeClr>
                                  </a:solidFill>
                                  <a:latin typeface="Cambria Math" panose="02040503050406030204" pitchFamily="18" charset="0"/>
                                </a:rPr>
                                <m:t>+</m:t>
                              </m:r>
                              <m:sSup>
                                <m:sSupPr>
                                  <m:ctrlPr>
                                    <a:rPr lang="ko-KR" altLang="ko-KR" sz="1600" i="1">
                                      <a:solidFill>
                                        <a:schemeClr val="tx1">
                                          <a:lumMod val="85000"/>
                                          <a:lumOff val="15000"/>
                                        </a:schemeClr>
                                      </a:solidFill>
                                      <a:latin typeface="Cambria Math" panose="02040503050406030204" pitchFamily="18" charset="0"/>
                                    </a:rPr>
                                  </m:ctrlPr>
                                </m:sSupPr>
                                <m:e>
                                  <m:r>
                                    <a:rPr lang="ko-KR" altLang="en-US" sz="1600">
                                      <a:solidFill>
                                        <a:schemeClr val="tx1">
                                          <a:lumMod val="85000"/>
                                          <a:lumOff val="15000"/>
                                        </a:schemeClr>
                                      </a:solidFill>
                                      <a:latin typeface="Cambria Math" panose="02040503050406030204" pitchFamily="18" charset="0"/>
                                    </a:rPr>
                                    <m:t>𝜷</m:t>
                                  </m:r>
                                </m:e>
                                <m:sup>
                                  <m:r>
                                    <a:rPr lang="en-US" altLang="ko-KR" sz="1600" b="0" i="1" smtClean="0">
                                      <a:solidFill>
                                        <a:schemeClr val="tx1">
                                          <a:lumMod val="85000"/>
                                          <a:lumOff val="15000"/>
                                        </a:schemeClr>
                                      </a:solidFill>
                                      <a:latin typeface="Cambria Math" panose="02040503050406030204" pitchFamily="18" charset="0"/>
                                    </a:rPr>
                                    <m:t>𝑇</m:t>
                                  </m:r>
                                </m:sup>
                              </m:sSup>
                              <m:sSup>
                                <m:sSupPr>
                                  <m:ctrlPr>
                                    <a:rPr lang="ko-KR" altLang="ko-KR" sz="1600" i="1">
                                      <a:solidFill>
                                        <a:schemeClr val="tx1">
                                          <a:lumMod val="85000"/>
                                          <a:lumOff val="15000"/>
                                        </a:schemeClr>
                                      </a:solidFill>
                                      <a:latin typeface="Cambria Math" panose="02040503050406030204" pitchFamily="18" charset="0"/>
                                    </a:rPr>
                                  </m:ctrlPr>
                                </m:sSupPr>
                                <m:e>
                                  <m:r>
                                    <a:rPr lang="en-US" altLang="ko-KR" sz="1600">
                                      <a:solidFill>
                                        <a:schemeClr val="tx1">
                                          <a:lumMod val="85000"/>
                                          <a:lumOff val="15000"/>
                                        </a:schemeClr>
                                      </a:solidFill>
                                      <a:latin typeface="Cambria Math" panose="02040503050406030204" pitchFamily="18" charset="0"/>
                                    </a:rPr>
                                    <m:t>𝑿</m:t>
                                  </m:r>
                                </m:e>
                                <m:sup>
                                  <m:r>
                                    <a:rPr lang="en-US" altLang="ko-KR" sz="1600" b="0" i="1" smtClean="0">
                                      <a:solidFill>
                                        <a:schemeClr val="tx1">
                                          <a:lumMod val="85000"/>
                                          <a:lumOff val="15000"/>
                                        </a:schemeClr>
                                      </a:solidFill>
                                      <a:latin typeface="Cambria Math" panose="02040503050406030204" pitchFamily="18" charset="0"/>
                                    </a:rPr>
                                    <m:t>𝑇</m:t>
                                  </m:r>
                                </m:sup>
                              </m:sSup>
                              <m:r>
                                <a:rPr lang="en-US" altLang="ko-KR" sz="1600">
                                  <a:solidFill>
                                    <a:schemeClr val="tx1">
                                      <a:lumMod val="85000"/>
                                      <a:lumOff val="15000"/>
                                    </a:schemeClr>
                                  </a:solidFill>
                                  <a:latin typeface="Cambria Math" panose="02040503050406030204" pitchFamily="18" charset="0"/>
                                </a:rPr>
                                <m:t>𝑿</m:t>
                              </m:r>
                              <m:r>
                                <a:rPr lang="ko-KR" altLang="en-US" sz="1600">
                                  <a:solidFill>
                                    <a:schemeClr val="tx1">
                                      <a:lumMod val="85000"/>
                                      <a:lumOff val="15000"/>
                                    </a:schemeClr>
                                  </a:solidFill>
                                  <a:latin typeface="Cambria Math" panose="02040503050406030204" pitchFamily="18" charset="0"/>
                                </a:rPr>
                                <m:t>𝜷</m:t>
                              </m:r>
                            </m:e>
                          </m:d>
                        </m:num>
                        <m:den>
                          <m:r>
                            <a:rPr lang="en-US" altLang="ko-KR" sz="1600">
                              <a:solidFill>
                                <a:schemeClr val="tx1">
                                  <a:lumMod val="85000"/>
                                  <a:lumOff val="15000"/>
                                </a:schemeClr>
                              </a:solidFill>
                              <a:latin typeface="Cambria Math" panose="02040503050406030204" pitchFamily="18" charset="0"/>
                            </a:rPr>
                            <m:t>𝑑</m:t>
                          </m:r>
                          <m:r>
                            <a:rPr lang="ko-KR" altLang="en-US" sz="1600">
                              <a:solidFill>
                                <a:schemeClr val="tx1">
                                  <a:lumMod val="85000"/>
                                  <a:lumOff val="15000"/>
                                </a:schemeClr>
                              </a:solidFill>
                              <a:latin typeface="Cambria Math" panose="02040503050406030204" pitchFamily="18" charset="0"/>
                            </a:rPr>
                            <m:t>𝛽</m:t>
                          </m:r>
                        </m:den>
                      </m:f>
                    </m:oMath>
                  </m:oMathPara>
                </a14:m>
                <a:endParaRPr lang="en-US" altLang="ko-KR" sz="1600" dirty="0">
                  <a:solidFill>
                    <a:schemeClr val="tx1">
                      <a:lumMod val="85000"/>
                      <a:lumOff val="15000"/>
                    </a:schemeClr>
                  </a:solidFill>
                </a:endParaRPr>
              </a:p>
              <a:p>
                <a:pPr>
                  <a:lnSpc>
                    <a:spcPct val="100000"/>
                  </a:lnSpc>
                  <a:spcBef>
                    <a:spcPts val="0"/>
                  </a:spcBef>
                  <a:spcAft>
                    <a:spcPts val="0"/>
                  </a:spcAft>
                </a:pPr>
                <a:endParaRPr lang="en-US" altLang="ko-KR" sz="1600" dirty="0">
                  <a:solidFill>
                    <a:schemeClr val="tx1">
                      <a:lumMod val="85000"/>
                      <a:lumOff val="15000"/>
                    </a:schemeClr>
                  </a:solidFill>
                </a:endParaRPr>
              </a:p>
              <a:p>
                <a:pP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altLang="ko-KR" sz="1600">
                          <a:solidFill>
                            <a:schemeClr val="tx1">
                              <a:lumMod val="85000"/>
                              <a:lumOff val="15000"/>
                            </a:schemeClr>
                          </a:solidFill>
                          <a:latin typeface="Cambria Math" panose="02040503050406030204" pitchFamily="18" charset="0"/>
                        </a:rPr>
                        <m:t>=−2</m:t>
                      </m:r>
                      <m:sSup>
                        <m:sSupPr>
                          <m:ctrlPr>
                            <a:rPr lang="ko-KR" altLang="ko-KR" sz="1600" i="1">
                              <a:solidFill>
                                <a:schemeClr val="tx1">
                                  <a:lumMod val="85000"/>
                                  <a:lumOff val="15000"/>
                                </a:schemeClr>
                              </a:solidFill>
                              <a:latin typeface="Cambria Math" panose="02040503050406030204" pitchFamily="18" charset="0"/>
                            </a:rPr>
                          </m:ctrlPr>
                        </m:sSupPr>
                        <m:e>
                          <m:r>
                            <a:rPr lang="en-US" altLang="ko-KR" sz="1600">
                              <a:solidFill>
                                <a:schemeClr val="tx1">
                                  <a:lumMod val="85000"/>
                                  <a:lumOff val="15000"/>
                                </a:schemeClr>
                              </a:solidFill>
                              <a:latin typeface="Cambria Math" panose="02040503050406030204" pitchFamily="18" charset="0"/>
                            </a:rPr>
                            <m:t>𝑿</m:t>
                          </m:r>
                        </m:e>
                        <m:sup>
                          <m:r>
                            <a:rPr lang="en-US" altLang="ko-KR" sz="1600" b="0" i="1" smtClean="0">
                              <a:solidFill>
                                <a:schemeClr val="tx1">
                                  <a:lumMod val="85000"/>
                                  <a:lumOff val="15000"/>
                                </a:schemeClr>
                              </a:solidFill>
                              <a:latin typeface="Cambria Math" panose="02040503050406030204" pitchFamily="18" charset="0"/>
                            </a:rPr>
                            <m:t>𝑇</m:t>
                          </m:r>
                        </m:sup>
                      </m:sSup>
                      <m:r>
                        <a:rPr lang="en-US" altLang="ko-KR" sz="1600">
                          <a:solidFill>
                            <a:schemeClr val="tx1">
                              <a:lumMod val="85000"/>
                              <a:lumOff val="15000"/>
                            </a:schemeClr>
                          </a:solidFill>
                          <a:latin typeface="Cambria Math" panose="02040503050406030204" pitchFamily="18" charset="0"/>
                        </a:rPr>
                        <m:t>𝒀</m:t>
                      </m:r>
                      <m:r>
                        <a:rPr lang="en-US" altLang="ko-KR" sz="1600">
                          <a:solidFill>
                            <a:schemeClr val="tx1">
                              <a:lumMod val="85000"/>
                              <a:lumOff val="15000"/>
                            </a:schemeClr>
                          </a:solidFill>
                          <a:latin typeface="Cambria Math" panose="02040503050406030204" pitchFamily="18" charset="0"/>
                        </a:rPr>
                        <m:t>+2</m:t>
                      </m:r>
                      <m:sSup>
                        <m:sSupPr>
                          <m:ctrlPr>
                            <a:rPr lang="ko-KR" altLang="ko-KR" sz="1600" i="1">
                              <a:solidFill>
                                <a:schemeClr val="tx1">
                                  <a:lumMod val="85000"/>
                                  <a:lumOff val="15000"/>
                                </a:schemeClr>
                              </a:solidFill>
                              <a:latin typeface="Cambria Math" panose="02040503050406030204" pitchFamily="18" charset="0"/>
                            </a:rPr>
                          </m:ctrlPr>
                        </m:sSupPr>
                        <m:e>
                          <m:r>
                            <a:rPr lang="en-US" altLang="ko-KR" sz="1600">
                              <a:solidFill>
                                <a:schemeClr val="tx1">
                                  <a:lumMod val="85000"/>
                                  <a:lumOff val="15000"/>
                                </a:schemeClr>
                              </a:solidFill>
                              <a:latin typeface="Cambria Math" panose="02040503050406030204" pitchFamily="18" charset="0"/>
                            </a:rPr>
                            <m:t>𝑿</m:t>
                          </m:r>
                        </m:e>
                        <m:sup>
                          <m:r>
                            <a:rPr lang="en-US" altLang="ko-KR" sz="1600" b="0" i="1" smtClean="0">
                              <a:solidFill>
                                <a:schemeClr val="tx1">
                                  <a:lumMod val="85000"/>
                                  <a:lumOff val="15000"/>
                                </a:schemeClr>
                              </a:solidFill>
                              <a:latin typeface="Cambria Math" panose="02040503050406030204" pitchFamily="18" charset="0"/>
                            </a:rPr>
                            <m:t>𝑇</m:t>
                          </m:r>
                        </m:sup>
                      </m:sSup>
                      <m:r>
                        <a:rPr lang="en-US" altLang="ko-KR" sz="1600">
                          <a:solidFill>
                            <a:schemeClr val="tx1">
                              <a:lumMod val="85000"/>
                              <a:lumOff val="15000"/>
                            </a:schemeClr>
                          </a:solidFill>
                          <a:latin typeface="Cambria Math" panose="02040503050406030204" pitchFamily="18" charset="0"/>
                        </a:rPr>
                        <m:t>𝑿</m:t>
                      </m:r>
                      <m:r>
                        <a:rPr lang="el-GR" altLang="ko-KR" sz="1600">
                          <a:solidFill>
                            <a:schemeClr val="tx1">
                              <a:lumMod val="85000"/>
                              <a:lumOff val="15000"/>
                            </a:schemeClr>
                          </a:solidFill>
                          <a:latin typeface="Cambria Math" panose="02040503050406030204" pitchFamily="18" charset="0"/>
                        </a:rPr>
                        <m:t>𝜷</m:t>
                      </m:r>
                      <m:r>
                        <a:rPr lang="en-US" altLang="ko-KR" sz="1600">
                          <a:solidFill>
                            <a:schemeClr val="tx1">
                              <a:lumMod val="85000"/>
                              <a:lumOff val="15000"/>
                            </a:schemeClr>
                          </a:solidFill>
                          <a:latin typeface="Cambria Math" panose="02040503050406030204" pitchFamily="18" charset="0"/>
                        </a:rPr>
                        <m:t>=0    </m:t>
                      </m:r>
                    </m:oMath>
                  </m:oMathPara>
                </a14:m>
                <a:endParaRPr lang="en-US" altLang="ko-KR" sz="1600" dirty="0">
                  <a:solidFill>
                    <a:schemeClr val="tx1">
                      <a:lumMod val="85000"/>
                      <a:lumOff val="15000"/>
                    </a:schemeClr>
                  </a:solidFill>
                </a:endParaRPr>
              </a:p>
            </p:txBody>
          </p:sp>
        </mc:Choice>
        <mc:Fallback xmlns="">
          <p:sp>
            <p:nvSpPr>
              <p:cNvPr id="11" name="직사각형 10">
                <a:extLst>
                  <a:ext uri="{FF2B5EF4-FFF2-40B4-BE49-F238E27FC236}">
                    <a16:creationId xmlns:a16="http://schemas.microsoft.com/office/drawing/2014/main" xmlns:a14="http://schemas.microsoft.com/office/drawing/2010/main" xmlns="" id="{83C53DF8-07BC-440E-8513-7DE7973BFFB6}"/>
                  </a:ext>
                </a:extLst>
              </p:cNvPr>
              <p:cNvSpPr>
                <a:spLocks noRot="1" noChangeAspect="1" noMove="1" noResize="1" noEditPoints="1" noAdjustHandles="1" noChangeArrowheads="1" noChangeShapeType="1" noTextEdit="1"/>
              </p:cNvSpPr>
              <p:nvPr/>
            </p:nvSpPr>
            <p:spPr>
              <a:xfrm>
                <a:off x="2238941" y="2201479"/>
                <a:ext cx="5088735" cy="2684261"/>
              </a:xfrm>
              <a:prstGeom prst="rect">
                <a:avLst/>
              </a:prstGeom>
              <a:blipFill rotWithShape="0">
                <a:blip r:embed="rId4"/>
                <a:stretch>
                  <a:fillRect b="-1136"/>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314300557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Ordinary Least Squares (OLS) solution</a:t>
            </a:r>
          </a:p>
        </p:txBody>
      </p:sp>
      <p:sp>
        <p:nvSpPr>
          <p:cNvPr id="10" name="직사각형 9">
            <a:extLst>
              <a:ext uri="{FF2B5EF4-FFF2-40B4-BE49-F238E27FC236}">
                <a16:creationId xmlns:a16="http://schemas.microsoft.com/office/drawing/2014/main" id="{E5B73998-95AD-4DF4-A9AB-D07639C34B25}"/>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solution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𝜷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from the previous slide is given by the following expression:</a:t>
            </a:r>
          </a:p>
        </p:txBody>
      </p:sp>
      <p:sp>
        <p:nvSpPr>
          <p:cNvPr id="8" name="Rectangle 22">
            <a:extLst>
              <a:ext uri="{FF2B5EF4-FFF2-40B4-BE49-F238E27FC236}">
                <a16:creationId xmlns:a16="http://schemas.microsoft.com/office/drawing/2014/main" id="{065AF89F-C265-443A-AC9F-BB02E67FE9E9}"/>
              </a:ext>
            </a:extLst>
          </p:cNvPr>
          <p:cNvSpPr/>
          <p:nvPr/>
        </p:nvSpPr>
        <p:spPr>
          <a:xfrm>
            <a:off x="3786944" y="3022982"/>
            <a:ext cx="2424608" cy="292388"/>
          </a:xfrm>
          <a:prstGeom prst="rect">
            <a:avLst/>
          </a:prstGeom>
          <a:noFill/>
        </p:spPr>
        <p:txBody>
          <a:bodyPr wrap="square" lIns="0" tIns="0" rIns="0" bIns="0" rtlCol="0" anchor="ctr">
            <a:noAutofit/>
            <a:scene3d>
              <a:camera prst="orthographicFront"/>
              <a:lightRig rig="threePt" dir="t"/>
            </a:scene3d>
            <a:sp3d>
              <a:bevelT w="0" h="6350"/>
            </a:sp3d>
          </a:bodyPr>
          <a:lstStyle/>
          <a:p>
            <a:pPr algn="ctr">
              <a:spcAft>
                <a:spcPts val="600"/>
              </a:spcAft>
            </a:pPr>
            <a:r>
              <a:rPr lang="en-US" altLang="ko-KR" sz="1300" dirty="0">
                <a:solidFill>
                  <a:srgbClr val="262626"/>
                </a:solidFill>
                <a:latin typeface="SamsungOne 700" panose="020B0803030303020204" pitchFamily="34" charset="0"/>
                <a:ea typeface="SamsungOne 700" panose="020B0803030303020204" pitchFamily="34" charset="0"/>
              </a:rPr>
              <a:t>Pseudo-inverse</a:t>
            </a:r>
            <a:endParaRPr lang="ko-KR" altLang="ko-KR" sz="1300" dirty="0">
              <a:solidFill>
                <a:srgbClr val="262626"/>
              </a:solidFill>
              <a:latin typeface="SamsungOne 700" panose="020B0803030303020204" pitchFamily="34" charset="0"/>
              <a:ea typeface="SamsungOne 700" panose="020B0803030303020204" pitchFamily="34" charset="0"/>
            </a:endParaRPr>
          </a:p>
        </p:txBody>
      </p:sp>
      <p:sp>
        <p:nvSpPr>
          <p:cNvPr id="12" name="오른쪽 중괄호 11">
            <a:extLst>
              <a:ext uri="{FF2B5EF4-FFF2-40B4-BE49-F238E27FC236}">
                <a16:creationId xmlns:a16="http://schemas.microsoft.com/office/drawing/2014/main" id="{B83D125F-2049-4273-A3AF-FC9CC7682BEC}"/>
              </a:ext>
            </a:extLst>
          </p:cNvPr>
          <p:cNvSpPr/>
          <p:nvPr/>
        </p:nvSpPr>
        <p:spPr>
          <a:xfrm rot="5400000" flipV="1">
            <a:off x="4831160" y="2254498"/>
            <a:ext cx="342337" cy="1039498"/>
          </a:xfrm>
          <a:prstGeom prst="rightBrace">
            <a:avLst>
              <a:gd name="adj1" fmla="val 34851"/>
              <a:gd name="adj2" fmla="val 50000"/>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3" name="직사각형 12">
                <a:extLst>
                  <a:ext uri="{FF2B5EF4-FFF2-40B4-BE49-F238E27FC236}">
                    <a16:creationId xmlns:a16="http://schemas.microsoft.com/office/drawing/2014/main" id="{9FF2E75C-6F7D-4501-A24A-B09F0A9A9832}"/>
                  </a:ext>
                </a:extLst>
              </p:cNvPr>
              <p:cNvSpPr/>
              <p:nvPr/>
            </p:nvSpPr>
            <p:spPr>
              <a:xfrm>
                <a:off x="3854689" y="2234323"/>
                <a:ext cx="2260262" cy="3385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14:m>
                  <m:oMathPara xmlns:m="http://schemas.openxmlformats.org/officeDocument/2006/math">
                    <m:oMathParaPr>
                      <m:jc m:val="centerGroup"/>
                    </m:oMathParaPr>
                    <m:oMath xmlns:m="http://schemas.openxmlformats.org/officeDocument/2006/math">
                      <m:r>
                        <a:rPr lang="en-US" altLang="ko-KR" sz="1600" smtClean="0">
                          <a:solidFill>
                            <a:schemeClr val="tx1"/>
                          </a:solidFill>
                          <a:latin typeface="Cambria Math" panose="02040503050406030204" pitchFamily="18" charset="0"/>
                        </a:rPr>
                        <m:t>𝜷</m:t>
                      </m:r>
                      <m:r>
                        <a:rPr lang="en-US" altLang="ko-KR" sz="1600" smtClean="0">
                          <a:solidFill>
                            <a:schemeClr val="tx1"/>
                          </a:solidFill>
                          <a:latin typeface="Cambria Math" panose="02040503050406030204" pitchFamily="18" charset="0"/>
                        </a:rPr>
                        <m:t>=</m:t>
                      </m:r>
                      <m:d>
                        <m:dPr>
                          <m:begChr m:val="["/>
                          <m:endChr m:val="]"/>
                          <m:ctrlPr>
                            <a:rPr lang="ko-KR" altLang="ko-KR" sz="1600" i="1">
                              <a:solidFill>
                                <a:srgbClr val="193EB0"/>
                              </a:solidFill>
                              <a:latin typeface="Cambria Math" panose="02040503050406030204" pitchFamily="18" charset="0"/>
                            </a:rPr>
                          </m:ctrlPr>
                        </m:dPr>
                        <m:e>
                          <m:sSup>
                            <m:sSupPr>
                              <m:ctrlPr>
                                <a:rPr lang="ko-KR" altLang="ko-KR" sz="1600" i="1">
                                  <a:solidFill>
                                    <a:srgbClr val="193EB0"/>
                                  </a:solidFill>
                                  <a:latin typeface="Cambria Math" panose="02040503050406030204" pitchFamily="18" charset="0"/>
                                </a:rPr>
                              </m:ctrlPr>
                            </m:sSupPr>
                            <m:e>
                              <m:d>
                                <m:dPr>
                                  <m:ctrlPr>
                                    <a:rPr lang="ko-KR" altLang="ko-KR" sz="1600" i="1">
                                      <a:solidFill>
                                        <a:srgbClr val="193EB0"/>
                                      </a:solidFill>
                                      <a:latin typeface="Cambria Math" panose="02040503050406030204" pitchFamily="18" charset="0"/>
                                    </a:rPr>
                                  </m:ctrlPr>
                                </m:dPr>
                                <m:e>
                                  <m:sSup>
                                    <m:sSupPr>
                                      <m:ctrlPr>
                                        <a:rPr lang="ko-KR" altLang="ko-KR" sz="1600" i="1">
                                          <a:solidFill>
                                            <a:srgbClr val="193EB0"/>
                                          </a:solidFill>
                                          <a:latin typeface="Cambria Math" panose="02040503050406030204" pitchFamily="18" charset="0"/>
                                        </a:rPr>
                                      </m:ctrlPr>
                                    </m:sSupPr>
                                    <m:e>
                                      <m:r>
                                        <a:rPr lang="en-US" altLang="ko-KR" sz="1600">
                                          <a:solidFill>
                                            <a:srgbClr val="193EB0"/>
                                          </a:solidFill>
                                          <a:latin typeface="Cambria Math" panose="02040503050406030204" pitchFamily="18" charset="0"/>
                                        </a:rPr>
                                        <m:t>𝑿</m:t>
                                      </m:r>
                                    </m:e>
                                    <m:sup>
                                      <m:r>
                                        <a:rPr lang="en-US" altLang="ko-KR" sz="1600" b="0" i="1" smtClean="0">
                                          <a:solidFill>
                                            <a:srgbClr val="193EB0"/>
                                          </a:solidFill>
                                          <a:latin typeface="Cambria Math" panose="02040503050406030204" pitchFamily="18" charset="0"/>
                                        </a:rPr>
                                        <m:t>𝑇</m:t>
                                      </m:r>
                                    </m:sup>
                                  </m:sSup>
                                  <m:r>
                                    <a:rPr lang="en-US" altLang="ko-KR" sz="1600">
                                      <a:solidFill>
                                        <a:srgbClr val="193EB0"/>
                                      </a:solidFill>
                                      <a:latin typeface="Cambria Math" panose="02040503050406030204" pitchFamily="18" charset="0"/>
                                    </a:rPr>
                                    <m:t>𝑿</m:t>
                                  </m:r>
                                </m:e>
                              </m:d>
                            </m:e>
                            <m:sup>
                              <m:r>
                                <a:rPr lang="en-US" altLang="ko-KR" sz="1600">
                                  <a:solidFill>
                                    <a:srgbClr val="193EB0"/>
                                  </a:solidFill>
                                  <a:latin typeface="Cambria Math" panose="02040503050406030204" pitchFamily="18" charset="0"/>
                                </a:rPr>
                                <m:t>−1</m:t>
                              </m:r>
                            </m:sup>
                          </m:sSup>
                          <m:sSup>
                            <m:sSupPr>
                              <m:ctrlPr>
                                <a:rPr lang="ko-KR" altLang="ko-KR" sz="1600" i="1">
                                  <a:solidFill>
                                    <a:srgbClr val="193EB0"/>
                                  </a:solidFill>
                                  <a:latin typeface="Cambria Math" panose="02040503050406030204" pitchFamily="18" charset="0"/>
                                </a:rPr>
                              </m:ctrlPr>
                            </m:sSupPr>
                            <m:e>
                              <m:r>
                                <a:rPr lang="en-US" altLang="ko-KR" sz="1600">
                                  <a:solidFill>
                                    <a:srgbClr val="193EB0"/>
                                  </a:solidFill>
                                  <a:latin typeface="Cambria Math" panose="02040503050406030204" pitchFamily="18" charset="0"/>
                                </a:rPr>
                                <m:t>𝑿</m:t>
                              </m:r>
                            </m:e>
                            <m:sup>
                              <m:r>
                                <a:rPr lang="en-US" altLang="ko-KR" sz="1600" b="0" i="1" smtClean="0">
                                  <a:solidFill>
                                    <a:srgbClr val="193EB0"/>
                                  </a:solidFill>
                                  <a:latin typeface="Cambria Math" panose="02040503050406030204" pitchFamily="18" charset="0"/>
                                </a:rPr>
                                <m:t>𝑇</m:t>
                              </m:r>
                            </m:sup>
                          </m:sSup>
                        </m:e>
                      </m:d>
                      <m:r>
                        <a:rPr lang="en-US" altLang="ko-KR" sz="1600">
                          <a:solidFill>
                            <a:srgbClr val="193EB0"/>
                          </a:solidFill>
                          <a:latin typeface="Cambria Math" panose="02040503050406030204" pitchFamily="18" charset="0"/>
                        </a:rPr>
                        <m:t> </m:t>
                      </m:r>
                      <m:r>
                        <a:rPr lang="en-US" altLang="ko-KR" sz="1600" smtClean="0">
                          <a:solidFill>
                            <a:schemeClr val="tx1"/>
                          </a:solidFill>
                          <a:latin typeface="Cambria Math" panose="02040503050406030204" pitchFamily="18" charset="0"/>
                        </a:rPr>
                        <m:t>𝒀</m:t>
                      </m:r>
                      <m:r>
                        <m:rPr>
                          <m:nor/>
                        </m:rPr>
                        <a:rPr lang="en-US" altLang="ko-KR" sz="1600" dirty="0">
                          <a:solidFill>
                            <a:schemeClr val="tx1"/>
                          </a:solidFill>
                        </a:rPr>
                        <m:t>    </m:t>
                      </m:r>
                    </m:oMath>
                  </m:oMathPara>
                </a14:m>
                <a:endParaRPr lang="en-US" altLang="ko-KR" sz="1600" dirty="0"/>
              </a:p>
            </p:txBody>
          </p:sp>
        </mc:Choice>
        <mc:Fallback xmlns="">
          <p:sp>
            <p:nvSpPr>
              <p:cNvPr id="13" name="직사각형 12">
                <a:extLst>
                  <a:ext uri="{FF2B5EF4-FFF2-40B4-BE49-F238E27FC236}">
                    <a16:creationId xmlns:a16="http://schemas.microsoft.com/office/drawing/2014/main" id="{9FF2E75C-6F7D-4501-A24A-B09F0A9A9832}"/>
                  </a:ext>
                </a:extLst>
              </p:cNvPr>
              <p:cNvSpPr>
                <a:spLocks noRot="1" noChangeAspect="1" noMove="1" noResize="1" noEditPoints="1" noAdjustHandles="1" noChangeArrowheads="1" noChangeShapeType="1" noTextEdit="1"/>
              </p:cNvSpPr>
              <p:nvPr/>
            </p:nvSpPr>
            <p:spPr>
              <a:xfrm>
                <a:off x="3854689" y="2234323"/>
                <a:ext cx="2260262" cy="338554"/>
              </a:xfrm>
              <a:prstGeom prst="rect">
                <a:avLst/>
              </a:prstGeom>
              <a:blipFill>
                <a:blip r:embed="rId4"/>
                <a:stretch>
                  <a:fillRect t="-3704" b="-18519"/>
                </a:stretch>
              </a:blipFill>
              <a:ln>
                <a:noFill/>
              </a:ln>
            </p:spPr>
            <p:txBody>
              <a:bodyPr/>
              <a:lstStyle/>
              <a:p>
                <a:r>
                  <a:rPr lang="ko-Kore-KR" altLang="en-US">
                    <a:noFill/>
                  </a:rPr>
                  <a:t> </a:t>
                </a:r>
              </a:p>
            </p:txBody>
          </p:sp>
        </mc:Fallback>
      </mc:AlternateContent>
      <p:sp>
        <p:nvSpPr>
          <p:cNvPr id="14" name="직사각형 13">
            <a:extLst>
              <a:ext uri="{FF2B5EF4-FFF2-40B4-BE49-F238E27FC236}">
                <a16:creationId xmlns:a16="http://schemas.microsoft.com/office/drawing/2014/main" id="{27F08507-4AAB-4FFA-B44C-1A7D2AF7D363}"/>
              </a:ext>
            </a:extLst>
          </p:cNvPr>
          <p:cNvSpPr/>
          <p:nvPr/>
        </p:nvSpPr>
        <p:spPr>
          <a:xfrm>
            <a:off x="671261" y="346264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matrix expression within the square parentheses is called “pseudo-inverse.”</a:t>
            </a:r>
          </a:p>
        </p:txBody>
      </p:sp>
    </p:spTree>
    <p:extLst>
      <p:ext uri="{BB962C8B-B14F-4D97-AF65-F5344CB8AC3E}">
        <p14:creationId xmlns:p14="http://schemas.microsoft.com/office/powerpoint/2010/main" val="295014022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Regression training and prediction (testing)</a:t>
            </a:r>
          </a:p>
        </p:txBody>
      </p:sp>
      <p:sp>
        <p:nvSpPr>
          <p:cNvPr id="10" name="직사각형 9">
            <a:extLst>
              <a:ext uri="{FF2B5EF4-FFF2-40B4-BE49-F238E27FC236}">
                <a16:creationId xmlns:a16="http://schemas.microsoft.com/office/drawing/2014/main" id="{E5B73998-95AD-4DF4-A9AB-D07639C34B25}"/>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1) Training step: use the training dataset and get a set of model parameters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𝛽𝑖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p:txBody>
      </p:sp>
      <p:grpSp>
        <p:nvGrpSpPr>
          <p:cNvPr id="2" name="그룹 1">
            <a:extLst>
              <a:ext uri="{FF2B5EF4-FFF2-40B4-BE49-F238E27FC236}">
                <a16:creationId xmlns:a16="http://schemas.microsoft.com/office/drawing/2014/main" id="{1A93ED01-D15A-4F08-9E7D-C70E710D5989}"/>
              </a:ext>
            </a:extLst>
          </p:cNvPr>
          <p:cNvGrpSpPr/>
          <p:nvPr/>
        </p:nvGrpSpPr>
        <p:grpSpPr>
          <a:xfrm>
            <a:off x="3662609" y="2199462"/>
            <a:ext cx="2584125" cy="2970646"/>
            <a:chOff x="3662609" y="2597649"/>
            <a:chExt cx="2584125" cy="2970646"/>
          </a:xfrm>
        </p:grpSpPr>
        <p:grpSp>
          <p:nvGrpSpPr>
            <p:cNvPr id="11" name="그룹 10">
              <a:extLst>
                <a:ext uri="{FF2B5EF4-FFF2-40B4-BE49-F238E27FC236}">
                  <a16:creationId xmlns:a16="http://schemas.microsoft.com/office/drawing/2014/main" id="{D98E625C-385C-47D6-ACF0-1B9C8D1011CD}"/>
                </a:ext>
              </a:extLst>
            </p:cNvPr>
            <p:cNvGrpSpPr/>
            <p:nvPr/>
          </p:nvGrpSpPr>
          <p:grpSpPr>
            <a:xfrm>
              <a:off x="3723704" y="2597649"/>
              <a:ext cx="2450254" cy="2287372"/>
              <a:chOff x="3723704" y="3087254"/>
              <a:chExt cx="2450254" cy="2287372"/>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78F2539-5121-4DF0-9354-D48C7A701398}"/>
                      </a:ext>
                    </a:extLst>
                  </p:cNvPr>
                  <p:cNvSpPr txBox="1"/>
                  <p:nvPr/>
                </p:nvSpPr>
                <p:spPr>
                  <a:xfrm>
                    <a:off x="3723704" y="3087254"/>
                    <a:ext cx="1764740" cy="2287372"/>
                  </a:xfrm>
                  <a:prstGeom prst="rect">
                    <a:avLst/>
                  </a:prstGeom>
                  <a:pattFill prst="pct10">
                    <a:fgClr>
                      <a:srgbClr val="193EB0"/>
                    </a:fgClr>
                    <a:bgClr>
                      <a:schemeClr val="bg1"/>
                    </a:bgClr>
                  </a:pattFill>
                  <a:ln w="25400">
                    <a:solidFill>
                      <a:srgbClr val="193EB0"/>
                    </a:solidFill>
                  </a:ln>
                </p:spPr>
                <p:txBody>
                  <a:bodyPr wrap="square" rtlCol="0" anchor="ctr" anchorCtr="0">
                    <a:noAutofit/>
                  </a:bodyPr>
                  <a:lstStyle/>
                  <a:p>
                    <a:pPr/>
                    <a14:m>
                      <m:oMathPara xmlns:m="http://schemas.openxmlformats.org/officeDocument/2006/math">
                        <m:oMathParaPr>
                          <m:jc m:val="centerGroup"/>
                        </m:oMathParaPr>
                        <m:oMath xmlns:m="http://schemas.openxmlformats.org/officeDocument/2006/math">
                          <m:sSub>
                            <m:sSubPr>
                              <m:ctrlPr>
                                <a:rPr lang="ko-KR" altLang="ko-KR" sz="4000" i="1">
                                  <a:solidFill>
                                    <a:schemeClr val="tx1">
                                      <a:lumMod val="85000"/>
                                      <a:lumOff val="15000"/>
                                    </a:schemeClr>
                                  </a:solidFill>
                                  <a:latin typeface="Cambria Math" panose="02040503050406030204" pitchFamily="18" charset="0"/>
                                  <a:ea typeface="SamsungOne 400" panose="020B0503030303020204" pitchFamily="34" charset="0"/>
                                </a:rPr>
                              </m:ctrlPr>
                            </m:sSubPr>
                            <m:e>
                              <m:r>
                                <a:rPr lang="en-US" altLang="ko-KR" sz="4000">
                                  <a:solidFill>
                                    <a:schemeClr val="tx1">
                                      <a:lumMod val="85000"/>
                                      <a:lumOff val="15000"/>
                                    </a:schemeClr>
                                  </a:solidFill>
                                  <a:latin typeface="Cambria Math" panose="02040503050406030204" pitchFamily="18" charset="0"/>
                                  <a:ea typeface="SamsungOne 400" panose="020B0503030303020204" pitchFamily="34" charset="0"/>
                                </a:rPr>
                                <m:t>𝑥</m:t>
                              </m:r>
                            </m:e>
                            <m:sub>
                              <m:r>
                                <a:rPr lang="en-US" altLang="ko-KR" sz="4000">
                                  <a:solidFill>
                                    <a:schemeClr val="tx1">
                                      <a:lumMod val="85000"/>
                                      <a:lumOff val="15000"/>
                                    </a:schemeClr>
                                  </a:solidFill>
                                  <a:latin typeface="Cambria Math" panose="02040503050406030204" pitchFamily="18" charset="0"/>
                                  <a:ea typeface="SamsungOne 400" panose="020B0503030303020204" pitchFamily="34" charset="0"/>
                                </a:rPr>
                                <m:t>𝑖</m:t>
                              </m:r>
                            </m:sub>
                          </m:sSub>
                        </m:oMath>
                      </m:oMathPara>
                    </a14:m>
                    <a:endParaRPr lang="en-US" altLang="ko-KR" sz="4000" dirty="0">
                      <a:solidFill>
                        <a:schemeClr val="tx1">
                          <a:lumMod val="85000"/>
                          <a:lumOff val="15000"/>
                        </a:schemeClr>
                      </a:solidFill>
                      <a:latin typeface="SamsungOne 400" panose="020B0503030303020204" pitchFamily="34" charset="0"/>
                      <a:ea typeface="SamsungOne 400" panose="020B0503030303020204" pitchFamily="34" charset="0"/>
                    </a:endParaRPr>
                  </a:p>
                </p:txBody>
              </p:sp>
            </mc:Choice>
            <mc:Fallback xmlns="">
              <p:sp>
                <p:nvSpPr>
                  <p:cNvPr id="15" name="TextBox 14">
                    <a:extLst>
                      <a:ext uri="{FF2B5EF4-FFF2-40B4-BE49-F238E27FC236}">
                        <a16:creationId xmlns:a16="http://schemas.microsoft.com/office/drawing/2014/main" id="{378F2539-5121-4DF0-9354-D48C7A701398}"/>
                      </a:ext>
                    </a:extLst>
                  </p:cNvPr>
                  <p:cNvSpPr txBox="1">
                    <a:spLocks noRot="1" noChangeAspect="1" noMove="1" noResize="1" noEditPoints="1" noAdjustHandles="1" noChangeArrowheads="1" noChangeShapeType="1" noTextEdit="1"/>
                  </p:cNvSpPr>
                  <p:nvPr/>
                </p:nvSpPr>
                <p:spPr>
                  <a:xfrm>
                    <a:off x="3723704" y="3087254"/>
                    <a:ext cx="1764740" cy="2287372"/>
                  </a:xfrm>
                  <a:prstGeom prst="rect">
                    <a:avLst/>
                  </a:prstGeom>
                  <a:blipFill>
                    <a:blip r:embed="rId4"/>
                    <a:stretch>
                      <a:fillRect/>
                    </a:stretch>
                  </a:blipFill>
                  <a:ln w="25400">
                    <a:solidFill>
                      <a:srgbClr val="193EB0"/>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582F888-FA24-4B6D-B874-F5FD8CB915AF}"/>
                      </a:ext>
                    </a:extLst>
                  </p:cNvPr>
                  <p:cNvSpPr txBox="1"/>
                  <p:nvPr/>
                </p:nvSpPr>
                <p:spPr>
                  <a:xfrm>
                    <a:off x="5488444" y="3087254"/>
                    <a:ext cx="685514" cy="2287372"/>
                  </a:xfrm>
                  <a:prstGeom prst="rect">
                    <a:avLst/>
                  </a:prstGeom>
                  <a:solidFill>
                    <a:schemeClr val="bg1">
                      <a:alpha val="30000"/>
                    </a:schemeClr>
                  </a:solidFill>
                  <a:ln w="25400">
                    <a:solidFill>
                      <a:srgbClr val="193EB0"/>
                    </a:solidFill>
                  </a:ln>
                </p:spPr>
                <p:txBody>
                  <a:bodyPr wrap="square" rtlCol="0" anchor="ctr" anchorCtr="0">
                    <a:noAutofit/>
                  </a:bodyPr>
                  <a:lstStyle/>
                  <a:p>
                    <a:endParaRPr lang="en-US" altLang="ko-KR" sz="3600" i="1" dirty="0">
                      <a:solidFill>
                        <a:srgbClr val="0070C0"/>
                      </a:solidFill>
                      <a:latin typeface="SamsungOne 700" panose="020B0803030303020204" pitchFamily="34" charset="0"/>
                      <a:ea typeface="SamsungOne 700" panose="020B0803030303020204" pitchFamily="34" charset="0"/>
                    </a:endParaRPr>
                  </a:p>
                  <a:p>
                    <a:pPr/>
                    <a14:m>
                      <m:oMathPara xmlns:m="http://schemas.openxmlformats.org/officeDocument/2006/math">
                        <m:oMathParaPr>
                          <m:jc m:val="centerGroup"/>
                        </m:oMathParaPr>
                        <m:oMath xmlns:m="http://schemas.openxmlformats.org/officeDocument/2006/math">
                          <m:r>
                            <a:rPr lang="en-US" altLang="ko-KR" sz="4000">
                              <a:solidFill>
                                <a:schemeClr val="tx1">
                                  <a:lumMod val="85000"/>
                                  <a:lumOff val="15000"/>
                                </a:schemeClr>
                              </a:solidFill>
                              <a:latin typeface="Cambria Math" panose="02040503050406030204" pitchFamily="18" charset="0"/>
                              <a:ea typeface="SamsungOne 400" panose="020B0503030303020204" pitchFamily="34" charset="0"/>
                            </a:rPr>
                            <m:t>𝑦</m:t>
                          </m:r>
                        </m:oMath>
                      </m:oMathPara>
                    </a14:m>
                    <a:endParaRPr lang="en-US" altLang="ko-KR" sz="3600" dirty="0">
                      <a:latin typeface="SamsungOne 700" panose="020B0803030303020204" pitchFamily="34" charset="0"/>
                      <a:ea typeface="SamsungOne 700" panose="020B0803030303020204" pitchFamily="34" charset="0"/>
                    </a:endParaRPr>
                  </a:p>
                  <a:p>
                    <a:endParaRPr lang="en-US" altLang="ko-KR" sz="3600" dirty="0">
                      <a:latin typeface="SamsungOne 700" panose="020B0803030303020204" pitchFamily="34" charset="0"/>
                      <a:ea typeface="SamsungOne 700" panose="020B0803030303020204" pitchFamily="34" charset="0"/>
                    </a:endParaRPr>
                  </a:p>
                </p:txBody>
              </p:sp>
            </mc:Choice>
            <mc:Fallback xmlns="">
              <p:sp>
                <p:nvSpPr>
                  <p:cNvPr id="16" name="TextBox 15">
                    <a:extLst>
                      <a:ext uri="{FF2B5EF4-FFF2-40B4-BE49-F238E27FC236}">
                        <a16:creationId xmlns:a16="http://schemas.microsoft.com/office/drawing/2014/main" id="{4582F888-FA24-4B6D-B874-F5FD8CB915AF}"/>
                      </a:ext>
                    </a:extLst>
                  </p:cNvPr>
                  <p:cNvSpPr txBox="1">
                    <a:spLocks noRot="1" noChangeAspect="1" noMove="1" noResize="1" noEditPoints="1" noAdjustHandles="1" noChangeArrowheads="1" noChangeShapeType="1" noTextEdit="1"/>
                  </p:cNvSpPr>
                  <p:nvPr/>
                </p:nvSpPr>
                <p:spPr>
                  <a:xfrm>
                    <a:off x="5488444" y="3087254"/>
                    <a:ext cx="685514" cy="2287372"/>
                  </a:xfrm>
                  <a:prstGeom prst="rect">
                    <a:avLst/>
                  </a:prstGeom>
                  <a:blipFill>
                    <a:blip r:embed="rId5"/>
                    <a:stretch>
                      <a:fillRect/>
                    </a:stretch>
                  </a:blipFill>
                  <a:ln w="25400">
                    <a:solidFill>
                      <a:srgbClr val="193EB0"/>
                    </a:solidFill>
                  </a:ln>
                </p:spPr>
                <p:txBody>
                  <a:bodyPr/>
                  <a:lstStyle/>
                  <a:p>
                    <a:r>
                      <a:rPr lang="ko-KR" altLang="en-US">
                        <a:noFill/>
                      </a:rPr>
                      <a:t> </a:t>
                    </a:r>
                  </a:p>
                </p:txBody>
              </p:sp>
            </mc:Fallback>
          </mc:AlternateContent>
        </p:grpSp>
        <p:sp>
          <p:nvSpPr>
            <p:cNvPr id="17" name="TextBox 16">
              <a:extLst>
                <a:ext uri="{FF2B5EF4-FFF2-40B4-BE49-F238E27FC236}">
                  <a16:creationId xmlns:a16="http://schemas.microsoft.com/office/drawing/2014/main" id="{1C7AE7E8-A841-48AD-831E-E99D60433D86}"/>
                </a:ext>
              </a:extLst>
            </p:cNvPr>
            <p:cNvSpPr txBox="1"/>
            <p:nvPr/>
          </p:nvSpPr>
          <p:spPr>
            <a:xfrm>
              <a:off x="3662609" y="5275907"/>
              <a:ext cx="2584125" cy="292388"/>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r>
                <a:rPr lang="en-US" altLang="ko-KR" dirty="0">
                  <a:solidFill>
                    <a:srgbClr val="FF0000"/>
                  </a:solidFill>
                </a:rPr>
                <a:t>Training dataset</a:t>
              </a:r>
              <a:endParaRPr lang="ko-KR" altLang="en-US" dirty="0">
                <a:solidFill>
                  <a:srgbClr val="FF0000"/>
                </a:solidFill>
              </a:endParaRPr>
            </a:p>
          </p:txBody>
        </p:sp>
        <p:sp>
          <p:nvSpPr>
            <p:cNvPr id="18" name="오른쪽 중괄호 17">
              <a:extLst>
                <a:ext uri="{FF2B5EF4-FFF2-40B4-BE49-F238E27FC236}">
                  <a16:creationId xmlns:a16="http://schemas.microsoft.com/office/drawing/2014/main" id="{9708C4CC-35BE-46B8-A827-0CE838905D65}"/>
                </a:ext>
              </a:extLst>
            </p:cNvPr>
            <p:cNvSpPr/>
            <p:nvPr/>
          </p:nvSpPr>
          <p:spPr>
            <a:xfrm rot="5400000" flipV="1">
              <a:off x="4781389" y="3891001"/>
              <a:ext cx="342337" cy="2442804"/>
            </a:xfrm>
            <a:prstGeom prst="rightBrace">
              <a:avLst>
                <a:gd name="adj1" fmla="val 34851"/>
                <a:gd name="adj2" fmla="val 50000"/>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grpSp>
    </p:spTree>
    <p:extLst>
      <p:ext uri="{BB962C8B-B14F-4D97-AF65-F5344CB8AC3E}">
        <p14:creationId xmlns:p14="http://schemas.microsoft.com/office/powerpoint/2010/main" val="397796934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Regression training and prediction (testing)</a:t>
            </a:r>
          </a:p>
        </p:txBody>
      </p:sp>
      <p:sp>
        <p:nvSpPr>
          <p:cNvPr id="10" name="직사각형 9">
            <a:extLst>
              <a:ext uri="{FF2B5EF4-FFF2-40B4-BE49-F238E27FC236}">
                <a16:creationId xmlns:a16="http://schemas.microsoft.com/office/drawing/2014/main" id="{E5B73998-95AD-4DF4-A9AB-D07639C34B25}"/>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2) Prediction step: when a new set of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𝑥</a:t>
            </a:r>
            <a:r>
              <a:rPr lang="ko-KR" altLang="en-US" sz="1300" baseline="-25000" dirty="0">
                <a:solidFill>
                  <a:schemeClr val="tx1">
                    <a:lumMod val="85000"/>
                    <a:lumOff val="15000"/>
                  </a:schemeClr>
                </a:solidFill>
                <a:latin typeface="SamsungOne 400" panose="020B0503030303020204" pitchFamily="34" charset="0"/>
                <a:ea typeface="SamsungOne 400" panose="020B0503030303020204" pitchFamily="34" charset="0"/>
              </a:rPr>
              <a:t>𝑖</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is given, calculate the value of </a:t>
            </a:r>
            <a:r>
              <a:rPr lang="ko-KR" altLang="en-US" sz="1300" dirty="0">
                <a:solidFill>
                  <a:srgbClr val="FF0000"/>
                </a:solidFill>
                <a:latin typeface="SamsungOne 400" panose="020B0503030303020204" pitchFamily="34" charset="0"/>
                <a:ea typeface="SamsungOne 400" panose="020B0503030303020204" pitchFamily="34" charset="0"/>
              </a:rPr>
              <a:t>𝑦</a:t>
            </a:r>
            <a:r>
              <a:rPr lang="en-US" altLang="ko-KR" sz="1300" dirty="0">
                <a:solidFill>
                  <a:srgbClr val="FF0000"/>
                </a:solidFill>
                <a:latin typeface="SamsungOne 400" panose="020B0503030303020204" pitchFamily="34" charset="0"/>
                <a:ea typeface="SamsungOne 400" panose="020B0503030303020204" pitchFamily="34" charset="0"/>
              </a:rPr>
              <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which was unknown.</a:t>
            </a:r>
          </a:p>
        </p:txBody>
      </p:sp>
      <p:grpSp>
        <p:nvGrpSpPr>
          <p:cNvPr id="13" name="그룹 12">
            <a:extLst>
              <a:ext uri="{FF2B5EF4-FFF2-40B4-BE49-F238E27FC236}">
                <a16:creationId xmlns:a16="http://schemas.microsoft.com/office/drawing/2014/main" id="{5593E420-7C73-4C22-875B-AA61E8690269}"/>
              </a:ext>
            </a:extLst>
          </p:cNvPr>
          <p:cNvGrpSpPr/>
          <p:nvPr/>
        </p:nvGrpSpPr>
        <p:grpSpPr>
          <a:xfrm>
            <a:off x="3723704" y="2380215"/>
            <a:ext cx="2450254" cy="2287372"/>
            <a:chOff x="3723704" y="3087254"/>
            <a:chExt cx="2450254" cy="2287372"/>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F9C3597-856E-43E2-BDB9-4B4560BE8633}"/>
                    </a:ext>
                  </a:extLst>
                </p:cNvPr>
                <p:cNvSpPr txBox="1"/>
                <p:nvPr/>
              </p:nvSpPr>
              <p:spPr>
                <a:xfrm>
                  <a:off x="3723704" y="3087254"/>
                  <a:ext cx="1764740" cy="2287372"/>
                </a:xfrm>
                <a:prstGeom prst="rect">
                  <a:avLst/>
                </a:prstGeom>
                <a:pattFill prst="pct10">
                  <a:fgClr>
                    <a:srgbClr val="193EB0"/>
                  </a:fgClr>
                  <a:bgClr>
                    <a:schemeClr val="bg1"/>
                  </a:bgClr>
                </a:pattFill>
                <a:ln w="25400">
                  <a:solidFill>
                    <a:srgbClr val="193EB0"/>
                  </a:solidFill>
                </a:ln>
              </p:spPr>
              <p:txBody>
                <a:bodyPr wrap="square" rtlCol="0" anchor="ctr" anchorCtr="0">
                  <a:noAutofit/>
                </a:bodyPr>
                <a:lstStyle/>
                <a:p>
                  <a:pPr algn="ctr"/>
                  <a:r>
                    <a:rPr lang="en-US" altLang="ko-KR" sz="3200" dirty="0">
                      <a:solidFill>
                        <a:srgbClr val="262626"/>
                      </a:solidFill>
                      <a:ea typeface="SamsungOne 400" panose="020B0503030303020204" pitchFamily="34" charset="0"/>
                    </a:rPr>
                    <a:t> </a:t>
                  </a:r>
                  <a14:m>
                    <m:oMath xmlns:m="http://schemas.openxmlformats.org/officeDocument/2006/math">
                      <m:sSub>
                        <m:sSubPr>
                          <m:ctrlPr>
                            <a:rPr lang="ko-KR" altLang="ko-KR" sz="3200" i="1" smtClean="0">
                              <a:solidFill>
                                <a:srgbClr val="262626"/>
                              </a:solidFill>
                              <a:latin typeface="Cambria Math" panose="02040503050406030204" pitchFamily="18" charset="0"/>
                              <a:ea typeface="SamsungOne 400" panose="020B0503030303020204" pitchFamily="34" charset="0"/>
                            </a:rPr>
                          </m:ctrlPr>
                        </m:sSubPr>
                        <m:e>
                          <m:r>
                            <a:rPr lang="en-US" altLang="ko-KR" sz="3200">
                              <a:solidFill>
                                <a:srgbClr val="262626"/>
                              </a:solidFill>
                              <a:latin typeface="Cambria Math" panose="02040503050406030204" pitchFamily="18" charset="0"/>
                              <a:ea typeface="SamsungOne 400" panose="020B0503030303020204" pitchFamily="34" charset="0"/>
                            </a:rPr>
                            <m:t>𝑥</m:t>
                          </m:r>
                        </m:e>
                        <m:sub>
                          <m:r>
                            <a:rPr lang="en-US" altLang="ko-KR" sz="3200">
                              <a:solidFill>
                                <a:srgbClr val="262626"/>
                              </a:solidFill>
                              <a:latin typeface="Cambria Math" panose="02040503050406030204" pitchFamily="18" charset="0"/>
                              <a:ea typeface="SamsungOne 400" panose="020B0503030303020204" pitchFamily="34" charset="0"/>
                            </a:rPr>
                            <m:t>𝑖</m:t>
                          </m:r>
                        </m:sub>
                      </m:sSub>
                      <m:r>
                        <a:rPr lang="en-US" altLang="ko-KR" sz="3200" smtClean="0">
                          <a:solidFill>
                            <a:srgbClr val="262626"/>
                          </a:solidFill>
                          <a:latin typeface="Cambria Math" panose="02040503050406030204" pitchFamily="18" charset="0"/>
                          <a:ea typeface="SamsungOne 400" panose="020B0503030303020204" pitchFamily="34" charset="0"/>
                        </a:rPr>
                        <m:t>′</m:t>
                      </m:r>
                    </m:oMath>
                  </a14:m>
                  <a:endParaRPr lang="en-US" altLang="ko-KR" sz="3200" dirty="0">
                    <a:solidFill>
                      <a:srgbClr val="262626"/>
                    </a:solidFill>
                    <a:latin typeface="SamsungOne 400" panose="020B0503030303020204" pitchFamily="34" charset="0"/>
                    <a:ea typeface="SamsungOne 400" panose="020B0503030303020204" pitchFamily="34" charset="0"/>
                  </a:endParaRPr>
                </a:p>
              </p:txBody>
            </p:sp>
          </mc:Choice>
          <mc:Fallback xmlns="">
            <p:sp>
              <p:nvSpPr>
                <p:cNvPr id="14" name="TextBox 13">
                  <a:extLst>
                    <a:ext uri="{FF2B5EF4-FFF2-40B4-BE49-F238E27FC236}">
                      <a16:creationId xmlns:a16="http://schemas.microsoft.com/office/drawing/2014/main" xmlns:a14="http://schemas.microsoft.com/office/drawing/2010/main" xmlns="" id="{1F9C3597-856E-43E2-BDB9-4B4560BE8633}"/>
                    </a:ext>
                  </a:extLst>
                </p:cNvPr>
                <p:cNvSpPr txBox="1">
                  <a:spLocks noRot="1" noChangeAspect="1" noMove="1" noResize="1" noEditPoints="1" noAdjustHandles="1" noChangeArrowheads="1" noChangeShapeType="1" noTextEdit="1"/>
                </p:cNvSpPr>
                <p:nvPr/>
              </p:nvSpPr>
              <p:spPr>
                <a:xfrm>
                  <a:off x="3723704" y="3087254"/>
                  <a:ext cx="1764740" cy="2287372"/>
                </a:xfrm>
                <a:prstGeom prst="rect">
                  <a:avLst/>
                </a:prstGeom>
                <a:blipFill rotWithShape="0">
                  <a:blip r:embed="rId4"/>
                  <a:stretch>
                    <a:fillRect/>
                  </a:stretch>
                </a:blipFill>
                <a:ln w="25400">
                  <a:solidFill>
                    <a:srgbClr val="193EB0"/>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640C0CB-6B8A-4E72-BB4E-8E28AC676F09}"/>
                    </a:ext>
                  </a:extLst>
                </p:cNvPr>
                <p:cNvSpPr txBox="1"/>
                <p:nvPr/>
              </p:nvSpPr>
              <p:spPr>
                <a:xfrm>
                  <a:off x="5488444" y="3087254"/>
                  <a:ext cx="685514" cy="2287372"/>
                </a:xfrm>
                <a:prstGeom prst="rect">
                  <a:avLst/>
                </a:prstGeom>
                <a:solidFill>
                  <a:schemeClr val="bg1">
                    <a:alpha val="30000"/>
                  </a:schemeClr>
                </a:solidFill>
                <a:ln w="25400">
                  <a:solidFill>
                    <a:srgbClr val="193EB0"/>
                  </a:solidFill>
                </a:ln>
              </p:spPr>
              <p:txBody>
                <a:bodyPr wrap="square" rtlCol="0" anchor="ctr" anchorCtr="0">
                  <a:noAutofit/>
                </a:bodyPr>
                <a:lstStyle/>
                <a:p>
                  <a:endParaRPr lang="en-US" altLang="ko-KR" sz="2800" i="1" spc="-150" dirty="0">
                    <a:solidFill>
                      <a:srgbClr val="0070C0"/>
                    </a:solidFill>
                    <a:latin typeface="SamsungOne 700" panose="020B0803030303020204" pitchFamily="34" charset="0"/>
                    <a:ea typeface="SamsungOne 700" panose="020B0803030303020204" pitchFamily="34" charset="0"/>
                  </a:endParaRPr>
                </a:p>
                <a:p>
                  <a:pPr/>
                  <a14:m>
                    <m:oMathPara xmlns:m="http://schemas.openxmlformats.org/officeDocument/2006/math">
                      <m:oMathParaPr>
                        <m:jc m:val="centerGroup"/>
                      </m:oMathParaPr>
                      <m:oMath xmlns:m="http://schemas.openxmlformats.org/officeDocument/2006/math">
                        <m:sSup>
                          <m:sSupPr>
                            <m:ctrlPr>
                              <a:rPr lang="en-US" altLang="ko-KR" sz="3200" i="1" spc="-150" smtClean="0">
                                <a:solidFill>
                                  <a:srgbClr val="FF0000"/>
                                </a:solidFill>
                                <a:latin typeface="Cambria Math" panose="02040503050406030204" pitchFamily="18" charset="0"/>
                                <a:ea typeface="SamsungOne 400" panose="020B0503030303020204" pitchFamily="34" charset="0"/>
                              </a:rPr>
                            </m:ctrlPr>
                          </m:sSupPr>
                          <m:e>
                            <m:r>
                              <a:rPr lang="en-US" altLang="ko-KR" sz="3200" spc="-150" smtClean="0">
                                <a:solidFill>
                                  <a:srgbClr val="FF0000"/>
                                </a:solidFill>
                                <a:latin typeface="Cambria Math" panose="02040503050406030204" pitchFamily="18" charset="0"/>
                                <a:ea typeface="SamsungOne 400" panose="020B0503030303020204" pitchFamily="34" charset="0"/>
                              </a:rPr>
                              <m:t>𝑦</m:t>
                            </m:r>
                          </m:e>
                          <m:sup>
                            <m:r>
                              <a:rPr lang="en-US" altLang="ko-KR" sz="3200" spc="-150" smtClean="0">
                                <a:solidFill>
                                  <a:srgbClr val="FF0000"/>
                                </a:solidFill>
                                <a:latin typeface="Cambria Math" panose="02040503050406030204" pitchFamily="18" charset="0"/>
                                <a:ea typeface="SamsungOne 400" panose="020B0503030303020204" pitchFamily="34" charset="0"/>
                              </a:rPr>
                              <m:t>′</m:t>
                            </m:r>
                          </m:sup>
                        </m:sSup>
                        <m:r>
                          <a:rPr lang="en-US" altLang="ko-KR" sz="3200" spc="-150" smtClean="0">
                            <a:solidFill>
                              <a:srgbClr val="262626"/>
                            </a:solidFill>
                            <a:latin typeface="Cambria Math" panose="02040503050406030204" pitchFamily="18" charset="0"/>
                            <a:ea typeface="SamsungOne 400" panose="020B0503030303020204" pitchFamily="34" charset="0"/>
                          </a:rPr>
                          <m:t>?</m:t>
                        </m:r>
                      </m:oMath>
                    </m:oMathPara>
                  </a14:m>
                  <a:endParaRPr lang="en-US" altLang="ko-KR" sz="3200" spc="-150" dirty="0">
                    <a:solidFill>
                      <a:srgbClr val="262626"/>
                    </a:solidFill>
                    <a:latin typeface="SamsungOne 400" panose="020B0503030303020204" pitchFamily="34" charset="0"/>
                    <a:ea typeface="SamsungOne 400" panose="020B0503030303020204" pitchFamily="34" charset="0"/>
                  </a:endParaRPr>
                </a:p>
                <a:p>
                  <a:endParaRPr lang="en-US" altLang="ko-KR" sz="2800" spc="-150" dirty="0">
                    <a:latin typeface="SamsungOne 700" panose="020B0803030303020204" pitchFamily="34" charset="0"/>
                    <a:ea typeface="SamsungOne 700" panose="020B0803030303020204" pitchFamily="34" charset="0"/>
                  </a:endParaRPr>
                </a:p>
              </p:txBody>
            </p:sp>
          </mc:Choice>
          <mc:Fallback xmlns="">
            <p:sp>
              <p:nvSpPr>
                <p:cNvPr id="19" name="TextBox 18">
                  <a:extLst>
                    <a:ext uri="{FF2B5EF4-FFF2-40B4-BE49-F238E27FC236}">
                      <a16:creationId xmlns:a16="http://schemas.microsoft.com/office/drawing/2014/main" id="{6640C0CB-6B8A-4E72-BB4E-8E28AC676F09}"/>
                    </a:ext>
                  </a:extLst>
                </p:cNvPr>
                <p:cNvSpPr txBox="1">
                  <a:spLocks noRot="1" noChangeAspect="1" noMove="1" noResize="1" noEditPoints="1" noAdjustHandles="1" noChangeArrowheads="1" noChangeShapeType="1" noTextEdit="1"/>
                </p:cNvSpPr>
                <p:nvPr/>
              </p:nvSpPr>
              <p:spPr>
                <a:xfrm>
                  <a:off x="5488444" y="3087254"/>
                  <a:ext cx="685514" cy="2287372"/>
                </a:xfrm>
                <a:prstGeom prst="rect">
                  <a:avLst/>
                </a:prstGeom>
                <a:blipFill>
                  <a:blip r:embed="rId5"/>
                  <a:stretch>
                    <a:fillRect/>
                  </a:stretch>
                </a:blipFill>
                <a:ln w="25400">
                  <a:solidFill>
                    <a:srgbClr val="193EB0"/>
                  </a:solidFill>
                </a:ln>
              </p:spPr>
              <p:txBody>
                <a:bodyPr/>
                <a:lstStyle/>
                <a:p>
                  <a:r>
                    <a:rPr lang="ko-KR" altLang="en-US">
                      <a:noFill/>
                    </a:rPr>
                    <a:t> </a:t>
                  </a:r>
                </a:p>
              </p:txBody>
            </p:sp>
          </mc:Fallback>
        </mc:AlternateContent>
      </p:grpSp>
      <mc:AlternateContent xmlns:mc="http://schemas.openxmlformats.org/markup-compatibility/2006" xmlns:a14="http://schemas.microsoft.com/office/drawing/2010/main">
        <mc:Choice Requires="a14">
          <p:sp>
            <p:nvSpPr>
              <p:cNvPr id="20" name="직사각형 19">
                <a:extLst>
                  <a:ext uri="{FF2B5EF4-FFF2-40B4-BE49-F238E27FC236}">
                    <a16:creationId xmlns:a16="http://schemas.microsoft.com/office/drawing/2014/main" id="{EE5D5CC8-7434-436C-BA38-6073775C01B0}"/>
                  </a:ext>
                </a:extLst>
              </p:cNvPr>
              <p:cNvSpPr/>
              <p:nvPr/>
            </p:nvSpPr>
            <p:spPr>
              <a:xfrm>
                <a:off x="666750" y="4811731"/>
                <a:ext cx="8632825" cy="6720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predicted value of </a:t>
                </a:r>
                <a:r>
                  <a:rPr lang="ko-KR" altLang="en-US" sz="1300" dirty="0">
                    <a:solidFill>
                      <a:srgbClr val="FF0000"/>
                    </a:solidFill>
                    <a:latin typeface="SamsungOne 400" panose="020B0503030303020204" pitchFamily="34" charset="0"/>
                    <a:ea typeface="SamsungOne 400" panose="020B0503030303020204" pitchFamily="34" charset="0"/>
                  </a:rPr>
                  <a:t>𝑦</a:t>
                </a:r>
                <a:r>
                  <a:rPr lang="en-US" altLang="ko-KR" sz="1300" dirty="0">
                    <a:solidFill>
                      <a:srgbClr val="FF0000"/>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is denoted as </a:t>
                </a:r>
                <a14:m>
                  <m:oMath xmlns:m="http://schemas.openxmlformats.org/officeDocument/2006/math">
                    <m:acc>
                      <m:accPr>
                        <m:chr m:val="̂"/>
                        <m:ctrlPr>
                          <a:rPr lang="ko-KR" altLang="en-US" sz="1300" i="1" dirty="0" smtClean="0">
                            <a:solidFill>
                              <a:srgbClr val="FF0000"/>
                            </a:solidFill>
                            <a:latin typeface="Cambria Math" panose="02040503050406030204" pitchFamily="18" charset="0"/>
                          </a:rPr>
                        </m:ctrlPr>
                      </m:accPr>
                      <m:e>
                        <m:r>
                          <a:rPr lang="en-US" altLang="ko-KR" sz="1300" b="0" i="1" dirty="0" smtClean="0">
                            <a:solidFill>
                              <a:srgbClr val="FF0000"/>
                            </a:solidFill>
                            <a:latin typeface="Cambria Math" panose="02040503050406030204" pitchFamily="18" charset="0"/>
                          </a:rPr>
                          <m:t>𝑦</m:t>
                        </m:r>
                      </m:e>
                    </m:acc>
                  </m:oMath>
                </a14:m>
                <a:r>
                  <a:rPr lang="ko-KR" altLang="en-US" sz="1300" dirty="0">
                    <a:solidFill>
                      <a:srgbClr val="FF0000"/>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which is a conditional expectation </a:t>
                </a:r>
                <a14:m>
                  <m:oMath xmlns:m="http://schemas.openxmlformats.org/officeDocument/2006/math">
                    <m:acc>
                      <m:accPr>
                        <m:chr m:val="̂"/>
                        <m:ctrlPr>
                          <a:rPr lang="en-US" altLang="ko-KR" sz="1300" i="1" dirty="0" smtClean="0">
                            <a:solidFill>
                              <a:srgbClr val="FF0000"/>
                            </a:solidFill>
                            <a:latin typeface="Cambria Math" panose="02040503050406030204" pitchFamily="18" charset="0"/>
                          </a:rPr>
                        </m:ctrlPr>
                      </m:accPr>
                      <m:e>
                        <m:r>
                          <a:rPr lang="en-US" altLang="ko-KR" sz="1300" b="0" i="1" dirty="0" smtClean="0">
                            <a:solidFill>
                              <a:srgbClr val="FF0000"/>
                            </a:solidFill>
                            <a:latin typeface="Cambria Math" panose="02040503050406030204" pitchFamily="18" charset="0"/>
                          </a:rPr>
                          <m:t>𝑦</m:t>
                        </m:r>
                      </m:e>
                    </m:acc>
                    <m:r>
                      <a:rPr lang="en-US" altLang="ko-KR" sz="1300" i="1" dirty="0">
                        <a:solidFill>
                          <a:srgbClr val="FF0000"/>
                        </a:solidFill>
                        <a:latin typeface="Cambria Math" panose="02040503050406030204" pitchFamily="18" charset="0"/>
                      </a:rPr>
                      <m:t> </m:t>
                    </m:r>
                  </m:oMath>
                </a14:m>
                <a:r>
                  <a:rPr lang="en-US" altLang="ko-KR" sz="1300" dirty="0">
                    <a:solidFill>
                      <a:srgbClr val="FF0000"/>
                    </a:solidFill>
                    <a:latin typeface="SamsungOne 400" panose="020B0503030303020204" pitchFamily="34" charset="0"/>
                    <a:ea typeface="SamsungOne 400" panose="020B0503030303020204" pitchFamily="34" charset="0"/>
                  </a:rPr>
                  <a:t>=</a:t>
                </a:r>
                <a:r>
                  <a:rPr lang="ko-KR" altLang="en-US" sz="1300" dirty="0">
                    <a:solidFill>
                      <a:srgbClr val="FF0000"/>
                    </a:solidFill>
                    <a:latin typeface="SamsungOne 400" panose="020B0503030303020204" pitchFamily="34" charset="0"/>
                    <a:ea typeface="SamsungOne 400" panose="020B0503030303020204" pitchFamily="34" charset="0"/>
                  </a:rPr>
                  <a:t>𝐸</a:t>
                </a:r>
                <a:r>
                  <a:rPr lang="en-US" altLang="ko-KR" sz="1300" dirty="0">
                    <a:solidFill>
                      <a:srgbClr val="FF0000"/>
                    </a:solidFill>
                    <a:latin typeface="SamsungOne 400" panose="020B0503030303020204" pitchFamily="34" charset="0"/>
                    <a:ea typeface="SamsungOne 400" panose="020B0503030303020204" pitchFamily="34" charset="0"/>
                  </a:rPr>
                  <a:t>[</a:t>
                </a:r>
                <a:r>
                  <a:rPr lang="ko-KR" altLang="en-US" sz="1300" dirty="0">
                    <a:solidFill>
                      <a:srgbClr val="FF0000"/>
                    </a:solidFill>
                    <a:latin typeface="SamsungOne 400" panose="020B0503030303020204" pitchFamily="34" charset="0"/>
                    <a:ea typeface="SamsungOne 400" panose="020B0503030303020204" pitchFamily="34" charset="0"/>
                  </a:rPr>
                  <a:t>𝑦</a:t>
                </a:r>
                <a:r>
                  <a:rPr lang="en-US" altLang="ko-KR" sz="1300" dirty="0">
                    <a:solidFill>
                      <a:srgbClr val="FF0000"/>
                    </a:solidFill>
                    <a:latin typeface="SamsungOne 400" panose="020B0503030303020204" pitchFamily="34" charset="0"/>
                    <a:ea typeface="SamsungOne 400" panose="020B0503030303020204" pitchFamily="34" charset="0"/>
                  </a:rPr>
                  <a:t>|</a:t>
                </a:r>
                <a:r>
                  <a:rPr lang="ko-KR" altLang="en-US" sz="1300" dirty="0">
                    <a:solidFill>
                      <a:srgbClr val="FF0000"/>
                    </a:solidFill>
                    <a:latin typeface="SamsungOne 400" panose="020B0503030303020204" pitchFamily="34" charset="0"/>
                    <a:ea typeface="SamsungOne 400" panose="020B0503030303020204" pitchFamily="34" charset="0"/>
                  </a:rPr>
                  <a:t>𝑑𝑎𝑡𝑎</a:t>
                </a:r>
                <a:r>
                  <a:rPr lang="en-US" altLang="ko-KR" sz="1300" dirty="0">
                    <a:solidFill>
                      <a:srgbClr val="FF0000"/>
                    </a:solidFill>
                    <a:latin typeface="SamsungOne 400" panose="020B0503030303020204" pitchFamily="34" charset="0"/>
                    <a:ea typeface="SamsungOne 400" panose="020B0503030303020204" pitchFamily="34" charset="0"/>
                  </a:rPr>
                  <a: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en-US" altLang="ko-KR" sz="1300" dirty="0">
                    <a:solidFill>
                      <a:srgbClr val="FF0000"/>
                    </a:solidFill>
                    <a:latin typeface="SamsungOne 400" panose="020B0503030303020204" pitchFamily="34" charset="0"/>
                    <a:ea typeface="SamsungOne 400" panose="020B0503030303020204" pitchFamily="34" charset="0"/>
                  </a:rPr>
                  <a:t> </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Given the values </a:t>
                </a:r>
                <a:r>
                  <a:rPr lang="ko-KR" altLang="en-US" sz="1300" dirty="0">
                    <a:solidFill>
                      <a:srgbClr val="193EB0"/>
                    </a:solidFill>
                    <a:latin typeface="SamsungOne 400" panose="020B0503030303020204" pitchFamily="34" charset="0"/>
                    <a:ea typeface="SamsungOne 400" panose="020B0503030303020204" pitchFamily="34" charset="0"/>
                  </a:rPr>
                  <a:t>𝑥</a:t>
                </a:r>
                <a:r>
                  <a:rPr lang="en-US" altLang="ko-KR" sz="1300" baseline="-25000" dirty="0">
                    <a:solidFill>
                      <a:srgbClr val="193EB0"/>
                    </a:solidFill>
                    <a:latin typeface="SamsungOne 400" panose="020B0503030303020204" pitchFamily="34" charset="0"/>
                    <a:ea typeface="SamsungOne 400" panose="020B0503030303020204" pitchFamily="34" charset="0"/>
                  </a:rPr>
                  <a:t>1</a:t>
                </a:r>
                <a:r>
                  <a:rPr lang="en-US" altLang="ko-KR" sz="1300" dirty="0">
                    <a:solidFill>
                      <a:srgbClr val="193EB0"/>
                    </a:solidFill>
                    <a:latin typeface="SamsungOne 400" panose="020B0503030303020204" pitchFamily="34" charset="0"/>
                    <a:ea typeface="SamsungOne 400" panose="020B0503030303020204" pitchFamily="34" charset="0"/>
                  </a:rPr>
                  <a: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en-US" altLang="ko-KR" sz="1300" dirty="0">
                    <a:solidFill>
                      <a:srgbClr val="193EB0"/>
                    </a:solidFill>
                    <a:latin typeface="SamsungOne 400" panose="020B0503030303020204" pitchFamily="34" charset="0"/>
                    <a:ea typeface="SamsungOne 400" panose="020B0503030303020204" pitchFamily="34" charset="0"/>
                  </a:rPr>
                  <a:t> </a:t>
                </a:r>
                <a:r>
                  <a:rPr lang="ko-KR" altLang="en-US" sz="1300" dirty="0">
                    <a:solidFill>
                      <a:srgbClr val="193EB0"/>
                    </a:solidFill>
                    <a:latin typeface="SamsungOne 400" panose="020B0503030303020204" pitchFamily="34" charset="0"/>
                    <a:ea typeface="SamsungOne 400" panose="020B0503030303020204" pitchFamily="34" charset="0"/>
                  </a:rPr>
                  <a:t>𝑥</a:t>
                </a:r>
                <a:r>
                  <a:rPr lang="en-US" altLang="ko-KR" sz="1300" baseline="-25000" dirty="0">
                    <a:solidFill>
                      <a:srgbClr val="193EB0"/>
                    </a:solidFill>
                    <a:latin typeface="SamsungOne 400" panose="020B0503030303020204" pitchFamily="34" charset="0"/>
                    <a:ea typeface="SamsungOne 400" panose="020B0503030303020204" pitchFamily="34" charset="0"/>
                  </a:rPr>
                  <a:t>2</a:t>
                </a:r>
                <a:r>
                  <a:rPr lang="en-US" altLang="ko-KR" sz="1300" dirty="0">
                    <a:solidFill>
                      <a:srgbClr val="193EB0"/>
                    </a:solidFill>
                    <a:latin typeface="SamsungOne 400" panose="020B0503030303020204" pitchFamily="34" charset="0"/>
                    <a:ea typeface="SamsungOne 400" panose="020B0503030303020204" pitchFamily="34" charset="0"/>
                  </a:rPr>
                  <a: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en-US" altLang="ko-KR" sz="1300" dirty="0">
                    <a:solidFill>
                      <a:srgbClr val="193EB0"/>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ko-KR" altLang="en-US" sz="1300" dirty="0">
                    <a:solidFill>
                      <a:srgbClr val="193EB0"/>
                    </a:solidFill>
                    <a:latin typeface="SamsungOne 400" panose="020B0503030303020204" pitchFamily="34" charset="0"/>
                    <a:ea typeface="SamsungOne 400" panose="020B0503030303020204" pitchFamily="34" charset="0"/>
                  </a:rPr>
                  <a:t>𝑥</a:t>
                </a:r>
                <a:r>
                  <a:rPr lang="ko-KR" altLang="en-US" sz="1300" baseline="-25000" dirty="0">
                    <a:solidFill>
                      <a:srgbClr val="193EB0"/>
                    </a:solidFill>
                    <a:latin typeface="SamsungOne 400" panose="020B0503030303020204" pitchFamily="34" charset="0"/>
                    <a:ea typeface="SamsungOne 400" panose="020B0503030303020204" pitchFamily="34" charset="0"/>
                  </a:rPr>
                  <a:t>𝑘</a:t>
                </a:r>
                <a:r>
                  <a:rPr lang="en-US" altLang="ko-KR" sz="1300" dirty="0">
                    <a:solidFill>
                      <a:srgbClr val="193EB0"/>
                    </a:solidFill>
                    <a:latin typeface="SamsungOne 400" panose="020B0503030303020204" pitchFamily="34" charset="0"/>
                    <a:ea typeface="SamsungOne 400" panose="020B0503030303020204" pitchFamily="34" charset="0"/>
                  </a:rPr>
                  <a: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en-US" altLang="ko-KR" sz="1300" dirty="0">
                    <a:solidFill>
                      <a:srgbClr val="193EB0"/>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calculate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𝑦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𝛽</a:t>
                </a:r>
                <a:r>
                  <a:rPr lang="en-US" altLang="ko-KR" sz="1300" baseline="-25000" dirty="0">
                    <a:solidFill>
                      <a:prstClr val="black">
                        <a:lumMod val="85000"/>
                        <a:lumOff val="15000"/>
                      </a:prstClr>
                    </a:solidFill>
                    <a:latin typeface="SamsungOne 400" panose="020B0503030303020204" pitchFamily="34" charset="0"/>
                    <a:ea typeface="SamsungOne 400" panose="020B0503030303020204" pitchFamily="34" charset="0"/>
                  </a:rPr>
                  <a:t>0</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𝛽</a:t>
                </a:r>
                <a:r>
                  <a:rPr lang="en-US" altLang="ko-KR" sz="1300" baseline="-25000" dirty="0">
                    <a:solidFill>
                      <a:prstClr val="black">
                        <a:lumMod val="85000"/>
                        <a:lumOff val="15000"/>
                      </a:prstClr>
                    </a:solidFill>
                    <a:latin typeface="SamsungOne 400" panose="020B0503030303020204" pitchFamily="34" charset="0"/>
                    <a:ea typeface="SamsungOne 400" panose="020B0503030303020204" pitchFamily="34" charset="0"/>
                  </a:rPr>
                  <a:t>1 </a:t>
                </a:r>
                <a:r>
                  <a:rPr lang="ko-KR" altLang="en-US" sz="1300" dirty="0">
                    <a:solidFill>
                      <a:srgbClr val="193EB0"/>
                    </a:solidFill>
                    <a:latin typeface="SamsungOne 400" panose="020B0503030303020204" pitchFamily="34" charset="0"/>
                    <a:ea typeface="SamsungOne 400" panose="020B0503030303020204" pitchFamily="34" charset="0"/>
                  </a:rPr>
                  <a:t>𝑥</a:t>
                </a:r>
                <a:r>
                  <a:rPr lang="en-US" altLang="ko-KR" sz="1300" baseline="-25000" dirty="0">
                    <a:solidFill>
                      <a:srgbClr val="193EB0"/>
                    </a:solidFill>
                    <a:latin typeface="SamsungOne 400" panose="020B0503030303020204" pitchFamily="34" charset="0"/>
                    <a:ea typeface="SamsungOne 400" panose="020B0503030303020204" pitchFamily="34" charset="0"/>
                  </a:rPr>
                  <a:t>1</a:t>
                </a:r>
                <a:r>
                  <a:rPr lang="en-US" altLang="ko-KR" sz="1300" dirty="0">
                    <a:solidFill>
                      <a:srgbClr val="193EB0"/>
                    </a:solidFill>
                    <a:latin typeface="SamsungOne 400" panose="020B0503030303020204" pitchFamily="34" charset="0"/>
                    <a:ea typeface="SamsungOne 400" panose="020B0503030303020204" pitchFamily="34" charset="0"/>
                  </a:rPr>
                  <a: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𝛽</a:t>
                </a:r>
                <a:r>
                  <a:rPr lang="en-US" altLang="ko-KR" sz="1300" baseline="-25000" dirty="0">
                    <a:solidFill>
                      <a:prstClr val="black">
                        <a:lumMod val="85000"/>
                        <a:lumOff val="15000"/>
                      </a:prstClr>
                    </a:solidFill>
                    <a:latin typeface="SamsungOne 400" panose="020B0503030303020204" pitchFamily="34" charset="0"/>
                    <a:ea typeface="SamsungOne 400" panose="020B0503030303020204" pitchFamily="34" charset="0"/>
                  </a:rPr>
                  <a:t>2</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ko-KR" altLang="en-US" sz="1300" dirty="0">
                    <a:solidFill>
                      <a:srgbClr val="193EB0"/>
                    </a:solidFill>
                    <a:latin typeface="SamsungOne 400" panose="020B0503030303020204" pitchFamily="34" charset="0"/>
                    <a:ea typeface="SamsungOne 400" panose="020B0503030303020204" pitchFamily="34" charset="0"/>
                  </a:rPr>
                  <a:t>𝑥</a:t>
                </a:r>
                <a:r>
                  <a:rPr lang="en-US" altLang="ko-KR" sz="1300" baseline="-25000" dirty="0">
                    <a:solidFill>
                      <a:srgbClr val="193EB0"/>
                    </a:solidFill>
                    <a:latin typeface="SamsungOne 400" panose="020B0503030303020204" pitchFamily="34" charset="0"/>
                    <a:ea typeface="SamsungOne 400" panose="020B0503030303020204" pitchFamily="34" charset="0"/>
                  </a:rPr>
                  <a:t>2</a:t>
                </a:r>
                <a:r>
                  <a:rPr lang="en-US" altLang="ko-KR" sz="1300" dirty="0">
                    <a:solidFill>
                      <a:srgbClr val="193EB0"/>
                    </a:solidFill>
                    <a:latin typeface="SamsungOne 400" panose="020B0503030303020204" pitchFamily="34" charset="0"/>
                    <a:ea typeface="SamsungOne 400" panose="020B0503030303020204" pitchFamily="34" charset="0"/>
                  </a:rPr>
                  <a: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𝛽</a:t>
                </a:r>
                <a:r>
                  <a:rPr lang="ko-KR" altLang="en-US" sz="1300" baseline="-25000" dirty="0">
                    <a:solidFill>
                      <a:prstClr val="black">
                        <a:lumMod val="85000"/>
                        <a:lumOff val="15000"/>
                      </a:prstClr>
                    </a:solidFill>
                    <a:latin typeface="SamsungOne 400" panose="020B0503030303020204" pitchFamily="34" charset="0"/>
                    <a:ea typeface="SamsungOne 400" panose="020B0503030303020204" pitchFamily="34" charset="0"/>
                  </a:rPr>
                  <a:t>𝐾</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ko-KR" altLang="en-US" sz="1300" dirty="0">
                    <a:solidFill>
                      <a:srgbClr val="193EB0"/>
                    </a:solidFill>
                    <a:latin typeface="SamsungOne 400" panose="020B0503030303020204" pitchFamily="34" charset="0"/>
                    <a:ea typeface="SamsungOne 400" panose="020B0503030303020204" pitchFamily="34" charset="0"/>
                  </a:rPr>
                  <a:t>𝑥</a:t>
                </a:r>
                <a:r>
                  <a:rPr lang="ko-KR" altLang="en-US" sz="1300" baseline="-25000" dirty="0">
                    <a:solidFill>
                      <a:srgbClr val="193EB0"/>
                    </a:solidFill>
                    <a:latin typeface="SamsungOne 400" panose="020B0503030303020204" pitchFamily="34" charset="0"/>
                    <a:ea typeface="SamsungOne 400" panose="020B0503030303020204" pitchFamily="34" charset="0"/>
                  </a:rPr>
                  <a:t>𝑘</a:t>
                </a:r>
                <a:r>
                  <a:rPr lang="en-US" altLang="ko-KR" sz="1300" dirty="0">
                    <a:solidFill>
                      <a:srgbClr val="193EB0"/>
                    </a:solidFill>
                    <a:latin typeface="SamsungOne 400" panose="020B0503030303020204" pitchFamily="34" charset="0"/>
                    <a:ea typeface="SamsungOne 400" panose="020B0503030303020204" pitchFamily="34" charset="0"/>
                  </a:rPr>
                  <a: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p:txBody>
          </p:sp>
        </mc:Choice>
        <mc:Fallback xmlns="">
          <p:sp>
            <p:nvSpPr>
              <p:cNvPr id="20" name="직사각형 19">
                <a:extLst>
                  <a:ext uri="{FF2B5EF4-FFF2-40B4-BE49-F238E27FC236}">
                    <a16:creationId xmlns:a16="http://schemas.microsoft.com/office/drawing/2014/main" id="{EE5D5CC8-7434-436C-BA38-6073775C01B0}"/>
                  </a:ext>
                </a:extLst>
              </p:cNvPr>
              <p:cNvSpPr>
                <a:spLocks noRot="1" noChangeAspect="1" noMove="1" noResize="1" noEditPoints="1" noAdjustHandles="1" noChangeArrowheads="1" noChangeShapeType="1" noTextEdit="1"/>
              </p:cNvSpPr>
              <p:nvPr/>
            </p:nvSpPr>
            <p:spPr>
              <a:xfrm>
                <a:off x="666750" y="4811731"/>
                <a:ext cx="8632825" cy="672089"/>
              </a:xfrm>
              <a:prstGeom prst="rect">
                <a:avLst/>
              </a:prstGeom>
              <a:blipFill>
                <a:blip r:embed="rId6"/>
                <a:stretch>
                  <a:fillRect/>
                </a:stretch>
              </a:blipFill>
              <a:ln>
                <a:noFill/>
              </a:ln>
            </p:spPr>
            <p:txBody>
              <a:bodyPr/>
              <a:lstStyle/>
              <a:p>
                <a:r>
                  <a:rPr lang="ko-Kore-KR" altLang="en-US">
                    <a:noFill/>
                  </a:rPr>
                  <a:t> </a:t>
                </a:r>
              </a:p>
            </p:txBody>
          </p:sp>
        </mc:Fallback>
      </mc:AlternateContent>
    </p:spTree>
    <p:extLst>
      <p:ext uri="{BB962C8B-B14F-4D97-AF65-F5344CB8AC3E}">
        <p14:creationId xmlns:p14="http://schemas.microsoft.com/office/powerpoint/2010/main" val="314576443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Regression training and prediction (testing)</a:t>
            </a:r>
          </a:p>
        </p:txBody>
      </p:sp>
      <mc:AlternateContent xmlns:mc="http://schemas.openxmlformats.org/markup-compatibility/2006" xmlns:a14="http://schemas.microsoft.com/office/drawing/2010/main">
        <mc:Choice Requires="a14">
          <p:sp>
            <p:nvSpPr>
              <p:cNvPr id="20" name="직사각형 19">
                <a:extLst>
                  <a:ext uri="{FF2B5EF4-FFF2-40B4-BE49-F238E27FC236}">
                    <a16:creationId xmlns:a16="http://schemas.microsoft.com/office/drawing/2014/main" id="{EE5D5CC8-7434-436C-BA38-6073775C01B0}"/>
                  </a:ext>
                </a:extLst>
              </p:cNvPr>
              <p:cNvSpPr/>
              <p:nvPr/>
            </p:nvSpPr>
            <p:spPr>
              <a:xfrm>
                <a:off x="666750" y="4974920"/>
                <a:ext cx="8632825" cy="6720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Schematic view of the prediction step</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Notice some disagreement between the predicted </a:t>
                </a:r>
                <a14:m>
                  <m:oMath xmlns:m="http://schemas.openxmlformats.org/officeDocument/2006/math">
                    <m:acc>
                      <m:accPr>
                        <m:chr m:val="̂"/>
                        <m:ctrlPr>
                          <a:rPr lang="en-US" altLang="ko-KR" sz="1300" i="1" smtClean="0">
                            <a:solidFill>
                              <a:srgbClr val="FF0000"/>
                            </a:solidFill>
                            <a:latin typeface="Cambria Math" panose="02040503050406030204" pitchFamily="18" charset="0"/>
                          </a:rPr>
                        </m:ctrlPr>
                      </m:accPr>
                      <m:e>
                        <m:r>
                          <a:rPr lang="en-US" altLang="ko-KR" sz="1300" b="0" i="1" smtClean="0">
                            <a:solidFill>
                              <a:srgbClr val="FF0000"/>
                            </a:solidFill>
                            <a:latin typeface="Cambria Math" panose="02040503050406030204" pitchFamily="18" charset="0"/>
                          </a:rPr>
                          <m:t>𝑦</m:t>
                        </m:r>
                      </m:e>
                    </m:acc>
                  </m:oMath>
                </a14:m>
                <a:r>
                  <a:rPr lang="ko-KR" altLang="en-US" sz="1300" dirty="0">
                    <a:solidFill>
                      <a:srgbClr val="FF0000"/>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and the true </a:t>
                </a:r>
                <a:r>
                  <a:rPr lang="ko-KR" altLang="en-US" sz="1300" dirty="0">
                    <a:solidFill>
                      <a:srgbClr val="193EB0"/>
                    </a:solidFill>
                    <a:latin typeface="SamsungOne 400" panose="020B0503030303020204" pitchFamily="34" charset="0"/>
                    <a:ea typeface="SamsungOne 400" panose="020B0503030303020204" pitchFamily="34" charset="0"/>
                  </a:rPr>
                  <a:t>𝑦</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p:txBody>
          </p:sp>
        </mc:Choice>
        <mc:Fallback xmlns="">
          <p:sp>
            <p:nvSpPr>
              <p:cNvPr id="20" name="직사각형 19">
                <a:extLst>
                  <a:ext uri="{FF2B5EF4-FFF2-40B4-BE49-F238E27FC236}">
                    <a16:creationId xmlns:a16="http://schemas.microsoft.com/office/drawing/2014/main" id="{EE5D5CC8-7434-436C-BA38-6073775C01B0}"/>
                  </a:ext>
                </a:extLst>
              </p:cNvPr>
              <p:cNvSpPr>
                <a:spLocks noRot="1" noChangeAspect="1" noMove="1" noResize="1" noEditPoints="1" noAdjustHandles="1" noChangeArrowheads="1" noChangeShapeType="1" noTextEdit="1"/>
              </p:cNvSpPr>
              <p:nvPr/>
            </p:nvSpPr>
            <p:spPr>
              <a:xfrm>
                <a:off x="666750" y="4974920"/>
                <a:ext cx="8632825" cy="672089"/>
              </a:xfrm>
              <a:prstGeom prst="rect">
                <a:avLst/>
              </a:prstGeom>
              <a:blipFill>
                <a:blip r:embed="rId4"/>
                <a:stretch>
                  <a:fillRect/>
                </a:stretch>
              </a:blipFill>
              <a:ln>
                <a:noFill/>
              </a:ln>
            </p:spPr>
            <p:txBody>
              <a:bodyPr/>
              <a:lstStyle/>
              <a:p>
                <a:r>
                  <a:rPr lang="ko-Kore-KR" altLang="en-US">
                    <a:noFill/>
                  </a:rPr>
                  <a:t> </a:t>
                </a:r>
              </a:p>
            </p:txBody>
          </p:sp>
        </mc:Fallback>
      </mc:AlternateContent>
      <p:grpSp>
        <p:nvGrpSpPr>
          <p:cNvPr id="11" name="그룹 10">
            <a:extLst>
              <a:ext uri="{FF2B5EF4-FFF2-40B4-BE49-F238E27FC236}">
                <a16:creationId xmlns:a16="http://schemas.microsoft.com/office/drawing/2014/main" id="{9C2DF190-C52A-4F8C-8F7A-EF6E801F42C1}"/>
              </a:ext>
            </a:extLst>
          </p:cNvPr>
          <p:cNvGrpSpPr/>
          <p:nvPr/>
        </p:nvGrpSpPr>
        <p:grpSpPr>
          <a:xfrm>
            <a:off x="1838964" y="1870711"/>
            <a:ext cx="6224896" cy="2981522"/>
            <a:chOff x="1549826" y="1931283"/>
            <a:chExt cx="6224896" cy="2981522"/>
          </a:xfrm>
        </p:grpSpPr>
        <p:sp>
          <p:nvSpPr>
            <p:cNvPr id="12" name="Oval 41">
              <a:extLst>
                <a:ext uri="{FF2B5EF4-FFF2-40B4-BE49-F238E27FC236}">
                  <a16:creationId xmlns:a16="http://schemas.microsoft.com/office/drawing/2014/main" id="{141B83B5-9A41-4096-B41B-C8FBA5DB024E}"/>
                </a:ext>
              </a:extLst>
            </p:cNvPr>
            <p:cNvSpPr/>
            <p:nvPr/>
          </p:nvSpPr>
          <p:spPr>
            <a:xfrm>
              <a:off x="3019780" y="2659272"/>
              <a:ext cx="399600" cy="397877"/>
            </a:xfrm>
            <a:prstGeom prst="ellipse">
              <a:avLst/>
            </a:prstGeom>
            <a:solidFill>
              <a:srgbClr val="FF0000">
                <a:alpha val="20000"/>
              </a:srgb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 name="Oval 42">
              <a:extLst>
                <a:ext uri="{FF2B5EF4-FFF2-40B4-BE49-F238E27FC236}">
                  <a16:creationId xmlns:a16="http://schemas.microsoft.com/office/drawing/2014/main" id="{8838E243-6B21-4BAC-B805-CDACB5502281}"/>
                </a:ext>
              </a:extLst>
            </p:cNvPr>
            <p:cNvSpPr/>
            <p:nvPr/>
          </p:nvSpPr>
          <p:spPr>
            <a:xfrm>
              <a:off x="3019780" y="3186097"/>
              <a:ext cx="399600" cy="397877"/>
            </a:xfrm>
            <a:prstGeom prst="ellipse">
              <a:avLst/>
            </a:prstGeom>
            <a:solidFill>
              <a:srgbClr val="FF0000">
                <a:alpha val="20000"/>
              </a:srgb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6" name="Oval 43">
              <a:extLst>
                <a:ext uri="{FF2B5EF4-FFF2-40B4-BE49-F238E27FC236}">
                  <a16:creationId xmlns:a16="http://schemas.microsoft.com/office/drawing/2014/main" id="{EC48D053-870D-48F0-A92E-6C0FB2D7DD86}"/>
                </a:ext>
              </a:extLst>
            </p:cNvPr>
            <p:cNvSpPr/>
            <p:nvPr/>
          </p:nvSpPr>
          <p:spPr>
            <a:xfrm>
              <a:off x="3019780" y="4195358"/>
              <a:ext cx="399600" cy="397877"/>
            </a:xfrm>
            <a:prstGeom prst="ellipse">
              <a:avLst/>
            </a:prstGeom>
            <a:solidFill>
              <a:srgbClr val="FF0000">
                <a:alpha val="20000"/>
              </a:srgb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7" name="Oval 44">
              <a:extLst>
                <a:ext uri="{FF2B5EF4-FFF2-40B4-BE49-F238E27FC236}">
                  <a16:creationId xmlns:a16="http://schemas.microsoft.com/office/drawing/2014/main" id="{B9673562-DAFF-4290-8986-99066134F88B}"/>
                </a:ext>
              </a:extLst>
            </p:cNvPr>
            <p:cNvSpPr/>
            <p:nvPr/>
          </p:nvSpPr>
          <p:spPr>
            <a:xfrm>
              <a:off x="3187698" y="2258102"/>
              <a:ext cx="85273" cy="86400"/>
            </a:xfrm>
            <a:prstGeom prst="ellipse">
              <a:avLst/>
            </a:prstGeom>
            <a:solidFill>
              <a:srgbClr val="FF0000">
                <a:alpha val="20000"/>
              </a:srgb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B1E3AD8-C038-47CE-9C98-73921C13B99D}"/>
                    </a:ext>
                  </a:extLst>
                </p:cNvPr>
                <p:cNvSpPr txBox="1"/>
                <p:nvPr/>
              </p:nvSpPr>
              <p:spPr>
                <a:xfrm>
                  <a:off x="2912964" y="2693777"/>
                  <a:ext cx="672841" cy="369332"/>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1</m:t>
                            </m:r>
                          </m:sub>
                        </m:sSub>
                      </m:oMath>
                    </m:oMathPara>
                  </a14:m>
                  <a:endParaRPr lang="en-US" dirty="0"/>
                </a:p>
              </p:txBody>
            </p:sp>
          </mc:Choice>
          <mc:Fallback xmlns="">
            <p:sp>
              <p:nvSpPr>
                <p:cNvPr id="18" name="TextBox 17">
                  <a:extLst>
                    <a:ext uri="{FF2B5EF4-FFF2-40B4-BE49-F238E27FC236}">
                      <a16:creationId xmlns:a16="http://schemas.microsoft.com/office/drawing/2014/main" id="{3B1E3AD8-C038-47CE-9C98-73921C13B99D}"/>
                    </a:ext>
                  </a:extLst>
                </p:cNvPr>
                <p:cNvSpPr txBox="1">
                  <a:spLocks noRot="1" noChangeAspect="1" noMove="1" noResize="1" noEditPoints="1" noAdjustHandles="1" noChangeArrowheads="1" noChangeShapeType="1" noTextEdit="1"/>
                </p:cNvSpPr>
                <p:nvPr/>
              </p:nvSpPr>
              <p:spPr>
                <a:xfrm>
                  <a:off x="2912964" y="2693777"/>
                  <a:ext cx="672841" cy="369332"/>
                </a:xfrm>
                <a:prstGeom prst="rect">
                  <a:avLst/>
                </a:prstGeom>
                <a:blipFill>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1ADF0A4-4524-404F-B1A0-CCCE2AAF894A}"/>
                    </a:ext>
                  </a:extLst>
                </p:cNvPr>
                <p:cNvSpPr txBox="1"/>
                <p:nvPr/>
              </p:nvSpPr>
              <p:spPr>
                <a:xfrm>
                  <a:off x="2912964" y="3221991"/>
                  <a:ext cx="672841" cy="369332"/>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2</m:t>
                            </m:r>
                          </m:sub>
                        </m:sSub>
                      </m:oMath>
                    </m:oMathPara>
                  </a14:m>
                  <a:endParaRPr lang="en-US" dirty="0"/>
                </a:p>
              </p:txBody>
            </p:sp>
          </mc:Choice>
          <mc:Fallback xmlns="">
            <p:sp>
              <p:nvSpPr>
                <p:cNvPr id="21" name="TextBox 20">
                  <a:extLst>
                    <a:ext uri="{FF2B5EF4-FFF2-40B4-BE49-F238E27FC236}">
                      <a16:creationId xmlns:a16="http://schemas.microsoft.com/office/drawing/2014/main" id="{91ADF0A4-4524-404F-B1A0-CCCE2AAF894A}"/>
                    </a:ext>
                  </a:extLst>
                </p:cNvPr>
                <p:cNvSpPr txBox="1">
                  <a:spLocks noRot="1" noChangeAspect="1" noMove="1" noResize="1" noEditPoints="1" noAdjustHandles="1" noChangeArrowheads="1" noChangeShapeType="1" noTextEdit="1"/>
                </p:cNvSpPr>
                <p:nvPr/>
              </p:nvSpPr>
              <p:spPr>
                <a:xfrm>
                  <a:off x="2912964" y="3221991"/>
                  <a:ext cx="672841" cy="369332"/>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D5B493D-66CD-498F-A910-1A0BD0C4B6D6}"/>
                    </a:ext>
                  </a:extLst>
                </p:cNvPr>
                <p:cNvSpPr txBox="1"/>
                <p:nvPr/>
              </p:nvSpPr>
              <p:spPr>
                <a:xfrm>
                  <a:off x="2912963" y="4237003"/>
                  <a:ext cx="672841" cy="369332"/>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𝑋</m:t>
                            </m:r>
                          </m:e>
                          <m:sub>
                            <m:r>
                              <a:rPr lang="en-US">
                                <a:latin typeface="Cambria Math" panose="02040503050406030204" pitchFamily="18" charset="0"/>
                              </a:rPr>
                              <m:t>𝑘</m:t>
                            </m:r>
                          </m:sub>
                        </m:sSub>
                      </m:oMath>
                    </m:oMathPara>
                  </a14:m>
                  <a:endParaRPr lang="en-US" dirty="0"/>
                </a:p>
              </p:txBody>
            </p:sp>
          </mc:Choice>
          <mc:Fallback xmlns="">
            <p:sp>
              <p:nvSpPr>
                <p:cNvPr id="26" name="TextBox 25">
                  <a:extLst>
                    <a:ext uri="{FF2B5EF4-FFF2-40B4-BE49-F238E27FC236}">
                      <a16:creationId xmlns:a16="http://schemas.microsoft.com/office/drawing/2014/main" id="{AD5B493D-66CD-498F-A910-1A0BD0C4B6D6}"/>
                    </a:ext>
                  </a:extLst>
                </p:cNvPr>
                <p:cNvSpPr txBox="1">
                  <a:spLocks noRot="1" noChangeAspect="1" noMove="1" noResize="1" noEditPoints="1" noAdjustHandles="1" noChangeArrowheads="1" noChangeShapeType="1" noTextEdit="1"/>
                </p:cNvSpPr>
                <p:nvPr/>
              </p:nvSpPr>
              <p:spPr>
                <a:xfrm>
                  <a:off x="2912963" y="4237003"/>
                  <a:ext cx="672841" cy="369332"/>
                </a:xfrm>
                <a:prstGeom prst="rect">
                  <a:avLst/>
                </a:prstGeom>
                <a:blipFill>
                  <a:blip r:embed="rId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470C6B0-85F3-4D04-8251-7DAAC7ED1FDF}"/>
                    </a:ext>
                  </a:extLst>
                </p:cNvPr>
                <p:cNvSpPr txBox="1"/>
                <p:nvPr/>
              </p:nvSpPr>
              <p:spPr>
                <a:xfrm>
                  <a:off x="2893913" y="3644132"/>
                  <a:ext cx="672841" cy="49545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1600" i="1">
                                <a:latin typeface="Cambria Math" panose="02040503050406030204" pitchFamily="18" charset="0"/>
                              </a:rPr>
                            </m:ctrlPr>
                          </m:mPr>
                          <m:mr>
                            <m:e>
                              <m:r>
                                <m:rPr>
                                  <m:brk m:alnAt="7"/>
                                </m:rPr>
                                <a:rPr lang="en-US" sz="1600" i="1">
                                  <a:latin typeface="Cambria Math" panose="02040503050406030204" pitchFamily="18" charset="0"/>
                                  <a:ea typeface="Cambria Math" panose="02040503050406030204" pitchFamily="18" charset="0"/>
                                </a:rPr>
                                <m:t>⋮</m:t>
                              </m:r>
                            </m:e>
                          </m:mr>
                          <m:mr>
                            <m:e>
                              <m:r>
                                <a:rPr lang="en-US" sz="1600" i="1">
                                  <a:latin typeface="Cambria Math" panose="02040503050406030204" pitchFamily="18" charset="0"/>
                                  <a:ea typeface="Cambria Math" panose="02040503050406030204" pitchFamily="18" charset="0"/>
                                </a:rPr>
                                <m:t>⋮</m:t>
                              </m:r>
                            </m:e>
                          </m:mr>
                        </m:m>
                      </m:oMath>
                    </m:oMathPara>
                  </a14:m>
                  <a:endParaRPr lang="en-US" sz="1600" dirty="0"/>
                </a:p>
              </p:txBody>
            </p:sp>
          </mc:Choice>
          <mc:Fallback xmlns="">
            <p:sp>
              <p:nvSpPr>
                <p:cNvPr id="27" name="TextBox 26">
                  <a:extLst>
                    <a:ext uri="{FF2B5EF4-FFF2-40B4-BE49-F238E27FC236}">
                      <a16:creationId xmlns:a16="http://schemas.microsoft.com/office/drawing/2014/main" id="{9470C6B0-85F3-4D04-8251-7DAAC7ED1FDF}"/>
                    </a:ext>
                  </a:extLst>
                </p:cNvPr>
                <p:cNvSpPr txBox="1">
                  <a:spLocks noRot="1" noChangeAspect="1" noMove="1" noResize="1" noEditPoints="1" noAdjustHandles="1" noChangeArrowheads="1" noChangeShapeType="1" noTextEdit="1"/>
                </p:cNvSpPr>
                <p:nvPr/>
              </p:nvSpPr>
              <p:spPr>
                <a:xfrm>
                  <a:off x="2893913" y="3644132"/>
                  <a:ext cx="672841" cy="495457"/>
                </a:xfrm>
                <a:prstGeom prst="rect">
                  <a:avLst/>
                </a:prstGeom>
                <a:blipFill>
                  <a:blip r:embed="rId8"/>
                  <a:stretch>
                    <a:fillRect b="-3704"/>
                  </a:stretch>
                </a:blipFill>
              </p:spPr>
              <p:txBody>
                <a:bodyPr/>
                <a:lstStyle/>
                <a:p>
                  <a:r>
                    <a:rPr lang="ko-KR" altLang="en-US">
                      <a:noFill/>
                    </a:rPr>
                    <a:t> </a:t>
                  </a:r>
                </a:p>
              </p:txBody>
            </p:sp>
          </mc:Fallback>
        </mc:AlternateContent>
        <p:sp>
          <p:nvSpPr>
            <p:cNvPr id="28" name="Oval 49">
              <a:extLst>
                <a:ext uri="{FF2B5EF4-FFF2-40B4-BE49-F238E27FC236}">
                  <a16:creationId xmlns:a16="http://schemas.microsoft.com/office/drawing/2014/main" id="{805480C9-F913-440B-AA5D-46BAC06897EC}"/>
                </a:ext>
              </a:extLst>
            </p:cNvPr>
            <p:cNvSpPr/>
            <p:nvPr/>
          </p:nvSpPr>
          <p:spPr>
            <a:xfrm>
              <a:off x="5340847" y="3326137"/>
              <a:ext cx="399600" cy="397877"/>
            </a:xfrm>
            <a:prstGeom prst="ellipse">
              <a:avLst/>
            </a:prstGeom>
            <a:solidFill>
              <a:srgbClr val="00B3E3">
                <a:alpha val="20000"/>
              </a:srgbClr>
            </a:solidFill>
            <a:ln w="19050">
              <a:solidFill>
                <a:srgbClr val="00B3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TextBox 28">
              <a:extLst>
                <a:ext uri="{FF2B5EF4-FFF2-40B4-BE49-F238E27FC236}">
                  <a16:creationId xmlns:a16="http://schemas.microsoft.com/office/drawing/2014/main" id="{B1E1AA4B-048D-4661-8F0C-E394D65317A7}"/>
                </a:ext>
              </a:extLst>
            </p:cNvPr>
            <p:cNvSpPr txBox="1"/>
            <p:nvPr/>
          </p:nvSpPr>
          <p:spPr>
            <a:xfrm>
              <a:off x="5214981" y="3387284"/>
              <a:ext cx="672841" cy="292388"/>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r>
                <a:rPr lang="en-US" dirty="0">
                  <a:sym typeface="Symbol" panose="05050102010706020507" pitchFamily="18" charset="2"/>
                </a:rPr>
                <a:t></a:t>
              </a:r>
              <a:endParaRPr lang="en-US" dirty="0"/>
            </a:p>
          </p:txBody>
        </p:sp>
        <p:cxnSp>
          <p:nvCxnSpPr>
            <p:cNvPr id="30" name="Straight Arrow Connector 51">
              <a:extLst>
                <a:ext uri="{FF2B5EF4-FFF2-40B4-BE49-F238E27FC236}">
                  <a16:creationId xmlns:a16="http://schemas.microsoft.com/office/drawing/2014/main" id="{2567BFB1-E797-478D-A46D-5480EE1C2EB2}"/>
                </a:ext>
              </a:extLst>
            </p:cNvPr>
            <p:cNvCxnSpPr/>
            <p:nvPr/>
          </p:nvCxnSpPr>
          <p:spPr>
            <a:xfrm>
              <a:off x="3440886" y="2863629"/>
              <a:ext cx="1899959" cy="658749"/>
            </a:xfrm>
            <a:prstGeom prst="straightConnector1">
              <a:avLst/>
            </a:prstGeom>
            <a:ln w="12700">
              <a:solidFill>
                <a:schemeClr val="bg1">
                  <a:lumMod val="50000"/>
                  <a:alpha val="50000"/>
                </a:schemeClr>
              </a:solidFill>
              <a:headEnd type="none"/>
              <a:tailEnd type="none" w="med" len="lg"/>
            </a:ln>
          </p:spPr>
          <p:style>
            <a:lnRef idx="1">
              <a:schemeClr val="accent1"/>
            </a:lnRef>
            <a:fillRef idx="0">
              <a:schemeClr val="accent1"/>
            </a:fillRef>
            <a:effectRef idx="0">
              <a:schemeClr val="accent1"/>
            </a:effectRef>
            <a:fontRef idx="minor">
              <a:schemeClr val="tx1"/>
            </a:fontRef>
          </p:style>
        </p:cxnSp>
        <p:cxnSp>
          <p:nvCxnSpPr>
            <p:cNvPr id="31" name="Straight Arrow Connector 52">
              <a:extLst>
                <a:ext uri="{FF2B5EF4-FFF2-40B4-BE49-F238E27FC236}">
                  <a16:creationId xmlns:a16="http://schemas.microsoft.com/office/drawing/2014/main" id="{161B8D6B-E53E-43E0-AAA7-444CC13A1AC5}"/>
                </a:ext>
              </a:extLst>
            </p:cNvPr>
            <p:cNvCxnSpPr/>
            <p:nvPr/>
          </p:nvCxnSpPr>
          <p:spPr>
            <a:xfrm>
              <a:off x="3272972" y="2308006"/>
              <a:ext cx="2080535" cy="1222018"/>
            </a:xfrm>
            <a:prstGeom prst="straightConnector1">
              <a:avLst/>
            </a:prstGeom>
            <a:ln w="12700">
              <a:solidFill>
                <a:schemeClr val="bg1">
                  <a:lumMod val="50000"/>
                  <a:alpha val="50000"/>
                </a:schemeClr>
              </a:solidFill>
              <a:headEnd type="none"/>
              <a:tailEnd type="none" w="med" len="lg"/>
            </a:ln>
          </p:spPr>
          <p:style>
            <a:lnRef idx="1">
              <a:schemeClr val="accent1"/>
            </a:lnRef>
            <a:fillRef idx="0">
              <a:schemeClr val="accent1"/>
            </a:fillRef>
            <a:effectRef idx="0">
              <a:schemeClr val="accent1"/>
            </a:effectRef>
            <a:fontRef idx="minor">
              <a:schemeClr val="tx1"/>
            </a:fontRef>
          </p:style>
        </p:cxnSp>
        <p:cxnSp>
          <p:nvCxnSpPr>
            <p:cNvPr id="32" name="Straight Arrow Connector 53">
              <a:extLst>
                <a:ext uri="{FF2B5EF4-FFF2-40B4-BE49-F238E27FC236}">
                  <a16:creationId xmlns:a16="http://schemas.microsoft.com/office/drawing/2014/main" id="{9B8F6D6D-F439-4260-BD9B-95584948F917}"/>
                </a:ext>
              </a:extLst>
            </p:cNvPr>
            <p:cNvCxnSpPr/>
            <p:nvPr/>
          </p:nvCxnSpPr>
          <p:spPr>
            <a:xfrm>
              <a:off x="3440889" y="3379285"/>
              <a:ext cx="1899956" cy="145278"/>
            </a:xfrm>
            <a:prstGeom prst="straightConnector1">
              <a:avLst/>
            </a:prstGeom>
            <a:ln w="12700">
              <a:solidFill>
                <a:schemeClr val="bg1">
                  <a:lumMod val="50000"/>
                  <a:alpha val="50000"/>
                </a:schemeClr>
              </a:solidFill>
              <a:headEnd type="none"/>
              <a:tailEnd type="none" w="med" len="lg"/>
            </a:ln>
          </p:spPr>
          <p:style>
            <a:lnRef idx="1">
              <a:schemeClr val="accent1"/>
            </a:lnRef>
            <a:fillRef idx="0">
              <a:schemeClr val="accent1"/>
            </a:fillRef>
            <a:effectRef idx="0">
              <a:schemeClr val="accent1"/>
            </a:effectRef>
            <a:fontRef idx="minor">
              <a:schemeClr val="tx1"/>
            </a:fontRef>
          </p:style>
        </p:cxnSp>
        <p:cxnSp>
          <p:nvCxnSpPr>
            <p:cNvPr id="33" name="Straight Arrow Connector 54">
              <a:extLst>
                <a:ext uri="{FF2B5EF4-FFF2-40B4-BE49-F238E27FC236}">
                  <a16:creationId xmlns:a16="http://schemas.microsoft.com/office/drawing/2014/main" id="{E9BB9724-A66A-4574-8C70-74A5E2B96556}"/>
                </a:ext>
              </a:extLst>
            </p:cNvPr>
            <p:cNvCxnSpPr/>
            <p:nvPr/>
          </p:nvCxnSpPr>
          <p:spPr>
            <a:xfrm flipV="1">
              <a:off x="3440884" y="3541109"/>
              <a:ext cx="1899961" cy="849732"/>
            </a:xfrm>
            <a:prstGeom prst="straightConnector1">
              <a:avLst/>
            </a:prstGeom>
            <a:ln w="12700">
              <a:solidFill>
                <a:schemeClr val="bg1">
                  <a:lumMod val="50000"/>
                  <a:alpha val="50000"/>
                </a:schemeClr>
              </a:solidFill>
              <a:headEnd type="none"/>
              <a:tailEnd type="non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9488D54-4E6C-4E38-A3A6-6DABC23280F9}"/>
                    </a:ext>
                  </a:extLst>
                </p:cNvPr>
                <p:cNvSpPr txBox="1"/>
                <p:nvPr/>
              </p:nvSpPr>
              <p:spPr>
                <a:xfrm>
                  <a:off x="3358246" y="2180025"/>
                  <a:ext cx="672841" cy="369332"/>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pPr/>
                  <a14:m>
                    <m:oMathPara xmlns:m="http://schemas.openxmlformats.org/officeDocument/2006/math">
                      <m:oMathParaPr>
                        <m:jc m:val="centerGroup"/>
                      </m:oMathParaPr>
                      <m:oMath xmlns:m="http://schemas.openxmlformats.org/officeDocument/2006/math">
                        <m:sSub>
                          <m:sSubPr>
                            <m:ctrlPr>
                              <a:rPr lang="en-US" i="1" smtClean="0">
                                <a:solidFill>
                                  <a:srgbClr val="00B050"/>
                                </a:solidFill>
                                <a:latin typeface="Cambria Math" panose="02040503050406030204" pitchFamily="18" charset="0"/>
                              </a:rPr>
                            </m:ctrlPr>
                          </m:sSubPr>
                          <m:e>
                            <m:r>
                              <a:rPr lang="en-US">
                                <a:solidFill>
                                  <a:srgbClr val="00B050"/>
                                </a:solidFill>
                                <a:latin typeface="Cambria Math" panose="02040503050406030204" pitchFamily="18" charset="0"/>
                              </a:rPr>
                              <m:t>𝛽</m:t>
                            </m:r>
                          </m:e>
                          <m:sub>
                            <m:r>
                              <a:rPr lang="en-US">
                                <a:solidFill>
                                  <a:srgbClr val="00B050"/>
                                </a:solidFill>
                                <a:latin typeface="Cambria Math" panose="02040503050406030204" pitchFamily="18" charset="0"/>
                              </a:rPr>
                              <m:t>0</m:t>
                            </m:r>
                          </m:sub>
                        </m:sSub>
                      </m:oMath>
                    </m:oMathPara>
                  </a14:m>
                  <a:endParaRPr lang="en-US" dirty="0">
                    <a:solidFill>
                      <a:srgbClr val="00B050"/>
                    </a:solidFill>
                  </a:endParaRPr>
                </a:p>
              </p:txBody>
            </p:sp>
          </mc:Choice>
          <mc:Fallback xmlns="">
            <p:sp>
              <p:nvSpPr>
                <p:cNvPr id="34" name="TextBox 33">
                  <a:extLst>
                    <a:ext uri="{FF2B5EF4-FFF2-40B4-BE49-F238E27FC236}">
                      <a16:creationId xmlns:a16="http://schemas.microsoft.com/office/drawing/2014/main" id="{E9488D54-4E6C-4E38-A3A6-6DABC23280F9}"/>
                    </a:ext>
                  </a:extLst>
                </p:cNvPr>
                <p:cNvSpPr txBox="1">
                  <a:spLocks noRot="1" noChangeAspect="1" noMove="1" noResize="1" noEditPoints="1" noAdjustHandles="1" noChangeArrowheads="1" noChangeShapeType="1" noTextEdit="1"/>
                </p:cNvSpPr>
                <p:nvPr/>
              </p:nvSpPr>
              <p:spPr>
                <a:xfrm>
                  <a:off x="3358246" y="2180025"/>
                  <a:ext cx="672841" cy="369332"/>
                </a:xfrm>
                <a:prstGeom prst="rect">
                  <a:avLst/>
                </a:prstGeom>
                <a:blipFill>
                  <a:blip r:embed="rId9"/>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BA0929E-3811-4E41-AAB0-769AF6D3EAF7}"/>
                    </a:ext>
                  </a:extLst>
                </p:cNvPr>
                <p:cNvSpPr txBox="1"/>
                <p:nvPr/>
              </p:nvSpPr>
              <p:spPr>
                <a:xfrm>
                  <a:off x="2912962" y="1931283"/>
                  <a:ext cx="672841" cy="369332"/>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1</m:t>
                        </m:r>
                      </m:oMath>
                    </m:oMathPara>
                  </a14:m>
                  <a:endParaRPr lang="en-US" dirty="0"/>
                </a:p>
              </p:txBody>
            </p:sp>
          </mc:Choice>
          <mc:Fallback xmlns="">
            <p:sp>
              <p:nvSpPr>
                <p:cNvPr id="35" name="TextBox 34">
                  <a:extLst>
                    <a:ext uri="{FF2B5EF4-FFF2-40B4-BE49-F238E27FC236}">
                      <a16:creationId xmlns:a16="http://schemas.microsoft.com/office/drawing/2014/main" id="{6BA0929E-3811-4E41-AAB0-769AF6D3EAF7}"/>
                    </a:ext>
                  </a:extLst>
                </p:cNvPr>
                <p:cNvSpPr txBox="1">
                  <a:spLocks noRot="1" noChangeAspect="1" noMove="1" noResize="1" noEditPoints="1" noAdjustHandles="1" noChangeArrowheads="1" noChangeShapeType="1" noTextEdit="1"/>
                </p:cNvSpPr>
                <p:nvPr/>
              </p:nvSpPr>
              <p:spPr>
                <a:xfrm>
                  <a:off x="2912962" y="1931283"/>
                  <a:ext cx="672841" cy="369332"/>
                </a:xfrm>
                <a:prstGeom prst="rect">
                  <a:avLst/>
                </a:prstGeom>
                <a:blipFill>
                  <a:blip r:embed="rId10"/>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95684A76-AD5E-4889-B4C4-3700D8F270C6}"/>
                    </a:ext>
                  </a:extLst>
                </p:cNvPr>
                <p:cNvSpPr txBox="1"/>
                <p:nvPr/>
              </p:nvSpPr>
              <p:spPr>
                <a:xfrm>
                  <a:off x="3360283" y="2630388"/>
                  <a:ext cx="672841" cy="369332"/>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00B050"/>
                      </a:solidFill>
                      <a:latin typeface="SamsungOne 700" panose="020B0803030303020204" pitchFamily="34" charset="0"/>
                      <a:ea typeface="SamsungOne 700" panose="020B0803030303020204" pitchFamily="34" charset="0"/>
                    </a:defRPr>
                  </a:lvl1p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𝛽</m:t>
                            </m:r>
                          </m:e>
                          <m:sub>
                            <m:r>
                              <a:rPr lang="en-US">
                                <a:latin typeface="Cambria Math" panose="02040503050406030204" pitchFamily="18" charset="0"/>
                              </a:rPr>
                              <m:t>1</m:t>
                            </m:r>
                          </m:sub>
                        </m:sSub>
                      </m:oMath>
                    </m:oMathPara>
                  </a14:m>
                  <a:endParaRPr lang="en-US" dirty="0"/>
                </a:p>
              </p:txBody>
            </p:sp>
          </mc:Choice>
          <mc:Fallback xmlns="">
            <p:sp>
              <p:nvSpPr>
                <p:cNvPr id="36" name="TextBox 35">
                  <a:extLst>
                    <a:ext uri="{FF2B5EF4-FFF2-40B4-BE49-F238E27FC236}">
                      <a16:creationId xmlns:a16="http://schemas.microsoft.com/office/drawing/2014/main" id="{95684A76-AD5E-4889-B4C4-3700D8F270C6}"/>
                    </a:ext>
                  </a:extLst>
                </p:cNvPr>
                <p:cNvSpPr txBox="1">
                  <a:spLocks noRot="1" noChangeAspect="1" noMove="1" noResize="1" noEditPoints="1" noAdjustHandles="1" noChangeArrowheads="1" noChangeShapeType="1" noTextEdit="1"/>
                </p:cNvSpPr>
                <p:nvPr/>
              </p:nvSpPr>
              <p:spPr>
                <a:xfrm>
                  <a:off x="3360283" y="2630388"/>
                  <a:ext cx="672841" cy="369332"/>
                </a:xfrm>
                <a:prstGeom prst="rect">
                  <a:avLst/>
                </a:prstGeom>
                <a:blipFill>
                  <a:blip r:embed="rId11"/>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4BD1C21-820B-4ADC-99C0-4CFB17713979}"/>
                    </a:ext>
                  </a:extLst>
                </p:cNvPr>
                <p:cNvSpPr txBox="1"/>
                <p:nvPr/>
              </p:nvSpPr>
              <p:spPr>
                <a:xfrm>
                  <a:off x="3367000" y="3114882"/>
                  <a:ext cx="672841" cy="369332"/>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00B050"/>
                      </a:solidFill>
                      <a:latin typeface="SamsungOne 700" panose="020B0803030303020204" pitchFamily="34" charset="0"/>
                      <a:ea typeface="SamsungOne 700" panose="020B0803030303020204" pitchFamily="34" charset="0"/>
                    </a:defRPr>
                  </a:lvl1p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𝛽</m:t>
                            </m:r>
                          </m:e>
                          <m:sub>
                            <m:r>
                              <a:rPr lang="en-US">
                                <a:latin typeface="Cambria Math" panose="02040503050406030204" pitchFamily="18" charset="0"/>
                              </a:rPr>
                              <m:t>2</m:t>
                            </m:r>
                          </m:sub>
                        </m:sSub>
                      </m:oMath>
                    </m:oMathPara>
                  </a14:m>
                  <a:endParaRPr lang="en-US" dirty="0"/>
                </a:p>
              </p:txBody>
            </p:sp>
          </mc:Choice>
          <mc:Fallback xmlns="">
            <p:sp>
              <p:nvSpPr>
                <p:cNvPr id="37" name="TextBox 36">
                  <a:extLst>
                    <a:ext uri="{FF2B5EF4-FFF2-40B4-BE49-F238E27FC236}">
                      <a16:creationId xmlns:a16="http://schemas.microsoft.com/office/drawing/2014/main" id="{B4BD1C21-820B-4ADC-99C0-4CFB17713979}"/>
                    </a:ext>
                  </a:extLst>
                </p:cNvPr>
                <p:cNvSpPr txBox="1">
                  <a:spLocks noRot="1" noChangeAspect="1" noMove="1" noResize="1" noEditPoints="1" noAdjustHandles="1" noChangeArrowheads="1" noChangeShapeType="1" noTextEdit="1"/>
                </p:cNvSpPr>
                <p:nvPr/>
              </p:nvSpPr>
              <p:spPr>
                <a:xfrm>
                  <a:off x="3367000" y="3114882"/>
                  <a:ext cx="672841" cy="369332"/>
                </a:xfrm>
                <a:prstGeom prst="rect">
                  <a:avLst/>
                </a:prstGeom>
                <a:blipFill>
                  <a:blip r:embed="rId12"/>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63E8F25-FB9E-4CB2-BFC4-EE3C7020D437}"/>
                    </a:ext>
                  </a:extLst>
                </p:cNvPr>
                <p:cNvSpPr txBox="1"/>
                <p:nvPr/>
              </p:nvSpPr>
              <p:spPr>
                <a:xfrm>
                  <a:off x="3367292" y="3962808"/>
                  <a:ext cx="672841" cy="369332"/>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00B050"/>
                      </a:solidFill>
                      <a:latin typeface="SamsungOne 700" panose="020B0803030303020204" pitchFamily="34" charset="0"/>
                      <a:ea typeface="SamsungOne 700" panose="020B0803030303020204" pitchFamily="34" charset="0"/>
                    </a:defRPr>
                  </a:lvl1p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𝛽</m:t>
                            </m:r>
                          </m:e>
                          <m:sub>
                            <m:r>
                              <a:rPr lang="en-US">
                                <a:latin typeface="Cambria Math" panose="02040503050406030204" pitchFamily="18" charset="0"/>
                              </a:rPr>
                              <m:t>𝑘</m:t>
                            </m:r>
                          </m:sub>
                        </m:sSub>
                      </m:oMath>
                    </m:oMathPara>
                  </a14:m>
                  <a:endParaRPr lang="en-US" dirty="0"/>
                </a:p>
              </p:txBody>
            </p:sp>
          </mc:Choice>
          <mc:Fallback xmlns="">
            <p:sp>
              <p:nvSpPr>
                <p:cNvPr id="38" name="TextBox 37">
                  <a:extLst>
                    <a:ext uri="{FF2B5EF4-FFF2-40B4-BE49-F238E27FC236}">
                      <a16:creationId xmlns:a16="http://schemas.microsoft.com/office/drawing/2014/main" id="{463E8F25-FB9E-4CB2-BFC4-EE3C7020D437}"/>
                    </a:ext>
                  </a:extLst>
                </p:cNvPr>
                <p:cNvSpPr txBox="1">
                  <a:spLocks noRot="1" noChangeAspect="1" noMove="1" noResize="1" noEditPoints="1" noAdjustHandles="1" noChangeArrowheads="1" noChangeShapeType="1" noTextEdit="1"/>
                </p:cNvSpPr>
                <p:nvPr/>
              </p:nvSpPr>
              <p:spPr>
                <a:xfrm>
                  <a:off x="3367292" y="3962808"/>
                  <a:ext cx="672841" cy="369332"/>
                </a:xfrm>
                <a:prstGeom prst="rect">
                  <a:avLst/>
                </a:prstGeom>
                <a:blipFill>
                  <a:blip r:embed="rId13"/>
                  <a:stretch>
                    <a:fillRect/>
                  </a:stretch>
                </a:blipFill>
              </p:spPr>
              <p:txBody>
                <a:bodyPr/>
                <a:lstStyle/>
                <a:p>
                  <a:r>
                    <a:rPr lang="ko-KR" altLang="en-US">
                      <a:noFill/>
                    </a:rPr>
                    <a:t> </a:t>
                  </a:r>
                </a:p>
              </p:txBody>
            </p:sp>
          </mc:Fallback>
        </mc:AlternateContent>
        <p:cxnSp>
          <p:nvCxnSpPr>
            <p:cNvPr id="39" name="Straight Arrow Connector 60">
              <a:extLst>
                <a:ext uri="{FF2B5EF4-FFF2-40B4-BE49-F238E27FC236}">
                  <a16:creationId xmlns:a16="http://schemas.microsoft.com/office/drawing/2014/main" id="{8B7F9044-D2A4-40E3-96E8-956C6627F34A}"/>
                </a:ext>
              </a:extLst>
            </p:cNvPr>
            <p:cNvCxnSpPr/>
            <p:nvPr/>
          </p:nvCxnSpPr>
          <p:spPr>
            <a:xfrm>
              <a:off x="5777766" y="3524097"/>
              <a:ext cx="309339" cy="2698"/>
            </a:xfrm>
            <a:prstGeom prst="straightConnector1">
              <a:avLst/>
            </a:prstGeom>
            <a:ln w="12700">
              <a:solidFill>
                <a:schemeClr val="bg1">
                  <a:lumMod val="50000"/>
                  <a:alpha val="50000"/>
                </a:schemeClr>
              </a:solidFill>
              <a:headEnd type="none"/>
              <a:tailEnd type="triangle" w="med" len="med"/>
            </a:ln>
          </p:spPr>
          <p:style>
            <a:lnRef idx="1">
              <a:schemeClr val="accent1"/>
            </a:lnRef>
            <a:fillRef idx="0">
              <a:schemeClr val="accent1"/>
            </a:fillRef>
            <a:effectRef idx="0">
              <a:schemeClr val="accent1"/>
            </a:effectRef>
            <a:fontRef idx="minor">
              <a:schemeClr val="tx1"/>
            </a:fontRef>
          </p:style>
        </p:cxnSp>
        <p:grpSp>
          <p:nvGrpSpPr>
            <p:cNvPr id="40" name="Group 61">
              <a:extLst>
                <a:ext uri="{FF2B5EF4-FFF2-40B4-BE49-F238E27FC236}">
                  <a16:creationId xmlns:a16="http://schemas.microsoft.com/office/drawing/2014/main" id="{AAD1BD3D-7C20-4F95-B52D-EF37B8617B7C}"/>
                </a:ext>
              </a:extLst>
            </p:cNvPr>
            <p:cNvGrpSpPr/>
            <p:nvPr/>
          </p:nvGrpSpPr>
          <p:grpSpPr>
            <a:xfrm>
              <a:off x="1549826" y="3085911"/>
              <a:ext cx="1257068" cy="499724"/>
              <a:chOff x="1101738" y="3541053"/>
              <a:chExt cx="1592271" cy="632977"/>
            </a:xfrm>
          </p:grpSpPr>
          <p:sp>
            <p:nvSpPr>
              <p:cNvPr id="58" name="TextBox 57">
                <a:extLst>
                  <a:ext uri="{FF2B5EF4-FFF2-40B4-BE49-F238E27FC236}">
                    <a16:creationId xmlns:a16="http://schemas.microsoft.com/office/drawing/2014/main" id="{54AC6766-3B11-4FBA-95F5-656719CEF726}"/>
                  </a:ext>
                </a:extLst>
              </p:cNvPr>
              <p:cNvSpPr txBox="1"/>
              <p:nvPr/>
            </p:nvSpPr>
            <p:spPr>
              <a:xfrm>
                <a:off x="1101738" y="3681224"/>
                <a:ext cx="1290595" cy="370354"/>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FF0000"/>
                    </a:solidFill>
                    <a:latin typeface="SamsungOne 700" panose="020B0803030303020204" pitchFamily="34" charset="0"/>
                    <a:ea typeface="SamsungOne 700" panose="020B0803030303020204" pitchFamily="34" charset="0"/>
                  </a:defRPr>
                </a:lvl1pPr>
              </a:lstStyle>
              <a:p>
                <a:r>
                  <a:rPr lang="en-US" dirty="0">
                    <a:solidFill>
                      <a:srgbClr val="262626"/>
                    </a:solidFill>
                  </a:rPr>
                  <a:t>Input</a:t>
                </a:r>
              </a:p>
            </p:txBody>
          </p:sp>
          <p:sp>
            <p:nvSpPr>
              <p:cNvPr id="59" name="Right Arrow 63">
                <a:extLst>
                  <a:ext uri="{FF2B5EF4-FFF2-40B4-BE49-F238E27FC236}">
                    <a16:creationId xmlns:a16="http://schemas.microsoft.com/office/drawing/2014/main" id="{019FAD55-BDD8-45EC-8884-9BBD6832EFA2}"/>
                  </a:ext>
                </a:extLst>
              </p:cNvPr>
              <p:cNvSpPr/>
              <p:nvPr/>
            </p:nvSpPr>
            <p:spPr>
              <a:xfrm>
                <a:off x="2102923" y="3541053"/>
                <a:ext cx="591086" cy="632977"/>
              </a:xfrm>
              <a:prstGeom prst="rightArrow">
                <a:avLst>
                  <a:gd name="adj1" fmla="val 73402"/>
                  <a:gd name="adj2" fmla="val 38133"/>
                </a:avLst>
              </a:prstGeom>
              <a:gradFill>
                <a:gsLst>
                  <a:gs pos="100000">
                    <a:schemeClr val="bg1">
                      <a:lumMod val="75000"/>
                    </a:schemeClr>
                  </a:gs>
                  <a:gs pos="12000">
                    <a:schemeClr val="bg1">
                      <a:lumMod val="75000"/>
                      <a:alpha val="0"/>
                    </a:schemeClr>
                  </a:gs>
                </a:gsLst>
                <a:lin ang="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1" name="Group 64">
              <a:extLst>
                <a:ext uri="{FF2B5EF4-FFF2-40B4-BE49-F238E27FC236}">
                  <a16:creationId xmlns:a16="http://schemas.microsoft.com/office/drawing/2014/main" id="{FA524846-C625-44FA-87E4-DE135E0643D2}"/>
                </a:ext>
              </a:extLst>
            </p:cNvPr>
            <p:cNvGrpSpPr/>
            <p:nvPr/>
          </p:nvGrpSpPr>
          <p:grpSpPr>
            <a:xfrm>
              <a:off x="5912761" y="3326134"/>
              <a:ext cx="1861961" cy="422416"/>
              <a:chOff x="8227304" y="3845338"/>
              <a:chExt cx="2358460" cy="535055"/>
            </a:xfrm>
          </p:grpSpPr>
          <p:sp>
            <p:nvSpPr>
              <p:cNvPr id="53" name="TextBox 52">
                <a:extLst>
                  <a:ext uri="{FF2B5EF4-FFF2-40B4-BE49-F238E27FC236}">
                    <a16:creationId xmlns:a16="http://schemas.microsoft.com/office/drawing/2014/main" id="{C7D74A6E-76B6-4531-969B-76F389CD12E1}"/>
                  </a:ext>
                </a:extLst>
              </p:cNvPr>
              <p:cNvSpPr txBox="1"/>
              <p:nvPr/>
            </p:nvSpPr>
            <p:spPr>
              <a:xfrm>
                <a:off x="8227304" y="3899620"/>
                <a:ext cx="1290595" cy="370354"/>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r>
                  <a:rPr lang="en-US" dirty="0"/>
                  <a:t>Output</a:t>
                </a:r>
              </a:p>
            </p:txBody>
          </p:sp>
          <p:grpSp>
            <p:nvGrpSpPr>
              <p:cNvPr id="54" name="Group 66">
                <a:extLst>
                  <a:ext uri="{FF2B5EF4-FFF2-40B4-BE49-F238E27FC236}">
                    <a16:creationId xmlns:a16="http://schemas.microsoft.com/office/drawing/2014/main" id="{AFFCA98D-9605-4A4D-B9D7-395BEA024E4D}"/>
                  </a:ext>
                </a:extLst>
              </p:cNvPr>
              <p:cNvGrpSpPr/>
              <p:nvPr/>
            </p:nvGrpSpPr>
            <p:grpSpPr>
              <a:xfrm>
                <a:off x="9733507" y="3845338"/>
                <a:ext cx="852257" cy="535055"/>
                <a:chOff x="9351766" y="3845338"/>
                <a:chExt cx="852257" cy="535055"/>
              </a:xfrm>
            </p:grpSpPr>
            <p:sp>
              <p:nvSpPr>
                <p:cNvPr id="56" name="Oval 68">
                  <a:extLst>
                    <a:ext uri="{FF2B5EF4-FFF2-40B4-BE49-F238E27FC236}">
                      <a16:creationId xmlns:a16="http://schemas.microsoft.com/office/drawing/2014/main" id="{44358BD7-251F-4AE1-A8D8-F389891FE740}"/>
                    </a:ext>
                  </a:extLst>
                </p:cNvPr>
                <p:cNvSpPr/>
                <p:nvPr/>
              </p:nvSpPr>
              <p:spPr>
                <a:xfrm>
                  <a:off x="9484580" y="3845338"/>
                  <a:ext cx="506155" cy="503973"/>
                </a:xfrm>
                <a:prstGeom prst="ellipse">
                  <a:avLst/>
                </a:prstGeom>
                <a:solidFill>
                  <a:srgbClr val="00B050">
                    <a:alpha val="20000"/>
                  </a:srgbClr>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8180505C-23B4-413C-8A5F-105DA1F1B732}"/>
                        </a:ext>
                      </a:extLst>
                    </p:cNvPr>
                    <p:cNvSpPr txBox="1"/>
                    <p:nvPr/>
                  </p:nvSpPr>
                  <p:spPr>
                    <a:xfrm>
                      <a:off x="9351766" y="3912578"/>
                      <a:ext cx="852257" cy="467815"/>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pPr/>
                      <a14:m>
                        <m:oMathPara xmlns:m="http://schemas.openxmlformats.org/officeDocument/2006/math">
                          <m:oMathParaPr>
                            <m:jc m:val="centerGroup"/>
                          </m:oMathParaPr>
                          <m:oMath xmlns:m="http://schemas.openxmlformats.org/officeDocument/2006/math">
                            <m:r>
                              <a:rPr lang="en-US" dirty="0" smtClean="0">
                                <a:solidFill>
                                  <a:srgbClr val="193EB0"/>
                                </a:solidFill>
                                <a:latin typeface="Cambria Math" panose="02040503050406030204" pitchFamily="18" charset="0"/>
                              </a:rPr>
                              <m:t>𝑌</m:t>
                            </m:r>
                          </m:oMath>
                        </m:oMathPara>
                      </a14:m>
                      <a:endParaRPr lang="en-US" dirty="0">
                        <a:solidFill>
                          <a:srgbClr val="193EB0"/>
                        </a:solidFill>
                      </a:endParaRPr>
                    </a:p>
                  </p:txBody>
                </p:sp>
              </mc:Choice>
              <mc:Fallback xmlns="">
                <p:sp>
                  <p:nvSpPr>
                    <p:cNvPr id="102" name="TextBox 101">
                      <a:extLst>
                        <a:ext uri="{FF2B5EF4-FFF2-40B4-BE49-F238E27FC236}">
                          <a16:creationId xmlns:a16="http://schemas.microsoft.com/office/drawing/2014/main" id="{77EAFA02-AC35-4E58-A8B8-C7E04D1DB6C8}"/>
                        </a:ext>
                      </a:extLst>
                    </p:cNvPr>
                    <p:cNvSpPr txBox="1">
                      <a:spLocks noRot="1" noChangeAspect="1" noMove="1" noResize="1" noEditPoints="1" noAdjustHandles="1" noChangeArrowheads="1" noChangeShapeType="1" noTextEdit="1"/>
                    </p:cNvSpPr>
                    <p:nvPr/>
                  </p:nvSpPr>
                  <p:spPr>
                    <a:xfrm>
                      <a:off x="9351766" y="3912578"/>
                      <a:ext cx="852257" cy="467815"/>
                    </a:xfrm>
                    <a:prstGeom prst="rect">
                      <a:avLst/>
                    </a:prstGeom>
                    <a:blipFill>
                      <a:blip r:embed="rId25"/>
                      <a:stretch>
                        <a:fillRect/>
                      </a:stretch>
                    </a:blipFill>
                  </p:spPr>
                  <p:txBody>
                    <a:bodyPr/>
                    <a:lstStyle/>
                    <a:p>
                      <a:r>
                        <a:rPr lang="ko-KR" altLang="en-US">
                          <a:noFill/>
                        </a:rPr>
                        <a:t> </a:t>
                      </a:r>
                    </a:p>
                  </p:txBody>
                </p:sp>
              </mc:Fallback>
            </mc:AlternateContent>
          </p:grpSp>
          <p:sp>
            <p:nvSpPr>
              <p:cNvPr id="55" name="Left-Right Arrow 67">
                <a:extLst>
                  <a:ext uri="{FF2B5EF4-FFF2-40B4-BE49-F238E27FC236}">
                    <a16:creationId xmlns:a16="http://schemas.microsoft.com/office/drawing/2014/main" id="{C0A661C6-65C2-4F2A-B51B-9A6C3CF3C0B1}"/>
                  </a:ext>
                </a:extLst>
              </p:cNvPr>
              <p:cNvSpPr/>
              <p:nvPr/>
            </p:nvSpPr>
            <p:spPr>
              <a:xfrm>
                <a:off x="9296386" y="4001069"/>
                <a:ext cx="435006" cy="205055"/>
              </a:xfrm>
              <a:prstGeom prst="lef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2" name="Group 70">
              <a:extLst>
                <a:ext uri="{FF2B5EF4-FFF2-40B4-BE49-F238E27FC236}">
                  <a16:creationId xmlns:a16="http://schemas.microsoft.com/office/drawing/2014/main" id="{C8EADB4D-ACAF-40D5-8FF6-099107FDB939}"/>
                </a:ext>
              </a:extLst>
            </p:cNvPr>
            <p:cNvGrpSpPr/>
            <p:nvPr/>
          </p:nvGrpSpPr>
          <p:grpSpPr>
            <a:xfrm>
              <a:off x="5035927" y="3812688"/>
              <a:ext cx="1025376" cy="687945"/>
              <a:chOff x="8093935" y="4427145"/>
              <a:chExt cx="1298796" cy="871388"/>
            </a:xfrm>
          </p:grpSpPr>
          <p:sp>
            <p:nvSpPr>
              <p:cNvPr id="51" name="TextBox 50">
                <a:extLst>
                  <a:ext uri="{FF2B5EF4-FFF2-40B4-BE49-F238E27FC236}">
                    <a16:creationId xmlns:a16="http://schemas.microsoft.com/office/drawing/2014/main" id="{67B49CD0-D7AE-448B-8420-F33C988848B0}"/>
                  </a:ext>
                </a:extLst>
              </p:cNvPr>
              <p:cNvSpPr txBox="1"/>
              <p:nvPr/>
            </p:nvSpPr>
            <p:spPr>
              <a:xfrm>
                <a:off x="8093935" y="4674778"/>
                <a:ext cx="1298796" cy="623755"/>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FF0000"/>
                    </a:solidFill>
                    <a:latin typeface="SamsungOne 700" panose="020B0803030303020204" pitchFamily="34" charset="0"/>
                    <a:ea typeface="SamsungOne 700" panose="020B0803030303020204" pitchFamily="34" charset="0"/>
                  </a:defRPr>
                </a:lvl1pPr>
              </a:lstStyle>
              <a:p>
                <a:r>
                  <a:rPr lang="en-US" altLang="ko-KR" dirty="0"/>
                  <a:t>Summed over</a:t>
                </a:r>
                <a:endParaRPr lang="en-US" dirty="0"/>
              </a:p>
            </p:txBody>
          </p:sp>
          <p:cxnSp>
            <p:nvCxnSpPr>
              <p:cNvPr id="52" name="Straight Arrow Connector 72">
                <a:extLst>
                  <a:ext uri="{FF2B5EF4-FFF2-40B4-BE49-F238E27FC236}">
                    <a16:creationId xmlns:a16="http://schemas.microsoft.com/office/drawing/2014/main" id="{88398AB4-DD90-4279-AC7A-96E8BE398B86}"/>
                  </a:ext>
                </a:extLst>
              </p:cNvPr>
              <p:cNvCxnSpPr/>
              <p:nvPr/>
            </p:nvCxnSpPr>
            <p:spPr>
              <a:xfrm flipV="1">
                <a:off x="8732081" y="4427145"/>
                <a:ext cx="0" cy="386702"/>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3" name="Group 73">
              <a:extLst>
                <a:ext uri="{FF2B5EF4-FFF2-40B4-BE49-F238E27FC236}">
                  <a16:creationId xmlns:a16="http://schemas.microsoft.com/office/drawing/2014/main" id="{EA5DB505-4DA9-4DBD-A975-6F51A7BC75D2}"/>
                </a:ext>
              </a:extLst>
            </p:cNvPr>
            <p:cNvGrpSpPr/>
            <p:nvPr/>
          </p:nvGrpSpPr>
          <p:grpSpPr>
            <a:xfrm>
              <a:off x="3490109" y="2097787"/>
              <a:ext cx="1139354" cy="2815018"/>
              <a:chOff x="4251862" y="2289444"/>
              <a:chExt cx="1443167" cy="3565653"/>
            </a:xfrm>
          </p:grpSpPr>
          <p:sp>
            <p:nvSpPr>
              <p:cNvPr id="49" name="Oval 74">
                <a:extLst>
                  <a:ext uri="{FF2B5EF4-FFF2-40B4-BE49-F238E27FC236}">
                    <a16:creationId xmlns:a16="http://schemas.microsoft.com/office/drawing/2014/main" id="{D02348A7-4319-458D-94AF-F93E9D995436}"/>
                  </a:ext>
                </a:extLst>
              </p:cNvPr>
              <p:cNvSpPr/>
              <p:nvPr/>
            </p:nvSpPr>
            <p:spPr>
              <a:xfrm>
                <a:off x="4251862" y="2289444"/>
                <a:ext cx="425263" cy="2895118"/>
              </a:xfrm>
              <a:prstGeom prst="roundRect">
                <a:avLst>
                  <a:gd name="adj" fmla="val 50000"/>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0" name="TextBox 49">
                <a:extLst>
                  <a:ext uri="{FF2B5EF4-FFF2-40B4-BE49-F238E27FC236}">
                    <a16:creationId xmlns:a16="http://schemas.microsoft.com/office/drawing/2014/main" id="{E9AB9179-C058-4E1D-B048-22CD409B6DE6}"/>
                  </a:ext>
                </a:extLst>
              </p:cNvPr>
              <p:cNvSpPr txBox="1"/>
              <p:nvPr/>
            </p:nvSpPr>
            <p:spPr>
              <a:xfrm>
                <a:off x="4594198" y="5231342"/>
                <a:ext cx="1100831" cy="623755"/>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FF0000"/>
                    </a:solidFill>
                    <a:latin typeface="SamsungOne 700" panose="020B0803030303020204" pitchFamily="34" charset="0"/>
                    <a:ea typeface="SamsungOne 700" panose="020B0803030303020204" pitchFamily="34" charset="0"/>
                  </a:defRPr>
                </a:lvl1pPr>
              </a:lstStyle>
              <a:p>
                <a:r>
                  <a:rPr lang="en-US" altLang="ko-KR" dirty="0"/>
                  <a:t>Parameters</a:t>
                </a:r>
                <a:endParaRPr lang="en-US" dirty="0"/>
              </a:p>
            </p:txBody>
          </p:sp>
        </p:gr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FD441988-F6CE-495D-9889-B4D9F9ABE54C}"/>
                    </a:ext>
                  </a:extLst>
                </p:cNvPr>
                <p:cNvSpPr txBox="1"/>
                <p:nvPr/>
              </p:nvSpPr>
              <p:spPr>
                <a:xfrm>
                  <a:off x="6546539" y="3166574"/>
                  <a:ext cx="751251" cy="369332"/>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FF0000"/>
                      </a:solidFill>
                      <a:latin typeface="SamsungOne 700" panose="020B0803030303020204" pitchFamily="34" charset="0"/>
                      <a:ea typeface="SamsungOne 700" panose="020B0803030303020204" pitchFamily="34" charset="0"/>
                    </a:defRPr>
                  </a:lvl1pPr>
                </a:lstStyle>
                <a:p>
                  <a:pPr/>
                  <a14:m>
                    <m:oMathPara xmlns:m="http://schemas.openxmlformats.org/officeDocument/2006/math">
                      <m:oMathParaPr>
                        <m:jc m:val="centerGroup"/>
                      </m:oMathParaPr>
                      <m:oMath xmlns:m="http://schemas.openxmlformats.org/officeDocument/2006/math">
                        <m:r>
                          <a:rPr lang="ko-KR" altLang="en-US" dirty="0">
                            <a:latin typeface="Cambria Math" panose="02040503050406030204" pitchFamily="18" charset="0"/>
                          </a:rPr>
                          <m:t>𝜺</m:t>
                        </m:r>
                      </m:oMath>
                    </m:oMathPara>
                  </a14:m>
                  <a:endParaRPr lang="en-US" dirty="0"/>
                </a:p>
              </p:txBody>
            </p:sp>
          </mc:Choice>
          <mc:Fallback xmlns="">
            <p:sp>
              <p:nvSpPr>
                <p:cNvPr id="44" name="TextBox 43">
                  <a:extLst>
                    <a:ext uri="{FF2B5EF4-FFF2-40B4-BE49-F238E27FC236}">
                      <a16:creationId xmlns:a16="http://schemas.microsoft.com/office/drawing/2014/main" id="{FD441988-F6CE-495D-9889-B4D9F9ABE54C}"/>
                    </a:ext>
                  </a:extLst>
                </p:cNvPr>
                <p:cNvSpPr txBox="1">
                  <a:spLocks noRot="1" noChangeAspect="1" noMove="1" noResize="1" noEditPoints="1" noAdjustHandles="1" noChangeArrowheads="1" noChangeShapeType="1" noTextEdit="1"/>
                </p:cNvSpPr>
                <p:nvPr/>
              </p:nvSpPr>
              <p:spPr>
                <a:xfrm>
                  <a:off x="6546539" y="3166574"/>
                  <a:ext cx="751251" cy="369332"/>
                </a:xfrm>
                <a:prstGeom prst="rect">
                  <a:avLst/>
                </a:prstGeom>
                <a:blipFill>
                  <a:blip r:embed="rId26"/>
                  <a:stretch>
                    <a:fillRect/>
                  </a:stretch>
                </a:blipFill>
              </p:spPr>
              <p:txBody>
                <a:bodyPr/>
                <a:lstStyle/>
                <a:p>
                  <a:r>
                    <a:rPr lang="ko-KR" altLang="en-US">
                      <a:noFill/>
                    </a:rPr>
                    <a:t> </a:t>
                  </a:r>
                </a:p>
              </p:txBody>
            </p:sp>
          </mc:Fallback>
        </mc:AlternateContent>
        <p:grpSp>
          <p:nvGrpSpPr>
            <p:cNvPr id="45" name="Group 79">
              <a:extLst>
                <a:ext uri="{FF2B5EF4-FFF2-40B4-BE49-F238E27FC236}">
                  <a16:creationId xmlns:a16="http://schemas.microsoft.com/office/drawing/2014/main" id="{437990BD-C9AD-455A-A919-C11EFD33DA43}"/>
                </a:ext>
              </a:extLst>
            </p:cNvPr>
            <p:cNvGrpSpPr/>
            <p:nvPr/>
          </p:nvGrpSpPr>
          <p:grpSpPr>
            <a:xfrm>
              <a:off x="6225747" y="3812685"/>
              <a:ext cx="1260089" cy="578110"/>
              <a:chOff x="8090353" y="4431148"/>
              <a:chExt cx="1596097" cy="732266"/>
            </a:xfrm>
          </p:grpSpPr>
          <mc:AlternateContent xmlns:mc="http://schemas.openxmlformats.org/markup-compatibility/2006" xmlns:a14="http://schemas.microsoft.com/office/drawing/2010/main">
            <mc:Choice Requires="a14">
              <p:sp>
                <p:nvSpPr>
                  <p:cNvPr id="47" name="Rectangle 80">
                    <a:extLst>
                      <a:ext uri="{FF2B5EF4-FFF2-40B4-BE49-F238E27FC236}">
                        <a16:creationId xmlns:a16="http://schemas.microsoft.com/office/drawing/2014/main" id="{2C74AAE8-F355-47DC-943D-426029289773}"/>
                      </a:ext>
                    </a:extLst>
                  </p:cNvPr>
                  <p:cNvSpPr/>
                  <p:nvPr/>
                </p:nvSpPr>
                <p:spPr>
                  <a:xfrm>
                    <a:off x="8090353" y="4793059"/>
                    <a:ext cx="1596097" cy="370355"/>
                  </a:xfrm>
                  <a:prstGeom prst="rect">
                    <a:avLst/>
                  </a:prstGeom>
                  <a:noFill/>
                </p:spPr>
                <p:txBody>
                  <a:bodyPr wrap="square" lIns="0" tIns="0" rIns="0" bIns="0" rtlCol="0" anchor="ctr">
                    <a:noAutofit/>
                    <a:scene3d>
                      <a:camera prst="orthographicFront"/>
                      <a:lightRig rig="threePt" dir="t"/>
                    </a:scene3d>
                    <a:sp3d>
                      <a:bevelT w="0" h="6350"/>
                    </a:sp3d>
                  </a:bodyPr>
                  <a:lstStyle/>
                  <a:p>
                    <a:pPr algn="ctr">
                      <a:spcAft>
                        <a:spcPts val="600"/>
                      </a:spcAft>
                    </a:pPr>
                    <a14:m>
                      <m:oMath xmlns:m="http://schemas.openxmlformats.org/officeDocument/2006/math">
                        <m:acc>
                          <m:accPr>
                            <m:chr m:val="̂"/>
                            <m:ctrlPr>
                              <a:rPr lang="ko-KR" altLang="en-US" sz="1300" i="1">
                                <a:solidFill>
                                  <a:srgbClr val="FF0000"/>
                                </a:solidFill>
                                <a:latin typeface="Cambria Math" panose="02040503050406030204" pitchFamily="18" charset="0"/>
                                <a:ea typeface="SamsungOne 700" panose="020B0803030303020204" pitchFamily="34" charset="0"/>
                              </a:rPr>
                            </m:ctrlPr>
                          </m:accPr>
                          <m:e>
                            <m:r>
                              <a:rPr lang="en-US" altLang="ko-KR" sz="1300">
                                <a:solidFill>
                                  <a:srgbClr val="FF0000"/>
                                </a:solidFill>
                                <a:latin typeface="Cambria Math" panose="02040503050406030204" pitchFamily="18" charset="0"/>
                                <a:ea typeface="SamsungOne 700" panose="020B0803030303020204" pitchFamily="34" charset="0"/>
                              </a:rPr>
                              <m:t>𝑦</m:t>
                            </m:r>
                          </m:e>
                        </m:acc>
                        <m:r>
                          <a:rPr lang="en-US" altLang="ko-KR" sz="1300">
                            <a:solidFill>
                              <a:srgbClr val="FF0000"/>
                            </a:solidFill>
                            <a:latin typeface="Cambria Math" panose="02040503050406030204" pitchFamily="18" charset="0"/>
                            <a:ea typeface="SamsungOne 700" panose="020B0803030303020204" pitchFamily="34" charset="0"/>
                          </a:rPr>
                          <m:t>=</m:t>
                        </m:r>
                        <m:r>
                          <a:rPr lang="en-US" altLang="ko-KR" sz="1300">
                            <a:solidFill>
                              <a:srgbClr val="FF0000"/>
                            </a:solidFill>
                            <a:latin typeface="Cambria Math" panose="02040503050406030204" pitchFamily="18" charset="0"/>
                            <a:ea typeface="SamsungOne 700" panose="020B0803030303020204" pitchFamily="34" charset="0"/>
                          </a:rPr>
                          <m:t>𝐸</m:t>
                        </m:r>
                        <m:r>
                          <a:rPr lang="en-US" altLang="ko-KR" sz="1300">
                            <a:solidFill>
                              <a:srgbClr val="FF0000"/>
                            </a:solidFill>
                            <a:latin typeface="Cambria Math" panose="02040503050406030204" pitchFamily="18" charset="0"/>
                            <a:ea typeface="SamsungOne 700" panose="020B0803030303020204" pitchFamily="34" charset="0"/>
                          </a:rPr>
                          <m:t>[</m:t>
                        </m:r>
                        <m:r>
                          <a:rPr lang="en-US" altLang="ko-KR" sz="1300">
                            <a:solidFill>
                              <a:srgbClr val="FF0000"/>
                            </a:solidFill>
                            <a:latin typeface="Cambria Math" panose="02040503050406030204" pitchFamily="18" charset="0"/>
                            <a:ea typeface="SamsungOne 700" panose="020B0803030303020204" pitchFamily="34" charset="0"/>
                          </a:rPr>
                          <m:t>𝑦</m:t>
                        </m:r>
                        <m:r>
                          <a:rPr lang="en-US" altLang="ko-KR" sz="1300">
                            <a:solidFill>
                              <a:srgbClr val="FF0000"/>
                            </a:solidFill>
                            <a:latin typeface="Cambria Math" panose="02040503050406030204" pitchFamily="18" charset="0"/>
                            <a:ea typeface="SamsungOne 700" panose="020B0803030303020204" pitchFamily="34" charset="0"/>
                          </a:rPr>
                          <m:t>|</m:t>
                        </m:r>
                        <m:r>
                          <a:rPr lang="en-US" altLang="ko-KR" sz="1300">
                            <a:solidFill>
                              <a:srgbClr val="FF0000"/>
                            </a:solidFill>
                            <a:latin typeface="Cambria Math" panose="02040503050406030204" pitchFamily="18" charset="0"/>
                            <a:ea typeface="SamsungOne 700" panose="020B0803030303020204" pitchFamily="34" charset="0"/>
                          </a:rPr>
                          <m:t>𝑑𝑎𝑡𝑎</m:t>
                        </m:r>
                        <m:r>
                          <a:rPr lang="en-US" altLang="ko-KR" sz="1300">
                            <a:solidFill>
                              <a:srgbClr val="FF0000"/>
                            </a:solidFill>
                            <a:latin typeface="Cambria Math" panose="02040503050406030204" pitchFamily="18" charset="0"/>
                            <a:ea typeface="SamsungOne 700" panose="020B0803030303020204" pitchFamily="34" charset="0"/>
                          </a:rPr>
                          <m:t>]</m:t>
                        </m:r>
                      </m:oMath>
                    </a14:m>
                    <a:r>
                      <a:rPr lang="ko-KR" altLang="en-US" sz="1300" dirty="0">
                        <a:solidFill>
                          <a:srgbClr val="FF0000"/>
                        </a:solidFill>
                        <a:latin typeface="SamsungOne 700" panose="020B0803030303020204" pitchFamily="34" charset="0"/>
                        <a:ea typeface="SamsungOne 700" panose="020B0803030303020204" pitchFamily="34" charset="0"/>
                      </a:rPr>
                      <a:t> </a:t>
                    </a:r>
                    <a:endParaRPr lang="en-US" sz="1300" dirty="0">
                      <a:solidFill>
                        <a:srgbClr val="FF0000"/>
                      </a:solidFill>
                      <a:latin typeface="SamsungOne 700" panose="020B0803030303020204" pitchFamily="34" charset="0"/>
                      <a:ea typeface="SamsungOne 700" panose="020B0803030303020204" pitchFamily="34" charset="0"/>
                    </a:endParaRPr>
                  </a:p>
                </p:txBody>
              </p:sp>
            </mc:Choice>
            <mc:Fallback xmlns="">
              <p:sp>
                <p:nvSpPr>
                  <p:cNvPr id="90" name="Rectangle 80">
                    <a:extLst>
                      <a:ext uri="{FF2B5EF4-FFF2-40B4-BE49-F238E27FC236}">
                        <a16:creationId xmlns:a16="http://schemas.microsoft.com/office/drawing/2014/main" id="{4AAFCE37-BC52-4376-943B-DC6E090AE19D}"/>
                      </a:ext>
                    </a:extLst>
                  </p:cNvPr>
                  <p:cNvSpPr>
                    <a:spLocks noRot="1" noChangeAspect="1" noMove="1" noResize="1" noEditPoints="1" noAdjustHandles="1" noChangeArrowheads="1" noChangeShapeType="1" noTextEdit="1"/>
                  </p:cNvSpPr>
                  <p:nvPr/>
                </p:nvSpPr>
                <p:spPr>
                  <a:xfrm>
                    <a:off x="8090353" y="4793059"/>
                    <a:ext cx="1596097" cy="370355"/>
                  </a:xfrm>
                  <a:prstGeom prst="rect">
                    <a:avLst/>
                  </a:prstGeom>
                  <a:blipFill>
                    <a:blip r:embed="rId27"/>
                    <a:stretch>
                      <a:fillRect/>
                    </a:stretch>
                  </a:blipFill>
                </p:spPr>
                <p:txBody>
                  <a:bodyPr/>
                  <a:lstStyle/>
                  <a:p>
                    <a:r>
                      <a:rPr lang="ko-KR" altLang="en-US">
                        <a:noFill/>
                      </a:rPr>
                      <a:t> </a:t>
                    </a:r>
                  </a:p>
                </p:txBody>
              </p:sp>
            </mc:Fallback>
          </mc:AlternateContent>
          <p:cxnSp>
            <p:nvCxnSpPr>
              <p:cNvPr id="48" name="Straight Arrow Connector 81">
                <a:extLst>
                  <a:ext uri="{FF2B5EF4-FFF2-40B4-BE49-F238E27FC236}">
                    <a16:creationId xmlns:a16="http://schemas.microsoft.com/office/drawing/2014/main" id="{108B133D-0D73-4650-A69C-33AB0049B33E}"/>
                  </a:ext>
                </a:extLst>
              </p:cNvPr>
              <p:cNvCxnSpPr/>
              <p:nvPr/>
            </p:nvCxnSpPr>
            <p:spPr>
              <a:xfrm flipV="1">
                <a:off x="8304716" y="4431148"/>
                <a:ext cx="0" cy="386702"/>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46" name="Straight Arrow Connector 72">
              <a:extLst>
                <a:ext uri="{FF2B5EF4-FFF2-40B4-BE49-F238E27FC236}">
                  <a16:creationId xmlns:a16="http://schemas.microsoft.com/office/drawing/2014/main" id="{80AEBD52-D5C3-4EE5-8748-5989E875F053}"/>
                </a:ext>
              </a:extLst>
            </p:cNvPr>
            <p:cNvCxnSpPr/>
            <p:nvPr/>
          </p:nvCxnSpPr>
          <p:spPr>
            <a:xfrm flipV="1">
              <a:off x="3666837" y="4418466"/>
              <a:ext cx="0" cy="305294"/>
            </a:xfrm>
            <a:prstGeom prst="straightConnector1">
              <a:avLst/>
            </a:prstGeom>
            <a:ln w="9525">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4350603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Error metrics</a:t>
            </a:r>
          </a:p>
        </p:txBody>
      </p:sp>
      <mc:AlternateContent xmlns:mc="http://schemas.openxmlformats.org/markup-compatibility/2006" xmlns:a14="http://schemas.microsoft.com/office/drawing/2010/main">
        <mc:Choice Requires="a14">
          <p:sp>
            <p:nvSpPr>
              <p:cNvPr id="60" name="내용 개체 틀 2">
                <a:extLst>
                  <a:ext uri="{FF2B5EF4-FFF2-40B4-BE49-F238E27FC236}">
                    <a16:creationId xmlns:a16="http://schemas.microsoft.com/office/drawing/2014/main" id="{1EAA9016-EBB7-4A83-B866-BE67B2C474A4}"/>
                  </a:ext>
                </a:extLst>
              </p:cNvPr>
              <p:cNvSpPr txBox="1">
                <a:spLocks/>
              </p:cNvSpPr>
              <p:nvPr/>
            </p:nvSpPr>
            <p:spPr>
              <a:xfrm>
                <a:off x="3557748" y="1784234"/>
                <a:ext cx="2787330" cy="24272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smtClean="0">
                          <a:latin typeface="Cambria Math" panose="02040503050406030204" pitchFamily="18" charset="0"/>
                        </a:rPr>
                        <m:t>𝑀𝑆𝐸</m:t>
                      </m:r>
                      <m:r>
                        <a:rPr lang="en-US" altLang="ko-KR" smtClean="0">
                          <a:latin typeface="Cambria Math" panose="02040503050406030204" pitchFamily="18" charset="0"/>
                        </a:rPr>
                        <m:t>=</m:t>
                      </m:r>
                      <m:f>
                        <m:fPr>
                          <m:ctrlPr>
                            <a:rPr lang="en-US" altLang="ko-KR" i="1">
                              <a:latin typeface="Cambria Math" panose="02040503050406030204" pitchFamily="18" charset="0"/>
                            </a:rPr>
                          </m:ctrlPr>
                        </m:fPr>
                        <m:num>
                          <m:nary>
                            <m:naryPr>
                              <m:chr m:val="∑"/>
                              <m:ctrlPr>
                                <a:rPr lang="en-US" altLang="ko-KR" i="1">
                                  <a:latin typeface="Cambria Math" panose="02040503050406030204" pitchFamily="18" charset="0"/>
                                </a:rPr>
                              </m:ctrlPr>
                            </m:naryPr>
                            <m:sub>
                              <m:r>
                                <m:rPr>
                                  <m:brk m:alnAt="23"/>
                                </m:rPr>
                                <a:rPr lang="en-US" altLang="ko-KR">
                                  <a:latin typeface="Cambria Math" panose="02040503050406030204" pitchFamily="18" charset="0"/>
                                </a:rPr>
                                <m:t>𝑖</m:t>
                              </m:r>
                              <m:r>
                                <a:rPr lang="en-US" altLang="ko-KR">
                                  <a:latin typeface="Cambria Math" panose="02040503050406030204" pitchFamily="18" charset="0"/>
                                </a:rPr>
                                <m:t>=1</m:t>
                              </m:r>
                            </m:sub>
                            <m:sup>
                              <m:r>
                                <a:rPr lang="en-US" altLang="ko-KR">
                                  <a:latin typeface="Cambria Math" panose="02040503050406030204" pitchFamily="18" charset="0"/>
                                </a:rPr>
                                <m:t>𝑛</m:t>
                              </m:r>
                            </m:sup>
                            <m:e>
                              <m:sSup>
                                <m:sSupPr>
                                  <m:ctrlPr>
                                    <a:rPr lang="en-US" altLang="ko-KR" i="1">
                                      <a:latin typeface="Cambria Math" panose="02040503050406030204" pitchFamily="18" charset="0"/>
                                    </a:rPr>
                                  </m:ctrlPr>
                                </m:sSupPr>
                                <m:e>
                                  <m:d>
                                    <m:dPr>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a:latin typeface="Cambria Math" panose="02040503050406030204" pitchFamily="18" charset="0"/>
                                            </a:rPr>
                                            <m:t>𝑦</m:t>
                                          </m:r>
                                        </m:e>
                                        <m:sub>
                                          <m:r>
                                            <a:rPr lang="en-US" altLang="ko-KR">
                                              <a:latin typeface="Cambria Math" panose="02040503050406030204" pitchFamily="18" charset="0"/>
                                            </a:rPr>
                                            <m:t>𝑖</m:t>
                                          </m:r>
                                        </m:sub>
                                      </m:sSub>
                                      <m:r>
                                        <a:rPr lang="en-US" altLang="ko-KR">
                                          <a:latin typeface="Cambria Math" panose="02040503050406030204" pitchFamily="18" charset="0"/>
                                        </a:rPr>
                                        <m:t>−</m:t>
                                      </m:r>
                                      <m:acc>
                                        <m:accPr>
                                          <m:chr m:val="̂"/>
                                          <m:ctrlPr>
                                            <a:rPr lang="en-US" altLang="ko-KR" i="1">
                                              <a:latin typeface="Cambria Math" panose="02040503050406030204" pitchFamily="18" charset="0"/>
                                            </a:rPr>
                                          </m:ctrlPr>
                                        </m:accPr>
                                        <m:e>
                                          <m:sSub>
                                            <m:sSubPr>
                                              <m:ctrlPr>
                                                <a:rPr lang="en-US" altLang="ko-KR" i="1">
                                                  <a:latin typeface="Cambria Math" panose="02040503050406030204" pitchFamily="18" charset="0"/>
                                                </a:rPr>
                                              </m:ctrlPr>
                                            </m:sSubPr>
                                            <m:e>
                                              <m:r>
                                                <a:rPr lang="en-US" altLang="ko-KR">
                                                  <a:latin typeface="Cambria Math" panose="02040503050406030204" pitchFamily="18" charset="0"/>
                                                </a:rPr>
                                                <m:t>𝑦</m:t>
                                              </m:r>
                                            </m:e>
                                            <m:sub>
                                              <m:r>
                                                <a:rPr lang="en-US" altLang="ko-KR">
                                                  <a:latin typeface="Cambria Math" panose="02040503050406030204" pitchFamily="18" charset="0"/>
                                                </a:rPr>
                                                <m:t>𝑖</m:t>
                                              </m:r>
                                            </m:sub>
                                          </m:sSub>
                                        </m:e>
                                      </m:acc>
                                    </m:e>
                                  </m:d>
                                </m:e>
                                <m:sup>
                                  <m:r>
                                    <a:rPr lang="en-US" altLang="ko-KR">
                                      <a:latin typeface="Cambria Math" panose="02040503050406030204" pitchFamily="18" charset="0"/>
                                    </a:rPr>
                                    <m:t>2</m:t>
                                  </m:r>
                                </m:sup>
                              </m:sSup>
                            </m:e>
                          </m:nary>
                        </m:num>
                        <m:den>
                          <m:r>
                            <a:rPr lang="en-US" altLang="ko-KR">
                              <a:latin typeface="Cambria Math" panose="02040503050406030204" pitchFamily="18" charset="0"/>
                            </a:rPr>
                            <m:t>𝑛</m:t>
                          </m:r>
                        </m:den>
                      </m:f>
                    </m:oMath>
                  </m:oMathPara>
                </a14:m>
                <a:endParaRPr lang="en-US" altLang="ko-KR" dirty="0"/>
              </a:p>
              <a:p>
                <a:pPr/>
                <a14:m>
                  <m:oMathPara xmlns:m="http://schemas.openxmlformats.org/officeDocument/2006/math">
                    <m:oMathParaPr>
                      <m:jc m:val="centerGroup"/>
                    </m:oMathParaPr>
                    <m:oMath xmlns:m="http://schemas.openxmlformats.org/officeDocument/2006/math">
                      <m:r>
                        <a:rPr lang="en-US" altLang="ko-KR">
                          <a:latin typeface="Cambria Math" panose="02040503050406030204" pitchFamily="18" charset="0"/>
                        </a:rPr>
                        <m:t>𝑅𝑀𝑆𝐸</m:t>
                      </m:r>
                      <m:r>
                        <a:rPr lang="en-US" altLang="ko-KR">
                          <a:latin typeface="Cambria Math" panose="02040503050406030204" pitchFamily="18" charset="0"/>
                        </a:rPr>
                        <m:t>=</m:t>
                      </m:r>
                      <m:rad>
                        <m:radPr>
                          <m:degHide m:val="on"/>
                          <m:ctrlPr>
                            <a:rPr lang="en-US" altLang="ko-KR" i="1">
                              <a:latin typeface="Cambria Math" panose="02040503050406030204" pitchFamily="18" charset="0"/>
                            </a:rPr>
                          </m:ctrlPr>
                        </m:radPr>
                        <m:deg/>
                        <m:e>
                          <m:r>
                            <a:rPr lang="en-US" altLang="ko-KR">
                              <a:latin typeface="Cambria Math" panose="02040503050406030204" pitchFamily="18" charset="0"/>
                            </a:rPr>
                            <m:t>𝑀𝑆𝐸</m:t>
                          </m:r>
                        </m:e>
                      </m:rad>
                    </m:oMath>
                  </m:oMathPara>
                </a14:m>
                <a:endParaRPr lang="en-US" altLang="ko-KR" dirty="0"/>
              </a:p>
              <a:p>
                <a:pPr/>
                <a14:m>
                  <m:oMathPara xmlns:m="http://schemas.openxmlformats.org/officeDocument/2006/math">
                    <m:oMathParaPr>
                      <m:jc m:val="centerGroup"/>
                    </m:oMathParaPr>
                    <m:oMath xmlns:m="http://schemas.openxmlformats.org/officeDocument/2006/math">
                      <m:r>
                        <a:rPr lang="en-US" altLang="ko-KR">
                          <a:latin typeface="Cambria Math" panose="02040503050406030204" pitchFamily="18" charset="0"/>
                        </a:rPr>
                        <m:t>𝑀𝐴𝐸</m:t>
                      </m:r>
                      <m:r>
                        <a:rPr lang="en-US" altLang="ko-KR">
                          <a:latin typeface="Cambria Math" panose="02040503050406030204" pitchFamily="18" charset="0"/>
                        </a:rPr>
                        <m:t>=</m:t>
                      </m:r>
                      <m:f>
                        <m:fPr>
                          <m:ctrlPr>
                            <a:rPr lang="en-US" altLang="ko-KR" i="1">
                              <a:latin typeface="Cambria Math" panose="02040503050406030204" pitchFamily="18" charset="0"/>
                            </a:rPr>
                          </m:ctrlPr>
                        </m:fPr>
                        <m:num>
                          <m:nary>
                            <m:naryPr>
                              <m:chr m:val="∑"/>
                              <m:ctrlPr>
                                <a:rPr lang="en-US" altLang="ko-KR" i="1">
                                  <a:latin typeface="Cambria Math" panose="02040503050406030204" pitchFamily="18" charset="0"/>
                                </a:rPr>
                              </m:ctrlPr>
                            </m:naryPr>
                            <m:sub>
                              <m:r>
                                <m:rPr>
                                  <m:brk m:alnAt="23"/>
                                </m:rPr>
                                <a:rPr lang="en-US" altLang="ko-KR">
                                  <a:latin typeface="Cambria Math" panose="02040503050406030204" pitchFamily="18" charset="0"/>
                                </a:rPr>
                                <m:t>𝑖</m:t>
                              </m:r>
                              <m:r>
                                <a:rPr lang="en-US" altLang="ko-KR">
                                  <a:latin typeface="Cambria Math" panose="02040503050406030204" pitchFamily="18" charset="0"/>
                                </a:rPr>
                                <m:t>=1</m:t>
                              </m:r>
                            </m:sub>
                            <m:sup>
                              <m:r>
                                <a:rPr lang="en-US" altLang="ko-KR">
                                  <a:latin typeface="Cambria Math" panose="02040503050406030204" pitchFamily="18" charset="0"/>
                                </a:rPr>
                                <m:t>𝑛</m:t>
                              </m:r>
                            </m:sup>
                            <m:e>
                              <m:d>
                                <m:dPr>
                                  <m:begChr m:val="|"/>
                                  <m:endChr m:val="|"/>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a:latin typeface="Cambria Math" panose="02040503050406030204" pitchFamily="18" charset="0"/>
                                        </a:rPr>
                                        <m:t>𝑦</m:t>
                                      </m:r>
                                    </m:e>
                                    <m:sub>
                                      <m:r>
                                        <a:rPr lang="en-US" altLang="ko-KR">
                                          <a:latin typeface="Cambria Math" panose="02040503050406030204" pitchFamily="18" charset="0"/>
                                        </a:rPr>
                                        <m:t>𝑖</m:t>
                                      </m:r>
                                    </m:sub>
                                  </m:sSub>
                                  <m:r>
                                    <a:rPr lang="en-US" altLang="ko-KR">
                                      <a:latin typeface="Cambria Math" panose="02040503050406030204" pitchFamily="18" charset="0"/>
                                    </a:rPr>
                                    <m:t>−</m:t>
                                  </m:r>
                                  <m:acc>
                                    <m:accPr>
                                      <m:chr m:val="̂"/>
                                      <m:ctrlPr>
                                        <a:rPr lang="en-US" altLang="ko-KR" i="1">
                                          <a:latin typeface="Cambria Math" panose="02040503050406030204" pitchFamily="18" charset="0"/>
                                        </a:rPr>
                                      </m:ctrlPr>
                                    </m:accPr>
                                    <m:e>
                                      <m:sSub>
                                        <m:sSubPr>
                                          <m:ctrlPr>
                                            <a:rPr lang="en-US" altLang="ko-KR" i="1" smtClean="0">
                                              <a:latin typeface="Cambria Math" panose="02040503050406030204" pitchFamily="18" charset="0"/>
                                            </a:rPr>
                                          </m:ctrlPr>
                                        </m:sSubPr>
                                        <m:e>
                                          <m:r>
                                            <a:rPr lang="en-US" altLang="ko-KR">
                                              <a:latin typeface="Cambria Math" panose="02040503050406030204" pitchFamily="18" charset="0"/>
                                            </a:rPr>
                                            <m:t>𝑦</m:t>
                                          </m:r>
                                        </m:e>
                                        <m:sub>
                                          <m:r>
                                            <a:rPr lang="en-US" altLang="ko-KR" smtClean="0">
                                              <a:latin typeface="Cambria Math" panose="02040503050406030204" pitchFamily="18" charset="0"/>
                                            </a:rPr>
                                            <m:t>𝑖</m:t>
                                          </m:r>
                                        </m:sub>
                                      </m:sSub>
                                    </m:e>
                                  </m:acc>
                                </m:e>
                              </m:d>
                            </m:e>
                          </m:nary>
                        </m:num>
                        <m:den>
                          <m:r>
                            <a:rPr lang="en-US" altLang="ko-KR">
                              <a:latin typeface="Cambria Math" panose="02040503050406030204" pitchFamily="18" charset="0"/>
                            </a:rPr>
                            <m:t>𝑛</m:t>
                          </m:r>
                        </m:den>
                      </m:f>
                    </m:oMath>
                  </m:oMathPara>
                </a14:m>
                <a:endParaRPr lang="en-US" altLang="ko-KR" dirty="0"/>
              </a:p>
              <a:p>
                <a:pPr/>
                <a14:m>
                  <m:oMathPara xmlns:m="http://schemas.openxmlformats.org/officeDocument/2006/math">
                    <m:oMathParaPr>
                      <m:jc m:val="centerGroup"/>
                    </m:oMathParaPr>
                    <m:oMath xmlns:m="http://schemas.openxmlformats.org/officeDocument/2006/math">
                      <m:r>
                        <a:rPr lang="en-US" altLang="ko-KR">
                          <a:latin typeface="Cambria Math" panose="02040503050406030204" pitchFamily="18" charset="0"/>
                        </a:rPr>
                        <m:t>𝑀𝐴𝑃𝐸</m:t>
                      </m:r>
                      <m:r>
                        <a:rPr lang="en-US" altLang="ko-KR">
                          <a:latin typeface="Cambria Math" panose="02040503050406030204" pitchFamily="18" charset="0"/>
                        </a:rPr>
                        <m:t>=</m:t>
                      </m:r>
                      <m:f>
                        <m:fPr>
                          <m:ctrlPr>
                            <a:rPr lang="en-US" altLang="ko-KR" i="1">
                              <a:latin typeface="Cambria Math" panose="02040503050406030204" pitchFamily="18" charset="0"/>
                            </a:rPr>
                          </m:ctrlPr>
                        </m:fPr>
                        <m:num>
                          <m:r>
                            <a:rPr lang="en-US" altLang="ko-KR">
                              <a:latin typeface="Cambria Math" panose="02040503050406030204" pitchFamily="18" charset="0"/>
                            </a:rPr>
                            <m:t>100</m:t>
                          </m:r>
                        </m:num>
                        <m:den>
                          <m:r>
                            <a:rPr lang="en-US" altLang="ko-KR">
                              <a:latin typeface="Cambria Math" panose="02040503050406030204" pitchFamily="18" charset="0"/>
                            </a:rPr>
                            <m:t>𝑛</m:t>
                          </m:r>
                        </m:den>
                      </m:f>
                      <m:r>
                        <a:rPr lang="en-US" altLang="ko-KR">
                          <a:latin typeface="Cambria Math" panose="02040503050406030204" pitchFamily="18" charset="0"/>
                        </a:rPr>
                        <m:t>×</m:t>
                      </m:r>
                      <m:nary>
                        <m:naryPr>
                          <m:chr m:val="∑"/>
                          <m:ctrlPr>
                            <a:rPr lang="en-US" altLang="ko-KR" i="1">
                              <a:latin typeface="Cambria Math" panose="02040503050406030204" pitchFamily="18" charset="0"/>
                            </a:rPr>
                          </m:ctrlPr>
                        </m:naryPr>
                        <m:sub>
                          <m:r>
                            <m:rPr>
                              <m:brk m:alnAt="23"/>
                            </m:rPr>
                            <a:rPr lang="en-US" altLang="ko-KR">
                              <a:latin typeface="Cambria Math" panose="02040503050406030204" pitchFamily="18" charset="0"/>
                            </a:rPr>
                            <m:t>𝑖</m:t>
                          </m:r>
                          <m:r>
                            <a:rPr lang="en-US" altLang="ko-KR">
                              <a:latin typeface="Cambria Math" panose="02040503050406030204" pitchFamily="18" charset="0"/>
                            </a:rPr>
                            <m:t>=1</m:t>
                          </m:r>
                        </m:sub>
                        <m:sup>
                          <m:r>
                            <a:rPr lang="en-US" altLang="ko-KR">
                              <a:latin typeface="Cambria Math" panose="02040503050406030204" pitchFamily="18" charset="0"/>
                            </a:rPr>
                            <m:t>𝑛</m:t>
                          </m:r>
                        </m:sup>
                        <m:e>
                          <m:d>
                            <m:dPr>
                              <m:begChr m:val="|"/>
                              <m:endChr m:val="|"/>
                              <m:ctrlPr>
                                <a:rPr lang="en-US" altLang="ko-KR" i="1">
                                  <a:latin typeface="Cambria Math" panose="02040503050406030204" pitchFamily="18" charset="0"/>
                                </a:rPr>
                              </m:ctrlPr>
                            </m:dPr>
                            <m:e>
                              <m:f>
                                <m:fPr>
                                  <m:ctrlPr>
                                    <a:rPr lang="en-US" altLang="ko-KR" i="1">
                                      <a:latin typeface="Cambria Math" panose="02040503050406030204" pitchFamily="18" charset="0"/>
                                    </a:rPr>
                                  </m:ctrlPr>
                                </m:fPr>
                                <m:num>
                                  <m:sSub>
                                    <m:sSubPr>
                                      <m:ctrlPr>
                                        <a:rPr lang="en-US" altLang="ko-KR" i="1">
                                          <a:latin typeface="Cambria Math" panose="02040503050406030204" pitchFamily="18" charset="0"/>
                                        </a:rPr>
                                      </m:ctrlPr>
                                    </m:sSubPr>
                                    <m:e>
                                      <m:r>
                                        <a:rPr lang="en-US" altLang="ko-KR">
                                          <a:latin typeface="Cambria Math" panose="02040503050406030204" pitchFamily="18" charset="0"/>
                                        </a:rPr>
                                        <m:t>𝑦</m:t>
                                      </m:r>
                                    </m:e>
                                    <m:sub>
                                      <m:r>
                                        <a:rPr lang="en-US" altLang="ko-KR">
                                          <a:latin typeface="Cambria Math" panose="02040503050406030204" pitchFamily="18" charset="0"/>
                                        </a:rPr>
                                        <m:t>𝑖</m:t>
                                      </m:r>
                                    </m:sub>
                                  </m:sSub>
                                  <m:r>
                                    <a:rPr lang="en-US" altLang="ko-KR">
                                      <a:latin typeface="Cambria Math" panose="02040503050406030204" pitchFamily="18" charset="0"/>
                                    </a:rPr>
                                    <m:t>−</m:t>
                                  </m:r>
                                  <m:acc>
                                    <m:accPr>
                                      <m:chr m:val="̂"/>
                                      <m:ctrlPr>
                                        <a:rPr lang="en-US" altLang="ko-KR" i="1">
                                          <a:latin typeface="Cambria Math" panose="02040503050406030204" pitchFamily="18" charset="0"/>
                                        </a:rPr>
                                      </m:ctrlPr>
                                    </m:accPr>
                                    <m:e>
                                      <m:sSub>
                                        <m:sSubPr>
                                          <m:ctrlPr>
                                            <a:rPr lang="en-US" altLang="ko-KR" i="1">
                                              <a:latin typeface="Cambria Math" panose="02040503050406030204" pitchFamily="18" charset="0"/>
                                            </a:rPr>
                                          </m:ctrlPr>
                                        </m:sSubPr>
                                        <m:e>
                                          <m:r>
                                            <a:rPr lang="en-US" altLang="ko-KR">
                                              <a:latin typeface="Cambria Math" panose="02040503050406030204" pitchFamily="18" charset="0"/>
                                            </a:rPr>
                                            <m:t>𝑦</m:t>
                                          </m:r>
                                        </m:e>
                                        <m:sub>
                                          <m:r>
                                            <a:rPr lang="en-US" altLang="ko-KR">
                                              <a:latin typeface="Cambria Math" panose="02040503050406030204" pitchFamily="18" charset="0"/>
                                            </a:rPr>
                                            <m:t>𝑖</m:t>
                                          </m:r>
                                        </m:sub>
                                      </m:sSub>
                                    </m:e>
                                  </m:acc>
                                </m:num>
                                <m:den>
                                  <m:sSub>
                                    <m:sSubPr>
                                      <m:ctrlPr>
                                        <a:rPr lang="en-US" altLang="ko-KR" i="1">
                                          <a:latin typeface="Cambria Math" panose="02040503050406030204" pitchFamily="18" charset="0"/>
                                        </a:rPr>
                                      </m:ctrlPr>
                                    </m:sSubPr>
                                    <m:e>
                                      <m:r>
                                        <a:rPr lang="en-US" altLang="ko-KR">
                                          <a:latin typeface="Cambria Math" panose="02040503050406030204" pitchFamily="18" charset="0"/>
                                        </a:rPr>
                                        <m:t>𝑦</m:t>
                                      </m:r>
                                    </m:e>
                                    <m:sub>
                                      <m:r>
                                        <a:rPr lang="en-US" altLang="ko-KR">
                                          <a:latin typeface="Cambria Math" panose="02040503050406030204" pitchFamily="18" charset="0"/>
                                        </a:rPr>
                                        <m:t>𝑖</m:t>
                                      </m:r>
                                    </m:sub>
                                  </m:sSub>
                                </m:den>
                              </m:f>
                            </m:e>
                          </m:d>
                        </m:e>
                      </m:nary>
                    </m:oMath>
                  </m:oMathPara>
                </a14:m>
                <a:endParaRPr lang="en-US" altLang="ko-KR" dirty="0"/>
              </a:p>
            </p:txBody>
          </p:sp>
        </mc:Choice>
        <mc:Fallback xmlns="">
          <p:sp>
            <p:nvSpPr>
              <p:cNvPr id="60" name="내용 개체 틀 2">
                <a:extLst>
                  <a:ext uri="{FF2B5EF4-FFF2-40B4-BE49-F238E27FC236}">
                    <a16:creationId xmlns:a16="http://schemas.microsoft.com/office/drawing/2014/main" id="{1EAA9016-EBB7-4A83-B866-BE67B2C474A4}"/>
                  </a:ext>
                </a:extLst>
              </p:cNvPr>
              <p:cNvSpPr txBox="1">
                <a:spLocks noRot="1" noChangeAspect="1" noMove="1" noResize="1" noEditPoints="1" noAdjustHandles="1" noChangeArrowheads="1" noChangeShapeType="1" noTextEdit="1"/>
              </p:cNvSpPr>
              <p:nvPr/>
            </p:nvSpPr>
            <p:spPr>
              <a:xfrm>
                <a:off x="3557748" y="1784234"/>
                <a:ext cx="2787330" cy="2427203"/>
              </a:xfrm>
              <a:prstGeom prst="rect">
                <a:avLst/>
              </a:prstGeom>
              <a:blipFill>
                <a:blip r:embed="rId4"/>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197052489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Confidence interval (95%) when there is only one explanatory variable</a:t>
            </a:r>
          </a:p>
        </p:txBody>
      </p:sp>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7BBD0C9D-65BD-4D4B-AA27-B5640B645C1C}"/>
                  </a:ext>
                </a:extLst>
              </p:cNvPr>
              <p:cNvSpPr txBox="1">
                <a:spLocks/>
              </p:cNvSpPr>
              <p:nvPr/>
            </p:nvSpPr>
            <p:spPr>
              <a:xfrm>
                <a:off x="1891071" y="1773238"/>
                <a:ext cx="6120682" cy="16571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d>
                        <m:dPr>
                          <m:begChr m:val="["/>
                          <m:endChr m:val="]"/>
                          <m:ctrlPr>
                            <a:rPr lang="en-US" altLang="ko-KR" i="1">
                              <a:latin typeface="Cambria Math" panose="02040503050406030204" pitchFamily="18" charset="0"/>
                            </a:rPr>
                          </m:ctrlPr>
                        </m:dPr>
                        <m:e>
                          <m:acc>
                            <m:accPr>
                              <m:chr m:val="̂"/>
                              <m:ctrlPr>
                                <a:rPr lang="en-US" altLang="ko-KR" i="1" smtClean="0">
                                  <a:solidFill>
                                    <a:srgbClr val="1429A0"/>
                                  </a:solidFill>
                                  <a:latin typeface="Cambria Math" panose="02040503050406030204" pitchFamily="18" charset="0"/>
                                </a:rPr>
                              </m:ctrlPr>
                            </m:accPr>
                            <m:e>
                              <m:r>
                                <a:rPr lang="en-US" altLang="ko-KR">
                                  <a:solidFill>
                                    <a:srgbClr val="1429A0"/>
                                  </a:solidFill>
                                  <a:latin typeface="Cambria Math" panose="02040503050406030204" pitchFamily="18" charset="0"/>
                                </a:rPr>
                                <m:t>𝑦</m:t>
                              </m:r>
                            </m:e>
                          </m:acc>
                          <m:r>
                            <a:rPr lang="en-US" altLang="ko-KR">
                              <a:solidFill>
                                <a:srgbClr val="1429A0"/>
                              </a:solidFill>
                              <a:latin typeface="Cambria Math" panose="02040503050406030204" pitchFamily="18" charset="0"/>
                            </a:rPr>
                            <m:t>−</m:t>
                          </m:r>
                          <m:r>
                            <a:rPr lang="en-US" altLang="ko-KR">
                              <a:solidFill>
                                <a:srgbClr val="1429A0"/>
                              </a:solidFill>
                              <a:latin typeface="Cambria Math" panose="02040503050406030204" pitchFamily="18" charset="0"/>
                            </a:rPr>
                            <m:t>𝑞𝑢𝑎𝑛𝑡𝑖𝑙𝑒</m:t>
                          </m:r>
                          <m:d>
                            <m:dPr>
                              <m:ctrlPr>
                                <a:rPr lang="en-US" altLang="ko-KR" i="1">
                                  <a:solidFill>
                                    <a:srgbClr val="1429A0"/>
                                  </a:solidFill>
                                  <a:latin typeface="Cambria Math" panose="02040503050406030204" pitchFamily="18" charset="0"/>
                                </a:rPr>
                              </m:ctrlPr>
                            </m:dPr>
                            <m:e>
                              <m:r>
                                <a:rPr lang="en-US" altLang="ko-KR">
                                  <a:solidFill>
                                    <a:srgbClr val="1429A0"/>
                                  </a:solidFill>
                                  <a:latin typeface="Cambria Math" panose="02040503050406030204" pitchFamily="18" charset="0"/>
                                </a:rPr>
                                <m:t>0.975,</m:t>
                              </m:r>
                              <m:r>
                                <a:rPr lang="en-US" altLang="ko-KR">
                                  <a:solidFill>
                                    <a:srgbClr val="1429A0"/>
                                  </a:solidFill>
                                  <a:latin typeface="Cambria Math" panose="02040503050406030204" pitchFamily="18" charset="0"/>
                                </a:rPr>
                                <m:t>𝑛</m:t>
                              </m:r>
                              <m:r>
                                <a:rPr lang="en-US" altLang="ko-KR">
                                  <a:solidFill>
                                    <a:srgbClr val="1429A0"/>
                                  </a:solidFill>
                                  <a:latin typeface="Cambria Math" panose="02040503050406030204" pitchFamily="18" charset="0"/>
                                </a:rPr>
                                <m:t>−2</m:t>
                              </m:r>
                            </m:e>
                          </m:d>
                          <m:r>
                            <a:rPr lang="en-US" altLang="ko-KR">
                              <a:solidFill>
                                <a:srgbClr val="1429A0"/>
                              </a:solidFill>
                              <a:latin typeface="Cambria Math" panose="02040503050406030204" pitchFamily="18" charset="0"/>
                            </a:rPr>
                            <m:t> </m:t>
                          </m:r>
                          <m:sSub>
                            <m:sSubPr>
                              <m:ctrlPr>
                                <a:rPr lang="en-US" altLang="ko-KR" i="1">
                                  <a:solidFill>
                                    <a:srgbClr val="1429A0"/>
                                  </a:solidFill>
                                  <a:latin typeface="Cambria Math" panose="02040503050406030204" pitchFamily="18" charset="0"/>
                                </a:rPr>
                              </m:ctrlPr>
                            </m:sSubPr>
                            <m:e>
                              <m:r>
                                <a:rPr lang="ko-KR" altLang="en-US">
                                  <a:solidFill>
                                    <a:srgbClr val="1429A0"/>
                                  </a:solidFill>
                                  <a:latin typeface="Cambria Math" panose="02040503050406030204" pitchFamily="18" charset="0"/>
                                </a:rPr>
                                <m:t>𝜎</m:t>
                              </m:r>
                            </m:e>
                            <m:sub>
                              <m:acc>
                                <m:accPr>
                                  <m:chr m:val="̂"/>
                                  <m:ctrlPr>
                                    <a:rPr lang="en-US" altLang="ko-KR" i="1">
                                      <a:solidFill>
                                        <a:srgbClr val="1429A0"/>
                                      </a:solidFill>
                                      <a:latin typeface="Cambria Math" panose="02040503050406030204" pitchFamily="18" charset="0"/>
                                    </a:rPr>
                                  </m:ctrlPr>
                                </m:accPr>
                                <m:e>
                                  <m:r>
                                    <a:rPr lang="en-US" altLang="ko-KR">
                                      <a:solidFill>
                                        <a:srgbClr val="1429A0"/>
                                      </a:solidFill>
                                      <a:latin typeface="Cambria Math" panose="02040503050406030204" pitchFamily="18" charset="0"/>
                                    </a:rPr>
                                    <m:t>𝑦</m:t>
                                  </m:r>
                                </m:e>
                              </m:acc>
                            </m:sub>
                          </m:sSub>
                          <m:r>
                            <a:rPr lang="en-US" altLang="ko-KR">
                              <a:latin typeface="Cambria Math" panose="02040503050406030204" pitchFamily="18" charset="0"/>
                            </a:rPr>
                            <m:t> , </m:t>
                          </m:r>
                          <m:acc>
                            <m:accPr>
                              <m:chr m:val="̂"/>
                              <m:ctrlPr>
                                <a:rPr lang="en-US" altLang="ko-KR" i="1" smtClean="0">
                                  <a:solidFill>
                                    <a:srgbClr val="FF0000"/>
                                  </a:solidFill>
                                  <a:latin typeface="Cambria Math" panose="02040503050406030204" pitchFamily="18" charset="0"/>
                                </a:rPr>
                              </m:ctrlPr>
                            </m:accPr>
                            <m:e>
                              <m:r>
                                <a:rPr lang="en-US" altLang="ko-KR">
                                  <a:solidFill>
                                    <a:srgbClr val="FF0000"/>
                                  </a:solidFill>
                                  <a:latin typeface="Cambria Math" panose="02040503050406030204" pitchFamily="18" charset="0"/>
                                </a:rPr>
                                <m:t>𝑦</m:t>
                              </m:r>
                            </m:e>
                          </m:acc>
                          <m:r>
                            <a:rPr lang="en-US" altLang="ko-KR">
                              <a:solidFill>
                                <a:srgbClr val="FF0000"/>
                              </a:solidFill>
                              <a:latin typeface="Cambria Math" panose="02040503050406030204" pitchFamily="18" charset="0"/>
                            </a:rPr>
                            <m:t>+</m:t>
                          </m:r>
                          <m:r>
                            <a:rPr lang="en-US" altLang="ko-KR">
                              <a:solidFill>
                                <a:srgbClr val="FF0000"/>
                              </a:solidFill>
                              <a:latin typeface="Cambria Math" panose="02040503050406030204" pitchFamily="18" charset="0"/>
                            </a:rPr>
                            <m:t>𝑞𝑢𝑎𝑛𝑡𝑖𝑙𝑒</m:t>
                          </m:r>
                          <m:d>
                            <m:dPr>
                              <m:ctrlPr>
                                <a:rPr lang="en-US" altLang="ko-KR" i="1">
                                  <a:solidFill>
                                    <a:srgbClr val="FF0000"/>
                                  </a:solidFill>
                                  <a:latin typeface="Cambria Math" panose="02040503050406030204" pitchFamily="18" charset="0"/>
                                </a:rPr>
                              </m:ctrlPr>
                            </m:dPr>
                            <m:e>
                              <m:r>
                                <a:rPr lang="en-US" altLang="ko-KR">
                                  <a:solidFill>
                                    <a:srgbClr val="FF0000"/>
                                  </a:solidFill>
                                  <a:latin typeface="Cambria Math" panose="02040503050406030204" pitchFamily="18" charset="0"/>
                                </a:rPr>
                                <m:t>0.975,</m:t>
                              </m:r>
                              <m:r>
                                <a:rPr lang="en-US" altLang="ko-KR">
                                  <a:solidFill>
                                    <a:srgbClr val="FF0000"/>
                                  </a:solidFill>
                                  <a:latin typeface="Cambria Math" panose="02040503050406030204" pitchFamily="18" charset="0"/>
                                </a:rPr>
                                <m:t>𝑛</m:t>
                              </m:r>
                              <m:r>
                                <a:rPr lang="en-US" altLang="ko-KR">
                                  <a:solidFill>
                                    <a:srgbClr val="FF0000"/>
                                  </a:solidFill>
                                  <a:latin typeface="Cambria Math" panose="02040503050406030204" pitchFamily="18" charset="0"/>
                                </a:rPr>
                                <m:t>−2</m:t>
                              </m:r>
                            </m:e>
                          </m:d>
                          <m:sSub>
                            <m:sSubPr>
                              <m:ctrlPr>
                                <a:rPr lang="en-US" altLang="ko-KR" i="1">
                                  <a:solidFill>
                                    <a:srgbClr val="FF0000"/>
                                  </a:solidFill>
                                  <a:latin typeface="Cambria Math" panose="02040503050406030204" pitchFamily="18" charset="0"/>
                                </a:rPr>
                              </m:ctrlPr>
                            </m:sSubPr>
                            <m:e>
                              <m:r>
                                <a:rPr lang="en-US" altLang="ko-KR">
                                  <a:solidFill>
                                    <a:srgbClr val="FF0000"/>
                                  </a:solidFill>
                                  <a:latin typeface="Cambria Math" panose="02040503050406030204" pitchFamily="18" charset="0"/>
                                </a:rPr>
                                <m:t> </m:t>
                              </m:r>
                              <m:r>
                                <a:rPr lang="ko-KR" altLang="en-US">
                                  <a:solidFill>
                                    <a:srgbClr val="FF0000"/>
                                  </a:solidFill>
                                  <a:latin typeface="Cambria Math" panose="02040503050406030204" pitchFamily="18" charset="0"/>
                                </a:rPr>
                                <m:t>𝜎</m:t>
                              </m:r>
                            </m:e>
                            <m:sub>
                              <m:acc>
                                <m:accPr>
                                  <m:chr m:val="̂"/>
                                  <m:ctrlPr>
                                    <a:rPr lang="en-US" altLang="ko-KR" i="1">
                                      <a:solidFill>
                                        <a:srgbClr val="FF0000"/>
                                      </a:solidFill>
                                      <a:latin typeface="Cambria Math" panose="02040503050406030204" pitchFamily="18" charset="0"/>
                                    </a:rPr>
                                  </m:ctrlPr>
                                </m:accPr>
                                <m:e>
                                  <m:r>
                                    <a:rPr lang="en-US" altLang="ko-KR">
                                      <a:solidFill>
                                        <a:srgbClr val="FF0000"/>
                                      </a:solidFill>
                                      <a:latin typeface="Cambria Math" panose="02040503050406030204" pitchFamily="18" charset="0"/>
                                    </a:rPr>
                                    <m:t>𝑦</m:t>
                                  </m:r>
                                </m:e>
                              </m:acc>
                            </m:sub>
                          </m:sSub>
                        </m:e>
                      </m:d>
                    </m:oMath>
                  </m:oMathPara>
                </a14:m>
                <a:endParaRPr lang="en-US" altLang="ko-KR" dirty="0"/>
              </a:p>
              <a:p>
                <a:pPr algn="ctr"/>
                <a:r>
                  <a:rPr lang="en-US" altLang="ko-KR" dirty="0"/>
                  <a:t>with</a:t>
                </a:r>
              </a:p>
              <a:p>
                <a:pPr/>
                <a14:m>
                  <m:oMathPara xmlns:m="http://schemas.openxmlformats.org/officeDocument/2006/math">
                    <m:oMathParaPr>
                      <m:jc m:val="centerGroup"/>
                    </m:oMathParaPr>
                    <m:oMath xmlns:m="http://schemas.openxmlformats.org/officeDocument/2006/math">
                      <m:sSub>
                        <m:sSubPr>
                          <m:ctrlPr>
                            <a:rPr lang="en-US" altLang="ko-KR" i="1">
                              <a:latin typeface="Cambria Math" panose="02040503050406030204" pitchFamily="18" charset="0"/>
                            </a:rPr>
                          </m:ctrlPr>
                        </m:sSubPr>
                        <m:e>
                          <m:r>
                            <a:rPr lang="ko-KR" altLang="en-US">
                              <a:latin typeface="Cambria Math" panose="02040503050406030204" pitchFamily="18" charset="0"/>
                            </a:rPr>
                            <m:t>𝜎</m:t>
                          </m:r>
                        </m:e>
                        <m:sub>
                          <m:acc>
                            <m:accPr>
                              <m:chr m:val="̂"/>
                              <m:ctrlPr>
                                <a:rPr lang="en-US" altLang="ko-KR" i="1">
                                  <a:latin typeface="Cambria Math" panose="02040503050406030204" pitchFamily="18" charset="0"/>
                                </a:rPr>
                              </m:ctrlPr>
                            </m:accPr>
                            <m:e>
                              <m:r>
                                <a:rPr lang="en-US" altLang="ko-KR">
                                  <a:latin typeface="Cambria Math" panose="02040503050406030204" pitchFamily="18" charset="0"/>
                                </a:rPr>
                                <m:t>𝑦</m:t>
                              </m:r>
                            </m:e>
                          </m:acc>
                        </m:sub>
                      </m:sSub>
                      <m:r>
                        <a:rPr lang="en-US" altLang="ko-KR">
                          <a:latin typeface="Cambria Math" panose="02040503050406030204" pitchFamily="18" charset="0"/>
                        </a:rPr>
                        <m:t>=</m:t>
                      </m:r>
                      <m:r>
                        <a:rPr lang="en-US" altLang="ko-KR">
                          <a:latin typeface="Cambria Math" panose="02040503050406030204" pitchFamily="18" charset="0"/>
                        </a:rPr>
                        <m:t>𝑅𝑀𝑆𝐸</m:t>
                      </m:r>
                      <m:r>
                        <a:rPr lang="en-US" altLang="ko-KR">
                          <a:latin typeface="Cambria Math" panose="02040503050406030204" pitchFamily="18" charset="0"/>
                        </a:rPr>
                        <m:t>×</m:t>
                      </m:r>
                      <m:rad>
                        <m:radPr>
                          <m:degHide m:val="on"/>
                          <m:ctrlPr>
                            <a:rPr lang="en-US" altLang="ko-KR" i="1">
                              <a:latin typeface="Cambria Math" panose="02040503050406030204" pitchFamily="18" charset="0"/>
                            </a:rPr>
                          </m:ctrlPr>
                        </m:radPr>
                        <m:deg/>
                        <m:e>
                          <m:d>
                            <m:dPr>
                              <m:ctrlPr>
                                <a:rPr lang="en-US" altLang="ko-KR" i="1">
                                  <a:latin typeface="Cambria Math" panose="02040503050406030204" pitchFamily="18" charset="0"/>
                                </a:rPr>
                              </m:ctrlPr>
                            </m:dPr>
                            <m:e>
                              <m:f>
                                <m:fPr>
                                  <m:ctrlPr>
                                    <a:rPr lang="en-US" altLang="ko-KR" i="1">
                                      <a:latin typeface="Cambria Math" panose="02040503050406030204" pitchFamily="18" charset="0"/>
                                    </a:rPr>
                                  </m:ctrlPr>
                                </m:fPr>
                                <m:num>
                                  <m:r>
                                    <a:rPr lang="en-US" altLang="ko-KR">
                                      <a:latin typeface="Cambria Math" panose="02040503050406030204" pitchFamily="18" charset="0"/>
                                    </a:rPr>
                                    <m:t>1</m:t>
                                  </m:r>
                                </m:num>
                                <m:den>
                                  <m:r>
                                    <a:rPr lang="en-US" altLang="ko-KR">
                                      <a:latin typeface="Cambria Math" panose="02040503050406030204" pitchFamily="18" charset="0"/>
                                    </a:rPr>
                                    <m:t>𝑛</m:t>
                                  </m:r>
                                </m:den>
                              </m:f>
                              <m:r>
                                <a:rPr lang="en-US" altLang="ko-KR">
                                  <a:latin typeface="Cambria Math" panose="02040503050406030204" pitchFamily="18" charset="0"/>
                                </a:rPr>
                                <m:t>+</m:t>
                              </m:r>
                              <m:f>
                                <m:fPr>
                                  <m:ctrlPr>
                                    <a:rPr lang="en-US" altLang="ko-KR" i="1">
                                      <a:latin typeface="Cambria Math" panose="02040503050406030204" pitchFamily="18" charset="0"/>
                                    </a:rPr>
                                  </m:ctrlPr>
                                </m:fPr>
                                <m:num>
                                  <m:sSup>
                                    <m:sSupPr>
                                      <m:ctrlPr>
                                        <a:rPr lang="en-US" altLang="ko-KR" i="1">
                                          <a:latin typeface="Cambria Math" panose="02040503050406030204" pitchFamily="18" charset="0"/>
                                        </a:rPr>
                                      </m:ctrlPr>
                                    </m:sSupPr>
                                    <m:e>
                                      <m:r>
                                        <a:rPr lang="en-US" altLang="ko-KR">
                                          <a:latin typeface="Cambria Math" panose="02040503050406030204" pitchFamily="18" charset="0"/>
                                        </a:rPr>
                                        <m:t>(</m:t>
                                      </m:r>
                                      <m:sSup>
                                        <m:sSupPr>
                                          <m:ctrlPr>
                                            <a:rPr lang="en-US" altLang="ko-KR" i="1">
                                              <a:latin typeface="Cambria Math" panose="02040503050406030204" pitchFamily="18" charset="0"/>
                                            </a:rPr>
                                          </m:ctrlPr>
                                        </m:sSupPr>
                                        <m:e>
                                          <m:r>
                                            <a:rPr lang="en-US" altLang="ko-KR">
                                              <a:latin typeface="Cambria Math" panose="02040503050406030204" pitchFamily="18" charset="0"/>
                                            </a:rPr>
                                            <m:t>𝑥</m:t>
                                          </m:r>
                                        </m:e>
                                        <m:sup>
                                          <m:r>
                                            <a:rPr lang="en-US" altLang="ko-KR">
                                              <a:latin typeface="Cambria Math" panose="02040503050406030204" pitchFamily="18" charset="0"/>
                                            </a:rPr>
                                            <m:t>′</m:t>
                                          </m:r>
                                        </m:sup>
                                      </m:sSup>
                                      <m:r>
                                        <a:rPr lang="en-US" altLang="ko-KR">
                                          <a:latin typeface="Cambria Math" panose="02040503050406030204" pitchFamily="18" charset="0"/>
                                        </a:rPr>
                                        <m:t>−</m:t>
                                      </m:r>
                                      <m:acc>
                                        <m:accPr>
                                          <m:chr m:val="̅"/>
                                          <m:ctrlPr>
                                            <a:rPr lang="en-US" altLang="ko-KR" i="1">
                                              <a:latin typeface="Cambria Math" panose="02040503050406030204" pitchFamily="18" charset="0"/>
                                            </a:rPr>
                                          </m:ctrlPr>
                                        </m:accPr>
                                        <m:e>
                                          <m:r>
                                            <a:rPr lang="en-US" altLang="ko-KR">
                                              <a:latin typeface="Cambria Math" panose="02040503050406030204" pitchFamily="18" charset="0"/>
                                            </a:rPr>
                                            <m:t>𝑥</m:t>
                                          </m:r>
                                        </m:e>
                                      </m:acc>
                                      <m:r>
                                        <a:rPr lang="en-US" altLang="ko-KR">
                                          <a:latin typeface="Cambria Math" panose="02040503050406030204" pitchFamily="18" charset="0"/>
                                        </a:rPr>
                                        <m:t>)</m:t>
                                      </m:r>
                                    </m:e>
                                    <m:sup>
                                      <m:r>
                                        <a:rPr lang="en-US" altLang="ko-KR">
                                          <a:latin typeface="Cambria Math" panose="02040503050406030204" pitchFamily="18" charset="0"/>
                                        </a:rPr>
                                        <m:t>2</m:t>
                                      </m:r>
                                    </m:sup>
                                  </m:sSup>
                                </m:num>
                                <m:den>
                                  <m:nary>
                                    <m:naryPr>
                                      <m:chr m:val="∑"/>
                                      <m:subHide m:val="on"/>
                                      <m:supHide m:val="on"/>
                                      <m:ctrlPr>
                                        <a:rPr lang="en-US" altLang="ko-KR" i="1">
                                          <a:latin typeface="Cambria Math" panose="02040503050406030204" pitchFamily="18" charset="0"/>
                                        </a:rPr>
                                      </m:ctrlPr>
                                    </m:naryPr>
                                    <m:sub/>
                                    <m:sup/>
                                    <m:e>
                                      <m:sSup>
                                        <m:sSupPr>
                                          <m:ctrlPr>
                                            <a:rPr lang="en-US" altLang="ko-KR" i="1">
                                              <a:latin typeface="Cambria Math" panose="02040503050406030204" pitchFamily="18" charset="0"/>
                                            </a:rPr>
                                          </m:ctrlPr>
                                        </m:sSupPr>
                                        <m:e>
                                          <m:r>
                                            <a:rPr lang="en-US" altLang="ko-KR">
                                              <a:latin typeface="Cambria Math" panose="02040503050406030204" pitchFamily="18" charset="0"/>
                                            </a:rPr>
                                            <m:t>(</m:t>
                                          </m:r>
                                          <m:r>
                                            <a:rPr lang="en-US" altLang="ko-KR">
                                              <a:latin typeface="Cambria Math" panose="02040503050406030204" pitchFamily="18" charset="0"/>
                                            </a:rPr>
                                            <m:t>𝑥</m:t>
                                          </m:r>
                                          <m:r>
                                            <a:rPr lang="en-US" altLang="ko-KR">
                                              <a:latin typeface="Cambria Math" panose="02040503050406030204" pitchFamily="18" charset="0"/>
                                            </a:rPr>
                                            <m:t>−</m:t>
                                          </m:r>
                                          <m:acc>
                                            <m:accPr>
                                              <m:chr m:val="̅"/>
                                              <m:ctrlPr>
                                                <a:rPr lang="en-US" altLang="ko-KR" i="1">
                                                  <a:latin typeface="Cambria Math" panose="02040503050406030204" pitchFamily="18" charset="0"/>
                                                </a:rPr>
                                              </m:ctrlPr>
                                            </m:accPr>
                                            <m:e>
                                              <m:r>
                                                <a:rPr lang="en-US" altLang="ko-KR">
                                                  <a:latin typeface="Cambria Math" panose="02040503050406030204" pitchFamily="18" charset="0"/>
                                                </a:rPr>
                                                <m:t>𝑥</m:t>
                                              </m:r>
                                            </m:e>
                                          </m:acc>
                                          <m:r>
                                            <a:rPr lang="en-US" altLang="ko-KR">
                                              <a:latin typeface="Cambria Math" panose="02040503050406030204" pitchFamily="18" charset="0"/>
                                            </a:rPr>
                                            <m:t>)</m:t>
                                          </m:r>
                                        </m:e>
                                        <m:sup>
                                          <m:r>
                                            <a:rPr lang="en-US" altLang="ko-KR">
                                              <a:latin typeface="Cambria Math" panose="02040503050406030204" pitchFamily="18" charset="0"/>
                                            </a:rPr>
                                            <m:t>2</m:t>
                                          </m:r>
                                        </m:sup>
                                      </m:sSup>
                                    </m:e>
                                  </m:nary>
                                </m:den>
                              </m:f>
                            </m:e>
                          </m:d>
                        </m:e>
                      </m:rad>
                    </m:oMath>
                  </m:oMathPara>
                </a14:m>
                <a:endParaRPr lang="en-US" altLang="ko-KR" dirty="0"/>
              </a:p>
            </p:txBody>
          </p:sp>
        </mc:Choice>
        <mc:Fallback xmlns="">
          <p:sp>
            <p:nvSpPr>
              <p:cNvPr id="7" name="내용 개체 틀 2">
                <a:extLst>
                  <a:ext uri="{FF2B5EF4-FFF2-40B4-BE49-F238E27FC236}">
                    <a16:creationId xmlns:a16="http://schemas.microsoft.com/office/drawing/2014/main" id="{7BBD0C9D-65BD-4D4B-AA27-B5640B645C1C}"/>
                  </a:ext>
                </a:extLst>
              </p:cNvPr>
              <p:cNvSpPr txBox="1">
                <a:spLocks noRot="1" noChangeAspect="1" noMove="1" noResize="1" noEditPoints="1" noAdjustHandles="1" noChangeArrowheads="1" noChangeShapeType="1" noTextEdit="1"/>
              </p:cNvSpPr>
              <p:nvPr/>
            </p:nvSpPr>
            <p:spPr>
              <a:xfrm>
                <a:off x="1891071" y="1773238"/>
                <a:ext cx="6120682" cy="1657120"/>
              </a:xfrm>
              <a:prstGeom prst="rect">
                <a:avLst/>
              </a:prstGeom>
              <a:blipFill>
                <a:blip r:embed="rId4"/>
                <a:stretch>
                  <a:fillRect/>
                </a:stretch>
              </a:blipFill>
              <a:ln>
                <a:noFill/>
              </a:ln>
            </p:spPr>
            <p:txBody>
              <a:bodyPr/>
              <a:lstStyle/>
              <a:p>
                <a:r>
                  <a:rPr lang="ko-KR" altLang="en-US">
                    <a:noFill/>
                  </a:rPr>
                  <a:t> </a:t>
                </a:r>
              </a:p>
            </p:txBody>
          </p:sp>
        </mc:Fallback>
      </mc:AlternateContent>
      <p:sp>
        <p:nvSpPr>
          <p:cNvPr id="8" name="직사각형 7">
            <a:extLst>
              <a:ext uri="{FF2B5EF4-FFF2-40B4-BE49-F238E27FC236}">
                <a16:creationId xmlns:a16="http://schemas.microsoft.com/office/drawing/2014/main" id="{D8F52789-E8E4-41E2-918C-08941B9AAE34}"/>
              </a:ext>
            </a:extLst>
          </p:cNvPr>
          <p:cNvSpPr/>
          <p:nvPr/>
        </p:nvSpPr>
        <p:spPr>
          <a:xfrm>
            <a:off x="666750" y="3587595"/>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𝑞𝑢𝑎𝑛𝑡𝑖𝑙𝑒</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𝛼</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𝑘</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 Student-t quantile of degree of freedom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𝑘</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p:txBody>
      </p:sp>
    </p:spTree>
    <p:extLst>
      <p:ext uri="{BB962C8B-B14F-4D97-AF65-F5344CB8AC3E}">
        <p14:creationId xmlns:p14="http://schemas.microsoft.com/office/powerpoint/2010/main" val="301534573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Role of categorical variables</a:t>
            </a:r>
          </a:p>
        </p:txBody>
      </p:sp>
      <p:sp>
        <p:nvSpPr>
          <p:cNvPr id="10" name="직사각형 9">
            <a:extLst>
              <a:ext uri="{FF2B5EF4-FFF2-40B4-BE49-F238E27FC236}">
                <a16:creationId xmlns:a16="http://schemas.microsoft.com/office/drawing/2014/main" id="{E5B73998-95AD-4DF4-A9AB-D07639C34B25}"/>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Without categorical variable: weight ~ height </a:t>
            </a:r>
          </a:p>
        </p:txBody>
      </p:sp>
      <p:pic>
        <p:nvPicPr>
          <p:cNvPr id="11" name="Picture 7">
            <a:extLst>
              <a:ext uri="{FF2B5EF4-FFF2-40B4-BE49-F238E27FC236}">
                <a16:creationId xmlns:a16="http://schemas.microsoft.com/office/drawing/2014/main" id="{AEFFBDA0-94D0-47CC-BE04-0755F4E2A1D8}"/>
              </a:ext>
            </a:extLst>
          </p:cNvPr>
          <p:cNvPicPr>
            <a:picLocks noChangeAspect="1"/>
          </p:cNvPicPr>
          <p:nvPr/>
        </p:nvPicPr>
        <p:blipFill rotWithShape="1">
          <a:blip r:embed="rId4">
            <a:extLst>
              <a:ext uri="{28A0092B-C50C-407E-A947-70E740481C1C}">
                <a14:useLocalDpi xmlns:a14="http://schemas.microsoft.com/office/drawing/2010/main" val="0"/>
              </a:ext>
            </a:extLst>
          </a:blip>
          <a:srcRect t="15712"/>
          <a:stretch/>
        </p:blipFill>
        <p:spPr>
          <a:xfrm>
            <a:off x="3029943" y="2162823"/>
            <a:ext cx="3651892" cy="2427500"/>
          </a:xfrm>
          <a:prstGeom prst="rect">
            <a:avLst/>
          </a:prstGeom>
        </p:spPr>
      </p:pic>
      <p:grpSp>
        <p:nvGrpSpPr>
          <p:cNvPr id="15" name="그룹 14">
            <a:extLst>
              <a:ext uri="{FF2B5EF4-FFF2-40B4-BE49-F238E27FC236}">
                <a16:creationId xmlns:a16="http://schemas.microsoft.com/office/drawing/2014/main" id="{E328F7B2-4E38-4CB3-A6A5-77B573625397}"/>
              </a:ext>
            </a:extLst>
          </p:cNvPr>
          <p:cNvGrpSpPr/>
          <p:nvPr/>
        </p:nvGrpSpPr>
        <p:grpSpPr>
          <a:xfrm>
            <a:off x="6809769" y="2205038"/>
            <a:ext cx="960814" cy="561745"/>
            <a:chOff x="8497852" y="2830511"/>
            <a:chExt cx="1133833" cy="561745"/>
          </a:xfrm>
        </p:grpSpPr>
        <p:sp>
          <p:nvSpPr>
            <p:cNvPr id="16" name="타원 15">
              <a:extLst>
                <a:ext uri="{FF2B5EF4-FFF2-40B4-BE49-F238E27FC236}">
                  <a16:creationId xmlns:a16="http://schemas.microsoft.com/office/drawing/2014/main" id="{E23E8235-15DA-4CAE-B9BB-4A04C69B612C}"/>
                </a:ext>
              </a:extLst>
            </p:cNvPr>
            <p:cNvSpPr/>
            <p:nvPr/>
          </p:nvSpPr>
          <p:spPr>
            <a:xfrm>
              <a:off x="8498541" y="2921115"/>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7" name="타원 16">
              <a:extLst>
                <a:ext uri="{FF2B5EF4-FFF2-40B4-BE49-F238E27FC236}">
                  <a16:creationId xmlns:a16="http://schemas.microsoft.com/office/drawing/2014/main" id="{E2222CAD-BF62-4A35-B79F-010F2CB325DE}"/>
                </a:ext>
              </a:extLst>
            </p:cNvPr>
            <p:cNvSpPr/>
            <p:nvPr/>
          </p:nvSpPr>
          <p:spPr>
            <a:xfrm>
              <a:off x="8497852" y="3210062"/>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5016067-462A-4854-B866-584FF72A1A34}"/>
                    </a:ext>
                  </a:extLst>
                </p:cNvPr>
                <p:cNvSpPr txBox="1"/>
                <p:nvPr/>
              </p:nvSpPr>
              <p:spPr>
                <a:xfrm>
                  <a:off x="8497852" y="2830511"/>
                  <a:ext cx="973632" cy="292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defPPr>
                    <a:defRPr lang="en-US"/>
                  </a:defPPr>
                  <a:lvl1pPr>
                    <a:spcAft>
                      <a:spcPts val="600"/>
                    </a:spcAft>
                    <a:defRPr sz="1400">
                      <a:solidFill>
                        <a:schemeClr val="tx1">
                          <a:lumMod val="85000"/>
                          <a:lumOff val="15000"/>
                        </a:schemeClr>
                      </a:solidFill>
                      <a:latin typeface="SamsungOne 400" panose="020B0503030303020204" pitchFamily="34" charset="0"/>
                      <a:ea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dirty="0">
                            <a:latin typeface="Cambria Math" panose="02040503050406030204" pitchFamily="18" charset="0"/>
                          </a:rPr>
                          <m:t> =</m:t>
                        </m:r>
                        <m:r>
                          <a:rPr lang="en-US" altLang="ko-KR" dirty="0">
                            <a:latin typeface="Cambria Math" panose="02040503050406030204" pitchFamily="18" charset="0"/>
                          </a:rPr>
                          <m:t>𝑚𝑎𝑙𝑒</m:t>
                        </m:r>
                      </m:oMath>
                    </m:oMathPara>
                  </a14:m>
                  <a:endParaRPr lang="ko-KR" altLang="en-US" dirty="0"/>
                </a:p>
              </p:txBody>
            </p:sp>
          </mc:Choice>
          <mc:Fallback xmlns="">
            <p:sp>
              <p:nvSpPr>
                <p:cNvPr id="30" name="TextBox 29">
                  <a:extLst>
                    <a:ext uri="{FF2B5EF4-FFF2-40B4-BE49-F238E27FC236}">
                      <a16:creationId xmlns:a16="http://schemas.microsoft.com/office/drawing/2014/main" id="{52C8FA59-805C-400E-BFE2-936FB9982537}"/>
                    </a:ext>
                  </a:extLst>
                </p:cNvPr>
                <p:cNvSpPr txBox="1">
                  <a:spLocks noRot="1" noChangeAspect="1" noMove="1" noResize="1" noEditPoints="1" noAdjustHandles="1" noChangeArrowheads="1" noChangeShapeType="1" noTextEdit="1"/>
                </p:cNvSpPr>
                <p:nvPr/>
              </p:nvSpPr>
              <p:spPr>
                <a:xfrm>
                  <a:off x="8497852" y="2830511"/>
                  <a:ext cx="973632" cy="292388"/>
                </a:xfrm>
                <a:prstGeom prst="rect">
                  <a:avLst/>
                </a:prstGeom>
                <a:blipFill>
                  <a:blip r:embed="rId6"/>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824C8A6-5138-4081-B19F-B353CF63D417}"/>
                    </a:ext>
                  </a:extLst>
                </p:cNvPr>
                <p:cNvSpPr txBox="1"/>
                <p:nvPr/>
              </p:nvSpPr>
              <p:spPr>
                <a:xfrm>
                  <a:off x="8554542" y="3099868"/>
                  <a:ext cx="1077143" cy="292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defPPr>
                    <a:defRPr lang="en-US"/>
                  </a:defPPr>
                  <a:lvl1pPr>
                    <a:spcAft>
                      <a:spcPts val="600"/>
                    </a:spcAft>
                    <a:defRPr sz="1400">
                      <a:solidFill>
                        <a:schemeClr val="tx1">
                          <a:lumMod val="85000"/>
                          <a:lumOff val="15000"/>
                        </a:schemeClr>
                      </a:solidFill>
                      <a:latin typeface="SamsungOne 400" panose="020B0503030303020204" pitchFamily="34" charset="0"/>
                      <a:ea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dirty="0">
                            <a:latin typeface="Cambria Math" panose="02040503050406030204" pitchFamily="18" charset="0"/>
                          </a:rPr>
                          <m:t>=</m:t>
                        </m:r>
                        <m:r>
                          <a:rPr lang="en-US" altLang="ko-KR" dirty="0">
                            <a:latin typeface="Cambria Math" panose="02040503050406030204" pitchFamily="18" charset="0"/>
                          </a:rPr>
                          <m:t>𝑓𝑒𝑚𝑎𝑙𝑒</m:t>
                        </m:r>
                      </m:oMath>
                    </m:oMathPara>
                  </a14:m>
                  <a:endParaRPr lang="ko-KR" altLang="en-US" dirty="0"/>
                </a:p>
              </p:txBody>
            </p:sp>
          </mc:Choice>
          <mc:Fallback xmlns="">
            <p:sp>
              <p:nvSpPr>
                <p:cNvPr id="31" name="TextBox 30">
                  <a:extLst>
                    <a:ext uri="{FF2B5EF4-FFF2-40B4-BE49-F238E27FC236}">
                      <a16:creationId xmlns:a16="http://schemas.microsoft.com/office/drawing/2014/main" id="{BB7B8CDA-D42A-416B-9FB7-60AFF4FCFB47}"/>
                    </a:ext>
                  </a:extLst>
                </p:cNvPr>
                <p:cNvSpPr txBox="1">
                  <a:spLocks noRot="1" noChangeAspect="1" noMove="1" noResize="1" noEditPoints="1" noAdjustHandles="1" noChangeArrowheads="1" noChangeShapeType="1" noTextEdit="1"/>
                </p:cNvSpPr>
                <p:nvPr/>
              </p:nvSpPr>
              <p:spPr>
                <a:xfrm>
                  <a:off x="8554542" y="3099868"/>
                  <a:ext cx="1077143" cy="292388"/>
                </a:xfrm>
                <a:prstGeom prst="rect">
                  <a:avLst/>
                </a:prstGeom>
                <a:blipFill>
                  <a:blip r:embed="rId7"/>
                  <a:stretch>
                    <a:fillRect/>
                  </a:stretch>
                </a:blipFill>
                <a:ln>
                  <a:noFill/>
                </a:ln>
              </p:spPr>
              <p:txBody>
                <a:bodyPr/>
                <a:lstStyle/>
                <a:p>
                  <a:r>
                    <a:rPr lang="ko-KR" altLang="en-US">
                      <a:noFill/>
                    </a:rPr>
                    <a:t> </a:t>
                  </a:r>
                </a:p>
              </p:txBody>
            </p:sp>
          </mc:Fallback>
        </mc:AlternateContent>
      </p:grpSp>
      <p:sp>
        <p:nvSpPr>
          <p:cNvPr id="20" name="TextBox 19">
            <a:extLst>
              <a:ext uri="{FF2B5EF4-FFF2-40B4-BE49-F238E27FC236}">
                <a16:creationId xmlns:a16="http://schemas.microsoft.com/office/drawing/2014/main" id="{0DF43D03-04BD-4D3B-8AFD-F46F2EEA97AD}"/>
              </a:ext>
            </a:extLst>
          </p:cNvPr>
          <p:cNvSpPr txBox="1"/>
          <p:nvPr/>
        </p:nvSpPr>
        <p:spPr>
          <a:xfrm>
            <a:off x="4672522" y="4257092"/>
            <a:ext cx="630301" cy="276999"/>
          </a:xfrm>
          <a:prstGeom prst="rect">
            <a:avLst/>
          </a:prstGeom>
          <a:solidFill>
            <a:schemeClr val="bg1"/>
          </a:solidFill>
        </p:spPr>
        <p:txBody>
          <a:bodyPr wrap="non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dirty="0"/>
              <a:t>height</a:t>
            </a:r>
            <a:endParaRPr lang="ko-KR" altLang="en-US" dirty="0"/>
          </a:p>
        </p:txBody>
      </p:sp>
      <p:sp>
        <p:nvSpPr>
          <p:cNvPr id="21" name="TextBox 20">
            <a:extLst>
              <a:ext uri="{FF2B5EF4-FFF2-40B4-BE49-F238E27FC236}">
                <a16:creationId xmlns:a16="http://schemas.microsoft.com/office/drawing/2014/main" id="{9F7E0AE3-45CE-4ADC-BD9B-278DEC9208F7}"/>
              </a:ext>
            </a:extLst>
          </p:cNvPr>
          <p:cNvSpPr txBox="1"/>
          <p:nvPr/>
        </p:nvSpPr>
        <p:spPr>
          <a:xfrm rot="16200000">
            <a:off x="2779313" y="2958662"/>
            <a:ext cx="660758" cy="276999"/>
          </a:xfrm>
          <a:prstGeom prst="rect">
            <a:avLst/>
          </a:prstGeom>
          <a:solidFill>
            <a:schemeClr val="bg1"/>
          </a:solidFill>
        </p:spPr>
        <p:txBody>
          <a:bodyPr wrap="non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dirty="0"/>
              <a:t>weight</a:t>
            </a:r>
            <a:endParaRPr lang="ko-KR" altLang="en-US" dirty="0"/>
          </a:p>
        </p:txBody>
      </p:sp>
    </p:spTree>
    <p:extLst>
      <p:ext uri="{BB962C8B-B14F-4D97-AF65-F5344CB8AC3E}">
        <p14:creationId xmlns:p14="http://schemas.microsoft.com/office/powerpoint/2010/main" val="339474392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Role of categorical variables</a:t>
            </a:r>
          </a:p>
        </p:txBody>
      </p:sp>
      <p:sp>
        <p:nvSpPr>
          <p:cNvPr id="10" name="직사각형 9">
            <a:extLst>
              <a:ext uri="{FF2B5EF4-FFF2-40B4-BE49-F238E27FC236}">
                <a16:creationId xmlns:a16="http://schemas.microsoft.com/office/drawing/2014/main" id="{E5B73998-95AD-4DF4-A9AB-D07639C34B25}"/>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With a categorical variable </a:t>
            </a:r>
            <a:r>
              <a:rPr lang="en-US" altLang="ko-KR" sz="1300" b="1" dirty="0">
                <a:solidFill>
                  <a:srgbClr val="1429A0"/>
                </a:solidFill>
                <a:latin typeface="SamsungOne 400" panose="020B0503030303020204" pitchFamily="34" charset="0"/>
                <a:ea typeface="SamsungOne 400" panose="020B0503030303020204" pitchFamily="34" charset="0"/>
              </a:rPr>
              <a:t>gender</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weight ~ height + </a:t>
            </a:r>
            <a:r>
              <a:rPr lang="en-US" altLang="ko-KR" sz="1300" b="1" dirty="0">
                <a:solidFill>
                  <a:srgbClr val="1429A0"/>
                </a:solidFill>
                <a:latin typeface="SamsungOne 400" panose="020B0503030303020204" pitchFamily="34" charset="0"/>
                <a:ea typeface="SamsungOne 400" panose="020B0503030303020204" pitchFamily="34" charset="0"/>
              </a:rPr>
              <a:t>gender</a:t>
            </a:r>
          </a:p>
        </p:txBody>
      </p:sp>
      <p:grpSp>
        <p:nvGrpSpPr>
          <p:cNvPr id="15" name="그룹 14">
            <a:extLst>
              <a:ext uri="{FF2B5EF4-FFF2-40B4-BE49-F238E27FC236}">
                <a16:creationId xmlns:a16="http://schemas.microsoft.com/office/drawing/2014/main" id="{E328F7B2-4E38-4CB3-A6A5-77B573625397}"/>
              </a:ext>
            </a:extLst>
          </p:cNvPr>
          <p:cNvGrpSpPr/>
          <p:nvPr/>
        </p:nvGrpSpPr>
        <p:grpSpPr>
          <a:xfrm>
            <a:off x="6809769" y="2205038"/>
            <a:ext cx="960814" cy="561745"/>
            <a:chOff x="8497852" y="2830511"/>
            <a:chExt cx="1133833" cy="561745"/>
          </a:xfrm>
        </p:grpSpPr>
        <p:sp>
          <p:nvSpPr>
            <p:cNvPr id="16" name="타원 15">
              <a:extLst>
                <a:ext uri="{FF2B5EF4-FFF2-40B4-BE49-F238E27FC236}">
                  <a16:creationId xmlns:a16="http://schemas.microsoft.com/office/drawing/2014/main" id="{E23E8235-15DA-4CAE-B9BB-4A04C69B612C}"/>
                </a:ext>
              </a:extLst>
            </p:cNvPr>
            <p:cNvSpPr/>
            <p:nvPr/>
          </p:nvSpPr>
          <p:spPr>
            <a:xfrm>
              <a:off x="8498541" y="2921115"/>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7" name="타원 16">
              <a:extLst>
                <a:ext uri="{FF2B5EF4-FFF2-40B4-BE49-F238E27FC236}">
                  <a16:creationId xmlns:a16="http://schemas.microsoft.com/office/drawing/2014/main" id="{E2222CAD-BF62-4A35-B79F-010F2CB325DE}"/>
                </a:ext>
              </a:extLst>
            </p:cNvPr>
            <p:cNvSpPr/>
            <p:nvPr/>
          </p:nvSpPr>
          <p:spPr>
            <a:xfrm>
              <a:off x="8497852" y="3210062"/>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5016067-462A-4854-B866-584FF72A1A34}"/>
                    </a:ext>
                  </a:extLst>
                </p:cNvPr>
                <p:cNvSpPr txBox="1"/>
                <p:nvPr/>
              </p:nvSpPr>
              <p:spPr>
                <a:xfrm>
                  <a:off x="8497852" y="2830511"/>
                  <a:ext cx="973632" cy="292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defPPr>
                    <a:defRPr lang="en-US"/>
                  </a:defPPr>
                  <a:lvl1pPr>
                    <a:spcAft>
                      <a:spcPts val="600"/>
                    </a:spcAft>
                    <a:defRPr sz="1400">
                      <a:solidFill>
                        <a:schemeClr val="tx1">
                          <a:lumMod val="85000"/>
                          <a:lumOff val="15000"/>
                        </a:schemeClr>
                      </a:solidFill>
                      <a:latin typeface="SamsungOne 400" panose="020B0503030303020204" pitchFamily="34" charset="0"/>
                      <a:ea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dirty="0">
                            <a:latin typeface="Cambria Math" panose="02040503050406030204" pitchFamily="18" charset="0"/>
                          </a:rPr>
                          <m:t> =</m:t>
                        </m:r>
                        <m:r>
                          <a:rPr lang="en-US" altLang="ko-KR" dirty="0">
                            <a:latin typeface="Cambria Math" panose="02040503050406030204" pitchFamily="18" charset="0"/>
                          </a:rPr>
                          <m:t>𝑚𝑎𝑙𝑒</m:t>
                        </m:r>
                      </m:oMath>
                    </m:oMathPara>
                  </a14:m>
                  <a:endParaRPr lang="ko-KR" altLang="en-US" dirty="0"/>
                </a:p>
              </p:txBody>
            </p:sp>
          </mc:Choice>
          <mc:Fallback xmlns="">
            <p:sp>
              <p:nvSpPr>
                <p:cNvPr id="30" name="TextBox 29">
                  <a:extLst>
                    <a:ext uri="{FF2B5EF4-FFF2-40B4-BE49-F238E27FC236}">
                      <a16:creationId xmlns:a16="http://schemas.microsoft.com/office/drawing/2014/main" id="{52C8FA59-805C-400E-BFE2-936FB9982537}"/>
                    </a:ext>
                  </a:extLst>
                </p:cNvPr>
                <p:cNvSpPr txBox="1">
                  <a:spLocks noRot="1" noChangeAspect="1" noMove="1" noResize="1" noEditPoints="1" noAdjustHandles="1" noChangeArrowheads="1" noChangeShapeType="1" noTextEdit="1"/>
                </p:cNvSpPr>
                <p:nvPr/>
              </p:nvSpPr>
              <p:spPr>
                <a:xfrm>
                  <a:off x="8497852" y="2830511"/>
                  <a:ext cx="973632" cy="292388"/>
                </a:xfrm>
                <a:prstGeom prst="rect">
                  <a:avLst/>
                </a:prstGeom>
                <a:blipFill>
                  <a:blip r:embed="rId6"/>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824C8A6-5138-4081-B19F-B353CF63D417}"/>
                    </a:ext>
                  </a:extLst>
                </p:cNvPr>
                <p:cNvSpPr txBox="1"/>
                <p:nvPr/>
              </p:nvSpPr>
              <p:spPr>
                <a:xfrm>
                  <a:off x="8554542" y="3099868"/>
                  <a:ext cx="1077143" cy="292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defPPr>
                    <a:defRPr lang="en-US"/>
                  </a:defPPr>
                  <a:lvl1pPr>
                    <a:spcAft>
                      <a:spcPts val="600"/>
                    </a:spcAft>
                    <a:defRPr sz="1400">
                      <a:solidFill>
                        <a:schemeClr val="tx1">
                          <a:lumMod val="85000"/>
                          <a:lumOff val="15000"/>
                        </a:schemeClr>
                      </a:solidFill>
                      <a:latin typeface="SamsungOne 400" panose="020B0503030303020204" pitchFamily="34" charset="0"/>
                      <a:ea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dirty="0">
                            <a:latin typeface="Cambria Math" panose="02040503050406030204" pitchFamily="18" charset="0"/>
                          </a:rPr>
                          <m:t>=</m:t>
                        </m:r>
                        <m:r>
                          <a:rPr lang="en-US" altLang="ko-KR" dirty="0">
                            <a:latin typeface="Cambria Math" panose="02040503050406030204" pitchFamily="18" charset="0"/>
                          </a:rPr>
                          <m:t>𝑓𝑒𝑚𝑎𝑙𝑒</m:t>
                        </m:r>
                      </m:oMath>
                    </m:oMathPara>
                  </a14:m>
                  <a:endParaRPr lang="ko-KR" altLang="en-US" dirty="0"/>
                </a:p>
              </p:txBody>
            </p:sp>
          </mc:Choice>
          <mc:Fallback xmlns="">
            <p:sp>
              <p:nvSpPr>
                <p:cNvPr id="31" name="TextBox 30">
                  <a:extLst>
                    <a:ext uri="{FF2B5EF4-FFF2-40B4-BE49-F238E27FC236}">
                      <a16:creationId xmlns:a16="http://schemas.microsoft.com/office/drawing/2014/main" id="{BB7B8CDA-D42A-416B-9FB7-60AFF4FCFB47}"/>
                    </a:ext>
                  </a:extLst>
                </p:cNvPr>
                <p:cNvSpPr txBox="1">
                  <a:spLocks noRot="1" noChangeAspect="1" noMove="1" noResize="1" noEditPoints="1" noAdjustHandles="1" noChangeArrowheads="1" noChangeShapeType="1" noTextEdit="1"/>
                </p:cNvSpPr>
                <p:nvPr/>
              </p:nvSpPr>
              <p:spPr>
                <a:xfrm>
                  <a:off x="8554542" y="3099868"/>
                  <a:ext cx="1077143" cy="292388"/>
                </a:xfrm>
                <a:prstGeom prst="rect">
                  <a:avLst/>
                </a:prstGeom>
                <a:blipFill>
                  <a:blip r:embed="rId7"/>
                  <a:stretch>
                    <a:fillRect/>
                  </a:stretch>
                </a:blipFill>
                <a:ln>
                  <a:noFill/>
                </a:ln>
              </p:spPr>
              <p:txBody>
                <a:bodyPr/>
                <a:lstStyle/>
                <a:p>
                  <a:r>
                    <a:rPr lang="ko-KR" altLang="en-US">
                      <a:noFill/>
                    </a:rPr>
                    <a:t> </a:t>
                  </a:r>
                </a:p>
              </p:txBody>
            </p:sp>
          </mc:Fallback>
        </mc:AlternateContent>
      </p:grpSp>
      <p:sp>
        <p:nvSpPr>
          <p:cNvPr id="26" name="직사각형 25">
            <a:extLst>
              <a:ext uri="{FF2B5EF4-FFF2-40B4-BE49-F238E27FC236}">
                <a16:creationId xmlns:a16="http://schemas.microsoft.com/office/drawing/2014/main" id="{9495DFCA-5363-4EAB-9E88-FD89F0169585}"/>
              </a:ext>
            </a:extLst>
          </p:cNvPr>
          <p:cNvSpPr/>
          <p:nvPr/>
        </p:nvSpPr>
        <p:spPr>
          <a:xfrm>
            <a:off x="671261" y="5050723"/>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categorical variable must be turned into dummy variable(s) first. </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Effectively raises or lowers the intercept.</a:t>
            </a:r>
          </a:p>
        </p:txBody>
      </p:sp>
      <p:pic>
        <p:nvPicPr>
          <p:cNvPr id="27" name="Picture 6">
            <a:extLst>
              <a:ext uri="{FF2B5EF4-FFF2-40B4-BE49-F238E27FC236}">
                <a16:creationId xmlns:a16="http://schemas.microsoft.com/office/drawing/2014/main" id="{06BC93AB-4CF9-40C8-B312-F295A499BCA2}"/>
              </a:ext>
            </a:extLst>
          </p:cNvPr>
          <p:cNvPicPr>
            <a:picLocks noChangeAspect="1"/>
          </p:cNvPicPr>
          <p:nvPr/>
        </p:nvPicPr>
        <p:blipFill rotWithShape="1">
          <a:blip r:embed="rId8">
            <a:extLst>
              <a:ext uri="{28A0092B-C50C-407E-A947-70E740481C1C}">
                <a14:useLocalDpi xmlns:a14="http://schemas.microsoft.com/office/drawing/2010/main" val="0"/>
              </a:ext>
            </a:extLst>
          </a:blip>
          <a:srcRect t="12538" r="1677" b="2354"/>
          <a:stretch/>
        </p:blipFill>
        <p:spPr>
          <a:xfrm>
            <a:off x="3030951" y="2060848"/>
            <a:ext cx="3590614" cy="2451100"/>
          </a:xfrm>
          <a:prstGeom prst="rect">
            <a:avLst/>
          </a:prstGeom>
        </p:spPr>
      </p:pic>
      <p:sp>
        <p:nvSpPr>
          <p:cNvPr id="20" name="TextBox 19">
            <a:extLst>
              <a:ext uri="{FF2B5EF4-FFF2-40B4-BE49-F238E27FC236}">
                <a16:creationId xmlns:a16="http://schemas.microsoft.com/office/drawing/2014/main" id="{0DF43D03-04BD-4D3B-8AFD-F46F2EEA97AD}"/>
              </a:ext>
            </a:extLst>
          </p:cNvPr>
          <p:cNvSpPr txBox="1"/>
          <p:nvPr/>
        </p:nvSpPr>
        <p:spPr>
          <a:xfrm>
            <a:off x="4672522" y="4257092"/>
            <a:ext cx="630301" cy="276999"/>
          </a:xfrm>
          <a:prstGeom prst="rect">
            <a:avLst/>
          </a:prstGeom>
          <a:solidFill>
            <a:schemeClr val="bg1"/>
          </a:solidFill>
        </p:spPr>
        <p:txBody>
          <a:bodyPr wrap="non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dirty="0"/>
              <a:t>height</a:t>
            </a:r>
            <a:endParaRPr lang="ko-KR" altLang="en-US" dirty="0"/>
          </a:p>
        </p:txBody>
      </p:sp>
      <p:sp>
        <p:nvSpPr>
          <p:cNvPr id="21" name="TextBox 20">
            <a:extLst>
              <a:ext uri="{FF2B5EF4-FFF2-40B4-BE49-F238E27FC236}">
                <a16:creationId xmlns:a16="http://schemas.microsoft.com/office/drawing/2014/main" id="{9F7E0AE3-45CE-4ADC-BD9B-278DEC9208F7}"/>
              </a:ext>
            </a:extLst>
          </p:cNvPr>
          <p:cNvSpPr txBox="1"/>
          <p:nvPr/>
        </p:nvSpPr>
        <p:spPr>
          <a:xfrm rot="16200000">
            <a:off x="2779313" y="2958662"/>
            <a:ext cx="660758" cy="276999"/>
          </a:xfrm>
          <a:prstGeom prst="rect">
            <a:avLst/>
          </a:prstGeom>
          <a:solidFill>
            <a:schemeClr val="bg1"/>
          </a:solidFill>
        </p:spPr>
        <p:txBody>
          <a:bodyPr wrap="non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dirty="0"/>
              <a:t>weight</a:t>
            </a:r>
            <a:endParaRPr lang="ko-KR" altLang="en-US" dirty="0"/>
          </a:p>
        </p:txBody>
      </p:sp>
    </p:spTree>
    <p:extLst>
      <p:ext uri="{BB962C8B-B14F-4D97-AF65-F5344CB8AC3E}">
        <p14:creationId xmlns:p14="http://schemas.microsoft.com/office/powerpoint/2010/main" val="4806019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2" name="직사각형 21">
            <a:extLst>
              <a:ext uri="{FF2B5EF4-FFF2-40B4-BE49-F238E27FC236}">
                <a16:creationId xmlns:a16="http://schemas.microsoft.com/office/drawing/2014/main" id="{539DB946-C97D-4D2F-8F29-29DF8F326398}"/>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Role of categorical variables</a:t>
            </a:r>
          </a:p>
        </p:txBody>
      </p:sp>
      <p:sp>
        <p:nvSpPr>
          <p:cNvPr id="10" name="직사각형 9">
            <a:extLst>
              <a:ext uri="{FF2B5EF4-FFF2-40B4-BE49-F238E27FC236}">
                <a16:creationId xmlns:a16="http://schemas.microsoft.com/office/drawing/2014/main" id="{E5B73998-95AD-4DF4-A9AB-D07639C34B25}"/>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With a categorical variable </a:t>
            </a:r>
            <a:r>
              <a:rPr lang="en-US" altLang="ko-KR" sz="1300" b="1" dirty="0">
                <a:solidFill>
                  <a:srgbClr val="1429A0"/>
                </a:solidFill>
                <a:latin typeface="SamsungOne 400" panose="020B0503030303020204" pitchFamily="34" charset="0"/>
                <a:ea typeface="SamsungOne 400" panose="020B0503030303020204" pitchFamily="34" charset="0"/>
              </a:rPr>
              <a:t>gender</a:t>
            </a:r>
            <a:r>
              <a:rPr lang="en-US" altLang="ko-KR" sz="1300" dirty="0">
                <a:solidFill>
                  <a:srgbClr val="193EB0"/>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that “interacts”: weight ~ height + </a:t>
            </a:r>
            <a:r>
              <a:rPr lang="en-US" altLang="ko-KR" sz="1300" b="1" dirty="0">
                <a:solidFill>
                  <a:srgbClr val="1429A0"/>
                </a:solidFill>
                <a:latin typeface="SamsungOne 400" panose="020B0503030303020204" pitchFamily="34" charset="0"/>
                <a:ea typeface="SamsungOne 400" panose="020B0503030303020204" pitchFamily="34" charset="0"/>
              </a:rPr>
              <a:t>gender</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 height</a:t>
            </a:r>
            <a:r>
              <a:rPr lang="en-US" altLang="ko-KR" sz="1300" b="1"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b="1" dirty="0">
                <a:solidFill>
                  <a:srgbClr val="FF0000"/>
                </a:solidFill>
                <a:latin typeface="SamsungOne 400" panose="020B0503030303020204" pitchFamily="34" charset="0"/>
                <a:ea typeface="SamsungOne 400" panose="020B0503030303020204" pitchFamily="34" charset="0"/>
                <a:sym typeface="Symbol" panose="05050102010706020507" pitchFamily="18" charset="2"/>
              </a:rPr>
              <a: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b="1" dirty="0">
                <a:solidFill>
                  <a:srgbClr val="1429A0"/>
                </a:solidFill>
                <a:latin typeface="SamsungOne 400" panose="020B0503030303020204" pitchFamily="34" charset="0"/>
                <a:ea typeface="SamsungOne 400" panose="020B0503030303020204" pitchFamily="34" charset="0"/>
              </a:rPr>
              <a:t>gender</a:t>
            </a:r>
          </a:p>
        </p:txBody>
      </p:sp>
      <p:grpSp>
        <p:nvGrpSpPr>
          <p:cNvPr id="15" name="그룹 14">
            <a:extLst>
              <a:ext uri="{FF2B5EF4-FFF2-40B4-BE49-F238E27FC236}">
                <a16:creationId xmlns:a16="http://schemas.microsoft.com/office/drawing/2014/main" id="{E328F7B2-4E38-4CB3-A6A5-77B573625397}"/>
              </a:ext>
            </a:extLst>
          </p:cNvPr>
          <p:cNvGrpSpPr/>
          <p:nvPr/>
        </p:nvGrpSpPr>
        <p:grpSpPr>
          <a:xfrm>
            <a:off x="6809769" y="2205038"/>
            <a:ext cx="960814" cy="561745"/>
            <a:chOff x="8497852" y="2830511"/>
            <a:chExt cx="1133833" cy="561745"/>
          </a:xfrm>
        </p:grpSpPr>
        <p:sp>
          <p:nvSpPr>
            <p:cNvPr id="16" name="타원 15">
              <a:extLst>
                <a:ext uri="{FF2B5EF4-FFF2-40B4-BE49-F238E27FC236}">
                  <a16:creationId xmlns:a16="http://schemas.microsoft.com/office/drawing/2014/main" id="{E23E8235-15DA-4CAE-B9BB-4A04C69B612C}"/>
                </a:ext>
              </a:extLst>
            </p:cNvPr>
            <p:cNvSpPr/>
            <p:nvPr/>
          </p:nvSpPr>
          <p:spPr>
            <a:xfrm>
              <a:off x="8498541" y="2921115"/>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7" name="타원 16">
              <a:extLst>
                <a:ext uri="{FF2B5EF4-FFF2-40B4-BE49-F238E27FC236}">
                  <a16:creationId xmlns:a16="http://schemas.microsoft.com/office/drawing/2014/main" id="{E2222CAD-BF62-4A35-B79F-010F2CB325DE}"/>
                </a:ext>
              </a:extLst>
            </p:cNvPr>
            <p:cNvSpPr/>
            <p:nvPr/>
          </p:nvSpPr>
          <p:spPr>
            <a:xfrm>
              <a:off x="8497852" y="3210062"/>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5016067-462A-4854-B866-584FF72A1A34}"/>
                    </a:ext>
                  </a:extLst>
                </p:cNvPr>
                <p:cNvSpPr txBox="1"/>
                <p:nvPr/>
              </p:nvSpPr>
              <p:spPr>
                <a:xfrm>
                  <a:off x="8497852" y="2830511"/>
                  <a:ext cx="973632" cy="292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defPPr>
                    <a:defRPr lang="en-US"/>
                  </a:defPPr>
                  <a:lvl1pPr>
                    <a:spcAft>
                      <a:spcPts val="600"/>
                    </a:spcAft>
                    <a:defRPr sz="1400">
                      <a:solidFill>
                        <a:schemeClr val="tx1">
                          <a:lumMod val="85000"/>
                          <a:lumOff val="15000"/>
                        </a:schemeClr>
                      </a:solidFill>
                      <a:latin typeface="SamsungOne 400" panose="020B0503030303020204" pitchFamily="34" charset="0"/>
                      <a:ea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dirty="0">
                            <a:latin typeface="Cambria Math" panose="02040503050406030204" pitchFamily="18" charset="0"/>
                          </a:rPr>
                          <m:t> =</m:t>
                        </m:r>
                        <m:r>
                          <a:rPr lang="en-US" altLang="ko-KR" dirty="0">
                            <a:latin typeface="Cambria Math" panose="02040503050406030204" pitchFamily="18" charset="0"/>
                          </a:rPr>
                          <m:t>𝑚𝑎𝑙𝑒</m:t>
                        </m:r>
                      </m:oMath>
                    </m:oMathPara>
                  </a14:m>
                  <a:endParaRPr lang="ko-KR" altLang="en-US" dirty="0"/>
                </a:p>
              </p:txBody>
            </p:sp>
          </mc:Choice>
          <mc:Fallback xmlns="">
            <p:sp>
              <p:nvSpPr>
                <p:cNvPr id="30" name="TextBox 29">
                  <a:extLst>
                    <a:ext uri="{FF2B5EF4-FFF2-40B4-BE49-F238E27FC236}">
                      <a16:creationId xmlns:a16="http://schemas.microsoft.com/office/drawing/2014/main" id="{52C8FA59-805C-400E-BFE2-936FB9982537}"/>
                    </a:ext>
                  </a:extLst>
                </p:cNvPr>
                <p:cNvSpPr txBox="1">
                  <a:spLocks noRot="1" noChangeAspect="1" noMove="1" noResize="1" noEditPoints="1" noAdjustHandles="1" noChangeArrowheads="1" noChangeShapeType="1" noTextEdit="1"/>
                </p:cNvSpPr>
                <p:nvPr/>
              </p:nvSpPr>
              <p:spPr>
                <a:xfrm>
                  <a:off x="8497852" y="2830511"/>
                  <a:ext cx="973632" cy="292388"/>
                </a:xfrm>
                <a:prstGeom prst="rect">
                  <a:avLst/>
                </a:prstGeom>
                <a:blipFill>
                  <a:blip r:embed="rId6"/>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824C8A6-5138-4081-B19F-B353CF63D417}"/>
                    </a:ext>
                  </a:extLst>
                </p:cNvPr>
                <p:cNvSpPr txBox="1"/>
                <p:nvPr/>
              </p:nvSpPr>
              <p:spPr>
                <a:xfrm>
                  <a:off x="8554542" y="3099868"/>
                  <a:ext cx="1077143" cy="292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defPPr>
                    <a:defRPr lang="en-US"/>
                  </a:defPPr>
                  <a:lvl1pPr>
                    <a:spcAft>
                      <a:spcPts val="600"/>
                    </a:spcAft>
                    <a:defRPr sz="1400">
                      <a:solidFill>
                        <a:schemeClr val="tx1">
                          <a:lumMod val="85000"/>
                          <a:lumOff val="15000"/>
                        </a:schemeClr>
                      </a:solidFill>
                      <a:latin typeface="SamsungOne 400" panose="020B0503030303020204" pitchFamily="34" charset="0"/>
                      <a:ea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dirty="0">
                            <a:latin typeface="Cambria Math" panose="02040503050406030204" pitchFamily="18" charset="0"/>
                          </a:rPr>
                          <m:t>=</m:t>
                        </m:r>
                        <m:r>
                          <a:rPr lang="en-US" altLang="ko-KR" dirty="0">
                            <a:latin typeface="Cambria Math" panose="02040503050406030204" pitchFamily="18" charset="0"/>
                          </a:rPr>
                          <m:t>𝑓𝑒𝑚𝑎𝑙𝑒</m:t>
                        </m:r>
                      </m:oMath>
                    </m:oMathPara>
                  </a14:m>
                  <a:endParaRPr lang="ko-KR" altLang="en-US" dirty="0"/>
                </a:p>
              </p:txBody>
            </p:sp>
          </mc:Choice>
          <mc:Fallback xmlns="">
            <p:sp>
              <p:nvSpPr>
                <p:cNvPr id="31" name="TextBox 30">
                  <a:extLst>
                    <a:ext uri="{FF2B5EF4-FFF2-40B4-BE49-F238E27FC236}">
                      <a16:creationId xmlns:a16="http://schemas.microsoft.com/office/drawing/2014/main" id="{BB7B8CDA-D42A-416B-9FB7-60AFF4FCFB47}"/>
                    </a:ext>
                  </a:extLst>
                </p:cNvPr>
                <p:cNvSpPr txBox="1">
                  <a:spLocks noRot="1" noChangeAspect="1" noMove="1" noResize="1" noEditPoints="1" noAdjustHandles="1" noChangeArrowheads="1" noChangeShapeType="1" noTextEdit="1"/>
                </p:cNvSpPr>
                <p:nvPr/>
              </p:nvSpPr>
              <p:spPr>
                <a:xfrm>
                  <a:off x="8554542" y="3099868"/>
                  <a:ext cx="1077143" cy="292388"/>
                </a:xfrm>
                <a:prstGeom prst="rect">
                  <a:avLst/>
                </a:prstGeom>
                <a:blipFill>
                  <a:blip r:embed="rId7"/>
                  <a:stretch>
                    <a:fillRect/>
                  </a:stretch>
                </a:blipFill>
                <a:ln>
                  <a:noFill/>
                </a:ln>
              </p:spPr>
              <p:txBody>
                <a:bodyPr/>
                <a:lstStyle/>
                <a:p>
                  <a:r>
                    <a:rPr lang="ko-KR" altLang="en-US">
                      <a:noFill/>
                    </a:rPr>
                    <a:t> </a:t>
                  </a:r>
                </a:p>
              </p:txBody>
            </p:sp>
          </mc:Fallback>
        </mc:AlternateContent>
      </p:grpSp>
      <p:sp>
        <p:nvSpPr>
          <p:cNvPr id="26" name="직사각형 25">
            <a:extLst>
              <a:ext uri="{FF2B5EF4-FFF2-40B4-BE49-F238E27FC236}">
                <a16:creationId xmlns:a16="http://schemas.microsoft.com/office/drawing/2014/main" id="{9495DFCA-5363-4EAB-9E88-FD89F0169585}"/>
              </a:ext>
            </a:extLst>
          </p:cNvPr>
          <p:cNvSpPr/>
          <p:nvPr/>
        </p:nvSpPr>
        <p:spPr>
          <a:xfrm>
            <a:off x="671261" y="5050723"/>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Both the intercept and slope are dependent on the categorical variable.</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Further improves the error metrics. </a:t>
            </a:r>
          </a:p>
        </p:txBody>
      </p:sp>
      <p:pic>
        <p:nvPicPr>
          <p:cNvPr id="28" name="Picture 6">
            <a:extLst>
              <a:ext uri="{FF2B5EF4-FFF2-40B4-BE49-F238E27FC236}">
                <a16:creationId xmlns:a16="http://schemas.microsoft.com/office/drawing/2014/main" id="{54C57FA5-0964-4DAC-9F92-6177D43CBB92}"/>
              </a:ext>
            </a:extLst>
          </p:cNvPr>
          <p:cNvPicPr>
            <a:picLocks noChangeAspect="1"/>
          </p:cNvPicPr>
          <p:nvPr/>
        </p:nvPicPr>
        <p:blipFill rotWithShape="1">
          <a:blip r:embed="rId8">
            <a:extLst>
              <a:ext uri="{28A0092B-C50C-407E-A947-70E740481C1C}">
                <a14:useLocalDpi xmlns:a14="http://schemas.microsoft.com/office/drawing/2010/main" val="0"/>
              </a:ext>
            </a:extLst>
          </a:blip>
          <a:srcRect t="16087"/>
          <a:stretch/>
        </p:blipFill>
        <p:spPr>
          <a:xfrm>
            <a:off x="3030951" y="2160821"/>
            <a:ext cx="3651892" cy="2416689"/>
          </a:xfrm>
          <a:prstGeom prst="rect">
            <a:avLst/>
          </a:prstGeom>
        </p:spPr>
      </p:pic>
      <p:sp>
        <p:nvSpPr>
          <p:cNvPr id="20" name="TextBox 19">
            <a:extLst>
              <a:ext uri="{FF2B5EF4-FFF2-40B4-BE49-F238E27FC236}">
                <a16:creationId xmlns:a16="http://schemas.microsoft.com/office/drawing/2014/main" id="{0DF43D03-04BD-4D3B-8AFD-F46F2EEA97AD}"/>
              </a:ext>
            </a:extLst>
          </p:cNvPr>
          <p:cNvSpPr txBox="1"/>
          <p:nvPr/>
        </p:nvSpPr>
        <p:spPr>
          <a:xfrm>
            <a:off x="4672522" y="4257092"/>
            <a:ext cx="630301" cy="276999"/>
          </a:xfrm>
          <a:prstGeom prst="rect">
            <a:avLst/>
          </a:prstGeom>
          <a:solidFill>
            <a:schemeClr val="bg1"/>
          </a:solidFill>
        </p:spPr>
        <p:txBody>
          <a:bodyPr wrap="non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dirty="0"/>
              <a:t>height</a:t>
            </a:r>
            <a:endParaRPr lang="ko-KR" altLang="en-US" dirty="0"/>
          </a:p>
        </p:txBody>
      </p:sp>
      <p:sp>
        <p:nvSpPr>
          <p:cNvPr id="21" name="TextBox 20">
            <a:extLst>
              <a:ext uri="{FF2B5EF4-FFF2-40B4-BE49-F238E27FC236}">
                <a16:creationId xmlns:a16="http://schemas.microsoft.com/office/drawing/2014/main" id="{9F7E0AE3-45CE-4ADC-BD9B-278DEC9208F7}"/>
              </a:ext>
            </a:extLst>
          </p:cNvPr>
          <p:cNvSpPr txBox="1"/>
          <p:nvPr/>
        </p:nvSpPr>
        <p:spPr>
          <a:xfrm rot="16200000">
            <a:off x="2779313" y="2958662"/>
            <a:ext cx="660758" cy="276999"/>
          </a:xfrm>
          <a:prstGeom prst="rect">
            <a:avLst/>
          </a:prstGeom>
          <a:solidFill>
            <a:schemeClr val="bg1"/>
          </a:solidFill>
        </p:spPr>
        <p:txBody>
          <a:bodyPr wrap="non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dirty="0"/>
              <a:t>weight</a:t>
            </a:r>
            <a:endParaRPr lang="ko-KR" altLang="en-US" dirty="0"/>
          </a:p>
        </p:txBody>
      </p:sp>
    </p:spTree>
    <p:extLst>
      <p:ext uri="{BB962C8B-B14F-4D97-AF65-F5344CB8AC3E}">
        <p14:creationId xmlns:p14="http://schemas.microsoft.com/office/powerpoint/2010/main" val="16017539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8B1BC1D-DFB7-4482-BA23-F01AD71B1BBE}"/>
              </a:ext>
            </a:extLst>
          </p:cNvPr>
          <p:cNvSpPr/>
          <p:nvPr/>
        </p:nvSpPr>
        <p:spPr>
          <a:xfrm>
            <a:off x="546895" y="1523719"/>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Coding Exercise #0301</a:t>
            </a:r>
          </a:p>
        </p:txBody>
      </p:sp>
      <p:grpSp>
        <p:nvGrpSpPr>
          <p:cNvPr id="11" name="그룹 10">
            <a:extLst>
              <a:ext uri="{FF2B5EF4-FFF2-40B4-BE49-F238E27FC236}">
                <a16:creationId xmlns:a16="http://schemas.microsoft.com/office/drawing/2014/main" id="{A2A7775F-AE07-4A60-B96A-7B00D8607BDB}"/>
              </a:ext>
            </a:extLst>
          </p:cNvPr>
          <p:cNvGrpSpPr/>
          <p:nvPr/>
        </p:nvGrpSpPr>
        <p:grpSpPr>
          <a:xfrm>
            <a:off x="558798" y="2060849"/>
            <a:ext cx="8797129" cy="3960439"/>
            <a:chOff x="558798" y="2060849"/>
            <a:chExt cx="8797129" cy="3960439"/>
          </a:xfrm>
        </p:grpSpPr>
        <p:sp>
          <p:nvSpPr>
            <p:cNvPr id="12" name="직사각형 11">
              <a:extLst>
                <a:ext uri="{FF2B5EF4-FFF2-40B4-BE49-F238E27FC236}">
                  <a16:creationId xmlns:a16="http://schemas.microsoft.com/office/drawing/2014/main" id="{0E2B63F1-717C-45E5-9484-DF4505693008}"/>
                </a:ext>
              </a:extLst>
            </p:cNvPr>
            <p:cNvSpPr/>
            <p:nvPr/>
          </p:nvSpPr>
          <p:spPr>
            <a:xfrm>
              <a:off x="558799" y="2060849"/>
              <a:ext cx="8785225" cy="3960439"/>
            </a:xfrm>
            <a:prstGeom prst="rect">
              <a:avLst/>
            </a:prstGeom>
            <a:solidFill>
              <a:schemeClr val="accent5">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5" name="그룹 14">
              <a:extLst>
                <a:ext uri="{FF2B5EF4-FFF2-40B4-BE49-F238E27FC236}">
                  <a16:creationId xmlns:a16="http://schemas.microsoft.com/office/drawing/2014/main" id="{AC1F47E5-59C0-4468-B93D-A8F7F0C32C93}"/>
                </a:ext>
              </a:extLst>
            </p:cNvPr>
            <p:cNvGrpSpPr/>
            <p:nvPr/>
          </p:nvGrpSpPr>
          <p:grpSpPr>
            <a:xfrm>
              <a:off x="558798" y="3945816"/>
              <a:ext cx="8797129" cy="576572"/>
              <a:chOff x="4778069" y="4391025"/>
              <a:chExt cx="2349160" cy="431802"/>
            </a:xfrm>
          </p:grpSpPr>
          <p:sp>
            <p:nvSpPr>
              <p:cNvPr id="18" name="직사각형 17">
                <a:extLst>
                  <a:ext uri="{FF2B5EF4-FFF2-40B4-BE49-F238E27FC236}">
                    <a16:creationId xmlns:a16="http://schemas.microsoft.com/office/drawing/2014/main" id="{3C6A9AF5-127F-406D-B69A-2777F03F88E5}"/>
                  </a:ext>
                </a:extLst>
              </p:cNvPr>
              <p:cNvSpPr/>
              <p:nvPr/>
            </p:nvSpPr>
            <p:spPr>
              <a:xfrm>
                <a:off x="4778069" y="4391025"/>
                <a:ext cx="2349160" cy="431802"/>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sp3d>
                  <a:bevelT w="0" h="6350"/>
                </a:sp3d>
              </a:bodyPr>
              <a:lstStyle/>
              <a:p>
                <a:pPr algn="ctr"/>
                <a:endParaRPr lang="ko-KR" altLang="en-US" sz="2000" dirty="0"/>
              </a:p>
            </p:txBody>
          </p:sp>
          <p:sp>
            <p:nvSpPr>
              <p:cNvPr id="21" name="직사각형 133">
                <a:extLst>
                  <a:ext uri="{FF2B5EF4-FFF2-40B4-BE49-F238E27FC236}">
                    <a16:creationId xmlns:a16="http://schemas.microsoft.com/office/drawing/2014/main" id="{21A3736B-043B-48A0-AE25-A04C3CBB178F}"/>
                  </a:ext>
                </a:extLst>
              </p:cNvPr>
              <p:cNvSpPr/>
              <p:nvPr/>
            </p:nvSpPr>
            <p:spPr>
              <a:xfrm>
                <a:off x="4852511" y="4528465"/>
                <a:ext cx="2200275" cy="230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lgn="ctr"/>
                <a:r>
                  <a:rPr lang="en-US" altLang="ko-KR" sz="2000" dirty="0">
                    <a:solidFill>
                      <a:schemeClr val="bg1"/>
                    </a:solidFill>
                    <a:latin typeface="SamsungOne 700" panose="020B0803030303020204" pitchFamily="34" charset="0"/>
                    <a:ea typeface="SamsungOne 700" panose="020B0803030303020204" pitchFamily="34" charset="0"/>
                    <a:cs typeface="Samsung Sharp Sans" pitchFamily="2" charset="0"/>
                  </a:rPr>
                  <a:t>Follow practice steps on 'ex_0301.ipynb’ file.</a:t>
                </a:r>
              </a:p>
            </p:txBody>
          </p:sp>
        </p:grpSp>
        <p:pic>
          <p:nvPicPr>
            <p:cNvPr id="16" name="그림 15" descr="텍스트, 클립아트이(가) 표시된 사진&#10;&#10;자동 생성된 설명">
              <a:extLst>
                <a:ext uri="{FF2B5EF4-FFF2-40B4-BE49-F238E27FC236}">
                  <a16:creationId xmlns:a16="http://schemas.microsoft.com/office/drawing/2014/main" id="{70D03265-398A-4B21-9492-31D700046C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93" t="14475" r="51947" b="14299"/>
            <a:stretch/>
          </p:blipFill>
          <p:spPr>
            <a:xfrm>
              <a:off x="4370123" y="2647560"/>
              <a:ext cx="1162577" cy="1174440"/>
            </a:xfrm>
            <a:prstGeom prst="ellipse">
              <a:avLst/>
            </a:prstGeom>
          </p:spPr>
        </p:pic>
      </p:grpSp>
      <p:grpSp>
        <p:nvGrpSpPr>
          <p:cNvPr id="13" name="그룹 1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4" name="직사각형 1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2.2. Linear Regression Basics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 Sharp Sans Medium" pitchFamily="2" charset="0"/>
                  <a:ea typeface="Samsung Sharp Sans Medium" pitchFamily="2" charset="0"/>
                  <a:cs typeface="Samsung Sharp Sans 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Tree>
    <p:extLst>
      <p:ext uri="{BB962C8B-B14F-4D97-AF65-F5344CB8AC3E}">
        <p14:creationId xmlns:p14="http://schemas.microsoft.com/office/powerpoint/2010/main" val="59416079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88522452-0F25-4CFF-B4F1-4F97F94CF66D}"/>
              </a:ext>
            </a:extLst>
          </p:cNvPr>
          <p:cNvSpPr/>
          <p:nvPr/>
        </p:nvSpPr>
        <p:spPr>
          <a:xfrm>
            <a:off x="1054111" y="4364851"/>
            <a:ext cx="7317681" cy="1897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fontAlgn="base">
              <a:lnSpc>
                <a:spcPct val="100000"/>
              </a:lnSpc>
              <a:spcBef>
                <a:spcPct val="0"/>
              </a:spcBef>
              <a:spcAft>
                <a:spcPts val="1000"/>
              </a:spcAft>
              <a:buClrTx/>
              <a:buSzPct val="120000"/>
              <a:buBlip>
                <a:blip r:embed="rId3"/>
              </a:buBlip>
              <a:tabLst/>
              <a:defRPr/>
            </a:pPr>
            <a:r>
              <a:rPr lang="en-US" altLang="ko-KR" dirty="0">
                <a:solidFill>
                  <a:srgbClr val="A6A6A6"/>
                </a:solidFill>
                <a:latin typeface="SamsungOne 400" panose="020B0503030303020204" pitchFamily="34" charset="0"/>
                <a:ea typeface="SamsungOne 400" panose="020B0503030303020204" pitchFamily="34" charset="0"/>
              </a:rPr>
              <a:t>2.1. Training and Testing in Machine Learning</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2.2. Linear Regression Basics</a:t>
            </a: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2.3. Linear Regression Diagnostics</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2.4. Other Regression Types</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2.5. Practicing the Supervised Learning Model for Numerical Prediction</a:t>
            </a:r>
            <a:endParaRPr lang="ko-KR" altLang="en-US" dirty="0">
              <a:solidFill>
                <a:srgbClr val="A6A6A6"/>
              </a:solidFill>
              <a:latin typeface="SamsungOne 400" panose="020B0503030303020204" pitchFamily="34" charset="0"/>
              <a:ea typeface="SamsungOne 400" panose="020B0503030303020204" pitchFamily="34" charset="0"/>
            </a:endParaRP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2.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5" name="직사각형 133">
            <a:extLst>
              <a:ext uri="{FF2B5EF4-FFF2-40B4-BE49-F238E27FC236}">
                <a16:creationId xmlns:a16="http://schemas.microsoft.com/office/drawing/2014/main" id="{551F01E8-8777-4A7B-AD71-63E7C805C68C}"/>
              </a:ext>
            </a:extLst>
          </p:cNvPr>
          <p:cNvSpPr/>
          <p:nvPr/>
        </p:nvSpPr>
        <p:spPr>
          <a:xfrm>
            <a:off x="989683" y="3191956"/>
            <a:ext cx="8462229" cy="9848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Application of Supervised Learning Model for</a:t>
            </a:r>
            <a:r>
              <a:rPr kumimoji="1" lang="ko-KR" altLang="en-US" sz="3200" dirty="0">
                <a:solidFill>
                  <a:prstClr val="black"/>
                </a:solidFill>
                <a:latin typeface="Samsung Sharp Sans" pitchFamily="2" charset="0"/>
                <a:ea typeface="맑은 고딕" panose="020B0503020000020004" pitchFamily="50" charset="-127"/>
                <a:cs typeface="Samsung Sharp Sans" pitchFamily="2" charset="0"/>
              </a:rPr>
              <a:t> </a:t>
            </a: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Numerical Prediction</a:t>
            </a:r>
            <a:r>
              <a:rPr kumimoji="1" lang="ko-KR" altLang="en-US" sz="3200" dirty="0">
                <a:solidFill>
                  <a:prstClr val="black"/>
                </a:solidFill>
                <a:latin typeface="Samsung Sharp Sans" pitchFamily="2" charset="0"/>
                <a:ea typeface="맑은 고딕" panose="020B0503020000020004" pitchFamily="50" charset="-127"/>
                <a:cs typeface="Samsung Sharp Sans" pitchFamily="2" charset="0"/>
              </a:rPr>
              <a:t> </a:t>
            </a:r>
          </a:p>
        </p:txBody>
      </p:sp>
    </p:spTree>
    <p:extLst>
      <p:ext uri="{BB962C8B-B14F-4D97-AF65-F5344CB8AC3E}">
        <p14:creationId xmlns:p14="http://schemas.microsoft.com/office/powerpoint/2010/main" val="361495542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2.3. Linear Regression Diagnostics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Linear Regression Diagnostics </a:t>
            </a:r>
          </a:p>
        </p:txBody>
      </p:sp>
      <mc:AlternateContent xmlns:mc="http://schemas.openxmlformats.org/markup-compatibility/2006" xmlns:a14="http://schemas.microsoft.com/office/drawing/2010/main">
        <mc:Choice Requires="a14">
          <p:sp>
            <p:nvSpPr>
              <p:cNvPr id="66" name="직사각형 65">
                <a:extLst>
                  <a:ext uri="{FF2B5EF4-FFF2-40B4-BE49-F238E27FC236}">
                    <a16:creationId xmlns:a16="http://schemas.microsoft.com/office/drawing/2014/main" id="{09D68C24-B2BF-4B71-B950-525F663D6B5A}"/>
                  </a:ext>
                </a:extLst>
              </p:cNvPr>
              <p:cNvSpPr/>
              <p:nvPr/>
            </p:nvSpPr>
            <p:spPr>
              <a:xfrm>
                <a:off x="672080" y="2204864"/>
                <a:ext cx="8632825" cy="18826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1) Error metrics: MSE, RMSE, MAE, MAPE, etc.</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2) Coefficient of determination or “r-squared”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𝑅</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2</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3) F-test for overall significance of the linear model</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4) t-test for significance of individual regression coefficients</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5) Correlation between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𝑌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and </a:t>
                </a:r>
                <a14:m>
                  <m:oMath xmlns:m="http://schemas.openxmlformats.org/officeDocument/2006/math">
                    <m:acc>
                      <m:accPr>
                        <m:chr m:val="̂"/>
                        <m:ctrlPr>
                          <a:rPr lang="en-US" altLang="ko-KR" sz="1300" i="1" smtClean="0">
                            <a:solidFill>
                              <a:schemeClr val="tx1">
                                <a:lumMod val="85000"/>
                                <a:lumOff val="15000"/>
                              </a:schemeClr>
                            </a:solidFill>
                            <a:latin typeface="Cambria Math" panose="02040503050406030204" pitchFamily="18" charset="0"/>
                          </a:rPr>
                        </m:ctrlPr>
                      </m:accPr>
                      <m:e>
                        <m:r>
                          <a:rPr lang="en-US" altLang="ko-KR" sz="1300" b="0" i="1" smtClean="0">
                            <a:solidFill>
                              <a:schemeClr val="tx1">
                                <a:lumMod val="85000"/>
                                <a:lumOff val="15000"/>
                              </a:schemeClr>
                            </a:solidFill>
                            <a:latin typeface="Cambria Math" panose="02040503050406030204" pitchFamily="18" charset="0"/>
                          </a:rPr>
                          <m:t>𝑌</m:t>
                        </m:r>
                      </m:e>
                    </m:acc>
                  </m:oMath>
                </a14:m>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6) Variance inflation factor (VIF)</a:t>
                </a:r>
              </a:p>
            </p:txBody>
          </p:sp>
        </mc:Choice>
        <mc:Fallback xmlns="">
          <p:sp>
            <p:nvSpPr>
              <p:cNvPr id="66" name="직사각형 65">
                <a:extLst>
                  <a:ext uri="{FF2B5EF4-FFF2-40B4-BE49-F238E27FC236}">
                    <a16:creationId xmlns:a16="http://schemas.microsoft.com/office/drawing/2014/main" xmlns:a14="http://schemas.microsoft.com/office/drawing/2010/main" xmlns="" id="{09D68C24-B2BF-4B71-B950-525F663D6B5A}"/>
                  </a:ext>
                </a:extLst>
              </p:cNvPr>
              <p:cNvSpPr>
                <a:spLocks noRot="1" noChangeAspect="1" noMove="1" noResize="1" noEditPoints="1" noAdjustHandles="1" noChangeArrowheads="1" noChangeShapeType="1" noTextEdit="1"/>
              </p:cNvSpPr>
              <p:nvPr/>
            </p:nvSpPr>
            <p:spPr>
              <a:xfrm>
                <a:off x="672080" y="2204864"/>
                <a:ext cx="8632825" cy="1882677"/>
              </a:xfrm>
              <a:prstGeom prst="rect">
                <a:avLst/>
              </a:prstGeom>
              <a:blipFill rotWithShape="0">
                <a:blip r:embed="rId3"/>
                <a:stretch>
                  <a:fillRect l="-71"/>
                </a:stretch>
              </a:blipFill>
              <a:ln>
                <a:noFill/>
              </a:ln>
            </p:spPr>
            <p:txBody>
              <a:bodyPr/>
              <a:lstStyle/>
              <a:p>
                <a:r>
                  <a:rPr lang="ko-KR" altLang="en-US">
                    <a:noFill/>
                  </a:rPr>
                  <a:t> </a:t>
                </a:r>
              </a:p>
            </p:txBody>
          </p:sp>
        </mc:Fallback>
      </mc:AlternateContent>
      <p:sp>
        <p:nvSpPr>
          <p:cNvPr id="67" name="직사각형 66">
            <a:extLst>
              <a:ext uri="{FF2B5EF4-FFF2-40B4-BE49-F238E27FC236}">
                <a16:creationId xmlns:a16="http://schemas.microsoft.com/office/drawing/2014/main" id="{904F403B-52D6-4F44-A784-943EE9D951E5}"/>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Linear regression diagnostic methods:</a:t>
            </a:r>
          </a:p>
        </p:txBody>
      </p:sp>
      <p:sp>
        <p:nvSpPr>
          <p:cNvPr id="68" name="직사각형 67">
            <a:extLst>
              <a:ext uri="{FF2B5EF4-FFF2-40B4-BE49-F238E27FC236}">
                <a16:creationId xmlns:a16="http://schemas.microsoft.com/office/drawing/2014/main" id="{69DE0596-3421-4818-9612-6EC9CA15DF61}"/>
              </a:ext>
            </a:extLst>
          </p:cNvPr>
          <p:cNvSpPr/>
          <p:nvPr/>
        </p:nvSpPr>
        <p:spPr>
          <a:xfrm>
            <a:off x="558800" y="4150808"/>
            <a:ext cx="8763637" cy="5591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Modelling: optimization of the information criteria: AIC or BIC</a:t>
            </a:r>
          </a:p>
          <a:p>
            <a:pPr marL="115888" indent="-115888">
              <a:spcAft>
                <a:spcPts val="1000"/>
              </a:spcAft>
              <a:buClr>
                <a:srgbClr val="A5A5A5"/>
              </a:buClr>
              <a:buSzPct val="120000"/>
              <a:buBlip>
                <a:blip r:embed="rId4"/>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Residual and leverage analysis</a:t>
            </a:r>
          </a:p>
        </p:txBody>
      </p:sp>
    </p:spTree>
    <p:extLst>
      <p:ext uri="{BB962C8B-B14F-4D97-AF65-F5344CB8AC3E}">
        <p14:creationId xmlns:p14="http://schemas.microsoft.com/office/powerpoint/2010/main" val="246096795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2.3. Linear Regression Diagnostics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9" name="직사각형 8">
            <a:extLst>
              <a:ext uri="{FF2B5EF4-FFF2-40B4-BE49-F238E27FC236}">
                <a16:creationId xmlns:a16="http://schemas.microsoft.com/office/drawing/2014/main" id="{FB4F96C9-7484-4D21-BBEA-0901BDAC067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Error metrics</a:t>
            </a:r>
          </a:p>
        </p:txBody>
      </p:sp>
      <p:sp>
        <p:nvSpPr>
          <p:cNvPr id="10" name="직사각형 9">
            <a:extLst>
              <a:ext uri="{FF2B5EF4-FFF2-40B4-BE49-F238E27FC236}">
                <a16:creationId xmlns:a16="http://schemas.microsoft.com/office/drawing/2014/main" id="{712115C3-A01F-4773-8E19-4FF050644D11}"/>
              </a:ext>
            </a:extLst>
          </p:cNvPr>
          <p:cNvSpPr/>
          <p:nvPr/>
        </p:nvSpPr>
        <p:spPr>
          <a:xfrm>
            <a:off x="671261" y="4329490"/>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smaller, the better!</a:t>
            </a:r>
          </a:p>
        </p:txBody>
      </p:sp>
      <mc:AlternateContent xmlns:mc="http://schemas.openxmlformats.org/markup-compatibility/2006" xmlns:a14="http://schemas.microsoft.com/office/drawing/2010/main">
        <mc:Choice Requires="a14">
          <p:sp>
            <p:nvSpPr>
              <p:cNvPr id="11" name="내용 개체 틀 2">
                <a:extLst>
                  <a:ext uri="{FF2B5EF4-FFF2-40B4-BE49-F238E27FC236}">
                    <a16:creationId xmlns:a16="http://schemas.microsoft.com/office/drawing/2014/main" id="{CED193DE-E169-4DE1-AE30-95D272D11605}"/>
                  </a:ext>
                </a:extLst>
              </p:cNvPr>
              <p:cNvSpPr txBox="1">
                <a:spLocks/>
              </p:cNvSpPr>
              <p:nvPr/>
            </p:nvSpPr>
            <p:spPr>
              <a:xfrm>
                <a:off x="3557748" y="1773238"/>
                <a:ext cx="2787330" cy="24272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a:latin typeface="Cambria Math" panose="02040503050406030204" pitchFamily="18" charset="0"/>
                        </a:rPr>
                        <m:t>𝑀𝑆𝐸</m:t>
                      </m:r>
                      <m:r>
                        <a:rPr lang="en-US" altLang="ko-KR">
                          <a:latin typeface="Cambria Math" panose="02040503050406030204" pitchFamily="18" charset="0"/>
                        </a:rPr>
                        <m:t>=</m:t>
                      </m:r>
                      <m:f>
                        <m:fPr>
                          <m:ctrlPr>
                            <a:rPr lang="en-US" altLang="ko-KR" i="1">
                              <a:latin typeface="Cambria Math" panose="02040503050406030204" pitchFamily="18" charset="0"/>
                            </a:rPr>
                          </m:ctrlPr>
                        </m:fPr>
                        <m:num>
                          <m:nary>
                            <m:naryPr>
                              <m:chr m:val="∑"/>
                              <m:ctrlPr>
                                <a:rPr lang="en-US" altLang="ko-KR" i="1">
                                  <a:latin typeface="Cambria Math" panose="02040503050406030204" pitchFamily="18" charset="0"/>
                                </a:rPr>
                              </m:ctrlPr>
                            </m:naryPr>
                            <m:sub>
                              <m:r>
                                <m:rPr>
                                  <m:brk m:alnAt="23"/>
                                </m:rPr>
                                <a:rPr lang="en-US" altLang="ko-KR">
                                  <a:latin typeface="Cambria Math" panose="02040503050406030204" pitchFamily="18" charset="0"/>
                                </a:rPr>
                                <m:t>𝑖</m:t>
                              </m:r>
                              <m:r>
                                <a:rPr lang="en-US" altLang="ko-KR">
                                  <a:latin typeface="Cambria Math" panose="02040503050406030204" pitchFamily="18" charset="0"/>
                                </a:rPr>
                                <m:t>=1</m:t>
                              </m:r>
                            </m:sub>
                            <m:sup>
                              <m:r>
                                <a:rPr lang="en-US" altLang="ko-KR">
                                  <a:latin typeface="Cambria Math" panose="02040503050406030204" pitchFamily="18" charset="0"/>
                                </a:rPr>
                                <m:t>𝑛</m:t>
                              </m:r>
                            </m:sup>
                            <m:e>
                              <m:sSup>
                                <m:sSupPr>
                                  <m:ctrlPr>
                                    <a:rPr lang="en-US" altLang="ko-KR" i="1">
                                      <a:latin typeface="Cambria Math" panose="02040503050406030204" pitchFamily="18" charset="0"/>
                                    </a:rPr>
                                  </m:ctrlPr>
                                </m:sSupPr>
                                <m:e>
                                  <m:d>
                                    <m:dPr>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a:latin typeface="Cambria Math" panose="02040503050406030204" pitchFamily="18" charset="0"/>
                                            </a:rPr>
                                            <m:t>𝑦</m:t>
                                          </m:r>
                                        </m:e>
                                        <m:sub>
                                          <m:r>
                                            <a:rPr lang="en-US" altLang="ko-KR">
                                              <a:latin typeface="Cambria Math" panose="02040503050406030204" pitchFamily="18" charset="0"/>
                                            </a:rPr>
                                            <m:t>𝑖</m:t>
                                          </m:r>
                                        </m:sub>
                                      </m:sSub>
                                      <m:r>
                                        <a:rPr lang="en-US" altLang="ko-KR">
                                          <a:latin typeface="Cambria Math" panose="02040503050406030204" pitchFamily="18" charset="0"/>
                                        </a:rPr>
                                        <m:t>−</m:t>
                                      </m:r>
                                      <m:acc>
                                        <m:accPr>
                                          <m:chr m:val="̂"/>
                                          <m:ctrlPr>
                                            <a:rPr lang="en-US" altLang="ko-KR" i="1">
                                              <a:latin typeface="Cambria Math" panose="02040503050406030204" pitchFamily="18" charset="0"/>
                                            </a:rPr>
                                          </m:ctrlPr>
                                        </m:accPr>
                                        <m:e>
                                          <m:sSub>
                                            <m:sSubPr>
                                              <m:ctrlPr>
                                                <a:rPr lang="en-US" altLang="ko-KR" i="1">
                                                  <a:latin typeface="Cambria Math" panose="02040503050406030204" pitchFamily="18" charset="0"/>
                                                </a:rPr>
                                              </m:ctrlPr>
                                            </m:sSubPr>
                                            <m:e>
                                              <m:r>
                                                <a:rPr lang="en-US" altLang="ko-KR">
                                                  <a:latin typeface="Cambria Math" panose="02040503050406030204" pitchFamily="18" charset="0"/>
                                                </a:rPr>
                                                <m:t>𝑦</m:t>
                                              </m:r>
                                            </m:e>
                                            <m:sub>
                                              <m:r>
                                                <a:rPr lang="en-US" altLang="ko-KR">
                                                  <a:latin typeface="Cambria Math" panose="02040503050406030204" pitchFamily="18" charset="0"/>
                                                </a:rPr>
                                                <m:t>𝑖</m:t>
                                              </m:r>
                                            </m:sub>
                                          </m:sSub>
                                        </m:e>
                                      </m:acc>
                                    </m:e>
                                  </m:d>
                                </m:e>
                                <m:sup>
                                  <m:r>
                                    <a:rPr lang="en-US" altLang="ko-KR">
                                      <a:latin typeface="Cambria Math" panose="02040503050406030204" pitchFamily="18" charset="0"/>
                                    </a:rPr>
                                    <m:t>2</m:t>
                                  </m:r>
                                </m:sup>
                              </m:sSup>
                            </m:e>
                          </m:nary>
                        </m:num>
                        <m:den>
                          <m:r>
                            <a:rPr lang="en-US" altLang="ko-KR">
                              <a:latin typeface="Cambria Math" panose="02040503050406030204" pitchFamily="18" charset="0"/>
                            </a:rPr>
                            <m:t>𝑛</m:t>
                          </m:r>
                        </m:den>
                      </m:f>
                    </m:oMath>
                  </m:oMathPara>
                </a14:m>
                <a:endParaRPr lang="en-US" altLang="ko-KR" dirty="0"/>
              </a:p>
              <a:p>
                <a:pPr/>
                <a14:m>
                  <m:oMathPara xmlns:m="http://schemas.openxmlformats.org/officeDocument/2006/math">
                    <m:oMathParaPr>
                      <m:jc m:val="centerGroup"/>
                    </m:oMathParaPr>
                    <m:oMath xmlns:m="http://schemas.openxmlformats.org/officeDocument/2006/math">
                      <m:r>
                        <a:rPr lang="en-US" altLang="ko-KR">
                          <a:latin typeface="Cambria Math" panose="02040503050406030204" pitchFamily="18" charset="0"/>
                        </a:rPr>
                        <m:t>𝑅𝑀𝑆𝐸</m:t>
                      </m:r>
                      <m:r>
                        <a:rPr lang="en-US" altLang="ko-KR">
                          <a:latin typeface="Cambria Math" panose="02040503050406030204" pitchFamily="18" charset="0"/>
                        </a:rPr>
                        <m:t>=</m:t>
                      </m:r>
                      <m:rad>
                        <m:radPr>
                          <m:degHide m:val="on"/>
                          <m:ctrlPr>
                            <a:rPr lang="en-US" altLang="ko-KR" i="1">
                              <a:latin typeface="Cambria Math" panose="02040503050406030204" pitchFamily="18" charset="0"/>
                            </a:rPr>
                          </m:ctrlPr>
                        </m:radPr>
                        <m:deg/>
                        <m:e>
                          <m:r>
                            <a:rPr lang="en-US" altLang="ko-KR">
                              <a:latin typeface="Cambria Math" panose="02040503050406030204" pitchFamily="18" charset="0"/>
                            </a:rPr>
                            <m:t>𝑀𝑆𝐸</m:t>
                          </m:r>
                        </m:e>
                      </m:rad>
                    </m:oMath>
                  </m:oMathPara>
                </a14:m>
                <a:endParaRPr lang="en-US" altLang="ko-KR" dirty="0"/>
              </a:p>
              <a:p>
                <a:pPr/>
                <a14:m>
                  <m:oMathPara xmlns:m="http://schemas.openxmlformats.org/officeDocument/2006/math">
                    <m:oMathParaPr>
                      <m:jc m:val="centerGroup"/>
                    </m:oMathParaPr>
                    <m:oMath xmlns:m="http://schemas.openxmlformats.org/officeDocument/2006/math">
                      <m:r>
                        <a:rPr lang="en-US" altLang="ko-KR">
                          <a:latin typeface="Cambria Math" panose="02040503050406030204" pitchFamily="18" charset="0"/>
                        </a:rPr>
                        <m:t>𝑀𝐴𝐸</m:t>
                      </m:r>
                      <m:r>
                        <a:rPr lang="en-US" altLang="ko-KR">
                          <a:latin typeface="Cambria Math" panose="02040503050406030204" pitchFamily="18" charset="0"/>
                        </a:rPr>
                        <m:t>=</m:t>
                      </m:r>
                      <m:f>
                        <m:fPr>
                          <m:ctrlPr>
                            <a:rPr lang="en-US" altLang="ko-KR" i="1">
                              <a:latin typeface="Cambria Math" panose="02040503050406030204" pitchFamily="18" charset="0"/>
                            </a:rPr>
                          </m:ctrlPr>
                        </m:fPr>
                        <m:num>
                          <m:nary>
                            <m:naryPr>
                              <m:chr m:val="∑"/>
                              <m:ctrlPr>
                                <a:rPr lang="en-US" altLang="ko-KR" i="1">
                                  <a:latin typeface="Cambria Math" panose="02040503050406030204" pitchFamily="18" charset="0"/>
                                </a:rPr>
                              </m:ctrlPr>
                            </m:naryPr>
                            <m:sub>
                              <m:r>
                                <m:rPr>
                                  <m:brk m:alnAt="23"/>
                                </m:rPr>
                                <a:rPr lang="en-US" altLang="ko-KR">
                                  <a:latin typeface="Cambria Math" panose="02040503050406030204" pitchFamily="18" charset="0"/>
                                </a:rPr>
                                <m:t>𝑖</m:t>
                              </m:r>
                              <m:r>
                                <a:rPr lang="en-US" altLang="ko-KR">
                                  <a:latin typeface="Cambria Math" panose="02040503050406030204" pitchFamily="18" charset="0"/>
                                </a:rPr>
                                <m:t>=1</m:t>
                              </m:r>
                            </m:sub>
                            <m:sup>
                              <m:r>
                                <a:rPr lang="en-US" altLang="ko-KR">
                                  <a:latin typeface="Cambria Math" panose="02040503050406030204" pitchFamily="18" charset="0"/>
                                </a:rPr>
                                <m:t>𝑛</m:t>
                              </m:r>
                            </m:sup>
                            <m:e>
                              <m:d>
                                <m:dPr>
                                  <m:begChr m:val="|"/>
                                  <m:endChr m:val="|"/>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a:latin typeface="Cambria Math" panose="02040503050406030204" pitchFamily="18" charset="0"/>
                                        </a:rPr>
                                        <m:t>𝑦</m:t>
                                      </m:r>
                                    </m:e>
                                    <m:sub>
                                      <m:r>
                                        <a:rPr lang="en-US" altLang="ko-KR">
                                          <a:latin typeface="Cambria Math" panose="02040503050406030204" pitchFamily="18" charset="0"/>
                                        </a:rPr>
                                        <m:t>𝑖</m:t>
                                      </m:r>
                                    </m:sub>
                                  </m:sSub>
                                  <m:r>
                                    <a:rPr lang="en-US" altLang="ko-KR">
                                      <a:latin typeface="Cambria Math" panose="02040503050406030204" pitchFamily="18" charset="0"/>
                                    </a:rPr>
                                    <m:t>−</m:t>
                                  </m:r>
                                  <m:acc>
                                    <m:accPr>
                                      <m:chr m:val="̂"/>
                                      <m:ctrlPr>
                                        <a:rPr lang="en-US" altLang="ko-KR" i="1">
                                          <a:latin typeface="Cambria Math" panose="02040503050406030204" pitchFamily="18" charset="0"/>
                                        </a:rPr>
                                      </m:ctrlPr>
                                    </m:accPr>
                                    <m:e>
                                      <m:sSub>
                                        <m:sSubPr>
                                          <m:ctrlPr>
                                            <a:rPr lang="en-US" altLang="ko-KR" i="1">
                                              <a:latin typeface="Cambria Math" panose="02040503050406030204" pitchFamily="18" charset="0"/>
                                            </a:rPr>
                                          </m:ctrlPr>
                                        </m:sSubPr>
                                        <m:e>
                                          <m:r>
                                            <a:rPr lang="en-US" altLang="ko-KR">
                                              <a:latin typeface="Cambria Math" panose="02040503050406030204" pitchFamily="18" charset="0"/>
                                            </a:rPr>
                                            <m:t>𝑦</m:t>
                                          </m:r>
                                        </m:e>
                                        <m:sub>
                                          <m:r>
                                            <a:rPr lang="en-US" altLang="ko-KR">
                                              <a:latin typeface="Cambria Math" panose="02040503050406030204" pitchFamily="18" charset="0"/>
                                            </a:rPr>
                                            <m:t>𝑖</m:t>
                                          </m:r>
                                        </m:sub>
                                      </m:sSub>
                                    </m:e>
                                  </m:acc>
                                </m:e>
                              </m:d>
                            </m:e>
                          </m:nary>
                        </m:num>
                        <m:den>
                          <m:r>
                            <a:rPr lang="en-US" altLang="ko-KR">
                              <a:latin typeface="Cambria Math" panose="02040503050406030204" pitchFamily="18" charset="0"/>
                            </a:rPr>
                            <m:t>𝑛</m:t>
                          </m:r>
                        </m:den>
                      </m:f>
                    </m:oMath>
                  </m:oMathPara>
                </a14:m>
                <a:endParaRPr lang="en-US" altLang="ko-KR" dirty="0"/>
              </a:p>
              <a:p>
                <a:pPr/>
                <a14:m>
                  <m:oMathPara xmlns:m="http://schemas.openxmlformats.org/officeDocument/2006/math">
                    <m:oMathParaPr>
                      <m:jc m:val="centerGroup"/>
                    </m:oMathParaPr>
                    <m:oMath xmlns:m="http://schemas.openxmlformats.org/officeDocument/2006/math">
                      <m:r>
                        <a:rPr lang="en-US" altLang="ko-KR">
                          <a:latin typeface="Cambria Math" panose="02040503050406030204" pitchFamily="18" charset="0"/>
                        </a:rPr>
                        <m:t>𝑀𝐴𝑃𝐸</m:t>
                      </m:r>
                      <m:r>
                        <a:rPr lang="en-US" altLang="ko-KR">
                          <a:latin typeface="Cambria Math" panose="02040503050406030204" pitchFamily="18" charset="0"/>
                        </a:rPr>
                        <m:t>=</m:t>
                      </m:r>
                      <m:f>
                        <m:fPr>
                          <m:ctrlPr>
                            <a:rPr lang="en-US" altLang="ko-KR" i="1">
                              <a:latin typeface="Cambria Math" panose="02040503050406030204" pitchFamily="18" charset="0"/>
                            </a:rPr>
                          </m:ctrlPr>
                        </m:fPr>
                        <m:num>
                          <m:r>
                            <a:rPr lang="en-US" altLang="ko-KR">
                              <a:latin typeface="Cambria Math" panose="02040503050406030204" pitchFamily="18" charset="0"/>
                            </a:rPr>
                            <m:t>100</m:t>
                          </m:r>
                        </m:num>
                        <m:den>
                          <m:r>
                            <a:rPr lang="en-US" altLang="ko-KR">
                              <a:latin typeface="Cambria Math" panose="02040503050406030204" pitchFamily="18" charset="0"/>
                            </a:rPr>
                            <m:t>𝑛</m:t>
                          </m:r>
                        </m:den>
                      </m:f>
                      <m:r>
                        <a:rPr lang="en-US" altLang="ko-KR">
                          <a:latin typeface="Cambria Math" panose="02040503050406030204" pitchFamily="18" charset="0"/>
                        </a:rPr>
                        <m:t>×</m:t>
                      </m:r>
                      <m:nary>
                        <m:naryPr>
                          <m:chr m:val="∑"/>
                          <m:ctrlPr>
                            <a:rPr lang="en-US" altLang="ko-KR" i="1">
                              <a:latin typeface="Cambria Math" panose="02040503050406030204" pitchFamily="18" charset="0"/>
                            </a:rPr>
                          </m:ctrlPr>
                        </m:naryPr>
                        <m:sub>
                          <m:r>
                            <m:rPr>
                              <m:brk m:alnAt="23"/>
                            </m:rPr>
                            <a:rPr lang="en-US" altLang="ko-KR">
                              <a:latin typeface="Cambria Math" panose="02040503050406030204" pitchFamily="18" charset="0"/>
                            </a:rPr>
                            <m:t>𝑖</m:t>
                          </m:r>
                          <m:r>
                            <a:rPr lang="en-US" altLang="ko-KR">
                              <a:latin typeface="Cambria Math" panose="02040503050406030204" pitchFamily="18" charset="0"/>
                            </a:rPr>
                            <m:t>=1</m:t>
                          </m:r>
                        </m:sub>
                        <m:sup>
                          <m:r>
                            <a:rPr lang="en-US" altLang="ko-KR">
                              <a:latin typeface="Cambria Math" panose="02040503050406030204" pitchFamily="18" charset="0"/>
                            </a:rPr>
                            <m:t>𝑛</m:t>
                          </m:r>
                        </m:sup>
                        <m:e>
                          <m:d>
                            <m:dPr>
                              <m:begChr m:val="|"/>
                              <m:endChr m:val="|"/>
                              <m:ctrlPr>
                                <a:rPr lang="en-US" altLang="ko-KR" i="1">
                                  <a:latin typeface="Cambria Math" panose="02040503050406030204" pitchFamily="18" charset="0"/>
                                </a:rPr>
                              </m:ctrlPr>
                            </m:dPr>
                            <m:e>
                              <m:f>
                                <m:fPr>
                                  <m:ctrlPr>
                                    <a:rPr lang="en-US" altLang="ko-KR" i="1">
                                      <a:latin typeface="Cambria Math" panose="02040503050406030204" pitchFamily="18" charset="0"/>
                                    </a:rPr>
                                  </m:ctrlPr>
                                </m:fPr>
                                <m:num>
                                  <m:sSub>
                                    <m:sSubPr>
                                      <m:ctrlPr>
                                        <a:rPr lang="en-US" altLang="ko-KR" i="1">
                                          <a:latin typeface="Cambria Math" panose="02040503050406030204" pitchFamily="18" charset="0"/>
                                        </a:rPr>
                                      </m:ctrlPr>
                                    </m:sSubPr>
                                    <m:e>
                                      <m:r>
                                        <a:rPr lang="en-US" altLang="ko-KR">
                                          <a:latin typeface="Cambria Math" panose="02040503050406030204" pitchFamily="18" charset="0"/>
                                        </a:rPr>
                                        <m:t>𝑦</m:t>
                                      </m:r>
                                    </m:e>
                                    <m:sub>
                                      <m:r>
                                        <a:rPr lang="en-US" altLang="ko-KR">
                                          <a:latin typeface="Cambria Math" panose="02040503050406030204" pitchFamily="18" charset="0"/>
                                        </a:rPr>
                                        <m:t>𝑖</m:t>
                                      </m:r>
                                    </m:sub>
                                  </m:sSub>
                                  <m:r>
                                    <a:rPr lang="en-US" altLang="ko-KR">
                                      <a:latin typeface="Cambria Math" panose="02040503050406030204" pitchFamily="18" charset="0"/>
                                    </a:rPr>
                                    <m:t>−</m:t>
                                  </m:r>
                                  <m:acc>
                                    <m:accPr>
                                      <m:chr m:val="̂"/>
                                      <m:ctrlPr>
                                        <a:rPr lang="en-US" altLang="ko-KR" i="1">
                                          <a:latin typeface="Cambria Math" panose="02040503050406030204" pitchFamily="18" charset="0"/>
                                        </a:rPr>
                                      </m:ctrlPr>
                                    </m:accPr>
                                    <m:e>
                                      <m:sSub>
                                        <m:sSubPr>
                                          <m:ctrlPr>
                                            <a:rPr lang="en-US" altLang="ko-KR" i="1">
                                              <a:latin typeface="Cambria Math" panose="02040503050406030204" pitchFamily="18" charset="0"/>
                                            </a:rPr>
                                          </m:ctrlPr>
                                        </m:sSubPr>
                                        <m:e>
                                          <m:r>
                                            <a:rPr lang="en-US" altLang="ko-KR">
                                              <a:latin typeface="Cambria Math" panose="02040503050406030204" pitchFamily="18" charset="0"/>
                                            </a:rPr>
                                            <m:t>𝑦</m:t>
                                          </m:r>
                                        </m:e>
                                        <m:sub>
                                          <m:r>
                                            <a:rPr lang="en-US" altLang="ko-KR">
                                              <a:latin typeface="Cambria Math" panose="02040503050406030204" pitchFamily="18" charset="0"/>
                                            </a:rPr>
                                            <m:t>𝑖</m:t>
                                          </m:r>
                                        </m:sub>
                                      </m:sSub>
                                    </m:e>
                                  </m:acc>
                                </m:num>
                                <m:den>
                                  <m:sSub>
                                    <m:sSubPr>
                                      <m:ctrlPr>
                                        <a:rPr lang="en-US" altLang="ko-KR" i="1">
                                          <a:latin typeface="Cambria Math" panose="02040503050406030204" pitchFamily="18" charset="0"/>
                                        </a:rPr>
                                      </m:ctrlPr>
                                    </m:sSubPr>
                                    <m:e>
                                      <m:r>
                                        <a:rPr lang="en-US" altLang="ko-KR">
                                          <a:latin typeface="Cambria Math" panose="02040503050406030204" pitchFamily="18" charset="0"/>
                                        </a:rPr>
                                        <m:t>𝑦</m:t>
                                      </m:r>
                                    </m:e>
                                    <m:sub>
                                      <m:r>
                                        <a:rPr lang="en-US" altLang="ko-KR">
                                          <a:latin typeface="Cambria Math" panose="02040503050406030204" pitchFamily="18" charset="0"/>
                                        </a:rPr>
                                        <m:t>𝑖</m:t>
                                      </m:r>
                                    </m:sub>
                                  </m:sSub>
                                </m:den>
                              </m:f>
                            </m:e>
                          </m:d>
                        </m:e>
                      </m:nary>
                    </m:oMath>
                  </m:oMathPara>
                </a14:m>
                <a:endParaRPr lang="en-US" altLang="ko-KR" dirty="0"/>
              </a:p>
            </p:txBody>
          </p:sp>
        </mc:Choice>
        <mc:Fallback xmlns="">
          <p:sp>
            <p:nvSpPr>
              <p:cNvPr id="11" name="내용 개체 틀 2">
                <a:extLst>
                  <a:ext uri="{FF2B5EF4-FFF2-40B4-BE49-F238E27FC236}">
                    <a16:creationId xmlns:a16="http://schemas.microsoft.com/office/drawing/2014/main" id="{CED193DE-E169-4DE1-AE30-95D272D11605}"/>
                  </a:ext>
                </a:extLst>
              </p:cNvPr>
              <p:cNvSpPr txBox="1">
                <a:spLocks noRot="1" noChangeAspect="1" noMove="1" noResize="1" noEditPoints="1" noAdjustHandles="1" noChangeArrowheads="1" noChangeShapeType="1" noTextEdit="1"/>
              </p:cNvSpPr>
              <p:nvPr/>
            </p:nvSpPr>
            <p:spPr>
              <a:xfrm>
                <a:off x="3557748" y="1773238"/>
                <a:ext cx="2787330" cy="2427203"/>
              </a:xfrm>
              <a:prstGeom prst="rect">
                <a:avLst/>
              </a:prstGeom>
              <a:blipFill>
                <a:blip r:embed="rId4"/>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172264561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2.3. Linear Regression Diagnostics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9" name="직사각형 8">
            <a:extLst>
              <a:ext uri="{FF2B5EF4-FFF2-40B4-BE49-F238E27FC236}">
                <a16:creationId xmlns:a16="http://schemas.microsoft.com/office/drawing/2014/main" id="{FB4F96C9-7484-4D21-BBEA-0901BDAC067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Coefficient of determination or </a:t>
            </a:r>
            <a:r>
              <a:rPr lang="ko-KR" altLang="en-US" sz="1400" dirty="0">
                <a:solidFill>
                  <a:schemeClr val="tx1"/>
                </a:solidFill>
                <a:latin typeface="SamsungOne 400" panose="020B0503030303020204" pitchFamily="34" charset="0"/>
              </a:rPr>
              <a:t>𝑅</a:t>
            </a:r>
            <a:r>
              <a:rPr lang="en-US" altLang="ko-KR" sz="1400" dirty="0">
                <a:solidFill>
                  <a:schemeClr val="tx1"/>
                </a:solidFill>
                <a:latin typeface="SamsungOne 400" panose="020B0503030303020204" pitchFamily="34" charset="0"/>
                <a:ea typeface="SamsungOne 400" panose="020B0503030303020204" pitchFamily="34" charset="0"/>
              </a:rPr>
              <a:t>2</a:t>
            </a:r>
          </a:p>
        </p:txBody>
      </p:sp>
      <p:sp>
        <p:nvSpPr>
          <p:cNvPr id="10" name="직사각형 9">
            <a:extLst>
              <a:ext uri="{FF2B5EF4-FFF2-40B4-BE49-F238E27FC236}">
                <a16:creationId xmlns:a16="http://schemas.microsoft.com/office/drawing/2014/main" id="{712115C3-A01F-4773-8E19-4FF050644D11}"/>
              </a:ext>
            </a:extLst>
          </p:cNvPr>
          <p:cNvSpPr/>
          <p:nvPr/>
        </p:nvSpPr>
        <p:spPr>
          <a:xfrm>
            <a:off x="671261" y="2780928"/>
            <a:ext cx="8632825" cy="125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𝑅</a:t>
            </a:r>
            <a:r>
              <a:rPr lang="en-US" altLang="ko-KR" sz="1300" baseline="30000" dirty="0">
                <a:solidFill>
                  <a:schemeClr val="tx1">
                    <a:lumMod val="85000"/>
                    <a:lumOff val="15000"/>
                  </a:schemeClr>
                </a:solidFill>
                <a:latin typeface="SamsungOne 400" panose="020B0503030303020204" pitchFamily="34" charset="0"/>
                <a:ea typeface="SamsungOne 400" panose="020B0503030303020204" pitchFamily="34" charset="0"/>
              </a:rPr>
              <a:t>2</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is bounded above and below: 0&lt;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𝑅</a:t>
            </a:r>
            <a:r>
              <a:rPr lang="en-US" altLang="ko-KR" sz="1300" baseline="30000" dirty="0">
                <a:solidFill>
                  <a:schemeClr val="tx1">
                    <a:lumMod val="85000"/>
                    <a:lumOff val="15000"/>
                  </a:schemeClr>
                </a:solidFill>
                <a:latin typeface="SamsungOne 400" panose="020B0503030303020204" pitchFamily="34" charset="0"/>
                <a:ea typeface="SamsungOne 400" panose="020B0503030303020204" pitchFamily="34" charset="0"/>
              </a:rPr>
              <a:t>2</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&lt;1.</a:t>
            </a:r>
          </a:p>
          <a:p>
            <a:pPr marL="182526" indent="-182526">
              <a:spcAft>
                <a:spcPts val="800"/>
              </a:spcAft>
              <a:buClr>
                <a:srgbClr val="193EB0"/>
              </a:buClr>
              <a:buFont typeface="SamsungOne 400" panose="020B0503030303020204" pitchFamily="34" charset="0"/>
              <a:buChar char="‣"/>
            </a:pP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𝑅</a:t>
            </a:r>
            <a:r>
              <a:rPr lang="en-US" altLang="ko-KR" sz="1300" baseline="30000" dirty="0">
                <a:solidFill>
                  <a:schemeClr val="tx1">
                    <a:lumMod val="85000"/>
                    <a:lumOff val="15000"/>
                  </a:schemeClr>
                </a:solidFill>
                <a:latin typeface="SamsungOne 400" panose="020B0503030303020204" pitchFamily="34" charset="0"/>
                <a:ea typeface="SamsungOne 400" panose="020B0503030303020204" pitchFamily="34" charset="0"/>
              </a:rPr>
              <a:t>2</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close to one means that the response variable is well explained.</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As more explanatory variables are added,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𝑅</a:t>
            </a:r>
            <a:r>
              <a:rPr lang="en-US" altLang="ko-KR" sz="1300" baseline="30000" dirty="0">
                <a:solidFill>
                  <a:schemeClr val="tx1">
                    <a:lumMod val="85000"/>
                    <a:lumOff val="15000"/>
                  </a:schemeClr>
                </a:solidFill>
                <a:latin typeface="SamsungOne 400" panose="020B0503030303020204" pitchFamily="34" charset="0"/>
                <a:ea typeface="SamsungOne 400" panose="020B0503030303020204" pitchFamily="34" charset="0"/>
              </a:rPr>
              <a:t>2</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tends to increase spuriously: adjusted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𝑅</a:t>
            </a:r>
            <a:r>
              <a:rPr lang="en-US" altLang="ko-KR" sz="1300" baseline="30000" dirty="0">
                <a:solidFill>
                  <a:schemeClr val="tx1">
                    <a:lumMod val="85000"/>
                    <a:lumOff val="15000"/>
                  </a:schemeClr>
                </a:solidFill>
                <a:latin typeface="SamsungOne 400" panose="020B0503030303020204" pitchFamily="34" charset="0"/>
                <a:ea typeface="SamsungOne 400" panose="020B0503030303020204" pitchFamily="34" charset="0"/>
              </a:rPr>
              <a:t>2</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introduced.</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there is only one explanatory variable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𝑋</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then:</a:t>
            </a:r>
          </a:p>
        </p:txBody>
      </p:sp>
      <mc:AlternateContent xmlns:mc="http://schemas.openxmlformats.org/markup-compatibility/2006" xmlns:a14="http://schemas.microsoft.com/office/drawing/2010/main">
        <mc:Choice Requires="a14">
          <p:sp>
            <p:nvSpPr>
              <p:cNvPr id="11" name="내용 개체 틀 2">
                <a:extLst>
                  <a:ext uri="{FF2B5EF4-FFF2-40B4-BE49-F238E27FC236}">
                    <a16:creationId xmlns:a16="http://schemas.microsoft.com/office/drawing/2014/main" id="{CED193DE-E169-4DE1-AE30-95D272D11605}"/>
                  </a:ext>
                </a:extLst>
              </p:cNvPr>
              <p:cNvSpPr txBox="1">
                <a:spLocks/>
              </p:cNvSpPr>
              <p:nvPr/>
            </p:nvSpPr>
            <p:spPr>
              <a:xfrm>
                <a:off x="2525093" y="1773238"/>
                <a:ext cx="4852638" cy="7982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14:m>
                  <m:oMath xmlns:m="http://schemas.openxmlformats.org/officeDocument/2006/math">
                    <m:sSup>
                      <m:sSupPr>
                        <m:ctrlPr>
                          <a:rPr lang="en-US" altLang="ko-KR" i="1">
                            <a:latin typeface="Cambria Math" panose="02040503050406030204" pitchFamily="18" charset="0"/>
                          </a:rPr>
                        </m:ctrlPr>
                      </m:sSupPr>
                      <m:e>
                        <m:r>
                          <a:rPr lang="en-US" altLang="ko-KR">
                            <a:latin typeface="Cambria Math" panose="02040503050406030204" pitchFamily="18" charset="0"/>
                          </a:rPr>
                          <m:t>𝑅</m:t>
                        </m:r>
                      </m:e>
                      <m:sup>
                        <m:r>
                          <a:rPr lang="en-US" altLang="ko-KR">
                            <a:latin typeface="Cambria Math" panose="02040503050406030204" pitchFamily="18" charset="0"/>
                          </a:rPr>
                          <m:t>2</m:t>
                        </m:r>
                      </m:sup>
                    </m:sSup>
                    <m:r>
                      <a:rPr lang="en-US" altLang="ko-KR">
                        <a:latin typeface="Cambria Math" panose="02040503050406030204" pitchFamily="18" charset="0"/>
                      </a:rPr>
                      <m:t>=1−</m:t>
                    </m:r>
                    <m:f>
                      <m:fPr>
                        <m:ctrlPr>
                          <a:rPr lang="en-US" altLang="ko-KR" i="1">
                            <a:latin typeface="Cambria Math" panose="02040503050406030204" pitchFamily="18" charset="0"/>
                          </a:rPr>
                        </m:ctrlPr>
                      </m:fPr>
                      <m:num>
                        <m:r>
                          <a:rPr lang="en-US" altLang="ko-KR">
                            <a:solidFill>
                              <a:srgbClr val="FF0000"/>
                            </a:solidFill>
                            <a:latin typeface="Cambria Math" panose="02040503050406030204" pitchFamily="18" charset="0"/>
                          </a:rPr>
                          <m:t>𝑆𝑆𝐸</m:t>
                        </m:r>
                      </m:num>
                      <m:den>
                        <m:r>
                          <a:rPr lang="en-US" altLang="ko-KR">
                            <a:solidFill>
                              <a:srgbClr val="193EB0"/>
                            </a:solidFill>
                            <a:latin typeface="Cambria Math" panose="02040503050406030204" pitchFamily="18" charset="0"/>
                          </a:rPr>
                          <m:t>𝑆𝑆𝑇</m:t>
                        </m:r>
                      </m:den>
                    </m:f>
                  </m:oMath>
                </a14:m>
                <a:r>
                  <a:rPr lang="en-US" altLang="ko-KR" dirty="0"/>
                  <a:t> </a:t>
                </a:r>
              </a:p>
              <a:p>
                <a:pPr algn="ctr"/>
                <a:r>
                  <a:rPr lang="en-US" altLang="ko-KR" dirty="0"/>
                  <a:t>with </a:t>
                </a:r>
                <a14:m>
                  <m:oMath xmlns:m="http://schemas.openxmlformats.org/officeDocument/2006/math">
                    <m:r>
                      <a:rPr lang="en-US" altLang="ko-KR">
                        <a:solidFill>
                          <a:srgbClr val="FF0000"/>
                        </a:solidFill>
                        <a:latin typeface="Cambria Math" panose="02040503050406030204" pitchFamily="18" charset="0"/>
                      </a:rPr>
                      <m:t>𝑆𝑆𝐸</m:t>
                    </m:r>
                    <m:r>
                      <a:rPr lang="en-US" altLang="ko-KR">
                        <a:latin typeface="Cambria Math" panose="02040503050406030204" pitchFamily="18" charset="0"/>
                      </a:rPr>
                      <m:t>=</m:t>
                    </m:r>
                    <m:nary>
                      <m:naryPr>
                        <m:chr m:val="∑"/>
                        <m:limLoc m:val="undOvr"/>
                        <m:ctrlPr>
                          <a:rPr lang="en-US" altLang="ko-KR" i="1">
                            <a:latin typeface="Cambria Math" panose="02040503050406030204" pitchFamily="18" charset="0"/>
                          </a:rPr>
                        </m:ctrlPr>
                      </m:naryPr>
                      <m:sub>
                        <m:r>
                          <a:rPr lang="en-US" altLang="ko-KR">
                            <a:latin typeface="Cambria Math" panose="02040503050406030204" pitchFamily="18" charset="0"/>
                          </a:rPr>
                          <m:t>𝑖</m:t>
                        </m:r>
                        <m:r>
                          <a:rPr lang="en-US" altLang="ko-KR">
                            <a:latin typeface="Cambria Math" panose="02040503050406030204" pitchFamily="18" charset="0"/>
                          </a:rPr>
                          <m:t>=1</m:t>
                        </m:r>
                      </m:sub>
                      <m:sup>
                        <m:r>
                          <a:rPr lang="en-US" altLang="ko-KR">
                            <a:latin typeface="Cambria Math" panose="02040503050406030204" pitchFamily="18" charset="0"/>
                          </a:rPr>
                          <m:t>𝑛</m:t>
                        </m:r>
                      </m:sup>
                      <m:e>
                        <m:sSup>
                          <m:sSupPr>
                            <m:ctrlPr>
                              <a:rPr lang="en-US" altLang="ko-KR" i="1">
                                <a:latin typeface="Cambria Math" panose="02040503050406030204" pitchFamily="18" charset="0"/>
                              </a:rPr>
                            </m:ctrlPr>
                          </m:sSupPr>
                          <m:e>
                            <m:d>
                              <m:dPr>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a:latin typeface="Cambria Math" panose="02040503050406030204" pitchFamily="18" charset="0"/>
                                      </a:rPr>
                                      <m:t>𝑦</m:t>
                                    </m:r>
                                  </m:e>
                                  <m:sub>
                                    <m:r>
                                      <a:rPr lang="en-US" altLang="ko-KR">
                                        <a:latin typeface="Cambria Math" panose="02040503050406030204" pitchFamily="18" charset="0"/>
                                      </a:rPr>
                                      <m:t>𝑖</m:t>
                                    </m:r>
                                  </m:sub>
                                </m:sSub>
                                <m:r>
                                  <a:rPr lang="en-US" altLang="ko-KR">
                                    <a:latin typeface="Cambria Math" panose="02040503050406030204" pitchFamily="18" charset="0"/>
                                  </a:rPr>
                                  <m:t>−</m:t>
                                </m:r>
                                <m:sSub>
                                  <m:sSubPr>
                                    <m:ctrlPr>
                                      <a:rPr lang="en-US" altLang="ko-KR" i="1">
                                        <a:solidFill>
                                          <a:srgbClr val="FF0000"/>
                                        </a:solidFill>
                                        <a:latin typeface="Cambria Math" panose="02040503050406030204" pitchFamily="18" charset="0"/>
                                      </a:rPr>
                                    </m:ctrlPr>
                                  </m:sSubPr>
                                  <m:e>
                                    <m:acc>
                                      <m:accPr>
                                        <m:chr m:val="̂"/>
                                        <m:ctrlPr>
                                          <a:rPr lang="en-US" altLang="ko-KR" i="1">
                                            <a:solidFill>
                                              <a:srgbClr val="FF0000"/>
                                            </a:solidFill>
                                            <a:latin typeface="Cambria Math" panose="02040503050406030204" pitchFamily="18" charset="0"/>
                                          </a:rPr>
                                        </m:ctrlPr>
                                      </m:accPr>
                                      <m:e>
                                        <m:r>
                                          <a:rPr lang="en-US" altLang="ko-KR">
                                            <a:solidFill>
                                              <a:srgbClr val="FF0000"/>
                                            </a:solidFill>
                                            <a:latin typeface="Cambria Math" panose="02040503050406030204" pitchFamily="18" charset="0"/>
                                          </a:rPr>
                                          <m:t>𝑦</m:t>
                                        </m:r>
                                      </m:e>
                                    </m:acc>
                                  </m:e>
                                  <m:sub>
                                    <m:r>
                                      <a:rPr lang="en-US" altLang="ko-KR">
                                        <a:solidFill>
                                          <a:srgbClr val="FF0000"/>
                                        </a:solidFill>
                                        <a:latin typeface="Cambria Math" panose="02040503050406030204" pitchFamily="18" charset="0"/>
                                      </a:rPr>
                                      <m:t>𝑖</m:t>
                                    </m:r>
                                  </m:sub>
                                </m:sSub>
                              </m:e>
                            </m:d>
                          </m:e>
                          <m:sup>
                            <m:r>
                              <a:rPr lang="en-US" altLang="ko-KR">
                                <a:latin typeface="Cambria Math" panose="02040503050406030204" pitchFamily="18" charset="0"/>
                              </a:rPr>
                              <m:t>2</m:t>
                            </m:r>
                          </m:sup>
                        </m:sSup>
                      </m:e>
                    </m:nary>
                  </m:oMath>
                </a14:m>
                <a:r>
                  <a:rPr lang="en-US" altLang="ko-KR" dirty="0"/>
                  <a:t> and </a:t>
                </a:r>
                <a14:m>
                  <m:oMath xmlns:m="http://schemas.openxmlformats.org/officeDocument/2006/math">
                    <m:r>
                      <a:rPr lang="en-US" altLang="ko-KR">
                        <a:solidFill>
                          <a:srgbClr val="193EB0"/>
                        </a:solidFill>
                        <a:latin typeface="Cambria Math" panose="02040503050406030204" pitchFamily="18" charset="0"/>
                      </a:rPr>
                      <m:t>𝑆𝑆𝑇</m:t>
                    </m:r>
                    <m:r>
                      <a:rPr lang="en-US" altLang="ko-KR">
                        <a:latin typeface="Cambria Math" panose="02040503050406030204" pitchFamily="18" charset="0"/>
                      </a:rPr>
                      <m:t>=</m:t>
                    </m:r>
                    <m:nary>
                      <m:naryPr>
                        <m:chr m:val="∑"/>
                        <m:limLoc m:val="undOvr"/>
                        <m:ctrlPr>
                          <a:rPr lang="en-US" altLang="ko-KR" i="1" smtClean="0">
                            <a:latin typeface="Cambria Math" panose="02040503050406030204" pitchFamily="18" charset="0"/>
                          </a:rPr>
                        </m:ctrlPr>
                      </m:naryPr>
                      <m:sub>
                        <m:r>
                          <a:rPr lang="en-US" altLang="ko-KR">
                            <a:latin typeface="Cambria Math" panose="02040503050406030204" pitchFamily="18" charset="0"/>
                          </a:rPr>
                          <m:t>𝑖</m:t>
                        </m:r>
                        <m:r>
                          <a:rPr lang="en-US" altLang="ko-KR">
                            <a:latin typeface="Cambria Math" panose="02040503050406030204" pitchFamily="18" charset="0"/>
                          </a:rPr>
                          <m:t>=1</m:t>
                        </m:r>
                      </m:sub>
                      <m:sup>
                        <m:r>
                          <a:rPr lang="en-US" altLang="ko-KR">
                            <a:latin typeface="Cambria Math" panose="02040503050406030204" pitchFamily="18" charset="0"/>
                          </a:rPr>
                          <m:t>𝑛</m:t>
                        </m:r>
                      </m:sup>
                      <m:e>
                        <m:sSup>
                          <m:sSupPr>
                            <m:ctrlPr>
                              <a:rPr lang="en-US" altLang="ko-KR" i="1">
                                <a:latin typeface="Cambria Math" panose="02040503050406030204" pitchFamily="18" charset="0"/>
                              </a:rPr>
                            </m:ctrlPr>
                          </m:sSupPr>
                          <m:e>
                            <m:d>
                              <m:dPr>
                                <m:ctrlPr>
                                  <a:rPr lang="en-US" altLang="ko-KR" i="1">
                                    <a:solidFill>
                                      <a:srgbClr val="193EB0"/>
                                    </a:solidFill>
                                    <a:latin typeface="Cambria Math" panose="02040503050406030204" pitchFamily="18" charset="0"/>
                                  </a:rPr>
                                </m:ctrlPr>
                              </m:dPr>
                              <m:e>
                                <m:sSub>
                                  <m:sSubPr>
                                    <m:ctrlPr>
                                      <a:rPr lang="en-US" altLang="ko-KR" i="1">
                                        <a:solidFill>
                                          <a:srgbClr val="262626"/>
                                        </a:solidFill>
                                        <a:latin typeface="Cambria Math" panose="02040503050406030204" pitchFamily="18" charset="0"/>
                                      </a:rPr>
                                    </m:ctrlPr>
                                  </m:sSubPr>
                                  <m:e>
                                    <m:r>
                                      <a:rPr lang="en-US" altLang="ko-KR">
                                        <a:solidFill>
                                          <a:srgbClr val="262626"/>
                                        </a:solidFill>
                                        <a:latin typeface="Cambria Math" panose="02040503050406030204" pitchFamily="18" charset="0"/>
                                      </a:rPr>
                                      <m:t>𝑦</m:t>
                                    </m:r>
                                  </m:e>
                                  <m:sub>
                                    <m:r>
                                      <a:rPr lang="en-US" altLang="ko-KR">
                                        <a:solidFill>
                                          <a:srgbClr val="262626"/>
                                        </a:solidFill>
                                        <a:latin typeface="Cambria Math" panose="02040503050406030204" pitchFamily="18" charset="0"/>
                                      </a:rPr>
                                      <m:t>𝑖</m:t>
                                    </m:r>
                                  </m:sub>
                                </m:sSub>
                                <m:r>
                                  <a:rPr lang="en-US" altLang="ko-KR">
                                    <a:solidFill>
                                      <a:srgbClr val="262626"/>
                                    </a:solidFill>
                                    <a:latin typeface="Cambria Math" panose="02040503050406030204" pitchFamily="18" charset="0"/>
                                  </a:rPr>
                                  <m:t>−</m:t>
                                </m:r>
                                <m:acc>
                                  <m:accPr>
                                    <m:chr m:val="̅"/>
                                    <m:ctrlPr>
                                      <a:rPr lang="en-US" altLang="ko-KR" i="1">
                                        <a:solidFill>
                                          <a:srgbClr val="193EB0"/>
                                        </a:solidFill>
                                        <a:latin typeface="Cambria Math" panose="02040503050406030204" pitchFamily="18" charset="0"/>
                                      </a:rPr>
                                    </m:ctrlPr>
                                  </m:accPr>
                                  <m:e>
                                    <m:r>
                                      <a:rPr lang="en-US" altLang="ko-KR">
                                        <a:solidFill>
                                          <a:srgbClr val="193EB0"/>
                                        </a:solidFill>
                                        <a:latin typeface="Cambria Math" panose="02040503050406030204" pitchFamily="18" charset="0"/>
                                      </a:rPr>
                                      <m:t>𝑦</m:t>
                                    </m:r>
                                  </m:e>
                                </m:acc>
                              </m:e>
                            </m:d>
                          </m:e>
                          <m:sup>
                            <m:r>
                              <a:rPr lang="en-US" altLang="ko-KR">
                                <a:latin typeface="Cambria Math" panose="02040503050406030204" pitchFamily="18" charset="0"/>
                              </a:rPr>
                              <m:t>2</m:t>
                            </m:r>
                          </m:sup>
                        </m:sSup>
                      </m:e>
                    </m:nary>
                  </m:oMath>
                </a14:m>
                <a:endParaRPr lang="en-US" altLang="ko-KR" dirty="0"/>
              </a:p>
            </p:txBody>
          </p:sp>
        </mc:Choice>
        <mc:Fallback xmlns="">
          <p:sp>
            <p:nvSpPr>
              <p:cNvPr id="11" name="내용 개체 틀 2">
                <a:extLst>
                  <a:ext uri="{FF2B5EF4-FFF2-40B4-BE49-F238E27FC236}">
                    <a16:creationId xmlns:a16="http://schemas.microsoft.com/office/drawing/2014/main" id="{CED193DE-E169-4DE1-AE30-95D272D11605}"/>
                  </a:ext>
                </a:extLst>
              </p:cNvPr>
              <p:cNvSpPr txBox="1">
                <a:spLocks noRot="1" noChangeAspect="1" noMove="1" noResize="1" noEditPoints="1" noAdjustHandles="1" noChangeArrowheads="1" noChangeShapeType="1" noTextEdit="1"/>
              </p:cNvSpPr>
              <p:nvPr/>
            </p:nvSpPr>
            <p:spPr>
              <a:xfrm>
                <a:off x="2525093" y="1773238"/>
                <a:ext cx="4852638" cy="798232"/>
              </a:xfrm>
              <a:prstGeom prst="rect">
                <a:avLst/>
              </a:prstGeom>
              <a:blipFill>
                <a:blip r:embed="rId4"/>
                <a:stretch>
                  <a:fillRect b="-72519"/>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내용 개체 틀 2">
                <a:extLst>
                  <a:ext uri="{FF2B5EF4-FFF2-40B4-BE49-F238E27FC236}">
                    <a16:creationId xmlns:a16="http://schemas.microsoft.com/office/drawing/2014/main" id="{22627A52-F401-4DE7-999B-D9746F5693AA}"/>
                  </a:ext>
                </a:extLst>
              </p:cNvPr>
              <p:cNvSpPr txBox="1">
                <a:spLocks/>
              </p:cNvSpPr>
              <p:nvPr/>
            </p:nvSpPr>
            <p:spPr>
              <a:xfrm>
                <a:off x="4040668" y="4113076"/>
                <a:ext cx="1821488" cy="4411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sSup>
                        <m:sSupPr>
                          <m:ctrlPr>
                            <a:rPr lang="en-US" altLang="ko-KR" i="1">
                              <a:latin typeface="Cambria Math" panose="02040503050406030204" pitchFamily="18" charset="0"/>
                            </a:rPr>
                          </m:ctrlPr>
                        </m:sSupPr>
                        <m:e>
                          <m:r>
                            <a:rPr lang="en-US" altLang="ko-KR">
                              <a:latin typeface="Cambria Math" panose="02040503050406030204" pitchFamily="18" charset="0"/>
                            </a:rPr>
                            <m:t>𝑅</m:t>
                          </m:r>
                        </m:e>
                        <m:sup>
                          <m:r>
                            <a:rPr lang="en-US" altLang="ko-KR">
                              <a:latin typeface="Cambria Math" panose="02040503050406030204" pitchFamily="18" charset="0"/>
                            </a:rPr>
                            <m:t>2</m:t>
                          </m:r>
                        </m:sup>
                      </m:sSup>
                      <m:r>
                        <a:rPr lang="en-US" altLang="ko-KR">
                          <a:latin typeface="Cambria Math" panose="02040503050406030204" pitchFamily="18" charset="0"/>
                        </a:rPr>
                        <m:t>=</m:t>
                      </m:r>
                      <m:sSup>
                        <m:sSupPr>
                          <m:ctrlPr>
                            <a:rPr lang="en-US" altLang="ko-KR" i="1">
                              <a:latin typeface="Cambria Math" panose="02040503050406030204" pitchFamily="18" charset="0"/>
                            </a:rPr>
                          </m:ctrlPr>
                        </m:sSupPr>
                        <m:e>
                          <m:r>
                            <a:rPr lang="en-US" altLang="ko-KR" dirty="0">
                              <a:latin typeface="Cambria Math" panose="02040503050406030204" pitchFamily="18" charset="0"/>
                            </a:rPr>
                            <m:t>𝐶𝑜𝑟</m:t>
                          </m:r>
                          <m:r>
                            <a:rPr lang="en-US" altLang="ko-KR" dirty="0">
                              <a:latin typeface="Cambria Math" panose="02040503050406030204" pitchFamily="18" charset="0"/>
                            </a:rPr>
                            <m:t>(</m:t>
                          </m:r>
                          <m:r>
                            <a:rPr lang="en-US" altLang="ko-KR" dirty="0">
                              <a:latin typeface="Cambria Math" panose="02040503050406030204" pitchFamily="18" charset="0"/>
                            </a:rPr>
                            <m:t>𝑋</m:t>
                          </m:r>
                          <m:r>
                            <a:rPr lang="en-US" altLang="ko-KR" dirty="0">
                              <a:latin typeface="Cambria Math" panose="02040503050406030204" pitchFamily="18" charset="0"/>
                            </a:rPr>
                            <m:t>,</m:t>
                          </m:r>
                          <m:r>
                            <a:rPr lang="en-US" altLang="ko-KR" dirty="0">
                              <a:latin typeface="Cambria Math" panose="02040503050406030204" pitchFamily="18" charset="0"/>
                            </a:rPr>
                            <m:t>𝑌</m:t>
                          </m:r>
                          <m:r>
                            <a:rPr lang="en-US" altLang="ko-KR" dirty="0">
                              <a:latin typeface="Cambria Math" panose="02040503050406030204" pitchFamily="18" charset="0"/>
                            </a:rPr>
                            <m:t>)</m:t>
                          </m:r>
                          <m:r>
                            <m:rPr>
                              <m:nor/>
                            </m:rPr>
                            <a:rPr lang="en-US" altLang="ko-KR" dirty="0"/>
                            <m:t> </m:t>
                          </m:r>
                        </m:e>
                        <m:sup>
                          <m:r>
                            <a:rPr lang="en-US" altLang="ko-KR">
                              <a:solidFill>
                                <a:srgbClr val="FF0000"/>
                              </a:solidFill>
                              <a:latin typeface="Cambria Math" panose="02040503050406030204" pitchFamily="18" charset="0"/>
                            </a:rPr>
                            <m:t>2</m:t>
                          </m:r>
                        </m:sup>
                      </m:sSup>
                    </m:oMath>
                  </m:oMathPara>
                </a14:m>
                <a:endParaRPr lang="en-US" altLang="ko-KR" dirty="0"/>
              </a:p>
            </p:txBody>
          </p:sp>
        </mc:Choice>
        <mc:Fallback xmlns="">
          <p:sp>
            <p:nvSpPr>
              <p:cNvPr id="8" name="내용 개체 틀 2">
                <a:extLst>
                  <a:ext uri="{FF2B5EF4-FFF2-40B4-BE49-F238E27FC236}">
                    <a16:creationId xmlns:a16="http://schemas.microsoft.com/office/drawing/2014/main" id="{22627A52-F401-4DE7-999B-D9746F5693AA}"/>
                  </a:ext>
                </a:extLst>
              </p:cNvPr>
              <p:cNvSpPr txBox="1">
                <a:spLocks noRot="1" noChangeAspect="1" noMove="1" noResize="1" noEditPoints="1" noAdjustHandles="1" noChangeArrowheads="1" noChangeShapeType="1" noTextEdit="1"/>
              </p:cNvSpPr>
              <p:nvPr/>
            </p:nvSpPr>
            <p:spPr>
              <a:xfrm>
                <a:off x="4040668" y="4113076"/>
                <a:ext cx="1821488" cy="441146"/>
              </a:xfrm>
              <a:prstGeom prst="rect">
                <a:avLst/>
              </a:prstGeom>
              <a:blipFill>
                <a:blip r:embed="rId5"/>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244270908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2.3. Linear Regression Diagnostics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9" name="직사각형 8">
            <a:extLst>
              <a:ext uri="{FF2B5EF4-FFF2-40B4-BE49-F238E27FC236}">
                <a16:creationId xmlns:a16="http://schemas.microsoft.com/office/drawing/2014/main" id="{FB4F96C9-7484-4D21-BBEA-0901BDAC067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F-test for overall significance of the linear model</a:t>
            </a:r>
          </a:p>
        </p:txBody>
      </p:sp>
      <mc:AlternateContent xmlns:mc="http://schemas.openxmlformats.org/markup-compatibility/2006" xmlns:a14="http://schemas.microsoft.com/office/drawing/2010/main">
        <mc:Choice Requires="a14">
          <p:sp>
            <p:nvSpPr>
              <p:cNvPr id="8" name="내용 개체 틀 2">
                <a:extLst>
                  <a:ext uri="{FF2B5EF4-FFF2-40B4-BE49-F238E27FC236}">
                    <a16:creationId xmlns:a16="http://schemas.microsoft.com/office/drawing/2014/main" id="{22627A52-F401-4DE7-999B-D9746F5693AA}"/>
                  </a:ext>
                </a:extLst>
              </p:cNvPr>
              <p:cNvSpPr txBox="1">
                <a:spLocks/>
              </p:cNvSpPr>
              <p:nvPr/>
            </p:nvSpPr>
            <p:spPr>
              <a:xfrm>
                <a:off x="2215108" y="2484754"/>
                <a:ext cx="3519132" cy="7039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f>
                        <m:fPr>
                          <m:ctrlPr>
                            <a:rPr lang="en-US" altLang="ko-KR" i="1">
                              <a:latin typeface="Cambria Math" panose="02040503050406030204" pitchFamily="18" charset="0"/>
                            </a:rPr>
                          </m:ctrlPr>
                        </m:fPr>
                        <m:num>
                          <m:r>
                            <a:rPr lang="en-US" altLang="ko-KR">
                              <a:latin typeface="Cambria Math" panose="02040503050406030204" pitchFamily="18" charset="0"/>
                            </a:rPr>
                            <m:t>𝑉𝑎𝑟𝑖𝑎𝑛𝑐𝑒</m:t>
                          </m:r>
                          <m:r>
                            <a:rPr lang="en-US" altLang="ko-KR">
                              <a:latin typeface="Cambria Math" panose="02040503050406030204" pitchFamily="18" charset="0"/>
                            </a:rPr>
                            <m:t> </m:t>
                          </m:r>
                          <m:r>
                            <a:rPr lang="en-US" altLang="ko-KR">
                              <a:latin typeface="Cambria Math" panose="02040503050406030204" pitchFamily="18" charset="0"/>
                            </a:rPr>
                            <m:t>𝑡h𝑎𝑡</m:t>
                          </m:r>
                          <m:r>
                            <a:rPr lang="en-US" altLang="ko-KR">
                              <a:latin typeface="Cambria Math" panose="02040503050406030204" pitchFamily="18" charset="0"/>
                            </a:rPr>
                            <m:t> </m:t>
                          </m:r>
                          <m:r>
                            <a:rPr lang="en-US" altLang="ko-KR">
                              <a:solidFill>
                                <a:srgbClr val="193EB0"/>
                              </a:solidFill>
                              <a:latin typeface="Cambria Math" panose="02040503050406030204" pitchFamily="18" charset="0"/>
                            </a:rPr>
                            <m:t>𝑐𝑎𝑛</m:t>
                          </m:r>
                          <m:r>
                            <a:rPr lang="en-US" altLang="ko-KR">
                              <a:latin typeface="Cambria Math" panose="02040503050406030204" pitchFamily="18" charset="0"/>
                            </a:rPr>
                            <m:t> </m:t>
                          </m:r>
                          <m:r>
                            <a:rPr lang="en-US" altLang="ko-KR">
                              <a:latin typeface="Cambria Math" panose="02040503050406030204" pitchFamily="18" charset="0"/>
                            </a:rPr>
                            <m:t>𝑏𝑒</m:t>
                          </m:r>
                          <m:r>
                            <a:rPr lang="en-US" altLang="ko-KR">
                              <a:latin typeface="Cambria Math" panose="02040503050406030204" pitchFamily="18" charset="0"/>
                            </a:rPr>
                            <m:t> </m:t>
                          </m:r>
                          <m:r>
                            <a:rPr lang="en-US" altLang="ko-KR">
                              <a:latin typeface="Cambria Math" panose="02040503050406030204" pitchFamily="18" charset="0"/>
                            </a:rPr>
                            <m:t>𝑒𝑥𝑝𝑙𝑎𝑖𝑛𝑒𝑑</m:t>
                          </m:r>
                        </m:num>
                        <m:den>
                          <m:r>
                            <a:rPr lang="en-US" altLang="ko-KR">
                              <a:latin typeface="Cambria Math" panose="02040503050406030204" pitchFamily="18" charset="0"/>
                            </a:rPr>
                            <m:t>𝑉𝑎𝑟𝑖𝑎𝑛𝑐𝑒</m:t>
                          </m:r>
                          <m:r>
                            <a:rPr lang="en-US" altLang="ko-KR">
                              <a:latin typeface="Cambria Math" panose="02040503050406030204" pitchFamily="18" charset="0"/>
                            </a:rPr>
                            <m:t> </m:t>
                          </m:r>
                          <m:r>
                            <a:rPr lang="en-US" altLang="ko-KR">
                              <a:latin typeface="Cambria Math" panose="02040503050406030204" pitchFamily="18" charset="0"/>
                            </a:rPr>
                            <m:t>𝑡h𝑎𝑡</m:t>
                          </m:r>
                          <m:r>
                            <a:rPr lang="en-US" altLang="ko-KR">
                              <a:latin typeface="Cambria Math" panose="02040503050406030204" pitchFamily="18" charset="0"/>
                            </a:rPr>
                            <m:t> </m:t>
                          </m:r>
                          <m:r>
                            <a:rPr lang="en-US" altLang="ko-KR">
                              <a:solidFill>
                                <a:srgbClr val="FF0000"/>
                              </a:solidFill>
                              <a:latin typeface="Cambria Math" panose="02040503050406030204" pitchFamily="18" charset="0"/>
                            </a:rPr>
                            <m:t>𝑐𝑎𝑛𝑛𝑜𝑡</m:t>
                          </m:r>
                          <m:r>
                            <a:rPr lang="en-US" altLang="ko-KR">
                              <a:latin typeface="Cambria Math" panose="02040503050406030204" pitchFamily="18" charset="0"/>
                            </a:rPr>
                            <m:t> </m:t>
                          </m:r>
                          <m:r>
                            <a:rPr lang="en-US" altLang="ko-KR">
                              <a:latin typeface="Cambria Math" panose="02040503050406030204" pitchFamily="18" charset="0"/>
                            </a:rPr>
                            <m:t>𝑏𝑒</m:t>
                          </m:r>
                          <m:r>
                            <a:rPr lang="en-US" altLang="ko-KR">
                              <a:latin typeface="Cambria Math" panose="02040503050406030204" pitchFamily="18" charset="0"/>
                            </a:rPr>
                            <m:t> </m:t>
                          </m:r>
                          <m:r>
                            <a:rPr lang="en-US" altLang="ko-KR">
                              <a:latin typeface="Cambria Math" panose="02040503050406030204" pitchFamily="18" charset="0"/>
                            </a:rPr>
                            <m:t>𝑒𝑥𝑝𝑙𝑎𝑖𝑛𝑒𝑑</m:t>
                          </m:r>
                        </m:den>
                      </m:f>
                    </m:oMath>
                  </m:oMathPara>
                </a14:m>
                <a:endParaRPr lang="en-US" altLang="ko-KR" dirty="0"/>
              </a:p>
            </p:txBody>
          </p:sp>
        </mc:Choice>
        <mc:Fallback xmlns="">
          <p:sp>
            <p:nvSpPr>
              <p:cNvPr id="8" name="내용 개체 틀 2">
                <a:extLst>
                  <a:ext uri="{FF2B5EF4-FFF2-40B4-BE49-F238E27FC236}">
                    <a16:creationId xmlns:a16="http://schemas.microsoft.com/office/drawing/2014/main" id="{22627A52-F401-4DE7-999B-D9746F5693AA}"/>
                  </a:ext>
                </a:extLst>
              </p:cNvPr>
              <p:cNvSpPr txBox="1">
                <a:spLocks noRot="1" noChangeAspect="1" noMove="1" noResize="1" noEditPoints="1" noAdjustHandles="1" noChangeArrowheads="1" noChangeShapeType="1" noTextEdit="1"/>
              </p:cNvSpPr>
              <p:nvPr/>
            </p:nvSpPr>
            <p:spPr>
              <a:xfrm>
                <a:off x="2215108" y="2484754"/>
                <a:ext cx="3519132" cy="703911"/>
              </a:xfrm>
              <a:prstGeom prst="rect">
                <a:avLst/>
              </a:prstGeom>
              <a:blipFill>
                <a:blip r:embed="rId4"/>
                <a:stretch>
                  <a:fillRect/>
                </a:stretch>
              </a:blipFill>
              <a:ln>
                <a:noFill/>
              </a:ln>
            </p:spPr>
            <p:txBody>
              <a:bodyPr/>
              <a:lstStyle/>
              <a:p>
                <a:r>
                  <a:rPr lang="ko-KR" altLang="en-US">
                    <a:noFill/>
                  </a:rPr>
                  <a:t> </a:t>
                </a:r>
              </a:p>
            </p:txBody>
          </p:sp>
        </mc:Fallback>
      </mc:AlternateContent>
      <p:sp>
        <p:nvSpPr>
          <p:cNvPr id="12" name="직사각형 11">
            <a:extLst>
              <a:ext uri="{FF2B5EF4-FFF2-40B4-BE49-F238E27FC236}">
                <a16:creationId xmlns:a16="http://schemas.microsoft.com/office/drawing/2014/main" id="{7589D0E7-E999-4C47-8E99-20109E6DC1C5}"/>
              </a:ext>
            </a:extLst>
          </p:cNvPr>
          <p:cNvSpPr/>
          <p:nvPr/>
        </p:nvSpPr>
        <p:spPr>
          <a:xfrm>
            <a:off x="671261" y="1700808"/>
            <a:ext cx="8632825" cy="2489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Null hypothesis         </a:t>
            </a:r>
            <a:r>
              <a:rPr lang="ko-KR" altLang="en-US" sz="1300" dirty="0">
                <a:solidFill>
                  <a:prstClr val="black">
                    <a:lumMod val="85000"/>
                    <a:lumOff val="15000"/>
                  </a:prstClr>
                </a:solidFill>
                <a:latin typeface="SamsungOne 400" panose="020B0503030303020204" pitchFamily="34" charset="0"/>
              </a:rPr>
              <a:t>𝑯𝟎</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ko-KR" altLang="en-US" sz="1300" dirty="0">
                <a:solidFill>
                  <a:prstClr val="black">
                    <a:lumMod val="85000"/>
                    <a:lumOff val="15000"/>
                  </a:prstClr>
                </a:solidFill>
                <a:latin typeface="SamsungOne 400" panose="020B0503030303020204" pitchFamily="34" charset="0"/>
              </a:rPr>
              <a:t>𝛽</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1=</a:t>
            </a:r>
            <a:r>
              <a:rPr lang="ko-KR" altLang="en-US" sz="1300" dirty="0">
                <a:solidFill>
                  <a:prstClr val="black">
                    <a:lumMod val="85000"/>
                    <a:lumOff val="15000"/>
                  </a:prstClr>
                </a:solidFill>
                <a:latin typeface="SamsungOne 400" panose="020B0503030303020204" pitchFamily="34" charset="0"/>
              </a:rPr>
              <a:t>𝛽</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2=⋯=</a:t>
            </a:r>
            <a:r>
              <a:rPr lang="ko-KR" altLang="en-US" sz="1300" dirty="0">
                <a:solidFill>
                  <a:prstClr val="black">
                    <a:lumMod val="85000"/>
                    <a:lumOff val="15000"/>
                  </a:prstClr>
                </a:solidFill>
                <a:latin typeface="SamsungOne 400" panose="020B0503030303020204" pitchFamily="34" charset="0"/>
              </a:rPr>
              <a:t>𝛽𝐾</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=0</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Alternate hypothesis </a:t>
            </a:r>
            <a:r>
              <a:rPr lang="ko-KR" altLang="en-US" sz="1300" dirty="0">
                <a:solidFill>
                  <a:prstClr val="black">
                    <a:lumMod val="85000"/>
                    <a:lumOff val="15000"/>
                  </a:prstClr>
                </a:solidFill>
                <a:latin typeface="SamsungOne 400" panose="020B0503030303020204" pitchFamily="34" charset="0"/>
              </a:rPr>
              <a:t>𝑯𝟏</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least a </a:t>
            </a:r>
            <a:r>
              <a:rPr lang="ko-KR" altLang="en-US" sz="1300" dirty="0">
                <a:solidFill>
                  <a:prstClr val="black">
                    <a:lumMod val="85000"/>
                    <a:lumOff val="15000"/>
                  </a:prstClr>
                </a:solidFill>
                <a:latin typeface="SamsungOne 400" panose="020B0503030303020204" pitchFamily="34" charset="0"/>
              </a:rPr>
              <a:t>𝛽𝑖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is non zero.</a:t>
            </a:r>
          </a:p>
          <a:p>
            <a:pPr marL="182563" indent="-182563">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a:spcBef>
                <a:spcPts val="600"/>
              </a:spcBef>
              <a:spcAft>
                <a:spcPts val="800"/>
              </a:spcAft>
              <a:buClr>
                <a:srgbClr val="193EB0"/>
              </a:buClr>
            </a:pPr>
            <a:r>
              <a:rPr lang="ko-KR" altLang="en-US" sz="1300" dirty="0">
                <a:solidFill>
                  <a:prstClr val="black">
                    <a:lumMod val="85000"/>
                    <a:lumOff val="15000"/>
                  </a:prstClr>
                </a:solidFill>
                <a:latin typeface="SamsungOne 400" panose="020B0503030303020204" pitchFamily="34" charset="0"/>
                <a:sym typeface="Symbol" panose="05050102010706020507" pitchFamily="18" charset="2"/>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F-test statistic  = </a:t>
            </a:r>
          </a:p>
          <a:p>
            <a:pPr marL="182563" indent="-182563">
              <a:spcBef>
                <a:spcPts val="800"/>
              </a:spcBef>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sym typeface="Symbol" panose="05050102010706020507" pitchFamily="18" charset="2"/>
            </a:endParaRPr>
          </a:p>
          <a:p>
            <a:pPr>
              <a:spcBef>
                <a:spcPts val="800"/>
              </a:spcBef>
              <a:spcAft>
                <a:spcPts val="800"/>
              </a:spcAft>
              <a:buClr>
                <a:srgbClr val="193EB0"/>
              </a:buClr>
            </a:pPr>
            <a:r>
              <a:rPr lang="ko-KR" altLang="en-US" sz="1300" dirty="0">
                <a:solidFill>
                  <a:prstClr val="black">
                    <a:lumMod val="85000"/>
                    <a:lumOff val="15000"/>
                  </a:prstClr>
                </a:solidFill>
                <a:latin typeface="SamsungOne 400" panose="020B0503030303020204" pitchFamily="34" charset="0"/>
                <a:sym typeface="Symbol" panose="05050102010706020507" pitchFamily="18" charset="2"/>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If the p-value is below a reference (say 0.05), then </a:t>
            </a:r>
            <a:r>
              <a:rPr lang="ko-KR" altLang="en-US" sz="1300" dirty="0">
                <a:solidFill>
                  <a:prstClr val="black">
                    <a:lumMod val="85000"/>
                    <a:lumOff val="15000"/>
                  </a:prstClr>
                </a:solidFill>
                <a:latin typeface="SamsungOne 400" panose="020B0503030303020204" pitchFamily="34" charset="0"/>
              </a:rPr>
              <a:t>𝑯𝟎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is rejected in favor of </a:t>
            </a:r>
            <a:r>
              <a:rPr lang="ko-KR" altLang="en-US" sz="1300" dirty="0">
                <a:solidFill>
                  <a:prstClr val="black">
                    <a:lumMod val="85000"/>
                    <a:lumOff val="15000"/>
                  </a:prstClr>
                </a:solidFill>
                <a:latin typeface="SamsungOne 400" panose="020B0503030303020204" pitchFamily="34" charset="0"/>
              </a:rPr>
              <a:t>𝑯𝟏</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In this case, the linear model has an overall significance.</a:t>
            </a:r>
          </a:p>
        </p:txBody>
      </p:sp>
    </p:spTree>
    <p:extLst>
      <p:ext uri="{BB962C8B-B14F-4D97-AF65-F5344CB8AC3E}">
        <p14:creationId xmlns:p14="http://schemas.microsoft.com/office/powerpoint/2010/main" val="195761287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2.3. Linear Regression Diagnostics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9" name="직사각형 8">
            <a:extLst>
              <a:ext uri="{FF2B5EF4-FFF2-40B4-BE49-F238E27FC236}">
                <a16:creationId xmlns:a16="http://schemas.microsoft.com/office/drawing/2014/main" id="{FB4F96C9-7484-4D21-BBEA-0901BDAC067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t-test for significance of the individual regression coefficients</a:t>
            </a:r>
          </a:p>
        </p:txBody>
      </p:sp>
      <mc:AlternateContent xmlns:mc="http://schemas.openxmlformats.org/markup-compatibility/2006" xmlns:a14="http://schemas.microsoft.com/office/drawing/2010/main">
        <mc:Choice Requires="a14">
          <p:sp>
            <p:nvSpPr>
              <p:cNvPr id="8" name="내용 개체 틀 2">
                <a:extLst>
                  <a:ext uri="{FF2B5EF4-FFF2-40B4-BE49-F238E27FC236}">
                    <a16:creationId xmlns:a16="http://schemas.microsoft.com/office/drawing/2014/main" id="{22627A52-F401-4DE7-999B-D9746F5693AA}"/>
                  </a:ext>
                </a:extLst>
              </p:cNvPr>
              <p:cNvSpPr txBox="1">
                <a:spLocks/>
              </p:cNvSpPr>
              <p:nvPr/>
            </p:nvSpPr>
            <p:spPr>
              <a:xfrm>
                <a:off x="2134427" y="2524426"/>
                <a:ext cx="5437391" cy="7461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f>
                        <m:fPr>
                          <m:ctrlPr>
                            <a:rPr lang="en-US" altLang="ko-KR" i="1">
                              <a:latin typeface="Cambria Math" panose="02040503050406030204" pitchFamily="18" charset="0"/>
                            </a:rPr>
                          </m:ctrlPr>
                        </m:fPr>
                        <m:num>
                          <m:acc>
                            <m:accPr>
                              <m:chr m:val="̂"/>
                              <m:ctrlPr>
                                <a:rPr lang="en-US" altLang="ko-KR" i="1">
                                  <a:latin typeface="Cambria Math" panose="02040503050406030204" pitchFamily="18" charset="0"/>
                                </a:rPr>
                              </m:ctrlPr>
                            </m:accPr>
                            <m:e>
                              <m:sSub>
                                <m:sSubPr>
                                  <m:ctrlPr>
                                    <a:rPr lang="en-US" altLang="ko-KR" i="1">
                                      <a:latin typeface="Cambria Math" panose="02040503050406030204" pitchFamily="18" charset="0"/>
                                    </a:rPr>
                                  </m:ctrlPr>
                                </m:sSubPr>
                                <m:e>
                                  <m:r>
                                    <a:rPr lang="en-US" altLang="ko-KR">
                                      <a:latin typeface="Cambria Math" panose="02040503050406030204" pitchFamily="18" charset="0"/>
                                    </a:rPr>
                                    <m:t>𝛽</m:t>
                                  </m:r>
                                </m:e>
                                <m:sub>
                                  <m:r>
                                    <a:rPr lang="en-US" altLang="ko-KR">
                                      <a:latin typeface="Cambria Math" panose="02040503050406030204" pitchFamily="18" charset="0"/>
                                    </a:rPr>
                                    <m:t>𝑖</m:t>
                                  </m:r>
                                </m:sub>
                              </m:sSub>
                            </m:e>
                          </m:acc>
                        </m:num>
                        <m:den>
                          <m:sSub>
                            <m:sSubPr>
                              <m:ctrlPr>
                                <a:rPr lang="en-US" altLang="ko-KR" i="1">
                                  <a:latin typeface="Cambria Math" panose="02040503050406030204" pitchFamily="18" charset="0"/>
                                </a:rPr>
                              </m:ctrlPr>
                            </m:sSubPr>
                            <m:e>
                              <m:r>
                                <a:rPr lang="en-US" altLang="ko-KR">
                                  <a:latin typeface="Cambria Math" panose="02040503050406030204" pitchFamily="18" charset="0"/>
                                </a:rPr>
                                <m:t>𝑆𝑡𝑎𝑛𝑑𝑎𝑟𝑑</m:t>
                              </m:r>
                              <m:r>
                                <a:rPr lang="en-US" altLang="ko-KR">
                                  <a:latin typeface="Cambria Math" panose="02040503050406030204" pitchFamily="18" charset="0"/>
                                </a:rPr>
                                <m:t> </m:t>
                              </m:r>
                              <m:r>
                                <a:rPr lang="en-US" altLang="ko-KR">
                                  <a:latin typeface="Cambria Math" panose="02040503050406030204" pitchFamily="18" charset="0"/>
                                </a:rPr>
                                <m:t>𝑒𝑟𝑟𝑜𝑟</m:t>
                              </m:r>
                              <m:r>
                                <a:rPr lang="en-US" altLang="ko-KR">
                                  <a:latin typeface="Cambria Math" panose="02040503050406030204" pitchFamily="18" charset="0"/>
                                </a:rPr>
                                <m:t> </m:t>
                              </m:r>
                              <m:r>
                                <a:rPr lang="en-US" altLang="ko-KR">
                                  <a:latin typeface="Cambria Math" panose="02040503050406030204" pitchFamily="18" charset="0"/>
                                </a:rPr>
                                <m:t>𝑜𝑓</m:t>
                              </m:r>
                              <m:r>
                                <a:rPr lang="en-US" altLang="ko-KR">
                                  <a:latin typeface="Cambria Math" panose="02040503050406030204" pitchFamily="18" charset="0"/>
                                </a:rPr>
                                <m:t> </m:t>
                              </m:r>
                              <m:r>
                                <a:rPr lang="en-US" altLang="ko-KR">
                                  <a:latin typeface="Cambria Math" panose="02040503050406030204" pitchFamily="18" charset="0"/>
                                </a:rPr>
                                <m:t>𝛽</m:t>
                              </m:r>
                            </m:e>
                            <m:sub>
                              <m:r>
                                <a:rPr lang="en-US" altLang="ko-KR">
                                  <a:latin typeface="Cambria Math" panose="02040503050406030204" pitchFamily="18" charset="0"/>
                                </a:rPr>
                                <m:t>𝑖</m:t>
                              </m:r>
                            </m:sub>
                          </m:sSub>
                        </m:den>
                      </m:f>
                      <m:r>
                        <m:rPr>
                          <m:nor/>
                        </m:rPr>
                        <a:rPr lang="en-US" altLang="ko-KR" dirty="0"/>
                        <m:t>,    </m:t>
                      </m:r>
                      <m:r>
                        <m:rPr>
                          <m:nor/>
                        </m:rPr>
                        <a:rPr lang="en-US" altLang="ko-KR" dirty="0"/>
                        <m:t>where</m:t>
                      </m:r>
                      <m:r>
                        <m:rPr>
                          <m:nor/>
                        </m:rPr>
                        <a:rPr lang="en-US" altLang="ko-KR" dirty="0"/>
                        <m:t> </m:t>
                      </m:r>
                      <m:acc>
                        <m:accPr>
                          <m:chr m:val="̂"/>
                          <m:ctrlPr>
                            <a:rPr lang="en-US" altLang="ko-KR" i="1">
                              <a:latin typeface="Cambria Math" panose="02040503050406030204" pitchFamily="18" charset="0"/>
                            </a:rPr>
                          </m:ctrlPr>
                        </m:accPr>
                        <m:e>
                          <m:sSub>
                            <m:sSubPr>
                              <m:ctrlPr>
                                <a:rPr lang="en-US" altLang="ko-KR" i="1">
                                  <a:latin typeface="Cambria Math" panose="02040503050406030204" pitchFamily="18" charset="0"/>
                                </a:rPr>
                              </m:ctrlPr>
                            </m:sSubPr>
                            <m:e>
                              <m:r>
                                <a:rPr lang="en-US" altLang="ko-KR">
                                  <a:latin typeface="Cambria Math" panose="02040503050406030204" pitchFamily="18" charset="0"/>
                                </a:rPr>
                                <m:t>𝛽</m:t>
                              </m:r>
                            </m:e>
                            <m:sub>
                              <m:r>
                                <a:rPr lang="en-US" altLang="ko-KR">
                                  <a:latin typeface="Cambria Math" panose="02040503050406030204" pitchFamily="18" charset="0"/>
                                </a:rPr>
                                <m:t>𝑖</m:t>
                              </m:r>
                            </m:sub>
                          </m:sSub>
                        </m:e>
                      </m:acc>
                      <m:r>
                        <a:rPr lang="en-US" altLang="ko-KR">
                          <a:latin typeface="Cambria Math" panose="02040503050406030204" pitchFamily="18" charset="0"/>
                        </a:rPr>
                        <m:t>=</m:t>
                      </m:r>
                      <m:r>
                        <m:rPr>
                          <m:nor/>
                        </m:rPr>
                        <a:rPr lang="en-US" altLang="ko-KR" dirty="0"/>
                        <m:t> </m:t>
                      </m:r>
                      <m:r>
                        <m:rPr>
                          <m:nor/>
                        </m:rPr>
                        <a:rPr lang="en-US" altLang="ko-KR" dirty="0"/>
                        <m:t>estimated</m:t>
                      </m:r>
                      <m:r>
                        <m:rPr>
                          <m:nor/>
                        </m:rPr>
                        <a:rPr lang="en-US" altLang="ko-KR" dirty="0"/>
                        <m:t> </m:t>
                      </m:r>
                      <m:r>
                        <m:rPr>
                          <m:nor/>
                        </m:rPr>
                        <a:rPr lang="en-US" altLang="ko-KR" dirty="0"/>
                        <m:t>coefficient</m:t>
                      </m:r>
                      <m:r>
                        <m:rPr>
                          <m:nor/>
                        </m:rPr>
                        <a:rPr lang="en-US" altLang="ko-KR" dirty="0"/>
                        <m:t>.</m:t>
                      </m:r>
                    </m:oMath>
                  </m:oMathPara>
                </a14:m>
                <a:endParaRPr lang="en-US" altLang="ko-KR" dirty="0"/>
              </a:p>
            </p:txBody>
          </p:sp>
        </mc:Choice>
        <mc:Fallback xmlns="">
          <p:sp>
            <p:nvSpPr>
              <p:cNvPr id="8" name="내용 개체 틀 2">
                <a:extLst>
                  <a:ext uri="{FF2B5EF4-FFF2-40B4-BE49-F238E27FC236}">
                    <a16:creationId xmlns:a16="http://schemas.microsoft.com/office/drawing/2014/main" xmlns="" xmlns:a14="http://schemas.microsoft.com/office/drawing/2010/main" id="{22627A52-F401-4DE7-999B-D9746F5693AA}"/>
                  </a:ext>
                </a:extLst>
              </p:cNvPr>
              <p:cNvSpPr txBox="1">
                <a:spLocks noRot="1" noChangeAspect="1" noMove="1" noResize="1" noEditPoints="1" noAdjustHandles="1" noChangeArrowheads="1" noChangeShapeType="1" noTextEdit="1"/>
              </p:cNvSpPr>
              <p:nvPr/>
            </p:nvSpPr>
            <p:spPr>
              <a:xfrm>
                <a:off x="2134427" y="2524426"/>
                <a:ext cx="5437391" cy="746166"/>
              </a:xfrm>
              <a:prstGeom prst="rect">
                <a:avLst/>
              </a:prstGeom>
              <a:blipFill rotWithShape="0">
                <a:blip r:embed="rId4"/>
                <a:stretch>
                  <a:fillRect/>
                </a:stretch>
              </a:blipFill>
              <a:ln>
                <a:noFill/>
              </a:ln>
            </p:spPr>
            <p:txBody>
              <a:bodyPr/>
              <a:lstStyle/>
              <a:p>
                <a:r>
                  <a:rPr lang="ko-KR" altLang="en-US">
                    <a:noFill/>
                  </a:rPr>
                  <a:t> </a:t>
                </a:r>
              </a:p>
            </p:txBody>
          </p:sp>
        </mc:Fallback>
      </mc:AlternateContent>
      <p:sp>
        <p:nvSpPr>
          <p:cNvPr id="12" name="직사각형 11">
            <a:extLst>
              <a:ext uri="{FF2B5EF4-FFF2-40B4-BE49-F238E27FC236}">
                <a16:creationId xmlns:a16="http://schemas.microsoft.com/office/drawing/2014/main" id="{7589D0E7-E999-4C47-8E99-20109E6DC1C5}"/>
              </a:ext>
            </a:extLst>
          </p:cNvPr>
          <p:cNvSpPr/>
          <p:nvPr/>
        </p:nvSpPr>
        <p:spPr>
          <a:xfrm>
            <a:off x="671261" y="1700808"/>
            <a:ext cx="8632825" cy="25717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Null hypothesis         </a:t>
            </a:r>
            <a:r>
              <a:rPr lang="ko-KR" altLang="en-US" sz="1300" dirty="0">
                <a:solidFill>
                  <a:prstClr val="black">
                    <a:lumMod val="85000"/>
                    <a:lumOff val="15000"/>
                  </a:prstClr>
                </a:solidFill>
                <a:latin typeface="SamsungOne 400" panose="020B0503030303020204" pitchFamily="34" charset="0"/>
              </a:rPr>
              <a:t>𝑯𝟎</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ko-KR" altLang="en-US" sz="1300" dirty="0">
                <a:solidFill>
                  <a:prstClr val="black">
                    <a:lumMod val="85000"/>
                    <a:lumOff val="15000"/>
                  </a:prstClr>
                </a:solidFill>
                <a:latin typeface="SamsungOne 400" panose="020B0503030303020204" pitchFamily="34" charset="0"/>
              </a:rPr>
              <a:t>𝛽𝑖</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=0</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Alternate hypothesis </a:t>
            </a:r>
            <a:r>
              <a:rPr lang="ko-KR" altLang="en-US" sz="1300" dirty="0">
                <a:solidFill>
                  <a:prstClr val="black">
                    <a:lumMod val="85000"/>
                    <a:lumOff val="15000"/>
                  </a:prstClr>
                </a:solidFill>
                <a:latin typeface="SamsungOne 400" panose="020B0503030303020204" pitchFamily="34" charset="0"/>
              </a:rPr>
              <a:t>𝑯𝟏</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ko-KR" altLang="en-US" sz="1300" dirty="0">
                <a:solidFill>
                  <a:prstClr val="black">
                    <a:lumMod val="85000"/>
                    <a:lumOff val="15000"/>
                  </a:prstClr>
                </a:solidFill>
                <a:latin typeface="SamsungOne 400" panose="020B0503030303020204" pitchFamily="34" charset="0"/>
              </a:rPr>
              <a:t>𝛽𝑖≠</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0</a:t>
            </a:r>
          </a:p>
          <a:p>
            <a:pPr marL="182563" indent="-182563">
              <a:spcAft>
                <a:spcPts val="800"/>
              </a:spcAft>
              <a:buClr>
                <a:srgbClr val="193EB0"/>
              </a:buClr>
              <a:buFont typeface="SamsungOne 400" panose="020B0503030303020204" pitchFamily="34" charset="0"/>
              <a:buChar char="‣"/>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a:spcBef>
                <a:spcPts val="800"/>
              </a:spcBef>
              <a:spcAft>
                <a:spcPts val="800"/>
              </a:spcAft>
              <a:buClr>
                <a:srgbClr val="193EB0"/>
              </a:buClr>
            </a:pPr>
            <a:r>
              <a:rPr lang="ko-KR" altLang="en-US" sz="1300" dirty="0">
                <a:solidFill>
                  <a:prstClr val="black">
                    <a:lumMod val="85000"/>
                    <a:lumOff val="15000"/>
                  </a:prstClr>
                </a:solidFill>
                <a:latin typeface="SamsungOne 400" panose="020B0503030303020204" pitchFamily="34" charset="0"/>
                <a:sym typeface="Symbol" panose="05050102010706020507" pitchFamily="18" charset="2"/>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t-test statistic = </a:t>
            </a:r>
          </a:p>
          <a:p>
            <a:pPr marL="285750" indent="-285750">
              <a:spcBef>
                <a:spcPts val="800"/>
              </a:spcBef>
              <a:spcAft>
                <a:spcPts val="800"/>
              </a:spcAft>
              <a:buClr>
                <a:srgbClr val="193EB0"/>
              </a:buClr>
              <a:buFont typeface="Symbol" panose="05050102010706020507" pitchFamily="18" charset="2"/>
              <a:buChar char="Ü"/>
            </a:pP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a:spcBef>
                <a:spcPts val="800"/>
              </a:spcBef>
              <a:spcAft>
                <a:spcPts val="800"/>
              </a:spcAft>
              <a:buClr>
                <a:srgbClr val="193EB0"/>
              </a:buClr>
            </a:pPr>
            <a:r>
              <a:rPr lang="ko-KR" altLang="en-US" sz="1300" dirty="0">
                <a:solidFill>
                  <a:prstClr val="black">
                    <a:lumMod val="85000"/>
                    <a:lumOff val="15000"/>
                  </a:prstClr>
                </a:solidFill>
                <a:latin typeface="SamsungOne 400" panose="020B0503030303020204" pitchFamily="34" charset="0"/>
                <a:sym typeface="Symbol" panose="05050102010706020507" pitchFamily="18" charset="2"/>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If the p-value is below a reference (say 0.05), then </a:t>
            </a:r>
            <a:r>
              <a:rPr lang="ko-KR" altLang="en-US" sz="1300" dirty="0">
                <a:solidFill>
                  <a:prstClr val="black">
                    <a:lumMod val="85000"/>
                    <a:lumOff val="15000"/>
                  </a:prstClr>
                </a:solidFill>
                <a:latin typeface="SamsungOne 400" panose="020B0503030303020204" pitchFamily="34" charset="0"/>
              </a:rPr>
              <a:t>𝑯𝟎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is rejected in favor of </a:t>
            </a:r>
            <a:r>
              <a:rPr lang="ko-KR" altLang="en-US" sz="1300" dirty="0">
                <a:solidFill>
                  <a:prstClr val="black">
                    <a:lumMod val="85000"/>
                    <a:lumOff val="15000"/>
                  </a:prstClr>
                </a:solidFill>
                <a:latin typeface="SamsungOne 400" panose="020B0503030303020204" pitchFamily="34" charset="0"/>
              </a:rPr>
              <a:t>𝑯𝟏</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a:spcBef>
                <a:spcPts val="800"/>
              </a:spcBef>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In this case, inclusion of the explanatory variable </a:t>
            </a:r>
            <a:r>
              <a:rPr lang="ko-KR" altLang="en-US" sz="1300" dirty="0">
                <a:solidFill>
                  <a:prstClr val="black">
                    <a:lumMod val="85000"/>
                    <a:lumOff val="15000"/>
                  </a:prstClr>
                </a:solidFill>
                <a:latin typeface="SamsungOne 400" panose="020B0503030303020204" pitchFamily="34" charset="0"/>
              </a:rPr>
              <a:t>𝑋𝑖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is justified.</a:t>
            </a:r>
          </a:p>
        </p:txBody>
      </p:sp>
    </p:spTree>
    <p:extLst>
      <p:ext uri="{BB962C8B-B14F-4D97-AF65-F5344CB8AC3E}">
        <p14:creationId xmlns:p14="http://schemas.microsoft.com/office/powerpoint/2010/main" val="163526973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2.3. Linear Regression Diagnostics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mc:AlternateContent xmlns:mc="http://schemas.openxmlformats.org/markup-compatibility/2006" xmlns:a14="http://schemas.microsoft.com/office/drawing/2010/main">
        <mc:Choice Requires="a14">
          <p:sp>
            <p:nvSpPr>
              <p:cNvPr id="9" name="직사각형 8">
                <a:extLst>
                  <a:ext uri="{FF2B5EF4-FFF2-40B4-BE49-F238E27FC236}">
                    <a16:creationId xmlns:a16="http://schemas.microsoft.com/office/drawing/2014/main" id="{FB4F96C9-7484-4D21-BBEA-0901BDAC067D}"/>
                  </a:ext>
                </a:extLst>
              </p:cNvPr>
              <p:cNvSpPr/>
              <p:nvPr/>
            </p:nvSpPr>
            <p:spPr>
              <a:xfrm>
                <a:off x="558924" y="1428745"/>
                <a:ext cx="9180558" cy="2212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Correlation between </a:t>
                </a:r>
                <a14:m>
                  <m:oMath xmlns:m="http://schemas.openxmlformats.org/officeDocument/2006/math">
                    <m:r>
                      <a:rPr lang="en-US" altLang="ko-KR" sz="1400" dirty="0" smtClean="0">
                        <a:solidFill>
                          <a:schemeClr val="tx1"/>
                        </a:solidFill>
                        <a:latin typeface="Cambria Math" panose="02040503050406030204" pitchFamily="18" charset="0"/>
                      </a:rPr>
                      <m:t>𝑌</m:t>
                    </m:r>
                  </m:oMath>
                </a14:m>
                <a:r>
                  <a:rPr lang="ko-KR" altLang="en-US" sz="1400" dirty="0">
                    <a:solidFill>
                      <a:schemeClr val="tx1"/>
                    </a:solidFill>
                    <a:latin typeface="SamsungOne 400" panose="020B0503030303020204" pitchFamily="34" charset="0"/>
                  </a:rPr>
                  <a:t> </a:t>
                </a:r>
                <a:r>
                  <a:rPr lang="en-US" altLang="ko-KR" sz="1400" dirty="0">
                    <a:solidFill>
                      <a:schemeClr val="tx1"/>
                    </a:solidFill>
                    <a:latin typeface="SamsungOne 400" panose="020B0503030303020204" pitchFamily="34" charset="0"/>
                    <a:ea typeface="SamsungOne 400" panose="020B0503030303020204" pitchFamily="34" charset="0"/>
                  </a:rPr>
                  <a:t>and </a:t>
                </a:r>
                <a14:m>
                  <m:oMath xmlns:m="http://schemas.openxmlformats.org/officeDocument/2006/math">
                    <m:acc>
                      <m:accPr>
                        <m:chr m:val="̂"/>
                        <m:ctrlPr>
                          <a:rPr lang="en-US" altLang="ko-KR" sz="1400" i="1" smtClean="0">
                            <a:solidFill>
                              <a:schemeClr val="tx1"/>
                            </a:solidFill>
                            <a:latin typeface="Cambria Math" panose="02040503050406030204" pitchFamily="18" charset="0"/>
                          </a:rPr>
                        </m:ctrlPr>
                      </m:accPr>
                      <m:e>
                        <m:r>
                          <a:rPr lang="en-US" altLang="ko-KR" sz="1400">
                            <a:solidFill>
                              <a:schemeClr val="tx1"/>
                            </a:solidFill>
                            <a:latin typeface="Cambria Math" panose="02040503050406030204" pitchFamily="18" charset="0"/>
                          </a:rPr>
                          <m:t>𝑌</m:t>
                        </m:r>
                      </m:e>
                    </m:acc>
                    <m:r>
                      <a:rPr lang="en-US" altLang="ko-KR" sz="1400" i="1">
                        <a:solidFill>
                          <a:schemeClr val="tx1"/>
                        </a:solidFill>
                        <a:latin typeface="Cambria Math" panose="02040503050406030204" pitchFamily="18" charset="0"/>
                      </a:rPr>
                      <m:t> </m:t>
                    </m:r>
                  </m:oMath>
                </a14:m>
                <a:r>
                  <a:rPr lang="ko-KR" altLang="en-US" sz="1400" dirty="0">
                    <a:solidFill>
                      <a:schemeClr val="tx1"/>
                    </a:solidFill>
                    <a:latin typeface="SamsungOne 400" panose="020B0503030303020204" pitchFamily="34" charset="0"/>
                  </a:rPr>
                  <a:t> </a:t>
                </a:r>
                <a:endParaRPr lang="en-US" altLang="ko-KR" sz="1400" dirty="0">
                  <a:solidFill>
                    <a:schemeClr val="tx1"/>
                  </a:solidFill>
                  <a:latin typeface="SamsungOne 400" panose="020B0503030303020204" pitchFamily="34" charset="0"/>
                  <a:ea typeface="SamsungOne 400" panose="020B0503030303020204" pitchFamily="34" charset="0"/>
                </a:endParaRPr>
              </a:p>
            </p:txBody>
          </p:sp>
        </mc:Choice>
        <mc:Fallback xmlns="">
          <p:sp>
            <p:nvSpPr>
              <p:cNvPr id="9" name="직사각형 8">
                <a:extLst>
                  <a:ext uri="{FF2B5EF4-FFF2-40B4-BE49-F238E27FC236}">
                    <a16:creationId xmlns:a16="http://schemas.microsoft.com/office/drawing/2014/main" id="{FB4F96C9-7484-4D21-BBEA-0901BDAC067D}"/>
                  </a:ext>
                </a:extLst>
              </p:cNvPr>
              <p:cNvSpPr>
                <a:spLocks noRot="1" noChangeAspect="1" noMove="1" noResize="1" noEditPoints="1" noAdjustHandles="1" noChangeArrowheads="1" noChangeShapeType="1" noTextEdit="1"/>
              </p:cNvSpPr>
              <p:nvPr/>
            </p:nvSpPr>
            <p:spPr>
              <a:xfrm>
                <a:off x="558924" y="1428745"/>
                <a:ext cx="9180558" cy="221279"/>
              </a:xfrm>
              <a:prstGeom prst="rect">
                <a:avLst/>
              </a:prstGeom>
              <a:blipFill>
                <a:blip r:embed="rId4"/>
                <a:stretch>
                  <a:fillRect l="-199"/>
                </a:stretch>
              </a:blipFill>
              <a:ln>
                <a:noFill/>
              </a:ln>
            </p:spPr>
            <p:txBody>
              <a:bodyPr/>
              <a:lstStyle/>
              <a:p>
                <a:r>
                  <a:rPr lang="ko-KR" altLang="en-US">
                    <a:noFill/>
                  </a:rPr>
                  <a:t> </a:t>
                </a:r>
              </a:p>
            </p:txBody>
          </p:sp>
        </mc:Fallback>
      </mc:AlternateContent>
      <p:grpSp>
        <p:nvGrpSpPr>
          <p:cNvPr id="2" name="그룹 1">
            <a:extLst>
              <a:ext uri="{FF2B5EF4-FFF2-40B4-BE49-F238E27FC236}">
                <a16:creationId xmlns:a16="http://schemas.microsoft.com/office/drawing/2014/main" id="{D2D88647-36A4-4B47-A41A-CD64C13B443D}"/>
              </a:ext>
            </a:extLst>
          </p:cNvPr>
          <p:cNvGrpSpPr/>
          <p:nvPr/>
        </p:nvGrpSpPr>
        <p:grpSpPr>
          <a:xfrm>
            <a:off x="1483709" y="2132856"/>
            <a:ext cx="6988000" cy="3119104"/>
            <a:chOff x="1483709" y="1773238"/>
            <a:chExt cx="6988000" cy="3119104"/>
          </a:xfrm>
        </p:grpSpPr>
        <p:grpSp>
          <p:nvGrpSpPr>
            <p:cNvPr id="10" name="그룹 9">
              <a:extLst>
                <a:ext uri="{FF2B5EF4-FFF2-40B4-BE49-F238E27FC236}">
                  <a16:creationId xmlns:a16="http://schemas.microsoft.com/office/drawing/2014/main" id="{61613B0D-2001-4073-B39A-ED28DD8F1045}"/>
                </a:ext>
              </a:extLst>
            </p:cNvPr>
            <p:cNvGrpSpPr/>
            <p:nvPr/>
          </p:nvGrpSpPr>
          <p:grpSpPr>
            <a:xfrm>
              <a:off x="5647076" y="1773238"/>
              <a:ext cx="2605383" cy="2721640"/>
              <a:chOff x="5647076" y="2780485"/>
              <a:chExt cx="2605383" cy="2721640"/>
            </a:xfrm>
          </p:grpSpPr>
          <p:grpSp>
            <p:nvGrpSpPr>
              <p:cNvPr id="11" name="그룹 10">
                <a:extLst>
                  <a:ext uri="{FF2B5EF4-FFF2-40B4-BE49-F238E27FC236}">
                    <a16:creationId xmlns:a16="http://schemas.microsoft.com/office/drawing/2014/main" id="{325797A2-216F-4854-A7C5-35B9A0F9CB5B}"/>
                  </a:ext>
                </a:extLst>
              </p:cNvPr>
              <p:cNvGrpSpPr/>
              <p:nvPr/>
            </p:nvGrpSpPr>
            <p:grpSpPr>
              <a:xfrm>
                <a:off x="5647076" y="2780485"/>
                <a:ext cx="2605383" cy="2721640"/>
                <a:chOff x="1682045" y="2052347"/>
                <a:chExt cx="2851855" cy="2979109"/>
              </a:xfrm>
            </p:grpSpPr>
            <p:grpSp>
              <p:nvGrpSpPr>
                <p:cNvPr id="28" name="그룹 27">
                  <a:extLst>
                    <a:ext uri="{FF2B5EF4-FFF2-40B4-BE49-F238E27FC236}">
                      <a16:creationId xmlns:a16="http://schemas.microsoft.com/office/drawing/2014/main" id="{FD62952D-3791-49C4-AA29-DCE44A8F72DC}"/>
                    </a:ext>
                  </a:extLst>
                </p:cNvPr>
                <p:cNvGrpSpPr/>
                <p:nvPr/>
              </p:nvGrpSpPr>
              <p:grpSpPr>
                <a:xfrm>
                  <a:off x="2117473" y="2237014"/>
                  <a:ext cx="2340429" cy="2280558"/>
                  <a:chOff x="2084614" y="1638300"/>
                  <a:chExt cx="2340429" cy="2280558"/>
                </a:xfrm>
              </p:grpSpPr>
              <p:cxnSp>
                <p:nvCxnSpPr>
                  <p:cNvPr id="31" name="직선 화살표 연결선 30">
                    <a:extLst>
                      <a:ext uri="{FF2B5EF4-FFF2-40B4-BE49-F238E27FC236}">
                        <a16:creationId xmlns:a16="http://schemas.microsoft.com/office/drawing/2014/main" id="{FDFF20EC-8437-41FE-95E3-A2CB2A5EDEB4}"/>
                      </a:ext>
                    </a:extLst>
                  </p:cNvPr>
                  <p:cNvCxnSpPr>
                    <a:cxnSpLocks/>
                  </p:cNvCxnSpPr>
                  <p:nvPr/>
                </p:nvCxnSpPr>
                <p:spPr>
                  <a:xfrm>
                    <a:off x="2084614" y="3918858"/>
                    <a:ext cx="2340429" cy="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직선 화살표 연결선 31">
                    <a:extLst>
                      <a:ext uri="{FF2B5EF4-FFF2-40B4-BE49-F238E27FC236}">
                        <a16:creationId xmlns:a16="http://schemas.microsoft.com/office/drawing/2014/main" id="{F7BB2263-31CF-4F2E-B51A-660CC442A768}"/>
                      </a:ext>
                    </a:extLst>
                  </p:cNvPr>
                  <p:cNvCxnSpPr>
                    <a:cxnSpLocks/>
                  </p:cNvCxnSpPr>
                  <p:nvPr/>
                </p:nvCxnSpPr>
                <p:spPr>
                  <a:xfrm flipV="1">
                    <a:off x="2084614" y="1638300"/>
                    <a:ext cx="0" cy="2280558"/>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FCC1633-5940-43AA-8BD8-BC1038CFA376}"/>
                        </a:ext>
                      </a:extLst>
                    </p:cNvPr>
                    <p:cNvSpPr txBox="1"/>
                    <p:nvPr/>
                  </p:nvSpPr>
                  <p:spPr>
                    <a:xfrm>
                      <a:off x="4098472" y="4569352"/>
                      <a:ext cx="435428" cy="462104"/>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600">
                          <a:solidFill>
                            <a:srgbClr val="FF0000"/>
                          </a:solidFill>
                          <a:latin typeface="SamsungOne 700" panose="020B0803030303020204" pitchFamily="34" charset="0"/>
                          <a:ea typeface="SamsungOne 700" panose="020B0803030303020204" pitchFamily="34" charset="0"/>
                        </a:defRPr>
                      </a:lvl1pPr>
                    </a:lstStyle>
                    <a:p>
                      <a:pPr/>
                      <a14:m>
                        <m:oMathPara xmlns:m="http://schemas.openxmlformats.org/officeDocument/2006/math">
                          <m:oMathParaPr>
                            <m:jc m:val="centerGroup"/>
                          </m:oMathParaPr>
                          <m:oMath xmlns:m="http://schemas.openxmlformats.org/officeDocument/2006/math">
                            <m:acc>
                              <m:accPr>
                                <m:chr m:val="̂"/>
                                <m:ctrlPr>
                                  <a:rPr lang="en-US" altLang="ko-KR" i="1">
                                    <a:latin typeface="Cambria Math" panose="02040503050406030204" pitchFamily="18" charset="0"/>
                                  </a:rPr>
                                </m:ctrlPr>
                              </m:accPr>
                              <m:e>
                                <m:r>
                                  <a:rPr lang="en-US" altLang="ko-KR">
                                    <a:latin typeface="Cambria Math" panose="02040503050406030204" pitchFamily="18" charset="0"/>
                                  </a:rPr>
                                  <m:t>𝑌</m:t>
                                </m:r>
                              </m:e>
                            </m:acc>
                          </m:oMath>
                        </m:oMathPara>
                      </a14:m>
                      <a:endParaRPr lang="ko-KR" altLang="en-US" dirty="0"/>
                    </a:p>
                  </p:txBody>
                </p:sp>
              </mc:Choice>
              <mc:Fallback xmlns="">
                <p:sp>
                  <p:nvSpPr>
                    <p:cNvPr id="83" name="TextBox 82">
                      <a:extLst>
                        <a:ext uri="{FF2B5EF4-FFF2-40B4-BE49-F238E27FC236}">
                          <a16:creationId xmlns:a16="http://schemas.microsoft.com/office/drawing/2014/main" id="{83D25A98-2999-46F7-AD32-64588820BD0D}"/>
                        </a:ext>
                      </a:extLst>
                    </p:cNvPr>
                    <p:cNvSpPr txBox="1">
                      <a:spLocks noRot="1" noChangeAspect="1" noMove="1" noResize="1" noEditPoints="1" noAdjustHandles="1" noChangeArrowheads="1" noChangeShapeType="1" noTextEdit="1"/>
                    </p:cNvSpPr>
                    <p:nvPr/>
                  </p:nvSpPr>
                  <p:spPr>
                    <a:xfrm>
                      <a:off x="4098472" y="4569352"/>
                      <a:ext cx="435428" cy="462104"/>
                    </a:xfrm>
                    <a:prstGeom prst="rect">
                      <a:avLst/>
                    </a:prstGeom>
                    <a:blipFill>
                      <a:blip r:embed="rId9"/>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7CF928D-47D1-4033-B8C2-0CB62A857BDE}"/>
                        </a:ext>
                      </a:extLst>
                    </p:cNvPr>
                    <p:cNvSpPr txBox="1"/>
                    <p:nvPr/>
                  </p:nvSpPr>
                  <p:spPr>
                    <a:xfrm>
                      <a:off x="1682045" y="2052347"/>
                      <a:ext cx="435428" cy="454804"/>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600">
                          <a:solidFill>
                            <a:srgbClr val="193EB0"/>
                          </a:solidFill>
                          <a:latin typeface="SamsungOne 700" panose="020B0803030303020204" pitchFamily="34" charset="0"/>
                          <a:ea typeface="SamsungOne 700" panose="020B0803030303020204" pitchFamily="34" charset="0"/>
                        </a:defRPr>
                      </a:lvl1pPr>
                    </a:lstStyle>
                    <a:p>
                      <a:pPr/>
                      <a14:m>
                        <m:oMathPara xmlns:m="http://schemas.openxmlformats.org/officeDocument/2006/math">
                          <m:oMathParaPr>
                            <m:jc m:val="centerGroup"/>
                          </m:oMathParaPr>
                          <m:oMath xmlns:m="http://schemas.openxmlformats.org/officeDocument/2006/math">
                            <m:r>
                              <a:rPr lang="en-US" altLang="ko-KR" dirty="0">
                                <a:latin typeface="Cambria Math" panose="02040503050406030204" pitchFamily="18" charset="0"/>
                              </a:rPr>
                              <m:t>𝑌</m:t>
                            </m:r>
                          </m:oMath>
                        </m:oMathPara>
                      </a14:m>
                      <a:endParaRPr lang="ko-KR" altLang="en-US" dirty="0"/>
                    </a:p>
                  </p:txBody>
                </p:sp>
              </mc:Choice>
              <mc:Fallback xmlns="">
                <p:sp>
                  <p:nvSpPr>
                    <p:cNvPr id="84" name="TextBox 83">
                      <a:extLst>
                        <a:ext uri="{FF2B5EF4-FFF2-40B4-BE49-F238E27FC236}">
                          <a16:creationId xmlns:a16="http://schemas.microsoft.com/office/drawing/2014/main" id="{FADE4AB5-6E35-4449-B0C3-12809E1CAAEB}"/>
                        </a:ext>
                      </a:extLst>
                    </p:cNvPr>
                    <p:cNvSpPr txBox="1">
                      <a:spLocks noRot="1" noChangeAspect="1" noMove="1" noResize="1" noEditPoints="1" noAdjustHandles="1" noChangeArrowheads="1" noChangeShapeType="1" noTextEdit="1"/>
                    </p:cNvSpPr>
                    <p:nvPr/>
                  </p:nvSpPr>
                  <p:spPr>
                    <a:xfrm>
                      <a:off x="1682045" y="2052347"/>
                      <a:ext cx="435428" cy="454804"/>
                    </a:xfrm>
                    <a:prstGeom prst="rect">
                      <a:avLst/>
                    </a:prstGeom>
                    <a:blipFill>
                      <a:blip r:embed="rId10"/>
                      <a:stretch>
                        <a:fillRect/>
                      </a:stretch>
                    </a:blipFill>
                  </p:spPr>
                  <p:txBody>
                    <a:bodyPr/>
                    <a:lstStyle/>
                    <a:p>
                      <a:r>
                        <a:rPr lang="ko-KR" altLang="en-US">
                          <a:noFill/>
                        </a:rPr>
                        <a:t> </a:t>
                      </a:r>
                    </a:p>
                  </p:txBody>
                </p:sp>
              </mc:Fallback>
            </mc:AlternateContent>
          </p:grpSp>
          <p:sp>
            <p:nvSpPr>
              <p:cNvPr id="13" name="타원 12">
                <a:extLst>
                  <a:ext uri="{FF2B5EF4-FFF2-40B4-BE49-F238E27FC236}">
                    <a16:creationId xmlns:a16="http://schemas.microsoft.com/office/drawing/2014/main" id="{7308B4B4-C024-439E-B86A-93BD29F2B677}"/>
                  </a:ext>
                </a:extLst>
              </p:cNvPr>
              <p:cNvSpPr/>
              <p:nvPr/>
            </p:nvSpPr>
            <p:spPr>
              <a:xfrm>
                <a:off x="6273274" y="4702790"/>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a:extLst>
                  <a:ext uri="{FF2B5EF4-FFF2-40B4-BE49-F238E27FC236}">
                    <a16:creationId xmlns:a16="http://schemas.microsoft.com/office/drawing/2014/main" id="{B01C6C49-ADC1-4284-A80A-7B83FEB06550}"/>
                  </a:ext>
                </a:extLst>
              </p:cNvPr>
              <p:cNvSpPr/>
              <p:nvPr/>
            </p:nvSpPr>
            <p:spPr>
              <a:xfrm>
                <a:off x="6526676" y="4498790"/>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a:extLst>
                  <a:ext uri="{FF2B5EF4-FFF2-40B4-BE49-F238E27FC236}">
                    <a16:creationId xmlns:a16="http://schemas.microsoft.com/office/drawing/2014/main" id="{C2AC5830-49E2-455E-A5A0-417D08945248}"/>
                  </a:ext>
                </a:extLst>
              </p:cNvPr>
              <p:cNvSpPr/>
              <p:nvPr/>
            </p:nvSpPr>
            <p:spPr>
              <a:xfrm>
                <a:off x="6789693" y="4280131"/>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타원 15">
                <a:extLst>
                  <a:ext uri="{FF2B5EF4-FFF2-40B4-BE49-F238E27FC236}">
                    <a16:creationId xmlns:a16="http://schemas.microsoft.com/office/drawing/2014/main" id="{8DEA6780-B895-4167-88E5-6FD8284104FF}"/>
                  </a:ext>
                </a:extLst>
              </p:cNvPr>
              <p:cNvSpPr/>
              <p:nvPr/>
            </p:nvSpPr>
            <p:spPr>
              <a:xfrm>
                <a:off x="7137764" y="3990923"/>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타원 16">
                <a:extLst>
                  <a:ext uri="{FF2B5EF4-FFF2-40B4-BE49-F238E27FC236}">
                    <a16:creationId xmlns:a16="http://schemas.microsoft.com/office/drawing/2014/main" id="{E70193C9-941A-4D5A-9299-7AA2AC482CDF}"/>
                  </a:ext>
                </a:extLst>
              </p:cNvPr>
              <p:cNvSpPr/>
              <p:nvPr/>
            </p:nvSpPr>
            <p:spPr>
              <a:xfrm>
                <a:off x="7440697" y="3729065"/>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타원 17">
                <a:extLst>
                  <a:ext uri="{FF2B5EF4-FFF2-40B4-BE49-F238E27FC236}">
                    <a16:creationId xmlns:a16="http://schemas.microsoft.com/office/drawing/2014/main" id="{9217F125-877F-4BDC-8491-BD6460030D67}"/>
                  </a:ext>
                </a:extLst>
              </p:cNvPr>
              <p:cNvSpPr/>
              <p:nvPr/>
            </p:nvSpPr>
            <p:spPr>
              <a:xfrm>
                <a:off x="6948996" y="4145875"/>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타원 18">
                <a:extLst>
                  <a:ext uri="{FF2B5EF4-FFF2-40B4-BE49-F238E27FC236}">
                    <a16:creationId xmlns:a16="http://schemas.microsoft.com/office/drawing/2014/main" id="{2774FB0D-4DE0-4C5C-8EA6-FBAF5E6A1D9E}"/>
                  </a:ext>
                </a:extLst>
              </p:cNvPr>
              <p:cNvSpPr/>
              <p:nvPr/>
            </p:nvSpPr>
            <p:spPr>
              <a:xfrm>
                <a:off x="7309314" y="3842649"/>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a:extLst>
                  <a:ext uri="{FF2B5EF4-FFF2-40B4-BE49-F238E27FC236}">
                    <a16:creationId xmlns:a16="http://schemas.microsoft.com/office/drawing/2014/main" id="{941C0EC4-A5EF-4A7D-8D1C-B273569DD3D4}"/>
                  </a:ext>
                </a:extLst>
              </p:cNvPr>
              <p:cNvSpPr/>
              <p:nvPr/>
            </p:nvSpPr>
            <p:spPr>
              <a:xfrm>
                <a:off x="6422347" y="4578774"/>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타원 20">
                <a:extLst>
                  <a:ext uri="{FF2B5EF4-FFF2-40B4-BE49-F238E27FC236}">
                    <a16:creationId xmlns:a16="http://schemas.microsoft.com/office/drawing/2014/main" id="{9363F022-046E-4E1A-AAF5-0D4A9E9E3BE3}"/>
                  </a:ext>
                </a:extLst>
              </p:cNvPr>
              <p:cNvSpPr/>
              <p:nvPr/>
            </p:nvSpPr>
            <p:spPr>
              <a:xfrm>
                <a:off x="7712083" y="3508178"/>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a:extLst>
                  <a:ext uri="{FF2B5EF4-FFF2-40B4-BE49-F238E27FC236}">
                    <a16:creationId xmlns:a16="http://schemas.microsoft.com/office/drawing/2014/main" id="{D468635B-A2B3-4B36-85ED-32BAA47E0FEC}"/>
                  </a:ext>
                </a:extLst>
              </p:cNvPr>
              <p:cNvSpPr/>
              <p:nvPr/>
            </p:nvSpPr>
            <p:spPr>
              <a:xfrm>
                <a:off x="7560423" y="3623084"/>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5C3118D9-2AE5-4DA9-B8F3-99549E64E1CD}"/>
                  </a:ext>
                </a:extLst>
              </p:cNvPr>
              <p:cNvSpPr/>
              <p:nvPr/>
            </p:nvSpPr>
            <p:spPr>
              <a:xfrm>
                <a:off x="7904388" y="3361913"/>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7" name="직선 연결선 26">
                <a:extLst>
                  <a:ext uri="{FF2B5EF4-FFF2-40B4-BE49-F238E27FC236}">
                    <a16:creationId xmlns:a16="http://schemas.microsoft.com/office/drawing/2014/main" id="{C2570D06-6823-4209-80E4-5B5DC13A254C}"/>
                  </a:ext>
                </a:extLst>
              </p:cNvPr>
              <p:cNvCxnSpPr>
                <a:cxnSpLocks/>
              </p:cNvCxnSpPr>
              <p:nvPr/>
            </p:nvCxnSpPr>
            <p:spPr>
              <a:xfrm flipV="1">
                <a:off x="6255511" y="3310864"/>
                <a:ext cx="1764505" cy="1467856"/>
              </a:xfrm>
              <a:prstGeom prst="line">
                <a:avLst/>
              </a:prstGeom>
              <a:ln>
                <a:solidFill>
                  <a:srgbClr val="193EB0"/>
                </a:solidFill>
                <a:prstDash val="dash"/>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7523AE39-340F-480A-B79D-21F4F27A03A5}"/>
                </a:ext>
              </a:extLst>
            </p:cNvPr>
            <p:cNvSpPr txBox="1"/>
            <p:nvPr/>
          </p:nvSpPr>
          <p:spPr>
            <a:xfrm>
              <a:off x="5716969" y="4596332"/>
              <a:ext cx="2754740" cy="292388"/>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r>
                <a:rPr lang="en-US" altLang="ko-KR" dirty="0">
                  <a:solidFill>
                    <a:srgbClr val="193EB0"/>
                  </a:solidFill>
                </a:rPr>
                <a:t>Strong positive correlation</a:t>
              </a:r>
              <a:endParaRPr lang="ko-KR" altLang="en-US" dirty="0">
                <a:solidFill>
                  <a:srgbClr val="193EB0"/>
                </a:solidFill>
              </a:endParaRPr>
            </a:p>
          </p:txBody>
        </p:sp>
        <p:grpSp>
          <p:nvGrpSpPr>
            <p:cNvPr id="34" name="그룹 33">
              <a:extLst>
                <a:ext uri="{FF2B5EF4-FFF2-40B4-BE49-F238E27FC236}">
                  <a16:creationId xmlns:a16="http://schemas.microsoft.com/office/drawing/2014/main" id="{1164F6C7-0974-4C17-B6C2-AFC44F6958C5}"/>
                </a:ext>
              </a:extLst>
            </p:cNvPr>
            <p:cNvGrpSpPr/>
            <p:nvPr/>
          </p:nvGrpSpPr>
          <p:grpSpPr>
            <a:xfrm>
              <a:off x="1483709" y="1775479"/>
              <a:ext cx="2605384" cy="2721639"/>
              <a:chOff x="1239943" y="2782726"/>
              <a:chExt cx="2605384" cy="2721639"/>
            </a:xfrm>
          </p:grpSpPr>
          <p:grpSp>
            <p:nvGrpSpPr>
              <p:cNvPr id="35" name="그룹 34">
                <a:extLst>
                  <a:ext uri="{FF2B5EF4-FFF2-40B4-BE49-F238E27FC236}">
                    <a16:creationId xmlns:a16="http://schemas.microsoft.com/office/drawing/2014/main" id="{307A4CF9-F01E-4074-99CA-E9F2E415AE68}"/>
                  </a:ext>
                </a:extLst>
              </p:cNvPr>
              <p:cNvGrpSpPr/>
              <p:nvPr/>
            </p:nvGrpSpPr>
            <p:grpSpPr>
              <a:xfrm>
                <a:off x="1239943" y="2782726"/>
                <a:ext cx="2605384" cy="2721639"/>
                <a:chOff x="1682045" y="2052347"/>
                <a:chExt cx="2851855" cy="2979109"/>
              </a:xfrm>
            </p:grpSpPr>
            <p:grpSp>
              <p:nvGrpSpPr>
                <p:cNvPr id="58" name="그룹 57">
                  <a:extLst>
                    <a:ext uri="{FF2B5EF4-FFF2-40B4-BE49-F238E27FC236}">
                      <a16:creationId xmlns:a16="http://schemas.microsoft.com/office/drawing/2014/main" id="{B3CB3141-D696-4B0E-99A4-0C231DCC454B}"/>
                    </a:ext>
                  </a:extLst>
                </p:cNvPr>
                <p:cNvGrpSpPr/>
                <p:nvPr/>
              </p:nvGrpSpPr>
              <p:grpSpPr>
                <a:xfrm>
                  <a:off x="2117473" y="2237014"/>
                  <a:ext cx="2340429" cy="2280558"/>
                  <a:chOff x="2084614" y="1638300"/>
                  <a:chExt cx="2340429" cy="2280558"/>
                </a:xfrm>
              </p:grpSpPr>
              <p:cxnSp>
                <p:nvCxnSpPr>
                  <p:cNvPr id="61" name="직선 화살표 연결선 60">
                    <a:extLst>
                      <a:ext uri="{FF2B5EF4-FFF2-40B4-BE49-F238E27FC236}">
                        <a16:creationId xmlns:a16="http://schemas.microsoft.com/office/drawing/2014/main" id="{1AEA8B59-CB6E-456E-BE7C-D0EEB80B9CA7}"/>
                      </a:ext>
                    </a:extLst>
                  </p:cNvPr>
                  <p:cNvCxnSpPr>
                    <a:cxnSpLocks/>
                  </p:cNvCxnSpPr>
                  <p:nvPr/>
                </p:nvCxnSpPr>
                <p:spPr>
                  <a:xfrm>
                    <a:off x="2084614" y="3918858"/>
                    <a:ext cx="2340429" cy="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직선 화살표 연결선 61">
                    <a:extLst>
                      <a:ext uri="{FF2B5EF4-FFF2-40B4-BE49-F238E27FC236}">
                        <a16:creationId xmlns:a16="http://schemas.microsoft.com/office/drawing/2014/main" id="{15B57C10-C016-4641-BB1E-D78811A779C9}"/>
                      </a:ext>
                    </a:extLst>
                  </p:cNvPr>
                  <p:cNvCxnSpPr>
                    <a:cxnSpLocks/>
                  </p:cNvCxnSpPr>
                  <p:nvPr/>
                </p:nvCxnSpPr>
                <p:spPr>
                  <a:xfrm flipV="1">
                    <a:off x="2084614" y="1638300"/>
                    <a:ext cx="0" cy="2280558"/>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A0850365-AE06-464A-9249-738CA95472B6}"/>
                        </a:ext>
                      </a:extLst>
                    </p:cNvPr>
                    <p:cNvSpPr txBox="1"/>
                    <p:nvPr/>
                  </p:nvSpPr>
                  <p:spPr>
                    <a:xfrm>
                      <a:off x="4098472" y="4569352"/>
                      <a:ext cx="435428" cy="462104"/>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600">
                          <a:solidFill>
                            <a:srgbClr val="193EB0"/>
                          </a:solidFill>
                          <a:latin typeface="SamsungOne 700" panose="020B0803030303020204" pitchFamily="34" charset="0"/>
                          <a:ea typeface="SamsungOne 700" panose="020B0803030303020204" pitchFamily="34" charset="0"/>
                        </a:defRPr>
                      </a:lvl1pPr>
                    </a:lstStyle>
                    <a:p>
                      <a:pPr/>
                      <a14:m>
                        <m:oMathPara xmlns:m="http://schemas.openxmlformats.org/officeDocument/2006/math">
                          <m:oMathParaPr>
                            <m:jc m:val="centerGroup"/>
                          </m:oMathParaPr>
                          <m:oMath xmlns:m="http://schemas.openxmlformats.org/officeDocument/2006/math">
                            <m:acc>
                              <m:accPr>
                                <m:chr m:val="̂"/>
                                <m:ctrlPr>
                                  <a:rPr lang="en-US" altLang="ko-KR" i="1" smtClean="0">
                                    <a:solidFill>
                                      <a:srgbClr val="FF0000"/>
                                    </a:solidFill>
                                    <a:latin typeface="Cambria Math" panose="02040503050406030204" pitchFamily="18" charset="0"/>
                                  </a:rPr>
                                </m:ctrlPr>
                              </m:accPr>
                              <m:e>
                                <m:r>
                                  <a:rPr lang="en-US" altLang="ko-KR">
                                    <a:solidFill>
                                      <a:srgbClr val="FF0000"/>
                                    </a:solidFill>
                                    <a:latin typeface="Cambria Math" panose="02040503050406030204" pitchFamily="18" charset="0"/>
                                  </a:rPr>
                                  <m:t>𝑌</m:t>
                                </m:r>
                              </m:e>
                            </m:acc>
                          </m:oMath>
                        </m:oMathPara>
                      </a14:m>
                      <a:endParaRPr lang="ko-KR" altLang="en-US" dirty="0">
                        <a:solidFill>
                          <a:srgbClr val="FF0000"/>
                        </a:solidFill>
                      </a:endParaRPr>
                    </a:p>
                  </p:txBody>
                </p:sp>
              </mc:Choice>
              <mc:Fallback xmlns="">
                <p:sp>
                  <p:nvSpPr>
                    <p:cNvPr id="113" name="TextBox 112">
                      <a:extLst>
                        <a:ext uri="{FF2B5EF4-FFF2-40B4-BE49-F238E27FC236}">
                          <a16:creationId xmlns:a16="http://schemas.microsoft.com/office/drawing/2014/main" id="{D3BBFB86-A6AF-49E4-B087-0C44543293B4}"/>
                        </a:ext>
                      </a:extLst>
                    </p:cNvPr>
                    <p:cNvSpPr txBox="1">
                      <a:spLocks noRot="1" noChangeAspect="1" noMove="1" noResize="1" noEditPoints="1" noAdjustHandles="1" noChangeArrowheads="1" noChangeShapeType="1" noTextEdit="1"/>
                    </p:cNvSpPr>
                    <p:nvPr/>
                  </p:nvSpPr>
                  <p:spPr>
                    <a:xfrm>
                      <a:off x="4098472" y="4569352"/>
                      <a:ext cx="435428" cy="462104"/>
                    </a:xfrm>
                    <a:prstGeom prst="rect">
                      <a:avLst/>
                    </a:prstGeom>
                    <a:blipFill>
                      <a:blip r:embed="rId11"/>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F177A61B-5694-4F56-8150-9D3748F547C4}"/>
                        </a:ext>
                      </a:extLst>
                    </p:cNvPr>
                    <p:cNvSpPr txBox="1"/>
                    <p:nvPr/>
                  </p:nvSpPr>
                  <p:spPr>
                    <a:xfrm>
                      <a:off x="1682045" y="2052347"/>
                      <a:ext cx="435428" cy="404271"/>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pPr/>
                      <a14:m>
                        <m:oMathPara xmlns:m="http://schemas.openxmlformats.org/officeDocument/2006/math">
                          <m:oMathParaPr>
                            <m:jc m:val="centerGroup"/>
                          </m:oMathParaPr>
                          <m:oMath xmlns:m="http://schemas.openxmlformats.org/officeDocument/2006/math">
                            <m:r>
                              <a:rPr lang="en-US" altLang="ko-KR" sz="1600" dirty="0" smtClean="0">
                                <a:solidFill>
                                  <a:srgbClr val="193EB0"/>
                                </a:solidFill>
                                <a:latin typeface="Cambria Math" panose="02040503050406030204" pitchFamily="18" charset="0"/>
                              </a:rPr>
                              <m:t>𝑌</m:t>
                            </m:r>
                          </m:oMath>
                        </m:oMathPara>
                      </a14:m>
                      <a:endParaRPr lang="ko-KR" altLang="en-US" sz="1600" dirty="0">
                        <a:solidFill>
                          <a:srgbClr val="193EB0"/>
                        </a:solidFill>
                      </a:endParaRPr>
                    </a:p>
                  </p:txBody>
                </p:sp>
              </mc:Choice>
              <mc:Fallback xmlns="">
                <p:sp>
                  <p:nvSpPr>
                    <p:cNvPr id="114" name="TextBox 113">
                      <a:extLst>
                        <a:ext uri="{FF2B5EF4-FFF2-40B4-BE49-F238E27FC236}">
                          <a16:creationId xmlns:a16="http://schemas.microsoft.com/office/drawing/2014/main" id="{B77756D9-6E80-41BD-A3B0-17972D1CB1D4}"/>
                        </a:ext>
                      </a:extLst>
                    </p:cNvPr>
                    <p:cNvSpPr txBox="1">
                      <a:spLocks noRot="1" noChangeAspect="1" noMove="1" noResize="1" noEditPoints="1" noAdjustHandles="1" noChangeArrowheads="1" noChangeShapeType="1" noTextEdit="1"/>
                    </p:cNvSpPr>
                    <p:nvPr/>
                  </p:nvSpPr>
                  <p:spPr>
                    <a:xfrm>
                      <a:off x="1682045" y="2052347"/>
                      <a:ext cx="435428" cy="404271"/>
                    </a:xfrm>
                    <a:prstGeom prst="rect">
                      <a:avLst/>
                    </a:prstGeom>
                    <a:blipFill>
                      <a:blip r:embed="rId12"/>
                      <a:stretch>
                        <a:fillRect/>
                      </a:stretch>
                    </a:blipFill>
                  </p:spPr>
                  <p:txBody>
                    <a:bodyPr/>
                    <a:lstStyle/>
                    <a:p>
                      <a:r>
                        <a:rPr lang="ko-KR" altLang="en-US">
                          <a:noFill/>
                        </a:rPr>
                        <a:t> </a:t>
                      </a:r>
                    </a:p>
                  </p:txBody>
                </p:sp>
              </mc:Fallback>
            </mc:AlternateContent>
          </p:grpSp>
          <p:cxnSp>
            <p:nvCxnSpPr>
              <p:cNvPr id="36" name="직선 연결선 35">
                <a:extLst>
                  <a:ext uri="{FF2B5EF4-FFF2-40B4-BE49-F238E27FC236}">
                    <a16:creationId xmlns:a16="http://schemas.microsoft.com/office/drawing/2014/main" id="{30BE0192-523E-4100-AD1A-36879F5A86D7}"/>
                  </a:ext>
                </a:extLst>
              </p:cNvPr>
              <p:cNvCxnSpPr>
                <a:cxnSpLocks/>
              </p:cNvCxnSpPr>
              <p:nvPr/>
            </p:nvCxnSpPr>
            <p:spPr>
              <a:xfrm flipV="1">
                <a:off x="1876563" y="3364154"/>
                <a:ext cx="1764505" cy="1467856"/>
              </a:xfrm>
              <a:prstGeom prst="line">
                <a:avLst/>
              </a:prstGeom>
              <a:ln>
                <a:solidFill>
                  <a:srgbClr val="193EB0"/>
                </a:solidFill>
                <a:prstDash val="dash"/>
              </a:ln>
            </p:spPr>
            <p:style>
              <a:lnRef idx="1">
                <a:schemeClr val="accent1"/>
              </a:lnRef>
              <a:fillRef idx="0">
                <a:schemeClr val="accent1"/>
              </a:fillRef>
              <a:effectRef idx="0">
                <a:schemeClr val="accent1"/>
              </a:effectRef>
              <a:fontRef idx="minor">
                <a:schemeClr val="tx1"/>
              </a:fontRef>
            </p:style>
          </p:cxnSp>
          <p:sp>
            <p:nvSpPr>
              <p:cNvPr id="37" name="타원 36">
                <a:extLst>
                  <a:ext uri="{FF2B5EF4-FFF2-40B4-BE49-F238E27FC236}">
                    <a16:creationId xmlns:a16="http://schemas.microsoft.com/office/drawing/2014/main" id="{5C941852-A746-4A39-BA92-1C1A2E748DC9}"/>
                  </a:ext>
                </a:extLst>
              </p:cNvPr>
              <p:cNvSpPr/>
              <p:nvPr/>
            </p:nvSpPr>
            <p:spPr>
              <a:xfrm>
                <a:off x="1840761" y="4617059"/>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6747D6DE-9EB8-4FBB-9D1A-BD78AE742183}"/>
                  </a:ext>
                </a:extLst>
              </p:cNvPr>
              <p:cNvSpPr/>
              <p:nvPr/>
            </p:nvSpPr>
            <p:spPr>
              <a:xfrm>
                <a:off x="2258137" y="4216595"/>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타원 38">
                <a:extLst>
                  <a:ext uri="{FF2B5EF4-FFF2-40B4-BE49-F238E27FC236}">
                    <a16:creationId xmlns:a16="http://schemas.microsoft.com/office/drawing/2014/main" id="{9951C401-4511-48B1-A79C-0E56ECAA86A2}"/>
                  </a:ext>
                </a:extLst>
              </p:cNvPr>
              <p:cNvSpPr/>
              <p:nvPr/>
            </p:nvSpPr>
            <p:spPr>
              <a:xfrm>
                <a:off x="2447201" y="4348150"/>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1DF5F1B9-1C97-44AE-A1A0-5333DDD0051D}"/>
                  </a:ext>
                </a:extLst>
              </p:cNvPr>
              <p:cNvSpPr/>
              <p:nvPr/>
            </p:nvSpPr>
            <p:spPr>
              <a:xfrm>
                <a:off x="2822749" y="4282064"/>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타원 40">
                <a:extLst>
                  <a:ext uri="{FF2B5EF4-FFF2-40B4-BE49-F238E27FC236}">
                    <a16:creationId xmlns:a16="http://schemas.microsoft.com/office/drawing/2014/main" id="{9F2F7F26-6A17-4CD0-BC88-824AC1745A98}"/>
                  </a:ext>
                </a:extLst>
              </p:cNvPr>
              <p:cNvSpPr/>
              <p:nvPr/>
            </p:nvSpPr>
            <p:spPr>
              <a:xfrm>
                <a:off x="3385587" y="3274725"/>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086DD367-90E7-46CF-8756-7B98079FD56A}"/>
                  </a:ext>
                </a:extLst>
              </p:cNvPr>
              <p:cNvSpPr/>
              <p:nvPr/>
            </p:nvSpPr>
            <p:spPr>
              <a:xfrm>
                <a:off x="2460592" y="3830074"/>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타원 42">
                <a:extLst>
                  <a:ext uri="{FF2B5EF4-FFF2-40B4-BE49-F238E27FC236}">
                    <a16:creationId xmlns:a16="http://schemas.microsoft.com/office/drawing/2014/main" id="{1BCE1ED5-CC67-48EA-83B9-E38CDD4CB1F6}"/>
                  </a:ext>
                </a:extLst>
              </p:cNvPr>
              <p:cNvSpPr/>
              <p:nvPr/>
            </p:nvSpPr>
            <p:spPr>
              <a:xfrm>
                <a:off x="3033563" y="3779113"/>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E48CC56E-7C8B-4441-B56E-EDC476C6DE87}"/>
                  </a:ext>
                </a:extLst>
              </p:cNvPr>
              <p:cNvSpPr/>
              <p:nvPr/>
            </p:nvSpPr>
            <p:spPr>
              <a:xfrm>
                <a:off x="2144226" y="4672143"/>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타원 44">
                <a:extLst>
                  <a:ext uri="{FF2B5EF4-FFF2-40B4-BE49-F238E27FC236}">
                    <a16:creationId xmlns:a16="http://schemas.microsoft.com/office/drawing/2014/main" id="{D50DF352-F486-4FC4-8B3A-4AED0AEAA06F}"/>
                  </a:ext>
                </a:extLst>
              </p:cNvPr>
              <p:cNvSpPr/>
              <p:nvPr/>
            </p:nvSpPr>
            <p:spPr>
              <a:xfrm>
                <a:off x="3150169" y="4114106"/>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45">
                <a:extLst>
                  <a:ext uri="{FF2B5EF4-FFF2-40B4-BE49-F238E27FC236}">
                    <a16:creationId xmlns:a16="http://schemas.microsoft.com/office/drawing/2014/main" id="{847181E5-5245-4A91-BCD0-87F985AA0C0C}"/>
                  </a:ext>
                </a:extLst>
              </p:cNvPr>
              <p:cNvSpPr/>
              <p:nvPr/>
            </p:nvSpPr>
            <p:spPr>
              <a:xfrm>
                <a:off x="2855070" y="3659550"/>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타원 46">
                <a:extLst>
                  <a:ext uri="{FF2B5EF4-FFF2-40B4-BE49-F238E27FC236}">
                    <a16:creationId xmlns:a16="http://schemas.microsoft.com/office/drawing/2014/main" id="{2850DE83-A66A-499F-80D2-E08FCB70FFF1}"/>
                  </a:ext>
                </a:extLst>
              </p:cNvPr>
              <p:cNvSpPr/>
              <p:nvPr/>
            </p:nvSpPr>
            <p:spPr>
              <a:xfrm>
                <a:off x="3471990" y="3752985"/>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타원 47">
                <a:extLst>
                  <a:ext uri="{FF2B5EF4-FFF2-40B4-BE49-F238E27FC236}">
                    <a16:creationId xmlns:a16="http://schemas.microsoft.com/office/drawing/2014/main" id="{475172A2-61C6-404A-A6C6-12D76013D5C3}"/>
                  </a:ext>
                </a:extLst>
              </p:cNvPr>
              <p:cNvSpPr/>
              <p:nvPr/>
            </p:nvSpPr>
            <p:spPr>
              <a:xfrm>
                <a:off x="2178693" y="4502297"/>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9F782C5A-35B1-4CF7-B9B4-E4CDA94479D3}"/>
                  </a:ext>
                </a:extLst>
              </p:cNvPr>
              <p:cNvSpPr/>
              <p:nvPr/>
            </p:nvSpPr>
            <p:spPr>
              <a:xfrm>
                <a:off x="2554240" y="4436212"/>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타원 49">
                <a:extLst>
                  <a:ext uri="{FF2B5EF4-FFF2-40B4-BE49-F238E27FC236}">
                    <a16:creationId xmlns:a16="http://schemas.microsoft.com/office/drawing/2014/main" id="{071BA271-0C8E-4B10-B583-77518438FEFC}"/>
                  </a:ext>
                </a:extLst>
              </p:cNvPr>
              <p:cNvSpPr/>
              <p:nvPr/>
            </p:nvSpPr>
            <p:spPr>
              <a:xfrm>
                <a:off x="3117078" y="3428873"/>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타원 50">
                <a:extLst>
                  <a:ext uri="{FF2B5EF4-FFF2-40B4-BE49-F238E27FC236}">
                    <a16:creationId xmlns:a16="http://schemas.microsoft.com/office/drawing/2014/main" id="{C2E78009-61F8-42A7-B25E-2F96BB38813E}"/>
                  </a:ext>
                </a:extLst>
              </p:cNvPr>
              <p:cNvSpPr/>
              <p:nvPr/>
            </p:nvSpPr>
            <p:spPr>
              <a:xfrm>
                <a:off x="2192083" y="3984221"/>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타원 51">
                <a:extLst>
                  <a:ext uri="{FF2B5EF4-FFF2-40B4-BE49-F238E27FC236}">
                    <a16:creationId xmlns:a16="http://schemas.microsoft.com/office/drawing/2014/main" id="{85DE7E2A-7E9E-4BF8-A036-3266406CE79D}"/>
                  </a:ext>
                </a:extLst>
              </p:cNvPr>
              <p:cNvSpPr/>
              <p:nvPr/>
            </p:nvSpPr>
            <p:spPr>
              <a:xfrm>
                <a:off x="2765054" y="3933260"/>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타원 52">
                <a:extLst>
                  <a:ext uri="{FF2B5EF4-FFF2-40B4-BE49-F238E27FC236}">
                    <a16:creationId xmlns:a16="http://schemas.microsoft.com/office/drawing/2014/main" id="{CC284484-D659-49D7-B74A-A72278E2628B}"/>
                  </a:ext>
                </a:extLst>
              </p:cNvPr>
              <p:cNvSpPr/>
              <p:nvPr/>
            </p:nvSpPr>
            <p:spPr>
              <a:xfrm>
                <a:off x="2881660" y="4268254"/>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타원 53">
                <a:extLst>
                  <a:ext uri="{FF2B5EF4-FFF2-40B4-BE49-F238E27FC236}">
                    <a16:creationId xmlns:a16="http://schemas.microsoft.com/office/drawing/2014/main" id="{35DE6A17-647C-4D94-8D3B-34FD73EC64CF}"/>
                  </a:ext>
                </a:extLst>
              </p:cNvPr>
              <p:cNvSpPr/>
              <p:nvPr/>
            </p:nvSpPr>
            <p:spPr>
              <a:xfrm>
                <a:off x="2586561" y="3813697"/>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타원 54">
                <a:extLst>
                  <a:ext uri="{FF2B5EF4-FFF2-40B4-BE49-F238E27FC236}">
                    <a16:creationId xmlns:a16="http://schemas.microsoft.com/office/drawing/2014/main" id="{165FB390-4DB5-4A45-A311-14DDA5E3034D}"/>
                  </a:ext>
                </a:extLst>
              </p:cNvPr>
              <p:cNvSpPr/>
              <p:nvPr/>
            </p:nvSpPr>
            <p:spPr>
              <a:xfrm>
                <a:off x="3203482" y="3907132"/>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타원 55">
                <a:extLst>
                  <a:ext uri="{FF2B5EF4-FFF2-40B4-BE49-F238E27FC236}">
                    <a16:creationId xmlns:a16="http://schemas.microsoft.com/office/drawing/2014/main" id="{4B6E0F2D-6215-4182-8B38-4FB693091EED}"/>
                  </a:ext>
                </a:extLst>
              </p:cNvPr>
              <p:cNvSpPr/>
              <p:nvPr/>
            </p:nvSpPr>
            <p:spPr>
              <a:xfrm>
                <a:off x="3611219" y="3519275"/>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타원 56">
                <a:extLst>
                  <a:ext uri="{FF2B5EF4-FFF2-40B4-BE49-F238E27FC236}">
                    <a16:creationId xmlns:a16="http://schemas.microsoft.com/office/drawing/2014/main" id="{B6192357-376B-4F95-8194-01068E8E50FF}"/>
                  </a:ext>
                </a:extLst>
              </p:cNvPr>
              <p:cNvSpPr/>
              <p:nvPr/>
            </p:nvSpPr>
            <p:spPr>
              <a:xfrm>
                <a:off x="2042908" y="4372079"/>
                <a:ext cx="64642" cy="65777"/>
              </a:xfrm>
              <a:prstGeom prst="ellipse">
                <a:avLst/>
              </a:prstGeom>
              <a:solidFill>
                <a:srgbClr val="FF0000">
                  <a:alpha val="5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3" name="TextBox 62">
              <a:extLst>
                <a:ext uri="{FF2B5EF4-FFF2-40B4-BE49-F238E27FC236}">
                  <a16:creationId xmlns:a16="http://schemas.microsoft.com/office/drawing/2014/main" id="{6BF789DD-4A45-4387-A9AA-3BED410EE9B4}"/>
                </a:ext>
              </a:extLst>
            </p:cNvPr>
            <p:cNvSpPr txBox="1"/>
            <p:nvPr/>
          </p:nvSpPr>
          <p:spPr>
            <a:xfrm>
              <a:off x="1605234" y="4599954"/>
              <a:ext cx="2754740" cy="292388"/>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300">
                  <a:solidFill>
                    <a:srgbClr val="262626"/>
                  </a:solidFill>
                  <a:latin typeface="SamsungOne 700" panose="020B0803030303020204" pitchFamily="34" charset="0"/>
                  <a:ea typeface="SamsungOne 700" panose="020B0803030303020204" pitchFamily="34" charset="0"/>
                </a:defRPr>
              </a:lvl1pPr>
            </a:lstStyle>
            <a:p>
              <a:r>
                <a:rPr lang="en-US" altLang="ko-KR" dirty="0">
                  <a:solidFill>
                    <a:srgbClr val="193EB0"/>
                  </a:solidFill>
                </a:rPr>
                <a:t>Weak positive correlation</a:t>
              </a:r>
              <a:endParaRPr lang="ko-KR" altLang="en-US" dirty="0">
                <a:solidFill>
                  <a:srgbClr val="193EB0"/>
                </a:solidFill>
              </a:endParaRPr>
            </a:p>
          </p:txBody>
        </p:sp>
        <p:sp>
          <p:nvSpPr>
            <p:cNvPr id="64" name="TextBox 63">
              <a:extLst>
                <a:ext uri="{FF2B5EF4-FFF2-40B4-BE49-F238E27FC236}">
                  <a16:creationId xmlns:a16="http://schemas.microsoft.com/office/drawing/2014/main" id="{18B352E8-AE69-4D2E-A1C2-798A34D470FA}"/>
                </a:ext>
              </a:extLst>
            </p:cNvPr>
            <p:cNvSpPr txBox="1"/>
            <p:nvPr/>
          </p:nvSpPr>
          <p:spPr>
            <a:xfrm>
              <a:off x="4622429" y="2607159"/>
              <a:ext cx="672834" cy="338554"/>
            </a:xfrm>
            <a:prstGeom prst="rect">
              <a:avLst/>
            </a:prstGeom>
            <a:noFill/>
          </p:spPr>
          <p:txBody>
            <a:bodyPr wrap="square" lIns="0" tIns="0" rIns="0" bIns="0" rtlCol="0" anchor="ctr">
              <a:noAutofit/>
              <a:scene3d>
                <a:camera prst="orthographicFront"/>
                <a:lightRig rig="threePt" dir="t"/>
              </a:scene3d>
              <a:sp3d>
                <a:bevelT w="0" h="6350"/>
              </a:sp3d>
            </a:bodyPr>
            <a:lstStyle>
              <a:defPPr>
                <a:defRPr lang="en-US"/>
              </a:defPPr>
              <a:lvl1pPr algn="ctr">
                <a:spcAft>
                  <a:spcPts val="600"/>
                </a:spcAft>
                <a:defRPr sz="1600">
                  <a:solidFill>
                    <a:srgbClr val="FF0000"/>
                  </a:solidFill>
                  <a:latin typeface="SamsungOne 700" panose="020B0803030303020204" pitchFamily="34" charset="0"/>
                  <a:ea typeface="SamsungOne 700" panose="020B0803030303020204" pitchFamily="34" charset="0"/>
                </a:defRPr>
              </a:lvl1pPr>
            </a:lstStyle>
            <a:p>
              <a:r>
                <a:rPr lang="en-US" altLang="ko-KR" sz="4000" dirty="0"/>
                <a:t>&lt;</a:t>
              </a:r>
              <a:endParaRPr lang="ko-KR" altLang="en-US" sz="4000" dirty="0"/>
            </a:p>
          </p:txBody>
        </p:sp>
      </p:grpSp>
    </p:spTree>
    <p:extLst>
      <p:ext uri="{BB962C8B-B14F-4D97-AF65-F5344CB8AC3E}">
        <p14:creationId xmlns:p14="http://schemas.microsoft.com/office/powerpoint/2010/main" val="253518415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2.3. Linear Regression Diagnostics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9" name="직사각형 8">
            <a:extLst>
              <a:ext uri="{FF2B5EF4-FFF2-40B4-BE49-F238E27FC236}">
                <a16:creationId xmlns:a16="http://schemas.microsoft.com/office/drawing/2014/main" id="{FB4F96C9-7484-4D21-BBEA-0901BDAC067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Variance inflation factor (VIF)</a:t>
            </a:r>
          </a:p>
        </p:txBody>
      </p:sp>
      <p:sp>
        <p:nvSpPr>
          <p:cNvPr id="12" name="직사각형 11">
            <a:extLst>
              <a:ext uri="{FF2B5EF4-FFF2-40B4-BE49-F238E27FC236}">
                <a16:creationId xmlns:a16="http://schemas.microsoft.com/office/drawing/2014/main" id="{7589D0E7-E999-4C47-8E99-20109E6DC1C5}"/>
              </a:ext>
            </a:extLst>
          </p:cNvPr>
          <p:cNvSpPr/>
          <p:nvPr/>
        </p:nvSpPr>
        <p:spPr>
          <a:xfrm>
            <a:off x="671261" y="1700808"/>
            <a:ext cx="863282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Can measure the “seriousness” of multi-collinearity.</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 general,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𝑉𝐼𝐹</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&gt;10 is considered serious. However, this reference point is rather subjective.</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 case serious multi-collinearity is detected, model simplification is required.</a:t>
            </a:r>
          </a:p>
        </p:txBody>
      </p:sp>
    </p:spTree>
    <p:extLst>
      <p:ext uri="{BB962C8B-B14F-4D97-AF65-F5344CB8AC3E}">
        <p14:creationId xmlns:p14="http://schemas.microsoft.com/office/powerpoint/2010/main" val="331858981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2.3. Linear Regression Diagnostics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9" name="직사각형 8">
            <a:extLst>
              <a:ext uri="{FF2B5EF4-FFF2-40B4-BE49-F238E27FC236}">
                <a16:creationId xmlns:a16="http://schemas.microsoft.com/office/drawing/2014/main" id="{FB4F96C9-7484-4D21-BBEA-0901BDAC067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Variance inflation factor (VIF)</a:t>
            </a:r>
          </a:p>
        </p:txBody>
      </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7589D0E7-E999-4C47-8E99-20109E6DC1C5}"/>
                  </a:ext>
                </a:extLst>
              </p:cNvPr>
              <p:cNvSpPr/>
              <p:nvPr/>
            </p:nvSpPr>
            <p:spPr>
              <a:xfrm>
                <a:off x="671261" y="1700808"/>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VIF is calculated individually for each explanatory variable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𝑋</a:t>
                </a:r>
                <a:r>
                  <a:rPr lang="ko-KR" altLang="en-US" sz="1300" baseline="-25000" dirty="0">
                    <a:solidFill>
                      <a:schemeClr val="tx1">
                        <a:lumMod val="85000"/>
                        <a:lumOff val="15000"/>
                      </a:schemeClr>
                    </a:solidFill>
                    <a:latin typeface="SamsungOne 400" panose="020B0503030303020204" pitchFamily="34" charset="0"/>
                    <a:ea typeface="SamsungOne 400" panose="020B0503030303020204" pitchFamily="34" charset="0"/>
                  </a:rPr>
                  <a:t>𝑖</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a:p>
                <a:pPr marL="180975" lvl="1">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1) Place </a:t>
                </a:r>
                <a14:m>
                  <m:oMath xmlns:m="http://schemas.openxmlformats.org/officeDocument/2006/math">
                    <m:sSub>
                      <m:sSubPr>
                        <m:ctrlPr>
                          <a:rPr lang="en-US" altLang="ko-KR" sz="1300" i="1" smtClean="0">
                            <a:solidFill>
                              <a:schemeClr val="tx1">
                                <a:lumMod val="85000"/>
                                <a:lumOff val="15000"/>
                              </a:schemeClr>
                            </a:solidFill>
                            <a:latin typeface="Cambria Math" panose="02040503050406030204" pitchFamily="18" charset="0"/>
                          </a:rPr>
                        </m:ctrlPr>
                      </m:sSubPr>
                      <m:e>
                        <m:r>
                          <a:rPr lang="en-US" altLang="ko-KR" sz="1300" b="0" i="1" smtClean="0">
                            <a:solidFill>
                              <a:schemeClr val="tx1">
                                <a:lumMod val="85000"/>
                                <a:lumOff val="15000"/>
                              </a:schemeClr>
                            </a:solidFill>
                            <a:latin typeface="Cambria Math" panose="02040503050406030204" pitchFamily="18" charset="0"/>
                          </a:rPr>
                          <m:t>𝑋</m:t>
                        </m:r>
                      </m:e>
                      <m:sub>
                        <m:r>
                          <a:rPr lang="en-US" altLang="ko-KR" sz="1300" b="0" i="1" smtClean="0">
                            <a:solidFill>
                              <a:schemeClr val="tx1">
                                <a:lumMod val="85000"/>
                                <a:lumOff val="15000"/>
                              </a:schemeClr>
                            </a:solidFill>
                            <a:latin typeface="Cambria Math" panose="02040503050406030204" pitchFamily="18" charset="0"/>
                          </a:rPr>
                          <m:t>𝑖</m:t>
                        </m:r>
                      </m:sub>
                    </m:sSub>
                  </m:oMath>
                </a14:m>
                <a:r>
                  <a:rPr lang="ko-KR" altLang="en-US" sz="1300" dirty="0">
                    <a:solidFill>
                      <a:schemeClr val="tx1">
                        <a:lumMod val="85000"/>
                        <a:lumOff val="15000"/>
                      </a:schemeClr>
                    </a:solidFill>
                    <a:latin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as the response and then regress using the expression:</a:t>
                </a:r>
              </a:p>
            </p:txBody>
          </p:sp>
        </mc:Choice>
        <mc:Fallback xmlns="">
          <p:sp>
            <p:nvSpPr>
              <p:cNvPr id="12" name="직사각형 11">
                <a:extLst>
                  <a:ext uri="{FF2B5EF4-FFF2-40B4-BE49-F238E27FC236}">
                    <a16:creationId xmlns:a16="http://schemas.microsoft.com/office/drawing/2014/main" xmlns:a14="http://schemas.microsoft.com/office/drawing/2010/main" xmlns="" id="{7589D0E7-E999-4C47-8E99-20109E6DC1C5}"/>
                  </a:ext>
                </a:extLst>
              </p:cNvPr>
              <p:cNvSpPr>
                <a:spLocks noRot="1" noChangeAspect="1" noMove="1" noResize="1" noEditPoints="1" noAdjustHandles="1" noChangeArrowheads="1" noChangeShapeType="1" noTextEdit="1"/>
              </p:cNvSpPr>
              <p:nvPr/>
            </p:nvSpPr>
            <p:spPr>
              <a:xfrm>
                <a:off x="671261" y="1700808"/>
                <a:ext cx="8632825" cy="648108"/>
              </a:xfrm>
              <a:prstGeom prst="rect">
                <a:avLst/>
              </a:prstGeom>
              <a:blipFill rotWithShape="0">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 name="내용 개체 틀 2">
                <a:extLst>
                  <a:ext uri="{FF2B5EF4-FFF2-40B4-BE49-F238E27FC236}">
                    <a16:creationId xmlns:a16="http://schemas.microsoft.com/office/drawing/2014/main" id="{DFF655E6-EAE5-4C97-9FAC-50B6565FFCA4}"/>
                  </a:ext>
                </a:extLst>
              </p:cNvPr>
              <p:cNvSpPr txBox="1">
                <a:spLocks/>
              </p:cNvSpPr>
              <p:nvPr/>
            </p:nvSpPr>
            <p:spPr>
              <a:xfrm>
                <a:off x="4200273" y="3458618"/>
                <a:ext cx="1357387" cy="4896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14:m>
                  <m:oMath xmlns:m="http://schemas.openxmlformats.org/officeDocument/2006/math">
                    <m:sSub>
                      <m:sSubPr>
                        <m:ctrlPr>
                          <a:rPr lang="en-US" altLang="ko-KR" i="1">
                            <a:latin typeface="Cambria Math" panose="02040503050406030204" pitchFamily="18" charset="0"/>
                          </a:rPr>
                        </m:ctrlPr>
                      </m:sSubPr>
                      <m:e>
                        <m:r>
                          <a:rPr lang="en-US" altLang="ko-KR">
                            <a:latin typeface="Cambria Math" panose="02040503050406030204" pitchFamily="18" charset="0"/>
                          </a:rPr>
                          <m:t>𝑉𝐼𝐹</m:t>
                        </m:r>
                      </m:e>
                      <m:sub>
                        <m:r>
                          <a:rPr lang="en-US" altLang="ko-KR">
                            <a:latin typeface="Cambria Math" panose="02040503050406030204" pitchFamily="18" charset="0"/>
                          </a:rPr>
                          <m:t>𝑖</m:t>
                        </m:r>
                      </m:sub>
                    </m:sSub>
                    <m:r>
                      <a:rPr lang="en-US" altLang="ko-KR">
                        <a:latin typeface="Cambria Math" panose="02040503050406030204" pitchFamily="18" charset="0"/>
                      </a:rPr>
                      <m:t>=</m:t>
                    </m:r>
                    <m:f>
                      <m:fPr>
                        <m:ctrlPr>
                          <a:rPr lang="en-US" altLang="ko-KR" i="1">
                            <a:latin typeface="Cambria Math" panose="02040503050406030204" pitchFamily="18" charset="0"/>
                          </a:rPr>
                        </m:ctrlPr>
                      </m:fPr>
                      <m:num>
                        <m:r>
                          <a:rPr lang="en-US" altLang="ko-KR">
                            <a:latin typeface="Cambria Math" panose="02040503050406030204" pitchFamily="18" charset="0"/>
                          </a:rPr>
                          <m:t>1</m:t>
                        </m:r>
                      </m:num>
                      <m:den>
                        <m:r>
                          <a:rPr lang="en-US" altLang="ko-KR">
                            <a:latin typeface="Cambria Math" panose="02040503050406030204" pitchFamily="18" charset="0"/>
                          </a:rPr>
                          <m:t>1</m:t>
                        </m:r>
                        <m:r>
                          <a:rPr lang="en-US" altLang="ko-KR">
                            <a:latin typeface="Cambria Math" panose="02040503050406030204" pitchFamily="18" charset="0"/>
                          </a:rPr>
                          <m:t>−</m:t>
                        </m:r>
                        <m:sSubSup>
                          <m:sSubSupPr>
                            <m:ctrlPr>
                              <a:rPr lang="en-US" altLang="ko-KR" i="1">
                                <a:latin typeface="Cambria Math" panose="02040503050406030204" pitchFamily="18" charset="0"/>
                                <a:sym typeface="Symbol" panose="05050102010706020507" pitchFamily="18" charset="2"/>
                              </a:rPr>
                            </m:ctrlPr>
                          </m:sSubSupPr>
                          <m:e>
                            <m:r>
                              <a:rPr lang="en-US" altLang="ko-KR">
                                <a:latin typeface="Cambria Math" panose="02040503050406030204" pitchFamily="18" charset="0"/>
                                <a:sym typeface="Symbol" panose="05050102010706020507" pitchFamily="18" charset="2"/>
                              </a:rPr>
                              <m:t>𝑅</m:t>
                            </m:r>
                          </m:e>
                          <m:sub>
                            <m:r>
                              <a:rPr lang="en-US" altLang="ko-KR">
                                <a:latin typeface="Cambria Math" panose="02040503050406030204" pitchFamily="18" charset="0"/>
                                <a:sym typeface="Symbol" panose="05050102010706020507" pitchFamily="18" charset="2"/>
                              </a:rPr>
                              <m:t>𝑖</m:t>
                            </m:r>
                          </m:sub>
                          <m:sup>
                            <m:r>
                              <a:rPr lang="en-US" altLang="ko-KR">
                                <a:latin typeface="Cambria Math" panose="02040503050406030204" pitchFamily="18" charset="0"/>
                                <a:sym typeface="Symbol" panose="05050102010706020507" pitchFamily="18" charset="2"/>
                              </a:rPr>
                              <m:t>2</m:t>
                            </m:r>
                          </m:sup>
                        </m:sSubSup>
                      </m:den>
                    </m:f>
                  </m:oMath>
                </a14:m>
                <a:r>
                  <a:rPr lang="en-US" altLang="ko-KR" dirty="0"/>
                  <a:t> </a:t>
                </a:r>
              </a:p>
            </p:txBody>
          </p:sp>
        </mc:Choice>
        <mc:Fallback xmlns="">
          <p:sp>
            <p:nvSpPr>
              <p:cNvPr id="7" name="내용 개체 틀 2">
                <a:extLst>
                  <a:ext uri="{FF2B5EF4-FFF2-40B4-BE49-F238E27FC236}">
                    <a16:creationId xmlns:a16="http://schemas.microsoft.com/office/drawing/2014/main" id="{DFF655E6-EAE5-4C97-9FAC-50B6565FFCA4}"/>
                  </a:ext>
                </a:extLst>
              </p:cNvPr>
              <p:cNvSpPr txBox="1">
                <a:spLocks noRot="1" noChangeAspect="1" noMove="1" noResize="1" noEditPoints="1" noAdjustHandles="1" noChangeArrowheads="1" noChangeShapeType="1" noTextEdit="1"/>
              </p:cNvSpPr>
              <p:nvPr/>
            </p:nvSpPr>
            <p:spPr>
              <a:xfrm>
                <a:off x="4200273" y="3458618"/>
                <a:ext cx="1357387" cy="489686"/>
              </a:xfrm>
              <a:prstGeom prst="rect">
                <a:avLst/>
              </a:prstGeom>
              <a:blipFill>
                <a:blip r:embed="rId5"/>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내용 개체 틀 2">
                <a:extLst>
                  <a:ext uri="{FF2B5EF4-FFF2-40B4-BE49-F238E27FC236}">
                    <a16:creationId xmlns:a16="http://schemas.microsoft.com/office/drawing/2014/main" id="{AFFC3A3E-5FF7-4A8F-A9E7-5294CDD90AE6}"/>
                  </a:ext>
                </a:extLst>
              </p:cNvPr>
              <p:cNvSpPr txBox="1">
                <a:spLocks/>
              </p:cNvSpPr>
              <p:nvPr/>
            </p:nvSpPr>
            <p:spPr>
              <a:xfrm>
                <a:off x="1777433" y="2421859"/>
                <a:ext cx="5501405" cy="4411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sSub>
                        <m:sSubPr>
                          <m:ctrlPr>
                            <a:rPr lang="ko-KR" altLang="ko-KR" i="1">
                              <a:latin typeface="Cambria Math" panose="02040503050406030204" pitchFamily="18" charset="0"/>
                            </a:rPr>
                          </m:ctrlPr>
                        </m:sSubPr>
                        <m:e>
                          <m:r>
                            <a:rPr lang="en-US" altLang="ko-KR">
                              <a:latin typeface="Cambria Math" panose="02040503050406030204" pitchFamily="18" charset="0"/>
                            </a:rPr>
                            <m:t>𝑋</m:t>
                          </m:r>
                        </m:e>
                        <m:sub>
                          <m:r>
                            <a:rPr lang="en-US" altLang="ko-KR">
                              <a:latin typeface="Cambria Math" panose="02040503050406030204" pitchFamily="18" charset="0"/>
                            </a:rPr>
                            <m:t>𝑖</m:t>
                          </m:r>
                        </m:sub>
                      </m:sSub>
                      <m:r>
                        <a:rPr lang="en-US" altLang="ko-KR">
                          <a:latin typeface="Cambria Math" panose="02040503050406030204" pitchFamily="18" charset="0"/>
                        </a:rPr>
                        <m:t>=</m:t>
                      </m:r>
                      <m:sSub>
                        <m:sSubPr>
                          <m:ctrlPr>
                            <a:rPr lang="ko-KR" altLang="ko-KR" i="1">
                              <a:latin typeface="Cambria Math" panose="02040503050406030204" pitchFamily="18" charset="0"/>
                            </a:rPr>
                          </m:ctrlPr>
                        </m:sSubPr>
                        <m:e>
                          <m:sSub>
                            <m:sSubPr>
                              <m:ctrlPr>
                                <a:rPr lang="ko-KR" altLang="ko-KR" i="1">
                                  <a:latin typeface="Cambria Math" panose="02040503050406030204" pitchFamily="18" charset="0"/>
                                </a:rPr>
                              </m:ctrlPr>
                            </m:sSubPr>
                            <m:e>
                              <m:r>
                                <a:rPr lang="en-US" altLang="ko-KR">
                                  <a:latin typeface="Cambria Math" panose="02040503050406030204" pitchFamily="18" charset="0"/>
                                </a:rPr>
                                <m:t>𝛽</m:t>
                              </m:r>
                            </m:e>
                            <m:sub>
                              <m:r>
                                <a:rPr lang="en-US" altLang="ko-KR">
                                  <a:latin typeface="Cambria Math" panose="02040503050406030204" pitchFamily="18" charset="0"/>
                                </a:rPr>
                                <m:t>0</m:t>
                              </m:r>
                            </m:sub>
                          </m:sSub>
                          <m:r>
                            <a:rPr lang="en-US" altLang="ko-KR">
                              <a:latin typeface="Cambria Math" panose="02040503050406030204" pitchFamily="18" charset="0"/>
                            </a:rPr>
                            <m:t>+</m:t>
                          </m:r>
                          <m:r>
                            <a:rPr lang="en-US" altLang="ko-KR">
                              <a:latin typeface="Cambria Math" panose="02040503050406030204" pitchFamily="18" charset="0"/>
                            </a:rPr>
                            <m:t>𝛽</m:t>
                          </m:r>
                        </m:e>
                        <m:sub>
                          <m:r>
                            <a:rPr lang="en-US" altLang="ko-KR">
                              <a:latin typeface="Cambria Math" panose="02040503050406030204" pitchFamily="18" charset="0"/>
                            </a:rPr>
                            <m:t>1</m:t>
                          </m:r>
                        </m:sub>
                      </m:sSub>
                      <m:sSub>
                        <m:sSubPr>
                          <m:ctrlPr>
                            <a:rPr lang="ko-KR" altLang="ko-KR" i="1">
                              <a:latin typeface="Cambria Math" panose="02040503050406030204" pitchFamily="18" charset="0"/>
                            </a:rPr>
                          </m:ctrlPr>
                        </m:sSubPr>
                        <m:e>
                          <m:r>
                            <a:rPr lang="en-US" altLang="ko-KR">
                              <a:latin typeface="Cambria Math" panose="02040503050406030204" pitchFamily="18" charset="0"/>
                            </a:rPr>
                            <m:t>𝑋</m:t>
                          </m:r>
                        </m:e>
                        <m:sub>
                          <m:r>
                            <a:rPr lang="en-US" altLang="ko-KR">
                              <a:latin typeface="Cambria Math" panose="02040503050406030204" pitchFamily="18" charset="0"/>
                            </a:rPr>
                            <m:t>1</m:t>
                          </m:r>
                        </m:sub>
                      </m:sSub>
                      <m:r>
                        <a:rPr lang="en-US" altLang="ko-KR">
                          <a:latin typeface="Cambria Math" panose="02040503050406030204" pitchFamily="18" charset="0"/>
                        </a:rPr>
                        <m:t>+</m:t>
                      </m:r>
                      <m:sSub>
                        <m:sSubPr>
                          <m:ctrlPr>
                            <a:rPr lang="ko-KR" altLang="ko-KR" i="1">
                              <a:latin typeface="Cambria Math" panose="02040503050406030204" pitchFamily="18" charset="0"/>
                            </a:rPr>
                          </m:ctrlPr>
                        </m:sSubPr>
                        <m:e>
                          <m:r>
                            <a:rPr lang="en-US" altLang="ko-KR">
                              <a:latin typeface="Cambria Math" panose="02040503050406030204" pitchFamily="18" charset="0"/>
                            </a:rPr>
                            <m:t>𝛽</m:t>
                          </m:r>
                        </m:e>
                        <m:sub>
                          <m:r>
                            <a:rPr lang="en-US" altLang="ko-KR">
                              <a:latin typeface="Cambria Math" panose="02040503050406030204" pitchFamily="18" charset="0"/>
                            </a:rPr>
                            <m:t>2</m:t>
                          </m:r>
                        </m:sub>
                      </m:sSub>
                      <m:sSub>
                        <m:sSubPr>
                          <m:ctrlPr>
                            <a:rPr lang="ko-KR" altLang="ko-KR" i="1">
                              <a:latin typeface="Cambria Math" panose="02040503050406030204" pitchFamily="18" charset="0"/>
                            </a:rPr>
                          </m:ctrlPr>
                        </m:sSubPr>
                        <m:e>
                          <m:r>
                            <a:rPr lang="en-US" altLang="ko-KR">
                              <a:latin typeface="Cambria Math" panose="02040503050406030204" pitchFamily="18" charset="0"/>
                            </a:rPr>
                            <m:t>𝑋</m:t>
                          </m:r>
                        </m:e>
                        <m:sub>
                          <m:r>
                            <a:rPr lang="en-US" altLang="ko-KR">
                              <a:latin typeface="Cambria Math" panose="02040503050406030204" pitchFamily="18" charset="0"/>
                            </a:rPr>
                            <m:t>2</m:t>
                          </m:r>
                        </m:sub>
                      </m:sSub>
                      <m:r>
                        <a:rPr lang="en-US" altLang="ko-KR">
                          <a:latin typeface="Cambria Math" panose="02040503050406030204" pitchFamily="18" charset="0"/>
                        </a:rPr>
                        <m:t>+⋯+</m:t>
                      </m:r>
                      <m:sSub>
                        <m:sSubPr>
                          <m:ctrlPr>
                            <a:rPr lang="ko-KR" altLang="ko-KR" i="1">
                              <a:latin typeface="Cambria Math" panose="02040503050406030204" pitchFamily="18" charset="0"/>
                            </a:rPr>
                          </m:ctrlPr>
                        </m:sSubPr>
                        <m:e>
                          <m:r>
                            <a:rPr lang="en-US" altLang="ko-KR">
                              <a:latin typeface="Cambria Math" panose="02040503050406030204" pitchFamily="18" charset="0"/>
                            </a:rPr>
                            <m:t>𝛽</m:t>
                          </m:r>
                        </m:e>
                        <m:sub>
                          <m:r>
                            <a:rPr lang="en-US" altLang="ko-KR" smtClean="0">
                              <a:solidFill>
                                <a:srgbClr val="FF0000"/>
                              </a:solidFill>
                              <a:latin typeface="Cambria Math" panose="02040503050406030204" pitchFamily="18" charset="0"/>
                            </a:rPr>
                            <m:t>𝑖</m:t>
                          </m:r>
                          <m:r>
                            <a:rPr lang="en-US" altLang="ko-KR" smtClean="0">
                              <a:solidFill>
                                <a:srgbClr val="FF0000"/>
                              </a:solidFill>
                              <a:latin typeface="Cambria Math" panose="02040503050406030204" pitchFamily="18" charset="0"/>
                            </a:rPr>
                            <m:t>−</m:t>
                          </m:r>
                          <m:r>
                            <a:rPr lang="en-US" altLang="ko-KR" smtClean="0">
                              <a:solidFill>
                                <a:srgbClr val="FF0000"/>
                              </a:solidFill>
                              <a:latin typeface="Cambria Math" panose="02040503050406030204" pitchFamily="18" charset="0"/>
                            </a:rPr>
                            <m:t>1</m:t>
                          </m:r>
                        </m:sub>
                      </m:sSub>
                      <m:sSub>
                        <m:sSubPr>
                          <m:ctrlPr>
                            <a:rPr lang="ko-KR" altLang="ko-KR" i="1">
                              <a:latin typeface="Cambria Math" panose="02040503050406030204" pitchFamily="18" charset="0"/>
                            </a:rPr>
                          </m:ctrlPr>
                        </m:sSubPr>
                        <m:e>
                          <m:r>
                            <a:rPr lang="en-US" altLang="ko-KR">
                              <a:latin typeface="Cambria Math" panose="02040503050406030204" pitchFamily="18" charset="0"/>
                            </a:rPr>
                            <m:t>𝑋</m:t>
                          </m:r>
                        </m:e>
                        <m:sub>
                          <m:r>
                            <a:rPr lang="en-US" altLang="ko-KR" smtClean="0">
                              <a:solidFill>
                                <a:srgbClr val="FF0000"/>
                              </a:solidFill>
                              <a:latin typeface="Cambria Math" panose="02040503050406030204" pitchFamily="18" charset="0"/>
                            </a:rPr>
                            <m:t>𝑖</m:t>
                          </m:r>
                          <m:r>
                            <a:rPr lang="en-US" altLang="ko-KR" smtClean="0">
                              <a:solidFill>
                                <a:srgbClr val="FF0000"/>
                              </a:solidFill>
                              <a:latin typeface="Cambria Math" panose="02040503050406030204" pitchFamily="18" charset="0"/>
                            </a:rPr>
                            <m:t>−</m:t>
                          </m:r>
                          <m:r>
                            <a:rPr lang="en-US" altLang="ko-KR" smtClean="0">
                              <a:solidFill>
                                <a:srgbClr val="FF0000"/>
                              </a:solidFill>
                              <a:latin typeface="Cambria Math" panose="02040503050406030204" pitchFamily="18" charset="0"/>
                            </a:rPr>
                            <m:t>1</m:t>
                          </m:r>
                        </m:sub>
                      </m:sSub>
                      <m:r>
                        <a:rPr lang="en-US" altLang="ko-KR">
                          <a:latin typeface="Cambria Math" panose="02040503050406030204" pitchFamily="18" charset="0"/>
                        </a:rPr>
                        <m:t>+</m:t>
                      </m:r>
                      <m:sSub>
                        <m:sSubPr>
                          <m:ctrlPr>
                            <a:rPr lang="ko-KR" altLang="ko-KR" i="1">
                              <a:latin typeface="Cambria Math" panose="02040503050406030204" pitchFamily="18" charset="0"/>
                            </a:rPr>
                          </m:ctrlPr>
                        </m:sSubPr>
                        <m:e>
                          <m:r>
                            <a:rPr lang="en-US" altLang="ko-KR">
                              <a:latin typeface="Cambria Math" panose="02040503050406030204" pitchFamily="18" charset="0"/>
                            </a:rPr>
                            <m:t>𝛽</m:t>
                          </m:r>
                        </m:e>
                        <m:sub>
                          <m:r>
                            <a:rPr lang="en-US" altLang="ko-KR" smtClean="0">
                              <a:solidFill>
                                <a:srgbClr val="FF0000"/>
                              </a:solidFill>
                              <a:latin typeface="Cambria Math" panose="02040503050406030204" pitchFamily="18" charset="0"/>
                            </a:rPr>
                            <m:t>𝑖</m:t>
                          </m:r>
                          <m:r>
                            <a:rPr lang="en-US" altLang="ko-KR" smtClean="0">
                              <a:solidFill>
                                <a:srgbClr val="FF0000"/>
                              </a:solidFill>
                              <a:latin typeface="Cambria Math" panose="02040503050406030204" pitchFamily="18" charset="0"/>
                            </a:rPr>
                            <m:t>+</m:t>
                          </m:r>
                          <m:r>
                            <a:rPr lang="en-US" altLang="ko-KR" smtClean="0">
                              <a:solidFill>
                                <a:srgbClr val="FF0000"/>
                              </a:solidFill>
                              <a:latin typeface="Cambria Math" panose="02040503050406030204" pitchFamily="18" charset="0"/>
                            </a:rPr>
                            <m:t>1</m:t>
                          </m:r>
                        </m:sub>
                      </m:sSub>
                      <m:sSub>
                        <m:sSubPr>
                          <m:ctrlPr>
                            <a:rPr lang="ko-KR" altLang="ko-KR" i="1">
                              <a:latin typeface="Cambria Math" panose="02040503050406030204" pitchFamily="18" charset="0"/>
                            </a:rPr>
                          </m:ctrlPr>
                        </m:sSubPr>
                        <m:e>
                          <m:r>
                            <a:rPr lang="en-US" altLang="ko-KR">
                              <a:latin typeface="Cambria Math" panose="02040503050406030204" pitchFamily="18" charset="0"/>
                            </a:rPr>
                            <m:t>𝑋</m:t>
                          </m:r>
                        </m:e>
                        <m:sub>
                          <m:r>
                            <a:rPr lang="en-US" altLang="ko-KR" smtClean="0">
                              <a:solidFill>
                                <a:srgbClr val="FF0000"/>
                              </a:solidFill>
                              <a:latin typeface="Cambria Math" panose="02040503050406030204" pitchFamily="18" charset="0"/>
                            </a:rPr>
                            <m:t>𝑖</m:t>
                          </m:r>
                          <m:r>
                            <a:rPr lang="en-US" altLang="ko-KR" smtClean="0">
                              <a:solidFill>
                                <a:srgbClr val="FF0000"/>
                              </a:solidFill>
                              <a:latin typeface="Cambria Math" panose="02040503050406030204" pitchFamily="18" charset="0"/>
                            </a:rPr>
                            <m:t>+</m:t>
                          </m:r>
                          <m:r>
                            <a:rPr lang="en-US" altLang="ko-KR" smtClean="0">
                              <a:solidFill>
                                <a:srgbClr val="FF0000"/>
                              </a:solidFill>
                              <a:latin typeface="Cambria Math" panose="02040503050406030204" pitchFamily="18" charset="0"/>
                            </a:rPr>
                            <m:t>1</m:t>
                          </m:r>
                        </m:sub>
                      </m:sSub>
                      <m:r>
                        <a:rPr lang="en-US" altLang="ko-KR">
                          <a:latin typeface="Cambria Math" panose="02040503050406030204" pitchFamily="18" charset="0"/>
                        </a:rPr>
                        <m:t>+…+</m:t>
                      </m:r>
                      <m:r>
                        <m:rPr>
                          <m:sty m:val="p"/>
                        </m:rPr>
                        <a:rPr lang="el-GR" altLang="ko-KR">
                          <a:latin typeface="Cambria Math" panose="02040503050406030204" pitchFamily="18" charset="0"/>
                        </a:rPr>
                        <m:t>ε</m:t>
                      </m:r>
                    </m:oMath>
                  </m:oMathPara>
                </a14:m>
                <a:endParaRPr lang="en-US" altLang="ko-KR" dirty="0"/>
              </a:p>
            </p:txBody>
          </p:sp>
        </mc:Choice>
        <mc:Fallback xmlns="">
          <p:sp>
            <p:nvSpPr>
              <p:cNvPr id="8" name="내용 개체 틀 2">
                <a:extLst>
                  <a:ext uri="{FF2B5EF4-FFF2-40B4-BE49-F238E27FC236}">
                    <a16:creationId xmlns:a16="http://schemas.microsoft.com/office/drawing/2014/main" id="{AFFC3A3E-5FF7-4A8F-A9E7-5294CDD90AE6}"/>
                  </a:ext>
                </a:extLst>
              </p:cNvPr>
              <p:cNvSpPr txBox="1">
                <a:spLocks noRot="1" noChangeAspect="1" noMove="1" noResize="1" noEditPoints="1" noAdjustHandles="1" noChangeArrowheads="1" noChangeShapeType="1" noTextEdit="1"/>
              </p:cNvSpPr>
              <p:nvPr/>
            </p:nvSpPr>
            <p:spPr>
              <a:xfrm>
                <a:off x="1777433" y="2421859"/>
                <a:ext cx="5501405" cy="441146"/>
              </a:xfrm>
              <a:prstGeom prst="rect">
                <a:avLst/>
              </a:prstGeom>
              <a:blipFill>
                <a:blip r:embed="rId6"/>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7DD52C27-35B2-4141-95CF-3BC20D48BE4C}"/>
                  </a:ext>
                </a:extLst>
              </p:cNvPr>
              <p:cNvSpPr/>
              <p:nvPr/>
            </p:nvSpPr>
            <p:spPr>
              <a:xfrm>
                <a:off x="671261" y="2988081"/>
                <a:ext cx="8632825" cy="3562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0975" lvl="1">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2) Using the corresponding </a:t>
                </a:r>
                <a14:m>
                  <m:oMath xmlns:m="http://schemas.openxmlformats.org/officeDocument/2006/math">
                    <m:sSubSup>
                      <m:sSubSupPr>
                        <m:ctrlPr>
                          <a:rPr lang="en-US" altLang="ko-KR" sz="1300" i="1" dirty="0" smtClean="0">
                            <a:solidFill>
                              <a:schemeClr val="tx1">
                                <a:lumMod val="85000"/>
                                <a:lumOff val="15000"/>
                              </a:schemeClr>
                            </a:solidFill>
                            <a:latin typeface="Cambria Math" panose="02040503050406030204" pitchFamily="18" charset="0"/>
                          </a:rPr>
                        </m:ctrlPr>
                      </m:sSubSupPr>
                      <m:e>
                        <m:r>
                          <a:rPr lang="en-US" altLang="ko-KR" sz="1300" b="0" i="1" dirty="0" smtClean="0">
                            <a:solidFill>
                              <a:schemeClr val="tx1">
                                <a:lumMod val="85000"/>
                                <a:lumOff val="15000"/>
                              </a:schemeClr>
                            </a:solidFill>
                            <a:latin typeface="Cambria Math" panose="02040503050406030204" pitchFamily="18" charset="0"/>
                          </a:rPr>
                          <m:t>𝑅</m:t>
                        </m:r>
                      </m:e>
                      <m:sub>
                        <m:r>
                          <a:rPr lang="en-US" altLang="ko-KR" sz="1300" b="0" i="1" dirty="0" smtClean="0">
                            <a:solidFill>
                              <a:schemeClr val="tx1">
                                <a:lumMod val="85000"/>
                                <a:lumOff val="15000"/>
                              </a:schemeClr>
                            </a:solidFill>
                            <a:latin typeface="Cambria Math" panose="02040503050406030204" pitchFamily="18" charset="0"/>
                          </a:rPr>
                          <m:t>𝑖</m:t>
                        </m:r>
                      </m:sub>
                      <m:sup>
                        <m:r>
                          <a:rPr lang="en-US" altLang="ko-KR" sz="1300" b="0" i="1" dirty="0" smtClean="0">
                            <a:solidFill>
                              <a:schemeClr val="tx1">
                                <a:lumMod val="85000"/>
                                <a:lumOff val="15000"/>
                              </a:schemeClr>
                            </a:solidFill>
                            <a:latin typeface="Cambria Math" panose="02040503050406030204" pitchFamily="18" charset="0"/>
                          </a:rPr>
                          <m:t>2</m:t>
                        </m:r>
                      </m:sup>
                    </m:sSubSup>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calculate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𝑉𝐼𝐹𝑖</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p:txBody>
          </p:sp>
        </mc:Choice>
        <mc:Fallback xmlns="">
          <p:sp>
            <p:nvSpPr>
              <p:cNvPr id="10" name="직사각형 9">
                <a:extLst>
                  <a:ext uri="{FF2B5EF4-FFF2-40B4-BE49-F238E27FC236}">
                    <a16:creationId xmlns:a16="http://schemas.microsoft.com/office/drawing/2014/main" xmlns:a14="http://schemas.microsoft.com/office/drawing/2010/main" xmlns="" id="{7DD52C27-35B2-4141-95CF-3BC20D48BE4C}"/>
                  </a:ext>
                </a:extLst>
              </p:cNvPr>
              <p:cNvSpPr>
                <a:spLocks noRot="1" noChangeAspect="1" noMove="1" noResize="1" noEditPoints="1" noAdjustHandles="1" noChangeArrowheads="1" noChangeShapeType="1" noTextEdit="1"/>
              </p:cNvSpPr>
              <p:nvPr/>
            </p:nvSpPr>
            <p:spPr>
              <a:xfrm>
                <a:off x="671261" y="2988081"/>
                <a:ext cx="8632825" cy="356298"/>
              </a:xfrm>
              <a:prstGeom prst="rect">
                <a:avLst/>
              </a:prstGeom>
              <a:blipFill rotWithShape="0">
                <a:blip r:embed="rId7"/>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205127265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2.3. Linear Regression Diagnostics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9" name="직사각형 8">
            <a:extLst>
              <a:ext uri="{FF2B5EF4-FFF2-40B4-BE49-F238E27FC236}">
                <a16:creationId xmlns:a16="http://schemas.microsoft.com/office/drawing/2014/main" id="{FB4F96C9-7484-4D21-BBEA-0901BDAC067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Information criteria and modelling</a:t>
            </a:r>
          </a:p>
        </p:txBody>
      </p:sp>
      <p:sp>
        <p:nvSpPr>
          <p:cNvPr id="12" name="직사각형 11">
            <a:extLst>
              <a:ext uri="{FF2B5EF4-FFF2-40B4-BE49-F238E27FC236}">
                <a16:creationId xmlns:a16="http://schemas.microsoft.com/office/drawing/2014/main" id="{7589D0E7-E999-4C47-8E99-20109E6DC1C5}"/>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Akaike information criteria (AIC) with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𝑝</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=number of parameters:</a:t>
            </a:r>
          </a:p>
        </p:txBody>
      </p:sp>
      <mc:AlternateContent xmlns:mc="http://schemas.openxmlformats.org/markup-compatibility/2006" xmlns:a14="http://schemas.microsoft.com/office/drawing/2010/main">
        <mc:Choice Requires="a14">
          <p:sp>
            <p:nvSpPr>
              <p:cNvPr id="8" name="내용 개체 틀 2">
                <a:extLst>
                  <a:ext uri="{FF2B5EF4-FFF2-40B4-BE49-F238E27FC236}">
                    <a16:creationId xmlns:a16="http://schemas.microsoft.com/office/drawing/2014/main" id="{AFFC3A3E-5FF7-4A8F-A9E7-5294CDD90AE6}"/>
                  </a:ext>
                </a:extLst>
              </p:cNvPr>
              <p:cNvSpPr txBox="1">
                <a:spLocks/>
              </p:cNvSpPr>
              <p:nvPr/>
            </p:nvSpPr>
            <p:spPr>
              <a:xfrm>
                <a:off x="3409982" y="2060575"/>
                <a:ext cx="3082859" cy="6624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a:solidFill>
                            <a:srgbClr val="FF0000"/>
                          </a:solidFill>
                          <a:latin typeface="Cambria Math" panose="02040503050406030204" pitchFamily="18" charset="0"/>
                        </a:rPr>
                        <m:t>𝐴𝐼𝐶</m:t>
                      </m:r>
                      <m:r>
                        <a:rPr lang="en-US" altLang="ko-KR">
                          <a:latin typeface="Cambria Math" panose="02040503050406030204" pitchFamily="18" charset="0"/>
                        </a:rPr>
                        <m:t>=−2</m:t>
                      </m:r>
                      <m:f>
                        <m:fPr>
                          <m:ctrlPr>
                            <a:rPr lang="en-US" altLang="ko-KR" i="1">
                              <a:latin typeface="Cambria Math" panose="02040503050406030204" pitchFamily="18" charset="0"/>
                            </a:rPr>
                          </m:ctrlPr>
                        </m:fPr>
                        <m:num>
                          <m:r>
                            <a:rPr lang="en-US" altLang="ko-KR">
                              <a:solidFill>
                                <a:srgbClr val="193EB0"/>
                              </a:solidFill>
                              <a:latin typeface="Cambria Math" panose="02040503050406030204" pitchFamily="18" charset="0"/>
                            </a:rPr>
                            <m:t>𝐿𝑜𝑔</m:t>
                          </m:r>
                          <m:r>
                            <a:rPr lang="en-US" altLang="ko-KR">
                              <a:solidFill>
                                <a:srgbClr val="193EB0"/>
                              </a:solidFill>
                              <a:latin typeface="Cambria Math" panose="02040503050406030204" pitchFamily="18" charset="0"/>
                            </a:rPr>
                            <m:t> </m:t>
                          </m:r>
                          <m:r>
                            <a:rPr lang="en-US" altLang="ko-KR">
                              <a:solidFill>
                                <a:srgbClr val="193EB0"/>
                              </a:solidFill>
                              <a:latin typeface="Cambria Math" panose="02040503050406030204" pitchFamily="18" charset="0"/>
                            </a:rPr>
                            <m:t>𝑙𝑖𝑘𝑒𝑙𝑖h𝑜𝑜𝑑</m:t>
                          </m:r>
                        </m:num>
                        <m:den>
                          <m:r>
                            <m:rPr>
                              <m:nor/>
                            </m:rPr>
                            <a:rPr lang="en-US" altLang="ko-KR" dirty="0"/>
                            <m:t>n</m:t>
                          </m:r>
                        </m:den>
                      </m:f>
                      <m:r>
                        <a:rPr lang="en-US" altLang="ko-KR">
                          <a:latin typeface="Cambria Math" panose="02040503050406030204" pitchFamily="18" charset="0"/>
                        </a:rPr>
                        <m:t>+2</m:t>
                      </m:r>
                      <m:f>
                        <m:fPr>
                          <m:ctrlPr>
                            <a:rPr lang="en-US" altLang="ko-KR" i="1">
                              <a:latin typeface="Cambria Math" panose="02040503050406030204" pitchFamily="18" charset="0"/>
                            </a:rPr>
                          </m:ctrlPr>
                        </m:fPr>
                        <m:num>
                          <m:r>
                            <a:rPr lang="en-US" altLang="ko-KR">
                              <a:latin typeface="Cambria Math" panose="02040503050406030204" pitchFamily="18" charset="0"/>
                            </a:rPr>
                            <m:t>𝑝</m:t>
                          </m:r>
                        </m:num>
                        <m:den>
                          <m:r>
                            <a:rPr lang="en-US" altLang="ko-KR">
                              <a:latin typeface="Cambria Math" panose="02040503050406030204" pitchFamily="18" charset="0"/>
                            </a:rPr>
                            <m:t>𝑛</m:t>
                          </m:r>
                        </m:den>
                      </m:f>
                    </m:oMath>
                  </m:oMathPara>
                </a14:m>
                <a:endParaRPr lang="en-US" altLang="ko-KR" dirty="0"/>
              </a:p>
            </p:txBody>
          </p:sp>
        </mc:Choice>
        <mc:Fallback xmlns="">
          <p:sp>
            <p:nvSpPr>
              <p:cNvPr id="8" name="내용 개체 틀 2">
                <a:extLst>
                  <a:ext uri="{FF2B5EF4-FFF2-40B4-BE49-F238E27FC236}">
                    <a16:creationId xmlns:a16="http://schemas.microsoft.com/office/drawing/2014/main" id="{AFFC3A3E-5FF7-4A8F-A9E7-5294CDD90AE6}"/>
                  </a:ext>
                </a:extLst>
              </p:cNvPr>
              <p:cNvSpPr txBox="1">
                <a:spLocks noRot="1" noChangeAspect="1" noMove="1" noResize="1" noEditPoints="1" noAdjustHandles="1" noChangeArrowheads="1" noChangeShapeType="1" noTextEdit="1"/>
              </p:cNvSpPr>
              <p:nvPr/>
            </p:nvSpPr>
            <p:spPr>
              <a:xfrm>
                <a:off x="3409982" y="2060575"/>
                <a:ext cx="3082859" cy="662425"/>
              </a:xfrm>
              <a:prstGeom prst="rect">
                <a:avLst/>
              </a:prstGeom>
              <a:blipFill>
                <a:blip r:embed="rId4"/>
                <a:stretch>
                  <a:fillRect/>
                </a:stretch>
              </a:blipFill>
              <a:ln>
                <a:noFill/>
              </a:ln>
            </p:spPr>
            <p:txBody>
              <a:bodyPr/>
              <a:lstStyle/>
              <a:p>
                <a:r>
                  <a:rPr lang="ko-KR" altLang="en-US">
                    <a:noFill/>
                  </a:rPr>
                  <a:t> </a:t>
                </a:r>
              </a:p>
            </p:txBody>
          </p:sp>
        </mc:Fallback>
      </mc:AlternateContent>
      <p:sp>
        <p:nvSpPr>
          <p:cNvPr id="11" name="직사각형 10">
            <a:extLst>
              <a:ext uri="{FF2B5EF4-FFF2-40B4-BE49-F238E27FC236}">
                <a16:creationId xmlns:a16="http://schemas.microsoft.com/office/drawing/2014/main" id="{6F7A944E-A8B9-48EA-9475-27AF186ADBE5}"/>
              </a:ext>
            </a:extLst>
          </p:cNvPr>
          <p:cNvSpPr/>
          <p:nvPr/>
        </p:nvSpPr>
        <p:spPr>
          <a:xfrm>
            <a:off x="666936" y="2879812"/>
            <a:ext cx="8630827" cy="3454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1983" rIns="143967" bIns="71983"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Bayes information criteria (BIC) with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𝑝</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=number of parameters:</a:t>
            </a:r>
          </a:p>
        </p:txBody>
      </p:sp>
      <p:sp>
        <p:nvSpPr>
          <p:cNvPr id="13" name="직사각형 12">
            <a:extLst>
              <a:ext uri="{FF2B5EF4-FFF2-40B4-BE49-F238E27FC236}">
                <a16:creationId xmlns:a16="http://schemas.microsoft.com/office/drawing/2014/main" id="{2AD5557F-EC1F-4B90-9E94-C50212AA4499}"/>
              </a:ext>
            </a:extLst>
          </p:cNvPr>
          <p:cNvSpPr/>
          <p:nvPr/>
        </p:nvSpPr>
        <p:spPr>
          <a:xfrm>
            <a:off x="666936" y="4266714"/>
            <a:ext cx="8630827" cy="3454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1983" rIns="143967" bIns="71983"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 the expressions above, we have: </a:t>
            </a:r>
          </a:p>
        </p:txBody>
      </p:sp>
      <mc:AlternateContent xmlns:mc="http://schemas.openxmlformats.org/markup-compatibility/2006" xmlns:a14="http://schemas.microsoft.com/office/drawing/2010/main">
        <mc:Choice Requires="a14">
          <p:sp>
            <p:nvSpPr>
              <p:cNvPr id="16" name="내용 개체 틀 2">
                <a:extLst>
                  <a:ext uri="{FF2B5EF4-FFF2-40B4-BE49-F238E27FC236}">
                    <a16:creationId xmlns:a16="http://schemas.microsoft.com/office/drawing/2014/main" id="{5928FDE2-E125-4FAE-9B82-6F229DA8B15E}"/>
                  </a:ext>
                </a:extLst>
              </p:cNvPr>
              <p:cNvSpPr txBox="1">
                <a:spLocks/>
              </p:cNvSpPr>
              <p:nvPr/>
            </p:nvSpPr>
            <p:spPr>
              <a:xfrm>
                <a:off x="3206402" y="3285810"/>
                <a:ext cx="3490022" cy="6728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a:solidFill>
                            <a:srgbClr val="FF0000"/>
                          </a:solidFill>
                          <a:latin typeface="Cambria Math" panose="02040503050406030204" pitchFamily="18" charset="0"/>
                        </a:rPr>
                        <m:t>𝐵𝐼𝐶</m:t>
                      </m:r>
                      <m:r>
                        <a:rPr lang="en-US" altLang="ko-KR">
                          <a:latin typeface="Cambria Math" panose="02040503050406030204" pitchFamily="18" charset="0"/>
                        </a:rPr>
                        <m:t>=−2</m:t>
                      </m:r>
                      <m:f>
                        <m:fPr>
                          <m:ctrlPr>
                            <a:rPr lang="en-US" altLang="ko-KR" i="1">
                              <a:latin typeface="Cambria Math" panose="02040503050406030204" pitchFamily="18" charset="0"/>
                            </a:rPr>
                          </m:ctrlPr>
                        </m:fPr>
                        <m:num>
                          <m:r>
                            <a:rPr lang="en-US" altLang="ko-KR">
                              <a:solidFill>
                                <a:srgbClr val="193EB0"/>
                              </a:solidFill>
                              <a:latin typeface="Cambria Math" panose="02040503050406030204" pitchFamily="18" charset="0"/>
                            </a:rPr>
                            <m:t>𝐿𝑜𝑔</m:t>
                          </m:r>
                          <m:r>
                            <a:rPr lang="en-US" altLang="ko-KR">
                              <a:solidFill>
                                <a:srgbClr val="193EB0"/>
                              </a:solidFill>
                              <a:latin typeface="Cambria Math" panose="02040503050406030204" pitchFamily="18" charset="0"/>
                            </a:rPr>
                            <m:t> </m:t>
                          </m:r>
                          <m:r>
                            <a:rPr lang="en-US" altLang="ko-KR">
                              <a:solidFill>
                                <a:srgbClr val="193EB0"/>
                              </a:solidFill>
                              <a:latin typeface="Cambria Math" panose="02040503050406030204" pitchFamily="18" charset="0"/>
                            </a:rPr>
                            <m:t>𝑙𝑖𝑘𝑒𝑙𝑖h𝑜𝑜𝑑</m:t>
                          </m:r>
                        </m:num>
                        <m:den>
                          <m:r>
                            <a:rPr lang="en-US" altLang="ko-KR">
                              <a:latin typeface="Cambria Math" panose="02040503050406030204" pitchFamily="18" charset="0"/>
                            </a:rPr>
                            <m:t>𝑛</m:t>
                          </m:r>
                        </m:den>
                      </m:f>
                      <m:r>
                        <a:rPr lang="en-US" altLang="ko-KR">
                          <a:latin typeface="Cambria Math" panose="02040503050406030204" pitchFamily="18" charset="0"/>
                        </a:rPr>
                        <m:t>+</m:t>
                      </m:r>
                      <m:r>
                        <a:rPr lang="en-US" altLang="ko-KR">
                          <a:latin typeface="Cambria Math" panose="02040503050406030204" pitchFamily="18" charset="0"/>
                        </a:rPr>
                        <m:t>𝑝</m:t>
                      </m:r>
                      <m:f>
                        <m:fPr>
                          <m:ctrlPr>
                            <a:rPr lang="en-US" altLang="ko-KR" i="1">
                              <a:latin typeface="Cambria Math" panose="02040503050406030204" pitchFamily="18" charset="0"/>
                            </a:rPr>
                          </m:ctrlPr>
                        </m:fPr>
                        <m:num>
                          <m:r>
                            <a:rPr lang="en-US" altLang="ko-KR">
                              <a:latin typeface="Cambria Math" panose="02040503050406030204" pitchFamily="18" charset="0"/>
                            </a:rPr>
                            <m:t>𝐿𝑛</m:t>
                          </m:r>
                          <m:d>
                            <m:dPr>
                              <m:ctrlPr>
                                <a:rPr lang="en-US" altLang="ko-KR" i="1">
                                  <a:latin typeface="Cambria Math" panose="02040503050406030204" pitchFamily="18" charset="0"/>
                                </a:rPr>
                              </m:ctrlPr>
                            </m:dPr>
                            <m:e>
                              <m:r>
                                <a:rPr lang="en-US" altLang="ko-KR">
                                  <a:latin typeface="Cambria Math" panose="02040503050406030204" pitchFamily="18" charset="0"/>
                                </a:rPr>
                                <m:t>𝑛</m:t>
                              </m:r>
                            </m:e>
                          </m:d>
                        </m:num>
                        <m:den>
                          <m:r>
                            <a:rPr lang="en-US" altLang="ko-KR">
                              <a:latin typeface="Cambria Math" panose="02040503050406030204" pitchFamily="18" charset="0"/>
                            </a:rPr>
                            <m:t>𝑛</m:t>
                          </m:r>
                        </m:den>
                      </m:f>
                    </m:oMath>
                  </m:oMathPara>
                </a14:m>
                <a:endParaRPr lang="en-US" altLang="ko-KR" dirty="0"/>
              </a:p>
            </p:txBody>
          </p:sp>
        </mc:Choice>
        <mc:Fallback xmlns="">
          <p:sp>
            <p:nvSpPr>
              <p:cNvPr id="16" name="내용 개체 틀 2">
                <a:extLst>
                  <a:ext uri="{FF2B5EF4-FFF2-40B4-BE49-F238E27FC236}">
                    <a16:creationId xmlns:a16="http://schemas.microsoft.com/office/drawing/2014/main" id="{5928FDE2-E125-4FAE-9B82-6F229DA8B15E}"/>
                  </a:ext>
                </a:extLst>
              </p:cNvPr>
              <p:cNvSpPr txBox="1">
                <a:spLocks noRot="1" noChangeAspect="1" noMove="1" noResize="1" noEditPoints="1" noAdjustHandles="1" noChangeArrowheads="1" noChangeShapeType="1" noTextEdit="1"/>
              </p:cNvSpPr>
              <p:nvPr/>
            </p:nvSpPr>
            <p:spPr>
              <a:xfrm>
                <a:off x="3206402" y="3285810"/>
                <a:ext cx="3490022" cy="672813"/>
              </a:xfrm>
              <a:prstGeom prst="rect">
                <a:avLst/>
              </a:prstGeom>
              <a:blipFill>
                <a:blip r:embed="rId5"/>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7" name="내용 개체 틀 2">
                <a:extLst>
                  <a:ext uri="{FF2B5EF4-FFF2-40B4-BE49-F238E27FC236}">
                    <a16:creationId xmlns:a16="http://schemas.microsoft.com/office/drawing/2014/main" id="{C69FD316-2B3D-4D0D-A475-DB299295CC8D}"/>
                  </a:ext>
                </a:extLst>
              </p:cNvPr>
              <p:cNvSpPr txBox="1">
                <a:spLocks/>
              </p:cNvSpPr>
              <p:nvPr/>
            </p:nvSpPr>
            <p:spPr>
              <a:xfrm>
                <a:off x="2619829" y="4658338"/>
                <a:ext cx="4663163" cy="83131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a:solidFill>
                            <a:srgbClr val="193EB0"/>
                          </a:solidFill>
                          <a:latin typeface="Cambria Math" panose="02040503050406030204" pitchFamily="18" charset="0"/>
                        </a:rPr>
                        <m:t>𝐿𝑜𝑔</m:t>
                      </m:r>
                      <m:r>
                        <a:rPr lang="en-US" altLang="ko-KR">
                          <a:solidFill>
                            <a:srgbClr val="193EB0"/>
                          </a:solidFill>
                          <a:latin typeface="Cambria Math" panose="02040503050406030204" pitchFamily="18" charset="0"/>
                        </a:rPr>
                        <m:t> </m:t>
                      </m:r>
                      <m:r>
                        <a:rPr lang="en-US" altLang="ko-KR">
                          <a:solidFill>
                            <a:srgbClr val="193EB0"/>
                          </a:solidFill>
                          <a:latin typeface="Cambria Math" panose="02040503050406030204" pitchFamily="18" charset="0"/>
                        </a:rPr>
                        <m:t>𝐿𝑖𝑘𝑒𝑙𝑖h𝑜𝑜𝑑</m:t>
                      </m:r>
                      <m:r>
                        <a:rPr lang="en-US" altLang="ko-KR">
                          <a:latin typeface="Cambria Math" panose="02040503050406030204" pitchFamily="18" charset="0"/>
                        </a:rPr>
                        <m:t>=−</m:t>
                      </m:r>
                      <m:f>
                        <m:fPr>
                          <m:ctrlPr>
                            <a:rPr lang="en-US" altLang="ko-KR" i="1">
                              <a:latin typeface="Cambria Math" panose="02040503050406030204" pitchFamily="18" charset="0"/>
                            </a:rPr>
                          </m:ctrlPr>
                        </m:fPr>
                        <m:num>
                          <m:r>
                            <a:rPr lang="en-US" altLang="ko-KR">
                              <a:latin typeface="Cambria Math" panose="02040503050406030204" pitchFamily="18" charset="0"/>
                            </a:rPr>
                            <m:t>𝑛</m:t>
                          </m:r>
                        </m:num>
                        <m:den>
                          <m:r>
                            <a:rPr lang="en-US" altLang="ko-KR">
                              <a:latin typeface="Cambria Math" panose="02040503050406030204" pitchFamily="18" charset="0"/>
                            </a:rPr>
                            <m:t>2</m:t>
                          </m:r>
                        </m:den>
                      </m:f>
                      <m:d>
                        <m:dPr>
                          <m:ctrlPr>
                            <a:rPr lang="en-US" altLang="ko-KR" i="1">
                              <a:latin typeface="Cambria Math" panose="02040503050406030204" pitchFamily="18" charset="0"/>
                            </a:rPr>
                          </m:ctrlPr>
                        </m:dPr>
                        <m:e>
                          <m:r>
                            <a:rPr lang="en-US" altLang="ko-KR">
                              <a:latin typeface="Cambria Math" panose="02040503050406030204" pitchFamily="18" charset="0"/>
                            </a:rPr>
                            <m:t>1+</m:t>
                          </m:r>
                          <m:r>
                            <a:rPr lang="en-US" altLang="ko-KR">
                              <a:latin typeface="Cambria Math" panose="02040503050406030204" pitchFamily="18" charset="0"/>
                            </a:rPr>
                            <m:t>𝐿𝑛</m:t>
                          </m:r>
                          <m:d>
                            <m:dPr>
                              <m:ctrlPr>
                                <a:rPr lang="en-US" altLang="ko-KR" i="1">
                                  <a:latin typeface="Cambria Math" panose="02040503050406030204" pitchFamily="18" charset="0"/>
                                </a:rPr>
                              </m:ctrlPr>
                            </m:dPr>
                            <m:e>
                              <m:r>
                                <a:rPr lang="en-US" altLang="ko-KR">
                                  <a:latin typeface="Cambria Math" panose="02040503050406030204" pitchFamily="18" charset="0"/>
                                </a:rPr>
                                <m:t>2</m:t>
                              </m:r>
                              <m:r>
                                <a:rPr lang="en-US" altLang="ko-KR">
                                  <a:latin typeface="Cambria Math" panose="02040503050406030204" pitchFamily="18" charset="0"/>
                                </a:rPr>
                                <m:t>𝜋</m:t>
                              </m:r>
                            </m:e>
                          </m:d>
                          <m:r>
                            <a:rPr lang="en-US" altLang="ko-KR">
                              <a:latin typeface="Cambria Math" panose="02040503050406030204" pitchFamily="18" charset="0"/>
                            </a:rPr>
                            <m:t>+</m:t>
                          </m:r>
                          <m:r>
                            <a:rPr lang="en-US" altLang="ko-KR">
                              <a:latin typeface="Cambria Math" panose="02040503050406030204" pitchFamily="18" charset="0"/>
                            </a:rPr>
                            <m:t>𝐿𝑛</m:t>
                          </m:r>
                          <m:d>
                            <m:dPr>
                              <m:ctrlPr>
                                <a:rPr lang="en-US" altLang="ko-KR" i="1">
                                  <a:latin typeface="Cambria Math" panose="02040503050406030204" pitchFamily="18" charset="0"/>
                                </a:rPr>
                              </m:ctrlPr>
                            </m:dPr>
                            <m:e>
                              <m:f>
                                <m:fPr>
                                  <m:ctrlPr>
                                    <a:rPr lang="en-US" altLang="ko-KR" i="1">
                                      <a:latin typeface="Cambria Math" panose="02040503050406030204" pitchFamily="18" charset="0"/>
                                    </a:rPr>
                                  </m:ctrlPr>
                                </m:fPr>
                                <m:num>
                                  <m:r>
                                    <a:rPr lang="en-US" altLang="ko-KR">
                                      <a:latin typeface="Cambria Math" panose="02040503050406030204" pitchFamily="18" charset="0"/>
                                    </a:rPr>
                                    <m:t>𝑆𝑆𝐸</m:t>
                                  </m:r>
                                </m:num>
                                <m:den>
                                  <m:r>
                                    <a:rPr lang="en-US" altLang="ko-KR">
                                      <a:latin typeface="Cambria Math" panose="02040503050406030204" pitchFamily="18" charset="0"/>
                                    </a:rPr>
                                    <m:t>𝑛</m:t>
                                  </m:r>
                                </m:den>
                              </m:f>
                            </m:e>
                          </m:d>
                        </m:e>
                      </m:d>
                    </m:oMath>
                  </m:oMathPara>
                </a14:m>
                <a:endParaRPr lang="en-US" altLang="ko-KR" dirty="0"/>
              </a:p>
            </p:txBody>
          </p:sp>
        </mc:Choice>
        <mc:Fallback xmlns="">
          <p:sp>
            <p:nvSpPr>
              <p:cNvPr id="17" name="내용 개체 틀 2">
                <a:extLst>
                  <a:ext uri="{FF2B5EF4-FFF2-40B4-BE49-F238E27FC236}">
                    <a16:creationId xmlns:a16="http://schemas.microsoft.com/office/drawing/2014/main" id="{C69FD316-2B3D-4D0D-A475-DB299295CC8D}"/>
                  </a:ext>
                </a:extLst>
              </p:cNvPr>
              <p:cNvSpPr txBox="1">
                <a:spLocks noRot="1" noChangeAspect="1" noMove="1" noResize="1" noEditPoints="1" noAdjustHandles="1" noChangeArrowheads="1" noChangeShapeType="1" noTextEdit="1"/>
              </p:cNvSpPr>
              <p:nvPr/>
            </p:nvSpPr>
            <p:spPr>
              <a:xfrm>
                <a:off x="2619829" y="4658338"/>
                <a:ext cx="4663163" cy="831318"/>
              </a:xfrm>
              <a:prstGeom prst="rect">
                <a:avLst/>
              </a:prstGeom>
              <a:blipFill>
                <a:blip r:embed="rId6"/>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228431262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2.3. Linear Regression Diagnostics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9" name="직사각형 8">
            <a:extLst>
              <a:ext uri="{FF2B5EF4-FFF2-40B4-BE49-F238E27FC236}">
                <a16:creationId xmlns:a16="http://schemas.microsoft.com/office/drawing/2014/main" id="{FB4F96C9-7484-4D21-BBEA-0901BDAC067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Information criteria and modelling</a:t>
            </a:r>
          </a:p>
        </p:txBody>
      </p:sp>
      <p:grpSp>
        <p:nvGrpSpPr>
          <p:cNvPr id="2" name="그룹 1"/>
          <p:cNvGrpSpPr/>
          <p:nvPr/>
        </p:nvGrpSpPr>
        <p:grpSpPr>
          <a:xfrm>
            <a:off x="2827176" y="2024844"/>
            <a:ext cx="4845020" cy="3445056"/>
            <a:chOff x="2995917" y="1773238"/>
            <a:chExt cx="4845020" cy="3445056"/>
          </a:xfrm>
        </p:grpSpPr>
        <mc:AlternateContent xmlns:mc="http://schemas.openxmlformats.org/markup-compatibility/2006" xmlns:a14="http://schemas.microsoft.com/office/drawing/2010/main">
          <mc:Choice Requires="a14">
            <p:sp>
              <p:nvSpPr>
                <p:cNvPr id="8" name="내용 개체 틀 2">
                  <a:extLst>
                    <a:ext uri="{FF2B5EF4-FFF2-40B4-BE49-F238E27FC236}">
                      <a16:creationId xmlns:a16="http://schemas.microsoft.com/office/drawing/2014/main" id="{AFFC3A3E-5FF7-4A8F-A9E7-5294CDD90AE6}"/>
                    </a:ext>
                  </a:extLst>
                </p:cNvPr>
                <p:cNvSpPr txBox="1">
                  <a:spLocks/>
                </p:cNvSpPr>
                <p:nvPr/>
              </p:nvSpPr>
              <p:spPr>
                <a:xfrm>
                  <a:off x="3206401" y="1773238"/>
                  <a:ext cx="3490022" cy="12429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left"/>
                      </m:oMathParaPr>
                      <m:oMath xmlns:m="http://schemas.openxmlformats.org/officeDocument/2006/math">
                        <m:r>
                          <a:rPr lang="en-US" altLang="ko-KR">
                            <a:solidFill>
                              <a:srgbClr val="262626"/>
                            </a:solidFill>
                            <a:latin typeface="Cambria Math" panose="02040503050406030204" pitchFamily="18" charset="0"/>
                          </a:rPr>
                          <m:t>𝐴𝐼𝐶</m:t>
                        </m:r>
                        <m:r>
                          <a:rPr lang="en-US" altLang="ko-KR">
                            <a:solidFill>
                              <a:srgbClr val="262626"/>
                            </a:solidFill>
                            <a:latin typeface="Cambria Math" panose="02040503050406030204" pitchFamily="18" charset="0"/>
                          </a:rPr>
                          <m:t>=−2</m:t>
                        </m:r>
                        <m:f>
                          <m:fPr>
                            <m:ctrlPr>
                              <a:rPr lang="en-US" altLang="ko-KR" i="1">
                                <a:solidFill>
                                  <a:srgbClr val="262626"/>
                                </a:solidFill>
                                <a:latin typeface="Cambria Math" panose="02040503050406030204" pitchFamily="18" charset="0"/>
                              </a:rPr>
                            </m:ctrlPr>
                          </m:fPr>
                          <m:num>
                            <m:r>
                              <a:rPr lang="en-US" altLang="ko-KR">
                                <a:solidFill>
                                  <a:srgbClr val="193EB0"/>
                                </a:solidFill>
                                <a:latin typeface="Cambria Math" panose="02040503050406030204" pitchFamily="18" charset="0"/>
                              </a:rPr>
                              <m:t>𝐿𝑜𝑔</m:t>
                            </m:r>
                            <m:r>
                              <a:rPr lang="en-US" altLang="ko-KR">
                                <a:solidFill>
                                  <a:srgbClr val="193EB0"/>
                                </a:solidFill>
                                <a:latin typeface="Cambria Math" panose="02040503050406030204" pitchFamily="18" charset="0"/>
                              </a:rPr>
                              <m:t> </m:t>
                            </m:r>
                            <m:r>
                              <a:rPr lang="en-US" altLang="ko-KR">
                                <a:solidFill>
                                  <a:srgbClr val="193EB0"/>
                                </a:solidFill>
                                <a:latin typeface="Cambria Math" panose="02040503050406030204" pitchFamily="18" charset="0"/>
                              </a:rPr>
                              <m:t>𝑙𝑖𝑘𝑒𝑙𝑖h𝑜𝑜𝑑</m:t>
                            </m:r>
                          </m:num>
                          <m:den>
                            <m:r>
                              <m:rPr>
                                <m:nor/>
                              </m:rPr>
                              <a:rPr lang="en-US" altLang="ko-KR" dirty="0">
                                <a:solidFill>
                                  <a:srgbClr val="193EB0"/>
                                </a:solidFill>
                              </a:rPr>
                              <m:t>n</m:t>
                            </m:r>
                          </m:den>
                        </m:f>
                        <m:r>
                          <a:rPr lang="en-US" altLang="ko-KR">
                            <a:solidFill>
                              <a:srgbClr val="262626"/>
                            </a:solidFill>
                            <a:latin typeface="Cambria Math" panose="02040503050406030204" pitchFamily="18" charset="0"/>
                          </a:rPr>
                          <m:t>+</m:t>
                        </m:r>
                        <m:r>
                          <a:rPr lang="en-US" altLang="ko-KR">
                            <a:solidFill>
                              <a:srgbClr val="FF0000"/>
                            </a:solidFill>
                            <a:latin typeface="Cambria Math" panose="02040503050406030204" pitchFamily="18" charset="0"/>
                          </a:rPr>
                          <m:t>2</m:t>
                        </m:r>
                        <m:f>
                          <m:fPr>
                            <m:ctrlPr>
                              <a:rPr lang="en-US" altLang="ko-KR" i="1">
                                <a:solidFill>
                                  <a:srgbClr val="FF0000"/>
                                </a:solidFill>
                                <a:latin typeface="Cambria Math" panose="02040503050406030204" pitchFamily="18" charset="0"/>
                              </a:rPr>
                            </m:ctrlPr>
                          </m:fPr>
                          <m:num>
                            <m:r>
                              <a:rPr lang="en-US" altLang="ko-KR">
                                <a:solidFill>
                                  <a:srgbClr val="FF0000"/>
                                </a:solidFill>
                                <a:latin typeface="Cambria Math" panose="02040503050406030204" pitchFamily="18" charset="0"/>
                              </a:rPr>
                              <m:t>𝑝</m:t>
                            </m:r>
                          </m:num>
                          <m:den>
                            <m:r>
                              <a:rPr lang="en-US" altLang="ko-KR">
                                <a:solidFill>
                                  <a:srgbClr val="FF0000"/>
                                </a:solidFill>
                                <a:latin typeface="Cambria Math" panose="02040503050406030204" pitchFamily="18" charset="0"/>
                              </a:rPr>
                              <m:t>𝑛</m:t>
                            </m:r>
                          </m:den>
                        </m:f>
                      </m:oMath>
                    </m:oMathPara>
                  </a14:m>
                  <a:endParaRPr lang="en-US" altLang="ko-KR" dirty="0">
                    <a:solidFill>
                      <a:srgbClr val="262626"/>
                    </a:solidFill>
                  </a:endParaRPr>
                </a:p>
                <a:p>
                  <a:pPr/>
                  <a14:m>
                    <m:oMathPara xmlns:m="http://schemas.openxmlformats.org/officeDocument/2006/math">
                      <m:oMathParaPr>
                        <m:jc m:val="left"/>
                      </m:oMathParaPr>
                      <m:oMath xmlns:m="http://schemas.openxmlformats.org/officeDocument/2006/math">
                        <m:r>
                          <a:rPr lang="en-US" altLang="ko-KR">
                            <a:solidFill>
                              <a:srgbClr val="262626"/>
                            </a:solidFill>
                            <a:latin typeface="Cambria Math" panose="02040503050406030204" pitchFamily="18" charset="0"/>
                          </a:rPr>
                          <m:t>𝐵𝐼𝐶</m:t>
                        </m:r>
                        <m:r>
                          <a:rPr lang="en-US" altLang="ko-KR">
                            <a:solidFill>
                              <a:srgbClr val="262626"/>
                            </a:solidFill>
                            <a:latin typeface="Cambria Math" panose="02040503050406030204" pitchFamily="18" charset="0"/>
                          </a:rPr>
                          <m:t>=−2</m:t>
                        </m:r>
                        <m:f>
                          <m:fPr>
                            <m:ctrlPr>
                              <a:rPr lang="en-US" altLang="ko-KR" i="1">
                                <a:solidFill>
                                  <a:srgbClr val="262626"/>
                                </a:solidFill>
                                <a:latin typeface="Cambria Math" panose="02040503050406030204" pitchFamily="18" charset="0"/>
                              </a:rPr>
                            </m:ctrlPr>
                          </m:fPr>
                          <m:num>
                            <m:r>
                              <a:rPr lang="en-US" altLang="ko-KR">
                                <a:solidFill>
                                  <a:srgbClr val="193EB0"/>
                                </a:solidFill>
                                <a:latin typeface="Cambria Math" panose="02040503050406030204" pitchFamily="18" charset="0"/>
                              </a:rPr>
                              <m:t>𝐿𝑜𝑔</m:t>
                            </m:r>
                            <m:r>
                              <a:rPr lang="en-US" altLang="ko-KR">
                                <a:solidFill>
                                  <a:srgbClr val="193EB0"/>
                                </a:solidFill>
                                <a:latin typeface="Cambria Math" panose="02040503050406030204" pitchFamily="18" charset="0"/>
                              </a:rPr>
                              <m:t> </m:t>
                            </m:r>
                            <m:r>
                              <a:rPr lang="en-US" altLang="ko-KR">
                                <a:solidFill>
                                  <a:srgbClr val="193EB0"/>
                                </a:solidFill>
                                <a:latin typeface="Cambria Math" panose="02040503050406030204" pitchFamily="18" charset="0"/>
                              </a:rPr>
                              <m:t>𝑙𝑖𝑘𝑒𝑙𝑖h𝑜𝑜𝑑</m:t>
                            </m:r>
                          </m:num>
                          <m:den>
                            <m:r>
                              <a:rPr lang="en-US" altLang="ko-KR">
                                <a:solidFill>
                                  <a:srgbClr val="193EB0"/>
                                </a:solidFill>
                                <a:latin typeface="Cambria Math" panose="02040503050406030204" pitchFamily="18" charset="0"/>
                              </a:rPr>
                              <m:t>𝑛</m:t>
                            </m:r>
                          </m:den>
                        </m:f>
                        <m:r>
                          <a:rPr lang="en-US" altLang="ko-KR">
                            <a:solidFill>
                              <a:srgbClr val="262626"/>
                            </a:solidFill>
                            <a:latin typeface="Cambria Math" panose="02040503050406030204" pitchFamily="18" charset="0"/>
                          </a:rPr>
                          <m:t>+</m:t>
                        </m:r>
                        <m:r>
                          <a:rPr lang="en-US" altLang="ko-KR">
                            <a:solidFill>
                              <a:srgbClr val="FF0000"/>
                            </a:solidFill>
                            <a:latin typeface="Cambria Math" panose="02040503050406030204" pitchFamily="18" charset="0"/>
                          </a:rPr>
                          <m:t>𝑝</m:t>
                        </m:r>
                        <m:f>
                          <m:fPr>
                            <m:ctrlPr>
                              <a:rPr lang="en-US" altLang="ko-KR" i="1">
                                <a:solidFill>
                                  <a:srgbClr val="FF0000"/>
                                </a:solidFill>
                                <a:latin typeface="Cambria Math" panose="02040503050406030204" pitchFamily="18" charset="0"/>
                              </a:rPr>
                            </m:ctrlPr>
                          </m:fPr>
                          <m:num>
                            <m:r>
                              <a:rPr lang="en-US" altLang="ko-KR">
                                <a:solidFill>
                                  <a:srgbClr val="FF0000"/>
                                </a:solidFill>
                                <a:latin typeface="Cambria Math" panose="02040503050406030204" pitchFamily="18" charset="0"/>
                              </a:rPr>
                              <m:t>𝐿𝑛</m:t>
                            </m:r>
                            <m:d>
                              <m:dPr>
                                <m:ctrlPr>
                                  <a:rPr lang="en-US" altLang="ko-KR" i="1">
                                    <a:solidFill>
                                      <a:srgbClr val="FF0000"/>
                                    </a:solidFill>
                                    <a:latin typeface="Cambria Math" panose="02040503050406030204" pitchFamily="18" charset="0"/>
                                  </a:rPr>
                                </m:ctrlPr>
                              </m:dPr>
                              <m:e>
                                <m:r>
                                  <a:rPr lang="en-US" altLang="ko-KR">
                                    <a:solidFill>
                                      <a:srgbClr val="FF0000"/>
                                    </a:solidFill>
                                    <a:latin typeface="Cambria Math" panose="02040503050406030204" pitchFamily="18" charset="0"/>
                                  </a:rPr>
                                  <m:t>𝑛</m:t>
                                </m:r>
                              </m:e>
                            </m:d>
                          </m:num>
                          <m:den>
                            <m:r>
                              <a:rPr lang="en-US" altLang="ko-KR">
                                <a:solidFill>
                                  <a:srgbClr val="FF0000"/>
                                </a:solidFill>
                                <a:latin typeface="Cambria Math" panose="02040503050406030204" pitchFamily="18" charset="0"/>
                              </a:rPr>
                              <m:t>𝑛</m:t>
                            </m:r>
                          </m:den>
                        </m:f>
                      </m:oMath>
                    </m:oMathPara>
                  </a14:m>
                  <a:endParaRPr lang="en-US" altLang="ko-KR" dirty="0">
                    <a:solidFill>
                      <a:srgbClr val="262626"/>
                    </a:solidFill>
                  </a:endParaRPr>
                </a:p>
              </p:txBody>
            </p:sp>
          </mc:Choice>
          <mc:Fallback xmlns="">
            <p:sp>
              <p:nvSpPr>
                <p:cNvPr id="8" name="내용 개체 틀 2">
                  <a:extLst>
                    <a:ext uri="{FF2B5EF4-FFF2-40B4-BE49-F238E27FC236}">
                      <a16:creationId xmlns:a16="http://schemas.microsoft.com/office/drawing/2014/main" id="{AFFC3A3E-5FF7-4A8F-A9E7-5294CDD90AE6}"/>
                    </a:ext>
                  </a:extLst>
                </p:cNvPr>
                <p:cNvSpPr txBox="1">
                  <a:spLocks noRot="1" noChangeAspect="1" noMove="1" noResize="1" noEditPoints="1" noAdjustHandles="1" noChangeArrowheads="1" noChangeShapeType="1" noTextEdit="1"/>
                </p:cNvSpPr>
                <p:nvPr/>
              </p:nvSpPr>
              <p:spPr>
                <a:xfrm>
                  <a:off x="3206401" y="1773238"/>
                  <a:ext cx="3490022" cy="1242904"/>
                </a:xfrm>
                <a:prstGeom prst="rect">
                  <a:avLst/>
                </a:prstGeom>
                <a:blipFill>
                  <a:blip r:embed="rId4"/>
                  <a:stretch>
                    <a:fillRect/>
                  </a:stretch>
                </a:blipFill>
                <a:ln>
                  <a:noFill/>
                </a:ln>
              </p:spPr>
              <p:txBody>
                <a:bodyPr/>
                <a:lstStyle/>
                <a:p>
                  <a:r>
                    <a:rPr lang="ko-KR" altLang="en-US">
                      <a:noFill/>
                    </a:rPr>
                    <a:t> </a:t>
                  </a:r>
                </a:p>
              </p:txBody>
            </p:sp>
          </mc:Fallback>
        </mc:AlternateContent>
        <p:sp>
          <p:nvSpPr>
            <p:cNvPr id="14" name="Rounded Rectangle 7">
              <a:extLst>
                <a:ext uri="{FF2B5EF4-FFF2-40B4-BE49-F238E27FC236}">
                  <a16:creationId xmlns:a16="http://schemas.microsoft.com/office/drawing/2014/main" id="{5601253F-4E72-498F-AF2E-CDE525B1DCD2}"/>
                </a:ext>
              </a:extLst>
            </p:cNvPr>
            <p:cNvSpPr/>
            <p:nvPr/>
          </p:nvSpPr>
          <p:spPr>
            <a:xfrm>
              <a:off x="4236856" y="1773238"/>
              <a:ext cx="1332148" cy="1242904"/>
            </a:xfrm>
            <a:prstGeom prst="rect">
              <a:avLst/>
            </a:prstGeom>
            <a:noFill/>
            <a:ln w="19050">
              <a:solidFill>
                <a:srgbClr val="193EB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7">
              <a:extLst>
                <a:ext uri="{FF2B5EF4-FFF2-40B4-BE49-F238E27FC236}">
                  <a16:creationId xmlns:a16="http://schemas.microsoft.com/office/drawing/2014/main" id="{8FCCD572-A4A9-45F8-A3DD-5B0CDF52902A}"/>
                </a:ext>
              </a:extLst>
            </p:cNvPr>
            <p:cNvSpPr/>
            <p:nvPr/>
          </p:nvSpPr>
          <p:spPr>
            <a:xfrm>
              <a:off x="5792414" y="1773238"/>
              <a:ext cx="743524" cy="1242904"/>
            </a:xfrm>
            <a:prstGeom prst="rect">
              <a:avLst/>
            </a:prstGeom>
            <a:noFill/>
            <a:ln w="1905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그룹 17">
              <a:extLst>
                <a:ext uri="{FF2B5EF4-FFF2-40B4-BE49-F238E27FC236}">
                  <a16:creationId xmlns:a16="http://schemas.microsoft.com/office/drawing/2014/main" id="{304C6F53-2DE1-4497-88C8-A50D30E4F9CD}"/>
                </a:ext>
              </a:extLst>
            </p:cNvPr>
            <p:cNvGrpSpPr/>
            <p:nvPr/>
          </p:nvGrpSpPr>
          <p:grpSpPr>
            <a:xfrm>
              <a:off x="2995917" y="3434628"/>
              <a:ext cx="2493436" cy="1783666"/>
              <a:chOff x="7295226" y="2003056"/>
              <a:chExt cx="3028249" cy="2625112"/>
            </a:xfrm>
          </p:grpSpPr>
          <p:grpSp>
            <p:nvGrpSpPr>
              <p:cNvPr id="19" name="Group 8">
                <a:extLst>
                  <a:ext uri="{FF2B5EF4-FFF2-40B4-BE49-F238E27FC236}">
                    <a16:creationId xmlns:a16="http://schemas.microsoft.com/office/drawing/2014/main" id="{6C5A7489-2AE8-4226-B3E0-5BD013840B74}"/>
                  </a:ext>
                </a:extLst>
              </p:cNvPr>
              <p:cNvGrpSpPr/>
              <p:nvPr/>
            </p:nvGrpSpPr>
            <p:grpSpPr>
              <a:xfrm>
                <a:off x="7896200" y="2003056"/>
                <a:ext cx="2427275" cy="2625112"/>
                <a:chOff x="7896200" y="2492896"/>
                <a:chExt cx="2427275" cy="2625112"/>
              </a:xfrm>
            </p:grpSpPr>
            <p:cxnSp>
              <p:nvCxnSpPr>
                <p:cNvPr id="22" name="Straight Arrow Connector 9">
                  <a:extLst>
                    <a:ext uri="{FF2B5EF4-FFF2-40B4-BE49-F238E27FC236}">
                      <a16:creationId xmlns:a16="http://schemas.microsoft.com/office/drawing/2014/main" id="{F0103BE5-EFD8-4D17-8CCD-E9E1470A6E90}"/>
                    </a:ext>
                  </a:extLst>
                </p:cNvPr>
                <p:cNvCxnSpPr/>
                <p:nvPr/>
              </p:nvCxnSpPr>
              <p:spPr>
                <a:xfrm flipV="1">
                  <a:off x="7896200" y="2492896"/>
                  <a:ext cx="0" cy="216024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10">
                  <a:extLst>
                    <a:ext uri="{FF2B5EF4-FFF2-40B4-BE49-F238E27FC236}">
                      <a16:creationId xmlns:a16="http://schemas.microsoft.com/office/drawing/2014/main" id="{0A77F8CA-7257-4A03-960E-066DDAFA5EBB}"/>
                    </a:ext>
                  </a:extLst>
                </p:cNvPr>
                <p:cNvCxnSpPr/>
                <p:nvPr/>
              </p:nvCxnSpPr>
              <p:spPr>
                <a:xfrm>
                  <a:off x="7896200" y="4653136"/>
                  <a:ext cx="2376264" cy="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5661632-1FFD-46B2-9785-7147D4555468}"/>
                        </a:ext>
                      </a:extLst>
                    </p:cNvPr>
                    <p:cNvSpPr txBox="1"/>
                    <p:nvPr/>
                  </p:nvSpPr>
                  <p:spPr>
                    <a:xfrm>
                      <a:off x="8778940" y="4710334"/>
                      <a:ext cx="1544535" cy="407674"/>
                    </a:xfrm>
                    <a:prstGeom prst="rect">
                      <a:avLst/>
                    </a:prstGeom>
                    <a:noFill/>
                  </p:spPr>
                  <p:txBody>
                    <a:bodyPr wrap="non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dirty="0"/>
                        <a:t>Complexity (~</a:t>
                      </a:r>
                      <a14:m>
                        <m:oMath xmlns:m="http://schemas.openxmlformats.org/officeDocument/2006/math">
                          <m:r>
                            <a:rPr lang="en-US" dirty="0">
                              <a:latin typeface="Cambria Math" panose="02040503050406030204" pitchFamily="18" charset="0"/>
                            </a:rPr>
                            <m:t>𝑝</m:t>
                          </m:r>
                        </m:oMath>
                      </a14:m>
                      <a:r>
                        <a:rPr lang="en-US" dirty="0"/>
                        <a:t>)</a:t>
                      </a:r>
                    </a:p>
                  </p:txBody>
                </p:sp>
              </mc:Choice>
              <mc:Fallback xmlns="">
                <p:sp>
                  <p:nvSpPr>
                    <p:cNvPr id="45" name="TextBox 44">
                      <a:extLst>
                        <a:ext uri="{FF2B5EF4-FFF2-40B4-BE49-F238E27FC236}">
                          <a16:creationId xmlns:a16="http://schemas.microsoft.com/office/drawing/2014/main" id="{2258D570-3B70-458C-9DD1-E7FF1FF2BEF0}"/>
                        </a:ext>
                      </a:extLst>
                    </p:cNvPr>
                    <p:cNvSpPr txBox="1">
                      <a:spLocks noRot="1" noChangeAspect="1" noMove="1" noResize="1" noEditPoints="1" noAdjustHandles="1" noChangeArrowheads="1" noChangeShapeType="1" noTextEdit="1"/>
                    </p:cNvSpPr>
                    <p:nvPr/>
                  </p:nvSpPr>
                  <p:spPr>
                    <a:xfrm>
                      <a:off x="8778940" y="4710334"/>
                      <a:ext cx="1544535" cy="407674"/>
                    </a:xfrm>
                    <a:prstGeom prst="rect">
                      <a:avLst/>
                    </a:prstGeom>
                    <a:blipFill>
                      <a:blip r:embed="rId7"/>
                      <a:stretch>
                        <a:fillRect/>
                      </a:stretch>
                    </a:blipFill>
                  </p:spPr>
                  <p:txBody>
                    <a:bodyPr/>
                    <a:lstStyle/>
                    <a:p>
                      <a:r>
                        <a:rPr lang="ko-KR" altLang="en-US">
                          <a:noFill/>
                        </a:rPr>
                        <a:t> </a:t>
                      </a:r>
                    </a:p>
                  </p:txBody>
                </p:sp>
              </mc:Fallback>
            </mc:AlternateContent>
          </p:grpSp>
          <p:cxnSp>
            <p:nvCxnSpPr>
              <p:cNvPr id="20" name="Straight Connector 12">
                <a:extLst>
                  <a:ext uri="{FF2B5EF4-FFF2-40B4-BE49-F238E27FC236}">
                    <a16:creationId xmlns:a16="http://schemas.microsoft.com/office/drawing/2014/main" id="{47370F47-F333-4AE2-A070-6428D7DE2680}"/>
                  </a:ext>
                </a:extLst>
              </p:cNvPr>
              <p:cNvCxnSpPr/>
              <p:nvPr/>
            </p:nvCxnSpPr>
            <p:spPr>
              <a:xfrm>
                <a:off x="8112224" y="3155184"/>
                <a:ext cx="1656184" cy="648072"/>
              </a:xfrm>
              <a:prstGeom prst="line">
                <a:avLst/>
              </a:prstGeom>
              <a:ln w="25400">
                <a:solidFill>
                  <a:srgbClr val="193EB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5554109-4C33-41E4-9467-034B8C0E653F}"/>
                  </a:ext>
                </a:extLst>
              </p:cNvPr>
              <p:cNvSpPr txBox="1"/>
              <p:nvPr/>
            </p:nvSpPr>
            <p:spPr>
              <a:xfrm>
                <a:off x="7295226" y="2624684"/>
                <a:ext cx="596956" cy="905941"/>
              </a:xfrm>
              <a:prstGeom prst="rect">
                <a:avLst/>
              </a:prstGeom>
              <a:noFill/>
            </p:spPr>
            <p:txBody>
              <a:bodyPr wrap="squar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pPr algn="ctr">
                  <a:spcAft>
                    <a:spcPts val="1200"/>
                  </a:spcAft>
                </a:pPr>
                <a:r>
                  <a:rPr lang="en-US" altLang="ko-KR" dirty="0"/>
                  <a:t>AIC</a:t>
                </a:r>
              </a:p>
              <a:p>
                <a:pPr algn="ctr">
                  <a:spcAft>
                    <a:spcPts val="1200"/>
                  </a:spcAft>
                </a:pPr>
                <a:r>
                  <a:rPr lang="en-US" altLang="ko-KR" dirty="0"/>
                  <a:t> BIC</a:t>
                </a:r>
                <a:endParaRPr lang="ko-KR" altLang="en-US" dirty="0"/>
              </a:p>
            </p:txBody>
          </p:sp>
        </p:grpSp>
        <p:grpSp>
          <p:nvGrpSpPr>
            <p:cNvPr id="28" name="그룹 27">
              <a:extLst>
                <a:ext uri="{FF2B5EF4-FFF2-40B4-BE49-F238E27FC236}">
                  <a16:creationId xmlns:a16="http://schemas.microsoft.com/office/drawing/2014/main" id="{69FB73FB-DFE9-46D4-AA4F-1A29692DF30F}"/>
                </a:ext>
              </a:extLst>
            </p:cNvPr>
            <p:cNvGrpSpPr/>
            <p:nvPr/>
          </p:nvGrpSpPr>
          <p:grpSpPr>
            <a:xfrm>
              <a:off x="5347501" y="3434628"/>
              <a:ext cx="2493436" cy="1783666"/>
              <a:chOff x="5229827" y="4313800"/>
              <a:chExt cx="2493436" cy="1783666"/>
            </a:xfrm>
          </p:grpSpPr>
          <p:grpSp>
            <p:nvGrpSpPr>
              <p:cNvPr id="29" name="그룹 28">
                <a:extLst>
                  <a:ext uri="{FF2B5EF4-FFF2-40B4-BE49-F238E27FC236}">
                    <a16:creationId xmlns:a16="http://schemas.microsoft.com/office/drawing/2014/main" id="{546E63CA-C299-40D9-A6FC-83A5FFEC7B8D}"/>
                  </a:ext>
                </a:extLst>
              </p:cNvPr>
              <p:cNvGrpSpPr/>
              <p:nvPr/>
            </p:nvGrpSpPr>
            <p:grpSpPr>
              <a:xfrm>
                <a:off x="5229827" y="4313800"/>
                <a:ext cx="2493436" cy="1783666"/>
                <a:chOff x="7295226" y="2003056"/>
                <a:chExt cx="3028249" cy="2625112"/>
              </a:xfrm>
            </p:grpSpPr>
            <p:grpSp>
              <p:nvGrpSpPr>
                <p:cNvPr id="31" name="Group 8">
                  <a:extLst>
                    <a:ext uri="{FF2B5EF4-FFF2-40B4-BE49-F238E27FC236}">
                      <a16:creationId xmlns:a16="http://schemas.microsoft.com/office/drawing/2014/main" id="{3A129385-4F13-414B-90AC-9EC583881CBB}"/>
                    </a:ext>
                  </a:extLst>
                </p:cNvPr>
                <p:cNvGrpSpPr/>
                <p:nvPr/>
              </p:nvGrpSpPr>
              <p:grpSpPr>
                <a:xfrm>
                  <a:off x="7896200" y="2003056"/>
                  <a:ext cx="2427275" cy="2625112"/>
                  <a:chOff x="7896200" y="2492896"/>
                  <a:chExt cx="2427275" cy="2625112"/>
                </a:xfrm>
              </p:grpSpPr>
              <p:cxnSp>
                <p:nvCxnSpPr>
                  <p:cNvPr id="33" name="Straight Arrow Connector 9">
                    <a:extLst>
                      <a:ext uri="{FF2B5EF4-FFF2-40B4-BE49-F238E27FC236}">
                        <a16:creationId xmlns:a16="http://schemas.microsoft.com/office/drawing/2014/main" id="{21FBECA7-C062-48ED-89F8-6D8FD784457A}"/>
                      </a:ext>
                    </a:extLst>
                  </p:cNvPr>
                  <p:cNvCxnSpPr/>
                  <p:nvPr/>
                </p:nvCxnSpPr>
                <p:spPr>
                  <a:xfrm flipV="1">
                    <a:off x="7896200" y="2492896"/>
                    <a:ext cx="0" cy="216024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10">
                    <a:extLst>
                      <a:ext uri="{FF2B5EF4-FFF2-40B4-BE49-F238E27FC236}">
                        <a16:creationId xmlns:a16="http://schemas.microsoft.com/office/drawing/2014/main" id="{D3CFCE45-14E2-4709-8EAC-53445CDCCCEA}"/>
                      </a:ext>
                    </a:extLst>
                  </p:cNvPr>
                  <p:cNvCxnSpPr/>
                  <p:nvPr/>
                </p:nvCxnSpPr>
                <p:spPr>
                  <a:xfrm>
                    <a:off x="7896200" y="4653136"/>
                    <a:ext cx="2376264" cy="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661A49F-0862-44CF-B740-254539071C5D}"/>
                          </a:ext>
                        </a:extLst>
                      </p:cNvPr>
                      <p:cNvSpPr txBox="1"/>
                      <p:nvPr/>
                    </p:nvSpPr>
                    <p:spPr>
                      <a:xfrm>
                        <a:off x="8778940" y="4710334"/>
                        <a:ext cx="1544535" cy="407674"/>
                      </a:xfrm>
                      <a:prstGeom prst="rect">
                        <a:avLst/>
                      </a:prstGeom>
                      <a:noFill/>
                    </p:spPr>
                    <p:txBody>
                      <a:bodyPr wrap="non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dirty="0"/>
                          <a:t>Complexity (~</a:t>
                        </a:r>
                        <a14:m>
                          <m:oMath xmlns:m="http://schemas.openxmlformats.org/officeDocument/2006/math">
                            <m:r>
                              <a:rPr lang="en-US" dirty="0">
                                <a:latin typeface="Cambria Math" panose="02040503050406030204" pitchFamily="18" charset="0"/>
                              </a:rPr>
                              <m:t>𝑝</m:t>
                            </m:r>
                          </m:oMath>
                        </a14:m>
                        <a:r>
                          <a:rPr lang="en-US" dirty="0"/>
                          <a:t>)</a:t>
                        </a:r>
                      </a:p>
                    </p:txBody>
                  </p:sp>
                </mc:Choice>
                <mc:Fallback xmlns="">
                  <p:sp>
                    <p:nvSpPr>
                      <p:cNvPr id="59" name="TextBox 58">
                        <a:extLst>
                          <a:ext uri="{FF2B5EF4-FFF2-40B4-BE49-F238E27FC236}">
                            <a16:creationId xmlns:a16="http://schemas.microsoft.com/office/drawing/2014/main" id="{2258D570-3B70-458C-9DD1-E7FF1FF2BEF0}"/>
                          </a:ext>
                        </a:extLst>
                      </p:cNvPr>
                      <p:cNvSpPr txBox="1">
                        <a:spLocks noRot="1" noChangeAspect="1" noMove="1" noResize="1" noEditPoints="1" noAdjustHandles="1" noChangeArrowheads="1" noChangeShapeType="1" noTextEdit="1"/>
                      </p:cNvSpPr>
                      <p:nvPr/>
                    </p:nvSpPr>
                    <p:spPr>
                      <a:xfrm>
                        <a:off x="8778940" y="4710334"/>
                        <a:ext cx="1544535" cy="407674"/>
                      </a:xfrm>
                      <a:prstGeom prst="rect">
                        <a:avLst/>
                      </a:prstGeom>
                      <a:blipFill>
                        <a:blip r:embed="rId8"/>
                        <a:stretch>
                          <a:fillRect/>
                        </a:stretch>
                      </a:blipFill>
                    </p:spPr>
                    <p:txBody>
                      <a:bodyPr/>
                      <a:lstStyle/>
                      <a:p>
                        <a:r>
                          <a:rPr lang="ko-KR" altLang="en-US">
                            <a:noFill/>
                          </a:rPr>
                          <a:t> </a:t>
                        </a:r>
                      </a:p>
                    </p:txBody>
                  </p:sp>
                </mc:Fallback>
              </mc:AlternateContent>
            </p:grpSp>
            <p:sp>
              <p:nvSpPr>
                <p:cNvPr id="32" name="TextBox 31">
                  <a:extLst>
                    <a:ext uri="{FF2B5EF4-FFF2-40B4-BE49-F238E27FC236}">
                      <a16:creationId xmlns:a16="http://schemas.microsoft.com/office/drawing/2014/main" id="{29E7A4C8-5C3C-4F7E-A34E-4DFAC125D7C2}"/>
                    </a:ext>
                  </a:extLst>
                </p:cNvPr>
                <p:cNvSpPr txBox="1"/>
                <p:nvPr/>
              </p:nvSpPr>
              <p:spPr>
                <a:xfrm>
                  <a:off x="7295226" y="2624684"/>
                  <a:ext cx="596956" cy="905941"/>
                </a:xfrm>
                <a:prstGeom prst="rect">
                  <a:avLst/>
                </a:prstGeom>
                <a:noFill/>
              </p:spPr>
              <p:txBody>
                <a:bodyPr wrap="squar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pPr algn="ctr">
                    <a:spcAft>
                      <a:spcPts val="1200"/>
                    </a:spcAft>
                  </a:pPr>
                  <a:r>
                    <a:rPr lang="en-US" altLang="ko-KR" dirty="0"/>
                    <a:t>AIC</a:t>
                  </a:r>
                </a:p>
                <a:p>
                  <a:pPr algn="ctr">
                    <a:spcAft>
                      <a:spcPts val="1200"/>
                    </a:spcAft>
                  </a:pPr>
                  <a:r>
                    <a:rPr lang="en-US" altLang="ko-KR" dirty="0"/>
                    <a:t> BIC</a:t>
                  </a:r>
                  <a:endParaRPr lang="ko-KR" altLang="en-US" dirty="0"/>
                </a:p>
              </p:txBody>
            </p:sp>
          </p:grpSp>
          <p:cxnSp>
            <p:nvCxnSpPr>
              <p:cNvPr id="30" name="Straight Connector 18">
                <a:extLst>
                  <a:ext uri="{FF2B5EF4-FFF2-40B4-BE49-F238E27FC236}">
                    <a16:creationId xmlns:a16="http://schemas.microsoft.com/office/drawing/2014/main" id="{1270B271-CA42-475A-949C-04CA9F336713}"/>
                  </a:ext>
                </a:extLst>
              </p:cNvPr>
              <p:cNvCxnSpPr/>
              <p:nvPr/>
            </p:nvCxnSpPr>
            <p:spPr>
              <a:xfrm flipV="1">
                <a:off x="5877537" y="5035001"/>
                <a:ext cx="1363689" cy="48926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6" name="아래쪽 화살표 61">
              <a:extLst>
                <a:ext uri="{FF2B5EF4-FFF2-40B4-BE49-F238E27FC236}">
                  <a16:creationId xmlns:a16="http://schemas.microsoft.com/office/drawing/2014/main" id="{830E73F7-7328-4F95-A7BC-FEA38ED2C4CA}"/>
                </a:ext>
              </a:extLst>
            </p:cNvPr>
            <p:cNvSpPr/>
            <p:nvPr/>
          </p:nvSpPr>
          <p:spPr>
            <a:xfrm>
              <a:off x="4848493" y="3160578"/>
              <a:ext cx="205838" cy="291878"/>
            </a:xfrm>
            <a:prstGeom prst="downArrow">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아래쪽 화살표 62">
              <a:extLst>
                <a:ext uri="{FF2B5EF4-FFF2-40B4-BE49-F238E27FC236}">
                  <a16:creationId xmlns:a16="http://schemas.microsoft.com/office/drawing/2014/main" id="{C64AC4C9-57B3-4594-A858-C403DEE5A370}"/>
                </a:ext>
              </a:extLst>
            </p:cNvPr>
            <p:cNvSpPr/>
            <p:nvPr/>
          </p:nvSpPr>
          <p:spPr>
            <a:xfrm>
              <a:off x="6061257" y="3160578"/>
              <a:ext cx="205838" cy="291878"/>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5523605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2.3. Linear Regression Diagnostics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9" name="직사각형 8">
            <a:extLst>
              <a:ext uri="{FF2B5EF4-FFF2-40B4-BE49-F238E27FC236}">
                <a16:creationId xmlns:a16="http://schemas.microsoft.com/office/drawing/2014/main" id="{FB4F96C9-7484-4D21-BBEA-0901BDAC067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Information criteria and modelling</a:t>
            </a:r>
          </a:p>
        </p:txBody>
      </p:sp>
      <p:grpSp>
        <p:nvGrpSpPr>
          <p:cNvPr id="3" name="그룹 2"/>
          <p:cNvGrpSpPr/>
          <p:nvPr/>
        </p:nvGrpSpPr>
        <p:grpSpPr>
          <a:xfrm>
            <a:off x="2899184" y="1952836"/>
            <a:ext cx="4995390" cy="3511436"/>
            <a:chOff x="3206401" y="1773238"/>
            <a:chExt cx="4995390" cy="3511436"/>
          </a:xfrm>
        </p:grpSpPr>
        <mc:AlternateContent xmlns:mc="http://schemas.openxmlformats.org/markup-compatibility/2006" xmlns:a14="http://schemas.microsoft.com/office/drawing/2010/main">
          <mc:Choice Requires="a14">
            <p:sp>
              <p:nvSpPr>
                <p:cNvPr id="8" name="내용 개체 틀 2">
                  <a:extLst>
                    <a:ext uri="{FF2B5EF4-FFF2-40B4-BE49-F238E27FC236}">
                      <a16:creationId xmlns:a16="http://schemas.microsoft.com/office/drawing/2014/main" id="{AFFC3A3E-5FF7-4A8F-A9E7-5294CDD90AE6}"/>
                    </a:ext>
                  </a:extLst>
                </p:cNvPr>
                <p:cNvSpPr txBox="1">
                  <a:spLocks/>
                </p:cNvSpPr>
                <p:nvPr/>
              </p:nvSpPr>
              <p:spPr>
                <a:xfrm>
                  <a:off x="3206401" y="1773238"/>
                  <a:ext cx="3490022" cy="12429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left"/>
                      </m:oMathParaPr>
                      <m:oMath xmlns:m="http://schemas.openxmlformats.org/officeDocument/2006/math">
                        <m:r>
                          <a:rPr lang="en-US" altLang="ko-KR">
                            <a:solidFill>
                              <a:srgbClr val="262626"/>
                            </a:solidFill>
                            <a:latin typeface="Cambria Math" panose="02040503050406030204" pitchFamily="18" charset="0"/>
                          </a:rPr>
                          <m:t>𝐴𝐼𝐶</m:t>
                        </m:r>
                        <m:r>
                          <a:rPr lang="en-US" altLang="ko-KR">
                            <a:solidFill>
                              <a:srgbClr val="262626"/>
                            </a:solidFill>
                            <a:latin typeface="Cambria Math" panose="02040503050406030204" pitchFamily="18" charset="0"/>
                          </a:rPr>
                          <m:t>=−2</m:t>
                        </m:r>
                        <m:f>
                          <m:fPr>
                            <m:ctrlPr>
                              <a:rPr lang="en-US" altLang="ko-KR" i="1">
                                <a:solidFill>
                                  <a:srgbClr val="262626"/>
                                </a:solidFill>
                                <a:latin typeface="Cambria Math" panose="02040503050406030204" pitchFamily="18" charset="0"/>
                              </a:rPr>
                            </m:ctrlPr>
                          </m:fPr>
                          <m:num>
                            <m:r>
                              <a:rPr lang="en-US" altLang="ko-KR">
                                <a:solidFill>
                                  <a:srgbClr val="193EB0"/>
                                </a:solidFill>
                                <a:latin typeface="Cambria Math" panose="02040503050406030204" pitchFamily="18" charset="0"/>
                              </a:rPr>
                              <m:t>𝐿𝑜𝑔</m:t>
                            </m:r>
                            <m:r>
                              <a:rPr lang="en-US" altLang="ko-KR">
                                <a:solidFill>
                                  <a:srgbClr val="193EB0"/>
                                </a:solidFill>
                                <a:latin typeface="Cambria Math" panose="02040503050406030204" pitchFamily="18" charset="0"/>
                              </a:rPr>
                              <m:t> </m:t>
                            </m:r>
                            <m:r>
                              <a:rPr lang="en-US" altLang="ko-KR">
                                <a:solidFill>
                                  <a:srgbClr val="193EB0"/>
                                </a:solidFill>
                                <a:latin typeface="Cambria Math" panose="02040503050406030204" pitchFamily="18" charset="0"/>
                              </a:rPr>
                              <m:t>𝑙𝑖𝑘𝑒𝑙𝑖h𝑜𝑜𝑑</m:t>
                            </m:r>
                          </m:num>
                          <m:den>
                            <m:r>
                              <m:rPr>
                                <m:nor/>
                              </m:rPr>
                              <a:rPr lang="en-US" altLang="ko-KR" dirty="0">
                                <a:solidFill>
                                  <a:srgbClr val="193EB0"/>
                                </a:solidFill>
                              </a:rPr>
                              <m:t>n</m:t>
                            </m:r>
                          </m:den>
                        </m:f>
                        <m:r>
                          <a:rPr lang="en-US" altLang="ko-KR">
                            <a:solidFill>
                              <a:srgbClr val="262626"/>
                            </a:solidFill>
                            <a:latin typeface="Cambria Math" panose="02040503050406030204" pitchFamily="18" charset="0"/>
                          </a:rPr>
                          <m:t>+</m:t>
                        </m:r>
                        <m:r>
                          <a:rPr lang="en-US" altLang="ko-KR">
                            <a:solidFill>
                              <a:srgbClr val="FF0000"/>
                            </a:solidFill>
                            <a:latin typeface="Cambria Math" panose="02040503050406030204" pitchFamily="18" charset="0"/>
                          </a:rPr>
                          <m:t>2</m:t>
                        </m:r>
                        <m:f>
                          <m:fPr>
                            <m:ctrlPr>
                              <a:rPr lang="en-US" altLang="ko-KR" i="1">
                                <a:solidFill>
                                  <a:srgbClr val="FF0000"/>
                                </a:solidFill>
                                <a:latin typeface="Cambria Math" panose="02040503050406030204" pitchFamily="18" charset="0"/>
                              </a:rPr>
                            </m:ctrlPr>
                          </m:fPr>
                          <m:num>
                            <m:r>
                              <a:rPr lang="en-US" altLang="ko-KR">
                                <a:solidFill>
                                  <a:srgbClr val="FF0000"/>
                                </a:solidFill>
                                <a:latin typeface="Cambria Math" panose="02040503050406030204" pitchFamily="18" charset="0"/>
                              </a:rPr>
                              <m:t>𝑝</m:t>
                            </m:r>
                          </m:num>
                          <m:den>
                            <m:r>
                              <a:rPr lang="en-US" altLang="ko-KR">
                                <a:solidFill>
                                  <a:srgbClr val="FF0000"/>
                                </a:solidFill>
                                <a:latin typeface="Cambria Math" panose="02040503050406030204" pitchFamily="18" charset="0"/>
                              </a:rPr>
                              <m:t>𝑛</m:t>
                            </m:r>
                          </m:den>
                        </m:f>
                      </m:oMath>
                    </m:oMathPara>
                  </a14:m>
                  <a:endParaRPr lang="en-US" altLang="ko-KR" dirty="0">
                    <a:solidFill>
                      <a:srgbClr val="262626"/>
                    </a:solidFill>
                  </a:endParaRPr>
                </a:p>
                <a:p>
                  <a:pPr/>
                  <a14:m>
                    <m:oMathPara xmlns:m="http://schemas.openxmlformats.org/officeDocument/2006/math">
                      <m:oMathParaPr>
                        <m:jc m:val="left"/>
                      </m:oMathParaPr>
                      <m:oMath xmlns:m="http://schemas.openxmlformats.org/officeDocument/2006/math">
                        <m:r>
                          <a:rPr lang="en-US" altLang="ko-KR">
                            <a:solidFill>
                              <a:srgbClr val="262626"/>
                            </a:solidFill>
                            <a:latin typeface="Cambria Math" panose="02040503050406030204" pitchFamily="18" charset="0"/>
                          </a:rPr>
                          <m:t>𝐵𝐼𝐶</m:t>
                        </m:r>
                        <m:r>
                          <a:rPr lang="en-US" altLang="ko-KR">
                            <a:solidFill>
                              <a:srgbClr val="262626"/>
                            </a:solidFill>
                            <a:latin typeface="Cambria Math" panose="02040503050406030204" pitchFamily="18" charset="0"/>
                          </a:rPr>
                          <m:t>=−2</m:t>
                        </m:r>
                        <m:f>
                          <m:fPr>
                            <m:ctrlPr>
                              <a:rPr lang="en-US" altLang="ko-KR" i="1">
                                <a:solidFill>
                                  <a:srgbClr val="262626"/>
                                </a:solidFill>
                                <a:latin typeface="Cambria Math" panose="02040503050406030204" pitchFamily="18" charset="0"/>
                              </a:rPr>
                            </m:ctrlPr>
                          </m:fPr>
                          <m:num>
                            <m:r>
                              <a:rPr lang="en-US" altLang="ko-KR">
                                <a:solidFill>
                                  <a:srgbClr val="193EB0"/>
                                </a:solidFill>
                                <a:latin typeface="Cambria Math" panose="02040503050406030204" pitchFamily="18" charset="0"/>
                              </a:rPr>
                              <m:t>𝐿𝑜𝑔</m:t>
                            </m:r>
                            <m:r>
                              <a:rPr lang="en-US" altLang="ko-KR">
                                <a:solidFill>
                                  <a:srgbClr val="193EB0"/>
                                </a:solidFill>
                                <a:latin typeface="Cambria Math" panose="02040503050406030204" pitchFamily="18" charset="0"/>
                              </a:rPr>
                              <m:t> </m:t>
                            </m:r>
                            <m:r>
                              <a:rPr lang="en-US" altLang="ko-KR">
                                <a:solidFill>
                                  <a:srgbClr val="193EB0"/>
                                </a:solidFill>
                                <a:latin typeface="Cambria Math" panose="02040503050406030204" pitchFamily="18" charset="0"/>
                              </a:rPr>
                              <m:t>𝑙𝑖𝑘𝑒𝑙𝑖h𝑜𝑜𝑑</m:t>
                            </m:r>
                          </m:num>
                          <m:den>
                            <m:r>
                              <a:rPr lang="en-US" altLang="ko-KR">
                                <a:solidFill>
                                  <a:srgbClr val="193EB0"/>
                                </a:solidFill>
                                <a:latin typeface="Cambria Math" panose="02040503050406030204" pitchFamily="18" charset="0"/>
                              </a:rPr>
                              <m:t>𝑛</m:t>
                            </m:r>
                          </m:den>
                        </m:f>
                        <m:r>
                          <a:rPr lang="en-US" altLang="ko-KR">
                            <a:solidFill>
                              <a:srgbClr val="262626"/>
                            </a:solidFill>
                            <a:latin typeface="Cambria Math" panose="02040503050406030204" pitchFamily="18" charset="0"/>
                          </a:rPr>
                          <m:t>+</m:t>
                        </m:r>
                        <m:r>
                          <a:rPr lang="en-US" altLang="ko-KR">
                            <a:solidFill>
                              <a:srgbClr val="FF0000"/>
                            </a:solidFill>
                            <a:latin typeface="Cambria Math" panose="02040503050406030204" pitchFamily="18" charset="0"/>
                          </a:rPr>
                          <m:t>𝑝</m:t>
                        </m:r>
                        <m:f>
                          <m:fPr>
                            <m:ctrlPr>
                              <a:rPr lang="en-US" altLang="ko-KR" i="1">
                                <a:solidFill>
                                  <a:srgbClr val="FF0000"/>
                                </a:solidFill>
                                <a:latin typeface="Cambria Math" panose="02040503050406030204" pitchFamily="18" charset="0"/>
                              </a:rPr>
                            </m:ctrlPr>
                          </m:fPr>
                          <m:num>
                            <m:r>
                              <a:rPr lang="en-US" altLang="ko-KR">
                                <a:solidFill>
                                  <a:srgbClr val="FF0000"/>
                                </a:solidFill>
                                <a:latin typeface="Cambria Math" panose="02040503050406030204" pitchFamily="18" charset="0"/>
                              </a:rPr>
                              <m:t>𝐿𝑛</m:t>
                            </m:r>
                            <m:d>
                              <m:dPr>
                                <m:ctrlPr>
                                  <a:rPr lang="en-US" altLang="ko-KR" i="1">
                                    <a:solidFill>
                                      <a:srgbClr val="FF0000"/>
                                    </a:solidFill>
                                    <a:latin typeface="Cambria Math" panose="02040503050406030204" pitchFamily="18" charset="0"/>
                                  </a:rPr>
                                </m:ctrlPr>
                              </m:dPr>
                              <m:e>
                                <m:r>
                                  <a:rPr lang="en-US" altLang="ko-KR">
                                    <a:solidFill>
                                      <a:srgbClr val="FF0000"/>
                                    </a:solidFill>
                                    <a:latin typeface="Cambria Math" panose="02040503050406030204" pitchFamily="18" charset="0"/>
                                  </a:rPr>
                                  <m:t>𝑛</m:t>
                                </m:r>
                              </m:e>
                            </m:d>
                          </m:num>
                          <m:den>
                            <m:r>
                              <a:rPr lang="en-US" altLang="ko-KR">
                                <a:solidFill>
                                  <a:srgbClr val="FF0000"/>
                                </a:solidFill>
                                <a:latin typeface="Cambria Math" panose="02040503050406030204" pitchFamily="18" charset="0"/>
                              </a:rPr>
                              <m:t>𝑛</m:t>
                            </m:r>
                          </m:den>
                        </m:f>
                      </m:oMath>
                    </m:oMathPara>
                  </a14:m>
                  <a:endParaRPr lang="en-US" altLang="ko-KR" dirty="0">
                    <a:solidFill>
                      <a:srgbClr val="262626"/>
                    </a:solidFill>
                  </a:endParaRPr>
                </a:p>
              </p:txBody>
            </p:sp>
          </mc:Choice>
          <mc:Fallback xmlns="">
            <p:sp>
              <p:nvSpPr>
                <p:cNvPr id="8" name="내용 개체 틀 2">
                  <a:extLst>
                    <a:ext uri="{FF2B5EF4-FFF2-40B4-BE49-F238E27FC236}">
                      <a16:creationId xmlns:a16="http://schemas.microsoft.com/office/drawing/2014/main" id="{AFFC3A3E-5FF7-4A8F-A9E7-5294CDD90AE6}"/>
                    </a:ext>
                  </a:extLst>
                </p:cNvPr>
                <p:cNvSpPr txBox="1">
                  <a:spLocks noRot="1" noChangeAspect="1" noMove="1" noResize="1" noEditPoints="1" noAdjustHandles="1" noChangeArrowheads="1" noChangeShapeType="1" noTextEdit="1"/>
                </p:cNvSpPr>
                <p:nvPr/>
              </p:nvSpPr>
              <p:spPr>
                <a:xfrm>
                  <a:off x="3206401" y="1773238"/>
                  <a:ext cx="3490022" cy="1242904"/>
                </a:xfrm>
                <a:prstGeom prst="rect">
                  <a:avLst/>
                </a:prstGeom>
                <a:blipFill>
                  <a:blip r:embed="rId4"/>
                  <a:stretch>
                    <a:fillRect/>
                  </a:stretch>
                </a:blipFill>
                <a:ln>
                  <a:noFill/>
                </a:ln>
              </p:spPr>
              <p:txBody>
                <a:bodyPr/>
                <a:lstStyle/>
                <a:p>
                  <a:r>
                    <a:rPr lang="ko-KR" altLang="en-US">
                      <a:noFill/>
                    </a:rPr>
                    <a:t> </a:t>
                  </a:r>
                </a:p>
              </p:txBody>
            </p:sp>
          </mc:Fallback>
        </mc:AlternateContent>
        <p:sp>
          <p:nvSpPr>
            <p:cNvPr id="45" name="Rounded Rectangle 7">
              <a:extLst>
                <a:ext uri="{FF2B5EF4-FFF2-40B4-BE49-F238E27FC236}">
                  <a16:creationId xmlns:a16="http://schemas.microsoft.com/office/drawing/2014/main" id="{8F0C343B-F76E-42D3-85F1-65170F2B7F5B}"/>
                </a:ext>
              </a:extLst>
            </p:cNvPr>
            <p:cNvSpPr/>
            <p:nvPr/>
          </p:nvSpPr>
          <p:spPr>
            <a:xfrm>
              <a:off x="3943300" y="1773238"/>
              <a:ext cx="2753122" cy="1242903"/>
            </a:xfrm>
            <a:prstGeom prst="rect">
              <a:avLst/>
            </a:prstGeom>
            <a:noFill/>
            <a:ln w="19050">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아래쪽 화살표 62">
              <a:extLst>
                <a:ext uri="{FF2B5EF4-FFF2-40B4-BE49-F238E27FC236}">
                  <a16:creationId xmlns:a16="http://schemas.microsoft.com/office/drawing/2014/main" id="{EF6180B6-D5A3-45ED-9919-527246E4F420}"/>
                </a:ext>
              </a:extLst>
            </p:cNvPr>
            <p:cNvSpPr/>
            <p:nvPr/>
          </p:nvSpPr>
          <p:spPr>
            <a:xfrm>
              <a:off x="5216121" y="3145190"/>
              <a:ext cx="205838" cy="291878"/>
            </a:xfrm>
            <a:prstGeom prst="down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11E95ECE-14A5-45C5-917D-EC4C1B02EE90}"/>
                </a:ext>
              </a:extLst>
            </p:cNvPr>
            <p:cNvGrpSpPr/>
            <p:nvPr/>
          </p:nvGrpSpPr>
          <p:grpSpPr>
            <a:xfrm>
              <a:off x="3902485" y="3501008"/>
              <a:ext cx="4299306" cy="1783666"/>
              <a:chOff x="3902485" y="3501008"/>
              <a:chExt cx="4299306" cy="1783666"/>
            </a:xfrm>
          </p:grpSpPr>
          <p:grpSp>
            <p:nvGrpSpPr>
              <p:cNvPr id="47" name="그룹 46">
                <a:extLst>
                  <a:ext uri="{FF2B5EF4-FFF2-40B4-BE49-F238E27FC236}">
                    <a16:creationId xmlns:a16="http://schemas.microsoft.com/office/drawing/2014/main" id="{FDF024B8-2DF0-4CDF-97F6-C38E5D1E9203}"/>
                  </a:ext>
                </a:extLst>
              </p:cNvPr>
              <p:cNvGrpSpPr/>
              <p:nvPr/>
            </p:nvGrpSpPr>
            <p:grpSpPr>
              <a:xfrm>
                <a:off x="3902485" y="3501008"/>
                <a:ext cx="2493436" cy="1783666"/>
                <a:chOff x="7295226" y="2003056"/>
                <a:chExt cx="3028249" cy="2625112"/>
              </a:xfrm>
            </p:grpSpPr>
            <p:grpSp>
              <p:nvGrpSpPr>
                <p:cNvPr id="48" name="Group 8">
                  <a:extLst>
                    <a:ext uri="{FF2B5EF4-FFF2-40B4-BE49-F238E27FC236}">
                      <a16:creationId xmlns:a16="http://schemas.microsoft.com/office/drawing/2014/main" id="{FFD6B719-4F3E-4F02-81FA-7335E2572355}"/>
                    </a:ext>
                  </a:extLst>
                </p:cNvPr>
                <p:cNvGrpSpPr/>
                <p:nvPr/>
              </p:nvGrpSpPr>
              <p:grpSpPr>
                <a:xfrm>
                  <a:off x="7896200" y="2003056"/>
                  <a:ext cx="2427275" cy="2625112"/>
                  <a:chOff x="7896200" y="2492896"/>
                  <a:chExt cx="2427275" cy="2625112"/>
                </a:xfrm>
              </p:grpSpPr>
              <p:cxnSp>
                <p:nvCxnSpPr>
                  <p:cNvPr id="50" name="Straight Arrow Connector 9">
                    <a:extLst>
                      <a:ext uri="{FF2B5EF4-FFF2-40B4-BE49-F238E27FC236}">
                        <a16:creationId xmlns:a16="http://schemas.microsoft.com/office/drawing/2014/main" id="{89316F35-F23F-4427-81A9-5C1319B42CEB}"/>
                      </a:ext>
                    </a:extLst>
                  </p:cNvPr>
                  <p:cNvCxnSpPr/>
                  <p:nvPr/>
                </p:nvCxnSpPr>
                <p:spPr>
                  <a:xfrm flipV="1">
                    <a:off x="7896200" y="2492896"/>
                    <a:ext cx="0" cy="216024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10">
                    <a:extLst>
                      <a:ext uri="{FF2B5EF4-FFF2-40B4-BE49-F238E27FC236}">
                        <a16:creationId xmlns:a16="http://schemas.microsoft.com/office/drawing/2014/main" id="{F93F0C8E-18FA-4401-B18B-03E8A42C519A}"/>
                      </a:ext>
                    </a:extLst>
                  </p:cNvPr>
                  <p:cNvCxnSpPr/>
                  <p:nvPr/>
                </p:nvCxnSpPr>
                <p:spPr>
                  <a:xfrm>
                    <a:off x="7896200" y="4653136"/>
                    <a:ext cx="2376264" cy="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5B62026-1ADF-41F7-884F-9907AB30A951}"/>
                          </a:ext>
                        </a:extLst>
                      </p:cNvPr>
                      <p:cNvSpPr txBox="1"/>
                      <p:nvPr/>
                    </p:nvSpPr>
                    <p:spPr>
                      <a:xfrm>
                        <a:off x="8778940" y="4710334"/>
                        <a:ext cx="1544535" cy="407674"/>
                      </a:xfrm>
                      <a:prstGeom prst="rect">
                        <a:avLst/>
                      </a:prstGeom>
                      <a:noFill/>
                    </p:spPr>
                    <p:txBody>
                      <a:bodyPr wrap="non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dirty="0"/>
                          <a:t>Complexity (~</a:t>
                        </a:r>
                        <a14:m>
                          <m:oMath xmlns:m="http://schemas.openxmlformats.org/officeDocument/2006/math">
                            <m:r>
                              <a:rPr lang="en-US" dirty="0">
                                <a:latin typeface="Cambria Math" panose="02040503050406030204" pitchFamily="18" charset="0"/>
                              </a:rPr>
                              <m:t>𝑝</m:t>
                            </m:r>
                          </m:oMath>
                        </a14:m>
                        <a:r>
                          <a:rPr lang="en-US" dirty="0"/>
                          <a:t>)</a:t>
                        </a:r>
                      </a:p>
                    </p:txBody>
                  </p:sp>
                </mc:Choice>
                <mc:Fallback xmlns="">
                  <p:sp>
                    <p:nvSpPr>
                      <p:cNvPr id="45" name="TextBox 44">
                        <a:extLst>
                          <a:ext uri="{FF2B5EF4-FFF2-40B4-BE49-F238E27FC236}">
                            <a16:creationId xmlns:a16="http://schemas.microsoft.com/office/drawing/2014/main" id="{2258D570-3B70-458C-9DD1-E7FF1FF2BEF0}"/>
                          </a:ext>
                        </a:extLst>
                      </p:cNvPr>
                      <p:cNvSpPr txBox="1">
                        <a:spLocks noRot="1" noChangeAspect="1" noMove="1" noResize="1" noEditPoints="1" noAdjustHandles="1" noChangeArrowheads="1" noChangeShapeType="1" noTextEdit="1"/>
                      </p:cNvSpPr>
                      <p:nvPr/>
                    </p:nvSpPr>
                    <p:spPr>
                      <a:xfrm>
                        <a:off x="8778940" y="4710334"/>
                        <a:ext cx="1544535" cy="407674"/>
                      </a:xfrm>
                      <a:prstGeom prst="rect">
                        <a:avLst/>
                      </a:prstGeom>
                      <a:blipFill>
                        <a:blip r:embed="rId5"/>
                        <a:stretch>
                          <a:fillRect/>
                        </a:stretch>
                      </a:blipFill>
                    </p:spPr>
                    <p:txBody>
                      <a:bodyPr/>
                      <a:lstStyle/>
                      <a:p>
                        <a:r>
                          <a:rPr lang="ko-KR" altLang="en-US">
                            <a:noFill/>
                          </a:rPr>
                          <a:t> </a:t>
                        </a:r>
                      </a:p>
                    </p:txBody>
                  </p:sp>
                </mc:Fallback>
              </mc:AlternateContent>
            </p:grpSp>
            <p:sp>
              <p:nvSpPr>
                <p:cNvPr id="49" name="TextBox 48">
                  <a:extLst>
                    <a:ext uri="{FF2B5EF4-FFF2-40B4-BE49-F238E27FC236}">
                      <a16:creationId xmlns:a16="http://schemas.microsoft.com/office/drawing/2014/main" id="{2501EEE8-58F9-43BE-BDD2-7059DDC696DB}"/>
                    </a:ext>
                  </a:extLst>
                </p:cNvPr>
                <p:cNvSpPr txBox="1"/>
                <p:nvPr/>
              </p:nvSpPr>
              <p:spPr>
                <a:xfrm>
                  <a:off x="7295226" y="2624684"/>
                  <a:ext cx="596956" cy="905941"/>
                </a:xfrm>
                <a:prstGeom prst="rect">
                  <a:avLst/>
                </a:prstGeom>
                <a:noFill/>
              </p:spPr>
              <p:txBody>
                <a:bodyPr wrap="squar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pPr algn="ctr">
                    <a:spcAft>
                      <a:spcPts val="1200"/>
                    </a:spcAft>
                  </a:pPr>
                  <a:r>
                    <a:rPr lang="en-US" altLang="ko-KR" dirty="0"/>
                    <a:t>AIC</a:t>
                  </a:r>
                </a:p>
                <a:p>
                  <a:pPr algn="ctr">
                    <a:spcAft>
                      <a:spcPts val="1200"/>
                    </a:spcAft>
                  </a:pPr>
                  <a:r>
                    <a:rPr lang="en-US" altLang="ko-KR" dirty="0"/>
                    <a:t> BIC</a:t>
                  </a:r>
                  <a:endParaRPr lang="ko-KR" altLang="en-US" dirty="0"/>
                </a:p>
              </p:txBody>
            </p:sp>
          </p:grpSp>
          <p:grpSp>
            <p:nvGrpSpPr>
              <p:cNvPr id="53" name="그룹 52">
                <a:extLst>
                  <a:ext uri="{FF2B5EF4-FFF2-40B4-BE49-F238E27FC236}">
                    <a16:creationId xmlns:a16="http://schemas.microsoft.com/office/drawing/2014/main" id="{31619D58-C66B-4476-8E00-32050598C4EC}"/>
                  </a:ext>
                </a:extLst>
              </p:cNvPr>
              <p:cNvGrpSpPr/>
              <p:nvPr/>
            </p:nvGrpSpPr>
            <p:grpSpPr>
              <a:xfrm>
                <a:off x="4469370" y="4045445"/>
                <a:ext cx="1738089" cy="690892"/>
                <a:chOff x="4266956" y="4858237"/>
                <a:chExt cx="1802920" cy="690892"/>
              </a:xfrm>
            </p:grpSpPr>
            <p:sp>
              <p:nvSpPr>
                <p:cNvPr id="54" name="Freeform 12">
                  <a:extLst>
                    <a:ext uri="{FF2B5EF4-FFF2-40B4-BE49-F238E27FC236}">
                      <a16:creationId xmlns:a16="http://schemas.microsoft.com/office/drawing/2014/main" id="{24FB3BD7-5098-4C23-B0BE-6951E9E7C261}"/>
                    </a:ext>
                  </a:extLst>
                </p:cNvPr>
                <p:cNvSpPr/>
                <p:nvPr/>
              </p:nvSpPr>
              <p:spPr>
                <a:xfrm>
                  <a:off x="4266956" y="4858237"/>
                  <a:ext cx="1802920" cy="303395"/>
                </a:xfrm>
                <a:custGeom>
                  <a:avLst/>
                  <a:gdLst>
                    <a:gd name="connsiteX0" fmla="*/ 0 w 1802920"/>
                    <a:gd name="connsiteY0" fmla="*/ 0 h 379567"/>
                    <a:gd name="connsiteX1" fmla="*/ 897147 w 1802920"/>
                    <a:gd name="connsiteY1" fmla="*/ 379562 h 379567"/>
                    <a:gd name="connsiteX2" fmla="*/ 1802920 w 1802920"/>
                    <a:gd name="connsiteY2" fmla="*/ 8626 h 379567"/>
                  </a:gdLst>
                  <a:ahLst/>
                  <a:cxnLst>
                    <a:cxn ang="0">
                      <a:pos x="connsiteX0" y="connsiteY0"/>
                    </a:cxn>
                    <a:cxn ang="0">
                      <a:pos x="connsiteX1" y="connsiteY1"/>
                    </a:cxn>
                    <a:cxn ang="0">
                      <a:pos x="connsiteX2" y="connsiteY2"/>
                    </a:cxn>
                  </a:cxnLst>
                  <a:rect l="l" t="t" r="r" b="b"/>
                  <a:pathLst>
                    <a:path w="1802920" h="379567">
                      <a:moveTo>
                        <a:pt x="0" y="0"/>
                      </a:moveTo>
                      <a:cubicBezTo>
                        <a:pt x="298330" y="189062"/>
                        <a:pt x="596660" y="378124"/>
                        <a:pt x="897147" y="379562"/>
                      </a:cubicBezTo>
                      <a:cubicBezTo>
                        <a:pt x="1197634" y="381000"/>
                        <a:pt x="1738222" y="83388"/>
                        <a:pt x="1802920" y="8626"/>
                      </a:cubicBezTo>
                    </a:path>
                  </a:pathLst>
                </a:cu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5" name="Oval 13">
                  <a:extLst>
                    <a:ext uri="{FF2B5EF4-FFF2-40B4-BE49-F238E27FC236}">
                      <a16:creationId xmlns:a16="http://schemas.microsoft.com/office/drawing/2014/main" id="{AF1ECA9A-0A9F-47A4-88EB-D2883EB2571C}"/>
                    </a:ext>
                  </a:extLst>
                </p:cNvPr>
                <p:cNvSpPr/>
                <p:nvPr/>
              </p:nvSpPr>
              <p:spPr>
                <a:xfrm>
                  <a:off x="5077488" y="5056773"/>
                  <a:ext cx="149371" cy="144000"/>
                </a:xfrm>
                <a:prstGeom prst="ellipse">
                  <a:avLst/>
                </a:prstGeom>
                <a:solidFill>
                  <a:srgbClr val="FF0000">
                    <a:alpha val="46000"/>
                  </a:srgb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56" name="Straight Connector 24">
                  <a:extLst>
                    <a:ext uri="{FF2B5EF4-FFF2-40B4-BE49-F238E27FC236}">
                      <a16:creationId xmlns:a16="http://schemas.microsoft.com/office/drawing/2014/main" id="{9E28B683-C651-4609-8FA8-5C2EAB0FB911}"/>
                    </a:ext>
                  </a:extLst>
                </p:cNvPr>
                <p:cNvCxnSpPr/>
                <p:nvPr/>
              </p:nvCxnSpPr>
              <p:spPr>
                <a:xfrm>
                  <a:off x="4376721" y="5031113"/>
                  <a:ext cx="1656184" cy="518016"/>
                </a:xfrm>
                <a:prstGeom prst="line">
                  <a:avLst/>
                </a:prstGeom>
                <a:ln w="25400">
                  <a:solidFill>
                    <a:srgbClr val="193EB0">
                      <a:alpha val="30000"/>
                    </a:srgbClr>
                  </a:solidFill>
                </a:ln>
              </p:spPr>
              <p:style>
                <a:lnRef idx="1">
                  <a:schemeClr val="accent1"/>
                </a:lnRef>
                <a:fillRef idx="0">
                  <a:schemeClr val="accent1"/>
                </a:fillRef>
                <a:effectRef idx="0">
                  <a:schemeClr val="accent1"/>
                </a:effectRef>
                <a:fontRef idx="minor">
                  <a:schemeClr val="tx1"/>
                </a:fontRef>
              </p:style>
            </p:cxnSp>
            <p:cxnSp>
              <p:nvCxnSpPr>
                <p:cNvPr id="57" name="Straight Connector 25">
                  <a:extLst>
                    <a:ext uri="{FF2B5EF4-FFF2-40B4-BE49-F238E27FC236}">
                      <a16:creationId xmlns:a16="http://schemas.microsoft.com/office/drawing/2014/main" id="{C13DFEB5-5C71-412B-BB2D-DA29B3FEED15}"/>
                    </a:ext>
                  </a:extLst>
                </p:cNvPr>
                <p:cNvCxnSpPr/>
                <p:nvPr/>
              </p:nvCxnSpPr>
              <p:spPr>
                <a:xfrm flipV="1">
                  <a:off x="4376721" y="4973555"/>
                  <a:ext cx="1656184" cy="575573"/>
                </a:xfrm>
                <a:prstGeom prst="line">
                  <a:avLst/>
                </a:prstGeom>
                <a:ln w="25400">
                  <a:solidFill>
                    <a:srgbClr val="FF0000">
                      <a:alpha val="30000"/>
                    </a:srgbClr>
                  </a:solidFill>
                </a:ln>
              </p:spPr>
              <p:style>
                <a:lnRef idx="1">
                  <a:schemeClr val="accent1"/>
                </a:lnRef>
                <a:fillRef idx="0">
                  <a:schemeClr val="accent1"/>
                </a:fillRef>
                <a:effectRef idx="0">
                  <a:schemeClr val="accent1"/>
                </a:effectRef>
                <a:fontRef idx="minor">
                  <a:schemeClr val="tx1"/>
                </a:fontRef>
              </p:style>
            </p:cxnSp>
          </p:grpSp>
          <p:sp>
            <p:nvSpPr>
              <p:cNvPr id="58" name="직사각형 57">
                <a:extLst>
                  <a:ext uri="{FF2B5EF4-FFF2-40B4-BE49-F238E27FC236}">
                    <a16:creationId xmlns:a16="http://schemas.microsoft.com/office/drawing/2014/main" id="{A325D850-0512-4EDC-8F3D-08D12B221152}"/>
                  </a:ext>
                </a:extLst>
              </p:cNvPr>
              <p:cNvSpPr/>
              <p:nvPr/>
            </p:nvSpPr>
            <p:spPr>
              <a:xfrm>
                <a:off x="6455800" y="4045445"/>
                <a:ext cx="1745991" cy="276999"/>
              </a:xfrm>
              <a:prstGeom prst="rect">
                <a:avLst/>
              </a:prstGeom>
              <a:noFill/>
            </p:spPr>
            <p:txBody>
              <a:bodyPr wrap="none" rtlCol="0">
                <a:spAutoFit/>
                <a:scene3d>
                  <a:camera prst="orthographicFront"/>
                  <a:lightRig rig="threePt" dir="t"/>
                </a:scene3d>
                <a:sp3d>
                  <a:bevelT w="0" h="6350"/>
                  <a:bevelB w="0" h="0"/>
                </a:sp3d>
              </a:bodyPr>
              <a:lstStyle/>
              <a:p>
                <a:r>
                  <a:rPr lang="ko-KR" altLang="en-US" sz="1200">
                    <a:solidFill>
                      <a:srgbClr val="FF0000"/>
                    </a:solidFill>
                    <a:latin typeface="SamsungOne 700" panose="020B0803030303020204" pitchFamily="34" charset="0"/>
                    <a:ea typeface="SamsungOne 700" panose="020B0803030303020204" pitchFamily="34" charset="0"/>
                    <a:sym typeface="Symbol" panose="05050102010706020507" pitchFamily="18" charset="2"/>
                  </a:rPr>
                  <a:t>⇨</a:t>
                </a:r>
                <a:r>
                  <a:rPr lang="ko-KR" altLang="en-US" sz="1200">
                    <a:solidFill>
                      <a:schemeClr val="tx1">
                        <a:lumMod val="85000"/>
                        <a:lumOff val="15000"/>
                      </a:schemeClr>
                    </a:solidFill>
                    <a:latin typeface="SamsungOne 700" panose="020B0803030303020204" pitchFamily="34" charset="0"/>
                    <a:ea typeface="SamsungOne 700" panose="020B0803030303020204" pitchFamily="34" charset="0"/>
                    <a:sym typeface="Symbol" panose="05050102010706020507" pitchFamily="18" charset="2"/>
                  </a:rPr>
                  <a:t> </a:t>
                </a:r>
                <a:r>
                  <a:rPr lang="en-US" altLang="ko-KR" sz="1200" dirty="0">
                    <a:solidFill>
                      <a:schemeClr val="tx1">
                        <a:lumMod val="85000"/>
                        <a:lumOff val="15000"/>
                      </a:schemeClr>
                    </a:solidFill>
                    <a:latin typeface="SamsungOne 700" panose="020B0803030303020204" pitchFamily="34" charset="0"/>
                    <a:ea typeface="SamsungOne 700" panose="020B0803030303020204" pitchFamily="34" charset="0"/>
                  </a:rPr>
                  <a:t>There is a minimum.</a:t>
                </a:r>
                <a:endParaRPr lang="ko-KR" altLang="en-US" sz="1200" dirty="0">
                  <a:solidFill>
                    <a:schemeClr val="tx1">
                      <a:lumMod val="85000"/>
                      <a:lumOff val="15000"/>
                    </a:schemeClr>
                  </a:solidFill>
                  <a:latin typeface="SamsungOne 700" panose="020B0803030303020204" pitchFamily="34" charset="0"/>
                  <a:ea typeface="SamsungOne 700" panose="020B0803030303020204" pitchFamily="34" charset="0"/>
                </a:endParaRPr>
              </a:p>
            </p:txBody>
          </p:sp>
        </p:grpSp>
      </p:grpSp>
    </p:spTree>
    <p:extLst>
      <p:ext uri="{BB962C8B-B14F-4D97-AF65-F5344CB8AC3E}">
        <p14:creationId xmlns:p14="http://schemas.microsoft.com/office/powerpoint/2010/main" val="224635959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2.3. Linear Regression Diagnostics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9" name="직사각형 8">
            <a:extLst>
              <a:ext uri="{FF2B5EF4-FFF2-40B4-BE49-F238E27FC236}">
                <a16:creationId xmlns:a16="http://schemas.microsoft.com/office/drawing/2014/main" id="{FB4F96C9-7484-4D21-BBEA-0901BDAC067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Residual analysis</a:t>
            </a:r>
          </a:p>
        </p:txBody>
      </p:sp>
      <mc:AlternateContent xmlns:mc="http://schemas.openxmlformats.org/markup-compatibility/2006" xmlns:a14="http://schemas.microsoft.com/office/drawing/2010/main">
        <mc:Choice Requires="a14">
          <p:sp>
            <p:nvSpPr>
              <p:cNvPr id="21" name="직사각형 20">
                <a:extLst>
                  <a:ext uri="{FF2B5EF4-FFF2-40B4-BE49-F238E27FC236}">
                    <a16:creationId xmlns:a16="http://schemas.microsoft.com/office/drawing/2014/main" id="{96908231-325C-49C7-81DE-4C7133CBA6B9}"/>
                  </a:ext>
                </a:extLst>
              </p:cNvPr>
              <p:cNvSpPr/>
              <p:nvPr/>
            </p:nvSpPr>
            <p:spPr>
              <a:xfrm>
                <a:off x="671261" y="4449724"/>
                <a:ext cx="8632825" cy="6720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Residual is the difference between the predicted </a:t>
                </a:r>
                <a14:m>
                  <m:oMath xmlns:m="http://schemas.openxmlformats.org/officeDocument/2006/math">
                    <m:acc>
                      <m:accPr>
                        <m:chr m:val="̂"/>
                        <m:ctrlPr>
                          <a:rPr lang="en-US" altLang="ko-KR" sz="1300" i="1" smtClean="0">
                            <a:solidFill>
                              <a:srgbClr val="193EB0"/>
                            </a:solidFill>
                            <a:latin typeface="Cambria Math" panose="02040503050406030204" pitchFamily="18" charset="0"/>
                          </a:rPr>
                        </m:ctrlPr>
                      </m:accPr>
                      <m:e>
                        <m:r>
                          <a:rPr lang="en-US" altLang="ko-KR" sz="1300" b="0" i="1" smtClean="0">
                            <a:solidFill>
                              <a:srgbClr val="193EB0"/>
                            </a:solidFill>
                            <a:latin typeface="Cambria Math" panose="02040503050406030204" pitchFamily="18" charset="0"/>
                          </a:rPr>
                          <m:t>𝑦</m:t>
                        </m:r>
                      </m:e>
                    </m:acc>
                  </m:oMath>
                </a14:m>
                <a:r>
                  <a:rPr lang="ko-KR" altLang="en-US" sz="1300" dirty="0">
                    <a:solidFill>
                      <a:srgbClr val="193EB0"/>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and the real</a:t>
                </a:r>
                <a:r>
                  <a:rPr lang="en-US" altLang="ko-KR" sz="1300" dirty="0">
                    <a:solidFill>
                      <a:srgbClr val="FF0000"/>
                    </a:solidFill>
                    <a:latin typeface="SamsungOne 400" panose="020B0503030303020204" pitchFamily="34" charset="0"/>
                    <a:ea typeface="SamsungOne 400" panose="020B0503030303020204" pitchFamily="34" charset="0"/>
                  </a:rPr>
                  <a:t> </a:t>
                </a:r>
                <a:r>
                  <a:rPr lang="ko-KR" altLang="en-US" sz="1300" dirty="0">
                    <a:solidFill>
                      <a:srgbClr val="FF0000"/>
                    </a:solidFill>
                    <a:latin typeface="SamsungOne 400" panose="020B0503030303020204" pitchFamily="34" charset="0"/>
                    <a:ea typeface="SamsungOne 400" panose="020B0503030303020204" pitchFamily="34" charset="0"/>
                  </a:rPr>
                  <a:t>𝑦</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We can easily detect outliers in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𝑌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that deviate substantially from the main trend.</a:t>
                </a:r>
              </a:p>
            </p:txBody>
          </p:sp>
        </mc:Choice>
        <mc:Fallback xmlns="">
          <p:sp>
            <p:nvSpPr>
              <p:cNvPr id="21" name="직사각형 20">
                <a:extLst>
                  <a:ext uri="{FF2B5EF4-FFF2-40B4-BE49-F238E27FC236}">
                    <a16:creationId xmlns:a16="http://schemas.microsoft.com/office/drawing/2014/main" xmlns:a14="http://schemas.microsoft.com/office/drawing/2010/main" xmlns="" id="{96908231-325C-49C7-81DE-4C7133CBA6B9}"/>
                  </a:ext>
                </a:extLst>
              </p:cNvPr>
              <p:cNvSpPr>
                <a:spLocks noRot="1" noChangeAspect="1" noMove="1" noResize="1" noEditPoints="1" noAdjustHandles="1" noChangeArrowheads="1" noChangeShapeType="1" noTextEdit="1"/>
              </p:cNvSpPr>
              <p:nvPr/>
            </p:nvSpPr>
            <p:spPr>
              <a:xfrm>
                <a:off x="671261" y="4449724"/>
                <a:ext cx="8632825" cy="672089"/>
              </a:xfrm>
              <a:prstGeom prst="rect">
                <a:avLst/>
              </a:prstGeom>
              <a:blipFill rotWithShape="0">
                <a:blip r:embed="rId4"/>
                <a:stretch>
                  <a:fillRect/>
                </a:stretch>
              </a:blipFill>
              <a:ln>
                <a:noFill/>
              </a:ln>
            </p:spPr>
            <p:txBody>
              <a:bodyPr/>
              <a:lstStyle/>
              <a:p>
                <a:r>
                  <a:rPr lang="ko-KR" altLang="en-US">
                    <a:noFill/>
                  </a:rPr>
                  <a:t> </a:t>
                </a:r>
              </a:p>
            </p:txBody>
          </p:sp>
        </mc:Fallback>
      </mc:AlternateContent>
      <p:grpSp>
        <p:nvGrpSpPr>
          <p:cNvPr id="22" name="그룹 21">
            <a:extLst>
              <a:ext uri="{FF2B5EF4-FFF2-40B4-BE49-F238E27FC236}">
                <a16:creationId xmlns:a16="http://schemas.microsoft.com/office/drawing/2014/main" id="{304AF678-1DBA-4666-82CE-24F6452CE877}"/>
              </a:ext>
            </a:extLst>
          </p:cNvPr>
          <p:cNvGrpSpPr/>
          <p:nvPr/>
        </p:nvGrpSpPr>
        <p:grpSpPr>
          <a:xfrm>
            <a:off x="3306008" y="1988840"/>
            <a:ext cx="3290808" cy="2422456"/>
            <a:chOff x="1666313" y="3648531"/>
            <a:chExt cx="3290808" cy="2422456"/>
          </a:xfrm>
        </p:grpSpPr>
        <p:grpSp>
          <p:nvGrpSpPr>
            <p:cNvPr id="26" name="Group 21">
              <a:extLst>
                <a:ext uri="{FF2B5EF4-FFF2-40B4-BE49-F238E27FC236}">
                  <a16:creationId xmlns:a16="http://schemas.microsoft.com/office/drawing/2014/main" id="{BD323A31-9F96-461F-A7C5-DBD2B6CBFD1A}"/>
                </a:ext>
              </a:extLst>
            </p:cNvPr>
            <p:cNvGrpSpPr/>
            <p:nvPr/>
          </p:nvGrpSpPr>
          <p:grpSpPr>
            <a:xfrm>
              <a:off x="1666313" y="3648531"/>
              <a:ext cx="3290808" cy="2422456"/>
              <a:chOff x="3164912" y="3848762"/>
              <a:chExt cx="3290808" cy="2422456"/>
            </a:xfrm>
          </p:grpSpPr>
          <p:cxnSp>
            <p:nvCxnSpPr>
              <p:cNvPr id="33" name="Straight Arrow Connector 16">
                <a:extLst>
                  <a:ext uri="{FF2B5EF4-FFF2-40B4-BE49-F238E27FC236}">
                    <a16:creationId xmlns:a16="http://schemas.microsoft.com/office/drawing/2014/main" id="{59725C08-0969-4969-9FBA-A1F73B4A1E84}"/>
                  </a:ext>
                </a:extLst>
              </p:cNvPr>
              <p:cNvCxnSpPr/>
              <p:nvPr/>
            </p:nvCxnSpPr>
            <p:spPr>
              <a:xfrm flipV="1">
                <a:off x="3503712" y="3884750"/>
                <a:ext cx="0" cy="199936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17">
                <a:extLst>
                  <a:ext uri="{FF2B5EF4-FFF2-40B4-BE49-F238E27FC236}">
                    <a16:creationId xmlns:a16="http://schemas.microsoft.com/office/drawing/2014/main" id="{AA641DA8-A54E-44FC-BC74-3DC77C9F9481}"/>
                  </a:ext>
                </a:extLst>
              </p:cNvPr>
              <p:cNvCxnSpPr/>
              <p:nvPr/>
            </p:nvCxnSpPr>
            <p:spPr>
              <a:xfrm>
                <a:off x="3503712" y="5882355"/>
                <a:ext cx="2952008" cy="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24E220A-8A4E-4CD5-9B7F-E7BFA7143B9A}"/>
                  </a:ext>
                </a:extLst>
              </p:cNvPr>
              <p:cNvSpPr txBox="1"/>
              <p:nvPr/>
            </p:nvSpPr>
            <p:spPr>
              <a:xfrm>
                <a:off x="6145339" y="5963441"/>
                <a:ext cx="292068" cy="307777"/>
              </a:xfrm>
              <a:prstGeom prst="rect">
                <a:avLst/>
              </a:prstGeom>
              <a:noFill/>
            </p:spPr>
            <p:txBody>
              <a:bodyPr wrap="none" rtlCol="0">
                <a:spAutoFit/>
                <a:scene3d>
                  <a:camera prst="orthographicFront"/>
                  <a:lightRig rig="threePt" dir="t"/>
                </a:scene3d>
                <a:sp3d>
                  <a:bevelT w="0" h="6350"/>
                  <a:bevelB w="0" h="0"/>
                </a:sp3d>
              </a:bodyPr>
              <a:lstStyle>
                <a:defPPr>
                  <a:defRPr lang="en-US"/>
                </a:defPPr>
                <a:lvl1pPr>
                  <a:defRPr sz="12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sz="1400" dirty="0"/>
                  <a:t>X</a:t>
                </a:r>
                <a:endParaRPr lang="ko-KR" altLang="en-US" sz="1400" dirty="0"/>
              </a:p>
            </p:txBody>
          </p:sp>
          <p:sp>
            <p:nvSpPr>
              <p:cNvPr id="36" name="TextBox 35">
                <a:extLst>
                  <a:ext uri="{FF2B5EF4-FFF2-40B4-BE49-F238E27FC236}">
                    <a16:creationId xmlns:a16="http://schemas.microsoft.com/office/drawing/2014/main" id="{9A14B7C4-B080-415F-88ED-B1A8F46B886C}"/>
                  </a:ext>
                </a:extLst>
              </p:cNvPr>
              <p:cNvSpPr txBox="1"/>
              <p:nvPr/>
            </p:nvSpPr>
            <p:spPr>
              <a:xfrm>
                <a:off x="3164912" y="3848762"/>
                <a:ext cx="287258" cy="307777"/>
              </a:xfrm>
              <a:prstGeom prst="rect">
                <a:avLst/>
              </a:prstGeom>
              <a:noFill/>
            </p:spPr>
            <p:txBody>
              <a:bodyPr wrap="none" rtlCol="0">
                <a:spAutoFit/>
                <a:scene3d>
                  <a:camera prst="orthographicFront"/>
                  <a:lightRig rig="threePt" dir="t"/>
                </a:scene3d>
                <a:sp3d>
                  <a:bevelT w="0" h="6350"/>
                  <a:bevelB w="0" h="0"/>
                </a:sp3d>
              </a:bodyPr>
              <a:lstStyle>
                <a:defPPr>
                  <a:defRPr lang="en-US"/>
                </a:defPPr>
                <a:lvl1pPr>
                  <a:defRPr sz="14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dirty="0"/>
                  <a:t>Y</a:t>
                </a:r>
                <a:endParaRPr lang="ko-KR" altLang="en-US" dirty="0"/>
              </a:p>
            </p:txBody>
          </p:sp>
        </p:grpSp>
        <p:cxnSp>
          <p:nvCxnSpPr>
            <p:cNvPr id="27" name="Straight Connector 19">
              <a:extLst>
                <a:ext uri="{FF2B5EF4-FFF2-40B4-BE49-F238E27FC236}">
                  <a16:creationId xmlns:a16="http://schemas.microsoft.com/office/drawing/2014/main" id="{607A4928-96EE-44DE-8D3B-19F59619AA11}"/>
                </a:ext>
              </a:extLst>
            </p:cNvPr>
            <p:cNvCxnSpPr/>
            <p:nvPr/>
          </p:nvCxnSpPr>
          <p:spPr>
            <a:xfrm flipV="1">
              <a:off x="2189285" y="4127321"/>
              <a:ext cx="2365130" cy="1411833"/>
            </a:xfrm>
            <a:prstGeom prst="line">
              <a:avLst/>
            </a:prstGeom>
            <a:ln w="19050">
              <a:solidFill>
                <a:srgbClr val="193EB0"/>
              </a:solidFill>
            </a:ln>
          </p:spPr>
          <p:style>
            <a:lnRef idx="1">
              <a:schemeClr val="accent1"/>
            </a:lnRef>
            <a:fillRef idx="0">
              <a:schemeClr val="accent1"/>
            </a:fillRef>
            <a:effectRef idx="0">
              <a:schemeClr val="accent1"/>
            </a:effectRef>
            <a:fontRef idx="minor">
              <a:schemeClr val="tx1"/>
            </a:fontRef>
          </p:style>
        </p:cxnSp>
        <p:sp>
          <p:nvSpPr>
            <p:cNvPr id="28" name="Oval 34">
              <a:extLst>
                <a:ext uri="{FF2B5EF4-FFF2-40B4-BE49-F238E27FC236}">
                  <a16:creationId xmlns:a16="http://schemas.microsoft.com/office/drawing/2014/main" id="{55CDFF5F-4C28-47E8-BEB8-930D8ACF23EA}"/>
                </a:ext>
              </a:extLst>
            </p:cNvPr>
            <p:cNvSpPr/>
            <p:nvPr/>
          </p:nvSpPr>
          <p:spPr>
            <a:xfrm>
              <a:off x="2444805" y="5350657"/>
              <a:ext cx="188497" cy="188497"/>
            </a:xfrm>
            <a:prstGeom prst="ellipse">
              <a:avLst/>
            </a:prstGeom>
            <a:solidFill>
              <a:srgbClr val="FF0000">
                <a:alpha val="50000"/>
              </a:srgbClr>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34">
              <a:extLst>
                <a:ext uri="{FF2B5EF4-FFF2-40B4-BE49-F238E27FC236}">
                  <a16:creationId xmlns:a16="http://schemas.microsoft.com/office/drawing/2014/main" id="{A16BFA52-14B3-41C3-A18D-7922C31C3AD4}"/>
                </a:ext>
              </a:extLst>
            </p:cNvPr>
            <p:cNvSpPr/>
            <p:nvPr/>
          </p:nvSpPr>
          <p:spPr>
            <a:xfrm>
              <a:off x="3148189" y="4946211"/>
              <a:ext cx="188497" cy="188497"/>
            </a:xfrm>
            <a:prstGeom prst="ellipse">
              <a:avLst/>
            </a:prstGeom>
            <a:solidFill>
              <a:srgbClr val="FF0000">
                <a:alpha val="50000"/>
              </a:srgbClr>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34">
              <a:extLst>
                <a:ext uri="{FF2B5EF4-FFF2-40B4-BE49-F238E27FC236}">
                  <a16:creationId xmlns:a16="http://schemas.microsoft.com/office/drawing/2014/main" id="{22389170-99FB-4BF0-904D-56B54EF2F54F}"/>
                </a:ext>
              </a:extLst>
            </p:cNvPr>
            <p:cNvSpPr/>
            <p:nvPr/>
          </p:nvSpPr>
          <p:spPr>
            <a:xfrm>
              <a:off x="3772443" y="3970264"/>
              <a:ext cx="188497" cy="188497"/>
            </a:xfrm>
            <a:prstGeom prst="ellipse">
              <a:avLst/>
            </a:prstGeom>
            <a:solidFill>
              <a:srgbClr val="FF0000">
                <a:alpha val="50000"/>
              </a:srgbClr>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4">
              <a:extLst>
                <a:ext uri="{FF2B5EF4-FFF2-40B4-BE49-F238E27FC236}">
                  <a16:creationId xmlns:a16="http://schemas.microsoft.com/office/drawing/2014/main" id="{F1B24C49-7250-4524-87F1-706406383CD4}"/>
                </a:ext>
              </a:extLst>
            </p:cNvPr>
            <p:cNvSpPr/>
            <p:nvPr/>
          </p:nvSpPr>
          <p:spPr>
            <a:xfrm>
              <a:off x="4458243" y="4207657"/>
              <a:ext cx="188497" cy="188497"/>
            </a:xfrm>
            <a:prstGeom prst="ellipse">
              <a:avLst/>
            </a:prstGeom>
            <a:solidFill>
              <a:srgbClr val="FF0000">
                <a:alpha val="50000"/>
              </a:srgbClr>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위쪽/아래쪽 화살표 32">
              <a:extLst>
                <a:ext uri="{FF2B5EF4-FFF2-40B4-BE49-F238E27FC236}">
                  <a16:creationId xmlns:a16="http://schemas.microsoft.com/office/drawing/2014/main" id="{84F98CEB-A90E-48A3-8DA0-95E004103BAB}"/>
                </a:ext>
              </a:extLst>
            </p:cNvPr>
            <p:cNvSpPr/>
            <p:nvPr/>
          </p:nvSpPr>
          <p:spPr>
            <a:xfrm>
              <a:off x="3825040" y="4179699"/>
              <a:ext cx="83302" cy="335187"/>
            </a:xfrm>
            <a:prstGeom prst="upDownArrow">
              <a:avLst>
                <a:gd name="adj1" fmla="val 42376"/>
                <a:gd name="adj2" fmla="val 72869"/>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1518815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2.3. Linear Regression Diagnostics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9" name="직사각형 8">
            <a:extLst>
              <a:ext uri="{FF2B5EF4-FFF2-40B4-BE49-F238E27FC236}">
                <a16:creationId xmlns:a16="http://schemas.microsoft.com/office/drawing/2014/main" id="{FB4F96C9-7484-4D21-BBEA-0901BDAC067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Residual analysis</a:t>
            </a:r>
          </a:p>
        </p:txBody>
      </p:sp>
      <p:sp>
        <p:nvSpPr>
          <p:cNvPr id="12" name="직사각형 11">
            <a:extLst>
              <a:ext uri="{FF2B5EF4-FFF2-40B4-BE49-F238E27FC236}">
                <a16:creationId xmlns:a16="http://schemas.microsoft.com/office/drawing/2014/main" id="{7589D0E7-E999-4C47-8E99-20109E6DC1C5}"/>
              </a:ext>
            </a:extLst>
          </p:cNvPr>
          <p:cNvSpPr/>
          <p:nvPr/>
        </p:nvSpPr>
        <p:spPr>
          <a:xfrm>
            <a:off x="671261" y="1700808"/>
            <a:ext cx="863282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Reasons for residual analysis:</a:t>
            </a:r>
          </a:p>
          <a:p>
            <a:pPr marL="180975" lvl="1">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1) To detect outliers in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𝑌</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marL="180975" lvl="1">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2) To verify the assumptions of linear regression.</a:t>
            </a:r>
          </a:p>
        </p:txBody>
      </p:sp>
      <p:sp>
        <p:nvSpPr>
          <p:cNvPr id="7" name="내용 개체 틀 2">
            <a:extLst>
              <a:ext uri="{FF2B5EF4-FFF2-40B4-BE49-F238E27FC236}">
                <a16:creationId xmlns:a16="http://schemas.microsoft.com/office/drawing/2014/main" id="{DFF655E6-EAE5-4C97-9FAC-50B6565FFCA4}"/>
              </a:ext>
            </a:extLst>
          </p:cNvPr>
          <p:cNvSpPr txBox="1">
            <a:spLocks/>
          </p:cNvSpPr>
          <p:nvPr/>
        </p:nvSpPr>
        <p:spPr>
          <a:xfrm>
            <a:off x="1026976" y="2708182"/>
            <a:ext cx="4724719" cy="8976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lvl="1">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Residuals should be normally distributed centered around 0.</a:t>
            </a:r>
          </a:p>
          <a:p>
            <a:pPr marL="0" lvl="1">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Residuals should be distributed with a constant variance.</a:t>
            </a:r>
          </a:p>
          <a:p>
            <a:pPr marL="0" lvl="1">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Residuals should be randomly distributed without a pattern.</a:t>
            </a:r>
          </a:p>
        </p:txBody>
      </p:sp>
    </p:spTree>
    <p:extLst>
      <p:ext uri="{BB962C8B-B14F-4D97-AF65-F5344CB8AC3E}">
        <p14:creationId xmlns:p14="http://schemas.microsoft.com/office/powerpoint/2010/main" val="258373613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2.3. Linear Regression Diagnostics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9" name="직사각형 8">
            <a:extLst>
              <a:ext uri="{FF2B5EF4-FFF2-40B4-BE49-F238E27FC236}">
                <a16:creationId xmlns:a16="http://schemas.microsoft.com/office/drawing/2014/main" id="{FB4F96C9-7484-4D21-BBEA-0901BDAC067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Leverage analysis</a:t>
            </a:r>
          </a:p>
        </p:txBody>
      </p:sp>
      <p:sp>
        <p:nvSpPr>
          <p:cNvPr id="8" name="직사각형 7">
            <a:extLst>
              <a:ext uri="{FF2B5EF4-FFF2-40B4-BE49-F238E27FC236}">
                <a16:creationId xmlns:a16="http://schemas.microsoft.com/office/drawing/2014/main" id="{92691514-6585-43EB-87B3-5CE51BED937A}"/>
              </a:ext>
            </a:extLst>
          </p:cNvPr>
          <p:cNvSpPr/>
          <p:nvPr/>
        </p:nvSpPr>
        <p:spPr>
          <a:xfrm>
            <a:off x="676178" y="2660033"/>
            <a:ext cx="8630827" cy="3454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1983" rIns="143967" bIns="71983"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There is a “sum rule.”</a:t>
            </a:r>
          </a:p>
        </p:txBody>
      </p:sp>
      <p:sp>
        <p:nvSpPr>
          <p:cNvPr id="10" name="직사각형 9">
            <a:extLst>
              <a:ext uri="{FF2B5EF4-FFF2-40B4-BE49-F238E27FC236}">
                <a16:creationId xmlns:a16="http://schemas.microsoft.com/office/drawing/2014/main" id="{992993E2-608D-4D62-B5A8-21D13276D717}"/>
              </a:ext>
            </a:extLst>
          </p:cNvPr>
          <p:cNvSpPr/>
          <p:nvPr/>
        </p:nvSpPr>
        <p:spPr>
          <a:xfrm>
            <a:off x="676178" y="4642377"/>
            <a:ext cx="8630827" cy="3454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1983" rIns="143967" bIns="71983"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Leverage tells how distant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𝑋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is from the center =&gt; Detection of outliers in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𝑋</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p>
        </p:txBody>
      </p:sp>
      <mc:AlternateContent xmlns:mc="http://schemas.openxmlformats.org/markup-compatibility/2006" xmlns:a14="http://schemas.microsoft.com/office/drawing/2010/main">
        <mc:Choice Requires="a14">
          <p:sp>
            <p:nvSpPr>
              <p:cNvPr id="11" name="내용 개체 틀 2">
                <a:extLst>
                  <a:ext uri="{FF2B5EF4-FFF2-40B4-BE49-F238E27FC236}">
                    <a16:creationId xmlns:a16="http://schemas.microsoft.com/office/drawing/2014/main" id="{91E187C0-6644-445F-B5FA-62DCC8C2F7EE}"/>
                  </a:ext>
                </a:extLst>
              </p:cNvPr>
              <p:cNvSpPr txBox="1">
                <a:spLocks/>
              </p:cNvSpPr>
              <p:nvPr/>
            </p:nvSpPr>
            <p:spPr>
              <a:xfrm>
                <a:off x="2890225" y="2057045"/>
                <a:ext cx="4122374" cy="4183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14:m>
                  <m:oMath xmlns:m="http://schemas.openxmlformats.org/officeDocument/2006/math">
                    <m:r>
                      <a:rPr lang="en-US" altLang="ko-KR">
                        <a:latin typeface="Cambria Math" panose="02040503050406030204" pitchFamily="18" charset="0"/>
                      </a:rPr>
                      <m:t>𝐿𝑒𝑣𝑒𝑟𝑎𝑔𝑒</m:t>
                    </m:r>
                    <m:r>
                      <a:rPr lang="en-US" altLang="ko-KR">
                        <a:latin typeface="Cambria Math" panose="02040503050406030204" pitchFamily="18" charset="0"/>
                      </a:rPr>
                      <m:t>=</m:t>
                    </m:r>
                    <m:sSub>
                      <m:sSubPr>
                        <m:ctrlPr>
                          <a:rPr lang="en-US" altLang="ko-KR" i="1">
                            <a:latin typeface="Cambria Math" panose="02040503050406030204" pitchFamily="18" charset="0"/>
                          </a:rPr>
                        </m:ctrlPr>
                      </m:sSubPr>
                      <m:e>
                        <m:r>
                          <a:rPr lang="en-US" altLang="ko-KR">
                            <a:latin typeface="Cambria Math" panose="02040503050406030204" pitchFamily="18" charset="0"/>
                          </a:rPr>
                          <m:t>𝐻</m:t>
                        </m:r>
                      </m:e>
                      <m:sub>
                        <m:r>
                          <a:rPr lang="en-US" altLang="ko-KR">
                            <a:latin typeface="Cambria Math" panose="02040503050406030204" pitchFamily="18" charset="0"/>
                          </a:rPr>
                          <m:t>𝑖𝑖</m:t>
                        </m:r>
                      </m:sub>
                    </m:sSub>
                  </m:oMath>
                </a14:m>
                <a:r>
                  <a:rPr lang="en-US" altLang="ko-KR" dirty="0"/>
                  <a:t>   ,   where </a:t>
                </a:r>
                <a14:m>
                  <m:oMath xmlns:m="http://schemas.openxmlformats.org/officeDocument/2006/math">
                    <m:acc>
                      <m:accPr>
                        <m:chr m:val="̃"/>
                        <m:ctrlPr>
                          <a:rPr lang="en-US" altLang="ko-KR" i="1">
                            <a:latin typeface="Cambria Math" panose="02040503050406030204" pitchFamily="18" charset="0"/>
                          </a:rPr>
                        </m:ctrlPr>
                      </m:accPr>
                      <m:e>
                        <m:r>
                          <a:rPr lang="en-US" altLang="ko-KR">
                            <a:latin typeface="Cambria Math" panose="02040503050406030204" pitchFamily="18" charset="0"/>
                          </a:rPr>
                          <m:t>𝐻</m:t>
                        </m:r>
                      </m:e>
                    </m:acc>
                    <m:r>
                      <a:rPr lang="en-US" altLang="ko-KR">
                        <a:latin typeface="Cambria Math" panose="02040503050406030204" pitchFamily="18" charset="0"/>
                      </a:rPr>
                      <m:t>=</m:t>
                    </m:r>
                    <m:acc>
                      <m:accPr>
                        <m:chr m:val="̃"/>
                        <m:ctrlPr>
                          <a:rPr lang="en-US" altLang="ko-KR" i="1">
                            <a:latin typeface="Cambria Math" panose="02040503050406030204" pitchFamily="18" charset="0"/>
                          </a:rPr>
                        </m:ctrlPr>
                      </m:accPr>
                      <m:e>
                        <m:r>
                          <a:rPr lang="en-US" altLang="ko-KR">
                            <a:latin typeface="Cambria Math" panose="02040503050406030204" pitchFamily="18" charset="0"/>
                          </a:rPr>
                          <m:t>𝑋</m:t>
                        </m:r>
                      </m:e>
                    </m:acc>
                    <m:sSup>
                      <m:sSupPr>
                        <m:ctrlPr>
                          <a:rPr lang="en-US" altLang="ko-KR" i="1">
                            <a:latin typeface="Cambria Math" panose="02040503050406030204" pitchFamily="18" charset="0"/>
                          </a:rPr>
                        </m:ctrlPr>
                      </m:sSupPr>
                      <m:e>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acc>
                                  <m:accPr>
                                    <m:chr m:val="̃"/>
                                    <m:ctrlPr>
                                      <a:rPr lang="en-US" altLang="ko-KR" i="1">
                                        <a:latin typeface="Cambria Math" panose="02040503050406030204" pitchFamily="18" charset="0"/>
                                      </a:rPr>
                                    </m:ctrlPr>
                                  </m:accPr>
                                  <m:e>
                                    <m:r>
                                      <a:rPr lang="en-US" altLang="ko-KR">
                                        <a:latin typeface="Cambria Math" panose="02040503050406030204" pitchFamily="18" charset="0"/>
                                      </a:rPr>
                                      <m:t>𝑋</m:t>
                                    </m:r>
                                  </m:e>
                                </m:acc>
                              </m:e>
                              <m:sup>
                                <m:r>
                                  <a:rPr lang="en-US" altLang="ko-KR">
                                    <a:latin typeface="Cambria Math" panose="02040503050406030204" pitchFamily="18" charset="0"/>
                                  </a:rPr>
                                  <m:t>𝑡</m:t>
                                </m:r>
                              </m:sup>
                            </m:sSup>
                            <m:acc>
                              <m:accPr>
                                <m:chr m:val="̃"/>
                                <m:ctrlPr>
                                  <a:rPr lang="en-US" altLang="ko-KR" i="1">
                                    <a:latin typeface="Cambria Math" panose="02040503050406030204" pitchFamily="18" charset="0"/>
                                  </a:rPr>
                                </m:ctrlPr>
                              </m:accPr>
                              <m:e>
                                <m:r>
                                  <a:rPr lang="en-US" altLang="ko-KR">
                                    <a:latin typeface="Cambria Math" panose="02040503050406030204" pitchFamily="18" charset="0"/>
                                  </a:rPr>
                                  <m:t>𝑋</m:t>
                                </m:r>
                              </m:e>
                            </m:acc>
                          </m:e>
                        </m:d>
                      </m:e>
                      <m:sup>
                        <m:r>
                          <a:rPr lang="en-US" altLang="ko-KR">
                            <a:latin typeface="Cambria Math" panose="02040503050406030204" pitchFamily="18" charset="0"/>
                          </a:rPr>
                          <m:t>−1</m:t>
                        </m:r>
                      </m:sup>
                    </m:sSup>
                    <m:sSup>
                      <m:sSupPr>
                        <m:ctrlPr>
                          <a:rPr lang="en-US" altLang="ko-KR" i="1">
                            <a:latin typeface="Cambria Math" panose="02040503050406030204" pitchFamily="18" charset="0"/>
                          </a:rPr>
                        </m:ctrlPr>
                      </m:sSupPr>
                      <m:e>
                        <m:acc>
                          <m:accPr>
                            <m:chr m:val="̃"/>
                            <m:ctrlPr>
                              <a:rPr lang="en-US" altLang="ko-KR" i="1">
                                <a:latin typeface="Cambria Math" panose="02040503050406030204" pitchFamily="18" charset="0"/>
                              </a:rPr>
                            </m:ctrlPr>
                          </m:accPr>
                          <m:e>
                            <m:r>
                              <a:rPr lang="en-US" altLang="ko-KR">
                                <a:latin typeface="Cambria Math" panose="02040503050406030204" pitchFamily="18" charset="0"/>
                              </a:rPr>
                              <m:t>𝑋</m:t>
                            </m:r>
                          </m:e>
                        </m:acc>
                      </m:e>
                      <m:sup>
                        <m:r>
                          <a:rPr lang="en-US" altLang="ko-KR">
                            <a:latin typeface="Cambria Math" panose="02040503050406030204" pitchFamily="18" charset="0"/>
                          </a:rPr>
                          <m:t>𝑡</m:t>
                        </m:r>
                      </m:sup>
                    </m:sSup>
                  </m:oMath>
                </a14:m>
                <a:endParaRPr lang="en-US" altLang="ko-KR" dirty="0"/>
              </a:p>
            </p:txBody>
          </p:sp>
        </mc:Choice>
        <mc:Fallback xmlns="">
          <p:sp>
            <p:nvSpPr>
              <p:cNvPr id="11" name="내용 개체 틀 2">
                <a:extLst>
                  <a:ext uri="{FF2B5EF4-FFF2-40B4-BE49-F238E27FC236}">
                    <a16:creationId xmlns:a16="http://schemas.microsoft.com/office/drawing/2014/main" id="{91E187C0-6644-445F-B5FA-62DCC8C2F7EE}"/>
                  </a:ext>
                </a:extLst>
              </p:cNvPr>
              <p:cNvSpPr txBox="1">
                <a:spLocks noRot="1" noChangeAspect="1" noMove="1" noResize="1" noEditPoints="1" noAdjustHandles="1" noChangeArrowheads="1" noChangeShapeType="1" noTextEdit="1"/>
              </p:cNvSpPr>
              <p:nvPr/>
            </p:nvSpPr>
            <p:spPr>
              <a:xfrm>
                <a:off x="2890225" y="2057045"/>
                <a:ext cx="4122374" cy="418384"/>
              </a:xfrm>
              <a:prstGeom prst="rect">
                <a:avLst/>
              </a:prstGeom>
              <a:blipFill>
                <a:blip r:embed="rId4"/>
                <a:stretch>
                  <a:fillRect r="-740" b="-13043"/>
                </a:stretch>
              </a:blipFill>
              <a:ln>
                <a:noFill/>
              </a:ln>
            </p:spPr>
            <p:txBody>
              <a:bodyPr/>
              <a:lstStyle/>
              <a:p>
                <a:r>
                  <a:rPr lang="ko-KR" altLang="en-US">
                    <a:noFill/>
                  </a:rPr>
                  <a:t> </a:t>
                </a:r>
              </a:p>
            </p:txBody>
          </p:sp>
        </mc:Fallback>
      </mc:AlternateContent>
      <p:grpSp>
        <p:nvGrpSpPr>
          <p:cNvPr id="13" name="그룹 12">
            <a:extLst>
              <a:ext uri="{FF2B5EF4-FFF2-40B4-BE49-F238E27FC236}">
                <a16:creationId xmlns:a16="http://schemas.microsoft.com/office/drawing/2014/main" id="{F9F549A1-9AA1-4AE6-B3E3-2A452915636E}"/>
              </a:ext>
            </a:extLst>
          </p:cNvPr>
          <p:cNvGrpSpPr/>
          <p:nvPr/>
        </p:nvGrpSpPr>
        <p:grpSpPr>
          <a:xfrm>
            <a:off x="3342504" y="3005460"/>
            <a:ext cx="3621055" cy="1580689"/>
            <a:chOff x="3378508" y="3858926"/>
            <a:chExt cx="3621055" cy="1580689"/>
          </a:xfrm>
        </p:grpSpPr>
        <p:grpSp>
          <p:nvGrpSpPr>
            <p:cNvPr id="14" name="그룹 13">
              <a:extLst>
                <a:ext uri="{FF2B5EF4-FFF2-40B4-BE49-F238E27FC236}">
                  <a16:creationId xmlns:a16="http://schemas.microsoft.com/office/drawing/2014/main" id="{ED8A880D-5870-44A2-889F-E73261BB3FE0}"/>
                </a:ext>
              </a:extLst>
            </p:cNvPr>
            <p:cNvGrpSpPr/>
            <p:nvPr/>
          </p:nvGrpSpPr>
          <p:grpSpPr>
            <a:xfrm>
              <a:off x="3378508" y="3858926"/>
              <a:ext cx="3621055" cy="1580689"/>
              <a:chOff x="3644958" y="3858926"/>
              <a:chExt cx="3621055" cy="1580689"/>
            </a:xfrm>
          </p:grpSpPr>
          <mc:AlternateContent xmlns:mc="http://schemas.openxmlformats.org/markup-compatibility/2006" xmlns:a14="http://schemas.microsoft.com/office/drawing/2010/main">
            <mc:Choice Requires="a14">
              <p:sp>
                <p:nvSpPr>
                  <p:cNvPr id="16" name="내용 개체 틀 2">
                    <a:extLst>
                      <a:ext uri="{FF2B5EF4-FFF2-40B4-BE49-F238E27FC236}">
                        <a16:creationId xmlns:a16="http://schemas.microsoft.com/office/drawing/2014/main" id="{A42C84E5-DB5A-4BE1-8CE0-1E9ABA035F8E}"/>
                      </a:ext>
                    </a:extLst>
                  </p:cNvPr>
                  <p:cNvSpPr txBox="1">
                    <a:spLocks/>
                  </p:cNvSpPr>
                  <p:nvPr/>
                </p:nvSpPr>
                <p:spPr>
                  <a:xfrm>
                    <a:off x="3644958" y="4227091"/>
                    <a:ext cx="1282622" cy="8670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nary>
                            <m:naryPr>
                              <m:chr m:val="∑"/>
                              <m:limLoc m:val="undOvr"/>
                              <m:ctrlPr>
                                <a:rPr lang="en-US" altLang="ko-KR" i="1">
                                  <a:latin typeface="Cambria Math" panose="02040503050406030204" pitchFamily="18" charset="0"/>
                                </a:rPr>
                              </m:ctrlPr>
                            </m:naryPr>
                            <m:sub>
                              <m:r>
                                <a:rPr lang="en-US" altLang="ko-KR">
                                  <a:latin typeface="Cambria Math" panose="02040503050406030204" pitchFamily="18" charset="0"/>
                                </a:rPr>
                                <m:t>𝑖</m:t>
                              </m:r>
                              <m:r>
                                <a:rPr lang="en-US" altLang="ko-KR">
                                  <a:latin typeface="Cambria Math" panose="02040503050406030204" pitchFamily="18" charset="0"/>
                                </a:rPr>
                                <m:t>=1</m:t>
                              </m:r>
                            </m:sub>
                            <m:sup>
                              <m:r>
                                <a:rPr lang="en-US" altLang="ko-KR">
                                  <a:latin typeface="Cambria Math" panose="02040503050406030204" pitchFamily="18" charset="0"/>
                                </a:rPr>
                                <m:t>𝑛</m:t>
                              </m:r>
                            </m:sup>
                            <m:e>
                              <m:sSub>
                                <m:sSubPr>
                                  <m:ctrlPr>
                                    <a:rPr lang="en-US" altLang="ko-KR" i="1">
                                      <a:latin typeface="Cambria Math" panose="02040503050406030204" pitchFamily="18" charset="0"/>
                                    </a:rPr>
                                  </m:ctrlPr>
                                </m:sSubPr>
                                <m:e>
                                  <m:r>
                                    <a:rPr lang="en-US" altLang="ko-KR">
                                      <a:latin typeface="Cambria Math" panose="02040503050406030204" pitchFamily="18" charset="0"/>
                                    </a:rPr>
                                    <m:t>𝐻</m:t>
                                  </m:r>
                                </m:e>
                                <m:sub>
                                  <m:r>
                                    <a:rPr lang="en-US" altLang="ko-KR">
                                      <a:latin typeface="Cambria Math" panose="02040503050406030204" pitchFamily="18" charset="0"/>
                                    </a:rPr>
                                    <m:t>𝑖𝑖</m:t>
                                  </m:r>
                                </m:sub>
                              </m:sSub>
                              <m:r>
                                <a:rPr lang="en-US" altLang="ko-KR">
                                  <a:latin typeface="Cambria Math" panose="02040503050406030204" pitchFamily="18" charset="0"/>
                                </a:rPr>
                                <m:t>=</m:t>
                              </m:r>
                              <m:r>
                                <a:rPr lang="en-US" altLang="ko-KR">
                                  <a:latin typeface="Cambria Math" panose="02040503050406030204" pitchFamily="18" charset="0"/>
                                </a:rPr>
                                <m:t>𝑝</m:t>
                              </m:r>
                            </m:e>
                          </m:nary>
                        </m:oMath>
                      </m:oMathPara>
                    </a14:m>
                    <a:endParaRPr lang="en-US" altLang="ko-KR" dirty="0"/>
                  </a:p>
                </p:txBody>
              </p:sp>
            </mc:Choice>
            <mc:Fallback xmlns="">
              <p:sp>
                <p:nvSpPr>
                  <p:cNvPr id="16" name="내용 개체 틀 2">
                    <a:extLst>
                      <a:ext uri="{FF2B5EF4-FFF2-40B4-BE49-F238E27FC236}">
                        <a16:creationId xmlns:a16="http://schemas.microsoft.com/office/drawing/2014/main" id="{A42C84E5-DB5A-4BE1-8CE0-1E9ABA035F8E}"/>
                      </a:ext>
                    </a:extLst>
                  </p:cNvPr>
                  <p:cNvSpPr txBox="1">
                    <a:spLocks noRot="1" noChangeAspect="1" noMove="1" noResize="1" noEditPoints="1" noAdjustHandles="1" noChangeArrowheads="1" noChangeShapeType="1" noTextEdit="1"/>
                  </p:cNvSpPr>
                  <p:nvPr/>
                </p:nvSpPr>
                <p:spPr>
                  <a:xfrm>
                    <a:off x="3644958" y="4227091"/>
                    <a:ext cx="1282622" cy="867097"/>
                  </a:xfrm>
                  <a:prstGeom prst="rect">
                    <a:avLst/>
                  </a:prstGeom>
                  <a:blipFill>
                    <a:blip r:embed="rId5"/>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2CAB018-582E-4D80-AF26-B134BC15606E}"/>
                      </a:ext>
                    </a:extLst>
                  </p:cNvPr>
                  <p:cNvSpPr txBox="1"/>
                  <p:nvPr/>
                </p:nvSpPr>
                <p:spPr>
                  <a:xfrm>
                    <a:off x="5027595" y="3858926"/>
                    <a:ext cx="2238418" cy="1580689"/>
                  </a:xfrm>
                  <a:prstGeom prst="rect">
                    <a:avLst/>
                  </a:prstGeom>
                </p:spPr>
                <p:txBody>
                  <a:bodyPr lIns="0" tIns="0" rIns="0" bIns="0" anchor="ctr" anchorCtr="0">
                    <a:scene3d>
                      <a:camera prst="orthographicFront"/>
                      <a:lightRig rig="threePt" dir="t"/>
                    </a:scene3d>
                    <a:sp3d>
                      <a:bevelT w="0" h="6350"/>
                    </a:sp3d>
                  </a:bodyPr>
                  <a:lstStyle>
                    <a:defPPr>
                      <a:defRPr lang="en-US"/>
                    </a:defPPr>
                    <a:lvl1pPr indent="0" algn="ctr">
                      <a:lnSpc>
                        <a:spcPct val="100000"/>
                      </a:lnSpc>
                      <a:spcBef>
                        <a:spcPts val="0"/>
                      </a:spcBef>
                      <a:spcAft>
                        <a:spcPts val="1500"/>
                      </a:spcAft>
                      <a:buClr>
                        <a:srgbClr val="193EB0"/>
                      </a:buClr>
                      <a:buFont typeface="Arial" panose="020B0604020202020204" pitchFamily="34" charset="0"/>
                      <a:buNone/>
                      <a:defRPr i="1">
                        <a:solidFill>
                          <a:srgbClr val="262626"/>
                        </a:solidFill>
                        <a:latin typeface="SamsungOne 400" panose="020B0503030303020204" pitchFamily="34" charset="0"/>
                        <a:ea typeface="SamsungOne 400" panose="020B0503030303020204" pitchFamily="34" charset="0"/>
                      </a:defRPr>
                    </a:lvl1pPr>
                    <a:lvl2pPr marL="685800" indent="-228600" defTabSz="914400" latinLnBrk="1">
                      <a:lnSpc>
                        <a:spcPct val="90000"/>
                      </a:lnSpc>
                      <a:spcBef>
                        <a:spcPts val="500"/>
                      </a:spcBef>
                      <a:buFont typeface="Arial" panose="020B0604020202020204" pitchFamily="34" charset="0"/>
                      <a:buChar char="•"/>
                      <a:defRPr sz="2400"/>
                    </a:lvl2pPr>
                    <a:lvl3pPr marL="1143000" indent="-228600" defTabSz="914400" latinLnBrk="1">
                      <a:lnSpc>
                        <a:spcPct val="90000"/>
                      </a:lnSpc>
                      <a:spcBef>
                        <a:spcPts val="500"/>
                      </a:spcBef>
                      <a:buFont typeface="Arial" panose="020B0604020202020204" pitchFamily="34" charset="0"/>
                      <a:buChar char="•"/>
                      <a:defRPr sz="2000"/>
                    </a:lvl3pPr>
                    <a:lvl4pPr marL="1600200" indent="-228600" defTabSz="914400" latinLnBrk="1">
                      <a:lnSpc>
                        <a:spcPct val="90000"/>
                      </a:lnSpc>
                      <a:spcBef>
                        <a:spcPts val="500"/>
                      </a:spcBef>
                      <a:buFont typeface="Arial" panose="020B0604020202020204" pitchFamily="34" charset="0"/>
                      <a:buChar char="•"/>
                    </a:lvl4pPr>
                    <a:lvl5pPr marL="2057400" indent="-228600" defTabSz="914400" latinLnBrk="1">
                      <a:lnSpc>
                        <a:spcPct val="90000"/>
                      </a:lnSpc>
                      <a:spcBef>
                        <a:spcPts val="500"/>
                      </a:spcBef>
                      <a:buFont typeface="Arial" panose="020B0604020202020204" pitchFamily="34" charset="0"/>
                      <a:buChar char="•"/>
                    </a:lvl5pPr>
                    <a:lvl6pPr marL="2514600" indent="-228600" defTabSz="914400" latinLnBrk="1">
                      <a:lnSpc>
                        <a:spcPct val="90000"/>
                      </a:lnSpc>
                      <a:spcBef>
                        <a:spcPts val="500"/>
                      </a:spcBef>
                      <a:buFont typeface="Arial" panose="020B0604020202020204" pitchFamily="34" charset="0"/>
                      <a:buChar char="•"/>
                    </a:lvl6pPr>
                    <a:lvl7pPr marL="2971800" indent="-228600" defTabSz="914400" latinLnBrk="1">
                      <a:lnSpc>
                        <a:spcPct val="90000"/>
                      </a:lnSpc>
                      <a:spcBef>
                        <a:spcPts val="500"/>
                      </a:spcBef>
                      <a:buFont typeface="Arial" panose="020B0604020202020204" pitchFamily="34" charset="0"/>
                      <a:buChar char="•"/>
                    </a:lvl7pPr>
                    <a:lvl8pPr marL="3429000" indent="-228600" defTabSz="914400" latinLnBrk="1">
                      <a:lnSpc>
                        <a:spcPct val="90000"/>
                      </a:lnSpc>
                      <a:spcBef>
                        <a:spcPts val="500"/>
                      </a:spcBef>
                      <a:buFont typeface="Arial" panose="020B0604020202020204" pitchFamily="34" charset="0"/>
                      <a:buChar char="•"/>
                    </a:lvl8pPr>
                    <a:lvl9pPr marL="3886200" indent="-228600" defTabSz="914400" latinLnBrk="1">
                      <a:lnSpc>
                        <a:spcPct val="90000"/>
                      </a:lnSpc>
                      <a:spcBef>
                        <a:spcPts val="500"/>
                      </a:spcBef>
                      <a:buFont typeface="Arial" panose="020B0604020202020204" pitchFamily="34" charset="0"/>
                      <a:buChar char="•"/>
                    </a:lvl9pPr>
                  </a:lstStyle>
                  <a:p>
                    <a:r>
                      <a:rPr lang="en-US" altLang="ko-KR" sz="1400" i="0" dirty="0"/>
                      <a:t>Mean leverage</a:t>
                    </a:r>
                    <a:r>
                      <a:rPr lang="en-US" altLang="ko-KR" sz="1400" i="0" dirty="0">
                        <a:solidFill>
                          <a:srgbClr val="FF0000"/>
                        </a:solidFill>
                      </a:rPr>
                      <a:t> </a:t>
                    </a:r>
                    <a14:m>
                      <m:oMath xmlns:m="http://schemas.openxmlformats.org/officeDocument/2006/math">
                        <m:r>
                          <a:rPr lang="en-US" altLang="ko-KR" sz="1400" i="0">
                            <a:solidFill>
                              <a:srgbClr val="FF0000"/>
                            </a:solidFill>
                            <a:latin typeface="Cambria Math" panose="02040503050406030204" pitchFamily="18" charset="0"/>
                          </a:rPr>
                          <m:t>≅</m:t>
                        </m:r>
                        <m:f>
                          <m:fPr>
                            <m:ctrlPr>
                              <a:rPr lang="en-US" altLang="ko-KR" sz="1400" i="1">
                                <a:latin typeface="Cambria Math" panose="02040503050406030204" pitchFamily="18" charset="0"/>
                              </a:rPr>
                            </m:ctrlPr>
                          </m:fPr>
                          <m:num>
                            <m:r>
                              <m:rPr>
                                <m:sty m:val="p"/>
                              </m:rPr>
                              <a:rPr lang="en-US" altLang="ko-KR" sz="1400" i="0">
                                <a:latin typeface="Cambria Math" panose="02040503050406030204" pitchFamily="18" charset="0"/>
                              </a:rPr>
                              <m:t>p</m:t>
                            </m:r>
                          </m:num>
                          <m:den>
                            <m:r>
                              <m:rPr>
                                <m:sty m:val="p"/>
                              </m:rPr>
                              <a:rPr lang="en-US" altLang="ko-KR" sz="1400" i="0">
                                <a:latin typeface="Cambria Math" panose="02040503050406030204" pitchFamily="18" charset="0"/>
                              </a:rPr>
                              <m:t>n</m:t>
                            </m:r>
                          </m:den>
                        </m:f>
                      </m:oMath>
                    </a14:m>
                    <a:endParaRPr lang="en-US" altLang="ko-KR" sz="1400" i="0" dirty="0"/>
                  </a:p>
                  <a:p>
                    <a:r>
                      <a:rPr lang="en-US" altLang="ko-KR" sz="1400" i="0" dirty="0"/>
                      <a:t>Large leverage</a:t>
                    </a:r>
                    <a:r>
                      <a:rPr lang="en-US" altLang="ko-KR" sz="1400" i="0" dirty="0">
                        <a:solidFill>
                          <a:srgbClr val="FF0000"/>
                        </a:solidFill>
                      </a:rPr>
                      <a:t> </a:t>
                    </a:r>
                    <a14:m>
                      <m:oMath xmlns:m="http://schemas.openxmlformats.org/officeDocument/2006/math">
                        <m:r>
                          <a:rPr lang="en-US" altLang="ko-KR" sz="1400" i="0">
                            <a:solidFill>
                              <a:srgbClr val="FF0000"/>
                            </a:solidFill>
                            <a:latin typeface="Cambria Math" panose="02040503050406030204" pitchFamily="18" charset="0"/>
                          </a:rPr>
                          <m:t>&gt;</m:t>
                        </m:r>
                        <m:f>
                          <m:fPr>
                            <m:ctrlPr>
                              <a:rPr lang="en-US" altLang="ko-KR" sz="1400" i="1">
                                <a:latin typeface="Cambria Math" panose="02040503050406030204" pitchFamily="18" charset="0"/>
                              </a:rPr>
                            </m:ctrlPr>
                          </m:fPr>
                          <m:num>
                            <m:r>
                              <m:rPr>
                                <m:sty m:val="p"/>
                              </m:rPr>
                              <a:rPr lang="en-US" altLang="ko-KR" sz="1400" i="0">
                                <a:latin typeface="Cambria Math" panose="02040503050406030204" pitchFamily="18" charset="0"/>
                              </a:rPr>
                              <m:t>p</m:t>
                            </m:r>
                          </m:num>
                          <m:den>
                            <m:r>
                              <m:rPr>
                                <m:sty m:val="p"/>
                              </m:rPr>
                              <a:rPr lang="en-US" altLang="ko-KR" sz="1400" i="0">
                                <a:latin typeface="Cambria Math" panose="02040503050406030204" pitchFamily="18" charset="0"/>
                              </a:rPr>
                              <m:t>n</m:t>
                            </m:r>
                          </m:den>
                        </m:f>
                      </m:oMath>
                    </a14:m>
                    <a:endParaRPr lang="en-US" altLang="ko-KR" sz="1400" i="0" dirty="0"/>
                  </a:p>
                  <a:p>
                    <a:r>
                      <a:rPr lang="en-US" altLang="ko-KR" sz="1400" i="0" dirty="0"/>
                      <a:t>Small leverage</a:t>
                    </a:r>
                    <a:r>
                      <a:rPr lang="en-US" altLang="ko-KR" sz="1400" i="0" dirty="0">
                        <a:solidFill>
                          <a:srgbClr val="FF0000"/>
                        </a:solidFill>
                      </a:rPr>
                      <a:t> </a:t>
                    </a:r>
                    <a14:m>
                      <m:oMath xmlns:m="http://schemas.openxmlformats.org/officeDocument/2006/math">
                        <m:r>
                          <a:rPr lang="en-US" altLang="ko-KR" sz="1400" i="0" dirty="0">
                            <a:solidFill>
                              <a:srgbClr val="FF0000"/>
                            </a:solidFill>
                            <a:latin typeface="Cambria Math" panose="02040503050406030204" pitchFamily="18" charset="0"/>
                          </a:rPr>
                          <m:t>&lt;</m:t>
                        </m:r>
                        <m:f>
                          <m:fPr>
                            <m:ctrlPr>
                              <a:rPr lang="en-US" altLang="ko-KR" sz="1400" i="1">
                                <a:latin typeface="Cambria Math" panose="02040503050406030204" pitchFamily="18" charset="0"/>
                              </a:rPr>
                            </m:ctrlPr>
                          </m:fPr>
                          <m:num>
                            <m:r>
                              <m:rPr>
                                <m:sty m:val="p"/>
                              </m:rPr>
                              <a:rPr lang="en-US" altLang="ko-KR" sz="1400" i="0">
                                <a:latin typeface="Cambria Math" panose="02040503050406030204" pitchFamily="18" charset="0"/>
                              </a:rPr>
                              <m:t>p</m:t>
                            </m:r>
                          </m:num>
                          <m:den>
                            <m:r>
                              <m:rPr>
                                <m:sty m:val="p"/>
                              </m:rPr>
                              <a:rPr lang="en-US" altLang="ko-KR" sz="1400" i="0">
                                <a:latin typeface="Cambria Math" panose="02040503050406030204" pitchFamily="18" charset="0"/>
                              </a:rPr>
                              <m:t>n</m:t>
                            </m:r>
                          </m:den>
                        </m:f>
                      </m:oMath>
                    </a14:m>
                    <a:endParaRPr lang="ko-KR" altLang="en-US" sz="1400" i="0" dirty="0"/>
                  </a:p>
                </p:txBody>
              </p:sp>
            </mc:Choice>
            <mc:Fallback xmlns="">
              <p:sp>
                <p:nvSpPr>
                  <p:cNvPr id="25" name="TextBox 24">
                    <a:extLst>
                      <a:ext uri="{FF2B5EF4-FFF2-40B4-BE49-F238E27FC236}">
                        <a16:creationId xmlns:a16="http://schemas.microsoft.com/office/drawing/2014/main" id="{B937208B-626F-46B4-ADC4-46B60A68789C}"/>
                      </a:ext>
                    </a:extLst>
                  </p:cNvPr>
                  <p:cNvSpPr txBox="1">
                    <a:spLocks noRot="1" noChangeAspect="1" noMove="1" noResize="1" noEditPoints="1" noAdjustHandles="1" noChangeArrowheads="1" noChangeShapeType="1" noTextEdit="1"/>
                  </p:cNvSpPr>
                  <p:nvPr/>
                </p:nvSpPr>
                <p:spPr>
                  <a:xfrm>
                    <a:off x="5027595" y="3858926"/>
                    <a:ext cx="2238418" cy="1580689"/>
                  </a:xfrm>
                  <a:prstGeom prst="rect">
                    <a:avLst/>
                  </a:prstGeom>
                  <a:blipFill>
                    <a:blip r:embed="rId7"/>
                    <a:stretch>
                      <a:fillRect/>
                    </a:stretch>
                  </a:blipFill>
                </p:spPr>
                <p:txBody>
                  <a:bodyPr/>
                  <a:lstStyle/>
                  <a:p>
                    <a:r>
                      <a:rPr lang="ko-KR" altLang="en-US">
                        <a:noFill/>
                      </a:rPr>
                      <a:t> </a:t>
                    </a:r>
                  </a:p>
                </p:txBody>
              </p:sp>
            </mc:Fallback>
          </mc:AlternateContent>
        </p:grpSp>
        <p:sp>
          <p:nvSpPr>
            <p:cNvPr id="15" name="오른쪽 중괄호 14">
              <a:extLst>
                <a:ext uri="{FF2B5EF4-FFF2-40B4-BE49-F238E27FC236}">
                  <a16:creationId xmlns:a16="http://schemas.microsoft.com/office/drawing/2014/main" id="{3E36F4B3-ECBE-4BDD-980D-B54510DB27CB}"/>
                </a:ext>
              </a:extLst>
            </p:cNvPr>
            <p:cNvSpPr/>
            <p:nvPr/>
          </p:nvSpPr>
          <p:spPr>
            <a:xfrm rot="10800000" flipV="1">
              <a:off x="4694469" y="4087868"/>
              <a:ext cx="342337" cy="1141357"/>
            </a:xfrm>
            <a:prstGeom prst="rightBrace">
              <a:avLst>
                <a:gd name="adj1" fmla="val 34851"/>
                <a:gd name="adj2" fmla="val 50000"/>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grpSp>
      <p:sp>
        <p:nvSpPr>
          <p:cNvPr id="18" name="직사각형 17">
            <a:extLst>
              <a:ext uri="{FF2B5EF4-FFF2-40B4-BE49-F238E27FC236}">
                <a16:creationId xmlns:a16="http://schemas.microsoft.com/office/drawing/2014/main" id="{7846B874-FF81-4271-A777-C5BAB1F51F3E}"/>
              </a:ext>
            </a:extLst>
          </p:cNvPr>
          <p:cNvSpPr/>
          <p:nvPr/>
        </p:nvSpPr>
        <p:spPr>
          <a:xfrm>
            <a:off x="673032"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Leverage of the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i-th</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observation</a:t>
            </a:r>
          </a:p>
        </p:txBody>
      </p:sp>
    </p:spTree>
    <p:extLst>
      <p:ext uri="{BB962C8B-B14F-4D97-AF65-F5344CB8AC3E}">
        <p14:creationId xmlns:p14="http://schemas.microsoft.com/office/powerpoint/2010/main" val="311003978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88522452-0F25-4CFF-B4F1-4F97F94CF66D}"/>
              </a:ext>
            </a:extLst>
          </p:cNvPr>
          <p:cNvSpPr/>
          <p:nvPr/>
        </p:nvSpPr>
        <p:spPr>
          <a:xfrm>
            <a:off x="1054111" y="4364851"/>
            <a:ext cx="7317681" cy="1897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fontAlgn="base">
              <a:lnSpc>
                <a:spcPct val="100000"/>
              </a:lnSpc>
              <a:spcBef>
                <a:spcPct val="0"/>
              </a:spcBef>
              <a:spcAft>
                <a:spcPts val="1000"/>
              </a:spcAft>
              <a:buClrTx/>
              <a:buSzPct val="120000"/>
              <a:buBlip>
                <a:blip r:embed="rId3"/>
              </a:buBlip>
              <a:tabLst/>
              <a:defRPr/>
            </a:pPr>
            <a:r>
              <a:rPr lang="en-US" altLang="ko-KR" dirty="0">
                <a:solidFill>
                  <a:srgbClr val="A6A6A6"/>
                </a:solidFill>
                <a:latin typeface="SamsungOne 400" panose="020B0503030303020204" pitchFamily="34" charset="0"/>
                <a:ea typeface="SamsungOne 400" panose="020B0503030303020204" pitchFamily="34" charset="0"/>
              </a:rPr>
              <a:t>2.1. Training and Testing in Machine Learning</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2.2. Linear Regression Basics</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2.3. Linear Regression Diagnostics</a:t>
            </a: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2.4. Other Regression Types</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2.5. Practicing the Supervised Learning Model for Numerical Prediction</a:t>
            </a:r>
            <a:endParaRPr lang="ko-KR" altLang="en-US" dirty="0">
              <a:solidFill>
                <a:srgbClr val="A6A6A6"/>
              </a:solidFill>
              <a:latin typeface="SamsungOne 400" panose="020B0503030303020204" pitchFamily="34" charset="0"/>
              <a:ea typeface="SamsungOne 400" panose="020B0503030303020204" pitchFamily="34" charset="0"/>
            </a:endParaRP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2.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5" name="직사각형 133">
            <a:extLst>
              <a:ext uri="{FF2B5EF4-FFF2-40B4-BE49-F238E27FC236}">
                <a16:creationId xmlns:a16="http://schemas.microsoft.com/office/drawing/2014/main" id="{551F01E8-8777-4A7B-AD71-63E7C805C68C}"/>
              </a:ext>
            </a:extLst>
          </p:cNvPr>
          <p:cNvSpPr/>
          <p:nvPr/>
        </p:nvSpPr>
        <p:spPr>
          <a:xfrm>
            <a:off x="989683" y="3191956"/>
            <a:ext cx="8462229" cy="9848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Application of Supervised Learning Model for</a:t>
            </a:r>
            <a:r>
              <a:rPr kumimoji="1" lang="ko-KR" altLang="en-US" sz="3200" dirty="0">
                <a:solidFill>
                  <a:prstClr val="black"/>
                </a:solidFill>
                <a:latin typeface="Samsung Sharp Sans" pitchFamily="2" charset="0"/>
                <a:ea typeface="맑은 고딕" panose="020B0503020000020004" pitchFamily="50" charset="-127"/>
                <a:cs typeface="Samsung Sharp Sans" pitchFamily="2" charset="0"/>
              </a:rPr>
              <a:t> </a:t>
            </a: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Numerical Prediction</a:t>
            </a:r>
            <a:r>
              <a:rPr kumimoji="1" lang="ko-KR" altLang="en-US" sz="3200" dirty="0">
                <a:solidFill>
                  <a:prstClr val="black"/>
                </a:solidFill>
                <a:latin typeface="Samsung Sharp Sans" pitchFamily="2" charset="0"/>
                <a:ea typeface="맑은 고딕" panose="020B0503020000020004" pitchFamily="50" charset="-127"/>
                <a:cs typeface="Samsung Sharp Sans" pitchFamily="2" charset="0"/>
              </a:rPr>
              <a:t> </a:t>
            </a:r>
          </a:p>
        </p:txBody>
      </p:sp>
    </p:spTree>
    <p:extLst>
      <p:ext uri="{BB962C8B-B14F-4D97-AF65-F5344CB8AC3E}">
        <p14:creationId xmlns:p14="http://schemas.microsoft.com/office/powerpoint/2010/main" val="428076141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2.4. Other Regression Types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Regularized Regression</a:t>
            </a:r>
          </a:p>
        </p:txBody>
      </p:sp>
      <p:sp>
        <p:nvSpPr>
          <p:cNvPr id="67" name="직사각형 66">
            <a:extLst>
              <a:ext uri="{FF2B5EF4-FFF2-40B4-BE49-F238E27FC236}">
                <a16:creationId xmlns:a16="http://schemas.microsoft.com/office/drawing/2014/main" id="{904F403B-52D6-4F44-A784-943EE9D951E5}"/>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Bias-Variance trade off</a:t>
            </a:r>
          </a:p>
        </p:txBody>
      </p:sp>
      <p:sp>
        <p:nvSpPr>
          <p:cNvPr id="9" name="직사각형 8">
            <a:extLst>
              <a:ext uri="{FF2B5EF4-FFF2-40B4-BE49-F238E27FC236}">
                <a16:creationId xmlns:a16="http://schemas.microsoft.com/office/drawing/2014/main" id="{1556F9EB-56AC-4E70-8E24-D3E982038CD6}"/>
              </a:ext>
            </a:extLst>
          </p:cNvPr>
          <p:cNvSpPr/>
          <p:nvPr/>
        </p:nvSpPr>
        <p:spPr>
          <a:xfrm>
            <a:off x="671261" y="5085038"/>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Tradeoff relation between the </a:t>
            </a:r>
            <a:r>
              <a:rPr lang="en-US" altLang="ko-KR" sz="1300" b="1" dirty="0">
                <a:solidFill>
                  <a:schemeClr val="accent4"/>
                </a:solidFill>
                <a:latin typeface="SamsungOne 400" panose="020B0503030303020204" pitchFamily="34" charset="0"/>
                <a:ea typeface="SamsungOne 400" panose="020B0503030303020204" pitchFamily="34" charset="0"/>
              </a:rPr>
              <a:t>Bias error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and the </a:t>
            </a:r>
            <a:r>
              <a:rPr lang="en-US" altLang="ko-KR" sz="1300" b="1" dirty="0">
                <a:solidFill>
                  <a:srgbClr val="00B050"/>
                </a:solidFill>
                <a:latin typeface="SamsungOne 400" panose="020B0503030303020204" pitchFamily="34" charset="0"/>
                <a:ea typeface="SamsungOne 400" panose="020B0503030303020204" pitchFamily="34" charset="0"/>
              </a:rPr>
              <a:t>Variance error</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goal should be to minimize the </a:t>
            </a:r>
            <a:r>
              <a:rPr lang="en-US" altLang="ko-KR" sz="1300" b="1" dirty="0">
                <a:solidFill>
                  <a:srgbClr val="FF0000"/>
                </a:solidFill>
                <a:latin typeface="SamsungOne 400" panose="020B0503030303020204" pitchFamily="34" charset="0"/>
                <a:ea typeface="SamsungOne 400" panose="020B0503030303020204" pitchFamily="34" charset="0"/>
              </a:rPr>
              <a:t>Total error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b="1" dirty="0">
                <a:solidFill>
                  <a:schemeClr val="accent4"/>
                </a:solidFill>
                <a:latin typeface="SamsungOne 400" panose="020B0503030303020204" pitchFamily="34" charset="0"/>
                <a:ea typeface="SamsungOne 400" panose="020B0503030303020204" pitchFamily="34" charset="0"/>
              </a:rPr>
              <a:t>Bias error</a:t>
            </a:r>
            <a:r>
              <a:rPr lang="en-US" altLang="ko-KR" sz="1300" dirty="0">
                <a:solidFill>
                  <a:srgbClr val="FFC000"/>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b="1" dirty="0">
                <a:solidFill>
                  <a:srgbClr val="00B050"/>
                </a:solidFill>
                <a:latin typeface="SamsungOne 400" panose="020B0503030303020204" pitchFamily="34" charset="0"/>
                <a:ea typeface="SamsungOne 400" panose="020B0503030303020204" pitchFamily="34" charset="0"/>
              </a:rPr>
              <a:t>Variance error</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endParaRPr lang="en-US" altLang="ko-KR" sz="1300" dirty="0">
              <a:solidFill>
                <a:srgbClr val="00B050"/>
              </a:solidFill>
              <a:latin typeface="SamsungOne 400" panose="020B0503030303020204" pitchFamily="34" charset="0"/>
              <a:ea typeface="SamsungOne 400" panose="020B0503030303020204" pitchFamily="34" charset="0"/>
            </a:endParaRPr>
          </a:p>
        </p:txBody>
      </p:sp>
      <p:pic>
        <p:nvPicPr>
          <p:cNvPr id="10" name="그림 9">
            <a:extLst>
              <a:ext uri="{FF2B5EF4-FFF2-40B4-BE49-F238E27FC236}">
                <a16:creationId xmlns:a16="http://schemas.microsoft.com/office/drawing/2014/main" id="{8E564130-E89E-4FEB-86FB-3FB3EBF890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4892" y="2205038"/>
            <a:ext cx="4113041" cy="2880000"/>
          </a:xfrm>
          <a:prstGeom prst="rect">
            <a:avLst/>
          </a:prstGeom>
        </p:spPr>
      </p:pic>
      <p:sp>
        <p:nvSpPr>
          <p:cNvPr id="11" name="TextBox 10">
            <a:extLst>
              <a:ext uri="{FF2B5EF4-FFF2-40B4-BE49-F238E27FC236}">
                <a16:creationId xmlns:a16="http://schemas.microsoft.com/office/drawing/2014/main" id="{E6F7031C-BC56-4CCF-B5B1-17795B972DC0}"/>
              </a:ext>
            </a:extLst>
          </p:cNvPr>
          <p:cNvSpPr txBox="1"/>
          <p:nvPr/>
        </p:nvSpPr>
        <p:spPr>
          <a:xfrm>
            <a:off x="4159324" y="4702819"/>
            <a:ext cx="1433085" cy="215444"/>
          </a:xfrm>
          <a:prstGeom prst="rect">
            <a:avLst/>
          </a:prstGeom>
          <a:solidFill>
            <a:schemeClr val="bg1"/>
          </a:solidFill>
        </p:spPr>
        <p:txBody>
          <a:bodyPr wrap="none" lIns="0" tIns="0" rIns="0" bIns="0" rtlCol="0">
            <a:spAutoFit/>
          </a:bodyPr>
          <a:lstStyle/>
          <a:p>
            <a:pPr algn="ctr"/>
            <a:r>
              <a:rPr lang="en-US" sz="1400" dirty="0">
                <a:latin typeface="SamsungOne 400" panose="020B0503030303020204" pitchFamily="34" charset="0"/>
                <a:ea typeface="SamsungOne 400" panose="020B0503030303020204" pitchFamily="34" charset="0"/>
              </a:rPr>
              <a:t>Model Complexity</a:t>
            </a:r>
          </a:p>
        </p:txBody>
      </p:sp>
      <p:sp>
        <p:nvSpPr>
          <p:cNvPr id="12" name="TextBox 11">
            <a:extLst>
              <a:ext uri="{FF2B5EF4-FFF2-40B4-BE49-F238E27FC236}">
                <a16:creationId xmlns:a16="http://schemas.microsoft.com/office/drawing/2014/main" id="{65987A10-7405-4674-86D8-B4D379929F2B}"/>
              </a:ext>
            </a:extLst>
          </p:cNvPr>
          <p:cNvSpPr txBox="1"/>
          <p:nvPr/>
        </p:nvSpPr>
        <p:spPr>
          <a:xfrm>
            <a:off x="3655268" y="2274678"/>
            <a:ext cx="668453" cy="184666"/>
          </a:xfrm>
          <a:prstGeom prst="rect">
            <a:avLst/>
          </a:prstGeom>
          <a:solidFill>
            <a:schemeClr val="bg1"/>
          </a:solidFill>
        </p:spPr>
        <p:txBody>
          <a:bodyPr wrap="none" lIns="0" tIns="0" rIns="0" bIns="0" rtlCol="0">
            <a:spAutoFit/>
          </a:bodyPr>
          <a:lstStyle/>
          <a:p>
            <a:pPr algn="ctr"/>
            <a:r>
              <a:rPr lang="en-US" sz="1200" dirty="0">
                <a:latin typeface="SamsungOne 400" panose="020B0503030303020204" pitchFamily="34" charset="0"/>
                <a:ea typeface="SamsungOne 400" panose="020B0503030303020204" pitchFamily="34" charset="0"/>
              </a:rPr>
              <a:t>Bias Error</a:t>
            </a:r>
          </a:p>
        </p:txBody>
      </p:sp>
      <p:sp>
        <p:nvSpPr>
          <p:cNvPr id="13" name="TextBox 12">
            <a:extLst>
              <a:ext uri="{FF2B5EF4-FFF2-40B4-BE49-F238E27FC236}">
                <a16:creationId xmlns:a16="http://schemas.microsoft.com/office/drawing/2014/main" id="{E7739B5E-4E57-44B2-856A-683400DAC251}"/>
              </a:ext>
            </a:extLst>
          </p:cNvPr>
          <p:cNvSpPr txBox="1"/>
          <p:nvPr/>
        </p:nvSpPr>
        <p:spPr>
          <a:xfrm>
            <a:off x="4616180" y="2269466"/>
            <a:ext cx="976229" cy="184666"/>
          </a:xfrm>
          <a:prstGeom prst="rect">
            <a:avLst/>
          </a:prstGeom>
          <a:solidFill>
            <a:schemeClr val="bg1"/>
          </a:solidFill>
        </p:spPr>
        <p:txBody>
          <a:bodyPr wrap="none" lIns="0" tIns="0" rIns="0" bIns="0" rtlCol="0">
            <a:spAutoFit/>
          </a:bodyPr>
          <a:lstStyle/>
          <a:p>
            <a:pPr algn="ctr"/>
            <a:r>
              <a:rPr lang="en-US" sz="1200" dirty="0">
                <a:latin typeface="SamsungOne 400" panose="020B0503030303020204" pitchFamily="34" charset="0"/>
                <a:ea typeface="SamsungOne 400" panose="020B0503030303020204" pitchFamily="34" charset="0"/>
              </a:rPr>
              <a:t>Variance Error</a:t>
            </a:r>
          </a:p>
        </p:txBody>
      </p:sp>
      <p:sp>
        <p:nvSpPr>
          <p:cNvPr id="14" name="TextBox 13">
            <a:extLst>
              <a:ext uri="{FF2B5EF4-FFF2-40B4-BE49-F238E27FC236}">
                <a16:creationId xmlns:a16="http://schemas.microsoft.com/office/drawing/2014/main" id="{95EF5B07-22E1-41C6-92E0-7B80212755A1}"/>
              </a:ext>
            </a:extLst>
          </p:cNvPr>
          <p:cNvSpPr txBox="1"/>
          <p:nvPr/>
        </p:nvSpPr>
        <p:spPr>
          <a:xfrm>
            <a:off x="5851512" y="2269466"/>
            <a:ext cx="729367" cy="184666"/>
          </a:xfrm>
          <a:prstGeom prst="rect">
            <a:avLst/>
          </a:prstGeom>
          <a:solidFill>
            <a:schemeClr val="bg1"/>
          </a:solidFill>
        </p:spPr>
        <p:txBody>
          <a:bodyPr wrap="none" lIns="0" tIns="0" rIns="0" bIns="0" rtlCol="0">
            <a:spAutoFit/>
          </a:bodyPr>
          <a:lstStyle/>
          <a:p>
            <a:pPr algn="ctr"/>
            <a:r>
              <a:rPr lang="en-US" sz="1200" dirty="0">
                <a:latin typeface="SamsungOne 400" panose="020B0503030303020204" pitchFamily="34" charset="0"/>
                <a:ea typeface="SamsungOne 400" panose="020B0503030303020204" pitchFamily="34" charset="0"/>
              </a:rPr>
              <a:t>Total Error</a:t>
            </a:r>
          </a:p>
        </p:txBody>
      </p:sp>
    </p:spTree>
    <p:extLst>
      <p:ext uri="{BB962C8B-B14F-4D97-AF65-F5344CB8AC3E}">
        <p14:creationId xmlns:p14="http://schemas.microsoft.com/office/powerpoint/2010/main" val="64248140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2.4. Other Regression Types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mc:AlternateContent xmlns:mc="http://schemas.openxmlformats.org/markup-compatibility/2006" xmlns:a14="http://schemas.microsoft.com/office/drawing/2010/main">
        <mc:Choice Requires="a14">
          <p:sp>
            <p:nvSpPr>
              <p:cNvPr id="15" name="직사각형 14">
                <a:extLst>
                  <a:ext uri="{FF2B5EF4-FFF2-40B4-BE49-F238E27FC236}">
                    <a16:creationId xmlns:a16="http://schemas.microsoft.com/office/drawing/2014/main" id="{E0855293-054D-4D34-8850-81F44926D993}"/>
                  </a:ext>
                </a:extLst>
              </p:cNvPr>
              <p:cNvSpPr/>
              <p:nvPr/>
            </p:nvSpPr>
            <p:spPr>
              <a:xfrm>
                <a:off x="3962922" y="2709514"/>
                <a:ext cx="1976979" cy="89248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spcAft>
                    <a:spcPts val="800"/>
                  </a:spcAft>
                  <a:buClr>
                    <a:srgbClr val="193EB0"/>
                  </a:buClr>
                </a:pPr>
                <a14:m>
                  <m:oMathPara xmlns:m="http://schemas.openxmlformats.org/officeDocument/2006/math">
                    <m:oMathParaPr>
                      <m:jc m:val="center"/>
                    </m:oMathParaPr>
                    <m:oMath xmlns:m="http://schemas.openxmlformats.org/officeDocument/2006/math">
                      <m:r>
                        <a:rPr lang="en-US" altLang="ko-KR" sz="1600">
                          <a:solidFill>
                            <a:srgbClr val="FF0000"/>
                          </a:solidFill>
                          <a:latin typeface="Cambria Math" panose="02040503050406030204" pitchFamily="18" charset="0"/>
                        </a:rPr>
                        <m:t>𝑳</m:t>
                      </m:r>
                      <m:r>
                        <a:rPr lang="en-US" altLang="ko-KR" sz="1600" smtClean="0">
                          <a:solidFill>
                            <a:schemeClr val="tx1"/>
                          </a:solidFill>
                          <a:latin typeface="Cambria Math" panose="02040503050406030204" pitchFamily="18" charset="0"/>
                        </a:rPr>
                        <m:t>=</m:t>
                      </m:r>
                      <m:sSup>
                        <m:sSupPr>
                          <m:ctrlPr>
                            <a:rPr lang="en-US" altLang="ko-KR" sz="1600" i="1">
                              <a:solidFill>
                                <a:schemeClr val="tx1"/>
                              </a:solidFill>
                              <a:latin typeface="Cambria Math" panose="02040503050406030204" pitchFamily="18" charset="0"/>
                            </a:rPr>
                          </m:ctrlPr>
                        </m:sSupPr>
                        <m:e>
                          <m:d>
                            <m:dPr>
                              <m:begChr m:val="|"/>
                              <m:endChr m:val="|"/>
                              <m:ctrlPr>
                                <a:rPr lang="en-US" altLang="ko-KR" sz="1600" i="1">
                                  <a:solidFill>
                                    <a:schemeClr val="tx1"/>
                                  </a:solidFill>
                                  <a:latin typeface="Cambria Math" panose="02040503050406030204" pitchFamily="18" charset="0"/>
                                </a:rPr>
                              </m:ctrlPr>
                            </m:dPr>
                            <m:e>
                              <m:r>
                                <a:rPr lang="ko-KR" altLang="en-US" sz="1600">
                                  <a:solidFill>
                                    <a:schemeClr val="tx1"/>
                                  </a:solidFill>
                                  <a:latin typeface="Cambria Math" panose="02040503050406030204" pitchFamily="18" charset="0"/>
                                </a:rPr>
                                <m:t>𝜺</m:t>
                              </m:r>
                            </m:e>
                          </m:d>
                        </m:e>
                        <m:sup>
                          <m:r>
                            <a:rPr lang="en-US" altLang="ko-KR" sz="1600">
                              <a:solidFill>
                                <a:schemeClr val="tx1"/>
                              </a:solidFill>
                              <a:latin typeface="Cambria Math" panose="02040503050406030204" pitchFamily="18" charset="0"/>
                            </a:rPr>
                            <m:t>2</m:t>
                          </m:r>
                        </m:sup>
                      </m:sSup>
                      <m:r>
                        <a:rPr lang="en-US" altLang="ko-KR" sz="1600">
                          <a:solidFill>
                            <a:schemeClr val="tx1"/>
                          </a:solidFill>
                          <a:latin typeface="Cambria Math" panose="02040503050406030204" pitchFamily="18" charset="0"/>
                        </a:rPr>
                        <m:t>+</m:t>
                      </m:r>
                      <m:r>
                        <a:rPr lang="ko-KR" altLang="en-US" sz="1600">
                          <a:solidFill>
                            <a:srgbClr val="00B050"/>
                          </a:solidFill>
                          <a:latin typeface="Cambria Math" panose="02040503050406030204" pitchFamily="18" charset="0"/>
                        </a:rPr>
                        <m:t>𝝀</m:t>
                      </m:r>
                      <m:nary>
                        <m:naryPr>
                          <m:chr m:val="∑"/>
                          <m:ctrlPr>
                            <a:rPr lang="en-US" altLang="ko-KR" sz="1600" i="1" smtClean="0">
                              <a:solidFill>
                                <a:schemeClr val="tx1"/>
                              </a:solidFill>
                              <a:latin typeface="Cambria Math" panose="02040503050406030204" pitchFamily="18" charset="0"/>
                            </a:rPr>
                          </m:ctrlPr>
                        </m:naryPr>
                        <m:sub>
                          <m:r>
                            <m:rPr>
                              <m:brk m:alnAt="23"/>
                            </m:rPr>
                            <a:rPr lang="en-US" altLang="ko-KR" sz="1600" smtClean="0">
                              <a:solidFill>
                                <a:schemeClr val="tx1"/>
                              </a:solidFill>
                              <a:latin typeface="Cambria Math" panose="02040503050406030204" pitchFamily="18" charset="0"/>
                            </a:rPr>
                            <m:t>𝑖</m:t>
                          </m:r>
                          <m:r>
                            <a:rPr lang="en-US" altLang="ko-KR" sz="1600">
                              <a:solidFill>
                                <a:schemeClr val="tx1"/>
                              </a:solidFill>
                              <a:latin typeface="Cambria Math" panose="02040503050406030204" pitchFamily="18" charset="0"/>
                            </a:rPr>
                            <m:t>=0</m:t>
                          </m:r>
                        </m:sub>
                        <m:sup>
                          <m:r>
                            <a:rPr lang="en-US" altLang="ko-KR" sz="1600">
                              <a:solidFill>
                                <a:schemeClr val="tx1"/>
                              </a:solidFill>
                              <a:latin typeface="Cambria Math" panose="02040503050406030204" pitchFamily="18" charset="0"/>
                            </a:rPr>
                            <m:t>𝑘</m:t>
                          </m:r>
                        </m:sup>
                        <m:e>
                          <m:sSubSup>
                            <m:sSubSupPr>
                              <m:ctrlPr>
                                <a:rPr lang="en-US" altLang="ko-KR" sz="1600" i="1" smtClean="0">
                                  <a:solidFill>
                                    <a:srgbClr val="1429A0"/>
                                  </a:solidFill>
                                  <a:latin typeface="Cambria Math" panose="02040503050406030204" pitchFamily="18" charset="0"/>
                                </a:rPr>
                              </m:ctrlPr>
                            </m:sSubSupPr>
                            <m:e>
                              <m:r>
                                <a:rPr lang="ko-KR" altLang="en-US" sz="1600">
                                  <a:solidFill>
                                    <a:srgbClr val="1429A0"/>
                                  </a:solidFill>
                                  <a:latin typeface="Cambria Math" panose="02040503050406030204" pitchFamily="18" charset="0"/>
                                </a:rPr>
                                <m:t>𝛽</m:t>
                              </m:r>
                            </m:e>
                            <m:sub>
                              <m:r>
                                <a:rPr lang="en-US" altLang="ko-KR" sz="1600">
                                  <a:solidFill>
                                    <a:srgbClr val="1429A0"/>
                                  </a:solidFill>
                                  <a:latin typeface="Cambria Math" panose="02040503050406030204" pitchFamily="18" charset="0"/>
                                </a:rPr>
                                <m:t>𝑖</m:t>
                              </m:r>
                            </m:sub>
                            <m:sup>
                              <m:r>
                                <a:rPr lang="en-US" altLang="ko-KR" sz="1600">
                                  <a:solidFill>
                                    <a:srgbClr val="1429A0"/>
                                  </a:solidFill>
                                  <a:latin typeface="Cambria Math" panose="02040503050406030204" pitchFamily="18" charset="0"/>
                                </a:rPr>
                                <m:t>2</m:t>
                              </m:r>
                            </m:sup>
                          </m:sSubSup>
                        </m:e>
                      </m:nary>
                    </m:oMath>
                  </m:oMathPara>
                </a14:m>
                <a:endParaRPr lang="en-US" altLang="ko-KR" sz="1600" dirty="0">
                  <a:solidFill>
                    <a:schemeClr val="tx1">
                      <a:lumMod val="85000"/>
                      <a:lumOff val="15000"/>
                    </a:schemeClr>
                  </a:solidFill>
                  <a:latin typeface="Cambria Math" panose="02040503050406030204" pitchFamily="18" charset="0"/>
                </a:endParaRPr>
              </a:p>
            </p:txBody>
          </p:sp>
        </mc:Choice>
        <mc:Fallback xmlns="">
          <p:sp>
            <p:nvSpPr>
              <p:cNvPr id="15" name="직사각형 14">
                <a:extLst>
                  <a:ext uri="{FF2B5EF4-FFF2-40B4-BE49-F238E27FC236}">
                    <a16:creationId xmlns:a16="http://schemas.microsoft.com/office/drawing/2014/main" id="{E0855293-054D-4D34-8850-81F44926D993}"/>
                  </a:ext>
                </a:extLst>
              </p:cNvPr>
              <p:cNvSpPr>
                <a:spLocks noRot="1" noChangeAspect="1" noMove="1" noResize="1" noEditPoints="1" noAdjustHandles="1" noChangeArrowheads="1" noChangeShapeType="1" noTextEdit="1"/>
              </p:cNvSpPr>
              <p:nvPr/>
            </p:nvSpPr>
            <p:spPr>
              <a:xfrm>
                <a:off x="3962922" y="2709514"/>
                <a:ext cx="1976979" cy="892488"/>
              </a:xfrm>
              <a:prstGeom prst="rect">
                <a:avLst/>
              </a:prstGeom>
              <a:blipFill>
                <a:blip r:embed="rId3"/>
                <a:stretch>
                  <a:fillRect/>
                </a:stretch>
              </a:blipFill>
              <a:ln>
                <a:noFill/>
              </a:ln>
            </p:spPr>
            <p:txBody>
              <a:bodyPr/>
              <a:lstStyle/>
              <a:p>
                <a:r>
                  <a:rPr lang="ko-KR" altLang="en-US">
                    <a:noFill/>
                  </a:rPr>
                  <a:t> </a:t>
                </a:r>
              </a:p>
            </p:txBody>
          </p:sp>
        </mc:Fallback>
      </mc:AlternateContent>
      <p:sp>
        <p:nvSpPr>
          <p:cNvPr id="16" name="직사각형 15">
            <a:extLst>
              <a:ext uri="{FF2B5EF4-FFF2-40B4-BE49-F238E27FC236}">
                <a16:creationId xmlns:a16="http://schemas.microsoft.com/office/drawing/2014/main" id="{D5DCBC02-A41B-40A9-93FE-CDD67C0F6A9F}"/>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Ridge regression</a:t>
            </a:r>
          </a:p>
        </p:txBody>
      </p:sp>
      <p:sp>
        <p:nvSpPr>
          <p:cNvPr id="17" name="직사각형 16">
            <a:extLst>
              <a:ext uri="{FF2B5EF4-FFF2-40B4-BE49-F238E27FC236}">
                <a16:creationId xmlns:a16="http://schemas.microsoft.com/office/drawing/2014/main" id="{B6CB52F1-E9AE-4500-8808-FAC54750EC3C}"/>
              </a:ext>
            </a:extLst>
          </p:cNvPr>
          <p:cNvSpPr/>
          <p:nvPr/>
        </p:nvSpPr>
        <p:spPr>
          <a:xfrm>
            <a:off x="671261" y="1700808"/>
            <a:ext cx="863282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Useful when the usual linear regression overfits (bias error </a:t>
            </a:r>
            <a:r>
              <a:rPr lang="en-US" altLang="ko-KR" sz="1300" dirty="0">
                <a:solidFill>
                  <a:srgbClr val="FF0000"/>
                </a:solidFill>
                <a:latin typeface="SamsungOne 400" panose="020B0503030303020204" pitchFamily="34" charset="0"/>
                <a:ea typeface="SamsungOne 400" panose="020B0503030303020204" pitchFamily="34" charset="0"/>
              </a:rPr>
              <a:t>&lt;&lt;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variance error). </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We remember that the OLS solution consists in minimizing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𝜺</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en-US" altLang="ko-KR" sz="1300" baseline="30000" dirty="0">
                <a:solidFill>
                  <a:prstClr val="black">
                    <a:lumMod val="85000"/>
                    <a:lumOff val="15000"/>
                  </a:prstClr>
                </a:solidFill>
                <a:latin typeface="SamsungOne 400" panose="020B0503030303020204" pitchFamily="34" charset="0"/>
                <a:ea typeface="SamsungOne 400" panose="020B0503030303020204" pitchFamily="34" charset="0"/>
              </a:rPr>
              <a:t>2</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 the Ridge regression, we minimize the following “loss function”:</a:t>
            </a:r>
          </a:p>
        </p:txBody>
      </p:sp>
      <mc:AlternateContent xmlns:mc="http://schemas.openxmlformats.org/markup-compatibility/2006" xmlns:a14="http://schemas.microsoft.com/office/drawing/2010/main">
        <mc:Choice Requires="a14">
          <p:sp>
            <p:nvSpPr>
              <p:cNvPr id="18" name="직사각형 17">
                <a:extLst>
                  <a:ext uri="{FF2B5EF4-FFF2-40B4-BE49-F238E27FC236}">
                    <a16:creationId xmlns:a16="http://schemas.microsoft.com/office/drawing/2014/main" id="{8468ECA1-176E-4F59-9284-BE72BE39289F}"/>
                  </a:ext>
                </a:extLst>
              </p:cNvPr>
              <p:cNvSpPr/>
              <p:nvPr/>
            </p:nvSpPr>
            <p:spPr>
              <a:xfrm>
                <a:off x="671261" y="3789040"/>
                <a:ext cx="8632825" cy="363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 the loss function, </a:t>
                </a:r>
                <a14:m>
                  <m:oMath xmlns:m="http://schemas.openxmlformats.org/officeDocument/2006/math">
                    <m:r>
                      <a:rPr lang="ko-KR" altLang="en-US" sz="1300" smtClean="0">
                        <a:solidFill>
                          <a:srgbClr val="00B050"/>
                        </a:solidFill>
                        <a:latin typeface="Cambria Math" panose="02040503050406030204" pitchFamily="18" charset="0"/>
                        <a:ea typeface="SamsungOne 400" panose="020B0503030303020204" pitchFamily="34" charset="0"/>
                      </a:rPr>
                      <m:t>𝝀</m:t>
                    </m:r>
                    <m:nary>
                      <m:naryPr>
                        <m:chr m:val="∑"/>
                        <m:ctrlPr>
                          <a:rPr lang="en-US" altLang="ko-KR" sz="1300" i="1">
                            <a:solidFill>
                              <a:prstClr val="black">
                                <a:lumMod val="85000"/>
                                <a:lumOff val="15000"/>
                              </a:prstClr>
                            </a:solidFill>
                            <a:latin typeface="Cambria Math" panose="02040503050406030204" pitchFamily="18" charset="0"/>
                            <a:ea typeface="SamsungOne 400" panose="020B0503030303020204" pitchFamily="34" charset="0"/>
                          </a:rPr>
                        </m:ctrlPr>
                      </m:naryPr>
                      <m:sub>
                        <m:r>
                          <m:rPr>
                            <m:brk m:alnAt="23"/>
                          </m:rPr>
                          <a:rPr lang="en-US" altLang="ko-KR" sz="1300">
                            <a:solidFill>
                              <a:prstClr val="black">
                                <a:lumMod val="85000"/>
                                <a:lumOff val="15000"/>
                              </a:prstClr>
                            </a:solidFill>
                            <a:latin typeface="Cambria Math" panose="02040503050406030204" pitchFamily="18" charset="0"/>
                            <a:ea typeface="SamsungOne 400" panose="020B0503030303020204" pitchFamily="34" charset="0"/>
                          </a:rPr>
                          <m:t>𝑖</m:t>
                        </m:r>
                        <m:r>
                          <a:rPr lang="en-US" altLang="ko-KR" sz="1300">
                            <a:solidFill>
                              <a:prstClr val="black">
                                <a:lumMod val="85000"/>
                                <a:lumOff val="15000"/>
                              </a:prstClr>
                            </a:solidFill>
                            <a:latin typeface="Cambria Math" panose="02040503050406030204" pitchFamily="18" charset="0"/>
                            <a:ea typeface="SamsungOne 400" panose="020B0503030303020204" pitchFamily="34" charset="0"/>
                          </a:rPr>
                          <m:t>=0</m:t>
                        </m:r>
                      </m:sub>
                      <m:sup>
                        <m:r>
                          <a:rPr lang="en-US" altLang="ko-KR" sz="1300">
                            <a:solidFill>
                              <a:prstClr val="black">
                                <a:lumMod val="85000"/>
                                <a:lumOff val="15000"/>
                              </a:prstClr>
                            </a:solidFill>
                            <a:latin typeface="Cambria Math" panose="02040503050406030204" pitchFamily="18" charset="0"/>
                            <a:ea typeface="SamsungOne 400" panose="020B0503030303020204" pitchFamily="34" charset="0"/>
                          </a:rPr>
                          <m:t>𝑘</m:t>
                        </m:r>
                      </m:sup>
                      <m:e>
                        <m:sSubSup>
                          <m:sSubSupPr>
                            <m:ctrlPr>
                              <a:rPr lang="en-US" altLang="ko-KR" sz="1300" i="1" smtClean="0">
                                <a:solidFill>
                                  <a:srgbClr val="1429A0"/>
                                </a:solidFill>
                                <a:latin typeface="Cambria Math" panose="02040503050406030204" pitchFamily="18" charset="0"/>
                                <a:ea typeface="SamsungOne 400" panose="020B0503030303020204" pitchFamily="34" charset="0"/>
                              </a:rPr>
                            </m:ctrlPr>
                          </m:sSubSupPr>
                          <m:e>
                            <m:r>
                              <a:rPr lang="ko-KR" altLang="en-US" sz="1300">
                                <a:solidFill>
                                  <a:srgbClr val="1429A0"/>
                                </a:solidFill>
                                <a:latin typeface="Cambria Math" panose="02040503050406030204" pitchFamily="18" charset="0"/>
                                <a:ea typeface="SamsungOne 400" panose="020B0503030303020204" pitchFamily="34" charset="0"/>
                              </a:rPr>
                              <m:t>𝛽</m:t>
                            </m:r>
                          </m:e>
                          <m:sub>
                            <m:r>
                              <a:rPr lang="en-US" altLang="ko-KR" sz="1300">
                                <a:solidFill>
                                  <a:srgbClr val="1429A0"/>
                                </a:solidFill>
                                <a:latin typeface="Cambria Math" panose="02040503050406030204" pitchFamily="18" charset="0"/>
                                <a:ea typeface="SamsungOne 400" panose="020B0503030303020204" pitchFamily="34" charset="0"/>
                              </a:rPr>
                              <m:t>𝑖</m:t>
                            </m:r>
                          </m:sub>
                          <m:sup>
                            <m:r>
                              <a:rPr lang="en-US" altLang="ko-KR" sz="1300">
                                <a:solidFill>
                                  <a:srgbClr val="1429A0"/>
                                </a:solidFill>
                                <a:latin typeface="Cambria Math" panose="02040503050406030204" pitchFamily="18" charset="0"/>
                                <a:ea typeface="SamsungOne 400" panose="020B0503030303020204" pitchFamily="34" charset="0"/>
                              </a:rPr>
                              <m:t>2</m:t>
                            </m:r>
                          </m:sup>
                        </m:sSubSup>
                      </m:e>
                    </m:nary>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 included as penalty: “</a:t>
                </a:r>
                <a:r>
                  <a:rPr lang="en-US" altLang="ko-KR" sz="1300" dirty="0">
                    <a:solidFill>
                      <a:srgbClr val="1429A0"/>
                    </a:solidFill>
                    <a:latin typeface="SamsungOne 400" panose="020B0503030303020204" pitchFamily="34" charset="0"/>
                    <a:ea typeface="SamsungOne 400" panose="020B0503030303020204" pitchFamily="34" charset="0"/>
                  </a:rPr>
                  <a:t>L2</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regularization.”</a:t>
                </a:r>
              </a:p>
            </p:txBody>
          </p:sp>
        </mc:Choice>
        <mc:Fallback xmlns="">
          <p:sp>
            <p:nvSpPr>
              <p:cNvPr id="18" name="직사각형 17">
                <a:extLst>
                  <a:ext uri="{FF2B5EF4-FFF2-40B4-BE49-F238E27FC236}">
                    <a16:creationId xmlns:a16="http://schemas.microsoft.com/office/drawing/2014/main" xmlns="" xmlns:a14="http://schemas.microsoft.com/office/drawing/2010/main" id="{8468ECA1-176E-4F59-9284-BE72BE39289F}"/>
                  </a:ext>
                </a:extLst>
              </p:cNvPr>
              <p:cNvSpPr>
                <a:spLocks noRot="1" noChangeAspect="1" noMove="1" noResize="1" noEditPoints="1" noAdjustHandles="1" noChangeArrowheads="1" noChangeShapeType="1" noTextEdit="1"/>
              </p:cNvSpPr>
              <p:nvPr/>
            </p:nvSpPr>
            <p:spPr>
              <a:xfrm>
                <a:off x="671261" y="3789040"/>
                <a:ext cx="8632825" cy="363223"/>
              </a:xfrm>
              <a:prstGeom prst="rect">
                <a:avLst/>
              </a:prstGeom>
              <a:blipFill rotWithShape="0">
                <a:blip r:embed="rId5"/>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405273976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2.4. Other Regression Types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mc:AlternateContent xmlns:mc="http://schemas.openxmlformats.org/markup-compatibility/2006" xmlns:a14="http://schemas.microsoft.com/office/drawing/2010/main">
        <mc:Choice Requires="a14">
          <p:sp>
            <p:nvSpPr>
              <p:cNvPr id="15" name="직사각형 14">
                <a:extLst>
                  <a:ext uri="{FF2B5EF4-FFF2-40B4-BE49-F238E27FC236}">
                    <a16:creationId xmlns:a16="http://schemas.microsoft.com/office/drawing/2014/main" id="{E0855293-054D-4D34-8850-81F44926D993}"/>
                  </a:ext>
                </a:extLst>
              </p:cNvPr>
              <p:cNvSpPr/>
              <p:nvPr/>
            </p:nvSpPr>
            <p:spPr>
              <a:xfrm>
                <a:off x="3962922" y="2168860"/>
                <a:ext cx="1976979" cy="89248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spcAft>
                    <a:spcPts val="800"/>
                  </a:spcAft>
                  <a:buClr>
                    <a:srgbClr val="193EB0"/>
                  </a:buClr>
                </a:pPr>
                <a14:m>
                  <m:oMathPara xmlns:m="http://schemas.openxmlformats.org/officeDocument/2006/math">
                    <m:oMathParaPr>
                      <m:jc m:val="center"/>
                    </m:oMathParaPr>
                    <m:oMath xmlns:m="http://schemas.openxmlformats.org/officeDocument/2006/math">
                      <m:r>
                        <a:rPr lang="en-US" altLang="ko-KR" sz="1600">
                          <a:solidFill>
                            <a:srgbClr val="FF0000"/>
                          </a:solidFill>
                          <a:latin typeface="Cambria Math" panose="02040503050406030204" pitchFamily="18" charset="0"/>
                        </a:rPr>
                        <m:t>𝑳</m:t>
                      </m:r>
                      <m:r>
                        <a:rPr lang="en-US" altLang="ko-KR" sz="1600" smtClean="0">
                          <a:solidFill>
                            <a:schemeClr val="tx1"/>
                          </a:solidFill>
                          <a:latin typeface="Cambria Math" panose="02040503050406030204" pitchFamily="18" charset="0"/>
                        </a:rPr>
                        <m:t>=</m:t>
                      </m:r>
                      <m:sSup>
                        <m:sSupPr>
                          <m:ctrlPr>
                            <a:rPr lang="en-US" altLang="ko-KR" sz="1600" i="1">
                              <a:solidFill>
                                <a:schemeClr val="tx1"/>
                              </a:solidFill>
                              <a:latin typeface="Cambria Math" panose="02040503050406030204" pitchFamily="18" charset="0"/>
                            </a:rPr>
                          </m:ctrlPr>
                        </m:sSupPr>
                        <m:e>
                          <m:d>
                            <m:dPr>
                              <m:begChr m:val="|"/>
                              <m:endChr m:val="|"/>
                              <m:ctrlPr>
                                <a:rPr lang="en-US" altLang="ko-KR" sz="1600" i="1">
                                  <a:solidFill>
                                    <a:schemeClr val="tx1"/>
                                  </a:solidFill>
                                  <a:latin typeface="Cambria Math" panose="02040503050406030204" pitchFamily="18" charset="0"/>
                                </a:rPr>
                              </m:ctrlPr>
                            </m:dPr>
                            <m:e>
                              <m:r>
                                <a:rPr lang="ko-KR" altLang="en-US" sz="1600">
                                  <a:solidFill>
                                    <a:schemeClr val="tx1"/>
                                  </a:solidFill>
                                  <a:latin typeface="Cambria Math" panose="02040503050406030204" pitchFamily="18" charset="0"/>
                                </a:rPr>
                                <m:t>𝜺</m:t>
                              </m:r>
                            </m:e>
                          </m:d>
                        </m:e>
                        <m:sup>
                          <m:r>
                            <a:rPr lang="en-US" altLang="ko-KR" sz="1600">
                              <a:solidFill>
                                <a:schemeClr val="tx1"/>
                              </a:solidFill>
                              <a:latin typeface="Cambria Math" panose="02040503050406030204" pitchFamily="18" charset="0"/>
                            </a:rPr>
                            <m:t>2</m:t>
                          </m:r>
                        </m:sup>
                      </m:sSup>
                      <m:r>
                        <a:rPr lang="en-US" altLang="ko-KR" sz="1600">
                          <a:solidFill>
                            <a:schemeClr val="tx1"/>
                          </a:solidFill>
                          <a:latin typeface="Cambria Math" panose="02040503050406030204" pitchFamily="18" charset="0"/>
                        </a:rPr>
                        <m:t>+</m:t>
                      </m:r>
                      <m:r>
                        <a:rPr lang="ko-KR" altLang="en-US" sz="1600">
                          <a:solidFill>
                            <a:srgbClr val="00B050"/>
                          </a:solidFill>
                          <a:latin typeface="Cambria Math" panose="02040503050406030204" pitchFamily="18" charset="0"/>
                        </a:rPr>
                        <m:t>𝝀</m:t>
                      </m:r>
                      <m:nary>
                        <m:naryPr>
                          <m:chr m:val="∑"/>
                          <m:ctrlPr>
                            <a:rPr lang="en-US" altLang="ko-KR" sz="1600" i="1" smtClean="0">
                              <a:solidFill>
                                <a:schemeClr val="tx1"/>
                              </a:solidFill>
                              <a:latin typeface="Cambria Math" panose="02040503050406030204" pitchFamily="18" charset="0"/>
                            </a:rPr>
                          </m:ctrlPr>
                        </m:naryPr>
                        <m:sub>
                          <m:r>
                            <m:rPr>
                              <m:brk m:alnAt="23"/>
                            </m:rPr>
                            <a:rPr lang="en-US" altLang="ko-KR" sz="1600" smtClean="0">
                              <a:solidFill>
                                <a:schemeClr val="tx1"/>
                              </a:solidFill>
                              <a:latin typeface="Cambria Math" panose="02040503050406030204" pitchFamily="18" charset="0"/>
                            </a:rPr>
                            <m:t>𝑖</m:t>
                          </m:r>
                          <m:r>
                            <a:rPr lang="en-US" altLang="ko-KR" sz="1600">
                              <a:solidFill>
                                <a:schemeClr val="tx1"/>
                              </a:solidFill>
                              <a:latin typeface="Cambria Math" panose="02040503050406030204" pitchFamily="18" charset="0"/>
                            </a:rPr>
                            <m:t>=0</m:t>
                          </m:r>
                        </m:sub>
                        <m:sup>
                          <m:r>
                            <a:rPr lang="en-US" altLang="ko-KR" sz="1600">
                              <a:solidFill>
                                <a:schemeClr val="tx1"/>
                              </a:solidFill>
                              <a:latin typeface="Cambria Math" panose="02040503050406030204" pitchFamily="18" charset="0"/>
                            </a:rPr>
                            <m:t>𝑘</m:t>
                          </m:r>
                        </m:sup>
                        <m:e>
                          <m:sSubSup>
                            <m:sSubSupPr>
                              <m:ctrlPr>
                                <a:rPr lang="en-US" altLang="ko-KR" sz="1600" i="1" smtClean="0">
                                  <a:solidFill>
                                    <a:srgbClr val="1429A0"/>
                                  </a:solidFill>
                                  <a:latin typeface="Cambria Math" panose="02040503050406030204" pitchFamily="18" charset="0"/>
                                </a:rPr>
                              </m:ctrlPr>
                            </m:sSubSupPr>
                            <m:e>
                              <m:r>
                                <a:rPr lang="ko-KR" altLang="en-US" sz="1600">
                                  <a:solidFill>
                                    <a:srgbClr val="1429A0"/>
                                  </a:solidFill>
                                  <a:latin typeface="Cambria Math" panose="02040503050406030204" pitchFamily="18" charset="0"/>
                                </a:rPr>
                                <m:t>𝛽</m:t>
                              </m:r>
                            </m:e>
                            <m:sub>
                              <m:r>
                                <a:rPr lang="en-US" altLang="ko-KR" sz="1600">
                                  <a:solidFill>
                                    <a:srgbClr val="1429A0"/>
                                  </a:solidFill>
                                  <a:latin typeface="Cambria Math" panose="02040503050406030204" pitchFamily="18" charset="0"/>
                                </a:rPr>
                                <m:t>𝑖</m:t>
                              </m:r>
                            </m:sub>
                            <m:sup>
                              <m:r>
                                <a:rPr lang="en-US" altLang="ko-KR" sz="1600">
                                  <a:solidFill>
                                    <a:srgbClr val="1429A0"/>
                                  </a:solidFill>
                                  <a:latin typeface="Cambria Math" panose="02040503050406030204" pitchFamily="18" charset="0"/>
                                </a:rPr>
                                <m:t>2</m:t>
                              </m:r>
                            </m:sup>
                          </m:sSubSup>
                        </m:e>
                      </m:nary>
                    </m:oMath>
                  </m:oMathPara>
                </a14:m>
                <a:endParaRPr lang="en-US" altLang="ko-KR" sz="1600" dirty="0">
                  <a:solidFill>
                    <a:schemeClr val="tx1">
                      <a:lumMod val="85000"/>
                      <a:lumOff val="15000"/>
                    </a:schemeClr>
                  </a:solidFill>
                  <a:latin typeface="Cambria Math" panose="02040503050406030204" pitchFamily="18" charset="0"/>
                </a:endParaRPr>
              </a:p>
            </p:txBody>
          </p:sp>
        </mc:Choice>
        <mc:Fallback xmlns="">
          <p:sp>
            <p:nvSpPr>
              <p:cNvPr id="15" name="직사각형 14">
                <a:extLst>
                  <a:ext uri="{FF2B5EF4-FFF2-40B4-BE49-F238E27FC236}">
                    <a16:creationId xmlns:a16="http://schemas.microsoft.com/office/drawing/2014/main" id="{E0855293-054D-4D34-8850-81F44926D993}"/>
                  </a:ext>
                </a:extLst>
              </p:cNvPr>
              <p:cNvSpPr>
                <a:spLocks noRot="1" noChangeAspect="1" noMove="1" noResize="1" noEditPoints="1" noAdjustHandles="1" noChangeArrowheads="1" noChangeShapeType="1" noTextEdit="1"/>
              </p:cNvSpPr>
              <p:nvPr/>
            </p:nvSpPr>
            <p:spPr>
              <a:xfrm>
                <a:off x="3962922" y="2168860"/>
                <a:ext cx="1976979" cy="892488"/>
              </a:xfrm>
              <a:prstGeom prst="rect">
                <a:avLst/>
              </a:prstGeom>
              <a:blipFill>
                <a:blip r:embed="rId3"/>
                <a:stretch>
                  <a:fillRect/>
                </a:stretch>
              </a:blipFill>
              <a:ln>
                <a:noFill/>
              </a:ln>
            </p:spPr>
            <p:txBody>
              <a:bodyPr/>
              <a:lstStyle/>
              <a:p>
                <a:r>
                  <a:rPr lang="ko-KR" altLang="en-US">
                    <a:noFill/>
                  </a:rPr>
                  <a:t> </a:t>
                </a:r>
              </a:p>
            </p:txBody>
          </p:sp>
        </mc:Fallback>
      </mc:AlternateContent>
      <p:sp>
        <p:nvSpPr>
          <p:cNvPr id="16" name="직사각형 15">
            <a:extLst>
              <a:ext uri="{FF2B5EF4-FFF2-40B4-BE49-F238E27FC236}">
                <a16:creationId xmlns:a16="http://schemas.microsoft.com/office/drawing/2014/main" id="{D5DCBC02-A41B-40A9-93FE-CDD67C0F6A9F}"/>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4"/>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Ridge regression</a:t>
            </a:r>
          </a:p>
        </p:txBody>
      </p:sp>
      <mc:AlternateContent xmlns:mc="http://schemas.openxmlformats.org/markup-compatibility/2006" xmlns:a14="http://schemas.microsoft.com/office/drawing/2010/main">
        <mc:Choice Requires="a14">
          <p:sp>
            <p:nvSpPr>
              <p:cNvPr id="17" name="직사각형 16">
                <a:extLst>
                  <a:ext uri="{FF2B5EF4-FFF2-40B4-BE49-F238E27FC236}">
                    <a16:creationId xmlns:a16="http://schemas.microsoft.com/office/drawing/2014/main" id="{B6CB52F1-E9AE-4500-8808-FAC54750EC3C}"/>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Positive and larger </a:t>
                </a:r>
                <a:r>
                  <a:rPr lang="ko-KR" altLang="en-US" sz="1300" dirty="0">
                    <a:solidFill>
                      <a:srgbClr val="00B050"/>
                    </a:solidFill>
                    <a:latin typeface="SamsungOne 400" panose="020B0503030303020204" pitchFamily="34" charset="0"/>
                    <a:ea typeface="SamsungOne 400" panose="020B0503030303020204" pitchFamily="34" charset="0"/>
                    <a:sym typeface="Symbol" panose="05050102010706020507" pitchFamily="18" charset="2"/>
                  </a:rPr>
                  <a: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further constrains the coefficients </a:t>
                </a:r>
                <a14:m>
                  <m:oMath xmlns:m="http://schemas.openxmlformats.org/officeDocument/2006/math">
                    <m:sSub>
                      <m:sSubPr>
                        <m:ctrlPr>
                          <a:rPr lang="en-US" altLang="ko-KR" sz="1300" i="1" dirty="0" smtClean="0">
                            <a:solidFill>
                              <a:schemeClr val="tx1">
                                <a:lumMod val="85000"/>
                                <a:lumOff val="15000"/>
                              </a:schemeClr>
                            </a:solidFill>
                            <a:latin typeface="Cambria Math" panose="02040503050406030204" pitchFamily="18" charset="0"/>
                          </a:rPr>
                        </m:ctrlPr>
                      </m:sSubPr>
                      <m:e>
                        <m:r>
                          <a:rPr lang="en-US" altLang="ko-KR" sz="1300" i="1" dirty="0" smtClean="0">
                            <a:solidFill>
                              <a:schemeClr val="tx1">
                                <a:lumMod val="85000"/>
                                <a:lumOff val="15000"/>
                              </a:schemeClr>
                            </a:solidFill>
                            <a:latin typeface="Cambria Math" panose="02040503050406030204" pitchFamily="18" charset="0"/>
                            <a:ea typeface="Cambria Math" panose="02040503050406030204" pitchFamily="18" charset="0"/>
                          </a:rPr>
                          <m:t>𝛽</m:t>
                        </m:r>
                      </m:e>
                      <m:sub>
                        <m:r>
                          <a:rPr lang="en-US" altLang="ko-KR" sz="1300" b="0" i="1" dirty="0" smtClean="0">
                            <a:solidFill>
                              <a:schemeClr val="tx1">
                                <a:lumMod val="85000"/>
                                <a:lumOff val="15000"/>
                              </a:schemeClr>
                            </a:solidFill>
                            <a:latin typeface="Cambria Math" panose="02040503050406030204" pitchFamily="18" charset="0"/>
                          </a:rPr>
                          <m:t>𝑖</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decreasing the variance (overfitting) error.</a:t>
                </a:r>
              </a:p>
            </p:txBody>
          </p:sp>
        </mc:Choice>
        <mc:Fallback xmlns="">
          <p:sp>
            <p:nvSpPr>
              <p:cNvPr id="17" name="직사각형 16">
                <a:extLst>
                  <a:ext uri="{FF2B5EF4-FFF2-40B4-BE49-F238E27FC236}">
                    <a16:creationId xmlns:a16="http://schemas.microsoft.com/office/drawing/2014/main" xmlns:a14="http://schemas.microsoft.com/office/drawing/2010/main" xmlns="" id="{B6CB52F1-E9AE-4500-8808-FAC54750EC3C}"/>
                  </a:ext>
                </a:extLst>
              </p:cNvPr>
              <p:cNvSpPr>
                <a:spLocks noRot="1" noChangeAspect="1" noMove="1" noResize="1" noEditPoints="1" noAdjustHandles="1" noChangeArrowheads="1" noChangeShapeType="1" noTextEdit="1"/>
              </p:cNvSpPr>
              <p:nvPr/>
            </p:nvSpPr>
            <p:spPr>
              <a:xfrm>
                <a:off x="671261" y="1700808"/>
                <a:ext cx="8632825" cy="345461"/>
              </a:xfrm>
              <a:prstGeom prst="rect">
                <a:avLst/>
              </a:prstGeom>
              <a:blipFill rotWithShape="0">
                <a:blip r:embed="rId5"/>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직사각형 8">
                <a:extLst>
                  <a:ext uri="{FF2B5EF4-FFF2-40B4-BE49-F238E27FC236}">
                    <a16:creationId xmlns:a16="http://schemas.microsoft.com/office/drawing/2014/main" id="{8CB63D64-135F-40A2-BC7A-F6D5B07F4FE0}"/>
                  </a:ext>
                </a:extLst>
              </p:cNvPr>
              <p:cNvSpPr/>
              <p:nvPr/>
            </p:nvSpPr>
            <p:spPr>
              <a:xfrm>
                <a:off x="3092427" y="3621872"/>
                <a:ext cx="3717968" cy="3385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14:m>
                  <m:oMathPara xmlns:m="http://schemas.openxmlformats.org/officeDocument/2006/math">
                    <m:oMathParaPr>
                      <m:jc m:val="centerGroup"/>
                    </m:oMathParaPr>
                    <m:oMath xmlns:m="http://schemas.openxmlformats.org/officeDocument/2006/math">
                      <m:r>
                        <a:rPr lang="en-US" altLang="ko-KR" sz="1600">
                          <a:solidFill>
                            <a:srgbClr val="262626"/>
                          </a:solidFill>
                          <a:latin typeface="Cambria Math" panose="02040503050406030204" pitchFamily="18" charset="0"/>
                        </a:rPr>
                        <m:t>𝑌</m:t>
                      </m:r>
                      <m:r>
                        <a:rPr lang="en-US" altLang="ko-KR" sz="1600">
                          <a:solidFill>
                            <a:srgbClr val="262626"/>
                          </a:solidFill>
                          <a:latin typeface="Cambria Math" panose="02040503050406030204" pitchFamily="18" charset="0"/>
                        </a:rPr>
                        <m:t>=</m:t>
                      </m:r>
                      <m:sSub>
                        <m:sSubPr>
                          <m:ctrlPr>
                            <a:rPr lang="ko-KR" altLang="ko-KR" sz="1600" i="1">
                              <a:solidFill>
                                <a:srgbClr val="262626"/>
                              </a:solidFill>
                              <a:latin typeface="Cambria Math" panose="02040503050406030204" pitchFamily="18" charset="0"/>
                            </a:rPr>
                          </m:ctrlPr>
                        </m:sSubPr>
                        <m:e>
                          <m:sSub>
                            <m:sSubPr>
                              <m:ctrlPr>
                                <a:rPr lang="ko-KR" altLang="ko-KR" sz="1600" i="1">
                                  <a:solidFill>
                                    <a:srgbClr val="00B050"/>
                                  </a:solidFill>
                                  <a:latin typeface="Cambria Math" panose="02040503050406030204" pitchFamily="18" charset="0"/>
                                </a:rPr>
                              </m:ctrlPr>
                            </m:sSubPr>
                            <m:e>
                              <m:r>
                                <a:rPr lang="en-US" altLang="ko-KR" sz="1600">
                                  <a:solidFill>
                                    <a:srgbClr val="00B050"/>
                                  </a:solidFill>
                                  <a:latin typeface="Cambria Math" panose="02040503050406030204" pitchFamily="18" charset="0"/>
                                </a:rPr>
                                <m:t>𝛽</m:t>
                              </m:r>
                            </m:e>
                            <m:sub>
                              <m:r>
                                <a:rPr lang="en-US" altLang="ko-KR" sz="1600">
                                  <a:solidFill>
                                    <a:srgbClr val="00B050"/>
                                  </a:solidFill>
                                  <a:latin typeface="Cambria Math" panose="02040503050406030204" pitchFamily="18" charset="0"/>
                                </a:rPr>
                                <m:t>0</m:t>
                              </m:r>
                            </m:sub>
                          </m:sSub>
                          <m:r>
                            <a:rPr lang="en-US" altLang="ko-KR" sz="1600">
                              <a:solidFill>
                                <a:srgbClr val="262626"/>
                              </a:solidFill>
                              <a:latin typeface="Cambria Math" panose="02040503050406030204" pitchFamily="18" charset="0"/>
                            </a:rPr>
                            <m:t>+</m:t>
                          </m:r>
                          <m:r>
                            <a:rPr lang="en-US" altLang="ko-KR" sz="1600">
                              <a:solidFill>
                                <a:srgbClr val="00B050"/>
                              </a:solidFill>
                              <a:latin typeface="Cambria Math" panose="02040503050406030204" pitchFamily="18" charset="0"/>
                            </a:rPr>
                            <m:t>𝛽</m:t>
                          </m:r>
                        </m:e>
                        <m:sub>
                          <m:r>
                            <a:rPr lang="en-US" altLang="ko-KR" sz="1600">
                              <a:solidFill>
                                <a:srgbClr val="00B050"/>
                              </a:solidFill>
                              <a:latin typeface="Cambria Math" panose="02040503050406030204" pitchFamily="18" charset="0"/>
                            </a:rPr>
                            <m:t>1</m:t>
                          </m:r>
                        </m:sub>
                      </m:sSub>
                      <m:sSub>
                        <m:sSubPr>
                          <m:ctrlPr>
                            <a:rPr lang="ko-KR" altLang="ko-KR" sz="1600" i="1">
                              <a:solidFill>
                                <a:srgbClr val="262626"/>
                              </a:solidFill>
                              <a:latin typeface="Cambria Math" panose="02040503050406030204" pitchFamily="18" charset="0"/>
                            </a:rPr>
                          </m:ctrlPr>
                        </m:sSubPr>
                        <m:e>
                          <m:r>
                            <a:rPr lang="en-US" altLang="ko-KR" sz="1600">
                              <a:solidFill>
                                <a:srgbClr val="262626"/>
                              </a:solidFill>
                              <a:latin typeface="Cambria Math" panose="02040503050406030204" pitchFamily="18" charset="0"/>
                            </a:rPr>
                            <m:t>𝑋</m:t>
                          </m:r>
                        </m:e>
                        <m:sub>
                          <m:r>
                            <a:rPr lang="en-US" altLang="ko-KR" sz="1600">
                              <a:solidFill>
                                <a:srgbClr val="262626"/>
                              </a:solidFill>
                              <a:latin typeface="Cambria Math" panose="02040503050406030204" pitchFamily="18" charset="0"/>
                            </a:rPr>
                            <m:t>1</m:t>
                          </m:r>
                        </m:sub>
                      </m:sSub>
                      <m:r>
                        <a:rPr lang="en-US" altLang="ko-KR" sz="1600">
                          <a:solidFill>
                            <a:srgbClr val="262626"/>
                          </a:solidFill>
                          <a:latin typeface="Cambria Math" panose="02040503050406030204" pitchFamily="18" charset="0"/>
                        </a:rPr>
                        <m:t>+</m:t>
                      </m:r>
                      <m:sSub>
                        <m:sSubPr>
                          <m:ctrlPr>
                            <a:rPr lang="ko-KR" altLang="ko-KR" sz="1600" i="1">
                              <a:solidFill>
                                <a:srgbClr val="262626"/>
                              </a:solidFill>
                              <a:latin typeface="Cambria Math" panose="02040503050406030204" pitchFamily="18" charset="0"/>
                            </a:rPr>
                          </m:ctrlPr>
                        </m:sSubPr>
                        <m:e>
                          <m:r>
                            <a:rPr lang="en-US" altLang="ko-KR" sz="1600">
                              <a:solidFill>
                                <a:srgbClr val="00B050"/>
                              </a:solidFill>
                              <a:latin typeface="Cambria Math" panose="02040503050406030204" pitchFamily="18" charset="0"/>
                            </a:rPr>
                            <m:t>𝛽</m:t>
                          </m:r>
                        </m:e>
                        <m:sub>
                          <m:r>
                            <a:rPr lang="en-US" altLang="ko-KR" sz="1600">
                              <a:solidFill>
                                <a:srgbClr val="00B050"/>
                              </a:solidFill>
                              <a:latin typeface="Cambria Math" panose="02040503050406030204" pitchFamily="18" charset="0"/>
                            </a:rPr>
                            <m:t>2</m:t>
                          </m:r>
                        </m:sub>
                      </m:sSub>
                      <m:sSub>
                        <m:sSubPr>
                          <m:ctrlPr>
                            <a:rPr lang="ko-KR" altLang="ko-KR" sz="1600" i="1">
                              <a:solidFill>
                                <a:srgbClr val="262626"/>
                              </a:solidFill>
                              <a:latin typeface="Cambria Math" panose="02040503050406030204" pitchFamily="18" charset="0"/>
                            </a:rPr>
                          </m:ctrlPr>
                        </m:sSubPr>
                        <m:e>
                          <m:r>
                            <a:rPr lang="en-US" altLang="ko-KR" sz="1600">
                              <a:solidFill>
                                <a:srgbClr val="262626"/>
                              </a:solidFill>
                              <a:latin typeface="Cambria Math" panose="02040503050406030204" pitchFamily="18" charset="0"/>
                            </a:rPr>
                            <m:t>𝑋</m:t>
                          </m:r>
                        </m:e>
                        <m:sub>
                          <m:r>
                            <a:rPr lang="en-US" altLang="ko-KR" sz="1600">
                              <a:solidFill>
                                <a:srgbClr val="262626"/>
                              </a:solidFill>
                              <a:latin typeface="Cambria Math" panose="02040503050406030204" pitchFamily="18" charset="0"/>
                            </a:rPr>
                            <m:t>2</m:t>
                          </m:r>
                        </m:sub>
                      </m:sSub>
                      <m:r>
                        <a:rPr lang="en-US" altLang="ko-KR" sz="1600">
                          <a:solidFill>
                            <a:srgbClr val="262626"/>
                          </a:solidFill>
                          <a:latin typeface="Cambria Math" panose="02040503050406030204" pitchFamily="18" charset="0"/>
                        </a:rPr>
                        <m:t>+⋯+</m:t>
                      </m:r>
                      <m:sSub>
                        <m:sSubPr>
                          <m:ctrlPr>
                            <a:rPr lang="ko-KR" altLang="ko-KR" sz="1600" i="1">
                              <a:solidFill>
                                <a:srgbClr val="00B050"/>
                              </a:solidFill>
                              <a:latin typeface="Cambria Math" panose="02040503050406030204" pitchFamily="18" charset="0"/>
                            </a:rPr>
                          </m:ctrlPr>
                        </m:sSubPr>
                        <m:e>
                          <m:r>
                            <a:rPr lang="en-US" altLang="ko-KR" sz="1600">
                              <a:solidFill>
                                <a:srgbClr val="00B050"/>
                              </a:solidFill>
                              <a:latin typeface="Cambria Math" panose="02040503050406030204" pitchFamily="18" charset="0"/>
                            </a:rPr>
                            <m:t>𝛽</m:t>
                          </m:r>
                        </m:e>
                        <m:sub>
                          <m:r>
                            <a:rPr lang="en-US" altLang="ko-KR" sz="1600">
                              <a:solidFill>
                                <a:srgbClr val="00B050"/>
                              </a:solidFill>
                              <a:latin typeface="Cambria Math" panose="02040503050406030204" pitchFamily="18" charset="0"/>
                            </a:rPr>
                            <m:t>𝑘</m:t>
                          </m:r>
                        </m:sub>
                      </m:sSub>
                      <m:sSub>
                        <m:sSubPr>
                          <m:ctrlPr>
                            <a:rPr lang="ko-KR" altLang="ko-KR" sz="1600" i="1">
                              <a:solidFill>
                                <a:srgbClr val="262626"/>
                              </a:solidFill>
                              <a:latin typeface="Cambria Math" panose="02040503050406030204" pitchFamily="18" charset="0"/>
                            </a:rPr>
                          </m:ctrlPr>
                        </m:sSubPr>
                        <m:e>
                          <m:r>
                            <a:rPr lang="en-US" altLang="ko-KR" sz="1600">
                              <a:solidFill>
                                <a:srgbClr val="262626"/>
                              </a:solidFill>
                              <a:latin typeface="Cambria Math" panose="02040503050406030204" pitchFamily="18" charset="0"/>
                            </a:rPr>
                            <m:t>𝑋</m:t>
                          </m:r>
                        </m:e>
                        <m:sub>
                          <m:r>
                            <a:rPr lang="en-US" altLang="ko-KR" sz="1600">
                              <a:solidFill>
                                <a:srgbClr val="262626"/>
                              </a:solidFill>
                              <a:latin typeface="Cambria Math" panose="02040503050406030204" pitchFamily="18" charset="0"/>
                            </a:rPr>
                            <m:t>𝑘</m:t>
                          </m:r>
                        </m:sub>
                      </m:sSub>
                      <m:r>
                        <a:rPr lang="en-US" altLang="ko-KR" sz="1600">
                          <a:solidFill>
                            <a:srgbClr val="262626"/>
                          </a:solidFill>
                          <a:latin typeface="Cambria Math" panose="02040503050406030204" pitchFamily="18" charset="0"/>
                        </a:rPr>
                        <m:t>+</m:t>
                      </m:r>
                      <m:r>
                        <a:rPr lang="ko-KR" altLang="en-US" sz="1600">
                          <a:solidFill>
                            <a:srgbClr val="262626"/>
                          </a:solidFill>
                          <a:latin typeface="Cambria Math" panose="02040503050406030204" pitchFamily="18" charset="0"/>
                        </a:rPr>
                        <m:t>𝜀</m:t>
                      </m:r>
                    </m:oMath>
                  </m:oMathPara>
                </a14:m>
                <a:endParaRPr lang="en-US" altLang="ko-KR" sz="1600" dirty="0">
                  <a:solidFill>
                    <a:srgbClr val="262626"/>
                  </a:solidFill>
                </a:endParaRPr>
              </a:p>
            </p:txBody>
          </p:sp>
        </mc:Choice>
        <mc:Fallback xmlns="">
          <p:sp>
            <p:nvSpPr>
              <p:cNvPr id="9" name="직사각형 8">
                <a:extLst>
                  <a:ext uri="{FF2B5EF4-FFF2-40B4-BE49-F238E27FC236}">
                    <a16:creationId xmlns:a16="http://schemas.microsoft.com/office/drawing/2014/main" id="{8CB63D64-135F-40A2-BC7A-F6D5B07F4FE0}"/>
                  </a:ext>
                </a:extLst>
              </p:cNvPr>
              <p:cNvSpPr>
                <a:spLocks noRot="1" noChangeAspect="1" noMove="1" noResize="1" noEditPoints="1" noAdjustHandles="1" noChangeArrowheads="1" noChangeShapeType="1" noTextEdit="1"/>
              </p:cNvSpPr>
              <p:nvPr/>
            </p:nvSpPr>
            <p:spPr>
              <a:xfrm>
                <a:off x="3092427" y="3621872"/>
                <a:ext cx="3717968" cy="338554"/>
              </a:xfrm>
              <a:prstGeom prst="rect">
                <a:avLst/>
              </a:prstGeom>
              <a:blipFill>
                <a:blip r:embed="rId6"/>
                <a:stretch>
                  <a:fillRect b="-8929"/>
                </a:stretch>
              </a:blipFill>
              <a:ln>
                <a:noFill/>
              </a:ln>
            </p:spPr>
            <p:txBody>
              <a:bodyPr/>
              <a:lstStyle/>
              <a:p>
                <a:r>
                  <a:rPr lang="ko-KR" altLang="en-US">
                    <a:noFill/>
                  </a:rPr>
                  <a:t> </a:t>
                </a:r>
              </a:p>
            </p:txBody>
          </p:sp>
        </mc:Fallback>
      </mc:AlternateContent>
      <p:grpSp>
        <p:nvGrpSpPr>
          <p:cNvPr id="3" name="그룹 2">
            <a:extLst>
              <a:ext uri="{FF2B5EF4-FFF2-40B4-BE49-F238E27FC236}">
                <a16:creationId xmlns:a16="http://schemas.microsoft.com/office/drawing/2014/main" id="{2E3D8181-9BD5-4914-94DA-5DAF30E769D4}"/>
              </a:ext>
            </a:extLst>
          </p:cNvPr>
          <p:cNvGrpSpPr/>
          <p:nvPr/>
        </p:nvGrpSpPr>
        <p:grpSpPr>
          <a:xfrm>
            <a:off x="3727276" y="3309803"/>
            <a:ext cx="2212625" cy="984209"/>
            <a:chOff x="3727276" y="3243831"/>
            <a:chExt cx="2212625" cy="984209"/>
          </a:xfrm>
        </p:grpSpPr>
        <p:cxnSp>
          <p:nvCxnSpPr>
            <p:cNvPr id="10" name="Straight Arrow Connector 15">
              <a:extLst>
                <a:ext uri="{FF2B5EF4-FFF2-40B4-BE49-F238E27FC236}">
                  <a16:creationId xmlns:a16="http://schemas.microsoft.com/office/drawing/2014/main" id="{4BEFA8DC-0B91-4617-B4F8-3AE33BBC0671}"/>
                </a:ext>
              </a:extLst>
            </p:cNvPr>
            <p:cNvCxnSpPr>
              <a:cxnSpLocks/>
            </p:cNvCxnSpPr>
            <p:nvPr/>
          </p:nvCxnSpPr>
          <p:spPr>
            <a:xfrm flipV="1">
              <a:off x="3727276" y="3243831"/>
              <a:ext cx="1336" cy="260872"/>
            </a:xfrm>
            <a:prstGeom prst="straightConnector1">
              <a:avLst/>
            </a:prstGeom>
            <a:ln w="12700">
              <a:solidFill>
                <a:srgbClr val="FF0000"/>
              </a:solidFill>
              <a:headEnd type="triangl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6">
              <a:extLst>
                <a:ext uri="{FF2B5EF4-FFF2-40B4-BE49-F238E27FC236}">
                  <a16:creationId xmlns:a16="http://schemas.microsoft.com/office/drawing/2014/main" id="{9D3A8B16-6F57-462D-B4A3-90D1A10D0D11}"/>
                </a:ext>
              </a:extLst>
            </p:cNvPr>
            <p:cNvCxnSpPr>
              <a:cxnSpLocks/>
            </p:cNvCxnSpPr>
            <p:nvPr/>
          </p:nvCxnSpPr>
          <p:spPr>
            <a:xfrm flipV="1">
              <a:off x="4193421" y="3243831"/>
              <a:ext cx="1336" cy="260872"/>
            </a:xfrm>
            <a:prstGeom prst="straightConnector1">
              <a:avLst/>
            </a:prstGeom>
            <a:ln w="12700">
              <a:solidFill>
                <a:srgbClr val="FF0000"/>
              </a:solidFill>
              <a:headEnd type="triangl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7">
              <a:extLst>
                <a:ext uri="{FF2B5EF4-FFF2-40B4-BE49-F238E27FC236}">
                  <a16:creationId xmlns:a16="http://schemas.microsoft.com/office/drawing/2014/main" id="{BC1E697F-99CF-4462-9A2D-2715174FA1FC}"/>
                </a:ext>
              </a:extLst>
            </p:cNvPr>
            <p:cNvCxnSpPr>
              <a:cxnSpLocks/>
            </p:cNvCxnSpPr>
            <p:nvPr/>
          </p:nvCxnSpPr>
          <p:spPr>
            <a:xfrm flipV="1">
              <a:off x="4859388" y="3243831"/>
              <a:ext cx="1336" cy="260872"/>
            </a:xfrm>
            <a:prstGeom prst="straightConnector1">
              <a:avLst/>
            </a:prstGeom>
            <a:ln w="12700">
              <a:solidFill>
                <a:srgbClr val="FF0000"/>
              </a:solidFill>
              <a:headEnd type="triangl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8">
              <a:extLst>
                <a:ext uri="{FF2B5EF4-FFF2-40B4-BE49-F238E27FC236}">
                  <a16:creationId xmlns:a16="http://schemas.microsoft.com/office/drawing/2014/main" id="{D0710876-109B-4830-9353-C72DA2093622}"/>
                </a:ext>
              </a:extLst>
            </p:cNvPr>
            <p:cNvCxnSpPr>
              <a:cxnSpLocks/>
            </p:cNvCxnSpPr>
            <p:nvPr/>
          </p:nvCxnSpPr>
          <p:spPr>
            <a:xfrm flipV="1">
              <a:off x="5938565" y="3243831"/>
              <a:ext cx="1336" cy="260872"/>
            </a:xfrm>
            <a:prstGeom prst="straightConnector1">
              <a:avLst/>
            </a:prstGeom>
            <a:ln w="12700">
              <a:solidFill>
                <a:srgbClr val="FF0000"/>
              </a:solidFill>
              <a:headEnd type="triangle" w="med" len="med"/>
              <a:tailEnd type="none"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7">
              <a:extLst>
                <a:ext uri="{FF2B5EF4-FFF2-40B4-BE49-F238E27FC236}">
                  <a16:creationId xmlns:a16="http://schemas.microsoft.com/office/drawing/2014/main" id="{E92D26FF-91BC-45E9-B126-BE9C0FF12DC9}"/>
                </a:ext>
              </a:extLst>
            </p:cNvPr>
            <p:cNvCxnSpPr>
              <a:cxnSpLocks/>
            </p:cNvCxnSpPr>
            <p:nvPr/>
          </p:nvCxnSpPr>
          <p:spPr>
            <a:xfrm flipV="1">
              <a:off x="3727276" y="3967168"/>
              <a:ext cx="1336" cy="260872"/>
            </a:xfrm>
            <a:prstGeom prst="straightConnector1">
              <a:avLst/>
            </a:prstGeom>
            <a:ln w="12700">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9">
              <a:extLst>
                <a:ext uri="{FF2B5EF4-FFF2-40B4-BE49-F238E27FC236}">
                  <a16:creationId xmlns:a16="http://schemas.microsoft.com/office/drawing/2014/main" id="{54FB3552-1886-4D3C-957E-3046FFEFFC0C}"/>
                </a:ext>
              </a:extLst>
            </p:cNvPr>
            <p:cNvCxnSpPr>
              <a:cxnSpLocks/>
            </p:cNvCxnSpPr>
            <p:nvPr/>
          </p:nvCxnSpPr>
          <p:spPr>
            <a:xfrm flipV="1">
              <a:off x="4193421" y="3967168"/>
              <a:ext cx="1336" cy="260872"/>
            </a:xfrm>
            <a:prstGeom prst="straightConnector1">
              <a:avLst/>
            </a:prstGeom>
            <a:ln w="12700">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0">
              <a:extLst>
                <a:ext uri="{FF2B5EF4-FFF2-40B4-BE49-F238E27FC236}">
                  <a16:creationId xmlns:a16="http://schemas.microsoft.com/office/drawing/2014/main" id="{D1313184-C1B2-4403-B70E-7FC7B9205C48}"/>
                </a:ext>
              </a:extLst>
            </p:cNvPr>
            <p:cNvCxnSpPr>
              <a:cxnSpLocks/>
            </p:cNvCxnSpPr>
            <p:nvPr/>
          </p:nvCxnSpPr>
          <p:spPr>
            <a:xfrm flipV="1">
              <a:off x="4859388" y="3967168"/>
              <a:ext cx="1336" cy="260872"/>
            </a:xfrm>
            <a:prstGeom prst="straightConnector1">
              <a:avLst/>
            </a:prstGeom>
            <a:ln w="12700">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11">
              <a:extLst>
                <a:ext uri="{FF2B5EF4-FFF2-40B4-BE49-F238E27FC236}">
                  <a16:creationId xmlns:a16="http://schemas.microsoft.com/office/drawing/2014/main" id="{AB4BCA7D-D874-4811-8433-F0EEE165C48A}"/>
                </a:ext>
              </a:extLst>
            </p:cNvPr>
            <p:cNvCxnSpPr>
              <a:cxnSpLocks/>
            </p:cNvCxnSpPr>
            <p:nvPr/>
          </p:nvCxnSpPr>
          <p:spPr>
            <a:xfrm flipV="1">
              <a:off x="5938565" y="3967168"/>
              <a:ext cx="1336" cy="260872"/>
            </a:xfrm>
            <a:prstGeom prst="straightConnector1">
              <a:avLst/>
            </a:prstGeom>
            <a:ln w="12700">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2" name="내용 개체 틀 2">
                <a:extLst>
                  <a:ext uri="{FF2B5EF4-FFF2-40B4-BE49-F238E27FC236}">
                    <a16:creationId xmlns:a16="http://schemas.microsoft.com/office/drawing/2014/main" id="{D417BF39-7CAE-4BF2-8809-6E13BB3ADD48}"/>
                  </a:ext>
                </a:extLst>
              </p:cNvPr>
              <p:cNvSpPr txBox="1">
                <a:spLocks/>
              </p:cNvSpPr>
              <p:nvPr/>
            </p:nvSpPr>
            <p:spPr>
              <a:xfrm>
                <a:off x="671000" y="4437112"/>
                <a:ext cx="5935361" cy="648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1983" rIns="143967" bIns="71983" rtlCol="0" anchor="t">
                <a:spAutoFit/>
                <a:scene3d>
                  <a:camera prst="orthographicFront"/>
                  <a:lightRig rig="threePt" dir="t"/>
                </a:scene3d>
                <a:sp3d>
                  <a:bevelT w="0" h="6350"/>
                </a:sp3d>
              </a:bodyPr>
              <a:lstStyle>
                <a:defPPr>
                  <a:defRPr lang="en-US"/>
                </a:defPPr>
                <a:lvl1pPr marL="182526" indent="-182526">
                  <a:spcAft>
                    <a:spcPts val="800"/>
                  </a:spcAft>
                  <a:buClr>
                    <a:srgbClr val="193EB0"/>
                  </a:buClr>
                  <a:buFont typeface="SamsungOne 400" panose="020B0503030303020204" pitchFamily="34" charset="0"/>
                  <a:buChar char="‣"/>
                  <a:defRPr sz="1300">
                    <a:solidFill>
                      <a:prstClr val="black">
                        <a:lumMod val="85000"/>
                        <a:lumOff val="15000"/>
                      </a:prstClr>
                    </a:solidFill>
                    <a:latin typeface="SamsungOne 400" panose="020B0503030303020204" pitchFamily="34" charset="0"/>
                    <a:ea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dirty="0">
                    <a:sym typeface="Symbol" panose="05050102010706020507" pitchFamily="18" charset="2"/>
                  </a:rPr>
                  <a:t>However, too large </a:t>
                </a:r>
                <a:r>
                  <a:rPr lang="ko-KR" altLang="en-US" dirty="0">
                    <a:solidFill>
                      <a:srgbClr val="00B050"/>
                    </a:solidFill>
                    <a:sym typeface="Symbol" panose="05050102010706020507" pitchFamily="18" charset="2"/>
                  </a:rPr>
                  <a:t></a:t>
                </a:r>
                <a:r>
                  <a:rPr lang="ko-KR" altLang="en-US" dirty="0">
                    <a:sym typeface="Symbol" panose="05050102010706020507" pitchFamily="18" charset="2"/>
                  </a:rPr>
                  <a:t> </a:t>
                </a:r>
                <a:r>
                  <a:rPr lang="en-US" altLang="ko-KR" dirty="0">
                    <a:sym typeface="Symbol" panose="05050102010706020507" pitchFamily="18" charset="2"/>
                  </a:rPr>
                  <a:t>can make the model too “biased.”</a:t>
                </a:r>
              </a:p>
              <a:p>
                <a:r>
                  <a:rPr lang="en-US" altLang="ko-KR" dirty="0">
                    <a:sym typeface="Symbol" panose="05050102010706020507" pitchFamily="18" charset="2"/>
                  </a:rPr>
                  <a:t>Even when </a:t>
                </a:r>
                <a:r>
                  <a:rPr lang="ko-KR" altLang="en-US" dirty="0">
                    <a:solidFill>
                      <a:srgbClr val="00B050"/>
                    </a:solidFill>
                    <a:sym typeface="Symbol" panose="05050102010706020507" pitchFamily="18" charset="2"/>
                  </a:rPr>
                  <a:t></a:t>
                </a:r>
                <a:r>
                  <a:rPr lang="ko-KR" altLang="en-US" dirty="0">
                    <a:sym typeface="Symbol" panose="05050102010706020507" pitchFamily="18" charset="2"/>
                  </a:rPr>
                  <a:t> </a:t>
                </a:r>
                <a:r>
                  <a:rPr lang="en-US" altLang="ko-KR" dirty="0">
                    <a:sym typeface="Symbol" panose="05050102010706020507" pitchFamily="18" charset="2"/>
                  </a:rPr>
                  <a:t>is large, the coefficients </a:t>
                </a:r>
                <a14:m>
                  <m:oMath xmlns:m="http://schemas.openxmlformats.org/officeDocument/2006/math">
                    <m:sSub>
                      <m:sSubPr>
                        <m:ctrlPr>
                          <a:rPr lang="en-US" altLang="ko-KR" i="1">
                            <a:latin typeface="Cambria Math" panose="02040503050406030204" pitchFamily="18" charset="0"/>
                            <a:sym typeface="Symbol" panose="05050102010706020507" pitchFamily="18" charset="2"/>
                          </a:rPr>
                        </m:ctrlPr>
                      </m:sSubPr>
                      <m:e>
                        <m:r>
                          <a:rPr lang="ko-KR" altLang="en-US">
                            <a:latin typeface="Cambria Math" panose="02040503050406030204" pitchFamily="18" charset="0"/>
                            <a:sym typeface="Symbol" panose="05050102010706020507" pitchFamily="18" charset="2"/>
                          </a:rPr>
                          <m:t>𝛽</m:t>
                        </m:r>
                      </m:e>
                      <m:sub>
                        <m:r>
                          <a:rPr lang="en-US" altLang="ko-KR">
                            <a:latin typeface="Cambria Math" panose="02040503050406030204" pitchFamily="18" charset="0"/>
                            <a:sym typeface="Symbol" panose="05050102010706020507" pitchFamily="18" charset="2"/>
                          </a:rPr>
                          <m:t>𝑖</m:t>
                        </m:r>
                      </m:sub>
                    </m:sSub>
                  </m:oMath>
                </a14:m>
                <a:r>
                  <a:rPr lang="en-US" altLang="ko-KR" dirty="0">
                    <a:sym typeface="Symbol" panose="05050102010706020507" pitchFamily="18" charset="2"/>
                  </a:rPr>
                  <a:t> </a:t>
                </a:r>
                <a:r>
                  <a:rPr lang="en-US" altLang="ko-KR" dirty="0">
                    <a:solidFill>
                      <a:srgbClr val="193EB0"/>
                    </a:solidFill>
                    <a:sym typeface="Symbol" panose="05050102010706020507" pitchFamily="18" charset="2"/>
                  </a:rPr>
                  <a:t>never become </a:t>
                </a:r>
                <a:r>
                  <a:rPr lang="en-US" altLang="ko-KR" dirty="0">
                    <a:sym typeface="Symbol" panose="05050102010706020507" pitchFamily="18" charset="2"/>
                  </a:rPr>
                  <a:t>exactly equal to </a:t>
                </a:r>
                <a:r>
                  <a:rPr lang="en-US" altLang="ko-KR" dirty="0">
                    <a:solidFill>
                      <a:srgbClr val="193EB0"/>
                    </a:solidFill>
                    <a:sym typeface="Symbol" panose="05050102010706020507" pitchFamily="18" charset="2"/>
                  </a:rPr>
                  <a:t>zero</a:t>
                </a:r>
                <a:r>
                  <a:rPr lang="en-US" altLang="ko-KR" dirty="0">
                    <a:sym typeface="Symbol" panose="05050102010706020507" pitchFamily="18" charset="2"/>
                  </a:rPr>
                  <a:t>.</a:t>
                </a:r>
                <a:endParaRPr lang="en-US" altLang="ko-KR" dirty="0">
                  <a:solidFill>
                    <a:srgbClr val="193EB0"/>
                  </a:solidFill>
                </a:endParaRPr>
              </a:p>
            </p:txBody>
          </p:sp>
        </mc:Choice>
        <mc:Fallback xmlns="">
          <p:sp>
            <p:nvSpPr>
              <p:cNvPr id="22" name="내용 개체 틀 2">
                <a:extLst>
                  <a:ext uri="{FF2B5EF4-FFF2-40B4-BE49-F238E27FC236}">
                    <a16:creationId xmlns:a16="http://schemas.microsoft.com/office/drawing/2014/main" id="{D417BF39-7CAE-4BF2-8809-6E13BB3ADD48}"/>
                  </a:ext>
                </a:extLst>
              </p:cNvPr>
              <p:cNvSpPr txBox="1">
                <a:spLocks noRot="1" noChangeAspect="1" noMove="1" noResize="1" noEditPoints="1" noAdjustHandles="1" noChangeArrowheads="1" noChangeShapeType="1" noTextEdit="1"/>
              </p:cNvSpPr>
              <p:nvPr/>
            </p:nvSpPr>
            <p:spPr>
              <a:xfrm>
                <a:off x="671000" y="4437112"/>
                <a:ext cx="5935361" cy="648074"/>
              </a:xfrm>
              <a:prstGeom prst="rect">
                <a:avLst/>
              </a:prstGeom>
              <a:blipFill>
                <a:blip r:embed="rId7"/>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424017476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2.4. Other Regression Types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mc:AlternateContent xmlns:mc="http://schemas.openxmlformats.org/markup-compatibility/2006" xmlns:a14="http://schemas.microsoft.com/office/drawing/2010/main">
        <mc:Choice Requires="a14">
          <p:sp>
            <p:nvSpPr>
              <p:cNvPr id="15" name="직사각형 14">
                <a:extLst>
                  <a:ext uri="{FF2B5EF4-FFF2-40B4-BE49-F238E27FC236}">
                    <a16:creationId xmlns:a16="http://schemas.microsoft.com/office/drawing/2014/main" id="{E0855293-054D-4D34-8850-81F44926D993}"/>
                  </a:ext>
                </a:extLst>
              </p:cNvPr>
              <p:cNvSpPr/>
              <p:nvPr/>
            </p:nvSpPr>
            <p:spPr>
              <a:xfrm>
                <a:off x="3962922" y="2494516"/>
                <a:ext cx="2062258" cy="78989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14:m>
                  <m:oMathPara xmlns:m="http://schemas.openxmlformats.org/officeDocument/2006/math">
                    <m:oMathParaPr>
                      <m:jc m:val="centerGroup"/>
                    </m:oMathParaPr>
                    <m:oMath xmlns:m="http://schemas.openxmlformats.org/officeDocument/2006/math">
                      <m:r>
                        <a:rPr lang="en-US" altLang="ko-KR" sz="1600" smtClean="0">
                          <a:solidFill>
                            <a:srgbClr val="FF0000"/>
                          </a:solidFill>
                          <a:latin typeface="Cambria Math" panose="02040503050406030204" pitchFamily="18" charset="0"/>
                        </a:rPr>
                        <m:t>𝑳</m:t>
                      </m:r>
                      <m:r>
                        <a:rPr lang="en-US" altLang="ko-KR" sz="1600" smtClean="0">
                          <a:solidFill>
                            <a:schemeClr val="tx1"/>
                          </a:solidFill>
                          <a:latin typeface="Cambria Math" panose="02040503050406030204" pitchFamily="18" charset="0"/>
                        </a:rPr>
                        <m:t>=</m:t>
                      </m:r>
                      <m:sSup>
                        <m:sSupPr>
                          <m:ctrlPr>
                            <a:rPr lang="en-US" altLang="ko-KR" sz="1600" i="1">
                              <a:solidFill>
                                <a:schemeClr val="tx1"/>
                              </a:solidFill>
                              <a:latin typeface="Cambria Math" panose="02040503050406030204" pitchFamily="18" charset="0"/>
                            </a:rPr>
                          </m:ctrlPr>
                        </m:sSupPr>
                        <m:e>
                          <m:d>
                            <m:dPr>
                              <m:begChr m:val="|"/>
                              <m:endChr m:val="|"/>
                              <m:ctrlPr>
                                <a:rPr lang="en-US" altLang="ko-KR" sz="1600" i="1">
                                  <a:solidFill>
                                    <a:schemeClr val="tx1"/>
                                  </a:solidFill>
                                  <a:latin typeface="Cambria Math" panose="02040503050406030204" pitchFamily="18" charset="0"/>
                                </a:rPr>
                              </m:ctrlPr>
                            </m:dPr>
                            <m:e>
                              <m:r>
                                <a:rPr lang="ko-KR" altLang="en-US" sz="1600">
                                  <a:solidFill>
                                    <a:schemeClr val="tx1"/>
                                  </a:solidFill>
                                  <a:latin typeface="Cambria Math" panose="02040503050406030204" pitchFamily="18" charset="0"/>
                                </a:rPr>
                                <m:t>𝜺</m:t>
                              </m:r>
                            </m:e>
                          </m:d>
                        </m:e>
                        <m:sup>
                          <m:r>
                            <a:rPr lang="en-US" altLang="ko-KR" sz="1600">
                              <a:solidFill>
                                <a:schemeClr val="tx1"/>
                              </a:solidFill>
                              <a:latin typeface="Cambria Math" panose="02040503050406030204" pitchFamily="18" charset="0"/>
                            </a:rPr>
                            <m:t>2</m:t>
                          </m:r>
                        </m:sup>
                      </m:sSup>
                      <m:r>
                        <a:rPr lang="en-US" altLang="ko-KR" sz="1600">
                          <a:solidFill>
                            <a:schemeClr val="tx1"/>
                          </a:solidFill>
                          <a:latin typeface="Cambria Math" panose="02040503050406030204" pitchFamily="18" charset="0"/>
                        </a:rPr>
                        <m:t>+</m:t>
                      </m:r>
                      <m:r>
                        <a:rPr lang="ko-KR" altLang="en-US" sz="1600">
                          <a:solidFill>
                            <a:srgbClr val="00B050"/>
                          </a:solidFill>
                          <a:latin typeface="Cambria Math" panose="02040503050406030204" pitchFamily="18" charset="0"/>
                        </a:rPr>
                        <m:t>𝝀</m:t>
                      </m:r>
                      <m:nary>
                        <m:naryPr>
                          <m:chr m:val="∑"/>
                          <m:ctrlPr>
                            <a:rPr lang="en-US" altLang="ko-KR" sz="1600" i="1" smtClean="0">
                              <a:solidFill>
                                <a:schemeClr val="tx1"/>
                              </a:solidFill>
                              <a:latin typeface="Cambria Math" panose="02040503050406030204" pitchFamily="18" charset="0"/>
                            </a:rPr>
                          </m:ctrlPr>
                        </m:naryPr>
                        <m:sub>
                          <m:r>
                            <m:rPr>
                              <m:brk m:alnAt="23"/>
                            </m:rPr>
                            <a:rPr lang="en-US" altLang="ko-KR" sz="1600">
                              <a:solidFill>
                                <a:schemeClr val="tx1"/>
                              </a:solidFill>
                              <a:latin typeface="Cambria Math" panose="02040503050406030204" pitchFamily="18" charset="0"/>
                            </a:rPr>
                            <m:t>𝑖</m:t>
                          </m:r>
                          <m:r>
                            <a:rPr lang="en-US" altLang="ko-KR" sz="1600">
                              <a:solidFill>
                                <a:schemeClr val="tx1"/>
                              </a:solidFill>
                              <a:latin typeface="Cambria Math" panose="02040503050406030204" pitchFamily="18" charset="0"/>
                            </a:rPr>
                            <m:t>=0</m:t>
                          </m:r>
                        </m:sub>
                        <m:sup>
                          <m:r>
                            <a:rPr lang="en-US" altLang="ko-KR" sz="1600">
                              <a:solidFill>
                                <a:schemeClr val="tx1"/>
                              </a:solidFill>
                              <a:latin typeface="Cambria Math" panose="02040503050406030204" pitchFamily="18" charset="0"/>
                            </a:rPr>
                            <m:t>𝑘</m:t>
                          </m:r>
                        </m:sup>
                        <m:e>
                          <m:r>
                            <a:rPr lang="en-US" altLang="ko-KR" sz="1600" b="0" i="1" smtClean="0">
                              <a:solidFill>
                                <a:srgbClr val="193EB0"/>
                              </a:solidFill>
                              <a:latin typeface="Cambria Math" panose="02040503050406030204" pitchFamily="18" charset="0"/>
                            </a:rPr>
                            <m:t>|</m:t>
                          </m:r>
                          <m:sSub>
                            <m:sSubPr>
                              <m:ctrlPr>
                                <a:rPr lang="en-US" altLang="ko-KR" sz="1600" b="0" i="1" smtClean="0">
                                  <a:solidFill>
                                    <a:srgbClr val="193EB0"/>
                                  </a:solidFill>
                                  <a:latin typeface="Cambria Math" panose="02040503050406030204" pitchFamily="18" charset="0"/>
                                </a:rPr>
                              </m:ctrlPr>
                            </m:sSubPr>
                            <m:e>
                              <m:r>
                                <a:rPr lang="en-US" altLang="ko-KR" sz="1600" b="0" i="1" smtClean="0">
                                  <a:solidFill>
                                    <a:srgbClr val="193EB0"/>
                                  </a:solidFill>
                                  <a:latin typeface="Cambria Math" panose="02040503050406030204" pitchFamily="18" charset="0"/>
                                  <a:ea typeface="Cambria Math" panose="02040503050406030204" pitchFamily="18" charset="0"/>
                                </a:rPr>
                                <m:t>𝛽</m:t>
                              </m:r>
                            </m:e>
                            <m:sub>
                              <m:r>
                                <a:rPr lang="en-US" altLang="ko-KR" sz="1600" b="0" i="1" smtClean="0">
                                  <a:solidFill>
                                    <a:srgbClr val="193EB0"/>
                                  </a:solidFill>
                                  <a:latin typeface="Cambria Math" panose="02040503050406030204" pitchFamily="18" charset="0"/>
                                </a:rPr>
                                <m:t>𝑖</m:t>
                              </m:r>
                            </m:sub>
                          </m:sSub>
                          <m:r>
                            <a:rPr lang="en-US" altLang="ko-KR" sz="1600" i="1">
                              <a:solidFill>
                                <a:srgbClr val="193EB0"/>
                              </a:solidFill>
                              <a:latin typeface="Cambria Math" panose="02040503050406030204" pitchFamily="18" charset="0"/>
                            </a:rPr>
                            <m:t>|</m:t>
                          </m:r>
                        </m:e>
                      </m:nary>
                    </m:oMath>
                  </m:oMathPara>
                </a14:m>
                <a:endParaRPr lang="en-US" altLang="ko-KR" sz="1600" dirty="0"/>
              </a:p>
            </p:txBody>
          </p:sp>
        </mc:Choice>
        <mc:Fallback xmlns="">
          <p:sp>
            <p:nvSpPr>
              <p:cNvPr id="15" name="직사각형 14">
                <a:extLst>
                  <a:ext uri="{FF2B5EF4-FFF2-40B4-BE49-F238E27FC236}">
                    <a16:creationId xmlns:a16="http://schemas.microsoft.com/office/drawing/2014/main" xmlns:a14="http://schemas.microsoft.com/office/drawing/2010/main" xmlns="" id="{E0855293-054D-4D34-8850-81F44926D993}"/>
                  </a:ext>
                </a:extLst>
              </p:cNvPr>
              <p:cNvSpPr>
                <a:spLocks noRot="1" noChangeAspect="1" noMove="1" noResize="1" noEditPoints="1" noAdjustHandles="1" noChangeArrowheads="1" noChangeShapeType="1" noTextEdit="1"/>
              </p:cNvSpPr>
              <p:nvPr/>
            </p:nvSpPr>
            <p:spPr>
              <a:xfrm>
                <a:off x="3962922" y="2494516"/>
                <a:ext cx="2062258" cy="789896"/>
              </a:xfrm>
              <a:prstGeom prst="rect">
                <a:avLst/>
              </a:prstGeom>
              <a:blipFill rotWithShape="0">
                <a:blip r:embed="rId3"/>
                <a:stretch>
                  <a:fillRect/>
                </a:stretch>
              </a:blipFill>
              <a:ln>
                <a:noFill/>
              </a:ln>
            </p:spPr>
            <p:txBody>
              <a:bodyPr/>
              <a:lstStyle/>
              <a:p>
                <a:r>
                  <a:rPr lang="ko-KR" altLang="en-US">
                    <a:noFill/>
                  </a:rPr>
                  <a:t> </a:t>
                </a:r>
              </a:p>
            </p:txBody>
          </p:sp>
        </mc:Fallback>
      </mc:AlternateContent>
      <p:sp>
        <p:nvSpPr>
          <p:cNvPr id="16" name="직사각형 15">
            <a:extLst>
              <a:ext uri="{FF2B5EF4-FFF2-40B4-BE49-F238E27FC236}">
                <a16:creationId xmlns:a16="http://schemas.microsoft.com/office/drawing/2014/main" id="{D5DCBC02-A41B-40A9-93FE-CDD67C0F6A9F}"/>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4"/>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Lasso regression</a:t>
            </a:r>
          </a:p>
        </p:txBody>
      </p:sp>
      <p:sp>
        <p:nvSpPr>
          <p:cNvPr id="17" name="직사각형 16">
            <a:extLst>
              <a:ext uri="{FF2B5EF4-FFF2-40B4-BE49-F238E27FC236}">
                <a16:creationId xmlns:a16="http://schemas.microsoft.com/office/drawing/2014/main" id="{B6CB52F1-E9AE-4500-8808-FAC54750EC3C}"/>
              </a:ext>
            </a:extLst>
          </p:cNvPr>
          <p:cNvSpPr/>
          <p:nvPr/>
        </p:nvSpPr>
        <p:spPr>
          <a:xfrm>
            <a:off x="671261" y="1700808"/>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Useful when the usual linear regression overfits (bias error </a:t>
            </a:r>
            <a:r>
              <a:rPr lang="en-US" altLang="ko-KR" sz="1300" dirty="0">
                <a:solidFill>
                  <a:srgbClr val="FF0000"/>
                </a:solidFill>
                <a:latin typeface="SamsungOne 400" panose="020B0503030303020204" pitchFamily="34" charset="0"/>
                <a:ea typeface="SamsungOne 400" panose="020B0503030303020204" pitchFamily="34" charset="0"/>
              </a:rPr>
              <a:t>&lt;&lt;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variance error). </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 the Lasso regression, we minimize the following “loss function”:</a:t>
            </a:r>
          </a:p>
        </p:txBody>
      </p:sp>
      <mc:AlternateContent xmlns:mc="http://schemas.openxmlformats.org/markup-compatibility/2006" xmlns:a14="http://schemas.microsoft.com/office/drawing/2010/main">
        <mc:Choice Requires="a14">
          <p:sp>
            <p:nvSpPr>
              <p:cNvPr id="22" name="내용 개체 틀 2">
                <a:extLst>
                  <a:ext uri="{FF2B5EF4-FFF2-40B4-BE49-F238E27FC236}">
                    <a16:creationId xmlns:a16="http://schemas.microsoft.com/office/drawing/2014/main" id="{D417BF39-7CAE-4BF2-8809-6E13BB3ADD48}"/>
                  </a:ext>
                </a:extLst>
              </p:cNvPr>
              <p:cNvSpPr txBox="1">
                <a:spLocks/>
              </p:cNvSpPr>
              <p:nvPr/>
            </p:nvSpPr>
            <p:spPr>
              <a:xfrm>
                <a:off x="671000" y="3465004"/>
                <a:ext cx="8633086" cy="12696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1983" rIns="143967" bIns="71983" rtlCol="0" anchor="t">
                <a:spAutoFit/>
                <a:scene3d>
                  <a:camera prst="orthographicFront"/>
                  <a:lightRig rig="threePt" dir="t"/>
                </a:scene3d>
                <a:sp3d>
                  <a:bevelT w="0" h="6350"/>
                </a:sp3d>
              </a:bodyPr>
              <a:lstStyle>
                <a:defPPr>
                  <a:defRPr lang="en-US"/>
                </a:defPPr>
                <a:lvl1pPr marL="182526" indent="-182526">
                  <a:spcAft>
                    <a:spcPts val="800"/>
                  </a:spcAft>
                  <a:buClr>
                    <a:srgbClr val="193EB0"/>
                  </a:buClr>
                  <a:buFont typeface="SamsungOne 400" panose="020B0503030303020204" pitchFamily="34" charset="0"/>
                  <a:buChar char="‣"/>
                  <a:defRPr sz="1300">
                    <a:solidFill>
                      <a:prstClr val="black">
                        <a:lumMod val="85000"/>
                        <a:lumOff val="15000"/>
                      </a:prstClr>
                    </a:solidFill>
                    <a:latin typeface="SamsungOne 400" panose="020B0503030303020204" pitchFamily="34" charset="0"/>
                    <a:ea typeface="SamsungOne 400" panose="020B05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ko-KR" dirty="0"/>
                  <a:t>In the loss function,</a:t>
                </a:r>
                <a:r>
                  <a:rPr lang="en-US" altLang="ko-KR" dirty="0">
                    <a:solidFill>
                      <a:srgbClr val="00B050"/>
                    </a:solidFill>
                  </a:rPr>
                  <a:t> </a:t>
                </a:r>
                <a14:m>
                  <m:oMath xmlns:m="http://schemas.openxmlformats.org/officeDocument/2006/math">
                    <m:r>
                      <a:rPr lang="ko-KR" altLang="en-US">
                        <a:solidFill>
                          <a:srgbClr val="00B050"/>
                        </a:solidFill>
                        <a:latin typeface="Cambria Math" panose="02040503050406030204" pitchFamily="18" charset="0"/>
                      </a:rPr>
                      <m:t>𝝀</m:t>
                    </m:r>
                    <m:nary>
                      <m:naryPr>
                        <m:chr m:val="∑"/>
                        <m:ctrlPr>
                          <a:rPr lang="en-US" altLang="ko-KR" i="1">
                            <a:latin typeface="Cambria Math" panose="02040503050406030204" pitchFamily="18" charset="0"/>
                          </a:rPr>
                        </m:ctrlPr>
                      </m:naryPr>
                      <m:sub>
                        <m:r>
                          <m:rPr>
                            <m:brk m:alnAt="23"/>
                          </m:rPr>
                          <a:rPr lang="en-US" altLang="ko-KR">
                            <a:latin typeface="Cambria Math" panose="02040503050406030204" pitchFamily="18" charset="0"/>
                          </a:rPr>
                          <m:t>𝑖</m:t>
                        </m:r>
                        <m:r>
                          <a:rPr lang="en-US" altLang="ko-KR">
                            <a:latin typeface="Cambria Math" panose="02040503050406030204" pitchFamily="18" charset="0"/>
                          </a:rPr>
                          <m:t>=0</m:t>
                        </m:r>
                      </m:sub>
                      <m:sup>
                        <m:r>
                          <a:rPr lang="en-US" altLang="ko-KR">
                            <a:latin typeface="Cambria Math" panose="02040503050406030204" pitchFamily="18" charset="0"/>
                          </a:rPr>
                          <m:t>𝑘</m:t>
                        </m:r>
                      </m:sup>
                      <m:e>
                        <m:d>
                          <m:dPr>
                            <m:begChr m:val="|"/>
                            <m:endChr m:val="|"/>
                            <m:ctrlPr>
                              <a:rPr lang="en-US" altLang="ko-KR" i="1" smtClean="0">
                                <a:solidFill>
                                  <a:srgbClr val="193EB0"/>
                                </a:solidFill>
                                <a:latin typeface="Cambria Math" panose="02040503050406030204" pitchFamily="18" charset="0"/>
                              </a:rPr>
                            </m:ctrlPr>
                          </m:dPr>
                          <m:e>
                            <m:sSub>
                              <m:sSubPr>
                                <m:ctrlPr>
                                  <a:rPr lang="en-US" altLang="ko-KR" i="1">
                                    <a:solidFill>
                                      <a:srgbClr val="193EB0"/>
                                    </a:solidFill>
                                    <a:latin typeface="Cambria Math" panose="02040503050406030204" pitchFamily="18" charset="0"/>
                                    <a:sym typeface="Symbol" panose="05050102010706020507" pitchFamily="18" charset="2"/>
                                  </a:rPr>
                                </m:ctrlPr>
                              </m:sSubPr>
                              <m:e>
                                <m:r>
                                  <a:rPr lang="ko-KR" altLang="en-US">
                                    <a:solidFill>
                                      <a:srgbClr val="193EB0"/>
                                    </a:solidFill>
                                    <a:latin typeface="Cambria Math" panose="02040503050406030204" pitchFamily="18" charset="0"/>
                                    <a:sym typeface="Symbol" panose="05050102010706020507" pitchFamily="18" charset="2"/>
                                  </a:rPr>
                                  <m:t>𝛽</m:t>
                                </m:r>
                              </m:e>
                              <m:sub>
                                <m:r>
                                  <a:rPr lang="en-US" altLang="ko-KR">
                                    <a:solidFill>
                                      <a:srgbClr val="193EB0"/>
                                    </a:solidFill>
                                    <a:latin typeface="Cambria Math" panose="02040503050406030204" pitchFamily="18" charset="0"/>
                                    <a:sym typeface="Symbol" panose="05050102010706020507" pitchFamily="18" charset="2"/>
                                  </a:rPr>
                                  <m:t>𝑖</m:t>
                                </m:r>
                              </m:sub>
                            </m:sSub>
                          </m:e>
                        </m:d>
                      </m:e>
                    </m:nary>
                  </m:oMath>
                </a14:m>
                <a:r>
                  <a:rPr lang="en-US" altLang="ko-KR" dirty="0"/>
                  <a:t> is included as penalty: “</a:t>
                </a:r>
                <a:r>
                  <a:rPr lang="en-US" altLang="ko-KR" dirty="0">
                    <a:solidFill>
                      <a:srgbClr val="193EB0"/>
                    </a:solidFill>
                  </a:rPr>
                  <a:t>L1</a:t>
                </a:r>
                <a:r>
                  <a:rPr lang="en-US" altLang="ko-KR" dirty="0"/>
                  <a:t> regularization.”</a:t>
                </a:r>
              </a:p>
              <a:p>
                <a:r>
                  <a:rPr lang="en-US" altLang="ko-KR" dirty="0"/>
                  <a:t>Positive and larger </a:t>
                </a:r>
                <a:r>
                  <a:rPr lang="ko-KR" altLang="en-US" dirty="0">
                    <a:solidFill>
                      <a:srgbClr val="00B050"/>
                    </a:solidFill>
                    <a:sym typeface="Symbol" panose="05050102010706020507" pitchFamily="18" charset="2"/>
                  </a:rPr>
                  <a:t></a:t>
                </a:r>
                <a:r>
                  <a:rPr lang="ko-KR" altLang="en-US" dirty="0">
                    <a:sym typeface="Symbol" panose="05050102010706020507" pitchFamily="18" charset="2"/>
                  </a:rPr>
                  <a:t> </a:t>
                </a:r>
                <a:r>
                  <a:rPr lang="en-US" altLang="ko-KR" dirty="0">
                    <a:sym typeface="Symbol" panose="05050102010706020507" pitchFamily="18" charset="2"/>
                  </a:rPr>
                  <a:t>further constraints the coefficients </a:t>
                </a:r>
                <a14:m>
                  <m:oMath xmlns:m="http://schemas.openxmlformats.org/officeDocument/2006/math">
                    <m:sSub>
                      <m:sSubPr>
                        <m:ctrlPr>
                          <a:rPr lang="en-US" altLang="ko-KR" i="1">
                            <a:latin typeface="Cambria Math" panose="02040503050406030204" pitchFamily="18" charset="0"/>
                            <a:sym typeface="Symbol" panose="05050102010706020507" pitchFamily="18" charset="2"/>
                          </a:rPr>
                        </m:ctrlPr>
                      </m:sSubPr>
                      <m:e>
                        <m:r>
                          <a:rPr lang="ko-KR" altLang="en-US">
                            <a:latin typeface="Cambria Math" panose="02040503050406030204" pitchFamily="18" charset="0"/>
                            <a:sym typeface="Symbol" panose="05050102010706020507" pitchFamily="18" charset="2"/>
                          </a:rPr>
                          <m:t>𝛽</m:t>
                        </m:r>
                      </m:e>
                      <m:sub>
                        <m:r>
                          <a:rPr lang="en-US" altLang="ko-KR">
                            <a:latin typeface="Cambria Math" panose="02040503050406030204" pitchFamily="18" charset="0"/>
                            <a:sym typeface="Symbol" panose="05050102010706020507" pitchFamily="18" charset="2"/>
                          </a:rPr>
                          <m:t>𝑖</m:t>
                        </m:r>
                      </m:sub>
                    </m:sSub>
                  </m:oMath>
                </a14:m>
                <a:r>
                  <a:rPr lang="en-US" altLang="ko-KR" dirty="0">
                    <a:sym typeface="Symbol" panose="05050102010706020507" pitchFamily="18" charset="2"/>
                  </a:rPr>
                  <a:t> decreasing the variance (overfitting) error.</a:t>
                </a:r>
              </a:p>
              <a:p>
                <a:r>
                  <a:rPr lang="en-US" altLang="ko-KR" dirty="0">
                    <a:sym typeface="Symbol" panose="05050102010706020507" pitchFamily="18" charset="2"/>
                  </a:rPr>
                  <a:t>However, too large </a:t>
                </a:r>
                <a:r>
                  <a:rPr lang="ko-KR" altLang="en-US" dirty="0">
                    <a:solidFill>
                      <a:srgbClr val="00B050"/>
                    </a:solidFill>
                    <a:sym typeface="Symbol" panose="05050102010706020507" pitchFamily="18" charset="2"/>
                  </a:rPr>
                  <a:t></a:t>
                </a:r>
                <a:r>
                  <a:rPr lang="ko-KR" altLang="en-US" dirty="0">
                    <a:sym typeface="Symbol" panose="05050102010706020507" pitchFamily="18" charset="2"/>
                  </a:rPr>
                  <a:t> </a:t>
                </a:r>
                <a:r>
                  <a:rPr lang="en-US" altLang="ko-KR" dirty="0">
                    <a:sym typeface="Symbol" panose="05050102010706020507" pitchFamily="18" charset="2"/>
                  </a:rPr>
                  <a:t>can make the model too “biased.”</a:t>
                </a:r>
              </a:p>
              <a:p>
                <a:r>
                  <a:rPr lang="en-US" altLang="ko-KR" dirty="0">
                    <a:sym typeface="Symbol" panose="05050102010706020507" pitchFamily="18" charset="2"/>
                  </a:rPr>
                  <a:t>When </a:t>
                </a:r>
                <a:r>
                  <a:rPr lang="ko-KR" altLang="en-US" dirty="0">
                    <a:solidFill>
                      <a:srgbClr val="00B050"/>
                    </a:solidFill>
                    <a:sym typeface="Symbol" panose="05050102010706020507" pitchFamily="18" charset="2"/>
                  </a:rPr>
                  <a:t></a:t>
                </a:r>
                <a:r>
                  <a:rPr lang="ko-KR" altLang="en-US" dirty="0">
                    <a:sym typeface="Symbol" panose="05050102010706020507" pitchFamily="18" charset="2"/>
                  </a:rPr>
                  <a:t> </a:t>
                </a:r>
                <a:r>
                  <a:rPr lang="en-US" altLang="ko-KR" dirty="0">
                    <a:sym typeface="Symbol" panose="05050102010706020507" pitchFamily="18" charset="2"/>
                  </a:rPr>
                  <a:t>is large, the coefficients </a:t>
                </a:r>
                <a14:m>
                  <m:oMath xmlns:m="http://schemas.openxmlformats.org/officeDocument/2006/math">
                    <m:sSub>
                      <m:sSubPr>
                        <m:ctrlPr>
                          <a:rPr lang="en-US" altLang="ko-KR" i="1">
                            <a:latin typeface="Cambria Math" panose="02040503050406030204" pitchFamily="18" charset="0"/>
                            <a:sym typeface="Symbol" panose="05050102010706020507" pitchFamily="18" charset="2"/>
                          </a:rPr>
                        </m:ctrlPr>
                      </m:sSubPr>
                      <m:e>
                        <m:r>
                          <a:rPr lang="ko-KR" altLang="en-US">
                            <a:latin typeface="Cambria Math" panose="02040503050406030204" pitchFamily="18" charset="0"/>
                            <a:sym typeface="Symbol" panose="05050102010706020507" pitchFamily="18" charset="2"/>
                          </a:rPr>
                          <m:t>𝛽</m:t>
                        </m:r>
                      </m:e>
                      <m:sub>
                        <m:r>
                          <a:rPr lang="en-US" altLang="ko-KR">
                            <a:latin typeface="Cambria Math" panose="02040503050406030204" pitchFamily="18" charset="0"/>
                            <a:sym typeface="Symbol" panose="05050102010706020507" pitchFamily="18" charset="2"/>
                          </a:rPr>
                          <m:t>𝑖</m:t>
                        </m:r>
                      </m:sub>
                    </m:sSub>
                  </m:oMath>
                </a14:m>
                <a:r>
                  <a:rPr lang="en-US" altLang="ko-KR" dirty="0">
                    <a:sym typeface="Symbol" panose="05050102010706020507" pitchFamily="18" charset="2"/>
                  </a:rPr>
                  <a:t> </a:t>
                </a:r>
                <a:r>
                  <a:rPr lang="en-US" altLang="ko-KR" dirty="0">
                    <a:solidFill>
                      <a:srgbClr val="193EB0"/>
                    </a:solidFill>
                    <a:sym typeface="Symbol" panose="05050102010706020507" pitchFamily="18" charset="2"/>
                  </a:rPr>
                  <a:t>can become </a:t>
                </a:r>
                <a:r>
                  <a:rPr lang="en-US" altLang="ko-KR" dirty="0">
                    <a:sym typeface="Symbol" panose="05050102010706020507" pitchFamily="18" charset="2"/>
                  </a:rPr>
                  <a:t>exactly equal to </a:t>
                </a:r>
                <a:r>
                  <a:rPr lang="en-US" altLang="ko-KR" dirty="0">
                    <a:solidFill>
                      <a:srgbClr val="193EB0"/>
                    </a:solidFill>
                    <a:sym typeface="Symbol" panose="05050102010706020507" pitchFamily="18" charset="2"/>
                  </a:rPr>
                  <a:t>zero</a:t>
                </a:r>
                <a:r>
                  <a:rPr lang="en-US" altLang="ko-KR" dirty="0">
                    <a:sym typeface="Symbol" panose="05050102010706020507" pitchFamily="18" charset="2"/>
                  </a:rPr>
                  <a:t>.</a:t>
                </a:r>
                <a:r>
                  <a:rPr lang="en-US" altLang="ko-KR" dirty="0">
                    <a:solidFill>
                      <a:srgbClr val="193EB0"/>
                    </a:solidFill>
                  </a:rPr>
                  <a:t>  </a:t>
                </a:r>
              </a:p>
            </p:txBody>
          </p:sp>
        </mc:Choice>
        <mc:Fallback xmlns="">
          <p:sp>
            <p:nvSpPr>
              <p:cNvPr id="22" name="내용 개체 틀 2">
                <a:extLst>
                  <a:ext uri="{FF2B5EF4-FFF2-40B4-BE49-F238E27FC236}">
                    <a16:creationId xmlns:a16="http://schemas.microsoft.com/office/drawing/2014/main" id="{D417BF39-7CAE-4BF2-8809-6E13BB3ADD48}"/>
                  </a:ext>
                </a:extLst>
              </p:cNvPr>
              <p:cNvSpPr txBox="1">
                <a:spLocks noRot="1" noChangeAspect="1" noMove="1" noResize="1" noEditPoints="1" noAdjustHandles="1" noChangeArrowheads="1" noChangeShapeType="1" noTextEdit="1"/>
              </p:cNvSpPr>
              <p:nvPr/>
            </p:nvSpPr>
            <p:spPr>
              <a:xfrm>
                <a:off x="671000" y="3465004"/>
                <a:ext cx="8633086" cy="1269654"/>
              </a:xfrm>
              <a:prstGeom prst="rect">
                <a:avLst/>
              </a:prstGeom>
              <a:blipFill>
                <a:blip r:embed="rId5"/>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109213496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2.4. Other Regression Types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Polynomial Regression</a:t>
            </a:r>
          </a:p>
        </p:txBody>
      </p:sp>
      <p:sp>
        <p:nvSpPr>
          <p:cNvPr id="67" name="직사각형 66">
            <a:extLst>
              <a:ext uri="{FF2B5EF4-FFF2-40B4-BE49-F238E27FC236}">
                <a16:creationId xmlns:a16="http://schemas.microsoft.com/office/drawing/2014/main" id="{904F403B-52D6-4F44-A784-943EE9D951E5}"/>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Polynomial regression</a:t>
            </a:r>
          </a:p>
        </p:txBody>
      </p:sp>
      <p:sp>
        <p:nvSpPr>
          <p:cNvPr id="9" name="직사각형 8">
            <a:extLst>
              <a:ext uri="{FF2B5EF4-FFF2-40B4-BE49-F238E27FC236}">
                <a16:creationId xmlns:a16="http://schemas.microsoft.com/office/drawing/2014/main" id="{1556F9EB-56AC-4E70-8E24-D3E982038CD6}"/>
              </a:ext>
            </a:extLst>
          </p:cNvPr>
          <p:cNvSpPr/>
          <p:nvPr/>
        </p:nvSpPr>
        <p:spPr>
          <a:xfrm>
            <a:off x="671261" y="4321585"/>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We notice that there is </a:t>
            </a:r>
            <a:r>
              <a:rPr lang="en-US" altLang="ko-KR" sz="1300" dirty="0">
                <a:solidFill>
                  <a:srgbClr val="FF0000"/>
                </a:solidFill>
                <a:latin typeface="SamsungOne 400" panose="020B0503030303020204" pitchFamily="34" charset="0"/>
                <a:ea typeface="SamsungOne 400" panose="020B0503030303020204" pitchFamily="34" charset="0"/>
              </a:rPr>
              <a:t>only one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explanatory variable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𝑋</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When the polynomial power is too high, overfitting may incur. </a:t>
            </a:r>
          </a:p>
        </p:txBody>
      </p:sp>
      <p:sp>
        <p:nvSpPr>
          <p:cNvPr id="15" name="직사각형 14">
            <a:extLst>
              <a:ext uri="{FF2B5EF4-FFF2-40B4-BE49-F238E27FC236}">
                <a16:creationId xmlns:a16="http://schemas.microsoft.com/office/drawing/2014/main" id="{CE3BFAF3-CCDA-4617-992B-C1D66947E1B0}"/>
              </a:ext>
            </a:extLst>
          </p:cNvPr>
          <p:cNvSpPr/>
          <p:nvPr/>
        </p:nvSpPr>
        <p:spPr>
          <a:xfrm>
            <a:off x="672080" y="2204864"/>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Useful when the usual linear regression underfits (bias error &gt;&gt; variance error).</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We can model the relationship between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𝑋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and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𝑌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using the polynomials:</a:t>
            </a:r>
          </a:p>
        </p:txBody>
      </p:sp>
      <mc:AlternateContent xmlns:mc="http://schemas.openxmlformats.org/markup-compatibility/2006" xmlns:a14="http://schemas.microsoft.com/office/drawing/2010/main">
        <mc:Choice Requires="a14">
          <p:sp>
            <p:nvSpPr>
              <p:cNvPr id="16" name="내용 개체 틀 2">
                <a:extLst>
                  <a:ext uri="{FF2B5EF4-FFF2-40B4-BE49-F238E27FC236}">
                    <a16:creationId xmlns:a16="http://schemas.microsoft.com/office/drawing/2014/main" id="{4FBA5162-A4C8-41F8-B793-5C05D030D7F5}"/>
                  </a:ext>
                </a:extLst>
              </p:cNvPr>
              <p:cNvSpPr txBox="1">
                <a:spLocks/>
              </p:cNvSpPr>
              <p:nvPr/>
            </p:nvSpPr>
            <p:spPr>
              <a:xfrm>
                <a:off x="3315896" y="3017892"/>
                <a:ext cx="3249443" cy="113877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a:latin typeface="Cambria Math" panose="02040503050406030204" pitchFamily="18" charset="0"/>
                        </a:rPr>
                        <m:t>𝑌</m:t>
                      </m:r>
                      <m:r>
                        <a:rPr lang="en-US" altLang="ko-KR">
                          <a:latin typeface="Cambria Math" panose="02040503050406030204" pitchFamily="18" charset="0"/>
                        </a:rPr>
                        <m:t>=</m:t>
                      </m:r>
                      <m:sSub>
                        <m:sSubPr>
                          <m:ctrlPr>
                            <a:rPr lang="ko-KR" altLang="ko-KR" i="1">
                              <a:latin typeface="Cambria Math" panose="02040503050406030204" pitchFamily="18" charset="0"/>
                            </a:rPr>
                          </m:ctrlPr>
                        </m:sSubPr>
                        <m:e>
                          <m:sSub>
                            <m:sSubPr>
                              <m:ctrlPr>
                                <a:rPr lang="ko-KR" altLang="ko-KR" i="1">
                                  <a:latin typeface="Cambria Math" panose="02040503050406030204" pitchFamily="18" charset="0"/>
                                </a:rPr>
                              </m:ctrlPr>
                            </m:sSubPr>
                            <m:e>
                              <m:r>
                                <a:rPr lang="en-US" altLang="ko-KR">
                                  <a:latin typeface="Cambria Math" panose="02040503050406030204" pitchFamily="18" charset="0"/>
                                </a:rPr>
                                <m:t>𝛽</m:t>
                              </m:r>
                            </m:e>
                            <m:sub>
                              <m:r>
                                <a:rPr lang="en-US" altLang="ko-KR">
                                  <a:latin typeface="Cambria Math" panose="02040503050406030204" pitchFamily="18" charset="0"/>
                                </a:rPr>
                                <m:t>0</m:t>
                              </m:r>
                            </m:sub>
                          </m:sSub>
                          <m:r>
                            <a:rPr lang="en-US" altLang="ko-KR">
                              <a:latin typeface="Cambria Math" panose="02040503050406030204" pitchFamily="18" charset="0"/>
                            </a:rPr>
                            <m:t>+</m:t>
                          </m:r>
                          <m:r>
                            <a:rPr lang="en-US" altLang="ko-KR">
                              <a:latin typeface="Cambria Math" panose="02040503050406030204" pitchFamily="18" charset="0"/>
                            </a:rPr>
                            <m:t>𝛽</m:t>
                          </m:r>
                        </m:e>
                        <m:sub>
                          <m:r>
                            <a:rPr lang="en-US" altLang="ko-KR">
                              <a:latin typeface="Cambria Math" panose="02040503050406030204" pitchFamily="18" charset="0"/>
                            </a:rPr>
                            <m:t>1</m:t>
                          </m:r>
                        </m:sub>
                      </m:sSub>
                      <m:r>
                        <a:rPr lang="en-US" altLang="ko-KR" smtClean="0">
                          <a:solidFill>
                            <a:srgbClr val="1429A0"/>
                          </a:solidFill>
                          <a:latin typeface="Cambria Math" panose="02040503050406030204" pitchFamily="18" charset="0"/>
                        </a:rPr>
                        <m:t>𝑋</m:t>
                      </m:r>
                      <m:r>
                        <a:rPr lang="en-US" altLang="ko-KR">
                          <a:latin typeface="Cambria Math" panose="02040503050406030204" pitchFamily="18" charset="0"/>
                        </a:rPr>
                        <m:t>+</m:t>
                      </m:r>
                      <m:r>
                        <a:rPr lang="ko-KR" altLang="en-US">
                          <a:latin typeface="Cambria Math" panose="02040503050406030204" pitchFamily="18" charset="0"/>
                        </a:rPr>
                        <m:t>𝜀</m:t>
                      </m:r>
                    </m:oMath>
                  </m:oMathPara>
                </a14:m>
                <a:endParaRPr lang="en-US" altLang="ko-KR" dirty="0"/>
              </a:p>
              <a:p>
                <a:pPr/>
                <a14:m>
                  <m:oMathPara xmlns:m="http://schemas.openxmlformats.org/officeDocument/2006/math">
                    <m:oMathParaPr>
                      <m:jc m:val="centerGroup"/>
                    </m:oMathParaPr>
                    <m:oMath xmlns:m="http://schemas.openxmlformats.org/officeDocument/2006/math">
                      <m:r>
                        <a:rPr lang="en-US" altLang="ko-KR">
                          <a:latin typeface="Cambria Math" panose="02040503050406030204" pitchFamily="18" charset="0"/>
                        </a:rPr>
                        <m:t>𝑌</m:t>
                      </m:r>
                      <m:r>
                        <a:rPr lang="en-US" altLang="ko-KR">
                          <a:latin typeface="Cambria Math" panose="02040503050406030204" pitchFamily="18" charset="0"/>
                        </a:rPr>
                        <m:t>=</m:t>
                      </m:r>
                      <m:sSub>
                        <m:sSubPr>
                          <m:ctrlPr>
                            <a:rPr lang="ko-KR" altLang="ko-KR" i="1">
                              <a:latin typeface="Cambria Math" panose="02040503050406030204" pitchFamily="18" charset="0"/>
                            </a:rPr>
                          </m:ctrlPr>
                        </m:sSubPr>
                        <m:e>
                          <m:sSub>
                            <m:sSubPr>
                              <m:ctrlPr>
                                <a:rPr lang="ko-KR" altLang="ko-KR" i="1">
                                  <a:latin typeface="Cambria Math" panose="02040503050406030204" pitchFamily="18" charset="0"/>
                                </a:rPr>
                              </m:ctrlPr>
                            </m:sSubPr>
                            <m:e>
                              <m:r>
                                <a:rPr lang="en-US" altLang="ko-KR">
                                  <a:latin typeface="Cambria Math" panose="02040503050406030204" pitchFamily="18" charset="0"/>
                                </a:rPr>
                                <m:t>𝛽</m:t>
                              </m:r>
                            </m:e>
                            <m:sub>
                              <m:r>
                                <a:rPr lang="en-US" altLang="ko-KR">
                                  <a:latin typeface="Cambria Math" panose="02040503050406030204" pitchFamily="18" charset="0"/>
                                </a:rPr>
                                <m:t>0</m:t>
                              </m:r>
                            </m:sub>
                          </m:sSub>
                          <m:r>
                            <a:rPr lang="en-US" altLang="ko-KR">
                              <a:latin typeface="Cambria Math" panose="02040503050406030204" pitchFamily="18" charset="0"/>
                            </a:rPr>
                            <m:t>+</m:t>
                          </m:r>
                          <m:r>
                            <a:rPr lang="en-US" altLang="ko-KR">
                              <a:latin typeface="Cambria Math" panose="02040503050406030204" pitchFamily="18" charset="0"/>
                            </a:rPr>
                            <m:t>𝛽</m:t>
                          </m:r>
                        </m:e>
                        <m:sub>
                          <m:r>
                            <a:rPr lang="en-US" altLang="ko-KR">
                              <a:latin typeface="Cambria Math" panose="02040503050406030204" pitchFamily="18" charset="0"/>
                            </a:rPr>
                            <m:t>1</m:t>
                          </m:r>
                        </m:sub>
                      </m:sSub>
                      <m:r>
                        <a:rPr lang="en-US" altLang="ko-KR" smtClean="0">
                          <a:solidFill>
                            <a:srgbClr val="1429A0"/>
                          </a:solidFill>
                          <a:latin typeface="Cambria Math" panose="02040503050406030204" pitchFamily="18" charset="0"/>
                        </a:rPr>
                        <m:t>𝑋</m:t>
                      </m:r>
                      <m:r>
                        <a:rPr lang="en-US" altLang="ko-KR">
                          <a:latin typeface="Cambria Math" panose="02040503050406030204" pitchFamily="18" charset="0"/>
                        </a:rPr>
                        <m:t>+</m:t>
                      </m:r>
                      <m:sSub>
                        <m:sSubPr>
                          <m:ctrlPr>
                            <a:rPr lang="ko-KR" altLang="ko-KR" i="1">
                              <a:latin typeface="Cambria Math" panose="02040503050406030204" pitchFamily="18" charset="0"/>
                            </a:rPr>
                          </m:ctrlPr>
                        </m:sSubPr>
                        <m:e>
                          <m:r>
                            <a:rPr lang="en-US" altLang="ko-KR">
                              <a:latin typeface="Cambria Math" panose="02040503050406030204" pitchFamily="18" charset="0"/>
                            </a:rPr>
                            <m:t>𝛽</m:t>
                          </m:r>
                        </m:e>
                        <m:sub>
                          <m:r>
                            <a:rPr lang="en-US" altLang="ko-KR">
                              <a:latin typeface="Cambria Math" panose="02040503050406030204" pitchFamily="18" charset="0"/>
                            </a:rPr>
                            <m:t>2</m:t>
                          </m:r>
                        </m:sub>
                      </m:sSub>
                      <m:sSup>
                        <m:sSupPr>
                          <m:ctrlPr>
                            <a:rPr lang="en-US" altLang="ko-KR" i="1" smtClean="0">
                              <a:solidFill>
                                <a:srgbClr val="1429A0"/>
                              </a:solidFill>
                              <a:latin typeface="Cambria Math" panose="02040503050406030204" pitchFamily="18" charset="0"/>
                            </a:rPr>
                          </m:ctrlPr>
                        </m:sSupPr>
                        <m:e>
                          <m:r>
                            <a:rPr lang="en-US" altLang="ko-KR">
                              <a:solidFill>
                                <a:srgbClr val="1429A0"/>
                              </a:solidFill>
                              <a:latin typeface="Cambria Math" panose="02040503050406030204" pitchFamily="18" charset="0"/>
                            </a:rPr>
                            <m:t>𝑋</m:t>
                          </m:r>
                        </m:e>
                        <m:sup>
                          <m:r>
                            <a:rPr lang="en-US" altLang="ko-KR">
                              <a:solidFill>
                                <a:srgbClr val="1429A0"/>
                              </a:solidFill>
                              <a:latin typeface="Cambria Math" panose="02040503050406030204" pitchFamily="18" charset="0"/>
                            </a:rPr>
                            <m:t>2</m:t>
                          </m:r>
                        </m:sup>
                      </m:sSup>
                      <m:r>
                        <a:rPr lang="en-US" altLang="ko-KR">
                          <a:latin typeface="Cambria Math" panose="02040503050406030204" pitchFamily="18" charset="0"/>
                        </a:rPr>
                        <m:t>+</m:t>
                      </m:r>
                      <m:r>
                        <a:rPr lang="ko-KR" altLang="en-US">
                          <a:latin typeface="Cambria Math" panose="02040503050406030204" pitchFamily="18" charset="0"/>
                        </a:rPr>
                        <m:t>𝜀</m:t>
                      </m:r>
                    </m:oMath>
                  </m:oMathPara>
                </a14:m>
                <a:endParaRPr lang="en-US" altLang="ko-KR" dirty="0"/>
              </a:p>
              <a:p>
                <a:pPr/>
                <a14:m>
                  <m:oMathPara xmlns:m="http://schemas.openxmlformats.org/officeDocument/2006/math">
                    <m:oMathParaPr>
                      <m:jc m:val="centerGroup"/>
                    </m:oMathParaPr>
                    <m:oMath xmlns:m="http://schemas.openxmlformats.org/officeDocument/2006/math">
                      <m:r>
                        <a:rPr lang="en-US" altLang="ko-KR">
                          <a:latin typeface="Cambria Math" panose="02040503050406030204" pitchFamily="18" charset="0"/>
                        </a:rPr>
                        <m:t>𝑌</m:t>
                      </m:r>
                      <m:r>
                        <a:rPr lang="en-US" altLang="ko-KR">
                          <a:latin typeface="Cambria Math" panose="02040503050406030204" pitchFamily="18" charset="0"/>
                        </a:rPr>
                        <m:t>=</m:t>
                      </m:r>
                      <m:sSub>
                        <m:sSubPr>
                          <m:ctrlPr>
                            <a:rPr lang="ko-KR" altLang="ko-KR" i="1">
                              <a:latin typeface="Cambria Math" panose="02040503050406030204" pitchFamily="18" charset="0"/>
                            </a:rPr>
                          </m:ctrlPr>
                        </m:sSubPr>
                        <m:e>
                          <m:sSub>
                            <m:sSubPr>
                              <m:ctrlPr>
                                <a:rPr lang="ko-KR" altLang="ko-KR" i="1">
                                  <a:latin typeface="Cambria Math" panose="02040503050406030204" pitchFamily="18" charset="0"/>
                                </a:rPr>
                              </m:ctrlPr>
                            </m:sSubPr>
                            <m:e>
                              <m:r>
                                <a:rPr lang="en-US" altLang="ko-KR">
                                  <a:latin typeface="Cambria Math" panose="02040503050406030204" pitchFamily="18" charset="0"/>
                                </a:rPr>
                                <m:t>𝛽</m:t>
                              </m:r>
                            </m:e>
                            <m:sub>
                              <m:r>
                                <a:rPr lang="en-US" altLang="ko-KR">
                                  <a:latin typeface="Cambria Math" panose="02040503050406030204" pitchFamily="18" charset="0"/>
                                </a:rPr>
                                <m:t>0</m:t>
                              </m:r>
                            </m:sub>
                          </m:sSub>
                          <m:r>
                            <a:rPr lang="en-US" altLang="ko-KR">
                              <a:latin typeface="Cambria Math" panose="02040503050406030204" pitchFamily="18" charset="0"/>
                            </a:rPr>
                            <m:t>+</m:t>
                          </m:r>
                          <m:r>
                            <a:rPr lang="en-US" altLang="ko-KR">
                              <a:latin typeface="Cambria Math" panose="02040503050406030204" pitchFamily="18" charset="0"/>
                            </a:rPr>
                            <m:t>𝛽</m:t>
                          </m:r>
                        </m:e>
                        <m:sub>
                          <m:r>
                            <a:rPr lang="en-US" altLang="ko-KR">
                              <a:latin typeface="Cambria Math" panose="02040503050406030204" pitchFamily="18" charset="0"/>
                            </a:rPr>
                            <m:t>1</m:t>
                          </m:r>
                        </m:sub>
                      </m:sSub>
                      <m:r>
                        <a:rPr lang="en-US" altLang="ko-KR" smtClean="0">
                          <a:solidFill>
                            <a:srgbClr val="1429A0"/>
                          </a:solidFill>
                          <a:latin typeface="Cambria Math" panose="02040503050406030204" pitchFamily="18" charset="0"/>
                        </a:rPr>
                        <m:t>𝑋</m:t>
                      </m:r>
                      <m:r>
                        <a:rPr lang="en-US" altLang="ko-KR">
                          <a:latin typeface="Cambria Math" panose="02040503050406030204" pitchFamily="18" charset="0"/>
                        </a:rPr>
                        <m:t>+</m:t>
                      </m:r>
                      <m:sSub>
                        <m:sSubPr>
                          <m:ctrlPr>
                            <a:rPr lang="ko-KR" altLang="ko-KR" i="1">
                              <a:latin typeface="Cambria Math" panose="02040503050406030204" pitchFamily="18" charset="0"/>
                            </a:rPr>
                          </m:ctrlPr>
                        </m:sSubPr>
                        <m:e>
                          <m:r>
                            <a:rPr lang="en-US" altLang="ko-KR">
                              <a:latin typeface="Cambria Math" panose="02040503050406030204" pitchFamily="18" charset="0"/>
                            </a:rPr>
                            <m:t>𝛽</m:t>
                          </m:r>
                        </m:e>
                        <m:sub>
                          <m:r>
                            <a:rPr lang="en-US" altLang="ko-KR">
                              <a:latin typeface="Cambria Math" panose="02040503050406030204" pitchFamily="18" charset="0"/>
                            </a:rPr>
                            <m:t>2</m:t>
                          </m:r>
                        </m:sub>
                      </m:sSub>
                      <m:sSup>
                        <m:sSupPr>
                          <m:ctrlPr>
                            <a:rPr lang="en-US" altLang="ko-KR" i="1" smtClean="0">
                              <a:solidFill>
                                <a:srgbClr val="1429A0"/>
                              </a:solidFill>
                              <a:latin typeface="Cambria Math" panose="02040503050406030204" pitchFamily="18" charset="0"/>
                            </a:rPr>
                          </m:ctrlPr>
                        </m:sSupPr>
                        <m:e>
                          <m:r>
                            <a:rPr lang="en-US" altLang="ko-KR">
                              <a:solidFill>
                                <a:srgbClr val="1429A0"/>
                              </a:solidFill>
                              <a:latin typeface="Cambria Math" panose="02040503050406030204" pitchFamily="18" charset="0"/>
                            </a:rPr>
                            <m:t>𝑋</m:t>
                          </m:r>
                        </m:e>
                        <m:sup>
                          <m:r>
                            <a:rPr lang="en-US" altLang="ko-KR">
                              <a:solidFill>
                                <a:srgbClr val="1429A0"/>
                              </a:solidFill>
                              <a:latin typeface="Cambria Math" panose="02040503050406030204" pitchFamily="18" charset="0"/>
                            </a:rPr>
                            <m:t>2</m:t>
                          </m:r>
                        </m:sup>
                      </m:sSup>
                      <m:r>
                        <a:rPr lang="en-US" altLang="ko-KR">
                          <a:latin typeface="Cambria Math" panose="02040503050406030204" pitchFamily="18" charset="0"/>
                        </a:rPr>
                        <m:t>+</m:t>
                      </m:r>
                      <m:sSub>
                        <m:sSubPr>
                          <m:ctrlPr>
                            <a:rPr lang="ko-KR" altLang="ko-KR" i="1">
                              <a:latin typeface="Cambria Math" panose="02040503050406030204" pitchFamily="18" charset="0"/>
                            </a:rPr>
                          </m:ctrlPr>
                        </m:sSubPr>
                        <m:e>
                          <m:r>
                            <a:rPr lang="en-US" altLang="ko-KR">
                              <a:latin typeface="Cambria Math" panose="02040503050406030204" pitchFamily="18" charset="0"/>
                            </a:rPr>
                            <m:t>𝛽</m:t>
                          </m:r>
                        </m:e>
                        <m:sub>
                          <m:r>
                            <a:rPr lang="en-US" altLang="ko-KR">
                              <a:latin typeface="Cambria Math" panose="02040503050406030204" pitchFamily="18" charset="0"/>
                            </a:rPr>
                            <m:t>3</m:t>
                          </m:r>
                        </m:sub>
                      </m:sSub>
                      <m:sSup>
                        <m:sSupPr>
                          <m:ctrlPr>
                            <a:rPr lang="en-US" altLang="ko-KR" i="1" smtClean="0">
                              <a:solidFill>
                                <a:srgbClr val="1429A0"/>
                              </a:solidFill>
                              <a:latin typeface="Cambria Math" panose="02040503050406030204" pitchFamily="18" charset="0"/>
                            </a:rPr>
                          </m:ctrlPr>
                        </m:sSupPr>
                        <m:e>
                          <m:r>
                            <a:rPr lang="en-US" altLang="ko-KR">
                              <a:solidFill>
                                <a:srgbClr val="1429A0"/>
                              </a:solidFill>
                              <a:latin typeface="Cambria Math" panose="02040503050406030204" pitchFamily="18" charset="0"/>
                            </a:rPr>
                            <m:t>𝑋</m:t>
                          </m:r>
                        </m:e>
                        <m:sup>
                          <m:r>
                            <a:rPr lang="en-US" altLang="ko-KR">
                              <a:solidFill>
                                <a:srgbClr val="1429A0"/>
                              </a:solidFill>
                              <a:latin typeface="Cambria Math" panose="02040503050406030204" pitchFamily="18" charset="0"/>
                            </a:rPr>
                            <m:t>3</m:t>
                          </m:r>
                        </m:sup>
                      </m:sSup>
                      <m:r>
                        <a:rPr lang="en-US" altLang="ko-KR">
                          <a:latin typeface="Cambria Math" panose="02040503050406030204" pitchFamily="18" charset="0"/>
                        </a:rPr>
                        <m:t>+</m:t>
                      </m:r>
                      <m:r>
                        <a:rPr lang="ko-KR" altLang="en-US">
                          <a:latin typeface="Cambria Math" panose="02040503050406030204" pitchFamily="18" charset="0"/>
                        </a:rPr>
                        <m:t>𝜀</m:t>
                      </m:r>
                    </m:oMath>
                  </m:oMathPara>
                </a14:m>
                <a:endParaRPr lang="en-US" altLang="ko-KR" dirty="0"/>
              </a:p>
            </p:txBody>
          </p:sp>
        </mc:Choice>
        <mc:Fallback xmlns="">
          <p:sp>
            <p:nvSpPr>
              <p:cNvPr id="16" name="내용 개체 틀 2">
                <a:extLst>
                  <a:ext uri="{FF2B5EF4-FFF2-40B4-BE49-F238E27FC236}">
                    <a16:creationId xmlns:a16="http://schemas.microsoft.com/office/drawing/2014/main" id="{4FBA5162-A4C8-41F8-B793-5C05D030D7F5}"/>
                  </a:ext>
                </a:extLst>
              </p:cNvPr>
              <p:cNvSpPr txBox="1">
                <a:spLocks noRot="1" noChangeAspect="1" noMove="1" noResize="1" noEditPoints="1" noAdjustHandles="1" noChangeArrowheads="1" noChangeShapeType="1" noTextEdit="1"/>
              </p:cNvSpPr>
              <p:nvPr/>
            </p:nvSpPr>
            <p:spPr>
              <a:xfrm>
                <a:off x="3315896" y="3017892"/>
                <a:ext cx="3249443" cy="1138773"/>
              </a:xfrm>
              <a:prstGeom prst="rect">
                <a:avLst/>
              </a:prstGeom>
              <a:blipFill>
                <a:blip r:embed="rId4"/>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190204300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2.4. Other Regression Types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Poisson Regression</a:t>
            </a:r>
          </a:p>
        </p:txBody>
      </p:sp>
      <p:sp>
        <p:nvSpPr>
          <p:cNvPr id="67" name="직사각형 66">
            <a:extLst>
              <a:ext uri="{FF2B5EF4-FFF2-40B4-BE49-F238E27FC236}">
                <a16:creationId xmlns:a16="http://schemas.microsoft.com/office/drawing/2014/main" id="{904F403B-52D6-4F44-A784-943EE9D951E5}"/>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Poisson regression</a:t>
            </a:r>
          </a:p>
        </p:txBody>
      </p:sp>
      <p:sp>
        <p:nvSpPr>
          <p:cNvPr id="9" name="직사각형 8">
            <a:extLst>
              <a:ext uri="{FF2B5EF4-FFF2-40B4-BE49-F238E27FC236}">
                <a16:creationId xmlns:a16="http://schemas.microsoft.com/office/drawing/2014/main" id="{1556F9EB-56AC-4E70-8E24-D3E982038CD6}"/>
              </a:ext>
            </a:extLst>
          </p:cNvPr>
          <p:cNvSpPr/>
          <p:nvPr/>
        </p:nvSpPr>
        <p:spPr>
          <a:xfrm>
            <a:off x="671261" y="3288670"/>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We are assuming that Y follows the Poisson distribution.</a:t>
            </a:r>
          </a:p>
        </p:txBody>
      </p:sp>
      <p:sp>
        <p:nvSpPr>
          <p:cNvPr id="15" name="직사각형 14">
            <a:extLst>
              <a:ext uri="{FF2B5EF4-FFF2-40B4-BE49-F238E27FC236}">
                <a16:creationId xmlns:a16="http://schemas.microsoft.com/office/drawing/2014/main" id="{CE3BFAF3-CCDA-4617-992B-C1D66947E1B0}"/>
              </a:ext>
            </a:extLst>
          </p:cNvPr>
          <p:cNvSpPr/>
          <p:nvPr/>
        </p:nvSpPr>
        <p:spPr>
          <a:xfrm>
            <a:off x="672080" y="2204864"/>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Useful when we would like to model the response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𝑌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that represents counts or frequencies.</a:t>
            </a:r>
          </a:p>
        </p:txBody>
      </p:sp>
      <mc:AlternateContent xmlns:mc="http://schemas.openxmlformats.org/markup-compatibility/2006" xmlns:a14="http://schemas.microsoft.com/office/drawing/2010/main">
        <mc:Choice Requires="a14">
          <p:sp>
            <p:nvSpPr>
              <p:cNvPr id="16" name="내용 개체 틀 2">
                <a:extLst>
                  <a:ext uri="{FF2B5EF4-FFF2-40B4-BE49-F238E27FC236}">
                    <a16:creationId xmlns:a16="http://schemas.microsoft.com/office/drawing/2014/main" id="{4FBA5162-A4C8-41F8-B793-5C05D030D7F5}"/>
                  </a:ext>
                </a:extLst>
              </p:cNvPr>
              <p:cNvSpPr txBox="1">
                <a:spLocks/>
              </p:cNvSpPr>
              <p:nvPr/>
            </p:nvSpPr>
            <p:spPr>
              <a:xfrm>
                <a:off x="2828317" y="2663818"/>
                <a:ext cx="4246191" cy="4411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a:latin typeface="Cambria Math" panose="02040503050406030204" pitchFamily="18" charset="0"/>
                        </a:rPr>
                        <m:t>𝐿𝑜𝑔</m:t>
                      </m:r>
                      <m:r>
                        <a:rPr lang="en-US" altLang="ko-KR">
                          <a:latin typeface="Cambria Math" panose="02040503050406030204" pitchFamily="18" charset="0"/>
                        </a:rPr>
                        <m:t>(</m:t>
                      </m:r>
                      <m:r>
                        <a:rPr lang="ko-KR" altLang="en-US">
                          <a:solidFill>
                            <a:srgbClr val="FF0000"/>
                          </a:solidFill>
                          <a:latin typeface="Cambria Math" panose="02040503050406030204" pitchFamily="18" charset="0"/>
                        </a:rPr>
                        <m:t>𝜆</m:t>
                      </m:r>
                      <m:r>
                        <a:rPr lang="en-US" altLang="ko-KR">
                          <a:latin typeface="Cambria Math" panose="02040503050406030204" pitchFamily="18" charset="0"/>
                        </a:rPr>
                        <m:t>)=</m:t>
                      </m:r>
                      <m:sSub>
                        <m:sSubPr>
                          <m:ctrlPr>
                            <a:rPr lang="ko-KR" altLang="ko-KR" i="1">
                              <a:latin typeface="Cambria Math" panose="02040503050406030204" pitchFamily="18" charset="0"/>
                            </a:rPr>
                          </m:ctrlPr>
                        </m:sSubPr>
                        <m:e>
                          <m:sSub>
                            <m:sSubPr>
                              <m:ctrlPr>
                                <a:rPr lang="ko-KR" altLang="ko-KR" i="1">
                                  <a:latin typeface="Cambria Math" panose="02040503050406030204" pitchFamily="18" charset="0"/>
                                </a:rPr>
                              </m:ctrlPr>
                            </m:sSubPr>
                            <m:e>
                              <m:r>
                                <a:rPr lang="en-US" altLang="ko-KR">
                                  <a:latin typeface="Cambria Math" panose="02040503050406030204" pitchFamily="18" charset="0"/>
                                </a:rPr>
                                <m:t>𝛽</m:t>
                              </m:r>
                            </m:e>
                            <m:sub>
                              <m:r>
                                <a:rPr lang="en-US" altLang="ko-KR">
                                  <a:latin typeface="Cambria Math" panose="02040503050406030204" pitchFamily="18" charset="0"/>
                                </a:rPr>
                                <m:t>0</m:t>
                              </m:r>
                            </m:sub>
                          </m:sSub>
                          <m:r>
                            <a:rPr lang="en-US" altLang="ko-KR">
                              <a:latin typeface="Cambria Math" panose="02040503050406030204" pitchFamily="18" charset="0"/>
                            </a:rPr>
                            <m:t>+</m:t>
                          </m:r>
                          <m:r>
                            <a:rPr lang="en-US" altLang="ko-KR">
                              <a:latin typeface="Cambria Math" panose="02040503050406030204" pitchFamily="18" charset="0"/>
                            </a:rPr>
                            <m:t>𝛽</m:t>
                          </m:r>
                        </m:e>
                        <m:sub>
                          <m:r>
                            <a:rPr lang="en-US" altLang="ko-KR">
                              <a:latin typeface="Cambria Math" panose="02040503050406030204" pitchFamily="18" charset="0"/>
                            </a:rPr>
                            <m:t>1</m:t>
                          </m:r>
                        </m:sub>
                      </m:sSub>
                      <m:sSub>
                        <m:sSubPr>
                          <m:ctrlPr>
                            <a:rPr lang="ko-KR" altLang="ko-KR" i="1">
                              <a:latin typeface="Cambria Math" panose="02040503050406030204" pitchFamily="18" charset="0"/>
                            </a:rPr>
                          </m:ctrlPr>
                        </m:sSubPr>
                        <m:e>
                          <m:r>
                            <a:rPr lang="en-US" altLang="ko-KR">
                              <a:latin typeface="Cambria Math" panose="02040503050406030204" pitchFamily="18" charset="0"/>
                            </a:rPr>
                            <m:t>𝑋</m:t>
                          </m:r>
                        </m:e>
                        <m:sub>
                          <m:r>
                            <a:rPr lang="en-US" altLang="ko-KR">
                              <a:latin typeface="Cambria Math" panose="02040503050406030204" pitchFamily="18" charset="0"/>
                            </a:rPr>
                            <m:t>1</m:t>
                          </m:r>
                        </m:sub>
                      </m:sSub>
                      <m:r>
                        <a:rPr lang="en-US" altLang="ko-KR">
                          <a:latin typeface="Cambria Math" panose="02040503050406030204" pitchFamily="18" charset="0"/>
                        </a:rPr>
                        <m:t>+</m:t>
                      </m:r>
                      <m:sSub>
                        <m:sSubPr>
                          <m:ctrlPr>
                            <a:rPr lang="ko-KR" altLang="ko-KR" i="1">
                              <a:latin typeface="Cambria Math" panose="02040503050406030204" pitchFamily="18" charset="0"/>
                            </a:rPr>
                          </m:ctrlPr>
                        </m:sSubPr>
                        <m:e>
                          <m:r>
                            <a:rPr lang="en-US" altLang="ko-KR">
                              <a:latin typeface="Cambria Math" panose="02040503050406030204" pitchFamily="18" charset="0"/>
                            </a:rPr>
                            <m:t>𝛽</m:t>
                          </m:r>
                        </m:e>
                        <m:sub>
                          <m:r>
                            <a:rPr lang="en-US" altLang="ko-KR">
                              <a:latin typeface="Cambria Math" panose="02040503050406030204" pitchFamily="18" charset="0"/>
                            </a:rPr>
                            <m:t>2</m:t>
                          </m:r>
                        </m:sub>
                      </m:sSub>
                      <m:sSub>
                        <m:sSubPr>
                          <m:ctrlPr>
                            <a:rPr lang="ko-KR" altLang="ko-KR" i="1">
                              <a:latin typeface="Cambria Math" panose="02040503050406030204" pitchFamily="18" charset="0"/>
                            </a:rPr>
                          </m:ctrlPr>
                        </m:sSubPr>
                        <m:e>
                          <m:r>
                            <a:rPr lang="en-US" altLang="ko-KR">
                              <a:latin typeface="Cambria Math" panose="02040503050406030204" pitchFamily="18" charset="0"/>
                            </a:rPr>
                            <m:t>𝑋</m:t>
                          </m:r>
                        </m:e>
                        <m:sub>
                          <m:r>
                            <a:rPr lang="en-US" altLang="ko-KR">
                              <a:latin typeface="Cambria Math" panose="02040503050406030204" pitchFamily="18" charset="0"/>
                            </a:rPr>
                            <m:t>2</m:t>
                          </m:r>
                        </m:sub>
                      </m:sSub>
                      <m:r>
                        <a:rPr lang="en-US" altLang="ko-KR">
                          <a:latin typeface="Cambria Math" panose="02040503050406030204" pitchFamily="18" charset="0"/>
                        </a:rPr>
                        <m:t>+⋯+</m:t>
                      </m:r>
                      <m:sSub>
                        <m:sSubPr>
                          <m:ctrlPr>
                            <a:rPr lang="ko-KR" altLang="ko-KR" i="1">
                              <a:latin typeface="Cambria Math" panose="02040503050406030204" pitchFamily="18" charset="0"/>
                            </a:rPr>
                          </m:ctrlPr>
                        </m:sSubPr>
                        <m:e>
                          <m:r>
                            <a:rPr lang="en-US" altLang="ko-KR">
                              <a:latin typeface="Cambria Math" panose="02040503050406030204" pitchFamily="18" charset="0"/>
                            </a:rPr>
                            <m:t>𝛽</m:t>
                          </m:r>
                        </m:e>
                        <m:sub>
                          <m:r>
                            <a:rPr lang="en-US" altLang="ko-KR">
                              <a:latin typeface="Cambria Math" panose="02040503050406030204" pitchFamily="18" charset="0"/>
                            </a:rPr>
                            <m:t>𝐾</m:t>
                          </m:r>
                        </m:sub>
                      </m:sSub>
                      <m:sSub>
                        <m:sSubPr>
                          <m:ctrlPr>
                            <a:rPr lang="ko-KR" altLang="ko-KR" i="1">
                              <a:latin typeface="Cambria Math" panose="02040503050406030204" pitchFamily="18" charset="0"/>
                            </a:rPr>
                          </m:ctrlPr>
                        </m:sSubPr>
                        <m:e>
                          <m:r>
                            <a:rPr lang="en-US" altLang="ko-KR">
                              <a:latin typeface="Cambria Math" panose="02040503050406030204" pitchFamily="18" charset="0"/>
                            </a:rPr>
                            <m:t>𝑋</m:t>
                          </m:r>
                        </m:e>
                        <m:sub>
                          <m:r>
                            <a:rPr lang="en-US" altLang="ko-KR">
                              <a:latin typeface="Cambria Math" panose="02040503050406030204" pitchFamily="18" charset="0"/>
                            </a:rPr>
                            <m:t>𝐾</m:t>
                          </m:r>
                        </m:sub>
                      </m:sSub>
                      <m:r>
                        <a:rPr lang="en-US" altLang="ko-KR">
                          <a:latin typeface="Cambria Math" panose="02040503050406030204" pitchFamily="18" charset="0"/>
                        </a:rPr>
                        <m:t>+</m:t>
                      </m:r>
                      <m:r>
                        <a:rPr lang="ko-KR" altLang="en-US">
                          <a:latin typeface="Cambria Math" panose="02040503050406030204" pitchFamily="18" charset="0"/>
                        </a:rPr>
                        <m:t>𝜀</m:t>
                      </m:r>
                    </m:oMath>
                  </m:oMathPara>
                </a14:m>
                <a:endParaRPr lang="en-US" altLang="ko-KR" dirty="0"/>
              </a:p>
            </p:txBody>
          </p:sp>
        </mc:Choice>
        <mc:Fallback xmlns="">
          <p:sp>
            <p:nvSpPr>
              <p:cNvPr id="16" name="내용 개체 틀 2">
                <a:extLst>
                  <a:ext uri="{FF2B5EF4-FFF2-40B4-BE49-F238E27FC236}">
                    <a16:creationId xmlns:a16="http://schemas.microsoft.com/office/drawing/2014/main" id="{4FBA5162-A4C8-41F8-B793-5C05D030D7F5}"/>
                  </a:ext>
                </a:extLst>
              </p:cNvPr>
              <p:cNvSpPr txBox="1">
                <a:spLocks noRot="1" noChangeAspect="1" noMove="1" noResize="1" noEditPoints="1" noAdjustHandles="1" noChangeArrowheads="1" noChangeShapeType="1" noTextEdit="1"/>
              </p:cNvSpPr>
              <p:nvPr/>
            </p:nvSpPr>
            <p:spPr>
              <a:xfrm>
                <a:off x="2828317" y="2663818"/>
                <a:ext cx="4246191" cy="441146"/>
              </a:xfrm>
              <a:prstGeom prst="rect">
                <a:avLst/>
              </a:prstGeom>
              <a:blipFill>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내용 개체 틀 2">
                <a:extLst>
                  <a:ext uri="{FF2B5EF4-FFF2-40B4-BE49-F238E27FC236}">
                    <a16:creationId xmlns:a16="http://schemas.microsoft.com/office/drawing/2014/main" id="{B2F1A884-7AC6-4174-950A-0C3CDAE2F192}"/>
                  </a:ext>
                </a:extLst>
              </p:cNvPr>
              <p:cNvSpPr txBox="1">
                <a:spLocks/>
              </p:cNvSpPr>
              <p:nvPr/>
            </p:nvSpPr>
            <p:spPr>
              <a:xfrm>
                <a:off x="4161096" y="3729707"/>
                <a:ext cx="1559044" cy="74340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a:latin typeface="Cambria Math" panose="02040503050406030204" pitchFamily="18" charset="0"/>
                        </a:rPr>
                        <m:t>𝑃</m:t>
                      </m:r>
                      <m:d>
                        <m:dPr>
                          <m:ctrlPr>
                            <a:rPr lang="en-US" altLang="ko-KR" i="1">
                              <a:latin typeface="Cambria Math" panose="02040503050406030204" pitchFamily="18" charset="0"/>
                            </a:rPr>
                          </m:ctrlPr>
                        </m:dPr>
                        <m:e>
                          <m:r>
                            <a:rPr lang="en-US" altLang="ko-KR">
                              <a:latin typeface="Cambria Math" panose="02040503050406030204" pitchFamily="18" charset="0"/>
                            </a:rPr>
                            <m:t>𝑦</m:t>
                          </m:r>
                        </m:e>
                      </m:d>
                      <m:r>
                        <a:rPr lang="en-US" altLang="ko-KR">
                          <a:latin typeface="Cambria Math" panose="02040503050406030204" pitchFamily="18" charset="0"/>
                        </a:rPr>
                        <m:t>=</m:t>
                      </m:r>
                      <m:f>
                        <m:fPr>
                          <m:ctrlPr>
                            <a:rPr lang="en-US" altLang="ko-KR" i="1">
                              <a:latin typeface="Cambria Math" panose="02040503050406030204" pitchFamily="18" charset="0"/>
                            </a:rPr>
                          </m:ctrlPr>
                        </m:fPr>
                        <m:num>
                          <m:sSup>
                            <m:sSupPr>
                              <m:ctrlPr>
                                <a:rPr lang="en-US" altLang="ko-KR" i="1">
                                  <a:latin typeface="Cambria Math" panose="02040503050406030204" pitchFamily="18" charset="0"/>
                                </a:rPr>
                              </m:ctrlPr>
                            </m:sSupPr>
                            <m:e>
                              <m:r>
                                <a:rPr lang="en-US" altLang="ko-KR">
                                  <a:solidFill>
                                    <a:srgbClr val="FF0000"/>
                                  </a:solidFill>
                                  <a:latin typeface="Cambria Math" panose="02040503050406030204" pitchFamily="18" charset="0"/>
                                </a:rPr>
                                <m:t>𝜆</m:t>
                              </m:r>
                            </m:e>
                            <m:sup>
                              <m:r>
                                <a:rPr lang="en-US" altLang="ko-KR">
                                  <a:latin typeface="Cambria Math" panose="02040503050406030204" pitchFamily="18" charset="0"/>
                                </a:rPr>
                                <m:t>𝑦</m:t>
                              </m:r>
                            </m:sup>
                          </m:sSup>
                          <m:sSup>
                            <m:sSupPr>
                              <m:ctrlPr>
                                <a:rPr lang="en-US" altLang="ko-KR" i="1">
                                  <a:latin typeface="Cambria Math" panose="02040503050406030204" pitchFamily="18" charset="0"/>
                                </a:rPr>
                              </m:ctrlPr>
                            </m:sSupPr>
                            <m:e>
                              <m:r>
                                <a:rPr lang="en-US" altLang="ko-KR">
                                  <a:latin typeface="Cambria Math" panose="02040503050406030204" pitchFamily="18" charset="0"/>
                                </a:rPr>
                                <m:t>𝑒</m:t>
                              </m:r>
                            </m:e>
                            <m:sup>
                              <m:r>
                                <a:rPr lang="en-US" altLang="ko-KR">
                                  <a:latin typeface="Cambria Math" panose="02040503050406030204" pitchFamily="18" charset="0"/>
                                </a:rPr>
                                <m:t>−</m:t>
                              </m:r>
                              <m:r>
                                <a:rPr lang="en-US" altLang="ko-KR">
                                  <a:solidFill>
                                    <a:srgbClr val="FF0000"/>
                                  </a:solidFill>
                                  <a:latin typeface="Cambria Math" panose="02040503050406030204" pitchFamily="18" charset="0"/>
                                </a:rPr>
                                <m:t>𝜆</m:t>
                              </m:r>
                            </m:sup>
                          </m:sSup>
                        </m:num>
                        <m:den>
                          <m:r>
                            <a:rPr lang="en-US" altLang="ko-KR">
                              <a:latin typeface="Cambria Math" panose="02040503050406030204" pitchFamily="18" charset="0"/>
                            </a:rPr>
                            <m:t>𝑦</m:t>
                          </m:r>
                          <m:r>
                            <a:rPr lang="en-US" altLang="ko-KR">
                              <a:latin typeface="Cambria Math" panose="02040503050406030204" pitchFamily="18" charset="0"/>
                            </a:rPr>
                            <m:t>!</m:t>
                          </m:r>
                        </m:den>
                      </m:f>
                    </m:oMath>
                  </m:oMathPara>
                </a14:m>
                <a:endParaRPr lang="en-US" altLang="ko-KR" dirty="0"/>
              </a:p>
            </p:txBody>
          </p:sp>
        </mc:Choice>
        <mc:Fallback xmlns="">
          <p:sp>
            <p:nvSpPr>
              <p:cNvPr id="10" name="내용 개체 틀 2">
                <a:extLst>
                  <a:ext uri="{FF2B5EF4-FFF2-40B4-BE49-F238E27FC236}">
                    <a16:creationId xmlns:a16="http://schemas.microsoft.com/office/drawing/2014/main" id="{B2F1A884-7AC6-4174-950A-0C3CDAE2F192}"/>
                  </a:ext>
                </a:extLst>
              </p:cNvPr>
              <p:cNvSpPr txBox="1">
                <a:spLocks noRot="1" noChangeAspect="1" noMove="1" noResize="1" noEditPoints="1" noAdjustHandles="1" noChangeArrowheads="1" noChangeShapeType="1" noTextEdit="1"/>
              </p:cNvSpPr>
              <p:nvPr/>
            </p:nvSpPr>
            <p:spPr>
              <a:xfrm>
                <a:off x="4161096" y="3729707"/>
                <a:ext cx="1559044" cy="743409"/>
              </a:xfrm>
              <a:prstGeom prst="rect">
                <a:avLst/>
              </a:prstGeom>
              <a:blipFill>
                <a:blip r:embed="rId5"/>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직사각형 10">
                <a:extLst>
                  <a:ext uri="{FF2B5EF4-FFF2-40B4-BE49-F238E27FC236}">
                    <a16:creationId xmlns:a16="http://schemas.microsoft.com/office/drawing/2014/main" id="{AB8A348D-B69F-48B5-8CEE-C8EBA6F9637A}"/>
                  </a:ext>
                </a:extLst>
              </p:cNvPr>
              <p:cNvSpPr/>
              <p:nvPr/>
            </p:nvSpPr>
            <p:spPr>
              <a:xfrm>
                <a:off x="671261" y="4528165"/>
                <a:ext cx="8632825" cy="9716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0975" lvl="1">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 Mean </a:t>
                </a:r>
                <a14:m>
                  <m:oMath xmlns:m="http://schemas.openxmlformats.org/officeDocument/2006/math">
                    <m:r>
                      <a:rPr lang="en-US" altLang="ko-KR" sz="1300">
                        <a:solidFill>
                          <a:prstClr val="black">
                            <a:lumMod val="85000"/>
                            <a:lumOff val="15000"/>
                          </a:prstClr>
                        </a:solidFill>
                        <a:latin typeface="Cambria Math" panose="02040503050406030204" pitchFamily="18" charset="0"/>
                        <a:ea typeface="SamsungOne 400" panose="020B0503030303020204" pitchFamily="34" charset="0"/>
                      </a:rPr>
                      <m:t>=</m:t>
                    </m:r>
                    <m:r>
                      <a:rPr lang="ko-KR" altLang="en-US" sz="1300" smtClean="0">
                        <a:solidFill>
                          <a:srgbClr val="FF0000"/>
                        </a:solidFill>
                        <a:latin typeface="Cambria Math" panose="02040503050406030204" pitchFamily="18" charset="0"/>
                        <a:ea typeface="SamsungOne 400" panose="020B0503030303020204" pitchFamily="34" charset="0"/>
                      </a:rPr>
                      <m:t>𝜆</m:t>
                    </m:r>
                  </m:oMath>
                </a14:m>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0975" lvl="1">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b) Variance </a:t>
                </a:r>
                <a14:m>
                  <m:oMath xmlns:m="http://schemas.openxmlformats.org/officeDocument/2006/math">
                    <m:r>
                      <a:rPr lang="en-US" altLang="ko-KR" sz="1300">
                        <a:solidFill>
                          <a:prstClr val="black">
                            <a:lumMod val="85000"/>
                            <a:lumOff val="15000"/>
                          </a:prstClr>
                        </a:solidFill>
                        <a:latin typeface="Cambria Math" panose="02040503050406030204" pitchFamily="18" charset="0"/>
                        <a:ea typeface="SamsungOne 400" panose="020B0503030303020204" pitchFamily="34" charset="0"/>
                      </a:rPr>
                      <m:t>=</m:t>
                    </m:r>
                    <m:r>
                      <a:rPr lang="ko-KR" altLang="en-US" sz="1300" smtClean="0">
                        <a:solidFill>
                          <a:srgbClr val="FF0000"/>
                        </a:solidFill>
                        <a:latin typeface="Cambria Math" panose="02040503050406030204" pitchFamily="18" charset="0"/>
                        <a:ea typeface="SamsungOne 400" panose="020B0503030303020204" pitchFamily="34" charset="0"/>
                      </a:rPr>
                      <m:t>𝜆</m:t>
                    </m:r>
                  </m:oMath>
                </a14:m>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0975" lvl="1">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 Standard deviation </a:t>
                </a:r>
                <a14:m>
                  <m:oMath xmlns:m="http://schemas.openxmlformats.org/officeDocument/2006/math">
                    <m:r>
                      <a:rPr lang="en-US" altLang="ko-KR" sz="1300">
                        <a:solidFill>
                          <a:prstClr val="black">
                            <a:lumMod val="85000"/>
                            <a:lumOff val="15000"/>
                          </a:prstClr>
                        </a:solidFill>
                        <a:latin typeface="Cambria Math" panose="02040503050406030204" pitchFamily="18" charset="0"/>
                        <a:ea typeface="SamsungOne 400" panose="020B0503030303020204" pitchFamily="34" charset="0"/>
                      </a:rPr>
                      <m:t>=</m:t>
                    </m:r>
                    <m:rad>
                      <m:radPr>
                        <m:degHide m:val="on"/>
                        <m:ctrlPr>
                          <a:rPr lang="en-US" altLang="ko-KR" sz="1300" i="1">
                            <a:solidFill>
                              <a:prstClr val="black">
                                <a:lumMod val="85000"/>
                                <a:lumOff val="15000"/>
                              </a:prstClr>
                            </a:solidFill>
                            <a:latin typeface="Cambria Math" panose="02040503050406030204" pitchFamily="18" charset="0"/>
                            <a:ea typeface="SamsungOne 400" panose="020B0503030303020204" pitchFamily="34" charset="0"/>
                          </a:rPr>
                        </m:ctrlPr>
                      </m:radPr>
                      <m:deg/>
                      <m:e>
                        <m:r>
                          <a:rPr lang="ko-KR" altLang="en-US" sz="1300" smtClean="0">
                            <a:solidFill>
                              <a:srgbClr val="FF0000"/>
                            </a:solidFill>
                            <a:latin typeface="Cambria Math" panose="02040503050406030204" pitchFamily="18" charset="0"/>
                            <a:ea typeface="SamsungOne 400" panose="020B0503030303020204" pitchFamily="34" charset="0"/>
                          </a:rPr>
                          <m:t>𝜆</m:t>
                        </m:r>
                      </m:e>
                    </m:rad>
                  </m:oMath>
                </a14:m>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mc:Choice>
        <mc:Fallback xmlns="">
          <p:sp>
            <p:nvSpPr>
              <p:cNvPr id="11" name="직사각형 10">
                <a:extLst>
                  <a:ext uri="{FF2B5EF4-FFF2-40B4-BE49-F238E27FC236}">
                    <a16:creationId xmlns:a16="http://schemas.microsoft.com/office/drawing/2014/main" id="{AB8A348D-B69F-48B5-8CEE-C8EBA6F9637A}"/>
                  </a:ext>
                </a:extLst>
              </p:cNvPr>
              <p:cNvSpPr>
                <a:spLocks noRot="1" noChangeAspect="1" noMove="1" noResize="1" noEditPoints="1" noAdjustHandles="1" noChangeArrowheads="1" noChangeShapeType="1" noTextEdit="1"/>
              </p:cNvSpPr>
              <p:nvPr/>
            </p:nvSpPr>
            <p:spPr>
              <a:xfrm>
                <a:off x="671261" y="4528165"/>
                <a:ext cx="8632825" cy="971658"/>
              </a:xfrm>
              <a:prstGeom prst="rect">
                <a:avLst/>
              </a:prstGeom>
              <a:blipFill>
                <a:blip r:embed="rId6"/>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139315539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2.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6" name="직사각형 5">
            <a:extLst>
              <a:ext uri="{FF2B5EF4-FFF2-40B4-BE49-F238E27FC236}">
                <a16:creationId xmlns:a16="http://schemas.microsoft.com/office/drawing/2014/main" id="{88522452-0F25-4CFF-B4F1-4F97F94CF66D}"/>
              </a:ext>
            </a:extLst>
          </p:cNvPr>
          <p:cNvSpPr/>
          <p:nvPr/>
        </p:nvSpPr>
        <p:spPr>
          <a:xfrm>
            <a:off x="1054111" y="4364851"/>
            <a:ext cx="8325793" cy="1897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fontAlgn="base">
              <a:lnSpc>
                <a:spcPct val="100000"/>
              </a:lnSpc>
              <a:spcBef>
                <a:spcPct val="0"/>
              </a:spcBef>
              <a:spcAft>
                <a:spcPts val="1000"/>
              </a:spcAft>
              <a:buClrTx/>
              <a:buSzPct val="120000"/>
              <a:buBlip>
                <a:blip r:embed="rId3"/>
              </a:buBlip>
              <a:tabLst/>
              <a:defRPr/>
            </a:pPr>
            <a:r>
              <a:rPr lang="en-US" altLang="ko-KR" dirty="0">
                <a:solidFill>
                  <a:srgbClr val="A6A6A6"/>
                </a:solidFill>
                <a:latin typeface="SamsungOne 400" panose="020B0503030303020204" pitchFamily="34" charset="0"/>
                <a:ea typeface="SamsungOne 400" panose="020B0503030303020204" pitchFamily="34" charset="0"/>
              </a:rPr>
              <a:t>2.1. Training and Testing in Machine Learning</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2.2. Linear Regression Basics</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2.3. Linear Regression Diagnostics</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2.4. Other Regression Types</a:t>
            </a: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2.5. Practicing the Supervised Learning Model for Numerical Prediction</a:t>
            </a:r>
            <a:endParaRPr kumimoji="1" lang="ko-KR" altLang="en-US" dirty="0">
              <a:solidFill>
                <a:prstClr val="black">
                  <a:lumMod val="75000"/>
                  <a:lumOff val="25000"/>
                </a:prstClr>
              </a:solidFill>
              <a:latin typeface="SamsungOne-700" panose="020B0803030303020204" pitchFamily="34" charset="0"/>
              <a:ea typeface="SamsungOne-700" panose="020B0803030303020204" pitchFamily="34" charset="0"/>
            </a:endParaRPr>
          </a:p>
        </p:txBody>
      </p:sp>
      <p:sp>
        <p:nvSpPr>
          <p:cNvPr id="7" name="직사각형 133">
            <a:extLst>
              <a:ext uri="{FF2B5EF4-FFF2-40B4-BE49-F238E27FC236}">
                <a16:creationId xmlns:a16="http://schemas.microsoft.com/office/drawing/2014/main" id="{551F01E8-8777-4A7B-AD71-63E7C805C68C}"/>
              </a:ext>
            </a:extLst>
          </p:cNvPr>
          <p:cNvSpPr/>
          <p:nvPr/>
        </p:nvSpPr>
        <p:spPr>
          <a:xfrm>
            <a:off x="989683" y="3191956"/>
            <a:ext cx="8462229" cy="9848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Application of Supervised Learning Model for</a:t>
            </a:r>
            <a:r>
              <a:rPr kumimoji="1" lang="ko-KR" altLang="en-US" sz="3200" dirty="0">
                <a:solidFill>
                  <a:prstClr val="black"/>
                </a:solidFill>
                <a:latin typeface="Samsung Sharp Sans" pitchFamily="2" charset="0"/>
                <a:ea typeface="맑은 고딕" panose="020B0503020000020004" pitchFamily="50" charset="-127"/>
                <a:cs typeface="Samsung Sharp Sans" pitchFamily="2" charset="0"/>
              </a:rPr>
              <a:t> </a:t>
            </a: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Numerical Prediction</a:t>
            </a:r>
            <a:r>
              <a:rPr kumimoji="1" lang="ko-KR" altLang="en-US" sz="3200" dirty="0">
                <a:solidFill>
                  <a:prstClr val="black"/>
                </a:solidFill>
                <a:latin typeface="Samsung Sharp Sans" pitchFamily="2" charset="0"/>
                <a:ea typeface="맑은 고딕" panose="020B0503020000020004" pitchFamily="50" charset="-127"/>
                <a:cs typeface="Samsung Sharp Sans" pitchFamily="2" charset="0"/>
              </a:rPr>
              <a:t> </a:t>
            </a:r>
          </a:p>
        </p:txBody>
      </p:sp>
    </p:spTree>
    <p:extLst>
      <p:ext uri="{BB962C8B-B14F-4D97-AF65-F5344CB8AC3E}">
        <p14:creationId xmlns:p14="http://schemas.microsoft.com/office/powerpoint/2010/main" val="323557490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spc="-40" dirty="0">
                  <a:solidFill>
                    <a:schemeClr val="bg1"/>
                  </a:solidFill>
                  <a:latin typeface="Samsung Sharp Sans Medium" pitchFamily="2" charset="0"/>
                  <a:ea typeface="Samsung Sharp Sans Medium" pitchFamily="2" charset="0"/>
                  <a:cs typeface="Samsung Sharp Sans Medium" pitchFamily="2" charset="0"/>
                </a:rPr>
                <a:t>2.5. Practicing the Supervised Learning Model for Numerical Prediction</a:t>
              </a:r>
              <a:endParaRPr lang="ko-KR" altLang="en-US" spc="-40" dirty="0">
                <a:solidFill>
                  <a:schemeClr val="bg1"/>
                </a:solidFill>
                <a:latin typeface="Samsung Sharp Sans Medium" pitchFamily="2" charset="0"/>
                <a:ea typeface="Samsung Sharp Sans Medium" pitchFamily="2" charset="0"/>
                <a:cs typeface="Samsung Sharp Sans Medium" pitchFamily="2" charset="0"/>
              </a:endParaRP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02</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63014" y="1304764"/>
            <a:ext cx="9004986" cy="7386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Practicing the Supervised Learning Model for Numerical Prediction</a:t>
            </a:r>
            <a:endParaRPr lang="ko-KR" altLang="en-US" sz="2400" dirty="0">
              <a:solidFill>
                <a:schemeClr val="tx1">
                  <a:lumMod val="95000"/>
                  <a:lumOff val="5000"/>
                </a:schemeClr>
              </a:solidFill>
              <a:latin typeface="Samsung Sharp Sans" pitchFamily="2" charset="0"/>
              <a:ea typeface="Samsung Sharp Sans" pitchFamily="2" charset="0"/>
              <a:cs typeface="Samsung Sharp Sans" pitchFamily="2" charset="0"/>
            </a:endParaRPr>
          </a:p>
        </p:txBody>
      </p:sp>
      <p:sp>
        <p:nvSpPr>
          <p:cNvPr id="67" name="직사각형 66">
            <a:extLst>
              <a:ext uri="{FF2B5EF4-FFF2-40B4-BE49-F238E27FC236}">
                <a16:creationId xmlns:a16="http://schemas.microsoft.com/office/drawing/2014/main" id="{904F403B-52D6-4F44-A784-943EE9D951E5}"/>
              </a:ext>
            </a:extLst>
          </p:cNvPr>
          <p:cNvSpPr/>
          <p:nvPr/>
        </p:nvSpPr>
        <p:spPr>
          <a:xfrm>
            <a:off x="558800" y="2173178"/>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Import modules.</a:t>
            </a:r>
          </a:p>
        </p:txBody>
      </p:sp>
      <p:grpSp>
        <p:nvGrpSpPr>
          <p:cNvPr id="2" name="그룹 1"/>
          <p:cNvGrpSpPr/>
          <p:nvPr/>
        </p:nvGrpSpPr>
        <p:grpSpPr>
          <a:xfrm>
            <a:off x="666749" y="2474929"/>
            <a:ext cx="8677276" cy="1710155"/>
            <a:chOff x="666749" y="2444627"/>
            <a:chExt cx="8677276" cy="1710155"/>
          </a:xfrm>
        </p:grpSpPr>
        <p:sp>
          <p:nvSpPr>
            <p:cNvPr id="15" name="모서리가 둥근 직사각형 4">
              <a:extLst>
                <a:ext uri="{FF2B5EF4-FFF2-40B4-BE49-F238E27FC236}">
                  <a16:creationId xmlns:a16="http://schemas.microsoft.com/office/drawing/2014/main" id="{52115D30-37BA-4FC7-BCAE-E1B4A2EFCDE9}"/>
                </a:ext>
              </a:extLst>
            </p:cNvPr>
            <p:cNvSpPr/>
            <p:nvPr/>
          </p:nvSpPr>
          <p:spPr>
            <a:xfrm>
              <a:off x="666749" y="2444627"/>
              <a:ext cx="8677276" cy="1710155"/>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16" name="그림 15">
              <a:extLst>
                <a:ext uri="{FF2B5EF4-FFF2-40B4-BE49-F238E27FC236}">
                  <a16:creationId xmlns:a16="http://schemas.microsoft.com/office/drawing/2014/main" id="{D456A4B5-AC3C-4516-A098-DB7BBF2AAA57}"/>
                </a:ext>
              </a:extLst>
            </p:cNvPr>
            <p:cNvPicPr>
              <a:picLocks noChangeAspect="1"/>
            </p:cNvPicPr>
            <p:nvPr/>
          </p:nvPicPr>
          <p:blipFill rotWithShape="1">
            <a:blip r:embed="rId4"/>
            <a:srcRect l="1939" r="22039"/>
            <a:stretch/>
          </p:blipFill>
          <p:spPr>
            <a:xfrm>
              <a:off x="847725" y="2492896"/>
              <a:ext cx="8496300" cy="1612578"/>
            </a:xfrm>
            <a:prstGeom prst="rect">
              <a:avLst/>
            </a:prstGeom>
            <a:ln>
              <a:noFill/>
            </a:ln>
          </p:spPr>
        </p:pic>
      </p:grpSp>
    </p:spTree>
    <p:extLst>
      <p:ext uri="{BB962C8B-B14F-4D97-AF65-F5344CB8AC3E}">
        <p14:creationId xmlns:p14="http://schemas.microsoft.com/office/powerpoint/2010/main" val="122535083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8B1BC1D-DFB7-4482-BA23-F01AD71B1BBE}"/>
              </a:ext>
            </a:extLst>
          </p:cNvPr>
          <p:cNvSpPr/>
          <p:nvPr/>
        </p:nvSpPr>
        <p:spPr>
          <a:xfrm>
            <a:off x="546895" y="1523719"/>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Coding Exercise #0302</a:t>
            </a:r>
          </a:p>
        </p:txBody>
      </p:sp>
      <p:grpSp>
        <p:nvGrpSpPr>
          <p:cNvPr id="11" name="그룹 10">
            <a:extLst>
              <a:ext uri="{FF2B5EF4-FFF2-40B4-BE49-F238E27FC236}">
                <a16:creationId xmlns:a16="http://schemas.microsoft.com/office/drawing/2014/main" id="{A2A7775F-AE07-4A60-B96A-7B00D8607BDB}"/>
              </a:ext>
            </a:extLst>
          </p:cNvPr>
          <p:cNvGrpSpPr/>
          <p:nvPr/>
        </p:nvGrpSpPr>
        <p:grpSpPr>
          <a:xfrm>
            <a:off x="558798" y="2060849"/>
            <a:ext cx="8797129" cy="3960439"/>
            <a:chOff x="558798" y="2060849"/>
            <a:chExt cx="8797129" cy="3960439"/>
          </a:xfrm>
        </p:grpSpPr>
        <p:sp>
          <p:nvSpPr>
            <p:cNvPr id="12" name="직사각형 11">
              <a:extLst>
                <a:ext uri="{FF2B5EF4-FFF2-40B4-BE49-F238E27FC236}">
                  <a16:creationId xmlns:a16="http://schemas.microsoft.com/office/drawing/2014/main" id="{0E2B63F1-717C-45E5-9484-DF4505693008}"/>
                </a:ext>
              </a:extLst>
            </p:cNvPr>
            <p:cNvSpPr/>
            <p:nvPr/>
          </p:nvSpPr>
          <p:spPr>
            <a:xfrm>
              <a:off x="558799" y="2060849"/>
              <a:ext cx="8785225" cy="3960439"/>
            </a:xfrm>
            <a:prstGeom prst="rect">
              <a:avLst/>
            </a:prstGeom>
            <a:solidFill>
              <a:schemeClr val="accent5">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5" name="그룹 14">
              <a:extLst>
                <a:ext uri="{FF2B5EF4-FFF2-40B4-BE49-F238E27FC236}">
                  <a16:creationId xmlns:a16="http://schemas.microsoft.com/office/drawing/2014/main" id="{AC1F47E5-59C0-4468-B93D-A8F7F0C32C93}"/>
                </a:ext>
              </a:extLst>
            </p:cNvPr>
            <p:cNvGrpSpPr/>
            <p:nvPr/>
          </p:nvGrpSpPr>
          <p:grpSpPr>
            <a:xfrm>
              <a:off x="558798" y="3945816"/>
              <a:ext cx="8797129" cy="576572"/>
              <a:chOff x="4778069" y="4391025"/>
              <a:chExt cx="2349160" cy="431802"/>
            </a:xfrm>
          </p:grpSpPr>
          <p:sp>
            <p:nvSpPr>
              <p:cNvPr id="18" name="직사각형 17">
                <a:extLst>
                  <a:ext uri="{FF2B5EF4-FFF2-40B4-BE49-F238E27FC236}">
                    <a16:creationId xmlns:a16="http://schemas.microsoft.com/office/drawing/2014/main" id="{3C6A9AF5-127F-406D-B69A-2777F03F88E5}"/>
                  </a:ext>
                </a:extLst>
              </p:cNvPr>
              <p:cNvSpPr/>
              <p:nvPr/>
            </p:nvSpPr>
            <p:spPr>
              <a:xfrm>
                <a:off x="4778069" y="4391025"/>
                <a:ext cx="2349160" cy="431802"/>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sp3d>
                  <a:bevelT w="0" h="6350"/>
                </a:sp3d>
              </a:bodyPr>
              <a:lstStyle/>
              <a:p>
                <a:pPr algn="ctr"/>
                <a:endParaRPr lang="ko-KR" altLang="en-US" sz="2000" dirty="0"/>
              </a:p>
            </p:txBody>
          </p:sp>
          <p:sp>
            <p:nvSpPr>
              <p:cNvPr id="21" name="직사각형 133">
                <a:extLst>
                  <a:ext uri="{FF2B5EF4-FFF2-40B4-BE49-F238E27FC236}">
                    <a16:creationId xmlns:a16="http://schemas.microsoft.com/office/drawing/2014/main" id="{21A3736B-043B-48A0-AE25-A04C3CBB178F}"/>
                  </a:ext>
                </a:extLst>
              </p:cNvPr>
              <p:cNvSpPr/>
              <p:nvPr/>
            </p:nvSpPr>
            <p:spPr>
              <a:xfrm>
                <a:off x="4852511" y="4528465"/>
                <a:ext cx="2200275" cy="230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lgn="ctr"/>
                <a:r>
                  <a:rPr lang="en-US" altLang="ko-KR" sz="2000" dirty="0">
                    <a:solidFill>
                      <a:schemeClr val="bg1"/>
                    </a:solidFill>
                    <a:latin typeface="SamsungOne 700" panose="020B0803030303020204" pitchFamily="34" charset="0"/>
                    <a:ea typeface="SamsungOne 700" panose="020B0803030303020204" pitchFamily="34" charset="0"/>
                    <a:cs typeface="Samsung Sharp Sans" pitchFamily="2" charset="0"/>
                  </a:rPr>
                  <a:t>Follow practice steps on 'ex_0302.ipynb’ file.</a:t>
                </a:r>
              </a:p>
            </p:txBody>
          </p:sp>
        </p:grpSp>
        <p:pic>
          <p:nvPicPr>
            <p:cNvPr id="16" name="그림 15" descr="텍스트, 클립아트이(가) 표시된 사진&#10;&#10;자동 생성된 설명">
              <a:extLst>
                <a:ext uri="{FF2B5EF4-FFF2-40B4-BE49-F238E27FC236}">
                  <a16:creationId xmlns:a16="http://schemas.microsoft.com/office/drawing/2014/main" id="{70D03265-398A-4B21-9492-31D700046C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93" t="14475" r="51947" b="14299"/>
            <a:stretch/>
          </p:blipFill>
          <p:spPr>
            <a:xfrm>
              <a:off x="4370123" y="2647560"/>
              <a:ext cx="1162577" cy="1174440"/>
            </a:xfrm>
            <a:prstGeom prst="ellipse">
              <a:avLst/>
            </a:prstGeom>
          </p:spPr>
        </p:pic>
      </p:grpSp>
      <p:grpSp>
        <p:nvGrpSpPr>
          <p:cNvPr id="13" name="그룹 1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4" name="직사각형 1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spc="-40" dirty="0">
                  <a:solidFill>
                    <a:schemeClr val="bg1"/>
                  </a:solidFill>
                  <a:latin typeface="Samsung Sharp Sans Medium" pitchFamily="2" charset="0"/>
                  <a:ea typeface="Samsung Sharp Sans Medium" pitchFamily="2" charset="0"/>
                  <a:cs typeface="Samsung Sharp Sans Medium" pitchFamily="2" charset="0"/>
                </a:rPr>
                <a:t>2.5. Practicing the Supervised Learning Model for Numerical Prediction</a:t>
              </a:r>
              <a:endParaRPr lang="ko-KR" altLang="en-US" spc="-40" dirty="0">
                <a:solidFill>
                  <a:schemeClr val="bg1"/>
                </a:solidFill>
                <a:latin typeface="Samsung Sharp Sans Medium" pitchFamily="2" charset="0"/>
                <a:ea typeface="Samsung Sharp Sans Medium" pitchFamily="2" charset="0"/>
                <a:cs typeface="Samsung Sharp Sans Medium" pitchFamily="2" charset="0"/>
              </a:endParaRP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 Sharp Sans Medium" pitchFamily="2" charset="0"/>
                  <a:ea typeface="Samsung Sharp Sans Medium" pitchFamily="2" charset="0"/>
                  <a:cs typeface="Samsung Sharp Sans 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Tree>
    <p:extLst>
      <p:ext uri="{BB962C8B-B14F-4D97-AF65-F5344CB8AC3E}">
        <p14:creationId xmlns:p14="http://schemas.microsoft.com/office/powerpoint/2010/main" val="35625606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8B1BC1D-DFB7-4482-BA23-F01AD71B1BBE}"/>
              </a:ext>
            </a:extLst>
          </p:cNvPr>
          <p:cNvSpPr/>
          <p:nvPr/>
        </p:nvSpPr>
        <p:spPr>
          <a:xfrm>
            <a:off x="546895" y="1523719"/>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Coding Exercise #0303</a:t>
            </a:r>
          </a:p>
        </p:txBody>
      </p:sp>
      <p:grpSp>
        <p:nvGrpSpPr>
          <p:cNvPr id="11" name="그룹 10">
            <a:extLst>
              <a:ext uri="{FF2B5EF4-FFF2-40B4-BE49-F238E27FC236}">
                <a16:creationId xmlns:a16="http://schemas.microsoft.com/office/drawing/2014/main" id="{A2A7775F-AE07-4A60-B96A-7B00D8607BDB}"/>
              </a:ext>
            </a:extLst>
          </p:cNvPr>
          <p:cNvGrpSpPr/>
          <p:nvPr/>
        </p:nvGrpSpPr>
        <p:grpSpPr>
          <a:xfrm>
            <a:off x="558798" y="2060849"/>
            <a:ext cx="8797129" cy="3960439"/>
            <a:chOff x="558798" y="2060849"/>
            <a:chExt cx="8797129" cy="3960439"/>
          </a:xfrm>
        </p:grpSpPr>
        <p:sp>
          <p:nvSpPr>
            <p:cNvPr id="12" name="직사각형 11">
              <a:extLst>
                <a:ext uri="{FF2B5EF4-FFF2-40B4-BE49-F238E27FC236}">
                  <a16:creationId xmlns:a16="http://schemas.microsoft.com/office/drawing/2014/main" id="{0E2B63F1-717C-45E5-9484-DF4505693008}"/>
                </a:ext>
              </a:extLst>
            </p:cNvPr>
            <p:cNvSpPr/>
            <p:nvPr/>
          </p:nvSpPr>
          <p:spPr>
            <a:xfrm>
              <a:off x="558799" y="2060849"/>
              <a:ext cx="8785225" cy="3960439"/>
            </a:xfrm>
            <a:prstGeom prst="rect">
              <a:avLst/>
            </a:prstGeom>
            <a:solidFill>
              <a:schemeClr val="accent5">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5" name="그룹 14">
              <a:extLst>
                <a:ext uri="{FF2B5EF4-FFF2-40B4-BE49-F238E27FC236}">
                  <a16:creationId xmlns:a16="http://schemas.microsoft.com/office/drawing/2014/main" id="{AC1F47E5-59C0-4468-B93D-A8F7F0C32C93}"/>
                </a:ext>
              </a:extLst>
            </p:cNvPr>
            <p:cNvGrpSpPr/>
            <p:nvPr/>
          </p:nvGrpSpPr>
          <p:grpSpPr>
            <a:xfrm>
              <a:off x="558798" y="3945816"/>
              <a:ext cx="8797129" cy="576572"/>
              <a:chOff x="4778069" y="4391025"/>
              <a:chExt cx="2349160" cy="431802"/>
            </a:xfrm>
          </p:grpSpPr>
          <p:sp>
            <p:nvSpPr>
              <p:cNvPr id="18" name="직사각형 17">
                <a:extLst>
                  <a:ext uri="{FF2B5EF4-FFF2-40B4-BE49-F238E27FC236}">
                    <a16:creationId xmlns:a16="http://schemas.microsoft.com/office/drawing/2014/main" id="{3C6A9AF5-127F-406D-B69A-2777F03F88E5}"/>
                  </a:ext>
                </a:extLst>
              </p:cNvPr>
              <p:cNvSpPr/>
              <p:nvPr/>
            </p:nvSpPr>
            <p:spPr>
              <a:xfrm>
                <a:off x="4778069" y="4391025"/>
                <a:ext cx="2349160" cy="431802"/>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sp3d>
                  <a:bevelT w="0" h="6350"/>
                </a:sp3d>
              </a:bodyPr>
              <a:lstStyle/>
              <a:p>
                <a:pPr algn="ctr"/>
                <a:endParaRPr lang="ko-KR" altLang="en-US" sz="2000" dirty="0"/>
              </a:p>
            </p:txBody>
          </p:sp>
          <p:sp>
            <p:nvSpPr>
              <p:cNvPr id="21" name="직사각형 133">
                <a:extLst>
                  <a:ext uri="{FF2B5EF4-FFF2-40B4-BE49-F238E27FC236}">
                    <a16:creationId xmlns:a16="http://schemas.microsoft.com/office/drawing/2014/main" id="{21A3736B-043B-48A0-AE25-A04C3CBB178F}"/>
                  </a:ext>
                </a:extLst>
              </p:cNvPr>
              <p:cNvSpPr/>
              <p:nvPr/>
            </p:nvSpPr>
            <p:spPr>
              <a:xfrm>
                <a:off x="4852511" y="4528465"/>
                <a:ext cx="2200275" cy="230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lgn="ctr"/>
                <a:r>
                  <a:rPr lang="en-US" altLang="ko-KR" sz="2000" dirty="0">
                    <a:solidFill>
                      <a:schemeClr val="bg1"/>
                    </a:solidFill>
                    <a:latin typeface="SamsungOne 700" panose="020B0803030303020204" pitchFamily="34" charset="0"/>
                    <a:ea typeface="SamsungOne 700" panose="020B0803030303020204" pitchFamily="34" charset="0"/>
                    <a:cs typeface="Samsung Sharp Sans" pitchFamily="2" charset="0"/>
                  </a:rPr>
                  <a:t>Follow practice steps on 'ex_0303.ipynb’ file.</a:t>
                </a:r>
              </a:p>
            </p:txBody>
          </p:sp>
        </p:grpSp>
        <p:pic>
          <p:nvPicPr>
            <p:cNvPr id="16" name="그림 15" descr="텍스트, 클립아트이(가) 표시된 사진&#10;&#10;자동 생성된 설명">
              <a:extLst>
                <a:ext uri="{FF2B5EF4-FFF2-40B4-BE49-F238E27FC236}">
                  <a16:creationId xmlns:a16="http://schemas.microsoft.com/office/drawing/2014/main" id="{70D03265-398A-4B21-9492-31D700046C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93" t="14475" r="51947" b="14299"/>
            <a:stretch/>
          </p:blipFill>
          <p:spPr>
            <a:xfrm>
              <a:off x="4370123" y="2647560"/>
              <a:ext cx="1162577" cy="1174440"/>
            </a:xfrm>
            <a:prstGeom prst="ellipse">
              <a:avLst/>
            </a:prstGeom>
          </p:spPr>
        </p:pic>
      </p:grpSp>
      <p:grpSp>
        <p:nvGrpSpPr>
          <p:cNvPr id="13" name="그룹 1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4" name="직사각형 1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spc="-40" dirty="0">
                  <a:solidFill>
                    <a:schemeClr val="bg1"/>
                  </a:solidFill>
                  <a:latin typeface="Samsung Sharp Sans Medium" pitchFamily="2" charset="0"/>
                  <a:ea typeface="Samsung Sharp Sans Medium" pitchFamily="2" charset="0"/>
                  <a:cs typeface="Samsung Sharp Sans Medium" pitchFamily="2" charset="0"/>
                </a:rPr>
                <a:t>2.5. Practicing the Supervised Learning Model for Numerical Prediction</a:t>
              </a:r>
              <a:endParaRPr lang="ko-KR" altLang="en-US" spc="-40" dirty="0">
                <a:solidFill>
                  <a:schemeClr val="bg1"/>
                </a:solidFill>
                <a:latin typeface="Samsung Sharp Sans Medium" pitchFamily="2" charset="0"/>
                <a:ea typeface="Samsung Sharp Sans Medium" pitchFamily="2" charset="0"/>
                <a:cs typeface="Samsung Sharp Sans Medium" pitchFamily="2" charset="0"/>
              </a:endParaRP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 Sharp Sans Medium" pitchFamily="2" charset="0"/>
                  <a:ea typeface="Samsung Sharp Sans Medium" pitchFamily="2" charset="0"/>
                  <a:cs typeface="Samsung Sharp Sans 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Tree>
    <p:extLst>
      <p:ext uri="{BB962C8B-B14F-4D97-AF65-F5344CB8AC3E}">
        <p14:creationId xmlns:p14="http://schemas.microsoft.com/office/powerpoint/2010/main" val="129312738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8B1BC1D-DFB7-4482-BA23-F01AD71B1BBE}"/>
              </a:ext>
            </a:extLst>
          </p:cNvPr>
          <p:cNvSpPr/>
          <p:nvPr/>
        </p:nvSpPr>
        <p:spPr>
          <a:xfrm>
            <a:off x="546895" y="1523719"/>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Coding Exercise #0304</a:t>
            </a:r>
          </a:p>
        </p:txBody>
      </p:sp>
      <p:grpSp>
        <p:nvGrpSpPr>
          <p:cNvPr id="11" name="그룹 10">
            <a:extLst>
              <a:ext uri="{FF2B5EF4-FFF2-40B4-BE49-F238E27FC236}">
                <a16:creationId xmlns:a16="http://schemas.microsoft.com/office/drawing/2014/main" id="{A2A7775F-AE07-4A60-B96A-7B00D8607BDB}"/>
              </a:ext>
            </a:extLst>
          </p:cNvPr>
          <p:cNvGrpSpPr/>
          <p:nvPr/>
        </p:nvGrpSpPr>
        <p:grpSpPr>
          <a:xfrm>
            <a:off x="558798" y="2060849"/>
            <a:ext cx="8797129" cy="3960439"/>
            <a:chOff x="558798" y="2060849"/>
            <a:chExt cx="8797129" cy="3960439"/>
          </a:xfrm>
        </p:grpSpPr>
        <p:sp>
          <p:nvSpPr>
            <p:cNvPr id="12" name="직사각형 11">
              <a:extLst>
                <a:ext uri="{FF2B5EF4-FFF2-40B4-BE49-F238E27FC236}">
                  <a16:creationId xmlns:a16="http://schemas.microsoft.com/office/drawing/2014/main" id="{0E2B63F1-717C-45E5-9484-DF4505693008}"/>
                </a:ext>
              </a:extLst>
            </p:cNvPr>
            <p:cNvSpPr/>
            <p:nvPr/>
          </p:nvSpPr>
          <p:spPr>
            <a:xfrm>
              <a:off x="558799" y="2060849"/>
              <a:ext cx="8785225" cy="3960439"/>
            </a:xfrm>
            <a:prstGeom prst="rect">
              <a:avLst/>
            </a:prstGeom>
            <a:solidFill>
              <a:schemeClr val="accent5">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5" name="그룹 14">
              <a:extLst>
                <a:ext uri="{FF2B5EF4-FFF2-40B4-BE49-F238E27FC236}">
                  <a16:creationId xmlns:a16="http://schemas.microsoft.com/office/drawing/2014/main" id="{AC1F47E5-59C0-4468-B93D-A8F7F0C32C93}"/>
                </a:ext>
              </a:extLst>
            </p:cNvPr>
            <p:cNvGrpSpPr/>
            <p:nvPr/>
          </p:nvGrpSpPr>
          <p:grpSpPr>
            <a:xfrm>
              <a:off x="558798" y="3945816"/>
              <a:ext cx="8797129" cy="576572"/>
              <a:chOff x="4778069" y="4391025"/>
              <a:chExt cx="2349160" cy="431802"/>
            </a:xfrm>
          </p:grpSpPr>
          <p:sp>
            <p:nvSpPr>
              <p:cNvPr id="18" name="직사각형 17">
                <a:extLst>
                  <a:ext uri="{FF2B5EF4-FFF2-40B4-BE49-F238E27FC236}">
                    <a16:creationId xmlns:a16="http://schemas.microsoft.com/office/drawing/2014/main" id="{3C6A9AF5-127F-406D-B69A-2777F03F88E5}"/>
                  </a:ext>
                </a:extLst>
              </p:cNvPr>
              <p:cNvSpPr/>
              <p:nvPr/>
            </p:nvSpPr>
            <p:spPr>
              <a:xfrm>
                <a:off x="4778069" y="4391025"/>
                <a:ext cx="2349160" cy="431802"/>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sp3d>
                  <a:bevelT w="0" h="6350"/>
                </a:sp3d>
              </a:bodyPr>
              <a:lstStyle/>
              <a:p>
                <a:pPr algn="ctr"/>
                <a:endParaRPr lang="ko-KR" altLang="en-US" sz="2000" dirty="0"/>
              </a:p>
            </p:txBody>
          </p:sp>
          <p:sp>
            <p:nvSpPr>
              <p:cNvPr id="21" name="직사각형 133">
                <a:extLst>
                  <a:ext uri="{FF2B5EF4-FFF2-40B4-BE49-F238E27FC236}">
                    <a16:creationId xmlns:a16="http://schemas.microsoft.com/office/drawing/2014/main" id="{21A3736B-043B-48A0-AE25-A04C3CBB178F}"/>
                  </a:ext>
                </a:extLst>
              </p:cNvPr>
              <p:cNvSpPr/>
              <p:nvPr/>
            </p:nvSpPr>
            <p:spPr>
              <a:xfrm>
                <a:off x="4852511" y="4528465"/>
                <a:ext cx="2200275" cy="230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lgn="ctr"/>
                <a:r>
                  <a:rPr lang="en-US" altLang="ko-KR" sz="2000" dirty="0">
                    <a:solidFill>
                      <a:schemeClr val="bg1"/>
                    </a:solidFill>
                    <a:latin typeface="SamsungOne 700" panose="020B0803030303020204" pitchFamily="34" charset="0"/>
                    <a:ea typeface="SamsungOne 700" panose="020B0803030303020204" pitchFamily="34" charset="0"/>
                    <a:cs typeface="Samsung Sharp Sans" pitchFamily="2" charset="0"/>
                  </a:rPr>
                  <a:t>Follow practice steps on 'ex_0304.ipynb’ file.</a:t>
                </a:r>
              </a:p>
            </p:txBody>
          </p:sp>
        </p:grpSp>
        <p:pic>
          <p:nvPicPr>
            <p:cNvPr id="16" name="그림 15" descr="텍스트, 클립아트이(가) 표시된 사진&#10;&#10;자동 생성된 설명">
              <a:extLst>
                <a:ext uri="{FF2B5EF4-FFF2-40B4-BE49-F238E27FC236}">
                  <a16:creationId xmlns:a16="http://schemas.microsoft.com/office/drawing/2014/main" id="{70D03265-398A-4B21-9492-31D700046C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93" t="14475" r="51947" b="14299"/>
            <a:stretch/>
          </p:blipFill>
          <p:spPr>
            <a:xfrm>
              <a:off x="4370123" y="2647560"/>
              <a:ext cx="1162577" cy="1174440"/>
            </a:xfrm>
            <a:prstGeom prst="ellipse">
              <a:avLst/>
            </a:prstGeom>
          </p:spPr>
        </p:pic>
      </p:grpSp>
      <p:grpSp>
        <p:nvGrpSpPr>
          <p:cNvPr id="13" name="그룹 1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4" name="직사각형 1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spc="-40" dirty="0">
                  <a:solidFill>
                    <a:schemeClr val="bg1"/>
                  </a:solidFill>
                  <a:latin typeface="Samsung Sharp Sans Medium" pitchFamily="2" charset="0"/>
                  <a:ea typeface="Samsung Sharp Sans Medium" pitchFamily="2" charset="0"/>
                  <a:cs typeface="Samsung Sharp Sans Medium" pitchFamily="2" charset="0"/>
                </a:rPr>
                <a:t>2.5. Practicing the Supervised Learning Model for Numerical Prediction</a:t>
              </a:r>
              <a:endParaRPr lang="ko-KR" altLang="en-US" spc="-40" dirty="0">
                <a:solidFill>
                  <a:schemeClr val="bg1"/>
                </a:solidFill>
                <a:latin typeface="Samsung Sharp Sans Medium" pitchFamily="2" charset="0"/>
                <a:ea typeface="Samsung Sharp Sans Medium" pitchFamily="2" charset="0"/>
                <a:cs typeface="Samsung Sharp Sans Medium" pitchFamily="2" charset="0"/>
              </a:endParaRP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 Sharp Sans Medium" pitchFamily="2" charset="0"/>
                  <a:ea typeface="Samsung Sharp Sans Medium" pitchFamily="2" charset="0"/>
                  <a:cs typeface="Samsung Sharp Sans 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Tree>
    <p:extLst>
      <p:ext uri="{BB962C8B-B14F-4D97-AF65-F5344CB8AC3E}">
        <p14:creationId xmlns:p14="http://schemas.microsoft.com/office/powerpoint/2010/main" val="400249313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8B1BC1D-DFB7-4482-BA23-F01AD71B1BBE}"/>
              </a:ext>
            </a:extLst>
          </p:cNvPr>
          <p:cNvSpPr/>
          <p:nvPr/>
        </p:nvSpPr>
        <p:spPr>
          <a:xfrm>
            <a:off x="546895" y="1523719"/>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Coding Exercise #0305</a:t>
            </a:r>
          </a:p>
        </p:txBody>
      </p:sp>
      <p:grpSp>
        <p:nvGrpSpPr>
          <p:cNvPr id="11" name="그룹 10">
            <a:extLst>
              <a:ext uri="{FF2B5EF4-FFF2-40B4-BE49-F238E27FC236}">
                <a16:creationId xmlns:a16="http://schemas.microsoft.com/office/drawing/2014/main" id="{A2A7775F-AE07-4A60-B96A-7B00D8607BDB}"/>
              </a:ext>
            </a:extLst>
          </p:cNvPr>
          <p:cNvGrpSpPr/>
          <p:nvPr/>
        </p:nvGrpSpPr>
        <p:grpSpPr>
          <a:xfrm>
            <a:off x="558798" y="2060849"/>
            <a:ext cx="8797129" cy="3960439"/>
            <a:chOff x="558798" y="2060849"/>
            <a:chExt cx="8797129" cy="3960439"/>
          </a:xfrm>
        </p:grpSpPr>
        <p:sp>
          <p:nvSpPr>
            <p:cNvPr id="12" name="직사각형 11">
              <a:extLst>
                <a:ext uri="{FF2B5EF4-FFF2-40B4-BE49-F238E27FC236}">
                  <a16:creationId xmlns:a16="http://schemas.microsoft.com/office/drawing/2014/main" id="{0E2B63F1-717C-45E5-9484-DF4505693008}"/>
                </a:ext>
              </a:extLst>
            </p:cNvPr>
            <p:cNvSpPr/>
            <p:nvPr/>
          </p:nvSpPr>
          <p:spPr>
            <a:xfrm>
              <a:off x="558799" y="2060849"/>
              <a:ext cx="8785225" cy="3960439"/>
            </a:xfrm>
            <a:prstGeom prst="rect">
              <a:avLst/>
            </a:prstGeom>
            <a:solidFill>
              <a:schemeClr val="accent5">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5" name="그룹 14">
              <a:extLst>
                <a:ext uri="{FF2B5EF4-FFF2-40B4-BE49-F238E27FC236}">
                  <a16:creationId xmlns:a16="http://schemas.microsoft.com/office/drawing/2014/main" id="{AC1F47E5-59C0-4468-B93D-A8F7F0C32C93}"/>
                </a:ext>
              </a:extLst>
            </p:cNvPr>
            <p:cNvGrpSpPr/>
            <p:nvPr/>
          </p:nvGrpSpPr>
          <p:grpSpPr>
            <a:xfrm>
              <a:off x="558798" y="3945816"/>
              <a:ext cx="8797129" cy="576572"/>
              <a:chOff x="4778069" y="4391025"/>
              <a:chExt cx="2349160" cy="431802"/>
            </a:xfrm>
          </p:grpSpPr>
          <p:sp>
            <p:nvSpPr>
              <p:cNvPr id="18" name="직사각형 17">
                <a:extLst>
                  <a:ext uri="{FF2B5EF4-FFF2-40B4-BE49-F238E27FC236}">
                    <a16:creationId xmlns:a16="http://schemas.microsoft.com/office/drawing/2014/main" id="{3C6A9AF5-127F-406D-B69A-2777F03F88E5}"/>
                  </a:ext>
                </a:extLst>
              </p:cNvPr>
              <p:cNvSpPr/>
              <p:nvPr/>
            </p:nvSpPr>
            <p:spPr>
              <a:xfrm>
                <a:off x="4778069" y="4391025"/>
                <a:ext cx="2349160" cy="431802"/>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sp3d>
                  <a:bevelT w="0" h="6350"/>
                </a:sp3d>
              </a:bodyPr>
              <a:lstStyle/>
              <a:p>
                <a:pPr algn="ctr"/>
                <a:endParaRPr lang="ko-KR" altLang="en-US" sz="2000" dirty="0"/>
              </a:p>
            </p:txBody>
          </p:sp>
          <p:sp>
            <p:nvSpPr>
              <p:cNvPr id="21" name="직사각형 133">
                <a:extLst>
                  <a:ext uri="{FF2B5EF4-FFF2-40B4-BE49-F238E27FC236}">
                    <a16:creationId xmlns:a16="http://schemas.microsoft.com/office/drawing/2014/main" id="{21A3736B-043B-48A0-AE25-A04C3CBB178F}"/>
                  </a:ext>
                </a:extLst>
              </p:cNvPr>
              <p:cNvSpPr/>
              <p:nvPr/>
            </p:nvSpPr>
            <p:spPr>
              <a:xfrm>
                <a:off x="4852511" y="4528465"/>
                <a:ext cx="2200275" cy="230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lgn="ctr"/>
                <a:r>
                  <a:rPr lang="en-US" altLang="ko-KR" sz="2000" dirty="0">
                    <a:solidFill>
                      <a:schemeClr val="bg1"/>
                    </a:solidFill>
                    <a:latin typeface="SamsungOne 700" panose="020B0803030303020204" pitchFamily="34" charset="0"/>
                    <a:ea typeface="SamsungOne 700" panose="020B0803030303020204" pitchFamily="34" charset="0"/>
                    <a:cs typeface="Samsung Sharp Sans" pitchFamily="2" charset="0"/>
                  </a:rPr>
                  <a:t>Follow practice steps on 'ex_0305.ipynb’ file.</a:t>
                </a:r>
              </a:p>
            </p:txBody>
          </p:sp>
        </p:grpSp>
        <p:pic>
          <p:nvPicPr>
            <p:cNvPr id="16" name="그림 15" descr="텍스트, 클립아트이(가) 표시된 사진&#10;&#10;자동 생성된 설명">
              <a:extLst>
                <a:ext uri="{FF2B5EF4-FFF2-40B4-BE49-F238E27FC236}">
                  <a16:creationId xmlns:a16="http://schemas.microsoft.com/office/drawing/2014/main" id="{70D03265-398A-4B21-9492-31D700046C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93" t="14475" r="51947" b="14299"/>
            <a:stretch/>
          </p:blipFill>
          <p:spPr>
            <a:xfrm>
              <a:off x="4370123" y="2647560"/>
              <a:ext cx="1162577" cy="1174440"/>
            </a:xfrm>
            <a:prstGeom prst="ellipse">
              <a:avLst/>
            </a:prstGeom>
          </p:spPr>
        </p:pic>
      </p:grpSp>
      <p:grpSp>
        <p:nvGrpSpPr>
          <p:cNvPr id="13" name="그룹 1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4" name="직사각형 1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spc="-40" dirty="0">
                  <a:solidFill>
                    <a:schemeClr val="bg1"/>
                  </a:solidFill>
                  <a:latin typeface="Samsung Sharp Sans Medium" pitchFamily="2" charset="0"/>
                  <a:ea typeface="Samsung Sharp Sans Medium" pitchFamily="2" charset="0"/>
                  <a:cs typeface="Samsung Sharp Sans Medium" pitchFamily="2" charset="0"/>
                </a:rPr>
                <a:t>2.5. Practicing the Supervised Learning Model for Numerical Prediction</a:t>
              </a:r>
              <a:endParaRPr lang="ko-KR" altLang="en-US" spc="-40" dirty="0">
                <a:solidFill>
                  <a:schemeClr val="bg1"/>
                </a:solidFill>
                <a:latin typeface="Samsung Sharp Sans Medium" pitchFamily="2" charset="0"/>
                <a:ea typeface="Samsung Sharp Sans Medium" pitchFamily="2" charset="0"/>
                <a:cs typeface="Samsung Sharp Sans Medium" pitchFamily="2" charset="0"/>
              </a:endParaRP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 Sharp Sans Medium" pitchFamily="2" charset="0"/>
                  <a:ea typeface="Samsung Sharp Sans Medium" pitchFamily="2" charset="0"/>
                  <a:cs typeface="Samsung Sharp Sans 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Tree>
    <p:extLst>
      <p:ext uri="{BB962C8B-B14F-4D97-AF65-F5344CB8AC3E}">
        <p14:creationId xmlns:p14="http://schemas.microsoft.com/office/powerpoint/2010/main" val="420047327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8B1BC1D-DFB7-4482-BA23-F01AD71B1BBE}"/>
              </a:ext>
            </a:extLst>
          </p:cNvPr>
          <p:cNvSpPr/>
          <p:nvPr/>
        </p:nvSpPr>
        <p:spPr>
          <a:xfrm>
            <a:off x="546895" y="1523719"/>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Coding Exercise #0306</a:t>
            </a:r>
          </a:p>
        </p:txBody>
      </p:sp>
      <p:grpSp>
        <p:nvGrpSpPr>
          <p:cNvPr id="11" name="그룹 10">
            <a:extLst>
              <a:ext uri="{FF2B5EF4-FFF2-40B4-BE49-F238E27FC236}">
                <a16:creationId xmlns:a16="http://schemas.microsoft.com/office/drawing/2014/main" id="{A2A7775F-AE07-4A60-B96A-7B00D8607BDB}"/>
              </a:ext>
            </a:extLst>
          </p:cNvPr>
          <p:cNvGrpSpPr/>
          <p:nvPr/>
        </p:nvGrpSpPr>
        <p:grpSpPr>
          <a:xfrm>
            <a:off x="558798" y="2060849"/>
            <a:ext cx="8797129" cy="3960439"/>
            <a:chOff x="558798" y="2060849"/>
            <a:chExt cx="8797129" cy="3960439"/>
          </a:xfrm>
        </p:grpSpPr>
        <p:sp>
          <p:nvSpPr>
            <p:cNvPr id="12" name="직사각형 11">
              <a:extLst>
                <a:ext uri="{FF2B5EF4-FFF2-40B4-BE49-F238E27FC236}">
                  <a16:creationId xmlns:a16="http://schemas.microsoft.com/office/drawing/2014/main" id="{0E2B63F1-717C-45E5-9484-DF4505693008}"/>
                </a:ext>
              </a:extLst>
            </p:cNvPr>
            <p:cNvSpPr/>
            <p:nvPr/>
          </p:nvSpPr>
          <p:spPr>
            <a:xfrm>
              <a:off x="558799" y="2060849"/>
              <a:ext cx="8785225" cy="3960439"/>
            </a:xfrm>
            <a:prstGeom prst="rect">
              <a:avLst/>
            </a:prstGeom>
            <a:solidFill>
              <a:schemeClr val="accent5">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5" name="그룹 14">
              <a:extLst>
                <a:ext uri="{FF2B5EF4-FFF2-40B4-BE49-F238E27FC236}">
                  <a16:creationId xmlns:a16="http://schemas.microsoft.com/office/drawing/2014/main" id="{AC1F47E5-59C0-4468-B93D-A8F7F0C32C93}"/>
                </a:ext>
              </a:extLst>
            </p:cNvPr>
            <p:cNvGrpSpPr/>
            <p:nvPr/>
          </p:nvGrpSpPr>
          <p:grpSpPr>
            <a:xfrm>
              <a:off x="558798" y="3945816"/>
              <a:ext cx="8797129" cy="576572"/>
              <a:chOff x="4778069" y="4391025"/>
              <a:chExt cx="2349160" cy="431802"/>
            </a:xfrm>
          </p:grpSpPr>
          <p:sp>
            <p:nvSpPr>
              <p:cNvPr id="18" name="직사각형 17">
                <a:extLst>
                  <a:ext uri="{FF2B5EF4-FFF2-40B4-BE49-F238E27FC236}">
                    <a16:creationId xmlns:a16="http://schemas.microsoft.com/office/drawing/2014/main" id="{3C6A9AF5-127F-406D-B69A-2777F03F88E5}"/>
                  </a:ext>
                </a:extLst>
              </p:cNvPr>
              <p:cNvSpPr/>
              <p:nvPr/>
            </p:nvSpPr>
            <p:spPr>
              <a:xfrm>
                <a:off x="4778069" y="4391025"/>
                <a:ext cx="2349160" cy="431802"/>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sp3d>
                  <a:bevelT w="0" h="6350"/>
                </a:sp3d>
              </a:bodyPr>
              <a:lstStyle/>
              <a:p>
                <a:pPr algn="ctr"/>
                <a:endParaRPr lang="ko-KR" altLang="en-US" sz="2000" dirty="0"/>
              </a:p>
            </p:txBody>
          </p:sp>
          <p:sp>
            <p:nvSpPr>
              <p:cNvPr id="21" name="직사각형 133">
                <a:extLst>
                  <a:ext uri="{FF2B5EF4-FFF2-40B4-BE49-F238E27FC236}">
                    <a16:creationId xmlns:a16="http://schemas.microsoft.com/office/drawing/2014/main" id="{21A3736B-043B-48A0-AE25-A04C3CBB178F}"/>
                  </a:ext>
                </a:extLst>
              </p:cNvPr>
              <p:cNvSpPr/>
              <p:nvPr/>
            </p:nvSpPr>
            <p:spPr>
              <a:xfrm>
                <a:off x="4852511" y="4528465"/>
                <a:ext cx="2200275" cy="230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lgn="ctr"/>
                <a:r>
                  <a:rPr lang="en-US" altLang="ko-KR" sz="2000" dirty="0">
                    <a:solidFill>
                      <a:schemeClr val="bg1"/>
                    </a:solidFill>
                    <a:latin typeface="SamsungOne 700" panose="020B0803030303020204" pitchFamily="34" charset="0"/>
                    <a:ea typeface="SamsungOne 700" panose="020B0803030303020204" pitchFamily="34" charset="0"/>
                    <a:cs typeface="Samsung Sharp Sans" pitchFamily="2" charset="0"/>
                  </a:rPr>
                  <a:t>Follow practice steps on 'ex_0306.ipynb’ file.</a:t>
                </a:r>
              </a:p>
            </p:txBody>
          </p:sp>
        </p:grpSp>
        <p:pic>
          <p:nvPicPr>
            <p:cNvPr id="16" name="그림 15" descr="텍스트, 클립아트이(가) 표시된 사진&#10;&#10;자동 생성된 설명">
              <a:extLst>
                <a:ext uri="{FF2B5EF4-FFF2-40B4-BE49-F238E27FC236}">
                  <a16:creationId xmlns:a16="http://schemas.microsoft.com/office/drawing/2014/main" id="{70D03265-398A-4B21-9492-31D700046C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93" t="14475" r="51947" b="14299"/>
            <a:stretch/>
          </p:blipFill>
          <p:spPr>
            <a:xfrm>
              <a:off x="4370123" y="2647560"/>
              <a:ext cx="1162577" cy="1174440"/>
            </a:xfrm>
            <a:prstGeom prst="ellipse">
              <a:avLst/>
            </a:prstGeom>
          </p:spPr>
        </p:pic>
      </p:grpSp>
      <p:grpSp>
        <p:nvGrpSpPr>
          <p:cNvPr id="13" name="그룹 1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4" name="직사각형 1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spc="-40" dirty="0">
                  <a:solidFill>
                    <a:schemeClr val="bg1"/>
                  </a:solidFill>
                  <a:latin typeface="Samsung Sharp Sans Medium" pitchFamily="2" charset="0"/>
                  <a:ea typeface="Samsung Sharp Sans Medium" pitchFamily="2" charset="0"/>
                  <a:cs typeface="Samsung Sharp Sans Medium" pitchFamily="2" charset="0"/>
                </a:rPr>
                <a:t>2.5. Practicing the Supervised Learning Model for Numerical Prediction</a:t>
              </a:r>
              <a:endParaRPr lang="ko-KR" altLang="en-US" spc="-40" dirty="0">
                <a:solidFill>
                  <a:schemeClr val="bg1"/>
                </a:solidFill>
                <a:latin typeface="Samsung Sharp Sans Medium" pitchFamily="2" charset="0"/>
                <a:ea typeface="Samsung Sharp Sans Medium" pitchFamily="2" charset="0"/>
                <a:cs typeface="Samsung Sharp Sans Medium" pitchFamily="2" charset="0"/>
              </a:endParaRP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 Sharp Sans Medium" pitchFamily="2" charset="0"/>
                  <a:ea typeface="Samsung Sharp Sans Medium" pitchFamily="2" charset="0"/>
                  <a:cs typeface="Samsung Sharp Sans 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02</a:t>
              </a:r>
            </a:p>
          </p:txBody>
        </p:sp>
      </p:grpSp>
    </p:spTree>
    <p:extLst>
      <p:ext uri="{BB962C8B-B14F-4D97-AF65-F5344CB8AC3E}">
        <p14:creationId xmlns:p14="http://schemas.microsoft.com/office/powerpoint/2010/main" val="406236836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33">
            <a:extLst>
              <a:ext uri="{FF2B5EF4-FFF2-40B4-BE49-F238E27FC236}">
                <a16:creationId xmlns:a16="http://schemas.microsoft.com/office/drawing/2014/main" id="{551F01E8-8777-4A7B-AD71-63E7C805C68C}"/>
              </a:ext>
            </a:extLst>
          </p:cNvPr>
          <p:cNvSpPr/>
          <p:nvPr/>
        </p:nvSpPr>
        <p:spPr>
          <a:xfrm>
            <a:off x="989683" y="3185042"/>
            <a:ext cx="8462229" cy="9848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Application of Supervised Learning Model for Classification</a:t>
            </a:r>
            <a:endParaRPr kumimoji="1" lang="ko-KR" altLang="en-US" sz="3200" dirty="0">
              <a:solidFill>
                <a:prstClr val="black"/>
              </a:solidFill>
              <a:latin typeface="Samsung Sharp Sans" pitchFamily="2" charset="0"/>
              <a:ea typeface="맑은 고딕" panose="020B0503020000020004" pitchFamily="50" charset="-127"/>
              <a:cs typeface="Samsung Sharp Sans" pitchFamily="2" charset="0"/>
            </a:endParaRP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3.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17" name="직사각형 16">
            <a:extLst>
              <a:ext uri="{FF2B5EF4-FFF2-40B4-BE49-F238E27FC236}">
                <a16:creationId xmlns:a16="http://schemas.microsoft.com/office/drawing/2014/main" id="{88522452-0F25-4CFF-B4F1-4F97F94CF66D}"/>
              </a:ext>
            </a:extLst>
          </p:cNvPr>
          <p:cNvSpPr/>
          <p:nvPr/>
        </p:nvSpPr>
        <p:spPr>
          <a:xfrm>
            <a:off x="1054111" y="4365104"/>
            <a:ext cx="6633605" cy="10874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algn="l" defTabSz="914400" rtl="0" eaLnBrk="1" fontAlgn="base" latinLnBrk="1" hangingPunct="1">
              <a:lnSpc>
                <a:spcPct val="100000"/>
              </a:lnSpc>
              <a:spcBef>
                <a:spcPct val="0"/>
              </a:spcBef>
              <a:spcAft>
                <a:spcPts val="1000"/>
              </a:spcAft>
              <a:buClrTx/>
              <a:buSzPct val="120000"/>
              <a:buBlip>
                <a:blip r:embed="rId3"/>
              </a:buBlip>
              <a:tabLst/>
              <a:defRPr/>
            </a:pPr>
            <a:r>
              <a:rPr kumimoji="1" lang="en-US" altLang="ko-KR" sz="1800" b="0" i="0" u="none" strike="noStrike" kern="1200" cap="none" spc="0" normalizeH="0" baseline="0" noProof="0" dirty="0">
                <a:ln>
                  <a:noFill/>
                </a:ln>
                <a:solidFill>
                  <a:prstClr val="black">
                    <a:lumMod val="75000"/>
                    <a:lumOff val="25000"/>
                  </a:prstClr>
                </a:solidFill>
                <a:effectLst/>
                <a:uLnTx/>
                <a:uFillTx/>
                <a:latin typeface="SamsungOne-700" panose="020B0803030303020204" pitchFamily="34" charset="0"/>
                <a:ea typeface="SamsungOne-700" panose="020B0803030303020204" pitchFamily="34" charset="0"/>
                <a:cs typeface="+mn-cs"/>
              </a:rPr>
              <a:t>3.1. Training and Testing in Machine Learning</a:t>
            </a:r>
          </a:p>
          <a:p>
            <a:pPr marL="176213" marR="0" lvl="0" indent="-176213" fontAlgn="base">
              <a:lnSpc>
                <a:spcPct val="100000"/>
              </a:lnSpc>
              <a:spcBef>
                <a:spcPct val="0"/>
              </a:spcBef>
              <a:spcAft>
                <a:spcPts val="1000"/>
              </a:spcAft>
              <a:buClrTx/>
              <a:buSzPct val="120000"/>
              <a:buBlip>
                <a:blip r:embed="rId4"/>
              </a:buBlip>
              <a:tabLst/>
              <a:defRPr/>
            </a:pPr>
            <a:r>
              <a:rPr lang="en-US" altLang="ko-KR" dirty="0">
                <a:solidFill>
                  <a:srgbClr val="A6A6A6"/>
                </a:solidFill>
                <a:latin typeface="SamsungOne 400" panose="020B0503030303020204" pitchFamily="34" charset="0"/>
                <a:ea typeface="SamsungOne 400" panose="020B0503030303020204" pitchFamily="34" charset="0"/>
              </a:rPr>
              <a:t>3.2. Logistic Regression Basics</a:t>
            </a:r>
          </a:p>
          <a:p>
            <a:pPr marL="176213" marR="0" lvl="0" indent="-176213" fontAlgn="base">
              <a:lnSpc>
                <a:spcPct val="100000"/>
              </a:lnSpc>
              <a:spcBef>
                <a:spcPct val="0"/>
              </a:spcBef>
              <a:spcAft>
                <a:spcPts val="1000"/>
              </a:spcAft>
              <a:buClrTx/>
              <a:buSzPct val="120000"/>
              <a:buBlip>
                <a:blip r:embed="rId4"/>
              </a:buBlip>
              <a:tabLst/>
              <a:defRPr/>
            </a:pPr>
            <a:r>
              <a:rPr lang="en-US" altLang="ko-KR" dirty="0">
                <a:solidFill>
                  <a:srgbClr val="A6A6A6"/>
                </a:solidFill>
                <a:latin typeface="SamsungOne 400" panose="020B0503030303020204" pitchFamily="34" charset="0"/>
                <a:ea typeface="SamsungOne 400" panose="020B0503030303020204" pitchFamily="34" charset="0"/>
              </a:rPr>
              <a:t>3.3. Logistic Regression Performance Metrics</a:t>
            </a:r>
          </a:p>
        </p:txBody>
      </p:sp>
    </p:spTree>
    <p:extLst>
      <p:ext uri="{BB962C8B-B14F-4D97-AF65-F5344CB8AC3E}">
        <p14:creationId xmlns:p14="http://schemas.microsoft.com/office/powerpoint/2010/main" val="181903643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3.1. Training and Testing in Machine Learning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903685"/>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Select a machine learning algorithm suitable for the data.</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grpSp>
        <p:nvGrpSpPr>
          <p:cNvPr id="33" name="그룹 32">
            <a:extLst>
              <a:ext uri="{FF2B5EF4-FFF2-40B4-BE49-F238E27FC236}">
                <a16:creationId xmlns:a16="http://schemas.microsoft.com/office/drawing/2014/main" id="{EF7F8C36-F31F-4052-BE3F-1AFEB3BC26EB}"/>
              </a:ext>
            </a:extLst>
          </p:cNvPr>
          <p:cNvGrpSpPr/>
          <p:nvPr/>
        </p:nvGrpSpPr>
        <p:grpSpPr>
          <a:xfrm>
            <a:off x="918886" y="2204864"/>
            <a:ext cx="7847454" cy="4025055"/>
            <a:chOff x="596358" y="1772816"/>
            <a:chExt cx="8746652" cy="4486265"/>
          </a:xfrm>
        </p:grpSpPr>
        <p:sp>
          <p:nvSpPr>
            <p:cNvPr id="34" name="모서리가 둥근 직사각형 85">
              <a:extLst>
                <a:ext uri="{FF2B5EF4-FFF2-40B4-BE49-F238E27FC236}">
                  <a16:creationId xmlns:a16="http://schemas.microsoft.com/office/drawing/2014/main" id="{CE44E690-5C32-4936-B1E2-2F4D783931E3}"/>
                </a:ext>
              </a:extLst>
            </p:cNvPr>
            <p:cNvSpPr/>
            <p:nvPr/>
          </p:nvSpPr>
          <p:spPr>
            <a:xfrm>
              <a:off x="6242898" y="2041446"/>
              <a:ext cx="3100112" cy="2133764"/>
            </a:xfrm>
            <a:prstGeom prst="roundRect">
              <a:avLst>
                <a:gd name="adj" fmla="val 5644"/>
              </a:avLst>
            </a:prstGeom>
            <a:solidFill>
              <a:srgbClr val="F1F5FD"/>
            </a:solidFill>
            <a:ln w="19050">
              <a:solidFill>
                <a:srgbClr val="718D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35" name="모서리가 둥근 직사각형 5">
              <a:extLst>
                <a:ext uri="{FF2B5EF4-FFF2-40B4-BE49-F238E27FC236}">
                  <a16:creationId xmlns:a16="http://schemas.microsoft.com/office/drawing/2014/main" id="{27FE688C-9F12-4BF9-9475-ED47F69DAD05}"/>
                </a:ext>
              </a:extLst>
            </p:cNvPr>
            <p:cNvSpPr/>
            <p:nvPr/>
          </p:nvSpPr>
          <p:spPr>
            <a:xfrm>
              <a:off x="596358" y="2041446"/>
              <a:ext cx="3219647" cy="2133764"/>
            </a:xfrm>
            <a:prstGeom prst="roundRect">
              <a:avLst>
                <a:gd name="adj" fmla="val 5644"/>
              </a:avLst>
            </a:prstGeom>
            <a:solidFill>
              <a:srgbClr val="FFF7F7"/>
            </a:solidFill>
            <a:ln w="19050">
              <a:solidFill>
                <a:srgbClr val="FFAF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36" name="모서리가 둥근 직사각형 26">
              <a:extLst>
                <a:ext uri="{FF2B5EF4-FFF2-40B4-BE49-F238E27FC236}">
                  <a16:creationId xmlns:a16="http://schemas.microsoft.com/office/drawing/2014/main" id="{C6263933-AC4E-430A-B262-B4669F9ACC45}"/>
                </a:ext>
              </a:extLst>
            </p:cNvPr>
            <p:cNvSpPr/>
            <p:nvPr/>
          </p:nvSpPr>
          <p:spPr>
            <a:xfrm>
              <a:off x="715015" y="3646704"/>
              <a:ext cx="573923" cy="298440"/>
            </a:xfrm>
            <a:prstGeom prst="roundRect">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37" name="모서리가 둥근 직사각형 27">
              <a:extLst>
                <a:ext uri="{FF2B5EF4-FFF2-40B4-BE49-F238E27FC236}">
                  <a16:creationId xmlns:a16="http://schemas.microsoft.com/office/drawing/2014/main" id="{85CF9CD2-0DEC-4200-B595-C34A4B142839}"/>
                </a:ext>
              </a:extLst>
            </p:cNvPr>
            <p:cNvSpPr/>
            <p:nvPr/>
          </p:nvSpPr>
          <p:spPr>
            <a:xfrm>
              <a:off x="2433284" y="3646704"/>
              <a:ext cx="573923" cy="298440"/>
            </a:xfrm>
            <a:prstGeom prst="roundRect">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38" name="모서리가 둥근 직사각형 18">
              <a:extLst>
                <a:ext uri="{FF2B5EF4-FFF2-40B4-BE49-F238E27FC236}">
                  <a16:creationId xmlns:a16="http://schemas.microsoft.com/office/drawing/2014/main" id="{11108E2D-F000-40CE-848D-82D94E380C2A}"/>
                </a:ext>
              </a:extLst>
            </p:cNvPr>
            <p:cNvSpPr/>
            <p:nvPr/>
          </p:nvSpPr>
          <p:spPr>
            <a:xfrm>
              <a:off x="709237" y="3028064"/>
              <a:ext cx="573923" cy="149957"/>
            </a:xfrm>
            <a:prstGeom prst="roundRect">
              <a:avLst>
                <a:gd name="adj" fmla="val 29486"/>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39" name="모서리가 둥근 직사각형 19">
              <a:extLst>
                <a:ext uri="{FF2B5EF4-FFF2-40B4-BE49-F238E27FC236}">
                  <a16:creationId xmlns:a16="http://schemas.microsoft.com/office/drawing/2014/main" id="{DF4BCA8C-3E8C-438B-A831-4499744278AE}"/>
                </a:ext>
              </a:extLst>
            </p:cNvPr>
            <p:cNvSpPr/>
            <p:nvPr/>
          </p:nvSpPr>
          <p:spPr>
            <a:xfrm>
              <a:off x="2433284" y="2712247"/>
              <a:ext cx="573923" cy="298440"/>
            </a:xfrm>
            <a:prstGeom prst="roundRect">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40" name="모서리가 둥근 직사각형 20">
              <a:extLst>
                <a:ext uri="{FF2B5EF4-FFF2-40B4-BE49-F238E27FC236}">
                  <a16:creationId xmlns:a16="http://schemas.microsoft.com/office/drawing/2014/main" id="{8ED864F7-F38B-4674-A6E8-63033AA1E976}"/>
                </a:ext>
              </a:extLst>
            </p:cNvPr>
            <p:cNvSpPr/>
            <p:nvPr/>
          </p:nvSpPr>
          <p:spPr>
            <a:xfrm>
              <a:off x="1467155" y="3179475"/>
              <a:ext cx="780536" cy="298440"/>
            </a:xfrm>
            <a:prstGeom prst="roundRect">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41" name="모서리가 둥근 직사각형 3">
              <a:extLst>
                <a:ext uri="{FF2B5EF4-FFF2-40B4-BE49-F238E27FC236}">
                  <a16:creationId xmlns:a16="http://schemas.microsoft.com/office/drawing/2014/main" id="{C57E88AF-9E26-40C8-8A78-BC34879266C9}"/>
                </a:ext>
              </a:extLst>
            </p:cNvPr>
            <p:cNvSpPr/>
            <p:nvPr/>
          </p:nvSpPr>
          <p:spPr>
            <a:xfrm>
              <a:off x="1467155" y="2712247"/>
              <a:ext cx="780536" cy="298440"/>
            </a:xfrm>
            <a:prstGeom prst="roundRect">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42" name="Rectangle 43">
              <a:extLst>
                <a:ext uri="{FF2B5EF4-FFF2-40B4-BE49-F238E27FC236}">
                  <a16:creationId xmlns:a16="http://schemas.microsoft.com/office/drawing/2014/main" id="{6A3B5733-58B6-42BF-8832-9CF1BA54589E}"/>
                </a:ext>
              </a:extLst>
            </p:cNvPr>
            <p:cNvSpPr/>
            <p:nvPr/>
          </p:nvSpPr>
          <p:spPr>
            <a:xfrm>
              <a:off x="1490071" y="2738355"/>
              <a:ext cx="734703" cy="24622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Kernel</a:t>
              </a:r>
            </a:p>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approximation</a:t>
              </a:r>
            </a:p>
          </p:txBody>
        </p:sp>
        <p:sp>
          <p:nvSpPr>
            <p:cNvPr id="43" name="모서리가 둥근 직사각형 17">
              <a:extLst>
                <a:ext uri="{FF2B5EF4-FFF2-40B4-BE49-F238E27FC236}">
                  <a16:creationId xmlns:a16="http://schemas.microsoft.com/office/drawing/2014/main" id="{CCCB849D-60E8-4F00-AC9B-B7FABD856683}"/>
                </a:ext>
              </a:extLst>
            </p:cNvPr>
            <p:cNvSpPr/>
            <p:nvPr/>
          </p:nvSpPr>
          <p:spPr>
            <a:xfrm>
              <a:off x="708534" y="3179475"/>
              <a:ext cx="573923" cy="307563"/>
            </a:xfrm>
            <a:prstGeom prst="roundRect">
              <a:avLst>
                <a:gd name="adj" fmla="val 21865"/>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44" name="Rectangle 43">
              <a:extLst>
                <a:ext uri="{FF2B5EF4-FFF2-40B4-BE49-F238E27FC236}">
                  <a16:creationId xmlns:a16="http://schemas.microsoft.com/office/drawing/2014/main" id="{18B896BD-A626-4333-B60B-F43D5339A2B8}"/>
                </a:ext>
              </a:extLst>
            </p:cNvPr>
            <p:cNvSpPr/>
            <p:nvPr/>
          </p:nvSpPr>
          <p:spPr>
            <a:xfrm>
              <a:off x="2470198" y="2738356"/>
              <a:ext cx="500095" cy="24622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SGD</a:t>
              </a:r>
            </a:p>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Classifier</a:t>
              </a:r>
            </a:p>
          </p:txBody>
        </p:sp>
        <p:sp>
          <p:nvSpPr>
            <p:cNvPr id="45" name="Rectangle 43">
              <a:extLst>
                <a:ext uri="{FF2B5EF4-FFF2-40B4-BE49-F238E27FC236}">
                  <a16:creationId xmlns:a16="http://schemas.microsoft.com/office/drawing/2014/main" id="{3D4E48E1-C09E-4870-AF66-C5BAB42A28FC}"/>
                </a:ext>
              </a:extLst>
            </p:cNvPr>
            <p:cNvSpPr/>
            <p:nvPr/>
          </p:nvSpPr>
          <p:spPr>
            <a:xfrm>
              <a:off x="789968" y="3041487"/>
              <a:ext cx="412460"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SVC</a:t>
              </a:r>
            </a:p>
          </p:txBody>
        </p:sp>
        <p:sp>
          <p:nvSpPr>
            <p:cNvPr id="46" name="Rectangle 43">
              <a:extLst>
                <a:ext uri="{FF2B5EF4-FFF2-40B4-BE49-F238E27FC236}">
                  <a16:creationId xmlns:a16="http://schemas.microsoft.com/office/drawing/2014/main" id="{6A2D6077-71DA-4AB9-A5C1-8AC0006C6CC7}"/>
                </a:ext>
              </a:extLst>
            </p:cNvPr>
            <p:cNvSpPr/>
            <p:nvPr/>
          </p:nvSpPr>
          <p:spPr>
            <a:xfrm>
              <a:off x="743631" y="3231522"/>
              <a:ext cx="505134" cy="24622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err="1">
                  <a:solidFill>
                    <a:schemeClr val="tx1">
                      <a:lumMod val="85000"/>
                      <a:lumOff val="15000"/>
                    </a:schemeClr>
                  </a:solidFill>
                  <a:latin typeface="SamsungOne 400" panose="020B0503030303020204" pitchFamily="34" charset="0"/>
                  <a:ea typeface="SamsungOne 400" panose="020B0503030303020204" pitchFamily="34" charset="0"/>
                </a:rPr>
                <a:t>Ensembile</a:t>
              </a:r>
              <a:endPar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endParaRPr>
            </a:p>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Classifiers</a:t>
              </a:r>
            </a:p>
          </p:txBody>
        </p:sp>
        <p:sp>
          <p:nvSpPr>
            <p:cNvPr id="47" name="Rectangle 43">
              <a:extLst>
                <a:ext uri="{FF2B5EF4-FFF2-40B4-BE49-F238E27FC236}">
                  <a16:creationId xmlns:a16="http://schemas.microsoft.com/office/drawing/2014/main" id="{CA8E6909-5C72-41C5-8308-9C9AC2EF4213}"/>
                </a:ext>
              </a:extLst>
            </p:cNvPr>
            <p:cNvSpPr/>
            <p:nvPr/>
          </p:nvSpPr>
          <p:spPr>
            <a:xfrm>
              <a:off x="1490071" y="3205585"/>
              <a:ext cx="734703" cy="24622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err="1">
                  <a:solidFill>
                    <a:schemeClr val="tx1">
                      <a:lumMod val="85000"/>
                      <a:lumOff val="15000"/>
                    </a:schemeClr>
                  </a:solidFill>
                  <a:latin typeface="SamsungOne 400" panose="020B0503030303020204" pitchFamily="34" charset="0"/>
                  <a:ea typeface="SamsungOne 400" panose="020B0503030303020204" pitchFamily="34" charset="0"/>
                </a:rPr>
                <a:t>Kneighbors</a:t>
              </a:r>
              <a:endPar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endParaRPr>
            </a:p>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Classifier</a:t>
              </a:r>
            </a:p>
          </p:txBody>
        </p:sp>
        <p:sp>
          <p:nvSpPr>
            <p:cNvPr id="48" name="Rectangle 43">
              <a:extLst>
                <a:ext uri="{FF2B5EF4-FFF2-40B4-BE49-F238E27FC236}">
                  <a16:creationId xmlns:a16="http://schemas.microsoft.com/office/drawing/2014/main" id="{D08DF48C-587D-4E78-B0BC-D75BA9305109}"/>
                </a:ext>
              </a:extLst>
            </p:cNvPr>
            <p:cNvSpPr/>
            <p:nvPr/>
          </p:nvSpPr>
          <p:spPr>
            <a:xfrm>
              <a:off x="812628" y="3672813"/>
              <a:ext cx="378696" cy="24622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Naïve</a:t>
              </a:r>
            </a:p>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Bayes</a:t>
              </a:r>
            </a:p>
          </p:txBody>
        </p:sp>
        <p:sp>
          <p:nvSpPr>
            <p:cNvPr id="49" name="Rectangle 43">
              <a:extLst>
                <a:ext uri="{FF2B5EF4-FFF2-40B4-BE49-F238E27FC236}">
                  <a16:creationId xmlns:a16="http://schemas.microsoft.com/office/drawing/2014/main" id="{9721A8C0-9C8A-4C6B-8A3F-CFD63D575FFE}"/>
                </a:ext>
              </a:extLst>
            </p:cNvPr>
            <p:cNvSpPr/>
            <p:nvPr/>
          </p:nvSpPr>
          <p:spPr>
            <a:xfrm>
              <a:off x="2497871" y="3672813"/>
              <a:ext cx="444749" cy="24622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Linear</a:t>
              </a:r>
            </a:p>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SVC</a:t>
              </a:r>
            </a:p>
          </p:txBody>
        </p:sp>
        <p:sp>
          <p:nvSpPr>
            <p:cNvPr id="50" name="Rectangle 43">
              <a:extLst>
                <a:ext uri="{FF2B5EF4-FFF2-40B4-BE49-F238E27FC236}">
                  <a16:creationId xmlns:a16="http://schemas.microsoft.com/office/drawing/2014/main" id="{97CF0513-7AEC-4D8A-BC86-EB2A2F17D02A}"/>
                </a:ext>
              </a:extLst>
            </p:cNvPr>
            <p:cNvSpPr/>
            <p:nvPr/>
          </p:nvSpPr>
          <p:spPr>
            <a:xfrm>
              <a:off x="1620714" y="2173592"/>
              <a:ext cx="1170934" cy="205826"/>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200" b="1" dirty="0">
                  <a:solidFill>
                    <a:schemeClr val="tx1">
                      <a:lumMod val="85000"/>
                      <a:lumOff val="15000"/>
                    </a:schemeClr>
                  </a:solidFill>
                  <a:latin typeface="SamsungOne 700" panose="020B0803030303020204" pitchFamily="34" charset="0"/>
                  <a:ea typeface="SamsungOne 700" panose="020B0803030303020204" pitchFamily="34" charset="0"/>
                </a:rPr>
                <a:t>classification</a:t>
              </a:r>
            </a:p>
          </p:txBody>
        </p:sp>
        <p:cxnSp>
          <p:nvCxnSpPr>
            <p:cNvPr id="51" name="직선 화살표 연결선 50">
              <a:extLst>
                <a:ext uri="{FF2B5EF4-FFF2-40B4-BE49-F238E27FC236}">
                  <a16:creationId xmlns:a16="http://schemas.microsoft.com/office/drawing/2014/main" id="{D9390830-8DF0-4C93-B4F4-73EF4FD94415}"/>
                </a:ext>
              </a:extLst>
            </p:cNvPr>
            <p:cNvCxnSpPr/>
            <p:nvPr/>
          </p:nvCxnSpPr>
          <p:spPr>
            <a:xfrm flipH="1">
              <a:off x="2284851" y="2861467"/>
              <a:ext cx="114785" cy="0"/>
            </a:xfrm>
            <a:prstGeom prst="straightConnector1">
              <a:avLst/>
            </a:prstGeom>
            <a:ln w="19050">
              <a:solidFill>
                <a:schemeClr val="accent4">
                  <a:lumMod val="75000"/>
                </a:schemeClr>
              </a:solidFill>
              <a:headEnd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52" name="직선 화살표 연결선 51">
              <a:extLst>
                <a:ext uri="{FF2B5EF4-FFF2-40B4-BE49-F238E27FC236}">
                  <a16:creationId xmlns:a16="http://schemas.microsoft.com/office/drawing/2014/main" id="{0BFD4067-3107-4D1D-AAC2-A5A94EE7889C}"/>
                </a:ext>
              </a:extLst>
            </p:cNvPr>
            <p:cNvCxnSpPr/>
            <p:nvPr/>
          </p:nvCxnSpPr>
          <p:spPr>
            <a:xfrm flipH="1">
              <a:off x="1312508" y="3305709"/>
              <a:ext cx="114785" cy="0"/>
            </a:xfrm>
            <a:prstGeom prst="straightConnector1">
              <a:avLst/>
            </a:prstGeom>
            <a:ln w="19050">
              <a:solidFill>
                <a:schemeClr val="accent4">
                  <a:lumMod val="75000"/>
                </a:schemeClr>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53" name="타원 52">
              <a:extLst>
                <a:ext uri="{FF2B5EF4-FFF2-40B4-BE49-F238E27FC236}">
                  <a16:creationId xmlns:a16="http://schemas.microsoft.com/office/drawing/2014/main" id="{F8A7E95F-2414-4343-AAB1-C8C98FD9FFA0}"/>
                </a:ext>
              </a:extLst>
            </p:cNvPr>
            <p:cNvSpPr/>
            <p:nvPr/>
          </p:nvSpPr>
          <p:spPr>
            <a:xfrm>
              <a:off x="1467155" y="3646704"/>
              <a:ext cx="780536"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54" name="Rectangle 43">
              <a:extLst>
                <a:ext uri="{FF2B5EF4-FFF2-40B4-BE49-F238E27FC236}">
                  <a16:creationId xmlns:a16="http://schemas.microsoft.com/office/drawing/2014/main" id="{4A136A71-007D-4BEA-BE62-7CE847BD2599}"/>
                </a:ext>
              </a:extLst>
            </p:cNvPr>
            <p:cNvSpPr/>
            <p:nvPr/>
          </p:nvSpPr>
          <p:spPr>
            <a:xfrm>
              <a:off x="1635049" y="3672813"/>
              <a:ext cx="444749" cy="24622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Text</a:t>
              </a:r>
            </a:p>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Data</a:t>
              </a:r>
            </a:p>
          </p:txBody>
        </p:sp>
        <p:sp>
          <p:nvSpPr>
            <p:cNvPr id="55" name="타원 54">
              <a:extLst>
                <a:ext uri="{FF2B5EF4-FFF2-40B4-BE49-F238E27FC236}">
                  <a16:creationId xmlns:a16="http://schemas.microsoft.com/office/drawing/2014/main" id="{02B31C6D-0D01-466D-B58F-323672F87F78}"/>
                </a:ext>
              </a:extLst>
            </p:cNvPr>
            <p:cNvSpPr/>
            <p:nvPr/>
          </p:nvSpPr>
          <p:spPr>
            <a:xfrm>
              <a:off x="3046408" y="3179475"/>
              <a:ext cx="573923"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56" name="Rectangle 43">
              <a:extLst>
                <a:ext uri="{FF2B5EF4-FFF2-40B4-BE49-F238E27FC236}">
                  <a16:creationId xmlns:a16="http://schemas.microsoft.com/office/drawing/2014/main" id="{55ADF848-10B9-4222-8D32-955D5BA82A92}"/>
                </a:ext>
              </a:extLst>
            </p:cNvPr>
            <p:cNvSpPr/>
            <p:nvPr/>
          </p:nvSpPr>
          <p:spPr>
            <a:xfrm>
              <a:off x="3110995" y="3225781"/>
              <a:ext cx="444749" cy="205826"/>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&lt;100k</a:t>
              </a:r>
            </a:p>
            <a:p>
              <a:pPr algn="ctr" defTabSz="914400"/>
              <a:r>
                <a:rPr lang="en-US" altLang="ko-KR" sz="500" b="1" dirty="0">
                  <a:solidFill>
                    <a:schemeClr val="tx1">
                      <a:lumMod val="85000"/>
                      <a:lumOff val="15000"/>
                    </a:schemeClr>
                  </a:solidFill>
                  <a:latin typeface="SamsungOne 400" panose="020B0503030303020204" pitchFamily="34" charset="0"/>
                  <a:ea typeface="SamsungOne 400" panose="020B0503030303020204" pitchFamily="34" charset="0"/>
                </a:rPr>
                <a:t>samples</a:t>
              </a:r>
            </a:p>
          </p:txBody>
        </p:sp>
        <p:cxnSp>
          <p:nvCxnSpPr>
            <p:cNvPr id="57" name="직선 화살표 연결선 56">
              <a:extLst>
                <a:ext uri="{FF2B5EF4-FFF2-40B4-BE49-F238E27FC236}">
                  <a16:creationId xmlns:a16="http://schemas.microsoft.com/office/drawing/2014/main" id="{91F17D82-2394-40BA-BB7A-8B4E48386EBB}"/>
                </a:ext>
              </a:extLst>
            </p:cNvPr>
            <p:cNvCxnSpPr/>
            <p:nvPr/>
          </p:nvCxnSpPr>
          <p:spPr>
            <a:xfrm flipH="1">
              <a:off x="1312508" y="3795924"/>
              <a:ext cx="114785" cy="0"/>
            </a:xfrm>
            <a:prstGeom prst="straightConnector1">
              <a:avLst/>
            </a:prstGeom>
            <a:ln w="19050">
              <a:solidFill>
                <a:srgbClr val="3D9933"/>
              </a:solidFill>
              <a:headEnd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58" name="직선 화살표 연결선 57">
              <a:extLst>
                <a:ext uri="{FF2B5EF4-FFF2-40B4-BE49-F238E27FC236}">
                  <a16:creationId xmlns:a16="http://schemas.microsoft.com/office/drawing/2014/main" id="{F93A0A8C-EDB6-4BAD-A545-34711DA5CC55}"/>
                </a:ext>
              </a:extLst>
            </p:cNvPr>
            <p:cNvCxnSpPr/>
            <p:nvPr/>
          </p:nvCxnSpPr>
          <p:spPr>
            <a:xfrm flipV="1">
              <a:off x="1857423" y="3506615"/>
              <a:ext cx="0" cy="114785"/>
            </a:xfrm>
            <a:prstGeom prst="straightConnector1">
              <a:avLst/>
            </a:prstGeom>
            <a:ln w="19050">
              <a:solidFill>
                <a:srgbClr val="DD2626"/>
              </a:solidFill>
              <a:headEnd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59" name="직선 화살표 연결선 58">
              <a:extLst>
                <a:ext uri="{FF2B5EF4-FFF2-40B4-BE49-F238E27FC236}">
                  <a16:creationId xmlns:a16="http://schemas.microsoft.com/office/drawing/2014/main" id="{5EB728B2-96F5-4AF2-8585-991367BA1AB1}"/>
                </a:ext>
              </a:extLst>
            </p:cNvPr>
            <p:cNvCxnSpPr/>
            <p:nvPr/>
          </p:nvCxnSpPr>
          <p:spPr>
            <a:xfrm flipH="1">
              <a:off x="2284851" y="3795924"/>
              <a:ext cx="114785" cy="0"/>
            </a:xfrm>
            <a:prstGeom prst="straightConnector1">
              <a:avLst/>
            </a:prstGeom>
            <a:ln w="19050">
              <a:solidFill>
                <a:schemeClr val="accent4">
                  <a:lumMod val="75000"/>
                </a:schemeClr>
              </a:solidFill>
              <a:headEnd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60" name="꺾인 연결선 53">
              <a:extLst>
                <a:ext uri="{FF2B5EF4-FFF2-40B4-BE49-F238E27FC236}">
                  <a16:creationId xmlns:a16="http://schemas.microsoft.com/office/drawing/2014/main" id="{0CCB1709-90C2-4494-B79D-A1269F47BC16}"/>
                </a:ext>
              </a:extLst>
            </p:cNvPr>
            <p:cNvCxnSpPr/>
            <p:nvPr/>
          </p:nvCxnSpPr>
          <p:spPr>
            <a:xfrm rot="16200000" flipV="1">
              <a:off x="3073456" y="2824456"/>
              <a:ext cx="229569" cy="298440"/>
            </a:xfrm>
            <a:prstGeom prst="bentConnector2">
              <a:avLst/>
            </a:prstGeom>
            <a:ln w="19050">
              <a:solidFill>
                <a:srgbClr val="DD2626"/>
              </a:solidFill>
              <a:tailEnd type="triangle"/>
            </a:ln>
          </p:spPr>
          <p:style>
            <a:lnRef idx="1">
              <a:schemeClr val="accent1"/>
            </a:lnRef>
            <a:fillRef idx="0">
              <a:schemeClr val="accent1"/>
            </a:fillRef>
            <a:effectRef idx="0">
              <a:schemeClr val="accent1"/>
            </a:effectRef>
            <a:fontRef idx="minor">
              <a:schemeClr val="tx1"/>
            </a:fontRef>
          </p:style>
        </p:cxnSp>
        <p:cxnSp>
          <p:nvCxnSpPr>
            <p:cNvPr id="61" name="꺾인 연결선 59">
              <a:extLst>
                <a:ext uri="{FF2B5EF4-FFF2-40B4-BE49-F238E27FC236}">
                  <a16:creationId xmlns:a16="http://schemas.microsoft.com/office/drawing/2014/main" id="{2E20EA9F-347A-495B-B25D-73A06ACAABF9}"/>
                </a:ext>
              </a:extLst>
            </p:cNvPr>
            <p:cNvCxnSpPr/>
            <p:nvPr/>
          </p:nvCxnSpPr>
          <p:spPr>
            <a:xfrm rot="5400000">
              <a:off x="3073456" y="3529572"/>
              <a:ext cx="229569" cy="298440"/>
            </a:xfrm>
            <a:prstGeom prst="bentConnector2">
              <a:avLst/>
            </a:prstGeom>
            <a:ln w="19050">
              <a:solidFill>
                <a:srgbClr val="3D9933"/>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43">
              <a:extLst>
                <a:ext uri="{FF2B5EF4-FFF2-40B4-BE49-F238E27FC236}">
                  <a16:creationId xmlns:a16="http://schemas.microsoft.com/office/drawing/2014/main" id="{58600365-A009-4E12-8662-C081056F3048}"/>
                </a:ext>
              </a:extLst>
            </p:cNvPr>
            <p:cNvSpPr/>
            <p:nvPr/>
          </p:nvSpPr>
          <p:spPr>
            <a:xfrm>
              <a:off x="3158065" y="2738399"/>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FF0000"/>
                  </a:solidFill>
                  <a:latin typeface="SamsungOne 400" panose="020B0503030303020204" pitchFamily="34" charset="0"/>
                  <a:ea typeface="SamsungOne 400" panose="020B0503030303020204" pitchFamily="34" charset="0"/>
                </a:rPr>
                <a:t>NO</a:t>
              </a:r>
            </a:p>
          </p:txBody>
        </p:sp>
        <p:sp>
          <p:nvSpPr>
            <p:cNvPr id="63" name="Rectangle 43">
              <a:extLst>
                <a:ext uri="{FF2B5EF4-FFF2-40B4-BE49-F238E27FC236}">
                  <a16:creationId xmlns:a16="http://schemas.microsoft.com/office/drawing/2014/main" id="{6B69F391-9B94-4C13-93EF-F09E304F25A2}"/>
                </a:ext>
              </a:extLst>
            </p:cNvPr>
            <p:cNvSpPr/>
            <p:nvPr/>
          </p:nvSpPr>
          <p:spPr>
            <a:xfrm>
              <a:off x="3158065" y="3855496"/>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3D9933"/>
                  </a:solidFill>
                  <a:latin typeface="SamsungOne 400" panose="020B0503030303020204" pitchFamily="34" charset="0"/>
                  <a:ea typeface="SamsungOne 400" panose="020B0503030303020204" pitchFamily="34" charset="0"/>
                </a:rPr>
                <a:t>YES</a:t>
              </a:r>
            </a:p>
          </p:txBody>
        </p:sp>
        <p:sp>
          <p:nvSpPr>
            <p:cNvPr id="64" name="Rectangle 43">
              <a:extLst>
                <a:ext uri="{FF2B5EF4-FFF2-40B4-BE49-F238E27FC236}">
                  <a16:creationId xmlns:a16="http://schemas.microsoft.com/office/drawing/2014/main" id="{A0F34E0B-15E5-4DC2-B2FD-9A1D0722B94A}"/>
                </a:ext>
              </a:extLst>
            </p:cNvPr>
            <p:cNvSpPr/>
            <p:nvPr/>
          </p:nvSpPr>
          <p:spPr>
            <a:xfrm>
              <a:off x="1919282" y="3053047"/>
              <a:ext cx="845922"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chemeClr val="accent4">
                      <a:lumMod val="75000"/>
                    </a:schemeClr>
                  </a:solidFill>
                  <a:latin typeface="SamsungOne 400" panose="020B0503030303020204" pitchFamily="34" charset="0"/>
                  <a:ea typeface="SamsungOne 400" panose="020B0503030303020204" pitchFamily="34" charset="0"/>
                </a:rPr>
                <a:t>NOT WORKING</a:t>
              </a:r>
            </a:p>
          </p:txBody>
        </p:sp>
        <p:sp>
          <p:nvSpPr>
            <p:cNvPr id="65" name="Rectangle 43">
              <a:extLst>
                <a:ext uri="{FF2B5EF4-FFF2-40B4-BE49-F238E27FC236}">
                  <a16:creationId xmlns:a16="http://schemas.microsoft.com/office/drawing/2014/main" id="{CA364D6A-6815-4E69-9B50-45A095B031C7}"/>
                </a:ext>
              </a:extLst>
            </p:cNvPr>
            <p:cNvSpPr/>
            <p:nvPr/>
          </p:nvSpPr>
          <p:spPr>
            <a:xfrm>
              <a:off x="1919282" y="3970893"/>
              <a:ext cx="845922"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chemeClr val="accent4">
                      <a:lumMod val="75000"/>
                    </a:schemeClr>
                  </a:solidFill>
                  <a:latin typeface="SamsungOne 400" panose="020B0503030303020204" pitchFamily="34" charset="0"/>
                  <a:ea typeface="SamsungOne 400" panose="020B0503030303020204" pitchFamily="34" charset="0"/>
                </a:rPr>
                <a:t>NOT WORKING</a:t>
              </a:r>
            </a:p>
          </p:txBody>
        </p:sp>
        <p:sp>
          <p:nvSpPr>
            <p:cNvPr id="66" name="Rectangle 43">
              <a:extLst>
                <a:ext uri="{FF2B5EF4-FFF2-40B4-BE49-F238E27FC236}">
                  <a16:creationId xmlns:a16="http://schemas.microsoft.com/office/drawing/2014/main" id="{C69F7C4A-4833-4868-90DA-3E90EA00EA8E}"/>
                </a:ext>
              </a:extLst>
            </p:cNvPr>
            <p:cNvSpPr/>
            <p:nvPr/>
          </p:nvSpPr>
          <p:spPr>
            <a:xfrm>
              <a:off x="946939" y="3519674"/>
              <a:ext cx="845922"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chemeClr val="accent4">
                      <a:lumMod val="75000"/>
                    </a:schemeClr>
                  </a:solidFill>
                  <a:latin typeface="SamsungOne 400" panose="020B0503030303020204" pitchFamily="34" charset="0"/>
                  <a:ea typeface="SamsungOne 400" panose="020B0503030303020204" pitchFamily="34" charset="0"/>
                </a:rPr>
                <a:t>NOT WORKING</a:t>
              </a:r>
            </a:p>
          </p:txBody>
        </p:sp>
        <p:sp>
          <p:nvSpPr>
            <p:cNvPr id="67" name="Rectangle 43">
              <a:extLst>
                <a:ext uri="{FF2B5EF4-FFF2-40B4-BE49-F238E27FC236}">
                  <a16:creationId xmlns:a16="http://schemas.microsoft.com/office/drawing/2014/main" id="{AC3014A6-960C-43B6-A491-DA70A6B09D1E}"/>
                </a:ext>
              </a:extLst>
            </p:cNvPr>
            <p:cNvSpPr/>
            <p:nvPr/>
          </p:nvSpPr>
          <p:spPr>
            <a:xfrm>
              <a:off x="1889237" y="3519674"/>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FF0000"/>
                  </a:solidFill>
                  <a:latin typeface="SamsungOne 400" panose="020B0503030303020204" pitchFamily="34" charset="0"/>
                  <a:ea typeface="SamsungOne 400" panose="020B0503030303020204" pitchFamily="34" charset="0"/>
                </a:rPr>
                <a:t>NO</a:t>
              </a:r>
            </a:p>
          </p:txBody>
        </p:sp>
        <p:sp>
          <p:nvSpPr>
            <p:cNvPr id="68" name="Rectangle 43">
              <a:extLst>
                <a:ext uri="{FF2B5EF4-FFF2-40B4-BE49-F238E27FC236}">
                  <a16:creationId xmlns:a16="http://schemas.microsoft.com/office/drawing/2014/main" id="{F8A1519B-57A3-4EB5-B7E7-B8A5E7A94920}"/>
                </a:ext>
              </a:extLst>
            </p:cNvPr>
            <p:cNvSpPr/>
            <p:nvPr/>
          </p:nvSpPr>
          <p:spPr>
            <a:xfrm>
              <a:off x="1276080" y="3855496"/>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3D9933"/>
                  </a:solidFill>
                  <a:latin typeface="SamsungOne 400" panose="020B0503030303020204" pitchFamily="34" charset="0"/>
                  <a:ea typeface="SamsungOne 400" panose="020B0503030303020204" pitchFamily="34" charset="0"/>
                </a:rPr>
                <a:t>YES</a:t>
              </a:r>
            </a:p>
          </p:txBody>
        </p:sp>
        <p:sp>
          <p:nvSpPr>
            <p:cNvPr id="69" name="타원 68">
              <a:extLst>
                <a:ext uri="{FF2B5EF4-FFF2-40B4-BE49-F238E27FC236}">
                  <a16:creationId xmlns:a16="http://schemas.microsoft.com/office/drawing/2014/main" id="{E9544285-4396-449C-AF62-DA0A291AD614}"/>
                </a:ext>
              </a:extLst>
            </p:cNvPr>
            <p:cNvSpPr/>
            <p:nvPr/>
          </p:nvSpPr>
          <p:spPr>
            <a:xfrm>
              <a:off x="4117229" y="3179475"/>
              <a:ext cx="780536"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70" name="Rectangle 43">
              <a:extLst>
                <a:ext uri="{FF2B5EF4-FFF2-40B4-BE49-F238E27FC236}">
                  <a16:creationId xmlns:a16="http://schemas.microsoft.com/office/drawing/2014/main" id="{B704BF39-4348-4E2B-B64F-82DFFC28893C}"/>
                </a:ext>
              </a:extLst>
            </p:cNvPr>
            <p:cNvSpPr/>
            <p:nvPr/>
          </p:nvSpPr>
          <p:spPr>
            <a:xfrm>
              <a:off x="4160973" y="3311300"/>
              <a:ext cx="694251"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Labeled data</a:t>
              </a:r>
            </a:p>
          </p:txBody>
        </p:sp>
        <p:cxnSp>
          <p:nvCxnSpPr>
            <p:cNvPr id="71" name="직선 화살표 연결선 70">
              <a:extLst>
                <a:ext uri="{FF2B5EF4-FFF2-40B4-BE49-F238E27FC236}">
                  <a16:creationId xmlns:a16="http://schemas.microsoft.com/office/drawing/2014/main" id="{C39C5ABE-505B-4536-9B05-577E23860FD3}"/>
                </a:ext>
              </a:extLst>
            </p:cNvPr>
            <p:cNvCxnSpPr/>
            <p:nvPr/>
          </p:nvCxnSpPr>
          <p:spPr>
            <a:xfrm flipH="1">
              <a:off x="3679095" y="3328695"/>
              <a:ext cx="389590" cy="0"/>
            </a:xfrm>
            <a:prstGeom prst="straightConnector1">
              <a:avLst/>
            </a:prstGeom>
            <a:ln w="19050">
              <a:solidFill>
                <a:srgbClr val="3D9933"/>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72" name="Rectangle 43">
              <a:extLst>
                <a:ext uri="{FF2B5EF4-FFF2-40B4-BE49-F238E27FC236}">
                  <a16:creationId xmlns:a16="http://schemas.microsoft.com/office/drawing/2014/main" id="{6C146605-1966-4BF4-938C-99834A47A00E}"/>
                </a:ext>
              </a:extLst>
            </p:cNvPr>
            <p:cNvSpPr/>
            <p:nvPr/>
          </p:nvSpPr>
          <p:spPr>
            <a:xfrm>
              <a:off x="3840815" y="3388854"/>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3D9933"/>
                  </a:solidFill>
                  <a:latin typeface="SamsungOne 400" panose="020B0503030303020204" pitchFamily="34" charset="0"/>
                  <a:ea typeface="SamsungOne 400" panose="020B0503030303020204" pitchFamily="34" charset="0"/>
                </a:rPr>
                <a:t>YES</a:t>
              </a:r>
            </a:p>
          </p:txBody>
        </p:sp>
        <p:sp>
          <p:nvSpPr>
            <p:cNvPr id="73" name="Rectangle 43">
              <a:extLst>
                <a:ext uri="{FF2B5EF4-FFF2-40B4-BE49-F238E27FC236}">
                  <a16:creationId xmlns:a16="http://schemas.microsoft.com/office/drawing/2014/main" id="{202DA623-12CF-4D7E-A855-415DC1909FAB}"/>
                </a:ext>
              </a:extLst>
            </p:cNvPr>
            <p:cNvSpPr/>
            <p:nvPr/>
          </p:nvSpPr>
          <p:spPr>
            <a:xfrm>
              <a:off x="4285563" y="3231841"/>
              <a:ext cx="44474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chemeClr val="tx1">
                      <a:lumMod val="85000"/>
                      <a:lumOff val="15000"/>
                    </a:schemeClr>
                  </a:solidFill>
                  <a:latin typeface="SamsungOne 400" panose="020B0503030303020204" pitchFamily="34" charset="0"/>
                  <a:ea typeface="SamsungOne 400" panose="020B0503030303020204" pitchFamily="34" charset="0"/>
                </a:rPr>
                <a:t>do you have</a:t>
              </a:r>
            </a:p>
          </p:txBody>
        </p:sp>
        <p:sp>
          <p:nvSpPr>
            <p:cNvPr id="74" name="타원 73">
              <a:extLst>
                <a:ext uri="{FF2B5EF4-FFF2-40B4-BE49-F238E27FC236}">
                  <a16:creationId xmlns:a16="http://schemas.microsoft.com/office/drawing/2014/main" id="{37030501-8012-4E37-ADCB-DEDE530341FA}"/>
                </a:ext>
              </a:extLst>
            </p:cNvPr>
            <p:cNvSpPr/>
            <p:nvPr/>
          </p:nvSpPr>
          <p:spPr>
            <a:xfrm>
              <a:off x="4117229" y="2709671"/>
              <a:ext cx="780536"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75" name="Rectangle 43">
              <a:extLst>
                <a:ext uri="{FF2B5EF4-FFF2-40B4-BE49-F238E27FC236}">
                  <a16:creationId xmlns:a16="http://schemas.microsoft.com/office/drawing/2014/main" id="{BB671557-8540-4BEF-8275-AE2E8CE4A9AA}"/>
                </a:ext>
              </a:extLst>
            </p:cNvPr>
            <p:cNvSpPr/>
            <p:nvPr/>
          </p:nvSpPr>
          <p:spPr>
            <a:xfrm>
              <a:off x="4160973" y="2841495"/>
              <a:ext cx="694251"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category</a:t>
              </a:r>
            </a:p>
          </p:txBody>
        </p:sp>
        <p:sp>
          <p:nvSpPr>
            <p:cNvPr id="76" name="Rectangle 43">
              <a:extLst>
                <a:ext uri="{FF2B5EF4-FFF2-40B4-BE49-F238E27FC236}">
                  <a16:creationId xmlns:a16="http://schemas.microsoft.com/office/drawing/2014/main" id="{411EA76A-F984-4C10-B572-D17A04907BD9}"/>
                </a:ext>
              </a:extLst>
            </p:cNvPr>
            <p:cNvSpPr/>
            <p:nvPr/>
          </p:nvSpPr>
          <p:spPr>
            <a:xfrm>
              <a:off x="4285563" y="2762037"/>
              <a:ext cx="44474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chemeClr val="tx1">
                      <a:lumMod val="85000"/>
                      <a:lumOff val="15000"/>
                    </a:schemeClr>
                  </a:solidFill>
                  <a:latin typeface="SamsungOne 400" panose="020B0503030303020204" pitchFamily="34" charset="0"/>
                  <a:ea typeface="SamsungOne 400" panose="020B0503030303020204" pitchFamily="34" charset="0"/>
                </a:rPr>
                <a:t>Predicting a</a:t>
              </a:r>
            </a:p>
          </p:txBody>
        </p:sp>
        <p:cxnSp>
          <p:nvCxnSpPr>
            <p:cNvPr id="77" name="직선 화살표 연결선 76">
              <a:extLst>
                <a:ext uri="{FF2B5EF4-FFF2-40B4-BE49-F238E27FC236}">
                  <a16:creationId xmlns:a16="http://schemas.microsoft.com/office/drawing/2014/main" id="{4116161E-3FD1-408C-86D7-38D970CD6FCA}"/>
                </a:ext>
              </a:extLst>
            </p:cNvPr>
            <p:cNvCxnSpPr/>
            <p:nvPr/>
          </p:nvCxnSpPr>
          <p:spPr>
            <a:xfrm>
              <a:off x="4507497" y="3032045"/>
              <a:ext cx="0" cy="114785"/>
            </a:xfrm>
            <a:prstGeom prst="straightConnector1">
              <a:avLst/>
            </a:prstGeom>
            <a:ln w="19050">
              <a:solidFill>
                <a:srgbClr val="3D9933"/>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78" name="타원 77">
              <a:extLst>
                <a:ext uri="{FF2B5EF4-FFF2-40B4-BE49-F238E27FC236}">
                  <a16:creationId xmlns:a16="http://schemas.microsoft.com/office/drawing/2014/main" id="{1BC244C8-25B6-49B6-85A2-BA84BD24F539}"/>
                </a:ext>
              </a:extLst>
            </p:cNvPr>
            <p:cNvSpPr/>
            <p:nvPr/>
          </p:nvSpPr>
          <p:spPr>
            <a:xfrm>
              <a:off x="4117229" y="2238642"/>
              <a:ext cx="780536"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79" name="Rectangle 43">
              <a:extLst>
                <a:ext uri="{FF2B5EF4-FFF2-40B4-BE49-F238E27FC236}">
                  <a16:creationId xmlns:a16="http://schemas.microsoft.com/office/drawing/2014/main" id="{B4541A2E-DBA9-4EEE-B0E8-5E7BE4AE3B11}"/>
                </a:ext>
              </a:extLst>
            </p:cNvPr>
            <p:cNvSpPr/>
            <p:nvPr/>
          </p:nvSpPr>
          <p:spPr>
            <a:xfrm>
              <a:off x="4285563" y="2284948"/>
              <a:ext cx="444749" cy="205826"/>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&gt;50k</a:t>
              </a:r>
            </a:p>
            <a:p>
              <a:pPr algn="ctr" defTabSz="914400"/>
              <a:r>
                <a:rPr lang="en-US" altLang="ko-KR" sz="500" b="1" dirty="0">
                  <a:solidFill>
                    <a:schemeClr val="tx1">
                      <a:lumMod val="85000"/>
                      <a:lumOff val="15000"/>
                    </a:schemeClr>
                  </a:solidFill>
                  <a:latin typeface="SamsungOne 400" panose="020B0503030303020204" pitchFamily="34" charset="0"/>
                  <a:ea typeface="SamsungOne 400" panose="020B0503030303020204" pitchFamily="34" charset="0"/>
                </a:rPr>
                <a:t>samples</a:t>
              </a:r>
            </a:p>
          </p:txBody>
        </p:sp>
        <p:cxnSp>
          <p:nvCxnSpPr>
            <p:cNvPr id="80" name="직선 화살표 연결선 79">
              <a:extLst>
                <a:ext uri="{FF2B5EF4-FFF2-40B4-BE49-F238E27FC236}">
                  <a16:creationId xmlns:a16="http://schemas.microsoft.com/office/drawing/2014/main" id="{B88DFEBF-B1C2-4735-ACF4-B3DB1A70F9BB}"/>
                </a:ext>
              </a:extLst>
            </p:cNvPr>
            <p:cNvCxnSpPr/>
            <p:nvPr/>
          </p:nvCxnSpPr>
          <p:spPr>
            <a:xfrm>
              <a:off x="4507497" y="2561016"/>
              <a:ext cx="0" cy="114785"/>
            </a:xfrm>
            <a:prstGeom prst="straightConnector1">
              <a:avLst/>
            </a:prstGeom>
            <a:ln w="19050">
              <a:solidFill>
                <a:srgbClr val="3D9933"/>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81" name="타원 80">
              <a:extLst>
                <a:ext uri="{FF2B5EF4-FFF2-40B4-BE49-F238E27FC236}">
                  <a16:creationId xmlns:a16="http://schemas.microsoft.com/office/drawing/2014/main" id="{4EB712AE-CF44-4D5A-A551-6CAE9128A898}"/>
                </a:ext>
              </a:extLst>
            </p:cNvPr>
            <p:cNvSpPr/>
            <p:nvPr/>
          </p:nvSpPr>
          <p:spPr>
            <a:xfrm>
              <a:off x="4117229" y="1772816"/>
              <a:ext cx="780536" cy="298440"/>
            </a:xfrm>
            <a:prstGeom prst="ellipse">
              <a:avLst/>
            </a:prstGeom>
            <a:solidFill>
              <a:schemeClr val="accent4">
                <a:lumMod val="60000"/>
                <a:lumOff val="40000"/>
              </a:schemeClr>
            </a:solid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82" name="Rectangle 43">
              <a:extLst>
                <a:ext uri="{FF2B5EF4-FFF2-40B4-BE49-F238E27FC236}">
                  <a16:creationId xmlns:a16="http://schemas.microsoft.com/office/drawing/2014/main" id="{20FA97EF-967B-4042-94F5-C540A0879DB6}"/>
                </a:ext>
              </a:extLst>
            </p:cNvPr>
            <p:cNvSpPr/>
            <p:nvPr/>
          </p:nvSpPr>
          <p:spPr>
            <a:xfrm>
              <a:off x="4285563" y="1831988"/>
              <a:ext cx="444749" cy="180098"/>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050" b="1" dirty="0">
                  <a:solidFill>
                    <a:schemeClr val="tx1">
                      <a:lumMod val="85000"/>
                      <a:lumOff val="15000"/>
                    </a:schemeClr>
                  </a:solidFill>
                  <a:latin typeface="SamsungOne 400" panose="020B0503030303020204" pitchFamily="34" charset="0"/>
                  <a:ea typeface="SamsungOne 400" panose="020B0503030303020204" pitchFamily="34" charset="0"/>
                </a:rPr>
                <a:t>START</a:t>
              </a:r>
              <a:endPar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endParaRPr>
            </a:p>
          </p:txBody>
        </p:sp>
        <p:cxnSp>
          <p:nvCxnSpPr>
            <p:cNvPr id="83" name="직선 화살표 연결선 82">
              <a:extLst>
                <a:ext uri="{FF2B5EF4-FFF2-40B4-BE49-F238E27FC236}">
                  <a16:creationId xmlns:a16="http://schemas.microsoft.com/office/drawing/2014/main" id="{EDC15EB0-B1D3-476D-B58D-2A4853F08356}"/>
                </a:ext>
              </a:extLst>
            </p:cNvPr>
            <p:cNvCxnSpPr/>
            <p:nvPr/>
          </p:nvCxnSpPr>
          <p:spPr>
            <a:xfrm>
              <a:off x="4953235" y="2375736"/>
              <a:ext cx="114785" cy="0"/>
            </a:xfrm>
            <a:prstGeom prst="straightConnector1">
              <a:avLst/>
            </a:prstGeom>
            <a:ln w="19050">
              <a:solidFill>
                <a:srgbClr val="DD2626"/>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84" name="Rectangle 43">
              <a:extLst>
                <a:ext uri="{FF2B5EF4-FFF2-40B4-BE49-F238E27FC236}">
                  <a16:creationId xmlns:a16="http://schemas.microsoft.com/office/drawing/2014/main" id="{8963B5DA-E228-4165-8CF9-847474D02CE0}"/>
                </a:ext>
              </a:extLst>
            </p:cNvPr>
            <p:cNvSpPr/>
            <p:nvPr/>
          </p:nvSpPr>
          <p:spPr>
            <a:xfrm>
              <a:off x="4548012" y="3056618"/>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3D9933"/>
                  </a:solidFill>
                  <a:latin typeface="SamsungOne 400" panose="020B0503030303020204" pitchFamily="34" charset="0"/>
                  <a:ea typeface="SamsungOne 400" panose="020B0503030303020204" pitchFamily="34" charset="0"/>
                </a:rPr>
                <a:t>YES</a:t>
              </a:r>
            </a:p>
          </p:txBody>
        </p:sp>
        <p:sp>
          <p:nvSpPr>
            <p:cNvPr id="85" name="Rectangle 43">
              <a:extLst>
                <a:ext uri="{FF2B5EF4-FFF2-40B4-BE49-F238E27FC236}">
                  <a16:creationId xmlns:a16="http://schemas.microsoft.com/office/drawing/2014/main" id="{6C9B5E86-7F99-4E9F-8F3C-0D1E25F3E5F1}"/>
                </a:ext>
              </a:extLst>
            </p:cNvPr>
            <p:cNvSpPr/>
            <p:nvPr/>
          </p:nvSpPr>
          <p:spPr>
            <a:xfrm>
              <a:off x="4548012" y="2585589"/>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3D9933"/>
                  </a:solidFill>
                  <a:latin typeface="SamsungOne 400" panose="020B0503030303020204" pitchFamily="34" charset="0"/>
                  <a:ea typeface="SamsungOne 400" panose="020B0503030303020204" pitchFamily="34" charset="0"/>
                </a:rPr>
                <a:t>YES</a:t>
              </a:r>
            </a:p>
          </p:txBody>
        </p:sp>
        <p:sp>
          <p:nvSpPr>
            <p:cNvPr id="86" name="Rectangle 43">
              <a:extLst>
                <a:ext uri="{FF2B5EF4-FFF2-40B4-BE49-F238E27FC236}">
                  <a16:creationId xmlns:a16="http://schemas.microsoft.com/office/drawing/2014/main" id="{D3D8270D-AC76-4A32-8134-34D40239A010}"/>
                </a:ext>
              </a:extLst>
            </p:cNvPr>
            <p:cNvSpPr/>
            <p:nvPr/>
          </p:nvSpPr>
          <p:spPr>
            <a:xfrm>
              <a:off x="4902734" y="2433074"/>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FF0000"/>
                  </a:solidFill>
                  <a:latin typeface="SamsungOne 400" panose="020B0503030303020204" pitchFamily="34" charset="0"/>
                  <a:ea typeface="SamsungOne 400" panose="020B0503030303020204" pitchFamily="34" charset="0"/>
                </a:rPr>
                <a:t>NO</a:t>
              </a:r>
            </a:p>
          </p:txBody>
        </p:sp>
        <p:sp>
          <p:nvSpPr>
            <p:cNvPr id="87" name="타원 86">
              <a:extLst>
                <a:ext uri="{FF2B5EF4-FFF2-40B4-BE49-F238E27FC236}">
                  <a16:creationId xmlns:a16="http://schemas.microsoft.com/office/drawing/2014/main" id="{4E384FCD-8FE1-4660-BD26-243D932679AC}"/>
                </a:ext>
              </a:extLst>
            </p:cNvPr>
            <p:cNvSpPr/>
            <p:nvPr/>
          </p:nvSpPr>
          <p:spPr>
            <a:xfrm>
              <a:off x="5134145" y="2231992"/>
              <a:ext cx="780536"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88" name="Rectangle 43">
              <a:extLst>
                <a:ext uri="{FF2B5EF4-FFF2-40B4-BE49-F238E27FC236}">
                  <a16:creationId xmlns:a16="http://schemas.microsoft.com/office/drawing/2014/main" id="{5FAD99FC-02F2-464D-A5AE-96DB83A684E7}"/>
                </a:ext>
              </a:extLst>
            </p:cNvPr>
            <p:cNvSpPr/>
            <p:nvPr/>
          </p:nvSpPr>
          <p:spPr>
            <a:xfrm>
              <a:off x="5177889" y="2363816"/>
              <a:ext cx="694251"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more data</a:t>
              </a:r>
            </a:p>
          </p:txBody>
        </p:sp>
        <p:sp>
          <p:nvSpPr>
            <p:cNvPr id="89" name="Rectangle 43">
              <a:extLst>
                <a:ext uri="{FF2B5EF4-FFF2-40B4-BE49-F238E27FC236}">
                  <a16:creationId xmlns:a16="http://schemas.microsoft.com/office/drawing/2014/main" id="{02405C19-B0B3-4CF0-AA5B-5BC735A51128}"/>
                </a:ext>
              </a:extLst>
            </p:cNvPr>
            <p:cNvSpPr/>
            <p:nvPr/>
          </p:nvSpPr>
          <p:spPr>
            <a:xfrm>
              <a:off x="5302479" y="2284358"/>
              <a:ext cx="44474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chemeClr val="tx1">
                      <a:lumMod val="85000"/>
                      <a:lumOff val="15000"/>
                    </a:schemeClr>
                  </a:solidFill>
                  <a:latin typeface="SamsungOne 400" panose="020B0503030303020204" pitchFamily="34" charset="0"/>
                  <a:ea typeface="SamsungOne 400" panose="020B0503030303020204" pitchFamily="34" charset="0"/>
                </a:rPr>
                <a:t>get</a:t>
              </a:r>
            </a:p>
          </p:txBody>
        </p:sp>
        <p:cxnSp>
          <p:nvCxnSpPr>
            <p:cNvPr id="90" name="직선 화살표 연결선 89">
              <a:extLst>
                <a:ext uri="{FF2B5EF4-FFF2-40B4-BE49-F238E27FC236}">
                  <a16:creationId xmlns:a16="http://schemas.microsoft.com/office/drawing/2014/main" id="{E9AA7AA0-A80E-4EA8-AF23-93A289C91C32}"/>
                </a:ext>
              </a:extLst>
            </p:cNvPr>
            <p:cNvCxnSpPr/>
            <p:nvPr/>
          </p:nvCxnSpPr>
          <p:spPr>
            <a:xfrm>
              <a:off x="4507497" y="2099700"/>
              <a:ext cx="0" cy="114785"/>
            </a:xfrm>
            <a:prstGeom prst="straightConnector1">
              <a:avLst/>
            </a:prstGeom>
            <a:ln w="19050">
              <a:solidFill>
                <a:schemeClr val="accent4">
                  <a:lumMod val="75000"/>
                </a:schemeClr>
              </a:solidFill>
              <a:headEnd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91" name="직선 화살표 연결선 90">
              <a:extLst>
                <a:ext uri="{FF2B5EF4-FFF2-40B4-BE49-F238E27FC236}">
                  <a16:creationId xmlns:a16="http://schemas.microsoft.com/office/drawing/2014/main" id="{D39750D1-201E-4E37-B7FA-21B9220FEA08}"/>
                </a:ext>
              </a:extLst>
            </p:cNvPr>
            <p:cNvCxnSpPr/>
            <p:nvPr/>
          </p:nvCxnSpPr>
          <p:spPr>
            <a:xfrm>
              <a:off x="4953235" y="2853415"/>
              <a:ext cx="114785" cy="0"/>
            </a:xfrm>
            <a:prstGeom prst="straightConnector1">
              <a:avLst/>
            </a:prstGeom>
            <a:ln w="19050">
              <a:solidFill>
                <a:srgbClr val="DD2626"/>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92" name="Rectangle 43">
              <a:extLst>
                <a:ext uri="{FF2B5EF4-FFF2-40B4-BE49-F238E27FC236}">
                  <a16:creationId xmlns:a16="http://schemas.microsoft.com/office/drawing/2014/main" id="{0201028F-E824-4E94-93D3-1D5DD490E845}"/>
                </a:ext>
              </a:extLst>
            </p:cNvPr>
            <p:cNvSpPr/>
            <p:nvPr/>
          </p:nvSpPr>
          <p:spPr>
            <a:xfrm>
              <a:off x="4902734" y="2910752"/>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FF0000"/>
                  </a:solidFill>
                  <a:latin typeface="SamsungOne 400" panose="020B0503030303020204" pitchFamily="34" charset="0"/>
                  <a:ea typeface="SamsungOne 400" panose="020B0503030303020204" pitchFamily="34" charset="0"/>
                </a:rPr>
                <a:t>NO</a:t>
              </a:r>
            </a:p>
          </p:txBody>
        </p:sp>
        <p:sp>
          <p:nvSpPr>
            <p:cNvPr id="93" name="타원 92">
              <a:extLst>
                <a:ext uri="{FF2B5EF4-FFF2-40B4-BE49-F238E27FC236}">
                  <a16:creationId xmlns:a16="http://schemas.microsoft.com/office/drawing/2014/main" id="{BADEADBD-0511-40B6-A336-A995078BA4D4}"/>
                </a:ext>
              </a:extLst>
            </p:cNvPr>
            <p:cNvSpPr/>
            <p:nvPr/>
          </p:nvSpPr>
          <p:spPr>
            <a:xfrm>
              <a:off x="5134145" y="2709671"/>
              <a:ext cx="780536"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94" name="Rectangle 43">
              <a:extLst>
                <a:ext uri="{FF2B5EF4-FFF2-40B4-BE49-F238E27FC236}">
                  <a16:creationId xmlns:a16="http://schemas.microsoft.com/office/drawing/2014/main" id="{A33EA6D0-B0A7-4FA5-9914-D3F430A52BD2}"/>
                </a:ext>
              </a:extLst>
            </p:cNvPr>
            <p:cNvSpPr/>
            <p:nvPr/>
          </p:nvSpPr>
          <p:spPr>
            <a:xfrm>
              <a:off x="5302479" y="2762037"/>
              <a:ext cx="44474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chemeClr val="tx1">
                      <a:lumMod val="85000"/>
                      <a:lumOff val="15000"/>
                    </a:schemeClr>
                  </a:solidFill>
                  <a:latin typeface="SamsungOne 400" panose="020B0503030303020204" pitchFamily="34" charset="0"/>
                  <a:ea typeface="SamsungOne 400" panose="020B0503030303020204" pitchFamily="34" charset="0"/>
                </a:rPr>
                <a:t>Predicting a</a:t>
              </a:r>
            </a:p>
          </p:txBody>
        </p:sp>
        <p:sp>
          <p:nvSpPr>
            <p:cNvPr id="95" name="Rectangle 43">
              <a:extLst>
                <a:ext uri="{FF2B5EF4-FFF2-40B4-BE49-F238E27FC236}">
                  <a16:creationId xmlns:a16="http://schemas.microsoft.com/office/drawing/2014/main" id="{F32C571A-B48C-40E1-91CF-D867DC66AB8D}"/>
                </a:ext>
              </a:extLst>
            </p:cNvPr>
            <p:cNvSpPr/>
            <p:nvPr/>
          </p:nvSpPr>
          <p:spPr>
            <a:xfrm>
              <a:off x="5177889" y="2841939"/>
              <a:ext cx="694251"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quantity</a:t>
              </a:r>
            </a:p>
          </p:txBody>
        </p:sp>
        <p:sp>
          <p:nvSpPr>
            <p:cNvPr id="96" name="Rectangle 43">
              <a:extLst>
                <a:ext uri="{FF2B5EF4-FFF2-40B4-BE49-F238E27FC236}">
                  <a16:creationId xmlns:a16="http://schemas.microsoft.com/office/drawing/2014/main" id="{E2C13A5E-4AE7-4200-827B-A2AB1BB22C3B}"/>
                </a:ext>
              </a:extLst>
            </p:cNvPr>
            <p:cNvSpPr/>
            <p:nvPr/>
          </p:nvSpPr>
          <p:spPr>
            <a:xfrm>
              <a:off x="4492411" y="4132328"/>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FF0000"/>
                  </a:solidFill>
                  <a:latin typeface="SamsungOne 400" panose="020B0503030303020204" pitchFamily="34" charset="0"/>
                  <a:ea typeface="SamsungOne 400" panose="020B0503030303020204" pitchFamily="34" charset="0"/>
                </a:rPr>
                <a:t>NO</a:t>
              </a:r>
            </a:p>
          </p:txBody>
        </p:sp>
        <p:sp>
          <p:nvSpPr>
            <p:cNvPr id="97" name="Rectangle 43">
              <a:extLst>
                <a:ext uri="{FF2B5EF4-FFF2-40B4-BE49-F238E27FC236}">
                  <a16:creationId xmlns:a16="http://schemas.microsoft.com/office/drawing/2014/main" id="{9C543BB3-FF63-47A0-AC2F-3BF60C77E155}"/>
                </a:ext>
              </a:extLst>
            </p:cNvPr>
            <p:cNvSpPr/>
            <p:nvPr/>
          </p:nvSpPr>
          <p:spPr>
            <a:xfrm>
              <a:off x="5990926" y="2916164"/>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3D9933"/>
                  </a:solidFill>
                  <a:latin typeface="SamsungOne 400" panose="020B0503030303020204" pitchFamily="34" charset="0"/>
                  <a:ea typeface="SamsungOne 400" panose="020B0503030303020204" pitchFamily="34" charset="0"/>
                </a:rPr>
                <a:t>YES</a:t>
              </a:r>
            </a:p>
          </p:txBody>
        </p:sp>
        <p:sp>
          <p:nvSpPr>
            <p:cNvPr id="98" name="타원 97">
              <a:extLst>
                <a:ext uri="{FF2B5EF4-FFF2-40B4-BE49-F238E27FC236}">
                  <a16:creationId xmlns:a16="http://schemas.microsoft.com/office/drawing/2014/main" id="{1618E0C4-0AEE-4D3B-861F-DD6BFCDA5244}"/>
                </a:ext>
              </a:extLst>
            </p:cNvPr>
            <p:cNvSpPr/>
            <p:nvPr/>
          </p:nvSpPr>
          <p:spPr>
            <a:xfrm>
              <a:off x="6444755" y="2709672"/>
              <a:ext cx="573923"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99" name="Rectangle 43">
              <a:extLst>
                <a:ext uri="{FF2B5EF4-FFF2-40B4-BE49-F238E27FC236}">
                  <a16:creationId xmlns:a16="http://schemas.microsoft.com/office/drawing/2014/main" id="{60BF39F3-30AD-40B0-95C6-82C78FF404E0}"/>
                </a:ext>
              </a:extLst>
            </p:cNvPr>
            <p:cNvSpPr/>
            <p:nvPr/>
          </p:nvSpPr>
          <p:spPr>
            <a:xfrm>
              <a:off x="6509342" y="2755977"/>
              <a:ext cx="444749" cy="205826"/>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&lt;100k</a:t>
              </a:r>
            </a:p>
            <a:p>
              <a:pPr algn="ctr" defTabSz="914400"/>
              <a:r>
                <a:rPr lang="en-US" altLang="ko-KR" sz="500" b="1" dirty="0">
                  <a:solidFill>
                    <a:schemeClr val="tx1">
                      <a:lumMod val="85000"/>
                      <a:lumOff val="15000"/>
                    </a:schemeClr>
                  </a:solidFill>
                  <a:latin typeface="SamsungOne 400" panose="020B0503030303020204" pitchFamily="34" charset="0"/>
                  <a:ea typeface="SamsungOne 400" panose="020B0503030303020204" pitchFamily="34" charset="0"/>
                </a:rPr>
                <a:t>samples</a:t>
              </a:r>
            </a:p>
          </p:txBody>
        </p:sp>
        <p:sp>
          <p:nvSpPr>
            <p:cNvPr id="100" name="모서리가 둥근 직사각형 123">
              <a:extLst>
                <a:ext uri="{FF2B5EF4-FFF2-40B4-BE49-F238E27FC236}">
                  <a16:creationId xmlns:a16="http://schemas.microsoft.com/office/drawing/2014/main" id="{3CAB5A82-DE3D-449C-93E5-F517A81F4E18}"/>
                </a:ext>
              </a:extLst>
            </p:cNvPr>
            <p:cNvSpPr/>
            <p:nvPr/>
          </p:nvSpPr>
          <p:spPr>
            <a:xfrm>
              <a:off x="596358" y="4322514"/>
              <a:ext cx="3219647" cy="1936567"/>
            </a:xfrm>
            <a:prstGeom prst="roundRect">
              <a:avLst>
                <a:gd name="adj" fmla="val 5644"/>
              </a:avLst>
            </a:prstGeom>
            <a:solidFill>
              <a:srgbClr val="F5F0FE"/>
            </a:solidFill>
            <a:ln w="19050">
              <a:solidFill>
                <a:srgbClr val="CD81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01" name="Rectangle 43">
              <a:extLst>
                <a:ext uri="{FF2B5EF4-FFF2-40B4-BE49-F238E27FC236}">
                  <a16:creationId xmlns:a16="http://schemas.microsoft.com/office/drawing/2014/main" id="{3AF41BDD-9A77-47CA-B4A6-68D0E6F69EC1}"/>
                </a:ext>
              </a:extLst>
            </p:cNvPr>
            <p:cNvSpPr/>
            <p:nvPr/>
          </p:nvSpPr>
          <p:spPr>
            <a:xfrm>
              <a:off x="1620714" y="4438455"/>
              <a:ext cx="1170934" cy="205826"/>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200" b="1" dirty="0">
                  <a:solidFill>
                    <a:schemeClr val="tx1">
                      <a:lumMod val="85000"/>
                      <a:lumOff val="15000"/>
                    </a:schemeClr>
                  </a:solidFill>
                  <a:latin typeface="SamsungOne 700" panose="020B0803030303020204" pitchFamily="34" charset="0"/>
                  <a:ea typeface="SamsungOne 700" panose="020B0803030303020204" pitchFamily="34" charset="0"/>
                </a:rPr>
                <a:t>clustering</a:t>
              </a:r>
            </a:p>
          </p:txBody>
        </p:sp>
        <p:sp>
          <p:nvSpPr>
            <p:cNvPr id="102" name="타원 101">
              <a:extLst>
                <a:ext uri="{FF2B5EF4-FFF2-40B4-BE49-F238E27FC236}">
                  <a16:creationId xmlns:a16="http://schemas.microsoft.com/office/drawing/2014/main" id="{9381890F-0006-464B-989A-13378CE1B272}"/>
                </a:ext>
              </a:extLst>
            </p:cNvPr>
            <p:cNvSpPr/>
            <p:nvPr/>
          </p:nvSpPr>
          <p:spPr>
            <a:xfrm>
              <a:off x="2457100" y="4820385"/>
              <a:ext cx="1162832"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03" name="Rectangle 43">
              <a:extLst>
                <a:ext uri="{FF2B5EF4-FFF2-40B4-BE49-F238E27FC236}">
                  <a16:creationId xmlns:a16="http://schemas.microsoft.com/office/drawing/2014/main" id="{A09EFF13-6CE9-4499-BB3C-74D02DD3DB0D}"/>
                </a:ext>
              </a:extLst>
            </p:cNvPr>
            <p:cNvSpPr/>
            <p:nvPr/>
          </p:nvSpPr>
          <p:spPr>
            <a:xfrm>
              <a:off x="2625843" y="4846495"/>
              <a:ext cx="825346" cy="24622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Number of</a:t>
              </a:r>
            </a:p>
            <a:p>
              <a:pPr algn="ctr" defTabSz="914400"/>
              <a:r>
                <a:rPr lang="en-US" altLang="ko-KR" sz="700" b="1" dirty="0" err="1">
                  <a:solidFill>
                    <a:schemeClr val="tx1">
                      <a:lumMod val="85000"/>
                      <a:lumOff val="15000"/>
                    </a:schemeClr>
                  </a:solidFill>
                  <a:latin typeface="SamsungOne 400" panose="020B0503030303020204" pitchFamily="34" charset="0"/>
                  <a:ea typeface="SamsungOne 400" panose="020B0503030303020204" pitchFamily="34" charset="0"/>
                </a:rPr>
                <a:t>Categoties</a:t>
              </a:r>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 known</a:t>
              </a:r>
            </a:p>
          </p:txBody>
        </p:sp>
        <p:cxnSp>
          <p:nvCxnSpPr>
            <p:cNvPr id="104" name="꺾인 연결선 127">
              <a:extLst>
                <a:ext uri="{FF2B5EF4-FFF2-40B4-BE49-F238E27FC236}">
                  <a16:creationId xmlns:a16="http://schemas.microsoft.com/office/drawing/2014/main" id="{698FB17D-06CC-4897-B7A6-1ED9550BF3D3}"/>
                </a:ext>
              </a:extLst>
            </p:cNvPr>
            <p:cNvCxnSpPr/>
            <p:nvPr/>
          </p:nvCxnSpPr>
          <p:spPr>
            <a:xfrm rot="5400000">
              <a:off x="3369177" y="3851679"/>
              <a:ext cx="1446287" cy="826450"/>
            </a:xfrm>
            <a:prstGeom prst="bentConnector2">
              <a:avLst/>
            </a:prstGeom>
            <a:ln w="19050">
              <a:solidFill>
                <a:srgbClr val="DD2626"/>
              </a:solidFill>
              <a:tailEnd type="triangle"/>
            </a:ln>
          </p:spPr>
          <p:style>
            <a:lnRef idx="1">
              <a:schemeClr val="accent1"/>
            </a:lnRef>
            <a:fillRef idx="0">
              <a:schemeClr val="accent1"/>
            </a:fillRef>
            <a:effectRef idx="0">
              <a:schemeClr val="accent1"/>
            </a:effectRef>
            <a:fontRef idx="minor">
              <a:schemeClr val="tx1"/>
            </a:fontRef>
          </p:style>
        </p:cxnSp>
        <p:sp>
          <p:nvSpPr>
            <p:cNvPr id="105" name="모서리가 둥근 직사각형 128">
              <a:extLst>
                <a:ext uri="{FF2B5EF4-FFF2-40B4-BE49-F238E27FC236}">
                  <a16:creationId xmlns:a16="http://schemas.microsoft.com/office/drawing/2014/main" id="{B2E9E1EB-411D-4ABC-B6A3-92A4C47FD30C}"/>
                </a:ext>
              </a:extLst>
            </p:cNvPr>
            <p:cNvSpPr/>
            <p:nvPr/>
          </p:nvSpPr>
          <p:spPr>
            <a:xfrm>
              <a:off x="6242898" y="4322513"/>
              <a:ext cx="3100112" cy="1936567"/>
            </a:xfrm>
            <a:prstGeom prst="roundRect">
              <a:avLst>
                <a:gd name="adj" fmla="val 5644"/>
              </a:avLst>
            </a:prstGeom>
            <a:solidFill>
              <a:srgbClr val="FFF8E5"/>
            </a:solid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06" name="타원 105">
              <a:extLst>
                <a:ext uri="{FF2B5EF4-FFF2-40B4-BE49-F238E27FC236}">
                  <a16:creationId xmlns:a16="http://schemas.microsoft.com/office/drawing/2014/main" id="{7748A9A6-FF4D-4962-8055-C3978BAC7CDE}"/>
                </a:ext>
              </a:extLst>
            </p:cNvPr>
            <p:cNvSpPr/>
            <p:nvPr/>
          </p:nvSpPr>
          <p:spPr>
            <a:xfrm>
              <a:off x="5134145" y="4819639"/>
              <a:ext cx="780536"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07" name="Rectangle 43">
              <a:extLst>
                <a:ext uri="{FF2B5EF4-FFF2-40B4-BE49-F238E27FC236}">
                  <a16:creationId xmlns:a16="http://schemas.microsoft.com/office/drawing/2014/main" id="{6EFA1B0D-8B5B-41E2-8E0A-6FB3EDC912D9}"/>
                </a:ext>
              </a:extLst>
            </p:cNvPr>
            <p:cNvSpPr/>
            <p:nvPr/>
          </p:nvSpPr>
          <p:spPr>
            <a:xfrm>
              <a:off x="5302479" y="4862065"/>
              <a:ext cx="44474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chemeClr val="tx1">
                      <a:lumMod val="85000"/>
                      <a:lumOff val="15000"/>
                    </a:schemeClr>
                  </a:solidFill>
                  <a:latin typeface="SamsungOne 400" panose="020B0503030303020204" pitchFamily="34" charset="0"/>
                  <a:ea typeface="SamsungOne 400" panose="020B0503030303020204" pitchFamily="34" charset="0"/>
                </a:rPr>
                <a:t>just</a:t>
              </a:r>
            </a:p>
          </p:txBody>
        </p:sp>
        <p:sp>
          <p:nvSpPr>
            <p:cNvPr id="108" name="Rectangle 43">
              <a:extLst>
                <a:ext uri="{FF2B5EF4-FFF2-40B4-BE49-F238E27FC236}">
                  <a16:creationId xmlns:a16="http://schemas.microsoft.com/office/drawing/2014/main" id="{F9970A28-DEAE-4FC9-A1FC-BF083733FC2F}"/>
                </a:ext>
              </a:extLst>
            </p:cNvPr>
            <p:cNvSpPr/>
            <p:nvPr/>
          </p:nvSpPr>
          <p:spPr>
            <a:xfrm>
              <a:off x="5177889" y="4941968"/>
              <a:ext cx="694251"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err="1">
                  <a:solidFill>
                    <a:schemeClr val="tx1">
                      <a:lumMod val="85000"/>
                      <a:lumOff val="15000"/>
                    </a:schemeClr>
                  </a:solidFill>
                  <a:latin typeface="SamsungOne 400" panose="020B0503030303020204" pitchFamily="34" charset="0"/>
                  <a:ea typeface="SamsungOne 400" panose="020B0503030303020204" pitchFamily="34" charset="0"/>
                </a:rPr>
                <a:t>lookong</a:t>
              </a:r>
              <a:endPar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endParaRPr>
            </a:p>
          </p:txBody>
        </p:sp>
        <p:cxnSp>
          <p:nvCxnSpPr>
            <p:cNvPr id="109" name="직선 화살표 연결선 108">
              <a:extLst>
                <a:ext uri="{FF2B5EF4-FFF2-40B4-BE49-F238E27FC236}">
                  <a16:creationId xmlns:a16="http://schemas.microsoft.com/office/drawing/2014/main" id="{998B21B2-F2FD-4389-A2CC-4D00D72A5B39}"/>
                </a:ext>
              </a:extLst>
            </p:cNvPr>
            <p:cNvCxnSpPr/>
            <p:nvPr/>
          </p:nvCxnSpPr>
          <p:spPr>
            <a:xfrm>
              <a:off x="5524412" y="3032045"/>
              <a:ext cx="0" cy="1694192"/>
            </a:xfrm>
            <a:prstGeom prst="straightConnector1">
              <a:avLst/>
            </a:prstGeom>
            <a:ln w="19050">
              <a:solidFill>
                <a:srgbClr val="DD2626"/>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10" name="Rectangle 43">
              <a:extLst>
                <a:ext uri="{FF2B5EF4-FFF2-40B4-BE49-F238E27FC236}">
                  <a16:creationId xmlns:a16="http://schemas.microsoft.com/office/drawing/2014/main" id="{A821E7CE-FB7B-448C-9215-E74B09E51F6F}"/>
                </a:ext>
              </a:extLst>
            </p:cNvPr>
            <p:cNvSpPr/>
            <p:nvPr/>
          </p:nvSpPr>
          <p:spPr>
            <a:xfrm>
              <a:off x="5534012" y="3811923"/>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FF0000"/>
                  </a:solidFill>
                  <a:latin typeface="SamsungOne 400" panose="020B0503030303020204" pitchFamily="34" charset="0"/>
                  <a:ea typeface="SamsungOne 400" panose="020B0503030303020204" pitchFamily="34" charset="0"/>
                </a:rPr>
                <a:t>NO</a:t>
              </a:r>
            </a:p>
          </p:txBody>
        </p:sp>
        <p:cxnSp>
          <p:nvCxnSpPr>
            <p:cNvPr id="111" name="직선 화살표 연결선 110">
              <a:extLst>
                <a:ext uri="{FF2B5EF4-FFF2-40B4-BE49-F238E27FC236}">
                  <a16:creationId xmlns:a16="http://schemas.microsoft.com/office/drawing/2014/main" id="{0DCB68E8-F70A-4945-BD88-2F4F38113DAD}"/>
                </a:ext>
              </a:extLst>
            </p:cNvPr>
            <p:cNvCxnSpPr/>
            <p:nvPr/>
          </p:nvCxnSpPr>
          <p:spPr>
            <a:xfrm>
              <a:off x="5974497" y="4976758"/>
              <a:ext cx="432000" cy="0"/>
            </a:xfrm>
            <a:prstGeom prst="straightConnector1">
              <a:avLst/>
            </a:prstGeom>
            <a:ln w="19050">
              <a:solidFill>
                <a:srgbClr val="3D9933"/>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12" name="Rectangle 43">
              <a:extLst>
                <a:ext uri="{FF2B5EF4-FFF2-40B4-BE49-F238E27FC236}">
                  <a16:creationId xmlns:a16="http://schemas.microsoft.com/office/drawing/2014/main" id="{05E8E022-F567-429C-9CB6-8DC21976FFB2}"/>
                </a:ext>
              </a:extLst>
            </p:cNvPr>
            <p:cNvSpPr/>
            <p:nvPr/>
          </p:nvSpPr>
          <p:spPr>
            <a:xfrm>
              <a:off x="5990926" y="5036917"/>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3D9933"/>
                  </a:solidFill>
                  <a:latin typeface="SamsungOne 400" panose="020B0503030303020204" pitchFamily="34" charset="0"/>
                  <a:ea typeface="SamsungOne 400" panose="020B0503030303020204" pitchFamily="34" charset="0"/>
                </a:rPr>
                <a:t>YES</a:t>
              </a:r>
            </a:p>
          </p:txBody>
        </p:sp>
        <p:sp>
          <p:nvSpPr>
            <p:cNvPr id="113" name="모서리가 둥근 직사각형 138">
              <a:extLst>
                <a:ext uri="{FF2B5EF4-FFF2-40B4-BE49-F238E27FC236}">
                  <a16:creationId xmlns:a16="http://schemas.microsoft.com/office/drawing/2014/main" id="{98308D12-A840-4141-AE28-926DCA7476BC}"/>
                </a:ext>
              </a:extLst>
            </p:cNvPr>
            <p:cNvSpPr/>
            <p:nvPr/>
          </p:nvSpPr>
          <p:spPr>
            <a:xfrm>
              <a:off x="6433853" y="4821569"/>
              <a:ext cx="691129" cy="298440"/>
            </a:xfrm>
            <a:prstGeom prst="roundRect">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14" name="Rectangle 43">
              <a:extLst>
                <a:ext uri="{FF2B5EF4-FFF2-40B4-BE49-F238E27FC236}">
                  <a16:creationId xmlns:a16="http://schemas.microsoft.com/office/drawing/2014/main" id="{BA733529-3069-4768-B599-D6361255E780}"/>
                </a:ext>
              </a:extLst>
            </p:cNvPr>
            <p:cNvSpPr/>
            <p:nvPr/>
          </p:nvSpPr>
          <p:spPr>
            <a:xfrm>
              <a:off x="6493662" y="4847679"/>
              <a:ext cx="573924" cy="24622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Randomized</a:t>
              </a:r>
            </a:p>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PCA</a:t>
              </a:r>
            </a:p>
          </p:txBody>
        </p:sp>
        <p:sp>
          <p:nvSpPr>
            <p:cNvPr id="115" name="타원 114">
              <a:extLst>
                <a:ext uri="{FF2B5EF4-FFF2-40B4-BE49-F238E27FC236}">
                  <a16:creationId xmlns:a16="http://schemas.microsoft.com/office/drawing/2014/main" id="{C76BC694-11B9-4468-859D-EF371240D701}"/>
                </a:ext>
              </a:extLst>
            </p:cNvPr>
            <p:cNvSpPr/>
            <p:nvPr/>
          </p:nvSpPr>
          <p:spPr>
            <a:xfrm>
              <a:off x="5134145" y="5317125"/>
              <a:ext cx="780536"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16" name="Rectangle 43">
              <a:extLst>
                <a:ext uri="{FF2B5EF4-FFF2-40B4-BE49-F238E27FC236}">
                  <a16:creationId xmlns:a16="http://schemas.microsoft.com/office/drawing/2014/main" id="{9B050FE2-DF8F-4176-9A37-CAF510A85DF1}"/>
                </a:ext>
              </a:extLst>
            </p:cNvPr>
            <p:cNvSpPr/>
            <p:nvPr/>
          </p:nvSpPr>
          <p:spPr>
            <a:xfrm>
              <a:off x="5302479" y="5369490"/>
              <a:ext cx="44474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chemeClr val="tx1">
                      <a:lumMod val="85000"/>
                      <a:lumOff val="15000"/>
                    </a:schemeClr>
                  </a:solidFill>
                  <a:latin typeface="SamsungOne 400" panose="020B0503030303020204" pitchFamily="34" charset="0"/>
                  <a:ea typeface="SamsungOne 400" panose="020B0503030303020204" pitchFamily="34" charset="0"/>
                </a:rPr>
                <a:t>predicting</a:t>
              </a:r>
            </a:p>
          </p:txBody>
        </p:sp>
        <p:sp>
          <p:nvSpPr>
            <p:cNvPr id="117" name="Rectangle 43">
              <a:extLst>
                <a:ext uri="{FF2B5EF4-FFF2-40B4-BE49-F238E27FC236}">
                  <a16:creationId xmlns:a16="http://schemas.microsoft.com/office/drawing/2014/main" id="{F034FA2E-D3DE-4E3F-BC2A-55C87DFACCF0}"/>
                </a:ext>
              </a:extLst>
            </p:cNvPr>
            <p:cNvSpPr/>
            <p:nvPr/>
          </p:nvSpPr>
          <p:spPr>
            <a:xfrm>
              <a:off x="5177889" y="5449393"/>
              <a:ext cx="694251"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structure</a:t>
              </a:r>
            </a:p>
          </p:txBody>
        </p:sp>
        <p:cxnSp>
          <p:nvCxnSpPr>
            <p:cNvPr id="118" name="직선 화살표 연결선 117">
              <a:extLst>
                <a:ext uri="{FF2B5EF4-FFF2-40B4-BE49-F238E27FC236}">
                  <a16:creationId xmlns:a16="http://schemas.microsoft.com/office/drawing/2014/main" id="{BDF11DA8-0647-411D-9F75-774BA7DEE90D}"/>
                </a:ext>
              </a:extLst>
            </p:cNvPr>
            <p:cNvCxnSpPr/>
            <p:nvPr/>
          </p:nvCxnSpPr>
          <p:spPr>
            <a:xfrm>
              <a:off x="5524412" y="5173853"/>
              <a:ext cx="0" cy="114785"/>
            </a:xfrm>
            <a:prstGeom prst="straightConnector1">
              <a:avLst/>
            </a:prstGeom>
            <a:ln w="19050">
              <a:solidFill>
                <a:srgbClr val="C00000"/>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19" name="Rectangle 43">
              <a:extLst>
                <a:ext uri="{FF2B5EF4-FFF2-40B4-BE49-F238E27FC236}">
                  <a16:creationId xmlns:a16="http://schemas.microsoft.com/office/drawing/2014/main" id="{F01B2AF7-7E24-44B0-BE7D-6C7B205FCC1F}"/>
                </a:ext>
              </a:extLst>
            </p:cNvPr>
            <p:cNvSpPr/>
            <p:nvPr/>
          </p:nvSpPr>
          <p:spPr>
            <a:xfrm>
              <a:off x="5534012" y="5178659"/>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DD2626"/>
                  </a:solidFill>
                  <a:latin typeface="SamsungOne 400" panose="020B0503030303020204" pitchFamily="34" charset="0"/>
                  <a:ea typeface="SamsungOne 400" panose="020B0503030303020204" pitchFamily="34" charset="0"/>
                </a:rPr>
                <a:t>NO</a:t>
              </a:r>
            </a:p>
          </p:txBody>
        </p:sp>
        <p:sp>
          <p:nvSpPr>
            <p:cNvPr id="120" name="타원 119">
              <a:extLst>
                <a:ext uri="{FF2B5EF4-FFF2-40B4-BE49-F238E27FC236}">
                  <a16:creationId xmlns:a16="http://schemas.microsoft.com/office/drawing/2014/main" id="{B3CCBF41-7027-4E27-81DF-FA8100668A5C}"/>
                </a:ext>
              </a:extLst>
            </p:cNvPr>
            <p:cNvSpPr/>
            <p:nvPr/>
          </p:nvSpPr>
          <p:spPr>
            <a:xfrm>
              <a:off x="4117229" y="5318790"/>
              <a:ext cx="780536"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cxnSp>
          <p:nvCxnSpPr>
            <p:cNvPr id="121" name="직선 화살표 연결선 120">
              <a:extLst>
                <a:ext uri="{FF2B5EF4-FFF2-40B4-BE49-F238E27FC236}">
                  <a16:creationId xmlns:a16="http://schemas.microsoft.com/office/drawing/2014/main" id="{7CA39079-5528-4252-86B0-BED3D745978B}"/>
                </a:ext>
              </a:extLst>
            </p:cNvPr>
            <p:cNvCxnSpPr/>
            <p:nvPr/>
          </p:nvCxnSpPr>
          <p:spPr>
            <a:xfrm flipH="1">
              <a:off x="4953235" y="5475635"/>
              <a:ext cx="114785" cy="0"/>
            </a:xfrm>
            <a:prstGeom prst="straightConnector1">
              <a:avLst/>
            </a:prstGeom>
            <a:ln w="19050">
              <a:solidFill>
                <a:schemeClr val="accent4">
                  <a:lumMod val="75000"/>
                </a:schemeClr>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22" name="Rectangle 43">
              <a:extLst>
                <a:ext uri="{FF2B5EF4-FFF2-40B4-BE49-F238E27FC236}">
                  <a16:creationId xmlns:a16="http://schemas.microsoft.com/office/drawing/2014/main" id="{B2E261C4-D6DA-4C78-900F-680CC816CB35}"/>
                </a:ext>
              </a:extLst>
            </p:cNvPr>
            <p:cNvSpPr/>
            <p:nvPr/>
          </p:nvSpPr>
          <p:spPr>
            <a:xfrm>
              <a:off x="4285123" y="5344899"/>
              <a:ext cx="444749" cy="24622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tough</a:t>
              </a:r>
            </a:p>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luck</a:t>
              </a:r>
            </a:p>
          </p:txBody>
        </p:sp>
        <p:sp>
          <p:nvSpPr>
            <p:cNvPr id="123" name="타원 122">
              <a:extLst>
                <a:ext uri="{FF2B5EF4-FFF2-40B4-BE49-F238E27FC236}">
                  <a16:creationId xmlns:a16="http://schemas.microsoft.com/office/drawing/2014/main" id="{B9DA7BE9-9BCF-41EB-AACE-60FFA6F6DFE1}"/>
                </a:ext>
              </a:extLst>
            </p:cNvPr>
            <p:cNvSpPr/>
            <p:nvPr/>
          </p:nvSpPr>
          <p:spPr>
            <a:xfrm>
              <a:off x="2457099" y="5319983"/>
              <a:ext cx="1162800"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24" name="Rectangle 43">
              <a:extLst>
                <a:ext uri="{FF2B5EF4-FFF2-40B4-BE49-F238E27FC236}">
                  <a16:creationId xmlns:a16="http://schemas.microsoft.com/office/drawing/2014/main" id="{798EBBDB-B79E-44D1-8DEC-960FBF0D6818}"/>
                </a:ext>
              </a:extLst>
            </p:cNvPr>
            <p:cNvSpPr/>
            <p:nvPr/>
          </p:nvSpPr>
          <p:spPr>
            <a:xfrm>
              <a:off x="2816141" y="5366290"/>
              <a:ext cx="444749" cy="205826"/>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&lt;10k</a:t>
              </a:r>
            </a:p>
            <a:p>
              <a:pPr algn="ctr" defTabSz="914400"/>
              <a:r>
                <a:rPr lang="en-US" altLang="ko-KR" sz="500" b="1" dirty="0">
                  <a:solidFill>
                    <a:schemeClr val="tx1">
                      <a:lumMod val="85000"/>
                      <a:lumOff val="15000"/>
                    </a:schemeClr>
                  </a:solidFill>
                  <a:latin typeface="SamsungOne 400" panose="020B0503030303020204" pitchFamily="34" charset="0"/>
                  <a:ea typeface="SamsungOne 400" panose="020B0503030303020204" pitchFamily="34" charset="0"/>
                </a:rPr>
                <a:t>samples</a:t>
              </a:r>
            </a:p>
          </p:txBody>
        </p:sp>
        <p:cxnSp>
          <p:nvCxnSpPr>
            <p:cNvPr id="125" name="직선 화살표 연결선 124">
              <a:extLst>
                <a:ext uri="{FF2B5EF4-FFF2-40B4-BE49-F238E27FC236}">
                  <a16:creationId xmlns:a16="http://schemas.microsoft.com/office/drawing/2014/main" id="{B95CE4C9-3D1E-4B81-8EE9-EC798F43D379}"/>
                </a:ext>
              </a:extLst>
            </p:cNvPr>
            <p:cNvCxnSpPr/>
            <p:nvPr/>
          </p:nvCxnSpPr>
          <p:spPr>
            <a:xfrm>
              <a:off x="3679096" y="5475635"/>
              <a:ext cx="390268" cy="0"/>
            </a:xfrm>
            <a:prstGeom prst="straightConnector1">
              <a:avLst/>
            </a:prstGeom>
            <a:ln w="19050">
              <a:solidFill>
                <a:srgbClr val="DD2626"/>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26" name="Rectangle 43">
              <a:extLst>
                <a:ext uri="{FF2B5EF4-FFF2-40B4-BE49-F238E27FC236}">
                  <a16:creationId xmlns:a16="http://schemas.microsoft.com/office/drawing/2014/main" id="{E18139F6-DD50-4DB0-A21F-7E6BB7DDE127}"/>
                </a:ext>
              </a:extLst>
            </p:cNvPr>
            <p:cNvSpPr/>
            <p:nvPr/>
          </p:nvSpPr>
          <p:spPr>
            <a:xfrm>
              <a:off x="3791110" y="5549281"/>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DD2626"/>
                  </a:solidFill>
                  <a:latin typeface="SamsungOne 400" panose="020B0503030303020204" pitchFamily="34" charset="0"/>
                  <a:ea typeface="SamsungOne 400" panose="020B0503030303020204" pitchFamily="34" charset="0"/>
                </a:rPr>
                <a:t>NO</a:t>
              </a:r>
            </a:p>
          </p:txBody>
        </p:sp>
        <p:cxnSp>
          <p:nvCxnSpPr>
            <p:cNvPr id="127" name="직선 화살표 연결선 126">
              <a:extLst>
                <a:ext uri="{FF2B5EF4-FFF2-40B4-BE49-F238E27FC236}">
                  <a16:creationId xmlns:a16="http://schemas.microsoft.com/office/drawing/2014/main" id="{B30D185D-B8E9-4F53-93BC-7A67610FAF34}"/>
                </a:ext>
              </a:extLst>
            </p:cNvPr>
            <p:cNvCxnSpPr/>
            <p:nvPr/>
          </p:nvCxnSpPr>
          <p:spPr>
            <a:xfrm>
              <a:off x="5974497" y="2853415"/>
              <a:ext cx="432000" cy="0"/>
            </a:xfrm>
            <a:prstGeom prst="straightConnector1">
              <a:avLst/>
            </a:prstGeom>
            <a:ln w="19050">
              <a:solidFill>
                <a:srgbClr val="3D9933"/>
              </a:solidFill>
              <a:headEnd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28" name="직선 화살표 연결선 127">
              <a:extLst>
                <a:ext uri="{FF2B5EF4-FFF2-40B4-BE49-F238E27FC236}">
                  <a16:creationId xmlns:a16="http://schemas.microsoft.com/office/drawing/2014/main" id="{AC7847E0-7B46-4DBB-8B79-F1CF03EDBD4E}"/>
                </a:ext>
              </a:extLst>
            </p:cNvPr>
            <p:cNvCxnSpPr/>
            <p:nvPr/>
          </p:nvCxnSpPr>
          <p:spPr>
            <a:xfrm>
              <a:off x="6731742" y="3038596"/>
              <a:ext cx="0" cy="114785"/>
            </a:xfrm>
            <a:prstGeom prst="straightConnector1">
              <a:avLst/>
            </a:prstGeom>
            <a:ln w="19050">
              <a:solidFill>
                <a:srgbClr val="DD2626"/>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29" name="Rectangle 43">
              <a:extLst>
                <a:ext uri="{FF2B5EF4-FFF2-40B4-BE49-F238E27FC236}">
                  <a16:creationId xmlns:a16="http://schemas.microsoft.com/office/drawing/2014/main" id="{3A2FDFBC-AC97-4029-B025-3483E9D2F0BC}"/>
                </a:ext>
              </a:extLst>
            </p:cNvPr>
            <p:cNvSpPr/>
            <p:nvPr/>
          </p:nvSpPr>
          <p:spPr>
            <a:xfrm>
              <a:off x="6763556" y="3061593"/>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FF0000"/>
                  </a:solidFill>
                  <a:latin typeface="SamsungOne 400" panose="020B0503030303020204" pitchFamily="34" charset="0"/>
                  <a:ea typeface="SamsungOne 400" panose="020B0503030303020204" pitchFamily="34" charset="0"/>
                </a:rPr>
                <a:t>NO</a:t>
              </a:r>
            </a:p>
          </p:txBody>
        </p:sp>
        <p:sp>
          <p:nvSpPr>
            <p:cNvPr id="130" name="Rectangle 43">
              <a:extLst>
                <a:ext uri="{FF2B5EF4-FFF2-40B4-BE49-F238E27FC236}">
                  <a16:creationId xmlns:a16="http://schemas.microsoft.com/office/drawing/2014/main" id="{72CD8F41-7E39-4141-BC2B-53EC46E2B45E}"/>
                </a:ext>
              </a:extLst>
            </p:cNvPr>
            <p:cNvSpPr/>
            <p:nvPr/>
          </p:nvSpPr>
          <p:spPr>
            <a:xfrm>
              <a:off x="7207487" y="2135728"/>
              <a:ext cx="1170934" cy="205826"/>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200" b="1" dirty="0">
                  <a:solidFill>
                    <a:schemeClr val="tx1">
                      <a:lumMod val="85000"/>
                      <a:lumOff val="15000"/>
                    </a:schemeClr>
                  </a:solidFill>
                  <a:latin typeface="SamsungOne 700" panose="020B0803030303020204" pitchFamily="34" charset="0"/>
                  <a:ea typeface="SamsungOne 700" panose="020B0803030303020204" pitchFamily="34" charset="0"/>
                </a:rPr>
                <a:t>regression</a:t>
              </a:r>
            </a:p>
          </p:txBody>
        </p:sp>
        <p:sp>
          <p:nvSpPr>
            <p:cNvPr id="131" name="모서리가 둥근 직사각형 169">
              <a:extLst>
                <a:ext uri="{FF2B5EF4-FFF2-40B4-BE49-F238E27FC236}">
                  <a16:creationId xmlns:a16="http://schemas.microsoft.com/office/drawing/2014/main" id="{4D6F2863-E153-4A9D-9D38-8C607A753700}"/>
                </a:ext>
              </a:extLst>
            </p:cNvPr>
            <p:cNvSpPr/>
            <p:nvPr/>
          </p:nvSpPr>
          <p:spPr>
            <a:xfrm>
              <a:off x="6444780" y="3185274"/>
              <a:ext cx="573923" cy="298440"/>
            </a:xfrm>
            <a:prstGeom prst="roundRect">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32" name="Rectangle 43">
              <a:extLst>
                <a:ext uri="{FF2B5EF4-FFF2-40B4-BE49-F238E27FC236}">
                  <a16:creationId xmlns:a16="http://schemas.microsoft.com/office/drawing/2014/main" id="{210CB1FB-0336-4F4A-A87D-822BB8F67BB3}"/>
                </a:ext>
              </a:extLst>
            </p:cNvPr>
            <p:cNvSpPr/>
            <p:nvPr/>
          </p:nvSpPr>
          <p:spPr>
            <a:xfrm>
              <a:off x="6481694" y="3211382"/>
              <a:ext cx="500095" cy="24622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SGD</a:t>
              </a:r>
            </a:p>
            <a:p>
              <a:pPr algn="ctr" defTabSz="914400"/>
              <a:r>
                <a:rPr lang="en-US" altLang="ko-KR" sz="700" b="1" dirty="0" err="1">
                  <a:solidFill>
                    <a:schemeClr val="tx1">
                      <a:lumMod val="85000"/>
                      <a:lumOff val="15000"/>
                    </a:schemeClr>
                  </a:solidFill>
                  <a:latin typeface="SamsungOne 400" panose="020B0503030303020204" pitchFamily="34" charset="0"/>
                  <a:ea typeface="SamsungOne 400" panose="020B0503030303020204" pitchFamily="34" charset="0"/>
                </a:rPr>
                <a:t>Regressor</a:t>
              </a:r>
              <a:endPar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133" name="타원 132">
              <a:extLst>
                <a:ext uri="{FF2B5EF4-FFF2-40B4-BE49-F238E27FC236}">
                  <a16:creationId xmlns:a16="http://schemas.microsoft.com/office/drawing/2014/main" id="{44DA0CCB-A939-4406-9165-CA9E2639D4A6}"/>
                </a:ext>
              </a:extLst>
            </p:cNvPr>
            <p:cNvSpPr/>
            <p:nvPr/>
          </p:nvSpPr>
          <p:spPr>
            <a:xfrm>
              <a:off x="7218268" y="2709672"/>
              <a:ext cx="1193109"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34" name="Rectangle 43">
              <a:extLst>
                <a:ext uri="{FF2B5EF4-FFF2-40B4-BE49-F238E27FC236}">
                  <a16:creationId xmlns:a16="http://schemas.microsoft.com/office/drawing/2014/main" id="{D29F3F6D-CE35-4AEC-828C-C509F204DB3B}"/>
                </a:ext>
              </a:extLst>
            </p:cNvPr>
            <p:cNvSpPr/>
            <p:nvPr/>
          </p:nvSpPr>
          <p:spPr>
            <a:xfrm>
              <a:off x="7282857" y="2740518"/>
              <a:ext cx="1057857" cy="24622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few features should</a:t>
              </a:r>
            </a:p>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be important</a:t>
              </a:r>
              <a:endParaRPr lang="en-US" altLang="ko-KR" sz="300" b="1" dirty="0">
                <a:solidFill>
                  <a:schemeClr val="tx1">
                    <a:lumMod val="85000"/>
                    <a:lumOff val="15000"/>
                  </a:schemeClr>
                </a:solidFill>
                <a:latin typeface="SamsungOne 400" panose="020B0503030303020204" pitchFamily="34" charset="0"/>
                <a:ea typeface="SamsungOne 400" panose="020B0503030303020204" pitchFamily="34" charset="0"/>
              </a:endParaRPr>
            </a:p>
          </p:txBody>
        </p:sp>
        <p:cxnSp>
          <p:nvCxnSpPr>
            <p:cNvPr id="135" name="직선 화살표 연결선 134">
              <a:extLst>
                <a:ext uri="{FF2B5EF4-FFF2-40B4-BE49-F238E27FC236}">
                  <a16:creationId xmlns:a16="http://schemas.microsoft.com/office/drawing/2014/main" id="{55DA16B5-BAE7-4CC5-B453-AFBB0EE6F570}"/>
                </a:ext>
              </a:extLst>
            </p:cNvPr>
            <p:cNvCxnSpPr/>
            <p:nvPr/>
          </p:nvCxnSpPr>
          <p:spPr>
            <a:xfrm>
              <a:off x="7059793" y="2854571"/>
              <a:ext cx="114785" cy="0"/>
            </a:xfrm>
            <a:prstGeom prst="straightConnector1">
              <a:avLst/>
            </a:prstGeom>
            <a:ln w="19050">
              <a:solidFill>
                <a:srgbClr val="3D9933"/>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36" name="Rectangle 43">
              <a:extLst>
                <a:ext uri="{FF2B5EF4-FFF2-40B4-BE49-F238E27FC236}">
                  <a16:creationId xmlns:a16="http://schemas.microsoft.com/office/drawing/2014/main" id="{24EFC763-9C1B-406D-8014-88A4043F6A64}"/>
                </a:ext>
              </a:extLst>
            </p:cNvPr>
            <p:cNvSpPr/>
            <p:nvPr/>
          </p:nvSpPr>
          <p:spPr>
            <a:xfrm>
              <a:off x="7006273" y="2914143"/>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3D9933"/>
                  </a:solidFill>
                  <a:latin typeface="SamsungOne 400" panose="020B0503030303020204" pitchFamily="34" charset="0"/>
                  <a:ea typeface="SamsungOne 400" panose="020B0503030303020204" pitchFamily="34" charset="0"/>
                </a:rPr>
                <a:t>YES</a:t>
              </a:r>
            </a:p>
          </p:txBody>
        </p:sp>
        <p:cxnSp>
          <p:nvCxnSpPr>
            <p:cNvPr id="137" name="직선 화살표 연결선 136">
              <a:extLst>
                <a:ext uri="{FF2B5EF4-FFF2-40B4-BE49-F238E27FC236}">
                  <a16:creationId xmlns:a16="http://schemas.microsoft.com/office/drawing/2014/main" id="{15EAEEF0-353B-4234-B988-2C5E20E0E6CD}"/>
                </a:ext>
              </a:extLst>
            </p:cNvPr>
            <p:cNvCxnSpPr/>
            <p:nvPr/>
          </p:nvCxnSpPr>
          <p:spPr>
            <a:xfrm>
              <a:off x="8458280" y="2854571"/>
              <a:ext cx="114785" cy="0"/>
            </a:xfrm>
            <a:prstGeom prst="straightConnector1">
              <a:avLst/>
            </a:prstGeom>
            <a:ln w="19050">
              <a:solidFill>
                <a:srgbClr val="3D9933"/>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38" name="Rectangle 43">
              <a:extLst>
                <a:ext uri="{FF2B5EF4-FFF2-40B4-BE49-F238E27FC236}">
                  <a16:creationId xmlns:a16="http://schemas.microsoft.com/office/drawing/2014/main" id="{0C1285FF-5BB9-435A-88F6-DFF77FCD4EAA}"/>
                </a:ext>
              </a:extLst>
            </p:cNvPr>
            <p:cNvSpPr/>
            <p:nvPr/>
          </p:nvSpPr>
          <p:spPr>
            <a:xfrm>
              <a:off x="8404760" y="2914143"/>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3D9933"/>
                  </a:solidFill>
                  <a:latin typeface="SamsungOne 400" panose="020B0503030303020204" pitchFamily="34" charset="0"/>
                  <a:ea typeface="SamsungOne 400" panose="020B0503030303020204" pitchFamily="34" charset="0"/>
                </a:rPr>
                <a:t>YES</a:t>
              </a:r>
            </a:p>
          </p:txBody>
        </p:sp>
        <p:sp>
          <p:nvSpPr>
            <p:cNvPr id="139" name="모서리가 둥근 직사각형 180">
              <a:extLst>
                <a:ext uri="{FF2B5EF4-FFF2-40B4-BE49-F238E27FC236}">
                  <a16:creationId xmlns:a16="http://schemas.microsoft.com/office/drawing/2014/main" id="{CC5AF2CA-81D4-4A40-BB1F-CB5A37ECD96F}"/>
                </a:ext>
              </a:extLst>
            </p:cNvPr>
            <p:cNvSpPr/>
            <p:nvPr/>
          </p:nvSpPr>
          <p:spPr>
            <a:xfrm>
              <a:off x="8651521" y="2710670"/>
              <a:ext cx="573923" cy="149957"/>
            </a:xfrm>
            <a:prstGeom prst="roundRect">
              <a:avLst>
                <a:gd name="adj" fmla="val 29486"/>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40" name="Rectangle 43">
              <a:extLst>
                <a:ext uri="{FF2B5EF4-FFF2-40B4-BE49-F238E27FC236}">
                  <a16:creationId xmlns:a16="http://schemas.microsoft.com/office/drawing/2014/main" id="{246A0284-7DCB-4378-88CD-775EA4E55315}"/>
                </a:ext>
              </a:extLst>
            </p:cNvPr>
            <p:cNvSpPr/>
            <p:nvPr/>
          </p:nvSpPr>
          <p:spPr>
            <a:xfrm>
              <a:off x="8732253" y="2724092"/>
              <a:ext cx="412460"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Lasso</a:t>
              </a:r>
            </a:p>
          </p:txBody>
        </p:sp>
        <p:sp>
          <p:nvSpPr>
            <p:cNvPr id="141" name="모서리가 둥근 직사각형 182">
              <a:extLst>
                <a:ext uri="{FF2B5EF4-FFF2-40B4-BE49-F238E27FC236}">
                  <a16:creationId xmlns:a16="http://schemas.microsoft.com/office/drawing/2014/main" id="{A2515B41-02A5-405E-B1C5-AA08821BBEC2}"/>
                </a:ext>
              </a:extLst>
            </p:cNvPr>
            <p:cNvSpPr/>
            <p:nvPr/>
          </p:nvSpPr>
          <p:spPr>
            <a:xfrm>
              <a:off x="8651521" y="2856728"/>
              <a:ext cx="573923" cy="149957"/>
            </a:xfrm>
            <a:prstGeom prst="roundRect">
              <a:avLst>
                <a:gd name="adj" fmla="val 29486"/>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42" name="Rectangle 43">
              <a:extLst>
                <a:ext uri="{FF2B5EF4-FFF2-40B4-BE49-F238E27FC236}">
                  <a16:creationId xmlns:a16="http://schemas.microsoft.com/office/drawing/2014/main" id="{C996E3B3-B9AB-4D40-B908-C3F1FF65DE8C}"/>
                </a:ext>
              </a:extLst>
            </p:cNvPr>
            <p:cNvSpPr/>
            <p:nvPr/>
          </p:nvSpPr>
          <p:spPr>
            <a:xfrm>
              <a:off x="8651522" y="2870152"/>
              <a:ext cx="573922"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err="1">
                  <a:solidFill>
                    <a:schemeClr val="tx1">
                      <a:lumMod val="85000"/>
                      <a:lumOff val="15000"/>
                    </a:schemeClr>
                  </a:solidFill>
                  <a:latin typeface="SamsungOne 400" panose="020B0503030303020204" pitchFamily="34" charset="0"/>
                  <a:ea typeface="SamsungOne 400" panose="020B0503030303020204" pitchFamily="34" charset="0"/>
                </a:rPr>
                <a:t>ElasticNet</a:t>
              </a:r>
              <a:endPar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143" name="타원 142">
              <a:extLst>
                <a:ext uri="{FF2B5EF4-FFF2-40B4-BE49-F238E27FC236}">
                  <a16:creationId xmlns:a16="http://schemas.microsoft.com/office/drawing/2014/main" id="{12E2CD5B-8686-4546-AC24-904630D60A01}"/>
                </a:ext>
              </a:extLst>
            </p:cNvPr>
            <p:cNvSpPr/>
            <p:nvPr/>
          </p:nvSpPr>
          <p:spPr>
            <a:xfrm>
              <a:off x="1477402" y="4820385"/>
              <a:ext cx="780536"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44" name="모서리가 둥근 직사각형 147">
              <a:extLst>
                <a:ext uri="{FF2B5EF4-FFF2-40B4-BE49-F238E27FC236}">
                  <a16:creationId xmlns:a16="http://schemas.microsoft.com/office/drawing/2014/main" id="{28CB9B8B-FF3F-4D56-9AD1-ADCC2FA8BE2E}"/>
                </a:ext>
              </a:extLst>
            </p:cNvPr>
            <p:cNvSpPr/>
            <p:nvPr/>
          </p:nvSpPr>
          <p:spPr>
            <a:xfrm>
              <a:off x="718889" y="4827714"/>
              <a:ext cx="573923" cy="298440"/>
            </a:xfrm>
            <a:prstGeom prst="roundRect">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45" name="Rectangle 43">
              <a:extLst>
                <a:ext uri="{FF2B5EF4-FFF2-40B4-BE49-F238E27FC236}">
                  <a16:creationId xmlns:a16="http://schemas.microsoft.com/office/drawing/2014/main" id="{0D752FF9-432F-4E31-A3D3-4146C3FF7A21}"/>
                </a:ext>
              </a:extLst>
            </p:cNvPr>
            <p:cNvSpPr/>
            <p:nvPr/>
          </p:nvSpPr>
          <p:spPr>
            <a:xfrm>
              <a:off x="783476" y="4915378"/>
              <a:ext cx="444749"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err="1">
                  <a:solidFill>
                    <a:schemeClr val="tx1">
                      <a:lumMod val="85000"/>
                      <a:lumOff val="15000"/>
                    </a:schemeClr>
                  </a:solidFill>
                  <a:latin typeface="SamsungOne 400" panose="020B0503030303020204" pitchFamily="34" charset="0"/>
                  <a:ea typeface="SamsungOne 400" panose="020B0503030303020204" pitchFamily="34" charset="0"/>
                </a:rPr>
                <a:t>KMeans</a:t>
              </a:r>
              <a:endPar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146" name="모서리가 둥근 직사각형 151">
              <a:extLst>
                <a:ext uri="{FF2B5EF4-FFF2-40B4-BE49-F238E27FC236}">
                  <a16:creationId xmlns:a16="http://schemas.microsoft.com/office/drawing/2014/main" id="{D9C28746-4828-4302-B6FE-785C60D733E6}"/>
                </a:ext>
              </a:extLst>
            </p:cNvPr>
            <p:cNvSpPr/>
            <p:nvPr/>
          </p:nvSpPr>
          <p:spPr>
            <a:xfrm>
              <a:off x="2457115" y="5801604"/>
              <a:ext cx="1162800" cy="159482"/>
            </a:xfrm>
            <a:prstGeom prst="roundRect">
              <a:avLst>
                <a:gd name="adj" fmla="val 29486"/>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47" name="Rectangle 43">
              <a:extLst>
                <a:ext uri="{FF2B5EF4-FFF2-40B4-BE49-F238E27FC236}">
                  <a16:creationId xmlns:a16="http://schemas.microsoft.com/office/drawing/2014/main" id="{3E854F89-9B2B-418A-AB94-AE3D1D3EE7E7}"/>
                </a:ext>
              </a:extLst>
            </p:cNvPr>
            <p:cNvSpPr/>
            <p:nvPr/>
          </p:nvSpPr>
          <p:spPr>
            <a:xfrm>
              <a:off x="2758857" y="5821980"/>
              <a:ext cx="559316"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err="1">
                  <a:solidFill>
                    <a:schemeClr val="tx1">
                      <a:lumMod val="85000"/>
                      <a:lumOff val="15000"/>
                    </a:schemeClr>
                  </a:solidFill>
                  <a:latin typeface="SamsungOne 400" panose="020B0503030303020204" pitchFamily="34" charset="0"/>
                  <a:ea typeface="SamsungOne 400" panose="020B0503030303020204" pitchFamily="34" charset="0"/>
                </a:rPr>
                <a:t>MeanShift</a:t>
              </a:r>
              <a:endPar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148" name="모서리가 둥근 직사각형 157">
              <a:extLst>
                <a:ext uri="{FF2B5EF4-FFF2-40B4-BE49-F238E27FC236}">
                  <a16:creationId xmlns:a16="http://schemas.microsoft.com/office/drawing/2014/main" id="{CC9FC627-24C7-4E39-924A-79B80EFE2E1A}"/>
                </a:ext>
              </a:extLst>
            </p:cNvPr>
            <p:cNvSpPr/>
            <p:nvPr/>
          </p:nvSpPr>
          <p:spPr>
            <a:xfrm>
              <a:off x="2457099" y="5961570"/>
              <a:ext cx="1162800" cy="159482"/>
            </a:xfrm>
            <a:prstGeom prst="roundRect">
              <a:avLst>
                <a:gd name="adj" fmla="val 29486"/>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49" name="Rectangle 43">
              <a:extLst>
                <a:ext uri="{FF2B5EF4-FFF2-40B4-BE49-F238E27FC236}">
                  <a16:creationId xmlns:a16="http://schemas.microsoft.com/office/drawing/2014/main" id="{A43A42BC-68F3-4DFB-A150-9578AD79D596}"/>
                </a:ext>
              </a:extLst>
            </p:cNvPr>
            <p:cNvSpPr/>
            <p:nvPr/>
          </p:nvSpPr>
          <p:spPr>
            <a:xfrm>
              <a:off x="2751554" y="5981948"/>
              <a:ext cx="573922"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VBGMM</a:t>
              </a:r>
            </a:p>
          </p:txBody>
        </p:sp>
        <p:sp>
          <p:nvSpPr>
            <p:cNvPr id="150" name="모서리가 둥근 직사각형 159">
              <a:extLst>
                <a:ext uri="{FF2B5EF4-FFF2-40B4-BE49-F238E27FC236}">
                  <a16:creationId xmlns:a16="http://schemas.microsoft.com/office/drawing/2014/main" id="{AB09BC32-CA40-4DAA-A144-76200A8C02C7}"/>
                </a:ext>
              </a:extLst>
            </p:cNvPr>
            <p:cNvSpPr/>
            <p:nvPr/>
          </p:nvSpPr>
          <p:spPr>
            <a:xfrm>
              <a:off x="1474389" y="5311929"/>
              <a:ext cx="786563" cy="298440"/>
            </a:xfrm>
            <a:prstGeom prst="roundRect">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51" name="Rectangle 43">
              <a:extLst>
                <a:ext uri="{FF2B5EF4-FFF2-40B4-BE49-F238E27FC236}">
                  <a16:creationId xmlns:a16="http://schemas.microsoft.com/office/drawing/2014/main" id="{9327FAE1-C8D9-4789-A951-A15A9FFA1A2D}"/>
                </a:ext>
              </a:extLst>
            </p:cNvPr>
            <p:cNvSpPr/>
            <p:nvPr/>
          </p:nvSpPr>
          <p:spPr>
            <a:xfrm>
              <a:off x="1580709" y="5338038"/>
              <a:ext cx="573922" cy="24622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err="1">
                  <a:solidFill>
                    <a:schemeClr val="tx1">
                      <a:lumMod val="85000"/>
                      <a:lumOff val="15000"/>
                    </a:schemeClr>
                  </a:solidFill>
                  <a:latin typeface="SamsungOne 400" panose="020B0503030303020204" pitchFamily="34" charset="0"/>
                  <a:ea typeface="SamsungOne 400" panose="020B0503030303020204" pitchFamily="34" charset="0"/>
                </a:rPr>
                <a:t>MiniBatch</a:t>
              </a:r>
              <a:endPar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endParaRPr>
            </a:p>
            <a:p>
              <a:pPr algn="ctr" defTabSz="914400"/>
              <a:r>
                <a:rPr lang="en-US" altLang="ko-KR" sz="700" b="1" dirty="0" err="1">
                  <a:solidFill>
                    <a:schemeClr val="tx1">
                      <a:lumMod val="85000"/>
                      <a:lumOff val="15000"/>
                    </a:schemeClr>
                  </a:solidFill>
                  <a:latin typeface="SamsungOne 400" panose="020B0503030303020204" pitchFamily="34" charset="0"/>
                  <a:ea typeface="SamsungOne 400" panose="020B0503030303020204" pitchFamily="34" charset="0"/>
                </a:rPr>
                <a:t>KMeans</a:t>
              </a:r>
              <a:endPar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152" name="Rectangle 43">
              <a:extLst>
                <a:ext uri="{FF2B5EF4-FFF2-40B4-BE49-F238E27FC236}">
                  <a16:creationId xmlns:a16="http://schemas.microsoft.com/office/drawing/2014/main" id="{CC8C0355-96DC-46D6-A120-E0A73D3386B0}"/>
                </a:ext>
              </a:extLst>
            </p:cNvPr>
            <p:cNvSpPr/>
            <p:nvPr/>
          </p:nvSpPr>
          <p:spPr>
            <a:xfrm>
              <a:off x="1645296" y="4865131"/>
              <a:ext cx="444749" cy="205826"/>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&lt;10k</a:t>
              </a:r>
            </a:p>
            <a:p>
              <a:pPr algn="ctr" defTabSz="914400"/>
              <a:r>
                <a:rPr lang="en-US" altLang="ko-KR" sz="500" b="1" dirty="0">
                  <a:solidFill>
                    <a:schemeClr val="tx1">
                      <a:lumMod val="85000"/>
                      <a:lumOff val="15000"/>
                    </a:schemeClr>
                  </a:solidFill>
                  <a:latin typeface="SamsungOne 400" panose="020B0503030303020204" pitchFamily="34" charset="0"/>
                  <a:ea typeface="SamsungOne 400" panose="020B0503030303020204" pitchFamily="34" charset="0"/>
                </a:rPr>
                <a:t>samples</a:t>
              </a:r>
            </a:p>
          </p:txBody>
        </p:sp>
        <p:cxnSp>
          <p:nvCxnSpPr>
            <p:cNvPr id="153" name="직선 화살표 연결선 152">
              <a:extLst>
                <a:ext uri="{FF2B5EF4-FFF2-40B4-BE49-F238E27FC236}">
                  <a16:creationId xmlns:a16="http://schemas.microsoft.com/office/drawing/2014/main" id="{7AD60CFC-CF90-412A-B045-97BF373EE9E3}"/>
                </a:ext>
              </a:extLst>
            </p:cNvPr>
            <p:cNvCxnSpPr/>
            <p:nvPr/>
          </p:nvCxnSpPr>
          <p:spPr>
            <a:xfrm flipH="1">
              <a:off x="2294114" y="4978541"/>
              <a:ext cx="114785" cy="0"/>
            </a:xfrm>
            <a:prstGeom prst="straightConnector1">
              <a:avLst/>
            </a:prstGeom>
            <a:ln w="19050">
              <a:solidFill>
                <a:srgbClr val="3D9933"/>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54" name="Rectangle 43">
              <a:extLst>
                <a:ext uri="{FF2B5EF4-FFF2-40B4-BE49-F238E27FC236}">
                  <a16:creationId xmlns:a16="http://schemas.microsoft.com/office/drawing/2014/main" id="{B42ED35F-7F1A-4FD1-B7F7-6556ECAE6E60}"/>
                </a:ext>
              </a:extLst>
            </p:cNvPr>
            <p:cNvSpPr/>
            <p:nvPr/>
          </p:nvSpPr>
          <p:spPr>
            <a:xfrm>
              <a:off x="2232707" y="5029537"/>
              <a:ext cx="237599" cy="102913"/>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600" b="1" dirty="0">
                  <a:solidFill>
                    <a:srgbClr val="3D9933"/>
                  </a:solidFill>
                  <a:latin typeface="SamsungOne 400" panose="020B0503030303020204" pitchFamily="34" charset="0"/>
                  <a:ea typeface="SamsungOne 400" panose="020B0503030303020204" pitchFamily="34" charset="0"/>
                </a:rPr>
                <a:t>YES</a:t>
              </a:r>
            </a:p>
          </p:txBody>
        </p:sp>
        <p:sp>
          <p:nvSpPr>
            <p:cNvPr id="155" name="모서리가 둥근 직사각형 179">
              <a:extLst>
                <a:ext uri="{FF2B5EF4-FFF2-40B4-BE49-F238E27FC236}">
                  <a16:creationId xmlns:a16="http://schemas.microsoft.com/office/drawing/2014/main" id="{4252A493-E5C2-4071-A18D-FFFF4422AC5D}"/>
                </a:ext>
              </a:extLst>
            </p:cNvPr>
            <p:cNvSpPr/>
            <p:nvPr/>
          </p:nvSpPr>
          <p:spPr>
            <a:xfrm>
              <a:off x="713769" y="5311929"/>
              <a:ext cx="584162" cy="298440"/>
            </a:xfrm>
            <a:prstGeom prst="roundRect">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56" name="Rectangle 43">
              <a:extLst>
                <a:ext uri="{FF2B5EF4-FFF2-40B4-BE49-F238E27FC236}">
                  <a16:creationId xmlns:a16="http://schemas.microsoft.com/office/drawing/2014/main" id="{21EC1FCF-E828-4FF4-BD76-579ED8A120F7}"/>
                </a:ext>
              </a:extLst>
            </p:cNvPr>
            <p:cNvSpPr/>
            <p:nvPr/>
          </p:nvSpPr>
          <p:spPr>
            <a:xfrm>
              <a:off x="718889" y="5338038"/>
              <a:ext cx="573922" cy="24622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Spectral</a:t>
              </a:r>
            </a:p>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Clustering</a:t>
              </a:r>
            </a:p>
          </p:txBody>
        </p:sp>
        <p:sp>
          <p:nvSpPr>
            <p:cNvPr id="157" name="모서리가 둥근 직사각형 185">
              <a:extLst>
                <a:ext uri="{FF2B5EF4-FFF2-40B4-BE49-F238E27FC236}">
                  <a16:creationId xmlns:a16="http://schemas.microsoft.com/office/drawing/2014/main" id="{7CC93526-F666-413F-8011-5CBD23C26D1D}"/>
                </a:ext>
              </a:extLst>
            </p:cNvPr>
            <p:cNvSpPr/>
            <p:nvPr/>
          </p:nvSpPr>
          <p:spPr>
            <a:xfrm>
              <a:off x="714250" y="5608455"/>
              <a:ext cx="583200" cy="149957"/>
            </a:xfrm>
            <a:prstGeom prst="roundRect">
              <a:avLst>
                <a:gd name="adj" fmla="val 29486"/>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58" name="Rectangle 43">
              <a:extLst>
                <a:ext uri="{FF2B5EF4-FFF2-40B4-BE49-F238E27FC236}">
                  <a16:creationId xmlns:a16="http://schemas.microsoft.com/office/drawing/2014/main" id="{5816E747-A813-4833-B8C9-F47C28881916}"/>
                </a:ext>
              </a:extLst>
            </p:cNvPr>
            <p:cNvSpPr/>
            <p:nvPr/>
          </p:nvSpPr>
          <p:spPr>
            <a:xfrm>
              <a:off x="799620" y="5621878"/>
              <a:ext cx="412460"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GMM</a:t>
              </a:r>
            </a:p>
          </p:txBody>
        </p:sp>
        <p:cxnSp>
          <p:nvCxnSpPr>
            <p:cNvPr id="159" name="직선 화살표 연결선 158">
              <a:extLst>
                <a:ext uri="{FF2B5EF4-FFF2-40B4-BE49-F238E27FC236}">
                  <a16:creationId xmlns:a16="http://schemas.microsoft.com/office/drawing/2014/main" id="{D92B3A3E-775A-4862-839C-348E86E3985C}"/>
                </a:ext>
              </a:extLst>
            </p:cNvPr>
            <p:cNvCxnSpPr/>
            <p:nvPr/>
          </p:nvCxnSpPr>
          <p:spPr>
            <a:xfrm flipH="1">
              <a:off x="1321773" y="4978541"/>
              <a:ext cx="114785" cy="0"/>
            </a:xfrm>
            <a:prstGeom prst="straightConnector1">
              <a:avLst/>
            </a:prstGeom>
            <a:ln w="19050">
              <a:solidFill>
                <a:srgbClr val="3D9933"/>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60" name="Rectangle 43">
              <a:extLst>
                <a:ext uri="{FF2B5EF4-FFF2-40B4-BE49-F238E27FC236}">
                  <a16:creationId xmlns:a16="http://schemas.microsoft.com/office/drawing/2014/main" id="{E44551A9-2D2E-483D-8FA1-1E406595C37D}"/>
                </a:ext>
              </a:extLst>
            </p:cNvPr>
            <p:cNvSpPr/>
            <p:nvPr/>
          </p:nvSpPr>
          <p:spPr>
            <a:xfrm>
              <a:off x="1279416" y="5029537"/>
              <a:ext cx="237599" cy="102913"/>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600" b="1" dirty="0">
                  <a:solidFill>
                    <a:srgbClr val="3D9933"/>
                  </a:solidFill>
                  <a:latin typeface="SamsungOne 400" panose="020B0503030303020204" pitchFamily="34" charset="0"/>
                  <a:ea typeface="SamsungOne 400" panose="020B0503030303020204" pitchFamily="34" charset="0"/>
                </a:rPr>
                <a:t>YES</a:t>
              </a:r>
            </a:p>
          </p:txBody>
        </p:sp>
        <p:cxnSp>
          <p:nvCxnSpPr>
            <p:cNvPr id="161" name="직선 화살표 연결선 160">
              <a:extLst>
                <a:ext uri="{FF2B5EF4-FFF2-40B4-BE49-F238E27FC236}">
                  <a16:creationId xmlns:a16="http://schemas.microsoft.com/office/drawing/2014/main" id="{7CCD00E5-28B8-4BFA-B2AD-C71DC1B66E0E}"/>
                </a:ext>
              </a:extLst>
            </p:cNvPr>
            <p:cNvCxnSpPr/>
            <p:nvPr/>
          </p:nvCxnSpPr>
          <p:spPr>
            <a:xfrm>
              <a:off x="1879637" y="5173853"/>
              <a:ext cx="0" cy="114785"/>
            </a:xfrm>
            <a:prstGeom prst="straightConnector1">
              <a:avLst/>
            </a:prstGeom>
            <a:ln w="19050">
              <a:solidFill>
                <a:srgbClr val="C00000"/>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62" name="Rectangle 43">
              <a:extLst>
                <a:ext uri="{FF2B5EF4-FFF2-40B4-BE49-F238E27FC236}">
                  <a16:creationId xmlns:a16="http://schemas.microsoft.com/office/drawing/2014/main" id="{57148B11-FDDE-4D18-A860-91002FD2EB03}"/>
                </a:ext>
              </a:extLst>
            </p:cNvPr>
            <p:cNvSpPr/>
            <p:nvPr/>
          </p:nvSpPr>
          <p:spPr>
            <a:xfrm>
              <a:off x="1889237" y="5178659"/>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DD2626"/>
                  </a:solidFill>
                  <a:latin typeface="SamsungOne 400" panose="020B0503030303020204" pitchFamily="34" charset="0"/>
                  <a:ea typeface="SamsungOne 400" panose="020B0503030303020204" pitchFamily="34" charset="0"/>
                </a:rPr>
                <a:t>NO</a:t>
              </a:r>
            </a:p>
          </p:txBody>
        </p:sp>
        <p:cxnSp>
          <p:nvCxnSpPr>
            <p:cNvPr id="163" name="직선 화살표 연결선 162">
              <a:extLst>
                <a:ext uri="{FF2B5EF4-FFF2-40B4-BE49-F238E27FC236}">
                  <a16:creationId xmlns:a16="http://schemas.microsoft.com/office/drawing/2014/main" id="{327E62E2-2EEC-49F2-95E9-C9FC60B770C1}"/>
                </a:ext>
              </a:extLst>
            </p:cNvPr>
            <p:cNvCxnSpPr/>
            <p:nvPr/>
          </p:nvCxnSpPr>
          <p:spPr>
            <a:xfrm>
              <a:off x="996305" y="5159044"/>
              <a:ext cx="0" cy="114785"/>
            </a:xfrm>
            <a:prstGeom prst="straightConnector1">
              <a:avLst/>
            </a:prstGeom>
            <a:ln w="19050">
              <a:solidFill>
                <a:schemeClr val="accent4">
                  <a:lumMod val="75000"/>
                </a:schemeClr>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64" name="Rectangle 43">
              <a:extLst>
                <a:ext uri="{FF2B5EF4-FFF2-40B4-BE49-F238E27FC236}">
                  <a16:creationId xmlns:a16="http://schemas.microsoft.com/office/drawing/2014/main" id="{E138E90F-87D4-4F5E-B1C2-24F19F9F3D36}"/>
                </a:ext>
              </a:extLst>
            </p:cNvPr>
            <p:cNvSpPr/>
            <p:nvPr/>
          </p:nvSpPr>
          <p:spPr>
            <a:xfrm>
              <a:off x="898611" y="5177016"/>
              <a:ext cx="845922"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chemeClr val="accent4">
                      <a:lumMod val="75000"/>
                    </a:schemeClr>
                  </a:solidFill>
                  <a:latin typeface="SamsungOne 400" panose="020B0503030303020204" pitchFamily="34" charset="0"/>
                  <a:ea typeface="SamsungOne 400" panose="020B0503030303020204" pitchFamily="34" charset="0"/>
                </a:rPr>
                <a:t>NOT WORKING</a:t>
              </a:r>
            </a:p>
          </p:txBody>
        </p:sp>
        <p:cxnSp>
          <p:nvCxnSpPr>
            <p:cNvPr id="165" name="직선 화살표 연결선 164">
              <a:extLst>
                <a:ext uri="{FF2B5EF4-FFF2-40B4-BE49-F238E27FC236}">
                  <a16:creationId xmlns:a16="http://schemas.microsoft.com/office/drawing/2014/main" id="{EDBD341E-8A1C-4C86-A36D-39086DCD4031}"/>
                </a:ext>
              </a:extLst>
            </p:cNvPr>
            <p:cNvCxnSpPr/>
            <p:nvPr/>
          </p:nvCxnSpPr>
          <p:spPr>
            <a:xfrm>
              <a:off x="3021827" y="5173853"/>
              <a:ext cx="0" cy="114785"/>
            </a:xfrm>
            <a:prstGeom prst="straightConnector1">
              <a:avLst/>
            </a:prstGeom>
            <a:ln w="19050">
              <a:solidFill>
                <a:srgbClr val="C00000"/>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66" name="Rectangle 43">
              <a:extLst>
                <a:ext uri="{FF2B5EF4-FFF2-40B4-BE49-F238E27FC236}">
                  <a16:creationId xmlns:a16="http://schemas.microsoft.com/office/drawing/2014/main" id="{95E8B2AA-4120-4ABF-90F7-E72C6D0B0A95}"/>
                </a:ext>
              </a:extLst>
            </p:cNvPr>
            <p:cNvSpPr/>
            <p:nvPr/>
          </p:nvSpPr>
          <p:spPr>
            <a:xfrm>
              <a:off x="3031427" y="5178659"/>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DD2626"/>
                  </a:solidFill>
                  <a:latin typeface="SamsungOne 400" panose="020B0503030303020204" pitchFamily="34" charset="0"/>
                  <a:ea typeface="SamsungOne 400" panose="020B0503030303020204" pitchFamily="34" charset="0"/>
                </a:rPr>
                <a:t>NO</a:t>
              </a:r>
            </a:p>
          </p:txBody>
        </p:sp>
        <p:cxnSp>
          <p:nvCxnSpPr>
            <p:cNvPr id="167" name="직선 화살표 연결선 166">
              <a:extLst>
                <a:ext uri="{FF2B5EF4-FFF2-40B4-BE49-F238E27FC236}">
                  <a16:creationId xmlns:a16="http://schemas.microsoft.com/office/drawing/2014/main" id="{BD109435-3A95-4A72-BB06-A35A1B5BF51E}"/>
                </a:ext>
              </a:extLst>
            </p:cNvPr>
            <p:cNvCxnSpPr/>
            <p:nvPr/>
          </p:nvCxnSpPr>
          <p:spPr>
            <a:xfrm>
              <a:off x="3007606" y="5658400"/>
              <a:ext cx="0" cy="114785"/>
            </a:xfrm>
            <a:prstGeom prst="straightConnector1">
              <a:avLst/>
            </a:prstGeom>
            <a:ln w="19050">
              <a:solidFill>
                <a:srgbClr val="C00000"/>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68" name="Rectangle 43">
              <a:extLst>
                <a:ext uri="{FF2B5EF4-FFF2-40B4-BE49-F238E27FC236}">
                  <a16:creationId xmlns:a16="http://schemas.microsoft.com/office/drawing/2014/main" id="{CE246C53-7AD2-4EF6-BD2D-121B36E8C16B}"/>
                </a:ext>
              </a:extLst>
            </p:cNvPr>
            <p:cNvSpPr/>
            <p:nvPr/>
          </p:nvSpPr>
          <p:spPr>
            <a:xfrm>
              <a:off x="3017206" y="5663207"/>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DD2626"/>
                  </a:solidFill>
                  <a:latin typeface="SamsungOne 400" panose="020B0503030303020204" pitchFamily="34" charset="0"/>
                  <a:ea typeface="SamsungOne 400" panose="020B0503030303020204" pitchFamily="34" charset="0"/>
                </a:rPr>
                <a:t>NO</a:t>
              </a:r>
            </a:p>
          </p:txBody>
        </p:sp>
        <p:sp>
          <p:nvSpPr>
            <p:cNvPr id="169" name="모서리가 둥근 직사각형 197">
              <a:extLst>
                <a:ext uri="{FF2B5EF4-FFF2-40B4-BE49-F238E27FC236}">
                  <a16:creationId xmlns:a16="http://schemas.microsoft.com/office/drawing/2014/main" id="{78FAA378-5776-44F1-91D3-5A3ED2138C30}"/>
                </a:ext>
              </a:extLst>
            </p:cNvPr>
            <p:cNvSpPr/>
            <p:nvPr/>
          </p:nvSpPr>
          <p:spPr>
            <a:xfrm>
              <a:off x="7232819" y="3180988"/>
              <a:ext cx="1191600" cy="149957"/>
            </a:xfrm>
            <a:prstGeom prst="roundRect">
              <a:avLst>
                <a:gd name="adj" fmla="val 29486"/>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70" name="Rectangle 43">
              <a:extLst>
                <a:ext uri="{FF2B5EF4-FFF2-40B4-BE49-F238E27FC236}">
                  <a16:creationId xmlns:a16="http://schemas.microsoft.com/office/drawing/2014/main" id="{D7EB4A9D-467E-47B8-A169-C8BF657D17BB}"/>
                </a:ext>
              </a:extLst>
            </p:cNvPr>
            <p:cNvSpPr/>
            <p:nvPr/>
          </p:nvSpPr>
          <p:spPr>
            <a:xfrm>
              <a:off x="7313552" y="3194410"/>
              <a:ext cx="1027162"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Ridge </a:t>
              </a:r>
              <a:r>
                <a:rPr lang="en-US" altLang="ko-KR" sz="700" b="1" dirty="0" err="1">
                  <a:solidFill>
                    <a:schemeClr val="tx1">
                      <a:lumMod val="85000"/>
                      <a:lumOff val="15000"/>
                    </a:schemeClr>
                  </a:solidFill>
                  <a:latin typeface="SamsungOne 400" panose="020B0503030303020204" pitchFamily="34" charset="0"/>
                  <a:ea typeface="SamsungOne 400" panose="020B0503030303020204" pitchFamily="34" charset="0"/>
                </a:rPr>
                <a:t>Regresson</a:t>
              </a:r>
              <a:endPar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171" name="모서리가 둥근 직사각형 199">
              <a:extLst>
                <a:ext uri="{FF2B5EF4-FFF2-40B4-BE49-F238E27FC236}">
                  <a16:creationId xmlns:a16="http://schemas.microsoft.com/office/drawing/2014/main" id="{7E77B8EF-1A0D-4ADA-A239-121C06FAD1B1}"/>
                </a:ext>
              </a:extLst>
            </p:cNvPr>
            <p:cNvSpPr/>
            <p:nvPr/>
          </p:nvSpPr>
          <p:spPr>
            <a:xfrm>
              <a:off x="7232819" y="3327046"/>
              <a:ext cx="1191600" cy="149957"/>
            </a:xfrm>
            <a:prstGeom prst="roundRect">
              <a:avLst>
                <a:gd name="adj" fmla="val 29486"/>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72" name="Rectangle 43">
              <a:extLst>
                <a:ext uri="{FF2B5EF4-FFF2-40B4-BE49-F238E27FC236}">
                  <a16:creationId xmlns:a16="http://schemas.microsoft.com/office/drawing/2014/main" id="{D82FE617-B996-48AB-B45C-6AF5E4FD4F62}"/>
                </a:ext>
              </a:extLst>
            </p:cNvPr>
            <p:cNvSpPr/>
            <p:nvPr/>
          </p:nvSpPr>
          <p:spPr>
            <a:xfrm>
              <a:off x="7232820" y="3349016"/>
              <a:ext cx="1188000"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SVR (kernel= ‘linear’</a:t>
              </a:r>
            </a:p>
          </p:txBody>
        </p:sp>
        <p:cxnSp>
          <p:nvCxnSpPr>
            <p:cNvPr id="173" name="직선 화살표 연결선 172">
              <a:extLst>
                <a:ext uri="{FF2B5EF4-FFF2-40B4-BE49-F238E27FC236}">
                  <a16:creationId xmlns:a16="http://schemas.microsoft.com/office/drawing/2014/main" id="{B35228BE-0D56-4DA3-A51D-250860E29F80}"/>
                </a:ext>
              </a:extLst>
            </p:cNvPr>
            <p:cNvCxnSpPr/>
            <p:nvPr/>
          </p:nvCxnSpPr>
          <p:spPr>
            <a:xfrm>
              <a:off x="7807463" y="3038596"/>
              <a:ext cx="0" cy="114785"/>
            </a:xfrm>
            <a:prstGeom prst="straightConnector1">
              <a:avLst/>
            </a:prstGeom>
            <a:ln w="19050">
              <a:solidFill>
                <a:srgbClr val="DD2626"/>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74" name="Rectangle 43">
              <a:extLst>
                <a:ext uri="{FF2B5EF4-FFF2-40B4-BE49-F238E27FC236}">
                  <a16:creationId xmlns:a16="http://schemas.microsoft.com/office/drawing/2014/main" id="{912B77A0-0813-490C-AD96-286EB62ABA62}"/>
                </a:ext>
              </a:extLst>
            </p:cNvPr>
            <p:cNvSpPr/>
            <p:nvPr/>
          </p:nvSpPr>
          <p:spPr>
            <a:xfrm>
              <a:off x="7839277" y="3061593"/>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FF0000"/>
                  </a:solidFill>
                  <a:latin typeface="SamsungOne 400" panose="020B0503030303020204" pitchFamily="34" charset="0"/>
                  <a:ea typeface="SamsungOne 400" panose="020B0503030303020204" pitchFamily="34" charset="0"/>
                </a:rPr>
                <a:t>NO</a:t>
              </a:r>
            </a:p>
          </p:txBody>
        </p:sp>
        <p:cxnSp>
          <p:nvCxnSpPr>
            <p:cNvPr id="175" name="직선 화살표 연결선 174">
              <a:extLst>
                <a:ext uri="{FF2B5EF4-FFF2-40B4-BE49-F238E27FC236}">
                  <a16:creationId xmlns:a16="http://schemas.microsoft.com/office/drawing/2014/main" id="{DCF9440E-8658-4A0E-A932-DDB99E70DA76}"/>
                </a:ext>
              </a:extLst>
            </p:cNvPr>
            <p:cNvCxnSpPr/>
            <p:nvPr/>
          </p:nvCxnSpPr>
          <p:spPr>
            <a:xfrm>
              <a:off x="7807463" y="3521838"/>
              <a:ext cx="0" cy="114785"/>
            </a:xfrm>
            <a:prstGeom prst="straightConnector1">
              <a:avLst/>
            </a:prstGeom>
            <a:ln w="19050">
              <a:solidFill>
                <a:schemeClr val="accent4">
                  <a:lumMod val="75000"/>
                </a:schemeClr>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76" name="Rectangle 43">
              <a:extLst>
                <a:ext uri="{FF2B5EF4-FFF2-40B4-BE49-F238E27FC236}">
                  <a16:creationId xmlns:a16="http://schemas.microsoft.com/office/drawing/2014/main" id="{C52940CA-B015-4DF3-A63E-5E2F99657B59}"/>
                </a:ext>
              </a:extLst>
            </p:cNvPr>
            <p:cNvSpPr/>
            <p:nvPr/>
          </p:nvSpPr>
          <p:spPr>
            <a:xfrm>
              <a:off x="7839277" y="3544835"/>
              <a:ext cx="581543"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chemeClr val="accent4">
                      <a:lumMod val="75000"/>
                    </a:schemeClr>
                  </a:solidFill>
                  <a:latin typeface="SamsungOne 400" panose="020B0503030303020204" pitchFamily="34" charset="0"/>
                  <a:ea typeface="SamsungOne 400" panose="020B0503030303020204" pitchFamily="34" charset="0"/>
                </a:rPr>
                <a:t>NOT WORKING</a:t>
              </a:r>
            </a:p>
          </p:txBody>
        </p:sp>
        <p:sp>
          <p:nvSpPr>
            <p:cNvPr id="177" name="모서리가 둥근 직사각형 207">
              <a:extLst>
                <a:ext uri="{FF2B5EF4-FFF2-40B4-BE49-F238E27FC236}">
                  <a16:creationId xmlns:a16="http://schemas.microsoft.com/office/drawing/2014/main" id="{871714DB-5B6C-43B8-8AC9-E4F6988C1874}"/>
                </a:ext>
              </a:extLst>
            </p:cNvPr>
            <p:cNvSpPr/>
            <p:nvPr/>
          </p:nvSpPr>
          <p:spPr>
            <a:xfrm>
              <a:off x="7232819" y="3676468"/>
              <a:ext cx="1191600" cy="149957"/>
            </a:xfrm>
            <a:prstGeom prst="roundRect">
              <a:avLst>
                <a:gd name="adj" fmla="val 29486"/>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78" name="Rectangle 43">
              <a:extLst>
                <a:ext uri="{FF2B5EF4-FFF2-40B4-BE49-F238E27FC236}">
                  <a16:creationId xmlns:a16="http://schemas.microsoft.com/office/drawing/2014/main" id="{86E342A6-07DD-4516-AE53-832CCC383DF4}"/>
                </a:ext>
              </a:extLst>
            </p:cNvPr>
            <p:cNvSpPr/>
            <p:nvPr/>
          </p:nvSpPr>
          <p:spPr>
            <a:xfrm>
              <a:off x="7313552" y="3689890"/>
              <a:ext cx="1027162"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SVR(kernel=‘</a:t>
              </a:r>
              <a:r>
                <a:rPr lang="en-US" altLang="ko-KR" sz="700" b="1" dirty="0" err="1">
                  <a:solidFill>
                    <a:schemeClr val="tx1">
                      <a:lumMod val="85000"/>
                      <a:lumOff val="15000"/>
                    </a:schemeClr>
                  </a:solidFill>
                  <a:latin typeface="SamsungOne 400" panose="020B0503030303020204" pitchFamily="34" charset="0"/>
                  <a:ea typeface="SamsungOne 400" panose="020B0503030303020204" pitchFamily="34" charset="0"/>
                </a:rPr>
                <a:t>rbf</a:t>
              </a:r>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a:t>
              </a:r>
            </a:p>
          </p:txBody>
        </p:sp>
        <p:sp>
          <p:nvSpPr>
            <p:cNvPr id="179" name="모서리가 둥근 직사각형 209">
              <a:extLst>
                <a:ext uri="{FF2B5EF4-FFF2-40B4-BE49-F238E27FC236}">
                  <a16:creationId xmlns:a16="http://schemas.microsoft.com/office/drawing/2014/main" id="{69F4278E-60FD-43E2-8CE6-EEDF1CFF7500}"/>
                </a:ext>
              </a:extLst>
            </p:cNvPr>
            <p:cNvSpPr/>
            <p:nvPr/>
          </p:nvSpPr>
          <p:spPr>
            <a:xfrm>
              <a:off x="7232819" y="3822526"/>
              <a:ext cx="1191600" cy="149957"/>
            </a:xfrm>
            <a:prstGeom prst="roundRect">
              <a:avLst>
                <a:gd name="adj" fmla="val 29486"/>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80" name="Rectangle 43">
              <a:extLst>
                <a:ext uri="{FF2B5EF4-FFF2-40B4-BE49-F238E27FC236}">
                  <a16:creationId xmlns:a16="http://schemas.microsoft.com/office/drawing/2014/main" id="{B0CCB1F0-08B9-4109-8194-8B84BFA9C991}"/>
                </a:ext>
              </a:extLst>
            </p:cNvPr>
            <p:cNvSpPr/>
            <p:nvPr/>
          </p:nvSpPr>
          <p:spPr>
            <a:xfrm>
              <a:off x="7232820" y="3844496"/>
              <a:ext cx="1188000"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err="1">
                  <a:solidFill>
                    <a:schemeClr val="tx1">
                      <a:lumMod val="85000"/>
                      <a:lumOff val="15000"/>
                    </a:schemeClr>
                  </a:solidFill>
                  <a:latin typeface="SamsungOne 400" panose="020B0503030303020204" pitchFamily="34" charset="0"/>
                  <a:ea typeface="SamsungOne 400" panose="020B0503030303020204" pitchFamily="34" charset="0"/>
                </a:rPr>
                <a:t>EnsembleRegressors</a:t>
              </a:r>
              <a:endPar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181" name="Rectangle 43">
              <a:extLst>
                <a:ext uri="{FF2B5EF4-FFF2-40B4-BE49-F238E27FC236}">
                  <a16:creationId xmlns:a16="http://schemas.microsoft.com/office/drawing/2014/main" id="{0326456B-A57F-4C1A-AB88-57930B8AE51E}"/>
                </a:ext>
              </a:extLst>
            </p:cNvPr>
            <p:cNvSpPr/>
            <p:nvPr/>
          </p:nvSpPr>
          <p:spPr>
            <a:xfrm>
              <a:off x="6674056" y="4438455"/>
              <a:ext cx="2237796" cy="205826"/>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200" b="1" dirty="0">
                  <a:solidFill>
                    <a:schemeClr val="tx1">
                      <a:lumMod val="85000"/>
                      <a:lumOff val="15000"/>
                    </a:schemeClr>
                  </a:solidFill>
                  <a:latin typeface="SamsungOne 700" panose="020B0803030303020204" pitchFamily="34" charset="0"/>
                  <a:ea typeface="SamsungOne 700" panose="020B0803030303020204" pitchFamily="34" charset="0"/>
                </a:rPr>
                <a:t>Dimensionality reduction</a:t>
              </a:r>
            </a:p>
          </p:txBody>
        </p:sp>
        <p:cxnSp>
          <p:nvCxnSpPr>
            <p:cNvPr id="182" name="직선 화살표 연결선 181">
              <a:extLst>
                <a:ext uri="{FF2B5EF4-FFF2-40B4-BE49-F238E27FC236}">
                  <a16:creationId xmlns:a16="http://schemas.microsoft.com/office/drawing/2014/main" id="{B6F1BA29-34BE-4210-B62F-145A89E72550}"/>
                </a:ext>
              </a:extLst>
            </p:cNvPr>
            <p:cNvCxnSpPr/>
            <p:nvPr/>
          </p:nvCxnSpPr>
          <p:spPr>
            <a:xfrm>
              <a:off x="6769643" y="5154020"/>
              <a:ext cx="0" cy="114785"/>
            </a:xfrm>
            <a:prstGeom prst="straightConnector1">
              <a:avLst/>
            </a:prstGeom>
            <a:ln w="19050">
              <a:solidFill>
                <a:schemeClr val="accent4">
                  <a:lumMod val="75000"/>
                </a:schemeClr>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83" name="Rectangle 43">
              <a:extLst>
                <a:ext uri="{FF2B5EF4-FFF2-40B4-BE49-F238E27FC236}">
                  <a16:creationId xmlns:a16="http://schemas.microsoft.com/office/drawing/2014/main" id="{C85D5FAC-A5BC-4C8D-8135-A1BAC9C5E1F9}"/>
                </a:ext>
              </a:extLst>
            </p:cNvPr>
            <p:cNvSpPr/>
            <p:nvPr/>
          </p:nvSpPr>
          <p:spPr>
            <a:xfrm>
              <a:off x="6801457" y="5177016"/>
              <a:ext cx="581543"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chemeClr val="accent4">
                      <a:lumMod val="75000"/>
                    </a:schemeClr>
                  </a:solidFill>
                  <a:latin typeface="SamsungOne 400" panose="020B0503030303020204" pitchFamily="34" charset="0"/>
                  <a:ea typeface="SamsungOne 400" panose="020B0503030303020204" pitchFamily="34" charset="0"/>
                </a:rPr>
                <a:t>NOT WORKING</a:t>
              </a:r>
            </a:p>
          </p:txBody>
        </p:sp>
        <p:sp>
          <p:nvSpPr>
            <p:cNvPr id="184" name="타원 183">
              <a:extLst>
                <a:ext uri="{FF2B5EF4-FFF2-40B4-BE49-F238E27FC236}">
                  <a16:creationId xmlns:a16="http://schemas.microsoft.com/office/drawing/2014/main" id="{687E56C4-4B4F-46C1-91A6-E09F63E31626}"/>
                </a:ext>
              </a:extLst>
            </p:cNvPr>
            <p:cNvSpPr/>
            <p:nvPr/>
          </p:nvSpPr>
          <p:spPr>
            <a:xfrm>
              <a:off x="6431371" y="5317863"/>
              <a:ext cx="693611" cy="298440"/>
            </a:xfrm>
            <a:prstGeom prst="ellipse">
              <a:avLst/>
            </a:prstGeom>
            <a:solidFill>
              <a:srgbClr val="D5E0F8"/>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85" name="Rectangle 43">
              <a:extLst>
                <a:ext uri="{FF2B5EF4-FFF2-40B4-BE49-F238E27FC236}">
                  <a16:creationId xmlns:a16="http://schemas.microsoft.com/office/drawing/2014/main" id="{B674234A-7AC5-4153-98BB-2DE6A6AA2AFA}"/>
                </a:ext>
              </a:extLst>
            </p:cNvPr>
            <p:cNvSpPr/>
            <p:nvPr/>
          </p:nvSpPr>
          <p:spPr>
            <a:xfrm>
              <a:off x="6555802" y="5364170"/>
              <a:ext cx="444749" cy="205826"/>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&lt;10k</a:t>
              </a:r>
            </a:p>
            <a:p>
              <a:pPr algn="ctr" defTabSz="914400"/>
              <a:r>
                <a:rPr lang="en-US" altLang="ko-KR" sz="500" b="1" dirty="0">
                  <a:solidFill>
                    <a:schemeClr val="tx1">
                      <a:lumMod val="85000"/>
                      <a:lumOff val="15000"/>
                    </a:schemeClr>
                  </a:solidFill>
                  <a:latin typeface="SamsungOne 400" panose="020B0503030303020204" pitchFamily="34" charset="0"/>
                  <a:ea typeface="SamsungOne 400" panose="020B0503030303020204" pitchFamily="34" charset="0"/>
                </a:rPr>
                <a:t>samples</a:t>
              </a:r>
            </a:p>
          </p:txBody>
        </p:sp>
        <p:sp>
          <p:nvSpPr>
            <p:cNvPr id="186" name="모서리가 둥근 직사각형 216">
              <a:extLst>
                <a:ext uri="{FF2B5EF4-FFF2-40B4-BE49-F238E27FC236}">
                  <a16:creationId xmlns:a16="http://schemas.microsoft.com/office/drawing/2014/main" id="{6139320A-809B-45DF-ADCD-2F88DB49B06E}"/>
                </a:ext>
              </a:extLst>
            </p:cNvPr>
            <p:cNvSpPr/>
            <p:nvPr/>
          </p:nvSpPr>
          <p:spPr>
            <a:xfrm>
              <a:off x="7360212" y="5317125"/>
              <a:ext cx="1080000" cy="153554"/>
            </a:xfrm>
            <a:prstGeom prst="roundRect">
              <a:avLst>
                <a:gd name="adj" fmla="val 29486"/>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87" name="Rectangle 43">
              <a:extLst>
                <a:ext uri="{FF2B5EF4-FFF2-40B4-BE49-F238E27FC236}">
                  <a16:creationId xmlns:a16="http://schemas.microsoft.com/office/drawing/2014/main" id="{F858C580-0ADC-4B9D-AB58-6089A63EBBDD}"/>
                </a:ext>
              </a:extLst>
            </p:cNvPr>
            <p:cNvSpPr/>
            <p:nvPr/>
          </p:nvSpPr>
          <p:spPr>
            <a:xfrm>
              <a:off x="7400578" y="5330547"/>
              <a:ext cx="1027162"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err="1">
                  <a:solidFill>
                    <a:schemeClr val="tx1">
                      <a:lumMod val="85000"/>
                      <a:lumOff val="15000"/>
                    </a:schemeClr>
                  </a:solidFill>
                  <a:latin typeface="SamsungOne 400" panose="020B0503030303020204" pitchFamily="34" charset="0"/>
                  <a:ea typeface="SamsungOne 400" panose="020B0503030303020204" pitchFamily="34" charset="0"/>
                </a:rPr>
                <a:t>Isomap</a:t>
              </a:r>
              <a:endPar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188" name="모서리가 둥근 직사각형 218">
              <a:extLst>
                <a:ext uri="{FF2B5EF4-FFF2-40B4-BE49-F238E27FC236}">
                  <a16:creationId xmlns:a16="http://schemas.microsoft.com/office/drawing/2014/main" id="{A612A779-4C73-49CA-9B9E-48019C2A435B}"/>
                </a:ext>
              </a:extLst>
            </p:cNvPr>
            <p:cNvSpPr/>
            <p:nvPr/>
          </p:nvSpPr>
          <p:spPr>
            <a:xfrm>
              <a:off x="7360212" y="5463183"/>
              <a:ext cx="1080000" cy="153554"/>
            </a:xfrm>
            <a:prstGeom prst="roundRect">
              <a:avLst>
                <a:gd name="adj" fmla="val 29486"/>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89" name="Rectangle 43">
              <a:extLst>
                <a:ext uri="{FF2B5EF4-FFF2-40B4-BE49-F238E27FC236}">
                  <a16:creationId xmlns:a16="http://schemas.microsoft.com/office/drawing/2014/main" id="{C57F8C43-7FC0-416C-9F7A-F1F5A34D0D6E}"/>
                </a:ext>
              </a:extLst>
            </p:cNvPr>
            <p:cNvSpPr/>
            <p:nvPr/>
          </p:nvSpPr>
          <p:spPr>
            <a:xfrm>
              <a:off x="7374160" y="5476581"/>
              <a:ext cx="1079999"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Spectral Embedding</a:t>
              </a:r>
            </a:p>
          </p:txBody>
        </p:sp>
        <p:cxnSp>
          <p:nvCxnSpPr>
            <p:cNvPr id="190" name="직선 화살표 연결선 189">
              <a:extLst>
                <a:ext uri="{FF2B5EF4-FFF2-40B4-BE49-F238E27FC236}">
                  <a16:creationId xmlns:a16="http://schemas.microsoft.com/office/drawing/2014/main" id="{0931308E-B65E-4656-B396-C90D9F9DFE9B}"/>
                </a:ext>
              </a:extLst>
            </p:cNvPr>
            <p:cNvCxnSpPr/>
            <p:nvPr/>
          </p:nvCxnSpPr>
          <p:spPr>
            <a:xfrm>
              <a:off x="7190478" y="5470679"/>
              <a:ext cx="114785" cy="0"/>
            </a:xfrm>
            <a:prstGeom prst="straightConnector1">
              <a:avLst/>
            </a:prstGeom>
            <a:ln w="19050">
              <a:solidFill>
                <a:srgbClr val="3D9933"/>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91" name="Rectangle 43">
              <a:extLst>
                <a:ext uri="{FF2B5EF4-FFF2-40B4-BE49-F238E27FC236}">
                  <a16:creationId xmlns:a16="http://schemas.microsoft.com/office/drawing/2014/main" id="{542F068B-164D-47D2-B5FB-B6D4CA6E74FE}"/>
                </a:ext>
              </a:extLst>
            </p:cNvPr>
            <p:cNvSpPr/>
            <p:nvPr/>
          </p:nvSpPr>
          <p:spPr>
            <a:xfrm>
              <a:off x="7119866" y="5530251"/>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3D9933"/>
                  </a:solidFill>
                  <a:latin typeface="SamsungOne 400" panose="020B0503030303020204" pitchFamily="34" charset="0"/>
                  <a:ea typeface="SamsungOne 400" panose="020B0503030303020204" pitchFamily="34" charset="0"/>
                </a:rPr>
                <a:t>YES</a:t>
              </a:r>
            </a:p>
          </p:txBody>
        </p:sp>
        <p:sp>
          <p:nvSpPr>
            <p:cNvPr id="192" name="모서리가 둥근 직사각형 222">
              <a:extLst>
                <a:ext uri="{FF2B5EF4-FFF2-40B4-BE49-F238E27FC236}">
                  <a16:creationId xmlns:a16="http://schemas.microsoft.com/office/drawing/2014/main" id="{5FB21AF7-E774-41EC-9458-A886043AF44D}"/>
                </a:ext>
              </a:extLst>
            </p:cNvPr>
            <p:cNvSpPr/>
            <p:nvPr/>
          </p:nvSpPr>
          <p:spPr>
            <a:xfrm>
              <a:off x="8651521" y="5312358"/>
              <a:ext cx="573923" cy="298440"/>
            </a:xfrm>
            <a:prstGeom prst="roundRect">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93" name="Rectangle 43">
              <a:extLst>
                <a:ext uri="{FF2B5EF4-FFF2-40B4-BE49-F238E27FC236}">
                  <a16:creationId xmlns:a16="http://schemas.microsoft.com/office/drawing/2014/main" id="{C25D85A2-83A4-46BF-B8A1-B51931041245}"/>
                </a:ext>
              </a:extLst>
            </p:cNvPr>
            <p:cNvSpPr/>
            <p:nvPr/>
          </p:nvSpPr>
          <p:spPr>
            <a:xfrm>
              <a:off x="8688435" y="5400021"/>
              <a:ext cx="500095" cy="12311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LLE</a:t>
              </a:r>
            </a:p>
          </p:txBody>
        </p:sp>
        <p:cxnSp>
          <p:nvCxnSpPr>
            <p:cNvPr id="194" name="직선 화살표 연결선 193">
              <a:extLst>
                <a:ext uri="{FF2B5EF4-FFF2-40B4-BE49-F238E27FC236}">
                  <a16:creationId xmlns:a16="http://schemas.microsoft.com/office/drawing/2014/main" id="{FCE5E8F0-922E-4579-97BA-8757AA0DC5B3}"/>
                </a:ext>
              </a:extLst>
            </p:cNvPr>
            <p:cNvCxnSpPr/>
            <p:nvPr/>
          </p:nvCxnSpPr>
          <p:spPr>
            <a:xfrm flipH="1">
              <a:off x="8482415" y="5479869"/>
              <a:ext cx="114785" cy="0"/>
            </a:xfrm>
            <a:prstGeom prst="straightConnector1">
              <a:avLst/>
            </a:prstGeom>
            <a:ln w="19050">
              <a:solidFill>
                <a:schemeClr val="accent4">
                  <a:lumMod val="75000"/>
                </a:schemeClr>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95" name="Rectangle 43">
              <a:extLst>
                <a:ext uri="{FF2B5EF4-FFF2-40B4-BE49-F238E27FC236}">
                  <a16:creationId xmlns:a16="http://schemas.microsoft.com/office/drawing/2014/main" id="{359F5F84-CB7A-46C9-8E08-EF3B57767890}"/>
                </a:ext>
              </a:extLst>
            </p:cNvPr>
            <p:cNvSpPr/>
            <p:nvPr/>
          </p:nvSpPr>
          <p:spPr>
            <a:xfrm>
              <a:off x="8116846" y="5654838"/>
              <a:ext cx="845922"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chemeClr val="accent4">
                      <a:lumMod val="75000"/>
                    </a:schemeClr>
                  </a:solidFill>
                  <a:latin typeface="SamsungOne 400" panose="020B0503030303020204" pitchFamily="34" charset="0"/>
                  <a:ea typeface="SamsungOne 400" panose="020B0503030303020204" pitchFamily="34" charset="0"/>
                </a:rPr>
                <a:t>NOT WORKING</a:t>
              </a:r>
            </a:p>
          </p:txBody>
        </p:sp>
        <p:cxnSp>
          <p:nvCxnSpPr>
            <p:cNvPr id="196" name="직선 화살표 연결선 195">
              <a:extLst>
                <a:ext uri="{FF2B5EF4-FFF2-40B4-BE49-F238E27FC236}">
                  <a16:creationId xmlns:a16="http://schemas.microsoft.com/office/drawing/2014/main" id="{6533AFF1-6239-4AEC-9554-20834A7A22FA}"/>
                </a:ext>
              </a:extLst>
            </p:cNvPr>
            <p:cNvCxnSpPr/>
            <p:nvPr/>
          </p:nvCxnSpPr>
          <p:spPr>
            <a:xfrm>
              <a:off x="6765520" y="5670241"/>
              <a:ext cx="0" cy="114785"/>
            </a:xfrm>
            <a:prstGeom prst="straightConnector1">
              <a:avLst/>
            </a:prstGeom>
            <a:ln w="19050">
              <a:solidFill>
                <a:srgbClr val="DD2626"/>
              </a:solidFill>
              <a:headEnd w="med" len="sm"/>
              <a:tailEnd type="triangle" w="med" len="sm"/>
            </a:ln>
          </p:spPr>
          <p:style>
            <a:lnRef idx="1">
              <a:schemeClr val="accent1"/>
            </a:lnRef>
            <a:fillRef idx="0">
              <a:schemeClr val="accent1"/>
            </a:fillRef>
            <a:effectRef idx="0">
              <a:schemeClr val="accent1"/>
            </a:effectRef>
            <a:fontRef idx="minor">
              <a:schemeClr val="tx1"/>
            </a:fontRef>
          </p:style>
        </p:cxnSp>
        <p:sp>
          <p:nvSpPr>
            <p:cNvPr id="197" name="Rectangle 43">
              <a:extLst>
                <a:ext uri="{FF2B5EF4-FFF2-40B4-BE49-F238E27FC236}">
                  <a16:creationId xmlns:a16="http://schemas.microsoft.com/office/drawing/2014/main" id="{BCE0CFDB-4239-42B0-BC26-897B1D7A8976}"/>
                </a:ext>
              </a:extLst>
            </p:cNvPr>
            <p:cNvSpPr/>
            <p:nvPr/>
          </p:nvSpPr>
          <p:spPr>
            <a:xfrm>
              <a:off x="6797334" y="5693238"/>
              <a:ext cx="237599" cy="8576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500" b="1" dirty="0">
                  <a:solidFill>
                    <a:srgbClr val="FF0000"/>
                  </a:solidFill>
                  <a:latin typeface="SamsungOne 400" panose="020B0503030303020204" pitchFamily="34" charset="0"/>
                  <a:ea typeface="SamsungOne 400" panose="020B0503030303020204" pitchFamily="34" charset="0"/>
                </a:rPr>
                <a:t>NO</a:t>
              </a:r>
            </a:p>
          </p:txBody>
        </p:sp>
        <p:sp>
          <p:nvSpPr>
            <p:cNvPr id="198" name="모서리가 둥근 직사각형 228">
              <a:extLst>
                <a:ext uri="{FF2B5EF4-FFF2-40B4-BE49-F238E27FC236}">
                  <a16:creationId xmlns:a16="http://schemas.microsoft.com/office/drawing/2014/main" id="{09EF9344-F11F-4051-9B3E-681FE75D26D8}"/>
                </a:ext>
              </a:extLst>
            </p:cNvPr>
            <p:cNvSpPr/>
            <p:nvPr/>
          </p:nvSpPr>
          <p:spPr>
            <a:xfrm>
              <a:off x="6435828" y="5816919"/>
              <a:ext cx="684038" cy="298440"/>
            </a:xfrm>
            <a:prstGeom prst="roundRect">
              <a:avLst/>
            </a:prstGeom>
            <a:solidFill>
              <a:srgbClr val="7FD7A7"/>
            </a:solidFill>
            <a:ln w="19050">
              <a:solidFill>
                <a:srgbClr val="07B2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b="1"/>
            </a:p>
          </p:txBody>
        </p:sp>
        <p:sp>
          <p:nvSpPr>
            <p:cNvPr id="199" name="Rectangle 43">
              <a:extLst>
                <a:ext uri="{FF2B5EF4-FFF2-40B4-BE49-F238E27FC236}">
                  <a16:creationId xmlns:a16="http://schemas.microsoft.com/office/drawing/2014/main" id="{A3003C3E-FD82-413A-ABE4-8461229D3F76}"/>
                </a:ext>
              </a:extLst>
            </p:cNvPr>
            <p:cNvSpPr/>
            <p:nvPr/>
          </p:nvSpPr>
          <p:spPr>
            <a:xfrm>
              <a:off x="6447104" y="5843027"/>
              <a:ext cx="661498" cy="246221"/>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kernel</a:t>
              </a:r>
            </a:p>
            <a:p>
              <a:pPr algn="ctr" defTabSz="914400"/>
              <a:r>
                <a:rPr lang="en-US" altLang="ko-KR" sz="700" b="1" dirty="0">
                  <a:solidFill>
                    <a:schemeClr val="tx1">
                      <a:lumMod val="85000"/>
                      <a:lumOff val="15000"/>
                    </a:schemeClr>
                  </a:solidFill>
                  <a:latin typeface="SamsungOne 400" panose="020B0503030303020204" pitchFamily="34" charset="0"/>
                  <a:ea typeface="SamsungOne 400" panose="020B0503030303020204" pitchFamily="34" charset="0"/>
                </a:rPr>
                <a:t>approximation</a:t>
              </a:r>
            </a:p>
          </p:txBody>
        </p:sp>
      </p:grpSp>
      <p:sp>
        <p:nvSpPr>
          <p:cNvPr id="200" name="직사각형 199">
            <a:extLst>
              <a:ext uri="{FF2B5EF4-FFF2-40B4-BE49-F238E27FC236}">
                <a16:creationId xmlns:a16="http://schemas.microsoft.com/office/drawing/2014/main" id="{0538B03D-F1B1-4D85-810E-862BAFB1998C}"/>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Training and Testing in Machine Learning</a:t>
            </a:r>
            <a:endParaRPr lang="ko-KR" altLang="en-US" sz="2400" dirty="0">
              <a:solidFill>
                <a:schemeClr val="tx1">
                  <a:lumMod val="95000"/>
                  <a:lumOff val="5000"/>
                </a:schemeClr>
              </a:solidFill>
              <a:latin typeface="Samsung Sharp Sans" pitchFamily="2" charset="0"/>
              <a:cs typeface="Samsung Sharp Sans" pitchFamily="2" charset="0"/>
            </a:endParaRPr>
          </a:p>
        </p:txBody>
      </p:sp>
    </p:spTree>
    <p:extLst>
      <p:ext uri="{BB962C8B-B14F-4D97-AF65-F5344CB8AC3E}">
        <p14:creationId xmlns:p14="http://schemas.microsoft.com/office/powerpoint/2010/main" val="165101194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3.1. Training and Testing in Machine Learning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Select a machine learning algorithm suitable for the data.</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sp>
        <p:nvSpPr>
          <p:cNvPr id="200" name="직사각형 199">
            <a:extLst>
              <a:ext uri="{FF2B5EF4-FFF2-40B4-BE49-F238E27FC236}">
                <a16:creationId xmlns:a16="http://schemas.microsoft.com/office/drawing/2014/main" id="{1ACF2BF2-E48B-4341-BB04-F6BAF8F6D564}"/>
              </a:ext>
            </a:extLst>
          </p:cNvPr>
          <p:cNvSpPr/>
          <p:nvPr/>
        </p:nvSpPr>
        <p:spPr>
          <a:xfrm>
            <a:off x="670746" y="1700808"/>
            <a:ext cx="8673279" cy="3459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Supervised learning is machine learning tasks that try to predict or classify the values of</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objective variables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(or</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response variables) in unseen data as the training dataset has the objective variables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(or</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response variables) to be predicted (Y).</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It is called supervised learning because the algorithm is told to predict a certain target.</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Supervised learning is mainly classified into classification and regression problems depending on the types of objective variables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(or</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response variables).</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other words, classification is applied if the objective variables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(or</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response variables) are discrete or nominal, such as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male/female,</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‘spam mail/ham mail,</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‘positive/neutral/negative,</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‘Seoul/Busan/</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Gyeonggi</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Gangwon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etc. On the other hand, regression is applied if the objective variables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(or</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response variables) are numerical, such as 0~10, -500~500, -3.5~3.5, -∞~∞, etc.</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When the given data does not have classification marks or objective variables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(or</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response variables), and if it’s not trying to predict target value, unsupervised learning is applied.</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Unsupervised learning is classified into clustering, association, dimension reduction, and others depending on the analysis purpose and methods. Further details will be explained in other chapters.</a:t>
            </a:r>
          </a:p>
        </p:txBody>
      </p:sp>
    </p:spTree>
    <p:extLst>
      <p:ext uri="{BB962C8B-B14F-4D97-AF65-F5344CB8AC3E}">
        <p14:creationId xmlns:p14="http://schemas.microsoft.com/office/powerpoint/2010/main" val="135873139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3.1. Training and Testing in Machine Learning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Select a machine learning algorithm suitable for the data.</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sp>
        <p:nvSpPr>
          <p:cNvPr id="200" name="직사각형 199">
            <a:extLst>
              <a:ext uri="{FF2B5EF4-FFF2-40B4-BE49-F238E27FC236}">
                <a16:creationId xmlns:a16="http://schemas.microsoft.com/office/drawing/2014/main" id="{1ACF2BF2-E48B-4341-BB04-F6BAF8F6D564}"/>
              </a:ext>
            </a:extLst>
          </p:cNvPr>
          <p:cNvSpPr/>
          <p:nvPr/>
        </p:nvSpPr>
        <p:spPr>
          <a:xfrm>
            <a:off x="670746" y="4608532"/>
            <a:ext cx="8673279" cy="1350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As shown in the figure above, neural networks can be applied if there are correct answers and it is for classification purposes or has a lot of data. If not, it is possible to use a decision tree or SVC algorithm.</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Also, the Naïve Bayes algorithm can be used if the data is in text.</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KNN method is used if it’s not text data. It is also possible to use the ensemble method with a better performance.</a:t>
            </a:r>
          </a:p>
        </p:txBody>
      </p:sp>
      <p:pic>
        <p:nvPicPr>
          <p:cNvPr id="9" name="그림 8">
            <a:extLst>
              <a:ext uri="{FF2B5EF4-FFF2-40B4-BE49-F238E27FC236}">
                <a16:creationId xmlns:a16="http://schemas.microsoft.com/office/drawing/2014/main" id="{5C3C7488-F735-4233-8AD2-6306A2406386}"/>
              </a:ext>
            </a:extLst>
          </p:cNvPr>
          <p:cNvPicPr>
            <a:picLocks noChangeAspect="1"/>
          </p:cNvPicPr>
          <p:nvPr/>
        </p:nvPicPr>
        <p:blipFill rotWithShape="1">
          <a:blip r:embed="rId3">
            <a:extLst>
              <a:ext uri="{28A0092B-C50C-407E-A947-70E740481C1C}">
                <a14:useLocalDpi xmlns:a14="http://schemas.microsoft.com/office/drawing/2010/main" val="0"/>
              </a:ext>
            </a:extLst>
          </a:blip>
          <a:srcRect r="-1325" b="34784"/>
          <a:stretch/>
        </p:blipFill>
        <p:spPr>
          <a:xfrm>
            <a:off x="993863" y="1772816"/>
            <a:ext cx="7915100" cy="2619869"/>
          </a:xfrm>
          <a:prstGeom prst="rect">
            <a:avLst/>
          </a:prstGeom>
        </p:spPr>
      </p:pic>
    </p:spTree>
    <p:extLst>
      <p:ext uri="{BB962C8B-B14F-4D97-AF65-F5344CB8AC3E}">
        <p14:creationId xmlns:p14="http://schemas.microsoft.com/office/powerpoint/2010/main" val="105420153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3.1. Training and Testing in Machine Learning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Machine learning for classification</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sp>
        <p:nvSpPr>
          <p:cNvPr id="200" name="직사각형 199">
            <a:extLst>
              <a:ext uri="{FF2B5EF4-FFF2-40B4-BE49-F238E27FC236}">
                <a16:creationId xmlns:a16="http://schemas.microsoft.com/office/drawing/2014/main" id="{1ACF2BF2-E48B-4341-BB04-F6BAF8F6D564}"/>
              </a:ext>
            </a:extLst>
          </p:cNvPr>
          <p:cNvSpPr/>
          <p:nvPr/>
        </p:nvSpPr>
        <p:spPr>
          <a:xfrm>
            <a:off x="670746" y="1700808"/>
            <a:ext cx="8673279" cy="848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Classification is used if the objective variables (or response variables) can be classified into certain categories, such as discrete or nominal type. It is the most common and frequently found in machine learning-based data analysis.</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Machine learning algorithms for classification can be applied to extensive daily and business problems. </a:t>
            </a:r>
          </a:p>
        </p:txBody>
      </p:sp>
      <p:grpSp>
        <p:nvGrpSpPr>
          <p:cNvPr id="2" name="그룹 1">
            <a:extLst>
              <a:ext uri="{FF2B5EF4-FFF2-40B4-BE49-F238E27FC236}">
                <a16:creationId xmlns:a16="http://schemas.microsoft.com/office/drawing/2014/main" id="{F67EC891-CB60-41AC-A167-465C27B0AF20}"/>
              </a:ext>
            </a:extLst>
          </p:cNvPr>
          <p:cNvGrpSpPr/>
          <p:nvPr/>
        </p:nvGrpSpPr>
        <p:grpSpPr>
          <a:xfrm>
            <a:off x="846956" y="2554394"/>
            <a:ext cx="6979589" cy="2463990"/>
            <a:chOff x="846956" y="5969789"/>
            <a:chExt cx="6979589" cy="2463990"/>
          </a:xfrm>
        </p:grpSpPr>
        <p:sp>
          <p:nvSpPr>
            <p:cNvPr id="9" name="사각형: 둥근 모서리 2">
              <a:extLst>
                <a:ext uri="{FF2B5EF4-FFF2-40B4-BE49-F238E27FC236}">
                  <a16:creationId xmlns:a16="http://schemas.microsoft.com/office/drawing/2014/main" id="{30FEDB81-D5E4-4675-920A-E04F34C151B3}"/>
                </a:ext>
              </a:extLst>
            </p:cNvPr>
            <p:cNvSpPr/>
            <p:nvPr/>
          </p:nvSpPr>
          <p:spPr>
            <a:xfrm>
              <a:off x="846956" y="6030686"/>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10" name="직사각형 9">
              <a:extLst>
                <a:ext uri="{FF2B5EF4-FFF2-40B4-BE49-F238E27FC236}">
                  <a16:creationId xmlns:a16="http://schemas.microsoft.com/office/drawing/2014/main" id="{297CFE06-3D2B-499C-9C61-7D18B53D8936}"/>
                </a:ext>
              </a:extLst>
            </p:cNvPr>
            <p:cNvSpPr/>
            <p:nvPr/>
          </p:nvSpPr>
          <p:spPr>
            <a:xfrm>
              <a:off x="1222454" y="5969789"/>
              <a:ext cx="6604091" cy="2463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Frequently used examples</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(1) Classifying spam mails</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(2) Prediction of corporate bankruptcy</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(3) Prediction of customer loss</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(4) Classifying customers’ credit rating</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(5) Prediction of occurrence of a certain disease (e.g. cancer, heart disease, etc.)</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(6) Prediction of customer reaction to a specific marketing event</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(7) Prediction of customer’s purchase</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grpSp>
      <p:sp>
        <p:nvSpPr>
          <p:cNvPr id="12" name="직사각형 11">
            <a:extLst>
              <a:ext uri="{FF2B5EF4-FFF2-40B4-BE49-F238E27FC236}">
                <a16:creationId xmlns:a16="http://schemas.microsoft.com/office/drawing/2014/main" id="{69F1FF55-9648-4A19-91F6-FC84EEDBC1C7}"/>
              </a:ext>
            </a:extLst>
          </p:cNvPr>
          <p:cNvSpPr/>
          <p:nvPr/>
        </p:nvSpPr>
        <p:spPr>
          <a:xfrm>
            <a:off x="670746" y="5013817"/>
            <a:ext cx="8673279" cy="7455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examples provided above are extremely few real-life applications; there are infinite fields of business that classification type machine learning is applied. This type of machine learning has been continuously applied with new R&amp;D and business methods. </a:t>
            </a:r>
          </a:p>
        </p:txBody>
      </p:sp>
    </p:spTree>
    <p:extLst>
      <p:ext uri="{BB962C8B-B14F-4D97-AF65-F5344CB8AC3E}">
        <p14:creationId xmlns:p14="http://schemas.microsoft.com/office/powerpoint/2010/main" val="210511211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3.1. Training and Testing in Machine Learning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Types of machine learning algorithm for classification (1/2)</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sp>
        <p:nvSpPr>
          <p:cNvPr id="200" name="직사각형 199">
            <a:extLst>
              <a:ext uri="{FF2B5EF4-FFF2-40B4-BE49-F238E27FC236}">
                <a16:creationId xmlns:a16="http://schemas.microsoft.com/office/drawing/2014/main" id="{1ACF2BF2-E48B-4341-BB04-F6BAF8F6D564}"/>
              </a:ext>
            </a:extLst>
          </p:cNvPr>
          <p:cNvSpPr/>
          <p:nvPr/>
        </p:nvSpPr>
        <p:spPr>
          <a:xfrm>
            <a:off x="670746" y="1700808"/>
            <a:ext cx="8673279"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There are many different classification-type machine learning algorithms. Some of those can be used for regression problems. The following table provides descriptions of frequently used classification methods.</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graphicFrame>
        <p:nvGraphicFramePr>
          <p:cNvPr id="13" name="표 12">
            <a:extLst>
              <a:ext uri="{FF2B5EF4-FFF2-40B4-BE49-F238E27FC236}">
                <a16:creationId xmlns:a16="http://schemas.microsoft.com/office/drawing/2014/main" id="{CBDAD188-9D45-4A7F-9C91-FAF4608EB06F}"/>
              </a:ext>
            </a:extLst>
          </p:cNvPr>
          <p:cNvGraphicFramePr>
            <a:graphicFrameLocks noGrp="1"/>
          </p:cNvGraphicFramePr>
          <p:nvPr>
            <p:extLst>
              <p:ext uri="{D42A27DB-BD31-4B8C-83A1-F6EECF244321}">
                <p14:modId xmlns:p14="http://schemas.microsoft.com/office/powerpoint/2010/main" val="3129301331"/>
              </p:ext>
            </p:extLst>
          </p:nvPr>
        </p:nvGraphicFramePr>
        <p:xfrm>
          <a:off x="666751" y="2312876"/>
          <a:ext cx="8677275" cy="3761950"/>
        </p:xfrm>
        <a:graphic>
          <a:graphicData uri="http://schemas.openxmlformats.org/drawingml/2006/table">
            <a:tbl>
              <a:tblPr firstRow="1" bandRow="1">
                <a:tableStyleId>{5940675A-B579-460E-94D1-54222C63F5DA}</a:tableStyleId>
              </a:tblPr>
              <a:tblGrid>
                <a:gridCol w="1600115">
                  <a:extLst>
                    <a:ext uri="{9D8B030D-6E8A-4147-A177-3AD203B41FA5}">
                      <a16:colId xmlns:a16="http://schemas.microsoft.com/office/drawing/2014/main" val="2044997058"/>
                    </a:ext>
                  </a:extLst>
                </a:gridCol>
                <a:gridCol w="5559235">
                  <a:extLst>
                    <a:ext uri="{9D8B030D-6E8A-4147-A177-3AD203B41FA5}">
                      <a16:colId xmlns:a16="http://schemas.microsoft.com/office/drawing/2014/main" val="490996645"/>
                    </a:ext>
                  </a:extLst>
                </a:gridCol>
                <a:gridCol w="1517925">
                  <a:extLst>
                    <a:ext uri="{9D8B030D-6E8A-4147-A177-3AD203B41FA5}">
                      <a16:colId xmlns:a16="http://schemas.microsoft.com/office/drawing/2014/main" val="20002"/>
                    </a:ext>
                  </a:extLst>
                </a:gridCol>
              </a:tblGrid>
              <a:tr h="304030">
                <a:tc>
                  <a:txBody>
                    <a:bodyPr/>
                    <a:lstStyle/>
                    <a:p>
                      <a:pPr marL="0" marR="0" indent="0" algn="ctr" defTabSz="914400" rtl="0" eaLnBrk="1" fontAlgn="base" latinLnBrk="0" hangingPunct="1">
                        <a:lnSpc>
                          <a:spcPct val="100000"/>
                        </a:lnSpc>
                        <a:spcBef>
                          <a:spcPts val="0"/>
                        </a:spcBef>
                        <a:spcAft>
                          <a:spcPts val="800"/>
                        </a:spcAft>
                        <a:buClrTx/>
                        <a:buSzTx/>
                        <a:buFontTx/>
                        <a:buNone/>
                        <a:tabLst/>
                        <a:defRPr/>
                      </a:pPr>
                      <a:r>
                        <a:rPr lang="en-US" altLang="ko-KR"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rPr>
                        <a:t>Type</a:t>
                      </a:r>
                      <a:endParaRPr lang="ko-KR" altLang="en-US"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base" latinLnBrk="0" hangingPunct="1">
                        <a:lnSpc>
                          <a:spcPct val="100000"/>
                        </a:lnSpc>
                        <a:spcBef>
                          <a:spcPts val="0"/>
                        </a:spcBef>
                        <a:spcAft>
                          <a:spcPts val="800"/>
                        </a:spcAft>
                        <a:buClrTx/>
                        <a:buSzTx/>
                        <a:buFontTx/>
                        <a:buNone/>
                        <a:tabLst/>
                        <a:defRPr/>
                      </a:pPr>
                      <a:r>
                        <a:rPr lang="en-US" altLang="ko-KR"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rPr>
                        <a:t>Concept</a:t>
                      </a:r>
                      <a:endParaRPr lang="ko-KR" altLang="en-US"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base" latinLnBrk="0" hangingPunct="1">
                        <a:lnSpc>
                          <a:spcPct val="100000"/>
                        </a:lnSpc>
                        <a:spcBef>
                          <a:spcPts val="0"/>
                        </a:spcBef>
                        <a:spcAft>
                          <a:spcPts val="800"/>
                        </a:spcAft>
                        <a:buClrTx/>
                        <a:buSzTx/>
                        <a:buFontTx/>
                        <a:buNone/>
                        <a:tabLst/>
                        <a:defRPr/>
                      </a:pPr>
                      <a:r>
                        <a:rPr lang="en-US" altLang="ko-KR"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rPr>
                        <a:t>Note</a:t>
                      </a:r>
                      <a:endParaRPr lang="ko-KR" altLang="en-US"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55872289"/>
                  </a:ext>
                </a:extLst>
              </a:tr>
              <a:tr h="269438">
                <a:tc>
                  <a:txBody>
                    <a:bodyPr/>
                    <a:lstStyle/>
                    <a:p>
                      <a:pPr marL="0" algn="ctr" defTabSz="914400" rtl="0" eaLnBrk="1" latinLnBrk="0" hangingPunct="1">
                        <a:lnSpc>
                          <a:spcPct val="100000"/>
                        </a:lnSpc>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K-Nearest Neighbor</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latinLnBrk="0">
                        <a:spcAft>
                          <a:spcPts val="800"/>
                        </a:spcAft>
                      </a:pPr>
                      <a:r>
                        <a:rPr lang="en-US" altLang="ko-KR" sz="1300" dirty="0">
                          <a:latin typeface="SamsungOne 400" panose="020B0503030303020204" pitchFamily="34" charset="0"/>
                          <a:ea typeface="SamsungOne 400" panose="020B0503030303020204" pitchFamily="34" charset="0"/>
                        </a:rPr>
                        <a:t>A classification method that uses the majority rule on the closest k objective variable values (or response variables) based on the distance between data coordination other than a certain data.</a:t>
                      </a:r>
                      <a:endParaRPr lang="en-US" sz="1300" dirty="0">
                        <a:latin typeface="SamsungOne 400" panose="020B0503030303020204" pitchFamily="34" charset="0"/>
                        <a:ea typeface="SamsungOne 400" panose="020B0503030303020204" pitchFamily="34"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Lazy Learning</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16463057"/>
                  </a:ext>
                </a:extLst>
              </a:tr>
              <a:tr h="269438">
                <a:tc>
                  <a:txBody>
                    <a:bodyPr/>
                    <a:lstStyle/>
                    <a:p>
                      <a:pPr marL="0" algn="ctr" defTabSz="914400" rtl="0" eaLnBrk="1" latinLnBrk="0" hangingPunct="1">
                        <a:lnSpc>
                          <a:spcPct val="100000"/>
                        </a:lnSpc>
                        <a:spcAft>
                          <a:spcPts val="800"/>
                        </a:spcAft>
                      </a:pPr>
                      <a:r>
                        <a:rPr lang="en-US" altLang="ko-KR" sz="13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Naïve Bayes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 method based on Bayes’ theorem that makes classification towards the higher probability by expressing the conditional probability of objective variables (or response variables) as a multiplication of the prior probability and likelihood function. All observed values are assumed to occur statistically independently from other observed values.</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(Referred to as a Naïve model since the assumption is given without confidence.)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Provability model</a:t>
                      </a:r>
                      <a:b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(Bayes’ theorem based conditional probability)</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69438">
                <a:tc>
                  <a:txBody>
                    <a:bodyPr/>
                    <a:lstStyle/>
                    <a:p>
                      <a:pPr marL="0" algn="ctr" defTabSz="914400" rtl="0" eaLnBrk="1" latinLnBrk="0" hangingPunct="1">
                        <a:lnSpc>
                          <a:spcPct val="100000"/>
                        </a:lnSpc>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Logistic Regression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 method to estimate the probability of objective variables through the maximum likelihood estimation by assuming that the probability of the objective variable value being in a certain category is in the logistic function shape when the explanatory value is given. </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Provability model</a:t>
                      </a:r>
                      <a:b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(maximum likelihood estimation)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69438">
                <a:tc>
                  <a:txBody>
                    <a:bodyPr/>
                    <a:lstStyle/>
                    <a:p>
                      <a:pPr marL="0" algn="ctr" defTabSz="914400" rtl="0" eaLnBrk="1" latinLnBrk="0" hangingPunct="1">
                        <a:lnSpc>
                          <a:spcPct val="100000"/>
                        </a:lnSpc>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Decision Tree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 method to create classification rules by splitting the branches towards lower impurity or entropy in the order of variables most associated with objective variables. </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0"/>
                        </a:spcBef>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Divide</a:t>
                      </a:r>
                      <a:r>
                        <a:rPr lang="en-US" altLang="ko-KR" sz="13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&amp; Conquer</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7616676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3.1. Training and Testing in Machine Learning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Types of machine learning algorithm for classification (2/2)</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sp>
        <p:nvSpPr>
          <p:cNvPr id="200" name="직사각형 199">
            <a:extLst>
              <a:ext uri="{FF2B5EF4-FFF2-40B4-BE49-F238E27FC236}">
                <a16:creationId xmlns:a16="http://schemas.microsoft.com/office/drawing/2014/main" id="{1ACF2BF2-E48B-4341-BB04-F6BAF8F6D564}"/>
              </a:ext>
            </a:extLst>
          </p:cNvPr>
          <p:cNvSpPr/>
          <p:nvPr/>
        </p:nvSpPr>
        <p:spPr>
          <a:xfrm>
            <a:off x="670746" y="1700808"/>
            <a:ext cx="8673279"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There are many different classification-type machine learning algorithms. Some of those can be used for regression problems. The following table provides descriptions of frequently used classification methods.</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graphicFrame>
        <p:nvGraphicFramePr>
          <p:cNvPr id="13" name="표 12">
            <a:extLst>
              <a:ext uri="{FF2B5EF4-FFF2-40B4-BE49-F238E27FC236}">
                <a16:creationId xmlns:a16="http://schemas.microsoft.com/office/drawing/2014/main" id="{CBDAD188-9D45-4A7F-9C91-FAF4608EB06F}"/>
              </a:ext>
            </a:extLst>
          </p:cNvPr>
          <p:cNvGraphicFramePr>
            <a:graphicFrameLocks noGrp="1"/>
          </p:cNvGraphicFramePr>
          <p:nvPr>
            <p:extLst>
              <p:ext uri="{D42A27DB-BD31-4B8C-83A1-F6EECF244321}">
                <p14:modId xmlns:p14="http://schemas.microsoft.com/office/powerpoint/2010/main" val="3722830864"/>
              </p:ext>
            </p:extLst>
          </p:nvPr>
        </p:nvGraphicFramePr>
        <p:xfrm>
          <a:off x="666751" y="2312876"/>
          <a:ext cx="8677275" cy="2303110"/>
        </p:xfrm>
        <a:graphic>
          <a:graphicData uri="http://schemas.openxmlformats.org/drawingml/2006/table">
            <a:tbl>
              <a:tblPr firstRow="1" bandRow="1">
                <a:tableStyleId>{5940675A-B579-460E-94D1-54222C63F5DA}</a:tableStyleId>
              </a:tblPr>
              <a:tblGrid>
                <a:gridCol w="1600115">
                  <a:extLst>
                    <a:ext uri="{9D8B030D-6E8A-4147-A177-3AD203B41FA5}">
                      <a16:colId xmlns:a16="http://schemas.microsoft.com/office/drawing/2014/main" val="2044997058"/>
                    </a:ext>
                  </a:extLst>
                </a:gridCol>
                <a:gridCol w="5559235">
                  <a:extLst>
                    <a:ext uri="{9D8B030D-6E8A-4147-A177-3AD203B41FA5}">
                      <a16:colId xmlns:a16="http://schemas.microsoft.com/office/drawing/2014/main" val="490996645"/>
                    </a:ext>
                  </a:extLst>
                </a:gridCol>
                <a:gridCol w="1517925">
                  <a:extLst>
                    <a:ext uri="{9D8B030D-6E8A-4147-A177-3AD203B41FA5}">
                      <a16:colId xmlns:a16="http://schemas.microsoft.com/office/drawing/2014/main" val="20002"/>
                    </a:ext>
                  </a:extLst>
                </a:gridCol>
              </a:tblGrid>
              <a:tr h="304030">
                <a:tc>
                  <a:txBody>
                    <a:bodyPr/>
                    <a:lstStyle/>
                    <a:p>
                      <a:pPr marL="0" marR="0" indent="0" algn="ctr" defTabSz="914400" rtl="0" eaLnBrk="1" fontAlgn="base" latinLnBrk="0" hangingPunct="1">
                        <a:lnSpc>
                          <a:spcPct val="100000"/>
                        </a:lnSpc>
                        <a:spcBef>
                          <a:spcPts val="0"/>
                        </a:spcBef>
                        <a:spcAft>
                          <a:spcPts val="800"/>
                        </a:spcAft>
                        <a:buClrTx/>
                        <a:buSzTx/>
                        <a:buFontTx/>
                        <a:buNone/>
                        <a:tabLst/>
                        <a:defRPr/>
                      </a:pPr>
                      <a:r>
                        <a:rPr lang="en-US" altLang="ko-KR"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rPr>
                        <a:t>Type</a:t>
                      </a:r>
                      <a:endParaRPr lang="ko-KR" altLang="en-US"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base" latinLnBrk="0" hangingPunct="1">
                        <a:lnSpc>
                          <a:spcPct val="100000"/>
                        </a:lnSpc>
                        <a:spcBef>
                          <a:spcPts val="0"/>
                        </a:spcBef>
                        <a:spcAft>
                          <a:spcPts val="800"/>
                        </a:spcAft>
                        <a:buClrTx/>
                        <a:buSzTx/>
                        <a:buFontTx/>
                        <a:buNone/>
                        <a:tabLst/>
                        <a:defRPr/>
                      </a:pPr>
                      <a:r>
                        <a:rPr lang="en-US" altLang="ko-KR"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rPr>
                        <a:t>Concept</a:t>
                      </a:r>
                      <a:endParaRPr lang="ko-KR" altLang="en-US"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base" latinLnBrk="0" hangingPunct="1">
                        <a:lnSpc>
                          <a:spcPct val="100000"/>
                        </a:lnSpc>
                        <a:spcBef>
                          <a:spcPts val="0"/>
                        </a:spcBef>
                        <a:spcAft>
                          <a:spcPts val="800"/>
                        </a:spcAft>
                        <a:buClrTx/>
                        <a:buSzTx/>
                        <a:buFontTx/>
                        <a:buNone/>
                        <a:tabLst/>
                        <a:defRPr/>
                      </a:pPr>
                      <a:r>
                        <a:rPr lang="en-US" altLang="ko-KR"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rPr>
                        <a:t>Note</a:t>
                      </a:r>
                      <a:endParaRPr lang="ko-KR" altLang="en-US" sz="1300" b="0" kern="1200" dirty="0">
                        <a:solidFill>
                          <a:schemeClr val="tx1"/>
                        </a:solidFill>
                        <a:latin typeface="SamsungOne 400" panose="020B05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55872289"/>
                  </a:ext>
                </a:extLst>
              </a:tr>
              <a:tr h="269438">
                <a:tc>
                  <a:txBody>
                    <a:bodyPr/>
                    <a:lstStyle/>
                    <a:p>
                      <a:pPr marL="0" algn="ctr" defTabSz="914400" rtl="0" eaLnBrk="1" latinLnBrk="0" hangingPunct="1">
                        <a:lnSpc>
                          <a:spcPct val="100000"/>
                        </a:lnSpc>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Artificial Neural Network</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l" defTabSz="914126" rtl="0" eaLnBrk="1" latinLnBrk="0" hangingPunct="1">
                        <a:spcAft>
                          <a:spcPts val="800"/>
                        </a:spcAft>
                      </a:pPr>
                      <a:r>
                        <a:rPr lang="en-US" altLang="ko-KR" sz="1300" kern="1200" dirty="0">
                          <a:solidFill>
                            <a:schemeClr val="tx1"/>
                          </a:solidFill>
                          <a:latin typeface="SamsungOne 400" panose="020B0503030303020204" pitchFamily="34" charset="0"/>
                          <a:ea typeface="SamsungOne 400" panose="020B0503030303020204" pitchFamily="34" charset="0"/>
                          <a:cs typeface="+mn-cs"/>
                        </a:rPr>
                        <a:t>A method inspired by the human neuron network. Comprised of the input node, hidden node, and output node, this analysis method is used to solve complicated classification or black box value prediction problems.</a:t>
                      </a:r>
                      <a:endParaRPr lang="en-US" sz="1300" kern="1200" dirty="0">
                        <a:solidFill>
                          <a:schemeClr val="tx1"/>
                        </a:solidFill>
                        <a:latin typeface="SamsungOne 400" panose="020B0503030303020204" pitchFamily="34" charset="0"/>
                        <a:ea typeface="SamsungOne 400" panose="020B0503030303020204" pitchFamily="34" charset="0"/>
                        <a:cs typeface="+mn-cs"/>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126" rtl="0" eaLnBrk="1" fontAlgn="base" latinLnBrk="0" hangingPunct="1">
                        <a:lnSpc>
                          <a:spcPct val="100000"/>
                        </a:lnSpc>
                        <a:spcBef>
                          <a:spcPts val="0"/>
                        </a:spcBef>
                        <a:spcAft>
                          <a:spcPts val="800"/>
                        </a:spcAft>
                      </a:pPr>
                      <a:r>
                        <a:rPr lang="en-US" altLang="ko-KR" sz="1300" kern="1200" dirty="0">
                          <a:solidFill>
                            <a:schemeClr val="tx1"/>
                          </a:solidFill>
                          <a:latin typeface="SamsungOne 400" panose="020B0503030303020204" pitchFamily="34" charset="0"/>
                          <a:ea typeface="SamsungOne 400" panose="020B0503030303020204" pitchFamily="34" charset="0"/>
                          <a:cs typeface="+mn-cs"/>
                        </a:rPr>
                        <a:t>Black box test</a:t>
                      </a:r>
                      <a:endParaRPr lang="ko-KR" altLang="en-US" sz="1300" kern="1200" dirty="0">
                        <a:solidFill>
                          <a:schemeClr val="tx1"/>
                        </a:solidFill>
                        <a:latin typeface="SamsungOne 400" panose="020B0503030303020204" pitchFamily="34" charset="0"/>
                        <a:ea typeface="SamsungOne 400" panose="020B0503030303020204" pitchFamily="34" charset="0"/>
                        <a:cs typeface="+mn-cs"/>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16463057"/>
                  </a:ext>
                </a:extLst>
              </a:tr>
              <a:tr h="269438">
                <a:tc>
                  <a:txBody>
                    <a:bodyPr/>
                    <a:lstStyle/>
                    <a:p>
                      <a:pPr marL="0" algn="ctr" defTabSz="914400" rtl="0" eaLnBrk="1" latinLnBrk="0" hangingPunct="1">
                        <a:lnSpc>
                          <a:spcPct val="100000"/>
                        </a:lnSpc>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Support Vector Machine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126" rtl="0" eaLnBrk="1" fontAlgn="base" latinLnBrk="0" hangingPunct="1">
                        <a:lnSpc>
                          <a:spcPct val="100000"/>
                        </a:lnSpc>
                        <a:spcBef>
                          <a:spcPts val="0"/>
                        </a:spcBef>
                        <a:spcAft>
                          <a:spcPts val="800"/>
                        </a:spcAft>
                      </a:pPr>
                      <a:r>
                        <a:rPr lang="en-US" altLang="ko-KR" sz="1300" kern="1200" dirty="0">
                          <a:solidFill>
                            <a:schemeClr val="tx1"/>
                          </a:solidFill>
                          <a:latin typeface="SamsungOne 400" panose="020B0503030303020204" pitchFamily="34" charset="0"/>
                          <a:ea typeface="SamsungOne 400" panose="020B0503030303020204" pitchFamily="34" charset="0"/>
                          <a:cs typeface="+mn-cs"/>
                        </a:rPr>
                        <a:t>A method to classify certain data by finding a plane that maximizes the margin between data in different categories.</a:t>
                      </a:r>
                      <a:endParaRPr lang="ko-KR" altLang="en-US" sz="1300" kern="1200" dirty="0">
                        <a:solidFill>
                          <a:schemeClr val="tx1"/>
                        </a:solidFill>
                        <a:latin typeface="SamsungOne 400" panose="020B0503030303020204" pitchFamily="34" charset="0"/>
                        <a:ea typeface="SamsungOne 400" panose="020B0503030303020204" pitchFamily="34" charset="0"/>
                        <a:cs typeface="+mn-cs"/>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126" rtl="0" eaLnBrk="1" fontAlgn="base" latinLnBrk="0" hangingPunct="1">
                        <a:lnSpc>
                          <a:spcPct val="100000"/>
                        </a:lnSpc>
                        <a:spcBef>
                          <a:spcPts val="0"/>
                        </a:spcBef>
                        <a:spcAft>
                          <a:spcPts val="800"/>
                        </a:spcAft>
                      </a:pPr>
                      <a:r>
                        <a:rPr lang="en-US" altLang="ko-KR" sz="1300" kern="1200" dirty="0">
                          <a:solidFill>
                            <a:schemeClr val="tx1"/>
                          </a:solidFill>
                          <a:latin typeface="SamsungOne 400" panose="020B0503030303020204" pitchFamily="34" charset="0"/>
                          <a:ea typeface="SamsungOne 400" panose="020B0503030303020204" pitchFamily="34" charset="0"/>
                          <a:cs typeface="+mn-cs"/>
                        </a:rPr>
                        <a:t>Linear and non-linear</a:t>
                      </a:r>
                      <a:br>
                        <a:rPr lang="en-US" altLang="ko-KR" sz="1300" kern="1200" dirty="0">
                          <a:solidFill>
                            <a:schemeClr val="tx1"/>
                          </a:solidFill>
                          <a:latin typeface="SamsungOne 400" panose="020B0503030303020204" pitchFamily="34" charset="0"/>
                          <a:ea typeface="SamsungOne 400" panose="020B0503030303020204" pitchFamily="34" charset="0"/>
                          <a:cs typeface="+mn-cs"/>
                        </a:rPr>
                      </a:br>
                      <a:r>
                        <a:rPr lang="en-US" altLang="ko-KR" sz="1300" kern="1200" dirty="0">
                          <a:solidFill>
                            <a:schemeClr val="tx1"/>
                          </a:solidFill>
                          <a:latin typeface="SamsungOne 400" panose="020B0503030303020204" pitchFamily="34" charset="0"/>
                          <a:ea typeface="SamsungOne 400" panose="020B0503030303020204" pitchFamily="34" charset="0"/>
                          <a:cs typeface="+mn-cs"/>
                        </a:rPr>
                        <a:t>(Kernel trick)</a:t>
                      </a:r>
                      <a:endParaRPr lang="ko-KR" altLang="en-US" sz="1300" kern="1200" dirty="0">
                        <a:solidFill>
                          <a:schemeClr val="tx1"/>
                        </a:solidFill>
                        <a:latin typeface="SamsungOne 400" panose="020B0503030303020204" pitchFamily="34" charset="0"/>
                        <a:ea typeface="SamsungOne 400" panose="020B0503030303020204" pitchFamily="34" charset="0"/>
                        <a:cs typeface="+mn-cs"/>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69438">
                <a:tc>
                  <a:txBody>
                    <a:bodyPr/>
                    <a:lstStyle/>
                    <a:p>
                      <a:pPr marL="0" algn="ctr" defTabSz="914400" rtl="0" eaLnBrk="1" latinLnBrk="0" hangingPunct="1">
                        <a:lnSpc>
                          <a:spcPct val="100000"/>
                        </a:lnSpc>
                        <a:spcAft>
                          <a:spcPts val="800"/>
                        </a:spcAft>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Random Forest</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126" rtl="0" eaLnBrk="1" fontAlgn="base" latinLnBrk="0" hangingPunct="1">
                        <a:lnSpc>
                          <a:spcPct val="100000"/>
                        </a:lnSpc>
                        <a:spcBef>
                          <a:spcPts val="0"/>
                        </a:spcBef>
                        <a:spcAft>
                          <a:spcPts val="800"/>
                        </a:spcAft>
                      </a:pPr>
                      <a:r>
                        <a:rPr lang="en-US" altLang="ko-KR" sz="1300" kern="1200" dirty="0">
                          <a:solidFill>
                            <a:schemeClr val="tx1"/>
                          </a:solidFill>
                          <a:latin typeface="SamsungOne 400" panose="020B0503030303020204" pitchFamily="34" charset="0"/>
                          <a:ea typeface="SamsungOne 400" panose="020B0503030303020204" pitchFamily="34" charset="0"/>
                          <a:cs typeface="+mn-cs"/>
                        </a:rPr>
                        <a:t>An ensemble method to decide the final classification result by making various decision trees based on given data and aggregating the predicted results of each decision tree through voting.</a:t>
                      </a:r>
                      <a:endParaRPr lang="ko-KR" altLang="en-US" sz="1300" kern="1200" dirty="0">
                        <a:solidFill>
                          <a:schemeClr val="tx1"/>
                        </a:solidFill>
                        <a:latin typeface="SamsungOne 400" panose="020B0503030303020204" pitchFamily="34" charset="0"/>
                        <a:ea typeface="SamsungOne 400" panose="020B0503030303020204" pitchFamily="34" charset="0"/>
                        <a:cs typeface="+mn-cs"/>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126" rtl="0" eaLnBrk="1" fontAlgn="base" latinLnBrk="0" hangingPunct="1">
                        <a:lnSpc>
                          <a:spcPct val="100000"/>
                        </a:lnSpc>
                        <a:spcBef>
                          <a:spcPts val="0"/>
                        </a:spcBef>
                        <a:spcAft>
                          <a:spcPts val="800"/>
                        </a:spcAft>
                      </a:pPr>
                      <a:r>
                        <a:rPr lang="en-US" altLang="ko-KR" sz="1300" kern="1200" dirty="0">
                          <a:solidFill>
                            <a:schemeClr val="tx1"/>
                          </a:solidFill>
                          <a:latin typeface="SamsungOne 400" panose="020B0503030303020204" pitchFamily="34" charset="0"/>
                          <a:ea typeface="SamsungOne 400" panose="020B0503030303020204" pitchFamily="34" charset="0"/>
                          <a:cs typeface="+mn-cs"/>
                        </a:rPr>
                        <a:t>Ensemble model</a:t>
                      </a:r>
                      <a:endParaRPr lang="ko-KR" altLang="en-US" sz="1300" kern="1200" dirty="0">
                        <a:solidFill>
                          <a:schemeClr val="tx1"/>
                        </a:solidFill>
                        <a:latin typeface="SamsungOne 400" panose="020B0503030303020204" pitchFamily="34" charset="0"/>
                        <a:ea typeface="SamsungOne 400" panose="020B0503030303020204" pitchFamily="34" charset="0"/>
                        <a:cs typeface="+mn-cs"/>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0876159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3.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5" name="직사각형 133">
            <a:extLst>
              <a:ext uri="{FF2B5EF4-FFF2-40B4-BE49-F238E27FC236}">
                <a16:creationId xmlns:a16="http://schemas.microsoft.com/office/drawing/2014/main" id="{551F01E8-8777-4A7B-AD71-63E7C805C68C}"/>
              </a:ext>
            </a:extLst>
          </p:cNvPr>
          <p:cNvSpPr/>
          <p:nvPr/>
        </p:nvSpPr>
        <p:spPr>
          <a:xfrm>
            <a:off x="989683" y="3185042"/>
            <a:ext cx="8462229" cy="9848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Application of Supervised Learning Model for Classification</a:t>
            </a:r>
            <a:endParaRPr kumimoji="1" lang="ko-KR" altLang="en-US" sz="3200" dirty="0">
              <a:solidFill>
                <a:prstClr val="black"/>
              </a:solidFill>
              <a:latin typeface="Samsung Sharp Sans" pitchFamily="2" charset="0"/>
              <a:ea typeface="맑은 고딕" panose="020B0503020000020004" pitchFamily="50" charset="-127"/>
              <a:cs typeface="Samsung Sharp Sans" pitchFamily="2" charset="0"/>
            </a:endParaRPr>
          </a:p>
        </p:txBody>
      </p:sp>
      <p:sp>
        <p:nvSpPr>
          <p:cNvPr id="6" name="직사각형 5">
            <a:extLst>
              <a:ext uri="{FF2B5EF4-FFF2-40B4-BE49-F238E27FC236}">
                <a16:creationId xmlns:a16="http://schemas.microsoft.com/office/drawing/2014/main" id="{88522452-0F25-4CFF-B4F1-4F97F94CF66D}"/>
              </a:ext>
            </a:extLst>
          </p:cNvPr>
          <p:cNvSpPr/>
          <p:nvPr/>
        </p:nvSpPr>
        <p:spPr>
          <a:xfrm>
            <a:off x="1054111" y="4365104"/>
            <a:ext cx="6633605" cy="10874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3.1. Training and Testing in Machine Learning</a:t>
            </a: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3.2. Logistic Regression Basics</a:t>
            </a:r>
          </a:p>
          <a:p>
            <a:pPr marL="176213" marR="0" lvl="0" indent="-176213" fontAlgn="base">
              <a:lnSpc>
                <a:spcPct val="100000"/>
              </a:lnSpc>
              <a:spcBef>
                <a:spcPct val="0"/>
              </a:spcBef>
              <a:spcAft>
                <a:spcPts val="1000"/>
              </a:spcAft>
              <a:buClrTx/>
              <a:buSzPct val="120000"/>
              <a:buBlip>
                <a:blip r:embed="rId3"/>
              </a:buBlip>
              <a:tabLst/>
              <a:defRPr/>
            </a:pPr>
            <a:r>
              <a:rPr lang="en-US" altLang="ko-KR" dirty="0">
                <a:solidFill>
                  <a:srgbClr val="A6A6A6"/>
                </a:solidFill>
                <a:latin typeface="SamsungOne 400" panose="020B0503030303020204" pitchFamily="34" charset="0"/>
                <a:ea typeface="SamsungOne 400" panose="020B0503030303020204" pitchFamily="34" charset="0"/>
              </a:rPr>
              <a:t>3.3. Logistic Regression Performance Metrics</a:t>
            </a:r>
          </a:p>
        </p:txBody>
      </p:sp>
    </p:spTree>
    <p:extLst>
      <p:ext uri="{BB962C8B-B14F-4D97-AF65-F5344CB8AC3E}">
        <p14:creationId xmlns:p14="http://schemas.microsoft.com/office/powerpoint/2010/main" val="186766892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00" name="직사각형 199">
            <a:extLst>
              <a:ext uri="{FF2B5EF4-FFF2-40B4-BE49-F238E27FC236}">
                <a16:creationId xmlns:a16="http://schemas.microsoft.com/office/drawing/2014/main" id="{8E9EA99B-42E4-4A62-8B86-BB493DC82C6E}"/>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Logistic Regression Basics</a:t>
            </a:r>
          </a:p>
        </p:txBody>
      </p:sp>
      <p:sp>
        <p:nvSpPr>
          <p:cNvPr id="201" name="직사각형 200">
            <a:extLst>
              <a:ext uri="{FF2B5EF4-FFF2-40B4-BE49-F238E27FC236}">
                <a16:creationId xmlns:a16="http://schemas.microsoft.com/office/drawing/2014/main" id="{3CD0AB16-3EF9-4C9B-A61D-A2E6C6D47ECB}"/>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What is logistic regression analysis?</a:t>
            </a:r>
          </a:p>
        </p:txBody>
      </p:sp>
      <p:sp>
        <p:nvSpPr>
          <p:cNvPr id="202" name="직사각형 201">
            <a:extLst>
              <a:ext uri="{FF2B5EF4-FFF2-40B4-BE49-F238E27FC236}">
                <a16:creationId xmlns:a16="http://schemas.microsoft.com/office/drawing/2014/main" id="{65B90D46-5108-4837-AF02-A42A5EEB48B3}"/>
              </a:ext>
            </a:extLst>
          </p:cNvPr>
          <p:cNvSpPr/>
          <p:nvPr/>
        </p:nvSpPr>
        <p:spPr>
          <a:xfrm>
            <a:off x="672080" y="2204864"/>
            <a:ext cx="8632825" cy="945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 contrast to general linear regression analysis used for numerical prediction, logistic regression analysis is used to classify</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category of objective variables (y) to be predicted. In other words, what is being predicted is not the y value which is an objective variable. It is P(Y=</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i</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which is the probability of the objective variable y becoming a certain category (</a:t>
            </a:r>
            <a:r>
              <a:rPr lang="en-US" altLang="ko-KR" sz="1300" dirty="0" err="1">
                <a:solidFill>
                  <a:prstClr val="black">
                    <a:lumMod val="85000"/>
                    <a:lumOff val="15000"/>
                  </a:prstClr>
                </a:solidFill>
                <a:latin typeface="SamsungOne 400" panose="020B0503030303020204" pitchFamily="34" charset="0"/>
                <a:ea typeface="SamsungOne 400" panose="020B0503030303020204" pitchFamily="34" charset="0"/>
              </a:rPr>
              <a:t>i</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p:txBody>
      </p:sp>
      <p:grpSp>
        <p:nvGrpSpPr>
          <p:cNvPr id="7" name="그룹 6">
            <a:extLst>
              <a:ext uri="{FF2B5EF4-FFF2-40B4-BE49-F238E27FC236}">
                <a16:creationId xmlns:a16="http://schemas.microsoft.com/office/drawing/2014/main" id="{AE474CF5-A0D5-4B6D-A276-F0A40F12F6AE}"/>
              </a:ext>
            </a:extLst>
          </p:cNvPr>
          <p:cNvGrpSpPr/>
          <p:nvPr/>
        </p:nvGrpSpPr>
        <p:grpSpPr>
          <a:xfrm>
            <a:off x="1460100" y="3176972"/>
            <a:ext cx="7056784" cy="2964080"/>
            <a:chOff x="1460100" y="3285887"/>
            <a:chExt cx="7056784" cy="2964080"/>
          </a:xfrm>
        </p:grpSpPr>
        <p:sp>
          <p:nvSpPr>
            <p:cNvPr id="9" name="TextBox 8">
              <a:extLst>
                <a:ext uri="{FF2B5EF4-FFF2-40B4-BE49-F238E27FC236}">
                  <a16:creationId xmlns:a16="http://schemas.microsoft.com/office/drawing/2014/main" id="{A9C4269E-E896-47D6-87A7-F8D3A425416D}"/>
                </a:ext>
              </a:extLst>
            </p:cNvPr>
            <p:cNvSpPr txBox="1"/>
            <p:nvPr/>
          </p:nvSpPr>
          <p:spPr>
            <a:xfrm>
              <a:off x="3688780" y="3285887"/>
              <a:ext cx="2324243" cy="329509"/>
            </a:xfrm>
            <a:prstGeom prst="rect">
              <a:avLst/>
            </a:prstGeom>
            <a:solidFill>
              <a:srgbClr val="1429A0"/>
            </a:solidFill>
          </p:spPr>
          <p:txBody>
            <a:bodyPr wrap="square" lIns="0" tIns="0" rIns="0" bIns="0" rtlCol="0" anchor="ctr">
              <a:noAutofit/>
              <a:scene3d>
                <a:camera prst="orthographicFront"/>
                <a:lightRig rig="threePt" dir="t"/>
              </a:scene3d>
              <a:sp3d>
                <a:bevelT w="0" h="6350"/>
              </a:sp3d>
            </a:bodyPr>
            <a:lstStyle>
              <a:defPPr>
                <a:defRPr lang="en-US"/>
              </a:defPPr>
              <a:lvl1pPr algn="ctr">
                <a:defRPr>
                  <a:solidFill>
                    <a:schemeClr val="bg1"/>
                  </a:solidFill>
                  <a:latin typeface="SamsungOne 700" panose="020B0803030303020204" pitchFamily="34" charset="0"/>
                  <a:ea typeface="SamsungOne 700" panose="020B0803030303020204" pitchFamily="34" charset="0"/>
                </a:defRPr>
              </a:lvl1pPr>
            </a:lstStyle>
            <a:p>
              <a:r>
                <a:rPr lang="en-US" altLang="ko-KR"/>
                <a:t>Supervised Learning</a:t>
              </a:r>
              <a:endParaRPr lang="en-US" altLang="ko-KR" dirty="0"/>
            </a:p>
          </p:txBody>
        </p:sp>
        <p:sp>
          <p:nvSpPr>
            <p:cNvPr id="10" name="TextBox 9">
              <a:extLst>
                <a:ext uri="{FF2B5EF4-FFF2-40B4-BE49-F238E27FC236}">
                  <a16:creationId xmlns:a16="http://schemas.microsoft.com/office/drawing/2014/main" id="{1ECBF938-8BD8-4E41-9C9A-1AE3B8EB783C}"/>
                </a:ext>
              </a:extLst>
            </p:cNvPr>
            <p:cNvSpPr txBox="1"/>
            <p:nvPr/>
          </p:nvSpPr>
          <p:spPr>
            <a:xfrm>
              <a:off x="1876882" y="4028564"/>
              <a:ext cx="2000619" cy="306037"/>
            </a:xfrm>
            <a:prstGeom prst="roundRect">
              <a:avLst>
                <a:gd name="adj" fmla="val 50000"/>
              </a:avLst>
            </a:prstGeom>
            <a:solidFill>
              <a:srgbClr val="1429A0"/>
            </a:solidFill>
          </p:spPr>
          <p:txBody>
            <a:bodyPr wrap="square" lIns="0" tIns="0" rIns="0" bIns="0" rtlCol="0" anchor="ctr">
              <a:noAutofit/>
              <a:scene3d>
                <a:camera prst="orthographicFront"/>
                <a:lightRig rig="threePt" dir="t"/>
              </a:scene3d>
              <a:sp3d>
                <a:bevelT w="0" h="6350"/>
              </a:sp3d>
            </a:bodyPr>
            <a:lstStyle>
              <a:defPPr>
                <a:defRPr lang="en-US"/>
              </a:defPPr>
              <a:lvl1pPr algn="ctr">
                <a:defRPr sz="1300">
                  <a:solidFill>
                    <a:schemeClr val="bg1"/>
                  </a:solidFill>
                  <a:latin typeface="SamsungOne 700" panose="020B0803030303020204" pitchFamily="34" charset="0"/>
                  <a:ea typeface="SamsungOne 700" panose="020B0803030303020204" pitchFamily="34" charset="0"/>
                </a:defRPr>
              </a:lvl1pPr>
            </a:lstStyle>
            <a:p>
              <a:r>
                <a:rPr lang="en-US" altLang="ko-KR"/>
                <a:t>Numeric </a:t>
              </a:r>
              <a:r>
                <a:rPr lang="ko-KR" altLang="en-US"/>
                <a:t>𝑌</a:t>
              </a:r>
              <a:endParaRPr lang="ko-KR" altLang="en-US" dirty="0"/>
            </a:p>
          </p:txBody>
        </p:sp>
        <p:sp>
          <p:nvSpPr>
            <p:cNvPr id="11" name="TextBox 10">
              <a:extLst>
                <a:ext uri="{FF2B5EF4-FFF2-40B4-BE49-F238E27FC236}">
                  <a16:creationId xmlns:a16="http://schemas.microsoft.com/office/drawing/2014/main" id="{1F877C7D-886F-4101-A4E3-88A915103A90}"/>
                </a:ext>
              </a:extLst>
            </p:cNvPr>
            <p:cNvSpPr txBox="1"/>
            <p:nvPr/>
          </p:nvSpPr>
          <p:spPr>
            <a:xfrm>
              <a:off x="5837967" y="4028564"/>
              <a:ext cx="2000619" cy="306037"/>
            </a:xfrm>
            <a:prstGeom prst="roundRect">
              <a:avLst>
                <a:gd name="adj" fmla="val 50000"/>
              </a:avLst>
            </a:prstGeom>
            <a:solidFill>
              <a:schemeClr val="bg1">
                <a:lumMod val="85000"/>
              </a:schemeClr>
            </a:solidFill>
          </p:spPr>
          <p:txBody>
            <a:bodyPr wrap="square" lIns="0" tIns="0" rIns="0" bIns="0" rtlCol="0" anchor="ctr">
              <a:noAutofit/>
              <a:scene3d>
                <a:camera prst="orthographicFront"/>
                <a:lightRig rig="threePt" dir="t"/>
              </a:scene3d>
              <a:sp3d>
                <a:bevelT w="0" h="6350"/>
              </a:sp3d>
            </a:bodyPr>
            <a:lstStyle>
              <a:defPPr>
                <a:defRPr lang="en-US"/>
              </a:defPPr>
              <a:lvl1pPr algn="ctr">
                <a:defRPr sz="1300">
                  <a:solidFill>
                    <a:schemeClr val="tx1">
                      <a:lumMod val="85000"/>
                      <a:lumOff val="15000"/>
                    </a:schemeClr>
                  </a:solidFill>
                  <a:latin typeface="SamsungOne 700" panose="020B0803030303020204" pitchFamily="34" charset="0"/>
                  <a:ea typeface="SamsungOne 700" panose="020B0803030303020204" pitchFamily="34" charset="0"/>
                </a:defRPr>
              </a:lvl1pPr>
            </a:lstStyle>
            <a:p>
              <a:r>
                <a:rPr lang="en-US" altLang="ko-KR"/>
                <a:t>Categorical </a:t>
              </a:r>
              <a:r>
                <a:rPr lang="ko-KR" altLang="en-US"/>
                <a:t>𝑌</a:t>
              </a:r>
              <a:endParaRPr lang="ko-KR" altLang="en-US" dirty="0"/>
            </a:p>
          </p:txBody>
        </p:sp>
        <p:cxnSp>
          <p:nvCxnSpPr>
            <p:cNvPr id="12" name="꺾인 연결선 75">
              <a:extLst>
                <a:ext uri="{FF2B5EF4-FFF2-40B4-BE49-F238E27FC236}">
                  <a16:creationId xmlns:a16="http://schemas.microsoft.com/office/drawing/2014/main" id="{01DC1692-F7A9-46F9-8734-FBFE7D1B6CDA}"/>
                </a:ext>
              </a:extLst>
            </p:cNvPr>
            <p:cNvCxnSpPr>
              <a:cxnSpLocks/>
              <a:stCxn id="9" idx="2"/>
              <a:endCxn id="10" idx="0"/>
            </p:cNvCxnSpPr>
            <p:nvPr/>
          </p:nvCxnSpPr>
          <p:spPr>
            <a:xfrm rot="5400000">
              <a:off x="3657463" y="2835125"/>
              <a:ext cx="413168" cy="1973710"/>
            </a:xfrm>
            <a:prstGeom prst="bentConnector3">
              <a:avLst>
                <a:gd name="adj1" fmla="val 50000"/>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꺾인 연결선 76">
              <a:extLst>
                <a:ext uri="{FF2B5EF4-FFF2-40B4-BE49-F238E27FC236}">
                  <a16:creationId xmlns:a16="http://schemas.microsoft.com/office/drawing/2014/main" id="{5FE408C3-AFD9-477D-A226-67C1613DF3DB}"/>
                </a:ext>
              </a:extLst>
            </p:cNvPr>
            <p:cNvCxnSpPr>
              <a:cxnSpLocks/>
              <a:stCxn id="9" idx="2"/>
              <a:endCxn id="11" idx="0"/>
            </p:cNvCxnSpPr>
            <p:nvPr/>
          </p:nvCxnSpPr>
          <p:spPr>
            <a:xfrm rot="16200000" flipH="1">
              <a:off x="5638005" y="2828292"/>
              <a:ext cx="413168" cy="1987375"/>
            </a:xfrm>
            <a:prstGeom prst="bentConnector3">
              <a:avLst>
                <a:gd name="adj1" fmla="val 50000"/>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사각형: 둥근 모서리 31">
              <a:extLst>
                <a:ext uri="{FF2B5EF4-FFF2-40B4-BE49-F238E27FC236}">
                  <a16:creationId xmlns:a16="http://schemas.microsoft.com/office/drawing/2014/main" id="{5BFE3214-28F5-49AC-8452-5B5A3AC6B279}"/>
                </a:ext>
              </a:extLst>
            </p:cNvPr>
            <p:cNvSpPr/>
            <p:nvPr/>
          </p:nvSpPr>
          <p:spPr>
            <a:xfrm>
              <a:off x="5644649" y="3942468"/>
              <a:ext cx="2378392" cy="2307499"/>
            </a:xfrm>
            <a:prstGeom prst="roundRect">
              <a:avLst>
                <a:gd name="adj" fmla="val 5278"/>
              </a:avLst>
            </a:prstGeom>
            <a:noFill/>
            <a:ln>
              <a:solidFill>
                <a:srgbClr val="1D48D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Rectangle 33">
              <a:extLst>
                <a:ext uri="{FF2B5EF4-FFF2-40B4-BE49-F238E27FC236}">
                  <a16:creationId xmlns:a16="http://schemas.microsoft.com/office/drawing/2014/main" id="{50AE7BD0-8025-4B15-AB7F-A3F18A4B1BBC}"/>
                </a:ext>
              </a:extLst>
            </p:cNvPr>
            <p:cNvSpPr/>
            <p:nvPr/>
          </p:nvSpPr>
          <p:spPr>
            <a:xfrm>
              <a:off x="1460100" y="4529700"/>
              <a:ext cx="2902742" cy="215444"/>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400" i="1" dirty="0">
                  <a:solidFill>
                    <a:schemeClr val="tx1">
                      <a:lumMod val="85000"/>
                      <a:lumOff val="15000"/>
                    </a:schemeClr>
                  </a:solidFill>
                  <a:latin typeface="SamsungOne 400" panose="020B0503030303020204" pitchFamily="34" charset="0"/>
                  <a:ea typeface="SamsungOne 400" panose="020B0503030303020204" pitchFamily="34" charset="0"/>
                </a:rPr>
                <a:t> Y = 13.45, 73, 9.5, ….. </a:t>
              </a:r>
            </a:p>
          </p:txBody>
        </p:sp>
        <p:sp>
          <p:nvSpPr>
            <p:cNvPr id="16" name="Rectangle 43">
              <a:extLst>
                <a:ext uri="{FF2B5EF4-FFF2-40B4-BE49-F238E27FC236}">
                  <a16:creationId xmlns:a16="http://schemas.microsoft.com/office/drawing/2014/main" id="{9EBB8E11-5D72-4270-B64F-0138E51966FD}"/>
                </a:ext>
              </a:extLst>
            </p:cNvPr>
            <p:cNvSpPr/>
            <p:nvPr/>
          </p:nvSpPr>
          <p:spPr>
            <a:xfrm>
              <a:off x="5276309" y="4538487"/>
              <a:ext cx="3240575" cy="197870"/>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400" i="1">
                  <a:solidFill>
                    <a:schemeClr val="tx1">
                      <a:lumMod val="85000"/>
                      <a:lumOff val="15000"/>
                    </a:schemeClr>
                  </a:solidFill>
                  <a:latin typeface="SamsungOne 400" panose="020B0503030303020204" pitchFamily="34" charset="0"/>
                  <a:ea typeface="SamsungOne 400" panose="020B0503030303020204" pitchFamily="34" charset="0"/>
                </a:rPr>
                <a:t> Y = </a:t>
              </a:r>
              <a:r>
                <a:rPr lang="en-US" altLang="ko-KR" sz="1400" i="1">
                  <a:solidFill>
                    <a:srgbClr val="FF0000"/>
                  </a:solidFill>
                  <a:latin typeface="SamsungOne 400" panose="020B0503030303020204" pitchFamily="34" charset="0"/>
                  <a:ea typeface="SamsungOne 400" panose="020B0503030303020204" pitchFamily="34" charset="0"/>
                </a:rPr>
                <a:t>red</a:t>
              </a:r>
              <a:r>
                <a:rPr lang="en-US" altLang="ko-KR" sz="1400" i="1">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400" i="1">
                  <a:solidFill>
                    <a:srgbClr val="FF0000"/>
                  </a:solidFill>
                  <a:latin typeface="SamsungOne 400" panose="020B0503030303020204" pitchFamily="34" charset="0"/>
                  <a:ea typeface="SamsungOne 400" panose="020B0503030303020204" pitchFamily="34" charset="0"/>
                </a:rPr>
                <a:t> </a:t>
              </a:r>
              <a:r>
                <a:rPr lang="en-US" altLang="ko-KR" sz="1400" i="1">
                  <a:solidFill>
                    <a:srgbClr val="00B050"/>
                  </a:solidFill>
                  <a:latin typeface="SamsungOne 400" panose="020B0503030303020204" pitchFamily="34" charset="0"/>
                  <a:ea typeface="SamsungOne 400" panose="020B0503030303020204" pitchFamily="34" charset="0"/>
                </a:rPr>
                <a:t>green</a:t>
              </a:r>
              <a:r>
                <a:rPr lang="en-US" altLang="ko-KR" sz="1400" i="1">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400" i="1">
                  <a:solidFill>
                    <a:srgbClr val="193EB0"/>
                  </a:solidFill>
                  <a:latin typeface="SamsungOne 400" panose="020B0503030303020204" pitchFamily="34" charset="0"/>
                  <a:ea typeface="SamsungOne 400" panose="020B0503030303020204" pitchFamily="34" charset="0"/>
                </a:rPr>
                <a:t>blue</a:t>
              </a:r>
              <a:r>
                <a:rPr lang="en-US" altLang="ko-KR" sz="1400" i="1">
                  <a:solidFill>
                    <a:schemeClr val="tx1">
                      <a:lumMod val="85000"/>
                      <a:lumOff val="15000"/>
                    </a:schemeClr>
                  </a:solidFill>
                  <a:latin typeface="SamsungOne 400" panose="020B0503030303020204" pitchFamily="34" charset="0"/>
                  <a:ea typeface="SamsungOne 400" panose="020B0503030303020204" pitchFamily="34" charset="0"/>
                </a:rPr>
                <a:t>, ….. </a:t>
              </a:r>
              <a:endParaRPr lang="en-US" altLang="ko-KR" sz="1400" i="1" dirty="0">
                <a:solidFill>
                  <a:schemeClr val="tx1">
                    <a:lumMod val="85000"/>
                    <a:lumOff val="15000"/>
                  </a:schemeClr>
                </a:solidFill>
                <a:latin typeface="SamsungOne 400" panose="020B0503030303020204" pitchFamily="34" charset="0"/>
                <a:ea typeface="SamsungOne 400" panose="020B0503030303020204" pitchFamily="34" charset="0"/>
              </a:endParaRPr>
            </a:p>
          </p:txBody>
        </p:sp>
        <p:grpSp>
          <p:nvGrpSpPr>
            <p:cNvPr id="17" name="그룹 16">
              <a:extLst>
                <a:ext uri="{FF2B5EF4-FFF2-40B4-BE49-F238E27FC236}">
                  <a16:creationId xmlns:a16="http://schemas.microsoft.com/office/drawing/2014/main" id="{7911D6D0-B74E-49A5-8F38-1489AD1EDAA4}"/>
                </a:ext>
              </a:extLst>
            </p:cNvPr>
            <p:cNvGrpSpPr/>
            <p:nvPr/>
          </p:nvGrpSpPr>
          <p:grpSpPr>
            <a:xfrm>
              <a:off x="2220543" y="4838528"/>
              <a:ext cx="1189359" cy="1190602"/>
              <a:chOff x="2081807" y="4521101"/>
              <a:chExt cx="1294994" cy="1296347"/>
            </a:xfrm>
          </p:grpSpPr>
          <p:grpSp>
            <p:nvGrpSpPr>
              <p:cNvPr id="39" name="Group 16">
                <a:extLst>
                  <a:ext uri="{FF2B5EF4-FFF2-40B4-BE49-F238E27FC236}">
                    <a16:creationId xmlns:a16="http://schemas.microsoft.com/office/drawing/2014/main" id="{D54FF2DC-617D-42D8-889E-A1037116BD7C}"/>
                  </a:ext>
                </a:extLst>
              </p:cNvPr>
              <p:cNvGrpSpPr/>
              <p:nvPr/>
            </p:nvGrpSpPr>
            <p:grpSpPr>
              <a:xfrm>
                <a:off x="2081807" y="4521101"/>
                <a:ext cx="1294994" cy="1296347"/>
                <a:chOff x="2711624" y="4864968"/>
                <a:chExt cx="1011248" cy="1012304"/>
              </a:xfrm>
            </p:grpSpPr>
            <p:cxnSp>
              <p:nvCxnSpPr>
                <p:cNvPr id="46" name="Straight Arrow Connector 7">
                  <a:extLst>
                    <a:ext uri="{FF2B5EF4-FFF2-40B4-BE49-F238E27FC236}">
                      <a16:creationId xmlns:a16="http://schemas.microsoft.com/office/drawing/2014/main" id="{86E7BAE9-6230-4F4A-B2A0-6E7E4DD587F8}"/>
                    </a:ext>
                  </a:extLst>
                </p:cNvPr>
                <p:cNvCxnSpPr/>
                <p:nvPr/>
              </p:nvCxnSpPr>
              <p:spPr>
                <a:xfrm>
                  <a:off x="2711624" y="5877272"/>
                  <a:ext cx="1011248" cy="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22">
                  <a:extLst>
                    <a:ext uri="{FF2B5EF4-FFF2-40B4-BE49-F238E27FC236}">
                      <a16:creationId xmlns:a16="http://schemas.microsoft.com/office/drawing/2014/main" id="{6135EBC4-FA7B-43BA-B295-B2828A468B06}"/>
                    </a:ext>
                  </a:extLst>
                </p:cNvPr>
                <p:cNvCxnSpPr/>
                <p:nvPr/>
              </p:nvCxnSpPr>
              <p:spPr>
                <a:xfrm flipH="1" flipV="1">
                  <a:off x="2711624" y="4864968"/>
                  <a:ext cx="0" cy="1012304"/>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40" name="Straight Connector 19">
                <a:extLst>
                  <a:ext uri="{FF2B5EF4-FFF2-40B4-BE49-F238E27FC236}">
                    <a16:creationId xmlns:a16="http://schemas.microsoft.com/office/drawing/2014/main" id="{B303B729-43A0-4C9B-AEF2-44E7212D175E}"/>
                  </a:ext>
                </a:extLst>
              </p:cNvPr>
              <p:cNvCxnSpPr/>
              <p:nvPr/>
            </p:nvCxnSpPr>
            <p:spPr>
              <a:xfrm flipV="1">
                <a:off x="2177410" y="4889567"/>
                <a:ext cx="1131012" cy="828685"/>
              </a:xfrm>
              <a:prstGeom prst="line">
                <a:avLst/>
              </a:prstGeom>
              <a:ln w="19050">
                <a:solidFill>
                  <a:srgbClr val="00B050">
                    <a:alpha val="50000"/>
                  </a:srgbClr>
                </a:solidFill>
              </a:ln>
            </p:spPr>
            <p:style>
              <a:lnRef idx="1">
                <a:schemeClr val="accent1"/>
              </a:lnRef>
              <a:fillRef idx="0">
                <a:schemeClr val="accent1"/>
              </a:fillRef>
              <a:effectRef idx="0">
                <a:schemeClr val="accent1"/>
              </a:effectRef>
              <a:fontRef idx="minor">
                <a:schemeClr val="tx1"/>
              </a:fontRef>
            </p:style>
          </p:cxnSp>
          <p:sp>
            <p:nvSpPr>
              <p:cNvPr id="41" name="Oval 24">
                <a:extLst>
                  <a:ext uri="{FF2B5EF4-FFF2-40B4-BE49-F238E27FC236}">
                    <a16:creationId xmlns:a16="http://schemas.microsoft.com/office/drawing/2014/main" id="{EA81EFAB-A45D-4628-BA87-466C1C9F0927}"/>
                  </a:ext>
                </a:extLst>
              </p:cNvPr>
              <p:cNvSpPr/>
              <p:nvPr/>
            </p:nvSpPr>
            <p:spPr>
              <a:xfrm>
                <a:off x="2338133" y="5376574"/>
                <a:ext cx="108000" cy="108000"/>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a:p>
            </p:txBody>
          </p:sp>
          <p:sp>
            <p:nvSpPr>
              <p:cNvPr id="42" name="Oval 31">
                <a:extLst>
                  <a:ext uri="{FF2B5EF4-FFF2-40B4-BE49-F238E27FC236}">
                    <a16:creationId xmlns:a16="http://schemas.microsoft.com/office/drawing/2014/main" id="{3C3F1F6D-26F9-41C8-A538-BE65E168EBF4}"/>
                  </a:ext>
                </a:extLst>
              </p:cNvPr>
              <p:cNvSpPr/>
              <p:nvPr/>
            </p:nvSpPr>
            <p:spPr>
              <a:xfrm>
                <a:off x="2683250" y="5327533"/>
                <a:ext cx="108000" cy="108000"/>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a:p>
            </p:txBody>
          </p:sp>
          <p:sp>
            <p:nvSpPr>
              <p:cNvPr id="43" name="Oval 34">
                <a:extLst>
                  <a:ext uri="{FF2B5EF4-FFF2-40B4-BE49-F238E27FC236}">
                    <a16:creationId xmlns:a16="http://schemas.microsoft.com/office/drawing/2014/main" id="{B37D9674-7FAF-40A7-A3BA-1C9EB2330521}"/>
                  </a:ext>
                </a:extLst>
              </p:cNvPr>
              <p:cNvSpPr/>
              <p:nvPr/>
            </p:nvSpPr>
            <p:spPr>
              <a:xfrm>
                <a:off x="2845461" y="5122781"/>
                <a:ext cx="108000" cy="108000"/>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a:p>
            </p:txBody>
          </p:sp>
          <p:sp>
            <p:nvSpPr>
              <p:cNvPr id="44" name="Oval 35">
                <a:extLst>
                  <a:ext uri="{FF2B5EF4-FFF2-40B4-BE49-F238E27FC236}">
                    <a16:creationId xmlns:a16="http://schemas.microsoft.com/office/drawing/2014/main" id="{71C60BAC-78E5-4602-90D2-8615CA15B3D4}"/>
                  </a:ext>
                </a:extLst>
              </p:cNvPr>
              <p:cNvSpPr/>
              <p:nvPr/>
            </p:nvSpPr>
            <p:spPr>
              <a:xfrm>
                <a:off x="3043430" y="4931295"/>
                <a:ext cx="108000" cy="108000"/>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a:p>
            </p:txBody>
          </p:sp>
          <p:sp>
            <p:nvSpPr>
              <p:cNvPr id="45" name="Oval 36">
                <a:extLst>
                  <a:ext uri="{FF2B5EF4-FFF2-40B4-BE49-F238E27FC236}">
                    <a16:creationId xmlns:a16="http://schemas.microsoft.com/office/drawing/2014/main" id="{A1289BF0-CCF0-4119-9420-BFB77C1D4B5A}"/>
                  </a:ext>
                </a:extLst>
              </p:cNvPr>
              <p:cNvSpPr/>
              <p:nvPr/>
            </p:nvSpPr>
            <p:spPr>
              <a:xfrm>
                <a:off x="3249505" y="4951356"/>
                <a:ext cx="108000" cy="108000"/>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a:p>
            </p:txBody>
          </p:sp>
        </p:grpSp>
        <p:grpSp>
          <p:nvGrpSpPr>
            <p:cNvPr id="18" name="그룹 17">
              <a:extLst>
                <a:ext uri="{FF2B5EF4-FFF2-40B4-BE49-F238E27FC236}">
                  <a16:creationId xmlns:a16="http://schemas.microsoft.com/office/drawing/2014/main" id="{F26767AF-5D1B-4597-B6A0-5F0EB2AAF6AB}"/>
                </a:ext>
              </a:extLst>
            </p:cNvPr>
            <p:cNvGrpSpPr/>
            <p:nvPr/>
          </p:nvGrpSpPr>
          <p:grpSpPr>
            <a:xfrm>
              <a:off x="6255985" y="4838844"/>
              <a:ext cx="1190283" cy="1190283"/>
              <a:chOff x="6475663" y="4521445"/>
              <a:chExt cx="1296000" cy="1296000"/>
            </a:xfrm>
          </p:grpSpPr>
          <p:grpSp>
            <p:nvGrpSpPr>
              <p:cNvPr id="19" name="Group 16">
                <a:extLst>
                  <a:ext uri="{FF2B5EF4-FFF2-40B4-BE49-F238E27FC236}">
                    <a16:creationId xmlns:a16="http://schemas.microsoft.com/office/drawing/2014/main" id="{C514C47F-FC3E-4F56-AFC5-BB81280D7857}"/>
                  </a:ext>
                </a:extLst>
              </p:cNvPr>
              <p:cNvGrpSpPr/>
              <p:nvPr/>
            </p:nvGrpSpPr>
            <p:grpSpPr>
              <a:xfrm>
                <a:off x="6475663" y="4521445"/>
                <a:ext cx="1296000" cy="1296000"/>
                <a:chOff x="2711624" y="4907358"/>
                <a:chExt cx="969915" cy="969914"/>
              </a:xfrm>
            </p:grpSpPr>
            <p:cxnSp>
              <p:nvCxnSpPr>
                <p:cNvPr id="37" name="Straight Arrow Connector 7">
                  <a:extLst>
                    <a:ext uri="{FF2B5EF4-FFF2-40B4-BE49-F238E27FC236}">
                      <a16:creationId xmlns:a16="http://schemas.microsoft.com/office/drawing/2014/main" id="{B1952786-D674-4252-8E1D-77A3C88291C1}"/>
                    </a:ext>
                  </a:extLst>
                </p:cNvPr>
                <p:cNvCxnSpPr/>
                <p:nvPr/>
              </p:nvCxnSpPr>
              <p:spPr>
                <a:xfrm>
                  <a:off x="2711624" y="5877272"/>
                  <a:ext cx="969915" cy="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22">
                  <a:extLst>
                    <a:ext uri="{FF2B5EF4-FFF2-40B4-BE49-F238E27FC236}">
                      <a16:creationId xmlns:a16="http://schemas.microsoft.com/office/drawing/2014/main" id="{F1EE1944-A5A0-495A-BCF3-2D5D92576C57}"/>
                    </a:ext>
                  </a:extLst>
                </p:cNvPr>
                <p:cNvCxnSpPr/>
                <p:nvPr/>
              </p:nvCxnSpPr>
              <p:spPr>
                <a:xfrm flipH="1" flipV="1">
                  <a:off x="2711624" y="4907358"/>
                  <a:ext cx="0" cy="969914"/>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0" name="그룹 19">
                <a:extLst>
                  <a:ext uri="{FF2B5EF4-FFF2-40B4-BE49-F238E27FC236}">
                    <a16:creationId xmlns:a16="http://schemas.microsoft.com/office/drawing/2014/main" id="{047E8E0D-C4D3-459C-AE4E-017EE38A8CD0}"/>
                  </a:ext>
                </a:extLst>
              </p:cNvPr>
              <p:cNvGrpSpPr/>
              <p:nvPr/>
            </p:nvGrpSpPr>
            <p:grpSpPr>
              <a:xfrm>
                <a:off x="6586631" y="4759011"/>
                <a:ext cx="1129303" cy="974357"/>
                <a:chOff x="17076832" y="4653561"/>
                <a:chExt cx="1060244" cy="914773"/>
              </a:xfrm>
            </p:grpSpPr>
            <p:sp>
              <p:nvSpPr>
                <p:cNvPr id="21" name="Oval 40">
                  <a:extLst>
                    <a:ext uri="{FF2B5EF4-FFF2-40B4-BE49-F238E27FC236}">
                      <a16:creationId xmlns:a16="http://schemas.microsoft.com/office/drawing/2014/main" id="{AAE5839D-5F16-49DE-968A-CF11A1DE1D95}"/>
                    </a:ext>
                  </a:extLst>
                </p:cNvPr>
                <p:cNvSpPr/>
                <p:nvPr/>
              </p:nvSpPr>
              <p:spPr>
                <a:xfrm>
                  <a:off x="17076832" y="5264135"/>
                  <a:ext cx="101396" cy="101396"/>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a:p>
              </p:txBody>
            </p:sp>
            <p:sp>
              <p:nvSpPr>
                <p:cNvPr id="22" name="Oval 41">
                  <a:extLst>
                    <a:ext uri="{FF2B5EF4-FFF2-40B4-BE49-F238E27FC236}">
                      <a16:creationId xmlns:a16="http://schemas.microsoft.com/office/drawing/2014/main" id="{F220E195-4BFD-4FA5-ABD5-6A05C838EB29}"/>
                    </a:ext>
                  </a:extLst>
                </p:cNvPr>
                <p:cNvSpPr/>
                <p:nvPr/>
              </p:nvSpPr>
              <p:spPr>
                <a:xfrm>
                  <a:off x="17245180" y="5213525"/>
                  <a:ext cx="101396" cy="101396"/>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a:p>
              </p:txBody>
            </p:sp>
            <p:sp>
              <p:nvSpPr>
                <p:cNvPr id="26" name="Oval 42">
                  <a:extLst>
                    <a:ext uri="{FF2B5EF4-FFF2-40B4-BE49-F238E27FC236}">
                      <a16:creationId xmlns:a16="http://schemas.microsoft.com/office/drawing/2014/main" id="{E601D397-088F-4AB8-8A65-D72A633A9B7F}"/>
                    </a:ext>
                  </a:extLst>
                </p:cNvPr>
                <p:cNvSpPr/>
                <p:nvPr/>
              </p:nvSpPr>
              <p:spPr>
                <a:xfrm>
                  <a:off x="17348940" y="5433651"/>
                  <a:ext cx="101396" cy="101396"/>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a:p>
              </p:txBody>
            </p:sp>
            <p:sp>
              <p:nvSpPr>
                <p:cNvPr id="27" name="Oval 44">
                  <a:extLst>
                    <a:ext uri="{FF2B5EF4-FFF2-40B4-BE49-F238E27FC236}">
                      <a16:creationId xmlns:a16="http://schemas.microsoft.com/office/drawing/2014/main" id="{2C6C5C7E-2E77-4891-8FEE-69BE3F997BB8}"/>
                    </a:ext>
                  </a:extLst>
                </p:cNvPr>
                <p:cNvSpPr/>
                <p:nvPr/>
              </p:nvSpPr>
              <p:spPr>
                <a:xfrm>
                  <a:off x="17139952" y="5466938"/>
                  <a:ext cx="101396" cy="101396"/>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a:p>
              </p:txBody>
            </p:sp>
            <p:sp>
              <p:nvSpPr>
                <p:cNvPr id="28" name="Oval 45">
                  <a:extLst>
                    <a:ext uri="{FF2B5EF4-FFF2-40B4-BE49-F238E27FC236}">
                      <a16:creationId xmlns:a16="http://schemas.microsoft.com/office/drawing/2014/main" id="{3F555456-2400-413D-9FB5-B9D0D67A4A90}"/>
                    </a:ext>
                  </a:extLst>
                </p:cNvPr>
                <p:cNvSpPr/>
                <p:nvPr/>
              </p:nvSpPr>
              <p:spPr>
                <a:xfrm>
                  <a:off x="17476076" y="5293295"/>
                  <a:ext cx="101396" cy="101396"/>
                </a:xfrm>
                <a:prstGeom prst="ellipse">
                  <a:avLst/>
                </a:prstGeom>
                <a:solidFill>
                  <a:srgbClr val="00B050">
                    <a:alpha val="50000"/>
                  </a:srgb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a:p>
              </p:txBody>
            </p:sp>
            <p:cxnSp>
              <p:nvCxnSpPr>
                <p:cNvPr id="29" name="Straight Connector 46">
                  <a:extLst>
                    <a:ext uri="{FF2B5EF4-FFF2-40B4-BE49-F238E27FC236}">
                      <a16:creationId xmlns:a16="http://schemas.microsoft.com/office/drawing/2014/main" id="{BD158CB9-2F26-4B11-80D7-FA4046D10661}"/>
                    </a:ext>
                  </a:extLst>
                </p:cNvPr>
                <p:cNvCxnSpPr/>
                <p:nvPr/>
              </p:nvCxnSpPr>
              <p:spPr>
                <a:xfrm>
                  <a:off x="17139952" y="4908983"/>
                  <a:ext cx="838630" cy="614523"/>
                </a:xfrm>
                <a:prstGeom prst="line">
                  <a:avLst/>
                </a:prstGeom>
                <a:ln w="19050">
                  <a:solidFill>
                    <a:schemeClr val="tx1">
                      <a:alpha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Isosceles Triangle 48">
                  <a:extLst>
                    <a:ext uri="{FF2B5EF4-FFF2-40B4-BE49-F238E27FC236}">
                      <a16:creationId xmlns:a16="http://schemas.microsoft.com/office/drawing/2014/main" id="{07287AAC-DF6D-409B-9816-476A22A6CB8A}"/>
                    </a:ext>
                  </a:extLst>
                </p:cNvPr>
                <p:cNvSpPr/>
                <p:nvPr/>
              </p:nvSpPr>
              <p:spPr>
                <a:xfrm>
                  <a:off x="17396550" y="4812184"/>
                  <a:ext cx="144016" cy="109996"/>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Isosceles Triangle 49">
                  <a:extLst>
                    <a:ext uri="{FF2B5EF4-FFF2-40B4-BE49-F238E27FC236}">
                      <a16:creationId xmlns:a16="http://schemas.microsoft.com/office/drawing/2014/main" id="{FC514FED-4DF5-4A97-8A17-7A5C99DB09D3}"/>
                    </a:ext>
                  </a:extLst>
                </p:cNvPr>
                <p:cNvSpPr/>
                <p:nvPr/>
              </p:nvSpPr>
              <p:spPr>
                <a:xfrm>
                  <a:off x="17548950" y="4964583"/>
                  <a:ext cx="144016" cy="109996"/>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Isosceles Triangle 50">
                  <a:extLst>
                    <a:ext uri="{FF2B5EF4-FFF2-40B4-BE49-F238E27FC236}">
                      <a16:creationId xmlns:a16="http://schemas.microsoft.com/office/drawing/2014/main" id="{347B5BFE-7289-41A4-9894-7B6229120DC1}"/>
                    </a:ext>
                  </a:extLst>
                </p:cNvPr>
                <p:cNvSpPr/>
                <p:nvPr/>
              </p:nvSpPr>
              <p:spPr>
                <a:xfrm>
                  <a:off x="17781742" y="5041970"/>
                  <a:ext cx="144016" cy="109996"/>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51">
                  <a:extLst>
                    <a:ext uri="{FF2B5EF4-FFF2-40B4-BE49-F238E27FC236}">
                      <a16:creationId xmlns:a16="http://schemas.microsoft.com/office/drawing/2014/main" id="{BA331896-497A-4459-B020-BBD74BD1EBAF}"/>
                    </a:ext>
                  </a:extLst>
                </p:cNvPr>
                <p:cNvSpPr/>
                <p:nvPr/>
              </p:nvSpPr>
              <p:spPr>
                <a:xfrm>
                  <a:off x="17947232" y="5170300"/>
                  <a:ext cx="144016" cy="109996"/>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Isosceles Triangle 52">
                  <a:extLst>
                    <a:ext uri="{FF2B5EF4-FFF2-40B4-BE49-F238E27FC236}">
                      <a16:creationId xmlns:a16="http://schemas.microsoft.com/office/drawing/2014/main" id="{702A5BA6-2AEB-48B6-AC0E-A1C48B1EE236}"/>
                    </a:ext>
                  </a:extLst>
                </p:cNvPr>
                <p:cNvSpPr/>
                <p:nvPr/>
              </p:nvSpPr>
              <p:spPr>
                <a:xfrm>
                  <a:off x="17805548" y="4781748"/>
                  <a:ext cx="144016" cy="109996"/>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53">
                  <a:extLst>
                    <a:ext uri="{FF2B5EF4-FFF2-40B4-BE49-F238E27FC236}">
                      <a16:creationId xmlns:a16="http://schemas.microsoft.com/office/drawing/2014/main" id="{41D47009-F5DC-4D2D-B20C-BB122A10213B}"/>
                    </a:ext>
                  </a:extLst>
                </p:cNvPr>
                <p:cNvSpPr/>
                <p:nvPr/>
              </p:nvSpPr>
              <p:spPr>
                <a:xfrm>
                  <a:off x="17548950" y="4653561"/>
                  <a:ext cx="144016" cy="109996"/>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54">
                  <a:extLst>
                    <a:ext uri="{FF2B5EF4-FFF2-40B4-BE49-F238E27FC236}">
                      <a16:creationId xmlns:a16="http://schemas.microsoft.com/office/drawing/2014/main" id="{C6E99D8E-2793-40C3-8C29-3AACA955E931}"/>
                    </a:ext>
                  </a:extLst>
                </p:cNvPr>
                <p:cNvSpPr/>
                <p:nvPr/>
              </p:nvSpPr>
              <p:spPr>
                <a:xfrm>
                  <a:off x="17993060" y="4987268"/>
                  <a:ext cx="144016" cy="109996"/>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Tree>
    <p:extLst>
      <p:ext uri="{BB962C8B-B14F-4D97-AF65-F5344CB8AC3E}">
        <p14:creationId xmlns:p14="http://schemas.microsoft.com/office/powerpoint/2010/main" val="193940230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linear regression</a:t>
            </a:r>
          </a:p>
        </p:txBody>
      </p:sp>
      <mc:AlternateContent xmlns:mc="http://schemas.openxmlformats.org/markup-compatibility/2006" xmlns:a14="http://schemas.microsoft.com/office/drawing/2010/main">
        <mc:Choice Requires="a14">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125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There is one ore more explanatory variables: </a:t>
                </a:r>
                <a14:m>
                  <m:oMath xmlns:m="http://schemas.openxmlformats.org/officeDocument/2006/math">
                    <m:sSub>
                      <m:sSubPr>
                        <m:ctrlPr>
                          <a:rPr lang="en-US" altLang="ko-KR" sz="1300" i="1">
                            <a:solidFill>
                              <a:srgbClr val="193EB0"/>
                            </a:solidFill>
                            <a:latin typeface="Cambria Math" panose="02040503050406030204" pitchFamily="18" charset="0"/>
                            <a:cs typeface="Times New Roman" panose="02020603050405020304" pitchFamily="18" charset="0"/>
                          </a:rPr>
                        </m:ctrlPr>
                      </m:sSubPr>
                      <m:e>
                        <m:r>
                          <a:rPr lang="en-US" altLang="ko-KR" sz="1300" i="1">
                            <a:solidFill>
                              <a:srgbClr val="193EB0"/>
                            </a:solidFill>
                            <a:latin typeface="Cambria Math"/>
                            <a:cs typeface="Times New Roman" panose="02020603050405020304" pitchFamily="18" charset="0"/>
                          </a:rPr>
                          <m:t>𝑋</m:t>
                        </m:r>
                      </m:e>
                      <m:sub>
                        <m:r>
                          <a:rPr lang="en-US" altLang="ko-KR" sz="1300" i="1">
                            <a:solidFill>
                              <a:srgbClr val="193EB0"/>
                            </a:solidFill>
                            <a:latin typeface="Cambria Math"/>
                            <a:cs typeface="Times New Roman" panose="02020603050405020304" pitchFamily="18" charset="0"/>
                          </a:rPr>
                          <m:t>1</m:t>
                        </m:r>
                      </m:sub>
                    </m:sSub>
                    <m:r>
                      <a:rPr lang="en-US" altLang="ko-KR" sz="1300" i="1">
                        <a:solidFill>
                          <a:prstClr val="black"/>
                        </a:solidFill>
                        <a:latin typeface="Cambria Math"/>
                        <a:cs typeface="Times New Roman" panose="02020603050405020304" pitchFamily="18" charset="0"/>
                      </a:rPr>
                      <m:t>,</m:t>
                    </m:r>
                    <m:sSub>
                      <m:sSubPr>
                        <m:ctrlPr>
                          <a:rPr lang="en-US" altLang="ko-KR" sz="1300" i="1">
                            <a:solidFill>
                              <a:srgbClr val="193EB0"/>
                            </a:solidFill>
                            <a:latin typeface="Cambria Math" panose="02040503050406030204" pitchFamily="18" charset="0"/>
                            <a:cs typeface="Times New Roman" panose="02020603050405020304" pitchFamily="18" charset="0"/>
                          </a:rPr>
                        </m:ctrlPr>
                      </m:sSubPr>
                      <m:e>
                        <m:r>
                          <a:rPr lang="en-US" altLang="ko-KR" sz="1300" i="1">
                            <a:solidFill>
                              <a:srgbClr val="193EB0"/>
                            </a:solidFill>
                            <a:latin typeface="Cambria Math"/>
                            <a:cs typeface="Times New Roman" panose="02020603050405020304" pitchFamily="18" charset="0"/>
                          </a:rPr>
                          <m:t>𝑋</m:t>
                        </m:r>
                      </m:e>
                      <m:sub>
                        <m:r>
                          <a:rPr lang="en-US" altLang="ko-KR" sz="1300" i="1">
                            <a:solidFill>
                              <a:srgbClr val="193EB0"/>
                            </a:solidFill>
                            <a:latin typeface="Cambria Math"/>
                            <a:cs typeface="Times New Roman" panose="02020603050405020304" pitchFamily="18" charset="0"/>
                          </a:rPr>
                          <m:t>2</m:t>
                        </m:r>
                      </m:sub>
                    </m:sSub>
                    <m:r>
                      <a:rPr lang="en-US" altLang="ko-KR" sz="1300" i="1">
                        <a:solidFill>
                          <a:prstClr val="black"/>
                        </a:solidFill>
                        <a:latin typeface="Cambria Math"/>
                        <a:cs typeface="Times New Roman" panose="02020603050405020304" pitchFamily="18" charset="0"/>
                      </a:rPr>
                      <m:t>,…,</m:t>
                    </m:r>
                    <m:sSub>
                      <m:sSubPr>
                        <m:ctrlPr>
                          <a:rPr lang="en-US" altLang="ko-KR" sz="1300" i="1">
                            <a:solidFill>
                              <a:srgbClr val="193EB0"/>
                            </a:solidFill>
                            <a:latin typeface="Cambria Math" panose="02040503050406030204" pitchFamily="18" charset="0"/>
                            <a:cs typeface="Times New Roman" panose="02020603050405020304" pitchFamily="18" charset="0"/>
                          </a:rPr>
                        </m:ctrlPr>
                      </m:sSubPr>
                      <m:e>
                        <m:r>
                          <a:rPr lang="en-US" altLang="ko-KR" sz="1300" i="1">
                            <a:solidFill>
                              <a:srgbClr val="193EB0"/>
                            </a:solidFill>
                            <a:latin typeface="Cambria Math"/>
                            <a:cs typeface="Times New Roman" panose="02020603050405020304" pitchFamily="18" charset="0"/>
                          </a:rPr>
                          <m:t>𝑋</m:t>
                        </m:r>
                      </m:e>
                      <m:sub>
                        <m:r>
                          <a:rPr lang="en-US" altLang="ko-KR" sz="1300" i="1">
                            <a:solidFill>
                              <a:srgbClr val="193EB0"/>
                            </a:solidFill>
                            <a:latin typeface="Cambria Math" panose="02040503050406030204" pitchFamily="18" charset="0"/>
                            <a:cs typeface="Times New Roman" panose="02020603050405020304" pitchFamily="18" charset="0"/>
                          </a:rPr>
                          <m:t>𝑘</m:t>
                        </m:r>
                      </m:sub>
                    </m:sSub>
                  </m:oMath>
                </a14:m>
                <a:endParaRPr lang="ko-KR" altLang="en-US" sz="1300" baseline="-25000" dirty="0">
                  <a:solidFill>
                    <a:srgbClr val="193EB0"/>
                  </a:solidFill>
                  <a:latin typeface="SamsungOne 400" panose="020B0503030303020204" pitchFamily="34" charset="0"/>
                  <a:ea typeface="SamsungOne 400" panose="020B0503030303020204" pitchFamily="34" charset="0"/>
                </a:endParaRP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There is one response variable: </a:t>
                </a:r>
                <a14:m>
                  <m:oMath xmlns:m="http://schemas.openxmlformats.org/officeDocument/2006/math">
                    <m:r>
                      <a:rPr lang="en-US" altLang="ko-KR" sz="1300" i="1">
                        <a:solidFill>
                          <a:srgbClr val="193EB0"/>
                        </a:solidFill>
                        <a:latin typeface="Cambria Math"/>
                        <a:cs typeface="Times New Roman" panose="02020603050405020304" pitchFamily="18" charset="0"/>
                      </a:rPr>
                      <m:t>𝑌</m:t>
                    </m:r>
                  </m:oMath>
                </a14:m>
                <a:endParaRPr lang="ko-KR" altLang="en-US" sz="1300" dirty="0">
                  <a:solidFill>
                    <a:srgbClr val="193EB0"/>
                  </a:solidFill>
                  <a:latin typeface="SamsungOne 400" panose="020B0503030303020204" pitchFamily="34" charset="0"/>
                  <a:ea typeface="SamsungOne 400" panose="020B0503030303020204" pitchFamily="34" charset="0"/>
                </a:endParaRP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response variable </a:t>
                </a:r>
                <a14:m>
                  <m:oMath xmlns:m="http://schemas.openxmlformats.org/officeDocument/2006/math">
                    <m:r>
                      <a:rPr lang="en-US" altLang="ko-KR" sz="1300" i="1">
                        <a:solidFill>
                          <a:srgbClr val="193EB0"/>
                        </a:solidFill>
                        <a:latin typeface="Cambria Math"/>
                        <a:cs typeface="Times New Roman" panose="02020603050405020304" pitchFamily="18" charset="0"/>
                      </a:rPr>
                      <m:t>𝑌</m:t>
                    </m:r>
                  </m:oMath>
                </a14:m>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is binary where possible values are {0,1},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𝐹𝑎𝑙𝑠𝑒</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𝑇𝑟𝑢𝑒</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𝑁𝑜</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𝑌𝑒𝑠</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etc.</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One of the most basic classification algorithms.</a:t>
                </a:r>
              </a:p>
            </p:txBody>
          </p:sp>
        </mc:Choice>
        <mc:Fallback xmlns="">
          <p:sp>
            <p:nvSpPr>
              <p:cNvPr id="49" name="직사각형 48">
                <a:extLst>
                  <a:ext uri="{FF2B5EF4-FFF2-40B4-BE49-F238E27FC236}">
                    <a16:creationId xmlns:a16="http://schemas.microsoft.com/office/drawing/2014/main" id="{860C135B-D9AD-4347-BCFB-354CFB97F7B2}"/>
                  </a:ext>
                </a:extLst>
              </p:cNvPr>
              <p:cNvSpPr>
                <a:spLocks noRot="1" noChangeAspect="1" noMove="1" noResize="1" noEditPoints="1" noAdjustHandles="1" noChangeArrowheads="1" noChangeShapeType="1" noTextEdit="1"/>
              </p:cNvSpPr>
              <p:nvPr/>
            </p:nvSpPr>
            <p:spPr>
              <a:xfrm>
                <a:off x="671261" y="1700808"/>
                <a:ext cx="8632825" cy="1253402"/>
              </a:xfrm>
              <a:prstGeom prst="rect">
                <a:avLst/>
              </a:prstGeom>
              <a:blipFill>
                <a:blip r:embed="rId4"/>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323293842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Pros</a:t>
            </a:r>
          </a:p>
        </p:txBody>
      </p:sp>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Simple and relatively easy to implement</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Source of intuitive insights</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Fast training</a:t>
            </a:r>
          </a:p>
        </p:txBody>
      </p:sp>
      <p:sp>
        <p:nvSpPr>
          <p:cNvPr id="7" name="직사각형 6">
            <a:extLst>
              <a:ext uri="{FF2B5EF4-FFF2-40B4-BE49-F238E27FC236}">
                <a16:creationId xmlns:a16="http://schemas.microsoft.com/office/drawing/2014/main" id="{F7DC3F79-E3A1-40AE-A378-6CF695838D70}"/>
              </a:ext>
            </a:extLst>
          </p:cNvPr>
          <p:cNvSpPr/>
          <p:nvPr/>
        </p:nvSpPr>
        <p:spPr>
          <a:xfrm>
            <a:off x="558924" y="2816932"/>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Cons</a:t>
            </a:r>
          </a:p>
        </p:txBody>
      </p:sp>
      <p:sp>
        <p:nvSpPr>
          <p:cNvPr id="8" name="직사각형 7">
            <a:extLst>
              <a:ext uri="{FF2B5EF4-FFF2-40B4-BE49-F238E27FC236}">
                <a16:creationId xmlns:a16="http://schemas.microsoft.com/office/drawing/2014/main" id="{3FE6714B-CCC7-4ABF-8F6F-1100EC08E7BE}"/>
              </a:ext>
            </a:extLst>
          </p:cNvPr>
          <p:cNvSpPr/>
          <p:nvPr/>
        </p:nvSpPr>
        <p:spPr>
          <a:xfrm>
            <a:off x="671261" y="3088995"/>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Not among the most accurate classification algorithms</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Assumes that the explanatory variables are independent without multi-collinearity</a:t>
            </a:r>
          </a:p>
        </p:txBody>
      </p:sp>
    </p:spTree>
    <p:extLst>
      <p:ext uri="{BB962C8B-B14F-4D97-AF65-F5344CB8AC3E}">
        <p14:creationId xmlns:p14="http://schemas.microsoft.com/office/powerpoint/2010/main" val="290178575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logistic regression</a:t>
            </a:r>
          </a:p>
        </p:txBody>
      </p:sp>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3916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0"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linear combinations of variables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𝑋</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_</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𝑖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is the so-called “Logit” denoted here as </a:t>
            </a:r>
            <a:r>
              <a:rPr lang="ko-KR" altLang="en-US" sz="1600" dirty="0">
                <a:solidFill>
                  <a:srgbClr val="193EB0"/>
                </a:solidFill>
                <a:latin typeface="SamsungOne 400" panose="020B0503030303020204" pitchFamily="34" charset="0"/>
              </a:rPr>
              <a:t>𝑆</a:t>
            </a:r>
            <a:r>
              <a:rPr lang="en-US" altLang="ko-KR" sz="1600" dirty="0">
                <a:solidFill>
                  <a:prstClr val="black">
                    <a:lumMod val="85000"/>
                    <a:lumOff val="15000"/>
                  </a:prstClr>
                </a:solidFill>
                <a:latin typeface="SamsungOne 400" panose="020B0503030303020204" pitchFamily="34" charset="0"/>
                <a:ea typeface="SamsungOne 400" panose="020B0503030303020204" pitchFamily="34" charset="0"/>
              </a:rPr>
              <a:t>.</a:t>
            </a:r>
            <a:endParaRPr lang="en-US" altLang="ko-KR" sz="1600" dirty="0">
              <a:solidFill>
                <a:srgbClr val="193EB0"/>
              </a:solidFill>
              <a:latin typeface="SamsungOne 400" panose="020B0503030303020204" pitchFamily="34" charset="0"/>
              <a:ea typeface="SamsungOne 400" panose="020B0503030303020204" pitchFamily="34" charset="0"/>
            </a:endParaRPr>
          </a:p>
        </p:txBody>
      </p:sp>
      <mc:AlternateContent xmlns:mc="http://schemas.openxmlformats.org/markup-compatibility/2006" xmlns:a14="http://schemas.microsoft.com/office/drawing/2010/main">
        <mc:Choice Requires="a14">
          <p:sp>
            <p:nvSpPr>
              <p:cNvPr id="9" name="직사각형 8">
                <a:extLst>
                  <a:ext uri="{FF2B5EF4-FFF2-40B4-BE49-F238E27FC236}">
                    <a16:creationId xmlns:a16="http://schemas.microsoft.com/office/drawing/2014/main" id="{B3D0A671-D538-44C0-9260-99F045BF90F5}"/>
                  </a:ext>
                </a:extLst>
              </p:cNvPr>
              <p:cNvSpPr/>
              <p:nvPr/>
            </p:nvSpPr>
            <p:spPr>
              <a:xfrm>
                <a:off x="3270008" y="2205038"/>
                <a:ext cx="3362807" cy="4411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lvl="0" algn="ctr">
                  <a:spcAft>
                    <a:spcPts val="800"/>
                  </a:spcAft>
                  <a:buClr>
                    <a:srgbClr val="193EB0"/>
                  </a:buClr>
                </a:pPr>
                <a14:m>
                  <m:oMathPara xmlns:m="http://schemas.openxmlformats.org/officeDocument/2006/math">
                    <m:oMathParaPr>
                      <m:jc m:val="centerGroup"/>
                    </m:oMathParaPr>
                    <m:oMath xmlns:m="http://schemas.openxmlformats.org/officeDocument/2006/math">
                      <m:r>
                        <a:rPr lang="en-US" altLang="ko-KR" sz="1600" i="1">
                          <a:solidFill>
                            <a:srgbClr val="193EB0"/>
                          </a:solidFill>
                          <a:latin typeface="Cambria Math" panose="02040503050406030204" pitchFamily="18" charset="0"/>
                        </a:rPr>
                        <m:t>𝑆</m:t>
                      </m:r>
                      <m:r>
                        <a:rPr lang="en-US" altLang="ko-KR" sz="1600" i="1">
                          <a:solidFill>
                            <a:prstClr val="black"/>
                          </a:solidFill>
                          <a:latin typeface="Cambria Math"/>
                        </a:rPr>
                        <m:t>=</m:t>
                      </m:r>
                      <m:sSub>
                        <m:sSubPr>
                          <m:ctrlPr>
                            <a:rPr lang="ko-KR" altLang="ko-KR" sz="1600" i="1">
                              <a:solidFill>
                                <a:srgbClr val="FF0000"/>
                              </a:solidFill>
                              <a:latin typeface="Cambria Math" panose="02040503050406030204" pitchFamily="18" charset="0"/>
                            </a:rPr>
                          </m:ctrlPr>
                        </m:sSubPr>
                        <m:e>
                          <m:sSub>
                            <m:sSubPr>
                              <m:ctrlPr>
                                <a:rPr lang="ko-KR" altLang="ko-KR" sz="1600" i="1">
                                  <a:solidFill>
                                    <a:srgbClr val="FF0000"/>
                                  </a:solidFill>
                                  <a:latin typeface="Cambria Math" panose="02040503050406030204" pitchFamily="18" charset="0"/>
                                </a:rPr>
                              </m:ctrlPr>
                            </m:sSubPr>
                            <m:e>
                              <m:r>
                                <a:rPr lang="en-US" altLang="ko-KR" sz="1600" i="1">
                                  <a:solidFill>
                                    <a:srgbClr val="FF0000"/>
                                  </a:solidFill>
                                  <a:latin typeface="Cambria Math"/>
                                </a:rPr>
                                <m:t>𝛽</m:t>
                              </m:r>
                            </m:e>
                            <m:sub>
                              <m:r>
                                <a:rPr lang="en-US" altLang="ko-KR" sz="1600" i="1">
                                  <a:solidFill>
                                    <a:srgbClr val="FF0000"/>
                                  </a:solidFill>
                                  <a:latin typeface="Cambria Math"/>
                                </a:rPr>
                                <m:t>0</m:t>
                              </m:r>
                            </m:sub>
                          </m:sSub>
                          <m:r>
                            <a:rPr lang="en-US" altLang="ko-KR" sz="1600" i="1">
                              <a:solidFill>
                                <a:prstClr val="black"/>
                              </a:solidFill>
                              <a:latin typeface="Cambria Math"/>
                            </a:rPr>
                            <m:t>+</m:t>
                          </m:r>
                          <m:r>
                            <a:rPr lang="en-US" altLang="ko-KR" sz="1600" i="1">
                              <a:solidFill>
                                <a:srgbClr val="FF0000"/>
                              </a:solidFill>
                              <a:latin typeface="Cambria Math"/>
                            </a:rPr>
                            <m:t>𝛽</m:t>
                          </m:r>
                        </m:e>
                        <m:sub>
                          <m:r>
                            <a:rPr lang="en-US" altLang="ko-KR" sz="1600" i="1">
                              <a:solidFill>
                                <a:srgbClr val="FF0000"/>
                              </a:solidFill>
                              <a:latin typeface="Cambria Math"/>
                            </a:rPr>
                            <m:t>1</m:t>
                          </m:r>
                        </m:sub>
                      </m:sSub>
                      <m:sSub>
                        <m:sSubPr>
                          <m:ctrlPr>
                            <a:rPr lang="ko-KR" altLang="ko-KR" sz="1600" i="1">
                              <a:solidFill>
                                <a:srgbClr val="193EB0"/>
                              </a:solidFill>
                              <a:latin typeface="Cambria Math" panose="02040503050406030204" pitchFamily="18" charset="0"/>
                            </a:rPr>
                          </m:ctrlPr>
                        </m:sSubPr>
                        <m:e>
                          <m:r>
                            <a:rPr lang="en-US" altLang="ko-KR" sz="1600" i="1">
                              <a:solidFill>
                                <a:srgbClr val="193EB0"/>
                              </a:solidFill>
                              <a:latin typeface="Cambria Math"/>
                            </a:rPr>
                            <m:t>𝑋</m:t>
                          </m:r>
                        </m:e>
                        <m:sub>
                          <m:r>
                            <a:rPr lang="en-US" altLang="ko-KR" sz="1600" i="1">
                              <a:solidFill>
                                <a:srgbClr val="193EB0"/>
                              </a:solidFill>
                              <a:latin typeface="Cambria Math"/>
                            </a:rPr>
                            <m:t>1</m:t>
                          </m:r>
                        </m:sub>
                      </m:sSub>
                      <m:r>
                        <a:rPr lang="en-US" altLang="ko-KR" sz="1600" i="1">
                          <a:solidFill>
                            <a:prstClr val="black"/>
                          </a:solidFill>
                          <a:latin typeface="Cambria Math"/>
                        </a:rPr>
                        <m:t>+</m:t>
                      </m:r>
                      <m:sSub>
                        <m:sSubPr>
                          <m:ctrlPr>
                            <a:rPr lang="ko-KR" altLang="ko-KR" sz="1600" i="1">
                              <a:solidFill>
                                <a:srgbClr val="FF0000"/>
                              </a:solidFill>
                              <a:latin typeface="Cambria Math" panose="02040503050406030204" pitchFamily="18" charset="0"/>
                            </a:rPr>
                          </m:ctrlPr>
                        </m:sSubPr>
                        <m:e>
                          <m:r>
                            <a:rPr lang="en-US" altLang="ko-KR" sz="1600" i="1">
                              <a:solidFill>
                                <a:srgbClr val="FF0000"/>
                              </a:solidFill>
                              <a:latin typeface="Cambria Math"/>
                            </a:rPr>
                            <m:t>𝛽</m:t>
                          </m:r>
                        </m:e>
                        <m:sub>
                          <m:r>
                            <a:rPr lang="en-US" altLang="ko-KR" sz="1600" i="1">
                              <a:solidFill>
                                <a:srgbClr val="FF0000"/>
                              </a:solidFill>
                              <a:latin typeface="Cambria Math"/>
                            </a:rPr>
                            <m:t>2</m:t>
                          </m:r>
                        </m:sub>
                      </m:sSub>
                      <m:sSub>
                        <m:sSubPr>
                          <m:ctrlPr>
                            <a:rPr lang="ko-KR" altLang="ko-KR" sz="1600" i="1">
                              <a:solidFill>
                                <a:srgbClr val="193EB0"/>
                              </a:solidFill>
                              <a:latin typeface="Cambria Math" panose="02040503050406030204" pitchFamily="18" charset="0"/>
                            </a:rPr>
                          </m:ctrlPr>
                        </m:sSubPr>
                        <m:e>
                          <m:r>
                            <a:rPr lang="en-US" altLang="ko-KR" sz="1600" i="1">
                              <a:solidFill>
                                <a:srgbClr val="193EB0"/>
                              </a:solidFill>
                              <a:latin typeface="Cambria Math"/>
                            </a:rPr>
                            <m:t>𝑋</m:t>
                          </m:r>
                        </m:e>
                        <m:sub>
                          <m:r>
                            <a:rPr lang="en-US" altLang="ko-KR" sz="1600" i="1">
                              <a:solidFill>
                                <a:srgbClr val="193EB0"/>
                              </a:solidFill>
                              <a:latin typeface="Cambria Math"/>
                            </a:rPr>
                            <m:t>2</m:t>
                          </m:r>
                        </m:sub>
                      </m:sSub>
                      <m:r>
                        <a:rPr lang="en-US" altLang="ko-KR" sz="1600" i="1">
                          <a:solidFill>
                            <a:prstClr val="black"/>
                          </a:solidFill>
                          <a:latin typeface="Cambria Math"/>
                        </a:rPr>
                        <m:t>+⋯+</m:t>
                      </m:r>
                      <m:sSub>
                        <m:sSubPr>
                          <m:ctrlPr>
                            <a:rPr lang="ko-KR" altLang="ko-KR" sz="1600" i="1">
                              <a:solidFill>
                                <a:srgbClr val="FF0000"/>
                              </a:solidFill>
                              <a:latin typeface="Cambria Math" panose="02040503050406030204" pitchFamily="18" charset="0"/>
                            </a:rPr>
                          </m:ctrlPr>
                        </m:sSubPr>
                        <m:e>
                          <m:r>
                            <a:rPr lang="en-US" altLang="ko-KR" sz="1600" i="1">
                              <a:solidFill>
                                <a:srgbClr val="FF0000"/>
                              </a:solidFill>
                              <a:latin typeface="Cambria Math"/>
                            </a:rPr>
                            <m:t>𝛽</m:t>
                          </m:r>
                        </m:e>
                        <m:sub>
                          <m:r>
                            <a:rPr lang="en-US" altLang="ko-KR" sz="1600" i="1">
                              <a:solidFill>
                                <a:srgbClr val="FF0000"/>
                              </a:solidFill>
                              <a:latin typeface="Cambria Math" panose="02040503050406030204" pitchFamily="18" charset="0"/>
                            </a:rPr>
                            <m:t>𝑘</m:t>
                          </m:r>
                        </m:sub>
                      </m:sSub>
                      <m:sSub>
                        <m:sSubPr>
                          <m:ctrlPr>
                            <a:rPr lang="ko-KR" altLang="ko-KR" sz="1600" i="1">
                              <a:solidFill>
                                <a:srgbClr val="193EB0"/>
                              </a:solidFill>
                              <a:latin typeface="Cambria Math" panose="02040503050406030204" pitchFamily="18" charset="0"/>
                            </a:rPr>
                          </m:ctrlPr>
                        </m:sSubPr>
                        <m:e>
                          <m:r>
                            <a:rPr lang="en-US" altLang="ko-KR" sz="1600" i="1">
                              <a:solidFill>
                                <a:srgbClr val="193EB0"/>
                              </a:solidFill>
                              <a:latin typeface="Cambria Math"/>
                            </a:rPr>
                            <m:t>𝑋</m:t>
                          </m:r>
                        </m:e>
                        <m:sub>
                          <m:r>
                            <a:rPr lang="en-US" altLang="ko-KR" sz="1600" i="1">
                              <a:solidFill>
                                <a:srgbClr val="193EB0"/>
                              </a:solidFill>
                              <a:latin typeface="Cambria Math" panose="02040503050406030204" pitchFamily="18" charset="0"/>
                            </a:rPr>
                            <m:t>𝑘</m:t>
                          </m:r>
                        </m:sub>
                      </m:sSub>
                    </m:oMath>
                  </m:oMathPara>
                </a14:m>
                <a:endParaRPr lang="en-US" altLang="ko-KR" sz="1600" dirty="0">
                  <a:solidFill>
                    <a:srgbClr val="193EB0"/>
                  </a:solidFill>
                  <a:latin typeface="Times New Roman" panose="02020603050405020304" pitchFamily="18" charset="0"/>
                  <a:cs typeface="Times New Roman" panose="02020603050405020304" pitchFamily="18" charset="0"/>
                </a:endParaRPr>
              </a:p>
            </p:txBody>
          </p:sp>
        </mc:Choice>
        <mc:Fallback xmlns="">
          <p:sp>
            <p:nvSpPr>
              <p:cNvPr id="9" name="직사각형 8">
                <a:extLst>
                  <a:ext uri="{FF2B5EF4-FFF2-40B4-BE49-F238E27FC236}">
                    <a16:creationId xmlns:a16="http://schemas.microsoft.com/office/drawing/2014/main" id="{B3D0A671-D538-44C0-9260-99F045BF90F5}"/>
                  </a:ext>
                </a:extLst>
              </p:cNvPr>
              <p:cNvSpPr>
                <a:spLocks noRot="1" noChangeAspect="1" noMove="1" noResize="1" noEditPoints="1" noAdjustHandles="1" noChangeArrowheads="1" noChangeShapeType="1" noTextEdit="1"/>
              </p:cNvSpPr>
              <p:nvPr/>
            </p:nvSpPr>
            <p:spPr>
              <a:xfrm>
                <a:off x="3270008" y="2205038"/>
                <a:ext cx="3362807" cy="441146"/>
              </a:xfrm>
              <a:prstGeom prst="rect">
                <a:avLst/>
              </a:prstGeom>
              <a:blipFill>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D5EA7943-CA9A-490E-B677-07C75A61272A}"/>
                  </a:ext>
                </a:extLst>
              </p:cNvPr>
              <p:cNvSpPr/>
              <p:nvPr/>
            </p:nvSpPr>
            <p:spPr>
              <a:xfrm>
                <a:off x="671261" y="2792434"/>
                <a:ext cx="8632825" cy="6886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conditional probability of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𝑌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being equal to 1 is denoted as </a:t>
                </a:r>
                <a14:m>
                  <m:oMath xmlns:m="http://schemas.openxmlformats.org/officeDocument/2006/math">
                    <m:r>
                      <a:rPr lang="en-US" altLang="ko-KR" sz="1600" i="1" dirty="0">
                        <a:solidFill>
                          <a:srgbClr val="00B050"/>
                        </a:solidFill>
                        <a:latin typeface="Cambria Math" panose="02040503050406030204" pitchFamily="18" charset="0"/>
                        <a:cs typeface="Times New Roman" panose="02020603050405020304" pitchFamily="18" charset="0"/>
                        <a:sym typeface="Symbol" panose="05050102010706020507" pitchFamily="18" charset="2"/>
                      </a:rPr>
                      <m:t>𝑃</m:t>
                    </m:r>
                    <m:r>
                      <a:rPr lang="en-US" altLang="ko-KR" sz="1600" i="1" dirty="0">
                        <a:solidFill>
                          <a:srgbClr val="00B050"/>
                        </a:solidFill>
                        <a:latin typeface="Cambria Math" panose="02040503050406030204" pitchFamily="18" charset="0"/>
                        <a:cs typeface="Times New Roman" panose="02020603050405020304" pitchFamily="18" charset="0"/>
                        <a:sym typeface="Symbol" panose="05050102010706020507" pitchFamily="18" charset="2"/>
                      </a:rPr>
                      <m:t>(</m:t>
                    </m:r>
                    <m:r>
                      <a:rPr lang="en-US" altLang="ko-KR" sz="1600" i="1" dirty="0">
                        <a:solidFill>
                          <a:srgbClr val="193EB0"/>
                        </a:solidFill>
                        <a:latin typeface="Cambria Math" panose="02040503050406030204" pitchFamily="18" charset="0"/>
                        <a:cs typeface="Times New Roman" panose="02020603050405020304" pitchFamily="18" charset="0"/>
                        <a:sym typeface="Symbol" panose="05050102010706020507" pitchFamily="18" charset="2"/>
                      </a:rPr>
                      <m:t>𝑌</m:t>
                    </m:r>
                    <m:r>
                      <a:rPr lang="en-US" altLang="ko-KR" sz="1600" i="1" dirty="0">
                        <a:solidFill>
                          <a:srgbClr val="193EB0"/>
                        </a:solidFill>
                        <a:latin typeface="Cambria Math" panose="02040503050406030204" pitchFamily="18" charset="0"/>
                        <a:cs typeface="Times New Roman" panose="02020603050405020304" pitchFamily="18" charset="0"/>
                        <a:sym typeface="Symbol" panose="05050102010706020507" pitchFamily="18" charset="2"/>
                      </a:rPr>
                      <m:t>=</m:t>
                    </m:r>
                    <m:r>
                      <a:rPr lang="en-US" altLang="ko-KR" sz="1600" i="1" dirty="0">
                        <a:solidFill>
                          <a:srgbClr val="193EB0"/>
                        </a:solidFill>
                        <a:latin typeface="Cambria Math" panose="02040503050406030204" pitchFamily="18" charset="0"/>
                        <a:cs typeface="Times New Roman" panose="02020603050405020304" pitchFamily="18" charset="0"/>
                        <a:sym typeface="Symbol" panose="05050102010706020507" pitchFamily="18" charset="2"/>
                      </a:rPr>
                      <m:t>1</m:t>
                    </m:r>
                    <m:r>
                      <a:rPr lang="en-US" altLang="ko-KR" sz="1600" i="1" dirty="0">
                        <a:solidFill>
                          <a:srgbClr val="193EB0"/>
                        </a:solidFill>
                        <a:latin typeface="Cambria Math" panose="02040503050406030204" pitchFamily="18" charset="0"/>
                        <a:cs typeface="Times New Roman" panose="02020603050405020304" pitchFamily="18" charset="0"/>
                        <a:sym typeface="Symbol" panose="05050102010706020507" pitchFamily="18" charset="2"/>
                      </a:rPr>
                      <m:t>|</m:t>
                    </m:r>
                    <m:d>
                      <m:dPr>
                        <m:begChr m:val="{"/>
                        <m:endChr m:val="}"/>
                        <m:ctrlPr>
                          <a:rPr lang="ko-KR" altLang="ko-KR" sz="1600" i="1">
                            <a:solidFill>
                              <a:srgbClr val="00B050"/>
                            </a:solidFill>
                            <a:latin typeface="Cambria Math" panose="02040503050406030204" pitchFamily="18" charset="0"/>
                          </a:rPr>
                        </m:ctrlPr>
                      </m:dPr>
                      <m:e>
                        <m:sSub>
                          <m:sSubPr>
                            <m:ctrlPr>
                              <a:rPr lang="ko-KR" altLang="ko-KR" sz="1600" i="1">
                                <a:solidFill>
                                  <a:srgbClr val="193EB0"/>
                                </a:solidFill>
                                <a:latin typeface="Cambria Math" panose="02040503050406030204" pitchFamily="18" charset="0"/>
                              </a:rPr>
                            </m:ctrlPr>
                          </m:sSubPr>
                          <m:e>
                            <m:r>
                              <a:rPr lang="en-US" altLang="ko-KR" sz="1600" i="1">
                                <a:solidFill>
                                  <a:srgbClr val="193EB0"/>
                                </a:solidFill>
                                <a:latin typeface="Cambria Math" panose="02040503050406030204" pitchFamily="18" charset="0"/>
                              </a:rPr>
                              <m:t>𝑥</m:t>
                            </m:r>
                          </m:e>
                          <m:sub>
                            <m:r>
                              <a:rPr lang="en-US" altLang="ko-KR" sz="1600" i="1">
                                <a:solidFill>
                                  <a:srgbClr val="193EB0"/>
                                </a:solidFill>
                                <a:latin typeface="Cambria Math" panose="02040503050406030204" pitchFamily="18" charset="0"/>
                              </a:rPr>
                              <m:t>𝑖</m:t>
                            </m:r>
                          </m:sub>
                        </m:sSub>
                      </m:e>
                    </m:d>
                    <m:r>
                      <a:rPr lang="en-US" altLang="ko-KR" sz="1600" i="1" dirty="0">
                        <a:solidFill>
                          <a:srgbClr val="00B050"/>
                        </a:solidFill>
                        <a:latin typeface="Cambria Math" panose="02040503050406030204" pitchFamily="18" charset="0"/>
                        <a:cs typeface="Times New Roman" panose="02020603050405020304" pitchFamily="18" charset="0"/>
                        <a:sym typeface="Symbol" panose="05050102010706020507" pitchFamily="18" charset="2"/>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“Sigmoid” or “Logistic” function connects the probability with the logit.</a:t>
                </a:r>
              </a:p>
            </p:txBody>
          </p:sp>
        </mc:Choice>
        <mc:Fallback xmlns="">
          <p:sp>
            <p:nvSpPr>
              <p:cNvPr id="10" name="직사각형 9">
                <a:extLst>
                  <a:ext uri="{FF2B5EF4-FFF2-40B4-BE49-F238E27FC236}">
                    <a16:creationId xmlns:a16="http://schemas.microsoft.com/office/drawing/2014/main" xmlns="" xmlns:a14="http://schemas.microsoft.com/office/drawing/2010/main" id="{D5EA7943-CA9A-490E-B677-07C75A61272A}"/>
                  </a:ext>
                </a:extLst>
              </p:cNvPr>
              <p:cNvSpPr>
                <a:spLocks noRot="1" noChangeAspect="1" noMove="1" noResize="1" noEditPoints="1" noAdjustHandles="1" noChangeArrowheads="1" noChangeShapeType="1" noTextEdit="1"/>
              </p:cNvSpPr>
              <p:nvPr/>
            </p:nvSpPr>
            <p:spPr>
              <a:xfrm>
                <a:off x="671261" y="2792434"/>
                <a:ext cx="8632825" cy="688632"/>
              </a:xfrm>
              <a:prstGeom prst="rect">
                <a:avLst/>
              </a:prstGeom>
              <a:blipFill rotWithShape="0">
                <a:blip r:embed="rId5"/>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직사각형 10">
                <a:extLst>
                  <a:ext uri="{FF2B5EF4-FFF2-40B4-BE49-F238E27FC236}">
                    <a16:creationId xmlns:a16="http://schemas.microsoft.com/office/drawing/2014/main" id="{5151EED4-6CF8-4EF7-BADC-A5EA3A161800}"/>
                  </a:ext>
                </a:extLst>
              </p:cNvPr>
              <p:cNvSpPr/>
              <p:nvPr/>
            </p:nvSpPr>
            <p:spPr>
              <a:xfrm>
                <a:off x="2463715" y="3706331"/>
                <a:ext cx="1612585" cy="6946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lvl="0" algn="ctr">
                  <a:spcAft>
                    <a:spcPts val="800"/>
                  </a:spcAft>
                  <a:buClr>
                    <a:srgbClr val="193EB0"/>
                  </a:buClr>
                </a:pPr>
                <a14:m>
                  <m:oMathPara xmlns:m="http://schemas.openxmlformats.org/officeDocument/2006/math">
                    <m:oMathParaPr>
                      <m:jc m:val="centerGroup"/>
                    </m:oMathParaPr>
                    <m:oMath xmlns:m="http://schemas.openxmlformats.org/officeDocument/2006/math">
                      <m:r>
                        <a:rPr lang="en-US" altLang="ko-KR" sz="1600" i="1">
                          <a:solidFill>
                            <a:srgbClr val="FF0000"/>
                          </a:solidFill>
                          <a:latin typeface="Cambria Math" panose="02040503050406030204" pitchFamily="18" charset="0"/>
                        </a:rPr>
                        <m:t>𝑓</m:t>
                      </m:r>
                      <m:d>
                        <m:dPr>
                          <m:ctrlPr>
                            <a:rPr lang="ko-KR" altLang="ko-KR" sz="1600" i="1">
                              <a:solidFill>
                                <a:srgbClr val="FF0000"/>
                              </a:solidFill>
                              <a:latin typeface="Cambria Math" panose="02040503050406030204" pitchFamily="18" charset="0"/>
                            </a:rPr>
                          </m:ctrlPr>
                        </m:dPr>
                        <m:e>
                          <m:r>
                            <a:rPr lang="en-US" altLang="ko-KR" sz="1600" i="1">
                              <a:solidFill>
                                <a:srgbClr val="193EB0"/>
                              </a:solidFill>
                              <a:latin typeface="Cambria Math" panose="02040503050406030204" pitchFamily="18" charset="0"/>
                            </a:rPr>
                            <m:t>𝑆</m:t>
                          </m:r>
                        </m:e>
                      </m:d>
                      <m:r>
                        <a:rPr lang="en-US" altLang="ko-KR" sz="1600" i="1">
                          <a:solidFill>
                            <a:prstClr val="black"/>
                          </a:solidFill>
                          <a:latin typeface="Cambria Math" panose="02040503050406030204" pitchFamily="18" charset="0"/>
                        </a:rPr>
                        <m:t>=</m:t>
                      </m:r>
                      <m:f>
                        <m:fPr>
                          <m:ctrlPr>
                            <a:rPr lang="ko-KR" altLang="ko-KR" sz="1600" i="1">
                              <a:solidFill>
                                <a:prstClr val="black"/>
                              </a:solidFill>
                              <a:latin typeface="Cambria Math" panose="02040503050406030204" pitchFamily="18" charset="0"/>
                            </a:rPr>
                          </m:ctrlPr>
                        </m:fPr>
                        <m:num>
                          <m:sSup>
                            <m:sSupPr>
                              <m:ctrlPr>
                                <a:rPr lang="ko-KR" altLang="ko-KR" sz="1600" i="1">
                                  <a:solidFill>
                                    <a:prstClr val="black"/>
                                  </a:solidFill>
                                  <a:latin typeface="Cambria Math" panose="02040503050406030204" pitchFamily="18" charset="0"/>
                                </a:rPr>
                              </m:ctrlPr>
                            </m:sSupPr>
                            <m:e>
                              <m:r>
                                <a:rPr lang="en-US" altLang="ko-KR" sz="1600" i="1">
                                  <a:solidFill>
                                    <a:prstClr val="black"/>
                                  </a:solidFill>
                                  <a:latin typeface="Cambria Math" panose="02040503050406030204" pitchFamily="18" charset="0"/>
                                </a:rPr>
                                <m:t>𝑒</m:t>
                              </m:r>
                            </m:e>
                            <m:sup>
                              <m:r>
                                <a:rPr lang="en-US" altLang="ko-KR" sz="1600" i="1">
                                  <a:solidFill>
                                    <a:prstClr val="black"/>
                                  </a:solidFill>
                                  <a:latin typeface="Cambria Math" panose="02040503050406030204" pitchFamily="18" charset="0"/>
                                </a:rPr>
                                <m:t> </m:t>
                              </m:r>
                              <m:r>
                                <a:rPr lang="en-US" altLang="ko-KR" sz="1600" i="1">
                                  <a:solidFill>
                                    <a:srgbClr val="193EB0"/>
                                  </a:solidFill>
                                  <a:latin typeface="Cambria Math" panose="02040503050406030204" pitchFamily="18" charset="0"/>
                                </a:rPr>
                                <m:t>𝑆</m:t>
                              </m:r>
                            </m:sup>
                          </m:sSup>
                        </m:num>
                        <m:den>
                          <m:r>
                            <a:rPr lang="en-US" altLang="ko-KR" sz="1600" i="1">
                              <a:solidFill>
                                <a:prstClr val="black"/>
                              </a:solidFill>
                              <a:latin typeface="Cambria Math" panose="02040503050406030204" pitchFamily="18" charset="0"/>
                            </a:rPr>
                            <m:t>1</m:t>
                          </m:r>
                          <m:r>
                            <a:rPr lang="en-US" altLang="ko-KR" sz="1600" i="1">
                              <a:solidFill>
                                <a:prstClr val="black"/>
                              </a:solidFill>
                              <a:latin typeface="Cambria Math" panose="02040503050406030204" pitchFamily="18" charset="0"/>
                            </a:rPr>
                            <m:t>+</m:t>
                          </m:r>
                          <m:sSup>
                            <m:sSupPr>
                              <m:ctrlPr>
                                <a:rPr lang="ko-KR" altLang="ko-KR" sz="1600" i="1">
                                  <a:solidFill>
                                    <a:prstClr val="black"/>
                                  </a:solidFill>
                                  <a:latin typeface="Cambria Math" panose="02040503050406030204" pitchFamily="18" charset="0"/>
                                </a:rPr>
                              </m:ctrlPr>
                            </m:sSupPr>
                            <m:e>
                              <m:r>
                                <a:rPr lang="en-US" altLang="ko-KR" sz="1600" i="1">
                                  <a:solidFill>
                                    <a:prstClr val="black"/>
                                  </a:solidFill>
                                  <a:latin typeface="Cambria Math" panose="02040503050406030204" pitchFamily="18" charset="0"/>
                                </a:rPr>
                                <m:t>𝑒</m:t>
                              </m:r>
                            </m:e>
                            <m:sup>
                              <m:r>
                                <a:rPr lang="en-US" altLang="ko-KR" sz="1600" i="1">
                                  <a:solidFill>
                                    <a:prstClr val="black"/>
                                  </a:solidFill>
                                  <a:latin typeface="Cambria Math" panose="02040503050406030204" pitchFamily="18" charset="0"/>
                                </a:rPr>
                                <m:t> </m:t>
                              </m:r>
                              <m:r>
                                <a:rPr lang="en-US" altLang="ko-KR" sz="1600" i="1">
                                  <a:solidFill>
                                    <a:srgbClr val="193EB0"/>
                                  </a:solidFill>
                                  <a:latin typeface="Cambria Math" panose="02040503050406030204" pitchFamily="18" charset="0"/>
                                </a:rPr>
                                <m:t>𝑆</m:t>
                              </m:r>
                            </m:sup>
                          </m:sSup>
                        </m:den>
                      </m:f>
                    </m:oMath>
                  </m:oMathPara>
                </a14:m>
                <a:endParaRPr lang="en-US" altLang="ko-KR" sz="1600" dirty="0">
                  <a:solidFill>
                    <a:srgbClr val="193EB0"/>
                  </a:solidFill>
                  <a:latin typeface="Times New Roman" panose="02020603050405020304" pitchFamily="18" charset="0"/>
                  <a:cs typeface="Times New Roman" panose="02020603050405020304" pitchFamily="18" charset="0"/>
                </a:endParaRPr>
              </a:p>
            </p:txBody>
          </p:sp>
        </mc:Choice>
        <mc:Fallback xmlns="">
          <p:sp>
            <p:nvSpPr>
              <p:cNvPr id="11" name="직사각형 10">
                <a:extLst>
                  <a:ext uri="{FF2B5EF4-FFF2-40B4-BE49-F238E27FC236}">
                    <a16:creationId xmlns:a16="http://schemas.microsoft.com/office/drawing/2014/main" id="{5151EED4-6CF8-4EF7-BADC-A5EA3A161800}"/>
                  </a:ext>
                </a:extLst>
              </p:cNvPr>
              <p:cNvSpPr>
                <a:spLocks noRot="1" noChangeAspect="1" noMove="1" noResize="1" noEditPoints="1" noAdjustHandles="1" noChangeArrowheads="1" noChangeShapeType="1" noTextEdit="1"/>
              </p:cNvSpPr>
              <p:nvPr/>
            </p:nvSpPr>
            <p:spPr>
              <a:xfrm>
                <a:off x="2463715" y="3706331"/>
                <a:ext cx="1612585" cy="694677"/>
              </a:xfrm>
              <a:prstGeom prst="rect">
                <a:avLst/>
              </a:prstGeom>
              <a:blipFill>
                <a:blip r:embed="rId6"/>
                <a:stretch>
                  <a:fillRect/>
                </a:stretch>
              </a:blipFill>
              <a:ln>
                <a:noFill/>
              </a:ln>
            </p:spPr>
            <p:txBody>
              <a:bodyPr/>
              <a:lstStyle/>
              <a:p>
                <a:r>
                  <a:rPr lang="ko-KR" altLang="en-US">
                    <a:noFill/>
                  </a:rPr>
                  <a:t> </a:t>
                </a:r>
              </a:p>
            </p:txBody>
          </p:sp>
        </mc:Fallback>
      </mc:AlternateContent>
      <p:grpSp>
        <p:nvGrpSpPr>
          <p:cNvPr id="12" name="Group 1">
            <a:extLst>
              <a:ext uri="{FF2B5EF4-FFF2-40B4-BE49-F238E27FC236}">
                <a16:creationId xmlns:a16="http://schemas.microsoft.com/office/drawing/2014/main" id="{489EEDF8-8E01-4494-87BB-5C5A8D0A674B}"/>
              </a:ext>
            </a:extLst>
          </p:cNvPr>
          <p:cNvGrpSpPr>
            <a:grpSpLocks noChangeAspect="1"/>
          </p:cNvGrpSpPr>
          <p:nvPr/>
        </p:nvGrpSpPr>
        <p:grpSpPr>
          <a:xfrm>
            <a:off x="4942482" y="3501008"/>
            <a:ext cx="2840094" cy="1800000"/>
            <a:chOff x="3208281" y="1631297"/>
            <a:chExt cx="5680188" cy="3600000"/>
          </a:xfrm>
        </p:grpSpPr>
        <p:pic>
          <p:nvPicPr>
            <p:cNvPr id="13" name="Picture 7">
              <a:extLst>
                <a:ext uri="{FF2B5EF4-FFF2-40B4-BE49-F238E27FC236}">
                  <a16:creationId xmlns:a16="http://schemas.microsoft.com/office/drawing/2014/main" id="{7D509A30-CF6A-43E6-AC7F-13636E9EBE6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08281" y="1631297"/>
              <a:ext cx="5680188" cy="3600000"/>
            </a:xfrm>
            <a:prstGeom prst="rect">
              <a:avLst/>
            </a:prstGeom>
            <a:ln>
              <a:noFill/>
            </a:ln>
          </p:spPr>
        </p:pic>
        <p:sp>
          <p:nvSpPr>
            <p:cNvPr id="14" name="TextBox 13">
              <a:extLst>
                <a:ext uri="{FF2B5EF4-FFF2-40B4-BE49-F238E27FC236}">
                  <a16:creationId xmlns:a16="http://schemas.microsoft.com/office/drawing/2014/main" id="{6A954B2A-7B24-4DC9-9957-A046B306166A}"/>
                </a:ext>
              </a:extLst>
            </p:cNvPr>
            <p:cNvSpPr txBox="1"/>
            <p:nvPr/>
          </p:nvSpPr>
          <p:spPr>
            <a:xfrm>
              <a:off x="5875349" y="3061965"/>
              <a:ext cx="1053192" cy="615554"/>
            </a:xfrm>
            <a:prstGeom prst="rect">
              <a:avLst/>
            </a:prstGeom>
            <a:noFill/>
          </p:spPr>
          <p:txBody>
            <a:bodyPr wrap="square" rtlCol="0">
              <a:spAutoFit/>
              <a:scene3d>
                <a:camera prst="orthographicFront"/>
                <a:lightRig rig="threePt" dir="t"/>
              </a:scene3d>
              <a:sp3d>
                <a:bevelT w="0" h="6350"/>
              </a:sp3d>
            </a:bodyPr>
            <a:lstStyle/>
            <a:p>
              <a:pPr algn="ctr"/>
              <a:r>
                <a:rPr lang="en-US" sz="1400" dirty="0">
                  <a:latin typeface="Times New Roman" panose="02020603050405020304" pitchFamily="18" charset="0"/>
                  <a:cs typeface="Times New Roman" panose="02020603050405020304" pitchFamily="18" charset="0"/>
                </a:rPr>
                <a:t>0.5</a:t>
              </a:r>
            </a:p>
          </p:txBody>
        </p:sp>
      </p:grpSp>
    </p:spTree>
    <p:extLst>
      <p:ext uri="{BB962C8B-B14F-4D97-AF65-F5344CB8AC3E}">
        <p14:creationId xmlns:p14="http://schemas.microsoft.com/office/powerpoint/2010/main" val="186495977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logistic regression</a:t>
            </a:r>
          </a:p>
        </p:txBody>
      </p:sp>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If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𝑝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𝑝𝑟𝑜𝑏𝑎𝑏𝑖𝑙𝑖𝑡𝑦 𝑜𝑓 𝑌</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=1, we can define:</a:t>
            </a:r>
          </a:p>
        </p:txBody>
      </p:sp>
      <mc:AlternateContent xmlns:mc="http://schemas.openxmlformats.org/markup-compatibility/2006" xmlns:a14="http://schemas.microsoft.com/office/drawing/2010/main">
        <mc:Choice Requires="a14">
          <p:sp>
            <p:nvSpPr>
              <p:cNvPr id="9" name="직사각형 8">
                <a:extLst>
                  <a:ext uri="{FF2B5EF4-FFF2-40B4-BE49-F238E27FC236}">
                    <a16:creationId xmlns:a16="http://schemas.microsoft.com/office/drawing/2014/main" id="{B3D0A671-D538-44C0-9260-99F045BF90F5}"/>
                  </a:ext>
                </a:extLst>
              </p:cNvPr>
              <p:cNvSpPr/>
              <p:nvPr/>
            </p:nvSpPr>
            <p:spPr>
              <a:xfrm>
                <a:off x="848295" y="2092091"/>
                <a:ext cx="3221551" cy="142628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lvl="0">
                  <a:lnSpc>
                    <a:spcPct val="150000"/>
                  </a:lnSpc>
                </a:pPr>
                <a14:m>
                  <m:oMathPara xmlns:m="http://schemas.openxmlformats.org/officeDocument/2006/math">
                    <m:oMathParaPr>
                      <m:jc m:val="left"/>
                    </m:oMathParaPr>
                    <m:oMath xmlns:m="http://schemas.openxmlformats.org/officeDocument/2006/math">
                      <m:r>
                        <a:rPr lang="en-US" altLang="ko-KR" sz="1400" i="1" dirty="0" smtClean="0">
                          <a:solidFill>
                            <a:prstClr val="black"/>
                          </a:solidFill>
                          <a:latin typeface="Cambria Math" panose="02040503050406030204" pitchFamily="18" charset="0"/>
                          <a:cs typeface="Times New Roman" panose="02020603050405020304" pitchFamily="18" charset="0"/>
                        </a:rPr>
                        <m:t>𝑂𝑑𝑑𝑠</m:t>
                      </m:r>
                      <m:r>
                        <a:rPr lang="en-US" altLang="ko-KR" sz="1400" i="1" dirty="0" smtClean="0">
                          <a:solidFill>
                            <a:prstClr val="black"/>
                          </a:solidFill>
                          <a:latin typeface="Cambria Math" panose="02040503050406030204" pitchFamily="18" charset="0"/>
                          <a:cs typeface="Times New Roman" panose="02020603050405020304" pitchFamily="18" charset="0"/>
                        </a:rPr>
                        <m:t>=</m:t>
                      </m:r>
                      <m:f>
                        <m:fPr>
                          <m:ctrlPr>
                            <a:rPr lang="en-US" altLang="ko-KR" sz="1400" i="1" dirty="0">
                              <a:solidFill>
                                <a:prstClr val="black"/>
                              </a:solidFill>
                              <a:latin typeface="Cambria Math" panose="02040503050406030204" pitchFamily="18" charset="0"/>
                              <a:cs typeface="Times New Roman" panose="02020603050405020304" pitchFamily="18" charset="0"/>
                            </a:rPr>
                          </m:ctrlPr>
                        </m:fPr>
                        <m:num>
                          <m:r>
                            <a:rPr lang="en-US" altLang="ko-KR" sz="1400" i="1" dirty="0">
                              <a:solidFill>
                                <a:prstClr val="black"/>
                              </a:solidFill>
                              <a:latin typeface="Cambria Math" panose="02040503050406030204" pitchFamily="18" charset="0"/>
                              <a:cs typeface="Times New Roman" panose="02020603050405020304" pitchFamily="18" charset="0"/>
                            </a:rPr>
                            <m:t>𝑝</m:t>
                          </m:r>
                        </m:num>
                        <m:den>
                          <m:r>
                            <a:rPr lang="en-US" altLang="ko-KR" sz="1400" i="1" dirty="0">
                              <a:solidFill>
                                <a:prstClr val="black"/>
                              </a:solidFill>
                              <a:latin typeface="Cambria Math" panose="02040503050406030204" pitchFamily="18" charset="0"/>
                              <a:cs typeface="Times New Roman" panose="02020603050405020304" pitchFamily="18" charset="0"/>
                            </a:rPr>
                            <m:t>1−</m:t>
                          </m:r>
                          <m:r>
                            <a:rPr lang="en-US" altLang="ko-KR" sz="1400" i="1" dirty="0">
                              <a:solidFill>
                                <a:prstClr val="black"/>
                              </a:solidFill>
                              <a:latin typeface="Cambria Math" panose="02040503050406030204" pitchFamily="18" charset="0"/>
                              <a:cs typeface="Times New Roman" panose="02020603050405020304" pitchFamily="18" charset="0"/>
                            </a:rPr>
                            <m:t>𝑝</m:t>
                          </m:r>
                        </m:den>
                      </m:f>
                      <m:r>
                        <m:rPr>
                          <m:nor/>
                        </m:rPr>
                        <a:rPr lang="en-US" altLang="ko-KR" sz="1400" dirty="0">
                          <a:solidFill>
                            <a:prstClr val="black"/>
                          </a:solidFill>
                          <a:latin typeface="Times New Roman" panose="02020603050405020304" pitchFamily="18" charset="0"/>
                          <a:cs typeface="Times New Roman" panose="02020603050405020304" pitchFamily="18" charset="0"/>
                        </a:rPr>
                        <m:t> </m:t>
                      </m:r>
                    </m:oMath>
                  </m:oMathPara>
                </a14:m>
                <a:endParaRPr lang="en-US" altLang="ko-KR" sz="1400" dirty="0">
                  <a:solidFill>
                    <a:prstClr val="black"/>
                  </a:solidFill>
                  <a:latin typeface="Times New Roman" panose="02020603050405020304" pitchFamily="18" charset="0"/>
                  <a:cs typeface="Times New Roman" panose="02020603050405020304" pitchFamily="18" charset="0"/>
                </a:endParaRPr>
              </a:p>
              <a:p>
                <a:pPr lvl="0">
                  <a:lnSpc>
                    <a:spcPct val="150000"/>
                  </a:lnSpc>
                </a:pPr>
                <a14:m>
                  <m:oMathPara xmlns:m="http://schemas.openxmlformats.org/officeDocument/2006/math">
                    <m:oMathParaPr>
                      <m:jc m:val="left"/>
                    </m:oMathParaPr>
                    <m:oMath xmlns:m="http://schemas.openxmlformats.org/officeDocument/2006/math">
                      <m:r>
                        <a:rPr lang="en-US" altLang="ko-KR" sz="1400" i="1" dirty="0">
                          <a:solidFill>
                            <a:prstClr val="black"/>
                          </a:solidFill>
                          <a:latin typeface="Cambria Math" panose="02040503050406030204" pitchFamily="18" charset="0"/>
                          <a:cs typeface="Times New Roman" panose="02020603050405020304" pitchFamily="18" charset="0"/>
                        </a:rPr>
                        <m:t>𝐿𝑜𝑔𝑖𝑡</m:t>
                      </m:r>
                      <m:r>
                        <a:rPr lang="en-US" altLang="ko-KR" sz="1400" i="1" dirty="0">
                          <a:solidFill>
                            <a:prstClr val="black"/>
                          </a:solidFill>
                          <a:latin typeface="Cambria Math" panose="02040503050406030204" pitchFamily="18" charset="0"/>
                          <a:cs typeface="Times New Roman" panose="02020603050405020304" pitchFamily="18" charset="0"/>
                        </a:rPr>
                        <m:t> = </m:t>
                      </m:r>
                      <m:r>
                        <a:rPr lang="en-US" altLang="ko-KR" sz="1400" i="1" dirty="0">
                          <a:solidFill>
                            <a:prstClr val="black"/>
                          </a:solidFill>
                          <a:latin typeface="Cambria Math" panose="02040503050406030204" pitchFamily="18" charset="0"/>
                          <a:cs typeface="Times New Roman" panose="02020603050405020304" pitchFamily="18" charset="0"/>
                        </a:rPr>
                        <m:t>𝐿𝑜𝑔</m:t>
                      </m:r>
                      <m:r>
                        <a:rPr lang="en-US" altLang="ko-KR" sz="1400" i="1" dirty="0">
                          <a:solidFill>
                            <a:prstClr val="black"/>
                          </a:solidFill>
                          <a:latin typeface="Cambria Math" panose="02040503050406030204" pitchFamily="18" charset="0"/>
                          <a:cs typeface="Times New Roman" panose="02020603050405020304" pitchFamily="18" charset="0"/>
                        </a:rPr>
                        <m:t>(</m:t>
                      </m:r>
                      <m:r>
                        <a:rPr lang="en-US" altLang="ko-KR" sz="1400" i="1" dirty="0">
                          <a:solidFill>
                            <a:prstClr val="black"/>
                          </a:solidFill>
                          <a:latin typeface="Cambria Math" panose="02040503050406030204" pitchFamily="18" charset="0"/>
                          <a:cs typeface="Times New Roman" panose="02020603050405020304" pitchFamily="18" charset="0"/>
                        </a:rPr>
                        <m:t>𝑂𝑑𝑑𝑠</m:t>
                      </m:r>
                      <m:r>
                        <a:rPr lang="en-US" altLang="ko-KR" sz="1400" i="1" dirty="0">
                          <a:solidFill>
                            <a:prstClr val="black"/>
                          </a:solidFill>
                          <a:latin typeface="Cambria Math" panose="02040503050406030204" pitchFamily="18" charset="0"/>
                          <a:cs typeface="Times New Roman" panose="02020603050405020304" pitchFamily="18" charset="0"/>
                        </a:rPr>
                        <m:t>)=</m:t>
                      </m:r>
                      <m:r>
                        <a:rPr lang="en-US" altLang="ko-KR" sz="1400" i="1" dirty="0">
                          <a:solidFill>
                            <a:prstClr val="black"/>
                          </a:solidFill>
                          <a:latin typeface="Cambria Math" panose="02040503050406030204" pitchFamily="18" charset="0"/>
                          <a:cs typeface="Times New Roman" panose="02020603050405020304" pitchFamily="18" charset="0"/>
                        </a:rPr>
                        <m:t>𝐿𝑜𝑔</m:t>
                      </m:r>
                      <m:d>
                        <m:dPr>
                          <m:ctrlPr>
                            <a:rPr lang="en-US" altLang="ko-KR" sz="1400" i="1" dirty="0">
                              <a:solidFill>
                                <a:prstClr val="black"/>
                              </a:solidFill>
                              <a:latin typeface="Cambria Math" panose="02040503050406030204" pitchFamily="18" charset="0"/>
                              <a:cs typeface="Times New Roman" panose="02020603050405020304" pitchFamily="18" charset="0"/>
                            </a:rPr>
                          </m:ctrlPr>
                        </m:dPr>
                        <m:e>
                          <m:f>
                            <m:fPr>
                              <m:ctrlPr>
                                <a:rPr lang="en-US" altLang="ko-KR" sz="1400" i="1" dirty="0">
                                  <a:solidFill>
                                    <a:prstClr val="black"/>
                                  </a:solidFill>
                                  <a:latin typeface="Cambria Math" panose="02040503050406030204" pitchFamily="18" charset="0"/>
                                  <a:cs typeface="Times New Roman" panose="02020603050405020304" pitchFamily="18" charset="0"/>
                                </a:rPr>
                              </m:ctrlPr>
                            </m:fPr>
                            <m:num>
                              <m:r>
                                <a:rPr lang="en-US" altLang="ko-KR" sz="1400" i="1" dirty="0">
                                  <a:solidFill>
                                    <a:prstClr val="black"/>
                                  </a:solidFill>
                                  <a:latin typeface="Cambria Math" panose="02040503050406030204" pitchFamily="18" charset="0"/>
                                  <a:cs typeface="Times New Roman" panose="02020603050405020304" pitchFamily="18" charset="0"/>
                                </a:rPr>
                                <m:t>𝑝</m:t>
                              </m:r>
                            </m:num>
                            <m:den>
                              <m:r>
                                <a:rPr lang="en-US" altLang="ko-KR" sz="1400" i="1" dirty="0">
                                  <a:solidFill>
                                    <a:prstClr val="black"/>
                                  </a:solidFill>
                                  <a:latin typeface="Cambria Math" panose="02040503050406030204" pitchFamily="18" charset="0"/>
                                  <a:cs typeface="Times New Roman" panose="02020603050405020304" pitchFamily="18" charset="0"/>
                                </a:rPr>
                                <m:t>1−</m:t>
                              </m:r>
                              <m:r>
                                <a:rPr lang="en-US" altLang="ko-KR" sz="1400" i="1" dirty="0">
                                  <a:solidFill>
                                    <a:prstClr val="black"/>
                                  </a:solidFill>
                                  <a:latin typeface="Cambria Math" panose="02040503050406030204" pitchFamily="18" charset="0"/>
                                  <a:cs typeface="Times New Roman" panose="02020603050405020304" pitchFamily="18" charset="0"/>
                                </a:rPr>
                                <m:t>𝑝</m:t>
                              </m:r>
                            </m:den>
                          </m:f>
                        </m:e>
                      </m:d>
                      <m:r>
                        <m:rPr>
                          <m:nor/>
                        </m:rPr>
                        <a:rPr lang="en-US" altLang="ko-KR" sz="1400" dirty="0">
                          <a:solidFill>
                            <a:prstClr val="black"/>
                          </a:solidFill>
                          <a:latin typeface="Times New Roman" panose="02020603050405020304" pitchFamily="18" charset="0"/>
                          <a:cs typeface="Times New Roman" panose="02020603050405020304" pitchFamily="18" charset="0"/>
                        </a:rPr>
                        <m:t> </m:t>
                      </m:r>
                    </m:oMath>
                  </m:oMathPara>
                </a14:m>
                <a:endParaRPr lang="en-US" altLang="ko-KR" sz="1400" dirty="0">
                  <a:solidFill>
                    <a:srgbClr val="193EB0"/>
                  </a:solidFill>
                  <a:latin typeface="Times New Roman" panose="02020603050405020304" pitchFamily="18" charset="0"/>
                  <a:cs typeface="Times New Roman" panose="02020603050405020304" pitchFamily="18" charset="0"/>
                </a:endParaRPr>
              </a:p>
            </p:txBody>
          </p:sp>
        </mc:Choice>
        <mc:Fallback xmlns="">
          <p:sp>
            <p:nvSpPr>
              <p:cNvPr id="9" name="직사각형 8">
                <a:extLst>
                  <a:ext uri="{FF2B5EF4-FFF2-40B4-BE49-F238E27FC236}">
                    <a16:creationId xmlns:a16="http://schemas.microsoft.com/office/drawing/2014/main" xmlns="" xmlns:a14="http://schemas.microsoft.com/office/drawing/2010/main" id="{B3D0A671-D538-44C0-9260-99F045BF90F5}"/>
                  </a:ext>
                </a:extLst>
              </p:cNvPr>
              <p:cNvSpPr>
                <a:spLocks noRot="1" noChangeAspect="1" noMove="1" noResize="1" noEditPoints="1" noAdjustHandles="1" noChangeArrowheads="1" noChangeShapeType="1" noTextEdit="1"/>
              </p:cNvSpPr>
              <p:nvPr/>
            </p:nvSpPr>
            <p:spPr>
              <a:xfrm>
                <a:off x="848295" y="2092091"/>
                <a:ext cx="3221551" cy="1426288"/>
              </a:xfrm>
              <a:prstGeom prst="rect">
                <a:avLst/>
              </a:prstGeom>
              <a:blipFill rotWithShape="0">
                <a:blip r:embed="rId4"/>
                <a:stretch>
                  <a:fillRect/>
                </a:stretch>
              </a:blipFill>
              <a:ln>
                <a:noFill/>
              </a:ln>
            </p:spPr>
            <p:txBody>
              <a:bodyPr/>
              <a:lstStyle/>
              <a:p>
                <a:r>
                  <a:rPr lang="ko-KR" altLang="en-US">
                    <a:noFill/>
                  </a:rPr>
                  <a:t> </a:t>
                </a:r>
              </a:p>
            </p:txBody>
          </p:sp>
        </mc:Fallback>
      </mc:AlternateContent>
      <p:sp>
        <p:nvSpPr>
          <p:cNvPr id="10" name="직사각형 9">
            <a:extLst>
              <a:ext uri="{FF2B5EF4-FFF2-40B4-BE49-F238E27FC236}">
                <a16:creationId xmlns:a16="http://schemas.microsoft.com/office/drawing/2014/main" id="{D5EA7943-CA9A-490E-B677-07C75A61272A}"/>
              </a:ext>
            </a:extLst>
          </p:cNvPr>
          <p:cNvSpPr/>
          <p:nvPr/>
        </p:nvSpPr>
        <p:spPr>
          <a:xfrm>
            <a:off x="671261" y="3718515"/>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0"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logistic function is the inverse of the logit (and vice versa):</a:t>
            </a:r>
          </a:p>
        </p:txBody>
      </p:sp>
      <p:grpSp>
        <p:nvGrpSpPr>
          <p:cNvPr id="3" name="그룹 2">
            <a:extLst>
              <a:ext uri="{FF2B5EF4-FFF2-40B4-BE49-F238E27FC236}">
                <a16:creationId xmlns:a16="http://schemas.microsoft.com/office/drawing/2014/main" id="{BAF1E8F0-2AF2-41BE-A5BF-119B4FB3E643}"/>
              </a:ext>
            </a:extLst>
          </p:cNvPr>
          <p:cNvGrpSpPr/>
          <p:nvPr/>
        </p:nvGrpSpPr>
        <p:grpSpPr>
          <a:xfrm>
            <a:off x="3035723" y="4221088"/>
            <a:ext cx="3831378" cy="645561"/>
            <a:chOff x="2791172" y="4574292"/>
            <a:chExt cx="3831378" cy="645561"/>
          </a:xfrm>
        </p:grpSpPr>
        <mc:AlternateContent xmlns:mc="http://schemas.openxmlformats.org/markup-compatibility/2006" xmlns:a14="http://schemas.microsoft.com/office/drawing/2010/main">
          <mc:Choice Requires="a14">
            <p:sp>
              <p:nvSpPr>
                <p:cNvPr id="11" name="직사각형 10">
                  <a:extLst>
                    <a:ext uri="{FF2B5EF4-FFF2-40B4-BE49-F238E27FC236}">
                      <a16:creationId xmlns:a16="http://schemas.microsoft.com/office/drawing/2014/main" id="{5151EED4-6CF8-4EF7-BADC-A5EA3A161800}"/>
                    </a:ext>
                  </a:extLst>
                </p:cNvPr>
                <p:cNvSpPr/>
                <p:nvPr/>
              </p:nvSpPr>
              <p:spPr>
                <a:xfrm>
                  <a:off x="2791172" y="4574292"/>
                  <a:ext cx="1809626" cy="64556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lgn="ctr" latinLnBrk="1"/>
                  <a14:m>
                    <m:oMathPara xmlns:m="http://schemas.openxmlformats.org/officeDocument/2006/math">
                      <m:oMathParaPr>
                        <m:jc m:val="right"/>
                      </m:oMathParaPr>
                      <m:oMath xmlns:m="http://schemas.openxmlformats.org/officeDocument/2006/math">
                        <m:r>
                          <a:rPr lang="en-US" altLang="ko-KR" sz="1600" dirty="0" smtClean="0">
                            <a:solidFill>
                              <a:srgbClr val="1429A0"/>
                            </a:solidFill>
                            <a:latin typeface="Cambria Math" panose="02040503050406030204" pitchFamily="18" charset="0"/>
                          </a:rPr>
                          <m:t>𝑆</m:t>
                        </m:r>
                        <m:r>
                          <a:rPr lang="en-US" altLang="ko-KR" sz="1600" dirty="0" smtClean="0">
                            <a:solidFill>
                              <a:schemeClr val="tx1"/>
                            </a:solidFill>
                            <a:latin typeface="Cambria Math" panose="02040503050406030204" pitchFamily="18" charset="0"/>
                          </a:rPr>
                          <m:t>=</m:t>
                        </m:r>
                        <m:r>
                          <a:rPr lang="en-US" altLang="ko-KR" sz="1600" dirty="0" smtClean="0">
                            <a:solidFill>
                              <a:schemeClr val="tx1"/>
                            </a:solidFill>
                            <a:latin typeface="Cambria Math" panose="02040503050406030204" pitchFamily="18" charset="0"/>
                          </a:rPr>
                          <m:t>𝐿𝑜𝑔</m:t>
                        </m:r>
                        <m:d>
                          <m:dPr>
                            <m:ctrlPr>
                              <a:rPr lang="en-US" altLang="ko-KR" sz="1600" i="1" dirty="0">
                                <a:solidFill>
                                  <a:schemeClr val="tx1"/>
                                </a:solidFill>
                                <a:latin typeface="Cambria Math" panose="02040503050406030204" pitchFamily="18" charset="0"/>
                              </a:rPr>
                            </m:ctrlPr>
                          </m:dPr>
                          <m:e>
                            <m:f>
                              <m:fPr>
                                <m:ctrlPr>
                                  <a:rPr lang="en-US" altLang="ko-KR" sz="1600" i="1" dirty="0">
                                    <a:solidFill>
                                      <a:schemeClr val="tx1"/>
                                    </a:solidFill>
                                    <a:latin typeface="Cambria Math" panose="02040503050406030204" pitchFamily="18" charset="0"/>
                                  </a:rPr>
                                </m:ctrlPr>
                              </m:fPr>
                              <m:num>
                                <m:r>
                                  <a:rPr lang="en-US" altLang="ko-KR" sz="1600" i="1" smtClean="0">
                                    <a:solidFill>
                                      <a:srgbClr val="FF0000"/>
                                    </a:solidFill>
                                    <a:latin typeface="Cambria Math" panose="02040503050406030204" pitchFamily="18" charset="0"/>
                                  </a:rPr>
                                  <m:t>𝑝</m:t>
                                </m:r>
                              </m:num>
                              <m:den>
                                <m:r>
                                  <a:rPr lang="en-US" altLang="ko-KR" sz="1600" dirty="0">
                                    <a:solidFill>
                                      <a:schemeClr val="tx1"/>
                                    </a:solidFill>
                                    <a:latin typeface="Cambria Math" panose="02040503050406030204" pitchFamily="18" charset="0"/>
                                  </a:rPr>
                                  <m:t>1−</m:t>
                                </m:r>
                                <m:r>
                                  <a:rPr lang="en-US" altLang="ko-KR" sz="1600" i="1" smtClean="0">
                                    <a:solidFill>
                                      <a:srgbClr val="FF0000"/>
                                    </a:solidFill>
                                    <a:latin typeface="Cambria Math" panose="02040503050406030204" pitchFamily="18" charset="0"/>
                                  </a:rPr>
                                  <m:t>𝑝</m:t>
                                </m:r>
                              </m:den>
                            </m:f>
                          </m:e>
                        </m:d>
                      </m:oMath>
                    </m:oMathPara>
                  </a14:m>
                  <a:endParaRPr lang="ko-KR" altLang="en-US" sz="1600" dirty="0">
                    <a:solidFill>
                      <a:schemeClr val="tx1"/>
                    </a:solidFill>
                  </a:endParaRPr>
                </a:p>
              </p:txBody>
            </p:sp>
          </mc:Choice>
          <mc:Fallback xmlns="">
            <p:sp>
              <p:nvSpPr>
                <p:cNvPr id="11" name="직사각형 10">
                  <a:extLst>
                    <a:ext uri="{FF2B5EF4-FFF2-40B4-BE49-F238E27FC236}">
                      <a16:creationId xmlns:a16="http://schemas.microsoft.com/office/drawing/2014/main" id="{5151EED4-6CF8-4EF7-BADC-A5EA3A161800}"/>
                    </a:ext>
                  </a:extLst>
                </p:cNvPr>
                <p:cNvSpPr>
                  <a:spLocks noRot="1" noChangeAspect="1" noMove="1" noResize="1" noEditPoints="1" noAdjustHandles="1" noChangeArrowheads="1" noChangeShapeType="1" noTextEdit="1"/>
                </p:cNvSpPr>
                <p:nvPr/>
              </p:nvSpPr>
              <p:spPr>
                <a:xfrm>
                  <a:off x="2791172" y="4574292"/>
                  <a:ext cx="1809626" cy="645561"/>
                </a:xfrm>
                <a:prstGeom prst="rect">
                  <a:avLst/>
                </a:prstGeom>
                <a:blipFill>
                  <a:blip r:embed="rId5"/>
                  <a:stretch>
                    <a:fillRect/>
                  </a:stretch>
                </a:blipFill>
                <a:ln>
                  <a:noFill/>
                </a:ln>
              </p:spPr>
              <p:txBody>
                <a:bodyPr/>
                <a:lstStyle/>
                <a:p>
                  <a:r>
                    <a:rPr lang="ko-KR" altLang="en-US">
                      <a:noFill/>
                    </a:rPr>
                    <a:t> </a:t>
                  </a:r>
                </a:p>
              </p:txBody>
            </p:sp>
          </mc:Fallback>
        </mc:AlternateContent>
        <p:sp>
          <p:nvSpPr>
            <p:cNvPr id="2" name="화살표: 왼쪽/오른쪽 1">
              <a:extLst>
                <a:ext uri="{FF2B5EF4-FFF2-40B4-BE49-F238E27FC236}">
                  <a16:creationId xmlns:a16="http://schemas.microsoft.com/office/drawing/2014/main" id="{9FA9DEC5-97B2-4BFD-9E0E-E8937BBC0BF2}"/>
                </a:ext>
              </a:extLst>
            </p:cNvPr>
            <p:cNvSpPr/>
            <p:nvPr/>
          </p:nvSpPr>
          <p:spPr>
            <a:xfrm>
              <a:off x="4792325" y="4807062"/>
              <a:ext cx="318173" cy="180020"/>
            </a:xfrm>
            <a:prstGeom prst="leftRightArrow">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5" name="직사각형 14">
                  <a:extLst>
                    <a:ext uri="{FF2B5EF4-FFF2-40B4-BE49-F238E27FC236}">
                      <a16:creationId xmlns:a16="http://schemas.microsoft.com/office/drawing/2014/main" id="{DAC93325-719D-4210-AC31-02131CDBCB7A}"/>
                    </a:ext>
                  </a:extLst>
                </p:cNvPr>
                <p:cNvSpPr/>
                <p:nvPr/>
              </p:nvSpPr>
              <p:spPr>
                <a:xfrm>
                  <a:off x="5300045" y="4601030"/>
                  <a:ext cx="1322505" cy="5920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lgn="ctr" latinLnBrk="1"/>
                  <a14:m>
                    <m:oMathPara xmlns:m="http://schemas.openxmlformats.org/officeDocument/2006/math">
                      <m:oMathParaPr>
                        <m:jc m:val="right"/>
                      </m:oMathParaPr>
                      <m:oMath xmlns:m="http://schemas.openxmlformats.org/officeDocument/2006/math">
                        <m:r>
                          <a:rPr lang="en-US" altLang="ko-KR" sz="1600" i="1" smtClean="0">
                            <a:solidFill>
                              <a:srgbClr val="FF0000"/>
                            </a:solidFill>
                            <a:latin typeface="Cambria Math" panose="02040503050406030204" pitchFamily="18" charset="0"/>
                          </a:rPr>
                          <m:t>𝑝</m:t>
                        </m:r>
                        <m:r>
                          <a:rPr lang="en-US" altLang="ko-KR" sz="1600" i="1">
                            <a:solidFill>
                              <a:schemeClr val="tx1"/>
                            </a:solidFill>
                            <a:latin typeface="Cambria Math" panose="02040503050406030204" pitchFamily="18" charset="0"/>
                          </a:rPr>
                          <m:t>=</m:t>
                        </m:r>
                        <m:f>
                          <m:fPr>
                            <m:ctrlPr>
                              <a:rPr lang="ko-KR" altLang="ko-KR" sz="1600" i="1">
                                <a:solidFill>
                                  <a:schemeClr val="tx1"/>
                                </a:solidFill>
                                <a:latin typeface="Cambria Math" panose="02040503050406030204" pitchFamily="18" charset="0"/>
                              </a:rPr>
                            </m:ctrlPr>
                          </m:fPr>
                          <m:num>
                            <m:sSup>
                              <m:sSupPr>
                                <m:ctrlPr>
                                  <a:rPr lang="ko-KR" altLang="ko-KR" sz="1600" i="1">
                                    <a:solidFill>
                                      <a:schemeClr val="tx1"/>
                                    </a:solidFill>
                                    <a:latin typeface="Cambria Math" panose="02040503050406030204" pitchFamily="18" charset="0"/>
                                  </a:rPr>
                                </m:ctrlPr>
                              </m:sSupPr>
                              <m:e>
                                <m:r>
                                  <a:rPr lang="en-US" altLang="ko-KR" sz="1600" i="1">
                                    <a:solidFill>
                                      <a:schemeClr val="tx1"/>
                                    </a:solidFill>
                                    <a:latin typeface="Cambria Math" panose="02040503050406030204" pitchFamily="18" charset="0"/>
                                  </a:rPr>
                                  <m:t>𝑒</m:t>
                                </m:r>
                              </m:e>
                              <m:sup>
                                <m:r>
                                  <a:rPr lang="en-US" altLang="ko-KR" sz="1600" i="1">
                                    <a:solidFill>
                                      <a:schemeClr val="tx1"/>
                                    </a:solidFill>
                                    <a:latin typeface="Cambria Math" panose="02040503050406030204" pitchFamily="18" charset="0"/>
                                  </a:rPr>
                                  <m:t> </m:t>
                                </m:r>
                                <m:r>
                                  <a:rPr lang="en-US" altLang="ko-KR" sz="1600" i="1" smtClean="0">
                                    <a:solidFill>
                                      <a:srgbClr val="1429A0"/>
                                    </a:solidFill>
                                    <a:latin typeface="Cambria Math" panose="02040503050406030204" pitchFamily="18" charset="0"/>
                                  </a:rPr>
                                  <m:t>𝑆</m:t>
                                </m:r>
                              </m:sup>
                            </m:sSup>
                          </m:num>
                          <m:den>
                            <m:r>
                              <a:rPr lang="en-US" altLang="ko-KR" sz="1600" i="1">
                                <a:solidFill>
                                  <a:schemeClr val="tx1"/>
                                </a:solidFill>
                                <a:latin typeface="Cambria Math" panose="02040503050406030204" pitchFamily="18" charset="0"/>
                              </a:rPr>
                              <m:t>1+</m:t>
                            </m:r>
                            <m:sSup>
                              <m:sSupPr>
                                <m:ctrlPr>
                                  <a:rPr lang="ko-KR" altLang="ko-KR" sz="1600" i="1">
                                    <a:solidFill>
                                      <a:schemeClr val="tx1"/>
                                    </a:solidFill>
                                    <a:latin typeface="Cambria Math" panose="02040503050406030204" pitchFamily="18" charset="0"/>
                                  </a:rPr>
                                </m:ctrlPr>
                              </m:sSupPr>
                              <m:e>
                                <m:r>
                                  <a:rPr lang="en-US" altLang="ko-KR" sz="1600" i="1">
                                    <a:solidFill>
                                      <a:schemeClr val="tx1"/>
                                    </a:solidFill>
                                    <a:latin typeface="Cambria Math" panose="02040503050406030204" pitchFamily="18" charset="0"/>
                                  </a:rPr>
                                  <m:t>𝑒</m:t>
                                </m:r>
                              </m:e>
                              <m:sup>
                                <m:r>
                                  <a:rPr lang="en-US" altLang="ko-KR" sz="1600" i="1">
                                    <a:solidFill>
                                      <a:schemeClr val="tx1"/>
                                    </a:solidFill>
                                    <a:latin typeface="Cambria Math" panose="02040503050406030204" pitchFamily="18" charset="0"/>
                                  </a:rPr>
                                  <m:t> </m:t>
                                </m:r>
                                <m:r>
                                  <a:rPr lang="en-US" altLang="ko-KR" sz="1600" i="1" smtClean="0">
                                    <a:solidFill>
                                      <a:srgbClr val="1429A0"/>
                                    </a:solidFill>
                                    <a:latin typeface="Cambria Math" panose="02040503050406030204" pitchFamily="18" charset="0"/>
                                  </a:rPr>
                                  <m:t>𝑆</m:t>
                                </m:r>
                              </m:sup>
                            </m:sSup>
                          </m:den>
                        </m:f>
                      </m:oMath>
                    </m:oMathPara>
                  </a14:m>
                  <a:endParaRPr lang="ko-KR" altLang="en-US" sz="1600" dirty="0">
                    <a:solidFill>
                      <a:schemeClr val="tx1"/>
                    </a:solidFill>
                  </a:endParaRPr>
                </a:p>
              </p:txBody>
            </p:sp>
          </mc:Choice>
          <mc:Fallback xmlns="">
            <p:sp>
              <p:nvSpPr>
                <p:cNvPr id="15" name="직사각형 14">
                  <a:extLst>
                    <a:ext uri="{FF2B5EF4-FFF2-40B4-BE49-F238E27FC236}">
                      <a16:creationId xmlns:a16="http://schemas.microsoft.com/office/drawing/2014/main" id="{DAC93325-719D-4210-AC31-02131CDBCB7A}"/>
                    </a:ext>
                  </a:extLst>
                </p:cNvPr>
                <p:cNvSpPr>
                  <a:spLocks noRot="1" noChangeAspect="1" noMove="1" noResize="1" noEditPoints="1" noAdjustHandles="1" noChangeArrowheads="1" noChangeShapeType="1" noTextEdit="1"/>
                </p:cNvSpPr>
                <p:nvPr/>
              </p:nvSpPr>
              <p:spPr>
                <a:xfrm>
                  <a:off x="5300045" y="4601030"/>
                  <a:ext cx="1322505" cy="592085"/>
                </a:xfrm>
                <a:prstGeom prst="rect">
                  <a:avLst/>
                </a:prstGeom>
                <a:blipFill>
                  <a:blip r:embed="rId6"/>
                  <a:stretch>
                    <a:fillRect/>
                  </a:stretch>
                </a:blipFill>
                <a:ln>
                  <a:noFill/>
                </a:ln>
              </p:spPr>
              <p:txBody>
                <a:bodyPr/>
                <a:lstStyle/>
                <a:p>
                  <a:r>
                    <a:rPr lang="ko-KR" altLang="en-US">
                      <a:noFill/>
                    </a:rPr>
                    <a:t> </a:t>
                  </a:r>
                </a:p>
              </p:txBody>
            </p:sp>
          </mc:Fallback>
        </mc:AlternateContent>
      </p:grpSp>
    </p:spTree>
    <p:extLst>
      <p:ext uri="{BB962C8B-B14F-4D97-AF65-F5344CB8AC3E}">
        <p14:creationId xmlns:p14="http://schemas.microsoft.com/office/powerpoint/2010/main" val="7790720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logistic regression</a:t>
            </a:r>
          </a:p>
        </p:txBody>
      </p:sp>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16483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For logistic regression, the categories of objective variable (Y) to be predicted are 0 and 1 (binomial logistic regression model). The possibility of the objective variable Y category becoming 1 is expressed as p(Y=1) = P(Y). Start by expressing the description as a regression equation. The left side of the equation is commonly referred to as ’odds.’</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‘odds’ signify dividend rate, which categorizes into success/failure probabilities. If the success probability is high, it becomes 1; if it is low, it becomes 0. In other words, it is a success rate.</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Adding a log to odds becomes logit, and this function is logistic.</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5BE9C5E-018B-4617-AEA6-AB21C3EE6760}"/>
                  </a:ext>
                </a:extLst>
              </p:cNvPr>
              <p:cNvSpPr txBox="1"/>
              <p:nvPr/>
            </p:nvSpPr>
            <p:spPr>
              <a:xfrm>
                <a:off x="3617635" y="3258262"/>
                <a:ext cx="2365676" cy="64350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f>
                        <m:fPr>
                          <m:ctrlPr>
                            <a:rPr lang="en-US" sz="1400" i="1" smtClean="0">
                              <a:solidFill>
                                <a:schemeClr val="tx1">
                                  <a:lumMod val="85000"/>
                                  <a:lumOff val="15000"/>
                                </a:schemeClr>
                              </a:solidFill>
                              <a:latin typeface="Cambria Math" panose="02040503050406030204" pitchFamily="18" charset="0"/>
                            </a:rPr>
                          </m:ctrlPr>
                        </m:fPr>
                        <m:num>
                          <m:r>
                            <a:rPr lang="en-US" sz="1400">
                              <a:solidFill>
                                <a:schemeClr val="tx1">
                                  <a:lumMod val="85000"/>
                                  <a:lumOff val="15000"/>
                                </a:schemeClr>
                              </a:solidFill>
                              <a:latin typeface="Cambria Math" panose="02040503050406030204" pitchFamily="18" charset="0"/>
                            </a:rPr>
                            <m:t>𝑃</m:t>
                          </m:r>
                          <m:r>
                            <a:rPr lang="en-US" sz="1400">
                              <a:solidFill>
                                <a:schemeClr val="tx1">
                                  <a:lumMod val="85000"/>
                                  <a:lumOff val="15000"/>
                                </a:schemeClr>
                              </a:solidFill>
                              <a:latin typeface="Cambria Math" panose="02040503050406030204" pitchFamily="18" charset="0"/>
                            </a:rPr>
                            <m:t>(</m:t>
                          </m:r>
                          <m:r>
                            <a:rPr lang="en-US" sz="1400">
                              <a:solidFill>
                                <a:schemeClr val="tx1">
                                  <a:lumMod val="85000"/>
                                  <a:lumOff val="15000"/>
                                </a:schemeClr>
                              </a:solidFill>
                              <a:latin typeface="Cambria Math" panose="02040503050406030204" pitchFamily="18" charset="0"/>
                            </a:rPr>
                            <m:t>𝑌</m:t>
                          </m:r>
                          <m:r>
                            <a:rPr lang="en-US" sz="1400">
                              <a:solidFill>
                                <a:schemeClr val="tx1">
                                  <a:lumMod val="85000"/>
                                  <a:lumOff val="15000"/>
                                </a:schemeClr>
                              </a:solidFill>
                              <a:latin typeface="Cambria Math" panose="02040503050406030204" pitchFamily="18" charset="0"/>
                            </a:rPr>
                            <m:t>)</m:t>
                          </m:r>
                        </m:num>
                        <m:den>
                          <m:r>
                            <a:rPr lang="en-US" sz="1400">
                              <a:solidFill>
                                <a:schemeClr val="tx1">
                                  <a:lumMod val="85000"/>
                                  <a:lumOff val="15000"/>
                                </a:schemeClr>
                              </a:solidFill>
                              <a:latin typeface="Cambria Math" panose="02040503050406030204" pitchFamily="18" charset="0"/>
                            </a:rPr>
                            <m:t>1</m:t>
                          </m:r>
                          <m:r>
                            <a:rPr lang="en-US" sz="1400">
                              <a:solidFill>
                                <a:schemeClr val="tx1">
                                  <a:lumMod val="85000"/>
                                  <a:lumOff val="15000"/>
                                </a:schemeClr>
                              </a:solidFill>
                              <a:latin typeface="Cambria Math" panose="02040503050406030204" pitchFamily="18" charset="0"/>
                            </a:rPr>
                            <m:t>−</m:t>
                          </m:r>
                          <m:r>
                            <a:rPr lang="en-US" sz="1400">
                              <a:solidFill>
                                <a:schemeClr val="tx1">
                                  <a:lumMod val="85000"/>
                                  <a:lumOff val="15000"/>
                                </a:schemeClr>
                              </a:solidFill>
                              <a:latin typeface="Cambria Math" panose="02040503050406030204" pitchFamily="18" charset="0"/>
                            </a:rPr>
                            <m:t>𝑃</m:t>
                          </m:r>
                          <m:r>
                            <a:rPr lang="en-US" sz="1400">
                              <a:solidFill>
                                <a:schemeClr val="tx1">
                                  <a:lumMod val="85000"/>
                                  <a:lumOff val="15000"/>
                                </a:schemeClr>
                              </a:solidFill>
                              <a:latin typeface="Cambria Math" panose="02040503050406030204" pitchFamily="18" charset="0"/>
                            </a:rPr>
                            <m:t>(</m:t>
                          </m:r>
                          <m:r>
                            <a:rPr lang="en-US" sz="1400">
                              <a:solidFill>
                                <a:schemeClr val="tx1">
                                  <a:lumMod val="85000"/>
                                  <a:lumOff val="15000"/>
                                </a:schemeClr>
                              </a:solidFill>
                              <a:latin typeface="Cambria Math" panose="02040503050406030204" pitchFamily="18" charset="0"/>
                            </a:rPr>
                            <m:t>𝑌</m:t>
                          </m:r>
                          <m:r>
                            <a:rPr lang="en-US" sz="1400">
                              <a:solidFill>
                                <a:schemeClr val="tx1">
                                  <a:lumMod val="85000"/>
                                  <a:lumOff val="15000"/>
                                </a:schemeClr>
                              </a:solidFill>
                              <a:latin typeface="Cambria Math" panose="02040503050406030204" pitchFamily="18" charset="0"/>
                            </a:rPr>
                            <m:t>)</m:t>
                          </m:r>
                        </m:den>
                      </m:f>
                      <m:r>
                        <a:rPr lang="en-US" sz="1400">
                          <a:solidFill>
                            <a:schemeClr val="tx1">
                              <a:lumMod val="85000"/>
                              <a:lumOff val="15000"/>
                            </a:schemeClr>
                          </a:solidFill>
                          <a:latin typeface="Cambria Math" panose="02040503050406030204" pitchFamily="18" charset="0"/>
                        </a:rPr>
                        <m:t>=</m:t>
                      </m:r>
                      <m:r>
                        <m:rPr>
                          <m:sty m:val="p"/>
                        </m:rPr>
                        <a:rPr lang="en-US" sz="1400">
                          <a:solidFill>
                            <a:schemeClr val="tx1">
                              <a:lumMod val="85000"/>
                              <a:lumOff val="15000"/>
                            </a:schemeClr>
                          </a:solidFill>
                          <a:latin typeface="Cambria Math" panose="02040503050406030204" pitchFamily="18" charset="0"/>
                        </a:rPr>
                        <m:t>exp</m:t>
                      </m:r>
                      <m:r>
                        <a:rPr lang="en-US" sz="1400">
                          <a:solidFill>
                            <a:schemeClr val="tx1">
                              <a:lumMod val="85000"/>
                              <a:lumOff val="15000"/>
                            </a:schemeClr>
                          </a:solidFill>
                          <a:latin typeface="Cambria Math" panose="02040503050406030204" pitchFamily="18" charset="0"/>
                        </a:rPr>
                        <m:t>⁡(</m:t>
                      </m:r>
                      <m:sSub>
                        <m:sSubPr>
                          <m:ctrlPr>
                            <a:rPr lang="en-US" sz="1400" i="1">
                              <a:solidFill>
                                <a:schemeClr val="tx1">
                                  <a:lumMod val="85000"/>
                                  <a:lumOff val="15000"/>
                                </a:schemeClr>
                              </a:solidFill>
                              <a:latin typeface="Cambria Math" panose="02040503050406030204" pitchFamily="18" charset="0"/>
                            </a:rPr>
                          </m:ctrlPr>
                        </m:sSubPr>
                        <m:e>
                          <m:r>
                            <a:rPr lang="en-US" altLang="ko-KR" sz="1400">
                              <a:solidFill>
                                <a:schemeClr val="tx1">
                                  <a:lumMod val="85000"/>
                                  <a:lumOff val="15000"/>
                                </a:schemeClr>
                              </a:solidFill>
                              <a:latin typeface="Cambria Math" panose="02040503050406030204" pitchFamily="18" charset="0"/>
                            </a:rPr>
                            <m:t>𝛽</m:t>
                          </m:r>
                        </m:e>
                        <m:sub>
                          <m:r>
                            <a:rPr lang="en-US" sz="1400">
                              <a:solidFill>
                                <a:schemeClr val="tx1">
                                  <a:lumMod val="85000"/>
                                  <a:lumOff val="15000"/>
                                </a:schemeClr>
                              </a:solidFill>
                              <a:latin typeface="Cambria Math" panose="02040503050406030204" pitchFamily="18" charset="0"/>
                            </a:rPr>
                            <m:t>0</m:t>
                          </m:r>
                        </m:sub>
                      </m:sSub>
                      <m:r>
                        <a:rPr lang="en-US" sz="1400">
                          <a:solidFill>
                            <a:schemeClr val="tx1">
                              <a:lumMod val="85000"/>
                              <a:lumOff val="15000"/>
                            </a:schemeClr>
                          </a:solidFill>
                          <a:latin typeface="Cambria Math" panose="02040503050406030204" pitchFamily="18" charset="0"/>
                        </a:rPr>
                        <m:t>+</m:t>
                      </m:r>
                      <m:sSub>
                        <m:sSubPr>
                          <m:ctrlPr>
                            <a:rPr lang="en-US" altLang="ko-KR" sz="1400" i="1">
                              <a:solidFill>
                                <a:schemeClr val="tx1">
                                  <a:lumMod val="85000"/>
                                  <a:lumOff val="15000"/>
                                </a:schemeClr>
                              </a:solidFill>
                              <a:latin typeface="Cambria Math" panose="02040503050406030204" pitchFamily="18" charset="0"/>
                            </a:rPr>
                          </m:ctrlPr>
                        </m:sSubPr>
                        <m:e>
                          <m:r>
                            <a:rPr lang="en-US" altLang="ko-KR" sz="1400">
                              <a:solidFill>
                                <a:schemeClr val="tx1">
                                  <a:lumMod val="85000"/>
                                  <a:lumOff val="15000"/>
                                </a:schemeClr>
                              </a:solidFill>
                              <a:latin typeface="Cambria Math" panose="02040503050406030204" pitchFamily="18" charset="0"/>
                            </a:rPr>
                            <m:t>𝛽</m:t>
                          </m:r>
                        </m:e>
                        <m:sub>
                          <m:r>
                            <a:rPr lang="en-US" altLang="ko-KR" sz="1400">
                              <a:solidFill>
                                <a:schemeClr val="tx1">
                                  <a:lumMod val="85000"/>
                                  <a:lumOff val="15000"/>
                                </a:schemeClr>
                              </a:solidFill>
                              <a:latin typeface="Cambria Math" panose="02040503050406030204" pitchFamily="18" charset="0"/>
                            </a:rPr>
                            <m:t>1</m:t>
                          </m:r>
                        </m:sub>
                      </m:sSub>
                      <m:r>
                        <a:rPr lang="en-US" altLang="ko-KR" sz="1400">
                          <a:solidFill>
                            <a:schemeClr val="tx1">
                              <a:lumMod val="85000"/>
                              <a:lumOff val="15000"/>
                            </a:schemeClr>
                          </a:solidFill>
                          <a:latin typeface="Cambria Math" panose="02040503050406030204" pitchFamily="18" charset="0"/>
                        </a:rPr>
                        <m:t>𝑋</m:t>
                      </m:r>
                      <m:r>
                        <a:rPr lang="en-US" altLang="ko-KR" sz="1400">
                          <a:solidFill>
                            <a:schemeClr val="tx1">
                              <a:lumMod val="85000"/>
                              <a:lumOff val="15000"/>
                            </a:schemeClr>
                          </a:solidFill>
                          <a:latin typeface="Cambria Math" panose="02040503050406030204" pitchFamily="18" charset="0"/>
                        </a:rPr>
                        <m:t>)</m:t>
                      </m:r>
                    </m:oMath>
                  </m:oMathPara>
                </a14:m>
                <a:endParaRPr lang="en-US" sz="1400" dirty="0">
                  <a:solidFill>
                    <a:schemeClr val="tx1">
                      <a:lumMod val="85000"/>
                      <a:lumOff val="15000"/>
                    </a:schemeClr>
                  </a:solidFill>
                </a:endParaRPr>
              </a:p>
            </p:txBody>
          </p:sp>
        </mc:Choice>
        <mc:Fallback xmlns="">
          <p:sp>
            <p:nvSpPr>
              <p:cNvPr id="13" name="TextBox 12">
                <a:extLst>
                  <a:ext uri="{FF2B5EF4-FFF2-40B4-BE49-F238E27FC236}">
                    <a16:creationId xmlns:a16="http://schemas.microsoft.com/office/drawing/2014/main" xmlns:a14="http://schemas.microsoft.com/office/drawing/2010/main" xmlns="" id="{15BE9C5E-018B-4617-AEA6-AB21C3EE6760}"/>
                  </a:ext>
                </a:extLst>
              </p:cNvPr>
              <p:cNvSpPr txBox="1">
                <a:spLocks noRot="1" noChangeAspect="1" noMove="1" noResize="1" noEditPoints="1" noAdjustHandles="1" noChangeArrowheads="1" noChangeShapeType="1" noTextEdit="1"/>
              </p:cNvSpPr>
              <p:nvPr/>
            </p:nvSpPr>
            <p:spPr>
              <a:xfrm>
                <a:off x="3617635" y="3258262"/>
                <a:ext cx="2365676" cy="643509"/>
              </a:xfrm>
              <a:prstGeom prst="rect">
                <a:avLst/>
              </a:prstGeom>
              <a:blipFill rotWithShape="0">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 name="직사각형 13">
                <a:extLst>
                  <a:ext uri="{FF2B5EF4-FFF2-40B4-BE49-F238E27FC236}">
                    <a16:creationId xmlns:a16="http://schemas.microsoft.com/office/drawing/2014/main" id="{D3645F6A-2896-4263-9BD9-581E95315376}"/>
                  </a:ext>
                </a:extLst>
              </p:cNvPr>
              <p:cNvSpPr/>
              <p:nvPr/>
            </p:nvSpPr>
            <p:spPr>
              <a:xfrm>
                <a:off x="671261" y="3990724"/>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left side of the equation is a ratio of probability; the right side is an exponential function that has a (0, </a:t>
                </a:r>
                <a14:m>
                  <m:oMath xmlns:m="http://schemas.openxmlformats.org/officeDocument/2006/math">
                    <m:r>
                      <a:rPr lang="en-US" altLang="ko-KR" sz="1300" i="1">
                        <a:solidFill>
                          <a:schemeClr val="tx1">
                            <a:lumMod val="85000"/>
                            <a:lumOff val="15000"/>
                          </a:schemeClr>
                        </a:solidFill>
                        <a:latin typeface="Cambria Math" panose="02040503050406030204" pitchFamily="18" charset="0"/>
                        <a:ea typeface="Cambria Math" panose="02040503050406030204" pitchFamily="18" charset="0"/>
                      </a:rPr>
                      <m:t>∞</m:t>
                    </m:r>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range. Add a log on both sides of the equation to give a range with (</a:t>
                </a:r>
                <a14:m>
                  <m:oMath xmlns:m="http://schemas.openxmlformats.org/officeDocument/2006/math">
                    <m:r>
                      <a:rPr lang="en-US" altLang="ko-KR" sz="1300">
                        <a:solidFill>
                          <a:schemeClr val="tx1">
                            <a:lumMod val="85000"/>
                            <a:lumOff val="15000"/>
                          </a:schemeClr>
                        </a:solidFill>
                        <a:latin typeface="Cambria Math" panose="02040503050406030204" pitchFamily="18" charset="0"/>
                        <a:ea typeface="Cambria Math" panose="02040503050406030204" pitchFamily="18" charset="0"/>
                      </a:rPr>
                      <m:t>−</m:t>
                    </m:r>
                    <m:r>
                      <a:rPr lang="en-US" altLang="ko-KR" sz="1300" i="1">
                        <a:solidFill>
                          <a:schemeClr val="tx1">
                            <a:lumMod val="85000"/>
                            <a:lumOff val="15000"/>
                          </a:schemeClr>
                        </a:solidFill>
                        <a:latin typeface="Cambria Math" panose="02040503050406030204" pitchFamily="18" charset="0"/>
                        <a:ea typeface="Cambria Math" panose="02040503050406030204" pitchFamily="18" charset="0"/>
                      </a:rPr>
                      <m:t>∞</m:t>
                    </m:r>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a:solidFill>
                      <a:schemeClr val="tx1">
                        <a:lumMod val="85000"/>
                        <a:lumOff val="15000"/>
                      </a:schemeClr>
                    </a:solidFill>
                    <a:ea typeface="Cambria Math" panose="02040503050406030204" pitchFamily="18" charset="0"/>
                  </a:rPr>
                  <a:t> </a:t>
                </a:r>
                <a14:m>
                  <m:oMath xmlns:m="http://schemas.openxmlformats.org/officeDocument/2006/math">
                    <m:r>
                      <a:rPr lang="en-US" altLang="ko-KR" sz="1300" i="1">
                        <a:solidFill>
                          <a:schemeClr val="tx1">
                            <a:lumMod val="85000"/>
                            <a:lumOff val="15000"/>
                          </a:schemeClr>
                        </a:solidFill>
                        <a:latin typeface="Cambria Math" panose="02040503050406030204" pitchFamily="18" charset="0"/>
                        <a:ea typeface="Cambria Math" panose="02040503050406030204" pitchFamily="18" charset="0"/>
                      </a:rPr>
                      <m:t>∞</m:t>
                    </m:r>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values on both.</a:t>
                </a:r>
              </a:p>
            </p:txBody>
          </p:sp>
        </mc:Choice>
        <mc:Fallback xmlns="">
          <p:sp>
            <p:nvSpPr>
              <p:cNvPr id="14" name="직사각형 13">
                <a:extLst>
                  <a:ext uri="{FF2B5EF4-FFF2-40B4-BE49-F238E27FC236}">
                    <a16:creationId xmlns:a16="http://schemas.microsoft.com/office/drawing/2014/main" xmlns:a14="http://schemas.microsoft.com/office/drawing/2010/main" xmlns="" id="{D3645F6A-2896-4263-9BD9-581E95315376}"/>
                  </a:ext>
                </a:extLst>
              </p:cNvPr>
              <p:cNvSpPr>
                <a:spLocks noRot="1" noChangeAspect="1" noMove="1" noResize="1" noEditPoints="1" noAdjustHandles="1" noChangeArrowheads="1" noChangeShapeType="1" noTextEdit="1"/>
              </p:cNvSpPr>
              <p:nvPr/>
            </p:nvSpPr>
            <p:spPr>
              <a:xfrm>
                <a:off x="671261" y="3990724"/>
                <a:ext cx="8632825" cy="545516"/>
              </a:xfrm>
              <a:prstGeom prst="rect">
                <a:avLst/>
              </a:prstGeom>
              <a:blipFill rotWithShape="0">
                <a:blip r:embed="rId5"/>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5BF7787-4973-4952-B531-3D01766B4577}"/>
                  </a:ext>
                </a:extLst>
              </p:cNvPr>
              <p:cNvSpPr txBox="1"/>
              <p:nvPr/>
            </p:nvSpPr>
            <p:spPr>
              <a:xfrm>
                <a:off x="3659378" y="4560664"/>
                <a:ext cx="2323933" cy="64350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m:rPr>
                          <m:sty m:val="p"/>
                        </m:rPr>
                        <a:rPr lang="en-US" sz="1400" smtClean="0">
                          <a:solidFill>
                            <a:schemeClr val="tx1">
                              <a:lumMod val="85000"/>
                              <a:lumOff val="15000"/>
                            </a:schemeClr>
                          </a:solidFill>
                          <a:latin typeface="Cambria Math" panose="02040503050406030204" pitchFamily="18" charset="0"/>
                        </a:rPr>
                        <m:t>log</m:t>
                      </m:r>
                      <m:r>
                        <a:rPr lang="en-US" sz="1400" smtClean="0">
                          <a:solidFill>
                            <a:schemeClr val="tx1">
                              <a:lumMod val="85000"/>
                              <a:lumOff val="15000"/>
                            </a:schemeClr>
                          </a:solidFill>
                          <a:latin typeface="Cambria Math" panose="02040503050406030204" pitchFamily="18" charset="0"/>
                        </a:rPr>
                        <m:t>⁡(</m:t>
                      </m:r>
                      <m:f>
                        <m:fPr>
                          <m:ctrlPr>
                            <a:rPr lang="en-US" sz="1400" i="1">
                              <a:solidFill>
                                <a:schemeClr val="tx1">
                                  <a:lumMod val="85000"/>
                                  <a:lumOff val="15000"/>
                                </a:schemeClr>
                              </a:solidFill>
                              <a:latin typeface="Cambria Math" panose="02040503050406030204" pitchFamily="18" charset="0"/>
                            </a:rPr>
                          </m:ctrlPr>
                        </m:fPr>
                        <m:num>
                          <m:r>
                            <a:rPr lang="en-US" sz="1400">
                              <a:solidFill>
                                <a:schemeClr val="tx1">
                                  <a:lumMod val="85000"/>
                                  <a:lumOff val="15000"/>
                                </a:schemeClr>
                              </a:solidFill>
                              <a:latin typeface="Cambria Math" panose="02040503050406030204" pitchFamily="18" charset="0"/>
                            </a:rPr>
                            <m:t>𝑃</m:t>
                          </m:r>
                          <m:d>
                            <m:dPr>
                              <m:ctrlPr>
                                <a:rPr lang="en-US" sz="1400" i="1">
                                  <a:solidFill>
                                    <a:schemeClr val="tx1">
                                      <a:lumMod val="85000"/>
                                      <a:lumOff val="15000"/>
                                    </a:schemeClr>
                                  </a:solidFill>
                                  <a:latin typeface="Cambria Math" panose="02040503050406030204" pitchFamily="18" charset="0"/>
                                </a:rPr>
                              </m:ctrlPr>
                            </m:dPr>
                            <m:e>
                              <m:r>
                                <a:rPr lang="en-US" sz="1400">
                                  <a:solidFill>
                                    <a:schemeClr val="tx1">
                                      <a:lumMod val="85000"/>
                                      <a:lumOff val="15000"/>
                                    </a:schemeClr>
                                  </a:solidFill>
                                  <a:latin typeface="Cambria Math" panose="02040503050406030204" pitchFamily="18" charset="0"/>
                                </a:rPr>
                                <m:t>𝑌</m:t>
                              </m:r>
                            </m:e>
                          </m:d>
                        </m:num>
                        <m:den>
                          <m:r>
                            <a:rPr lang="en-US" sz="1400">
                              <a:solidFill>
                                <a:schemeClr val="tx1">
                                  <a:lumMod val="85000"/>
                                  <a:lumOff val="15000"/>
                                </a:schemeClr>
                              </a:solidFill>
                              <a:latin typeface="Cambria Math" panose="02040503050406030204" pitchFamily="18" charset="0"/>
                            </a:rPr>
                            <m:t>1</m:t>
                          </m:r>
                          <m:r>
                            <a:rPr lang="en-US" sz="1400">
                              <a:solidFill>
                                <a:schemeClr val="tx1">
                                  <a:lumMod val="85000"/>
                                  <a:lumOff val="15000"/>
                                </a:schemeClr>
                              </a:solidFill>
                              <a:latin typeface="Cambria Math" panose="02040503050406030204" pitchFamily="18" charset="0"/>
                            </a:rPr>
                            <m:t>−</m:t>
                          </m:r>
                          <m:r>
                            <a:rPr lang="en-US" sz="1400">
                              <a:solidFill>
                                <a:schemeClr val="tx1">
                                  <a:lumMod val="85000"/>
                                  <a:lumOff val="15000"/>
                                </a:schemeClr>
                              </a:solidFill>
                              <a:latin typeface="Cambria Math" panose="02040503050406030204" pitchFamily="18" charset="0"/>
                            </a:rPr>
                            <m:t>𝑃</m:t>
                          </m:r>
                          <m:d>
                            <m:dPr>
                              <m:ctrlPr>
                                <a:rPr lang="en-US" sz="1400" i="1">
                                  <a:solidFill>
                                    <a:schemeClr val="tx1">
                                      <a:lumMod val="85000"/>
                                      <a:lumOff val="15000"/>
                                    </a:schemeClr>
                                  </a:solidFill>
                                  <a:latin typeface="Cambria Math" panose="02040503050406030204" pitchFamily="18" charset="0"/>
                                </a:rPr>
                              </m:ctrlPr>
                            </m:dPr>
                            <m:e>
                              <m:r>
                                <a:rPr lang="en-US" sz="1400">
                                  <a:solidFill>
                                    <a:schemeClr val="tx1">
                                      <a:lumMod val="85000"/>
                                      <a:lumOff val="15000"/>
                                    </a:schemeClr>
                                  </a:solidFill>
                                  <a:latin typeface="Cambria Math" panose="02040503050406030204" pitchFamily="18" charset="0"/>
                                </a:rPr>
                                <m:t>𝑌</m:t>
                              </m:r>
                            </m:e>
                          </m:d>
                        </m:den>
                      </m:f>
                      <m:r>
                        <a:rPr lang="en-US" sz="1400">
                          <a:solidFill>
                            <a:schemeClr val="tx1">
                              <a:lumMod val="85000"/>
                              <a:lumOff val="15000"/>
                            </a:schemeClr>
                          </a:solidFill>
                          <a:latin typeface="Cambria Math" panose="02040503050406030204" pitchFamily="18" charset="0"/>
                        </a:rPr>
                        <m:t>)=</m:t>
                      </m:r>
                      <m:sSub>
                        <m:sSubPr>
                          <m:ctrlPr>
                            <a:rPr lang="en-US" sz="1400" i="1">
                              <a:solidFill>
                                <a:schemeClr val="tx1">
                                  <a:lumMod val="85000"/>
                                  <a:lumOff val="15000"/>
                                </a:schemeClr>
                              </a:solidFill>
                              <a:latin typeface="Cambria Math" panose="02040503050406030204" pitchFamily="18" charset="0"/>
                            </a:rPr>
                          </m:ctrlPr>
                        </m:sSubPr>
                        <m:e>
                          <m:r>
                            <a:rPr lang="en-US" altLang="ko-KR" sz="1400">
                              <a:solidFill>
                                <a:schemeClr val="tx1">
                                  <a:lumMod val="85000"/>
                                  <a:lumOff val="15000"/>
                                </a:schemeClr>
                              </a:solidFill>
                              <a:latin typeface="Cambria Math" panose="02040503050406030204" pitchFamily="18" charset="0"/>
                            </a:rPr>
                            <m:t>𝛽</m:t>
                          </m:r>
                        </m:e>
                        <m:sub>
                          <m:r>
                            <a:rPr lang="en-US" sz="1400">
                              <a:solidFill>
                                <a:schemeClr val="tx1">
                                  <a:lumMod val="85000"/>
                                  <a:lumOff val="15000"/>
                                </a:schemeClr>
                              </a:solidFill>
                              <a:latin typeface="Cambria Math" panose="02040503050406030204" pitchFamily="18" charset="0"/>
                            </a:rPr>
                            <m:t>0</m:t>
                          </m:r>
                        </m:sub>
                      </m:sSub>
                      <m:r>
                        <a:rPr lang="en-US" sz="1400">
                          <a:solidFill>
                            <a:schemeClr val="tx1">
                              <a:lumMod val="85000"/>
                              <a:lumOff val="15000"/>
                            </a:schemeClr>
                          </a:solidFill>
                          <a:latin typeface="Cambria Math" panose="02040503050406030204" pitchFamily="18" charset="0"/>
                        </a:rPr>
                        <m:t>+</m:t>
                      </m:r>
                      <m:sSub>
                        <m:sSubPr>
                          <m:ctrlPr>
                            <a:rPr lang="en-US" altLang="ko-KR" sz="1400" i="1">
                              <a:solidFill>
                                <a:schemeClr val="tx1">
                                  <a:lumMod val="85000"/>
                                  <a:lumOff val="15000"/>
                                </a:schemeClr>
                              </a:solidFill>
                              <a:latin typeface="Cambria Math" panose="02040503050406030204" pitchFamily="18" charset="0"/>
                            </a:rPr>
                          </m:ctrlPr>
                        </m:sSubPr>
                        <m:e>
                          <m:r>
                            <a:rPr lang="en-US" altLang="ko-KR" sz="1400">
                              <a:solidFill>
                                <a:schemeClr val="tx1">
                                  <a:lumMod val="85000"/>
                                  <a:lumOff val="15000"/>
                                </a:schemeClr>
                              </a:solidFill>
                              <a:latin typeface="Cambria Math" panose="02040503050406030204" pitchFamily="18" charset="0"/>
                            </a:rPr>
                            <m:t>𝛽</m:t>
                          </m:r>
                        </m:e>
                        <m:sub>
                          <m:r>
                            <a:rPr lang="en-US" altLang="ko-KR" sz="1400">
                              <a:solidFill>
                                <a:schemeClr val="tx1">
                                  <a:lumMod val="85000"/>
                                  <a:lumOff val="15000"/>
                                </a:schemeClr>
                              </a:solidFill>
                              <a:latin typeface="Cambria Math" panose="02040503050406030204" pitchFamily="18" charset="0"/>
                            </a:rPr>
                            <m:t>1</m:t>
                          </m:r>
                        </m:sub>
                      </m:sSub>
                      <m:r>
                        <a:rPr lang="en-US" altLang="ko-KR" sz="1400">
                          <a:solidFill>
                            <a:schemeClr val="tx1">
                              <a:lumMod val="85000"/>
                              <a:lumOff val="15000"/>
                            </a:schemeClr>
                          </a:solidFill>
                          <a:latin typeface="Cambria Math" panose="02040503050406030204" pitchFamily="18" charset="0"/>
                        </a:rPr>
                        <m:t>𝑋</m:t>
                      </m:r>
                    </m:oMath>
                  </m:oMathPara>
                </a14:m>
                <a:endParaRPr lang="en-US" sz="1400" dirty="0">
                  <a:solidFill>
                    <a:schemeClr val="tx1">
                      <a:lumMod val="85000"/>
                      <a:lumOff val="15000"/>
                    </a:schemeClr>
                  </a:solidFill>
                </a:endParaRPr>
              </a:p>
            </p:txBody>
          </p:sp>
        </mc:Choice>
        <mc:Fallback xmlns="">
          <p:sp>
            <p:nvSpPr>
              <p:cNvPr id="16" name="TextBox 15">
                <a:extLst>
                  <a:ext uri="{FF2B5EF4-FFF2-40B4-BE49-F238E27FC236}">
                    <a16:creationId xmlns:a16="http://schemas.microsoft.com/office/drawing/2014/main" xmlns:a14="http://schemas.microsoft.com/office/drawing/2010/main" xmlns="" id="{85BF7787-4973-4952-B531-3D01766B4577}"/>
                  </a:ext>
                </a:extLst>
              </p:cNvPr>
              <p:cNvSpPr txBox="1">
                <a:spLocks noRot="1" noChangeAspect="1" noMove="1" noResize="1" noEditPoints="1" noAdjustHandles="1" noChangeArrowheads="1" noChangeShapeType="1" noTextEdit="1"/>
              </p:cNvSpPr>
              <p:nvPr/>
            </p:nvSpPr>
            <p:spPr>
              <a:xfrm>
                <a:off x="3659378" y="4560664"/>
                <a:ext cx="2323933" cy="643509"/>
              </a:xfrm>
              <a:prstGeom prst="rect">
                <a:avLst/>
              </a:prstGeom>
              <a:blipFill rotWithShape="0">
                <a:blip r:embed="rId6"/>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7" name="직사각형 16">
                <a:extLst>
                  <a:ext uri="{FF2B5EF4-FFF2-40B4-BE49-F238E27FC236}">
                    <a16:creationId xmlns:a16="http://schemas.microsoft.com/office/drawing/2014/main" id="{E327A726-E9AA-43F8-8022-1350A3D88679}"/>
                  </a:ext>
                </a:extLst>
              </p:cNvPr>
              <p:cNvSpPr/>
              <p:nvPr/>
            </p:nvSpPr>
            <p:spPr>
              <a:xfrm>
                <a:off x="671261" y="5293774"/>
                <a:ext cx="8632825" cy="848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When looking at the equation in detail, the </a:t>
                </a:r>
                <a14:m>
                  <m:oMath xmlns:m="http://schemas.openxmlformats.org/officeDocument/2006/math">
                    <m:sSub>
                      <m:sSubPr>
                        <m:ctrlPr>
                          <a:rPr lang="en-US" altLang="ko-KR" sz="1300" i="1" dirty="0" smtClean="0">
                            <a:solidFill>
                              <a:schemeClr val="tx1">
                                <a:lumMod val="85000"/>
                                <a:lumOff val="15000"/>
                              </a:schemeClr>
                            </a:solidFill>
                            <a:latin typeface="Cambria Math" panose="02040503050406030204" pitchFamily="18" charset="0"/>
                          </a:rPr>
                        </m:ctrlPr>
                      </m:sSubPr>
                      <m:e>
                        <m:r>
                          <a:rPr lang="en-US" altLang="ko-KR" sz="1300" i="1" dirty="0" smtClean="0">
                            <a:solidFill>
                              <a:schemeClr val="tx1">
                                <a:lumMod val="85000"/>
                                <a:lumOff val="15000"/>
                              </a:schemeClr>
                            </a:solidFill>
                            <a:latin typeface="Cambria Math" panose="02040503050406030204" pitchFamily="18" charset="0"/>
                            <a:ea typeface="Cambria Math" panose="02040503050406030204" pitchFamily="18" charset="0"/>
                          </a:rPr>
                          <m:t>𝛽</m:t>
                        </m:r>
                      </m:e>
                      <m:sub>
                        <m:r>
                          <a:rPr lang="en-US" altLang="ko-KR" sz="1300" b="0" i="1" dirty="0" smtClean="0">
                            <a:solidFill>
                              <a:schemeClr val="tx1">
                                <a:lumMod val="85000"/>
                                <a:lumOff val="15000"/>
                              </a:schemeClr>
                            </a:solidFill>
                            <a:latin typeface="Cambria Math" panose="02040503050406030204" pitchFamily="18" charset="0"/>
                          </a:rPr>
                          <m:t>0</m:t>
                        </m:r>
                      </m:sub>
                    </m:sSub>
                    <m:r>
                      <a:rPr lang="en-US" altLang="ko-KR" sz="1300" b="0" i="1" dirty="0" smtClean="0">
                        <a:solidFill>
                          <a:schemeClr val="tx1">
                            <a:lumMod val="85000"/>
                            <a:lumOff val="15000"/>
                          </a:schemeClr>
                        </a:solidFill>
                        <a:latin typeface="Cambria Math" panose="02040503050406030204" pitchFamily="18" charset="0"/>
                      </a:rPr>
                      <m:t>+</m:t>
                    </m:r>
                    <m:sSub>
                      <m:sSubPr>
                        <m:ctrlPr>
                          <a:rPr lang="en-US" altLang="ko-KR" sz="1300" b="0" i="1" dirty="0" smtClean="0">
                            <a:solidFill>
                              <a:schemeClr val="tx1">
                                <a:lumMod val="85000"/>
                                <a:lumOff val="15000"/>
                              </a:schemeClr>
                            </a:solidFill>
                            <a:latin typeface="Cambria Math" panose="02040503050406030204" pitchFamily="18" charset="0"/>
                          </a:rPr>
                        </m:ctrlPr>
                      </m:sSubPr>
                      <m:e>
                        <m:r>
                          <a:rPr lang="en-US" altLang="ko-KR" sz="1300" b="0" i="1" dirty="0" smtClean="0">
                            <a:solidFill>
                              <a:schemeClr val="tx1">
                                <a:lumMod val="85000"/>
                                <a:lumOff val="15000"/>
                              </a:schemeClr>
                            </a:solidFill>
                            <a:latin typeface="Cambria Math" panose="02040503050406030204" pitchFamily="18" charset="0"/>
                            <a:ea typeface="Cambria Math" panose="02040503050406030204" pitchFamily="18" charset="0"/>
                          </a:rPr>
                          <m:t>𝛽</m:t>
                        </m:r>
                      </m:e>
                      <m:sub>
                        <m:r>
                          <a:rPr lang="en-US" altLang="ko-KR" sz="1300" b="0" i="1" dirty="0" smtClean="0">
                            <a:solidFill>
                              <a:schemeClr val="tx1">
                                <a:lumMod val="85000"/>
                                <a:lumOff val="15000"/>
                              </a:schemeClr>
                            </a:solidFill>
                            <a:latin typeface="Cambria Math" panose="02040503050406030204" pitchFamily="18" charset="0"/>
                          </a:rPr>
                          <m:t>1</m:t>
                        </m:r>
                      </m:sub>
                    </m:sSub>
                    <m:r>
                      <a:rPr lang="en-US" altLang="ko-KR" sz="1300" b="0" i="1" dirty="0" smtClean="0">
                        <a:solidFill>
                          <a:schemeClr val="tx1">
                            <a:lumMod val="85000"/>
                            <a:lumOff val="15000"/>
                          </a:schemeClr>
                        </a:solidFill>
                        <a:latin typeface="Cambria Math" panose="02040503050406030204" pitchFamily="18" charset="0"/>
                      </a:rPr>
                      <m:t>𝑋</m:t>
                    </m:r>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on the right side is a linear model with a range (−∞, ∞); the left side also has a range (−∞, ∞). The log(P(Y))/(1-P(Y)) on the left side of the equation is called the logit function.</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Or add ‘exp’ to both sides of the equation and arrange it regarding P(Y) to get the following equation.</a:t>
                </a:r>
              </a:p>
            </p:txBody>
          </p:sp>
        </mc:Choice>
        <mc:Fallback xmlns="">
          <p:sp>
            <p:nvSpPr>
              <p:cNvPr id="17" name="직사각형 16">
                <a:extLst>
                  <a:ext uri="{FF2B5EF4-FFF2-40B4-BE49-F238E27FC236}">
                    <a16:creationId xmlns:a16="http://schemas.microsoft.com/office/drawing/2014/main" xmlns:a14="http://schemas.microsoft.com/office/drawing/2010/main" xmlns="" id="{E327A726-E9AA-43F8-8022-1350A3D88679}"/>
                  </a:ext>
                </a:extLst>
              </p:cNvPr>
              <p:cNvSpPr>
                <a:spLocks noRot="1" noChangeAspect="1" noMove="1" noResize="1" noEditPoints="1" noAdjustHandles="1" noChangeArrowheads="1" noChangeShapeType="1" noTextEdit="1"/>
              </p:cNvSpPr>
              <p:nvPr/>
            </p:nvSpPr>
            <p:spPr>
              <a:xfrm>
                <a:off x="671261" y="5293774"/>
                <a:ext cx="8632825" cy="848163"/>
              </a:xfrm>
              <a:prstGeom prst="rect">
                <a:avLst/>
              </a:prstGeom>
              <a:blipFill rotWithShape="0">
                <a:blip r:embed="rId7"/>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399828468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logistic regression</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5BE9C5E-018B-4617-AEA6-AB21C3EE6760}"/>
                  </a:ext>
                </a:extLst>
              </p:cNvPr>
              <p:cNvSpPr txBox="1"/>
              <p:nvPr/>
            </p:nvSpPr>
            <p:spPr>
              <a:xfrm>
                <a:off x="2779843" y="1815647"/>
                <a:ext cx="4143086" cy="7109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i="1" smtClean="0">
                          <a:latin typeface="Cambria Math" panose="02040503050406030204" pitchFamily="18" charset="0"/>
                        </a:rPr>
                        <m:t>𝑃</m:t>
                      </m:r>
                      <m:d>
                        <m:dPr>
                          <m:ctrlPr>
                            <a:rPr lang="en-US" altLang="ko-KR" i="1">
                              <a:latin typeface="Cambria Math" panose="02040503050406030204" pitchFamily="18" charset="0"/>
                            </a:rPr>
                          </m:ctrlPr>
                        </m:dPr>
                        <m:e>
                          <m:r>
                            <a:rPr lang="en-US" altLang="ko-KR" i="1">
                              <a:latin typeface="Cambria Math" panose="02040503050406030204" pitchFamily="18" charset="0"/>
                            </a:rPr>
                            <m:t>𝑌</m:t>
                          </m:r>
                          <m:r>
                            <a:rPr lang="en-US" altLang="ko-KR" i="1">
                              <a:latin typeface="Cambria Math" panose="02040503050406030204" pitchFamily="18" charset="0"/>
                            </a:rPr>
                            <m:t>=1</m:t>
                          </m:r>
                        </m:e>
                      </m:d>
                      <m:r>
                        <a:rPr lang="en-US" altLang="ko-KR" i="1">
                          <a:latin typeface="Cambria Math" panose="02040503050406030204" pitchFamily="18" charset="0"/>
                        </a:rPr>
                        <m:t>=</m:t>
                      </m:r>
                      <m:f>
                        <m:fPr>
                          <m:ctrlPr>
                            <a:rPr lang="en-US" altLang="ko-KR" i="1">
                              <a:latin typeface="Cambria Math" panose="02040503050406030204" pitchFamily="18" charset="0"/>
                            </a:rPr>
                          </m:ctrlPr>
                        </m:fPr>
                        <m:num>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m:t>
                              </m:r>
                              <m:sSub>
                                <m:sSubPr>
                                  <m:ctrlPr>
                                    <a:rPr lang="en-US" altLang="ko-KR" i="1">
                                      <a:latin typeface="Cambria Math" panose="02040503050406030204" pitchFamily="18" charset="0"/>
                                    </a:rPr>
                                  </m:ctrlPr>
                                </m:sSubPr>
                                <m:e>
                                  <m:r>
                                    <a:rPr lang="ko-KR" altLang="en-US" i="1">
                                      <a:latin typeface="Cambria Math" panose="02040503050406030204" pitchFamily="18" charset="0"/>
                                    </a:rPr>
                                    <m:t>𝛽</m:t>
                                  </m:r>
                                </m:e>
                                <m:sub>
                                  <m:r>
                                    <a:rPr lang="en-US" altLang="ko-KR" i="1">
                                      <a:latin typeface="Cambria Math" panose="02040503050406030204" pitchFamily="18" charset="0"/>
                                    </a:rPr>
                                    <m:t>𝑜</m:t>
                                  </m:r>
                                </m:sub>
                              </m:sSub>
                              <m:r>
                                <a:rPr lang="en-US" altLang="ko-KR" i="1">
                                  <a:latin typeface="Cambria Math" panose="02040503050406030204" pitchFamily="18" charset="0"/>
                                </a:rPr>
                                <m:t>+</m:t>
                              </m:r>
                              <m:sSub>
                                <m:sSubPr>
                                  <m:ctrlPr>
                                    <a:rPr lang="en-US" altLang="ko-KR" i="1">
                                      <a:latin typeface="Cambria Math" panose="02040503050406030204" pitchFamily="18" charset="0"/>
                                    </a:rPr>
                                  </m:ctrlPr>
                                </m:sSubPr>
                                <m:e>
                                  <m:r>
                                    <a:rPr lang="ko-KR" altLang="en-US" i="1">
                                      <a:latin typeface="Cambria Math" panose="02040503050406030204" pitchFamily="18" charset="0"/>
                                    </a:rPr>
                                    <m:t>𝛽</m:t>
                                  </m:r>
                                </m:e>
                                <m:sub>
                                  <m:r>
                                    <a:rPr lang="en-US" altLang="ko-KR" i="1">
                                      <a:latin typeface="Cambria Math" panose="02040503050406030204" pitchFamily="18" charset="0"/>
                                    </a:rPr>
                                    <m:t>1</m:t>
                                  </m:r>
                                </m:sub>
                              </m:sSub>
                              <m:r>
                                <a:rPr lang="en-US" altLang="ko-KR" i="1">
                                  <a:latin typeface="Cambria Math" panose="02040503050406030204" pitchFamily="18" charset="0"/>
                                </a:rPr>
                                <m:t>𝑋</m:t>
                              </m:r>
                              <m:r>
                                <a:rPr lang="en-US" altLang="ko-KR" i="1">
                                  <a:latin typeface="Cambria Math" panose="02040503050406030204" pitchFamily="18" charset="0"/>
                                </a:rPr>
                                <m:t>)</m:t>
                              </m:r>
                            </m:sup>
                          </m:sSup>
                        </m:num>
                        <m:den>
                          <m:r>
                            <a:rPr lang="en-US" altLang="ko-KR" i="1">
                              <a:latin typeface="Cambria Math" panose="02040503050406030204" pitchFamily="18" charset="0"/>
                            </a:rPr>
                            <m:t>1+</m:t>
                          </m:r>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m:t>
                              </m:r>
                              <m:sSub>
                                <m:sSubPr>
                                  <m:ctrlPr>
                                    <a:rPr lang="en-US" altLang="ko-KR" i="1">
                                      <a:latin typeface="Cambria Math" panose="02040503050406030204" pitchFamily="18" charset="0"/>
                                    </a:rPr>
                                  </m:ctrlPr>
                                </m:sSubPr>
                                <m:e>
                                  <m:r>
                                    <a:rPr lang="ko-KR" altLang="en-US" i="1">
                                      <a:latin typeface="Cambria Math" panose="02040503050406030204" pitchFamily="18" charset="0"/>
                                    </a:rPr>
                                    <m:t>𝛽</m:t>
                                  </m:r>
                                </m:e>
                                <m:sub>
                                  <m:r>
                                    <a:rPr lang="en-US" altLang="ko-KR" i="1">
                                      <a:latin typeface="Cambria Math" panose="02040503050406030204" pitchFamily="18" charset="0"/>
                                    </a:rPr>
                                    <m:t>𝑜</m:t>
                                  </m:r>
                                </m:sub>
                              </m:sSub>
                              <m:r>
                                <a:rPr lang="en-US" altLang="ko-KR" i="1">
                                  <a:latin typeface="Cambria Math" panose="02040503050406030204" pitchFamily="18" charset="0"/>
                                </a:rPr>
                                <m:t>+</m:t>
                              </m:r>
                              <m:sSub>
                                <m:sSubPr>
                                  <m:ctrlPr>
                                    <a:rPr lang="en-US" altLang="ko-KR" i="1">
                                      <a:latin typeface="Cambria Math" panose="02040503050406030204" pitchFamily="18" charset="0"/>
                                    </a:rPr>
                                  </m:ctrlPr>
                                </m:sSubPr>
                                <m:e>
                                  <m:r>
                                    <a:rPr lang="ko-KR" altLang="en-US" i="1">
                                      <a:latin typeface="Cambria Math" panose="02040503050406030204" pitchFamily="18" charset="0"/>
                                    </a:rPr>
                                    <m:t>𝛽</m:t>
                                  </m:r>
                                </m:e>
                                <m:sub>
                                  <m:r>
                                    <a:rPr lang="en-US" altLang="ko-KR" i="1">
                                      <a:latin typeface="Cambria Math" panose="02040503050406030204" pitchFamily="18" charset="0"/>
                                    </a:rPr>
                                    <m:t>1</m:t>
                                  </m:r>
                                </m:sub>
                              </m:sSub>
                              <m:r>
                                <a:rPr lang="en-US" altLang="ko-KR" i="1">
                                  <a:latin typeface="Cambria Math" panose="02040503050406030204" pitchFamily="18" charset="0"/>
                                </a:rPr>
                                <m:t>𝑋</m:t>
                              </m:r>
                              <m:r>
                                <a:rPr lang="en-US" altLang="ko-KR" i="1">
                                  <a:latin typeface="Cambria Math" panose="02040503050406030204" pitchFamily="18" charset="0"/>
                                </a:rPr>
                                <m:t>)</m:t>
                              </m:r>
                            </m:sup>
                          </m:sSup>
                        </m:den>
                      </m:f>
                      <m:r>
                        <a:rPr lang="en-US" altLang="ko-KR" i="1">
                          <a:latin typeface="Cambria Math" panose="02040503050406030204" pitchFamily="18" charset="0"/>
                        </a:rPr>
                        <m:t>=</m:t>
                      </m:r>
                      <m:f>
                        <m:fPr>
                          <m:ctrlPr>
                            <a:rPr lang="en-US" altLang="ko-KR" i="1">
                              <a:latin typeface="Cambria Math" panose="02040503050406030204" pitchFamily="18" charset="0"/>
                            </a:rPr>
                          </m:ctrlPr>
                        </m:fPr>
                        <m:num>
                          <m:r>
                            <a:rPr lang="en-US" altLang="ko-KR" i="1">
                              <a:latin typeface="Cambria Math" panose="02040503050406030204" pitchFamily="18" charset="0"/>
                            </a:rPr>
                            <m:t>1</m:t>
                          </m:r>
                        </m:num>
                        <m:den>
                          <m:r>
                            <a:rPr lang="en-US" altLang="ko-KR" i="1">
                              <a:latin typeface="Cambria Math" panose="02040503050406030204" pitchFamily="18" charset="0"/>
                            </a:rPr>
                            <m:t>1+</m:t>
                          </m:r>
                          <m:sSup>
                            <m:sSupPr>
                              <m:ctrlPr>
                                <a:rPr lang="en-US" altLang="ko-KR" i="1">
                                  <a:latin typeface="Cambria Math" panose="02040503050406030204" pitchFamily="18" charset="0"/>
                                </a:rPr>
                              </m:ctrlPr>
                            </m:sSupPr>
                            <m:e>
                              <m:r>
                                <a:rPr lang="en-US" altLang="ko-KR" i="1">
                                  <a:latin typeface="Cambria Math" panose="02040503050406030204" pitchFamily="18" charset="0"/>
                                </a:rPr>
                                <m:t>𝑒</m:t>
                              </m:r>
                            </m:e>
                            <m:sup>
                              <m:r>
                                <a:rPr lang="en-US" altLang="ko-KR" i="1">
                                  <a:latin typeface="Cambria Math" panose="02040503050406030204" pitchFamily="18" charset="0"/>
                                </a:rPr>
                                <m:t>−(</m:t>
                              </m:r>
                              <m:sSub>
                                <m:sSubPr>
                                  <m:ctrlPr>
                                    <a:rPr lang="en-US" altLang="ko-KR" i="1" smtClean="0">
                                      <a:latin typeface="Cambria Math" panose="02040503050406030204" pitchFamily="18" charset="0"/>
                                    </a:rPr>
                                  </m:ctrlPr>
                                </m:sSubPr>
                                <m:e>
                                  <m:r>
                                    <a:rPr lang="ko-KR" altLang="en-US" i="1" smtClean="0">
                                      <a:latin typeface="Cambria Math" panose="02040503050406030204" pitchFamily="18" charset="0"/>
                                    </a:rPr>
                                    <m:t>𝛽</m:t>
                                  </m:r>
                                </m:e>
                                <m:sub>
                                  <m:r>
                                    <a:rPr lang="en-US" altLang="ko-KR" b="0" i="1" smtClean="0">
                                      <a:latin typeface="Cambria Math" panose="02040503050406030204" pitchFamily="18" charset="0"/>
                                    </a:rPr>
                                    <m:t>𝑜</m:t>
                                  </m:r>
                                </m:sub>
                              </m:sSub>
                              <m:r>
                                <a:rPr lang="en-US" altLang="ko-KR" i="1">
                                  <a:latin typeface="Cambria Math" panose="02040503050406030204" pitchFamily="18" charset="0"/>
                                </a:rPr>
                                <m:t>+</m:t>
                              </m:r>
                              <m:sSub>
                                <m:sSubPr>
                                  <m:ctrlPr>
                                    <a:rPr lang="en-US" altLang="ko-KR" i="1" smtClean="0">
                                      <a:latin typeface="Cambria Math" panose="02040503050406030204" pitchFamily="18" charset="0"/>
                                    </a:rPr>
                                  </m:ctrlPr>
                                </m:sSubPr>
                                <m:e>
                                  <m:r>
                                    <a:rPr lang="ko-KR" altLang="en-US" i="1" smtClean="0">
                                      <a:latin typeface="Cambria Math" panose="02040503050406030204" pitchFamily="18" charset="0"/>
                                    </a:rPr>
                                    <m:t>𝛽</m:t>
                                  </m:r>
                                </m:e>
                                <m:sub>
                                  <m:r>
                                    <a:rPr lang="en-US" altLang="ko-KR" b="0" i="1" smtClean="0">
                                      <a:latin typeface="Cambria Math" panose="02040503050406030204" pitchFamily="18" charset="0"/>
                                    </a:rPr>
                                    <m:t>1</m:t>
                                  </m:r>
                                </m:sub>
                              </m:sSub>
                              <m:r>
                                <a:rPr lang="en-US" altLang="ko-KR" i="1">
                                  <a:latin typeface="Cambria Math" panose="02040503050406030204" pitchFamily="18" charset="0"/>
                                </a:rPr>
                                <m:t>𝑋</m:t>
                              </m:r>
                              <m:r>
                                <a:rPr lang="en-US" altLang="ko-KR" i="1">
                                  <a:latin typeface="Cambria Math" panose="02040503050406030204" pitchFamily="18" charset="0"/>
                                </a:rPr>
                                <m:t>)</m:t>
                              </m:r>
                            </m:sup>
                          </m:sSup>
                        </m:den>
                      </m:f>
                    </m:oMath>
                  </m:oMathPara>
                </a14:m>
                <a:endParaRPr lang="en-US" altLang="ko-KR" dirty="0"/>
              </a:p>
            </p:txBody>
          </p:sp>
        </mc:Choice>
        <mc:Fallback xmlns="">
          <p:sp>
            <p:nvSpPr>
              <p:cNvPr id="13" name="TextBox 12">
                <a:extLst>
                  <a:ext uri="{FF2B5EF4-FFF2-40B4-BE49-F238E27FC236}">
                    <a16:creationId xmlns:a16="http://schemas.microsoft.com/office/drawing/2014/main" xmlns="" xmlns:a14="http://schemas.microsoft.com/office/drawing/2010/main" id="{15BE9C5E-018B-4617-AEA6-AB21C3EE6760}"/>
                  </a:ext>
                </a:extLst>
              </p:cNvPr>
              <p:cNvSpPr txBox="1">
                <a:spLocks noRot="1" noChangeAspect="1" noMove="1" noResize="1" noEditPoints="1" noAdjustHandles="1" noChangeArrowheads="1" noChangeShapeType="1" noTextEdit="1"/>
              </p:cNvSpPr>
              <p:nvPr/>
            </p:nvSpPr>
            <p:spPr>
              <a:xfrm>
                <a:off x="2779843" y="1815647"/>
                <a:ext cx="4143086" cy="710900"/>
              </a:xfrm>
              <a:prstGeom prst="rect">
                <a:avLst/>
              </a:prstGeom>
              <a:blipFill rotWithShape="0">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 name="직사각형 13">
                <a:extLst>
                  <a:ext uri="{FF2B5EF4-FFF2-40B4-BE49-F238E27FC236}">
                    <a16:creationId xmlns:a16="http://schemas.microsoft.com/office/drawing/2014/main" id="{D3645F6A-2896-4263-9BD9-581E95315376}"/>
                  </a:ext>
                </a:extLst>
              </p:cNvPr>
              <p:cNvSpPr/>
              <p:nvPr/>
            </p:nvSpPr>
            <p:spPr>
              <a:xfrm>
                <a:off x="671261" y="2612873"/>
                <a:ext cx="8632825" cy="13561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To sum up, logistic regression analysis is an algorithm that establishes a model by using the logistic function from the above equation and predicting parameters </a:t>
                </a:r>
                <a14:m>
                  <m:oMath xmlns:m="http://schemas.openxmlformats.org/officeDocument/2006/math">
                    <m:sSub>
                      <m:sSubPr>
                        <m:ctrlPr>
                          <a:rPr lang="en-US" altLang="ko-KR" sz="1400" i="1">
                            <a:solidFill>
                              <a:schemeClr val="tx1">
                                <a:lumMod val="85000"/>
                                <a:lumOff val="15000"/>
                              </a:schemeClr>
                            </a:solidFill>
                            <a:latin typeface="Cambria Math" panose="02040503050406030204" pitchFamily="18" charset="0"/>
                            <a:ea typeface="Cambria Math" panose="02040503050406030204" pitchFamily="18" charset="0"/>
                          </a:rPr>
                        </m:ctrlPr>
                      </m:sSubPr>
                      <m:e>
                        <m:r>
                          <a:rPr lang="en-US" altLang="ko-KR" sz="1400" i="1">
                            <a:solidFill>
                              <a:schemeClr val="tx1">
                                <a:lumMod val="85000"/>
                                <a:lumOff val="15000"/>
                              </a:schemeClr>
                            </a:solidFill>
                            <a:latin typeface="Cambria Math" panose="02040503050406030204" pitchFamily="18" charset="0"/>
                            <a:ea typeface="Cambria Math" panose="02040503050406030204" pitchFamily="18" charset="0"/>
                          </a:rPr>
                          <m:t>𝛽</m:t>
                        </m:r>
                      </m:e>
                      <m:sub>
                        <m:r>
                          <a:rPr lang="en-US" altLang="ko-KR" sz="1400" i="1">
                            <a:solidFill>
                              <a:schemeClr val="tx1">
                                <a:lumMod val="85000"/>
                                <a:lumOff val="15000"/>
                              </a:schemeClr>
                            </a:solidFill>
                            <a:latin typeface="Cambria Math" panose="02040503050406030204" pitchFamily="18" charset="0"/>
                            <a:ea typeface="Cambria Math" panose="02040503050406030204" pitchFamily="18" charset="0"/>
                          </a:rPr>
                          <m:t>0</m:t>
                        </m:r>
                      </m:sub>
                    </m:sSub>
                    <m:r>
                      <a:rPr lang="en-US" altLang="ko-KR" sz="1400" i="1">
                        <a:solidFill>
                          <a:schemeClr val="tx1">
                            <a:lumMod val="85000"/>
                            <a:lumOff val="15000"/>
                          </a:schemeClr>
                        </a:solidFill>
                        <a:latin typeface="Cambria Math" panose="02040503050406030204" pitchFamily="18" charset="0"/>
                        <a:ea typeface="Cambria Math" panose="02040503050406030204" pitchFamily="18" charset="0"/>
                      </a:rPr>
                      <m:t>, </m:t>
                    </m:r>
                    <m:sSub>
                      <m:sSubPr>
                        <m:ctrlPr>
                          <a:rPr lang="en-US" altLang="ko-KR" sz="1400" i="1">
                            <a:solidFill>
                              <a:schemeClr val="tx1">
                                <a:lumMod val="85000"/>
                                <a:lumOff val="15000"/>
                              </a:schemeClr>
                            </a:solidFill>
                            <a:latin typeface="Cambria Math" panose="02040503050406030204" pitchFamily="18" charset="0"/>
                            <a:ea typeface="Cambria Math" panose="02040503050406030204" pitchFamily="18" charset="0"/>
                          </a:rPr>
                        </m:ctrlPr>
                      </m:sSubPr>
                      <m:e>
                        <m:r>
                          <a:rPr lang="en-US" altLang="ko-KR" sz="1400" i="1">
                            <a:solidFill>
                              <a:schemeClr val="tx1">
                                <a:lumMod val="85000"/>
                                <a:lumOff val="15000"/>
                              </a:schemeClr>
                            </a:solidFill>
                            <a:latin typeface="Cambria Math" panose="02040503050406030204" pitchFamily="18" charset="0"/>
                            <a:ea typeface="Cambria Math" panose="02040503050406030204" pitchFamily="18" charset="0"/>
                          </a:rPr>
                          <m:t>𝛽</m:t>
                        </m:r>
                      </m:e>
                      <m:sub>
                        <m:r>
                          <a:rPr lang="en-US" altLang="ko-KR" sz="1400" i="1">
                            <a:solidFill>
                              <a:schemeClr val="tx1">
                                <a:lumMod val="85000"/>
                                <a:lumOff val="15000"/>
                              </a:schemeClr>
                            </a:solidFill>
                            <a:latin typeface="Cambria Math" panose="02040503050406030204" pitchFamily="18" charset="0"/>
                            <a:ea typeface="Cambria Math" panose="02040503050406030204" pitchFamily="18" charset="0"/>
                          </a:rPr>
                          <m:t>1</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from the probability P(Y=1) = P(Y) where objective variable Y having categorical value 1 from the training data. Maximum likelihood estimation is generally used for predicting parameters </a:t>
                </a:r>
                <a14:m>
                  <m:oMath xmlns:m="http://schemas.openxmlformats.org/officeDocument/2006/math">
                    <m:sSub>
                      <m:sSubPr>
                        <m:ctrlPr>
                          <a:rPr lang="en-US" altLang="ko-KR" sz="1300" i="1">
                            <a:solidFill>
                              <a:schemeClr val="tx1">
                                <a:lumMod val="85000"/>
                                <a:lumOff val="15000"/>
                              </a:schemeClr>
                            </a:solidFill>
                            <a:latin typeface="Cambria Math" panose="02040503050406030204" pitchFamily="18" charset="0"/>
                            <a:ea typeface="Cambria Math" panose="02040503050406030204" pitchFamily="18" charset="0"/>
                          </a:rPr>
                        </m:ctrlPr>
                      </m:sSubPr>
                      <m:e>
                        <m:r>
                          <a:rPr lang="en-US" altLang="ko-KR" sz="1300" i="1">
                            <a:solidFill>
                              <a:schemeClr val="tx1">
                                <a:lumMod val="85000"/>
                                <a:lumOff val="15000"/>
                              </a:schemeClr>
                            </a:solidFill>
                            <a:latin typeface="Cambria Math" panose="02040503050406030204" pitchFamily="18" charset="0"/>
                            <a:ea typeface="Cambria Math" panose="02040503050406030204" pitchFamily="18" charset="0"/>
                          </a:rPr>
                          <m:t>𝛽</m:t>
                        </m:r>
                      </m:e>
                      <m:sub>
                        <m:r>
                          <a:rPr lang="en-US" altLang="ko-KR" sz="1300" i="1">
                            <a:solidFill>
                              <a:schemeClr val="tx1">
                                <a:lumMod val="85000"/>
                                <a:lumOff val="15000"/>
                              </a:schemeClr>
                            </a:solidFill>
                            <a:latin typeface="Cambria Math" panose="02040503050406030204" pitchFamily="18" charset="0"/>
                            <a:ea typeface="Cambria Math" panose="02040503050406030204" pitchFamily="18" charset="0"/>
                          </a:rPr>
                          <m:t>0</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and </a:t>
                </a:r>
                <a14:m>
                  <m:oMath xmlns:m="http://schemas.openxmlformats.org/officeDocument/2006/math">
                    <m:sSub>
                      <m:sSubPr>
                        <m:ctrlPr>
                          <a:rPr lang="en-US" altLang="ko-KR" sz="1300" i="1">
                            <a:solidFill>
                              <a:schemeClr val="tx1">
                                <a:lumMod val="85000"/>
                                <a:lumOff val="15000"/>
                              </a:schemeClr>
                            </a:solidFill>
                            <a:latin typeface="Cambria Math" panose="02040503050406030204" pitchFamily="18" charset="0"/>
                            <a:ea typeface="Cambria Math" panose="02040503050406030204" pitchFamily="18" charset="0"/>
                          </a:rPr>
                        </m:ctrlPr>
                      </m:sSubPr>
                      <m:e>
                        <m:r>
                          <a:rPr lang="en-US" altLang="ko-KR" sz="1300" i="1">
                            <a:solidFill>
                              <a:schemeClr val="tx1">
                                <a:lumMod val="85000"/>
                                <a:lumOff val="15000"/>
                              </a:schemeClr>
                            </a:solidFill>
                            <a:latin typeface="Cambria Math" panose="02040503050406030204" pitchFamily="18" charset="0"/>
                            <a:ea typeface="Cambria Math" panose="02040503050406030204" pitchFamily="18" charset="0"/>
                          </a:rPr>
                          <m:t>𝛽</m:t>
                        </m:r>
                      </m:e>
                      <m:sub>
                        <m:r>
                          <a:rPr lang="en-US" altLang="ko-KR" sz="1300" i="1">
                            <a:solidFill>
                              <a:schemeClr val="tx1">
                                <a:lumMod val="85000"/>
                                <a:lumOff val="15000"/>
                              </a:schemeClr>
                            </a:solidFill>
                            <a:latin typeface="Cambria Math" panose="02040503050406030204" pitchFamily="18" charset="0"/>
                            <a:ea typeface="Cambria Math" panose="02040503050406030204" pitchFamily="18" charset="0"/>
                          </a:rPr>
                          <m:t>1</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This is an analytical method that changes the formula. Since the direct calculation is difficult, estimation is done by giving a certain initial value and performing repeated calculations to adjust the value as a numerical calculation. </a:t>
                </a:r>
              </a:p>
            </p:txBody>
          </p:sp>
        </mc:Choice>
        <mc:Fallback xmlns="">
          <p:sp>
            <p:nvSpPr>
              <p:cNvPr id="14" name="직사각형 13">
                <a:extLst>
                  <a:ext uri="{FF2B5EF4-FFF2-40B4-BE49-F238E27FC236}">
                    <a16:creationId xmlns="" xmlns:a16="http://schemas.microsoft.com/office/drawing/2014/main" xmlns:a14="http://schemas.microsoft.com/office/drawing/2010/main" id="{D3645F6A-2896-4263-9BD9-581E95315376}"/>
                  </a:ext>
                </a:extLst>
              </p:cNvPr>
              <p:cNvSpPr>
                <a:spLocks noRot="1" noChangeAspect="1" noMove="1" noResize="1" noEditPoints="1" noAdjustHandles="1" noChangeArrowheads="1" noChangeShapeType="1" noTextEdit="1"/>
              </p:cNvSpPr>
              <p:nvPr/>
            </p:nvSpPr>
            <p:spPr>
              <a:xfrm>
                <a:off x="671261" y="2612873"/>
                <a:ext cx="8632825" cy="1356187"/>
              </a:xfrm>
              <a:prstGeom prst="rect">
                <a:avLst/>
              </a:prstGeom>
              <a:blipFill rotWithShape="0">
                <a:blip r:embed="rId5"/>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297443059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logistic regression</a:t>
            </a:r>
          </a:p>
        </p:txBody>
      </p:sp>
      <mc:AlternateContent xmlns:mc="http://schemas.openxmlformats.org/markup-compatibility/2006" xmlns:a14="http://schemas.microsoft.com/office/drawing/2010/main">
        <mc:Choice Requires="a14">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7455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following figure shows a graph of the logistic function. As shown in the graph, the range of the X-axis is </a:t>
                </a:r>
                <a14:m>
                  <m:oMath xmlns:m="http://schemas.openxmlformats.org/officeDocument/2006/math">
                    <m:r>
                      <a:rPr lang="en-US" altLang="ko-KR" sz="1300">
                        <a:solidFill>
                          <a:schemeClr val="tx1">
                            <a:lumMod val="85000"/>
                            <a:lumOff val="15000"/>
                          </a:schemeClr>
                        </a:solidFill>
                        <a:latin typeface="Cambria Math" panose="02040503050406030204" pitchFamily="18" charset="0"/>
                        <a:ea typeface="Cambria Math" panose="02040503050406030204" pitchFamily="18" charset="0"/>
                      </a:rPr>
                      <m:t>−</m:t>
                    </m:r>
                    <m:r>
                      <a:rPr lang="en-US" altLang="ko-KR" sz="1300" i="1">
                        <a:solidFill>
                          <a:schemeClr val="tx1">
                            <a:lumMod val="85000"/>
                            <a:lumOff val="15000"/>
                          </a:schemeClr>
                        </a:solidFill>
                        <a:latin typeface="Cambria Math" panose="02040503050406030204" pitchFamily="18" charset="0"/>
                        <a:ea typeface="Cambria Math" panose="02040503050406030204" pitchFamily="18" charset="0"/>
                      </a:rPr>
                      <m:t>∞</m:t>
                    </m:r>
                    <m:r>
                      <a:rPr lang="en-US" altLang="ko-KR" sz="1300" b="0" i="0" smtClean="0">
                        <a:solidFill>
                          <a:schemeClr val="tx1">
                            <a:lumMod val="85000"/>
                            <a:lumOff val="15000"/>
                          </a:schemeClr>
                        </a:solidFill>
                        <a:latin typeface="Cambria Math" panose="02040503050406030204" pitchFamily="18" charset="0"/>
                        <a:ea typeface="Cambria Math" panose="02040503050406030204" pitchFamily="18" charset="0"/>
                      </a:rPr>
                      <m:t> </m:t>
                    </m:r>
                    <m:r>
                      <m:rPr>
                        <m:sty m:val="p"/>
                      </m:rPr>
                      <a:rPr lang="en-US" altLang="ko-KR" sz="1300" b="0" i="0" smtClean="0">
                        <a:solidFill>
                          <a:schemeClr val="tx1">
                            <a:lumMod val="85000"/>
                            <a:lumOff val="15000"/>
                          </a:schemeClr>
                        </a:solidFill>
                        <a:latin typeface="Cambria Math" panose="02040503050406030204" pitchFamily="18" charset="0"/>
                        <a:ea typeface="Cambria Math" panose="02040503050406030204" pitchFamily="18" charset="0"/>
                      </a:rPr>
                      <m:t>to</m:t>
                    </m:r>
                  </m:oMath>
                </a14:m>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14:m>
                  <m:oMath xmlns:m="http://schemas.openxmlformats.org/officeDocument/2006/math">
                    <m:r>
                      <a:rPr lang="en-US" altLang="ko-KR" sz="1300" i="1">
                        <a:solidFill>
                          <a:schemeClr val="tx1">
                            <a:lumMod val="85000"/>
                            <a:lumOff val="15000"/>
                          </a:schemeClr>
                        </a:solidFill>
                        <a:latin typeface="Cambria Math" panose="02040503050406030204" pitchFamily="18" charset="0"/>
                        <a:ea typeface="Cambria Math" panose="02040503050406030204" pitchFamily="18" charset="0"/>
                      </a:rPr>
                      <m:t>∞</m:t>
                    </m:r>
                    <m:r>
                      <a:rPr lang="en-US" altLang="ko-KR" sz="1300" b="0" i="0" smtClean="0">
                        <a:solidFill>
                          <a:schemeClr val="tx1">
                            <a:lumMod val="85000"/>
                            <a:lumOff val="15000"/>
                          </a:schemeClr>
                        </a:solidFill>
                        <a:latin typeface="Cambria Math" panose="02040503050406030204" pitchFamily="18" charset="0"/>
                        <a:ea typeface="Cambria Math" panose="02040503050406030204" pitchFamily="18" charset="0"/>
                      </a:rPr>
                      <m:t>.</m:t>
                    </m:r>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The Y-axis is the probability of objective variable Y occurrence, which ranges between 0 and 1. Thus, the function P(Y=1) shows an S-shaped curve from 0 to 1 as the x value increases.</a:t>
                </a:r>
              </a:p>
            </p:txBody>
          </p:sp>
        </mc:Choice>
        <mc:Fallback xmlns="">
          <p:sp>
            <p:nvSpPr>
              <p:cNvPr id="49" name="직사각형 48">
                <a:extLst>
                  <a:ext uri="{FF2B5EF4-FFF2-40B4-BE49-F238E27FC236}">
                    <a16:creationId xmlns="" xmlns:a16="http://schemas.microsoft.com/office/drawing/2014/main" xmlns:a14="http://schemas.microsoft.com/office/drawing/2010/main" id="{860C135B-D9AD-4347-BCFB-354CFB97F7B2}"/>
                  </a:ext>
                </a:extLst>
              </p:cNvPr>
              <p:cNvSpPr>
                <a:spLocks noRot="1" noChangeAspect="1" noMove="1" noResize="1" noEditPoints="1" noAdjustHandles="1" noChangeArrowheads="1" noChangeShapeType="1" noTextEdit="1"/>
              </p:cNvSpPr>
              <p:nvPr/>
            </p:nvSpPr>
            <p:spPr>
              <a:xfrm>
                <a:off x="671261" y="1700808"/>
                <a:ext cx="8632825" cy="745571"/>
              </a:xfrm>
              <a:prstGeom prst="rect">
                <a:avLst/>
              </a:prstGeom>
              <a:blipFill rotWithShape="0">
                <a:blip r:embed="rId4"/>
                <a:stretch>
                  <a:fillRect/>
                </a:stretch>
              </a:blipFill>
              <a:ln>
                <a:noFill/>
              </a:ln>
            </p:spPr>
            <p:txBody>
              <a:bodyPr/>
              <a:lstStyle/>
              <a:p>
                <a:r>
                  <a:rPr lang="ko-KR" altLang="en-US">
                    <a:noFill/>
                  </a:rPr>
                  <a:t> </a:t>
                </a:r>
              </a:p>
            </p:txBody>
          </p:sp>
        </mc:Fallback>
      </mc:AlternateContent>
      <p:pic>
        <p:nvPicPr>
          <p:cNvPr id="11" name="그림 10">
            <a:extLst>
              <a:ext uri="{FF2B5EF4-FFF2-40B4-BE49-F238E27FC236}">
                <a16:creationId xmlns:a16="http://schemas.microsoft.com/office/drawing/2014/main" id="{D500DBE4-82F0-49EE-842F-14294F440C58}"/>
              </a:ext>
            </a:extLst>
          </p:cNvPr>
          <p:cNvPicPr>
            <a:picLocks noChangeAspect="1"/>
          </p:cNvPicPr>
          <p:nvPr/>
        </p:nvPicPr>
        <p:blipFill rotWithShape="1">
          <a:blip r:embed="rId5">
            <a:extLst>
              <a:ext uri="{28A0092B-C50C-407E-A947-70E740481C1C}">
                <a14:useLocalDpi xmlns:a14="http://schemas.microsoft.com/office/drawing/2010/main" val="0"/>
              </a:ext>
            </a:extLst>
          </a:blip>
          <a:srcRect l="8229" t="5385" r="15273" b="13464"/>
          <a:stretch/>
        </p:blipFill>
        <p:spPr>
          <a:xfrm>
            <a:off x="2503140" y="2704003"/>
            <a:ext cx="4896545" cy="3100681"/>
          </a:xfrm>
          <a:prstGeom prst="rect">
            <a:avLst/>
          </a:prstGeom>
        </p:spPr>
      </p:pic>
      <p:sp>
        <p:nvSpPr>
          <p:cNvPr id="12" name="Rectangle 33">
            <a:extLst>
              <a:ext uri="{FF2B5EF4-FFF2-40B4-BE49-F238E27FC236}">
                <a16:creationId xmlns:a16="http://schemas.microsoft.com/office/drawing/2014/main" id="{FEE35470-6C17-47E1-BCEB-E6027FF07102}"/>
              </a:ext>
            </a:extLst>
          </p:cNvPr>
          <p:cNvSpPr/>
          <p:nvPr/>
        </p:nvSpPr>
        <p:spPr>
          <a:xfrm rot="16200000">
            <a:off x="2371765" y="3939080"/>
            <a:ext cx="463267" cy="200055"/>
          </a:xfrm>
          <a:prstGeom prst="rect">
            <a:avLst/>
          </a:prstGeom>
          <a:solidFill>
            <a:schemeClr val="bg1"/>
          </a:solid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p>
            <a:pPr algn="ctr" defTabSz="914400"/>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P(Y=1)</a:t>
            </a:r>
            <a:endParaRPr lang="en-US" altLang="ko-KR" sz="1300" i="1"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15" name="Rectangle 33">
            <a:extLst>
              <a:ext uri="{FF2B5EF4-FFF2-40B4-BE49-F238E27FC236}">
                <a16:creationId xmlns:a16="http://schemas.microsoft.com/office/drawing/2014/main" id="{F62BB149-B499-43F8-ACB0-22E0AD0DBF96}"/>
              </a:ext>
            </a:extLst>
          </p:cNvPr>
          <p:cNvSpPr/>
          <p:nvPr/>
        </p:nvSpPr>
        <p:spPr>
          <a:xfrm>
            <a:off x="4810571" y="5596934"/>
            <a:ext cx="613502" cy="200055"/>
          </a:xfrm>
          <a:prstGeom prst="rect">
            <a:avLst/>
          </a:prstGeom>
          <a:solidFill>
            <a:schemeClr val="bg1"/>
          </a:solid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p>
            <a:pPr algn="ctr" defTabSz="914400"/>
            <a:r>
              <a:rPr lang="en-US" altLang="ko-KR" sz="1300" i="1" dirty="0">
                <a:solidFill>
                  <a:prstClr val="black">
                    <a:lumMod val="85000"/>
                    <a:lumOff val="15000"/>
                  </a:prstClr>
                </a:solidFill>
                <a:latin typeface="SamsungOne 400" panose="020B0503030303020204" pitchFamily="34" charset="0"/>
                <a:ea typeface="SamsungOne 400" panose="020B0503030303020204" pitchFamily="34" charset="0"/>
              </a:rPr>
              <a:t>Predictor</a:t>
            </a:r>
            <a:endParaRPr lang="en-US" altLang="ko-KR" sz="1300" i="1"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18" name="Rectangle 33">
            <a:extLst>
              <a:ext uri="{FF2B5EF4-FFF2-40B4-BE49-F238E27FC236}">
                <a16:creationId xmlns:a16="http://schemas.microsoft.com/office/drawing/2014/main" id="{51457123-6FEF-419A-96C3-EB4368CDDFDE}"/>
              </a:ext>
            </a:extLst>
          </p:cNvPr>
          <p:cNvSpPr/>
          <p:nvPr/>
        </p:nvSpPr>
        <p:spPr>
          <a:xfrm>
            <a:off x="4230374" y="5954586"/>
            <a:ext cx="1799402" cy="215444"/>
          </a:xfrm>
          <a:prstGeom prst="rect">
            <a:avLst/>
          </a:prstGeom>
          <a:solidFill>
            <a:schemeClr val="bg1"/>
          </a:solid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p>
            <a:pPr algn="ctr" defTabSz="914400"/>
            <a:r>
              <a:rPr lang="en-US" altLang="ko-KR" sz="1400" dirty="0">
                <a:solidFill>
                  <a:prstClr val="black">
                    <a:lumMod val="85000"/>
                    <a:lumOff val="15000"/>
                  </a:prstClr>
                </a:solidFill>
                <a:latin typeface="SamsungOne 700" panose="020B0803030303020204" pitchFamily="34" charset="0"/>
                <a:ea typeface="SamsungOne 400" panose="020B0503030303020204" pitchFamily="34" charset="0"/>
              </a:rPr>
              <a:t>Logistic regression graph</a:t>
            </a:r>
            <a:endParaRPr lang="en-US" altLang="ko-KR" sz="1400" i="1" dirty="0">
              <a:solidFill>
                <a:schemeClr val="tx1">
                  <a:lumMod val="85000"/>
                  <a:lumOff val="15000"/>
                </a:schemeClr>
              </a:solidFill>
              <a:latin typeface="SamsungOne 700" panose="020B0803030303020204" pitchFamily="34" charset="0"/>
              <a:ea typeface="SamsungOne 700" panose="020B0803030303020204" pitchFamily="34" charset="0"/>
            </a:endParaRPr>
          </a:p>
        </p:txBody>
      </p:sp>
    </p:spTree>
    <p:extLst>
      <p:ext uri="{BB962C8B-B14F-4D97-AF65-F5344CB8AC3E}">
        <p14:creationId xmlns:p14="http://schemas.microsoft.com/office/powerpoint/2010/main" val="295974367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Logistic regression training and prediction (testing)</a:t>
            </a:r>
          </a:p>
        </p:txBody>
      </p:sp>
      <mc:AlternateContent xmlns:mc="http://schemas.openxmlformats.org/markup-compatibility/2006" xmlns:a14="http://schemas.microsoft.com/office/drawing/2010/main">
        <mc:Choice Requires="a14">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2) Prediction step: when a new set of {</a:t>
                </a:r>
                <a14:m>
                  <m:oMath xmlns:m="http://schemas.openxmlformats.org/officeDocument/2006/math">
                    <m:sSub>
                      <m:sSubPr>
                        <m:ctrlPr>
                          <a:rPr lang="ko-KR" altLang="ko-KR" sz="1300" i="1">
                            <a:solidFill>
                              <a:prstClr val="black"/>
                            </a:solidFill>
                            <a:latin typeface="Cambria Math" panose="02040503050406030204" pitchFamily="18" charset="0"/>
                          </a:rPr>
                        </m:ctrlPr>
                      </m:sSubPr>
                      <m:e>
                        <m:r>
                          <a:rPr lang="en-US" altLang="ko-KR" sz="1300" i="1">
                            <a:solidFill>
                              <a:prstClr val="black"/>
                            </a:solidFill>
                            <a:latin typeface="Cambria Math" panose="02040503050406030204" pitchFamily="18" charset="0"/>
                          </a:rPr>
                          <m:t>𝑥</m:t>
                        </m:r>
                      </m:e>
                      <m:sub>
                        <m:r>
                          <a:rPr lang="en-US" altLang="ko-KR" sz="1300" i="1">
                            <a:solidFill>
                              <a:prstClr val="black"/>
                            </a:solidFill>
                            <a:latin typeface="Cambria Math" panose="02040503050406030204" pitchFamily="18" charset="0"/>
                          </a:rPr>
                          <m:t>𝑖</m:t>
                        </m:r>
                      </m:sub>
                    </m:sSub>
                    <m:r>
                      <a:rPr lang="en-US" altLang="ko-KR" sz="1300" i="1">
                        <a:solidFill>
                          <a:prstClr val="black"/>
                        </a:solidFill>
                        <a:latin typeface="Cambria Math" panose="02040503050406030204" pitchFamily="18" charset="0"/>
                      </a:rPr>
                      <m:t>′</m:t>
                    </m:r>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is given, calculate the value of </a:t>
                </a:r>
                <a14:m>
                  <m:oMath xmlns:m="http://schemas.openxmlformats.org/officeDocument/2006/math">
                    <m:r>
                      <a:rPr lang="en-US" altLang="ko-KR" sz="1300" i="1">
                        <a:solidFill>
                          <a:srgbClr val="FF0000"/>
                        </a:solidFill>
                        <a:latin typeface="Cambria Math" panose="02040503050406030204" pitchFamily="18" charset="0"/>
                      </a:rPr>
                      <m:t>𝑦</m:t>
                    </m:r>
                    <m:r>
                      <a:rPr lang="en-US" altLang="ko-KR" sz="1300" i="1">
                        <a:solidFill>
                          <a:srgbClr val="FF0000"/>
                        </a:solidFill>
                        <a:latin typeface="Cambria Math" panose="02040503050406030204" pitchFamily="18" charset="0"/>
                      </a:rPr>
                      <m:t>′</m:t>
                    </m:r>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which was unknown.</a:t>
                </a:r>
              </a:p>
            </p:txBody>
          </p:sp>
        </mc:Choice>
        <mc:Fallback xmlns="">
          <p:sp>
            <p:nvSpPr>
              <p:cNvPr id="49" name="직사각형 48">
                <a:extLst>
                  <a:ext uri="{FF2B5EF4-FFF2-40B4-BE49-F238E27FC236}">
                    <a16:creationId xmlns:a16="http://schemas.microsoft.com/office/drawing/2014/main" xmlns="" xmlns:a14="http://schemas.microsoft.com/office/drawing/2010/main" id="{860C135B-D9AD-4347-BCFB-354CFB97F7B2}"/>
                  </a:ext>
                </a:extLst>
              </p:cNvPr>
              <p:cNvSpPr>
                <a:spLocks noRot="1" noChangeAspect="1" noMove="1" noResize="1" noEditPoints="1" noAdjustHandles="1" noChangeArrowheads="1" noChangeShapeType="1" noTextEdit="1"/>
              </p:cNvSpPr>
              <p:nvPr/>
            </p:nvSpPr>
            <p:spPr>
              <a:xfrm>
                <a:off x="671261" y="1700808"/>
                <a:ext cx="8632825" cy="345461"/>
              </a:xfrm>
              <a:prstGeom prst="rect">
                <a:avLst/>
              </a:prstGeom>
              <a:blipFill rotWithShape="0">
                <a:blip r:embed="rId4"/>
                <a:stretch>
                  <a:fillRect l="-71"/>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직사각형 12">
                <a:extLst>
                  <a:ext uri="{FF2B5EF4-FFF2-40B4-BE49-F238E27FC236}">
                    <a16:creationId xmlns:a16="http://schemas.microsoft.com/office/drawing/2014/main" id="{2A93A60E-33A6-4BDE-AC0F-21CF584A714C}"/>
                  </a:ext>
                </a:extLst>
              </p:cNvPr>
              <p:cNvSpPr/>
              <p:nvPr/>
            </p:nvSpPr>
            <p:spPr>
              <a:xfrm>
                <a:off x="5568885" y="3404157"/>
                <a:ext cx="2557908" cy="8309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lgn="ctr">
                  <a:lnSpc>
                    <a:spcPct val="150000"/>
                  </a:lnSpc>
                </a:pPr>
                <a14:m>
                  <m:oMathPara xmlns:m="http://schemas.openxmlformats.org/officeDocument/2006/math">
                    <m:oMathParaPr>
                      <m:jc m:val="centerGroup"/>
                    </m:oMathParaPr>
                    <m:oMath xmlns:m="http://schemas.openxmlformats.org/officeDocument/2006/math">
                      <m:r>
                        <a:rPr lang="en-US" altLang="ko-KR" sz="1600" i="1" dirty="0">
                          <a:solidFill>
                            <a:prstClr val="black"/>
                          </a:solidFill>
                          <a:latin typeface="Cambria Math" panose="02040503050406030204" pitchFamily="18" charset="0"/>
                          <a:cs typeface="Times New Roman" panose="02020603050405020304" pitchFamily="18" charset="0"/>
                        </a:rPr>
                        <m:t>𝑃</m:t>
                      </m:r>
                      <m:r>
                        <a:rPr lang="en-US" altLang="ko-KR" sz="1600" i="1" dirty="0">
                          <a:solidFill>
                            <a:prstClr val="black"/>
                          </a:solidFill>
                          <a:latin typeface="Cambria Math" panose="02040503050406030204" pitchFamily="18" charset="0"/>
                          <a:cs typeface="Times New Roman" panose="02020603050405020304" pitchFamily="18" charset="0"/>
                        </a:rPr>
                        <m:t>(</m:t>
                      </m:r>
                      <m:sSup>
                        <m:sSupPr>
                          <m:ctrlPr>
                            <a:rPr lang="en-US" altLang="ko-KR" sz="1600" i="1">
                              <a:solidFill>
                                <a:prstClr val="black"/>
                              </a:solidFill>
                              <a:latin typeface="Cambria Math" panose="02040503050406030204" pitchFamily="18" charset="0"/>
                            </a:rPr>
                          </m:ctrlPr>
                        </m:sSupPr>
                        <m:e>
                          <m:r>
                            <a:rPr lang="en-US" altLang="ko-KR" sz="1600" i="1">
                              <a:solidFill>
                                <a:prstClr val="black"/>
                              </a:solidFill>
                              <a:latin typeface="Cambria Math" panose="02040503050406030204" pitchFamily="18" charset="0"/>
                            </a:rPr>
                            <m:t>𝑌</m:t>
                          </m:r>
                        </m:e>
                        <m:sup>
                          <m:r>
                            <a:rPr lang="en-US" altLang="ko-KR" sz="1600" i="1">
                              <a:solidFill>
                                <a:prstClr val="black"/>
                              </a:solidFill>
                              <a:latin typeface="Cambria Math" panose="02040503050406030204" pitchFamily="18" charset="0"/>
                            </a:rPr>
                            <m:t>′</m:t>
                          </m:r>
                        </m:sup>
                      </m:sSup>
                      <m:r>
                        <a:rPr lang="en-US" altLang="ko-KR" sz="1600" i="1">
                          <a:solidFill>
                            <a:prstClr val="black"/>
                          </a:solidFill>
                          <a:latin typeface="Cambria Math" panose="02040503050406030204" pitchFamily="18" charset="0"/>
                        </a:rPr>
                        <m:t>=1|</m:t>
                      </m:r>
                      <m:d>
                        <m:dPr>
                          <m:begChr m:val="{"/>
                          <m:endChr m:val="}"/>
                          <m:ctrlPr>
                            <a:rPr lang="ko-KR" altLang="ko-KR" sz="1600" i="1">
                              <a:solidFill>
                                <a:prstClr val="black"/>
                              </a:solidFill>
                              <a:latin typeface="Cambria Math" panose="02040503050406030204" pitchFamily="18" charset="0"/>
                            </a:rPr>
                          </m:ctrlPr>
                        </m:dPr>
                        <m:e>
                          <m:sSub>
                            <m:sSubPr>
                              <m:ctrlPr>
                                <a:rPr lang="ko-KR" altLang="ko-KR" sz="1600" i="1">
                                  <a:solidFill>
                                    <a:prstClr val="black"/>
                                  </a:solidFill>
                                  <a:latin typeface="Cambria Math" panose="02040503050406030204" pitchFamily="18" charset="0"/>
                                </a:rPr>
                              </m:ctrlPr>
                            </m:sSubPr>
                            <m:e>
                              <m:r>
                                <a:rPr lang="en-US" altLang="ko-KR" sz="1600" i="1">
                                  <a:solidFill>
                                    <a:prstClr val="black"/>
                                  </a:solidFill>
                                  <a:latin typeface="Cambria Math" panose="02040503050406030204" pitchFamily="18" charset="0"/>
                                </a:rPr>
                                <m:t>𝑥</m:t>
                              </m:r>
                            </m:e>
                            <m:sub>
                              <m:r>
                                <a:rPr lang="en-US" altLang="ko-KR" sz="1600" i="1">
                                  <a:solidFill>
                                    <a:prstClr val="black"/>
                                  </a:solidFill>
                                  <a:latin typeface="Cambria Math" panose="02040503050406030204" pitchFamily="18" charset="0"/>
                                </a:rPr>
                                <m:t>𝑖</m:t>
                              </m:r>
                            </m:sub>
                          </m:sSub>
                          <m:r>
                            <a:rPr lang="en-US" altLang="ko-KR" sz="1600" i="1">
                              <a:solidFill>
                                <a:prstClr val="black"/>
                              </a:solidFill>
                              <a:latin typeface="Cambria Math" panose="02040503050406030204" pitchFamily="18" charset="0"/>
                            </a:rPr>
                            <m:t>′</m:t>
                          </m:r>
                        </m:e>
                      </m:d>
                      <m:r>
                        <a:rPr lang="en-US" altLang="ko-KR" sz="1600" i="1">
                          <a:solidFill>
                            <a:prstClr val="black"/>
                          </a:solidFill>
                          <a:latin typeface="Cambria Math" panose="02040503050406030204" pitchFamily="18" charset="0"/>
                        </a:rPr>
                        <m:t>)</m:t>
                      </m:r>
                      <m:r>
                        <m:rPr>
                          <m:nor/>
                        </m:rPr>
                        <a:rPr lang="en-US" altLang="ko-KR" sz="1600" dirty="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600" dirty="0">
                          <a:solidFill>
                            <a:srgbClr val="FF0000"/>
                          </a:solidFill>
                          <a:latin typeface="SamsungOne 400" panose="020B0503030303020204" pitchFamily="34" charset="0"/>
                          <a:ea typeface="SamsungOne 400" panose="020B0503030303020204" pitchFamily="34" charset="0"/>
                        </a:rPr>
                        <m:t>&gt;</m:t>
                      </m:r>
                      <m:r>
                        <m:rPr>
                          <m:nor/>
                        </m:rPr>
                        <a:rPr lang="en-US" altLang="ko-KR" sz="1600" dirty="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600" dirty="0">
                          <a:solidFill>
                            <a:schemeClr val="tx1">
                              <a:lumMod val="85000"/>
                              <a:lumOff val="15000"/>
                            </a:schemeClr>
                          </a:solidFill>
                          <a:latin typeface="SamsungOne 400" panose="020B0503030303020204" pitchFamily="34" charset="0"/>
                          <a:ea typeface="SamsungOne 400" panose="020B0503030303020204" pitchFamily="34" charset="0"/>
                        </a:rPr>
                        <m:t>Cutoff</m:t>
                      </m:r>
                      <m:r>
                        <m:rPr>
                          <m:nor/>
                        </m:rPr>
                        <a:rPr lang="en-US" altLang="ko-KR" sz="1600" dirty="0">
                          <a:solidFill>
                            <a:schemeClr val="tx1">
                              <a:lumMod val="85000"/>
                              <a:lumOff val="15000"/>
                            </a:schemeClr>
                          </a:solidFill>
                          <a:latin typeface="SamsungOne 400" panose="020B0503030303020204" pitchFamily="34" charset="0"/>
                          <a:ea typeface="SamsungOne 400" panose="020B0503030303020204" pitchFamily="34" charset="0"/>
                        </a:rPr>
                        <m:t> ?</m:t>
                      </m:r>
                    </m:oMath>
                  </m:oMathPara>
                </a14:m>
                <a:endParaRPr lang="en-US" altLang="ko-KR" sz="1600" dirty="0">
                  <a:solidFill>
                    <a:schemeClr val="tx1">
                      <a:lumMod val="85000"/>
                      <a:lumOff val="15000"/>
                    </a:schemeClr>
                  </a:solidFill>
                  <a:latin typeface="SamsungOne 400" panose="020B0503030303020204" pitchFamily="34" charset="0"/>
                  <a:ea typeface="SamsungOne 400" panose="020B0503030303020204" pitchFamily="34" charset="0"/>
                </a:endParaRPr>
              </a:p>
              <a:p>
                <a:pPr algn="ctr">
                  <a:lnSpc>
                    <a:spcPct val="150000"/>
                  </a:lnSpc>
                </a:pPr>
                <a14:m>
                  <m:oMathPara xmlns:m="http://schemas.openxmlformats.org/officeDocument/2006/math">
                    <m:oMathParaPr>
                      <m:jc m:val="centerGroup"/>
                    </m:oMathParaPr>
                    <m:oMath xmlns:m="http://schemas.openxmlformats.org/officeDocument/2006/math">
                      <m:r>
                        <a:rPr lang="en-US" altLang="ko-KR" sz="1600" i="1" dirty="0" smtClean="0">
                          <a:solidFill>
                            <a:srgbClr val="193EB0"/>
                          </a:solidFill>
                          <a:latin typeface="Cambria Math" panose="02040503050406030204" pitchFamily="18" charset="0"/>
                          <a:ea typeface="SamsungOne 400" panose="020B0503030303020204" pitchFamily="34" charset="0"/>
                          <a:sym typeface="Symbol" panose="05050102010706020507" pitchFamily="18" charset="2"/>
                        </a:rPr>
                        <m:t>⇨</m:t>
                      </m:r>
                      <m:r>
                        <m:rPr>
                          <m:nor/>
                        </m:rPr>
                        <a:rPr lang="en-US" altLang="ko-KR" sz="1600" dirty="0">
                          <a:solidFill>
                            <a:schemeClr val="tx1">
                              <a:lumMod val="85000"/>
                              <a:lumOff val="15000"/>
                            </a:schemeClr>
                          </a:solidFill>
                          <a:latin typeface="SamsungOne 400" panose="020B0503030303020204" pitchFamily="34" charset="0"/>
                          <a:ea typeface="SamsungOne 400" panose="020B0503030303020204" pitchFamily="34" charset="0"/>
                          <a:sym typeface="Symbol" panose="05050102010706020507" pitchFamily="18" charset="2"/>
                        </a:rPr>
                        <m:t>  </m:t>
                      </m:r>
                      <m:acc>
                        <m:accPr>
                          <m:chr m:val="̂"/>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accPr>
                        <m:e>
                          <m:r>
                            <a:rPr lang="en-US" altLang="ko-KR" sz="1600">
                              <a:solidFill>
                                <a:schemeClr val="tx1">
                                  <a:lumMod val="85000"/>
                                  <a:lumOff val="15000"/>
                                </a:schemeClr>
                              </a:solidFill>
                              <a:latin typeface="Cambria Math" panose="02040503050406030204" pitchFamily="18" charset="0"/>
                              <a:sym typeface="Symbol" panose="05050102010706020507" pitchFamily="18" charset="2"/>
                            </a:rPr>
                            <m:t>𝑦</m:t>
                          </m:r>
                        </m:e>
                      </m:acc>
                      <m:r>
                        <m:rPr>
                          <m:nor/>
                        </m:rPr>
                        <a:rPr lang="en-US" altLang="ko-KR" sz="1600" dirty="0">
                          <a:solidFill>
                            <a:schemeClr val="tx1">
                              <a:lumMod val="85000"/>
                              <a:lumOff val="15000"/>
                            </a:schemeClr>
                          </a:solidFill>
                          <a:latin typeface="SamsungOne 400" panose="020B0503030303020204" pitchFamily="34" charset="0"/>
                          <a:ea typeface="SamsungOne 400" panose="020B0503030303020204" pitchFamily="34" charset="0"/>
                        </a:rPr>
                        <m:t> = 1   </m:t>
                      </m:r>
                      <m:r>
                        <m:rPr>
                          <m:nor/>
                        </m:rPr>
                        <a:rPr lang="en-US" altLang="ko-KR" sz="1600" dirty="0">
                          <a:solidFill>
                            <a:schemeClr val="tx1">
                              <a:lumMod val="85000"/>
                              <a:lumOff val="15000"/>
                            </a:schemeClr>
                          </a:solidFill>
                          <a:latin typeface="SamsungOne 400" panose="020B0503030303020204" pitchFamily="34" charset="0"/>
                          <a:ea typeface="SamsungOne 400" panose="020B0503030303020204" pitchFamily="34" charset="0"/>
                        </a:rPr>
                        <m:t>or</m:t>
                      </m:r>
                      <m:r>
                        <m:rPr>
                          <m:nor/>
                        </m:rPr>
                        <a:rPr lang="en-US" altLang="ko-KR" sz="1600" dirty="0">
                          <a:solidFill>
                            <a:schemeClr val="tx1">
                              <a:lumMod val="85000"/>
                              <a:lumOff val="15000"/>
                            </a:schemeClr>
                          </a:solidFill>
                          <a:latin typeface="SamsungOne 400" panose="020B0503030303020204" pitchFamily="34" charset="0"/>
                          <a:ea typeface="SamsungOne 400" panose="020B0503030303020204" pitchFamily="34" charset="0"/>
                        </a:rPr>
                        <m:t>   0</m:t>
                      </m:r>
                    </m:oMath>
                  </m:oMathPara>
                </a14:m>
                <a:endParaRPr lang="ko-KR" altLang="en-US" sz="1600" dirty="0">
                  <a:solidFill>
                    <a:schemeClr val="tx1">
                      <a:lumMod val="85000"/>
                      <a:lumOff val="15000"/>
                    </a:schemeClr>
                  </a:solidFill>
                  <a:latin typeface="SamsungOne 400" panose="020B0503030303020204" pitchFamily="34" charset="0"/>
                </a:endParaRPr>
              </a:p>
            </p:txBody>
          </p:sp>
        </mc:Choice>
        <mc:Fallback xmlns="">
          <p:sp>
            <p:nvSpPr>
              <p:cNvPr id="13" name="직사각형 12">
                <a:extLst>
                  <a:ext uri="{FF2B5EF4-FFF2-40B4-BE49-F238E27FC236}">
                    <a16:creationId xmlns:a16="http://schemas.microsoft.com/office/drawing/2014/main" id="{2A93A60E-33A6-4BDE-AC0F-21CF584A714C}"/>
                  </a:ext>
                </a:extLst>
              </p:cNvPr>
              <p:cNvSpPr>
                <a:spLocks noRot="1" noChangeAspect="1" noMove="1" noResize="1" noEditPoints="1" noAdjustHandles="1" noChangeArrowheads="1" noChangeShapeType="1" noTextEdit="1"/>
              </p:cNvSpPr>
              <p:nvPr/>
            </p:nvSpPr>
            <p:spPr>
              <a:xfrm>
                <a:off x="5568885" y="3404157"/>
                <a:ext cx="2557908" cy="830997"/>
              </a:xfrm>
              <a:prstGeom prst="rect">
                <a:avLst/>
              </a:prstGeom>
              <a:blipFill>
                <a:blip r:embed="rId5"/>
                <a:stretch>
                  <a:fillRect/>
                </a:stretch>
              </a:blipFill>
              <a:ln>
                <a:noFill/>
              </a:ln>
            </p:spPr>
            <p:txBody>
              <a:bodyPr/>
              <a:lstStyle/>
              <a:p>
                <a:r>
                  <a:rPr lang="ko-KR" altLang="en-US">
                    <a:noFill/>
                  </a:rPr>
                  <a:t> </a:t>
                </a:r>
              </a:p>
            </p:txBody>
          </p:sp>
        </mc:Fallback>
      </mc:AlternateContent>
      <p:grpSp>
        <p:nvGrpSpPr>
          <p:cNvPr id="31" name="Group 7">
            <a:extLst>
              <a:ext uri="{FF2B5EF4-FFF2-40B4-BE49-F238E27FC236}">
                <a16:creationId xmlns:a16="http://schemas.microsoft.com/office/drawing/2014/main" id="{7E29DB58-F639-4E3D-9CB8-8CC6D18DF21E}"/>
              </a:ext>
            </a:extLst>
          </p:cNvPr>
          <p:cNvGrpSpPr/>
          <p:nvPr/>
        </p:nvGrpSpPr>
        <p:grpSpPr>
          <a:xfrm>
            <a:off x="1963080" y="2219813"/>
            <a:ext cx="2699447" cy="2520000"/>
            <a:chOff x="2399018" y="2472159"/>
            <a:chExt cx="2699447" cy="2520000"/>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8B333D7-373F-439C-AA11-D14BBA909ADD}"/>
                    </a:ext>
                  </a:extLst>
                </p:cNvPr>
                <p:cNvSpPr txBox="1"/>
                <p:nvPr/>
              </p:nvSpPr>
              <p:spPr>
                <a:xfrm>
                  <a:off x="2399018" y="2472159"/>
                  <a:ext cx="1944216" cy="2520000"/>
                </a:xfrm>
                <a:prstGeom prst="rect">
                  <a:avLst/>
                </a:prstGeom>
                <a:pattFill prst="pct10">
                  <a:fgClr>
                    <a:srgbClr val="00B050"/>
                  </a:fgClr>
                  <a:bgClr>
                    <a:schemeClr val="bg1"/>
                  </a:bgClr>
                </a:pattFill>
                <a:ln w="25400">
                  <a:solidFill>
                    <a:srgbClr val="193EB0"/>
                  </a:solidFill>
                </a:ln>
              </p:spPr>
              <p:txBody>
                <a:bodyPr wrap="square" rtlCol="0">
                  <a:noAutofit/>
                  <a:scene3d>
                    <a:camera prst="orthographicFront"/>
                    <a:lightRig rig="threePt" dir="t"/>
                  </a:scene3d>
                  <a:sp3d>
                    <a:bevelT w="0" h="6350"/>
                  </a:sp3d>
                </a:bodyPr>
                <a:lstStyle/>
                <a:p>
                  <a:endParaRPr lang="en-US" altLang="ko-KR" sz="3200" i="1" dirty="0">
                    <a:ln>
                      <a:noFill/>
                    </a:ln>
                    <a:solidFill>
                      <a:srgbClr val="0070C0"/>
                    </a:solidFill>
                    <a:latin typeface="+mn-ea"/>
                  </a:endParaRPr>
                </a:p>
                <a:p>
                  <a:endParaRPr lang="en-US" altLang="ko-KR" sz="3200" i="1" dirty="0">
                    <a:ln>
                      <a:noFill/>
                    </a:ln>
                    <a:solidFill>
                      <a:srgbClr val="0070C0"/>
                    </a:solidFill>
                    <a:latin typeface="+mn-ea"/>
                  </a:endParaRPr>
                </a:p>
                <a:p>
                  <a:pPr/>
                  <a14:m>
                    <m:oMathPara xmlns:m="http://schemas.openxmlformats.org/officeDocument/2006/math">
                      <m:oMathParaPr>
                        <m:jc m:val="centerGroup"/>
                      </m:oMathParaPr>
                      <m:oMath xmlns:m="http://schemas.openxmlformats.org/officeDocument/2006/math">
                        <m:sSub>
                          <m:sSubPr>
                            <m:ctrlPr>
                              <a:rPr lang="ko-KR" altLang="ko-KR" sz="3200" i="1">
                                <a:ln>
                                  <a:noFill/>
                                </a:ln>
                                <a:latin typeface="Cambria Math" panose="02040503050406030204" pitchFamily="18" charset="0"/>
                              </a:rPr>
                            </m:ctrlPr>
                          </m:sSubPr>
                          <m:e>
                            <m:r>
                              <a:rPr lang="en-US" altLang="ko-KR" sz="3200" i="1">
                                <a:ln>
                                  <a:noFill/>
                                </a:ln>
                                <a:latin typeface="Cambria Math" panose="02040503050406030204" pitchFamily="18" charset="0"/>
                              </a:rPr>
                              <m:t>𝑥</m:t>
                            </m:r>
                          </m:e>
                          <m:sub>
                            <m:r>
                              <a:rPr lang="en-US" altLang="ko-KR" sz="3200" i="1">
                                <a:ln>
                                  <a:noFill/>
                                </a:ln>
                                <a:latin typeface="Cambria Math"/>
                              </a:rPr>
                              <m:t>𝑖</m:t>
                            </m:r>
                          </m:sub>
                        </m:sSub>
                        <m:r>
                          <a:rPr lang="en-US" altLang="ko-KR" sz="3200" i="1">
                            <a:ln>
                              <a:noFill/>
                            </a:ln>
                            <a:latin typeface="Cambria Math"/>
                          </a:rPr>
                          <m:t>′</m:t>
                        </m:r>
                      </m:oMath>
                    </m:oMathPara>
                  </a14:m>
                  <a:endParaRPr lang="en-US" altLang="ko-KR" sz="3200" dirty="0">
                    <a:ln>
                      <a:noFill/>
                    </a:ln>
                    <a:latin typeface="+mn-ea"/>
                  </a:endParaRPr>
                </a:p>
                <a:p>
                  <a:endParaRPr lang="en-US" altLang="ko-KR" sz="3200" dirty="0">
                    <a:ln>
                      <a:noFill/>
                    </a:ln>
                    <a:latin typeface="+mn-ea"/>
                  </a:endParaRPr>
                </a:p>
              </p:txBody>
            </p:sp>
          </mc:Choice>
          <mc:Fallback xmlns="">
            <p:sp>
              <p:nvSpPr>
                <p:cNvPr id="32" name="TextBox 31">
                  <a:extLst>
                    <a:ext uri="{FF2B5EF4-FFF2-40B4-BE49-F238E27FC236}">
                      <a16:creationId xmlns:a16="http://schemas.microsoft.com/office/drawing/2014/main" id="{38B333D7-373F-439C-AA11-D14BBA909ADD}"/>
                    </a:ext>
                  </a:extLst>
                </p:cNvPr>
                <p:cNvSpPr txBox="1">
                  <a:spLocks noRot="1" noChangeAspect="1" noMove="1" noResize="1" noEditPoints="1" noAdjustHandles="1" noChangeArrowheads="1" noChangeShapeType="1" noTextEdit="1"/>
                </p:cNvSpPr>
                <p:nvPr/>
              </p:nvSpPr>
              <p:spPr>
                <a:xfrm>
                  <a:off x="2399018" y="2472159"/>
                  <a:ext cx="1944216" cy="2520000"/>
                </a:xfrm>
                <a:prstGeom prst="rect">
                  <a:avLst/>
                </a:prstGeom>
                <a:blipFill>
                  <a:blip r:embed="rId6"/>
                  <a:stretch>
                    <a:fillRect/>
                  </a:stretch>
                </a:blipFill>
                <a:ln w="25400">
                  <a:solidFill>
                    <a:srgbClr val="193EB0"/>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3D427A5-30A4-4D76-875A-3FE35D0A2271}"/>
                    </a:ext>
                  </a:extLst>
                </p:cNvPr>
                <p:cNvSpPr txBox="1"/>
                <p:nvPr/>
              </p:nvSpPr>
              <p:spPr>
                <a:xfrm>
                  <a:off x="4343234" y="2472159"/>
                  <a:ext cx="755231" cy="2520000"/>
                </a:xfrm>
                <a:prstGeom prst="rect">
                  <a:avLst/>
                </a:prstGeom>
                <a:pattFill prst="pct10">
                  <a:fgClr>
                    <a:srgbClr val="FFFF00"/>
                  </a:fgClr>
                  <a:bgClr>
                    <a:schemeClr val="bg1"/>
                  </a:bgClr>
                </a:pattFill>
                <a:ln w="25400">
                  <a:solidFill>
                    <a:srgbClr val="193EB0"/>
                  </a:solidFill>
                </a:ln>
              </p:spPr>
              <p:txBody>
                <a:bodyPr wrap="square" rtlCol="0">
                  <a:noAutofit/>
                  <a:scene3d>
                    <a:camera prst="orthographicFront"/>
                    <a:lightRig rig="threePt" dir="t"/>
                  </a:scene3d>
                  <a:sp3d>
                    <a:bevelT w="0" h="6350"/>
                  </a:sp3d>
                </a:bodyPr>
                <a:lstStyle/>
                <a:p>
                  <a:endParaRPr lang="en-US" altLang="ko-KR" sz="3200" i="1" dirty="0">
                    <a:ln>
                      <a:noFill/>
                    </a:ln>
                    <a:solidFill>
                      <a:srgbClr val="0070C0"/>
                    </a:solidFill>
                    <a:latin typeface="+mn-ea"/>
                  </a:endParaRPr>
                </a:p>
                <a:p>
                  <a:endParaRPr lang="en-US" altLang="ko-KR" sz="3200" i="1" dirty="0">
                    <a:ln>
                      <a:noFill/>
                    </a:ln>
                    <a:solidFill>
                      <a:srgbClr val="0070C0"/>
                    </a:solidFill>
                    <a:latin typeface="+mn-ea"/>
                  </a:endParaRPr>
                </a:p>
                <a:p>
                  <a:pPr/>
                  <a14:m>
                    <m:oMathPara xmlns:m="http://schemas.openxmlformats.org/officeDocument/2006/math">
                      <m:oMathParaPr>
                        <m:jc m:val="centerGroup"/>
                      </m:oMathParaPr>
                      <m:oMath xmlns:m="http://schemas.openxmlformats.org/officeDocument/2006/math">
                        <m:r>
                          <a:rPr lang="en-US" altLang="ko-KR" sz="3200" i="1">
                            <a:ln>
                              <a:noFill/>
                            </a:ln>
                            <a:solidFill>
                              <a:srgbClr val="FF0000"/>
                            </a:solidFill>
                            <a:latin typeface="Cambria Math" panose="02040503050406030204" pitchFamily="18" charset="0"/>
                          </a:rPr>
                          <m:t>𝑦</m:t>
                        </m:r>
                        <m:r>
                          <a:rPr lang="en-US" altLang="ko-KR" sz="3200" i="1">
                            <a:ln>
                              <a:noFill/>
                            </a:ln>
                            <a:solidFill>
                              <a:srgbClr val="FF0000"/>
                            </a:solidFill>
                            <a:latin typeface="Cambria Math" panose="02040503050406030204" pitchFamily="18" charset="0"/>
                          </a:rPr>
                          <m:t>′</m:t>
                        </m:r>
                        <m:r>
                          <m:rPr>
                            <m:nor/>
                          </m:rPr>
                          <a:rPr lang="en-US" altLang="ko-KR" sz="3200" dirty="0">
                            <a:ln>
                              <a:noFill/>
                            </a:ln>
                            <a:latin typeface="Noto Sans CJK KR Medium" panose="020B0600000000000000" pitchFamily="34" charset="-127"/>
                            <a:ea typeface="Noto Sans CJK KR Medium" panose="020B0600000000000000" pitchFamily="34" charset="-127"/>
                          </a:rPr>
                          <m:t>?</m:t>
                        </m:r>
                      </m:oMath>
                    </m:oMathPara>
                  </a14:m>
                  <a:endParaRPr lang="en-US" altLang="ko-KR" sz="3200" dirty="0">
                    <a:ln>
                      <a:noFill/>
                    </a:ln>
                    <a:latin typeface="+mn-ea"/>
                  </a:endParaRPr>
                </a:p>
                <a:p>
                  <a:endParaRPr lang="en-US" altLang="ko-KR" sz="3200" dirty="0">
                    <a:ln>
                      <a:noFill/>
                    </a:ln>
                    <a:latin typeface="+mn-ea"/>
                  </a:endParaRPr>
                </a:p>
                <a:p>
                  <a:endParaRPr lang="en-US" altLang="ko-KR" sz="3200" dirty="0">
                    <a:ln>
                      <a:noFill/>
                    </a:ln>
                    <a:latin typeface="+mn-ea"/>
                  </a:endParaRPr>
                </a:p>
              </p:txBody>
            </p:sp>
          </mc:Choice>
          <mc:Fallback xmlns="">
            <p:sp>
              <p:nvSpPr>
                <p:cNvPr id="33" name="TextBox 32">
                  <a:extLst>
                    <a:ext uri="{FF2B5EF4-FFF2-40B4-BE49-F238E27FC236}">
                      <a16:creationId xmlns:a16="http://schemas.microsoft.com/office/drawing/2014/main" id="{63D427A5-30A4-4D76-875A-3FE35D0A2271}"/>
                    </a:ext>
                  </a:extLst>
                </p:cNvPr>
                <p:cNvSpPr txBox="1">
                  <a:spLocks noRot="1" noChangeAspect="1" noMove="1" noResize="1" noEditPoints="1" noAdjustHandles="1" noChangeArrowheads="1" noChangeShapeType="1" noTextEdit="1"/>
                </p:cNvSpPr>
                <p:nvPr/>
              </p:nvSpPr>
              <p:spPr>
                <a:xfrm>
                  <a:off x="4343234" y="2472159"/>
                  <a:ext cx="755231" cy="2520000"/>
                </a:xfrm>
                <a:prstGeom prst="rect">
                  <a:avLst/>
                </a:prstGeom>
                <a:blipFill>
                  <a:blip r:embed="rId7"/>
                  <a:stretch>
                    <a:fillRect/>
                  </a:stretch>
                </a:blipFill>
                <a:ln w="25400">
                  <a:solidFill>
                    <a:srgbClr val="193EB0"/>
                  </a:solidFill>
                </a:ln>
              </p:spPr>
              <p:txBody>
                <a:bodyPr/>
                <a:lstStyle/>
                <a:p>
                  <a:r>
                    <a:rPr lang="ko-KR" altLang="en-US">
                      <a:noFill/>
                    </a:rPr>
                    <a:t> </a:t>
                  </a:r>
                </a:p>
              </p:txBody>
            </p:sp>
          </mc:Fallback>
        </mc:AlternateContent>
      </p:grpSp>
      <p:sp>
        <p:nvSpPr>
          <p:cNvPr id="34" name="Rectangle 33">
            <a:extLst>
              <a:ext uri="{FF2B5EF4-FFF2-40B4-BE49-F238E27FC236}">
                <a16:creationId xmlns:a16="http://schemas.microsoft.com/office/drawing/2014/main" id="{F8516FF7-D3A0-46F9-B6FE-441FA1A05961}"/>
              </a:ext>
            </a:extLst>
          </p:cNvPr>
          <p:cNvSpPr/>
          <p:nvPr/>
        </p:nvSpPr>
        <p:spPr>
          <a:xfrm>
            <a:off x="5021217" y="3037896"/>
            <a:ext cx="3653244" cy="200055"/>
          </a:xfrm>
          <a:prstGeom prst="rect">
            <a:avLst/>
          </a:prstGeom>
          <a:solidFill>
            <a:schemeClr val="bg1"/>
          </a:solid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p>
            <a:pPr algn="ctr" defTabSz="914400"/>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Compare the conditional probability with a cutoff.</a:t>
            </a:r>
          </a:p>
        </p:txBody>
      </p:sp>
    </p:spTree>
    <p:extLst>
      <p:ext uri="{BB962C8B-B14F-4D97-AF65-F5344CB8AC3E}">
        <p14:creationId xmlns:p14="http://schemas.microsoft.com/office/powerpoint/2010/main" val="332233461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Logistic regression training and prediction (testing)</a:t>
            </a:r>
          </a:p>
        </p:txBody>
      </p:sp>
      <p:grpSp>
        <p:nvGrpSpPr>
          <p:cNvPr id="12" name="그룹 11">
            <a:extLst>
              <a:ext uri="{FF2B5EF4-FFF2-40B4-BE49-F238E27FC236}">
                <a16:creationId xmlns:a16="http://schemas.microsoft.com/office/drawing/2014/main" id="{9C7638E4-896F-45C7-9A50-13FB53CE972C}"/>
              </a:ext>
            </a:extLst>
          </p:cNvPr>
          <p:cNvGrpSpPr/>
          <p:nvPr/>
        </p:nvGrpSpPr>
        <p:grpSpPr>
          <a:xfrm>
            <a:off x="878518" y="1868037"/>
            <a:ext cx="8183403" cy="3253151"/>
            <a:chOff x="878518" y="2075299"/>
            <a:chExt cx="8183403" cy="3253151"/>
          </a:xfrm>
        </p:grpSpPr>
        <p:grpSp>
          <p:nvGrpSpPr>
            <p:cNvPr id="14" name="그룹 13">
              <a:extLst>
                <a:ext uri="{FF2B5EF4-FFF2-40B4-BE49-F238E27FC236}">
                  <a16:creationId xmlns:a16="http://schemas.microsoft.com/office/drawing/2014/main" id="{42A6841A-AB66-4ADB-BB12-BF8DFEE0B628}"/>
                </a:ext>
              </a:extLst>
            </p:cNvPr>
            <p:cNvGrpSpPr/>
            <p:nvPr/>
          </p:nvGrpSpPr>
          <p:grpSpPr>
            <a:xfrm>
              <a:off x="878518" y="2075299"/>
              <a:ext cx="7734454" cy="2830503"/>
              <a:chOff x="318643" y="2528131"/>
              <a:chExt cx="8797660" cy="3219597"/>
            </a:xfrm>
          </p:grpSpPr>
          <p:grpSp>
            <p:nvGrpSpPr>
              <p:cNvPr id="29" name="그룹 28">
                <a:extLst>
                  <a:ext uri="{FF2B5EF4-FFF2-40B4-BE49-F238E27FC236}">
                    <a16:creationId xmlns:a16="http://schemas.microsoft.com/office/drawing/2014/main" id="{04B7FC58-A965-4351-AF49-32E19D6968BC}"/>
                  </a:ext>
                </a:extLst>
              </p:cNvPr>
              <p:cNvGrpSpPr/>
              <p:nvPr/>
            </p:nvGrpSpPr>
            <p:grpSpPr>
              <a:xfrm>
                <a:off x="318643" y="2528131"/>
                <a:ext cx="8797660" cy="3219597"/>
                <a:chOff x="1794197" y="1778926"/>
                <a:chExt cx="8797660" cy="3414351"/>
              </a:xfrm>
            </p:grpSpPr>
            <p:sp>
              <p:nvSpPr>
                <p:cNvPr id="35" name="Oval 6">
                  <a:extLst>
                    <a:ext uri="{FF2B5EF4-FFF2-40B4-BE49-F238E27FC236}">
                      <a16:creationId xmlns:a16="http://schemas.microsoft.com/office/drawing/2014/main" id="{B6EEAE36-D1C2-4F79-B8A0-F8BED5722B6F}"/>
                    </a:ext>
                  </a:extLst>
                </p:cNvPr>
                <p:cNvSpPr/>
                <p:nvPr/>
              </p:nvSpPr>
              <p:spPr>
                <a:xfrm>
                  <a:off x="3656119" y="2713100"/>
                  <a:ext cx="504000" cy="534487"/>
                </a:xfrm>
                <a:prstGeom prst="ellipse">
                  <a:avLst/>
                </a:prstGeom>
                <a:solidFill>
                  <a:srgbClr val="FF0000">
                    <a:alpha val="20000"/>
                  </a:srgb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6" name="Oval 7">
                  <a:extLst>
                    <a:ext uri="{FF2B5EF4-FFF2-40B4-BE49-F238E27FC236}">
                      <a16:creationId xmlns:a16="http://schemas.microsoft.com/office/drawing/2014/main" id="{DDB660C8-2D70-4CD6-9BF7-B32F96EC69D0}"/>
                    </a:ext>
                  </a:extLst>
                </p:cNvPr>
                <p:cNvSpPr/>
                <p:nvPr/>
              </p:nvSpPr>
              <p:spPr>
                <a:xfrm>
                  <a:off x="3656120" y="3380406"/>
                  <a:ext cx="504000" cy="534487"/>
                </a:xfrm>
                <a:prstGeom prst="ellipse">
                  <a:avLst/>
                </a:prstGeom>
                <a:solidFill>
                  <a:srgbClr val="FF0000">
                    <a:alpha val="20000"/>
                  </a:srgb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7" name="Oval 8">
                  <a:extLst>
                    <a:ext uri="{FF2B5EF4-FFF2-40B4-BE49-F238E27FC236}">
                      <a16:creationId xmlns:a16="http://schemas.microsoft.com/office/drawing/2014/main" id="{EE7504A6-47FF-41A1-8C15-9112ADD26FF1}"/>
                    </a:ext>
                  </a:extLst>
                </p:cNvPr>
                <p:cNvSpPr/>
                <p:nvPr/>
              </p:nvSpPr>
              <p:spPr>
                <a:xfrm>
                  <a:off x="3656120" y="4658790"/>
                  <a:ext cx="504000" cy="534487"/>
                </a:xfrm>
                <a:prstGeom prst="ellipse">
                  <a:avLst/>
                </a:prstGeom>
                <a:solidFill>
                  <a:srgbClr val="FF0000">
                    <a:alpha val="20000"/>
                  </a:srgb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8" name="Oval 9">
                  <a:extLst>
                    <a:ext uri="{FF2B5EF4-FFF2-40B4-BE49-F238E27FC236}">
                      <a16:creationId xmlns:a16="http://schemas.microsoft.com/office/drawing/2014/main" id="{FBC8E64D-0FA6-4E34-B70D-D000346FD5AD}"/>
                    </a:ext>
                  </a:extLst>
                </p:cNvPr>
                <p:cNvSpPr/>
                <p:nvPr/>
              </p:nvSpPr>
              <p:spPr>
                <a:xfrm>
                  <a:off x="3854113" y="2229090"/>
                  <a:ext cx="108012" cy="112907"/>
                </a:xfrm>
                <a:prstGeom prst="ellipse">
                  <a:avLst/>
                </a:prstGeom>
                <a:solidFill>
                  <a:srgbClr val="FF0000">
                    <a:alpha val="20000"/>
                  </a:srgb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2266169-B4DF-4D27-AA60-F37575EF61B9}"/>
                        </a:ext>
                      </a:extLst>
                    </p:cNvPr>
                    <p:cNvSpPr txBox="1"/>
                    <p:nvPr/>
                  </p:nvSpPr>
                  <p:spPr>
                    <a:xfrm>
                      <a:off x="3496691" y="2775526"/>
                      <a:ext cx="852257" cy="408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𝑋</m:t>
                                </m:r>
                              </m:e>
                              <m:sub>
                                <m:r>
                                  <a:rPr lang="en-US" sz="1600" i="1">
                                    <a:latin typeface="Cambria Math" panose="02040503050406030204" pitchFamily="18" charset="0"/>
                                  </a:rPr>
                                  <m:t>1</m:t>
                                </m:r>
                              </m:sub>
                            </m:sSub>
                          </m:oMath>
                        </m:oMathPara>
                      </a14:m>
                      <a:endParaRPr lang="en-US" sz="1600" dirty="0">
                        <a:latin typeface="SamsungOne 700" panose="020B0803030303020204" pitchFamily="34" charset="0"/>
                        <a:ea typeface="SamsungOne 700" panose="020B0803030303020204" pitchFamily="34" charset="0"/>
                      </a:endParaRPr>
                    </a:p>
                  </p:txBody>
                </p:sp>
              </mc:Choice>
              <mc:Fallback xmlns="">
                <p:sp>
                  <p:nvSpPr>
                    <p:cNvPr id="74" name="TextBox 73">
                      <a:extLst>
                        <a:ext uri="{FF2B5EF4-FFF2-40B4-BE49-F238E27FC236}">
                          <a16:creationId xmlns:a16="http://schemas.microsoft.com/office/drawing/2014/main" id="{AD066754-9567-4AF2-9CB2-530A23DD2923}"/>
                        </a:ext>
                      </a:extLst>
                    </p:cNvPr>
                    <p:cNvSpPr txBox="1">
                      <a:spLocks noRot="1" noChangeAspect="1" noMove="1" noResize="1" noEditPoints="1" noAdjustHandles="1" noChangeArrowheads="1" noChangeShapeType="1" noTextEdit="1"/>
                    </p:cNvSpPr>
                    <p:nvPr/>
                  </p:nvSpPr>
                  <p:spPr>
                    <a:xfrm>
                      <a:off x="3496691" y="2775526"/>
                      <a:ext cx="852257" cy="408387"/>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F52CEE1-A973-4EE2-9D65-E6C4B952DBED}"/>
                        </a:ext>
                      </a:extLst>
                    </p:cNvPr>
                    <p:cNvSpPr txBox="1"/>
                    <p:nvPr/>
                  </p:nvSpPr>
                  <p:spPr>
                    <a:xfrm>
                      <a:off x="3496690" y="3413808"/>
                      <a:ext cx="852257" cy="408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𝑋</m:t>
                                </m:r>
                              </m:e>
                              <m:sub>
                                <m:r>
                                  <a:rPr lang="en-US" sz="1600" i="1">
                                    <a:latin typeface="Cambria Math" panose="02040503050406030204" pitchFamily="18" charset="0"/>
                                  </a:rPr>
                                  <m:t>2</m:t>
                                </m:r>
                              </m:sub>
                            </m:sSub>
                          </m:oMath>
                        </m:oMathPara>
                      </a14:m>
                      <a:endParaRPr lang="en-US" sz="1600" dirty="0">
                        <a:latin typeface="SamsungOne 700" panose="020B0803030303020204" pitchFamily="34" charset="0"/>
                        <a:ea typeface="SamsungOne 700" panose="020B0803030303020204" pitchFamily="34" charset="0"/>
                      </a:endParaRPr>
                    </a:p>
                  </p:txBody>
                </p:sp>
              </mc:Choice>
              <mc:Fallback xmlns="">
                <p:sp>
                  <p:nvSpPr>
                    <p:cNvPr id="75" name="TextBox 74">
                      <a:extLst>
                        <a:ext uri="{FF2B5EF4-FFF2-40B4-BE49-F238E27FC236}">
                          <a16:creationId xmlns:a16="http://schemas.microsoft.com/office/drawing/2014/main" id="{FB527ED1-0EF4-4B83-BF4E-20791C4BDE6E}"/>
                        </a:ext>
                      </a:extLst>
                    </p:cNvPr>
                    <p:cNvSpPr txBox="1">
                      <a:spLocks noRot="1" noChangeAspect="1" noMove="1" noResize="1" noEditPoints="1" noAdjustHandles="1" noChangeArrowheads="1" noChangeShapeType="1" noTextEdit="1"/>
                    </p:cNvSpPr>
                    <p:nvPr/>
                  </p:nvSpPr>
                  <p:spPr>
                    <a:xfrm>
                      <a:off x="3496690" y="3413808"/>
                      <a:ext cx="852257" cy="408387"/>
                    </a:xfrm>
                    <a:prstGeom prst="rect">
                      <a:avLst/>
                    </a:prstGeom>
                    <a:blipFill>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CBDA70E-E914-4B0D-991A-EBAD4E6274F9}"/>
                        </a:ext>
                      </a:extLst>
                    </p:cNvPr>
                    <p:cNvSpPr txBox="1"/>
                    <p:nvPr/>
                  </p:nvSpPr>
                  <p:spPr>
                    <a:xfrm>
                      <a:off x="3496689" y="4699475"/>
                      <a:ext cx="852257" cy="408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𝑋</m:t>
                                </m:r>
                              </m:e>
                              <m:sub>
                                <m:r>
                                  <a:rPr lang="en-US" sz="1600" i="1">
                                    <a:latin typeface="Cambria Math" panose="02040503050406030204" pitchFamily="18" charset="0"/>
                                  </a:rPr>
                                  <m:t>𝑘</m:t>
                                </m:r>
                              </m:sub>
                            </m:sSub>
                          </m:oMath>
                        </m:oMathPara>
                      </a14:m>
                      <a:endParaRPr lang="en-US" sz="1600" dirty="0">
                        <a:latin typeface="SamsungOne 700" panose="020B0803030303020204" pitchFamily="34" charset="0"/>
                        <a:ea typeface="SamsungOne 700" panose="020B0803030303020204" pitchFamily="34" charset="0"/>
                      </a:endParaRPr>
                    </a:p>
                  </p:txBody>
                </p:sp>
              </mc:Choice>
              <mc:Fallback xmlns="">
                <p:sp>
                  <p:nvSpPr>
                    <p:cNvPr id="76" name="TextBox 75">
                      <a:extLst>
                        <a:ext uri="{FF2B5EF4-FFF2-40B4-BE49-F238E27FC236}">
                          <a16:creationId xmlns:a16="http://schemas.microsoft.com/office/drawing/2014/main" id="{530FAAB1-3A99-4A75-ABDC-04A6DEB4B455}"/>
                        </a:ext>
                      </a:extLst>
                    </p:cNvPr>
                    <p:cNvSpPr txBox="1">
                      <a:spLocks noRot="1" noChangeAspect="1" noMove="1" noResize="1" noEditPoints="1" noAdjustHandles="1" noChangeArrowheads="1" noChangeShapeType="1" noTextEdit="1"/>
                    </p:cNvSpPr>
                    <p:nvPr/>
                  </p:nvSpPr>
                  <p:spPr>
                    <a:xfrm>
                      <a:off x="3496689" y="4699475"/>
                      <a:ext cx="852257" cy="408387"/>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88F0FD10-834E-438F-A79A-32546E3DC778}"/>
                        </a:ext>
                      </a:extLst>
                    </p:cNvPr>
                    <p:cNvSpPr txBox="1"/>
                    <p:nvPr/>
                  </p:nvSpPr>
                  <p:spPr>
                    <a:xfrm>
                      <a:off x="3496689" y="3960574"/>
                      <a:ext cx="852257" cy="5976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1600" i="1">
                                    <a:latin typeface="Cambria Math" panose="02040503050406030204" pitchFamily="18" charset="0"/>
                                  </a:rPr>
                                </m:ctrlPr>
                              </m:mPr>
                              <m:mr>
                                <m:e>
                                  <m:r>
                                    <m:rPr>
                                      <m:brk m:alnAt="7"/>
                                    </m:rPr>
                                    <a:rPr lang="en-US" sz="1600" i="1">
                                      <a:latin typeface="Cambria Math" panose="02040503050406030204" pitchFamily="18" charset="0"/>
                                      <a:ea typeface="Cambria Math" panose="02040503050406030204" pitchFamily="18" charset="0"/>
                                    </a:rPr>
                                    <m:t>⋮</m:t>
                                  </m:r>
                                </m:e>
                              </m:mr>
                              <m:mr>
                                <m:e>
                                  <m:r>
                                    <a:rPr lang="en-US" sz="1600" i="1">
                                      <a:latin typeface="Cambria Math" panose="02040503050406030204" pitchFamily="18" charset="0"/>
                                      <a:ea typeface="Cambria Math" panose="02040503050406030204" pitchFamily="18" charset="0"/>
                                    </a:rPr>
                                    <m:t>⋮</m:t>
                                  </m:r>
                                </m:e>
                              </m:mr>
                            </m:m>
                          </m:oMath>
                        </m:oMathPara>
                      </a14:m>
                      <a:endParaRPr lang="en-US" sz="1600" dirty="0">
                        <a:latin typeface="SamsungOne 700" panose="020B0803030303020204" pitchFamily="34" charset="0"/>
                        <a:ea typeface="SamsungOne 700" panose="020B0803030303020204" pitchFamily="34" charset="0"/>
                      </a:endParaRPr>
                    </a:p>
                  </p:txBody>
                </p:sp>
              </mc:Choice>
              <mc:Fallback xmlns="">
                <p:sp>
                  <p:nvSpPr>
                    <p:cNvPr id="77" name="TextBox 76">
                      <a:extLst>
                        <a:ext uri="{FF2B5EF4-FFF2-40B4-BE49-F238E27FC236}">
                          <a16:creationId xmlns:a16="http://schemas.microsoft.com/office/drawing/2014/main" id="{375B6723-F1AD-4097-B0AF-D4F9F4B1D25C}"/>
                        </a:ext>
                      </a:extLst>
                    </p:cNvPr>
                    <p:cNvSpPr txBox="1">
                      <a:spLocks noRot="1" noChangeAspect="1" noMove="1" noResize="1" noEditPoints="1" noAdjustHandles="1" noChangeArrowheads="1" noChangeShapeType="1" noTextEdit="1"/>
                    </p:cNvSpPr>
                    <p:nvPr/>
                  </p:nvSpPr>
                  <p:spPr>
                    <a:xfrm>
                      <a:off x="3496689" y="3960574"/>
                      <a:ext cx="852257" cy="597654"/>
                    </a:xfrm>
                    <a:prstGeom prst="rect">
                      <a:avLst/>
                    </a:prstGeom>
                    <a:blipFill>
                      <a:blip r:embed="rId7"/>
                      <a:stretch>
                        <a:fillRect b="-3704"/>
                      </a:stretch>
                    </a:blipFill>
                  </p:spPr>
                  <p:txBody>
                    <a:bodyPr/>
                    <a:lstStyle/>
                    <a:p>
                      <a:r>
                        <a:rPr lang="ko-KR" altLang="en-US">
                          <a:noFill/>
                        </a:rPr>
                        <a:t> </a:t>
                      </a:r>
                    </a:p>
                  </p:txBody>
                </p:sp>
              </mc:Fallback>
            </mc:AlternateContent>
            <p:sp>
              <p:nvSpPr>
                <p:cNvPr id="43" name="Oval 14">
                  <a:extLst>
                    <a:ext uri="{FF2B5EF4-FFF2-40B4-BE49-F238E27FC236}">
                      <a16:creationId xmlns:a16="http://schemas.microsoft.com/office/drawing/2014/main" id="{066F1285-6AC5-4D64-A916-6BA2E3ECF4D5}"/>
                    </a:ext>
                  </a:extLst>
                </p:cNvPr>
                <p:cNvSpPr/>
                <p:nvPr/>
              </p:nvSpPr>
              <p:spPr>
                <a:xfrm>
                  <a:off x="6596109" y="3557788"/>
                  <a:ext cx="504000" cy="534487"/>
                </a:xfrm>
                <a:prstGeom prst="ellipse">
                  <a:avLst/>
                </a:prstGeom>
                <a:solidFill>
                  <a:srgbClr val="C5D1F7">
                    <a:alpha val="49804"/>
                  </a:srgbClr>
                </a:solidFill>
                <a:ln w="1905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4" name="TextBox 43">
                  <a:extLst>
                    <a:ext uri="{FF2B5EF4-FFF2-40B4-BE49-F238E27FC236}">
                      <a16:creationId xmlns:a16="http://schemas.microsoft.com/office/drawing/2014/main" id="{04F402BA-9456-4279-994C-26A8281DC9A4}"/>
                    </a:ext>
                  </a:extLst>
                </p:cNvPr>
                <p:cNvSpPr txBox="1"/>
                <p:nvPr/>
              </p:nvSpPr>
              <p:spPr>
                <a:xfrm>
                  <a:off x="6683935" y="3555374"/>
                  <a:ext cx="314408" cy="445514"/>
                </a:xfrm>
                <a:prstGeom prst="rect">
                  <a:avLst/>
                </a:prstGeom>
                <a:noFill/>
              </p:spPr>
              <p:txBody>
                <a:bodyPr wrap="square" rtlCol="0">
                  <a:spAutoFit/>
                </a:bodyPr>
                <a:lstStyle/>
                <a:p>
                  <a:pPr algn="ctr"/>
                  <a:r>
                    <a:rPr lang="en-US" dirty="0">
                      <a:latin typeface="SamsungOne 700" panose="020B0803030303020204" pitchFamily="34" charset="0"/>
                      <a:ea typeface="SamsungOne 700" panose="020B0803030303020204" pitchFamily="34" charset="0"/>
                      <a:sym typeface="Symbol" panose="05050102010706020507" pitchFamily="18" charset="2"/>
                    </a:rPr>
                    <a:t></a:t>
                  </a:r>
                  <a:endParaRPr lang="en-US" dirty="0">
                    <a:latin typeface="SamsungOne 700" panose="020B0803030303020204" pitchFamily="34" charset="0"/>
                    <a:ea typeface="SamsungOne 700" panose="020B0803030303020204" pitchFamily="34" charset="0"/>
                  </a:endParaRPr>
                </a:p>
              </p:txBody>
            </p:sp>
            <p:cxnSp>
              <p:nvCxnSpPr>
                <p:cNvPr id="45" name="Straight Arrow Connector 18">
                  <a:extLst>
                    <a:ext uri="{FF2B5EF4-FFF2-40B4-BE49-F238E27FC236}">
                      <a16:creationId xmlns:a16="http://schemas.microsoft.com/office/drawing/2014/main" id="{6109B3F4-E72D-44E5-A793-845C0882F225}"/>
                    </a:ext>
                  </a:extLst>
                </p:cNvPr>
                <p:cNvCxnSpPr/>
                <p:nvPr/>
              </p:nvCxnSpPr>
              <p:spPr>
                <a:xfrm>
                  <a:off x="4189515" y="2971950"/>
                  <a:ext cx="2406591" cy="834407"/>
                </a:xfrm>
                <a:prstGeom prst="straightConnector1">
                  <a:avLst/>
                </a:prstGeom>
                <a:ln w="12700">
                  <a:solidFill>
                    <a:schemeClr val="bg1">
                      <a:lumMod val="50000"/>
                      <a:alpha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19">
                  <a:extLst>
                    <a:ext uri="{FF2B5EF4-FFF2-40B4-BE49-F238E27FC236}">
                      <a16:creationId xmlns:a16="http://schemas.microsoft.com/office/drawing/2014/main" id="{3F4E613F-DB5C-4BED-9B74-B06957ECD307}"/>
                    </a:ext>
                  </a:extLst>
                </p:cNvPr>
                <p:cNvCxnSpPr/>
                <p:nvPr/>
              </p:nvCxnSpPr>
              <p:spPr>
                <a:xfrm>
                  <a:off x="3976826" y="2268169"/>
                  <a:ext cx="2619279" cy="1501878"/>
                </a:xfrm>
                <a:prstGeom prst="straightConnector1">
                  <a:avLst/>
                </a:prstGeom>
                <a:ln w="12700">
                  <a:solidFill>
                    <a:schemeClr val="bg1">
                      <a:lumMod val="50000"/>
                      <a:alpha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20">
                  <a:extLst>
                    <a:ext uri="{FF2B5EF4-FFF2-40B4-BE49-F238E27FC236}">
                      <a16:creationId xmlns:a16="http://schemas.microsoft.com/office/drawing/2014/main" id="{47E91EB7-58E3-4EB0-98A1-F0B66C5BCB8A}"/>
                    </a:ext>
                  </a:extLst>
                </p:cNvPr>
                <p:cNvCxnSpPr/>
                <p:nvPr/>
              </p:nvCxnSpPr>
              <p:spPr>
                <a:xfrm>
                  <a:off x="4189518" y="3625108"/>
                  <a:ext cx="2406587" cy="184017"/>
                </a:xfrm>
                <a:prstGeom prst="straightConnector1">
                  <a:avLst/>
                </a:prstGeom>
                <a:ln w="12700">
                  <a:solidFill>
                    <a:schemeClr val="bg1">
                      <a:lumMod val="50000"/>
                      <a:alpha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21">
                  <a:extLst>
                    <a:ext uri="{FF2B5EF4-FFF2-40B4-BE49-F238E27FC236}">
                      <a16:creationId xmlns:a16="http://schemas.microsoft.com/office/drawing/2014/main" id="{1B1AD379-8223-4136-8020-41D844EC3ACE}"/>
                    </a:ext>
                  </a:extLst>
                </p:cNvPr>
                <p:cNvCxnSpPr/>
                <p:nvPr/>
              </p:nvCxnSpPr>
              <p:spPr>
                <a:xfrm flipV="1">
                  <a:off x="4189512" y="3830083"/>
                  <a:ext cx="2406593" cy="1076316"/>
                </a:xfrm>
                <a:prstGeom prst="straightConnector1">
                  <a:avLst/>
                </a:prstGeom>
                <a:ln w="12700">
                  <a:solidFill>
                    <a:schemeClr val="bg1">
                      <a:lumMod val="50000"/>
                      <a:alpha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22">
                  <a:extLst>
                    <a:ext uri="{FF2B5EF4-FFF2-40B4-BE49-F238E27FC236}">
                      <a16:creationId xmlns:a16="http://schemas.microsoft.com/office/drawing/2014/main" id="{4C1B9215-B729-4597-ACB7-1CBB84124CB7}"/>
                    </a:ext>
                  </a:extLst>
                </p:cNvPr>
                <p:cNvCxnSpPr>
                  <a:cxnSpLocks/>
                  <a:stCxn id="43" idx="6"/>
                </p:cNvCxnSpPr>
                <p:nvPr/>
              </p:nvCxnSpPr>
              <p:spPr>
                <a:xfrm>
                  <a:off x="7100108" y="3825032"/>
                  <a:ext cx="429635" cy="0"/>
                </a:xfrm>
                <a:prstGeom prst="straightConnector1">
                  <a:avLst/>
                </a:prstGeom>
                <a:ln w="12700">
                  <a:solidFill>
                    <a:schemeClr val="bg1">
                      <a:lumMod val="50000"/>
                      <a:alpha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EC390D38-26C5-4AEF-A2A3-0D4989A9639D}"/>
                        </a:ext>
                      </a:extLst>
                    </p:cNvPr>
                    <p:cNvSpPr txBox="1"/>
                    <p:nvPr/>
                  </p:nvSpPr>
                  <p:spPr>
                    <a:xfrm>
                      <a:off x="4084838" y="2106061"/>
                      <a:ext cx="852257" cy="37126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a:solidFill>
                                      <a:srgbClr val="00B050"/>
                                    </a:solidFill>
                                    <a:latin typeface="Cambria Math" panose="02040503050406030204" pitchFamily="18" charset="0"/>
                                  </a:rPr>
                                </m:ctrlPr>
                              </m:sSubPr>
                              <m:e>
                                <m:r>
                                  <a:rPr lang="en-US" sz="1400" i="1">
                                    <a:solidFill>
                                      <a:srgbClr val="00B050"/>
                                    </a:solidFill>
                                    <a:latin typeface="Cambria Math" panose="02040503050406030204" pitchFamily="18" charset="0"/>
                                    <a:ea typeface="Cambria Math" panose="02040503050406030204" pitchFamily="18" charset="0"/>
                                  </a:rPr>
                                  <m:t>𝛽</m:t>
                                </m:r>
                              </m:e>
                              <m:sub>
                                <m:r>
                                  <a:rPr lang="en-US" sz="1400" i="1">
                                    <a:solidFill>
                                      <a:srgbClr val="00B050"/>
                                    </a:solidFill>
                                    <a:latin typeface="Cambria Math" panose="02040503050406030204" pitchFamily="18" charset="0"/>
                                  </a:rPr>
                                  <m:t>0</m:t>
                                </m:r>
                              </m:sub>
                            </m:sSub>
                          </m:oMath>
                        </m:oMathPara>
                      </a14:m>
                      <a:endParaRPr lang="en-US" sz="1400" dirty="0">
                        <a:solidFill>
                          <a:srgbClr val="00B050"/>
                        </a:solidFill>
                        <a:latin typeface="SamsungOne 700" panose="020B0803030303020204" pitchFamily="34" charset="0"/>
                        <a:ea typeface="SamsungOne 700" panose="020B0803030303020204" pitchFamily="34" charset="0"/>
                      </a:endParaRPr>
                    </a:p>
                  </p:txBody>
                </p:sp>
              </mc:Choice>
              <mc:Fallback xmlns="">
                <p:sp>
                  <p:nvSpPr>
                    <p:cNvPr id="87" name="TextBox 86">
                      <a:extLst>
                        <a:ext uri="{FF2B5EF4-FFF2-40B4-BE49-F238E27FC236}">
                          <a16:creationId xmlns:a16="http://schemas.microsoft.com/office/drawing/2014/main" id="{D7083FA2-DCFB-4C05-90F4-986FF3696987}"/>
                        </a:ext>
                      </a:extLst>
                    </p:cNvPr>
                    <p:cNvSpPr txBox="1">
                      <a:spLocks noRot="1" noChangeAspect="1" noMove="1" noResize="1" noEditPoints="1" noAdjustHandles="1" noChangeArrowheads="1" noChangeShapeType="1" noTextEdit="1"/>
                    </p:cNvSpPr>
                    <p:nvPr/>
                  </p:nvSpPr>
                  <p:spPr>
                    <a:xfrm>
                      <a:off x="4084838" y="2106061"/>
                      <a:ext cx="852257" cy="371262"/>
                    </a:xfrm>
                    <a:prstGeom prst="rect">
                      <a:avLst/>
                    </a:prstGeom>
                    <a:blipFill>
                      <a:blip r:embed="rId8"/>
                      <a:stretch>
                        <a:fillRect b="-5882"/>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B18B54B4-6012-42F1-8640-AAF3ADF658A7}"/>
                        </a:ext>
                      </a:extLst>
                    </p:cNvPr>
                    <p:cNvSpPr txBox="1"/>
                    <p:nvPr/>
                  </p:nvSpPr>
                  <p:spPr>
                    <a:xfrm>
                      <a:off x="3496688" y="1778926"/>
                      <a:ext cx="852257" cy="408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1</m:t>
                            </m:r>
                          </m:oMath>
                        </m:oMathPara>
                      </a14:m>
                      <a:endParaRPr lang="en-US" sz="1600" dirty="0">
                        <a:latin typeface="SamsungOne 700" panose="020B0803030303020204" pitchFamily="34" charset="0"/>
                        <a:ea typeface="SamsungOne 700" panose="020B0803030303020204" pitchFamily="34" charset="0"/>
                      </a:endParaRPr>
                    </a:p>
                  </p:txBody>
                </p:sp>
              </mc:Choice>
              <mc:Fallback xmlns="">
                <p:sp>
                  <p:nvSpPr>
                    <p:cNvPr id="88" name="TextBox 87">
                      <a:extLst>
                        <a:ext uri="{FF2B5EF4-FFF2-40B4-BE49-F238E27FC236}">
                          <a16:creationId xmlns:a16="http://schemas.microsoft.com/office/drawing/2014/main" id="{3387D0C1-EB59-401A-A821-9DCE8F6433A6}"/>
                        </a:ext>
                      </a:extLst>
                    </p:cNvPr>
                    <p:cNvSpPr txBox="1">
                      <a:spLocks noRot="1" noChangeAspect="1" noMove="1" noResize="1" noEditPoints="1" noAdjustHandles="1" noChangeArrowheads="1" noChangeShapeType="1" noTextEdit="1"/>
                    </p:cNvSpPr>
                    <p:nvPr/>
                  </p:nvSpPr>
                  <p:spPr>
                    <a:xfrm>
                      <a:off x="3496688" y="1778926"/>
                      <a:ext cx="852257" cy="408387"/>
                    </a:xfrm>
                    <a:prstGeom prst="rect">
                      <a:avLst/>
                    </a:prstGeom>
                    <a:blipFill>
                      <a:blip r:embed="rId9"/>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1C5B2F5F-89CD-41FB-8095-6CCAF68B9B9E}"/>
                        </a:ext>
                      </a:extLst>
                    </p:cNvPr>
                    <p:cNvSpPr txBox="1"/>
                    <p:nvPr/>
                  </p:nvSpPr>
                  <p:spPr>
                    <a:xfrm>
                      <a:off x="4087418" y="2676516"/>
                      <a:ext cx="852257" cy="37126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a:solidFill>
                                      <a:srgbClr val="00B050"/>
                                    </a:solidFill>
                                    <a:latin typeface="Cambria Math" panose="02040503050406030204" pitchFamily="18" charset="0"/>
                                  </a:rPr>
                                </m:ctrlPr>
                              </m:sSubPr>
                              <m:e>
                                <m:r>
                                  <a:rPr lang="en-US" sz="1400" i="1">
                                    <a:solidFill>
                                      <a:srgbClr val="00B050"/>
                                    </a:solidFill>
                                    <a:latin typeface="Cambria Math" panose="02040503050406030204" pitchFamily="18" charset="0"/>
                                    <a:ea typeface="Cambria Math" panose="02040503050406030204" pitchFamily="18" charset="0"/>
                                  </a:rPr>
                                  <m:t>𝛽</m:t>
                                </m:r>
                              </m:e>
                              <m:sub>
                                <m:r>
                                  <a:rPr lang="en-US" sz="1400" i="1">
                                    <a:solidFill>
                                      <a:srgbClr val="00B050"/>
                                    </a:solidFill>
                                    <a:latin typeface="Cambria Math" panose="02040503050406030204" pitchFamily="18" charset="0"/>
                                  </a:rPr>
                                  <m:t>1</m:t>
                                </m:r>
                              </m:sub>
                            </m:sSub>
                          </m:oMath>
                        </m:oMathPara>
                      </a14:m>
                      <a:endParaRPr lang="en-US" sz="1400" dirty="0">
                        <a:solidFill>
                          <a:srgbClr val="00B050"/>
                        </a:solidFill>
                        <a:latin typeface="SamsungOne 700" panose="020B0803030303020204" pitchFamily="34" charset="0"/>
                        <a:ea typeface="SamsungOne 700" panose="020B0803030303020204" pitchFamily="34" charset="0"/>
                      </a:endParaRPr>
                    </a:p>
                  </p:txBody>
                </p:sp>
              </mc:Choice>
              <mc:Fallback xmlns="">
                <p:sp>
                  <p:nvSpPr>
                    <p:cNvPr id="89" name="TextBox 88">
                      <a:extLst>
                        <a:ext uri="{FF2B5EF4-FFF2-40B4-BE49-F238E27FC236}">
                          <a16:creationId xmlns:a16="http://schemas.microsoft.com/office/drawing/2014/main" id="{AE181CB2-CB04-40C4-BF85-6A534C44CA7B}"/>
                        </a:ext>
                      </a:extLst>
                    </p:cNvPr>
                    <p:cNvSpPr txBox="1">
                      <a:spLocks noRot="1" noChangeAspect="1" noMove="1" noResize="1" noEditPoints="1" noAdjustHandles="1" noChangeArrowheads="1" noChangeShapeType="1" noTextEdit="1"/>
                    </p:cNvSpPr>
                    <p:nvPr/>
                  </p:nvSpPr>
                  <p:spPr>
                    <a:xfrm>
                      <a:off x="4087418" y="2676516"/>
                      <a:ext cx="852257" cy="371262"/>
                    </a:xfrm>
                    <a:prstGeom prst="rect">
                      <a:avLst/>
                    </a:prstGeom>
                    <a:blipFill>
                      <a:blip r:embed="rId10"/>
                      <a:stretch>
                        <a:fillRect b="-8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99992D4-7993-4E1B-9B73-A73D2619BE12}"/>
                        </a:ext>
                      </a:extLst>
                    </p:cNvPr>
                    <p:cNvSpPr txBox="1"/>
                    <p:nvPr/>
                  </p:nvSpPr>
                  <p:spPr>
                    <a:xfrm>
                      <a:off x="4095927" y="3290201"/>
                      <a:ext cx="852257" cy="37126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a:solidFill>
                                      <a:srgbClr val="00B050"/>
                                    </a:solidFill>
                                    <a:latin typeface="Cambria Math" panose="02040503050406030204" pitchFamily="18" charset="0"/>
                                  </a:rPr>
                                </m:ctrlPr>
                              </m:sSubPr>
                              <m:e>
                                <m:r>
                                  <a:rPr lang="en-US" sz="1400" i="1">
                                    <a:solidFill>
                                      <a:srgbClr val="00B050"/>
                                    </a:solidFill>
                                    <a:latin typeface="Cambria Math" panose="02040503050406030204" pitchFamily="18" charset="0"/>
                                    <a:ea typeface="Cambria Math" panose="02040503050406030204" pitchFamily="18" charset="0"/>
                                  </a:rPr>
                                  <m:t>𝛽</m:t>
                                </m:r>
                              </m:e>
                              <m:sub>
                                <m:r>
                                  <a:rPr lang="en-US" sz="1400" i="1">
                                    <a:solidFill>
                                      <a:srgbClr val="00B050"/>
                                    </a:solidFill>
                                    <a:latin typeface="Cambria Math" panose="02040503050406030204" pitchFamily="18" charset="0"/>
                                  </a:rPr>
                                  <m:t>2</m:t>
                                </m:r>
                              </m:sub>
                            </m:sSub>
                          </m:oMath>
                        </m:oMathPara>
                      </a14:m>
                      <a:endParaRPr lang="en-US" sz="1400" dirty="0">
                        <a:solidFill>
                          <a:srgbClr val="00B050"/>
                        </a:solidFill>
                        <a:latin typeface="SamsungOne 700" panose="020B0803030303020204" pitchFamily="34" charset="0"/>
                        <a:ea typeface="SamsungOne 700" panose="020B0803030303020204" pitchFamily="34" charset="0"/>
                      </a:endParaRPr>
                    </a:p>
                  </p:txBody>
                </p:sp>
              </mc:Choice>
              <mc:Fallback xmlns="">
                <p:sp>
                  <p:nvSpPr>
                    <p:cNvPr id="90" name="TextBox 89">
                      <a:extLst>
                        <a:ext uri="{FF2B5EF4-FFF2-40B4-BE49-F238E27FC236}">
                          <a16:creationId xmlns:a16="http://schemas.microsoft.com/office/drawing/2014/main" id="{EEAFEF91-1FC8-4622-8259-EEF5ADD8FD6C}"/>
                        </a:ext>
                      </a:extLst>
                    </p:cNvPr>
                    <p:cNvSpPr txBox="1">
                      <a:spLocks noRot="1" noChangeAspect="1" noMove="1" noResize="1" noEditPoints="1" noAdjustHandles="1" noChangeArrowheads="1" noChangeShapeType="1" noTextEdit="1"/>
                    </p:cNvSpPr>
                    <p:nvPr/>
                  </p:nvSpPr>
                  <p:spPr>
                    <a:xfrm>
                      <a:off x="4095927" y="3290201"/>
                      <a:ext cx="852257" cy="371262"/>
                    </a:xfrm>
                    <a:prstGeom prst="rect">
                      <a:avLst/>
                    </a:prstGeom>
                    <a:blipFill>
                      <a:blip r:embed="rId11"/>
                      <a:stretch>
                        <a:fillRect b="-5882"/>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ACF1EC5C-BE28-41D0-9448-DB0D4F4C321E}"/>
                        </a:ext>
                      </a:extLst>
                    </p:cNvPr>
                    <p:cNvSpPr txBox="1"/>
                    <p:nvPr/>
                  </p:nvSpPr>
                  <p:spPr>
                    <a:xfrm>
                      <a:off x="4096296" y="4364229"/>
                      <a:ext cx="852257" cy="37126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i="1">
                                    <a:solidFill>
                                      <a:srgbClr val="00B050"/>
                                    </a:solidFill>
                                    <a:latin typeface="Cambria Math" panose="02040503050406030204" pitchFamily="18" charset="0"/>
                                  </a:rPr>
                                </m:ctrlPr>
                              </m:sSubPr>
                              <m:e>
                                <m:r>
                                  <a:rPr lang="en-US" sz="1400" i="1">
                                    <a:solidFill>
                                      <a:srgbClr val="00B050"/>
                                    </a:solidFill>
                                    <a:latin typeface="Cambria Math" panose="02040503050406030204" pitchFamily="18" charset="0"/>
                                    <a:ea typeface="Cambria Math" panose="02040503050406030204" pitchFamily="18" charset="0"/>
                                  </a:rPr>
                                  <m:t>𝛽</m:t>
                                </m:r>
                              </m:e>
                              <m:sub>
                                <m:r>
                                  <a:rPr lang="en-US" sz="1400" i="1">
                                    <a:solidFill>
                                      <a:srgbClr val="00B050"/>
                                    </a:solidFill>
                                    <a:latin typeface="Cambria Math" panose="02040503050406030204" pitchFamily="18" charset="0"/>
                                  </a:rPr>
                                  <m:t>𝑘</m:t>
                                </m:r>
                              </m:sub>
                            </m:sSub>
                          </m:oMath>
                        </m:oMathPara>
                      </a14:m>
                      <a:endParaRPr lang="en-US" sz="1400" dirty="0">
                        <a:solidFill>
                          <a:srgbClr val="00B050"/>
                        </a:solidFill>
                        <a:latin typeface="SamsungOne 700" panose="020B0803030303020204" pitchFamily="34" charset="0"/>
                        <a:ea typeface="SamsungOne 700" panose="020B0803030303020204" pitchFamily="34" charset="0"/>
                      </a:endParaRPr>
                    </a:p>
                  </p:txBody>
                </p:sp>
              </mc:Choice>
              <mc:Fallback xmlns="">
                <p:sp>
                  <p:nvSpPr>
                    <p:cNvPr id="91" name="TextBox 90">
                      <a:extLst>
                        <a:ext uri="{FF2B5EF4-FFF2-40B4-BE49-F238E27FC236}">
                          <a16:creationId xmlns:a16="http://schemas.microsoft.com/office/drawing/2014/main" id="{4558FD20-580B-4CF4-ADC5-053EDE57D55D}"/>
                        </a:ext>
                      </a:extLst>
                    </p:cNvPr>
                    <p:cNvSpPr txBox="1">
                      <a:spLocks noRot="1" noChangeAspect="1" noMove="1" noResize="1" noEditPoints="1" noAdjustHandles="1" noChangeArrowheads="1" noChangeShapeType="1" noTextEdit="1"/>
                    </p:cNvSpPr>
                    <p:nvPr/>
                  </p:nvSpPr>
                  <p:spPr>
                    <a:xfrm>
                      <a:off x="4096296" y="4364229"/>
                      <a:ext cx="852257" cy="371262"/>
                    </a:xfrm>
                    <a:prstGeom prst="rect">
                      <a:avLst/>
                    </a:prstGeom>
                    <a:blipFill>
                      <a:blip r:embed="rId12"/>
                      <a:stretch>
                        <a:fillRect b="-5882"/>
                      </a:stretch>
                    </a:blipFill>
                  </p:spPr>
                  <p:txBody>
                    <a:bodyPr/>
                    <a:lstStyle/>
                    <a:p>
                      <a:r>
                        <a:rPr lang="ko-KR" altLang="en-US">
                          <a:noFill/>
                        </a:rPr>
                        <a:t> </a:t>
                      </a:r>
                    </a:p>
                  </p:txBody>
                </p:sp>
              </mc:Fallback>
            </mc:AlternateContent>
            <p:cxnSp>
              <p:nvCxnSpPr>
                <p:cNvPr id="57" name="Straight Arrow Connector 28">
                  <a:extLst>
                    <a:ext uri="{FF2B5EF4-FFF2-40B4-BE49-F238E27FC236}">
                      <a16:creationId xmlns:a16="http://schemas.microsoft.com/office/drawing/2014/main" id="{078F9A40-7947-4B60-BA6F-B3E52B730D53}"/>
                    </a:ext>
                  </a:extLst>
                </p:cNvPr>
                <p:cNvCxnSpPr>
                  <a:cxnSpLocks/>
                </p:cNvCxnSpPr>
                <p:nvPr/>
              </p:nvCxnSpPr>
              <p:spPr>
                <a:xfrm>
                  <a:off x="8035867" y="3825031"/>
                  <a:ext cx="481682" cy="0"/>
                </a:xfrm>
                <a:prstGeom prst="straightConnector1">
                  <a:avLst/>
                </a:prstGeom>
                <a:ln w="12700">
                  <a:solidFill>
                    <a:schemeClr val="bg1">
                      <a:lumMod val="50000"/>
                      <a:alpha val="50000"/>
                    </a:schemeClr>
                  </a:solidFill>
                  <a:headEnd type="none"/>
                  <a:tailEnd type="triangle" w="med" len="med"/>
                </a:ln>
              </p:spPr>
              <p:style>
                <a:lnRef idx="1">
                  <a:schemeClr val="accent1"/>
                </a:lnRef>
                <a:fillRef idx="0">
                  <a:schemeClr val="accent1"/>
                </a:fillRef>
                <a:effectRef idx="0">
                  <a:schemeClr val="accent1"/>
                </a:effectRef>
                <a:fontRef idx="minor">
                  <a:schemeClr val="tx1"/>
                </a:fontRef>
              </p:style>
            </p:cxnSp>
            <p:grpSp>
              <p:nvGrpSpPr>
                <p:cNvPr id="58" name="Group 29">
                  <a:extLst>
                    <a:ext uri="{FF2B5EF4-FFF2-40B4-BE49-F238E27FC236}">
                      <a16:creationId xmlns:a16="http://schemas.microsoft.com/office/drawing/2014/main" id="{4F89BB5B-860E-4A6C-9F5F-368BD07109CF}"/>
                    </a:ext>
                  </a:extLst>
                </p:cNvPr>
                <p:cNvGrpSpPr/>
                <p:nvPr/>
              </p:nvGrpSpPr>
              <p:grpSpPr>
                <a:xfrm>
                  <a:off x="1794197" y="2813044"/>
                  <a:ext cx="1631790" cy="1513896"/>
                  <a:chOff x="1101738" y="3100594"/>
                  <a:chExt cx="1631790" cy="1513896"/>
                </a:xfrm>
              </p:grpSpPr>
              <p:sp>
                <p:nvSpPr>
                  <p:cNvPr id="65" name="TextBox 64">
                    <a:extLst>
                      <a:ext uri="{FF2B5EF4-FFF2-40B4-BE49-F238E27FC236}">
                        <a16:creationId xmlns:a16="http://schemas.microsoft.com/office/drawing/2014/main" id="{EF046469-DBF8-457E-B373-6ED7F01A7C78}"/>
                      </a:ext>
                    </a:extLst>
                  </p:cNvPr>
                  <p:cNvSpPr txBox="1"/>
                  <p:nvPr/>
                </p:nvSpPr>
                <p:spPr>
                  <a:xfrm>
                    <a:off x="1101738" y="3635265"/>
                    <a:ext cx="1290595" cy="408387"/>
                  </a:xfrm>
                  <a:prstGeom prst="rect">
                    <a:avLst/>
                  </a:prstGeom>
                  <a:noFill/>
                </p:spPr>
                <p:txBody>
                  <a:bodyPr wrap="square" rtlCol="0">
                    <a:spAutoFit/>
                  </a:bodyPr>
                  <a:lstStyle/>
                  <a:p>
                    <a:pPr algn="ctr"/>
                    <a:r>
                      <a:rPr lang="en-US" sz="1600" dirty="0">
                        <a:latin typeface="SamsungOne 400" panose="020B0503030303020204" pitchFamily="34" charset="0"/>
                        <a:ea typeface="SamsungOne 400" panose="020B0503030303020204" pitchFamily="34" charset="0"/>
                        <a:cs typeface="Times New Roman" panose="02020603050405020304" pitchFamily="18" charset="0"/>
                      </a:rPr>
                      <a:t>Input</a:t>
                    </a:r>
                  </a:p>
                </p:txBody>
              </p:sp>
              <p:sp>
                <p:nvSpPr>
                  <p:cNvPr id="66" name="Right Arrow 31">
                    <a:extLst>
                      <a:ext uri="{FF2B5EF4-FFF2-40B4-BE49-F238E27FC236}">
                        <a16:creationId xmlns:a16="http://schemas.microsoft.com/office/drawing/2014/main" id="{6B7E72BB-7E35-45AB-AC23-79DF8794B154}"/>
                      </a:ext>
                    </a:extLst>
                  </p:cNvPr>
                  <p:cNvSpPr/>
                  <p:nvPr/>
                </p:nvSpPr>
                <p:spPr>
                  <a:xfrm>
                    <a:off x="2264592" y="3100594"/>
                    <a:ext cx="468936" cy="1513896"/>
                  </a:xfrm>
                  <a:prstGeom prst="rightArrow">
                    <a:avLst/>
                  </a:prstGeom>
                  <a:gradFill>
                    <a:gsLst>
                      <a:gs pos="100000">
                        <a:schemeClr val="bg1">
                          <a:lumMod val="75000"/>
                        </a:schemeClr>
                      </a:gs>
                      <a:gs pos="12000">
                        <a:schemeClr val="bg1">
                          <a:lumMod val="75000"/>
                          <a:alpha val="0"/>
                        </a:schemeClr>
                      </a:gs>
                    </a:gsLst>
                    <a:lin ang="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grpSp>
            <p:grpSp>
              <p:nvGrpSpPr>
                <p:cNvPr id="59" name="Group 36">
                  <a:extLst>
                    <a:ext uri="{FF2B5EF4-FFF2-40B4-BE49-F238E27FC236}">
                      <a16:creationId xmlns:a16="http://schemas.microsoft.com/office/drawing/2014/main" id="{2884617F-0B52-4F5C-B018-098EE51B09F8}"/>
                    </a:ext>
                  </a:extLst>
                </p:cNvPr>
                <p:cNvGrpSpPr/>
                <p:nvPr/>
              </p:nvGrpSpPr>
              <p:grpSpPr>
                <a:xfrm>
                  <a:off x="8230841" y="3557788"/>
                  <a:ext cx="2361016" cy="540316"/>
                  <a:chOff x="8230841" y="3845338"/>
                  <a:chExt cx="2361016" cy="540316"/>
                </a:xfrm>
              </p:grpSpPr>
              <p:sp>
                <p:nvSpPr>
                  <p:cNvPr id="60" name="TextBox 59">
                    <a:extLst>
                      <a:ext uri="{FF2B5EF4-FFF2-40B4-BE49-F238E27FC236}">
                        <a16:creationId xmlns:a16="http://schemas.microsoft.com/office/drawing/2014/main" id="{0558EC44-D5D5-4EA8-9B16-03E2342BEB74}"/>
                      </a:ext>
                    </a:extLst>
                  </p:cNvPr>
                  <p:cNvSpPr txBox="1"/>
                  <p:nvPr/>
                </p:nvSpPr>
                <p:spPr>
                  <a:xfrm>
                    <a:off x="8230841" y="3958302"/>
                    <a:ext cx="1290595" cy="315572"/>
                  </a:xfrm>
                  <a:prstGeom prst="rect">
                    <a:avLst/>
                  </a:prstGeom>
                  <a:noFill/>
                </p:spPr>
                <p:txBody>
                  <a:bodyPr wrap="square" rtlCol="0">
                    <a:spAutoFit/>
                  </a:bodyPr>
                  <a:lstStyle/>
                  <a:p>
                    <a:pPr algn="ctr"/>
                    <a:r>
                      <a:rPr lang="en-US" sz="1100" dirty="0">
                        <a:latin typeface="SamsungOne 400" panose="020B0503030303020204" pitchFamily="34" charset="0"/>
                        <a:ea typeface="SamsungOne 400" panose="020B0503030303020204" pitchFamily="34" charset="0"/>
                        <a:cs typeface="Times New Roman" panose="02020603050405020304" pitchFamily="18" charset="0"/>
                      </a:rPr>
                      <a:t>Output</a:t>
                    </a:r>
                  </a:p>
                </p:txBody>
              </p:sp>
              <p:grpSp>
                <p:nvGrpSpPr>
                  <p:cNvPr id="61" name="Group 41">
                    <a:extLst>
                      <a:ext uri="{FF2B5EF4-FFF2-40B4-BE49-F238E27FC236}">
                        <a16:creationId xmlns:a16="http://schemas.microsoft.com/office/drawing/2014/main" id="{4CF5C1EF-96D9-4280-AEC5-0BB36A66EED2}"/>
                      </a:ext>
                    </a:extLst>
                  </p:cNvPr>
                  <p:cNvGrpSpPr/>
                  <p:nvPr/>
                </p:nvGrpSpPr>
                <p:grpSpPr>
                  <a:xfrm>
                    <a:off x="9739600" y="3845338"/>
                    <a:ext cx="852257" cy="540316"/>
                    <a:chOff x="9357859" y="3845338"/>
                    <a:chExt cx="852257" cy="540316"/>
                  </a:xfrm>
                </p:grpSpPr>
                <p:sp>
                  <p:nvSpPr>
                    <p:cNvPr id="63" name="Oval 43">
                      <a:extLst>
                        <a:ext uri="{FF2B5EF4-FFF2-40B4-BE49-F238E27FC236}">
                          <a16:creationId xmlns:a16="http://schemas.microsoft.com/office/drawing/2014/main" id="{EC36EFA9-95F4-466D-861E-62B470DB3E78}"/>
                        </a:ext>
                      </a:extLst>
                    </p:cNvPr>
                    <p:cNvSpPr/>
                    <p:nvPr/>
                  </p:nvSpPr>
                  <p:spPr>
                    <a:xfrm>
                      <a:off x="9484580" y="3845338"/>
                      <a:ext cx="504000" cy="534487"/>
                    </a:xfrm>
                    <a:prstGeom prst="ellipse">
                      <a:avLst/>
                    </a:prstGeom>
                    <a:solidFill>
                      <a:srgbClr val="00B050">
                        <a:alpha val="20000"/>
                      </a:srgbClr>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74802723-F3B4-4FBF-89E0-DF86D0743E8A}"/>
                            </a:ext>
                          </a:extLst>
                        </p:cNvPr>
                        <p:cNvSpPr txBox="1"/>
                        <p:nvPr/>
                      </p:nvSpPr>
                      <p:spPr>
                        <a:xfrm>
                          <a:off x="9357859" y="3847325"/>
                          <a:ext cx="852257" cy="538329"/>
                        </a:xfrm>
                        <a:prstGeom prst="rect">
                          <a:avLst/>
                        </a:prstGeom>
                        <a:noFill/>
                      </p:spPr>
                      <p:txBody>
                        <a:bodyPr wrap="square" rtlCol="0">
                          <a:spAutoFit/>
                        </a:bodyPr>
                        <a:lstStyle/>
                        <a:p>
                          <a:pPr algn="ctr">
                            <a:spcAft>
                              <a:spcPts val="600"/>
                            </a:spcAft>
                          </a:pPr>
                          <a14:m>
                            <m:oMathPara xmlns:m="http://schemas.openxmlformats.org/officeDocument/2006/math">
                              <m:oMathParaPr>
                                <m:jc m:val="centerGroup"/>
                              </m:oMathParaPr>
                              <m:oMath xmlns:m="http://schemas.openxmlformats.org/officeDocument/2006/math">
                                <m:r>
                                  <a:rPr lang="en-US" dirty="0" smtClean="0">
                                    <a:solidFill>
                                      <a:schemeClr val="tx1">
                                        <a:lumMod val="85000"/>
                                        <a:lumOff val="15000"/>
                                      </a:schemeClr>
                                    </a:solidFill>
                                    <a:latin typeface="Cambria Math" panose="02040503050406030204" pitchFamily="18" charset="0"/>
                                    <a:ea typeface="SamsungOne 700" panose="020B0803030303020204" pitchFamily="34" charset="0"/>
                                  </a:rPr>
                                  <m:t>𝑌</m:t>
                                </m:r>
                              </m:oMath>
                            </m:oMathPara>
                          </a14:m>
                          <a:endParaRPr lang="en-US" dirty="0">
                            <a:solidFill>
                              <a:schemeClr val="tx1">
                                <a:lumMod val="85000"/>
                                <a:lumOff val="15000"/>
                              </a:schemeClr>
                            </a:solidFill>
                            <a:latin typeface="Cambria Math" panose="02040503050406030204" pitchFamily="18" charset="0"/>
                            <a:ea typeface="SamsungOne 700" panose="020B0803030303020204" pitchFamily="34" charset="0"/>
                          </a:endParaRPr>
                        </a:p>
                      </p:txBody>
                    </p:sp>
                  </mc:Choice>
                  <mc:Fallback xmlns="">
                    <p:sp>
                      <p:nvSpPr>
                        <p:cNvPr id="113" name="TextBox 112">
                          <a:extLst>
                            <a:ext uri="{FF2B5EF4-FFF2-40B4-BE49-F238E27FC236}">
                              <a16:creationId xmlns:a16="http://schemas.microsoft.com/office/drawing/2014/main" id="{43CF8D93-1AC1-4988-9A6A-06F4BD4D2DD1}"/>
                            </a:ext>
                          </a:extLst>
                        </p:cNvPr>
                        <p:cNvSpPr txBox="1">
                          <a:spLocks noRot="1" noChangeAspect="1" noMove="1" noResize="1" noEditPoints="1" noAdjustHandles="1" noChangeArrowheads="1" noChangeShapeType="1" noTextEdit="1"/>
                        </p:cNvSpPr>
                        <p:nvPr/>
                      </p:nvSpPr>
                      <p:spPr>
                        <a:xfrm>
                          <a:off x="9357859" y="3847325"/>
                          <a:ext cx="852257" cy="538329"/>
                        </a:xfrm>
                        <a:prstGeom prst="rect">
                          <a:avLst/>
                        </a:prstGeom>
                        <a:blipFill>
                          <a:blip r:embed="rId13"/>
                          <a:stretch>
                            <a:fillRect/>
                          </a:stretch>
                        </a:blipFill>
                      </p:spPr>
                      <p:txBody>
                        <a:bodyPr/>
                        <a:lstStyle/>
                        <a:p>
                          <a:r>
                            <a:rPr lang="ko-KR" altLang="en-US">
                              <a:noFill/>
                            </a:rPr>
                            <a:t> </a:t>
                          </a:r>
                        </a:p>
                      </p:txBody>
                    </p:sp>
                  </mc:Fallback>
                </mc:AlternateContent>
              </p:grpSp>
              <p:sp>
                <p:nvSpPr>
                  <p:cNvPr id="62" name="Left-Right Arrow 42">
                    <a:extLst>
                      <a:ext uri="{FF2B5EF4-FFF2-40B4-BE49-F238E27FC236}">
                        <a16:creationId xmlns:a16="http://schemas.microsoft.com/office/drawing/2014/main" id="{5474CA60-A3E2-461D-A308-18C40EEA711E}"/>
                      </a:ext>
                    </a:extLst>
                  </p:cNvPr>
                  <p:cNvSpPr/>
                  <p:nvPr/>
                </p:nvSpPr>
                <p:spPr>
                  <a:xfrm>
                    <a:off x="9296386" y="4001069"/>
                    <a:ext cx="435006" cy="205055"/>
                  </a:xfrm>
                  <a:prstGeom prst="lef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grpSp>
          </p:grpSp>
          <p:sp>
            <p:nvSpPr>
              <p:cNvPr id="30" name="Oval 74">
                <a:extLst>
                  <a:ext uri="{FF2B5EF4-FFF2-40B4-BE49-F238E27FC236}">
                    <a16:creationId xmlns:a16="http://schemas.microsoft.com/office/drawing/2014/main" id="{9CEE354A-CA45-42B3-9C15-01263F7E098F}"/>
                  </a:ext>
                </a:extLst>
              </p:cNvPr>
              <p:cNvSpPr/>
              <p:nvPr/>
            </p:nvSpPr>
            <p:spPr>
              <a:xfrm>
                <a:off x="2815748" y="2600984"/>
                <a:ext cx="404261" cy="2863946"/>
              </a:xfrm>
              <a:prstGeom prst="roundRect">
                <a:avLst>
                  <a:gd name="adj" fmla="val 50000"/>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grpSp>
        <p:sp>
          <p:nvSpPr>
            <p:cNvPr id="15" name="Oval 16">
              <a:extLst>
                <a:ext uri="{FF2B5EF4-FFF2-40B4-BE49-F238E27FC236}">
                  <a16:creationId xmlns:a16="http://schemas.microsoft.com/office/drawing/2014/main" id="{C79A0BDC-1D06-4637-AF44-59792DE5BE86}"/>
                </a:ext>
              </a:extLst>
            </p:cNvPr>
            <p:cNvSpPr/>
            <p:nvPr/>
          </p:nvSpPr>
          <p:spPr>
            <a:xfrm>
              <a:off x="5920917" y="3549980"/>
              <a:ext cx="443091" cy="443091"/>
            </a:xfrm>
            <a:prstGeom prst="ellipse">
              <a:avLst/>
            </a:prstGeom>
            <a:solidFill>
              <a:srgbClr val="C5D1F7">
                <a:alpha val="49804"/>
              </a:srgbClr>
            </a:solidFill>
            <a:ln w="1905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 name="Freeform 17">
              <a:extLst>
                <a:ext uri="{FF2B5EF4-FFF2-40B4-BE49-F238E27FC236}">
                  <a16:creationId xmlns:a16="http://schemas.microsoft.com/office/drawing/2014/main" id="{21A17221-FB0D-4B39-B946-6C19A33BA2A6}"/>
                </a:ext>
              </a:extLst>
            </p:cNvPr>
            <p:cNvSpPr/>
            <p:nvPr/>
          </p:nvSpPr>
          <p:spPr>
            <a:xfrm>
              <a:off x="6007256" y="3668107"/>
              <a:ext cx="296258" cy="206069"/>
            </a:xfrm>
            <a:custGeom>
              <a:avLst/>
              <a:gdLst>
                <a:gd name="connsiteX0" fmla="*/ 0 w 452761"/>
                <a:gd name="connsiteY0" fmla="*/ 310719 h 310719"/>
                <a:gd name="connsiteX1" fmla="*/ 177553 w 452761"/>
                <a:gd name="connsiteY1" fmla="*/ 248575 h 310719"/>
                <a:gd name="connsiteX2" fmla="*/ 292963 w 452761"/>
                <a:gd name="connsiteY2" fmla="*/ 79899 h 310719"/>
                <a:gd name="connsiteX3" fmla="*/ 452761 w 452761"/>
                <a:gd name="connsiteY3" fmla="*/ 0 h 310719"/>
              </a:gdLst>
              <a:ahLst/>
              <a:cxnLst>
                <a:cxn ang="0">
                  <a:pos x="connsiteX0" y="connsiteY0"/>
                </a:cxn>
                <a:cxn ang="0">
                  <a:pos x="connsiteX1" y="connsiteY1"/>
                </a:cxn>
                <a:cxn ang="0">
                  <a:pos x="connsiteX2" y="connsiteY2"/>
                </a:cxn>
                <a:cxn ang="0">
                  <a:pos x="connsiteX3" y="connsiteY3"/>
                </a:cxn>
              </a:cxnLst>
              <a:rect l="l" t="t" r="r" b="b"/>
              <a:pathLst>
                <a:path w="452761" h="310719">
                  <a:moveTo>
                    <a:pt x="0" y="310719"/>
                  </a:moveTo>
                  <a:cubicBezTo>
                    <a:pt x="64363" y="298882"/>
                    <a:pt x="128726" y="287045"/>
                    <a:pt x="177553" y="248575"/>
                  </a:cubicBezTo>
                  <a:cubicBezTo>
                    <a:pt x="226380" y="210105"/>
                    <a:pt x="247095" y="121328"/>
                    <a:pt x="292963" y="79899"/>
                  </a:cubicBezTo>
                  <a:cubicBezTo>
                    <a:pt x="338831" y="38470"/>
                    <a:pt x="399495" y="4439"/>
                    <a:pt x="452761" y="0"/>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SamsungOne 700" panose="020B0803030303020204" pitchFamily="34" charset="0"/>
                <a:ea typeface="SamsungOne 700" panose="020B0803030303020204" pitchFamily="34" charset="0"/>
              </a:endParaRPr>
            </a:p>
          </p:txBody>
        </p:sp>
        <p:sp>
          <p:nvSpPr>
            <p:cNvPr id="17" name="화살표: 아래쪽 16">
              <a:extLst>
                <a:ext uri="{FF2B5EF4-FFF2-40B4-BE49-F238E27FC236}">
                  <a16:creationId xmlns:a16="http://schemas.microsoft.com/office/drawing/2014/main" id="{781AE20A-B7F8-4F0C-9317-BF7104D0E9BC}"/>
                </a:ext>
              </a:extLst>
            </p:cNvPr>
            <p:cNvSpPr/>
            <p:nvPr/>
          </p:nvSpPr>
          <p:spPr>
            <a:xfrm flipV="1">
              <a:off x="5260877" y="4060951"/>
              <a:ext cx="132165" cy="521191"/>
            </a:xfrm>
            <a:prstGeom prst="downArrow">
              <a:avLst/>
            </a:prstGeom>
            <a:gradFill>
              <a:gsLst>
                <a:gs pos="0">
                  <a:schemeClr val="bg1"/>
                </a:gs>
                <a:gs pos="100000">
                  <a:srgbClr val="FF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화살표: 아래쪽 17">
              <a:extLst>
                <a:ext uri="{FF2B5EF4-FFF2-40B4-BE49-F238E27FC236}">
                  <a16:creationId xmlns:a16="http://schemas.microsoft.com/office/drawing/2014/main" id="{479BCF71-C635-478F-82DC-410763C4D02A}"/>
                </a:ext>
              </a:extLst>
            </p:cNvPr>
            <p:cNvSpPr/>
            <p:nvPr/>
          </p:nvSpPr>
          <p:spPr>
            <a:xfrm flipV="1">
              <a:off x="7051577" y="4060951"/>
              <a:ext cx="132165" cy="521191"/>
            </a:xfrm>
            <a:prstGeom prst="downArrow">
              <a:avLst/>
            </a:prstGeom>
            <a:gradFill>
              <a:gsLst>
                <a:gs pos="0">
                  <a:schemeClr val="bg1"/>
                </a:gs>
                <a:gs pos="100000">
                  <a:srgbClr val="FF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화살표: 아래쪽 18">
              <a:extLst>
                <a:ext uri="{FF2B5EF4-FFF2-40B4-BE49-F238E27FC236}">
                  <a16:creationId xmlns:a16="http://schemas.microsoft.com/office/drawing/2014/main" id="{231E0C0D-7328-4EE1-BA14-EFC8EA0ED51A}"/>
                </a:ext>
              </a:extLst>
            </p:cNvPr>
            <p:cNvSpPr/>
            <p:nvPr/>
          </p:nvSpPr>
          <p:spPr>
            <a:xfrm>
              <a:off x="8130580" y="2979440"/>
              <a:ext cx="132165" cy="521191"/>
            </a:xfrm>
            <a:prstGeom prst="downArrow">
              <a:avLst/>
            </a:prstGeom>
            <a:gradFill>
              <a:gsLst>
                <a:gs pos="0">
                  <a:schemeClr val="bg1"/>
                </a:gs>
                <a:gs pos="100000">
                  <a:srgbClr val="FF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화살표: 아래쪽 19">
              <a:extLst>
                <a:ext uri="{FF2B5EF4-FFF2-40B4-BE49-F238E27FC236}">
                  <a16:creationId xmlns:a16="http://schemas.microsoft.com/office/drawing/2014/main" id="{779C9756-A122-49F7-9EEA-D15BF91B2D80}"/>
                </a:ext>
              </a:extLst>
            </p:cNvPr>
            <p:cNvSpPr/>
            <p:nvPr/>
          </p:nvSpPr>
          <p:spPr>
            <a:xfrm flipV="1">
              <a:off x="3185465" y="4701127"/>
              <a:ext cx="132165" cy="521191"/>
            </a:xfrm>
            <a:prstGeom prst="downArrow">
              <a:avLst/>
            </a:prstGeom>
            <a:gradFill>
              <a:gsLst>
                <a:gs pos="0">
                  <a:schemeClr val="bg1"/>
                </a:gs>
                <a:gs pos="100000">
                  <a:srgbClr val="FF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TextBox 20">
              <a:extLst>
                <a:ext uri="{FF2B5EF4-FFF2-40B4-BE49-F238E27FC236}">
                  <a16:creationId xmlns:a16="http://schemas.microsoft.com/office/drawing/2014/main" id="{FDA41677-D52F-4372-91F4-6493ED803771}"/>
                </a:ext>
              </a:extLst>
            </p:cNvPr>
            <p:cNvSpPr txBox="1"/>
            <p:nvPr/>
          </p:nvSpPr>
          <p:spPr>
            <a:xfrm>
              <a:off x="2719162" y="5066840"/>
              <a:ext cx="1115098" cy="261610"/>
            </a:xfrm>
            <a:prstGeom prst="rect">
              <a:avLst/>
            </a:prstGeom>
            <a:noFill/>
          </p:spPr>
          <p:txBody>
            <a:bodyPr wrap="square" rtlCol="0">
              <a:spAutoFit/>
            </a:bodyPr>
            <a:lstStyle/>
            <a:p>
              <a:pPr algn="ctr"/>
              <a:r>
                <a:rPr lang="en-US" sz="1100" dirty="0">
                  <a:solidFill>
                    <a:srgbClr val="FF0000"/>
                  </a:solidFill>
                  <a:latin typeface="SamsungOne 700" panose="020B0803030303020204" pitchFamily="34" charset="0"/>
                  <a:ea typeface="SamsungOne 700" panose="020B0803030303020204" pitchFamily="34" charset="0"/>
                  <a:cs typeface="Times New Roman" panose="02020603050405020304" pitchFamily="18" charset="0"/>
                </a:rPr>
                <a:t>Parameters</a:t>
              </a:r>
            </a:p>
          </p:txBody>
        </p:sp>
        <p:sp>
          <p:nvSpPr>
            <p:cNvPr id="22" name="TextBox 21">
              <a:extLst>
                <a:ext uri="{FF2B5EF4-FFF2-40B4-BE49-F238E27FC236}">
                  <a16:creationId xmlns:a16="http://schemas.microsoft.com/office/drawing/2014/main" id="{67D0D63F-FBAC-4D19-8E15-3B7428B7E84A}"/>
                </a:ext>
              </a:extLst>
            </p:cNvPr>
            <p:cNvSpPr txBox="1"/>
            <p:nvPr/>
          </p:nvSpPr>
          <p:spPr>
            <a:xfrm>
              <a:off x="4872630" y="4365200"/>
              <a:ext cx="836576" cy="416011"/>
            </a:xfrm>
            <a:prstGeom prst="rect">
              <a:avLst/>
            </a:prstGeom>
            <a:noFill/>
          </p:spPr>
          <p:txBody>
            <a:bodyPr wrap="square" rtlCol="0">
              <a:spAutoFit/>
            </a:bodyPr>
            <a:lstStyle/>
            <a:p>
              <a:pPr algn="ctr">
                <a:lnSpc>
                  <a:spcPct val="150000"/>
                </a:lnSpc>
                <a:spcBef>
                  <a:spcPts val="1000"/>
                </a:spcBef>
                <a:spcAft>
                  <a:spcPts val="800"/>
                </a:spcAft>
                <a:buClr>
                  <a:srgbClr val="193EB0"/>
                </a:buClr>
              </a:pPr>
              <a:r>
                <a:rPr lang="en-US" sz="1600" i="1" dirty="0">
                  <a:solidFill>
                    <a:srgbClr val="FF0000"/>
                  </a:solidFill>
                  <a:latin typeface="Cambria Math" panose="02040503050406030204" pitchFamily="18" charset="0"/>
                  <a:ea typeface="SamsungOne 400" panose="020B0503030303020204" pitchFamily="34" charset="0"/>
                </a:rPr>
                <a:t>S</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AFB266B-3D87-469F-BBF0-D15B04880E5E}"/>
                    </a:ext>
                  </a:extLst>
                </p:cNvPr>
                <p:cNvSpPr txBox="1"/>
                <p:nvPr/>
              </p:nvSpPr>
              <p:spPr>
                <a:xfrm>
                  <a:off x="6148803" y="4335921"/>
                  <a:ext cx="1968238" cy="492442"/>
                </a:xfrm>
                <a:prstGeom prst="rect">
                  <a:avLst/>
                </a:prstGeom>
                <a:noFill/>
              </p:spPr>
              <p:txBody>
                <a:bodyPr wrap="square" rtlCol="0">
                  <a:spAutoFit/>
                </a:bodyPr>
                <a:lstStyle/>
                <a:p>
                  <a:pPr algn="ctr">
                    <a:lnSpc>
                      <a:spcPct val="150000"/>
                    </a:lnSpc>
                    <a:spcBef>
                      <a:spcPts val="1000"/>
                    </a:spcBef>
                    <a:spcAft>
                      <a:spcPts val="600"/>
                    </a:spcAft>
                    <a:buClr>
                      <a:srgbClr val="193EB0"/>
                    </a:buClr>
                  </a:pPr>
                  <a14:m>
                    <m:oMathPara xmlns:m="http://schemas.openxmlformats.org/officeDocument/2006/math">
                      <m:oMathParaPr>
                        <m:jc m:val="centerGroup"/>
                      </m:oMathParaPr>
                      <m:oMath xmlns:m="http://schemas.openxmlformats.org/officeDocument/2006/math">
                        <m:r>
                          <a:rPr lang="en-US" altLang="ko-KR" sz="1400" i="1" dirty="0">
                            <a:solidFill>
                              <a:srgbClr val="FF0000"/>
                            </a:solidFill>
                            <a:latin typeface="Cambria Math" panose="02040503050406030204" pitchFamily="18" charset="0"/>
                            <a:ea typeface="SamsungOne 700" panose="020B0803030303020204" pitchFamily="34" charset="0"/>
                            <a:sym typeface="Symbol" panose="05050102010706020507" pitchFamily="18" charset="2"/>
                          </a:rPr>
                          <m:t>𝑃</m:t>
                        </m:r>
                        <m:r>
                          <a:rPr lang="en-US" altLang="ko-KR" sz="1400" i="1" dirty="0">
                            <a:solidFill>
                              <a:srgbClr val="FF0000"/>
                            </a:solidFill>
                            <a:latin typeface="Cambria Math" panose="02040503050406030204" pitchFamily="18" charset="0"/>
                            <a:ea typeface="SamsungOne 700" panose="020B0803030303020204" pitchFamily="34" charset="0"/>
                            <a:sym typeface="Symbol" panose="05050102010706020507" pitchFamily="18" charset="2"/>
                          </a:rPr>
                          <m:t>(</m:t>
                        </m:r>
                        <m:r>
                          <a:rPr lang="en-US" altLang="ko-KR" sz="1400" i="1" dirty="0">
                            <a:solidFill>
                              <a:srgbClr val="FF0000"/>
                            </a:solidFill>
                            <a:latin typeface="Cambria Math" panose="02040503050406030204" pitchFamily="18" charset="0"/>
                            <a:ea typeface="SamsungOne 700" panose="020B0803030303020204" pitchFamily="34" charset="0"/>
                            <a:sym typeface="Symbol" panose="05050102010706020507" pitchFamily="18" charset="2"/>
                          </a:rPr>
                          <m:t>𝑌</m:t>
                        </m:r>
                        <m:r>
                          <a:rPr lang="en-US" altLang="ko-KR" sz="1400" i="1" dirty="0">
                            <a:solidFill>
                              <a:srgbClr val="FF0000"/>
                            </a:solidFill>
                            <a:latin typeface="Cambria Math" panose="02040503050406030204" pitchFamily="18" charset="0"/>
                            <a:ea typeface="SamsungOne 700" panose="020B0803030303020204" pitchFamily="34" charset="0"/>
                            <a:sym typeface="Symbol" panose="05050102010706020507" pitchFamily="18" charset="2"/>
                          </a:rPr>
                          <m:t>=1|</m:t>
                        </m:r>
                        <m:r>
                          <a:rPr lang="en-US" altLang="ko-KR" sz="1400" i="1" dirty="0">
                            <a:solidFill>
                              <a:srgbClr val="FF0000"/>
                            </a:solidFill>
                            <a:latin typeface="Cambria Math" panose="02040503050406030204" pitchFamily="18" charset="0"/>
                            <a:ea typeface="SamsungOne 700" panose="020B0803030303020204" pitchFamily="34" charset="0"/>
                            <a:sym typeface="Symbol" panose="05050102010706020507" pitchFamily="18" charset="2"/>
                          </a:rPr>
                          <m:t>𝑑𝑎𝑡𝑎</m:t>
                        </m:r>
                        <m:r>
                          <a:rPr lang="en-US" altLang="ko-KR" sz="1400" i="1" dirty="0">
                            <a:solidFill>
                              <a:srgbClr val="FF0000"/>
                            </a:solidFill>
                            <a:latin typeface="Cambria Math" panose="02040503050406030204" pitchFamily="18" charset="0"/>
                            <a:ea typeface="SamsungOne 700" panose="020B0803030303020204" pitchFamily="34" charset="0"/>
                            <a:sym typeface="Symbol" panose="05050102010706020507" pitchFamily="18" charset="2"/>
                          </a:rPr>
                          <m:t>)</m:t>
                        </m:r>
                      </m:oMath>
                    </m:oMathPara>
                  </a14:m>
                  <a:endParaRPr lang="en-US" sz="1400" i="1" dirty="0">
                    <a:solidFill>
                      <a:srgbClr val="FF0000"/>
                    </a:solidFill>
                    <a:latin typeface="Cambria Math" panose="02040503050406030204" pitchFamily="18" charset="0"/>
                    <a:ea typeface="SamsungOne 700" panose="020B0803030303020204" pitchFamily="34" charset="0"/>
                  </a:endParaRPr>
                </a:p>
              </p:txBody>
            </p:sp>
          </mc:Choice>
          <mc:Fallback xmlns="">
            <p:sp>
              <p:nvSpPr>
                <p:cNvPr id="26" name="TextBox 25">
                  <a:extLst>
                    <a:ext uri="{FF2B5EF4-FFF2-40B4-BE49-F238E27FC236}">
                      <a16:creationId xmlns:a16="http://schemas.microsoft.com/office/drawing/2014/main" id="{0AFB266B-3D87-469F-BBF0-D15B04880E5E}"/>
                    </a:ext>
                  </a:extLst>
                </p:cNvPr>
                <p:cNvSpPr txBox="1">
                  <a:spLocks noRot="1" noChangeAspect="1" noMove="1" noResize="1" noEditPoints="1" noAdjustHandles="1" noChangeArrowheads="1" noChangeShapeType="1" noTextEdit="1"/>
                </p:cNvSpPr>
                <p:nvPr/>
              </p:nvSpPr>
              <p:spPr>
                <a:xfrm>
                  <a:off x="6148803" y="4335921"/>
                  <a:ext cx="1968238" cy="492442"/>
                </a:xfrm>
                <a:prstGeom prst="rect">
                  <a:avLst/>
                </a:prstGeom>
                <a:blipFill>
                  <a:blip r:embed="rId1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1B5069A-9508-4106-B904-AE1E487FC55B}"/>
                    </a:ext>
                  </a:extLst>
                </p:cNvPr>
                <p:cNvSpPr txBox="1"/>
                <p:nvPr/>
              </p:nvSpPr>
              <p:spPr>
                <a:xfrm>
                  <a:off x="6148803" y="4629872"/>
                  <a:ext cx="1968238" cy="518091"/>
                </a:xfrm>
                <a:prstGeom prst="rect">
                  <a:avLst/>
                </a:prstGeom>
                <a:noFill/>
              </p:spPr>
              <p:txBody>
                <a:bodyPr wrap="square" rtlCol="0">
                  <a:spAutoFit/>
                </a:bodyPr>
                <a:lstStyle/>
                <a:p>
                  <a:pPr>
                    <a:lnSpc>
                      <a:spcPct val="150000"/>
                    </a:lnSpc>
                    <a:spcBef>
                      <a:spcPts val="1000"/>
                    </a:spcBef>
                    <a:spcAft>
                      <a:spcPts val="800"/>
                    </a:spcAft>
                    <a:buClr>
                      <a:srgbClr val="193EB0"/>
                    </a:buClr>
                  </a:pPr>
                  <a14:m>
                    <m:oMathPara xmlns:m="http://schemas.openxmlformats.org/officeDocument/2006/math">
                      <m:oMathParaPr>
                        <m:jc m:val="centerGroup"/>
                      </m:oMathParaPr>
                      <m:oMath xmlns:m="http://schemas.openxmlformats.org/officeDocument/2006/math">
                        <m:r>
                          <a:rPr lang="en-US" altLang="ko-KR" sz="1400" i="1" dirty="0">
                            <a:solidFill>
                              <a:srgbClr val="FF0000"/>
                            </a:solidFill>
                            <a:latin typeface="Cambria Math" panose="02040503050406030204" pitchFamily="18" charset="0"/>
                            <a:ea typeface="SamsungOne 400" panose="020B0503030303020204" pitchFamily="34" charset="0"/>
                            <a:sym typeface="Symbol" panose="05050102010706020507" pitchFamily="18" charset="2"/>
                          </a:rPr>
                          <m:t>0.3, 0.72, 0.12, …</m:t>
                        </m:r>
                      </m:oMath>
                    </m:oMathPara>
                  </a14:m>
                  <a:endParaRPr lang="en-US" sz="1400" i="1" dirty="0">
                    <a:solidFill>
                      <a:srgbClr val="FF0000"/>
                    </a:solidFill>
                    <a:latin typeface="Cambria Math" panose="02040503050406030204" pitchFamily="18" charset="0"/>
                    <a:ea typeface="SamsungOne 400" panose="020B0503030303020204" pitchFamily="34" charset="0"/>
                  </a:endParaRPr>
                </a:p>
              </p:txBody>
            </p:sp>
          </mc:Choice>
          <mc:Fallback xmlns="">
            <p:sp>
              <p:nvSpPr>
                <p:cNvPr id="27" name="TextBox 26">
                  <a:extLst>
                    <a:ext uri="{FF2B5EF4-FFF2-40B4-BE49-F238E27FC236}">
                      <a16:creationId xmlns:a16="http://schemas.microsoft.com/office/drawing/2014/main" id="{F1B5069A-9508-4106-B904-AE1E487FC55B}"/>
                    </a:ext>
                  </a:extLst>
                </p:cNvPr>
                <p:cNvSpPr txBox="1">
                  <a:spLocks noRot="1" noChangeAspect="1" noMove="1" noResize="1" noEditPoints="1" noAdjustHandles="1" noChangeArrowheads="1" noChangeShapeType="1" noTextEdit="1"/>
                </p:cNvSpPr>
                <p:nvPr/>
              </p:nvSpPr>
              <p:spPr>
                <a:xfrm>
                  <a:off x="6148803" y="4629872"/>
                  <a:ext cx="1968238" cy="518091"/>
                </a:xfrm>
                <a:prstGeom prst="rect">
                  <a:avLst/>
                </a:prstGeom>
                <a:blipFill>
                  <a:blip r:embed="rId1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E468356-EB98-4CFF-A547-1105F9A2CEFF}"/>
                    </a:ext>
                  </a:extLst>
                </p:cNvPr>
                <p:cNvSpPr txBox="1"/>
                <p:nvPr/>
              </p:nvSpPr>
              <p:spPr>
                <a:xfrm>
                  <a:off x="7414760" y="2607703"/>
                  <a:ext cx="1647161" cy="518091"/>
                </a:xfrm>
                <a:prstGeom prst="rect">
                  <a:avLst/>
                </a:prstGeom>
                <a:noFill/>
              </p:spPr>
              <p:txBody>
                <a:bodyPr wrap="square" rtlCol="0">
                  <a:spAutoFit/>
                </a:bodyPr>
                <a:lstStyle/>
                <a:p>
                  <a:pPr>
                    <a:lnSpc>
                      <a:spcPct val="150000"/>
                    </a:lnSpc>
                    <a:spcBef>
                      <a:spcPts val="1000"/>
                    </a:spcBef>
                    <a:spcAft>
                      <a:spcPts val="800"/>
                    </a:spcAft>
                    <a:buClr>
                      <a:srgbClr val="193EB0"/>
                    </a:buClr>
                  </a:pPr>
                  <a14:m>
                    <m:oMathPara xmlns:m="http://schemas.openxmlformats.org/officeDocument/2006/math">
                      <m:oMathParaPr>
                        <m:jc m:val="centerGroup"/>
                      </m:oMathParaPr>
                      <m:oMath xmlns:m="http://schemas.openxmlformats.org/officeDocument/2006/math">
                        <m:r>
                          <a:rPr lang="en-US" sz="1400" i="1" dirty="0">
                            <a:solidFill>
                              <a:srgbClr val="FF0000"/>
                            </a:solidFill>
                            <a:latin typeface="Cambria Math" panose="02040503050406030204" pitchFamily="18" charset="0"/>
                            <a:ea typeface="SamsungOne 400" panose="020B0503030303020204" pitchFamily="34" charset="0"/>
                          </a:rPr>
                          <m:t>0, 0, 1, 1, 0, … </m:t>
                        </m:r>
                      </m:oMath>
                    </m:oMathPara>
                  </a14:m>
                  <a:endParaRPr lang="en-US" sz="1400" i="1" dirty="0">
                    <a:solidFill>
                      <a:srgbClr val="FF0000"/>
                    </a:solidFill>
                    <a:latin typeface="Cambria Math" panose="02040503050406030204" pitchFamily="18" charset="0"/>
                    <a:ea typeface="SamsungOne 400" panose="020B0503030303020204" pitchFamily="34" charset="0"/>
                  </a:endParaRPr>
                </a:p>
              </p:txBody>
            </p:sp>
          </mc:Choice>
          <mc:Fallback xmlns="">
            <p:sp>
              <p:nvSpPr>
                <p:cNvPr id="28" name="TextBox 27">
                  <a:extLst>
                    <a:ext uri="{FF2B5EF4-FFF2-40B4-BE49-F238E27FC236}">
                      <a16:creationId xmlns:a16="http://schemas.microsoft.com/office/drawing/2014/main" id="{BE468356-EB98-4CFF-A547-1105F9A2CEFF}"/>
                    </a:ext>
                  </a:extLst>
                </p:cNvPr>
                <p:cNvSpPr txBox="1">
                  <a:spLocks noRot="1" noChangeAspect="1" noMove="1" noResize="1" noEditPoints="1" noAdjustHandles="1" noChangeArrowheads="1" noChangeShapeType="1" noTextEdit="1"/>
                </p:cNvSpPr>
                <p:nvPr/>
              </p:nvSpPr>
              <p:spPr>
                <a:xfrm>
                  <a:off x="7414760" y="2607703"/>
                  <a:ext cx="1647161" cy="518091"/>
                </a:xfrm>
                <a:prstGeom prst="rect">
                  <a:avLst/>
                </a:prstGeom>
                <a:blipFill>
                  <a:blip r:embed="rId16"/>
                  <a:stretch>
                    <a:fillRect/>
                  </a:stretch>
                </a:blipFill>
              </p:spPr>
              <p:txBody>
                <a:bodyPr/>
                <a:lstStyle/>
                <a:p>
                  <a:r>
                    <a:rPr lang="ko-KR" altLang="en-US">
                      <a:noFill/>
                    </a:rPr>
                    <a:t> </a:t>
                  </a:r>
                </a:p>
              </p:txBody>
            </p:sp>
          </mc:Fallback>
        </mc:AlternateContent>
      </p:grpSp>
    </p:spTree>
    <p:extLst>
      <p:ext uri="{BB962C8B-B14F-4D97-AF65-F5344CB8AC3E}">
        <p14:creationId xmlns:p14="http://schemas.microsoft.com/office/powerpoint/2010/main" val="116814586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Training by gradient descent algorithm</a:t>
            </a:r>
          </a:p>
        </p:txBody>
      </p:sp>
      <mc:AlternateContent xmlns:mc="http://schemas.openxmlformats.org/markup-compatibility/2006" xmlns:a14="http://schemas.microsoft.com/office/drawing/2010/main">
        <mc:Choice Requires="a14">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125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0"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We can get the parameter set </a:t>
                </a:r>
                <a14:m>
                  <m:oMath xmlns:m="http://schemas.openxmlformats.org/officeDocument/2006/math">
                    <m:d>
                      <m:dPr>
                        <m:begChr m:val="{"/>
                        <m:endChr m:val="}"/>
                        <m:ctrlPr>
                          <a:rPr lang="ko-KR" altLang="ko-KR" sz="1300" i="1">
                            <a:solidFill>
                              <a:prstClr val="black"/>
                            </a:solidFill>
                            <a:latin typeface="Cambria Math" panose="02040503050406030204" pitchFamily="18" charset="0"/>
                          </a:rPr>
                        </m:ctrlPr>
                      </m:dPr>
                      <m:e>
                        <m:sSub>
                          <m:sSubPr>
                            <m:ctrlPr>
                              <a:rPr lang="en-US" altLang="ko-KR" sz="1300" i="1">
                                <a:solidFill>
                                  <a:srgbClr val="193EB0"/>
                                </a:solidFill>
                                <a:latin typeface="Cambria Math" panose="02040503050406030204" pitchFamily="18" charset="0"/>
                              </a:rPr>
                            </m:ctrlPr>
                          </m:sSubPr>
                          <m:e>
                            <m:r>
                              <a:rPr lang="ko-KR" altLang="en-US" sz="1300" i="1">
                                <a:solidFill>
                                  <a:srgbClr val="193EB0"/>
                                </a:solidFill>
                                <a:latin typeface="Cambria Math" panose="02040503050406030204" pitchFamily="18" charset="0"/>
                              </a:rPr>
                              <m:t>𝛽</m:t>
                            </m:r>
                          </m:e>
                          <m:sub>
                            <m:r>
                              <a:rPr lang="en-US" altLang="ko-KR" sz="1300" i="1">
                                <a:solidFill>
                                  <a:srgbClr val="193EB0"/>
                                </a:solidFill>
                                <a:latin typeface="Cambria Math" panose="02040503050406030204" pitchFamily="18" charset="0"/>
                              </a:rPr>
                              <m:t>𝑖</m:t>
                            </m:r>
                          </m:sub>
                        </m:sSub>
                      </m:e>
                    </m:d>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by minimizing a target function </a:t>
                </a:r>
                <a14:m>
                  <m:oMath xmlns:m="http://schemas.openxmlformats.org/officeDocument/2006/math">
                    <m:r>
                      <a:rPr lang="en-US" altLang="ko-KR" sz="1300" i="1" dirty="0">
                        <a:solidFill>
                          <a:srgbClr val="FF0000"/>
                        </a:solidFill>
                        <a:latin typeface="Cambria Math" panose="02040503050406030204" pitchFamily="18" charset="0"/>
                        <a:cs typeface="Times New Roman" panose="02020603050405020304" pitchFamily="18" charset="0"/>
                      </a:rPr>
                      <m:t>𝐿</m:t>
                    </m:r>
                    <m:r>
                      <a:rPr lang="en-US" altLang="ko-KR" sz="1300" i="1">
                        <a:solidFill>
                          <a:srgbClr val="FF0000"/>
                        </a:solidFill>
                        <a:latin typeface="Cambria Math" panose="02040503050406030204" pitchFamily="18" charset="0"/>
                      </a:rPr>
                      <m:t>(</m:t>
                    </m:r>
                    <m:r>
                      <a:rPr lang="en-US" altLang="ko-KR" sz="1300" b="1" i="1">
                        <a:solidFill>
                          <a:srgbClr val="FF0000"/>
                        </a:solidFill>
                        <a:latin typeface="Cambria Math" panose="02040503050406030204" pitchFamily="18" charset="0"/>
                        <a:ea typeface="Cambria Math" panose="02040503050406030204" pitchFamily="18" charset="0"/>
                      </a:rPr>
                      <m:t>𝜷</m:t>
                    </m:r>
                    <m:r>
                      <a:rPr lang="en-US" altLang="ko-KR" sz="1300" i="1">
                        <a:solidFill>
                          <a:srgbClr val="FF0000"/>
                        </a:solidFill>
                        <a:latin typeface="Cambria Math" panose="02040503050406030204" pitchFamily="18" charset="0"/>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lvl="0">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We get to minimize the difference between the real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𝑌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and the predicted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𝑌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marL="182526" lvl="0"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We can think of </a:t>
                </a:r>
                <a14:m>
                  <m:oMath xmlns:m="http://schemas.openxmlformats.org/officeDocument/2006/math">
                    <m:r>
                      <a:rPr lang="en-US" altLang="ko-KR" sz="1300" i="1" dirty="0">
                        <a:solidFill>
                          <a:srgbClr val="FF0000"/>
                        </a:solidFill>
                        <a:latin typeface="Cambria Math" panose="02040503050406030204" pitchFamily="18" charset="0"/>
                        <a:cs typeface="Times New Roman" panose="02020603050405020304" pitchFamily="18" charset="0"/>
                      </a:rPr>
                      <m:t>𝐿</m:t>
                    </m:r>
                    <m:r>
                      <a:rPr lang="en-US" altLang="ko-KR" sz="1300" i="1">
                        <a:solidFill>
                          <a:srgbClr val="FF0000"/>
                        </a:solidFill>
                        <a:latin typeface="Cambria Math" panose="02040503050406030204" pitchFamily="18" charset="0"/>
                      </a:rPr>
                      <m:t>(</m:t>
                    </m:r>
                    <m:r>
                      <a:rPr lang="en-US" altLang="ko-KR" sz="1300" b="1" i="1">
                        <a:solidFill>
                          <a:srgbClr val="FF0000"/>
                        </a:solidFill>
                        <a:latin typeface="Cambria Math" panose="02040503050406030204" pitchFamily="18" charset="0"/>
                        <a:ea typeface="Cambria Math" panose="02040503050406030204" pitchFamily="18" charset="0"/>
                      </a:rPr>
                      <m:t>𝜷</m:t>
                    </m:r>
                    <m:r>
                      <a:rPr lang="en-US" altLang="ko-KR" sz="1300" i="1">
                        <a:solidFill>
                          <a:srgbClr val="FF0000"/>
                        </a:solidFill>
                        <a:latin typeface="Cambria Math" panose="02040503050406030204" pitchFamily="18" charset="0"/>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as a “loss” or “cost.”</a:t>
                </a:r>
              </a:p>
              <a:p>
                <a:pPr marL="182526" lvl="0" indent="-182526">
                  <a:spcAft>
                    <a:spcPts val="800"/>
                  </a:spcAft>
                  <a:buClr>
                    <a:srgbClr val="193EB0"/>
                  </a:buClr>
                  <a:buFont typeface="SamsungOne 400" panose="020B0503030303020204" pitchFamily="34" charset="0"/>
                  <a:buChar char="‣"/>
                </a:pPr>
                <a14:m>
                  <m:oMath xmlns:m="http://schemas.openxmlformats.org/officeDocument/2006/math">
                    <m:r>
                      <a:rPr lang="en-US" altLang="ko-KR" sz="1300" i="1" dirty="0">
                        <a:solidFill>
                          <a:srgbClr val="FF0000"/>
                        </a:solidFill>
                        <a:latin typeface="Cambria Math" panose="02040503050406030204" pitchFamily="18" charset="0"/>
                        <a:cs typeface="Times New Roman" panose="02020603050405020304" pitchFamily="18" charset="0"/>
                      </a:rPr>
                      <m:t>𝐿</m:t>
                    </m:r>
                    <m:r>
                      <a:rPr lang="en-US" altLang="ko-KR" sz="1300" i="1">
                        <a:solidFill>
                          <a:srgbClr val="FF0000"/>
                        </a:solidFill>
                        <a:latin typeface="Cambria Math" panose="02040503050406030204" pitchFamily="18" charset="0"/>
                      </a:rPr>
                      <m:t>(</m:t>
                    </m:r>
                    <m:r>
                      <a:rPr lang="en-US" altLang="ko-KR" sz="1300" b="1" i="1">
                        <a:solidFill>
                          <a:srgbClr val="FF0000"/>
                        </a:solidFill>
                        <a:latin typeface="Cambria Math" panose="02040503050406030204" pitchFamily="18" charset="0"/>
                        <a:ea typeface="Cambria Math" panose="02040503050406030204" pitchFamily="18" charset="0"/>
                      </a:rPr>
                      <m:t>𝜷</m:t>
                    </m:r>
                    <m:r>
                      <a:rPr lang="en-US" altLang="ko-KR" sz="1300" i="1">
                        <a:solidFill>
                          <a:srgbClr val="FF0000"/>
                        </a:solidFill>
                        <a:latin typeface="Cambria Math" panose="02040503050406030204" pitchFamily="18" charset="0"/>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 a function of the parameter set </a:t>
                </a:r>
                <a14:m>
                  <m:oMath xmlns:m="http://schemas.openxmlformats.org/officeDocument/2006/math">
                    <m:d>
                      <m:dPr>
                        <m:begChr m:val="{"/>
                        <m:endChr m:val="}"/>
                        <m:ctrlPr>
                          <a:rPr lang="ko-KR" altLang="ko-KR" sz="1300" i="1">
                            <a:solidFill>
                              <a:prstClr val="black"/>
                            </a:solidFill>
                            <a:latin typeface="Cambria Math" panose="02040503050406030204" pitchFamily="18" charset="0"/>
                          </a:rPr>
                        </m:ctrlPr>
                      </m:dPr>
                      <m:e>
                        <m:sSub>
                          <m:sSubPr>
                            <m:ctrlPr>
                              <a:rPr lang="en-US" altLang="ko-KR" sz="1300" i="1">
                                <a:solidFill>
                                  <a:srgbClr val="193EB0"/>
                                </a:solidFill>
                                <a:latin typeface="Cambria Math" panose="02040503050406030204" pitchFamily="18" charset="0"/>
                              </a:rPr>
                            </m:ctrlPr>
                          </m:sSubPr>
                          <m:e>
                            <m:r>
                              <a:rPr lang="ko-KR" altLang="en-US" sz="1300" i="1">
                                <a:solidFill>
                                  <a:srgbClr val="193EB0"/>
                                </a:solidFill>
                                <a:latin typeface="Cambria Math" panose="02040503050406030204" pitchFamily="18" charset="0"/>
                              </a:rPr>
                              <m:t>𝛽</m:t>
                            </m:r>
                          </m:e>
                          <m:sub>
                            <m:r>
                              <a:rPr lang="en-US" altLang="ko-KR" sz="1300" i="1">
                                <a:solidFill>
                                  <a:srgbClr val="193EB0"/>
                                </a:solidFill>
                                <a:latin typeface="Cambria Math" panose="02040503050406030204" pitchFamily="18" charset="0"/>
                              </a:rPr>
                              <m:t>𝑖</m:t>
                            </m:r>
                          </m:sub>
                        </m:sSub>
                      </m:e>
                    </m:d>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which can be represented by a vector </a:t>
                </a:r>
                <a14:m>
                  <m:oMath xmlns:m="http://schemas.openxmlformats.org/officeDocument/2006/math">
                    <m:r>
                      <a:rPr lang="en-US" altLang="ko-KR" sz="1300" b="1" i="1">
                        <a:solidFill>
                          <a:srgbClr val="193EB0"/>
                        </a:solidFill>
                        <a:latin typeface="Cambria Math" panose="02040503050406030204" pitchFamily="18" charset="0"/>
                        <a:ea typeface="Cambria Math" panose="02040503050406030204" pitchFamily="18" charset="0"/>
                      </a:rPr>
                      <m:t>𝜷</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p:txBody>
          </p:sp>
        </mc:Choice>
        <mc:Fallback xmlns="">
          <p:sp>
            <p:nvSpPr>
              <p:cNvPr id="49" name="직사각형 48">
                <a:extLst>
                  <a:ext uri="{FF2B5EF4-FFF2-40B4-BE49-F238E27FC236}">
                    <a16:creationId xmlns:a16="http://schemas.microsoft.com/office/drawing/2014/main" xmlns="" xmlns:a14="http://schemas.microsoft.com/office/drawing/2010/main" id="{860C135B-D9AD-4347-BCFB-354CFB97F7B2}"/>
                  </a:ext>
                </a:extLst>
              </p:cNvPr>
              <p:cNvSpPr>
                <a:spLocks noRot="1" noChangeAspect="1" noMove="1" noResize="1" noEditPoints="1" noAdjustHandles="1" noChangeArrowheads="1" noChangeShapeType="1" noTextEdit="1"/>
              </p:cNvSpPr>
              <p:nvPr/>
            </p:nvSpPr>
            <p:spPr>
              <a:xfrm>
                <a:off x="671261" y="1700808"/>
                <a:ext cx="8632825" cy="1253402"/>
              </a:xfrm>
              <a:prstGeom prst="rect">
                <a:avLst/>
              </a:prstGeom>
              <a:blipFill rotWithShape="0">
                <a:blip r:embed="rId4"/>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373950570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Training by gradient descent algorithm</a:t>
            </a:r>
          </a:p>
        </p:txBody>
      </p:sp>
      <mc:AlternateContent xmlns:mc="http://schemas.openxmlformats.org/markup-compatibility/2006" xmlns:a14="http://schemas.microsoft.com/office/drawing/2010/main">
        <mc:Choice Requires="a14">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0" indent="-182526">
                  <a:spcAft>
                    <a:spcPts val="800"/>
                  </a:spcAft>
                  <a:buClr>
                    <a:srgbClr val="193EB0"/>
                  </a:buClr>
                  <a:buFont typeface="SamsungOne 400" panose="020B0503030303020204" pitchFamily="34" charset="0"/>
                  <a:buChar char="‣"/>
                </a:pPr>
                <a14:m>
                  <m:oMath xmlns:m="http://schemas.openxmlformats.org/officeDocument/2006/math">
                    <m:r>
                      <a:rPr lang="en-US" altLang="ko-KR" sz="1300" i="1" dirty="0">
                        <a:solidFill>
                          <a:srgbClr val="FF0000"/>
                        </a:solidFill>
                        <a:latin typeface="Cambria Math" panose="02040503050406030204" pitchFamily="18" charset="0"/>
                        <a:cs typeface="Times New Roman" panose="02020603050405020304" pitchFamily="18" charset="0"/>
                      </a:rPr>
                      <m:t>𝐿</m:t>
                    </m:r>
                    <m:r>
                      <a:rPr lang="en-US" altLang="ko-KR" sz="1300" i="1">
                        <a:solidFill>
                          <a:srgbClr val="FF0000"/>
                        </a:solidFill>
                        <a:latin typeface="Cambria Math" panose="02040503050406030204" pitchFamily="18" charset="0"/>
                      </a:rPr>
                      <m:t>(</m:t>
                    </m:r>
                    <m:r>
                      <a:rPr lang="en-US" altLang="ko-KR" sz="1300" b="1" i="1">
                        <a:solidFill>
                          <a:srgbClr val="FF0000"/>
                        </a:solidFill>
                        <a:latin typeface="Cambria Math" panose="02040503050406030204" pitchFamily="18" charset="0"/>
                        <a:ea typeface="Cambria Math" panose="02040503050406030204" pitchFamily="18" charset="0"/>
                      </a:rPr>
                      <m:t>𝜷</m:t>
                    </m:r>
                    <m:r>
                      <a:rPr lang="en-US" altLang="ko-KR" sz="1300" i="1">
                        <a:solidFill>
                          <a:srgbClr val="FF0000"/>
                        </a:solidFill>
                        <a:latin typeface="Cambria Math" panose="02040503050406030204" pitchFamily="18" charset="0"/>
                      </a:rPr>
                      <m:t>)</m:t>
                    </m:r>
                  </m:oMath>
                </a14:m>
                <a:r>
                  <a:rPr lang="en-US" altLang="ko-KR" sz="1300" dirty="0">
                    <a:latin typeface="Times New Roman" panose="02020603050405020304" pitchFamily="18" charset="0"/>
                    <a:cs typeface="Times New Roman" panose="02020603050405020304" pitchFamily="18"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is the </a:t>
                </a:r>
                <a:r>
                  <a:rPr lang="en-US" altLang="ko-KR" sz="1300" b="1" dirty="0">
                    <a:solidFill>
                      <a:schemeClr val="tx1">
                        <a:lumMod val="85000"/>
                        <a:lumOff val="15000"/>
                      </a:schemeClr>
                    </a:solidFill>
                    <a:latin typeface="SamsungOne 700" panose="020B0803030303020204" pitchFamily="34" charset="0"/>
                    <a:ea typeface="SamsungOne 700" panose="020B0803030303020204" pitchFamily="34" charset="0"/>
                  </a:rPr>
                  <a:t>negative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of logarithmic likelihood defined as following:</a:t>
                </a:r>
              </a:p>
            </p:txBody>
          </p:sp>
        </mc:Choice>
        <mc:Fallback xmlns="">
          <p:sp>
            <p:nvSpPr>
              <p:cNvPr id="49" name="직사각형 48">
                <a:extLst>
                  <a:ext uri="{FF2B5EF4-FFF2-40B4-BE49-F238E27FC236}">
                    <a16:creationId xmlns:a16="http://schemas.microsoft.com/office/drawing/2014/main" xmlns:a14="http://schemas.microsoft.com/office/drawing/2010/main" xmlns="" id="{860C135B-D9AD-4347-BCFB-354CFB97F7B2}"/>
                  </a:ext>
                </a:extLst>
              </p:cNvPr>
              <p:cNvSpPr>
                <a:spLocks noRot="1" noChangeAspect="1" noMove="1" noResize="1" noEditPoints="1" noAdjustHandles="1" noChangeArrowheads="1" noChangeShapeType="1" noTextEdit="1"/>
              </p:cNvSpPr>
              <p:nvPr/>
            </p:nvSpPr>
            <p:spPr>
              <a:xfrm>
                <a:off x="671261" y="1700808"/>
                <a:ext cx="8632825" cy="345461"/>
              </a:xfrm>
              <a:prstGeom prst="rect">
                <a:avLst/>
              </a:prstGeom>
              <a:blipFill rotWithShape="0">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 name="직사각형 6">
                <a:extLst>
                  <a:ext uri="{FF2B5EF4-FFF2-40B4-BE49-F238E27FC236}">
                    <a16:creationId xmlns:a16="http://schemas.microsoft.com/office/drawing/2014/main" id="{DFCA16A6-6FFB-4CF8-A55F-67379CB834EC}"/>
                  </a:ext>
                </a:extLst>
              </p:cNvPr>
              <p:cNvSpPr/>
              <p:nvPr/>
            </p:nvSpPr>
            <p:spPr>
              <a:xfrm>
                <a:off x="671261" y="3083539"/>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0"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the above relation, </a:t>
                </a:r>
                <a14:m>
                  <m:oMath xmlns:m="http://schemas.openxmlformats.org/officeDocument/2006/math">
                    <m:sSub>
                      <m:sSubPr>
                        <m:ctrlPr>
                          <a:rPr lang="en-US" altLang="ko-KR" sz="1300" b="1"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en-US" altLang="ko-KR" sz="1300" b="1" i="1">
                            <a:solidFill>
                              <a:schemeClr val="tx1">
                                <a:lumMod val="85000"/>
                                <a:lumOff val="15000"/>
                              </a:schemeClr>
                            </a:solidFill>
                            <a:latin typeface="Cambria Math" panose="02040503050406030204" pitchFamily="18" charset="0"/>
                            <a:cs typeface="Times New Roman" panose="02020603050405020304" pitchFamily="18" charset="0"/>
                          </a:rPr>
                          <m:t>𝒙</m:t>
                        </m:r>
                      </m:e>
                      <m:sub>
                        <m:r>
                          <a:rPr lang="en-US" altLang="ko-KR" sz="1300" b="1" i="1">
                            <a:solidFill>
                              <a:schemeClr val="tx1">
                                <a:lumMod val="85000"/>
                                <a:lumOff val="15000"/>
                              </a:schemeClr>
                            </a:solidFill>
                            <a:latin typeface="Cambria Math" panose="02040503050406030204" pitchFamily="18" charset="0"/>
                            <a:cs typeface="Times New Roman" panose="02020603050405020304" pitchFamily="18" charset="0"/>
                          </a:rPr>
                          <m:t>𝒊</m:t>
                        </m:r>
                      </m:sub>
                    </m:sSub>
                  </m:oMath>
                </a14:m>
                <a:r>
                  <a:rPr lang="en-US" altLang="ko-KR" sz="1300" b="1"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and </a:t>
                </a:r>
                <a14:m>
                  <m:oMath xmlns:m="http://schemas.openxmlformats.org/officeDocument/2006/math">
                    <m:sSub>
                      <m:sSubPr>
                        <m:ctrlP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𝑦</m:t>
                        </m:r>
                      </m:e>
                      <m:sub>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𝑖</m:t>
                        </m:r>
                      </m:sub>
                    </m:sSub>
                  </m:oMath>
                </a14:m>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represent values given by the training dataset.</a:t>
                </a:r>
              </a:p>
              <a:p>
                <a:pPr marL="182526" lvl="0"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Here, we assumed the conversion from </a:t>
                </a:r>
                <a14:m>
                  <m:oMath xmlns:m="http://schemas.openxmlformats.org/officeDocument/2006/math">
                    <m:sSub>
                      <m:sSubPr>
                        <m:ctrlP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𝑦</m:t>
                        </m:r>
                      </m:e>
                      <m:sub>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𝑖</m:t>
                        </m:r>
                      </m:sub>
                    </m:sSub>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m:t>
                    </m:r>
                    <m:d>
                      <m:dPr>
                        <m:begChr m:val="{"/>
                        <m:endChr m:val="}"/>
                        <m:ctrlP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ctrlPr>
                      </m:dPr>
                      <m:e>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0</m:t>
                        </m:r>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m:t>
                        </m:r>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1</m:t>
                        </m:r>
                      </m:e>
                    </m:d>
                  </m:oMath>
                </a14:m>
                <a:r>
                  <a:rPr lang="en-US" altLang="ko-KR" sz="1300" dirty="0">
                    <a:solidFill>
                      <a:schemeClr val="tx1">
                        <a:lumMod val="85000"/>
                        <a:lumOff val="15000"/>
                      </a:schemeClr>
                    </a:solidFill>
                    <a:latin typeface="Times New Roman" panose="02020603050405020304" pitchFamily="18" charset="0"/>
                    <a:cs typeface="Times New Roman" panose="02020603050405020304" pitchFamily="18" charset="0"/>
                  </a:rPr>
                  <a:t>  to </a:t>
                </a:r>
                <a14:m>
                  <m:oMath xmlns:m="http://schemas.openxmlformats.org/officeDocument/2006/math">
                    <m:sSub>
                      <m:sSubPr>
                        <m:ctrlP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𝑦</m:t>
                        </m:r>
                      </m:e>
                      <m:sub>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𝑖</m:t>
                        </m:r>
                      </m:sub>
                    </m:sSub>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m:t>
                    </m:r>
                    <m:d>
                      <m:dPr>
                        <m:begChr m:val="{"/>
                        <m:endChr m:val="}"/>
                        <m:ctrlP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ctrlPr>
                      </m:dPr>
                      <m:e>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m:t>
                        </m:r>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1</m:t>
                        </m:r>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m:t>
                        </m:r>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1</m:t>
                        </m:r>
                      </m:e>
                    </m:d>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p:txBody>
          </p:sp>
        </mc:Choice>
        <mc:Fallback xmlns="">
          <p:sp>
            <p:nvSpPr>
              <p:cNvPr id="7" name="직사각형 6">
                <a:extLst>
                  <a:ext uri="{FF2B5EF4-FFF2-40B4-BE49-F238E27FC236}">
                    <a16:creationId xmlns:a16="http://schemas.microsoft.com/office/drawing/2014/main" xmlns:a14="http://schemas.microsoft.com/office/drawing/2010/main" xmlns="" id="{DFCA16A6-6FFB-4CF8-A55F-67379CB834EC}"/>
                  </a:ext>
                </a:extLst>
              </p:cNvPr>
              <p:cNvSpPr>
                <a:spLocks noRot="1" noChangeAspect="1" noMove="1" noResize="1" noEditPoints="1" noAdjustHandles="1" noChangeArrowheads="1" noChangeShapeType="1" noTextEdit="1"/>
              </p:cNvSpPr>
              <p:nvPr/>
            </p:nvSpPr>
            <p:spPr>
              <a:xfrm>
                <a:off x="671261" y="3083539"/>
                <a:ext cx="8632825" cy="648108"/>
              </a:xfrm>
              <a:prstGeom prst="rect">
                <a:avLst/>
              </a:prstGeom>
              <a:blipFill rotWithShape="0">
                <a:blip r:embed="rId5"/>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54534C3-CAED-4F03-87F5-1A1F305F176F}"/>
                  </a:ext>
                </a:extLst>
              </p:cNvPr>
              <p:cNvSpPr txBox="1"/>
              <p:nvPr/>
            </p:nvSpPr>
            <p:spPr>
              <a:xfrm>
                <a:off x="3468525" y="2073809"/>
                <a:ext cx="3079268" cy="8670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i="1" smtClean="0">
                          <a:solidFill>
                            <a:srgbClr val="FF0000"/>
                          </a:solidFill>
                          <a:latin typeface="Cambria Math" panose="02040503050406030204" pitchFamily="18" charset="0"/>
                        </a:rPr>
                        <m:t>𝐿</m:t>
                      </m:r>
                      <m:r>
                        <a:rPr lang="en-US" altLang="ko-KR" i="1" smtClean="0">
                          <a:solidFill>
                            <a:srgbClr val="FF0000"/>
                          </a:solidFill>
                          <a:latin typeface="Cambria Math" panose="02040503050406030204" pitchFamily="18" charset="0"/>
                        </a:rPr>
                        <m:t>(</m:t>
                      </m:r>
                      <m:r>
                        <a:rPr lang="en-US" altLang="ko-KR" b="1" i="1">
                          <a:solidFill>
                            <a:srgbClr val="FF0000"/>
                          </a:solidFill>
                          <a:latin typeface="Cambria Math" panose="02040503050406030204" pitchFamily="18" charset="0"/>
                          <a:ea typeface="Cambria Math" panose="02040503050406030204" pitchFamily="18" charset="0"/>
                        </a:rPr>
                        <m:t>𝜷</m:t>
                      </m:r>
                      <m:r>
                        <a:rPr lang="en-US" altLang="ko-KR" i="1">
                          <a:solidFill>
                            <a:srgbClr val="FF0000"/>
                          </a:solidFill>
                          <a:latin typeface="Cambria Math" panose="02040503050406030204" pitchFamily="18" charset="0"/>
                        </a:rPr>
                        <m:t>)</m:t>
                      </m:r>
                      <m:r>
                        <a:rPr lang="en-US" altLang="ko-KR" i="1" dirty="0" smtClean="0">
                          <a:solidFill>
                            <a:schemeClr val="tx1">
                              <a:lumMod val="85000"/>
                              <a:lumOff val="15000"/>
                            </a:schemeClr>
                          </a:solidFill>
                          <a:latin typeface="Cambria Math" panose="02040503050406030204" pitchFamily="18" charset="0"/>
                        </a:rPr>
                        <m:t>=</m:t>
                      </m:r>
                      <m:nary>
                        <m:naryPr>
                          <m:chr m:val="∑"/>
                          <m:limLoc m:val="undOvr"/>
                          <m:ctrlPr>
                            <a:rPr lang="ko-KR" altLang="ko-KR" i="1" smtClean="0">
                              <a:solidFill>
                                <a:schemeClr val="tx1">
                                  <a:lumMod val="85000"/>
                                  <a:lumOff val="15000"/>
                                </a:schemeClr>
                              </a:solidFill>
                              <a:latin typeface="Cambria Math" panose="02040503050406030204" pitchFamily="18" charset="0"/>
                            </a:rPr>
                          </m:ctrlPr>
                        </m:naryPr>
                        <m:sub>
                          <m:r>
                            <a:rPr lang="en-US" altLang="ko-KR" i="1">
                              <a:solidFill>
                                <a:schemeClr val="tx1">
                                  <a:lumMod val="85000"/>
                                  <a:lumOff val="15000"/>
                                </a:schemeClr>
                              </a:solidFill>
                              <a:latin typeface="Cambria Math" panose="02040503050406030204" pitchFamily="18" charset="0"/>
                            </a:rPr>
                            <m:t>𝑖</m:t>
                          </m:r>
                          <m:r>
                            <a:rPr lang="en-US" altLang="ko-KR" i="1">
                              <a:solidFill>
                                <a:schemeClr val="tx1">
                                  <a:lumMod val="85000"/>
                                  <a:lumOff val="15000"/>
                                </a:schemeClr>
                              </a:solidFill>
                              <a:latin typeface="Cambria Math" panose="02040503050406030204" pitchFamily="18" charset="0"/>
                            </a:rPr>
                            <m:t>=</m:t>
                          </m:r>
                          <m:r>
                            <a:rPr lang="en-US" altLang="ko-KR" i="1">
                              <a:solidFill>
                                <a:schemeClr val="tx1">
                                  <a:lumMod val="85000"/>
                                  <a:lumOff val="15000"/>
                                </a:schemeClr>
                              </a:solidFill>
                              <a:latin typeface="Cambria Math" panose="02040503050406030204" pitchFamily="18" charset="0"/>
                            </a:rPr>
                            <m:t>1</m:t>
                          </m:r>
                        </m:sub>
                        <m:sup>
                          <m:r>
                            <a:rPr lang="en-US" altLang="ko-KR" i="1">
                              <a:solidFill>
                                <a:schemeClr val="tx1">
                                  <a:lumMod val="85000"/>
                                  <a:lumOff val="15000"/>
                                </a:schemeClr>
                              </a:solidFill>
                              <a:latin typeface="Cambria Math" panose="02040503050406030204" pitchFamily="18" charset="0"/>
                            </a:rPr>
                            <m:t>𝑛</m:t>
                          </m:r>
                        </m:sup>
                        <m:e>
                          <m:r>
                            <a:rPr lang="en-US" altLang="ko-KR" i="1">
                              <a:solidFill>
                                <a:schemeClr val="tx1">
                                  <a:lumMod val="85000"/>
                                  <a:lumOff val="15000"/>
                                </a:schemeClr>
                              </a:solidFill>
                              <a:latin typeface="Cambria Math" panose="02040503050406030204" pitchFamily="18" charset="0"/>
                            </a:rPr>
                            <m:t>𝐿𝑜𝑔</m:t>
                          </m:r>
                          <m:d>
                            <m:dPr>
                              <m:ctrlPr>
                                <a:rPr lang="ko-KR" altLang="ko-KR" i="1">
                                  <a:solidFill>
                                    <a:schemeClr val="tx1">
                                      <a:lumMod val="85000"/>
                                      <a:lumOff val="15000"/>
                                    </a:schemeClr>
                                  </a:solidFill>
                                  <a:latin typeface="Cambria Math" panose="02040503050406030204" pitchFamily="18" charset="0"/>
                                </a:rPr>
                              </m:ctrlPr>
                            </m:dPr>
                            <m:e>
                              <m:r>
                                <a:rPr lang="en-US" altLang="ko-KR" i="1">
                                  <a:solidFill>
                                    <a:schemeClr val="tx1">
                                      <a:lumMod val="85000"/>
                                      <a:lumOff val="15000"/>
                                    </a:schemeClr>
                                  </a:solidFill>
                                  <a:latin typeface="Cambria Math" panose="02040503050406030204" pitchFamily="18" charset="0"/>
                                </a:rPr>
                                <m:t>1</m:t>
                              </m:r>
                              <m:r>
                                <a:rPr lang="en-US" altLang="ko-KR" i="1">
                                  <a:solidFill>
                                    <a:schemeClr val="tx1">
                                      <a:lumMod val="85000"/>
                                      <a:lumOff val="15000"/>
                                    </a:schemeClr>
                                  </a:solidFill>
                                  <a:latin typeface="Cambria Math" panose="02040503050406030204" pitchFamily="18" charset="0"/>
                                </a:rPr>
                                <m:t>+</m:t>
                              </m:r>
                              <m:sSup>
                                <m:sSupPr>
                                  <m:ctrlPr>
                                    <a:rPr lang="ko-KR" altLang="ko-KR" i="1">
                                      <a:solidFill>
                                        <a:schemeClr val="tx1">
                                          <a:lumMod val="85000"/>
                                          <a:lumOff val="15000"/>
                                        </a:schemeClr>
                                      </a:solidFill>
                                      <a:latin typeface="Cambria Math" panose="02040503050406030204" pitchFamily="18" charset="0"/>
                                    </a:rPr>
                                  </m:ctrlPr>
                                </m:sSupPr>
                                <m:e>
                                  <m:r>
                                    <a:rPr lang="en-US" altLang="ko-KR" i="1">
                                      <a:solidFill>
                                        <a:schemeClr val="tx1">
                                          <a:lumMod val="85000"/>
                                          <a:lumOff val="15000"/>
                                        </a:schemeClr>
                                      </a:solidFill>
                                      <a:latin typeface="Cambria Math" panose="02040503050406030204" pitchFamily="18" charset="0"/>
                                    </a:rPr>
                                    <m:t>𝑒</m:t>
                                  </m:r>
                                </m:e>
                                <m:sup>
                                  <m:r>
                                    <a:rPr lang="en-US" altLang="ko-KR" i="1">
                                      <a:solidFill>
                                        <a:schemeClr val="tx1">
                                          <a:lumMod val="85000"/>
                                          <a:lumOff val="15000"/>
                                        </a:schemeClr>
                                      </a:solidFill>
                                      <a:latin typeface="Cambria Math" panose="02040503050406030204" pitchFamily="18" charset="0"/>
                                    </a:rPr>
                                    <m:t>−</m:t>
                                  </m:r>
                                  <m:sSub>
                                    <m:sSubPr>
                                      <m:ctrlPr>
                                        <a:rPr lang="ko-KR" altLang="ko-KR" i="1">
                                          <a:solidFill>
                                            <a:schemeClr val="tx1">
                                              <a:lumMod val="85000"/>
                                              <a:lumOff val="15000"/>
                                            </a:schemeClr>
                                          </a:solidFill>
                                          <a:latin typeface="Cambria Math" panose="02040503050406030204" pitchFamily="18" charset="0"/>
                                        </a:rPr>
                                      </m:ctrlPr>
                                    </m:sSubPr>
                                    <m:e>
                                      <m:r>
                                        <a:rPr lang="en-US" altLang="ko-KR" i="1">
                                          <a:solidFill>
                                            <a:schemeClr val="tx1">
                                              <a:lumMod val="85000"/>
                                              <a:lumOff val="15000"/>
                                            </a:schemeClr>
                                          </a:solidFill>
                                          <a:latin typeface="Cambria Math" panose="02040503050406030204" pitchFamily="18" charset="0"/>
                                        </a:rPr>
                                        <m:t>𝑦</m:t>
                                      </m:r>
                                    </m:e>
                                    <m:sub>
                                      <m:r>
                                        <a:rPr lang="en-US" altLang="ko-KR" i="1">
                                          <a:solidFill>
                                            <a:schemeClr val="tx1">
                                              <a:lumMod val="85000"/>
                                              <a:lumOff val="15000"/>
                                            </a:schemeClr>
                                          </a:solidFill>
                                          <a:latin typeface="Cambria Math" panose="02040503050406030204" pitchFamily="18" charset="0"/>
                                        </a:rPr>
                                        <m:t>𝑖</m:t>
                                      </m:r>
                                    </m:sub>
                                  </m:sSub>
                                  <m:r>
                                    <a:rPr lang="en-US" altLang="ko-KR" i="1">
                                      <a:solidFill>
                                        <a:schemeClr val="tx1">
                                          <a:lumMod val="85000"/>
                                          <a:lumOff val="15000"/>
                                        </a:schemeClr>
                                      </a:solidFill>
                                      <a:latin typeface="Cambria Math" panose="02040503050406030204" pitchFamily="18" charset="0"/>
                                    </a:rPr>
                                    <m:t> </m:t>
                                  </m:r>
                                  <m:sSup>
                                    <m:sSupPr>
                                      <m:ctrlPr>
                                        <a:rPr lang="ko-KR" altLang="ko-KR" b="1" i="1" smtClean="0">
                                          <a:solidFill>
                                            <a:schemeClr val="tx1">
                                              <a:lumMod val="85000"/>
                                              <a:lumOff val="15000"/>
                                            </a:schemeClr>
                                          </a:solidFill>
                                          <a:latin typeface="Cambria Math" panose="02040503050406030204" pitchFamily="18" charset="0"/>
                                        </a:rPr>
                                      </m:ctrlPr>
                                    </m:sSupPr>
                                    <m:e>
                                      <m:r>
                                        <a:rPr lang="ko-KR" altLang="en-US" b="1" i="1">
                                          <a:solidFill>
                                            <a:schemeClr val="tx1">
                                              <a:lumMod val="85000"/>
                                              <a:lumOff val="15000"/>
                                            </a:schemeClr>
                                          </a:solidFill>
                                          <a:latin typeface="Cambria Math" panose="02040503050406030204" pitchFamily="18" charset="0"/>
                                        </a:rPr>
                                        <m:t>𝜷</m:t>
                                      </m:r>
                                    </m:e>
                                    <m:sup>
                                      <m:r>
                                        <a:rPr lang="en-US" altLang="ko-KR" b="1" i="1" smtClean="0">
                                          <a:solidFill>
                                            <a:schemeClr val="tx1">
                                              <a:lumMod val="85000"/>
                                              <a:lumOff val="15000"/>
                                            </a:schemeClr>
                                          </a:solidFill>
                                          <a:latin typeface="Cambria Math" panose="02040503050406030204" pitchFamily="18" charset="0"/>
                                        </a:rPr>
                                        <m:t>𝑻</m:t>
                                      </m:r>
                                    </m:sup>
                                  </m:sSup>
                                  <m:r>
                                    <a:rPr lang="en-US" altLang="ko-KR" b="1" i="1">
                                      <a:solidFill>
                                        <a:schemeClr val="tx1">
                                          <a:lumMod val="85000"/>
                                          <a:lumOff val="15000"/>
                                        </a:schemeClr>
                                      </a:solidFill>
                                      <a:latin typeface="Cambria Math" panose="02040503050406030204" pitchFamily="18" charset="0"/>
                                    </a:rPr>
                                    <m:t> </m:t>
                                  </m:r>
                                  <m:sSub>
                                    <m:sSubPr>
                                      <m:ctrlPr>
                                        <a:rPr lang="ko-KR" altLang="ko-KR" i="1">
                                          <a:solidFill>
                                            <a:schemeClr val="tx1">
                                              <a:lumMod val="85000"/>
                                              <a:lumOff val="15000"/>
                                            </a:schemeClr>
                                          </a:solidFill>
                                          <a:latin typeface="Cambria Math" panose="02040503050406030204" pitchFamily="18" charset="0"/>
                                        </a:rPr>
                                      </m:ctrlPr>
                                    </m:sSubPr>
                                    <m:e>
                                      <m:r>
                                        <a:rPr lang="en-US" altLang="ko-KR" b="1" i="1">
                                          <a:solidFill>
                                            <a:schemeClr val="tx1">
                                              <a:lumMod val="85000"/>
                                              <a:lumOff val="15000"/>
                                            </a:schemeClr>
                                          </a:solidFill>
                                          <a:latin typeface="Cambria Math" panose="02040503050406030204" pitchFamily="18" charset="0"/>
                                        </a:rPr>
                                        <m:t>𝒙</m:t>
                                      </m:r>
                                    </m:e>
                                    <m:sub>
                                      <m:r>
                                        <a:rPr lang="en-US" altLang="ko-KR" i="1">
                                          <a:solidFill>
                                            <a:schemeClr val="tx1">
                                              <a:lumMod val="85000"/>
                                              <a:lumOff val="15000"/>
                                            </a:schemeClr>
                                          </a:solidFill>
                                          <a:latin typeface="Cambria Math" panose="02040503050406030204" pitchFamily="18" charset="0"/>
                                        </a:rPr>
                                        <m:t>𝑖</m:t>
                                      </m:r>
                                    </m:sub>
                                  </m:sSub>
                                </m:sup>
                              </m:sSup>
                            </m:e>
                          </m:d>
                        </m:e>
                      </m:nary>
                    </m:oMath>
                  </m:oMathPara>
                </a14:m>
                <a:endParaRPr lang="en-US" altLang="ko-KR" dirty="0"/>
              </a:p>
            </p:txBody>
          </p:sp>
        </mc:Choice>
        <mc:Fallback xmlns="">
          <p:sp>
            <p:nvSpPr>
              <p:cNvPr id="8" name="TextBox 7">
                <a:extLst>
                  <a:ext uri="{FF2B5EF4-FFF2-40B4-BE49-F238E27FC236}">
                    <a16:creationId xmlns:a16="http://schemas.microsoft.com/office/drawing/2014/main" xmlns:a14="http://schemas.microsoft.com/office/drawing/2010/main" xmlns="" id="{054534C3-CAED-4F03-87F5-1A1F305F176F}"/>
                  </a:ext>
                </a:extLst>
              </p:cNvPr>
              <p:cNvSpPr txBox="1">
                <a:spLocks noRot="1" noChangeAspect="1" noMove="1" noResize="1" noEditPoints="1" noAdjustHandles="1" noChangeArrowheads="1" noChangeShapeType="1" noTextEdit="1"/>
              </p:cNvSpPr>
              <p:nvPr/>
            </p:nvSpPr>
            <p:spPr>
              <a:xfrm>
                <a:off x="3468525" y="2073809"/>
                <a:ext cx="3079268" cy="867097"/>
              </a:xfrm>
              <a:prstGeom prst="rect">
                <a:avLst/>
              </a:prstGeom>
              <a:blipFill rotWithShape="0">
                <a:blip r:embed="rId6"/>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19508146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Training by gradient descent algorithm</a:t>
            </a:r>
          </a:p>
        </p:txBody>
      </p:sp>
      <mc:AlternateContent xmlns:mc="http://schemas.openxmlformats.org/markup-compatibility/2006" xmlns:a14="http://schemas.microsoft.com/office/drawing/2010/main">
        <mc:Choice Requires="a14">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0" indent="-182526">
                  <a:spcAft>
                    <a:spcPts val="800"/>
                  </a:spcAft>
                  <a:buClr>
                    <a:srgbClr val="193EB0"/>
                  </a:buClr>
                  <a:buFont typeface="SamsungOne 400" panose="020B0503030303020204" pitchFamily="34" charset="0"/>
                  <a:buChar char="‣"/>
                </a:pPr>
                <a14:m>
                  <m:oMath xmlns:m="http://schemas.openxmlformats.org/officeDocument/2006/math">
                    <m:r>
                      <a:rPr lang="en-US" altLang="ko-KR" sz="1300" i="1" dirty="0">
                        <a:solidFill>
                          <a:srgbClr val="FF0000"/>
                        </a:solidFill>
                        <a:latin typeface="Cambria Math" panose="02040503050406030204" pitchFamily="18" charset="0"/>
                        <a:cs typeface="Times New Roman" panose="02020603050405020304" pitchFamily="18" charset="0"/>
                      </a:rPr>
                      <m:t>𝐿</m:t>
                    </m:r>
                    <m:r>
                      <a:rPr lang="en-US" altLang="ko-KR" sz="1300" i="1">
                        <a:solidFill>
                          <a:srgbClr val="FF0000"/>
                        </a:solidFill>
                        <a:latin typeface="Cambria Math" panose="02040503050406030204" pitchFamily="18" charset="0"/>
                      </a:rPr>
                      <m:t>(</m:t>
                    </m:r>
                    <m:r>
                      <a:rPr lang="en-US" altLang="ko-KR" sz="1300" b="1" i="1">
                        <a:solidFill>
                          <a:srgbClr val="FF0000"/>
                        </a:solidFill>
                        <a:latin typeface="Cambria Math" panose="02040503050406030204" pitchFamily="18" charset="0"/>
                        <a:ea typeface="Cambria Math" panose="02040503050406030204" pitchFamily="18" charset="0"/>
                      </a:rPr>
                      <m:t>𝜷</m:t>
                    </m:r>
                    <m:r>
                      <a:rPr lang="en-US" altLang="ko-KR" sz="1300" i="1">
                        <a:solidFill>
                          <a:srgbClr val="FF0000"/>
                        </a:solidFill>
                        <a:latin typeface="Cambria Math" panose="02040503050406030204" pitchFamily="18" charset="0"/>
                      </a:rPr>
                      <m:t>)</m:t>
                    </m:r>
                  </m:oMath>
                </a14:m>
                <a:r>
                  <a:rPr lang="en-US" altLang="ko-KR" sz="1300" dirty="0">
                    <a:latin typeface="Times New Roman" panose="02020603050405020304" pitchFamily="18" charset="0"/>
                    <a:cs typeface="Times New Roman" panose="02020603050405020304" pitchFamily="18"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is the </a:t>
                </a:r>
                <a:r>
                  <a:rPr lang="en-US" altLang="ko-KR" sz="1300" b="1" dirty="0">
                    <a:solidFill>
                      <a:schemeClr val="tx1">
                        <a:lumMod val="85000"/>
                        <a:lumOff val="15000"/>
                      </a:schemeClr>
                    </a:solidFill>
                    <a:latin typeface="SamsungOne 700" panose="020B0803030303020204" pitchFamily="34" charset="0"/>
                    <a:ea typeface="SamsungOne 700" panose="020B0803030303020204" pitchFamily="34" charset="0"/>
                  </a:rPr>
                  <a:t>negative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of logarithmic likelihood defined as following:</a:t>
                </a:r>
              </a:p>
            </p:txBody>
          </p:sp>
        </mc:Choice>
        <mc:Fallback xmlns="">
          <p:sp>
            <p:nvSpPr>
              <p:cNvPr id="49" name="직사각형 48">
                <a:extLst>
                  <a:ext uri="{FF2B5EF4-FFF2-40B4-BE49-F238E27FC236}">
                    <a16:creationId xmlns:a16="http://schemas.microsoft.com/office/drawing/2014/main" xmlns:a14="http://schemas.microsoft.com/office/drawing/2010/main" xmlns="" id="{860C135B-D9AD-4347-BCFB-354CFB97F7B2}"/>
                  </a:ext>
                </a:extLst>
              </p:cNvPr>
              <p:cNvSpPr>
                <a:spLocks noRot="1" noChangeAspect="1" noMove="1" noResize="1" noEditPoints="1" noAdjustHandles="1" noChangeArrowheads="1" noChangeShapeType="1" noTextEdit="1"/>
              </p:cNvSpPr>
              <p:nvPr/>
            </p:nvSpPr>
            <p:spPr>
              <a:xfrm>
                <a:off x="671261" y="1700808"/>
                <a:ext cx="8632825" cy="345461"/>
              </a:xfrm>
              <a:prstGeom prst="rect">
                <a:avLst/>
              </a:prstGeom>
              <a:blipFill rotWithShape="0">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54534C3-CAED-4F03-87F5-1A1F305F176F}"/>
                  </a:ext>
                </a:extLst>
              </p:cNvPr>
              <p:cNvSpPr txBox="1"/>
              <p:nvPr/>
            </p:nvSpPr>
            <p:spPr>
              <a:xfrm>
                <a:off x="3468525" y="2073809"/>
                <a:ext cx="3079268" cy="8670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i="1" smtClean="0">
                          <a:solidFill>
                            <a:srgbClr val="FF0000"/>
                          </a:solidFill>
                          <a:latin typeface="Cambria Math" panose="02040503050406030204" pitchFamily="18" charset="0"/>
                        </a:rPr>
                        <m:t>𝐿</m:t>
                      </m:r>
                      <m:r>
                        <a:rPr lang="en-US" altLang="ko-KR" i="1" smtClean="0">
                          <a:solidFill>
                            <a:srgbClr val="FF0000"/>
                          </a:solidFill>
                          <a:latin typeface="Cambria Math" panose="02040503050406030204" pitchFamily="18" charset="0"/>
                        </a:rPr>
                        <m:t>(</m:t>
                      </m:r>
                      <m:r>
                        <a:rPr lang="en-US" altLang="ko-KR" b="1" i="1">
                          <a:solidFill>
                            <a:srgbClr val="FF0000"/>
                          </a:solidFill>
                          <a:latin typeface="Cambria Math" panose="02040503050406030204" pitchFamily="18" charset="0"/>
                          <a:ea typeface="Cambria Math" panose="02040503050406030204" pitchFamily="18" charset="0"/>
                        </a:rPr>
                        <m:t>𝜷</m:t>
                      </m:r>
                      <m:r>
                        <a:rPr lang="en-US" altLang="ko-KR" i="1">
                          <a:solidFill>
                            <a:srgbClr val="FF0000"/>
                          </a:solidFill>
                          <a:latin typeface="Cambria Math" panose="02040503050406030204" pitchFamily="18" charset="0"/>
                        </a:rPr>
                        <m:t>)</m:t>
                      </m:r>
                      <m:r>
                        <a:rPr lang="en-US" altLang="ko-KR" i="1" dirty="0" smtClean="0">
                          <a:solidFill>
                            <a:schemeClr val="tx1">
                              <a:lumMod val="85000"/>
                              <a:lumOff val="15000"/>
                            </a:schemeClr>
                          </a:solidFill>
                          <a:latin typeface="Cambria Math" panose="02040503050406030204" pitchFamily="18" charset="0"/>
                        </a:rPr>
                        <m:t>=</m:t>
                      </m:r>
                      <m:nary>
                        <m:naryPr>
                          <m:chr m:val="∑"/>
                          <m:limLoc m:val="undOvr"/>
                          <m:ctrlPr>
                            <a:rPr lang="ko-KR" altLang="ko-KR" i="1" smtClean="0">
                              <a:solidFill>
                                <a:schemeClr val="tx1">
                                  <a:lumMod val="85000"/>
                                  <a:lumOff val="15000"/>
                                </a:schemeClr>
                              </a:solidFill>
                              <a:latin typeface="Cambria Math" panose="02040503050406030204" pitchFamily="18" charset="0"/>
                            </a:rPr>
                          </m:ctrlPr>
                        </m:naryPr>
                        <m:sub>
                          <m:r>
                            <a:rPr lang="en-US" altLang="ko-KR" i="1">
                              <a:solidFill>
                                <a:schemeClr val="tx1">
                                  <a:lumMod val="85000"/>
                                  <a:lumOff val="15000"/>
                                </a:schemeClr>
                              </a:solidFill>
                              <a:latin typeface="Cambria Math" panose="02040503050406030204" pitchFamily="18" charset="0"/>
                            </a:rPr>
                            <m:t>𝑖</m:t>
                          </m:r>
                          <m:r>
                            <a:rPr lang="en-US" altLang="ko-KR" i="1">
                              <a:solidFill>
                                <a:schemeClr val="tx1">
                                  <a:lumMod val="85000"/>
                                  <a:lumOff val="15000"/>
                                </a:schemeClr>
                              </a:solidFill>
                              <a:latin typeface="Cambria Math" panose="02040503050406030204" pitchFamily="18" charset="0"/>
                            </a:rPr>
                            <m:t>=1</m:t>
                          </m:r>
                        </m:sub>
                        <m:sup>
                          <m:r>
                            <a:rPr lang="en-US" altLang="ko-KR" i="1">
                              <a:solidFill>
                                <a:schemeClr val="tx1">
                                  <a:lumMod val="85000"/>
                                  <a:lumOff val="15000"/>
                                </a:schemeClr>
                              </a:solidFill>
                              <a:latin typeface="Cambria Math" panose="02040503050406030204" pitchFamily="18" charset="0"/>
                            </a:rPr>
                            <m:t>𝑛</m:t>
                          </m:r>
                        </m:sup>
                        <m:e>
                          <m:r>
                            <a:rPr lang="en-US" altLang="ko-KR" i="1">
                              <a:solidFill>
                                <a:schemeClr val="tx1">
                                  <a:lumMod val="85000"/>
                                  <a:lumOff val="15000"/>
                                </a:schemeClr>
                              </a:solidFill>
                              <a:latin typeface="Cambria Math" panose="02040503050406030204" pitchFamily="18" charset="0"/>
                            </a:rPr>
                            <m:t>𝐿𝑜𝑔</m:t>
                          </m:r>
                          <m:d>
                            <m:dPr>
                              <m:ctrlPr>
                                <a:rPr lang="ko-KR" altLang="ko-KR" i="1">
                                  <a:solidFill>
                                    <a:schemeClr val="tx1">
                                      <a:lumMod val="85000"/>
                                      <a:lumOff val="15000"/>
                                    </a:schemeClr>
                                  </a:solidFill>
                                  <a:latin typeface="Cambria Math" panose="02040503050406030204" pitchFamily="18" charset="0"/>
                                </a:rPr>
                              </m:ctrlPr>
                            </m:dPr>
                            <m:e>
                              <m:r>
                                <a:rPr lang="en-US" altLang="ko-KR" i="1">
                                  <a:solidFill>
                                    <a:schemeClr val="tx1">
                                      <a:lumMod val="85000"/>
                                      <a:lumOff val="15000"/>
                                    </a:schemeClr>
                                  </a:solidFill>
                                  <a:latin typeface="Cambria Math" panose="02040503050406030204" pitchFamily="18" charset="0"/>
                                </a:rPr>
                                <m:t>1+</m:t>
                              </m:r>
                              <m:sSup>
                                <m:sSupPr>
                                  <m:ctrlPr>
                                    <a:rPr lang="ko-KR" altLang="ko-KR" i="1">
                                      <a:solidFill>
                                        <a:schemeClr val="tx1">
                                          <a:lumMod val="85000"/>
                                          <a:lumOff val="15000"/>
                                        </a:schemeClr>
                                      </a:solidFill>
                                      <a:latin typeface="Cambria Math" panose="02040503050406030204" pitchFamily="18" charset="0"/>
                                    </a:rPr>
                                  </m:ctrlPr>
                                </m:sSupPr>
                                <m:e>
                                  <m:r>
                                    <a:rPr lang="en-US" altLang="ko-KR" i="1">
                                      <a:solidFill>
                                        <a:schemeClr val="tx1">
                                          <a:lumMod val="85000"/>
                                          <a:lumOff val="15000"/>
                                        </a:schemeClr>
                                      </a:solidFill>
                                      <a:latin typeface="Cambria Math" panose="02040503050406030204" pitchFamily="18" charset="0"/>
                                    </a:rPr>
                                    <m:t>𝑒</m:t>
                                  </m:r>
                                </m:e>
                                <m:sup>
                                  <m:r>
                                    <a:rPr lang="en-US" altLang="ko-KR" i="1">
                                      <a:solidFill>
                                        <a:schemeClr val="tx1">
                                          <a:lumMod val="85000"/>
                                          <a:lumOff val="15000"/>
                                        </a:schemeClr>
                                      </a:solidFill>
                                      <a:latin typeface="Cambria Math" panose="02040503050406030204" pitchFamily="18" charset="0"/>
                                    </a:rPr>
                                    <m:t>−</m:t>
                                  </m:r>
                                  <m:sSub>
                                    <m:sSubPr>
                                      <m:ctrlPr>
                                        <a:rPr lang="ko-KR" altLang="ko-KR" i="1">
                                          <a:solidFill>
                                            <a:schemeClr val="tx1">
                                              <a:lumMod val="85000"/>
                                              <a:lumOff val="15000"/>
                                            </a:schemeClr>
                                          </a:solidFill>
                                          <a:latin typeface="Cambria Math" panose="02040503050406030204" pitchFamily="18" charset="0"/>
                                        </a:rPr>
                                      </m:ctrlPr>
                                    </m:sSubPr>
                                    <m:e>
                                      <m:r>
                                        <a:rPr lang="en-US" altLang="ko-KR" i="1">
                                          <a:solidFill>
                                            <a:schemeClr val="tx1">
                                              <a:lumMod val="85000"/>
                                              <a:lumOff val="15000"/>
                                            </a:schemeClr>
                                          </a:solidFill>
                                          <a:latin typeface="Cambria Math" panose="02040503050406030204" pitchFamily="18" charset="0"/>
                                        </a:rPr>
                                        <m:t>𝑦</m:t>
                                      </m:r>
                                    </m:e>
                                    <m:sub>
                                      <m:r>
                                        <a:rPr lang="en-US" altLang="ko-KR" i="1">
                                          <a:solidFill>
                                            <a:schemeClr val="tx1">
                                              <a:lumMod val="85000"/>
                                              <a:lumOff val="15000"/>
                                            </a:schemeClr>
                                          </a:solidFill>
                                          <a:latin typeface="Cambria Math" panose="02040503050406030204" pitchFamily="18" charset="0"/>
                                        </a:rPr>
                                        <m:t>𝑖</m:t>
                                      </m:r>
                                    </m:sub>
                                  </m:sSub>
                                  <m:r>
                                    <a:rPr lang="en-US" altLang="ko-KR" i="1">
                                      <a:solidFill>
                                        <a:schemeClr val="tx1">
                                          <a:lumMod val="85000"/>
                                          <a:lumOff val="15000"/>
                                        </a:schemeClr>
                                      </a:solidFill>
                                      <a:latin typeface="Cambria Math" panose="02040503050406030204" pitchFamily="18" charset="0"/>
                                    </a:rPr>
                                    <m:t> </m:t>
                                  </m:r>
                                  <m:sSup>
                                    <m:sSupPr>
                                      <m:ctrlPr>
                                        <a:rPr lang="ko-KR" altLang="ko-KR" b="1" i="1" smtClean="0">
                                          <a:solidFill>
                                            <a:schemeClr val="tx1">
                                              <a:lumMod val="85000"/>
                                              <a:lumOff val="15000"/>
                                            </a:schemeClr>
                                          </a:solidFill>
                                          <a:latin typeface="Cambria Math" panose="02040503050406030204" pitchFamily="18" charset="0"/>
                                        </a:rPr>
                                      </m:ctrlPr>
                                    </m:sSupPr>
                                    <m:e>
                                      <m:r>
                                        <a:rPr lang="ko-KR" altLang="en-US" b="1" i="1">
                                          <a:solidFill>
                                            <a:schemeClr val="tx1">
                                              <a:lumMod val="85000"/>
                                              <a:lumOff val="15000"/>
                                            </a:schemeClr>
                                          </a:solidFill>
                                          <a:latin typeface="Cambria Math" panose="02040503050406030204" pitchFamily="18" charset="0"/>
                                        </a:rPr>
                                        <m:t>𝜷</m:t>
                                      </m:r>
                                    </m:e>
                                    <m:sup>
                                      <m:r>
                                        <a:rPr lang="en-US" altLang="ko-KR" b="1" i="1" smtClean="0">
                                          <a:solidFill>
                                            <a:schemeClr val="tx1">
                                              <a:lumMod val="85000"/>
                                              <a:lumOff val="15000"/>
                                            </a:schemeClr>
                                          </a:solidFill>
                                          <a:latin typeface="Cambria Math" panose="02040503050406030204" pitchFamily="18" charset="0"/>
                                        </a:rPr>
                                        <m:t>𝑻</m:t>
                                      </m:r>
                                    </m:sup>
                                  </m:sSup>
                                  <m:r>
                                    <a:rPr lang="en-US" altLang="ko-KR" b="1" i="1">
                                      <a:solidFill>
                                        <a:schemeClr val="tx1">
                                          <a:lumMod val="85000"/>
                                          <a:lumOff val="15000"/>
                                        </a:schemeClr>
                                      </a:solidFill>
                                      <a:latin typeface="Cambria Math" panose="02040503050406030204" pitchFamily="18" charset="0"/>
                                    </a:rPr>
                                    <m:t> </m:t>
                                  </m:r>
                                  <m:sSub>
                                    <m:sSubPr>
                                      <m:ctrlPr>
                                        <a:rPr lang="ko-KR" altLang="ko-KR" i="1">
                                          <a:solidFill>
                                            <a:schemeClr val="tx1">
                                              <a:lumMod val="85000"/>
                                              <a:lumOff val="15000"/>
                                            </a:schemeClr>
                                          </a:solidFill>
                                          <a:latin typeface="Cambria Math" panose="02040503050406030204" pitchFamily="18" charset="0"/>
                                        </a:rPr>
                                      </m:ctrlPr>
                                    </m:sSubPr>
                                    <m:e>
                                      <m:r>
                                        <a:rPr lang="en-US" altLang="ko-KR" b="1" i="1">
                                          <a:solidFill>
                                            <a:schemeClr val="tx1">
                                              <a:lumMod val="85000"/>
                                              <a:lumOff val="15000"/>
                                            </a:schemeClr>
                                          </a:solidFill>
                                          <a:latin typeface="Cambria Math" panose="02040503050406030204" pitchFamily="18" charset="0"/>
                                        </a:rPr>
                                        <m:t>𝒙</m:t>
                                      </m:r>
                                    </m:e>
                                    <m:sub>
                                      <m:r>
                                        <a:rPr lang="en-US" altLang="ko-KR" i="1">
                                          <a:solidFill>
                                            <a:schemeClr val="tx1">
                                              <a:lumMod val="85000"/>
                                              <a:lumOff val="15000"/>
                                            </a:schemeClr>
                                          </a:solidFill>
                                          <a:latin typeface="Cambria Math" panose="02040503050406030204" pitchFamily="18" charset="0"/>
                                        </a:rPr>
                                        <m:t>𝑖</m:t>
                                      </m:r>
                                    </m:sub>
                                  </m:sSub>
                                </m:sup>
                              </m:sSup>
                            </m:e>
                          </m:d>
                        </m:e>
                      </m:nary>
                    </m:oMath>
                  </m:oMathPara>
                </a14:m>
                <a:endParaRPr lang="en-US" altLang="ko-KR" dirty="0"/>
              </a:p>
            </p:txBody>
          </p:sp>
        </mc:Choice>
        <mc:Fallback xmlns="">
          <p:sp>
            <p:nvSpPr>
              <p:cNvPr id="8" name="TextBox 7">
                <a:extLst>
                  <a:ext uri="{FF2B5EF4-FFF2-40B4-BE49-F238E27FC236}">
                    <a16:creationId xmlns:a16="http://schemas.microsoft.com/office/drawing/2014/main" xmlns:a14="http://schemas.microsoft.com/office/drawing/2010/main" xmlns="" id="{054534C3-CAED-4F03-87F5-1A1F305F176F}"/>
                  </a:ext>
                </a:extLst>
              </p:cNvPr>
              <p:cNvSpPr txBox="1">
                <a:spLocks noRot="1" noChangeAspect="1" noMove="1" noResize="1" noEditPoints="1" noAdjustHandles="1" noChangeArrowheads="1" noChangeShapeType="1" noTextEdit="1"/>
              </p:cNvSpPr>
              <p:nvPr/>
            </p:nvSpPr>
            <p:spPr>
              <a:xfrm>
                <a:off x="3468525" y="2073809"/>
                <a:ext cx="3079268" cy="867097"/>
              </a:xfrm>
              <a:prstGeom prst="rect">
                <a:avLst/>
              </a:prstGeom>
              <a:blipFill rotWithShape="0">
                <a:blip r:embed="rId5"/>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2F4A1E0-29D2-4C10-8D7F-02876FF0CC3F}"/>
                  </a:ext>
                </a:extLst>
              </p:cNvPr>
              <p:cNvSpPr txBox="1"/>
              <p:nvPr/>
            </p:nvSpPr>
            <p:spPr>
              <a:xfrm>
                <a:off x="2905743" y="3176972"/>
                <a:ext cx="4091340" cy="27042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sSub>
                        <m:sSubPr>
                          <m:ctrlPr>
                            <a:rPr lang="ko-KR" altLang="ko-KR" i="1" smtClean="0">
                              <a:solidFill>
                                <a:schemeClr val="tx1">
                                  <a:lumMod val="85000"/>
                                  <a:lumOff val="15000"/>
                                </a:schemeClr>
                              </a:solidFill>
                              <a:latin typeface="Cambria Math" panose="02040503050406030204" pitchFamily="18" charset="0"/>
                            </a:rPr>
                          </m:ctrlPr>
                        </m:sSubPr>
                        <m:e>
                          <m:r>
                            <a:rPr lang="en-US" altLang="ko-KR" b="1" i="1">
                              <a:solidFill>
                                <a:schemeClr val="tx1">
                                  <a:lumMod val="85000"/>
                                  <a:lumOff val="15000"/>
                                </a:schemeClr>
                              </a:solidFill>
                              <a:latin typeface="Cambria Math" panose="02040503050406030204" pitchFamily="18" charset="0"/>
                            </a:rPr>
                            <m:t>𝒙</m:t>
                          </m:r>
                        </m:e>
                        <m:sub>
                          <m:r>
                            <a:rPr lang="en-US" altLang="ko-KR" i="1">
                              <a:solidFill>
                                <a:schemeClr val="tx1">
                                  <a:lumMod val="85000"/>
                                  <a:lumOff val="15000"/>
                                </a:schemeClr>
                              </a:solidFill>
                              <a:latin typeface="Cambria Math" panose="02040503050406030204" pitchFamily="18" charset="0"/>
                            </a:rPr>
                            <m:t>𝑖</m:t>
                          </m:r>
                        </m:sub>
                      </m:sSub>
                      <m:r>
                        <a:rPr lang="en-US" altLang="ko-KR" i="1">
                          <a:solidFill>
                            <a:schemeClr val="tx1">
                              <a:lumMod val="85000"/>
                              <a:lumOff val="15000"/>
                            </a:schemeClr>
                          </a:solidFill>
                          <a:latin typeface="Cambria Math"/>
                        </a:rPr>
                        <m:t>=</m:t>
                      </m:r>
                      <m:d>
                        <m:dPr>
                          <m:begChr m:val="["/>
                          <m:endChr m:val="]"/>
                          <m:ctrlPr>
                            <a:rPr lang="en-US" altLang="ko-KR" i="1" smtClean="0">
                              <a:solidFill>
                                <a:schemeClr val="tx1">
                                  <a:lumMod val="85000"/>
                                  <a:lumOff val="15000"/>
                                </a:schemeClr>
                              </a:solidFill>
                              <a:latin typeface="Cambria Math" panose="02040503050406030204" pitchFamily="18" charset="0"/>
                            </a:rPr>
                          </m:ctrlPr>
                        </m:dPr>
                        <m:e>
                          <m:eqArr>
                            <m:eqArrPr>
                              <m:ctrlPr>
                                <a:rPr lang="ko-KR" altLang="ko-KR" i="1">
                                  <a:solidFill>
                                    <a:schemeClr val="tx1">
                                      <a:lumMod val="85000"/>
                                      <a:lumOff val="15000"/>
                                    </a:schemeClr>
                                  </a:solidFill>
                                  <a:latin typeface="Cambria Math" panose="02040503050406030204" pitchFamily="18" charset="0"/>
                                </a:rPr>
                              </m:ctrlPr>
                            </m:eqArrPr>
                            <m:e>
                              <m:r>
                                <a:rPr lang="en-US" altLang="ko-KR" i="1">
                                  <a:solidFill>
                                    <a:schemeClr val="tx1">
                                      <a:lumMod val="85000"/>
                                      <a:lumOff val="15000"/>
                                    </a:schemeClr>
                                  </a:solidFill>
                                  <a:latin typeface="Cambria Math"/>
                                </a:rPr>
                                <m:t>1</m:t>
                              </m:r>
                            </m:e>
                            <m:e>
                              <m:sSub>
                                <m:sSubPr>
                                  <m:ctrlPr>
                                    <a:rPr lang="ko-KR" altLang="ko-KR" i="1">
                                      <a:solidFill>
                                        <a:schemeClr val="tx1">
                                          <a:lumMod val="85000"/>
                                          <a:lumOff val="15000"/>
                                        </a:schemeClr>
                                      </a:solidFill>
                                      <a:latin typeface="Cambria Math" panose="02040503050406030204" pitchFamily="18" charset="0"/>
                                    </a:rPr>
                                  </m:ctrlPr>
                                </m:sSubPr>
                                <m:e>
                                  <m:r>
                                    <a:rPr lang="en-US" altLang="ko-KR" i="1">
                                      <a:solidFill>
                                        <a:schemeClr val="tx1">
                                          <a:lumMod val="85000"/>
                                          <a:lumOff val="15000"/>
                                        </a:schemeClr>
                                      </a:solidFill>
                                      <a:latin typeface="Cambria Math"/>
                                    </a:rPr>
                                    <m:t>𝑥</m:t>
                                  </m:r>
                                </m:e>
                                <m:sub>
                                  <m:r>
                                    <a:rPr lang="en-US" altLang="ko-KR" i="1">
                                      <a:solidFill>
                                        <a:schemeClr val="tx1">
                                          <a:lumMod val="85000"/>
                                          <a:lumOff val="15000"/>
                                        </a:schemeClr>
                                      </a:solidFill>
                                      <a:latin typeface="Cambria Math"/>
                                    </a:rPr>
                                    <m:t>𝑖</m:t>
                                  </m:r>
                                  <m:r>
                                    <a:rPr lang="en-US" altLang="ko-KR" i="1">
                                      <a:solidFill>
                                        <a:schemeClr val="tx1">
                                          <a:lumMod val="85000"/>
                                          <a:lumOff val="15000"/>
                                        </a:schemeClr>
                                      </a:solidFill>
                                      <a:latin typeface="Cambria Math"/>
                                    </a:rPr>
                                    <m:t>,1</m:t>
                                  </m:r>
                                </m:sub>
                              </m:sSub>
                            </m:e>
                            <m:e>
                              <m:sSub>
                                <m:sSubPr>
                                  <m:ctrlPr>
                                    <a:rPr lang="ko-KR" altLang="ko-KR" i="1">
                                      <a:solidFill>
                                        <a:schemeClr val="tx1">
                                          <a:lumMod val="85000"/>
                                          <a:lumOff val="15000"/>
                                        </a:schemeClr>
                                      </a:solidFill>
                                      <a:latin typeface="Cambria Math" panose="02040503050406030204" pitchFamily="18" charset="0"/>
                                    </a:rPr>
                                  </m:ctrlPr>
                                </m:sSubPr>
                                <m:e>
                                  <m:r>
                                    <a:rPr lang="en-US" altLang="ko-KR" i="1">
                                      <a:solidFill>
                                        <a:schemeClr val="tx1">
                                          <a:lumMod val="85000"/>
                                          <a:lumOff val="15000"/>
                                        </a:schemeClr>
                                      </a:solidFill>
                                      <a:latin typeface="Cambria Math"/>
                                    </a:rPr>
                                    <m:t>𝑥</m:t>
                                  </m:r>
                                </m:e>
                                <m:sub>
                                  <m:r>
                                    <a:rPr lang="en-US" altLang="ko-KR" i="1">
                                      <a:solidFill>
                                        <a:schemeClr val="tx1">
                                          <a:lumMod val="85000"/>
                                          <a:lumOff val="15000"/>
                                        </a:schemeClr>
                                      </a:solidFill>
                                      <a:latin typeface="Cambria Math"/>
                                    </a:rPr>
                                    <m:t>𝑖</m:t>
                                  </m:r>
                                  <m:r>
                                    <a:rPr lang="en-US" altLang="ko-KR" i="1">
                                      <a:solidFill>
                                        <a:schemeClr val="tx1">
                                          <a:lumMod val="85000"/>
                                          <a:lumOff val="15000"/>
                                        </a:schemeClr>
                                      </a:solidFill>
                                      <a:latin typeface="Cambria Math"/>
                                    </a:rPr>
                                    <m:t>,2</m:t>
                                  </m:r>
                                </m:sub>
                              </m:sSub>
                            </m:e>
                            <m:e>
                              <m:r>
                                <a:rPr lang="en-US" altLang="ko-KR" i="1">
                                  <a:solidFill>
                                    <a:schemeClr val="tx1">
                                      <a:lumMod val="85000"/>
                                      <a:lumOff val="15000"/>
                                    </a:schemeClr>
                                  </a:solidFill>
                                  <a:latin typeface="Cambria Math"/>
                                </a:rPr>
                                <m:t>⋮</m:t>
                              </m:r>
                            </m:e>
                            <m:e>
                              <m:sSub>
                                <m:sSubPr>
                                  <m:ctrlPr>
                                    <a:rPr lang="ko-KR" altLang="ko-KR" i="1">
                                      <a:solidFill>
                                        <a:schemeClr val="tx1">
                                          <a:lumMod val="85000"/>
                                          <a:lumOff val="15000"/>
                                        </a:schemeClr>
                                      </a:solidFill>
                                      <a:latin typeface="Cambria Math" panose="02040503050406030204" pitchFamily="18" charset="0"/>
                                    </a:rPr>
                                  </m:ctrlPr>
                                </m:sSubPr>
                                <m:e>
                                  <m:r>
                                    <a:rPr lang="en-US" altLang="ko-KR" i="1">
                                      <a:solidFill>
                                        <a:schemeClr val="tx1">
                                          <a:lumMod val="85000"/>
                                          <a:lumOff val="15000"/>
                                        </a:schemeClr>
                                      </a:solidFill>
                                      <a:latin typeface="Cambria Math"/>
                                    </a:rPr>
                                    <m:t>𝑥</m:t>
                                  </m:r>
                                </m:e>
                                <m:sub>
                                  <m:r>
                                    <a:rPr lang="en-US" altLang="ko-KR" i="1">
                                      <a:solidFill>
                                        <a:schemeClr val="tx1">
                                          <a:lumMod val="85000"/>
                                          <a:lumOff val="15000"/>
                                        </a:schemeClr>
                                      </a:solidFill>
                                      <a:latin typeface="Cambria Math"/>
                                    </a:rPr>
                                    <m:t>𝑖</m:t>
                                  </m:r>
                                  <m:r>
                                    <a:rPr lang="en-US" altLang="ko-KR" i="1">
                                      <a:solidFill>
                                        <a:schemeClr val="tx1">
                                          <a:lumMod val="85000"/>
                                          <a:lumOff val="15000"/>
                                        </a:schemeClr>
                                      </a:solidFill>
                                      <a:latin typeface="Cambria Math"/>
                                    </a:rPr>
                                    <m:t>,</m:t>
                                  </m:r>
                                  <m:r>
                                    <a:rPr lang="en-US" altLang="ko-KR" i="1">
                                      <a:solidFill>
                                        <a:schemeClr val="tx1">
                                          <a:lumMod val="85000"/>
                                          <a:lumOff val="15000"/>
                                        </a:schemeClr>
                                      </a:solidFill>
                                      <a:latin typeface="Cambria Math" panose="02040503050406030204" pitchFamily="18" charset="0"/>
                                    </a:rPr>
                                    <m:t>𝑘</m:t>
                                  </m:r>
                                </m:sub>
                              </m:sSub>
                            </m:e>
                          </m:eqArr>
                        </m:e>
                      </m:d>
                      <m:r>
                        <m:rPr>
                          <m:nor/>
                        </m:rPr>
                        <a:rPr lang="en-US" altLang="ko-KR" b="0" i="1" smtClean="0">
                          <a:solidFill>
                            <a:schemeClr val="tx1">
                              <a:lumMod val="85000"/>
                              <a:lumOff val="15000"/>
                            </a:schemeClr>
                          </a:solidFill>
                        </a:rPr>
                        <m:t>      </m:t>
                      </m:r>
                      <m:r>
                        <m:rPr>
                          <m:nor/>
                        </m:rPr>
                        <a:rPr lang="en-US" altLang="ko-KR" i="1" dirty="0">
                          <a:solidFill>
                            <a:schemeClr val="tx1">
                              <a:lumMod val="85000"/>
                              <a:lumOff val="15000"/>
                            </a:schemeClr>
                          </a:solidFill>
                          <a:latin typeface="Times New Roman" panose="02020603050405020304" pitchFamily="18" charset="0"/>
                          <a:cs typeface="Times New Roman" panose="02020603050405020304" pitchFamily="18" charset="0"/>
                        </a:rPr>
                        <m:t>,</m:t>
                      </m:r>
                      <m:r>
                        <m:rPr>
                          <m:nor/>
                        </m:rPr>
                        <a:rPr lang="en-US" altLang="ko-KR" b="0" i="1" dirty="0" smtClean="0">
                          <a:solidFill>
                            <a:schemeClr val="tx1">
                              <a:lumMod val="85000"/>
                              <a:lumOff val="15000"/>
                            </a:schemeClr>
                          </a:solidFill>
                          <a:latin typeface="Times New Roman" panose="02020603050405020304" pitchFamily="18" charset="0"/>
                          <a:cs typeface="Times New Roman" panose="02020603050405020304" pitchFamily="18" charset="0"/>
                        </a:rPr>
                        <m:t>      </m:t>
                      </m:r>
                      <m:sSubSup>
                        <m:sSubSupPr>
                          <m:ctrlPr>
                            <a:rPr lang="ko-KR" altLang="ko-KR" i="1">
                              <a:solidFill>
                                <a:schemeClr val="tx1">
                                  <a:lumMod val="85000"/>
                                  <a:lumOff val="15000"/>
                                </a:schemeClr>
                              </a:solidFill>
                              <a:latin typeface="Cambria Math" panose="02040503050406030204" pitchFamily="18" charset="0"/>
                            </a:rPr>
                          </m:ctrlPr>
                        </m:sSubSupPr>
                        <m:e>
                          <m:r>
                            <a:rPr lang="en-US" altLang="ko-KR" b="1" i="1">
                              <a:solidFill>
                                <a:schemeClr val="tx1">
                                  <a:lumMod val="85000"/>
                                  <a:lumOff val="15000"/>
                                </a:schemeClr>
                              </a:solidFill>
                              <a:latin typeface="Cambria Math" panose="02040503050406030204" pitchFamily="18" charset="0"/>
                            </a:rPr>
                            <m:t>𝒙</m:t>
                          </m:r>
                        </m:e>
                        <m:sub>
                          <m:r>
                            <a:rPr lang="en-US" altLang="ko-KR" i="1">
                              <a:solidFill>
                                <a:schemeClr val="tx1">
                                  <a:lumMod val="85000"/>
                                  <a:lumOff val="15000"/>
                                </a:schemeClr>
                              </a:solidFill>
                              <a:latin typeface="Cambria Math"/>
                            </a:rPr>
                            <m:t>𝑖</m:t>
                          </m:r>
                        </m:sub>
                        <m:sup>
                          <m:r>
                            <a:rPr lang="en-US" altLang="ko-KR" i="1">
                              <a:solidFill>
                                <a:schemeClr val="tx1">
                                  <a:lumMod val="85000"/>
                                  <a:lumOff val="15000"/>
                                </a:schemeClr>
                              </a:solidFill>
                              <a:latin typeface="Cambria Math"/>
                            </a:rPr>
                            <m:t>𝑡</m:t>
                          </m:r>
                        </m:sup>
                      </m:sSubSup>
                      <m:r>
                        <a:rPr lang="en-US" altLang="ko-KR" i="1">
                          <a:solidFill>
                            <a:schemeClr val="tx1">
                              <a:lumMod val="85000"/>
                              <a:lumOff val="15000"/>
                            </a:schemeClr>
                          </a:solidFill>
                          <a:latin typeface="Cambria Math"/>
                        </a:rPr>
                        <m:t> =</m:t>
                      </m:r>
                      <m:d>
                        <m:dPr>
                          <m:begChr m:val="["/>
                          <m:endChr m:val="]"/>
                          <m:ctrlPr>
                            <a:rPr lang="en-US" altLang="ko-KR" i="1">
                              <a:solidFill>
                                <a:schemeClr val="tx1">
                                  <a:lumMod val="85000"/>
                                  <a:lumOff val="15000"/>
                                </a:schemeClr>
                              </a:solidFill>
                              <a:latin typeface="Cambria Math" panose="02040503050406030204" pitchFamily="18" charset="0"/>
                            </a:rPr>
                          </m:ctrlPr>
                        </m:dPr>
                        <m:e>
                          <m:r>
                            <a:rPr lang="en-US" altLang="ko-KR" i="1">
                              <a:solidFill>
                                <a:schemeClr val="tx1">
                                  <a:lumMod val="85000"/>
                                  <a:lumOff val="15000"/>
                                </a:schemeClr>
                              </a:solidFill>
                              <a:latin typeface="Cambria Math"/>
                            </a:rPr>
                            <m:t>1,</m:t>
                          </m:r>
                          <m:sSub>
                            <m:sSubPr>
                              <m:ctrlPr>
                                <a:rPr lang="ko-KR" altLang="ko-KR" i="1">
                                  <a:solidFill>
                                    <a:schemeClr val="tx1">
                                      <a:lumMod val="85000"/>
                                      <a:lumOff val="15000"/>
                                    </a:schemeClr>
                                  </a:solidFill>
                                  <a:latin typeface="Cambria Math" panose="02040503050406030204" pitchFamily="18" charset="0"/>
                                </a:rPr>
                              </m:ctrlPr>
                            </m:sSubPr>
                            <m:e>
                              <m:r>
                                <a:rPr lang="en-US" altLang="ko-KR" i="1">
                                  <a:solidFill>
                                    <a:schemeClr val="tx1">
                                      <a:lumMod val="85000"/>
                                      <a:lumOff val="15000"/>
                                    </a:schemeClr>
                                  </a:solidFill>
                                  <a:latin typeface="Cambria Math"/>
                                </a:rPr>
                                <m:t>𝑥</m:t>
                              </m:r>
                            </m:e>
                            <m:sub>
                              <m:r>
                                <a:rPr lang="en-US" altLang="ko-KR" i="1">
                                  <a:solidFill>
                                    <a:schemeClr val="tx1">
                                      <a:lumMod val="85000"/>
                                      <a:lumOff val="15000"/>
                                    </a:schemeClr>
                                  </a:solidFill>
                                  <a:latin typeface="Cambria Math"/>
                                </a:rPr>
                                <m:t>𝑖</m:t>
                              </m:r>
                              <m:r>
                                <a:rPr lang="en-US" altLang="ko-KR" i="1">
                                  <a:solidFill>
                                    <a:schemeClr val="tx1">
                                      <a:lumMod val="85000"/>
                                      <a:lumOff val="15000"/>
                                    </a:schemeClr>
                                  </a:solidFill>
                                  <a:latin typeface="Cambria Math"/>
                                </a:rPr>
                                <m:t>,1</m:t>
                              </m:r>
                            </m:sub>
                          </m:sSub>
                          <m:r>
                            <a:rPr lang="en-US" altLang="ko-KR" i="1">
                              <a:solidFill>
                                <a:schemeClr val="tx1">
                                  <a:lumMod val="85000"/>
                                  <a:lumOff val="15000"/>
                                </a:schemeClr>
                              </a:solidFill>
                              <a:latin typeface="Cambria Math"/>
                            </a:rPr>
                            <m:t>,</m:t>
                          </m:r>
                          <m:sSub>
                            <m:sSubPr>
                              <m:ctrlPr>
                                <a:rPr lang="ko-KR" altLang="ko-KR" i="1">
                                  <a:solidFill>
                                    <a:schemeClr val="tx1">
                                      <a:lumMod val="85000"/>
                                      <a:lumOff val="15000"/>
                                    </a:schemeClr>
                                  </a:solidFill>
                                  <a:latin typeface="Cambria Math" panose="02040503050406030204" pitchFamily="18" charset="0"/>
                                </a:rPr>
                              </m:ctrlPr>
                            </m:sSubPr>
                            <m:e>
                              <m:r>
                                <a:rPr lang="en-US" altLang="ko-KR" i="1">
                                  <a:solidFill>
                                    <a:schemeClr val="tx1">
                                      <a:lumMod val="85000"/>
                                      <a:lumOff val="15000"/>
                                    </a:schemeClr>
                                  </a:solidFill>
                                  <a:latin typeface="Cambria Math"/>
                                </a:rPr>
                                <m:t>𝑥</m:t>
                              </m:r>
                            </m:e>
                            <m:sub>
                              <m:r>
                                <a:rPr lang="en-US" altLang="ko-KR" i="1">
                                  <a:solidFill>
                                    <a:schemeClr val="tx1">
                                      <a:lumMod val="85000"/>
                                      <a:lumOff val="15000"/>
                                    </a:schemeClr>
                                  </a:solidFill>
                                  <a:latin typeface="Cambria Math"/>
                                </a:rPr>
                                <m:t>𝑖</m:t>
                              </m:r>
                              <m:r>
                                <a:rPr lang="en-US" altLang="ko-KR" i="1">
                                  <a:solidFill>
                                    <a:schemeClr val="tx1">
                                      <a:lumMod val="85000"/>
                                      <a:lumOff val="15000"/>
                                    </a:schemeClr>
                                  </a:solidFill>
                                  <a:latin typeface="Cambria Math"/>
                                </a:rPr>
                                <m:t>,2</m:t>
                              </m:r>
                            </m:sub>
                          </m:sSub>
                          <m:r>
                            <a:rPr lang="en-US" altLang="ko-KR" i="1">
                              <a:solidFill>
                                <a:schemeClr val="tx1">
                                  <a:lumMod val="85000"/>
                                  <a:lumOff val="15000"/>
                                </a:schemeClr>
                              </a:solidFill>
                              <a:latin typeface="Cambria Math"/>
                            </a:rPr>
                            <m:t>,⋯,</m:t>
                          </m:r>
                          <m:sSub>
                            <m:sSubPr>
                              <m:ctrlPr>
                                <a:rPr lang="ko-KR" altLang="ko-KR" i="1">
                                  <a:solidFill>
                                    <a:schemeClr val="tx1">
                                      <a:lumMod val="85000"/>
                                      <a:lumOff val="15000"/>
                                    </a:schemeClr>
                                  </a:solidFill>
                                  <a:latin typeface="Cambria Math" panose="02040503050406030204" pitchFamily="18" charset="0"/>
                                </a:rPr>
                              </m:ctrlPr>
                            </m:sSubPr>
                            <m:e>
                              <m:r>
                                <a:rPr lang="en-US" altLang="ko-KR" i="1">
                                  <a:solidFill>
                                    <a:schemeClr val="tx1">
                                      <a:lumMod val="85000"/>
                                      <a:lumOff val="15000"/>
                                    </a:schemeClr>
                                  </a:solidFill>
                                  <a:latin typeface="Cambria Math"/>
                                </a:rPr>
                                <m:t>𝑥</m:t>
                              </m:r>
                            </m:e>
                            <m:sub>
                              <m:r>
                                <a:rPr lang="en-US" altLang="ko-KR" i="1">
                                  <a:solidFill>
                                    <a:schemeClr val="tx1">
                                      <a:lumMod val="85000"/>
                                      <a:lumOff val="15000"/>
                                    </a:schemeClr>
                                  </a:solidFill>
                                  <a:latin typeface="Cambria Math"/>
                                </a:rPr>
                                <m:t>𝑖</m:t>
                              </m:r>
                              <m:r>
                                <a:rPr lang="en-US" altLang="ko-KR" i="1">
                                  <a:solidFill>
                                    <a:schemeClr val="tx1">
                                      <a:lumMod val="85000"/>
                                      <a:lumOff val="15000"/>
                                    </a:schemeClr>
                                  </a:solidFill>
                                  <a:latin typeface="Cambria Math"/>
                                </a:rPr>
                                <m:t>,</m:t>
                              </m:r>
                              <m:r>
                                <a:rPr lang="en-US" altLang="ko-KR" i="1">
                                  <a:solidFill>
                                    <a:schemeClr val="tx1">
                                      <a:lumMod val="85000"/>
                                      <a:lumOff val="15000"/>
                                    </a:schemeClr>
                                  </a:solidFill>
                                  <a:latin typeface="Cambria Math" panose="02040503050406030204" pitchFamily="18" charset="0"/>
                                </a:rPr>
                                <m:t>𝑘</m:t>
                              </m:r>
                            </m:sub>
                          </m:sSub>
                        </m:e>
                      </m:d>
                    </m:oMath>
                  </m:oMathPara>
                </a14:m>
                <a:endParaRPr lang="en-US" altLang="ko-KR" i="1" dirty="0">
                  <a:solidFill>
                    <a:schemeClr val="tx1">
                      <a:lumMod val="85000"/>
                      <a:lumOff val="15000"/>
                    </a:schemeClr>
                  </a:solidFill>
                </a:endParaRPr>
              </a:p>
              <a:p>
                <a:pPr/>
                <a:br>
                  <a:rPr lang="en-US" altLang="ko-KR" i="1" dirty="0">
                    <a:solidFill>
                      <a:schemeClr val="tx1">
                        <a:lumMod val="85000"/>
                        <a:lumOff val="15000"/>
                      </a:schemeClr>
                    </a:solidFill>
                  </a:rPr>
                </a:br>
                <a14:m>
                  <m:oMathPara xmlns:m="http://schemas.openxmlformats.org/officeDocument/2006/math">
                    <m:oMathParaPr>
                      <m:jc m:val="centerGroup"/>
                    </m:oMathParaPr>
                    <m:oMath xmlns:m="http://schemas.openxmlformats.org/officeDocument/2006/math">
                      <m:r>
                        <a:rPr lang="ko-KR" altLang="en-US" b="1" i="1">
                          <a:solidFill>
                            <a:schemeClr val="tx1">
                              <a:lumMod val="85000"/>
                              <a:lumOff val="15000"/>
                            </a:schemeClr>
                          </a:solidFill>
                          <a:latin typeface="Cambria Math" panose="02040503050406030204" pitchFamily="18" charset="0"/>
                        </a:rPr>
                        <m:t>𝜷</m:t>
                      </m:r>
                      <m:r>
                        <a:rPr lang="en-US" altLang="ko-KR" i="1">
                          <a:solidFill>
                            <a:schemeClr val="tx1">
                              <a:lumMod val="85000"/>
                              <a:lumOff val="15000"/>
                            </a:schemeClr>
                          </a:solidFill>
                          <a:latin typeface="Cambria Math"/>
                        </a:rPr>
                        <m:t>=</m:t>
                      </m:r>
                      <m:d>
                        <m:dPr>
                          <m:begChr m:val="["/>
                          <m:endChr m:val="]"/>
                          <m:ctrlPr>
                            <a:rPr lang="en-US" altLang="ko-KR" i="1">
                              <a:solidFill>
                                <a:schemeClr val="tx1">
                                  <a:lumMod val="85000"/>
                                  <a:lumOff val="15000"/>
                                </a:schemeClr>
                              </a:solidFill>
                              <a:latin typeface="Cambria Math" panose="02040503050406030204" pitchFamily="18" charset="0"/>
                            </a:rPr>
                          </m:ctrlPr>
                        </m:dPr>
                        <m:e>
                          <m:eqArr>
                            <m:eqArrPr>
                              <m:ctrlPr>
                                <a:rPr lang="ko-KR" altLang="ko-KR" i="1">
                                  <a:solidFill>
                                    <a:schemeClr val="tx1">
                                      <a:lumMod val="85000"/>
                                      <a:lumOff val="15000"/>
                                    </a:schemeClr>
                                  </a:solidFill>
                                  <a:latin typeface="Cambria Math" panose="02040503050406030204" pitchFamily="18" charset="0"/>
                                </a:rPr>
                              </m:ctrlPr>
                            </m:eqArrPr>
                            <m:e>
                              <m:sSub>
                                <m:sSubPr>
                                  <m:ctrlPr>
                                    <a:rPr lang="ko-KR" altLang="ko-KR" i="1">
                                      <a:solidFill>
                                        <a:schemeClr val="tx1">
                                          <a:lumMod val="85000"/>
                                          <a:lumOff val="15000"/>
                                        </a:schemeClr>
                                      </a:solidFill>
                                      <a:latin typeface="Cambria Math" panose="02040503050406030204" pitchFamily="18" charset="0"/>
                                    </a:rPr>
                                  </m:ctrlPr>
                                </m:sSubPr>
                                <m:e>
                                  <m:r>
                                    <a:rPr lang="ko-KR" altLang="en-US" i="1">
                                      <a:solidFill>
                                        <a:schemeClr val="tx1">
                                          <a:lumMod val="85000"/>
                                          <a:lumOff val="15000"/>
                                        </a:schemeClr>
                                      </a:solidFill>
                                      <a:latin typeface="Cambria Math" panose="02040503050406030204" pitchFamily="18" charset="0"/>
                                    </a:rPr>
                                    <m:t>𝛽</m:t>
                                  </m:r>
                                </m:e>
                                <m:sub>
                                  <m:r>
                                    <a:rPr lang="en-US" altLang="ko-KR" i="1">
                                      <a:solidFill>
                                        <a:schemeClr val="tx1">
                                          <a:lumMod val="85000"/>
                                          <a:lumOff val="15000"/>
                                        </a:schemeClr>
                                      </a:solidFill>
                                      <a:latin typeface="Cambria Math"/>
                                    </a:rPr>
                                    <m:t>0</m:t>
                                  </m:r>
                                </m:sub>
                              </m:sSub>
                            </m:e>
                            <m:e>
                              <m:sSub>
                                <m:sSubPr>
                                  <m:ctrlPr>
                                    <a:rPr lang="ko-KR" altLang="ko-KR" i="1">
                                      <a:solidFill>
                                        <a:schemeClr val="tx1">
                                          <a:lumMod val="85000"/>
                                          <a:lumOff val="15000"/>
                                        </a:schemeClr>
                                      </a:solidFill>
                                      <a:latin typeface="Cambria Math" panose="02040503050406030204" pitchFamily="18" charset="0"/>
                                    </a:rPr>
                                  </m:ctrlPr>
                                </m:sSubPr>
                                <m:e>
                                  <m:r>
                                    <a:rPr lang="ko-KR" altLang="en-US" i="1">
                                      <a:solidFill>
                                        <a:schemeClr val="tx1">
                                          <a:lumMod val="85000"/>
                                          <a:lumOff val="15000"/>
                                        </a:schemeClr>
                                      </a:solidFill>
                                      <a:latin typeface="Cambria Math" panose="02040503050406030204" pitchFamily="18" charset="0"/>
                                    </a:rPr>
                                    <m:t>𝛽</m:t>
                                  </m:r>
                                </m:e>
                                <m:sub>
                                  <m:r>
                                    <a:rPr lang="en-US" altLang="ko-KR" i="1">
                                      <a:solidFill>
                                        <a:schemeClr val="tx1">
                                          <a:lumMod val="85000"/>
                                          <a:lumOff val="15000"/>
                                        </a:schemeClr>
                                      </a:solidFill>
                                      <a:latin typeface="Cambria Math"/>
                                    </a:rPr>
                                    <m:t>1</m:t>
                                  </m:r>
                                </m:sub>
                              </m:sSub>
                            </m:e>
                            <m:e>
                              <m:r>
                                <a:rPr lang="en-US" altLang="ko-KR" i="1">
                                  <a:solidFill>
                                    <a:schemeClr val="tx1">
                                      <a:lumMod val="85000"/>
                                      <a:lumOff val="15000"/>
                                    </a:schemeClr>
                                  </a:solidFill>
                                  <a:latin typeface="Cambria Math"/>
                                </a:rPr>
                                <m:t>⋮</m:t>
                              </m:r>
                            </m:e>
                            <m:e>
                              <m:sSub>
                                <m:sSubPr>
                                  <m:ctrlPr>
                                    <a:rPr lang="ko-KR" altLang="ko-KR" i="1">
                                      <a:solidFill>
                                        <a:schemeClr val="tx1">
                                          <a:lumMod val="85000"/>
                                          <a:lumOff val="15000"/>
                                        </a:schemeClr>
                                      </a:solidFill>
                                      <a:latin typeface="Cambria Math" panose="02040503050406030204" pitchFamily="18" charset="0"/>
                                    </a:rPr>
                                  </m:ctrlPr>
                                </m:sSubPr>
                                <m:e>
                                  <m:r>
                                    <a:rPr lang="ko-KR" altLang="en-US" i="1">
                                      <a:solidFill>
                                        <a:schemeClr val="tx1">
                                          <a:lumMod val="85000"/>
                                          <a:lumOff val="15000"/>
                                        </a:schemeClr>
                                      </a:solidFill>
                                      <a:latin typeface="Cambria Math" panose="02040503050406030204" pitchFamily="18" charset="0"/>
                                    </a:rPr>
                                    <m:t>𝛽</m:t>
                                  </m:r>
                                </m:e>
                                <m:sub>
                                  <m:r>
                                    <a:rPr lang="en-US" altLang="ko-KR" i="1">
                                      <a:solidFill>
                                        <a:schemeClr val="tx1">
                                          <a:lumMod val="85000"/>
                                          <a:lumOff val="15000"/>
                                        </a:schemeClr>
                                      </a:solidFill>
                                      <a:latin typeface="Cambria Math" panose="02040503050406030204" pitchFamily="18" charset="0"/>
                                      <a:sym typeface="Symbol"/>
                                    </a:rPr>
                                    <m:t>𝑘</m:t>
                                  </m:r>
                                </m:sub>
                              </m:sSub>
                            </m:e>
                          </m:eqArr>
                        </m:e>
                      </m:d>
                      <m:r>
                        <m:rPr>
                          <m:nor/>
                        </m:rPr>
                        <a:rPr lang="en-US" altLang="ko-KR" b="0" i="1" smtClean="0">
                          <a:solidFill>
                            <a:schemeClr val="tx1">
                              <a:lumMod val="85000"/>
                              <a:lumOff val="15000"/>
                            </a:schemeClr>
                          </a:solidFill>
                          <a:sym typeface="Symbol"/>
                        </a:rPr>
                        <m:t>     </m:t>
                      </m:r>
                      <m:r>
                        <m:rPr>
                          <m:nor/>
                        </m:rPr>
                        <a:rPr lang="en-US" altLang="ko-KR" i="1" dirty="0">
                          <a:solidFill>
                            <a:schemeClr val="tx1">
                              <a:lumMod val="85000"/>
                              <a:lumOff val="15000"/>
                            </a:schemeClr>
                          </a:solidFill>
                          <a:latin typeface="Times New Roman" panose="02020603050405020304" pitchFamily="18" charset="0"/>
                          <a:cs typeface="Times New Roman" panose="02020603050405020304" pitchFamily="18" charset="0"/>
                        </a:rPr>
                        <m:t> ,</m:t>
                      </m:r>
                      <m:r>
                        <m:rPr>
                          <m:nor/>
                        </m:rPr>
                        <a:rPr lang="en-US" altLang="ko-KR" b="0" i="1" dirty="0" smtClean="0">
                          <a:solidFill>
                            <a:schemeClr val="tx1">
                              <a:lumMod val="85000"/>
                              <a:lumOff val="15000"/>
                            </a:schemeClr>
                          </a:solidFill>
                          <a:latin typeface="Times New Roman" panose="02020603050405020304" pitchFamily="18" charset="0"/>
                          <a:cs typeface="Times New Roman" panose="02020603050405020304" pitchFamily="18" charset="0"/>
                        </a:rPr>
                        <m:t>     </m:t>
                      </m:r>
                      <m:r>
                        <m:rPr>
                          <m:nor/>
                        </m:rPr>
                        <a:rPr lang="en-US" altLang="ko-KR" i="1" dirty="0">
                          <a:solidFill>
                            <a:schemeClr val="tx1">
                              <a:lumMod val="85000"/>
                              <a:lumOff val="15000"/>
                            </a:schemeClr>
                          </a:solidFill>
                          <a:latin typeface="Times New Roman" panose="02020603050405020304" pitchFamily="18" charset="0"/>
                          <a:cs typeface="Times New Roman" panose="02020603050405020304" pitchFamily="18" charset="0"/>
                        </a:rPr>
                        <m:t> </m:t>
                      </m:r>
                      <m:sSup>
                        <m:sSupPr>
                          <m:ctrlPr>
                            <a:rPr lang="ko-KR" altLang="ko-KR" i="1" smtClean="0">
                              <a:solidFill>
                                <a:schemeClr val="tx1">
                                  <a:lumMod val="85000"/>
                                  <a:lumOff val="15000"/>
                                </a:schemeClr>
                              </a:solidFill>
                              <a:latin typeface="Cambria Math" panose="02040503050406030204" pitchFamily="18" charset="0"/>
                            </a:rPr>
                          </m:ctrlPr>
                        </m:sSupPr>
                        <m:e>
                          <m:r>
                            <a:rPr lang="ko-KR" altLang="en-US" b="1" i="1">
                              <a:solidFill>
                                <a:schemeClr val="tx1">
                                  <a:lumMod val="85000"/>
                                  <a:lumOff val="15000"/>
                                </a:schemeClr>
                              </a:solidFill>
                              <a:latin typeface="Cambria Math" panose="02040503050406030204" pitchFamily="18" charset="0"/>
                            </a:rPr>
                            <m:t>𝜷</m:t>
                          </m:r>
                        </m:e>
                        <m:sup>
                          <m:r>
                            <a:rPr lang="en-US" altLang="ko-KR" b="0" i="1" smtClean="0">
                              <a:solidFill>
                                <a:schemeClr val="tx1">
                                  <a:lumMod val="85000"/>
                                  <a:lumOff val="15000"/>
                                </a:schemeClr>
                              </a:solidFill>
                              <a:latin typeface="Cambria Math" panose="02040503050406030204" pitchFamily="18" charset="0"/>
                            </a:rPr>
                            <m:t>𝑇</m:t>
                          </m:r>
                        </m:sup>
                      </m:sSup>
                      <m:r>
                        <a:rPr lang="en-US" altLang="ko-KR" i="1">
                          <a:solidFill>
                            <a:schemeClr val="tx1">
                              <a:lumMod val="85000"/>
                              <a:lumOff val="15000"/>
                            </a:schemeClr>
                          </a:solidFill>
                          <a:latin typeface="Cambria Math"/>
                        </a:rPr>
                        <m:t> =</m:t>
                      </m:r>
                      <m:d>
                        <m:dPr>
                          <m:begChr m:val="["/>
                          <m:endChr m:val="]"/>
                          <m:ctrlPr>
                            <a:rPr lang="en-US" altLang="ko-KR" i="1">
                              <a:solidFill>
                                <a:schemeClr val="tx1">
                                  <a:lumMod val="85000"/>
                                  <a:lumOff val="15000"/>
                                </a:schemeClr>
                              </a:solidFill>
                              <a:latin typeface="Cambria Math" panose="02040503050406030204" pitchFamily="18" charset="0"/>
                            </a:rPr>
                          </m:ctrlPr>
                        </m:dPr>
                        <m:e>
                          <m:sSub>
                            <m:sSubPr>
                              <m:ctrlPr>
                                <a:rPr lang="ko-KR" altLang="ko-KR" i="1">
                                  <a:solidFill>
                                    <a:schemeClr val="tx1">
                                      <a:lumMod val="85000"/>
                                      <a:lumOff val="15000"/>
                                    </a:schemeClr>
                                  </a:solidFill>
                                  <a:latin typeface="Cambria Math" panose="02040503050406030204" pitchFamily="18" charset="0"/>
                                </a:rPr>
                              </m:ctrlPr>
                            </m:sSubPr>
                            <m:e>
                              <m:r>
                                <a:rPr lang="ko-KR" altLang="en-US" i="1">
                                  <a:solidFill>
                                    <a:schemeClr val="tx1">
                                      <a:lumMod val="85000"/>
                                      <a:lumOff val="15000"/>
                                    </a:schemeClr>
                                  </a:solidFill>
                                  <a:latin typeface="Cambria Math" panose="02040503050406030204" pitchFamily="18" charset="0"/>
                                </a:rPr>
                                <m:t>𝛽</m:t>
                              </m:r>
                            </m:e>
                            <m:sub>
                              <m:r>
                                <a:rPr lang="en-US" altLang="ko-KR" i="1">
                                  <a:solidFill>
                                    <a:schemeClr val="tx1">
                                      <a:lumMod val="85000"/>
                                      <a:lumOff val="15000"/>
                                    </a:schemeClr>
                                  </a:solidFill>
                                  <a:latin typeface="Cambria Math"/>
                                </a:rPr>
                                <m:t>0</m:t>
                              </m:r>
                            </m:sub>
                          </m:sSub>
                          <m:r>
                            <a:rPr lang="en-US" altLang="ko-KR" i="1">
                              <a:solidFill>
                                <a:schemeClr val="tx1">
                                  <a:lumMod val="85000"/>
                                  <a:lumOff val="15000"/>
                                </a:schemeClr>
                              </a:solidFill>
                              <a:latin typeface="Cambria Math"/>
                            </a:rPr>
                            <m:t>,</m:t>
                          </m:r>
                          <m:sSub>
                            <m:sSubPr>
                              <m:ctrlPr>
                                <a:rPr lang="ko-KR" altLang="ko-KR" i="1">
                                  <a:solidFill>
                                    <a:schemeClr val="tx1">
                                      <a:lumMod val="85000"/>
                                      <a:lumOff val="15000"/>
                                    </a:schemeClr>
                                  </a:solidFill>
                                  <a:latin typeface="Cambria Math" panose="02040503050406030204" pitchFamily="18" charset="0"/>
                                </a:rPr>
                              </m:ctrlPr>
                            </m:sSubPr>
                            <m:e>
                              <m:r>
                                <a:rPr lang="ko-KR" altLang="en-US" i="1">
                                  <a:solidFill>
                                    <a:schemeClr val="tx1">
                                      <a:lumMod val="85000"/>
                                      <a:lumOff val="15000"/>
                                    </a:schemeClr>
                                  </a:solidFill>
                                  <a:latin typeface="Cambria Math" panose="02040503050406030204" pitchFamily="18" charset="0"/>
                                </a:rPr>
                                <m:t>𝛽</m:t>
                              </m:r>
                            </m:e>
                            <m:sub>
                              <m:r>
                                <a:rPr lang="en-US" altLang="ko-KR" i="1">
                                  <a:solidFill>
                                    <a:schemeClr val="tx1">
                                      <a:lumMod val="85000"/>
                                      <a:lumOff val="15000"/>
                                    </a:schemeClr>
                                  </a:solidFill>
                                  <a:latin typeface="Cambria Math"/>
                                </a:rPr>
                                <m:t>1</m:t>
                              </m:r>
                            </m:sub>
                          </m:sSub>
                          <m:r>
                            <a:rPr lang="en-US" altLang="ko-KR" i="1">
                              <a:solidFill>
                                <a:schemeClr val="tx1">
                                  <a:lumMod val="85000"/>
                                  <a:lumOff val="15000"/>
                                </a:schemeClr>
                              </a:solidFill>
                              <a:latin typeface="Cambria Math"/>
                            </a:rPr>
                            <m:t>,⋯,</m:t>
                          </m:r>
                          <m:sSub>
                            <m:sSubPr>
                              <m:ctrlPr>
                                <a:rPr lang="ko-KR" altLang="ko-KR" i="1">
                                  <a:solidFill>
                                    <a:schemeClr val="tx1">
                                      <a:lumMod val="85000"/>
                                      <a:lumOff val="15000"/>
                                    </a:schemeClr>
                                  </a:solidFill>
                                  <a:latin typeface="Cambria Math" panose="02040503050406030204" pitchFamily="18" charset="0"/>
                                </a:rPr>
                              </m:ctrlPr>
                            </m:sSubPr>
                            <m:e>
                              <m:r>
                                <a:rPr lang="ko-KR" altLang="en-US" i="1">
                                  <a:solidFill>
                                    <a:schemeClr val="tx1">
                                      <a:lumMod val="85000"/>
                                      <a:lumOff val="15000"/>
                                    </a:schemeClr>
                                  </a:solidFill>
                                  <a:latin typeface="Cambria Math" panose="02040503050406030204" pitchFamily="18" charset="0"/>
                                </a:rPr>
                                <m:t>𝛽</m:t>
                              </m:r>
                            </m:e>
                            <m:sub>
                              <m:r>
                                <a:rPr lang="en-US" altLang="ko-KR" i="1">
                                  <a:solidFill>
                                    <a:schemeClr val="tx1">
                                      <a:lumMod val="85000"/>
                                      <a:lumOff val="15000"/>
                                    </a:schemeClr>
                                  </a:solidFill>
                                  <a:latin typeface="Cambria Math" panose="02040503050406030204" pitchFamily="18" charset="0"/>
                                  <a:sym typeface="Symbol"/>
                                </a:rPr>
                                <m:t>𝑘</m:t>
                              </m:r>
                            </m:sub>
                          </m:sSub>
                        </m:e>
                      </m:d>
                    </m:oMath>
                  </m:oMathPara>
                </a14:m>
                <a:endParaRPr lang="en-US" altLang="ko-KR" dirty="0">
                  <a:solidFill>
                    <a:schemeClr val="tx1">
                      <a:lumMod val="85000"/>
                      <a:lumOff val="15000"/>
                    </a:schemeClr>
                  </a:solidFill>
                </a:endParaRPr>
              </a:p>
            </p:txBody>
          </p:sp>
        </mc:Choice>
        <mc:Fallback xmlns="">
          <p:sp>
            <p:nvSpPr>
              <p:cNvPr id="9" name="TextBox 8">
                <a:extLst>
                  <a:ext uri="{FF2B5EF4-FFF2-40B4-BE49-F238E27FC236}">
                    <a16:creationId xmlns:a16="http://schemas.microsoft.com/office/drawing/2014/main" xmlns:a14="http://schemas.microsoft.com/office/drawing/2010/main" xmlns="" id="{92F4A1E0-29D2-4C10-8D7F-02876FF0CC3F}"/>
                  </a:ext>
                </a:extLst>
              </p:cNvPr>
              <p:cNvSpPr txBox="1">
                <a:spLocks noRot="1" noChangeAspect="1" noMove="1" noResize="1" noEditPoints="1" noAdjustHandles="1" noChangeArrowheads="1" noChangeShapeType="1" noTextEdit="1"/>
              </p:cNvSpPr>
              <p:nvPr/>
            </p:nvSpPr>
            <p:spPr>
              <a:xfrm>
                <a:off x="2905743" y="3176972"/>
                <a:ext cx="4091340" cy="2704266"/>
              </a:xfrm>
              <a:prstGeom prst="rect">
                <a:avLst/>
              </a:prstGeom>
              <a:blipFill rotWithShape="0">
                <a:blip r:embed="rId6"/>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65475308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Training by gradient descent algorithm</a:t>
            </a:r>
          </a:p>
        </p:txBody>
      </p:sp>
      <mc:AlternateContent xmlns:mc="http://schemas.openxmlformats.org/markup-compatibility/2006" xmlns:a14="http://schemas.microsoft.com/office/drawing/2010/main">
        <mc:Choice Requires="a14">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0"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gradient of </a:t>
                </a:r>
                <a14:m>
                  <m:oMath xmlns:m="http://schemas.openxmlformats.org/officeDocument/2006/math">
                    <m:r>
                      <a:rPr lang="en-US" altLang="ko-KR" sz="1300" i="1" dirty="0">
                        <a:solidFill>
                          <a:srgbClr val="FF0000"/>
                        </a:solidFill>
                        <a:latin typeface="Cambria Math" panose="02040503050406030204" pitchFamily="18" charset="0"/>
                        <a:cs typeface="Times New Roman" panose="02020603050405020304" pitchFamily="18" charset="0"/>
                      </a:rPr>
                      <m:t>𝐿</m:t>
                    </m:r>
                    <m:r>
                      <a:rPr lang="en-US" altLang="ko-KR" sz="1300" i="1">
                        <a:solidFill>
                          <a:srgbClr val="FF0000"/>
                        </a:solidFill>
                        <a:latin typeface="Cambria Math" panose="02040503050406030204" pitchFamily="18" charset="0"/>
                      </a:rPr>
                      <m:t>(</m:t>
                    </m:r>
                    <m:r>
                      <a:rPr lang="en-US" altLang="ko-KR" sz="1300" b="1" i="1">
                        <a:solidFill>
                          <a:srgbClr val="FF0000"/>
                        </a:solidFill>
                        <a:latin typeface="Cambria Math" panose="02040503050406030204" pitchFamily="18" charset="0"/>
                        <a:ea typeface="Cambria Math" panose="02040503050406030204" pitchFamily="18" charset="0"/>
                      </a:rPr>
                      <m:t>𝜷</m:t>
                    </m:r>
                    <m:r>
                      <a:rPr lang="en-US" altLang="ko-KR" sz="1300" i="1">
                        <a:solidFill>
                          <a:srgbClr val="FF0000"/>
                        </a:solidFill>
                        <a:latin typeface="Cambria Math" panose="02040503050406030204" pitchFamily="18" charset="0"/>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 denoted as </a:t>
                </a:r>
                <a14:m>
                  <m:oMath xmlns:m="http://schemas.openxmlformats.org/officeDocument/2006/math">
                    <m:r>
                      <a:rPr lang="en-US" altLang="ko-KR" sz="1300" b="1" i="1">
                        <a:solidFill>
                          <a:srgbClr val="FF0000"/>
                        </a:solidFill>
                        <a:latin typeface="Cambria Math" panose="02040503050406030204" pitchFamily="18" charset="0"/>
                      </a:rPr>
                      <m:t>𝜵</m:t>
                    </m:r>
                    <m:r>
                      <a:rPr lang="en-US" altLang="ko-KR" sz="1300" i="1">
                        <a:solidFill>
                          <a:srgbClr val="FF0000"/>
                        </a:solidFill>
                        <a:latin typeface="Cambria Math" panose="02040503050406030204" pitchFamily="18" charset="0"/>
                      </a:rPr>
                      <m:t>𝐿</m:t>
                    </m:r>
                    <m:r>
                      <a:rPr lang="en-US" altLang="ko-KR" sz="1300" i="1">
                        <a:solidFill>
                          <a:srgbClr val="FF0000"/>
                        </a:solidFill>
                        <a:latin typeface="Cambria Math" panose="02040503050406030204" pitchFamily="18" charset="0"/>
                      </a:rPr>
                      <m:t>(</m:t>
                    </m:r>
                    <m:r>
                      <a:rPr lang="en-US" altLang="ko-KR" sz="1300" b="1" i="1">
                        <a:solidFill>
                          <a:srgbClr val="FF0000"/>
                        </a:solidFill>
                        <a:latin typeface="Cambria Math" panose="02040503050406030204" pitchFamily="18" charset="0"/>
                        <a:ea typeface="Cambria Math" panose="02040503050406030204" pitchFamily="18" charset="0"/>
                      </a:rPr>
                      <m:t>𝜷</m:t>
                    </m:r>
                    <m:r>
                      <a:rPr lang="en-US" altLang="ko-KR" sz="1300" i="1">
                        <a:solidFill>
                          <a:srgbClr val="FF0000"/>
                        </a:solidFill>
                        <a:latin typeface="Cambria Math" panose="02040503050406030204" pitchFamily="18" charset="0"/>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which is also a function of the parameter set </a:t>
                </a:r>
                <a14:m>
                  <m:oMath xmlns:m="http://schemas.openxmlformats.org/officeDocument/2006/math">
                    <m:d>
                      <m:dPr>
                        <m:begChr m:val="{"/>
                        <m:endChr m:val="}"/>
                        <m:ctrlPr>
                          <a:rPr lang="ko-KR" altLang="ko-KR" sz="1300" i="1">
                            <a:solidFill>
                              <a:prstClr val="black"/>
                            </a:solidFill>
                            <a:latin typeface="Cambria Math" panose="02040503050406030204" pitchFamily="18" charset="0"/>
                          </a:rPr>
                        </m:ctrlPr>
                      </m:dPr>
                      <m:e>
                        <m:sSub>
                          <m:sSubPr>
                            <m:ctrlPr>
                              <a:rPr lang="en-US" altLang="ko-KR" sz="1300" i="1">
                                <a:solidFill>
                                  <a:srgbClr val="193EB0"/>
                                </a:solidFill>
                                <a:latin typeface="Cambria Math" panose="02040503050406030204" pitchFamily="18" charset="0"/>
                              </a:rPr>
                            </m:ctrlPr>
                          </m:sSubPr>
                          <m:e>
                            <m:r>
                              <a:rPr lang="ko-KR" altLang="en-US" sz="1300" i="1">
                                <a:solidFill>
                                  <a:srgbClr val="193EB0"/>
                                </a:solidFill>
                                <a:latin typeface="Cambria Math" panose="02040503050406030204" pitchFamily="18" charset="0"/>
                              </a:rPr>
                              <m:t>𝛽</m:t>
                            </m:r>
                          </m:e>
                          <m:sub>
                            <m:r>
                              <a:rPr lang="en-US" altLang="ko-KR" sz="1300" i="1">
                                <a:solidFill>
                                  <a:srgbClr val="193EB0"/>
                                </a:solidFill>
                                <a:latin typeface="Cambria Math" panose="02040503050406030204" pitchFamily="18" charset="0"/>
                              </a:rPr>
                              <m:t>𝑖</m:t>
                            </m:r>
                          </m:sub>
                        </m:sSub>
                      </m:e>
                    </m:d>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or </a:t>
                </a:r>
                <a14:m>
                  <m:oMath xmlns:m="http://schemas.openxmlformats.org/officeDocument/2006/math">
                    <m:r>
                      <a:rPr lang="en-US" altLang="ko-KR" sz="1300" b="1" i="1">
                        <a:solidFill>
                          <a:srgbClr val="193EB0"/>
                        </a:solidFill>
                        <a:latin typeface="Cambria Math" panose="02040503050406030204" pitchFamily="18" charset="0"/>
                        <a:ea typeface="Cambria Math" panose="02040503050406030204" pitchFamily="18" charset="0"/>
                      </a:rPr>
                      <m:t>𝜷</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marL="182526" lvl="0"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expression for the gradient </a:t>
                </a:r>
                <a14:m>
                  <m:oMath xmlns:m="http://schemas.openxmlformats.org/officeDocument/2006/math">
                    <m:r>
                      <a:rPr lang="en-US" altLang="ko-KR" sz="1300" b="1" i="1">
                        <a:solidFill>
                          <a:srgbClr val="FF0000"/>
                        </a:solidFill>
                        <a:latin typeface="Cambria Math" panose="02040503050406030204" pitchFamily="18" charset="0"/>
                      </a:rPr>
                      <m:t>𝜵</m:t>
                    </m:r>
                    <m:r>
                      <a:rPr lang="en-US" altLang="ko-KR" sz="1300" i="1">
                        <a:solidFill>
                          <a:srgbClr val="FF0000"/>
                        </a:solidFill>
                        <a:latin typeface="Cambria Math" panose="02040503050406030204" pitchFamily="18" charset="0"/>
                      </a:rPr>
                      <m:t>𝐿</m:t>
                    </m:r>
                    <m:r>
                      <a:rPr lang="en-US" altLang="ko-KR" sz="1300" i="1">
                        <a:solidFill>
                          <a:srgbClr val="FF0000"/>
                        </a:solidFill>
                        <a:latin typeface="Cambria Math" panose="02040503050406030204" pitchFamily="18" charset="0"/>
                      </a:rPr>
                      <m:t>(</m:t>
                    </m:r>
                    <m:r>
                      <a:rPr lang="en-US" altLang="ko-KR" sz="1300" b="1" i="1">
                        <a:solidFill>
                          <a:srgbClr val="FF0000"/>
                        </a:solidFill>
                        <a:latin typeface="Cambria Math" panose="02040503050406030204" pitchFamily="18" charset="0"/>
                        <a:ea typeface="Cambria Math" panose="02040503050406030204" pitchFamily="18" charset="0"/>
                      </a:rPr>
                      <m:t>𝜷</m:t>
                    </m:r>
                    <m:r>
                      <a:rPr lang="en-US" altLang="ko-KR" sz="1300" i="1">
                        <a:solidFill>
                          <a:srgbClr val="FF0000"/>
                        </a:solidFill>
                        <a:latin typeface="Cambria Math" panose="02040503050406030204" pitchFamily="18" charset="0"/>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a:t>
                </a:r>
              </a:p>
            </p:txBody>
          </p:sp>
        </mc:Choice>
        <mc:Fallback xmlns="">
          <p:sp>
            <p:nvSpPr>
              <p:cNvPr id="49" name="직사각형 48">
                <a:extLst>
                  <a:ext uri="{FF2B5EF4-FFF2-40B4-BE49-F238E27FC236}">
                    <a16:creationId xmlns:a16="http://schemas.microsoft.com/office/drawing/2014/main" xmlns="" xmlns:a14="http://schemas.microsoft.com/office/drawing/2010/main" id="{860C135B-D9AD-4347-BCFB-354CFB97F7B2}"/>
                  </a:ext>
                </a:extLst>
              </p:cNvPr>
              <p:cNvSpPr>
                <a:spLocks noRot="1" noChangeAspect="1" noMove="1" noResize="1" noEditPoints="1" noAdjustHandles="1" noChangeArrowheads="1" noChangeShapeType="1" noTextEdit="1"/>
              </p:cNvSpPr>
              <p:nvPr/>
            </p:nvSpPr>
            <p:spPr>
              <a:xfrm>
                <a:off x="671261" y="1700808"/>
                <a:ext cx="8632825" cy="648108"/>
              </a:xfrm>
              <a:prstGeom prst="rect">
                <a:avLst/>
              </a:prstGeom>
              <a:blipFill rotWithShape="0">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54534C3-CAED-4F03-87F5-1A1F305F176F}"/>
                  </a:ext>
                </a:extLst>
              </p:cNvPr>
              <p:cNvSpPr txBox="1"/>
              <p:nvPr/>
            </p:nvSpPr>
            <p:spPr>
              <a:xfrm>
                <a:off x="3676530" y="2408859"/>
                <a:ext cx="2549764" cy="8872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b="1" i="1">
                          <a:solidFill>
                            <a:srgbClr val="FF0000"/>
                          </a:solidFill>
                          <a:latin typeface="Cambria Math" panose="02040503050406030204" pitchFamily="18" charset="0"/>
                        </a:rPr>
                        <m:t>𝜵</m:t>
                      </m:r>
                      <m:r>
                        <a:rPr lang="en-US" altLang="ko-KR" i="1">
                          <a:solidFill>
                            <a:srgbClr val="FF0000"/>
                          </a:solidFill>
                          <a:latin typeface="Cambria Math" panose="02040503050406030204" pitchFamily="18" charset="0"/>
                        </a:rPr>
                        <m:t>𝐿</m:t>
                      </m:r>
                      <m:r>
                        <a:rPr lang="en-US" altLang="ko-KR" i="1">
                          <a:solidFill>
                            <a:srgbClr val="FF0000"/>
                          </a:solidFill>
                          <a:latin typeface="Cambria Math" panose="02040503050406030204" pitchFamily="18" charset="0"/>
                        </a:rPr>
                        <m:t>(</m:t>
                      </m:r>
                      <m:r>
                        <a:rPr lang="en-US" altLang="ko-KR" b="1" i="1">
                          <a:solidFill>
                            <a:srgbClr val="FF0000"/>
                          </a:solidFill>
                          <a:latin typeface="Cambria Math" panose="02040503050406030204" pitchFamily="18" charset="0"/>
                          <a:ea typeface="Cambria Math" panose="02040503050406030204" pitchFamily="18" charset="0"/>
                        </a:rPr>
                        <m:t>𝜷</m:t>
                      </m:r>
                      <m:r>
                        <a:rPr lang="en-US" altLang="ko-KR" i="1">
                          <a:solidFill>
                            <a:srgbClr val="FF0000"/>
                          </a:solidFill>
                          <a:latin typeface="Cambria Math" panose="02040503050406030204" pitchFamily="18" charset="0"/>
                        </a:rPr>
                        <m:t>)</m:t>
                      </m:r>
                      <m:r>
                        <a:rPr lang="en-US" altLang="ko-KR" i="1">
                          <a:solidFill>
                            <a:prstClr val="black"/>
                          </a:solidFill>
                          <a:latin typeface="Cambria Math" panose="02040503050406030204" pitchFamily="18" charset="0"/>
                        </a:rPr>
                        <m:t>=−</m:t>
                      </m:r>
                      <m:nary>
                        <m:naryPr>
                          <m:chr m:val="∑"/>
                          <m:limLoc m:val="undOvr"/>
                          <m:ctrlPr>
                            <a:rPr lang="en-US" altLang="ko-KR" i="1">
                              <a:solidFill>
                                <a:prstClr val="black"/>
                              </a:solidFill>
                              <a:latin typeface="Cambria Math" panose="02040503050406030204" pitchFamily="18" charset="0"/>
                            </a:rPr>
                          </m:ctrlPr>
                        </m:naryPr>
                        <m:sub>
                          <m:r>
                            <a:rPr lang="en-US" altLang="ko-KR" i="1">
                              <a:solidFill>
                                <a:prstClr val="black"/>
                              </a:solidFill>
                              <a:latin typeface="Cambria Math" panose="02040503050406030204" pitchFamily="18" charset="0"/>
                            </a:rPr>
                            <m:t>𝑖</m:t>
                          </m:r>
                          <m:r>
                            <a:rPr lang="en-US" altLang="ko-KR" i="1">
                              <a:solidFill>
                                <a:prstClr val="black"/>
                              </a:solidFill>
                              <a:latin typeface="Cambria Math" panose="02040503050406030204" pitchFamily="18" charset="0"/>
                            </a:rPr>
                            <m:t>=</m:t>
                          </m:r>
                          <m:r>
                            <a:rPr lang="en-US" altLang="ko-KR" i="1">
                              <a:solidFill>
                                <a:prstClr val="black"/>
                              </a:solidFill>
                              <a:latin typeface="Cambria Math" panose="02040503050406030204" pitchFamily="18" charset="0"/>
                            </a:rPr>
                            <m:t>1</m:t>
                          </m:r>
                        </m:sub>
                        <m:sup>
                          <m:r>
                            <a:rPr lang="en-US" altLang="ko-KR" i="1">
                              <a:solidFill>
                                <a:prstClr val="black"/>
                              </a:solidFill>
                              <a:latin typeface="Cambria Math" panose="02040503050406030204" pitchFamily="18" charset="0"/>
                            </a:rPr>
                            <m:t>𝑁</m:t>
                          </m:r>
                        </m:sup>
                        <m:e>
                          <m:f>
                            <m:fPr>
                              <m:ctrlPr>
                                <a:rPr lang="en-US" altLang="ko-KR" i="1">
                                  <a:solidFill>
                                    <a:prstClr val="black"/>
                                  </a:solidFill>
                                  <a:latin typeface="Cambria Math" panose="02040503050406030204" pitchFamily="18" charset="0"/>
                                </a:rPr>
                              </m:ctrlPr>
                            </m:fPr>
                            <m:num>
                              <m:sSub>
                                <m:sSubPr>
                                  <m:ctrlPr>
                                    <a:rPr lang="en-US" altLang="ko-KR" i="1">
                                      <a:solidFill>
                                        <a:prstClr val="black"/>
                                      </a:solidFill>
                                      <a:latin typeface="Cambria Math" panose="02040503050406030204" pitchFamily="18" charset="0"/>
                                    </a:rPr>
                                  </m:ctrlPr>
                                </m:sSubPr>
                                <m:e>
                                  <m:r>
                                    <a:rPr lang="en-US" altLang="ko-KR" i="1">
                                      <a:solidFill>
                                        <a:prstClr val="black"/>
                                      </a:solidFill>
                                      <a:latin typeface="Cambria Math" panose="02040503050406030204" pitchFamily="18" charset="0"/>
                                    </a:rPr>
                                    <m:t>𝑦</m:t>
                                  </m:r>
                                </m:e>
                                <m:sub>
                                  <m:r>
                                    <a:rPr lang="en-US" altLang="ko-KR" i="1">
                                      <a:solidFill>
                                        <a:prstClr val="black"/>
                                      </a:solidFill>
                                      <a:latin typeface="Cambria Math" panose="02040503050406030204" pitchFamily="18" charset="0"/>
                                    </a:rPr>
                                    <m:t>𝑖</m:t>
                                  </m:r>
                                </m:sub>
                              </m:sSub>
                              <m:sSub>
                                <m:sSubPr>
                                  <m:ctrlPr>
                                    <a:rPr lang="en-US" altLang="ko-KR" i="1">
                                      <a:solidFill>
                                        <a:prstClr val="black"/>
                                      </a:solidFill>
                                      <a:latin typeface="Cambria Math" panose="02040503050406030204" pitchFamily="18" charset="0"/>
                                    </a:rPr>
                                  </m:ctrlPr>
                                </m:sSubPr>
                                <m:e>
                                  <m:r>
                                    <a:rPr lang="en-US" altLang="ko-KR" b="1" i="1">
                                      <a:solidFill>
                                        <a:prstClr val="black"/>
                                      </a:solidFill>
                                      <a:latin typeface="Cambria Math" panose="02040503050406030204" pitchFamily="18" charset="0"/>
                                    </a:rPr>
                                    <m:t>𝒙</m:t>
                                  </m:r>
                                </m:e>
                                <m:sub>
                                  <m:r>
                                    <a:rPr lang="en-US" altLang="ko-KR" i="1">
                                      <a:solidFill>
                                        <a:prstClr val="black"/>
                                      </a:solidFill>
                                      <a:latin typeface="Cambria Math" panose="02040503050406030204" pitchFamily="18" charset="0"/>
                                    </a:rPr>
                                    <m:t>𝑖</m:t>
                                  </m:r>
                                </m:sub>
                              </m:sSub>
                              <m:sSup>
                                <m:sSupPr>
                                  <m:ctrlPr>
                                    <a:rPr lang="en-US" altLang="ko-KR" i="1">
                                      <a:solidFill>
                                        <a:prstClr val="black"/>
                                      </a:solidFill>
                                      <a:latin typeface="Cambria Math" panose="02040503050406030204" pitchFamily="18" charset="0"/>
                                    </a:rPr>
                                  </m:ctrlPr>
                                </m:sSupPr>
                                <m:e>
                                  <m:r>
                                    <a:rPr lang="en-US" altLang="ko-KR" i="1">
                                      <a:solidFill>
                                        <a:prstClr val="black"/>
                                      </a:solidFill>
                                      <a:latin typeface="Cambria Math" panose="02040503050406030204" pitchFamily="18" charset="0"/>
                                    </a:rPr>
                                    <m:t>𝑒</m:t>
                                  </m:r>
                                </m:e>
                                <m:sup>
                                  <m:r>
                                    <a:rPr lang="en-US" altLang="ko-KR" i="1">
                                      <a:solidFill>
                                        <a:prstClr val="black"/>
                                      </a:solidFill>
                                      <a:latin typeface="Cambria Math" panose="02040503050406030204" pitchFamily="18" charset="0"/>
                                    </a:rPr>
                                    <m:t>−</m:t>
                                  </m:r>
                                  <m:sSup>
                                    <m:sSupPr>
                                      <m:ctrlPr>
                                        <a:rPr lang="ko-KR" altLang="ko-KR" b="1" i="1">
                                          <a:solidFill>
                                            <a:prstClr val="black"/>
                                          </a:solidFill>
                                          <a:latin typeface="Cambria Math" panose="02040503050406030204" pitchFamily="18" charset="0"/>
                                        </a:rPr>
                                      </m:ctrlPr>
                                    </m:sSupPr>
                                    <m:e>
                                      <m:r>
                                        <a:rPr lang="ko-KR" altLang="en-US" b="1" i="1">
                                          <a:solidFill>
                                            <a:prstClr val="black"/>
                                          </a:solidFill>
                                          <a:latin typeface="Cambria Math" panose="02040503050406030204" pitchFamily="18" charset="0"/>
                                        </a:rPr>
                                        <m:t>𝜷</m:t>
                                      </m:r>
                                    </m:e>
                                    <m:sup>
                                      <m:r>
                                        <a:rPr lang="en-US" altLang="ko-KR" b="1" i="1">
                                          <a:solidFill>
                                            <a:prstClr val="black"/>
                                          </a:solidFill>
                                          <a:latin typeface="Cambria Math" panose="02040503050406030204" pitchFamily="18" charset="0"/>
                                        </a:rPr>
                                        <m:t>𝒕</m:t>
                                      </m:r>
                                    </m:sup>
                                  </m:sSup>
                                  <m:sSub>
                                    <m:sSubPr>
                                      <m:ctrlPr>
                                        <a:rPr lang="en-US" altLang="ko-KR" i="1">
                                          <a:solidFill>
                                            <a:prstClr val="black"/>
                                          </a:solidFill>
                                          <a:latin typeface="Cambria Math" panose="02040503050406030204" pitchFamily="18" charset="0"/>
                                        </a:rPr>
                                      </m:ctrlPr>
                                    </m:sSubPr>
                                    <m:e>
                                      <m:r>
                                        <a:rPr lang="en-US" altLang="ko-KR" b="1" i="1">
                                          <a:solidFill>
                                            <a:prstClr val="black"/>
                                          </a:solidFill>
                                          <a:latin typeface="Cambria Math" panose="02040503050406030204" pitchFamily="18" charset="0"/>
                                        </a:rPr>
                                        <m:t>𝒙</m:t>
                                      </m:r>
                                    </m:e>
                                    <m:sub>
                                      <m:r>
                                        <a:rPr lang="en-US" altLang="ko-KR" i="1">
                                          <a:solidFill>
                                            <a:prstClr val="black"/>
                                          </a:solidFill>
                                          <a:latin typeface="Cambria Math" panose="02040503050406030204" pitchFamily="18" charset="0"/>
                                        </a:rPr>
                                        <m:t>𝑖</m:t>
                                      </m:r>
                                    </m:sub>
                                  </m:sSub>
                                </m:sup>
                              </m:sSup>
                            </m:num>
                            <m:den>
                              <m:r>
                                <a:rPr lang="en-US" altLang="ko-KR" i="1">
                                  <a:solidFill>
                                    <a:prstClr val="black"/>
                                  </a:solidFill>
                                  <a:latin typeface="Cambria Math" panose="02040503050406030204" pitchFamily="18" charset="0"/>
                                </a:rPr>
                                <m:t>1</m:t>
                              </m:r>
                              <m:r>
                                <a:rPr lang="en-US" altLang="ko-KR" i="1">
                                  <a:solidFill>
                                    <a:prstClr val="black"/>
                                  </a:solidFill>
                                  <a:latin typeface="Cambria Math" panose="02040503050406030204" pitchFamily="18" charset="0"/>
                                </a:rPr>
                                <m:t>+</m:t>
                              </m:r>
                              <m:sSup>
                                <m:sSupPr>
                                  <m:ctrlPr>
                                    <a:rPr lang="en-US" altLang="ko-KR" i="1">
                                      <a:solidFill>
                                        <a:prstClr val="black"/>
                                      </a:solidFill>
                                      <a:latin typeface="Cambria Math" panose="02040503050406030204" pitchFamily="18" charset="0"/>
                                    </a:rPr>
                                  </m:ctrlPr>
                                </m:sSupPr>
                                <m:e>
                                  <m:r>
                                    <a:rPr lang="en-US" altLang="ko-KR" i="1">
                                      <a:solidFill>
                                        <a:prstClr val="black"/>
                                      </a:solidFill>
                                      <a:latin typeface="Cambria Math" panose="02040503050406030204" pitchFamily="18" charset="0"/>
                                    </a:rPr>
                                    <m:t>𝑒</m:t>
                                  </m:r>
                                </m:e>
                                <m:sup>
                                  <m:r>
                                    <a:rPr lang="en-US" altLang="ko-KR" i="1">
                                      <a:solidFill>
                                        <a:prstClr val="black"/>
                                      </a:solidFill>
                                      <a:latin typeface="Cambria Math" panose="02040503050406030204" pitchFamily="18" charset="0"/>
                                    </a:rPr>
                                    <m:t>−</m:t>
                                  </m:r>
                                  <m:sSup>
                                    <m:sSupPr>
                                      <m:ctrlPr>
                                        <a:rPr lang="ko-KR" altLang="ko-KR" b="1" i="1">
                                          <a:solidFill>
                                            <a:prstClr val="black"/>
                                          </a:solidFill>
                                          <a:latin typeface="Cambria Math" panose="02040503050406030204" pitchFamily="18" charset="0"/>
                                        </a:rPr>
                                      </m:ctrlPr>
                                    </m:sSupPr>
                                    <m:e>
                                      <m:r>
                                        <a:rPr lang="ko-KR" altLang="en-US" b="1" i="1">
                                          <a:solidFill>
                                            <a:prstClr val="black"/>
                                          </a:solidFill>
                                          <a:latin typeface="Cambria Math" panose="02040503050406030204" pitchFamily="18" charset="0"/>
                                        </a:rPr>
                                        <m:t>𝜷</m:t>
                                      </m:r>
                                    </m:e>
                                    <m:sup>
                                      <m:r>
                                        <a:rPr lang="en-US" altLang="ko-KR" b="1" i="1">
                                          <a:solidFill>
                                            <a:prstClr val="black"/>
                                          </a:solidFill>
                                          <a:latin typeface="Cambria Math" panose="02040503050406030204" pitchFamily="18" charset="0"/>
                                        </a:rPr>
                                        <m:t>𝒕</m:t>
                                      </m:r>
                                    </m:sup>
                                  </m:sSup>
                                  <m:sSub>
                                    <m:sSubPr>
                                      <m:ctrlPr>
                                        <a:rPr lang="en-US" altLang="ko-KR" i="1">
                                          <a:solidFill>
                                            <a:prstClr val="black"/>
                                          </a:solidFill>
                                          <a:latin typeface="Cambria Math" panose="02040503050406030204" pitchFamily="18" charset="0"/>
                                        </a:rPr>
                                      </m:ctrlPr>
                                    </m:sSubPr>
                                    <m:e>
                                      <m:r>
                                        <a:rPr lang="en-US" altLang="ko-KR" b="1" i="1">
                                          <a:solidFill>
                                            <a:prstClr val="black"/>
                                          </a:solidFill>
                                          <a:latin typeface="Cambria Math" panose="02040503050406030204" pitchFamily="18" charset="0"/>
                                        </a:rPr>
                                        <m:t>𝒙</m:t>
                                      </m:r>
                                    </m:e>
                                    <m:sub>
                                      <m:r>
                                        <a:rPr lang="en-US" altLang="ko-KR" i="1">
                                          <a:solidFill>
                                            <a:prstClr val="black"/>
                                          </a:solidFill>
                                          <a:latin typeface="Cambria Math" panose="02040503050406030204" pitchFamily="18" charset="0"/>
                                        </a:rPr>
                                        <m:t>𝑖</m:t>
                                      </m:r>
                                    </m:sub>
                                  </m:sSub>
                                </m:sup>
                              </m:sSup>
                            </m:den>
                          </m:f>
                        </m:e>
                      </m:nary>
                    </m:oMath>
                  </m:oMathPara>
                </a14:m>
                <a:endParaRPr lang="en-US" altLang="ko-KR" dirty="0"/>
              </a:p>
            </p:txBody>
          </p:sp>
        </mc:Choice>
        <mc:Fallback xmlns="">
          <p:sp>
            <p:nvSpPr>
              <p:cNvPr id="8" name="TextBox 7">
                <a:extLst>
                  <a:ext uri="{FF2B5EF4-FFF2-40B4-BE49-F238E27FC236}">
                    <a16:creationId xmlns:a16="http://schemas.microsoft.com/office/drawing/2014/main" id="{054534C3-CAED-4F03-87F5-1A1F305F176F}"/>
                  </a:ext>
                </a:extLst>
              </p:cNvPr>
              <p:cNvSpPr txBox="1">
                <a:spLocks noRot="1" noChangeAspect="1" noMove="1" noResize="1" noEditPoints="1" noAdjustHandles="1" noChangeArrowheads="1" noChangeShapeType="1" noTextEdit="1"/>
              </p:cNvSpPr>
              <p:nvPr/>
            </p:nvSpPr>
            <p:spPr>
              <a:xfrm>
                <a:off x="3676530" y="2408859"/>
                <a:ext cx="2549764" cy="887231"/>
              </a:xfrm>
              <a:prstGeom prst="rect">
                <a:avLst/>
              </a:prstGeom>
              <a:blipFill>
                <a:blip r:embed="rId5"/>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61E68299-7A87-40C5-991C-FDE39DB54ACE}"/>
                  </a:ext>
                </a:extLst>
              </p:cNvPr>
              <p:cNvSpPr/>
              <p:nvPr/>
            </p:nvSpPr>
            <p:spPr>
              <a:xfrm>
                <a:off x="671261" y="3550955"/>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0"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growth of </a:t>
                </a:r>
                <a14:m>
                  <m:oMath xmlns:m="http://schemas.openxmlformats.org/officeDocument/2006/math">
                    <m:r>
                      <a:rPr lang="en-US" altLang="ko-KR" sz="1300" i="1" dirty="0">
                        <a:solidFill>
                          <a:srgbClr val="FF0000"/>
                        </a:solidFill>
                        <a:latin typeface="Cambria Math" panose="02040503050406030204" pitchFamily="18" charset="0"/>
                        <a:cs typeface="Times New Roman" panose="02020603050405020304" pitchFamily="18" charset="0"/>
                      </a:rPr>
                      <m:t>𝐿</m:t>
                    </m:r>
                    <m:r>
                      <a:rPr lang="en-US" altLang="ko-KR" sz="1300" i="1">
                        <a:solidFill>
                          <a:srgbClr val="FF0000"/>
                        </a:solidFill>
                        <a:latin typeface="Cambria Math" panose="02040503050406030204" pitchFamily="18" charset="0"/>
                      </a:rPr>
                      <m:t>(</m:t>
                    </m:r>
                    <m:r>
                      <a:rPr lang="en-US" altLang="ko-KR" sz="1300" b="1" i="1">
                        <a:solidFill>
                          <a:srgbClr val="FF0000"/>
                        </a:solidFill>
                        <a:latin typeface="Cambria Math" panose="02040503050406030204" pitchFamily="18" charset="0"/>
                        <a:ea typeface="Cambria Math" panose="02040503050406030204" pitchFamily="18" charset="0"/>
                      </a:rPr>
                      <m:t>𝜷</m:t>
                    </m:r>
                    <m:r>
                      <a:rPr lang="en-US" altLang="ko-KR" sz="1300" i="1">
                        <a:solidFill>
                          <a:srgbClr val="FF0000"/>
                        </a:solidFill>
                        <a:latin typeface="Cambria Math" panose="02040503050406030204" pitchFamily="18" charset="0"/>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 steepest along the direction of </a:t>
                </a:r>
                <a14:m>
                  <m:oMath xmlns:m="http://schemas.openxmlformats.org/officeDocument/2006/math">
                    <m:r>
                      <a:rPr lang="en-US" altLang="ko-KR" sz="1300" b="1" i="1">
                        <a:solidFill>
                          <a:srgbClr val="FF0000"/>
                        </a:solidFill>
                        <a:latin typeface="Cambria Math" panose="02040503050406030204" pitchFamily="18" charset="0"/>
                      </a:rPr>
                      <m:t>𝜵</m:t>
                    </m:r>
                    <m:r>
                      <a:rPr lang="en-US" altLang="ko-KR" sz="1300" i="1">
                        <a:solidFill>
                          <a:srgbClr val="FF0000"/>
                        </a:solidFill>
                        <a:latin typeface="Cambria Math" panose="02040503050406030204" pitchFamily="18" charset="0"/>
                      </a:rPr>
                      <m:t>𝐿</m:t>
                    </m:r>
                    <m:r>
                      <a:rPr lang="en-US" altLang="ko-KR" sz="1300" i="1">
                        <a:solidFill>
                          <a:srgbClr val="FF0000"/>
                        </a:solidFill>
                        <a:latin typeface="Cambria Math" panose="02040503050406030204" pitchFamily="18" charset="0"/>
                      </a:rPr>
                      <m:t>(</m:t>
                    </m:r>
                    <m:r>
                      <a:rPr lang="en-US" altLang="ko-KR" sz="1300" b="1" i="1">
                        <a:solidFill>
                          <a:srgbClr val="FF0000"/>
                        </a:solidFill>
                        <a:latin typeface="Cambria Math" panose="02040503050406030204" pitchFamily="18" charset="0"/>
                        <a:ea typeface="Cambria Math" panose="02040503050406030204" pitchFamily="18" charset="0"/>
                      </a:rPr>
                      <m:t>𝜷</m:t>
                    </m:r>
                    <m:r>
                      <a:rPr lang="en-US" altLang="ko-KR" sz="1300" i="1">
                        <a:solidFill>
                          <a:srgbClr val="FF0000"/>
                        </a:solidFill>
                        <a:latin typeface="Cambria Math" panose="02040503050406030204" pitchFamily="18" charset="0"/>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lvl="0">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srgbClr val="193EB0"/>
                    </a:solidFill>
                    <a:latin typeface="SamsungOne 400" panose="020B0503030303020204" pitchFamily="34" charset="0"/>
                    <a:ea typeface="SamsungOne 400" panose="020B0503030303020204" pitchFamily="34" charset="0"/>
                    <a:sym typeface="Symbol" panose="05050102010706020507" pitchFamily="18" charset="2"/>
                  </a:rPr>
                  <a: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sym typeface="Symbol" panose="05050102010706020507" pitchFamily="18" charset="2"/>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descent of </a:t>
                </a:r>
                <a14:m>
                  <m:oMath xmlns:m="http://schemas.openxmlformats.org/officeDocument/2006/math">
                    <m:r>
                      <a:rPr lang="en-US" altLang="ko-KR" sz="1300" i="1" dirty="0">
                        <a:solidFill>
                          <a:srgbClr val="FF0000"/>
                        </a:solidFill>
                        <a:latin typeface="Cambria Math" panose="02040503050406030204" pitchFamily="18" charset="0"/>
                        <a:cs typeface="Times New Roman" panose="02020603050405020304" pitchFamily="18" charset="0"/>
                      </a:rPr>
                      <m:t>𝐿</m:t>
                    </m:r>
                    <m:r>
                      <a:rPr lang="en-US" altLang="ko-KR" sz="1300" i="1">
                        <a:solidFill>
                          <a:srgbClr val="FF0000"/>
                        </a:solidFill>
                        <a:latin typeface="Cambria Math" panose="02040503050406030204" pitchFamily="18" charset="0"/>
                      </a:rPr>
                      <m:t>(</m:t>
                    </m:r>
                    <m:r>
                      <a:rPr lang="en-US" altLang="ko-KR" sz="1300" b="1" i="1">
                        <a:solidFill>
                          <a:srgbClr val="FF0000"/>
                        </a:solidFill>
                        <a:latin typeface="Cambria Math" panose="02040503050406030204" pitchFamily="18" charset="0"/>
                        <a:ea typeface="Cambria Math" panose="02040503050406030204" pitchFamily="18" charset="0"/>
                      </a:rPr>
                      <m:t>𝜷</m:t>
                    </m:r>
                    <m:r>
                      <a:rPr lang="en-US" altLang="ko-KR" sz="1300" i="1">
                        <a:solidFill>
                          <a:srgbClr val="FF0000"/>
                        </a:solidFill>
                        <a:latin typeface="Cambria Math" panose="02040503050406030204" pitchFamily="18" charset="0"/>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 steepest along the direction of </a:t>
                </a:r>
                <a:r>
                  <a:rPr lang="en-US" altLang="ko-KR" sz="1300" dirty="0">
                    <a:solidFill>
                      <a:srgbClr val="193EB0"/>
                    </a:solidFill>
                    <a:latin typeface="SamsungOne 400" panose="020B0503030303020204" pitchFamily="34" charset="0"/>
                    <a:ea typeface="SamsungOne 400" panose="020B0503030303020204" pitchFamily="34" charset="0"/>
                  </a:rPr>
                  <a:t>−</a:t>
                </a:r>
                <a:r>
                  <a:rPr lang="en-US" altLang="ko-KR" sz="1300" b="1" dirty="0">
                    <a:solidFill>
                      <a:srgbClr val="FF0000"/>
                    </a:solidFill>
                  </a:rPr>
                  <a:t> </a:t>
                </a:r>
                <a14:m>
                  <m:oMath xmlns:m="http://schemas.openxmlformats.org/officeDocument/2006/math">
                    <m:r>
                      <a:rPr lang="en-US" altLang="ko-KR" sz="1300" b="1" i="1">
                        <a:solidFill>
                          <a:srgbClr val="FF0000"/>
                        </a:solidFill>
                        <a:latin typeface="Cambria Math" panose="02040503050406030204" pitchFamily="18" charset="0"/>
                      </a:rPr>
                      <m:t>𝜵</m:t>
                    </m:r>
                    <m:r>
                      <a:rPr lang="en-US" altLang="ko-KR" sz="1300" i="1">
                        <a:solidFill>
                          <a:srgbClr val="FF0000"/>
                        </a:solidFill>
                        <a:latin typeface="Cambria Math" panose="02040503050406030204" pitchFamily="18" charset="0"/>
                      </a:rPr>
                      <m:t>𝐿</m:t>
                    </m:r>
                    <m:r>
                      <a:rPr lang="en-US" altLang="ko-KR" sz="1300" i="1">
                        <a:solidFill>
                          <a:srgbClr val="FF0000"/>
                        </a:solidFill>
                        <a:latin typeface="Cambria Math" panose="02040503050406030204" pitchFamily="18" charset="0"/>
                      </a:rPr>
                      <m:t>(</m:t>
                    </m:r>
                    <m:r>
                      <a:rPr lang="en-US" altLang="ko-KR" sz="1300" b="1" i="1">
                        <a:solidFill>
                          <a:srgbClr val="FF0000"/>
                        </a:solidFill>
                        <a:latin typeface="Cambria Math" panose="02040503050406030204" pitchFamily="18" charset="0"/>
                        <a:ea typeface="Cambria Math" panose="02040503050406030204" pitchFamily="18" charset="0"/>
                      </a:rPr>
                      <m:t>𝜷</m:t>
                    </m:r>
                    <m:r>
                      <a:rPr lang="en-US" altLang="ko-KR" sz="1300" i="1">
                        <a:solidFill>
                          <a:srgbClr val="FF0000"/>
                        </a:solidFill>
                        <a:latin typeface="Cambria Math" panose="02040503050406030204" pitchFamily="18" charset="0"/>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p:txBody>
          </p:sp>
        </mc:Choice>
        <mc:Fallback xmlns="">
          <p:sp>
            <p:nvSpPr>
              <p:cNvPr id="10" name="직사각형 9">
                <a:extLst>
                  <a:ext uri="{FF2B5EF4-FFF2-40B4-BE49-F238E27FC236}">
                    <a16:creationId xmlns:a16="http://schemas.microsoft.com/office/drawing/2014/main" id="{61E68299-7A87-40C5-991C-FDE39DB54ACE}"/>
                  </a:ext>
                </a:extLst>
              </p:cNvPr>
              <p:cNvSpPr>
                <a:spLocks noRot="1" noChangeAspect="1" noMove="1" noResize="1" noEditPoints="1" noAdjustHandles="1" noChangeArrowheads="1" noChangeShapeType="1" noTextEdit="1"/>
              </p:cNvSpPr>
              <p:nvPr/>
            </p:nvSpPr>
            <p:spPr>
              <a:xfrm>
                <a:off x="671261" y="3550955"/>
                <a:ext cx="8632825" cy="648108"/>
              </a:xfrm>
              <a:prstGeom prst="rect">
                <a:avLst/>
              </a:prstGeom>
              <a:blipFill>
                <a:blip r:embed="rId6"/>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326513645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Training by gradient descent algorithm</a:t>
            </a:r>
          </a:p>
        </p:txBody>
      </p:sp>
      <mc:AlternateContent xmlns:mc="http://schemas.openxmlformats.org/markup-compatibility/2006" xmlns:a14="http://schemas.microsoft.com/office/drawing/2010/main">
        <mc:Choice Requires="a14">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0"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expression for the gradient </a:t>
                </a:r>
                <a14:m>
                  <m:oMath xmlns:m="http://schemas.openxmlformats.org/officeDocument/2006/math">
                    <m:r>
                      <a:rPr lang="en-US" altLang="ko-KR" sz="1300" b="1" i="1">
                        <a:solidFill>
                          <a:srgbClr val="FF0000"/>
                        </a:solidFill>
                        <a:latin typeface="Cambria Math" panose="02040503050406030204" pitchFamily="18" charset="0"/>
                      </a:rPr>
                      <m:t>𝜵</m:t>
                    </m:r>
                    <m:r>
                      <a:rPr lang="en-US" altLang="ko-KR" sz="1300" i="1">
                        <a:solidFill>
                          <a:srgbClr val="FF0000"/>
                        </a:solidFill>
                        <a:latin typeface="Cambria Math" panose="02040503050406030204" pitchFamily="18" charset="0"/>
                      </a:rPr>
                      <m:t>𝐿</m:t>
                    </m:r>
                    <m:r>
                      <a:rPr lang="en-US" altLang="ko-KR" sz="1300" i="1">
                        <a:solidFill>
                          <a:srgbClr val="FF0000"/>
                        </a:solidFill>
                        <a:latin typeface="Cambria Math" panose="02040503050406030204" pitchFamily="18" charset="0"/>
                      </a:rPr>
                      <m:t>(</m:t>
                    </m:r>
                    <m:r>
                      <a:rPr lang="en-US" altLang="ko-KR" sz="1300" b="1" i="1">
                        <a:solidFill>
                          <a:srgbClr val="FF0000"/>
                        </a:solidFill>
                        <a:latin typeface="Cambria Math" panose="02040503050406030204" pitchFamily="18" charset="0"/>
                        <a:ea typeface="Cambria Math" panose="02040503050406030204" pitchFamily="18" charset="0"/>
                      </a:rPr>
                      <m:t>𝜷</m:t>
                    </m:r>
                    <m:r>
                      <a:rPr lang="en-US" altLang="ko-KR" sz="1300" i="1">
                        <a:solidFill>
                          <a:srgbClr val="FF0000"/>
                        </a:solidFill>
                        <a:latin typeface="Cambria Math" panose="02040503050406030204" pitchFamily="18" charset="0"/>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a:t>
                </a:r>
              </a:p>
            </p:txBody>
          </p:sp>
        </mc:Choice>
        <mc:Fallback xmlns="">
          <p:sp>
            <p:nvSpPr>
              <p:cNvPr id="49" name="직사각형 48">
                <a:extLst>
                  <a:ext uri="{FF2B5EF4-FFF2-40B4-BE49-F238E27FC236}">
                    <a16:creationId xmlns:a16="http://schemas.microsoft.com/office/drawing/2014/main" id="{860C135B-D9AD-4347-BCFB-354CFB97F7B2}"/>
                  </a:ext>
                </a:extLst>
              </p:cNvPr>
              <p:cNvSpPr>
                <a:spLocks noRot="1" noChangeAspect="1" noMove="1" noResize="1" noEditPoints="1" noAdjustHandles="1" noChangeArrowheads="1" noChangeShapeType="1" noTextEdit="1"/>
              </p:cNvSpPr>
              <p:nvPr/>
            </p:nvSpPr>
            <p:spPr>
              <a:xfrm>
                <a:off x="671261" y="1700808"/>
                <a:ext cx="8632825" cy="345461"/>
              </a:xfrm>
              <a:prstGeom prst="rect">
                <a:avLst/>
              </a:prstGeom>
              <a:blipFill>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54534C3-CAED-4F03-87F5-1A1F305F176F}"/>
                  </a:ext>
                </a:extLst>
              </p:cNvPr>
              <p:cNvSpPr txBox="1"/>
              <p:nvPr/>
            </p:nvSpPr>
            <p:spPr>
              <a:xfrm>
                <a:off x="3676530" y="2153956"/>
                <a:ext cx="2549764" cy="8872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b="1" i="1">
                          <a:solidFill>
                            <a:srgbClr val="FF0000"/>
                          </a:solidFill>
                          <a:latin typeface="Cambria Math" panose="02040503050406030204" pitchFamily="18" charset="0"/>
                        </a:rPr>
                        <m:t>𝜵</m:t>
                      </m:r>
                      <m:r>
                        <a:rPr lang="en-US" altLang="ko-KR" i="1">
                          <a:solidFill>
                            <a:srgbClr val="FF0000"/>
                          </a:solidFill>
                          <a:latin typeface="Cambria Math" panose="02040503050406030204" pitchFamily="18" charset="0"/>
                        </a:rPr>
                        <m:t>𝐿</m:t>
                      </m:r>
                      <m:r>
                        <a:rPr lang="en-US" altLang="ko-KR" i="1">
                          <a:solidFill>
                            <a:srgbClr val="FF0000"/>
                          </a:solidFill>
                          <a:latin typeface="Cambria Math" panose="02040503050406030204" pitchFamily="18" charset="0"/>
                        </a:rPr>
                        <m:t>(</m:t>
                      </m:r>
                      <m:r>
                        <a:rPr lang="en-US" altLang="ko-KR" b="1" i="1">
                          <a:solidFill>
                            <a:srgbClr val="FF0000"/>
                          </a:solidFill>
                          <a:latin typeface="Cambria Math" panose="02040503050406030204" pitchFamily="18" charset="0"/>
                          <a:ea typeface="Cambria Math" panose="02040503050406030204" pitchFamily="18" charset="0"/>
                        </a:rPr>
                        <m:t>𝜷</m:t>
                      </m:r>
                      <m:r>
                        <a:rPr lang="en-US" altLang="ko-KR" i="1">
                          <a:solidFill>
                            <a:srgbClr val="FF0000"/>
                          </a:solidFill>
                          <a:latin typeface="Cambria Math" panose="02040503050406030204" pitchFamily="18" charset="0"/>
                        </a:rPr>
                        <m:t>)</m:t>
                      </m:r>
                      <m:r>
                        <a:rPr lang="en-US" altLang="ko-KR" i="1">
                          <a:solidFill>
                            <a:prstClr val="black"/>
                          </a:solidFill>
                          <a:latin typeface="Cambria Math" panose="02040503050406030204" pitchFamily="18" charset="0"/>
                        </a:rPr>
                        <m:t>=−</m:t>
                      </m:r>
                      <m:nary>
                        <m:naryPr>
                          <m:chr m:val="∑"/>
                          <m:limLoc m:val="undOvr"/>
                          <m:ctrlPr>
                            <a:rPr lang="en-US" altLang="ko-KR" i="1">
                              <a:solidFill>
                                <a:prstClr val="black"/>
                              </a:solidFill>
                              <a:latin typeface="Cambria Math" panose="02040503050406030204" pitchFamily="18" charset="0"/>
                            </a:rPr>
                          </m:ctrlPr>
                        </m:naryPr>
                        <m:sub>
                          <m:r>
                            <a:rPr lang="en-US" altLang="ko-KR" i="1">
                              <a:solidFill>
                                <a:prstClr val="black"/>
                              </a:solidFill>
                              <a:latin typeface="Cambria Math" panose="02040503050406030204" pitchFamily="18" charset="0"/>
                            </a:rPr>
                            <m:t>𝑖</m:t>
                          </m:r>
                          <m:r>
                            <a:rPr lang="en-US" altLang="ko-KR" i="1">
                              <a:solidFill>
                                <a:prstClr val="black"/>
                              </a:solidFill>
                              <a:latin typeface="Cambria Math" panose="02040503050406030204" pitchFamily="18" charset="0"/>
                            </a:rPr>
                            <m:t>=1</m:t>
                          </m:r>
                        </m:sub>
                        <m:sup>
                          <m:r>
                            <a:rPr lang="en-US" altLang="ko-KR" i="1">
                              <a:solidFill>
                                <a:prstClr val="black"/>
                              </a:solidFill>
                              <a:latin typeface="Cambria Math" panose="02040503050406030204" pitchFamily="18" charset="0"/>
                            </a:rPr>
                            <m:t>𝑁</m:t>
                          </m:r>
                        </m:sup>
                        <m:e>
                          <m:f>
                            <m:fPr>
                              <m:ctrlPr>
                                <a:rPr lang="en-US" altLang="ko-KR" i="1">
                                  <a:solidFill>
                                    <a:prstClr val="black"/>
                                  </a:solidFill>
                                  <a:latin typeface="Cambria Math" panose="02040503050406030204" pitchFamily="18" charset="0"/>
                                </a:rPr>
                              </m:ctrlPr>
                            </m:fPr>
                            <m:num>
                              <m:sSub>
                                <m:sSubPr>
                                  <m:ctrlPr>
                                    <a:rPr lang="en-US" altLang="ko-KR" i="1">
                                      <a:solidFill>
                                        <a:prstClr val="black"/>
                                      </a:solidFill>
                                      <a:latin typeface="Cambria Math" panose="02040503050406030204" pitchFamily="18" charset="0"/>
                                    </a:rPr>
                                  </m:ctrlPr>
                                </m:sSubPr>
                                <m:e>
                                  <m:r>
                                    <a:rPr lang="en-US" altLang="ko-KR" i="1">
                                      <a:solidFill>
                                        <a:prstClr val="black"/>
                                      </a:solidFill>
                                      <a:latin typeface="Cambria Math" panose="02040503050406030204" pitchFamily="18" charset="0"/>
                                    </a:rPr>
                                    <m:t>𝑦</m:t>
                                  </m:r>
                                </m:e>
                                <m:sub>
                                  <m:r>
                                    <a:rPr lang="en-US" altLang="ko-KR" i="1">
                                      <a:solidFill>
                                        <a:prstClr val="black"/>
                                      </a:solidFill>
                                      <a:latin typeface="Cambria Math" panose="02040503050406030204" pitchFamily="18" charset="0"/>
                                    </a:rPr>
                                    <m:t>𝑖</m:t>
                                  </m:r>
                                </m:sub>
                              </m:sSub>
                              <m:sSub>
                                <m:sSubPr>
                                  <m:ctrlPr>
                                    <a:rPr lang="en-US" altLang="ko-KR" i="1">
                                      <a:solidFill>
                                        <a:prstClr val="black"/>
                                      </a:solidFill>
                                      <a:latin typeface="Cambria Math" panose="02040503050406030204" pitchFamily="18" charset="0"/>
                                    </a:rPr>
                                  </m:ctrlPr>
                                </m:sSubPr>
                                <m:e>
                                  <m:r>
                                    <a:rPr lang="en-US" altLang="ko-KR" b="1" i="1">
                                      <a:solidFill>
                                        <a:prstClr val="black"/>
                                      </a:solidFill>
                                      <a:latin typeface="Cambria Math" panose="02040503050406030204" pitchFamily="18" charset="0"/>
                                    </a:rPr>
                                    <m:t>𝒙</m:t>
                                  </m:r>
                                </m:e>
                                <m:sub>
                                  <m:r>
                                    <a:rPr lang="en-US" altLang="ko-KR" i="1">
                                      <a:solidFill>
                                        <a:prstClr val="black"/>
                                      </a:solidFill>
                                      <a:latin typeface="Cambria Math" panose="02040503050406030204" pitchFamily="18" charset="0"/>
                                    </a:rPr>
                                    <m:t>𝑖</m:t>
                                  </m:r>
                                </m:sub>
                              </m:sSub>
                              <m:sSup>
                                <m:sSupPr>
                                  <m:ctrlPr>
                                    <a:rPr lang="en-US" altLang="ko-KR" i="1">
                                      <a:solidFill>
                                        <a:prstClr val="black"/>
                                      </a:solidFill>
                                      <a:latin typeface="Cambria Math" panose="02040503050406030204" pitchFamily="18" charset="0"/>
                                    </a:rPr>
                                  </m:ctrlPr>
                                </m:sSupPr>
                                <m:e>
                                  <m:r>
                                    <a:rPr lang="en-US" altLang="ko-KR" i="1">
                                      <a:solidFill>
                                        <a:prstClr val="black"/>
                                      </a:solidFill>
                                      <a:latin typeface="Cambria Math" panose="02040503050406030204" pitchFamily="18" charset="0"/>
                                    </a:rPr>
                                    <m:t>𝑒</m:t>
                                  </m:r>
                                </m:e>
                                <m:sup>
                                  <m:r>
                                    <a:rPr lang="en-US" altLang="ko-KR" i="1">
                                      <a:solidFill>
                                        <a:prstClr val="black"/>
                                      </a:solidFill>
                                      <a:latin typeface="Cambria Math" panose="02040503050406030204" pitchFamily="18" charset="0"/>
                                    </a:rPr>
                                    <m:t>−</m:t>
                                  </m:r>
                                  <m:sSup>
                                    <m:sSupPr>
                                      <m:ctrlPr>
                                        <a:rPr lang="ko-KR" altLang="ko-KR" b="1" i="1">
                                          <a:solidFill>
                                            <a:prstClr val="black"/>
                                          </a:solidFill>
                                          <a:latin typeface="Cambria Math" panose="02040503050406030204" pitchFamily="18" charset="0"/>
                                        </a:rPr>
                                      </m:ctrlPr>
                                    </m:sSupPr>
                                    <m:e>
                                      <m:r>
                                        <a:rPr lang="ko-KR" altLang="en-US" b="1" i="1">
                                          <a:solidFill>
                                            <a:prstClr val="black"/>
                                          </a:solidFill>
                                          <a:latin typeface="Cambria Math" panose="02040503050406030204" pitchFamily="18" charset="0"/>
                                        </a:rPr>
                                        <m:t>𝜷</m:t>
                                      </m:r>
                                    </m:e>
                                    <m:sup>
                                      <m:r>
                                        <a:rPr lang="en-US" altLang="ko-KR" b="1" i="1">
                                          <a:solidFill>
                                            <a:prstClr val="black"/>
                                          </a:solidFill>
                                          <a:latin typeface="Cambria Math" panose="02040503050406030204" pitchFamily="18" charset="0"/>
                                        </a:rPr>
                                        <m:t>𝒕</m:t>
                                      </m:r>
                                    </m:sup>
                                  </m:sSup>
                                  <m:sSub>
                                    <m:sSubPr>
                                      <m:ctrlPr>
                                        <a:rPr lang="en-US" altLang="ko-KR" i="1">
                                          <a:solidFill>
                                            <a:prstClr val="black"/>
                                          </a:solidFill>
                                          <a:latin typeface="Cambria Math" panose="02040503050406030204" pitchFamily="18" charset="0"/>
                                        </a:rPr>
                                      </m:ctrlPr>
                                    </m:sSubPr>
                                    <m:e>
                                      <m:r>
                                        <a:rPr lang="en-US" altLang="ko-KR" b="1" i="1">
                                          <a:solidFill>
                                            <a:prstClr val="black"/>
                                          </a:solidFill>
                                          <a:latin typeface="Cambria Math" panose="02040503050406030204" pitchFamily="18" charset="0"/>
                                        </a:rPr>
                                        <m:t>𝒙</m:t>
                                      </m:r>
                                    </m:e>
                                    <m:sub>
                                      <m:r>
                                        <a:rPr lang="en-US" altLang="ko-KR" i="1">
                                          <a:solidFill>
                                            <a:prstClr val="black"/>
                                          </a:solidFill>
                                          <a:latin typeface="Cambria Math" panose="02040503050406030204" pitchFamily="18" charset="0"/>
                                        </a:rPr>
                                        <m:t>𝑖</m:t>
                                      </m:r>
                                    </m:sub>
                                  </m:sSub>
                                </m:sup>
                              </m:sSup>
                            </m:num>
                            <m:den>
                              <m:r>
                                <a:rPr lang="en-US" altLang="ko-KR" i="1">
                                  <a:solidFill>
                                    <a:prstClr val="black"/>
                                  </a:solidFill>
                                  <a:latin typeface="Cambria Math" panose="02040503050406030204" pitchFamily="18" charset="0"/>
                                </a:rPr>
                                <m:t>1+</m:t>
                              </m:r>
                              <m:sSup>
                                <m:sSupPr>
                                  <m:ctrlPr>
                                    <a:rPr lang="en-US" altLang="ko-KR" i="1">
                                      <a:solidFill>
                                        <a:prstClr val="black"/>
                                      </a:solidFill>
                                      <a:latin typeface="Cambria Math" panose="02040503050406030204" pitchFamily="18" charset="0"/>
                                    </a:rPr>
                                  </m:ctrlPr>
                                </m:sSupPr>
                                <m:e>
                                  <m:r>
                                    <a:rPr lang="en-US" altLang="ko-KR" i="1">
                                      <a:solidFill>
                                        <a:prstClr val="black"/>
                                      </a:solidFill>
                                      <a:latin typeface="Cambria Math" panose="02040503050406030204" pitchFamily="18" charset="0"/>
                                    </a:rPr>
                                    <m:t>𝑒</m:t>
                                  </m:r>
                                </m:e>
                                <m:sup>
                                  <m:r>
                                    <a:rPr lang="en-US" altLang="ko-KR" i="1">
                                      <a:solidFill>
                                        <a:prstClr val="black"/>
                                      </a:solidFill>
                                      <a:latin typeface="Cambria Math" panose="02040503050406030204" pitchFamily="18" charset="0"/>
                                    </a:rPr>
                                    <m:t>−</m:t>
                                  </m:r>
                                  <m:sSup>
                                    <m:sSupPr>
                                      <m:ctrlPr>
                                        <a:rPr lang="ko-KR" altLang="ko-KR" b="1" i="1">
                                          <a:solidFill>
                                            <a:prstClr val="black"/>
                                          </a:solidFill>
                                          <a:latin typeface="Cambria Math" panose="02040503050406030204" pitchFamily="18" charset="0"/>
                                        </a:rPr>
                                      </m:ctrlPr>
                                    </m:sSupPr>
                                    <m:e>
                                      <m:r>
                                        <a:rPr lang="ko-KR" altLang="en-US" b="1" i="1">
                                          <a:solidFill>
                                            <a:prstClr val="black"/>
                                          </a:solidFill>
                                          <a:latin typeface="Cambria Math" panose="02040503050406030204" pitchFamily="18" charset="0"/>
                                        </a:rPr>
                                        <m:t>𝜷</m:t>
                                      </m:r>
                                    </m:e>
                                    <m:sup>
                                      <m:r>
                                        <a:rPr lang="en-US" altLang="ko-KR" b="1" i="1">
                                          <a:solidFill>
                                            <a:prstClr val="black"/>
                                          </a:solidFill>
                                          <a:latin typeface="Cambria Math" panose="02040503050406030204" pitchFamily="18" charset="0"/>
                                        </a:rPr>
                                        <m:t>𝒕</m:t>
                                      </m:r>
                                    </m:sup>
                                  </m:sSup>
                                  <m:sSub>
                                    <m:sSubPr>
                                      <m:ctrlPr>
                                        <a:rPr lang="en-US" altLang="ko-KR" i="1">
                                          <a:solidFill>
                                            <a:prstClr val="black"/>
                                          </a:solidFill>
                                          <a:latin typeface="Cambria Math" panose="02040503050406030204" pitchFamily="18" charset="0"/>
                                        </a:rPr>
                                      </m:ctrlPr>
                                    </m:sSubPr>
                                    <m:e>
                                      <m:r>
                                        <a:rPr lang="en-US" altLang="ko-KR" b="1" i="1">
                                          <a:solidFill>
                                            <a:prstClr val="black"/>
                                          </a:solidFill>
                                          <a:latin typeface="Cambria Math" panose="02040503050406030204" pitchFamily="18" charset="0"/>
                                        </a:rPr>
                                        <m:t>𝒙</m:t>
                                      </m:r>
                                    </m:e>
                                    <m:sub>
                                      <m:r>
                                        <a:rPr lang="en-US" altLang="ko-KR" i="1">
                                          <a:solidFill>
                                            <a:prstClr val="black"/>
                                          </a:solidFill>
                                          <a:latin typeface="Cambria Math" panose="02040503050406030204" pitchFamily="18" charset="0"/>
                                        </a:rPr>
                                        <m:t>𝑖</m:t>
                                      </m:r>
                                    </m:sub>
                                  </m:sSub>
                                </m:sup>
                              </m:sSup>
                            </m:den>
                          </m:f>
                        </m:e>
                      </m:nary>
                    </m:oMath>
                  </m:oMathPara>
                </a14:m>
                <a:endParaRPr lang="en-US" altLang="ko-KR" dirty="0"/>
              </a:p>
            </p:txBody>
          </p:sp>
        </mc:Choice>
        <mc:Fallback xmlns="">
          <p:sp>
            <p:nvSpPr>
              <p:cNvPr id="8" name="TextBox 7">
                <a:extLst>
                  <a:ext uri="{FF2B5EF4-FFF2-40B4-BE49-F238E27FC236}">
                    <a16:creationId xmlns:a16="http://schemas.microsoft.com/office/drawing/2014/main" id="{054534C3-CAED-4F03-87F5-1A1F305F176F}"/>
                  </a:ext>
                </a:extLst>
              </p:cNvPr>
              <p:cNvSpPr txBox="1">
                <a:spLocks noRot="1" noChangeAspect="1" noMove="1" noResize="1" noEditPoints="1" noAdjustHandles="1" noChangeArrowheads="1" noChangeShapeType="1" noTextEdit="1"/>
              </p:cNvSpPr>
              <p:nvPr/>
            </p:nvSpPr>
            <p:spPr>
              <a:xfrm>
                <a:off x="3676530" y="2153956"/>
                <a:ext cx="2549764" cy="887231"/>
              </a:xfrm>
              <a:prstGeom prst="rect">
                <a:avLst/>
              </a:prstGeom>
              <a:blipFill>
                <a:blip r:embed="rId5"/>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61E68299-7A87-40C5-991C-FDE39DB54ACE}"/>
                  </a:ext>
                </a:extLst>
              </p:cNvPr>
              <p:cNvSpPr/>
              <p:nvPr/>
            </p:nvSpPr>
            <p:spPr>
              <a:xfrm>
                <a:off x="671261" y="3221986"/>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0"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gradient </a:t>
                </a:r>
                <a14:m>
                  <m:oMath xmlns:m="http://schemas.openxmlformats.org/officeDocument/2006/math">
                    <m:r>
                      <a:rPr lang="en-US" altLang="ko-KR" sz="1300" b="1" i="1">
                        <a:solidFill>
                          <a:srgbClr val="FF0000"/>
                        </a:solidFill>
                        <a:latin typeface="Cambria Math" panose="02040503050406030204" pitchFamily="18" charset="0"/>
                      </a:rPr>
                      <m:t>𝜵</m:t>
                    </m:r>
                    <m:r>
                      <a:rPr lang="en-US" altLang="ko-KR" sz="1300" i="1">
                        <a:solidFill>
                          <a:srgbClr val="FF0000"/>
                        </a:solidFill>
                        <a:latin typeface="Cambria Math" panose="02040503050406030204" pitchFamily="18" charset="0"/>
                      </a:rPr>
                      <m:t>𝐿</m:t>
                    </m:r>
                    <m:r>
                      <a:rPr lang="en-US" altLang="ko-KR" sz="1300" i="1">
                        <a:solidFill>
                          <a:srgbClr val="FF0000"/>
                        </a:solidFill>
                        <a:latin typeface="Cambria Math" panose="02040503050406030204" pitchFamily="18" charset="0"/>
                      </a:rPr>
                      <m:t>(</m:t>
                    </m:r>
                    <m:r>
                      <a:rPr lang="en-US" altLang="ko-KR" sz="1300" b="1" i="1">
                        <a:solidFill>
                          <a:srgbClr val="FF0000"/>
                        </a:solidFill>
                        <a:latin typeface="Cambria Math" panose="02040503050406030204" pitchFamily="18" charset="0"/>
                        <a:ea typeface="Cambria Math" panose="02040503050406030204" pitchFamily="18" charset="0"/>
                      </a:rPr>
                      <m:t>𝜷</m:t>
                    </m:r>
                    <m:r>
                      <a:rPr lang="en-US" altLang="ko-KR" sz="1300" i="1">
                        <a:solidFill>
                          <a:srgbClr val="FF0000"/>
                        </a:solidFill>
                        <a:latin typeface="Cambria Math" panose="02040503050406030204" pitchFamily="18" charset="0"/>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 obtained by calculating the partial derivatives of </a:t>
                </a:r>
                <a14:m>
                  <m:oMath xmlns:m="http://schemas.openxmlformats.org/officeDocument/2006/math">
                    <m:r>
                      <a:rPr lang="en-US" altLang="ko-KR" sz="1300" i="1" dirty="0">
                        <a:solidFill>
                          <a:srgbClr val="FF0000"/>
                        </a:solidFill>
                        <a:latin typeface="Cambria Math" panose="02040503050406030204" pitchFamily="18" charset="0"/>
                        <a:cs typeface="Times New Roman" panose="02020603050405020304" pitchFamily="18" charset="0"/>
                      </a:rPr>
                      <m:t>𝐿</m:t>
                    </m:r>
                    <m:r>
                      <a:rPr lang="en-US" altLang="ko-KR" sz="1300" i="1">
                        <a:solidFill>
                          <a:srgbClr val="FF0000"/>
                        </a:solidFill>
                        <a:latin typeface="Cambria Math" panose="02040503050406030204" pitchFamily="18" charset="0"/>
                      </a:rPr>
                      <m:t>(</m:t>
                    </m:r>
                    <m:r>
                      <a:rPr lang="en-US" altLang="ko-KR" sz="1300" b="1" i="1">
                        <a:solidFill>
                          <a:srgbClr val="FF0000"/>
                        </a:solidFill>
                        <a:latin typeface="Cambria Math" panose="02040503050406030204" pitchFamily="18" charset="0"/>
                        <a:ea typeface="Cambria Math" panose="02040503050406030204" pitchFamily="18" charset="0"/>
                      </a:rPr>
                      <m:t>𝜷</m:t>
                    </m:r>
                    <m:r>
                      <a:rPr lang="en-US" altLang="ko-KR" sz="1300" i="1">
                        <a:solidFill>
                          <a:srgbClr val="FF0000"/>
                        </a:solidFill>
                        <a:latin typeface="Cambria Math" panose="02040503050406030204" pitchFamily="18" charset="0"/>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p:txBody>
          </p:sp>
        </mc:Choice>
        <mc:Fallback xmlns="">
          <p:sp>
            <p:nvSpPr>
              <p:cNvPr id="10" name="직사각형 9">
                <a:extLst>
                  <a:ext uri="{FF2B5EF4-FFF2-40B4-BE49-F238E27FC236}">
                    <a16:creationId xmlns:a16="http://schemas.microsoft.com/office/drawing/2014/main" xmlns="" xmlns:a14="http://schemas.microsoft.com/office/drawing/2010/main" id="{61E68299-7A87-40C5-991C-FDE39DB54ACE}"/>
                  </a:ext>
                </a:extLst>
              </p:cNvPr>
              <p:cNvSpPr>
                <a:spLocks noRot="1" noChangeAspect="1" noMove="1" noResize="1" noEditPoints="1" noAdjustHandles="1" noChangeArrowheads="1" noChangeShapeType="1" noTextEdit="1"/>
              </p:cNvSpPr>
              <p:nvPr/>
            </p:nvSpPr>
            <p:spPr>
              <a:xfrm>
                <a:off x="671261" y="3221986"/>
                <a:ext cx="8632825" cy="345461"/>
              </a:xfrm>
              <a:prstGeom prst="rect">
                <a:avLst/>
              </a:prstGeom>
              <a:blipFill rotWithShape="0">
                <a:blip r:embed="rId6"/>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23A4F18-E0E2-4B9A-A069-AB6CC599FC03}"/>
                  </a:ext>
                </a:extLst>
              </p:cNvPr>
              <p:cNvSpPr txBox="1"/>
              <p:nvPr/>
            </p:nvSpPr>
            <p:spPr>
              <a:xfrm>
                <a:off x="4123607" y="3681028"/>
                <a:ext cx="1655609" cy="19930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tLang="ko-KR" b="1" i="1">
                          <a:solidFill>
                            <a:prstClr val="black"/>
                          </a:solidFill>
                          <a:latin typeface="Cambria Math" panose="02040503050406030204" pitchFamily="18" charset="0"/>
                        </a:rPr>
                        <m:t>𝜵</m:t>
                      </m:r>
                      <m:r>
                        <a:rPr lang="en-US" altLang="ko-KR" i="1">
                          <a:solidFill>
                            <a:prstClr val="black"/>
                          </a:solidFill>
                          <a:latin typeface="Cambria Math" panose="02040503050406030204" pitchFamily="18" charset="0"/>
                        </a:rPr>
                        <m:t>𝐿</m:t>
                      </m:r>
                      <m:r>
                        <a:rPr lang="en-US" altLang="ko-KR" i="1">
                          <a:solidFill>
                            <a:prstClr val="black"/>
                          </a:solidFill>
                          <a:latin typeface="Cambria Math" panose="02040503050406030204" pitchFamily="18" charset="0"/>
                        </a:rPr>
                        <m:t>(</m:t>
                      </m:r>
                      <m:r>
                        <a:rPr lang="en-US" altLang="ko-KR" b="1" i="1">
                          <a:solidFill>
                            <a:prstClr val="black"/>
                          </a:solidFill>
                          <a:latin typeface="Cambria Math" panose="02040503050406030204" pitchFamily="18" charset="0"/>
                          <a:ea typeface="Cambria Math" panose="02040503050406030204" pitchFamily="18" charset="0"/>
                        </a:rPr>
                        <m:t>𝜷</m:t>
                      </m:r>
                      <m:r>
                        <a:rPr lang="en-US" altLang="ko-KR" i="1">
                          <a:solidFill>
                            <a:prstClr val="black"/>
                          </a:solidFill>
                          <a:latin typeface="Cambria Math" panose="02040503050406030204" pitchFamily="18" charset="0"/>
                        </a:rPr>
                        <m:t>)=</m:t>
                      </m:r>
                      <m:d>
                        <m:dPr>
                          <m:begChr m:val="["/>
                          <m:endChr m:val="]"/>
                          <m:ctrlPr>
                            <a:rPr lang="en-US" altLang="ko-KR" i="1">
                              <a:solidFill>
                                <a:prstClr val="black"/>
                              </a:solidFill>
                              <a:latin typeface="Cambria Math" panose="02040503050406030204" pitchFamily="18" charset="0"/>
                            </a:rPr>
                          </m:ctrlPr>
                        </m:dPr>
                        <m:e>
                          <m:eqArr>
                            <m:eqArrPr>
                              <m:ctrlPr>
                                <a:rPr lang="en-US" altLang="ko-KR" i="1">
                                  <a:solidFill>
                                    <a:prstClr val="black"/>
                                  </a:solidFill>
                                  <a:latin typeface="Cambria Math" panose="02040503050406030204" pitchFamily="18" charset="0"/>
                                </a:rPr>
                              </m:ctrlPr>
                            </m:eqArrPr>
                            <m:e>
                              <m:f>
                                <m:fPr>
                                  <m:ctrlPr>
                                    <a:rPr lang="en-US" altLang="ko-KR" i="1">
                                      <a:solidFill>
                                        <a:prstClr val="black"/>
                                      </a:solidFill>
                                      <a:latin typeface="Cambria Math" panose="02040503050406030204" pitchFamily="18" charset="0"/>
                                    </a:rPr>
                                  </m:ctrlPr>
                                </m:fPr>
                                <m:num>
                                  <m:r>
                                    <a:rPr lang="en-US" altLang="ko-KR" i="1">
                                      <a:solidFill>
                                        <a:prstClr val="black"/>
                                      </a:solidFill>
                                      <a:latin typeface="Cambria Math" panose="02040503050406030204" pitchFamily="18" charset="0"/>
                                    </a:rPr>
                                    <m:t>𝜕</m:t>
                                  </m:r>
                                  <m:r>
                                    <a:rPr lang="en-US" altLang="ko-KR" i="1">
                                      <a:solidFill>
                                        <a:prstClr val="black"/>
                                      </a:solidFill>
                                      <a:latin typeface="Cambria Math" panose="02040503050406030204" pitchFamily="18" charset="0"/>
                                    </a:rPr>
                                    <m:t>𝐿</m:t>
                                  </m:r>
                                </m:num>
                                <m:den>
                                  <m:sSub>
                                    <m:sSubPr>
                                      <m:ctrlPr>
                                        <a:rPr lang="en-US" altLang="ko-KR" i="1">
                                          <a:solidFill>
                                            <a:prstClr val="black"/>
                                          </a:solidFill>
                                          <a:latin typeface="Cambria Math" panose="02040503050406030204" pitchFamily="18" charset="0"/>
                                        </a:rPr>
                                      </m:ctrlPr>
                                    </m:sSubPr>
                                    <m:e>
                                      <m:r>
                                        <a:rPr lang="en-US" altLang="ko-KR" i="1">
                                          <a:solidFill>
                                            <a:prstClr val="black"/>
                                          </a:solidFill>
                                          <a:latin typeface="Cambria Math" panose="02040503050406030204" pitchFamily="18" charset="0"/>
                                        </a:rPr>
                                        <m:t>𝜕</m:t>
                                      </m:r>
                                      <m:r>
                                        <a:rPr lang="ko-KR" altLang="en-US" i="1">
                                          <a:solidFill>
                                            <a:prstClr val="black"/>
                                          </a:solidFill>
                                          <a:latin typeface="Cambria Math" panose="02040503050406030204" pitchFamily="18" charset="0"/>
                                        </a:rPr>
                                        <m:t>𝛽</m:t>
                                      </m:r>
                                    </m:e>
                                    <m:sub>
                                      <m:r>
                                        <a:rPr lang="en-US" altLang="ko-KR" i="1">
                                          <a:solidFill>
                                            <a:prstClr val="black"/>
                                          </a:solidFill>
                                          <a:latin typeface="Cambria Math" panose="02040503050406030204" pitchFamily="18" charset="0"/>
                                        </a:rPr>
                                        <m:t>0</m:t>
                                      </m:r>
                                    </m:sub>
                                  </m:sSub>
                                </m:den>
                              </m:f>
                            </m:e>
                            <m:e>
                              <m:f>
                                <m:fPr>
                                  <m:ctrlPr>
                                    <a:rPr lang="en-US" altLang="ko-KR" i="1">
                                      <a:solidFill>
                                        <a:prstClr val="black"/>
                                      </a:solidFill>
                                      <a:latin typeface="Cambria Math" panose="02040503050406030204" pitchFamily="18" charset="0"/>
                                    </a:rPr>
                                  </m:ctrlPr>
                                </m:fPr>
                                <m:num>
                                  <m:r>
                                    <a:rPr lang="en-US" altLang="ko-KR" i="1">
                                      <a:solidFill>
                                        <a:prstClr val="black"/>
                                      </a:solidFill>
                                      <a:latin typeface="Cambria Math" panose="02040503050406030204" pitchFamily="18" charset="0"/>
                                    </a:rPr>
                                    <m:t>𝜕</m:t>
                                  </m:r>
                                  <m:r>
                                    <a:rPr lang="en-US" altLang="ko-KR" i="1">
                                      <a:solidFill>
                                        <a:prstClr val="black"/>
                                      </a:solidFill>
                                      <a:latin typeface="Cambria Math" panose="02040503050406030204" pitchFamily="18" charset="0"/>
                                    </a:rPr>
                                    <m:t>𝐿</m:t>
                                  </m:r>
                                </m:num>
                                <m:den>
                                  <m:sSub>
                                    <m:sSubPr>
                                      <m:ctrlPr>
                                        <a:rPr lang="en-US" altLang="ko-KR" i="1">
                                          <a:solidFill>
                                            <a:prstClr val="black"/>
                                          </a:solidFill>
                                          <a:latin typeface="Cambria Math" panose="02040503050406030204" pitchFamily="18" charset="0"/>
                                        </a:rPr>
                                      </m:ctrlPr>
                                    </m:sSubPr>
                                    <m:e>
                                      <m:r>
                                        <a:rPr lang="en-US" altLang="ko-KR" i="1">
                                          <a:solidFill>
                                            <a:prstClr val="black"/>
                                          </a:solidFill>
                                          <a:latin typeface="Cambria Math" panose="02040503050406030204" pitchFamily="18" charset="0"/>
                                        </a:rPr>
                                        <m:t>𝜕</m:t>
                                      </m:r>
                                      <m:r>
                                        <a:rPr lang="ko-KR" altLang="en-US" i="1">
                                          <a:solidFill>
                                            <a:prstClr val="black"/>
                                          </a:solidFill>
                                          <a:latin typeface="Cambria Math" panose="02040503050406030204" pitchFamily="18" charset="0"/>
                                        </a:rPr>
                                        <m:t>𝛽</m:t>
                                      </m:r>
                                    </m:e>
                                    <m:sub>
                                      <m:r>
                                        <a:rPr lang="en-US" altLang="ko-KR" i="1">
                                          <a:solidFill>
                                            <a:prstClr val="black"/>
                                          </a:solidFill>
                                          <a:latin typeface="Cambria Math" panose="02040503050406030204" pitchFamily="18" charset="0"/>
                                        </a:rPr>
                                        <m:t>1</m:t>
                                      </m:r>
                                    </m:sub>
                                  </m:sSub>
                                </m:den>
                              </m:f>
                            </m:e>
                            <m:e>
                              <m:r>
                                <a:rPr lang="en-US" altLang="ko-KR" i="1">
                                  <a:solidFill>
                                    <a:prstClr val="black"/>
                                  </a:solidFill>
                                  <a:latin typeface="Cambria Math" panose="02040503050406030204" pitchFamily="18" charset="0"/>
                                </a:rPr>
                                <m:t>⋮</m:t>
                              </m:r>
                            </m:e>
                            <m:e>
                              <m:f>
                                <m:fPr>
                                  <m:ctrlPr>
                                    <a:rPr lang="en-US" altLang="ko-KR" i="1">
                                      <a:solidFill>
                                        <a:prstClr val="black"/>
                                      </a:solidFill>
                                      <a:latin typeface="Cambria Math" panose="02040503050406030204" pitchFamily="18" charset="0"/>
                                    </a:rPr>
                                  </m:ctrlPr>
                                </m:fPr>
                                <m:num>
                                  <m:r>
                                    <a:rPr lang="en-US" altLang="ko-KR" i="1">
                                      <a:solidFill>
                                        <a:prstClr val="black"/>
                                      </a:solidFill>
                                      <a:latin typeface="Cambria Math" panose="02040503050406030204" pitchFamily="18" charset="0"/>
                                    </a:rPr>
                                    <m:t>𝜕</m:t>
                                  </m:r>
                                  <m:r>
                                    <a:rPr lang="en-US" altLang="ko-KR" i="1">
                                      <a:solidFill>
                                        <a:prstClr val="black"/>
                                      </a:solidFill>
                                      <a:latin typeface="Cambria Math" panose="02040503050406030204" pitchFamily="18" charset="0"/>
                                    </a:rPr>
                                    <m:t>𝐿</m:t>
                                  </m:r>
                                </m:num>
                                <m:den>
                                  <m:sSub>
                                    <m:sSubPr>
                                      <m:ctrlPr>
                                        <a:rPr lang="en-US" altLang="ko-KR" i="1">
                                          <a:solidFill>
                                            <a:prstClr val="black"/>
                                          </a:solidFill>
                                          <a:latin typeface="Cambria Math" panose="02040503050406030204" pitchFamily="18" charset="0"/>
                                        </a:rPr>
                                      </m:ctrlPr>
                                    </m:sSubPr>
                                    <m:e>
                                      <m:r>
                                        <a:rPr lang="en-US" altLang="ko-KR" i="1">
                                          <a:solidFill>
                                            <a:prstClr val="black"/>
                                          </a:solidFill>
                                          <a:latin typeface="Cambria Math" panose="02040503050406030204" pitchFamily="18" charset="0"/>
                                        </a:rPr>
                                        <m:t>𝜕</m:t>
                                      </m:r>
                                      <m:r>
                                        <a:rPr lang="ko-KR" altLang="en-US" i="1">
                                          <a:solidFill>
                                            <a:prstClr val="black"/>
                                          </a:solidFill>
                                          <a:latin typeface="Cambria Math" panose="02040503050406030204" pitchFamily="18" charset="0"/>
                                        </a:rPr>
                                        <m:t>𝛽</m:t>
                                      </m:r>
                                    </m:e>
                                    <m:sub>
                                      <m:r>
                                        <a:rPr lang="en-US" altLang="ko-KR" i="1">
                                          <a:solidFill>
                                            <a:prstClr val="black"/>
                                          </a:solidFill>
                                          <a:latin typeface="Cambria Math" panose="02040503050406030204" pitchFamily="18" charset="0"/>
                                        </a:rPr>
                                        <m:t>𝐾</m:t>
                                      </m:r>
                                    </m:sub>
                                  </m:sSub>
                                </m:den>
                              </m:f>
                            </m:e>
                          </m:eqArr>
                        </m:e>
                      </m:d>
                    </m:oMath>
                  </m:oMathPara>
                </a14:m>
                <a:endParaRPr lang="en-US" altLang="ko-KR" dirty="0"/>
              </a:p>
            </p:txBody>
          </p:sp>
        </mc:Choice>
        <mc:Fallback xmlns="">
          <p:sp>
            <p:nvSpPr>
              <p:cNvPr id="9" name="TextBox 8">
                <a:extLst>
                  <a:ext uri="{FF2B5EF4-FFF2-40B4-BE49-F238E27FC236}">
                    <a16:creationId xmlns:a16="http://schemas.microsoft.com/office/drawing/2014/main" id="{023A4F18-E0E2-4B9A-A069-AB6CC599FC03}"/>
                  </a:ext>
                </a:extLst>
              </p:cNvPr>
              <p:cNvSpPr txBox="1">
                <a:spLocks noRot="1" noChangeAspect="1" noMove="1" noResize="1" noEditPoints="1" noAdjustHandles="1" noChangeArrowheads="1" noChangeShapeType="1" noTextEdit="1"/>
              </p:cNvSpPr>
              <p:nvPr/>
            </p:nvSpPr>
            <p:spPr>
              <a:xfrm>
                <a:off x="4123607" y="3681028"/>
                <a:ext cx="1655609" cy="1993046"/>
              </a:xfrm>
              <a:prstGeom prst="rect">
                <a:avLst/>
              </a:prstGeom>
              <a:blipFill>
                <a:blip r:embed="rId7"/>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281301956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Training by gradient descent algorithm</a:t>
            </a:r>
          </a:p>
        </p:txBody>
      </p:sp>
      <mc:AlternateContent xmlns:mc="http://schemas.openxmlformats.org/markup-compatibility/2006" xmlns:a14="http://schemas.microsoft.com/office/drawing/2010/main">
        <mc:Choice Requires="a14">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18586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0" indent="-182526">
                  <a:spcAft>
                    <a:spcPts val="800"/>
                  </a:spcAft>
                  <a:buClr>
                    <a:srgbClr val="193EB0"/>
                  </a:buClr>
                  <a:buFont typeface="SamsungOne 400" panose="020B0503030303020204" pitchFamily="34" charset="0"/>
                  <a:buChar char="‣"/>
                </a:pP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𝐿</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𝜷</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 minimized iteratively in small “steps” pushing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𝜷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along the direction </a:t>
                </a:r>
                <a:r>
                  <a:rPr lang="en-US" altLang="ko-KR" sz="1300" dirty="0">
                    <a:solidFill>
                      <a:srgbClr val="FF0000"/>
                    </a:solidFill>
                    <a:latin typeface="SamsungOne 400" panose="020B0503030303020204" pitchFamily="34" charset="0"/>
                    <a:ea typeface="SamsungOne 400" panose="020B0503030303020204" pitchFamily="34" charset="0"/>
                  </a:rPr>
                  <a:t>−</a:t>
                </a:r>
                <a:r>
                  <a:rPr lang="ko-KR" altLang="en-US" sz="1300" dirty="0">
                    <a:solidFill>
                      <a:srgbClr val="193EB0"/>
                    </a:solidFill>
                    <a:latin typeface="SamsungOne 400" panose="020B0503030303020204" pitchFamily="34" charset="0"/>
                    <a:ea typeface="SamsungOne 400" panose="020B0503030303020204" pitchFamily="34" charset="0"/>
                  </a:rPr>
                  <a:t>𝜵𝐿</a:t>
                </a:r>
                <a:r>
                  <a:rPr lang="en-US" altLang="ko-KR" sz="1300" dirty="0">
                    <a:solidFill>
                      <a:srgbClr val="193EB0"/>
                    </a:solidFill>
                    <a:latin typeface="SamsungOne 400" panose="020B0503030303020204" pitchFamily="34" charset="0"/>
                    <a:ea typeface="SamsungOne 400" panose="020B0503030303020204" pitchFamily="34" charset="0"/>
                  </a:rPr>
                  <a:t>(</a:t>
                </a:r>
                <a:r>
                  <a:rPr lang="ko-KR" altLang="en-US" sz="1300" dirty="0">
                    <a:solidFill>
                      <a:srgbClr val="193EB0"/>
                    </a:solidFill>
                    <a:latin typeface="SamsungOne 400" panose="020B0503030303020204" pitchFamily="34" charset="0"/>
                    <a:ea typeface="SamsungOne 400" panose="020B0503030303020204" pitchFamily="34" charset="0"/>
                  </a:rPr>
                  <a:t>𝜷</a:t>
                </a:r>
                <a:r>
                  <a:rPr lang="en-US" altLang="ko-KR" sz="1300" dirty="0">
                    <a:solidFill>
                      <a:srgbClr val="193EB0"/>
                    </a:solidFill>
                    <a:latin typeface="SamsungOne 400" panose="020B0503030303020204" pitchFamily="34" charset="0"/>
                    <a:ea typeface="SamsungOne 400" panose="020B0503030303020204" pitchFamily="34" charset="0"/>
                  </a:rPr>
                  <a: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marL="177800">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1) </a:t>
                </a:r>
                <a14:m>
                  <m:oMath xmlns:m="http://schemas.openxmlformats.org/officeDocument/2006/math">
                    <m:r>
                      <a:rPr lang="ko-KR" altLang="en-US" sz="1300" b="1" i="1">
                        <a:solidFill>
                          <a:srgbClr val="EF234B"/>
                        </a:solidFill>
                        <a:latin typeface="Cambria Math" panose="02040503050406030204" pitchFamily="18" charset="0"/>
                      </a:rPr>
                      <m:t>𝜷</m:t>
                    </m:r>
                  </m:oMath>
                </a14:m>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is randomly initialized.</a:t>
                </a:r>
              </a:p>
              <a:p>
                <a:pPr marL="177800">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2) Calculate the gradient </a:t>
                </a:r>
                <a14:m>
                  <m:oMath xmlns:m="http://schemas.openxmlformats.org/officeDocument/2006/math">
                    <m:r>
                      <a:rPr lang="en-US" altLang="ko-KR" sz="1300" b="1" i="1">
                        <a:solidFill>
                          <a:srgbClr val="193EB0"/>
                        </a:solidFill>
                        <a:latin typeface="Cambria Math" panose="02040503050406030204" pitchFamily="18" charset="0"/>
                      </a:rPr>
                      <m:t>𝜵</m:t>
                    </m:r>
                    <m:r>
                      <a:rPr lang="en-US" altLang="ko-KR" sz="1300" i="1">
                        <a:solidFill>
                          <a:srgbClr val="193EB0"/>
                        </a:solidFill>
                        <a:latin typeface="Cambria Math" panose="02040503050406030204" pitchFamily="18" charset="0"/>
                      </a:rPr>
                      <m:t>𝐿</m:t>
                    </m:r>
                    <m:r>
                      <a:rPr lang="en-US" altLang="ko-KR" sz="1300" i="1">
                        <a:solidFill>
                          <a:srgbClr val="193EB0"/>
                        </a:solidFill>
                        <a:latin typeface="Cambria Math" panose="02040503050406030204" pitchFamily="18" charset="0"/>
                      </a:rPr>
                      <m:t>(</m:t>
                    </m:r>
                    <m:r>
                      <a:rPr lang="ko-KR" altLang="en-US" sz="1300" b="1" i="1">
                        <a:solidFill>
                          <a:srgbClr val="193EB0"/>
                        </a:solidFill>
                        <a:latin typeface="Cambria Math" panose="02040503050406030204" pitchFamily="18" charset="0"/>
                      </a:rPr>
                      <m:t>𝜷</m:t>
                    </m:r>
                  </m:oMath>
                </a14:m>
                <a:r>
                  <a:rPr lang="en-US" altLang="ko-KR" sz="1300" dirty="0">
                    <a:solidFill>
                      <a:srgbClr val="193EB0"/>
                    </a:solidFill>
                    <a:latin typeface="Times New Roman" panose="02020603050405020304" pitchFamily="18" charset="0"/>
                    <a:cs typeface="Times New Roman" panose="02020603050405020304" pitchFamily="18" charset="0"/>
                  </a:rPr>
                  <a: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marL="177800">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3) Update </a:t>
                </a:r>
                <a14:m>
                  <m:oMath xmlns:m="http://schemas.openxmlformats.org/officeDocument/2006/math">
                    <m:r>
                      <a:rPr lang="ko-KR" altLang="en-US" sz="1300" b="1" i="1">
                        <a:solidFill>
                          <a:srgbClr val="EF234B"/>
                        </a:solidFill>
                        <a:latin typeface="Cambria Math" panose="02040503050406030204" pitchFamily="18" charset="0"/>
                      </a:rPr>
                      <m:t>𝜷</m:t>
                    </m:r>
                  </m:oMath>
                </a14:m>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by one step: </a:t>
                </a:r>
                <a14:m>
                  <m:oMath xmlns:m="http://schemas.openxmlformats.org/officeDocument/2006/math">
                    <m:r>
                      <a:rPr lang="ko-KR" altLang="en-US" sz="1300" b="1" i="1">
                        <a:solidFill>
                          <a:srgbClr val="EF234B"/>
                        </a:solidFill>
                        <a:latin typeface="Cambria Math" panose="02040503050406030204" pitchFamily="18" charset="0"/>
                      </a:rPr>
                      <m:t>𝜷</m:t>
                    </m:r>
                    <m:r>
                      <a:rPr lang="en-US" altLang="ko-KR" sz="1300" b="1" i="1">
                        <a:solidFill>
                          <a:srgbClr val="EF234B"/>
                        </a:solidFill>
                        <a:latin typeface="Cambria Math" panose="02040503050406030204" pitchFamily="18" charset="0"/>
                      </a:rPr>
                      <m:t> </m:t>
                    </m:r>
                    <m:r>
                      <a:rPr lang="ko-KR" altLang="en-US" sz="1300" b="1" i="1">
                        <a:solidFill>
                          <a:prstClr val="black"/>
                        </a:solidFill>
                        <a:latin typeface="Cambria Math" panose="02040503050406030204" pitchFamily="18" charset="0"/>
                        <a:sym typeface="Symbol" panose="05050102010706020507" pitchFamily="18" charset="2"/>
                      </a:rPr>
                      <m:t></m:t>
                    </m:r>
                    <m:r>
                      <a:rPr lang="en-US" altLang="ko-KR" sz="1300" b="1" i="1">
                        <a:solidFill>
                          <a:srgbClr val="EF234B"/>
                        </a:solidFill>
                        <a:latin typeface="Cambria Math" panose="02040503050406030204" pitchFamily="18" charset="0"/>
                        <a:sym typeface="Symbol" panose="05050102010706020507" pitchFamily="18" charset="2"/>
                      </a:rPr>
                      <m:t> </m:t>
                    </m:r>
                    <m:r>
                      <a:rPr lang="ko-KR" altLang="en-US" sz="1300" b="1" i="1">
                        <a:solidFill>
                          <a:srgbClr val="EF234B"/>
                        </a:solidFill>
                        <a:latin typeface="Cambria Math" panose="02040503050406030204" pitchFamily="18" charset="0"/>
                      </a:rPr>
                      <m:t>𝜷</m:t>
                    </m:r>
                    <m:r>
                      <a:rPr lang="en-US" altLang="ko-KR" sz="1300" i="1">
                        <a:solidFill>
                          <a:prstClr val="black"/>
                        </a:solidFill>
                        <a:latin typeface="Cambria Math" panose="02040503050406030204" pitchFamily="18" charset="0"/>
                      </a:rPr>
                      <m:t>−</m:t>
                    </m:r>
                    <m:r>
                      <a:rPr lang="en-US" altLang="ko-KR" sz="1300" i="1">
                        <a:solidFill>
                          <a:srgbClr val="00B050"/>
                        </a:solidFill>
                        <a:latin typeface="Cambria Math" panose="02040503050406030204" pitchFamily="18" charset="0"/>
                      </a:rPr>
                      <m:t>𝜂</m:t>
                    </m:r>
                    <m:r>
                      <a:rPr lang="en-US" altLang="ko-KR" sz="1300" b="1" i="1">
                        <a:solidFill>
                          <a:srgbClr val="00B050"/>
                        </a:solidFill>
                        <a:latin typeface="Cambria Math" panose="02040503050406030204" pitchFamily="18" charset="0"/>
                      </a:rPr>
                      <m:t> </m:t>
                    </m:r>
                    <m:r>
                      <a:rPr lang="en-US" altLang="ko-KR" sz="1300" b="1" i="1">
                        <a:solidFill>
                          <a:srgbClr val="193EB0"/>
                        </a:solidFill>
                        <a:latin typeface="Cambria Math" panose="02040503050406030204" pitchFamily="18" charset="0"/>
                      </a:rPr>
                      <m:t>𝜵</m:t>
                    </m:r>
                    <m:r>
                      <a:rPr lang="en-US" altLang="ko-KR" sz="1300" i="1">
                        <a:solidFill>
                          <a:srgbClr val="193EB0"/>
                        </a:solidFill>
                        <a:latin typeface="Cambria Math" panose="02040503050406030204" pitchFamily="18" charset="0"/>
                      </a:rPr>
                      <m:t>𝐿</m:t>
                    </m:r>
                    <m:r>
                      <a:rPr lang="en-US" altLang="ko-KR" sz="1300" i="1">
                        <a:solidFill>
                          <a:srgbClr val="193EB0"/>
                        </a:solidFill>
                        <a:latin typeface="Cambria Math" panose="02040503050406030204" pitchFamily="18" charset="0"/>
                      </a:rPr>
                      <m:t>(</m:t>
                    </m:r>
                    <m:r>
                      <a:rPr lang="ko-KR" altLang="en-US" sz="1300" b="1" i="1">
                        <a:solidFill>
                          <a:srgbClr val="193EB0"/>
                        </a:solidFill>
                        <a:latin typeface="Cambria Math" panose="02040503050406030204" pitchFamily="18" charset="0"/>
                      </a:rPr>
                      <m:t>𝜷</m:t>
                    </m:r>
                    <m:r>
                      <m:rPr>
                        <m:nor/>
                      </m:rPr>
                      <a:rPr lang="en-US" altLang="ko-KR" sz="1300" dirty="0">
                        <a:solidFill>
                          <a:srgbClr val="193EB0"/>
                        </a:solidFill>
                        <a:latin typeface="Times New Roman" panose="02020603050405020304" pitchFamily="18" charset="0"/>
                        <a:cs typeface="Times New Roman" panose="02020603050405020304" pitchFamily="18" charset="0"/>
                      </a:rPr>
                      <m:t>)</m:t>
                    </m:r>
                  </m:oMath>
                </a14:m>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p>
              <a:p>
                <a:pPr marL="177800">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Convergence speed is controlled by the “Learning rate”</a:t>
                </a:r>
                <a:r>
                  <a:rPr lang="en-US" altLang="ko-KR" sz="1300" i="1" dirty="0">
                    <a:solidFill>
                      <a:srgbClr val="00B05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p>
              <a:p>
                <a:pPr marL="177800">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4) Repeat from step 2) a fixed number of times (epochs).</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p:txBody>
          </p:sp>
        </mc:Choice>
        <mc:Fallback xmlns="">
          <p:sp>
            <p:nvSpPr>
              <p:cNvPr id="49" name="직사각형 48">
                <a:extLst>
                  <a:ext uri="{FF2B5EF4-FFF2-40B4-BE49-F238E27FC236}">
                    <a16:creationId xmlns:a16="http://schemas.microsoft.com/office/drawing/2014/main" xmlns="" xmlns:a14="http://schemas.microsoft.com/office/drawing/2010/main" id="{860C135B-D9AD-4347-BCFB-354CFB97F7B2}"/>
                  </a:ext>
                </a:extLst>
              </p:cNvPr>
              <p:cNvSpPr>
                <a:spLocks noRot="1" noChangeAspect="1" noMove="1" noResize="1" noEditPoints="1" noAdjustHandles="1" noChangeArrowheads="1" noChangeShapeType="1" noTextEdit="1"/>
              </p:cNvSpPr>
              <p:nvPr/>
            </p:nvSpPr>
            <p:spPr>
              <a:xfrm>
                <a:off x="671261" y="1700808"/>
                <a:ext cx="8632825" cy="1858696"/>
              </a:xfrm>
              <a:prstGeom prst="rect">
                <a:avLst/>
              </a:prstGeom>
              <a:blipFill rotWithShape="0">
                <a:blip r:embed="rId4"/>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72395578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Training by gradient descent algorithm</a:t>
            </a:r>
          </a:p>
        </p:txBody>
      </p:sp>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𝐿</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𝜷</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is minimized iteratively in small “steps” pushing </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𝜷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along the direction </a:t>
            </a:r>
            <a:r>
              <a:rPr lang="en-US" altLang="ko-KR" sz="1300" dirty="0">
                <a:solidFill>
                  <a:srgbClr val="FF0000"/>
                </a:solidFill>
                <a:latin typeface="SamsungOne 400" panose="020B0503030303020204" pitchFamily="34" charset="0"/>
                <a:ea typeface="SamsungOne 400" panose="020B0503030303020204" pitchFamily="34" charset="0"/>
              </a:rPr>
              <a:t>−</a:t>
            </a:r>
            <a:r>
              <a:rPr lang="ko-KR" altLang="en-US" sz="1300" dirty="0">
                <a:solidFill>
                  <a:srgbClr val="193EB0"/>
                </a:solidFill>
                <a:latin typeface="SamsungOne 400" panose="020B0503030303020204" pitchFamily="34" charset="0"/>
                <a:ea typeface="SamsungOne 400" panose="020B0503030303020204" pitchFamily="34" charset="0"/>
              </a:rPr>
              <a:t>𝜵𝐿</a:t>
            </a:r>
            <a:r>
              <a:rPr lang="en-US" altLang="ko-KR" sz="1300" dirty="0">
                <a:solidFill>
                  <a:srgbClr val="193EB0"/>
                </a:solidFill>
                <a:latin typeface="SamsungOne 400" panose="020B0503030303020204" pitchFamily="34" charset="0"/>
                <a:ea typeface="SamsungOne 400" panose="020B0503030303020204" pitchFamily="34" charset="0"/>
              </a:rPr>
              <a:t>(</a:t>
            </a:r>
            <a:r>
              <a:rPr lang="ko-KR" altLang="en-US" sz="1300" dirty="0">
                <a:solidFill>
                  <a:srgbClr val="193EB0"/>
                </a:solidFill>
                <a:latin typeface="SamsungOne 400" panose="020B0503030303020204" pitchFamily="34" charset="0"/>
                <a:ea typeface="SamsungOne 400" panose="020B0503030303020204" pitchFamily="34" charset="0"/>
              </a:rPr>
              <a:t>𝜷</a:t>
            </a:r>
            <a:r>
              <a:rPr lang="en-US" altLang="ko-KR" sz="1300" dirty="0">
                <a:solidFill>
                  <a:srgbClr val="193EB0"/>
                </a:solidFill>
                <a:latin typeface="SamsungOne 400" panose="020B0503030303020204" pitchFamily="34" charset="0"/>
                <a:ea typeface="SamsungOne 400" panose="020B0503030303020204" pitchFamily="34" charset="0"/>
              </a:rPr>
              <a: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grpSp>
        <p:nvGrpSpPr>
          <p:cNvPr id="2" name="그룹 1">
            <a:extLst>
              <a:ext uri="{FF2B5EF4-FFF2-40B4-BE49-F238E27FC236}">
                <a16:creationId xmlns:a16="http://schemas.microsoft.com/office/drawing/2014/main" id="{25367A0F-B732-4EAB-9995-3B3B5D26C347}"/>
              </a:ext>
            </a:extLst>
          </p:cNvPr>
          <p:cNvGrpSpPr/>
          <p:nvPr/>
        </p:nvGrpSpPr>
        <p:grpSpPr>
          <a:xfrm>
            <a:off x="949865" y="2564904"/>
            <a:ext cx="7785496" cy="2657800"/>
            <a:chOff x="1058664" y="2143555"/>
            <a:chExt cx="7785496" cy="265780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E225822-099A-4D82-9B82-7A46BF5DDE7E}"/>
                    </a:ext>
                  </a:extLst>
                </p:cNvPr>
                <p:cNvSpPr txBox="1"/>
                <p:nvPr/>
              </p:nvSpPr>
              <p:spPr>
                <a:xfrm>
                  <a:off x="2784808" y="2143555"/>
                  <a:ext cx="625928" cy="338554"/>
                </a:xfrm>
                <a:prstGeom prst="rect">
                  <a:avLst/>
                </a:prstGeom>
                <a:noFill/>
              </p:spPr>
              <p:txBody>
                <a:bodyPr wrap="square" rtlCol="0">
                  <a:spAutoFit/>
                  <a:scene3d>
                    <a:camera prst="orthographicFront"/>
                    <a:lightRig rig="threePt" dir="t"/>
                  </a:scene3d>
                  <a:sp3d>
                    <a:bevelT w="0" h="6350"/>
                  </a:sp3d>
                </a:bodyPr>
                <a:lstStyle/>
                <a:p>
                  <a:pPr/>
                  <a14:m>
                    <m:oMathPara xmlns:m="http://schemas.openxmlformats.org/officeDocument/2006/math">
                      <m:oMathParaPr>
                        <m:jc m:val="centerGroup"/>
                      </m:oMathParaPr>
                      <m:oMath xmlns:m="http://schemas.openxmlformats.org/officeDocument/2006/math">
                        <m:r>
                          <a:rPr lang="en-US" altLang="ko-KR" sz="1600" i="1" smtClean="0">
                            <a:ln>
                              <a:noFill/>
                            </a:ln>
                            <a:solidFill>
                              <a:srgbClr val="193EB0"/>
                            </a:solidFill>
                            <a:latin typeface="Cambria Math" panose="02040503050406030204" pitchFamily="18" charset="0"/>
                          </a:rPr>
                          <m:t>𝐿</m:t>
                        </m:r>
                        <m:r>
                          <a:rPr lang="en-US" altLang="ko-KR" sz="1600" i="1" smtClean="0">
                            <a:ln>
                              <a:noFill/>
                            </a:ln>
                            <a:solidFill>
                              <a:srgbClr val="193EB0"/>
                            </a:solidFill>
                            <a:latin typeface="Cambria Math" panose="02040503050406030204" pitchFamily="18" charset="0"/>
                          </a:rPr>
                          <m:t>(</m:t>
                        </m:r>
                        <m:r>
                          <a:rPr lang="ko-KR" altLang="en-US" sz="1600" b="1" i="1">
                            <a:ln>
                              <a:noFill/>
                            </a:ln>
                            <a:solidFill>
                              <a:srgbClr val="193EB0"/>
                            </a:solidFill>
                            <a:latin typeface="Cambria Math" panose="02040503050406030204" pitchFamily="18" charset="0"/>
                          </a:rPr>
                          <m:t>𝜷</m:t>
                        </m:r>
                        <m:r>
                          <a:rPr lang="en-US" altLang="ko-KR" sz="1600" i="1">
                            <a:ln>
                              <a:noFill/>
                            </a:ln>
                            <a:solidFill>
                              <a:srgbClr val="193EB0"/>
                            </a:solidFill>
                            <a:latin typeface="Cambria Math" panose="02040503050406030204" pitchFamily="18" charset="0"/>
                          </a:rPr>
                          <m:t>)</m:t>
                        </m:r>
                      </m:oMath>
                    </m:oMathPara>
                  </a14:m>
                  <a:endParaRPr lang="ko-KR" altLang="en-US" sz="1600" dirty="0">
                    <a:ln>
                      <a:noFill/>
                    </a:ln>
                    <a:solidFill>
                      <a:srgbClr val="193EB0"/>
                    </a:solidFill>
                  </a:endParaRPr>
                </a:p>
              </p:txBody>
            </p:sp>
          </mc:Choice>
          <mc:Fallback xmlns="">
            <p:sp>
              <p:nvSpPr>
                <p:cNvPr id="7" name="TextBox 6">
                  <a:extLst>
                    <a:ext uri="{FF2B5EF4-FFF2-40B4-BE49-F238E27FC236}">
                      <a16:creationId xmlns:a16="http://schemas.microsoft.com/office/drawing/2014/main" id="{BE225822-099A-4D82-9B82-7A46BF5DDE7E}"/>
                    </a:ext>
                  </a:extLst>
                </p:cNvPr>
                <p:cNvSpPr txBox="1">
                  <a:spLocks noRot="1" noChangeAspect="1" noMove="1" noResize="1" noEditPoints="1" noAdjustHandles="1" noChangeArrowheads="1" noChangeShapeType="1" noTextEdit="1"/>
                </p:cNvSpPr>
                <p:nvPr/>
              </p:nvSpPr>
              <p:spPr>
                <a:xfrm>
                  <a:off x="2784808" y="2143555"/>
                  <a:ext cx="625928" cy="338554"/>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BB4D8E6-6BA2-420B-AF7F-24F37FB6910E}"/>
                    </a:ext>
                  </a:extLst>
                </p:cNvPr>
                <p:cNvSpPr txBox="1"/>
                <p:nvPr/>
              </p:nvSpPr>
              <p:spPr>
                <a:xfrm>
                  <a:off x="6842428" y="4508967"/>
                  <a:ext cx="1888672" cy="292388"/>
                </a:xfrm>
                <a:prstGeom prst="rect">
                  <a:avLst/>
                </a:prstGeom>
                <a:noFill/>
              </p:spPr>
              <p:txBody>
                <a:bodyPr wrap="square" rtlCol="0">
                  <a:spAutoFit/>
                  <a:scene3d>
                    <a:camera prst="orthographicFront"/>
                    <a:lightRig rig="threePt" dir="t"/>
                  </a:scene3d>
                  <a:sp3d>
                    <a:bevelT w="0" h="6350"/>
                  </a:sp3d>
                </a:bodyPr>
                <a:lstStyle/>
                <a:p>
                  <a:pPr algn="ctr"/>
                  <a:r>
                    <a:rPr lang="en-US" altLang="ko-KR" sz="1300" dirty="0">
                      <a:ln>
                        <a:noFill/>
                      </a:ln>
                      <a:solidFill>
                        <a:srgbClr val="262626"/>
                      </a:solidFill>
                      <a:latin typeface="SamsungOne 400" panose="020B0503030303020204" pitchFamily="34" charset="0"/>
                      <a:ea typeface="SamsungOne 400" panose="020B0503030303020204" pitchFamily="34" charset="0"/>
                    </a:rPr>
                    <a:t>Optimized</a:t>
                  </a:r>
                  <a:r>
                    <a:rPr lang="en-US" altLang="ko-KR" sz="1300" dirty="0">
                      <a:ln>
                        <a:noFill/>
                      </a:ln>
                      <a:solidFill>
                        <a:srgbClr val="262626"/>
                      </a:solidFill>
                      <a:latin typeface="SamsungOne 700" panose="020B0803030303020204" pitchFamily="34" charset="0"/>
                      <a:ea typeface="SamsungOne 700" panose="020B0803030303020204" pitchFamily="34" charset="0"/>
                    </a:rPr>
                    <a:t> </a:t>
                  </a:r>
                  <a14:m>
                    <m:oMath xmlns:m="http://schemas.openxmlformats.org/officeDocument/2006/math">
                      <m:r>
                        <a:rPr lang="ko-KR" altLang="en-US" sz="1300" smtClean="0">
                          <a:ln>
                            <a:noFill/>
                          </a:ln>
                          <a:solidFill>
                            <a:srgbClr val="FF0000"/>
                          </a:solidFill>
                          <a:latin typeface="Cambria Math" panose="02040503050406030204" pitchFamily="18" charset="0"/>
                          <a:ea typeface="SamsungOne 700" panose="020B0803030303020204" pitchFamily="34" charset="0"/>
                        </a:rPr>
                        <m:t>𝜷</m:t>
                      </m:r>
                    </m:oMath>
                  </a14:m>
                  <a:endParaRPr lang="ko-KR" altLang="en-US" sz="1300" dirty="0">
                    <a:ln>
                      <a:noFill/>
                    </a:ln>
                    <a:solidFill>
                      <a:srgbClr val="FF0000"/>
                    </a:solidFill>
                    <a:latin typeface="SamsungOne 700" panose="020B0803030303020204" pitchFamily="34" charset="0"/>
                    <a:ea typeface="SamsungOne 700" panose="020B0803030303020204" pitchFamily="34" charset="0"/>
                  </a:endParaRPr>
                </a:p>
              </p:txBody>
            </p:sp>
          </mc:Choice>
          <mc:Fallback xmlns="">
            <p:sp>
              <p:nvSpPr>
                <p:cNvPr id="8" name="TextBox 7">
                  <a:extLst>
                    <a:ext uri="{FF2B5EF4-FFF2-40B4-BE49-F238E27FC236}">
                      <a16:creationId xmlns:a16="http://schemas.microsoft.com/office/drawing/2014/main" id="{1BB4D8E6-6BA2-420B-AF7F-24F37FB6910E}"/>
                    </a:ext>
                  </a:extLst>
                </p:cNvPr>
                <p:cNvSpPr txBox="1">
                  <a:spLocks noRot="1" noChangeAspect="1" noMove="1" noResize="1" noEditPoints="1" noAdjustHandles="1" noChangeArrowheads="1" noChangeShapeType="1" noTextEdit="1"/>
                </p:cNvSpPr>
                <p:nvPr/>
              </p:nvSpPr>
              <p:spPr>
                <a:xfrm>
                  <a:off x="6842428" y="4508967"/>
                  <a:ext cx="1888672" cy="292388"/>
                </a:xfrm>
                <a:prstGeom prst="rect">
                  <a:avLst/>
                </a:prstGeom>
                <a:blipFill>
                  <a:blip r:embed="rId5"/>
                  <a:stretch>
                    <a:fillRect/>
                  </a:stretch>
                </a:blipFill>
              </p:spPr>
              <p:txBody>
                <a:bodyPr/>
                <a:lstStyle/>
                <a:p>
                  <a:r>
                    <a:rPr lang="ko-KR" altLang="en-US">
                      <a:noFill/>
                    </a:rPr>
                    <a:t> </a:t>
                  </a:r>
                </a:p>
              </p:txBody>
            </p:sp>
          </mc:Fallback>
        </mc:AlternateContent>
        <p:sp>
          <p:nvSpPr>
            <p:cNvPr id="9" name="Right Arrow 63">
              <a:extLst>
                <a:ext uri="{FF2B5EF4-FFF2-40B4-BE49-F238E27FC236}">
                  <a16:creationId xmlns:a16="http://schemas.microsoft.com/office/drawing/2014/main" id="{C07B2F15-16D0-4720-ACAE-6D87E7FBAC42}"/>
                </a:ext>
              </a:extLst>
            </p:cNvPr>
            <p:cNvSpPr/>
            <p:nvPr/>
          </p:nvSpPr>
          <p:spPr>
            <a:xfrm>
              <a:off x="3461718" y="3366801"/>
              <a:ext cx="335320" cy="238589"/>
            </a:xfrm>
            <a:prstGeom prst="rightArrow">
              <a:avLst>
                <a:gd name="adj1" fmla="val 73402"/>
                <a:gd name="adj2" fmla="val 56763"/>
              </a:avLst>
            </a:pr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sz="1400"/>
            </a:p>
          </p:txBody>
        </p:sp>
        <p:sp>
          <p:nvSpPr>
            <p:cNvPr id="10" name="Right Arrow 63">
              <a:extLst>
                <a:ext uri="{FF2B5EF4-FFF2-40B4-BE49-F238E27FC236}">
                  <a16:creationId xmlns:a16="http://schemas.microsoft.com/office/drawing/2014/main" id="{E0EB6DF2-8475-456B-AC5C-9B73D477FCAA}"/>
                </a:ext>
              </a:extLst>
            </p:cNvPr>
            <p:cNvSpPr/>
            <p:nvPr/>
          </p:nvSpPr>
          <p:spPr>
            <a:xfrm>
              <a:off x="6244055" y="3366801"/>
              <a:ext cx="335320" cy="238589"/>
            </a:xfrm>
            <a:prstGeom prst="rightArrow">
              <a:avLst>
                <a:gd name="adj1" fmla="val 73402"/>
                <a:gd name="adj2" fmla="val 56763"/>
              </a:avLst>
            </a:pr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sz="1400"/>
            </a:p>
          </p:txBody>
        </p:sp>
        <p:grpSp>
          <p:nvGrpSpPr>
            <p:cNvPr id="11" name="그룹 10">
              <a:extLst>
                <a:ext uri="{FF2B5EF4-FFF2-40B4-BE49-F238E27FC236}">
                  <a16:creationId xmlns:a16="http://schemas.microsoft.com/office/drawing/2014/main" id="{CD31AF38-2EC0-4BB0-95BF-B8574690EF35}"/>
                </a:ext>
              </a:extLst>
            </p:cNvPr>
            <p:cNvGrpSpPr/>
            <p:nvPr/>
          </p:nvGrpSpPr>
          <p:grpSpPr>
            <a:xfrm>
              <a:off x="1058664" y="2510559"/>
              <a:ext cx="7785496" cy="1913890"/>
              <a:chOff x="969592" y="3441699"/>
              <a:chExt cx="7785496" cy="1913890"/>
            </a:xfrm>
          </p:grpSpPr>
          <p:grpSp>
            <p:nvGrpSpPr>
              <p:cNvPr id="12" name="그룹 11">
                <a:extLst>
                  <a:ext uri="{FF2B5EF4-FFF2-40B4-BE49-F238E27FC236}">
                    <a16:creationId xmlns:a16="http://schemas.microsoft.com/office/drawing/2014/main" id="{26EA793E-C909-49A8-B815-F3ACDF6AC4E5}"/>
                  </a:ext>
                </a:extLst>
              </p:cNvPr>
              <p:cNvGrpSpPr/>
              <p:nvPr/>
            </p:nvGrpSpPr>
            <p:grpSpPr>
              <a:xfrm>
                <a:off x="969592" y="3441699"/>
                <a:ext cx="2128180" cy="1828090"/>
                <a:chOff x="969592" y="3441699"/>
                <a:chExt cx="2128180" cy="1828090"/>
              </a:xfrm>
            </p:grpSpPr>
            <p:sp>
              <p:nvSpPr>
                <p:cNvPr id="21" name="Oval 6">
                  <a:extLst>
                    <a:ext uri="{FF2B5EF4-FFF2-40B4-BE49-F238E27FC236}">
                      <a16:creationId xmlns:a16="http://schemas.microsoft.com/office/drawing/2014/main" id="{EA512231-FA9A-4DD8-BC56-5B6BCA599D6A}"/>
                    </a:ext>
                  </a:extLst>
                </p:cNvPr>
                <p:cNvSpPr/>
                <p:nvPr/>
              </p:nvSpPr>
              <p:spPr>
                <a:xfrm>
                  <a:off x="1429996" y="4297941"/>
                  <a:ext cx="171601" cy="171601"/>
                </a:xfrm>
                <a:prstGeom prst="ellipse">
                  <a:avLst/>
                </a:prstGeom>
                <a:solidFill>
                  <a:srgbClr val="FF0000">
                    <a:alpha val="20000"/>
                  </a:srgb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sz="1600"/>
                </a:p>
              </p:txBody>
            </p:sp>
            <p:sp>
              <p:nvSpPr>
                <p:cNvPr id="22" name="자유형 30">
                  <a:extLst>
                    <a:ext uri="{FF2B5EF4-FFF2-40B4-BE49-F238E27FC236}">
                      <a16:creationId xmlns:a16="http://schemas.microsoft.com/office/drawing/2014/main" id="{A9246839-7A18-468B-8F28-57DE11E7637E}"/>
                    </a:ext>
                  </a:extLst>
                </p:cNvPr>
                <p:cNvSpPr/>
                <p:nvPr/>
              </p:nvSpPr>
              <p:spPr>
                <a:xfrm>
                  <a:off x="982980" y="3489958"/>
                  <a:ext cx="2114792" cy="1779831"/>
                </a:xfrm>
                <a:custGeom>
                  <a:avLst/>
                  <a:gdLst>
                    <a:gd name="connsiteX0" fmla="*/ 0 w 2179320"/>
                    <a:gd name="connsiteY0" fmla="*/ 0 h 1766981"/>
                    <a:gd name="connsiteX1" fmla="*/ 274320 w 2179320"/>
                    <a:gd name="connsiteY1" fmla="*/ 266700 h 1766981"/>
                    <a:gd name="connsiteX2" fmla="*/ 647700 w 2179320"/>
                    <a:gd name="connsiteY2" fmla="*/ 1158240 h 1766981"/>
                    <a:gd name="connsiteX3" fmla="*/ 891540 w 2179320"/>
                    <a:gd name="connsiteY3" fmla="*/ 1638300 h 1766981"/>
                    <a:gd name="connsiteX4" fmla="*/ 1287780 w 2179320"/>
                    <a:gd name="connsiteY4" fmla="*/ 1676400 h 1766981"/>
                    <a:gd name="connsiteX5" fmla="*/ 1790700 w 2179320"/>
                    <a:gd name="connsiteY5" fmla="*/ 548640 h 1766981"/>
                    <a:gd name="connsiteX6" fmla="*/ 2019300 w 2179320"/>
                    <a:gd name="connsiteY6" fmla="*/ 114300 h 1766981"/>
                    <a:gd name="connsiteX7" fmla="*/ 2179320 w 2179320"/>
                    <a:gd name="connsiteY7" fmla="*/ 7620 h 1766981"/>
                    <a:gd name="connsiteX0" fmla="*/ 0 w 2179320"/>
                    <a:gd name="connsiteY0" fmla="*/ 0 h 1793290"/>
                    <a:gd name="connsiteX1" fmla="*/ 274320 w 2179320"/>
                    <a:gd name="connsiteY1" fmla="*/ 266700 h 1793290"/>
                    <a:gd name="connsiteX2" fmla="*/ 647700 w 2179320"/>
                    <a:gd name="connsiteY2" fmla="*/ 1158240 h 1793290"/>
                    <a:gd name="connsiteX3" fmla="*/ 906780 w 2179320"/>
                    <a:gd name="connsiteY3" fmla="*/ 1699260 h 1793290"/>
                    <a:gd name="connsiteX4" fmla="*/ 1287780 w 2179320"/>
                    <a:gd name="connsiteY4" fmla="*/ 1676400 h 1793290"/>
                    <a:gd name="connsiteX5" fmla="*/ 1790700 w 2179320"/>
                    <a:gd name="connsiteY5" fmla="*/ 548640 h 1793290"/>
                    <a:gd name="connsiteX6" fmla="*/ 2019300 w 2179320"/>
                    <a:gd name="connsiteY6" fmla="*/ 114300 h 1793290"/>
                    <a:gd name="connsiteX7" fmla="*/ 2179320 w 2179320"/>
                    <a:gd name="connsiteY7" fmla="*/ 7620 h 1793290"/>
                    <a:gd name="connsiteX0" fmla="*/ 0 w 2179320"/>
                    <a:gd name="connsiteY0" fmla="*/ 0 h 1775062"/>
                    <a:gd name="connsiteX1" fmla="*/ 274320 w 2179320"/>
                    <a:gd name="connsiteY1" fmla="*/ 266700 h 1775062"/>
                    <a:gd name="connsiteX2" fmla="*/ 647700 w 2179320"/>
                    <a:gd name="connsiteY2" fmla="*/ 1158240 h 1775062"/>
                    <a:gd name="connsiteX3" fmla="*/ 906780 w 2179320"/>
                    <a:gd name="connsiteY3" fmla="*/ 1699260 h 1775062"/>
                    <a:gd name="connsiteX4" fmla="*/ 1287780 w 2179320"/>
                    <a:gd name="connsiteY4" fmla="*/ 1676400 h 1775062"/>
                    <a:gd name="connsiteX5" fmla="*/ 1790700 w 2179320"/>
                    <a:gd name="connsiteY5" fmla="*/ 548640 h 1775062"/>
                    <a:gd name="connsiteX6" fmla="*/ 2019300 w 2179320"/>
                    <a:gd name="connsiteY6" fmla="*/ 114300 h 1775062"/>
                    <a:gd name="connsiteX7" fmla="*/ 2179320 w 2179320"/>
                    <a:gd name="connsiteY7" fmla="*/ 7620 h 1775062"/>
                    <a:gd name="connsiteX0" fmla="*/ 0 w 2179320"/>
                    <a:gd name="connsiteY0" fmla="*/ 0 h 1775062"/>
                    <a:gd name="connsiteX1" fmla="*/ 274320 w 2179320"/>
                    <a:gd name="connsiteY1" fmla="*/ 266700 h 1775062"/>
                    <a:gd name="connsiteX2" fmla="*/ 647700 w 2179320"/>
                    <a:gd name="connsiteY2" fmla="*/ 1158240 h 1775062"/>
                    <a:gd name="connsiteX3" fmla="*/ 906780 w 2179320"/>
                    <a:gd name="connsiteY3" fmla="*/ 1699260 h 1775062"/>
                    <a:gd name="connsiteX4" fmla="*/ 1287780 w 2179320"/>
                    <a:gd name="connsiteY4" fmla="*/ 1676400 h 1775062"/>
                    <a:gd name="connsiteX5" fmla="*/ 1790700 w 2179320"/>
                    <a:gd name="connsiteY5" fmla="*/ 548640 h 1775062"/>
                    <a:gd name="connsiteX6" fmla="*/ 1981200 w 2179320"/>
                    <a:gd name="connsiteY6" fmla="*/ 167640 h 1775062"/>
                    <a:gd name="connsiteX7" fmla="*/ 2179320 w 2179320"/>
                    <a:gd name="connsiteY7" fmla="*/ 7620 h 1775062"/>
                    <a:gd name="connsiteX0" fmla="*/ 0 w 2179320"/>
                    <a:gd name="connsiteY0" fmla="*/ 0 h 1775062"/>
                    <a:gd name="connsiteX1" fmla="*/ 274320 w 2179320"/>
                    <a:gd name="connsiteY1" fmla="*/ 266700 h 1775062"/>
                    <a:gd name="connsiteX2" fmla="*/ 647700 w 2179320"/>
                    <a:gd name="connsiteY2" fmla="*/ 1158240 h 1775062"/>
                    <a:gd name="connsiteX3" fmla="*/ 906780 w 2179320"/>
                    <a:gd name="connsiteY3" fmla="*/ 1699260 h 1775062"/>
                    <a:gd name="connsiteX4" fmla="*/ 1287780 w 2179320"/>
                    <a:gd name="connsiteY4" fmla="*/ 1676400 h 1775062"/>
                    <a:gd name="connsiteX5" fmla="*/ 1790700 w 2179320"/>
                    <a:gd name="connsiteY5" fmla="*/ 548640 h 1775062"/>
                    <a:gd name="connsiteX6" fmla="*/ 1996440 w 2179320"/>
                    <a:gd name="connsiteY6" fmla="*/ 167640 h 1775062"/>
                    <a:gd name="connsiteX7" fmla="*/ 2179320 w 2179320"/>
                    <a:gd name="connsiteY7" fmla="*/ 7620 h 1775062"/>
                    <a:gd name="connsiteX0" fmla="*/ 0 w 2179320"/>
                    <a:gd name="connsiteY0" fmla="*/ 0 h 1775062"/>
                    <a:gd name="connsiteX1" fmla="*/ 274320 w 2179320"/>
                    <a:gd name="connsiteY1" fmla="*/ 266700 h 1775062"/>
                    <a:gd name="connsiteX2" fmla="*/ 647700 w 2179320"/>
                    <a:gd name="connsiteY2" fmla="*/ 1158240 h 1775062"/>
                    <a:gd name="connsiteX3" fmla="*/ 906780 w 2179320"/>
                    <a:gd name="connsiteY3" fmla="*/ 1699260 h 1775062"/>
                    <a:gd name="connsiteX4" fmla="*/ 1287780 w 2179320"/>
                    <a:gd name="connsiteY4" fmla="*/ 1676400 h 1775062"/>
                    <a:gd name="connsiteX5" fmla="*/ 1790700 w 2179320"/>
                    <a:gd name="connsiteY5" fmla="*/ 548640 h 1775062"/>
                    <a:gd name="connsiteX6" fmla="*/ 1988820 w 2179320"/>
                    <a:gd name="connsiteY6" fmla="*/ 137160 h 1775062"/>
                    <a:gd name="connsiteX7" fmla="*/ 2179320 w 2179320"/>
                    <a:gd name="connsiteY7" fmla="*/ 7620 h 1775062"/>
                    <a:gd name="connsiteX0" fmla="*/ 0 w 2179320"/>
                    <a:gd name="connsiteY0" fmla="*/ 0 h 1775062"/>
                    <a:gd name="connsiteX1" fmla="*/ 274320 w 2179320"/>
                    <a:gd name="connsiteY1" fmla="*/ 266700 h 1775062"/>
                    <a:gd name="connsiteX2" fmla="*/ 647700 w 2179320"/>
                    <a:gd name="connsiteY2" fmla="*/ 1158240 h 1775062"/>
                    <a:gd name="connsiteX3" fmla="*/ 906780 w 2179320"/>
                    <a:gd name="connsiteY3" fmla="*/ 1699260 h 1775062"/>
                    <a:gd name="connsiteX4" fmla="*/ 1287780 w 2179320"/>
                    <a:gd name="connsiteY4" fmla="*/ 1676400 h 1775062"/>
                    <a:gd name="connsiteX5" fmla="*/ 1790700 w 2179320"/>
                    <a:gd name="connsiteY5" fmla="*/ 548640 h 1775062"/>
                    <a:gd name="connsiteX6" fmla="*/ 2004060 w 2179320"/>
                    <a:gd name="connsiteY6" fmla="*/ 152400 h 1775062"/>
                    <a:gd name="connsiteX7" fmla="*/ 2179320 w 2179320"/>
                    <a:gd name="connsiteY7" fmla="*/ 7620 h 1775062"/>
                    <a:gd name="connsiteX0" fmla="*/ 0 w 2179320"/>
                    <a:gd name="connsiteY0" fmla="*/ 0 h 1793290"/>
                    <a:gd name="connsiteX1" fmla="*/ 274320 w 2179320"/>
                    <a:gd name="connsiteY1" fmla="*/ 266700 h 1793290"/>
                    <a:gd name="connsiteX2" fmla="*/ 647700 w 2179320"/>
                    <a:gd name="connsiteY2" fmla="*/ 1158240 h 1793290"/>
                    <a:gd name="connsiteX3" fmla="*/ 930338 w 2179320"/>
                    <a:gd name="connsiteY3" fmla="*/ 1699260 h 1793290"/>
                    <a:gd name="connsiteX4" fmla="*/ 1287780 w 2179320"/>
                    <a:gd name="connsiteY4" fmla="*/ 1676400 h 1793290"/>
                    <a:gd name="connsiteX5" fmla="*/ 1790700 w 2179320"/>
                    <a:gd name="connsiteY5" fmla="*/ 548640 h 1793290"/>
                    <a:gd name="connsiteX6" fmla="*/ 2004060 w 2179320"/>
                    <a:gd name="connsiteY6" fmla="*/ 152400 h 1793290"/>
                    <a:gd name="connsiteX7" fmla="*/ 2179320 w 2179320"/>
                    <a:gd name="connsiteY7" fmla="*/ 7620 h 1793290"/>
                    <a:gd name="connsiteX0" fmla="*/ 0 w 2179320"/>
                    <a:gd name="connsiteY0" fmla="*/ 0 h 1783547"/>
                    <a:gd name="connsiteX1" fmla="*/ 274320 w 2179320"/>
                    <a:gd name="connsiteY1" fmla="*/ 266700 h 1783547"/>
                    <a:gd name="connsiteX2" fmla="*/ 647700 w 2179320"/>
                    <a:gd name="connsiteY2" fmla="*/ 1158240 h 1783547"/>
                    <a:gd name="connsiteX3" fmla="*/ 930338 w 2179320"/>
                    <a:gd name="connsiteY3" fmla="*/ 1699260 h 1783547"/>
                    <a:gd name="connsiteX4" fmla="*/ 1287780 w 2179320"/>
                    <a:gd name="connsiteY4" fmla="*/ 1676400 h 1783547"/>
                    <a:gd name="connsiteX5" fmla="*/ 1790700 w 2179320"/>
                    <a:gd name="connsiteY5" fmla="*/ 548640 h 1783547"/>
                    <a:gd name="connsiteX6" fmla="*/ 2004060 w 2179320"/>
                    <a:gd name="connsiteY6" fmla="*/ 152400 h 1783547"/>
                    <a:gd name="connsiteX7" fmla="*/ 2179320 w 2179320"/>
                    <a:gd name="connsiteY7" fmla="*/ 7620 h 1783547"/>
                    <a:gd name="connsiteX0" fmla="*/ 0 w 2179320"/>
                    <a:gd name="connsiteY0" fmla="*/ 0 h 1767570"/>
                    <a:gd name="connsiteX1" fmla="*/ 274320 w 2179320"/>
                    <a:gd name="connsiteY1" fmla="*/ 266700 h 1767570"/>
                    <a:gd name="connsiteX2" fmla="*/ 647700 w 2179320"/>
                    <a:gd name="connsiteY2" fmla="*/ 1158240 h 1767570"/>
                    <a:gd name="connsiteX3" fmla="*/ 930338 w 2179320"/>
                    <a:gd name="connsiteY3" fmla="*/ 1699260 h 1767570"/>
                    <a:gd name="connsiteX4" fmla="*/ 1287780 w 2179320"/>
                    <a:gd name="connsiteY4" fmla="*/ 1676400 h 1767570"/>
                    <a:gd name="connsiteX5" fmla="*/ 1790700 w 2179320"/>
                    <a:gd name="connsiteY5" fmla="*/ 548640 h 1767570"/>
                    <a:gd name="connsiteX6" fmla="*/ 2004060 w 2179320"/>
                    <a:gd name="connsiteY6" fmla="*/ 152400 h 1767570"/>
                    <a:gd name="connsiteX7" fmla="*/ 2179320 w 2179320"/>
                    <a:gd name="connsiteY7" fmla="*/ 7620 h 1767570"/>
                    <a:gd name="connsiteX0" fmla="*/ 0 w 2179320"/>
                    <a:gd name="connsiteY0" fmla="*/ 0 h 1837308"/>
                    <a:gd name="connsiteX1" fmla="*/ 274320 w 2179320"/>
                    <a:gd name="connsiteY1" fmla="*/ 266700 h 1837308"/>
                    <a:gd name="connsiteX2" fmla="*/ 930338 w 2179320"/>
                    <a:gd name="connsiteY2" fmla="*/ 1699260 h 1837308"/>
                    <a:gd name="connsiteX3" fmla="*/ 1287780 w 2179320"/>
                    <a:gd name="connsiteY3" fmla="*/ 1676400 h 1837308"/>
                    <a:gd name="connsiteX4" fmla="*/ 1790700 w 2179320"/>
                    <a:gd name="connsiteY4" fmla="*/ 548640 h 1837308"/>
                    <a:gd name="connsiteX5" fmla="*/ 2004060 w 2179320"/>
                    <a:gd name="connsiteY5" fmla="*/ 152400 h 1837308"/>
                    <a:gd name="connsiteX6" fmla="*/ 2179320 w 2179320"/>
                    <a:gd name="connsiteY6" fmla="*/ 7620 h 1837308"/>
                    <a:gd name="connsiteX0" fmla="*/ 0 w 2179320"/>
                    <a:gd name="connsiteY0" fmla="*/ 0 h 1826499"/>
                    <a:gd name="connsiteX1" fmla="*/ 274320 w 2179320"/>
                    <a:gd name="connsiteY1" fmla="*/ 266700 h 1826499"/>
                    <a:gd name="connsiteX2" fmla="*/ 914633 w 2179320"/>
                    <a:gd name="connsiteY2" fmla="*/ 1661160 h 1826499"/>
                    <a:gd name="connsiteX3" fmla="*/ 1287780 w 2179320"/>
                    <a:gd name="connsiteY3" fmla="*/ 1676400 h 1826499"/>
                    <a:gd name="connsiteX4" fmla="*/ 1790700 w 2179320"/>
                    <a:gd name="connsiteY4" fmla="*/ 548640 h 1826499"/>
                    <a:gd name="connsiteX5" fmla="*/ 2004060 w 2179320"/>
                    <a:gd name="connsiteY5" fmla="*/ 152400 h 1826499"/>
                    <a:gd name="connsiteX6" fmla="*/ 2179320 w 2179320"/>
                    <a:gd name="connsiteY6" fmla="*/ 7620 h 1826499"/>
                    <a:gd name="connsiteX0" fmla="*/ 0 w 2179320"/>
                    <a:gd name="connsiteY0" fmla="*/ 0 h 1788644"/>
                    <a:gd name="connsiteX1" fmla="*/ 274320 w 2179320"/>
                    <a:gd name="connsiteY1" fmla="*/ 266700 h 1788644"/>
                    <a:gd name="connsiteX2" fmla="*/ 914633 w 2179320"/>
                    <a:gd name="connsiteY2" fmla="*/ 1661160 h 1788644"/>
                    <a:gd name="connsiteX3" fmla="*/ 1287780 w 2179320"/>
                    <a:gd name="connsiteY3" fmla="*/ 1676400 h 1788644"/>
                    <a:gd name="connsiteX4" fmla="*/ 1790700 w 2179320"/>
                    <a:gd name="connsiteY4" fmla="*/ 548640 h 1788644"/>
                    <a:gd name="connsiteX5" fmla="*/ 2004060 w 2179320"/>
                    <a:gd name="connsiteY5" fmla="*/ 152400 h 1788644"/>
                    <a:gd name="connsiteX6" fmla="*/ 2179320 w 2179320"/>
                    <a:gd name="connsiteY6" fmla="*/ 7620 h 1788644"/>
                    <a:gd name="connsiteX0" fmla="*/ 0 w 2179320"/>
                    <a:gd name="connsiteY0" fmla="*/ 0 h 1763817"/>
                    <a:gd name="connsiteX1" fmla="*/ 274320 w 2179320"/>
                    <a:gd name="connsiteY1" fmla="*/ 266700 h 1763817"/>
                    <a:gd name="connsiteX2" fmla="*/ 914633 w 2179320"/>
                    <a:gd name="connsiteY2" fmla="*/ 1661160 h 1763817"/>
                    <a:gd name="connsiteX3" fmla="*/ 1287780 w 2179320"/>
                    <a:gd name="connsiteY3" fmla="*/ 1676400 h 1763817"/>
                    <a:gd name="connsiteX4" fmla="*/ 1790700 w 2179320"/>
                    <a:gd name="connsiteY4" fmla="*/ 548640 h 1763817"/>
                    <a:gd name="connsiteX5" fmla="*/ 2004060 w 2179320"/>
                    <a:gd name="connsiteY5" fmla="*/ 152400 h 1763817"/>
                    <a:gd name="connsiteX6" fmla="*/ 2179320 w 2179320"/>
                    <a:gd name="connsiteY6" fmla="*/ 7620 h 1763817"/>
                    <a:gd name="connsiteX0" fmla="*/ 0 w 2179320"/>
                    <a:gd name="connsiteY0" fmla="*/ 0 h 1792278"/>
                    <a:gd name="connsiteX1" fmla="*/ 274320 w 2179320"/>
                    <a:gd name="connsiteY1" fmla="*/ 266700 h 1792278"/>
                    <a:gd name="connsiteX2" fmla="*/ 914633 w 2179320"/>
                    <a:gd name="connsiteY2" fmla="*/ 1668780 h 1792278"/>
                    <a:gd name="connsiteX3" fmla="*/ 1287780 w 2179320"/>
                    <a:gd name="connsiteY3" fmla="*/ 1676400 h 1792278"/>
                    <a:gd name="connsiteX4" fmla="*/ 1790700 w 2179320"/>
                    <a:gd name="connsiteY4" fmla="*/ 548640 h 1792278"/>
                    <a:gd name="connsiteX5" fmla="*/ 2004060 w 2179320"/>
                    <a:gd name="connsiteY5" fmla="*/ 152400 h 1792278"/>
                    <a:gd name="connsiteX6" fmla="*/ 2179320 w 2179320"/>
                    <a:gd name="connsiteY6" fmla="*/ 7620 h 1792278"/>
                    <a:gd name="connsiteX0" fmla="*/ 0 w 2179320"/>
                    <a:gd name="connsiteY0" fmla="*/ 0 h 1784985"/>
                    <a:gd name="connsiteX1" fmla="*/ 274320 w 2179320"/>
                    <a:gd name="connsiteY1" fmla="*/ 266700 h 1784985"/>
                    <a:gd name="connsiteX2" fmla="*/ 914633 w 2179320"/>
                    <a:gd name="connsiteY2" fmla="*/ 1668780 h 1784985"/>
                    <a:gd name="connsiteX3" fmla="*/ 1287780 w 2179320"/>
                    <a:gd name="connsiteY3" fmla="*/ 1676400 h 1784985"/>
                    <a:gd name="connsiteX4" fmla="*/ 1790700 w 2179320"/>
                    <a:gd name="connsiteY4" fmla="*/ 548640 h 1784985"/>
                    <a:gd name="connsiteX5" fmla="*/ 2004060 w 2179320"/>
                    <a:gd name="connsiteY5" fmla="*/ 152400 h 1784985"/>
                    <a:gd name="connsiteX6" fmla="*/ 2179320 w 2179320"/>
                    <a:gd name="connsiteY6" fmla="*/ 7620 h 1784985"/>
                    <a:gd name="connsiteX0" fmla="*/ 0 w 2179320"/>
                    <a:gd name="connsiteY0" fmla="*/ 0 h 1784985"/>
                    <a:gd name="connsiteX1" fmla="*/ 274320 w 2179320"/>
                    <a:gd name="connsiteY1" fmla="*/ 266700 h 1784985"/>
                    <a:gd name="connsiteX2" fmla="*/ 914633 w 2179320"/>
                    <a:gd name="connsiteY2" fmla="*/ 1668780 h 1784985"/>
                    <a:gd name="connsiteX3" fmla="*/ 1287780 w 2179320"/>
                    <a:gd name="connsiteY3" fmla="*/ 1676400 h 1784985"/>
                    <a:gd name="connsiteX4" fmla="*/ 1790700 w 2179320"/>
                    <a:gd name="connsiteY4" fmla="*/ 548640 h 1784985"/>
                    <a:gd name="connsiteX5" fmla="*/ 2004060 w 2179320"/>
                    <a:gd name="connsiteY5" fmla="*/ 152400 h 1784985"/>
                    <a:gd name="connsiteX6" fmla="*/ 2179320 w 2179320"/>
                    <a:gd name="connsiteY6" fmla="*/ 7620 h 1784985"/>
                    <a:gd name="connsiteX0" fmla="*/ 0 w 2179320"/>
                    <a:gd name="connsiteY0" fmla="*/ 0 h 1815312"/>
                    <a:gd name="connsiteX1" fmla="*/ 274320 w 2179320"/>
                    <a:gd name="connsiteY1" fmla="*/ 266700 h 1815312"/>
                    <a:gd name="connsiteX2" fmla="*/ 914633 w 2179320"/>
                    <a:gd name="connsiteY2" fmla="*/ 1668780 h 1815312"/>
                    <a:gd name="connsiteX3" fmla="*/ 1303485 w 2179320"/>
                    <a:gd name="connsiteY3" fmla="*/ 1645920 h 1815312"/>
                    <a:gd name="connsiteX4" fmla="*/ 1790700 w 2179320"/>
                    <a:gd name="connsiteY4" fmla="*/ 548640 h 1815312"/>
                    <a:gd name="connsiteX5" fmla="*/ 2004060 w 2179320"/>
                    <a:gd name="connsiteY5" fmla="*/ 152400 h 1815312"/>
                    <a:gd name="connsiteX6" fmla="*/ 2179320 w 2179320"/>
                    <a:gd name="connsiteY6" fmla="*/ 7620 h 1815312"/>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20" h="1779831">
                      <a:moveTo>
                        <a:pt x="0" y="0"/>
                      </a:moveTo>
                      <a:cubicBezTo>
                        <a:pt x="68462" y="22543"/>
                        <a:pt x="136604" y="19527"/>
                        <a:pt x="274320" y="266700"/>
                      </a:cubicBezTo>
                      <a:cubicBezTo>
                        <a:pt x="426759" y="605790"/>
                        <a:pt x="743105" y="1438910"/>
                        <a:pt x="914633" y="1668780"/>
                      </a:cubicBezTo>
                      <a:cubicBezTo>
                        <a:pt x="1086161" y="1898650"/>
                        <a:pt x="1263483" y="1710690"/>
                        <a:pt x="1303485" y="1645920"/>
                      </a:cubicBezTo>
                      <a:cubicBezTo>
                        <a:pt x="1449496" y="1459230"/>
                        <a:pt x="1676392" y="795179"/>
                        <a:pt x="1790700" y="548640"/>
                      </a:cubicBezTo>
                      <a:cubicBezTo>
                        <a:pt x="1905008" y="302101"/>
                        <a:pt x="1939290" y="242570"/>
                        <a:pt x="2004060" y="152400"/>
                      </a:cubicBezTo>
                      <a:cubicBezTo>
                        <a:pt x="2068830" y="62230"/>
                        <a:pt x="2131695" y="15875"/>
                        <a:pt x="2179320" y="7620"/>
                      </a:cubicBezTo>
                    </a:path>
                  </a:pathLst>
                </a:custGeom>
                <a:noFill/>
                <a:ln w="19050">
                  <a:solidFill>
                    <a:srgbClr val="193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ko-KR" altLang="en-US"/>
                </a:p>
              </p:txBody>
            </p:sp>
            <p:sp>
              <p:nvSpPr>
                <p:cNvPr id="26" name="자유형 31">
                  <a:extLst>
                    <a:ext uri="{FF2B5EF4-FFF2-40B4-BE49-F238E27FC236}">
                      <a16:creationId xmlns:a16="http://schemas.microsoft.com/office/drawing/2014/main" id="{6BFAB9F8-2757-45F1-898B-861A5BC520C9}"/>
                    </a:ext>
                  </a:extLst>
                </p:cNvPr>
                <p:cNvSpPr/>
                <p:nvPr/>
              </p:nvSpPr>
              <p:spPr>
                <a:xfrm>
                  <a:off x="969592" y="3441699"/>
                  <a:ext cx="527050" cy="831197"/>
                </a:xfrm>
                <a:custGeom>
                  <a:avLst/>
                  <a:gdLst>
                    <a:gd name="connsiteX0" fmla="*/ 0 w 527050"/>
                    <a:gd name="connsiteY0" fmla="*/ 0 h 793750"/>
                    <a:gd name="connsiteX1" fmla="*/ 527050 w 527050"/>
                    <a:gd name="connsiteY1" fmla="*/ 0 h 793750"/>
                    <a:gd name="connsiteX2" fmla="*/ 527050 w 527050"/>
                    <a:gd name="connsiteY2" fmla="*/ 793750 h 793750"/>
                  </a:gdLst>
                  <a:ahLst/>
                  <a:cxnLst>
                    <a:cxn ang="0">
                      <a:pos x="connsiteX0" y="connsiteY0"/>
                    </a:cxn>
                    <a:cxn ang="0">
                      <a:pos x="connsiteX1" y="connsiteY1"/>
                    </a:cxn>
                    <a:cxn ang="0">
                      <a:pos x="connsiteX2" y="connsiteY2"/>
                    </a:cxn>
                  </a:cxnLst>
                  <a:rect l="l" t="t" r="r" b="b"/>
                  <a:pathLst>
                    <a:path w="527050" h="793750">
                      <a:moveTo>
                        <a:pt x="0" y="0"/>
                      </a:moveTo>
                      <a:lnTo>
                        <a:pt x="527050" y="0"/>
                      </a:lnTo>
                      <a:lnTo>
                        <a:pt x="527050" y="793750"/>
                      </a:lnTo>
                    </a:path>
                  </a:pathLst>
                </a:custGeom>
                <a:ln w="12700">
                  <a:solidFill>
                    <a:srgbClr val="7F7F7F"/>
                  </a:solidFill>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scene3d>
                    <a:camera prst="orthographicFront"/>
                    <a:lightRig rig="threePt" dir="t"/>
                  </a:scene3d>
                  <a:sp3d>
                    <a:bevelT w="0" h="6350"/>
                  </a:sp3d>
                </a:bodyPr>
                <a:lstStyle/>
                <a:p>
                  <a:pPr algn="ctr"/>
                  <a:endParaRPr lang="ko-KR" altLang="en-US"/>
                </a:p>
              </p:txBody>
            </p:sp>
          </p:grpSp>
          <p:grpSp>
            <p:nvGrpSpPr>
              <p:cNvPr id="13" name="그룹 12">
                <a:extLst>
                  <a:ext uri="{FF2B5EF4-FFF2-40B4-BE49-F238E27FC236}">
                    <a16:creationId xmlns:a16="http://schemas.microsoft.com/office/drawing/2014/main" id="{62F30EBB-BFAB-4240-958E-437C42D10D9F}"/>
                  </a:ext>
                </a:extLst>
              </p:cNvPr>
              <p:cNvGrpSpPr/>
              <p:nvPr/>
            </p:nvGrpSpPr>
            <p:grpSpPr>
              <a:xfrm>
                <a:off x="3789617" y="3441700"/>
                <a:ext cx="2131884" cy="1828089"/>
                <a:chOff x="3871458" y="3441700"/>
                <a:chExt cx="2131884" cy="1828089"/>
              </a:xfrm>
            </p:grpSpPr>
            <p:sp>
              <p:nvSpPr>
                <p:cNvPr id="18" name="자유형 43">
                  <a:extLst>
                    <a:ext uri="{FF2B5EF4-FFF2-40B4-BE49-F238E27FC236}">
                      <a16:creationId xmlns:a16="http://schemas.microsoft.com/office/drawing/2014/main" id="{CEDDD728-ADB6-4C99-AC3C-92EC0977D08C}"/>
                    </a:ext>
                  </a:extLst>
                </p:cNvPr>
                <p:cNvSpPr/>
                <p:nvPr/>
              </p:nvSpPr>
              <p:spPr>
                <a:xfrm>
                  <a:off x="3888550" y="3489958"/>
                  <a:ext cx="2114792" cy="1779831"/>
                </a:xfrm>
                <a:custGeom>
                  <a:avLst/>
                  <a:gdLst>
                    <a:gd name="connsiteX0" fmla="*/ 0 w 2179320"/>
                    <a:gd name="connsiteY0" fmla="*/ 0 h 1766981"/>
                    <a:gd name="connsiteX1" fmla="*/ 274320 w 2179320"/>
                    <a:gd name="connsiteY1" fmla="*/ 266700 h 1766981"/>
                    <a:gd name="connsiteX2" fmla="*/ 647700 w 2179320"/>
                    <a:gd name="connsiteY2" fmla="*/ 1158240 h 1766981"/>
                    <a:gd name="connsiteX3" fmla="*/ 891540 w 2179320"/>
                    <a:gd name="connsiteY3" fmla="*/ 1638300 h 1766981"/>
                    <a:gd name="connsiteX4" fmla="*/ 1287780 w 2179320"/>
                    <a:gd name="connsiteY4" fmla="*/ 1676400 h 1766981"/>
                    <a:gd name="connsiteX5" fmla="*/ 1790700 w 2179320"/>
                    <a:gd name="connsiteY5" fmla="*/ 548640 h 1766981"/>
                    <a:gd name="connsiteX6" fmla="*/ 2019300 w 2179320"/>
                    <a:gd name="connsiteY6" fmla="*/ 114300 h 1766981"/>
                    <a:gd name="connsiteX7" fmla="*/ 2179320 w 2179320"/>
                    <a:gd name="connsiteY7" fmla="*/ 7620 h 1766981"/>
                    <a:gd name="connsiteX0" fmla="*/ 0 w 2179320"/>
                    <a:gd name="connsiteY0" fmla="*/ 0 h 1793290"/>
                    <a:gd name="connsiteX1" fmla="*/ 274320 w 2179320"/>
                    <a:gd name="connsiteY1" fmla="*/ 266700 h 1793290"/>
                    <a:gd name="connsiteX2" fmla="*/ 647700 w 2179320"/>
                    <a:gd name="connsiteY2" fmla="*/ 1158240 h 1793290"/>
                    <a:gd name="connsiteX3" fmla="*/ 906780 w 2179320"/>
                    <a:gd name="connsiteY3" fmla="*/ 1699260 h 1793290"/>
                    <a:gd name="connsiteX4" fmla="*/ 1287780 w 2179320"/>
                    <a:gd name="connsiteY4" fmla="*/ 1676400 h 1793290"/>
                    <a:gd name="connsiteX5" fmla="*/ 1790700 w 2179320"/>
                    <a:gd name="connsiteY5" fmla="*/ 548640 h 1793290"/>
                    <a:gd name="connsiteX6" fmla="*/ 2019300 w 2179320"/>
                    <a:gd name="connsiteY6" fmla="*/ 114300 h 1793290"/>
                    <a:gd name="connsiteX7" fmla="*/ 2179320 w 2179320"/>
                    <a:gd name="connsiteY7" fmla="*/ 7620 h 1793290"/>
                    <a:gd name="connsiteX0" fmla="*/ 0 w 2179320"/>
                    <a:gd name="connsiteY0" fmla="*/ 0 h 1775062"/>
                    <a:gd name="connsiteX1" fmla="*/ 274320 w 2179320"/>
                    <a:gd name="connsiteY1" fmla="*/ 266700 h 1775062"/>
                    <a:gd name="connsiteX2" fmla="*/ 647700 w 2179320"/>
                    <a:gd name="connsiteY2" fmla="*/ 1158240 h 1775062"/>
                    <a:gd name="connsiteX3" fmla="*/ 906780 w 2179320"/>
                    <a:gd name="connsiteY3" fmla="*/ 1699260 h 1775062"/>
                    <a:gd name="connsiteX4" fmla="*/ 1287780 w 2179320"/>
                    <a:gd name="connsiteY4" fmla="*/ 1676400 h 1775062"/>
                    <a:gd name="connsiteX5" fmla="*/ 1790700 w 2179320"/>
                    <a:gd name="connsiteY5" fmla="*/ 548640 h 1775062"/>
                    <a:gd name="connsiteX6" fmla="*/ 2019300 w 2179320"/>
                    <a:gd name="connsiteY6" fmla="*/ 114300 h 1775062"/>
                    <a:gd name="connsiteX7" fmla="*/ 2179320 w 2179320"/>
                    <a:gd name="connsiteY7" fmla="*/ 7620 h 1775062"/>
                    <a:gd name="connsiteX0" fmla="*/ 0 w 2179320"/>
                    <a:gd name="connsiteY0" fmla="*/ 0 h 1775062"/>
                    <a:gd name="connsiteX1" fmla="*/ 274320 w 2179320"/>
                    <a:gd name="connsiteY1" fmla="*/ 266700 h 1775062"/>
                    <a:gd name="connsiteX2" fmla="*/ 647700 w 2179320"/>
                    <a:gd name="connsiteY2" fmla="*/ 1158240 h 1775062"/>
                    <a:gd name="connsiteX3" fmla="*/ 906780 w 2179320"/>
                    <a:gd name="connsiteY3" fmla="*/ 1699260 h 1775062"/>
                    <a:gd name="connsiteX4" fmla="*/ 1287780 w 2179320"/>
                    <a:gd name="connsiteY4" fmla="*/ 1676400 h 1775062"/>
                    <a:gd name="connsiteX5" fmla="*/ 1790700 w 2179320"/>
                    <a:gd name="connsiteY5" fmla="*/ 548640 h 1775062"/>
                    <a:gd name="connsiteX6" fmla="*/ 1981200 w 2179320"/>
                    <a:gd name="connsiteY6" fmla="*/ 167640 h 1775062"/>
                    <a:gd name="connsiteX7" fmla="*/ 2179320 w 2179320"/>
                    <a:gd name="connsiteY7" fmla="*/ 7620 h 1775062"/>
                    <a:gd name="connsiteX0" fmla="*/ 0 w 2179320"/>
                    <a:gd name="connsiteY0" fmla="*/ 0 h 1775062"/>
                    <a:gd name="connsiteX1" fmla="*/ 274320 w 2179320"/>
                    <a:gd name="connsiteY1" fmla="*/ 266700 h 1775062"/>
                    <a:gd name="connsiteX2" fmla="*/ 647700 w 2179320"/>
                    <a:gd name="connsiteY2" fmla="*/ 1158240 h 1775062"/>
                    <a:gd name="connsiteX3" fmla="*/ 906780 w 2179320"/>
                    <a:gd name="connsiteY3" fmla="*/ 1699260 h 1775062"/>
                    <a:gd name="connsiteX4" fmla="*/ 1287780 w 2179320"/>
                    <a:gd name="connsiteY4" fmla="*/ 1676400 h 1775062"/>
                    <a:gd name="connsiteX5" fmla="*/ 1790700 w 2179320"/>
                    <a:gd name="connsiteY5" fmla="*/ 548640 h 1775062"/>
                    <a:gd name="connsiteX6" fmla="*/ 1996440 w 2179320"/>
                    <a:gd name="connsiteY6" fmla="*/ 167640 h 1775062"/>
                    <a:gd name="connsiteX7" fmla="*/ 2179320 w 2179320"/>
                    <a:gd name="connsiteY7" fmla="*/ 7620 h 1775062"/>
                    <a:gd name="connsiteX0" fmla="*/ 0 w 2179320"/>
                    <a:gd name="connsiteY0" fmla="*/ 0 h 1775062"/>
                    <a:gd name="connsiteX1" fmla="*/ 274320 w 2179320"/>
                    <a:gd name="connsiteY1" fmla="*/ 266700 h 1775062"/>
                    <a:gd name="connsiteX2" fmla="*/ 647700 w 2179320"/>
                    <a:gd name="connsiteY2" fmla="*/ 1158240 h 1775062"/>
                    <a:gd name="connsiteX3" fmla="*/ 906780 w 2179320"/>
                    <a:gd name="connsiteY3" fmla="*/ 1699260 h 1775062"/>
                    <a:gd name="connsiteX4" fmla="*/ 1287780 w 2179320"/>
                    <a:gd name="connsiteY4" fmla="*/ 1676400 h 1775062"/>
                    <a:gd name="connsiteX5" fmla="*/ 1790700 w 2179320"/>
                    <a:gd name="connsiteY5" fmla="*/ 548640 h 1775062"/>
                    <a:gd name="connsiteX6" fmla="*/ 1988820 w 2179320"/>
                    <a:gd name="connsiteY6" fmla="*/ 137160 h 1775062"/>
                    <a:gd name="connsiteX7" fmla="*/ 2179320 w 2179320"/>
                    <a:gd name="connsiteY7" fmla="*/ 7620 h 1775062"/>
                    <a:gd name="connsiteX0" fmla="*/ 0 w 2179320"/>
                    <a:gd name="connsiteY0" fmla="*/ 0 h 1775062"/>
                    <a:gd name="connsiteX1" fmla="*/ 274320 w 2179320"/>
                    <a:gd name="connsiteY1" fmla="*/ 266700 h 1775062"/>
                    <a:gd name="connsiteX2" fmla="*/ 647700 w 2179320"/>
                    <a:gd name="connsiteY2" fmla="*/ 1158240 h 1775062"/>
                    <a:gd name="connsiteX3" fmla="*/ 906780 w 2179320"/>
                    <a:gd name="connsiteY3" fmla="*/ 1699260 h 1775062"/>
                    <a:gd name="connsiteX4" fmla="*/ 1287780 w 2179320"/>
                    <a:gd name="connsiteY4" fmla="*/ 1676400 h 1775062"/>
                    <a:gd name="connsiteX5" fmla="*/ 1790700 w 2179320"/>
                    <a:gd name="connsiteY5" fmla="*/ 548640 h 1775062"/>
                    <a:gd name="connsiteX6" fmla="*/ 2004060 w 2179320"/>
                    <a:gd name="connsiteY6" fmla="*/ 152400 h 1775062"/>
                    <a:gd name="connsiteX7" fmla="*/ 2179320 w 2179320"/>
                    <a:gd name="connsiteY7" fmla="*/ 7620 h 1775062"/>
                    <a:gd name="connsiteX0" fmla="*/ 0 w 2179320"/>
                    <a:gd name="connsiteY0" fmla="*/ 0 h 1793290"/>
                    <a:gd name="connsiteX1" fmla="*/ 274320 w 2179320"/>
                    <a:gd name="connsiteY1" fmla="*/ 266700 h 1793290"/>
                    <a:gd name="connsiteX2" fmla="*/ 647700 w 2179320"/>
                    <a:gd name="connsiteY2" fmla="*/ 1158240 h 1793290"/>
                    <a:gd name="connsiteX3" fmla="*/ 930338 w 2179320"/>
                    <a:gd name="connsiteY3" fmla="*/ 1699260 h 1793290"/>
                    <a:gd name="connsiteX4" fmla="*/ 1287780 w 2179320"/>
                    <a:gd name="connsiteY4" fmla="*/ 1676400 h 1793290"/>
                    <a:gd name="connsiteX5" fmla="*/ 1790700 w 2179320"/>
                    <a:gd name="connsiteY5" fmla="*/ 548640 h 1793290"/>
                    <a:gd name="connsiteX6" fmla="*/ 2004060 w 2179320"/>
                    <a:gd name="connsiteY6" fmla="*/ 152400 h 1793290"/>
                    <a:gd name="connsiteX7" fmla="*/ 2179320 w 2179320"/>
                    <a:gd name="connsiteY7" fmla="*/ 7620 h 1793290"/>
                    <a:gd name="connsiteX0" fmla="*/ 0 w 2179320"/>
                    <a:gd name="connsiteY0" fmla="*/ 0 h 1783547"/>
                    <a:gd name="connsiteX1" fmla="*/ 274320 w 2179320"/>
                    <a:gd name="connsiteY1" fmla="*/ 266700 h 1783547"/>
                    <a:gd name="connsiteX2" fmla="*/ 647700 w 2179320"/>
                    <a:gd name="connsiteY2" fmla="*/ 1158240 h 1783547"/>
                    <a:gd name="connsiteX3" fmla="*/ 930338 w 2179320"/>
                    <a:gd name="connsiteY3" fmla="*/ 1699260 h 1783547"/>
                    <a:gd name="connsiteX4" fmla="*/ 1287780 w 2179320"/>
                    <a:gd name="connsiteY4" fmla="*/ 1676400 h 1783547"/>
                    <a:gd name="connsiteX5" fmla="*/ 1790700 w 2179320"/>
                    <a:gd name="connsiteY5" fmla="*/ 548640 h 1783547"/>
                    <a:gd name="connsiteX6" fmla="*/ 2004060 w 2179320"/>
                    <a:gd name="connsiteY6" fmla="*/ 152400 h 1783547"/>
                    <a:gd name="connsiteX7" fmla="*/ 2179320 w 2179320"/>
                    <a:gd name="connsiteY7" fmla="*/ 7620 h 1783547"/>
                    <a:gd name="connsiteX0" fmla="*/ 0 w 2179320"/>
                    <a:gd name="connsiteY0" fmla="*/ 0 h 1767570"/>
                    <a:gd name="connsiteX1" fmla="*/ 274320 w 2179320"/>
                    <a:gd name="connsiteY1" fmla="*/ 266700 h 1767570"/>
                    <a:gd name="connsiteX2" fmla="*/ 647700 w 2179320"/>
                    <a:gd name="connsiteY2" fmla="*/ 1158240 h 1767570"/>
                    <a:gd name="connsiteX3" fmla="*/ 930338 w 2179320"/>
                    <a:gd name="connsiteY3" fmla="*/ 1699260 h 1767570"/>
                    <a:gd name="connsiteX4" fmla="*/ 1287780 w 2179320"/>
                    <a:gd name="connsiteY4" fmla="*/ 1676400 h 1767570"/>
                    <a:gd name="connsiteX5" fmla="*/ 1790700 w 2179320"/>
                    <a:gd name="connsiteY5" fmla="*/ 548640 h 1767570"/>
                    <a:gd name="connsiteX6" fmla="*/ 2004060 w 2179320"/>
                    <a:gd name="connsiteY6" fmla="*/ 152400 h 1767570"/>
                    <a:gd name="connsiteX7" fmla="*/ 2179320 w 2179320"/>
                    <a:gd name="connsiteY7" fmla="*/ 7620 h 1767570"/>
                    <a:gd name="connsiteX0" fmla="*/ 0 w 2179320"/>
                    <a:gd name="connsiteY0" fmla="*/ 0 h 1837308"/>
                    <a:gd name="connsiteX1" fmla="*/ 274320 w 2179320"/>
                    <a:gd name="connsiteY1" fmla="*/ 266700 h 1837308"/>
                    <a:gd name="connsiteX2" fmla="*/ 930338 w 2179320"/>
                    <a:gd name="connsiteY2" fmla="*/ 1699260 h 1837308"/>
                    <a:gd name="connsiteX3" fmla="*/ 1287780 w 2179320"/>
                    <a:gd name="connsiteY3" fmla="*/ 1676400 h 1837308"/>
                    <a:gd name="connsiteX4" fmla="*/ 1790700 w 2179320"/>
                    <a:gd name="connsiteY4" fmla="*/ 548640 h 1837308"/>
                    <a:gd name="connsiteX5" fmla="*/ 2004060 w 2179320"/>
                    <a:gd name="connsiteY5" fmla="*/ 152400 h 1837308"/>
                    <a:gd name="connsiteX6" fmla="*/ 2179320 w 2179320"/>
                    <a:gd name="connsiteY6" fmla="*/ 7620 h 1837308"/>
                    <a:gd name="connsiteX0" fmla="*/ 0 w 2179320"/>
                    <a:gd name="connsiteY0" fmla="*/ 0 h 1826499"/>
                    <a:gd name="connsiteX1" fmla="*/ 274320 w 2179320"/>
                    <a:gd name="connsiteY1" fmla="*/ 266700 h 1826499"/>
                    <a:gd name="connsiteX2" fmla="*/ 914633 w 2179320"/>
                    <a:gd name="connsiteY2" fmla="*/ 1661160 h 1826499"/>
                    <a:gd name="connsiteX3" fmla="*/ 1287780 w 2179320"/>
                    <a:gd name="connsiteY3" fmla="*/ 1676400 h 1826499"/>
                    <a:gd name="connsiteX4" fmla="*/ 1790700 w 2179320"/>
                    <a:gd name="connsiteY4" fmla="*/ 548640 h 1826499"/>
                    <a:gd name="connsiteX5" fmla="*/ 2004060 w 2179320"/>
                    <a:gd name="connsiteY5" fmla="*/ 152400 h 1826499"/>
                    <a:gd name="connsiteX6" fmla="*/ 2179320 w 2179320"/>
                    <a:gd name="connsiteY6" fmla="*/ 7620 h 1826499"/>
                    <a:gd name="connsiteX0" fmla="*/ 0 w 2179320"/>
                    <a:gd name="connsiteY0" fmla="*/ 0 h 1788644"/>
                    <a:gd name="connsiteX1" fmla="*/ 274320 w 2179320"/>
                    <a:gd name="connsiteY1" fmla="*/ 266700 h 1788644"/>
                    <a:gd name="connsiteX2" fmla="*/ 914633 w 2179320"/>
                    <a:gd name="connsiteY2" fmla="*/ 1661160 h 1788644"/>
                    <a:gd name="connsiteX3" fmla="*/ 1287780 w 2179320"/>
                    <a:gd name="connsiteY3" fmla="*/ 1676400 h 1788644"/>
                    <a:gd name="connsiteX4" fmla="*/ 1790700 w 2179320"/>
                    <a:gd name="connsiteY4" fmla="*/ 548640 h 1788644"/>
                    <a:gd name="connsiteX5" fmla="*/ 2004060 w 2179320"/>
                    <a:gd name="connsiteY5" fmla="*/ 152400 h 1788644"/>
                    <a:gd name="connsiteX6" fmla="*/ 2179320 w 2179320"/>
                    <a:gd name="connsiteY6" fmla="*/ 7620 h 1788644"/>
                    <a:gd name="connsiteX0" fmla="*/ 0 w 2179320"/>
                    <a:gd name="connsiteY0" fmla="*/ 0 h 1763817"/>
                    <a:gd name="connsiteX1" fmla="*/ 274320 w 2179320"/>
                    <a:gd name="connsiteY1" fmla="*/ 266700 h 1763817"/>
                    <a:gd name="connsiteX2" fmla="*/ 914633 w 2179320"/>
                    <a:gd name="connsiteY2" fmla="*/ 1661160 h 1763817"/>
                    <a:gd name="connsiteX3" fmla="*/ 1287780 w 2179320"/>
                    <a:gd name="connsiteY3" fmla="*/ 1676400 h 1763817"/>
                    <a:gd name="connsiteX4" fmla="*/ 1790700 w 2179320"/>
                    <a:gd name="connsiteY4" fmla="*/ 548640 h 1763817"/>
                    <a:gd name="connsiteX5" fmla="*/ 2004060 w 2179320"/>
                    <a:gd name="connsiteY5" fmla="*/ 152400 h 1763817"/>
                    <a:gd name="connsiteX6" fmla="*/ 2179320 w 2179320"/>
                    <a:gd name="connsiteY6" fmla="*/ 7620 h 1763817"/>
                    <a:gd name="connsiteX0" fmla="*/ 0 w 2179320"/>
                    <a:gd name="connsiteY0" fmla="*/ 0 h 1792278"/>
                    <a:gd name="connsiteX1" fmla="*/ 274320 w 2179320"/>
                    <a:gd name="connsiteY1" fmla="*/ 266700 h 1792278"/>
                    <a:gd name="connsiteX2" fmla="*/ 914633 w 2179320"/>
                    <a:gd name="connsiteY2" fmla="*/ 1668780 h 1792278"/>
                    <a:gd name="connsiteX3" fmla="*/ 1287780 w 2179320"/>
                    <a:gd name="connsiteY3" fmla="*/ 1676400 h 1792278"/>
                    <a:gd name="connsiteX4" fmla="*/ 1790700 w 2179320"/>
                    <a:gd name="connsiteY4" fmla="*/ 548640 h 1792278"/>
                    <a:gd name="connsiteX5" fmla="*/ 2004060 w 2179320"/>
                    <a:gd name="connsiteY5" fmla="*/ 152400 h 1792278"/>
                    <a:gd name="connsiteX6" fmla="*/ 2179320 w 2179320"/>
                    <a:gd name="connsiteY6" fmla="*/ 7620 h 1792278"/>
                    <a:gd name="connsiteX0" fmla="*/ 0 w 2179320"/>
                    <a:gd name="connsiteY0" fmla="*/ 0 h 1784985"/>
                    <a:gd name="connsiteX1" fmla="*/ 274320 w 2179320"/>
                    <a:gd name="connsiteY1" fmla="*/ 266700 h 1784985"/>
                    <a:gd name="connsiteX2" fmla="*/ 914633 w 2179320"/>
                    <a:gd name="connsiteY2" fmla="*/ 1668780 h 1784985"/>
                    <a:gd name="connsiteX3" fmla="*/ 1287780 w 2179320"/>
                    <a:gd name="connsiteY3" fmla="*/ 1676400 h 1784985"/>
                    <a:gd name="connsiteX4" fmla="*/ 1790700 w 2179320"/>
                    <a:gd name="connsiteY4" fmla="*/ 548640 h 1784985"/>
                    <a:gd name="connsiteX5" fmla="*/ 2004060 w 2179320"/>
                    <a:gd name="connsiteY5" fmla="*/ 152400 h 1784985"/>
                    <a:gd name="connsiteX6" fmla="*/ 2179320 w 2179320"/>
                    <a:gd name="connsiteY6" fmla="*/ 7620 h 1784985"/>
                    <a:gd name="connsiteX0" fmla="*/ 0 w 2179320"/>
                    <a:gd name="connsiteY0" fmla="*/ 0 h 1784985"/>
                    <a:gd name="connsiteX1" fmla="*/ 274320 w 2179320"/>
                    <a:gd name="connsiteY1" fmla="*/ 266700 h 1784985"/>
                    <a:gd name="connsiteX2" fmla="*/ 914633 w 2179320"/>
                    <a:gd name="connsiteY2" fmla="*/ 1668780 h 1784985"/>
                    <a:gd name="connsiteX3" fmla="*/ 1287780 w 2179320"/>
                    <a:gd name="connsiteY3" fmla="*/ 1676400 h 1784985"/>
                    <a:gd name="connsiteX4" fmla="*/ 1790700 w 2179320"/>
                    <a:gd name="connsiteY4" fmla="*/ 548640 h 1784985"/>
                    <a:gd name="connsiteX5" fmla="*/ 2004060 w 2179320"/>
                    <a:gd name="connsiteY5" fmla="*/ 152400 h 1784985"/>
                    <a:gd name="connsiteX6" fmla="*/ 2179320 w 2179320"/>
                    <a:gd name="connsiteY6" fmla="*/ 7620 h 1784985"/>
                    <a:gd name="connsiteX0" fmla="*/ 0 w 2179320"/>
                    <a:gd name="connsiteY0" fmla="*/ 0 h 1815312"/>
                    <a:gd name="connsiteX1" fmla="*/ 274320 w 2179320"/>
                    <a:gd name="connsiteY1" fmla="*/ 266700 h 1815312"/>
                    <a:gd name="connsiteX2" fmla="*/ 914633 w 2179320"/>
                    <a:gd name="connsiteY2" fmla="*/ 1668780 h 1815312"/>
                    <a:gd name="connsiteX3" fmla="*/ 1303485 w 2179320"/>
                    <a:gd name="connsiteY3" fmla="*/ 1645920 h 1815312"/>
                    <a:gd name="connsiteX4" fmla="*/ 1790700 w 2179320"/>
                    <a:gd name="connsiteY4" fmla="*/ 548640 h 1815312"/>
                    <a:gd name="connsiteX5" fmla="*/ 2004060 w 2179320"/>
                    <a:gd name="connsiteY5" fmla="*/ 152400 h 1815312"/>
                    <a:gd name="connsiteX6" fmla="*/ 2179320 w 2179320"/>
                    <a:gd name="connsiteY6" fmla="*/ 7620 h 1815312"/>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20" h="1779831">
                      <a:moveTo>
                        <a:pt x="0" y="0"/>
                      </a:moveTo>
                      <a:cubicBezTo>
                        <a:pt x="68462" y="22543"/>
                        <a:pt x="136604" y="19527"/>
                        <a:pt x="274320" y="266700"/>
                      </a:cubicBezTo>
                      <a:cubicBezTo>
                        <a:pt x="426759" y="605790"/>
                        <a:pt x="743105" y="1438910"/>
                        <a:pt x="914633" y="1668780"/>
                      </a:cubicBezTo>
                      <a:cubicBezTo>
                        <a:pt x="1086161" y="1898650"/>
                        <a:pt x="1263483" y="1710690"/>
                        <a:pt x="1303485" y="1645920"/>
                      </a:cubicBezTo>
                      <a:cubicBezTo>
                        <a:pt x="1449496" y="1459230"/>
                        <a:pt x="1676392" y="795179"/>
                        <a:pt x="1790700" y="548640"/>
                      </a:cubicBezTo>
                      <a:cubicBezTo>
                        <a:pt x="1905008" y="302101"/>
                        <a:pt x="1939290" y="242570"/>
                        <a:pt x="2004060" y="152400"/>
                      </a:cubicBezTo>
                      <a:cubicBezTo>
                        <a:pt x="2068830" y="62230"/>
                        <a:pt x="2131695" y="15875"/>
                        <a:pt x="2179320" y="7620"/>
                      </a:cubicBezTo>
                    </a:path>
                  </a:pathLst>
                </a:custGeom>
                <a:noFill/>
                <a:ln w="19050">
                  <a:solidFill>
                    <a:srgbClr val="193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ko-KR" altLang="en-US"/>
                </a:p>
              </p:txBody>
            </p:sp>
            <p:sp>
              <p:nvSpPr>
                <p:cNvPr id="19" name="Oval 6">
                  <a:extLst>
                    <a:ext uri="{FF2B5EF4-FFF2-40B4-BE49-F238E27FC236}">
                      <a16:creationId xmlns:a16="http://schemas.microsoft.com/office/drawing/2014/main" id="{0C708C41-B5F4-46E3-B221-EFD242267CCE}"/>
                    </a:ext>
                  </a:extLst>
                </p:cNvPr>
                <p:cNvSpPr/>
                <p:nvPr/>
              </p:nvSpPr>
              <p:spPr>
                <a:xfrm>
                  <a:off x="4626123" y="4964513"/>
                  <a:ext cx="171601" cy="171601"/>
                </a:xfrm>
                <a:prstGeom prst="ellipse">
                  <a:avLst/>
                </a:prstGeom>
                <a:solidFill>
                  <a:srgbClr val="FF0000">
                    <a:alpha val="20000"/>
                  </a:srgb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sz="1600"/>
                </a:p>
              </p:txBody>
            </p:sp>
            <p:sp>
              <p:nvSpPr>
                <p:cNvPr id="20" name="자유형 45">
                  <a:extLst>
                    <a:ext uri="{FF2B5EF4-FFF2-40B4-BE49-F238E27FC236}">
                      <a16:creationId xmlns:a16="http://schemas.microsoft.com/office/drawing/2014/main" id="{AA560F26-0FC6-4A4E-8C86-F69D93285A41}"/>
                    </a:ext>
                  </a:extLst>
                </p:cNvPr>
                <p:cNvSpPr/>
                <p:nvPr/>
              </p:nvSpPr>
              <p:spPr>
                <a:xfrm>
                  <a:off x="3871458" y="3441700"/>
                  <a:ext cx="786213" cy="1478422"/>
                </a:xfrm>
                <a:custGeom>
                  <a:avLst/>
                  <a:gdLst>
                    <a:gd name="connsiteX0" fmla="*/ 0 w 786213"/>
                    <a:gd name="connsiteY0" fmla="*/ 0 h 1478422"/>
                    <a:gd name="connsiteX1" fmla="*/ 521294 w 786213"/>
                    <a:gd name="connsiteY1" fmla="*/ 0 h 1478422"/>
                    <a:gd name="connsiteX2" fmla="*/ 521294 w 786213"/>
                    <a:gd name="connsiteY2" fmla="*/ 880216 h 1478422"/>
                    <a:gd name="connsiteX3" fmla="*/ 786213 w 786213"/>
                    <a:gd name="connsiteY3" fmla="*/ 880216 h 1478422"/>
                    <a:gd name="connsiteX4" fmla="*/ 786213 w 786213"/>
                    <a:gd name="connsiteY4" fmla="*/ 1478422 h 1478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6213" h="1478422">
                      <a:moveTo>
                        <a:pt x="0" y="0"/>
                      </a:moveTo>
                      <a:lnTo>
                        <a:pt x="521294" y="0"/>
                      </a:lnTo>
                      <a:lnTo>
                        <a:pt x="521294" y="880216"/>
                      </a:lnTo>
                      <a:lnTo>
                        <a:pt x="786213" y="880216"/>
                      </a:lnTo>
                      <a:lnTo>
                        <a:pt x="786213" y="1478422"/>
                      </a:lnTo>
                    </a:path>
                  </a:pathLst>
                </a:custGeom>
                <a:ln w="12700">
                  <a:solidFill>
                    <a:srgbClr val="7F7F7F"/>
                  </a:solidFill>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scene3d>
                    <a:camera prst="orthographicFront"/>
                    <a:lightRig rig="threePt" dir="t"/>
                  </a:scene3d>
                  <a:sp3d>
                    <a:bevelT w="0" h="6350"/>
                  </a:sp3d>
                </a:bodyPr>
                <a:lstStyle/>
                <a:p>
                  <a:pPr algn="ctr"/>
                  <a:endParaRPr lang="ko-KR" altLang="en-US">
                    <a:solidFill>
                      <a:schemeClr val="tx1"/>
                    </a:solidFill>
                  </a:endParaRPr>
                </a:p>
              </p:txBody>
            </p:sp>
          </p:grpSp>
          <p:grpSp>
            <p:nvGrpSpPr>
              <p:cNvPr id="14" name="그룹 13">
                <a:extLst>
                  <a:ext uri="{FF2B5EF4-FFF2-40B4-BE49-F238E27FC236}">
                    <a16:creationId xmlns:a16="http://schemas.microsoft.com/office/drawing/2014/main" id="{7E0F13AA-6032-415E-935A-44DAA620D0F0}"/>
                  </a:ext>
                </a:extLst>
              </p:cNvPr>
              <p:cNvGrpSpPr/>
              <p:nvPr/>
            </p:nvGrpSpPr>
            <p:grpSpPr>
              <a:xfrm>
                <a:off x="6613347" y="3441699"/>
                <a:ext cx="2141741" cy="1913890"/>
                <a:chOff x="6613347" y="3441699"/>
                <a:chExt cx="2141741" cy="1913890"/>
              </a:xfrm>
            </p:grpSpPr>
            <p:sp>
              <p:nvSpPr>
                <p:cNvPr id="15" name="자유형 46">
                  <a:extLst>
                    <a:ext uri="{FF2B5EF4-FFF2-40B4-BE49-F238E27FC236}">
                      <a16:creationId xmlns:a16="http://schemas.microsoft.com/office/drawing/2014/main" id="{0F9858FB-CF68-48AE-B0C9-EB275E276B94}"/>
                    </a:ext>
                  </a:extLst>
                </p:cNvPr>
                <p:cNvSpPr/>
                <p:nvPr/>
              </p:nvSpPr>
              <p:spPr>
                <a:xfrm>
                  <a:off x="6640296" y="3489958"/>
                  <a:ext cx="2114792" cy="1779831"/>
                </a:xfrm>
                <a:custGeom>
                  <a:avLst/>
                  <a:gdLst>
                    <a:gd name="connsiteX0" fmla="*/ 0 w 2179320"/>
                    <a:gd name="connsiteY0" fmla="*/ 0 h 1766981"/>
                    <a:gd name="connsiteX1" fmla="*/ 274320 w 2179320"/>
                    <a:gd name="connsiteY1" fmla="*/ 266700 h 1766981"/>
                    <a:gd name="connsiteX2" fmla="*/ 647700 w 2179320"/>
                    <a:gd name="connsiteY2" fmla="*/ 1158240 h 1766981"/>
                    <a:gd name="connsiteX3" fmla="*/ 891540 w 2179320"/>
                    <a:gd name="connsiteY3" fmla="*/ 1638300 h 1766981"/>
                    <a:gd name="connsiteX4" fmla="*/ 1287780 w 2179320"/>
                    <a:gd name="connsiteY4" fmla="*/ 1676400 h 1766981"/>
                    <a:gd name="connsiteX5" fmla="*/ 1790700 w 2179320"/>
                    <a:gd name="connsiteY5" fmla="*/ 548640 h 1766981"/>
                    <a:gd name="connsiteX6" fmla="*/ 2019300 w 2179320"/>
                    <a:gd name="connsiteY6" fmla="*/ 114300 h 1766981"/>
                    <a:gd name="connsiteX7" fmla="*/ 2179320 w 2179320"/>
                    <a:gd name="connsiteY7" fmla="*/ 7620 h 1766981"/>
                    <a:gd name="connsiteX0" fmla="*/ 0 w 2179320"/>
                    <a:gd name="connsiteY0" fmla="*/ 0 h 1793290"/>
                    <a:gd name="connsiteX1" fmla="*/ 274320 w 2179320"/>
                    <a:gd name="connsiteY1" fmla="*/ 266700 h 1793290"/>
                    <a:gd name="connsiteX2" fmla="*/ 647700 w 2179320"/>
                    <a:gd name="connsiteY2" fmla="*/ 1158240 h 1793290"/>
                    <a:gd name="connsiteX3" fmla="*/ 906780 w 2179320"/>
                    <a:gd name="connsiteY3" fmla="*/ 1699260 h 1793290"/>
                    <a:gd name="connsiteX4" fmla="*/ 1287780 w 2179320"/>
                    <a:gd name="connsiteY4" fmla="*/ 1676400 h 1793290"/>
                    <a:gd name="connsiteX5" fmla="*/ 1790700 w 2179320"/>
                    <a:gd name="connsiteY5" fmla="*/ 548640 h 1793290"/>
                    <a:gd name="connsiteX6" fmla="*/ 2019300 w 2179320"/>
                    <a:gd name="connsiteY6" fmla="*/ 114300 h 1793290"/>
                    <a:gd name="connsiteX7" fmla="*/ 2179320 w 2179320"/>
                    <a:gd name="connsiteY7" fmla="*/ 7620 h 1793290"/>
                    <a:gd name="connsiteX0" fmla="*/ 0 w 2179320"/>
                    <a:gd name="connsiteY0" fmla="*/ 0 h 1775062"/>
                    <a:gd name="connsiteX1" fmla="*/ 274320 w 2179320"/>
                    <a:gd name="connsiteY1" fmla="*/ 266700 h 1775062"/>
                    <a:gd name="connsiteX2" fmla="*/ 647700 w 2179320"/>
                    <a:gd name="connsiteY2" fmla="*/ 1158240 h 1775062"/>
                    <a:gd name="connsiteX3" fmla="*/ 906780 w 2179320"/>
                    <a:gd name="connsiteY3" fmla="*/ 1699260 h 1775062"/>
                    <a:gd name="connsiteX4" fmla="*/ 1287780 w 2179320"/>
                    <a:gd name="connsiteY4" fmla="*/ 1676400 h 1775062"/>
                    <a:gd name="connsiteX5" fmla="*/ 1790700 w 2179320"/>
                    <a:gd name="connsiteY5" fmla="*/ 548640 h 1775062"/>
                    <a:gd name="connsiteX6" fmla="*/ 2019300 w 2179320"/>
                    <a:gd name="connsiteY6" fmla="*/ 114300 h 1775062"/>
                    <a:gd name="connsiteX7" fmla="*/ 2179320 w 2179320"/>
                    <a:gd name="connsiteY7" fmla="*/ 7620 h 1775062"/>
                    <a:gd name="connsiteX0" fmla="*/ 0 w 2179320"/>
                    <a:gd name="connsiteY0" fmla="*/ 0 h 1775062"/>
                    <a:gd name="connsiteX1" fmla="*/ 274320 w 2179320"/>
                    <a:gd name="connsiteY1" fmla="*/ 266700 h 1775062"/>
                    <a:gd name="connsiteX2" fmla="*/ 647700 w 2179320"/>
                    <a:gd name="connsiteY2" fmla="*/ 1158240 h 1775062"/>
                    <a:gd name="connsiteX3" fmla="*/ 906780 w 2179320"/>
                    <a:gd name="connsiteY3" fmla="*/ 1699260 h 1775062"/>
                    <a:gd name="connsiteX4" fmla="*/ 1287780 w 2179320"/>
                    <a:gd name="connsiteY4" fmla="*/ 1676400 h 1775062"/>
                    <a:gd name="connsiteX5" fmla="*/ 1790700 w 2179320"/>
                    <a:gd name="connsiteY5" fmla="*/ 548640 h 1775062"/>
                    <a:gd name="connsiteX6" fmla="*/ 1981200 w 2179320"/>
                    <a:gd name="connsiteY6" fmla="*/ 167640 h 1775062"/>
                    <a:gd name="connsiteX7" fmla="*/ 2179320 w 2179320"/>
                    <a:gd name="connsiteY7" fmla="*/ 7620 h 1775062"/>
                    <a:gd name="connsiteX0" fmla="*/ 0 w 2179320"/>
                    <a:gd name="connsiteY0" fmla="*/ 0 h 1775062"/>
                    <a:gd name="connsiteX1" fmla="*/ 274320 w 2179320"/>
                    <a:gd name="connsiteY1" fmla="*/ 266700 h 1775062"/>
                    <a:gd name="connsiteX2" fmla="*/ 647700 w 2179320"/>
                    <a:gd name="connsiteY2" fmla="*/ 1158240 h 1775062"/>
                    <a:gd name="connsiteX3" fmla="*/ 906780 w 2179320"/>
                    <a:gd name="connsiteY3" fmla="*/ 1699260 h 1775062"/>
                    <a:gd name="connsiteX4" fmla="*/ 1287780 w 2179320"/>
                    <a:gd name="connsiteY4" fmla="*/ 1676400 h 1775062"/>
                    <a:gd name="connsiteX5" fmla="*/ 1790700 w 2179320"/>
                    <a:gd name="connsiteY5" fmla="*/ 548640 h 1775062"/>
                    <a:gd name="connsiteX6" fmla="*/ 1996440 w 2179320"/>
                    <a:gd name="connsiteY6" fmla="*/ 167640 h 1775062"/>
                    <a:gd name="connsiteX7" fmla="*/ 2179320 w 2179320"/>
                    <a:gd name="connsiteY7" fmla="*/ 7620 h 1775062"/>
                    <a:gd name="connsiteX0" fmla="*/ 0 w 2179320"/>
                    <a:gd name="connsiteY0" fmla="*/ 0 h 1775062"/>
                    <a:gd name="connsiteX1" fmla="*/ 274320 w 2179320"/>
                    <a:gd name="connsiteY1" fmla="*/ 266700 h 1775062"/>
                    <a:gd name="connsiteX2" fmla="*/ 647700 w 2179320"/>
                    <a:gd name="connsiteY2" fmla="*/ 1158240 h 1775062"/>
                    <a:gd name="connsiteX3" fmla="*/ 906780 w 2179320"/>
                    <a:gd name="connsiteY3" fmla="*/ 1699260 h 1775062"/>
                    <a:gd name="connsiteX4" fmla="*/ 1287780 w 2179320"/>
                    <a:gd name="connsiteY4" fmla="*/ 1676400 h 1775062"/>
                    <a:gd name="connsiteX5" fmla="*/ 1790700 w 2179320"/>
                    <a:gd name="connsiteY5" fmla="*/ 548640 h 1775062"/>
                    <a:gd name="connsiteX6" fmla="*/ 1988820 w 2179320"/>
                    <a:gd name="connsiteY6" fmla="*/ 137160 h 1775062"/>
                    <a:gd name="connsiteX7" fmla="*/ 2179320 w 2179320"/>
                    <a:gd name="connsiteY7" fmla="*/ 7620 h 1775062"/>
                    <a:gd name="connsiteX0" fmla="*/ 0 w 2179320"/>
                    <a:gd name="connsiteY0" fmla="*/ 0 h 1775062"/>
                    <a:gd name="connsiteX1" fmla="*/ 274320 w 2179320"/>
                    <a:gd name="connsiteY1" fmla="*/ 266700 h 1775062"/>
                    <a:gd name="connsiteX2" fmla="*/ 647700 w 2179320"/>
                    <a:gd name="connsiteY2" fmla="*/ 1158240 h 1775062"/>
                    <a:gd name="connsiteX3" fmla="*/ 906780 w 2179320"/>
                    <a:gd name="connsiteY3" fmla="*/ 1699260 h 1775062"/>
                    <a:gd name="connsiteX4" fmla="*/ 1287780 w 2179320"/>
                    <a:gd name="connsiteY4" fmla="*/ 1676400 h 1775062"/>
                    <a:gd name="connsiteX5" fmla="*/ 1790700 w 2179320"/>
                    <a:gd name="connsiteY5" fmla="*/ 548640 h 1775062"/>
                    <a:gd name="connsiteX6" fmla="*/ 2004060 w 2179320"/>
                    <a:gd name="connsiteY6" fmla="*/ 152400 h 1775062"/>
                    <a:gd name="connsiteX7" fmla="*/ 2179320 w 2179320"/>
                    <a:gd name="connsiteY7" fmla="*/ 7620 h 1775062"/>
                    <a:gd name="connsiteX0" fmla="*/ 0 w 2179320"/>
                    <a:gd name="connsiteY0" fmla="*/ 0 h 1793290"/>
                    <a:gd name="connsiteX1" fmla="*/ 274320 w 2179320"/>
                    <a:gd name="connsiteY1" fmla="*/ 266700 h 1793290"/>
                    <a:gd name="connsiteX2" fmla="*/ 647700 w 2179320"/>
                    <a:gd name="connsiteY2" fmla="*/ 1158240 h 1793290"/>
                    <a:gd name="connsiteX3" fmla="*/ 930338 w 2179320"/>
                    <a:gd name="connsiteY3" fmla="*/ 1699260 h 1793290"/>
                    <a:gd name="connsiteX4" fmla="*/ 1287780 w 2179320"/>
                    <a:gd name="connsiteY4" fmla="*/ 1676400 h 1793290"/>
                    <a:gd name="connsiteX5" fmla="*/ 1790700 w 2179320"/>
                    <a:gd name="connsiteY5" fmla="*/ 548640 h 1793290"/>
                    <a:gd name="connsiteX6" fmla="*/ 2004060 w 2179320"/>
                    <a:gd name="connsiteY6" fmla="*/ 152400 h 1793290"/>
                    <a:gd name="connsiteX7" fmla="*/ 2179320 w 2179320"/>
                    <a:gd name="connsiteY7" fmla="*/ 7620 h 1793290"/>
                    <a:gd name="connsiteX0" fmla="*/ 0 w 2179320"/>
                    <a:gd name="connsiteY0" fmla="*/ 0 h 1783547"/>
                    <a:gd name="connsiteX1" fmla="*/ 274320 w 2179320"/>
                    <a:gd name="connsiteY1" fmla="*/ 266700 h 1783547"/>
                    <a:gd name="connsiteX2" fmla="*/ 647700 w 2179320"/>
                    <a:gd name="connsiteY2" fmla="*/ 1158240 h 1783547"/>
                    <a:gd name="connsiteX3" fmla="*/ 930338 w 2179320"/>
                    <a:gd name="connsiteY3" fmla="*/ 1699260 h 1783547"/>
                    <a:gd name="connsiteX4" fmla="*/ 1287780 w 2179320"/>
                    <a:gd name="connsiteY4" fmla="*/ 1676400 h 1783547"/>
                    <a:gd name="connsiteX5" fmla="*/ 1790700 w 2179320"/>
                    <a:gd name="connsiteY5" fmla="*/ 548640 h 1783547"/>
                    <a:gd name="connsiteX6" fmla="*/ 2004060 w 2179320"/>
                    <a:gd name="connsiteY6" fmla="*/ 152400 h 1783547"/>
                    <a:gd name="connsiteX7" fmla="*/ 2179320 w 2179320"/>
                    <a:gd name="connsiteY7" fmla="*/ 7620 h 1783547"/>
                    <a:gd name="connsiteX0" fmla="*/ 0 w 2179320"/>
                    <a:gd name="connsiteY0" fmla="*/ 0 h 1767570"/>
                    <a:gd name="connsiteX1" fmla="*/ 274320 w 2179320"/>
                    <a:gd name="connsiteY1" fmla="*/ 266700 h 1767570"/>
                    <a:gd name="connsiteX2" fmla="*/ 647700 w 2179320"/>
                    <a:gd name="connsiteY2" fmla="*/ 1158240 h 1767570"/>
                    <a:gd name="connsiteX3" fmla="*/ 930338 w 2179320"/>
                    <a:gd name="connsiteY3" fmla="*/ 1699260 h 1767570"/>
                    <a:gd name="connsiteX4" fmla="*/ 1287780 w 2179320"/>
                    <a:gd name="connsiteY4" fmla="*/ 1676400 h 1767570"/>
                    <a:gd name="connsiteX5" fmla="*/ 1790700 w 2179320"/>
                    <a:gd name="connsiteY5" fmla="*/ 548640 h 1767570"/>
                    <a:gd name="connsiteX6" fmla="*/ 2004060 w 2179320"/>
                    <a:gd name="connsiteY6" fmla="*/ 152400 h 1767570"/>
                    <a:gd name="connsiteX7" fmla="*/ 2179320 w 2179320"/>
                    <a:gd name="connsiteY7" fmla="*/ 7620 h 1767570"/>
                    <a:gd name="connsiteX0" fmla="*/ 0 w 2179320"/>
                    <a:gd name="connsiteY0" fmla="*/ 0 h 1837308"/>
                    <a:gd name="connsiteX1" fmla="*/ 274320 w 2179320"/>
                    <a:gd name="connsiteY1" fmla="*/ 266700 h 1837308"/>
                    <a:gd name="connsiteX2" fmla="*/ 930338 w 2179320"/>
                    <a:gd name="connsiteY2" fmla="*/ 1699260 h 1837308"/>
                    <a:gd name="connsiteX3" fmla="*/ 1287780 w 2179320"/>
                    <a:gd name="connsiteY3" fmla="*/ 1676400 h 1837308"/>
                    <a:gd name="connsiteX4" fmla="*/ 1790700 w 2179320"/>
                    <a:gd name="connsiteY4" fmla="*/ 548640 h 1837308"/>
                    <a:gd name="connsiteX5" fmla="*/ 2004060 w 2179320"/>
                    <a:gd name="connsiteY5" fmla="*/ 152400 h 1837308"/>
                    <a:gd name="connsiteX6" fmla="*/ 2179320 w 2179320"/>
                    <a:gd name="connsiteY6" fmla="*/ 7620 h 1837308"/>
                    <a:gd name="connsiteX0" fmla="*/ 0 w 2179320"/>
                    <a:gd name="connsiteY0" fmla="*/ 0 h 1826499"/>
                    <a:gd name="connsiteX1" fmla="*/ 274320 w 2179320"/>
                    <a:gd name="connsiteY1" fmla="*/ 266700 h 1826499"/>
                    <a:gd name="connsiteX2" fmla="*/ 914633 w 2179320"/>
                    <a:gd name="connsiteY2" fmla="*/ 1661160 h 1826499"/>
                    <a:gd name="connsiteX3" fmla="*/ 1287780 w 2179320"/>
                    <a:gd name="connsiteY3" fmla="*/ 1676400 h 1826499"/>
                    <a:gd name="connsiteX4" fmla="*/ 1790700 w 2179320"/>
                    <a:gd name="connsiteY4" fmla="*/ 548640 h 1826499"/>
                    <a:gd name="connsiteX5" fmla="*/ 2004060 w 2179320"/>
                    <a:gd name="connsiteY5" fmla="*/ 152400 h 1826499"/>
                    <a:gd name="connsiteX6" fmla="*/ 2179320 w 2179320"/>
                    <a:gd name="connsiteY6" fmla="*/ 7620 h 1826499"/>
                    <a:gd name="connsiteX0" fmla="*/ 0 w 2179320"/>
                    <a:gd name="connsiteY0" fmla="*/ 0 h 1788644"/>
                    <a:gd name="connsiteX1" fmla="*/ 274320 w 2179320"/>
                    <a:gd name="connsiteY1" fmla="*/ 266700 h 1788644"/>
                    <a:gd name="connsiteX2" fmla="*/ 914633 w 2179320"/>
                    <a:gd name="connsiteY2" fmla="*/ 1661160 h 1788644"/>
                    <a:gd name="connsiteX3" fmla="*/ 1287780 w 2179320"/>
                    <a:gd name="connsiteY3" fmla="*/ 1676400 h 1788644"/>
                    <a:gd name="connsiteX4" fmla="*/ 1790700 w 2179320"/>
                    <a:gd name="connsiteY4" fmla="*/ 548640 h 1788644"/>
                    <a:gd name="connsiteX5" fmla="*/ 2004060 w 2179320"/>
                    <a:gd name="connsiteY5" fmla="*/ 152400 h 1788644"/>
                    <a:gd name="connsiteX6" fmla="*/ 2179320 w 2179320"/>
                    <a:gd name="connsiteY6" fmla="*/ 7620 h 1788644"/>
                    <a:gd name="connsiteX0" fmla="*/ 0 w 2179320"/>
                    <a:gd name="connsiteY0" fmla="*/ 0 h 1763817"/>
                    <a:gd name="connsiteX1" fmla="*/ 274320 w 2179320"/>
                    <a:gd name="connsiteY1" fmla="*/ 266700 h 1763817"/>
                    <a:gd name="connsiteX2" fmla="*/ 914633 w 2179320"/>
                    <a:gd name="connsiteY2" fmla="*/ 1661160 h 1763817"/>
                    <a:gd name="connsiteX3" fmla="*/ 1287780 w 2179320"/>
                    <a:gd name="connsiteY3" fmla="*/ 1676400 h 1763817"/>
                    <a:gd name="connsiteX4" fmla="*/ 1790700 w 2179320"/>
                    <a:gd name="connsiteY4" fmla="*/ 548640 h 1763817"/>
                    <a:gd name="connsiteX5" fmla="*/ 2004060 w 2179320"/>
                    <a:gd name="connsiteY5" fmla="*/ 152400 h 1763817"/>
                    <a:gd name="connsiteX6" fmla="*/ 2179320 w 2179320"/>
                    <a:gd name="connsiteY6" fmla="*/ 7620 h 1763817"/>
                    <a:gd name="connsiteX0" fmla="*/ 0 w 2179320"/>
                    <a:gd name="connsiteY0" fmla="*/ 0 h 1792278"/>
                    <a:gd name="connsiteX1" fmla="*/ 274320 w 2179320"/>
                    <a:gd name="connsiteY1" fmla="*/ 266700 h 1792278"/>
                    <a:gd name="connsiteX2" fmla="*/ 914633 w 2179320"/>
                    <a:gd name="connsiteY2" fmla="*/ 1668780 h 1792278"/>
                    <a:gd name="connsiteX3" fmla="*/ 1287780 w 2179320"/>
                    <a:gd name="connsiteY3" fmla="*/ 1676400 h 1792278"/>
                    <a:gd name="connsiteX4" fmla="*/ 1790700 w 2179320"/>
                    <a:gd name="connsiteY4" fmla="*/ 548640 h 1792278"/>
                    <a:gd name="connsiteX5" fmla="*/ 2004060 w 2179320"/>
                    <a:gd name="connsiteY5" fmla="*/ 152400 h 1792278"/>
                    <a:gd name="connsiteX6" fmla="*/ 2179320 w 2179320"/>
                    <a:gd name="connsiteY6" fmla="*/ 7620 h 1792278"/>
                    <a:gd name="connsiteX0" fmla="*/ 0 w 2179320"/>
                    <a:gd name="connsiteY0" fmla="*/ 0 h 1784985"/>
                    <a:gd name="connsiteX1" fmla="*/ 274320 w 2179320"/>
                    <a:gd name="connsiteY1" fmla="*/ 266700 h 1784985"/>
                    <a:gd name="connsiteX2" fmla="*/ 914633 w 2179320"/>
                    <a:gd name="connsiteY2" fmla="*/ 1668780 h 1784985"/>
                    <a:gd name="connsiteX3" fmla="*/ 1287780 w 2179320"/>
                    <a:gd name="connsiteY3" fmla="*/ 1676400 h 1784985"/>
                    <a:gd name="connsiteX4" fmla="*/ 1790700 w 2179320"/>
                    <a:gd name="connsiteY4" fmla="*/ 548640 h 1784985"/>
                    <a:gd name="connsiteX5" fmla="*/ 2004060 w 2179320"/>
                    <a:gd name="connsiteY5" fmla="*/ 152400 h 1784985"/>
                    <a:gd name="connsiteX6" fmla="*/ 2179320 w 2179320"/>
                    <a:gd name="connsiteY6" fmla="*/ 7620 h 1784985"/>
                    <a:gd name="connsiteX0" fmla="*/ 0 w 2179320"/>
                    <a:gd name="connsiteY0" fmla="*/ 0 h 1784985"/>
                    <a:gd name="connsiteX1" fmla="*/ 274320 w 2179320"/>
                    <a:gd name="connsiteY1" fmla="*/ 266700 h 1784985"/>
                    <a:gd name="connsiteX2" fmla="*/ 914633 w 2179320"/>
                    <a:gd name="connsiteY2" fmla="*/ 1668780 h 1784985"/>
                    <a:gd name="connsiteX3" fmla="*/ 1287780 w 2179320"/>
                    <a:gd name="connsiteY3" fmla="*/ 1676400 h 1784985"/>
                    <a:gd name="connsiteX4" fmla="*/ 1790700 w 2179320"/>
                    <a:gd name="connsiteY4" fmla="*/ 548640 h 1784985"/>
                    <a:gd name="connsiteX5" fmla="*/ 2004060 w 2179320"/>
                    <a:gd name="connsiteY5" fmla="*/ 152400 h 1784985"/>
                    <a:gd name="connsiteX6" fmla="*/ 2179320 w 2179320"/>
                    <a:gd name="connsiteY6" fmla="*/ 7620 h 1784985"/>
                    <a:gd name="connsiteX0" fmla="*/ 0 w 2179320"/>
                    <a:gd name="connsiteY0" fmla="*/ 0 h 1815312"/>
                    <a:gd name="connsiteX1" fmla="*/ 274320 w 2179320"/>
                    <a:gd name="connsiteY1" fmla="*/ 266700 h 1815312"/>
                    <a:gd name="connsiteX2" fmla="*/ 914633 w 2179320"/>
                    <a:gd name="connsiteY2" fmla="*/ 1668780 h 1815312"/>
                    <a:gd name="connsiteX3" fmla="*/ 1303485 w 2179320"/>
                    <a:gd name="connsiteY3" fmla="*/ 1645920 h 1815312"/>
                    <a:gd name="connsiteX4" fmla="*/ 1790700 w 2179320"/>
                    <a:gd name="connsiteY4" fmla="*/ 548640 h 1815312"/>
                    <a:gd name="connsiteX5" fmla="*/ 2004060 w 2179320"/>
                    <a:gd name="connsiteY5" fmla="*/ 152400 h 1815312"/>
                    <a:gd name="connsiteX6" fmla="*/ 2179320 w 2179320"/>
                    <a:gd name="connsiteY6" fmla="*/ 7620 h 1815312"/>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 name="connsiteX0" fmla="*/ 0 w 2179320"/>
                    <a:gd name="connsiteY0" fmla="*/ 0 h 1779831"/>
                    <a:gd name="connsiteX1" fmla="*/ 274320 w 2179320"/>
                    <a:gd name="connsiteY1" fmla="*/ 266700 h 1779831"/>
                    <a:gd name="connsiteX2" fmla="*/ 914633 w 2179320"/>
                    <a:gd name="connsiteY2" fmla="*/ 1668780 h 1779831"/>
                    <a:gd name="connsiteX3" fmla="*/ 1303485 w 2179320"/>
                    <a:gd name="connsiteY3" fmla="*/ 1645920 h 1779831"/>
                    <a:gd name="connsiteX4" fmla="*/ 1790700 w 2179320"/>
                    <a:gd name="connsiteY4" fmla="*/ 548640 h 1779831"/>
                    <a:gd name="connsiteX5" fmla="*/ 2004060 w 2179320"/>
                    <a:gd name="connsiteY5" fmla="*/ 152400 h 1779831"/>
                    <a:gd name="connsiteX6" fmla="*/ 2179320 w 2179320"/>
                    <a:gd name="connsiteY6" fmla="*/ 7620 h 1779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9320" h="1779831">
                      <a:moveTo>
                        <a:pt x="0" y="0"/>
                      </a:moveTo>
                      <a:cubicBezTo>
                        <a:pt x="68462" y="22543"/>
                        <a:pt x="136604" y="19527"/>
                        <a:pt x="274320" y="266700"/>
                      </a:cubicBezTo>
                      <a:cubicBezTo>
                        <a:pt x="426759" y="605790"/>
                        <a:pt x="743105" y="1438910"/>
                        <a:pt x="914633" y="1668780"/>
                      </a:cubicBezTo>
                      <a:cubicBezTo>
                        <a:pt x="1086161" y="1898650"/>
                        <a:pt x="1263483" y="1710690"/>
                        <a:pt x="1303485" y="1645920"/>
                      </a:cubicBezTo>
                      <a:cubicBezTo>
                        <a:pt x="1449496" y="1459230"/>
                        <a:pt x="1676392" y="795179"/>
                        <a:pt x="1790700" y="548640"/>
                      </a:cubicBezTo>
                      <a:cubicBezTo>
                        <a:pt x="1905008" y="302101"/>
                        <a:pt x="1939290" y="242570"/>
                        <a:pt x="2004060" y="152400"/>
                      </a:cubicBezTo>
                      <a:cubicBezTo>
                        <a:pt x="2068830" y="62230"/>
                        <a:pt x="2131695" y="15875"/>
                        <a:pt x="2179320" y="7620"/>
                      </a:cubicBezTo>
                    </a:path>
                  </a:pathLst>
                </a:custGeom>
                <a:noFill/>
                <a:ln w="19050">
                  <a:solidFill>
                    <a:srgbClr val="193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ko-KR" altLang="en-US"/>
                </a:p>
              </p:txBody>
            </p:sp>
            <p:sp>
              <p:nvSpPr>
                <p:cNvPr id="16" name="Oval 6">
                  <a:extLst>
                    <a:ext uri="{FF2B5EF4-FFF2-40B4-BE49-F238E27FC236}">
                      <a16:creationId xmlns:a16="http://schemas.microsoft.com/office/drawing/2014/main" id="{908B387B-90C3-45E8-9E4C-CF97C08A65A8}"/>
                    </a:ext>
                  </a:extLst>
                </p:cNvPr>
                <p:cNvSpPr/>
                <p:nvPr/>
              </p:nvSpPr>
              <p:spPr>
                <a:xfrm>
                  <a:off x="7611892" y="5183988"/>
                  <a:ext cx="171601" cy="171601"/>
                </a:xfrm>
                <a:prstGeom prst="ellipse">
                  <a:avLst/>
                </a:prstGeom>
                <a:solidFill>
                  <a:srgbClr val="FF0000">
                    <a:alpha val="20000"/>
                  </a:srgb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sz="1600"/>
                </a:p>
              </p:txBody>
            </p:sp>
            <p:sp>
              <p:nvSpPr>
                <p:cNvPr id="17" name="자유형 49">
                  <a:extLst>
                    <a:ext uri="{FF2B5EF4-FFF2-40B4-BE49-F238E27FC236}">
                      <a16:creationId xmlns:a16="http://schemas.microsoft.com/office/drawing/2014/main" id="{50E46E75-2592-422B-85D3-54CD470551A1}"/>
                    </a:ext>
                  </a:extLst>
                </p:cNvPr>
                <p:cNvSpPr/>
                <p:nvPr/>
              </p:nvSpPr>
              <p:spPr>
                <a:xfrm>
                  <a:off x="6613347" y="3441699"/>
                  <a:ext cx="1042587" cy="1751887"/>
                </a:xfrm>
                <a:custGeom>
                  <a:avLst/>
                  <a:gdLst>
                    <a:gd name="connsiteX0" fmla="*/ 0 w 1042587"/>
                    <a:gd name="connsiteY0" fmla="*/ 0 h 1751887"/>
                    <a:gd name="connsiteX1" fmla="*/ 521293 w 1042587"/>
                    <a:gd name="connsiteY1" fmla="*/ 0 h 1751887"/>
                    <a:gd name="connsiteX2" fmla="*/ 521293 w 1042587"/>
                    <a:gd name="connsiteY2" fmla="*/ 888762 h 1751887"/>
                    <a:gd name="connsiteX3" fmla="*/ 786213 w 1042587"/>
                    <a:gd name="connsiteY3" fmla="*/ 888762 h 1751887"/>
                    <a:gd name="connsiteX4" fmla="*/ 786213 w 1042587"/>
                    <a:gd name="connsiteY4" fmla="*/ 1504059 h 1751887"/>
                    <a:gd name="connsiteX5" fmla="*/ 914400 w 1042587"/>
                    <a:gd name="connsiteY5" fmla="*/ 1504059 h 1751887"/>
                    <a:gd name="connsiteX6" fmla="*/ 914400 w 1042587"/>
                    <a:gd name="connsiteY6" fmla="*/ 1657884 h 1751887"/>
                    <a:gd name="connsiteX7" fmla="*/ 1042587 w 1042587"/>
                    <a:gd name="connsiteY7" fmla="*/ 1751887 h 1751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587" h="1751887">
                      <a:moveTo>
                        <a:pt x="0" y="0"/>
                      </a:moveTo>
                      <a:lnTo>
                        <a:pt x="521293" y="0"/>
                      </a:lnTo>
                      <a:lnTo>
                        <a:pt x="521293" y="888762"/>
                      </a:lnTo>
                      <a:lnTo>
                        <a:pt x="786213" y="888762"/>
                      </a:lnTo>
                      <a:lnTo>
                        <a:pt x="786213" y="1504059"/>
                      </a:lnTo>
                      <a:lnTo>
                        <a:pt x="914400" y="1504059"/>
                      </a:lnTo>
                      <a:lnTo>
                        <a:pt x="914400" y="1657884"/>
                      </a:lnTo>
                      <a:lnTo>
                        <a:pt x="1042587" y="1751887"/>
                      </a:lnTo>
                    </a:path>
                  </a:pathLst>
                </a:custGeom>
                <a:ln w="12700">
                  <a:solidFill>
                    <a:srgbClr val="7F7F7F"/>
                  </a:solidFill>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scene3d>
                    <a:camera prst="orthographicFront"/>
                    <a:lightRig rig="threePt" dir="t"/>
                  </a:scene3d>
                  <a:sp3d>
                    <a:bevelT w="0" h="6350"/>
                  </a:sp3d>
                </a:bodyPr>
                <a:lstStyle/>
                <a:p>
                  <a:pPr algn="ctr"/>
                  <a:endParaRPr lang="ko-KR" altLang="en-US">
                    <a:solidFill>
                      <a:schemeClr val="tx1"/>
                    </a:solidFill>
                  </a:endParaRPr>
                </a:p>
              </p:txBody>
            </p:sp>
          </p:grpSp>
        </p:grpSp>
      </p:grpSp>
    </p:spTree>
    <p:extLst>
      <p:ext uri="{BB962C8B-B14F-4D97-AF65-F5344CB8AC3E}">
        <p14:creationId xmlns:p14="http://schemas.microsoft.com/office/powerpoint/2010/main" val="1948900269"/>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Training by gradient descent algorithm</a:t>
            </a:r>
          </a:p>
        </p:txBody>
      </p:sp>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0"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gradient function in Python</a:t>
            </a:r>
          </a:p>
        </p:txBody>
      </p:sp>
      <p:sp>
        <p:nvSpPr>
          <p:cNvPr id="27" name="모서리가 둥근 직사각형 4">
            <a:extLst>
              <a:ext uri="{FF2B5EF4-FFF2-40B4-BE49-F238E27FC236}">
                <a16:creationId xmlns:a16="http://schemas.microsoft.com/office/drawing/2014/main" id="{30BE91AC-4AD7-4B4C-ADC8-3EDBC0066C87}"/>
              </a:ext>
            </a:extLst>
          </p:cNvPr>
          <p:cNvSpPr/>
          <p:nvPr/>
        </p:nvSpPr>
        <p:spPr>
          <a:xfrm>
            <a:off x="666749" y="2119511"/>
            <a:ext cx="8677275" cy="184954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29" name="그림 28">
            <a:extLst>
              <a:ext uri="{FF2B5EF4-FFF2-40B4-BE49-F238E27FC236}">
                <a16:creationId xmlns:a16="http://schemas.microsoft.com/office/drawing/2014/main" id="{35D4BC3E-DA81-4171-AF7A-E2D2C55FE11A}"/>
              </a:ext>
            </a:extLst>
          </p:cNvPr>
          <p:cNvPicPr>
            <a:picLocks noChangeAspect="1"/>
          </p:cNvPicPr>
          <p:nvPr/>
        </p:nvPicPr>
        <p:blipFill rotWithShape="1">
          <a:blip r:embed="rId4"/>
          <a:srcRect l="1118" t="2233" r="28808" b="1"/>
          <a:stretch/>
        </p:blipFill>
        <p:spPr>
          <a:xfrm>
            <a:off x="847725" y="2233963"/>
            <a:ext cx="8496300" cy="1663089"/>
          </a:xfrm>
          <a:prstGeom prst="rect">
            <a:avLst/>
          </a:prstGeom>
          <a:ln>
            <a:noFill/>
          </a:ln>
        </p:spPr>
      </p:pic>
    </p:spTree>
    <p:extLst>
      <p:ext uri="{BB962C8B-B14F-4D97-AF65-F5344CB8AC3E}">
        <p14:creationId xmlns:p14="http://schemas.microsoft.com/office/powerpoint/2010/main" val="222857794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3.2. Logistic Regression Basics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48" name="직사각형 47">
            <a:extLst>
              <a:ext uri="{FF2B5EF4-FFF2-40B4-BE49-F238E27FC236}">
                <a16:creationId xmlns:a16="http://schemas.microsoft.com/office/drawing/2014/main" id="{F3BCABC9-828F-4702-A97B-AFC35A0E2C13}"/>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Training by gradient descent algorithm</a:t>
            </a:r>
          </a:p>
        </p:txBody>
      </p:sp>
      <p:sp>
        <p:nvSpPr>
          <p:cNvPr id="49" name="직사각형 48">
            <a:extLst>
              <a:ext uri="{FF2B5EF4-FFF2-40B4-BE49-F238E27FC236}">
                <a16:creationId xmlns:a16="http://schemas.microsoft.com/office/drawing/2014/main" id="{860C135B-D9AD-4347-BCFB-354CFB97F7B2}"/>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0"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gradient function in Python</a:t>
            </a:r>
          </a:p>
        </p:txBody>
      </p:sp>
      <p:sp>
        <p:nvSpPr>
          <p:cNvPr id="27" name="모서리가 둥근 직사각형 4">
            <a:extLst>
              <a:ext uri="{FF2B5EF4-FFF2-40B4-BE49-F238E27FC236}">
                <a16:creationId xmlns:a16="http://schemas.microsoft.com/office/drawing/2014/main" id="{30BE91AC-4AD7-4B4C-ADC8-3EDBC0066C87}"/>
              </a:ext>
            </a:extLst>
          </p:cNvPr>
          <p:cNvSpPr/>
          <p:nvPr/>
        </p:nvSpPr>
        <p:spPr>
          <a:xfrm>
            <a:off x="666749" y="2119511"/>
            <a:ext cx="8677275" cy="1849549"/>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SamsungOne 400" panose="020B0503030303020204" pitchFamily="34" charset="0"/>
            </a:endParaRPr>
          </a:p>
        </p:txBody>
      </p:sp>
      <p:pic>
        <p:nvPicPr>
          <p:cNvPr id="9" name="그림 8">
            <a:extLst>
              <a:ext uri="{FF2B5EF4-FFF2-40B4-BE49-F238E27FC236}">
                <a16:creationId xmlns:a16="http://schemas.microsoft.com/office/drawing/2014/main" id="{64B4D1B1-5917-4ED1-83A7-07698145CD9D}"/>
              </a:ext>
            </a:extLst>
          </p:cNvPr>
          <p:cNvPicPr>
            <a:picLocks noChangeAspect="1"/>
          </p:cNvPicPr>
          <p:nvPr/>
        </p:nvPicPr>
        <p:blipFill rotWithShape="1">
          <a:blip r:embed="rId4"/>
          <a:srcRect l="1052" r="26974"/>
          <a:stretch/>
        </p:blipFill>
        <p:spPr>
          <a:xfrm>
            <a:off x="847725" y="2204864"/>
            <a:ext cx="8496299" cy="1656184"/>
          </a:xfrm>
          <a:prstGeom prst="rect">
            <a:avLst/>
          </a:prstGeom>
          <a:ln>
            <a:noFill/>
          </a:ln>
        </p:spPr>
      </p:pic>
    </p:spTree>
    <p:extLst>
      <p:ext uri="{BB962C8B-B14F-4D97-AF65-F5344CB8AC3E}">
        <p14:creationId xmlns:p14="http://schemas.microsoft.com/office/powerpoint/2010/main" val="110656598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3.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9" name="직사각형 133">
            <a:extLst>
              <a:ext uri="{FF2B5EF4-FFF2-40B4-BE49-F238E27FC236}">
                <a16:creationId xmlns:a16="http://schemas.microsoft.com/office/drawing/2014/main" id="{551F01E8-8777-4A7B-AD71-63E7C805C68C}"/>
              </a:ext>
            </a:extLst>
          </p:cNvPr>
          <p:cNvSpPr/>
          <p:nvPr/>
        </p:nvSpPr>
        <p:spPr>
          <a:xfrm>
            <a:off x="989683" y="3185042"/>
            <a:ext cx="8462229" cy="9848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Application of Supervised Learning Model for Classification</a:t>
            </a:r>
            <a:endParaRPr kumimoji="1" lang="ko-KR" altLang="en-US" sz="3200" dirty="0">
              <a:solidFill>
                <a:prstClr val="black"/>
              </a:solidFill>
              <a:latin typeface="Samsung Sharp Sans" pitchFamily="2" charset="0"/>
              <a:ea typeface="맑은 고딕" panose="020B0503020000020004" pitchFamily="50" charset="-127"/>
              <a:cs typeface="Samsung Sharp Sans" pitchFamily="2" charset="0"/>
            </a:endParaRPr>
          </a:p>
        </p:txBody>
      </p:sp>
      <p:sp>
        <p:nvSpPr>
          <p:cNvPr id="10" name="직사각형 9">
            <a:extLst>
              <a:ext uri="{FF2B5EF4-FFF2-40B4-BE49-F238E27FC236}">
                <a16:creationId xmlns:a16="http://schemas.microsoft.com/office/drawing/2014/main" id="{88522452-0F25-4CFF-B4F1-4F97F94CF66D}"/>
              </a:ext>
            </a:extLst>
          </p:cNvPr>
          <p:cNvSpPr/>
          <p:nvPr/>
        </p:nvSpPr>
        <p:spPr>
          <a:xfrm>
            <a:off x="1054111" y="4365104"/>
            <a:ext cx="6633605" cy="10874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3.1. Training and Testing in Machine Learning</a:t>
            </a:r>
          </a:p>
          <a:p>
            <a:pPr marL="176213" marR="0" lvl="0" indent="-176213" fontAlgn="base">
              <a:lnSpc>
                <a:spcPct val="100000"/>
              </a:lnSpc>
              <a:spcBef>
                <a:spcPct val="0"/>
              </a:spcBef>
              <a:spcAft>
                <a:spcPts val="1000"/>
              </a:spcAft>
              <a:buClrTx/>
              <a:buSzPct val="120000"/>
              <a:buBlip>
                <a:blip r:embed="rId3"/>
              </a:buBlip>
              <a:tabLst/>
              <a:defRPr/>
            </a:pPr>
            <a:r>
              <a:rPr lang="en-US" altLang="ko-KR" dirty="0">
                <a:solidFill>
                  <a:srgbClr val="A6A6A6"/>
                </a:solidFill>
                <a:latin typeface="SamsungOne 400" panose="020B0503030303020204" pitchFamily="34" charset="0"/>
                <a:ea typeface="SamsungOne 400" panose="020B0503030303020204" pitchFamily="34" charset="0"/>
              </a:rPr>
              <a:t>3.2. Logistic Regression Basics</a:t>
            </a: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3.3. Logistic Regression Performance Metrics</a:t>
            </a:r>
          </a:p>
        </p:txBody>
      </p:sp>
    </p:spTree>
    <p:extLst>
      <p:ext uri="{BB962C8B-B14F-4D97-AF65-F5344CB8AC3E}">
        <p14:creationId xmlns:p14="http://schemas.microsoft.com/office/powerpoint/2010/main" val="37056085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00" name="직사각형 199">
            <a:extLst>
              <a:ext uri="{FF2B5EF4-FFF2-40B4-BE49-F238E27FC236}">
                <a16:creationId xmlns:a16="http://schemas.microsoft.com/office/drawing/2014/main" id="{8E9EA99B-42E4-4A62-8B86-BB493DC82C6E}"/>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Logistic Regression Performance Metrics </a:t>
            </a:r>
          </a:p>
        </p:txBody>
      </p:sp>
      <p:sp>
        <p:nvSpPr>
          <p:cNvPr id="201" name="직사각형 200">
            <a:extLst>
              <a:ext uri="{FF2B5EF4-FFF2-40B4-BE49-F238E27FC236}">
                <a16:creationId xmlns:a16="http://schemas.microsoft.com/office/drawing/2014/main" id="{3CD0AB16-3EF9-4C9B-A61D-A2E6C6D47ECB}"/>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Confusion matrix</a:t>
            </a:r>
          </a:p>
        </p:txBody>
      </p:sp>
      <p:sp>
        <p:nvSpPr>
          <p:cNvPr id="202" name="직사각형 201">
            <a:extLst>
              <a:ext uri="{FF2B5EF4-FFF2-40B4-BE49-F238E27FC236}">
                <a16:creationId xmlns:a16="http://schemas.microsoft.com/office/drawing/2014/main" id="{65B90D46-5108-4837-AF02-A42A5EEB48B3}"/>
              </a:ext>
            </a:extLst>
          </p:cNvPr>
          <p:cNvSpPr/>
          <p:nvPr/>
        </p:nvSpPr>
        <p:spPr>
          <a:xfrm>
            <a:off x="672080" y="2204864"/>
            <a:ext cx="8632825" cy="1048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the classification machine learning method, the most common method for evaluating the analysis model’s result is the metric calculation, including classification accuracy, using a confusion matrix.</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confusion matrix refers to the matrix that makes a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crosstable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of the predicted classification category from the analysis model and the actual classified category of data.</a:t>
            </a:r>
          </a:p>
        </p:txBody>
      </p:sp>
    </p:spTree>
    <p:extLst>
      <p:ext uri="{BB962C8B-B14F-4D97-AF65-F5344CB8AC3E}">
        <p14:creationId xmlns:p14="http://schemas.microsoft.com/office/powerpoint/2010/main" val="33204079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Confusion matrix</a:t>
            </a:r>
          </a:p>
        </p:txBody>
      </p:sp>
      <p:graphicFrame>
        <p:nvGraphicFramePr>
          <p:cNvPr id="9" name="Table 12">
            <a:extLst>
              <a:ext uri="{FF2B5EF4-FFF2-40B4-BE49-F238E27FC236}">
                <a16:creationId xmlns:a16="http://schemas.microsoft.com/office/drawing/2014/main" id="{60388258-1E67-4137-8A38-C443843AC44F}"/>
              </a:ext>
            </a:extLst>
          </p:cNvPr>
          <p:cNvGraphicFramePr>
            <a:graphicFrameLocks noGrp="1"/>
          </p:cNvGraphicFramePr>
          <p:nvPr>
            <p:extLst>
              <p:ext uri="{D42A27DB-BD31-4B8C-83A1-F6EECF244321}">
                <p14:modId xmlns:p14="http://schemas.microsoft.com/office/powerpoint/2010/main" val="502143179"/>
              </p:ext>
            </p:extLst>
          </p:nvPr>
        </p:nvGraphicFramePr>
        <p:xfrm>
          <a:off x="2647156" y="2175301"/>
          <a:ext cx="4608512" cy="1728191"/>
        </p:xfrm>
        <a:graphic>
          <a:graphicData uri="http://schemas.openxmlformats.org/drawingml/2006/table">
            <a:tbl>
              <a:tblPr firstRow="1" bandRow="1">
                <a:tableStyleId>{5940675A-B579-460E-94D1-54222C63F5DA}</a:tableStyleId>
              </a:tblPr>
              <a:tblGrid>
                <a:gridCol w="1139306">
                  <a:extLst>
                    <a:ext uri="{9D8B030D-6E8A-4147-A177-3AD203B41FA5}">
                      <a16:colId xmlns:a16="http://schemas.microsoft.com/office/drawing/2014/main" val="20000"/>
                    </a:ext>
                  </a:extLst>
                </a:gridCol>
                <a:gridCol w="1734603">
                  <a:extLst>
                    <a:ext uri="{9D8B030D-6E8A-4147-A177-3AD203B41FA5}">
                      <a16:colId xmlns:a16="http://schemas.microsoft.com/office/drawing/2014/main" val="20001"/>
                    </a:ext>
                  </a:extLst>
                </a:gridCol>
                <a:gridCol w="1734603">
                  <a:extLst>
                    <a:ext uri="{9D8B030D-6E8A-4147-A177-3AD203B41FA5}">
                      <a16:colId xmlns:a16="http://schemas.microsoft.com/office/drawing/2014/main" val="20002"/>
                    </a:ext>
                  </a:extLst>
                </a:gridCol>
              </a:tblGrid>
              <a:tr h="501867">
                <a:tc>
                  <a:txBody>
                    <a:bodyPr/>
                    <a:lstStyle/>
                    <a:p>
                      <a:pPr algn="ctr"/>
                      <a:endParaRPr lang="en-US" sz="1400" b="1"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marL="72000" marR="7200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D9D9"/>
                    </a:solidFill>
                  </a:tcPr>
                </a:tc>
                <a:tc>
                  <a:txBody>
                    <a:bodyPr/>
                    <a:lstStyle/>
                    <a:p>
                      <a:pPr algn="ctr"/>
                      <a:r>
                        <a:rPr lang="en-US" sz="1400" b="1" kern="1200" dirty="0">
                          <a:solidFill>
                            <a:schemeClr val="tx1"/>
                          </a:solidFill>
                          <a:latin typeface="SamsungOne 700" panose="020B0803030303020204" pitchFamily="34" charset="0"/>
                          <a:ea typeface="SamsungOne 700" panose="020B0803030303020204" pitchFamily="34" charset="0"/>
                          <a:cs typeface="Times New Roman" panose="02020603050405020304" pitchFamily="18" charset="0"/>
                        </a:rPr>
                        <a:t>Y</a:t>
                      </a:r>
                    </a:p>
                  </a:txBody>
                  <a:tcPr marL="72000" marR="7200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D9D9"/>
                    </a:solidFill>
                  </a:tcPr>
                </a:tc>
                <a:tc>
                  <a:txBody>
                    <a:bodyPr/>
                    <a:lstStyle/>
                    <a:p>
                      <a:pPr algn="ctr"/>
                      <a:r>
                        <a:rPr lang="en-US" sz="1400" b="1" kern="1200" dirty="0">
                          <a:solidFill>
                            <a:schemeClr val="tx1"/>
                          </a:solidFill>
                          <a:latin typeface="SamsungOne 700" panose="020B0803030303020204" pitchFamily="34" charset="0"/>
                          <a:ea typeface="SamsungOne 700" panose="020B0803030303020204" pitchFamily="34" charset="0"/>
                          <a:cs typeface="Times New Roman" panose="02020603050405020304" pitchFamily="18" charset="0"/>
                        </a:rPr>
                        <a:t>N</a:t>
                      </a:r>
                    </a:p>
                  </a:txBody>
                  <a:tcPr marL="72000" marR="72000" marT="0" marB="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613162">
                <a:tc>
                  <a:txBody>
                    <a:bodyPr/>
                    <a:lstStyle/>
                    <a:p>
                      <a:pPr algn="ctr" rtl="0" fontAlgn="t">
                        <a:spcBef>
                          <a:spcPts val="0"/>
                        </a:spcBef>
                        <a:spcAft>
                          <a:spcPts val="0"/>
                        </a:spcAft>
                      </a:pPr>
                      <a:r>
                        <a:rPr lang="en-US" altLang="ko-KR" sz="1300" b="1" i="0" u="none" strike="noStrike" dirty="0">
                          <a:solidFill>
                            <a:srgbClr val="000000"/>
                          </a:solidFill>
                          <a:effectLst/>
                          <a:latin typeface="SamsungOne 400" panose="020B0503030303020204" pitchFamily="34" charset="0"/>
                        </a:rPr>
                        <a:t>Y</a:t>
                      </a:r>
                      <a:endParaRPr lang="ko-KR" altLang="en-US" sz="1300" b="1" dirty="0">
                        <a:effectLst/>
                        <a:latin typeface="SamsungOne 400" panose="020B0503030303020204" pitchFamily="34" charset="0"/>
                      </a:endParaRPr>
                    </a:p>
                  </a:txBody>
                  <a:tcPr marL="63500" marR="63500" marT="12700" marB="127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D9D9"/>
                    </a:solidFill>
                  </a:tcPr>
                </a:tc>
                <a:tc>
                  <a:txBody>
                    <a:bodyPr/>
                    <a:lstStyle/>
                    <a:p>
                      <a:pPr algn="ctr" rtl="0" fontAlgn="t">
                        <a:spcBef>
                          <a:spcPts val="0"/>
                        </a:spcBef>
                        <a:spcAft>
                          <a:spcPts val="0"/>
                        </a:spcAft>
                      </a:pPr>
                      <a:r>
                        <a:rPr lang="en-US" altLang="ko-KR" sz="1300" b="1" i="0" u="none" strike="noStrike" dirty="0">
                          <a:solidFill>
                            <a:srgbClr val="1429A0"/>
                          </a:solidFill>
                          <a:effectLst/>
                          <a:latin typeface="SamsungOne 400" panose="020B0503030303020204" pitchFamily="34" charset="0"/>
                        </a:rPr>
                        <a:t>O</a:t>
                      </a:r>
                    </a:p>
                    <a:p>
                      <a:pPr algn="ctr" rtl="0" fontAlgn="t">
                        <a:spcBef>
                          <a:spcPts val="0"/>
                        </a:spcBef>
                        <a:spcAft>
                          <a:spcPts val="0"/>
                        </a:spcAft>
                      </a:pPr>
                      <a:r>
                        <a:rPr lang="en-US" altLang="ko-KR" sz="1300" b="1" i="0" u="none" strike="noStrike" dirty="0">
                          <a:solidFill>
                            <a:srgbClr val="1429A0"/>
                          </a:solidFill>
                          <a:effectLst/>
                          <a:latin typeface="SamsungOne 400" panose="020B0503030303020204" pitchFamily="34" charset="0"/>
                        </a:rPr>
                        <a:t>(TP: True Positive)</a:t>
                      </a:r>
                      <a:endParaRPr lang="ko-KR" altLang="en-US" sz="1300" b="1" dirty="0">
                        <a:solidFill>
                          <a:srgbClr val="1429A0"/>
                        </a:solidFill>
                        <a:effectLst/>
                        <a:latin typeface="SamsungOne 400" panose="020B0503030303020204" pitchFamily="34" charset="0"/>
                      </a:endParaRPr>
                    </a:p>
                  </a:txBody>
                  <a:tcPr marL="63500" marR="63500" marT="12700" marB="127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rtl="0" fontAlgn="t">
                        <a:spcBef>
                          <a:spcPts val="0"/>
                        </a:spcBef>
                        <a:spcAft>
                          <a:spcPts val="0"/>
                        </a:spcAft>
                      </a:pPr>
                      <a:r>
                        <a:rPr lang="en-US" altLang="ko-KR" sz="1300" b="1" dirty="0">
                          <a:solidFill>
                            <a:srgbClr val="C00000"/>
                          </a:solidFill>
                          <a:effectLst/>
                          <a:latin typeface="SamsungOne 400" panose="020B0503030303020204" pitchFamily="34" charset="0"/>
                        </a:rPr>
                        <a:t>X</a:t>
                      </a:r>
                    </a:p>
                    <a:p>
                      <a:pPr algn="ctr" rtl="0" fontAlgn="t">
                        <a:spcBef>
                          <a:spcPts val="0"/>
                        </a:spcBef>
                        <a:spcAft>
                          <a:spcPts val="0"/>
                        </a:spcAft>
                      </a:pPr>
                      <a:r>
                        <a:rPr lang="en-US" altLang="ko-KR" sz="1300" b="1" dirty="0">
                          <a:solidFill>
                            <a:srgbClr val="C00000"/>
                          </a:solidFill>
                          <a:effectLst/>
                          <a:latin typeface="SamsungOne 400" panose="020B0503030303020204" pitchFamily="34" charset="0"/>
                        </a:rPr>
                        <a:t>(FN: False Negative)</a:t>
                      </a:r>
                      <a:endParaRPr lang="ko-KR" altLang="en-US" sz="1300" b="1" dirty="0">
                        <a:solidFill>
                          <a:srgbClr val="C00000"/>
                        </a:solidFill>
                        <a:effectLst/>
                        <a:latin typeface="SamsungOne 400" panose="020B0503030303020204" pitchFamily="34" charset="0"/>
                      </a:endParaRPr>
                    </a:p>
                  </a:txBody>
                  <a:tcPr marL="63500" marR="63500" marT="12700" marB="127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613162">
                <a:tc>
                  <a:txBody>
                    <a:bodyPr/>
                    <a:lstStyle/>
                    <a:p>
                      <a:pPr algn="ctr" rtl="0" fontAlgn="t">
                        <a:spcBef>
                          <a:spcPts val="0"/>
                        </a:spcBef>
                        <a:spcAft>
                          <a:spcPts val="0"/>
                        </a:spcAft>
                      </a:pPr>
                      <a:r>
                        <a:rPr lang="en-US" altLang="ko-KR" sz="1300" b="1" i="0" u="none" strike="noStrike" dirty="0">
                          <a:solidFill>
                            <a:srgbClr val="000000"/>
                          </a:solidFill>
                          <a:effectLst/>
                          <a:latin typeface="SamsungOne 400" panose="020B0503030303020204" pitchFamily="34" charset="0"/>
                          <a:ea typeface="SamsungOne 400" panose="020B0503030303020204" pitchFamily="34" charset="0"/>
                        </a:rPr>
                        <a:t>N</a:t>
                      </a:r>
                      <a:endParaRPr lang="ko-KR" altLang="en-US" sz="1300" b="1" dirty="0">
                        <a:effectLst/>
                        <a:latin typeface="SamsungOne 400" panose="020B0503030303020204" pitchFamily="34" charset="0"/>
                      </a:endParaRPr>
                    </a:p>
                  </a:txBody>
                  <a:tcPr marL="63500" marR="63500" marT="12700" marB="127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D9D9D9"/>
                    </a:solidFill>
                  </a:tcPr>
                </a:tc>
                <a:tc>
                  <a:txBody>
                    <a:bodyPr/>
                    <a:lstStyle/>
                    <a:p>
                      <a:pPr algn="ctr" rtl="0" fontAlgn="t">
                        <a:spcBef>
                          <a:spcPts val="0"/>
                        </a:spcBef>
                        <a:spcAft>
                          <a:spcPts val="0"/>
                        </a:spcAft>
                      </a:pPr>
                      <a:r>
                        <a:rPr lang="en-US" altLang="ko-KR" sz="1300" b="1" i="0" u="none" strike="noStrike" dirty="0">
                          <a:solidFill>
                            <a:srgbClr val="C00000"/>
                          </a:solidFill>
                          <a:effectLst/>
                          <a:latin typeface="SamsungOne 400" panose="020B0503030303020204" pitchFamily="34" charset="0"/>
                        </a:rPr>
                        <a:t>X</a:t>
                      </a:r>
                    </a:p>
                    <a:p>
                      <a:pPr algn="ctr" rtl="0" fontAlgn="t">
                        <a:spcBef>
                          <a:spcPts val="0"/>
                        </a:spcBef>
                        <a:spcAft>
                          <a:spcPts val="0"/>
                        </a:spcAft>
                      </a:pPr>
                      <a:r>
                        <a:rPr lang="en-US" altLang="ko-KR" sz="1300" b="1" i="0" u="none" strike="noStrike" dirty="0">
                          <a:solidFill>
                            <a:srgbClr val="C00000"/>
                          </a:solidFill>
                          <a:effectLst/>
                          <a:latin typeface="SamsungOne 400" panose="020B0503030303020204" pitchFamily="34" charset="0"/>
                        </a:rPr>
                        <a:t>(FP: False Positive)</a:t>
                      </a:r>
                      <a:endParaRPr lang="ko-KR" altLang="en-US" sz="1300" b="1" dirty="0">
                        <a:solidFill>
                          <a:srgbClr val="C00000"/>
                        </a:solidFill>
                        <a:effectLst/>
                        <a:latin typeface="SamsungOne 400" panose="020B0503030303020204" pitchFamily="34" charset="0"/>
                      </a:endParaRPr>
                    </a:p>
                  </a:txBody>
                  <a:tcPr marL="63500" marR="63500" marT="12700" marB="127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rtl="0" fontAlgn="t">
                        <a:spcBef>
                          <a:spcPts val="0"/>
                        </a:spcBef>
                        <a:spcAft>
                          <a:spcPts val="0"/>
                        </a:spcAft>
                      </a:pPr>
                      <a:r>
                        <a:rPr lang="en-US" altLang="ko-KR" sz="1300" b="1" dirty="0">
                          <a:solidFill>
                            <a:srgbClr val="1429A0"/>
                          </a:solidFill>
                          <a:effectLst/>
                          <a:latin typeface="SamsungOne 400" panose="020B0503030303020204" pitchFamily="34" charset="0"/>
                        </a:rPr>
                        <a:t>O</a:t>
                      </a:r>
                    </a:p>
                    <a:p>
                      <a:pPr algn="ctr" rtl="0" fontAlgn="t">
                        <a:spcBef>
                          <a:spcPts val="0"/>
                        </a:spcBef>
                        <a:spcAft>
                          <a:spcPts val="0"/>
                        </a:spcAft>
                      </a:pPr>
                      <a:r>
                        <a:rPr lang="en-US" altLang="ko-KR" sz="1300" b="1" dirty="0">
                          <a:solidFill>
                            <a:srgbClr val="1429A0"/>
                          </a:solidFill>
                          <a:effectLst/>
                          <a:latin typeface="SamsungOne 400" panose="020B0503030303020204" pitchFamily="34" charset="0"/>
                        </a:rPr>
                        <a:t>(TN: True Negative)</a:t>
                      </a:r>
                      <a:endParaRPr lang="ko-KR" altLang="en-US" sz="1300" b="1" dirty="0">
                        <a:solidFill>
                          <a:srgbClr val="1429A0"/>
                        </a:solidFill>
                        <a:effectLst/>
                        <a:latin typeface="SamsungOne 400" panose="020B0503030303020204" pitchFamily="34" charset="0"/>
                      </a:endParaRPr>
                    </a:p>
                  </a:txBody>
                  <a:tcPr marL="63500" marR="63500" marT="12700" marB="127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TextBox 9">
            <a:extLst>
              <a:ext uri="{FF2B5EF4-FFF2-40B4-BE49-F238E27FC236}">
                <a16:creationId xmlns:a16="http://schemas.microsoft.com/office/drawing/2014/main" id="{0D673CBC-7470-4387-BD16-5489D0F84997}"/>
              </a:ext>
            </a:extLst>
          </p:cNvPr>
          <p:cNvSpPr txBox="1"/>
          <p:nvPr/>
        </p:nvSpPr>
        <p:spPr>
          <a:xfrm>
            <a:off x="4390201" y="1759602"/>
            <a:ext cx="2146485" cy="307777"/>
          </a:xfrm>
          <a:prstGeom prst="rect">
            <a:avLst/>
          </a:prstGeom>
          <a:noFill/>
        </p:spPr>
        <p:txBody>
          <a:bodyPr wrap="none" rtlCol="0">
            <a:spAutoFit/>
          </a:bodyPr>
          <a:lstStyle/>
          <a:p>
            <a:r>
              <a:rPr lang="en-US" altLang="ko-KR" sz="1400" dirty="0">
                <a:latin typeface="SamsungOne 400" panose="020B0503030303020204" pitchFamily="34" charset="0"/>
              </a:rPr>
              <a:t>Predicted categorical value</a:t>
            </a:r>
            <a:endParaRPr lang="en-US" sz="1400" dirty="0">
              <a:latin typeface="SamsungOne 400" panose="020B0503030303020204" pitchFamily="34" charset="0"/>
              <a:ea typeface="SamsungOne 400" panose="020B0503030303020204" pitchFamily="34" charset="0"/>
            </a:endParaRPr>
          </a:p>
        </p:txBody>
      </p:sp>
      <p:sp>
        <p:nvSpPr>
          <p:cNvPr id="11" name="TextBox 10">
            <a:extLst>
              <a:ext uri="{FF2B5EF4-FFF2-40B4-BE49-F238E27FC236}">
                <a16:creationId xmlns:a16="http://schemas.microsoft.com/office/drawing/2014/main" id="{AF608307-B46E-44D2-84AF-E8C84E2D7635}"/>
              </a:ext>
            </a:extLst>
          </p:cNvPr>
          <p:cNvSpPr txBox="1"/>
          <p:nvPr/>
        </p:nvSpPr>
        <p:spPr>
          <a:xfrm>
            <a:off x="1134988" y="3027040"/>
            <a:ext cx="1408591" cy="523220"/>
          </a:xfrm>
          <a:prstGeom prst="rect">
            <a:avLst/>
          </a:prstGeom>
          <a:noFill/>
        </p:spPr>
        <p:txBody>
          <a:bodyPr wrap="none" rtlCol="0">
            <a:spAutoFit/>
          </a:bodyPr>
          <a:lstStyle/>
          <a:p>
            <a:pPr algn="ctr"/>
            <a:r>
              <a:rPr lang="en-US" sz="1400" dirty="0">
                <a:latin typeface="SamsungOne 400" panose="020B0503030303020204" pitchFamily="34" charset="0"/>
                <a:ea typeface="SamsungOne 400" panose="020B0503030303020204" pitchFamily="34" charset="0"/>
              </a:rPr>
              <a:t>Actual </a:t>
            </a:r>
          </a:p>
          <a:p>
            <a:pPr algn="ctr"/>
            <a:r>
              <a:rPr lang="en-US" sz="1400" dirty="0">
                <a:latin typeface="SamsungOne 400" panose="020B0503030303020204" pitchFamily="34" charset="0"/>
                <a:ea typeface="SamsungOne 400" panose="020B0503030303020204" pitchFamily="34" charset="0"/>
              </a:rPr>
              <a:t>categorical value</a:t>
            </a:r>
          </a:p>
        </p:txBody>
      </p:sp>
    </p:spTree>
    <p:extLst>
      <p:ext uri="{BB962C8B-B14F-4D97-AF65-F5344CB8AC3E}">
        <p14:creationId xmlns:p14="http://schemas.microsoft.com/office/powerpoint/2010/main" val="182290264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Confusion matrix</a:t>
            </a:r>
          </a:p>
        </p:txBody>
      </p:sp>
      <p:sp>
        <p:nvSpPr>
          <p:cNvPr id="12" name="직사각형 11">
            <a:extLst>
              <a:ext uri="{FF2B5EF4-FFF2-40B4-BE49-F238E27FC236}">
                <a16:creationId xmlns:a16="http://schemas.microsoft.com/office/drawing/2014/main" id="{95CBAE36-403A-4445-970F-AC5B21DE93A8}"/>
              </a:ext>
            </a:extLst>
          </p:cNvPr>
          <p:cNvSpPr/>
          <p:nvPr/>
        </p:nvSpPr>
        <p:spPr>
          <a:xfrm>
            <a:off x="671261" y="1700808"/>
            <a:ext cx="8632825" cy="3459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Confusion matrix can be made with a 2X2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crosstable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along with 3X3 and higher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crosstables</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For convenience, we will only use a 2X2 confusion matrix in this chapter.</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the confusion matrix from the previous slide, the diagonally placed ‘O’ cases means the predicted and actual categorical values are the same. In other words, the classification machine learning predicted the results properly.</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On the other hand, if the predicted and actual categorical values differ, the machine learning model has made incorrect predictions.</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categories that the analysis is mostly interested in are positive categories; the others are called negative categories.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Depending on the accuracy of prediction (true or false) regarding positive and negative categories, the accurate classification of interested categories is called </a:t>
            </a:r>
            <a:r>
              <a:rPr lang="en-US" altLang="ko-KR" sz="1300" b="1" dirty="0">
                <a:solidFill>
                  <a:schemeClr val="tx1">
                    <a:lumMod val="85000"/>
                    <a:lumOff val="15000"/>
                  </a:schemeClr>
                </a:solidFill>
                <a:latin typeface="SamsungOne 400" panose="020B0503030303020204" pitchFamily="34" charset="0"/>
                <a:ea typeface="SamsungOne 400" panose="020B0503030303020204" pitchFamily="34" charset="0"/>
              </a:rPr>
              <a:t>TP (True Positive)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The accurate classification of uninterested categories is called </a:t>
            </a:r>
            <a:r>
              <a:rPr lang="en-US" altLang="ko-KR" sz="1300" b="1" dirty="0">
                <a:solidFill>
                  <a:schemeClr val="tx1">
                    <a:lumMod val="85000"/>
                    <a:lumOff val="15000"/>
                  </a:schemeClr>
                </a:solidFill>
                <a:latin typeface="SamsungOne 400" panose="020B0503030303020204" pitchFamily="34" charset="0"/>
                <a:ea typeface="SamsungOne 400" panose="020B0503030303020204" pitchFamily="34" charset="0"/>
              </a:rPr>
              <a:t>TN (True Negative)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inaccurate classification of uninterested categories into interested categories is called </a:t>
            </a:r>
            <a:r>
              <a:rPr lang="en-US" altLang="ko-KR" sz="1300" b="1" dirty="0">
                <a:solidFill>
                  <a:schemeClr val="tx1">
                    <a:lumMod val="85000"/>
                    <a:lumOff val="15000"/>
                  </a:schemeClr>
                </a:solidFill>
                <a:latin typeface="SamsungOne 400" panose="020B0503030303020204" pitchFamily="34" charset="0"/>
                <a:ea typeface="SamsungOne 400" panose="020B0503030303020204" pitchFamily="34" charset="0"/>
              </a:rPr>
              <a:t>FP (False Positive)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The inaccurate classification of interested categories into uninterested categories is called </a:t>
            </a:r>
            <a:r>
              <a:rPr lang="en-US" altLang="ko-KR" sz="1300" b="1" dirty="0">
                <a:solidFill>
                  <a:schemeClr val="tx1">
                    <a:lumMod val="85000"/>
                    <a:lumOff val="15000"/>
                  </a:schemeClr>
                </a:solidFill>
                <a:latin typeface="SamsungOne 400" panose="020B0503030303020204" pitchFamily="34" charset="0"/>
                <a:ea typeface="SamsungOne 400" panose="020B0503030303020204" pitchFamily="34" charset="0"/>
              </a:rPr>
              <a:t>FN (False Negative)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There are various metrics based on different combinations of TP, TN, FP, and FN of the confusion matrix</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for evaluating the analysis result of classification machine learning methods.</a:t>
            </a:r>
          </a:p>
        </p:txBody>
      </p:sp>
    </p:spTree>
    <p:extLst>
      <p:ext uri="{BB962C8B-B14F-4D97-AF65-F5344CB8AC3E}">
        <p14:creationId xmlns:p14="http://schemas.microsoft.com/office/powerpoint/2010/main" val="188643225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Metric</a:t>
            </a:r>
          </a:p>
        </p:txBody>
      </p:sp>
      <p:sp>
        <p:nvSpPr>
          <p:cNvPr id="12" name="직사각형 11">
            <a:extLst>
              <a:ext uri="{FF2B5EF4-FFF2-40B4-BE49-F238E27FC236}">
                <a16:creationId xmlns:a16="http://schemas.microsoft.com/office/drawing/2014/main" id="{95CBAE36-403A-4445-970F-AC5B21DE93A8}"/>
              </a:ext>
            </a:extLst>
          </p:cNvPr>
          <p:cNvSpPr/>
          <p:nvPr/>
        </p:nvSpPr>
        <p:spPr>
          <a:xfrm>
            <a:off x="671261" y="1700808"/>
            <a:ext cx="8632825" cy="14483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Major metrics calculated from the confusion matrix include accuracy, error rate = 1-accuracy,</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sensitivity (also referred to as recall, hit ratio, TP rate, etc.), specificity, FP rate, precision, and others. Among those, accuracy, sensitivity, and precision are the most frequently used metrics.</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Also, there are F-Measure (or F1-Score) that combines sensitivity, precision, and Kappa Statistics, where the predicted and actual values of the analysis model are exactly the same. The calculation formulas and definitions of various metrics are in the following table.</a:t>
            </a:r>
          </a:p>
        </p:txBody>
      </p:sp>
    </p:spTree>
    <p:extLst>
      <p:ext uri="{BB962C8B-B14F-4D97-AF65-F5344CB8AC3E}">
        <p14:creationId xmlns:p14="http://schemas.microsoft.com/office/powerpoint/2010/main" val="101977233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Metric</a:t>
            </a:r>
          </a:p>
        </p:txBody>
      </p:sp>
      <mc:AlternateContent xmlns:mc="http://schemas.openxmlformats.org/markup-compatibility/2006" xmlns:a14="http://schemas.microsoft.com/office/drawing/2010/main">
        <mc:Choice Requires="a14">
          <p:graphicFrame>
            <p:nvGraphicFramePr>
              <p:cNvPr id="7" name="표 6">
                <a:extLst>
                  <a:ext uri="{FF2B5EF4-FFF2-40B4-BE49-F238E27FC236}">
                    <a16:creationId xmlns:a16="http://schemas.microsoft.com/office/drawing/2014/main" id="{CB7EF692-DAB1-497E-A1AB-C43671AC33A9}"/>
                  </a:ext>
                </a:extLst>
              </p:cNvPr>
              <p:cNvGraphicFramePr>
                <a:graphicFrameLocks noGrp="1"/>
              </p:cNvGraphicFramePr>
              <p:nvPr>
                <p:extLst>
                  <p:ext uri="{D42A27DB-BD31-4B8C-83A1-F6EECF244321}">
                    <p14:modId xmlns:p14="http://schemas.microsoft.com/office/powerpoint/2010/main" val="3661014637"/>
                  </p:ext>
                </p:extLst>
              </p:nvPr>
            </p:nvGraphicFramePr>
            <p:xfrm>
              <a:off x="666751" y="1773238"/>
              <a:ext cx="8677274" cy="4353886"/>
            </p:xfrm>
            <a:graphic>
              <a:graphicData uri="http://schemas.openxmlformats.org/drawingml/2006/table">
                <a:tbl>
                  <a:tblPr firstRow="1" bandRow="1">
                    <a:tableStyleId>{5940675A-B579-460E-94D1-54222C63F5DA}</a:tableStyleId>
                  </a:tblPr>
                  <a:tblGrid>
                    <a:gridCol w="1600115">
                      <a:extLst>
                        <a:ext uri="{9D8B030D-6E8A-4147-A177-3AD203B41FA5}">
                          <a16:colId xmlns:a16="http://schemas.microsoft.com/office/drawing/2014/main" val="2044997058"/>
                        </a:ext>
                      </a:extLst>
                    </a:gridCol>
                    <a:gridCol w="2017701">
                      <a:extLst>
                        <a:ext uri="{9D8B030D-6E8A-4147-A177-3AD203B41FA5}">
                          <a16:colId xmlns:a16="http://schemas.microsoft.com/office/drawing/2014/main" val="490996645"/>
                        </a:ext>
                      </a:extLst>
                    </a:gridCol>
                    <a:gridCol w="5059458">
                      <a:extLst>
                        <a:ext uri="{9D8B030D-6E8A-4147-A177-3AD203B41FA5}">
                          <a16:colId xmlns:a16="http://schemas.microsoft.com/office/drawing/2014/main" val="20002"/>
                        </a:ext>
                      </a:extLst>
                    </a:gridCol>
                  </a:tblGrid>
                  <a:tr h="304030">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solidFill>
                                <a:srgbClr val="1429A0"/>
                              </a:solidFill>
                              <a:latin typeface="SamsungOne 400" panose="020B0503030303020204" pitchFamily="34" charset="0"/>
                              <a:ea typeface="SamsungOne 700" panose="020B0803030303020204" pitchFamily="34" charset="0"/>
                              <a:cs typeface="Times New Roman" panose="02020603050405020304" pitchFamily="18" charset="0"/>
                            </a:rPr>
                            <a:t>Metric</a:t>
                          </a:r>
                          <a:endParaRPr lang="ko-KR" altLang="en-US" sz="1400" b="0" kern="1200" dirty="0">
                            <a:solidFill>
                              <a:srgbClr val="1429A0"/>
                            </a:solidFill>
                            <a:latin typeface="SamsungOne 400" panose="020B0503030303020204" pitchFamily="34" charset="0"/>
                            <a:ea typeface="SamsungOne 700" panose="020B0803030303020204" pitchFamily="34" charset="0"/>
                            <a:cs typeface="Times New Roman" panose="02020603050405020304" pitchFamily="18" charset="0"/>
                          </a:endParaRPr>
                        </a:p>
                      </a:txBody>
                      <a:tcP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solidFill>
                                <a:srgbClr val="1429A0"/>
                              </a:solidFill>
                              <a:latin typeface="SamsungOne 400" panose="020B0503030303020204" pitchFamily="34" charset="0"/>
                              <a:ea typeface="SamsungOne 700" panose="020B0803030303020204" pitchFamily="34" charset="0"/>
                              <a:cs typeface="Times New Roman" panose="02020603050405020304" pitchFamily="18" charset="0"/>
                            </a:rPr>
                            <a:t>Calculation Formula</a:t>
                          </a:r>
                          <a:endParaRPr lang="ko-KR" altLang="en-US" sz="1400" b="0" kern="1200" dirty="0">
                            <a:solidFill>
                              <a:srgbClr val="1429A0"/>
                            </a:solidFill>
                            <a:latin typeface="SamsungOne 400" panose="020B0503030303020204" pitchFamily="34" charset="0"/>
                            <a:ea typeface="SamsungOne 700" panose="020B0803030303020204" pitchFamily="34" charset="0"/>
                            <a:cs typeface="Times New Roman" panose="02020603050405020304" pitchFamily="18" charset="0"/>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solidFill>
                                <a:srgbClr val="1429A0"/>
                              </a:solidFill>
                              <a:latin typeface="SamsungOne 400" panose="020B0503030303020204" pitchFamily="34" charset="0"/>
                              <a:ea typeface="SamsungOne 700" panose="020B0803030303020204" pitchFamily="34" charset="0"/>
                              <a:cs typeface="Times New Roman" panose="02020603050405020304" pitchFamily="18" charset="0"/>
                            </a:rPr>
                            <a:t>Definition</a:t>
                          </a:r>
                          <a:endParaRPr lang="ko-KR" altLang="en-US" sz="1400" b="0" kern="1200" dirty="0">
                            <a:solidFill>
                              <a:srgbClr val="1429A0"/>
                            </a:solidFill>
                            <a:latin typeface="SamsungOne 400" panose="020B0503030303020204" pitchFamily="34" charset="0"/>
                            <a:ea typeface="SamsungOne 700" panose="020B0803030303020204" pitchFamily="34" charset="0"/>
                            <a:cs typeface="Times New Roman" panose="02020603050405020304" pitchFamily="18" charset="0"/>
                          </a:endParaRPr>
                        </a:p>
                      </a:txBody>
                      <a:tcP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55872289"/>
                      </a:ext>
                    </a:extLst>
                  </a:tr>
                  <a:tr h="269438">
                    <a:tc>
                      <a:txBody>
                        <a:bodyPr/>
                        <a:lstStyle/>
                        <a:p>
                          <a:pPr marL="0" algn="ctr" defTabSz="914400" rtl="0" eaLnBrk="1" latinLnBrk="0" hangingPunct="1">
                            <a:lnSpc>
                              <a:spcPct val="100000"/>
                            </a:lnSpc>
                            <a:spcBef>
                              <a:spcPts val="800"/>
                            </a:spcBef>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accuracy</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latinLnBrk="0">
                            <a:spcBef>
                              <a:spcPts val="800"/>
                            </a:spcBef>
                          </a:pPr>
                          <a:r>
                            <a:rPr lang="en-US" altLang="ko-KR" sz="1200" dirty="0">
                              <a:latin typeface="SamsungOne 400" panose="020B0503030303020204" pitchFamily="34" charset="0"/>
                              <a:ea typeface="SamsungOne 400" panose="020B0503030303020204" pitchFamily="34" charset="0"/>
                            </a:rPr>
                            <a:t>(TP+TN) / (TP+TN+FP+FN)</a:t>
                          </a:r>
                          <a:endParaRPr lang="en-US" sz="1200" dirty="0">
                            <a:latin typeface="SamsungOne 400" panose="020B0503030303020204" pitchFamily="34" charset="0"/>
                            <a:ea typeface="SamsungOne 400" panose="020B0503030303020204" pitchFamily="34"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Ratio of accurate prediction of actual classification category</a:t>
                          </a:r>
                          <a:b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(Ratio of TP and TN from the entire prediction)</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16463057"/>
                      </a:ext>
                    </a:extLst>
                  </a:tr>
                  <a:tr h="269438">
                    <a:tc>
                      <a:txBody>
                        <a:bodyPr/>
                        <a:lstStyle/>
                        <a:p>
                          <a:pPr marL="0" algn="ctr" defTabSz="914400" rtl="0" eaLnBrk="1" latinLnBrk="0" hangingPunct="1">
                            <a:lnSpc>
                              <a:spcPct val="100000"/>
                            </a:lnSpc>
                            <a:spcBef>
                              <a:spcPts val="800"/>
                            </a:spcBef>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error rate</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ctr"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(FP+FN)</a:t>
                          </a: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 (TP+TN+FP+FN)</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Ratio of inaccurate prediction of actual classification category</a:t>
                          </a:r>
                          <a:b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(Identical to 1-accuracy)</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69438">
                    <a:tc>
                      <a:txBody>
                        <a:bodyPr/>
                        <a:lstStyle/>
                        <a:p>
                          <a:pPr marL="0" algn="ctr" defTabSz="914400" rtl="0" eaLnBrk="1" latinLnBrk="0" hangingPunct="1">
                            <a:lnSpc>
                              <a:spcPct val="100000"/>
                            </a:lnSpc>
                            <a:spcBef>
                              <a:spcPts val="800"/>
                            </a:spcBef>
                          </a:pP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sensitivity</a:t>
                          </a:r>
                          <a:b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TP Rate</a:t>
                          </a:r>
                          <a:endPar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ctr"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(TP) / (TP+FN)</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Ratio of accurate prediction to ’positive’ from actual ‘positive’ categories (True Positive – also referred to as </a:t>
                          </a: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Recall,</a:t>
                          </a: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Hit Ratio, and TP Rate)</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69438">
                    <a:tc>
                      <a:txBody>
                        <a:bodyPr/>
                        <a:lstStyle/>
                        <a:p>
                          <a:pPr marL="0" algn="ctr" defTabSz="914400" rtl="0" eaLnBrk="1" latinLnBrk="0" hangingPunct="1">
                            <a:lnSpc>
                              <a:spcPct val="100000"/>
                            </a:lnSpc>
                            <a:spcBef>
                              <a:spcPts val="800"/>
                            </a:spcBef>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specificity</a:t>
                          </a: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ctr"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(TN) / (TN+FP)</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Ratio of accurate prediction to ‘negative’ from actual ‘negative’ categories (True Negative)</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69438">
                    <a:tc>
                      <a:txBody>
                        <a:bodyPr/>
                        <a:lstStyle/>
                        <a:p>
                          <a:pPr marL="0" algn="ctr" defTabSz="914400" rtl="0" eaLnBrk="1" latinLnBrk="0" hangingPunct="1">
                            <a:lnSpc>
                              <a:spcPct val="100000"/>
                            </a:lnSpc>
                            <a:spcBef>
                              <a:spcPts val="800"/>
                            </a:spcBef>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FP Rate</a:t>
                          </a: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ctr"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(FP) / (TN+FP)</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Ratio of inaccurate prediction to ‘positive’ from actual ‘negative’ categories</a:t>
                          </a:r>
                          <a:r>
                            <a:rPr lang="ko-KR" altLang="en-US"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t>
                          </a:r>
                          <a:r>
                            <a:rPr lang="ko-KR" altLang="en-US"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1-specificity</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69438">
                    <a:tc>
                      <a:txBody>
                        <a:bodyPr/>
                        <a:lstStyle/>
                        <a:p>
                          <a:pPr marL="0" algn="ctr" defTabSz="914400" rtl="0" eaLnBrk="1" latinLnBrk="0" hangingPunct="1">
                            <a:lnSpc>
                              <a:spcPct val="100000"/>
                            </a:lnSpc>
                            <a:spcBef>
                              <a:spcPts val="800"/>
                            </a:spcBef>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precision</a:t>
                          </a: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ctr"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(TP) / (TP+FP)</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Ratio of actual ’True Positive’ from the ratio of predicted ‘positive’</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69438">
                    <a:tc>
                      <a:txBody>
                        <a:bodyPr/>
                        <a:lstStyle/>
                        <a:p>
                          <a:pPr marL="0" algn="ctr" defTabSz="914400" rtl="0" eaLnBrk="1" latinLnBrk="0" hangingPunct="1">
                            <a:lnSpc>
                              <a:spcPct val="100000"/>
                            </a:lnSpc>
                            <a:spcBef>
                              <a:spcPts val="800"/>
                            </a:spcBef>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F-Measure</a:t>
                          </a:r>
                          <a:b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(F1-Score)</a:t>
                          </a: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ctr" defTabSz="914400" rtl="0" eaLnBrk="1" fontAlgn="base" latinLnBrk="0" hangingPunct="1">
                            <a:lnSpc>
                              <a:spcPct val="100000"/>
                            </a:lnSpc>
                            <a:spcBef>
                              <a:spcPts val="800"/>
                            </a:spcBef>
                            <a:spcAft>
                              <a:spcPts val="0"/>
                            </a:spcAft>
                          </a:pPr>
                          <a14:m>
                            <m:oMathPara xmlns:m="http://schemas.openxmlformats.org/officeDocument/2006/math">
                              <m:oMathParaPr>
                                <m:jc m:val="centerGroup"/>
                              </m:oMathParaPr>
                              <m:oMath xmlns:m="http://schemas.openxmlformats.org/officeDocument/2006/math">
                                <m:d>
                                  <m:dPr>
                                    <m:begChr m:val="{"/>
                                    <m:endChr m:val="}"/>
                                    <m:ctrlP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ctrlPr>
                                  </m:dPr>
                                  <m:e>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t>2∗</m:t>
                                    </m:r>
                                    <m:d>
                                      <m:dPr>
                                        <m:ctrlP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ctrlPr>
                                      </m:dPr>
                                      <m:e>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t>𝑝𝑟𝑒𝑐𝑖𝑠𝑖𝑜𝑛</m:t>
                                        </m:r>
                                      </m:e>
                                    </m:d>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t>∗</m:t>
                                    </m:r>
                                    <m:d>
                                      <m:dPr>
                                        <m:ctrlP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ctrlPr>
                                      </m:dPr>
                                      <m:e>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t>𝑟𝑒𝑐𝑎𝑙𝑙</m:t>
                                        </m:r>
                                      </m:e>
                                    </m:d>
                                  </m:e>
                                </m:d>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𝑝𝑟𝑒𝑐𝑖𝑠𝑖𝑜𝑛</m:t>
                                    </m:r>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m:t>
                                    </m:r>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𝑟𝑒𝑐𝑎𝑙𝑙</m:t>
                                    </m:r>
                                  </m:e>
                                </m:d>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ctrlPr>
                                  </m:fPr>
                                  <m:num>
                                    <m:d>
                                      <m:dPr>
                                        <m:ctrlP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2∗</m:t>
                                        </m:r>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𝑇𝑃</m:t>
                                        </m:r>
                                      </m:e>
                                    </m:d>
                                  </m:num>
                                  <m:den>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2∗</m:t>
                                    </m:r>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𝑇𝑃</m:t>
                                    </m:r>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m:t>
                                    </m:r>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𝐹𝑃</m:t>
                                    </m:r>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m:t>
                                    </m:r>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𝐹𝑁</m:t>
                                    </m:r>
                                  </m:den>
                                </m:f>
                              </m:oMath>
                            </m:oMathPara>
                          </a14:m>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Ranged between 0~1. It is the harmonic mean between precision and sensitivity (recall). If both precision and sensitivity are high, f-Measure also tends to have a larger value.</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69438">
                    <a:tc>
                      <a:txBody>
                        <a:bodyPr/>
                        <a:lstStyle/>
                        <a:p>
                          <a:pPr marL="0" algn="ctr" defTabSz="914400" rtl="0" eaLnBrk="1" latinLnBrk="0" hangingPunct="1">
                            <a:lnSpc>
                              <a:spcPct val="100000"/>
                            </a:lnSpc>
                            <a:spcBef>
                              <a:spcPts val="800"/>
                            </a:spcBef>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Kappa Statistic</a:t>
                          </a: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ctr" defTabSz="914400" rtl="0" eaLnBrk="1" fontAlgn="base" latinLnBrk="0" hangingPunct="1">
                            <a:lnSpc>
                              <a:spcPct val="100000"/>
                            </a:lnSpc>
                            <a:spcBef>
                              <a:spcPts val="800"/>
                            </a:spcBef>
                            <a:spcAft>
                              <a:spcPts val="0"/>
                            </a:spcAft>
                          </a:pPr>
                          <a14:m>
                            <m:oMathPara xmlns:m="http://schemas.openxmlformats.org/officeDocument/2006/math">
                              <m:oMathParaPr>
                                <m:jc m:val="centerGroup"/>
                              </m:oMathParaPr>
                              <m:oMath xmlns:m="http://schemas.openxmlformats.org/officeDocument/2006/math">
                                <m:d>
                                  <m:dPr>
                                    <m:begChr m:val="{"/>
                                    <m:endChr m:val="}"/>
                                    <m:ctrlP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ctrlPr>
                                  </m:dPr>
                                  <m:e>
                                    <m:func>
                                      <m:funcPr>
                                        <m:ctrlP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ctrlPr>
                                      </m:funcPr>
                                      <m:fName>
                                        <m:r>
                                          <m:rPr>
                                            <m:sty m:val="p"/>
                                          </m:rPr>
                                          <a:rPr lang="en-US" altLang="ko-KR" sz="1200" b="0" i="0"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t>Pr</m:t>
                                        </m:r>
                                      </m:fName>
                                      <m:e>
                                        <m:d>
                                          <m:dPr>
                                            <m:ctrlP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ctrlPr>
                                          </m:dPr>
                                          <m:e>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t>𝑎</m:t>
                                            </m:r>
                                          </m:e>
                                        </m:d>
                                      </m:e>
                                    </m:func>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t>−</m:t>
                                    </m:r>
                                    <m:func>
                                      <m:funcPr>
                                        <m:ctrlP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ctrlPr>
                                      </m:funcPr>
                                      <m:fName>
                                        <m:r>
                                          <m:rPr>
                                            <m:sty m:val="p"/>
                                          </m:rPr>
                                          <a:rPr lang="en-US" altLang="ko-KR" sz="1200" b="0" i="0"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t>Pr</m:t>
                                        </m:r>
                                      </m:fName>
                                      <m:e>
                                        <m:d>
                                          <m:dPr>
                                            <m:ctrlP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ctrlPr>
                                          </m:dPr>
                                          <m:e>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SamsungOne 400" panose="020B0503030303020204" pitchFamily="34" charset="0"/>
                                                <a:cs typeface="Times New Roman" panose="02020603050405020304" pitchFamily="18" charset="0"/>
                                              </a:rPr>
                                              <m:t>𝑒</m:t>
                                            </m:r>
                                          </m:e>
                                        </m:d>
                                      </m:e>
                                    </m:func>
                                  </m:e>
                                </m:d>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1−</m:t>
                                    </m:r>
                                    <m:func>
                                      <m:funcPr>
                                        <m:ctrlP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ko-KR" sz="1200" b="0" i="0"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Pr</m:t>
                                        </m:r>
                                      </m:fName>
                                      <m:e>
                                        <m:d>
                                          <m:dPr>
                                            <m:ctrlP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R" sz="1200" b="0" i="1" kern="1200" smtClean="0">
                                                <a:gradFill>
                                                  <a:gsLst>
                                                    <a:gs pos="0">
                                                      <a:schemeClr val="tx1">
                                                        <a:lumMod val="85000"/>
                                                        <a:lumOff val="15000"/>
                                                      </a:schemeClr>
                                                    </a:gs>
                                                    <a:gs pos="100000">
                                                      <a:schemeClr val="tx1">
                                                        <a:lumMod val="85000"/>
                                                        <a:lumOff val="15000"/>
                                                      </a:schemeClr>
                                                    </a:gs>
                                                  </a:gsLst>
                                                  <a:lin ang="5400000" scaled="1"/>
                                                </a:gradFill>
                                                <a:latin typeface="Cambria Math" panose="02040503050406030204" pitchFamily="18" charset="0"/>
                                                <a:ea typeface="Cambria Math" panose="02040503050406030204" pitchFamily="18" charset="0"/>
                                                <a:cs typeface="Times New Roman" panose="02020603050405020304" pitchFamily="18" charset="0"/>
                                              </a:rPr>
                                              <m:t>𝑒</m:t>
                                            </m:r>
                                          </m:e>
                                        </m:d>
                                      </m:e>
                                    </m:func>
                                  </m:e>
                                </m:d>
                              </m:oMath>
                            </m:oMathPara>
                          </a14:m>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value after eliminating coincidental agreement between predicted and actual values of the model</a:t>
                          </a:r>
                          <a:r>
                            <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(Ranged between 0~1.</a:t>
                          </a: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W</a:t>
                          </a: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hen the value is closer to 1, the predicted and actual values of the model accurately coincide.</a:t>
                          </a: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T</a:t>
                          </a: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he values do not coincide when the value gets closer to 0.)</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mc:Choice>
        <mc:Fallback xmlns="">
          <p:graphicFrame>
            <p:nvGraphicFramePr>
              <p:cNvPr id="7" name="표 6">
                <a:extLst>
                  <a:ext uri="{FF2B5EF4-FFF2-40B4-BE49-F238E27FC236}">
                    <a16:creationId xmlns="" xmlns:a16="http://schemas.microsoft.com/office/drawing/2014/main" xmlns:a14="http://schemas.microsoft.com/office/drawing/2010/main" id="{CB7EF692-DAB1-497E-A1AB-C43671AC33A9}"/>
                  </a:ext>
                </a:extLst>
              </p:cNvPr>
              <p:cNvGraphicFramePr>
                <a:graphicFrameLocks noGrp="1"/>
              </p:cNvGraphicFramePr>
              <p:nvPr>
                <p:extLst>
                  <p:ext uri="{D42A27DB-BD31-4B8C-83A1-F6EECF244321}">
                    <p14:modId xmlns:p14="http://schemas.microsoft.com/office/powerpoint/2010/main" val="3661014637"/>
                  </p:ext>
                </p:extLst>
              </p:nvPr>
            </p:nvGraphicFramePr>
            <p:xfrm>
              <a:off x="666751" y="1773238"/>
              <a:ext cx="8677274" cy="4353886"/>
            </p:xfrm>
            <a:graphic>
              <a:graphicData uri="http://schemas.openxmlformats.org/drawingml/2006/table">
                <a:tbl>
                  <a:tblPr firstRow="1" bandRow="1">
                    <a:tableStyleId>{5940675A-B579-460E-94D1-54222C63F5DA}</a:tableStyleId>
                  </a:tblPr>
                  <a:tblGrid>
                    <a:gridCol w="1600115">
                      <a:extLst>
                        <a:ext uri="{9D8B030D-6E8A-4147-A177-3AD203B41FA5}">
                          <a16:colId xmlns="" xmlns:a16="http://schemas.microsoft.com/office/drawing/2014/main" xmlns:a14="http://schemas.microsoft.com/office/drawing/2010/main" val="2044997058"/>
                        </a:ext>
                      </a:extLst>
                    </a:gridCol>
                    <a:gridCol w="2017701">
                      <a:extLst>
                        <a:ext uri="{9D8B030D-6E8A-4147-A177-3AD203B41FA5}">
                          <a16:colId xmlns="" xmlns:a16="http://schemas.microsoft.com/office/drawing/2014/main" xmlns:a14="http://schemas.microsoft.com/office/drawing/2010/main" val="490996645"/>
                        </a:ext>
                      </a:extLst>
                    </a:gridCol>
                    <a:gridCol w="5059458">
                      <a:extLst>
                        <a:ext uri="{9D8B030D-6E8A-4147-A177-3AD203B41FA5}">
                          <a16:colId xmlns="" xmlns:a16="http://schemas.microsoft.com/office/drawing/2014/main" xmlns:a14="http://schemas.microsoft.com/office/drawing/2010/main" val="20002"/>
                        </a:ext>
                      </a:extLst>
                    </a:gridCol>
                  </a:tblGrid>
                  <a:tr h="304800">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solidFill>
                                <a:srgbClr val="1429A0"/>
                              </a:solidFill>
                              <a:latin typeface="SamsungOne 400" panose="020B0503030303020204" pitchFamily="34" charset="0"/>
                              <a:ea typeface="SamsungOne 700" panose="020B0803030303020204" pitchFamily="34" charset="0"/>
                              <a:cs typeface="Times New Roman" panose="02020603050405020304" pitchFamily="18" charset="0"/>
                            </a:rPr>
                            <a:t>Metric</a:t>
                          </a:r>
                          <a:endParaRPr lang="ko-KR" altLang="en-US" sz="1400" b="0" kern="1200" dirty="0">
                            <a:solidFill>
                              <a:srgbClr val="1429A0"/>
                            </a:solidFill>
                            <a:latin typeface="SamsungOne 400" panose="020B0503030303020204" pitchFamily="34" charset="0"/>
                            <a:ea typeface="SamsungOne 700" panose="020B0803030303020204" pitchFamily="34" charset="0"/>
                            <a:cs typeface="Times New Roman" panose="02020603050405020304" pitchFamily="18" charset="0"/>
                          </a:endParaRPr>
                        </a:p>
                      </a:txBody>
                      <a:tcP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solidFill>
                                <a:srgbClr val="1429A0"/>
                              </a:solidFill>
                              <a:latin typeface="SamsungOne 400" panose="020B0503030303020204" pitchFamily="34" charset="0"/>
                              <a:ea typeface="SamsungOne 700" panose="020B0803030303020204" pitchFamily="34" charset="0"/>
                              <a:cs typeface="Times New Roman" panose="02020603050405020304" pitchFamily="18" charset="0"/>
                            </a:rPr>
                            <a:t>Calculation </a:t>
                          </a:r>
                          <a:r>
                            <a:rPr lang="en-US" altLang="ko-KR" sz="1400" b="0" kern="1200" dirty="0" smtClean="0">
                              <a:solidFill>
                                <a:srgbClr val="1429A0"/>
                              </a:solidFill>
                              <a:latin typeface="SamsungOne 400" panose="020B0503030303020204" pitchFamily="34" charset="0"/>
                              <a:ea typeface="SamsungOne 700" panose="020B0803030303020204" pitchFamily="34" charset="0"/>
                              <a:cs typeface="Times New Roman" panose="02020603050405020304" pitchFamily="18" charset="0"/>
                            </a:rPr>
                            <a:t>Formula</a:t>
                          </a:r>
                          <a:endParaRPr lang="ko-KR" altLang="en-US" sz="1400" b="0" kern="1200" dirty="0">
                            <a:solidFill>
                              <a:srgbClr val="1429A0"/>
                            </a:solidFill>
                            <a:latin typeface="SamsungOne 400" panose="020B0503030303020204" pitchFamily="34" charset="0"/>
                            <a:ea typeface="SamsungOne 700" panose="020B0803030303020204" pitchFamily="34" charset="0"/>
                            <a:cs typeface="Times New Roman" panose="02020603050405020304" pitchFamily="18" charset="0"/>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solidFill>
                                <a:srgbClr val="1429A0"/>
                              </a:solidFill>
                              <a:latin typeface="SamsungOne 400" panose="020B0503030303020204" pitchFamily="34" charset="0"/>
                              <a:ea typeface="SamsungOne 700" panose="020B0803030303020204" pitchFamily="34" charset="0"/>
                              <a:cs typeface="Times New Roman" panose="02020603050405020304" pitchFamily="18" charset="0"/>
                            </a:rPr>
                            <a:t>Definition</a:t>
                          </a:r>
                          <a:endParaRPr lang="ko-KR" altLang="en-US" sz="1400" b="0" kern="1200" dirty="0">
                            <a:solidFill>
                              <a:srgbClr val="1429A0"/>
                            </a:solidFill>
                            <a:latin typeface="SamsungOne 400" panose="020B0503030303020204" pitchFamily="34" charset="0"/>
                            <a:ea typeface="SamsungOne 700" panose="020B0803030303020204" pitchFamily="34" charset="0"/>
                            <a:cs typeface="Times New Roman" panose="02020603050405020304" pitchFamily="18" charset="0"/>
                          </a:endParaRPr>
                        </a:p>
                      </a:txBody>
                      <a:tcP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xmlns:a14="http://schemas.microsoft.com/office/drawing/2010/main" val="555872289"/>
                      </a:ext>
                    </a:extLst>
                  </a:tr>
                  <a:tr h="437760">
                    <a:tc>
                      <a:txBody>
                        <a:bodyPr/>
                        <a:lstStyle/>
                        <a:p>
                          <a:pPr marL="0" algn="ctr" defTabSz="914400" rtl="0" eaLnBrk="1" latinLnBrk="0" hangingPunct="1">
                            <a:lnSpc>
                              <a:spcPct val="100000"/>
                            </a:lnSpc>
                            <a:spcBef>
                              <a:spcPts val="800"/>
                            </a:spcBef>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accuracy</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latinLnBrk="0">
                            <a:spcBef>
                              <a:spcPts val="800"/>
                            </a:spcBef>
                          </a:pPr>
                          <a:r>
                            <a:rPr lang="en-US" altLang="ko-KR" sz="1200" dirty="0">
                              <a:latin typeface="SamsungOne 400" panose="020B0503030303020204" pitchFamily="34" charset="0"/>
                              <a:ea typeface="SamsungOne 400" panose="020B0503030303020204" pitchFamily="34" charset="0"/>
                            </a:rPr>
                            <a:t>(TP+TN) / (TP+TN+FP+FN)</a:t>
                          </a:r>
                          <a:endParaRPr lang="en-US" sz="1200" dirty="0">
                            <a:latin typeface="SamsungOne 400" panose="020B0503030303020204" pitchFamily="34" charset="0"/>
                            <a:ea typeface="SamsungOne 400" panose="020B0503030303020204" pitchFamily="34"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Ratio of accurate prediction of actual classification category</a:t>
                          </a:r>
                          <a:b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(Ratio of TP and TN from the entire prediction)</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3516463057"/>
                      </a:ext>
                    </a:extLst>
                  </a:tr>
                  <a:tr h="437760">
                    <a:tc>
                      <a:txBody>
                        <a:bodyPr/>
                        <a:lstStyle/>
                        <a:p>
                          <a:pPr marL="0" algn="ctr" defTabSz="914400" rtl="0" eaLnBrk="1" latinLnBrk="0" hangingPunct="1">
                            <a:lnSpc>
                              <a:spcPct val="100000"/>
                            </a:lnSpc>
                            <a:spcBef>
                              <a:spcPts val="800"/>
                            </a:spcBef>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error rate</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ctr"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(FP+FN)</a:t>
                          </a: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 (TP+TN+FP+FN)</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Ratio of inaccurate prediction of actual classification category</a:t>
                          </a:r>
                          <a:b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(Identical to 1-accuracy)</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2"/>
                      </a:ext>
                    </a:extLst>
                  </a:tr>
                  <a:tr h="437760">
                    <a:tc>
                      <a:txBody>
                        <a:bodyPr/>
                        <a:lstStyle/>
                        <a:p>
                          <a:pPr marL="0" algn="ctr" defTabSz="914400" rtl="0" eaLnBrk="1" latinLnBrk="0" hangingPunct="1">
                            <a:lnSpc>
                              <a:spcPct val="100000"/>
                            </a:lnSpc>
                            <a:spcBef>
                              <a:spcPts val="800"/>
                            </a:spcBef>
                          </a:pP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sensitivity</a:t>
                          </a:r>
                          <a:b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TP Rate</a:t>
                          </a:r>
                          <a:endPar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ctr"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(TP) / (TP+FN)</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Ratio of accurate prediction to ’positive’ from actual ‘positive’ categories (True Positive – also referred to as </a:t>
                          </a: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Recall,</a:t>
                          </a: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Hit Ratio, and TP Rate)</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3"/>
                      </a:ext>
                    </a:extLst>
                  </a:tr>
                  <a:tr h="437760">
                    <a:tc>
                      <a:txBody>
                        <a:bodyPr/>
                        <a:lstStyle/>
                        <a:p>
                          <a:pPr marL="0" algn="ctr" defTabSz="914400" rtl="0" eaLnBrk="1" latinLnBrk="0" hangingPunct="1">
                            <a:lnSpc>
                              <a:spcPct val="100000"/>
                            </a:lnSpc>
                            <a:spcBef>
                              <a:spcPts val="800"/>
                            </a:spcBef>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specificity</a:t>
                          </a: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ctr"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(TN) / (TN+FP)</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Ratio of accurate prediction to ‘negative’ from actual ‘negative’ categories (True Negative)</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4"/>
                      </a:ext>
                    </a:extLst>
                  </a:tr>
                  <a:tr h="437760">
                    <a:tc>
                      <a:txBody>
                        <a:bodyPr/>
                        <a:lstStyle/>
                        <a:p>
                          <a:pPr marL="0" algn="ctr" defTabSz="914400" rtl="0" eaLnBrk="1" latinLnBrk="0" hangingPunct="1">
                            <a:lnSpc>
                              <a:spcPct val="100000"/>
                            </a:lnSpc>
                            <a:spcBef>
                              <a:spcPts val="800"/>
                            </a:spcBef>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FP Rate</a:t>
                          </a: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ctr"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(FP) / (TN+FP)</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Ratio of inaccurate prediction to ‘positive’ from actual ‘negative’ categories</a:t>
                          </a:r>
                          <a:r>
                            <a:rPr lang="ko-KR" altLang="en-US"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t>
                          </a:r>
                          <a:r>
                            <a:rPr lang="ko-KR" altLang="en-US"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1-specificity</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5"/>
                      </a:ext>
                    </a:extLst>
                  </a:tr>
                  <a:tr h="269438">
                    <a:tc>
                      <a:txBody>
                        <a:bodyPr/>
                        <a:lstStyle/>
                        <a:p>
                          <a:pPr marL="0" algn="ctr" defTabSz="914400" rtl="0" eaLnBrk="1" latinLnBrk="0" hangingPunct="1">
                            <a:lnSpc>
                              <a:spcPct val="100000"/>
                            </a:lnSpc>
                            <a:spcBef>
                              <a:spcPts val="800"/>
                            </a:spcBef>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precision</a:t>
                          </a: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ctr"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(TP) / (TP+FP)</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Ratio of actual ’True Positive’ from the ratio of predicted ‘positive’</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6"/>
                      </a:ext>
                    </a:extLst>
                  </a:tr>
                  <a:tr h="787328">
                    <a:tc>
                      <a:txBody>
                        <a:bodyPr/>
                        <a:lstStyle/>
                        <a:p>
                          <a:pPr marL="0" algn="ctr" defTabSz="914400" rtl="0" eaLnBrk="1" latinLnBrk="0" hangingPunct="1">
                            <a:lnSpc>
                              <a:spcPct val="100000"/>
                            </a:lnSpc>
                            <a:spcBef>
                              <a:spcPts val="800"/>
                            </a:spcBef>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F-Measure</a:t>
                          </a:r>
                          <a:b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(F1-Score)</a:t>
                          </a: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lang="ko-K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blipFill rotWithShape="0">
                          <a:blip r:embed="rId4"/>
                          <a:stretch>
                            <a:fillRect l="-79456" t="-350000" r="-251057" b="-102308"/>
                          </a:stretch>
                        </a:blipFill>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Ranged between 0~1. It is the harmonic mean between precision and sensitivity (recall). If both precision and sensitivity are high, f-Measure also tends to have a larger value.</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7"/>
                      </a:ext>
                    </a:extLst>
                  </a:tr>
                  <a:tr h="803520">
                    <a:tc>
                      <a:txBody>
                        <a:bodyPr/>
                        <a:lstStyle/>
                        <a:p>
                          <a:pPr marL="0" algn="ctr" defTabSz="914400" rtl="0" eaLnBrk="1" latinLnBrk="0" hangingPunct="1">
                            <a:lnSpc>
                              <a:spcPct val="100000"/>
                            </a:lnSpc>
                            <a:spcBef>
                              <a:spcPts val="800"/>
                            </a:spcBef>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Kappa Statistic</a:t>
                          </a:r>
                        </a:p>
                      </a:txBody>
                      <a:tcPr marT="36000" marB="3600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lang="ko-K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blipFill rotWithShape="0">
                          <a:blip r:embed="rId4"/>
                          <a:stretch>
                            <a:fillRect l="-79456" t="-443182" r="-251057" b="-758"/>
                          </a:stretch>
                        </a:blipFill>
                      </a:tcPr>
                    </a:tc>
                    <a:tc>
                      <a:txBody>
                        <a:bodyPr/>
                        <a:lstStyle/>
                        <a:p>
                          <a:pPr marL="0" marR="0" indent="0" algn="l" defTabSz="914400" rtl="0" eaLnBrk="1" fontAlgn="base" latinLnBrk="0" hangingPunct="1">
                            <a:lnSpc>
                              <a:spcPct val="100000"/>
                            </a:lnSpc>
                            <a:spcBef>
                              <a:spcPts val="800"/>
                            </a:spcBef>
                            <a:spcAft>
                              <a:spcPts val="0"/>
                            </a:spcAft>
                          </a:pP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value after eliminating coincidental agreement between predicted and actual values of the model</a:t>
                          </a:r>
                          <a:r>
                            <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(Ranged between 0~1.</a:t>
                          </a: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W</a:t>
                          </a: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hen the value is closer to 1, the predicted and actual values of the model accurately coincide.</a:t>
                          </a:r>
                          <a:r>
                            <a:rPr lang="en-US" altLang="ko-KR" sz="12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T</a:t>
                          </a:r>
                          <a:r>
                            <a:rPr lang="en-US" altLang="ko-KR"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he values do not coincide when the value gets closer to 0.)</a:t>
                          </a:r>
                          <a:endParaRPr lang="ko-KR" altLang="en-US" sz="12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008"/>
                      </a:ext>
                    </a:extLst>
                  </a:tr>
                </a:tbl>
              </a:graphicData>
            </a:graphic>
          </p:graphicFrame>
        </mc:Fallback>
      </mc:AlternateContent>
    </p:spTree>
    <p:extLst>
      <p:ext uri="{BB962C8B-B14F-4D97-AF65-F5344CB8AC3E}">
        <p14:creationId xmlns:p14="http://schemas.microsoft.com/office/powerpoint/2010/main" val="283954645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Metric</a:t>
            </a:r>
          </a:p>
        </p:txBody>
      </p:sp>
      <p:sp>
        <p:nvSpPr>
          <p:cNvPr id="12" name="직사각형 11">
            <a:extLst>
              <a:ext uri="{FF2B5EF4-FFF2-40B4-BE49-F238E27FC236}">
                <a16:creationId xmlns:a16="http://schemas.microsoft.com/office/drawing/2014/main" id="{95CBAE36-403A-4445-970F-AC5B21DE93A8}"/>
              </a:ext>
            </a:extLst>
          </p:cNvPr>
          <p:cNvSpPr/>
          <p:nvPr/>
        </p:nvSpPr>
        <p:spPr>
          <a:xfrm>
            <a:off x="671261" y="1700808"/>
            <a:ext cx="8632825" cy="14483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Among the metrics from the previous slide, sensitivity signifies how well the actual ‘positive’ category is predicted ‘positive.’ The precision is the index showing the ratio of actual ‘positive’ from the predicted ‘positive’ categories. Thus, they are metrics that directly explain how well the classification machine learning analysis model classifies interested categorical values of objective variables.</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Sensitivity and precision are the most significant and frequently used metrics for classification machine learning results in real life.</a:t>
            </a:r>
          </a:p>
        </p:txBody>
      </p:sp>
    </p:spTree>
    <p:extLst>
      <p:ext uri="{BB962C8B-B14F-4D97-AF65-F5344CB8AC3E}">
        <p14:creationId xmlns:p14="http://schemas.microsoft.com/office/powerpoint/2010/main" val="288069179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Confusion matrix</a:t>
            </a:r>
          </a:p>
        </p:txBody>
      </p:sp>
      <p:sp>
        <p:nvSpPr>
          <p:cNvPr id="12" name="직사각형 11">
            <a:extLst>
              <a:ext uri="{FF2B5EF4-FFF2-40B4-BE49-F238E27FC236}">
                <a16:creationId xmlns:a16="http://schemas.microsoft.com/office/drawing/2014/main" id="{95CBAE36-403A-4445-970F-AC5B21DE93A8}"/>
              </a:ext>
            </a:extLst>
          </p:cNvPr>
          <p:cNvSpPr/>
          <p:nvPr/>
        </p:nvSpPr>
        <p:spPr>
          <a:xfrm>
            <a:off x="671261" y="2996952"/>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Confusion matrix is a contingency table that counts the frequencies of the actual vs. predicted.</a:t>
            </a:r>
          </a:p>
        </p:txBody>
      </p:sp>
      <p:graphicFrame>
        <p:nvGraphicFramePr>
          <p:cNvPr id="7" name="표 6">
            <a:extLst>
              <a:ext uri="{FF2B5EF4-FFF2-40B4-BE49-F238E27FC236}">
                <a16:creationId xmlns:a16="http://schemas.microsoft.com/office/drawing/2014/main" id="{1D2F3580-8CCD-4953-B298-AACE88AEDF49}"/>
              </a:ext>
            </a:extLst>
          </p:cNvPr>
          <p:cNvGraphicFramePr>
            <a:graphicFrameLocks noGrp="1"/>
          </p:cNvGraphicFramePr>
          <p:nvPr>
            <p:extLst>
              <p:ext uri="{D42A27DB-BD31-4B8C-83A1-F6EECF244321}">
                <p14:modId xmlns:p14="http://schemas.microsoft.com/office/powerpoint/2010/main" val="146012750"/>
              </p:ext>
            </p:extLst>
          </p:nvPr>
        </p:nvGraphicFramePr>
        <p:xfrm>
          <a:off x="1062980" y="1786702"/>
          <a:ext cx="8280027" cy="923160"/>
        </p:xfrm>
        <a:graphic>
          <a:graphicData uri="http://schemas.openxmlformats.org/drawingml/2006/table">
            <a:tbl>
              <a:tblPr firstRow="1" bandRow="1">
                <a:tableStyleId>{5940675A-B579-460E-94D1-54222C63F5DA}</a:tableStyleId>
              </a:tblPr>
              <a:tblGrid>
                <a:gridCol w="2760009">
                  <a:extLst>
                    <a:ext uri="{9D8B030D-6E8A-4147-A177-3AD203B41FA5}">
                      <a16:colId xmlns:a16="http://schemas.microsoft.com/office/drawing/2014/main" val="3750369147"/>
                    </a:ext>
                  </a:extLst>
                </a:gridCol>
                <a:gridCol w="2760009">
                  <a:extLst>
                    <a:ext uri="{9D8B030D-6E8A-4147-A177-3AD203B41FA5}">
                      <a16:colId xmlns:a16="http://schemas.microsoft.com/office/drawing/2014/main" val="2143277647"/>
                    </a:ext>
                  </a:extLst>
                </a:gridCol>
                <a:gridCol w="2760009">
                  <a:extLst>
                    <a:ext uri="{9D8B030D-6E8A-4147-A177-3AD203B41FA5}">
                      <a16:colId xmlns:a16="http://schemas.microsoft.com/office/drawing/2014/main" val="3836250627"/>
                    </a:ext>
                  </a:extLst>
                </a:gridCol>
              </a:tblGrid>
              <a:tr h="282472">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endParaRPr lang="en-US" altLang="ko-KR" sz="13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6350" cap="flat" cmpd="sng" algn="ctr">
                      <a:solidFill>
                        <a:schemeClr val="bg1">
                          <a:lumMod val="75000"/>
                        </a:schemeClr>
                      </a:solidFill>
                      <a:prstDash val="solid"/>
                      <a:round/>
                      <a:headEnd type="none" w="med" len="med"/>
                      <a:tailEnd type="none" w="med" len="med"/>
                    </a:lnTlToBr>
                    <a:solidFill>
                      <a:schemeClr val="bg1">
                        <a:lumMod val="85000"/>
                      </a:schemeClr>
                    </a:solidFill>
                  </a:tcPr>
                </a:tc>
                <a:tc>
                  <a:txBody>
                    <a:bodyPr/>
                    <a:lstStyle/>
                    <a:p>
                      <a:pPr marL="0" algn="ctr" defTabSz="914400" rtl="0" eaLnBrk="1" latinLnBrk="1" hangingPunct="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Actual 0</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914400" rtl="0" eaLnBrk="1" latinLnBrk="1" hangingPunct="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Actual 1</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32613760"/>
                  </a:ext>
                </a:extLst>
              </a:tr>
              <a:tr h="316800">
                <a:tc>
                  <a:txBody>
                    <a:bodyPr/>
                    <a:lstStyle/>
                    <a:p>
                      <a:pPr algn="ctr" latinLnBrk="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Predicted 0</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120</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5</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90397591"/>
                  </a:ext>
                </a:extLst>
              </a:tr>
              <a:tr h="316800">
                <a:tc>
                  <a:txBody>
                    <a:bodyPr/>
                    <a:lstStyle/>
                    <a:p>
                      <a:pPr algn="ctr" latinLnBrk="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Predicted 1</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15</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20</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91299897"/>
                  </a:ext>
                </a:extLst>
              </a:tr>
            </a:tbl>
          </a:graphicData>
        </a:graphic>
      </p:graphicFrame>
      <p:sp>
        <p:nvSpPr>
          <p:cNvPr id="9" name="사각형: 둥근 모서리 2">
            <a:extLst>
              <a:ext uri="{FF2B5EF4-FFF2-40B4-BE49-F238E27FC236}">
                <a16:creationId xmlns:a16="http://schemas.microsoft.com/office/drawing/2014/main" id="{FB28CA09-4698-4D81-A906-34481C50AEC3}"/>
              </a:ext>
            </a:extLst>
          </p:cNvPr>
          <p:cNvSpPr/>
          <p:nvPr/>
        </p:nvSpPr>
        <p:spPr>
          <a:xfrm>
            <a:off x="671261" y="1776542"/>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Tree>
    <p:extLst>
      <p:ext uri="{BB962C8B-B14F-4D97-AF65-F5344CB8AC3E}">
        <p14:creationId xmlns:p14="http://schemas.microsoft.com/office/powerpoint/2010/main" val="15951826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Confusion matrix: Accuracy</a:t>
            </a:r>
          </a:p>
        </p:txBody>
      </p:sp>
      <p:sp>
        <p:nvSpPr>
          <p:cNvPr id="12" name="직사각형 11">
            <a:extLst>
              <a:ext uri="{FF2B5EF4-FFF2-40B4-BE49-F238E27FC236}">
                <a16:creationId xmlns:a16="http://schemas.microsoft.com/office/drawing/2014/main" id="{95CBAE36-403A-4445-970F-AC5B21DE93A8}"/>
              </a:ext>
            </a:extLst>
          </p:cNvPr>
          <p:cNvSpPr/>
          <p:nvPr/>
        </p:nvSpPr>
        <p:spPr>
          <a:xfrm>
            <a:off x="671261" y="3717032"/>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Accuracy is the ratio between the diagonal sum and the total sum.</a:t>
            </a:r>
          </a:p>
        </p:txBody>
      </p:sp>
      <p:graphicFrame>
        <p:nvGraphicFramePr>
          <p:cNvPr id="7" name="표 6">
            <a:extLst>
              <a:ext uri="{FF2B5EF4-FFF2-40B4-BE49-F238E27FC236}">
                <a16:creationId xmlns:a16="http://schemas.microsoft.com/office/drawing/2014/main" id="{1D2F3580-8CCD-4953-B298-AACE88AEDF49}"/>
              </a:ext>
            </a:extLst>
          </p:cNvPr>
          <p:cNvGraphicFramePr>
            <a:graphicFrameLocks noGrp="1"/>
          </p:cNvGraphicFramePr>
          <p:nvPr>
            <p:extLst>
              <p:ext uri="{D42A27DB-BD31-4B8C-83A1-F6EECF244321}">
                <p14:modId xmlns:p14="http://schemas.microsoft.com/office/powerpoint/2010/main" val="499595649"/>
              </p:ext>
            </p:extLst>
          </p:nvPr>
        </p:nvGraphicFramePr>
        <p:xfrm>
          <a:off x="1062980" y="1786702"/>
          <a:ext cx="8280027" cy="923160"/>
        </p:xfrm>
        <a:graphic>
          <a:graphicData uri="http://schemas.openxmlformats.org/drawingml/2006/table">
            <a:tbl>
              <a:tblPr firstRow="1" bandRow="1">
                <a:tableStyleId>{5940675A-B579-460E-94D1-54222C63F5DA}</a:tableStyleId>
              </a:tblPr>
              <a:tblGrid>
                <a:gridCol w="2760009">
                  <a:extLst>
                    <a:ext uri="{9D8B030D-6E8A-4147-A177-3AD203B41FA5}">
                      <a16:colId xmlns:a16="http://schemas.microsoft.com/office/drawing/2014/main" val="3750369147"/>
                    </a:ext>
                  </a:extLst>
                </a:gridCol>
                <a:gridCol w="2760009">
                  <a:extLst>
                    <a:ext uri="{9D8B030D-6E8A-4147-A177-3AD203B41FA5}">
                      <a16:colId xmlns:a16="http://schemas.microsoft.com/office/drawing/2014/main" val="2143277647"/>
                    </a:ext>
                  </a:extLst>
                </a:gridCol>
                <a:gridCol w="2760009">
                  <a:extLst>
                    <a:ext uri="{9D8B030D-6E8A-4147-A177-3AD203B41FA5}">
                      <a16:colId xmlns:a16="http://schemas.microsoft.com/office/drawing/2014/main" val="3836250627"/>
                    </a:ext>
                  </a:extLst>
                </a:gridCol>
              </a:tblGrid>
              <a:tr h="282472">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endParaRPr lang="en-US" altLang="ko-KR" sz="13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6350" cap="flat" cmpd="sng" algn="ctr">
                      <a:solidFill>
                        <a:schemeClr val="bg1">
                          <a:lumMod val="75000"/>
                        </a:schemeClr>
                      </a:solidFill>
                      <a:prstDash val="solid"/>
                      <a:round/>
                      <a:headEnd type="none" w="med" len="med"/>
                      <a:tailEnd type="none" w="med" len="med"/>
                    </a:lnTlToBr>
                    <a:solidFill>
                      <a:schemeClr val="bg1">
                        <a:lumMod val="85000"/>
                      </a:schemeClr>
                    </a:solidFill>
                  </a:tcPr>
                </a:tc>
                <a:tc>
                  <a:txBody>
                    <a:bodyPr/>
                    <a:lstStyle/>
                    <a:p>
                      <a:pPr marL="0" algn="ctr" defTabSz="914400" rtl="0" eaLnBrk="1" latinLnBrk="1" hangingPunct="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Actual 0</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914400" rtl="0" eaLnBrk="1" latinLnBrk="1" hangingPunct="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Actual 1</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32613760"/>
                  </a:ext>
                </a:extLst>
              </a:tr>
              <a:tr h="316800">
                <a:tc>
                  <a:txBody>
                    <a:bodyPr/>
                    <a:lstStyle/>
                    <a:p>
                      <a:pPr algn="ctr" latinLnBrk="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Predicted 0</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solidFill>
                            <a:srgbClr val="1429A0"/>
                          </a:solidFill>
                          <a:latin typeface="SamsungOne 400" panose="020B0503030303020204" pitchFamily="34" charset="0"/>
                          <a:ea typeface="SamsungOne 400" panose="020B0503030303020204" pitchFamily="34" charset="0"/>
                          <a:cs typeface="Times New Roman" panose="02020603050405020304" pitchFamily="18" charset="0"/>
                        </a:rPr>
                        <a:t>120</a:t>
                      </a:r>
                      <a:endParaRPr lang="ko-KR" altLang="en-US" sz="1300" b="0" kern="1200" dirty="0">
                        <a:solidFill>
                          <a:srgbClr val="1429A0"/>
                        </a:soli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5</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90397591"/>
                  </a:ext>
                </a:extLst>
              </a:tr>
              <a:tr h="316800">
                <a:tc>
                  <a:txBody>
                    <a:bodyPr/>
                    <a:lstStyle/>
                    <a:p>
                      <a:pPr algn="ctr" latinLnBrk="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Predicted 1</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15</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solidFill>
                            <a:srgbClr val="1429A0"/>
                          </a:solidFill>
                          <a:latin typeface="SamsungOne 400" panose="020B0503030303020204" pitchFamily="34" charset="0"/>
                          <a:ea typeface="SamsungOne 400" panose="020B0503030303020204" pitchFamily="34" charset="0"/>
                          <a:cs typeface="Times New Roman" panose="02020603050405020304" pitchFamily="18" charset="0"/>
                        </a:rPr>
                        <a:t>20</a:t>
                      </a:r>
                      <a:endParaRPr lang="ko-KR" altLang="en-US" sz="1300" b="0" kern="1200" dirty="0">
                        <a:solidFill>
                          <a:srgbClr val="1429A0"/>
                        </a:soli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91299897"/>
                  </a:ext>
                </a:extLst>
              </a:tr>
            </a:tbl>
          </a:graphicData>
        </a:graphic>
      </p:graphicFrame>
      <p:sp>
        <p:nvSpPr>
          <p:cNvPr id="9" name="사각형: 둥근 모서리 2">
            <a:extLst>
              <a:ext uri="{FF2B5EF4-FFF2-40B4-BE49-F238E27FC236}">
                <a16:creationId xmlns:a16="http://schemas.microsoft.com/office/drawing/2014/main" id="{FB28CA09-4698-4D81-A906-34481C50AEC3}"/>
              </a:ext>
            </a:extLst>
          </p:cNvPr>
          <p:cNvSpPr/>
          <p:nvPr/>
        </p:nvSpPr>
        <p:spPr>
          <a:xfrm>
            <a:off x="671261" y="1776542"/>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grpSp>
        <p:nvGrpSpPr>
          <p:cNvPr id="10" name="그룹 9">
            <a:extLst>
              <a:ext uri="{FF2B5EF4-FFF2-40B4-BE49-F238E27FC236}">
                <a16:creationId xmlns:a16="http://schemas.microsoft.com/office/drawing/2014/main" id="{7FCEB71F-F8B7-4865-8015-EA9F16E50DAC}"/>
              </a:ext>
            </a:extLst>
          </p:cNvPr>
          <p:cNvGrpSpPr/>
          <p:nvPr/>
        </p:nvGrpSpPr>
        <p:grpSpPr>
          <a:xfrm>
            <a:off x="3835288" y="2067122"/>
            <a:ext cx="5508737" cy="635060"/>
            <a:chOff x="3835288" y="2986029"/>
            <a:chExt cx="5508737" cy="649006"/>
          </a:xfrm>
        </p:grpSpPr>
        <p:sp>
          <p:nvSpPr>
            <p:cNvPr id="11" name="Rectangle 1">
              <a:extLst>
                <a:ext uri="{FF2B5EF4-FFF2-40B4-BE49-F238E27FC236}">
                  <a16:creationId xmlns:a16="http://schemas.microsoft.com/office/drawing/2014/main" id="{2CE30977-E314-4BCB-A7DB-8EB0E1B7DBE4}"/>
                </a:ext>
              </a:extLst>
            </p:cNvPr>
            <p:cNvSpPr/>
            <p:nvPr/>
          </p:nvSpPr>
          <p:spPr>
            <a:xfrm>
              <a:off x="3835288" y="2986029"/>
              <a:ext cx="5508737" cy="649006"/>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latinLnBrk="1"/>
              <a:endParaRPr lang="en-US">
                <a:latin typeface="SamsungOne 400" panose="020B0503030303020204" pitchFamily="34" charset="0"/>
                <a:ea typeface="SamsungOne 400" panose="020B0503030303020204" pitchFamily="34" charset="0"/>
              </a:endParaRPr>
            </a:p>
          </p:txBody>
        </p:sp>
        <p:sp>
          <p:nvSpPr>
            <p:cNvPr id="13" name="Oval 6">
              <a:extLst>
                <a:ext uri="{FF2B5EF4-FFF2-40B4-BE49-F238E27FC236}">
                  <a16:creationId xmlns:a16="http://schemas.microsoft.com/office/drawing/2014/main" id="{13E4794F-4851-4905-A366-DCC45B8FC4B8}"/>
                </a:ext>
              </a:extLst>
            </p:cNvPr>
            <p:cNvSpPr/>
            <p:nvPr/>
          </p:nvSpPr>
          <p:spPr>
            <a:xfrm rot="16596189">
              <a:off x="6419794" y="1708236"/>
              <a:ext cx="287856" cy="3213549"/>
            </a:xfrm>
            <a:prstGeom prst="roundRect">
              <a:avLst>
                <a:gd name="adj" fmla="val 50000"/>
              </a:avLst>
            </a:prstGeom>
            <a:noFill/>
            <a:ln w="19050">
              <a:solidFill>
                <a:srgbClr val="1429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latinLnBrk="1"/>
              <a:endParaRPr lang="en-US" dirty="0">
                <a:latin typeface="SamsungOne 400" panose="020B0503030303020204" pitchFamily="34" charset="0"/>
                <a:ea typeface="SamsungOne 400" panose="020B0503030303020204" pitchFamily="34" charset="0"/>
              </a:endParaRPr>
            </a:p>
          </p:txBody>
        </p:sp>
      </p:grpSp>
      <mc:AlternateContent xmlns:mc="http://schemas.openxmlformats.org/markup-compatibility/2006" xmlns:a14="http://schemas.microsoft.com/office/drawing/2010/main">
        <mc:Choice Requires="a14">
          <p:sp>
            <p:nvSpPr>
              <p:cNvPr id="14" name="직사각형 13">
                <a:extLst>
                  <a:ext uri="{FF2B5EF4-FFF2-40B4-BE49-F238E27FC236}">
                    <a16:creationId xmlns:a16="http://schemas.microsoft.com/office/drawing/2014/main" id="{623E69B8-8402-49C3-8D8A-9A4F272388FB}"/>
                  </a:ext>
                </a:extLst>
              </p:cNvPr>
              <p:cNvSpPr/>
              <p:nvPr/>
            </p:nvSpPr>
            <p:spPr>
              <a:xfrm>
                <a:off x="3138306" y="3024458"/>
                <a:ext cx="3626213" cy="4775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spcAft>
                    <a:spcPts val="800"/>
                  </a:spcAft>
                  <a:buClr>
                    <a:srgbClr val="193EB0"/>
                  </a:buClr>
                </a:pPr>
                <a:r>
                  <a:rPr lang="en-US" altLang="ko-KR" sz="1600" dirty="0">
                    <a:solidFill>
                      <a:schemeClr val="tx1">
                        <a:lumMod val="85000"/>
                        <a:lumOff val="15000"/>
                      </a:schemeClr>
                    </a:solidFill>
                    <a:latin typeface="Cambria Math" panose="02040503050406030204" pitchFamily="18" charset="0"/>
                    <a:sym typeface="Symbol"/>
                  </a:rPr>
                  <a:t>Accuracy = </a:t>
                </a:r>
                <a14:m>
                  <m:oMath xmlns:m="http://schemas.openxmlformats.org/officeDocument/2006/math">
                    <m:f>
                      <m:fPr>
                        <m:ctrlPr>
                          <a:rPr lang="en-US" altLang="ko-KR" sz="1600" i="1">
                            <a:solidFill>
                              <a:schemeClr val="tx1">
                                <a:lumMod val="85000"/>
                                <a:lumOff val="15000"/>
                              </a:schemeClr>
                            </a:solidFill>
                            <a:latin typeface="Cambria Math" panose="02040503050406030204" pitchFamily="18" charset="0"/>
                            <a:sym typeface="Symbol"/>
                          </a:rPr>
                        </m:ctrlPr>
                      </m:fPr>
                      <m:num>
                        <m:r>
                          <a:rPr lang="en-US" altLang="ko-KR" sz="1600">
                            <a:solidFill>
                              <a:schemeClr val="tx1">
                                <a:lumMod val="85000"/>
                                <a:lumOff val="15000"/>
                              </a:schemeClr>
                            </a:solidFill>
                            <a:latin typeface="Cambria Math" panose="02040503050406030204" pitchFamily="18" charset="0"/>
                            <a:sym typeface="Symbol"/>
                          </a:rPr>
                          <m:t>𝑁𝑢𝑚𝑏𝑒𝑟</m:t>
                        </m:r>
                        <m:r>
                          <a:rPr lang="en-US" altLang="ko-KR" sz="1600">
                            <a:solidFill>
                              <a:schemeClr val="tx1">
                                <a:lumMod val="85000"/>
                                <a:lumOff val="15000"/>
                              </a:schemeClr>
                            </a:solidFill>
                            <a:latin typeface="Cambria Math" panose="02040503050406030204" pitchFamily="18" charset="0"/>
                            <a:sym typeface="Symbol"/>
                          </a:rPr>
                          <m:t> </m:t>
                        </m:r>
                        <m:r>
                          <a:rPr lang="en-US" altLang="ko-KR" sz="1600">
                            <a:solidFill>
                              <a:schemeClr val="tx1">
                                <a:lumMod val="85000"/>
                                <a:lumOff val="15000"/>
                              </a:schemeClr>
                            </a:solidFill>
                            <a:latin typeface="Cambria Math" panose="02040503050406030204" pitchFamily="18" charset="0"/>
                            <a:sym typeface="Symbol"/>
                          </a:rPr>
                          <m:t>𝑜𝑓</m:t>
                        </m:r>
                        <m:r>
                          <a:rPr lang="en-US" altLang="ko-KR" sz="1600">
                            <a:solidFill>
                              <a:schemeClr val="tx1">
                                <a:lumMod val="85000"/>
                                <a:lumOff val="15000"/>
                              </a:schemeClr>
                            </a:solidFill>
                            <a:latin typeface="Cambria Math" panose="02040503050406030204" pitchFamily="18" charset="0"/>
                            <a:sym typeface="Symbol"/>
                          </a:rPr>
                          <m:t> </m:t>
                        </m:r>
                        <m:r>
                          <a:rPr lang="en-US" altLang="ko-KR" sz="1600">
                            <a:solidFill>
                              <a:schemeClr val="tx1">
                                <a:lumMod val="85000"/>
                                <a:lumOff val="15000"/>
                              </a:schemeClr>
                            </a:solidFill>
                            <a:latin typeface="Cambria Math" panose="02040503050406030204" pitchFamily="18" charset="0"/>
                            <a:sym typeface="Symbol"/>
                          </a:rPr>
                          <m:t>𝑐𝑜𝑟𝑟𝑒𝑐𝑡</m:t>
                        </m:r>
                        <m:r>
                          <a:rPr lang="en-US" altLang="ko-KR" sz="1600">
                            <a:solidFill>
                              <a:schemeClr val="tx1">
                                <a:lumMod val="85000"/>
                                <a:lumOff val="15000"/>
                              </a:schemeClr>
                            </a:solidFill>
                            <a:latin typeface="Cambria Math" panose="02040503050406030204" pitchFamily="18" charset="0"/>
                            <a:sym typeface="Symbol"/>
                          </a:rPr>
                          <m:t> </m:t>
                        </m:r>
                        <m:r>
                          <a:rPr lang="en-US" altLang="ko-KR" sz="1600">
                            <a:solidFill>
                              <a:schemeClr val="tx1">
                                <a:lumMod val="85000"/>
                                <a:lumOff val="15000"/>
                              </a:schemeClr>
                            </a:solidFill>
                            <a:latin typeface="Cambria Math" panose="02040503050406030204" pitchFamily="18" charset="0"/>
                            <a:sym typeface="Symbol"/>
                          </a:rPr>
                          <m:t>𝑝𝑟𝑒𝑑𝑖𝑐𝑡𝑖𝑜𝑛𝑠</m:t>
                        </m:r>
                      </m:num>
                      <m:den>
                        <m:r>
                          <a:rPr lang="en-US" altLang="ko-KR" sz="1600">
                            <a:solidFill>
                              <a:schemeClr val="tx1">
                                <a:lumMod val="85000"/>
                                <a:lumOff val="15000"/>
                              </a:schemeClr>
                            </a:solidFill>
                            <a:latin typeface="Cambria Math" panose="02040503050406030204" pitchFamily="18" charset="0"/>
                            <a:sym typeface="Symbol"/>
                          </a:rPr>
                          <m:t>𝑇𝑜𝑡𝑎𝑙</m:t>
                        </m:r>
                        <m:r>
                          <a:rPr lang="en-US" altLang="ko-KR" sz="1600">
                            <a:solidFill>
                              <a:schemeClr val="tx1">
                                <a:lumMod val="85000"/>
                                <a:lumOff val="15000"/>
                              </a:schemeClr>
                            </a:solidFill>
                            <a:latin typeface="Cambria Math" panose="02040503050406030204" pitchFamily="18" charset="0"/>
                            <a:sym typeface="Symbol"/>
                          </a:rPr>
                          <m:t> </m:t>
                        </m:r>
                        <m:r>
                          <a:rPr lang="en-US" altLang="ko-KR" sz="1600">
                            <a:solidFill>
                              <a:schemeClr val="tx1">
                                <a:lumMod val="85000"/>
                                <a:lumOff val="15000"/>
                              </a:schemeClr>
                            </a:solidFill>
                            <a:latin typeface="Cambria Math" panose="02040503050406030204" pitchFamily="18" charset="0"/>
                            <a:sym typeface="Symbol"/>
                          </a:rPr>
                          <m:t>𝑛𝑢𝑚𝑏𝑒𝑟</m:t>
                        </m:r>
                        <m:r>
                          <a:rPr lang="en-US" altLang="ko-KR" sz="1600" b="0" i="0" smtClean="0">
                            <a:solidFill>
                              <a:schemeClr val="tx1">
                                <a:lumMod val="85000"/>
                                <a:lumOff val="15000"/>
                              </a:schemeClr>
                            </a:solidFill>
                            <a:latin typeface="Cambria Math" panose="02040503050406030204" pitchFamily="18" charset="0"/>
                            <a:sym typeface="Symbol"/>
                          </a:rPr>
                          <m:t> </m:t>
                        </m:r>
                        <m:r>
                          <a:rPr lang="en-US" altLang="ko-KR" sz="1600">
                            <a:solidFill>
                              <a:schemeClr val="tx1">
                                <a:lumMod val="85000"/>
                                <a:lumOff val="15000"/>
                              </a:schemeClr>
                            </a:solidFill>
                            <a:latin typeface="Cambria Math" panose="02040503050406030204" pitchFamily="18" charset="0"/>
                            <a:sym typeface="Symbol"/>
                          </a:rPr>
                          <m:t>𝑜𝑓</m:t>
                        </m:r>
                        <m:r>
                          <a:rPr lang="en-US" altLang="ko-KR" sz="1600" b="0" i="0" smtClean="0">
                            <a:solidFill>
                              <a:schemeClr val="tx1">
                                <a:lumMod val="85000"/>
                                <a:lumOff val="15000"/>
                              </a:schemeClr>
                            </a:solidFill>
                            <a:latin typeface="Cambria Math" panose="02040503050406030204" pitchFamily="18" charset="0"/>
                            <a:sym typeface="Symbol"/>
                          </a:rPr>
                          <m:t> </m:t>
                        </m:r>
                        <m:r>
                          <a:rPr lang="en-US" altLang="ko-KR" sz="1600">
                            <a:solidFill>
                              <a:schemeClr val="tx1">
                                <a:lumMod val="85000"/>
                                <a:lumOff val="15000"/>
                              </a:schemeClr>
                            </a:solidFill>
                            <a:latin typeface="Cambria Math" panose="02040503050406030204" pitchFamily="18" charset="0"/>
                            <a:sym typeface="Symbol"/>
                          </a:rPr>
                          <m:t>𝑝𝑟𝑒𝑑𝑖𝑐𝑡𝑖𝑜𝑛𝑠</m:t>
                        </m:r>
                      </m:den>
                    </m:f>
                  </m:oMath>
                </a14:m>
                <a:endParaRPr lang="en-US" altLang="ko-KR" sz="1600" dirty="0">
                  <a:solidFill>
                    <a:schemeClr val="tx1">
                      <a:lumMod val="85000"/>
                      <a:lumOff val="15000"/>
                    </a:schemeClr>
                  </a:solidFill>
                  <a:latin typeface="Cambria Math" panose="02040503050406030204" pitchFamily="18" charset="0"/>
                </a:endParaRPr>
              </a:p>
            </p:txBody>
          </p:sp>
        </mc:Choice>
        <mc:Fallback xmlns="">
          <p:sp>
            <p:nvSpPr>
              <p:cNvPr id="14" name="직사각형 13">
                <a:extLst>
                  <a:ext uri="{FF2B5EF4-FFF2-40B4-BE49-F238E27FC236}">
                    <a16:creationId xmlns:a16="http://schemas.microsoft.com/office/drawing/2014/main" xmlns="" xmlns:a14="http://schemas.microsoft.com/office/drawing/2010/main" id="{623E69B8-8402-49C3-8D8A-9A4F272388FB}"/>
                  </a:ext>
                </a:extLst>
              </p:cNvPr>
              <p:cNvSpPr>
                <a:spLocks noRot="1" noChangeAspect="1" noMove="1" noResize="1" noEditPoints="1" noAdjustHandles="1" noChangeArrowheads="1" noChangeShapeType="1" noTextEdit="1"/>
              </p:cNvSpPr>
              <p:nvPr/>
            </p:nvSpPr>
            <p:spPr>
              <a:xfrm>
                <a:off x="3138306" y="3024458"/>
                <a:ext cx="3626213" cy="477567"/>
              </a:xfrm>
              <a:prstGeom prst="rect">
                <a:avLst/>
              </a:prstGeom>
              <a:blipFill rotWithShape="0">
                <a:blip r:embed="rId4"/>
                <a:stretch>
                  <a:fillRect b="-5128"/>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132639739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Confusion matrix: Sensitivity</a:t>
            </a:r>
          </a:p>
        </p:txBody>
      </p:sp>
      <p:graphicFrame>
        <p:nvGraphicFramePr>
          <p:cNvPr id="7" name="표 6">
            <a:extLst>
              <a:ext uri="{FF2B5EF4-FFF2-40B4-BE49-F238E27FC236}">
                <a16:creationId xmlns:a16="http://schemas.microsoft.com/office/drawing/2014/main" id="{1D2F3580-8CCD-4953-B298-AACE88AEDF49}"/>
              </a:ext>
            </a:extLst>
          </p:cNvPr>
          <p:cNvGraphicFramePr>
            <a:graphicFrameLocks noGrp="1"/>
          </p:cNvGraphicFramePr>
          <p:nvPr>
            <p:extLst>
              <p:ext uri="{D42A27DB-BD31-4B8C-83A1-F6EECF244321}">
                <p14:modId xmlns:p14="http://schemas.microsoft.com/office/powerpoint/2010/main" val="3404337441"/>
              </p:ext>
            </p:extLst>
          </p:nvPr>
        </p:nvGraphicFramePr>
        <p:xfrm>
          <a:off x="1062980" y="1786702"/>
          <a:ext cx="8280027" cy="923160"/>
        </p:xfrm>
        <a:graphic>
          <a:graphicData uri="http://schemas.openxmlformats.org/drawingml/2006/table">
            <a:tbl>
              <a:tblPr firstRow="1" bandRow="1">
                <a:tableStyleId>{5940675A-B579-460E-94D1-54222C63F5DA}</a:tableStyleId>
              </a:tblPr>
              <a:tblGrid>
                <a:gridCol w="2760009">
                  <a:extLst>
                    <a:ext uri="{9D8B030D-6E8A-4147-A177-3AD203B41FA5}">
                      <a16:colId xmlns:a16="http://schemas.microsoft.com/office/drawing/2014/main" val="3750369147"/>
                    </a:ext>
                  </a:extLst>
                </a:gridCol>
                <a:gridCol w="2760009">
                  <a:extLst>
                    <a:ext uri="{9D8B030D-6E8A-4147-A177-3AD203B41FA5}">
                      <a16:colId xmlns:a16="http://schemas.microsoft.com/office/drawing/2014/main" val="2143277647"/>
                    </a:ext>
                  </a:extLst>
                </a:gridCol>
                <a:gridCol w="2760009">
                  <a:extLst>
                    <a:ext uri="{9D8B030D-6E8A-4147-A177-3AD203B41FA5}">
                      <a16:colId xmlns:a16="http://schemas.microsoft.com/office/drawing/2014/main" val="3836250627"/>
                    </a:ext>
                  </a:extLst>
                </a:gridCol>
              </a:tblGrid>
              <a:tr h="282472">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endParaRPr lang="en-US" altLang="ko-KR" sz="13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6350" cap="flat" cmpd="sng" algn="ctr">
                      <a:solidFill>
                        <a:schemeClr val="bg1">
                          <a:lumMod val="75000"/>
                        </a:schemeClr>
                      </a:solidFill>
                      <a:prstDash val="solid"/>
                      <a:round/>
                      <a:headEnd type="none" w="med" len="med"/>
                      <a:tailEnd type="none" w="med" len="med"/>
                    </a:lnTlToBr>
                    <a:solidFill>
                      <a:schemeClr val="bg1">
                        <a:lumMod val="85000"/>
                      </a:schemeClr>
                    </a:solidFill>
                  </a:tcPr>
                </a:tc>
                <a:tc>
                  <a:txBody>
                    <a:bodyPr/>
                    <a:lstStyle/>
                    <a:p>
                      <a:pPr marL="0" algn="ctr" defTabSz="914400" rtl="0" eaLnBrk="1" latinLnBrk="1" hangingPunct="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Actual 0</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914400" rtl="0" eaLnBrk="1" latinLnBrk="1" hangingPunct="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Actual 1</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32613760"/>
                  </a:ext>
                </a:extLst>
              </a:tr>
              <a:tr h="316800">
                <a:tc>
                  <a:txBody>
                    <a:bodyPr/>
                    <a:lstStyle/>
                    <a:p>
                      <a:pPr algn="ctr" latinLnBrk="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Predicted 0</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120</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5</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90397591"/>
                  </a:ext>
                </a:extLst>
              </a:tr>
              <a:tr h="316800">
                <a:tc>
                  <a:txBody>
                    <a:bodyPr/>
                    <a:lstStyle/>
                    <a:p>
                      <a:pPr algn="ctr" latinLnBrk="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Predicted 1</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15</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solidFill>
                            <a:srgbClr val="1429A0"/>
                          </a:solidFill>
                          <a:latin typeface="SamsungOne 400" panose="020B0503030303020204" pitchFamily="34" charset="0"/>
                          <a:ea typeface="SamsungOne 400" panose="020B0503030303020204" pitchFamily="34" charset="0"/>
                          <a:cs typeface="Times New Roman" panose="02020603050405020304" pitchFamily="18" charset="0"/>
                        </a:rPr>
                        <a:t>20</a:t>
                      </a:r>
                      <a:endParaRPr lang="ko-KR" altLang="en-US" sz="1300" b="0" kern="1200" dirty="0">
                        <a:solidFill>
                          <a:srgbClr val="1429A0"/>
                        </a:soli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91299897"/>
                  </a:ext>
                </a:extLst>
              </a:tr>
            </a:tbl>
          </a:graphicData>
        </a:graphic>
      </p:graphicFrame>
      <p:sp>
        <p:nvSpPr>
          <p:cNvPr id="9" name="사각형: 둥근 모서리 2">
            <a:extLst>
              <a:ext uri="{FF2B5EF4-FFF2-40B4-BE49-F238E27FC236}">
                <a16:creationId xmlns:a16="http://schemas.microsoft.com/office/drawing/2014/main" id="{FB28CA09-4698-4D81-A906-34481C50AEC3}"/>
              </a:ext>
            </a:extLst>
          </p:cNvPr>
          <p:cNvSpPr/>
          <p:nvPr/>
        </p:nvSpPr>
        <p:spPr>
          <a:xfrm>
            <a:off x="671261" y="1776542"/>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mc:AlternateContent xmlns:mc="http://schemas.openxmlformats.org/markup-compatibility/2006" xmlns:a14="http://schemas.microsoft.com/office/drawing/2010/main">
        <mc:Choice Requires="a14">
          <p:sp>
            <p:nvSpPr>
              <p:cNvPr id="14" name="직사각형 13">
                <a:extLst>
                  <a:ext uri="{FF2B5EF4-FFF2-40B4-BE49-F238E27FC236}">
                    <a16:creationId xmlns:a16="http://schemas.microsoft.com/office/drawing/2014/main" id="{623E69B8-8402-49C3-8D8A-9A4F272388FB}"/>
                  </a:ext>
                </a:extLst>
              </p:cNvPr>
              <p:cNvSpPr/>
              <p:nvPr/>
            </p:nvSpPr>
            <p:spPr>
              <a:xfrm>
                <a:off x="2974864" y="3024073"/>
                <a:ext cx="3953098" cy="4783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lgn="ctr"/>
                <a:r>
                  <a:rPr lang="en-US" altLang="ko-KR" sz="1600" dirty="0">
                    <a:solidFill>
                      <a:schemeClr val="tx1"/>
                    </a:solidFill>
                    <a:latin typeface="SamsungOne 400" panose="020B0503030303020204" pitchFamily="34" charset="0"/>
                    <a:ea typeface="SamsungOne 400" panose="020B0503030303020204" pitchFamily="34" charset="0"/>
                    <a:cs typeface="Times New Roman" panose="02020603050405020304" pitchFamily="18" charset="0"/>
                    <a:sym typeface="Symbol"/>
                  </a:rPr>
                  <a:t>Sensitivity = </a:t>
                </a:r>
                <a14:m>
                  <m:oMath xmlns:m="http://schemas.openxmlformats.org/officeDocument/2006/math">
                    <m:f>
                      <m:fPr>
                        <m:ctrlPr>
                          <a:rPr lang="en-US" altLang="ko-KR" sz="1600" i="1">
                            <a:solidFill>
                              <a:schemeClr val="tx1"/>
                            </a:solidFill>
                            <a:latin typeface="Cambria Math" panose="02040503050406030204" pitchFamily="18" charset="0"/>
                            <a:cs typeface="Times New Roman" panose="02020603050405020304" pitchFamily="18" charset="0"/>
                            <a:sym typeface="Symbol"/>
                          </a:rPr>
                        </m:ctrlPr>
                      </m:fPr>
                      <m:num>
                        <m:r>
                          <a:rPr lang="en-US" altLang="ko-KR" sz="1600" i="1">
                            <a:solidFill>
                              <a:schemeClr val="tx1"/>
                            </a:solidFill>
                            <a:latin typeface="Cambria Math" panose="02040503050406030204" pitchFamily="18" charset="0"/>
                            <a:cs typeface="Times New Roman" panose="02020603050405020304" pitchFamily="18" charset="0"/>
                            <a:sym typeface="Symbol"/>
                          </a:rPr>
                          <m:t>𝑁𝑢𝑚𝑏𝑒𝑟</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𝑜𝑓</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𝑐𝑜𝑟𝑟𝑒𝑐𝑡𝑙𝑦</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𝑝𝑟𝑒𝑑𝑖𝑐𝑡𝑒𝑑</m:t>
                        </m:r>
                        <m:r>
                          <a:rPr lang="en-US" altLang="ko-KR" sz="1600" i="1">
                            <a:solidFill>
                              <a:schemeClr val="tx1"/>
                            </a:solidFill>
                            <a:latin typeface="Cambria Math" panose="02040503050406030204" pitchFamily="18" charset="0"/>
                            <a:cs typeface="Times New Roman" panose="02020603050405020304" pitchFamily="18" charset="0"/>
                            <a:sym typeface="Symbol"/>
                          </a:rPr>
                          <m:t> 1</m:t>
                        </m:r>
                        <m:r>
                          <a:rPr lang="en-US" altLang="ko-KR" sz="1600" i="1">
                            <a:solidFill>
                              <a:schemeClr val="tx1"/>
                            </a:solidFill>
                            <a:latin typeface="Cambria Math" panose="02040503050406030204" pitchFamily="18" charset="0"/>
                            <a:cs typeface="Times New Roman" panose="02020603050405020304" pitchFamily="18" charset="0"/>
                            <a:sym typeface="Symbol"/>
                          </a:rPr>
                          <m:t>𝑠</m:t>
                        </m:r>
                      </m:num>
                      <m:den>
                        <m:r>
                          <a:rPr lang="en-US" altLang="ko-KR" sz="1600" i="1">
                            <a:solidFill>
                              <a:schemeClr val="tx1"/>
                            </a:solidFill>
                            <a:latin typeface="Cambria Math" panose="02040503050406030204" pitchFamily="18" charset="0"/>
                            <a:cs typeface="Times New Roman" panose="02020603050405020304" pitchFamily="18" charset="0"/>
                            <a:sym typeface="Symbol"/>
                          </a:rPr>
                          <m:t>𝑇𝑜𝑡𝑎𝑙</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𝑛𝑢𝑚𝑏𝑒𝑟</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𝑜𝑓</m:t>
                        </m:r>
                        <m:r>
                          <a:rPr lang="en-US" altLang="ko-KR" sz="1600" i="1">
                            <a:solidFill>
                              <a:schemeClr val="tx1"/>
                            </a:solidFill>
                            <a:latin typeface="Cambria Math" panose="02040503050406030204" pitchFamily="18" charset="0"/>
                            <a:cs typeface="Times New Roman" panose="02020603050405020304" pitchFamily="18" charset="0"/>
                            <a:sym typeface="Symbol"/>
                          </a:rPr>
                          <m:t> 1</m:t>
                        </m:r>
                        <m:r>
                          <a:rPr lang="en-US" altLang="ko-KR" sz="1600" i="1">
                            <a:solidFill>
                              <a:schemeClr val="tx1"/>
                            </a:solidFill>
                            <a:latin typeface="Cambria Math" panose="02040503050406030204" pitchFamily="18" charset="0"/>
                            <a:cs typeface="Times New Roman" panose="02020603050405020304" pitchFamily="18" charset="0"/>
                            <a:sym typeface="Symbol"/>
                          </a:rPr>
                          <m:t>𝑠</m:t>
                        </m:r>
                      </m:den>
                    </m:f>
                  </m:oMath>
                </a14:m>
                <a:endParaRPr lang="ko-KR" altLang="en-US" sz="1600" dirty="0">
                  <a:solidFill>
                    <a:schemeClr val="tx1"/>
                  </a:solidFill>
                  <a:latin typeface="SamsungOne 400" panose="020B0503030303020204" pitchFamily="34" charset="0"/>
                </a:endParaRPr>
              </a:p>
            </p:txBody>
          </p:sp>
        </mc:Choice>
        <mc:Fallback xmlns="">
          <p:sp>
            <p:nvSpPr>
              <p:cNvPr id="14" name="직사각형 13">
                <a:extLst>
                  <a:ext uri="{FF2B5EF4-FFF2-40B4-BE49-F238E27FC236}">
                    <a16:creationId xmlns:a16="http://schemas.microsoft.com/office/drawing/2014/main" id="{623E69B8-8402-49C3-8D8A-9A4F272388FB}"/>
                  </a:ext>
                </a:extLst>
              </p:cNvPr>
              <p:cNvSpPr>
                <a:spLocks noRot="1" noChangeAspect="1" noMove="1" noResize="1" noEditPoints="1" noAdjustHandles="1" noChangeArrowheads="1" noChangeShapeType="1" noTextEdit="1"/>
              </p:cNvSpPr>
              <p:nvPr/>
            </p:nvSpPr>
            <p:spPr>
              <a:xfrm>
                <a:off x="2974864" y="3024073"/>
                <a:ext cx="3953098" cy="478336"/>
              </a:xfrm>
              <a:prstGeom prst="rect">
                <a:avLst/>
              </a:prstGeom>
              <a:blipFill>
                <a:blip r:embed="rId4"/>
                <a:stretch>
                  <a:fillRect b="-3797"/>
                </a:stretch>
              </a:blipFill>
              <a:ln>
                <a:noFill/>
              </a:ln>
            </p:spPr>
            <p:txBody>
              <a:bodyPr/>
              <a:lstStyle/>
              <a:p>
                <a:r>
                  <a:rPr lang="ko-KR" altLang="en-US">
                    <a:noFill/>
                  </a:rPr>
                  <a:t> </a:t>
                </a:r>
              </a:p>
            </p:txBody>
          </p:sp>
        </mc:Fallback>
      </mc:AlternateContent>
      <p:grpSp>
        <p:nvGrpSpPr>
          <p:cNvPr id="2" name="그룹 1">
            <a:extLst>
              <a:ext uri="{FF2B5EF4-FFF2-40B4-BE49-F238E27FC236}">
                <a16:creationId xmlns:a16="http://schemas.microsoft.com/office/drawing/2014/main" id="{333ACBFD-F107-4DA0-B59A-A1AC85D4D5EE}"/>
              </a:ext>
            </a:extLst>
          </p:cNvPr>
          <p:cNvGrpSpPr/>
          <p:nvPr/>
        </p:nvGrpSpPr>
        <p:grpSpPr>
          <a:xfrm>
            <a:off x="6571592" y="2067122"/>
            <a:ext cx="2772433" cy="635060"/>
            <a:chOff x="6571592" y="2067122"/>
            <a:chExt cx="2772433" cy="635060"/>
          </a:xfrm>
        </p:grpSpPr>
        <p:sp>
          <p:nvSpPr>
            <p:cNvPr id="11" name="Rectangle 1">
              <a:extLst>
                <a:ext uri="{FF2B5EF4-FFF2-40B4-BE49-F238E27FC236}">
                  <a16:creationId xmlns:a16="http://schemas.microsoft.com/office/drawing/2014/main" id="{2CE30977-E314-4BCB-A7DB-8EB0E1B7DBE4}"/>
                </a:ext>
              </a:extLst>
            </p:cNvPr>
            <p:cNvSpPr/>
            <p:nvPr/>
          </p:nvSpPr>
          <p:spPr>
            <a:xfrm>
              <a:off x="6571592" y="2067122"/>
              <a:ext cx="2772433" cy="635060"/>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latinLnBrk="1"/>
              <a:endParaRPr lang="en-US">
                <a:latin typeface="SamsungOne 400" panose="020B0503030303020204" pitchFamily="34" charset="0"/>
                <a:ea typeface="SamsungOne 400" panose="020B0503030303020204" pitchFamily="34" charset="0"/>
              </a:endParaRPr>
            </a:p>
          </p:txBody>
        </p:sp>
        <p:sp>
          <p:nvSpPr>
            <p:cNvPr id="15" name="Oval 6">
              <a:extLst>
                <a:ext uri="{FF2B5EF4-FFF2-40B4-BE49-F238E27FC236}">
                  <a16:creationId xmlns:a16="http://schemas.microsoft.com/office/drawing/2014/main" id="{3D7F3B9F-10B8-489C-AD49-F5E9892630BE}"/>
                </a:ext>
              </a:extLst>
            </p:cNvPr>
            <p:cNvSpPr/>
            <p:nvPr/>
          </p:nvSpPr>
          <p:spPr>
            <a:xfrm rot="16596189">
              <a:off x="7816411" y="2400587"/>
              <a:ext cx="282793" cy="288000"/>
            </a:xfrm>
            <a:prstGeom prst="roundRect">
              <a:avLst>
                <a:gd name="adj" fmla="val 50000"/>
              </a:avLst>
            </a:prstGeom>
            <a:noFill/>
            <a:ln w="19050">
              <a:solidFill>
                <a:srgbClr val="193EB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latinLnBrk="1"/>
              <a:endParaRPr lang="en-US">
                <a:latin typeface="SamsungOne 400" panose="020B0503030303020204" pitchFamily="34" charset="0"/>
                <a:ea typeface="SamsungOne 400" panose="020B0503030303020204" pitchFamily="34" charset="0"/>
              </a:endParaRPr>
            </a:p>
          </p:txBody>
        </p:sp>
      </p:grpSp>
    </p:spTree>
    <p:extLst>
      <p:ext uri="{BB962C8B-B14F-4D97-AF65-F5344CB8AC3E}">
        <p14:creationId xmlns:p14="http://schemas.microsoft.com/office/powerpoint/2010/main" val="273512963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Confusion matrix: Specificity</a:t>
            </a:r>
          </a:p>
        </p:txBody>
      </p:sp>
      <p:graphicFrame>
        <p:nvGraphicFramePr>
          <p:cNvPr id="7" name="표 6">
            <a:extLst>
              <a:ext uri="{FF2B5EF4-FFF2-40B4-BE49-F238E27FC236}">
                <a16:creationId xmlns:a16="http://schemas.microsoft.com/office/drawing/2014/main" id="{1D2F3580-8CCD-4953-B298-AACE88AEDF49}"/>
              </a:ext>
            </a:extLst>
          </p:cNvPr>
          <p:cNvGraphicFramePr>
            <a:graphicFrameLocks noGrp="1"/>
          </p:cNvGraphicFramePr>
          <p:nvPr>
            <p:extLst>
              <p:ext uri="{D42A27DB-BD31-4B8C-83A1-F6EECF244321}">
                <p14:modId xmlns:p14="http://schemas.microsoft.com/office/powerpoint/2010/main" val="2542451808"/>
              </p:ext>
            </p:extLst>
          </p:nvPr>
        </p:nvGraphicFramePr>
        <p:xfrm>
          <a:off x="1062980" y="1786702"/>
          <a:ext cx="8280027" cy="923160"/>
        </p:xfrm>
        <a:graphic>
          <a:graphicData uri="http://schemas.openxmlformats.org/drawingml/2006/table">
            <a:tbl>
              <a:tblPr firstRow="1" bandRow="1">
                <a:tableStyleId>{5940675A-B579-460E-94D1-54222C63F5DA}</a:tableStyleId>
              </a:tblPr>
              <a:tblGrid>
                <a:gridCol w="2760009">
                  <a:extLst>
                    <a:ext uri="{9D8B030D-6E8A-4147-A177-3AD203B41FA5}">
                      <a16:colId xmlns:a16="http://schemas.microsoft.com/office/drawing/2014/main" val="3750369147"/>
                    </a:ext>
                  </a:extLst>
                </a:gridCol>
                <a:gridCol w="2760009">
                  <a:extLst>
                    <a:ext uri="{9D8B030D-6E8A-4147-A177-3AD203B41FA5}">
                      <a16:colId xmlns:a16="http://schemas.microsoft.com/office/drawing/2014/main" val="2143277647"/>
                    </a:ext>
                  </a:extLst>
                </a:gridCol>
                <a:gridCol w="2760009">
                  <a:extLst>
                    <a:ext uri="{9D8B030D-6E8A-4147-A177-3AD203B41FA5}">
                      <a16:colId xmlns:a16="http://schemas.microsoft.com/office/drawing/2014/main" val="3836250627"/>
                    </a:ext>
                  </a:extLst>
                </a:gridCol>
              </a:tblGrid>
              <a:tr h="282472">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endParaRPr lang="en-US" altLang="ko-KR" sz="13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6350" cap="flat" cmpd="sng" algn="ctr">
                      <a:solidFill>
                        <a:schemeClr val="bg1">
                          <a:lumMod val="75000"/>
                        </a:schemeClr>
                      </a:solidFill>
                      <a:prstDash val="solid"/>
                      <a:round/>
                      <a:headEnd type="none" w="med" len="med"/>
                      <a:tailEnd type="none" w="med" len="med"/>
                    </a:lnTlToBr>
                    <a:solidFill>
                      <a:schemeClr val="bg1">
                        <a:lumMod val="85000"/>
                      </a:schemeClr>
                    </a:solidFill>
                  </a:tcPr>
                </a:tc>
                <a:tc>
                  <a:txBody>
                    <a:bodyPr/>
                    <a:lstStyle/>
                    <a:p>
                      <a:pPr marL="0" algn="ctr" defTabSz="914400" rtl="0" eaLnBrk="1" latinLnBrk="1" hangingPunct="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Actual 0</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914400" rtl="0" eaLnBrk="1" latinLnBrk="1" hangingPunct="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Actual 1</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32613760"/>
                  </a:ext>
                </a:extLst>
              </a:tr>
              <a:tr h="316800">
                <a:tc>
                  <a:txBody>
                    <a:bodyPr/>
                    <a:lstStyle/>
                    <a:p>
                      <a:pPr algn="ctr" latinLnBrk="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Predicted 0</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solidFill>
                            <a:srgbClr val="1429A0"/>
                          </a:solidFill>
                          <a:latin typeface="SamsungOne 400" panose="020B0503030303020204" pitchFamily="34" charset="0"/>
                          <a:ea typeface="SamsungOne 400" panose="020B0503030303020204" pitchFamily="34" charset="0"/>
                          <a:cs typeface="Times New Roman" panose="02020603050405020304" pitchFamily="18" charset="0"/>
                        </a:rPr>
                        <a:t>120</a:t>
                      </a:r>
                      <a:endParaRPr lang="ko-KR" altLang="en-US" sz="1300" b="0" kern="1200" dirty="0">
                        <a:solidFill>
                          <a:srgbClr val="1429A0"/>
                        </a:soli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5</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90397591"/>
                  </a:ext>
                </a:extLst>
              </a:tr>
              <a:tr h="316800">
                <a:tc>
                  <a:txBody>
                    <a:bodyPr/>
                    <a:lstStyle/>
                    <a:p>
                      <a:pPr algn="ctr" latinLnBrk="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Predicted 1</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15</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solidFill>
                            <a:schemeClr val="tx1"/>
                          </a:solidFill>
                          <a:latin typeface="SamsungOne 400" panose="020B0503030303020204" pitchFamily="34" charset="0"/>
                          <a:ea typeface="SamsungOne 400" panose="020B0503030303020204" pitchFamily="34" charset="0"/>
                          <a:cs typeface="Times New Roman" panose="02020603050405020304" pitchFamily="18" charset="0"/>
                        </a:rPr>
                        <a:t>20</a:t>
                      </a:r>
                      <a:endParaRPr lang="ko-KR" altLang="en-US" sz="1300" b="0" kern="1200" dirty="0">
                        <a:solidFill>
                          <a:schemeClr val="tx1"/>
                        </a:soli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91299897"/>
                  </a:ext>
                </a:extLst>
              </a:tr>
            </a:tbl>
          </a:graphicData>
        </a:graphic>
      </p:graphicFrame>
      <p:sp>
        <p:nvSpPr>
          <p:cNvPr id="9" name="사각형: 둥근 모서리 2">
            <a:extLst>
              <a:ext uri="{FF2B5EF4-FFF2-40B4-BE49-F238E27FC236}">
                <a16:creationId xmlns:a16="http://schemas.microsoft.com/office/drawing/2014/main" id="{FB28CA09-4698-4D81-A906-34481C50AEC3}"/>
              </a:ext>
            </a:extLst>
          </p:cNvPr>
          <p:cNvSpPr/>
          <p:nvPr/>
        </p:nvSpPr>
        <p:spPr>
          <a:xfrm>
            <a:off x="671261" y="1776542"/>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mc:AlternateContent xmlns:mc="http://schemas.openxmlformats.org/markup-compatibility/2006" xmlns:a14="http://schemas.microsoft.com/office/drawing/2010/main">
        <mc:Choice Requires="a14">
          <p:sp>
            <p:nvSpPr>
              <p:cNvPr id="14" name="직사각형 13">
                <a:extLst>
                  <a:ext uri="{FF2B5EF4-FFF2-40B4-BE49-F238E27FC236}">
                    <a16:creationId xmlns:a16="http://schemas.microsoft.com/office/drawing/2014/main" id="{623E69B8-8402-49C3-8D8A-9A4F272388FB}"/>
                  </a:ext>
                </a:extLst>
              </p:cNvPr>
              <p:cNvSpPr/>
              <p:nvPr/>
            </p:nvSpPr>
            <p:spPr>
              <a:xfrm>
                <a:off x="2980474" y="3024073"/>
                <a:ext cx="3941877" cy="4783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lgn="ctr"/>
                <a:r>
                  <a:rPr lang="en-US" altLang="ko-KR" sz="1600" dirty="0">
                    <a:solidFill>
                      <a:schemeClr val="tx1"/>
                    </a:solidFill>
                    <a:latin typeface="SamsungOne 400" panose="020B0503030303020204" pitchFamily="34" charset="0"/>
                    <a:ea typeface="SamsungOne 400" panose="020B0503030303020204" pitchFamily="34" charset="0"/>
                    <a:cs typeface="Times New Roman" panose="02020603050405020304" pitchFamily="18" charset="0"/>
                    <a:sym typeface="Symbol"/>
                  </a:rPr>
                  <a:t>Specificity = </a:t>
                </a:r>
                <a14:m>
                  <m:oMath xmlns:m="http://schemas.openxmlformats.org/officeDocument/2006/math">
                    <m:f>
                      <m:fPr>
                        <m:ctrlPr>
                          <a:rPr lang="en-US" altLang="ko-KR" sz="1600" i="1">
                            <a:solidFill>
                              <a:schemeClr val="tx1"/>
                            </a:solidFill>
                            <a:latin typeface="Cambria Math" panose="02040503050406030204" pitchFamily="18" charset="0"/>
                            <a:cs typeface="Times New Roman" panose="02020603050405020304" pitchFamily="18" charset="0"/>
                            <a:sym typeface="Symbol"/>
                          </a:rPr>
                        </m:ctrlPr>
                      </m:fPr>
                      <m:num>
                        <m:r>
                          <a:rPr lang="en-US" altLang="ko-KR" sz="1600" i="1">
                            <a:solidFill>
                              <a:schemeClr val="tx1"/>
                            </a:solidFill>
                            <a:latin typeface="Cambria Math" panose="02040503050406030204" pitchFamily="18" charset="0"/>
                            <a:cs typeface="Times New Roman" panose="02020603050405020304" pitchFamily="18" charset="0"/>
                            <a:sym typeface="Symbol"/>
                          </a:rPr>
                          <m:t>𝑁𝑢𝑚𝑏𝑒𝑟</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𝑜𝑓</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𝑐𝑜𝑟𝑟𝑒𝑐𝑡𝑙𝑦</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𝑝𝑟𝑒𝑑𝑖𝑐𝑡𝑒𝑑</m:t>
                        </m:r>
                        <m:r>
                          <a:rPr lang="en-US" altLang="ko-KR" sz="1600" i="1">
                            <a:solidFill>
                              <a:schemeClr val="tx1"/>
                            </a:solidFill>
                            <a:latin typeface="Cambria Math" panose="02040503050406030204" pitchFamily="18" charset="0"/>
                            <a:cs typeface="Times New Roman" panose="02020603050405020304" pitchFamily="18" charset="0"/>
                            <a:sym typeface="Symbol"/>
                          </a:rPr>
                          <m:t> 0</m:t>
                        </m:r>
                        <m:r>
                          <a:rPr lang="en-US" altLang="ko-KR" sz="1600" i="1">
                            <a:solidFill>
                              <a:schemeClr val="tx1"/>
                            </a:solidFill>
                            <a:latin typeface="Cambria Math" panose="02040503050406030204" pitchFamily="18" charset="0"/>
                            <a:cs typeface="Times New Roman" panose="02020603050405020304" pitchFamily="18" charset="0"/>
                            <a:sym typeface="Symbol"/>
                          </a:rPr>
                          <m:t>𝑠</m:t>
                        </m:r>
                      </m:num>
                      <m:den>
                        <m:r>
                          <a:rPr lang="en-US" altLang="ko-KR" sz="1600" i="1">
                            <a:solidFill>
                              <a:schemeClr val="tx1"/>
                            </a:solidFill>
                            <a:latin typeface="Cambria Math" panose="02040503050406030204" pitchFamily="18" charset="0"/>
                            <a:cs typeface="Times New Roman" panose="02020603050405020304" pitchFamily="18" charset="0"/>
                            <a:sym typeface="Symbol"/>
                          </a:rPr>
                          <m:t>𝑇𝑜𝑡𝑎𝑙</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𝑛𝑢𝑚𝑏𝑒𝑟</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𝑜𝑓</m:t>
                        </m:r>
                        <m:r>
                          <a:rPr lang="en-US" altLang="ko-KR" sz="1600" i="1">
                            <a:solidFill>
                              <a:schemeClr val="tx1"/>
                            </a:solidFill>
                            <a:latin typeface="Cambria Math" panose="02040503050406030204" pitchFamily="18" charset="0"/>
                            <a:cs typeface="Times New Roman" panose="02020603050405020304" pitchFamily="18" charset="0"/>
                            <a:sym typeface="Symbol"/>
                          </a:rPr>
                          <m:t> 0</m:t>
                        </m:r>
                        <m:r>
                          <a:rPr lang="en-US" altLang="ko-KR" sz="1600" i="1">
                            <a:solidFill>
                              <a:schemeClr val="tx1"/>
                            </a:solidFill>
                            <a:latin typeface="Cambria Math" panose="02040503050406030204" pitchFamily="18" charset="0"/>
                            <a:cs typeface="Times New Roman" panose="02020603050405020304" pitchFamily="18" charset="0"/>
                            <a:sym typeface="Symbol"/>
                          </a:rPr>
                          <m:t>𝑠</m:t>
                        </m:r>
                      </m:den>
                    </m:f>
                  </m:oMath>
                </a14:m>
                <a:endParaRPr lang="ko-KR" altLang="en-US" sz="1600" dirty="0">
                  <a:solidFill>
                    <a:schemeClr val="tx1"/>
                  </a:solidFill>
                  <a:latin typeface="SamsungOne 400" panose="020B0503030303020204" pitchFamily="34" charset="0"/>
                </a:endParaRPr>
              </a:p>
            </p:txBody>
          </p:sp>
        </mc:Choice>
        <mc:Fallback xmlns="">
          <p:sp>
            <p:nvSpPr>
              <p:cNvPr id="14" name="직사각형 13">
                <a:extLst>
                  <a:ext uri="{FF2B5EF4-FFF2-40B4-BE49-F238E27FC236}">
                    <a16:creationId xmlns:a16="http://schemas.microsoft.com/office/drawing/2014/main" id="{623E69B8-8402-49C3-8D8A-9A4F272388FB}"/>
                  </a:ext>
                </a:extLst>
              </p:cNvPr>
              <p:cNvSpPr>
                <a:spLocks noRot="1" noChangeAspect="1" noMove="1" noResize="1" noEditPoints="1" noAdjustHandles="1" noChangeArrowheads="1" noChangeShapeType="1" noTextEdit="1"/>
              </p:cNvSpPr>
              <p:nvPr/>
            </p:nvSpPr>
            <p:spPr>
              <a:xfrm>
                <a:off x="2980474" y="3024073"/>
                <a:ext cx="3941877" cy="478336"/>
              </a:xfrm>
              <a:prstGeom prst="rect">
                <a:avLst/>
              </a:prstGeom>
              <a:blipFill>
                <a:blip r:embed="rId4"/>
                <a:stretch>
                  <a:fillRect b="-3797"/>
                </a:stretch>
              </a:blipFill>
              <a:ln>
                <a:noFill/>
              </a:ln>
            </p:spPr>
            <p:txBody>
              <a:bodyPr/>
              <a:lstStyle/>
              <a:p>
                <a:r>
                  <a:rPr lang="ko-KR" altLang="en-US">
                    <a:noFill/>
                  </a:rPr>
                  <a:t> </a:t>
                </a:r>
              </a:p>
            </p:txBody>
          </p:sp>
        </mc:Fallback>
      </mc:AlternateContent>
      <p:grpSp>
        <p:nvGrpSpPr>
          <p:cNvPr id="2" name="그룹 1">
            <a:extLst>
              <a:ext uri="{FF2B5EF4-FFF2-40B4-BE49-F238E27FC236}">
                <a16:creationId xmlns:a16="http://schemas.microsoft.com/office/drawing/2014/main" id="{333ACBFD-F107-4DA0-B59A-A1AC85D4D5EE}"/>
              </a:ext>
            </a:extLst>
          </p:cNvPr>
          <p:cNvGrpSpPr/>
          <p:nvPr/>
        </p:nvGrpSpPr>
        <p:grpSpPr>
          <a:xfrm>
            <a:off x="3816776" y="2067122"/>
            <a:ext cx="2772433" cy="635060"/>
            <a:chOff x="6571592" y="2067122"/>
            <a:chExt cx="2772433" cy="635060"/>
          </a:xfrm>
        </p:grpSpPr>
        <p:sp>
          <p:nvSpPr>
            <p:cNvPr id="11" name="Rectangle 1">
              <a:extLst>
                <a:ext uri="{FF2B5EF4-FFF2-40B4-BE49-F238E27FC236}">
                  <a16:creationId xmlns:a16="http://schemas.microsoft.com/office/drawing/2014/main" id="{2CE30977-E314-4BCB-A7DB-8EB0E1B7DBE4}"/>
                </a:ext>
              </a:extLst>
            </p:cNvPr>
            <p:cNvSpPr/>
            <p:nvPr/>
          </p:nvSpPr>
          <p:spPr>
            <a:xfrm>
              <a:off x="6571592" y="2067122"/>
              <a:ext cx="2772433" cy="635060"/>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latinLnBrk="1"/>
              <a:endParaRPr lang="en-US">
                <a:latin typeface="SamsungOne 400" panose="020B0503030303020204" pitchFamily="34" charset="0"/>
                <a:ea typeface="SamsungOne 400" panose="020B0503030303020204" pitchFamily="34" charset="0"/>
              </a:endParaRPr>
            </a:p>
          </p:txBody>
        </p:sp>
        <p:sp>
          <p:nvSpPr>
            <p:cNvPr id="15" name="Oval 6">
              <a:extLst>
                <a:ext uri="{FF2B5EF4-FFF2-40B4-BE49-F238E27FC236}">
                  <a16:creationId xmlns:a16="http://schemas.microsoft.com/office/drawing/2014/main" id="{3D7F3B9F-10B8-489C-AD49-F5E9892630BE}"/>
                </a:ext>
              </a:extLst>
            </p:cNvPr>
            <p:cNvSpPr/>
            <p:nvPr/>
          </p:nvSpPr>
          <p:spPr>
            <a:xfrm rot="16596189">
              <a:off x="7816411" y="2104281"/>
              <a:ext cx="282793" cy="288000"/>
            </a:xfrm>
            <a:prstGeom prst="roundRect">
              <a:avLst>
                <a:gd name="adj" fmla="val 50000"/>
              </a:avLst>
            </a:prstGeom>
            <a:noFill/>
            <a:ln w="19050">
              <a:solidFill>
                <a:srgbClr val="193EB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latinLnBrk="1"/>
              <a:endParaRPr lang="en-US" dirty="0">
                <a:latin typeface="SamsungOne 400" panose="020B0503030303020204" pitchFamily="34" charset="0"/>
                <a:ea typeface="SamsungOne 400" panose="020B0503030303020204" pitchFamily="34" charset="0"/>
              </a:endParaRPr>
            </a:p>
          </p:txBody>
        </p:sp>
      </p:grpSp>
    </p:spTree>
    <p:extLst>
      <p:ext uri="{BB962C8B-B14F-4D97-AF65-F5344CB8AC3E}">
        <p14:creationId xmlns:p14="http://schemas.microsoft.com/office/powerpoint/2010/main" val="279152887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Confusion matrix: Precision</a:t>
            </a:r>
          </a:p>
        </p:txBody>
      </p:sp>
      <p:graphicFrame>
        <p:nvGraphicFramePr>
          <p:cNvPr id="7" name="표 6">
            <a:extLst>
              <a:ext uri="{FF2B5EF4-FFF2-40B4-BE49-F238E27FC236}">
                <a16:creationId xmlns:a16="http://schemas.microsoft.com/office/drawing/2014/main" id="{1D2F3580-8CCD-4953-B298-AACE88AEDF49}"/>
              </a:ext>
            </a:extLst>
          </p:cNvPr>
          <p:cNvGraphicFramePr>
            <a:graphicFrameLocks noGrp="1"/>
          </p:cNvGraphicFramePr>
          <p:nvPr>
            <p:extLst>
              <p:ext uri="{D42A27DB-BD31-4B8C-83A1-F6EECF244321}">
                <p14:modId xmlns:p14="http://schemas.microsoft.com/office/powerpoint/2010/main" val="2848253012"/>
              </p:ext>
            </p:extLst>
          </p:nvPr>
        </p:nvGraphicFramePr>
        <p:xfrm>
          <a:off x="1062980" y="1786702"/>
          <a:ext cx="8280027" cy="923160"/>
        </p:xfrm>
        <a:graphic>
          <a:graphicData uri="http://schemas.openxmlformats.org/drawingml/2006/table">
            <a:tbl>
              <a:tblPr firstRow="1" bandRow="1">
                <a:tableStyleId>{5940675A-B579-460E-94D1-54222C63F5DA}</a:tableStyleId>
              </a:tblPr>
              <a:tblGrid>
                <a:gridCol w="2760009">
                  <a:extLst>
                    <a:ext uri="{9D8B030D-6E8A-4147-A177-3AD203B41FA5}">
                      <a16:colId xmlns:a16="http://schemas.microsoft.com/office/drawing/2014/main" val="3750369147"/>
                    </a:ext>
                  </a:extLst>
                </a:gridCol>
                <a:gridCol w="2760009">
                  <a:extLst>
                    <a:ext uri="{9D8B030D-6E8A-4147-A177-3AD203B41FA5}">
                      <a16:colId xmlns:a16="http://schemas.microsoft.com/office/drawing/2014/main" val="2143277647"/>
                    </a:ext>
                  </a:extLst>
                </a:gridCol>
                <a:gridCol w="2760009">
                  <a:extLst>
                    <a:ext uri="{9D8B030D-6E8A-4147-A177-3AD203B41FA5}">
                      <a16:colId xmlns:a16="http://schemas.microsoft.com/office/drawing/2014/main" val="3836250627"/>
                    </a:ext>
                  </a:extLst>
                </a:gridCol>
              </a:tblGrid>
              <a:tr h="282472">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endParaRPr lang="en-US" altLang="ko-KR" sz="13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6350" cap="flat" cmpd="sng" algn="ctr">
                      <a:solidFill>
                        <a:schemeClr val="bg1">
                          <a:lumMod val="75000"/>
                        </a:schemeClr>
                      </a:solidFill>
                      <a:prstDash val="solid"/>
                      <a:round/>
                      <a:headEnd type="none" w="med" len="med"/>
                      <a:tailEnd type="none" w="med" len="med"/>
                    </a:lnTlToBr>
                    <a:solidFill>
                      <a:schemeClr val="bg1">
                        <a:lumMod val="85000"/>
                      </a:schemeClr>
                    </a:solidFill>
                  </a:tcPr>
                </a:tc>
                <a:tc>
                  <a:txBody>
                    <a:bodyPr/>
                    <a:lstStyle/>
                    <a:p>
                      <a:pPr marL="0" algn="ctr" defTabSz="914400" rtl="0" eaLnBrk="1" latinLnBrk="1" hangingPunct="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Actual 0</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914400" rtl="0" eaLnBrk="1" latinLnBrk="1" hangingPunct="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Actual 1</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32613760"/>
                  </a:ext>
                </a:extLst>
              </a:tr>
              <a:tr h="316800">
                <a:tc>
                  <a:txBody>
                    <a:bodyPr/>
                    <a:lstStyle/>
                    <a:p>
                      <a:pPr algn="ctr" latinLnBrk="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Predicted 0</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solidFill>
                            <a:schemeClr val="tx1"/>
                          </a:solidFill>
                          <a:latin typeface="SamsungOne 400" panose="020B0503030303020204" pitchFamily="34" charset="0"/>
                          <a:ea typeface="SamsungOne 400" panose="020B0503030303020204" pitchFamily="34" charset="0"/>
                          <a:cs typeface="Times New Roman" panose="02020603050405020304" pitchFamily="18" charset="0"/>
                        </a:rPr>
                        <a:t>120</a:t>
                      </a:r>
                      <a:endParaRPr lang="ko-KR" altLang="en-US" sz="1300" b="0" kern="1200" dirty="0">
                        <a:solidFill>
                          <a:schemeClr val="tx1"/>
                        </a:soli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5</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90397591"/>
                  </a:ext>
                </a:extLst>
              </a:tr>
              <a:tr h="316800">
                <a:tc>
                  <a:txBody>
                    <a:bodyPr/>
                    <a:lstStyle/>
                    <a:p>
                      <a:pPr algn="ctr" latinLnBrk="1"/>
                      <a:r>
                        <a:rPr lang="en-US" altLang="ko-KR" sz="13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Predicted 1</a:t>
                      </a:r>
                      <a:endParaRPr lang="ko-KR" altLang="en-US" sz="1300" b="0" kern="1200" dirty="0">
                        <a:solidFill>
                          <a:srgbClr val="1429A0"/>
                        </a:solidFill>
                        <a:latin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15</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lang="en-US" altLang="ko-KR" sz="1300" b="0" kern="1200" dirty="0">
                          <a:solidFill>
                            <a:srgbClr val="1429A0"/>
                          </a:solidFill>
                          <a:latin typeface="SamsungOne 400" panose="020B0503030303020204" pitchFamily="34" charset="0"/>
                          <a:ea typeface="SamsungOne 400" panose="020B0503030303020204" pitchFamily="34" charset="0"/>
                          <a:cs typeface="Times New Roman" panose="02020603050405020304" pitchFamily="18" charset="0"/>
                        </a:rPr>
                        <a:t>20</a:t>
                      </a:r>
                      <a:endParaRPr lang="ko-KR" altLang="en-US" sz="1300" b="0" kern="1200" dirty="0">
                        <a:solidFill>
                          <a:srgbClr val="1429A0"/>
                        </a:solidFill>
                        <a:latin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91299897"/>
                  </a:ext>
                </a:extLst>
              </a:tr>
            </a:tbl>
          </a:graphicData>
        </a:graphic>
      </p:graphicFrame>
      <p:sp>
        <p:nvSpPr>
          <p:cNvPr id="9" name="사각형: 둥근 모서리 2">
            <a:extLst>
              <a:ext uri="{FF2B5EF4-FFF2-40B4-BE49-F238E27FC236}">
                <a16:creationId xmlns:a16="http://schemas.microsoft.com/office/drawing/2014/main" id="{FB28CA09-4698-4D81-A906-34481C50AEC3}"/>
              </a:ext>
            </a:extLst>
          </p:cNvPr>
          <p:cNvSpPr/>
          <p:nvPr/>
        </p:nvSpPr>
        <p:spPr>
          <a:xfrm>
            <a:off x="671261" y="1776542"/>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mc:AlternateContent xmlns:mc="http://schemas.openxmlformats.org/markup-compatibility/2006" xmlns:a14="http://schemas.microsoft.com/office/drawing/2010/main">
        <mc:Choice Requires="a14">
          <p:sp>
            <p:nvSpPr>
              <p:cNvPr id="14" name="직사각형 13">
                <a:extLst>
                  <a:ext uri="{FF2B5EF4-FFF2-40B4-BE49-F238E27FC236}">
                    <a16:creationId xmlns:a16="http://schemas.microsoft.com/office/drawing/2014/main" id="{623E69B8-8402-49C3-8D8A-9A4F272388FB}"/>
                  </a:ext>
                </a:extLst>
              </p:cNvPr>
              <p:cNvSpPr/>
              <p:nvPr/>
            </p:nvSpPr>
            <p:spPr>
              <a:xfrm>
                <a:off x="2980474" y="3024073"/>
                <a:ext cx="3832872" cy="4783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r>
                  <a:rPr lang="en-US" altLang="ko-KR" sz="1600" dirty="0">
                    <a:solidFill>
                      <a:schemeClr val="tx1"/>
                    </a:solidFill>
                    <a:latin typeface="SamsungOne 400" panose="020B0503030303020204" pitchFamily="34" charset="0"/>
                    <a:ea typeface="SamsungOne 400" panose="020B0503030303020204" pitchFamily="34" charset="0"/>
                    <a:cs typeface="Times New Roman" panose="02020603050405020304" pitchFamily="18" charset="0"/>
                    <a:sym typeface="Symbol"/>
                  </a:rPr>
                  <a:t>Precision = </a:t>
                </a:r>
                <a14:m>
                  <m:oMath xmlns:m="http://schemas.openxmlformats.org/officeDocument/2006/math">
                    <m:f>
                      <m:fPr>
                        <m:ctrlPr>
                          <a:rPr lang="en-US" altLang="ko-KR" sz="1600" i="1">
                            <a:solidFill>
                              <a:schemeClr val="tx1"/>
                            </a:solidFill>
                            <a:latin typeface="Cambria Math" panose="02040503050406030204" pitchFamily="18" charset="0"/>
                            <a:cs typeface="Times New Roman" panose="02020603050405020304" pitchFamily="18" charset="0"/>
                            <a:sym typeface="Symbol"/>
                          </a:rPr>
                        </m:ctrlPr>
                      </m:fPr>
                      <m:num>
                        <m:r>
                          <a:rPr lang="en-US" altLang="ko-KR" sz="1600" i="1">
                            <a:solidFill>
                              <a:schemeClr val="tx1"/>
                            </a:solidFill>
                            <a:latin typeface="Cambria Math" panose="02040503050406030204" pitchFamily="18" charset="0"/>
                            <a:cs typeface="Times New Roman" panose="02020603050405020304" pitchFamily="18" charset="0"/>
                            <a:sym typeface="Symbol"/>
                          </a:rPr>
                          <m:t>𝑁𝑢𝑚𝑏𝑒𝑟</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𝑜𝑓</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𝑐𝑜𝑟𝑟𝑒𝑐𝑡𝑙𝑦</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𝑝𝑟𝑒𝑑𝑖𝑐𝑡𝑒𝑑</m:t>
                        </m:r>
                        <m:r>
                          <a:rPr lang="en-US" altLang="ko-KR" sz="1600" i="1">
                            <a:solidFill>
                              <a:schemeClr val="tx1"/>
                            </a:solidFill>
                            <a:latin typeface="Cambria Math" panose="02040503050406030204" pitchFamily="18" charset="0"/>
                            <a:cs typeface="Times New Roman" panose="02020603050405020304" pitchFamily="18" charset="0"/>
                            <a:sym typeface="Symbol"/>
                          </a:rPr>
                          <m:t> 1</m:t>
                        </m:r>
                        <m:r>
                          <a:rPr lang="en-US" altLang="ko-KR" sz="1600" i="1">
                            <a:solidFill>
                              <a:schemeClr val="tx1"/>
                            </a:solidFill>
                            <a:latin typeface="Cambria Math" panose="02040503050406030204" pitchFamily="18" charset="0"/>
                            <a:cs typeface="Times New Roman" panose="02020603050405020304" pitchFamily="18" charset="0"/>
                            <a:sym typeface="Symbol"/>
                          </a:rPr>
                          <m:t>𝑠</m:t>
                        </m:r>
                      </m:num>
                      <m:den>
                        <m:r>
                          <a:rPr lang="en-US" altLang="ko-KR" sz="1600" i="1">
                            <a:solidFill>
                              <a:schemeClr val="tx1"/>
                            </a:solidFill>
                            <a:latin typeface="Cambria Math" panose="02040503050406030204" pitchFamily="18" charset="0"/>
                            <a:cs typeface="Times New Roman" panose="02020603050405020304" pitchFamily="18" charset="0"/>
                            <a:sym typeface="Symbol"/>
                          </a:rPr>
                          <m:t>𝑇𝑜𝑡𝑎𝑙</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𝑛𝑢𝑚𝑏𝑒𝑟</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𝑜𝑓</m:t>
                        </m:r>
                        <m:r>
                          <a:rPr lang="en-US" altLang="ko-KR" sz="1600" i="1">
                            <a:solidFill>
                              <a:schemeClr val="tx1"/>
                            </a:solidFill>
                            <a:latin typeface="Cambria Math" panose="02040503050406030204" pitchFamily="18" charset="0"/>
                            <a:cs typeface="Times New Roman" panose="02020603050405020304" pitchFamily="18" charset="0"/>
                            <a:sym typeface="Symbol"/>
                          </a:rPr>
                          <m:t> 1</m:t>
                        </m:r>
                        <m:r>
                          <a:rPr lang="en-US" altLang="ko-KR" sz="1600" i="1">
                            <a:solidFill>
                              <a:schemeClr val="tx1"/>
                            </a:solidFill>
                            <a:latin typeface="Cambria Math" panose="02040503050406030204" pitchFamily="18" charset="0"/>
                            <a:cs typeface="Times New Roman" panose="02020603050405020304" pitchFamily="18" charset="0"/>
                            <a:sym typeface="Symbol"/>
                          </a:rPr>
                          <m:t>𝑠</m:t>
                        </m:r>
                      </m:den>
                    </m:f>
                  </m:oMath>
                </a14:m>
                <a:endParaRPr lang="ko-KR" altLang="en-US" sz="1600" dirty="0">
                  <a:solidFill>
                    <a:schemeClr val="tx1"/>
                  </a:solidFill>
                  <a:latin typeface="SamsungOne 400" panose="020B0503030303020204" pitchFamily="34" charset="0"/>
                </a:endParaRPr>
              </a:p>
            </p:txBody>
          </p:sp>
        </mc:Choice>
        <mc:Fallback xmlns="">
          <p:sp>
            <p:nvSpPr>
              <p:cNvPr id="14" name="직사각형 13">
                <a:extLst>
                  <a:ext uri="{FF2B5EF4-FFF2-40B4-BE49-F238E27FC236}">
                    <a16:creationId xmlns:a16="http://schemas.microsoft.com/office/drawing/2014/main" id="{623E69B8-8402-49C3-8D8A-9A4F272388FB}"/>
                  </a:ext>
                </a:extLst>
              </p:cNvPr>
              <p:cNvSpPr>
                <a:spLocks noRot="1" noChangeAspect="1" noMove="1" noResize="1" noEditPoints="1" noAdjustHandles="1" noChangeArrowheads="1" noChangeShapeType="1" noTextEdit="1"/>
              </p:cNvSpPr>
              <p:nvPr/>
            </p:nvSpPr>
            <p:spPr>
              <a:xfrm>
                <a:off x="2980474" y="3024073"/>
                <a:ext cx="3832872" cy="478336"/>
              </a:xfrm>
              <a:prstGeom prst="rect">
                <a:avLst/>
              </a:prstGeom>
              <a:blipFill>
                <a:blip r:embed="rId4"/>
                <a:stretch>
                  <a:fillRect b="-3797"/>
                </a:stretch>
              </a:blipFill>
              <a:ln>
                <a:noFill/>
              </a:ln>
            </p:spPr>
            <p:txBody>
              <a:bodyPr/>
              <a:lstStyle/>
              <a:p>
                <a:r>
                  <a:rPr lang="ko-KR" altLang="en-US">
                    <a:noFill/>
                  </a:rPr>
                  <a:t> </a:t>
                </a:r>
              </a:p>
            </p:txBody>
          </p:sp>
        </mc:Fallback>
      </mc:AlternateContent>
      <p:sp>
        <p:nvSpPr>
          <p:cNvPr id="11" name="Rectangle 1">
            <a:extLst>
              <a:ext uri="{FF2B5EF4-FFF2-40B4-BE49-F238E27FC236}">
                <a16:creationId xmlns:a16="http://schemas.microsoft.com/office/drawing/2014/main" id="{2CE30977-E314-4BCB-A7DB-8EB0E1B7DBE4}"/>
              </a:ext>
            </a:extLst>
          </p:cNvPr>
          <p:cNvSpPr/>
          <p:nvPr/>
        </p:nvSpPr>
        <p:spPr>
          <a:xfrm>
            <a:off x="3816776" y="2387568"/>
            <a:ext cx="5527249" cy="314613"/>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latinLnBrk="1"/>
            <a:endParaRPr lang="en-US">
              <a:latin typeface="SamsungOne 400" panose="020B0503030303020204" pitchFamily="34" charset="0"/>
              <a:ea typeface="SamsungOne 400" panose="020B0503030303020204" pitchFamily="34" charset="0"/>
            </a:endParaRPr>
          </a:p>
        </p:txBody>
      </p:sp>
      <p:sp>
        <p:nvSpPr>
          <p:cNvPr id="12" name="Oval 6">
            <a:extLst>
              <a:ext uri="{FF2B5EF4-FFF2-40B4-BE49-F238E27FC236}">
                <a16:creationId xmlns:a16="http://schemas.microsoft.com/office/drawing/2014/main" id="{09A080D5-4B20-4FBC-97B5-0CFAB58ED731}"/>
              </a:ext>
            </a:extLst>
          </p:cNvPr>
          <p:cNvSpPr/>
          <p:nvPr/>
        </p:nvSpPr>
        <p:spPr>
          <a:xfrm rot="16596189">
            <a:off x="7816411" y="2400587"/>
            <a:ext cx="282793" cy="288000"/>
          </a:xfrm>
          <a:prstGeom prst="roundRect">
            <a:avLst>
              <a:gd name="adj" fmla="val 50000"/>
            </a:avLst>
          </a:prstGeom>
          <a:noFill/>
          <a:ln w="19050">
            <a:solidFill>
              <a:srgbClr val="193EB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latinLnBrk="1"/>
            <a:endParaRPr lang="en-US">
              <a:latin typeface="SamsungOne 400" panose="020B0503030303020204" pitchFamily="34" charset="0"/>
              <a:ea typeface="SamsungOne 400" panose="020B0503030303020204" pitchFamily="34" charset="0"/>
            </a:endParaRPr>
          </a:p>
        </p:txBody>
      </p:sp>
    </p:spTree>
    <p:extLst>
      <p:ext uri="{BB962C8B-B14F-4D97-AF65-F5344CB8AC3E}">
        <p14:creationId xmlns:p14="http://schemas.microsoft.com/office/powerpoint/2010/main" val="355290525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Note</a:t>
            </a:r>
          </a:p>
        </p:txBody>
      </p:sp>
      <p:sp>
        <p:nvSpPr>
          <p:cNvPr id="12" name="직사각형 11">
            <a:extLst>
              <a:ext uri="{FF2B5EF4-FFF2-40B4-BE49-F238E27FC236}">
                <a16:creationId xmlns:a16="http://schemas.microsoft.com/office/drawing/2014/main" id="{95CBAE36-403A-4445-970F-AC5B21DE93A8}"/>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Accuracy alone is not sufficient for testing.</a:t>
            </a:r>
          </a:p>
        </p:txBody>
      </p:sp>
      <p:grpSp>
        <p:nvGrpSpPr>
          <p:cNvPr id="2" name="그룹 1">
            <a:extLst>
              <a:ext uri="{FF2B5EF4-FFF2-40B4-BE49-F238E27FC236}">
                <a16:creationId xmlns:a16="http://schemas.microsoft.com/office/drawing/2014/main" id="{9EABE5B1-7B81-4C2F-8709-BC8DE72E7BBD}"/>
              </a:ext>
            </a:extLst>
          </p:cNvPr>
          <p:cNvGrpSpPr/>
          <p:nvPr/>
        </p:nvGrpSpPr>
        <p:grpSpPr>
          <a:xfrm>
            <a:off x="846956" y="2067926"/>
            <a:ext cx="8064896" cy="848163"/>
            <a:chOff x="846956" y="3212976"/>
            <a:chExt cx="8064896" cy="848163"/>
          </a:xfrm>
        </p:grpSpPr>
        <p:sp>
          <p:nvSpPr>
            <p:cNvPr id="7" name="사각형: 둥근 모서리 2">
              <a:extLst>
                <a:ext uri="{FF2B5EF4-FFF2-40B4-BE49-F238E27FC236}">
                  <a16:creationId xmlns:a16="http://schemas.microsoft.com/office/drawing/2014/main" id="{123689F4-4134-4236-9D03-76489763CADA}"/>
                </a:ext>
              </a:extLst>
            </p:cNvPr>
            <p:cNvSpPr/>
            <p:nvPr/>
          </p:nvSpPr>
          <p:spPr>
            <a:xfrm>
              <a:off x="846956" y="3273873"/>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9" name="직사각형 8">
              <a:extLst>
                <a:ext uri="{FF2B5EF4-FFF2-40B4-BE49-F238E27FC236}">
                  <a16:creationId xmlns:a16="http://schemas.microsoft.com/office/drawing/2014/main" id="{80EACB18-699F-48CF-9567-3EBB31522FAD}"/>
                </a:ext>
              </a:extLst>
            </p:cNvPr>
            <p:cNvSpPr/>
            <p:nvPr/>
          </p:nvSpPr>
          <p:spPr>
            <a:xfrm>
              <a:off x="1222454" y="3212976"/>
              <a:ext cx="7689398" cy="848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If frauds constitute only 1% of all transactions, the accuracy of a fraud detection system (FDS) that predicts non-fraud in all transactions would be quite high at 99%.</a:t>
              </a:r>
            </a:p>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However, such FDS would be useless because it misses the 1% that really matters.</a:t>
              </a:r>
            </a:p>
          </p:txBody>
        </p:sp>
      </p:grpSp>
      <p:sp>
        <p:nvSpPr>
          <p:cNvPr id="10" name="직사각형 9">
            <a:extLst>
              <a:ext uri="{FF2B5EF4-FFF2-40B4-BE49-F238E27FC236}">
                <a16:creationId xmlns:a16="http://schemas.microsoft.com/office/drawing/2014/main" id="{2E35107C-18C7-4BAB-9B5A-297AB3ED3222}"/>
              </a:ext>
            </a:extLst>
          </p:cNvPr>
          <p:cNvSpPr/>
          <p:nvPr/>
        </p:nvSpPr>
        <p:spPr>
          <a:xfrm>
            <a:off x="671261" y="2998643"/>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We should also consider metrics other than just the accuracy. </a:t>
            </a:r>
          </a:p>
        </p:txBody>
      </p:sp>
    </p:spTree>
    <p:extLst>
      <p:ext uri="{BB962C8B-B14F-4D97-AF65-F5344CB8AC3E}">
        <p14:creationId xmlns:p14="http://schemas.microsoft.com/office/powerpoint/2010/main" val="3349408208"/>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Terminology</a:t>
            </a:r>
          </a:p>
        </p:txBody>
      </p:sp>
      <mc:AlternateContent xmlns:mc="http://schemas.openxmlformats.org/markup-compatibility/2006" xmlns:a14="http://schemas.microsoft.com/office/drawing/2010/main">
        <mc:Choice Requires="a14">
          <p:sp>
            <p:nvSpPr>
              <p:cNvPr id="14" name="직사각형 13">
                <a:extLst>
                  <a:ext uri="{FF2B5EF4-FFF2-40B4-BE49-F238E27FC236}">
                    <a16:creationId xmlns:a16="http://schemas.microsoft.com/office/drawing/2014/main" id="{AE7B6D49-BDCA-494C-8647-CFE9A00F40AE}"/>
                  </a:ext>
                </a:extLst>
              </p:cNvPr>
              <p:cNvSpPr/>
              <p:nvPr/>
            </p:nvSpPr>
            <p:spPr>
              <a:xfrm>
                <a:off x="667714" y="1773238"/>
                <a:ext cx="3626213" cy="4775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spcAft>
                    <a:spcPts val="800"/>
                  </a:spcAft>
                  <a:buClr>
                    <a:srgbClr val="193EB0"/>
                  </a:buClr>
                </a:pPr>
                <a:r>
                  <a:rPr lang="en-US" altLang="ko-KR" sz="14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Accuracy</a:t>
                </a:r>
                <a:r>
                  <a:rPr lang="en-US" altLang="ko-KR" sz="1600" dirty="0">
                    <a:solidFill>
                      <a:schemeClr val="tx1">
                        <a:lumMod val="85000"/>
                        <a:lumOff val="15000"/>
                      </a:schemeClr>
                    </a:solidFill>
                    <a:latin typeface="Cambria Math" panose="02040503050406030204" pitchFamily="18" charset="0"/>
                    <a:sym typeface="Symbol"/>
                  </a:rPr>
                  <a:t> = </a:t>
                </a:r>
                <a14:m>
                  <m:oMath xmlns:m="http://schemas.openxmlformats.org/officeDocument/2006/math">
                    <m:f>
                      <m:fPr>
                        <m:ctrlPr>
                          <a:rPr lang="en-US" altLang="ko-KR" sz="1600" i="1">
                            <a:solidFill>
                              <a:schemeClr val="tx1">
                                <a:lumMod val="85000"/>
                                <a:lumOff val="15000"/>
                              </a:schemeClr>
                            </a:solidFill>
                            <a:latin typeface="Cambria Math" panose="02040503050406030204" pitchFamily="18" charset="0"/>
                            <a:sym typeface="Symbol"/>
                          </a:rPr>
                        </m:ctrlPr>
                      </m:fPr>
                      <m:num>
                        <m:r>
                          <a:rPr lang="en-US" altLang="ko-KR" sz="1600">
                            <a:solidFill>
                              <a:schemeClr val="tx1">
                                <a:lumMod val="85000"/>
                                <a:lumOff val="15000"/>
                              </a:schemeClr>
                            </a:solidFill>
                            <a:latin typeface="Cambria Math" panose="02040503050406030204" pitchFamily="18" charset="0"/>
                            <a:sym typeface="Symbol"/>
                          </a:rPr>
                          <m:t>𝑁𝑢𝑚𝑏𝑒𝑟</m:t>
                        </m:r>
                        <m:r>
                          <a:rPr lang="en-US" altLang="ko-KR" sz="1600">
                            <a:solidFill>
                              <a:schemeClr val="tx1">
                                <a:lumMod val="85000"/>
                                <a:lumOff val="15000"/>
                              </a:schemeClr>
                            </a:solidFill>
                            <a:latin typeface="Cambria Math" panose="02040503050406030204" pitchFamily="18" charset="0"/>
                            <a:sym typeface="Symbol"/>
                          </a:rPr>
                          <m:t> </m:t>
                        </m:r>
                        <m:r>
                          <a:rPr lang="en-US" altLang="ko-KR" sz="1600">
                            <a:solidFill>
                              <a:schemeClr val="tx1">
                                <a:lumMod val="85000"/>
                                <a:lumOff val="15000"/>
                              </a:schemeClr>
                            </a:solidFill>
                            <a:latin typeface="Cambria Math" panose="02040503050406030204" pitchFamily="18" charset="0"/>
                            <a:sym typeface="Symbol"/>
                          </a:rPr>
                          <m:t>𝑜𝑓</m:t>
                        </m:r>
                        <m:r>
                          <a:rPr lang="en-US" altLang="ko-KR" sz="1600">
                            <a:solidFill>
                              <a:schemeClr val="tx1">
                                <a:lumMod val="85000"/>
                                <a:lumOff val="15000"/>
                              </a:schemeClr>
                            </a:solidFill>
                            <a:latin typeface="Cambria Math" panose="02040503050406030204" pitchFamily="18" charset="0"/>
                            <a:sym typeface="Symbol"/>
                          </a:rPr>
                          <m:t> </m:t>
                        </m:r>
                        <m:r>
                          <a:rPr lang="en-US" altLang="ko-KR" sz="1600">
                            <a:solidFill>
                              <a:schemeClr val="tx1">
                                <a:lumMod val="85000"/>
                                <a:lumOff val="15000"/>
                              </a:schemeClr>
                            </a:solidFill>
                            <a:latin typeface="Cambria Math" panose="02040503050406030204" pitchFamily="18" charset="0"/>
                            <a:sym typeface="Symbol"/>
                          </a:rPr>
                          <m:t>𝑐𝑜𝑟𝑟𝑒𝑐𝑡</m:t>
                        </m:r>
                        <m:r>
                          <a:rPr lang="en-US" altLang="ko-KR" sz="1600">
                            <a:solidFill>
                              <a:schemeClr val="tx1">
                                <a:lumMod val="85000"/>
                                <a:lumOff val="15000"/>
                              </a:schemeClr>
                            </a:solidFill>
                            <a:latin typeface="Cambria Math" panose="02040503050406030204" pitchFamily="18" charset="0"/>
                            <a:sym typeface="Symbol"/>
                          </a:rPr>
                          <m:t> </m:t>
                        </m:r>
                        <m:r>
                          <a:rPr lang="en-US" altLang="ko-KR" sz="1600">
                            <a:solidFill>
                              <a:schemeClr val="tx1">
                                <a:lumMod val="85000"/>
                                <a:lumOff val="15000"/>
                              </a:schemeClr>
                            </a:solidFill>
                            <a:latin typeface="Cambria Math" panose="02040503050406030204" pitchFamily="18" charset="0"/>
                            <a:sym typeface="Symbol"/>
                          </a:rPr>
                          <m:t>𝑝𝑟𝑒𝑑𝑖𝑐𝑡𝑖𝑜𝑛𝑠</m:t>
                        </m:r>
                      </m:num>
                      <m:den>
                        <m:r>
                          <a:rPr lang="en-US" altLang="ko-KR" sz="1600">
                            <a:solidFill>
                              <a:schemeClr val="tx1">
                                <a:lumMod val="85000"/>
                                <a:lumOff val="15000"/>
                              </a:schemeClr>
                            </a:solidFill>
                            <a:latin typeface="Cambria Math" panose="02040503050406030204" pitchFamily="18" charset="0"/>
                            <a:sym typeface="Symbol"/>
                          </a:rPr>
                          <m:t>𝑇𝑜𝑡𝑎𝑙</m:t>
                        </m:r>
                        <m:r>
                          <a:rPr lang="en-US" altLang="ko-KR" sz="1600">
                            <a:solidFill>
                              <a:schemeClr val="tx1">
                                <a:lumMod val="85000"/>
                                <a:lumOff val="15000"/>
                              </a:schemeClr>
                            </a:solidFill>
                            <a:latin typeface="Cambria Math" panose="02040503050406030204" pitchFamily="18" charset="0"/>
                            <a:sym typeface="Symbol"/>
                          </a:rPr>
                          <m:t> </m:t>
                        </m:r>
                        <m:r>
                          <a:rPr lang="en-US" altLang="ko-KR" sz="1600">
                            <a:solidFill>
                              <a:schemeClr val="tx1">
                                <a:lumMod val="85000"/>
                                <a:lumOff val="15000"/>
                              </a:schemeClr>
                            </a:solidFill>
                            <a:latin typeface="Cambria Math" panose="02040503050406030204" pitchFamily="18" charset="0"/>
                            <a:sym typeface="Symbol"/>
                          </a:rPr>
                          <m:t>𝑛𝑢𝑚𝑏𝑒𝑟</m:t>
                        </m:r>
                        <m:r>
                          <a:rPr lang="en-US" altLang="ko-KR" sz="1600" b="0" i="0" smtClean="0">
                            <a:solidFill>
                              <a:schemeClr val="tx1">
                                <a:lumMod val="85000"/>
                                <a:lumOff val="15000"/>
                              </a:schemeClr>
                            </a:solidFill>
                            <a:latin typeface="Cambria Math" panose="02040503050406030204" pitchFamily="18" charset="0"/>
                            <a:sym typeface="Symbol"/>
                          </a:rPr>
                          <m:t> </m:t>
                        </m:r>
                        <m:r>
                          <a:rPr lang="en-US" altLang="ko-KR" sz="1600">
                            <a:solidFill>
                              <a:schemeClr val="tx1">
                                <a:lumMod val="85000"/>
                                <a:lumOff val="15000"/>
                              </a:schemeClr>
                            </a:solidFill>
                            <a:latin typeface="Cambria Math" panose="02040503050406030204" pitchFamily="18" charset="0"/>
                            <a:sym typeface="Symbol"/>
                          </a:rPr>
                          <m:t>𝑜𝑓</m:t>
                        </m:r>
                        <m:r>
                          <a:rPr lang="en-US" altLang="ko-KR" sz="1600" b="0" i="0" smtClean="0">
                            <a:solidFill>
                              <a:schemeClr val="tx1">
                                <a:lumMod val="85000"/>
                                <a:lumOff val="15000"/>
                              </a:schemeClr>
                            </a:solidFill>
                            <a:latin typeface="Cambria Math" panose="02040503050406030204" pitchFamily="18" charset="0"/>
                            <a:sym typeface="Symbol"/>
                          </a:rPr>
                          <m:t> </m:t>
                        </m:r>
                        <m:r>
                          <a:rPr lang="en-US" altLang="ko-KR" sz="1600">
                            <a:solidFill>
                              <a:schemeClr val="tx1">
                                <a:lumMod val="85000"/>
                                <a:lumOff val="15000"/>
                              </a:schemeClr>
                            </a:solidFill>
                            <a:latin typeface="Cambria Math" panose="02040503050406030204" pitchFamily="18" charset="0"/>
                            <a:sym typeface="Symbol"/>
                          </a:rPr>
                          <m:t>𝑝𝑟𝑒𝑑𝑖𝑐𝑡𝑖𝑜𝑛𝑠</m:t>
                        </m:r>
                      </m:den>
                    </m:f>
                  </m:oMath>
                </a14:m>
                <a:endParaRPr lang="en-US" altLang="ko-KR" sz="1600" dirty="0">
                  <a:solidFill>
                    <a:schemeClr val="tx1">
                      <a:lumMod val="85000"/>
                      <a:lumOff val="15000"/>
                    </a:schemeClr>
                  </a:solidFill>
                  <a:latin typeface="Cambria Math" panose="02040503050406030204" pitchFamily="18" charset="0"/>
                </a:endParaRPr>
              </a:p>
            </p:txBody>
          </p:sp>
        </mc:Choice>
        <mc:Fallback xmlns="">
          <p:sp>
            <p:nvSpPr>
              <p:cNvPr id="14" name="직사각형 13">
                <a:extLst>
                  <a:ext uri="{FF2B5EF4-FFF2-40B4-BE49-F238E27FC236}">
                    <a16:creationId xmlns:a16="http://schemas.microsoft.com/office/drawing/2014/main" xmlns="" xmlns:a14="http://schemas.microsoft.com/office/drawing/2010/main" id="{AE7B6D49-BDCA-494C-8647-CFE9A00F40AE}"/>
                  </a:ext>
                </a:extLst>
              </p:cNvPr>
              <p:cNvSpPr>
                <a:spLocks noRot="1" noChangeAspect="1" noMove="1" noResize="1" noEditPoints="1" noAdjustHandles="1" noChangeArrowheads="1" noChangeShapeType="1" noTextEdit="1"/>
              </p:cNvSpPr>
              <p:nvPr/>
            </p:nvSpPr>
            <p:spPr>
              <a:xfrm>
                <a:off x="667714" y="1773238"/>
                <a:ext cx="3626213" cy="477567"/>
              </a:xfrm>
              <a:prstGeom prst="rect">
                <a:avLst/>
              </a:prstGeom>
              <a:blipFill rotWithShape="0">
                <a:blip r:embed="rId4"/>
                <a:stretch>
                  <a:fillRect b="-5128"/>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5" name="직사각형 14">
                <a:extLst>
                  <a:ext uri="{FF2B5EF4-FFF2-40B4-BE49-F238E27FC236}">
                    <a16:creationId xmlns:a16="http://schemas.microsoft.com/office/drawing/2014/main" id="{F8B640D9-19B1-4F77-8083-0D2B315F7470}"/>
                  </a:ext>
                </a:extLst>
              </p:cNvPr>
              <p:cNvSpPr/>
              <p:nvPr/>
            </p:nvSpPr>
            <p:spPr>
              <a:xfrm>
                <a:off x="666750" y="2456621"/>
                <a:ext cx="3953098" cy="4783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lgn="ctr"/>
                <a:r>
                  <a:rPr lang="en-US" altLang="ko-KR" sz="14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Sensitivity</a:t>
                </a:r>
                <a:r>
                  <a:rPr lang="en-US" altLang="ko-KR" sz="1600" dirty="0">
                    <a:solidFill>
                      <a:schemeClr val="tx1"/>
                    </a:solidFill>
                    <a:latin typeface="SamsungOne 400" panose="020B0503030303020204" pitchFamily="34" charset="0"/>
                    <a:ea typeface="SamsungOne 400" panose="020B0503030303020204" pitchFamily="34" charset="0"/>
                    <a:cs typeface="Times New Roman" panose="02020603050405020304" pitchFamily="18" charset="0"/>
                    <a:sym typeface="Symbol"/>
                  </a:rPr>
                  <a:t> = </a:t>
                </a:r>
                <a14:m>
                  <m:oMath xmlns:m="http://schemas.openxmlformats.org/officeDocument/2006/math">
                    <m:f>
                      <m:fPr>
                        <m:ctrlPr>
                          <a:rPr lang="en-US" altLang="ko-KR" sz="1600" i="1">
                            <a:solidFill>
                              <a:schemeClr val="tx1"/>
                            </a:solidFill>
                            <a:latin typeface="Cambria Math" panose="02040503050406030204" pitchFamily="18" charset="0"/>
                            <a:cs typeface="Times New Roman" panose="02020603050405020304" pitchFamily="18" charset="0"/>
                            <a:sym typeface="Symbol"/>
                          </a:rPr>
                        </m:ctrlPr>
                      </m:fPr>
                      <m:num>
                        <m:r>
                          <a:rPr lang="en-US" altLang="ko-KR" sz="1600" i="1">
                            <a:solidFill>
                              <a:schemeClr val="tx1"/>
                            </a:solidFill>
                            <a:latin typeface="Cambria Math" panose="02040503050406030204" pitchFamily="18" charset="0"/>
                            <a:cs typeface="Times New Roman" panose="02020603050405020304" pitchFamily="18" charset="0"/>
                            <a:sym typeface="Symbol"/>
                          </a:rPr>
                          <m:t>𝑁𝑢𝑚𝑏𝑒𝑟</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𝑜𝑓</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𝑐𝑜𝑟𝑟𝑒𝑐𝑡𝑙𝑦</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𝑝𝑟𝑒𝑑𝑖𝑐𝑡𝑒𝑑</m:t>
                        </m:r>
                        <m:r>
                          <a:rPr lang="en-US" altLang="ko-KR" sz="1600" i="1">
                            <a:solidFill>
                              <a:schemeClr val="tx1"/>
                            </a:solidFill>
                            <a:latin typeface="Cambria Math" panose="02040503050406030204" pitchFamily="18" charset="0"/>
                            <a:cs typeface="Times New Roman" panose="02020603050405020304" pitchFamily="18" charset="0"/>
                            <a:sym typeface="Symbol"/>
                          </a:rPr>
                          <m:t> 1</m:t>
                        </m:r>
                        <m:r>
                          <a:rPr lang="en-US" altLang="ko-KR" sz="1600" i="1">
                            <a:solidFill>
                              <a:schemeClr val="tx1"/>
                            </a:solidFill>
                            <a:latin typeface="Cambria Math" panose="02040503050406030204" pitchFamily="18" charset="0"/>
                            <a:cs typeface="Times New Roman" panose="02020603050405020304" pitchFamily="18" charset="0"/>
                            <a:sym typeface="Symbol"/>
                          </a:rPr>
                          <m:t>𝑠</m:t>
                        </m:r>
                      </m:num>
                      <m:den>
                        <m:r>
                          <a:rPr lang="en-US" altLang="ko-KR" sz="1600" i="1">
                            <a:solidFill>
                              <a:schemeClr val="tx1"/>
                            </a:solidFill>
                            <a:latin typeface="Cambria Math" panose="02040503050406030204" pitchFamily="18" charset="0"/>
                            <a:cs typeface="Times New Roman" panose="02020603050405020304" pitchFamily="18" charset="0"/>
                            <a:sym typeface="Symbol"/>
                          </a:rPr>
                          <m:t>𝑇𝑜𝑡𝑎𝑙</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𝑛𝑢𝑚𝑏𝑒𝑟</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𝑜𝑓</m:t>
                        </m:r>
                        <m:r>
                          <a:rPr lang="en-US" altLang="ko-KR" sz="1600" i="1">
                            <a:solidFill>
                              <a:schemeClr val="tx1"/>
                            </a:solidFill>
                            <a:latin typeface="Cambria Math" panose="02040503050406030204" pitchFamily="18" charset="0"/>
                            <a:cs typeface="Times New Roman" panose="02020603050405020304" pitchFamily="18" charset="0"/>
                            <a:sym typeface="Symbol"/>
                          </a:rPr>
                          <m:t> 1</m:t>
                        </m:r>
                        <m:r>
                          <a:rPr lang="en-US" altLang="ko-KR" sz="1600" i="1">
                            <a:solidFill>
                              <a:schemeClr val="tx1"/>
                            </a:solidFill>
                            <a:latin typeface="Cambria Math" panose="02040503050406030204" pitchFamily="18" charset="0"/>
                            <a:cs typeface="Times New Roman" panose="02020603050405020304" pitchFamily="18" charset="0"/>
                            <a:sym typeface="Symbol"/>
                          </a:rPr>
                          <m:t>𝑠</m:t>
                        </m:r>
                      </m:den>
                    </m:f>
                  </m:oMath>
                </a14:m>
                <a:endParaRPr lang="ko-KR" altLang="en-US" sz="1600" dirty="0">
                  <a:solidFill>
                    <a:schemeClr val="tx1"/>
                  </a:solidFill>
                  <a:latin typeface="SamsungOne 400" panose="020B0503030303020204" pitchFamily="34" charset="0"/>
                </a:endParaRPr>
              </a:p>
            </p:txBody>
          </p:sp>
        </mc:Choice>
        <mc:Fallback xmlns="">
          <p:sp>
            <p:nvSpPr>
              <p:cNvPr id="15" name="직사각형 14">
                <a:extLst>
                  <a:ext uri="{FF2B5EF4-FFF2-40B4-BE49-F238E27FC236}">
                    <a16:creationId xmlns:a16="http://schemas.microsoft.com/office/drawing/2014/main" xmlns="" xmlns:a14="http://schemas.microsoft.com/office/drawing/2010/main" id="{F8B640D9-19B1-4F77-8083-0D2B315F7470}"/>
                  </a:ext>
                </a:extLst>
              </p:cNvPr>
              <p:cNvSpPr>
                <a:spLocks noRot="1" noChangeAspect="1" noMove="1" noResize="1" noEditPoints="1" noAdjustHandles="1" noChangeArrowheads="1" noChangeShapeType="1" noTextEdit="1"/>
              </p:cNvSpPr>
              <p:nvPr/>
            </p:nvSpPr>
            <p:spPr>
              <a:xfrm>
                <a:off x="666750" y="2456621"/>
                <a:ext cx="3953098" cy="478336"/>
              </a:xfrm>
              <a:prstGeom prst="rect">
                <a:avLst/>
              </a:prstGeom>
              <a:blipFill rotWithShape="0">
                <a:blip r:embed="rId5"/>
                <a:stretch>
                  <a:fillRect b="-5128"/>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직사각형 15">
                <a:extLst>
                  <a:ext uri="{FF2B5EF4-FFF2-40B4-BE49-F238E27FC236}">
                    <a16:creationId xmlns:a16="http://schemas.microsoft.com/office/drawing/2014/main" id="{4FE504F2-1C49-4E41-925B-E461955F3078}"/>
                  </a:ext>
                </a:extLst>
              </p:cNvPr>
              <p:cNvSpPr/>
              <p:nvPr/>
            </p:nvSpPr>
            <p:spPr>
              <a:xfrm>
                <a:off x="677971" y="3140772"/>
                <a:ext cx="3941877" cy="4783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lgn="ctr"/>
                <a:r>
                  <a:rPr lang="en-US" altLang="ko-KR" sz="14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Specificity</a:t>
                </a:r>
                <a:r>
                  <a:rPr lang="en-US" altLang="ko-KR" sz="1600" dirty="0">
                    <a:solidFill>
                      <a:schemeClr val="tx1"/>
                    </a:solidFill>
                    <a:latin typeface="SamsungOne 400" panose="020B0503030303020204" pitchFamily="34" charset="0"/>
                    <a:ea typeface="SamsungOne 400" panose="020B0503030303020204" pitchFamily="34" charset="0"/>
                    <a:cs typeface="Times New Roman" panose="02020603050405020304" pitchFamily="18" charset="0"/>
                    <a:sym typeface="Symbol"/>
                  </a:rPr>
                  <a:t> = </a:t>
                </a:r>
                <a14:m>
                  <m:oMath xmlns:m="http://schemas.openxmlformats.org/officeDocument/2006/math">
                    <m:f>
                      <m:fPr>
                        <m:ctrlPr>
                          <a:rPr lang="en-US" altLang="ko-KR" sz="1600" i="1">
                            <a:solidFill>
                              <a:schemeClr val="tx1"/>
                            </a:solidFill>
                            <a:latin typeface="Cambria Math" panose="02040503050406030204" pitchFamily="18" charset="0"/>
                            <a:cs typeface="Times New Roman" panose="02020603050405020304" pitchFamily="18" charset="0"/>
                            <a:sym typeface="Symbol"/>
                          </a:rPr>
                        </m:ctrlPr>
                      </m:fPr>
                      <m:num>
                        <m:r>
                          <a:rPr lang="en-US" altLang="ko-KR" sz="1600" i="1">
                            <a:solidFill>
                              <a:schemeClr val="tx1"/>
                            </a:solidFill>
                            <a:latin typeface="Cambria Math" panose="02040503050406030204" pitchFamily="18" charset="0"/>
                            <a:cs typeface="Times New Roman" panose="02020603050405020304" pitchFamily="18" charset="0"/>
                            <a:sym typeface="Symbol"/>
                          </a:rPr>
                          <m:t>𝑁𝑢𝑚𝑏𝑒𝑟</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𝑜𝑓</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𝑐𝑜𝑟𝑟𝑒𝑐𝑡𝑙𝑦</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𝑝𝑟𝑒𝑑𝑖𝑐𝑡𝑒𝑑</m:t>
                        </m:r>
                        <m:r>
                          <a:rPr lang="en-US" altLang="ko-KR" sz="1600" i="1">
                            <a:solidFill>
                              <a:schemeClr val="tx1"/>
                            </a:solidFill>
                            <a:latin typeface="Cambria Math" panose="02040503050406030204" pitchFamily="18" charset="0"/>
                            <a:cs typeface="Times New Roman" panose="02020603050405020304" pitchFamily="18" charset="0"/>
                            <a:sym typeface="Symbol"/>
                          </a:rPr>
                          <m:t> 0</m:t>
                        </m:r>
                        <m:r>
                          <a:rPr lang="en-US" altLang="ko-KR" sz="1600" i="1">
                            <a:solidFill>
                              <a:schemeClr val="tx1"/>
                            </a:solidFill>
                            <a:latin typeface="Cambria Math" panose="02040503050406030204" pitchFamily="18" charset="0"/>
                            <a:cs typeface="Times New Roman" panose="02020603050405020304" pitchFamily="18" charset="0"/>
                            <a:sym typeface="Symbol"/>
                          </a:rPr>
                          <m:t>𝑠</m:t>
                        </m:r>
                      </m:num>
                      <m:den>
                        <m:r>
                          <a:rPr lang="en-US" altLang="ko-KR" sz="1600" i="1">
                            <a:solidFill>
                              <a:schemeClr val="tx1"/>
                            </a:solidFill>
                            <a:latin typeface="Cambria Math" panose="02040503050406030204" pitchFamily="18" charset="0"/>
                            <a:cs typeface="Times New Roman" panose="02020603050405020304" pitchFamily="18" charset="0"/>
                            <a:sym typeface="Symbol"/>
                          </a:rPr>
                          <m:t>𝑇𝑜𝑡𝑎𝑙</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𝑛𝑢𝑚𝑏𝑒𝑟</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𝑜𝑓</m:t>
                        </m:r>
                        <m:r>
                          <a:rPr lang="en-US" altLang="ko-KR" sz="1600" i="1">
                            <a:solidFill>
                              <a:schemeClr val="tx1"/>
                            </a:solidFill>
                            <a:latin typeface="Cambria Math" panose="02040503050406030204" pitchFamily="18" charset="0"/>
                            <a:cs typeface="Times New Roman" panose="02020603050405020304" pitchFamily="18" charset="0"/>
                            <a:sym typeface="Symbol"/>
                          </a:rPr>
                          <m:t> 0</m:t>
                        </m:r>
                        <m:r>
                          <a:rPr lang="en-US" altLang="ko-KR" sz="1600" i="1">
                            <a:solidFill>
                              <a:schemeClr val="tx1"/>
                            </a:solidFill>
                            <a:latin typeface="Cambria Math" panose="02040503050406030204" pitchFamily="18" charset="0"/>
                            <a:cs typeface="Times New Roman" panose="02020603050405020304" pitchFamily="18" charset="0"/>
                            <a:sym typeface="Symbol"/>
                          </a:rPr>
                          <m:t>𝑠</m:t>
                        </m:r>
                      </m:den>
                    </m:f>
                  </m:oMath>
                </a14:m>
                <a:endParaRPr lang="ko-KR" altLang="en-US" sz="1600" dirty="0">
                  <a:solidFill>
                    <a:schemeClr val="tx1"/>
                  </a:solidFill>
                  <a:latin typeface="SamsungOne 400" panose="020B0503030303020204" pitchFamily="34" charset="0"/>
                </a:endParaRPr>
              </a:p>
            </p:txBody>
          </p:sp>
        </mc:Choice>
        <mc:Fallback xmlns="">
          <p:sp>
            <p:nvSpPr>
              <p:cNvPr id="16" name="직사각형 15">
                <a:extLst>
                  <a:ext uri="{FF2B5EF4-FFF2-40B4-BE49-F238E27FC236}">
                    <a16:creationId xmlns:a16="http://schemas.microsoft.com/office/drawing/2014/main" xmlns="" xmlns:a14="http://schemas.microsoft.com/office/drawing/2010/main" id="{4FE504F2-1C49-4E41-925B-E461955F3078}"/>
                  </a:ext>
                </a:extLst>
              </p:cNvPr>
              <p:cNvSpPr>
                <a:spLocks noRot="1" noChangeAspect="1" noMove="1" noResize="1" noEditPoints="1" noAdjustHandles="1" noChangeArrowheads="1" noChangeShapeType="1" noTextEdit="1"/>
              </p:cNvSpPr>
              <p:nvPr/>
            </p:nvSpPr>
            <p:spPr>
              <a:xfrm>
                <a:off x="677971" y="3140772"/>
                <a:ext cx="3941877" cy="478336"/>
              </a:xfrm>
              <a:prstGeom prst="rect">
                <a:avLst/>
              </a:prstGeom>
              <a:blipFill rotWithShape="0">
                <a:blip r:embed="rId6"/>
                <a:stretch>
                  <a:fillRect b="-3797"/>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7" name="직사각형 16">
                <a:extLst>
                  <a:ext uri="{FF2B5EF4-FFF2-40B4-BE49-F238E27FC236}">
                    <a16:creationId xmlns:a16="http://schemas.microsoft.com/office/drawing/2014/main" id="{BD8B421A-162C-4231-8880-52CF23DFFC4B}"/>
                  </a:ext>
                </a:extLst>
              </p:cNvPr>
              <p:cNvSpPr/>
              <p:nvPr/>
            </p:nvSpPr>
            <p:spPr>
              <a:xfrm>
                <a:off x="666750" y="3824923"/>
                <a:ext cx="3832872" cy="4783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r>
                  <a:rPr lang="en-US" altLang="ko-KR" sz="14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Precision</a:t>
                </a:r>
                <a:r>
                  <a:rPr lang="en-US" altLang="ko-KR" sz="1600" dirty="0">
                    <a:solidFill>
                      <a:schemeClr val="tx1"/>
                    </a:solidFill>
                    <a:latin typeface="SamsungOne 400" panose="020B0503030303020204" pitchFamily="34" charset="0"/>
                    <a:ea typeface="SamsungOne 400" panose="020B0503030303020204" pitchFamily="34" charset="0"/>
                    <a:cs typeface="Times New Roman" panose="02020603050405020304" pitchFamily="18" charset="0"/>
                    <a:sym typeface="Symbol"/>
                  </a:rPr>
                  <a:t> = </a:t>
                </a:r>
                <a14:m>
                  <m:oMath xmlns:m="http://schemas.openxmlformats.org/officeDocument/2006/math">
                    <m:f>
                      <m:fPr>
                        <m:ctrlPr>
                          <a:rPr lang="en-US" altLang="ko-KR" sz="1600" i="1">
                            <a:solidFill>
                              <a:schemeClr val="tx1"/>
                            </a:solidFill>
                            <a:latin typeface="Cambria Math" panose="02040503050406030204" pitchFamily="18" charset="0"/>
                            <a:cs typeface="Times New Roman" panose="02020603050405020304" pitchFamily="18" charset="0"/>
                            <a:sym typeface="Symbol"/>
                          </a:rPr>
                        </m:ctrlPr>
                      </m:fPr>
                      <m:num>
                        <m:r>
                          <a:rPr lang="en-US" altLang="ko-KR" sz="1600" i="1">
                            <a:solidFill>
                              <a:schemeClr val="tx1"/>
                            </a:solidFill>
                            <a:latin typeface="Cambria Math" panose="02040503050406030204" pitchFamily="18" charset="0"/>
                            <a:cs typeface="Times New Roman" panose="02020603050405020304" pitchFamily="18" charset="0"/>
                            <a:sym typeface="Symbol"/>
                          </a:rPr>
                          <m:t>𝑁𝑢𝑚𝑏𝑒𝑟</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𝑜𝑓</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𝑐𝑜𝑟𝑟𝑒𝑐𝑡𝑙𝑦</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𝑝𝑟𝑒𝑑𝑖𝑐𝑡𝑒𝑑</m:t>
                        </m:r>
                        <m:r>
                          <a:rPr lang="en-US" altLang="ko-KR" sz="1600" i="1">
                            <a:solidFill>
                              <a:schemeClr val="tx1"/>
                            </a:solidFill>
                            <a:latin typeface="Cambria Math" panose="02040503050406030204" pitchFamily="18" charset="0"/>
                            <a:cs typeface="Times New Roman" panose="02020603050405020304" pitchFamily="18" charset="0"/>
                            <a:sym typeface="Symbol"/>
                          </a:rPr>
                          <m:t> 1</m:t>
                        </m:r>
                        <m:r>
                          <a:rPr lang="en-US" altLang="ko-KR" sz="1600" i="1">
                            <a:solidFill>
                              <a:schemeClr val="tx1"/>
                            </a:solidFill>
                            <a:latin typeface="Cambria Math" panose="02040503050406030204" pitchFamily="18" charset="0"/>
                            <a:cs typeface="Times New Roman" panose="02020603050405020304" pitchFamily="18" charset="0"/>
                            <a:sym typeface="Symbol"/>
                          </a:rPr>
                          <m:t>𝑠</m:t>
                        </m:r>
                      </m:num>
                      <m:den>
                        <m:r>
                          <a:rPr lang="en-US" altLang="ko-KR" sz="1600" i="1">
                            <a:solidFill>
                              <a:schemeClr val="tx1"/>
                            </a:solidFill>
                            <a:latin typeface="Cambria Math" panose="02040503050406030204" pitchFamily="18" charset="0"/>
                            <a:cs typeface="Times New Roman" panose="02020603050405020304" pitchFamily="18" charset="0"/>
                            <a:sym typeface="Symbol"/>
                          </a:rPr>
                          <m:t>𝑇𝑜𝑡𝑎𝑙</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𝑛𝑢𝑚𝑏𝑒𝑟</m:t>
                        </m:r>
                        <m:r>
                          <a:rPr lang="en-US" altLang="ko-KR" sz="1600" i="1">
                            <a:solidFill>
                              <a:schemeClr val="tx1"/>
                            </a:solidFill>
                            <a:latin typeface="Cambria Math" panose="02040503050406030204" pitchFamily="18" charset="0"/>
                            <a:cs typeface="Times New Roman" panose="02020603050405020304" pitchFamily="18" charset="0"/>
                            <a:sym typeface="Symbol"/>
                          </a:rPr>
                          <m:t> </m:t>
                        </m:r>
                        <m:r>
                          <a:rPr lang="en-US" altLang="ko-KR" sz="1600" i="1">
                            <a:solidFill>
                              <a:schemeClr val="tx1"/>
                            </a:solidFill>
                            <a:latin typeface="Cambria Math" panose="02040503050406030204" pitchFamily="18" charset="0"/>
                            <a:cs typeface="Times New Roman" panose="02020603050405020304" pitchFamily="18" charset="0"/>
                            <a:sym typeface="Symbol"/>
                          </a:rPr>
                          <m:t>𝑜𝑓</m:t>
                        </m:r>
                        <m:r>
                          <a:rPr lang="en-US" altLang="ko-KR" sz="1600" i="1">
                            <a:solidFill>
                              <a:schemeClr val="tx1"/>
                            </a:solidFill>
                            <a:latin typeface="Cambria Math" panose="02040503050406030204" pitchFamily="18" charset="0"/>
                            <a:cs typeface="Times New Roman" panose="02020603050405020304" pitchFamily="18" charset="0"/>
                            <a:sym typeface="Symbol"/>
                          </a:rPr>
                          <m:t> 1</m:t>
                        </m:r>
                        <m:r>
                          <a:rPr lang="en-US" altLang="ko-KR" sz="1600" i="1">
                            <a:solidFill>
                              <a:schemeClr val="tx1"/>
                            </a:solidFill>
                            <a:latin typeface="Cambria Math" panose="02040503050406030204" pitchFamily="18" charset="0"/>
                            <a:cs typeface="Times New Roman" panose="02020603050405020304" pitchFamily="18" charset="0"/>
                            <a:sym typeface="Symbol"/>
                          </a:rPr>
                          <m:t>𝑠</m:t>
                        </m:r>
                      </m:den>
                    </m:f>
                  </m:oMath>
                </a14:m>
                <a:endParaRPr lang="ko-KR" altLang="en-US" sz="1600" dirty="0">
                  <a:solidFill>
                    <a:schemeClr val="tx1"/>
                  </a:solidFill>
                  <a:latin typeface="SamsungOne 400" panose="020B0503030303020204" pitchFamily="34" charset="0"/>
                </a:endParaRPr>
              </a:p>
            </p:txBody>
          </p:sp>
        </mc:Choice>
        <mc:Fallback xmlns="">
          <p:sp>
            <p:nvSpPr>
              <p:cNvPr id="17" name="직사각형 16">
                <a:extLst>
                  <a:ext uri="{FF2B5EF4-FFF2-40B4-BE49-F238E27FC236}">
                    <a16:creationId xmlns:a16="http://schemas.microsoft.com/office/drawing/2014/main" xmlns="" xmlns:a14="http://schemas.microsoft.com/office/drawing/2010/main" id="{BD8B421A-162C-4231-8880-52CF23DFFC4B}"/>
                  </a:ext>
                </a:extLst>
              </p:cNvPr>
              <p:cNvSpPr>
                <a:spLocks noRot="1" noChangeAspect="1" noMove="1" noResize="1" noEditPoints="1" noAdjustHandles="1" noChangeArrowheads="1" noChangeShapeType="1" noTextEdit="1"/>
              </p:cNvSpPr>
              <p:nvPr/>
            </p:nvSpPr>
            <p:spPr>
              <a:xfrm>
                <a:off x="666750" y="3824923"/>
                <a:ext cx="3832872" cy="478336"/>
              </a:xfrm>
              <a:prstGeom prst="rect">
                <a:avLst/>
              </a:prstGeom>
              <a:blipFill rotWithShape="0">
                <a:blip r:embed="rId7"/>
                <a:stretch>
                  <a:fillRect b="-3797"/>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8" name="직사각형 17">
                <a:extLst>
                  <a:ext uri="{FF2B5EF4-FFF2-40B4-BE49-F238E27FC236}">
                    <a16:creationId xmlns:a16="http://schemas.microsoft.com/office/drawing/2014/main" id="{B7015C2B-5159-4E8A-AC20-B8D0939923B4}"/>
                  </a:ext>
                </a:extLst>
              </p:cNvPr>
              <p:cNvSpPr/>
              <p:nvPr/>
            </p:nvSpPr>
            <p:spPr>
              <a:xfrm>
                <a:off x="666750" y="4509075"/>
                <a:ext cx="2988518" cy="4737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rtlCol="0" anchor="ctr" anchorCtr="0">
                <a:spAutoFit/>
              </a:bodyPr>
              <a:lstStyle/>
              <a:p>
                <a:pPr lvl="0">
                  <a:spcAft>
                    <a:spcPts val="1800"/>
                  </a:spcAft>
                  <a:buClr>
                    <a:srgbClr val="193EB0"/>
                  </a:buClr>
                </a:pPr>
                <a:r>
                  <a:rPr lang="en-US" altLang="ko-KR" sz="14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Cohen’s kappa</a:t>
                </a:r>
                <a:r>
                  <a:rPr lang="en-US" altLang="ko-KR" sz="16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 </a:t>
                </a:r>
                <a14:m>
                  <m:oMath xmlns:m="http://schemas.openxmlformats.org/officeDocument/2006/math">
                    <m:r>
                      <a:rPr lang="el-GR" altLang="ko-KR" sz="1600" i="1">
                        <a:solidFill>
                          <a:prstClr val="black"/>
                        </a:solidFill>
                        <a:latin typeface="Cambria Math"/>
                        <a:ea typeface="Cambria Math"/>
                        <a:cs typeface="Times New Roman" panose="02020603050405020304" pitchFamily="18" charset="0"/>
                        <a:sym typeface="Symbol"/>
                      </a:rPr>
                      <m:t>𝜅</m:t>
                    </m:r>
                    <m:r>
                      <a:rPr lang="en-US" altLang="ko-KR" sz="1600" i="1">
                        <a:solidFill>
                          <a:prstClr val="black"/>
                        </a:solidFill>
                        <a:latin typeface="Cambria Math"/>
                        <a:ea typeface="Cambria Math"/>
                        <a:cs typeface="Times New Roman" panose="02020603050405020304" pitchFamily="18" charset="0"/>
                        <a:sym typeface="Symbol"/>
                      </a:rPr>
                      <m:t>=</m:t>
                    </m:r>
                    <m:f>
                      <m:fPr>
                        <m:ctrlPr>
                          <a:rPr lang="en-US" altLang="ko-KR" sz="1600" i="1">
                            <a:solidFill>
                              <a:prstClr val="black"/>
                            </a:solidFill>
                            <a:latin typeface="Cambria Math" panose="02040503050406030204" pitchFamily="18" charset="0"/>
                            <a:cs typeface="Times New Roman" panose="02020603050405020304" pitchFamily="18" charset="0"/>
                            <a:sym typeface="Symbol"/>
                          </a:rPr>
                        </m:ctrlPr>
                      </m:fPr>
                      <m:num>
                        <m:r>
                          <a:rPr lang="en-US" altLang="ko-KR" sz="1600" i="1">
                            <a:solidFill>
                              <a:prstClr val="black"/>
                            </a:solidFill>
                            <a:latin typeface="Cambria Math" panose="02040503050406030204" pitchFamily="18" charset="0"/>
                            <a:cs typeface="Times New Roman" panose="02020603050405020304" pitchFamily="18" charset="0"/>
                            <a:sym typeface="Symbol"/>
                          </a:rPr>
                          <m:t>𝐴</m:t>
                        </m:r>
                        <m:r>
                          <a:rPr lang="en-US" altLang="ko-KR" sz="1600" i="1">
                            <a:solidFill>
                              <a:prstClr val="black"/>
                            </a:solidFill>
                            <a:latin typeface="Cambria Math"/>
                            <a:cs typeface="Times New Roman" panose="02020603050405020304" pitchFamily="18" charset="0"/>
                            <a:sym typeface="Symbol"/>
                          </a:rPr>
                          <m:t>𝑐𝑐</m:t>
                        </m:r>
                        <m:r>
                          <a:rPr lang="en-US" altLang="ko-KR" sz="1600" i="1">
                            <a:solidFill>
                              <a:prstClr val="black"/>
                            </a:solidFill>
                            <a:latin typeface="Cambria Math" panose="02040503050406030204" pitchFamily="18" charset="0"/>
                            <a:cs typeface="Times New Roman" panose="02020603050405020304" pitchFamily="18" charset="0"/>
                            <a:sym typeface="Symbol"/>
                          </a:rPr>
                          <m:t>𝑢𝑟𝑎𝑐𝑦</m:t>
                        </m:r>
                        <m:r>
                          <a:rPr lang="en-US" altLang="ko-KR" sz="1600" i="1">
                            <a:solidFill>
                              <a:prstClr val="black"/>
                            </a:solidFill>
                            <a:latin typeface="Cambria Math"/>
                            <a:cs typeface="Times New Roman" panose="02020603050405020304" pitchFamily="18" charset="0"/>
                            <a:sym typeface="Symbol"/>
                          </a:rPr>
                          <m:t>−</m:t>
                        </m:r>
                        <m:sSub>
                          <m:sSubPr>
                            <m:ctrlPr>
                              <a:rPr lang="en-US" altLang="ko-KR" sz="1600" i="1">
                                <a:solidFill>
                                  <a:prstClr val="black"/>
                                </a:solidFill>
                                <a:latin typeface="Cambria Math" panose="02040503050406030204" pitchFamily="18" charset="0"/>
                                <a:cs typeface="Times New Roman" panose="02020603050405020304" pitchFamily="18" charset="0"/>
                                <a:sym typeface="Symbol"/>
                              </a:rPr>
                            </m:ctrlPr>
                          </m:sSubPr>
                          <m:e>
                            <m:r>
                              <a:rPr lang="en-US" altLang="ko-KR" sz="1600" i="1">
                                <a:solidFill>
                                  <a:prstClr val="black"/>
                                </a:solidFill>
                                <a:latin typeface="Cambria Math"/>
                                <a:cs typeface="Times New Roman" panose="02020603050405020304" pitchFamily="18" charset="0"/>
                                <a:sym typeface="Symbol"/>
                              </a:rPr>
                              <m:t>𝑝</m:t>
                            </m:r>
                          </m:e>
                          <m:sub>
                            <m:r>
                              <a:rPr lang="en-US" altLang="ko-KR" sz="1600" i="1">
                                <a:solidFill>
                                  <a:prstClr val="black"/>
                                </a:solidFill>
                                <a:latin typeface="Cambria Math"/>
                                <a:cs typeface="Times New Roman" panose="02020603050405020304" pitchFamily="18" charset="0"/>
                                <a:sym typeface="Symbol"/>
                              </a:rPr>
                              <m:t>𝑒</m:t>
                            </m:r>
                          </m:sub>
                        </m:sSub>
                      </m:num>
                      <m:den>
                        <m:r>
                          <a:rPr lang="en-US" altLang="ko-KR" sz="1600" i="1">
                            <a:solidFill>
                              <a:prstClr val="black"/>
                            </a:solidFill>
                            <a:latin typeface="Cambria Math"/>
                            <a:cs typeface="Times New Roman" panose="02020603050405020304" pitchFamily="18" charset="0"/>
                            <a:sym typeface="Symbol"/>
                          </a:rPr>
                          <m:t>1−</m:t>
                        </m:r>
                        <m:sSub>
                          <m:sSubPr>
                            <m:ctrlPr>
                              <a:rPr lang="en-US" altLang="ko-KR" sz="1600" i="1">
                                <a:solidFill>
                                  <a:prstClr val="black"/>
                                </a:solidFill>
                                <a:latin typeface="Cambria Math" panose="02040503050406030204" pitchFamily="18" charset="0"/>
                                <a:cs typeface="Times New Roman" panose="02020603050405020304" pitchFamily="18" charset="0"/>
                                <a:sym typeface="Symbol"/>
                              </a:rPr>
                            </m:ctrlPr>
                          </m:sSubPr>
                          <m:e>
                            <m:r>
                              <a:rPr lang="en-US" altLang="ko-KR" sz="1600" i="1">
                                <a:solidFill>
                                  <a:prstClr val="black"/>
                                </a:solidFill>
                                <a:latin typeface="Cambria Math"/>
                                <a:cs typeface="Times New Roman" panose="02020603050405020304" pitchFamily="18" charset="0"/>
                                <a:sym typeface="Symbol"/>
                              </a:rPr>
                              <m:t>𝑝</m:t>
                            </m:r>
                          </m:e>
                          <m:sub>
                            <m:r>
                              <a:rPr lang="en-US" altLang="ko-KR" sz="1600" i="1">
                                <a:solidFill>
                                  <a:prstClr val="black"/>
                                </a:solidFill>
                                <a:latin typeface="Cambria Math"/>
                                <a:cs typeface="Times New Roman" panose="02020603050405020304" pitchFamily="18" charset="0"/>
                                <a:sym typeface="Symbol"/>
                              </a:rPr>
                              <m:t>𝑒</m:t>
                            </m:r>
                          </m:sub>
                        </m:sSub>
                      </m:den>
                    </m:f>
                  </m:oMath>
                </a14:m>
                <a:endParaRPr lang="en-US" altLang="ko-KR" sz="16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endParaRPr>
              </a:p>
            </p:txBody>
          </p:sp>
        </mc:Choice>
        <mc:Fallback xmlns="">
          <p:sp>
            <p:nvSpPr>
              <p:cNvPr id="18" name="직사각형 17">
                <a:extLst>
                  <a:ext uri="{FF2B5EF4-FFF2-40B4-BE49-F238E27FC236}">
                    <a16:creationId xmlns:a16="http://schemas.microsoft.com/office/drawing/2014/main" xmlns="" xmlns:a14="http://schemas.microsoft.com/office/drawing/2010/main" id="{B7015C2B-5159-4E8A-AC20-B8D0939923B4}"/>
                  </a:ext>
                </a:extLst>
              </p:cNvPr>
              <p:cNvSpPr>
                <a:spLocks noRot="1" noChangeAspect="1" noMove="1" noResize="1" noEditPoints="1" noAdjustHandles="1" noChangeArrowheads="1" noChangeShapeType="1" noTextEdit="1"/>
              </p:cNvSpPr>
              <p:nvPr/>
            </p:nvSpPr>
            <p:spPr>
              <a:xfrm>
                <a:off x="666750" y="4509075"/>
                <a:ext cx="2988518" cy="473719"/>
              </a:xfrm>
              <a:prstGeom prst="rect">
                <a:avLst/>
              </a:prstGeom>
              <a:blipFill rotWithShape="0">
                <a:blip r:embed="rId8"/>
                <a:stretch>
                  <a:fillRect b="-2597"/>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9" name="직사각형 18">
                <a:extLst>
                  <a:ext uri="{FF2B5EF4-FFF2-40B4-BE49-F238E27FC236}">
                    <a16:creationId xmlns:a16="http://schemas.microsoft.com/office/drawing/2014/main" id="{4B341B96-12F8-4107-922D-BC8B0B02F68B}"/>
                  </a:ext>
                </a:extLst>
              </p:cNvPr>
              <p:cNvSpPr/>
              <p:nvPr/>
            </p:nvSpPr>
            <p:spPr>
              <a:xfrm>
                <a:off x="3763280" y="4573203"/>
                <a:ext cx="5540806"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where </a:t>
                </a:r>
                <a14:m>
                  <m:oMath xmlns:m="http://schemas.openxmlformats.org/officeDocument/2006/math">
                    <m:sSub>
                      <m:sSubPr>
                        <m:ctrlPr>
                          <a:rPr lang="en-US" altLang="ko-KR" sz="1300" i="1">
                            <a:solidFill>
                              <a:prstClr val="black"/>
                            </a:solidFill>
                            <a:latin typeface="Cambria Math" panose="02040503050406030204" pitchFamily="18" charset="0"/>
                            <a:cs typeface="Times New Roman" panose="02020603050405020304" pitchFamily="18" charset="0"/>
                            <a:sym typeface="Symbol"/>
                          </a:rPr>
                        </m:ctrlPr>
                      </m:sSubPr>
                      <m:e>
                        <m:r>
                          <a:rPr lang="en-US" altLang="ko-KR" sz="1300" i="1">
                            <a:solidFill>
                              <a:prstClr val="black"/>
                            </a:solidFill>
                            <a:latin typeface="Cambria Math"/>
                            <a:cs typeface="Times New Roman" panose="02020603050405020304" pitchFamily="18" charset="0"/>
                            <a:sym typeface="Symbol"/>
                          </a:rPr>
                          <m:t>𝑝</m:t>
                        </m:r>
                      </m:e>
                      <m:sub>
                        <m:r>
                          <a:rPr lang="en-US" altLang="ko-KR" sz="1300" i="1">
                            <a:solidFill>
                              <a:prstClr val="black"/>
                            </a:solidFill>
                            <a:latin typeface="Cambria Math"/>
                            <a:cs typeface="Times New Roman" panose="02020603050405020304" pitchFamily="18" charset="0"/>
                            <a:sym typeface="Symbol"/>
                          </a:rPr>
                          <m:t>𝑒</m:t>
                        </m:r>
                      </m:sub>
                    </m:sSub>
                  </m:oMath>
                </a14:m>
                <a:r>
                  <a:rPr lang="ko-KR" altLang="en-US" sz="1300" dirty="0">
                    <a:solidFill>
                      <a:prstClr val="black"/>
                    </a:solidFill>
                    <a:latin typeface="SamsungOne 400" panose="020B0503030303020204" pitchFamily="34" charset="0"/>
                    <a:cs typeface="Times New Roman" panose="02020603050405020304" pitchFamily="18" charset="0"/>
                    <a:sym typeface="Symbol"/>
                  </a:rPr>
                  <a:t> </a:t>
                </a: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is the probability of correct prediction by chance.</a:t>
                </a: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mc:Choice>
        <mc:Fallback xmlns="">
          <p:sp>
            <p:nvSpPr>
              <p:cNvPr id="19" name="직사각형 18">
                <a:extLst>
                  <a:ext uri="{FF2B5EF4-FFF2-40B4-BE49-F238E27FC236}">
                    <a16:creationId xmlns:a16="http://schemas.microsoft.com/office/drawing/2014/main" id="{4B341B96-12F8-4107-922D-BC8B0B02F68B}"/>
                  </a:ext>
                </a:extLst>
              </p:cNvPr>
              <p:cNvSpPr>
                <a:spLocks noRot="1" noChangeAspect="1" noMove="1" noResize="1" noEditPoints="1" noAdjustHandles="1" noChangeArrowheads="1" noChangeShapeType="1" noTextEdit="1"/>
              </p:cNvSpPr>
              <p:nvPr/>
            </p:nvSpPr>
            <p:spPr>
              <a:xfrm>
                <a:off x="3763280" y="4573203"/>
                <a:ext cx="5540806" cy="345461"/>
              </a:xfrm>
              <a:prstGeom prst="rect">
                <a:avLst/>
              </a:prstGeom>
              <a:blipFill>
                <a:blip r:embed="rId9"/>
                <a:stretch>
                  <a:fillRect l="-110"/>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392134882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Terminology</a:t>
            </a:r>
          </a:p>
        </p:txBody>
      </p:sp>
      <p:sp>
        <p:nvSpPr>
          <p:cNvPr id="14" name="직사각형 13">
            <a:extLst>
              <a:ext uri="{FF2B5EF4-FFF2-40B4-BE49-F238E27FC236}">
                <a16:creationId xmlns:a16="http://schemas.microsoft.com/office/drawing/2014/main" id="{AE7B6D49-BDCA-494C-8647-CFE9A00F40AE}"/>
              </a:ext>
            </a:extLst>
          </p:cNvPr>
          <p:cNvSpPr/>
          <p:nvPr/>
        </p:nvSpPr>
        <p:spPr>
          <a:xfrm>
            <a:off x="667714" y="1858132"/>
            <a:ext cx="2735392" cy="3077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spcAft>
                <a:spcPts val="1800"/>
              </a:spcAft>
              <a:buClr>
                <a:srgbClr val="193EB0"/>
              </a:buClr>
            </a:pPr>
            <a:r>
              <a:rPr lang="en-US" altLang="ko-KR" sz="14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True Positive Rate = Sensitivity</a:t>
            </a:r>
            <a:endParaRPr lang="en-US" altLang="ko-KR" sz="14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endParaRPr>
          </a:p>
        </p:txBody>
      </p:sp>
      <p:sp>
        <p:nvSpPr>
          <p:cNvPr id="15" name="직사각형 14">
            <a:extLst>
              <a:ext uri="{FF2B5EF4-FFF2-40B4-BE49-F238E27FC236}">
                <a16:creationId xmlns:a16="http://schemas.microsoft.com/office/drawing/2014/main" id="{F8B640D9-19B1-4F77-8083-0D2B315F7470}"/>
              </a:ext>
            </a:extLst>
          </p:cNvPr>
          <p:cNvSpPr/>
          <p:nvPr/>
        </p:nvSpPr>
        <p:spPr>
          <a:xfrm>
            <a:off x="666750" y="2422102"/>
            <a:ext cx="2809131" cy="3077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spcAft>
                <a:spcPts val="1800"/>
              </a:spcAft>
              <a:buClr>
                <a:srgbClr val="193EB0"/>
              </a:buClr>
            </a:pPr>
            <a:r>
              <a:rPr lang="en-US" altLang="ko-KR" sz="14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True Negative Rate = Specificity</a:t>
            </a:r>
          </a:p>
        </p:txBody>
      </p:sp>
      <mc:AlternateContent xmlns:mc="http://schemas.openxmlformats.org/markup-compatibility/2006" xmlns:a14="http://schemas.microsoft.com/office/drawing/2010/main">
        <mc:Choice Requires="a14">
          <p:sp>
            <p:nvSpPr>
              <p:cNvPr id="16" name="직사각형 15">
                <a:extLst>
                  <a:ext uri="{FF2B5EF4-FFF2-40B4-BE49-F238E27FC236}">
                    <a16:creationId xmlns:a16="http://schemas.microsoft.com/office/drawing/2014/main" id="{4FE504F2-1C49-4E41-925B-E461955F3078}"/>
                  </a:ext>
                </a:extLst>
              </p:cNvPr>
              <p:cNvSpPr/>
              <p:nvPr/>
            </p:nvSpPr>
            <p:spPr>
              <a:xfrm>
                <a:off x="677971" y="2970684"/>
                <a:ext cx="7488489" cy="4783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lvl="0">
                  <a:spcAft>
                    <a:spcPts val="1800"/>
                  </a:spcAft>
                  <a:buClr>
                    <a:srgbClr val="193EB0"/>
                  </a:buClr>
                </a:pPr>
                <a:r>
                  <a:rPr lang="en-US" altLang="ko-KR" sz="14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False Positive Rate </a:t>
                </a:r>
                <a:r>
                  <a:rPr lang="en-US" altLang="ko-KR" sz="16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 </a:t>
                </a:r>
                <a14:m>
                  <m:oMath xmlns:m="http://schemas.openxmlformats.org/officeDocument/2006/math">
                    <m:f>
                      <m:fPr>
                        <m:ctrlPr>
                          <a:rPr lang="en-US" altLang="ko-KR" sz="1600" i="1">
                            <a:solidFill>
                              <a:prstClr val="black"/>
                            </a:solidFill>
                            <a:latin typeface="Cambria Math" panose="02040503050406030204" pitchFamily="18" charset="0"/>
                            <a:cs typeface="Times New Roman" panose="02020603050405020304" pitchFamily="18" charset="0"/>
                            <a:sym typeface="Symbol"/>
                          </a:rPr>
                        </m:ctrlPr>
                      </m:fPr>
                      <m:num>
                        <m:r>
                          <a:rPr lang="en-US" altLang="ko-KR" sz="1600" i="1">
                            <a:solidFill>
                              <a:prstClr val="black"/>
                            </a:solidFill>
                            <a:latin typeface="Cambria Math" panose="02040503050406030204" pitchFamily="18" charset="0"/>
                            <a:cs typeface="Times New Roman" panose="02020603050405020304" pitchFamily="18" charset="0"/>
                            <a:sym typeface="Symbol"/>
                          </a:rPr>
                          <m:t>𝑁𝑢𝑚𝑏𝑒𝑟</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𝑜𝑓</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𝑎𝑐𝑡𝑢𝑎𝑙</m:t>
                        </m:r>
                        <m:r>
                          <a:rPr lang="en-US" altLang="ko-KR" sz="1600" i="1">
                            <a:solidFill>
                              <a:prstClr val="black"/>
                            </a:solidFill>
                            <a:latin typeface="Cambria Math" panose="02040503050406030204" pitchFamily="18" charset="0"/>
                            <a:cs typeface="Times New Roman" panose="02020603050405020304" pitchFamily="18" charset="0"/>
                            <a:sym typeface="Symbol"/>
                          </a:rPr>
                          <m:t> 0</m:t>
                        </m:r>
                        <m:r>
                          <a:rPr lang="en-US" altLang="ko-KR" sz="1600" i="1">
                            <a:solidFill>
                              <a:prstClr val="black"/>
                            </a:solidFill>
                            <a:latin typeface="Cambria Math" panose="02040503050406030204" pitchFamily="18" charset="0"/>
                            <a:cs typeface="Times New Roman" panose="02020603050405020304" pitchFamily="18" charset="0"/>
                            <a:sym typeface="Symbol"/>
                          </a:rPr>
                          <m:t>𝑠</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𝑡h𝑎𝑡</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𝑎𝑟𝑒</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𝑖𝑛𝑐𝑜𝑟𝑟𝑒𝑐𝑡𝑙𝑦</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𝑝𝑟𝑒𝑑𝑖𝑐𝑡𝑒𝑑</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𝑎𝑠</m:t>
                        </m:r>
                        <m:r>
                          <a:rPr lang="en-US" altLang="ko-KR" sz="1600" i="1">
                            <a:solidFill>
                              <a:prstClr val="black"/>
                            </a:solidFill>
                            <a:latin typeface="Cambria Math" panose="02040503050406030204" pitchFamily="18" charset="0"/>
                            <a:cs typeface="Times New Roman" panose="02020603050405020304" pitchFamily="18" charset="0"/>
                            <a:sym typeface="Symbol"/>
                          </a:rPr>
                          <m:t> 1</m:t>
                        </m:r>
                      </m:num>
                      <m:den>
                        <m:r>
                          <a:rPr lang="en-US" altLang="ko-KR" sz="1600" i="1">
                            <a:solidFill>
                              <a:prstClr val="black"/>
                            </a:solidFill>
                            <a:latin typeface="Cambria Math" panose="02040503050406030204" pitchFamily="18" charset="0"/>
                            <a:cs typeface="Times New Roman" panose="02020603050405020304" pitchFamily="18" charset="0"/>
                            <a:sym typeface="Symbol"/>
                          </a:rPr>
                          <m:t>𝑇𝑜𝑡𝑎𝑙</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𝑛𝑢𝑚𝑏𝑒𝑟</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𝑜𝑓</m:t>
                        </m:r>
                        <m:r>
                          <a:rPr lang="en-US" altLang="ko-KR" sz="1600" i="1">
                            <a:solidFill>
                              <a:prstClr val="black"/>
                            </a:solidFill>
                            <a:latin typeface="Cambria Math" panose="02040503050406030204" pitchFamily="18" charset="0"/>
                            <a:cs typeface="Times New Roman" panose="02020603050405020304" pitchFamily="18" charset="0"/>
                            <a:sym typeface="Symbol"/>
                          </a:rPr>
                          <m:t> 0</m:t>
                        </m:r>
                        <m:r>
                          <a:rPr lang="en-US" altLang="ko-KR" sz="1600" i="1">
                            <a:solidFill>
                              <a:prstClr val="black"/>
                            </a:solidFill>
                            <a:latin typeface="Cambria Math" panose="02040503050406030204" pitchFamily="18" charset="0"/>
                            <a:cs typeface="Times New Roman" panose="02020603050405020304" pitchFamily="18" charset="0"/>
                            <a:sym typeface="Symbol"/>
                          </a:rPr>
                          <m:t>𝑠</m:t>
                        </m:r>
                      </m:den>
                    </m:f>
                  </m:oMath>
                </a14:m>
                <a:r>
                  <a:rPr lang="en-US" altLang="ko-KR" sz="1600" i="1"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4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rPr>
                  <a:t>= 1-Specificity</a:t>
                </a:r>
                <a:endParaRPr lang="ko-KR" altLang="en-US" sz="14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endParaRPr>
              </a:p>
            </p:txBody>
          </p:sp>
        </mc:Choice>
        <mc:Fallback xmlns="">
          <p:sp>
            <p:nvSpPr>
              <p:cNvPr id="16" name="직사각형 15">
                <a:extLst>
                  <a:ext uri="{FF2B5EF4-FFF2-40B4-BE49-F238E27FC236}">
                    <a16:creationId xmlns:a16="http://schemas.microsoft.com/office/drawing/2014/main" xmlns="" xmlns:a14="http://schemas.microsoft.com/office/drawing/2010/main" id="{4FE504F2-1C49-4E41-925B-E461955F3078}"/>
                  </a:ext>
                </a:extLst>
              </p:cNvPr>
              <p:cNvSpPr>
                <a:spLocks noRot="1" noChangeAspect="1" noMove="1" noResize="1" noEditPoints="1" noAdjustHandles="1" noChangeArrowheads="1" noChangeShapeType="1" noTextEdit="1"/>
              </p:cNvSpPr>
              <p:nvPr/>
            </p:nvSpPr>
            <p:spPr>
              <a:xfrm>
                <a:off x="677971" y="2970684"/>
                <a:ext cx="7488489" cy="478336"/>
              </a:xfrm>
              <a:prstGeom prst="rect">
                <a:avLst/>
              </a:prstGeom>
              <a:blipFill rotWithShape="0">
                <a:blip r:embed="rId4"/>
                <a:stretch>
                  <a:fillRect b="-3797"/>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7" name="직사각형 16">
                <a:extLst>
                  <a:ext uri="{FF2B5EF4-FFF2-40B4-BE49-F238E27FC236}">
                    <a16:creationId xmlns:a16="http://schemas.microsoft.com/office/drawing/2014/main" id="{BD8B421A-162C-4231-8880-52CF23DFFC4B}"/>
                  </a:ext>
                </a:extLst>
              </p:cNvPr>
              <p:cNvSpPr/>
              <p:nvPr/>
            </p:nvSpPr>
            <p:spPr>
              <a:xfrm>
                <a:off x="666751" y="3674436"/>
                <a:ext cx="7499710" cy="4783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rtlCol="0" anchor="ctr" anchorCtr="0">
                <a:spAutoFit/>
              </a:bodyPr>
              <a:lstStyle/>
              <a:p>
                <a:pPr lvl="0">
                  <a:spcAft>
                    <a:spcPts val="1800"/>
                  </a:spcAft>
                  <a:buClr>
                    <a:srgbClr val="193EB0"/>
                  </a:buClr>
                </a:pPr>
                <a:r>
                  <a:rPr lang="en-US" altLang="ko-KR" sz="14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False Negative Rate </a:t>
                </a:r>
                <a:r>
                  <a:rPr lang="en-US" altLang="ko-KR" sz="16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 </a:t>
                </a:r>
                <a14:m>
                  <m:oMath xmlns:m="http://schemas.openxmlformats.org/officeDocument/2006/math">
                    <m:f>
                      <m:fPr>
                        <m:ctrlPr>
                          <a:rPr lang="en-US" altLang="ko-KR" sz="1600" i="1">
                            <a:solidFill>
                              <a:prstClr val="black"/>
                            </a:solidFill>
                            <a:latin typeface="Cambria Math" panose="02040503050406030204" pitchFamily="18" charset="0"/>
                            <a:cs typeface="Times New Roman" panose="02020603050405020304" pitchFamily="18" charset="0"/>
                            <a:sym typeface="Symbol"/>
                          </a:rPr>
                        </m:ctrlPr>
                      </m:fPr>
                      <m:num>
                        <m:r>
                          <a:rPr lang="en-US" altLang="ko-KR" sz="1600" i="1">
                            <a:solidFill>
                              <a:prstClr val="black"/>
                            </a:solidFill>
                            <a:latin typeface="Cambria Math" panose="02040503050406030204" pitchFamily="18" charset="0"/>
                            <a:cs typeface="Times New Roman" panose="02020603050405020304" pitchFamily="18" charset="0"/>
                            <a:sym typeface="Symbol"/>
                          </a:rPr>
                          <m:t>𝑁𝑢𝑚𝑏𝑒𝑟</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𝑜𝑓</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𝑎𝑐𝑡𝑢𝑎𝑙</m:t>
                        </m:r>
                        <m:r>
                          <a:rPr lang="en-US" altLang="ko-KR" sz="1600" i="1">
                            <a:solidFill>
                              <a:prstClr val="black"/>
                            </a:solidFill>
                            <a:latin typeface="Cambria Math" panose="02040503050406030204" pitchFamily="18" charset="0"/>
                            <a:cs typeface="Times New Roman" panose="02020603050405020304" pitchFamily="18" charset="0"/>
                            <a:sym typeface="Symbol"/>
                          </a:rPr>
                          <m:t> 1</m:t>
                        </m:r>
                        <m:r>
                          <a:rPr lang="en-US" altLang="ko-KR" sz="1600" i="1">
                            <a:solidFill>
                              <a:prstClr val="black"/>
                            </a:solidFill>
                            <a:latin typeface="Cambria Math" panose="02040503050406030204" pitchFamily="18" charset="0"/>
                            <a:cs typeface="Times New Roman" panose="02020603050405020304" pitchFamily="18" charset="0"/>
                            <a:sym typeface="Symbol"/>
                          </a:rPr>
                          <m:t>𝑠</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𝑡h𝑎𝑡</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𝑎𝑟𝑒</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𝑖𝑛𝑐𝑜𝑟𝑟𝑒𝑐𝑡𝑙𝑦</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𝑝𝑟𝑒𝑑𝑖𝑐𝑡𝑒𝑑</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𝑎𝑠</m:t>
                        </m:r>
                        <m:r>
                          <a:rPr lang="en-US" altLang="ko-KR" sz="1600" i="1">
                            <a:solidFill>
                              <a:prstClr val="black"/>
                            </a:solidFill>
                            <a:latin typeface="Cambria Math" panose="02040503050406030204" pitchFamily="18" charset="0"/>
                            <a:cs typeface="Times New Roman" panose="02020603050405020304" pitchFamily="18" charset="0"/>
                            <a:sym typeface="Symbol"/>
                          </a:rPr>
                          <m:t> 0</m:t>
                        </m:r>
                      </m:num>
                      <m:den>
                        <m:r>
                          <a:rPr lang="en-US" altLang="ko-KR" sz="1600" i="1">
                            <a:solidFill>
                              <a:prstClr val="black"/>
                            </a:solidFill>
                            <a:latin typeface="Cambria Math" panose="02040503050406030204" pitchFamily="18" charset="0"/>
                            <a:cs typeface="Times New Roman" panose="02020603050405020304" pitchFamily="18" charset="0"/>
                            <a:sym typeface="Symbol"/>
                          </a:rPr>
                          <m:t>𝑇𝑜𝑡𝑎𝑙</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𝑛𝑢𝑚𝑏𝑒𝑟</m:t>
                        </m:r>
                        <m:r>
                          <a:rPr lang="en-US" altLang="ko-KR" sz="1600" i="1">
                            <a:solidFill>
                              <a:prstClr val="black"/>
                            </a:solidFill>
                            <a:latin typeface="Cambria Math" panose="02040503050406030204" pitchFamily="18" charset="0"/>
                            <a:cs typeface="Times New Roman" panose="02020603050405020304" pitchFamily="18" charset="0"/>
                            <a:sym typeface="Symbol"/>
                          </a:rPr>
                          <m:t> </m:t>
                        </m:r>
                        <m:r>
                          <a:rPr lang="en-US" altLang="ko-KR" sz="1600" i="1">
                            <a:solidFill>
                              <a:prstClr val="black"/>
                            </a:solidFill>
                            <a:latin typeface="Cambria Math" panose="02040503050406030204" pitchFamily="18" charset="0"/>
                            <a:cs typeface="Times New Roman" panose="02020603050405020304" pitchFamily="18" charset="0"/>
                            <a:sym typeface="Symbol"/>
                          </a:rPr>
                          <m:t>𝑜𝑓</m:t>
                        </m:r>
                        <m:r>
                          <a:rPr lang="en-US" altLang="ko-KR" sz="1600" i="1">
                            <a:solidFill>
                              <a:prstClr val="black"/>
                            </a:solidFill>
                            <a:latin typeface="Cambria Math" panose="02040503050406030204" pitchFamily="18" charset="0"/>
                            <a:cs typeface="Times New Roman" panose="02020603050405020304" pitchFamily="18" charset="0"/>
                            <a:sym typeface="Symbol"/>
                          </a:rPr>
                          <m:t> 1</m:t>
                        </m:r>
                        <m:r>
                          <a:rPr lang="en-US" altLang="ko-KR" sz="1600" i="1">
                            <a:solidFill>
                              <a:prstClr val="black"/>
                            </a:solidFill>
                            <a:latin typeface="Cambria Math" panose="02040503050406030204" pitchFamily="18" charset="0"/>
                            <a:cs typeface="Times New Roman" panose="02020603050405020304" pitchFamily="18" charset="0"/>
                            <a:sym typeface="Symbol"/>
                          </a:rPr>
                          <m:t>𝑠</m:t>
                        </m:r>
                      </m:den>
                    </m:f>
                  </m:oMath>
                </a14:m>
                <a:r>
                  <a:rPr lang="en-US" altLang="ko-KR" sz="1600" i="1"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4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rPr>
                  <a:t>= 1-Sensitivity</a:t>
                </a:r>
                <a:endParaRPr lang="ko-KR" altLang="en-US" sz="14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endParaRPr>
              </a:p>
            </p:txBody>
          </p:sp>
        </mc:Choice>
        <mc:Fallback xmlns="">
          <p:sp>
            <p:nvSpPr>
              <p:cNvPr id="17" name="직사각형 16">
                <a:extLst>
                  <a:ext uri="{FF2B5EF4-FFF2-40B4-BE49-F238E27FC236}">
                    <a16:creationId xmlns:a16="http://schemas.microsoft.com/office/drawing/2014/main" xmlns="" xmlns:a14="http://schemas.microsoft.com/office/drawing/2010/main" id="{BD8B421A-162C-4231-8880-52CF23DFFC4B}"/>
                  </a:ext>
                </a:extLst>
              </p:cNvPr>
              <p:cNvSpPr>
                <a:spLocks noRot="1" noChangeAspect="1" noMove="1" noResize="1" noEditPoints="1" noAdjustHandles="1" noChangeArrowheads="1" noChangeShapeType="1" noTextEdit="1"/>
              </p:cNvSpPr>
              <p:nvPr/>
            </p:nvSpPr>
            <p:spPr>
              <a:xfrm>
                <a:off x="666751" y="3674436"/>
                <a:ext cx="7499710" cy="478336"/>
              </a:xfrm>
              <a:prstGeom prst="rect">
                <a:avLst/>
              </a:prstGeom>
              <a:blipFill rotWithShape="0">
                <a:blip r:embed="rId5"/>
                <a:stretch>
                  <a:fillRect b="-5128"/>
                </a:stretch>
              </a:blipFill>
              <a:ln>
                <a:noFill/>
              </a:ln>
            </p:spPr>
            <p:txBody>
              <a:bodyPr/>
              <a:lstStyle/>
              <a:p>
                <a:r>
                  <a:rPr lang="ko-KR" altLang="en-US">
                    <a:noFill/>
                  </a:rPr>
                  <a:t> </a:t>
                </a:r>
              </a:p>
            </p:txBody>
          </p:sp>
        </mc:Fallback>
      </mc:AlternateContent>
      <p:sp>
        <p:nvSpPr>
          <p:cNvPr id="18" name="직사각형 17">
            <a:extLst>
              <a:ext uri="{FF2B5EF4-FFF2-40B4-BE49-F238E27FC236}">
                <a16:creationId xmlns:a16="http://schemas.microsoft.com/office/drawing/2014/main" id="{B7015C2B-5159-4E8A-AC20-B8D0939923B4}"/>
              </a:ext>
            </a:extLst>
          </p:cNvPr>
          <p:cNvSpPr/>
          <p:nvPr/>
        </p:nvSpPr>
        <p:spPr>
          <a:xfrm>
            <a:off x="666750" y="4393575"/>
            <a:ext cx="3121716" cy="3077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spcAft>
                <a:spcPts val="1800"/>
              </a:spcAft>
              <a:buClr>
                <a:srgbClr val="193EB0"/>
              </a:buClr>
            </a:pPr>
            <a:r>
              <a:rPr lang="en-US" altLang="ko-KR" sz="14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rPr>
              <a:t>Positive Predicted Value = Precision</a:t>
            </a:r>
          </a:p>
        </p:txBody>
      </p:sp>
    </p:spTree>
    <p:extLst>
      <p:ext uri="{BB962C8B-B14F-4D97-AF65-F5344CB8AC3E}">
        <p14:creationId xmlns:p14="http://schemas.microsoft.com/office/powerpoint/2010/main" val="2568123805"/>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ROC curve</a:t>
            </a:r>
          </a:p>
        </p:txBody>
      </p:sp>
      <p:pic>
        <p:nvPicPr>
          <p:cNvPr id="11" name="Picture 6">
            <a:extLst>
              <a:ext uri="{FF2B5EF4-FFF2-40B4-BE49-F238E27FC236}">
                <a16:creationId xmlns:a16="http://schemas.microsoft.com/office/drawing/2014/main" id="{9A5A9AA7-4B5C-4DB0-BD5C-A0C8EC5A57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44801" y="1740554"/>
            <a:ext cx="4213224" cy="2898460"/>
          </a:xfrm>
          <a:prstGeom prst="rect">
            <a:avLst/>
          </a:prstGeom>
        </p:spPr>
      </p:pic>
      <p:sp>
        <p:nvSpPr>
          <p:cNvPr id="12" name="직사각형 11">
            <a:extLst>
              <a:ext uri="{FF2B5EF4-FFF2-40B4-BE49-F238E27FC236}">
                <a16:creationId xmlns:a16="http://schemas.microsoft.com/office/drawing/2014/main" id="{68D8C752-6D94-4472-81A9-79DD7CF49C4A}"/>
              </a:ext>
            </a:extLst>
          </p:cNvPr>
          <p:cNvSpPr/>
          <p:nvPr/>
        </p:nvSpPr>
        <p:spPr>
          <a:xfrm>
            <a:off x="671261" y="4977172"/>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1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ROC curve is a parametric plot with respect to the </a:t>
            </a:r>
            <a:r>
              <a:rPr lang="en-US" altLang="ko-KR" sz="1300" i="1"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cutoff</a:t>
            </a: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  probability.</a:t>
            </a:r>
          </a:p>
        </p:txBody>
      </p:sp>
      <p:sp>
        <p:nvSpPr>
          <p:cNvPr id="13" name="TextBox 12">
            <a:extLst>
              <a:ext uri="{FF2B5EF4-FFF2-40B4-BE49-F238E27FC236}">
                <a16:creationId xmlns:a16="http://schemas.microsoft.com/office/drawing/2014/main" id="{DE298400-34A8-4882-8AAC-A99840A2022B}"/>
              </a:ext>
            </a:extLst>
          </p:cNvPr>
          <p:cNvSpPr txBox="1"/>
          <p:nvPr/>
        </p:nvSpPr>
        <p:spPr>
          <a:xfrm>
            <a:off x="4424645" y="4423570"/>
            <a:ext cx="1449115" cy="215444"/>
          </a:xfrm>
          <a:prstGeom prst="rect">
            <a:avLst/>
          </a:prstGeom>
          <a:solidFill>
            <a:schemeClr val="bg1"/>
          </a:solidFill>
        </p:spPr>
        <p:txBody>
          <a:bodyPr wrap="none" lIns="0" tIns="0" rIns="0" bIns="0" rtlCol="0">
            <a:spAutoFit/>
          </a:bodyPr>
          <a:lstStyle/>
          <a:p>
            <a:r>
              <a:rPr lang="en-US" sz="1400" dirty="0">
                <a:latin typeface="SamsungOne 400" panose="020B0503030303020204" pitchFamily="34" charset="0"/>
                <a:ea typeface="SamsungOne 400" panose="020B0503030303020204" pitchFamily="34" charset="0"/>
              </a:rPr>
              <a:t>False positive rate</a:t>
            </a:r>
          </a:p>
        </p:txBody>
      </p:sp>
      <p:sp>
        <p:nvSpPr>
          <p:cNvPr id="19" name="TextBox 18">
            <a:extLst>
              <a:ext uri="{FF2B5EF4-FFF2-40B4-BE49-F238E27FC236}">
                <a16:creationId xmlns:a16="http://schemas.microsoft.com/office/drawing/2014/main" id="{9DBB4F0E-0BE1-4497-825B-9779955F2D64}"/>
              </a:ext>
            </a:extLst>
          </p:cNvPr>
          <p:cNvSpPr txBox="1"/>
          <p:nvPr/>
        </p:nvSpPr>
        <p:spPr>
          <a:xfrm rot="16200000">
            <a:off x="2383211" y="3161210"/>
            <a:ext cx="1391407" cy="215444"/>
          </a:xfrm>
          <a:prstGeom prst="rect">
            <a:avLst/>
          </a:prstGeom>
          <a:solidFill>
            <a:schemeClr val="bg1"/>
          </a:solidFill>
        </p:spPr>
        <p:txBody>
          <a:bodyPr wrap="none" lIns="0" tIns="0" rIns="0" bIns="0" rtlCol="0">
            <a:spAutoFit/>
          </a:bodyPr>
          <a:lstStyle/>
          <a:p>
            <a:r>
              <a:rPr lang="en-US" sz="1400" dirty="0">
                <a:latin typeface="SamsungOne 400" panose="020B0503030303020204" pitchFamily="34" charset="0"/>
                <a:ea typeface="SamsungOne 400" panose="020B0503030303020204" pitchFamily="34" charset="0"/>
              </a:rPr>
              <a:t>True positive rate</a:t>
            </a:r>
          </a:p>
        </p:txBody>
      </p:sp>
    </p:spTree>
    <p:extLst>
      <p:ext uri="{BB962C8B-B14F-4D97-AF65-F5344CB8AC3E}">
        <p14:creationId xmlns:p14="http://schemas.microsoft.com/office/powerpoint/2010/main" val="80442984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ROC curve</a:t>
            </a:r>
          </a:p>
        </p:txBody>
      </p:sp>
      <p:sp>
        <p:nvSpPr>
          <p:cNvPr id="12" name="직사각형 11">
            <a:extLst>
              <a:ext uri="{FF2B5EF4-FFF2-40B4-BE49-F238E27FC236}">
                <a16:creationId xmlns:a16="http://schemas.microsoft.com/office/drawing/2014/main" id="{68D8C752-6D94-4472-81A9-79DD7CF49C4A}"/>
              </a:ext>
            </a:extLst>
          </p:cNvPr>
          <p:cNvSpPr/>
          <p:nvPr/>
        </p:nvSpPr>
        <p:spPr>
          <a:xfrm>
            <a:off x="671261" y="4977172"/>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1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ROC curve is a parametric plot with respect to the </a:t>
            </a:r>
            <a:r>
              <a:rPr lang="en-US" altLang="ko-KR" sz="1300" i="1"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cutoff</a:t>
            </a: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  probability.</a:t>
            </a:r>
          </a:p>
        </p:txBody>
      </p:sp>
      <p:graphicFrame>
        <p:nvGraphicFramePr>
          <p:cNvPr id="14" name="Table 1">
            <a:extLst>
              <a:ext uri="{FF2B5EF4-FFF2-40B4-BE49-F238E27FC236}">
                <a16:creationId xmlns:a16="http://schemas.microsoft.com/office/drawing/2014/main" id="{DE5473F6-4A7F-4AF1-B919-25D5C921D0B5}"/>
              </a:ext>
            </a:extLst>
          </p:cNvPr>
          <p:cNvGraphicFramePr>
            <a:graphicFrameLocks noGrp="1"/>
          </p:cNvGraphicFramePr>
          <p:nvPr>
            <p:extLst>
              <p:ext uri="{D42A27DB-BD31-4B8C-83A1-F6EECF244321}">
                <p14:modId xmlns:p14="http://schemas.microsoft.com/office/powerpoint/2010/main" val="1345308288"/>
              </p:ext>
            </p:extLst>
          </p:nvPr>
        </p:nvGraphicFramePr>
        <p:xfrm>
          <a:off x="5399856" y="2000711"/>
          <a:ext cx="3511996" cy="2487272"/>
        </p:xfrm>
        <a:graphic>
          <a:graphicData uri="http://schemas.openxmlformats.org/drawingml/2006/table">
            <a:tbl>
              <a:tblPr firstRow="1" bandRow="1">
                <a:tableStyleId>{5940675A-B579-460E-94D1-54222C63F5DA}</a:tableStyleId>
              </a:tblPr>
              <a:tblGrid>
                <a:gridCol w="2294951">
                  <a:extLst>
                    <a:ext uri="{9D8B030D-6E8A-4147-A177-3AD203B41FA5}">
                      <a16:colId xmlns:a16="http://schemas.microsoft.com/office/drawing/2014/main" val="20000"/>
                    </a:ext>
                  </a:extLst>
                </a:gridCol>
                <a:gridCol w="1217045">
                  <a:extLst>
                    <a:ext uri="{9D8B030D-6E8A-4147-A177-3AD203B41FA5}">
                      <a16:colId xmlns:a16="http://schemas.microsoft.com/office/drawing/2014/main" val="20001"/>
                    </a:ext>
                  </a:extLst>
                </a:gridCol>
              </a:tblGrid>
              <a:tr h="286318">
                <a:tc gridSpan="2">
                  <a:txBody>
                    <a:bodyPr/>
                    <a:lstStyle/>
                    <a:p>
                      <a:pPr marL="0" algn="ctr" defTabSz="914400" rtl="0" eaLnBrk="1" latinLnBrk="1" hangingPunct="1"/>
                      <a:r>
                        <a:rPr lang="en-US" altLang="ko-KR" sz="14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As</a:t>
                      </a:r>
                      <a:r>
                        <a:rPr lang="ko-KR" altLang="en-US" sz="14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 </a:t>
                      </a:r>
                      <a:r>
                        <a:rPr lang="en-US" altLang="ko-KR" sz="14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the</a:t>
                      </a:r>
                      <a:r>
                        <a:rPr lang="ko-KR" altLang="en-US" sz="14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 </a:t>
                      </a:r>
                      <a:r>
                        <a:rPr lang="en-US" altLang="ko-KR" sz="14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cutoff </a:t>
                      </a:r>
                      <a:r>
                        <a:rPr lang="en-US" altLang="ko-KR" sz="1400" b="0" kern="1200" dirty="0">
                          <a:gradFill>
                            <a:gsLst>
                              <a:gs pos="0">
                                <a:srgbClr val="00B050"/>
                              </a:gs>
                              <a:gs pos="100000">
                                <a:srgbClr val="00B05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increases</a:t>
                      </a:r>
                      <a:r>
                        <a:rPr lang="ko-KR" altLang="en-US" sz="14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 </a:t>
                      </a:r>
                      <a:r>
                        <a:rPr lang="en-US" altLang="ko-KR" sz="14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(closer to 1)</a:t>
                      </a:r>
                    </a:p>
                  </a:txBody>
                  <a:tcPr anchor="ctr">
                    <a:lnL w="12700" cmpd="sng">
                      <a:noFill/>
                    </a:lnL>
                    <a:lnR w="12700" cmpd="sng">
                      <a:noFill/>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lang="en-US" dirty="0">
                        <a:latin typeface="+mn-ea"/>
                        <a:ea typeface="+mn-ea"/>
                      </a:endParaRPr>
                    </a:p>
                  </a:txBody>
                  <a:tcPr/>
                </a:tc>
                <a:extLst>
                  <a:ext uri="{0D108BD9-81ED-4DB2-BD59-A6C34878D82A}">
                    <a16:rowId xmlns:a16="http://schemas.microsoft.com/office/drawing/2014/main" val="10000"/>
                  </a:ext>
                </a:extLst>
              </a:tr>
              <a:tr h="458108">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Performance Metric</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1" hangingPunct="1"/>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Increase</a:t>
                      </a:r>
                      <a:r>
                        <a:rPr lang="en-US" sz="1300" b="0" kern="1200" dirty="0">
                          <a:gradFill>
                            <a:gsLst>
                              <a:gs pos="0">
                                <a:srgbClr val="193EB0"/>
                              </a:gs>
                              <a:gs pos="100000">
                                <a:srgbClr val="193EB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t>
                      </a:r>
                    </a:p>
                    <a:p>
                      <a:pPr marL="0" algn="ctr" defTabSz="914400" rtl="0" eaLnBrk="1" latinLnBrk="1" hangingPunct="1"/>
                      <a:r>
                        <a:rPr lang="en-US" sz="1300" b="0" kern="1200" dirty="0">
                          <a:gradFill>
                            <a:gsLst>
                              <a:gs pos="0">
                                <a:srgbClr val="193EB0"/>
                              </a:gs>
                              <a:gs pos="100000">
                                <a:srgbClr val="193EB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Decrease</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58108">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True Positive Rate</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Sensitivity)</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1" hangingPunct="1"/>
                      <a:r>
                        <a:rPr lang="en-US" sz="1300" b="0" kern="1200" dirty="0">
                          <a:gradFill>
                            <a:gsLst>
                              <a:gs pos="0">
                                <a:srgbClr val="193EB0"/>
                              </a:gs>
                              <a:gs pos="100000">
                                <a:srgbClr val="193EB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sym typeface="Symbol" panose="05050102010706020507" pitchFamily="18" charset="2"/>
                        </a:rPr>
                        <a:t></a:t>
                      </a:r>
                      <a:endParaRPr lang="en-US" sz="1300" b="0" kern="1200" dirty="0">
                        <a:gradFill>
                          <a:gsLst>
                            <a:gs pos="0">
                              <a:srgbClr val="193EB0"/>
                            </a:gs>
                            <a:gs pos="100000">
                              <a:srgbClr val="193EB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22306">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Specificity</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1" hangingPunct="1"/>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sym typeface="Symbol" panose="05050102010706020507" pitchFamily="18" charset="2"/>
                        </a:rPr>
                        <a:t></a:t>
                      </a:r>
                      <a:endPar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58108">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False Positive Rate</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(1-Specificity)</a:t>
                      </a:r>
                      <a:endPar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1300" b="0" kern="1200" dirty="0">
                          <a:gradFill>
                            <a:gsLst>
                              <a:gs pos="0">
                                <a:srgbClr val="193EB0"/>
                              </a:gs>
                              <a:gs pos="100000">
                                <a:srgbClr val="193EB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sym typeface="Symbol" panose="05050102010706020507" pitchFamily="18" charset="2"/>
                        </a:rPr>
                        <a:t></a:t>
                      </a:r>
                      <a:endParaRPr lang="en-US" sz="1300" b="0" kern="1200" dirty="0">
                        <a:gradFill>
                          <a:gsLst>
                            <a:gs pos="0">
                              <a:srgbClr val="193EB0"/>
                            </a:gs>
                            <a:gs pos="100000">
                              <a:srgbClr val="193EB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97126">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Precision</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sym typeface="Symbol" panose="05050102010706020507" pitchFamily="18" charset="2"/>
                        </a:rPr>
                        <a:t></a:t>
                      </a:r>
                      <a:endPar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grpSp>
        <p:nvGrpSpPr>
          <p:cNvPr id="2" name="그룹 1"/>
          <p:cNvGrpSpPr/>
          <p:nvPr/>
        </p:nvGrpSpPr>
        <p:grpSpPr>
          <a:xfrm>
            <a:off x="1062980" y="1825771"/>
            <a:ext cx="4213224" cy="2898460"/>
            <a:chOff x="1351012" y="1742223"/>
            <a:chExt cx="4213224" cy="2898460"/>
          </a:xfrm>
        </p:grpSpPr>
        <p:pic>
          <p:nvPicPr>
            <p:cNvPr id="10" name="Picture 6">
              <a:extLst>
                <a:ext uri="{FF2B5EF4-FFF2-40B4-BE49-F238E27FC236}">
                  <a16:creationId xmlns:a16="http://schemas.microsoft.com/office/drawing/2014/main" id="{FB113098-1F8B-496B-B945-658DC6716B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1012" y="1742223"/>
              <a:ext cx="4213224" cy="2898460"/>
            </a:xfrm>
            <a:prstGeom prst="rect">
              <a:avLst/>
            </a:prstGeom>
          </p:spPr>
        </p:pic>
        <p:sp>
          <p:nvSpPr>
            <p:cNvPr id="13" name="TextBox 12">
              <a:extLst>
                <a:ext uri="{FF2B5EF4-FFF2-40B4-BE49-F238E27FC236}">
                  <a16:creationId xmlns:a16="http://schemas.microsoft.com/office/drawing/2014/main" id="{DE298400-34A8-4882-8AAC-A99840A2022B}"/>
                </a:ext>
              </a:extLst>
            </p:cNvPr>
            <p:cNvSpPr txBox="1"/>
            <p:nvPr/>
          </p:nvSpPr>
          <p:spPr>
            <a:xfrm>
              <a:off x="2955118" y="4423570"/>
              <a:ext cx="1449115" cy="215444"/>
            </a:xfrm>
            <a:prstGeom prst="rect">
              <a:avLst/>
            </a:prstGeom>
            <a:solidFill>
              <a:schemeClr val="bg1"/>
            </a:solidFill>
          </p:spPr>
          <p:txBody>
            <a:bodyPr wrap="none" lIns="0" tIns="0" rIns="0" bIns="0" rtlCol="0">
              <a:spAutoFit/>
            </a:bodyPr>
            <a:lstStyle/>
            <a:p>
              <a:r>
                <a:rPr lang="en-US" sz="1400" dirty="0">
                  <a:latin typeface="SamsungOne 400" panose="020B0503030303020204" pitchFamily="34" charset="0"/>
                  <a:ea typeface="SamsungOne 400" panose="020B0503030303020204" pitchFamily="34" charset="0"/>
                </a:rPr>
                <a:t>False positive rate</a:t>
              </a:r>
            </a:p>
          </p:txBody>
        </p:sp>
        <p:sp>
          <p:nvSpPr>
            <p:cNvPr id="19" name="TextBox 18">
              <a:extLst>
                <a:ext uri="{FF2B5EF4-FFF2-40B4-BE49-F238E27FC236}">
                  <a16:creationId xmlns:a16="http://schemas.microsoft.com/office/drawing/2014/main" id="{9DBB4F0E-0BE1-4497-825B-9779955F2D64}"/>
                </a:ext>
              </a:extLst>
            </p:cNvPr>
            <p:cNvSpPr txBox="1"/>
            <p:nvPr/>
          </p:nvSpPr>
          <p:spPr>
            <a:xfrm rot="16200000">
              <a:off x="913684" y="3161210"/>
              <a:ext cx="1391407" cy="215444"/>
            </a:xfrm>
            <a:prstGeom prst="rect">
              <a:avLst/>
            </a:prstGeom>
            <a:solidFill>
              <a:schemeClr val="bg1"/>
            </a:solidFill>
          </p:spPr>
          <p:txBody>
            <a:bodyPr wrap="none" lIns="0" tIns="0" rIns="0" bIns="0" rtlCol="0">
              <a:spAutoFit/>
            </a:bodyPr>
            <a:lstStyle/>
            <a:p>
              <a:r>
                <a:rPr lang="en-US" sz="1400" dirty="0">
                  <a:latin typeface="SamsungOne 400" panose="020B0503030303020204" pitchFamily="34" charset="0"/>
                  <a:ea typeface="SamsungOne 400" panose="020B0503030303020204" pitchFamily="34" charset="0"/>
                </a:rPr>
                <a:t>True positive rate</a:t>
              </a:r>
            </a:p>
          </p:txBody>
        </p:sp>
        <p:grpSp>
          <p:nvGrpSpPr>
            <p:cNvPr id="15" name="Group 7">
              <a:extLst>
                <a:ext uri="{FF2B5EF4-FFF2-40B4-BE49-F238E27FC236}">
                  <a16:creationId xmlns:a16="http://schemas.microsoft.com/office/drawing/2014/main" id="{BD1E2AEF-B136-4801-B40E-A31D8C7954BC}"/>
                </a:ext>
              </a:extLst>
            </p:cNvPr>
            <p:cNvGrpSpPr/>
            <p:nvPr/>
          </p:nvGrpSpPr>
          <p:grpSpPr>
            <a:xfrm>
              <a:off x="2005974" y="3088666"/>
              <a:ext cx="1433270" cy="1216005"/>
              <a:chOff x="4352722" y="3617385"/>
              <a:chExt cx="1341227" cy="1216005"/>
            </a:xfrm>
          </p:grpSpPr>
          <p:cxnSp>
            <p:nvCxnSpPr>
              <p:cNvPr id="16" name="Straight Arrow Connector 8">
                <a:extLst>
                  <a:ext uri="{FF2B5EF4-FFF2-40B4-BE49-F238E27FC236}">
                    <a16:creationId xmlns:a16="http://schemas.microsoft.com/office/drawing/2014/main" id="{7F606E67-3DC3-45EC-891B-08F16B7A2C3B}"/>
                  </a:ext>
                </a:extLst>
              </p:cNvPr>
              <p:cNvCxnSpPr>
                <a:cxnSpLocks/>
              </p:cNvCxnSpPr>
              <p:nvPr/>
            </p:nvCxnSpPr>
            <p:spPr>
              <a:xfrm flipH="1">
                <a:off x="4352722" y="4027995"/>
                <a:ext cx="237455" cy="805395"/>
              </a:xfrm>
              <a:prstGeom prst="straightConnector1">
                <a:avLst/>
              </a:prstGeom>
              <a:ln w="12700">
                <a:solidFill>
                  <a:srgbClr val="1D48D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F7291AA-1067-4AF1-8437-D7BB25882F5F}"/>
                  </a:ext>
                </a:extLst>
              </p:cNvPr>
              <p:cNvSpPr txBox="1"/>
              <p:nvPr/>
            </p:nvSpPr>
            <p:spPr>
              <a:xfrm>
                <a:off x="4526511" y="3617385"/>
                <a:ext cx="1167438" cy="523220"/>
              </a:xfrm>
              <a:prstGeom prst="rect">
                <a:avLst/>
              </a:prstGeom>
              <a:noFill/>
            </p:spPr>
            <p:txBody>
              <a:bodyPr wrap="square" rtlCol="0">
                <a:spAutoFit/>
                <a:scene3d>
                  <a:camera prst="orthographicFront"/>
                  <a:lightRig rig="threePt" dir="t"/>
                </a:scene3d>
                <a:sp3d>
                  <a:bevelT w="0" h="6350"/>
                </a:sp3d>
              </a:bodyPr>
              <a:lstStyle/>
              <a:p>
                <a:pPr algn="ctr"/>
                <a:r>
                  <a:rPr lang="en-US" sz="1400" dirty="0">
                    <a:latin typeface="SamsungOne 400" panose="020B0503030303020204" pitchFamily="34" charset="0"/>
                    <a:ea typeface="SamsungOne 400" panose="020B0503030303020204" pitchFamily="34" charset="0"/>
                    <a:cs typeface="Times New Roman" panose="02020603050405020304" pitchFamily="18" charset="0"/>
                  </a:rPr>
                  <a:t>As</a:t>
                </a:r>
                <a:r>
                  <a:rPr lang="ko-KR" altLang="en-US" sz="1400" dirty="0">
                    <a:latin typeface="SamsungOne 400" panose="020B0503030303020204" pitchFamily="34" charset="0"/>
                    <a:cs typeface="Times New Roman" panose="02020603050405020304" pitchFamily="18" charset="0"/>
                  </a:rPr>
                  <a:t> </a:t>
                </a:r>
                <a:r>
                  <a:rPr lang="en-US" altLang="ko-KR" sz="1400" dirty="0">
                    <a:latin typeface="SamsungOne 400" panose="020B0503030303020204" pitchFamily="34" charset="0"/>
                    <a:ea typeface="SamsungOne 400" panose="020B0503030303020204" pitchFamily="34" charset="0"/>
                    <a:cs typeface="Times New Roman" panose="02020603050405020304" pitchFamily="18" charset="0"/>
                  </a:rPr>
                  <a:t>the</a:t>
                </a:r>
                <a:r>
                  <a:rPr lang="ko-KR" altLang="en-US" sz="1400" dirty="0">
                    <a:latin typeface="SamsungOne 400" panose="020B0503030303020204" pitchFamily="34" charset="0"/>
                    <a:cs typeface="Times New Roman" panose="02020603050405020304" pitchFamily="18" charset="0"/>
                  </a:rPr>
                  <a:t> </a:t>
                </a:r>
                <a:r>
                  <a:rPr lang="en-US" altLang="ko-KR" sz="1400" dirty="0">
                    <a:latin typeface="SamsungOne 400" panose="020B0503030303020204" pitchFamily="34" charset="0"/>
                    <a:ea typeface="SamsungOne 400" panose="020B0503030303020204" pitchFamily="34" charset="0"/>
                    <a:cs typeface="Times New Roman" panose="02020603050405020304" pitchFamily="18" charset="0"/>
                  </a:rPr>
                  <a:t>cutoff</a:t>
                </a:r>
                <a:endParaRPr lang="en-US" sz="1400" dirty="0">
                  <a:latin typeface="SamsungOne 400" panose="020B0503030303020204" pitchFamily="34" charset="0"/>
                  <a:ea typeface="SamsungOne 400" panose="020B0503030303020204" pitchFamily="34" charset="0"/>
                  <a:cs typeface="Times New Roman" panose="02020603050405020304" pitchFamily="18" charset="0"/>
                </a:endParaRPr>
              </a:p>
              <a:p>
                <a:pPr algn="ctr"/>
                <a:r>
                  <a:rPr lang="en-US" altLang="ko-KR" sz="1400" dirty="0">
                    <a:solidFill>
                      <a:srgbClr val="00B050"/>
                    </a:solidFill>
                    <a:latin typeface="SamsungOne 400" panose="020B0503030303020204" pitchFamily="34" charset="0"/>
                    <a:ea typeface="SamsungOne 400" panose="020B0503030303020204" pitchFamily="34" charset="0"/>
                    <a:cs typeface="Times New Roman" panose="02020603050405020304" pitchFamily="18" charset="0"/>
                  </a:rPr>
                  <a:t>increases</a:t>
                </a:r>
                <a:r>
                  <a:rPr lang="ko-KR" altLang="en-US" sz="1400" dirty="0">
                    <a:solidFill>
                      <a:srgbClr val="00B050"/>
                    </a:solidFill>
                    <a:latin typeface="SamsungOne 400" panose="020B0503030303020204" pitchFamily="34" charset="0"/>
                    <a:cs typeface="Times New Roman" panose="02020603050405020304" pitchFamily="18" charset="0"/>
                  </a:rPr>
                  <a:t> </a:t>
                </a:r>
                <a:endParaRPr lang="en-US" sz="1400" dirty="0">
                  <a:solidFill>
                    <a:srgbClr val="00B050"/>
                  </a:solidFill>
                  <a:latin typeface="SamsungOne 400" panose="020B0503030303020204" pitchFamily="34" charset="0"/>
                  <a:ea typeface="SamsungOne 400" panose="020B0503030303020204" pitchFamily="34" charset="0"/>
                  <a:cs typeface="Times New Roman" panose="02020603050405020304" pitchFamily="18" charset="0"/>
                </a:endParaRPr>
              </a:p>
            </p:txBody>
          </p:sp>
        </p:grpSp>
      </p:grpSp>
    </p:spTree>
    <p:extLst>
      <p:ext uri="{BB962C8B-B14F-4D97-AF65-F5344CB8AC3E}">
        <p14:creationId xmlns:p14="http://schemas.microsoft.com/office/powerpoint/2010/main" val="198359585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ROC curve</a:t>
            </a:r>
          </a:p>
        </p:txBody>
      </p:sp>
      <p:sp>
        <p:nvSpPr>
          <p:cNvPr id="12" name="직사각형 11">
            <a:extLst>
              <a:ext uri="{FF2B5EF4-FFF2-40B4-BE49-F238E27FC236}">
                <a16:creationId xmlns:a16="http://schemas.microsoft.com/office/drawing/2014/main" id="{68D8C752-6D94-4472-81A9-79DD7CF49C4A}"/>
              </a:ext>
            </a:extLst>
          </p:cNvPr>
          <p:cNvSpPr/>
          <p:nvPr/>
        </p:nvSpPr>
        <p:spPr>
          <a:xfrm>
            <a:off x="671261" y="4977172"/>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1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ROC curve is a parametric plot with respect to the </a:t>
            </a:r>
            <a:r>
              <a:rPr lang="en-US" altLang="ko-KR" sz="1300" i="1"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cutoff</a:t>
            </a: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  probability.</a:t>
            </a:r>
          </a:p>
        </p:txBody>
      </p:sp>
      <p:grpSp>
        <p:nvGrpSpPr>
          <p:cNvPr id="2" name="그룹 1"/>
          <p:cNvGrpSpPr/>
          <p:nvPr/>
        </p:nvGrpSpPr>
        <p:grpSpPr>
          <a:xfrm>
            <a:off x="1062980" y="1826684"/>
            <a:ext cx="4213224" cy="2898460"/>
            <a:chOff x="1351012" y="1742223"/>
            <a:chExt cx="4213224" cy="2898460"/>
          </a:xfrm>
        </p:grpSpPr>
        <p:pic>
          <p:nvPicPr>
            <p:cNvPr id="10" name="Picture 6">
              <a:extLst>
                <a:ext uri="{FF2B5EF4-FFF2-40B4-BE49-F238E27FC236}">
                  <a16:creationId xmlns:a16="http://schemas.microsoft.com/office/drawing/2014/main" id="{FB113098-1F8B-496B-B945-658DC6716B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1012" y="1742223"/>
              <a:ext cx="4213224" cy="2898460"/>
            </a:xfrm>
            <a:prstGeom prst="rect">
              <a:avLst/>
            </a:prstGeom>
          </p:spPr>
        </p:pic>
        <p:sp>
          <p:nvSpPr>
            <p:cNvPr id="13" name="TextBox 12">
              <a:extLst>
                <a:ext uri="{FF2B5EF4-FFF2-40B4-BE49-F238E27FC236}">
                  <a16:creationId xmlns:a16="http://schemas.microsoft.com/office/drawing/2014/main" id="{DE298400-34A8-4882-8AAC-A99840A2022B}"/>
                </a:ext>
              </a:extLst>
            </p:cNvPr>
            <p:cNvSpPr txBox="1"/>
            <p:nvPr/>
          </p:nvSpPr>
          <p:spPr>
            <a:xfrm>
              <a:off x="2955118" y="4423570"/>
              <a:ext cx="1449115" cy="215444"/>
            </a:xfrm>
            <a:prstGeom prst="rect">
              <a:avLst/>
            </a:prstGeom>
            <a:solidFill>
              <a:schemeClr val="bg1"/>
            </a:solidFill>
          </p:spPr>
          <p:txBody>
            <a:bodyPr wrap="none" lIns="0" tIns="0" rIns="0" bIns="0" rtlCol="0">
              <a:spAutoFit/>
            </a:bodyPr>
            <a:lstStyle/>
            <a:p>
              <a:r>
                <a:rPr lang="en-US" sz="1400" dirty="0">
                  <a:latin typeface="SamsungOne 400" panose="020B0503030303020204" pitchFamily="34" charset="0"/>
                  <a:ea typeface="SamsungOne 400" panose="020B0503030303020204" pitchFamily="34" charset="0"/>
                </a:rPr>
                <a:t>False positive rate</a:t>
              </a:r>
            </a:p>
          </p:txBody>
        </p:sp>
        <p:sp>
          <p:nvSpPr>
            <p:cNvPr id="19" name="TextBox 18">
              <a:extLst>
                <a:ext uri="{FF2B5EF4-FFF2-40B4-BE49-F238E27FC236}">
                  <a16:creationId xmlns:a16="http://schemas.microsoft.com/office/drawing/2014/main" id="{9DBB4F0E-0BE1-4497-825B-9779955F2D64}"/>
                </a:ext>
              </a:extLst>
            </p:cNvPr>
            <p:cNvSpPr txBox="1"/>
            <p:nvPr/>
          </p:nvSpPr>
          <p:spPr>
            <a:xfrm rot="16200000">
              <a:off x="913684" y="3161210"/>
              <a:ext cx="1391407" cy="215444"/>
            </a:xfrm>
            <a:prstGeom prst="rect">
              <a:avLst/>
            </a:prstGeom>
            <a:solidFill>
              <a:schemeClr val="bg1"/>
            </a:solidFill>
          </p:spPr>
          <p:txBody>
            <a:bodyPr wrap="none" lIns="0" tIns="0" rIns="0" bIns="0" rtlCol="0">
              <a:spAutoFit/>
            </a:bodyPr>
            <a:lstStyle/>
            <a:p>
              <a:r>
                <a:rPr lang="en-US" sz="1400" dirty="0">
                  <a:latin typeface="SamsungOne 400" panose="020B0503030303020204" pitchFamily="34" charset="0"/>
                  <a:ea typeface="SamsungOne 400" panose="020B0503030303020204" pitchFamily="34" charset="0"/>
                </a:rPr>
                <a:t>True positive rate</a:t>
              </a:r>
            </a:p>
          </p:txBody>
        </p:sp>
        <p:grpSp>
          <p:nvGrpSpPr>
            <p:cNvPr id="18" name="Group 7">
              <a:extLst>
                <a:ext uri="{FF2B5EF4-FFF2-40B4-BE49-F238E27FC236}">
                  <a16:creationId xmlns:a16="http://schemas.microsoft.com/office/drawing/2014/main" id="{382FAFCF-2702-4B01-8DD2-ABF91EBE68A6}"/>
                </a:ext>
              </a:extLst>
            </p:cNvPr>
            <p:cNvGrpSpPr/>
            <p:nvPr/>
          </p:nvGrpSpPr>
          <p:grpSpPr>
            <a:xfrm>
              <a:off x="3545140" y="2080785"/>
              <a:ext cx="1810786" cy="625410"/>
              <a:chOff x="5738102" y="2558939"/>
              <a:chExt cx="1694499" cy="625410"/>
            </a:xfrm>
          </p:grpSpPr>
          <p:cxnSp>
            <p:nvCxnSpPr>
              <p:cNvPr id="20" name="Straight Arrow Connector 8">
                <a:extLst>
                  <a:ext uri="{FF2B5EF4-FFF2-40B4-BE49-F238E27FC236}">
                    <a16:creationId xmlns:a16="http://schemas.microsoft.com/office/drawing/2014/main" id="{45942D7C-A658-4636-8B32-2912D198678E}"/>
                  </a:ext>
                </a:extLst>
              </p:cNvPr>
              <p:cNvCxnSpPr>
                <a:cxnSpLocks/>
              </p:cNvCxnSpPr>
              <p:nvPr/>
            </p:nvCxnSpPr>
            <p:spPr>
              <a:xfrm flipV="1">
                <a:off x="6807819" y="2558939"/>
                <a:ext cx="624782" cy="46016"/>
              </a:xfrm>
              <a:prstGeom prst="straightConnector1">
                <a:avLst/>
              </a:prstGeom>
              <a:ln w="12700">
                <a:solidFill>
                  <a:srgbClr val="1D48D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FB72476-758D-42E9-A298-B84948D08A58}"/>
                  </a:ext>
                </a:extLst>
              </p:cNvPr>
              <p:cNvSpPr txBox="1"/>
              <p:nvPr/>
            </p:nvSpPr>
            <p:spPr>
              <a:xfrm>
                <a:off x="5738102" y="2661129"/>
                <a:ext cx="1167438" cy="523220"/>
              </a:xfrm>
              <a:prstGeom prst="rect">
                <a:avLst/>
              </a:prstGeom>
              <a:noFill/>
            </p:spPr>
            <p:txBody>
              <a:bodyPr wrap="square" rtlCol="0">
                <a:spAutoFit/>
                <a:scene3d>
                  <a:camera prst="orthographicFront"/>
                  <a:lightRig rig="threePt" dir="t"/>
                </a:scene3d>
                <a:sp3d>
                  <a:bevelT w="0" h="6350"/>
                </a:sp3d>
              </a:bodyPr>
              <a:lstStyle/>
              <a:p>
                <a:pPr algn="ctr"/>
                <a:r>
                  <a:rPr lang="en-US" sz="1400" dirty="0">
                    <a:latin typeface="SamsungOne 400" panose="020B0503030303020204" pitchFamily="34" charset="0"/>
                    <a:ea typeface="SamsungOne 400" panose="020B0503030303020204" pitchFamily="34" charset="0"/>
                    <a:cs typeface="Times New Roman" panose="02020603050405020304" pitchFamily="18" charset="0"/>
                  </a:rPr>
                  <a:t>As the cutoff</a:t>
                </a:r>
              </a:p>
              <a:p>
                <a:pPr algn="ctr"/>
                <a:r>
                  <a:rPr lang="en-US" sz="1400" dirty="0">
                    <a:solidFill>
                      <a:srgbClr val="00B050"/>
                    </a:solidFill>
                    <a:latin typeface="SamsungOne 400" panose="020B0503030303020204" pitchFamily="34" charset="0"/>
                    <a:ea typeface="SamsungOne 400" panose="020B0503030303020204" pitchFamily="34" charset="0"/>
                    <a:cs typeface="Times New Roman" panose="02020603050405020304" pitchFamily="18" charset="0"/>
                  </a:rPr>
                  <a:t>decreases </a:t>
                </a:r>
              </a:p>
            </p:txBody>
          </p:sp>
        </p:grpSp>
      </p:grpSp>
      <p:graphicFrame>
        <p:nvGraphicFramePr>
          <p:cNvPr id="15" name="Table 1">
            <a:extLst>
              <a:ext uri="{FF2B5EF4-FFF2-40B4-BE49-F238E27FC236}">
                <a16:creationId xmlns:a16="http://schemas.microsoft.com/office/drawing/2014/main" id="{DE5473F6-4A7F-4AF1-B919-25D5C921D0B5}"/>
              </a:ext>
            </a:extLst>
          </p:cNvPr>
          <p:cNvGraphicFramePr>
            <a:graphicFrameLocks noGrp="1"/>
          </p:cNvGraphicFramePr>
          <p:nvPr>
            <p:extLst>
              <p:ext uri="{D42A27DB-BD31-4B8C-83A1-F6EECF244321}">
                <p14:modId xmlns:p14="http://schemas.microsoft.com/office/powerpoint/2010/main" val="205486646"/>
              </p:ext>
            </p:extLst>
          </p:nvPr>
        </p:nvGraphicFramePr>
        <p:xfrm>
          <a:off x="5399856" y="2000711"/>
          <a:ext cx="3511996" cy="2487272"/>
        </p:xfrm>
        <a:graphic>
          <a:graphicData uri="http://schemas.openxmlformats.org/drawingml/2006/table">
            <a:tbl>
              <a:tblPr firstRow="1" bandRow="1">
                <a:tableStyleId>{5940675A-B579-460E-94D1-54222C63F5DA}</a:tableStyleId>
              </a:tblPr>
              <a:tblGrid>
                <a:gridCol w="2294951">
                  <a:extLst>
                    <a:ext uri="{9D8B030D-6E8A-4147-A177-3AD203B41FA5}">
                      <a16:colId xmlns:a16="http://schemas.microsoft.com/office/drawing/2014/main" val="20000"/>
                    </a:ext>
                  </a:extLst>
                </a:gridCol>
                <a:gridCol w="1217045">
                  <a:extLst>
                    <a:ext uri="{9D8B030D-6E8A-4147-A177-3AD203B41FA5}">
                      <a16:colId xmlns:a16="http://schemas.microsoft.com/office/drawing/2014/main" val="20001"/>
                    </a:ext>
                  </a:extLst>
                </a:gridCol>
              </a:tblGrid>
              <a:tr h="286318">
                <a:tc gridSpan="2">
                  <a:txBody>
                    <a:bodyPr/>
                    <a:lstStyle/>
                    <a:p>
                      <a:pPr marL="0" algn="ctr" defTabSz="914400" rtl="0" eaLnBrk="1" latinLnBrk="1" hangingPunct="1"/>
                      <a:r>
                        <a:rPr lang="en-US" altLang="ko-KR" sz="14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As the cutoff </a:t>
                      </a:r>
                      <a:r>
                        <a:rPr lang="en-US" altLang="ko-KR" sz="1400" b="0" kern="1200" dirty="0">
                          <a:gradFill>
                            <a:gsLst>
                              <a:gs pos="0">
                                <a:srgbClr val="00B050"/>
                              </a:gs>
                              <a:gs pos="100000">
                                <a:srgbClr val="00B05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decreases</a:t>
                      </a:r>
                      <a:r>
                        <a:rPr lang="en-US" altLang="ko-KR" sz="14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 (closer to 0)</a:t>
                      </a:r>
                    </a:p>
                  </a:txBody>
                  <a:tcPr anchor="ctr">
                    <a:lnL w="12700" cmpd="sng">
                      <a:noFill/>
                    </a:lnL>
                    <a:lnR w="12700" cmpd="sng">
                      <a:noFill/>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lang="en-US" dirty="0">
                        <a:latin typeface="+mn-ea"/>
                        <a:ea typeface="+mn-ea"/>
                      </a:endParaRPr>
                    </a:p>
                  </a:txBody>
                  <a:tcPr/>
                </a:tc>
                <a:extLst>
                  <a:ext uri="{0D108BD9-81ED-4DB2-BD59-A6C34878D82A}">
                    <a16:rowId xmlns:a16="http://schemas.microsoft.com/office/drawing/2014/main" val="10000"/>
                  </a:ext>
                </a:extLst>
              </a:tr>
              <a:tr h="458108">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Performance metric</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1" hangingPunct="1"/>
                      <a:r>
                        <a:rPr lang="en-US"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Increase</a:t>
                      </a:r>
                      <a:r>
                        <a:rPr lang="en-US" sz="1300" b="0" kern="1200" dirty="0">
                          <a:gradFill>
                            <a:gsLst>
                              <a:gs pos="0">
                                <a:srgbClr val="193EB0"/>
                              </a:gs>
                              <a:gs pos="100000">
                                <a:srgbClr val="193EB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a:t>
                      </a:r>
                    </a:p>
                    <a:p>
                      <a:pPr marL="0" algn="ctr" defTabSz="914400" rtl="0" eaLnBrk="1" latinLnBrk="1" hangingPunct="1"/>
                      <a:r>
                        <a:rPr lang="en-US" sz="1300" b="0" kern="1200" dirty="0">
                          <a:gradFill>
                            <a:gsLst>
                              <a:gs pos="0">
                                <a:srgbClr val="193EB0"/>
                              </a:gs>
                              <a:gs pos="100000">
                                <a:srgbClr val="193EB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Decrease</a:t>
                      </a: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58108">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True Positive Rate</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Sensitivity)</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1" hangingPunct="1"/>
                      <a:r>
                        <a:rPr lang="en-US" altLang="ko-KR"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sym typeface="Symbol" panose="05050102010706020507" pitchFamily="18" charset="2"/>
                        </a:rPr>
                        <a:t></a:t>
                      </a:r>
                      <a:endParaRPr lang="en-US" altLang="ko-KR"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22306">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Specificity</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rgbClr val="193EB0"/>
                              </a:gs>
                              <a:gs pos="100000">
                                <a:srgbClr val="193EB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sym typeface="Symbol" panose="05050102010706020507" pitchFamily="18" charset="2"/>
                        </a:rPr>
                        <a:t></a:t>
                      </a:r>
                      <a:endParaRPr lang="en-US" altLang="ko-KR" sz="1300" b="0" kern="1200" dirty="0">
                        <a:gradFill>
                          <a:gsLst>
                            <a:gs pos="0">
                              <a:srgbClr val="193EB0"/>
                            </a:gs>
                            <a:gs pos="100000">
                              <a:srgbClr val="193EB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58108">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False Positive Rate</a:t>
                      </a:r>
                      <a:endPar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(1-Specificity)</a:t>
                      </a:r>
                      <a:endPar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sym typeface="Symbol" panose="05050102010706020507" pitchFamily="18" charset="2"/>
                        </a:rPr>
                        <a:t></a:t>
                      </a:r>
                      <a:endParaRPr lang="en-US" altLang="ko-KR" sz="1300" b="0" kern="1200" dirty="0">
                        <a:gradFill>
                          <a:gsLst>
                            <a:gs pos="0">
                              <a:srgbClr val="FF0000"/>
                            </a:gs>
                            <a:gs pos="100000">
                              <a:srgbClr val="FF000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97126">
                <a:tc>
                  <a:txBody>
                    <a:bodyPr/>
                    <a:lstStyle/>
                    <a:p>
                      <a:pPr marL="0" algn="ctr" defTabSz="914400" rtl="0" eaLnBrk="1" latinLnBrk="1" hangingPunct="1"/>
                      <a:r>
                        <a:rPr 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Precision</a:t>
                      </a: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rgbClr val="193EB0"/>
                              </a:gs>
                              <a:gs pos="100000">
                                <a:srgbClr val="193EB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sym typeface="Symbol" panose="05050102010706020507" pitchFamily="18" charset="2"/>
                        </a:rPr>
                        <a:t></a:t>
                      </a:r>
                      <a:endParaRPr lang="en-US" altLang="ko-KR" sz="1300" b="0" kern="1200" dirty="0">
                        <a:gradFill>
                          <a:gsLst>
                            <a:gs pos="0">
                              <a:srgbClr val="193EB0"/>
                            </a:gs>
                            <a:gs pos="100000">
                              <a:srgbClr val="193EB0"/>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9795683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ROC curve</a:t>
            </a:r>
          </a:p>
        </p:txBody>
      </p:sp>
      <p:sp>
        <p:nvSpPr>
          <p:cNvPr id="12" name="직사각형 11">
            <a:extLst>
              <a:ext uri="{FF2B5EF4-FFF2-40B4-BE49-F238E27FC236}">
                <a16:creationId xmlns:a16="http://schemas.microsoft.com/office/drawing/2014/main" id="{68D8C752-6D94-4472-81A9-79DD7CF49C4A}"/>
              </a:ext>
            </a:extLst>
          </p:cNvPr>
          <p:cNvSpPr/>
          <p:nvPr/>
        </p:nvSpPr>
        <p:spPr>
          <a:xfrm>
            <a:off x="671261" y="4977172"/>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latinLnBrk="1">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AUC stands for </a:t>
            </a:r>
            <a:r>
              <a:rPr lang="en-US" altLang="ko-KR" sz="1300" dirty="0">
                <a:solidFill>
                  <a:schemeClr val="tx1">
                    <a:lumMod val="85000"/>
                    <a:lumOff val="15000"/>
                  </a:schemeClr>
                </a:solidFill>
                <a:latin typeface="SamsungOne 700" panose="020B0803030303020204" pitchFamily="34" charset="0"/>
                <a:ea typeface="SamsungOne 700" panose="020B0803030303020204" pitchFamily="34" charset="0"/>
              </a:rPr>
              <a:t>A</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rea </a:t>
            </a:r>
            <a:r>
              <a:rPr lang="en-US" altLang="ko-KR" sz="1300" dirty="0">
                <a:solidFill>
                  <a:schemeClr val="tx1">
                    <a:lumMod val="85000"/>
                    <a:lumOff val="15000"/>
                  </a:schemeClr>
                </a:solidFill>
                <a:latin typeface="SamsungOne 700" panose="020B0803030303020204" pitchFamily="34" charset="0"/>
                <a:ea typeface="SamsungOne 700" panose="020B0803030303020204" pitchFamily="34" charset="0"/>
              </a:rPr>
              <a:t>U</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nder the </a:t>
            </a:r>
            <a:r>
              <a:rPr lang="en-US" altLang="ko-KR" sz="1300" dirty="0">
                <a:solidFill>
                  <a:schemeClr val="tx1">
                    <a:lumMod val="85000"/>
                    <a:lumOff val="15000"/>
                  </a:schemeClr>
                </a:solidFill>
                <a:latin typeface="SamsungOne 700" panose="020B0803030303020204" pitchFamily="34" charset="0"/>
                <a:ea typeface="SamsungOne 700" panose="020B0803030303020204" pitchFamily="34" charset="0"/>
              </a:rPr>
              <a:t>C</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urve.</a:t>
            </a:r>
          </a:p>
          <a:p>
            <a:pPr marL="182563" indent="-182563" defTabSz="914400" latinLnBrk="1">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AUC closer to 1 means good overall performance. </a:t>
            </a:r>
          </a:p>
        </p:txBody>
      </p:sp>
      <p:grpSp>
        <p:nvGrpSpPr>
          <p:cNvPr id="2" name="그룹 1"/>
          <p:cNvGrpSpPr/>
          <p:nvPr/>
        </p:nvGrpSpPr>
        <p:grpSpPr>
          <a:xfrm>
            <a:off x="2875869" y="1952836"/>
            <a:ext cx="4151087" cy="2871501"/>
            <a:chOff x="2875869" y="1732788"/>
            <a:chExt cx="4151087" cy="2871501"/>
          </a:xfrm>
        </p:grpSpPr>
        <p:pic>
          <p:nvPicPr>
            <p:cNvPr id="15" name="Picture 1">
              <a:extLst>
                <a:ext uri="{FF2B5EF4-FFF2-40B4-BE49-F238E27FC236}">
                  <a16:creationId xmlns:a16="http://schemas.microsoft.com/office/drawing/2014/main" id="{667ACB39-99E7-4089-9BEE-8025BA61FC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75869" y="1732788"/>
              <a:ext cx="4151087" cy="2858835"/>
            </a:xfrm>
            <a:prstGeom prst="rect">
              <a:avLst/>
            </a:prstGeom>
          </p:spPr>
        </p:pic>
        <p:grpSp>
          <p:nvGrpSpPr>
            <p:cNvPr id="16" name="Group 6">
              <a:extLst>
                <a:ext uri="{FF2B5EF4-FFF2-40B4-BE49-F238E27FC236}">
                  <a16:creationId xmlns:a16="http://schemas.microsoft.com/office/drawing/2014/main" id="{7F15616D-0BF8-4AD3-B2C5-556160C4AE5B}"/>
                </a:ext>
              </a:extLst>
            </p:cNvPr>
            <p:cNvGrpSpPr/>
            <p:nvPr/>
          </p:nvGrpSpPr>
          <p:grpSpPr>
            <a:xfrm>
              <a:off x="3278577" y="1898335"/>
              <a:ext cx="3551944" cy="2372025"/>
              <a:chOff x="3278577" y="2725153"/>
              <a:chExt cx="3551944" cy="2372025"/>
            </a:xfrm>
          </p:grpSpPr>
          <p:sp>
            <p:nvSpPr>
              <p:cNvPr id="17" name="Isosceles Triangle 4">
                <a:extLst>
                  <a:ext uri="{FF2B5EF4-FFF2-40B4-BE49-F238E27FC236}">
                    <a16:creationId xmlns:a16="http://schemas.microsoft.com/office/drawing/2014/main" id="{3CD8FF82-2677-475F-BB59-96411D1F96D3}"/>
                  </a:ext>
                </a:extLst>
              </p:cNvPr>
              <p:cNvSpPr/>
              <p:nvPr/>
            </p:nvSpPr>
            <p:spPr>
              <a:xfrm>
                <a:off x="3278577" y="2725153"/>
                <a:ext cx="3551944" cy="2372025"/>
              </a:xfrm>
              <a:prstGeom prst="triangle">
                <a:avLst>
                  <a:gd name="adj" fmla="val 100000"/>
                </a:avLst>
              </a:prstGeom>
              <a:pattFill prst="dkDn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Freeform: Shape 3">
                <a:extLst>
                  <a:ext uri="{FF2B5EF4-FFF2-40B4-BE49-F238E27FC236}">
                    <a16:creationId xmlns:a16="http://schemas.microsoft.com/office/drawing/2014/main" id="{2FB30CE8-4475-438F-B87D-83F425FF4E4C}"/>
                  </a:ext>
                </a:extLst>
              </p:cNvPr>
              <p:cNvSpPr/>
              <p:nvPr/>
            </p:nvSpPr>
            <p:spPr>
              <a:xfrm>
                <a:off x="3290711" y="2748844"/>
                <a:ext cx="3510845" cy="2348089"/>
              </a:xfrm>
              <a:custGeom>
                <a:avLst/>
                <a:gdLst>
                  <a:gd name="connsiteX0" fmla="*/ 0 w 3510845"/>
                  <a:gd name="connsiteY0" fmla="*/ 2348089 h 2348089"/>
                  <a:gd name="connsiteX1" fmla="*/ 942622 w 3510845"/>
                  <a:gd name="connsiteY1" fmla="*/ 383823 h 2348089"/>
                  <a:gd name="connsiteX2" fmla="*/ 3510845 w 3510845"/>
                  <a:gd name="connsiteY2" fmla="*/ 0 h 2348089"/>
                </a:gdLst>
                <a:ahLst/>
                <a:cxnLst>
                  <a:cxn ang="0">
                    <a:pos x="connsiteX0" y="connsiteY0"/>
                  </a:cxn>
                  <a:cxn ang="0">
                    <a:pos x="connsiteX1" y="connsiteY1"/>
                  </a:cxn>
                  <a:cxn ang="0">
                    <a:pos x="connsiteX2" y="connsiteY2"/>
                  </a:cxn>
                </a:cxnLst>
                <a:rect l="l" t="t" r="r" b="b"/>
                <a:pathLst>
                  <a:path w="3510845" h="2348089">
                    <a:moveTo>
                      <a:pt x="0" y="2348089"/>
                    </a:moveTo>
                    <a:cubicBezTo>
                      <a:pt x="178740" y="1561630"/>
                      <a:pt x="357481" y="775171"/>
                      <a:pt x="942622" y="383823"/>
                    </a:cubicBezTo>
                    <a:cubicBezTo>
                      <a:pt x="1527763" y="-7525"/>
                      <a:pt x="2900304" y="1881"/>
                      <a:pt x="3510845" y="0"/>
                    </a:cubicBezTo>
                  </a:path>
                </a:pathLst>
              </a:custGeom>
              <a:pattFill prst="dkDnDiag">
                <a:fgClr>
                  <a:schemeClr val="accent1"/>
                </a:fgClr>
                <a:bgClr>
                  <a:schemeClr val="bg1"/>
                </a:bgClr>
              </a:patt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sp>
          <p:nvSpPr>
            <p:cNvPr id="26" name="TextBox 25">
              <a:extLst>
                <a:ext uri="{FF2B5EF4-FFF2-40B4-BE49-F238E27FC236}">
                  <a16:creationId xmlns:a16="http://schemas.microsoft.com/office/drawing/2014/main" id="{66EF6C3E-3E61-4223-A7DC-3CB95E82BFBE}"/>
                </a:ext>
              </a:extLst>
            </p:cNvPr>
            <p:cNvSpPr txBox="1"/>
            <p:nvPr/>
          </p:nvSpPr>
          <p:spPr>
            <a:xfrm>
              <a:off x="4424645" y="4388845"/>
              <a:ext cx="1449115" cy="215444"/>
            </a:xfrm>
            <a:prstGeom prst="rect">
              <a:avLst/>
            </a:prstGeom>
            <a:solidFill>
              <a:schemeClr val="bg1"/>
            </a:solidFill>
          </p:spPr>
          <p:txBody>
            <a:bodyPr wrap="none" lIns="0" tIns="0" rIns="0" bIns="0" rtlCol="0">
              <a:spAutoFit/>
            </a:bodyPr>
            <a:lstStyle/>
            <a:p>
              <a:r>
                <a:rPr lang="en-US" sz="1400" dirty="0">
                  <a:latin typeface="SamsungOne 400" panose="020B0503030303020204" pitchFamily="34" charset="0"/>
                  <a:ea typeface="SamsungOne 400" panose="020B0503030303020204" pitchFamily="34" charset="0"/>
                </a:rPr>
                <a:t>False positive rate</a:t>
              </a:r>
            </a:p>
          </p:txBody>
        </p:sp>
        <p:sp>
          <p:nvSpPr>
            <p:cNvPr id="27" name="TextBox 26">
              <a:extLst>
                <a:ext uri="{FF2B5EF4-FFF2-40B4-BE49-F238E27FC236}">
                  <a16:creationId xmlns:a16="http://schemas.microsoft.com/office/drawing/2014/main" id="{F7C6C274-14B8-444A-A7E8-7C12BE5284A2}"/>
                </a:ext>
              </a:extLst>
            </p:cNvPr>
            <p:cNvSpPr txBox="1"/>
            <p:nvPr/>
          </p:nvSpPr>
          <p:spPr>
            <a:xfrm rot="16200000">
              <a:off x="2383211" y="3126485"/>
              <a:ext cx="1391407" cy="215444"/>
            </a:xfrm>
            <a:prstGeom prst="rect">
              <a:avLst/>
            </a:prstGeom>
            <a:solidFill>
              <a:schemeClr val="bg1"/>
            </a:solidFill>
          </p:spPr>
          <p:txBody>
            <a:bodyPr wrap="none" lIns="0" tIns="0" rIns="0" bIns="0" rtlCol="0">
              <a:spAutoFit/>
            </a:bodyPr>
            <a:lstStyle/>
            <a:p>
              <a:r>
                <a:rPr lang="en-US" sz="1400" dirty="0">
                  <a:latin typeface="SamsungOne 400" panose="020B0503030303020204" pitchFamily="34" charset="0"/>
                  <a:ea typeface="SamsungOne 400" panose="020B0503030303020204" pitchFamily="34" charset="0"/>
                </a:rPr>
                <a:t>True positive rate</a:t>
              </a:r>
            </a:p>
          </p:txBody>
        </p:sp>
      </p:grpSp>
    </p:spTree>
    <p:extLst>
      <p:ext uri="{BB962C8B-B14F-4D97-AF65-F5344CB8AC3E}">
        <p14:creationId xmlns:p14="http://schemas.microsoft.com/office/powerpoint/2010/main" val="400260833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Interpretation using Bayes’ theorem </a:t>
            </a:r>
          </a:p>
        </p:txBody>
      </p:sp>
      <p:grpSp>
        <p:nvGrpSpPr>
          <p:cNvPr id="2" name="그룹 1">
            <a:extLst>
              <a:ext uri="{FF2B5EF4-FFF2-40B4-BE49-F238E27FC236}">
                <a16:creationId xmlns:a16="http://schemas.microsoft.com/office/drawing/2014/main" id="{EEE2478D-4D64-4E1D-87C4-8481E72C870F}"/>
              </a:ext>
            </a:extLst>
          </p:cNvPr>
          <p:cNvGrpSpPr/>
          <p:nvPr/>
        </p:nvGrpSpPr>
        <p:grpSpPr>
          <a:xfrm>
            <a:off x="673424" y="1711438"/>
            <a:ext cx="8493259" cy="2966691"/>
            <a:chOff x="850766" y="1711438"/>
            <a:chExt cx="8493259" cy="2966691"/>
          </a:xfrm>
        </p:grpSpPr>
        <p:sp>
          <p:nvSpPr>
            <p:cNvPr id="13" name="사각형: 둥근 모서리 2">
              <a:extLst>
                <a:ext uri="{FF2B5EF4-FFF2-40B4-BE49-F238E27FC236}">
                  <a16:creationId xmlns:a16="http://schemas.microsoft.com/office/drawing/2014/main" id="{44DAB300-CD24-4213-9C78-D2598C7F4FCC}"/>
                </a:ext>
              </a:extLst>
            </p:cNvPr>
            <p:cNvSpPr/>
            <p:nvPr/>
          </p:nvSpPr>
          <p:spPr>
            <a:xfrm>
              <a:off x="850766" y="1772335"/>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mc:AlternateContent xmlns:mc="http://schemas.openxmlformats.org/markup-compatibility/2006" xmlns:a14="http://schemas.microsoft.com/office/drawing/2010/main">
          <mc:Choice Requires="a14">
            <p:sp>
              <p:nvSpPr>
                <p:cNvPr id="14" name="직사각형 13">
                  <a:extLst>
                    <a:ext uri="{FF2B5EF4-FFF2-40B4-BE49-F238E27FC236}">
                      <a16:creationId xmlns:a16="http://schemas.microsoft.com/office/drawing/2014/main" id="{6A112964-0953-4DA4-8CFF-C15D138540E6}"/>
                    </a:ext>
                  </a:extLst>
                </p:cNvPr>
                <p:cNvSpPr/>
                <p:nvPr/>
              </p:nvSpPr>
              <p:spPr>
                <a:xfrm>
                  <a:off x="1226264" y="1711438"/>
                  <a:ext cx="8117761" cy="29666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There are 100 observations. In 6 cases, the actual response is 1. </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the rest of the 94 cases, the actual response is 0. It is known that for a given logistic regression model, </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b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sensitivity = 0.92 and the specificity = 0.90. </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For a new observation (only explanatory variables), this model predicts 1 as the response.</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What is the probability of this prediction being correct? </a:t>
                  </a:r>
                </a:p>
                <a:p>
                  <a:pPr>
                    <a:spcAft>
                      <a:spcPts val="800"/>
                    </a:spcAft>
                    <a:buClr>
                      <a:srgbClr val="193EB0"/>
                    </a:buClr>
                  </a:pP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  We have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𝑃</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(1) = 0.06,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𝑃</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(0) = 0.94.</a:t>
                  </a:r>
                </a:p>
                <a:p>
                  <a:pPr marL="263525">
                    <a:spcAft>
                      <a:spcPts val="800"/>
                    </a:spcAft>
                    <a:buClr>
                      <a:srgbClr val="193EB0"/>
                    </a:buClr>
                  </a:pPr>
                  <a14:m>
                    <m:oMath xmlns:m="http://schemas.openxmlformats.org/officeDocument/2006/math">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𝑃</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𝑃𝑟𝑒𝑑𝑖𝑐𝑡𝑒𝑑</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1</m:t>
                      </m:r>
                      <m:r>
                        <m:rPr>
                          <m:nor/>
                        </m:rPr>
                        <a:rPr lang="en-US" altLang="ko-KR" sz="1300" b="0" i="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m:t>
                      </m:r>
                      <m:r>
                        <m:rPr>
                          <m:nor/>
                        </m:rPr>
                        <a:rPr lang="en-US" altLang="ko-KR" sz="1300" b="0" i="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𝐴𝑐𝑡𝑢𝑎𝑙</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1) =</m:t>
                      </m:r>
                      <m:r>
                        <m:rPr>
                          <m:nor/>
                        </m:rPr>
                        <a:rPr lang="en-US" altLang="ko-KR" sz="1300" b="0" i="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0.92</m:t>
                      </m:r>
                    </m:oMath>
                  </a14:m>
                  <a:r>
                    <a:rPr lang="ko-KR" altLang="en-US" sz="1300" dirty="0">
                      <a:sym typeface="Symbol" panose="05050102010706020507" pitchFamily="18" charset="2"/>
                    </a:rPr>
                    <a:t> </a:t>
                  </a:r>
                  <a:r>
                    <a:rPr lang="en-US" altLang="ko-KR" sz="1300" dirty="0">
                      <a:solidFill>
                        <a:srgbClr val="1D48D1"/>
                      </a:solidFill>
                      <a:latin typeface="SamsungOne 400" panose="020B0503030303020204" pitchFamily="34" charset="0"/>
                      <a:ea typeface="SamsungOne 400" panose="020B0503030303020204" pitchFamily="34" charset="0"/>
                      <a:cs typeface="Times New Roman" panose="02020603050405020304" pitchFamily="18" charset="0"/>
                      <a:sym typeface="Symbol" panose="05050102010706020507" pitchFamily="18" charset="2"/>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“Sensitivity”</a:t>
                  </a:r>
                </a:p>
                <a:p>
                  <a:pPr marL="266700">
                    <a:spcAft>
                      <a:spcPts val="800"/>
                    </a:spcAft>
                    <a:buClr>
                      <a:srgbClr val="193EB0"/>
                    </a:buClr>
                  </a:pPr>
                  <a14:m>
                    <m:oMath xmlns:m="http://schemas.openxmlformats.org/officeDocument/2006/math">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𝑃</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𝑃𝑟𝑒𝑑𝑖𝑐𝑡𝑒𝑑</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0│</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𝐴𝑐𝑡𝑢𝑎𝑙</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0)</m:t>
                      </m:r>
                      <m:r>
                        <m:rPr>
                          <m:nor/>
                        </m:rPr>
                        <a:rPr lang="en-US" altLang="ko-KR" sz="1300" b="0" i="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m:t>
                      </m:r>
                      <m:r>
                        <m:rPr>
                          <m:nor/>
                        </m:rPr>
                        <a:rPr lang="en-US" altLang="ko-KR" sz="1300" b="0" i="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0.90</m:t>
                      </m:r>
                    </m:oMath>
                  </a14:m>
                  <a:r>
                    <a:rPr lang="ko-KR" altLang="en-US" sz="1300" dirty="0">
                      <a:sym typeface="Symbol" panose="05050102010706020507" pitchFamily="18" charset="2"/>
                    </a:rPr>
                    <a:t> </a:t>
                  </a:r>
                  <a:r>
                    <a:rPr lang="en-US" altLang="ko-KR" sz="1300" dirty="0">
                      <a:solidFill>
                        <a:srgbClr val="1D48D1"/>
                      </a:solidFill>
                      <a:latin typeface="SamsungOne 400" panose="020B0503030303020204" pitchFamily="34" charset="0"/>
                      <a:ea typeface="SamsungOne 400" panose="020B0503030303020204" pitchFamily="34" charset="0"/>
                      <a:cs typeface="Times New Roman" panose="02020603050405020304" pitchFamily="18" charset="0"/>
                      <a:sym typeface="Symbol" panose="05050102010706020507" pitchFamily="18" charset="2"/>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“Specificity” </a:t>
                  </a:r>
                </a:p>
                <a:p>
                  <a:pPr marL="266700">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We can also derive </a:t>
                  </a:r>
                  <a14:m>
                    <m:oMath xmlns:m="http://schemas.openxmlformats.org/officeDocument/2006/math">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𝑃</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𝑃𝑟𝑒𝑑𝑖𝑐𝑡𝑒𝑑</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1│</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𝐴𝑐𝑡𝑢𝑎𝑙</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0)</m:t>
                      </m:r>
                      <m:r>
                        <m:rPr>
                          <m:nor/>
                        </m:rPr>
                        <a:rPr lang="en-US" altLang="ko-KR" sz="1300" b="0" i="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m:t>
                      </m:r>
                      <m:r>
                        <m:rPr>
                          <m:nor/>
                        </m:rPr>
                        <a:rPr lang="en-US" altLang="ko-KR" sz="1300" b="0" i="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1−</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𝑃</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𝑃𝑟𝑒𝑑𝑖𝑐𝑡𝑒𝑑</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0│</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𝐴𝑐𝑡𝑢𝑎𝑙</m:t>
                      </m:r>
                      <m:r>
                        <m:rPr>
                          <m:nor/>
                        </m:rPr>
                        <a:rPr lang="ko-KR" altLang="en-US" sz="130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0)</m:t>
                      </m:r>
                      <m:r>
                        <m:rPr>
                          <m:nor/>
                        </m:rPr>
                        <a:rPr lang="en-US" altLang="ko-KR" sz="1300" b="0" i="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m:t>
                      </m:r>
                      <m:r>
                        <m:rPr>
                          <m:nor/>
                        </m:rPr>
                        <a:rPr lang="en-US" altLang="ko-KR" sz="1300" b="0" i="0" dirty="0" smtClean="0">
                          <a:solidFill>
                            <a:schemeClr val="tx1">
                              <a:lumMod val="85000"/>
                              <a:lumOff val="15000"/>
                            </a:schemeClr>
                          </a:solidFill>
                          <a:latin typeface="SamsungOne 400" panose="020B0503030303020204" pitchFamily="34" charset="0"/>
                          <a:ea typeface="SamsungOne 400" panose="020B0503030303020204" pitchFamily="34" charset="0"/>
                        </a:rPr>
                        <m:t> </m:t>
                      </m:r>
                      <m:r>
                        <m:rPr>
                          <m:nor/>
                        </m:rPr>
                        <a:rPr lang="en-US" altLang="ko-KR" sz="1300" dirty="0" smtClean="0">
                          <a:solidFill>
                            <a:schemeClr val="tx1">
                              <a:lumMod val="85000"/>
                              <a:lumOff val="15000"/>
                            </a:schemeClr>
                          </a:solidFill>
                          <a:latin typeface="SamsungOne 400" panose="020B0503030303020204" pitchFamily="34" charset="0"/>
                          <a:ea typeface="SamsungOne 400" panose="020B0503030303020204" pitchFamily="34" charset="0"/>
                        </a:rPr>
                        <m:t>0.1</m:t>
                      </m:r>
                    </m:oMath>
                  </a14:m>
                  <a:endParaRPr lang="ko-KR" altLang="en-US" sz="1300" dirty="0"/>
                </a:p>
              </p:txBody>
            </p:sp>
          </mc:Choice>
          <mc:Fallback xmlns="">
            <p:sp>
              <p:nvSpPr>
                <p:cNvPr id="14" name="직사각형 13">
                  <a:extLst>
                    <a:ext uri="{FF2B5EF4-FFF2-40B4-BE49-F238E27FC236}">
                      <a16:creationId xmlns:a16="http://schemas.microsoft.com/office/drawing/2014/main" xmlns="" xmlns:a14="http://schemas.microsoft.com/office/drawing/2010/main" id="{6A112964-0953-4DA4-8CFF-C15D138540E6}"/>
                    </a:ext>
                  </a:extLst>
                </p:cNvPr>
                <p:cNvSpPr>
                  <a:spLocks noRot="1" noChangeAspect="1" noMove="1" noResize="1" noEditPoints="1" noAdjustHandles="1" noChangeArrowheads="1" noChangeShapeType="1" noTextEdit="1"/>
                </p:cNvSpPr>
                <p:nvPr/>
              </p:nvSpPr>
              <p:spPr>
                <a:xfrm>
                  <a:off x="1226264" y="1711438"/>
                  <a:ext cx="8117761" cy="2966691"/>
                </a:xfrm>
                <a:prstGeom prst="rect">
                  <a:avLst/>
                </a:prstGeom>
                <a:blipFill rotWithShape="0">
                  <a:blip r:embed="rId4"/>
                  <a:stretch>
                    <a:fillRect l="-150"/>
                  </a:stretch>
                </a:blipFill>
                <a:ln>
                  <a:noFill/>
                </a:ln>
              </p:spPr>
              <p:txBody>
                <a:bodyPr/>
                <a:lstStyle/>
                <a:p>
                  <a:r>
                    <a:rPr lang="ko-KR" altLang="en-US">
                      <a:noFill/>
                    </a:rPr>
                    <a:t> </a:t>
                  </a:r>
                </a:p>
              </p:txBody>
            </p:sp>
          </mc:Fallback>
        </mc:AlternateContent>
      </p:grpSp>
    </p:spTree>
    <p:extLst>
      <p:ext uri="{BB962C8B-B14F-4D97-AF65-F5344CB8AC3E}">
        <p14:creationId xmlns:p14="http://schemas.microsoft.com/office/powerpoint/2010/main" val="3928736303"/>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03</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F3F7B9EF-A469-4B4D-9399-7E464C0333D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Interpretation using Bayes’ theorem </a:t>
            </a:r>
          </a:p>
        </p:txBody>
      </p:sp>
      <p:grpSp>
        <p:nvGrpSpPr>
          <p:cNvPr id="2" name="그룹 1">
            <a:extLst>
              <a:ext uri="{FF2B5EF4-FFF2-40B4-BE49-F238E27FC236}">
                <a16:creationId xmlns:a16="http://schemas.microsoft.com/office/drawing/2014/main" id="{EEE2478D-4D64-4E1D-87C4-8481E72C870F}"/>
              </a:ext>
            </a:extLst>
          </p:cNvPr>
          <p:cNvGrpSpPr/>
          <p:nvPr/>
        </p:nvGrpSpPr>
        <p:grpSpPr>
          <a:xfrm>
            <a:off x="672202" y="1711438"/>
            <a:ext cx="8493259" cy="2058751"/>
            <a:chOff x="850766" y="1711438"/>
            <a:chExt cx="8493259" cy="2058751"/>
          </a:xfrm>
        </p:grpSpPr>
        <p:sp>
          <p:nvSpPr>
            <p:cNvPr id="13" name="사각형: 둥근 모서리 2">
              <a:extLst>
                <a:ext uri="{FF2B5EF4-FFF2-40B4-BE49-F238E27FC236}">
                  <a16:creationId xmlns:a16="http://schemas.microsoft.com/office/drawing/2014/main" id="{44DAB300-CD24-4213-9C78-D2598C7F4FCC}"/>
                </a:ext>
              </a:extLst>
            </p:cNvPr>
            <p:cNvSpPr/>
            <p:nvPr/>
          </p:nvSpPr>
          <p:spPr>
            <a:xfrm>
              <a:off x="850766" y="1772335"/>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14" name="직사각형 13">
              <a:extLst>
                <a:ext uri="{FF2B5EF4-FFF2-40B4-BE49-F238E27FC236}">
                  <a16:creationId xmlns:a16="http://schemas.microsoft.com/office/drawing/2014/main" id="{6A112964-0953-4DA4-8CFF-C15D138540E6}"/>
                </a:ext>
              </a:extLst>
            </p:cNvPr>
            <p:cNvSpPr/>
            <p:nvPr/>
          </p:nvSpPr>
          <p:spPr>
            <a:xfrm>
              <a:off x="1226264" y="1711438"/>
              <a:ext cx="8117761" cy="2058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There are 100 observations. In 6 cases, the actual response is 1. </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the rest of the 94 cases, the actual response is 0. It is known that for a given logistic regression model, </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b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sensitivity = 0.92 and the specificity = 0.90. </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For a new observation (only explanatory variables), this model predicts 1 as the response.</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What is the probability of this prediction being correct? </a:t>
              </a:r>
            </a:p>
            <a:p>
              <a:pPr>
                <a:spcAft>
                  <a:spcPts val="800"/>
                </a:spcAft>
                <a:buClr>
                  <a:srgbClr val="193EB0"/>
                </a:buClr>
              </a:pP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sym typeface="Symbol" panose="05050102010706020507" pitchFamily="18" charset="2"/>
                </a:rPr>
                <a:t> b)  The answer we are seeking is given by</a:t>
              </a:r>
              <a:endParaRPr lang="ko-KR" altLang="en-US" sz="1300" dirty="0"/>
            </a:p>
          </p:txBody>
        </p:sp>
      </p:grpSp>
      <mc:AlternateContent xmlns:mc="http://schemas.openxmlformats.org/markup-compatibility/2006" xmlns:a14="http://schemas.microsoft.com/office/drawing/2010/main">
        <mc:Choice Requires="a14">
          <p:sp>
            <p:nvSpPr>
              <p:cNvPr id="9" name="직사각형 8">
                <a:extLst>
                  <a:ext uri="{FF2B5EF4-FFF2-40B4-BE49-F238E27FC236}">
                    <a16:creationId xmlns:a16="http://schemas.microsoft.com/office/drawing/2014/main" id="{1473527F-0824-4570-B24C-F4A54D73D778}"/>
                  </a:ext>
                </a:extLst>
              </p:cNvPr>
              <p:cNvSpPr/>
              <p:nvPr/>
            </p:nvSpPr>
            <p:spPr>
              <a:xfrm>
                <a:off x="1316464" y="3789040"/>
                <a:ext cx="7056909" cy="13575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rtlCol="0" anchor="ctr" anchorCtr="0">
                <a:noAutofit/>
              </a:bodyPr>
              <a:lstStyle/>
              <a:p>
                <a:pPr defTabSz="914400" latinLnBrk="1">
                  <a:lnSpc>
                    <a:spcPct val="150000"/>
                  </a:lnSpc>
                  <a:spcAft>
                    <a:spcPts val="800"/>
                  </a:spcAft>
                  <a:buClr>
                    <a:srgbClr val="193EB0"/>
                  </a:buClr>
                </a:pPr>
                <a:r>
                  <a:rPr lang="en-US" altLang="ko-KR" sz="1600" dirty="0">
                    <a:solidFill>
                      <a:schemeClr val="tx1">
                        <a:lumMod val="85000"/>
                        <a:lumOff val="15000"/>
                      </a:schemeClr>
                    </a:solidFill>
                  </a:rPr>
                  <a:t> </a:t>
                </a:r>
                <a14:m>
                  <m:oMath xmlns:m="http://schemas.openxmlformats.org/officeDocument/2006/math">
                    <m:r>
                      <a:rPr lang="en-US" altLang="ko-KR" sz="1600" dirty="0" smtClean="0">
                        <a:solidFill>
                          <a:schemeClr val="tx1">
                            <a:lumMod val="85000"/>
                            <a:lumOff val="15000"/>
                          </a:schemeClr>
                        </a:solidFill>
                        <a:latin typeface="Cambria Math" panose="02040503050406030204" pitchFamily="18" charset="0"/>
                      </a:rPr>
                      <m:t>𝑃</m:t>
                    </m:r>
                    <m:r>
                      <a:rPr lang="en-US" altLang="ko-KR" sz="1600" dirty="0" smtClean="0">
                        <a:solidFill>
                          <a:schemeClr val="tx1">
                            <a:lumMod val="85000"/>
                            <a:lumOff val="15000"/>
                          </a:schemeClr>
                        </a:solidFill>
                        <a:latin typeface="Cambria Math" panose="02040503050406030204" pitchFamily="18" charset="0"/>
                      </a:rPr>
                      <m:t>(</m:t>
                    </m:r>
                    <m:r>
                      <a:rPr lang="en-US" altLang="ko-KR" sz="1600" dirty="0" smtClean="0">
                        <a:solidFill>
                          <a:schemeClr val="tx1">
                            <a:lumMod val="85000"/>
                            <a:lumOff val="15000"/>
                          </a:schemeClr>
                        </a:solidFill>
                        <a:latin typeface="Cambria Math" panose="02040503050406030204" pitchFamily="18" charset="0"/>
                      </a:rPr>
                      <m:t>𝐴𝑐𝑡𝑢𝑎𝑙</m:t>
                    </m:r>
                    <m:r>
                      <a:rPr lang="en-US" altLang="ko-KR" sz="1600" dirty="0" smtClean="0">
                        <a:solidFill>
                          <a:schemeClr val="tx1">
                            <a:lumMod val="85000"/>
                            <a:lumOff val="15000"/>
                          </a:schemeClr>
                        </a:solidFill>
                        <a:latin typeface="Cambria Math" panose="02040503050406030204" pitchFamily="18" charset="0"/>
                      </a:rPr>
                      <m:t> 1|</m:t>
                    </m:r>
                    <m:r>
                      <a:rPr lang="en-US" altLang="ko-KR" sz="1600" dirty="0" smtClean="0">
                        <a:solidFill>
                          <a:schemeClr val="tx1">
                            <a:lumMod val="85000"/>
                            <a:lumOff val="15000"/>
                          </a:schemeClr>
                        </a:solidFill>
                        <a:latin typeface="Cambria Math" panose="02040503050406030204" pitchFamily="18" charset="0"/>
                      </a:rPr>
                      <m:t>𝑃𝑟𝑒𝑑𝑖𝑐𝑡𝑒𝑑</m:t>
                    </m:r>
                    <m:r>
                      <a:rPr lang="en-US" altLang="ko-KR" sz="1600" dirty="0" smtClean="0">
                        <a:solidFill>
                          <a:schemeClr val="tx1">
                            <a:lumMod val="85000"/>
                            <a:lumOff val="15000"/>
                          </a:schemeClr>
                        </a:solidFill>
                        <a:latin typeface="Cambria Math" panose="02040503050406030204" pitchFamily="18" charset="0"/>
                      </a:rPr>
                      <m:t> 1)=</m:t>
                    </m:r>
                    <m:f>
                      <m:fPr>
                        <m:ctrlPr>
                          <a:rPr lang="en-US" altLang="ko-KR" sz="1600" i="1" smtClean="0">
                            <a:solidFill>
                              <a:schemeClr val="tx1">
                                <a:lumMod val="85000"/>
                                <a:lumOff val="15000"/>
                              </a:schemeClr>
                            </a:solidFill>
                            <a:latin typeface="Cambria Math" panose="02040503050406030204" pitchFamily="18" charset="0"/>
                          </a:rPr>
                        </m:ctrlPr>
                      </m:fPr>
                      <m:num>
                        <m:r>
                          <a:rPr lang="en-US" altLang="ko-KR" sz="1600">
                            <a:solidFill>
                              <a:schemeClr val="tx1">
                                <a:lumMod val="85000"/>
                                <a:lumOff val="15000"/>
                              </a:schemeClr>
                            </a:solidFill>
                            <a:latin typeface="Cambria Math" panose="02040503050406030204" pitchFamily="18" charset="0"/>
                          </a:rPr>
                          <m:t>𝑃</m:t>
                        </m:r>
                        <m:d>
                          <m:dPr>
                            <m:ctrlPr>
                              <a:rPr lang="en-US" altLang="ko-KR" sz="1600" i="1">
                                <a:solidFill>
                                  <a:schemeClr val="tx1">
                                    <a:lumMod val="85000"/>
                                    <a:lumOff val="15000"/>
                                  </a:schemeClr>
                                </a:solidFill>
                                <a:latin typeface="Cambria Math" panose="02040503050406030204" pitchFamily="18" charset="0"/>
                              </a:rPr>
                            </m:ctrlPr>
                          </m:dPr>
                          <m:e>
                            <m:r>
                              <a:rPr lang="en-US" altLang="ko-KR" sz="1600">
                                <a:solidFill>
                                  <a:schemeClr val="tx1">
                                    <a:lumMod val="85000"/>
                                    <a:lumOff val="15000"/>
                                  </a:schemeClr>
                                </a:solidFill>
                                <a:latin typeface="Cambria Math" panose="02040503050406030204" pitchFamily="18" charset="0"/>
                              </a:rPr>
                              <m:t>𝑃𝑟𝑒𝑑𝑖𝑐𝑡𝑒𝑑</m:t>
                            </m:r>
                            <m:r>
                              <a:rPr lang="en-US" altLang="ko-KR" sz="1600">
                                <a:solidFill>
                                  <a:schemeClr val="tx1">
                                    <a:lumMod val="85000"/>
                                    <a:lumOff val="15000"/>
                                  </a:schemeClr>
                                </a:solidFill>
                                <a:latin typeface="Cambria Math" panose="02040503050406030204" pitchFamily="18" charset="0"/>
                              </a:rPr>
                              <m:t> 1|</m:t>
                            </m:r>
                            <m:r>
                              <a:rPr lang="en-US" altLang="ko-KR" sz="1600">
                                <a:solidFill>
                                  <a:schemeClr val="tx1">
                                    <a:lumMod val="85000"/>
                                    <a:lumOff val="15000"/>
                                  </a:schemeClr>
                                </a:solidFill>
                                <a:latin typeface="Cambria Math" panose="02040503050406030204" pitchFamily="18" charset="0"/>
                              </a:rPr>
                              <m:t>𝐴𝑐𝑡𝑢𝑎𝑙</m:t>
                            </m:r>
                            <m:r>
                              <a:rPr lang="en-US" altLang="ko-KR" sz="1600">
                                <a:solidFill>
                                  <a:schemeClr val="tx1">
                                    <a:lumMod val="85000"/>
                                    <a:lumOff val="15000"/>
                                  </a:schemeClr>
                                </a:solidFill>
                                <a:latin typeface="Cambria Math" panose="02040503050406030204" pitchFamily="18" charset="0"/>
                              </a:rPr>
                              <m:t> 1</m:t>
                            </m:r>
                          </m:e>
                        </m:d>
                        <m:r>
                          <a:rPr lang="en-US" altLang="ko-KR" sz="1600">
                            <a:solidFill>
                              <a:schemeClr val="tx1">
                                <a:lumMod val="85000"/>
                                <a:lumOff val="15000"/>
                              </a:schemeClr>
                            </a:solidFill>
                            <a:latin typeface="Cambria Math" panose="02040503050406030204" pitchFamily="18" charset="0"/>
                          </a:rPr>
                          <m:t>𝑃</m:t>
                        </m:r>
                        <m:d>
                          <m:dPr>
                            <m:ctrlPr>
                              <a:rPr lang="en-US" altLang="ko-KR" sz="1600" i="1">
                                <a:solidFill>
                                  <a:schemeClr val="tx1">
                                    <a:lumMod val="85000"/>
                                    <a:lumOff val="15000"/>
                                  </a:schemeClr>
                                </a:solidFill>
                                <a:latin typeface="Cambria Math" panose="02040503050406030204" pitchFamily="18" charset="0"/>
                              </a:rPr>
                            </m:ctrlPr>
                          </m:dPr>
                          <m:e>
                            <m:r>
                              <a:rPr lang="en-US" altLang="ko-KR" sz="1600">
                                <a:solidFill>
                                  <a:schemeClr val="tx1">
                                    <a:lumMod val="85000"/>
                                    <a:lumOff val="15000"/>
                                  </a:schemeClr>
                                </a:solidFill>
                                <a:latin typeface="Cambria Math" panose="02040503050406030204" pitchFamily="18" charset="0"/>
                              </a:rPr>
                              <m:t>1</m:t>
                            </m:r>
                          </m:e>
                        </m:d>
                      </m:num>
                      <m:den>
                        <m:r>
                          <a:rPr lang="en-US" altLang="ko-KR" sz="1600">
                            <a:solidFill>
                              <a:schemeClr val="tx1">
                                <a:lumMod val="85000"/>
                                <a:lumOff val="15000"/>
                              </a:schemeClr>
                            </a:solidFill>
                            <a:latin typeface="Cambria Math" panose="02040503050406030204" pitchFamily="18" charset="0"/>
                          </a:rPr>
                          <m:t>𝑃</m:t>
                        </m:r>
                        <m:d>
                          <m:dPr>
                            <m:ctrlPr>
                              <a:rPr lang="en-US" altLang="ko-KR" sz="1600" i="1">
                                <a:solidFill>
                                  <a:schemeClr val="tx1">
                                    <a:lumMod val="85000"/>
                                    <a:lumOff val="15000"/>
                                  </a:schemeClr>
                                </a:solidFill>
                                <a:latin typeface="Cambria Math" panose="02040503050406030204" pitchFamily="18" charset="0"/>
                              </a:rPr>
                            </m:ctrlPr>
                          </m:dPr>
                          <m:e>
                            <m:r>
                              <a:rPr lang="en-US" altLang="ko-KR" sz="1600">
                                <a:solidFill>
                                  <a:schemeClr val="tx1">
                                    <a:lumMod val="85000"/>
                                    <a:lumOff val="15000"/>
                                  </a:schemeClr>
                                </a:solidFill>
                                <a:latin typeface="Cambria Math" panose="02040503050406030204" pitchFamily="18" charset="0"/>
                              </a:rPr>
                              <m:t>𝑃𝑟𝑒𝑑𝑖𝑐𝑡𝑒𝑑</m:t>
                            </m:r>
                            <m:r>
                              <a:rPr lang="en-US" altLang="ko-KR" sz="1600">
                                <a:solidFill>
                                  <a:schemeClr val="tx1">
                                    <a:lumMod val="85000"/>
                                    <a:lumOff val="15000"/>
                                  </a:schemeClr>
                                </a:solidFill>
                                <a:latin typeface="Cambria Math" panose="02040503050406030204" pitchFamily="18" charset="0"/>
                              </a:rPr>
                              <m:t> 1|</m:t>
                            </m:r>
                            <m:r>
                              <a:rPr lang="en-US" altLang="ko-KR" sz="1600">
                                <a:solidFill>
                                  <a:schemeClr val="tx1">
                                    <a:lumMod val="85000"/>
                                    <a:lumOff val="15000"/>
                                  </a:schemeClr>
                                </a:solidFill>
                                <a:latin typeface="Cambria Math" panose="02040503050406030204" pitchFamily="18" charset="0"/>
                              </a:rPr>
                              <m:t>𝐴𝑐𝑡𝑢𝑎𝑙</m:t>
                            </m:r>
                            <m:r>
                              <a:rPr lang="en-US" altLang="ko-KR" sz="1600">
                                <a:solidFill>
                                  <a:schemeClr val="tx1">
                                    <a:lumMod val="85000"/>
                                    <a:lumOff val="15000"/>
                                  </a:schemeClr>
                                </a:solidFill>
                                <a:latin typeface="Cambria Math" panose="02040503050406030204" pitchFamily="18" charset="0"/>
                              </a:rPr>
                              <m:t> 1</m:t>
                            </m:r>
                          </m:e>
                        </m:d>
                        <m:r>
                          <a:rPr lang="en-US" altLang="ko-KR" sz="1600">
                            <a:solidFill>
                              <a:schemeClr val="tx1">
                                <a:lumMod val="85000"/>
                                <a:lumOff val="15000"/>
                              </a:schemeClr>
                            </a:solidFill>
                            <a:latin typeface="Cambria Math" panose="02040503050406030204" pitchFamily="18" charset="0"/>
                          </a:rPr>
                          <m:t>𝑃</m:t>
                        </m:r>
                        <m:d>
                          <m:dPr>
                            <m:ctrlPr>
                              <a:rPr lang="en-US" altLang="ko-KR" sz="1600" i="1">
                                <a:solidFill>
                                  <a:schemeClr val="tx1">
                                    <a:lumMod val="85000"/>
                                    <a:lumOff val="15000"/>
                                  </a:schemeClr>
                                </a:solidFill>
                                <a:latin typeface="Cambria Math" panose="02040503050406030204" pitchFamily="18" charset="0"/>
                              </a:rPr>
                            </m:ctrlPr>
                          </m:dPr>
                          <m:e>
                            <m:r>
                              <a:rPr lang="en-US" altLang="ko-KR" sz="1600">
                                <a:solidFill>
                                  <a:schemeClr val="tx1">
                                    <a:lumMod val="85000"/>
                                    <a:lumOff val="15000"/>
                                  </a:schemeClr>
                                </a:solidFill>
                                <a:latin typeface="Cambria Math" panose="02040503050406030204" pitchFamily="18" charset="0"/>
                              </a:rPr>
                              <m:t>1</m:t>
                            </m:r>
                          </m:e>
                        </m:d>
                        <m:r>
                          <a:rPr lang="en-US" altLang="ko-KR" sz="1600">
                            <a:solidFill>
                              <a:schemeClr val="tx1">
                                <a:lumMod val="85000"/>
                                <a:lumOff val="15000"/>
                              </a:schemeClr>
                            </a:solidFill>
                            <a:latin typeface="Cambria Math" panose="02040503050406030204" pitchFamily="18" charset="0"/>
                          </a:rPr>
                          <m:t> + </m:t>
                        </m:r>
                        <m:r>
                          <a:rPr lang="en-US" altLang="ko-KR" sz="1600">
                            <a:solidFill>
                              <a:schemeClr val="tx1">
                                <a:lumMod val="85000"/>
                                <a:lumOff val="15000"/>
                              </a:schemeClr>
                            </a:solidFill>
                            <a:latin typeface="Cambria Math" panose="02040503050406030204" pitchFamily="18" charset="0"/>
                          </a:rPr>
                          <m:t>𝑃</m:t>
                        </m:r>
                        <m:d>
                          <m:dPr>
                            <m:ctrlPr>
                              <a:rPr lang="en-US" altLang="ko-KR" sz="1600" i="1">
                                <a:solidFill>
                                  <a:schemeClr val="tx1">
                                    <a:lumMod val="85000"/>
                                    <a:lumOff val="15000"/>
                                  </a:schemeClr>
                                </a:solidFill>
                                <a:latin typeface="Cambria Math" panose="02040503050406030204" pitchFamily="18" charset="0"/>
                              </a:rPr>
                            </m:ctrlPr>
                          </m:dPr>
                          <m:e>
                            <m:r>
                              <a:rPr lang="en-US" altLang="ko-KR" sz="1600">
                                <a:solidFill>
                                  <a:schemeClr val="tx1">
                                    <a:lumMod val="85000"/>
                                    <a:lumOff val="15000"/>
                                  </a:schemeClr>
                                </a:solidFill>
                                <a:latin typeface="Cambria Math" panose="02040503050406030204" pitchFamily="18" charset="0"/>
                              </a:rPr>
                              <m:t>𝑃𝑟𝑒𝑑𝑖𝑐𝑡𝑒𝑑</m:t>
                            </m:r>
                            <m:r>
                              <a:rPr lang="en-US" altLang="ko-KR" sz="1600">
                                <a:solidFill>
                                  <a:schemeClr val="tx1">
                                    <a:lumMod val="85000"/>
                                    <a:lumOff val="15000"/>
                                  </a:schemeClr>
                                </a:solidFill>
                                <a:latin typeface="Cambria Math" panose="02040503050406030204" pitchFamily="18" charset="0"/>
                              </a:rPr>
                              <m:t> 1|</m:t>
                            </m:r>
                            <m:r>
                              <a:rPr lang="en-US" altLang="ko-KR" sz="1600">
                                <a:solidFill>
                                  <a:schemeClr val="tx1">
                                    <a:lumMod val="85000"/>
                                    <a:lumOff val="15000"/>
                                  </a:schemeClr>
                                </a:solidFill>
                                <a:latin typeface="Cambria Math" panose="02040503050406030204" pitchFamily="18" charset="0"/>
                              </a:rPr>
                              <m:t>𝐴𝑐𝑡𝑢𝑎𝑙</m:t>
                            </m:r>
                            <m:r>
                              <a:rPr lang="en-US" altLang="ko-KR" sz="1600">
                                <a:solidFill>
                                  <a:schemeClr val="tx1">
                                    <a:lumMod val="85000"/>
                                    <a:lumOff val="15000"/>
                                  </a:schemeClr>
                                </a:solidFill>
                                <a:latin typeface="Cambria Math" panose="02040503050406030204" pitchFamily="18" charset="0"/>
                              </a:rPr>
                              <m:t> 0</m:t>
                            </m:r>
                          </m:e>
                        </m:d>
                        <m:r>
                          <a:rPr lang="en-US" altLang="ko-KR" sz="1600">
                            <a:solidFill>
                              <a:schemeClr val="tx1">
                                <a:lumMod val="85000"/>
                                <a:lumOff val="15000"/>
                              </a:schemeClr>
                            </a:solidFill>
                            <a:latin typeface="Cambria Math" panose="02040503050406030204" pitchFamily="18" charset="0"/>
                          </a:rPr>
                          <m:t>𝑃</m:t>
                        </m:r>
                        <m:d>
                          <m:dPr>
                            <m:ctrlPr>
                              <a:rPr lang="en-US" altLang="ko-KR" sz="1600" i="1">
                                <a:solidFill>
                                  <a:schemeClr val="tx1">
                                    <a:lumMod val="85000"/>
                                    <a:lumOff val="15000"/>
                                  </a:schemeClr>
                                </a:solidFill>
                                <a:latin typeface="Cambria Math" panose="02040503050406030204" pitchFamily="18" charset="0"/>
                              </a:rPr>
                            </m:ctrlPr>
                          </m:dPr>
                          <m:e>
                            <m:r>
                              <a:rPr lang="en-US" altLang="ko-KR" sz="1600">
                                <a:solidFill>
                                  <a:schemeClr val="tx1">
                                    <a:lumMod val="85000"/>
                                    <a:lumOff val="15000"/>
                                  </a:schemeClr>
                                </a:solidFill>
                                <a:latin typeface="Cambria Math" panose="02040503050406030204" pitchFamily="18" charset="0"/>
                              </a:rPr>
                              <m:t>0</m:t>
                            </m:r>
                          </m:e>
                        </m:d>
                      </m:den>
                    </m:f>
                  </m:oMath>
                </a14:m>
                <a:endParaRPr lang="en-US" altLang="ko-KR" sz="1600" dirty="0">
                  <a:solidFill>
                    <a:schemeClr val="tx1">
                      <a:lumMod val="85000"/>
                      <a:lumOff val="15000"/>
                    </a:schemeClr>
                  </a:solidFill>
                  <a:latin typeface="SamsungOne 400" panose="020B0503030303020204" pitchFamily="34" charset="0"/>
                  <a:ea typeface="SamsungOne 400" panose="020B0503030303020204" pitchFamily="34" charset="0"/>
                </a:endParaRPr>
              </a:p>
              <a:p>
                <a:pPr marL="2244725" defTabSz="914400" latinLnBrk="1">
                  <a:spcAft>
                    <a:spcPts val="800"/>
                  </a:spcAft>
                  <a:buClr>
                    <a:srgbClr val="193EB0"/>
                  </a:buClr>
                </a:pPr>
                <a:r>
                  <a:rPr lang="en-US" altLang="ko-KR" sz="1600" dirty="0">
                    <a:solidFill>
                      <a:schemeClr val="tx1">
                        <a:lumMod val="85000"/>
                        <a:lumOff val="15000"/>
                      </a:schemeClr>
                    </a:solidFill>
                  </a:rPr>
                  <a:t> </a:t>
                </a:r>
                <a14:m>
                  <m:oMath xmlns:m="http://schemas.openxmlformats.org/officeDocument/2006/math">
                    <m:r>
                      <a:rPr lang="en-US" altLang="ko-KR" sz="1600">
                        <a:solidFill>
                          <a:schemeClr val="tx1">
                            <a:lumMod val="85000"/>
                            <a:lumOff val="15000"/>
                          </a:schemeClr>
                        </a:solidFill>
                        <a:latin typeface="Cambria Math" panose="02040503050406030204" pitchFamily="18" charset="0"/>
                      </a:rPr>
                      <m:t>=</m:t>
                    </m:r>
                    <m:r>
                      <a:rPr lang="en-US" altLang="ko-KR" sz="1600" b="0" i="1" smtClean="0">
                        <a:solidFill>
                          <a:schemeClr val="tx1">
                            <a:lumMod val="85000"/>
                            <a:lumOff val="15000"/>
                          </a:schemeClr>
                        </a:solidFill>
                        <a:latin typeface="Cambria Math" panose="02040503050406030204" pitchFamily="18" charset="0"/>
                      </a:rPr>
                      <m:t> </m:t>
                    </m:r>
                    <m:f>
                      <m:fPr>
                        <m:ctrlPr>
                          <a:rPr lang="en-US" altLang="ko-KR" sz="1600" i="1">
                            <a:solidFill>
                              <a:schemeClr val="tx1">
                                <a:lumMod val="85000"/>
                                <a:lumOff val="15000"/>
                              </a:schemeClr>
                            </a:solidFill>
                            <a:latin typeface="Cambria Math" panose="02040503050406030204" pitchFamily="18" charset="0"/>
                          </a:rPr>
                        </m:ctrlPr>
                      </m:fPr>
                      <m:num>
                        <m:r>
                          <a:rPr lang="en-US" altLang="ko-KR" sz="1600">
                            <a:solidFill>
                              <a:schemeClr val="tx1">
                                <a:lumMod val="85000"/>
                                <a:lumOff val="15000"/>
                              </a:schemeClr>
                            </a:solidFill>
                            <a:latin typeface="Cambria Math" panose="02040503050406030204" pitchFamily="18" charset="0"/>
                          </a:rPr>
                          <m:t>0.92 × 0.06</m:t>
                        </m:r>
                      </m:num>
                      <m:den>
                        <m:r>
                          <a:rPr lang="en-US" altLang="ko-KR" sz="1600">
                            <a:solidFill>
                              <a:schemeClr val="tx1">
                                <a:lumMod val="85000"/>
                                <a:lumOff val="15000"/>
                              </a:schemeClr>
                            </a:solidFill>
                            <a:latin typeface="Cambria Math" panose="02040503050406030204" pitchFamily="18" charset="0"/>
                          </a:rPr>
                          <m:t>0.92 ×0.06+0.1×0.94</m:t>
                        </m:r>
                      </m:den>
                    </m:f>
                    <m:r>
                      <a:rPr lang="en-US" altLang="ko-KR" sz="1600">
                        <a:solidFill>
                          <a:schemeClr val="tx1">
                            <a:lumMod val="85000"/>
                            <a:lumOff val="15000"/>
                          </a:schemeClr>
                        </a:solidFill>
                        <a:latin typeface="Cambria Math" panose="02040503050406030204" pitchFamily="18" charset="0"/>
                      </a:rPr>
                      <m:t>≅</m:t>
                    </m:r>
                    <m:r>
                      <a:rPr lang="en-US" altLang="ko-KR" sz="1600">
                        <a:solidFill>
                          <a:srgbClr val="FF0000"/>
                        </a:solidFill>
                        <a:latin typeface="Cambria Math" panose="02040503050406030204" pitchFamily="18" charset="0"/>
                      </a:rPr>
                      <m:t>0.37</m:t>
                    </m:r>
                    <m:r>
                      <m:rPr>
                        <m:nor/>
                      </m:rPr>
                      <a:rPr lang="ko-KR" altLang="en-US" sz="1600" dirty="0">
                        <a:solidFill>
                          <a:srgbClr val="FF0000"/>
                        </a:solidFill>
                        <a:latin typeface="SamsungOne 700" panose="020B0803030303020204" pitchFamily="34" charset="0"/>
                      </a:rPr>
                      <m:t> </m:t>
                    </m:r>
                  </m:oMath>
                </a14:m>
                <a:endParaRPr lang="en-US" altLang="ko-KR" sz="1600" dirty="0">
                  <a:solidFill>
                    <a:schemeClr val="tx1">
                      <a:lumMod val="85000"/>
                      <a:lumOff val="15000"/>
                    </a:schemeClr>
                  </a:solidFill>
                  <a:latin typeface="SamsungOne 700" panose="020B0803030303020204" pitchFamily="34" charset="0"/>
                  <a:ea typeface="SamsungOne 700" panose="020B0803030303020204" pitchFamily="34" charset="0"/>
                </a:endParaRPr>
              </a:p>
            </p:txBody>
          </p:sp>
        </mc:Choice>
        <mc:Fallback xmlns="">
          <p:sp>
            <p:nvSpPr>
              <p:cNvPr id="9" name="직사각형 8">
                <a:extLst>
                  <a:ext uri="{FF2B5EF4-FFF2-40B4-BE49-F238E27FC236}">
                    <a16:creationId xmlns:a16="http://schemas.microsoft.com/office/drawing/2014/main" id="{1473527F-0824-4570-B24C-F4A54D73D778}"/>
                  </a:ext>
                </a:extLst>
              </p:cNvPr>
              <p:cNvSpPr>
                <a:spLocks noRot="1" noChangeAspect="1" noMove="1" noResize="1" noEditPoints="1" noAdjustHandles="1" noChangeArrowheads="1" noChangeShapeType="1" noTextEdit="1"/>
              </p:cNvSpPr>
              <p:nvPr/>
            </p:nvSpPr>
            <p:spPr>
              <a:xfrm>
                <a:off x="1316464" y="3789040"/>
                <a:ext cx="7056909" cy="1357522"/>
              </a:xfrm>
              <a:prstGeom prst="rect">
                <a:avLst/>
              </a:prstGeom>
              <a:blipFill>
                <a:blip r:embed="rId4"/>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3274831415"/>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8B1BC1D-DFB7-4482-BA23-F01AD71B1BBE}"/>
              </a:ext>
            </a:extLst>
          </p:cNvPr>
          <p:cNvSpPr/>
          <p:nvPr/>
        </p:nvSpPr>
        <p:spPr>
          <a:xfrm>
            <a:off x="546895" y="1523719"/>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Coding Exercise #0307</a:t>
            </a:r>
          </a:p>
        </p:txBody>
      </p:sp>
      <p:grpSp>
        <p:nvGrpSpPr>
          <p:cNvPr id="11" name="그룹 10">
            <a:extLst>
              <a:ext uri="{FF2B5EF4-FFF2-40B4-BE49-F238E27FC236}">
                <a16:creationId xmlns:a16="http://schemas.microsoft.com/office/drawing/2014/main" id="{A2A7775F-AE07-4A60-B96A-7B00D8607BDB}"/>
              </a:ext>
            </a:extLst>
          </p:cNvPr>
          <p:cNvGrpSpPr/>
          <p:nvPr/>
        </p:nvGrpSpPr>
        <p:grpSpPr>
          <a:xfrm>
            <a:off x="558798" y="2060849"/>
            <a:ext cx="8797129" cy="3960439"/>
            <a:chOff x="558798" y="2060849"/>
            <a:chExt cx="8797129" cy="3960439"/>
          </a:xfrm>
        </p:grpSpPr>
        <p:sp>
          <p:nvSpPr>
            <p:cNvPr id="12" name="직사각형 11">
              <a:extLst>
                <a:ext uri="{FF2B5EF4-FFF2-40B4-BE49-F238E27FC236}">
                  <a16:creationId xmlns:a16="http://schemas.microsoft.com/office/drawing/2014/main" id="{0E2B63F1-717C-45E5-9484-DF4505693008}"/>
                </a:ext>
              </a:extLst>
            </p:cNvPr>
            <p:cNvSpPr/>
            <p:nvPr/>
          </p:nvSpPr>
          <p:spPr>
            <a:xfrm>
              <a:off x="558799" y="2060849"/>
              <a:ext cx="8785225" cy="3960439"/>
            </a:xfrm>
            <a:prstGeom prst="rect">
              <a:avLst/>
            </a:prstGeom>
            <a:solidFill>
              <a:schemeClr val="accent5">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5" name="그룹 14">
              <a:extLst>
                <a:ext uri="{FF2B5EF4-FFF2-40B4-BE49-F238E27FC236}">
                  <a16:creationId xmlns:a16="http://schemas.microsoft.com/office/drawing/2014/main" id="{AC1F47E5-59C0-4468-B93D-A8F7F0C32C93}"/>
                </a:ext>
              </a:extLst>
            </p:cNvPr>
            <p:cNvGrpSpPr/>
            <p:nvPr/>
          </p:nvGrpSpPr>
          <p:grpSpPr>
            <a:xfrm>
              <a:off x="558798" y="3945816"/>
              <a:ext cx="8797129" cy="576572"/>
              <a:chOff x="4778069" y="4391025"/>
              <a:chExt cx="2349160" cy="431802"/>
            </a:xfrm>
          </p:grpSpPr>
          <p:sp>
            <p:nvSpPr>
              <p:cNvPr id="18" name="직사각형 17">
                <a:extLst>
                  <a:ext uri="{FF2B5EF4-FFF2-40B4-BE49-F238E27FC236}">
                    <a16:creationId xmlns:a16="http://schemas.microsoft.com/office/drawing/2014/main" id="{3C6A9AF5-127F-406D-B69A-2777F03F88E5}"/>
                  </a:ext>
                </a:extLst>
              </p:cNvPr>
              <p:cNvSpPr/>
              <p:nvPr/>
            </p:nvSpPr>
            <p:spPr>
              <a:xfrm>
                <a:off x="4778069" y="4391025"/>
                <a:ext cx="2349160" cy="431802"/>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sp3d>
                  <a:bevelT w="0" h="6350"/>
                </a:sp3d>
              </a:bodyPr>
              <a:lstStyle/>
              <a:p>
                <a:pPr algn="ctr"/>
                <a:endParaRPr lang="ko-KR" altLang="en-US" sz="2000" dirty="0"/>
              </a:p>
            </p:txBody>
          </p:sp>
          <p:sp>
            <p:nvSpPr>
              <p:cNvPr id="21" name="직사각형 133">
                <a:extLst>
                  <a:ext uri="{FF2B5EF4-FFF2-40B4-BE49-F238E27FC236}">
                    <a16:creationId xmlns:a16="http://schemas.microsoft.com/office/drawing/2014/main" id="{21A3736B-043B-48A0-AE25-A04C3CBB178F}"/>
                  </a:ext>
                </a:extLst>
              </p:cNvPr>
              <p:cNvSpPr/>
              <p:nvPr/>
            </p:nvSpPr>
            <p:spPr>
              <a:xfrm>
                <a:off x="4852511" y="4528465"/>
                <a:ext cx="2200275" cy="230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lgn="ctr"/>
                <a:r>
                  <a:rPr lang="en-US" altLang="ko-KR" sz="2000" dirty="0">
                    <a:solidFill>
                      <a:schemeClr val="bg1"/>
                    </a:solidFill>
                    <a:latin typeface="SamsungOne 700" panose="020B0803030303020204" pitchFamily="34" charset="0"/>
                    <a:ea typeface="SamsungOne 700" panose="020B0803030303020204" pitchFamily="34" charset="0"/>
                    <a:cs typeface="Samsung Sharp Sans" pitchFamily="2" charset="0"/>
                  </a:rPr>
                  <a:t>Follow practice steps on 'ex_0307.ipynb’ file.</a:t>
                </a:r>
              </a:p>
            </p:txBody>
          </p:sp>
        </p:grpSp>
        <p:pic>
          <p:nvPicPr>
            <p:cNvPr id="16" name="그림 15" descr="텍스트, 클립아트이(가) 표시된 사진&#10;&#10;자동 생성된 설명">
              <a:extLst>
                <a:ext uri="{FF2B5EF4-FFF2-40B4-BE49-F238E27FC236}">
                  <a16:creationId xmlns:a16="http://schemas.microsoft.com/office/drawing/2014/main" id="{70D03265-398A-4B21-9492-31D700046C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93" t="14475" r="51947" b="14299"/>
            <a:stretch/>
          </p:blipFill>
          <p:spPr>
            <a:xfrm>
              <a:off x="4370123" y="2647560"/>
              <a:ext cx="1162577" cy="1174440"/>
            </a:xfrm>
            <a:prstGeom prst="ellipse">
              <a:avLst/>
            </a:prstGeom>
          </p:spPr>
        </p:pic>
      </p:grpSp>
      <p:grpSp>
        <p:nvGrpSpPr>
          <p:cNvPr id="13" name="그룹 1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4" name="직사각형 1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3.3. Logistic Regression Performance Metrics</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 Sharp Sans Medium" pitchFamily="2" charset="0"/>
                  <a:ea typeface="Samsung Sharp Sans Medium" pitchFamily="2" charset="0"/>
                  <a:cs typeface="Samsung Sharp Sans 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03</a:t>
              </a:r>
            </a:p>
          </p:txBody>
        </p:sp>
      </p:grpSp>
    </p:spTree>
    <p:extLst>
      <p:ext uri="{BB962C8B-B14F-4D97-AF65-F5344CB8AC3E}">
        <p14:creationId xmlns:p14="http://schemas.microsoft.com/office/powerpoint/2010/main" val="880587563"/>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33">
            <a:extLst>
              <a:ext uri="{FF2B5EF4-FFF2-40B4-BE49-F238E27FC236}">
                <a16:creationId xmlns:a16="http://schemas.microsoft.com/office/drawing/2014/main" id="{551F01E8-8777-4A7B-AD71-63E7C805C68C}"/>
              </a:ext>
            </a:extLst>
          </p:cNvPr>
          <p:cNvSpPr/>
          <p:nvPr/>
        </p:nvSpPr>
        <p:spPr>
          <a:xfrm>
            <a:off x="989683" y="3133792"/>
            <a:ext cx="8913142"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Decision Tree</a:t>
            </a:r>
            <a:endParaRPr kumimoji="1" lang="ko-KR" altLang="en-US" sz="3200" dirty="0">
              <a:solidFill>
                <a:prstClr val="black"/>
              </a:solidFill>
              <a:latin typeface="Samsung Sharp Sans" pitchFamily="2" charset="0"/>
              <a:ea typeface="맑은 고딕" panose="020B0503020000020004" pitchFamily="50" charset="-127"/>
              <a:cs typeface="Samsung Sharp Sans" pitchFamily="2" charset="0"/>
            </a:endParaRP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4.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17" name="직사각형 16">
            <a:extLst>
              <a:ext uri="{FF2B5EF4-FFF2-40B4-BE49-F238E27FC236}">
                <a16:creationId xmlns:a16="http://schemas.microsoft.com/office/drawing/2014/main" id="{88522452-0F25-4CFF-B4F1-4F97F94CF66D}"/>
              </a:ext>
            </a:extLst>
          </p:cNvPr>
          <p:cNvSpPr/>
          <p:nvPr/>
        </p:nvSpPr>
        <p:spPr>
          <a:xfrm>
            <a:off x="1054111" y="3929021"/>
            <a:ext cx="6633605"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algn="l" defTabSz="914400" rtl="0" eaLnBrk="1" fontAlgn="base" latinLnBrk="1" hangingPunct="1">
              <a:lnSpc>
                <a:spcPct val="100000"/>
              </a:lnSpc>
              <a:spcBef>
                <a:spcPct val="0"/>
              </a:spcBef>
              <a:spcAft>
                <a:spcPts val="1000"/>
              </a:spcAft>
              <a:buClrTx/>
              <a:buSzPct val="120000"/>
              <a:buBlip>
                <a:blip r:embed="rId3"/>
              </a:buBlip>
              <a:tabLst/>
              <a:defRPr/>
            </a:pPr>
            <a:r>
              <a:rPr kumimoji="1" lang="en-US" altLang="ko-KR" sz="1800" b="0" i="0" u="none" strike="noStrike" kern="1200" cap="none" spc="0" normalizeH="0" baseline="0" noProof="0" dirty="0">
                <a:ln>
                  <a:noFill/>
                </a:ln>
                <a:solidFill>
                  <a:prstClr val="black">
                    <a:lumMod val="75000"/>
                    <a:lumOff val="25000"/>
                  </a:prstClr>
                </a:solidFill>
                <a:effectLst/>
                <a:uLnTx/>
                <a:uFillTx/>
                <a:latin typeface="SamsungOne-700" panose="020B0803030303020204" pitchFamily="34" charset="0"/>
                <a:ea typeface="SamsungOne-700" panose="020B0803030303020204" pitchFamily="34" charset="0"/>
                <a:cs typeface="+mn-cs"/>
              </a:rPr>
              <a:t>4.1. Tree Algorithm</a:t>
            </a:r>
          </a:p>
        </p:txBody>
      </p:sp>
    </p:spTree>
    <p:extLst>
      <p:ext uri="{BB962C8B-B14F-4D97-AF65-F5344CB8AC3E}">
        <p14:creationId xmlns:p14="http://schemas.microsoft.com/office/powerpoint/2010/main" val="3808564324"/>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00" name="직사각형 199">
            <a:extLst>
              <a:ext uri="{FF2B5EF4-FFF2-40B4-BE49-F238E27FC236}">
                <a16:creationId xmlns:a16="http://schemas.microsoft.com/office/drawing/2014/main" id="{E8D21B0D-F4D1-4501-AE0A-758BD547B809}"/>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Overview of Decision Tree</a:t>
            </a:r>
            <a:endParaRPr lang="ko-KR" altLang="en-US" sz="2400" dirty="0">
              <a:solidFill>
                <a:schemeClr val="tx1">
                  <a:lumMod val="95000"/>
                  <a:lumOff val="5000"/>
                </a:schemeClr>
              </a:solidFill>
              <a:latin typeface="Samsung Sharp Sans" pitchFamily="2" charset="0"/>
              <a:ea typeface="Samsung Sharp Sans" pitchFamily="2" charset="0"/>
              <a:cs typeface="Samsung Sharp Sans" pitchFamily="2" charset="0"/>
            </a:endParaRPr>
          </a:p>
        </p:txBody>
      </p:sp>
      <p:sp>
        <p:nvSpPr>
          <p:cNvPr id="201" name="직사각형 200">
            <a:extLst>
              <a:ext uri="{FF2B5EF4-FFF2-40B4-BE49-F238E27FC236}">
                <a16:creationId xmlns:a16="http://schemas.microsoft.com/office/drawing/2014/main" id="{9C349F5D-7044-42D1-AA7E-93D389AAEE1B}"/>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Definition </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202" name="직사각형 201">
            <a:extLst>
              <a:ext uri="{FF2B5EF4-FFF2-40B4-BE49-F238E27FC236}">
                <a16:creationId xmlns:a16="http://schemas.microsoft.com/office/drawing/2014/main" id="{B8AB28E7-75F6-4D64-956B-057344C4C07F}"/>
              </a:ext>
            </a:extLst>
          </p:cNvPr>
          <p:cNvSpPr/>
          <p:nvPr/>
        </p:nvSpPr>
        <p:spPr>
          <a:xfrm>
            <a:off x="672080" y="2204864"/>
            <a:ext cx="867194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classification</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model</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that analyzes data collected from the past and expresses the patterns found (characteristics of each category) as a combination of features</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sp>
        <p:nvSpPr>
          <p:cNvPr id="203" name="직사각형 202">
            <a:extLst>
              <a:ext uri="{FF2B5EF4-FFF2-40B4-BE49-F238E27FC236}">
                <a16:creationId xmlns:a16="http://schemas.microsoft.com/office/drawing/2014/main" id="{29F904AF-1B81-4012-A734-A70529D1AB26}"/>
              </a:ext>
            </a:extLst>
          </p:cNvPr>
          <p:cNvSpPr/>
          <p:nvPr/>
        </p:nvSpPr>
        <p:spPr>
          <a:xfrm>
            <a:off x="558800" y="2874244"/>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Purpose</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204" name="직사각형 203">
            <a:extLst>
              <a:ext uri="{FF2B5EF4-FFF2-40B4-BE49-F238E27FC236}">
                <a16:creationId xmlns:a16="http://schemas.microsoft.com/office/drawing/2014/main" id="{B016110D-7ED9-4D85-8E89-FF1B560E67C4}"/>
              </a:ext>
            </a:extLst>
          </p:cNvPr>
          <p:cNvSpPr/>
          <p:nvPr/>
        </p:nvSpPr>
        <p:spPr>
          <a:xfrm>
            <a:off x="672080" y="3176936"/>
            <a:ext cx="867194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Classification of unseen data and prediction of categorical values</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Extraction of generalized knowledge in a tree structure from the data</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sp>
        <p:nvSpPr>
          <p:cNvPr id="205" name="직사각형 204">
            <a:extLst>
              <a:ext uri="{FF2B5EF4-FFF2-40B4-BE49-F238E27FC236}">
                <a16:creationId xmlns:a16="http://schemas.microsoft.com/office/drawing/2014/main" id="{D7428AEB-FFE4-4E8A-8A2F-75BF0140B4CF}"/>
              </a:ext>
            </a:extLst>
          </p:cNvPr>
          <p:cNvSpPr/>
          <p:nvPr/>
        </p:nvSpPr>
        <p:spPr>
          <a:xfrm>
            <a:off x="558800" y="40263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Classification depending on the objective variable types</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206" name="직사각형 205">
            <a:extLst>
              <a:ext uri="{FF2B5EF4-FFF2-40B4-BE49-F238E27FC236}">
                <a16:creationId xmlns:a16="http://schemas.microsoft.com/office/drawing/2014/main" id="{7D5BCB4C-6605-4AA5-97D8-994EC72240EE}"/>
              </a:ext>
            </a:extLst>
          </p:cNvPr>
          <p:cNvSpPr/>
          <p:nvPr/>
        </p:nvSpPr>
        <p:spPr>
          <a:xfrm>
            <a:off x="672080" y="4329064"/>
            <a:ext cx="867194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Categorical variable: Classification Tree</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Continuous variable: Regression Tree</a:t>
            </a:r>
          </a:p>
        </p:txBody>
      </p:sp>
    </p:spTree>
    <p:extLst>
      <p:ext uri="{BB962C8B-B14F-4D97-AF65-F5344CB8AC3E}">
        <p14:creationId xmlns:p14="http://schemas.microsoft.com/office/powerpoint/2010/main" val="3742141960"/>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Composition</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sp>
        <p:nvSpPr>
          <p:cNvPr id="200" name="직사각형 199">
            <a:extLst>
              <a:ext uri="{FF2B5EF4-FFF2-40B4-BE49-F238E27FC236}">
                <a16:creationId xmlns:a16="http://schemas.microsoft.com/office/drawing/2014/main" id="{1ACF2BF2-E48B-4341-BB04-F6BAF8F6D564}"/>
              </a:ext>
            </a:extLst>
          </p:cNvPr>
          <p:cNvSpPr/>
          <p:nvPr/>
        </p:nvSpPr>
        <p:spPr>
          <a:xfrm>
            <a:off x="670746" y="1700808"/>
            <a:ext cx="8673279"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Node, Branch, Depth</a:t>
            </a:r>
          </a:p>
        </p:txBody>
      </p:sp>
      <p:grpSp>
        <p:nvGrpSpPr>
          <p:cNvPr id="9" name="그룹 8">
            <a:extLst>
              <a:ext uri="{FF2B5EF4-FFF2-40B4-BE49-F238E27FC236}">
                <a16:creationId xmlns:a16="http://schemas.microsoft.com/office/drawing/2014/main" id="{59E8375E-3F36-4F6C-B25F-22B9BBAB29D5}"/>
              </a:ext>
            </a:extLst>
          </p:cNvPr>
          <p:cNvGrpSpPr/>
          <p:nvPr/>
        </p:nvGrpSpPr>
        <p:grpSpPr>
          <a:xfrm>
            <a:off x="1821780" y="2204864"/>
            <a:ext cx="6259265" cy="3793195"/>
            <a:chOff x="2463633" y="2316605"/>
            <a:chExt cx="6259265" cy="3793195"/>
          </a:xfrm>
        </p:grpSpPr>
        <p:pic>
          <p:nvPicPr>
            <p:cNvPr id="10" name="그림 9">
              <a:extLst>
                <a:ext uri="{FF2B5EF4-FFF2-40B4-BE49-F238E27FC236}">
                  <a16:creationId xmlns:a16="http://schemas.microsoft.com/office/drawing/2014/main" id="{E473FE98-81E9-4F54-9034-96D9440A65FF}"/>
                </a:ext>
              </a:extLst>
            </p:cNvPr>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5063891" flipH="1">
              <a:off x="5408493" y="5402475"/>
              <a:ext cx="727189" cy="601269"/>
            </a:xfrm>
            <a:prstGeom prst="rect">
              <a:avLst/>
            </a:prstGeom>
          </p:spPr>
        </p:pic>
        <p:sp>
          <p:nvSpPr>
            <p:cNvPr id="11" name="직사각형 10">
              <a:extLst>
                <a:ext uri="{FF2B5EF4-FFF2-40B4-BE49-F238E27FC236}">
                  <a16:creationId xmlns:a16="http://schemas.microsoft.com/office/drawing/2014/main" id="{49538889-EC14-4978-87A2-70960BAFF85A}"/>
                </a:ext>
              </a:extLst>
            </p:cNvPr>
            <p:cNvSpPr/>
            <p:nvPr/>
          </p:nvSpPr>
          <p:spPr>
            <a:xfrm>
              <a:off x="5327001" y="2316605"/>
              <a:ext cx="1872208"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ctr" defTabSz="914400">
                <a:spcAft>
                  <a:spcPts val="400"/>
                </a:spcAft>
                <a:buClr>
                  <a:srgbClr val="193EB0"/>
                </a:buClr>
              </a:pPr>
              <a:r>
                <a:rPr lang="en-US" altLang="ko-KR" sz="1300" dirty="0">
                  <a:solidFill>
                    <a:schemeClr val="accent4">
                      <a:lumMod val="50000"/>
                    </a:schemeClr>
                  </a:solidFill>
                  <a:latin typeface="SamsungOne 400" panose="020B0503030303020204" pitchFamily="34" charset="0"/>
                  <a:ea typeface="SamsungOne 400" panose="020B0503030303020204" pitchFamily="34" charset="0"/>
                  <a:cs typeface="Times New Roman" panose="02020603050405020304" pitchFamily="18" charset="0"/>
                </a:rPr>
                <a:t>Root node</a:t>
              </a:r>
            </a:p>
          </p:txBody>
        </p:sp>
        <p:sp>
          <p:nvSpPr>
            <p:cNvPr id="12" name="타원 11">
              <a:extLst>
                <a:ext uri="{FF2B5EF4-FFF2-40B4-BE49-F238E27FC236}">
                  <a16:creationId xmlns:a16="http://schemas.microsoft.com/office/drawing/2014/main" id="{DA64FE1C-C843-46B3-9286-60F4D0A49BC5}"/>
                </a:ext>
              </a:extLst>
            </p:cNvPr>
            <p:cNvSpPr/>
            <p:nvPr/>
          </p:nvSpPr>
          <p:spPr>
            <a:xfrm>
              <a:off x="4304126" y="2348823"/>
              <a:ext cx="936000" cy="360000"/>
            </a:xfrm>
            <a:prstGeom prst="ellipse">
              <a:avLst/>
            </a:prstGeom>
            <a:solidFill>
              <a:schemeClr val="accent4">
                <a:lumMod val="75000"/>
              </a:schemeClr>
            </a:solidFill>
            <a:ln w="1905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ectangle 43">
              <a:extLst>
                <a:ext uri="{FF2B5EF4-FFF2-40B4-BE49-F238E27FC236}">
                  <a16:creationId xmlns:a16="http://schemas.microsoft.com/office/drawing/2014/main" id="{24FCDE59-BFEF-4B35-8FFB-26874093FC6B}"/>
                </a:ext>
              </a:extLst>
            </p:cNvPr>
            <p:cNvSpPr/>
            <p:nvPr/>
          </p:nvSpPr>
          <p:spPr>
            <a:xfrm>
              <a:off x="4449408" y="2425017"/>
              <a:ext cx="613083" cy="215444"/>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400" dirty="0">
                  <a:solidFill>
                    <a:schemeClr val="bg1"/>
                  </a:solidFill>
                  <a:latin typeface="SamsungOne 400" panose="020B0503030303020204" pitchFamily="34" charset="0"/>
                  <a:ea typeface="SamsungOne 400" panose="020B0503030303020204" pitchFamily="34" charset="0"/>
                </a:rPr>
                <a:t>X</a:t>
              </a:r>
              <a:r>
                <a:rPr lang="ko-KR" altLang="en-US" sz="1400" dirty="0">
                  <a:solidFill>
                    <a:schemeClr val="bg1"/>
                  </a:solidFill>
                  <a:latin typeface="SamsungOne 400" panose="020B0503030303020204" pitchFamily="34" charset="0"/>
                  <a:ea typeface="SamsungOne 400" panose="020B0503030303020204" pitchFamily="34" charset="0"/>
                </a:rPr>
                <a:t>₁ </a:t>
              </a:r>
              <a:r>
                <a:rPr lang="en-US" altLang="ko-KR" sz="1400" dirty="0">
                  <a:solidFill>
                    <a:schemeClr val="bg1"/>
                  </a:solidFill>
                  <a:latin typeface="SamsungOne 400" panose="020B0503030303020204" pitchFamily="34" charset="0"/>
                  <a:ea typeface="SamsungOne 400" panose="020B0503030303020204" pitchFamily="34" charset="0"/>
                </a:rPr>
                <a:t>&lt;.47</a:t>
              </a:r>
              <a:endParaRPr lang="en-US" altLang="ko-KR" sz="1000" dirty="0">
                <a:solidFill>
                  <a:schemeClr val="bg1"/>
                </a:solidFill>
                <a:latin typeface="SamsungOne 400" panose="020B0503030303020204" pitchFamily="34" charset="0"/>
                <a:ea typeface="SamsungOne 400" panose="020B0503030303020204" pitchFamily="34" charset="0"/>
              </a:endParaRPr>
            </a:p>
          </p:txBody>
        </p:sp>
        <p:sp>
          <p:nvSpPr>
            <p:cNvPr id="14" name="타원 13">
              <a:extLst>
                <a:ext uri="{FF2B5EF4-FFF2-40B4-BE49-F238E27FC236}">
                  <a16:creationId xmlns:a16="http://schemas.microsoft.com/office/drawing/2014/main" id="{48E87955-A43B-4C85-BA9F-1D45E2FFB798}"/>
                </a:ext>
              </a:extLst>
            </p:cNvPr>
            <p:cNvSpPr/>
            <p:nvPr/>
          </p:nvSpPr>
          <p:spPr>
            <a:xfrm>
              <a:off x="4775989" y="3109979"/>
              <a:ext cx="936000" cy="360000"/>
            </a:xfrm>
            <a:prstGeom prst="ellipse">
              <a:avLst/>
            </a:prstGeom>
            <a:solidFill>
              <a:schemeClr val="accent4">
                <a:lumMod val="75000"/>
              </a:schemeClr>
            </a:solidFill>
            <a:ln w="1905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Rectangle 43">
              <a:extLst>
                <a:ext uri="{FF2B5EF4-FFF2-40B4-BE49-F238E27FC236}">
                  <a16:creationId xmlns:a16="http://schemas.microsoft.com/office/drawing/2014/main" id="{69E2424F-1BFF-4EAB-8B2B-4722CCF4C195}"/>
                </a:ext>
              </a:extLst>
            </p:cNvPr>
            <p:cNvSpPr/>
            <p:nvPr/>
          </p:nvSpPr>
          <p:spPr>
            <a:xfrm>
              <a:off x="4921271" y="3186173"/>
              <a:ext cx="613083" cy="215444"/>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400" dirty="0">
                  <a:solidFill>
                    <a:schemeClr val="bg1"/>
                  </a:solidFill>
                  <a:latin typeface="SamsungOne 400" panose="020B0503030303020204" pitchFamily="34" charset="0"/>
                  <a:ea typeface="SamsungOne 400" panose="020B0503030303020204" pitchFamily="34" charset="0"/>
                </a:rPr>
                <a:t>X</a:t>
              </a:r>
              <a:r>
                <a:rPr lang="ko-KR" altLang="en-US" sz="1400" dirty="0">
                  <a:solidFill>
                    <a:schemeClr val="bg1"/>
                  </a:solidFill>
                  <a:latin typeface="SamsungOne 400" panose="020B0503030303020204" pitchFamily="34" charset="0"/>
                  <a:ea typeface="SamsungOne 400" panose="020B0503030303020204" pitchFamily="34" charset="0"/>
                </a:rPr>
                <a:t>₂ </a:t>
              </a:r>
              <a:r>
                <a:rPr lang="en-US" altLang="ko-KR" sz="1400" dirty="0">
                  <a:solidFill>
                    <a:schemeClr val="bg1"/>
                  </a:solidFill>
                  <a:latin typeface="SamsungOne 400" panose="020B0503030303020204" pitchFamily="34" charset="0"/>
                  <a:ea typeface="SamsungOne 400" panose="020B0503030303020204" pitchFamily="34" charset="0"/>
                </a:rPr>
                <a:t>&lt;.39</a:t>
              </a:r>
              <a:endParaRPr lang="en-US" altLang="ko-KR" sz="1000" dirty="0">
                <a:solidFill>
                  <a:schemeClr val="bg1"/>
                </a:solidFill>
                <a:latin typeface="SamsungOne 400" panose="020B0503030303020204" pitchFamily="34" charset="0"/>
                <a:ea typeface="SamsungOne 400" panose="020B0503030303020204" pitchFamily="34" charset="0"/>
              </a:endParaRPr>
            </a:p>
          </p:txBody>
        </p:sp>
        <p:sp>
          <p:nvSpPr>
            <p:cNvPr id="16" name="타원 15">
              <a:extLst>
                <a:ext uri="{FF2B5EF4-FFF2-40B4-BE49-F238E27FC236}">
                  <a16:creationId xmlns:a16="http://schemas.microsoft.com/office/drawing/2014/main" id="{8D76BEA0-CFA4-44A4-A2E4-A8BA9711757C}"/>
                </a:ext>
              </a:extLst>
            </p:cNvPr>
            <p:cNvSpPr/>
            <p:nvPr/>
          </p:nvSpPr>
          <p:spPr>
            <a:xfrm>
              <a:off x="5321763" y="3848719"/>
              <a:ext cx="936000" cy="360000"/>
            </a:xfrm>
            <a:prstGeom prst="ellipse">
              <a:avLst/>
            </a:prstGeom>
            <a:solidFill>
              <a:schemeClr val="accent4">
                <a:lumMod val="75000"/>
              </a:schemeClr>
            </a:solidFill>
            <a:ln w="1905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Rectangle 43">
              <a:extLst>
                <a:ext uri="{FF2B5EF4-FFF2-40B4-BE49-F238E27FC236}">
                  <a16:creationId xmlns:a16="http://schemas.microsoft.com/office/drawing/2014/main" id="{6F33AED7-3F11-40CE-AAFB-A13FE0F621EA}"/>
                </a:ext>
              </a:extLst>
            </p:cNvPr>
            <p:cNvSpPr/>
            <p:nvPr/>
          </p:nvSpPr>
          <p:spPr>
            <a:xfrm>
              <a:off x="5467045" y="3924913"/>
              <a:ext cx="613083" cy="215444"/>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400" dirty="0">
                  <a:solidFill>
                    <a:schemeClr val="bg1"/>
                  </a:solidFill>
                  <a:latin typeface="SamsungOne 400" panose="020B0503030303020204" pitchFamily="34" charset="0"/>
                  <a:ea typeface="SamsungOne 400" panose="020B0503030303020204" pitchFamily="34" charset="0"/>
                </a:rPr>
                <a:t>X</a:t>
              </a:r>
              <a:r>
                <a:rPr lang="ko-KR" altLang="en-US" sz="1400" dirty="0">
                  <a:solidFill>
                    <a:schemeClr val="bg1"/>
                  </a:solidFill>
                  <a:latin typeface="SamsungOne 400" panose="020B0503030303020204" pitchFamily="34" charset="0"/>
                  <a:ea typeface="SamsungOne 400" panose="020B0503030303020204" pitchFamily="34" charset="0"/>
                </a:rPr>
                <a:t>₂ </a:t>
              </a:r>
              <a:r>
                <a:rPr lang="en-US" altLang="ko-KR" sz="1400" dirty="0">
                  <a:solidFill>
                    <a:schemeClr val="bg1"/>
                  </a:solidFill>
                  <a:latin typeface="SamsungOne 400" panose="020B0503030303020204" pitchFamily="34" charset="0"/>
                  <a:ea typeface="SamsungOne 400" panose="020B0503030303020204" pitchFamily="34" charset="0"/>
                </a:rPr>
                <a:t>&lt;.84</a:t>
              </a:r>
              <a:endParaRPr lang="en-US" altLang="ko-KR" sz="1000" dirty="0">
                <a:solidFill>
                  <a:schemeClr val="bg1"/>
                </a:solidFill>
                <a:latin typeface="SamsungOne 400" panose="020B0503030303020204" pitchFamily="34" charset="0"/>
                <a:ea typeface="SamsungOne 400" panose="020B0503030303020204" pitchFamily="34" charset="0"/>
              </a:endParaRPr>
            </a:p>
          </p:txBody>
        </p:sp>
        <p:sp>
          <p:nvSpPr>
            <p:cNvPr id="18" name="타원 17">
              <a:extLst>
                <a:ext uri="{FF2B5EF4-FFF2-40B4-BE49-F238E27FC236}">
                  <a16:creationId xmlns:a16="http://schemas.microsoft.com/office/drawing/2014/main" id="{73A79F2F-F0B7-4A12-A977-E7254B06CE61}"/>
                </a:ext>
              </a:extLst>
            </p:cNvPr>
            <p:cNvSpPr/>
            <p:nvPr/>
          </p:nvSpPr>
          <p:spPr>
            <a:xfrm>
              <a:off x="4758263" y="4640630"/>
              <a:ext cx="936000" cy="360000"/>
            </a:xfrm>
            <a:prstGeom prst="ellipse">
              <a:avLst/>
            </a:prstGeom>
            <a:solidFill>
              <a:schemeClr val="accent4">
                <a:lumMod val="75000"/>
              </a:schemeClr>
            </a:solidFill>
            <a:ln w="1905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43">
              <a:extLst>
                <a:ext uri="{FF2B5EF4-FFF2-40B4-BE49-F238E27FC236}">
                  <a16:creationId xmlns:a16="http://schemas.microsoft.com/office/drawing/2014/main" id="{5B53DC41-0904-4356-BA2F-33E4581A7C02}"/>
                </a:ext>
              </a:extLst>
            </p:cNvPr>
            <p:cNvSpPr/>
            <p:nvPr/>
          </p:nvSpPr>
          <p:spPr>
            <a:xfrm>
              <a:off x="4903545" y="4716824"/>
              <a:ext cx="613083" cy="215444"/>
            </a:xfrm>
            <a:prstGeom prst="rect">
              <a:avLst/>
            </a:prstGeom>
            <a:noFill/>
            <a:ln w="25400" cap="flat" cmpd="sng" algn="ctr">
              <a:noFill/>
              <a:prstDash val="solid"/>
            </a:ln>
            <a:effectLst/>
          </p:spPr>
          <p:txBody>
            <a:bodyPr wrap="square" lIns="0" tIns="0" rIns="0" bIns="0" rtlCol="0" anchor="ctr">
              <a:spAutoFit/>
              <a:scene3d>
                <a:camera prst="orthographicFront"/>
                <a:lightRig rig="threePt" dir="t"/>
              </a:scene3d>
              <a:sp3d>
                <a:bevelT w="0" h="6350"/>
              </a:sp3d>
            </a:bodyPr>
            <a:lstStyle/>
            <a:p>
              <a:pPr algn="ctr" defTabSz="914400"/>
              <a:r>
                <a:rPr lang="en-US" altLang="ko-KR" sz="1400" dirty="0">
                  <a:solidFill>
                    <a:schemeClr val="bg1"/>
                  </a:solidFill>
                  <a:latin typeface="SamsungOne 400" panose="020B0503030303020204" pitchFamily="34" charset="0"/>
                  <a:ea typeface="SamsungOne 400" panose="020B0503030303020204" pitchFamily="34" charset="0"/>
                </a:rPr>
                <a:t>X</a:t>
              </a:r>
              <a:r>
                <a:rPr lang="ko-KR" altLang="en-US" sz="1400" dirty="0">
                  <a:solidFill>
                    <a:schemeClr val="bg1"/>
                  </a:solidFill>
                  <a:latin typeface="SamsungOne 400" panose="020B0503030303020204" pitchFamily="34" charset="0"/>
                  <a:ea typeface="SamsungOne 400" panose="020B0503030303020204" pitchFamily="34" charset="0"/>
                </a:rPr>
                <a:t>₁ </a:t>
              </a:r>
              <a:r>
                <a:rPr lang="en-US" altLang="ko-KR" sz="1400" dirty="0">
                  <a:solidFill>
                    <a:schemeClr val="bg1"/>
                  </a:solidFill>
                  <a:latin typeface="SamsungOne 400" panose="020B0503030303020204" pitchFamily="34" charset="0"/>
                  <a:ea typeface="SamsungOne 400" panose="020B0503030303020204" pitchFamily="34" charset="0"/>
                </a:rPr>
                <a:t>&lt;.87</a:t>
              </a:r>
              <a:endParaRPr lang="en-US" altLang="ko-KR" sz="1000" dirty="0">
                <a:solidFill>
                  <a:schemeClr val="bg1"/>
                </a:solidFill>
                <a:latin typeface="SamsungOne 400" panose="020B0503030303020204" pitchFamily="34" charset="0"/>
                <a:ea typeface="SamsungOne 400" panose="020B0503030303020204" pitchFamily="34" charset="0"/>
              </a:endParaRPr>
            </a:p>
          </p:txBody>
        </p:sp>
        <p:sp>
          <p:nvSpPr>
            <p:cNvPr id="20" name="직사각형 19">
              <a:extLst>
                <a:ext uri="{FF2B5EF4-FFF2-40B4-BE49-F238E27FC236}">
                  <a16:creationId xmlns:a16="http://schemas.microsoft.com/office/drawing/2014/main" id="{E8B80551-9625-442B-9579-B3444C8DD185}"/>
                </a:ext>
              </a:extLst>
            </p:cNvPr>
            <p:cNvSpPr/>
            <p:nvPr/>
          </p:nvSpPr>
          <p:spPr>
            <a:xfrm>
              <a:off x="6391572" y="3846583"/>
              <a:ext cx="1872208"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ctr" defTabSz="914400">
                <a:spcAft>
                  <a:spcPts val="400"/>
                </a:spcAft>
                <a:buClr>
                  <a:srgbClr val="193EB0"/>
                </a:buClr>
              </a:pPr>
              <a:r>
                <a:rPr lang="en-US" altLang="ko-KR" sz="1300" dirty="0">
                  <a:solidFill>
                    <a:schemeClr val="accent4">
                      <a:lumMod val="50000"/>
                    </a:schemeClr>
                  </a:solidFill>
                  <a:latin typeface="SamsungOne 400" panose="020B0503030303020204" pitchFamily="34" charset="0"/>
                  <a:ea typeface="SamsungOne 400" panose="020B0503030303020204" pitchFamily="34" charset="0"/>
                  <a:cs typeface="Times New Roman" panose="02020603050405020304" pitchFamily="18" charset="0"/>
                </a:rPr>
                <a:t>Parent node</a:t>
              </a:r>
            </a:p>
          </p:txBody>
        </p:sp>
        <p:sp>
          <p:nvSpPr>
            <p:cNvPr id="21" name="직사각형 20">
              <a:extLst>
                <a:ext uri="{FF2B5EF4-FFF2-40B4-BE49-F238E27FC236}">
                  <a16:creationId xmlns:a16="http://schemas.microsoft.com/office/drawing/2014/main" id="{B2723855-52AC-43D4-9F6E-8639DEC86DAE}"/>
                </a:ext>
              </a:extLst>
            </p:cNvPr>
            <p:cNvSpPr/>
            <p:nvPr/>
          </p:nvSpPr>
          <p:spPr>
            <a:xfrm>
              <a:off x="6850690" y="4661105"/>
              <a:ext cx="1872208"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ctr" defTabSz="914400">
                <a:spcAft>
                  <a:spcPts val="400"/>
                </a:spcAft>
                <a:buClr>
                  <a:srgbClr val="193EB0"/>
                </a:buClr>
              </a:pPr>
              <a:r>
                <a:rPr lang="en-US" altLang="ko-KR" sz="1300" dirty="0">
                  <a:solidFill>
                    <a:schemeClr val="accent4">
                      <a:lumMod val="50000"/>
                    </a:schemeClr>
                  </a:solidFill>
                  <a:latin typeface="SamsungOne 400" panose="020B0503030303020204" pitchFamily="34" charset="0"/>
                  <a:ea typeface="SamsungOne 400" panose="020B0503030303020204" pitchFamily="34" charset="0"/>
                  <a:cs typeface="Times New Roman" panose="02020603050405020304" pitchFamily="18" charset="0"/>
                </a:rPr>
                <a:t>Child node</a:t>
              </a:r>
            </a:p>
          </p:txBody>
        </p:sp>
        <p:sp>
          <p:nvSpPr>
            <p:cNvPr id="22" name="직사각형 21">
              <a:extLst>
                <a:ext uri="{FF2B5EF4-FFF2-40B4-BE49-F238E27FC236}">
                  <a16:creationId xmlns:a16="http://schemas.microsoft.com/office/drawing/2014/main" id="{4E88EAE0-C3AB-4EBB-BDC9-DC12B8A72411}"/>
                </a:ext>
              </a:extLst>
            </p:cNvPr>
            <p:cNvSpPr/>
            <p:nvPr/>
          </p:nvSpPr>
          <p:spPr>
            <a:xfrm>
              <a:off x="5264356" y="2524120"/>
              <a:ext cx="428255" cy="415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defTabSz="914400">
                <a:lnSpc>
                  <a:spcPct val="150000"/>
                </a:lnSpc>
                <a:spcAft>
                  <a:spcPts val="400"/>
                </a:spcAft>
                <a:buClr>
                  <a:srgbClr val="193EB0"/>
                </a:buClr>
              </a:pPr>
              <a:r>
                <a:rPr lang="en-US" altLang="ko-KR" sz="1300" dirty="0">
                  <a:solidFill>
                    <a:schemeClr val="tx1"/>
                  </a:solidFill>
                  <a:latin typeface="SamsungOne 400" panose="020B0503030303020204" pitchFamily="34" charset="0"/>
                  <a:ea typeface="SamsungOne 400" panose="020B0503030303020204" pitchFamily="34" charset="0"/>
                  <a:cs typeface="Times New Roman" panose="02020603050405020304" pitchFamily="18" charset="0"/>
                </a:rPr>
                <a:t>no</a:t>
              </a:r>
            </a:p>
          </p:txBody>
        </p:sp>
        <p:sp>
          <p:nvSpPr>
            <p:cNvPr id="26" name="직사각형 25">
              <a:extLst>
                <a:ext uri="{FF2B5EF4-FFF2-40B4-BE49-F238E27FC236}">
                  <a16:creationId xmlns:a16="http://schemas.microsoft.com/office/drawing/2014/main" id="{42BD18D7-7B4E-4032-8EBE-89FCCA1863B2}"/>
                </a:ext>
              </a:extLst>
            </p:cNvPr>
            <p:cNvSpPr/>
            <p:nvPr/>
          </p:nvSpPr>
          <p:spPr>
            <a:xfrm>
              <a:off x="5686218" y="3272775"/>
              <a:ext cx="428255" cy="415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defTabSz="914400">
                <a:lnSpc>
                  <a:spcPct val="150000"/>
                </a:lnSpc>
                <a:spcAft>
                  <a:spcPts val="400"/>
                </a:spcAft>
                <a:buClr>
                  <a:srgbClr val="193EB0"/>
                </a:buClr>
              </a:pPr>
              <a:r>
                <a:rPr lang="en-US" altLang="ko-KR" sz="1300" dirty="0">
                  <a:solidFill>
                    <a:schemeClr val="tx1"/>
                  </a:solidFill>
                  <a:latin typeface="SamsungOne 400" panose="020B0503030303020204" pitchFamily="34" charset="0"/>
                  <a:ea typeface="SamsungOne 400" panose="020B0503030303020204" pitchFamily="34" charset="0"/>
                  <a:cs typeface="Times New Roman" panose="02020603050405020304" pitchFamily="18" charset="0"/>
                </a:rPr>
                <a:t>no</a:t>
              </a:r>
            </a:p>
          </p:txBody>
        </p:sp>
        <p:sp>
          <p:nvSpPr>
            <p:cNvPr id="27" name="직사각형 26">
              <a:extLst>
                <a:ext uri="{FF2B5EF4-FFF2-40B4-BE49-F238E27FC236}">
                  <a16:creationId xmlns:a16="http://schemas.microsoft.com/office/drawing/2014/main" id="{F57D2C43-8CD6-4FDF-BC0B-53E520B3D209}"/>
                </a:ext>
              </a:extLst>
            </p:cNvPr>
            <p:cNvSpPr/>
            <p:nvPr/>
          </p:nvSpPr>
          <p:spPr>
            <a:xfrm>
              <a:off x="6221318" y="4055329"/>
              <a:ext cx="428255" cy="415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defTabSz="914400">
                <a:lnSpc>
                  <a:spcPct val="150000"/>
                </a:lnSpc>
                <a:spcAft>
                  <a:spcPts val="400"/>
                </a:spcAft>
                <a:buClr>
                  <a:srgbClr val="193EB0"/>
                </a:buClr>
              </a:pPr>
              <a:r>
                <a:rPr lang="en-US" altLang="ko-KR" sz="1300" dirty="0">
                  <a:solidFill>
                    <a:schemeClr val="tx1"/>
                  </a:solidFill>
                  <a:latin typeface="SamsungOne 400" panose="020B0503030303020204" pitchFamily="34" charset="0"/>
                  <a:ea typeface="SamsungOne 400" panose="020B0503030303020204" pitchFamily="34" charset="0"/>
                  <a:cs typeface="Times New Roman" panose="02020603050405020304" pitchFamily="18" charset="0"/>
                </a:rPr>
                <a:t>no</a:t>
              </a:r>
            </a:p>
          </p:txBody>
        </p:sp>
        <p:sp>
          <p:nvSpPr>
            <p:cNvPr id="28" name="직사각형 27">
              <a:extLst>
                <a:ext uri="{FF2B5EF4-FFF2-40B4-BE49-F238E27FC236}">
                  <a16:creationId xmlns:a16="http://schemas.microsoft.com/office/drawing/2014/main" id="{1A664261-143F-4C73-8E3D-7654C3C0E13B}"/>
                </a:ext>
              </a:extLst>
            </p:cNvPr>
            <p:cNvSpPr/>
            <p:nvPr/>
          </p:nvSpPr>
          <p:spPr>
            <a:xfrm>
              <a:off x="5666458" y="4873302"/>
              <a:ext cx="428255" cy="415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defTabSz="914400">
                <a:lnSpc>
                  <a:spcPct val="150000"/>
                </a:lnSpc>
                <a:spcAft>
                  <a:spcPts val="400"/>
                </a:spcAft>
                <a:buClr>
                  <a:srgbClr val="193EB0"/>
                </a:buClr>
              </a:pPr>
              <a:r>
                <a:rPr lang="en-US" altLang="ko-KR" sz="1300" dirty="0">
                  <a:solidFill>
                    <a:schemeClr val="tx1"/>
                  </a:solidFill>
                  <a:latin typeface="SamsungOne 400" panose="020B0503030303020204" pitchFamily="34" charset="0"/>
                  <a:ea typeface="SamsungOne 400" panose="020B0503030303020204" pitchFamily="34" charset="0"/>
                  <a:cs typeface="Times New Roman" panose="02020603050405020304" pitchFamily="18" charset="0"/>
                </a:rPr>
                <a:t>no</a:t>
              </a:r>
            </a:p>
          </p:txBody>
        </p:sp>
        <p:sp>
          <p:nvSpPr>
            <p:cNvPr id="29" name="직사각형 28">
              <a:extLst>
                <a:ext uri="{FF2B5EF4-FFF2-40B4-BE49-F238E27FC236}">
                  <a16:creationId xmlns:a16="http://schemas.microsoft.com/office/drawing/2014/main" id="{69868D4E-78CB-4307-90D8-4ECDD921DD5B}"/>
                </a:ext>
              </a:extLst>
            </p:cNvPr>
            <p:cNvSpPr/>
            <p:nvPr/>
          </p:nvSpPr>
          <p:spPr>
            <a:xfrm>
              <a:off x="4133712" y="2524120"/>
              <a:ext cx="428255" cy="415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defTabSz="914400">
                <a:lnSpc>
                  <a:spcPct val="150000"/>
                </a:lnSpc>
                <a:spcAft>
                  <a:spcPts val="400"/>
                </a:spcAft>
                <a:buClr>
                  <a:srgbClr val="193EB0"/>
                </a:buClr>
              </a:pPr>
              <a:r>
                <a:rPr lang="en-US" altLang="ko-KR" sz="1300" dirty="0">
                  <a:solidFill>
                    <a:srgbClr val="FF0000"/>
                  </a:solidFill>
                  <a:latin typeface="SamsungOne 400" panose="020B0503030303020204" pitchFamily="34" charset="0"/>
                  <a:ea typeface="SamsungOne 400" panose="020B0503030303020204" pitchFamily="34" charset="0"/>
                  <a:cs typeface="Times New Roman" panose="02020603050405020304" pitchFamily="18" charset="0"/>
                </a:rPr>
                <a:t>yes</a:t>
              </a:r>
            </a:p>
          </p:txBody>
        </p:sp>
        <p:sp>
          <p:nvSpPr>
            <p:cNvPr id="33" name="직사각형 32">
              <a:extLst>
                <a:ext uri="{FF2B5EF4-FFF2-40B4-BE49-F238E27FC236}">
                  <a16:creationId xmlns:a16="http://schemas.microsoft.com/office/drawing/2014/main" id="{FCD6530F-C2C2-48A0-A779-13415C1D52B4}"/>
                </a:ext>
              </a:extLst>
            </p:cNvPr>
            <p:cNvSpPr/>
            <p:nvPr/>
          </p:nvSpPr>
          <p:spPr>
            <a:xfrm>
              <a:off x="4595828" y="3272775"/>
              <a:ext cx="428255" cy="415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defTabSz="914400">
                <a:lnSpc>
                  <a:spcPct val="150000"/>
                </a:lnSpc>
                <a:spcAft>
                  <a:spcPts val="400"/>
                </a:spcAft>
                <a:buClr>
                  <a:srgbClr val="193EB0"/>
                </a:buClr>
              </a:pPr>
              <a:r>
                <a:rPr lang="en-US" altLang="ko-KR" sz="1300" dirty="0">
                  <a:solidFill>
                    <a:srgbClr val="FF0000"/>
                  </a:solidFill>
                  <a:latin typeface="SamsungOne 400" panose="020B0503030303020204" pitchFamily="34" charset="0"/>
                  <a:ea typeface="SamsungOne 400" panose="020B0503030303020204" pitchFamily="34" charset="0"/>
                  <a:cs typeface="Times New Roman" panose="02020603050405020304" pitchFamily="18" charset="0"/>
                </a:rPr>
                <a:t>yes</a:t>
              </a:r>
            </a:p>
          </p:txBody>
        </p:sp>
        <p:sp>
          <p:nvSpPr>
            <p:cNvPr id="34" name="직사각형 33">
              <a:extLst>
                <a:ext uri="{FF2B5EF4-FFF2-40B4-BE49-F238E27FC236}">
                  <a16:creationId xmlns:a16="http://schemas.microsoft.com/office/drawing/2014/main" id="{C643E274-AE80-4D90-ACD0-CF84C1750D6D}"/>
                </a:ext>
              </a:extLst>
            </p:cNvPr>
            <p:cNvSpPr/>
            <p:nvPr/>
          </p:nvSpPr>
          <p:spPr>
            <a:xfrm>
              <a:off x="4599966" y="4848582"/>
              <a:ext cx="428255" cy="415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defTabSz="914400">
                <a:lnSpc>
                  <a:spcPct val="150000"/>
                </a:lnSpc>
                <a:spcAft>
                  <a:spcPts val="400"/>
                </a:spcAft>
                <a:buClr>
                  <a:srgbClr val="193EB0"/>
                </a:buClr>
              </a:pPr>
              <a:r>
                <a:rPr lang="en-US" altLang="ko-KR" sz="1300" dirty="0">
                  <a:solidFill>
                    <a:srgbClr val="FF0000"/>
                  </a:solidFill>
                  <a:latin typeface="SamsungOne 400" panose="020B0503030303020204" pitchFamily="34" charset="0"/>
                  <a:ea typeface="SamsungOne 400" panose="020B0503030303020204" pitchFamily="34" charset="0"/>
                  <a:cs typeface="Times New Roman" panose="02020603050405020304" pitchFamily="18" charset="0"/>
                </a:rPr>
                <a:t>yes</a:t>
              </a:r>
            </a:p>
          </p:txBody>
        </p:sp>
        <p:sp>
          <p:nvSpPr>
            <p:cNvPr id="35" name="직사각형 34">
              <a:extLst>
                <a:ext uri="{FF2B5EF4-FFF2-40B4-BE49-F238E27FC236}">
                  <a16:creationId xmlns:a16="http://schemas.microsoft.com/office/drawing/2014/main" id="{3EBB0D4C-422A-4991-AC13-CE9B032595D8}"/>
                </a:ext>
              </a:extLst>
            </p:cNvPr>
            <p:cNvSpPr/>
            <p:nvPr/>
          </p:nvSpPr>
          <p:spPr>
            <a:xfrm>
              <a:off x="2463633" y="5404703"/>
              <a:ext cx="1872208" cy="5968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ctr" defTabSz="914400">
                <a:spcAft>
                  <a:spcPts val="400"/>
                </a:spcAft>
                <a:buClr>
                  <a:srgbClr val="193EB0"/>
                </a:buClr>
              </a:pPr>
              <a:r>
                <a:rPr lang="en-US" altLang="ko-KR" sz="1300" dirty="0">
                  <a:solidFill>
                    <a:srgbClr val="45851D"/>
                  </a:solidFill>
                  <a:latin typeface="SamsungOne 400" panose="020B0503030303020204" pitchFamily="34" charset="0"/>
                  <a:ea typeface="SamsungOne 400" panose="020B0503030303020204" pitchFamily="34" charset="0"/>
                  <a:cs typeface="Times New Roman" panose="02020603050405020304" pitchFamily="18" charset="0"/>
                </a:rPr>
                <a:t>Terminal node</a:t>
              </a:r>
            </a:p>
            <a:p>
              <a:pPr algn="ctr" defTabSz="914400">
                <a:spcAft>
                  <a:spcPts val="400"/>
                </a:spcAft>
                <a:buClr>
                  <a:srgbClr val="193EB0"/>
                </a:buClr>
              </a:pPr>
              <a:r>
                <a:rPr lang="en-US" altLang="ko-KR" sz="1300" dirty="0">
                  <a:solidFill>
                    <a:srgbClr val="45851D"/>
                  </a:solidFill>
                  <a:latin typeface="SamsungOne 400" panose="020B0503030303020204" pitchFamily="34" charset="0"/>
                  <a:ea typeface="SamsungOne 400" panose="020B0503030303020204" pitchFamily="34" charset="0"/>
                  <a:cs typeface="Times New Roman" panose="02020603050405020304" pitchFamily="18" charset="0"/>
                </a:rPr>
                <a:t>or Leaf node</a:t>
              </a:r>
            </a:p>
          </p:txBody>
        </p:sp>
        <p:pic>
          <p:nvPicPr>
            <p:cNvPr id="36" name="그림 35">
              <a:extLst>
                <a:ext uri="{FF2B5EF4-FFF2-40B4-BE49-F238E27FC236}">
                  <a16:creationId xmlns:a16="http://schemas.microsoft.com/office/drawing/2014/main" id="{40BFAC9F-97D9-4615-BEFF-8F09C3E9D5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6536109">
              <a:off x="4292104" y="5404975"/>
              <a:ext cx="727189" cy="601269"/>
            </a:xfrm>
            <a:prstGeom prst="rect">
              <a:avLst/>
            </a:prstGeom>
          </p:spPr>
        </p:pic>
        <p:grpSp>
          <p:nvGrpSpPr>
            <p:cNvPr id="37" name="그룹 36">
              <a:extLst>
                <a:ext uri="{FF2B5EF4-FFF2-40B4-BE49-F238E27FC236}">
                  <a16:creationId xmlns:a16="http://schemas.microsoft.com/office/drawing/2014/main" id="{AD728F71-7D52-4E51-B86A-F10A47A7D3B0}"/>
                </a:ext>
              </a:extLst>
            </p:cNvPr>
            <p:cNvGrpSpPr/>
            <p:nvPr/>
          </p:nvGrpSpPr>
          <p:grpSpPr>
            <a:xfrm>
              <a:off x="4810882" y="5694320"/>
              <a:ext cx="429422" cy="415480"/>
              <a:chOff x="4657382" y="5309987"/>
              <a:chExt cx="429422" cy="415480"/>
            </a:xfrm>
          </p:grpSpPr>
          <p:sp>
            <p:nvSpPr>
              <p:cNvPr id="62" name="타원 61">
                <a:extLst>
                  <a:ext uri="{FF2B5EF4-FFF2-40B4-BE49-F238E27FC236}">
                    <a16:creationId xmlns:a16="http://schemas.microsoft.com/office/drawing/2014/main" id="{7532B135-2261-418B-9DCA-E5DB1C408035}"/>
                  </a:ext>
                </a:extLst>
              </p:cNvPr>
              <p:cNvSpPr/>
              <p:nvPr/>
            </p:nvSpPr>
            <p:spPr>
              <a:xfrm>
                <a:off x="4657382" y="5401296"/>
                <a:ext cx="286128" cy="286128"/>
              </a:xfrm>
              <a:prstGeom prst="ellipse">
                <a:avLst/>
              </a:prstGeom>
              <a:solidFill>
                <a:srgbClr val="4B9020"/>
              </a:solidFill>
              <a:ln w="12700">
                <a:solidFill>
                  <a:srgbClr val="3C741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직사각형 62">
                <a:extLst>
                  <a:ext uri="{FF2B5EF4-FFF2-40B4-BE49-F238E27FC236}">
                    <a16:creationId xmlns:a16="http://schemas.microsoft.com/office/drawing/2014/main" id="{534C3578-9FB7-4468-B272-2A6C28FB5E7C}"/>
                  </a:ext>
                </a:extLst>
              </p:cNvPr>
              <p:cNvSpPr/>
              <p:nvPr/>
            </p:nvSpPr>
            <p:spPr>
              <a:xfrm>
                <a:off x="4658549" y="5309987"/>
                <a:ext cx="428255" cy="415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ctr" defTabSz="914400">
                  <a:lnSpc>
                    <a:spcPct val="150000"/>
                  </a:lnSpc>
                  <a:spcAft>
                    <a:spcPts val="400"/>
                  </a:spcAft>
                  <a:buClr>
                    <a:srgbClr val="193EB0"/>
                  </a:buClr>
                </a:pPr>
                <a:r>
                  <a:rPr lang="en-US" altLang="ko-KR" sz="1300"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1</a:t>
                </a:r>
              </a:p>
            </p:txBody>
          </p:sp>
        </p:grpSp>
        <p:grpSp>
          <p:nvGrpSpPr>
            <p:cNvPr id="38" name="그룹 37">
              <a:extLst>
                <a:ext uri="{FF2B5EF4-FFF2-40B4-BE49-F238E27FC236}">
                  <a16:creationId xmlns:a16="http://schemas.microsoft.com/office/drawing/2014/main" id="{1C9E55A0-814F-43A8-9ED8-4F889D4FBA2C}"/>
                </a:ext>
              </a:extLst>
            </p:cNvPr>
            <p:cNvGrpSpPr/>
            <p:nvPr/>
          </p:nvGrpSpPr>
          <p:grpSpPr>
            <a:xfrm>
              <a:off x="5931184" y="5694320"/>
              <a:ext cx="433447" cy="415480"/>
              <a:chOff x="4653357" y="5309987"/>
              <a:chExt cx="433447" cy="415480"/>
            </a:xfrm>
          </p:grpSpPr>
          <p:sp>
            <p:nvSpPr>
              <p:cNvPr id="60" name="타원 59">
                <a:extLst>
                  <a:ext uri="{FF2B5EF4-FFF2-40B4-BE49-F238E27FC236}">
                    <a16:creationId xmlns:a16="http://schemas.microsoft.com/office/drawing/2014/main" id="{2DA598A0-888C-40A0-BAF8-2654363E5A3A}"/>
                  </a:ext>
                </a:extLst>
              </p:cNvPr>
              <p:cNvSpPr/>
              <p:nvPr/>
            </p:nvSpPr>
            <p:spPr>
              <a:xfrm>
                <a:off x="4653357" y="5401296"/>
                <a:ext cx="286128" cy="286128"/>
              </a:xfrm>
              <a:prstGeom prst="ellipse">
                <a:avLst/>
              </a:prstGeom>
              <a:solidFill>
                <a:srgbClr val="E5C36D"/>
              </a:solidFill>
              <a:ln w="12700">
                <a:solidFill>
                  <a:srgbClr val="D9A6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1" name="직사각형 60">
                <a:extLst>
                  <a:ext uri="{FF2B5EF4-FFF2-40B4-BE49-F238E27FC236}">
                    <a16:creationId xmlns:a16="http://schemas.microsoft.com/office/drawing/2014/main" id="{A8187A73-82C2-4E2A-92DB-8046602AB4C1}"/>
                  </a:ext>
                </a:extLst>
              </p:cNvPr>
              <p:cNvSpPr/>
              <p:nvPr/>
            </p:nvSpPr>
            <p:spPr>
              <a:xfrm>
                <a:off x="4658549" y="5309987"/>
                <a:ext cx="428255" cy="415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ctr" defTabSz="914400">
                  <a:lnSpc>
                    <a:spcPct val="150000"/>
                  </a:lnSpc>
                  <a:spcAft>
                    <a:spcPts val="400"/>
                  </a:spcAft>
                  <a:buClr>
                    <a:srgbClr val="193EB0"/>
                  </a:buClr>
                </a:pPr>
                <a:r>
                  <a:rPr lang="en-US" altLang="ko-KR" sz="1300"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0</a:t>
                </a:r>
              </a:p>
            </p:txBody>
          </p:sp>
        </p:grpSp>
        <p:cxnSp>
          <p:nvCxnSpPr>
            <p:cNvPr id="39" name="직선 화살표 연결선 38">
              <a:extLst>
                <a:ext uri="{FF2B5EF4-FFF2-40B4-BE49-F238E27FC236}">
                  <a16:creationId xmlns:a16="http://schemas.microsoft.com/office/drawing/2014/main" id="{69BED241-BB6A-403F-B3C0-F07CFE72F3B2}"/>
                </a:ext>
              </a:extLst>
            </p:cNvPr>
            <p:cNvCxnSpPr/>
            <p:nvPr/>
          </p:nvCxnSpPr>
          <p:spPr>
            <a:xfrm flipH="1">
              <a:off x="4828892" y="5058950"/>
              <a:ext cx="197284" cy="296880"/>
            </a:xfrm>
            <a:prstGeom prst="straightConnector1">
              <a:avLst/>
            </a:prstGeom>
            <a:ln w="19050">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직선 화살표 연결선 39">
              <a:extLst>
                <a:ext uri="{FF2B5EF4-FFF2-40B4-BE49-F238E27FC236}">
                  <a16:creationId xmlns:a16="http://schemas.microsoft.com/office/drawing/2014/main" id="{BC7F3AB9-4AA9-43B0-ADDB-DB9233169905}"/>
                </a:ext>
              </a:extLst>
            </p:cNvPr>
            <p:cNvCxnSpPr/>
            <p:nvPr/>
          </p:nvCxnSpPr>
          <p:spPr>
            <a:xfrm>
              <a:off x="5417986" y="5058950"/>
              <a:ext cx="197284" cy="296880"/>
            </a:xfrm>
            <a:prstGeom prst="straightConnector1">
              <a:avLst/>
            </a:prstGeom>
            <a:ln w="19050">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직선 화살표 연결선 40">
              <a:extLst>
                <a:ext uri="{FF2B5EF4-FFF2-40B4-BE49-F238E27FC236}">
                  <a16:creationId xmlns:a16="http://schemas.microsoft.com/office/drawing/2014/main" id="{5B79B9A5-FB96-42A8-89A7-E2B0A3F0F41E}"/>
                </a:ext>
              </a:extLst>
            </p:cNvPr>
            <p:cNvCxnSpPr/>
            <p:nvPr/>
          </p:nvCxnSpPr>
          <p:spPr>
            <a:xfrm>
              <a:off x="5569811" y="3494153"/>
              <a:ext cx="197284" cy="296880"/>
            </a:xfrm>
            <a:prstGeom prst="straightConnector1">
              <a:avLst/>
            </a:prstGeom>
            <a:ln w="19050">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직선 화살표 연결선 41">
              <a:extLst>
                <a:ext uri="{FF2B5EF4-FFF2-40B4-BE49-F238E27FC236}">
                  <a16:creationId xmlns:a16="http://schemas.microsoft.com/office/drawing/2014/main" id="{CC98D32B-6DBE-4E7D-9067-3FE5CE87F65E}"/>
                </a:ext>
              </a:extLst>
            </p:cNvPr>
            <p:cNvCxnSpPr/>
            <p:nvPr/>
          </p:nvCxnSpPr>
          <p:spPr>
            <a:xfrm>
              <a:off x="6079733" y="4293391"/>
              <a:ext cx="197284" cy="296880"/>
            </a:xfrm>
            <a:prstGeom prst="straightConnector1">
              <a:avLst/>
            </a:prstGeom>
            <a:ln w="19050">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직선 화살표 연결선 42">
              <a:extLst>
                <a:ext uri="{FF2B5EF4-FFF2-40B4-BE49-F238E27FC236}">
                  <a16:creationId xmlns:a16="http://schemas.microsoft.com/office/drawing/2014/main" id="{6C28EEF9-66A2-4523-8A07-240E7F470916}"/>
                </a:ext>
              </a:extLst>
            </p:cNvPr>
            <p:cNvCxnSpPr/>
            <p:nvPr/>
          </p:nvCxnSpPr>
          <p:spPr>
            <a:xfrm>
              <a:off x="5119074" y="2736074"/>
              <a:ext cx="197284" cy="296880"/>
            </a:xfrm>
            <a:prstGeom prst="straightConnector1">
              <a:avLst/>
            </a:prstGeom>
            <a:ln w="19050">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4" name="그림 43">
              <a:extLst>
                <a:ext uri="{FF2B5EF4-FFF2-40B4-BE49-F238E27FC236}">
                  <a16:creationId xmlns:a16="http://schemas.microsoft.com/office/drawing/2014/main" id="{E421D252-7BEF-45CA-9112-DDB27192BA5B}"/>
                </a:ext>
              </a:extLst>
            </p:cNvPr>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15063891" flipH="1">
              <a:off x="6071850" y="4654950"/>
              <a:ext cx="727189" cy="601269"/>
            </a:xfrm>
            <a:prstGeom prst="rect">
              <a:avLst/>
            </a:prstGeom>
          </p:spPr>
        </p:pic>
        <p:grpSp>
          <p:nvGrpSpPr>
            <p:cNvPr id="45" name="그룹 44">
              <a:extLst>
                <a:ext uri="{FF2B5EF4-FFF2-40B4-BE49-F238E27FC236}">
                  <a16:creationId xmlns:a16="http://schemas.microsoft.com/office/drawing/2014/main" id="{B7914956-FD48-4279-9E95-237456EF07E4}"/>
                </a:ext>
              </a:extLst>
            </p:cNvPr>
            <p:cNvGrpSpPr/>
            <p:nvPr/>
          </p:nvGrpSpPr>
          <p:grpSpPr>
            <a:xfrm>
              <a:off x="6564562" y="4985518"/>
              <a:ext cx="433447" cy="415480"/>
              <a:chOff x="4653357" y="5309987"/>
              <a:chExt cx="433447" cy="415480"/>
            </a:xfrm>
          </p:grpSpPr>
          <p:sp>
            <p:nvSpPr>
              <p:cNvPr id="58" name="타원 57">
                <a:extLst>
                  <a:ext uri="{FF2B5EF4-FFF2-40B4-BE49-F238E27FC236}">
                    <a16:creationId xmlns:a16="http://schemas.microsoft.com/office/drawing/2014/main" id="{23E77E98-3368-4C3A-9457-D2A47A3F0F31}"/>
                  </a:ext>
                </a:extLst>
              </p:cNvPr>
              <p:cNvSpPr/>
              <p:nvPr/>
            </p:nvSpPr>
            <p:spPr>
              <a:xfrm>
                <a:off x="4653357" y="5401296"/>
                <a:ext cx="286128" cy="286128"/>
              </a:xfrm>
              <a:prstGeom prst="ellipse">
                <a:avLst/>
              </a:prstGeom>
              <a:solidFill>
                <a:srgbClr val="E5C36D"/>
              </a:solidFill>
              <a:ln w="12700">
                <a:solidFill>
                  <a:srgbClr val="D9A6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a:extLst>
                  <a:ext uri="{FF2B5EF4-FFF2-40B4-BE49-F238E27FC236}">
                    <a16:creationId xmlns:a16="http://schemas.microsoft.com/office/drawing/2014/main" id="{2F8D2A74-C08D-417F-9A08-0DA34325A1EE}"/>
                  </a:ext>
                </a:extLst>
              </p:cNvPr>
              <p:cNvSpPr/>
              <p:nvPr/>
            </p:nvSpPr>
            <p:spPr>
              <a:xfrm>
                <a:off x="4658549" y="5309987"/>
                <a:ext cx="428255" cy="415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ctr" defTabSz="914400">
                  <a:lnSpc>
                    <a:spcPct val="150000"/>
                  </a:lnSpc>
                  <a:spcAft>
                    <a:spcPts val="400"/>
                  </a:spcAft>
                  <a:buClr>
                    <a:srgbClr val="193EB0"/>
                  </a:buClr>
                </a:pPr>
                <a:r>
                  <a:rPr lang="en-US" altLang="ko-KR" sz="1300"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0</a:t>
                </a:r>
              </a:p>
            </p:txBody>
          </p:sp>
        </p:grpSp>
        <p:cxnSp>
          <p:nvCxnSpPr>
            <p:cNvPr id="46" name="직선 화살표 연결선 45">
              <a:extLst>
                <a:ext uri="{FF2B5EF4-FFF2-40B4-BE49-F238E27FC236}">
                  <a16:creationId xmlns:a16="http://schemas.microsoft.com/office/drawing/2014/main" id="{C25DC2B7-983F-440B-8B6A-1E97EB01927C}"/>
                </a:ext>
              </a:extLst>
            </p:cNvPr>
            <p:cNvCxnSpPr/>
            <p:nvPr/>
          </p:nvCxnSpPr>
          <p:spPr>
            <a:xfrm flipH="1">
              <a:off x="5334038" y="4285430"/>
              <a:ext cx="197284" cy="296880"/>
            </a:xfrm>
            <a:prstGeom prst="straightConnector1">
              <a:avLst/>
            </a:prstGeom>
            <a:ln w="19050">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직선 화살표 연결선 46">
              <a:extLst>
                <a:ext uri="{FF2B5EF4-FFF2-40B4-BE49-F238E27FC236}">
                  <a16:creationId xmlns:a16="http://schemas.microsoft.com/office/drawing/2014/main" id="{0231FB30-1BD1-40C5-8CAD-C89CAD0D4390}"/>
                </a:ext>
              </a:extLst>
            </p:cNvPr>
            <p:cNvCxnSpPr/>
            <p:nvPr/>
          </p:nvCxnSpPr>
          <p:spPr>
            <a:xfrm flipH="1">
              <a:off x="4777931" y="3494153"/>
              <a:ext cx="197284" cy="296880"/>
            </a:xfrm>
            <a:prstGeom prst="straightConnector1">
              <a:avLst/>
            </a:prstGeom>
            <a:ln w="19050">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직선 화살표 연결선 47">
              <a:extLst>
                <a:ext uri="{FF2B5EF4-FFF2-40B4-BE49-F238E27FC236}">
                  <a16:creationId xmlns:a16="http://schemas.microsoft.com/office/drawing/2014/main" id="{16953DBC-F438-4CFB-97CD-835706CD3887}"/>
                </a:ext>
              </a:extLst>
            </p:cNvPr>
            <p:cNvCxnSpPr/>
            <p:nvPr/>
          </p:nvCxnSpPr>
          <p:spPr>
            <a:xfrm flipH="1">
              <a:off x="4304126" y="2739140"/>
              <a:ext cx="197284" cy="296880"/>
            </a:xfrm>
            <a:prstGeom prst="straightConnector1">
              <a:avLst/>
            </a:prstGeom>
            <a:ln w="19050">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직사각형 48">
              <a:extLst>
                <a:ext uri="{FF2B5EF4-FFF2-40B4-BE49-F238E27FC236}">
                  <a16:creationId xmlns:a16="http://schemas.microsoft.com/office/drawing/2014/main" id="{8B13C3EC-E1CA-4BF3-B2E0-9317DED84E7A}"/>
                </a:ext>
              </a:extLst>
            </p:cNvPr>
            <p:cNvSpPr/>
            <p:nvPr/>
          </p:nvSpPr>
          <p:spPr>
            <a:xfrm>
              <a:off x="5159968" y="4055329"/>
              <a:ext cx="428255" cy="415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defTabSz="914400">
                <a:lnSpc>
                  <a:spcPct val="150000"/>
                </a:lnSpc>
                <a:spcAft>
                  <a:spcPts val="400"/>
                </a:spcAft>
                <a:buClr>
                  <a:srgbClr val="193EB0"/>
                </a:buClr>
              </a:pPr>
              <a:r>
                <a:rPr lang="en-US" altLang="ko-KR" sz="1300" dirty="0">
                  <a:solidFill>
                    <a:srgbClr val="FF0000"/>
                  </a:solidFill>
                  <a:latin typeface="SamsungOne 400" panose="020B0503030303020204" pitchFamily="34" charset="0"/>
                  <a:ea typeface="SamsungOne 400" panose="020B0503030303020204" pitchFamily="34" charset="0"/>
                  <a:cs typeface="Times New Roman" panose="02020603050405020304" pitchFamily="18" charset="0"/>
                </a:rPr>
                <a:t>yes</a:t>
              </a:r>
            </a:p>
          </p:txBody>
        </p:sp>
        <p:pic>
          <p:nvPicPr>
            <p:cNvPr id="50" name="그림 49">
              <a:extLst>
                <a:ext uri="{FF2B5EF4-FFF2-40B4-BE49-F238E27FC236}">
                  <a16:creationId xmlns:a16="http://schemas.microsoft.com/office/drawing/2014/main" id="{7207495C-B978-4117-B32C-0CBF2818A59B}"/>
                </a:ext>
              </a:extLst>
            </p:cNvPr>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6536109">
              <a:off x="4226080" y="3840202"/>
              <a:ext cx="727189" cy="601269"/>
            </a:xfrm>
            <a:prstGeom prst="rect">
              <a:avLst/>
            </a:prstGeom>
          </p:spPr>
        </p:pic>
        <p:grpSp>
          <p:nvGrpSpPr>
            <p:cNvPr id="51" name="그룹 50">
              <a:extLst>
                <a:ext uri="{FF2B5EF4-FFF2-40B4-BE49-F238E27FC236}">
                  <a16:creationId xmlns:a16="http://schemas.microsoft.com/office/drawing/2014/main" id="{BC8B94A7-D824-4CA1-B168-3B9970940292}"/>
                </a:ext>
              </a:extLst>
            </p:cNvPr>
            <p:cNvGrpSpPr/>
            <p:nvPr/>
          </p:nvGrpSpPr>
          <p:grpSpPr>
            <a:xfrm>
              <a:off x="4649575" y="4147500"/>
              <a:ext cx="429422" cy="415480"/>
              <a:chOff x="4657382" y="5309987"/>
              <a:chExt cx="429422" cy="415480"/>
            </a:xfrm>
          </p:grpSpPr>
          <p:sp>
            <p:nvSpPr>
              <p:cNvPr id="56" name="타원 55">
                <a:extLst>
                  <a:ext uri="{FF2B5EF4-FFF2-40B4-BE49-F238E27FC236}">
                    <a16:creationId xmlns:a16="http://schemas.microsoft.com/office/drawing/2014/main" id="{09314B85-1035-4636-81DC-5C739B9EBBC1}"/>
                  </a:ext>
                </a:extLst>
              </p:cNvPr>
              <p:cNvSpPr/>
              <p:nvPr/>
            </p:nvSpPr>
            <p:spPr>
              <a:xfrm>
                <a:off x="4657382" y="5401296"/>
                <a:ext cx="286128" cy="286128"/>
              </a:xfrm>
              <a:prstGeom prst="ellipse">
                <a:avLst/>
              </a:prstGeom>
              <a:solidFill>
                <a:srgbClr val="E5C36D"/>
              </a:solidFill>
              <a:ln w="127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a:extLst>
                  <a:ext uri="{FF2B5EF4-FFF2-40B4-BE49-F238E27FC236}">
                    <a16:creationId xmlns:a16="http://schemas.microsoft.com/office/drawing/2014/main" id="{8B4F30C8-077F-4FC7-B5E7-638C8F63055D}"/>
                  </a:ext>
                </a:extLst>
              </p:cNvPr>
              <p:cNvSpPr/>
              <p:nvPr/>
            </p:nvSpPr>
            <p:spPr>
              <a:xfrm>
                <a:off x="4658549" y="5309987"/>
                <a:ext cx="428255" cy="415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ctr" defTabSz="914400">
                  <a:lnSpc>
                    <a:spcPct val="150000"/>
                  </a:lnSpc>
                  <a:spcAft>
                    <a:spcPts val="400"/>
                  </a:spcAft>
                  <a:buClr>
                    <a:srgbClr val="193EB0"/>
                  </a:buClr>
                </a:pPr>
                <a:r>
                  <a:rPr lang="en-US" altLang="ko-KR" sz="1300"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0</a:t>
                </a:r>
              </a:p>
            </p:txBody>
          </p:sp>
        </p:grpSp>
        <p:pic>
          <p:nvPicPr>
            <p:cNvPr id="52" name="그림 51">
              <a:extLst>
                <a:ext uri="{FF2B5EF4-FFF2-40B4-BE49-F238E27FC236}">
                  <a16:creationId xmlns:a16="http://schemas.microsoft.com/office/drawing/2014/main" id="{C755A103-8A4C-44C7-B10A-DA3059DA822A}"/>
                </a:ext>
              </a:extLst>
            </p:cNvPr>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6536109">
              <a:off x="3751975" y="3106597"/>
              <a:ext cx="727189" cy="601269"/>
            </a:xfrm>
            <a:prstGeom prst="rect">
              <a:avLst/>
            </a:prstGeom>
          </p:spPr>
        </p:pic>
        <p:grpSp>
          <p:nvGrpSpPr>
            <p:cNvPr id="53" name="그룹 52">
              <a:extLst>
                <a:ext uri="{FF2B5EF4-FFF2-40B4-BE49-F238E27FC236}">
                  <a16:creationId xmlns:a16="http://schemas.microsoft.com/office/drawing/2014/main" id="{D02D209D-DB47-4515-957D-469003F75BE2}"/>
                </a:ext>
              </a:extLst>
            </p:cNvPr>
            <p:cNvGrpSpPr/>
            <p:nvPr/>
          </p:nvGrpSpPr>
          <p:grpSpPr>
            <a:xfrm>
              <a:off x="4175470" y="3413895"/>
              <a:ext cx="429422" cy="415480"/>
              <a:chOff x="4657382" y="5309987"/>
              <a:chExt cx="429422" cy="415480"/>
            </a:xfrm>
          </p:grpSpPr>
          <p:sp>
            <p:nvSpPr>
              <p:cNvPr id="54" name="타원 53">
                <a:extLst>
                  <a:ext uri="{FF2B5EF4-FFF2-40B4-BE49-F238E27FC236}">
                    <a16:creationId xmlns:a16="http://schemas.microsoft.com/office/drawing/2014/main" id="{35F28149-9C38-49BA-BDAE-BF6D1A92C2F6}"/>
                  </a:ext>
                </a:extLst>
              </p:cNvPr>
              <p:cNvSpPr/>
              <p:nvPr/>
            </p:nvSpPr>
            <p:spPr>
              <a:xfrm>
                <a:off x="4657382" y="5401296"/>
                <a:ext cx="286128" cy="286128"/>
              </a:xfrm>
              <a:prstGeom prst="ellipse">
                <a:avLst/>
              </a:prstGeom>
              <a:solidFill>
                <a:srgbClr val="E5C36D"/>
              </a:solidFill>
              <a:ln w="127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a:extLst>
                  <a:ext uri="{FF2B5EF4-FFF2-40B4-BE49-F238E27FC236}">
                    <a16:creationId xmlns:a16="http://schemas.microsoft.com/office/drawing/2014/main" id="{AA2681F6-36B7-44DA-B4D6-AF5A548B9E56}"/>
                  </a:ext>
                </a:extLst>
              </p:cNvPr>
              <p:cNvSpPr/>
              <p:nvPr/>
            </p:nvSpPr>
            <p:spPr>
              <a:xfrm>
                <a:off x="4658549" y="5309987"/>
                <a:ext cx="428255" cy="415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ctr" defTabSz="914400">
                  <a:lnSpc>
                    <a:spcPct val="150000"/>
                  </a:lnSpc>
                  <a:spcAft>
                    <a:spcPts val="400"/>
                  </a:spcAft>
                  <a:buClr>
                    <a:srgbClr val="193EB0"/>
                  </a:buClr>
                </a:pPr>
                <a:r>
                  <a:rPr lang="en-US" altLang="ko-KR" sz="1300"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0</a:t>
                </a:r>
              </a:p>
            </p:txBody>
          </p:sp>
        </p:grpSp>
      </p:grpSp>
    </p:spTree>
    <p:extLst>
      <p:ext uri="{BB962C8B-B14F-4D97-AF65-F5344CB8AC3E}">
        <p14:creationId xmlns:p14="http://schemas.microsoft.com/office/powerpoint/2010/main" val="918974655"/>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895030"/>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Construction of a decision tree</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grpSp>
        <p:nvGrpSpPr>
          <p:cNvPr id="7" name="그룹 6"/>
          <p:cNvGrpSpPr/>
          <p:nvPr/>
        </p:nvGrpSpPr>
        <p:grpSpPr>
          <a:xfrm>
            <a:off x="673782" y="2255437"/>
            <a:ext cx="8669227" cy="3215161"/>
            <a:chOff x="673782" y="2352218"/>
            <a:chExt cx="8669227" cy="3215161"/>
          </a:xfrm>
        </p:grpSpPr>
        <p:grpSp>
          <p:nvGrpSpPr>
            <p:cNvPr id="4" name="그룹 3"/>
            <p:cNvGrpSpPr/>
            <p:nvPr/>
          </p:nvGrpSpPr>
          <p:grpSpPr>
            <a:xfrm>
              <a:off x="673782" y="2352218"/>
              <a:ext cx="8669226" cy="691673"/>
              <a:chOff x="673782" y="2327577"/>
              <a:chExt cx="8669226" cy="691673"/>
            </a:xfrm>
          </p:grpSpPr>
          <p:sp>
            <p:nvSpPr>
              <p:cNvPr id="68" name="모서리가 둥근 직사각형 3">
                <a:extLst>
                  <a:ext uri="{FF2B5EF4-FFF2-40B4-BE49-F238E27FC236}">
                    <a16:creationId xmlns:a16="http://schemas.microsoft.com/office/drawing/2014/main" id="{0A1AA1F7-4A5C-431A-9E52-635BAFF19BEE}"/>
                  </a:ext>
                </a:extLst>
              </p:cNvPr>
              <p:cNvSpPr/>
              <p:nvPr/>
            </p:nvSpPr>
            <p:spPr>
              <a:xfrm>
                <a:off x="2777374" y="2327577"/>
                <a:ext cx="6565634" cy="691673"/>
              </a:xfrm>
              <a:prstGeom prst="roundRect">
                <a:avLst>
                  <a:gd name="adj" fmla="val 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dirty="0">
                    <a:solidFill>
                      <a:schemeClr val="tx1"/>
                    </a:solidFill>
                    <a:latin typeface="SamsungOne 400" panose="020B0503030303020204" pitchFamily="34" charset="0"/>
                    <a:ea typeface="SamsungOne 400" panose="020B0503030303020204" pitchFamily="34" charset="0"/>
                  </a:rPr>
                  <a:t>Making a decision tree by designating an appropriate split criterion and stopping rules according to the purpose and data structure of analysis</a:t>
                </a:r>
                <a:endParaRPr lang="ko-KR" altLang="en-US" sz="1300" dirty="0">
                  <a:solidFill>
                    <a:schemeClr val="tx1"/>
                  </a:solidFill>
                  <a:latin typeface="SamsungOne 400" panose="020B0503030303020204" pitchFamily="34" charset="0"/>
                </a:endParaRPr>
              </a:p>
            </p:txBody>
          </p:sp>
          <p:sp>
            <p:nvSpPr>
              <p:cNvPr id="64" name="모서리가 둥근 직사각형 2">
                <a:extLst>
                  <a:ext uri="{FF2B5EF4-FFF2-40B4-BE49-F238E27FC236}">
                    <a16:creationId xmlns:a16="http://schemas.microsoft.com/office/drawing/2014/main" id="{E9E0222A-B4A5-405B-8C4C-2824A2E69F70}"/>
                  </a:ext>
                </a:extLst>
              </p:cNvPr>
              <p:cNvSpPr/>
              <p:nvPr/>
            </p:nvSpPr>
            <p:spPr>
              <a:xfrm>
                <a:off x="673782" y="2327577"/>
                <a:ext cx="1937370" cy="691673"/>
              </a:xfrm>
              <a:prstGeom prst="roundRect">
                <a:avLst>
                  <a:gd name="adj" fmla="val 0"/>
                </a:avLst>
              </a:prstGeom>
              <a:solidFill>
                <a:srgbClr val="1429A0"/>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latin typeface="SamsungOne 400" panose="020B0503030303020204" pitchFamily="34" charset="0"/>
                    <a:ea typeface="SamsungOne 400" panose="020B0503030303020204" pitchFamily="34" charset="0"/>
                  </a:rPr>
                  <a:t>Construction of</a:t>
                </a:r>
                <a:br>
                  <a:rPr lang="en-US" altLang="ko-KR" sz="1400" b="1" dirty="0">
                    <a:latin typeface="SamsungOne 400" panose="020B0503030303020204" pitchFamily="34" charset="0"/>
                    <a:ea typeface="SamsungOne 400" panose="020B0503030303020204" pitchFamily="34" charset="0"/>
                  </a:rPr>
                </a:br>
                <a:r>
                  <a:rPr lang="en-US" altLang="ko-KR" sz="1400" b="1" dirty="0">
                    <a:latin typeface="SamsungOne 400" panose="020B0503030303020204" pitchFamily="34" charset="0"/>
                    <a:ea typeface="SamsungOne 400" panose="020B0503030303020204" pitchFamily="34" charset="0"/>
                  </a:rPr>
                  <a:t>a decision tree</a:t>
                </a:r>
                <a:endParaRPr lang="ko-KR" altLang="en-US" sz="1400" b="1" dirty="0">
                  <a:latin typeface="SamsungOne 400" panose="020B0503030303020204" pitchFamily="34" charset="0"/>
                </a:endParaRPr>
              </a:p>
            </p:txBody>
          </p:sp>
        </p:grpSp>
        <p:grpSp>
          <p:nvGrpSpPr>
            <p:cNvPr id="5" name="그룹 4"/>
            <p:cNvGrpSpPr/>
            <p:nvPr/>
          </p:nvGrpSpPr>
          <p:grpSpPr>
            <a:xfrm>
              <a:off x="673782" y="3185710"/>
              <a:ext cx="8669226" cy="696062"/>
              <a:chOff x="673782" y="3185710"/>
              <a:chExt cx="8669226" cy="696062"/>
            </a:xfrm>
          </p:grpSpPr>
          <p:sp>
            <p:nvSpPr>
              <p:cNvPr id="69" name="모서리가 둥근 직사각형 14">
                <a:extLst>
                  <a:ext uri="{FF2B5EF4-FFF2-40B4-BE49-F238E27FC236}">
                    <a16:creationId xmlns:a16="http://schemas.microsoft.com/office/drawing/2014/main" id="{8FA5CFE8-F0C9-455A-86CB-913FD2E5D615}"/>
                  </a:ext>
                </a:extLst>
              </p:cNvPr>
              <p:cNvSpPr/>
              <p:nvPr/>
            </p:nvSpPr>
            <p:spPr>
              <a:xfrm>
                <a:off x="2777374" y="3190099"/>
                <a:ext cx="6565634" cy="691673"/>
              </a:xfrm>
              <a:prstGeom prst="roundRect">
                <a:avLst>
                  <a:gd name="adj" fmla="val 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dirty="0">
                    <a:solidFill>
                      <a:schemeClr val="tx1"/>
                    </a:solidFill>
                    <a:latin typeface="SamsungOne 400" panose="020B0503030303020204" pitchFamily="34" charset="0"/>
                    <a:ea typeface="SamsungOne 400" panose="020B0503030303020204" pitchFamily="34" charset="0"/>
                  </a:rPr>
                  <a:t>Removing branches that have a high risk of error rate or inappropriate rules </a:t>
                </a:r>
                <a:endParaRPr lang="ko-KR" altLang="en-US" sz="1300" dirty="0">
                  <a:solidFill>
                    <a:schemeClr val="tx1"/>
                  </a:solidFill>
                  <a:latin typeface="SamsungOne 400" panose="020B0503030303020204" pitchFamily="34" charset="0"/>
                  <a:ea typeface="SamsungOne 400" panose="020B0503030303020204" pitchFamily="34" charset="0"/>
                </a:endParaRPr>
              </a:p>
            </p:txBody>
          </p:sp>
          <p:sp>
            <p:nvSpPr>
              <p:cNvPr id="65" name="모서리가 둥근 직사각형 10">
                <a:extLst>
                  <a:ext uri="{FF2B5EF4-FFF2-40B4-BE49-F238E27FC236}">
                    <a16:creationId xmlns:a16="http://schemas.microsoft.com/office/drawing/2014/main" id="{BCCCBECC-AEB2-4391-95CA-73FCDB0E8D3C}"/>
                  </a:ext>
                </a:extLst>
              </p:cNvPr>
              <p:cNvSpPr/>
              <p:nvPr/>
            </p:nvSpPr>
            <p:spPr>
              <a:xfrm>
                <a:off x="673782" y="3185710"/>
                <a:ext cx="1937370" cy="691673"/>
              </a:xfrm>
              <a:prstGeom prst="roundRect">
                <a:avLst>
                  <a:gd name="adj" fmla="val 0"/>
                </a:avLst>
              </a:prstGeom>
              <a:solidFill>
                <a:srgbClr val="1429A0"/>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latin typeface="SamsungOne 400" panose="020B0503030303020204" pitchFamily="34" charset="0"/>
                    <a:ea typeface="SamsungOne 400" panose="020B0503030303020204" pitchFamily="34" charset="0"/>
                  </a:rPr>
                  <a:t>Branching</a:t>
                </a:r>
                <a:endParaRPr lang="ko-KR" altLang="en-US" sz="1400" b="1" dirty="0">
                  <a:latin typeface="SamsungOne 400" panose="020B0503030303020204" pitchFamily="34" charset="0"/>
                </a:endParaRPr>
              </a:p>
            </p:txBody>
          </p:sp>
        </p:grpSp>
        <p:grpSp>
          <p:nvGrpSpPr>
            <p:cNvPr id="3" name="그룹 2"/>
            <p:cNvGrpSpPr/>
            <p:nvPr/>
          </p:nvGrpSpPr>
          <p:grpSpPr>
            <a:xfrm>
              <a:off x="673782" y="4027980"/>
              <a:ext cx="8669226" cy="691673"/>
              <a:chOff x="673782" y="4113121"/>
              <a:chExt cx="8669226" cy="691673"/>
            </a:xfrm>
          </p:grpSpPr>
          <p:sp>
            <p:nvSpPr>
              <p:cNvPr id="70" name="모서리가 둥근 직사각형 15">
                <a:extLst>
                  <a:ext uri="{FF2B5EF4-FFF2-40B4-BE49-F238E27FC236}">
                    <a16:creationId xmlns:a16="http://schemas.microsoft.com/office/drawing/2014/main" id="{C5D586BE-B5B8-43E2-B46D-63C8FBADCDF5}"/>
                  </a:ext>
                </a:extLst>
              </p:cNvPr>
              <p:cNvSpPr/>
              <p:nvPr/>
            </p:nvSpPr>
            <p:spPr>
              <a:xfrm>
                <a:off x="2777374" y="4113121"/>
                <a:ext cx="6565634" cy="691673"/>
              </a:xfrm>
              <a:prstGeom prst="roundRect">
                <a:avLst>
                  <a:gd name="adj" fmla="val 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dirty="0">
                    <a:solidFill>
                      <a:schemeClr val="tx1"/>
                    </a:solidFill>
                    <a:latin typeface="SamsungOne 400" panose="020B0503030303020204" pitchFamily="34" charset="0"/>
                    <a:ea typeface="SamsungOne 400" panose="020B0503030303020204" pitchFamily="34" charset="0"/>
                  </a:rPr>
                  <a:t>Evaluation of the decision tree through</a:t>
                </a:r>
                <a:r>
                  <a:rPr lang="ko-KR" altLang="en-US" sz="1300" dirty="0">
                    <a:solidFill>
                      <a:schemeClr val="tx1"/>
                    </a:solidFill>
                    <a:latin typeface="SamsungOne 400" panose="020B0503030303020204" pitchFamily="34" charset="0"/>
                    <a:ea typeface="SamsungOne 400" panose="020B0503030303020204" pitchFamily="34" charset="0"/>
                  </a:rPr>
                  <a:t> </a:t>
                </a:r>
                <a:r>
                  <a:rPr lang="en-US" altLang="ko-KR" sz="1300" dirty="0">
                    <a:solidFill>
                      <a:schemeClr val="tx1"/>
                    </a:solidFill>
                    <a:latin typeface="SamsungOne 400" panose="020B0503030303020204" pitchFamily="34" charset="0"/>
                    <a:ea typeface="SamsungOne 400" panose="020B0503030303020204" pitchFamily="34" charset="0"/>
                  </a:rPr>
                  <a:t>cross-validation</a:t>
                </a:r>
                <a:r>
                  <a:rPr lang="ko-KR" altLang="en-US" sz="1300" dirty="0">
                    <a:solidFill>
                      <a:schemeClr val="tx1"/>
                    </a:solidFill>
                    <a:latin typeface="SamsungOne 400" panose="020B0503030303020204" pitchFamily="34" charset="0"/>
                    <a:ea typeface="SamsungOne 400" panose="020B0503030303020204" pitchFamily="34" charset="0"/>
                  </a:rPr>
                  <a:t> </a:t>
                </a:r>
                <a:r>
                  <a:rPr lang="en-US" altLang="ko-KR" sz="1300" dirty="0">
                    <a:solidFill>
                      <a:schemeClr val="tx1"/>
                    </a:solidFill>
                    <a:latin typeface="SamsungOne 400" panose="020B0503030303020204" pitchFamily="34" charset="0"/>
                    <a:ea typeface="SamsungOne 400" panose="020B0503030303020204" pitchFamily="34" charset="0"/>
                  </a:rPr>
                  <a:t>using</a:t>
                </a:r>
                <a:r>
                  <a:rPr lang="ko-KR" altLang="en-US" sz="1300" dirty="0">
                    <a:solidFill>
                      <a:schemeClr val="tx1"/>
                    </a:solidFill>
                    <a:latin typeface="SamsungOne 400" panose="020B0503030303020204" pitchFamily="34" charset="0"/>
                    <a:ea typeface="SamsungOne 400" panose="020B0503030303020204" pitchFamily="34" charset="0"/>
                  </a:rPr>
                  <a:t> </a:t>
                </a:r>
                <a:r>
                  <a:rPr lang="en-US" altLang="ko-KR" sz="1300" dirty="0">
                    <a:solidFill>
                      <a:schemeClr val="tx1"/>
                    </a:solidFill>
                    <a:latin typeface="SamsungOne 400" panose="020B0503030303020204" pitchFamily="34" charset="0"/>
                    <a:ea typeface="SamsungOne 400" panose="020B0503030303020204" pitchFamily="34" charset="0"/>
                  </a:rPr>
                  <a:t>the</a:t>
                </a:r>
                <a:r>
                  <a:rPr lang="ko-KR" altLang="en-US" sz="1300" dirty="0">
                    <a:solidFill>
                      <a:schemeClr val="tx1"/>
                    </a:solidFill>
                    <a:latin typeface="SamsungOne 400" panose="020B0503030303020204" pitchFamily="34" charset="0"/>
                    <a:ea typeface="SamsungOne 400" panose="020B0503030303020204" pitchFamily="34" charset="0"/>
                  </a:rPr>
                  <a:t> </a:t>
                </a:r>
                <a:r>
                  <a:rPr lang="en-US" altLang="ko-KR" sz="1300" dirty="0">
                    <a:solidFill>
                      <a:schemeClr val="tx1"/>
                    </a:solidFill>
                    <a:latin typeface="SamsungOne 400" panose="020B0503030303020204" pitchFamily="34" charset="0"/>
                    <a:ea typeface="SamsungOne 400" panose="020B0503030303020204" pitchFamily="34" charset="0"/>
                  </a:rPr>
                  <a:t>gain</a:t>
                </a:r>
                <a:r>
                  <a:rPr lang="ko-KR" altLang="en-US" sz="1300" dirty="0">
                    <a:solidFill>
                      <a:schemeClr val="tx1"/>
                    </a:solidFill>
                    <a:latin typeface="SamsungOne 400" panose="020B0503030303020204" pitchFamily="34" charset="0"/>
                    <a:ea typeface="SamsungOne 400" panose="020B0503030303020204" pitchFamily="34" charset="0"/>
                  </a:rPr>
                  <a:t> </a:t>
                </a:r>
                <a:r>
                  <a:rPr lang="en-US" altLang="ko-KR" sz="1300" dirty="0">
                    <a:solidFill>
                      <a:schemeClr val="tx1"/>
                    </a:solidFill>
                    <a:latin typeface="SamsungOne 400" panose="020B0503030303020204" pitchFamily="34" charset="0"/>
                    <a:ea typeface="SamsungOne 400" panose="020B0503030303020204" pitchFamily="34" charset="0"/>
                  </a:rPr>
                  <a:t>chart,</a:t>
                </a:r>
                <a:r>
                  <a:rPr lang="ko-KR" altLang="en-US" sz="1300" dirty="0">
                    <a:solidFill>
                      <a:schemeClr val="tx1"/>
                    </a:solidFill>
                    <a:latin typeface="SamsungOne 400" panose="020B0503030303020204" pitchFamily="34" charset="0"/>
                    <a:ea typeface="SamsungOne 400" panose="020B0503030303020204" pitchFamily="34" charset="0"/>
                  </a:rPr>
                  <a:t> </a:t>
                </a:r>
                <a:r>
                  <a:rPr lang="en-US" altLang="ko-KR" sz="1300" dirty="0">
                    <a:solidFill>
                      <a:schemeClr val="tx1"/>
                    </a:solidFill>
                    <a:latin typeface="SamsungOne 400" panose="020B0503030303020204" pitchFamily="34" charset="0"/>
                    <a:ea typeface="SamsungOne 400" panose="020B0503030303020204" pitchFamily="34" charset="0"/>
                  </a:rPr>
                  <a:t>risk</a:t>
                </a:r>
                <a:r>
                  <a:rPr lang="ko-KR" altLang="en-US" sz="1300" dirty="0">
                    <a:solidFill>
                      <a:schemeClr val="tx1"/>
                    </a:solidFill>
                    <a:latin typeface="SamsungOne 400" panose="020B0503030303020204" pitchFamily="34" charset="0"/>
                    <a:ea typeface="SamsungOne 400" panose="020B0503030303020204" pitchFamily="34" charset="0"/>
                  </a:rPr>
                  <a:t> </a:t>
                </a:r>
                <a:r>
                  <a:rPr lang="en-US" altLang="ko-KR" sz="1300" dirty="0">
                    <a:solidFill>
                      <a:schemeClr val="tx1"/>
                    </a:solidFill>
                    <a:latin typeface="SamsungOne 400" panose="020B0503030303020204" pitchFamily="34" charset="0"/>
                    <a:ea typeface="SamsungOne 400" panose="020B0503030303020204" pitchFamily="34" charset="0"/>
                  </a:rPr>
                  <a:t>chart,</a:t>
                </a:r>
                <a:r>
                  <a:rPr lang="ko-KR" altLang="en-US" sz="1300" dirty="0">
                    <a:solidFill>
                      <a:schemeClr val="tx1"/>
                    </a:solidFill>
                    <a:latin typeface="SamsungOne 400" panose="020B0503030303020204" pitchFamily="34" charset="0"/>
                    <a:ea typeface="SamsungOne 400" panose="020B0503030303020204" pitchFamily="34" charset="0"/>
                  </a:rPr>
                  <a:t> </a:t>
                </a:r>
                <a:r>
                  <a:rPr lang="en-US" altLang="ko-KR" sz="1300" dirty="0">
                    <a:solidFill>
                      <a:schemeClr val="tx1"/>
                    </a:solidFill>
                    <a:latin typeface="SamsungOne 400" panose="020B0503030303020204" pitchFamily="34" charset="0"/>
                    <a:ea typeface="SamsungOne 400" panose="020B0503030303020204" pitchFamily="34" charset="0"/>
                  </a:rPr>
                  <a:t>or</a:t>
                </a:r>
                <a:r>
                  <a:rPr lang="ko-KR" altLang="en-US" sz="1300" dirty="0">
                    <a:solidFill>
                      <a:schemeClr val="tx1"/>
                    </a:solidFill>
                    <a:latin typeface="SamsungOne 400" panose="020B0503030303020204" pitchFamily="34" charset="0"/>
                    <a:ea typeface="SamsungOne 400" panose="020B0503030303020204" pitchFamily="34" charset="0"/>
                  </a:rPr>
                  <a:t> </a:t>
                </a:r>
                <a:r>
                  <a:rPr lang="en-US" altLang="ko-KR" sz="1300" dirty="0">
                    <a:solidFill>
                      <a:schemeClr val="tx1"/>
                    </a:solidFill>
                    <a:latin typeface="SamsungOne 400" panose="020B0503030303020204" pitchFamily="34" charset="0"/>
                    <a:ea typeface="SamsungOne 400" panose="020B0503030303020204" pitchFamily="34" charset="0"/>
                  </a:rPr>
                  <a:t>test</a:t>
                </a:r>
                <a:r>
                  <a:rPr lang="ko-KR" altLang="en-US" sz="1300" dirty="0">
                    <a:solidFill>
                      <a:schemeClr val="tx1"/>
                    </a:solidFill>
                    <a:latin typeface="SamsungOne 400" panose="020B0503030303020204" pitchFamily="34" charset="0"/>
                    <a:ea typeface="SamsungOne 400" panose="020B0503030303020204" pitchFamily="34" charset="0"/>
                  </a:rPr>
                  <a:t> </a:t>
                </a:r>
                <a:r>
                  <a:rPr lang="en-US" altLang="ko-KR" sz="1300" dirty="0">
                    <a:solidFill>
                      <a:schemeClr val="tx1"/>
                    </a:solidFill>
                    <a:latin typeface="SamsungOne 400" panose="020B0503030303020204" pitchFamily="34" charset="0"/>
                    <a:ea typeface="SamsungOne 400" panose="020B0503030303020204" pitchFamily="34" charset="0"/>
                  </a:rPr>
                  <a:t>data</a:t>
                </a:r>
                <a:endParaRPr lang="ko-KR" altLang="en-US" sz="1300" dirty="0">
                  <a:solidFill>
                    <a:schemeClr val="tx1"/>
                  </a:solidFill>
                  <a:latin typeface="SamsungOne 400" panose="020B0503030303020204" pitchFamily="34" charset="0"/>
                  <a:ea typeface="SamsungOne 400" panose="020B0503030303020204" pitchFamily="34" charset="0"/>
                </a:endParaRPr>
              </a:p>
            </p:txBody>
          </p:sp>
          <p:sp>
            <p:nvSpPr>
              <p:cNvPr id="66" name="모서리가 둥근 직사각형 11">
                <a:extLst>
                  <a:ext uri="{FF2B5EF4-FFF2-40B4-BE49-F238E27FC236}">
                    <a16:creationId xmlns:a16="http://schemas.microsoft.com/office/drawing/2014/main" id="{7A137F8E-12E5-41C0-9D11-4F176ECD3ECE}"/>
                  </a:ext>
                </a:extLst>
              </p:cNvPr>
              <p:cNvSpPr/>
              <p:nvPr/>
            </p:nvSpPr>
            <p:spPr>
              <a:xfrm>
                <a:off x="673782" y="4113121"/>
                <a:ext cx="1937370" cy="691673"/>
              </a:xfrm>
              <a:prstGeom prst="roundRect">
                <a:avLst>
                  <a:gd name="adj" fmla="val 0"/>
                </a:avLst>
              </a:prstGeom>
              <a:solidFill>
                <a:srgbClr val="1429A0"/>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latin typeface="SamsungOne 400" panose="020B0503030303020204" pitchFamily="34" charset="0"/>
                    <a:ea typeface="SamsungOne 400" panose="020B0503030303020204" pitchFamily="34" charset="0"/>
                  </a:rPr>
                  <a:t>Validity evaluation</a:t>
                </a:r>
                <a:endParaRPr lang="ko-KR" altLang="en-US" sz="1400" b="1" dirty="0">
                  <a:latin typeface="SamsungOne 400" panose="020B0503030303020204" pitchFamily="34" charset="0"/>
                </a:endParaRPr>
              </a:p>
            </p:txBody>
          </p:sp>
        </p:grpSp>
        <p:grpSp>
          <p:nvGrpSpPr>
            <p:cNvPr id="6" name="그룹 5"/>
            <p:cNvGrpSpPr/>
            <p:nvPr/>
          </p:nvGrpSpPr>
          <p:grpSpPr>
            <a:xfrm>
              <a:off x="673782" y="4875706"/>
              <a:ext cx="8669227" cy="691673"/>
              <a:chOff x="673782" y="5040533"/>
              <a:chExt cx="8669227" cy="691673"/>
            </a:xfrm>
          </p:grpSpPr>
          <p:sp>
            <p:nvSpPr>
              <p:cNvPr id="71" name="모서리가 둥근 직사각형 16">
                <a:extLst>
                  <a:ext uri="{FF2B5EF4-FFF2-40B4-BE49-F238E27FC236}">
                    <a16:creationId xmlns:a16="http://schemas.microsoft.com/office/drawing/2014/main" id="{ADE40913-C346-40BA-A63E-0BB6991EDD84}"/>
                  </a:ext>
                </a:extLst>
              </p:cNvPr>
              <p:cNvSpPr/>
              <p:nvPr/>
            </p:nvSpPr>
            <p:spPr>
              <a:xfrm>
                <a:off x="2777375" y="5040533"/>
                <a:ext cx="6565634" cy="691673"/>
              </a:xfrm>
              <a:prstGeom prst="roundRect">
                <a:avLst>
                  <a:gd name="adj" fmla="val 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dirty="0">
                    <a:solidFill>
                      <a:schemeClr val="tx1"/>
                    </a:solidFill>
                    <a:latin typeface="SamsungOne 400" panose="020B0503030303020204" pitchFamily="34" charset="0"/>
                    <a:ea typeface="SamsungOne 400" panose="020B0503030303020204" pitchFamily="34" charset="0"/>
                  </a:rPr>
                  <a:t>Interpretation of the decision tree and setting a prediction model</a:t>
                </a:r>
                <a:endParaRPr lang="ko-KR" altLang="en-US" sz="1300" dirty="0">
                  <a:solidFill>
                    <a:schemeClr val="tx1"/>
                  </a:solidFill>
                  <a:latin typeface="SamsungOne 400" panose="020B0503030303020204" pitchFamily="34" charset="0"/>
                  <a:ea typeface="SamsungOne 400" panose="020B0503030303020204" pitchFamily="34" charset="0"/>
                </a:endParaRPr>
              </a:p>
            </p:txBody>
          </p:sp>
          <p:sp>
            <p:nvSpPr>
              <p:cNvPr id="67" name="모서리가 둥근 직사각형 12">
                <a:extLst>
                  <a:ext uri="{FF2B5EF4-FFF2-40B4-BE49-F238E27FC236}">
                    <a16:creationId xmlns:a16="http://schemas.microsoft.com/office/drawing/2014/main" id="{8B99DD4E-BF4C-4AA5-A989-C0428E26846E}"/>
                  </a:ext>
                </a:extLst>
              </p:cNvPr>
              <p:cNvSpPr/>
              <p:nvPr/>
            </p:nvSpPr>
            <p:spPr>
              <a:xfrm>
                <a:off x="673782" y="5040533"/>
                <a:ext cx="1937370" cy="691673"/>
              </a:xfrm>
              <a:prstGeom prst="roundRect">
                <a:avLst>
                  <a:gd name="adj" fmla="val 0"/>
                </a:avLst>
              </a:prstGeom>
              <a:solidFill>
                <a:srgbClr val="1429A0"/>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latin typeface="SamsungOne 400" panose="020B0503030303020204" pitchFamily="34" charset="0"/>
                    <a:ea typeface="SamsungOne 400" panose="020B0503030303020204" pitchFamily="34" charset="0"/>
                  </a:rPr>
                  <a:t>Interpretation</a:t>
                </a:r>
                <a:br>
                  <a:rPr lang="en-US" altLang="ko-KR" sz="1400" b="1" dirty="0">
                    <a:latin typeface="SamsungOne 400" panose="020B0503030303020204" pitchFamily="34" charset="0"/>
                    <a:ea typeface="SamsungOne 400" panose="020B0503030303020204" pitchFamily="34" charset="0"/>
                  </a:rPr>
                </a:br>
                <a:r>
                  <a:rPr lang="en-US" altLang="ko-KR" sz="1400" b="1" dirty="0">
                    <a:latin typeface="SamsungOne 400" panose="020B0503030303020204" pitchFamily="34" charset="0"/>
                    <a:ea typeface="SamsungOne 400" panose="020B0503030303020204" pitchFamily="34" charset="0"/>
                  </a:rPr>
                  <a:t>and prediction</a:t>
                </a:r>
                <a:endParaRPr lang="ko-KR" altLang="en-US" sz="1400" b="1" dirty="0">
                  <a:latin typeface="SamsungOne 400" panose="020B0503030303020204" pitchFamily="34" charset="0"/>
                </a:endParaRPr>
              </a:p>
            </p:txBody>
          </p:sp>
        </p:grpSp>
      </p:grpSp>
      <p:sp>
        <p:nvSpPr>
          <p:cNvPr id="16" name="직사각형 15">
            <a:extLst>
              <a:ext uri="{FF2B5EF4-FFF2-40B4-BE49-F238E27FC236}">
                <a16:creationId xmlns:a16="http://schemas.microsoft.com/office/drawing/2014/main" id="{5C4DD3A5-BE22-45A5-AB44-9D8CA6E2C491}"/>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2400" dirty="0">
                <a:solidFill>
                  <a:schemeClr val="tx1">
                    <a:lumMod val="95000"/>
                    <a:lumOff val="5000"/>
                  </a:schemeClr>
                </a:solidFill>
                <a:latin typeface="Samsung Sharp Sans" pitchFamily="2" charset="0"/>
                <a:cs typeface="Samsung Sharp Sans" pitchFamily="2" charset="0"/>
              </a:rPr>
              <a:t>How to Construct a Decision Tree Model</a:t>
            </a:r>
            <a:endParaRPr lang="ko-KR" altLang="en-US" sz="2400" dirty="0">
              <a:solidFill>
                <a:schemeClr val="tx1">
                  <a:lumMod val="95000"/>
                  <a:lumOff val="5000"/>
                </a:schemeClr>
              </a:solidFill>
              <a:latin typeface="Samsung Sharp Sans" pitchFamily="2" charset="0"/>
              <a:cs typeface="Samsung Sharp Sans" pitchFamily="2" charset="0"/>
            </a:endParaRPr>
          </a:p>
        </p:txBody>
      </p:sp>
    </p:spTree>
    <p:extLst>
      <p:ext uri="{BB962C8B-B14F-4D97-AF65-F5344CB8AC3E}">
        <p14:creationId xmlns:p14="http://schemas.microsoft.com/office/powerpoint/2010/main" val="2863566702"/>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2" name="그룹 1">
            <a:extLst>
              <a:ext uri="{FF2B5EF4-FFF2-40B4-BE49-F238E27FC236}">
                <a16:creationId xmlns:a16="http://schemas.microsoft.com/office/drawing/2014/main" id="{4396668D-F948-4806-A387-769BB06B691D}"/>
              </a:ext>
            </a:extLst>
          </p:cNvPr>
          <p:cNvGrpSpPr/>
          <p:nvPr/>
        </p:nvGrpSpPr>
        <p:grpSpPr>
          <a:xfrm>
            <a:off x="1459024" y="3789040"/>
            <a:ext cx="7020780" cy="2088747"/>
            <a:chOff x="1459024" y="3429000"/>
            <a:chExt cx="7020780" cy="2088747"/>
          </a:xfrm>
        </p:grpSpPr>
        <p:sp>
          <p:nvSpPr>
            <p:cNvPr id="64" name="직사각형 63">
              <a:extLst>
                <a:ext uri="{FF2B5EF4-FFF2-40B4-BE49-F238E27FC236}">
                  <a16:creationId xmlns:a16="http://schemas.microsoft.com/office/drawing/2014/main" id="{256199AF-80D0-482C-B9A0-D3EE91D4DF30}"/>
                </a:ext>
              </a:extLst>
            </p:cNvPr>
            <p:cNvSpPr/>
            <p:nvPr/>
          </p:nvSpPr>
          <p:spPr>
            <a:xfrm>
              <a:off x="1891072" y="3429000"/>
              <a:ext cx="936104" cy="5040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amsungOne 400" panose="020B0503030303020204" pitchFamily="34" charset="0"/>
                  <a:ea typeface="SamsungOne 400" panose="020B0503030303020204" pitchFamily="34" charset="0"/>
                </a:rPr>
                <a:t>40</a:t>
              </a:r>
            </a:p>
          </p:txBody>
        </p:sp>
        <p:sp>
          <p:nvSpPr>
            <p:cNvPr id="65" name="직사각형 64">
              <a:extLst>
                <a:ext uri="{FF2B5EF4-FFF2-40B4-BE49-F238E27FC236}">
                  <a16:creationId xmlns:a16="http://schemas.microsoft.com/office/drawing/2014/main" id="{B72AF33D-2E67-418D-9FBF-15F3563B485F}"/>
                </a:ext>
              </a:extLst>
            </p:cNvPr>
            <p:cNvSpPr/>
            <p:nvPr/>
          </p:nvSpPr>
          <p:spPr>
            <a:xfrm>
              <a:off x="2827176" y="3429000"/>
              <a:ext cx="1368152" cy="504056"/>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amsungOne 400" panose="020B0503030303020204" pitchFamily="34" charset="0"/>
                  <a:ea typeface="SamsungOne 400" panose="020B0503030303020204" pitchFamily="34" charset="0"/>
                </a:rPr>
                <a:t>60</a:t>
              </a:r>
            </a:p>
          </p:txBody>
        </p:sp>
        <p:sp>
          <p:nvSpPr>
            <p:cNvPr id="66" name="직사각형 65">
              <a:extLst>
                <a:ext uri="{FF2B5EF4-FFF2-40B4-BE49-F238E27FC236}">
                  <a16:creationId xmlns:a16="http://schemas.microsoft.com/office/drawing/2014/main" id="{47A44023-2327-4441-9232-FB30C31A1DA2}"/>
                </a:ext>
              </a:extLst>
            </p:cNvPr>
            <p:cNvSpPr/>
            <p:nvPr/>
          </p:nvSpPr>
          <p:spPr>
            <a:xfrm>
              <a:off x="1459024" y="4388735"/>
              <a:ext cx="576064" cy="5040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amsungOne 400" panose="020B0503030303020204" pitchFamily="34" charset="0"/>
                  <a:ea typeface="SamsungOne 400" panose="020B0503030303020204" pitchFamily="34" charset="0"/>
                </a:rPr>
                <a:t>28</a:t>
              </a:r>
            </a:p>
          </p:txBody>
        </p:sp>
        <p:sp>
          <p:nvSpPr>
            <p:cNvPr id="67" name="직사각형 66">
              <a:extLst>
                <a:ext uri="{FF2B5EF4-FFF2-40B4-BE49-F238E27FC236}">
                  <a16:creationId xmlns:a16="http://schemas.microsoft.com/office/drawing/2014/main" id="{E848432C-9F44-4404-94DB-535396BEC6CB}"/>
                </a:ext>
              </a:extLst>
            </p:cNvPr>
            <p:cNvSpPr/>
            <p:nvPr/>
          </p:nvSpPr>
          <p:spPr>
            <a:xfrm>
              <a:off x="2035088" y="4388735"/>
              <a:ext cx="936104" cy="504056"/>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amsungOne 400" panose="020B0503030303020204" pitchFamily="34" charset="0"/>
                  <a:ea typeface="SamsungOne 400" panose="020B0503030303020204" pitchFamily="34" charset="0"/>
                </a:rPr>
                <a:t>42</a:t>
              </a:r>
            </a:p>
          </p:txBody>
        </p:sp>
        <p:sp>
          <p:nvSpPr>
            <p:cNvPr id="68" name="직사각형 67">
              <a:extLst>
                <a:ext uri="{FF2B5EF4-FFF2-40B4-BE49-F238E27FC236}">
                  <a16:creationId xmlns:a16="http://schemas.microsoft.com/office/drawing/2014/main" id="{335048E0-5AED-4370-9D65-AAFC47F9D90B}"/>
                </a:ext>
              </a:extLst>
            </p:cNvPr>
            <p:cNvSpPr/>
            <p:nvPr/>
          </p:nvSpPr>
          <p:spPr>
            <a:xfrm>
              <a:off x="3475248" y="4388735"/>
              <a:ext cx="432048" cy="5040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amsungOne 400" panose="020B0503030303020204" pitchFamily="34" charset="0"/>
                  <a:ea typeface="SamsungOne 400" panose="020B0503030303020204" pitchFamily="34" charset="0"/>
                </a:rPr>
                <a:t>12</a:t>
              </a:r>
            </a:p>
          </p:txBody>
        </p:sp>
        <p:sp>
          <p:nvSpPr>
            <p:cNvPr id="69" name="직사각형 68">
              <a:extLst>
                <a:ext uri="{FF2B5EF4-FFF2-40B4-BE49-F238E27FC236}">
                  <a16:creationId xmlns:a16="http://schemas.microsoft.com/office/drawing/2014/main" id="{CBDABE0B-58D4-46B9-AA3F-5CD6FEF57AA7}"/>
                </a:ext>
              </a:extLst>
            </p:cNvPr>
            <p:cNvSpPr/>
            <p:nvPr/>
          </p:nvSpPr>
          <p:spPr>
            <a:xfrm>
              <a:off x="3907296" y="4388735"/>
              <a:ext cx="504056" cy="504056"/>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amsungOne 400" panose="020B0503030303020204" pitchFamily="34" charset="0"/>
                  <a:ea typeface="SamsungOne 400" panose="020B0503030303020204" pitchFamily="34" charset="0"/>
                </a:rPr>
                <a:t>18</a:t>
              </a:r>
            </a:p>
          </p:txBody>
        </p:sp>
        <p:cxnSp>
          <p:nvCxnSpPr>
            <p:cNvPr id="70" name="직선 화살표 연결선 69">
              <a:extLst>
                <a:ext uri="{FF2B5EF4-FFF2-40B4-BE49-F238E27FC236}">
                  <a16:creationId xmlns:a16="http://schemas.microsoft.com/office/drawing/2014/main" id="{823DF872-608D-4971-9B92-7F5A99D81F26}"/>
                </a:ext>
              </a:extLst>
            </p:cNvPr>
            <p:cNvCxnSpPr/>
            <p:nvPr/>
          </p:nvCxnSpPr>
          <p:spPr>
            <a:xfrm flipH="1">
              <a:off x="2035088" y="3933056"/>
              <a:ext cx="792088" cy="45567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직선 화살표 연결선 70">
              <a:extLst>
                <a:ext uri="{FF2B5EF4-FFF2-40B4-BE49-F238E27FC236}">
                  <a16:creationId xmlns:a16="http://schemas.microsoft.com/office/drawing/2014/main" id="{B3B50530-2491-4AE1-B10F-FEA139173B4C}"/>
                </a:ext>
              </a:extLst>
            </p:cNvPr>
            <p:cNvCxnSpPr/>
            <p:nvPr/>
          </p:nvCxnSpPr>
          <p:spPr>
            <a:xfrm>
              <a:off x="2827176" y="3933056"/>
              <a:ext cx="1080120" cy="455679"/>
            </a:xfrm>
            <a:prstGeom prst="straightConnector1">
              <a:avLst/>
            </a:prstGeom>
            <a:ln w="28575">
              <a:solidFill>
                <a:srgbClr val="1429A0"/>
              </a:solidFill>
              <a:tailEnd type="triangle"/>
            </a:ln>
          </p:spPr>
          <p:style>
            <a:lnRef idx="1">
              <a:schemeClr val="accent1"/>
            </a:lnRef>
            <a:fillRef idx="0">
              <a:schemeClr val="accent1"/>
            </a:fillRef>
            <a:effectRef idx="0">
              <a:schemeClr val="accent1"/>
            </a:effectRef>
            <a:fontRef idx="minor">
              <a:schemeClr val="tx1"/>
            </a:fontRef>
          </p:style>
        </p:cxnSp>
        <p:sp>
          <p:nvSpPr>
            <p:cNvPr id="72" name="직사각형 71">
              <a:extLst>
                <a:ext uri="{FF2B5EF4-FFF2-40B4-BE49-F238E27FC236}">
                  <a16:creationId xmlns:a16="http://schemas.microsoft.com/office/drawing/2014/main" id="{0FAB0D42-717B-45D3-BDE9-44CB41AB5B7B}"/>
                </a:ext>
              </a:extLst>
            </p:cNvPr>
            <p:cNvSpPr/>
            <p:nvPr/>
          </p:nvSpPr>
          <p:spPr>
            <a:xfrm>
              <a:off x="5779504" y="3429000"/>
              <a:ext cx="936104" cy="5040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amsungOne 400" panose="020B0503030303020204" pitchFamily="34" charset="0"/>
                  <a:ea typeface="SamsungOne 400" panose="020B0503030303020204" pitchFamily="34" charset="0"/>
                </a:rPr>
                <a:t>40</a:t>
              </a:r>
            </a:p>
          </p:txBody>
        </p:sp>
        <p:sp>
          <p:nvSpPr>
            <p:cNvPr id="73" name="직사각형 72">
              <a:extLst>
                <a:ext uri="{FF2B5EF4-FFF2-40B4-BE49-F238E27FC236}">
                  <a16:creationId xmlns:a16="http://schemas.microsoft.com/office/drawing/2014/main" id="{0B5A81AA-13BD-4F4D-805D-DF0CC3F09329}"/>
                </a:ext>
              </a:extLst>
            </p:cNvPr>
            <p:cNvSpPr/>
            <p:nvPr/>
          </p:nvSpPr>
          <p:spPr>
            <a:xfrm>
              <a:off x="6715608" y="3429000"/>
              <a:ext cx="1368152" cy="504056"/>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amsungOne 400" panose="020B0503030303020204" pitchFamily="34" charset="0"/>
                  <a:ea typeface="SamsungOne 400" panose="020B0503030303020204" pitchFamily="34" charset="0"/>
                </a:rPr>
                <a:t>60</a:t>
              </a:r>
            </a:p>
          </p:txBody>
        </p:sp>
        <p:cxnSp>
          <p:nvCxnSpPr>
            <p:cNvPr id="74" name="직선 화살표 연결선 73">
              <a:extLst>
                <a:ext uri="{FF2B5EF4-FFF2-40B4-BE49-F238E27FC236}">
                  <a16:creationId xmlns:a16="http://schemas.microsoft.com/office/drawing/2014/main" id="{23D92F62-0FD8-4B19-BC21-28DE152B5958}"/>
                </a:ext>
              </a:extLst>
            </p:cNvPr>
            <p:cNvCxnSpPr/>
            <p:nvPr/>
          </p:nvCxnSpPr>
          <p:spPr>
            <a:xfrm flipH="1">
              <a:off x="5923520" y="3933056"/>
              <a:ext cx="792088" cy="45567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직선 화살표 연결선 74">
              <a:extLst>
                <a:ext uri="{FF2B5EF4-FFF2-40B4-BE49-F238E27FC236}">
                  <a16:creationId xmlns:a16="http://schemas.microsoft.com/office/drawing/2014/main" id="{A0E30DEA-AFD9-40CC-9DFA-9453E9457C6B}"/>
                </a:ext>
              </a:extLst>
            </p:cNvPr>
            <p:cNvCxnSpPr/>
            <p:nvPr/>
          </p:nvCxnSpPr>
          <p:spPr>
            <a:xfrm>
              <a:off x="6715608" y="3933056"/>
              <a:ext cx="1080120" cy="455679"/>
            </a:xfrm>
            <a:prstGeom prst="straightConnector1">
              <a:avLst/>
            </a:prstGeom>
            <a:ln w="28575">
              <a:solidFill>
                <a:srgbClr val="1429A0"/>
              </a:solidFill>
              <a:tailEnd type="triangle"/>
            </a:ln>
          </p:spPr>
          <p:style>
            <a:lnRef idx="1">
              <a:schemeClr val="accent1"/>
            </a:lnRef>
            <a:fillRef idx="0">
              <a:schemeClr val="accent1"/>
            </a:fillRef>
            <a:effectRef idx="0">
              <a:schemeClr val="accent1"/>
            </a:effectRef>
            <a:fontRef idx="minor">
              <a:schemeClr val="tx1"/>
            </a:fontRef>
          </p:style>
        </p:cxnSp>
        <p:sp>
          <p:nvSpPr>
            <p:cNvPr id="76" name="직사각형 75">
              <a:extLst>
                <a:ext uri="{FF2B5EF4-FFF2-40B4-BE49-F238E27FC236}">
                  <a16:creationId xmlns:a16="http://schemas.microsoft.com/office/drawing/2014/main" id="{BCC5C4E3-4DAA-4558-A36A-A638EB7E8E99}"/>
                </a:ext>
              </a:extLst>
            </p:cNvPr>
            <p:cNvSpPr/>
            <p:nvPr/>
          </p:nvSpPr>
          <p:spPr>
            <a:xfrm>
              <a:off x="5491472" y="4389871"/>
              <a:ext cx="936104" cy="5040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amsungOne 400" panose="020B0503030303020204" pitchFamily="34" charset="0"/>
                  <a:ea typeface="SamsungOne 400" panose="020B0503030303020204" pitchFamily="34" charset="0"/>
                </a:rPr>
                <a:t>40</a:t>
              </a:r>
            </a:p>
          </p:txBody>
        </p:sp>
        <p:sp>
          <p:nvSpPr>
            <p:cNvPr id="77" name="직사각형 76">
              <a:extLst>
                <a:ext uri="{FF2B5EF4-FFF2-40B4-BE49-F238E27FC236}">
                  <a16:creationId xmlns:a16="http://schemas.microsoft.com/office/drawing/2014/main" id="{31BD5BA4-4AE1-41D9-B6EB-3E2E3F878E1A}"/>
                </a:ext>
              </a:extLst>
            </p:cNvPr>
            <p:cNvSpPr/>
            <p:nvPr/>
          </p:nvSpPr>
          <p:spPr>
            <a:xfrm>
              <a:off x="7111652" y="4393679"/>
              <a:ext cx="1368152" cy="504056"/>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amsungOne 400" panose="020B0503030303020204" pitchFamily="34" charset="0"/>
                  <a:ea typeface="SamsungOne 400" panose="020B0503030303020204" pitchFamily="34" charset="0"/>
                </a:rPr>
                <a:t>60</a:t>
              </a:r>
            </a:p>
          </p:txBody>
        </p:sp>
        <p:sp>
          <p:nvSpPr>
            <p:cNvPr id="78" name="TextBox 77">
              <a:extLst>
                <a:ext uri="{FF2B5EF4-FFF2-40B4-BE49-F238E27FC236}">
                  <a16:creationId xmlns:a16="http://schemas.microsoft.com/office/drawing/2014/main" id="{6C1F31C4-892A-489C-A15D-4C96D2374735}"/>
                </a:ext>
              </a:extLst>
            </p:cNvPr>
            <p:cNvSpPr txBox="1"/>
            <p:nvPr/>
          </p:nvSpPr>
          <p:spPr>
            <a:xfrm>
              <a:off x="2040192" y="5179193"/>
              <a:ext cx="1712328" cy="338554"/>
            </a:xfrm>
            <a:prstGeom prst="rect">
              <a:avLst/>
            </a:prstGeom>
            <a:noFill/>
          </p:spPr>
          <p:txBody>
            <a:bodyPr wrap="none" rtlCol="0">
              <a:spAutoFit/>
            </a:bodyPr>
            <a:lstStyle/>
            <a:p>
              <a:r>
                <a:rPr lang="en-US" sz="1600" b="1" dirty="0">
                  <a:latin typeface="SamsungOne 400" panose="020B0503030303020204" pitchFamily="34" charset="0"/>
                  <a:ea typeface="SamsungOne 400" panose="020B0503030303020204" pitchFamily="34" charset="0"/>
                </a:rPr>
                <a:t>No Improvement</a:t>
              </a:r>
            </a:p>
          </p:txBody>
        </p:sp>
        <p:sp>
          <p:nvSpPr>
            <p:cNvPr id="79" name="TextBox 78">
              <a:extLst>
                <a:ext uri="{FF2B5EF4-FFF2-40B4-BE49-F238E27FC236}">
                  <a16:creationId xmlns:a16="http://schemas.microsoft.com/office/drawing/2014/main" id="{97020711-47EF-4E74-94E0-A4328727FB1D}"/>
                </a:ext>
              </a:extLst>
            </p:cNvPr>
            <p:cNvSpPr txBox="1"/>
            <p:nvPr/>
          </p:nvSpPr>
          <p:spPr>
            <a:xfrm>
              <a:off x="6211552" y="5179193"/>
              <a:ext cx="1308371" cy="338554"/>
            </a:xfrm>
            <a:prstGeom prst="rect">
              <a:avLst/>
            </a:prstGeom>
            <a:noFill/>
          </p:spPr>
          <p:txBody>
            <a:bodyPr wrap="none" rtlCol="0">
              <a:spAutoFit/>
            </a:bodyPr>
            <a:lstStyle/>
            <a:p>
              <a:r>
                <a:rPr lang="en-US" sz="1600" b="1" dirty="0">
                  <a:latin typeface="SamsungOne 400" panose="020B0503030303020204" pitchFamily="34" charset="0"/>
                  <a:ea typeface="SamsungOne 400" panose="020B0503030303020204" pitchFamily="34" charset="0"/>
                </a:rPr>
                <a:t>Perfect Split</a:t>
              </a:r>
            </a:p>
          </p:txBody>
        </p:sp>
      </p:grpSp>
      <p:grpSp>
        <p:nvGrpSpPr>
          <p:cNvPr id="26" name="그룹 25">
            <a:extLst>
              <a:ext uri="{FF2B5EF4-FFF2-40B4-BE49-F238E27FC236}">
                <a16:creationId xmlns:a16="http://schemas.microsoft.com/office/drawing/2014/main" id="{089ECEF4-4EC9-4F4C-B866-CAE4F1A0FF2C}"/>
              </a:ext>
            </a:extLst>
          </p:cNvPr>
          <p:cNvGrpSpPr/>
          <p:nvPr/>
        </p:nvGrpSpPr>
        <p:grpSpPr>
          <a:xfrm>
            <a:off x="559817" y="1865258"/>
            <a:ext cx="8783192" cy="215444"/>
            <a:chOff x="559817" y="2136914"/>
            <a:chExt cx="8783192" cy="215444"/>
          </a:xfrm>
        </p:grpSpPr>
        <p:sp>
          <p:nvSpPr>
            <p:cNvPr id="27" name="직사각형 26">
              <a:extLst>
                <a:ext uri="{FF2B5EF4-FFF2-40B4-BE49-F238E27FC236}">
                  <a16:creationId xmlns:a16="http://schemas.microsoft.com/office/drawing/2014/main" id="{20975F4F-01E4-4E66-B3A4-76DB4BC08C39}"/>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28" name="직사각형 27">
              <a:extLst>
                <a:ext uri="{FF2B5EF4-FFF2-40B4-BE49-F238E27FC236}">
                  <a16:creationId xmlns:a16="http://schemas.microsoft.com/office/drawing/2014/main" id="{4F3E3763-F83B-4BC8-943A-B6C87DD38A1B}"/>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buClr>
                  <a:srgbClr val="193EB0"/>
                </a:buClr>
              </a:pPr>
              <a:r>
                <a:rPr lang="en-US" altLang="ko-KR" sz="1400" dirty="0">
                  <a:solidFill>
                    <a:schemeClr val="tx1"/>
                  </a:solidFill>
                  <a:latin typeface="SamsungOne 400" panose="020B0503030303020204" pitchFamily="34" charset="0"/>
                </a:rPr>
                <a:t>Analysis process of a decision tree</a:t>
              </a:r>
              <a:endParaRPr lang="ko-KR" altLang="en-US" sz="1400" dirty="0">
                <a:solidFill>
                  <a:schemeClr val="tx1"/>
                </a:solidFill>
                <a:latin typeface="SamsungOne 400" panose="020B0503030303020204" pitchFamily="34" charset="0"/>
              </a:endParaRPr>
            </a:p>
          </p:txBody>
        </p:sp>
      </p:grpSp>
      <p:sp>
        <p:nvSpPr>
          <p:cNvPr id="29" name="직사각형 28">
            <a:extLst>
              <a:ext uri="{FF2B5EF4-FFF2-40B4-BE49-F238E27FC236}">
                <a16:creationId xmlns:a16="http://schemas.microsoft.com/office/drawing/2014/main" id="{598D4A76-E9DF-4AB4-8E2E-543743F3CC94}"/>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2400" dirty="0">
                <a:solidFill>
                  <a:schemeClr val="tx1">
                    <a:lumMod val="95000"/>
                    <a:lumOff val="5000"/>
                  </a:schemeClr>
                </a:solidFill>
                <a:latin typeface="Samsung Sharp Sans" pitchFamily="2" charset="0"/>
                <a:cs typeface="Samsung Sharp Sans" pitchFamily="2" charset="0"/>
              </a:rPr>
              <a:t>Split Criterion of the Decision Tree</a:t>
            </a:r>
            <a:endParaRPr lang="ko-KR" altLang="en-US" sz="2400" dirty="0">
              <a:solidFill>
                <a:schemeClr val="tx1">
                  <a:lumMod val="95000"/>
                  <a:lumOff val="5000"/>
                </a:schemeClr>
              </a:solidFill>
              <a:latin typeface="Samsung Sharp Sans" pitchFamily="2" charset="0"/>
              <a:cs typeface="Samsung Sharp Sans" pitchFamily="2" charset="0"/>
            </a:endParaRPr>
          </a:p>
        </p:txBody>
      </p:sp>
      <p:sp>
        <p:nvSpPr>
          <p:cNvPr id="33" name="직사각형 32">
            <a:extLst>
              <a:ext uri="{FF2B5EF4-FFF2-40B4-BE49-F238E27FC236}">
                <a16:creationId xmlns:a16="http://schemas.microsoft.com/office/drawing/2014/main" id="{1F84AE85-D406-44C5-AF67-923B7CCA8E4E}"/>
              </a:ext>
            </a:extLst>
          </p:cNvPr>
          <p:cNvSpPr/>
          <p:nvPr/>
        </p:nvSpPr>
        <p:spPr>
          <a:xfrm>
            <a:off x="725856" y="2112244"/>
            <a:ext cx="8742144"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rPr>
              <a:t>Repetitive splitting</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Repetitive splitting of the dimensional space of independent variables using training data</a:t>
            </a:r>
            <a:endParaRPr lang="ko-KR" altLang="en-US" sz="1300" dirty="0">
              <a:solidFill>
                <a:prstClr val="black">
                  <a:lumMod val="85000"/>
                  <a:lumOff val="15000"/>
                </a:prstClr>
              </a:solidFill>
              <a:latin typeface="SamsungOne 400" panose="020B0503030303020204" pitchFamily="34" charset="0"/>
            </a:endParaRPr>
          </a:p>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Branching: </a:t>
            </a:r>
            <a:r>
              <a:rPr lang="en-US" altLang="ko-KR" sz="1300" dirty="0">
                <a:solidFill>
                  <a:prstClr val="black">
                    <a:lumMod val="85000"/>
                    <a:lumOff val="15000"/>
                  </a:prstClr>
                </a:solidFill>
                <a:latin typeface="SamsungOne 400" panose="020B0503030303020204" pitchFamily="34" charset="0"/>
              </a:rPr>
              <a:t>Branching with evaluation data</a:t>
            </a:r>
            <a:endParaRPr lang="ko-KR" altLang="en-US" sz="1300" dirty="0">
              <a:solidFill>
                <a:prstClr val="black">
                  <a:lumMod val="85000"/>
                  <a:lumOff val="15000"/>
                </a:prstClr>
              </a:solidFill>
              <a:latin typeface="SamsungOne 400" panose="020B0503030303020204" pitchFamily="34" charset="0"/>
            </a:endParaRPr>
          </a:p>
        </p:txBody>
      </p:sp>
      <p:grpSp>
        <p:nvGrpSpPr>
          <p:cNvPr id="34" name="그룹 33">
            <a:extLst>
              <a:ext uri="{FF2B5EF4-FFF2-40B4-BE49-F238E27FC236}">
                <a16:creationId xmlns:a16="http://schemas.microsoft.com/office/drawing/2014/main" id="{31EE7DA7-BB26-45DC-BE87-788912A25D4F}"/>
              </a:ext>
            </a:extLst>
          </p:cNvPr>
          <p:cNvGrpSpPr/>
          <p:nvPr/>
        </p:nvGrpSpPr>
        <p:grpSpPr>
          <a:xfrm>
            <a:off x="574217" y="2896171"/>
            <a:ext cx="8783192" cy="215444"/>
            <a:chOff x="559817" y="2136914"/>
            <a:chExt cx="8783192" cy="215444"/>
          </a:xfrm>
        </p:grpSpPr>
        <p:sp>
          <p:nvSpPr>
            <p:cNvPr id="35" name="직사각형 34">
              <a:extLst>
                <a:ext uri="{FF2B5EF4-FFF2-40B4-BE49-F238E27FC236}">
                  <a16:creationId xmlns:a16="http://schemas.microsoft.com/office/drawing/2014/main" id="{86A36867-B262-45A1-BD4A-F6FD9FC19B32}"/>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6" name="직사각형 35">
              <a:extLst>
                <a:ext uri="{FF2B5EF4-FFF2-40B4-BE49-F238E27FC236}">
                  <a16:creationId xmlns:a16="http://schemas.microsoft.com/office/drawing/2014/main" id="{B09CFD69-0E53-4DFA-A50E-C49D0B7EA9A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buClr>
                  <a:srgbClr val="193EB0"/>
                </a:buClr>
              </a:pPr>
              <a:r>
                <a:rPr lang="en-US" altLang="ko-KR" sz="1400" dirty="0">
                  <a:solidFill>
                    <a:schemeClr val="tx1"/>
                  </a:solidFill>
                  <a:latin typeface="SamsungOne 400" panose="020B0503030303020204" pitchFamily="34" charset="0"/>
                </a:rPr>
                <a:t>Split criterion</a:t>
              </a:r>
              <a:endParaRPr lang="ko-KR" altLang="en-US" sz="1400" dirty="0">
                <a:solidFill>
                  <a:schemeClr val="tx1"/>
                </a:solidFill>
                <a:latin typeface="SamsungOne 400" panose="020B0503030303020204" pitchFamily="34" charset="0"/>
              </a:endParaRPr>
            </a:p>
          </p:txBody>
        </p:sp>
      </p:grpSp>
      <p:sp>
        <p:nvSpPr>
          <p:cNvPr id="37" name="직사각형 36">
            <a:extLst>
              <a:ext uri="{FF2B5EF4-FFF2-40B4-BE49-F238E27FC236}">
                <a16:creationId xmlns:a16="http://schemas.microsoft.com/office/drawing/2014/main" id="{9C673723-64DA-42E3-811C-763A31EC4183}"/>
              </a:ext>
            </a:extLst>
          </p:cNvPr>
          <p:cNvSpPr/>
          <p:nvPr/>
        </p:nvSpPr>
        <p:spPr>
          <a:xfrm>
            <a:off x="740256" y="3143157"/>
            <a:ext cx="874214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rPr>
              <a:t>Create the classification tree so that the purity of the child node is greater than that of the parent node.</a:t>
            </a:r>
          </a:p>
        </p:txBody>
      </p:sp>
    </p:spTree>
    <p:extLst>
      <p:ext uri="{BB962C8B-B14F-4D97-AF65-F5344CB8AC3E}">
        <p14:creationId xmlns:p14="http://schemas.microsoft.com/office/powerpoint/2010/main" val="333433524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00" name="직사각형 199">
            <a:extLst>
              <a:ext uri="{FF2B5EF4-FFF2-40B4-BE49-F238E27FC236}">
                <a16:creationId xmlns:a16="http://schemas.microsoft.com/office/drawing/2014/main" id="{1ACF2BF2-E48B-4341-BB04-F6BAF8F6D564}"/>
              </a:ext>
            </a:extLst>
          </p:cNvPr>
          <p:cNvSpPr/>
          <p:nvPr/>
        </p:nvSpPr>
        <p:spPr>
          <a:xfrm>
            <a:off x="751428" y="2186382"/>
            <a:ext cx="8604385" cy="125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rPr>
              <a:t>Divide the entire space into rectangles</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and</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make</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each</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as</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pure</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or</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homogeneous</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as</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possible.</a:t>
            </a:r>
          </a:p>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rPr>
              <a:t>Definition of </a:t>
            </a:r>
            <a:r>
              <a:rPr lang="ko-KR" altLang="en-US" sz="1300" dirty="0">
                <a:solidFill>
                  <a:prstClr val="black">
                    <a:lumMod val="85000"/>
                    <a:lumOff val="15000"/>
                  </a:prstClr>
                </a:solidFill>
                <a:latin typeface="SamsungOne 400" panose="020B0503030303020204" pitchFamily="34" charset="0"/>
              </a:rPr>
              <a:t>‘</a:t>
            </a:r>
            <a:r>
              <a:rPr lang="en-US" altLang="ko-KR" sz="1300" dirty="0">
                <a:solidFill>
                  <a:prstClr val="black">
                    <a:lumMod val="85000"/>
                    <a:lumOff val="15000"/>
                  </a:prstClr>
                </a:solidFill>
                <a:latin typeface="SamsungOne 400" panose="020B0503030303020204" pitchFamily="34" charset="0"/>
              </a:rPr>
              <a:t>pure</a:t>
            </a:r>
            <a:r>
              <a:rPr lang="ko-KR" altLang="en-US" sz="1300" dirty="0">
                <a:solidFill>
                  <a:prstClr val="black">
                    <a:lumMod val="85000"/>
                    <a:lumOff val="15000"/>
                  </a:prstClr>
                </a:solidFill>
                <a:latin typeface="SamsungOne 400" panose="020B0503030303020204" pitchFamily="34" charset="0"/>
              </a:rPr>
              <a:t>’</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p>
          <a:p>
            <a:pPr marL="404813" lvl="2" indent="-2190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Divide the area into pure or homogenous rectangular spaces as much as possible </a:t>
            </a:r>
          </a:p>
          <a:p>
            <a:pPr marL="404813" lvl="2" indent="-2190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All variables in the final rectangle belong to the same group.</a:t>
            </a:r>
          </a:p>
        </p:txBody>
      </p:sp>
      <p:grpSp>
        <p:nvGrpSpPr>
          <p:cNvPr id="15" name="그룹 14">
            <a:extLst>
              <a:ext uri="{FF2B5EF4-FFF2-40B4-BE49-F238E27FC236}">
                <a16:creationId xmlns:a16="http://schemas.microsoft.com/office/drawing/2014/main" id="{E1F621F7-F9EB-4C39-BDA8-66816FF0923A}"/>
              </a:ext>
            </a:extLst>
          </p:cNvPr>
          <p:cNvGrpSpPr/>
          <p:nvPr/>
        </p:nvGrpSpPr>
        <p:grpSpPr>
          <a:xfrm>
            <a:off x="572621" y="1916832"/>
            <a:ext cx="8783192" cy="215444"/>
            <a:chOff x="559817" y="2136914"/>
            <a:chExt cx="8783192" cy="215444"/>
          </a:xfrm>
        </p:grpSpPr>
        <p:sp>
          <p:nvSpPr>
            <p:cNvPr id="16" name="직사각형 15">
              <a:extLst>
                <a:ext uri="{FF2B5EF4-FFF2-40B4-BE49-F238E27FC236}">
                  <a16:creationId xmlns:a16="http://schemas.microsoft.com/office/drawing/2014/main" id="{52268CE1-4A70-4F45-8654-EA7F7ACB1934}"/>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17" name="직사각형 16">
              <a:extLst>
                <a:ext uri="{FF2B5EF4-FFF2-40B4-BE49-F238E27FC236}">
                  <a16:creationId xmlns:a16="http://schemas.microsoft.com/office/drawing/2014/main" id="{28525C3A-880A-4143-87EF-FD2D6D57B0C1}"/>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800"/>
                </a:spcAft>
                <a:buClr>
                  <a:srgbClr val="193EB0"/>
                </a:buClr>
              </a:pPr>
              <a:r>
                <a:rPr lang="en-US" altLang="ko-KR" sz="1400" dirty="0">
                  <a:solidFill>
                    <a:schemeClr val="tx1"/>
                  </a:solidFill>
                  <a:latin typeface="SamsungOne 400" panose="020B0503030303020204" pitchFamily="34" charset="0"/>
                  <a:ea typeface="SamsungOne 400" panose="020B0503030303020204" pitchFamily="34" charset="0"/>
                </a:rPr>
                <a:t>Purpose</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sp>
        <p:nvSpPr>
          <p:cNvPr id="18" name="직사각형 17">
            <a:extLst>
              <a:ext uri="{FF2B5EF4-FFF2-40B4-BE49-F238E27FC236}">
                <a16:creationId xmlns:a16="http://schemas.microsoft.com/office/drawing/2014/main" id="{94BA6008-33AA-451B-AA0D-42508492D74F}"/>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2400" dirty="0">
                <a:solidFill>
                  <a:schemeClr val="tx1">
                    <a:lumMod val="95000"/>
                    <a:lumOff val="5000"/>
                  </a:schemeClr>
                </a:solidFill>
                <a:latin typeface="Samsung Sharp Sans" pitchFamily="2" charset="0"/>
                <a:cs typeface="Samsung Sharp Sans" pitchFamily="2" charset="0"/>
              </a:rPr>
              <a:t>Repetitive splitting process</a:t>
            </a:r>
            <a:endParaRPr lang="ko-KR" altLang="en-US" sz="2400" dirty="0">
              <a:solidFill>
                <a:schemeClr val="tx1">
                  <a:lumMod val="95000"/>
                  <a:lumOff val="5000"/>
                </a:schemeClr>
              </a:solidFill>
              <a:latin typeface="Samsung Sharp Sans" pitchFamily="2" charset="0"/>
              <a:cs typeface="Samsung Sharp Sans" pitchFamily="2" charset="0"/>
            </a:endParaRPr>
          </a:p>
        </p:txBody>
      </p:sp>
      <p:grpSp>
        <p:nvGrpSpPr>
          <p:cNvPr id="10" name="그룹 9"/>
          <p:cNvGrpSpPr/>
          <p:nvPr/>
        </p:nvGrpSpPr>
        <p:grpSpPr>
          <a:xfrm>
            <a:off x="3120546" y="3435493"/>
            <a:ext cx="6100318" cy="2970059"/>
            <a:chOff x="1106098" y="3020553"/>
            <a:chExt cx="6587359" cy="3207184"/>
          </a:xfrm>
        </p:grpSpPr>
        <p:grpSp>
          <p:nvGrpSpPr>
            <p:cNvPr id="8" name="그룹 7"/>
            <p:cNvGrpSpPr/>
            <p:nvPr/>
          </p:nvGrpSpPr>
          <p:grpSpPr>
            <a:xfrm>
              <a:off x="6848852" y="4227710"/>
              <a:ext cx="844605" cy="338554"/>
              <a:chOff x="7012703" y="4308774"/>
              <a:chExt cx="844605" cy="338554"/>
            </a:xfrm>
          </p:grpSpPr>
          <p:pic>
            <p:nvPicPr>
              <p:cNvPr id="26" name="Picture 2">
                <a:extLst>
                  <a:ext uri="{FF2B5EF4-FFF2-40B4-BE49-F238E27FC236}">
                    <a16:creationId xmlns:a16="http://schemas.microsoft.com/office/drawing/2014/main" id="{75B56C09-66C4-4C88-925E-4CA13A93049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6021" t="38572" r="11672" b="52036"/>
              <a:stretch/>
            </p:blipFill>
            <p:spPr bwMode="auto">
              <a:xfrm>
                <a:off x="7012703" y="4308774"/>
                <a:ext cx="139284" cy="3174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3" name="TextBox 32">
                <a:extLst>
                  <a:ext uri="{FF2B5EF4-FFF2-40B4-BE49-F238E27FC236}">
                    <a16:creationId xmlns:a16="http://schemas.microsoft.com/office/drawing/2014/main" id="{6EE54D84-447D-4D53-ACCF-13D09E1D8545}"/>
                  </a:ext>
                </a:extLst>
              </p:cNvPr>
              <p:cNvSpPr txBox="1"/>
              <p:nvPr/>
            </p:nvSpPr>
            <p:spPr>
              <a:xfrm>
                <a:off x="7151987" y="4308774"/>
                <a:ext cx="705321" cy="338554"/>
              </a:xfrm>
              <a:prstGeom prst="rect">
                <a:avLst/>
              </a:prstGeom>
              <a:solidFill>
                <a:schemeClr val="bg1"/>
              </a:solidFill>
            </p:spPr>
            <p:txBody>
              <a:bodyPr wrap="none" lIns="0" tIns="0" rIns="0" bIns="0" rtlCol="0">
                <a:spAutoFit/>
              </a:bodyPr>
              <a:lstStyle/>
              <a:p>
                <a:r>
                  <a:rPr lang="en-US" altLang="ko-KR" sz="1100" dirty="0">
                    <a:latin typeface="SamsungOne 400" panose="020B0503030303020204" pitchFamily="34" charset="0"/>
                    <a:ea typeface="SamsungOne 400" panose="020B0503030303020204" pitchFamily="34" charset="0"/>
                  </a:rPr>
                  <a:t>Owner</a:t>
                </a:r>
              </a:p>
              <a:p>
                <a:r>
                  <a:rPr lang="en-US" sz="1100" dirty="0">
                    <a:latin typeface="SamsungOne 400" panose="020B0503030303020204" pitchFamily="34" charset="0"/>
                    <a:ea typeface="SamsungOne 400" panose="020B0503030303020204" pitchFamily="34" charset="0"/>
                  </a:rPr>
                  <a:t>Non-owner</a:t>
                </a:r>
              </a:p>
            </p:txBody>
          </p:sp>
        </p:grpSp>
        <p:grpSp>
          <p:nvGrpSpPr>
            <p:cNvPr id="7" name="그룹 6"/>
            <p:cNvGrpSpPr/>
            <p:nvPr/>
          </p:nvGrpSpPr>
          <p:grpSpPr>
            <a:xfrm>
              <a:off x="1106098" y="3020553"/>
              <a:ext cx="5753007" cy="3207184"/>
              <a:chOff x="1106098" y="3020553"/>
              <a:chExt cx="5753007" cy="3207184"/>
            </a:xfrm>
          </p:grpSpPr>
          <p:pic>
            <p:nvPicPr>
              <p:cNvPr id="27" name="Picture 5">
                <a:extLst>
                  <a:ext uri="{FF2B5EF4-FFF2-40B4-BE49-F238E27FC236}">
                    <a16:creationId xmlns:a16="http://schemas.microsoft.com/office/drawing/2014/main" id="{469B4D1A-C29B-4A13-8F56-0B606996AE6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375" t="6230" r="4739" b="18674"/>
              <a:stretch/>
            </p:blipFill>
            <p:spPr bwMode="auto">
              <a:xfrm>
                <a:off x="3367235" y="3176972"/>
                <a:ext cx="3240361" cy="24122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9EF76AC-C40F-4228-B693-DF8308B260FC}"/>
                      </a:ext>
                    </a:extLst>
                  </p:cNvPr>
                  <p:cNvSpPr txBox="1"/>
                  <p:nvPr/>
                </p:nvSpPr>
                <p:spPr>
                  <a:xfrm>
                    <a:off x="1106098" y="5126026"/>
                    <a:ext cx="1890581" cy="498524"/>
                  </a:xfrm>
                  <a:prstGeom prst="rect">
                    <a:avLst/>
                  </a:prstGeom>
                  <a:solidFill>
                    <a:schemeClr val="bg1"/>
                  </a:solidFill>
                </p:spPr>
                <p:txBody>
                  <a:bodyPr wrap="none" rtlCol="0">
                    <a:spAutoFit/>
                  </a:bodyPr>
                  <a:lstStyle/>
                  <a:p>
                    <a:pPr algn="ctr"/>
                    <a:r>
                      <a:rPr lang="en-US" altLang="ko-KR" sz="1200" dirty="0">
                        <a:latin typeface="SamsungOne 400" panose="020B0503030303020204" pitchFamily="34" charset="0"/>
                        <a:ea typeface="SamsungOne 400" panose="020B0503030303020204" pitchFamily="34" charset="0"/>
                      </a:rPr>
                      <a:t>Size of the housing site</a:t>
                    </a:r>
                    <a:br>
                      <a:rPr lang="en-US" altLang="ko-KR" sz="1200" dirty="0">
                        <a:latin typeface="SamsungOne 400" panose="020B0503030303020204" pitchFamily="34" charset="0"/>
                        <a:ea typeface="SamsungOne 400" panose="020B0503030303020204" pitchFamily="34" charset="0"/>
                      </a:rPr>
                    </a:br>
                    <a:r>
                      <a:rPr lang="en-US" altLang="ko-KR" sz="1200" dirty="0">
                        <a:latin typeface="SamsungOne 400" panose="020B0503030303020204" pitchFamily="34" charset="0"/>
                        <a:ea typeface="SamsungOne 400" panose="020B0503030303020204" pitchFamily="34" charset="0"/>
                      </a:rPr>
                      <a:t>(1,000 </a:t>
                    </a:r>
                    <a14:m>
                      <m:oMath xmlns:m="http://schemas.openxmlformats.org/officeDocument/2006/math">
                        <m:sSup>
                          <m:sSupPr>
                            <m:ctrlPr>
                              <a:rPr lang="en-US" altLang="ko-KR" sz="1200" i="1" smtClean="0">
                                <a:latin typeface="Cambria Math" panose="02040503050406030204" pitchFamily="18" charset="0"/>
                                <a:ea typeface="SamsungOne 400" panose="020B0503030303020204" pitchFamily="34" charset="0"/>
                              </a:rPr>
                            </m:ctrlPr>
                          </m:sSupPr>
                          <m:e>
                            <m:r>
                              <a:rPr lang="en-US" altLang="ko-KR" sz="1200" b="0" i="1" smtClean="0">
                                <a:latin typeface="Cambria Math" panose="02040503050406030204" pitchFamily="18" charset="0"/>
                                <a:ea typeface="SamsungOne 400" panose="020B0503030303020204" pitchFamily="34" charset="0"/>
                              </a:rPr>
                              <m:t>𝑓𝑡</m:t>
                            </m:r>
                          </m:e>
                          <m:sup>
                            <m:r>
                              <a:rPr lang="en-US" altLang="ko-KR" sz="1200" b="0" i="1" smtClean="0">
                                <a:latin typeface="Cambria Math" panose="02040503050406030204" pitchFamily="18" charset="0"/>
                                <a:ea typeface="SamsungOne 400" panose="020B0503030303020204" pitchFamily="34" charset="0"/>
                              </a:rPr>
                              <m:t>2</m:t>
                            </m:r>
                          </m:sup>
                        </m:sSup>
                      </m:oMath>
                    </a14:m>
                    <a:r>
                      <a:rPr lang="en-US" altLang="ko-KR" sz="1200" dirty="0">
                        <a:latin typeface="SamsungOne 400" panose="020B0503030303020204" pitchFamily="34" charset="0"/>
                        <a:ea typeface="SamsungOne 400" panose="020B0503030303020204" pitchFamily="34" charset="0"/>
                      </a:rPr>
                      <a:t>)</a:t>
                    </a:r>
                    <a:endParaRPr lang="en-US" sz="1200" dirty="0">
                      <a:latin typeface="SamsungOne 400" panose="020B0503030303020204" pitchFamily="34" charset="0"/>
                      <a:ea typeface="SamsungOne 400" panose="020B0503030303020204" pitchFamily="34" charset="0"/>
                    </a:endParaRPr>
                  </a:p>
                </p:txBody>
              </p:sp>
            </mc:Choice>
            <mc:Fallback xmlns="">
              <p:sp>
                <p:nvSpPr>
                  <p:cNvPr id="28" name="TextBox 27">
                    <a:extLst>
                      <a:ext uri="{FF2B5EF4-FFF2-40B4-BE49-F238E27FC236}">
                        <a16:creationId xmlns:a16="http://schemas.microsoft.com/office/drawing/2014/main" xmlns="" id="{39EF76AC-C40F-4228-B693-DF8308B260FC}"/>
                      </a:ext>
                    </a:extLst>
                  </p:cNvPr>
                  <p:cNvSpPr txBox="1">
                    <a:spLocks noRot="1" noChangeAspect="1" noMove="1" noResize="1" noEditPoints="1" noAdjustHandles="1" noChangeArrowheads="1" noChangeShapeType="1" noTextEdit="1"/>
                  </p:cNvSpPr>
                  <p:nvPr/>
                </p:nvSpPr>
                <p:spPr>
                  <a:xfrm>
                    <a:off x="1106098" y="5126026"/>
                    <a:ext cx="1890581" cy="498524"/>
                  </a:xfrm>
                  <a:prstGeom prst="rect">
                    <a:avLst/>
                  </a:prstGeom>
                  <a:blipFill rotWithShape="0">
                    <a:blip r:embed="rId5"/>
                    <a:stretch>
                      <a:fillRect t="-1316" b="-7895"/>
                    </a:stretch>
                  </a:blipFill>
                </p:spPr>
                <p:txBody>
                  <a:bodyPr/>
                  <a:lstStyle/>
                  <a:p>
                    <a:r>
                      <a:rPr lang="ko-KR" altLang="en-US">
                        <a:noFill/>
                      </a:rPr>
                      <a:t> </a:t>
                    </a:r>
                  </a:p>
                </p:txBody>
              </p:sp>
            </mc:Fallback>
          </mc:AlternateContent>
          <p:sp>
            <p:nvSpPr>
              <p:cNvPr id="29" name="TextBox 28">
                <a:extLst>
                  <a:ext uri="{FF2B5EF4-FFF2-40B4-BE49-F238E27FC236}">
                    <a16:creationId xmlns:a16="http://schemas.microsoft.com/office/drawing/2014/main" id="{8496B627-E31D-4DF8-95DE-CBBAB1EB1CA7}"/>
                  </a:ext>
                </a:extLst>
              </p:cNvPr>
              <p:cNvSpPr txBox="1"/>
              <p:nvPr/>
            </p:nvSpPr>
            <p:spPr>
              <a:xfrm>
                <a:off x="4285065" y="5950738"/>
                <a:ext cx="1430520" cy="276999"/>
              </a:xfrm>
              <a:prstGeom prst="rect">
                <a:avLst/>
              </a:prstGeom>
              <a:solidFill>
                <a:schemeClr val="bg1"/>
              </a:solidFill>
            </p:spPr>
            <p:txBody>
              <a:bodyPr wrap="none" rtlCol="0">
                <a:spAutoFit/>
              </a:bodyPr>
              <a:lstStyle/>
              <a:p>
                <a:pPr algn="ctr"/>
                <a:r>
                  <a:rPr lang="en-US" altLang="ko-KR" sz="1200" dirty="0">
                    <a:latin typeface="SamsungOne 400" panose="020B0503030303020204" pitchFamily="34" charset="0"/>
                    <a:ea typeface="SamsungOne 400" panose="020B0503030303020204" pitchFamily="34" charset="0"/>
                  </a:rPr>
                  <a:t>Income (1,000 USD)</a:t>
                </a:r>
                <a:endParaRPr lang="en-US" sz="1200" dirty="0">
                  <a:latin typeface="SamsungOne 400" panose="020B0503030303020204" pitchFamily="34" charset="0"/>
                  <a:ea typeface="SamsungOne 400" panose="020B0503030303020204" pitchFamily="34" charset="0"/>
                </a:endParaRPr>
              </a:p>
            </p:txBody>
          </p:sp>
          <p:grpSp>
            <p:nvGrpSpPr>
              <p:cNvPr id="5" name="그룹 4"/>
              <p:cNvGrpSpPr/>
              <p:nvPr/>
            </p:nvGrpSpPr>
            <p:grpSpPr>
              <a:xfrm>
                <a:off x="2983409" y="3020553"/>
                <a:ext cx="335348" cy="2736075"/>
                <a:chOff x="2983409" y="3020553"/>
                <a:chExt cx="335348" cy="2736075"/>
              </a:xfrm>
            </p:grpSpPr>
            <p:sp>
              <p:nvSpPr>
                <p:cNvPr id="4" name="TextBox 3"/>
                <p:cNvSpPr txBox="1"/>
                <p:nvPr/>
              </p:nvSpPr>
              <p:spPr>
                <a:xfrm>
                  <a:off x="2985012" y="3020553"/>
                  <a:ext cx="333745" cy="261610"/>
                </a:xfrm>
                <a:prstGeom prst="rect">
                  <a:avLst/>
                </a:prstGeom>
                <a:solidFill>
                  <a:schemeClr val="bg1"/>
                </a:solidFill>
              </p:spPr>
              <p:txBody>
                <a:bodyPr wrap="none" rtlCol="0">
                  <a:spAutoFit/>
                </a:bodyPr>
                <a:lstStyle/>
                <a:p>
                  <a:pPr algn="r"/>
                  <a:r>
                    <a:rPr lang="en-US" altLang="ko-KR" sz="1100" b="1" dirty="0">
                      <a:latin typeface="SamsungOne 400" panose="020B0503030303020204" pitchFamily="34" charset="0"/>
                      <a:ea typeface="SamsungOne 400" panose="020B0503030303020204" pitchFamily="34" charset="0"/>
                    </a:rPr>
                    <a:t>25</a:t>
                  </a:r>
                  <a:endParaRPr lang="ko-KR" altLang="en-US" sz="1100" b="1" dirty="0">
                    <a:latin typeface="SamsungOne 400" panose="020B0503030303020204" pitchFamily="34" charset="0"/>
                    <a:ea typeface="SamsungOne 400" panose="020B0503030303020204" pitchFamily="34" charset="0"/>
                  </a:endParaRPr>
                </a:p>
              </p:txBody>
            </p:sp>
            <p:sp>
              <p:nvSpPr>
                <p:cNvPr id="19" name="TextBox 18"/>
                <p:cNvSpPr txBox="1"/>
                <p:nvPr/>
              </p:nvSpPr>
              <p:spPr>
                <a:xfrm>
                  <a:off x="2983409" y="3421660"/>
                  <a:ext cx="335348" cy="261610"/>
                </a:xfrm>
                <a:prstGeom prst="rect">
                  <a:avLst/>
                </a:prstGeom>
                <a:solidFill>
                  <a:schemeClr val="bg1"/>
                </a:solidFill>
              </p:spPr>
              <p:txBody>
                <a:bodyPr wrap="none" rtlCol="0">
                  <a:spAutoFit/>
                </a:bodyPr>
                <a:lstStyle/>
                <a:p>
                  <a:pPr algn="r"/>
                  <a:r>
                    <a:rPr lang="en-US" altLang="ko-KR" sz="1100" b="1" dirty="0">
                      <a:latin typeface="SamsungOne 400" panose="020B0503030303020204" pitchFamily="34" charset="0"/>
                      <a:ea typeface="SamsungOne 400" panose="020B0503030303020204" pitchFamily="34" charset="0"/>
                    </a:rPr>
                    <a:t>23</a:t>
                  </a:r>
                  <a:endParaRPr lang="ko-KR" altLang="en-US" sz="1100" b="1" dirty="0">
                    <a:latin typeface="SamsungOne 400" panose="020B0503030303020204" pitchFamily="34" charset="0"/>
                    <a:ea typeface="SamsungOne 400" panose="020B0503030303020204" pitchFamily="34" charset="0"/>
                  </a:endParaRPr>
                </a:p>
              </p:txBody>
            </p:sp>
            <p:sp>
              <p:nvSpPr>
                <p:cNvPr id="20" name="TextBox 19"/>
                <p:cNvSpPr txBox="1"/>
                <p:nvPr/>
              </p:nvSpPr>
              <p:spPr>
                <a:xfrm>
                  <a:off x="2997836" y="3822767"/>
                  <a:ext cx="320921" cy="261610"/>
                </a:xfrm>
                <a:prstGeom prst="rect">
                  <a:avLst/>
                </a:prstGeom>
                <a:solidFill>
                  <a:schemeClr val="bg1"/>
                </a:solidFill>
              </p:spPr>
              <p:txBody>
                <a:bodyPr wrap="none" rtlCol="0">
                  <a:spAutoFit/>
                </a:bodyPr>
                <a:lstStyle/>
                <a:p>
                  <a:pPr algn="r"/>
                  <a:r>
                    <a:rPr lang="en-US" altLang="ko-KR" sz="1100" b="1" dirty="0">
                      <a:latin typeface="SamsungOne 400" panose="020B0503030303020204" pitchFamily="34" charset="0"/>
                      <a:ea typeface="SamsungOne 400" panose="020B0503030303020204" pitchFamily="34" charset="0"/>
                    </a:rPr>
                    <a:t>21</a:t>
                  </a:r>
                  <a:endParaRPr lang="ko-KR" altLang="en-US" sz="1100" b="1" dirty="0">
                    <a:latin typeface="SamsungOne 400" panose="020B0503030303020204" pitchFamily="34" charset="0"/>
                    <a:ea typeface="SamsungOne 400" panose="020B0503030303020204" pitchFamily="34" charset="0"/>
                  </a:endParaRPr>
                </a:p>
              </p:txBody>
            </p:sp>
            <p:sp>
              <p:nvSpPr>
                <p:cNvPr id="22" name="TextBox 21"/>
                <p:cNvSpPr txBox="1"/>
                <p:nvPr/>
              </p:nvSpPr>
              <p:spPr>
                <a:xfrm>
                  <a:off x="2994629" y="4267433"/>
                  <a:ext cx="324128" cy="261610"/>
                </a:xfrm>
                <a:prstGeom prst="rect">
                  <a:avLst/>
                </a:prstGeom>
                <a:solidFill>
                  <a:schemeClr val="bg1"/>
                </a:solidFill>
              </p:spPr>
              <p:txBody>
                <a:bodyPr wrap="none" rtlCol="0">
                  <a:spAutoFit/>
                </a:bodyPr>
                <a:lstStyle/>
                <a:p>
                  <a:pPr algn="r"/>
                  <a:r>
                    <a:rPr lang="en-US" altLang="ko-KR" sz="1100" b="1" dirty="0">
                      <a:latin typeface="SamsungOne 400" panose="020B0503030303020204" pitchFamily="34" charset="0"/>
                      <a:ea typeface="SamsungOne 400" panose="020B0503030303020204" pitchFamily="34" charset="0"/>
                    </a:rPr>
                    <a:t>19</a:t>
                  </a:r>
                  <a:endParaRPr lang="ko-KR" altLang="en-US" sz="1100" b="1" dirty="0">
                    <a:latin typeface="SamsungOne 400" panose="020B0503030303020204" pitchFamily="34" charset="0"/>
                    <a:ea typeface="SamsungOne 400" panose="020B0503030303020204" pitchFamily="34" charset="0"/>
                  </a:endParaRPr>
                </a:p>
              </p:txBody>
            </p:sp>
            <p:sp>
              <p:nvSpPr>
                <p:cNvPr id="30" name="TextBox 29"/>
                <p:cNvSpPr txBox="1"/>
                <p:nvPr/>
              </p:nvSpPr>
              <p:spPr>
                <a:xfrm>
                  <a:off x="3004247" y="4712099"/>
                  <a:ext cx="314510" cy="261610"/>
                </a:xfrm>
                <a:prstGeom prst="rect">
                  <a:avLst/>
                </a:prstGeom>
                <a:solidFill>
                  <a:schemeClr val="bg1"/>
                </a:solidFill>
              </p:spPr>
              <p:txBody>
                <a:bodyPr wrap="none" rtlCol="0">
                  <a:spAutoFit/>
                </a:bodyPr>
                <a:lstStyle/>
                <a:p>
                  <a:pPr algn="r"/>
                  <a:r>
                    <a:rPr lang="en-US" altLang="ko-KR" sz="1100" b="1" dirty="0">
                      <a:latin typeface="SamsungOne 400" panose="020B0503030303020204" pitchFamily="34" charset="0"/>
                      <a:ea typeface="SamsungOne 400" panose="020B0503030303020204" pitchFamily="34" charset="0"/>
                    </a:rPr>
                    <a:t>17</a:t>
                  </a:r>
                  <a:endParaRPr lang="ko-KR" altLang="en-US" sz="1100" b="1" dirty="0">
                    <a:latin typeface="SamsungOne 400" panose="020B0503030303020204" pitchFamily="34" charset="0"/>
                    <a:ea typeface="SamsungOne 400" panose="020B0503030303020204" pitchFamily="34" charset="0"/>
                  </a:endParaRPr>
                </a:p>
              </p:txBody>
            </p:sp>
            <p:sp>
              <p:nvSpPr>
                <p:cNvPr id="31" name="TextBox 30"/>
                <p:cNvSpPr txBox="1"/>
                <p:nvPr/>
              </p:nvSpPr>
              <p:spPr>
                <a:xfrm>
                  <a:off x="2996233" y="5119498"/>
                  <a:ext cx="322524" cy="261610"/>
                </a:xfrm>
                <a:prstGeom prst="rect">
                  <a:avLst/>
                </a:prstGeom>
                <a:solidFill>
                  <a:schemeClr val="bg1"/>
                </a:solidFill>
              </p:spPr>
              <p:txBody>
                <a:bodyPr wrap="none" rtlCol="0">
                  <a:spAutoFit/>
                </a:bodyPr>
                <a:lstStyle/>
                <a:p>
                  <a:pPr algn="r"/>
                  <a:r>
                    <a:rPr lang="en-US" altLang="ko-KR" sz="1100" b="1" dirty="0">
                      <a:latin typeface="SamsungOne 400" panose="020B0503030303020204" pitchFamily="34" charset="0"/>
                      <a:ea typeface="SamsungOne 400" panose="020B0503030303020204" pitchFamily="34" charset="0"/>
                    </a:rPr>
                    <a:t>15</a:t>
                  </a:r>
                  <a:endParaRPr lang="ko-KR" altLang="en-US" sz="1100" b="1" dirty="0">
                    <a:latin typeface="SamsungOne 400" panose="020B0503030303020204" pitchFamily="34" charset="0"/>
                    <a:ea typeface="SamsungOne 400" panose="020B0503030303020204" pitchFamily="34" charset="0"/>
                  </a:endParaRPr>
                </a:p>
              </p:txBody>
            </p:sp>
            <p:sp>
              <p:nvSpPr>
                <p:cNvPr id="32" name="TextBox 31"/>
                <p:cNvSpPr txBox="1"/>
                <p:nvPr/>
              </p:nvSpPr>
              <p:spPr>
                <a:xfrm>
                  <a:off x="2994629" y="5495018"/>
                  <a:ext cx="324128" cy="261610"/>
                </a:xfrm>
                <a:prstGeom prst="rect">
                  <a:avLst/>
                </a:prstGeom>
                <a:solidFill>
                  <a:schemeClr val="bg1"/>
                </a:solidFill>
              </p:spPr>
              <p:txBody>
                <a:bodyPr wrap="none" rtlCol="0">
                  <a:spAutoFit/>
                </a:bodyPr>
                <a:lstStyle/>
                <a:p>
                  <a:pPr algn="r"/>
                  <a:r>
                    <a:rPr lang="en-US" altLang="ko-KR" sz="1100" b="1" dirty="0">
                      <a:latin typeface="SamsungOne 400" panose="020B0503030303020204" pitchFamily="34" charset="0"/>
                      <a:ea typeface="SamsungOne 400" panose="020B0503030303020204" pitchFamily="34" charset="0"/>
                    </a:rPr>
                    <a:t>13</a:t>
                  </a:r>
                  <a:endParaRPr lang="ko-KR" altLang="en-US" sz="1100" b="1" dirty="0">
                    <a:latin typeface="SamsungOne 400" panose="020B0503030303020204" pitchFamily="34" charset="0"/>
                    <a:ea typeface="SamsungOne 400" panose="020B0503030303020204" pitchFamily="34" charset="0"/>
                  </a:endParaRPr>
                </a:p>
              </p:txBody>
            </p:sp>
          </p:grpSp>
          <p:sp>
            <p:nvSpPr>
              <p:cNvPr id="34" name="TextBox 33"/>
              <p:cNvSpPr txBox="1"/>
              <p:nvPr/>
            </p:nvSpPr>
            <p:spPr>
              <a:xfrm>
                <a:off x="3164926" y="5711252"/>
                <a:ext cx="343364" cy="261610"/>
              </a:xfrm>
              <a:prstGeom prst="rect">
                <a:avLst/>
              </a:prstGeom>
              <a:solidFill>
                <a:schemeClr val="bg1"/>
              </a:solidFill>
            </p:spPr>
            <p:txBody>
              <a:bodyPr wrap="none" rtlCol="0">
                <a:spAutoFit/>
              </a:bodyPr>
              <a:lstStyle/>
              <a:p>
                <a:pPr algn="r"/>
                <a:r>
                  <a:rPr lang="en-US" altLang="ko-KR" sz="1100" b="1" dirty="0">
                    <a:latin typeface="SamsungOne 400" panose="020B0503030303020204" pitchFamily="34" charset="0"/>
                    <a:ea typeface="SamsungOne 400" panose="020B0503030303020204" pitchFamily="34" charset="0"/>
                  </a:rPr>
                  <a:t>20</a:t>
                </a:r>
                <a:endParaRPr lang="ko-KR" altLang="en-US" sz="1100" b="1" dirty="0">
                  <a:latin typeface="SamsungOne 400" panose="020B0503030303020204" pitchFamily="34" charset="0"/>
                  <a:ea typeface="SamsungOne 400" panose="020B0503030303020204" pitchFamily="34" charset="0"/>
                </a:endParaRPr>
              </a:p>
            </p:txBody>
          </p:sp>
          <p:sp>
            <p:nvSpPr>
              <p:cNvPr id="35" name="TextBox 34"/>
              <p:cNvSpPr txBox="1"/>
              <p:nvPr/>
            </p:nvSpPr>
            <p:spPr>
              <a:xfrm>
                <a:off x="3808838" y="5709458"/>
                <a:ext cx="349776" cy="261610"/>
              </a:xfrm>
              <a:prstGeom prst="rect">
                <a:avLst/>
              </a:prstGeom>
              <a:solidFill>
                <a:schemeClr val="bg1"/>
              </a:solidFill>
            </p:spPr>
            <p:txBody>
              <a:bodyPr wrap="none" rtlCol="0">
                <a:spAutoFit/>
              </a:bodyPr>
              <a:lstStyle/>
              <a:p>
                <a:pPr algn="r"/>
                <a:r>
                  <a:rPr lang="en-US" altLang="ko-KR" sz="1100" b="1" dirty="0">
                    <a:latin typeface="SamsungOne 400" panose="020B0503030303020204" pitchFamily="34" charset="0"/>
                    <a:ea typeface="SamsungOne 400" panose="020B0503030303020204" pitchFamily="34" charset="0"/>
                  </a:rPr>
                  <a:t>40</a:t>
                </a:r>
                <a:endParaRPr lang="ko-KR" altLang="en-US" sz="1100" b="1" dirty="0">
                  <a:latin typeface="SamsungOne 400" panose="020B0503030303020204" pitchFamily="34" charset="0"/>
                  <a:ea typeface="SamsungOne 400" panose="020B0503030303020204" pitchFamily="34" charset="0"/>
                </a:endParaRPr>
              </a:p>
            </p:txBody>
          </p:sp>
          <p:sp>
            <p:nvSpPr>
              <p:cNvPr id="36" name="TextBox 35"/>
              <p:cNvSpPr txBox="1"/>
              <p:nvPr/>
            </p:nvSpPr>
            <p:spPr>
              <a:xfrm>
                <a:off x="4491136" y="5707664"/>
                <a:ext cx="349776" cy="261610"/>
              </a:xfrm>
              <a:prstGeom prst="rect">
                <a:avLst/>
              </a:prstGeom>
              <a:solidFill>
                <a:schemeClr val="bg1"/>
              </a:solidFill>
            </p:spPr>
            <p:txBody>
              <a:bodyPr wrap="none" rtlCol="0">
                <a:spAutoFit/>
              </a:bodyPr>
              <a:lstStyle/>
              <a:p>
                <a:pPr algn="r"/>
                <a:r>
                  <a:rPr lang="en-US" altLang="ko-KR" sz="1100" b="1" dirty="0">
                    <a:latin typeface="SamsungOne 400" panose="020B0503030303020204" pitchFamily="34" charset="0"/>
                    <a:ea typeface="SamsungOne 400" panose="020B0503030303020204" pitchFamily="34" charset="0"/>
                  </a:rPr>
                  <a:t>60</a:t>
                </a:r>
                <a:endParaRPr lang="ko-KR" altLang="en-US" sz="1100" b="1" dirty="0">
                  <a:latin typeface="SamsungOne 400" panose="020B0503030303020204" pitchFamily="34" charset="0"/>
                  <a:ea typeface="SamsungOne 400" panose="020B0503030303020204" pitchFamily="34" charset="0"/>
                </a:endParaRPr>
              </a:p>
            </p:txBody>
          </p:sp>
          <p:sp>
            <p:nvSpPr>
              <p:cNvPr id="37" name="TextBox 36"/>
              <p:cNvSpPr txBox="1"/>
              <p:nvPr/>
            </p:nvSpPr>
            <p:spPr>
              <a:xfrm>
                <a:off x="5134339" y="5705870"/>
                <a:ext cx="349776" cy="261610"/>
              </a:xfrm>
              <a:prstGeom prst="rect">
                <a:avLst/>
              </a:prstGeom>
              <a:solidFill>
                <a:schemeClr val="bg1"/>
              </a:solidFill>
            </p:spPr>
            <p:txBody>
              <a:bodyPr wrap="none" rtlCol="0">
                <a:spAutoFit/>
              </a:bodyPr>
              <a:lstStyle/>
              <a:p>
                <a:pPr algn="r"/>
                <a:r>
                  <a:rPr lang="en-US" altLang="ko-KR" sz="1100" b="1" dirty="0">
                    <a:latin typeface="SamsungOne 400" panose="020B0503030303020204" pitchFamily="34" charset="0"/>
                    <a:ea typeface="SamsungOne 400" panose="020B0503030303020204" pitchFamily="34" charset="0"/>
                  </a:rPr>
                  <a:t>80</a:t>
                </a:r>
                <a:endParaRPr lang="ko-KR" altLang="en-US" sz="1100" b="1" dirty="0">
                  <a:latin typeface="SamsungOne 400" panose="020B0503030303020204" pitchFamily="34" charset="0"/>
                  <a:ea typeface="SamsungOne 400" panose="020B0503030303020204" pitchFamily="34" charset="0"/>
                </a:endParaRPr>
              </a:p>
            </p:txBody>
          </p:sp>
          <p:sp>
            <p:nvSpPr>
              <p:cNvPr id="38" name="TextBox 37"/>
              <p:cNvSpPr txBox="1"/>
              <p:nvPr/>
            </p:nvSpPr>
            <p:spPr>
              <a:xfrm>
                <a:off x="5788171" y="5705870"/>
                <a:ext cx="417102" cy="261610"/>
              </a:xfrm>
              <a:prstGeom prst="rect">
                <a:avLst/>
              </a:prstGeom>
              <a:solidFill>
                <a:schemeClr val="bg1"/>
              </a:solidFill>
            </p:spPr>
            <p:txBody>
              <a:bodyPr wrap="none" rtlCol="0">
                <a:spAutoFit/>
              </a:bodyPr>
              <a:lstStyle/>
              <a:p>
                <a:pPr algn="r"/>
                <a:r>
                  <a:rPr lang="en-US" altLang="ko-KR" sz="1100" b="1" dirty="0">
                    <a:latin typeface="SamsungOne 400" panose="020B0503030303020204" pitchFamily="34" charset="0"/>
                    <a:ea typeface="SamsungOne 400" panose="020B0503030303020204" pitchFamily="34" charset="0"/>
                  </a:rPr>
                  <a:t>100</a:t>
                </a:r>
                <a:endParaRPr lang="ko-KR" altLang="en-US" sz="1100" b="1" dirty="0">
                  <a:latin typeface="SamsungOne 400" panose="020B0503030303020204" pitchFamily="34" charset="0"/>
                  <a:ea typeface="SamsungOne 400" panose="020B0503030303020204" pitchFamily="34" charset="0"/>
                </a:endParaRPr>
              </a:p>
            </p:txBody>
          </p:sp>
          <p:sp>
            <p:nvSpPr>
              <p:cNvPr id="39" name="TextBox 38"/>
              <p:cNvSpPr txBox="1"/>
              <p:nvPr/>
            </p:nvSpPr>
            <p:spPr>
              <a:xfrm>
                <a:off x="6442003" y="5705870"/>
                <a:ext cx="417102" cy="261610"/>
              </a:xfrm>
              <a:prstGeom prst="rect">
                <a:avLst/>
              </a:prstGeom>
              <a:solidFill>
                <a:schemeClr val="bg1"/>
              </a:solidFill>
            </p:spPr>
            <p:txBody>
              <a:bodyPr wrap="none" rtlCol="0">
                <a:spAutoFit/>
              </a:bodyPr>
              <a:lstStyle/>
              <a:p>
                <a:pPr algn="r"/>
                <a:r>
                  <a:rPr lang="en-US" altLang="ko-KR" sz="1100" b="1" dirty="0">
                    <a:latin typeface="SamsungOne 400" panose="020B0503030303020204" pitchFamily="34" charset="0"/>
                    <a:ea typeface="SamsungOne 400" panose="020B0503030303020204" pitchFamily="34" charset="0"/>
                  </a:rPr>
                  <a:t>120</a:t>
                </a:r>
                <a:endParaRPr lang="ko-KR" altLang="en-US" sz="1100" b="1" dirty="0">
                  <a:latin typeface="SamsungOne 400" panose="020B0503030303020204" pitchFamily="34" charset="0"/>
                  <a:ea typeface="SamsungOne 400" panose="020B0503030303020204" pitchFamily="34" charset="0"/>
                </a:endParaRPr>
              </a:p>
            </p:txBody>
          </p:sp>
        </p:grpSp>
        <p:sp>
          <p:nvSpPr>
            <p:cNvPr id="9" name="직사각형 8"/>
            <p:cNvSpPr/>
            <p:nvPr/>
          </p:nvSpPr>
          <p:spPr>
            <a:xfrm>
              <a:off x="3336936" y="3129776"/>
              <a:ext cx="3316625" cy="2505307"/>
            </a:xfrm>
            <a:prstGeom prst="rect">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69636057"/>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Repetitive splitting process</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mc:AlternateContent xmlns:mc="http://schemas.openxmlformats.org/markup-compatibility/2006" xmlns:a14="http://schemas.microsoft.com/office/drawing/2010/main">
        <mc:Choice Requires="a14">
          <p:sp>
            <p:nvSpPr>
              <p:cNvPr id="200" name="직사각형 199">
                <a:extLst>
                  <a:ext uri="{FF2B5EF4-FFF2-40B4-BE49-F238E27FC236}">
                    <a16:creationId xmlns:a16="http://schemas.microsoft.com/office/drawing/2014/main" id="{1ACF2BF2-E48B-4341-BB04-F6BAF8F6D564}"/>
                  </a:ext>
                </a:extLst>
              </p:cNvPr>
              <p:cNvSpPr/>
              <p:nvPr/>
            </p:nvSpPr>
            <p:spPr>
              <a:xfrm>
                <a:off x="670746" y="1700808"/>
                <a:ext cx="8673279" cy="1453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1) Select </a:t>
                </a:r>
                <a14:m>
                  <m:oMath xmlns:m="http://schemas.openxmlformats.org/officeDocument/2006/math">
                    <m:sSub>
                      <m:sSubPr>
                        <m:ctrlPr>
                          <a:rPr lang="en-US" altLang="ko-KR" sz="1300" i="1" dirty="0" smtClean="0">
                            <a:solidFill>
                              <a:schemeClr val="tx1">
                                <a:lumMod val="85000"/>
                                <a:lumOff val="15000"/>
                              </a:schemeClr>
                            </a:solidFill>
                            <a:latin typeface="Cambria Math" panose="02040503050406030204" pitchFamily="18" charset="0"/>
                          </a:rPr>
                        </m:ctrlPr>
                      </m:sSubPr>
                      <m:e>
                        <m:r>
                          <a:rPr lang="en-US" altLang="ko-KR" sz="1300" b="0" i="1" dirty="0" smtClean="0">
                            <a:solidFill>
                              <a:schemeClr val="tx1">
                                <a:lumMod val="85000"/>
                                <a:lumOff val="15000"/>
                              </a:schemeClr>
                            </a:solidFill>
                            <a:latin typeface="Cambria Math" panose="02040503050406030204" pitchFamily="18" charset="0"/>
                          </a:rPr>
                          <m:t>𝑥</m:t>
                        </m:r>
                      </m:e>
                      <m:sub>
                        <m:r>
                          <a:rPr lang="en-US" altLang="ko-KR" sz="1300" b="0" i="1" dirty="0" smtClean="0">
                            <a:solidFill>
                              <a:schemeClr val="tx1">
                                <a:lumMod val="85000"/>
                                <a:lumOff val="15000"/>
                              </a:schemeClr>
                            </a:solidFill>
                            <a:latin typeface="Cambria Math" panose="02040503050406030204" pitchFamily="18" charset="0"/>
                          </a:rPr>
                          <m:t>𝑖</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one of the variables, and the </a:t>
                </a:r>
                <a14:m>
                  <m:oMath xmlns:m="http://schemas.openxmlformats.org/officeDocument/2006/math">
                    <m:sSub>
                      <m:sSubPr>
                        <m:ctrlPr>
                          <a:rPr lang="en-US" altLang="ko-KR" sz="1300" i="1" dirty="0" smtClean="0">
                            <a:solidFill>
                              <a:schemeClr val="tx1">
                                <a:lumMod val="85000"/>
                                <a:lumOff val="15000"/>
                              </a:schemeClr>
                            </a:solidFill>
                            <a:latin typeface="Cambria Math" panose="02040503050406030204" pitchFamily="18" charset="0"/>
                          </a:rPr>
                        </m:ctrlPr>
                      </m:sSubPr>
                      <m:e>
                        <m:r>
                          <a:rPr lang="en-US" altLang="ko-KR" sz="1300" i="1" dirty="0">
                            <a:solidFill>
                              <a:schemeClr val="tx1">
                                <a:lumMod val="85000"/>
                                <a:lumOff val="15000"/>
                              </a:schemeClr>
                            </a:solidFill>
                            <a:latin typeface="Cambria Math" panose="02040503050406030204" pitchFamily="18" charset="0"/>
                          </a:rPr>
                          <m:t>𝑥</m:t>
                        </m:r>
                      </m:e>
                      <m:sub>
                        <m:r>
                          <a:rPr lang="en-US" altLang="ko-KR" sz="1300" i="1" dirty="0">
                            <a:solidFill>
                              <a:schemeClr val="tx1">
                                <a:lumMod val="85000"/>
                                <a:lumOff val="15000"/>
                              </a:schemeClr>
                            </a:solidFill>
                            <a:latin typeface="Cambria Math" panose="02040503050406030204" pitchFamily="18" charset="0"/>
                          </a:rPr>
                          <m:t>𝑖</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value (</a:t>
                </a:r>
                <a14:m>
                  <m:oMath xmlns:m="http://schemas.openxmlformats.org/officeDocument/2006/math">
                    <m:sSub>
                      <m:sSubPr>
                        <m:ctrlPr>
                          <a:rPr lang="en-US" altLang="ko-KR" sz="1300" i="1" dirty="0" smtClean="0">
                            <a:solidFill>
                              <a:schemeClr val="tx1">
                                <a:lumMod val="85000"/>
                                <a:lumOff val="15000"/>
                              </a:schemeClr>
                            </a:solidFill>
                            <a:latin typeface="Cambria Math" panose="02040503050406030204" pitchFamily="18" charset="0"/>
                          </a:rPr>
                        </m:ctrlPr>
                      </m:sSubPr>
                      <m:e>
                        <m:r>
                          <a:rPr lang="en-US" altLang="ko-KR" sz="1300" b="0" i="1" dirty="0" smtClean="0">
                            <a:solidFill>
                              <a:schemeClr val="tx1">
                                <a:lumMod val="85000"/>
                                <a:lumOff val="15000"/>
                              </a:schemeClr>
                            </a:solidFill>
                            <a:latin typeface="Cambria Math" panose="02040503050406030204" pitchFamily="18" charset="0"/>
                          </a:rPr>
                          <m:t>𝑠</m:t>
                        </m:r>
                      </m:e>
                      <m:sub>
                        <m:r>
                          <a:rPr lang="en-US" altLang="ko-KR" sz="1300" b="0" i="1" dirty="0" smtClean="0">
                            <a:solidFill>
                              <a:schemeClr val="tx1">
                                <a:lumMod val="85000"/>
                                <a:lumOff val="15000"/>
                              </a:schemeClr>
                            </a:solidFill>
                            <a:latin typeface="Cambria Math" panose="02040503050406030204" pitchFamily="18" charset="0"/>
                          </a:rPr>
                          <m:t>𝑖</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as a split criterion) is designated to split the p-dimension space into two. </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2) </a:t>
                </a:r>
                <a14:m>
                  <m:oMath xmlns:m="http://schemas.openxmlformats.org/officeDocument/2006/math">
                    <m:sSub>
                      <m:sSubPr>
                        <m:ctrlPr>
                          <a:rPr lang="en-US" altLang="ko-KR" sz="1300" i="1" dirty="0" smtClean="0">
                            <a:solidFill>
                              <a:schemeClr val="tx1">
                                <a:lumMod val="85000"/>
                                <a:lumOff val="15000"/>
                              </a:schemeClr>
                            </a:solidFill>
                            <a:latin typeface="Cambria Math" panose="02040503050406030204" pitchFamily="18" charset="0"/>
                          </a:rPr>
                        </m:ctrlPr>
                      </m:sSubPr>
                      <m:e>
                        <m:r>
                          <a:rPr lang="en-US" altLang="ko-KR" sz="1300" b="0" i="1" dirty="0" smtClean="0">
                            <a:solidFill>
                              <a:schemeClr val="tx1">
                                <a:lumMod val="85000"/>
                                <a:lumOff val="15000"/>
                              </a:schemeClr>
                            </a:solidFill>
                            <a:latin typeface="Cambria Math" panose="02040503050406030204" pitchFamily="18" charset="0"/>
                          </a:rPr>
                          <m:t>𝑥</m:t>
                        </m:r>
                      </m:e>
                      <m:sub>
                        <m:r>
                          <a:rPr lang="en-US" altLang="ko-KR" sz="1300" b="0" i="1" dirty="0" smtClean="0">
                            <a:solidFill>
                              <a:schemeClr val="tx1">
                                <a:lumMod val="85000"/>
                                <a:lumOff val="15000"/>
                              </a:schemeClr>
                            </a:solidFill>
                            <a:latin typeface="Cambria Math" panose="02040503050406030204" pitchFamily="18" charset="0"/>
                          </a:rPr>
                          <m:t>𝑖</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14:m>
                  <m:oMath xmlns:m="http://schemas.openxmlformats.org/officeDocument/2006/math">
                    <m:sSub>
                      <m:sSubPr>
                        <m:ctrlPr>
                          <a:rPr lang="en-US" altLang="ko-KR" sz="1300" i="1" dirty="0">
                            <a:solidFill>
                              <a:schemeClr val="tx1">
                                <a:lumMod val="85000"/>
                                <a:lumOff val="15000"/>
                              </a:schemeClr>
                            </a:solidFill>
                            <a:latin typeface="Cambria Math" panose="02040503050406030204" pitchFamily="18" charset="0"/>
                          </a:rPr>
                        </m:ctrlPr>
                      </m:sSubPr>
                      <m:e>
                        <m:r>
                          <a:rPr lang="en-US" altLang="ko-KR" sz="1300" i="1" dirty="0">
                            <a:solidFill>
                              <a:schemeClr val="tx1">
                                <a:lumMod val="85000"/>
                                <a:lumOff val="15000"/>
                              </a:schemeClr>
                            </a:solidFill>
                            <a:latin typeface="Cambria Math" panose="02040503050406030204" pitchFamily="18" charset="0"/>
                          </a:rPr>
                          <m:t>𝑥</m:t>
                        </m:r>
                      </m:e>
                      <m:sub>
                        <m:r>
                          <a:rPr lang="en-US" altLang="ko-KR" sz="1300" i="1" dirty="0">
                            <a:solidFill>
                              <a:schemeClr val="tx1">
                                <a:lumMod val="85000"/>
                                <a:lumOff val="15000"/>
                              </a:schemeClr>
                            </a:solidFill>
                            <a:latin typeface="Cambria Math" panose="02040503050406030204" pitchFamily="18" charset="0"/>
                          </a:rPr>
                          <m:t>𝑖</m:t>
                        </m:r>
                      </m:sub>
                    </m:sSub>
                    <m:r>
                      <a:rPr lang="en-US" altLang="ko-KR" sz="1300" i="1" dirty="0">
                        <a:solidFill>
                          <a:schemeClr val="tx1">
                            <a:lumMod val="85000"/>
                            <a:lumOff val="15000"/>
                          </a:schemeClr>
                        </a:solidFill>
                        <a:latin typeface="Cambria Math" panose="02040503050406030204" pitchFamily="18" charset="0"/>
                      </a:rPr>
                      <m:t> </m:t>
                    </m:r>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&lt;=</a:t>
                </a:r>
                <a:r>
                  <a:rPr lang="en-US" altLang="ko-KR" sz="1300" dirty="0">
                    <a:solidFill>
                      <a:schemeClr val="tx1">
                        <a:lumMod val="85000"/>
                        <a:lumOff val="15000"/>
                      </a:schemeClr>
                    </a:solidFill>
                  </a:rPr>
                  <a:t> </a:t>
                </a:r>
                <a14:m>
                  <m:oMath xmlns:m="http://schemas.openxmlformats.org/officeDocument/2006/math">
                    <m:sSub>
                      <m:sSubPr>
                        <m:ctrlPr>
                          <a:rPr lang="en-US" altLang="ko-KR" sz="1300" i="1" dirty="0">
                            <a:solidFill>
                              <a:schemeClr val="tx1">
                                <a:lumMod val="85000"/>
                                <a:lumOff val="15000"/>
                              </a:schemeClr>
                            </a:solidFill>
                            <a:latin typeface="Cambria Math" panose="02040503050406030204" pitchFamily="18" charset="0"/>
                          </a:rPr>
                        </m:ctrlPr>
                      </m:sSubPr>
                      <m:e>
                        <m:r>
                          <a:rPr lang="en-US" altLang="ko-KR" sz="1300" i="1" dirty="0">
                            <a:solidFill>
                              <a:schemeClr val="tx1">
                                <a:lumMod val="85000"/>
                                <a:lumOff val="15000"/>
                              </a:schemeClr>
                            </a:solidFill>
                            <a:latin typeface="Cambria Math" panose="02040503050406030204" pitchFamily="18" charset="0"/>
                          </a:rPr>
                          <m:t>𝑠</m:t>
                        </m:r>
                      </m:e>
                      <m:sub>
                        <m:r>
                          <a:rPr lang="en-US" altLang="ko-KR" sz="1300" i="1" dirty="0">
                            <a:solidFill>
                              <a:schemeClr val="tx1">
                                <a:lumMod val="85000"/>
                                <a:lumOff val="15000"/>
                              </a:schemeClr>
                            </a:solidFill>
                            <a:latin typeface="Cambria Math" panose="02040503050406030204" pitchFamily="18" charset="0"/>
                          </a:rPr>
                          <m:t>𝑖</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 {</a:t>
                </a:r>
                <a14:m>
                  <m:oMath xmlns:m="http://schemas.openxmlformats.org/officeDocument/2006/math">
                    <m:sSub>
                      <m:sSubPr>
                        <m:ctrlPr>
                          <a:rPr lang="en-US" altLang="ko-KR" sz="1300" i="1" dirty="0">
                            <a:solidFill>
                              <a:schemeClr val="tx1">
                                <a:lumMod val="85000"/>
                                <a:lumOff val="15000"/>
                              </a:schemeClr>
                            </a:solidFill>
                            <a:latin typeface="Cambria Math" panose="02040503050406030204" pitchFamily="18" charset="0"/>
                          </a:rPr>
                        </m:ctrlPr>
                      </m:sSubPr>
                      <m:e>
                        <m:r>
                          <a:rPr lang="en-US" altLang="ko-KR" sz="1300" i="1" dirty="0">
                            <a:solidFill>
                              <a:schemeClr val="tx1">
                                <a:lumMod val="85000"/>
                                <a:lumOff val="15000"/>
                              </a:schemeClr>
                            </a:solidFill>
                            <a:latin typeface="Cambria Math" panose="02040503050406030204" pitchFamily="18" charset="0"/>
                          </a:rPr>
                          <m:t>𝑥</m:t>
                        </m:r>
                      </m:e>
                      <m:sub>
                        <m:r>
                          <a:rPr lang="en-US" altLang="ko-KR" sz="1300" i="1" dirty="0">
                            <a:solidFill>
                              <a:schemeClr val="tx1">
                                <a:lumMod val="85000"/>
                                <a:lumOff val="15000"/>
                              </a:schemeClr>
                            </a:solidFill>
                            <a:latin typeface="Cambria Math" panose="02040503050406030204" pitchFamily="18" charset="0"/>
                          </a:rPr>
                          <m:t>𝑖</m:t>
                        </m:r>
                      </m:sub>
                    </m:sSub>
                    <m:r>
                      <a:rPr lang="en-US" altLang="ko-KR" sz="1300" i="1" dirty="0">
                        <a:solidFill>
                          <a:schemeClr val="tx1">
                            <a:lumMod val="85000"/>
                            <a:lumOff val="15000"/>
                          </a:schemeClr>
                        </a:solidFill>
                        <a:latin typeface="Cambria Math" panose="02040503050406030204" pitchFamily="18" charset="0"/>
                      </a:rPr>
                      <m:t> </m:t>
                    </m:r>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&gt;</a:t>
                </a:r>
                <a:r>
                  <a:rPr lang="en-US" altLang="ko-KR" sz="1300" dirty="0">
                    <a:solidFill>
                      <a:schemeClr val="tx1">
                        <a:lumMod val="85000"/>
                        <a:lumOff val="15000"/>
                      </a:schemeClr>
                    </a:solidFill>
                  </a:rPr>
                  <a:t> </a:t>
                </a:r>
                <a14:m>
                  <m:oMath xmlns:m="http://schemas.openxmlformats.org/officeDocument/2006/math">
                    <m:sSub>
                      <m:sSubPr>
                        <m:ctrlPr>
                          <a:rPr lang="en-US" altLang="ko-KR" sz="1300" i="1" dirty="0">
                            <a:solidFill>
                              <a:schemeClr val="tx1">
                                <a:lumMod val="85000"/>
                                <a:lumOff val="15000"/>
                              </a:schemeClr>
                            </a:solidFill>
                            <a:latin typeface="Cambria Math" panose="02040503050406030204" pitchFamily="18" charset="0"/>
                          </a:rPr>
                        </m:ctrlPr>
                      </m:sSubPr>
                      <m:e>
                        <m:r>
                          <a:rPr lang="en-US" altLang="ko-KR" sz="1300" i="1" dirty="0">
                            <a:solidFill>
                              <a:schemeClr val="tx1">
                                <a:lumMod val="85000"/>
                                <a:lumOff val="15000"/>
                              </a:schemeClr>
                            </a:solidFill>
                            <a:latin typeface="Cambria Math" panose="02040503050406030204" pitchFamily="18" charset="0"/>
                          </a:rPr>
                          <m:t>𝑠</m:t>
                        </m:r>
                      </m:e>
                      <m:sub>
                        <m:r>
                          <a:rPr lang="en-US" altLang="ko-KR" sz="1300" i="1" dirty="0">
                            <a:solidFill>
                              <a:schemeClr val="tx1">
                                <a:lumMod val="85000"/>
                                <a:lumOff val="15000"/>
                              </a:schemeClr>
                            </a:solidFill>
                            <a:latin typeface="Cambria Math" panose="02040503050406030204" pitchFamily="18" charset="0"/>
                          </a:rPr>
                          <m:t>𝑖</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3) Select a variable again and split it in the same way.</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4) Repeat the process until it reaches desired purity.</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p:txBody>
          </p:sp>
        </mc:Choice>
        <mc:Fallback xmlns="">
          <p:sp>
            <p:nvSpPr>
              <p:cNvPr id="200" name="직사각형 199">
                <a:extLst>
                  <a:ext uri="{FF2B5EF4-FFF2-40B4-BE49-F238E27FC236}">
                    <a16:creationId xmlns:a16="http://schemas.microsoft.com/office/drawing/2014/main" xmlns:a14="http://schemas.microsoft.com/office/drawing/2010/main" xmlns="" id="{1ACF2BF2-E48B-4341-BB04-F6BAF8F6D564}"/>
                  </a:ext>
                </a:extLst>
              </p:cNvPr>
              <p:cNvSpPr>
                <a:spLocks noRot="1" noChangeAspect="1" noMove="1" noResize="1" noEditPoints="1" noAdjustHandles="1" noChangeArrowheads="1" noChangeShapeType="1" noTextEdit="1"/>
              </p:cNvSpPr>
              <p:nvPr/>
            </p:nvSpPr>
            <p:spPr>
              <a:xfrm>
                <a:off x="670746" y="1700808"/>
                <a:ext cx="8673279" cy="1453457"/>
              </a:xfrm>
              <a:prstGeom prst="rect">
                <a:avLst/>
              </a:prstGeom>
              <a:blipFill rotWithShape="0">
                <a:blip r:embed="rId3"/>
                <a:stretch>
                  <a:fillRect l="-141"/>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64535003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11" name="그룹 10">
            <a:extLst>
              <a:ext uri="{FF2B5EF4-FFF2-40B4-BE49-F238E27FC236}">
                <a16:creationId xmlns:a16="http://schemas.microsoft.com/office/drawing/2014/main" id="{15BD2A42-8670-41D2-910C-02D3C0E2CBFC}"/>
              </a:ext>
            </a:extLst>
          </p:cNvPr>
          <p:cNvGrpSpPr/>
          <p:nvPr/>
        </p:nvGrpSpPr>
        <p:grpSpPr>
          <a:xfrm>
            <a:off x="559817" y="1865258"/>
            <a:ext cx="8783192" cy="215444"/>
            <a:chOff x="559817" y="2136914"/>
            <a:chExt cx="8783192" cy="215444"/>
          </a:xfrm>
        </p:grpSpPr>
        <p:sp>
          <p:nvSpPr>
            <p:cNvPr id="12" name="직사각형 11">
              <a:extLst>
                <a:ext uri="{FF2B5EF4-FFF2-40B4-BE49-F238E27FC236}">
                  <a16:creationId xmlns:a16="http://schemas.microsoft.com/office/drawing/2014/main" id="{275722D5-DC28-4159-BB78-3874EB9305B0}"/>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13" name="직사각형 12">
              <a:extLst>
                <a:ext uri="{FF2B5EF4-FFF2-40B4-BE49-F238E27FC236}">
                  <a16:creationId xmlns:a16="http://schemas.microsoft.com/office/drawing/2014/main" id="{30D35FC9-BACA-4F4E-A6D0-1AA5DB30D07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buClr>
                  <a:srgbClr val="193EB0"/>
                </a:buClr>
              </a:pPr>
              <a:r>
                <a:rPr lang="en-US" altLang="ko-KR" sz="1400" dirty="0">
                  <a:solidFill>
                    <a:schemeClr val="tx1"/>
                  </a:solidFill>
                  <a:latin typeface="SamsungOne 400" panose="020B0503030303020204" pitchFamily="34" charset="0"/>
                </a:rPr>
                <a:t>Discrete objective variables</a:t>
              </a:r>
              <a:endParaRPr lang="ko-KR" altLang="en-US" sz="1400" dirty="0">
                <a:solidFill>
                  <a:schemeClr val="tx1"/>
                </a:solidFill>
                <a:latin typeface="SamsungOne 400" panose="020B0503030303020204" pitchFamily="34" charset="0"/>
              </a:endParaRPr>
            </a:p>
          </p:txBody>
        </p:sp>
      </p:grpSp>
      <p:sp>
        <p:nvSpPr>
          <p:cNvPr id="14" name="직사각형 13">
            <a:extLst>
              <a:ext uri="{FF2B5EF4-FFF2-40B4-BE49-F238E27FC236}">
                <a16:creationId xmlns:a16="http://schemas.microsoft.com/office/drawing/2014/main" id="{ADAAAB6A-E3F7-4D1C-BE02-13DD1C4B178E}"/>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2400" dirty="0">
                <a:solidFill>
                  <a:schemeClr val="tx1">
                    <a:lumMod val="95000"/>
                    <a:lumOff val="5000"/>
                  </a:schemeClr>
                </a:solidFill>
                <a:latin typeface="Samsung Sharp Sans" pitchFamily="2" charset="0"/>
                <a:cs typeface="Samsung Sharp Sans" pitchFamily="2" charset="0"/>
              </a:rPr>
              <a:t>Split Criterion</a:t>
            </a:r>
            <a:endParaRPr lang="ko-KR" altLang="en-US" sz="2400" dirty="0">
              <a:solidFill>
                <a:schemeClr val="tx1">
                  <a:lumMod val="95000"/>
                  <a:lumOff val="5000"/>
                </a:schemeClr>
              </a:solidFill>
              <a:latin typeface="Samsung Sharp Sans" pitchFamily="2" charset="0"/>
              <a:cs typeface="Samsung Sharp Sans" pitchFamily="2" charset="0"/>
            </a:endParaRPr>
          </a:p>
        </p:txBody>
      </p:sp>
      <p:sp>
        <p:nvSpPr>
          <p:cNvPr id="18" name="직사각형 17">
            <a:extLst>
              <a:ext uri="{FF2B5EF4-FFF2-40B4-BE49-F238E27FC236}">
                <a16:creationId xmlns:a16="http://schemas.microsoft.com/office/drawing/2014/main" id="{D153CCEB-FCEC-46BB-8EC6-D88DD724FC52}"/>
              </a:ext>
            </a:extLst>
          </p:cNvPr>
          <p:cNvSpPr/>
          <p:nvPr/>
        </p:nvSpPr>
        <p:spPr>
          <a:xfrm>
            <a:off x="697215" y="2150144"/>
            <a:ext cx="8673279" cy="1350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rPr>
              <a:t>Chi-squared statistic –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p-value: </a:t>
            </a:r>
            <a:r>
              <a:rPr lang="en-US" altLang="ko-KR" sz="1300" dirty="0">
                <a:solidFill>
                  <a:prstClr val="black">
                    <a:lumMod val="85000"/>
                    <a:lumOff val="15000"/>
                  </a:prstClr>
                </a:solidFill>
                <a:latin typeface="SamsungOne 400" panose="020B0503030303020204" pitchFamily="34" charset="0"/>
              </a:rPr>
              <a:t>Creates child nodes with a predictor variable with the lowest p-value and the optimal partitioning </a:t>
            </a:r>
            <a:endParaRPr lang="ko-KR" altLang="en-US" sz="1300" dirty="0">
              <a:solidFill>
                <a:prstClr val="black">
                  <a:lumMod val="85000"/>
                  <a:lumOff val="15000"/>
                </a:prstClr>
              </a:solidFill>
              <a:latin typeface="SamsungOne 400" panose="020B0503030303020204" pitchFamily="34" charset="0"/>
            </a:endParaRPr>
          </a:p>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rPr>
              <a:t>Gini index</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Selects child nodes with a predictor variable that reduces the Gini index and the optimal partitioning </a:t>
            </a:r>
            <a:endParaRPr lang="ko-KR" altLang="en-US" sz="1300" dirty="0">
              <a:solidFill>
                <a:prstClr val="black">
                  <a:lumMod val="85000"/>
                  <a:lumOff val="15000"/>
                </a:prstClr>
              </a:solidFill>
              <a:latin typeface="SamsungOne 400" panose="020B0503030303020204" pitchFamily="34" charset="0"/>
            </a:endParaRPr>
          </a:p>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rPr>
              <a:t>Entropy measure</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Creates child nodes with a predictor variable with the lowest entropy measure and the optimal partitioning </a:t>
            </a:r>
            <a:endParaRPr lang="ko-KR" altLang="en-US" sz="1300" dirty="0">
              <a:solidFill>
                <a:prstClr val="black">
                  <a:lumMod val="85000"/>
                  <a:lumOff val="15000"/>
                </a:prstClr>
              </a:solidFill>
              <a:latin typeface="SamsungOne 400" panose="020B0503030303020204" pitchFamily="34" charset="0"/>
            </a:endParaRPr>
          </a:p>
        </p:txBody>
      </p:sp>
    </p:spTree>
    <p:extLst>
      <p:ext uri="{BB962C8B-B14F-4D97-AF65-F5344CB8AC3E}">
        <p14:creationId xmlns:p14="http://schemas.microsoft.com/office/powerpoint/2010/main" val="2427200475"/>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9" name="TextBox 8">
            <a:extLst>
              <a:ext uri="{FF2B5EF4-FFF2-40B4-BE49-F238E27FC236}">
                <a16:creationId xmlns:a16="http://schemas.microsoft.com/office/drawing/2014/main" id="{E307A4FB-8C3E-4A9F-BDC6-72AAE16787FB}"/>
              </a:ext>
            </a:extLst>
          </p:cNvPr>
          <p:cNvSpPr txBox="1"/>
          <p:nvPr/>
        </p:nvSpPr>
        <p:spPr>
          <a:xfrm>
            <a:off x="2531922" y="3175411"/>
            <a:ext cx="4621382" cy="307777"/>
          </a:xfrm>
          <a:prstGeom prst="rect">
            <a:avLst/>
          </a:prstGeom>
          <a:noFill/>
        </p:spPr>
        <p:txBody>
          <a:bodyPr wrap="square" rtlCol="0">
            <a:spAutoFit/>
          </a:bodyPr>
          <a:lstStyle/>
          <a:p>
            <a:pPr algn="ctr"/>
            <a:r>
              <a:rPr lang="en-US" altLang="ko-KR" sz="1400" dirty="0">
                <a:latin typeface="SamsungOne 400" panose="020B0503030303020204" pitchFamily="34" charset="0"/>
              </a:rPr>
              <a:t>Selection of algorithms and classification variables</a:t>
            </a:r>
            <a:endParaRPr lang="ko-KR" altLang="en-US" sz="1400" dirty="0">
              <a:latin typeface="SamsungOne 400" panose="020B0503030303020204" pitchFamily="34" charset="0"/>
            </a:endParaRPr>
          </a:p>
        </p:txBody>
      </p:sp>
      <p:graphicFrame>
        <p:nvGraphicFramePr>
          <p:cNvPr id="10" name="표 9">
            <a:extLst>
              <a:ext uri="{FF2B5EF4-FFF2-40B4-BE49-F238E27FC236}">
                <a16:creationId xmlns:a16="http://schemas.microsoft.com/office/drawing/2014/main" id="{FF115A03-4F9C-4D35-9681-3509443A522B}"/>
              </a:ext>
            </a:extLst>
          </p:cNvPr>
          <p:cNvGraphicFramePr>
            <a:graphicFrameLocks noGrp="1"/>
          </p:cNvGraphicFramePr>
          <p:nvPr>
            <p:extLst>
              <p:ext uri="{D42A27DB-BD31-4B8C-83A1-F6EECF244321}">
                <p14:modId xmlns:p14="http://schemas.microsoft.com/office/powerpoint/2010/main" val="1441187636"/>
              </p:ext>
            </p:extLst>
          </p:nvPr>
        </p:nvGraphicFramePr>
        <p:xfrm>
          <a:off x="1098984" y="3537012"/>
          <a:ext cx="7236804" cy="1914520"/>
        </p:xfrm>
        <a:graphic>
          <a:graphicData uri="http://schemas.openxmlformats.org/drawingml/2006/table">
            <a:tbl>
              <a:tblPr firstRow="1" bandRow="1">
                <a:tableStyleId>{5940675A-B579-460E-94D1-54222C63F5DA}</a:tableStyleId>
              </a:tblPr>
              <a:tblGrid>
                <a:gridCol w="2412268">
                  <a:extLst>
                    <a:ext uri="{9D8B030D-6E8A-4147-A177-3AD203B41FA5}">
                      <a16:colId xmlns:a16="http://schemas.microsoft.com/office/drawing/2014/main" val="20000"/>
                    </a:ext>
                  </a:extLst>
                </a:gridCol>
                <a:gridCol w="2412268">
                  <a:extLst>
                    <a:ext uri="{9D8B030D-6E8A-4147-A177-3AD203B41FA5}">
                      <a16:colId xmlns:a16="http://schemas.microsoft.com/office/drawing/2014/main" val="1127139662"/>
                    </a:ext>
                  </a:extLst>
                </a:gridCol>
                <a:gridCol w="2412268">
                  <a:extLst>
                    <a:ext uri="{9D8B030D-6E8A-4147-A177-3AD203B41FA5}">
                      <a16:colId xmlns:a16="http://schemas.microsoft.com/office/drawing/2014/main" val="20002"/>
                    </a:ext>
                  </a:extLst>
                </a:gridCol>
              </a:tblGrid>
              <a:tr h="356626">
                <a:tc>
                  <a:txBody>
                    <a:bodyPr/>
                    <a:lstStyle/>
                    <a:p>
                      <a:pPr algn="ctr"/>
                      <a:endParaRPr lang="en-US" sz="1300" dirty="0">
                        <a:solidFill>
                          <a:srgbClr val="1429A0"/>
                        </a:solidFill>
                        <a:latin typeface="SamsungOne 400" panose="020B0503030303020204" pitchFamily="34" charset="0"/>
                        <a:ea typeface="SamsungOne 400" panose="020B0503030303020204" pitchFamily="34" charset="0"/>
                      </a:endParaRP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1300" dirty="0">
                          <a:solidFill>
                            <a:srgbClr val="1429A0"/>
                          </a:solidFill>
                          <a:latin typeface="SamsungOne 400" panose="020B0503030303020204" pitchFamily="34" charset="0"/>
                        </a:rPr>
                        <a:t>Discrete objective variables</a:t>
                      </a:r>
                      <a:endParaRPr lang="ko-KR" altLang="en-US" sz="1300" dirty="0">
                        <a:solidFill>
                          <a:srgbClr val="1429A0"/>
                        </a:solidFill>
                        <a:latin typeface="SamsungOne 400" panose="020B0503030303020204"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1300" dirty="0">
                          <a:solidFill>
                            <a:srgbClr val="1429A0"/>
                          </a:solidFill>
                          <a:latin typeface="SamsungOne 400" panose="020B0503030303020204" pitchFamily="34" charset="0"/>
                        </a:rPr>
                        <a:t>Continuous objective variables</a:t>
                      </a:r>
                      <a:endParaRPr lang="ko-KR" altLang="en-US" sz="1300" dirty="0">
                        <a:solidFill>
                          <a:srgbClr val="1429A0"/>
                        </a:solidFill>
                        <a:latin typeface="SamsungOne 400" panose="020B0503030303020204" pitchFamily="34" charset="0"/>
                      </a:endParaRP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7729922"/>
                  </a:ext>
                </a:extLst>
              </a:tr>
              <a:tr h="600634">
                <a:tc>
                  <a:txBody>
                    <a:bodyPr/>
                    <a:lstStyle/>
                    <a:p>
                      <a:pPr algn="ctr" latinLnBrk="1"/>
                      <a:r>
                        <a:rPr lang="en-US" altLang="ko-KR" sz="1300" dirty="0">
                          <a:latin typeface="SamsungOne 400" panose="020B0503030303020204" pitchFamily="34" charset="0"/>
                          <a:ea typeface="SamsungOne 400" panose="020B0503030303020204" pitchFamily="34" charset="0"/>
                        </a:rPr>
                        <a:t>CHAID</a:t>
                      </a:r>
                    </a:p>
                    <a:p>
                      <a:pPr algn="ctr" latinLnBrk="1"/>
                      <a:r>
                        <a:rPr lang="ko-KR" altLang="en-US" sz="1300" dirty="0">
                          <a:latin typeface="SamsungOne 400" panose="020B0503030303020204" pitchFamily="34" charset="0"/>
                          <a:ea typeface="SamsungOne 400" panose="020B0503030303020204" pitchFamily="34" charset="0"/>
                        </a:rPr>
                        <a:t> </a:t>
                      </a:r>
                      <a:r>
                        <a:rPr lang="en-US" altLang="ko-KR" sz="1300" dirty="0">
                          <a:latin typeface="SamsungOne 400" panose="020B0503030303020204" pitchFamily="34" charset="0"/>
                          <a:ea typeface="SamsungOne 400" panose="020B0503030303020204" pitchFamily="34" charset="0"/>
                        </a:rPr>
                        <a:t>(multi space partitioning)</a:t>
                      </a:r>
                      <a:endParaRPr lang="ko-KR" altLang="en-US" sz="1300" dirty="0">
                        <a:latin typeface="SamsungOne 400" panose="020B0503030303020204" pitchFamily="34" charset="0"/>
                      </a:endParaRP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r>
                        <a:rPr lang="en-US" altLang="ko-KR" sz="1300" dirty="0">
                          <a:latin typeface="SamsungOne 400" panose="020B0503030303020204" pitchFamily="34" charset="0"/>
                        </a:rPr>
                        <a:t>Chi-squared statistic</a:t>
                      </a:r>
                      <a:endParaRPr lang="ko-KR" altLang="en-US" sz="1300" dirty="0">
                        <a:latin typeface="SamsungOne 400" panose="020B0503030303020204"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sz="1300" dirty="0">
                          <a:latin typeface="SamsungOne 400" panose="020B0503030303020204" pitchFamily="34" charset="0"/>
                          <a:ea typeface="SamsungOne 400" panose="020B0503030303020204" pitchFamily="34" charset="0"/>
                        </a:rPr>
                        <a:t>ANOVA</a:t>
                      </a:r>
                      <a:r>
                        <a:rPr lang="en-US" altLang="ko-KR" sz="1300" baseline="0" dirty="0">
                          <a:latin typeface="SamsungOne 400" panose="020B0503030303020204" pitchFamily="34" charset="0"/>
                          <a:ea typeface="SamsungOne 400" panose="020B0503030303020204" pitchFamily="34" charset="0"/>
                        </a:rPr>
                        <a:t> F statistic</a:t>
                      </a:r>
                      <a:endParaRPr lang="ko-KR" altLang="en-US" sz="1300" dirty="0">
                        <a:latin typeface="SamsungOne 400" panose="020B0503030303020204" pitchFamily="34" charset="0"/>
                      </a:endParaRP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7462398"/>
                  </a:ext>
                </a:extLst>
              </a:tr>
              <a:tr h="600634">
                <a:tc>
                  <a:txBody>
                    <a:bodyPr/>
                    <a:lstStyle/>
                    <a:p>
                      <a:pPr algn="ctr" latinLnBrk="1"/>
                      <a:r>
                        <a:rPr lang="en-US" altLang="ko-KR" sz="1300" dirty="0">
                          <a:latin typeface="SamsungOne 400" panose="020B0503030303020204" pitchFamily="34" charset="0"/>
                          <a:ea typeface="SamsungOne 400" panose="020B0503030303020204" pitchFamily="34" charset="0"/>
                        </a:rPr>
                        <a:t>CART</a:t>
                      </a:r>
                    </a:p>
                    <a:p>
                      <a:pPr algn="ctr" latinLnBrk="1"/>
                      <a:r>
                        <a:rPr lang="en-US" altLang="ko-KR" sz="1300" dirty="0">
                          <a:latin typeface="SamsungOne 400" panose="020B0503030303020204" pitchFamily="34" charset="0"/>
                          <a:ea typeface="SamsungOne 400" panose="020B0503030303020204" pitchFamily="34" charset="0"/>
                        </a:rPr>
                        <a:t> (binary space partitioning)</a:t>
                      </a:r>
                      <a:endParaRPr lang="ko-KR" altLang="en-US" sz="1300" dirty="0">
                        <a:latin typeface="SamsungOne 400" panose="020B0503030303020204" pitchFamily="34" charset="0"/>
                      </a:endParaRP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r>
                        <a:rPr lang="en-US" altLang="ko-KR" sz="1300" dirty="0">
                          <a:latin typeface="SamsungOne 400" panose="020B0503030303020204" pitchFamily="34" charset="0"/>
                        </a:rPr>
                        <a:t>Gini index</a:t>
                      </a:r>
                      <a:endParaRPr lang="ko-KR" altLang="en-US" sz="1300" dirty="0">
                        <a:latin typeface="SamsungOne 400" panose="020B0503030303020204"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en-US" altLang="ko-KR" sz="1300" dirty="0">
                          <a:latin typeface="SamsungOne 400" panose="020B0503030303020204" pitchFamily="34" charset="0"/>
                        </a:rPr>
                        <a:t>Variance reduction</a:t>
                      </a:r>
                      <a:endParaRPr lang="ko-KR" altLang="en-US" sz="1300" dirty="0">
                        <a:latin typeface="SamsungOne 400" panose="020B0503030303020204" pitchFamily="34" charset="0"/>
                      </a:endParaRP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8278547"/>
                  </a:ext>
                </a:extLst>
              </a:tr>
              <a:tr h="356626">
                <a:tc>
                  <a:txBody>
                    <a:bodyPr/>
                    <a:lstStyle/>
                    <a:p>
                      <a:pPr algn="ctr" latinLnBrk="1"/>
                      <a:r>
                        <a:rPr lang="en-US" altLang="ko-KR" sz="1300" dirty="0">
                          <a:latin typeface="SamsungOne 400" panose="020B0503030303020204" pitchFamily="34" charset="0"/>
                          <a:ea typeface="SamsungOne 400" panose="020B0503030303020204" pitchFamily="34" charset="0"/>
                        </a:rPr>
                        <a:t>C4.5</a:t>
                      </a:r>
                      <a:endParaRPr lang="ko-KR" altLang="en-US" sz="1300" dirty="0">
                        <a:latin typeface="SamsungOne 400" panose="020B0503030303020204" pitchFamily="34" charset="0"/>
                      </a:endParaRP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latinLnBrk="1"/>
                      <a:r>
                        <a:rPr lang="en-US" altLang="ko-KR" sz="1300" dirty="0">
                          <a:latin typeface="SamsungOne 400" panose="020B0503030303020204" pitchFamily="34" charset="0"/>
                        </a:rPr>
                        <a:t>Entropy measure</a:t>
                      </a:r>
                      <a:endParaRPr lang="ko-KR" altLang="en-US" sz="1300" dirty="0">
                        <a:latin typeface="SamsungOne 400" panose="020B0503030303020204"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endParaRPr lang="ko-KR" altLang="en-US" sz="1300" dirty="0">
                        <a:latin typeface="SamsungOne 400" panose="020B0503030303020204" pitchFamily="34" charset="0"/>
                      </a:endParaRP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grpSp>
        <p:nvGrpSpPr>
          <p:cNvPr id="11" name="그룹 10">
            <a:extLst>
              <a:ext uri="{FF2B5EF4-FFF2-40B4-BE49-F238E27FC236}">
                <a16:creationId xmlns:a16="http://schemas.microsoft.com/office/drawing/2014/main" id="{15BD2A42-8670-41D2-910C-02D3C0E2CBFC}"/>
              </a:ext>
            </a:extLst>
          </p:cNvPr>
          <p:cNvGrpSpPr/>
          <p:nvPr/>
        </p:nvGrpSpPr>
        <p:grpSpPr>
          <a:xfrm>
            <a:off x="559817" y="1865258"/>
            <a:ext cx="8783192" cy="215444"/>
            <a:chOff x="559817" y="2136914"/>
            <a:chExt cx="8783192" cy="215444"/>
          </a:xfrm>
        </p:grpSpPr>
        <p:sp>
          <p:nvSpPr>
            <p:cNvPr id="12" name="직사각형 11">
              <a:extLst>
                <a:ext uri="{FF2B5EF4-FFF2-40B4-BE49-F238E27FC236}">
                  <a16:creationId xmlns:a16="http://schemas.microsoft.com/office/drawing/2014/main" id="{275722D5-DC28-4159-BB78-3874EB9305B0}"/>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13" name="직사각형 12">
              <a:extLst>
                <a:ext uri="{FF2B5EF4-FFF2-40B4-BE49-F238E27FC236}">
                  <a16:creationId xmlns:a16="http://schemas.microsoft.com/office/drawing/2014/main" id="{30D35FC9-BACA-4F4E-A6D0-1AA5DB30D07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buClr>
                  <a:srgbClr val="193EB0"/>
                </a:buClr>
              </a:pPr>
              <a:r>
                <a:rPr lang="en-US" altLang="ko-KR" sz="1400" dirty="0">
                  <a:solidFill>
                    <a:schemeClr val="tx1"/>
                  </a:solidFill>
                  <a:latin typeface="SamsungOne 400" panose="020B0503030303020204" pitchFamily="34" charset="0"/>
                </a:rPr>
                <a:t>Continuous objective variables</a:t>
              </a:r>
              <a:endParaRPr lang="ko-KR" altLang="en-US" sz="1400" dirty="0">
                <a:solidFill>
                  <a:schemeClr val="tx1"/>
                </a:solidFill>
                <a:latin typeface="SamsungOne 400" panose="020B0503030303020204" pitchFamily="34" charset="0"/>
              </a:endParaRPr>
            </a:p>
          </p:txBody>
        </p:sp>
      </p:grpSp>
      <p:sp>
        <p:nvSpPr>
          <p:cNvPr id="14" name="직사각형 13">
            <a:extLst>
              <a:ext uri="{FF2B5EF4-FFF2-40B4-BE49-F238E27FC236}">
                <a16:creationId xmlns:a16="http://schemas.microsoft.com/office/drawing/2014/main" id="{ADAAAB6A-E3F7-4D1C-BE02-13DD1C4B178E}"/>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2400" dirty="0">
                <a:solidFill>
                  <a:schemeClr val="tx1">
                    <a:lumMod val="95000"/>
                    <a:lumOff val="5000"/>
                  </a:schemeClr>
                </a:solidFill>
                <a:latin typeface="Samsung Sharp Sans" pitchFamily="2" charset="0"/>
                <a:cs typeface="Samsung Sharp Sans" pitchFamily="2" charset="0"/>
              </a:rPr>
              <a:t>Split Criterion</a:t>
            </a:r>
            <a:endParaRPr lang="ko-KR" altLang="en-US" sz="2400" dirty="0">
              <a:solidFill>
                <a:schemeClr val="tx1">
                  <a:lumMod val="95000"/>
                  <a:lumOff val="5000"/>
                </a:schemeClr>
              </a:solidFill>
              <a:latin typeface="Samsung Sharp Sans" pitchFamily="2" charset="0"/>
              <a:cs typeface="Samsung Sharp Sans" pitchFamily="2" charset="0"/>
            </a:endParaRPr>
          </a:p>
        </p:txBody>
      </p:sp>
      <p:sp>
        <p:nvSpPr>
          <p:cNvPr id="18" name="직사각형 17">
            <a:extLst>
              <a:ext uri="{FF2B5EF4-FFF2-40B4-BE49-F238E27FC236}">
                <a16:creationId xmlns:a16="http://schemas.microsoft.com/office/drawing/2014/main" id="{D153CCEB-FCEC-46BB-8EC6-D88DD724FC52}"/>
              </a:ext>
            </a:extLst>
          </p:cNvPr>
          <p:cNvSpPr/>
          <p:nvPr/>
        </p:nvSpPr>
        <p:spPr>
          <a:xfrm>
            <a:off x="697215" y="2112785"/>
            <a:ext cx="8673279" cy="848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 statistic in ANOVA: </a:t>
            </a:r>
            <a:r>
              <a:rPr lang="en-US" altLang="ko-KR" sz="1300" dirty="0">
                <a:solidFill>
                  <a:prstClr val="black">
                    <a:lumMod val="85000"/>
                    <a:lumOff val="15000"/>
                  </a:prstClr>
                </a:solidFill>
                <a:latin typeface="SamsungOne 400" panose="020B0503030303020204" pitchFamily="34" charset="0"/>
              </a:rPr>
              <a:t>Creates child nodes with a predictor variable with the lowest p-value and the optimal partitioning</a:t>
            </a:r>
            <a:endParaRPr lang="ko-KR" altLang="en-US" sz="1300" dirty="0">
              <a:solidFill>
                <a:prstClr val="black">
                  <a:lumMod val="85000"/>
                  <a:lumOff val="15000"/>
                </a:prstClr>
              </a:solidFill>
              <a:latin typeface="SamsungOne 400" panose="020B0503030303020204" pitchFamily="34" charset="0"/>
            </a:endParaRPr>
          </a:p>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rPr>
              <a:t>Variance reduction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Creates child nodes with the optimal partitioning that maximizes variance reduction </a:t>
            </a:r>
            <a:endParaRPr lang="ko-KR" altLang="en-US" sz="1300" dirty="0">
              <a:solidFill>
                <a:prstClr val="black">
                  <a:lumMod val="85000"/>
                  <a:lumOff val="15000"/>
                </a:prstClr>
              </a:solidFill>
              <a:latin typeface="SamsungOne 400" panose="020B0503030303020204" pitchFamily="34" charset="0"/>
            </a:endParaRPr>
          </a:p>
        </p:txBody>
      </p:sp>
    </p:spTree>
    <p:extLst>
      <p:ext uri="{BB962C8B-B14F-4D97-AF65-F5344CB8AC3E}">
        <p14:creationId xmlns:p14="http://schemas.microsoft.com/office/powerpoint/2010/main" val="2400150560"/>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mc:AlternateContent xmlns:mc="http://schemas.openxmlformats.org/markup-compatibility/2006" xmlns:a14="http://schemas.microsoft.com/office/drawing/2010/main">
        <mc:Choice Requires="a14">
          <p:sp>
            <p:nvSpPr>
              <p:cNvPr id="200" name="직사각형 199">
                <a:extLst>
                  <a:ext uri="{FF2B5EF4-FFF2-40B4-BE49-F238E27FC236}">
                    <a16:creationId xmlns:a16="http://schemas.microsoft.com/office/drawing/2014/main" id="{1ACF2BF2-E48B-4341-BB04-F6BAF8F6D564}"/>
                  </a:ext>
                </a:extLst>
              </p:cNvPr>
              <p:cNvSpPr/>
              <p:nvPr/>
            </p:nvSpPr>
            <p:spPr>
              <a:xfrm>
                <a:off x="712182" y="2145771"/>
                <a:ext cx="8673279" cy="848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1"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rPr>
                  <a:t>Selects child nodes with a predictor variable that reduces the Gini index and the optimal partitioning.</a:t>
                </a:r>
                <a:endParaRPr lang="ko-KR" altLang="en-US" sz="1300" dirty="0">
                  <a:solidFill>
                    <a:schemeClr val="tx1">
                      <a:lumMod val="85000"/>
                      <a:lumOff val="15000"/>
                    </a:schemeClr>
                  </a:solidFill>
                  <a:latin typeface="SamsungOne 400" panose="020B0503030303020204" pitchFamily="34" charset="0"/>
                </a:endParaRPr>
              </a:p>
              <a:p>
                <a:pPr marL="182526" lvl="1"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the T dataset is split into k categories and the category performance ratios are </a:t>
                </a:r>
                <a14:m>
                  <m:oMath xmlns:m="http://schemas.openxmlformats.org/officeDocument/2006/math">
                    <m:sSub>
                      <m:sSubPr>
                        <m:ctrlPr>
                          <a:rPr lang="en-US" altLang="ko-KR" sz="1300" i="1" smtClean="0">
                            <a:solidFill>
                              <a:schemeClr val="tx1">
                                <a:lumMod val="85000"/>
                                <a:lumOff val="15000"/>
                              </a:schemeClr>
                            </a:solidFill>
                            <a:latin typeface="Cambria Math" panose="02040503050406030204" pitchFamily="18" charset="0"/>
                          </a:rPr>
                        </m:ctrlPr>
                      </m:sSubPr>
                      <m:e>
                        <m:r>
                          <a:rPr lang="en-US" altLang="ko-KR" sz="1300" b="0" i="1" smtClean="0">
                            <a:solidFill>
                              <a:schemeClr val="tx1">
                                <a:lumMod val="85000"/>
                                <a:lumOff val="15000"/>
                              </a:schemeClr>
                            </a:solidFill>
                            <a:latin typeface="Cambria Math" panose="02040503050406030204" pitchFamily="18" charset="0"/>
                          </a:rPr>
                          <m:t>𝑝</m:t>
                        </m:r>
                      </m:e>
                      <m:sub>
                        <m:r>
                          <a:rPr lang="en-US" altLang="ko-KR" sz="1300" b="0" i="1" smtClean="0">
                            <a:solidFill>
                              <a:schemeClr val="tx1">
                                <a:lumMod val="85000"/>
                                <a:lumOff val="15000"/>
                              </a:schemeClr>
                            </a:solidFill>
                            <a:latin typeface="Cambria Math" panose="02040503050406030204" pitchFamily="18" charset="0"/>
                          </a:rPr>
                          <m:t>1</m:t>
                        </m:r>
                      </m:sub>
                    </m:sSub>
                    <m:r>
                      <a:rPr lang="en-US" altLang="ko-KR" sz="1300" b="0" i="1" smtClean="0">
                        <a:solidFill>
                          <a:schemeClr val="tx1">
                            <a:lumMod val="85000"/>
                            <a:lumOff val="15000"/>
                          </a:schemeClr>
                        </a:solidFill>
                        <a:latin typeface="Cambria Math" panose="02040503050406030204" pitchFamily="18" charset="0"/>
                      </a:rPr>
                      <m:t>,…, </m:t>
                    </m:r>
                    <m:sSub>
                      <m:sSubPr>
                        <m:ctrlPr>
                          <a:rPr lang="en-US" altLang="ko-KR" sz="1300" b="0" i="1" smtClean="0">
                            <a:solidFill>
                              <a:schemeClr val="tx1">
                                <a:lumMod val="85000"/>
                                <a:lumOff val="15000"/>
                              </a:schemeClr>
                            </a:solidFill>
                            <a:latin typeface="Cambria Math" panose="02040503050406030204" pitchFamily="18" charset="0"/>
                          </a:rPr>
                        </m:ctrlPr>
                      </m:sSubPr>
                      <m:e>
                        <m:r>
                          <a:rPr lang="en-US" altLang="ko-KR" sz="1300" b="0" i="1" smtClean="0">
                            <a:solidFill>
                              <a:schemeClr val="tx1">
                                <a:lumMod val="85000"/>
                                <a:lumOff val="15000"/>
                              </a:schemeClr>
                            </a:solidFill>
                            <a:latin typeface="Cambria Math" panose="02040503050406030204" pitchFamily="18" charset="0"/>
                          </a:rPr>
                          <m:t>𝑝</m:t>
                        </m:r>
                      </m:e>
                      <m:sub>
                        <m:r>
                          <a:rPr lang="en-US" altLang="ko-KR" sz="1300" b="0" i="1" smtClean="0">
                            <a:solidFill>
                              <a:schemeClr val="tx1">
                                <a:lumMod val="85000"/>
                                <a:lumOff val="15000"/>
                              </a:schemeClr>
                            </a:solidFill>
                            <a:latin typeface="Cambria Math" panose="02040503050406030204" pitchFamily="18" charset="0"/>
                          </a:rPr>
                          <m:t>𝑘</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it is expressed as the following equation.</a:t>
                </a:r>
                <a:endParaRPr lang="ko-KR" altLang="en-US" sz="1300" dirty="0">
                  <a:solidFill>
                    <a:schemeClr val="tx1">
                      <a:lumMod val="85000"/>
                      <a:lumOff val="15000"/>
                    </a:schemeClr>
                  </a:solidFill>
                  <a:latin typeface="SamsungOne 400" panose="020B0503030303020204" pitchFamily="34" charset="0"/>
                </a:endParaRPr>
              </a:p>
            </p:txBody>
          </p:sp>
        </mc:Choice>
        <mc:Fallback xmlns="">
          <p:sp>
            <p:nvSpPr>
              <p:cNvPr id="200" name="직사각형 199">
                <a:extLst>
                  <a:ext uri="{FF2B5EF4-FFF2-40B4-BE49-F238E27FC236}">
                    <a16:creationId xmlns="" xmlns:a16="http://schemas.microsoft.com/office/drawing/2014/main" xmlns:a14="http://schemas.microsoft.com/office/drawing/2010/main" id="{1ACF2BF2-E48B-4341-BB04-F6BAF8F6D564}"/>
                  </a:ext>
                </a:extLst>
              </p:cNvPr>
              <p:cNvSpPr>
                <a:spLocks noRot="1" noChangeAspect="1" noMove="1" noResize="1" noEditPoints="1" noAdjustHandles="1" noChangeArrowheads="1" noChangeShapeType="1" noTextEdit="1"/>
              </p:cNvSpPr>
              <p:nvPr/>
            </p:nvSpPr>
            <p:spPr>
              <a:xfrm>
                <a:off x="712182" y="2145771"/>
                <a:ext cx="8673279" cy="848163"/>
              </a:xfrm>
              <a:prstGeom prst="rect">
                <a:avLst/>
              </a:prstGeom>
              <a:blipFill rotWithShape="0">
                <a:blip r:embed="rId3"/>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BCECBEE-A8B8-4E30-9A1A-11C0C942E4FB}"/>
                  </a:ext>
                </a:extLst>
              </p:cNvPr>
              <p:cNvSpPr txBox="1"/>
              <p:nvPr/>
            </p:nvSpPr>
            <p:spPr>
              <a:xfrm>
                <a:off x="3621469" y="2885501"/>
                <a:ext cx="2163505" cy="8922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𝐺𝑖𝑛𝑖</m:t>
                      </m:r>
                      <m:d>
                        <m:dPr>
                          <m:ctrlPr>
                            <a:rPr lang="en-US" i="1">
                              <a:latin typeface="Cambria Math" panose="02040503050406030204" pitchFamily="18" charset="0"/>
                            </a:rPr>
                          </m:ctrlPr>
                        </m:dPr>
                        <m:e>
                          <m:r>
                            <a:rPr lang="en-US">
                              <a:latin typeface="Cambria Math" panose="02040503050406030204" pitchFamily="18" charset="0"/>
                            </a:rPr>
                            <m:t>𝑇</m:t>
                          </m:r>
                        </m:e>
                      </m:d>
                      <m:r>
                        <a:rPr lang="en-US">
                          <a:latin typeface="Cambria Math" panose="02040503050406030204" pitchFamily="18" charset="0"/>
                        </a:rPr>
                        <m:t>=1−</m:t>
                      </m:r>
                      <m:nary>
                        <m:naryPr>
                          <m:chr m:val="∑"/>
                          <m:ctrlPr>
                            <a:rPr lang="en-US" i="1">
                              <a:latin typeface="Cambria Math" panose="02040503050406030204" pitchFamily="18" charset="0"/>
                            </a:rPr>
                          </m:ctrlPr>
                        </m:naryPr>
                        <m:sub>
                          <m:r>
                            <m:rPr>
                              <m:brk m:alnAt="23"/>
                            </m:rPr>
                            <a:rPr lang="en-US">
                              <a:latin typeface="Cambria Math" panose="02040503050406030204" pitchFamily="18" charset="0"/>
                            </a:rPr>
                            <m:t>𝑙</m:t>
                          </m:r>
                          <m:r>
                            <a:rPr lang="en-US">
                              <a:latin typeface="Cambria Math" panose="02040503050406030204" pitchFamily="18" charset="0"/>
                            </a:rPr>
                            <m:t>=1</m:t>
                          </m:r>
                        </m:sub>
                        <m:sup>
                          <m:r>
                            <a:rPr lang="en-US">
                              <a:latin typeface="Cambria Math" panose="02040503050406030204" pitchFamily="18" charset="0"/>
                            </a:rPr>
                            <m:t>𝑘</m:t>
                          </m:r>
                        </m:sup>
                        <m:e>
                          <m:sSubSup>
                            <m:sSubSupPr>
                              <m:ctrlPr>
                                <a:rPr lang="en-US" i="1">
                                  <a:latin typeface="Cambria Math" panose="02040503050406030204" pitchFamily="18" charset="0"/>
                                </a:rPr>
                              </m:ctrlPr>
                            </m:sSubSupPr>
                            <m:e>
                              <m:r>
                                <a:rPr lang="en-US">
                                  <a:latin typeface="Cambria Math" panose="02040503050406030204" pitchFamily="18" charset="0"/>
                                </a:rPr>
                                <m:t>𝑝</m:t>
                              </m:r>
                            </m:e>
                            <m:sub>
                              <m:r>
                                <a:rPr lang="en-US">
                                  <a:latin typeface="Cambria Math" panose="02040503050406030204" pitchFamily="18" charset="0"/>
                                </a:rPr>
                                <m:t>𝑙</m:t>
                              </m:r>
                            </m:sub>
                            <m:sup>
                              <m:r>
                                <a:rPr lang="en-US">
                                  <a:latin typeface="Cambria Math" panose="02040503050406030204" pitchFamily="18" charset="0"/>
                                </a:rPr>
                                <m:t>2</m:t>
                              </m:r>
                            </m:sup>
                          </m:sSubSup>
                        </m:e>
                      </m:nary>
                    </m:oMath>
                  </m:oMathPara>
                </a14:m>
                <a:endParaRPr lang="en-US" dirty="0"/>
              </a:p>
            </p:txBody>
          </p:sp>
        </mc:Choice>
        <mc:Fallback xmlns="">
          <p:sp>
            <p:nvSpPr>
              <p:cNvPr id="11" name="TextBox 10">
                <a:extLst>
                  <a:ext uri="{FF2B5EF4-FFF2-40B4-BE49-F238E27FC236}">
                    <a16:creationId xmlns:a16="http://schemas.microsoft.com/office/drawing/2014/main" id="{8BCECBEE-A8B8-4E30-9A1A-11C0C942E4FB}"/>
                  </a:ext>
                </a:extLst>
              </p:cNvPr>
              <p:cNvSpPr txBox="1">
                <a:spLocks noRot="1" noChangeAspect="1" noMove="1" noResize="1" noEditPoints="1" noAdjustHandles="1" noChangeArrowheads="1" noChangeShapeType="1" noTextEdit="1"/>
              </p:cNvSpPr>
              <p:nvPr/>
            </p:nvSpPr>
            <p:spPr>
              <a:xfrm>
                <a:off x="3621469" y="2885501"/>
                <a:ext cx="2163505" cy="892232"/>
              </a:xfrm>
              <a:prstGeom prst="rect">
                <a:avLst/>
              </a:prstGeom>
              <a:blipFill>
                <a:blip r:embed="rId4"/>
                <a:stretch>
                  <a:fillRect/>
                </a:stretch>
              </a:blipFill>
              <a:ln>
                <a:noFill/>
              </a:ln>
            </p:spPr>
            <p:txBody>
              <a:bodyPr/>
              <a:lstStyle/>
              <a:p>
                <a:r>
                  <a:rPr lang="ko-KR" altLang="en-US">
                    <a:noFill/>
                  </a:rPr>
                  <a:t> </a:t>
                </a:r>
              </a:p>
            </p:txBody>
          </p:sp>
        </mc:Fallback>
      </mc:AlternateContent>
      <p:grpSp>
        <p:nvGrpSpPr>
          <p:cNvPr id="8" name="그룹 7">
            <a:extLst>
              <a:ext uri="{FF2B5EF4-FFF2-40B4-BE49-F238E27FC236}">
                <a16:creationId xmlns:a16="http://schemas.microsoft.com/office/drawing/2014/main" id="{E67F7C1F-5C85-41B8-9EE9-A400CA5CE387}"/>
              </a:ext>
            </a:extLst>
          </p:cNvPr>
          <p:cNvGrpSpPr/>
          <p:nvPr/>
        </p:nvGrpSpPr>
        <p:grpSpPr>
          <a:xfrm>
            <a:off x="2647156" y="3932157"/>
            <a:ext cx="4064631" cy="2341159"/>
            <a:chOff x="2647156" y="3938605"/>
            <a:chExt cx="4064631" cy="2341159"/>
          </a:xfrm>
        </p:grpSpPr>
        <mc:AlternateContent xmlns:mc="http://schemas.openxmlformats.org/markup-compatibility/2006" xmlns:a14="http://schemas.microsoft.com/office/drawing/2010/main">
          <mc:Choice Requires="a14">
            <p:sp>
              <p:nvSpPr>
                <p:cNvPr id="16" name="직사각형 15">
                  <a:extLst>
                    <a:ext uri="{FF2B5EF4-FFF2-40B4-BE49-F238E27FC236}">
                      <a16:creationId xmlns:a16="http://schemas.microsoft.com/office/drawing/2014/main" id="{05425D12-5343-4B71-B2B4-7119140F88DE}"/>
                    </a:ext>
                  </a:extLst>
                </p:cNvPr>
                <p:cNvSpPr/>
                <p:nvPr/>
              </p:nvSpPr>
              <p:spPr>
                <a:xfrm>
                  <a:off x="2647157" y="4784353"/>
                  <a:ext cx="4064630" cy="2897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ctr"/>
                  <a14:m>
                    <m:oMathPara xmlns:m="http://schemas.openxmlformats.org/officeDocument/2006/math">
                      <m:oMathParaPr>
                        <m:jc m:val="centerGroup"/>
                      </m:oMathParaPr>
                      <m:oMath xmlns:m="http://schemas.openxmlformats.org/officeDocument/2006/math">
                        <m:r>
                          <m:rPr>
                            <m:nor/>
                          </m:rPr>
                          <a:rPr lang="en-US" altLang="ko-KR" sz="1400" dirty="0" smtClean="0">
                            <a:solidFill>
                              <a:prstClr val="black">
                                <a:lumMod val="85000"/>
                                <a:lumOff val="15000"/>
                              </a:prstClr>
                            </a:solidFill>
                            <a:latin typeface="SamsungOne 400" panose="020B0503030303020204" pitchFamily="34" charset="0"/>
                            <a:ea typeface="SamsungOne 400" panose="020B0503030303020204" pitchFamily="34" charset="0"/>
                          </a:rPr>
                          <m:t>GI</m:t>
                        </m:r>
                        <m:r>
                          <m:rPr>
                            <m:nor/>
                          </m:rPr>
                          <a:rPr lang="en-US" altLang="ko-KR" sz="1400" dirty="0" smtClean="0">
                            <a:solidFill>
                              <a:prstClr val="black">
                                <a:lumMod val="85000"/>
                                <a:lumOff val="15000"/>
                              </a:prstClr>
                            </a:solidFill>
                            <a:latin typeface="SamsungOne 400" panose="020B0503030303020204" pitchFamily="34" charset="0"/>
                            <a:ea typeface="SamsungOne 400" panose="020B0503030303020204" pitchFamily="34" charset="0"/>
                          </a:rPr>
                          <m:t> = 1 –(3/8)²−(3/8)²−(1/8)²−(3/8)²= .69</m:t>
                        </m:r>
                      </m:oMath>
                    </m:oMathPara>
                  </a14:m>
                  <a:endParaRPr lang="en-US" altLang="ko-KR" sz="1400" dirty="0">
                    <a:solidFill>
                      <a:prstClr val="black">
                        <a:lumMod val="85000"/>
                        <a:lumOff val="15000"/>
                      </a:prstClr>
                    </a:solidFill>
                    <a:latin typeface="SamsungOne 400" panose="020B0503030303020204" pitchFamily="34" charset="0"/>
                    <a:ea typeface="SamsungOne 400" panose="020B0503030303020204" pitchFamily="34" charset="0"/>
                  </a:endParaRPr>
                </a:p>
              </p:txBody>
            </p:sp>
          </mc:Choice>
          <mc:Fallback xmlns="">
            <p:sp>
              <p:nvSpPr>
                <p:cNvPr id="16" name="직사각형 15">
                  <a:extLst>
                    <a:ext uri="{FF2B5EF4-FFF2-40B4-BE49-F238E27FC236}">
                      <a16:creationId xmlns:a16="http://schemas.microsoft.com/office/drawing/2014/main" id="{05425D12-5343-4B71-B2B4-7119140F88DE}"/>
                    </a:ext>
                  </a:extLst>
                </p:cNvPr>
                <p:cNvSpPr>
                  <a:spLocks noRot="1" noChangeAspect="1" noMove="1" noResize="1" noEditPoints="1" noAdjustHandles="1" noChangeArrowheads="1" noChangeShapeType="1" noTextEdit="1"/>
                </p:cNvSpPr>
                <p:nvPr/>
              </p:nvSpPr>
              <p:spPr>
                <a:xfrm>
                  <a:off x="2647157" y="4784353"/>
                  <a:ext cx="4064630" cy="289719"/>
                </a:xfrm>
                <a:prstGeom prst="rect">
                  <a:avLst/>
                </a:prstGeom>
                <a:blipFill>
                  <a:blip r:embed="rId5"/>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7" name="직사각형 16">
                  <a:extLst>
                    <a:ext uri="{FF2B5EF4-FFF2-40B4-BE49-F238E27FC236}">
                      <a16:creationId xmlns:a16="http://schemas.microsoft.com/office/drawing/2014/main" id="{42A1BBB5-8C39-45BA-922D-F86F1437A943}"/>
                    </a:ext>
                  </a:extLst>
                </p:cNvPr>
                <p:cNvSpPr/>
                <p:nvPr/>
              </p:nvSpPr>
              <p:spPr>
                <a:xfrm>
                  <a:off x="2647157" y="5990045"/>
                  <a:ext cx="4064630" cy="2897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ctr"/>
                  <a14:m>
                    <m:oMathPara xmlns:m="http://schemas.openxmlformats.org/officeDocument/2006/math">
                      <m:oMathParaPr>
                        <m:jc m:val="centerGroup"/>
                      </m:oMathParaPr>
                      <m:oMath xmlns:m="http://schemas.openxmlformats.org/officeDocument/2006/math">
                        <m:r>
                          <m:rPr>
                            <m:nor/>
                          </m:rPr>
                          <a:rPr lang="en-US" altLang="ko-KR" sz="1400" dirty="0" smtClean="0">
                            <a:solidFill>
                              <a:prstClr val="black">
                                <a:lumMod val="85000"/>
                                <a:lumOff val="15000"/>
                              </a:prstClr>
                            </a:solidFill>
                            <a:latin typeface="SamsungOne 400" panose="020B0503030303020204" pitchFamily="34" charset="0"/>
                            <a:ea typeface="SamsungOne 400" panose="020B0503030303020204" pitchFamily="34" charset="0"/>
                          </a:rPr>
                          <m:t>GI</m:t>
                        </m:r>
                        <m:r>
                          <m:rPr>
                            <m:nor/>
                          </m:rPr>
                          <a:rPr lang="en-US" altLang="ko-KR" sz="1400" dirty="0" smtClean="0">
                            <a:solidFill>
                              <a:prstClr val="black">
                                <a:lumMod val="85000"/>
                                <a:lumOff val="15000"/>
                              </a:prstClr>
                            </a:solidFill>
                            <a:latin typeface="SamsungOne 400" panose="020B0503030303020204" pitchFamily="34" charset="0"/>
                            <a:ea typeface="SamsungOne 400" panose="020B0503030303020204" pitchFamily="34" charset="0"/>
                          </a:rPr>
                          <m:t> = 1 –(6/7)²−(1/7)²= .24</m:t>
                        </m:r>
                      </m:oMath>
                    </m:oMathPara>
                  </a14:m>
                  <a:endParaRPr lang="en-US" altLang="ko-KR" sz="1400" dirty="0">
                    <a:solidFill>
                      <a:prstClr val="black">
                        <a:lumMod val="85000"/>
                        <a:lumOff val="15000"/>
                      </a:prstClr>
                    </a:solidFill>
                    <a:latin typeface="SamsungOne 400" panose="020B0503030303020204" pitchFamily="34" charset="0"/>
                    <a:ea typeface="SamsungOne 400" panose="020B0503030303020204" pitchFamily="34" charset="0"/>
                  </a:endParaRPr>
                </a:p>
              </p:txBody>
            </p:sp>
          </mc:Choice>
          <mc:Fallback xmlns="">
            <p:sp>
              <p:nvSpPr>
                <p:cNvPr id="17" name="직사각형 16">
                  <a:extLst>
                    <a:ext uri="{FF2B5EF4-FFF2-40B4-BE49-F238E27FC236}">
                      <a16:creationId xmlns:a16="http://schemas.microsoft.com/office/drawing/2014/main" id="{42A1BBB5-8C39-45BA-922D-F86F1437A943}"/>
                    </a:ext>
                  </a:extLst>
                </p:cNvPr>
                <p:cNvSpPr>
                  <a:spLocks noRot="1" noChangeAspect="1" noMove="1" noResize="1" noEditPoints="1" noAdjustHandles="1" noChangeArrowheads="1" noChangeShapeType="1" noTextEdit="1"/>
                </p:cNvSpPr>
                <p:nvPr/>
              </p:nvSpPr>
              <p:spPr>
                <a:xfrm>
                  <a:off x="2647157" y="5990045"/>
                  <a:ext cx="4064630" cy="289719"/>
                </a:xfrm>
                <a:prstGeom prst="rect">
                  <a:avLst/>
                </a:prstGeom>
                <a:blipFill>
                  <a:blip r:embed="rId6"/>
                  <a:stretch>
                    <a:fillRect/>
                  </a:stretch>
                </a:blipFill>
                <a:ln>
                  <a:noFill/>
                </a:ln>
              </p:spPr>
              <p:txBody>
                <a:bodyPr/>
                <a:lstStyle/>
                <a:p>
                  <a:r>
                    <a:rPr lang="ko-KR" altLang="en-US">
                      <a:noFill/>
                    </a:rPr>
                    <a:t> </a:t>
                  </a:r>
                </a:p>
              </p:txBody>
            </p:sp>
          </mc:Fallback>
        </mc:AlternateContent>
        <p:grpSp>
          <p:nvGrpSpPr>
            <p:cNvPr id="5" name="그룹 4">
              <a:extLst>
                <a:ext uri="{FF2B5EF4-FFF2-40B4-BE49-F238E27FC236}">
                  <a16:creationId xmlns:a16="http://schemas.microsoft.com/office/drawing/2014/main" id="{5395E94E-E729-4622-AA4F-A1C88B7F03DE}"/>
                </a:ext>
              </a:extLst>
            </p:cNvPr>
            <p:cNvGrpSpPr/>
            <p:nvPr/>
          </p:nvGrpSpPr>
          <p:grpSpPr>
            <a:xfrm>
              <a:off x="2647156" y="3938605"/>
              <a:ext cx="4064630" cy="809393"/>
              <a:chOff x="2362945" y="3611473"/>
              <a:chExt cx="5062560" cy="1008112"/>
            </a:xfrm>
          </p:grpSpPr>
          <p:sp>
            <p:nvSpPr>
              <p:cNvPr id="13" name="직사각형 12">
                <a:extLst>
                  <a:ext uri="{FF2B5EF4-FFF2-40B4-BE49-F238E27FC236}">
                    <a16:creationId xmlns:a16="http://schemas.microsoft.com/office/drawing/2014/main" id="{A92878B2-0A00-4D53-8857-5FCF96E07093}"/>
                  </a:ext>
                </a:extLst>
              </p:cNvPr>
              <p:cNvSpPr/>
              <p:nvPr/>
            </p:nvSpPr>
            <p:spPr>
              <a:xfrm>
                <a:off x="2362945" y="3611473"/>
                <a:ext cx="5062560" cy="1008112"/>
              </a:xfrm>
              <a:prstGeom prst="rect">
                <a:avLst/>
              </a:prstGeom>
              <a:solidFill>
                <a:srgbClr val="D9DCDD"/>
              </a:solidFill>
              <a:ln>
                <a:solidFill>
                  <a:srgbClr val="193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4674F986-BC93-470D-A68A-3111D86FB4A0}"/>
                  </a:ext>
                </a:extLst>
              </p:cNvPr>
              <p:cNvSpPr/>
              <p:nvPr/>
            </p:nvSpPr>
            <p:spPr>
              <a:xfrm>
                <a:off x="2506962" y="3654505"/>
                <a:ext cx="4774528"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ctr">
                  <a:spcAft>
                    <a:spcPts val="800"/>
                  </a:spcAft>
                  <a:buClr>
                    <a:srgbClr val="193EB0"/>
                  </a:buClr>
                </a:pPr>
                <a:r>
                  <a:rPr lang="en-US" altLang="ko-KR" sz="1300" dirty="0">
                    <a:solidFill>
                      <a:srgbClr val="193EB0"/>
                    </a:solidFill>
                    <a:latin typeface="SamsungOne 700" panose="020B0803030303020204" pitchFamily="34" charset="0"/>
                    <a:ea typeface="SamsungOne 700" panose="020B0803030303020204" pitchFamily="34" charset="0"/>
                  </a:rPr>
                  <a:t>high impurity(diversity), low purity</a:t>
                </a:r>
              </a:p>
            </p:txBody>
          </p:sp>
          <p:pic>
            <p:nvPicPr>
              <p:cNvPr id="18" name="그림 17">
                <a:extLst>
                  <a:ext uri="{FF2B5EF4-FFF2-40B4-BE49-F238E27FC236}">
                    <a16:creationId xmlns:a16="http://schemas.microsoft.com/office/drawing/2014/main" id="{C002121A-B966-420A-9E5E-DC36D080F53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11629" y="4124072"/>
                <a:ext cx="614502" cy="409667"/>
              </a:xfrm>
              <a:prstGeom prst="rect">
                <a:avLst/>
              </a:prstGeom>
            </p:spPr>
          </p:pic>
          <p:pic>
            <p:nvPicPr>
              <p:cNvPr id="19" name="그림 18">
                <a:extLst>
                  <a:ext uri="{FF2B5EF4-FFF2-40B4-BE49-F238E27FC236}">
                    <a16:creationId xmlns:a16="http://schemas.microsoft.com/office/drawing/2014/main" id="{F733D2EE-7C19-4D17-97E6-FDBD9306EB8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66706" y="4084382"/>
                <a:ext cx="566410" cy="428931"/>
              </a:xfrm>
              <a:prstGeom prst="rect">
                <a:avLst/>
              </a:prstGeom>
            </p:spPr>
          </p:pic>
          <p:pic>
            <p:nvPicPr>
              <p:cNvPr id="20" name="그림 19">
                <a:extLst>
                  <a:ext uri="{FF2B5EF4-FFF2-40B4-BE49-F238E27FC236}">
                    <a16:creationId xmlns:a16="http://schemas.microsoft.com/office/drawing/2014/main" id="{93778F93-909B-4A7A-9869-1A8B293D77E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82166" y="4142260"/>
                <a:ext cx="658939" cy="371053"/>
              </a:xfrm>
              <a:prstGeom prst="rect">
                <a:avLst/>
              </a:prstGeom>
            </p:spPr>
          </p:pic>
          <p:pic>
            <p:nvPicPr>
              <p:cNvPr id="21" name="그림 20">
                <a:extLst>
                  <a:ext uri="{FF2B5EF4-FFF2-40B4-BE49-F238E27FC236}">
                    <a16:creationId xmlns:a16="http://schemas.microsoft.com/office/drawing/2014/main" id="{913E08CA-ACB4-4AB1-8366-6708B4A2798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490157" y="4116671"/>
                <a:ext cx="697324" cy="396642"/>
              </a:xfrm>
              <a:prstGeom prst="rect">
                <a:avLst/>
              </a:prstGeom>
            </p:spPr>
          </p:pic>
          <p:pic>
            <p:nvPicPr>
              <p:cNvPr id="22" name="그림 21">
                <a:extLst>
                  <a:ext uri="{FF2B5EF4-FFF2-40B4-BE49-F238E27FC236}">
                    <a16:creationId xmlns:a16="http://schemas.microsoft.com/office/drawing/2014/main" id="{D8932D87-4F49-460C-8615-E984F4649DB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81680" y="4105893"/>
                <a:ext cx="667900" cy="407419"/>
              </a:xfrm>
              <a:prstGeom prst="rect">
                <a:avLst/>
              </a:prstGeom>
            </p:spPr>
          </p:pic>
          <p:pic>
            <p:nvPicPr>
              <p:cNvPr id="26" name="그림 25">
                <a:extLst>
                  <a:ext uri="{FF2B5EF4-FFF2-40B4-BE49-F238E27FC236}">
                    <a16:creationId xmlns:a16="http://schemas.microsoft.com/office/drawing/2014/main" id="{C49F7154-2ABA-4AF4-8A46-8D2D7EEAA20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073691" y="4105893"/>
                <a:ext cx="667900" cy="407419"/>
              </a:xfrm>
              <a:prstGeom prst="rect">
                <a:avLst/>
              </a:prstGeom>
            </p:spPr>
          </p:pic>
        </p:grpSp>
        <p:grpSp>
          <p:nvGrpSpPr>
            <p:cNvPr id="6" name="그룹 5">
              <a:extLst>
                <a:ext uri="{FF2B5EF4-FFF2-40B4-BE49-F238E27FC236}">
                  <a16:creationId xmlns:a16="http://schemas.microsoft.com/office/drawing/2014/main" id="{FBDF8F86-7A18-4A05-847B-566EA6F619F9}"/>
                </a:ext>
              </a:extLst>
            </p:cNvPr>
            <p:cNvGrpSpPr/>
            <p:nvPr/>
          </p:nvGrpSpPr>
          <p:grpSpPr>
            <a:xfrm>
              <a:off x="2647156" y="5186221"/>
              <a:ext cx="4064630" cy="882249"/>
              <a:chOff x="2362945" y="5015197"/>
              <a:chExt cx="5062560" cy="1098855"/>
            </a:xfrm>
          </p:grpSpPr>
          <p:sp>
            <p:nvSpPr>
              <p:cNvPr id="12" name="직사각형 11">
                <a:extLst>
                  <a:ext uri="{FF2B5EF4-FFF2-40B4-BE49-F238E27FC236}">
                    <a16:creationId xmlns:a16="http://schemas.microsoft.com/office/drawing/2014/main" id="{FAF849A7-C4F8-4132-8B93-282CD95536A3}"/>
                  </a:ext>
                </a:extLst>
              </p:cNvPr>
              <p:cNvSpPr/>
              <p:nvPr/>
            </p:nvSpPr>
            <p:spPr>
              <a:xfrm>
                <a:off x="2362945" y="5015197"/>
                <a:ext cx="5062560" cy="1008112"/>
              </a:xfrm>
              <a:prstGeom prst="rect">
                <a:avLst/>
              </a:prstGeom>
              <a:solidFill>
                <a:srgbClr val="D9DCDD"/>
              </a:solidFill>
              <a:ln>
                <a:solidFill>
                  <a:srgbClr val="193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D6B80CF9-A0FB-446F-95F7-7D151A7F4BCB}"/>
                  </a:ext>
                </a:extLst>
              </p:cNvPr>
              <p:cNvSpPr/>
              <p:nvPr/>
            </p:nvSpPr>
            <p:spPr>
              <a:xfrm>
                <a:off x="2506962" y="5023724"/>
                <a:ext cx="4774528"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ctr">
                  <a:spcAft>
                    <a:spcPts val="800"/>
                  </a:spcAft>
                  <a:buClr>
                    <a:srgbClr val="193EB0"/>
                  </a:buClr>
                </a:pPr>
                <a:r>
                  <a:rPr lang="en-US" altLang="ko-KR" sz="1300" dirty="0">
                    <a:solidFill>
                      <a:srgbClr val="193EB0"/>
                    </a:solidFill>
                    <a:latin typeface="SamsungOne 700" panose="020B0803030303020204" pitchFamily="34" charset="0"/>
                    <a:ea typeface="SamsungOne 700" panose="020B0803030303020204" pitchFamily="34" charset="0"/>
                  </a:rPr>
                  <a:t>low impurity(diversity), high purity</a:t>
                </a:r>
              </a:p>
            </p:txBody>
          </p:sp>
          <p:pic>
            <p:nvPicPr>
              <p:cNvPr id="27" name="그림 26">
                <a:extLst>
                  <a:ext uri="{FF2B5EF4-FFF2-40B4-BE49-F238E27FC236}">
                    <a16:creationId xmlns:a16="http://schemas.microsoft.com/office/drawing/2014/main" id="{CBE67553-20B0-472E-A7F4-10817B0557F5}"/>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506962" y="5287806"/>
                <a:ext cx="850547" cy="826246"/>
              </a:xfrm>
              <a:prstGeom prst="rect">
                <a:avLst/>
              </a:prstGeom>
            </p:spPr>
          </p:pic>
          <p:pic>
            <p:nvPicPr>
              <p:cNvPr id="28" name="그림 27">
                <a:extLst>
                  <a:ext uri="{FF2B5EF4-FFF2-40B4-BE49-F238E27FC236}">
                    <a16:creationId xmlns:a16="http://schemas.microsoft.com/office/drawing/2014/main" id="{61918264-E327-43D4-8C59-D70F39069CA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75145" y="5287806"/>
                <a:ext cx="850547" cy="826246"/>
              </a:xfrm>
              <a:prstGeom prst="rect">
                <a:avLst/>
              </a:prstGeom>
            </p:spPr>
          </p:pic>
          <p:pic>
            <p:nvPicPr>
              <p:cNvPr id="29" name="그림 28">
                <a:extLst>
                  <a:ext uri="{FF2B5EF4-FFF2-40B4-BE49-F238E27FC236}">
                    <a16:creationId xmlns:a16="http://schemas.microsoft.com/office/drawing/2014/main" id="{EC98B1D8-21D0-4B27-AB9F-3E9DCA2805C9}"/>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043328" y="5287806"/>
                <a:ext cx="850547" cy="826246"/>
              </a:xfrm>
              <a:prstGeom prst="rect">
                <a:avLst/>
              </a:prstGeom>
            </p:spPr>
          </p:pic>
          <p:pic>
            <p:nvPicPr>
              <p:cNvPr id="33" name="그림 32">
                <a:extLst>
                  <a:ext uri="{FF2B5EF4-FFF2-40B4-BE49-F238E27FC236}">
                    <a16:creationId xmlns:a16="http://schemas.microsoft.com/office/drawing/2014/main" id="{4D0E7452-4F3F-4929-816F-0929501ECC4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579694" y="5287806"/>
                <a:ext cx="850547" cy="826246"/>
              </a:xfrm>
              <a:prstGeom prst="rect">
                <a:avLst/>
              </a:prstGeom>
            </p:spPr>
          </p:pic>
          <p:pic>
            <p:nvPicPr>
              <p:cNvPr id="34" name="그림 33">
                <a:extLst>
                  <a:ext uri="{FF2B5EF4-FFF2-40B4-BE49-F238E27FC236}">
                    <a16:creationId xmlns:a16="http://schemas.microsoft.com/office/drawing/2014/main" id="{F9149071-917A-4952-9A3F-78C8D463FB6B}"/>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347879" y="5287806"/>
                <a:ext cx="850547" cy="826246"/>
              </a:xfrm>
              <a:prstGeom prst="rect">
                <a:avLst/>
              </a:prstGeom>
            </p:spPr>
          </p:pic>
          <p:pic>
            <p:nvPicPr>
              <p:cNvPr id="35" name="그림 34">
                <a:extLst>
                  <a:ext uri="{FF2B5EF4-FFF2-40B4-BE49-F238E27FC236}">
                    <a16:creationId xmlns:a16="http://schemas.microsoft.com/office/drawing/2014/main" id="{40240840-2EC9-4BEC-A568-24C287A112B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964792" y="5386646"/>
                <a:ext cx="576021" cy="541734"/>
              </a:xfrm>
              <a:prstGeom prst="rect">
                <a:avLst/>
              </a:prstGeom>
            </p:spPr>
          </p:pic>
        </p:grpSp>
      </p:grpSp>
      <p:grpSp>
        <p:nvGrpSpPr>
          <p:cNvPr id="36" name="그룹 35">
            <a:extLst>
              <a:ext uri="{FF2B5EF4-FFF2-40B4-BE49-F238E27FC236}">
                <a16:creationId xmlns:a16="http://schemas.microsoft.com/office/drawing/2014/main" id="{DEB011B3-FD6A-4C1D-B8BB-9AC0F739CFFA}"/>
              </a:ext>
            </a:extLst>
          </p:cNvPr>
          <p:cNvGrpSpPr/>
          <p:nvPr/>
        </p:nvGrpSpPr>
        <p:grpSpPr>
          <a:xfrm>
            <a:off x="559817" y="1865258"/>
            <a:ext cx="8783192" cy="215444"/>
            <a:chOff x="559817" y="2136914"/>
            <a:chExt cx="8783192" cy="215444"/>
          </a:xfrm>
        </p:grpSpPr>
        <p:sp>
          <p:nvSpPr>
            <p:cNvPr id="37" name="직사각형 36">
              <a:extLst>
                <a:ext uri="{FF2B5EF4-FFF2-40B4-BE49-F238E27FC236}">
                  <a16:creationId xmlns:a16="http://schemas.microsoft.com/office/drawing/2014/main" id="{1CF5D0B0-999D-4423-A1CA-7DBA1B2DAF46}"/>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8" name="직사각형 37">
              <a:extLst>
                <a:ext uri="{FF2B5EF4-FFF2-40B4-BE49-F238E27FC236}">
                  <a16:creationId xmlns:a16="http://schemas.microsoft.com/office/drawing/2014/main" id="{66DD0C60-1C9B-4E16-9E80-7CE37661C84A}"/>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buClr>
                  <a:srgbClr val="193EB0"/>
                </a:buClr>
              </a:pPr>
              <a:r>
                <a:rPr lang="en-US" altLang="ko-KR" sz="1400" dirty="0">
                  <a:solidFill>
                    <a:schemeClr val="tx1"/>
                  </a:solidFill>
                  <a:latin typeface="SamsungOne 400" panose="020B0503030303020204" pitchFamily="34" charset="0"/>
                </a:rPr>
                <a:t>Gini index</a:t>
              </a:r>
            </a:p>
          </p:txBody>
        </p:sp>
      </p:grpSp>
      <p:sp>
        <p:nvSpPr>
          <p:cNvPr id="39" name="직사각형 38">
            <a:extLst>
              <a:ext uri="{FF2B5EF4-FFF2-40B4-BE49-F238E27FC236}">
                <a16:creationId xmlns:a16="http://schemas.microsoft.com/office/drawing/2014/main" id="{ED85D3E2-8DD5-4864-875A-6FA3D4AED94A}"/>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2400" dirty="0">
                <a:solidFill>
                  <a:schemeClr val="tx1">
                    <a:lumMod val="95000"/>
                    <a:lumOff val="5000"/>
                  </a:schemeClr>
                </a:solidFill>
                <a:latin typeface="Samsung Sharp Sans" pitchFamily="2" charset="0"/>
                <a:cs typeface="Samsung Sharp Sans" pitchFamily="2" charset="0"/>
              </a:rPr>
              <a:t>Impurity measure</a:t>
            </a:r>
            <a:endParaRPr lang="ko-KR" altLang="en-US" sz="2400" dirty="0">
              <a:solidFill>
                <a:schemeClr val="tx1">
                  <a:lumMod val="95000"/>
                  <a:lumOff val="5000"/>
                </a:schemeClr>
              </a:solidFill>
              <a:latin typeface="Samsung Sharp Sans" pitchFamily="2" charset="0"/>
              <a:cs typeface="Samsung Sharp Sans" pitchFamily="2" charset="0"/>
            </a:endParaRPr>
          </a:p>
        </p:txBody>
      </p:sp>
    </p:spTree>
    <p:extLst>
      <p:ext uri="{BB962C8B-B14F-4D97-AF65-F5344CB8AC3E}">
        <p14:creationId xmlns:p14="http://schemas.microsoft.com/office/powerpoint/2010/main" val="791931399"/>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buClr>
                  <a:srgbClr val="193EB0"/>
                </a:buClr>
              </a:pPr>
              <a:r>
                <a:rPr lang="en-US" altLang="ko-KR" sz="1400" dirty="0">
                  <a:solidFill>
                    <a:schemeClr val="tx1"/>
                  </a:solidFill>
                  <a:latin typeface="SamsungOne 400" panose="020B0503030303020204" pitchFamily="34" charset="0"/>
                  <a:ea typeface="SamsungOne 400" panose="020B0503030303020204" pitchFamily="34" charset="0"/>
                </a:rPr>
                <a:t>Entropy measure</a:t>
              </a:r>
            </a:p>
          </p:txBody>
        </p:sp>
      </p:grpSp>
      <mc:AlternateContent xmlns:mc="http://schemas.openxmlformats.org/markup-compatibility/2006" xmlns:a14="http://schemas.microsoft.com/office/drawing/2010/main">
        <mc:Choice Requires="a14">
          <p:sp>
            <p:nvSpPr>
              <p:cNvPr id="200" name="직사각형 199">
                <a:extLst>
                  <a:ext uri="{FF2B5EF4-FFF2-40B4-BE49-F238E27FC236}">
                    <a16:creationId xmlns:a16="http://schemas.microsoft.com/office/drawing/2014/main" id="{1ACF2BF2-E48B-4341-BB04-F6BAF8F6D564}"/>
                  </a:ext>
                </a:extLst>
              </p:cNvPr>
              <p:cNvSpPr/>
              <p:nvPr/>
            </p:nvSpPr>
            <p:spPr>
              <a:xfrm>
                <a:off x="670746" y="1664948"/>
                <a:ext cx="8673279" cy="11508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1"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thermodynamics, entropy measures the degree of disorder.</a:t>
                </a:r>
                <a:endParaRPr lang="ko-KR" altLang="en-US" sz="1300" dirty="0">
                  <a:solidFill>
                    <a:schemeClr val="tx1">
                      <a:lumMod val="85000"/>
                      <a:lumOff val="15000"/>
                    </a:schemeClr>
                  </a:solidFill>
                  <a:latin typeface="SamsungOne 400" panose="020B0503030303020204" pitchFamily="34" charset="0"/>
                </a:endParaRPr>
              </a:p>
              <a:p>
                <a:pPr marL="182526" lvl="1"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rPr>
                  <a:t>Creates child nodes with a predictor variable with the lowest entropy measure and the optimal partitioning.</a:t>
                </a:r>
                <a:endParaRPr lang="ko-KR" altLang="en-US" sz="1300" dirty="0">
                  <a:solidFill>
                    <a:schemeClr val="tx1">
                      <a:lumMod val="85000"/>
                      <a:lumOff val="15000"/>
                    </a:schemeClr>
                  </a:solidFill>
                  <a:latin typeface="SamsungOne 400" panose="020B0503030303020204" pitchFamily="34" charset="0"/>
                </a:endParaRPr>
              </a:p>
              <a:p>
                <a:pPr marL="182526" lvl="1"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the T dataset is split into k categories and the category performance ratios are </a:t>
                </a:r>
                <a14:m>
                  <m:oMath xmlns:m="http://schemas.openxmlformats.org/officeDocument/2006/math">
                    <m:sSub>
                      <m:sSubPr>
                        <m:ctrlPr>
                          <a:rPr lang="en-US" altLang="ko-KR" sz="1300" i="1" smtClean="0">
                            <a:solidFill>
                              <a:schemeClr val="tx1">
                                <a:lumMod val="85000"/>
                                <a:lumOff val="15000"/>
                              </a:schemeClr>
                            </a:solidFill>
                            <a:latin typeface="Cambria Math" panose="02040503050406030204" pitchFamily="18" charset="0"/>
                          </a:rPr>
                        </m:ctrlPr>
                      </m:sSubPr>
                      <m:e>
                        <m:r>
                          <a:rPr lang="en-US" altLang="ko-KR" sz="1300" b="0" i="1" smtClean="0">
                            <a:solidFill>
                              <a:schemeClr val="tx1">
                                <a:lumMod val="85000"/>
                                <a:lumOff val="15000"/>
                              </a:schemeClr>
                            </a:solidFill>
                            <a:latin typeface="Cambria Math" panose="02040503050406030204" pitchFamily="18" charset="0"/>
                          </a:rPr>
                          <m:t>𝑝</m:t>
                        </m:r>
                      </m:e>
                      <m:sub>
                        <m:r>
                          <a:rPr lang="en-US" altLang="ko-KR" sz="1300" b="0" i="1" smtClean="0">
                            <a:solidFill>
                              <a:schemeClr val="tx1">
                                <a:lumMod val="85000"/>
                                <a:lumOff val="15000"/>
                              </a:schemeClr>
                            </a:solidFill>
                            <a:latin typeface="Cambria Math" panose="02040503050406030204" pitchFamily="18" charset="0"/>
                          </a:rPr>
                          <m:t>1</m:t>
                        </m:r>
                      </m:sub>
                    </m:sSub>
                    <m:r>
                      <a:rPr lang="en-US" altLang="ko-KR" sz="1300" b="0" i="1" smtClean="0">
                        <a:solidFill>
                          <a:schemeClr val="tx1">
                            <a:lumMod val="85000"/>
                            <a:lumOff val="15000"/>
                          </a:schemeClr>
                        </a:solidFill>
                        <a:latin typeface="Cambria Math" panose="02040503050406030204" pitchFamily="18" charset="0"/>
                      </a:rPr>
                      <m:t>,…, </m:t>
                    </m:r>
                    <m:sSub>
                      <m:sSubPr>
                        <m:ctrlPr>
                          <a:rPr lang="en-US" altLang="ko-KR" sz="1300" b="0" i="1" smtClean="0">
                            <a:solidFill>
                              <a:schemeClr val="tx1">
                                <a:lumMod val="85000"/>
                                <a:lumOff val="15000"/>
                              </a:schemeClr>
                            </a:solidFill>
                            <a:latin typeface="Cambria Math" panose="02040503050406030204" pitchFamily="18" charset="0"/>
                          </a:rPr>
                        </m:ctrlPr>
                      </m:sSubPr>
                      <m:e>
                        <m:r>
                          <a:rPr lang="en-US" altLang="ko-KR" sz="1300" b="0" i="1" smtClean="0">
                            <a:solidFill>
                              <a:schemeClr val="tx1">
                                <a:lumMod val="85000"/>
                                <a:lumOff val="15000"/>
                              </a:schemeClr>
                            </a:solidFill>
                            <a:latin typeface="Cambria Math" panose="02040503050406030204" pitchFamily="18" charset="0"/>
                          </a:rPr>
                          <m:t>𝑝</m:t>
                        </m:r>
                      </m:e>
                      <m:sub>
                        <m:r>
                          <a:rPr lang="en-US" altLang="ko-KR" sz="1300" b="0" i="1" smtClean="0">
                            <a:solidFill>
                              <a:schemeClr val="tx1">
                                <a:lumMod val="85000"/>
                                <a:lumOff val="15000"/>
                              </a:schemeClr>
                            </a:solidFill>
                            <a:latin typeface="Cambria Math" panose="02040503050406030204" pitchFamily="18" charset="0"/>
                          </a:rPr>
                          <m:t>𝑘</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it is expressed as the following equation.</a:t>
                </a:r>
                <a:endParaRPr lang="ko-KR" altLang="en-US" sz="1300" dirty="0">
                  <a:solidFill>
                    <a:schemeClr val="tx1">
                      <a:lumMod val="85000"/>
                      <a:lumOff val="15000"/>
                    </a:schemeClr>
                  </a:solidFill>
                  <a:latin typeface="SamsungOne 400" panose="020B0503030303020204" pitchFamily="34" charset="0"/>
                </a:endParaRPr>
              </a:p>
            </p:txBody>
          </p:sp>
        </mc:Choice>
        <mc:Fallback xmlns="">
          <p:sp>
            <p:nvSpPr>
              <p:cNvPr id="200" name="직사각형 199">
                <a:extLst>
                  <a:ext uri="{FF2B5EF4-FFF2-40B4-BE49-F238E27FC236}">
                    <a16:creationId xmlns="" xmlns:a16="http://schemas.microsoft.com/office/drawing/2014/main" xmlns:a14="http://schemas.microsoft.com/office/drawing/2010/main" id="{1ACF2BF2-E48B-4341-BB04-F6BAF8F6D564}"/>
                  </a:ext>
                </a:extLst>
              </p:cNvPr>
              <p:cNvSpPr>
                <a:spLocks noRot="1" noChangeAspect="1" noMove="1" noResize="1" noEditPoints="1" noAdjustHandles="1" noChangeArrowheads="1" noChangeShapeType="1" noTextEdit="1"/>
              </p:cNvSpPr>
              <p:nvPr/>
            </p:nvSpPr>
            <p:spPr>
              <a:xfrm>
                <a:off x="670746" y="1664948"/>
                <a:ext cx="8673279" cy="1150810"/>
              </a:xfrm>
              <a:prstGeom prst="rect">
                <a:avLst/>
              </a:prstGeom>
              <a:blipFill rotWithShape="0">
                <a:blip r:embed="rId3"/>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9F498AF1-C34D-49A8-989A-2934236F8D6B}"/>
                  </a:ext>
                </a:extLst>
              </p:cNvPr>
              <p:cNvSpPr txBox="1"/>
              <p:nvPr/>
            </p:nvSpPr>
            <p:spPr>
              <a:xfrm>
                <a:off x="3478302" y="2816932"/>
                <a:ext cx="2946219" cy="8922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smtClean="0">
                          <a:solidFill>
                            <a:schemeClr val="tx1">
                              <a:lumMod val="85000"/>
                              <a:lumOff val="15000"/>
                            </a:schemeClr>
                          </a:solidFill>
                          <a:latin typeface="Cambria Math" panose="02040503050406030204" pitchFamily="18" charset="0"/>
                        </a:rPr>
                        <m:t>𝐸𝑛𝑡𝑟𝑜𝑝𝑦</m:t>
                      </m:r>
                      <m:d>
                        <m:dPr>
                          <m:ctrlPr>
                            <a:rPr lang="en-US" i="1">
                              <a:solidFill>
                                <a:schemeClr val="tx1">
                                  <a:lumMod val="85000"/>
                                  <a:lumOff val="15000"/>
                                </a:schemeClr>
                              </a:solidFill>
                              <a:latin typeface="Cambria Math" panose="02040503050406030204" pitchFamily="18" charset="0"/>
                            </a:rPr>
                          </m:ctrlPr>
                        </m:dPr>
                        <m:e>
                          <m:r>
                            <a:rPr lang="en-US">
                              <a:solidFill>
                                <a:schemeClr val="tx1">
                                  <a:lumMod val="85000"/>
                                  <a:lumOff val="15000"/>
                                </a:schemeClr>
                              </a:solidFill>
                              <a:latin typeface="Cambria Math" panose="02040503050406030204" pitchFamily="18" charset="0"/>
                            </a:rPr>
                            <m:t>𝑇</m:t>
                          </m:r>
                        </m:e>
                      </m:d>
                      <m:r>
                        <a:rPr lang="en-US">
                          <a:solidFill>
                            <a:schemeClr val="tx1">
                              <a:lumMod val="85000"/>
                              <a:lumOff val="15000"/>
                            </a:schemeClr>
                          </a:solidFill>
                          <a:latin typeface="Cambria Math" panose="02040503050406030204" pitchFamily="18" charset="0"/>
                        </a:rPr>
                        <m:t>=−</m:t>
                      </m:r>
                      <m:nary>
                        <m:naryPr>
                          <m:chr m:val="∑"/>
                          <m:ctrlPr>
                            <a:rPr lang="en-US" i="1">
                              <a:solidFill>
                                <a:schemeClr val="tx1">
                                  <a:lumMod val="85000"/>
                                  <a:lumOff val="15000"/>
                                </a:schemeClr>
                              </a:solidFill>
                              <a:latin typeface="Cambria Math" panose="02040503050406030204" pitchFamily="18" charset="0"/>
                            </a:rPr>
                          </m:ctrlPr>
                        </m:naryPr>
                        <m:sub>
                          <m:r>
                            <m:rPr>
                              <m:brk m:alnAt="23"/>
                            </m:rPr>
                            <a:rPr lang="en-US">
                              <a:solidFill>
                                <a:schemeClr val="tx1">
                                  <a:lumMod val="85000"/>
                                  <a:lumOff val="15000"/>
                                </a:schemeClr>
                              </a:solidFill>
                              <a:latin typeface="Cambria Math" panose="02040503050406030204" pitchFamily="18" charset="0"/>
                            </a:rPr>
                            <m:t>𝑙</m:t>
                          </m:r>
                          <m:r>
                            <a:rPr lang="en-US">
                              <a:solidFill>
                                <a:schemeClr val="tx1">
                                  <a:lumMod val="85000"/>
                                  <a:lumOff val="15000"/>
                                </a:schemeClr>
                              </a:solidFill>
                              <a:latin typeface="Cambria Math" panose="02040503050406030204" pitchFamily="18" charset="0"/>
                            </a:rPr>
                            <m:t>=1</m:t>
                          </m:r>
                        </m:sub>
                        <m:sup>
                          <m:r>
                            <a:rPr lang="en-US">
                              <a:solidFill>
                                <a:schemeClr val="tx1">
                                  <a:lumMod val="85000"/>
                                  <a:lumOff val="15000"/>
                                </a:schemeClr>
                              </a:solidFill>
                              <a:latin typeface="Cambria Math" panose="02040503050406030204" pitchFamily="18" charset="0"/>
                            </a:rPr>
                            <m:t>𝑘</m:t>
                          </m:r>
                        </m:sup>
                        <m:e>
                          <m:sSub>
                            <m:sSubPr>
                              <m:ctrlPr>
                                <a:rPr lang="en-US" i="1">
                                  <a:solidFill>
                                    <a:schemeClr val="tx1">
                                      <a:lumMod val="85000"/>
                                      <a:lumOff val="15000"/>
                                    </a:schemeClr>
                                  </a:solidFill>
                                  <a:latin typeface="Cambria Math" panose="02040503050406030204" pitchFamily="18" charset="0"/>
                                </a:rPr>
                              </m:ctrlPr>
                            </m:sSubPr>
                            <m:e>
                              <m:r>
                                <a:rPr lang="en-US">
                                  <a:solidFill>
                                    <a:schemeClr val="tx1">
                                      <a:lumMod val="85000"/>
                                      <a:lumOff val="15000"/>
                                    </a:schemeClr>
                                  </a:solidFill>
                                  <a:latin typeface="Cambria Math" panose="02040503050406030204" pitchFamily="18" charset="0"/>
                                </a:rPr>
                                <m:t>𝑝</m:t>
                              </m:r>
                            </m:e>
                            <m:sub>
                              <m:r>
                                <a:rPr lang="en-US">
                                  <a:solidFill>
                                    <a:schemeClr val="tx1">
                                      <a:lumMod val="85000"/>
                                      <a:lumOff val="15000"/>
                                    </a:schemeClr>
                                  </a:solidFill>
                                  <a:latin typeface="Cambria Math" panose="02040503050406030204" pitchFamily="18" charset="0"/>
                                </a:rPr>
                                <m:t>𝑙</m:t>
                              </m:r>
                            </m:sub>
                          </m:sSub>
                          <m:func>
                            <m:funcPr>
                              <m:ctrlPr>
                                <a:rPr lang="en-US" i="1">
                                  <a:solidFill>
                                    <a:schemeClr val="tx1">
                                      <a:lumMod val="85000"/>
                                      <a:lumOff val="15000"/>
                                    </a:schemeClr>
                                  </a:solidFill>
                                  <a:latin typeface="Cambria Math" panose="02040503050406030204" pitchFamily="18" charset="0"/>
                                </a:rPr>
                              </m:ctrlPr>
                            </m:funcPr>
                            <m:fName>
                              <m:sSub>
                                <m:sSubPr>
                                  <m:ctrlPr>
                                    <a:rPr lang="en-US" i="1">
                                      <a:solidFill>
                                        <a:schemeClr val="tx1">
                                          <a:lumMod val="85000"/>
                                          <a:lumOff val="15000"/>
                                        </a:schemeClr>
                                      </a:solidFill>
                                      <a:latin typeface="Cambria Math" panose="02040503050406030204" pitchFamily="18" charset="0"/>
                                    </a:rPr>
                                  </m:ctrlPr>
                                </m:sSubPr>
                                <m:e>
                                  <m:r>
                                    <m:rPr>
                                      <m:sty m:val="p"/>
                                    </m:rPr>
                                    <a:rPr lang="en-US">
                                      <a:solidFill>
                                        <a:schemeClr val="tx1">
                                          <a:lumMod val="85000"/>
                                          <a:lumOff val="15000"/>
                                        </a:schemeClr>
                                      </a:solidFill>
                                      <a:latin typeface="Cambria Math" panose="02040503050406030204" pitchFamily="18" charset="0"/>
                                    </a:rPr>
                                    <m:t>log</m:t>
                                  </m:r>
                                </m:e>
                                <m:sub>
                                  <m:r>
                                    <a:rPr lang="en-US">
                                      <a:solidFill>
                                        <a:schemeClr val="tx1">
                                          <a:lumMod val="85000"/>
                                          <a:lumOff val="15000"/>
                                        </a:schemeClr>
                                      </a:solidFill>
                                      <a:latin typeface="Cambria Math" panose="02040503050406030204" pitchFamily="18" charset="0"/>
                                    </a:rPr>
                                    <m:t>2</m:t>
                                  </m:r>
                                </m:sub>
                              </m:sSub>
                            </m:fName>
                            <m:e>
                              <m:sSub>
                                <m:sSubPr>
                                  <m:ctrlPr>
                                    <a:rPr lang="en-US" i="1">
                                      <a:solidFill>
                                        <a:schemeClr val="tx1">
                                          <a:lumMod val="85000"/>
                                          <a:lumOff val="15000"/>
                                        </a:schemeClr>
                                      </a:solidFill>
                                      <a:latin typeface="Cambria Math" panose="02040503050406030204" pitchFamily="18" charset="0"/>
                                    </a:rPr>
                                  </m:ctrlPr>
                                </m:sSubPr>
                                <m:e>
                                  <m:r>
                                    <a:rPr lang="en-US">
                                      <a:solidFill>
                                        <a:schemeClr val="tx1">
                                          <a:lumMod val="85000"/>
                                          <a:lumOff val="15000"/>
                                        </a:schemeClr>
                                      </a:solidFill>
                                      <a:latin typeface="Cambria Math" panose="02040503050406030204" pitchFamily="18" charset="0"/>
                                    </a:rPr>
                                    <m:t>𝑝</m:t>
                                  </m:r>
                                </m:e>
                                <m:sub>
                                  <m:r>
                                    <a:rPr lang="en-US">
                                      <a:solidFill>
                                        <a:schemeClr val="tx1">
                                          <a:lumMod val="85000"/>
                                          <a:lumOff val="15000"/>
                                        </a:schemeClr>
                                      </a:solidFill>
                                      <a:latin typeface="Cambria Math" panose="02040503050406030204" pitchFamily="18" charset="0"/>
                                    </a:rPr>
                                    <m:t>𝑙</m:t>
                                  </m:r>
                                </m:sub>
                              </m:sSub>
                            </m:e>
                          </m:func>
                        </m:e>
                      </m:nary>
                    </m:oMath>
                  </m:oMathPara>
                </a14:m>
                <a:endParaRPr lang="en-US" dirty="0">
                  <a:solidFill>
                    <a:schemeClr val="tx1">
                      <a:lumMod val="85000"/>
                      <a:lumOff val="15000"/>
                    </a:schemeClr>
                  </a:solidFill>
                </a:endParaRPr>
              </a:p>
            </p:txBody>
          </p:sp>
        </mc:Choice>
        <mc:Fallback xmlns="">
          <p:sp>
            <p:nvSpPr>
              <p:cNvPr id="36" name="TextBox 35">
                <a:extLst>
                  <a:ext uri="{FF2B5EF4-FFF2-40B4-BE49-F238E27FC236}">
                    <a16:creationId xmlns:a16="http://schemas.microsoft.com/office/drawing/2014/main" xmlns:a14="http://schemas.microsoft.com/office/drawing/2010/main" xmlns="" id="{9F498AF1-C34D-49A8-989A-2934236F8D6B}"/>
                  </a:ext>
                </a:extLst>
              </p:cNvPr>
              <p:cNvSpPr txBox="1">
                <a:spLocks noRot="1" noChangeAspect="1" noMove="1" noResize="1" noEditPoints="1" noAdjustHandles="1" noChangeArrowheads="1" noChangeShapeType="1" noTextEdit="1"/>
              </p:cNvSpPr>
              <p:nvPr/>
            </p:nvSpPr>
            <p:spPr>
              <a:xfrm>
                <a:off x="3478302" y="2816932"/>
                <a:ext cx="2946219" cy="892232"/>
              </a:xfrm>
              <a:prstGeom prst="rect">
                <a:avLst/>
              </a:prstGeom>
              <a:blipFill rotWithShape="0">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5E860A8-26C3-41DC-B6B9-66919BE8E3B7}"/>
                  </a:ext>
                </a:extLst>
              </p:cNvPr>
              <p:cNvSpPr txBox="1"/>
              <p:nvPr/>
            </p:nvSpPr>
            <p:spPr>
              <a:xfrm>
                <a:off x="2842262" y="4334353"/>
                <a:ext cx="4218298" cy="4411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smtClean="0">
                          <a:solidFill>
                            <a:schemeClr val="tx1">
                              <a:lumMod val="85000"/>
                              <a:lumOff val="15000"/>
                            </a:schemeClr>
                          </a:solidFill>
                          <a:latin typeface="Cambria Math" panose="02040503050406030204" pitchFamily="18" charset="0"/>
                        </a:rPr>
                        <m:t>𝐸𝑛𝑡𝑟𝑜𝑝𝑦</m:t>
                      </m:r>
                      <m:d>
                        <m:dPr>
                          <m:ctrlPr>
                            <a:rPr lang="en-US" i="1">
                              <a:solidFill>
                                <a:schemeClr val="tx1">
                                  <a:lumMod val="85000"/>
                                  <a:lumOff val="15000"/>
                                </a:schemeClr>
                              </a:solidFill>
                              <a:latin typeface="Cambria Math" panose="02040503050406030204" pitchFamily="18" charset="0"/>
                            </a:rPr>
                          </m:ctrlPr>
                        </m:dPr>
                        <m:e>
                          <m:sSub>
                            <m:sSubPr>
                              <m:ctrlPr>
                                <a:rPr lang="en-US" i="1">
                                  <a:solidFill>
                                    <a:schemeClr val="tx1">
                                      <a:lumMod val="85000"/>
                                      <a:lumOff val="15000"/>
                                    </a:schemeClr>
                                  </a:solidFill>
                                  <a:latin typeface="Cambria Math" panose="02040503050406030204" pitchFamily="18" charset="0"/>
                                </a:rPr>
                              </m:ctrlPr>
                            </m:sSubPr>
                            <m:e>
                              <m:r>
                                <a:rPr lang="en-US">
                                  <a:solidFill>
                                    <a:schemeClr val="tx1">
                                      <a:lumMod val="85000"/>
                                      <a:lumOff val="15000"/>
                                    </a:schemeClr>
                                  </a:solidFill>
                                  <a:latin typeface="Cambria Math" panose="02040503050406030204" pitchFamily="18" charset="0"/>
                                </a:rPr>
                                <m:t>𝑇</m:t>
                              </m:r>
                            </m:e>
                            <m:sub>
                              <m:r>
                                <a:rPr lang="en-US">
                                  <a:solidFill>
                                    <a:schemeClr val="tx1">
                                      <a:lumMod val="85000"/>
                                      <a:lumOff val="15000"/>
                                    </a:schemeClr>
                                  </a:solidFill>
                                  <a:latin typeface="Cambria Math" panose="02040503050406030204" pitchFamily="18" charset="0"/>
                                </a:rPr>
                                <m:t>0</m:t>
                              </m:r>
                            </m:sub>
                          </m:sSub>
                        </m:e>
                      </m:d>
                      <m:r>
                        <a:rPr lang="en-US">
                          <a:solidFill>
                            <a:schemeClr val="tx1">
                              <a:lumMod val="85000"/>
                              <a:lumOff val="15000"/>
                            </a:schemeClr>
                          </a:solidFill>
                          <a:latin typeface="Cambria Math" panose="02040503050406030204" pitchFamily="18" charset="0"/>
                        </a:rPr>
                        <m:t>=−(0.25</m:t>
                      </m:r>
                      <m:func>
                        <m:funcPr>
                          <m:ctrlPr>
                            <a:rPr lang="en-US" i="1">
                              <a:solidFill>
                                <a:schemeClr val="tx1">
                                  <a:lumMod val="85000"/>
                                  <a:lumOff val="15000"/>
                                </a:schemeClr>
                              </a:solidFill>
                              <a:latin typeface="Cambria Math" panose="02040503050406030204" pitchFamily="18" charset="0"/>
                            </a:rPr>
                          </m:ctrlPr>
                        </m:funcPr>
                        <m:fName>
                          <m:sSub>
                            <m:sSubPr>
                              <m:ctrlPr>
                                <a:rPr lang="en-US" i="1">
                                  <a:solidFill>
                                    <a:schemeClr val="tx1">
                                      <a:lumMod val="85000"/>
                                      <a:lumOff val="15000"/>
                                    </a:schemeClr>
                                  </a:solidFill>
                                  <a:latin typeface="Cambria Math" panose="02040503050406030204" pitchFamily="18" charset="0"/>
                                </a:rPr>
                              </m:ctrlPr>
                            </m:sSubPr>
                            <m:e>
                              <m:r>
                                <m:rPr>
                                  <m:sty m:val="p"/>
                                </m:rPr>
                                <a:rPr lang="en-US">
                                  <a:solidFill>
                                    <a:schemeClr val="tx1">
                                      <a:lumMod val="85000"/>
                                      <a:lumOff val="15000"/>
                                    </a:schemeClr>
                                  </a:solidFill>
                                  <a:latin typeface="Cambria Math" panose="02040503050406030204" pitchFamily="18" charset="0"/>
                                </a:rPr>
                                <m:t>log</m:t>
                              </m:r>
                            </m:e>
                            <m:sub>
                              <m:r>
                                <a:rPr lang="en-US">
                                  <a:solidFill>
                                    <a:schemeClr val="tx1">
                                      <a:lumMod val="85000"/>
                                      <a:lumOff val="15000"/>
                                    </a:schemeClr>
                                  </a:solidFill>
                                  <a:latin typeface="Cambria Math" panose="02040503050406030204" pitchFamily="18" charset="0"/>
                                </a:rPr>
                                <m:t>2</m:t>
                              </m:r>
                            </m:sub>
                          </m:sSub>
                        </m:fName>
                        <m:e>
                          <m:r>
                            <a:rPr lang="en-US">
                              <a:solidFill>
                                <a:schemeClr val="tx1">
                                  <a:lumMod val="85000"/>
                                  <a:lumOff val="15000"/>
                                </a:schemeClr>
                              </a:solidFill>
                              <a:latin typeface="Cambria Math" panose="02040503050406030204" pitchFamily="18" charset="0"/>
                            </a:rPr>
                            <m:t>0.25)</m:t>
                          </m:r>
                        </m:e>
                      </m:func>
                      <m:r>
                        <a:rPr lang="en-US">
                          <a:solidFill>
                            <a:schemeClr val="tx1">
                              <a:lumMod val="85000"/>
                              <a:lumOff val="15000"/>
                            </a:schemeClr>
                          </a:solidFill>
                          <a:latin typeface="Cambria Math" panose="02040503050406030204" pitchFamily="18" charset="0"/>
                        </a:rPr>
                        <m:t>∗4=1.39</m:t>
                      </m:r>
                    </m:oMath>
                  </m:oMathPara>
                </a14:m>
                <a:endParaRPr lang="en-US" dirty="0">
                  <a:solidFill>
                    <a:schemeClr val="tx1">
                      <a:lumMod val="85000"/>
                      <a:lumOff val="15000"/>
                    </a:schemeClr>
                  </a:solidFill>
                </a:endParaRPr>
              </a:p>
            </p:txBody>
          </p:sp>
        </mc:Choice>
        <mc:Fallback xmlns="">
          <p:sp>
            <p:nvSpPr>
              <p:cNvPr id="37" name="TextBox 36">
                <a:extLst>
                  <a:ext uri="{FF2B5EF4-FFF2-40B4-BE49-F238E27FC236}">
                    <a16:creationId xmlns:a16="http://schemas.microsoft.com/office/drawing/2014/main" xmlns:a14="http://schemas.microsoft.com/office/drawing/2010/main" xmlns="" id="{A5E860A8-26C3-41DC-B6B9-66919BE8E3B7}"/>
                  </a:ext>
                </a:extLst>
              </p:cNvPr>
              <p:cNvSpPr txBox="1">
                <a:spLocks noRot="1" noChangeAspect="1" noMove="1" noResize="1" noEditPoints="1" noAdjustHandles="1" noChangeArrowheads="1" noChangeShapeType="1" noTextEdit="1"/>
              </p:cNvSpPr>
              <p:nvPr/>
            </p:nvSpPr>
            <p:spPr>
              <a:xfrm>
                <a:off x="2842262" y="4334353"/>
                <a:ext cx="4218298" cy="441146"/>
              </a:xfrm>
              <a:prstGeom prst="rect">
                <a:avLst/>
              </a:prstGeom>
              <a:blipFill rotWithShape="0">
                <a:blip r:embed="rId5"/>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9082440-D8CA-4EDF-B849-D4654825EF22}"/>
                  </a:ext>
                </a:extLst>
              </p:cNvPr>
              <p:cNvSpPr txBox="1"/>
              <p:nvPr/>
            </p:nvSpPr>
            <p:spPr>
              <a:xfrm>
                <a:off x="1661779" y="5475706"/>
                <a:ext cx="6579264" cy="4411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14:m>
                  <m:oMathPara xmlns:m="http://schemas.openxmlformats.org/officeDocument/2006/math">
                    <m:oMathParaPr>
                      <m:jc m:val="centerGroup"/>
                    </m:oMathParaPr>
                    <m:oMath xmlns:m="http://schemas.openxmlformats.org/officeDocument/2006/math">
                      <m:r>
                        <a:rPr lang="en-US" smtClean="0">
                          <a:solidFill>
                            <a:schemeClr val="tx1">
                              <a:lumMod val="85000"/>
                              <a:lumOff val="15000"/>
                            </a:schemeClr>
                          </a:solidFill>
                          <a:latin typeface="Cambria Math" panose="02040503050406030204" pitchFamily="18" charset="0"/>
                        </a:rPr>
                        <m:t>𝐸𝑛𝑡𝑟𝑜𝑝𝑦</m:t>
                      </m:r>
                      <m:d>
                        <m:dPr>
                          <m:ctrlPr>
                            <a:rPr lang="en-US" i="1">
                              <a:solidFill>
                                <a:schemeClr val="tx1">
                                  <a:lumMod val="85000"/>
                                  <a:lumOff val="15000"/>
                                </a:schemeClr>
                              </a:solidFill>
                              <a:latin typeface="Cambria Math" panose="02040503050406030204" pitchFamily="18" charset="0"/>
                            </a:rPr>
                          </m:ctrlPr>
                        </m:dPr>
                        <m:e>
                          <m:sSub>
                            <m:sSubPr>
                              <m:ctrlPr>
                                <a:rPr lang="en-US" i="1">
                                  <a:solidFill>
                                    <a:schemeClr val="tx1">
                                      <a:lumMod val="85000"/>
                                      <a:lumOff val="15000"/>
                                    </a:schemeClr>
                                  </a:solidFill>
                                  <a:latin typeface="Cambria Math" panose="02040503050406030204" pitchFamily="18" charset="0"/>
                                </a:rPr>
                              </m:ctrlPr>
                            </m:sSubPr>
                            <m:e>
                              <m:r>
                                <a:rPr lang="en-US">
                                  <a:solidFill>
                                    <a:schemeClr val="tx1">
                                      <a:lumMod val="85000"/>
                                      <a:lumOff val="15000"/>
                                    </a:schemeClr>
                                  </a:solidFill>
                                  <a:latin typeface="Cambria Math" panose="02040503050406030204" pitchFamily="18" charset="0"/>
                                </a:rPr>
                                <m:t>𝑇</m:t>
                              </m:r>
                            </m:e>
                            <m:sub>
                              <m:r>
                                <a:rPr lang="en-US">
                                  <a:solidFill>
                                    <a:schemeClr val="tx1">
                                      <a:lumMod val="85000"/>
                                      <a:lumOff val="15000"/>
                                    </a:schemeClr>
                                  </a:solidFill>
                                  <a:latin typeface="Cambria Math" panose="02040503050406030204" pitchFamily="18" charset="0"/>
                                </a:rPr>
                                <m:t>1</m:t>
                              </m:r>
                            </m:sub>
                          </m:sSub>
                        </m:e>
                      </m:d>
                      <m:r>
                        <a:rPr lang="en-US">
                          <a:solidFill>
                            <a:schemeClr val="tx1">
                              <a:lumMod val="85000"/>
                              <a:lumOff val="15000"/>
                            </a:schemeClr>
                          </a:solidFill>
                          <a:latin typeface="Cambria Math" panose="02040503050406030204" pitchFamily="18" charset="0"/>
                        </a:rPr>
                        <m:t>=−(0.5</m:t>
                      </m:r>
                      <m:func>
                        <m:funcPr>
                          <m:ctrlPr>
                            <a:rPr lang="en-US" i="1">
                              <a:solidFill>
                                <a:schemeClr val="tx1">
                                  <a:lumMod val="85000"/>
                                  <a:lumOff val="15000"/>
                                </a:schemeClr>
                              </a:solidFill>
                              <a:latin typeface="Cambria Math" panose="02040503050406030204" pitchFamily="18" charset="0"/>
                            </a:rPr>
                          </m:ctrlPr>
                        </m:funcPr>
                        <m:fName>
                          <m:sSub>
                            <m:sSubPr>
                              <m:ctrlPr>
                                <a:rPr lang="en-US" i="1">
                                  <a:solidFill>
                                    <a:schemeClr val="tx1">
                                      <a:lumMod val="85000"/>
                                      <a:lumOff val="15000"/>
                                    </a:schemeClr>
                                  </a:solidFill>
                                  <a:latin typeface="Cambria Math" panose="02040503050406030204" pitchFamily="18" charset="0"/>
                                </a:rPr>
                              </m:ctrlPr>
                            </m:sSubPr>
                            <m:e>
                              <m:r>
                                <m:rPr>
                                  <m:sty m:val="p"/>
                                </m:rPr>
                                <a:rPr lang="en-US">
                                  <a:solidFill>
                                    <a:schemeClr val="tx1">
                                      <a:lumMod val="85000"/>
                                      <a:lumOff val="15000"/>
                                    </a:schemeClr>
                                  </a:solidFill>
                                  <a:latin typeface="Cambria Math" panose="02040503050406030204" pitchFamily="18" charset="0"/>
                                </a:rPr>
                                <m:t>log</m:t>
                              </m:r>
                            </m:e>
                            <m:sub>
                              <m:r>
                                <a:rPr lang="en-US">
                                  <a:solidFill>
                                    <a:schemeClr val="tx1">
                                      <a:lumMod val="85000"/>
                                      <a:lumOff val="15000"/>
                                    </a:schemeClr>
                                  </a:solidFill>
                                  <a:latin typeface="Cambria Math" panose="02040503050406030204" pitchFamily="18" charset="0"/>
                                </a:rPr>
                                <m:t>2</m:t>
                              </m:r>
                            </m:sub>
                          </m:sSub>
                        </m:fName>
                        <m:e>
                          <m:r>
                            <a:rPr lang="en-US">
                              <a:solidFill>
                                <a:schemeClr val="tx1">
                                  <a:lumMod val="85000"/>
                                  <a:lumOff val="15000"/>
                                </a:schemeClr>
                              </a:solidFill>
                              <a:latin typeface="Cambria Math" panose="02040503050406030204" pitchFamily="18" charset="0"/>
                            </a:rPr>
                            <m:t>0.5+0.25</m:t>
                          </m:r>
                          <m:func>
                            <m:funcPr>
                              <m:ctrlPr>
                                <a:rPr lang="en-US" i="1">
                                  <a:solidFill>
                                    <a:schemeClr val="tx1">
                                      <a:lumMod val="85000"/>
                                      <a:lumOff val="15000"/>
                                    </a:schemeClr>
                                  </a:solidFill>
                                  <a:latin typeface="Cambria Math" panose="02040503050406030204" pitchFamily="18" charset="0"/>
                                </a:rPr>
                              </m:ctrlPr>
                            </m:funcPr>
                            <m:fName>
                              <m:sSub>
                                <m:sSubPr>
                                  <m:ctrlPr>
                                    <a:rPr lang="en-US" i="1">
                                      <a:solidFill>
                                        <a:schemeClr val="tx1">
                                          <a:lumMod val="85000"/>
                                          <a:lumOff val="15000"/>
                                        </a:schemeClr>
                                      </a:solidFill>
                                      <a:latin typeface="Cambria Math" panose="02040503050406030204" pitchFamily="18" charset="0"/>
                                    </a:rPr>
                                  </m:ctrlPr>
                                </m:sSubPr>
                                <m:e>
                                  <m:r>
                                    <m:rPr>
                                      <m:sty m:val="p"/>
                                    </m:rPr>
                                    <a:rPr lang="en-US">
                                      <a:solidFill>
                                        <a:schemeClr val="tx1">
                                          <a:lumMod val="85000"/>
                                          <a:lumOff val="15000"/>
                                        </a:schemeClr>
                                      </a:solidFill>
                                      <a:latin typeface="Cambria Math" panose="02040503050406030204" pitchFamily="18" charset="0"/>
                                    </a:rPr>
                                    <m:t>log</m:t>
                                  </m:r>
                                </m:e>
                                <m:sub>
                                  <m:r>
                                    <a:rPr lang="en-US">
                                      <a:solidFill>
                                        <a:schemeClr val="tx1">
                                          <a:lumMod val="85000"/>
                                          <a:lumOff val="15000"/>
                                        </a:schemeClr>
                                      </a:solidFill>
                                      <a:latin typeface="Cambria Math" panose="02040503050406030204" pitchFamily="18" charset="0"/>
                                    </a:rPr>
                                    <m:t>2</m:t>
                                  </m:r>
                                </m:sub>
                              </m:sSub>
                            </m:fName>
                            <m:e>
                              <m:r>
                                <a:rPr lang="en-US">
                                  <a:solidFill>
                                    <a:schemeClr val="tx1">
                                      <a:lumMod val="85000"/>
                                      <a:lumOff val="15000"/>
                                    </a:schemeClr>
                                  </a:solidFill>
                                  <a:latin typeface="Cambria Math" panose="02040503050406030204" pitchFamily="18" charset="0"/>
                                </a:rPr>
                                <m:t>0.25</m:t>
                              </m:r>
                            </m:e>
                          </m:func>
                          <m:r>
                            <a:rPr lang="en-US">
                              <a:solidFill>
                                <a:schemeClr val="tx1">
                                  <a:lumMod val="85000"/>
                                  <a:lumOff val="15000"/>
                                </a:schemeClr>
                              </a:solidFill>
                              <a:latin typeface="Cambria Math" panose="02040503050406030204" pitchFamily="18" charset="0"/>
                            </a:rPr>
                            <m:t>+0.25</m:t>
                          </m:r>
                          <m:func>
                            <m:funcPr>
                              <m:ctrlPr>
                                <a:rPr lang="en-US" i="1">
                                  <a:solidFill>
                                    <a:schemeClr val="tx1">
                                      <a:lumMod val="85000"/>
                                      <a:lumOff val="15000"/>
                                    </a:schemeClr>
                                  </a:solidFill>
                                  <a:latin typeface="Cambria Math" panose="02040503050406030204" pitchFamily="18" charset="0"/>
                                </a:rPr>
                              </m:ctrlPr>
                            </m:funcPr>
                            <m:fName>
                              <m:sSub>
                                <m:sSubPr>
                                  <m:ctrlPr>
                                    <a:rPr lang="en-US" i="1">
                                      <a:solidFill>
                                        <a:schemeClr val="tx1">
                                          <a:lumMod val="85000"/>
                                          <a:lumOff val="15000"/>
                                        </a:schemeClr>
                                      </a:solidFill>
                                      <a:latin typeface="Cambria Math" panose="02040503050406030204" pitchFamily="18" charset="0"/>
                                    </a:rPr>
                                  </m:ctrlPr>
                                </m:sSubPr>
                                <m:e>
                                  <m:r>
                                    <m:rPr>
                                      <m:sty m:val="p"/>
                                    </m:rPr>
                                    <a:rPr lang="en-US">
                                      <a:solidFill>
                                        <a:schemeClr val="tx1">
                                          <a:lumMod val="85000"/>
                                          <a:lumOff val="15000"/>
                                        </a:schemeClr>
                                      </a:solidFill>
                                      <a:latin typeface="Cambria Math" panose="02040503050406030204" pitchFamily="18" charset="0"/>
                                    </a:rPr>
                                    <m:t>log</m:t>
                                  </m:r>
                                </m:e>
                                <m:sub>
                                  <m:r>
                                    <a:rPr lang="en-US">
                                      <a:solidFill>
                                        <a:schemeClr val="tx1">
                                          <a:lumMod val="85000"/>
                                          <a:lumOff val="15000"/>
                                        </a:schemeClr>
                                      </a:solidFill>
                                      <a:latin typeface="Cambria Math" panose="02040503050406030204" pitchFamily="18" charset="0"/>
                                    </a:rPr>
                                    <m:t>2</m:t>
                                  </m:r>
                                </m:sub>
                              </m:sSub>
                            </m:fName>
                            <m:e>
                              <m:r>
                                <a:rPr lang="en-US">
                                  <a:solidFill>
                                    <a:schemeClr val="tx1">
                                      <a:lumMod val="85000"/>
                                      <a:lumOff val="15000"/>
                                    </a:schemeClr>
                                  </a:solidFill>
                                  <a:latin typeface="Cambria Math" panose="02040503050406030204" pitchFamily="18" charset="0"/>
                                </a:rPr>
                                <m:t>0.25</m:t>
                              </m:r>
                            </m:e>
                          </m:func>
                          <m:r>
                            <a:rPr lang="en-US">
                              <a:solidFill>
                                <a:schemeClr val="tx1">
                                  <a:lumMod val="85000"/>
                                  <a:lumOff val="15000"/>
                                </a:schemeClr>
                              </a:solidFill>
                              <a:latin typeface="Cambria Math" panose="02040503050406030204" pitchFamily="18" charset="0"/>
                            </a:rPr>
                            <m:t>)</m:t>
                          </m:r>
                        </m:e>
                      </m:func>
                      <m:r>
                        <a:rPr lang="en-US">
                          <a:solidFill>
                            <a:schemeClr val="tx1">
                              <a:lumMod val="85000"/>
                              <a:lumOff val="15000"/>
                            </a:schemeClr>
                          </a:solidFill>
                          <a:latin typeface="Cambria Math" panose="02040503050406030204" pitchFamily="18" charset="0"/>
                        </a:rPr>
                        <m:t>=1.04</m:t>
                      </m:r>
                    </m:oMath>
                  </m:oMathPara>
                </a14:m>
                <a:endParaRPr lang="en-US" dirty="0">
                  <a:solidFill>
                    <a:schemeClr val="tx1">
                      <a:lumMod val="85000"/>
                      <a:lumOff val="15000"/>
                    </a:schemeClr>
                  </a:solidFill>
                </a:endParaRPr>
              </a:p>
            </p:txBody>
          </p:sp>
        </mc:Choice>
        <mc:Fallback xmlns="">
          <p:sp>
            <p:nvSpPr>
              <p:cNvPr id="38" name="TextBox 37">
                <a:extLst>
                  <a:ext uri="{FF2B5EF4-FFF2-40B4-BE49-F238E27FC236}">
                    <a16:creationId xmlns:a16="http://schemas.microsoft.com/office/drawing/2014/main" xmlns:a14="http://schemas.microsoft.com/office/drawing/2010/main" xmlns="" id="{A9082440-D8CA-4EDF-B849-D4654825EF22}"/>
                  </a:ext>
                </a:extLst>
              </p:cNvPr>
              <p:cNvSpPr txBox="1">
                <a:spLocks noRot="1" noChangeAspect="1" noMove="1" noResize="1" noEditPoints="1" noAdjustHandles="1" noChangeArrowheads="1" noChangeShapeType="1" noTextEdit="1"/>
              </p:cNvSpPr>
              <p:nvPr/>
            </p:nvSpPr>
            <p:spPr>
              <a:xfrm>
                <a:off x="1661779" y="5475706"/>
                <a:ext cx="6579264" cy="441146"/>
              </a:xfrm>
              <a:prstGeom prst="rect">
                <a:avLst/>
              </a:prstGeom>
              <a:blipFill rotWithShape="0">
                <a:blip r:embed="rId6"/>
                <a:stretch>
                  <a:fillRect/>
                </a:stretch>
              </a:blipFill>
              <a:ln>
                <a:noFill/>
              </a:ln>
            </p:spPr>
            <p:txBody>
              <a:bodyPr/>
              <a:lstStyle/>
              <a:p>
                <a:r>
                  <a:rPr lang="ko-KR" altLang="en-US">
                    <a:noFill/>
                  </a:rPr>
                  <a:t> </a:t>
                </a:r>
              </a:p>
            </p:txBody>
          </p:sp>
        </mc:Fallback>
      </mc:AlternateContent>
      <p:grpSp>
        <p:nvGrpSpPr>
          <p:cNvPr id="2" name="그룹 1">
            <a:extLst>
              <a:ext uri="{FF2B5EF4-FFF2-40B4-BE49-F238E27FC236}">
                <a16:creationId xmlns:a16="http://schemas.microsoft.com/office/drawing/2014/main" id="{F4D6F4CC-2EE0-4857-937E-485ACCAFA101}"/>
              </a:ext>
            </a:extLst>
          </p:cNvPr>
          <p:cNvGrpSpPr/>
          <p:nvPr/>
        </p:nvGrpSpPr>
        <p:grpSpPr>
          <a:xfrm>
            <a:off x="846956" y="3836954"/>
            <a:ext cx="6979589" cy="345461"/>
            <a:chOff x="846956" y="3212976"/>
            <a:chExt cx="6979589" cy="345461"/>
          </a:xfrm>
        </p:grpSpPr>
        <p:sp>
          <p:nvSpPr>
            <p:cNvPr id="39" name="사각형: 둥근 모서리 2">
              <a:extLst>
                <a:ext uri="{FF2B5EF4-FFF2-40B4-BE49-F238E27FC236}">
                  <a16:creationId xmlns:a16="http://schemas.microsoft.com/office/drawing/2014/main" id="{D0A56BB0-13C1-4EB1-B726-E2C08ECCAB37}"/>
                </a:ext>
              </a:extLst>
            </p:cNvPr>
            <p:cNvSpPr/>
            <p:nvPr/>
          </p:nvSpPr>
          <p:spPr>
            <a:xfrm>
              <a:off x="846956" y="3273873"/>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40" name="직사각형 39">
              <a:extLst>
                <a:ext uri="{FF2B5EF4-FFF2-40B4-BE49-F238E27FC236}">
                  <a16:creationId xmlns:a16="http://schemas.microsoft.com/office/drawing/2014/main" id="{9BADBB02-CD68-479C-9446-DBCAE670BE9B}"/>
                </a:ext>
              </a:extLst>
            </p:cNvPr>
            <p:cNvSpPr/>
            <p:nvPr/>
          </p:nvSpPr>
          <p:spPr>
            <a:xfrm>
              <a:off x="1222454" y="3212976"/>
              <a:ext cx="660409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If 4 categories consist of ratios of 0.25, 0.25, 0.25, 0.25 (T0):</a:t>
              </a:r>
            </a:p>
          </p:txBody>
        </p:sp>
      </p:grpSp>
      <p:grpSp>
        <p:nvGrpSpPr>
          <p:cNvPr id="41" name="그룹 40">
            <a:extLst>
              <a:ext uri="{FF2B5EF4-FFF2-40B4-BE49-F238E27FC236}">
                <a16:creationId xmlns:a16="http://schemas.microsoft.com/office/drawing/2014/main" id="{94D73BF8-1351-44A1-AACD-12E46A330A88}"/>
              </a:ext>
            </a:extLst>
          </p:cNvPr>
          <p:cNvGrpSpPr/>
          <p:nvPr/>
        </p:nvGrpSpPr>
        <p:grpSpPr>
          <a:xfrm>
            <a:off x="846956" y="4997351"/>
            <a:ext cx="6979589" cy="345461"/>
            <a:chOff x="846956" y="3212976"/>
            <a:chExt cx="6979589" cy="345461"/>
          </a:xfrm>
        </p:grpSpPr>
        <p:sp>
          <p:nvSpPr>
            <p:cNvPr id="42" name="사각형: 둥근 모서리 2">
              <a:extLst>
                <a:ext uri="{FF2B5EF4-FFF2-40B4-BE49-F238E27FC236}">
                  <a16:creationId xmlns:a16="http://schemas.microsoft.com/office/drawing/2014/main" id="{C88D1978-93EA-4931-B95A-999FE4BA683F}"/>
                </a:ext>
              </a:extLst>
            </p:cNvPr>
            <p:cNvSpPr/>
            <p:nvPr/>
          </p:nvSpPr>
          <p:spPr>
            <a:xfrm>
              <a:off x="846956" y="3273873"/>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43" name="직사각형 42">
              <a:extLst>
                <a:ext uri="{FF2B5EF4-FFF2-40B4-BE49-F238E27FC236}">
                  <a16:creationId xmlns:a16="http://schemas.microsoft.com/office/drawing/2014/main" id="{0358D8FB-32F4-49B5-9917-012F96512081}"/>
                </a:ext>
              </a:extLst>
            </p:cNvPr>
            <p:cNvSpPr/>
            <p:nvPr/>
          </p:nvSpPr>
          <p:spPr>
            <a:xfrm>
              <a:off x="1222454" y="3212976"/>
              <a:ext cx="660409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If 4 categories consists of ratios of 0.5, 0.25, 0.25, 0 (T1):</a:t>
              </a:r>
            </a:p>
          </p:txBody>
        </p:sp>
      </p:grpSp>
    </p:spTree>
    <p:extLst>
      <p:ext uri="{BB962C8B-B14F-4D97-AF65-F5344CB8AC3E}">
        <p14:creationId xmlns:p14="http://schemas.microsoft.com/office/powerpoint/2010/main" val="106295087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00" name="직사각형 199">
            <a:extLst>
              <a:ext uri="{FF2B5EF4-FFF2-40B4-BE49-F238E27FC236}">
                <a16:creationId xmlns:a16="http://schemas.microsoft.com/office/drawing/2014/main" id="{1ACF2BF2-E48B-4341-BB04-F6BAF8F6D564}"/>
              </a:ext>
            </a:extLst>
          </p:cNvPr>
          <p:cNvSpPr/>
          <p:nvPr/>
        </p:nvSpPr>
        <p:spPr>
          <a:xfrm>
            <a:off x="724534" y="2145015"/>
            <a:ext cx="8673279"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rPr>
              <a:t>Designates the depth of the decision tree</a:t>
            </a:r>
            <a:endParaRPr lang="ko-KR" altLang="en-US" sz="1300" dirty="0">
              <a:solidFill>
                <a:prstClr val="black">
                  <a:lumMod val="85000"/>
                  <a:lumOff val="15000"/>
                </a:prstClr>
              </a:solidFill>
              <a:latin typeface="SamsungOne 400" panose="020B0503030303020204" pitchFamily="34" charset="0"/>
            </a:endParaRPr>
          </a:p>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rPr>
              <a:t>Designates the minimum number of records in the terminal node </a:t>
            </a:r>
            <a:endParaRPr lang="ko-KR" altLang="en-US" sz="1300" dirty="0">
              <a:solidFill>
                <a:prstClr val="black">
                  <a:lumMod val="85000"/>
                  <a:lumOff val="15000"/>
                </a:prstClr>
              </a:solidFill>
              <a:latin typeface="SamsungOne 400" panose="020B0503030303020204" pitchFamily="34" charset="0"/>
            </a:endParaRPr>
          </a:p>
        </p:txBody>
      </p:sp>
      <p:sp>
        <p:nvSpPr>
          <p:cNvPr id="21" name="직사각형 20">
            <a:extLst>
              <a:ext uri="{FF2B5EF4-FFF2-40B4-BE49-F238E27FC236}">
                <a16:creationId xmlns:a16="http://schemas.microsoft.com/office/drawing/2014/main" id="{E04D9F5A-3966-44F6-A205-4403EB1E100D}"/>
              </a:ext>
            </a:extLst>
          </p:cNvPr>
          <p:cNvSpPr/>
          <p:nvPr/>
        </p:nvSpPr>
        <p:spPr>
          <a:xfrm>
            <a:off x="724534" y="5193160"/>
            <a:ext cx="8673279"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rPr>
              <a:t>An expert reviewing the validity of rules suggested in the constructed model</a:t>
            </a:r>
            <a:endParaRPr lang="ko-KR" altLang="en-US" sz="1300" dirty="0">
              <a:solidFill>
                <a:prstClr val="black">
                  <a:lumMod val="85000"/>
                  <a:lumOff val="15000"/>
                </a:prstClr>
              </a:solidFill>
              <a:latin typeface="SamsungOne 400" panose="020B0503030303020204" pitchFamily="34" charset="0"/>
            </a:endParaRPr>
          </a:p>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rPr>
              <a:t>Removing rules without validity</a:t>
            </a:r>
            <a:endParaRPr lang="ko-KR" altLang="en-US" sz="1300" dirty="0">
              <a:solidFill>
                <a:prstClr val="black">
                  <a:lumMod val="85000"/>
                  <a:lumOff val="15000"/>
                </a:prstClr>
              </a:solidFill>
              <a:latin typeface="SamsungOne 400" panose="020B0503030303020204" pitchFamily="34" charset="0"/>
            </a:endParaRPr>
          </a:p>
        </p:txBody>
      </p:sp>
      <p:grpSp>
        <p:nvGrpSpPr>
          <p:cNvPr id="13" name="그룹 12">
            <a:extLst>
              <a:ext uri="{FF2B5EF4-FFF2-40B4-BE49-F238E27FC236}">
                <a16:creationId xmlns:a16="http://schemas.microsoft.com/office/drawing/2014/main" id="{B1E5125C-9238-4C33-9100-299549BC33BA}"/>
              </a:ext>
            </a:extLst>
          </p:cNvPr>
          <p:cNvGrpSpPr/>
          <p:nvPr/>
        </p:nvGrpSpPr>
        <p:grpSpPr>
          <a:xfrm>
            <a:off x="559817" y="1865258"/>
            <a:ext cx="8783192" cy="215444"/>
            <a:chOff x="559817" y="2136914"/>
            <a:chExt cx="8783192" cy="215444"/>
          </a:xfrm>
        </p:grpSpPr>
        <p:sp>
          <p:nvSpPr>
            <p:cNvPr id="14" name="직사각형 13">
              <a:extLst>
                <a:ext uri="{FF2B5EF4-FFF2-40B4-BE49-F238E27FC236}">
                  <a16:creationId xmlns:a16="http://schemas.microsoft.com/office/drawing/2014/main" id="{F449D4D0-C5F8-41EB-AB36-76C4FF970EC4}"/>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15" name="직사각형 14">
              <a:extLst>
                <a:ext uri="{FF2B5EF4-FFF2-40B4-BE49-F238E27FC236}">
                  <a16:creationId xmlns:a16="http://schemas.microsoft.com/office/drawing/2014/main" id="{C79DF0E5-738A-42BD-A6C8-23C27D87AC3E}"/>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buClr>
                  <a:srgbClr val="193EB0"/>
                </a:buClr>
              </a:pPr>
              <a:r>
                <a:rPr lang="en-US" altLang="ko-KR" sz="1400" dirty="0">
                  <a:solidFill>
                    <a:schemeClr val="tx1">
                      <a:lumMod val="85000"/>
                      <a:lumOff val="15000"/>
                    </a:schemeClr>
                  </a:solidFill>
                  <a:latin typeface="SamsungOne 400" panose="020B0503030303020204" pitchFamily="34" charset="0"/>
                </a:rPr>
                <a:t>A rule to designate the current node as a terminal node without further splitting</a:t>
              </a:r>
              <a:endParaRPr lang="ko-KR" altLang="en-US" sz="1400" dirty="0">
                <a:solidFill>
                  <a:schemeClr val="tx1">
                    <a:lumMod val="85000"/>
                    <a:lumOff val="15000"/>
                  </a:schemeClr>
                </a:solidFill>
                <a:latin typeface="SamsungOne 400" panose="020B0503030303020204" pitchFamily="34" charset="0"/>
              </a:endParaRPr>
            </a:p>
          </p:txBody>
        </p:sp>
      </p:grpSp>
      <p:sp>
        <p:nvSpPr>
          <p:cNvPr id="16" name="직사각형 15">
            <a:extLst>
              <a:ext uri="{FF2B5EF4-FFF2-40B4-BE49-F238E27FC236}">
                <a16:creationId xmlns:a16="http://schemas.microsoft.com/office/drawing/2014/main" id="{F9CA3358-0D92-4F74-8AAF-EE86BE01D811}"/>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2400" dirty="0">
                <a:solidFill>
                  <a:schemeClr val="tx1">
                    <a:lumMod val="95000"/>
                    <a:lumOff val="5000"/>
                  </a:schemeClr>
                </a:solidFill>
                <a:latin typeface="Samsung Sharp Sans" pitchFamily="2" charset="0"/>
                <a:cs typeface="Samsung Sharp Sans" pitchFamily="2" charset="0"/>
              </a:rPr>
              <a:t>Stopping Criteria</a:t>
            </a:r>
            <a:endParaRPr lang="ko-KR" altLang="en-US" sz="2400" dirty="0">
              <a:solidFill>
                <a:schemeClr val="tx1">
                  <a:lumMod val="95000"/>
                  <a:lumOff val="5000"/>
                </a:schemeClr>
              </a:solidFill>
              <a:latin typeface="Samsung Sharp Sans" pitchFamily="2" charset="0"/>
              <a:cs typeface="Samsung Sharp Sans" pitchFamily="2" charset="0"/>
            </a:endParaRPr>
          </a:p>
        </p:txBody>
      </p:sp>
      <p:grpSp>
        <p:nvGrpSpPr>
          <p:cNvPr id="17" name="그룹 16">
            <a:extLst>
              <a:ext uri="{FF2B5EF4-FFF2-40B4-BE49-F238E27FC236}">
                <a16:creationId xmlns:a16="http://schemas.microsoft.com/office/drawing/2014/main" id="{92722990-5874-4E4D-85B9-874CFB50A37C}"/>
              </a:ext>
            </a:extLst>
          </p:cNvPr>
          <p:cNvGrpSpPr/>
          <p:nvPr/>
        </p:nvGrpSpPr>
        <p:grpSpPr>
          <a:xfrm>
            <a:off x="555271" y="3490932"/>
            <a:ext cx="8783192" cy="215444"/>
            <a:chOff x="559817" y="2136914"/>
            <a:chExt cx="8783192" cy="215444"/>
          </a:xfrm>
        </p:grpSpPr>
        <p:sp>
          <p:nvSpPr>
            <p:cNvPr id="22" name="직사각형 21">
              <a:extLst>
                <a:ext uri="{FF2B5EF4-FFF2-40B4-BE49-F238E27FC236}">
                  <a16:creationId xmlns:a16="http://schemas.microsoft.com/office/drawing/2014/main" id="{1A98C1AD-9B66-4268-A3FD-0B78E4F93B67}"/>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26" name="직사각형 25">
              <a:extLst>
                <a:ext uri="{FF2B5EF4-FFF2-40B4-BE49-F238E27FC236}">
                  <a16:creationId xmlns:a16="http://schemas.microsoft.com/office/drawing/2014/main" id="{C9C9B32A-AD19-4154-A8AE-05F8DFD03B10}"/>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buClr>
                  <a:srgbClr val="193EB0"/>
                </a:buClr>
              </a:pPr>
              <a:r>
                <a:rPr lang="en-US" altLang="ko-KR" sz="1400" dirty="0">
                  <a:solidFill>
                    <a:schemeClr val="tx1">
                      <a:lumMod val="85000"/>
                      <a:lumOff val="15000"/>
                    </a:schemeClr>
                  </a:solidFill>
                  <a:latin typeface="SamsungOne 400" panose="020B0503030303020204" pitchFamily="34" charset="0"/>
                </a:rPr>
                <a:t>Application of test data</a:t>
              </a:r>
              <a:endParaRPr lang="ko-KR" altLang="en-US" sz="1400" dirty="0">
                <a:solidFill>
                  <a:schemeClr val="tx1">
                    <a:lumMod val="85000"/>
                    <a:lumOff val="15000"/>
                  </a:schemeClr>
                </a:solidFill>
                <a:latin typeface="SamsungOne 400" panose="020B0503030303020204" pitchFamily="34" charset="0"/>
              </a:endParaRPr>
            </a:p>
          </p:txBody>
        </p:sp>
      </p:grpSp>
      <p:sp>
        <p:nvSpPr>
          <p:cNvPr id="27" name="직사각형 26">
            <a:extLst>
              <a:ext uri="{FF2B5EF4-FFF2-40B4-BE49-F238E27FC236}">
                <a16:creationId xmlns:a16="http://schemas.microsoft.com/office/drawing/2014/main" id="{50F383D0-2C4B-4B91-8C68-D48C63A3320A}"/>
              </a:ext>
            </a:extLst>
          </p:cNvPr>
          <p:cNvSpPr/>
          <p:nvPr/>
        </p:nvSpPr>
        <p:spPr>
          <a:xfrm>
            <a:off x="445452" y="3000775"/>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2400" dirty="0">
                <a:solidFill>
                  <a:schemeClr val="tx1">
                    <a:lumMod val="95000"/>
                    <a:lumOff val="5000"/>
                  </a:schemeClr>
                </a:solidFill>
                <a:latin typeface="Samsung Sharp Sans" pitchFamily="2" charset="0"/>
                <a:cs typeface="Samsung Sharp Sans" pitchFamily="2" charset="0"/>
              </a:rPr>
              <a:t>Branching Criteria</a:t>
            </a:r>
            <a:endParaRPr lang="ko-KR" altLang="en-US" sz="2400" dirty="0">
              <a:solidFill>
                <a:schemeClr val="tx1">
                  <a:lumMod val="95000"/>
                  <a:lumOff val="5000"/>
                </a:schemeClr>
              </a:solidFill>
              <a:latin typeface="Samsung Sharp Sans" pitchFamily="2" charset="0"/>
              <a:cs typeface="Samsung Sharp Sans" pitchFamily="2" charset="0"/>
            </a:endParaRPr>
          </a:p>
        </p:txBody>
      </p:sp>
      <p:grpSp>
        <p:nvGrpSpPr>
          <p:cNvPr id="28" name="그룹 27">
            <a:extLst>
              <a:ext uri="{FF2B5EF4-FFF2-40B4-BE49-F238E27FC236}">
                <a16:creationId xmlns:a16="http://schemas.microsoft.com/office/drawing/2014/main" id="{E4D18259-1906-431A-B4C1-261E8CC6DC6F}"/>
              </a:ext>
            </a:extLst>
          </p:cNvPr>
          <p:cNvGrpSpPr/>
          <p:nvPr/>
        </p:nvGrpSpPr>
        <p:grpSpPr>
          <a:xfrm>
            <a:off x="555271" y="4954126"/>
            <a:ext cx="8783192" cy="215444"/>
            <a:chOff x="559817" y="2136914"/>
            <a:chExt cx="8783192" cy="215444"/>
          </a:xfrm>
        </p:grpSpPr>
        <p:sp>
          <p:nvSpPr>
            <p:cNvPr id="29" name="직사각형 28">
              <a:extLst>
                <a:ext uri="{FF2B5EF4-FFF2-40B4-BE49-F238E27FC236}">
                  <a16:creationId xmlns:a16="http://schemas.microsoft.com/office/drawing/2014/main" id="{4A0FDEFC-5230-4017-9749-34130BBA11B7}"/>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3" name="직사각형 32">
              <a:extLst>
                <a:ext uri="{FF2B5EF4-FFF2-40B4-BE49-F238E27FC236}">
                  <a16:creationId xmlns:a16="http://schemas.microsoft.com/office/drawing/2014/main" id="{3BC78179-8955-42CF-9703-01054ED1DE8A}"/>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buClr>
                  <a:srgbClr val="193EB0"/>
                </a:buClr>
              </a:pPr>
              <a:r>
                <a:rPr lang="en-US" altLang="ko-KR" sz="1400" dirty="0">
                  <a:solidFill>
                    <a:schemeClr val="tx1">
                      <a:lumMod val="85000"/>
                      <a:lumOff val="15000"/>
                    </a:schemeClr>
                  </a:solidFill>
                  <a:latin typeface="SamsungOne 400" panose="020B0503030303020204" pitchFamily="34" charset="0"/>
                </a:rPr>
                <a:t>By an expert</a:t>
              </a:r>
              <a:r>
                <a:rPr lang="ko-KR" altLang="en-US" sz="1400" dirty="0">
                  <a:solidFill>
                    <a:schemeClr val="tx1">
                      <a:lumMod val="85000"/>
                      <a:lumOff val="15000"/>
                    </a:schemeClr>
                  </a:solidFill>
                  <a:latin typeface="SamsungOne 400" panose="020B0503030303020204" pitchFamily="34" charset="0"/>
                </a:rPr>
                <a:t> </a:t>
              </a:r>
            </a:p>
          </p:txBody>
        </p:sp>
      </p:grpSp>
      <p:sp>
        <p:nvSpPr>
          <p:cNvPr id="34" name="직사각형 33">
            <a:extLst>
              <a:ext uri="{FF2B5EF4-FFF2-40B4-BE49-F238E27FC236}">
                <a16:creationId xmlns:a16="http://schemas.microsoft.com/office/drawing/2014/main" id="{B3D82487-0333-4C9C-A275-649D3A21F6F0}"/>
              </a:ext>
            </a:extLst>
          </p:cNvPr>
          <p:cNvSpPr/>
          <p:nvPr/>
        </p:nvSpPr>
        <p:spPr>
          <a:xfrm>
            <a:off x="724534" y="3757859"/>
            <a:ext cx="7200800"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rPr>
              <a:t>Application of the test data to the constructed model</a:t>
            </a:r>
            <a:r>
              <a:rPr lang="ko-KR" altLang="en-US" sz="1300" dirty="0">
                <a:solidFill>
                  <a:prstClr val="black">
                    <a:lumMod val="85000"/>
                    <a:lumOff val="15000"/>
                  </a:prstClr>
                </a:solidFill>
                <a:latin typeface="SamsungOne 400" panose="020B0503030303020204" pitchFamily="34" charset="0"/>
              </a:rPr>
              <a:t>	</a:t>
            </a:r>
          </a:p>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rPr>
              <a:t>Reviewing the predictive value of the constructed model through test data </a:t>
            </a:r>
            <a:endParaRPr lang="ko-KR" altLang="en-US" sz="1300" dirty="0">
              <a:solidFill>
                <a:prstClr val="black">
                  <a:lumMod val="85000"/>
                  <a:lumOff val="15000"/>
                </a:prstClr>
              </a:solidFill>
              <a:latin typeface="SamsungOne 400" panose="020B0503030303020204" pitchFamily="34" charset="0"/>
            </a:endParaRPr>
          </a:p>
          <a:p>
            <a:pPr marL="182526" lvl="1"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rPr>
              <a:t>Removing the branches that have a high risk of error rate or inappropriate rule</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of</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inference</a:t>
            </a:r>
            <a:endParaRPr lang="ko-KR" altLang="en-US" sz="1300" dirty="0">
              <a:solidFill>
                <a:prstClr val="black">
                  <a:lumMod val="85000"/>
                  <a:lumOff val="15000"/>
                </a:prstClr>
              </a:solidFill>
              <a:latin typeface="SamsungOne 400" panose="020B0503030303020204" pitchFamily="34" charset="0"/>
            </a:endParaRPr>
          </a:p>
        </p:txBody>
      </p:sp>
    </p:spTree>
    <p:extLst>
      <p:ext uri="{BB962C8B-B14F-4D97-AF65-F5344CB8AC3E}">
        <p14:creationId xmlns:p14="http://schemas.microsoft.com/office/powerpoint/2010/main" val="1577678097"/>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897299"/>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Overfitting problem graph</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grpSp>
        <p:nvGrpSpPr>
          <p:cNvPr id="2" name="그룹 1">
            <a:extLst>
              <a:ext uri="{FF2B5EF4-FFF2-40B4-BE49-F238E27FC236}">
                <a16:creationId xmlns:a16="http://schemas.microsoft.com/office/drawing/2014/main" id="{C707FEA9-37AD-4CAC-B875-E2EC413047A4}"/>
              </a:ext>
            </a:extLst>
          </p:cNvPr>
          <p:cNvGrpSpPr/>
          <p:nvPr/>
        </p:nvGrpSpPr>
        <p:grpSpPr>
          <a:xfrm>
            <a:off x="1711052" y="2365254"/>
            <a:ext cx="6588732" cy="3736174"/>
            <a:chOff x="1711052" y="1773238"/>
            <a:chExt cx="6588732" cy="3736174"/>
          </a:xfrm>
        </p:grpSpPr>
        <p:sp>
          <p:nvSpPr>
            <p:cNvPr id="29" name="직사각형 28">
              <a:extLst>
                <a:ext uri="{FF2B5EF4-FFF2-40B4-BE49-F238E27FC236}">
                  <a16:creationId xmlns:a16="http://schemas.microsoft.com/office/drawing/2014/main" id="{15B97889-13F4-4D48-8DE1-D0698EA15548}"/>
                </a:ext>
              </a:extLst>
            </p:cNvPr>
            <p:cNvSpPr/>
            <p:nvPr/>
          </p:nvSpPr>
          <p:spPr>
            <a:xfrm>
              <a:off x="1711052" y="1773238"/>
              <a:ext cx="6588732" cy="37361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50000"/>
                </a:lnSpc>
              </a:pPr>
              <a:endParaRPr lang="en-US" altLang="ko-KR" sz="16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grpSp>
          <p:nvGrpSpPr>
            <p:cNvPr id="11" name="그룹 10">
              <a:extLst>
                <a:ext uri="{FF2B5EF4-FFF2-40B4-BE49-F238E27FC236}">
                  <a16:creationId xmlns:a16="http://schemas.microsoft.com/office/drawing/2014/main" id="{10A0B5A0-6DE9-404A-89C6-D1D618D6830A}"/>
                </a:ext>
              </a:extLst>
            </p:cNvPr>
            <p:cNvGrpSpPr/>
            <p:nvPr/>
          </p:nvGrpSpPr>
          <p:grpSpPr>
            <a:xfrm>
              <a:off x="1793247" y="1926273"/>
              <a:ext cx="6258461" cy="3431234"/>
              <a:chOff x="1452079" y="1926273"/>
              <a:chExt cx="6258461" cy="3431234"/>
            </a:xfrm>
          </p:grpSpPr>
          <p:grpSp>
            <p:nvGrpSpPr>
              <p:cNvPr id="9" name="그룹 8">
                <a:extLst>
                  <a:ext uri="{FF2B5EF4-FFF2-40B4-BE49-F238E27FC236}">
                    <a16:creationId xmlns:a16="http://schemas.microsoft.com/office/drawing/2014/main" id="{F44EFBC5-C6F6-4BF5-AC66-665D18E708E8}"/>
                  </a:ext>
                </a:extLst>
              </p:cNvPr>
              <p:cNvGrpSpPr/>
              <p:nvPr/>
            </p:nvGrpSpPr>
            <p:grpSpPr>
              <a:xfrm>
                <a:off x="2215106" y="1926273"/>
                <a:ext cx="5495434" cy="3024763"/>
                <a:chOff x="2215106" y="1926273"/>
                <a:chExt cx="6084678" cy="3349091"/>
              </a:xfrm>
            </p:grpSpPr>
            <p:grpSp>
              <p:nvGrpSpPr>
                <p:cNvPr id="6" name="그룹 5">
                  <a:extLst>
                    <a:ext uri="{FF2B5EF4-FFF2-40B4-BE49-F238E27FC236}">
                      <a16:creationId xmlns:a16="http://schemas.microsoft.com/office/drawing/2014/main" id="{DC0F31EF-3066-41BF-BD5B-03401C6D2454}"/>
                    </a:ext>
                  </a:extLst>
                </p:cNvPr>
                <p:cNvGrpSpPr/>
                <p:nvPr/>
              </p:nvGrpSpPr>
              <p:grpSpPr>
                <a:xfrm>
                  <a:off x="2215108" y="1926273"/>
                  <a:ext cx="6084676" cy="3349091"/>
                  <a:chOff x="2215108" y="1916113"/>
                  <a:chExt cx="6084676" cy="3349091"/>
                </a:xfrm>
              </p:grpSpPr>
              <p:cxnSp>
                <p:nvCxnSpPr>
                  <p:cNvPr id="3" name="직선 화살표 연결선 2">
                    <a:extLst>
                      <a:ext uri="{FF2B5EF4-FFF2-40B4-BE49-F238E27FC236}">
                        <a16:creationId xmlns:a16="http://schemas.microsoft.com/office/drawing/2014/main" id="{B2C0696C-081B-4D75-AD7F-A3F6A1DA209E}"/>
                      </a:ext>
                    </a:extLst>
                  </p:cNvPr>
                  <p:cNvCxnSpPr/>
                  <p:nvPr/>
                </p:nvCxnSpPr>
                <p:spPr>
                  <a:xfrm flipV="1">
                    <a:off x="2215108" y="1916113"/>
                    <a:ext cx="0" cy="33490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직선 화살표 연결선 4">
                    <a:extLst>
                      <a:ext uri="{FF2B5EF4-FFF2-40B4-BE49-F238E27FC236}">
                        <a16:creationId xmlns:a16="http://schemas.microsoft.com/office/drawing/2014/main" id="{8A17CD79-1AB2-41D4-801C-35B7578C10AF}"/>
                      </a:ext>
                    </a:extLst>
                  </p:cNvPr>
                  <p:cNvCxnSpPr/>
                  <p:nvPr/>
                </p:nvCxnSpPr>
                <p:spPr>
                  <a:xfrm>
                    <a:off x="2215108" y="5265204"/>
                    <a:ext cx="60846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 name="자유형: 도형 6">
                  <a:extLst>
                    <a:ext uri="{FF2B5EF4-FFF2-40B4-BE49-F238E27FC236}">
                      <a16:creationId xmlns:a16="http://schemas.microsoft.com/office/drawing/2014/main" id="{4073236B-DF77-484C-BE1F-A0294853D5BD}"/>
                    </a:ext>
                  </a:extLst>
                </p:cNvPr>
                <p:cNvSpPr/>
                <p:nvPr/>
              </p:nvSpPr>
              <p:spPr>
                <a:xfrm>
                  <a:off x="2225040" y="3139440"/>
                  <a:ext cx="4043680" cy="1321836"/>
                </a:xfrm>
                <a:custGeom>
                  <a:avLst/>
                  <a:gdLst>
                    <a:gd name="connsiteX0" fmla="*/ 0 w 4043680"/>
                    <a:gd name="connsiteY0" fmla="*/ 0 h 1361440"/>
                    <a:gd name="connsiteX1" fmla="*/ 365760 w 4043680"/>
                    <a:gd name="connsiteY1" fmla="*/ 640080 h 1361440"/>
                    <a:gd name="connsiteX2" fmla="*/ 904240 w 4043680"/>
                    <a:gd name="connsiteY2" fmla="*/ 1127760 h 1361440"/>
                    <a:gd name="connsiteX3" fmla="*/ 1960880 w 4043680"/>
                    <a:gd name="connsiteY3" fmla="*/ 1361440 h 1361440"/>
                    <a:gd name="connsiteX4" fmla="*/ 2651760 w 4043680"/>
                    <a:gd name="connsiteY4" fmla="*/ 1127760 h 1361440"/>
                    <a:gd name="connsiteX5" fmla="*/ 4043680 w 4043680"/>
                    <a:gd name="connsiteY5" fmla="*/ 172720 h 1361440"/>
                    <a:gd name="connsiteX0" fmla="*/ 0 w 4043680"/>
                    <a:gd name="connsiteY0" fmla="*/ 0 h 1341120"/>
                    <a:gd name="connsiteX1" fmla="*/ 365760 w 4043680"/>
                    <a:gd name="connsiteY1" fmla="*/ 640080 h 1341120"/>
                    <a:gd name="connsiteX2" fmla="*/ 904240 w 4043680"/>
                    <a:gd name="connsiteY2" fmla="*/ 1127760 h 1341120"/>
                    <a:gd name="connsiteX3" fmla="*/ 1798320 w 4043680"/>
                    <a:gd name="connsiteY3" fmla="*/ 1341120 h 1341120"/>
                    <a:gd name="connsiteX4" fmla="*/ 2651760 w 4043680"/>
                    <a:gd name="connsiteY4" fmla="*/ 1127760 h 1341120"/>
                    <a:gd name="connsiteX5" fmla="*/ 4043680 w 4043680"/>
                    <a:gd name="connsiteY5" fmla="*/ 172720 h 1341120"/>
                    <a:gd name="connsiteX0" fmla="*/ 0 w 4043680"/>
                    <a:gd name="connsiteY0" fmla="*/ 0 h 1342010"/>
                    <a:gd name="connsiteX1" fmla="*/ 365760 w 4043680"/>
                    <a:gd name="connsiteY1" fmla="*/ 640080 h 1342010"/>
                    <a:gd name="connsiteX2" fmla="*/ 904240 w 4043680"/>
                    <a:gd name="connsiteY2" fmla="*/ 1127760 h 1342010"/>
                    <a:gd name="connsiteX3" fmla="*/ 1798320 w 4043680"/>
                    <a:gd name="connsiteY3" fmla="*/ 1341120 h 1342010"/>
                    <a:gd name="connsiteX4" fmla="*/ 2743200 w 4043680"/>
                    <a:gd name="connsiteY4" fmla="*/ 1056640 h 1342010"/>
                    <a:gd name="connsiteX5" fmla="*/ 4043680 w 4043680"/>
                    <a:gd name="connsiteY5" fmla="*/ 172720 h 1342010"/>
                    <a:gd name="connsiteX0" fmla="*/ 0 w 4043680"/>
                    <a:gd name="connsiteY0" fmla="*/ 0 h 1321836"/>
                    <a:gd name="connsiteX1" fmla="*/ 365760 w 4043680"/>
                    <a:gd name="connsiteY1" fmla="*/ 640080 h 1321836"/>
                    <a:gd name="connsiteX2" fmla="*/ 904240 w 4043680"/>
                    <a:gd name="connsiteY2" fmla="*/ 1127760 h 1321836"/>
                    <a:gd name="connsiteX3" fmla="*/ 1910080 w 4043680"/>
                    <a:gd name="connsiteY3" fmla="*/ 1320800 h 1321836"/>
                    <a:gd name="connsiteX4" fmla="*/ 2743200 w 4043680"/>
                    <a:gd name="connsiteY4" fmla="*/ 1056640 h 1321836"/>
                    <a:gd name="connsiteX5" fmla="*/ 4043680 w 4043680"/>
                    <a:gd name="connsiteY5" fmla="*/ 172720 h 1321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3680" h="1321836">
                      <a:moveTo>
                        <a:pt x="0" y="0"/>
                      </a:moveTo>
                      <a:cubicBezTo>
                        <a:pt x="107526" y="226060"/>
                        <a:pt x="215053" y="452120"/>
                        <a:pt x="365760" y="640080"/>
                      </a:cubicBezTo>
                      <a:cubicBezTo>
                        <a:pt x="516467" y="828040"/>
                        <a:pt x="646853" y="1014307"/>
                        <a:pt x="904240" y="1127760"/>
                      </a:cubicBezTo>
                      <a:cubicBezTo>
                        <a:pt x="1161627" y="1241213"/>
                        <a:pt x="1603587" y="1332653"/>
                        <a:pt x="1910080" y="1320800"/>
                      </a:cubicBezTo>
                      <a:cubicBezTo>
                        <a:pt x="2216573" y="1308947"/>
                        <a:pt x="2396067" y="1254760"/>
                        <a:pt x="2743200" y="1056640"/>
                      </a:cubicBezTo>
                      <a:cubicBezTo>
                        <a:pt x="3090333" y="858520"/>
                        <a:pt x="3521286" y="551180"/>
                        <a:pt x="4043680" y="172720"/>
                      </a:cubicBezTo>
                    </a:path>
                  </a:pathLst>
                </a:custGeom>
                <a:noFill/>
                <a:ln w="28575">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자유형: 도형 7">
                  <a:extLst>
                    <a:ext uri="{FF2B5EF4-FFF2-40B4-BE49-F238E27FC236}">
                      <a16:creationId xmlns:a16="http://schemas.microsoft.com/office/drawing/2014/main" id="{44F922F3-2BA2-4A10-B9FC-7661413277DD}"/>
                    </a:ext>
                  </a:extLst>
                </p:cNvPr>
                <p:cNvSpPr/>
                <p:nvPr/>
              </p:nvSpPr>
              <p:spPr>
                <a:xfrm>
                  <a:off x="2215106" y="3241040"/>
                  <a:ext cx="5526813" cy="2032000"/>
                </a:xfrm>
                <a:custGeom>
                  <a:avLst/>
                  <a:gdLst>
                    <a:gd name="connsiteX0" fmla="*/ 0 w 5537200"/>
                    <a:gd name="connsiteY0" fmla="*/ 0 h 2032000"/>
                    <a:gd name="connsiteX1" fmla="*/ 203200 w 5537200"/>
                    <a:gd name="connsiteY1" fmla="*/ 548640 h 2032000"/>
                    <a:gd name="connsiteX2" fmla="*/ 487680 w 5537200"/>
                    <a:gd name="connsiteY2" fmla="*/ 985520 h 2032000"/>
                    <a:gd name="connsiteX3" fmla="*/ 1026160 w 5537200"/>
                    <a:gd name="connsiteY3" fmla="*/ 1341120 h 2032000"/>
                    <a:gd name="connsiteX4" fmla="*/ 2092960 w 5537200"/>
                    <a:gd name="connsiteY4" fmla="*/ 1706880 h 2032000"/>
                    <a:gd name="connsiteX5" fmla="*/ 3606800 w 5537200"/>
                    <a:gd name="connsiteY5" fmla="*/ 1879600 h 2032000"/>
                    <a:gd name="connsiteX6" fmla="*/ 5537200 w 5537200"/>
                    <a:gd name="connsiteY6" fmla="*/ 2032000 h 20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37200" h="2032000">
                      <a:moveTo>
                        <a:pt x="0" y="0"/>
                      </a:moveTo>
                      <a:cubicBezTo>
                        <a:pt x="60960" y="192193"/>
                        <a:pt x="121920" y="384387"/>
                        <a:pt x="203200" y="548640"/>
                      </a:cubicBezTo>
                      <a:cubicBezTo>
                        <a:pt x="284480" y="712893"/>
                        <a:pt x="350520" y="853440"/>
                        <a:pt x="487680" y="985520"/>
                      </a:cubicBezTo>
                      <a:cubicBezTo>
                        <a:pt x="624840" y="1117600"/>
                        <a:pt x="758613" y="1220893"/>
                        <a:pt x="1026160" y="1341120"/>
                      </a:cubicBezTo>
                      <a:cubicBezTo>
                        <a:pt x="1293707" y="1461347"/>
                        <a:pt x="1662853" y="1617133"/>
                        <a:pt x="2092960" y="1706880"/>
                      </a:cubicBezTo>
                      <a:cubicBezTo>
                        <a:pt x="2523067" y="1796627"/>
                        <a:pt x="3032760" y="1825413"/>
                        <a:pt x="3606800" y="1879600"/>
                      </a:cubicBezTo>
                      <a:cubicBezTo>
                        <a:pt x="4180840" y="1933787"/>
                        <a:pt x="4859020" y="1982893"/>
                        <a:pt x="5537200" y="2032000"/>
                      </a:cubicBezTo>
                    </a:path>
                  </a:pathLst>
                </a:custGeom>
                <a:noFill/>
                <a:ln w="28575">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TextBox 21">
                <a:extLst>
                  <a:ext uri="{FF2B5EF4-FFF2-40B4-BE49-F238E27FC236}">
                    <a16:creationId xmlns:a16="http://schemas.microsoft.com/office/drawing/2014/main" id="{11E79A57-CF12-4BCC-8C19-945614FD1D09}"/>
                  </a:ext>
                </a:extLst>
              </p:cNvPr>
              <p:cNvSpPr txBox="1"/>
              <p:nvPr/>
            </p:nvSpPr>
            <p:spPr>
              <a:xfrm>
                <a:off x="1452079" y="3321278"/>
                <a:ext cx="700000" cy="215444"/>
              </a:xfrm>
              <a:prstGeom prst="rect">
                <a:avLst/>
              </a:prstGeom>
              <a:noFill/>
            </p:spPr>
            <p:txBody>
              <a:bodyPr wrap="none" lIns="0" tIns="0" rIns="0" bIns="0" rtlCol="0">
                <a:spAutoFit/>
              </a:bodyPr>
              <a:lstStyle/>
              <a:p>
                <a:pPr algn="ctr"/>
                <a:r>
                  <a:rPr lang="en-US" altLang="ko-KR" sz="1400" dirty="0">
                    <a:latin typeface="SamsungOne 400" panose="020B0503030303020204" pitchFamily="34" charset="0"/>
                  </a:rPr>
                  <a:t>Error rate</a:t>
                </a:r>
                <a:endParaRPr lang="ko-KR" altLang="en-US" sz="1400" dirty="0">
                  <a:latin typeface="SamsungOne 400" panose="020B0503030303020204" pitchFamily="34" charset="0"/>
                </a:endParaRPr>
              </a:p>
            </p:txBody>
          </p:sp>
          <p:sp>
            <p:nvSpPr>
              <p:cNvPr id="26" name="TextBox 25">
                <a:extLst>
                  <a:ext uri="{FF2B5EF4-FFF2-40B4-BE49-F238E27FC236}">
                    <a16:creationId xmlns:a16="http://schemas.microsoft.com/office/drawing/2014/main" id="{0F6D0D69-E8DB-4C1F-A3CA-C333BFCBF949}"/>
                  </a:ext>
                </a:extLst>
              </p:cNvPr>
              <p:cNvSpPr txBox="1"/>
              <p:nvPr/>
            </p:nvSpPr>
            <p:spPr>
              <a:xfrm>
                <a:off x="6030122" y="3066489"/>
                <a:ext cx="1127360" cy="215444"/>
              </a:xfrm>
              <a:prstGeom prst="rect">
                <a:avLst/>
              </a:prstGeom>
              <a:noFill/>
            </p:spPr>
            <p:txBody>
              <a:bodyPr wrap="none" lIns="0" tIns="0" rIns="0" bIns="0" rtlCol="0">
                <a:spAutoFit/>
              </a:bodyPr>
              <a:lstStyle/>
              <a:p>
                <a:pPr algn="ctr"/>
                <a:r>
                  <a:rPr lang="en-US" altLang="ko-KR" sz="1400" dirty="0">
                    <a:latin typeface="SamsungOne 400" panose="020B0503030303020204" pitchFamily="34" charset="0"/>
                  </a:rPr>
                  <a:t>Evaluation data</a:t>
                </a:r>
                <a:endParaRPr lang="ko-KR" altLang="en-US" sz="1400" dirty="0">
                  <a:latin typeface="SamsungOne 400" panose="020B0503030303020204" pitchFamily="34" charset="0"/>
                </a:endParaRPr>
              </a:p>
            </p:txBody>
          </p:sp>
          <p:sp>
            <p:nvSpPr>
              <p:cNvPr id="27" name="TextBox 26">
                <a:extLst>
                  <a:ext uri="{FF2B5EF4-FFF2-40B4-BE49-F238E27FC236}">
                    <a16:creationId xmlns:a16="http://schemas.microsoft.com/office/drawing/2014/main" id="{0BA1B089-B836-4885-A02F-AACF34338821}"/>
                  </a:ext>
                </a:extLst>
              </p:cNvPr>
              <p:cNvSpPr txBox="1"/>
              <p:nvPr/>
            </p:nvSpPr>
            <p:spPr>
              <a:xfrm>
                <a:off x="6319407" y="4652288"/>
                <a:ext cx="944746" cy="215444"/>
              </a:xfrm>
              <a:prstGeom prst="rect">
                <a:avLst/>
              </a:prstGeom>
              <a:noFill/>
            </p:spPr>
            <p:txBody>
              <a:bodyPr wrap="none" lIns="0" tIns="0" rIns="0" bIns="0" rtlCol="0">
                <a:spAutoFit/>
              </a:bodyPr>
              <a:lstStyle/>
              <a:p>
                <a:pPr algn="ctr"/>
                <a:r>
                  <a:rPr lang="en-US" altLang="ko-KR" sz="1400" dirty="0">
                    <a:latin typeface="SamsungOne 400" panose="020B0503030303020204" pitchFamily="34" charset="0"/>
                  </a:rPr>
                  <a:t>Training data</a:t>
                </a:r>
                <a:endParaRPr lang="ko-KR" altLang="en-US" sz="1400" dirty="0">
                  <a:latin typeface="SamsungOne 400" panose="020B0503030303020204" pitchFamily="34" charset="0"/>
                </a:endParaRPr>
              </a:p>
            </p:txBody>
          </p:sp>
          <p:sp>
            <p:nvSpPr>
              <p:cNvPr id="28" name="TextBox 27">
                <a:extLst>
                  <a:ext uri="{FF2B5EF4-FFF2-40B4-BE49-F238E27FC236}">
                    <a16:creationId xmlns:a16="http://schemas.microsoft.com/office/drawing/2014/main" id="{2A072A19-2EEB-442A-BA97-DF69B729A4E0}"/>
                  </a:ext>
                </a:extLst>
              </p:cNvPr>
              <p:cNvSpPr txBox="1"/>
              <p:nvPr/>
            </p:nvSpPr>
            <p:spPr>
              <a:xfrm>
                <a:off x="4151709" y="5142063"/>
                <a:ext cx="1622239" cy="215444"/>
              </a:xfrm>
              <a:prstGeom prst="rect">
                <a:avLst/>
              </a:prstGeom>
              <a:noFill/>
            </p:spPr>
            <p:txBody>
              <a:bodyPr wrap="none" lIns="0" tIns="0" rIns="0" bIns="0" rtlCol="0">
                <a:spAutoFit/>
              </a:bodyPr>
              <a:lstStyle/>
              <a:p>
                <a:pPr algn="ctr"/>
                <a:r>
                  <a:rPr lang="en-US" altLang="ko-KR" sz="1400" dirty="0">
                    <a:latin typeface="SamsungOne 400" panose="020B0503030303020204" pitchFamily="34" charset="0"/>
                  </a:rPr>
                  <a:t>Number of split nodes</a:t>
                </a:r>
                <a:endParaRPr lang="ko-KR" altLang="en-US" sz="1400" dirty="0">
                  <a:latin typeface="SamsungOne 400" panose="020B0503030303020204" pitchFamily="34" charset="0"/>
                </a:endParaRPr>
              </a:p>
            </p:txBody>
          </p:sp>
        </p:grpSp>
      </p:grpSp>
      <p:sp>
        <p:nvSpPr>
          <p:cNvPr id="20" name="직사각형 19">
            <a:extLst>
              <a:ext uri="{FF2B5EF4-FFF2-40B4-BE49-F238E27FC236}">
                <a16:creationId xmlns:a16="http://schemas.microsoft.com/office/drawing/2014/main" id="{3D7873A4-8127-4A0D-AAF0-412DB1B09E60}"/>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2400" dirty="0">
                <a:solidFill>
                  <a:schemeClr val="tx1">
                    <a:lumMod val="85000"/>
                    <a:lumOff val="15000"/>
                  </a:schemeClr>
                </a:solidFill>
                <a:latin typeface="Samsung Sharp Sans" pitchFamily="2" charset="0"/>
                <a:ea typeface="Samsung Sharp Sans" pitchFamily="2" charset="0"/>
                <a:cs typeface="Samsung Sharp Sans" pitchFamily="2" charset="0"/>
              </a:rPr>
              <a:t>Overfitting Problem</a:t>
            </a:r>
            <a:endParaRPr lang="ko-KR" altLang="en-US" sz="2400" dirty="0">
              <a:solidFill>
                <a:schemeClr val="tx1">
                  <a:lumMod val="85000"/>
                  <a:lumOff val="15000"/>
                </a:schemeClr>
              </a:solidFill>
              <a:latin typeface="Samsung Sharp Sans" pitchFamily="2" charset="0"/>
              <a:ea typeface="SamsungOne 400" panose="020B0503030303020204" pitchFamily="34" charset="0"/>
              <a:cs typeface="Samsung Sharp Sans" pitchFamily="2" charset="0"/>
            </a:endParaRPr>
          </a:p>
        </p:txBody>
      </p:sp>
    </p:spTree>
    <p:extLst>
      <p:ext uri="{BB962C8B-B14F-4D97-AF65-F5344CB8AC3E}">
        <p14:creationId xmlns:p14="http://schemas.microsoft.com/office/powerpoint/2010/main" val="14075313"/>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Pros</a:t>
              </a:r>
              <a:endParaRPr lang="ko-KR" altLang="en-US" sz="14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grpSp>
      <p:sp>
        <p:nvSpPr>
          <p:cNvPr id="200" name="직사각형 199">
            <a:extLst>
              <a:ext uri="{FF2B5EF4-FFF2-40B4-BE49-F238E27FC236}">
                <a16:creationId xmlns:a16="http://schemas.microsoft.com/office/drawing/2014/main" id="{1ACF2BF2-E48B-4341-BB04-F6BAF8F6D564}"/>
              </a:ext>
            </a:extLst>
          </p:cNvPr>
          <p:cNvSpPr/>
          <p:nvPr/>
        </p:nvSpPr>
        <p:spPr>
          <a:xfrm>
            <a:off x="670746" y="1700808"/>
            <a:ext cx="8673279" cy="125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Creation of understandable rules</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(can be expressed with SQL)</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Useful in classification prediction </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Able to work with both continuous and discrete variables</a:t>
            </a:r>
            <a:r>
              <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rPr>
              <a:t> </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Shows a more relatively significant variable</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grpSp>
        <p:nvGrpSpPr>
          <p:cNvPr id="18" name="그룹 17">
            <a:extLst>
              <a:ext uri="{FF2B5EF4-FFF2-40B4-BE49-F238E27FC236}">
                <a16:creationId xmlns:a16="http://schemas.microsoft.com/office/drawing/2014/main" id="{412AD613-A857-46F0-952F-F5F2E0274E19}"/>
              </a:ext>
            </a:extLst>
          </p:cNvPr>
          <p:cNvGrpSpPr/>
          <p:nvPr/>
        </p:nvGrpSpPr>
        <p:grpSpPr>
          <a:xfrm>
            <a:off x="559817" y="3140968"/>
            <a:ext cx="8783192" cy="215444"/>
            <a:chOff x="559817" y="2136914"/>
            <a:chExt cx="8783192" cy="215444"/>
          </a:xfrm>
        </p:grpSpPr>
        <p:sp>
          <p:nvSpPr>
            <p:cNvPr id="19" name="직사각형 18">
              <a:extLst>
                <a:ext uri="{FF2B5EF4-FFF2-40B4-BE49-F238E27FC236}">
                  <a16:creationId xmlns:a16="http://schemas.microsoft.com/office/drawing/2014/main" id="{5ACB906A-3124-4249-8470-B1A80698BA62}"/>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20" name="직사각형 19">
              <a:extLst>
                <a:ext uri="{FF2B5EF4-FFF2-40B4-BE49-F238E27FC236}">
                  <a16:creationId xmlns:a16="http://schemas.microsoft.com/office/drawing/2014/main" id="{4931C4EC-6A4A-4C08-89E6-7727397329FC}"/>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Cons</a:t>
              </a:r>
              <a:endParaRPr lang="ko-KR" altLang="en-US" sz="14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grpSp>
      <p:sp>
        <p:nvSpPr>
          <p:cNvPr id="21" name="직사각형 20">
            <a:extLst>
              <a:ext uri="{FF2B5EF4-FFF2-40B4-BE49-F238E27FC236}">
                <a16:creationId xmlns:a16="http://schemas.microsoft.com/office/drawing/2014/main" id="{E04D9F5A-3966-44F6-A205-4403EB1E100D}"/>
              </a:ext>
            </a:extLst>
          </p:cNvPr>
          <p:cNvSpPr/>
          <p:nvPr/>
        </p:nvSpPr>
        <p:spPr>
          <a:xfrm>
            <a:off x="670746" y="3429000"/>
            <a:ext cx="8673279"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Not suitable to predict continuous variable values</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Unable to perform time series analysis</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Not stable</a:t>
            </a:r>
            <a:endParaRPr lang="ko-KR" altLang="en-US" sz="1300" dirty="0">
              <a:solidFill>
                <a:prstClr val="black">
                  <a:lumMod val="85000"/>
                  <a:lumOff val="15000"/>
                </a:prstClr>
              </a:solidFill>
              <a:latin typeface="SamsungOne 400" panose="020B0503030303020204" pitchFamily="34" charset="0"/>
              <a:ea typeface="SamsungOne 400" panose="020B0503030303020204" pitchFamily="34" charset="0"/>
            </a:endParaRPr>
          </a:p>
        </p:txBody>
      </p:sp>
    </p:spTree>
    <p:extLst>
      <p:ext uri="{BB962C8B-B14F-4D97-AF65-F5344CB8AC3E}">
        <p14:creationId xmlns:p14="http://schemas.microsoft.com/office/powerpoint/2010/main" val="1274189275"/>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3" name="직사각형 12">
            <a:extLst>
              <a:ext uri="{FF2B5EF4-FFF2-40B4-BE49-F238E27FC236}">
                <a16:creationId xmlns:a16="http://schemas.microsoft.com/office/drawing/2014/main" id="{AFC135D6-8A7B-423D-A40B-99A7841EF0F7}"/>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Tree Algorithm</a:t>
            </a:r>
          </a:p>
        </p:txBody>
      </p:sp>
      <p:sp>
        <p:nvSpPr>
          <p:cNvPr id="14" name="직사각형 13">
            <a:extLst>
              <a:ext uri="{FF2B5EF4-FFF2-40B4-BE49-F238E27FC236}">
                <a16:creationId xmlns:a16="http://schemas.microsoft.com/office/drawing/2014/main" id="{CBE54F8E-B234-48D5-8058-86C2D9C78DFD}"/>
              </a:ext>
            </a:extLst>
          </p:cNvPr>
          <p:cNvSpPr/>
          <p:nvPr/>
        </p:nvSpPr>
        <p:spPr>
          <a:xfrm>
            <a:off x="672080" y="2204864"/>
            <a:ext cx="8632825" cy="125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Intuitive and easy to understand</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No assumptions about the variables</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No need to scale or normalize data</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Not that sensitive to the outliers</a:t>
            </a:r>
          </a:p>
        </p:txBody>
      </p:sp>
      <p:sp>
        <p:nvSpPr>
          <p:cNvPr id="15" name="직사각형 14">
            <a:extLst>
              <a:ext uri="{FF2B5EF4-FFF2-40B4-BE49-F238E27FC236}">
                <a16:creationId xmlns:a16="http://schemas.microsoft.com/office/drawing/2014/main" id="{90832B6F-9C17-4D5E-AE18-C054A844D52C}"/>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Pros</a:t>
            </a:r>
          </a:p>
        </p:txBody>
      </p:sp>
      <p:sp>
        <p:nvSpPr>
          <p:cNvPr id="16" name="직사각형 15">
            <a:extLst>
              <a:ext uri="{FF2B5EF4-FFF2-40B4-BE49-F238E27FC236}">
                <a16:creationId xmlns:a16="http://schemas.microsoft.com/office/drawing/2014/main" id="{B86F29E6-E47F-4CE0-AEFB-485954093B66}"/>
              </a:ext>
            </a:extLst>
          </p:cNvPr>
          <p:cNvSpPr/>
          <p:nvPr/>
        </p:nvSpPr>
        <p:spPr>
          <a:xfrm>
            <a:off x="672080" y="3947716"/>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Not that powerful in the most basic form</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Prone to overfitting. Thus, “pruning” is often required.</a:t>
            </a:r>
          </a:p>
        </p:txBody>
      </p:sp>
      <p:sp>
        <p:nvSpPr>
          <p:cNvPr id="17" name="직사각형 16">
            <a:extLst>
              <a:ext uri="{FF2B5EF4-FFF2-40B4-BE49-F238E27FC236}">
                <a16:creationId xmlns:a16="http://schemas.microsoft.com/office/drawing/2014/main" id="{0FE26CB5-1EC5-4915-905D-ECF79F18F96A}"/>
              </a:ext>
            </a:extLst>
          </p:cNvPr>
          <p:cNvSpPr/>
          <p:nvPr/>
        </p:nvSpPr>
        <p:spPr>
          <a:xfrm>
            <a:off x="558800" y="3645024"/>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Cons</a:t>
            </a:r>
          </a:p>
        </p:txBody>
      </p:sp>
    </p:spTree>
    <p:extLst>
      <p:ext uri="{BB962C8B-B14F-4D97-AF65-F5344CB8AC3E}">
        <p14:creationId xmlns:p14="http://schemas.microsoft.com/office/powerpoint/2010/main" val="2046707044"/>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chemeClr val="tx1"/>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Classification Tree</a:t>
              </a:r>
            </a:p>
          </p:txBody>
        </p:sp>
      </p:grpSp>
      <p:sp>
        <p:nvSpPr>
          <p:cNvPr id="21" name="직사각형 20">
            <a:extLst>
              <a:ext uri="{FF2B5EF4-FFF2-40B4-BE49-F238E27FC236}">
                <a16:creationId xmlns:a16="http://schemas.microsoft.com/office/drawing/2014/main" id="{E04D9F5A-3966-44F6-A205-4403EB1E100D}"/>
              </a:ext>
            </a:extLst>
          </p:cNvPr>
          <p:cNvSpPr/>
          <p:nvPr/>
        </p:nvSpPr>
        <p:spPr>
          <a:xfrm>
            <a:off x="670746" y="4441251"/>
            <a:ext cx="8673279"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Training step creates an inverted tree structure as above.</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Conditions are evaluated at the nodes and then branch out.</a:t>
            </a:r>
          </a:p>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Each leaf node corresponds to a </a:t>
            </a:r>
            <a:r>
              <a:rPr lang="en-US" altLang="ko-KR" sz="1300" b="1" dirty="0">
                <a:solidFill>
                  <a:srgbClr val="1429A0"/>
                </a:solidFill>
                <a:latin typeface="SamsungOne 400" panose="020B0503030303020204" pitchFamily="34" charset="0"/>
                <a:ea typeface="SamsungOne 400" panose="020B0503030303020204" pitchFamily="34" charset="0"/>
              </a:rPr>
              <a:t>region</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 in the configurational space. </a:t>
            </a:r>
          </a:p>
        </p:txBody>
      </p:sp>
      <p:grpSp>
        <p:nvGrpSpPr>
          <p:cNvPr id="13" name="Group 6">
            <a:extLst>
              <a:ext uri="{FF2B5EF4-FFF2-40B4-BE49-F238E27FC236}">
                <a16:creationId xmlns:a16="http://schemas.microsoft.com/office/drawing/2014/main" id="{558067BA-38E5-4088-96A3-1B94AF757FB5}"/>
              </a:ext>
            </a:extLst>
          </p:cNvPr>
          <p:cNvGrpSpPr/>
          <p:nvPr/>
        </p:nvGrpSpPr>
        <p:grpSpPr>
          <a:xfrm>
            <a:off x="1085849" y="2071750"/>
            <a:ext cx="8373171" cy="2051165"/>
            <a:chOff x="1085849" y="2609850"/>
            <a:chExt cx="8373171" cy="2051165"/>
          </a:xfrm>
        </p:grpSpPr>
        <p:sp>
          <p:nvSpPr>
            <p:cNvPr id="14" name="TextBox 13">
              <a:extLst>
                <a:ext uri="{FF2B5EF4-FFF2-40B4-BE49-F238E27FC236}">
                  <a16:creationId xmlns:a16="http://schemas.microsoft.com/office/drawing/2014/main" id="{4EB6C14A-8BE0-4284-8C51-019F5739DA61}"/>
                </a:ext>
              </a:extLst>
            </p:cNvPr>
            <p:cNvSpPr txBox="1"/>
            <p:nvPr/>
          </p:nvSpPr>
          <p:spPr>
            <a:xfrm>
              <a:off x="3835462" y="2609850"/>
              <a:ext cx="1549762" cy="292388"/>
            </a:xfrm>
            <a:prstGeom prst="rect">
              <a:avLst/>
            </a:prstGeom>
            <a:solidFill>
              <a:schemeClr val="bg1">
                <a:lumMod val="95000"/>
              </a:schemeClr>
            </a:solidFill>
            <a:ln>
              <a:solidFill>
                <a:schemeClr val="bg1">
                  <a:lumMod val="50000"/>
                </a:schemeClr>
              </a:solidFill>
            </a:ln>
          </p:spPr>
          <p:txBody>
            <a:bodyPr wrap="square" rtlCol="0">
              <a:spAutoFit/>
              <a:scene3d>
                <a:camera prst="orthographicFront"/>
                <a:lightRig rig="threePt" dir="t"/>
              </a:scene3d>
              <a:sp3d>
                <a:bevelT w="0" h="6350"/>
              </a:sp3d>
            </a:bodyPr>
            <a:lstStyle/>
            <a:p>
              <a:pPr algn="ctr"/>
              <a:r>
                <a:rPr lang="en-US" altLang="ko-KR" sz="1300" dirty="0">
                  <a:latin typeface="SamsungOne 400" panose="020B0503030303020204" pitchFamily="34" charset="0"/>
                  <a:ea typeface="SamsungOne 400" panose="020B0503030303020204" pitchFamily="34" charset="0"/>
                  <a:cs typeface="Times New Roman" panose="02020603050405020304" pitchFamily="18" charset="0"/>
                </a:rPr>
                <a:t> Do you eat meat?</a:t>
              </a:r>
              <a:endParaRPr lang="ko-KR" altLang="en-US" sz="1300" dirty="0">
                <a:latin typeface="SamsungOne 400" panose="020B0503030303020204" pitchFamily="34" charset="0"/>
                <a:cs typeface="Times New Roman" panose="02020603050405020304" pitchFamily="18" charset="0"/>
              </a:endParaRPr>
            </a:p>
          </p:txBody>
        </p:sp>
        <p:cxnSp>
          <p:nvCxnSpPr>
            <p:cNvPr id="15" name="Straight Arrow Connector 12">
              <a:extLst>
                <a:ext uri="{FF2B5EF4-FFF2-40B4-BE49-F238E27FC236}">
                  <a16:creationId xmlns:a16="http://schemas.microsoft.com/office/drawing/2014/main" id="{398A064D-5358-421A-A2EC-DFCBE1186718}"/>
                </a:ext>
              </a:extLst>
            </p:cNvPr>
            <p:cNvCxnSpPr>
              <a:cxnSpLocks/>
              <a:stCxn id="14" idx="2"/>
              <a:endCxn id="22" idx="0"/>
            </p:cNvCxnSpPr>
            <p:nvPr/>
          </p:nvCxnSpPr>
          <p:spPr>
            <a:xfrm rot="16200000" flipH="1">
              <a:off x="5276423" y="2236157"/>
              <a:ext cx="521480" cy="1853641"/>
            </a:xfrm>
            <a:prstGeom prst="bentConnector3">
              <a:avLst>
                <a:gd name="adj1" fmla="val 50000"/>
              </a:avLst>
            </a:prstGeom>
            <a:ln w="12700">
              <a:solidFill>
                <a:srgbClr val="1429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3">
              <a:extLst>
                <a:ext uri="{FF2B5EF4-FFF2-40B4-BE49-F238E27FC236}">
                  <a16:creationId xmlns:a16="http://schemas.microsoft.com/office/drawing/2014/main" id="{55D759A2-E437-4C21-AC16-547A8811EA90}"/>
                </a:ext>
              </a:extLst>
            </p:cNvPr>
            <p:cNvCxnSpPr>
              <a:stCxn id="14" idx="2"/>
              <a:endCxn id="17" idx="0"/>
            </p:cNvCxnSpPr>
            <p:nvPr/>
          </p:nvCxnSpPr>
          <p:spPr>
            <a:xfrm rot="5400000">
              <a:off x="3454052" y="2265667"/>
              <a:ext cx="519720" cy="1792862"/>
            </a:xfrm>
            <a:prstGeom prst="bentConnector3">
              <a:avLst>
                <a:gd name="adj1" fmla="val 50000"/>
              </a:avLst>
            </a:prstGeom>
            <a:ln w="12700">
              <a:solidFill>
                <a:srgbClr val="1429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37F849D-5957-49BF-A13C-FD4BADB9359E}"/>
                </a:ext>
              </a:extLst>
            </p:cNvPr>
            <p:cNvSpPr txBox="1"/>
            <p:nvPr/>
          </p:nvSpPr>
          <p:spPr>
            <a:xfrm>
              <a:off x="2042600" y="3421958"/>
              <a:ext cx="1549762" cy="292388"/>
            </a:xfrm>
            <a:prstGeom prst="rect">
              <a:avLst/>
            </a:prstGeom>
            <a:solidFill>
              <a:schemeClr val="bg1">
                <a:lumMod val="95000"/>
              </a:schemeClr>
            </a:solidFill>
            <a:ln>
              <a:solidFill>
                <a:schemeClr val="bg1">
                  <a:lumMod val="50000"/>
                </a:schemeClr>
              </a:solidFill>
            </a:ln>
          </p:spPr>
          <p:txBody>
            <a:bodyPr wrap="square" rtlCol="0">
              <a:spAutoFit/>
              <a:scene3d>
                <a:camera prst="orthographicFront"/>
                <a:lightRig rig="threePt" dir="t"/>
              </a:scene3d>
              <a:sp3d>
                <a:bevelT w="0" h="6350"/>
              </a:sp3d>
            </a:bodyPr>
            <a:lstStyle/>
            <a:p>
              <a:pPr algn="ctr"/>
              <a:r>
                <a:rPr lang="en-US" altLang="ko-KR" sz="1300" dirty="0">
                  <a:latin typeface="SamsungOne 400" panose="020B0503030303020204" pitchFamily="34" charset="0"/>
                  <a:ea typeface="SamsungOne 400" panose="020B0503030303020204" pitchFamily="34" charset="0"/>
                  <a:cs typeface="Times New Roman" panose="02020603050405020304" pitchFamily="18" charset="0"/>
                </a:rPr>
                <a:t>Do</a:t>
              </a:r>
              <a:r>
                <a:rPr lang="ko-KR" altLang="en-US" sz="1300" dirty="0">
                  <a:latin typeface="SamsungOne 400" panose="020B0503030303020204" pitchFamily="34" charset="0"/>
                  <a:cs typeface="Times New Roman" panose="02020603050405020304" pitchFamily="18" charset="0"/>
                </a:rPr>
                <a:t> </a:t>
              </a:r>
              <a:r>
                <a:rPr lang="en-US" altLang="ko-KR" sz="1300" dirty="0">
                  <a:latin typeface="SamsungOne 400" panose="020B0503030303020204" pitchFamily="34" charset="0"/>
                  <a:ea typeface="SamsungOne 400" panose="020B0503030303020204" pitchFamily="34" charset="0"/>
                  <a:cs typeface="Times New Roman" panose="02020603050405020304" pitchFamily="18" charset="0"/>
                </a:rPr>
                <a:t>you eat dairy?</a:t>
              </a:r>
              <a:endParaRPr lang="ko-KR" altLang="en-US" sz="1300" dirty="0">
                <a:latin typeface="SamsungOne 400" panose="020B0503030303020204" pitchFamily="34" charset="0"/>
                <a:cs typeface="Times New Roman" panose="02020603050405020304" pitchFamily="18" charset="0"/>
              </a:endParaRPr>
            </a:p>
          </p:txBody>
        </p:sp>
        <p:sp>
          <p:nvSpPr>
            <p:cNvPr id="22" name="TextBox 21">
              <a:extLst>
                <a:ext uri="{FF2B5EF4-FFF2-40B4-BE49-F238E27FC236}">
                  <a16:creationId xmlns:a16="http://schemas.microsoft.com/office/drawing/2014/main" id="{9C717EDD-D13D-41FD-8276-F0AA928C0C31}"/>
                </a:ext>
              </a:extLst>
            </p:cNvPr>
            <p:cNvSpPr txBox="1"/>
            <p:nvPr/>
          </p:nvSpPr>
          <p:spPr>
            <a:xfrm>
              <a:off x="5689103" y="3423718"/>
              <a:ext cx="1549762" cy="292388"/>
            </a:xfrm>
            <a:prstGeom prst="rect">
              <a:avLst/>
            </a:prstGeom>
            <a:solidFill>
              <a:schemeClr val="bg1">
                <a:lumMod val="95000"/>
              </a:schemeClr>
            </a:solidFill>
            <a:ln>
              <a:solidFill>
                <a:schemeClr val="bg1">
                  <a:lumMod val="50000"/>
                </a:schemeClr>
              </a:solidFill>
            </a:ln>
          </p:spPr>
          <p:txBody>
            <a:bodyPr wrap="square" rtlCol="0">
              <a:spAutoFit/>
              <a:scene3d>
                <a:camera prst="orthographicFront"/>
                <a:lightRig rig="threePt" dir="t"/>
              </a:scene3d>
              <a:sp3d>
                <a:bevelT w="0" h="6350"/>
              </a:sp3d>
            </a:bodyPr>
            <a:lstStyle/>
            <a:p>
              <a:pPr algn="ctr"/>
              <a:r>
                <a:rPr lang="en-US" altLang="ko-KR" sz="1300" dirty="0">
                  <a:latin typeface="SamsungOne 400" panose="020B0503030303020204" pitchFamily="34" charset="0"/>
                  <a:ea typeface="SamsungOne 400" panose="020B0503030303020204" pitchFamily="34" charset="0"/>
                  <a:cs typeface="Times New Roman" panose="02020603050405020304" pitchFamily="18" charset="0"/>
                </a:rPr>
                <a:t>Regularly?</a:t>
              </a:r>
              <a:endParaRPr lang="ko-KR" altLang="en-US" sz="1300" dirty="0">
                <a:latin typeface="SamsungOne 400" panose="020B0503030303020204" pitchFamily="34" charset="0"/>
                <a:cs typeface="Times New Roman" panose="02020603050405020304" pitchFamily="18" charset="0"/>
              </a:endParaRPr>
            </a:p>
          </p:txBody>
        </p:sp>
        <p:sp>
          <p:nvSpPr>
            <p:cNvPr id="26" name="TextBox 25">
              <a:extLst>
                <a:ext uri="{FF2B5EF4-FFF2-40B4-BE49-F238E27FC236}">
                  <a16:creationId xmlns:a16="http://schemas.microsoft.com/office/drawing/2014/main" id="{D5BF4C68-DCEC-461E-9FD4-03C455595C26}"/>
                </a:ext>
              </a:extLst>
            </p:cNvPr>
            <p:cNvSpPr txBox="1"/>
            <p:nvPr/>
          </p:nvSpPr>
          <p:spPr>
            <a:xfrm>
              <a:off x="5977784" y="2855626"/>
              <a:ext cx="486200" cy="292388"/>
            </a:xfrm>
            <a:prstGeom prst="rect">
              <a:avLst/>
            </a:prstGeom>
            <a:noFill/>
          </p:spPr>
          <p:txBody>
            <a:bodyPr wrap="square" rtlCol="0">
              <a:spAutoFit/>
              <a:scene3d>
                <a:camera prst="orthographicFront"/>
                <a:lightRig rig="threePt" dir="t"/>
              </a:scene3d>
              <a:sp3d>
                <a:bevelT w="0" h="6350"/>
              </a:sp3d>
            </a:bodyPr>
            <a:lstStyle/>
            <a:p>
              <a:pPr algn="ctr"/>
              <a:r>
                <a:rPr lang="en-US" sz="1300" dirty="0">
                  <a:solidFill>
                    <a:srgbClr val="1429A0"/>
                  </a:solidFill>
                  <a:latin typeface="SamsungOne 400" panose="020B0503030303020204" pitchFamily="34" charset="0"/>
                  <a:ea typeface="SamsungOne 400" panose="020B0503030303020204" pitchFamily="34" charset="0"/>
                  <a:cs typeface="Times New Roman" panose="02020603050405020304" pitchFamily="18" charset="0"/>
                </a:rPr>
                <a:t>yes</a:t>
              </a:r>
            </a:p>
          </p:txBody>
        </p:sp>
        <p:sp>
          <p:nvSpPr>
            <p:cNvPr id="27" name="TextBox 26">
              <a:extLst>
                <a:ext uri="{FF2B5EF4-FFF2-40B4-BE49-F238E27FC236}">
                  <a16:creationId xmlns:a16="http://schemas.microsoft.com/office/drawing/2014/main" id="{5F4C86AC-2E75-4048-93E1-0191F3014A9F}"/>
                </a:ext>
              </a:extLst>
            </p:cNvPr>
            <p:cNvSpPr txBox="1"/>
            <p:nvPr/>
          </p:nvSpPr>
          <p:spPr>
            <a:xfrm>
              <a:off x="2817481" y="2855626"/>
              <a:ext cx="486200" cy="292388"/>
            </a:xfrm>
            <a:prstGeom prst="rect">
              <a:avLst/>
            </a:prstGeom>
            <a:noFill/>
          </p:spPr>
          <p:txBody>
            <a:bodyPr wrap="square" rtlCol="0">
              <a:spAutoFit/>
              <a:scene3d>
                <a:camera prst="orthographicFront"/>
                <a:lightRig rig="threePt" dir="t"/>
              </a:scene3d>
              <a:sp3d>
                <a:bevelT w="0" h="6350"/>
              </a:sp3d>
            </a:bodyPr>
            <a:lstStyle/>
            <a:p>
              <a:pPr algn="ctr"/>
              <a:r>
                <a:rPr lang="en-US" sz="1300" dirty="0">
                  <a:solidFill>
                    <a:srgbClr val="FF0000"/>
                  </a:solidFill>
                  <a:latin typeface="SamsungOne 400" panose="020B0503030303020204" pitchFamily="34" charset="0"/>
                  <a:ea typeface="SamsungOne 400" panose="020B0503030303020204" pitchFamily="34" charset="0"/>
                  <a:cs typeface="Times New Roman" panose="02020603050405020304" pitchFamily="18" charset="0"/>
                </a:rPr>
                <a:t>no</a:t>
              </a:r>
            </a:p>
          </p:txBody>
        </p:sp>
        <p:cxnSp>
          <p:nvCxnSpPr>
            <p:cNvPr id="28" name="Straight Arrow Connector 18">
              <a:extLst>
                <a:ext uri="{FF2B5EF4-FFF2-40B4-BE49-F238E27FC236}">
                  <a16:creationId xmlns:a16="http://schemas.microsoft.com/office/drawing/2014/main" id="{8B96507A-5BC3-4449-A66E-33DEEBB5115F}"/>
                </a:ext>
              </a:extLst>
            </p:cNvPr>
            <p:cNvCxnSpPr>
              <a:stCxn id="17" idx="2"/>
              <a:endCxn id="34" idx="0"/>
            </p:cNvCxnSpPr>
            <p:nvPr/>
          </p:nvCxnSpPr>
          <p:spPr>
            <a:xfrm rot="16200000" flipH="1">
              <a:off x="3023600" y="3508227"/>
              <a:ext cx="539903" cy="952140"/>
            </a:xfrm>
            <a:prstGeom prst="bentConnector3">
              <a:avLst>
                <a:gd name="adj1" fmla="val 50000"/>
              </a:avLst>
            </a:prstGeom>
            <a:ln w="12700">
              <a:solidFill>
                <a:srgbClr val="1429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19">
              <a:extLst>
                <a:ext uri="{FF2B5EF4-FFF2-40B4-BE49-F238E27FC236}">
                  <a16:creationId xmlns:a16="http://schemas.microsoft.com/office/drawing/2014/main" id="{CF8EFD4E-19F8-4F03-A20D-A200254D2A30}"/>
                </a:ext>
              </a:extLst>
            </p:cNvPr>
            <p:cNvCxnSpPr>
              <a:stCxn id="17" idx="2"/>
              <a:endCxn id="33" idx="0"/>
            </p:cNvCxnSpPr>
            <p:nvPr/>
          </p:nvCxnSpPr>
          <p:spPr>
            <a:xfrm rot="5400000">
              <a:off x="2107789" y="3542798"/>
              <a:ext cx="538145" cy="881240"/>
            </a:xfrm>
            <a:prstGeom prst="bentConnector3">
              <a:avLst>
                <a:gd name="adj1" fmla="val 50000"/>
              </a:avLst>
            </a:prstGeom>
            <a:ln w="12700">
              <a:solidFill>
                <a:srgbClr val="1429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5DB6545-F49F-491D-A4D7-8D52FBC409A3}"/>
                </a:ext>
              </a:extLst>
            </p:cNvPr>
            <p:cNvSpPr txBox="1"/>
            <p:nvPr/>
          </p:nvSpPr>
          <p:spPr>
            <a:xfrm>
              <a:off x="1161360" y="4252491"/>
              <a:ext cx="1549762" cy="292388"/>
            </a:xfrm>
            <a:prstGeom prst="rect">
              <a:avLst/>
            </a:prstGeom>
            <a:solidFill>
              <a:srgbClr val="1429A0"/>
            </a:solidFill>
            <a:ln>
              <a:noFill/>
            </a:ln>
          </p:spPr>
          <p:txBody>
            <a:bodyPr wrap="square" rtlCol="0">
              <a:spAutoFit/>
              <a:scene3d>
                <a:camera prst="orthographicFront"/>
                <a:lightRig rig="threePt" dir="t"/>
              </a:scene3d>
              <a:sp3d>
                <a:bevelT w="0" h="6350"/>
              </a:sp3d>
            </a:bodyPr>
            <a:lstStyle/>
            <a:p>
              <a:pPr algn="ctr"/>
              <a:r>
                <a:rPr lang="en-US" altLang="ko-KR" sz="1300" b="1"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Vegan</a:t>
              </a:r>
              <a:endParaRPr lang="ko-KR" altLang="en-US" sz="1300" b="1" dirty="0">
                <a:solidFill>
                  <a:schemeClr val="bg1"/>
                </a:solidFill>
                <a:latin typeface="SamsungOne 400" panose="020B0503030303020204" pitchFamily="34" charset="0"/>
                <a:cs typeface="Times New Roman" panose="02020603050405020304" pitchFamily="18" charset="0"/>
              </a:endParaRPr>
            </a:p>
          </p:txBody>
        </p:sp>
        <p:sp>
          <p:nvSpPr>
            <p:cNvPr id="34" name="TextBox 33">
              <a:extLst>
                <a:ext uri="{FF2B5EF4-FFF2-40B4-BE49-F238E27FC236}">
                  <a16:creationId xmlns:a16="http://schemas.microsoft.com/office/drawing/2014/main" id="{48B5D820-67FC-4C07-9152-7946C3532B00}"/>
                </a:ext>
              </a:extLst>
            </p:cNvPr>
            <p:cNvSpPr txBox="1"/>
            <p:nvPr/>
          </p:nvSpPr>
          <p:spPr>
            <a:xfrm>
              <a:off x="2994740" y="4254249"/>
              <a:ext cx="1549762" cy="292388"/>
            </a:xfrm>
            <a:prstGeom prst="rect">
              <a:avLst/>
            </a:prstGeom>
            <a:solidFill>
              <a:srgbClr val="1429A0"/>
            </a:solidFill>
            <a:ln>
              <a:noFill/>
            </a:ln>
          </p:spPr>
          <p:txBody>
            <a:bodyPr wrap="square" rtlCol="0">
              <a:spAutoFit/>
              <a:scene3d>
                <a:camera prst="orthographicFront"/>
                <a:lightRig rig="threePt" dir="t"/>
              </a:scene3d>
              <a:sp3d>
                <a:bevelT w="0" h="6350"/>
              </a:sp3d>
            </a:bodyPr>
            <a:lstStyle/>
            <a:p>
              <a:pPr algn="ctr"/>
              <a:r>
                <a:rPr lang="en-US" altLang="ko-KR" sz="1300" b="1"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Vegetarian</a:t>
              </a:r>
              <a:endParaRPr lang="ko-KR" altLang="en-US" sz="1300" b="1" dirty="0">
                <a:solidFill>
                  <a:schemeClr val="bg1"/>
                </a:solidFill>
                <a:latin typeface="SamsungOne 400" panose="020B0503030303020204" pitchFamily="34" charset="0"/>
                <a:cs typeface="Times New Roman" panose="02020603050405020304" pitchFamily="18" charset="0"/>
              </a:endParaRPr>
            </a:p>
          </p:txBody>
        </p:sp>
        <p:sp>
          <p:nvSpPr>
            <p:cNvPr id="35" name="TextBox 34">
              <a:extLst>
                <a:ext uri="{FF2B5EF4-FFF2-40B4-BE49-F238E27FC236}">
                  <a16:creationId xmlns:a16="http://schemas.microsoft.com/office/drawing/2014/main" id="{261C0EFD-746E-47DF-A84C-FAF977C6980B}"/>
                </a:ext>
              </a:extLst>
            </p:cNvPr>
            <p:cNvSpPr txBox="1"/>
            <p:nvPr/>
          </p:nvSpPr>
          <p:spPr>
            <a:xfrm>
              <a:off x="3498137" y="3700550"/>
              <a:ext cx="486200" cy="292388"/>
            </a:xfrm>
            <a:prstGeom prst="rect">
              <a:avLst/>
            </a:prstGeom>
            <a:noFill/>
          </p:spPr>
          <p:txBody>
            <a:bodyPr wrap="square" rtlCol="0">
              <a:spAutoFit/>
              <a:scene3d>
                <a:camera prst="orthographicFront"/>
                <a:lightRig rig="threePt" dir="t"/>
              </a:scene3d>
              <a:sp3d>
                <a:bevelT w="0" h="6350"/>
              </a:sp3d>
            </a:bodyPr>
            <a:lstStyle/>
            <a:p>
              <a:pPr algn="ctr"/>
              <a:r>
                <a:rPr lang="en-US" sz="1300" dirty="0">
                  <a:solidFill>
                    <a:srgbClr val="1429A0"/>
                  </a:solidFill>
                  <a:latin typeface="SamsungOne 400" panose="020B0503030303020204" pitchFamily="34" charset="0"/>
                  <a:ea typeface="SamsungOne 400" panose="020B0503030303020204" pitchFamily="34" charset="0"/>
                  <a:cs typeface="Times New Roman" panose="02020603050405020304" pitchFamily="18" charset="0"/>
                </a:rPr>
                <a:t>yes</a:t>
              </a:r>
            </a:p>
          </p:txBody>
        </p:sp>
        <p:sp>
          <p:nvSpPr>
            <p:cNvPr id="36" name="TextBox 35">
              <a:extLst>
                <a:ext uri="{FF2B5EF4-FFF2-40B4-BE49-F238E27FC236}">
                  <a16:creationId xmlns:a16="http://schemas.microsoft.com/office/drawing/2014/main" id="{C0902E38-F928-4D46-999F-A3240274BD80}"/>
                </a:ext>
              </a:extLst>
            </p:cNvPr>
            <p:cNvSpPr txBox="1"/>
            <p:nvPr/>
          </p:nvSpPr>
          <p:spPr>
            <a:xfrm>
              <a:off x="1677945" y="3700550"/>
              <a:ext cx="486200" cy="292388"/>
            </a:xfrm>
            <a:prstGeom prst="rect">
              <a:avLst/>
            </a:prstGeom>
            <a:noFill/>
          </p:spPr>
          <p:txBody>
            <a:bodyPr wrap="square" rtlCol="0">
              <a:spAutoFit/>
              <a:scene3d>
                <a:camera prst="orthographicFront"/>
                <a:lightRig rig="threePt" dir="t"/>
              </a:scene3d>
              <a:sp3d>
                <a:bevelT w="0" h="6350"/>
              </a:sp3d>
            </a:bodyPr>
            <a:lstStyle/>
            <a:p>
              <a:pPr algn="ctr"/>
              <a:r>
                <a:rPr lang="en-US" sz="1300" dirty="0">
                  <a:solidFill>
                    <a:srgbClr val="FF0000"/>
                  </a:solidFill>
                  <a:latin typeface="SamsungOne 400" panose="020B0503030303020204" pitchFamily="34" charset="0"/>
                  <a:ea typeface="SamsungOne 400" panose="020B0503030303020204" pitchFamily="34" charset="0"/>
                  <a:cs typeface="Times New Roman" panose="02020603050405020304" pitchFamily="18" charset="0"/>
                </a:rPr>
                <a:t>no</a:t>
              </a:r>
            </a:p>
          </p:txBody>
        </p:sp>
        <p:cxnSp>
          <p:nvCxnSpPr>
            <p:cNvPr id="37" name="Straight Arrow Connector 24">
              <a:extLst>
                <a:ext uri="{FF2B5EF4-FFF2-40B4-BE49-F238E27FC236}">
                  <a16:creationId xmlns:a16="http://schemas.microsoft.com/office/drawing/2014/main" id="{4F6BF233-AF1A-41A6-A682-92225DC4024B}"/>
                </a:ext>
              </a:extLst>
            </p:cNvPr>
            <p:cNvCxnSpPr>
              <a:cxnSpLocks/>
              <a:stCxn id="22" idx="2"/>
              <a:endCxn id="40" idx="0"/>
            </p:cNvCxnSpPr>
            <p:nvPr/>
          </p:nvCxnSpPr>
          <p:spPr>
            <a:xfrm rot="16200000" flipH="1">
              <a:off x="6680231" y="3499859"/>
              <a:ext cx="539904" cy="972398"/>
            </a:xfrm>
            <a:prstGeom prst="bentConnector3">
              <a:avLst>
                <a:gd name="adj1" fmla="val 50000"/>
              </a:avLst>
            </a:prstGeom>
            <a:ln w="12700">
              <a:solidFill>
                <a:srgbClr val="1429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25">
              <a:extLst>
                <a:ext uri="{FF2B5EF4-FFF2-40B4-BE49-F238E27FC236}">
                  <a16:creationId xmlns:a16="http://schemas.microsoft.com/office/drawing/2014/main" id="{721E1588-0A55-4397-8D47-405228B16A0A}"/>
                </a:ext>
              </a:extLst>
            </p:cNvPr>
            <p:cNvCxnSpPr>
              <a:cxnSpLocks/>
              <a:stCxn id="22" idx="2"/>
              <a:endCxn id="39" idx="0"/>
            </p:cNvCxnSpPr>
            <p:nvPr/>
          </p:nvCxnSpPr>
          <p:spPr>
            <a:xfrm rot="5400000">
              <a:off x="5764421" y="3554687"/>
              <a:ext cx="538144" cy="860983"/>
            </a:xfrm>
            <a:prstGeom prst="bentConnector3">
              <a:avLst>
                <a:gd name="adj1" fmla="val 50000"/>
              </a:avLst>
            </a:prstGeom>
            <a:ln w="12700">
              <a:solidFill>
                <a:srgbClr val="1429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3F9D461-E0E6-492D-979A-B0A5A6C5AA68}"/>
                </a:ext>
              </a:extLst>
            </p:cNvPr>
            <p:cNvSpPr txBox="1"/>
            <p:nvPr/>
          </p:nvSpPr>
          <p:spPr>
            <a:xfrm>
              <a:off x="4828120" y="4254250"/>
              <a:ext cx="1549762" cy="292388"/>
            </a:xfrm>
            <a:prstGeom prst="rect">
              <a:avLst/>
            </a:prstGeom>
            <a:solidFill>
              <a:srgbClr val="1429A0"/>
            </a:solidFill>
            <a:ln>
              <a:noFill/>
            </a:ln>
          </p:spPr>
          <p:txBody>
            <a:bodyPr wrap="square" rtlCol="0">
              <a:spAutoFit/>
              <a:scene3d>
                <a:camera prst="orthographicFront"/>
                <a:lightRig rig="threePt" dir="t"/>
              </a:scene3d>
              <a:sp3d>
                <a:bevelT w="0" h="6350"/>
              </a:sp3d>
            </a:bodyPr>
            <a:lstStyle/>
            <a:p>
              <a:pPr algn="ctr"/>
              <a:r>
                <a:rPr lang="en-US" altLang="ko-KR" sz="1300" b="1"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Flexitarian</a:t>
              </a:r>
              <a:endParaRPr lang="ko-KR" altLang="en-US" sz="1300" b="1" dirty="0">
                <a:solidFill>
                  <a:schemeClr val="bg1"/>
                </a:solidFill>
                <a:latin typeface="SamsungOne 400" panose="020B0503030303020204" pitchFamily="34" charset="0"/>
                <a:cs typeface="Times New Roman" panose="02020603050405020304" pitchFamily="18" charset="0"/>
              </a:endParaRPr>
            </a:p>
          </p:txBody>
        </p:sp>
        <p:sp>
          <p:nvSpPr>
            <p:cNvPr id="40" name="TextBox 39">
              <a:extLst>
                <a:ext uri="{FF2B5EF4-FFF2-40B4-BE49-F238E27FC236}">
                  <a16:creationId xmlns:a16="http://schemas.microsoft.com/office/drawing/2014/main" id="{89484868-4EBC-412A-992F-CEAFB4CC9B4B}"/>
                </a:ext>
              </a:extLst>
            </p:cNvPr>
            <p:cNvSpPr txBox="1"/>
            <p:nvPr/>
          </p:nvSpPr>
          <p:spPr>
            <a:xfrm>
              <a:off x="6661501" y="4256010"/>
              <a:ext cx="1549762" cy="292388"/>
            </a:xfrm>
            <a:prstGeom prst="rect">
              <a:avLst/>
            </a:prstGeom>
            <a:solidFill>
              <a:srgbClr val="1429A0"/>
            </a:solidFill>
            <a:ln>
              <a:noFill/>
            </a:ln>
          </p:spPr>
          <p:txBody>
            <a:bodyPr wrap="square" rtlCol="0">
              <a:spAutoFit/>
              <a:scene3d>
                <a:camera prst="orthographicFront"/>
                <a:lightRig rig="threePt" dir="t"/>
              </a:scene3d>
              <a:sp3d>
                <a:bevelT w="0" h="6350"/>
              </a:sp3d>
            </a:bodyPr>
            <a:lstStyle/>
            <a:p>
              <a:pPr algn="ctr"/>
              <a:r>
                <a:rPr lang="en-US" altLang="ko-KR" sz="1300" b="1"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Meat</a:t>
              </a:r>
              <a:r>
                <a:rPr lang="ko-KR" altLang="en-US" sz="1300" b="1" dirty="0">
                  <a:solidFill>
                    <a:schemeClr val="bg1"/>
                  </a:solidFill>
                  <a:latin typeface="SamsungOne 400" panose="020B0503030303020204" pitchFamily="34" charset="0"/>
                  <a:cs typeface="Times New Roman" panose="02020603050405020304" pitchFamily="18" charset="0"/>
                </a:rPr>
                <a:t> </a:t>
              </a:r>
              <a:r>
                <a:rPr lang="en-US" altLang="ko-KR" sz="1300" b="1"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lover</a:t>
              </a:r>
              <a:endParaRPr lang="ko-KR" altLang="en-US" sz="1300" b="1" dirty="0">
                <a:solidFill>
                  <a:schemeClr val="bg1"/>
                </a:solidFill>
                <a:latin typeface="SamsungOne 400" panose="020B0503030303020204" pitchFamily="34" charset="0"/>
                <a:cs typeface="Times New Roman" panose="02020603050405020304" pitchFamily="18" charset="0"/>
              </a:endParaRPr>
            </a:p>
          </p:txBody>
        </p:sp>
        <p:sp>
          <p:nvSpPr>
            <p:cNvPr id="41" name="TextBox 40">
              <a:extLst>
                <a:ext uri="{FF2B5EF4-FFF2-40B4-BE49-F238E27FC236}">
                  <a16:creationId xmlns:a16="http://schemas.microsoft.com/office/drawing/2014/main" id="{A37007DF-C918-430D-90D1-B3D249258A09}"/>
                </a:ext>
              </a:extLst>
            </p:cNvPr>
            <p:cNvSpPr txBox="1"/>
            <p:nvPr/>
          </p:nvSpPr>
          <p:spPr>
            <a:xfrm>
              <a:off x="7144639" y="3700550"/>
              <a:ext cx="486200" cy="292388"/>
            </a:xfrm>
            <a:prstGeom prst="rect">
              <a:avLst/>
            </a:prstGeom>
            <a:noFill/>
          </p:spPr>
          <p:txBody>
            <a:bodyPr wrap="square" rtlCol="0">
              <a:spAutoFit/>
              <a:scene3d>
                <a:camera prst="orthographicFront"/>
                <a:lightRig rig="threePt" dir="t"/>
              </a:scene3d>
              <a:sp3d>
                <a:bevelT w="0" h="6350"/>
              </a:sp3d>
            </a:bodyPr>
            <a:lstStyle/>
            <a:p>
              <a:pPr algn="ctr"/>
              <a:r>
                <a:rPr lang="en-US" sz="1300" dirty="0">
                  <a:solidFill>
                    <a:srgbClr val="1429A0"/>
                  </a:solidFill>
                  <a:latin typeface="SamsungOne 400" panose="020B0503030303020204" pitchFamily="34" charset="0"/>
                  <a:ea typeface="SamsungOne 400" panose="020B0503030303020204" pitchFamily="34" charset="0"/>
                  <a:cs typeface="Times New Roman" panose="02020603050405020304" pitchFamily="18" charset="0"/>
                </a:rPr>
                <a:t>yes</a:t>
              </a:r>
            </a:p>
          </p:txBody>
        </p:sp>
        <p:sp>
          <p:nvSpPr>
            <p:cNvPr id="42" name="TextBox 41">
              <a:extLst>
                <a:ext uri="{FF2B5EF4-FFF2-40B4-BE49-F238E27FC236}">
                  <a16:creationId xmlns:a16="http://schemas.microsoft.com/office/drawing/2014/main" id="{970FAEE7-BE97-427C-9F58-D0501940C9B9}"/>
                </a:ext>
              </a:extLst>
            </p:cNvPr>
            <p:cNvSpPr txBox="1"/>
            <p:nvPr/>
          </p:nvSpPr>
          <p:spPr>
            <a:xfrm>
              <a:off x="5324448" y="3700550"/>
              <a:ext cx="486200" cy="292388"/>
            </a:xfrm>
            <a:prstGeom prst="rect">
              <a:avLst/>
            </a:prstGeom>
            <a:noFill/>
          </p:spPr>
          <p:txBody>
            <a:bodyPr wrap="square" rtlCol="0">
              <a:spAutoFit/>
              <a:scene3d>
                <a:camera prst="orthographicFront"/>
                <a:lightRig rig="threePt" dir="t"/>
              </a:scene3d>
              <a:sp3d>
                <a:bevelT w="0" h="6350"/>
              </a:sp3d>
            </a:bodyPr>
            <a:lstStyle/>
            <a:p>
              <a:pPr algn="ctr"/>
              <a:r>
                <a:rPr lang="en-US" sz="1300" dirty="0">
                  <a:solidFill>
                    <a:srgbClr val="FF0000"/>
                  </a:solidFill>
                  <a:latin typeface="SamsungOne 400" panose="020B0503030303020204" pitchFamily="34" charset="0"/>
                  <a:ea typeface="SamsungOne 400" panose="020B0503030303020204" pitchFamily="34" charset="0"/>
                  <a:cs typeface="Times New Roman" panose="02020603050405020304" pitchFamily="18" charset="0"/>
                </a:rPr>
                <a:t>no</a:t>
              </a:r>
            </a:p>
          </p:txBody>
        </p:sp>
        <p:sp>
          <p:nvSpPr>
            <p:cNvPr id="43" name="사각형: 둥근 모서리 2">
              <a:extLst>
                <a:ext uri="{FF2B5EF4-FFF2-40B4-BE49-F238E27FC236}">
                  <a16:creationId xmlns:a16="http://schemas.microsoft.com/office/drawing/2014/main" id="{C5E0022E-57DD-41EE-A516-5E574365BA77}"/>
                </a:ext>
              </a:extLst>
            </p:cNvPr>
            <p:cNvSpPr/>
            <p:nvPr/>
          </p:nvSpPr>
          <p:spPr>
            <a:xfrm>
              <a:off x="1085849" y="4177012"/>
              <a:ext cx="7191375" cy="453569"/>
            </a:xfrm>
            <a:prstGeom prst="roundRect">
              <a:avLst>
                <a:gd name="adj" fmla="val 0"/>
              </a:avLst>
            </a:prstGeom>
            <a:noFill/>
            <a:ln w="1905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ko-KR" altLang="en-US" sz="1300">
                <a:latin typeface="SamsungOne 400" panose="020B0503030303020204" pitchFamily="34" charset="0"/>
              </a:endParaRPr>
            </a:p>
          </p:txBody>
        </p:sp>
        <p:sp>
          <p:nvSpPr>
            <p:cNvPr id="44" name="TextBox 43">
              <a:extLst>
                <a:ext uri="{FF2B5EF4-FFF2-40B4-BE49-F238E27FC236}">
                  <a16:creationId xmlns:a16="http://schemas.microsoft.com/office/drawing/2014/main" id="{4DDC999A-EADD-4048-AE98-1A46EFD2398E}"/>
                </a:ext>
              </a:extLst>
            </p:cNvPr>
            <p:cNvSpPr txBox="1"/>
            <p:nvPr/>
          </p:nvSpPr>
          <p:spPr>
            <a:xfrm>
              <a:off x="8327120" y="4168572"/>
              <a:ext cx="1131900" cy="492443"/>
            </a:xfrm>
            <a:prstGeom prst="rect">
              <a:avLst/>
            </a:prstGeom>
            <a:noFill/>
          </p:spPr>
          <p:txBody>
            <a:bodyPr wrap="square" rtlCol="0">
              <a:spAutoFit/>
              <a:scene3d>
                <a:camera prst="orthographicFront"/>
                <a:lightRig rig="threePt" dir="t"/>
              </a:scene3d>
              <a:sp3d>
                <a:bevelT w="0" h="6350"/>
              </a:sp3d>
            </a:bodyPr>
            <a:lstStyle/>
            <a:p>
              <a:r>
                <a:rPr lang="en-US" altLang="ko-KR" sz="1300" dirty="0">
                  <a:solidFill>
                    <a:srgbClr val="FF0000"/>
                  </a:solidFill>
                  <a:latin typeface="SamsungOne 700" panose="020B0803030303020204" pitchFamily="34" charset="0"/>
                  <a:ea typeface="SamsungOne 700" panose="020B0803030303020204" pitchFamily="34" charset="0"/>
                  <a:cs typeface="Times New Roman" panose="02020603050405020304" pitchFamily="18" charset="0"/>
                </a:rPr>
                <a:t>Predicted response</a:t>
              </a:r>
              <a:endParaRPr lang="ko-KR" altLang="en-US" sz="1300" dirty="0">
                <a:solidFill>
                  <a:srgbClr val="FF0000"/>
                </a:solidFill>
                <a:latin typeface="SamsungOne 700" panose="020B0803030303020204" pitchFamily="34" charset="0"/>
                <a:cs typeface="Times New Roman" panose="02020603050405020304" pitchFamily="18" charset="0"/>
              </a:endParaRPr>
            </a:p>
          </p:txBody>
        </p:sp>
      </p:grpSp>
      <p:sp>
        <p:nvSpPr>
          <p:cNvPr id="45" name="사각형: 둥근 모서리 2">
            <a:extLst>
              <a:ext uri="{FF2B5EF4-FFF2-40B4-BE49-F238E27FC236}">
                <a16:creationId xmlns:a16="http://schemas.microsoft.com/office/drawing/2014/main" id="{DD6EB150-D4D9-414E-A7C4-FC3BEB1EBF09}"/>
              </a:ext>
            </a:extLst>
          </p:cNvPr>
          <p:cNvSpPr/>
          <p:nvPr/>
        </p:nvSpPr>
        <p:spPr>
          <a:xfrm>
            <a:off x="672202" y="1772335"/>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Tree>
    <p:extLst>
      <p:ext uri="{BB962C8B-B14F-4D97-AF65-F5344CB8AC3E}">
        <p14:creationId xmlns:p14="http://schemas.microsoft.com/office/powerpoint/2010/main" val="3239501471"/>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Classification Tree</a:t>
              </a:r>
            </a:p>
          </p:txBody>
        </p:sp>
      </p:grpSp>
      <p:sp>
        <p:nvSpPr>
          <p:cNvPr id="200" name="직사각형 199">
            <a:extLst>
              <a:ext uri="{FF2B5EF4-FFF2-40B4-BE49-F238E27FC236}">
                <a16:creationId xmlns:a16="http://schemas.microsoft.com/office/drawing/2014/main" id="{1ACF2BF2-E48B-4341-BB04-F6BAF8F6D564}"/>
              </a:ext>
            </a:extLst>
          </p:cNvPr>
          <p:cNvSpPr/>
          <p:nvPr/>
        </p:nvSpPr>
        <p:spPr>
          <a:xfrm>
            <a:off x="670746" y="1700808"/>
            <a:ext cx="8673279"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The tree structure is trained by minimizing the Gini impurity (or entropy).</a:t>
            </a:r>
          </a:p>
        </p:txBody>
      </p:sp>
      <p:grpSp>
        <p:nvGrpSpPr>
          <p:cNvPr id="15" name="그룹 14">
            <a:extLst>
              <a:ext uri="{FF2B5EF4-FFF2-40B4-BE49-F238E27FC236}">
                <a16:creationId xmlns:a16="http://schemas.microsoft.com/office/drawing/2014/main" id="{39300AF6-7EF8-4BE0-A7BB-C6025B55375D}"/>
              </a:ext>
            </a:extLst>
          </p:cNvPr>
          <p:cNvGrpSpPr/>
          <p:nvPr/>
        </p:nvGrpSpPr>
        <p:grpSpPr>
          <a:xfrm>
            <a:off x="4994121" y="2255821"/>
            <a:ext cx="4041516" cy="2191738"/>
            <a:chOff x="9724696" y="2217376"/>
            <a:chExt cx="2053200" cy="1211624"/>
          </a:xfrm>
        </p:grpSpPr>
        <p:pic>
          <p:nvPicPr>
            <p:cNvPr id="16" name="그림 15">
              <a:extLst>
                <a:ext uri="{FF2B5EF4-FFF2-40B4-BE49-F238E27FC236}">
                  <a16:creationId xmlns:a16="http://schemas.microsoft.com/office/drawing/2014/main" id="{703E0383-FF4E-49CC-89CE-933465F9C4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696" y="2349000"/>
              <a:ext cx="1890000" cy="1080000"/>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DFBC50C-868F-4A67-A64F-A137BDE44424}"/>
                    </a:ext>
                  </a:extLst>
                </p:cNvPr>
                <p:cNvSpPr txBox="1"/>
                <p:nvPr/>
              </p:nvSpPr>
              <p:spPr>
                <a:xfrm>
                  <a:off x="11342468" y="3202710"/>
                  <a:ext cx="435428" cy="1956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ko-KR" sz="1400" i="1">
                                <a:solidFill>
                                  <a:srgbClr val="FF0000"/>
                                </a:solidFill>
                                <a:latin typeface="Cambria Math" panose="02040503050406030204" pitchFamily="18" charset="0"/>
                                <a:cs typeface="Times New Roman" panose="02020603050405020304" pitchFamily="18" charset="0"/>
                                <a:sym typeface="Symbol" panose="05050102010706020507" pitchFamily="18" charset="2"/>
                              </a:rPr>
                            </m:ctrlPr>
                          </m:sSubPr>
                          <m:e>
                            <m:acc>
                              <m:accPr>
                                <m:chr m:val="̂"/>
                                <m:ctrlPr>
                                  <a:rPr lang="en-US" altLang="ko-KR" sz="1400" i="1">
                                    <a:solidFill>
                                      <a:srgbClr val="FF0000"/>
                                    </a:solidFill>
                                    <a:latin typeface="Cambria Math" panose="02040503050406030204" pitchFamily="18" charset="0"/>
                                    <a:cs typeface="Times New Roman" panose="02020603050405020304" pitchFamily="18" charset="0"/>
                                    <a:sym typeface="Symbol" panose="05050102010706020507" pitchFamily="18" charset="2"/>
                                  </a:rPr>
                                </m:ctrlPr>
                              </m:accPr>
                              <m:e>
                                <m:r>
                                  <a:rPr lang="en-US" altLang="ko-KR" sz="1400" i="1">
                                    <a:solidFill>
                                      <a:srgbClr val="FF0000"/>
                                    </a:solidFill>
                                    <a:latin typeface="Cambria Math" panose="02040503050406030204" pitchFamily="18" charset="0"/>
                                    <a:cs typeface="Times New Roman" panose="02020603050405020304" pitchFamily="18" charset="0"/>
                                    <a:sym typeface="Symbol" panose="05050102010706020507" pitchFamily="18" charset="2"/>
                                  </a:rPr>
                                  <m:t>𝑝</m:t>
                                </m:r>
                              </m:e>
                            </m:acc>
                          </m:e>
                          <m:sub>
                            <m:r>
                              <a:rPr lang="en-US" altLang="ko-KR" sz="1400" i="1">
                                <a:solidFill>
                                  <a:srgbClr val="FF0000"/>
                                </a:solidFill>
                                <a:latin typeface="Cambria Math" panose="02040503050406030204" pitchFamily="18" charset="0"/>
                                <a:cs typeface="Times New Roman" panose="02020603050405020304" pitchFamily="18" charset="0"/>
                                <a:sym typeface="Symbol" panose="05050102010706020507" pitchFamily="18" charset="2"/>
                              </a:rPr>
                              <m:t>𝑚𝑘</m:t>
                            </m:r>
                          </m:sub>
                        </m:sSub>
                      </m:oMath>
                    </m:oMathPara>
                  </a14:m>
                  <a:endParaRPr lang="ko-KR" altLang="en-US" sz="1400" i="1" dirty="0">
                    <a:solidFill>
                      <a:srgbClr val="FF0000"/>
                    </a:solidFill>
                    <a:latin typeface="Cambria Math" panose="02040503050406030204" pitchFamily="18" charset="0"/>
                    <a:cs typeface="Times New Roman" panose="02020603050405020304" pitchFamily="18" charset="0"/>
                  </a:endParaRPr>
                </a:p>
              </p:txBody>
            </p:sp>
          </mc:Choice>
          <mc:Fallback xmlns="">
            <p:sp>
              <p:nvSpPr>
                <p:cNvPr id="17" name="TextBox 16">
                  <a:extLst>
                    <a:ext uri="{FF2B5EF4-FFF2-40B4-BE49-F238E27FC236}">
                      <a16:creationId xmlns:a16="http://schemas.microsoft.com/office/drawing/2014/main" id="{0DFBC50C-868F-4A67-A64F-A137BDE44424}"/>
                    </a:ext>
                  </a:extLst>
                </p:cNvPr>
                <p:cNvSpPr txBox="1">
                  <a:spLocks noRot="1" noChangeAspect="1" noMove="1" noResize="1" noEditPoints="1" noAdjustHandles="1" noChangeArrowheads="1" noChangeShapeType="1" noTextEdit="1"/>
                </p:cNvSpPr>
                <p:nvPr/>
              </p:nvSpPr>
              <p:spPr>
                <a:xfrm>
                  <a:off x="11342468" y="3202710"/>
                  <a:ext cx="435428" cy="276999"/>
                </a:xfrm>
                <a:prstGeom prst="rect">
                  <a:avLst/>
                </a:prstGeom>
                <a:blipFill>
                  <a:blip r:embed="rId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02CAE30-81B1-49E4-9501-5B538317D153}"/>
                    </a:ext>
                  </a:extLst>
                </p:cNvPr>
                <p:cNvSpPr txBox="1"/>
                <p:nvPr/>
              </p:nvSpPr>
              <p:spPr>
                <a:xfrm>
                  <a:off x="9724696" y="2217376"/>
                  <a:ext cx="647405" cy="1701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ko-KR" sz="1400" i="1" smtClean="0">
                                <a:solidFill>
                                  <a:srgbClr val="FF0000"/>
                                </a:solidFill>
                                <a:latin typeface="Cambria Math" panose="02040503050406030204" pitchFamily="18" charset="0"/>
                                <a:cs typeface="Times New Roman" panose="02020603050405020304" pitchFamily="18" charset="0"/>
                                <a:sym typeface="Symbol" panose="05050102010706020507" pitchFamily="18" charset="2"/>
                              </a:rPr>
                            </m:ctrlPr>
                          </m:sSubPr>
                          <m:e>
                            <m:acc>
                              <m:accPr>
                                <m:chr m:val="̂"/>
                                <m:ctrlPr>
                                  <a:rPr lang="en-US" altLang="ko-KR" sz="1400" i="1">
                                    <a:solidFill>
                                      <a:srgbClr val="FF0000"/>
                                    </a:solidFill>
                                    <a:latin typeface="Cambria Math" panose="02040503050406030204" pitchFamily="18" charset="0"/>
                                    <a:cs typeface="Times New Roman" panose="02020603050405020304" pitchFamily="18" charset="0"/>
                                    <a:sym typeface="Symbol" panose="05050102010706020507" pitchFamily="18" charset="2"/>
                                  </a:rPr>
                                </m:ctrlPr>
                              </m:accPr>
                              <m:e>
                                <m:r>
                                  <a:rPr lang="en-US" altLang="ko-KR" sz="1400" i="1">
                                    <a:solidFill>
                                      <a:srgbClr val="FF0000"/>
                                    </a:solidFill>
                                    <a:latin typeface="Cambria Math" panose="02040503050406030204" pitchFamily="18" charset="0"/>
                                    <a:cs typeface="Times New Roman" panose="02020603050405020304" pitchFamily="18" charset="0"/>
                                    <a:sym typeface="Symbol" panose="05050102010706020507" pitchFamily="18" charset="2"/>
                                  </a:rPr>
                                  <m:t>𝑝</m:t>
                                </m:r>
                              </m:e>
                            </m:acc>
                          </m:e>
                          <m:sub>
                            <m:r>
                              <a:rPr lang="en-US" altLang="ko-KR" sz="1400" i="1">
                                <a:solidFill>
                                  <a:srgbClr val="FF0000"/>
                                </a:solidFill>
                                <a:latin typeface="Cambria Math" panose="02040503050406030204" pitchFamily="18" charset="0"/>
                                <a:cs typeface="Times New Roman" panose="02020603050405020304" pitchFamily="18" charset="0"/>
                                <a:sym typeface="Symbol" panose="05050102010706020507" pitchFamily="18" charset="2"/>
                              </a:rPr>
                              <m:t>𝑚𝑘</m:t>
                            </m:r>
                          </m:sub>
                        </m:sSub>
                        <m:d>
                          <m:dPr>
                            <m:ctrlPr>
                              <a:rPr lang="en-US" altLang="ko-KR" sz="1400" i="1">
                                <a:solidFill>
                                  <a:srgbClr val="FF0000"/>
                                </a:solidFill>
                                <a:latin typeface="Cambria Math" panose="02040503050406030204" pitchFamily="18" charset="0"/>
                                <a:cs typeface="Times New Roman" panose="02020603050405020304" pitchFamily="18" charset="0"/>
                                <a:sym typeface="Symbol" panose="05050102010706020507" pitchFamily="18" charset="2"/>
                              </a:rPr>
                            </m:ctrlPr>
                          </m:dPr>
                          <m:e>
                            <m:r>
                              <a:rPr lang="en-US" altLang="ko-KR" sz="1400" i="1">
                                <a:solidFill>
                                  <a:srgbClr val="FF0000"/>
                                </a:solidFill>
                                <a:latin typeface="Cambria Math" panose="02040503050406030204" pitchFamily="18" charset="0"/>
                                <a:cs typeface="Times New Roman" panose="02020603050405020304" pitchFamily="18" charset="0"/>
                                <a:sym typeface="Symbol" panose="05050102010706020507" pitchFamily="18" charset="2"/>
                              </a:rPr>
                              <m:t>1−</m:t>
                            </m:r>
                            <m:sSub>
                              <m:sSubPr>
                                <m:ctrlPr>
                                  <a:rPr lang="en-US" altLang="ko-KR" sz="1400" i="1">
                                    <a:solidFill>
                                      <a:srgbClr val="FF0000"/>
                                    </a:solidFill>
                                    <a:latin typeface="Cambria Math" panose="02040503050406030204" pitchFamily="18" charset="0"/>
                                    <a:cs typeface="Times New Roman" panose="02020603050405020304" pitchFamily="18" charset="0"/>
                                    <a:sym typeface="Symbol" panose="05050102010706020507" pitchFamily="18" charset="2"/>
                                  </a:rPr>
                                </m:ctrlPr>
                              </m:sSubPr>
                              <m:e>
                                <m:acc>
                                  <m:accPr>
                                    <m:chr m:val="̂"/>
                                    <m:ctrlPr>
                                      <a:rPr lang="en-US" altLang="ko-KR" sz="1400" i="1">
                                        <a:solidFill>
                                          <a:srgbClr val="FF0000"/>
                                        </a:solidFill>
                                        <a:latin typeface="Cambria Math" panose="02040503050406030204" pitchFamily="18" charset="0"/>
                                        <a:cs typeface="Times New Roman" panose="02020603050405020304" pitchFamily="18" charset="0"/>
                                        <a:sym typeface="Symbol" panose="05050102010706020507" pitchFamily="18" charset="2"/>
                                      </a:rPr>
                                    </m:ctrlPr>
                                  </m:accPr>
                                  <m:e>
                                    <m:r>
                                      <a:rPr lang="en-US" altLang="ko-KR" sz="1400" i="1">
                                        <a:solidFill>
                                          <a:srgbClr val="FF0000"/>
                                        </a:solidFill>
                                        <a:latin typeface="Cambria Math" panose="02040503050406030204" pitchFamily="18" charset="0"/>
                                        <a:cs typeface="Times New Roman" panose="02020603050405020304" pitchFamily="18" charset="0"/>
                                        <a:sym typeface="Symbol" panose="05050102010706020507" pitchFamily="18" charset="2"/>
                                      </a:rPr>
                                      <m:t>𝑝</m:t>
                                    </m:r>
                                  </m:e>
                                </m:acc>
                              </m:e>
                              <m:sub>
                                <m:r>
                                  <a:rPr lang="en-US" altLang="ko-KR" sz="1400" i="1">
                                    <a:solidFill>
                                      <a:srgbClr val="FF0000"/>
                                    </a:solidFill>
                                    <a:latin typeface="Cambria Math" panose="02040503050406030204" pitchFamily="18" charset="0"/>
                                    <a:cs typeface="Times New Roman" panose="02020603050405020304" pitchFamily="18" charset="0"/>
                                    <a:sym typeface="Symbol" panose="05050102010706020507" pitchFamily="18" charset="2"/>
                                  </a:rPr>
                                  <m:t>𝑚𝑘</m:t>
                                </m:r>
                              </m:sub>
                            </m:sSub>
                          </m:e>
                        </m:d>
                      </m:oMath>
                    </m:oMathPara>
                  </a14:m>
                  <a:endParaRPr lang="ko-KR" altLang="en-US" sz="1400" dirty="0">
                    <a:solidFill>
                      <a:srgbClr val="FF0000"/>
                    </a:solidFill>
                  </a:endParaRPr>
                </a:p>
              </p:txBody>
            </p:sp>
          </mc:Choice>
          <mc:Fallback xmlns="">
            <p:sp>
              <p:nvSpPr>
                <p:cNvPr id="22" name="TextBox 21">
                  <a:extLst>
                    <a:ext uri="{FF2B5EF4-FFF2-40B4-BE49-F238E27FC236}">
                      <a16:creationId xmlns:a16="http://schemas.microsoft.com/office/drawing/2014/main" xmlns="" xmlns:a14="http://schemas.microsoft.com/office/drawing/2010/main" id="{802CAE30-81B1-49E4-9501-5B538317D153}"/>
                    </a:ext>
                  </a:extLst>
                </p:cNvPr>
                <p:cNvSpPr txBox="1">
                  <a:spLocks noRot="1" noChangeAspect="1" noMove="1" noResize="1" noEditPoints="1" noAdjustHandles="1" noChangeArrowheads="1" noChangeShapeType="1" noTextEdit="1"/>
                </p:cNvSpPr>
                <p:nvPr/>
              </p:nvSpPr>
              <p:spPr>
                <a:xfrm>
                  <a:off x="9724696" y="2217376"/>
                  <a:ext cx="647405" cy="170144"/>
                </a:xfrm>
                <a:prstGeom prst="rect">
                  <a:avLst/>
                </a:prstGeom>
                <a:blipFill rotWithShape="0">
                  <a:blip r:embed="rId8"/>
                  <a:stretch>
                    <a:fillRect/>
                  </a:stretch>
                </a:blipFill>
              </p:spPr>
              <p:txBody>
                <a:bodyPr/>
                <a:lstStyle/>
                <a:p>
                  <a:r>
                    <a:rPr lang="ko-KR" altLang="en-US">
                      <a:noFill/>
                    </a:rPr>
                    <a:t> </a:t>
                  </a:r>
                </a:p>
              </p:txBody>
            </p:sp>
          </mc:Fallback>
        </mc:AlternateContent>
      </p:grpSp>
      <p:grpSp>
        <p:nvGrpSpPr>
          <p:cNvPr id="2" name="그룹 1"/>
          <p:cNvGrpSpPr/>
          <p:nvPr/>
        </p:nvGrpSpPr>
        <p:grpSpPr>
          <a:xfrm>
            <a:off x="882960" y="2162334"/>
            <a:ext cx="3826973" cy="2156929"/>
            <a:chOff x="1475420" y="2143024"/>
            <a:chExt cx="3826973" cy="2156929"/>
          </a:xfrm>
        </p:grpSpPr>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3345A8A2-F6EE-4BDC-9392-6EE3866C09DE}"/>
                    </a:ext>
                  </a:extLst>
                </p:cNvPr>
                <p:cNvSpPr/>
                <p:nvPr/>
              </p:nvSpPr>
              <p:spPr>
                <a:xfrm>
                  <a:off x="1475420" y="2143024"/>
                  <a:ext cx="3826973" cy="8872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spcAft>
                      <a:spcPts val="800"/>
                    </a:spcAft>
                    <a:buClr>
                      <a:srgbClr val="193EB0"/>
                    </a:buClr>
                  </a:pPr>
                  <a14:m>
                    <m:oMathPara xmlns:m="http://schemas.openxmlformats.org/officeDocument/2006/math">
                      <m:oMathParaPr>
                        <m:jc m:val="center"/>
                      </m:oMathParaPr>
                      <m:oMath xmlns:m="http://schemas.openxmlformats.org/officeDocument/2006/math">
                        <m:sSub>
                          <m:sSubPr>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sSubPr>
                          <m:e>
                            <m:r>
                              <a:rPr lang="en-US" altLang="ko-KR" sz="1600">
                                <a:solidFill>
                                  <a:schemeClr val="tx1">
                                    <a:lumMod val="85000"/>
                                    <a:lumOff val="15000"/>
                                  </a:schemeClr>
                                </a:solidFill>
                                <a:latin typeface="Cambria Math" panose="02040503050406030204" pitchFamily="18" charset="0"/>
                                <a:sym typeface="Symbol" panose="05050102010706020507" pitchFamily="18" charset="2"/>
                              </a:rPr>
                              <m:t>𝐺</m:t>
                            </m:r>
                          </m:e>
                          <m:sub>
                            <m:r>
                              <a:rPr lang="en-US" altLang="ko-KR" sz="1600">
                                <a:solidFill>
                                  <a:schemeClr val="tx1">
                                    <a:lumMod val="85000"/>
                                    <a:lumOff val="15000"/>
                                  </a:schemeClr>
                                </a:solidFill>
                                <a:latin typeface="Cambria Math" panose="02040503050406030204" pitchFamily="18" charset="0"/>
                                <a:sym typeface="Symbol" panose="05050102010706020507" pitchFamily="18" charset="2"/>
                              </a:rPr>
                              <m:t>𝑚</m:t>
                            </m:r>
                          </m:sub>
                        </m:sSub>
                        <m:r>
                          <a:rPr lang="en-US" altLang="ko-KR" sz="1600">
                            <a:solidFill>
                              <a:schemeClr val="tx1">
                                <a:lumMod val="85000"/>
                                <a:lumOff val="15000"/>
                              </a:schemeClr>
                            </a:solidFill>
                            <a:latin typeface="Cambria Math" panose="02040503050406030204" pitchFamily="18" charset="0"/>
                            <a:sym typeface="Symbol" panose="05050102010706020507" pitchFamily="18" charset="2"/>
                          </a:rPr>
                          <m:t>=</m:t>
                        </m:r>
                        <m:nary>
                          <m:naryPr>
                            <m:chr m:val="∑"/>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naryPr>
                          <m:sub>
                            <m:r>
                              <m:rPr>
                                <m:brk m:alnAt="23"/>
                              </m:rPr>
                              <a:rPr lang="en-US" altLang="ko-KR" sz="1600">
                                <a:solidFill>
                                  <a:schemeClr val="tx1">
                                    <a:lumMod val="85000"/>
                                    <a:lumOff val="15000"/>
                                  </a:schemeClr>
                                </a:solidFill>
                                <a:latin typeface="Cambria Math" panose="02040503050406030204" pitchFamily="18" charset="0"/>
                                <a:sym typeface="Symbol" panose="05050102010706020507" pitchFamily="18" charset="2"/>
                              </a:rPr>
                              <m:t>𝑘</m:t>
                            </m:r>
                            <m:r>
                              <a:rPr lang="en-US" altLang="ko-KR" sz="1600">
                                <a:solidFill>
                                  <a:schemeClr val="tx1">
                                    <a:lumMod val="85000"/>
                                    <a:lumOff val="15000"/>
                                  </a:schemeClr>
                                </a:solidFill>
                                <a:latin typeface="Cambria Math" panose="02040503050406030204" pitchFamily="18" charset="0"/>
                                <a:sym typeface="Symbol" panose="05050102010706020507" pitchFamily="18" charset="2"/>
                              </a:rPr>
                              <m:t>=1</m:t>
                            </m:r>
                          </m:sub>
                          <m:sup>
                            <m:r>
                              <a:rPr lang="en-US" altLang="ko-KR" sz="1600">
                                <a:solidFill>
                                  <a:schemeClr val="tx1">
                                    <a:lumMod val="85000"/>
                                    <a:lumOff val="15000"/>
                                  </a:schemeClr>
                                </a:solidFill>
                                <a:latin typeface="Cambria Math" panose="02040503050406030204" pitchFamily="18" charset="0"/>
                                <a:sym typeface="Symbol" panose="05050102010706020507" pitchFamily="18" charset="2"/>
                              </a:rPr>
                              <m:t>𝐾</m:t>
                            </m:r>
                          </m:sup>
                          <m:e>
                            <m:sSub>
                              <m:sSubPr>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sSubPr>
                              <m:e>
                                <m:acc>
                                  <m:accPr>
                                    <m:chr m:val="̂"/>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accPr>
                                  <m:e>
                                    <m:r>
                                      <a:rPr lang="en-US" altLang="ko-KR" sz="1600">
                                        <a:solidFill>
                                          <a:schemeClr val="tx1">
                                            <a:lumMod val="85000"/>
                                            <a:lumOff val="15000"/>
                                          </a:schemeClr>
                                        </a:solidFill>
                                        <a:latin typeface="Cambria Math" panose="02040503050406030204" pitchFamily="18" charset="0"/>
                                        <a:sym typeface="Symbol" panose="05050102010706020507" pitchFamily="18" charset="2"/>
                                      </a:rPr>
                                      <m:t>𝑝</m:t>
                                    </m:r>
                                  </m:e>
                                </m:acc>
                              </m:e>
                              <m:sub>
                                <m:r>
                                  <a:rPr lang="en-US" altLang="ko-KR" sz="1600">
                                    <a:solidFill>
                                      <a:schemeClr val="tx1">
                                        <a:lumMod val="85000"/>
                                        <a:lumOff val="15000"/>
                                      </a:schemeClr>
                                    </a:solidFill>
                                    <a:latin typeface="Cambria Math" panose="02040503050406030204" pitchFamily="18" charset="0"/>
                                    <a:sym typeface="Symbol" panose="05050102010706020507" pitchFamily="18" charset="2"/>
                                  </a:rPr>
                                  <m:t>𝑚𝑘</m:t>
                                </m:r>
                              </m:sub>
                            </m:sSub>
                            <m:d>
                              <m:dPr>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dPr>
                              <m:e>
                                <m:r>
                                  <a:rPr lang="en-US" altLang="ko-KR" sz="1600">
                                    <a:solidFill>
                                      <a:schemeClr val="tx1">
                                        <a:lumMod val="85000"/>
                                        <a:lumOff val="15000"/>
                                      </a:schemeClr>
                                    </a:solidFill>
                                    <a:latin typeface="Cambria Math" panose="02040503050406030204" pitchFamily="18" charset="0"/>
                                    <a:sym typeface="Symbol" panose="05050102010706020507" pitchFamily="18" charset="2"/>
                                  </a:rPr>
                                  <m:t>1−</m:t>
                                </m:r>
                                <m:sSub>
                                  <m:sSubPr>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sSubPr>
                                  <m:e>
                                    <m:acc>
                                      <m:accPr>
                                        <m:chr m:val="̂"/>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accPr>
                                      <m:e>
                                        <m:r>
                                          <a:rPr lang="en-US" altLang="ko-KR" sz="1600">
                                            <a:solidFill>
                                              <a:schemeClr val="tx1">
                                                <a:lumMod val="85000"/>
                                                <a:lumOff val="15000"/>
                                              </a:schemeClr>
                                            </a:solidFill>
                                            <a:latin typeface="Cambria Math" panose="02040503050406030204" pitchFamily="18" charset="0"/>
                                            <a:sym typeface="Symbol" panose="05050102010706020507" pitchFamily="18" charset="2"/>
                                          </a:rPr>
                                          <m:t>𝑝</m:t>
                                        </m:r>
                                      </m:e>
                                    </m:acc>
                                  </m:e>
                                  <m:sub>
                                    <m:r>
                                      <a:rPr lang="en-US" altLang="ko-KR" sz="1600">
                                        <a:solidFill>
                                          <a:schemeClr val="tx1">
                                            <a:lumMod val="85000"/>
                                            <a:lumOff val="15000"/>
                                          </a:schemeClr>
                                        </a:solidFill>
                                        <a:latin typeface="Cambria Math" panose="02040503050406030204" pitchFamily="18" charset="0"/>
                                        <a:sym typeface="Symbol" panose="05050102010706020507" pitchFamily="18" charset="2"/>
                                      </a:rPr>
                                      <m:t>𝑚𝑘</m:t>
                                    </m:r>
                                  </m:sub>
                                </m:sSub>
                              </m:e>
                            </m:d>
                          </m:e>
                        </m:nary>
                        <m:r>
                          <a:rPr lang="en-US" altLang="ko-KR" sz="1600">
                            <a:solidFill>
                              <a:schemeClr val="tx1">
                                <a:lumMod val="85000"/>
                                <a:lumOff val="15000"/>
                              </a:schemeClr>
                            </a:solidFill>
                            <a:latin typeface="Cambria Math" panose="02040503050406030204" pitchFamily="18" charset="0"/>
                            <a:sym typeface="Symbol" panose="05050102010706020507" pitchFamily="18" charset="2"/>
                          </a:rPr>
                          <m:t>=1−</m:t>
                        </m:r>
                        <m:nary>
                          <m:naryPr>
                            <m:chr m:val="∑"/>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naryPr>
                          <m:sub>
                            <m:r>
                              <m:rPr>
                                <m:brk m:alnAt="23"/>
                              </m:rPr>
                              <a:rPr lang="en-US" altLang="ko-KR" sz="1600">
                                <a:solidFill>
                                  <a:schemeClr val="tx1">
                                    <a:lumMod val="85000"/>
                                    <a:lumOff val="15000"/>
                                  </a:schemeClr>
                                </a:solidFill>
                                <a:latin typeface="Cambria Math" panose="02040503050406030204" pitchFamily="18" charset="0"/>
                                <a:sym typeface="Symbol" panose="05050102010706020507" pitchFamily="18" charset="2"/>
                              </a:rPr>
                              <m:t>𝑘</m:t>
                            </m:r>
                            <m:r>
                              <a:rPr lang="en-US" altLang="ko-KR" sz="1600">
                                <a:solidFill>
                                  <a:schemeClr val="tx1">
                                    <a:lumMod val="85000"/>
                                    <a:lumOff val="15000"/>
                                  </a:schemeClr>
                                </a:solidFill>
                                <a:latin typeface="Cambria Math" panose="02040503050406030204" pitchFamily="18" charset="0"/>
                                <a:sym typeface="Symbol" panose="05050102010706020507" pitchFamily="18" charset="2"/>
                              </a:rPr>
                              <m:t>=1</m:t>
                            </m:r>
                          </m:sub>
                          <m:sup>
                            <m:r>
                              <a:rPr lang="en-US" altLang="ko-KR" sz="1600">
                                <a:solidFill>
                                  <a:schemeClr val="tx1">
                                    <a:lumMod val="85000"/>
                                    <a:lumOff val="15000"/>
                                  </a:schemeClr>
                                </a:solidFill>
                                <a:latin typeface="Cambria Math" panose="02040503050406030204" pitchFamily="18" charset="0"/>
                                <a:sym typeface="Symbol" panose="05050102010706020507" pitchFamily="18" charset="2"/>
                              </a:rPr>
                              <m:t>𝐾</m:t>
                            </m:r>
                          </m:sup>
                          <m:e>
                            <m:sSup>
                              <m:sSupPr>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sSupPr>
                              <m:e>
                                <m:sSub>
                                  <m:sSubPr>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sSubPr>
                                  <m:e>
                                    <m:acc>
                                      <m:accPr>
                                        <m:chr m:val="̂"/>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accPr>
                                      <m:e>
                                        <m:r>
                                          <a:rPr lang="en-US" altLang="ko-KR" sz="1600">
                                            <a:solidFill>
                                              <a:schemeClr val="tx1">
                                                <a:lumMod val="85000"/>
                                                <a:lumOff val="15000"/>
                                              </a:schemeClr>
                                            </a:solidFill>
                                            <a:latin typeface="Cambria Math" panose="02040503050406030204" pitchFamily="18" charset="0"/>
                                            <a:sym typeface="Symbol" panose="05050102010706020507" pitchFamily="18" charset="2"/>
                                          </a:rPr>
                                          <m:t>𝑝</m:t>
                                        </m:r>
                                      </m:e>
                                    </m:acc>
                                  </m:e>
                                  <m:sub>
                                    <m:r>
                                      <a:rPr lang="en-US" altLang="ko-KR" sz="1600">
                                        <a:solidFill>
                                          <a:schemeClr val="tx1">
                                            <a:lumMod val="85000"/>
                                            <a:lumOff val="15000"/>
                                          </a:schemeClr>
                                        </a:solidFill>
                                        <a:latin typeface="Cambria Math" panose="02040503050406030204" pitchFamily="18" charset="0"/>
                                        <a:sym typeface="Symbol" panose="05050102010706020507" pitchFamily="18" charset="2"/>
                                      </a:rPr>
                                      <m:t>𝑚𝑘</m:t>
                                    </m:r>
                                  </m:sub>
                                </m:sSub>
                              </m:e>
                              <m:sup>
                                <m:r>
                                  <a:rPr lang="en-US" altLang="ko-KR" sz="1600">
                                    <a:solidFill>
                                      <a:schemeClr val="tx1">
                                        <a:lumMod val="85000"/>
                                        <a:lumOff val="15000"/>
                                      </a:schemeClr>
                                    </a:solidFill>
                                    <a:latin typeface="Cambria Math" panose="02040503050406030204" pitchFamily="18" charset="0"/>
                                    <a:sym typeface="Symbol" panose="05050102010706020507" pitchFamily="18" charset="2"/>
                                  </a:rPr>
                                  <m:t>2</m:t>
                                </m:r>
                              </m:sup>
                            </m:sSup>
                          </m:e>
                        </m:nary>
                      </m:oMath>
                    </m:oMathPara>
                  </a14:m>
                  <a:endParaRPr lang="en-US" altLang="ko-KR" sz="1600" dirty="0">
                    <a:solidFill>
                      <a:schemeClr val="tx1">
                        <a:lumMod val="85000"/>
                        <a:lumOff val="15000"/>
                      </a:schemeClr>
                    </a:solidFill>
                    <a:latin typeface="Cambria Math" panose="02040503050406030204" pitchFamily="18" charset="0"/>
                  </a:endParaRPr>
                </a:p>
              </p:txBody>
            </p:sp>
          </mc:Choice>
          <mc:Fallback xmlns="">
            <p:sp>
              <p:nvSpPr>
                <p:cNvPr id="13" name="Rectangle 12">
                  <a:extLst>
                    <a:ext uri="{FF2B5EF4-FFF2-40B4-BE49-F238E27FC236}">
                      <a16:creationId xmlns:a16="http://schemas.microsoft.com/office/drawing/2014/main" id="{3345A8A2-F6EE-4BDC-9392-6EE3866C09DE}"/>
                    </a:ext>
                  </a:extLst>
                </p:cNvPr>
                <p:cNvSpPr>
                  <a:spLocks noRot="1" noChangeAspect="1" noMove="1" noResize="1" noEditPoints="1" noAdjustHandles="1" noChangeArrowheads="1" noChangeShapeType="1" noTextEdit="1"/>
                </p:cNvSpPr>
                <p:nvPr/>
              </p:nvSpPr>
              <p:spPr>
                <a:xfrm>
                  <a:off x="1475420" y="2143024"/>
                  <a:ext cx="3826973" cy="887231"/>
                </a:xfrm>
                <a:prstGeom prst="rect">
                  <a:avLst/>
                </a:prstGeom>
                <a:blipFill>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 name="Rectangle 12">
                  <a:extLst>
                    <a:ext uri="{FF2B5EF4-FFF2-40B4-BE49-F238E27FC236}">
                      <a16:creationId xmlns:a16="http://schemas.microsoft.com/office/drawing/2014/main" id="{0D7AECC3-D60D-4EE1-8EE9-5D78C2E21ADD}"/>
                    </a:ext>
                  </a:extLst>
                </p:cNvPr>
                <p:cNvSpPr/>
                <p:nvPr/>
              </p:nvSpPr>
              <p:spPr>
                <a:xfrm>
                  <a:off x="1747056" y="3412722"/>
                  <a:ext cx="3231554" cy="8872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spcAft>
                      <a:spcPts val="800"/>
                    </a:spcAft>
                    <a:buClr>
                      <a:srgbClr val="193EB0"/>
                    </a:buClr>
                  </a:pPr>
                  <a14:m>
                    <m:oMathPara xmlns:m="http://schemas.openxmlformats.org/officeDocument/2006/math">
                      <m:oMathParaPr>
                        <m:jc m:val="center"/>
                      </m:oMathParaPr>
                      <m:oMath xmlns:m="http://schemas.openxmlformats.org/officeDocument/2006/math">
                        <m:sSub>
                          <m:sSubPr>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sSubPr>
                          <m:e>
                            <m:r>
                              <a:rPr lang="en-US" altLang="ko-KR" sz="1600">
                                <a:solidFill>
                                  <a:schemeClr val="tx1">
                                    <a:lumMod val="85000"/>
                                    <a:lumOff val="15000"/>
                                  </a:schemeClr>
                                </a:solidFill>
                                <a:latin typeface="Cambria Math" panose="02040503050406030204" pitchFamily="18" charset="0"/>
                                <a:sym typeface="Symbol" panose="05050102010706020507" pitchFamily="18" charset="2"/>
                              </a:rPr>
                              <m:t>𝐸𝑛𝑡𝑟𝑜𝑝𝑦</m:t>
                            </m:r>
                          </m:e>
                          <m:sub>
                            <m:r>
                              <a:rPr lang="en-US" altLang="ko-KR" sz="1600">
                                <a:solidFill>
                                  <a:schemeClr val="tx1">
                                    <a:lumMod val="85000"/>
                                    <a:lumOff val="15000"/>
                                  </a:schemeClr>
                                </a:solidFill>
                                <a:latin typeface="Cambria Math" panose="02040503050406030204" pitchFamily="18" charset="0"/>
                                <a:sym typeface="Symbol" panose="05050102010706020507" pitchFamily="18" charset="2"/>
                              </a:rPr>
                              <m:t>𝑚</m:t>
                            </m:r>
                          </m:sub>
                        </m:sSub>
                        <m:r>
                          <a:rPr lang="en-US" altLang="ko-KR" sz="1600">
                            <a:solidFill>
                              <a:schemeClr val="tx1">
                                <a:lumMod val="85000"/>
                                <a:lumOff val="15000"/>
                              </a:schemeClr>
                            </a:solidFill>
                            <a:latin typeface="Cambria Math" panose="02040503050406030204" pitchFamily="18" charset="0"/>
                            <a:sym typeface="Symbol" panose="05050102010706020507" pitchFamily="18" charset="2"/>
                          </a:rPr>
                          <m:t>=−</m:t>
                        </m:r>
                        <m:nary>
                          <m:naryPr>
                            <m:chr m:val="∑"/>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naryPr>
                          <m:sub>
                            <m:r>
                              <m:rPr>
                                <m:brk m:alnAt="23"/>
                              </m:rPr>
                              <a:rPr lang="en-US" altLang="ko-KR" sz="1600">
                                <a:solidFill>
                                  <a:schemeClr val="tx1">
                                    <a:lumMod val="85000"/>
                                    <a:lumOff val="15000"/>
                                  </a:schemeClr>
                                </a:solidFill>
                                <a:latin typeface="Cambria Math" panose="02040503050406030204" pitchFamily="18" charset="0"/>
                                <a:sym typeface="Symbol" panose="05050102010706020507" pitchFamily="18" charset="2"/>
                              </a:rPr>
                              <m:t>𝑘</m:t>
                            </m:r>
                            <m:r>
                              <a:rPr lang="en-US" altLang="ko-KR" sz="1600">
                                <a:solidFill>
                                  <a:schemeClr val="tx1">
                                    <a:lumMod val="85000"/>
                                    <a:lumOff val="15000"/>
                                  </a:schemeClr>
                                </a:solidFill>
                                <a:latin typeface="Cambria Math" panose="02040503050406030204" pitchFamily="18" charset="0"/>
                                <a:sym typeface="Symbol" panose="05050102010706020507" pitchFamily="18" charset="2"/>
                              </a:rPr>
                              <m:t>=1</m:t>
                            </m:r>
                          </m:sub>
                          <m:sup>
                            <m:r>
                              <a:rPr lang="en-US" altLang="ko-KR" sz="1600">
                                <a:solidFill>
                                  <a:schemeClr val="tx1">
                                    <a:lumMod val="85000"/>
                                    <a:lumOff val="15000"/>
                                  </a:schemeClr>
                                </a:solidFill>
                                <a:latin typeface="Cambria Math" panose="02040503050406030204" pitchFamily="18" charset="0"/>
                                <a:sym typeface="Symbol" panose="05050102010706020507" pitchFamily="18" charset="2"/>
                              </a:rPr>
                              <m:t>𝐾</m:t>
                            </m:r>
                          </m:sup>
                          <m:e>
                            <m:sSub>
                              <m:sSubPr>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sSubPr>
                              <m:e>
                                <m:acc>
                                  <m:accPr>
                                    <m:chr m:val="̂"/>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accPr>
                                  <m:e>
                                    <m:r>
                                      <a:rPr lang="en-US" altLang="ko-KR" sz="1600">
                                        <a:solidFill>
                                          <a:schemeClr val="tx1">
                                            <a:lumMod val="85000"/>
                                            <a:lumOff val="15000"/>
                                          </a:schemeClr>
                                        </a:solidFill>
                                        <a:latin typeface="Cambria Math" panose="02040503050406030204" pitchFamily="18" charset="0"/>
                                        <a:sym typeface="Symbol" panose="05050102010706020507" pitchFamily="18" charset="2"/>
                                      </a:rPr>
                                      <m:t>𝑝</m:t>
                                    </m:r>
                                  </m:e>
                                </m:acc>
                              </m:e>
                              <m:sub>
                                <m:r>
                                  <a:rPr lang="en-US" altLang="ko-KR" sz="1600">
                                    <a:solidFill>
                                      <a:schemeClr val="tx1">
                                        <a:lumMod val="85000"/>
                                        <a:lumOff val="15000"/>
                                      </a:schemeClr>
                                    </a:solidFill>
                                    <a:latin typeface="Cambria Math" panose="02040503050406030204" pitchFamily="18" charset="0"/>
                                    <a:sym typeface="Symbol" panose="05050102010706020507" pitchFamily="18" charset="2"/>
                                  </a:rPr>
                                  <m:t>𝑚𝑘</m:t>
                                </m:r>
                              </m:sub>
                            </m:sSub>
                            <m:r>
                              <a:rPr lang="en-US" altLang="ko-KR" sz="1600">
                                <a:solidFill>
                                  <a:schemeClr val="tx1">
                                    <a:lumMod val="85000"/>
                                    <a:lumOff val="15000"/>
                                  </a:schemeClr>
                                </a:solidFill>
                                <a:latin typeface="Cambria Math" panose="02040503050406030204" pitchFamily="18" charset="0"/>
                                <a:sym typeface="Symbol" panose="05050102010706020507" pitchFamily="18" charset="2"/>
                              </a:rPr>
                              <m:t>𝐿𝑜𝑔</m:t>
                            </m:r>
                            <m:d>
                              <m:dPr>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dPr>
                              <m:e>
                                <m:sSub>
                                  <m:sSubPr>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sSubPr>
                                  <m:e>
                                    <m:acc>
                                      <m:accPr>
                                        <m:chr m:val="̂"/>
                                        <m:ctrlPr>
                                          <a:rPr lang="en-US" altLang="ko-KR" sz="1600" i="1">
                                            <a:solidFill>
                                              <a:schemeClr val="tx1">
                                                <a:lumMod val="85000"/>
                                                <a:lumOff val="15000"/>
                                              </a:schemeClr>
                                            </a:solidFill>
                                            <a:latin typeface="Cambria Math" panose="02040503050406030204" pitchFamily="18" charset="0"/>
                                            <a:sym typeface="Symbol" panose="05050102010706020507" pitchFamily="18" charset="2"/>
                                          </a:rPr>
                                        </m:ctrlPr>
                                      </m:accPr>
                                      <m:e>
                                        <m:r>
                                          <a:rPr lang="en-US" altLang="ko-KR" sz="1600">
                                            <a:solidFill>
                                              <a:schemeClr val="tx1">
                                                <a:lumMod val="85000"/>
                                                <a:lumOff val="15000"/>
                                              </a:schemeClr>
                                            </a:solidFill>
                                            <a:latin typeface="Cambria Math" panose="02040503050406030204" pitchFamily="18" charset="0"/>
                                            <a:sym typeface="Symbol" panose="05050102010706020507" pitchFamily="18" charset="2"/>
                                          </a:rPr>
                                          <m:t>𝑝</m:t>
                                        </m:r>
                                      </m:e>
                                    </m:acc>
                                  </m:e>
                                  <m:sub>
                                    <m:r>
                                      <a:rPr lang="en-US" altLang="ko-KR" sz="1600">
                                        <a:solidFill>
                                          <a:schemeClr val="tx1">
                                            <a:lumMod val="85000"/>
                                            <a:lumOff val="15000"/>
                                          </a:schemeClr>
                                        </a:solidFill>
                                        <a:latin typeface="Cambria Math" panose="02040503050406030204" pitchFamily="18" charset="0"/>
                                        <a:sym typeface="Symbol" panose="05050102010706020507" pitchFamily="18" charset="2"/>
                                      </a:rPr>
                                      <m:t>𝑚𝑘</m:t>
                                    </m:r>
                                  </m:sub>
                                </m:sSub>
                              </m:e>
                            </m:d>
                          </m:e>
                        </m:nary>
                      </m:oMath>
                    </m:oMathPara>
                  </a14:m>
                  <a:endParaRPr lang="en-US" altLang="ko-KR" sz="1600" dirty="0">
                    <a:solidFill>
                      <a:schemeClr val="tx1">
                        <a:lumMod val="85000"/>
                        <a:lumOff val="15000"/>
                      </a:schemeClr>
                    </a:solidFill>
                    <a:latin typeface="Cambria Math" panose="02040503050406030204" pitchFamily="18" charset="0"/>
                  </a:endParaRPr>
                </a:p>
              </p:txBody>
            </p:sp>
          </mc:Choice>
          <mc:Fallback xmlns="">
            <p:sp>
              <p:nvSpPr>
                <p:cNvPr id="14" name="Rectangle 12">
                  <a:extLst>
                    <a:ext uri="{FF2B5EF4-FFF2-40B4-BE49-F238E27FC236}">
                      <a16:creationId xmlns:a16="http://schemas.microsoft.com/office/drawing/2014/main" xmlns="" xmlns:a14="http://schemas.microsoft.com/office/drawing/2010/main" id="{0D7AECC3-D60D-4EE1-8EE9-5D78C2E21ADD}"/>
                    </a:ext>
                  </a:extLst>
                </p:cNvPr>
                <p:cNvSpPr>
                  <a:spLocks noRot="1" noChangeAspect="1" noMove="1" noResize="1" noEditPoints="1" noAdjustHandles="1" noChangeArrowheads="1" noChangeShapeType="1" noTextEdit="1"/>
                </p:cNvSpPr>
                <p:nvPr/>
              </p:nvSpPr>
              <p:spPr>
                <a:xfrm>
                  <a:off x="1747056" y="3412722"/>
                  <a:ext cx="3231554" cy="887231"/>
                </a:xfrm>
                <a:prstGeom prst="rect">
                  <a:avLst/>
                </a:prstGeom>
                <a:blipFill rotWithShape="0">
                  <a:blip r:embed="rId9"/>
                  <a:stretch>
                    <a:fillRect/>
                  </a:stretch>
                </a:blipFill>
                <a:ln>
                  <a:noFill/>
                </a:ln>
              </p:spPr>
              <p:txBody>
                <a:bodyPr/>
                <a:lstStyle/>
                <a:p>
                  <a:r>
                    <a:rPr lang="ko-KR" altLang="en-US">
                      <a:noFill/>
                    </a:rPr>
                    <a:t> </a:t>
                  </a:r>
                </a:p>
              </p:txBody>
            </p:sp>
          </mc:Fallback>
        </mc:AlternateContent>
        <p:sp>
          <p:nvSpPr>
            <p:cNvPr id="26" name="TextBox 25">
              <a:extLst>
                <a:ext uri="{FF2B5EF4-FFF2-40B4-BE49-F238E27FC236}">
                  <a16:creationId xmlns:a16="http://schemas.microsoft.com/office/drawing/2014/main" id="{9FDA7F5E-477F-45CB-9484-55CCB689D295}"/>
                </a:ext>
              </a:extLst>
            </p:cNvPr>
            <p:cNvSpPr txBox="1"/>
            <p:nvPr/>
          </p:nvSpPr>
          <p:spPr>
            <a:xfrm>
              <a:off x="3154880" y="3074168"/>
              <a:ext cx="468052" cy="338554"/>
            </a:xfrm>
            <a:prstGeom prst="rect">
              <a:avLst/>
            </a:prstGeom>
            <a:noFill/>
          </p:spPr>
          <p:txBody>
            <a:bodyPr wrap="square" rtlCol="0">
              <a:spAutoFit/>
            </a:bodyPr>
            <a:lstStyle/>
            <a:p>
              <a:pPr algn="ctr"/>
              <a:r>
                <a:rPr lang="en-US" altLang="ko-KR" sz="1600" dirty="0">
                  <a:solidFill>
                    <a:srgbClr val="FF0000"/>
                  </a:solidFill>
                  <a:latin typeface="SamsungOne 700" panose="020B0803030303020204" pitchFamily="34" charset="0"/>
                  <a:ea typeface="SamsungOne 700" panose="020B0803030303020204" pitchFamily="34" charset="0"/>
                  <a:cs typeface="Times New Roman" panose="02020603050405020304" pitchFamily="18" charset="0"/>
                  <a:sym typeface="Symbol" panose="05050102010706020507" pitchFamily="18" charset="2"/>
                </a:rPr>
                <a:t>or</a:t>
              </a:r>
              <a:endParaRPr lang="ko-KR" altLang="en-US" sz="1600" dirty="0">
                <a:solidFill>
                  <a:srgbClr val="FF0000"/>
                </a:solidFill>
                <a:latin typeface="SamsungOne 700" panose="020B0803030303020204" pitchFamily="34" charset="0"/>
              </a:endParaRPr>
            </a:p>
          </p:txBody>
        </p:sp>
      </p:grpSp>
      <p:grpSp>
        <p:nvGrpSpPr>
          <p:cNvPr id="3" name="그룹 2"/>
          <p:cNvGrpSpPr/>
          <p:nvPr/>
        </p:nvGrpSpPr>
        <p:grpSpPr>
          <a:xfrm>
            <a:off x="670746" y="4581128"/>
            <a:ext cx="8673279" cy="1556049"/>
            <a:chOff x="670746" y="4581128"/>
            <a:chExt cx="8673279" cy="1556049"/>
          </a:xfrm>
        </p:grpSpPr>
        <mc:AlternateContent xmlns:mc="http://schemas.openxmlformats.org/markup-compatibility/2006" xmlns:a14="http://schemas.microsoft.com/office/drawing/2010/main">
          <mc:Choice Requires="a14">
            <p:sp>
              <p:nvSpPr>
                <p:cNvPr id="21" name="직사각형 20">
                  <a:extLst>
                    <a:ext uri="{FF2B5EF4-FFF2-40B4-BE49-F238E27FC236}">
                      <a16:creationId xmlns:a16="http://schemas.microsoft.com/office/drawing/2014/main" id="{E04D9F5A-3966-44F6-A205-4403EB1E100D}"/>
                    </a:ext>
                  </a:extLst>
                </p:cNvPr>
                <p:cNvSpPr/>
                <p:nvPr/>
              </p:nvSpPr>
              <p:spPr>
                <a:xfrm>
                  <a:off x="670746" y="4581128"/>
                  <a:ext cx="8673279" cy="15560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361950" lvl="1" indent="-180975">
                    <a:spcAft>
                      <a:spcPts val="800"/>
                    </a:spcAft>
                    <a:buClr>
                      <a:srgbClr val="193EB0"/>
                    </a:buClr>
                    <a:buFont typeface="Arial" panose="020B0604020202020204" pitchFamily="34" charset="0"/>
                    <a:buChar char="•"/>
                  </a:pPr>
                  <a14:m>
                    <m:oMath xmlns:m="http://schemas.openxmlformats.org/officeDocument/2006/math">
                      <m:sSub>
                        <m:sSubPr>
                          <m:ctrlPr>
                            <a:rPr lang="en-US" altLang="ko-KR" sz="1300" i="1">
                              <a:solidFill>
                                <a:prstClr val="black">
                                  <a:lumMod val="85000"/>
                                  <a:lumOff val="15000"/>
                                </a:prstClr>
                              </a:solidFill>
                              <a:latin typeface="Cambria Math" panose="02040503050406030204" pitchFamily="18" charset="0"/>
                              <a:sym typeface="Symbol" panose="05050102010706020507" pitchFamily="18" charset="2"/>
                            </a:rPr>
                          </m:ctrlPr>
                        </m:sSubPr>
                        <m:e>
                          <m:r>
                            <a:rPr lang="en-US" altLang="ko-KR" sz="1300">
                              <a:solidFill>
                                <a:prstClr val="black">
                                  <a:lumMod val="85000"/>
                                  <a:lumOff val="15000"/>
                                </a:prstClr>
                              </a:solidFill>
                              <a:latin typeface="Cambria Math" panose="02040503050406030204" pitchFamily="18" charset="0"/>
                              <a:sym typeface="Symbol" panose="05050102010706020507" pitchFamily="18" charset="2"/>
                            </a:rPr>
                            <m:t>𝐺</m:t>
                          </m:r>
                        </m:e>
                        <m:sub>
                          <m:r>
                            <a:rPr lang="en-US" altLang="ko-KR" sz="1300">
                              <a:solidFill>
                                <a:prstClr val="black">
                                  <a:lumMod val="85000"/>
                                  <a:lumOff val="15000"/>
                                </a:prstClr>
                              </a:solidFill>
                              <a:latin typeface="Cambria Math" panose="02040503050406030204" pitchFamily="18" charset="0"/>
                              <a:sym typeface="Symbol" panose="05050102010706020507" pitchFamily="18" charset="2"/>
                            </a:rPr>
                            <m:t>𝑚</m:t>
                          </m:r>
                        </m:sub>
                      </m:sSub>
                    </m:oMath>
                  </a14:m>
                  <a:r>
                    <a:rPr lang="en-US" altLang="ko-KR" sz="1300" dirty="0">
                      <a:solidFill>
                        <a:prstClr val="black">
                          <a:lumMod val="85000"/>
                          <a:lumOff val="15000"/>
                        </a:prstClr>
                      </a:solidFill>
                      <a:latin typeface="SamsungOne 400" panose="020B0503030303020204" pitchFamily="34" charset="0"/>
                    </a:rPr>
                    <a:t> is the Gini impurity in the leaf node </a:t>
                  </a:r>
                  <a14:m>
                    <m:oMath xmlns:m="http://schemas.openxmlformats.org/officeDocument/2006/math">
                      <m:r>
                        <a:rPr lang="en-US" altLang="ko-KR" sz="1300" dirty="0">
                          <a:solidFill>
                            <a:prstClr val="black">
                              <a:lumMod val="85000"/>
                              <a:lumOff val="15000"/>
                            </a:prstClr>
                          </a:solidFill>
                          <a:latin typeface="Cambria Math" panose="02040503050406030204" pitchFamily="18" charset="0"/>
                        </a:rPr>
                        <m:t>𝑚</m:t>
                      </m:r>
                    </m:oMath>
                  </a14:m>
                  <a:r>
                    <a:rPr lang="en-US" altLang="ko-KR" sz="1300" dirty="0">
                      <a:solidFill>
                        <a:prstClr val="black">
                          <a:lumMod val="85000"/>
                          <a:lumOff val="15000"/>
                        </a:prstClr>
                      </a:solidFill>
                      <a:latin typeface="SamsungOne 400" panose="020B0503030303020204" pitchFamily="34" charset="0"/>
                    </a:rPr>
                    <a:t>. </a:t>
                  </a:r>
                </a:p>
                <a:p>
                  <a:pPr marL="361950" lvl="1" indent="-180975">
                    <a:spcAft>
                      <a:spcPts val="800"/>
                    </a:spcAft>
                    <a:buClr>
                      <a:srgbClr val="193EB0"/>
                    </a:buClr>
                    <a:buFont typeface="Arial" panose="020B0604020202020204" pitchFamily="34" charset="0"/>
                    <a:buChar char="•"/>
                  </a:pPr>
                  <a14:m>
                    <m:oMath xmlns:m="http://schemas.openxmlformats.org/officeDocument/2006/math">
                      <m:sSub>
                        <m:sSubPr>
                          <m:ctrlPr>
                            <a:rPr lang="en-US" altLang="ko-KR" sz="1300" i="1">
                              <a:solidFill>
                                <a:prstClr val="black">
                                  <a:lumMod val="85000"/>
                                  <a:lumOff val="15000"/>
                                </a:prstClr>
                              </a:solidFill>
                              <a:latin typeface="Cambria Math" panose="02040503050406030204" pitchFamily="18" charset="0"/>
                              <a:sym typeface="Symbol" panose="05050102010706020507" pitchFamily="18" charset="2"/>
                            </a:rPr>
                          </m:ctrlPr>
                        </m:sSubPr>
                        <m:e>
                          <m:r>
                            <a:rPr lang="en-US" altLang="ko-KR" sz="1300">
                              <a:solidFill>
                                <a:prstClr val="black">
                                  <a:lumMod val="85000"/>
                                  <a:lumOff val="15000"/>
                                </a:prstClr>
                              </a:solidFill>
                              <a:latin typeface="Cambria Math" panose="02040503050406030204" pitchFamily="18" charset="0"/>
                              <a:sym typeface="Symbol" panose="05050102010706020507" pitchFamily="18" charset="2"/>
                            </a:rPr>
                            <m:t>𝐸𝑛𝑡𝑟𝑜𝑝𝑦</m:t>
                          </m:r>
                        </m:e>
                        <m:sub>
                          <m:r>
                            <a:rPr lang="en-US" altLang="ko-KR" sz="1300">
                              <a:solidFill>
                                <a:prstClr val="black">
                                  <a:lumMod val="85000"/>
                                  <a:lumOff val="15000"/>
                                </a:prstClr>
                              </a:solidFill>
                              <a:latin typeface="Cambria Math" panose="02040503050406030204" pitchFamily="18" charset="0"/>
                              <a:sym typeface="Symbol" panose="05050102010706020507" pitchFamily="18" charset="2"/>
                            </a:rPr>
                            <m:t>𝑚</m:t>
                          </m:r>
                        </m:sub>
                      </m:sSub>
                    </m:oMath>
                  </a14:m>
                  <a:r>
                    <a:rPr lang="en-US" altLang="ko-KR" sz="1300" dirty="0">
                      <a:solidFill>
                        <a:prstClr val="black">
                          <a:lumMod val="85000"/>
                          <a:lumOff val="15000"/>
                        </a:prstClr>
                      </a:solidFill>
                      <a:latin typeface="SamsungOne 400" panose="020B0503030303020204" pitchFamily="34" charset="0"/>
                    </a:rPr>
                    <a:t> is the entropy in the leaf node </a:t>
                  </a:r>
                  <a14:m>
                    <m:oMath xmlns:m="http://schemas.openxmlformats.org/officeDocument/2006/math">
                      <m:r>
                        <a:rPr lang="en-US" altLang="ko-KR" sz="1300" dirty="0">
                          <a:solidFill>
                            <a:prstClr val="black">
                              <a:lumMod val="85000"/>
                              <a:lumOff val="15000"/>
                            </a:prstClr>
                          </a:solidFill>
                          <a:latin typeface="Cambria Math" panose="02040503050406030204" pitchFamily="18" charset="0"/>
                        </a:rPr>
                        <m:t>𝑚</m:t>
                      </m:r>
                    </m:oMath>
                  </a14:m>
                  <a:r>
                    <a:rPr lang="en-US" altLang="ko-KR" sz="1300" dirty="0">
                      <a:solidFill>
                        <a:prstClr val="black">
                          <a:lumMod val="85000"/>
                          <a:lumOff val="15000"/>
                        </a:prstClr>
                      </a:solidFill>
                      <a:latin typeface="SamsungOne 400" panose="020B0503030303020204" pitchFamily="34" charset="0"/>
                    </a:rPr>
                    <a:t>.</a:t>
                  </a: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sym typeface="Symbol" panose="05050102010706020507" pitchFamily="18" charset="2"/>
                    </a:rPr>
                    <a:t>Here,</a:t>
                  </a:r>
                  <a:r>
                    <a:rPr lang="ko-KR" altLang="en-US" sz="1300" dirty="0">
                      <a:solidFill>
                        <a:prstClr val="black">
                          <a:lumMod val="85000"/>
                          <a:lumOff val="15000"/>
                        </a:prstClr>
                      </a:solidFill>
                      <a:latin typeface="SamsungOne 400" panose="020B0503030303020204" pitchFamily="34" charset="0"/>
                    </a:rPr>
                    <a:t> </a:t>
                  </a:r>
                  <a14:m>
                    <m:oMath xmlns:m="http://schemas.openxmlformats.org/officeDocument/2006/math">
                      <m:sSub>
                        <m:sSubPr>
                          <m:ctrlPr>
                            <a:rPr lang="en-US" altLang="ko-KR" sz="1300" i="1">
                              <a:solidFill>
                                <a:prstClr val="black">
                                  <a:lumMod val="85000"/>
                                  <a:lumOff val="15000"/>
                                </a:prstClr>
                              </a:solidFill>
                              <a:latin typeface="Cambria Math" panose="02040503050406030204" pitchFamily="18" charset="0"/>
                              <a:sym typeface="Symbol" panose="05050102010706020507" pitchFamily="18" charset="2"/>
                            </a:rPr>
                          </m:ctrlPr>
                        </m:sSubPr>
                        <m:e>
                          <m:acc>
                            <m:accPr>
                              <m:chr m:val="̂"/>
                              <m:ctrlPr>
                                <a:rPr lang="en-US" altLang="ko-KR" sz="1300" i="1">
                                  <a:solidFill>
                                    <a:prstClr val="black">
                                      <a:lumMod val="85000"/>
                                      <a:lumOff val="15000"/>
                                    </a:prstClr>
                                  </a:solidFill>
                                  <a:latin typeface="Cambria Math" panose="02040503050406030204" pitchFamily="18" charset="0"/>
                                  <a:sym typeface="Symbol" panose="05050102010706020507" pitchFamily="18" charset="2"/>
                                </a:rPr>
                              </m:ctrlPr>
                            </m:accPr>
                            <m:e>
                              <m:r>
                                <a:rPr lang="en-US" altLang="ko-KR" sz="1300">
                                  <a:solidFill>
                                    <a:prstClr val="black">
                                      <a:lumMod val="85000"/>
                                      <a:lumOff val="15000"/>
                                    </a:prstClr>
                                  </a:solidFill>
                                  <a:latin typeface="Cambria Math" panose="02040503050406030204" pitchFamily="18" charset="0"/>
                                  <a:sym typeface="Symbol" panose="05050102010706020507" pitchFamily="18" charset="2"/>
                                </a:rPr>
                                <m:t>𝑝</m:t>
                              </m:r>
                            </m:e>
                          </m:acc>
                        </m:e>
                        <m:sub>
                          <m:r>
                            <a:rPr lang="en-US" altLang="ko-KR" sz="1300">
                              <a:solidFill>
                                <a:prstClr val="black">
                                  <a:lumMod val="85000"/>
                                  <a:lumOff val="15000"/>
                                </a:prstClr>
                              </a:solidFill>
                              <a:latin typeface="Cambria Math" panose="02040503050406030204" pitchFamily="18" charset="0"/>
                              <a:sym typeface="Symbol" panose="05050102010706020507" pitchFamily="18" charset="2"/>
                            </a:rPr>
                            <m:t>𝑚𝑘</m:t>
                          </m:r>
                        </m:sub>
                      </m:sSub>
                    </m:oMath>
                  </a14:m>
                  <a:r>
                    <a:rPr lang="en-US" altLang="ko-KR" sz="1300" dirty="0">
                      <a:solidFill>
                        <a:prstClr val="black">
                          <a:lumMod val="85000"/>
                          <a:lumOff val="15000"/>
                        </a:prstClr>
                      </a:solidFill>
                      <a:latin typeface="SamsungOne 400" panose="020B0503030303020204" pitchFamily="34" charset="0"/>
                    </a:rPr>
                    <a:t> is the proportion of the class </a:t>
                  </a:r>
                  <a14:m>
                    <m:oMath xmlns:m="http://schemas.openxmlformats.org/officeDocument/2006/math">
                      <m:r>
                        <a:rPr lang="en-US" altLang="ko-KR" sz="1300" dirty="0">
                          <a:solidFill>
                            <a:prstClr val="black">
                              <a:lumMod val="85000"/>
                              <a:lumOff val="15000"/>
                            </a:prstClr>
                          </a:solidFill>
                          <a:latin typeface="Cambria Math" panose="02040503050406030204" pitchFamily="18" charset="0"/>
                        </a:rPr>
                        <m:t>𝑘</m:t>
                      </m:r>
                    </m:oMath>
                  </a14:m>
                  <a:r>
                    <a:rPr lang="en-US" altLang="ko-KR" sz="1300" dirty="0">
                      <a:solidFill>
                        <a:prstClr val="black">
                          <a:lumMod val="85000"/>
                          <a:lumOff val="15000"/>
                        </a:prstClr>
                      </a:solidFill>
                      <a:latin typeface="SamsungOne 400" panose="020B0503030303020204" pitchFamily="34" charset="0"/>
                    </a:rPr>
                    <a:t> in the leaf node </a:t>
                  </a:r>
                  <a14:m>
                    <m:oMath xmlns:m="http://schemas.openxmlformats.org/officeDocument/2006/math">
                      <m:r>
                        <a:rPr lang="en-US" altLang="ko-KR" sz="1300" dirty="0">
                          <a:solidFill>
                            <a:prstClr val="black">
                              <a:lumMod val="85000"/>
                              <a:lumOff val="15000"/>
                            </a:prstClr>
                          </a:solidFill>
                          <a:latin typeface="Cambria Math" panose="02040503050406030204" pitchFamily="18" charset="0"/>
                        </a:rPr>
                        <m:t>𝑚</m:t>
                      </m:r>
                    </m:oMath>
                  </a14:m>
                  <a:r>
                    <a:rPr lang="en-US" altLang="ko-KR" sz="1300" dirty="0">
                      <a:solidFill>
                        <a:prstClr val="black">
                          <a:lumMod val="85000"/>
                          <a:lumOff val="15000"/>
                        </a:prstClr>
                      </a:solidFill>
                      <a:latin typeface="SamsungOne 400" panose="020B0503030303020204" pitchFamily="34" charset="0"/>
                    </a:rPr>
                    <a:t>.</a:t>
                  </a:r>
                </a:p>
                <a:p>
                  <a:pPr marL="361950" lvl="1" indent="-180975">
                    <a:spcAft>
                      <a:spcPts val="800"/>
                    </a:spcAft>
                    <a:buClr>
                      <a:srgbClr val="193EB0"/>
                    </a:buClr>
                    <a:buFont typeface="Arial" panose="020B0604020202020204" pitchFamily="34" charset="0"/>
                    <a:buChar char="•"/>
                  </a:pPr>
                  <a14:m>
                    <m:oMath xmlns:m="http://schemas.openxmlformats.org/officeDocument/2006/math">
                      <m:r>
                        <a:rPr lang="en-US" altLang="ko-KR" sz="1300" dirty="0">
                          <a:solidFill>
                            <a:prstClr val="black">
                              <a:lumMod val="85000"/>
                              <a:lumOff val="15000"/>
                            </a:prstClr>
                          </a:solidFill>
                          <a:latin typeface="Cambria Math" panose="02040503050406030204" pitchFamily="18" charset="0"/>
                          <a:sym typeface="Symbol" panose="05050102010706020507" pitchFamily="18" charset="2"/>
                        </a:rPr>
                        <m:t>𝐾</m:t>
                      </m:r>
                    </m:oMath>
                  </a14:m>
                  <a:r>
                    <a:rPr lang="en-US" altLang="ko-KR" sz="1300" dirty="0">
                      <a:solidFill>
                        <a:prstClr val="black">
                          <a:lumMod val="85000"/>
                          <a:lumOff val="15000"/>
                        </a:prstClr>
                      </a:solidFill>
                      <a:latin typeface="SamsungOne 400" panose="020B0503030303020204" pitchFamily="34" charset="0"/>
                      <a:sym typeface="Symbol" panose="05050102010706020507" pitchFamily="18" charset="2"/>
                    </a:rPr>
                    <a:t> is the total number of possible classes</a:t>
                  </a:r>
                  <a:r>
                    <a:rPr lang="en-US" altLang="ko-KR" sz="1300" dirty="0">
                      <a:solidFill>
                        <a:prstClr val="black">
                          <a:lumMod val="85000"/>
                          <a:lumOff val="15000"/>
                        </a:prstClr>
                      </a:solidFill>
                      <a:latin typeface="SamsungOne 400" panose="020B0503030303020204" pitchFamily="34" charset="0"/>
                    </a:rPr>
                    <a:t>. </a:t>
                  </a: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class with the largest proportion is the prediction at that leaf node.</a:t>
                  </a:r>
                </a:p>
              </p:txBody>
            </p:sp>
          </mc:Choice>
          <mc:Fallback xmlns="">
            <p:sp>
              <p:nvSpPr>
                <p:cNvPr id="21" name="직사각형 20">
                  <a:extLst>
                    <a:ext uri="{FF2B5EF4-FFF2-40B4-BE49-F238E27FC236}">
                      <a16:creationId xmlns:a16="http://schemas.microsoft.com/office/drawing/2014/main" xmlns="" xmlns:a14="http://schemas.microsoft.com/office/drawing/2010/main" id="{E04D9F5A-3966-44F6-A205-4403EB1E100D}"/>
                    </a:ext>
                  </a:extLst>
                </p:cNvPr>
                <p:cNvSpPr>
                  <a:spLocks noRot="1" noChangeAspect="1" noMove="1" noResize="1" noEditPoints="1" noAdjustHandles="1" noChangeArrowheads="1" noChangeShapeType="1" noTextEdit="1"/>
                </p:cNvSpPr>
                <p:nvPr/>
              </p:nvSpPr>
              <p:spPr>
                <a:xfrm>
                  <a:off x="670746" y="4581128"/>
                  <a:ext cx="8673279" cy="1556049"/>
                </a:xfrm>
                <a:prstGeom prst="rect">
                  <a:avLst/>
                </a:prstGeom>
                <a:blipFill rotWithShape="0">
                  <a:blip r:embed="rId10"/>
                  <a:stretch>
                    <a:fillRect/>
                  </a:stretch>
                </a:blipFill>
                <a:ln>
                  <a:noFill/>
                </a:ln>
              </p:spPr>
              <p:txBody>
                <a:bodyPr/>
                <a:lstStyle/>
                <a:p>
                  <a:r>
                    <a:rPr lang="ko-KR" altLang="en-US">
                      <a:noFill/>
                    </a:rPr>
                    <a:t> </a:t>
                  </a:r>
                </a:p>
              </p:txBody>
            </p:sp>
          </mc:Fallback>
        </mc:AlternateContent>
        <p:grpSp>
          <p:nvGrpSpPr>
            <p:cNvPr id="27" name="그룹 26">
              <a:extLst>
                <a:ext uri="{FF2B5EF4-FFF2-40B4-BE49-F238E27FC236}">
                  <a16:creationId xmlns:a16="http://schemas.microsoft.com/office/drawing/2014/main" id="{292F61F1-12DB-4AB6-8D80-33A7BFFE55EC}"/>
                </a:ext>
              </a:extLst>
            </p:cNvPr>
            <p:cNvGrpSpPr/>
            <p:nvPr/>
          </p:nvGrpSpPr>
          <p:grpSpPr>
            <a:xfrm>
              <a:off x="4303340" y="4671316"/>
              <a:ext cx="2766522" cy="447060"/>
              <a:chOff x="4049822" y="4812598"/>
              <a:chExt cx="2766522" cy="447060"/>
            </a:xfrm>
          </p:grpSpPr>
          <p:sp>
            <p:nvSpPr>
              <p:cNvPr id="28" name="오른쪽 중괄호 27">
                <a:extLst>
                  <a:ext uri="{FF2B5EF4-FFF2-40B4-BE49-F238E27FC236}">
                    <a16:creationId xmlns:a16="http://schemas.microsoft.com/office/drawing/2014/main" id="{CE0C264A-A848-458F-A174-1F9B405C8CF9}"/>
                  </a:ext>
                </a:extLst>
              </p:cNvPr>
              <p:cNvSpPr/>
              <p:nvPr/>
            </p:nvSpPr>
            <p:spPr>
              <a:xfrm>
                <a:off x="4049822" y="4812598"/>
                <a:ext cx="137322" cy="447060"/>
              </a:xfrm>
              <a:prstGeom prst="righ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29" name="TextBox 28">
                <a:extLst>
                  <a:ext uri="{FF2B5EF4-FFF2-40B4-BE49-F238E27FC236}">
                    <a16:creationId xmlns:a16="http://schemas.microsoft.com/office/drawing/2014/main" id="{AA3FDCDB-2B1B-4A67-BCEA-AB638ADD6EC7}"/>
                  </a:ext>
                </a:extLst>
              </p:cNvPr>
              <p:cNvSpPr txBox="1"/>
              <p:nvPr/>
            </p:nvSpPr>
            <p:spPr>
              <a:xfrm>
                <a:off x="4373858" y="4943501"/>
                <a:ext cx="2442486" cy="1852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defPPr>
                  <a:defRPr lang="ko-KR"/>
                </a:defPPr>
                <a:lvl1pPr defTabSz="914400" latinLnBrk="1">
                  <a:spcAft>
                    <a:spcPts val="600"/>
                  </a:spcAft>
                  <a:defRPr sz="1400">
                    <a:solidFill>
                      <a:schemeClr val="tx1">
                        <a:lumMod val="85000"/>
                        <a:lumOff val="15000"/>
                      </a:schemeClr>
                    </a:solidFill>
                    <a:latin typeface="SamsungOne 400" panose="020B0503030303020204" pitchFamily="34" charset="0"/>
                    <a:ea typeface="SamsungOne 400" panose="020B0503030303020204" pitchFamily="34" charset="0"/>
                  </a:defRPr>
                </a:lvl1pPr>
                <a:lvl2pPr defTabSz="914400" latinLnBrk="1">
                  <a:defRPr>
                    <a:solidFill>
                      <a:schemeClr val="lt1"/>
                    </a:solidFill>
                  </a:defRPr>
                </a:lvl2pPr>
                <a:lvl3pPr defTabSz="914400" latinLnBrk="1">
                  <a:defRPr>
                    <a:solidFill>
                      <a:schemeClr val="lt1"/>
                    </a:solidFill>
                  </a:defRPr>
                </a:lvl3pPr>
                <a:lvl4pPr defTabSz="914400" latinLnBrk="1">
                  <a:defRPr>
                    <a:solidFill>
                      <a:schemeClr val="lt1"/>
                    </a:solidFill>
                  </a:defRPr>
                </a:lvl4pPr>
                <a:lvl5pPr defTabSz="914400" latinLnBrk="1">
                  <a:defRPr>
                    <a:solidFill>
                      <a:schemeClr val="lt1"/>
                    </a:solidFill>
                  </a:defRPr>
                </a:lvl5pPr>
                <a:lvl6pPr defTabSz="914400" latinLnBrk="1">
                  <a:defRPr>
                    <a:solidFill>
                      <a:schemeClr val="lt1"/>
                    </a:solidFill>
                  </a:defRPr>
                </a:lvl6pPr>
                <a:lvl7pPr defTabSz="914400" latinLnBrk="1">
                  <a:defRPr>
                    <a:solidFill>
                      <a:schemeClr val="lt1"/>
                    </a:solidFill>
                  </a:defRPr>
                </a:lvl7pPr>
                <a:lvl8pPr defTabSz="914400" latinLnBrk="1">
                  <a:defRPr>
                    <a:solidFill>
                      <a:schemeClr val="lt1"/>
                    </a:solidFill>
                  </a:defRPr>
                </a:lvl8pPr>
                <a:lvl9pPr defTabSz="914400" latinLnBrk="1">
                  <a:defRPr>
                    <a:solidFill>
                      <a:schemeClr val="lt1"/>
                    </a:solidFill>
                  </a:defRPr>
                </a:lvl9pPr>
              </a:lstStyle>
              <a:p>
                <a:r>
                  <a:rPr lang="en-US" altLang="ko-KR" dirty="0">
                    <a:solidFill>
                      <a:srgbClr val="193EB0"/>
                    </a:solidFill>
                    <a:latin typeface="SamsungOne 700" panose="020B0803030303020204" pitchFamily="34" charset="0"/>
                    <a:ea typeface="SamsungOne 700" panose="020B0803030303020204" pitchFamily="34" charset="0"/>
                  </a:rPr>
                  <a:t>The smaller, the better.</a:t>
                </a:r>
                <a:endParaRPr lang="ko-KR" altLang="en-US" dirty="0">
                  <a:solidFill>
                    <a:srgbClr val="193EB0"/>
                  </a:solidFill>
                  <a:latin typeface="SamsungOne 700" panose="020B0803030303020204" pitchFamily="34" charset="0"/>
                </a:endParaRPr>
              </a:p>
            </p:txBody>
          </p:sp>
        </p:grpSp>
      </p:grpSp>
    </p:spTree>
    <p:extLst>
      <p:ext uri="{BB962C8B-B14F-4D97-AF65-F5344CB8AC3E}">
        <p14:creationId xmlns:p14="http://schemas.microsoft.com/office/powerpoint/2010/main" val="2313145413"/>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Classification Tree: Procedure</a:t>
              </a:r>
            </a:p>
          </p:txBody>
        </p:sp>
      </p:grpSp>
      <p:sp>
        <p:nvSpPr>
          <p:cNvPr id="200" name="직사각형 199">
            <a:extLst>
              <a:ext uri="{FF2B5EF4-FFF2-40B4-BE49-F238E27FC236}">
                <a16:creationId xmlns:a16="http://schemas.microsoft.com/office/drawing/2014/main" id="{1ACF2BF2-E48B-4341-BB04-F6BAF8F6D564}"/>
              </a:ext>
            </a:extLst>
          </p:cNvPr>
          <p:cNvSpPr/>
          <p:nvPr/>
        </p:nvSpPr>
        <p:spPr>
          <a:xfrm>
            <a:off x="670746" y="1700808"/>
            <a:ext cx="8673279" cy="11508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a) Make a basic tree.</a:t>
            </a:r>
          </a:p>
          <a:p>
            <a:pPr>
              <a:spcAft>
                <a:spcPts val="800"/>
              </a:spcAft>
              <a:buClr>
                <a:srgbClr val="193EB0"/>
              </a:buCl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b) Prune branches that do not provide better performance.</a:t>
            </a:r>
            <a:b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b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     Pruning can be done during the cross-validation step.</a:t>
            </a:r>
          </a:p>
          <a:p>
            <a:pPr>
              <a:spcAft>
                <a:spcPts val="800"/>
              </a:spcAft>
              <a:buClr>
                <a:srgbClr val="193EB0"/>
              </a:buCl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c) Predict with the optimized tree.</a:t>
            </a:r>
          </a:p>
        </p:txBody>
      </p:sp>
    </p:spTree>
    <p:extLst>
      <p:ext uri="{BB962C8B-B14F-4D97-AF65-F5344CB8AC3E}">
        <p14:creationId xmlns:p14="http://schemas.microsoft.com/office/powerpoint/2010/main" val="3762102687"/>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Regression Tree</a:t>
              </a:r>
            </a:p>
          </p:txBody>
        </p:sp>
      </p:grpSp>
      <p:sp>
        <p:nvSpPr>
          <p:cNvPr id="21" name="직사각형 20">
            <a:extLst>
              <a:ext uri="{FF2B5EF4-FFF2-40B4-BE49-F238E27FC236}">
                <a16:creationId xmlns:a16="http://schemas.microsoft.com/office/drawing/2014/main" id="{E04D9F5A-3966-44F6-A205-4403EB1E100D}"/>
              </a:ext>
            </a:extLst>
          </p:cNvPr>
          <p:cNvSpPr/>
          <p:nvPr/>
        </p:nvSpPr>
        <p:spPr>
          <a:xfrm>
            <a:off x="670746" y="4494051"/>
            <a:ext cx="8673279"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Predicts numeric values rather than categories or classes.</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Conditions are evaluated at the nodes and then branch out.  </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Each leaf node corresponds to a </a:t>
            </a:r>
            <a:r>
              <a:rPr lang="en-US" altLang="ko-KR" sz="1300" dirty="0">
                <a:solidFill>
                  <a:srgbClr val="193EB0"/>
                </a:solidFill>
                <a:latin typeface="SamsungOne 700" panose="020B0803030303020204" pitchFamily="34" charset="0"/>
                <a:ea typeface="SamsungOne 700" panose="020B0803030303020204" pitchFamily="34" charset="0"/>
              </a:rPr>
              <a:t>region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in the configurational space. </a:t>
            </a:r>
          </a:p>
        </p:txBody>
      </p:sp>
      <p:sp>
        <p:nvSpPr>
          <p:cNvPr id="45" name="사각형: 둥근 모서리 2">
            <a:extLst>
              <a:ext uri="{FF2B5EF4-FFF2-40B4-BE49-F238E27FC236}">
                <a16:creationId xmlns:a16="http://schemas.microsoft.com/office/drawing/2014/main" id="{DD6EB150-D4D9-414E-A7C4-FC3BEB1EBF09}"/>
              </a:ext>
            </a:extLst>
          </p:cNvPr>
          <p:cNvSpPr/>
          <p:nvPr/>
        </p:nvSpPr>
        <p:spPr>
          <a:xfrm>
            <a:off x="672202" y="1772335"/>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grpSp>
        <p:nvGrpSpPr>
          <p:cNvPr id="3" name="그룹 2">
            <a:extLst>
              <a:ext uri="{FF2B5EF4-FFF2-40B4-BE49-F238E27FC236}">
                <a16:creationId xmlns:a16="http://schemas.microsoft.com/office/drawing/2014/main" id="{2E08ECAC-AD5B-4EC8-8D51-200445C6A71E}"/>
              </a:ext>
            </a:extLst>
          </p:cNvPr>
          <p:cNvGrpSpPr/>
          <p:nvPr/>
        </p:nvGrpSpPr>
        <p:grpSpPr>
          <a:xfrm>
            <a:off x="1590675" y="2065643"/>
            <a:ext cx="7573070" cy="2095872"/>
            <a:chOff x="1590675" y="2065643"/>
            <a:chExt cx="7573070" cy="2095872"/>
          </a:xfrm>
        </p:grpSpPr>
        <p:sp>
          <p:nvSpPr>
            <p:cNvPr id="46" name="TextBox 45">
              <a:extLst>
                <a:ext uri="{FF2B5EF4-FFF2-40B4-BE49-F238E27FC236}">
                  <a16:creationId xmlns:a16="http://schemas.microsoft.com/office/drawing/2014/main" id="{02A35A90-59B4-4257-A89D-32D286BBBB26}"/>
                </a:ext>
              </a:extLst>
            </p:cNvPr>
            <p:cNvSpPr txBox="1"/>
            <p:nvPr/>
          </p:nvSpPr>
          <p:spPr>
            <a:xfrm>
              <a:off x="3482893" y="2065643"/>
              <a:ext cx="1549762" cy="307777"/>
            </a:xfrm>
            <a:prstGeom prst="rect">
              <a:avLst/>
            </a:prstGeom>
            <a:solidFill>
              <a:schemeClr val="bg1">
                <a:lumMod val="95000"/>
              </a:schemeClr>
            </a:solidFill>
            <a:ln>
              <a:solidFill>
                <a:schemeClr val="bg1">
                  <a:lumMod val="50000"/>
                </a:schemeClr>
              </a:solidFill>
            </a:ln>
          </p:spPr>
          <p:txBody>
            <a:bodyPr wrap="square" lIns="0" tIns="0" rIns="0" bIns="0" rtlCol="0" anchor="ctr">
              <a:noAutofit/>
              <a:scene3d>
                <a:camera prst="orthographicFront"/>
                <a:lightRig rig="threePt" dir="t"/>
              </a:scene3d>
              <a:sp3d>
                <a:bevelT w="0" h="6350"/>
              </a:sp3d>
            </a:bodyPr>
            <a:lstStyle/>
            <a:p>
              <a:pPr algn="ctr"/>
              <a:r>
                <a:rPr lang="en-US" altLang="ko-KR" sz="1300" dirty="0">
                  <a:latin typeface="SamsungOne 400" panose="020B0503030303020204" pitchFamily="34" charset="0"/>
                  <a:ea typeface="SamsungOne 400" panose="020B0503030303020204" pitchFamily="34" charset="0"/>
                  <a:cs typeface="Times New Roman" panose="02020603050405020304" pitchFamily="18" charset="0"/>
                </a:rPr>
                <a:t> Experience &lt; 5?</a:t>
              </a:r>
            </a:p>
          </p:txBody>
        </p:sp>
        <p:cxnSp>
          <p:nvCxnSpPr>
            <p:cNvPr id="47" name="Straight Arrow Connector 12">
              <a:extLst>
                <a:ext uri="{FF2B5EF4-FFF2-40B4-BE49-F238E27FC236}">
                  <a16:creationId xmlns:a16="http://schemas.microsoft.com/office/drawing/2014/main" id="{BF656942-9BFC-4D1C-8CB7-991D0947192F}"/>
                </a:ext>
              </a:extLst>
            </p:cNvPr>
            <p:cNvCxnSpPr>
              <a:stCxn id="46" idx="2"/>
              <a:endCxn id="54" idx="0"/>
            </p:cNvCxnSpPr>
            <p:nvPr/>
          </p:nvCxnSpPr>
          <p:spPr>
            <a:xfrm rot="16200000" flipH="1">
              <a:off x="4911209" y="1719984"/>
              <a:ext cx="514423" cy="1821293"/>
            </a:xfrm>
            <a:prstGeom prst="bentConnector3">
              <a:avLst>
                <a:gd name="adj1" fmla="val 50000"/>
              </a:avLst>
            </a:prstGeom>
            <a:ln w="12700">
              <a:solidFill>
                <a:srgbClr val="1429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13">
              <a:extLst>
                <a:ext uri="{FF2B5EF4-FFF2-40B4-BE49-F238E27FC236}">
                  <a16:creationId xmlns:a16="http://schemas.microsoft.com/office/drawing/2014/main" id="{1579BD67-A09B-45C3-A29B-4DFBC917D8C4}"/>
                </a:ext>
              </a:extLst>
            </p:cNvPr>
            <p:cNvCxnSpPr>
              <a:stCxn id="46" idx="2"/>
              <a:endCxn id="55" idx="0"/>
            </p:cNvCxnSpPr>
            <p:nvPr/>
          </p:nvCxnSpPr>
          <p:spPr>
            <a:xfrm rot="5400000">
              <a:off x="2678817" y="2131085"/>
              <a:ext cx="1336623" cy="1821292"/>
            </a:xfrm>
            <a:prstGeom prst="bentConnector3">
              <a:avLst>
                <a:gd name="adj1" fmla="val 19416"/>
              </a:avLst>
            </a:prstGeom>
            <a:ln w="12700">
              <a:solidFill>
                <a:srgbClr val="1429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9AFF567D-FF42-4D7A-AA05-A0F9035C9E8A}"/>
                </a:ext>
              </a:extLst>
            </p:cNvPr>
            <p:cNvSpPr txBox="1"/>
            <p:nvPr/>
          </p:nvSpPr>
          <p:spPr>
            <a:xfrm>
              <a:off x="5592868" y="2302125"/>
              <a:ext cx="486200" cy="307777"/>
            </a:xfrm>
            <a:prstGeom prst="rect">
              <a:avLst/>
            </a:prstGeom>
            <a:noFill/>
          </p:spPr>
          <p:txBody>
            <a:bodyPr wrap="square" lIns="0" tIns="0" rIns="0" bIns="0" rtlCol="0" anchor="ctr">
              <a:noAutofit/>
              <a:scene3d>
                <a:camera prst="orthographicFront"/>
                <a:lightRig rig="threePt" dir="t"/>
              </a:scene3d>
              <a:sp3d>
                <a:bevelT w="0" h="6350"/>
              </a:sp3d>
            </a:bodyPr>
            <a:lstStyle/>
            <a:p>
              <a:pPr algn="ctr"/>
              <a:r>
                <a:rPr lang="en-US" sz="1300" dirty="0">
                  <a:solidFill>
                    <a:srgbClr val="1429A0"/>
                  </a:solidFill>
                  <a:latin typeface="SamsungOne 400" panose="020B0503030303020204" pitchFamily="34" charset="0"/>
                  <a:ea typeface="SamsungOne 400" panose="020B0503030303020204" pitchFamily="34" charset="0"/>
                  <a:cs typeface="Times New Roman" panose="02020603050405020304" pitchFamily="18" charset="0"/>
                </a:rPr>
                <a:t>yes</a:t>
              </a:r>
            </a:p>
          </p:txBody>
        </p:sp>
        <p:sp>
          <p:nvSpPr>
            <p:cNvPr id="50" name="TextBox 49">
              <a:extLst>
                <a:ext uri="{FF2B5EF4-FFF2-40B4-BE49-F238E27FC236}">
                  <a16:creationId xmlns:a16="http://schemas.microsoft.com/office/drawing/2014/main" id="{58247DFA-1655-401E-B580-206FA54CB623}"/>
                </a:ext>
              </a:extLst>
            </p:cNvPr>
            <p:cNvSpPr txBox="1"/>
            <p:nvPr/>
          </p:nvSpPr>
          <p:spPr>
            <a:xfrm>
              <a:off x="2436480" y="2302125"/>
              <a:ext cx="486200" cy="307777"/>
            </a:xfrm>
            <a:prstGeom prst="rect">
              <a:avLst/>
            </a:prstGeom>
            <a:noFill/>
          </p:spPr>
          <p:txBody>
            <a:bodyPr wrap="square" lIns="0" tIns="0" rIns="0" bIns="0" rtlCol="0" anchor="ctr">
              <a:noAutofit/>
              <a:scene3d>
                <a:camera prst="orthographicFront"/>
                <a:lightRig rig="threePt" dir="t"/>
              </a:scene3d>
              <a:sp3d>
                <a:bevelT w="0" h="6350"/>
              </a:sp3d>
            </a:bodyPr>
            <a:lstStyle/>
            <a:p>
              <a:pPr algn="ctr"/>
              <a:r>
                <a:rPr lang="en-US" sz="1300" dirty="0">
                  <a:solidFill>
                    <a:srgbClr val="FF0000"/>
                  </a:solidFill>
                  <a:latin typeface="SamsungOne 400" panose="020B0503030303020204" pitchFamily="34" charset="0"/>
                  <a:ea typeface="SamsungOne 400" panose="020B0503030303020204" pitchFamily="34" charset="0"/>
                  <a:cs typeface="Times New Roman" panose="02020603050405020304" pitchFamily="18" charset="0"/>
                </a:rPr>
                <a:t>no</a:t>
              </a:r>
            </a:p>
          </p:txBody>
        </p:sp>
        <p:cxnSp>
          <p:nvCxnSpPr>
            <p:cNvPr id="51" name="Straight Arrow Connector 24">
              <a:extLst>
                <a:ext uri="{FF2B5EF4-FFF2-40B4-BE49-F238E27FC236}">
                  <a16:creationId xmlns:a16="http://schemas.microsoft.com/office/drawing/2014/main" id="{A54B93A7-575C-4C66-933F-566F794C90CF}"/>
                </a:ext>
              </a:extLst>
            </p:cNvPr>
            <p:cNvCxnSpPr>
              <a:cxnSpLocks/>
              <a:stCxn id="54" idx="2"/>
              <a:endCxn id="58" idx="0"/>
            </p:cNvCxnSpPr>
            <p:nvPr/>
          </p:nvCxnSpPr>
          <p:spPr>
            <a:xfrm rot="16200000" flipH="1">
              <a:off x="6284384" y="2990302"/>
              <a:ext cx="516184" cy="926819"/>
            </a:xfrm>
            <a:prstGeom prst="bentConnector3">
              <a:avLst>
                <a:gd name="adj1" fmla="val 50000"/>
              </a:avLst>
            </a:prstGeom>
            <a:ln w="12700">
              <a:solidFill>
                <a:srgbClr val="1429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Straight Arrow Connector 25">
              <a:extLst>
                <a:ext uri="{FF2B5EF4-FFF2-40B4-BE49-F238E27FC236}">
                  <a16:creationId xmlns:a16="http://schemas.microsoft.com/office/drawing/2014/main" id="{A8869552-0DBE-4C7E-B4CD-DB21EBA2167C}"/>
                </a:ext>
              </a:extLst>
            </p:cNvPr>
            <p:cNvCxnSpPr>
              <a:cxnSpLocks/>
              <a:stCxn id="54" idx="2"/>
              <a:endCxn id="57" idx="0"/>
            </p:cNvCxnSpPr>
            <p:nvPr/>
          </p:nvCxnSpPr>
          <p:spPr>
            <a:xfrm rot="5400000">
              <a:off x="5358446" y="2989423"/>
              <a:ext cx="514424" cy="926818"/>
            </a:xfrm>
            <a:prstGeom prst="bentConnector3">
              <a:avLst>
                <a:gd name="adj1" fmla="val 50000"/>
              </a:avLst>
            </a:prstGeom>
            <a:ln w="12700">
              <a:solidFill>
                <a:srgbClr val="1429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53" name="Group 8">
              <a:extLst>
                <a:ext uri="{FF2B5EF4-FFF2-40B4-BE49-F238E27FC236}">
                  <a16:creationId xmlns:a16="http://schemas.microsoft.com/office/drawing/2014/main" id="{78198DFD-3E83-4133-AF86-72965403690A}"/>
                </a:ext>
              </a:extLst>
            </p:cNvPr>
            <p:cNvGrpSpPr/>
            <p:nvPr/>
          </p:nvGrpSpPr>
          <p:grpSpPr>
            <a:xfrm>
              <a:off x="1661601" y="2887843"/>
              <a:ext cx="5192347" cy="1114588"/>
              <a:chOff x="1661601" y="3425223"/>
              <a:chExt cx="5192347" cy="1114588"/>
            </a:xfrm>
          </p:grpSpPr>
          <p:sp>
            <p:nvSpPr>
              <p:cNvPr id="54" name="TextBox 53">
                <a:extLst>
                  <a:ext uri="{FF2B5EF4-FFF2-40B4-BE49-F238E27FC236}">
                    <a16:creationId xmlns:a16="http://schemas.microsoft.com/office/drawing/2014/main" id="{C748FC4C-F638-47B1-9C1D-465DEEE248B3}"/>
                  </a:ext>
                </a:extLst>
              </p:cNvPr>
              <p:cNvSpPr txBox="1"/>
              <p:nvPr/>
            </p:nvSpPr>
            <p:spPr>
              <a:xfrm>
                <a:off x="5304186" y="3425223"/>
                <a:ext cx="1549762" cy="307777"/>
              </a:xfrm>
              <a:prstGeom prst="rect">
                <a:avLst/>
              </a:prstGeom>
              <a:solidFill>
                <a:schemeClr val="bg1">
                  <a:lumMod val="95000"/>
                </a:schemeClr>
              </a:solidFill>
              <a:ln>
                <a:solidFill>
                  <a:schemeClr val="bg1">
                    <a:lumMod val="50000"/>
                  </a:schemeClr>
                </a:solidFill>
              </a:ln>
            </p:spPr>
            <p:txBody>
              <a:bodyPr wrap="square" lIns="0" tIns="0" rIns="0" bIns="0" rtlCol="0" anchor="ctr">
                <a:noAutofit/>
                <a:scene3d>
                  <a:camera prst="orthographicFront"/>
                  <a:lightRig rig="threePt" dir="t"/>
                </a:scene3d>
                <a:sp3d>
                  <a:bevelT w="0" h="6350"/>
                </a:sp3d>
              </a:bodyPr>
              <a:lstStyle/>
              <a:p>
                <a:pPr algn="ctr"/>
                <a:r>
                  <a:rPr lang="en-US" altLang="ko-KR" sz="1300" spc="-100" dirty="0">
                    <a:latin typeface="SamsungOne 400" panose="020B0503030303020204" pitchFamily="34" charset="0"/>
                    <a:ea typeface="SamsungOne 400" panose="020B0503030303020204" pitchFamily="34" charset="0"/>
                    <a:cs typeface="Times New Roman" panose="02020603050405020304" pitchFamily="18" charset="0"/>
                  </a:rPr>
                  <a:t>Performance &lt;  80%?</a:t>
                </a:r>
              </a:p>
            </p:txBody>
          </p:sp>
          <p:sp>
            <p:nvSpPr>
              <p:cNvPr id="55" name="TextBox 54">
                <a:extLst>
                  <a:ext uri="{FF2B5EF4-FFF2-40B4-BE49-F238E27FC236}">
                    <a16:creationId xmlns:a16="http://schemas.microsoft.com/office/drawing/2014/main" id="{7A3C946E-BCB7-4F6C-9EA8-177CF6EEF4F6}"/>
                  </a:ext>
                </a:extLst>
              </p:cNvPr>
              <p:cNvSpPr txBox="1"/>
              <p:nvPr/>
            </p:nvSpPr>
            <p:spPr>
              <a:xfrm>
                <a:off x="1661601" y="4247423"/>
                <a:ext cx="1549762" cy="307777"/>
              </a:xfrm>
              <a:prstGeom prst="rect">
                <a:avLst/>
              </a:prstGeom>
              <a:solidFill>
                <a:srgbClr val="1429A0"/>
              </a:solidFill>
              <a:ln>
                <a:noFill/>
              </a:ln>
            </p:spPr>
            <p:txBody>
              <a:bodyPr wrap="square" rtlCol="0">
                <a:spAutoFit/>
                <a:scene3d>
                  <a:camera prst="orthographicFront"/>
                  <a:lightRig rig="threePt" dir="t"/>
                </a:scene3d>
                <a:sp3d>
                  <a:bevelT w="0" h="6350"/>
                </a:sp3d>
              </a:bodyPr>
              <a:lstStyle>
                <a:defPPr>
                  <a:defRPr lang="en-US"/>
                </a:defPPr>
                <a:lvl1pPr algn="ctr">
                  <a:defRPr sz="1300" b="1">
                    <a:solidFill>
                      <a:schemeClr val="bg1"/>
                    </a:solidFill>
                    <a:latin typeface="SamsungOne 400" panose="020B0503030303020204" pitchFamily="34" charset="0"/>
                    <a:ea typeface="SamsungOne 400" panose="020B0503030303020204" pitchFamily="34" charset="0"/>
                    <a:cs typeface="Times New Roman" panose="02020603050405020304" pitchFamily="18" charset="0"/>
                  </a:defRPr>
                </a:lvl1pPr>
              </a:lstStyle>
              <a:p>
                <a:r>
                  <a:rPr lang="en-US" altLang="ko-KR" dirty="0"/>
                  <a:t>Wage = 40,000</a:t>
                </a:r>
              </a:p>
            </p:txBody>
          </p:sp>
        </p:grpSp>
        <p:grpSp>
          <p:nvGrpSpPr>
            <p:cNvPr id="56" name="Group 6">
              <a:extLst>
                <a:ext uri="{FF2B5EF4-FFF2-40B4-BE49-F238E27FC236}">
                  <a16:creationId xmlns:a16="http://schemas.microsoft.com/office/drawing/2014/main" id="{ED830623-5D7B-4FC7-A54A-D3DB00AC755F}"/>
                </a:ext>
              </a:extLst>
            </p:cNvPr>
            <p:cNvGrpSpPr/>
            <p:nvPr/>
          </p:nvGrpSpPr>
          <p:grpSpPr>
            <a:xfrm>
              <a:off x="4377368" y="3710044"/>
              <a:ext cx="3403399" cy="307777"/>
              <a:chOff x="4377368" y="4247424"/>
              <a:chExt cx="3403399" cy="307777"/>
            </a:xfrm>
          </p:grpSpPr>
          <p:sp>
            <p:nvSpPr>
              <p:cNvPr id="57" name="TextBox 56">
                <a:extLst>
                  <a:ext uri="{FF2B5EF4-FFF2-40B4-BE49-F238E27FC236}">
                    <a16:creationId xmlns:a16="http://schemas.microsoft.com/office/drawing/2014/main" id="{27D25F6D-5C72-4AAD-928A-E69C6A2054A6}"/>
                  </a:ext>
                </a:extLst>
              </p:cNvPr>
              <p:cNvSpPr txBox="1"/>
              <p:nvPr/>
            </p:nvSpPr>
            <p:spPr>
              <a:xfrm>
                <a:off x="4377368" y="4247424"/>
                <a:ext cx="1549762" cy="307777"/>
              </a:xfrm>
              <a:prstGeom prst="rect">
                <a:avLst/>
              </a:prstGeom>
              <a:solidFill>
                <a:srgbClr val="1429A0"/>
              </a:solidFill>
              <a:ln>
                <a:noFill/>
              </a:ln>
            </p:spPr>
            <p:txBody>
              <a:bodyPr wrap="square" rtlCol="0">
                <a:spAutoFit/>
                <a:scene3d>
                  <a:camera prst="orthographicFront"/>
                  <a:lightRig rig="threePt" dir="t"/>
                </a:scene3d>
                <a:sp3d>
                  <a:bevelT w="0" h="6350"/>
                </a:sp3d>
              </a:bodyPr>
              <a:lstStyle>
                <a:defPPr>
                  <a:defRPr lang="en-US"/>
                </a:defPPr>
                <a:lvl1pPr algn="ctr">
                  <a:defRPr sz="1300" b="1">
                    <a:solidFill>
                      <a:schemeClr val="bg1"/>
                    </a:solidFill>
                    <a:latin typeface="SamsungOne 400" panose="020B0503030303020204" pitchFamily="34" charset="0"/>
                    <a:ea typeface="SamsungOne 400" panose="020B0503030303020204" pitchFamily="34" charset="0"/>
                    <a:cs typeface="Times New Roman" panose="02020603050405020304" pitchFamily="18" charset="0"/>
                  </a:defRPr>
                </a:lvl1pPr>
              </a:lstStyle>
              <a:p>
                <a:r>
                  <a:rPr lang="en-US" altLang="ko-KR" dirty="0"/>
                  <a:t>Wage = 35,000</a:t>
                </a:r>
              </a:p>
            </p:txBody>
          </p:sp>
          <p:sp>
            <p:nvSpPr>
              <p:cNvPr id="58" name="TextBox 57">
                <a:extLst>
                  <a:ext uri="{FF2B5EF4-FFF2-40B4-BE49-F238E27FC236}">
                    <a16:creationId xmlns:a16="http://schemas.microsoft.com/office/drawing/2014/main" id="{293348CE-04FD-4D66-B28C-2B7044D9831D}"/>
                  </a:ext>
                </a:extLst>
              </p:cNvPr>
              <p:cNvSpPr txBox="1"/>
              <p:nvPr/>
            </p:nvSpPr>
            <p:spPr>
              <a:xfrm>
                <a:off x="6231005" y="4249184"/>
                <a:ext cx="1549762" cy="307777"/>
              </a:xfrm>
              <a:prstGeom prst="rect">
                <a:avLst/>
              </a:prstGeom>
              <a:solidFill>
                <a:srgbClr val="1429A0"/>
              </a:solidFill>
              <a:ln>
                <a:noFill/>
              </a:ln>
            </p:spPr>
            <p:txBody>
              <a:bodyPr wrap="square" rtlCol="0">
                <a:spAutoFit/>
                <a:scene3d>
                  <a:camera prst="orthographicFront"/>
                  <a:lightRig rig="threePt" dir="t"/>
                </a:scene3d>
                <a:sp3d>
                  <a:bevelT w="0" h="6350"/>
                </a:sp3d>
              </a:bodyPr>
              <a:lstStyle>
                <a:defPPr>
                  <a:defRPr lang="en-US"/>
                </a:defPPr>
                <a:lvl1pPr algn="ctr">
                  <a:defRPr sz="1300" b="1">
                    <a:solidFill>
                      <a:schemeClr val="bg1"/>
                    </a:solidFill>
                    <a:latin typeface="SamsungOne 400" panose="020B0503030303020204" pitchFamily="34" charset="0"/>
                    <a:ea typeface="SamsungOne 400" panose="020B0503030303020204" pitchFamily="34" charset="0"/>
                    <a:cs typeface="Times New Roman" panose="02020603050405020304" pitchFamily="18" charset="0"/>
                  </a:defRPr>
                </a:lvl1pPr>
              </a:lstStyle>
              <a:p>
                <a:r>
                  <a:rPr lang="en-US" altLang="ko-KR" dirty="0"/>
                  <a:t>Wage = 30,000</a:t>
                </a:r>
              </a:p>
            </p:txBody>
          </p:sp>
        </p:grpSp>
        <p:sp>
          <p:nvSpPr>
            <p:cNvPr id="59" name="TextBox 58">
              <a:extLst>
                <a:ext uri="{FF2B5EF4-FFF2-40B4-BE49-F238E27FC236}">
                  <a16:creationId xmlns:a16="http://schemas.microsoft.com/office/drawing/2014/main" id="{00DFF35D-EAE1-4A2A-A86F-AA4A0C3E5309}"/>
                </a:ext>
              </a:extLst>
            </p:cNvPr>
            <p:cNvSpPr txBox="1"/>
            <p:nvPr/>
          </p:nvSpPr>
          <p:spPr>
            <a:xfrm>
              <a:off x="6651452" y="3147781"/>
              <a:ext cx="486200" cy="307777"/>
            </a:xfrm>
            <a:prstGeom prst="rect">
              <a:avLst/>
            </a:prstGeom>
            <a:noFill/>
          </p:spPr>
          <p:txBody>
            <a:bodyPr wrap="square" lIns="0" tIns="0" rIns="0" bIns="0" rtlCol="0" anchor="ctr">
              <a:noAutofit/>
              <a:scene3d>
                <a:camera prst="orthographicFront"/>
                <a:lightRig rig="threePt" dir="t"/>
              </a:scene3d>
              <a:sp3d>
                <a:bevelT w="0" h="6350"/>
              </a:sp3d>
            </a:bodyPr>
            <a:lstStyle/>
            <a:p>
              <a:pPr algn="ctr"/>
              <a:r>
                <a:rPr lang="en-US" sz="1300" dirty="0">
                  <a:solidFill>
                    <a:srgbClr val="1429A0"/>
                  </a:solidFill>
                  <a:latin typeface="SamsungOne 400" panose="020B0503030303020204" pitchFamily="34" charset="0"/>
                  <a:ea typeface="SamsungOne 400" panose="020B0503030303020204" pitchFamily="34" charset="0"/>
                  <a:cs typeface="Times New Roman" panose="02020603050405020304" pitchFamily="18" charset="0"/>
                </a:rPr>
                <a:t>yes</a:t>
              </a:r>
            </a:p>
          </p:txBody>
        </p:sp>
        <p:sp>
          <p:nvSpPr>
            <p:cNvPr id="60" name="TextBox 59">
              <a:extLst>
                <a:ext uri="{FF2B5EF4-FFF2-40B4-BE49-F238E27FC236}">
                  <a16:creationId xmlns:a16="http://schemas.microsoft.com/office/drawing/2014/main" id="{467A055B-E28B-49CD-AA9F-6301934E9B5E}"/>
                </a:ext>
              </a:extLst>
            </p:cNvPr>
            <p:cNvSpPr txBox="1"/>
            <p:nvPr/>
          </p:nvSpPr>
          <p:spPr>
            <a:xfrm>
              <a:off x="5021761" y="3147781"/>
              <a:ext cx="486200" cy="307777"/>
            </a:xfrm>
            <a:prstGeom prst="rect">
              <a:avLst/>
            </a:prstGeom>
            <a:noFill/>
          </p:spPr>
          <p:txBody>
            <a:bodyPr wrap="square" lIns="0" tIns="0" rIns="0" bIns="0" rtlCol="0" anchor="ctr">
              <a:noAutofit/>
              <a:scene3d>
                <a:camera prst="orthographicFront"/>
                <a:lightRig rig="threePt" dir="t"/>
              </a:scene3d>
              <a:sp3d>
                <a:bevelT w="0" h="6350"/>
              </a:sp3d>
            </a:bodyPr>
            <a:lstStyle/>
            <a:p>
              <a:pPr algn="ctr"/>
              <a:r>
                <a:rPr lang="en-US" sz="1300" dirty="0">
                  <a:solidFill>
                    <a:srgbClr val="FF0000"/>
                  </a:solidFill>
                  <a:latin typeface="SamsungOne 400" panose="020B0503030303020204" pitchFamily="34" charset="0"/>
                  <a:ea typeface="SamsungOne 400" panose="020B0503030303020204" pitchFamily="34" charset="0"/>
                  <a:cs typeface="Times New Roman" panose="02020603050405020304" pitchFamily="18" charset="0"/>
                </a:rPr>
                <a:t>no</a:t>
              </a:r>
            </a:p>
          </p:txBody>
        </p:sp>
        <p:sp>
          <p:nvSpPr>
            <p:cNvPr id="61" name="사각형: 둥근 모서리 2">
              <a:extLst>
                <a:ext uri="{FF2B5EF4-FFF2-40B4-BE49-F238E27FC236}">
                  <a16:creationId xmlns:a16="http://schemas.microsoft.com/office/drawing/2014/main" id="{FD48E0D9-D6D3-425D-85F0-908725314475}"/>
                </a:ext>
              </a:extLst>
            </p:cNvPr>
            <p:cNvSpPr/>
            <p:nvPr/>
          </p:nvSpPr>
          <p:spPr>
            <a:xfrm>
              <a:off x="1590675" y="3632806"/>
              <a:ext cx="6315076" cy="453569"/>
            </a:xfrm>
            <a:prstGeom prst="roundRect">
              <a:avLst>
                <a:gd name="adj" fmla="val 0"/>
              </a:avLst>
            </a:prstGeom>
            <a:noFill/>
            <a:ln w="1905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ko-KR" altLang="en-US" sz="1300">
                <a:latin typeface="SamsungOne 400" panose="020B0503030303020204" pitchFamily="34" charset="0"/>
              </a:endParaRPr>
            </a:p>
          </p:txBody>
        </p:sp>
        <p:sp>
          <p:nvSpPr>
            <p:cNvPr id="62" name="TextBox 61">
              <a:extLst>
                <a:ext uri="{FF2B5EF4-FFF2-40B4-BE49-F238E27FC236}">
                  <a16:creationId xmlns:a16="http://schemas.microsoft.com/office/drawing/2014/main" id="{41F9A65B-348A-4A7D-88DE-99C39C3A3F42}"/>
                </a:ext>
              </a:extLst>
            </p:cNvPr>
            <p:cNvSpPr txBox="1"/>
            <p:nvPr/>
          </p:nvSpPr>
          <p:spPr>
            <a:xfrm>
              <a:off x="8031845" y="3576740"/>
              <a:ext cx="1131900" cy="584775"/>
            </a:xfrm>
            <a:prstGeom prst="rect">
              <a:avLst/>
            </a:prstGeom>
            <a:noFill/>
          </p:spPr>
          <p:txBody>
            <a:bodyPr wrap="square" lIns="0" tIns="0" rIns="0" bIns="0" rtlCol="0" anchor="ctr">
              <a:noAutofit/>
              <a:scene3d>
                <a:camera prst="orthographicFront"/>
                <a:lightRig rig="threePt" dir="t"/>
              </a:scene3d>
              <a:sp3d>
                <a:bevelT w="0" h="6350"/>
              </a:sp3d>
            </a:bodyPr>
            <a:lstStyle/>
            <a:p>
              <a:r>
                <a:rPr lang="en-US" altLang="ko-KR" sz="1300" dirty="0">
                  <a:solidFill>
                    <a:srgbClr val="FF0000"/>
                  </a:solidFill>
                  <a:latin typeface="SamsungOne 700" panose="020B0803030303020204" pitchFamily="34" charset="0"/>
                  <a:ea typeface="SamsungOne 700" panose="020B0803030303020204" pitchFamily="34" charset="0"/>
                  <a:cs typeface="Times New Roman" panose="02020603050405020304" pitchFamily="18" charset="0"/>
                </a:rPr>
                <a:t>Predicted response</a:t>
              </a:r>
              <a:endParaRPr lang="ko-KR" altLang="en-US" sz="1300" dirty="0">
                <a:solidFill>
                  <a:srgbClr val="FF0000"/>
                </a:solidFill>
                <a:latin typeface="SamsungOne 700" panose="020B0803030303020204" pitchFamily="34" charset="0"/>
                <a:cs typeface="Times New Roman" panose="02020603050405020304" pitchFamily="18" charset="0"/>
              </a:endParaRPr>
            </a:p>
          </p:txBody>
        </p:sp>
      </p:grpSp>
    </p:spTree>
    <p:extLst>
      <p:ext uri="{BB962C8B-B14F-4D97-AF65-F5344CB8AC3E}">
        <p14:creationId xmlns:p14="http://schemas.microsoft.com/office/powerpoint/2010/main" val="3460901568"/>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Regression Tree</a:t>
              </a:r>
            </a:p>
          </p:txBody>
        </p:sp>
      </p:grpSp>
      <p:sp>
        <p:nvSpPr>
          <p:cNvPr id="21" name="직사각형 20">
            <a:extLst>
              <a:ext uri="{FF2B5EF4-FFF2-40B4-BE49-F238E27FC236}">
                <a16:creationId xmlns:a16="http://schemas.microsoft.com/office/drawing/2014/main" id="{E04D9F5A-3966-44F6-A205-4403EB1E100D}"/>
              </a:ext>
            </a:extLst>
          </p:cNvPr>
          <p:cNvSpPr/>
          <p:nvPr/>
        </p:nvSpPr>
        <p:spPr>
          <a:xfrm>
            <a:off x="670746" y="5149749"/>
            <a:ext cx="8673279"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Each leaf node corresponds to a</a:t>
            </a:r>
            <a:r>
              <a:rPr lang="en-US" altLang="ko-KR" sz="1300" dirty="0">
                <a:solidFill>
                  <a:srgbClr val="193EB0"/>
                </a:solidFill>
                <a:latin typeface="SamsungOne 700" panose="020B0803030303020204" pitchFamily="34" charset="0"/>
                <a:ea typeface="SamsungOne 700" panose="020B0803030303020204" pitchFamily="34" charset="0"/>
              </a:rPr>
              <a:t> region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in the configurational space. </a:t>
            </a:r>
          </a:p>
        </p:txBody>
      </p:sp>
      <p:sp>
        <p:nvSpPr>
          <p:cNvPr id="45" name="사각형: 둥근 모서리 2">
            <a:extLst>
              <a:ext uri="{FF2B5EF4-FFF2-40B4-BE49-F238E27FC236}">
                <a16:creationId xmlns:a16="http://schemas.microsoft.com/office/drawing/2014/main" id="{DD6EB150-D4D9-414E-A7C4-FC3BEB1EBF09}"/>
              </a:ext>
            </a:extLst>
          </p:cNvPr>
          <p:cNvSpPr/>
          <p:nvPr/>
        </p:nvSpPr>
        <p:spPr>
          <a:xfrm>
            <a:off x="672202" y="1772335"/>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grpSp>
        <p:nvGrpSpPr>
          <p:cNvPr id="27" name="Group 1">
            <a:extLst>
              <a:ext uri="{FF2B5EF4-FFF2-40B4-BE49-F238E27FC236}">
                <a16:creationId xmlns:a16="http://schemas.microsoft.com/office/drawing/2014/main" id="{B458ECBC-6823-4835-BEF9-5DAC0450FDC7}"/>
              </a:ext>
            </a:extLst>
          </p:cNvPr>
          <p:cNvGrpSpPr/>
          <p:nvPr/>
        </p:nvGrpSpPr>
        <p:grpSpPr>
          <a:xfrm>
            <a:off x="2356500" y="2006950"/>
            <a:ext cx="5189258" cy="2907507"/>
            <a:chOff x="2356500" y="2539587"/>
            <a:chExt cx="5189258" cy="2907507"/>
          </a:xfrm>
        </p:grpSpPr>
        <p:sp>
          <p:nvSpPr>
            <p:cNvPr id="28" name="Rectangle 3">
              <a:extLst>
                <a:ext uri="{FF2B5EF4-FFF2-40B4-BE49-F238E27FC236}">
                  <a16:creationId xmlns:a16="http://schemas.microsoft.com/office/drawing/2014/main" id="{B9B654DE-273E-4055-B03D-9336D31FE1B0}"/>
                </a:ext>
              </a:extLst>
            </p:cNvPr>
            <p:cNvSpPr/>
            <p:nvPr/>
          </p:nvSpPr>
          <p:spPr>
            <a:xfrm>
              <a:off x="3291018" y="2612025"/>
              <a:ext cx="4061848" cy="2238413"/>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29" name="TextBox 28">
              <a:extLst>
                <a:ext uri="{FF2B5EF4-FFF2-40B4-BE49-F238E27FC236}">
                  <a16:creationId xmlns:a16="http://schemas.microsoft.com/office/drawing/2014/main" id="{18C5C9F7-28F6-4779-AE31-00BD1684DD63}"/>
                </a:ext>
              </a:extLst>
            </p:cNvPr>
            <p:cNvSpPr txBox="1"/>
            <p:nvPr/>
          </p:nvSpPr>
          <p:spPr>
            <a:xfrm rot="16200000">
              <a:off x="1808453" y="3569858"/>
              <a:ext cx="1434648" cy="338554"/>
            </a:xfrm>
            <a:prstGeom prst="rect">
              <a:avLst/>
            </a:prstGeom>
            <a:noFill/>
            <a:ln>
              <a:noFill/>
            </a:ln>
          </p:spPr>
          <p:txBody>
            <a:bodyPr wrap="square" rtlCol="0" anchor="ctr">
              <a:spAutoFit/>
            </a:bodyPr>
            <a:lstStyle/>
            <a:p>
              <a:pPr algn="ctr"/>
              <a:r>
                <a:rPr lang="en-US" altLang="ko-KR" sz="1600" b="1" dirty="0">
                  <a:latin typeface="SamsungOne 400" panose="020B0503030303020204" pitchFamily="34" charset="0"/>
                  <a:ea typeface="SamsungOne 400" panose="020B0503030303020204" pitchFamily="34" charset="0"/>
                  <a:cs typeface="Times New Roman" panose="02020603050405020304" pitchFamily="18" charset="0"/>
                </a:rPr>
                <a:t> Performance</a:t>
              </a:r>
              <a:endParaRPr lang="ko-KR" altLang="en-US" sz="1600" b="1" dirty="0">
                <a:latin typeface="SamsungOne 400" panose="020B0503030303020204" pitchFamily="34" charset="0"/>
                <a:cs typeface="Times New Roman" panose="02020603050405020304" pitchFamily="18" charset="0"/>
              </a:endParaRPr>
            </a:p>
          </p:txBody>
        </p:sp>
        <p:cxnSp>
          <p:nvCxnSpPr>
            <p:cNvPr id="33" name="Straight Connector 6">
              <a:extLst>
                <a:ext uri="{FF2B5EF4-FFF2-40B4-BE49-F238E27FC236}">
                  <a16:creationId xmlns:a16="http://schemas.microsoft.com/office/drawing/2014/main" id="{00F38843-853B-487A-A206-72631FC54F88}"/>
                </a:ext>
              </a:extLst>
            </p:cNvPr>
            <p:cNvCxnSpPr/>
            <p:nvPr/>
          </p:nvCxnSpPr>
          <p:spPr>
            <a:xfrm>
              <a:off x="4464297" y="2612025"/>
              <a:ext cx="0" cy="223841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42">
              <a:extLst>
                <a:ext uri="{FF2B5EF4-FFF2-40B4-BE49-F238E27FC236}">
                  <a16:creationId xmlns:a16="http://schemas.microsoft.com/office/drawing/2014/main" id="{F71A53FC-BB1B-4E98-9451-3A5D16409373}"/>
                </a:ext>
              </a:extLst>
            </p:cNvPr>
            <p:cNvCxnSpPr/>
            <p:nvPr/>
          </p:nvCxnSpPr>
          <p:spPr>
            <a:xfrm>
              <a:off x="3291018" y="3112402"/>
              <a:ext cx="117327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9C08A686-60F7-4EDE-903B-29C4EB723C9B}"/>
                </a:ext>
              </a:extLst>
            </p:cNvPr>
            <p:cNvSpPr txBox="1"/>
            <p:nvPr/>
          </p:nvSpPr>
          <p:spPr>
            <a:xfrm>
              <a:off x="2755649" y="4665435"/>
              <a:ext cx="505007" cy="261610"/>
            </a:xfrm>
            <a:prstGeom prst="rect">
              <a:avLst/>
            </a:prstGeom>
            <a:noFill/>
            <a:ln>
              <a:noFill/>
            </a:ln>
          </p:spPr>
          <p:txBody>
            <a:bodyPr wrap="square" rtlCol="0">
              <a:spAutoFit/>
            </a:bodyPr>
            <a:lstStyle/>
            <a:p>
              <a:pPr algn="ctr"/>
              <a:r>
                <a:rPr lang="en-US" altLang="ko-KR" sz="1100" dirty="0">
                  <a:solidFill>
                    <a:srgbClr val="0070C0"/>
                  </a:solidFill>
                  <a:latin typeface="SamsungOne 400" panose="020B0503030303020204" pitchFamily="34" charset="0"/>
                  <a:ea typeface="SamsungOne 400" panose="020B0503030303020204" pitchFamily="34" charset="0"/>
                  <a:cs typeface="Times New Roman" panose="02020603050405020304" pitchFamily="18" charset="0"/>
                </a:rPr>
                <a:t> 0 %</a:t>
              </a:r>
              <a:endParaRPr lang="ko-KR" altLang="en-US" sz="1100" dirty="0">
                <a:solidFill>
                  <a:srgbClr val="0070C0"/>
                </a:solidFill>
                <a:latin typeface="SamsungOne 400" panose="020B0503030303020204" pitchFamily="34" charset="0"/>
                <a:ea typeface="SamsungOne 700" panose="020B0803030303020204" pitchFamily="34" charset="0"/>
                <a:cs typeface="Times New Roman" panose="02020603050405020304" pitchFamily="18" charset="0"/>
              </a:endParaRPr>
            </a:p>
          </p:txBody>
        </p:sp>
        <p:sp>
          <p:nvSpPr>
            <p:cNvPr id="36" name="TextBox 35">
              <a:extLst>
                <a:ext uri="{FF2B5EF4-FFF2-40B4-BE49-F238E27FC236}">
                  <a16:creationId xmlns:a16="http://schemas.microsoft.com/office/drawing/2014/main" id="{7583E688-FD3B-464F-BEE6-D8D52BC687AC}"/>
                </a:ext>
              </a:extLst>
            </p:cNvPr>
            <p:cNvSpPr txBox="1"/>
            <p:nvPr/>
          </p:nvSpPr>
          <p:spPr>
            <a:xfrm>
              <a:off x="2653849" y="2539587"/>
              <a:ext cx="606806" cy="261610"/>
            </a:xfrm>
            <a:prstGeom prst="rect">
              <a:avLst/>
            </a:prstGeom>
            <a:noFill/>
            <a:ln>
              <a:noFill/>
            </a:ln>
          </p:spPr>
          <p:txBody>
            <a:bodyPr wrap="square" rtlCol="0">
              <a:spAutoFit/>
            </a:bodyPr>
            <a:lstStyle/>
            <a:p>
              <a:pPr algn="r"/>
              <a:r>
                <a:rPr lang="en-US" altLang="ko-KR" sz="1100" dirty="0">
                  <a:solidFill>
                    <a:srgbClr val="0070C0"/>
                  </a:solidFill>
                  <a:latin typeface="SamsungOne 400" panose="020B0503030303020204" pitchFamily="34" charset="0"/>
                  <a:ea typeface="SamsungOne 400" panose="020B0503030303020204" pitchFamily="34" charset="0"/>
                  <a:cs typeface="Times New Roman" panose="02020603050405020304" pitchFamily="18" charset="0"/>
                </a:rPr>
                <a:t>100 %</a:t>
              </a:r>
              <a:endParaRPr lang="ko-KR" altLang="en-US" sz="1100" dirty="0">
                <a:solidFill>
                  <a:srgbClr val="0070C0"/>
                </a:solidFill>
                <a:latin typeface="SamsungOne 400" panose="020B0503030303020204" pitchFamily="34" charset="0"/>
                <a:cs typeface="Times New Roman" panose="02020603050405020304" pitchFamily="18" charset="0"/>
              </a:endParaRPr>
            </a:p>
          </p:txBody>
        </p:sp>
        <p:sp>
          <p:nvSpPr>
            <p:cNvPr id="37" name="TextBox 36">
              <a:extLst>
                <a:ext uri="{FF2B5EF4-FFF2-40B4-BE49-F238E27FC236}">
                  <a16:creationId xmlns:a16="http://schemas.microsoft.com/office/drawing/2014/main" id="{16403453-2760-49BF-BE26-3FE36903C32F}"/>
                </a:ext>
              </a:extLst>
            </p:cNvPr>
            <p:cNvSpPr txBox="1"/>
            <p:nvPr/>
          </p:nvSpPr>
          <p:spPr>
            <a:xfrm>
              <a:off x="2651703" y="2989809"/>
              <a:ext cx="608953" cy="261610"/>
            </a:xfrm>
            <a:prstGeom prst="rect">
              <a:avLst/>
            </a:prstGeom>
            <a:noFill/>
            <a:ln>
              <a:noFill/>
            </a:ln>
          </p:spPr>
          <p:txBody>
            <a:bodyPr wrap="square" rtlCol="0">
              <a:spAutoFit/>
            </a:bodyPr>
            <a:lstStyle/>
            <a:p>
              <a:pPr algn="r"/>
              <a:r>
                <a:rPr lang="en-US" altLang="ko-KR" sz="1100" dirty="0">
                  <a:solidFill>
                    <a:srgbClr val="FF0000"/>
                  </a:solidFill>
                  <a:latin typeface="SamsungOne 400" panose="020B0503030303020204" pitchFamily="34" charset="0"/>
                  <a:ea typeface="SamsungOne 400" panose="020B0503030303020204" pitchFamily="34" charset="0"/>
                  <a:cs typeface="Times New Roman" panose="02020603050405020304" pitchFamily="18" charset="0"/>
                </a:rPr>
                <a:t>80%</a:t>
              </a:r>
              <a:endParaRPr lang="ko-KR" altLang="en-US" sz="1100" dirty="0">
                <a:solidFill>
                  <a:srgbClr val="FF0000"/>
                </a:solidFill>
                <a:latin typeface="SamsungOne 400" panose="020B050303030302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2FD91DA1-CEE6-4342-8E1B-B25C48F068AE}"/>
                </a:ext>
              </a:extLst>
            </p:cNvPr>
            <p:cNvSpPr txBox="1"/>
            <p:nvPr/>
          </p:nvSpPr>
          <p:spPr>
            <a:xfrm>
              <a:off x="4143628" y="4924667"/>
              <a:ext cx="722745" cy="261610"/>
            </a:xfrm>
            <a:prstGeom prst="rect">
              <a:avLst/>
            </a:prstGeom>
            <a:noFill/>
            <a:ln>
              <a:noFill/>
            </a:ln>
          </p:spPr>
          <p:txBody>
            <a:bodyPr wrap="square" rtlCol="0">
              <a:spAutoFit/>
            </a:bodyPr>
            <a:lstStyle/>
            <a:p>
              <a:pPr algn="ctr"/>
              <a:r>
                <a:rPr lang="en-US" altLang="ko-KR" sz="1100" dirty="0">
                  <a:solidFill>
                    <a:srgbClr val="FF0000"/>
                  </a:solidFill>
                  <a:latin typeface="SamsungOne 400" panose="020B0503030303020204" pitchFamily="34" charset="0"/>
                  <a:ea typeface="SamsungOne 400" panose="020B0503030303020204" pitchFamily="34" charset="0"/>
                  <a:cs typeface="Times New Roman" panose="02020603050405020304" pitchFamily="18" charset="0"/>
                </a:rPr>
                <a:t>5</a:t>
              </a:r>
              <a:r>
                <a:rPr lang="ko-KR" altLang="en-US" sz="1100" dirty="0">
                  <a:solidFill>
                    <a:srgbClr val="FF0000"/>
                  </a:solidFill>
                  <a:latin typeface="SamsungOne 400" panose="020B0503030303020204" pitchFamily="34" charset="0"/>
                  <a:cs typeface="Times New Roman" panose="02020603050405020304" pitchFamily="18" charset="0"/>
                </a:rPr>
                <a:t> </a:t>
              </a:r>
              <a:r>
                <a:rPr lang="en-US" altLang="ko-KR" sz="1100" dirty="0">
                  <a:solidFill>
                    <a:srgbClr val="FF0000"/>
                  </a:solidFill>
                  <a:latin typeface="SamsungOne 400" panose="020B0503030303020204" pitchFamily="34" charset="0"/>
                  <a:ea typeface="SamsungOne 400" panose="020B0503030303020204" pitchFamily="34" charset="0"/>
                  <a:cs typeface="Times New Roman" panose="02020603050405020304" pitchFamily="18" charset="0"/>
                </a:rPr>
                <a:t>years</a:t>
              </a:r>
              <a:endParaRPr lang="ko-KR" altLang="en-US" sz="1100" dirty="0">
                <a:solidFill>
                  <a:srgbClr val="FF0000"/>
                </a:solidFill>
                <a:latin typeface="SamsungOne 400" panose="020B0503030303020204" pitchFamily="34" charset="0"/>
                <a:cs typeface="Times New Roman" panose="02020603050405020304" pitchFamily="18" charset="0"/>
              </a:endParaRPr>
            </a:p>
          </p:txBody>
        </p:sp>
        <p:sp>
          <p:nvSpPr>
            <p:cNvPr id="39" name="TextBox 38">
              <a:extLst>
                <a:ext uri="{FF2B5EF4-FFF2-40B4-BE49-F238E27FC236}">
                  <a16:creationId xmlns:a16="http://schemas.microsoft.com/office/drawing/2014/main" id="{3406326C-9277-4379-AB56-50065E6B89A0}"/>
                </a:ext>
              </a:extLst>
            </p:cNvPr>
            <p:cNvSpPr txBox="1"/>
            <p:nvPr/>
          </p:nvSpPr>
          <p:spPr>
            <a:xfrm>
              <a:off x="6768650" y="4924668"/>
              <a:ext cx="777108" cy="261610"/>
            </a:xfrm>
            <a:prstGeom prst="rect">
              <a:avLst/>
            </a:prstGeom>
            <a:noFill/>
            <a:ln>
              <a:noFill/>
            </a:ln>
          </p:spPr>
          <p:txBody>
            <a:bodyPr wrap="square" rtlCol="0">
              <a:spAutoFit/>
            </a:bodyPr>
            <a:lstStyle/>
            <a:p>
              <a:pPr algn="ctr"/>
              <a:r>
                <a:rPr lang="en-US" altLang="ko-KR" sz="1100" dirty="0">
                  <a:solidFill>
                    <a:srgbClr val="0070C0"/>
                  </a:solidFill>
                  <a:latin typeface="SamsungOne 400" panose="020B0503030303020204" pitchFamily="34" charset="0"/>
                  <a:ea typeface="SamsungOne 400" panose="020B0503030303020204" pitchFamily="34" charset="0"/>
                  <a:cs typeface="Times New Roman" panose="02020603050405020304" pitchFamily="18" charset="0"/>
                </a:rPr>
                <a:t>20</a:t>
              </a:r>
              <a:r>
                <a:rPr lang="ko-KR" altLang="en-US" sz="1100" dirty="0">
                  <a:solidFill>
                    <a:srgbClr val="0070C0"/>
                  </a:solidFill>
                  <a:latin typeface="SamsungOne 400" panose="020B0503030303020204" pitchFamily="34" charset="0"/>
                  <a:cs typeface="Times New Roman" panose="02020603050405020304" pitchFamily="18" charset="0"/>
                </a:rPr>
                <a:t> </a:t>
              </a:r>
              <a:r>
                <a:rPr lang="en-US" altLang="ko-KR" sz="1100" dirty="0">
                  <a:solidFill>
                    <a:srgbClr val="0070C0"/>
                  </a:solidFill>
                  <a:latin typeface="SamsungOne 400" panose="020B0503030303020204" pitchFamily="34" charset="0"/>
                  <a:ea typeface="SamsungOne 400" panose="020B0503030303020204" pitchFamily="34" charset="0"/>
                  <a:cs typeface="Times New Roman" panose="02020603050405020304" pitchFamily="18" charset="0"/>
                </a:rPr>
                <a:t>years</a:t>
              </a:r>
              <a:endParaRPr lang="ko-KR" altLang="en-US" sz="1100" dirty="0">
                <a:solidFill>
                  <a:srgbClr val="0070C0"/>
                </a:solidFill>
                <a:latin typeface="SamsungOne 400" panose="020B0503030303020204" pitchFamily="34" charset="0"/>
                <a:cs typeface="Times New Roman" panose="02020603050405020304" pitchFamily="18" charset="0"/>
              </a:endParaRPr>
            </a:p>
          </p:txBody>
        </p:sp>
        <p:sp>
          <p:nvSpPr>
            <p:cNvPr id="40" name="TextBox 39">
              <a:extLst>
                <a:ext uri="{FF2B5EF4-FFF2-40B4-BE49-F238E27FC236}">
                  <a16:creationId xmlns:a16="http://schemas.microsoft.com/office/drawing/2014/main" id="{2D9FC2EC-8051-4135-869B-3AA8DC2752F4}"/>
                </a:ext>
              </a:extLst>
            </p:cNvPr>
            <p:cNvSpPr txBox="1"/>
            <p:nvPr/>
          </p:nvSpPr>
          <p:spPr>
            <a:xfrm>
              <a:off x="3068288" y="4924667"/>
              <a:ext cx="637866" cy="261610"/>
            </a:xfrm>
            <a:prstGeom prst="rect">
              <a:avLst/>
            </a:prstGeom>
            <a:noFill/>
            <a:ln>
              <a:noFill/>
            </a:ln>
          </p:spPr>
          <p:txBody>
            <a:bodyPr wrap="square" rtlCol="0">
              <a:spAutoFit/>
            </a:bodyPr>
            <a:lstStyle/>
            <a:p>
              <a:pPr algn="ctr"/>
              <a:r>
                <a:rPr lang="en-US" altLang="ko-KR" sz="1100" dirty="0">
                  <a:solidFill>
                    <a:srgbClr val="0070C0"/>
                  </a:solidFill>
                  <a:latin typeface="SamsungOne 400" panose="020B0503030303020204" pitchFamily="34" charset="0"/>
                  <a:ea typeface="SamsungOne 400" panose="020B0503030303020204" pitchFamily="34" charset="0"/>
                  <a:cs typeface="Times New Roman" panose="02020603050405020304" pitchFamily="18" charset="0"/>
                </a:rPr>
                <a:t>0 year</a:t>
              </a:r>
              <a:endParaRPr lang="ko-KR" altLang="en-US" sz="1100" dirty="0">
                <a:solidFill>
                  <a:srgbClr val="0070C0"/>
                </a:solidFill>
                <a:latin typeface="SamsungOne 400" panose="020B0503030303020204" pitchFamily="34" charset="0"/>
                <a:cs typeface="Times New Roman" panose="02020603050405020304" pitchFamily="18" charset="0"/>
              </a:endParaRPr>
            </a:p>
          </p:txBody>
        </p:sp>
        <p:sp>
          <p:nvSpPr>
            <p:cNvPr id="41" name="Oval 31">
              <a:extLst>
                <a:ext uri="{FF2B5EF4-FFF2-40B4-BE49-F238E27FC236}">
                  <a16:creationId xmlns:a16="http://schemas.microsoft.com/office/drawing/2014/main" id="{E7728C1D-ABC8-499B-BC67-75A70FADB4F6}"/>
                </a:ext>
              </a:extLst>
            </p:cNvPr>
            <p:cNvSpPr/>
            <p:nvPr/>
          </p:nvSpPr>
          <p:spPr>
            <a:xfrm>
              <a:off x="3530819" y="2885767"/>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42" name="Oval 49">
              <a:extLst>
                <a:ext uri="{FF2B5EF4-FFF2-40B4-BE49-F238E27FC236}">
                  <a16:creationId xmlns:a16="http://schemas.microsoft.com/office/drawing/2014/main" id="{A1081013-9F0A-4EE4-93EB-86645956823B}"/>
                </a:ext>
              </a:extLst>
            </p:cNvPr>
            <p:cNvSpPr/>
            <p:nvPr/>
          </p:nvSpPr>
          <p:spPr>
            <a:xfrm>
              <a:off x="3530819" y="3316036"/>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43" name="Oval 50">
              <a:extLst>
                <a:ext uri="{FF2B5EF4-FFF2-40B4-BE49-F238E27FC236}">
                  <a16:creationId xmlns:a16="http://schemas.microsoft.com/office/drawing/2014/main" id="{BACBF76B-0C40-4F9E-8D2C-D0E9C10F69A2}"/>
                </a:ext>
              </a:extLst>
            </p:cNvPr>
            <p:cNvSpPr/>
            <p:nvPr/>
          </p:nvSpPr>
          <p:spPr>
            <a:xfrm>
              <a:off x="3530819" y="4244228"/>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44" name="Oval 51">
              <a:extLst>
                <a:ext uri="{FF2B5EF4-FFF2-40B4-BE49-F238E27FC236}">
                  <a16:creationId xmlns:a16="http://schemas.microsoft.com/office/drawing/2014/main" id="{A9BC6D78-31E8-48D6-A548-2C0485C32171}"/>
                </a:ext>
              </a:extLst>
            </p:cNvPr>
            <p:cNvSpPr/>
            <p:nvPr/>
          </p:nvSpPr>
          <p:spPr>
            <a:xfrm>
              <a:off x="3906022" y="3249567"/>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63" name="Oval 52">
              <a:extLst>
                <a:ext uri="{FF2B5EF4-FFF2-40B4-BE49-F238E27FC236}">
                  <a16:creationId xmlns:a16="http://schemas.microsoft.com/office/drawing/2014/main" id="{5017F114-91AC-45C2-B8F9-ADCB337765BF}"/>
                </a:ext>
              </a:extLst>
            </p:cNvPr>
            <p:cNvSpPr/>
            <p:nvPr/>
          </p:nvSpPr>
          <p:spPr>
            <a:xfrm>
              <a:off x="3906022" y="3768411"/>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64" name="Oval 53">
              <a:extLst>
                <a:ext uri="{FF2B5EF4-FFF2-40B4-BE49-F238E27FC236}">
                  <a16:creationId xmlns:a16="http://schemas.microsoft.com/office/drawing/2014/main" id="{ADD91D14-3B69-4226-9EC8-49B66C2F0339}"/>
                </a:ext>
              </a:extLst>
            </p:cNvPr>
            <p:cNvSpPr/>
            <p:nvPr/>
          </p:nvSpPr>
          <p:spPr>
            <a:xfrm>
              <a:off x="3906022" y="4482979"/>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65" name="Oval 54">
              <a:extLst>
                <a:ext uri="{FF2B5EF4-FFF2-40B4-BE49-F238E27FC236}">
                  <a16:creationId xmlns:a16="http://schemas.microsoft.com/office/drawing/2014/main" id="{B193FBF0-5D61-446B-9FA2-151F57DD4EAA}"/>
                </a:ext>
              </a:extLst>
            </p:cNvPr>
            <p:cNvSpPr/>
            <p:nvPr/>
          </p:nvSpPr>
          <p:spPr>
            <a:xfrm>
              <a:off x="4170602" y="2820665"/>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66" name="Oval 55">
              <a:extLst>
                <a:ext uri="{FF2B5EF4-FFF2-40B4-BE49-F238E27FC236}">
                  <a16:creationId xmlns:a16="http://schemas.microsoft.com/office/drawing/2014/main" id="{FBE7D50B-2270-47E6-B1D0-90F2B3743A75}"/>
                </a:ext>
              </a:extLst>
            </p:cNvPr>
            <p:cNvSpPr/>
            <p:nvPr/>
          </p:nvSpPr>
          <p:spPr>
            <a:xfrm>
              <a:off x="4175692" y="3458072"/>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67" name="Oval 56">
              <a:extLst>
                <a:ext uri="{FF2B5EF4-FFF2-40B4-BE49-F238E27FC236}">
                  <a16:creationId xmlns:a16="http://schemas.microsoft.com/office/drawing/2014/main" id="{BC9450A0-408C-4212-9CA1-ADCF9BAE2D2C}"/>
                </a:ext>
              </a:extLst>
            </p:cNvPr>
            <p:cNvSpPr/>
            <p:nvPr/>
          </p:nvSpPr>
          <p:spPr>
            <a:xfrm>
              <a:off x="4835944" y="2820665"/>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68" name="Oval 57">
              <a:extLst>
                <a:ext uri="{FF2B5EF4-FFF2-40B4-BE49-F238E27FC236}">
                  <a16:creationId xmlns:a16="http://schemas.microsoft.com/office/drawing/2014/main" id="{E3F0E07C-6EBB-40F5-B676-A88EDA90CF79}"/>
                </a:ext>
              </a:extLst>
            </p:cNvPr>
            <p:cNvSpPr/>
            <p:nvPr/>
          </p:nvSpPr>
          <p:spPr>
            <a:xfrm>
              <a:off x="4835471" y="3990586"/>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69" name="Oval 58">
              <a:extLst>
                <a:ext uri="{FF2B5EF4-FFF2-40B4-BE49-F238E27FC236}">
                  <a16:creationId xmlns:a16="http://schemas.microsoft.com/office/drawing/2014/main" id="{E9CE0FFD-E740-487F-ACFD-252ED4D5C79E}"/>
                </a:ext>
              </a:extLst>
            </p:cNvPr>
            <p:cNvSpPr/>
            <p:nvPr/>
          </p:nvSpPr>
          <p:spPr>
            <a:xfrm>
              <a:off x="4835471" y="3343726"/>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70" name="Oval 59">
              <a:extLst>
                <a:ext uri="{FF2B5EF4-FFF2-40B4-BE49-F238E27FC236}">
                  <a16:creationId xmlns:a16="http://schemas.microsoft.com/office/drawing/2014/main" id="{DDB163CE-8C58-4E5C-9DC0-B580A20729C2}"/>
                </a:ext>
              </a:extLst>
            </p:cNvPr>
            <p:cNvSpPr/>
            <p:nvPr/>
          </p:nvSpPr>
          <p:spPr>
            <a:xfrm>
              <a:off x="5637576" y="3044144"/>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71" name="Oval 60">
              <a:extLst>
                <a:ext uri="{FF2B5EF4-FFF2-40B4-BE49-F238E27FC236}">
                  <a16:creationId xmlns:a16="http://schemas.microsoft.com/office/drawing/2014/main" id="{244162D3-DEF7-488E-A47F-6D26AF5547E1}"/>
                </a:ext>
              </a:extLst>
            </p:cNvPr>
            <p:cNvSpPr/>
            <p:nvPr/>
          </p:nvSpPr>
          <p:spPr>
            <a:xfrm>
              <a:off x="5381105" y="4321112"/>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72" name="Oval 61">
              <a:extLst>
                <a:ext uri="{FF2B5EF4-FFF2-40B4-BE49-F238E27FC236}">
                  <a16:creationId xmlns:a16="http://schemas.microsoft.com/office/drawing/2014/main" id="{11DEF969-FCDA-4104-B34B-343CA28C12B6}"/>
                </a:ext>
              </a:extLst>
            </p:cNvPr>
            <p:cNvSpPr/>
            <p:nvPr/>
          </p:nvSpPr>
          <p:spPr>
            <a:xfrm>
              <a:off x="5381105" y="3674252"/>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73" name="Oval 62">
              <a:extLst>
                <a:ext uri="{FF2B5EF4-FFF2-40B4-BE49-F238E27FC236}">
                  <a16:creationId xmlns:a16="http://schemas.microsoft.com/office/drawing/2014/main" id="{36F37FBE-0440-4B6D-A7F7-E13321D4459A}"/>
                </a:ext>
              </a:extLst>
            </p:cNvPr>
            <p:cNvSpPr/>
            <p:nvPr/>
          </p:nvSpPr>
          <p:spPr>
            <a:xfrm>
              <a:off x="7051110" y="3552824"/>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74" name="Oval 63">
              <a:extLst>
                <a:ext uri="{FF2B5EF4-FFF2-40B4-BE49-F238E27FC236}">
                  <a16:creationId xmlns:a16="http://schemas.microsoft.com/office/drawing/2014/main" id="{C73CE8E0-C186-4CA8-86B9-3B0E6E9FCF9C}"/>
                </a:ext>
              </a:extLst>
            </p:cNvPr>
            <p:cNvSpPr/>
            <p:nvPr/>
          </p:nvSpPr>
          <p:spPr>
            <a:xfrm>
              <a:off x="6761086" y="3755865"/>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75" name="Oval 64">
              <a:extLst>
                <a:ext uri="{FF2B5EF4-FFF2-40B4-BE49-F238E27FC236}">
                  <a16:creationId xmlns:a16="http://schemas.microsoft.com/office/drawing/2014/main" id="{C603614E-FF59-429A-86DC-1F2AAF6D1052}"/>
                </a:ext>
              </a:extLst>
            </p:cNvPr>
            <p:cNvSpPr/>
            <p:nvPr/>
          </p:nvSpPr>
          <p:spPr>
            <a:xfrm>
              <a:off x="6745170" y="3316036"/>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76" name="Oval 65">
              <a:extLst>
                <a:ext uri="{FF2B5EF4-FFF2-40B4-BE49-F238E27FC236}">
                  <a16:creationId xmlns:a16="http://schemas.microsoft.com/office/drawing/2014/main" id="{0352AC07-CD11-4535-B405-2518DA18D293}"/>
                </a:ext>
              </a:extLst>
            </p:cNvPr>
            <p:cNvSpPr/>
            <p:nvPr/>
          </p:nvSpPr>
          <p:spPr>
            <a:xfrm>
              <a:off x="6041121" y="2840852"/>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77" name="Oval 66">
              <a:extLst>
                <a:ext uri="{FF2B5EF4-FFF2-40B4-BE49-F238E27FC236}">
                  <a16:creationId xmlns:a16="http://schemas.microsoft.com/office/drawing/2014/main" id="{1A04B802-A36A-41B2-B393-77E8A1981349}"/>
                </a:ext>
              </a:extLst>
            </p:cNvPr>
            <p:cNvSpPr/>
            <p:nvPr/>
          </p:nvSpPr>
          <p:spPr>
            <a:xfrm>
              <a:off x="6040650" y="4010774"/>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78" name="Oval 67">
              <a:extLst>
                <a:ext uri="{FF2B5EF4-FFF2-40B4-BE49-F238E27FC236}">
                  <a16:creationId xmlns:a16="http://schemas.microsoft.com/office/drawing/2014/main" id="{81C88701-123A-4812-8E0F-AB2D9564F199}"/>
                </a:ext>
              </a:extLst>
            </p:cNvPr>
            <p:cNvSpPr/>
            <p:nvPr/>
          </p:nvSpPr>
          <p:spPr>
            <a:xfrm>
              <a:off x="6366986" y="3641010"/>
              <a:ext cx="106094"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SamsungOne 400" panose="020B0503030303020204" pitchFamily="34" charset="0"/>
                <a:ea typeface="SamsungOne 400" panose="020B0503030303020204" pitchFamily="34" charset="0"/>
              </a:endParaRPr>
            </a:p>
          </p:txBody>
        </p: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27DA9041-7D58-4C43-AF3D-733DAF3263D8}"/>
                    </a:ext>
                  </a:extLst>
                </p:cNvPr>
                <p:cNvSpPr txBox="1"/>
                <p:nvPr/>
              </p:nvSpPr>
              <p:spPr>
                <a:xfrm>
                  <a:off x="3679041" y="3944351"/>
                  <a:ext cx="393173"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1" i="1">
                                <a:solidFill>
                                  <a:schemeClr val="tx1">
                                    <a:lumMod val="75000"/>
                                    <a:lumOff val="25000"/>
                                  </a:schemeClr>
                                </a:solidFill>
                                <a:latin typeface="Cambria Math" panose="02040503050406030204" pitchFamily="18" charset="0"/>
                              </a:rPr>
                            </m:ctrlPr>
                          </m:sSubPr>
                          <m:e>
                            <m:r>
                              <a:rPr lang="en-US" sz="2000" b="1" i="1">
                                <a:solidFill>
                                  <a:schemeClr val="tx1">
                                    <a:lumMod val="75000"/>
                                    <a:lumOff val="25000"/>
                                  </a:schemeClr>
                                </a:solidFill>
                                <a:latin typeface="Cambria Math" panose="02040503050406030204" pitchFamily="18" charset="0"/>
                              </a:rPr>
                              <m:t>𝑹</m:t>
                            </m:r>
                          </m:e>
                          <m:sub>
                            <m:r>
                              <a:rPr lang="en-US" sz="2000" b="1" i="1">
                                <a:solidFill>
                                  <a:schemeClr val="tx1">
                                    <a:lumMod val="75000"/>
                                    <a:lumOff val="25000"/>
                                  </a:schemeClr>
                                </a:solidFill>
                                <a:latin typeface="Cambria Math" panose="02040503050406030204" pitchFamily="18" charset="0"/>
                              </a:rPr>
                              <m:t>𝟏</m:t>
                            </m:r>
                          </m:sub>
                        </m:sSub>
                      </m:oMath>
                    </m:oMathPara>
                  </a14:m>
                  <a:endParaRPr lang="en-US" sz="2000" b="1" i="1" dirty="0">
                    <a:solidFill>
                      <a:schemeClr val="tx1">
                        <a:lumMod val="75000"/>
                        <a:lumOff val="25000"/>
                      </a:schemeClr>
                    </a:solidFill>
                    <a:latin typeface="SamsungOne 400" panose="020B0503030303020204" pitchFamily="34" charset="0"/>
                    <a:ea typeface="SamsungOne 400" panose="020B0503030303020204" pitchFamily="34" charset="0"/>
                  </a:endParaRPr>
                </a:p>
              </p:txBody>
            </p:sp>
          </mc:Choice>
          <mc:Fallback xmlns="">
            <p:sp>
              <p:nvSpPr>
                <p:cNvPr id="105" name="TextBox 104">
                  <a:extLst>
                    <a:ext uri="{FF2B5EF4-FFF2-40B4-BE49-F238E27FC236}">
                      <a16:creationId xmlns:a16="http://schemas.microsoft.com/office/drawing/2014/main" id="{0E133365-E3B9-4A72-A4AE-4D2B3915A5F6}"/>
                    </a:ext>
                  </a:extLst>
                </p:cNvPr>
                <p:cNvSpPr txBox="1">
                  <a:spLocks noRot="1" noChangeAspect="1" noMove="1" noResize="1" noEditPoints="1" noAdjustHandles="1" noChangeArrowheads="1" noChangeShapeType="1" noTextEdit="1"/>
                </p:cNvSpPr>
                <p:nvPr/>
              </p:nvSpPr>
              <p:spPr>
                <a:xfrm>
                  <a:off x="3679041" y="3944351"/>
                  <a:ext cx="393173" cy="400110"/>
                </a:xfrm>
                <a:prstGeom prst="rect">
                  <a:avLst/>
                </a:prstGeom>
                <a:blipFill>
                  <a:blip r:embed="rId3"/>
                  <a:stretch>
                    <a:fillRect r="-15625" b="-151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05A8A28C-78E8-4B96-96AD-0E23B97675EC}"/>
                    </a:ext>
                  </a:extLst>
                </p:cNvPr>
                <p:cNvSpPr txBox="1"/>
                <p:nvPr/>
              </p:nvSpPr>
              <p:spPr>
                <a:xfrm>
                  <a:off x="3680129" y="2693942"/>
                  <a:ext cx="393173"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1" i="1">
                                <a:solidFill>
                                  <a:schemeClr val="tx1">
                                    <a:lumMod val="75000"/>
                                    <a:lumOff val="25000"/>
                                  </a:schemeClr>
                                </a:solidFill>
                                <a:latin typeface="Cambria Math" panose="02040503050406030204" pitchFamily="18" charset="0"/>
                              </a:rPr>
                            </m:ctrlPr>
                          </m:sSubPr>
                          <m:e>
                            <m:r>
                              <a:rPr lang="en-US" sz="2000" b="1" i="1">
                                <a:solidFill>
                                  <a:schemeClr val="tx1">
                                    <a:lumMod val="75000"/>
                                    <a:lumOff val="25000"/>
                                  </a:schemeClr>
                                </a:solidFill>
                                <a:latin typeface="Cambria Math" panose="02040503050406030204" pitchFamily="18" charset="0"/>
                              </a:rPr>
                              <m:t>𝑹</m:t>
                            </m:r>
                          </m:e>
                          <m:sub>
                            <m:r>
                              <a:rPr lang="en-US" sz="2000" b="1" i="1">
                                <a:solidFill>
                                  <a:schemeClr val="tx1">
                                    <a:lumMod val="75000"/>
                                    <a:lumOff val="25000"/>
                                  </a:schemeClr>
                                </a:solidFill>
                                <a:latin typeface="Cambria Math" panose="02040503050406030204" pitchFamily="18" charset="0"/>
                              </a:rPr>
                              <m:t>𝟐</m:t>
                            </m:r>
                          </m:sub>
                        </m:sSub>
                      </m:oMath>
                    </m:oMathPara>
                  </a14:m>
                  <a:endParaRPr lang="en-US" sz="2000" b="1" i="1" dirty="0">
                    <a:solidFill>
                      <a:schemeClr val="tx1">
                        <a:lumMod val="75000"/>
                        <a:lumOff val="25000"/>
                      </a:schemeClr>
                    </a:solidFill>
                    <a:latin typeface="SamsungOne 400" panose="020B0503030303020204" pitchFamily="34" charset="0"/>
                    <a:ea typeface="SamsungOne 400" panose="020B0503030303020204" pitchFamily="34" charset="0"/>
                  </a:endParaRPr>
                </a:p>
              </p:txBody>
            </p:sp>
          </mc:Choice>
          <mc:Fallback xmlns="">
            <p:sp>
              <p:nvSpPr>
                <p:cNvPr id="106" name="TextBox 105">
                  <a:extLst>
                    <a:ext uri="{FF2B5EF4-FFF2-40B4-BE49-F238E27FC236}">
                      <a16:creationId xmlns:a16="http://schemas.microsoft.com/office/drawing/2014/main" id="{7EC04F68-8FBE-4F04-8737-AC74A222E649}"/>
                    </a:ext>
                  </a:extLst>
                </p:cNvPr>
                <p:cNvSpPr txBox="1">
                  <a:spLocks noRot="1" noChangeAspect="1" noMove="1" noResize="1" noEditPoints="1" noAdjustHandles="1" noChangeArrowheads="1" noChangeShapeType="1" noTextEdit="1"/>
                </p:cNvSpPr>
                <p:nvPr/>
              </p:nvSpPr>
              <p:spPr>
                <a:xfrm>
                  <a:off x="3680129" y="2693942"/>
                  <a:ext cx="393173" cy="400110"/>
                </a:xfrm>
                <a:prstGeom prst="rect">
                  <a:avLst/>
                </a:prstGeom>
                <a:blipFill>
                  <a:blip r:embed="rId4"/>
                  <a:stretch>
                    <a:fillRect r="-1562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E9258C41-5B56-4DE2-ACC8-4B6B773E64A7}"/>
                    </a:ext>
                  </a:extLst>
                </p:cNvPr>
                <p:cNvSpPr txBox="1"/>
                <p:nvPr/>
              </p:nvSpPr>
              <p:spPr>
                <a:xfrm>
                  <a:off x="5694788" y="3496128"/>
                  <a:ext cx="393173"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solidFill>
                                  <a:schemeClr val="tx1">
                                    <a:lumMod val="75000"/>
                                    <a:lumOff val="25000"/>
                                  </a:schemeClr>
                                </a:solidFill>
                                <a:latin typeface="Cambria Math" panose="02040503050406030204" pitchFamily="18" charset="0"/>
                              </a:rPr>
                            </m:ctrlPr>
                          </m:sSubPr>
                          <m:e>
                            <m:r>
                              <a:rPr lang="en-US" sz="2000" b="1" i="1">
                                <a:solidFill>
                                  <a:schemeClr val="tx1">
                                    <a:lumMod val="75000"/>
                                    <a:lumOff val="25000"/>
                                  </a:schemeClr>
                                </a:solidFill>
                                <a:latin typeface="Cambria Math" panose="02040503050406030204" pitchFamily="18" charset="0"/>
                              </a:rPr>
                              <m:t>𝑹</m:t>
                            </m:r>
                          </m:e>
                          <m:sub>
                            <m:r>
                              <a:rPr lang="en-US" sz="2000" b="1" i="1">
                                <a:solidFill>
                                  <a:schemeClr val="tx1">
                                    <a:lumMod val="75000"/>
                                    <a:lumOff val="25000"/>
                                  </a:schemeClr>
                                </a:solidFill>
                                <a:latin typeface="Cambria Math" panose="02040503050406030204" pitchFamily="18" charset="0"/>
                              </a:rPr>
                              <m:t>𝟑</m:t>
                            </m:r>
                          </m:sub>
                        </m:sSub>
                      </m:oMath>
                    </m:oMathPara>
                  </a14:m>
                  <a:endParaRPr lang="en-US" sz="2000" b="1" dirty="0">
                    <a:solidFill>
                      <a:schemeClr val="tx1">
                        <a:lumMod val="75000"/>
                        <a:lumOff val="25000"/>
                      </a:schemeClr>
                    </a:solidFill>
                    <a:latin typeface="SamsungOne 400" panose="020B0503030303020204" pitchFamily="34" charset="0"/>
                    <a:ea typeface="SamsungOne 400" panose="020B0503030303020204" pitchFamily="34" charset="0"/>
                  </a:endParaRPr>
                </a:p>
              </p:txBody>
            </p:sp>
          </mc:Choice>
          <mc:Fallback xmlns="">
            <p:sp>
              <p:nvSpPr>
                <p:cNvPr id="107" name="TextBox 106">
                  <a:extLst>
                    <a:ext uri="{FF2B5EF4-FFF2-40B4-BE49-F238E27FC236}">
                      <a16:creationId xmlns:a16="http://schemas.microsoft.com/office/drawing/2014/main" id="{4471FBFF-FD8A-40EC-B616-9F70EEC5BCEB}"/>
                    </a:ext>
                  </a:extLst>
                </p:cNvPr>
                <p:cNvSpPr txBox="1">
                  <a:spLocks noRot="1" noChangeAspect="1" noMove="1" noResize="1" noEditPoints="1" noAdjustHandles="1" noChangeArrowheads="1" noChangeShapeType="1" noTextEdit="1"/>
                </p:cNvSpPr>
                <p:nvPr/>
              </p:nvSpPr>
              <p:spPr>
                <a:xfrm>
                  <a:off x="5694788" y="3496128"/>
                  <a:ext cx="393173" cy="400110"/>
                </a:xfrm>
                <a:prstGeom prst="rect">
                  <a:avLst/>
                </a:prstGeom>
                <a:blipFill>
                  <a:blip r:embed="rId5"/>
                  <a:stretch>
                    <a:fillRect r="-13846" b="-1538"/>
                  </a:stretch>
                </a:blipFill>
              </p:spPr>
              <p:txBody>
                <a:bodyPr/>
                <a:lstStyle/>
                <a:p>
                  <a:r>
                    <a:rPr lang="ko-KR" altLang="en-US">
                      <a:noFill/>
                    </a:rPr>
                    <a:t> </a:t>
                  </a:r>
                </a:p>
              </p:txBody>
            </p:sp>
          </mc:Fallback>
        </mc:AlternateContent>
        <p:sp>
          <p:nvSpPr>
            <p:cNvPr id="82" name="TextBox 81">
              <a:extLst>
                <a:ext uri="{FF2B5EF4-FFF2-40B4-BE49-F238E27FC236}">
                  <a16:creationId xmlns:a16="http://schemas.microsoft.com/office/drawing/2014/main" id="{EB25E0CC-0A98-4123-8BBF-6A4F1B205B9D}"/>
                </a:ext>
              </a:extLst>
            </p:cNvPr>
            <p:cNvSpPr txBox="1"/>
            <p:nvPr/>
          </p:nvSpPr>
          <p:spPr>
            <a:xfrm>
              <a:off x="4633151" y="5108540"/>
              <a:ext cx="1377586" cy="338554"/>
            </a:xfrm>
            <a:prstGeom prst="rect">
              <a:avLst/>
            </a:prstGeom>
            <a:noFill/>
            <a:ln>
              <a:noFill/>
            </a:ln>
          </p:spPr>
          <p:txBody>
            <a:bodyPr wrap="square" rtlCol="0" anchor="ctr">
              <a:spAutoFit/>
            </a:bodyPr>
            <a:lstStyle/>
            <a:p>
              <a:pPr algn="ctr"/>
              <a:r>
                <a:rPr lang="en-US" altLang="ko-KR" sz="1600" b="1" dirty="0">
                  <a:latin typeface="SamsungOne 400" panose="020B0503030303020204" pitchFamily="34" charset="0"/>
                  <a:ea typeface="SamsungOne 400" panose="020B0503030303020204" pitchFamily="34" charset="0"/>
                  <a:cs typeface="Times New Roman" panose="02020603050405020304" pitchFamily="18" charset="0"/>
                </a:rPr>
                <a:t> Experience</a:t>
              </a:r>
              <a:endParaRPr lang="ko-KR" altLang="en-US" sz="1600" b="1" dirty="0">
                <a:latin typeface="SamsungOne 400" panose="020B0503030303020204" pitchFamily="34" charset="0"/>
                <a:cs typeface="Times New Roman" panose="02020603050405020304" pitchFamily="18" charset="0"/>
              </a:endParaRPr>
            </a:p>
          </p:txBody>
        </p:sp>
      </p:grpSp>
    </p:spTree>
    <p:extLst>
      <p:ext uri="{BB962C8B-B14F-4D97-AF65-F5344CB8AC3E}">
        <p14:creationId xmlns:p14="http://schemas.microsoft.com/office/powerpoint/2010/main" val="221962046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Regression Tree</a:t>
              </a:r>
            </a:p>
          </p:txBody>
        </p:sp>
      </p:grpSp>
      <mc:AlternateContent xmlns:mc="http://schemas.openxmlformats.org/markup-compatibility/2006" xmlns:a14="http://schemas.microsoft.com/office/drawing/2010/main">
        <mc:Choice Requires="a14">
          <p:sp>
            <p:nvSpPr>
              <p:cNvPr id="200" name="직사각형 199">
                <a:extLst>
                  <a:ext uri="{FF2B5EF4-FFF2-40B4-BE49-F238E27FC236}">
                    <a16:creationId xmlns:a16="http://schemas.microsoft.com/office/drawing/2014/main" id="{1ACF2BF2-E48B-4341-BB04-F6BAF8F6D564}"/>
                  </a:ext>
                </a:extLst>
              </p:cNvPr>
              <p:cNvSpPr/>
              <p:nvPr/>
            </p:nvSpPr>
            <p:spPr>
              <a:xfrm>
                <a:off x="670746" y="1700808"/>
                <a:ext cx="8673279" cy="6620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The configurational space is split into regions: </a:t>
                </a:r>
                <a14:m>
                  <m:oMath xmlns:m="http://schemas.openxmlformats.org/officeDocument/2006/math">
                    <m:r>
                      <a:rPr lang="en-US" altLang="ko-KR" sz="1300" b="0" i="1" smtClean="0">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t>{</m:t>
                    </m:r>
                    <m:sSub>
                      <m:sSubPr>
                        <m:ctrlPr>
                          <a:rPr lang="en-US" altLang="ko-KR" sz="1300" b="0" i="1" smtClean="0">
                            <a:solidFill>
                              <a:schemeClr val="tx1">
                                <a:lumMod val="85000"/>
                                <a:lumOff val="15000"/>
                              </a:schemeClr>
                            </a:solidFill>
                            <a:latin typeface="Cambria Math" panose="02040503050406030204" pitchFamily="18" charset="0"/>
                            <a:cs typeface="Times New Roman" panose="02020603050405020304" pitchFamily="18" charset="0"/>
                            <a:sym typeface="Symbol"/>
                          </a:rPr>
                        </m:ctrlPr>
                      </m:sSubPr>
                      <m:e>
                        <m:r>
                          <a:rPr lang="en-US" altLang="ko-KR" sz="1300" b="0" i="1" smtClean="0">
                            <a:solidFill>
                              <a:schemeClr val="tx1">
                                <a:lumMod val="85000"/>
                                <a:lumOff val="15000"/>
                              </a:schemeClr>
                            </a:solidFill>
                            <a:latin typeface="Cambria Math" panose="02040503050406030204" pitchFamily="18" charset="0"/>
                            <a:cs typeface="Times New Roman" panose="02020603050405020304" pitchFamily="18" charset="0"/>
                            <a:sym typeface="Symbol"/>
                          </a:rPr>
                          <m:t>𝑅</m:t>
                        </m:r>
                      </m:e>
                      <m:sub>
                        <m:r>
                          <a:rPr lang="en-US" altLang="ko-KR" sz="1300" b="0" i="1" smtClean="0">
                            <a:solidFill>
                              <a:schemeClr val="tx1">
                                <a:lumMod val="85000"/>
                                <a:lumOff val="15000"/>
                              </a:schemeClr>
                            </a:solidFill>
                            <a:latin typeface="Cambria Math" panose="02040503050406030204" pitchFamily="18" charset="0"/>
                            <a:cs typeface="Times New Roman" panose="02020603050405020304" pitchFamily="18" charset="0"/>
                            <a:sym typeface="Symbol"/>
                          </a:rPr>
                          <m:t>1</m:t>
                        </m:r>
                      </m:sub>
                    </m:sSub>
                    <m:r>
                      <a:rPr lang="en-US" altLang="ko-KR" sz="1300" b="0" i="1" smtClean="0">
                        <a:solidFill>
                          <a:schemeClr val="tx1">
                            <a:lumMod val="85000"/>
                            <a:lumOff val="15000"/>
                          </a:schemeClr>
                        </a:solidFill>
                        <a:latin typeface="Cambria Math" panose="02040503050406030204" pitchFamily="18" charset="0"/>
                        <a:cs typeface="Times New Roman" panose="02020603050405020304" pitchFamily="18" charset="0"/>
                        <a:sym typeface="Symbol"/>
                      </a:rPr>
                      <m:t>,</m:t>
                    </m:r>
                    <m:sSub>
                      <m:sSubPr>
                        <m:ctrlPr>
                          <a:rPr lang="en-US" altLang="ko-KR" sz="1300" b="0" i="1" smtClean="0">
                            <a:solidFill>
                              <a:schemeClr val="tx1">
                                <a:lumMod val="85000"/>
                                <a:lumOff val="15000"/>
                              </a:schemeClr>
                            </a:solidFill>
                            <a:latin typeface="Cambria Math" panose="02040503050406030204" pitchFamily="18" charset="0"/>
                            <a:cs typeface="Times New Roman" panose="02020603050405020304" pitchFamily="18" charset="0"/>
                            <a:sym typeface="Symbol"/>
                          </a:rPr>
                        </m:ctrlPr>
                      </m:sSubPr>
                      <m:e>
                        <m:r>
                          <a:rPr lang="en-US" altLang="ko-KR" sz="1300" b="0" i="1" smtClean="0">
                            <a:solidFill>
                              <a:schemeClr val="tx1">
                                <a:lumMod val="85000"/>
                                <a:lumOff val="15000"/>
                              </a:schemeClr>
                            </a:solidFill>
                            <a:latin typeface="Cambria Math" panose="02040503050406030204" pitchFamily="18" charset="0"/>
                            <a:cs typeface="Times New Roman" panose="02020603050405020304" pitchFamily="18" charset="0"/>
                            <a:sym typeface="Symbol"/>
                          </a:rPr>
                          <m:t>𝑅</m:t>
                        </m:r>
                      </m:e>
                      <m:sub>
                        <m:r>
                          <a:rPr lang="en-US" altLang="ko-KR" sz="1300" b="0" i="1" smtClean="0">
                            <a:solidFill>
                              <a:schemeClr val="tx1">
                                <a:lumMod val="85000"/>
                                <a:lumOff val="15000"/>
                              </a:schemeClr>
                            </a:solidFill>
                            <a:latin typeface="Cambria Math" panose="02040503050406030204" pitchFamily="18" charset="0"/>
                            <a:cs typeface="Times New Roman" panose="02020603050405020304" pitchFamily="18" charset="0"/>
                            <a:sym typeface="Symbol"/>
                          </a:rPr>
                          <m:t>2</m:t>
                        </m:r>
                      </m:sub>
                    </m:sSub>
                    <m:r>
                      <a:rPr lang="en-US" altLang="ko-KR" sz="1300" b="0" i="1" smtClean="0">
                        <a:solidFill>
                          <a:schemeClr val="tx1">
                            <a:lumMod val="85000"/>
                            <a:lumOff val="15000"/>
                          </a:schemeClr>
                        </a:solidFill>
                        <a:latin typeface="Cambria Math" panose="02040503050406030204" pitchFamily="18" charset="0"/>
                        <a:cs typeface="Times New Roman" panose="02020603050405020304" pitchFamily="18" charset="0"/>
                        <a:sym typeface="Symbol"/>
                      </a:rPr>
                      <m:t>, …,</m:t>
                    </m:r>
                    <m:sSub>
                      <m:sSubPr>
                        <m:ctrlPr>
                          <a:rPr lang="en-US" altLang="ko-KR" sz="1300" b="0" i="1" smtClean="0">
                            <a:solidFill>
                              <a:schemeClr val="tx1">
                                <a:lumMod val="85000"/>
                                <a:lumOff val="15000"/>
                              </a:schemeClr>
                            </a:solidFill>
                            <a:latin typeface="Cambria Math" panose="02040503050406030204" pitchFamily="18" charset="0"/>
                            <a:cs typeface="Times New Roman" panose="02020603050405020304" pitchFamily="18" charset="0"/>
                            <a:sym typeface="Symbol"/>
                          </a:rPr>
                        </m:ctrlPr>
                      </m:sSubPr>
                      <m:e>
                        <m:r>
                          <a:rPr lang="en-US" altLang="ko-KR" sz="1300" b="0" i="1" smtClean="0">
                            <a:solidFill>
                              <a:schemeClr val="tx1">
                                <a:lumMod val="85000"/>
                                <a:lumOff val="15000"/>
                              </a:schemeClr>
                            </a:solidFill>
                            <a:latin typeface="Cambria Math" panose="02040503050406030204" pitchFamily="18" charset="0"/>
                            <a:cs typeface="Times New Roman" panose="02020603050405020304" pitchFamily="18" charset="0"/>
                            <a:sym typeface="Symbol"/>
                          </a:rPr>
                          <m:t>𝑅</m:t>
                        </m:r>
                      </m:e>
                      <m:sub>
                        <m:r>
                          <a:rPr lang="en-US" altLang="ko-KR" sz="1300" b="0" i="1" smtClean="0">
                            <a:solidFill>
                              <a:schemeClr val="tx1">
                                <a:lumMod val="85000"/>
                                <a:lumOff val="15000"/>
                              </a:schemeClr>
                            </a:solidFill>
                            <a:latin typeface="Cambria Math" panose="02040503050406030204" pitchFamily="18" charset="0"/>
                            <a:cs typeface="Times New Roman" panose="02020603050405020304" pitchFamily="18" charset="0"/>
                            <a:sym typeface="Symbol"/>
                          </a:rPr>
                          <m:t>𝐽</m:t>
                        </m:r>
                      </m:sub>
                    </m:sSub>
                    <m:r>
                      <a:rPr lang="en-US" altLang="ko-KR" sz="1300" b="0" i="1" smtClean="0">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t>}</m:t>
                    </m:r>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The tree structure is trained by minimizing the RSS (residual sum of squares):</a:t>
                </a:r>
              </a:p>
            </p:txBody>
          </p:sp>
        </mc:Choice>
        <mc:Fallback xmlns="">
          <p:sp>
            <p:nvSpPr>
              <p:cNvPr id="200" name="직사각형 199">
                <a:extLst>
                  <a:ext uri="{FF2B5EF4-FFF2-40B4-BE49-F238E27FC236}">
                    <a16:creationId xmlns:a16="http://schemas.microsoft.com/office/drawing/2014/main" xmlns:a14="http://schemas.microsoft.com/office/drawing/2010/main" xmlns="" id="{1ACF2BF2-E48B-4341-BB04-F6BAF8F6D564}"/>
                  </a:ext>
                </a:extLst>
              </p:cNvPr>
              <p:cNvSpPr>
                <a:spLocks noRot="1" noChangeAspect="1" noMove="1" noResize="1" noEditPoints="1" noAdjustHandles="1" noChangeArrowheads="1" noChangeShapeType="1" noTextEdit="1"/>
              </p:cNvSpPr>
              <p:nvPr/>
            </p:nvSpPr>
            <p:spPr>
              <a:xfrm>
                <a:off x="670746" y="1700808"/>
                <a:ext cx="8673279" cy="662086"/>
              </a:xfrm>
              <a:prstGeom prst="rect">
                <a:avLst/>
              </a:prstGeom>
              <a:blipFill rotWithShape="0">
                <a:blip r:embed="rId3"/>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1" name="직사각형 20">
                <a:extLst>
                  <a:ext uri="{FF2B5EF4-FFF2-40B4-BE49-F238E27FC236}">
                    <a16:creationId xmlns:a16="http://schemas.microsoft.com/office/drawing/2014/main" id="{E04D9F5A-3966-44F6-A205-4403EB1E100D}"/>
                  </a:ext>
                </a:extLst>
              </p:cNvPr>
              <p:cNvSpPr/>
              <p:nvPr/>
            </p:nvSpPr>
            <p:spPr>
              <a:xfrm>
                <a:off x="670746" y="3532032"/>
                <a:ext cx="8673279" cy="1230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361950" lvl="1" indent="-180975">
                  <a:spcAft>
                    <a:spcPts val="800"/>
                  </a:spcAft>
                  <a:buClr>
                    <a:srgbClr val="193EB0"/>
                  </a:buClr>
                  <a:buFont typeface="Arial" panose="020B0604020202020204" pitchFamily="34" charset="0"/>
                  <a:buChar char="•"/>
                </a:pPr>
                <a14:m>
                  <m:oMath xmlns:m="http://schemas.openxmlformats.org/officeDocument/2006/math">
                    <m:r>
                      <a:rPr lang="en-US" altLang="ko-KR" sz="1300" dirty="0">
                        <a:solidFill>
                          <a:prstClr val="black">
                            <a:lumMod val="85000"/>
                            <a:lumOff val="15000"/>
                          </a:prstClr>
                        </a:solidFill>
                        <a:latin typeface="Cambria Math" panose="02040503050406030204" pitchFamily="18" charset="0"/>
                      </a:rPr>
                      <m:t>𝐽</m:t>
                    </m:r>
                  </m:oMath>
                </a14:m>
                <a:r>
                  <a:rPr lang="en-US" altLang="ko-KR" sz="1300" dirty="0">
                    <a:solidFill>
                      <a:prstClr val="black">
                        <a:lumMod val="85000"/>
                        <a:lumOff val="15000"/>
                      </a:prstClr>
                    </a:solidFill>
                    <a:latin typeface="SamsungOne 400" panose="020B0503030303020204" pitchFamily="34" charset="0"/>
                  </a:rPr>
                  <a:t> is the total number of leaf nodes.</a:t>
                </a: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The predicted value in the </a:t>
                </a:r>
                <a14:m>
                  <m:oMath xmlns:m="http://schemas.openxmlformats.org/officeDocument/2006/math">
                    <m:r>
                      <a:rPr lang="en-US" altLang="ko-KR" sz="1300" dirty="0">
                        <a:solidFill>
                          <a:prstClr val="black">
                            <a:lumMod val="85000"/>
                            <a:lumOff val="15000"/>
                          </a:prstClr>
                        </a:solidFill>
                        <a:latin typeface="Cambria Math" panose="02040503050406030204" pitchFamily="18" charset="0"/>
                      </a:rPr>
                      <m:t>𝑗</m:t>
                    </m:r>
                  </m:oMath>
                </a14:m>
                <a:r>
                  <a:rPr lang="en-US" altLang="ko-KR" sz="1300" dirty="0">
                    <a:solidFill>
                      <a:prstClr val="black">
                        <a:lumMod val="85000"/>
                        <a:lumOff val="15000"/>
                      </a:prstClr>
                    </a:solidFill>
                    <a:latin typeface="SamsungOne 400" panose="020B0503030303020204" pitchFamily="34" charset="0"/>
                  </a:rPr>
                  <a:t>-th region </a:t>
                </a:r>
                <a14:m>
                  <m:oMath xmlns:m="http://schemas.openxmlformats.org/officeDocument/2006/math">
                    <m:sSub>
                      <m:sSubPr>
                        <m:ctrlPr>
                          <a:rPr lang="en-US" altLang="ko-KR" sz="1300" i="1" smtClean="0">
                            <a:solidFill>
                              <a:srgbClr val="FF0000"/>
                            </a:solidFill>
                            <a:latin typeface="Cambria Math" panose="02040503050406030204" pitchFamily="18" charset="0"/>
                            <a:sym typeface="Symbol" panose="05050102010706020507" pitchFamily="18" charset="2"/>
                          </a:rPr>
                        </m:ctrlPr>
                      </m:sSubPr>
                      <m:e>
                        <m:acc>
                          <m:accPr>
                            <m:chr m:val="̂"/>
                            <m:ctrlPr>
                              <a:rPr lang="en-US" altLang="ko-KR" sz="1300" i="1">
                                <a:solidFill>
                                  <a:srgbClr val="FF0000"/>
                                </a:solidFill>
                                <a:latin typeface="Cambria Math" panose="02040503050406030204" pitchFamily="18" charset="0"/>
                                <a:sym typeface="Symbol" panose="05050102010706020507" pitchFamily="18" charset="2"/>
                              </a:rPr>
                            </m:ctrlPr>
                          </m:accPr>
                          <m:e>
                            <m:r>
                              <a:rPr lang="en-US" altLang="ko-KR" sz="1300">
                                <a:solidFill>
                                  <a:srgbClr val="FF0000"/>
                                </a:solidFill>
                                <a:latin typeface="Cambria Math" panose="02040503050406030204" pitchFamily="18" charset="0"/>
                                <a:sym typeface="Symbol" panose="05050102010706020507" pitchFamily="18" charset="2"/>
                              </a:rPr>
                              <m:t>𝑦</m:t>
                            </m:r>
                          </m:e>
                        </m:acc>
                      </m:e>
                      <m:sub>
                        <m:sSub>
                          <m:sSubPr>
                            <m:ctrlPr>
                              <a:rPr lang="en-US" altLang="ko-KR" sz="1300" i="1">
                                <a:solidFill>
                                  <a:srgbClr val="FF0000"/>
                                </a:solidFill>
                                <a:latin typeface="Cambria Math" panose="02040503050406030204" pitchFamily="18" charset="0"/>
                                <a:sym typeface="Symbol" panose="05050102010706020507" pitchFamily="18" charset="2"/>
                              </a:rPr>
                            </m:ctrlPr>
                          </m:sSubPr>
                          <m:e>
                            <m:r>
                              <a:rPr lang="en-US" altLang="ko-KR" sz="1300">
                                <a:solidFill>
                                  <a:srgbClr val="FF0000"/>
                                </a:solidFill>
                                <a:latin typeface="Cambria Math" panose="02040503050406030204" pitchFamily="18" charset="0"/>
                                <a:sym typeface="Symbol" panose="05050102010706020507" pitchFamily="18" charset="2"/>
                              </a:rPr>
                              <m:t>𝑅</m:t>
                            </m:r>
                          </m:e>
                          <m:sub>
                            <m:r>
                              <a:rPr lang="en-US" altLang="ko-KR" sz="1300">
                                <a:solidFill>
                                  <a:srgbClr val="FF0000"/>
                                </a:solidFill>
                                <a:latin typeface="Cambria Math" panose="02040503050406030204" pitchFamily="18" charset="0"/>
                                <a:sym typeface="Symbol" panose="05050102010706020507" pitchFamily="18" charset="2"/>
                              </a:rPr>
                              <m:t>𝑗</m:t>
                            </m:r>
                          </m:sub>
                        </m:sSub>
                      </m:sub>
                    </m:sSub>
                  </m:oMath>
                </a14:m>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is given by the</a:t>
                </a:r>
                <a:r>
                  <a:rPr lang="ko-KR" altLang="en-US" sz="1300" dirty="0">
                    <a:solidFill>
                      <a:prstClr val="black">
                        <a:lumMod val="85000"/>
                        <a:lumOff val="15000"/>
                      </a:prstClr>
                    </a:solidFill>
                    <a:latin typeface="SamsungOne 400" panose="020B0503030303020204" pitchFamily="34" charset="0"/>
                  </a:rPr>
                  <a:t> </a:t>
                </a:r>
                <a:r>
                  <a:rPr lang="en-US" altLang="ko-KR" sz="1300" dirty="0">
                    <a:solidFill>
                      <a:prstClr val="black">
                        <a:lumMod val="85000"/>
                        <a:lumOff val="15000"/>
                      </a:prstClr>
                    </a:solidFill>
                    <a:latin typeface="SamsungOne 400" panose="020B0503030303020204" pitchFamily="34" charset="0"/>
                  </a:rPr>
                  <a:t>average in that region.</a:t>
                </a: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rPr>
                  <a:t>For the observations belonging to the region </a:t>
                </a:r>
                <a14:m>
                  <m:oMath xmlns:m="http://schemas.openxmlformats.org/officeDocument/2006/math">
                    <m:sSub>
                      <m:sSubPr>
                        <m:ctrlPr>
                          <a:rPr lang="en-US" altLang="ko-KR" sz="1300" i="1">
                            <a:solidFill>
                              <a:prstClr val="black">
                                <a:lumMod val="85000"/>
                                <a:lumOff val="15000"/>
                              </a:prstClr>
                            </a:solidFill>
                            <a:latin typeface="Cambria Math" panose="02040503050406030204" pitchFamily="18" charset="0"/>
                            <a:sym typeface="Symbol" panose="05050102010706020507" pitchFamily="18" charset="2"/>
                          </a:rPr>
                        </m:ctrlPr>
                      </m:sSubPr>
                      <m:e>
                        <m:r>
                          <a:rPr lang="en-US" altLang="ko-KR" sz="1300">
                            <a:solidFill>
                              <a:prstClr val="black">
                                <a:lumMod val="85000"/>
                                <a:lumOff val="15000"/>
                              </a:prstClr>
                            </a:solidFill>
                            <a:latin typeface="Cambria Math" panose="02040503050406030204" pitchFamily="18" charset="0"/>
                            <a:sym typeface="Symbol" panose="05050102010706020507" pitchFamily="18" charset="2"/>
                          </a:rPr>
                          <m:t>𝑅</m:t>
                        </m:r>
                      </m:e>
                      <m:sub>
                        <m:r>
                          <a:rPr lang="en-US" altLang="ko-KR" sz="1300">
                            <a:solidFill>
                              <a:prstClr val="black">
                                <a:lumMod val="85000"/>
                                <a:lumOff val="15000"/>
                              </a:prstClr>
                            </a:solidFill>
                            <a:latin typeface="Cambria Math" panose="02040503050406030204" pitchFamily="18" charset="0"/>
                            <a:sym typeface="Symbol" panose="05050102010706020507" pitchFamily="18" charset="2"/>
                          </a:rPr>
                          <m:t>𝑗</m:t>
                        </m:r>
                      </m:sub>
                    </m:sSub>
                  </m:oMath>
                </a14:m>
                <a:r>
                  <a:rPr lang="en-US" altLang="ko-KR" sz="1300" dirty="0">
                    <a:solidFill>
                      <a:prstClr val="black">
                        <a:lumMod val="85000"/>
                        <a:lumOff val="15000"/>
                      </a:prstClr>
                    </a:solidFill>
                    <a:latin typeface="SamsungOne 400" panose="020B0503030303020204" pitchFamily="34" charset="0"/>
                  </a:rPr>
                  <a:t>, the same predicted response </a:t>
                </a:r>
                <a14:m>
                  <m:oMath xmlns:m="http://schemas.openxmlformats.org/officeDocument/2006/math">
                    <m:sSub>
                      <m:sSubPr>
                        <m:ctrlPr>
                          <a:rPr lang="en-US" altLang="ko-KR" sz="1300" i="1" smtClean="0">
                            <a:solidFill>
                              <a:srgbClr val="FF0000"/>
                            </a:solidFill>
                            <a:latin typeface="Cambria Math" panose="02040503050406030204" pitchFamily="18" charset="0"/>
                            <a:sym typeface="Symbol" panose="05050102010706020507" pitchFamily="18" charset="2"/>
                          </a:rPr>
                        </m:ctrlPr>
                      </m:sSubPr>
                      <m:e>
                        <m:acc>
                          <m:accPr>
                            <m:chr m:val="̂"/>
                            <m:ctrlPr>
                              <a:rPr lang="en-US" altLang="ko-KR" sz="1300" i="1">
                                <a:solidFill>
                                  <a:srgbClr val="FF0000"/>
                                </a:solidFill>
                                <a:latin typeface="Cambria Math" panose="02040503050406030204" pitchFamily="18" charset="0"/>
                                <a:sym typeface="Symbol" panose="05050102010706020507" pitchFamily="18" charset="2"/>
                              </a:rPr>
                            </m:ctrlPr>
                          </m:accPr>
                          <m:e>
                            <m:r>
                              <a:rPr lang="en-US" altLang="ko-KR" sz="1300">
                                <a:solidFill>
                                  <a:srgbClr val="FF0000"/>
                                </a:solidFill>
                                <a:latin typeface="Cambria Math" panose="02040503050406030204" pitchFamily="18" charset="0"/>
                                <a:sym typeface="Symbol" panose="05050102010706020507" pitchFamily="18" charset="2"/>
                              </a:rPr>
                              <m:t>𝑦</m:t>
                            </m:r>
                          </m:e>
                        </m:acc>
                      </m:e>
                      <m:sub>
                        <m:sSub>
                          <m:sSubPr>
                            <m:ctrlPr>
                              <a:rPr lang="en-US" altLang="ko-KR" sz="1300" i="1">
                                <a:solidFill>
                                  <a:srgbClr val="FF0000"/>
                                </a:solidFill>
                                <a:latin typeface="Cambria Math" panose="02040503050406030204" pitchFamily="18" charset="0"/>
                                <a:sym typeface="Symbol" panose="05050102010706020507" pitchFamily="18" charset="2"/>
                              </a:rPr>
                            </m:ctrlPr>
                          </m:sSubPr>
                          <m:e>
                            <m:r>
                              <a:rPr lang="en-US" altLang="ko-KR" sz="1300">
                                <a:solidFill>
                                  <a:srgbClr val="FF0000"/>
                                </a:solidFill>
                                <a:latin typeface="Cambria Math" panose="02040503050406030204" pitchFamily="18" charset="0"/>
                                <a:sym typeface="Symbol" panose="05050102010706020507" pitchFamily="18" charset="2"/>
                              </a:rPr>
                              <m:t>𝑅</m:t>
                            </m:r>
                          </m:e>
                          <m:sub>
                            <m:r>
                              <a:rPr lang="en-US" altLang="ko-KR" sz="1300">
                                <a:solidFill>
                                  <a:srgbClr val="FF0000"/>
                                </a:solidFill>
                                <a:latin typeface="Cambria Math" panose="02040503050406030204" pitchFamily="18" charset="0"/>
                                <a:sym typeface="Symbol" panose="05050102010706020507" pitchFamily="18" charset="2"/>
                              </a:rPr>
                              <m:t>𝑗</m:t>
                            </m:r>
                          </m:sub>
                        </m:sSub>
                      </m:sub>
                    </m:sSub>
                  </m:oMath>
                </a14:m>
                <a:r>
                  <a:rPr lang="en-US" altLang="ko-KR" sz="1300" dirty="0">
                    <a:solidFill>
                      <a:prstClr val="black">
                        <a:lumMod val="85000"/>
                        <a:lumOff val="15000"/>
                      </a:prstClr>
                    </a:solidFill>
                    <a:latin typeface="SamsungOne 400" panose="020B0503030303020204" pitchFamily="34" charset="0"/>
                  </a:rPr>
                  <a:t> is assigned a</a:t>
                </a: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rPr>
                  <a:t>nalogous to the classification Tree.</a:t>
                </a:r>
              </a:p>
            </p:txBody>
          </p:sp>
        </mc:Choice>
        <mc:Fallback xmlns="">
          <p:sp>
            <p:nvSpPr>
              <p:cNvPr id="21" name="직사각형 20">
                <a:extLst>
                  <a:ext uri="{FF2B5EF4-FFF2-40B4-BE49-F238E27FC236}">
                    <a16:creationId xmlns:a16="http://schemas.microsoft.com/office/drawing/2014/main" xmlns="" xmlns:a14="http://schemas.microsoft.com/office/drawing/2010/main" id="{E04D9F5A-3966-44F6-A205-4403EB1E100D}"/>
                  </a:ext>
                </a:extLst>
              </p:cNvPr>
              <p:cNvSpPr>
                <a:spLocks noRot="1" noChangeAspect="1" noMove="1" noResize="1" noEditPoints="1" noAdjustHandles="1" noChangeArrowheads="1" noChangeShapeType="1" noTextEdit="1"/>
              </p:cNvSpPr>
              <p:nvPr/>
            </p:nvSpPr>
            <p:spPr>
              <a:xfrm>
                <a:off x="670746" y="3532032"/>
                <a:ext cx="8673279" cy="1230319"/>
              </a:xfrm>
              <a:prstGeom prst="rect">
                <a:avLst/>
              </a:prstGeom>
              <a:blipFill rotWithShape="0">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3345A8A2-F6EE-4BDC-9392-6EE3866C09DE}"/>
                  </a:ext>
                </a:extLst>
              </p:cNvPr>
              <p:cNvSpPr/>
              <p:nvPr/>
            </p:nvSpPr>
            <p:spPr>
              <a:xfrm>
                <a:off x="3644053" y="2381800"/>
                <a:ext cx="2614718" cy="94416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defTabSz="914400" latinLnBrk="1">
                  <a:spcAft>
                    <a:spcPts val="800"/>
                  </a:spcAft>
                  <a:buClr>
                    <a:srgbClr val="193EB0"/>
                  </a:buClr>
                </a:pPr>
                <a14:m>
                  <m:oMathPara xmlns:m="http://schemas.openxmlformats.org/officeDocument/2006/math">
                    <m:oMathParaPr>
                      <m:jc m:val="center"/>
                    </m:oMathParaPr>
                    <m:oMath xmlns:m="http://schemas.openxmlformats.org/officeDocument/2006/math">
                      <m:r>
                        <a:rPr lang="en-US" altLang="ko-KR" sz="1600">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t>𝑅𝑆𝑆</m:t>
                      </m:r>
                      <m:r>
                        <a:rPr lang="en-US" altLang="ko-KR" sz="1600">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t>=</m:t>
                      </m:r>
                      <m:nary>
                        <m:naryPr>
                          <m:chr m:val="∑"/>
                          <m:ctrlPr>
                            <a:rPr lang="en-US" altLang="ko-KR" sz="1600" i="1">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ctrlPr>
                        </m:naryPr>
                        <m:sub>
                          <m:r>
                            <m:rPr>
                              <m:brk m:alnAt="23"/>
                            </m:rPr>
                            <a:rPr lang="en-US" altLang="ko-KR" sz="1600">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t>𝑗</m:t>
                          </m:r>
                          <m:r>
                            <a:rPr lang="en-US" altLang="ko-KR" sz="1600">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t>=1</m:t>
                          </m:r>
                        </m:sub>
                        <m:sup>
                          <m:r>
                            <a:rPr lang="en-US" altLang="ko-KR" sz="1600">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t>𝐽</m:t>
                          </m:r>
                        </m:sup>
                        <m:e>
                          <m:nary>
                            <m:naryPr>
                              <m:chr m:val="∑"/>
                              <m:supHide m:val="on"/>
                              <m:ctrlPr>
                                <a:rPr lang="en-US" altLang="ko-KR" sz="1600" i="1">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ctrlPr>
                            </m:naryPr>
                            <m:sub>
                              <m:r>
                                <m:rPr>
                                  <m:brk m:alnAt="7"/>
                                </m:rPr>
                                <a:rPr lang="en-US" altLang="ko-KR" sz="1600">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t>𝑖</m:t>
                              </m:r>
                              <m:r>
                                <a:rPr lang="en-US" altLang="ko-KR" sz="1600">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t>∈</m:t>
                              </m:r>
                              <m:sSub>
                                <m:sSubPr>
                                  <m:ctrlPr>
                                    <a:rPr lang="en-US" altLang="ko-KR" sz="1600" i="1">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ctrlPr>
                                </m:sSubPr>
                                <m:e>
                                  <m:r>
                                    <a:rPr lang="en-US" altLang="ko-KR" sz="1600">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t>𝑅</m:t>
                                  </m:r>
                                </m:e>
                                <m:sub>
                                  <m:r>
                                    <a:rPr lang="en-US" altLang="ko-KR" sz="1600">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t>𝑗</m:t>
                                  </m:r>
                                </m:sub>
                              </m:sSub>
                            </m:sub>
                            <m:sup/>
                            <m:e>
                              <m:sSup>
                                <m:sSupPr>
                                  <m:ctrlPr>
                                    <a:rPr lang="en-US" altLang="ko-KR" sz="1600" i="1">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ctrlPr>
                                </m:sSupPr>
                                <m:e>
                                  <m:d>
                                    <m:dPr>
                                      <m:ctrlPr>
                                        <a:rPr lang="en-US" altLang="ko-KR" sz="1600" i="1">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ctrlPr>
                                    </m:dPr>
                                    <m:e>
                                      <m:sSub>
                                        <m:sSubPr>
                                          <m:ctrlPr>
                                            <a:rPr lang="en-US" altLang="ko-KR" sz="1600" i="1">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ctrlPr>
                                        </m:sSubPr>
                                        <m:e>
                                          <m:r>
                                            <a:rPr lang="en-US" altLang="ko-KR" sz="1600">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t>𝑦</m:t>
                                          </m:r>
                                        </m:e>
                                        <m:sub>
                                          <m:r>
                                            <a:rPr lang="en-US" altLang="ko-KR" sz="1600">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t>𝑖</m:t>
                                          </m:r>
                                        </m:sub>
                                      </m:sSub>
                                      <m:r>
                                        <a:rPr lang="en-US" altLang="ko-KR" sz="1600">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t>−</m:t>
                                      </m:r>
                                      <m:sSub>
                                        <m:sSubPr>
                                          <m:ctrlPr>
                                            <a:rPr lang="en-US" altLang="ko-KR" sz="1600" i="1">
                                              <a:solidFill>
                                                <a:srgbClr val="FF0000"/>
                                              </a:solidFill>
                                              <a:latin typeface="Cambria Math" panose="02040503050406030204" pitchFamily="18" charset="0"/>
                                              <a:ea typeface="SamsungOne 400" panose="020B0503030303020204" pitchFamily="34" charset="0"/>
                                              <a:sym typeface="Symbol" panose="05050102010706020507" pitchFamily="18" charset="2"/>
                                            </a:rPr>
                                          </m:ctrlPr>
                                        </m:sSubPr>
                                        <m:e>
                                          <m:acc>
                                            <m:accPr>
                                              <m:chr m:val="̂"/>
                                              <m:ctrlPr>
                                                <a:rPr lang="en-US" altLang="ko-KR" sz="1600" i="1">
                                                  <a:solidFill>
                                                    <a:srgbClr val="FF0000"/>
                                                  </a:solidFill>
                                                  <a:latin typeface="Cambria Math" panose="02040503050406030204" pitchFamily="18" charset="0"/>
                                                  <a:ea typeface="SamsungOne 400" panose="020B0503030303020204" pitchFamily="34" charset="0"/>
                                                  <a:sym typeface="Symbol" panose="05050102010706020507" pitchFamily="18" charset="2"/>
                                                </a:rPr>
                                              </m:ctrlPr>
                                            </m:accPr>
                                            <m:e>
                                              <m:r>
                                                <a:rPr lang="en-US" altLang="ko-KR" sz="1600">
                                                  <a:solidFill>
                                                    <a:srgbClr val="FF0000"/>
                                                  </a:solidFill>
                                                  <a:latin typeface="Cambria Math" panose="02040503050406030204" pitchFamily="18" charset="0"/>
                                                  <a:ea typeface="SamsungOne 400" panose="020B0503030303020204" pitchFamily="34" charset="0"/>
                                                  <a:sym typeface="Symbol" panose="05050102010706020507" pitchFamily="18" charset="2"/>
                                                </a:rPr>
                                                <m:t>𝑦</m:t>
                                              </m:r>
                                            </m:e>
                                          </m:acc>
                                        </m:e>
                                        <m:sub>
                                          <m:sSub>
                                            <m:sSubPr>
                                              <m:ctrlPr>
                                                <a:rPr lang="en-US" altLang="ko-KR" sz="1600" i="1">
                                                  <a:solidFill>
                                                    <a:srgbClr val="FF0000"/>
                                                  </a:solidFill>
                                                  <a:latin typeface="Cambria Math" panose="02040503050406030204" pitchFamily="18" charset="0"/>
                                                  <a:ea typeface="SamsungOne 400" panose="020B0503030303020204" pitchFamily="34" charset="0"/>
                                                  <a:sym typeface="Symbol" panose="05050102010706020507" pitchFamily="18" charset="2"/>
                                                </a:rPr>
                                              </m:ctrlPr>
                                            </m:sSubPr>
                                            <m:e>
                                              <m:r>
                                                <a:rPr lang="en-US" altLang="ko-KR" sz="1600">
                                                  <a:solidFill>
                                                    <a:srgbClr val="FF0000"/>
                                                  </a:solidFill>
                                                  <a:latin typeface="Cambria Math" panose="02040503050406030204" pitchFamily="18" charset="0"/>
                                                  <a:ea typeface="SamsungOne 400" panose="020B0503030303020204" pitchFamily="34" charset="0"/>
                                                  <a:sym typeface="Symbol" panose="05050102010706020507" pitchFamily="18" charset="2"/>
                                                </a:rPr>
                                                <m:t>𝑅</m:t>
                                              </m:r>
                                            </m:e>
                                            <m:sub>
                                              <m:r>
                                                <a:rPr lang="en-US" altLang="ko-KR" sz="1600">
                                                  <a:solidFill>
                                                    <a:srgbClr val="FF0000"/>
                                                  </a:solidFill>
                                                  <a:latin typeface="Cambria Math" panose="02040503050406030204" pitchFamily="18" charset="0"/>
                                                  <a:ea typeface="SamsungOne 400" panose="020B0503030303020204" pitchFamily="34" charset="0"/>
                                                  <a:sym typeface="Symbol" panose="05050102010706020507" pitchFamily="18" charset="2"/>
                                                </a:rPr>
                                                <m:t>𝑗</m:t>
                                              </m:r>
                                            </m:sub>
                                          </m:sSub>
                                        </m:sub>
                                      </m:sSub>
                                    </m:e>
                                  </m:d>
                                </m:e>
                                <m:sup>
                                  <m:r>
                                    <a:rPr lang="en-US" altLang="ko-KR" sz="1600">
                                      <a:solidFill>
                                        <a:schemeClr val="tx1">
                                          <a:lumMod val="85000"/>
                                          <a:lumOff val="15000"/>
                                        </a:schemeClr>
                                      </a:solidFill>
                                      <a:latin typeface="Cambria Math" panose="02040503050406030204" pitchFamily="18" charset="0"/>
                                      <a:ea typeface="SamsungOne 400" panose="020B0503030303020204" pitchFamily="34" charset="0"/>
                                      <a:sym typeface="Symbol" panose="05050102010706020507" pitchFamily="18" charset="2"/>
                                    </a:rPr>
                                    <m:t>2</m:t>
                                  </m:r>
                                </m:sup>
                              </m:sSup>
                            </m:e>
                          </m:nary>
                        </m:e>
                      </m:nary>
                    </m:oMath>
                  </m:oMathPara>
                </a14:m>
                <a:endParaRPr lang="en-US" altLang="ko-KR" sz="1600" dirty="0">
                  <a:solidFill>
                    <a:schemeClr val="tx1">
                      <a:lumMod val="85000"/>
                      <a:lumOff val="15000"/>
                    </a:schemeClr>
                  </a:solidFill>
                  <a:latin typeface="SamsungOne 400" panose="020B0503030303020204" pitchFamily="34" charset="0"/>
                  <a:ea typeface="SamsungOne 400" panose="020B0503030303020204" pitchFamily="34" charset="0"/>
                </a:endParaRPr>
              </a:p>
            </p:txBody>
          </p:sp>
        </mc:Choice>
        <mc:Fallback xmlns="">
          <p:sp>
            <p:nvSpPr>
              <p:cNvPr id="13" name="Rectangle 12">
                <a:extLst>
                  <a:ext uri="{FF2B5EF4-FFF2-40B4-BE49-F238E27FC236}">
                    <a16:creationId xmlns:a16="http://schemas.microsoft.com/office/drawing/2014/main" id="{3345A8A2-F6EE-4BDC-9392-6EE3866C09DE}"/>
                  </a:ext>
                </a:extLst>
              </p:cNvPr>
              <p:cNvSpPr>
                <a:spLocks noRot="1" noChangeAspect="1" noMove="1" noResize="1" noEditPoints="1" noAdjustHandles="1" noChangeArrowheads="1" noChangeShapeType="1" noTextEdit="1"/>
              </p:cNvSpPr>
              <p:nvPr/>
            </p:nvSpPr>
            <p:spPr>
              <a:xfrm>
                <a:off x="3644053" y="2381800"/>
                <a:ext cx="2614718" cy="944169"/>
              </a:xfrm>
              <a:prstGeom prst="rect">
                <a:avLst/>
              </a:prstGeom>
              <a:blipFill>
                <a:blip r:embed="rId5"/>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386385979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 </a:t>
              </a:r>
              <a:r>
                <a:rPr lang="en-US" altLang="ko-KR" sz="1400" dirty="0" err="1">
                  <a:solidFill>
                    <a:schemeClr val="tx1"/>
                  </a:solidFill>
                  <a:latin typeface="SamsungOne 400" panose="020B0503030303020204" pitchFamily="34" charset="0"/>
                  <a:ea typeface="SamsungOne 400" panose="020B0503030303020204" pitchFamily="34" charset="0"/>
                </a:rPr>
                <a:t>DecisionTreeClassifier</a:t>
              </a:r>
              <a:r>
                <a:rPr lang="en-US" altLang="ko-KR" sz="1400" dirty="0">
                  <a:solidFill>
                    <a:schemeClr val="tx1"/>
                  </a:solidFill>
                  <a:latin typeface="SamsungOne 400" panose="020B0503030303020204" pitchFamily="34" charset="0"/>
                  <a:ea typeface="SamsungOne 400" panose="020B0503030303020204" pitchFamily="34" charset="0"/>
                </a:rPr>
                <a:t>/Regressor Hyperparameters:</a:t>
              </a:r>
            </a:p>
          </p:txBody>
        </p:sp>
      </p:grpSp>
      <p:sp>
        <p:nvSpPr>
          <p:cNvPr id="200" name="직사각형 199">
            <a:extLst>
              <a:ext uri="{FF2B5EF4-FFF2-40B4-BE49-F238E27FC236}">
                <a16:creationId xmlns:a16="http://schemas.microsoft.com/office/drawing/2014/main" id="{1ACF2BF2-E48B-4341-BB04-F6BAF8F6D564}"/>
              </a:ext>
            </a:extLst>
          </p:cNvPr>
          <p:cNvSpPr/>
          <p:nvPr/>
        </p:nvSpPr>
        <p:spPr>
          <a:xfrm>
            <a:off x="670746" y="3964050"/>
            <a:ext cx="8673279" cy="1048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Need to be tuned for optimized performance.</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More information can be found at:</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br>
            <a: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Classifier: </a:t>
            </a:r>
            <a: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hlinkClick r:id="rId3"/>
              </a:rPr>
              <a:t>https://scikit-learn.org/stable/modules/generated/sklearn.tree.DecisionTreeClassifier.html</a:t>
            </a:r>
            <a: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a:t>
            </a:r>
            <a:b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br>
            <a:r>
              <a:rPr lang="pt-B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Regressor: </a:t>
            </a:r>
            <a:r>
              <a:rPr lang="pt-B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hlinkClick r:id="rId4"/>
              </a:rPr>
              <a:t>https://scikit-learn.org/stable/modules/generated/sklearn.tree.DecisionTreeRegressor.html</a:t>
            </a:r>
            <a:r>
              <a:rPr lang="pt-B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endParaRPr>
          </a:p>
        </p:txBody>
      </p:sp>
      <p:graphicFrame>
        <p:nvGraphicFramePr>
          <p:cNvPr id="12" name="표 11">
            <a:extLst>
              <a:ext uri="{FF2B5EF4-FFF2-40B4-BE49-F238E27FC236}">
                <a16:creationId xmlns:a16="http://schemas.microsoft.com/office/drawing/2014/main" id="{1F1505EE-F2FD-4887-B0A8-266D17803831}"/>
              </a:ext>
            </a:extLst>
          </p:cNvPr>
          <p:cNvGraphicFramePr>
            <a:graphicFrameLocks noGrp="1"/>
          </p:cNvGraphicFramePr>
          <p:nvPr>
            <p:extLst>
              <p:ext uri="{D42A27DB-BD31-4B8C-83A1-F6EECF244321}">
                <p14:modId xmlns:p14="http://schemas.microsoft.com/office/powerpoint/2010/main" val="2338128771"/>
              </p:ext>
            </p:extLst>
          </p:nvPr>
        </p:nvGraphicFramePr>
        <p:xfrm>
          <a:off x="670746" y="1773238"/>
          <a:ext cx="8673279" cy="2030405"/>
        </p:xfrm>
        <a:graphic>
          <a:graphicData uri="http://schemas.openxmlformats.org/drawingml/2006/table">
            <a:tbl>
              <a:tblPr firstRow="1" bandRow="1">
                <a:tableStyleId>{5940675A-B579-460E-94D1-54222C63F5DA}</a:tableStyleId>
              </a:tblPr>
              <a:tblGrid>
                <a:gridCol w="2340732">
                  <a:extLst>
                    <a:ext uri="{9D8B030D-6E8A-4147-A177-3AD203B41FA5}">
                      <a16:colId xmlns:a16="http://schemas.microsoft.com/office/drawing/2014/main" val="4023989761"/>
                    </a:ext>
                  </a:extLst>
                </a:gridCol>
                <a:gridCol w="6332547">
                  <a:extLst>
                    <a:ext uri="{9D8B030D-6E8A-4147-A177-3AD203B41FA5}">
                      <a16:colId xmlns:a16="http://schemas.microsoft.com/office/drawing/2014/main" val="1127139662"/>
                    </a:ext>
                  </a:extLst>
                </a:gridCol>
              </a:tblGrid>
              <a:tr h="227781">
                <a:tc>
                  <a:txBody>
                    <a:bodyPr/>
                    <a:lstStyle/>
                    <a:p>
                      <a:pPr marL="0" algn="ctr" defTabSz="914400" rtl="0" eaLnBrk="1" latinLnBrk="1" hangingPunct="1"/>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Hyperparameter</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12700" cmpd="sng">
                      <a:noFill/>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latinLnBrk="1" hangingPunct="1"/>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Explanation</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7729922"/>
                  </a:ext>
                </a:extLst>
              </a:tr>
              <a:tr h="34512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max_depth</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maximum depth of a tree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7462398"/>
                  </a:ext>
                </a:extLst>
              </a:tr>
              <a:tr h="345121">
                <a:tc>
                  <a:txBody>
                    <a:bodyPr/>
                    <a:lstStyle/>
                    <a:p>
                      <a:pPr marL="0" algn="ctr" defTabSz="914400" rtl="0" eaLnBrk="1" latinLnBrk="1" hangingPunct="1"/>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min_samples_leaf</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minimum number of sample points required to be at a leaf node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8278547"/>
                  </a:ext>
                </a:extLst>
              </a:tr>
              <a:tr h="345121">
                <a:tc>
                  <a:txBody>
                    <a:bodyPr/>
                    <a:lstStyle/>
                    <a:p>
                      <a:pPr marL="0" algn="ctr" defTabSz="914400" rtl="0" eaLnBrk="1" latinLnBrk="1" hangingPunct="1"/>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min_samples_split</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minimum number of sample points required to split an internal node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55441991"/>
                  </a:ext>
                </a:extLst>
              </a:tr>
              <a:tr h="34512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max_features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number of features to consider when looking for the best split</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89448"/>
                  </a:ext>
                </a:extLst>
              </a:tr>
              <a:tr h="345121">
                <a:tc>
                  <a:txBody>
                    <a:bodyPr/>
                    <a:lstStyle/>
                    <a:p>
                      <a:pPr marL="0" algn="ctr" defTabSz="914400" rtl="0" eaLnBrk="1" latinLnBrk="1" hangingPunct="1"/>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max_leaf_nodes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maximum number of leaf nodes in the tree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0161544"/>
                  </a:ext>
                </a:extLst>
              </a:tr>
            </a:tbl>
          </a:graphicData>
        </a:graphic>
      </p:graphicFrame>
    </p:spTree>
    <p:extLst>
      <p:ext uri="{BB962C8B-B14F-4D97-AF65-F5344CB8AC3E}">
        <p14:creationId xmlns:p14="http://schemas.microsoft.com/office/powerpoint/2010/main" val="213730069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Decision Tree</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sp>
        <p:nvSpPr>
          <p:cNvPr id="200" name="직사각형 199">
            <a:extLst>
              <a:ext uri="{FF2B5EF4-FFF2-40B4-BE49-F238E27FC236}">
                <a16:creationId xmlns:a16="http://schemas.microsoft.com/office/drawing/2014/main" id="{1ACF2BF2-E48B-4341-BB04-F6BAF8F6D564}"/>
              </a:ext>
            </a:extLst>
          </p:cNvPr>
          <p:cNvSpPr/>
          <p:nvPr/>
        </p:nvSpPr>
        <p:spPr>
          <a:xfrm>
            <a:off x="595809" y="1679380"/>
            <a:ext cx="8673279" cy="22536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Decision tree refers to a modeling technique as the shape of a tree branching out from root to leaf nodes. It depends on reference values of independent variables (explanatory or input variables) that affect the classification or prediction of objective variables.</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In the decision tree, each node is split in the form of if-then depending on explanatory variables’ characteristics or reference values. When following the tree structure, it is possible to easily understand how the attribute value of data is classified into the category.</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The figure provided below is a typical form of the decision tree. From the example, ‘age’ is the root. It can be inferred that ‘age’ is the most significant variable when deciding the loan approval.</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The squared shape node at the end of each branch is the leaf node.</a:t>
            </a:r>
          </a:p>
        </p:txBody>
      </p:sp>
      <p:grpSp>
        <p:nvGrpSpPr>
          <p:cNvPr id="50" name="그룹 49">
            <a:extLst>
              <a:ext uri="{FF2B5EF4-FFF2-40B4-BE49-F238E27FC236}">
                <a16:creationId xmlns:a16="http://schemas.microsoft.com/office/drawing/2014/main" id="{0729B661-83D8-467F-B8D1-3CC58F7A7FF8}"/>
              </a:ext>
            </a:extLst>
          </p:cNvPr>
          <p:cNvGrpSpPr/>
          <p:nvPr/>
        </p:nvGrpSpPr>
        <p:grpSpPr>
          <a:xfrm>
            <a:off x="4855743" y="3645024"/>
            <a:ext cx="4487266" cy="2554704"/>
            <a:chOff x="3055914" y="3711952"/>
            <a:chExt cx="3713198" cy="2554704"/>
          </a:xfrm>
        </p:grpSpPr>
        <p:sp>
          <p:nvSpPr>
            <p:cNvPr id="14" name="TextBox 13">
              <a:extLst>
                <a:ext uri="{FF2B5EF4-FFF2-40B4-BE49-F238E27FC236}">
                  <a16:creationId xmlns:a16="http://schemas.microsoft.com/office/drawing/2014/main" id="{10430993-A309-4826-84DF-E910ECEEDBD7}"/>
                </a:ext>
              </a:extLst>
            </p:cNvPr>
            <p:cNvSpPr txBox="1"/>
            <p:nvPr/>
          </p:nvSpPr>
          <p:spPr>
            <a:xfrm>
              <a:off x="4196476" y="4285145"/>
              <a:ext cx="354263" cy="169277"/>
            </a:xfrm>
            <a:prstGeom prst="rect">
              <a:avLst/>
            </a:prstGeom>
            <a:noFill/>
          </p:spPr>
          <p:txBody>
            <a:bodyPr wrap="none" lIns="0" tIns="0" rIns="0" bIns="0" rtlCol="0">
              <a:spAutoFit/>
            </a:bodyPr>
            <a:lstStyle/>
            <a:p>
              <a:pPr algn="ctr"/>
              <a:r>
                <a:rPr lang="en-US" altLang="ko-KR" sz="1100" b="1" dirty="0">
                  <a:latin typeface="SamsungOne 400" panose="020B0503030303020204" pitchFamily="34" charset="0"/>
                </a:rPr>
                <a:t>&lt; = 35</a:t>
              </a:r>
              <a:endParaRPr lang="ko-KR" altLang="en-US" sz="1100" b="1" dirty="0">
                <a:latin typeface="SamsungOne 400" panose="020B0503030303020204" pitchFamily="34" charset="0"/>
              </a:endParaRPr>
            </a:p>
          </p:txBody>
        </p:sp>
        <p:cxnSp>
          <p:nvCxnSpPr>
            <p:cNvPr id="4" name="직선 연결선 3">
              <a:extLst>
                <a:ext uri="{FF2B5EF4-FFF2-40B4-BE49-F238E27FC236}">
                  <a16:creationId xmlns:a16="http://schemas.microsoft.com/office/drawing/2014/main" id="{036E62BB-8B52-4A02-A447-AD1F62D76463}"/>
                </a:ext>
              </a:extLst>
            </p:cNvPr>
            <p:cNvCxnSpPr>
              <a:stCxn id="2" idx="3"/>
              <a:endCxn id="15" idx="0"/>
            </p:cNvCxnSpPr>
            <p:nvPr/>
          </p:nvCxnSpPr>
          <p:spPr>
            <a:xfrm flipH="1">
              <a:off x="4292600" y="4265116"/>
              <a:ext cx="429684" cy="378004"/>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 name="직선 연결선 5">
              <a:extLst>
                <a:ext uri="{FF2B5EF4-FFF2-40B4-BE49-F238E27FC236}">
                  <a16:creationId xmlns:a16="http://schemas.microsoft.com/office/drawing/2014/main" id="{8939253D-DE5A-4259-9469-56D9F766CC88}"/>
                </a:ext>
              </a:extLst>
            </p:cNvPr>
            <p:cNvCxnSpPr>
              <a:stCxn id="2" idx="5"/>
              <a:endCxn id="16" idx="1"/>
            </p:cNvCxnSpPr>
            <p:nvPr/>
          </p:nvCxnSpPr>
          <p:spPr>
            <a:xfrm>
              <a:off x="5180540" y="4265116"/>
              <a:ext cx="318612" cy="43761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 name="직선 연결선 7">
              <a:extLst>
                <a:ext uri="{FF2B5EF4-FFF2-40B4-BE49-F238E27FC236}">
                  <a16:creationId xmlns:a16="http://schemas.microsoft.com/office/drawing/2014/main" id="{95072EED-4FC7-4940-8F7D-3E39CB981510}"/>
                </a:ext>
              </a:extLst>
            </p:cNvPr>
            <p:cNvCxnSpPr>
              <a:cxnSpLocks/>
              <a:endCxn id="18" idx="0"/>
            </p:cNvCxnSpPr>
            <p:nvPr/>
          </p:nvCxnSpPr>
          <p:spPr>
            <a:xfrm flipH="1">
              <a:off x="3673270" y="5059680"/>
              <a:ext cx="319610" cy="3971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 name="직선 연결선 10">
              <a:extLst>
                <a:ext uri="{FF2B5EF4-FFF2-40B4-BE49-F238E27FC236}">
                  <a16:creationId xmlns:a16="http://schemas.microsoft.com/office/drawing/2014/main" id="{495661E2-3E7A-4699-AE28-8BA8D7514D3C}"/>
                </a:ext>
              </a:extLst>
            </p:cNvPr>
            <p:cNvCxnSpPr>
              <a:cxnSpLocks/>
              <a:stCxn id="19" idx="0"/>
            </p:cNvCxnSpPr>
            <p:nvPr/>
          </p:nvCxnSpPr>
          <p:spPr>
            <a:xfrm flipH="1" flipV="1">
              <a:off x="4341495" y="5067300"/>
              <a:ext cx="251255" cy="38957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직선 연결선 27">
              <a:extLst>
                <a:ext uri="{FF2B5EF4-FFF2-40B4-BE49-F238E27FC236}">
                  <a16:creationId xmlns:a16="http://schemas.microsoft.com/office/drawing/2014/main" id="{D3E7FFAD-1983-42C6-BDB0-B33FEAE70344}"/>
                </a:ext>
              </a:extLst>
            </p:cNvPr>
            <p:cNvCxnSpPr>
              <a:stCxn id="17" idx="0"/>
            </p:cNvCxnSpPr>
            <p:nvPr/>
          </p:nvCxnSpPr>
          <p:spPr>
            <a:xfrm flipV="1">
              <a:off x="5455468" y="5095240"/>
              <a:ext cx="198572" cy="33687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직선 연결선 35">
              <a:extLst>
                <a:ext uri="{FF2B5EF4-FFF2-40B4-BE49-F238E27FC236}">
                  <a16:creationId xmlns:a16="http://schemas.microsoft.com/office/drawing/2014/main" id="{29FD3F18-1CE6-4A8F-9233-DD955AAB79F8}"/>
                </a:ext>
              </a:extLst>
            </p:cNvPr>
            <p:cNvCxnSpPr>
              <a:cxnSpLocks/>
            </p:cNvCxnSpPr>
            <p:nvPr/>
          </p:nvCxnSpPr>
          <p:spPr>
            <a:xfrm flipH="1" flipV="1">
              <a:off x="5979160" y="5059680"/>
              <a:ext cx="325120" cy="3937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9" name="직선 연결선 38">
              <a:extLst>
                <a:ext uri="{FF2B5EF4-FFF2-40B4-BE49-F238E27FC236}">
                  <a16:creationId xmlns:a16="http://schemas.microsoft.com/office/drawing/2014/main" id="{0F4992E7-9C85-4F9B-8894-40942E295FC9}"/>
                </a:ext>
              </a:extLst>
            </p:cNvPr>
            <p:cNvCxnSpPr>
              <a:stCxn id="22" idx="0"/>
              <a:endCxn id="17" idx="3"/>
            </p:cNvCxnSpPr>
            <p:nvPr/>
          </p:nvCxnSpPr>
          <p:spPr>
            <a:xfrm flipV="1">
              <a:off x="5095669" y="5719337"/>
              <a:ext cx="114353" cy="270935"/>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1" name="직선 연결선 40">
              <a:extLst>
                <a:ext uri="{FF2B5EF4-FFF2-40B4-BE49-F238E27FC236}">
                  <a16:creationId xmlns:a16="http://schemas.microsoft.com/office/drawing/2014/main" id="{716C949F-F2D8-4400-9CAD-E4266AE213C6}"/>
                </a:ext>
              </a:extLst>
            </p:cNvPr>
            <p:cNvCxnSpPr>
              <a:stCxn id="17" idx="5"/>
              <a:endCxn id="26" idx="0"/>
            </p:cNvCxnSpPr>
            <p:nvPr/>
          </p:nvCxnSpPr>
          <p:spPr>
            <a:xfrm>
              <a:off x="5700914" y="5719337"/>
              <a:ext cx="282973" cy="270935"/>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0455C849-8924-4166-AD06-90043C950287}"/>
                </a:ext>
              </a:extLst>
            </p:cNvPr>
            <p:cNvSpPr txBox="1"/>
            <p:nvPr/>
          </p:nvSpPr>
          <p:spPr>
            <a:xfrm>
              <a:off x="5471342" y="4285145"/>
              <a:ext cx="211596" cy="169277"/>
            </a:xfrm>
            <a:prstGeom prst="rect">
              <a:avLst/>
            </a:prstGeom>
            <a:noFill/>
          </p:spPr>
          <p:txBody>
            <a:bodyPr wrap="none" lIns="0" tIns="0" rIns="0" bIns="0" rtlCol="0">
              <a:spAutoFit/>
            </a:bodyPr>
            <a:lstStyle/>
            <a:p>
              <a:pPr algn="ctr"/>
              <a:r>
                <a:rPr lang="en-US" altLang="ko-KR" sz="1100" b="1" dirty="0">
                  <a:latin typeface="SamsungOne 400" panose="020B0503030303020204" pitchFamily="34" charset="0"/>
                </a:rPr>
                <a:t>&gt;35</a:t>
              </a:r>
              <a:endParaRPr lang="ko-KR" altLang="en-US" sz="1100" b="1" dirty="0">
                <a:latin typeface="SamsungOne 400" panose="020B0503030303020204" pitchFamily="34" charset="0"/>
              </a:endParaRPr>
            </a:p>
          </p:txBody>
        </p:sp>
        <p:sp>
          <p:nvSpPr>
            <p:cNvPr id="44" name="TextBox 43">
              <a:extLst>
                <a:ext uri="{FF2B5EF4-FFF2-40B4-BE49-F238E27FC236}">
                  <a16:creationId xmlns:a16="http://schemas.microsoft.com/office/drawing/2014/main" id="{76A42F02-D755-453A-A68F-F8944FAD8CAE}"/>
                </a:ext>
              </a:extLst>
            </p:cNvPr>
            <p:cNvSpPr txBox="1"/>
            <p:nvPr/>
          </p:nvSpPr>
          <p:spPr>
            <a:xfrm>
              <a:off x="3055914" y="5162176"/>
              <a:ext cx="1133323" cy="169277"/>
            </a:xfrm>
            <a:prstGeom prst="rect">
              <a:avLst/>
            </a:prstGeom>
            <a:noFill/>
          </p:spPr>
          <p:txBody>
            <a:bodyPr wrap="none" lIns="0" tIns="0" rIns="0" bIns="0" rtlCol="0">
              <a:spAutoFit/>
            </a:bodyPr>
            <a:lstStyle/>
            <a:p>
              <a:pPr algn="ctr"/>
              <a:r>
                <a:rPr lang="en-US" altLang="ko-KR" sz="1100" b="1" dirty="0">
                  <a:latin typeface="SamsungOne 400" panose="020B0503030303020204" pitchFamily="34" charset="0"/>
                </a:rPr>
                <a:t>&lt; = 2,000,000 KRW</a:t>
              </a:r>
              <a:endParaRPr lang="ko-KR" altLang="en-US" sz="1100" b="1" dirty="0">
                <a:latin typeface="SamsungOne 400" panose="020B0503030303020204" pitchFamily="34" charset="0"/>
              </a:endParaRPr>
            </a:p>
          </p:txBody>
        </p:sp>
        <p:sp>
          <p:nvSpPr>
            <p:cNvPr id="45" name="TextBox 44">
              <a:extLst>
                <a:ext uri="{FF2B5EF4-FFF2-40B4-BE49-F238E27FC236}">
                  <a16:creationId xmlns:a16="http://schemas.microsoft.com/office/drawing/2014/main" id="{39502BCA-2675-4E14-A0E0-2B4746922AF0}"/>
                </a:ext>
              </a:extLst>
            </p:cNvPr>
            <p:cNvSpPr txBox="1"/>
            <p:nvPr/>
          </p:nvSpPr>
          <p:spPr>
            <a:xfrm>
              <a:off x="4073249" y="5162176"/>
              <a:ext cx="1030730" cy="169277"/>
            </a:xfrm>
            <a:prstGeom prst="rect">
              <a:avLst/>
            </a:prstGeom>
            <a:noFill/>
          </p:spPr>
          <p:txBody>
            <a:bodyPr wrap="none" lIns="0" tIns="0" rIns="0" bIns="0" rtlCol="0">
              <a:spAutoFit/>
            </a:bodyPr>
            <a:lstStyle/>
            <a:p>
              <a:pPr algn="ctr"/>
              <a:r>
                <a:rPr lang="en-US" altLang="ko-KR" sz="1100" b="1" dirty="0">
                  <a:latin typeface="SamsungOne 400" panose="020B0503030303020204" pitchFamily="34" charset="0"/>
                </a:rPr>
                <a:t>&lt; 2,000,000 KRW</a:t>
              </a:r>
              <a:endParaRPr lang="ko-KR" altLang="en-US" sz="1100" b="1" dirty="0">
                <a:latin typeface="SamsungOne 400" panose="020B0503030303020204" pitchFamily="34" charset="0"/>
              </a:endParaRPr>
            </a:p>
          </p:txBody>
        </p:sp>
        <p:sp>
          <p:nvSpPr>
            <p:cNvPr id="46" name="TextBox 45">
              <a:extLst>
                <a:ext uri="{FF2B5EF4-FFF2-40B4-BE49-F238E27FC236}">
                  <a16:creationId xmlns:a16="http://schemas.microsoft.com/office/drawing/2014/main" id="{CEEA5CC4-8CFF-4465-8B2C-DADB7B74A90A}"/>
                </a:ext>
              </a:extLst>
            </p:cNvPr>
            <p:cNvSpPr txBox="1"/>
            <p:nvPr/>
          </p:nvSpPr>
          <p:spPr>
            <a:xfrm>
              <a:off x="5029892" y="5162176"/>
              <a:ext cx="1274388" cy="169277"/>
            </a:xfrm>
            <a:prstGeom prst="rect">
              <a:avLst/>
            </a:prstGeom>
            <a:noFill/>
          </p:spPr>
          <p:txBody>
            <a:bodyPr wrap="none" lIns="0" tIns="0" rIns="0" bIns="0" rtlCol="0">
              <a:spAutoFit/>
            </a:bodyPr>
            <a:lstStyle/>
            <a:p>
              <a:pPr algn="ctr"/>
              <a:r>
                <a:rPr lang="en-US" altLang="ko-KR" sz="1100" b="1" dirty="0">
                  <a:latin typeface="SamsungOne 400" panose="020B0503030303020204" pitchFamily="34" charset="0"/>
                </a:rPr>
                <a:t>Unemployed</a:t>
              </a:r>
              <a:r>
                <a:rPr lang="ko-KR" altLang="en-US" sz="1100" b="1" dirty="0">
                  <a:latin typeface="SamsungOne 400" panose="020B0503030303020204" pitchFamily="34" charset="0"/>
                </a:rPr>
                <a:t> </a:t>
              </a:r>
              <a:r>
                <a:rPr lang="en-US" altLang="ko-KR" sz="1100" b="1" dirty="0">
                  <a:latin typeface="SamsungOne 400" panose="020B0503030303020204" pitchFamily="34" charset="0"/>
                </a:rPr>
                <a:t>/ Others</a:t>
              </a:r>
              <a:endParaRPr lang="ko-KR" altLang="en-US" sz="1100" b="1" dirty="0">
                <a:latin typeface="SamsungOne 400" panose="020B0503030303020204" pitchFamily="34" charset="0"/>
              </a:endParaRPr>
            </a:p>
          </p:txBody>
        </p:sp>
        <p:sp>
          <p:nvSpPr>
            <p:cNvPr id="47" name="TextBox 46">
              <a:extLst>
                <a:ext uri="{FF2B5EF4-FFF2-40B4-BE49-F238E27FC236}">
                  <a16:creationId xmlns:a16="http://schemas.microsoft.com/office/drawing/2014/main" id="{8729F607-F0B2-4150-ACEC-A8C024D79532}"/>
                </a:ext>
              </a:extLst>
            </p:cNvPr>
            <p:cNvSpPr txBox="1"/>
            <p:nvPr/>
          </p:nvSpPr>
          <p:spPr>
            <a:xfrm>
              <a:off x="6265218" y="5162176"/>
              <a:ext cx="440826" cy="169277"/>
            </a:xfrm>
            <a:prstGeom prst="rect">
              <a:avLst/>
            </a:prstGeom>
            <a:noFill/>
          </p:spPr>
          <p:txBody>
            <a:bodyPr wrap="none" lIns="0" tIns="0" rIns="0" bIns="0" rtlCol="0">
              <a:spAutoFit/>
            </a:bodyPr>
            <a:lstStyle/>
            <a:p>
              <a:pPr algn="ctr"/>
              <a:r>
                <a:rPr lang="en-US" altLang="ko-KR" sz="1100" b="1" dirty="0">
                  <a:latin typeface="SamsungOne 400" panose="020B0503030303020204" pitchFamily="34" charset="0"/>
                </a:rPr>
                <a:t>Worker</a:t>
              </a:r>
              <a:endParaRPr lang="ko-KR" altLang="en-US" sz="1100" b="1" dirty="0">
                <a:latin typeface="SamsungOne 400" panose="020B0503030303020204" pitchFamily="34" charset="0"/>
              </a:endParaRPr>
            </a:p>
          </p:txBody>
        </p:sp>
        <p:sp>
          <p:nvSpPr>
            <p:cNvPr id="48" name="TextBox 47">
              <a:extLst>
                <a:ext uri="{FF2B5EF4-FFF2-40B4-BE49-F238E27FC236}">
                  <a16:creationId xmlns:a16="http://schemas.microsoft.com/office/drawing/2014/main" id="{CD9F7419-9B77-4AD1-9721-C5DBB1F1A74D}"/>
                </a:ext>
              </a:extLst>
            </p:cNvPr>
            <p:cNvSpPr txBox="1"/>
            <p:nvPr/>
          </p:nvSpPr>
          <p:spPr>
            <a:xfrm>
              <a:off x="4491092" y="5794112"/>
              <a:ext cx="1133323" cy="169277"/>
            </a:xfrm>
            <a:prstGeom prst="rect">
              <a:avLst/>
            </a:prstGeom>
            <a:noFill/>
          </p:spPr>
          <p:txBody>
            <a:bodyPr wrap="none" lIns="0" tIns="0" rIns="0" bIns="0" rtlCol="0">
              <a:spAutoFit/>
            </a:bodyPr>
            <a:lstStyle/>
            <a:p>
              <a:pPr algn="ctr"/>
              <a:r>
                <a:rPr lang="en-US" altLang="ko-KR" sz="1100" b="1" dirty="0">
                  <a:latin typeface="SamsungOne 400" panose="020B0503030303020204" pitchFamily="34" charset="0"/>
                </a:rPr>
                <a:t>&lt; = 3,000,000 KRW</a:t>
              </a:r>
              <a:endParaRPr lang="ko-KR" altLang="en-US" sz="1100" b="1" dirty="0">
                <a:latin typeface="SamsungOne 400" panose="020B0503030303020204" pitchFamily="34" charset="0"/>
              </a:endParaRPr>
            </a:p>
          </p:txBody>
        </p:sp>
        <p:sp>
          <p:nvSpPr>
            <p:cNvPr id="49" name="TextBox 48">
              <a:extLst>
                <a:ext uri="{FF2B5EF4-FFF2-40B4-BE49-F238E27FC236}">
                  <a16:creationId xmlns:a16="http://schemas.microsoft.com/office/drawing/2014/main" id="{FBBF8271-6D68-4014-B0CB-E1E73FF234E9}"/>
                </a:ext>
              </a:extLst>
            </p:cNvPr>
            <p:cNvSpPr txBox="1"/>
            <p:nvPr/>
          </p:nvSpPr>
          <p:spPr>
            <a:xfrm>
              <a:off x="5551819" y="5794112"/>
              <a:ext cx="1030730" cy="169277"/>
            </a:xfrm>
            <a:prstGeom prst="rect">
              <a:avLst/>
            </a:prstGeom>
            <a:noFill/>
          </p:spPr>
          <p:txBody>
            <a:bodyPr wrap="none" lIns="0" tIns="0" rIns="0" bIns="0" rtlCol="0">
              <a:spAutoFit/>
            </a:bodyPr>
            <a:lstStyle/>
            <a:p>
              <a:pPr algn="ctr"/>
              <a:r>
                <a:rPr lang="en-US" altLang="ko-KR" sz="1100" b="1" dirty="0">
                  <a:latin typeface="SamsungOne 400" panose="020B0503030303020204" pitchFamily="34" charset="0"/>
                </a:rPr>
                <a:t>&lt; 3,000,000 KRW</a:t>
              </a:r>
              <a:endParaRPr lang="ko-KR" altLang="en-US" sz="1100" b="1" dirty="0">
                <a:latin typeface="SamsungOne 400" panose="020B0503030303020204" pitchFamily="34" charset="0"/>
              </a:endParaRPr>
            </a:p>
          </p:txBody>
        </p:sp>
        <p:sp>
          <p:nvSpPr>
            <p:cNvPr id="2" name="타원 1">
              <a:extLst>
                <a:ext uri="{FF2B5EF4-FFF2-40B4-BE49-F238E27FC236}">
                  <a16:creationId xmlns:a16="http://schemas.microsoft.com/office/drawing/2014/main" id="{73975A09-0881-4480-BD40-BB29C5A51D5D}"/>
                </a:ext>
              </a:extLst>
            </p:cNvPr>
            <p:cNvSpPr/>
            <p:nvPr/>
          </p:nvSpPr>
          <p:spPr>
            <a:xfrm>
              <a:off x="4627376" y="3711952"/>
              <a:ext cx="648072" cy="64807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dirty="0">
                  <a:solidFill>
                    <a:schemeClr val="bg1"/>
                  </a:solidFill>
                  <a:latin typeface="SamsungOne 400" panose="020B0503030303020204" pitchFamily="34" charset="0"/>
                </a:rPr>
                <a:t>Age</a:t>
              </a:r>
              <a:endParaRPr lang="ko-KR" altLang="en-US" sz="1200" dirty="0">
                <a:solidFill>
                  <a:schemeClr val="bg1"/>
                </a:solidFill>
                <a:latin typeface="SamsungOne 400" panose="020B0503030303020204" pitchFamily="34" charset="0"/>
              </a:endParaRPr>
            </a:p>
          </p:txBody>
        </p:sp>
        <p:sp>
          <p:nvSpPr>
            <p:cNvPr id="15" name="타원 14">
              <a:extLst>
                <a:ext uri="{FF2B5EF4-FFF2-40B4-BE49-F238E27FC236}">
                  <a16:creationId xmlns:a16="http://schemas.microsoft.com/office/drawing/2014/main" id="{9537911B-396E-4527-A9B8-1957E76D9738}"/>
                </a:ext>
              </a:extLst>
            </p:cNvPr>
            <p:cNvSpPr/>
            <p:nvPr/>
          </p:nvSpPr>
          <p:spPr>
            <a:xfrm>
              <a:off x="3855608" y="4634494"/>
              <a:ext cx="648072" cy="465930"/>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spc="-100" dirty="0">
                  <a:solidFill>
                    <a:schemeClr val="bg1"/>
                  </a:solidFill>
                  <a:latin typeface="SamsungOne 400" panose="020B0503030303020204" pitchFamily="34" charset="0"/>
                  <a:cs typeface="Times New Roman" panose="02020603050405020304" pitchFamily="18" charset="0"/>
                </a:rPr>
                <a:t>Monthly income</a:t>
              </a:r>
              <a:endParaRPr lang="ko-KR" altLang="en-US" sz="1200" spc="-100" dirty="0">
                <a:solidFill>
                  <a:schemeClr val="bg1"/>
                </a:solidFill>
                <a:latin typeface="SamsungOne 400" panose="020B0503030303020204" pitchFamily="34" charset="0"/>
                <a:cs typeface="Times New Roman" panose="02020603050405020304" pitchFamily="18" charset="0"/>
              </a:endParaRPr>
            </a:p>
          </p:txBody>
        </p:sp>
        <p:sp>
          <p:nvSpPr>
            <p:cNvPr id="16" name="타원 15">
              <a:extLst>
                <a:ext uri="{FF2B5EF4-FFF2-40B4-BE49-F238E27FC236}">
                  <a16:creationId xmlns:a16="http://schemas.microsoft.com/office/drawing/2014/main" id="{BA5DE71D-622E-455B-AFA2-550C0C73995F}"/>
                </a:ext>
              </a:extLst>
            </p:cNvPr>
            <p:cNvSpPr/>
            <p:nvPr/>
          </p:nvSpPr>
          <p:spPr>
            <a:xfrm>
              <a:off x="5379289" y="4634494"/>
              <a:ext cx="818475" cy="465930"/>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dirty="0">
                  <a:solidFill>
                    <a:schemeClr val="bg1"/>
                  </a:solidFill>
                  <a:latin typeface="SamsungOne 400" panose="020B0503030303020204" pitchFamily="34" charset="0"/>
                </a:rPr>
                <a:t>Occupation</a:t>
              </a:r>
              <a:endParaRPr lang="ko-KR" altLang="en-US" sz="1100" dirty="0">
                <a:solidFill>
                  <a:schemeClr val="bg1"/>
                </a:solidFill>
                <a:latin typeface="SamsungOne 400" panose="020B0503030303020204" pitchFamily="34" charset="0"/>
              </a:endParaRPr>
            </a:p>
          </p:txBody>
        </p:sp>
        <p:sp>
          <p:nvSpPr>
            <p:cNvPr id="17" name="타원 16">
              <a:extLst>
                <a:ext uri="{FF2B5EF4-FFF2-40B4-BE49-F238E27FC236}">
                  <a16:creationId xmlns:a16="http://schemas.microsoft.com/office/drawing/2014/main" id="{CB192A8A-16A7-43BC-B67C-8A1FB2345D89}"/>
                </a:ext>
              </a:extLst>
            </p:cNvPr>
            <p:cNvSpPr/>
            <p:nvPr/>
          </p:nvSpPr>
          <p:spPr>
            <a:xfrm>
              <a:off x="5108356" y="5432112"/>
              <a:ext cx="694225" cy="336505"/>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050" dirty="0">
                  <a:solidFill>
                    <a:schemeClr val="bg1"/>
                  </a:solidFill>
                  <a:latin typeface="SamsungOne 400" panose="020B0503030303020204" pitchFamily="34" charset="0"/>
                </a:rPr>
                <a:t>Family income</a:t>
              </a:r>
              <a:endParaRPr lang="ko-KR" altLang="en-US" sz="1050" dirty="0">
                <a:solidFill>
                  <a:schemeClr val="bg1"/>
                </a:solidFill>
                <a:latin typeface="SamsungOne 400" panose="020B0503030303020204" pitchFamily="34" charset="0"/>
              </a:endParaRPr>
            </a:p>
          </p:txBody>
        </p:sp>
        <p:sp>
          <p:nvSpPr>
            <p:cNvPr id="18" name="TextBox 17">
              <a:extLst>
                <a:ext uri="{FF2B5EF4-FFF2-40B4-BE49-F238E27FC236}">
                  <a16:creationId xmlns:a16="http://schemas.microsoft.com/office/drawing/2014/main" id="{9F8E1BD5-CEE9-4043-8C28-7D6654B2220A}"/>
                </a:ext>
              </a:extLst>
            </p:cNvPr>
            <p:cNvSpPr txBox="1"/>
            <p:nvPr/>
          </p:nvSpPr>
          <p:spPr>
            <a:xfrm>
              <a:off x="3295228" y="5456872"/>
              <a:ext cx="756084" cy="276384"/>
            </a:xfrm>
            <a:prstGeom prst="roundRect">
              <a:avLst/>
            </a:prstGeom>
            <a:solidFill>
              <a:schemeClr val="bg1">
                <a:lumMod val="95000"/>
              </a:schemeClr>
            </a:solidFill>
            <a:ln>
              <a:solidFill>
                <a:schemeClr val="bg1">
                  <a:lumMod val="50000"/>
                </a:schemeClr>
              </a:solidFill>
            </a:ln>
          </p:spPr>
          <p:txBody>
            <a:bodyPr wrap="square" lIns="0" tIns="0" rIns="0" bIns="0" rtlCol="0" anchor="ctr">
              <a:noAutofit/>
              <a:scene3d>
                <a:camera prst="orthographicFront"/>
                <a:lightRig rig="threePt" dir="t"/>
              </a:scene3d>
              <a:sp3d>
                <a:bevelT w="0" h="6350"/>
              </a:sp3d>
            </a:bodyPr>
            <a:lstStyle/>
            <a:p>
              <a:pPr algn="ctr"/>
              <a:r>
                <a:rPr lang="en-US" altLang="ko-KR" sz="1200" spc="-100" dirty="0">
                  <a:latin typeface="SamsungOne 400" panose="020B0503030303020204" pitchFamily="34" charset="0"/>
                  <a:ea typeface="SamsungOne 400" panose="020B0503030303020204" pitchFamily="34" charset="0"/>
                  <a:cs typeface="Times New Roman" panose="02020603050405020304" pitchFamily="18" charset="0"/>
                </a:rPr>
                <a:t>Loan denied</a:t>
              </a:r>
            </a:p>
          </p:txBody>
        </p:sp>
        <p:sp>
          <p:nvSpPr>
            <p:cNvPr id="19" name="TextBox 18">
              <a:extLst>
                <a:ext uri="{FF2B5EF4-FFF2-40B4-BE49-F238E27FC236}">
                  <a16:creationId xmlns:a16="http://schemas.microsoft.com/office/drawing/2014/main" id="{AF52D52B-AFE2-461B-B3A5-F75BFCB855B5}"/>
                </a:ext>
              </a:extLst>
            </p:cNvPr>
            <p:cNvSpPr txBox="1"/>
            <p:nvPr/>
          </p:nvSpPr>
          <p:spPr>
            <a:xfrm>
              <a:off x="4214708" y="5456872"/>
              <a:ext cx="756084" cy="276384"/>
            </a:xfrm>
            <a:prstGeom prst="roundRect">
              <a:avLst/>
            </a:prstGeom>
            <a:solidFill>
              <a:schemeClr val="bg1">
                <a:lumMod val="95000"/>
              </a:schemeClr>
            </a:solidFill>
            <a:ln>
              <a:solidFill>
                <a:schemeClr val="bg1">
                  <a:lumMod val="50000"/>
                </a:schemeClr>
              </a:solidFill>
            </a:ln>
          </p:spPr>
          <p:txBody>
            <a:bodyPr wrap="square" lIns="0" tIns="0" rIns="0" bIns="0" rtlCol="0" anchor="ctr">
              <a:noAutofit/>
              <a:scene3d>
                <a:camera prst="orthographicFront"/>
                <a:lightRig rig="threePt" dir="t"/>
              </a:scene3d>
              <a:sp3d>
                <a:bevelT w="0" h="6350"/>
              </a:sp3d>
            </a:bodyPr>
            <a:lstStyle/>
            <a:p>
              <a:pPr algn="ctr"/>
              <a:r>
                <a:rPr lang="en-US" altLang="ko-KR" sz="1200" spc="-100" dirty="0">
                  <a:latin typeface="SamsungOne 400" panose="020B0503030303020204" pitchFamily="34" charset="0"/>
                  <a:ea typeface="SamsungOne 400" panose="020B0503030303020204" pitchFamily="34" charset="0"/>
                  <a:cs typeface="Times New Roman" panose="02020603050405020304" pitchFamily="18" charset="0"/>
                </a:rPr>
                <a:t>Loan approved</a:t>
              </a:r>
            </a:p>
          </p:txBody>
        </p:sp>
        <p:sp>
          <p:nvSpPr>
            <p:cNvPr id="20" name="TextBox 19">
              <a:extLst>
                <a:ext uri="{FF2B5EF4-FFF2-40B4-BE49-F238E27FC236}">
                  <a16:creationId xmlns:a16="http://schemas.microsoft.com/office/drawing/2014/main" id="{81A7A304-F055-45F7-B62A-8A8549957466}"/>
                </a:ext>
              </a:extLst>
            </p:cNvPr>
            <p:cNvSpPr txBox="1"/>
            <p:nvPr/>
          </p:nvSpPr>
          <p:spPr>
            <a:xfrm>
              <a:off x="6013028" y="5456872"/>
              <a:ext cx="756084" cy="276384"/>
            </a:xfrm>
            <a:prstGeom prst="roundRect">
              <a:avLst/>
            </a:prstGeom>
            <a:solidFill>
              <a:schemeClr val="bg1">
                <a:lumMod val="95000"/>
              </a:schemeClr>
            </a:solidFill>
            <a:ln>
              <a:solidFill>
                <a:schemeClr val="bg1">
                  <a:lumMod val="50000"/>
                </a:schemeClr>
              </a:solidFill>
            </a:ln>
          </p:spPr>
          <p:txBody>
            <a:bodyPr wrap="square" lIns="0" tIns="0" rIns="0" bIns="0" rtlCol="0" anchor="ctr">
              <a:noAutofit/>
              <a:scene3d>
                <a:camera prst="orthographicFront"/>
                <a:lightRig rig="threePt" dir="t"/>
              </a:scene3d>
              <a:sp3d>
                <a:bevelT w="0" h="6350"/>
              </a:sp3d>
            </a:bodyPr>
            <a:lstStyle/>
            <a:p>
              <a:pPr algn="ctr"/>
              <a:r>
                <a:rPr lang="en-US" altLang="ko-KR" sz="1200" spc="-100" dirty="0">
                  <a:latin typeface="SamsungOne 400" panose="020B0503030303020204" pitchFamily="34" charset="0"/>
                  <a:ea typeface="SamsungOne 400" panose="020B0503030303020204" pitchFamily="34" charset="0"/>
                  <a:cs typeface="Times New Roman" panose="02020603050405020304" pitchFamily="18" charset="0"/>
                </a:rPr>
                <a:t>Loan approved</a:t>
              </a:r>
            </a:p>
          </p:txBody>
        </p:sp>
        <p:sp>
          <p:nvSpPr>
            <p:cNvPr id="22" name="TextBox 21">
              <a:extLst>
                <a:ext uri="{FF2B5EF4-FFF2-40B4-BE49-F238E27FC236}">
                  <a16:creationId xmlns:a16="http://schemas.microsoft.com/office/drawing/2014/main" id="{C59C1B93-DAE7-49DE-A811-E0F77D455A2E}"/>
                </a:ext>
              </a:extLst>
            </p:cNvPr>
            <p:cNvSpPr txBox="1"/>
            <p:nvPr/>
          </p:nvSpPr>
          <p:spPr>
            <a:xfrm>
              <a:off x="4717628" y="5990272"/>
              <a:ext cx="756084" cy="276384"/>
            </a:xfrm>
            <a:prstGeom prst="roundRect">
              <a:avLst/>
            </a:prstGeom>
            <a:solidFill>
              <a:schemeClr val="bg1">
                <a:lumMod val="95000"/>
              </a:schemeClr>
            </a:solidFill>
            <a:ln>
              <a:solidFill>
                <a:schemeClr val="bg1">
                  <a:lumMod val="50000"/>
                </a:schemeClr>
              </a:solidFill>
            </a:ln>
          </p:spPr>
          <p:txBody>
            <a:bodyPr wrap="square" lIns="0" tIns="0" rIns="0" bIns="0" rtlCol="0" anchor="ctr">
              <a:noAutofit/>
              <a:scene3d>
                <a:camera prst="orthographicFront"/>
                <a:lightRig rig="threePt" dir="t"/>
              </a:scene3d>
              <a:sp3d>
                <a:bevelT w="0" h="6350"/>
              </a:sp3d>
            </a:bodyPr>
            <a:lstStyle/>
            <a:p>
              <a:pPr algn="ctr"/>
              <a:r>
                <a:rPr lang="en-US" altLang="ko-KR" sz="1200" spc="-100" dirty="0">
                  <a:latin typeface="SamsungOne 400" panose="020B0503030303020204" pitchFamily="34" charset="0"/>
                  <a:ea typeface="SamsungOne 400" panose="020B0503030303020204" pitchFamily="34" charset="0"/>
                  <a:cs typeface="Times New Roman" panose="02020603050405020304" pitchFamily="18" charset="0"/>
                </a:rPr>
                <a:t>Loan denied</a:t>
              </a:r>
            </a:p>
          </p:txBody>
        </p:sp>
        <p:sp>
          <p:nvSpPr>
            <p:cNvPr id="26" name="TextBox 25">
              <a:extLst>
                <a:ext uri="{FF2B5EF4-FFF2-40B4-BE49-F238E27FC236}">
                  <a16:creationId xmlns:a16="http://schemas.microsoft.com/office/drawing/2014/main" id="{54819D32-4CD3-4BB9-9A9F-5D313CC6AE4B}"/>
                </a:ext>
              </a:extLst>
            </p:cNvPr>
            <p:cNvSpPr txBox="1"/>
            <p:nvPr/>
          </p:nvSpPr>
          <p:spPr>
            <a:xfrm>
              <a:off x="5605845" y="5990272"/>
              <a:ext cx="756084" cy="276384"/>
            </a:xfrm>
            <a:prstGeom prst="roundRect">
              <a:avLst/>
            </a:prstGeom>
            <a:solidFill>
              <a:schemeClr val="bg1">
                <a:lumMod val="95000"/>
              </a:schemeClr>
            </a:solidFill>
            <a:ln>
              <a:solidFill>
                <a:schemeClr val="bg1">
                  <a:lumMod val="50000"/>
                </a:schemeClr>
              </a:solidFill>
            </a:ln>
          </p:spPr>
          <p:txBody>
            <a:bodyPr wrap="square" lIns="0" tIns="0" rIns="0" bIns="0" rtlCol="0" anchor="ctr">
              <a:noAutofit/>
              <a:scene3d>
                <a:camera prst="orthographicFront"/>
                <a:lightRig rig="threePt" dir="t"/>
              </a:scene3d>
              <a:sp3d>
                <a:bevelT w="0" h="6350"/>
              </a:sp3d>
            </a:bodyPr>
            <a:lstStyle/>
            <a:p>
              <a:pPr algn="ctr"/>
              <a:r>
                <a:rPr lang="en-US" altLang="ko-KR" sz="1200" spc="-100" dirty="0">
                  <a:latin typeface="SamsungOne 400" panose="020B0503030303020204" pitchFamily="34" charset="0"/>
                  <a:ea typeface="SamsungOne 400" panose="020B0503030303020204" pitchFamily="34" charset="0"/>
                  <a:cs typeface="Times New Roman" panose="02020603050405020304" pitchFamily="18" charset="0"/>
                </a:rPr>
                <a:t>Loan approved</a:t>
              </a:r>
            </a:p>
          </p:txBody>
        </p:sp>
      </p:grpSp>
    </p:spTree>
    <p:extLst>
      <p:ext uri="{BB962C8B-B14F-4D97-AF65-F5344CB8AC3E}">
        <p14:creationId xmlns:p14="http://schemas.microsoft.com/office/powerpoint/2010/main" val="2104020625"/>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04</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grpSp>
        <p:nvGrpSpPr>
          <p:cNvPr id="30" name="그룹 29">
            <a:extLst>
              <a:ext uri="{FF2B5EF4-FFF2-40B4-BE49-F238E27FC236}">
                <a16:creationId xmlns:a16="http://schemas.microsoft.com/office/drawing/2014/main" id="{0FA1C116-17E6-4EAE-9693-276FF6A9C97E}"/>
              </a:ext>
            </a:extLst>
          </p:cNvPr>
          <p:cNvGrpSpPr/>
          <p:nvPr/>
        </p:nvGrpSpPr>
        <p:grpSpPr>
          <a:xfrm>
            <a:off x="559817" y="1412776"/>
            <a:ext cx="8783192" cy="215444"/>
            <a:chOff x="559817" y="2136914"/>
            <a:chExt cx="8783192" cy="215444"/>
          </a:xfrm>
        </p:grpSpPr>
        <p:sp>
          <p:nvSpPr>
            <p:cNvPr id="31" name="직사각형 30">
              <a:extLst>
                <a:ext uri="{FF2B5EF4-FFF2-40B4-BE49-F238E27FC236}">
                  <a16:creationId xmlns:a16="http://schemas.microsoft.com/office/drawing/2014/main" id="{D3B99E81-8205-4CFE-9E6F-3BD2DA79AC73}"/>
                </a:ext>
              </a:extLst>
            </p:cNvPr>
            <p:cNvSpPr/>
            <p:nvPr/>
          </p:nvSpPr>
          <p:spPr>
            <a:xfrm>
              <a:off x="559817" y="2148284"/>
              <a:ext cx="35992" cy="179958"/>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sp>
          <p:nvSpPr>
            <p:cNvPr id="32" name="직사각형 31">
              <a:extLst>
                <a:ext uri="{FF2B5EF4-FFF2-40B4-BE49-F238E27FC236}">
                  <a16:creationId xmlns:a16="http://schemas.microsoft.com/office/drawing/2014/main" id="{B387D783-FCB8-426A-888F-0DCCD679FB48}"/>
                </a:ext>
              </a:extLst>
            </p:cNvPr>
            <p:cNvSpPr/>
            <p:nvPr/>
          </p:nvSpPr>
          <p:spPr>
            <a:xfrm>
              <a:off x="712182" y="2136914"/>
              <a:ext cx="863082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spcAft>
                  <a:spcPts val="600"/>
                </a:spcAft>
              </a:pPr>
              <a:r>
                <a:rPr lang="en-US" altLang="ko-KR" sz="1400" dirty="0">
                  <a:solidFill>
                    <a:schemeClr val="tx1"/>
                  </a:solidFill>
                  <a:latin typeface="SamsungOne 400" panose="020B0503030303020204" pitchFamily="34" charset="0"/>
                  <a:ea typeface="SamsungOne 400" panose="020B0503030303020204" pitchFamily="34" charset="0"/>
                </a:rPr>
                <a:t>Split Criteria of Decision Tree</a:t>
              </a:r>
              <a:endParaRPr lang="ko-KR" altLang="en-US" sz="1400" dirty="0">
                <a:solidFill>
                  <a:schemeClr val="tx1"/>
                </a:solidFill>
                <a:latin typeface="SamsungOne 400" panose="020B0503030303020204" pitchFamily="34" charset="0"/>
                <a:ea typeface="SamsungOne 400" panose="020B0503030303020204" pitchFamily="34" charset="0"/>
              </a:endParaRPr>
            </a:p>
          </p:txBody>
        </p:sp>
      </p:grpSp>
      <p:sp>
        <p:nvSpPr>
          <p:cNvPr id="200" name="직사각형 199">
            <a:extLst>
              <a:ext uri="{FF2B5EF4-FFF2-40B4-BE49-F238E27FC236}">
                <a16:creationId xmlns:a16="http://schemas.microsoft.com/office/drawing/2014/main" id="{1ACF2BF2-E48B-4341-BB04-F6BAF8F6D564}"/>
              </a:ext>
            </a:extLst>
          </p:cNvPr>
          <p:cNvSpPr/>
          <p:nvPr/>
        </p:nvSpPr>
        <p:spPr>
          <a:xfrm>
            <a:off x="670746" y="1700808"/>
            <a:ext cx="8673279" cy="1653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Decision tree gives a question to each node and separates data by branching according to the response.</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To evaluate how well the data is separated, a specific criterion is required. In general, impurity is the evaluation criterion. The impurity becomes higher as various classifications are mixed in the node; it is the lowest when there’s only one classification. </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Thus, if each node’s impurity is low after node splitting, we can say that the decision tree is well classified.</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Impurity measures include Gini impurity and entropy.</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7A1562A-5115-4591-9435-ECD548951244}"/>
                  </a:ext>
                </a:extLst>
              </p:cNvPr>
              <p:cNvSpPr txBox="1"/>
              <p:nvPr/>
            </p:nvSpPr>
            <p:spPr>
              <a:xfrm>
                <a:off x="2143100" y="3467857"/>
                <a:ext cx="5677480" cy="35201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defPPr>
                  <a:defRPr lang="en-US"/>
                </a:defPPr>
                <a:lvl1pPr>
                  <a:spcAft>
                    <a:spcPts val="800"/>
                  </a:spcAft>
                  <a:buClr>
                    <a:srgbClr val="193EB0"/>
                  </a:buClr>
                  <a:defRPr sz="1600">
                    <a:solidFill>
                      <a:schemeClr val="tx1">
                        <a:lumMod val="85000"/>
                        <a:lumOff val="15000"/>
                      </a:schemeClr>
                    </a:solidFill>
                    <a:latin typeface="Cambria Math" panose="0204050305040603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14:m>
                  <m:oMath xmlns:m="http://schemas.openxmlformats.org/officeDocument/2006/math">
                    <m:r>
                      <m:rPr>
                        <m:sty m:val="p"/>
                      </m:rPr>
                      <a:rPr lang="en-US" altLang="ko-KR" smtClean="0">
                        <a:latin typeface="Cambria Math" panose="02040503050406030204" pitchFamily="18" charset="0"/>
                      </a:rPr>
                      <m:t>Gini</m:t>
                    </m:r>
                    <m:r>
                      <a:rPr lang="en-US" altLang="ko-KR" smtClean="0">
                        <a:latin typeface="Cambria Math" panose="02040503050406030204" pitchFamily="18" charset="0"/>
                      </a:rPr>
                      <m:t> </m:t>
                    </m:r>
                    <m:r>
                      <a:rPr lang="en-US" altLang="ko-KR" smtClean="0">
                        <a:latin typeface="Cambria Math" panose="02040503050406030204" pitchFamily="18" charset="0"/>
                      </a:rPr>
                      <m:t>𝐶𝑜𝑓𝑓</m:t>
                    </m:r>
                    <m:r>
                      <a:rPr lang="en-US" altLang="ko-KR" smtClean="0">
                        <a:latin typeface="Cambria Math" panose="02040503050406030204" pitchFamily="18" charset="0"/>
                      </a:rPr>
                      <m:t>. =1−</m:t>
                    </m:r>
                    <m:nary>
                      <m:naryPr>
                        <m:chr m:val="∑"/>
                        <m:ctrlPr>
                          <a:rPr lang="en-US" altLang="ko-KR" i="1">
                            <a:latin typeface="Cambria Math" panose="02040503050406030204" pitchFamily="18" charset="0"/>
                          </a:rPr>
                        </m:ctrlPr>
                      </m:naryPr>
                      <m:sub>
                        <m:r>
                          <m:rPr>
                            <m:brk m:alnAt="23"/>
                          </m:rPr>
                          <a:rPr lang="en-US" altLang="ko-KR">
                            <a:latin typeface="Cambria Math" panose="02040503050406030204" pitchFamily="18" charset="0"/>
                          </a:rPr>
                          <m:t>𝑖</m:t>
                        </m:r>
                        <m:r>
                          <a:rPr lang="en-US" altLang="ko-KR">
                            <a:latin typeface="Cambria Math" panose="02040503050406030204" pitchFamily="18" charset="0"/>
                          </a:rPr>
                          <m:t>=1</m:t>
                        </m:r>
                      </m:sub>
                      <m:sup>
                        <m:r>
                          <a:rPr lang="en-US" altLang="ko-KR">
                            <a:latin typeface="Cambria Math" panose="02040503050406030204" pitchFamily="18" charset="0"/>
                          </a:rPr>
                          <m:t>𝐾</m:t>
                        </m:r>
                      </m:sup>
                      <m:e>
                        <m:sSubSup>
                          <m:sSubSupPr>
                            <m:ctrlPr>
                              <a:rPr lang="en-US" altLang="ko-KR" i="1">
                                <a:latin typeface="Cambria Math" panose="02040503050406030204" pitchFamily="18" charset="0"/>
                              </a:rPr>
                            </m:ctrlPr>
                          </m:sSubSupPr>
                          <m:e>
                            <m:r>
                              <a:rPr lang="en-US" altLang="ko-KR">
                                <a:latin typeface="Cambria Math" panose="02040503050406030204" pitchFamily="18" charset="0"/>
                              </a:rPr>
                              <m:t>𝑝</m:t>
                            </m:r>
                          </m:e>
                          <m:sub>
                            <m:r>
                              <a:rPr lang="en-US" altLang="ko-KR">
                                <a:latin typeface="Cambria Math" panose="02040503050406030204" pitchFamily="18" charset="0"/>
                              </a:rPr>
                              <m:t>𝑖</m:t>
                            </m:r>
                          </m:sub>
                          <m:sup>
                            <m:r>
                              <a:rPr lang="en-US" altLang="ko-KR">
                                <a:latin typeface="Cambria Math" panose="02040503050406030204" pitchFamily="18" charset="0"/>
                              </a:rPr>
                              <m:t>2</m:t>
                            </m:r>
                          </m:sup>
                        </m:sSubSup>
                      </m:e>
                    </m:nary>
                    <m:r>
                      <a:rPr lang="en-US" altLang="ko-KR">
                        <a:latin typeface="Cambria Math" panose="02040503050406030204" pitchFamily="18" charset="0"/>
                      </a:rPr>
                      <m:t>, </m:t>
                    </m:r>
                    <m:r>
                      <a:rPr lang="en-US" altLang="ko-KR" b="0" i="0" smtClean="0">
                        <a:latin typeface="Cambria Math" panose="02040503050406030204" pitchFamily="18" charset="0"/>
                      </a:rPr>
                      <m:t> </m:t>
                    </m:r>
                    <m:r>
                      <a:rPr lang="en-US" altLang="ko-KR">
                        <a:latin typeface="Cambria Math" panose="02040503050406030204" pitchFamily="18" charset="0"/>
                      </a:rPr>
                      <m:t>𝐸𝑛𝑡𝑟𝑜𝑝𝑦</m:t>
                    </m:r>
                    <m:r>
                      <a:rPr lang="en-US" altLang="ko-KR">
                        <a:latin typeface="Cambria Math" panose="02040503050406030204" pitchFamily="18" charset="0"/>
                      </a:rPr>
                      <m:t> </m:t>
                    </m:r>
                    <m:r>
                      <a:rPr lang="en-US" altLang="ko-KR">
                        <a:latin typeface="Cambria Math" panose="02040503050406030204" pitchFamily="18" charset="0"/>
                      </a:rPr>
                      <m:t>𝐶𝑜𝑓𝑓</m:t>
                    </m:r>
                    <m:r>
                      <a:rPr lang="en-US" altLang="ko-KR">
                        <a:latin typeface="Cambria Math" panose="02040503050406030204" pitchFamily="18" charset="0"/>
                      </a:rPr>
                      <m:t>. =−</m:t>
                    </m:r>
                    <m:nary>
                      <m:naryPr>
                        <m:chr m:val="∑"/>
                        <m:ctrlPr>
                          <a:rPr lang="en-US" altLang="ko-KR" i="1">
                            <a:latin typeface="Cambria Math" panose="02040503050406030204" pitchFamily="18" charset="0"/>
                          </a:rPr>
                        </m:ctrlPr>
                      </m:naryPr>
                      <m:sub>
                        <m:r>
                          <m:rPr>
                            <m:brk m:alnAt="23"/>
                          </m:rPr>
                          <a:rPr lang="en-US" altLang="ko-KR">
                            <a:latin typeface="Cambria Math" panose="02040503050406030204" pitchFamily="18" charset="0"/>
                          </a:rPr>
                          <m:t>𝑖</m:t>
                        </m:r>
                        <m:r>
                          <a:rPr lang="en-US" altLang="ko-KR">
                            <a:latin typeface="Cambria Math" panose="02040503050406030204" pitchFamily="18" charset="0"/>
                          </a:rPr>
                          <m:t>=1</m:t>
                        </m:r>
                      </m:sub>
                      <m:sup>
                        <m:r>
                          <a:rPr lang="en-US" altLang="ko-KR">
                            <a:latin typeface="Cambria Math" panose="02040503050406030204" pitchFamily="18" charset="0"/>
                          </a:rPr>
                          <m:t>𝐾</m:t>
                        </m:r>
                      </m:sup>
                      <m:e>
                        <m:sSub>
                          <m:sSubPr>
                            <m:ctrlPr>
                              <a:rPr lang="en-US" altLang="ko-KR" i="1">
                                <a:latin typeface="Cambria Math" panose="02040503050406030204" pitchFamily="18" charset="0"/>
                              </a:rPr>
                            </m:ctrlPr>
                          </m:sSubPr>
                          <m:e>
                            <m:r>
                              <a:rPr lang="en-US" altLang="ko-KR">
                                <a:latin typeface="Cambria Math" panose="02040503050406030204" pitchFamily="18" charset="0"/>
                              </a:rPr>
                              <m:t>𝑝</m:t>
                            </m:r>
                          </m:e>
                          <m:sub>
                            <m:r>
                              <a:rPr lang="en-US" altLang="ko-KR">
                                <a:latin typeface="Cambria Math" panose="02040503050406030204" pitchFamily="18" charset="0"/>
                              </a:rPr>
                              <m:t>𝑖</m:t>
                            </m:r>
                          </m:sub>
                        </m:sSub>
                        <m:func>
                          <m:funcPr>
                            <m:ctrlPr>
                              <a:rPr lang="en-US" altLang="ko-KR" i="1">
                                <a:latin typeface="Cambria Math" panose="02040503050406030204" pitchFamily="18" charset="0"/>
                              </a:rPr>
                            </m:ctrlPr>
                          </m:funcPr>
                          <m:fName>
                            <m:sSub>
                              <m:sSubPr>
                                <m:ctrlPr>
                                  <a:rPr lang="en-US" altLang="ko-KR" i="1">
                                    <a:latin typeface="Cambria Math" panose="02040503050406030204" pitchFamily="18" charset="0"/>
                                  </a:rPr>
                                </m:ctrlPr>
                              </m:sSubPr>
                              <m:e>
                                <m:r>
                                  <m:rPr>
                                    <m:sty m:val="p"/>
                                  </m:rPr>
                                  <a:rPr lang="en-US" altLang="ko-KR">
                                    <a:latin typeface="Cambria Math" panose="02040503050406030204" pitchFamily="18" charset="0"/>
                                  </a:rPr>
                                  <m:t>log</m:t>
                                </m:r>
                              </m:e>
                              <m:sub>
                                <m:r>
                                  <a:rPr lang="en-US" altLang="ko-KR">
                                    <a:latin typeface="Cambria Math" panose="02040503050406030204" pitchFamily="18" charset="0"/>
                                  </a:rPr>
                                  <m:t>2</m:t>
                                </m:r>
                              </m:sub>
                            </m:sSub>
                          </m:fName>
                          <m:e>
                            <m:sSub>
                              <m:sSubPr>
                                <m:ctrlPr>
                                  <a:rPr lang="en-US" altLang="ko-KR" i="1">
                                    <a:latin typeface="Cambria Math" panose="02040503050406030204" pitchFamily="18" charset="0"/>
                                  </a:rPr>
                                </m:ctrlPr>
                              </m:sSubPr>
                              <m:e>
                                <m:r>
                                  <a:rPr lang="en-US" altLang="ko-KR">
                                    <a:latin typeface="Cambria Math" panose="02040503050406030204" pitchFamily="18" charset="0"/>
                                  </a:rPr>
                                  <m:t>𝑝</m:t>
                                </m:r>
                              </m:e>
                              <m:sub>
                                <m:r>
                                  <a:rPr lang="en-US" altLang="ko-KR">
                                    <a:latin typeface="Cambria Math" panose="02040503050406030204" pitchFamily="18" charset="0"/>
                                  </a:rPr>
                                  <m:t>𝑖</m:t>
                                </m:r>
                              </m:sub>
                            </m:sSub>
                          </m:e>
                        </m:func>
                      </m:e>
                    </m:nary>
                  </m:oMath>
                </a14:m>
                <a:r>
                  <a:rPr lang="ko-KR" altLang="en-US" dirty="0"/>
                  <a:t> </a:t>
                </a:r>
                <a:endParaRPr lang="en-US" dirty="0"/>
              </a:p>
            </p:txBody>
          </p:sp>
        </mc:Choice>
        <mc:Fallback xmlns="">
          <p:sp>
            <p:nvSpPr>
              <p:cNvPr id="35" name="TextBox 34">
                <a:extLst>
                  <a:ext uri="{FF2B5EF4-FFF2-40B4-BE49-F238E27FC236}">
                    <a16:creationId xmlns:a16="http://schemas.microsoft.com/office/drawing/2014/main" xmlns="" xmlns:a14="http://schemas.microsoft.com/office/drawing/2010/main" id="{37A1562A-5115-4591-9435-ECD548951244}"/>
                  </a:ext>
                </a:extLst>
              </p:cNvPr>
              <p:cNvSpPr txBox="1">
                <a:spLocks noRot="1" noChangeAspect="1" noMove="1" noResize="1" noEditPoints="1" noAdjustHandles="1" noChangeArrowheads="1" noChangeShapeType="1" noTextEdit="1"/>
              </p:cNvSpPr>
              <p:nvPr/>
            </p:nvSpPr>
            <p:spPr>
              <a:xfrm>
                <a:off x="2143100" y="3467857"/>
                <a:ext cx="5677480" cy="352019"/>
              </a:xfrm>
              <a:prstGeom prst="rect">
                <a:avLst/>
              </a:prstGeom>
              <a:blipFill rotWithShape="0">
                <a:blip r:embed="rId3"/>
                <a:stretch>
                  <a:fillRect t="-100000" b="-163793"/>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7" name="직사각형 36">
                <a:extLst>
                  <a:ext uri="{FF2B5EF4-FFF2-40B4-BE49-F238E27FC236}">
                    <a16:creationId xmlns:a16="http://schemas.microsoft.com/office/drawing/2014/main" id="{E6B8C340-D291-41E2-9DB7-77E2E5A2EC07}"/>
                  </a:ext>
                </a:extLst>
              </p:cNvPr>
              <p:cNvSpPr/>
              <p:nvPr/>
            </p:nvSpPr>
            <p:spPr>
              <a:xfrm>
                <a:off x="670746" y="3897052"/>
                <a:ext cx="8673279" cy="10280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b="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The impurity index is 0 when </a:t>
                </a:r>
                <a14:m>
                  <m:oMath xmlns:m="http://schemas.openxmlformats.org/officeDocument/2006/math">
                    <m:sSub>
                      <m:sSubPr>
                        <m:ctrlPr>
                          <a:rPr lang="en-US" altLang="ko-KR" sz="1300" i="1">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ctrlPr>
                      </m:sSubPr>
                      <m:e>
                        <m:r>
                          <a:rPr lang="en-US" altLang="ko-KR" sz="1300" i="1">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t>𝑝</m:t>
                        </m:r>
                      </m:e>
                      <m:sub>
                        <m:r>
                          <a:rPr lang="en-US" altLang="ko-KR" sz="1300" i="1">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t>𝑖</m:t>
                        </m:r>
                      </m:sub>
                    </m:sSub>
                    <m:r>
                      <a:rPr lang="en-US" altLang="ko-KR" sz="1300" i="1">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t>=0</m:t>
                    </m:r>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or</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14:m>
                  <m:oMath xmlns:m="http://schemas.openxmlformats.org/officeDocument/2006/math">
                    <m:sSub>
                      <m:sSubPr>
                        <m:ctrlPr>
                          <a:rPr lang="en-US" altLang="ko-KR" sz="1300" i="1">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ctrlPr>
                      </m:sSubPr>
                      <m:e>
                        <m:r>
                          <a:rPr lang="en-US" altLang="ko-KR" sz="1300" i="1">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t>𝑝</m:t>
                        </m:r>
                      </m:e>
                      <m:sub>
                        <m:r>
                          <a:rPr lang="en-US" altLang="ko-KR" sz="1300" i="1">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t>𝑖</m:t>
                        </m:r>
                      </m:sub>
                    </m:sSub>
                    <m:r>
                      <a:rPr lang="en-US" altLang="ko-KR" sz="1300" i="1">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t>=1</m:t>
                    </m:r>
                  </m:oMath>
                </a14:m>
                <a:r>
                  <a:rPr lang="en-US" altLang="ko-KR" sz="1300" b="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 and it gets the largest when </a:t>
                </a:r>
                <a14:m>
                  <m:oMath xmlns:m="http://schemas.openxmlformats.org/officeDocument/2006/math">
                    <m:sSub>
                      <m:sSubPr>
                        <m:ctrlPr>
                          <a:rPr lang="en-US" altLang="ko-KR" sz="1300" i="1">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ctrlPr>
                      </m:sSubPr>
                      <m:e>
                        <m:r>
                          <a:rPr lang="en-US" altLang="ko-KR" sz="1300" i="1">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t>𝑝</m:t>
                        </m:r>
                      </m:e>
                      <m:sub>
                        <m:r>
                          <a:rPr lang="en-US" altLang="ko-KR" sz="1300" i="1">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t>𝑖</m:t>
                        </m:r>
                      </m:sub>
                    </m:sSub>
                    <m:r>
                      <a:rPr lang="en-US" altLang="ko-KR" sz="1300" i="1">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t>=</m:t>
                    </m:r>
                    <m:f>
                      <m:fPr>
                        <m:ctrlPr>
                          <a:rPr lang="en-US" altLang="ko-KR" sz="1300" i="1">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ctrlPr>
                      </m:fPr>
                      <m:num>
                        <m:r>
                          <a:rPr lang="en-US" altLang="ko-KR" sz="1300" i="1">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t>1</m:t>
                        </m:r>
                      </m:num>
                      <m:den>
                        <m:r>
                          <a:rPr lang="en-US" altLang="ko-KR" sz="1300" i="1">
                            <a:solidFill>
                              <a:schemeClr val="tx1">
                                <a:lumMod val="85000"/>
                                <a:lumOff val="15000"/>
                              </a:schemeClr>
                            </a:solidFill>
                            <a:latin typeface="Cambria Math" panose="02040503050406030204" pitchFamily="18" charset="0"/>
                            <a:ea typeface="SamsungOne 400" panose="020B0503030303020204" pitchFamily="34" charset="0"/>
                            <a:cs typeface="Times New Roman" panose="02020603050405020304" pitchFamily="18" charset="0"/>
                            <a:sym typeface="Symbol"/>
                          </a:rPr>
                          <m:t>2</m:t>
                        </m:r>
                      </m:den>
                    </m:f>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 , thus making a parabola. In other words, the impurity index is the lowest when there’s a certain classification in the node or the node is completely free from any classification. In contrast, the impurity becomes the largest when many classifications are found in the same node. </a:t>
                </a:r>
              </a:p>
            </p:txBody>
          </p:sp>
        </mc:Choice>
        <mc:Fallback xmlns="">
          <p:sp>
            <p:nvSpPr>
              <p:cNvPr id="37" name="직사각형 36">
                <a:extLst>
                  <a:ext uri="{FF2B5EF4-FFF2-40B4-BE49-F238E27FC236}">
                    <a16:creationId xmlns="" xmlns:a16="http://schemas.microsoft.com/office/drawing/2014/main" xmlns:a14="http://schemas.microsoft.com/office/drawing/2010/main" id="{E6B8C340-D291-41E2-9DB7-77E2E5A2EC07}"/>
                  </a:ext>
                </a:extLst>
              </p:cNvPr>
              <p:cNvSpPr>
                <a:spLocks noRot="1" noChangeAspect="1" noMove="1" noResize="1" noEditPoints="1" noAdjustHandles="1" noChangeArrowheads="1" noChangeShapeType="1" noTextEdit="1"/>
              </p:cNvSpPr>
              <p:nvPr/>
            </p:nvSpPr>
            <p:spPr>
              <a:xfrm>
                <a:off x="670746" y="3897052"/>
                <a:ext cx="8673279" cy="1028084"/>
              </a:xfrm>
              <a:prstGeom prst="rect">
                <a:avLst/>
              </a:prstGeom>
              <a:blipFill rotWithShape="0">
                <a:blip r:embed="rId4"/>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426742357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8B1BC1D-DFB7-4482-BA23-F01AD71B1BBE}"/>
              </a:ext>
            </a:extLst>
          </p:cNvPr>
          <p:cNvSpPr/>
          <p:nvPr/>
        </p:nvSpPr>
        <p:spPr>
          <a:xfrm>
            <a:off x="546895" y="1523719"/>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Coding Exercise #0308</a:t>
            </a:r>
          </a:p>
        </p:txBody>
      </p:sp>
      <p:grpSp>
        <p:nvGrpSpPr>
          <p:cNvPr id="11" name="그룹 10">
            <a:extLst>
              <a:ext uri="{FF2B5EF4-FFF2-40B4-BE49-F238E27FC236}">
                <a16:creationId xmlns:a16="http://schemas.microsoft.com/office/drawing/2014/main" id="{A2A7775F-AE07-4A60-B96A-7B00D8607BDB}"/>
              </a:ext>
            </a:extLst>
          </p:cNvPr>
          <p:cNvGrpSpPr/>
          <p:nvPr/>
        </p:nvGrpSpPr>
        <p:grpSpPr>
          <a:xfrm>
            <a:off x="558798" y="2060849"/>
            <a:ext cx="8797129" cy="3960439"/>
            <a:chOff x="558798" y="2060849"/>
            <a:chExt cx="8797129" cy="3960439"/>
          </a:xfrm>
        </p:grpSpPr>
        <p:sp>
          <p:nvSpPr>
            <p:cNvPr id="12" name="직사각형 11">
              <a:extLst>
                <a:ext uri="{FF2B5EF4-FFF2-40B4-BE49-F238E27FC236}">
                  <a16:creationId xmlns:a16="http://schemas.microsoft.com/office/drawing/2014/main" id="{0E2B63F1-717C-45E5-9484-DF4505693008}"/>
                </a:ext>
              </a:extLst>
            </p:cNvPr>
            <p:cNvSpPr/>
            <p:nvPr/>
          </p:nvSpPr>
          <p:spPr>
            <a:xfrm>
              <a:off x="558799" y="2060849"/>
              <a:ext cx="8785225" cy="3960439"/>
            </a:xfrm>
            <a:prstGeom prst="rect">
              <a:avLst/>
            </a:prstGeom>
            <a:solidFill>
              <a:schemeClr val="accent5">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5" name="그룹 14">
              <a:extLst>
                <a:ext uri="{FF2B5EF4-FFF2-40B4-BE49-F238E27FC236}">
                  <a16:creationId xmlns:a16="http://schemas.microsoft.com/office/drawing/2014/main" id="{AC1F47E5-59C0-4468-B93D-A8F7F0C32C93}"/>
                </a:ext>
              </a:extLst>
            </p:cNvPr>
            <p:cNvGrpSpPr/>
            <p:nvPr/>
          </p:nvGrpSpPr>
          <p:grpSpPr>
            <a:xfrm>
              <a:off x="558798" y="3945816"/>
              <a:ext cx="8797129" cy="576572"/>
              <a:chOff x="4778069" y="4391025"/>
              <a:chExt cx="2349160" cy="431802"/>
            </a:xfrm>
          </p:grpSpPr>
          <p:sp>
            <p:nvSpPr>
              <p:cNvPr id="18" name="직사각형 17">
                <a:extLst>
                  <a:ext uri="{FF2B5EF4-FFF2-40B4-BE49-F238E27FC236}">
                    <a16:creationId xmlns:a16="http://schemas.microsoft.com/office/drawing/2014/main" id="{3C6A9AF5-127F-406D-B69A-2777F03F88E5}"/>
                  </a:ext>
                </a:extLst>
              </p:cNvPr>
              <p:cNvSpPr/>
              <p:nvPr/>
            </p:nvSpPr>
            <p:spPr>
              <a:xfrm>
                <a:off x="4778069" y="4391025"/>
                <a:ext cx="2349160" cy="431802"/>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sp3d>
                  <a:bevelT w="0" h="6350"/>
                </a:sp3d>
              </a:bodyPr>
              <a:lstStyle/>
              <a:p>
                <a:pPr algn="ctr"/>
                <a:endParaRPr lang="ko-KR" altLang="en-US" sz="2000" dirty="0"/>
              </a:p>
            </p:txBody>
          </p:sp>
          <p:sp>
            <p:nvSpPr>
              <p:cNvPr id="21" name="직사각형 133">
                <a:extLst>
                  <a:ext uri="{FF2B5EF4-FFF2-40B4-BE49-F238E27FC236}">
                    <a16:creationId xmlns:a16="http://schemas.microsoft.com/office/drawing/2014/main" id="{21A3736B-043B-48A0-AE25-A04C3CBB178F}"/>
                  </a:ext>
                </a:extLst>
              </p:cNvPr>
              <p:cNvSpPr/>
              <p:nvPr/>
            </p:nvSpPr>
            <p:spPr>
              <a:xfrm>
                <a:off x="4852511" y="4528465"/>
                <a:ext cx="2200275" cy="230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lgn="ctr"/>
                <a:r>
                  <a:rPr lang="en-US" altLang="ko-KR" sz="2000" dirty="0">
                    <a:solidFill>
                      <a:schemeClr val="bg1"/>
                    </a:solidFill>
                    <a:latin typeface="SamsungOne 700" panose="020B0803030303020204" pitchFamily="34" charset="0"/>
                    <a:ea typeface="SamsungOne 700" panose="020B0803030303020204" pitchFamily="34" charset="0"/>
                    <a:cs typeface="Samsung Sharp Sans" pitchFamily="2" charset="0"/>
                  </a:rPr>
                  <a:t>Follow practice steps on 'ex_0308.ipynb’ file.</a:t>
                </a:r>
              </a:p>
            </p:txBody>
          </p:sp>
        </p:grpSp>
        <p:pic>
          <p:nvPicPr>
            <p:cNvPr id="16" name="그림 15" descr="텍스트, 클립아트이(가) 표시된 사진&#10;&#10;자동 생성된 설명">
              <a:extLst>
                <a:ext uri="{FF2B5EF4-FFF2-40B4-BE49-F238E27FC236}">
                  <a16:creationId xmlns:a16="http://schemas.microsoft.com/office/drawing/2014/main" id="{70D03265-398A-4B21-9492-31D700046C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93" t="14475" r="51947" b="14299"/>
            <a:stretch/>
          </p:blipFill>
          <p:spPr>
            <a:xfrm>
              <a:off x="4370123" y="2647560"/>
              <a:ext cx="1162577" cy="1174440"/>
            </a:xfrm>
            <a:prstGeom prst="ellipse">
              <a:avLst/>
            </a:prstGeom>
          </p:spPr>
        </p:pic>
      </p:grpSp>
      <p:grpSp>
        <p:nvGrpSpPr>
          <p:cNvPr id="13" name="그룹 1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4" name="직사각형 1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4.1. Tree Algorithm</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 Sharp Sans Medium" pitchFamily="2" charset="0"/>
                  <a:ea typeface="Samsung Sharp Sans Medium" pitchFamily="2" charset="0"/>
                  <a:cs typeface="Samsung Sharp Sans 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04</a:t>
              </a:r>
            </a:p>
          </p:txBody>
        </p:sp>
      </p:grpSp>
    </p:spTree>
    <p:extLst>
      <p:ext uri="{BB962C8B-B14F-4D97-AF65-F5344CB8AC3E}">
        <p14:creationId xmlns:p14="http://schemas.microsoft.com/office/powerpoint/2010/main" val="3808643430"/>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33">
            <a:extLst>
              <a:ext uri="{FF2B5EF4-FFF2-40B4-BE49-F238E27FC236}">
                <a16:creationId xmlns:a16="http://schemas.microsoft.com/office/drawing/2014/main" id="{551F01E8-8777-4A7B-AD71-63E7C805C68C}"/>
              </a:ext>
            </a:extLst>
          </p:cNvPr>
          <p:cNvSpPr/>
          <p:nvPr/>
        </p:nvSpPr>
        <p:spPr>
          <a:xfrm>
            <a:off x="989683" y="3133792"/>
            <a:ext cx="8913142"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Naïve Bayes Algorithm</a:t>
            </a: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5.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17" name="직사각형 16">
            <a:extLst>
              <a:ext uri="{FF2B5EF4-FFF2-40B4-BE49-F238E27FC236}">
                <a16:creationId xmlns:a16="http://schemas.microsoft.com/office/drawing/2014/main" id="{88522452-0F25-4CFF-B4F1-4F97F94CF66D}"/>
              </a:ext>
            </a:extLst>
          </p:cNvPr>
          <p:cNvSpPr/>
          <p:nvPr/>
        </p:nvSpPr>
        <p:spPr>
          <a:xfrm>
            <a:off x="1054111" y="3929021"/>
            <a:ext cx="6633605"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algn="l" defTabSz="914400" rtl="0" eaLnBrk="1" fontAlgn="base" latinLnBrk="1" hangingPunct="1">
              <a:lnSpc>
                <a:spcPct val="100000"/>
              </a:lnSpc>
              <a:spcBef>
                <a:spcPct val="0"/>
              </a:spcBef>
              <a:spcAft>
                <a:spcPts val="1000"/>
              </a:spcAft>
              <a:buClrTx/>
              <a:buSzPct val="120000"/>
              <a:buBlip>
                <a:blip r:embed="rId3"/>
              </a:buBlip>
              <a:tabLst/>
              <a:defRPr/>
            </a:pPr>
            <a:r>
              <a:rPr kumimoji="1" lang="en-US" altLang="ko-KR" sz="1800" b="0" i="0" u="none" strike="noStrike" kern="1200" cap="none" spc="0" normalizeH="0" baseline="0" noProof="0" dirty="0">
                <a:ln>
                  <a:noFill/>
                </a:ln>
                <a:solidFill>
                  <a:prstClr val="black">
                    <a:lumMod val="75000"/>
                    <a:lumOff val="25000"/>
                  </a:prstClr>
                </a:solidFill>
                <a:effectLst/>
                <a:uLnTx/>
                <a:uFillTx/>
                <a:latin typeface="SamsungOne-700" panose="020B0803030303020204" pitchFamily="34" charset="0"/>
                <a:ea typeface="SamsungOne-700" panose="020B0803030303020204" pitchFamily="34" charset="0"/>
                <a:cs typeface="+mn-cs"/>
              </a:rPr>
              <a:t>5.1. Naïve Bayes Algorithm</a:t>
            </a:r>
          </a:p>
        </p:txBody>
      </p:sp>
    </p:spTree>
    <p:extLst>
      <p:ext uri="{BB962C8B-B14F-4D97-AF65-F5344CB8AC3E}">
        <p14:creationId xmlns:p14="http://schemas.microsoft.com/office/powerpoint/2010/main" val="1874721909"/>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5.1. Naïve Bayes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05</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00" name="직사각형 199">
            <a:extLst>
              <a:ext uri="{FF2B5EF4-FFF2-40B4-BE49-F238E27FC236}">
                <a16:creationId xmlns:a16="http://schemas.microsoft.com/office/drawing/2014/main" id="{E8D21B0D-F4D1-4501-AE0A-758BD547B809}"/>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Naïve Bayes Algorithm</a:t>
            </a:r>
          </a:p>
        </p:txBody>
      </p:sp>
      <p:sp>
        <p:nvSpPr>
          <p:cNvPr id="201" name="직사각형 200">
            <a:extLst>
              <a:ext uri="{FF2B5EF4-FFF2-40B4-BE49-F238E27FC236}">
                <a16:creationId xmlns:a16="http://schemas.microsoft.com/office/drawing/2014/main" id="{9C349F5D-7044-42D1-AA7E-93D389AAEE1B}"/>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Naïve Bayes algorithm</a:t>
            </a:r>
          </a:p>
        </p:txBody>
      </p:sp>
      <p:sp>
        <p:nvSpPr>
          <p:cNvPr id="202" name="직사각형 201">
            <a:extLst>
              <a:ext uri="{FF2B5EF4-FFF2-40B4-BE49-F238E27FC236}">
                <a16:creationId xmlns:a16="http://schemas.microsoft.com/office/drawing/2014/main" id="{B8AB28E7-75F6-4D64-956B-057344C4C07F}"/>
              </a:ext>
            </a:extLst>
          </p:cNvPr>
          <p:cNvSpPr/>
          <p:nvPr/>
        </p:nvSpPr>
        <p:spPr>
          <a:xfrm>
            <a:off x="672080" y="2204864"/>
            <a:ext cx="867194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It is a straightforward application of Bayes’ theorem.</a:t>
            </a:r>
          </a:p>
        </p:txBody>
      </p:sp>
      <p:sp>
        <p:nvSpPr>
          <p:cNvPr id="203" name="직사각형 202">
            <a:extLst>
              <a:ext uri="{FF2B5EF4-FFF2-40B4-BE49-F238E27FC236}">
                <a16:creationId xmlns:a16="http://schemas.microsoft.com/office/drawing/2014/main" id="{29F904AF-1B81-4012-A734-A70529D1AB26}"/>
              </a:ext>
            </a:extLst>
          </p:cNvPr>
          <p:cNvSpPr/>
          <p:nvPr/>
        </p:nvSpPr>
        <p:spPr>
          <a:xfrm>
            <a:off x="558800" y="2780928"/>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Pros</a:t>
            </a:r>
          </a:p>
        </p:txBody>
      </p:sp>
      <p:sp>
        <p:nvSpPr>
          <p:cNvPr id="204" name="직사각형 203">
            <a:extLst>
              <a:ext uri="{FF2B5EF4-FFF2-40B4-BE49-F238E27FC236}">
                <a16:creationId xmlns:a16="http://schemas.microsoft.com/office/drawing/2014/main" id="{B016110D-7ED9-4D85-8E89-FF1B560E67C4}"/>
              </a:ext>
            </a:extLst>
          </p:cNvPr>
          <p:cNvSpPr/>
          <p:nvPr/>
        </p:nvSpPr>
        <p:spPr>
          <a:xfrm>
            <a:off x="672080" y="3083620"/>
            <a:ext cx="867194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Intuitive and simple</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Not that sensitive to the noise and outliers</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Fast</a:t>
            </a:r>
          </a:p>
        </p:txBody>
      </p:sp>
      <p:sp>
        <p:nvSpPr>
          <p:cNvPr id="205" name="직사각형 204">
            <a:extLst>
              <a:ext uri="{FF2B5EF4-FFF2-40B4-BE49-F238E27FC236}">
                <a16:creationId xmlns:a16="http://schemas.microsoft.com/office/drawing/2014/main" id="{D7428AEB-FFE4-4E8A-8A2F-75BF0140B4CF}"/>
              </a:ext>
            </a:extLst>
          </p:cNvPr>
          <p:cNvSpPr/>
          <p:nvPr/>
        </p:nvSpPr>
        <p:spPr>
          <a:xfrm>
            <a:off x="558800" y="425709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Cons</a:t>
            </a:r>
          </a:p>
        </p:txBody>
      </p:sp>
      <p:sp>
        <p:nvSpPr>
          <p:cNvPr id="206" name="직사각형 205">
            <a:extLst>
              <a:ext uri="{FF2B5EF4-FFF2-40B4-BE49-F238E27FC236}">
                <a16:creationId xmlns:a16="http://schemas.microsoft.com/office/drawing/2014/main" id="{7D5BCB4C-6605-4AA5-97D8-994EC72240EE}"/>
              </a:ext>
            </a:extLst>
          </p:cNvPr>
          <p:cNvSpPr/>
          <p:nvPr/>
        </p:nvSpPr>
        <p:spPr>
          <a:xfrm>
            <a:off x="672080" y="4559784"/>
            <a:ext cx="867194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Assumes that the features are independent, which may not be strictly true</a:t>
            </a:r>
          </a:p>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Not among the best-performing algorithms</a:t>
            </a:r>
          </a:p>
        </p:txBody>
      </p:sp>
    </p:spTree>
    <p:extLst>
      <p:ext uri="{BB962C8B-B14F-4D97-AF65-F5344CB8AC3E}">
        <p14:creationId xmlns:p14="http://schemas.microsoft.com/office/powerpoint/2010/main" val="1707093374"/>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5.1. Naïve Bayes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05</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9A794A9F-50B2-4EF4-B37C-6A6A5DC3DD63}"/>
                  </a:ext>
                </a:extLst>
              </p:cNvPr>
              <p:cNvSpPr/>
              <p:nvPr/>
            </p:nvSpPr>
            <p:spPr>
              <a:xfrm>
                <a:off x="3798724" y="2060575"/>
                <a:ext cx="2316752" cy="6819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spcAft>
                    <a:spcPts val="600"/>
                  </a:spcAft>
                </a:pPr>
                <a14:m>
                  <m:oMathPara xmlns:m="http://schemas.openxmlformats.org/officeDocument/2006/math">
                    <m:oMathParaPr>
                      <m:jc m:val="center"/>
                    </m:oMathParaPr>
                    <m:oMath xmlns:m="http://schemas.openxmlformats.org/officeDocument/2006/math">
                      <m:r>
                        <a:rPr lang="en-US" altLang="ko-KR" sz="1600" i="1">
                          <a:solidFill>
                            <a:schemeClr val="tx1">
                              <a:lumMod val="85000"/>
                              <a:lumOff val="15000"/>
                            </a:schemeClr>
                          </a:solidFill>
                          <a:latin typeface="Cambria Math"/>
                        </a:rPr>
                        <m:t>𝑃</m:t>
                      </m:r>
                      <m:d>
                        <m:dPr>
                          <m:ctrlPr>
                            <a:rPr lang="ko-KR" altLang="ko-KR" sz="1600" i="1">
                              <a:solidFill>
                                <a:schemeClr val="tx1">
                                  <a:lumMod val="85000"/>
                                  <a:lumOff val="15000"/>
                                </a:schemeClr>
                              </a:solidFill>
                              <a:latin typeface="Cambria Math" panose="02040503050406030204" pitchFamily="18" charset="0"/>
                            </a:rPr>
                          </m:ctrlPr>
                        </m:dPr>
                        <m:e>
                          <m:r>
                            <a:rPr lang="en-US" altLang="ko-KR" sz="1600" i="1">
                              <a:solidFill>
                                <a:schemeClr val="tx1">
                                  <a:lumMod val="85000"/>
                                  <a:lumOff val="15000"/>
                                </a:schemeClr>
                              </a:solidFill>
                              <a:latin typeface="Cambria Math" panose="02040503050406030204" pitchFamily="18" charset="0"/>
                            </a:rPr>
                            <m:t>𝐴</m:t>
                          </m:r>
                        </m:e>
                        <m:e>
                          <m:r>
                            <a:rPr lang="en-US" altLang="ko-KR" sz="1600" i="1">
                              <a:solidFill>
                                <a:schemeClr val="tx1">
                                  <a:lumMod val="85000"/>
                                  <a:lumOff val="15000"/>
                                </a:schemeClr>
                              </a:solidFill>
                              <a:latin typeface="Cambria Math" panose="02040503050406030204" pitchFamily="18" charset="0"/>
                            </a:rPr>
                            <m:t>𝐵</m:t>
                          </m:r>
                        </m:e>
                      </m:d>
                      <m:r>
                        <a:rPr lang="en-US" altLang="ko-KR" sz="1600" i="1">
                          <a:solidFill>
                            <a:schemeClr val="tx1">
                              <a:lumMod val="85000"/>
                              <a:lumOff val="15000"/>
                            </a:schemeClr>
                          </a:solidFill>
                          <a:latin typeface="Cambria Math"/>
                        </a:rPr>
                        <m:t>=</m:t>
                      </m:r>
                      <m:f>
                        <m:fPr>
                          <m:ctrlPr>
                            <a:rPr lang="ko-KR" altLang="ko-KR" sz="1600" i="1">
                              <a:solidFill>
                                <a:schemeClr val="tx1">
                                  <a:lumMod val="85000"/>
                                  <a:lumOff val="15000"/>
                                </a:schemeClr>
                              </a:solidFill>
                              <a:latin typeface="Cambria Math" panose="02040503050406030204" pitchFamily="18" charset="0"/>
                            </a:rPr>
                          </m:ctrlPr>
                        </m:fPr>
                        <m:num>
                          <m:r>
                            <a:rPr lang="en-US" altLang="ko-KR" sz="1600" i="1">
                              <a:solidFill>
                                <a:schemeClr val="tx1">
                                  <a:lumMod val="85000"/>
                                  <a:lumOff val="15000"/>
                                </a:schemeClr>
                              </a:solidFill>
                              <a:latin typeface="Cambria Math"/>
                            </a:rPr>
                            <m:t>𝑃</m:t>
                          </m:r>
                          <m:d>
                            <m:dPr>
                              <m:ctrlPr>
                                <a:rPr lang="ko-KR" altLang="ko-KR" sz="1600" i="1">
                                  <a:solidFill>
                                    <a:schemeClr val="tx1">
                                      <a:lumMod val="85000"/>
                                      <a:lumOff val="15000"/>
                                    </a:schemeClr>
                                  </a:solidFill>
                                  <a:latin typeface="Cambria Math" panose="02040503050406030204" pitchFamily="18" charset="0"/>
                                </a:rPr>
                              </m:ctrlPr>
                            </m:dPr>
                            <m:e>
                              <m:r>
                                <a:rPr lang="en-US" altLang="ko-KR" sz="1600" i="1">
                                  <a:solidFill>
                                    <a:schemeClr val="tx1">
                                      <a:lumMod val="85000"/>
                                      <a:lumOff val="15000"/>
                                    </a:schemeClr>
                                  </a:solidFill>
                                  <a:latin typeface="Cambria Math" panose="02040503050406030204" pitchFamily="18" charset="0"/>
                                </a:rPr>
                                <m:t>𝐵</m:t>
                              </m:r>
                            </m:e>
                            <m:e>
                              <m:r>
                                <a:rPr lang="en-US" altLang="ko-KR" sz="1600" i="1">
                                  <a:solidFill>
                                    <a:schemeClr val="tx1">
                                      <a:lumMod val="85000"/>
                                      <a:lumOff val="15000"/>
                                    </a:schemeClr>
                                  </a:solidFill>
                                  <a:latin typeface="Cambria Math" panose="02040503050406030204" pitchFamily="18" charset="0"/>
                                </a:rPr>
                                <m:t>𝐴</m:t>
                              </m:r>
                            </m:e>
                          </m:d>
                          <m:r>
                            <a:rPr lang="en-US" altLang="ko-KR" sz="1600" i="1">
                              <a:solidFill>
                                <a:schemeClr val="tx1">
                                  <a:lumMod val="85000"/>
                                  <a:lumOff val="15000"/>
                                </a:schemeClr>
                              </a:solidFill>
                              <a:latin typeface="Cambria Math" panose="02040503050406030204" pitchFamily="18" charset="0"/>
                            </a:rPr>
                            <m:t>𝑃</m:t>
                          </m:r>
                          <m:d>
                            <m:dPr>
                              <m:ctrlPr>
                                <a:rPr lang="en-US" altLang="ko-KR" sz="1600" i="1">
                                  <a:solidFill>
                                    <a:schemeClr val="tx1">
                                      <a:lumMod val="85000"/>
                                      <a:lumOff val="15000"/>
                                    </a:schemeClr>
                                  </a:solidFill>
                                  <a:latin typeface="Cambria Math" panose="02040503050406030204" pitchFamily="18" charset="0"/>
                                </a:rPr>
                              </m:ctrlPr>
                            </m:dPr>
                            <m:e>
                              <m:r>
                                <a:rPr lang="en-US" altLang="ko-KR" sz="1600" i="1">
                                  <a:solidFill>
                                    <a:schemeClr val="tx1">
                                      <a:lumMod val="85000"/>
                                      <a:lumOff val="15000"/>
                                    </a:schemeClr>
                                  </a:solidFill>
                                  <a:latin typeface="Cambria Math" panose="02040503050406030204" pitchFamily="18" charset="0"/>
                                </a:rPr>
                                <m:t>𝐴</m:t>
                              </m:r>
                            </m:e>
                          </m:d>
                        </m:num>
                        <m:den>
                          <m:r>
                            <a:rPr lang="en-US" altLang="ko-KR" sz="1600" i="1">
                              <a:solidFill>
                                <a:schemeClr val="tx1">
                                  <a:lumMod val="85000"/>
                                  <a:lumOff val="15000"/>
                                </a:schemeClr>
                              </a:solidFill>
                              <a:latin typeface="Cambria Math"/>
                            </a:rPr>
                            <m:t>𝑃</m:t>
                          </m:r>
                          <m:d>
                            <m:dPr>
                              <m:ctrlPr>
                                <a:rPr lang="en-US" altLang="ko-KR" sz="1600" i="1">
                                  <a:solidFill>
                                    <a:schemeClr val="tx1">
                                      <a:lumMod val="85000"/>
                                      <a:lumOff val="15000"/>
                                    </a:schemeClr>
                                  </a:solidFill>
                                  <a:latin typeface="Cambria Math" panose="02040503050406030204" pitchFamily="18" charset="0"/>
                                </a:rPr>
                              </m:ctrlPr>
                            </m:dPr>
                            <m:e>
                              <m:r>
                                <a:rPr lang="en-US" altLang="ko-KR" sz="1600" i="1">
                                  <a:solidFill>
                                    <a:schemeClr val="tx1">
                                      <a:lumMod val="85000"/>
                                      <a:lumOff val="15000"/>
                                    </a:schemeClr>
                                  </a:solidFill>
                                  <a:latin typeface="Cambria Math" panose="02040503050406030204" pitchFamily="18" charset="0"/>
                                </a:rPr>
                                <m:t>𝐵</m:t>
                              </m:r>
                            </m:e>
                          </m:d>
                        </m:den>
                      </m:f>
                    </m:oMath>
                  </m:oMathPara>
                </a14:m>
                <a:endParaRPr lang="en-US" altLang="ko-KR" sz="1600" dirty="0">
                  <a:solidFill>
                    <a:schemeClr val="tx1">
                      <a:lumMod val="85000"/>
                      <a:lumOff val="15000"/>
                    </a:schemeClr>
                  </a:solidFill>
                  <a:latin typeface="SamsungOne 400" panose="020B0503030303020204" pitchFamily="34" charset="0"/>
                  <a:ea typeface="SamsungOne 400" panose="020B0503030303020204" pitchFamily="34" charset="0"/>
                </a:endParaRPr>
              </a:p>
            </p:txBody>
          </p:sp>
        </mc:Choice>
        <mc:Fallback xmlns="">
          <p:sp>
            <p:nvSpPr>
              <p:cNvPr id="12" name="직사각형 11">
                <a:extLst>
                  <a:ext uri="{FF2B5EF4-FFF2-40B4-BE49-F238E27FC236}">
                    <a16:creationId xmlns:a16="http://schemas.microsoft.com/office/drawing/2014/main" id="{9A794A9F-50B2-4EF4-B37C-6A6A5DC3DD63}"/>
                  </a:ext>
                </a:extLst>
              </p:cNvPr>
              <p:cNvSpPr>
                <a:spLocks noRot="1" noChangeAspect="1" noMove="1" noResize="1" noEditPoints="1" noAdjustHandles="1" noChangeArrowheads="1" noChangeShapeType="1" noTextEdit="1"/>
              </p:cNvSpPr>
              <p:nvPr/>
            </p:nvSpPr>
            <p:spPr>
              <a:xfrm>
                <a:off x="3798724" y="2060575"/>
                <a:ext cx="2316752" cy="681982"/>
              </a:xfrm>
              <a:prstGeom prst="rect">
                <a:avLst/>
              </a:prstGeom>
              <a:blipFill>
                <a:blip r:embed="rId3"/>
                <a:stretch>
                  <a:fillRect/>
                </a:stretch>
              </a:blipFill>
              <a:ln>
                <a:noFill/>
              </a:ln>
            </p:spPr>
            <p:txBody>
              <a:bodyPr/>
              <a:lstStyle/>
              <a:p>
                <a:r>
                  <a:rPr lang="ko-KR" altLang="en-US">
                    <a:noFill/>
                  </a:rPr>
                  <a:t> </a:t>
                </a:r>
              </a:p>
            </p:txBody>
          </p:sp>
        </mc:Fallback>
      </mc:AlternateContent>
      <p:sp>
        <p:nvSpPr>
          <p:cNvPr id="13" name="직사각형 12">
            <a:extLst>
              <a:ext uri="{FF2B5EF4-FFF2-40B4-BE49-F238E27FC236}">
                <a16:creationId xmlns:a16="http://schemas.microsoft.com/office/drawing/2014/main" id="{00F0E0C0-95C6-447E-87BD-C40911B748AA}"/>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About Naïve Bayes algorithm</a:t>
            </a:r>
          </a:p>
        </p:txBody>
      </p:sp>
      <p:sp>
        <p:nvSpPr>
          <p:cNvPr id="14" name="직사각형 13">
            <a:extLst>
              <a:ext uri="{FF2B5EF4-FFF2-40B4-BE49-F238E27FC236}">
                <a16:creationId xmlns:a16="http://schemas.microsoft.com/office/drawing/2014/main" id="{D194623E-62CA-4FDC-A4F6-9BBED43C2731}"/>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Bayes’ theorem:</a:t>
            </a:r>
          </a:p>
        </p:txBody>
      </p:sp>
      <p:sp>
        <p:nvSpPr>
          <p:cNvPr id="15" name="직사각형 14">
            <a:extLst>
              <a:ext uri="{FF2B5EF4-FFF2-40B4-BE49-F238E27FC236}">
                <a16:creationId xmlns:a16="http://schemas.microsoft.com/office/drawing/2014/main" id="{BE0CA013-3CDE-4626-B46B-937BE95A890F}"/>
              </a:ext>
            </a:extLst>
          </p:cNvPr>
          <p:cNvSpPr/>
          <p:nvPr/>
        </p:nvSpPr>
        <p:spPr>
          <a:xfrm>
            <a:off x="671261" y="2924944"/>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Now we take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𝐴</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𝐶𝑙𝑎𝑠𝑠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and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𝐵</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𝐷𝑎𝑡𝑎</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then:</a:t>
            </a:r>
          </a:p>
        </p:txBody>
      </p:sp>
      <mc:AlternateContent xmlns:mc="http://schemas.openxmlformats.org/markup-compatibility/2006" xmlns:a14="http://schemas.microsoft.com/office/drawing/2010/main">
        <mc:Choice Requires="a14">
          <p:sp>
            <p:nvSpPr>
              <p:cNvPr id="16" name="직사각형 15">
                <a:extLst>
                  <a:ext uri="{FF2B5EF4-FFF2-40B4-BE49-F238E27FC236}">
                    <a16:creationId xmlns:a16="http://schemas.microsoft.com/office/drawing/2014/main" id="{99DE7437-D0DB-4733-9C38-32BF7F8DE986}"/>
                  </a:ext>
                </a:extLst>
              </p:cNvPr>
              <p:cNvSpPr/>
              <p:nvPr/>
            </p:nvSpPr>
            <p:spPr>
              <a:xfrm>
                <a:off x="2049463" y="3318574"/>
                <a:ext cx="5780905" cy="6882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spcAft>
                    <a:spcPts val="600"/>
                  </a:spcAft>
                </a:pPr>
                <a14:m>
                  <m:oMathPara xmlns:m="http://schemas.openxmlformats.org/officeDocument/2006/math">
                    <m:oMathParaPr>
                      <m:jc m:val="center"/>
                    </m:oMathParaPr>
                    <m:oMath xmlns:m="http://schemas.openxmlformats.org/officeDocument/2006/math">
                      <m:sSub>
                        <m:sSubPr>
                          <m:ctrlPr>
                            <a:rPr lang="ko-KR" altLang="ko-KR" sz="1600" i="1">
                              <a:solidFill>
                                <a:schemeClr val="tx1">
                                  <a:lumMod val="85000"/>
                                  <a:lumOff val="15000"/>
                                </a:schemeClr>
                              </a:solidFill>
                              <a:latin typeface="Cambria Math" panose="02040503050406030204" pitchFamily="18" charset="0"/>
                            </a:rPr>
                          </m:ctrlPr>
                        </m:sSubPr>
                        <m:e>
                          <m:r>
                            <a:rPr lang="en-US" altLang="ko-KR" sz="1600" i="1">
                              <a:solidFill>
                                <a:schemeClr val="tx1">
                                  <a:lumMod val="85000"/>
                                  <a:lumOff val="15000"/>
                                </a:schemeClr>
                              </a:solidFill>
                              <a:latin typeface="Cambria Math"/>
                            </a:rPr>
                            <m:t>𝑃</m:t>
                          </m:r>
                        </m:e>
                        <m:sub>
                          <m:r>
                            <a:rPr lang="en-US" altLang="ko-KR" sz="1600" i="1">
                              <a:solidFill>
                                <a:schemeClr val="tx1">
                                  <a:lumMod val="85000"/>
                                  <a:lumOff val="15000"/>
                                </a:schemeClr>
                              </a:solidFill>
                              <a:latin typeface="Cambria Math"/>
                            </a:rPr>
                            <m:t>𝑝𝑜𝑠𝑡</m:t>
                          </m:r>
                        </m:sub>
                      </m:sSub>
                      <m:d>
                        <m:dPr>
                          <m:ctrlPr>
                            <a:rPr lang="en-US" altLang="ko-KR" sz="1600" i="1">
                              <a:solidFill>
                                <a:schemeClr val="tx1">
                                  <a:lumMod val="85000"/>
                                  <a:lumOff val="15000"/>
                                </a:schemeClr>
                              </a:solidFill>
                              <a:latin typeface="Cambria Math" panose="02040503050406030204" pitchFamily="18" charset="0"/>
                            </a:rPr>
                          </m:ctrlPr>
                        </m:dPr>
                        <m:e>
                          <m:r>
                            <a:rPr lang="en-US" altLang="ko-KR" sz="1600" i="1">
                              <a:solidFill>
                                <a:schemeClr val="tx1">
                                  <a:lumMod val="85000"/>
                                  <a:lumOff val="15000"/>
                                </a:schemeClr>
                              </a:solidFill>
                              <a:latin typeface="Cambria Math"/>
                            </a:rPr>
                            <m:t>𝐶𝑙𝑎𝑠𝑠</m:t>
                          </m:r>
                        </m:e>
                      </m:d>
                      <m:r>
                        <a:rPr lang="en-US" altLang="ko-KR" sz="1600" i="1">
                          <a:solidFill>
                            <a:schemeClr val="tx1">
                              <a:lumMod val="85000"/>
                              <a:lumOff val="15000"/>
                            </a:schemeClr>
                          </a:solidFill>
                          <a:latin typeface="Cambria Math"/>
                        </a:rPr>
                        <m:t>=</m:t>
                      </m:r>
                      <m:r>
                        <a:rPr lang="en-US" altLang="ko-KR" sz="1600" i="1">
                          <a:solidFill>
                            <a:schemeClr val="tx1">
                              <a:lumMod val="85000"/>
                              <a:lumOff val="15000"/>
                            </a:schemeClr>
                          </a:solidFill>
                          <a:latin typeface="Cambria Math"/>
                        </a:rPr>
                        <m:t>𝑃</m:t>
                      </m:r>
                      <m:d>
                        <m:dPr>
                          <m:ctrlPr>
                            <a:rPr lang="ko-KR" altLang="ko-KR" sz="1600" i="1">
                              <a:solidFill>
                                <a:schemeClr val="tx1">
                                  <a:lumMod val="85000"/>
                                  <a:lumOff val="15000"/>
                                </a:schemeClr>
                              </a:solidFill>
                              <a:latin typeface="Cambria Math" panose="02040503050406030204" pitchFamily="18" charset="0"/>
                            </a:rPr>
                          </m:ctrlPr>
                        </m:dPr>
                        <m:e>
                          <m:r>
                            <a:rPr lang="en-US" altLang="ko-KR" sz="1600" i="1">
                              <a:solidFill>
                                <a:schemeClr val="tx1">
                                  <a:lumMod val="85000"/>
                                  <a:lumOff val="15000"/>
                                </a:schemeClr>
                              </a:solidFill>
                              <a:latin typeface="Cambria Math"/>
                            </a:rPr>
                            <m:t>𝐶𝑙𝑎𝑠𝑠</m:t>
                          </m:r>
                        </m:e>
                        <m:e>
                          <m:r>
                            <a:rPr lang="en-US" altLang="ko-KR" sz="1600" i="1">
                              <a:solidFill>
                                <a:schemeClr val="tx1">
                                  <a:lumMod val="85000"/>
                                  <a:lumOff val="15000"/>
                                </a:schemeClr>
                              </a:solidFill>
                              <a:latin typeface="Cambria Math"/>
                            </a:rPr>
                            <m:t>𝐷𝑎𝑡𝑎</m:t>
                          </m:r>
                        </m:e>
                      </m:d>
                      <m:r>
                        <a:rPr lang="en-US" altLang="ko-KR" sz="1600" i="1">
                          <a:solidFill>
                            <a:schemeClr val="tx1">
                              <a:lumMod val="85000"/>
                              <a:lumOff val="15000"/>
                            </a:schemeClr>
                          </a:solidFill>
                          <a:latin typeface="Cambria Math"/>
                        </a:rPr>
                        <m:t>=</m:t>
                      </m:r>
                      <m:f>
                        <m:fPr>
                          <m:ctrlPr>
                            <a:rPr lang="ko-KR" altLang="ko-KR" sz="1600" i="1">
                              <a:solidFill>
                                <a:schemeClr val="tx1">
                                  <a:lumMod val="85000"/>
                                  <a:lumOff val="15000"/>
                                </a:schemeClr>
                              </a:solidFill>
                              <a:latin typeface="Cambria Math" panose="02040503050406030204" pitchFamily="18" charset="0"/>
                            </a:rPr>
                          </m:ctrlPr>
                        </m:fPr>
                        <m:num>
                          <m:r>
                            <a:rPr lang="en-US" altLang="ko-KR" sz="1600" i="1">
                              <a:solidFill>
                                <a:schemeClr val="tx1">
                                  <a:lumMod val="85000"/>
                                  <a:lumOff val="15000"/>
                                </a:schemeClr>
                              </a:solidFill>
                              <a:latin typeface="Cambria Math"/>
                            </a:rPr>
                            <m:t>𝑃</m:t>
                          </m:r>
                          <m:d>
                            <m:dPr>
                              <m:ctrlPr>
                                <a:rPr lang="ko-KR" altLang="ko-KR" sz="1600" i="1">
                                  <a:solidFill>
                                    <a:schemeClr val="tx1">
                                      <a:lumMod val="85000"/>
                                      <a:lumOff val="15000"/>
                                    </a:schemeClr>
                                  </a:solidFill>
                                  <a:latin typeface="Cambria Math" panose="02040503050406030204" pitchFamily="18" charset="0"/>
                                </a:rPr>
                              </m:ctrlPr>
                            </m:dPr>
                            <m:e>
                              <m:r>
                                <a:rPr lang="en-US" altLang="ko-KR" sz="1600" i="1">
                                  <a:solidFill>
                                    <a:schemeClr val="tx1">
                                      <a:lumMod val="85000"/>
                                      <a:lumOff val="15000"/>
                                    </a:schemeClr>
                                  </a:solidFill>
                                  <a:latin typeface="Cambria Math"/>
                                </a:rPr>
                                <m:t>𝐷𝑎𝑡𝑎</m:t>
                              </m:r>
                            </m:e>
                            <m:e>
                              <m:r>
                                <a:rPr lang="en-US" altLang="ko-KR" sz="1600" i="1">
                                  <a:solidFill>
                                    <a:schemeClr val="tx1">
                                      <a:lumMod val="85000"/>
                                      <a:lumOff val="15000"/>
                                    </a:schemeClr>
                                  </a:solidFill>
                                  <a:latin typeface="Cambria Math"/>
                                </a:rPr>
                                <m:t>𝐶𝑙𝑎𝑠𝑠</m:t>
                              </m:r>
                            </m:e>
                          </m:d>
                          <m:sSub>
                            <m:sSubPr>
                              <m:ctrlPr>
                                <a:rPr lang="ko-KR" altLang="ko-KR" sz="1600" i="1">
                                  <a:solidFill>
                                    <a:schemeClr val="tx1">
                                      <a:lumMod val="85000"/>
                                      <a:lumOff val="15000"/>
                                    </a:schemeClr>
                                  </a:solidFill>
                                  <a:latin typeface="Cambria Math" panose="02040503050406030204" pitchFamily="18" charset="0"/>
                                </a:rPr>
                              </m:ctrlPr>
                            </m:sSubPr>
                            <m:e>
                              <m:r>
                                <a:rPr lang="en-US" altLang="ko-KR" sz="1600" i="1">
                                  <a:solidFill>
                                    <a:schemeClr val="tx1">
                                      <a:lumMod val="85000"/>
                                      <a:lumOff val="15000"/>
                                    </a:schemeClr>
                                  </a:solidFill>
                                  <a:latin typeface="Cambria Math"/>
                                </a:rPr>
                                <m:t>𝑃</m:t>
                              </m:r>
                            </m:e>
                            <m:sub>
                              <m:r>
                                <a:rPr lang="en-US" altLang="ko-KR" sz="1600" i="1">
                                  <a:solidFill>
                                    <a:schemeClr val="tx1">
                                      <a:lumMod val="85000"/>
                                      <a:lumOff val="15000"/>
                                    </a:schemeClr>
                                  </a:solidFill>
                                  <a:latin typeface="Cambria Math"/>
                                </a:rPr>
                                <m:t>𝑝𝑟𝑖𝑜𝑟</m:t>
                              </m:r>
                            </m:sub>
                          </m:sSub>
                          <m:d>
                            <m:dPr>
                              <m:ctrlPr>
                                <a:rPr lang="en-US" altLang="ko-KR" sz="1600" i="1">
                                  <a:solidFill>
                                    <a:schemeClr val="tx1">
                                      <a:lumMod val="85000"/>
                                      <a:lumOff val="15000"/>
                                    </a:schemeClr>
                                  </a:solidFill>
                                  <a:latin typeface="Cambria Math" panose="02040503050406030204" pitchFamily="18" charset="0"/>
                                </a:rPr>
                              </m:ctrlPr>
                            </m:dPr>
                            <m:e>
                              <m:r>
                                <a:rPr lang="en-US" altLang="ko-KR" sz="1600" i="1">
                                  <a:solidFill>
                                    <a:schemeClr val="tx1">
                                      <a:lumMod val="85000"/>
                                      <a:lumOff val="15000"/>
                                    </a:schemeClr>
                                  </a:solidFill>
                                  <a:latin typeface="Cambria Math"/>
                                </a:rPr>
                                <m:t>𝐶𝑙𝑎𝑠𝑠</m:t>
                              </m:r>
                            </m:e>
                          </m:d>
                        </m:num>
                        <m:den>
                          <m:r>
                            <a:rPr lang="en-US" altLang="ko-KR" sz="1600" i="1">
                              <a:solidFill>
                                <a:schemeClr val="tx1">
                                  <a:lumMod val="85000"/>
                                  <a:lumOff val="15000"/>
                                </a:schemeClr>
                              </a:solidFill>
                              <a:latin typeface="Cambria Math"/>
                            </a:rPr>
                            <m:t>𝑃</m:t>
                          </m:r>
                          <m:d>
                            <m:dPr>
                              <m:ctrlPr>
                                <a:rPr lang="en-US" altLang="ko-KR" sz="1600" i="1">
                                  <a:solidFill>
                                    <a:schemeClr val="tx1">
                                      <a:lumMod val="85000"/>
                                      <a:lumOff val="15000"/>
                                    </a:schemeClr>
                                  </a:solidFill>
                                  <a:latin typeface="Cambria Math" panose="02040503050406030204" pitchFamily="18" charset="0"/>
                                </a:rPr>
                              </m:ctrlPr>
                            </m:dPr>
                            <m:e>
                              <m:r>
                                <a:rPr lang="en-US" altLang="ko-KR" sz="1600" i="1">
                                  <a:solidFill>
                                    <a:schemeClr val="tx1">
                                      <a:lumMod val="85000"/>
                                      <a:lumOff val="15000"/>
                                    </a:schemeClr>
                                  </a:solidFill>
                                  <a:latin typeface="Cambria Math"/>
                                </a:rPr>
                                <m:t>𝐷𝑎𝑡𝑎</m:t>
                              </m:r>
                            </m:e>
                          </m:d>
                        </m:den>
                      </m:f>
                    </m:oMath>
                  </m:oMathPara>
                </a14:m>
                <a:endParaRPr lang="en-US" altLang="ko-KR" sz="1600" i="1" dirty="0">
                  <a:solidFill>
                    <a:schemeClr val="tx1">
                      <a:lumMod val="85000"/>
                      <a:lumOff val="15000"/>
                    </a:schemeClr>
                  </a:solidFill>
                  <a:latin typeface="Cambria Math"/>
                </a:endParaRPr>
              </a:p>
            </p:txBody>
          </p:sp>
        </mc:Choice>
        <mc:Fallback xmlns="">
          <p:sp>
            <p:nvSpPr>
              <p:cNvPr id="16" name="직사각형 15">
                <a:extLst>
                  <a:ext uri="{FF2B5EF4-FFF2-40B4-BE49-F238E27FC236}">
                    <a16:creationId xmlns:a16="http://schemas.microsoft.com/office/drawing/2014/main" id="{99DE7437-D0DB-4733-9C38-32BF7F8DE986}"/>
                  </a:ext>
                </a:extLst>
              </p:cNvPr>
              <p:cNvSpPr>
                <a:spLocks noRot="1" noChangeAspect="1" noMove="1" noResize="1" noEditPoints="1" noAdjustHandles="1" noChangeArrowheads="1" noChangeShapeType="1" noTextEdit="1"/>
              </p:cNvSpPr>
              <p:nvPr/>
            </p:nvSpPr>
            <p:spPr>
              <a:xfrm>
                <a:off x="2049463" y="3318574"/>
                <a:ext cx="5780905" cy="688202"/>
              </a:xfrm>
              <a:prstGeom prst="rect">
                <a:avLst/>
              </a:prstGeom>
              <a:blipFill>
                <a:blip r:embed="rId5"/>
                <a:stretch>
                  <a:fillRect/>
                </a:stretch>
              </a:blipFill>
              <a:ln>
                <a:noFill/>
              </a:ln>
            </p:spPr>
            <p:txBody>
              <a:bodyPr/>
              <a:lstStyle/>
              <a:p>
                <a:r>
                  <a:rPr lang="ko-KR" altLang="en-US">
                    <a:noFill/>
                  </a:rPr>
                  <a:t> </a:t>
                </a:r>
              </a:p>
            </p:txBody>
          </p:sp>
        </mc:Fallback>
      </mc:AlternateContent>
      <p:sp>
        <p:nvSpPr>
          <p:cNvPr id="17" name="직사각형 16">
            <a:extLst>
              <a:ext uri="{FF2B5EF4-FFF2-40B4-BE49-F238E27FC236}">
                <a16:creationId xmlns:a16="http://schemas.microsoft.com/office/drawing/2014/main" id="{8E420489-4541-4182-9656-927256E1F423}"/>
              </a:ext>
            </a:extLst>
          </p:cNvPr>
          <p:cNvSpPr/>
          <p:nvPr/>
        </p:nvSpPr>
        <p:spPr>
          <a:xfrm>
            <a:off x="656497" y="417661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We are more interested in comparing relative probabilities:</a:t>
            </a:r>
          </a:p>
        </p:txBody>
      </p:sp>
      <mc:AlternateContent xmlns:mc="http://schemas.openxmlformats.org/markup-compatibility/2006" xmlns:a14="http://schemas.microsoft.com/office/drawing/2010/main">
        <mc:Choice Requires="a14">
          <p:sp>
            <p:nvSpPr>
              <p:cNvPr id="18" name="직사각형 17">
                <a:extLst>
                  <a:ext uri="{FF2B5EF4-FFF2-40B4-BE49-F238E27FC236}">
                    <a16:creationId xmlns:a16="http://schemas.microsoft.com/office/drawing/2014/main" id="{93C4D7E8-E121-4A1B-B0C1-E5DF25E1192C}"/>
                  </a:ext>
                </a:extLst>
              </p:cNvPr>
              <p:cNvSpPr/>
              <p:nvPr/>
            </p:nvSpPr>
            <p:spPr>
              <a:xfrm>
                <a:off x="2846956" y="4578698"/>
                <a:ext cx="4185917" cy="4344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spcAft>
                    <a:spcPts val="600"/>
                  </a:spcAft>
                </a:pPr>
                <a14:m>
                  <m:oMathPara xmlns:m="http://schemas.openxmlformats.org/officeDocument/2006/math">
                    <m:oMathParaPr>
                      <m:jc m:val="center"/>
                    </m:oMathParaPr>
                    <m:oMath xmlns:m="http://schemas.openxmlformats.org/officeDocument/2006/math">
                      <m:sSub>
                        <m:sSubPr>
                          <m:ctrlPr>
                            <a:rPr lang="ko-KR" altLang="ko-KR" sz="1600" i="1">
                              <a:solidFill>
                                <a:schemeClr val="tx1">
                                  <a:lumMod val="85000"/>
                                  <a:lumOff val="15000"/>
                                </a:schemeClr>
                              </a:solidFill>
                              <a:latin typeface="Cambria Math" panose="02040503050406030204" pitchFamily="18" charset="0"/>
                            </a:rPr>
                          </m:ctrlPr>
                        </m:sSubPr>
                        <m:e>
                          <m:r>
                            <a:rPr lang="en-US" altLang="ko-KR" sz="1600" i="1">
                              <a:solidFill>
                                <a:schemeClr val="tx1">
                                  <a:lumMod val="85000"/>
                                  <a:lumOff val="15000"/>
                                </a:schemeClr>
                              </a:solidFill>
                              <a:latin typeface="Cambria Math"/>
                            </a:rPr>
                            <m:t>𝑃</m:t>
                          </m:r>
                        </m:e>
                        <m:sub>
                          <m:r>
                            <a:rPr lang="en-US" altLang="ko-KR" sz="1600" i="1">
                              <a:solidFill>
                                <a:schemeClr val="tx1">
                                  <a:lumMod val="85000"/>
                                  <a:lumOff val="15000"/>
                                </a:schemeClr>
                              </a:solidFill>
                              <a:latin typeface="Cambria Math"/>
                            </a:rPr>
                            <m:t>𝑝𝑜𝑠𝑡</m:t>
                          </m:r>
                        </m:sub>
                      </m:sSub>
                      <m:r>
                        <a:rPr lang="en-US" altLang="ko-KR" sz="1600" i="1">
                          <a:solidFill>
                            <a:schemeClr val="tx1">
                              <a:lumMod val="85000"/>
                              <a:lumOff val="15000"/>
                            </a:schemeClr>
                          </a:solidFill>
                          <a:latin typeface="Cambria Math"/>
                        </a:rPr>
                        <m:t>(</m:t>
                      </m:r>
                      <m:r>
                        <a:rPr lang="en-US" altLang="ko-KR" sz="1600" i="1">
                          <a:solidFill>
                            <a:schemeClr val="tx1">
                              <a:lumMod val="85000"/>
                              <a:lumOff val="15000"/>
                            </a:schemeClr>
                          </a:solidFill>
                          <a:latin typeface="Cambria Math"/>
                        </a:rPr>
                        <m:t>𝐶𝑙𝑎𝑠𝑠</m:t>
                      </m:r>
                      <m:r>
                        <a:rPr lang="en-US" altLang="ko-KR" sz="1600" i="1">
                          <a:solidFill>
                            <a:schemeClr val="tx1">
                              <a:lumMod val="85000"/>
                              <a:lumOff val="15000"/>
                            </a:schemeClr>
                          </a:solidFill>
                          <a:latin typeface="Cambria Math"/>
                        </a:rPr>
                        <m:t>)∝</m:t>
                      </m:r>
                      <m:r>
                        <a:rPr lang="en-US" altLang="ko-KR" sz="1600" i="1">
                          <a:solidFill>
                            <a:schemeClr val="tx1">
                              <a:lumMod val="85000"/>
                              <a:lumOff val="15000"/>
                            </a:schemeClr>
                          </a:solidFill>
                          <a:latin typeface="Cambria Math"/>
                        </a:rPr>
                        <m:t>𝑃</m:t>
                      </m:r>
                      <m:d>
                        <m:dPr>
                          <m:ctrlPr>
                            <a:rPr lang="en-US" altLang="ko-KR" sz="1600" i="1">
                              <a:solidFill>
                                <a:schemeClr val="tx1">
                                  <a:lumMod val="85000"/>
                                  <a:lumOff val="15000"/>
                                </a:schemeClr>
                              </a:solidFill>
                              <a:latin typeface="Cambria Math" panose="02040503050406030204" pitchFamily="18" charset="0"/>
                            </a:rPr>
                          </m:ctrlPr>
                        </m:dPr>
                        <m:e>
                          <m:r>
                            <a:rPr lang="en-US" altLang="ko-KR" sz="1600" i="1">
                              <a:solidFill>
                                <a:schemeClr val="tx1">
                                  <a:lumMod val="85000"/>
                                  <a:lumOff val="15000"/>
                                </a:schemeClr>
                              </a:solidFill>
                              <a:latin typeface="Cambria Math"/>
                            </a:rPr>
                            <m:t>𝐷𝑎𝑡𝑎</m:t>
                          </m:r>
                        </m:e>
                        <m:e>
                          <m:r>
                            <a:rPr lang="en-US" altLang="ko-KR" sz="1600" i="1">
                              <a:solidFill>
                                <a:schemeClr val="tx1">
                                  <a:lumMod val="85000"/>
                                  <a:lumOff val="15000"/>
                                </a:schemeClr>
                              </a:solidFill>
                              <a:latin typeface="Cambria Math"/>
                            </a:rPr>
                            <m:t>𝐶𝑙𝑎𝑠𝑠</m:t>
                          </m:r>
                        </m:e>
                      </m:d>
                      <m:sSub>
                        <m:sSubPr>
                          <m:ctrlPr>
                            <a:rPr lang="ko-KR" altLang="ko-KR" sz="1600" i="1">
                              <a:solidFill>
                                <a:schemeClr val="tx1">
                                  <a:lumMod val="85000"/>
                                  <a:lumOff val="15000"/>
                                </a:schemeClr>
                              </a:solidFill>
                              <a:latin typeface="Cambria Math" panose="02040503050406030204" pitchFamily="18" charset="0"/>
                            </a:rPr>
                          </m:ctrlPr>
                        </m:sSubPr>
                        <m:e>
                          <m:r>
                            <a:rPr lang="en-US" altLang="ko-KR" sz="1600" i="1">
                              <a:solidFill>
                                <a:schemeClr val="tx1">
                                  <a:lumMod val="85000"/>
                                  <a:lumOff val="15000"/>
                                </a:schemeClr>
                              </a:solidFill>
                              <a:latin typeface="Cambria Math"/>
                            </a:rPr>
                            <m:t>𝑃</m:t>
                          </m:r>
                        </m:e>
                        <m:sub>
                          <m:r>
                            <a:rPr lang="en-US" altLang="ko-KR" sz="1600" i="1">
                              <a:solidFill>
                                <a:schemeClr val="tx1">
                                  <a:lumMod val="85000"/>
                                  <a:lumOff val="15000"/>
                                </a:schemeClr>
                              </a:solidFill>
                              <a:latin typeface="Cambria Math"/>
                            </a:rPr>
                            <m:t>𝑝𝑟𝑖𝑜𝑟</m:t>
                          </m:r>
                        </m:sub>
                      </m:sSub>
                      <m:d>
                        <m:dPr>
                          <m:ctrlPr>
                            <a:rPr lang="en-US" altLang="ko-KR" sz="1600" i="1">
                              <a:solidFill>
                                <a:schemeClr val="tx1">
                                  <a:lumMod val="85000"/>
                                  <a:lumOff val="15000"/>
                                </a:schemeClr>
                              </a:solidFill>
                              <a:latin typeface="Cambria Math" panose="02040503050406030204" pitchFamily="18" charset="0"/>
                            </a:rPr>
                          </m:ctrlPr>
                        </m:dPr>
                        <m:e>
                          <m:r>
                            <a:rPr lang="en-US" altLang="ko-KR" sz="1600" i="1">
                              <a:solidFill>
                                <a:schemeClr val="tx1">
                                  <a:lumMod val="85000"/>
                                  <a:lumOff val="15000"/>
                                </a:schemeClr>
                              </a:solidFill>
                              <a:latin typeface="Cambria Math"/>
                            </a:rPr>
                            <m:t>𝐶𝑙𝑎𝑠𝑠</m:t>
                          </m:r>
                        </m:e>
                      </m:d>
                    </m:oMath>
                  </m:oMathPara>
                </a14:m>
                <a:endParaRPr lang="en-US" altLang="ko-KR" sz="1600" i="1" dirty="0">
                  <a:solidFill>
                    <a:schemeClr val="tx1">
                      <a:lumMod val="85000"/>
                      <a:lumOff val="15000"/>
                    </a:schemeClr>
                  </a:solidFill>
                  <a:latin typeface="Cambria Math"/>
                </a:endParaRPr>
              </a:p>
            </p:txBody>
          </p:sp>
        </mc:Choice>
        <mc:Fallback xmlns="">
          <p:sp>
            <p:nvSpPr>
              <p:cNvPr id="18" name="직사각형 17">
                <a:extLst>
                  <a:ext uri="{FF2B5EF4-FFF2-40B4-BE49-F238E27FC236}">
                    <a16:creationId xmlns:a16="http://schemas.microsoft.com/office/drawing/2014/main" id="{93C4D7E8-E121-4A1B-B0C1-E5DF25E1192C}"/>
                  </a:ext>
                </a:extLst>
              </p:cNvPr>
              <p:cNvSpPr>
                <a:spLocks noRot="1" noChangeAspect="1" noMove="1" noResize="1" noEditPoints="1" noAdjustHandles="1" noChangeArrowheads="1" noChangeShapeType="1" noTextEdit="1"/>
              </p:cNvSpPr>
              <p:nvPr/>
            </p:nvSpPr>
            <p:spPr>
              <a:xfrm>
                <a:off x="2846956" y="4578698"/>
                <a:ext cx="4185917" cy="434478"/>
              </a:xfrm>
              <a:prstGeom prst="rect">
                <a:avLst/>
              </a:prstGeom>
              <a:blipFill>
                <a:blip r:embed="rId6"/>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2545345141"/>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5.1. Naïve Bayes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05</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9A794A9F-50B2-4EF4-B37C-6A6A5DC3DD63}"/>
                  </a:ext>
                </a:extLst>
              </p:cNvPr>
              <p:cNvSpPr/>
              <p:nvPr/>
            </p:nvSpPr>
            <p:spPr>
              <a:xfrm>
                <a:off x="2178503" y="2122695"/>
                <a:ext cx="5522822" cy="7584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spcAft>
                    <a:spcPts val="600"/>
                  </a:spcAft>
                </a:pPr>
                <a14:m>
                  <m:oMathPara xmlns:m="http://schemas.openxmlformats.org/officeDocument/2006/math">
                    <m:oMathParaPr>
                      <m:jc m:val="center"/>
                    </m:oMathParaPr>
                    <m:oMath xmlns:m="http://schemas.openxmlformats.org/officeDocument/2006/math">
                      <m:sSub>
                        <m:sSubPr>
                          <m:ctrlPr>
                            <a:rPr lang="ko-KR" altLang="ko-KR" sz="1600" i="1">
                              <a:solidFill>
                                <a:schemeClr val="tx1">
                                  <a:lumMod val="85000"/>
                                  <a:lumOff val="15000"/>
                                </a:schemeClr>
                              </a:solidFill>
                              <a:latin typeface="Cambria Math" panose="02040503050406030204" pitchFamily="18" charset="0"/>
                            </a:rPr>
                          </m:ctrlPr>
                        </m:sSubPr>
                        <m:e>
                          <m:r>
                            <a:rPr lang="en-US" altLang="ko-KR" sz="1600" i="1">
                              <a:solidFill>
                                <a:schemeClr val="tx1">
                                  <a:lumMod val="85000"/>
                                  <a:lumOff val="15000"/>
                                </a:schemeClr>
                              </a:solidFill>
                              <a:latin typeface="Cambria Math"/>
                            </a:rPr>
                            <m:t>𝑃</m:t>
                          </m:r>
                        </m:e>
                        <m:sub>
                          <m:r>
                            <a:rPr lang="en-US" altLang="ko-KR" sz="1600" i="1">
                              <a:solidFill>
                                <a:schemeClr val="tx1">
                                  <a:lumMod val="85000"/>
                                  <a:lumOff val="15000"/>
                                </a:schemeClr>
                              </a:solidFill>
                              <a:latin typeface="Cambria Math"/>
                            </a:rPr>
                            <m:t>𝑝𝑜𝑠𝑡</m:t>
                          </m:r>
                        </m:sub>
                      </m:sSub>
                      <m:r>
                        <a:rPr lang="en-US" altLang="ko-KR" sz="1600" i="1">
                          <a:solidFill>
                            <a:schemeClr val="tx1">
                              <a:lumMod val="85000"/>
                              <a:lumOff val="15000"/>
                            </a:schemeClr>
                          </a:solidFill>
                          <a:latin typeface="Cambria Math" panose="02040503050406030204" pitchFamily="18" charset="0"/>
                        </a:rPr>
                        <m:t>(</m:t>
                      </m:r>
                      <m:r>
                        <a:rPr lang="en-US" altLang="ko-KR" sz="1600" i="1">
                          <a:solidFill>
                            <a:schemeClr val="tx1">
                              <a:lumMod val="85000"/>
                              <a:lumOff val="15000"/>
                            </a:schemeClr>
                          </a:solidFill>
                          <a:latin typeface="Cambria Math" panose="02040503050406030204" pitchFamily="18" charset="0"/>
                        </a:rPr>
                        <m:t>𝐶𝑙𝑎𝑠𝑠</m:t>
                      </m:r>
                      <m:r>
                        <a:rPr lang="en-US" altLang="ko-KR" sz="1600" i="1">
                          <a:solidFill>
                            <a:schemeClr val="tx1">
                              <a:lumMod val="85000"/>
                              <a:lumOff val="15000"/>
                            </a:schemeClr>
                          </a:solidFill>
                          <a:latin typeface="Cambria Math"/>
                        </a:rPr>
                        <m:t>)∝</m:t>
                      </m:r>
                      <m:f>
                        <m:fPr>
                          <m:ctrlPr>
                            <a:rPr lang="en-US" altLang="ko-KR" sz="1600" i="1">
                              <a:solidFill>
                                <a:schemeClr val="tx1">
                                  <a:lumMod val="85000"/>
                                  <a:lumOff val="15000"/>
                                </a:schemeClr>
                              </a:solidFill>
                              <a:latin typeface="Cambria Math" panose="02040503050406030204" pitchFamily="18" charset="0"/>
                              <a:ea typeface="Cambria Math"/>
                            </a:rPr>
                          </m:ctrlPr>
                        </m:fPr>
                        <m:num>
                          <m:r>
                            <a:rPr lang="en-US" altLang="ko-KR" sz="1600" i="1">
                              <a:solidFill>
                                <a:schemeClr val="tx1">
                                  <a:lumMod val="85000"/>
                                  <a:lumOff val="15000"/>
                                </a:schemeClr>
                              </a:solidFill>
                              <a:latin typeface="Cambria Math"/>
                              <a:ea typeface="Cambria Math"/>
                            </a:rPr>
                            <m:t>1</m:t>
                          </m:r>
                        </m:num>
                        <m:den>
                          <m:rad>
                            <m:radPr>
                              <m:degHide m:val="on"/>
                              <m:ctrlPr>
                                <a:rPr lang="en-US" altLang="ko-KR" sz="1600" i="1">
                                  <a:solidFill>
                                    <a:schemeClr val="tx1">
                                      <a:lumMod val="85000"/>
                                      <a:lumOff val="15000"/>
                                    </a:schemeClr>
                                  </a:solidFill>
                                  <a:latin typeface="Cambria Math" panose="02040503050406030204" pitchFamily="18" charset="0"/>
                                  <a:ea typeface="Cambria Math"/>
                                </a:rPr>
                              </m:ctrlPr>
                            </m:radPr>
                            <m:deg/>
                            <m:e>
                              <m:r>
                                <a:rPr lang="en-US" altLang="ko-KR" sz="1600" i="1">
                                  <a:solidFill>
                                    <a:schemeClr val="tx1">
                                      <a:lumMod val="85000"/>
                                      <a:lumOff val="15000"/>
                                    </a:schemeClr>
                                  </a:solidFill>
                                  <a:latin typeface="Cambria Math"/>
                                  <a:ea typeface="Cambria Math"/>
                                </a:rPr>
                                <m:t>2</m:t>
                              </m:r>
                              <m:r>
                                <a:rPr lang="ko-KR" altLang="en-US" sz="1600" i="1">
                                  <a:solidFill>
                                    <a:schemeClr val="tx1">
                                      <a:lumMod val="85000"/>
                                      <a:lumOff val="15000"/>
                                    </a:schemeClr>
                                  </a:solidFill>
                                  <a:latin typeface="Cambria Math"/>
                                  <a:ea typeface="Cambria Math"/>
                                </a:rPr>
                                <m:t>𝜋</m:t>
                              </m:r>
                            </m:e>
                          </m:rad>
                          <m:sSub>
                            <m:sSubPr>
                              <m:ctrlPr>
                                <a:rPr lang="en-US" altLang="ko-KR" sz="1600" i="1">
                                  <a:solidFill>
                                    <a:schemeClr val="tx1">
                                      <a:lumMod val="85000"/>
                                      <a:lumOff val="15000"/>
                                    </a:schemeClr>
                                  </a:solidFill>
                                  <a:latin typeface="Cambria Math" panose="02040503050406030204" pitchFamily="18" charset="0"/>
                                  <a:ea typeface="Cambria Math"/>
                                </a:rPr>
                              </m:ctrlPr>
                            </m:sSubPr>
                            <m:e>
                              <m:r>
                                <a:rPr lang="ko-KR" altLang="en-US" sz="1600" i="1">
                                  <a:solidFill>
                                    <a:schemeClr val="tx1">
                                      <a:lumMod val="85000"/>
                                      <a:lumOff val="15000"/>
                                    </a:schemeClr>
                                  </a:solidFill>
                                  <a:latin typeface="Cambria Math"/>
                                  <a:ea typeface="Cambria Math"/>
                                </a:rPr>
                                <m:t>𝜎</m:t>
                              </m:r>
                            </m:e>
                            <m:sub>
                              <m:r>
                                <a:rPr lang="en-US" altLang="ko-KR" sz="1600" i="1">
                                  <a:solidFill>
                                    <a:schemeClr val="tx1">
                                      <a:lumMod val="85000"/>
                                      <a:lumOff val="15000"/>
                                    </a:schemeClr>
                                  </a:solidFill>
                                  <a:latin typeface="Cambria Math"/>
                                  <a:ea typeface="Cambria Math"/>
                                </a:rPr>
                                <m:t>𝑗</m:t>
                              </m:r>
                            </m:sub>
                          </m:sSub>
                        </m:den>
                      </m:f>
                      <m:r>
                        <a:rPr lang="en-US" altLang="ko-KR" sz="1600" i="1">
                          <a:solidFill>
                            <a:schemeClr val="tx1">
                              <a:lumMod val="85000"/>
                              <a:lumOff val="15000"/>
                            </a:schemeClr>
                          </a:solidFill>
                          <a:latin typeface="Cambria Math"/>
                          <a:ea typeface="Cambria Math"/>
                        </a:rPr>
                        <m:t>𝑒𝑥𝑝</m:t>
                      </m:r>
                      <m:d>
                        <m:dPr>
                          <m:ctrlPr>
                            <a:rPr lang="en-US" altLang="ko-KR" sz="1600" i="1">
                              <a:solidFill>
                                <a:schemeClr val="tx1">
                                  <a:lumMod val="85000"/>
                                  <a:lumOff val="15000"/>
                                </a:schemeClr>
                              </a:solidFill>
                              <a:latin typeface="Cambria Math" panose="02040503050406030204" pitchFamily="18" charset="0"/>
                              <a:ea typeface="Cambria Math"/>
                            </a:rPr>
                          </m:ctrlPr>
                        </m:dPr>
                        <m:e>
                          <m:r>
                            <a:rPr lang="en-US" altLang="ko-KR" sz="1600" i="1">
                              <a:solidFill>
                                <a:schemeClr val="tx1">
                                  <a:lumMod val="85000"/>
                                  <a:lumOff val="15000"/>
                                </a:schemeClr>
                              </a:solidFill>
                              <a:latin typeface="Cambria Math"/>
                              <a:ea typeface="Cambria Math"/>
                            </a:rPr>
                            <m:t>−</m:t>
                          </m:r>
                          <m:f>
                            <m:fPr>
                              <m:ctrlPr>
                                <a:rPr lang="en-US" altLang="ko-KR" sz="1600" i="1">
                                  <a:solidFill>
                                    <a:schemeClr val="tx1">
                                      <a:lumMod val="85000"/>
                                      <a:lumOff val="15000"/>
                                    </a:schemeClr>
                                  </a:solidFill>
                                  <a:latin typeface="Cambria Math" panose="02040503050406030204" pitchFamily="18" charset="0"/>
                                  <a:ea typeface="Cambria Math"/>
                                </a:rPr>
                              </m:ctrlPr>
                            </m:fPr>
                            <m:num>
                              <m:r>
                                <a:rPr lang="en-US" altLang="ko-KR" sz="1600" i="1">
                                  <a:solidFill>
                                    <a:schemeClr val="tx1">
                                      <a:lumMod val="85000"/>
                                      <a:lumOff val="15000"/>
                                    </a:schemeClr>
                                  </a:solidFill>
                                  <a:latin typeface="Cambria Math"/>
                                  <a:ea typeface="Cambria Math"/>
                                </a:rPr>
                                <m:t>1</m:t>
                              </m:r>
                            </m:num>
                            <m:den>
                              <m:r>
                                <a:rPr lang="en-US" altLang="ko-KR" sz="1600" i="1">
                                  <a:solidFill>
                                    <a:schemeClr val="tx1">
                                      <a:lumMod val="85000"/>
                                      <a:lumOff val="15000"/>
                                    </a:schemeClr>
                                  </a:solidFill>
                                  <a:latin typeface="Cambria Math"/>
                                  <a:ea typeface="Cambria Math"/>
                                </a:rPr>
                                <m:t>2</m:t>
                              </m:r>
                              <m:sSup>
                                <m:sSupPr>
                                  <m:ctrlP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ctrlPr>
                                </m:sSupPr>
                                <m:e>
                                  <m:sSub>
                                    <m:sSubPr>
                                      <m:ctrlP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ko-KR" altLang="en-US" sz="1600" i="1">
                                          <a:solidFill>
                                            <a:schemeClr val="tx1">
                                              <a:lumMod val="85000"/>
                                              <a:lumOff val="15000"/>
                                            </a:schemeClr>
                                          </a:solidFill>
                                          <a:latin typeface="Cambria Math"/>
                                          <a:cs typeface="Times New Roman" panose="02020603050405020304" pitchFamily="18" charset="0"/>
                                        </a:rPr>
                                        <m:t>𝜎</m:t>
                                      </m:r>
                                    </m:e>
                                    <m:sub>
                                      <m:r>
                                        <a:rPr lang="en-US" altLang="ko-KR" sz="1600" i="1">
                                          <a:solidFill>
                                            <a:schemeClr val="tx1">
                                              <a:lumMod val="85000"/>
                                              <a:lumOff val="15000"/>
                                            </a:schemeClr>
                                          </a:solidFill>
                                          <a:latin typeface="Cambria Math"/>
                                          <a:cs typeface="Times New Roman" panose="02020603050405020304" pitchFamily="18" charset="0"/>
                                        </a:rPr>
                                        <m:t>𝑗</m:t>
                                      </m:r>
                                    </m:sub>
                                  </m:sSub>
                                </m:e>
                                <m:sup>
                                  <m:r>
                                    <a:rPr lang="en-US" altLang="ko-KR" sz="1600" i="1">
                                      <a:solidFill>
                                        <a:schemeClr val="tx1">
                                          <a:lumMod val="85000"/>
                                          <a:lumOff val="15000"/>
                                        </a:schemeClr>
                                      </a:solidFill>
                                      <a:latin typeface="Cambria Math"/>
                                      <a:cs typeface="Times New Roman" panose="02020603050405020304" pitchFamily="18" charset="0"/>
                                    </a:rPr>
                                    <m:t>2</m:t>
                                  </m:r>
                                </m:sup>
                              </m:sSup>
                            </m:den>
                          </m:f>
                          <m:sSup>
                            <m:sSupPr>
                              <m:ctrlPr>
                                <a:rPr lang="en-US" altLang="ko-KR" sz="1600" i="1">
                                  <a:solidFill>
                                    <a:schemeClr val="tx1">
                                      <a:lumMod val="85000"/>
                                      <a:lumOff val="15000"/>
                                    </a:schemeClr>
                                  </a:solidFill>
                                  <a:latin typeface="Cambria Math" panose="02040503050406030204" pitchFamily="18" charset="0"/>
                                  <a:ea typeface="Cambria Math"/>
                                </a:rPr>
                              </m:ctrlPr>
                            </m:sSupPr>
                            <m:e>
                              <m:d>
                                <m:dPr>
                                  <m:ctrlPr>
                                    <a:rPr lang="en-US" altLang="ko-KR" sz="1600" i="1">
                                      <a:solidFill>
                                        <a:schemeClr val="tx1">
                                          <a:lumMod val="85000"/>
                                          <a:lumOff val="15000"/>
                                        </a:schemeClr>
                                      </a:solidFill>
                                      <a:latin typeface="Cambria Math" panose="02040503050406030204" pitchFamily="18" charset="0"/>
                                      <a:ea typeface="Cambria Math"/>
                                    </a:rPr>
                                  </m:ctrlPr>
                                </m:dPr>
                                <m:e>
                                  <m:r>
                                    <a:rPr lang="en-US" altLang="ko-KR" sz="1600" i="1">
                                      <a:solidFill>
                                        <a:schemeClr val="tx1">
                                          <a:lumMod val="85000"/>
                                          <a:lumOff val="15000"/>
                                        </a:schemeClr>
                                      </a:solidFill>
                                      <a:latin typeface="Cambria Math"/>
                                      <a:ea typeface="Cambria Math"/>
                                    </a:rPr>
                                    <m:t>𝑥</m:t>
                                  </m:r>
                                  <m:r>
                                    <a:rPr lang="en-US" altLang="ko-KR" sz="1600" i="1">
                                      <a:solidFill>
                                        <a:schemeClr val="tx1">
                                          <a:lumMod val="85000"/>
                                          <a:lumOff val="15000"/>
                                        </a:schemeClr>
                                      </a:solidFill>
                                      <a:latin typeface="Cambria Math"/>
                                      <a:ea typeface="Cambria Math"/>
                                    </a:rPr>
                                    <m:t>−</m:t>
                                  </m:r>
                                  <m:sSub>
                                    <m:sSubPr>
                                      <m:ctrlPr>
                                        <a:rPr lang="en-US" altLang="ko-KR" sz="1600" i="1">
                                          <a:solidFill>
                                            <a:schemeClr val="tx1">
                                              <a:lumMod val="85000"/>
                                              <a:lumOff val="15000"/>
                                            </a:schemeClr>
                                          </a:solidFill>
                                          <a:latin typeface="Cambria Math" panose="02040503050406030204" pitchFamily="18" charset="0"/>
                                          <a:ea typeface="Cambria Math"/>
                                        </a:rPr>
                                      </m:ctrlPr>
                                    </m:sSubPr>
                                    <m:e>
                                      <m:r>
                                        <a:rPr lang="ko-KR" altLang="en-US" sz="1600" i="1">
                                          <a:solidFill>
                                            <a:schemeClr val="tx1">
                                              <a:lumMod val="85000"/>
                                              <a:lumOff val="15000"/>
                                            </a:schemeClr>
                                          </a:solidFill>
                                          <a:latin typeface="Cambria Math"/>
                                          <a:ea typeface="Cambria Math"/>
                                        </a:rPr>
                                        <m:t>𝜇</m:t>
                                      </m:r>
                                    </m:e>
                                    <m:sub>
                                      <m:r>
                                        <a:rPr lang="en-US" altLang="ko-KR" sz="1600" i="1">
                                          <a:solidFill>
                                            <a:schemeClr val="tx1">
                                              <a:lumMod val="85000"/>
                                              <a:lumOff val="15000"/>
                                            </a:schemeClr>
                                          </a:solidFill>
                                          <a:latin typeface="Cambria Math"/>
                                          <a:ea typeface="Cambria Math"/>
                                        </a:rPr>
                                        <m:t>𝑗</m:t>
                                      </m:r>
                                    </m:sub>
                                  </m:sSub>
                                </m:e>
                              </m:d>
                            </m:e>
                            <m:sup>
                              <m:r>
                                <a:rPr lang="en-US" altLang="ko-KR" sz="1600" i="1">
                                  <a:solidFill>
                                    <a:schemeClr val="tx1">
                                      <a:lumMod val="85000"/>
                                      <a:lumOff val="15000"/>
                                    </a:schemeClr>
                                  </a:solidFill>
                                  <a:latin typeface="Cambria Math"/>
                                  <a:ea typeface="Cambria Math"/>
                                </a:rPr>
                                <m:t>2</m:t>
                              </m:r>
                            </m:sup>
                          </m:sSup>
                        </m:e>
                      </m:d>
                      <m:sSub>
                        <m:sSubPr>
                          <m:ctrlPr>
                            <a:rPr lang="ko-KR" altLang="ko-KR" sz="1600" i="1">
                              <a:solidFill>
                                <a:schemeClr val="tx1">
                                  <a:lumMod val="85000"/>
                                  <a:lumOff val="15000"/>
                                </a:schemeClr>
                              </a:solidFill>
                              <a:latin typeface="Cambria Math" panose="02040503050406030204" pitchFamily="18" charset="0"/>
                            </a:rPr>
                          </m:ctrlPr>
                        </m:sSubPr>
                        <m:e>
                          <m:r>
                            <a:rPr lang="en-US" altLang="ko-KR" sz="1600" i="1">
                              <a:solidFill>
                                <a:schemeClr val="tx1">
                                  <a:lumMod val="85000"/>
                                  <a:lumOff val="15000"/>
                                </a:schemeClr>
                              </a:solidFill>
                              <a:latin typeface="Cambria Math"/>
                            </a:rPr>
                            <m:t>𝑃</m:t>
                          </m:r>
                        </m:e>
                        <m:sub>
                          <m:r>
                            <a:rPr lang="en-US" altLang="ko-KR" sz="1600" i="1">
                              <a:solidFill>
                                <a:schemeClr val="tx1">
                                  <a:lumMod val="85000"/>
                                  <a:lumOff val="15000"/>
                                </a:schemeClr>
                              </a:solidFill>
                              <a:latin typeface="Cambria Math"/>
                            </a:rPr>
                            <m:t>𝑝𝑟𝑖𝑜𝑟</m:t>
                          </m:r>
                        </m:sub>
                      </m:sSub>
                      <m:d>
                        <m:dPr>
                          <m:ctrlPr>
                            <a:rPr lang="en-US" altLang="ko-KR" sz="1600" i="1">
                              <a:solidFill>
                                <a:schemeClr val="tx1">
                                  <a:lumMod val="85000"/>
                                  <a:lumOff val="15000"/>
                                </a:schemeClr>
                              </a:solidFill>
                              <a:latin typeface="Cambria Math" panose="02040503050406030204" pitchFamily="18" charset="0"/>
                            </a:rPr>
                          </m:ctrlPr>
                        </m:dPr>
                        <m:e>
                          <m:r>
                            <a:rPr lang="en-US" altLang="ko-KR" sz="1600" i="1">
                              <a:solidFill>
                                <a:schemeClr val="tx1">
                                  <a:lumMod val="85000"/>
                                  <a:lumOff val="15000"/>
                                </a:schemeClr>
                              </a:solidFill>
                              <a:latin typeface="Cambria Math" panose="02040503050406030204" pitchFamily="18" charset="0"/>
                            </a:rPr>
                            <m:t>𝐶𝑙𝑎𝑠𝑠</m:t>
                          </m:r>
                        </m:e>
                      </m:d>
                    </m:oMath>
                  </m:oMathPara>
                </a14:m>
                <a:endParaRPr lang="en-US" altLang="ko-KR" sz="1600" dirty="0">
                  <a:solidFill>
                    <a:schemeClr val="tx1">
                      <a:lumMod val="85000"/>
                      <a:lumOff val="15000"/>
                    </a:schemeClr>
                  </a:solidFill>
                  <a:latin typeface="SamsungOne 400" panose="020B0503030303020204" pitchFamily="34" charset="0"/>
                  <a:ea typeface="SamsungOne 400" panose="020B0503030303020204" pitchFamily="34" charset="0"/>
                </a:endParaRPr>
              </a:p>
            </p:txBody>
          </p:sp>
        </mc:Choice>
        <mc:Fallback xmlns="">
          <p:sp>
            <p:nvSpPr>
              <p:cNvPr id="12" name="직사각형 11">
                <a:extLst>
                  <a:ext uri="{FF2B5EF4-FFF2-40B4-BE49-F238E27FC236}">
                    <a16:creationId xmlns:a16="http://schemas.microsoft.com/office/drawing/2014/main" id="{9A794A9F-50B2-4EF4-B37C-6A6A5DC3DD63}"/>
                  </a:ext>
                </a:extLst>
              </p:cNvPr>
              <p:cNvSpPr>
                <a:spLocks noRot="1" noChangeAspect="1" noMove="1" noResize="1" noEditPoints="1" noAdjustHandles="1" noChangeArrowheads="1" noChangeShapeType="1" noTextEdit="1"/>
              </p:cNvSpPr>
              <p:nvPr/>
            </p:nvSpPr>
            <p:spPr>
              <a:xfrm>
                <a:off x="2178503" y="2122695"/>
                <a:ext cx="5522822" cy="758413"/>
              </a:xfrm>
              <a:prstGeom prst="rect">
                <a:avLst/>
              </a:prstGeom>
              <a:blipFill>
                <a:blip r:embed="rId3"/>
                <a:stretch>
                  <a:fillRect/>
                </a:stretch>
              </a:blipFill>
              <a:ln>
                <a:noFill/>
              </a:ln>
            </p:spPr>
            <p:txBody>
              <a:bodyPr/>
              <a:lstStyle/>
              <a:p>
                <a:r>
                  <a:rPr lang="ko-KR" altLang="en-US">
                    <a:noFill/>
                  </a:rPr>
                  <a:t> </a:t>
                </a:r>
              </a:p>
            </p:txBody>
          </p:sp>
        </mc:Fallback>
      </mc:AlternateContent>
      <p:sp>
        <p:nvSpPr>
          <p:cNvPr id="13" name="직사각형 12">
            <a:extLst>
              <a:ext uri="{FF2B5EF4-FFF2-40B4-BE49-F238E27FC236}">
                <a16:creationId xmlns:a16="http://schemas.microsoft.com/office/drawing/2014/main" id="{00F0E0C0-95C6-447E-87BD-C40911B748AA}"/>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About Naïve Bayes algorithm</a:t>
            </a:r>
          </a:p>
        </p:txBody>
      </p:sp>
      <p:sp>
        <p:nvSpPr>
          <p:cNvPr id="14" name="직사각형 13">
            <a:extLst>
              <a:ext uri="{FF2B5EF4-FFF2-40B4-BE49-F238E27FC236}">
                <a16:creationId xmlns:a16="http://schemas.microsoft.com/office/drawing/2014/main" id="{D194623E-62CA-4FDC-A4F6-9BBED43C2731}"/>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We can approximate </a:t>
            </a:r>
            <a:r>
              <a:rPr lang="ko-KR" altLang="en-US"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𝑃</a:t>
            </a: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a:t>
            </a:r>
            <a:r>
              <a:rPr lang="ko-KR" altLang="en-US"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𝐷𝑎𝑡𝑎│𝐶𝑙𝑎𝑠𝑠</a:t>
            </a: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 by a Gaussian (normal distribution):</a:t>
            </a:r>
          </a:p>
        </p:txBody>
      </p:sp>
      <p:sp>
        <p:nvSpPr>
          <p:cNvPr id="15" name="직사각형 14">
            <a:extLst>
              <a:ext uri="{FF2B5EF4-FFF2-40B4-BE49-F238E27FC236}">
                <a16:creationId xmlns:a16="http://schemas.microsoft.com/office/drawing/2014/main" id="{BE0CA013-3CDE-4626-B46B-937BE95A890F}"/>
              </a:ext>
            </a:extLst>
          </p:cNvPr>
          <p:cNvSpPr/>
          <p:nvPr/>
        </p:nvSpPr>
        <p:spPr>
          <a:xfrm>
            <a:off x="671261" y="3036704"/>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where the parameters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𝜇</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_</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𝑗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and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𝜎</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_</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𝑗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are “learned” from the training data.</a:t>
            </a:r>
          </a:p>
        </p:txBody>
      </p:sp>
      <p:pic>
        <p:nvPicPr>
          <p:cNvPr id="19" name="Picture 17">
            <a:extLst>
              <a:ext uri="{FF2B5EF4-FFF2-40B4-BE49-F238E27FC236}">
                <a16:creationId xmlns:a16="http://schemas.microsoft.com/office/drawing/2014/main" id="{92439B84-471C-4B17-9C22-5008C061BD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07196" y="3487186"/>
            <a:ext cx="3888432" cy="2408624"/>
          </a:xfrm>
          <a:prstGeom prst="rect">
            <a:avLst/>
          </a:prstGeom>
          <a:ln w="6350">
            <a:solidFill>
              <a:schemeClr val="accent1"/>
            </a:solidFill>
          </a:ln>
        </p:spPr>
      </p:pic>
    </p:spTree>
    <p:extLst>
      <p:ext uri="{BB962C8B-B14F-4D97-AF65-F5344CB8AC3E}">
        <p14:creationId xmlns:p14="http://schemas.microsoft.com/office/powerpoint/2010/main" val="2446148238"/>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5.1. Naïve Bayes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05</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3" name="직사각형 12">
            <a:extLst>
              <a:ext uri="{FF2B5EF4-FFF2-40B4-BE49-F238E27FC236}">
                <a16:creationId xmlns:a16="http://schemas.microsoft.com/office/drawing/2014/main" id="{00F0E0C0-95C6-447E-87BD-C40911B748AA}"/>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Random variable</a:t>
            </a:r>
            <a:endParaRPr lang="ko-KR" altLang="en-US" sz="1400" dirty="0">
              <a:solidFill>
                <a:schemeClr val="tx1"/>
              </a:solidFill>
              <a:latin typeface="SamsungOne 400" panose="020B0503030303020204" pitchFamily="34" charset="0"/>
              <a:ea typeface="SamsungOne 400" panose="020B0503030303020204" pitchFamily="34" charset="0"/>
            </a:endParaRPr>
          </a:p>
        </p:txBody>
      </p:sp>
      <mc:AlternateContent xmlns:mc="http://schemas.openxmlformats.org/markup-compatibility/2006" xmlns:a14="http://schemas.microsoft.com/office/drawing/2010/main">
        <mc:Choice Requires="a14">
          <p:sp>
            <p:nvSpPr>
              <p:cNvPr id="14" name="직사각형 13">
                <a:extLst>
                  <a:ext uri="{FF2B5EF4-FFF2-40B4-BE49-F238E27FC236}">
                    <a16:creationId xmlns:a16="http://schemas.microsoft.com/office/drawing/2014/main" id="{D194623E-62CA-4FDC-A4F6-9BBED43C2731}"/>
                  </a:ext>
                </a:extLst>
              </p:cNvPr>
              <p:cNvSpPr/>
              <p:nvPr/>
            </p:nvSpPr>
            <p:spPr>
              <a:xfrm>
                <a:off x="634999" y="1683669"/>
                <a:ext cx="8632825" cy="17561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The variable whose values are unknown until the outcome</a:t>
                </a:r>
              </a:p>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Independent events</a:t>
                </a: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sym typeface="Symbol"/>
                  </a:rPr>
                  <a:t>If the probability of the simultaneous occurrence of two cases is identical to the multiplication of the probabilities of each event to occur, then the two events are independent of each other.</a:t>
                </a: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sym typeface="Symbol"/>
                </a:endParaRPr>
              </a:p>
              <a:p>
                <a:pPr marL="361950" lvl="1" indent="-180975">
                  <a:spcAft>
                    <a:spcPts val="800"/>
                  </a:spcAft>
                  <a:buClr>
                    <a:srgbClr val="193EB0"/>
                  </a:buClr>
                  <a:buFont typeface="Arial" panose="020B0604020202020204" pitchFamily="34" charset="0"/>
                  <a:buChar char="•"/>
                </a:pPr>
                <a14:m>
                  <m:oMath xmlns:m="http://schemas.openxmlformats.org/officeDocument/2006/math">
                    <m:r>
                      <a:rPr lang="en-US" altLang="ko-KR" sz="1300">
                        <a:solidFill>
                          <a:prstClr val="black">
                            <a:lumMod val="85000"/>
                            <a:lumOff val="15000"/>
                          </a:prstClr>
                        </a:solidFill>
                        <a:latin typeface="Cambria Math" panose="02040503050406030204" pitchFamily="18" charset="0"/>
                        <a:sym typeface="Symbol"/>
                      </a:rPr>
                      <m:t>𝑃</m:t>
                    </m:r>
                    <m:d>
                      <m:dPr>
                        <m:ctrlPr>
                          <a:rPr lang="en-US" altLang="ko-KR" sz="1300" i="1">
                            <a:solidFill>
                              <a:prstClr val="black">
                                <a:lumMod val="85000"/>
                                <a:lumOff val="15000"/>
                              </a:prstClr>
                            </a:solidFill>
                            <a:latin typeface="Cambria Math" panose="02040503050406030204" pitchFamily="18" charset="0"/>
                            <a:sym typeface="Symbol"/>
                          </a:rPr>
                        </m:ctrlPr>
                      </m:dPr>
                      <m:e>
                        <m:r>
                          <a:rPr lang="en-US" altLang="ko-KR" sz="1300">
                            <a:solidFill>
                              <a:prstClr val="black">
                                <a:lumMod val="85000"/>
                                <a:lumOff val="15000"/>
                              </a:prstClr>
                            </a:solidFill>
                            <a:latin typeface="Cambria Math" panose="02040503050406030204" pitchFamily="18" charset="0"/>
                            <a:sym typeface="Symbol"/>
                          </a:rPr>
                          <m:t>𝐴</m:t>
                        </m:r>
                        <m:r>
                          <a:rPr lang="en-US" altLang="ko-KR" sz="1300">
                            <a:solidFill>
                              <a:prstClr val="black">
                                <a:lumMod val="85000"/>
                                <a:lumOff val="15000"/>
                              </a:prstClr>
                            </a:solidFill>
                            <a:latin typeface="Cambria Math" panose="02040503050406030204" pitchFamily="18" charset="0"/>
                            <a:sym typeface="Symbol"/>
                          </a:rPr>
                          <m:t>∩</m:t>
                        </m:r>
                        <m:r>
                          <a:rPr lang="en-US" altLang="ko-KR" sz="1300">
                            <a:solidFill>
                              <a:prstClr val="black">
                                <a:lumMod val="85000"/>
                                <a:lumOff val="15000"/>
                              </a:prstClr>
                            </a:solidFill>
                            <a:latin typeface="Cambria Math" panose="02040503050406030204" pitchFamily="18" charset="0"/>
                            <a:sym typeface="Symbol"/>
                          </a:rPr>
                          <m:t>𝐵</m:t>
                        </m:r>
                      </m:e>
                    </m:d>
                    <m:r>
                      <a:rPr lang="en-US" altLang="ko-KR" sz="1300">
                        <a:solidFill>
                          <a:prstClr val="black">
                            <a:lumMod val="85000"/>
                            <a:lumOff val="15000"/>
                          </a:prstClr>
                        </a:solidFill>
                        <a:latin typeface="Cambria Math" panose="02040503050406030204" pitchFamily="18" charset="0"/>
                        <a:sym typeface="Symbol"/>
                      </a:rPr>
                      <m:t>=</m:t>
                    </m:r>
                    <m:r>
                      <a:rPr lang="en-US" altLang="ko-KR" sz="1300">
                        <a:solidFill>
                          <a:prstClr val="black">
                            <a:lumMod val="85000"/>
                            <a:lumOff val="15000"/>
                          </a:prstClr>
                        </a:solidFill>
                        <a:latin typeface="Cambria Math" panose="02040503050406030204" pitchFamily="18" charset="0"/>
                        <a:sym typeface="Symbol"/>
                      </a:rPr>
                      <m:t>𝑃</m:t>
                    </m:r>
                    <m:d>
                      <m:dPr>
                        <m:ctrlPr>
                          <a:rPr lang="en-US" altLang="ko-KR" sz="1300" i="1">
                            <a:solidFill>
                              <a:prstClr val="black">
                                <a:lumMod val="85000"/>
                                <a:lumOff val="15000"/>
                              </a:prstClr>
                            </a:solidFill>
                            <a:latin typeface="Cambria Math" panose="02040503050406030204" pitchFamily="18" charset="0"/>
                            <a:sym typeface="Symbol"/>
                          </a:rPr>
                        </m:ctrlPr>
                      </m:dPr>
                      <m:e>
                        <m:r>
                          <a:rPr lang="en-US" altLang="ko-KR" sz="1300">
                            <a:solidFill>
                              <a:prstClr val="black">
                                <a:lumMod val="85000"/>
                                <a:lumOff val="15000"/>
                              </a:prstClr>
                            </a:solidFill>
                            <a:latin typeface="Cambria Math" panose="02040503050406030204" pitchFamily="18" charset="0"/>
                            <a:sym typeface="Symbol"/>
                          </a:rPr>
                          <m:t>𝐴</m:t>
                        </m:r>
                      </m:e>
                    </m:d>
                    <m:r>
                      <a:rPr lang="en-US" altLang="ko-KR" sz="1300">
                        <a:solidFill>
                          <a:prstClr val="black">
                            <a:lumMod val="85000"/>
                            <a:lumOff val="15000"/>
                          </a:prstClr>
                        </a:solidFill>
                        <a:latin typeface="Cambria Math" panose="02040503050406030204" pitchFamily="18" charset="0"/>
                        <a:sym typeface="Symbol"/>
                      </a:rPr>
                      <m:t>𝑃</m:t>
                    </m:r>
                    <m:r>
                      <a:rPr lang="en-US" altLang="ko-KR" sz="1300">
                        <a:solidFill>
                          <a:prstClr val="black">
                            <a:lumMod val="85000"/>
                            <a:lumOff val="15000"/>
                          </a:prstClr>
                        </a:solidFill>
                        <a:latin typeface="Cambria Math" panose="02040503050406030204" pitchFamily="18" charset="0"/>
                        <a:sym typeface="Symbol"/>
                      </a:rPr>
                      <m:t>(</m:t>
                    </m:r>
                    <m:r>
                      <a:rPr lang="en-US" altLang="ko-KR" sz="1300">
                        <a:solidFill>
                          <a:prstClr val="black">
                            <a:lumMod val="85000"/>
                            <a:lumOff val="15000"/>
                          </a:prstClr>
                        </a:solidFill>
                        <a:latin typeface="Cambria Math" panose="02040503050406030204" pitchFamily="18" charset="0"/>
                        <a:sym typeface="Symbol"/>
                      </a:rPr>
                      <m:t>𝐵</m:t>
                    </m:r>
                    <m:r>
                      <a:rPr lang="en-US" altLang="ko-KR" sz="1300">
                        <a:solidFill>
                          <a:prstClr val="black">
                            <a:lumMod val="85000"/>
                            <a:lumOff val="15000"/>
                          </a:prstClr>
                        </a:solidFill>
                        <a:latin typeface="Cambria Math" panose="02040503050406030204" pitchFamily="18" charset="0"/>
                        <a:sym typeface="Symbol"/>
                      </a:rPr>
                      <m:t>)</m:t>
                    </m:r>
                  </m:oMath>
                </a14:m>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sym typeface="Symbol"/>
                </a:endParaRPr>
              </a:p>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Dice</a:t>
                </a:r>
              </a:p>
            </p:txBody>
          </p:sp>
        </mc:Choice>
        <mc:Fallback xmlns="">
          <p:sp>
            <p:nvSpPr>
              <p:cNvPr id="14" name="직사각형 13">
                <a:extLst>
                  <a:ext uri="{FF2B5EF4-FFF2-40B4-BE49-F238E27FC236}">
                    <a16:creationId xmlns:a16="http://schemas.microsoft.com/office/drawing/2014/main" xmlns="" xmlns:a14="http://schemas.microsoft.com/office/drawing/2010/main" id="{D194623E-62CA-4FDC-A4F6-9BBED43C2731}"/>
                  </a:ext>
                </a:extLst>
              </p:cNvPr>
              <p:cNvSpPr>
                <a:spLocks noRot="1" noChangeAspect="1" noMove="1" noResize="1" noEditPoints="1" noAdjustHandles="1" noChangeArrowheads="1" noChangeShapeType="1" noTextEdit="1"/>
              </p:cNvSpPr>
              <p:nvPr/>
            </p:nvSpPr>
            <p:spPr>
              <a:xfrm>
                <a:off x="634999" y="1683669"/>
                <a:ext cx="8632825" cy="1756104"/>
              </a:xfrm>
              <a:prstGeom prst="rect">
                <a:avLst/>
              </a:prstGeom>
              <a:blipFill rotWithShape="0">
                <a:blip r:embed="rId4"/>
                <a:stretch>
                  <a:fillRect/>
                </a:stretch>
              </a:blipFill>
              <a:ln>
                <a:noFill/>
              </a:ln>
            </p:spPr>
            <p:txBody>
              <a:bodyPr/>
              <a:lstStyle/>
              <a:p>
                <a:r>
                  <a:rPr lang="ko-KR" altLang="en-US">
                    <a:noFill/>
                  </a:rPr>
                  <a:t> </a:t>
                </a:r>
              </a:p>
            </p:txBody>
          </p:sp>
        </mc:Fallback>
      </mc:AlternateContent>
      <p:graphicFrame>
        <p:nvGraphicFramePr>
          <p:cNvPr id="10" name="표 9">
            <a:extLst>
              <a:ext uri="{FF2B5EF4-FFF2-40B4-BE49-F238E27FC236}">
                <a16:creationId xmlns:a16="http://schemas.microsoft.com/office/drawing/2014/main" id="{E9087ECA-6D34-44A1-A39C-FEA90E3FF9B4}"/>
              </a:ext>
            </a:extLst>
          </p:cNvPr>
          <p:cNvGraphicFramePr>
            <a:graphicFrameLocks noGrp="1"/>
          </p:cNvGraphicFramePr>
          <p:nvPr>
            <p:extLst>
              <p:ext uri="{D42A27DB-BD31-4B8C-83A1-F6EECF244321}">
                <p14:modId xmlns:p14="http://schemas.microsoft.com/office/powerpoint/2010/main" val="1585851962"/>
              </p:ext>
            </p:extLst>
          </p:nvPr>
        </p:nvGraphicFramePr>
        <p:xfrm>
          <a:off x="3686498" y="4305916"/>
          <a:ext cx="5781502" cy="1920240"/>
        </p:xfrm>
        <a:graphic>
          <a:graphicData uri="http://schemas.openxmlformats.org/drawingml/2006/table">
            <a:tbl>
              <a:tblPr firstRow="1" bandRow="1">
                <a:tableStyleId>{5940675A-B579-460E-94D1-54222C63F5DA}</a:tableStyleId>
              </a:tblPr>
              <a:tblGrid>
                <a:gridCol w="881529">
                  <a:extLst>
                    <a:ext uri="{9D8B030D-6E8A-4147-A177-3AD203B41FA5}">
                      <a16:colId xmlns:a16="http://schemas.microsoft.com/office/drawing/2014/main" val="4023989761"/>
                    </a:ext>
                  </a:extLst>
                </a:gridCol>
                <a:gridCol w="959449">
                  <a:extLst>
                    <a:ext uri="{9D8B030D-6E8A-4147-A177-3AD203B41FA5}">
                      <a16:colId xmlns:a16="http://schemas.microsoft.com/office/drawing/2014/main" val="20001"/>
                    </a:ext>
                  </a:extLst>
                </a:gridCol>
                <a:gridCol w="612068">
                  <a:extLst>
                    <a:ext uri="{9D8B030D-6E8A-4147-A177-3AD203B41FA5}">
                      <a16:colId xmlns:a16="http://schemas.microsoft.com/office/drawing/2014/main" val="1127139662"/>
                    </a:ext>
                  </a:extLst>
                </a:gridCol>
                <a:gridCol w="612068">
                  <a:extLst>
                    <a:ext uri="{9D8B030D-6E8A-4147-A177-3AD203B41FA5}">
                      <a16:colId xmlns:a16="http://schemas.microsoft.com/office/drawing/2014/main" val="20003"/>
                    </a:ext>
                  </a:extLst>
                </a:gridCol>
                <a:gridCol w="684076">
                  <a:extLst>
                    <a:ext uri="{9D8B030D-6E8A-4147-A177-3AD203B41FA5}">
                      <a16:colId xmlns:a16="http://schemas.microsoft.com/office/drawing/2014/main" val="20004"/>
                    </a:ext>
                  </a:extLst>
                </a:gridCol>
                <a:gridCol w="1064322">
                  <a:extLst>
                    <a:ext uri="{9D8B030D-6E8A-4147-A177-3AD203B41FA5}">
                      <a16:colId xmlns:a16="http://schemas.microsoft.com/office/drawing/2014/main" val="20005"/>
                    </a:ext>
                  </a:extLst>
                </a:gridCol>
                <a:gridCol w="967990">
                  <a:extLst>
                    <a:ext uri="{9D8B030D-6E8A-4147-A177-3AD203B41FA5}">
                      <a16:colId xmlns:a16="http://schemas.microsoft.com/office/drawing/2014/main" val="20006"/>
                    </a:ext>
                  </a:extLst>
                </a:gridCol>
              </a:tblGrid>
              <a:tr h="222293">
                <a:tc gridSpan="2">
                  <a:txBody>
                    <a:bodyPr/>
                    <a:lstStyle/>
                    <a:p>
                      <a:pPr algn="ctr"/>
                      <a:r>
                        <a:rPr lang="en-US" sz="1200" dirty="0">
                          <a:solidFill>
                            <a:srgbClr val="1429A0"/>
                          </a:solidFill>
                          <a:latin typeface="SamsungOne 400" panose="020B0503030303020204" pitchFamily="34" charset="0"/>
                          <a:ea typeface="SamsungOne 400" panose="020B0503030303020204" pitchFamily="34" charset="0"/>
                        </a:rPr>
                        <a:t> </a:t>
                      </a:r>
                    </a:p>
                  </a:txBody>
                  <a:tcPr marL="45720" marR="45720" anchor="ctr">
                    <a:lnL w="12700" cmpd="sng">
                      <a:noFill/>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en-US"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Total</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Event A</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Event B</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Probability A</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Probability B</a:t>
                      </a:r>
                    </a:p>
                  </a:txBody>
                  <a:tcPr marL="45720" marR="45720" anchor="ctr">
                    <a:lnL w="6350" cap="flat" cmpd="sng" algn="ctr">
                      <a:solidFill>
                        <a:schemeClr val="bg1">
                          <a:lumMod val="75000"/>
                        </a:schemeClr>
                      </a:solidFill>
                      <a:prstDash val="solid"/>
                      <a:round/>
                      <a:headEnd type="none" w="med" len="med"/>
                      <a:tailEnd type="none" w="med" len="med"/>
                    </a:lnL>
                    <a:lnR w="12700" cmpd="sng">
                      <a:noFill/>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7729922"/>
                  </a:ext>
                </a:extLst>
              </a:tr>
              <a:tr h="151507">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Event A</a:t>
                      </a:r>
                    </a:p>
                  </a:txBody>
                  <a:tcPr marL="45720" marR="4572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Odd number</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latin typeface="SamsungOne 400" panose="020B0503030303020204" pitchFamily="34" charset="0"/>
                          <a:ea typeface="SamsungOne 400" panose="020B0503030303020204" pitchFamily="34" charset="0"/>
                        </a:rPr>
                        <a:t>1</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rgbClr val="FF0000"/>
                          </a:solidFill>
                          <a:latin typeface="SamsungOne 400" panose="020B0503030303020204" pitchFamily="34" charset="0"/>
                          <a:ea typeface="SamsungOne 400" panose="020B0503030303020204" pitchFamily="34" charset="0"/>
                        </a:rPr>
                        <a:t>1</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rgbClr val="FF0000"/>
                          </a:solidFill>
                          <a:latin typeface="SamsungOne 400" panose="020B0503030303020204" pitchFamily="34" charset="0"/>
                          <a:ea typeface="SamsungOne 400" panose="020B0503030303020204" pitchFamily="34" charset="0"/>
                        </a:rPr>
                        <a:t>1</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latin typeface="SamsungOne 400" panose="020B0503030303020204" pitchFamily="34" charset="0"/>
                          <a:ea typeface="SamsungOne 400" panose="020B0503030303020204" pitchFamily="34" charset="0"/>
                        </a:rPr>
                        <a:t>0.5</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latin typeface="SamsungOne 400" panose="020B0503030303020204" pitchFamily="34" charset="0"/>
                          <a:ea typeface="SamsungOne 400" panose="020B0503030303020204" pitchFamily="34" charset="0"/>
                        </a:rPr>
                        <a:t>0.5</a:t>
                      </a:r>
                    </a:p>
                  </a:txBody>
                  <a:tcPr marL="45720" marR="4572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7462398"/>
                  </a:ext>
                </a:extLst>
              </a:tr>
              <a:tr h="222293">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Event B</a:t>
                      </a:r>
                    </a:p>
                  </a:txBody>
                  <a:tcPr marL="45720" marR="4572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Less than 3</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latin typeface="SamsungOne 400" panose="020B0503030303020204" pitchFamily="34" charset="0"/>
                          <a:ea typeface="SamsungOne 400" panose="020B0503030303020204" pitchFamily="34" charset="0"/>
                        </a:rPr>
                        <a:t>2</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latin typeface="SamsungOne 400" panose="020B0503030303020204" pitchFamily="34" charset="0"/>
                          <a:ea typeface="SamsungOne 400" panose="020B0503030303020204" pitchFamily="34" charset="0"/>
                        </a:rPr>
                        <a:t>2</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8278547"/>
                  </a:ext>
                </a:extLst>
              </a:tr>
              <a:tr h="222293">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latin typeface="SamsungOne 400" panose="020B0503030303020204" pitchFamily="34" charset="0"/>
                          <a:ea typeface="SamsungOne 400" panose="020B0503030303020204" pitchFamily="34" charset="0"/>
                        </a:rPr>
                        <a:t>3</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rgbClr val="FF0000"/>
                          </a:solidFill>
                          <a:latin typeface="SamsungOne 400" panose="020B0503030303020204" pitchFamily="34" charset="0"/>
                          <a:ea typeface="SamsungOne 400" panose="020B0503030303020204" pitchFamily="34" charset="0"/>
                        </a:rPr>
                        <a:t>3</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rgbClr val="FF0000"/>
                          </a:solidFill>
                          <a:latin typeface="SamsungOne 400" panose="020B0503030303020204" pitchFamily="34" charset="0"/>
                          <a:ea typeface="SamsungOne 400" panose="020B0503030303020204" pitchFamily="34" charset="0"/>
                        </a:rPr>
                        <a:t>3</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55441991"/>
                  </a:ext>
                </a:extLst>
              </a:tr>
              <a:tr h="222293">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latin typeface="SamsungOne 400" panose="020B0503030303020204" pitchFamily="34" charset="0"/>
                          <a:ea typeface="SamsungOne 400" panose="020B0503030303020204" pitchFamily="34" charset="0"/>
                        </a:rPr>
                        <a:t>4</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89448"/>
                  </a:ext>
                </a:extLst>
              </a:tr>
              <a:tr h="222293">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latin typeface="SamsungOne 400" panose="020B0503030303020204" pitchFamily="34" charset="0"/>
                          <a:ea typeface="SamsungOne 400" panose="020B0503030303020204" pitchFamily="34" charset="0"/>
                        </a:rPr>
                        <a:t>5</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latin typeface="SamsungOne 400" panose="020B0503030303020204" pitchFamily="34" charset="0"/>
                          <a:ea typeface="SamsungOne 400" panose="020B0503030303020204" pitchFamily="34" charset="0"/>
                        </a:rPr>
                        <a:t>5</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0161544"/>
                  </a:ext>
                </a:extLst>
              </a:tr>
              <a:tr h="222293">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latin typeface="SamsungOne 400" panose="020B0503030303020204" pitchFamily="34" charset="0"/>
                          <a:ea typeface="SamsungOne 400" panose="020B0503030303020204" pitchFamily="34" charset="0"/>
                        </a:rPr>
                        <a:t>6</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bl>
          </a:graphicData>
        </a:graphic>
      </p:graphicFrame>
      <p:grpSp>
        <p:nvGrpSpPr>
          <p:cNvPr id="5" name="그룹 4"/>
          <p:cNvGrpSpPr/>
          <p:nvPr/>
        </p:nvGrpSpPr>
        <p:grpSpPr>
          <a:xfrm>
            <a:off x="5438113" y="3387470"/>
            <a:ext cx="4211701" cy="828926"/>
            <a:chOff x="5438113" y="3276237"/>
            <a:chExt cx="4211701" cy="828926"/>
          </a:xfrm>
        </p:grpSpPr>
        <p:sp>
          <p:nvSpPr>
            <p:cNvPr id="30" name="직사각형 29">
              <a:extLst>
                <a:ext uri="{FF2B5EF4-FFF2-40B4-BE49-F238E27FC236}">
                  <a16:creationId xmlns:a16="http://schemas.microsoft.com/office/drawing/2014/main" id="{9636CF44-3BB8-4DF0-8DE5-3DA28374D271}"/>
                </a:ext>
              </a:extLst>
            </p:cNvPr>
            <p:cNvSpPr/>
            <p:nvPr/>
          </p:nvSpPr>
          <p:spPr>
            <a:xfrm>
              <a:off x="5438113" y="3276237"/>
              <a:ext cx="4211701" cy="7455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0975" lvl="1">
                <a:buClr>
                  <a:srgbClr val="193EB0"/>
                </a:buClr>
              </a:pPr>
              <a:r>
                <a:rPr lang="en-US" altLang="ko-KR" sz="1300" b="1" dirty="0">
                  <a:solidFill>
                    <a:prstClr val="black">
                      <a:lumMod val="85000"/>
                      <a:lumOff val="15000"/>
                    </a:prstClr>
                  </a:solidFill>
                  <a:latin typeface="SamsungOne 400" panose="020B0503030303020204" pitchFamily="34" charset="0"/>
                  <a:sym typeface="Symbol"/>
                </a:rPr>
                <a:t>Conditional probability</a:t>
              </a:r>
            </a:p>
            <a:p>
              <a:pPr marL="361950" lvl="1" indent="-180975">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sym typeface="Symbol"/>
                </a:rPr>
                <a:t>Events of B (1,2,3) when the A events (1,3,5) occur</a:t>
              </a:r>
            </a:p>
            <a:p>
              <a:pPr marL="361950" lvl="1" indent="-180975">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sym typeface="Symbol"/>
                </a:rPr>
                <a:t>0.6666667</a:t>
              </a:r>
            </a:p>
          </p:txBody>
        </p:sp>
        <p:cxnSp>
          <p:nvCxnSpPr>
            <p:cNvPr id="31" name="직선 화살표 연결선 30">
              <a:extLst>
                <a:ext uri="{FF2B5EF4-FFF2-40B4-BE49-F238E27FC236}">
                  <a16:creationId xmlns:a16="http://schemas.microsoft.com/office/drawing/2014/main" id="{E06CC91C-D838-4AE0-BAB3-73D8D8BB0C42}"/>
                </a:ext>
              </a:extLst>
            </p:cNvPr>
            <p:cNvCxnSpPr>
              <a:cxnSpLocks/>
            </p:cNvCxnSpPr>
            <p:nvPr/>
          </p:nvCxnSpPr>
          <p:spPr>
            <a:xfrm>
              <a:off x="9036476" y="3798719"/>
              <a:ext cx="0" cy="306444"/>
            </a:xfrm>
            <a:prstGeom prst="straightConnector1">
              <a:avLst/>
            </a:prstGeom>
            <a:ln w="12700">
              <a:solidFill>
                <a:srgbClr val="1429A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그룹 45"/>
          <p:cNvGrpSpPr/>
          <p:nvPr/>
        </p:nvGrpSpPr>
        <p:grpSpPr>
          <a:xfrm>
            <a:off x="803378" y="3429289"/>
            <a:ext cx="2664296" cy="1146242"/>
            <a:chOff x="857091" y="2956626"/>
            <a:chExt cx="2664296" cy="1146242"/>
          </a:xfrm>
        </p:grpSpPr>
        <p:sp>
          <p:nvSpPr>
            <p:cNvPr id="47" name="직사각형 46">
              <a:extLst>
                <a:ext uri="{FF2B5EF4-FFF2-40B4-BE49-F238E27FC236}">
                  <a16:creationId xmlns:a16="http://schemas.microsoft.com/office/drawing/2014/main" id="{20DFC013-E94B-4519-8F83-AF96C7886F4E}"/>
                </a:ext>
              </a:extLst>
            </p:cNvPr>
            <p:cNvSpPr/>
            <p:nvPr/>
          </p:nvSpPr>
          <p:spPr>
            <a:xfrm>
              <a:off x="857091" y="2956626"/>
              <a:ext cx="2664296" cy="1146242"/>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48" name="직사각형 47">
              <a:extLst>
                <a:ext uri="{FF2B5EF4-FFF2-40B4-BE49-F238E27FC236}">
                  <a16:creationId xmlns:a16="http://schemas.microsoft.com/office/drawing/2014/main" id="{F4A84007-1AF0-4462-844B-2BD5EA150A94}"/>
                </a:ext>
              </a:extLst>
            </p:cNvPr>
            <p:cNvSpPr/>
            <p:nvPr/>
          </p:nvSpPr>
          <p:spPr>
            <a:xfrm>
              <a:off x="1073115" y="3055367"/>
              <a:ext cx="1152128" cy="96266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9" name="직사각형 48">
              <a:extLst>
                <a:ext uri="{FF2B5EF4-FFF2-40B4-BE49-F238E27FC236}">
                  <a16:creationId xmlns:a16="http://schemas.microsoft.com/office/drawing/2014/main" id="{FA0E257C-E21F-4D22-B76C-A3A813643F5A}"/>
                </a:ext>
              </a:extLst>
            </p:cNvPr>
            <p:cNvSpPr/>
            <p:nvPr/>
          </p:nvSpPr>
          <p:spPr>
            <a:xfrm>
              <a:off x="1649179" y="3274937"/>
              <a:ext cx="1584176" cy="6479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0" name="TextBox 49">
              <a:extLst>
                <a:ext uri="{FF2B5EF4-FFF2-40B4-BE49-F238E27FC236}">
                  <a16:creationId xmlns:a16="http://schemas.microsoft.com/office/drawing/2014/main" id="{59FE0C16-07E8-4FE7-9643-860B1306B5BB}"/>
                </a:ext>
              </a:extLst>
            </p:cNvPr>
            <p:cNvSpPr txBox="1"/>
            <p:nvPr/>
          </p:nvSpPr>
          <p:spPr>
            <a:xfrm>
              <a:off x="1196256" y="3054463"/>
              <a:ext cx="301686" cy="307777"/>
            </a:xfrm>
            <a:prstGeom prst="rect">
              <a:avLst/>
            </a:prstGeom>
            <a:noFill/>
          </p:spPr>
          <p:txBody>
            <a:bodyPr wrap="none" rtlCol="0">
              <a:spAutoFit/>
            </a:bodyPr>
            <a:lstStyle/>
            <a:p>
              <a:r>
                <a:rPr lang="en-US" sz="1400" b="1" dirty="0">
                  <a:solidFill>
                    <a:schemeClr val="bg1"/>
                  </a:solidFill>
                  <a:latin typeface="SamsungOne 400" panose="020B0503030303020204" pitchFamily="34" charset="0"/>
                  <a:ea typeface="SamsungOne 400" panose="020B0503030303020204" pitchFamily="34" charset="0"/>
                </a:rPr>
                <a:t>A</a:t>
              </a:r>
            </a:p>
          </p:txBody>
        </p:sp>
        <p:sp>
          <p:nvSpPr>
            <p:cNvPr id="51" name="TextBox 50">
              <a:extLst>
                <a:ext uri="{FF2B5EF4-FFF2-40B4-BE49-F238E27FC236}">
                  <a16:creationId xmlns:a16="http://schemas.microsoft.com/office/drawing/2014/main" id="{80E0BC31-FC3C-4A51-BC61-235EBC4E786D}"/>
                </a:ext>
              </a:extLst>
            </p:cNvPr>
            <p:cNvSpPr txBox="1"/>
            <p:nvPr/>
          </p:nvSpPr>
          <p:spPr>
            <a:xfrm>
              <a:off x="2292017" y="3253870"/>
              <a:ext cx="296876" cy="307777"/>
            </a:xfrm>
            <a:prstGeom prst="rect">
              <a:avLst/>
            </a:prstGeom>
            <a:noFill/>
          </p:spPr>
          <p:txBody>
            <a:bodyPr wrap="none" rtlCol="0">
              <a:spAutoFit/>
            </a:bodyPr>
            <a:lstStyle/>
            <a:p>
              <a:r>
                <a:rPr lang="en-US" sz="1400" b="1" dirty="0">
                  <a:latin typeface="SamsungOne 400" panose="020B0503030303020204" pitchFamily="34" charset="0"/>
                  <a:ea typeface="SamsungOne 400" panose="020B0503030303020204" pitchFamily="34" charset="0"/>
                </a:rPr>
                <a:t>B</a:t>
              </a:r>
            </a:p>
          </p:txBody>
        </p:sp>
        <p:sp>
          <p:nvSpPr>
            <p:cNvPr id="52" name="TextBox 51">
              <a:extLst>
                <a:ext uri="{FF2B5EF4-FFF2-40B4-BE49-F238E27FC236}">
                  <a16:creationId xmlns:a16="http://schemas.microsoft.com/office/drawing/2014/main" id="{37237A52-B129-4936-8C99-B47C0CA5A449}"/>
                </a:ext>
              </a:extLst>
            </p:cNvPr>
            <p:cNvSpPr txBox="1"/>
            <p:nvPr/>
          </p:nvSpPr>
          <p:spPr>
            <a:xfrm>
              <a:off x="1210304" y="3394064"/>
              <a:ext cx="280846" cy="307777"/>
            </a:xfrm>
            <a:prstGeom prst="rect">
              <a:avLst/>
            </a:prstGeom>
            <a:noFill/>
          </p:spPr>
          <p:txBody>
            <a:bodyPr wrap="none" rtlCol="0">
              <a:spAutoFit/>
            </a:bodyPr>
            <a:lstStyle/>
            <a:p>
              <a:r>
                <a:rPr lang="en-US" altLang="ko-KR" sz="1400" b="1" dirty="0">
                  <a:solidFill>
                    <a:schemeClr val="bg1"/>
                  </a:solidFill>
                  <a:latin typeface="SamsungOne 400" panose="020B0503030303020204" pitchFamily="34" charset="0"/>
                  <a:ea typeface="SamsungOne 400" panose="020B0503030303020204" pitchFamily="34" charset="0"/>
                </a:rPr>
                <a:t>5</a:t>
              </a:r>
            </a:p>
          </p:txBody>
        </p:sp>
        <p:sp>
          <p:nvSpPr>
            <p:cNvPr id="53" name="TextBox 52">
              <a:extLst>
                <a:ext uri="{FF2B5EF4-FFF2-40B4-BE49-F238E27FC236}">
                  <a16:creationId xmlns:a16="http://schemas.microsoft.com/office/drawing/2014/main" id="{9CDAA3F9-E0DE-40C1-AFFB-75BE8221AD7E}"/>
                </a:ext>
              </a:extLst>
            </p:cNvPr>
            <p:cNvSpPr txBox="1"/>
            <p:nvPr/>
          </p:nvSpPr>
          <p:spPr>
            <a:xfrm>
              <a:off x="2552852" y="2956626"/>
              <a:ext cx="285656" cy="307777"/>
            </a:xfrm>
            <a:prstGeom prst="rect">
              <a:avLst/>
            </a:prstGeom>
            <a:noFill/>
          </p:spPr>
          <p:txBody>
            <a:bodyPr wrap="none" rtlCol="0">
              <a:spAutoFit/>
            </a:bodyPr>
            <a:lstStyle/>
            <a:p>
              <a:r>
                <a:rPr lang="en-US" sz="1400" b="1" dirty="0">
                  <a:solidFill>
                    <a:schemeClr val="bg1"/>
                  </a:solidFill>
                  <a:latin typeface="SamsungOne 400" panose="020B0503030303020204" pitchFamily="34" charset="0"/>
                  <a:ea typeface="SamsungOne 400" panose="020B0503030303020204" pitchFamily="34" charset="0"/>
                </a:rPr>
                <a:t>4</a:t>
              </a:r>
            </a:p>
          </p:txBody>
        </p:sp>
        <p:sp>
          <p:nvSpPr>
            <p:cNvPr id="54" name="TextBox 53">
              <a:extLst>
                <a:ext uri="{FF2B5EF4-FFF2-40B4-BE49-F238E27FC236}">
                  <a16:creationId xmlns:a16="http://schemas.microsoft.com/office/drawing/2014/main" id="{559514CF-640C-4203-A389-65F2483D2351}"/>
                </a:ext>
              </a:extLst>
            </p:cNvPr>
            <p:cNvSpPr txBox="1"/>
            <p:nvPr/>
          </p:nvSpPr>
          <p:spPr>
            <a:xfrm>
              <a:off x="3014985" y="2956626"/>
              <a:ext cx="284052" cy="307777"/>
            </a:xfrm>
            <a:prstGeom prst="rect">
              <a:avLst/>
            </a:prstGeom>
            <a:noFill/>
          </p:spPr>
          <p:txBody>
            <a:bodyPr wrap="none" rtlCol="0">
              <a:spAutoFit/>
            </a:bodyPr>
            <a:lstStyle/>
            <a:p>
              <a:r>
                <a:rPr lang="en-US" sz="1400" b="1" dirty="0">
                  <a:solidFill>
                    <a:schemeClr val="bg1"/>
                  </a:solidFill>
                  <a:latin typeface="SamsungOne 400" panose="020B0503030303020204" pitchFamily="34" charset="0"/>
                  <a:ea typeface="SamsungOne 400" panose="020B0503030303020204" pitchFamily="34" charset="0"/>
                </a:rPr>
                <a:t>6</a:t>
              </a:r>
            </a:p>
          </p:txBody>
        </p:sp>
        <p:sp>
          <p:nvSpPr>
            <p:cNvPr id="55" name="직사각형 54">
              <a:extLst>
                <a:ext uri="{FF2B5EF4-FFF2-40B4-BE49-F238E27FC236}">
                  <a16:creationId xmlns:a16="http://schemas.microsoft.com/office/drawing/2014/main" id="{477EE2E7-4892-43AA-A747-27D89545D8CC}"/>
                </a:ext>
              </a:extLst>
            </p:cNvPr>
            <p:cNvSpPr/>
            <p:nvPr/>
          </p:nvSpPr>
          <p:spPr>
            <a:xfrm>
              <a:off x="1647555" y="3274560"/>
              <a:ext cx="577688" cy="64827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6" name="TextBox 55">
              <a:extLst>
                <a:ext uri="{FF2B5EF4-FFF2-40B4-BE49-F238E27FC236}">
                  <a16:creationId xmlns:a16="http://schemas.microsoft.com/office/drawing/2014/main" id="{28B71F6C-4F3A-4F5D-BE2B-60F7401CBD27}"/>
                </a:ext>
              </a:extLst>
            </p:cNvPr>
            <p:cNvSpPr txBox="1"/>
            <p:nvPr/>
          </p:nvSpPr>
          <p:spPr>
            <a:xfrm>
              <a:off x="1856772" y="3303669"/>
              <a:ext cx="282450" cy="523220"/>
            </a:xfrm>
            <a:prstGeom prst="rect">
              <a:avLst/>
            </a:prstGeom>
            <a:noFill/>
          </p:spPr>
          <p:txBody>
            <a:bodyPr wrap="none" rtlCol="0">
              <a:spAutoFit/>
            </a:bodyPr>
            <a:lstStyle/>
            <a:p>
              <a:r>
                <a:rPr lang="en-US" sz="1400" b="1" dirty="0">
                  <a:solidFill>
                    <a:schemeClr val="bg1"/>
                  </a:solidFill>
                  <a:latin typeface="SamsungOne 400" panose="020B0503030303020204" pitchFamily="34" charset="0"/>
                  <a:ea typeface="SamsungOne 400" panose="020B0503030303020204" pitchFamily="34" charset="0"/>
                </a:rPr>
                <a:t>1</a:t>
              </a:r>
            </a:p>
            <a:p>
              <a:r>
                <a:rPr lang="en-US" sz="1400" b="1" dirty="0">
                  <a:solidFill>
                    <a:schemeClr val="bg1"/>
                  </a:solidFill>
                  <a:latin typeface="SamsungOne 400" panose="020B0503030303020204" pitchFamily="34" charset="0"/>
                  <a:ea typeface="SamsungOne 400" panose="020B0503030303020204" pitchFamily="34" charset="0"/>
                </a:rPr>
                <a:t>3</a:t>
              </a:r>
            </a:p>
          </p:txBody>
        </p:sp>
        <p:sp>
          <p:nvSpPr>
            <p:cNvPr id="57" name="TextBox 56">
              <a:extLst>
                <a:ext uri="{FF2B5EF4-FFF2-40B4-BE49-F238E27FC236}">
                  <a16:creationId xmlns:a16="http://schemas.microsoft.com/office/drawing/2014/main" id="{F90E7F4B-C484-4E44-8E2D-002ABFA0B7B7}"/>
                </a:ext>
              </a:extLst>
            </p:cNvPr>
            <p:cNvSpPr txBox="1"/>
            <p:nvPr/>
          </p:nvSpPr>
          <p:spPr>
            <a:xfrm>
              <a:off x="2801307" y="3443357"/>
              <a:ext cx="284052" cy="307777"/>
            </a:xfrm>
            <a:prstGeom prst="rect">
              <a:avLst/>
            </a:prstGeom>
            <a:noFill/>
          </p:spPr>
          <p:txBody>
            <a:bodyPr wrap="none" rtlCol="0">
              <a:spAutoFit/>
            </a:bodyPr>
            <a:lstStyle/>
            <a:p>
              <a:r>
                <a:rPr lang="en-US" sz="1400" b="1" dirty="0">
                  <a:latin typeface="SamsungOne 400" panose="020B0503030303020204" pitchFamily="34" charset="0"/>
                  <a:ea typeface="SamsungOne 400" panose="020B0503030303020204" pitchFamily="34" charset="0"/>
                </a:rPr>
                <a:t>2</a:t>
              </a:r>
            </a:p>
          </p:txBody>
        </p:sp>
      </p:grpSp>
    </p:spTree>
    <p:extLst>
      <p:ext uri="{BB962C8B-B14F-4D97-AF65-F5344CB8AC3E}">
        <p14:creationId xmlns:p14="http://schemas.microsoft.com/office/powerpoint/2010/main" val="1755267477"/>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5.1. Naïve Bayes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05</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3" name="직사각형 12">
            <a:extLst>
              <a:ext uri="{FF2B5EF4-FFF2-40B4-BE49-F238E27FC236}">
                <a16:creationId xmlns:a16="http://schemas.microsoft.com/office/drawing/2014/main" id="{00F0E0C0-95C6-447E-87BD-C40911B748AA}"/>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Random variable</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4" name="직사각형 13">
            <a:extLst>
              <a:ext uri="{FF2B5EF4-FFF2-40B4-BE49-F238E27FC236}">
                <a16:creationId xmlns:a16="http://schemas.microsoft.com/office/drawing/2014/main" id="{D194623E-62CA-4FDC-A4F6-9BBED43C2731}"/>
              </a:ext>
            </a:extLst>
          </p:cNvPr>
          <p:cNvSpPr/>
          <p:nvPr/>
        </p:nvSpPr>
        <p:spPr>
          <a:xfrm>
            <a:off x="671261" y="1700808"/>
            <a:ext cx="8632825" cy="125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The variable whose values are unknown until the outcome  </a:t>
            </a:r>
          </a:p>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Independent events</a:t>
            </a: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sym typeface="Symbol"/>
              </a:rPr>
              <a:t>Not affected</a:t>
            </a: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sym typeface="Symbol"/>
            </a:endParaRPr>
          </a:p>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Dice</a:t>
            </a:r>
          </a:p>
        </p:txBody>
      </p:sp>
      <p:grpSp>
        <p:nvGrpSpPr>
          <p:cNvPr id="2" name="그룹 1"/>
          <p:cNvGrpSpPr/>
          <p:nvPr/>
        </p:nvGrpSpPr>
        <p:grpSpPr>
          <a:xfrm>
            <a:off x="857091" y="2956626"/>
            <a:ext cx="2664296" cy="1146242"/>
            <a:chOff x="857091" y="2956626"/>
            <a:chExt cx="2664296" cy="1146242"/>
          </a:xfrm>
        </p:grpSpPr>
        <p:sp>
          <p:nvSpPr>
            <p:cNvPr id="11" name="직사각형 10">
              <a:extLst>
                <a:ext uri="{FF2B5EF4-FFF2-40B4-BE49-F238E27FC236}">
                  <a16:creationId xmlns:a16="http://schemas.microsoft.com/office/drawing/2014/main" id="{20DFC013-E94B-4519-8F83-AF96C7886F4E}"/>
                </a:ext>
              </a:extLst>
            </p:cNvPr>
            <p:cNvSpPr/>
            <p:nvPr/>
          </p:nvSpPr>
          <p:spPr>
            <a:xfrm>
              <a:off x="857091" y="2956626"/>
              <a:ext cx="2664296" cy="1146242"/>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6" name="직사각형 15">
              <a:extLst>
                <a:ext uri="{FF2B5EF4-FFF2-40B4-BE49-F238E27FC236}">
                  <a16:creationId xmlns:a16="http://schemas.microsoft.com/office/drawing/2014/main" id="{F4A84007-1AF0-4462-844B-2BD5EA150A94}"/>
                </a:ext>
              </a:extLst>
            </p:cNvPr>
            <p:cNvSpPr/>
            <p:nvPr/>
          </p:nvSpPr>
          <p:spPr>
            <a:xfrm>
              <a:off x="1073115" y="3055367"/>
              <a:ext cx="1152128" cy="96266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7" name="직사각형 16">
              <a:extLst>
                <a:ext uri="{FF2B5EF4-FFF2-40B4-BE49-F238E27FC236}">
                  <a16:creationId xmlns:a16="http://schemas.microsoft.com/office/drawing/2014/main" id="{FA0E257C-E21F-4D22-B76C-A3A813643F5A}"/>
                </a:ext>
              </a:extLst>
            </p:cNvPr>
            <p:cNvSpPr/>
            <p:nvPr/>
          </p:nvSpPr>
          <p:spPr>
            <a:xfrm>
              <a:off x="1649179" y="3274937"/>
              <a:ext cx="1584176" cy="6479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8" name="TextBox 17">
              <a:extLst>
                <a:ext uri="{FF2B5EF4-FFF2-40B4-BE49-F238E27FC236}">
                  <a16:creationId xmlns:a16="http://schemas.microsoft.com/office/drawing/2014/main" id="{59FE0C16-07E8-4FE7-9643-860B1306B5BB}"/>
                </a:ext>
              </a:extLst>
            </p:cNvPr>
            <p:cNvSpPr txBox="1"/>
            <p:nvPr/>
          </p:nvSpPr>
          <p:spPr>
            <a:xfrm>
              <a:off x="1196256" y="3054463"/>
              <a:ext cx="301686" cy="307777"/>
            </a:xfrm>
            <a:prstGeom prst="rect">
              <a:avLst/>
            </a:prstGeom>
            <a:noFill/>
          </p:spPr>
          <p:txBody>
            <a:bodyPr wrap="none" rtlCol="0">
              <a:spAutoFit/>
            </a:bodyPr>
            <a:lstStyle/>
            <a:p>
              <a:r>
                <a:rPr lang="en-US" sz="1400" b="1" dirty="0">
                  <a:solidFill>
                    <a:schemeClr val="bg1"/>
                  </a:solidFill>
                  <a:latin typeface="SamsungOne 400" panose="020B0503030303020204" pitchFamily="34" charset="0"/>
                  <a:ea typeface="SamsungOne 400" panose="020B0503030303020204" pitchFamily="34" charset="0"/>
                </a:rPr>
                <a:t>A</a:t>
              </a:r>
            </a:p>
          </p:txBody>
        </p:sp>
        <p:sp>
          <p:nvSpPr>
            <p:cNvPr id="20" name="TextBox 19">
              <a:extLst>
                <a:ext uri="{FF2B5EF4-FFF2-40B4-BE49-F238E27FC236}">
                  <a16:creationId xmlns:a16="http://schemas.microsoft.com/office/drawing/2014/main" id="{80E0BC31-FC3C-4A51-BC61-235EBC4E786D}"/>
                </a:ext>
              </a:extLst>
            </p:cNvPr>
            <p:cNvSpPr txBox="1"/>
            <p:nvPr/>
          </p:nvSpPr>
          <p:spPr>
            <a:xfrm>
              <a:off x="2292017" y="3253870"/>
              <a:ext cx="296876" cy="307777"/>
            </a:xfrm>
            <a:prstGeom prst="rect">
              <a:avLst/>
            </a:prstGeom>
            <a:noFill/>
          </p:spPr>
          <p:txBody>
            <a:bodyPr wrap="none" rtlCol="0">
              <a:spAutoFit/>
            </a:bodyPr>
            <a:lstStyle/>
            <a:p>
              <a:r>
                <a:rPr lang="en-US" sz="1400" b="1" dirty="0">
                  <a:latin typeface="SamsungOne 400" panose="020B0503030303020204" pitchFamily="34" charset="0"/>
                  <a:ea typeface="SamsungOne 400" panose="020B0503030303020204" pitchFamily="34" charset="0"/>
                </a:rPr>
                <a:t>B</a:t>
              </a:r>
            </a:p>
          </p:txBody>
        </p:sp>
        <p:sp>
          <p:nvSpPr>
            <p:cNvPr id="21" name="TextBox 20">
              <a:extLst>
                <a:ext uri="{FF2B5EF4-FFF2-40B4-BE49-F238E27FC236}">
                  <a16:creationId xmlns:a16="http://schemas.microsoft.com/office/drawing/2014/main" id="{37237A52-B129-4936-8C99-B47C0CA5A449}"/>
                </a:ext>
              </a:extLst>
            </p:cNvPr>
            <p:cNvSpPr txBox="1"/>
            <p:nvPr/>
          </p:nvSpPr>
          <p:spPr>
            <a:xfrm>
              <a:off x="1210304" y="3394064"/>
              <a:ext cx="280846" cy="523220"/>
            </a:xfrm>
            <a:prstGeom prst="rect">
              <a:avLst/>
            </a:prstGeom>
            <a:noFill/>
          </p:spPr>
          <p:txBody>
            <a:bodyPr wrap="none" rtlCol="0">
              <a:spAutoFit/>
            </a:bodyPr>
            <a:lstStyle/>
            <a:p>
              <a:r>
                <a:rPr lang="en-US" altLang="ko-KR" sz="1400" b="1" dirty="0">
                  <a:solidFill>
                    <a:schemeClr val="bg1"/>
                  </a:solidFill>
                  <a:latin typeface="SamsungOne 400" panose="020B0503030303020204" pitchFamily="34" charset="0"/>
                  <a:ea typeface="SamsungOne 400" panose="020B0503030303020204" pitchFamily="34" charset="0"/>
                </a:rPr>
                <a:t>1</a:t>
              </a:r>
            </a:p>
            <a:p>
              <a:r>
                <a:rPr lang="en-US" altLang="ko-KR" sz="1400" b="1" dirty="0">
                  <a:solidFill>
                    <a:schemeClr val="bg1"/>
                  </a:solidFill>
                  <a:latin typeface="SamsungOne 400" panose="020B0503030303020204" pitchFamily="34" charset="0"/>
                  <a:ea typeface="SamsungOne 400" panose="020B0503030303020204" pitchFamily="34" charset="0"/>
                </a:rPr>
                <a:t>5</a:t>
              </a:r>
            </a:p>
          </p:txBody>
        </p:sp>
        <p:sp>
          <p:nvSpPr>
            <p:cNvPr id="22" name="TextBox 21">
              <a:extLst>
                <a:ext uri="{FF2B5EF4-FFF2-40B4-BE49-F238E27FC236}">
                  <a16:creationId xmlns:a16="http://schemas.microsoft.com/office/drawing/2014/main" id="{9CDAA3F9-E0DE-40C1-AFFB-75BE8221AD7E}"/>
                </a:ext>
              </a:extLst>
            </p:cNvPr>
            <p:cNvSpPr txBox="1"/>
            <p:nvPr/>
          </p:nvSpPr>
          <p:spPr>
            <a:xfrm>
              <a:off x="2552852" y="2956626"/>
              <a:ext cx="285656" cy="307777"/>
            </a:xfrm>
            <a:prstGeom prst="rect">
              <a:avLst/>
            </a:prstGeom>
            <a:noFill/>
          </p:spPr>
          <p:txBody>
            <a:bodyPr wrap="none" rtlCol="0">
              <a:spAutoFit/>
            </a:bodyPr>
            <a:lstStyle/>
            <a:p>
              <a:r>
                <a:rPr lang="en-US" sz="1400" b="1" dirty="0">
                  <a:solidFill>
                    <a:schemeClr val="bg1"/>
                  </a:solidFill>
                  <a:latin typeface="SamsungOne 400" panose="020B0503030303020204" pitchFamily="34" charset="0"/>
                  <a:ea typeface="SamsungOne 400" panose="020B0503030303020204" pitchFamily="34" charset="0"/>
                </a:rPr>
                <a:t>2</a:t>
              </a:r>
            </a:p>
          </p:txBody>
        </p:sp>
        <p:sp>
          <p:nvSpPr>
            <p:cNvPr id="26" name="TextBox 25">
              <a:extLst>
                <a:ext uri="{FF2B5EF4-FFF2-40B4-BE49-F238E27FC236}">
                  <a16:creationId xmlns:a16="http://schemas.microsoft.com/office/drawing/2014/main" id="{559514CF-640C-4203-A389-65F2483D2351}"/>
                </a:ext>
              </a:extLst>
            </p:cNvPr>
            <p:cNvSpPr txBox="1"/>
            <p:nvPr/>
          </p:nvSpPr>
          <p:spPr>
            <a:xfrm>
              <a:off x="3014985" y="2956626"/>
              <a:ext cx="284052" cy="307777"/>
            </a:xfrm>
            <a:prstGeom prst="rect">
              <a:avLst/>
            </a:prstGeom>
            <a:noFill/>
          </p:spPr>
          <p:txBody>
            <a:bodyPr wrap="none" rtlCol="0">
              <a:spAutoFit/>
            </a:bodyPr>
            <a:lstStyle/>
            <a:p>
              <a:r>
                <a:rPr lang="en-US" sz="1400" b="1" dirty="0">
                  <a:solidFill>
                    <a:schemeClr val="bg1"/>
                  </a:solidFill>
                  <a:latin typeface="SamsungOne 400" panose="020B0503030303020204" pitchFamily="34" charset="0"/>
                  <a:ea typeface="SamsungOne 400" panose="020B0503030303020204" pitchFamily="34" charset="0"/>
                </a:rPr>
                <a:t>4</a:t>
              </a:r>
            </a:p>
          </p:txBody>
        </p:sp>
        <p:sp>
          <p:nvSpPr>
            <p:cNvPr id="27" name="직사각형 26">
              <a:extLst>
                <a:ext uri="{FF2B5EF4-FFF2-40B4-BE49-F238E27FC236}">
                  <a16:creationId xmlns:a16="http://schemas.microsoft.com/office/drawing/2014/main" id="{477EE2E7-4892-43AA-A747-27D89545D8CC}"/>
                </a:ext>
              </a:extLst>
            </p:cNvPr>
            <p:cNvSpPr/>
            <p:nvPr/>
          </p:nvSpPr>
          <p:spPr>
            <a:xfrm>
              <a:off x="1647555" y="3274560"/>
              <a:ext cx="577688" cy="64827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28" name="TextBox 27">
              <a:extLst>
                <a:ext uri="{FF2B5EF4-FFF2-40B4-BE49-F238E27FC236}">
                  <a16:creationId xmlns:a16="http://schemas.microsoft.com/office/drawing/2014/main" id="{28B71F6C-4F3A-4F5D-BE2B-60F7401CBD27}"/>
                </a:ext>
              </a:extLst>
            </p:cNvPr>
            <p:cNvSpPr txBox="1"/>
            <p:nvPr/>
          </p:nvSpPr>
          <p:spPr>
            <a:xfrm>
              <a:off x="1856772" y="3443356"/>
              <a:ext cx="282450" cy="307777"/>
            </a:xfrm>
            <a:prstGeom prst="rect">
              <a:avLst/>
            </a:prstGeom>
            <a:noFill/>
          </p:spPr>
          <p:txBody>
            <a:bodyPr wrap="none" rtlCol="0">
              <a:spAutoFit/>
            </a:bodyPr>
            <a:lstStyle/>
            <a:p>
              <a:r>
                <a:rPr lang="en-US" sz="1400" b="1" dirty="0">
                  <a:solidFill>
                    <a:schemeClr val="bg1"/>
                  </a:solidFill>
                  <a:latin typeface="SamsungOne 400" panose="020B0503030303020204" pitchFamily="34" charset="0"/>
                  <a:ea typeface="SamsungOne 400" panose="020B0503030303020204" pitchFamily="34" charset="0"/>
                </a:rPr>
                <a:t>3</a:t>
              </a:r>
            </a:p>
          </p:txBody>
        </p:sp>
        <p:sp>
          <p:nvSpPr>
            <p:cNvPr id="29" name="TextBox 28">
              <a:extLst>
                <a:ext uri="{FF2B5EF4-FFF2-40B4-BE49-F238E27FC236}">
                  <a16:creationId xmlns:a16="http://schemas.microsoft.com/office/drawing/2014/main" id="{F90E7F4B-C484-4E44-8E2D-002ABFA0B7B7}"/>
                </a:ext>
              </a:extLst>
            </p:cNvPr>
            <p:cNvSpPr txBox="1"/>
            <p:nvPr/>
          </p:nvSpPr>
          <p:spPr>
            <a:xfrm>
              <a:off x="2801307" y="3443357"/>
              <a:ext cx="284052" cy="307777"/>
            </a:xfrm>
            <a:prstGeom prst="rect">
              <a:avLst/>
            </a:prstGeom>
            <a:noFill/>
          </p:spPr>
          <p:txBody>
            <a:bodyPr wrap="none" rtlCol="0">
              <a:spAutoFit/>
            </a:bodyPr>
            <a:lstStyle/>
            <a:p>
              <a:r>
                <a:rPr lang="en-US" sz="1400" b="1" dirty="0">
                  <a:latin typeface="SamsungOne 400" panose="020B0503030303020204" pitchFamily="34" charset="0"/>
                  <a:ea typeface="SamsungOne 400" panose="020B0503030303020204" pitchFamily="34" charset="0"/>
                </a:rPr>
                <a:t>6</a:t>
              </a:r>
            </a:p>
          </p:txBody>
        </p:sp>
      </p:grpSp>
      <p:sp>
        <p:nvSpPr>
          <p:cNvPr id="30" name="직사각형 29">
            <a:extLst>
              <a:ext uri="{FF2B5EF4-FFF2-40B4-BE49-F238E27FC236}">
                <a16:creationId xmlns:a16="http://schemas.microsoft.com/office/drawing/2014/main" id="{9636CF44-3BB8-4DF0-8DE5-3DA28374D271}"/>
              </a:ext>
            </a:extLst>
          </p:cNvPr>
          <p:cNvSpPr/>
          <p:nvPr/>
        </p:nvSpPr>
        <p:spPr>
          <a:xfrm>
            <a:off x="7075649" y="4248623"/>
            <a:ext cx="2392352" cy="11508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0975" lvl="1">
              <a:spcAft>
                <a:spcPts val="800"/>
              </a:spcAft>
              <a:buClr>
                <a:srgbClr val="193EB0"/>
              </a:buClr>
            </a:pPr>
            <a:r>
              <a:rPr lang="en-US" altLang="ko-KR" sz="1300" b="1" dirty="0">
                <a:solidFill>
                  <a:prstClr val="black">
                    <a:lumMod val="85000"/>
                    <a:lumOff val="15000"/>
                  </a:prstClr>
                </a:solidFill>
                <a:latin typeface="SamsungOne 400" panose="020B0503030303020204" pitchFamily="34" charset="0"/>
                <a:sym typeface="Symbol"/>
              </a:rPr>
              <a:t>Conditional probability</a:t>
            </a: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sym typeface="Symbol"/>
              </a:rPr>
              <a:t>Events of B (3, 6) when the A events (1,3,5) occur</a:t>
            </a:r>
            <a:endParaRPr lang="ko-KR" altLang="en-US" sz="1300" dirty="0">
              <a:solidFill>
                <a:prstClr val="black">
                  <a:lumMod val="85000"/>
                  <a:lumOff val="15000"/>
                </a:prstClr>
              </a:solidFill>
              <a:latin typeface="SamsungOne 400" panose="020B0503030303020204" pitchFamily="34" charset="0"/>
              <a:sym typeface="Symbol"/>
            </a:endParaRP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sym typeface="Symbol"/>
              </a:rPr>
              <a:t>0.333333333</a:t>
            </a:r>
          </a:p>
        </p:txBody>
      </p:sp>
      <p:cxnSp>
        <p:nvCxnSpPr>
          <p:cNvPr id="31" name="직선 화살표 연결선 30">
            <a:extLst>
              <a:ext uri="{FF2B5EF4-FFF2-40B4-BE49-F238E27FC236}">
                <a16:creationId xmlns:a16="http://schemas.microsoft.com/office/drawing/2014/main" id="{E06CC91C-D838-4AE0-BAB3-73D8D8BB0C42}"/>
              </a:ext>
            </a:extLst>
          </p:cNvPr>
          <p:cNvCxnSpPr>
            <a:cxnSpLocks/>
          </p:cNvCxnSpPr>
          <p:nvPr/>
        </p:nvCxnSpPr>
        <p:spPr>
          <a:xfrm>
            <a:off x="6427576" y="4402799"/>
            <a:ext cx="648072" cy="0"/>
          </a:xfrm>
          <a:prstGeom prst="straightConnector1">
            <a:avLst/>
          </a:prstGeom>
          <a:ln w="12700">
            <a:solidFill>
              <a:srgbClr val="1429A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2" name="표 31">
            <a:extLst>
              <a:ext uri="{FF2B5EF4-FFF2-40B4-BE49-F238E27FC236}">
                <a16:creationId xmlns:a16="http://schemas.microsoft.com/office/drawing/2014/main" id="{679BA4D8-2228-457E-9CA0-F3B267CA8226}"/>
              </a:ext>
            </a:extLst>
          </p:cNvPr>
          <p:cNvGraphicFramePr>
            <a:graphicFrameLocks noGrp="1"/>
          </p:cNvGraphicFramePr>
          <p:nvPr>
            <p:extLst>
              <p:ext uri="{D42A27DB-BD31-4B8C-83A1-F6EECF244321}">
                <p14:modId xmlns:p14="http://schemas.microsoft.com/office/powerpoint/2010/main" val="416483703"/>
              </p:ext>
            </p:extLst>
          </p:nvPr>
        </p:nvGraphicFramePr>
        <p:xfrm>
          <a:off x="847722" y="4237223"/>
          <a:ext cx="5903890" cy="2000641"/>
        </p:xfrm>
        <a:graphic>
          <a:graphicData uri="http://schemas.openxmlformats.org/drawingml/2006/table">
            <a:tbl>
              <a:tblPr firstRow="1" bandRow="1">
                <a:tableStyleId>{5940675A-B579-460E-94D1-54222C63F5DA}</a:tableStyleId>
              </a:tblPr>
              <a:tblGrid>
                <a:gridCol w="719314">
                  <a:extLst>
                    <a:ext uri="{9D8B030D-6E8A-4147-A177-3AD203B41FA5}">
                      <a16:colId xmlns:a16="http://schemas.microsoft.com/office/drawing/2014/main" val="4023989761"/>
                    </a:ext>
                  </a:extLst>
                </a:gridCol>
                <a:gridCol w="1044116">
                  <a:extLst>
                    <a:ext uri="{9D8B030D-6E8A-4147-A177-3AD203B41FA5}">
                      <a16:colId xmlns:a16="http://schemas.microsoft.com/office/drawing/2014/main" val="20001"/>
                    </a:ext>
                  </a:extLst>
                </a:gridCol>
                <a:gridCol w="612068">
                  <a:extLst>
                    <a:ext uri="{9D8B030D-6E8A-4147-A177-3AD203B41FA5}">
                      <a16:colId xmlns:a16="http://schemas.microsoft.com/office/drawing/2014/main" val="1127139662"/>
                    </a:ext>
                  </a:extLst>
                </a:gridCol>
                <a:gridCol w="720080">
                  <a:extLst>
                    <a:ext uri="{9D8B030D-6E8A-4147-A177-3AD203B41FA5}">
                      <a16:colId xmlns:a16="http://schemas.microsoft.com/office/drawing/2014/main" val="20003"/>
                    </a:ext>
                  </a:extLst>
                </a:gridCol>
                <a:gridCol w="756084">
                  <a:extLst>
                    <a:ext uri="{9D8B030D-6E8A-4147-A177-3AD203B41FA5}">
                      <a16:colId xmlns:a16="http://schemas.microsoft.com/office/drawing/2014/main" val="20004"/>
                    </a:ext>
                  </a:extLst>
                </a:gridCol>
                <a:gridCol w="1008112">
                  <a:extLst>
                    <a:ext uri="{9D8B030D-6E8A-4147-A177-3AD203B41FA5}">
                      <a16:colId xmlns:a16="http://schemas.microsoft.com/office/drawing/2014/main" val="20005"/>
                    </a:ext>
                  </a:extLst>
                </a:gridCol>
                <a:gridCol w="1044116">
                  <a:extLst>
                    <a:ext uri="{9D8B030D-6E8A-4147-A177-3AD203B41FA5}">
                      <a16:colId xmlns:a16="http://schemas.microsoft.com/office/drawing/2014/main" val="20006"/>
                    </a:ext>
                  </a:extLst>
                </a:gridCol>
              </a:tblGrid>
              <a:tr h="354721">
                <a:tc gridSpan="2">
                  <a:txBody>
                    <a:bodyPr/>
                    <a:lstStyle/>
                    <a:p>
                      <a:pPr algn="ctr"/>
                      <a:endParaRPr lang="en-US" sz="1200" dirty="0">
                        <a:solidFill>
                          <a:srgbClr val="1429A0"/>
                        </a:solidFill>
                        <a:latin typeface="SamsungOne 400" panose="020B0503030303020204" pitchFamily="34" charset="0"/>
                        <a:ea typeface="SamsungOne 400" panose="020B0503030303020204" pitchFamily="34" charset="0"/>
                      </a:endParaRPr>
                    </a:p>
                  </a:txBody>
                  <a:tcPr marL="45720" marR="45720" anchor="ctr">
                    <a:lnL w="12700" cmpd="sng">
                      <a:noFill/>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lang="en-US" dirty="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Total</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Event A</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Event B</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Probability A</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Probability B</a:t>
                      </a:r>
                    </a:p>
                  </a:txBody>
                  <a:tcPr marL="45720" marR="45720" anchor="ctr">
                    <a:lnL w="6350" cap="flat" cmpd="sng" algn="ctr">
                      <a:solidFill>
                        <a:schemeClr val="bg1">
                          <a:lumMod val="75000"/>
                        </a:schemeClr>
                      </a:solidFill>
                      <a:prstDash val="solid"/>
                      <a:round/>
                      <a:headEnd type="none" w="med" len="med"/>
                      <a:tailEnd type="none" w="med" len="med"/>
                    </a:lnL>
                    <a:lnR w="12700" cmpd="sng">
                      <a:noFill/>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7729922"/>
                  </a:ext>
                </a:extLst>
              </a:tr>
              <a:tr h="255076">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Event A</a:t>
                      </a:r>
                    </a:p>
                  </a:txBody>
                  <a:tcPr marL="45720" marR="4572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Odd number</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latin typeface="SamsungOne 400" panose="020B0503030303020204" pitchFamily="34" charset="0"/>
                          <a:ea typeface="SamsungOne 400" panose="020B0503030303020204" pitchFamily="34" charset="0"/>
                        </a:rPr>
                        <a:t>1</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chemeClr val="tx1"/>
                          </a:solidFill>
                          <a:latin typeface="SamsungOne 400" panose="020B0503030303020204" pitchFamily="34" charset="0"/>
                          <a:ea typeface="SamsungOne 400" panose="020B0503030303020204" pitchFamily="34" charset="0"/>
                        </a:rPr>
                        <a:t>1</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solidFill>
                          <a:srgbClr val="FF0000"/>
                        </a:solidFill>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latin typeface="SamsungOne 400" panose="020B0503030303020204" pitchFamily="34" charset="0"/>
                          <a:ea typeface="SamsungOne 400" panose="020B0503030303020204" pitchFamily="34" charset="0"/>
                        </a:rPr>
                        <a:t>0.5</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latin typeface="SamsungOne 400" panose="020B0503030303020204" pitchFamily="34" charset="0"/>
                          <a:ea typeface="SamsungOne 400" panose="020B0503030303020204" pitchFamily="34" charset="0"/>
                        </a:rPr>
                        <a:t>0.333</a:t>
                      </a:r>
                    </a:p>
                  </a:txBody>
                  <a:tcPr marL="45720" marR="4572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7462398"/>
                  </a:ext>
                </a:extLst>
              </a:tr>
              <a:tr h="255076">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Event B</a:t>
                      </a:r>
                    </a:p>
                  </a:txBody>
                  <a:tcPr marL="45720" marR="4572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1429A0"/>
                          </a:solidFill>
                          <a:latin typeface="SamsungOne 400" panose="020B0503030303020204" pitchFamily="34" charset="0"/>
                          <a:ea typeface="SamsungOne 400" panose="020B0503030303020204" pitchFamily="34" charset="0"/>
                        </a:rPr>
                        <a:t>Multiple of 3</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latin typeface="SamsungOne 400" panose="020B0503030303020204" pitchFamily="34" charset="0"/>
                          <a:ea typeface="SamsungOne 400" panose="020B0503030303020204" pitchFamily="34" charset="0"/>
                        </a:rPr>
                        <a:t>2</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8278547"/>
                  </a:ext>
                </a:extLst>
              </a:tr>
              <a:tr h="212833">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latin typeface="SamsungOne 400" panose="020B0503030303020204" pitchFamily="34" charset="0"/>
                          <a:ea typeface="SamsungOne 400" panose="020B0503030303020204" pitchFamily="34" charset="0"/>
                        </a:rPr>
                        <a:t>3</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rgbClr val="FF0000"/>
                          </a:solidFill>
                          <a:latin typeface="SamsungOne 400" panose="020B0503030303020204" pitchFamily="34" charset="0"/>
                          <a:ea typeface="SamsungOne 400" panose="020B0503030303020204" pitchFamily="34" charset="0"/>
                        </a:rPr>
                        <a:t>3</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solidFill>
                            <a:srgbClr val="FF0000"/>
                          </a:solidFill>
                          <a:latin typeface="SamsungOne 400" panose="020B0503030303020204" pitchFamily="34" charset="0"/>
                          <a:ea typeface="SamsungOne 400" panose="020B0503030303020204" pitchFamily="34" charset="0"/>
                        </a:rPr>
                        <a:t>3</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55441991"/>
                  </a:ext>
                </a:extLst>
              </a:tr>
              <a:tr h="212833">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latin typeface="SamsungOne 400" panose="020B0503030303020204" pitchFamily="34" charset="0"/>
                          <a:ea typeface="SamsungOne 400" panose="020B0503030303020204" pitchFamily="34" charset="0"/>
                        </a:rPr>
                        <a:t>4</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89448"/>
                  </a:ext>
                </a:extLst>
              </a:tr>
              <a:tr h="212833">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latin typeface="SamsungOne 400" panose="020B0503030303020204" pitchFamily="34" charset="0"/>
                          <a:ea typeface="SamsungOne 400" panose="020B0503030303020204" pitchFamily="34" charset="0"/>
                        </a:rPr>
                        <a:t>5</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latin typeface="SamsungOne 400" panose="020B0503030303020204" pitchFamily="34" charset="0"/>
                          <a:ea typeface="SamsungOne 400" panose="020B0503030303020204" pitchFamily="34" charset="0"/>
                        </a:rPr>
                        <a:t>5</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dirty="0">
                          <a:latin typeface="SamsungOne 400" panose="020B0503030303020204" pitchFamily="34" charset="0"/>
                          <a:ea typeface="SamsungOne 400" panose="020B0503030303020204" pitchFamily="34" charset="0"/>
                        </a:rPr>
                        <a:t>6</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0161544"/>
                  </a:ext>
                </a:extLst>
              </a:tr>
              <a:tr h="212833">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latin typeface="SamsungOne 400" panose="020B0503030303020204" pitchFamily="34" charset="0"/>
                          <a:ea typeface="SamsungOne 400" panose="020B0503030303020204" pitchFamily="34" charset="0"/>
                        </a:rPr>
                        <a:t>6</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200" dirty="0">
                        <a:latin typeface="SamsungOne 400" panose="020B0503030303020204" pitchFamily="34" charset="0"/>
                        <a:ea typeface="SamsungOne 400" panose="020B0503030303020204" pitchFamily="34" charset="0"/>
                      </a:endParaRPr>
                    </a:p>
                  </a:txBody>
                  <a:tcPr marL="45720" marR="45720" anchor="ctr">
                    <a:lnL w="635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92639487"/>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5.1. Naïve Bayes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05</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3" name="직사각형 12">
            <a:extLst>
              <a:ext uri="{FF2B5EF4-FFF2-40B4-BE49-F238E27FC236}">
                <a16:creationId xmlns:a16="http://schemas.microsoft.com/office/drawing/2014/main" id="{00F0E0C0-95C6-447E-87BD-C40911B748AA}"/>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Random variable</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4" name="직사각형 13">
            <a:extLst>
              <a:ext uri="{FF2B5EF4-FFF2-40B4-BE49-F238E27FC236}">
                <a16:creationId xmlns:a16="http://schemas.microsoft.com/office/drawing/2014/main" id="{D194623E-62CA-4FDC-A4F6-9BBED43C2731}"/>
              </a:ext>
            </a:extLst>
          </p:cNvPr>
          <p:cNvSpPr/>
          <p:nvPr/>
        </p:nvSpPr>
        <p:spPr>
          <a:xfrm>
            <a:off x="671261" y="1700808"/>
            <a:ext cx="8632825" cy="125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The variable whose values are unknown until the outcome  </a:t>
            </a:r>
          </a:p>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Exclusive events</a:t>
            </a: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sym typeface="Symbol"/>
              </a:rPr>
              <a:t>Intersection is the null set.</a:t>
            </a:r>
            <a:endPar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sym typeface="Symbol"/>
            </a:endParaRPr>
          </a:p>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Dice</a:t>
            </a:r>
          </a:p>
        </p:txBody>
      </p:sp>
      <p:grpSp>
        <p:nvGrpSpPr>
          <p:cNvPr id="2" name="그룹 1"/>
          <p:cNvGrpSpPr/>
          <p:nvPr/>
        </p:nvGrpSpPr>
        <p:grpSpPr>
          <a:xfrm>
            <a:off x="845151" y="2957253"/>
            <a:ext cx="2664296" cy="1146242"/>
            <a:chOff x="845151" y="2957253"/>
            <a:chExt cx="2664296" cy="1146242"/>
          </a:xfrm>
        </p:grpSpPr>
        <p:sp>
          <p:nvSpPr>
            <p:cNvPr id="33" name="직사각형 32">
              <a:extLst>
                <a:ext uri="{FF2B5EF4-FFF2-40B4-BE49-F238E27FC236}">
                  <a16:creationId xmlns:a16="http://schemas.microsoft.com/office/drawing/2014/main" id="{9FC75EBC-87D8-4BA8-A61D-326490DAD65B}"/>
                </a:ext>
              </a:extLst>
            </p:cNvPr>
            <p:cNvSpPr/>
            <p:nvPr/>
          </p:nvSpPr>
          <p:spPr>
            <a:xfrm>
              <a:off x="845151" y="2957253"/>
              <a:ext cx="2664296" cy="1146242"/>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34" name="직사각형 33">
              <a:extLst>
                <a:ext uri="{FF2B5EF4-FFF2-40B4-BE49-F238E27FC236}">
                  <a16:creationId xmlns:a16="http://schemas.microsoft.com/office/drawing/2014/main" id="{6617CDF2-BFAA-49AA-BEE5-868A58A769BA}"/>
                </a:ext>
              </a:extLst>
            </p:cNvPr>
            <p:cNvSpPr/>
            <p:nvPr/>
          </p:nvSpPr>
          <p:spPr>
            <a:xfrm>
              <a:off x="1061175" y="3055994"/>
              <a:ext cx="1152128" cy="96266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5" name="직사각형 34">
              <a:extLst>
                <a:ext uri="{FF2B5EF4-FFF2-40B4-BE49-F238E27FC236}">
                  <a16:creationId xmlns:a16="http://schemas.microsoft.com/office/drawing/2014/main" id="{EC854ECF-AB66-45F3-8A64-0D8455E8642F}"/>
                </a:ext>
              </a:extLst>
            </p:cNvPr>
            <p:cNvSpPr/>
            <p:nvPr/>
          </p:nvSpPr>
          <p:spPr>
            <a:xfrm>
              <a:off x="1637239" y="3275564"/>
              <a:ext cx="1584176" cy="6479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36" name="TextBox 35">
              <a:extLst>
                <a:ext uri="{FF2B5EF4-FFF2-40B4-BE49-F238E27FC236}">
                  <a16:creationId xmlns:a16="http://schemas.microsoft.com/office/drawing/2014/main" id="{3A567F9A-13C4-47BB-A99B-FFA21F374F30}"/>
                </a:ext>
              </a:extLst>
            </p:cNvPr>
            <p:cNvSpPr txBox="1"/>
            <p:nvPr/>
          </p:nvSpPr>
          <p:spPr>
            <a:xfrm>
              <a:off x="1184316" y="3055090"/>
              <a:ext cx="301686" cy="307777"/>
            </a:xfrm>
            <a:prstGeom prst="rect">
              <a:avLst/>
            </a:prstGeom>
            <a:noFill/>
          </p:spPr>
          <p:txBody>
            <a:bodyPr wrap="none" rtlCol="0">
              <a:spAutoFit/>
            </a:bodyPr>
            <a:lstStyle/>
            <a:p>
              <a:r>
                <a:rPr lang="en-US" sz="1400" b="1" dirty="0">
                  <a:solidFill>
                    <a:schemeClr val="bg1"/>
                  </a:solidFill>
                  <a:latin typeface="SamsungOne 400" panose="020B0503030303020204" pitchFamily="34" charset="0"/>
                  <a:ea typeface="SamsungOne 400" panose="020B0503030303020204" pitchFamily="34" charset="0"/>
                </a:rPr>
                <a:t>A</a:t>
              </a:r>
            </a:p>
          </p:txBody>
        </p:sp>
        <p:sp>
          <p:nvSpPr>
            <p:cNvPr id="37" name="TextBox 36">
              <a:extLst>
                <a:ext uri="{FF2B5EF4-FFF2-40B4-BE49-F238E27FC236}">
                  <a16:creationId xmlns:a16="http://schemas.microsoft.com/office/drawing/2014/main" id="{8DD547BC-BE2D-4437-B082-1954D988B121}"/>
                </a:ext>
              </a:extLst>
            </p:cNvPr>
            <p:cNvSpPr txBox="1"/>
            <p:nvPr/>
          </p:nvSpPr>
          <p:spPr>
            <a:xfrm>
              <a:off x="2280077" y="3254497"/>
              <a:ext cx="296876" cy="307777"/>
            </a:xfrm>
            <a:prstGeom prst="rect">
              <a:avLst/>
            </a:prstGeom>
            <a:noFill/>
          </p:spPr>
          <p:txBody>
            <a:bodyPr wrap="none" rtlCol="0">
              <a:spAutoFit/>
            </a:bodyPr>
            <a:lstStyle/>
            <a:p>
              <a:r>
                <a:rPr lang="en-US" sz="1400" b="1" dirty="0">
                  <a:latin typeface="SamsungOne 400" panose="020B0503030303020204" pitchFamily="34" charset="0"/>
                  <a:ea typeface="SamsungOne 400" panose="020B0503030303020204" pitchFamily="34" charset="0"/>
                </a:rPr>
                <a:t>B</a:t>
              </a:r>
            </a:p>
          </p:txBody>
        </p:sp>
        <p:sp>
          <p:nvSpPr>
            <p:cNvPr id="38" name="TextBox 37">
              <a:extLst>
                <a:ext uri="{FF2B5EF4-FFF2-40B4-BE49-F238E27FC236}">
                  <a16:creationId xmlns:a16="http://schemas.microsoft.com/office/drawing/2014/main" id="{944BA570-8C26-4D5E-B859-E3E2E6BEA52C}"/>
                </a:ext>
              </a:extLst>
            </p:cNvPr>
            <p:cNvSpPr txBox="1"/>
            <p:nvPr/>
          </p:nvSpPr>
          <p:spPr>
            <a:xfrm>
              <a:off x="1198364" y="3279993"/>
              <a:ext cx="280846" cy="738664"/>
            </a:xfrm>
            <a:prstGeom prst="rect">
              <a:avLst/>
            </a:prstGeom>
            <a:noFill/>
          </p:spPr>
          <p:txBody>
            <a:bodyPr wrap="none" rtlCol="0">
              <a:spAutoFit/>
            </a:bodyPr>
            <a:lstStyle/>
            <a:p>
              <a:r>
                <a:rPr lang="en-US" sz="1400" b="1" dirty="0">
                  <a:solidFill>
                    <a:schemeClr val="bg1"/>
                  </a:solidFill>
                  <a:latin typeface="SamsungOne 400" panose="020B0503030303020204" pitchFamily="34" charset="0"/>
                  <a:ea typeface="SamsungOne 400" panose="020B0503030303020204" pitchFamily="34" charset="0"/>
                </a:rPr>
                <a:t>1</a:t>
              </a:r>
            </a:p>
            <a:p>
              <a:r>
                <a:rPr lang="en-US" sz="1400" b="1" dirty="0">
                  <a:solidFill>
                    <a:schemeClr val="bg1"/>
                  </a:solidFill>
                  <a:latin typeface="SamsungOne 400" panose="020B0503030303020204" pitchFamily="34" charset="0"/>
                  <a:ea typeface="SamsungOne 400" panose="020B0503030303020204" pitchFamily="34" charset="0"/>
                </a:rPr>
                <a:t>3</a:t>
              </a:r>
            </a:p>
            <a:p>
              <a:r>
                <a:rPr lang="en-US" sz="1400" b="1" dirty="0">
                  <a:solidFill>
                    <a:schemeClr val="bg1"/>
                  </a:solidFill>
                  <a:latin typeface="SamsungOne 400" panose="020B0503030303020204" pitchFamily="34" charset="0"/>
                  <a:ea typeface="SamsungOne 400" panose="020B0503030303020204" pitchFamily="34" charset="0"/>
                </a:rPr>
                <a:t>5</a:t>
              </a:r>
            </a:p>
          </p:txBody>
        </p:sp>
        <p:sp>
          <p:nvSpPr>
            <p:cNvPr id="39" name="TextBox 38">
              <a:extLst>
                <a:ext uri="{FF2B5EF4-FFF2-40B4-BE49-F238E27FC236}">
                  <a16:creationId xmlns:a16="http://schemas.microsoft.com/office/drawing/2014/main" id="{9CD37A9E-25AC-4E8A-B3AF-8E1F964D03CA}"/>
                </a:ext>
              </a:extLst>
            </p:cNvPr>
            <p:cNvSpPr txBox="1"/>
            <p:nvPr/>
          </p:nvSpPr>
          <p:spPr>
            <a:xfrm>
              <a:off x="3003045" y="2957253"/>
              <a:ext cx="284052" cy="307777"/>
            </a:xfrm>
            <a:prstGeom prst="rect">
              <a:avLst/>
            </a:prstGeom>
            <a:noFill/>
          </p:spPr>
          <p:txBody>
            <a:bodyPr wrap="none" rtlCol="0">
              <a:spAutoFit/>
            </a:bodyPr>
            <a:lstStyle/>
            <a:p>
              <a:r>
                <a:rPr lang="en-US" sz="1400" b="1" dirty="0">
                  <a:solidFill>
                    <a:schemeClr val="bg1"/>
                  </a:solidFill>
                  <a:latin typeface="SamsungOne 400" panose="020B0503030303020204" pitchFamily="34" charset="0"/>
                  <a:ea typeface="SamsungOne 400" panose="020B0503030303020204" pitchFamily="34" charset="0"/>
                </a:rPr>
                <a:t>6</a:t>
              </a:r>
            </a:p>
          </p:txBody>
        </p:sp>
        <p:sp>
          <p:nvSpPr>
            <p:cNvPr id="40" name="직사각형 39">
              <a:extLst>
                <a:ext uri="{FF2B5EF4-FFF2-40B4-BE49-F238E27FC236}">
                  <a16:creationId xmlns:a16="http://schemas.microsoft.com/office/drawing/2014/main" id="{DC33CCE7-F152-4E93-980B-42CB5F0A5A60}"/>
                </a:ext>
              </a:extLst>
            </p:cNvPr>
            <p:cNvSpPr/>
            <p:nvPr/>
          </p:nvSpPr>
          <p:spPr>
            <a:xfrm>
              <a:off x="1635615" y="3275187"/>
              <a:ext cx="577688" cy="64827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41" name="TextBox 40">
              <a:extLst>
                <a:ext uri="{FF2B5EF4-FFF2-40B4-BE49-F238E27FC236}">
                  <a16:creationId xmlns:a16="http://schemas.microsoft.com/office/drawing/2014/main" id="{919925F2-2117-4D76-8FA3-0B72624ED8DB}"/>
                </a:ext>
              </a:extLst>
            </p:cNvPr>
            <p:cNvSpPr txBox="1"/>
            <p:nvPr/>
          </p:nvSpPr>
          <p:spPr>
            <a:xfrm>
              <a:off x="2805531" y="3559697"/>
              <a:ext cx="284052" cy="307777"/>
            </a:xfrm>
            <a:prstGeom prst="rect">
              <a:avLst/>
            </a:prstGeom>
            <a:noFill/>
          </p:spPr>
          <p:txBody>
            <a:bodyPr wrap="none" rtlCol="0">
              <a:spAutoFit/>
            </a:bodyPr>
            <a:lstStyle/>
            <a:p>
              <a:r>
                <a:rPr lang="en-US" sz="1400" b="1" dirty="0">
                  <a:latin typeface="SamsungOne 400" panose="020B0503030303020204" pitchFamily="34" charset="0"/>
                  <a:ea typeface="SamsungOne 400" panose="020B0503030303020204" pitchFamily="34" charset="0"/>
                </a:rPr>
                <a:t>4</a:t>
              </a:r>
            </a:p>
          </p:txBody>
        </p:sp>
        <p:sp>
          <p:nvSpPr>
            <p:cNvPr id="42" name="TextBox 41">
              <a:extLst>
                <a:ext uri="{FF2B5EF4-FFF2-40B4-BE49-F238E27FC236}">
                  <a16:creationId xmlns:a16="http://schemas.microsoft.com/office/drawing/2014/main" id="{7A83C2B3-58D9-4047-9102-4751B04F768F}"/>
                </a:ext>
              </a:extLst>
            </p:cNvPr>
            <p:cNvSpPr txBox="1"/>
            <p:nvPr/>
          </p:nvSpPr>
          <p:spPr>
            <a:xfrm>
              <a:off x="2350492" y="3559697"/>
              <a:ext cx="277640" cy="307777"/>
            </a:xfrm>
            <a:prstGeom prst="rect">
              <a:avLst/>
            </a:prstGeom>
            <a:noFill/>
          </p:spPr>
          <p:txBody>
            <a:bodyPr wrap="none" rtlCol="0">
              <a:spAutoFit/>
            </a:bodyPr>
            <a:lstStyle/>
            <a:p>
              <a:r>
                <a:rPr lang="en-US" sz="1400" b="1" dirty="0">
                  <a:latin typeface="SamsungOne 400" panose="020B0503030303020204" pitchFamily="34" charset="0"/>
                  <a:ea typeface="SamsungOne 400" panose="020B0503030303020204" pitchFamily="34" charset="0"/>
                </a:rPr>
                <a:t>2</a:t>
              </a:r>
            </a:p>
          </p:txBody>
        </p:sp>
      </p:grpSp>
    </p:spTree>
    <p:extLst>
      <p:ext uri="{BB962C8B-B14F-4D97-AF65-F5344CB8AC3E}">
        <p14:creationId xmlns:p14="http://schemas.microsoft.com/office/powerpoint/2010/main" val="4293681389"/>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5.1. Naïve Bayes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05</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3" name="직사각형 12">
            <a:extLst>
              <a:ext uri="{FF2B5EF4-FFF2-40B4-BE49-F238E27FC236}">
                <a16:creationId xmlns:a16="http://schemas.microsoft.com/office/drawing/2014/main" id="{00F0E0C0-95C6-447E-87BD-C40911B748AA}"/>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Introduction to Bayesian statistics</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4" name="직사각형 13">
            <a:extLst>
              <a:ext uri="{FF2B5EF4-FFF2-40B4-BE49-F238E27FC236}">
                <a16:creationId xmlns:a16="http://schemas.microsoft.com/office/drawing/2014/main" id="{D194623E-62CA-4FDC-A4F6-9BBED43C2731}"/>
              </a:ext>
            </a:extLst>
          </p:cNvPr>
          <p:cNvSpPr/>
          <p:nvPr/>
        </p:nvSpPr>
        <p:spPr>
          <a:xfrm>
            <a:off x="671261" y="1700808"/>
            <a:ext cx="863282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1) Differentiate groups of people for ‘shopping’ and ‘window shopping’ through Bayesian interpretation.</a:t>
            </a: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sym typeface="Symbol"/>
              </a:rPr>
              <a:t>Setting prior probability for different types</a:t>
            </a:r>
            <a:endParaRPr lang="ko-KR" altLang="en-US" sz="1300" dirty="0">
              <a:solidFill>
                <a:prstClr val="black">
                  <a:lumMod val="85000"/>
                  <a:lumOff val="15000"/>
                </a:prstClr>
              </a:solidFill>
              <a:latin typeface="SamsungOne 400" panose="020B0503030303020204" pitchFamily="34" charset="0"/>
              <a:sym typeface="Symbol"/>
            </a:endParaRPr>
          </a:p>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sym typeface="Symbol"/>
              </a:rPr>
              <a:t>Prior probability: Probability before getting certain information</a:t>
            </a:r>
            <a:endParaRPr lang="ko-KR" altLang="en-US" sz="1300" dirty="0">
              <a:solidFill>
                <a:prstClr val="black">
                  <a:lumMod val="85000"/>
                  <a:lumOff val="15000"/>
                </a:prstClr>
              </a:solidFill>
              <a:latin typeface="SamsungOne 400" panose="020B0503030303020204" pitchFamily="34" charset="0"/>
              <a:sym typeface="Symbol"/>
            </a:endParaRPr>
          </a:p>
        </p:txBody>
      </p:sp>
      <p:grpSp>
        <p:nvGrpSpPr>
          <p:cNvPr id="2" name="그룹 1">
            <a:extLst>
              <a:ext uri="{FF2B5EF4-FFF2-40B4-BE49-F238E27FC236}">
                <a16:creationId xmlns:a16="http://schemas.microsoft.com/office/drawing/2014/main" id="{2F8D1A51-7AFB-4F16-BA60-831B8BF9A7E0}"/>
              </a:ext>
            </a:extLst>
          </p:cNvPr>
          <p:cNvGrpSpPr/>
          <p:nvPr/>
        </p:nvGrpSpPr>
        <p:grpSpPr>
          <a:xfrm>
            <a:off x="839889" y="2659014"/>
            <a:ext cx="3454978" cy="1994738"/>
            <a:chOff x="831929" y="2802414"/>
            <a:chExt cx="3454978" cy="1994738"/>
          </a:xfrm>
        </p:grpSpPr>
        <p:sp>
          <p:nvSpPr>
            <p:cNvPr id="17" name="직사각형 16">
              <a:extLst>
                <a:ext uri="{FF2B5EF4-FFF2-40B4-BE49-F238E27FC236}">
                  <a16:creationId xmlns:a16="http://schemas.microsoft.com/office/drawing/2014/main" id="{AD477F10-FC5B-4BB0-A882-75E1475F5EF4}"/>
                </a:ext>
              </a:extLst>
            </p:cNvPr>
            <p:cNvSpPr/>
            <p:nvPr/>
          </p:nvSpPr>
          <p:spPr>
            <a:xfrm>
              <a:off x="839765" y="3140968"/>
              <a:ext cx="854854" cy="165618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직사각형 17">
              <a:extLst>
                <a:ext uri="{FF2B5EF4-FFF2-40B4-BE49-F238E27FC236}">
                  <a16:creationId xmlns:a16="http://schemas.microsoft.com/office/drawing/2014/main" id="{29610C81-3912-46E8-B506-FFC15AE89681}"/>
                </a:ext>
              </a:extLst>
            </p:cNvPr>
            <p:cNvSpPr/>
            <p:nvPr/>
          </p:nvSpPr>
          <p:spPr>
            <a:xfrm>
              <a:off x="1690031" y="3140968"/>
              <a:ext cx="2596876" cy="165618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0605FDD-E69F-4314-988E-7ECC23E74481}"/>
                </a:ext>
              </a:extLst>
            </p:cNvPr>
            <p:cNvSpPr txBox="1"/>
            <p:nvPr/>
          </p:nvSpPr>
          <p:spPr>
            <a:xfrm>
              <a:off x="831929" y="3707450"/>
              <a:ext cx="865943" cy="523220"/>
            </a:xfrm>
            <a:prstGeom prst="rect">
              <a:avLst/>
            </a:prstGeom>
            <a:noFill/>
          </p:spPr>
          <p:txBody>
            <a:bodyPr wrap="none" rtlCol="0">
              <a:spAutoFit/>
            </a:bodyPr>
            <a:lstStyle/>
            <a:p>
              <a:pPr algn="ctr"/>
              <a:r>
                <a:rPr lang="en-US" altLang="ko-KR" sz="1400" dirty="0">
                  <a:solidFill>
                    <a:schemeClr val="bg1"/>
                  </a:solidFill>
                  <a:latin typeface="SamsungOne 400" panose="020B0503030303020204" pitchFamily="34" charset="0"/>
                </a:rPr>
                <a:t>Shopping</a:t>
              </a:r>
              <a:endParaRPr lang="en-US" altLang="ko-KR" sz="1400" dirty="0">
                <a:solidFill>
                  <a:schemeClr val="bg1"/>
                </a:solidFill>
                <a:latin typeface="SamsungOne 400" panose="020B0503030303020204" pitchFamily="34" charset="0"/>
                <a:ea typeface="SamsungOne 400" panose="020B0503030303020204" pitchFamily="34" charset="0"/>
              </a:endParaRPr>
            </a:p>
            <a:p>
              <a:pPr algn="ctr"/>
              <a:r>
                <a:rPr lang="en-US" sz="1400" dirty="0">
                  <a:solidFill>
                    <a:schemeClr val="bg1"/>
                  </a:solidFill>
                  <a:latin typeface="SamsungOne 400" panose="020B0503030303020204" pitchFamily="34" charset="0"/>
                  <a:ea typeface="SamsungOne 400" panose="020B0503030303020204" pitchFamily="34" charset="0"/>
                </a:rPr>
                <a:t>A</a:t>
              </a:r>
            </a:p>
          </p:txBody>
        </p:sp>
        <p:sp>
          <p:nvSpPr>
            <p:cNvPr id="20" name="TextBox 19">
              <a:extLst>
                <a:ext uri="{FF2B5EF4-FFF2-40B4-BE49-F238E27FC236}">
                  <a16:creationId xmlns:a16="http://schemas.microsoft.com/office/drawing/2014/main" id="{C6FD59F8-D79D-4EA8-92EF-EAC7F317A4B2}"/>
                </a:ext>
              </a:extLst>
            </p:cNvPr>
            <p:cNvSpPr txBox="1"/>
            <p:nvPr/>
          </p:nvSpPr>
          <p:spPr>
            <a:xfrm>
              <a:off x="2236745" y="3707450"/>
              <a:ext cx="1508042" cy="523220"/>
            </a:xfrm>
            <a:prstGeom prst="rect">
              <a:avLst/>
            </a:prstGeom>
            <a:noFill/>
          </p:spPr>
          <p:txBody>
            <a:bodyPr wrap="none" rtlCol="0">
              <a:spAutoFit/>
            </a:bodyPr>
            <a:lstStyle/>
            <a:p>
              <a:pPr algn="ctr"/>
              <a:r>
                <a:rPr lang="en-US" altLang="ko-KR" sz="1400" dirty="0">
                  <a:latin typeface="SamsungOne 400" panose="020B0503030303020204" pitchFamily="34" charset="0"/>
                </a:rPr>
                <a:t>Window shopping</a:t>
              </a:r>
              <a:endParaRPr lang="en-US" altLang="ko-KR" sz="1400" dirty="0">
                <a:latin typeface="SamsungOne 400" panose="020B0503030303020204" pitchFamily="34" charset="0"/>
                <a:ea typeface="SamsungOne 400" panose="020B0503030303020204" pitchFamily="34" charset="0"/>
              </a:endParaRPr>
            </a:p>
            <a:p>
              <a:pPr algn="ctr"/>
              <a:r>
                <a:rPr lang="en-US" sz="1400" dirty="0">
                  <a:latin typeface="SamsungOne 400" panose="020B0503030303020204" pitchFamily="34" charset="0"/>
                  <a:ea typeface="SamsungOne 400" panose="020B0503030303020204" pitchFamily="34" charset="0"/>
                </a:rPr>
                <a:t>B</a:t>
              </a:r>
            </a:p>
          </p:txBody>
        </p:sp>
        <p:sp>
          <p:nvSpPr>
            <p:cNvPr id="21" name="TextBox 20">
              <a:extLst>
                <a:ext uri="{FF2B5EF4-FFF2-40B4-BE49-F238E27FC236}">
                  <a16:creationId xmlns:a16="http://schemas.microsoft.com/office/drawing/2014/main" id="{6EE0C0FF-AA04-4B86-9BA1-74DD8142252E}"/>
                </a:ext>
              </a:extLst>
            </p:cNvPr>
            <p:cNvSpPr txBox="1"/>
            <p:nvPr/>
          </p:nvSpPr>
          <p:spPr>
            <a:xfrm>
              <a:off x="1032302" y="2802414"/>
              <a:ext cx="429926" cy="307777"/>
            </a:xfrm>
            <a:prstGeom prst="rect">
              <a:avLst/>
            </a:prstGeom>
            <a:noFill/>
          </p:spPr>
          <p:txBody>
            <a:bodyPr wrap="none" rtlCol="0">
              <a:spAutoFit/>
            </a:bodyPr>
            <a:lstStyle/>
            <a:p>
              <a:r>
                <a:rPr lang="en-US" sz="1400" dirty="0">
                  <a:latin typeface="SamsungOne 400" panose="020B0503030303020204" pitchFamily="34" charset="0"/>
                  <a:ea typeface="SamsungOne 400" panose="020B0503030303020204" pitchFamily="34" charset="0"/>
                </a:rPr>
                <a:t>0.2</a:t>
              </a:r>
            </a:p>
          </p:txBody>
        </p:sp>
        <p:sp>
          <p:nvSpPr>
            <p:cNvPr id="22" name="TextBox 21">
              <a:extLst>
                <a:ext uri="{FF2B5EF4-FFF2-40B4-BE49-F238E27FC236}">
                  <a16:creationId xmlns:a16="http://schemas.microsoft.com/office/drawing/2014/main" id="{F7059701-B2F9-4771-A905-4DE00352D491}"/>
                </a:ext>
              </a:extLst>
            </p:cNvPr>
            <p:cNvSpPr txBox="1"/>
            <p:nvPr/>
          </p:nvSpPr>
          <p:spPr>
            <a:xfrm>
              <a:off x="2755873" y="2802414"/>
              <a:ext cx="439544" cy="307777"/>
            </a:xfrm>
            <a:prstGeom prst="rect">
              <a:avLst/>
            </a:prstGeom>
            <a:noFill/>
          </p:spPr>
          <p:txBody>
            <a:bodyPr wrap="none" rtlCol="0">
              <a:spAutoFit/>
            </a:bodyPr>
            <a:lstStyle/>
            <a:p>
              <a:r>
                <a:rPr lang="en-US" sz="1400" dirty="0">
                  <a:latin typeface="SamsungOne 400" panose="020B0503030303020204" pitchFamily="34" charset="0"/>
                  <a:ea typeface="SamsungOne 400" panose="020B0503030303020204" pitchFamily="34" charset="0"/>
                </a:rPr>
                <a:t>0.8</a:t>
              </a:r>
            </a:p>
          </p:txBody>
        </p:sp>
      </p:grpSp>
    </p:spTree>
    <p:extLst>
      <p:ext uri="{BB962C8B-B14F-4D97-AF65-F5344CB8AC3E}">
        <p14:creationId xmlns:p14="http://schemas.microsoft.com/office/powerpoint/2010/main" val="3257188614"/>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5.1. Naïve Bayes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05</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3" name="직사각형 12">
            <a:extLst>
              <a:ext uri="{FF2B5EF4-FFF2-40B4-BE49-F238E27FC236}">
                <a16:creationId xmlns:a16="http://schemas.microsoft.com/office/drawing/2014/main" id="{00F0E0C0-95C6-447E-87BD-C40911B748AA}"/>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Introduction to Bayesian statistics</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4" name="직사각형 13">
            <a:extLst>
              <a:ext uri="{FF2B5EF4-FFF2-40B4-BE49-F238E27FC236}">
                <a16:creationId xmlns:a16="http://schemas.microsoft.com/office/drawing/2014/main" id="{D194623E-62CA-4FDC-A4F6-9BBED43C2731}"/>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2) Set the conditional probability of ‘initiating a conversation’ for each type.</a:t>
            </a:r>
          </a:p>
        </p:txBody>
      </p:sp>
      <p:graphicFrame>
        <p:nvGraphicFramePr>
          <p:cNvPr id="15" name="표 14">
            <a:extLst>
              <a:ext uri="{FF2B5EF4-FFF2-40B4-BE49-F238E27FC236}">
                <a16:creationId xmlns:a16="http://schemas.microsoft.com/office/drawing/2014/main" id="{AC66330A-6E6B-49E5-9A7D-5D30D6A75209}"/>
              </a:ext>
            </a:extLst>
          </p:cNvPr>
          <p:cNvGraphicFramePr>
            <a:graphicFrameLocks noGrp="1"/>
          </p:cNvGraphicFramePr>
          <p:nvPr>
            <p:extLst>
              <p:ext uri="{D42A27DB-BD31-4B8C-83A1-F6EECF244321}">
                <p14:modId xmlns:p14="http://schemas.microsoft.com/office/powerpoint/2010/main" val="2094377276"/>
              </p:ext>
            </p:extLst>
          </p:nvPr>
        </p:nvGraphicFramePr>
        <p:xfrm>
          <a:off x="835954" y="2010594"/>
          <a:ext cx="8228749" cy="1066800"/>
        </p:xfrm>
        <a:graphic>
          <a:graphicData uri="http://schemas.openxmlformats.org/drawingml/2006/table">
            <a:tbl>
              <a:tblPr firstRow="1" bandRow="1">
                <a:tableStyleId>{5940675A-B579-460E-94D1-54222C63F5DA}</a:tableStyleId>
              </a:tblPr>
              <a:tblGrid>
                <a:gridCol w="1537394">
                  <a:extLst>
                    <a:ext uri="{9D8B030D-6E8A-4147-A177-3AD203B41FA5}">
                      <a16:colId xmlns:a16="http://schemas.microsoft.com/office/drawing/2014/main" val="20000"/>
                    </a:ext>
                  </a:extLst>
                </a:gridCol>
                <a:gridCol w="2632664">
                  <a:extLst>
                    <a:ext uri="{9D8B030D-6E8A-4147-A177-3AD203B41FA5}">
                      <a16:colId xmlns:a16="http://schemas.microsoft.com/office/drawing/2014/main" val="1127139662"/>
                    </a:ext>
                  </a:extLst>
                </a:gridCol>
                <a:gridCol w="2632664">
                  <a:extLst>
                    <a:ext uri="{9D8B030D-6E8A-4147-A177-3AD203B41FA5}">
                      <a16:colId xmlns:a16="http://schemas.microsoft.com/office/drawing/2014/main" val="20002"/>
                    </a:ext>
                  </a:extLst>
                </a:gridCol>
                <a:gridCol w="1426027">
                  <a:extLst>
                    <a:ext uri="{9D8B030D-6E8A-4147-A177-3AD203B41FA5}">
                      <a16:colId xmlns:a16="http://schemas.microsoft.com/office/drawing/2014/main" val="20003"/>
                    </a:ext>
                  </a:extLst>
                </a:gridCol>
              </a:tblGrid>
              <a:tr h="182052">
                <a:tc>
                  <a:txBody>
                    <a:bodyPr/>
                    <a:lstStyle/>
                    <a:p>
                      <a:pPr algn="ctr"/>
                      <a:endParaRPr lang="en-US" sz="1300" dirty="0">
                        <a:solidFill>
                          <a:srgbClr val="1429A0"/>
                        </a:solidFill>
                        <a:latin typeface="SamsungOne 400" panose="020B0503030303020204" pitchFamily="34" charset="0"/>
                        <a:ea typeface="SamsungOne 400" panose="020B0503030303020204" pitchFamily="34" charset="0"/>
                      </a:endParaRP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ko-KR" sz="1300" dirty="0">
                          <a:solidFill>
                            <a:srgbClr val="1429A0"/>
                          </a:solidFill>
                          <a:latin typeface="SamsungOne 400" panose="020B0503030303020204" pitchFamily="34" charset="0"/>
                          <a:ea typeface="SamsungOne 400" panose="020B0503030303020204" pitchFamily="34" charset="0"/>
                        </a:rPr>
                        <a:t>Probability of initiating a conversation</a:t>
                      </a:r>
                      <a:endParaRPr lang="en-US" sz="1300" dirty="0">
                        <a:solidFill>
                          <a:srgbClr val="1429A0"/>
                        </a:solidFill>
                        <a:latin typeface="SamsungOne 400" panose="020B0503030303020204" pitchFamily="34" charset="0"/>
                        <a:ea typeface="SamsungOne 400" panose="020B0503030303020204"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ko-KR" sz="1300" dirty="0">
                          <a:solidFill>
                            <a:srgbClr val="1429A0"/>
                          </a:solidFill>
                          <a:latin typeface="SamsungOne 400" panose="020B0503030303020204" pitchFamily="34" charset="0"/>
                          <a:ea typeface="SamsungOne 400" panose="020B0503030303020204" pitchFamily="34" charset="0"/>
                        </a:rPr>
                        <a:t>Probability of not initiating a conversation</a:t>
                      </a:r>
                      <a:endParaRPr lang="en-US" altLang="x-none" sz="1300" dirty="0">
                        <a:solidFill>
                          <a:srgbClr val="1429A0"/>
                        </a:solidFill>
                        <a:latin typeface="SamsungOne 400" panose="020B0503030303020204" pitchFamily="34" charset="0"/>
                        <a:ea typeface="SamsungOne 400" panose="020B0503030303020204"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300" dirty="0">
                          <a:solidFill>
                            <a:srgbClr val="1429A0"/>
                          </a:solidFill>
                          <a:latin typeface="SamsungOne 400" panose="020B0503030303020204" pitchFamily="34" charset="0"/>
                          <a:ea typeface="SamsungOne 400" panose="020B0503030303020204" pitchFamily="34" charset="0"/>
                        </a:rPr>
                        <a:t>Total</a:t>
                      </a: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7729922"/>
                  </a:ext>
                </a:extLst>
              </a:tr>
              <a:tr h="182052">
                <a:tc>
                  <a:txBody>
                    <a:bodyPr/>
                    <a:lstStyle/>
                    <a:p>
                      <a:pPr algn="ctr"/>
                      <a:r>
                        <a:rPr lang="en-US" sz="1300" dirty="0">
                          <a:solidFill>
                            <a:srgbClr val="1429A0"/>
                          </a:solidFill>
                          <a:latin typeface="SamsungOne 400" panose="020B0503030303020204" pitchFamily="34" charset="0"/>
                          <a:ea typeface="SamsungOne 400" panose="020B0503030303020204" pitchFamily="34" charset="0"/>
                        </a:rPr>
                        <a:t>Shopping</a:t>
                      </a: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300" dirty="0">
                          <a:latin typeface="SamsungOne 400" panose="020B0503030303020204" pitchFamily="34" charset="0"/>
                          <a:ea typeface="SamsungOne 400" panose="020B0503030303020204" pitchFamily="34" charset="0"/>
                        </a:rPr>
                        <a:t>0.9</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300" dirty="0">
                          <a:solidFill>
                            <a:schemeClr val="tx1"/>
                          </a:solidFill>
                          <a:latin typeface="SamsungOne 400" panose="020B0503030303020204" pitchFamily="34" charset="0"/>
                          <a:ea typeface="SamsungOne 400" panose="020B0503030303020204" pitchFamily="34" charset="0"/>
                        </a:rPr>
                        <a:t>0.1</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300" dirty="0">
                          <a:solidFill>
                            <a:srgbClr val="FF0000"/>
                          </a:solidFill>
                          <a:latin typeface="SamsungOne 400" panose="020B0503030303020204" pitchFamily="34" charset="0"/>
                          <a:ea typeface="SamsungOne 400" panose="020B0503030303020204" pitchFamily="34" charset="0"/>
                        </a:rPr>
                        <a:t>1</a:t>
                      </a: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7462398"/>
                  </a:ext>
                </a:extLst>
              </a:tr>
              <a:tr h="182052">
                <a:tc>
                  <a:txBody>
                    <a:bodyPr/>
                    <a:lstStyle/>
                    <a:p>
                      <a:pPr algn="ctr"/>
                      <a:r>
                        <a:rPr lang="en-US" altLang="ko-KR" sz="1300" dirty="0">
                          <a:solidFill>
                            <a:srgbClr val="1429A0"/>
                          </a:solidFill>
                          <a:latin typeface="SamsungOne 400" panose="020B0503030303020204" pitchFamily="34" charset="0"/>
                          <a:ea typeface="SamsungOne 400" panose="020B0503030303020204" pitchFamily="34" charset="0"/>
                        </a:rPr>
                        <a:t>Window shopping</a:t>
                      </a:r>
                      <a:endParaRPr lang="en-US" sz="1300" dirty="0">
                        <a:solidFill>
                          <a:srgbClr val="1429A0"/>
                        </a:solidFill>
                        <a:latin typeface="SamsungOne 400" panose="020B0503030303020204" pitchFamily="34" charset="0"/>
                        <a:ea typeface="SamsungOne 400" panose="020B0503030303020204" pitchFamily="34" charset="0"/>
                      </a:endParaRP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300" dirty="0">
                          <a:latin typeface="SamsungOne 400" panose="020B0503030303020204" pitchFamily="34" charset="0"/>
                          <a:ea typeface="SamsungOne 400" panose="020B0503030303020204" pitchFamily="34" charset="0"/>
                        </a:rPr>
                        <a:t>0.3</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300" dirty="0">
                          <a:latin typeface="SamsungOne 400" panose="020B0503030303020204" pitchFamily="34" charset="0"/>
                          <a:ea typeface="SamsungOne 400" panose="020B0503030303020204" pitchFamily="34" charset="0"/>
                        </a:rPr>
                        <a:t>0.7</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300" dirty="0">
                          <a:solidFill>
                            <a:srgbClr val="FF0000"/>
                          </a:solidFill>
                          <a:latin typeface="SamsungOne 400" panose="020B0503030303020204" pitchFamily="34" charset="0"/>
                          <a:ea typeface="SamsungOne 400" panose="020B0503030303020204" pitchFamily="34" charset="0"/>
                        </a:rPr>
                        <a:t>1</a:t>
                      </a: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8278547"/>
                  </a:ext>
                </a:extLst>
              </a:tr>
            </a:tbl>
          </a:graphicData>
        </a:graphic>
      </p:graphicFrame>
      <p:sp>
        <p:nvSpPr>
          <p:cNvPr id="34" name="TextBox 33">
            <a:extLst>
              <a:ext uri="{FF2B5EF4-FFF2-40B4-BE49-F238E27FC236}">
                <a16:creationId xmlns:a16="http://schemas.microsoft.com/office/drawing/2014/main" id="{69F99016-1F0D-4297-84A4-AFE91D52567B}"/>
              </a:ext>
            </a:extLst>
          </p:cNvPr>
          <p:cNvSpPr txBox="1"/>
          <p:nvPr/>
        </p:nvSpPr>
        <p:spPr>
          <a:xfrm>
            <a:off x="1156855" y="5398021"/>
            <a:ext cx="2246385" cy="523220"/>
          </a:xfrm>
          <a:prstGeom prst="rect">
            <a:avLst/>
          </a:prstGeom>
          <a:noFill/>
        </p:spPr>
        <p:txBody>
          <a:bodyPr wrap="none" rtlCol="0">
            <a:spAutoFit/>
          </a:bodyPr>
          <a:lstStyle/>
          <a:p>
            <a:pPr algn="ctr"/>
            <a:r>
              <a:rPr lang="en-US" altLang="ko-KR" sz="1400" dirty="0">
                <a:latin typeface="SamsungOne 400" panose="020B0503030303020204" pitchFamily="34" charset="0"/>
              </a:rPr>
              <a:t>Not initiating a conversation</a:t>
            </a:r>
          </a:p>
          <a:p>
            <a:pPr algn="ctr"/>
            <a:r>
              <a:rPr lang="en-US" sz="1400" dirty="0">
                <a:latin typeface="SamsungOne 400" panose="020B0503030303020204" pitchFamily="34" charset="0"/>
                <a:ea typeface="SamsungOne 400" panose="020B0503030303020204" pitchFamily="34" charset="0"/>
              </a:rPr>
              <a:t>0.1</a:t>
            </a:r>
          </a:p>
        </p:txBody>
      </p:sp>
      <p:grpSp>
        <p:nvGrpSpPr>
          <p:cNvPr id="4" name="그룹 3"/>
          <p:cNvGrpSpPr/>
          <p:nvPr/>
        </p:nvGrpSpPr>
        <p:grpSpPr>
          <a:xfrm>
            <a:off x="633774" y="3066760"/>
            <a:ext cx="4317639" cy="2186007"/>
            <a:chOff x="633774" y="3066760"/>
            <a:chExt cx="4317639" cy="2186007"/>
          </a:xfrm>
        </p:grpSpPr>
        <p:sp>
          <p:nvSpPr>
            <p:cNvPr id="16" name="직사각형 15">
              <a:extLst>
                <a:ext uri="{FF2B5EF4-FFF2-40B4-BE49-F238E27FC236}">
                  <a16:creationId xmlns:a16="http://schemas.microsoft.com/office/drawing/2014/main" id="{88511353-569D-47CB-A766-CD93C9D95CA8}"/>
                </a:ext>
              </a:extLst>
            </p:cNvPr>
            <p:cNvSpPr/>
            <p:nvPr/>
          </p:nvSpPr>
          <p:spPr>
            <a:xfrm>
              <a:off x="953023" y="3596583"/>
              <a:ext cx="1286201" cy="165618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66734D11-A35B-41DA-A6A5-E959730E5981}"/>
                </a:ext>
              </a:extLst>
            </p:cNvPr>
            <p:cNvSpPr txBox="1"/>
            <p:nvPr/>
          </p:nvSpPr>
          <p:spPr>
            <a:xfrm>
              <a:off x="633774" y="3996844"/>
              <a:ext cx="1917809" cy="738664"/>
            </a:xfrm>
            <a:prstGeom prst="rect">
              <a:avLst/>
            </a:prstGeom>
            <a:noFill/>
          </p:spPr>
          <p:txBody>
            <a:bodyPr wrap="none" rtlCol="0">
              <a:spAutoFit/>
            </a:bodyPr>
            <a:lstStyle/>
            <a:p>
              <a:pPr algn="ctr"/>
              <a:r>
                <a:rPr lang="en-US" altLang="ko-KR" sz="1400" dirty="0">
                  <a:solidFill>
                    <a:schemeClr val="bg1"/>
                  </a:solidFill>
                  <a:latin typeface="SamsungOne 400" panose="020B0503030303020204" pitchFamily="34" charset="0"/>
                  <a:ea typeface="SamsungOne 400" panose="020B0503030303020204" pitchFamily="34" charset="0"/>
                </a:rPr>
                <a:t>Initiating </a:t>
              </a:r>
            </a:p>
            <a:p>
              <a:pPr algn="ctr"/>
              <a:r>
                <a:rPr lang="en-US" altLang="ko-KR" sz="1400" dirty="0">
                  <a:solidFill>
                    <a:schemeClr val="bg1"/>
                  </a:solidFill>
                  <a:latin typeface="SamsungOne 400" panose="020B0503030303020204" pitchFamily="34" charset="0"/>
                  <a:ea typeface="SamsungOne 400" panose="020B0503030303020204" pitchFamily="34" charset="0"/>
                </a:rPr>
                <a:t>a conversation</a:t>
              </a:r>
            </a:p>
            <a:p>
              <a:pPr algn="ctr"/>
              <a:r>
                <a:rPr lang="en-US" sz="1400" dirty="0">
                  <a:solidFill>
                    <a:schemeClr val="bg1"/>
                  </a:solidFill>
                  <a:latin typeface="SamsungOne 400" panose="020B0503030303020204" pitchFamily="34" charset="0"/>
                  <a:ea typeface="SamsungOne 400" panose="020B0503030303020204" pitchFamily="34" charset="0"/>
                </a:rPr>
                <a:t>0.9</a:t>
              </a:r>
            </a:p>
          </p:txBody>
        </p:sp>
        <p:sp>
          <p:nvSpPr>
            <p:cNvPr id="29" name="TextBox 28">
              <a:extLst>
                <a:ext uri="{FF2B5EF4-FFF2-40B4-BE49-F238E27FC236}">
                  <a16:creationId xmlns:a16="http://schemas.microsoft.com/office/drawing/2014/main" id="{16C6C8B1-3CED-412F-9E46-9B593E9F7F73}"/>
                </a:ext>
              </a:extLst>
            </p:cNvPr>
            <p:cNvSpPr txBox="1"/>
            <p:nvPr/>
          </p:nvSpPr>
          <p:spPr>
            <a:xfrm>
              <a:off x="941232" y="3066760"/>
              <a:ext cx="1302885" cy="523220"/>
            </a:xfrm>
            <a:prstGeom prst="rect">
              <a:avLst/>
            </a:prstGeom>
            <a:noFill/>
          </p:spPr>
          <p:txBody>
            <a:bodyPr wrap="none" rtlCol="0">
              <a:spAutoFit/>
            </a:bodyPr>
            <a:lstStyle/>
            <a:p>
              <a:pPr algn="ctr"/>
              <a:r>
                <a:rPr lang="en-US" altLang="ko-KR" sz="1400" dirty="0">
                  <a:latin typeface="SamsungOne 400" panose="020B0503030303020204" pitchFamily="34" charset="0"/>
                  <a:ea typeface="SamsungOne 400" panose="020B0503030303020204" pitchFamily="34" charset="0"/>
                </a:rPr>
                <a:t>Shopping</a:t>
              </a:r>
            </a:p>
            <a:p>
              <a:pPr algn="ctr"/>
              <a:r>
                <a:rPr lang="en-US" sz="1400" dirty="0">
                  <a:latin typeface="SamsungOne 400" panose="020B0503030303020204" pitchFamily="34" charset="0"/>
                  <a:ea typeface="SamsungOne 400" panose="020B0503030303020204" pitchFamily="34" charset="0"/>
                </a:rPr>
                <a:t>0.2</a:t>
              </a:r>
            </a:p>
          </p:txBody>
        </p:sp>
        <p:sp>
          <p:nvSpPr>
            <p:cNvPr id="31" name="직사각형 30">
              <a:extLst>
                <a:ext uri="{FF2B5EF4-FFF2-40B4-BE49-F238E27FC236}">
                  <a16:creationId xmlns:a16="http://schemas.microsoft.com/office/drawing/2014/main" id="{8799BC24-24D8-4941-8E9A-A3FF9CCA7486}"/>
                </a:ext>
              </a:extLst>
            </p:cNvPr>
            <p:cNvSpPr/>
            <p:nvPr/>
          </p:nvSpPr>
          <p:spPr>
            <a:xfrm>
              <a:off x="953023" y="5058229"/>
              <a:ext cx="1286201" cy="194538"/>
            </a:xfrm>
            <a:prstGeom prst="rect">
              <a:avLst/>
            </a:prstGeom>
            <a:solidFill>
              <a:srgbClr val="819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그룹 1"/>
            <p:cNvGrpSpPr/>
            <p:nvPr/>
          </p:nvGrpSpPr>
          <p:grpSpPr>
            <a:xfrm>
              <a:off x="2239225" y="3071328"/>
              <a:ext cx="2712188" cy="2181439"/>
              <a:chOff x="2239224" y="3071328"/>
              <a:chExt cx="3900319" cy="2181439"/>
            </a:xfrm>
          </p:grpSpPr>
          <p:sp>
            <p:nvSpPr>
              <p:cNvPr id="26" name="직사각형 25">
                <a:extLst>
                  <a:ext uri="{FF2B5EF4-FFF2-40B4-BE49-F238E27FC236}">
                    <a16:creationId xmlns:a16="http://schemas.microsoft.com/office/drawing/2014/main" id="{061F3E58-0137-4703-91FF-61467404956A}"/>
                  </a:ext>
                </a:extLst>
              </p:cNvPr>
              <p:cNvSpPr/>
              <p:nvPr/>
            </p:nvSpPr>
            <p:spPr>
              <a:xfrm>
                <a:off x="2239224" y="3596583"/>
                <a:ext cx="3900319" cy="165618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0C6560F-8474-440B-AFEB-BC15AC5B8209}"/>
                  </a:ext>
                </a:extLst>
              </p:cNvPr>
              <p:cNvSpPr txBox="1"/>
              <p:nvPr/>
            </p:nvSpPr>
            <p:spPr>
              <a:xfrm>
                <a:off x="2499454" y="4412071"/>
                <a:ext cx="3379877" cy="523220"/>
              </a:xfrm>
              <a:prstGeom prst="rect">
                <a:avLst/>
              </a:prstGeom>
              <a:noFill/>
            </p:spPr>
            <p:txBody>
              <a:bodyPr wrap="none" rtlCol="0">
                <a:spAutoFit/>
              </a:bodyPr>
              <a:lstStyle/>
              <a:p>
                <a:pPr algn="ctr"/>
                <a:r>
                  <a:rPr lang="en-US" altLang="ko-KR" sz="1400" dirty="0">
                    <a:latin typeface="SamsungOne 400" panose="020B0503030303020204" pitchFamily="34" charset="0"/>
                  </a:rPr>
                  <a:t>Not initiating a conversation</a:t>
                </a:r>
              </a:p>
              <a:p>
                <a:pPr algn="ctr"/>
                <a:r>
                  <a:rPr lang="en-US" sz="1400" dirty="0">
                    <a:latin typeface="SamsungOne 400" panose="020B0503030303020204" pitchFamily="34" charset="0"/>
                    <a:ea typeface="SamsungOne 400" panose="020B0503030303020204" pitchFamily="34" charset="0"/>
                  </a:rPr>
                  <a:t>0.7</a:t>
                </a:r>
              </a:p>
            </p:txBody>
          </p:sp>
          <p:sp>
            <p:nvSpPr>
              <p:cNvPr id="30" name="TextBox 29">
                <a:extLst>
                  <a:ext uri="{FF2B5EF4-FFF2-40B4-BE49-F238E27FC236}">
                    <a16:creationId xmlns:a16="http://schemas.microsoft.com/office/drawing/2014/main" id="{056F6438-3E7E-4499-8FDC-2ABC87682821}"/>
                  </a:ext>
                </a:extLst>
              </p:cNvPr>
              <p:cNvSpPr txBox="1"/>
              <p:nvPr/>
            </p:nvSpPr>
            <p:spPr>
              <a:xfrm>
                <a:off x="3052398" y="3071328"/>
                <a:ext cx="2268978" cy="523220"/>
              </a:xfrm>
              <a:prstGeom prst="rect">
                <a:avLst/>
              </a:prstGeom>
              <a:noFill/>
            </p:spPr>
            <p:txBody>
              <a:bodyPr wrap="none" rtlCol="0">
                <a:spAutoFit/>
              </a:bodyPr>
              <a:lstStyle/>
              <a:p>
                <a:pPr algn="ctr"/>
                <a:r>
                  <a:rPr lang="en-US" altLang="ko-KR" sz="1400" dirty="0">
                    <a:latin typeface="SamsungOne 400" panose="020B0503030303020204" pitchFamily="34" charset="0"/>
                    <a:ea typeface="SamsungOne 400" panose="020B0503030303020204" pitchFamily="34" charset="0"/>
                  </a:rPr>
                  <a:t>Window shopping</a:t>
                </a:r>
              </a:p>
              <a:p>
                <a:pPr algn="ctr"/>
                <a:r>
                  <a:rPr lang="en-US" sz="1400" dirty="0">
                    <a:latin typeface="SamsungOne 400" panose="020B0503030303020204" pitchFamily="34" charset="0"/>
                    <a:ea typeface="SamsungOne 400" panose="020B0503030303020204" pitchFamily="34" charset="0"/>
                  </a:rPr>
                  <a:t>0.8</a:t>
                </a:r>
              </a:p>
            </p:txBody>
          </p:sp>
          <p:sp>
            <p:nvSpPr>
              <p:cNvPr id="32" name="직사각형 31">
                <a:extLst>
                  <a:ext uri="{FF2B5EF4-FFF2-40B4-BE49-F238E27FC236}">
                    <a16:creationId xmlns:a16="http://schemas.microsoft.com/office/drawing/2014/main" id="{B28D198E-EBC1-4699-A03D-E383FC6D916F}"/>
                  </a:ext>
                </a:extLst>
              </p:cNvPr>
              <p:cNvSpPr/>
              <p:nvPr/>
            </p:nvSpPr>
            <p:spPr>
              <a:xfrm>
                <a:off x="2239657" y="3596583"/>
                <a:ext cx="3899886" cy="49082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2F405B09-E522-44EA-8D41-A7B6A92DEDBD}"/>
                  </a:ext>
                </a:extLst>
              </p:cNvPr>
              <p:cNvSpPr txBox="1"/>
              <p:nvPr/>
            </p:nvSpPr>
            <p:spPr>
              <a:xfrm>
                <a:off x="2535347" y="3686301"/>
                <a:ext cx="3319582" cy="307777"/>
              </a:xfrm>
              <a:prstGeom prst="rect">
                <a:avLst/>
              </a:prstGeom>
              <a:noFill/>
            </p:spPr>
            <p:txBody>
              <a:bodyPr wrap="none" rtlCol="0">
                <a:spAutoFit/>
              </a:bodyPr>
              <a:lstStyle/>
              <a:p>
                <a:pPr algn="ctr"/>
                <a:r>
                  <a:rPr lang="en-US" altLang="ko-KR" sz="1400" dirty="0">
                    <a:latin typeface="SamsungOne 400" panose="020B0503030303020204" pitchFamily="34" charset="0"/>
                  </a:rPr>
                  <a:t>Initiating a conversation</a:t>
                </a:r>
                <a:r>
                  <a:rPr lang="ko-KR" altLang="en-US" sz="1400" dirty="0">
                    <a:latin typeface="SamsungOne 400" panose="020B0503030303020204" pitchFamily="34" charset="0"/>
                  </a:rPr>
                  <a:t> </a:t>
                </a:r>
                <a:r>
                  <a:rPr lang="en-US" altLang="ko-KR" sz="1400" dirty="0">
                    <a:latin typeface="SamsungOne 400" panose="020B0503030303020204" pitchFamily="34" charset="0"/>
                  </a:rPr>
                  <a:t>0.3</a:t>
                </a:r>
                <a:endParaRPr lang="en-US" sz="1400" dirty="0">
                  <a:latin typeface="SamsungOne 400" panose="020B0503030303020204" pitchFamily="34" charset="0"/>
                  <a:ea typeface="SamsungOne 400" panose="020B0503030303020204" pitchFamily="34" charset="0"/>
                </a:endParaRPr>
              </a:p>
            </p:txBody>
          </p:sp>
        </p:grpSp>
      </p:grpSp>
      <p:cxnSp>
        <p:nvCxnSpPr>
          <p:cNvPr id="35" name="직선 화살표 연결선 34">
            <a:extLst>
              <a:ext uri="{FF2B5EF4-FFF2-40B4-BE49-F238E27FC236}">
                <a16:creationId xmlns:a16="http://schemas.microsoft.com/office/drawing/2014/main" id="{8AC5724B-B971-446C-AA75-C46437F49F0E}"/>
              </a:ext>
            </a:extLst>
          </p:cNvPr>
          <p:cNvCxnSpPr/>
          <p:nvPr/>
        </p:nvCxnSpPr>
        <p:spPr>
          <a:xfrm flipH="1" flipV="1">
            <a:off x="1607134" y="5146867"/>
            <a:ext cx="292508" cy="276067"/>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6" name="직사각형 35">
            <a:extLst>
              <a:ext uri="{FF2B5EF4-FFF2-40B4-BE49-F238E27FC236}">
                <a16:creationId xmlns:a16="http://schemas.microsoft.com/office/drawing/2014/main" id="{2511FCDB-44DF-48D9-A348-6F4564BC7FB8}"/>
              </a:ext>
            </a:extLst>
          </p:cNvPr>
          <p:cNvSpPr/>
          <p:nvPr/>
        </p:nvSpPr>
        <p:spPr>
          <a:xfrm>
            <a:off x="671261" y="5949280"/>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361950" lvl="1" indent="-180975">
              <a:spcAft>
                <a:spcPts val="800"/>
              </a:spcAft>
              <a:buClr>
                <a:srgbClr val="193EB0"/>
              </a:buClr>
              <a:buFont typeface="Arial" panose="020B0604020202020204" pitchFamily="34" charset="0"/>
              <a:buChar char="•"/>
            </a:pPr>
            <a:r>
              <a:rPr lang="en-US" altLang="ko-KR" sz="1300" dirty="0">
                <a:solidFill>
                  <a:prstClr val="black">
                    <a:lumMod val="85000"/>
                    <a:lumOff val="15000"/>
                  </a:prstClr>
                </a:solidFill>
                <a:latin typeface="SamsungOne 400" panose="020B0503030303020204" pitchFamily="34" charset="0"/>
                <a:sym typeface="Symbol"/>
              </a:rPr>
              <a:t>The probability of each section is the area of each rectangle. (0.18, 0.02, 0.24, 0.56)</a:t>
            </a:r>
          </a:p>
        </p:txBody>
      </p:sp>
    </p:spTree>
    <p:extLst>
      <p:ext uri="{BB962C8B-B14F-4D97-AF65-F5344CB8AC3E}">
        <p14:creationId xmlns:p14="http://schemas.microsoft.com/office/powerpoint/2010/main" val="1747979000"/>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5.1. Naïve Bayes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05</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3" name="직사각형 12">
            <a:extLst>
              <a:ext uri="{FF2B5EF4-FFF2-40B4-BE49-F238E27FC236}">
                <a16:creationId xmlns:a16="http://schemas.microsoft.com/office/drawing/2014/main" id="{00F0E0C0-95C6-447E-87BD-C40911B748AA}"/>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Introduction to Bayesian statistics</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4" name="직사각형 13">
            <a:extLst>
              <a:ext uri="{FF2B5EF4-FFF2-40B4-BE49-F238E27FC236}">
                <a16:creationId xmlns:a16="http://schemas.microsoft.com/office/drawing/2014/main" id="{D194623E-62CA-4FDC-A4F6-9BBED43C2731}"/>
              </a:ext>
            </a:extLst>
          </p:cNvPr>
          <p:cNvSpPr/>
          <p:nvPr/>
        </p:nvSpPr>
        <p:spPr>
          <a:xfrm>
            <a:off x="671261" y="1700808"/>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3) Remove ‘impossible event’ from the observations.</a:t>
            </a:r>
          </a:p>
          <a:p>
            <a:pPr marL="361950" lvl="1" indent="-180975">
              <a:spcAft>
                <a:spcPts val="800"/>
              </a:spcAft>
              <a:buClr>
                <a:srgbClr val="193EB0"/>
              </a:buClr>
              <a:buFont typeface="Arial" panose="020B0604020202020204" pitchFamily="34" charset="0"/>
              <a:buChar char="•"/>
            </a:pPr>
            <a:r>
              <a:rPr lang="en-US" altLang="ko-KR" sz="1300" dirty="0">
                <a:solidFill>
                  <a:srgbClr val="FF0000"/>
                </a:solidFill>
                <a:latin typeface="SamsungOne 400" panose="020B0503030303020204" pitchFamily="34" charset="0"/>
                <a:sym typeface="Symbol"/>
              </a:rPr>
              <a:t>The customer initiated a conversation (additional information).</a:t>
            </a:r>
          </a:p>
        </p:txBody>
      </p:sp>
      <p:grpSp>
        <p:nvGrpSpPr>
          <p:cNvPr id="4" name="그룹 3"/>
          <p:cNvGrpSpPr/>
          <p:nvPr/>
        </p:nvGrpSpPr>
        <p:grpSpPr>
          <a:xfrm>
            <a:off x="647202" y="2448743"/>
            <a:ext cx="4304210" cy="2879394"/>
            <a:chOff x="647202" y="2448743"/>
            <a:chExt cx="4304210" cy="2879394"/>
          </a:xfrm>
        </p:grpSpPr>
        <p:sp>
          <p:nvSpPr>
            <p:cNvPr id="34" name="TextBox 33">
              <a:extLst>
                <a:ext uri="{FF2B5EF4-FFF2-40B4-BE49-F238E27FC236}">
                  <a16:creationId xmlns:a16="http://schemas.microsoft.com/office/drawing/2014/main" id="{69F99016-1F0D-4297-84A4-AFE91D52567B}"/>
                </a:ext>
              </a:extLst>
            </p:cNvPr>
            <p:cNvSpPr txBox="1"/>
            <p:nvPr/>
          </p:nvSpPr>
          <p:spPr>
            <a:xfrm>
              <a:off x="944238" y="4804917"/>
              <a:ext cx="3922653" cy="523220"/>
            </a:xfrm>
            <a:prstGeom prst="rect">
              <a:avLst/>
            </a:prstGeom>
            <a:noFill/>
          </p:spPr>
          <p:txBody>
            <a:bodyPr wrap="square" rtlCol="0">
              <a:spAutoFit/>
            </a:bodyPr>
            <a:lstStyle/>
            <a:p>
              <a:pPr algn="ctr"/>
              <a:r>
                <a:rPr lang="en-US" altLang="ko-KR" sz="1400" dirty="0">
                  <a:latin typeface="SamsungOne 400" panose="020B0503030303020204" pitchFamily="34" charset="0"/>
                </a:rPr>
                <a:t>Not initiating a conversation</a:t>
              </a:r>
            </a:p>
            <a:p>
              <a:pPr algn="ctr"/>
              <a:r>
                <a:rPr lang="en-US" sz="1400" dirty="0">
                  <a:latin typeface="SamsungOne 400" panose="020B0503030303020204" pitchFamily="34" charset="0"/>
                  <a:ea typeface="SamsungOne 400" panose="020B0503030303020204" pitchFamily="34" charset="0"/>
                </a:rPr>
                <a:t>0.1</a:t>
              </a:r>
            </a:p>
          </p:txBody>
        </p:sp>
        <p:sp>
          <p:nvSpPr>
            <p:cNvPr id="16" name="직사각형 15">
              <a:extLst>
                <a:ext uri="{FF2B5EF4-FFF2-40B4-BE49-F238E27FC236}">
                  <a16:creationId xmlns:a16="http://schemas.microsoft.com/office/drawing/2014/main" id="{88511353-569D-47CB-A766-CD93C9D95CA8}"/>
                </a:ext>
              </a:extLst>
            </p:cNvPr>
            <p:cNvSpPr/>
            <p:nvPr/>
          </p:nvSpPr>
          <p:spPr>
            <a:xfrm>
              <a:off x="956431" y="2978566"/>
              <a:ext cx="1329999" cy="165618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66734D11-A35B-41DA-A6A5-E959730E5981}"/>
                </a:ext>
              </a:extLst>
            </p:cNvPr>
            <p:cNvSpPr txBox="1"/>
            <p:nvPr/>
          </p:nvSpPr>
          <p:spPr>
            <a:xfrm>
              <a:off x="647202" y="3378827"/>
              <a:ext cx="1941316" cy="738664"/>
            </a:xfrm>
            <a:prstGeom prst="rect">
              <a:avLst/>
            </a:prstGeom>
            <a:noFill/>
          </p:spPr>
          <p:txBody>
            <a:bodyPr wrap="none" rtlCol="0">
              <a:spAutoFit/>
            </a:bodyPr>
            <a:lstStyle/>
            <a:p>
              <a:pPr algn="ctr"/>
              <a:r>
                <a:rPr lang="en-US" altLang="ko-KR" sz="1400" dirty="0">
                  <a:solidFill>
                    <a:schemeClr val="bg1"/>
                  </a:solidFill>
                  <a:latin typeface="SamsungOne 400" panose="020B0503030303020204" pitchFamily="34" charset="0"/>
                  <a:ea typeface="SamsungOne 400" panose="020B0503030303020204" pitchFamily="34" charset="0"/>
                </a:rPr>
                <a:t>Initiating </a:t>
              </a:r>
            </a:p>
            <a:p>
              <a:pPr algn="ctr"/>
              <a:r>
                <a:rPr lang="en-US" altLang="ko-KR" sz="1400" dirty="0">
                  <a:solidFill>
                    <a:schemeClr val="bg1"/>
                  </a:solidFill>
                  <a:latin typeface="SamsungOne 400" panose="020B0503030303020204" pitchFamily="34" charset="0"/>
                  <a:ea typeface="SamsungOne 400" panose="020B0503030303020204" pitchFamily="34" charset="0"/>
                </a:rPr>
                <a:t>a conversation</a:t>
              </a:r>
            </a:p>
            <a:p>
              <a:pPr algn="ctr"/>
              <a:r>
                <a:rPr lang="en-US" sz="1400" dirty="0">
                  <a:solidFill>
                    <a:schemeClr val="bg1"/>
                  </a:solidFill>
                  <a:latin typeface="SamsungOne 400" panose="020B0503030303020204" pitchFamily="34" charset="0"/>
                  <a:ea typeface="SamsungOne 400" panose="020B0503030303020204" pitchFamily="34" charset="0"/>
                </a:rPr>
                <a:t>0.9</a:t>
              </a:r>
            </a:p>
          </p:txBody>
        </p:sp>
        <p:sp>
          <p:nvSpPr>
            <p:cNvPr id="29" name="TextBox 28">
              <a:extLst>
                <a:ext uri="{FF2B5EF4-FFF2-40B4-BE49-F238E27FC236}">
                  <a16:creationId xmlns:a16="http://schemas.microsoft.com/office/drawing/2014/main" id="{16C6C8B1-3CED-412F-9E46-9B593E9F7F73}"/>
                </a:ext>
              </a:extLst>
            </p:cNvPr>
            <p:cNvSpPr txBox="1"/>
            <p:nvPr/>
          </p:nvSpPr>
          <p:spPr>
            <a:xfrm>
              <a:off x="944238" y="2448743"/>
              <a:ext cx="1347251" cy="523220"/>
            </a:xfrm>
            <a:prstGeom prst="rect">
              <a:avLst/>
            </a:prstGeom>
            <a:noFill/>
          </p:spPr>
          <p:txBody>
            <a:bodyPr wrap="none" rtlCol="0">
              <a:spAutoFit/>
            </a:bodyPr>
            <a:lstStyle/>
            <a:p>
              <a:pPr algn="ctr"/>
              <a:r>
                <a:rPr lang="en-US" altLang="ko-KR" sz="1400" dirty="0">
                  <a:latin typeface="SamsungOne 400" panose="020B0503030303020204" pitchFamily="34" charset="0"/>
                  <a:ea typeface="SamsungOne 400" panose="020B0503030303020204" pitchFamily="34" charset="0"/>
                </a:rPr>
                <a:t>Shopping</a:t>
              </a:r>
            </a:p>
            <a:p>
              <a:pPr algn="ctr"/>
              <a:r>
                <a:rPr lang="en-US" sz="1400" dirty="0">
                  <a:latin typeface="SamsungOne 400" panose="020B0503030303020204" pitchFamily="34" charset="0"/>
                  <a:ea typeface="SamsungOne 400" panose="020B0503030303020204" pitchFamily="34" charset="0"/>
                </a:rPr>
                <a:t>0.2</a:t>
              </a:r>
            </a:p>
          </p:txBody>
        </p:sp>
        <p:sp>
          <p:nvSpPr>
            <p:cNvPr id="31" name="직사각형 30">
              <a:extLst>
                <a:ext uri="{FF2B5EF4-FFF2-40B4-BE49-F238E27FC236}">
                  <a16:creationId xmlns:a16="http://schemas.microsoft.com/office/drawing/2014/main" id="{8799BC24-24D8-4941-8E9A-A3FF9CCA7486}"/>
                </a:ext>
              </a:extLst>
            </p:cNvPr>
            <p:cNvSpPr/>
            <p:nvPr/>
          </p:nvSpPr>
          <p:spPr>
            <a:xfrm>
              <a:off x="956431" y="4440212"/>
              <a:ext cx="1329999" cy="194538"/>
            </a:xfrm>
            <a:prstGeom prst="rect">
              <a:avLst/>
            </a:prstGeom>
            <a:solidFill>
              <a:srgbClr val="819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직선 화살표 연결선 34">
              <a:extLst>
                <a:ext uri="{FF2B5EF4-FFF2-40B4-BE49-F238E27FC236}">
                  <a16:creationId xmlns:a16="http://schemas.microsoft.com/office/drawing/2014/main" id="{8AC5724B-B971-446C-AA75-C46437F49F0E}"/>
                </a:ext>
              </a:extLst>
            </p:cNvPr>
            <p:cNvCxnSpPr/>
            <p:nvPr/>
          </p:nvCxnSpPr>
          <p:spPr>
            <a:xfrm flipH="1" flipV="1">
              <a:off x="1647434" y="4528850"/>
              <a:ext cx="302469" cy="276067"/>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2278951" y="2453311"/>
              <a:ext cx="2672461" cy="2181439"/>
              <a:chOff x="2278951" y="2453311"/>
              <a:chExt cx="4040612" cy="2181439"/>
            </a:xfrm>
          </p:grpSpPr>
          <p:sp>
            <p:nvSpPr>
              <p:cNvPr id="26" name="직사각형 25">
                <a:extLst>
                  <a:ext uri="{FF2B5EF4-FFF2-40B4-BE49-F238E27FC236}">
                    <a16:creationId xmlns:a16="http://schemas.microsoft.com/office/drawing/2014/main" id="{061F3E58-0137-4703-91FF-61467404956A}"/>
                  </a:ext>
                </a:extLst>
              </p:cNvPr>
              <p:cNvSpPr/>
              <p:nvPr/>
            </p:nvSpPr>
            <p:spPr>
              <a:xfrm>
                <a:off x="2286430" y="2978566"/>
                <a:ext cx="4033133" cy="165618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0C6560F-8474-440B-AFEB-BC15AC5B8209}"/>
                  </a:ext>
                </a:extLst>
              </p:cNvPr>
              <p:cNvSpPr txBox="1"/>
              <p:nvPr/>
            </p:nvSpPr>
            <p:spPr>
              <a:xfrm>
                <a:off x="2555512" y="3794054"/>
                <a:ext cx="3494971" cy="523220"/>
              </a:xfrm>
              <a:prstGeom prst="rect">
                <a:avLst/>
              </a:prstGeom>
              <a:noFill/>
            </p:spPr>
            <p:txBody>
              <a:bodyPr wrap="none" rtlCol="0">
                <a:spAutoFit/>
              </a:bodyPr>
              <a:lstStyle/>
              <a:p>
                <a:pPr algn="ctr"/>
                <a:r>
                  <a:rPr lang="en-US" altLang="ko-KR" sz="1400" dirty="0">
                    <a:latin typeface="SamsungOne 400" panose="020B0503030303020204" pitchFamily="34" charset="0"/>
                  </a:rPr>
                  <a:t>Not initiating a conversation</a:t>
                </a:r>
              </a:p>
              <a:p>
                <a:pPr algn="ctr"/>
                <a:r>
                  <a:rPr lang="en-US" sz="1400" dirty="0">
                    <a:latin typeface="SamsungOne 400" panose="020B0503030303020204" pitchFamily="34" charset="0"/>
                    <a:ea typeface="SamsungOne 400" panose="020B0503030303020204" pitchFamily="34" charset="0"/>
                  </a:rPr>
                  <a:t>0.7</a:t>
                </a:r>
              </a:p>
            </p:txBody>
          </p:sp>
          <p:sp>
            <p:nvSpPr>
              <p:cNvPr id="30" name="TextBox 29">
                <a:extLst>
                  <a:ext uri="{FF2B5EF4-FFF2-40B4-BE49-F238E27FC236}">
                    <a16:creationId xmlns:a16="http://schemas.microsoft.com/office/drawing/2014/main" id="{056F6438-3E7E-4499-8FDC-2ABC87682821}"/>
                  </a:ext>
                </a:extLst>
              </p:cNvPr>
              <p:cNvSpPr txBox="1"/>
              <p:nvPr/>
            </p:nvSpPr>
            <p:spPr>
              <a:xfrm>
                <a:off x="3127294" y="2453311"/>
                <a:ext cx="2346242" cy="523220"/>
              </a:xfrm>
              <a:prstGeom prst="rect">
                <a:avLst/>
              </a:prstGeom>
              <a:noFill/>
            </p:spPr>
            <p:txBody>
              <a:bodyPr wrap="none" rtlCol="0">
                <a:spAutoFit/>
              </a:bodyPr>
              <a:lstStyle/>
              <a:p>
                <a:pPr algn="ctr"/>
                <a:r>
                  <a:rPr lang="en-US" altLang="ko-KR" sz="1400" dirty="0">
                    <a:latin typeface="SamsungOne 400" panose="020B0503030303020204" pitchFamily="34" charset="0"/>
                    <a:ea typeface="SamsungOne 400" panose="020B0503030303020204" pitchFamily="34" charset="0"/>
                  </a:rPr>
                  <a:t>Window shopping</a:t>
                </a:r>
              </a:p>
              <a:p>
                <a:pPr algn="ctr"/>
                <a:r>
                  <a:rPr lang="en-US" sz="1400" dirty="0">
                    <a:latin typeface="SamsungOne 400" panose="020B0503030303020204" pitchFamily="34" charset="0"/>
                    <a:ea typeface="SamsungOne 400" panose="020B0503030303020204" pitchFamily="34" charset="0"/>
                  </a:rPr>
                  <a:t>0.8</a:t>
                </a:r>
              </a:p>
            </p:txBody>
          </p:sp>
          <p:sp>
            <p:nvSpPr>
              <p:cNvPr id="32" name="직사각형 31">
                <a:extLst>
                  <a:ext uri="{FF2B5EF4-FFF2-40B4-BE49-F238E27FC236}">
                    <a16:creationId xmlns:a16="http://schemas.microsoft.com/office/drawing/2014/main" id="{B28D198E-EBC1-4699-A03D-E383FC6D916F}"/>
                  </a:ext>
                </a:extLst>
              </p:cNvPr>
              <p:cNvSpPr/>
              <p:nvPr/>
            </p:nvSpPr>
            <p:spPr>
              <a:xfrm>
                <a:off x="2286878" y="2978566"/>
                <a:ext cx="4032685" cy="49082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2F405B09-E522-44EA-8D41-A7B6A92DEDBD}"/>
                  </a:ext>
                </a:extLst>
              </p:cNvPr>
              <p:cNvSpPr txBox="1"/>
              <p:nvPr/>
            </p:nvSpPr>
            <p:spPr>
              <a:xfrm>
                <a:off x="2592629" y="3068284"/>
                <a:ext cx="3432621" cy="307777"/>
              </a:xfrm>
              <a:prstGeom prst="rect">
                <a:avLst/>
              </a:prstGeom>
              <a:noFill/>
            </p:spPr>
            <p:txBody>
              <a:bodyPr wrap="none" rtlCol="0">
                <a:spAutoFit/>
              </a:bodyPr>
              <a:lstStyle/>
              <a:p>
                <a:pPr algn="ctr"/>
                <a:r>
                  <a:rPr lang="en-US" altLang="ko-KR" sz="1400" dirty="0">
                    <a:latin typeface="SamsungOne 400" panose="020B0503030303020204" pitchFamily="34" charset="0"/>
                  </a:rPr>
                  <a:t>Initiating a conversation</a:t>
                </a:r>
                <a:r>
                  <a:rPr lang="ko-KR" altLang="en-US" sz="1400" dirty="0">
                    <a:latin typeface="SamsungOne 400" panose="020B0503030303020204" pitchFamily="34" charset="0"/>
                  </a:rPr>
                  <a:t> </a:t>
                </a:r>
                <a:r>
                  <a:rPr lang="en-US" altLang="ko-KR" sz="1400" dirty="0">
                    <a:latin typeface="SamsungOne 400" panose="020B0503030303020204" pitchFamily="34" charset="0"/>
                  </a:rPr>
                  <a:t>0.3</a:t>
                </a:r>
                <a:endParaRPr lang="en-US" sz="1400" dirty="0">
                  <a:latin typeface="SamsungOne 400" panose="020B0503030303020204" pitchFamily="34" charset="0"/>
                  <a:ea typeface="SamsungOne 400" panose="020B0503030303020204" pitchFamily="34" charset="0"/>
                </a:endParaRPr>
              </a:p>
            </p:txBody>
          </p:sp>
          <p:cxnSp>
            <p:nvCxnSpPr>
              <p:cNvPr id="21" name="직선 연결선 20">
                <a:extLst>
                  <a:ext uri="{FF2B5EF4-FFF2-40B4-BE49-F238E27FC236}">
                    <a16:creationId xmlns:a16="http://schemas.microsoft.com/office/drawing/2014/main" id="{3D2E67C6-2A12-45F3-83B8-22698C999D6E}"/>
                  </a:ext>
                </a:extLst>
              </p:cNvPr>
              <p:cNvCxnSpPr>
                <a:cxnSpLocks/>
              </p:cNvCxnSpPr>
              <p:nvPr/>
            </p:nvCxnSpPr>
            <p:spPr>
              <a:xfrm>
                <a:off x="2278951" y="3471099"/>
                <a:ext cx="4040612" cy="11636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CB46FCB2-7EF8-485F-B619-DE430124AC67}"/>
                  </a:ext>
                </a:extLst>
              </p:cNvPr>
              <p:cNvCxnSpPr>
                <a:cxnSpLocks/>
              </p:cNvCxnSpPr>
              <p:nvPr/>
            </p:nvCxnSpPr>
            <p:spPr>
              <a:xfrm flipH="1">
                <a:off x="2286081" y="3465779"/>
                <a:ext cx="4033482" cy="11689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7" name="직선 연결선 36">
              <a:extLst>
                <a:ext uri="{FF2B5EF4-FFF2-40B4-BE49-F238E27FC236}">
                  <a16:creationId xmlns:a16="http://schemas.microsoft.com/office/drawing/2014/main" id="{9C1DB4F5-2BE2-4F4B-A683-6D7A06F8C47A}"/>
                </a:ext>
              </a:extLst>
            </p:cNvPr>
            <p:cNvCxnSpPr/>
            <p:nvPr/>
          </p:nvCxnSpPr>
          <p:spPr>
            <a:xfrm>
              <a:off x="953985" y="4433609"/>
              <a:ext cx="1319933" cy="1921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BB9A8BCB-DF0B-404D-8F30-C46E853952CF}"/>
                </a:ext>
              </a:extLst>
            </p:cNvPr>
            <p:cNvCxnSpPr/>
            <p:nvPr/>
          </p:nvCxnSpPr>
          <p:spPr>
            <a:xfrm flipV="1">
              <a:off x="953985" y="4433609"/>
              <a:ext cx="1319933" cy="1921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87481000"/>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5.1. Naïve Bayes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05</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3" name="직사각형 12">
            <a:extLst>
              <a:ext uri="{FF2B5EF4-FFF2-40B4-BE49-F238E27FC236}">
                <a16:creationId xmlns:a16="http://schemas.microsoft.com/office/drawing/2014/main" id="{00F0E0C0-95C6-447E-87BD-C40911B748AA}"/>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Introduction to Bayesian statistics</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4" name="직사각형 13">
            <a:extLst>
              <a:ext uri="{FF2B5EF4-FFF2-40B4-BE49-F238E27FC236}">
                <a16:creationId xmlns:a16="http://schemas.microsoft.com/office/drawing/2014/main" id="{D194623E-62CA-4FDC-A4F6-9BBED43C2731}"/>
              </a:ext>
            </a:extLst>
          </p:cNvPr>
          <p:cNvSpPr/>
          <p:nvPr/>
        </p:nvSpPr>
        <p:spPr>
          <a:xfrm>
            <a:off x="671261" y="170080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4) Calculate Bayesian probability of the shopping group.</a:t>
            </a:r>
          </a:p>
        </p:txBody>
      </p:sp>
      <p:grpSp>
        <p:nvGrpSpPr>
          <p:cNvPr id="7" name="그룹 6">
            <a:extLst>
              <a:ext uri="{FF2B5EF4-FFF2-40B4-BE49-F238E27FC236}">
                <a16:creationId xmlns:a16="http://schemas.microsoft.com/office/drawing/2014/main" id="{362389B4-3DB2-4AE9-8F91-BAC37201C69E}"/>
              </a:ext>
            </a:extLst>
          </p:cNvPr>
          <p:cNvGrpSpPr/>
          <p:nvPr/>
        </p:nvGrpSpPr>
        <p:grpSpPr>
          <a:xfrm>
            <a:off x="844387" y="2201766"/>
            <a:ext cx="3448714" cy="2106361"/>
            <a:chOff x="844387" y="2978566"/>
            <a:chExt cx="3448714" cy="2106361"/>
          </a:xfrm>
        </p:grpSpPr>
        <p:sp>
          <p:nvSpPr>
            <p:cNvPr id="34" name="TextBox 33">
              <a:extLst>
                <a:ext uri="{FF2B5EF4-FFF2-40B4-BE49-F238E27FC236}">
                  <a16:creationId xmlns:a16="http://schemas.microsoft.com/office/drawing/2014/main" id="{69F99016-1F0D-4297-84A4-AFE91D52567B}"/>
                </a:ext>
              </a:extLst>
            </p:cNvPr>
            <p:cNvSpPr txBox="1"/>
            <p:nvPr/>
          </p:nvSpPr>
          <p:spPr>
            <a:xfrm>
              <a:off x="1433744" y="4777150"/>
              <a:ext cx="429926" cy="307777"/>
            </a:xfrm>
            <a:prstGeom prst="rect">
              <a:avLst/>
            </a:prstGeom>
            <a:noFill/>
          </p:spPr>
          <p:txBody>
            <a:bodyPr wrap="none" rtlCol="0">
              <a:spAutoFit/>
            </a:bodyPr>
            <a:lstStyle/>
            <a:p>
              <a:pPr algn="ctr"/>
              <a:r>
                <a:rPr lang="en-US" altLang="ko-KR" sz="1400" dirty="0">
                  <a:latin typeface="SamsungOne 400" panose="020B0503030303020204" pitchFamily="34" charset="0"/>
                </a:rPr>
                <a:t>0.2</a:t>
              </a:r>
              <a:endParaRPr lang="en-US" sz="1400" dirty="0">
                <a:latin typeface="SamsungOne 400" panose="020B0503030303020204" pitchFamily="34" charset="0"/>
                <a:ea typeface="SamsungOne 400" panose="020B0503030303020204" pitchFamily="34" charset="0"/>
              </a:endParaRPr>
            </a:p>
          </p:txBody>
        </p:sp>
        <p:grpSp>
          <p:nvGrpSpPr>
            <p:cNvPr id="3" name="그룹 2">
              <a:extLst>
                <a:ext uri="{FF2B5EF4-FFF2-40B4-BE49-F238E27FC236}">
                  <a16:creationId xmlns:a16="http://schemas.microsoft.com/office/drawing/2014/main" id="{5A41DC8D-EE05-4551-AE63-A6871E517821}"/>
                </a:ext>
              </a:extLst>
            </p:cNvPr>
            <p:cNvGrpSpPr/>
            <p:nvPr/>
          </p:nvGrpSpPr>
          <p:grpSpPr>
            <a:xfrm>
              <a:off x="845959" y="2978566"/>
              <a:ext cx="3447142" cy="1826351"/>
              <a:chOff x="845959" y="3596583"/>
              <a:chExt cx="3447142" cy="1826351"/>
            </a:xfrm>
          </p:grpSpPr>
          <p:sp>
            <p:nvSpPr>
              <p:cNvPr id="16" name="직사각형 15">
                <a:extLst>
                  <a:ext uri="{FF2B5EF4-FFF2-40B4-BE49-F238E27FC236}">
                    <a16:creationId xmlns:a16="http://schemas.microsoft.com/office/drawing/2014/main" id="{88511353-569D-47CB-A766-CD93C9D95CA8}"/>
                  </a:ext>
                </a:extLst>
              </p:cNvPr>
              <p:cNvSpPr/>
              <p:nvPr/>
            </p:nvSpPr>
            <p:spPr>
              <a:xfrm>
                <a:off x="845959" y="3596583"/>
                <a:ext cx="854854" cy="165618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직사각형 25">
                <a:extLst>
                  <a:ext uri="{FF2B5EF4-FFF2-40B4-BE49-F238E27FC236}">
                    <a16:creationId xmlns:a16="http://schemas.microsoft.com/office/drawing/2014/main" id="{061F3E58-0137-4703-91FF-61467404956A}"/>
                  </a:ext>
                </a:extLst>
              </p:cNvPr>
              <p:cNvSpPr/>
              <p:nvPr/>
            </p:nvSpPr>
            <p:spPr>
              <a:xfrm>
                <a:off x="1700813" y="3596583"/>
                <a:ext cx="2592288" cy="165618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66734D11-A35B-41DA-A6A5-E959730E5981}"/>
                  </a:ext>
                </a:extLst>
              </p:cNvPr>
              <p:cNvSpPr txBox="1"/>
              <p:nvPr/>
            </p:nvSpPr>
            <p:spPr>
              <a:xfrm>
                <a:off x="1012046" y="4212287"/>
                <a:ext cx="518092" cy="307777"/>
              </a:xfrm>
              <a:prstGeom prst="rect">
                <a:avLst/>
              </a:prstGeom>
              <a:noFill/>
            </p:spPr>
            <p:txBody>
              <a:bodyPr wrap="none" rtlCol="0" anchor="ctr">
                <a:spAutoFit/>
              </a:bodyPr>
              <a:lstStyle/>
              <a:p>
                <a:pPr algn="ctr"/>
                <a:r>
                  <a:rPr lang="en-US" altLang="ko-KR" sz="1400" dirty="0">
                    <a:solidFill>
                      <a:schemeClr val="bg1"/>
                    </a:solidFill>
                    <a:latin typeface="SamsungOne 400" panose="020B0503030303020204" pitchFamily="34" charset="0"/>
                  </a:rPr>
                  <a:t>0.18</a:t>
                </a:r>
                <a:endParaRPr lang="en-US" sz="1400" dirty="0">
                  <a:solidFill>
                    <a:schemeClr val="bg1"/>
                  </a:solidFill>
                  <a:latin typeface="SamsungOne 400" panose="020B0503030303020204" pitchFamily="34" charset="0"/>
                  <a:ea typeface="SamsungOne 400" panose="020B0503030303020204" pitchFamily="34" charset="0"/>
                </a:endParaRPr>
              </a:p>
            </p:txBody>
          </p:sp>
          <p:sp>
            <p:nvSpPr>
              <p:cNvPr id="28" name="TextBox 27">
                <a:extLst>
                  <a:ext uri="{FF2B5EF4-FFF2-40B4-BE49-F238E27FC236}">
                    <a16:creationId xmlns:a16="http://schemas.microsoft.com/office/drawing/2014/main" id="{70C6560F-8474-440B-AFEB-BC15AC5B8209}"/>
                  </a:ext>
                </a:extLst>
              </p:cNvPr>
              <p:cNvSpPr txBox="1"/>
              <p:nvPr/>
            </p:nvSpPr>
            <p:spPr>
              <a:xfrm>
                <a:off x="2730698" y="4358359"/>
                <a:ext cx="532518" cy="307777"/>
              </a:xfrm>
              <a:prstGeom prst="rect">
                <a:avLst/>
              </a:prstGeom>
              <a:noFill/>
            </p:spPr>
            <p:txBody>
              <a:bodyPr wrap="none" rtlCol="0" anchor="ctr">
                <a:spAutoFit/>
              </a:bodyPr>
              <a:lstStyle/>
              <a:p>
                <a:pPr algn="ctr"/>
                <a:r>
                  <a:rPr lang="en-US" altLang="ko-KR" sz="1400" dirty="0">
                    <a:latin typeface="SamsungOne 400" panose="020B0503030303020204" pitchFamily="34" charset="0"/>
                  </a:rPr>
                  <a:t>0.56</a:t>
                </a:r>
                <a:endParaRPr lang="en-US" sz="1400" dirty="0">
                  <a:latin typeface="SamsungOne 400" panose="020B0503030303020204" pitchFamily="34" charset="0"/>
                  <a:ea typeface="SamsungOne 400" panose="020B0503030303020204" pitchFamily="34" charset="0"/>
                </a:endParaRPr>
              </a:p>
            </p:txBody>
          </p:sp>
          <p:sp>
            <p:nvSpPr>
              <p:cNvPr id="31" name="직사각형 30">
                <a:extLst>
                  <a:ext uri="{FF2B5EF4-FFF2-40B4-BE49-F238E27FC236}">
                    <a16:creationId xmlns:a16="http://schemas.microsoft.com/office/drawing/2014/main" id="{8799BC24-24D8-4941-8E9A-A3FF9CCA7486}"/>
                  </a:ext>
                </a:extLst>
              </p:cNvPr>
              <p:cNvSpPr/>
              <p:nvPr/>
            </p:nvSpPr>
            <p:spPr>
              <a:xfrm>
                <a:off x="845959" y="5058229"/>
                <a:ext cx="854854" cy="194538"/>
              </a:xfrm>
              <a:prstGeom prst="rect">
                <a:avLst/>
              </a:prstGeom>
              <a:solidFill>
                <a:srgbClr val="819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직사각형 31">
                <a:extLst>
                  <a:ext uri="{FF2B5EF4-FFF2-40B4-BE49-F238E27FC236}">
                    <a16:creationId xmlns:a16="http://schemas.microsoft.com/office/drawing/2014/main" id="{B28D198E-EBC1-4699-A03D-E383FC6D916F}"/>
                  </a:ext>
                </a:extLst>
              </p:cNvPr>
              <p:cNvSpPr/>
              <p:nvPr/>
            </p:nvSpPr>
            <p:spPr>
              <a:xfrm>
                <a:off x="1701101" y="3596583"/>
                <a:ext cx="2592000" cy="49082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2F405B09-E522-44EA-8D41-A7B6A92DEDBD}"/>
                  </a:ext>
                </a:extLst>
              </p:cNvPr>
              <p:cNvSpPr txBox="1"/>
              <p:nvPr/>
            </p:nvSpPr>
            <p:spPr>
              <a:xfrm>
                <a:off x="2735320" y="3686301"/>
                <a:ext cx="530915" cy="307777"/>
              </a:xfrm>
              <a:prstGeom prst="rect">
                <a:avLst/>
              </a:prstGeom>
              <a:noFill/>
            </p:spPr>
            <p:txBody>
              <a:bodyPr wrap="none" rtlCol="0" anchor="ctr">
                <a:spAutoFit/>
              </a:bodyPr>
              <a:lstStyle/>
              <a:p>
                <a:pPr algn="ctr"/>
                <a:r>
                  <a:rPr lang="en-US" sz="1400" dirty="0">
                    <a:latin typeface="SamsungOne 400" panose="020B0503030303020204" pitchFamily="34" charset="0"/>
                    <a:ea typeface="SamsungOne 400" panose="020B0503030303020204" pitchFamily="34" charset="0"/>
                  </a:rPr>
                  <a:t>0.24</a:t>
                </a:r>
              </a:p>
            </p:txBody>
          </p:sp>
          <p:cxnSp>
            <p:nvCxnSpPr>
              <p:cNvPr id="35" name="직선 화살표 연결선 34">
                <a:extLst>
                  <a:ext uri="{FF2B5EF4-FFF2-40B4-BE49-F238E27FC236}">
                    <a16:creationId xmlns:a16="http://schemas.microsoft.com/office/drawing/2014/main" id="{8AC5724B-B971-446C-AA75-C46437F49F0E}"/>
                  </a:ext>
                </a:extLst>
              </p:cNvPr>
              <p:cNvCxnSpPr/>
              <p:nvPr/>
            </p:nvCxnSpPr>
            <p:spPr>
              <a:xfrm flipH="1" flipV="1">
                <a:off x="1290100" y="5146867"/>
                <a:ext cx="194411" cy="276067"/>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1" name="직선 연결선 20">
              <a:extLst>
                <a:ext uri="{FF2B5EF4-FFF2-40B4-BE49-F238E27FC236}">
                  <a16:creationId xmlns:a16="http://schemas.microsoft.com/office/drawing/2014/main" id="{3D2E67C6-2A12-45F3-83B8-22698C999D6E}"/>
                </a:ext>
              </a:extLst>
            </p:cNvPr>
            <p:cNvCxnSpPr>
              <a:cxnSpLocks/>
            </p:cNvCxnSpPr>
            <p:nvPr/>
          </p:nvCxnSpPr>
          <p:spPr>
            <a:xfrm>
              <a:off x="1696006" y="3471099"/>
              <a:ext cx="2597095" cy="11636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CB46FCB2-7EF8-485F-B619-DE430124AC67}"/>
                </a:ext>
              </a:extLst>
            </p:cNvPr>
            <p:cNvCxnSpPr>
              <a:cxnSpLocks/>
            </p:cNvCxnSpPr>
            <p:nvPr/>
          </p:nvCxnSpPr>
          <p:spPr>
            <a:xfrm flipH="1">
              <a:off x="1700589" y="3465779"/>
              <a:ext cx="2592512" cy="116897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9C1DB4F5-2BE2-4F4B-A683-6D7A06F8C47A}"/>
                </a:ext>
              </a:extLst>
            </p:cNvPr>
            <p:cNvCxnSpPr/>
            <p:nvPr/>
          </p:nvCxnSpPr>
          <p:spPr>
            <a:xfrm>
              <a:off x="844387" y="4433609"/>
              <a:ext cx="848384" cy="1921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BB9A8BCB-DF0B-404D-8F30-C46E853952CF}"/>
                </a:ext>
              </a:extLst>
            </p:cNvPr>
            <p:cNvCxnSpPr/>
            <p:nvPr/>
          </p:nvCxnSpPr>
          <p:spPr>
            <a:xfrm flipV="1">
              <a:off x="844387" y="4433609"/>
              <a:ext cx="848384" cy="1921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6" name="직사각형 35">
            <a:extLst>
              <a:ext uri="{FF2B5EF4-FFF2-40B4-BE49-F238E27FC236}">
                <a16:creationId xmlns:a16="http://schemas.microsoft.com/office/drawing/2014/main" id="{33D8795A-5B06-4C40-9A55-9A57729B65F3}"/>
              </a:ext>
            </a:extLst>
          </p:cNvPr>
          <p:cNvSpPr/>
          <p:nvPr/>
        </p:nvSpPr>
        <p:spPr>
          <a:xfrm>
            <a:off x="671261" y="4473654"/>
            <a:ext cx="8632825" cy="1350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361950" lvl="1" indent="-180975">
              <a:spcAft>
                <a:spcPts val="800"/>
              </a:spcAft>
              <a:buClr>
                <a:srgbClr val="193EB0"/>
              </a:buClr>
              <a:buFont typeface="Arial" panose="020B0604020202020204" pitchFamily="34" charset="0"/>
              <a:buChar char="•"/>
            </a:pPr>
            <a:r>
              <a:rPr lang="en-US" altLang="ko-KR" sz="1300" dirty="0">
                <a:solidFill>
                  <a:schemeClr val="tx1"/>
                </a:solidFill>
                <a:latin typeface="SamsungOne 400" panose="020B0503030303020204" pitchFamily="34" charset="0"/>
                <a:sym typeface="Symbol"/>
              </a:rPr>
              <a:t>The result is 0.18:0.24, which is 3:4.</a:t>
            </a:r>
          </a:p>
          <a:p>
            <a:pPr marL="361950" lvl="1" indent="-180975">
              <a:spcAft>
                <a:spcPts val="800"/>
              </a:spcAft>
              <a:buClr>
                <a:srgbClr val="193EB0"/>
              </a:buClr>
              <a:buFont typeface="Arial" panose="020B0604020202020204" pitchFamily="34" charset="0"/>
              <a:buChar char="•"/>
            </a:pPr>
            <a:r>
              <a:rPr lang="en-US" altLang="ko-KR" sz="1300" dirty="0">
                <a:solidFill>
                  <a:schemeClr val="tx1"/>
                </a:solidFill>
                <a:latin typeface="SamsungOne 400" panose="020B0503030303020204" pitchFamily="34" charset="0"/>
                <a:sym typeface="Symbol"/>
              </a:rPr>
              <a:t>Thus, it can be estimated that the probability of the customer who initiated a conversation being in the shopping group is 3/7 (43%). It is either called Bayesian statistics or posterior probability.</a:t>
            </a:r>
          </a:p>
          <a:p>
            <a:pPr marL="361950" lvl="1" indent="-180975">
              <a:spcAft>
                <a:spcPts val="800"/>
              </a:spcAft>
              <a:buClr>
                <a:srgbClr val="193EB0"/>
              </a:buClr>
              <a:buFont typeface="Arial" panose="020B0604020202020204" pitchFamily="34" charset="0"/>
              <a:buChar char="•"/>
            </a:pPr>
            <a:r>
              <a:rPr lang="en-US" altLang="ko-KR" sz="1300" dirty="0">
                <a:solidFill>
                  <a:schemeClr val="tx1"/>
                </a:solidFill>
                <a:latin typeface="SamsungOne 400" panose="020B0503030303020204" pitchFamily="34" charset="0"/>
                <a:sym typeface="Symbol"/>
              </a:rPr>
              <a:t>Chooses if a person who initiated a conversation is in the shopping or window shopping group based on probability. </a:t>
            </a:r>
          </a:p>
        </p:txBody>
      </p:sp>
      <p:graphicFrame>
        <p:nvGraphicFramePr>
          <p:cNvPr id="39" name="표 38">
            <a:extLst>
              <a:ext uri="{FF2B5EF4-FFF2-40B4-BE49-F238E27FC236}">
                <a16:creationId xmlns:a16="http://schemas.microsoft.com/office/drawing/2014/main" id="{C135B903-D09F-425A-A4E8-75B3F8B4725D}"/>
              </a:ext>
            </a:extLst>
          </p:cNvPr>
          <p:cNvGraphicFramePr>
            <a:graphicFrameLocks noGrp="1"/>
          </p:cNvGraphicFramePr>
          <p:nvPr>
            <p:extLst>
              <p:ext uri="{D42A27DB-BD31-4B8C-83A1-F6EECF244321}">
                <p14:modId xmlns:p14="http://schemas.microsoft.com/office/powerpoint/2010/main" val="642710183"/>
              </p:ext>
            </p:extLst>
          </p:nvPr>
        </p:nvGraphicFramePr>
        <p:xfrm>
          <a:off x="4566662" y="2221755"/>
          <a:ext cx="4465594" cy="1066800"/>
        </p:xfrm>
        <a:graphic>
          <a:graphicData uri="http://schemas.openxmlformats.org/drawingml/2006/table">
            <a:tbl>
              <a:tblPr firstRow="1" bandRow="1">
                <a:tableStyleId>{5940675A-B579-460E-94D1-54222C63F5DA}</a:tableStyleId>
              </a:tblPr>
              <a:tblGrid>
                <a:gridCol w="1009210">
                  <a:extLst>
                    <a:ext uri="{9D8B030D-6E8A-4147-A177-3AD203B41FA5}">
                      <a16:colId xmlns:a16="http://schemas.microsoft.com/office/drawing/2014/main" val="20000"/>
                    </a:ext>
                  </a:extLst>
                </a:gridCol>
                <a:gridCol w="1728192">
                  <a:extLst>
                    <a:ext uri="{9D8B030D-6E8A-4147-A177-3AD203B41FA5}">
                      <a16:colId xmlns:a16="http://schemas.microsoft.com/office/drawing/2014/main" val="1127139662"/>
                    </a:ext>
                  </a:extLst>
                </a:gridCol>
                <a:gridCol w="1728192">
                  <a:extLst>
                    <a:ext uri="{9D8B030D-6E8A-4147-A177-3AD203B41FA5}">
                      <a16:colId xmlns:a16="http://schemas.microsoft.com/office/drawing/2014/main" val="20002"/>
                    </a:ext>
                  </a:extLst>
                </a:gridCol>
              </a:tblGrid>
              <a:tr h="182052">
                <a:tc>
                  <a:txBody>
                    <a:bodyPr/>
                    <a:lstStyle/>
                    <a:p>
                      <a:pPr algn="ctr"/>
                      <a:endParaRPr lang="en-US" sz="1300" dirty="0">
                        <a:solidFill>
                          <a:srgbClr val="1429A0"/>
                        </a:solidFill>
                        <a:latin typeface="SamsungOne 400" panose="020B0503030303020204" pitchFamily="34" charset="0"/>
                        <a:ea typeface="SamsungOne 400" panose="020B0503030303020204" pitchFamily="34" charset="0"/>
                      </a:endParaRP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300" dirty="0">
                          <a:solidFill>
                            <a:srgbClr val="1429A0"/>
                          </a:solidFill>
                          <a:latin typeface="SamsungOne 400" panose="020B0503030303020204" pitchFamily="34" charset="0"/>
                          <a:ea typeface="SamsungOne 400" panose="020B0503030303020204" pitchFamily="34" charset="0"/>
                        </a:rPr>
                        <a:t>Shopping</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300" dirty="0">
                          <a:solidFill>
                            <a:srgbClr val="1429A0"/>
                          </a:solidFill>
                          <a:latin typeface="SamsungOne 400" panose="020B0503030303020204" pitchFamily="34" charset="0"/>
                          <a:ea typeface="SamsungOne 400" panose="020B0503030303020204" pitchFamily="34" charset="0"/>
                        </a:rPr>
                        <a:t>Window shopping</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D48D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7729922"/>
                  </a:ext>
                </a:extLst>
              </a:tr>
              <a:tr h="182052">
                <a:tc>
                  <a:txBody>
                    <a:bodyPr/>
                    <a:lstStyle/>
                    <a:p>
                      <a:pPr algn="ctr"/>
                      <a:r>
                        <a:rPr lang="en-US" altLang="ko-KR" sz="1300" dirty="0">
                          <a:solidFill>
                            <a:srgbClr val="1429A0"/>
                          </a:solidFill>
                          <a:latin typeface="SamsungOne 400" panose="020B0503030303020204" pitchFamily="34" charset="0"/>
                          <a:ea typeface="SamsungOne 400" panose="020B0503030303020204" pitchFamily="34" charset="0"/>
                        </a:rPr>
                        <a:t>Normalization</a:t>
                      </a:r>
                      <a:endParaRPr lang="en-US" sz="1300" dirty="0">
                        <a:solidFill>
                          <a:srgbClr val="1429A0"/>
                        </a:solidFill>
                        <a:latin typeface="SamsungOne 400" panose="020B0503030303020204" pitchFamily="34" charset="0"/>
                        <a:ea typeface="SamsungOne 400" panose="020B0503030303020204" pitchFamily="34" charset="0"/>
                      </a:endParaRP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300" dirty="0">
                          <a:latin typeface="SamsungOne 400" panose="020B0503030303020204" pitchFamily="34" charset="0"/>
                          <a:ea typeface="SamsungOne 400" panose="020B0503030303020204" pitchFamily="34" charset="0"/>
                        </a:rPr>
                        <a:t>3/7</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300" dirty="0">
                          <a:solidFill>
                            <a:schemeClr val="tx1"/>
                          </a:solidFill>
                          <a:latin typeface="SamsungOne 400" panose="020B0503030303020204" pitchFamily="34" charset="0"/>
                          <a:ea typeface="SamsungOne 400" panose="020B0503030303020204" pitchFamily="34" charset="0"/>
                        </a:rPr>
                        <a:t>4/7</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7462398"/>
                  </a:ext>
                </a:extLst>
              </a:tr>
              <a:tr h="182052">
                <a:tc>
                  <a:txBody>
                    <a:bodyPr/>
                    <a:lstStyle/>
                    <a:p>
                      <a:pPr algn="ctr"/>
                      <a:endParaRPr lang="en-US" sz="1300" dirty="0">
                        <a:solidFill>
                          <a:srgbClr val="1429A0"/>
                        </a:solidFill>
                        <a:latin typeface="SamsungOne 400" panose="020B0503030303020204" pitchFamily="34" charset="0"/>
                        <a:ea typeface="SamsungOne 400" panose="020B0503030303020204" pitchFamily="34" charset="0"/>
                      </a:endParaRP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300" dirty="0">
                          <a:solidFill>
                            <a:srgbClr val="FF0000"/>
                          </a:solidFill>
                          <a:latin typeface="SamsungOne 400" panose="020B0503030303020204" pitchFamily="34" charset="0"/>
                          <a:ea typeface="SamsungOne 400" panose="020B0503030303020204" pitchFamily="34" charset="0"/>
                        </a:rPr>
                        <a:t>43%</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300" dirty="0">
                        <a:latin typeface="SamsungOne 400" panose="020B0503030303020204" pitchFamily="34" charset="0"/>
                        <a:ea typeface="SamsungOne 400" panose="020B0503030303020204"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8278547"/>
                  </a:ext>
                </a:extLst>
              </a:tr>
            </a:tbl>
          </a:graphicData>
        </a:graphic>
      </p:graphicFrame>
      <p:cxnSp>
        <p:nvCxnSpPr>
          <p:cNvPr id="40" name="직선 화살표 연결선 39">
            <a:extLst>
              <a:ext uri="{FF2B5EF4-FFF2-40B4-BE49-F238E27FC236}">
                <a16:creationId xmlns:a16="http://schemas.microsoft.com/office/drawing/2014/main" id="{85586DFF-B30E-4152-BA76-D77C95472236}"/>
              </a:ext>
            </a:extLst>
          </p:cNvPr>
          <p:cNvCxnSpPr/>
          <p:nvPr/>
        </p:nvCxnSpPr>
        <p:spPr>
          <a:xfrm flipV="1">
            <a:off x="1887523" y="4212520"/>
            <a:ext cx="2955090" cy="862819"/>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4842613" y="3899703"/>
            <a:ext cx="3701706" cy="574426"/>
            <a:chOff x="5393842" y="3899703"/>
            <a:chExt cx="3701706" cy="574426"/>
          </a:xfrm>
        </p:grpSpPr>
        <p:sp>
          <p:nvSpPr>
            <p:cNvPr id="41" name="TextBox 40">
              <a:extLst>
                <a:ext uri="{FF2B5EF4-FFF2-40B4-BE49-F238E27FC236}">
                  <a16:creationId xmlns:a16="http://schemas.microsoft.com/office/drawing/2014/main" id="{5F0A48F7-5CB5-48BC-B76A-0AED2F74ABE7}"/>
                </a:ext>
              </a:extLst>
            </p:cNvPr>
            <p:cNvSpPr txBox="1"/>
            <p:nvPr/>
          </p:nvSpPr>
          <p:spPr>
            <a:xfrm>
              <a:off x="5393842" y="3950909"/>
              <a:ext cx="1938608" cy="523220"/>
            </a:xfrm>
            <a:prstGeom prst="rect">
              <a:avLst/>
            </a:prstGeom>
            <a:noFill/>
          </p:spPr>
          <p:txBody>
            <a:bodyPr wrap="none" rtlCol="0">
              <a:spAutoFit/>
            </a:bodyPr>
            <a:lstStyle/>
            <a:p>
              <a:pPr algn="ctr"/>
              <a:r>
                <a:rPr lang="en-US" altLang="ko-KR" sz="1400" dirty="0"/>
                <a:t>Result</a:t>
              </a:r>
            </a:p>
            <a:p>
              <a:pPr algn="ctr"/>
              <a:r>
                <a:rPr lang="en-US" altLang="ko-KR" sz="1400" dirty="0"/>
                <a:t>Initiating a conversation</a:t>
              </a:r>
              <a:endParaRPr lang="en-US" sz="1400" dirty="0"/>
            </a:p>
          </p:txBody>
        </p:sp>
        <p:cxnSp>
          <p:nvCxnSpPr>
            <p:cNvPr id="42" name="직선 화살표 연결선 41">
              <a:extLst>
                <a:ext uri="{FF2B5EF4-FFF2-40B4-BE49-F238E27FC236}">
                  <a16:creationId xmlns:a16="http://schemas.microsoft.com/office/drawing/2014/main" id="{05B3B7BD-2F76-4282-AAB8-327291BEF1CF}"/>
                </a:ext>
              </a:extLst>
            </p:cNvPr>
            <p:cNvCxnSpPr/>
            <p:nvPr/>
          </p:nvCxnSpPr>
          <p:spPr>
            <a:xfrm>
              <a:off x="7327676" y="4195748"/>
              <a:ext cx="448859" cy="705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3278A17A-127D-4FB5-B64A-6FA1596894DC}"/>
                </a:ext>
              </a:extLst>
            </p:cNvPr>
            <p:cNvSpPr txBox="1"/>
            <p:nvPr/>
          </p:nvSpPr>
          <p:spPr>
            <a:xfrm>
              <a:off x="7789036" y="3899703"/>
              <a:ext cx="1306512" cy="523220"/>
            </a:xfrm>
            <a:prstGeom prst="rect">
              <a:avLst/>
            </a:prstGeom>
            <a:noFill/>
          </p:spPr>
          <p:txBody>
            <a:bodyPr wrap="none" rtlCol="0">
              <a:spAutoFit/>
            </a:bodyPr>
            <a:lstStyle/>
            <a:p>
              <a:pPr algn="ctr"/>
              <a:r>
                <a:rPr lang="en-US" altLang="ko-KR" sz="1400" dirty="0"/>
                <a:t>Cause</a:t>
              </a:r>
            </a:p>
            <a:p>
              <a:pPr algn="ctr"/>
              <a:r>
                <a:rPr lang="en-US" altLang="ko-KR" sz="1400" dirty="0"/>
                <a:t>A certain group</a:t>
              </a:r>
              <a:endParaRPr lang="en-US" sz="1400" dirty="0"/>
            </a:p>
          </p:txBody>
        </p:sp>
      </p:grpSp>
    </p:spTree>
    <p:extLst>
      <p:ext uri="{BB962C8B-B14F-4D97-AF65-F5344CB8AC3E}">
        <p14:creationId xmlns:p14="http://schemas.microsoft.com/office/powerpoint/2010/main" val="3160931312"/>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5.1. Naïve Bayes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05</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3" name="직사각형 12">
            <a:extLst>
              <a:ext uri="{FF2B5EF4-FFF2-40B4-BE49-F238E27FC236}">
                <a16:creationId xmlns:a16="http://schemas.microsoft.com/office/drawing/2014/main" id="{00F0E0C0-95C6-447E-87BD-C40911B748AA}"/>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Introduction to Bayesian statistics</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14" name="직사각형 13">
            <a:extLst>
              <a:ext uri="{FF2B5EF4-FFF2-40B4-BE49-F238E27FC236}">
                <a16:creationId xmlns:a16="http://schemas.microsoft.com/office/drawing/2014/main" id="{D194623E-62CA-4FDC-A4F6-9BBED43C2731}"/>
              </a:ext>
            </a:extLst>
          </p:cNvPr>
          <p:cNvSpPr/>
          <p:nvPr/>
        </p:nvSpPr>
        <p:spPr>
          <a:xfrm>
            <a:off x="671261" y="1700808"/>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The probability of a customer who initiated a conversation making a purchase is now different.  </a:t>
            </a:r>
          </a:p>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Bayesian updating for customer type</a:t>
            </a:r>
            <a:endParaRPr lang="ko-KR" altLang="en-US"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endParaRPr>
          </a:p>
        </p:txBody>
      </p:sp>
      <p:grpSp>
        <p:nvGrpSpPr>
          <p:cNvPr id="3" name="그룹 2"/>
          <p:cNvGrpSpPr/>
          <p:nvPr/>
        </p:nvGrpSpPr>
        <p:grpSpPr>
          <a:xfrm>
            <a:off x="877606" y="2422747"/>
            <a:ext cx="7062138" cy="1064206"/>
            <a:chOff x="877606" y="2422747"/>
            <a:chExt cx="7062138" cy="1064206"/>
          </a:xfrm>
        </p:grpSpPr>
        <p:sp>
          <p:nvSpPr>
            <p:cNvPr id="33" name="직사각형 32">
              <a:extLst>
                <a:ext uri="{FF2B5EF4-FFF2-40B4-BE49-F238E27FC236}">
                  <a16:creationId xmlns:a16="http://schemas.microsoft.com/office/drawing/2014/main" id="{A09AD051-E4F7-4D0C-96C2-9799152B32F4}"/>
                </a:ext>
              </a:extLst>
            </p:cNvPr>
            <p:cNvSpPr/>
            <p:nvPr/>
          </p:nvSpPr>
          <p:spPr>
            <a:xfrm>
              <a:off x="877606" y="2422747"/>
              <a:ext cx="6810974" cy="106420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TextBox 33">
              <a:extLst>
                <a:ext uri="{FF2B5EF4-FFF2-40B4-BE49-F238E27FC236}">
                  <a16:creationId xmlns:a16="http://schemas.microsoft.com/office/drawing/2014/main" id="{647A4103-623B-4840-8F33-66424334C253}"/>
                </a:ext>
              </a:extLst>
            </p:cNvPr>
            <p:cNvSpPr txBox="1"/>
            <p:nvPr/>
          </p:nvSpPr>
          <p:spPr>
            <a:xfrm>
              <a:off x="925145" y="2514463"/>
              <a:ext cx="1437797" cy="292388"/>
            </a:xfrm>
            <a:prstGeom prst="rect">
              <a:avLst/>
            </a:prstGeom>
            <a:noFill/>
          </p:spPr>
          <p:txBody>
            <a:bodyPr wrap="none" rtlCol="0">
              <a:spAutoFit/>
            </a:bodyPr>
            <a:lstStyle/>
            <a:p>
              <a:r>
                <a:rPr lang="en-US" altLang="ko-KR" sz="1300" b="1" dirty="0">
                  <a:solidFill>
                    <a:srgbClr val="1429A0"/>
                  </a:solidFill>
                  <a:latin typeface="SamsungOne 400" panose="020B0503030303020204" pitchFamily="34" charset="0"/>
                </a:rPr>
                <a:t>Final summary</a:t>
              </a:r>
              <a:endParaRPr lang="en-US" sz="1300" b="1" dirty="0">
                <a:solidFill>
                  <a:srgbClr val="1429A0"/>
                </a:solidFill>
                <a:latin typeface="SamsungOne 400" panose="020B0503030303020204" pitchFamily="34" charset="0"/>
                <a:ea typeface="SamsungOne 400" panose="020B0503030303020204" pitchFamily="34" charset="0"/>
              </a:endParaRPr>
            </a:p>
          </p:txBody>
        </p:sp>
        <p:sp>
          <p:nvSpPr>
            <p:cNvPr id="35" name="TextBox 34">
              <a:extLst>
                <a:ext uri="{FF2B5EF4-FFF2-40B4-BE49-F238E27FC236}">
                  <a16:creationId xmlns:a16="http://schemas.microsoft.com/office/drawing/2014/main" id="{14A4BAE1-F9FF-4CFE-9E84-A5D9D25B6625}"/>
                </a:ext>
              </a:extLst>
            </p:cNvPr>
            <p:cNvSpPr txBox="1"/>
            <p:nvPr/>
          </p:nvSpPr>
          <p:spPr>
            <a:xfrm>
              <a:off x="2197075" y="2528774"/>
              <a:ext cx="3943708" cy="897682"/>
            </a:xfrm>
            <a:prstGeom prst="rect">
              <a:avLst/>
            </a:prstGeom>
            <a:noFill/>
          </p:spPr>
          <p:txBody>
            <a:bodyPr wrap="none" rtlCol="0">
              <a:spAutoFit/>
            </a:bodyPr>
            <a:lstStyle/>
            <a:p>
              <a:pPr>
                <a:spcAft>
                  <a:spcPts val="800"/>
                </a:spcAft>
              </a:pPr>
              <a:r>
                <a:rPr lang="en-US" altLang="ko-KR" sz="1300" dirty="0">
                  <a:latin typeface="SamsungOne 400" panose="020B0503030303020204" pitchFamily="34" charset="0"/>
                </a:rPr>
                <a:t>The prior probability of being a shopping group</a:t>
              </a:r>
              <a:endParaRPr lang="en-US" altLang="ko-KR" sz="1300" dirty="0">
                <a:latin typeface="SamsungOne 400" panose="020B0503030303020204" pitchFamily="34" charset="0"/>
                <a:ea typeface="SamsungOne 400" panose="020B0503030303020204" pitchFamily="34" charset="0"/>
              </a:endParaRPr>
            </a:p>
            <a:p>
              <a:pPr>
                <a:spcAft>
                  <a:spcPts val="800"/>
                </a:spcAft>
              </a:pPr>
              <a:r>
                <a:rPr lang="en-US" altLang="ko-KR" sz="1300" dirty="0">
                  <a:latin typeface="SamsungOne 400" panose="020B0503030303020204" pitchFamily="34" charset="0"/>
                </a:rPr>
                <a:t>Observing to initiate a conversation</a:t>
              </a:r>
              <a:endParaRPr lang="en-US" altLang="ko-KR" sz="1300" dirty="0">
                <a:latin typeface="SamsungOne 400" panose="020B0503030303020204" pitchFamily="34" charset="0"/>
                <a:ea typeface="SamsungOne 400" panose="020B0503030303020204" pitchFamily="34" charset="0"/>
              </a:endParaRPr>
            </a:p>
            <a:p>
              <a:pPr>
                <a:spcAft>
                  <a:spcPts val="800"/>
                </a:spcAft>
              </a:pPr>
              <a:r>
                <a:rPr lang="en-US" altLang="ko-KR" sz="1300" dirty="0">
                  <a:latin typeface="SamsungOne 400" panose="020B0503030303020204" pitchFamily="34" charset="0"/>
                </a:rPr>
                <a:t>The posterior probability of being a shopping group</a:t>
              </a:r>
              <a:endParaRPr lang="en-US" altLang="ko-KR" sz="1300" dirty="0">
                <a:latin typeface="SamsungOne 400" panose="020B0503030303020204" pitchFamily="34" charset="0"/>
                <a:ea typeface="SamsungOne 400" panose="020B0503030303020204" pitchFamily="34" charset="0"/>
              </a:endParaRPr>
            </a:p>
          </p:txBody>
        </p:sp>
        <p:grpSp>
          <p:nvGrpSpPr>
            <p:cNvPr id="2" name="그룹 1"/>
            <p:cNvGrpSpPr/>
            <p:nvPr/>
          </p:nvGrpSpPr>
          <p:grpSpPr>
            <a:xfrm>
              <a:off x="6027762" y="2523845"/>
              <a:ext cx="1911982" cy="897682"/>
              <a:chOff x="4902755" y="2474764"/>
              <a:chExt cx="1911982" cy="897682"/>
            </a:xfrm>
          </p:grpSpPr>
          <p:sp>
            <p:nvSpPr>
              <p:cNvPr id="36" name="TextBox 35">
                <a:extLst>
                  <a:ext uri="{FF2B5EF4-FFF2-40B4-BE49-F238E27FC236}">
                    <a16:creationId xmlns:a16="http://schemas.microsoft.com/office/drawing/2014/main" id="{D8E772FF-28BD-458B-BF1E-E0226311A97F}"/>
                  </a:ext>
                </a:extLst>
              </p:cNvPr>
              <p:cNvSpPr txBox="1"/>
              <p:nvPr/>
            </p:nvSpPr>
            <p:spPr>
              <a:xfrm>
                <a:off x="4902755" y="2474764"/>
                <a:ext cx="1911982" cy="897682"/>
              </a:xfrm>
              <a:prstGeom prst="rect">
                <a:avLst/>
              </a:prstGeom>
              <a:noFill/>
            </p:spPr>
            <p:txBody>
              <a:bodyPr wrap="none" rtlCol="0">
                <a:spAutoFit/>
              </a:bodyPr>
              <a:lstStyle/>
              <a:p>
                <a:pPr>
                  <a:spcAft>
                    <a:spcPts val="800"/>
                  </a:spcAft>
                </a:pPr>
                <a:r>
                  <a:rPr lang="en-US" altLang="ko-KR" sz="1300" dirty="0">
                    <a:latin typeface="SamsungOne 400" panose="020B0503030303020204" pitchFamily="34" charset="0"/>
                    <a:ea typeface="SamsungOne 400" panose="020B0503030303020204" pitchFamily="34" charset="0"/>
                  </a:rPr>
                  <a:t>0.2</a:t>
                </a:r>
              </a:p>
              <a:p>
                <a:pPr>
                  <a:spcAft>
                    <a:spcPts val="800"/>
                  </a:spcAft>
                </a:pPr>
                <a:endParaRPr lang="en-US" sz="1300" dirty="0">
                  <a:latin typeface="SamsungOne 400" panose="020B0503030303020204" pitchFamily="34" charset="0"/>
                  <a:ea typeface="SamsungOne 400" panose="020B0503030303020204" pitchFamily="34" charset="0"/>
                </a:endParaRPr>
              </a:p>
              <a:p>
                <a:pPr>
                  <a:spcAft>
                    <a:spcPts val="800"/>
                  </a:spcAft>
                </a:pPr>
                <a:r>
                  <a:rPr lang="en-US" sz="1300" dirty="0">
                    <a:latin typeface="SamsungOne 400" panose="020B0503030303020204" pitchFamily="34" charset="0"/>
                    <a:ea typeface="SamsungOne 400" panose="020B0503030303020204" pitchFamily="34" charset="0"/>
                  </a:rPr>
                  <a:t>3/7	        0.428571</a:t>
                </a:r>
              </a:p>
            </p:txBody>
          </p:sp>
          <p:cxnSp>
            <p:nvCxnSpPr>
              <p:cNvPr id="37" name="직선 화살표 연결선 36">
                <a:extLst>
                  <a:ext uri="{FF2B5EF4-FFF2-40B4-BE49-F238E27FC236}">
                    <a16:creationId xmlns:a16="http://schemas.microsoft.com/office/drawing/2014/main" id="{F3E0BD7C-76C3-4EA9-A0DA-967D21B5B3AD}"/>
                  </a:ext>
                </a:extLst>
              </p:cNvPr>
              <p:cNvCxnSpPr>
                <a:cxnSpLocks/>
              </p:cNvCxnSpPr>
              <p:nvPr/>
            </p:nvCxnSpPr>
            <p:spPr>
              <a:xfrm>
                <a:off x="5246816" y="2653037"/>
                <a:ext cx="487801" cy="372891"/>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직선 화살표 연결선 37">
                <a:extLst>
                  <a:ext uri="{FF2B5EF4-FFF2-40B4-BE49-F238E27FC236}">
                    <a16:creationId xmlns:a16="http://schemas.microsoft.com/office/drawing/2014/main" id="{D485C8AF-96D9-4D3F-8B9F-7BD52DC84F4C}"/>
                  </a:ext>
                </a:extLst>
              </p:cNvPr>
              <p:cNvCxnSpPr/>
              <p:nvPr/>
            </p:nvCxnSpPr>
            <p:spPr>
              <a:xfrm flipV="1">
                <a:off x="5280815" y="3206353"/>
                <a:ext cx="369921" cy="3286"/>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40" name="직사각형 39">
            <a:extLst>
              <a:ext uri="{FF2B5EF4-FFF2-40B4-BE49-F238E27FC236}">
                <a16:creationId xmlns:a16="http://schemas.microsoft.com/office/drawing/2014/main" id="{CFF13702-F950-4072-BC2E-643C0F5AE239}"/>
              </a:ext>
            </a:extLst>
          </p:cNvPr>
          <p:cNvSpPr/>
          <p:nvPr/>
        </p:nvSpPr>
        <p:spPr>
          <a:xfrm>
            <a:off x="671261" y="3736165"/>
            <a:ext cx="8632825" cy="17561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The customer wouldn’t be in the shopping group for sure, but the probability is doubled.</a:t>
            </a:r>
          </a:p>
          <a:p>
            <a:pPr marL="182526" indent="-182526">
              <a:spcAft>
                <a:spcPts val="800"/>
              </a:spcAft>
              <a:buClr>
                <a:srgbClr val="193EB0"/>
              </a:buClr>
              <a:buFont typeface="SamsungOne 400" panose="020B0503030303020204" pitchFamily="34" charset="0"/>
              <a:buChar char="‣"/>
            </a:pPr>
            <a:r>
              <a:rPr lang="en-US" altLang="ko-KR" sz="1300" b="1"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Bayesian estimation </a:t>
            </a: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is</a:t>
            </a:r>
            <a:r>
              <a:rPr lang="ko-KR" altLang="en-US"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 ‘</a:t>
            </a:r>
            <a:r>
              <a:rPr lang="en-US" altLang="ko-KR" sz="1300" b="1" dirty="0">
                <a:solidFill>
                  <a:srgbClr val="FF0000"/>
                </a:solidFill>
                <a:latin typeface="SamsungOne 400" panose="020B0503030303020204" pitchFamily="34" charset="0"/>
                <a:ea typeface="SamsungOne 400" panose="020B0503030303020204" pitchFamily="34" charset="0"/>
                <a:cs typeface="Times New Roman" panose="02020603050405020304" pitchFamily="18" charset="0"/>
                <a:sym typeface="Symbol"/>
              </a:rPr>
              <a:t>performing Bayesian updating to the posterior probability based on the behavioral observation of the prior probability.</a:t>
            </a:r>
            <a:r>
              <a:rPr lang="ko-KR" altLang="en-US"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a:t>
            </a:r>
          </a:p>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Such an estimation method is called Bayesian statistics.</a:t>
            </a:r>
          </a:p>
          <a:p>
            <a:pPr marL="182526" indent="-182526">
              <a:spcAft>
                <a:spcPts val="800"/>
              </a:spcAft>
              <a:buClr>
                <a:srgbClr val="193EB0"/>
              </a:buClr>
              <a:buFont typeface="SamsungOne 400" panose="020B0503030303020204" pitchFamily="34" charset="0"/>
              <a:buChar char="‣"/>
            </a:pPr>
            <a:r>
              <a:rPr lang="en-US" altLang="ko-KR" sz="1300" b="1"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Bayes’ theorem</a:t>
            </a:r>
            <a:endParaRPr lang="ko-KR" altLang="en-US" sz="1300" b="1"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endParaRPr>
          </a:p>
          <a:p>
            <a:pPr marL="361950" lvl="1" indent="-180975">
              <a:spcAft>
                <a:spcPts val="800"/>
              </a:spcAft>
              <a:buClr>
                <a:srgbClr val="193EB0"/>
              </a:buClr>
              <a:buFont typeface="Arial" panose="020B0604020202020204" pitchFamily="34" charset="0"/>
              <a:buChar char="•"/>
            </a:pPr>
            <a:r>
              <a:rPr lang="en-US" altLang="ko-KR" sz="1300" b="1" dirty="0">
                <a:solidFill>
                  <a:srgbClr val="FF0000"/>
                </a:solidFill>
                <a:latin typeface="SamsungOne 400" panose="020B0503030303020204" pitchFamily="34" charset="0"/>
                <a:sym typeface="Symbol"/>
              </a:rPr>
              <a:t>Obtaining the posterior probability based on the prior probability</a:t>
            </a:r>
            <a:endParaRPr lang="ko-KR" altLang="en-US" sz="1300" b="1" dirty="0">
              <a:solidFill>
                <a:srgbClr val="FF0000"/>
              </a:solidFill>
              <a:latin typeface="SamsungOne 400" panose="020B0503030303020204" pitchFamily="34" charset="0"/>
              <a:sym typeface="Symbol"/>
            </a:endParaRPr>
          </a:p>
        </p:txBody>
      </p:sp>
    </p:spTree>
    <p:extLst>
      <p:ext uri="{BB962C8B-B14F-4D97-AF65-F5344CB8AC3E}">
        <p14:creationId xmlns:p14="http://schemas.microsoft.com/office/powerpoint/2010/main" val="2537412204"/>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8B1BC1D-DFB7-4482-BA23-F01AD71B1BBE}"/>
              </a:ext>
            </a:extLst>
          </p:cNvPr>
          <p:cNvSpPr/>
          <p:nvPr/>
        </p:nvSpPr>
        <p:spPr>
          <a:xfrm>
            <a:off x="546895" y="1523719"/>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Coding Exercise #0309</a:t>
            </a:r>
          </a:p>
        </p:txBody>
      </p:sp>
      <p:grpSp>
        <p:nvGrpSpPr>
          <p:cNvPr id="11" name="그룹 10">
            <a:extLst>
              <a:ext uri="{FF2B5EF4-FFF2-40B4-BE49-F238E27FC236}">
                <a16:creationId xmlns:a16="http://schemas.microsoft.com/office/drawing/2014/main" id="{A2A7775F-AE07-4A60-B96A-7B00D8607BDB}"/>
              </a:ext>
            </a:extLst>
          </p:cNvPr>
          <p:cNvGrpSpPr/>
          <p:nvPr/>
        </p:nvGrpSpPr>
        <p:grpSpPr>
          <a:xfrm>
            <a:off x="558798" y="2060849"/>
            <a:ext cx="8797129" cy="3960439"/>
            <a:chOff x="558798" y="2060849"/>
            <a:chExt cx="8797129" cy="3960439"/>
          </a:xfrm>
        </p:grpSpPr>
        <p:sp>
          <p:nvSpPr>
            <p:cNvPr id="12" name="직사각형 11">
              <a:extLst>
                <a:ext uri="{FF2B5EF4-FFF2-40B4-BE49-F238E27FC236}">
                  <a16:creationId xmlns:a16="http://schemas.microsoft.com/office/drawing/2014/main" id="{0E2B63F1-717C-45E5-9484-DF4505693008}"/>
                </a:ext>
              </a:extLst>
            </p:cNvPr>
            <p:cNvSpPr/>
            <p:nvPr/>
          </p:nvSpPr>
          <p:spPr>
            <a:xfrm>
              <a:off x="558799" y="2060849"/>
              <a:ext cx="8785225" cy="3960439"/>
            </a:xfrm>
            <a:prstGeom prst="rect">
              <a:avLst/>
            </a:prstGeom>
            <a:solidFill>
              <a:schemeClr val="accent5">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5" name="그룹 14">
              <a:extLst>
                <a:ext uri="{FF2B5EF4-FFF2-40B4-BE49-F238E27FC236}">
                  <a16:creationId xmlns:a16="http://schemas.microsoft.com/office/drawing/2014/main" id="{AC1F47E5-59C0-4468-B93D-A8F7F0C32C93}"/>
                </a:ext>
              </a:extLst>
            </p:cNvPr>
            <p:cNvGrpSpPr/>
            <p:nvPr/>
          </p:nvGrpSpPr>
          <p:grpSpPr>
            <a:xfrm>
              <a:off x="558798" y="3945816"/>
              <a:ext cx="8797129" cy="576572"/>
              <a:chOff x="4778069" y="4391025"/>
              <a:chExt cx="2349160" cy="431802"/>
            </a:xfrm>
          </p:grpSpPr>
          <p:sp>
            <p:nvSpPr>
              <p:cNvPr id="18" name="직사각형 17">
                <a:extLst>
                  <a:ext uri="{FF2B5EF4-FFF2-40B4-BE49-F238E27FC236}">
                    <a16:creationId xmlns:a16="http://schemas.microsoft.com/office/drawing/2014/main" id="{3C6A9AF5-127F-406D-B69A-2777F03F88E5}"/>
                  </a:ext>
                </a:extLst>
              </p:cNvPr>
              <p:cNvSpPr/>
              <p:nvPr/>
            </p:nvSpPr>
            <p:spPr>
              <a:xfrm>
                <a:off x="4778069" y="4391025"/>
                <a:ext cx="2349160" cy="431802"/>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sp3d>
                  <a:bevelT w="0" h="6350"/>
                </a:sp3d>
              </a:bodyPr>
              <a:lstStyle/>
              <a:p>
                <a:pPr algn="ctr"/>
                <a:endParaRPr lang="ko-KR" altLang="en-US" sz="2000" dirty="0"/>
              </a:p>
            </p:txBody>
          </p:sp>
          <p:sp>
            <p:nvSpPr>
              <p:cNvPr id="21" name="직사각형 133">
                <a:extLst>
                  <a:ext uri="{FF2B5EF4-FFF2-40B4-BE49-F238E27FC236}">
                    <a16:creationId xmlns:a16="http://schemas.microsoft.com/office/drawing/2014/main" id="{21A3736B-043B-48A0-AE25-A04C3CBB178F}"/>
                  </a:ext>
                </a:extLst>
              </p:cNvPr>
              <p:cNvSpPr/>
              <p:nvPr/>
            </p:nvSpPr>
            <p:spPr>
              <a:xfrm>
                <a:off x="4852511" y="4528465"/>
                <a:ext cx="2200275" cy="230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lgn="ctr"/>
                <a:r>
                  <a:rPr lang="en-US" altLang="ko-KR" sz="2000" dirty="0">
                    <a:solidFill>
                      <a:schemeClr val="bg1"/>
                    </a:solidFill>
                    <a:latin typeface="SamsungOne 700" panose="020B0803030303020204" pitchFamily="34" charset="0"/>
                    <a:ea typeface="SamsungOne 700" panose="020B0803030303020204" pitchFamily="34" charset="0"/>
                    <a:cs typeface="Samsung Sharp Sans" pitchFamily="2" charset="0"/>
                  </a:rPr>
                  <a:t>Follow practice steps on 'ex_0309.ipynb’ file.</a:t>
                </a:r>
              </a:p>
            </p:txBody>
          </p:sp>
        </p:grpSp>
        <p:pic>
          <p:nvPicPr>
            <p:cNvPr id="16" name="그림 15" descr="텍스트, 클립아트이(가) 표시된 사진&#10;&#10;자동 생성된 설명">
              <a:extLst>
                <a:ext uri="{FF2B5EF4-FFF2-40B4-BE49-F238E27FC236}">
                  <a16:creationId xmlns:a16="http://schemas.microsoft.com/office/drawing/2014/main" id="{70D03265-398A-4B21-9492-31D700046C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93" t="14475" r="51947" b="14299"/>
            <a:stretch/>
          </p:blipFill>
          <p:spPr>
            <a:xfrm>
              <a:off x="4370123" y="2647560"/>
              <a:ext cx="1162577" cy="1174440"/>
            </a:xfrm>
            <a:prstGeom prst="ellipse">
              <a:avLst/>
            </a:prstGeom>
          </p:spPr>
        </p:pic>
      </p:grpSp>
      <p:grpSp>
        <p:nvGrpSpPr>
          <p:cNvPr id="13" name="그룹 1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4" name="직사각형 1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5.1. Naïve Bayes Algorithm</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 Sharp Sans Medium" pitchFamily="2" charset="0"/>
                  <a:ea typeface="Samsung Sharp Sans Medium" pitchFamily="2" charset="0"/>
                  <a:cs typeface="Samsung Sharp Sans 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05</a:t>
              </a:r>
            </a:p>
          </p:txBody>
        </p:sp>
      </p:grpSp>
    </p:spTree>
    <p:extLst>
      <p:ext uri="{BB962C8B-B14F-4D97-AF65-F5344CB8AC3E}">
        <p14:creationId xmlns:p14="http://schemas.microsoft.com/office/powerpoint/2010/main" val="1378802094"/>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33">
            <a:extLst>
              <a:ext uri="{FF2B5EF4-FFF2-40B4-BE49-F238E27FC236}">
                <a16:creationId xmlns:a16="http://schemas.microsoft.com/office/drawing/2014/main" id="{551F01E8-8777-4A7B-AD71-63E7C805C68C}"/>
              </a:ext>
            </a:extLst>
          </p:cNvPr>
          <p:cNvSpPr/>
          <p:nvPr/>
        </p:nvSpPr>
        <p:spPr>
          <a:xfrm>
            <a:off x="989683" y="3133792"/>
            <a:ext cx="8913142"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KNN Algorithm</a:t>
            </a: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6.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17" name="직사각형 16">
            <a:extLst>
              <a:ext uri="{FF2B5EF4-FFF2-40B4-BE49-F238E27FC236}">
                <a16:creationId xmlns:a16="http://schemas.microsoft.com/office/drawing/2014/main" id="{88522452-0F25-4CFF-B4F1-4F97F94CF66D}"/>
              </a:ext>
            </a:extLst>
          </p:cNvPr>
          <p:cNvSpPr/>
          <p:nvPr/>
        </p:nvSpPr>
        <p:spPr>
          <a:xfrm>
            <a:off x="1054111" y="3929021"/>
            <a:ext cx="6633605"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algn="l" defTabSz="914400" rtl="0" eaLnBrk="1" fontAlgn="base" latinLnBrk="1" hangingPunct="1">
              <a:lnSpc>
                <a:spcPct val="100000"/>
              </a:lnSpc>
              <a:spcBef>
                <a:spcPct val="0"/>
              </a:spcBef>
              <a:spcAft>
                <a:spcPts val="1000"/>
              </a:spcAft>
              <a:buClrTx/>
              <a:buSzPct val="120000"/>
              <a:buBlip>
                <a:blip r:embed="rId3"/>
              </a:buBlip>
              <a:tabLst/>
              <a:defRPr/>
            </a:pPr>
            <a:r>
              <a:rPr kumimoji="1" lang="en-US" altLang="ko-KR" sz="1800" b="0" i="0" u="none" strike="noStrike" kern="1200" cap="none" spc="0" normalizeH="0" baseline="0" noProof="0" dirty="0">
                <a:ln>
                  <a:noFill/>
                </a:ln>
                <a:solidFill>
                  <a:prstClr val="black">
                    <a:lumMod val="75000"/>
                    <a:lumOff val="25000"/>
                  </a:prstClr>
                </a:solidFill>
                <a:effectLst/>
                <a:uLnTx/>
                <a:uFillTx/>
                <a:latin typeface="SamsungOne-700" panose="020B0803030303020204" pitchFamily="34" charset="0"/>
                <a:ea typeface="SamsungOne-700" panose="020B0803030303020204" pitchFamily="34" charset="0"/>
                <a:cs typeface="+mn-cs"/>
              </a:rPr>
              <a:t>6.1. KNN Algorithm</a:t>
            </a:r>
          </a:p>
        </p:txBody>
      </p:sp>
    </p:spTree>
    <p:extLst>
      <p:ext uri="{BB962C8B-B14F-4D97-AF65-F5344CB8AC3E}">
        <p14:creationId xmlns:p14="http://schemas.microsoft.com/office/powerpoint/2010/main" val="748101436"/>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6.1. KNN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06</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00" name="직사각형 199">
            <a:extLst>
              <a:ext uri="{FF2B5EF4-FFF2-40B4-BE49-F238E27FC236}">
                <a16:creationId xmlns:a16="http://schemas.microsoft.com/office/drawing/2014/main" id="{E8D21B0D-F4D1-4501-AE0A-758BD547B809}"/>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KNN Algorithm</a:t>
            </a:r>
          </a:p>
        </p:txBody>
      </p:sp>
      <p:sp>
        <p:nvSpPr>
          <p:cNvPr id="201" name="직사각형 200">
            <a:extLst>
              <a:ext uri="{FF2B5EF4-FFF2-40B4-BE49-F238E27FC236}">
                <a16:creationId xmlns:a16="http://schemas.microsoft.com/office/drawing/2014/main" id="{9C349F5D-7044-42D1-AA7E-93D389AAEE1B}"/>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KNN (K-Nearest Neighbors)</a:t>
            </a:r>
          </a:p>
        </p:txBody>
      </p:sp>
      <p:sp>
        <p:nvSpPr>
          <p:cNvPr id="202" name="직사각형 201">
            <a:extLst>
              <a:ext uri="{FF2B5EF4-FFF2-40B4-BE49-F238E27FC236}">
                <a16:creationId xmlns:a16="http://schemas.microsoft.com/office/drawing/2014/main" id="{B8AB28E7-75F6-4D64-956B-057344C4C07F}"/>
              </a:ext>
            </a:extLst>
          </p:cNvPr>
          <p:cNvSpPr/>
          <p:nvPr/>
        </p:nvSpPr>
        <p:spPr>
          <a:xfrm>
            <a:off x="672080" y="2204864"/>
            <a:ext cx="8671945" cy="15560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One of the simplest algorithms</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Prediction is based on the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𝑘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nearest neighboring points.</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There are classification and regression variants. </a:t>
            </a: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Classification: prediction decided by the majority class of the nearest neighbors. </a:t>
            </a: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Regression: prediction given by the average of the nearest neighbors.</a:t>
            </a:r>
          </a:p>
        </p:txBody>
      </p:sp>
    </p:spTree>
    <p:extLst>
      <p:ext uri="{BB962C8B-B14F-4D97-AF65-F5344CB8AC3E}">
        <p14:creationId xmlns:p14="http://schemas.microsoft.com/office/powerpoint/2010/main" val="1921909094"/>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6.1. KNN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06</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45021F61-4E56-4352-B99A-B507CFE7ACA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KNN (K-Nearest Neighbors)</a:t>
            </a:r>
          </a:p>
        </p:txBody>
      </p:sp>
      <p:sp>
        <p:nvSpPr>
          <p:cNvPr id="9" name="직사각형 8">
            <a:extLst>
              <a:ext uri="{FF2B5EF4-FFF2-40B4-BE49-F238E27FC236}">
                <a16:creationId xmlns:a16="http://schemas.microsoft.com/office/drawing/2014/main" id="{458E15E5-747C-43F6-A7F5-5EF111803D69}"/>
              </a:ext>
            </a:extLst>
          </p:cNvPr>
          <p:cNvSpPr/>
          <p:nvPr/>
        </p:nvSpPr>
        <p:spPr>
          <a:xfrm>
            <a:off x="671261" y="1700808"/>
            <a:ext cx="8672764" cy="1048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KNN is a classification and prediction technique for a dataset with the unknown category of the objective variable. It designates the most similar category of the surrounding dataset.</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For KNN, specific criteria are required for measuring the ‘analogy’ between the certain dataset and the surrounding one and how many datasets will be used for the final classification of the objective variable category. </a:t>
            </a:r>
          </a:p>
        </p:txBody>
      </p:sp>
      <p:grpSp>
        <p:nvGrpSpPr>
          <p:cNvPr id="4" name="그룹 3"/>
          <p:cNvGrpSpPr/>
          <p:nvPr/>
        </p:nvGrpSpPr>
        <p:grpSpPr>
          <a:xfrm>
            <a:off x="671260" y="2862126"/>
            <a:ext cx="8796739" cy="3411190"/>
            <a:chOff x="671260" y="2854142"/>
            <a:chExt cx="8796739" cy="3411190"/>
          </a:xfrm>
        </p:grpSpPr>
        <p:sp>
          <p:nvSpPr>
            <p:cNvPr id="11" name="직사각형 10">
              <a:extLst>
                <a:ext uri="{FF2B5EF4-FFF2-40B4-BE49-F238E27FC236}">
                  <a16:creationId xmlns:a16="http://schemas.microsoft.com/office/drawing/2014/main" id="{59D15411-C651-4F3B-B9FB-5E141C2A8497}"/>
                </a:ext>
              </a:extLst>
            </p:cNvPr>
            <p:cNvSpPr/>
            <p:nvPr/>
          </p:nvSpPr>
          <p:spPr>
            <a:xfrm>
              <a:off x="671260" y="2854142"/>
              <a:ext cx="8796739" cy="341119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1) Analogy measurement</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endParaRP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There are many ways to measure the analogy between data. In general, analogy calculation is done by</a:t>
              </a:r>
              <a:r>
                <a:rPr lang="ko-KR" altLang="en-US" sz="1300" dirty="0">
                  <a:solidFill>
                    <a:schemeClr val="tx1">
                      <a:lumMod val="85000"/>
                      <a:lumOff val="15000"/>
                    </a:schemeClr>
                  </a:solidFill>
                  <a:latin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inversing the squared Euclidean distance between two points or using the Pearson correlation coefficient. If the points are discrete variables, use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Jaccard</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coefficient.</a:t>
              </a:r>
            </a:p>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2) Objective variable classification criteria </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endParaRP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K in the KNN refers to the number of surrounding data points being used for classifying objective variables of the specific data point after measuring the analogy between the specific data point and other surrounding datasets. </a:t>
              </a:r>
            </a:p>
            <a:p>
              <a:pPr marL="361950" lvl="1" indent="-180975">
                <a:spcAft>
                  <a:spcPts val="800"/>
                </a:spcAft>
                <a:buClr>
                  <a:srgbClr val="193EB0"/>
                </a:buClr>
                <a:buFont typeface="Arial" panose="020B0604020202020204" pitchFamily="34" charset="0"/>
                <a:buChar char="•"/>
              </a:pP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0975" lvl="1">
                <a:spcAft>
                  <a:spcPts val="800"/>
                </a:spcAft>
                <a:buClr>
                  <a:srgbClr val="193EB0"/>
                </a:buClr>
              </a:pP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Likewise, K-nearest neighbor is a technique to determine a new category according to the principle of majority rule. It finds k surrounding data points similar to the specific data point and considers the classification category of the specific data point.</a:t>
              </a:r>
            </a:p>
          </p:txBody>
        </p:sp>
        <p:grpSp>
          <p:nvGrpSpPr>
            <p:cNvPr id="2" name="그룹 1">
              <a:extLst>
                <a:ext uri="{FF2B5EF4-FFF2-40B4-BE49-F238E27FC236}">
                  <a16:creationId xmlns:a16="http://schemas.microsoft.com/office/drawing/2014/main" id="{CB04E705-9AC3-45C2-9ACB-6050C89BD148}"/>
                </a:ext>
              </a:extLst>
            </p:cNvPr>
            <p:cNvGrpSpPr/>
            <p:nvPr/>
          </p:nvGrpSpPr>
          <p:grpSpPr>
            <a:xfrm>
              <a:off x="916250" y="4619658"/>
              <a:ext cx="8427775" cy="945625"/>
              <a:chOff x="801236" y="5791184"/>
              <a:chExt cx="8427775" cy="945625"/>
            </a:xfrm>
          </p:grpSpPr>
          <p:sp>
            <p:nvSpPr>
              <p:cNvPr id="17" name="사각형: 둥근 모서리 2">
                <a:extLst>
                  <a:ext uri="{FF2B5EF4-FFF2-40B4-BE49-F238E27FC236}">
                    <a16:creationId xmlns:a16="http://schemas.microsoft.com/office/drawing/2014/main" id="{70C7ECE1-056B-483C-AA8D-6487D86DAC1D}"/>
                  </a:ext>
                </a:extLst>
              </p:cNvPr>
              <p:cNvSpPr/>
              <p:nvPr/>
            </p:nvSpPr>
            <p:spPr>
              <a:xfrm>
                <a:off x="801236" y="5877336"/>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18" name="직사각형 17">
                <a:extLst>
                  <a:ext uri="{FF2B5EF4-FFF2-40B4-BE49-F238E27FC236}">
                    <a16:creationId xmlns:a16="http://schemas.microsoft.com/office/drawing/2014/main" id="{AEB4DAFD-CC03-4447-94AA-8E3DEE2C686E}"/>
                  </a:ext>
                </a:extLst>
              </p:cNvPr>
              <p:cNvSpPr/>
              <p:nvPr/>
            </p:nvSpPr>
            <p:spPr>
              <a:xfrm>
                <a:off x="1172766" y="5791184"/>
                <a:ext cx="8056245" cy="945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Take movie recommendations as an example. It recommends a movie that is similar to the customer’s favorite movie and that the customer hasn’t watched yet. When considering only one movie that is the most similar to the customer’s favorite, it is ‘1-nearest neighbor.’ When considering three similar movies, it would be ‘3-nearest neighbor.’</a:t>
                </a:r>
              </a:p>
            </p:txBody>
          </p:sp>
        </p:grpSp>
      </p:grpSp>
    </p:spTree>
    <p:extLst>
      <p:ext uri="{BB962C8B-B14F-4D97-AF65-F5344CB8AC3E}">
        <p14:creationId xmlns:p14="http://schemas.microsoft.com/office/powerpoint/2010/main" val="2076589804"/>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6.1. KNN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06</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45021F61-4E56-4352-B99A-B507CFE7ACA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KNN (K-Nearest Neighbors)</a:t>
            </a:r>
          </a:p>
        </p:txBody>
      </p:sp>
      <p:sp>
        <p:nvSpPr>
          <p:cNvPr id="9" name="직사각형 8">
            <a:extLst>
              <a:ext uri="{FF2B5EF4-FFF2-40B4-BE49-F238E27FC236}">
                <a16:creationId xmlns:a16="http://schemas.microsoft.com/office/drawing/2014/main" id="{458E15E5-747C-43F6-A7F5-5EF111803D69}"/>
              </a:ext>
            </a:extLst>
          </p:cNvPr>
          <p:cNvSpPr/>
          <p:nvPr/>
        </p:nvSpPr>
        <p:spPr>
          <a:xfrm>
            <a:off x="671261" y="4344154"/>
            <a:ext cx="8672764" cy="16483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The figure above conceptualizes the change in objective variables depending on the K value setting in the K-nearest neighbor method. The ‘☆’ point is the data value that needs to be classified; the points shaped in a square and circle are other data points present around.</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When setting K=1, since the closest data point to the star is a circle, the objective variable of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 will be classified as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 On the other hand, if K=3, three points closest to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 will be considered, including two squares and one circle. In this case,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 will be classified as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 Also, if K=5, since there are more circles around  ‘☆,’ it will be again classified as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endParaRPr>
          </a:p>
        </p:txBody>
      </p:sp>
      <p:grpSp>
        <p:nvGrpSpPr>
          <p:cNvPr id="49" name="그룹 48"/>
          <p:cNvGrpSpPr/>
          <p:nvPr/>
        </p:nvGrpSpPr>
        <p:grpSpPr>
          <a:xfrm>
            <a:off x="3584010" y="1856246"/>
            <a:ext cx="2431993" cy="2366460"/>
            <a:chOff x="3584010" y="1856246"/>
            <a:chExt cx="2431993" cy="2366460"/>
          </a:xfrm>
        </p:grpSpPr>
        <p:sp>
          <p:nvSpPr>
            <p:cNvPr id="3" name="직사각형 2"/>
            <p:cNvSpPr/>
            <p:nvPr/>
          </p:nvSpPr>
          <p:spPr>
            <a:xfrm>
              <a:off x="4008120" y="2392680"/>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p:cNvSpPr/>
            <p:nvPr/>
          </p:nvSpPr>
          <p:spPr>
            <a:xfrm>
              <a:off x="4293870" y="2343150"/>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p:cNvSpPr/>
            <p:nvPr/>
          </p:nvSpPr>
          <p:spPr>
            <a:xfrm>
              <a:off x="4575810" y="2057400"/>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p:cNvSpPr/>
            <p:nvPr/>
          </p:nvSpPr>
          <p:spPr>
            <a:xfrm>
              <a:off x="5433060" y="2301240"/>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p:cNvSpPr/>
            <p:nvPr/>
          </p:nvSpPr>
          <p:spPr>
            <a:xfrm>
              <a:off x="5578720" y="2580144"/>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p:cNvSpPr/>
            <p:nvPr/>
          </p:nvSpPr>
          <p:spPr>
            <a:xfrm>
              <a:off x="5666350" y="2926854"/>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p:cNvSpPr/>
            <p:nvPr/>
          </p:nvSpPr>
          <p:spPr>
            <a:xfrm>
              <a:off x="5628250" y="3391674"/>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p:cNvSpPr/>
            <p:nvPr/>
          </p:nvSpPr>
          <p:spPr>
            <a:xfrm>
              <a:off x="5430130" y="3483114"/>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p:cNvSpPr/>
            <p:nvPr/>
          </p:nvSpPr>
          <p:spPr>
            <a:xfrm>
              <a:off x="4191880" y="2675394"/>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a:off x="4564380" y="2693670"/>
              <a:ext cx="744855" cy="643890"/>
            </a:xfrm>
            <a:prstGeom prst="ellipse">
              <a:avLst/>
            </a:prstGeom>
            <a:solidFill>
              <a:schemeClr val="accent2">
                <a:lumMod val="20000"/>
                <a:lumOff val="80000"/>
                <a:alpha val="50000"/>
              </a:schemeClr>
            </a:solidFill>
            <a:ln w="190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4627245" y="2819623"/>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직사각형 21"/>
            <p:cNvSpPr/>
            <p:nvPr/>
          </p:nvSpPr>
          <p:spPr>
            <a:xfrm>
              <a:off x="4715315" y="3149086"/>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타원 5"/>
            <p:cNvSpPr/>
            <p:nvPr/>
          </p:nvSpPr>
          <p:spPr>
            <a:xfrm>
              <a:off x="3953473" y="286232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타원 28"/>
            <p:cNvSpPr/>
            <p:nvPr/>
          </p:nvSpPr>
          <p:spPr>
            <a:xfrm>
              <a:off x="4235695" y="3297309"/>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0" name="타원 29"/>
            <p:cNvSpPr/>
            <p:nvPr/>
          </p:nvSpPr>
          <p:spPr>
            <a:xfrm>
              <a:off x="4197595" y="3628779"/>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1" name="타원 30"/>
            <p:cNvSpPr/>
            <p:nvPr/>
          </p:nvSpPr>
          <p:spPr>
            <a:xfrm>
              <a:off x="4670035" y="3487809"/>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2" name="타원 31"/>
            <p:cNvSpPr/>
            <p:nvPr/>
          </p:nvSpPr>
          <p:spPr>
            <a:xfrm>
              <a:off x="4811005" y="3628779"/>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3" name="타원 32"/>
            <p:cNvSpPr/>
            <p:nvPr/>
          </p:nvSpPr>
          <p:spPr>
            <a:xfrm>
              <a:off x="4429723" y="291947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p:cNvSpPr/>
            <p:nvPr/>
          </p:nvSpPr>
          <p:spPr>
            <a:xfrm>
              <a:off x="4768813" y="230225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타원 34"/>
            <p:cNvSpPr/>
            <p:nvPr/>
          </p:nvSpPr>
          <p:spPr>
            <a:xfrm>
              <a:off x="5146003" y="200507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p:cNvSpPr/>
            <p:nvPr/>
          </p:nvSpPr>
          <p:spPr>
            <a:xfrm>
              <a:off x="5908003" y="258038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타원 36"/>
            <p:cNvSpPr/>
            <p:nvPr/>
          </p:nvSpPr>
          <p:spPr>
            <a:xfrm>
              <a:off x="5805133" y="321284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타원 38"/>
            <p:cNvSpPr/>
            <p:nvPr/>
          </p:nvSpPr>
          <p:spPr>
            <a:xfrm>
              <a:off x="5146003" y="371957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p:cNvSpPr/>
            <p:nvPr/>
          </p:nvSpPr>
          <p:spPr>
            <a:xfrm>
              <a:off x="4389120" y="2442211"/>
              <a:ext cx="994410" cy="910590"/>
            </a:xfrm>
            <a:prstGeom prst="ellipse">
              <a:avLst/>
            </a:prstGeom>
            <a:noFill/>
            <a:ln w="190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p:cNvSpPr txBox="1"/>
            <p:nvPr/>
          </p:nvSpPr>
          <p:spPr>
            <a:xfrm>
              <a:off x="4393852" y="2486026"/>
              <a:ext cx="294514" cy="140970"/>
            </a:xfrm>
            <a:prstGeom prst="rect">
              <a:avLst/>
            </a:prstGeom>
            <a:solidFill>
              <a:schemeClr val="bg1"/>
            </a:solidFill>
          </p:spPr>
          <p:txBody>
            <a:bodyPr wrap="none" lIns="0" tIns="0" rIns="0" bIns="0" rtlCol="0" anchor="ctr">
              <a:noAutofit/>
            </a:bodyPr>
            <a:lstStyle/>
            <a:p>
              <a:pPr algn="ctr"/>
              <a:r>
                <a:rPr lang="en-US" altLang="ko-KR" sz="1200" b="1" dirty="0">
                  <a:solidFill>
                    <a:schemeClr val="accent2">
                      <a:lumMod val="75000"/>
                    </a:schemeClr>
                  </a:solidFill>
                  <a:latin typeface="SamsungOne 400" panose="020B0503030303020204" pitchFamily="34" charset="0"/>
                  <a:ea typeface="SamsungOne 400" panose="020B0503030303020204" pitchFamily="34" charset="0"/>
                </a:rPr>
                <a:t>K=5</a:t>
              </a:r>
              <a:endParaRPr lang="ko-KR" altLang="en-US" sz="1200" b="1" dirty="0">
                <a:solidFill>
                  <a:schemeClr val="accent2">
                    <a:lumMod val="75000"/>
                  </a:schemeClr>
                </a:solidFill>
                <a:latin typeface="SamsungOne 400" panose="020B0503030303020204" pitchFamily="34" charset="0"/>
              </a:endParaRPr>
            </a:p>
          </p:txBody>
        </p:sp>
        <p:sp>
          <p:nvSpPr>
            <p:cNvPr id="41" name="TextBox 40"/>
            <p:cNvSpPr txBox="1"/>
            <p:nvPr/>
          </p:nvSpPr>
          <p:spPr>
            <a:xfrm>
              <a:off x="4777358" y="2542627"/>
              <a:ext cx="294514" cy="140970"/>
            </a:xfrm>
            <a:prstGeom prst="rect">
              <a:avLst/>
            </a:prstGeom>
            <a:solidFill>
              <a:schemeClr val="bg1"/>
            </a:solidFill>
          </p:spPr>
          <p:txBody>
            <a:bodyPr wrap="none" lIns="0" tIns="0" rIns="0" bIns="0" rtlCol="0" anchor="ctr">
              <a:noAutofit/>
            </a:bodyPr>
            <a:lstStyle/>
            <a:p>
              <a:pPr algn="ctr"/>
              <a:r>
                <a:rPr lang="en-US" altLang="ko-KR" sz="1200" b="1" dirty="0">
                  <a:solidFill>
                    <a:schemeClr val="accent2">
                      <a:lumMod val="75000"/>
                    </a:schemeClr>
                  </a:solidFill>
                  <a:latin typeface="SamsungOne 400" panose="020B0503030303020204" pitchFamily="34" charset="0"/>
                  <a:ea typeface="SamsungOne 400" panose="020B0503030303020204" pitchFamily="34" charset="0"/>
                </a:rPr>
                <a:t>K=3</a:t>
              </a:r>
              <a:endParaRPr lang="ko-KR" altLang="en-US" sz="1200" b="1" dirty="0">
                <a:solidFill>
                  <a:schemeClr val="accent2">
                    <a:lumMod val="75000"/>
                  </a:schemeClr>
                </a:solidFill>
                <a:latin typeface="SamsungOne 400" panose="020B0503030303020204" pitchFamily="34" charset="0"/>
              </a:endParaRPr>
            </a:p>
          </p:txBody>
        </p:sp>
        <p:sp>
          <p:nvSpPr>
            <p:cNvPr id="42" name="TextBox 41"/>
            <p:cNvSpPr txBox="1"/>
            <p:nvPr/>
          </p:nvSpPr>
          <p:spPr>
            <a:xfrm>
              <a:off x="5312913" y="3142476"/>
              <a:ext cx="294514" cy="140970"/>
            </a:xfrm>
            <a:prstGeom prst="rect">
              <a:avLst/>
            </a:prstGeom>
            <a:solidFill>
              <a:schemeClr val="bg1"/>
            </a:solidFill>
          </p:spPr>
          <p:txBody>
            <a:bodyPr wrap="none" lIns="0" tIns="0" rIns="0" bIns="0" rtlCol="0" anchor="ctr">
              <a:noAutofit/>
            </a:bodyPr>
            <a:lstStyle/>
            <a:p>
              <a:pPr algn="ctr"/>
              <a:r>
                <a:rPr lang="en-US" altLang="ko-KR" sz="1200" b="1" dirty="0">
                  <a:solidFill>
                    <a:schemeClr val="accent2">
                      <a:lumMod val="75000"/>
                    </a:schemeClr>
                  </a:solidFill>
                  <a:latin typeface="SamsungOne 400" panose="020B0503030303020204" pitchFamily="34" charset="0"/>
                  <a:ea typeface="SamsungOne 400" panose="020B0503030303020204" pitchFamily="34" charset="0"/>
                </a:rPr>
                <a:t>K=1</a:t>
              </a:r>
              <a:endParaRPr lang="ko-KR" altLang="en-US" sz="1200" b="1" dirty="0">
                <a:solidFill>
                  <a:schemeClr val="accent2">
                    <a:lumMod val="75000"/>
                  </a:schemeClr>
                </a:solidFill>
                <a:latin typeface="SamsungOne 400" panose="020B0503030303020204" pitchFamily="34" charset="0"/>
              </a:endParaRPr>
            </a:p>
          </p:txBody>
        </p:sp>
        <p:cxnSp>
          <p:nvCxnSpPr>
            <p:cNvPr id="43" name="직선 화살표 연결선 42"/>
            <p:cNvCxnSpPr/>
            <p:nvPr/>
          </p:nvCxnSpPr>
          <p:spPr>
            <a:xfrm flipV="1">
              <a:off x="3860807" y="1856246"/>
              <a:ext cx="0" cy="21488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직선 화살표 연결선 45"/>
            <p:cNvCxnSpPr/>
            <p:nvPr/>
          </p:nvCxnSpPr>
          <p:spPr>
            <a:xfrm>
              <a:off x="3871292" y="4005064"/>
              <a:ext cx="214471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584010" y="1945449"/>
              <a:ext cx="235284" cy="140970"/>
            </a:xfrm>
            <a:prstGeom prst="rect">
              <a:avLst/>
            </a:prstGeom>
            <a:solidFill>
              <a:schemeClr val="bg1"/>
            </a:solidFill>
          </p:spPr>
          <p:txBody>
            <a:bodyPr wrap="none" lIns="0" tIns="0" rIns="0" bIns="0" rtlCol="0" anchor="ctr">
              <a:noAutofit/>
            </a:bodyPr>
            <a:lstStyle/>
            <a:p>
              <a:pPr algn="ctr"/>
              <a:r>
                <a:rPr lang="en-US" altLang="ko-KR" sz="1200" b="1" dirty="0">
                  <a:latin typeface="SamsungOne 400" panose="020B0503030303020204" pitchFamily="34" charset="0"/>
                  <a:ea typeface="SamsungOne 400" panose="020B0503030303020204" pitchFamily="34" charset="0"/>
                </a:rPr>
                <a:t>X2</a:t>
              </a:r>
              <a:endParaRPr lang="ko-KR" altLang="en-US" sz="1200" b="1" dirty="0">
                <a:latin typeface="SamsungOne 400" panose="020B0503030303020204" pitchFamily="34" charset="0"/>
              </a:endParaRPr>
            </a:p>
          </p:txBody>
        </p:sp>
        <p:sp>
          <p:nvSpPr>
            <p:cNvPr id="48" name="TextBox 47"/>
            <p:cNvSpPr txBox="1"/>
            <p:nvPr/>
          </p:nvSpPr>
          <p:spPr>
            <a:xfrm>
              <a:off x="5717785" y="4081736"/>
              <a:ext cx="235284" cy="140970"/>
            </a:xfrm>
            <a:prstGeom prst="rect">
              <a:avLst/>
            </a:prstGeom>
            <a:solidFill>
              <a:schemeClr val="bg1"/>
            </a:solidFill>
          </p:spPr>
          <p:txBody>
            <a:bodyPr wrap="none" lIns="0" tIns="0" rIns="0" bIns="0" rtlCol="0" anchor="ctr">
              <a:noAutofit/>
            </a:bodyPr>
            <a:lstStyle/>
            <a:p>
              <a:pPr algn="ctr"/>
              <a:r>
                <a:rPr lang="en-US" altLang="ko-KR" sz="1200" b="1" dirty="0">
                  <a:latin typeface="SamsungOne 400" panose="020B0503030303020204" pitchFamily="34" charset="0"/>
                  <a:ea typeface="SamsungOne 400" panose="020B0503030303020204" pitchFamily="34" charset="0"/>
                </a:rPr>
                <a:t>X1</a:t>
              </a:r>
              <a:endParaRPr lang="ko-KR" altLang="en-US" sz="1200" b="1" dirty="0">
                <a:latin typeface="SamsungOne 400" panose="020B0503030303020204" pitchFamily="34" charset="0"/>
              </a:endParaRPr>
            </a:p>
          </p:txBody>
        </p:sp>
        <p:sp>
          <p:nvSpPr>
            <p:cNvPr id="5" name="타원 4"/>
            <p:cNvSpPr/>
            <p:nvPr/>
          </p:nvSpPr>
          <p:spPr>
            <a:xfrm>
              <a:off x="4879404" y="2830830"/>
              <a:ext cx="421005" cy="428746"/>
            </a:xfrm>
            <a:prstGeom prst="ellipse">
              <a:avLst/>
            </a:prstGeom>
            <a:solidFill>
              <a:schemeClr val="accent2">
                <a:lumMod val="40000"/>
                <a:lumOff val="60000"/>
                <a:alpha val="74000"/>
              </a:schemeClr>
            </a:solidFill>
            <a:ln w="190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포인트가 5개인 별 3"/>
            <p:cNvSpPr/>
            <p:nvPr/>
          </p:nvSpPr>
          <p:spPr>
            <a:xfrm>
              <a:off x="4888230" y="2808744"/>
              <a:ext cx="281940" cy="281940"/>
            </a:xfrm>
            <a:prstGeom prst="star5">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5159338" y="309854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16915944"/>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6.1. KNN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06</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45021F61-4E56-4352-B99A-B507CFE7ACA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KNN (K-Nearest Neighbors)</a:t>
            </a:r>
          </a:p>
        </p:txBody>
      </p:sp>
      <p:sp>
        <p:nvSpPr>
          <p:cNvPr id="9" name="직사각형 8">
            <a:extLst>
              <a:ext uri="{FF2B5EF4-FFF2-40B4-BE49-F238E27FC236}">
                <a16:creationId xmlns:a16="http://schemas.microsoft.com/office/drawing/2014/main" id="{458E15E5-747C-43F6-A7F5-5EF111803D69}"/>
              </a:ext>
            </a:extLst>
          </p:cNvPr>
          <p:cNvSpPr/>
          <p:nvPr/>
        </p:nvSpPr>
        <p:spPr>
          <a:xfrm>
            <a:off x="671260" y="4365948"/>
            <a:ext cx="8888663" cy="14483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Thus, different K values significantly change the K-nearest neighbor’s predicted result of the objective variable category. This is why setting an appropriate K value is important in the K-nearest neighbor method.</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However, there are no clear theoretical or statistical standards for an appropriate K value. Different K values are usually set for repeated tests, and the final K value is set once it shows the optimal classification performance. Generally, a random initial K value is designated between K=3 and K=9, which is then used to test the classification performance with training and evaluation data to select the optimal K value.</a:t>
            </a:r>
          </a:p>
        </p:txBody>
      </p:sp>
      <p:grpSp>
        <p:nvGrpSpPr>
          <p:cNvPr id="120" name="그룹 119"/>
          <p:cNvGrpSpPr/>
          <p:nvPr/>
        </p:nvGrpSpPr>
        <p:grpSpPr>
          <a:xfrm>
            <a:off x="3584010" y="1856246"/>
            <a:ext cx="2431993" cy="2366460"/>
            <a:chOff x="3584010" y="1856246"/>
            <a:chExt cx="2431993" cy="2366460"/>
          </a:xfrm>
        </p:grpSpPr>
        <p:sp>
          <p:nvSpPr>
            <p:cNvPr id="121" name="직사각형 120"/>
            <p:cNvSpPr/>
            <p:nvPr/>
          </p:nvSpPr>
          <p:spPr>
            <a:xfrm>
              <a:off x="4008120" y="2392680"/>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직사각형 121"/>
            <p:cNvSpPr/>
            <p:nvPr/>
          </p:nvSpPr>
          <p:spPr>
            <a:xfrm>
              <a:off x="4293870" y="2343150"/>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직사각형 122"/>
            <p:cNvSpPr/>
            <p:nvPr/>
          </p:nvSpPr>
          <p:spPr>
            <a:xfrm>
              <a:off x="4575810" y="2057400"/>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직사각형 123"/>
            <p:cNvSpPr/>
            <p:nvPr/>
          </p:nvSpPr>
          <p:spPr>
            <a:xfrm>
              <a:off x="5433060" y="2301240"/>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5" name="직사각형 124"/>
            <p:cNvSpPr/>
            <p:nvPr/>
          </p:nvSpPr>
          <p:spPr>
            <a:xfrm>
              <a:off x="5578720" y="2580144"/>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6" name="직사각형 125"/>
            <p:cNvSpPr/>
            <p:nvPr/>
          </p:nvSpPr>
          <p:spPr>
            <a:xfrm>
              <a:off x="5666350" y="2926854"/>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7" name="직사각형 126"/>
            <p:cNvSpPr/>
            <p:nvPr/>
          </p:nvSpPr>
          <p:spPr>
            <a:xfrm>
              <a:off x="5628250" y="3391674"/>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8" name="직사각형 127"/>
            <p:cNvSpPr/>
            <p:nvPr/>
          </p:nvSpPr>
          <p:spPr>
            <a:xfrm>
              <a:off x="5430130" y="3483114"/>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9" name="직사각형 128"/>
            <p:cNvSpPr/>
            <p:nvPr/>
          </p:nvSpPr>
          <p:spPr>
            <a:xfrm>
              <a:off x="4191880" y="2675394"/>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0" name="타원 129"/>
            <p:cNvSpPr/>
            <p:nvPr/>
          </p:nvSpPr>
          <p:spPr>
            <a:xfrm>
              <a:off x="4564380" y="2693670"/>
              <a:ext cx="744855" cy="643890"/>
            </a:xfrm>
            <a:prstGeom prst="ellipse">
              <a:avLst/>
            </a:prstGeom>
            <a:solidFill>
              <a:schemeClr val="accent2">
                <a:lumMod val="20000"/>
                <a:lumOff val="80000"/>
                <a:alpha val="50000"/>
              </a:schemeClr>
            </a:solidFill>
            <a:ln w="190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1" name="직사각형 130"/>
            <p:cNvSpPr/>
            <p:nvPr/>
          </p:nvSpPr>
          <p:spPr>
            <a:xfrm>
              <a:off x="4627245" y="2819623"/>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2" name="직사각형 131"/>
            <p:cNvSpPr/>
            <p:nvPr/>
          </p:nvSpPr>
          <p:spPr>
            <a:xfrm>
              <a:off x="4715315" y="3149086"/>
              <a:ext cx="102870" cy="110490"/>
            </a:xfrm>
            <a:prstGeom prst="rect">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3" name="타원 132"/>
            <p:cNvSpPr/>
            <p:nvPr/>
          </p:nvSpPr>
          <p:spPr>
            <a:xfrm>
              <a:off x="3953473" y="286232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4" name="타원 133"/>
            <p:cNvSpPr/>
            <p:nvPr/>
          </p:nvSpPr>
          <p:spPr>
            <a:xfrm>
              <a:off x="4235695" y="3297309"/>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5" name="타원 134"/>
            <p:cNvSpPr/>
            <p:nvPr/>
          </p:nvSpPr>
          <p:spPr>
            <a:xfrm>
              <a:off x="4197595" y="3628779"/>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6" name="타원 135"/>
            <p:cNvSpPr/>
            <p:nvPr/>
          </p:nvSpPr>
          <p:spPr>
            <a:xfrm>
              <a:off x="4670035" y="3487809"/>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7" name="타원 136"/>
            <p:cNvSpPr/>
            <p:nvPr/>
          </p:nvSpPr>
          <p:spPr>
            <a:xfrm>
              <a:off x="4811005" y="3628779"/>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8" name="타원 137"/>
            <p:cNvSpPr/>
            <p:nvPr/>
          </p:nvSpPr>
          <p:spPr>
            <a:xfrm>
              <a:off x="4429723" y="291947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9" name="타원 138"/>
            <p:cNvSpPr/>
            <p:nvPr/>
          </p:nvSpPr>
          <p:spPr>
            <a:xfrm>
              <a:off x="4768813" y="230225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0" name="타원 139"/>
            <p:cNvSpPr/>
            <p:nvPr/>
          </p:nvSpPr>
          <p:spPr>
            <a:xfrm>
              <a:off x="5146003" y="200507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1" name="타원 140"/>
            <p:cNvSpPr/>
            <p:nvPr/>
          </p:nvSpPr>
          <p:spPr>
            <a:xfrm>
              <a:off x="5908003" y="258038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2" name="타원 141"/>
            <p:cNvSpPr/>
            <p:nvPr/>
          </p:nvSpPr>
          <p:spPr>
            <a:xfrm>
              <a:off x="5805133" y="321284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3" name="타원 142"/>
            <p:cNvSpPr/>
            <p:nvPr/>
          </p:nvSpPr>
          <p:spPr>
            <a:xfrm>
              <a:off x="5146003" y="371957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4" name="타원 143"/>
            <p:cNvSpPr/>
            <p:nvPr/>
          </p:nvSpPr>
          <p:spPr>
            <a:xfrm>
              <a:off x="4389120" y="2442211"/>
              <a:ext cx="994410" cy="910590"/>
            </a:xfrm>
            <a:prstGeom prst="ellipse">
              <a:avLst/>
            </a:prstGeom>
            <a:noFill/>
            <a:ln w="190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5" name="TextBox 144"/>
            <p:cNvSpPr txBox="1"/>
            <p:nvPr/>
          </p:nvSpPr>
          <p:spPr>
            <a:xfrm>
              <a:off x="4393852" y="2486026"/>
              <a:ext cx="294514" cy="140970"/>
            </a:xfrm>
            <a:prstGeom prst="rect">
              <a:avLst/>
            </a:prstGeom>
            <a:solidFill>
              <a:schemeClr val="bg1"/>
            </a:solidFill>
          </p:spPr>
          <p:txBody>
            <a:bodyPr wrap="none" lIns="0" tIns="0" rIns="0" bIns="0" rtlCol="0" anchor="ctr">
              <a:noAutofit/>
            </a:bodyPr>
            <a:lstStyle/>
            <a:p>
              <a:pPr algn="ctr"/>
              <a:r>
                <a:rPr lang="en-US" altLang="ko-KR" sz="1200" b="1" dirty="0">
                  <a:solidFill>
                    <a:schemeClr val="accent2">
                      <a:lumMod val="75000"/>
                    </a:schemeClr>
                  </a:solidFill>
                  <a:latin typeface="SamsungOne 400" panose="020B0503030303020204" pitchFamily="34" charset="0"/>
                  <a:ea typeface="SamsungOne 400" panose="020B0503030303020204" pitchFamily="34" charset="0"/>
                </a:rPr>
                <a:t>K=5</a:t>
              </a:r>
              <a:endParaRPr lang="ko-KR" altLang="en-US" sz="1200" b="1" dirty="0">
                <a:solidFill>
                  <a:schemeClr val="accent2">
                    <a:lumMod val="75000"/>
                  </a:schemeClr>
                </a:solidFill>
                <a:latin typeface="SamsungOne 400" panose="020B0503030303020204" pitchFamily="34" charset="0"/>
              </a:endParaRPr>
            </a:p>
          </p:txBody>
        </p:sp>
        <p:sp>
          <p:nvSpPr>
            <p:cNvPr id="146" name="TextBox 145"/>
            <p:cNvSpPr txBox="1"/>
            <p:nvPr/>
          </p:nvSpPr>
          <p:spPr>
            <a:xfrm>
              <a:off x="4777358" y="2542627"/>
              <a:ext cx="294514" cy="140970"/>
            </a:xfrm>
            <a:prstGeom prst="rect">
              <a:avLst/>
            </a:prstGeom>
            <a:solidFill>
              <a:schemeClr val="bg1"/>
            </a:solidFill>
          </p:spPr>
          <p:txBody>
            <a:bodyPr wrap="none" lIns="0" tIns="0" rIns="0" bIns="0" rtlCol="0" anchor="ctr">
              <a:noAutofit/>
            </a:bodyPr>
            <a:lstStyle/>
            <a:p>
              <a:pPr algn="ctr"/>
              <a:r>
                <a:rPr lang="en-US" altLang="ko-KR" sz="1200" b="1" dirty="0">
                  <a:solidFill>
                    <a:schemeClr val="accent2">
                      <a:lumMod val="75000"/>
                    </a:schemeClr>
                  </a:solidFill>
                  <a:latin typeface="SamsungOne 400" panose="020B0503030303020204" pitchFamily="34" charset="0"/>
                  <a:ea typeface="SamsungOne 400" panose="020B0503030303020204" pitchFamily="34" charset="0"/>
                </a:rPr>
                <a:t>K=3</a:t>
              </a:r>
              <a:endParaRPr lang="ko-KR" altLang="en-US" sz="1200" b="1" dirty="0">
                <a:solidFill>
                  <a:schemeClr val="accent2">
                    <a:lumMod val="75000"/>
                  </a:schemeClr>
                </a:solidFill>
                <a:latin typeface="SamsungOne 400" panose="020B0503030303020204" pitchFamily="34" charset="0"/>
              </a:endParaRPr>
            </a:p>
          </p:txBody>
        </p:sp>
        <p:sp>
          <p:nvSpPr>
            <p:cNvPr id="147" name="TextBox 146"/>
            <p:cNvSpPr txBox="1"/>
            <p:nvPr/>
          </p:nvSpPr>
          <p:spPr>
            <a:xfrm>
              <a:off x="5312913" y="3142476"/>
              <a:ext cx="294514" cy="140970"/>
            </a:xfrm>
            <a:prstGeom prst="rect">
              <a:avLst/>
            </a:prstGeom>
            <a:solidFill>
              <a:schemeClr val="bg1"/>
            </a:solidFill>
          </p:spPr>
          <p:txBody>
            <a:bodyPr wrap="none" lIns="0" tIns="0" rIns="0" bIns="0" rtlCol="0" anchor="ctr">
              <a:noAutofit/>
            </a:bodyPr>
            <a:lstStyle/>
            <a:p>
              <a:pPr algn="ctr"/>
              <a:r>
                <a:rPr lang="en-US" altLang="ko-KR" sz="1200" b="1" dirty="0">
                  <a:solidFill>
                    <a:schemeClr val="accent2">
                      <a:lumMod val="75000"/>
                    </a:schemeClr>
                  </a:solidFill>
                  <a:latin typeface="SamsungOne 400" panose="020B0503030303020204" pitchFamily="34" charset="0"/>
                  <a:ea typeface="SamsungOne 400" panose="020B0503030303020204" pitchFamily="34" charset="0"/>
                </a:rPr>
                <a:t>K=1</a:t>
              </a:r>
              <a:endParaRPr lang="ko-KR" altLang="en-US" sz="1200" b="1" dirty="0">
                <a:solidFill>
                  <a:schemeClr val="accent2">
                    <a:lumMod val="75000"/>
                  </a:schemeClr>
                </a:solidFill>
                <a:latin typeface="SamsungOne 400" panose="020B0503030303020204" pitchFamily="34" charset="0"/>
              </a:endParaRPr>
            </a:p>
          </p:txBody>
        </p:sp>
        <p:cxnSp>
          <p:nvCxnSpPr>
            <p:cNvPr id="148" name="직선 화살표 연결선 147"/>
            <p:cNvCxnSpPr/>
            <p:nvPr/>
          </p:nvCxnSpPr>
          <p:spPr>
            <a:xfrm flipV="1">
              <a:off x="3860807" y="1856246"/>
              <a:ext cx="0" cy="21488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직선 화살표 연결선 148"/>
            <p:cNvCxnSpPr/>
            <p:nvPr/>
          </p:nvCxnSpPr>
          <p:spPr>
            <a:xfrm>
              <a:off x="3871292" y="4005064"/>
              <a:ext cx="214471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0" name="TextBox 149"/>
            <p:cNvSpPr txBox="1"/>
            <p:nvPr/>
          </p:nvSpPr>
          <p:spPr>
            <a:xfrm>
              <a:off x="3584010" y="1945449"/>
              <a:ext cx="235284" cy="140970"/>
            </a:xfrm>
            <a:prstGeom prst="rect">
              <a:avLst/>
            </a:prstGeom>
            <a:solidFill>
              <a:schemeClr val="bg1"/>
            </a:solidFill>
          </p:spPr>
          <p:txBody>
            <a:bodyPr wrap="none" lIns="0" tIns="0" rIns="0" bIns="0" rtlCol="0" anchor="ctr">
              <a:noAutofit/>
            </a:bodyPr>
            <a:lstStyle/>
            <a:p>
              <a:pPr algn="ctr"/>
              <a:r>
                <a:rPr lang="en-US" altLang="ko-KR" sz="1200" b="1" dirty="0">
                  <a:latin typeface="SamsungOne 400" panose="020B0503030303020204" pitchFamily="34" charset="0"/>
                  <a:ea typeface="SamsungOne 400" panose="020B0503030303020204" pitchFamily="34" charset="0"/>
                </a:rPr>
                <a:t>X2</a:t>
              </a:r>
              <a:endParaRPr lang="ko-KR" altLang="en-US" sz="1200" b="1" dirty="0">
                <a:latin typeface="SamsungOne 400" panose="020B0503030303020204" pitchFamily="34" charset="0"/>
              </a:endParaRPr>
            </a:p>
          </p:txBody>
        </p:sp>
        <p:sp>
          <p:nvSpPr>
            <p:cNvPr id="151" name="TextBox 150"/>
            <p:cNvSpPr txBox="1"/>
            <p:nvPr/>
          </p:nvSpPr>
          <p:spPr>
            <a:xfrm>
              <a:off x="5717785" y="4081736"/>
              <a:ext cx="235284" cy="140970"/>
            </a:xfrm>
            <a:prstGeom prst="rect">
              <a:avLst/>
            </a:prstGeom>
            <a:solidFill>
              <a:schemeClr val="bg1"/>
            </a:solidFill>
          </p:spPr>
          <p:txBody>
            <a:bodyPr wrap="none" lIns="0" tIns="0" rIns="0" bIns="0" rtlCol="0" anchor="ctr">
              <a:noAutofit/>
            </a:bodyPr>
            <a:lstStyle/>
            <a:p>
              <a:pPr algn="ctr"/>
              <a:r>
                <a:rPr lang="en-US" altLang="ko-KR" sz="1200" b="1" dirty="0">
                  <a:latin typeface="SamsungOne 400" panose="020B0503030303020204" pitchFamily="34" charset="0"/>
                  <a:ea typeface="SamsungOne 400" panose="020B0503030303020204" pitchFamily="34" charset="0"/>
                </a:rPr>
                <a:t>X1</a:t>
              </a:r>
              <a:endParaRPr lang="ko-KR" altLang="en-US" sz="1200" b="1" dirty="0">
                <a:latin typeface="SamsungOne 400" panose="020B0503030303020204" pitchFamily="34" charset="0"/>
              </a:endParaRPr>
            </a:p>
          </p:txBody>
        </p:sp>
        <p:sp>
          <p:nvSpPr>
            <p:cNvPr id="152" name="타원 151"/>
            <p:cNvSpPr/>
            <p:nvPr/>
          </p:nvSpPr>
          <p:spPr>
            <a:xfrm>
              <a:off x="4879404" y="2830830"/>
              <a:ext cx="421005" cy="428746"/>
            </a:xfrm>
            <a:prstGeom prst="ellipse">
              <a:avLst/>
            </a:prstGeom>
            <a:solidFill>
              <a:schemeClr val="accent2">
                <a:lumMod val="40000"/>
                <a:lumOff val="60000"/>
                <a:alpha val="74000"/>
              </a:schemeClr>
            </a:solidFill>
            <a:ln w="190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3" name="포인트가 5개인 별 152"/>
            <p:cNvSpPr/>
            <p:nvPr/>
          </p:nvSpPr>
          <p:spPr>
            <a:xfrm>
              <a:off x="4888230" y="2808744"/>
              <a:ext cx="281940" cy="281940"/>
            </a:xfrm>
            <a:prstGeom prst="star5">
              <a:avLst/>
            </a:prstGeom>
            <a:no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4" name="타원 153"/>
            <p:cNvSpPr/>
            <p:nvPr/>
          </p:nvSpPr>
          <p:spPr>
            <a:xfrm>
              <a:off x="5159338" y="3098543"/>
              <a:ext cx="108000" cy="108000"/>
            </a:xfrm>
            <a:prstGeom prst="ellipse">
              <a:avLst/>
            </a:prstGeom>
            <a:solidFill>
              <a:schemeClr val="accent5">
                <a:lumMod val="20000"/>
                <a:lumOff val="80000"/>
              </a:schemeClr>
            </a:solidFill>
            <a:ln w="1905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916119331"/>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6.1. KNN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06</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45021F61-4E56-4352-B99A-B507CFE7ACA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Pros</a:t>
            </a:r>
          </a:p>
        </p:txBody>
      </p:sp>
      <p:sp>
        <p:nvSpPr>
          <p:cNvPr id="9" name="직사각형 8">
            <a:extLst>
              <a:ext uri="{FF2B5EF4-FFF2-40B4-BE49-F238E27FC236}">
                <a16:creationId xmlns:a16="http://schemas.microsoft.com/office/drawing/2014/main" id="{458E15E5-747C-43F6-A7F5-5EF111803D69}"/>
              </a:ext>
            </a:extLst>
          </p:cNvPr>
          <p:cNvSpPr/>
          <p:nvPr/>
        </p:nvSpPr>
        <p:spPr>
          <a:xfrm>
            <a:off x="671261" y="1700808"/>
            <a:ext cx="8672764"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Simple and intuitive</a:t>
            </a:r>
          </a:p>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No model parameters to calculate. So, there is no training step.</a:t>
            </a:r>
          </a:p>
        </p:txBody>
      </p:sp>
      <p:sp>
        <p:nvSpPr>
          <p:cNvPr id="12" name="직사각형 11">
            <a:extLst>
              <a:ext uri="{FF2B5EF4-FFF2-40B4-BE49-F238E27FC236}">
                <a16:creationId xmlns:a16="http://schemas.microsoft.com/office/drawing/2014/main" id="{C60E1376-8460-471C-ACF4-8EC78BCEE42E}"/>
              </a:ext>
            </a:extLst>
          </p:cNvPr>
          <p:cNvSpPr/>
          <p:nvPr/>
        </p:nvSpPr>
        <p:spPr>
          <a:xfrm>
            <a:off x="558924" y="2564904"/>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Cons</a:t>
            </a:r>
          </a:p>
        </p:txBody>
      </p:sp>
      <p:sp>
        <p:nvSpPr>
          <p:cNvPr id="13" name="직사각형 12">
            <a:extLst>
              <a:ext uri="{FF2B5EF4-FFF2-40B4-BE49-F238E27FC236}">
                <a16:creationId xmlns:a16="http://schemas.microsoft.com/office/drawing/2014/main" id="{1D35D472-1FDF-429B-AA5C-1C9C0EDC46BD}"/>
              </a:ext>
            </a:extLst>
          </p:cNvPr>
          <p:cNvSpPr/>
          <p:nvPr/>
        </p:nvSpPr>
        <p:spPr>
          <a:xfrm>
            <a:off x="671261" y="2836967"/>
            <a:ext cx="8672764"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Since there is no “model,” little insight can be extracted.</a:t>
            </a:r>
          </a:p>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No model parameters that store the learned pattern. The training dataset is required for prediction.</a:t>
            </a:r>
          </a:p>
          <a:p>
            <a:pPr marL="182526" indent="-182526">
              <a:spcAft>
                <a:spcPts val="800"/>
              </a:spcAft>
              <a:buClr>
                <a:srgbClr val="193EB0"/>
              </a:buClr>
              <a:buFont typeface="SamsungOne 400" panose="020B0503030303020204" pitchFamily="34" charset="0"/>
              <a:buChar char="‣"/>
            </a:pPr>
            <a:r>
              <a:rPr lang="en-US" altLang="ko-KR" sz="1300" dirty="0">
                <a:solidFill>
                  <a:prstClr val="black"/>
                </a:solidFill>
                <a:latin typeface="SamsungOne 400" panose="020B0503030303020204" pitchFamily="34" charset="0"/>
                <a:ea typeface="SamsungOne 400" panose="020B0503030303020204" pitchFamily="34" charset="0"/>
                <a:cs typeface="Times New Roman" panose="02020603050405020304" pitchFamily="18" charset="0"/>
                <a:sym typeface="Symbol"/>
              </a:rPr>
              <a:t>Prediction is not efficient ⇨ “Lazy algorithm.”</a:t>
            </a:r>
          </a:p>
        </p:txBody>
      </p:sp>
    </p:spTree>
    <p:extLst>
      <p:ext uri="{BB962C8B-B14F-4D97-AF65-F5344CB8AC3E}">
        <p14:creationId xmlns:p14="http://schemas.microsoft.com/office/powerpoint/2010/main" val="3319259884"/>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6.1. KNN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06</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45021F61-4E56-4352-B99A-B507CFE7ACA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KNN classification algorithm</a:t>
            </a:r>
          </a:p>
        </p:txBody>
      </p:sp>
      <p:grpSp>
        <p:nvGrpSpPr>
          <p:cNvPr id="3" name="그룹 2"/>
          <p:cNvGrpSpPr/>
          <p:nvPr/>
        </p:nvGrpSpPr>
        <p:grpSpPr>
          <a:xfrm>
            <a:off x="2071479" y="1808820"/>
            <a:ext cx="5868266" cy="3527970"/>
            <a:chOff x="2071479" y="1881250"/>
            <a:chExt cx="5868266" cy="3527970"/>
          </a:xfrm>
        </p:grpSpPr>
        <p:sp>
          <p:nvSpPr>
            <p:cNvPr id="49" name="모서리가 둥근 직사각형 4">
              <a:extLst>
                <a:ext uri="{FF2B5EF4-FFF2-40B4-BE49-F238E27FC236}">
                  <a16:creationId xmlns:a16="http://schemas.microsoft.com/office/drawing/2014/main" id="{39938F0C-B3F5-4BA9-BBA1-5B5F991A84A5}"/>
                </a:ext>
              </a:extLst>
            </p:cNvPr>
            <p:cNvSpPr/>
            <p:nvPr/>
          </p:nvSpPr>
          <p:spPr>
            <a:xfrm>
              <a:off x="2071479" y="1881250"/>
              <a:ext cx="5868266" cy="3527970"/>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2" name="그룹 1">
              <a:extLst>
                <a:ext uri="{FF2B5EF4-FFF2-40B4-BE49-F238E27FC236}">
                  <a16:creationId xmlns:a16="http://schemas.microsoft.com/office/drawing/2014/main" id="{E9DB36F4-0B36-4DDD-A4F9-BB92DB02CB89}"/>
                </a:ext>
              </a:extLst>
            </p:cNvPr>
            <p:cNvGrpSpPr/>
            <p:nvPr/>
          </p:nvGrpSpPr>
          <p:grpSpPr>
            <a:xfrm>
              <a:off x="2512141" y="2007839"/>
              <a:ext cx="4878541" cy="3077345"/>
              <a:chOff x="3511684" y="2075248"/>
              <a:chExt cx="4878541" cy="3077345"/>
            </a:xfrm>
          </p:grpSpPr>
          <p:grpSp>
            <p:nvGrpSpPr>
              <p:cNvPr id="10" name="그룹 9">
                <a:extLst>
                  <a:ext uri="{FF2B5EF4-FFF2-40B4-BE49-F238E27FC236}">
                    <a16:creationId xmlns:a16="http://schemas.microsoft.com/office/drawing/2014/main" id="{89A8EB77-3124-44CC-B397-22380832279A}"/>
                  </a:ext>
                </a:extLst>
              </p:cNvPr>
              <p:cNvGrpSpPr/>
              <p:nvPr/>
            </p:nvGrpSpPr>
            <p:grpSpPr>
              <a:xfrm>
                <a:off x="3511684" y="2537715"/>
                <a:ext cx="2879458" cy="2614878"/>
                <a:chOff x="4101330" y="2084207"/>
                <a:chExt cx="4637020" cy="3969304"/>
              </a:xfrm>
            </p:grpSpPr>
            <p:sp>
              <p:nvSpPr>
                <p:cNvPr id="11" name="Oval 51">
                  <a:extLst>
                    <a:ext uri="{FF2B5EF4-FFF2-40B4-BE49-F238E27FC236}">
                      <a16:creationId xmlns:a16="http://schemas.microsoft.com/office/drawing/2014/main" id="{10A2ED6F-950A-422E-9B58-D12376D77812}"/>
                    </a:ext>
                  </a:extLst>
                </p:cNvPr>
                <p:cNvSpPr/>
                <p:nvPr/>
              </p:nvSpPr>
              <p:spPr>
                <a:xfrm>
                  <a:off x="4603707" y="2283160"/>
                  <a:ext cx="314998" cy="295041"/>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Isosceles Triangle 52">
                  <a:extLst>
                    <a:ext uri="{FF2B5EF4-FFF2-40B4-BE49-F238E27FC236}">
                      <a16:creationId xmlns:a16="http://schemas.microsoft.com/office/drawing/2014/main" id="{A1A43A68-119F-4CBF-B336-173F648F93E1}"/>
                    </a:ext>
                  </a:extLst>
                </p:cNvPr>
                <p:cNvSpPr/>
                <p:nvPr/>
              </p:nvSpPr>
              <p:spPr>
                <a:xfrm>
                  <a:off x="5801544" y="3916350"/>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53">
                  <a:extLst>
                    <a:ext uri="{FF2B5EF4-FFF2-40B4-BE49-F238E27FC236}">
                      <a16:creationId xmlns:a16="http://schemas.microsoft.com/office/drawing/2014/main" id="{FCCD4C0E-9A20-451D-ADA2-17C7A0DD56FC}"/>
                    </a:ext>
                  </a:extLst>
                </p:cNvPr>
                <p:cNvSpPr/>
                <p:nvPr/>
              </p:nvSpPr>
              <p:spPr>
                <a:xfrm>
                  <a:off x="4469421" y="3163768"/>
                  <a:ext cx="314998" cy="295041"/>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6" name="Isosceles Triangle 54">
                  <a:extLst>
                    <a:ext uri="{FF2B5EF4-FFF2-40B4-BE49-F238E27FC236}">
                      <a16:creationId xmlns:a16="http://schemas.microsoft.com/office/drawing/2014/main" id="{A4F16245-78D9-450E-B8BC-B1A3D95D91CE}"/>
                    </a:ext>
                  </a:extLst>
                </p:cNvPr>
                <p:cNvSpPr/>
                <p:nvPr/>
              </p:nvSpPr>
              <p:spPr>
                <a:xfrm>
                  <a:off x="5386821" y="2084207"/>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55">
                  <a:extLst>
                    <a:ext uri="{FF2B5EF4-FFF2-40B4-BE49-F238E27FC236}">
                      <a16:creationId xmlns:a16="http://schemas.microsoft.com/office/drawing/2014/main" id="{570628EC-C9DF-43E5-B7E0-B49B5CD2A7A0}"/>
                    </a:ext>
                  </a:extLst>
                </p:cNvPr>
                <p:cNvSpPr/>
                <p:nvPr/>
              </p:nvSpPr>
              <p:spPr>
                <a:xfrm>
                  <a:off x="5385326" y="3050065"/>
                  <a:ext cx="314998" cy="295041"/>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8" name="Isosceles Triangle 56">
                  <a:extLst>
                    <a:ext uri="{FF2B5EF4-FFF2-40B4-BE49-F238E27FC236}">
                      <a16:creationId xmlns:a16="http://schemas.microsoft.com/office/drawing/2014/main" id="{6F17B690-2B77-4602-B8CF-F8B18082943E}"/>
                    </a:ext>
                  </a:extLst>
                </p:cNvPr>
                <p:cNvSpPr/>
                <p:nvPr/>
              </p:nvSpPr>
              <p:spPr>
                <a:xfrm>
                  <a:off x="6791018" y="2248596"/>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57">
                  <a:extLst>
                    <a:ext uri="{FF2B5EF4-FFF2-40B4-BE49-F238E27FC236}">
                      <a16:creationId xmlns:a16="http://schemas.microsoft.com/office/drawing/2014/main" id="{897B0CC1-7067-423E-AAC9-9652EBB7B300}"/>
                    </a:ext>
                  </a:extLst>
                </p:cNvPr>
                <p:cNvSpPr/>
                <p:nvPr/>
              </p:nvSpPr>
              <p:spPr>
                <a:xfrm>
                  <a:off x="4101330" y="4035130"/>
                  <a:ext cx="314998" cy="295041"/>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0" name="Isosceles Triangle 58">
                  <a:extLst>
                    <a:ext uri="{FF2B5EF4-FFF2-40B4-BE49-F238E27FC236}">
                      <a16:creationId xmlns:a16="http://schemas.microsoft.com/office/drawing/2014/main" id="{41757417-7E5D-4B3B-A640-ED30CDABA02E}"/>
                    </a:ext>
                  </a:extLst>
                </p:cNvPr>
                <p:cNvSpPr/>
                <p:nvPr/>
              </p:nvSpPr>
              <p:spPr>
                <a:xfrm>
                  <a:off x="6301232" y="2908702"/>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59">
                  <a:extLst>
                    <a:ext uri="{FF2B5EF4-FFF2-40B4-BE49-F238E27FC236}">
                      <a16:creationId xmlns:a16="http://schemas.microsoft.com/office/drawing/2014/main" id="{58857B14-3C4A-485F-9477-63769C8F4A94}"/>
                    </a:ext>
                  </a:extLst>
                </p:cNvPr>
                <p:cNvSpPr/>
                <p:nvPr/>
              </p:nvSpPr>
              <p:spPr>
                <a:xfrm>
                  <a:off x="5070008" y="4213914"/>
                  <a:ext cx="314998" cy="295041"/>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2" name="Isosceles Triangle 60">
                  <a:extLst>
                    <a:ext uri="{FF2B5EF4-FFF2-40B4-BE49-F238E27FC236}">
                      <a16:creationId xmlns:a16="http://schemas.microsoft.com/office/drawing/2014/main" id="{13BBBF49-38B1-4FB9-B9F5-FB2EDBC91DEC}"/>
                    </a:ext>
                  </a:extLst>
                </p:cNvPr>
                <p:cNvSpPr/>
                <p:nvPr/>
              </p:nvSpPr>
              <p:spPr>
                <a:xfrm>
                  <a:off x="7646998" y="2969606"/>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61">
                  <a:extLst>
                    <a:ext uri="{FF2B5EF4-FFF2-40B4-BE49-F238E27FC236}">
                      <a16:creationId xmlns:a16="http://schemas.microsoft.com/office/drawing/2014/main" id="{05A23262-0AD4-494B-9A03-24239E94B0E8}"/>
                    </a:ext>
                  </a:extLst>
                </p:cNvPr>
                <p:cNvSpPr/>
                <p:nvPr/>
              </p:nvSpPr>
              <p:spPr>
                <a:xfrm>
                  <a:off x="4935419" y="4971918"/>
                  <a:ext cx="314998" cy="295041"/>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7" name="Isosceles Triangle 62">
                  <a:extLst>
                    <a:ext uri="{FF2B5EF4-FFF2-40B4-BE49-F238E27FC236}">
                      <a16:creationId xmlns:a16="http://schemas.microsoft.com/office/drawing/2014/main" id="{2C26238B-A1E2-4552-82F7-7DB17D152B9A}"/>
                    </a:ext>
                  </a:extLst>
                </p:cNvPr>
                <p:cNvSpPr/>
                <p:nvPr/>
              </p:nvSpPr>
              <p:spPr>
                <a:xfrm>
                  <a:off x="6880534" y="3711977"/>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63">
                  <a:extLst>
                    <a:ext uri="{FF2B5EF4-FFF2-40B4-BE49-F238E27FC236}">
                      <a16:creationId xmlns:a16="http://schemas.microsoft.com/office/drawing/2014/main" id="{5EC5C26F-22D1-4403-80BC-21F4FC627F39}"/>
                    </a:ext>
                  </a:extLst>
                </p:cNvPr>
                <p:cNvSpPr/>
                <p:nvPr/>
              </p:nvSpPr>
              <p:spPr>
                <a:xfrm>
                  <a:off x="5674602" y="4847457"/>
                  <a:ext cx="314998" cy="295041"/>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9" name="Isosceles Triangle 64">
                  <a:extLst>
                    <a:ext uri="{FF2B5EF4-FFF2-40B4-BE49-F238E27FC236}">
                      <a16:creationId xmlns:a16="http://schemas.microsoft.com/office/drawing/2014/main" id="{398F7718-1D5D-4986-890D-9C28405D1822}"/>
                    </a:ext>
                  </a:extLst>
                </p:cNvPr>
                <p:cNvSpPr/>
                <p:nvPr/>
              </p:nvSpPr>
              <p:spPr>
                <a:xfrm>
                  <a:off x="7271509" y="4301680"/>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65">
                  <a:extLst>
                    <a:ext uri="{FF2B5EF4-FFF2-40B4-BE49-F238E27FC236}">
                      <a16:creationId xmlns:a16="http://schemas.microsoft.com/office/drawing/2014/main" id="{96AF6146-FEE6-41AB-851A-F51871E49ADE}"/>
                    </a:ext>
                  </a:extLst>
                </p:cNvPr>
                <p:cNvSpPr/>
                <p:nvPr/>
              </p:nvSpPr>
              <p:spPr>
                <a:xfrm>
                  <a:off x="6102785" y="4482774"/>
                  <a:ext cx="314998" cy="295041"/>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1" name="Isosceles Triangle 66">
                  <a:extLst>
                    <a:ext uri="{FF2B5EF4-FFF2-40B4-BE49-F238E27FC236}">
                      <a16:creationId xmlns:a16="http://schemas.microsoft.com/office/drawing/2014/main" id="{60A613AA-D28B-4ECD-A489-CF353D474971}"/>
                    </a:ext>
                  </a:extLst>
                </p:cNvPr>
                <p:cNvSpPr/>
                <p:nvPr/>
              </p:nvSpPr>
              <p:spPr>
                <a:xfrm>
                  <a:off x="7559545" y="3764151"/>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67">
                  <a:extLst>
                    <a:ext uri="{FF2B5EF4-FFF2-40B4-BE49-F238E27FC236}">
                      <a16:creationId xmlns:a16="http://schemas.microsoft.com/office/drawing/2014/main" id="{C0C66958-E495-43CA-A287-499823E64B16}"/>
                    </a:ext>
                  </a:extLst>
                </p:cNvPr>
                <p:cNvSpPr/>
                <p:nvPr/>
              </p:nvSpPr>
              <p:spPr>
                <a:xfrm>
                  <a:off x="5517971" y="5612640"/>
                  <a:ext cx="314998" cy="295041"/>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3" name="Isosceles Triangle 68">
                  <a:extLst>
                    <a:ext uri="{FF2B5EF4-FFF2-40B4-BE49-F238E27FC236}">
                      <a16:creationId xmlns:a16="http://schemas.microsoft.com/office/drawing/2014/main" id="{4D951A6A-F904-4463-BBCC-3A56C12FB572}"/>
                    </a:ext>
                  </a:extLst>
                </p:cNvPr>
                <p:cNvSpPr/>
                <p:nvPr/>
              </p:nvSpPr>
              <p:spPr>
                <a:xfrm>
                  <a:off x="7952378" y="4205382"/>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69">
                  <a:extLst>
                    <a:ext uri="{FF2B5EF4-FFF2-40B4-BE49-F238E27FC236}">
                      <a16:creationId xmlns:a16="http://schemas.microsoft.com/office/drawing/2014/main" id="{A70B9C84-E657-47F1-85E4-4FEC2BCF047B}"/>
                    </a:ext>
                  </a:extLst>
                </p:cNvPr>
                <p:cNvSpPr/>
                <p:nvPr/>
              </p:nvSpPr>
              <p:spPr>
                <a:xfrm>
                  <a:off x="6131803" y="5304656"/>
                  <a:ext cx="314998" cy="295041"/>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5" name="Isosceles Triangle 70">
                  <a:extLst>
                    <a:ext uri="{FF2B5EF4-FFF2-40B4-BE49-F238E27FC236}">
                      <a16:creationId xmlns:a16="http://schemas.microsoft.com/office/drawing/2014/main" id="{466F1FBE-53F0-4CAC-AEF0-FFC375BA91B2}"/>
                    </a:ext>
                  </a:extLst>
                </p:cNvPr>
                <p:cNvSpPr/>
                <p:nvPr/>
              </p:nvSpPr>
              <p:spPr>
                <a:xfrm>
                  <a:off x="7664608" y="4587349"/>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71">
                  <a:extLst>
                    <a:ext uri="{FF2B5EF4-FFF2-40B4-BE49-F238E27FC236}">
                      <a16:creationId xmlns:a16="http://schemas.microsoft.com/office/drawing/2014/main" id="{92630BF4-8C1A-4B8F-B16A-BF27449DAC92}"/>
                    </a:ext>
                  </a:extLst>
                </p:cNvPr>
                <p:cNvSpPr/>
                <p:nvPr/>
              </p:nvSpPr>
              <p:spPr>
                <a:xfrm>
                  <a:off x="6825600" y="5758470"/>
                  <a:ext cx="314998" cy="295041"/>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7" name="Isosceles Triangle 72">
                  <a:extLst>
                    <a:ext uri="{FF2B5EF4-FFF2-40B4-BE49-F238E27FC236}">
                      <a16:creationId xmlns:a16="http://schemas.microsoft.com/office/drawing/2014/main" id="{82C8B4E8-03DC-4ED3-AF4A-B00F0D9FD628}"/>
                    </a:ext>
                  </a:extLst>
                </p:cNvPr>
                <p:cNvSpPr/>
                <p:nvPr/>
              </p:nvSpPr>
              <p:spPr>
                <a:xfrm>
                  <a:off x="8401489" y="3800021"/>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73">
                  <a:extLst>
                    <a:ext uri="{FF2B5EF4-FFF2-40B4-BE49-F238E27FC236}">
                      <a16:creationId xmlns:a16="http://schemas.microsoft.com/office/drawing/2014/main" id="{F1574DF4-183A-4AA9-A17B-808D7455FC32}"/>
                    </a:ext>
                  </a:extLst>
                </p:cNvPr>
                <p:cNvSpPr/>
                <p:nvPr/>
              </p:nvSpPr>
              <p:spPr>
                <a:xfrm>
                  <a:off x="6880533" y="5112547"/>
                  <a:ext cx="314998" cy="295041"/>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9" name="Isosceles Triangle 74">
                  <a:extLst>
                    <a:ext uri="{FF2B5EF4-FFF2-40B4-BE49-F238E27FC236}">
                      <a16:creationId xmlns:a16="http://schemas.microsoft.com/office/drawing/2014/main" id="{0E1FB0AA-5651-4EB9-9ED3-9EFE0F927A18}"/>
                    </a:ext>
                  </a:extLst>
                </p:cNvPr>
                <p:cNvSpPr/>
                <p:nvPr/>
              </p:nvSpPr>
              <p:spPr>
                <a:xfrm>
                  <a:off x="8409578" y="4662582"/>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75">
                  <a:extLst>
                    <a:ext uri="{FF2B5EF4-FFF2-40B4-BE49-F238E27FC236}">
                      <a16:creationId xmlns:a16="http://schemas.microsoft.com/office/drawing/2014/main" id="{17C87E83-2EE7-483D-8410-509613406BE5}"/>
                    </a:ext>
                  </a:extLst>
                </p:cNvPr>
                <p:cNvSpPr/>
                <p:nvPr/>
              </p:nvSpPr>
              <p:spPr>
                <a:xfrm>
                  <a:off x="7313762" y="5641923"/>
                  <a:ext cx="314998" cy="295041"/>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1" name="Isosceles Triangle 76">
                  <a:extLst>
                    <a:ext uri="{FF2B5EF4-FFF2-40B4-BE49-F238E27FC236}">
                      <a16:creationId xmlns:a16="http://schemas.microsoft.com/office/drawing/2014/main" id="{EF1E8191-F459-4881-B022-C3DB13567844}"/>
                    </a:ext>
                  </a:extLst>
                </p:cNvPr>
                <p:cNvSpPr/>
                <p:nvPr/>
              </p:nvSpPr>
              <p:spPr>
                <a:xfrm>
                  <a:off x="8237103" y="5045889"/>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2" name="Straight Arrow Connector 6">
                  <a:extLst>
                    <a:ext uri="{FF2B5EF4-FFF2-40B4-BE49-F238E27FC236}">
                      <a16:creationId xmlns:a16="http://schemas.microsoft.com/office/drawing/2014/main" id="{91EF8273-3B1D-41CC-817C-558C4354D00B}"/>
                    </a:ext>
                  </a:extLst>
                </p:cNvPr>
                <p:cNvCxnSpPr>
                  <a:cxnSpLocks/>
                </p:cNvCxnSpPr>
                <p:nvPr/>
              </p:nvCxnSpPr>
              <p:spPr>
                <a:xfrm>
                  <a:off x="5780571" y="3895212"/>
                  <a:ext cx="111455" cy="135232"/>
                </a:xfrm>
                <a:prstGeom prst="straightConnector1">
                  <a:avLst/>
                </a:prstGeom>
                <a:ln w="127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3" name="Oval 82">
                  <a:extLst>
                    <a:ext uri="{FF2B5EF4-FFF2-40B4-BE49-F238E27FC236}">
                      <a16:creationId xmlns:a16="http://schemas.microsoft.com/office/drawing/2014/main" id="{E8EE8B06-7F25-42BF-B120-16F627E26512}"/>
                    </a:ext>
                  </a:extLst>
                </p:cNvPr>
                <p:cNvSpPr/>
                <p:nvPr/>
              </p:nvSpPr>
              <p:spPr>
                <a:xfrm>
                  <a:off x="5504150" y="3616255"/>
                  <a:ext cx="468000" cy="468000"/>
                </a:xfrm>
                <a:prstGeom prst="ellipse">
                  <a:avLst/>
                </a:prstGeom>
                <a:noFill/>
                <a:ln w="190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그룹 43">
                <a:extLst>
                  <a:ext uri="{FF2B5EF4-FFF2-40B4-BE49-F238E27FC236}">
                    <a16:creationId xmlns:a16="http://schemas.microsoft.com/office/drawing/2014/main" id="{3630848B-26C4-4EF5-98BA-A6C20729A590}"/>
                  </a:ext>
                </a:extLst>
              </p:cNvPr>
              <p:cNvGrpSpPr/>
              <p:nvPr/>
            </p:nvGrpSpPr>
            <p:grpSpPr>
              <a:xfrm>
                <a:off x="6787616" y="2075248"/>
                <a:ext cx="1602609" cy="805761"/>
                <a:chOff x="7280873" y="3206496"/>
                <a:chExt cx="2114151" cy="1062953"/>
              </a:xfrm>
            </p:grpSpPr>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4493D7B2-220A-44A4-864E-FC4E4671347B}"/>
                        </a:ext>
                      </a:extLst>
                    </p:cNvPr>
                    <p:cNvSpPr txBox="1"/>
                    <p:nvPr/>
                  </p:nvSpPr>
                  <p:spPr>
                    <a:xfrm>
                      <a:off x="7280873" y="3206496"/>
                      <a:ext cx="2076075" cy="888513"/>
                    </a:xfrm>
                    <a:prstGeom prst="rect">
                      <a:avLst/>
                    </a:prstGeom>
                    <a:noFill/>
                  </p:spPr>
                  <p:txBody>
                    <a:bodyPr wrap="square" rtlCol="0">
                      <a:spAutoFit/>
                    </a:bodyPr>
                    <a:lstStyle/>
                    <a:p>
                      <a:pPr>
                        <a:lnSpc>
                          <a:spcPct val="200000"/>
                        </a:lnSpc>
                      </a:pPr>
                      <a:r>
                        <a:rPr lang="en-US" sz="1400" dirty="0">
                          <a:latin typeface="SamsungOne 400" panose="020B0503030303020204" pitchFamily="34" charset="0"/>
                          <a:ea typeface="SamsungOne 400" panose="020B0503030303020204" pitchFamily="34" charset="0"/>
                          <a:cs typeface="Times New Roman" panose="02020603050405020304" pitchFamily="18" charset="0"/>
                        </a:rPr>
                        <a:t>When </a:t>
                      </a:r>
                      <a14:m>
                        <m:oMath xmlns:m="http://schemas.openxmlformats.org/officeDocument/2006/math">
                          <m:r>
                            <a:rPr lang="en-US" sz="1400" i="1" dirty="0">
                              <a:solidFill>
                                <a:srgbClr val="00B050"/>
                              </a:solidFill>
                              <a:latin typeface="Cambria Math" panose="02040503050406030204" pitchFamily="18" charset="0"/>
                              <a:cs typeface="Times New Roman" panose="02020603050405020304" pitchFamily="18" charset="0"/>
                            </a:rPr>
                            <m:t>𝑘</m:t>
                          </m:r>
                          <m:r>
                            <a:rPr lang="en-US" sz="1400" i="1" dirty="0">
                              <a:solidFill>
                                <a:srgbClr val="00B050"/>
                              </a:solidFill>
                              <a:latin typeface="Cambria Math" panose="02040503050406030204" pitchFamily="18" charset="0"/>
                              <a:cs typeface="Times New Roman" panose="02020603050405020304" pitchFamily="18" charset="0"/>
                            </a:rPr>
                            <m:t> =1</m:t>
                          </m:r>
                        </m:oMath>
                      </a14:m>
                      <a:r>
                        <a:rPr lang="en-US" altLang="ko-KR" sz="1400" dirty="0">
                          <a:latin typeface="SamsungOne 400" panose="020B0503030303020204" pitchFamily="34" charset="0"/>
                          <a:ea typeface="SamsungOne 400" panose="020B0503030303020204" pitchFamily="34" charset="0"/>
                          <a:cs typeface="Times New Roman" panose="02020603050405020304" pitchFamily="18" charset="0"/>
                        </a:rPr>
                        <a:t>,</a:t>
                      </a:r>
                    </a:p>
                    <a:p>
                      <a:pPr>
                        <a:lnSpc>
                          <a:spcPct val="200000"/>
                        </a:lnSpc>
                      </a:pPr>
                      <a14:m>
                        <m:oMath xmlns:m="http://schemas.openxmlformats.org/officeDocument/2006/math">
                          <m:r>
                            <a:rPr lang="en-US" sz="1400" i="1" dirty="0">
                              <a:latin typeface="Cambria Math" panose="02040503050406030204" pitchFamily="18" charset="0"/>
                              <a:cs typeface="Times New Roman" panose="02020603050405020304" pitchFamily="18" charset="0"/>
                            </a:rPr>
                            <m:t>𝑋</m:t>
                          </m:r>
                        </m:oMath>
                      </a14:m>
                      <a:r>
                        <a:rPr lang="ko-KR" altLang="en-US" sz="1400" dirty="0">
                          <a:latin typeface="SamsungOne 400" panose="020B0503030303020204" pitchFamily="34" charset="0"/>
                          <a:cs typeface="Times New Roman" panose="02020603050405020304" pitchFamily="18" charset="0"/>
                        </a:rPr>
                        <a:t> </a:t>
                      </a:r>
                      <a:r>
                        <a:rPr lang="en-US" altLang="ko-KR" sz="1400" dirty="0">
                          <a:latin typeface="SamsungOne 400" panose="020B0503030303020204" pitchFamily="34" charset="0"/>
                          <a:ea typeface="SamsungOne 400" panose="020B0503030303020204" pitchFamily="34" charset="0"/>
                          <a:cs typeface="Times New Roman" panose="02020603050405020304" pitchFamily="18" charset="0"/>
                        </a:rPr>
                        <a:t>is classified as</a:t>
                      </a:r>
                      <a:r>
                        <a:rPr lang="ko-KR" altLang="en-US" sz="1400" dirty="0">
                          <a:latin typeface="SamsungOne 400" panose="020B0503030303020204" pitchFamily="34" charset="0"/>
                          <a:cs typeface="Times New Roman" panose="02020603050405020304" pitchFamily="18" charset="0"/>
                        </a:rPr>
                        <a:t> </a:t>
                      </a:r>
                      <a:endParaRPr lang="en-US" sz="1400" dirty="0">
                        <a:latin typeface="SamsungOne 400" panose="020B0503030303020204" pitchFamily="34" charset="0"/>
                        <a:ea typeface="SamsungOne 400" panose="020B0503030303020204" pitchFamily="34" charset="0"/>
                        <a:cs typeface="Times New Roman" panose="02020603050405020304" pitchFamily="18" charset="0"/>
                      </a:endParaRPr>
                    </a:p>
                  </p:txBody>
                </p:sp>
              </mc:Choice>
              <mc:Fallback xmlns="">
                <p:sp>
                  <p:nvSpPr>
                    <p:cNvPr id="82" name="TextBox 81">
                      <a:extLst>
                        <a:ext uri="{FF2B5EF4-FFF2-40B4-BE49-F238E27FC236}">
                          <a16:creationId xmlns:a16="http://schemas.microsoft.com/office/drawing/2014/main" id="{1FD70CDA-13D7-4056-9AAA-3236D3F71DAF}"/>
                        </a:ext>
                      </a:extLst>
                    </p:cNvPr>
                    <p:cNvSpPr txBox="1">
                      <a:spLocks noRot="1" noChangeAspect="1" noMove="1" noResize="1" noEditPoints="1" noAdjustHandles="1" noChangeArrowheads="1" noChangeShapeType="1" noTextEdit="1"/>
                    </p:cNvSpPr>
                    <p:nvPr/>
                  </p:nvSpPr>
                  <p:spPr>
                    <a:xfrm>
                      <a:off x="7280873" y="3206496"/>
                      <a:ext cx="2076075" cy="888513"/>
                    </a:xfrm>
                    <a:prstGeom prst="rect">
                      <a:avLst/>
                    </a:prstGeom>
                    <a:blipFill>
                      <a:blip r:embed="rId4"/>
                      <a:stretch>
                        <a:fillRect l="-1163" b="-41441"/>
                      </a:stretch>
                    </a:blipFill>
                  </p:spPr>
                  <p:txBody>
                    <a:bodyPr/>
                    <a:lstStyle/>
                    <a:p>
                      <a:r>
                        <a:rPr lang="ko-KR" altLang="en-US">
                          <a:noFill/>
                        </a:rPr>
                        <a:t> </a:t>
                      </a:r>
                    </a:p>
                  </p:txBody>
                </p:sp>
              </mc:Fallback>
            </mc:AlternateContent>
            <p:sp>
              <p:nvSpPr>
                <p:cNvPr id="46" name="Isosceles Triangle 72">
                  <a:extLst>
                    <a:ext uri="{FF2B5EF4-FFF2-40B4-BE49-F238E27FC236}">
                      <a16:creationId xmlns:a16="http://schemas.microsoft.com/office/drawing/2014/main" id="{E210DC4B-70E9-4E59-B93E-DEF0CC66461F}"/>
                    </a:ext>
                  </a:extLst>
                </p:cNvPr>
                <p:cNvSpPr/>
                <p:nvPr/>
              </p:nvSpPr>
              <p:spPr>
                <a:xfrm>
                  <a:off x="9125700" y="4009774"/>
                  <a:ext cx="269324" cy="259675"/>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7" name="Oval 3">
                <a:extLst>
                  <a:ext uri="{FF2B5EF4-FFF2-40B4-BE49-F238E27FC236}">
                    <a16:creationId xmlns:a16="http://schemas.microsoft.com/office/drawing/2014/main" id="{D9C78A31-278F-441A-B14A-5BC6E5EEC7CF}"/>
                  </a:ext>
                </a:extLst>
              </p:cNvPr>
              <p:cNvSpPr/>
              <p:nvPr/>
            </p:nvSpPr>
            <p:spPr>
              <a:xfrm>
                <a:off x="4503732" y="3674107"/>
                <a:ext cx="64800" cy="65695"/>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CAE03BE7-85EC-464F-AA37-9D6C1199DBF3}"/>
                      </a:ext>
                    </a:extLst>
                  </p:cNvPr>
                  <p:cNvSpPr txBox="1"/>
                  <p:nvPr/>
                </p:nvSpPr>
                <p:spPr>
                  <a:xfrm>
                    <a:off x="4264024" y="3518318"/>
                    <a:ext cx="313004" cy="34842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m:rPr>
                              <m:sty m:val="p"/>
                            </m:rPr>
                            <a:rPr lang="en-US" sz="2000" i="0" dirty="0">
                              <a:latin typeface="Cambria Math" panose="02040503050406030204" pitchFamily="18" charset="0"/>
                              <a:cs typeface="Times New Roman" panose="02020603050405020304" pitchFamily="18" charset="0"/>
                            </a:rPr>
                            <m:t>X</m:t>
                          </m:r>
                        </m:oMath>
                      </m:oMathPara>
                    </a14:m>
                    <a:endParaRPr lang="en-US" sz="2000" dirty="0">
                      <a:latin typeface="Times New Roman" panose="02020603050405020304" pitchFamily="18" charset="0"/>
                      <a:cs typeface="Times New Roman" panose="02020603050405020304" pitchFamily="18" charset="0"/>
                    </a:endParaRPr>
                  </a:p>
                </p:txBody>
              </p:sp>
            </mc:Choice>
            <mc:Fallback xmlns="">
              <p:sp>
                <p:nvSpPr>
                  <p:cNvPr id="48" name="TextBox 47">
                    <a:extLst>
                      <a:ext uri="{FF2B5EF4-FFF2-40B4-BE49-F238E27FC236}">
                        <a16:creationId xmlns:a16="http://schemas.microsoft.com/office/drawing/2014/main" id="{CAE03BE7-85EC-464F-AA37-9D6C1199DBF3}"/>
                      </a:ext>
                    </a:extLst>
                  </p:cNvPr>
                  <p:cNvSpPr txBox="1">
                    <a:spLocks noRot="1" noChangeAspect="1" noMove="1" noResize="1" noEditPoints="1" noAdjustHandles="1" noChangeArrowheads="1" noChangeShapeType="1" noTextEdit="1"/>
                  </p:cNvSpPr>
                  <p:nvPr/>
                </p:nvSpPr>
                <p:spPr>
                  <a:xfrm>
                    <a:off x="4264024" y="3518318"/>
                    <a:ext cx="313004" cy="348421"/>
                  </a:xfrm>
                  <a:prstGeom prst="rect">
                    <a:avLst/>
                  </a:prstGeom>
                  <a:blipFill>
                    <a:blip r:embed="rId5"/>
                    <a:stretch>
                      <a:fillRect l="-11765" b="-6897"/>
                    </a:stretch>
                  </a:blipFill>
                </p:spPr>
                <p:txBody>
                  <a:bodyPr/>
                  <a:lstStyle/>
                  <a:p>
                    <a:r>
                      <a:rPr lang="ko-KR" altLang="en-US">
                        <a:noFill/>
                      </a:rPr>
                      <a:t> </a:t>
                    </a:r>
                  </a:p>
                </p:txBody>
              </p:sp>
            </mc:Fallback>
          </mc:AlternateContent>
        </p:grpSp>
      </p:grpSp>
    </p:spTree>
    <p:extLst>
      <p:ext uri="{BB962C8B-B14F-4D97-AF65-F5344CB8AC3E}">
        <p14:creationId xmlns:p14="http://schemas.microsoft.com/office/powerpoint/2010/main" val="225950513"/>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6.1. KNN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06</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45021F61-4E56-4352-B99A-B507CFE7ACAD}"/>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KNN classification algorithm</a:t>
            </a:r>
          </a:p>
        </p:txBody>
      </p:sp>
      <p:grpSp>
        <p:nvGrpSpPr>
          <p:cNvPr id="50" name="그룹 49">
            <a:extLst>
              <a:ext uri="{FF2B5EF4-FFF2-40B4-BE49-F238E27FC236}">
                <a16:creationId xmlns:a16="http://schemas.microsoft.com/office/drawing/2014/main" id="{6B567009-7FCE-49B1-B604-FB90898FD030}"/>
              </a:ext>
            </a:extLst>
          </p:cNvPr>
          <p:cNvGrpSpPr/>
          <p:nvPr/>
        </p:nvGrpSpPr>
        <p:grpSpPr>
          <a:xfrm>
            <a:off x="1675048" y="2240868"/>
            <a:ext cx="3037085" cy="3034569"/>
            <a:chOff x="2351584" y="2944745"/>
            <a:chExt cx="2884445" cy="2882055"/>
          </a:xfrm>
        </p:grpSpPr>
        <p:grpSp>
          <p:nvGrpSpPr>
            <p:cNvPr id="51" name="그룹 50">
              <a:extLst>
                <a:ext uri="{FF2B5EF4-FFF2-40B4-BE49-F238E27FC236}">
                  <a16:creationId xmlns:a16="http://schemas.microsoft.com/office/drawing/2014/main" id="{6EB6FCBC-862F-4F40-B763-03CD230158B4}"/>
                </a:ext>
              </a:extLst>
            </p:cNvPr>
            <p:cNvGrpSpPr/>
            <p:nvPr/>
          </p:nvGrpSpPr>
          <p:grpSpPr>
            <a:xfrm>
              <a:off x="2351584" y="2944745"/>
              <a:ext cx="2884445" cy="2882055"/>
              <a:chOff x="2351584" y="2941802"/>
              <a:chExt cx="2884445" cy="2882055"/>
            </a:xfrm>
          </p:grpSpPr>
          <p:sp>
            <p:nvSpPr>
              <p:cNvPr id="53" name="자유형: 도형 52">
                <a:extLst>
                  <a:ext uri="{FF2B5EF4-FFF2-40B4-BE49-F238E27FC236}">
                    <a16:creationId xmlns:a16="http://schemas.microsoft.com/office/drawing/2014/main" id="{D04CB02F-5E8C-4891-9292-4D5F1B006091}"/>
                  </a:ext>
                </a:extLst>
              </p:cNvPr>
              <p:cNvSpPr/>
              <p:nvPr/>
            </p:nvSpPr>
            <p:spPr>
              <a:xfrm>
                <a:off x="2593521" y="3257550"/>
                <a:ext cx="2642508" cy="2566307"/>
              </a:xfrm>
              <a:custGeom>
                <a:avLst/>
                <a:gdLst>
                  <a:gd name="connsiteX0" fmla="*/ 0 w 2642508"/>
                  <a:gd name="connsiteY0" fmla="*/ 2566307 h 2566307"/>
                  <a:gd name="connsiteX1" fmla="*/ 2642508 w 2642508"/>
                  <a:gd name="connsiteY1" fmla="*/ 2555421 h 2566307"/>
                  <a:gd name="connsiteX2" fmla="*/ 2631622 w 2642508"/>
                  <a:gd name="connsiteY2" fmla="*/ 21771 h 2566307"/>
                  <a:gd name="connsiteX3" fmla="*/ 2424793 w 2642508"/>
                  <a:gd name="connsiteY3" fmla="*/ 108857 h 2566307"/>
                  <a:gd name="connsiteX4" fmla="*/ 1986643 w 2642508"/>
                  <a:gd name="connsiteY4" fmla="*/ 13607 h 2566307"/>
                  <a:gd name="connsiteX5" fmla="*/ 1888672 w 2642508"/>
                  <a:gd name="connsiteY5" fmla="*/ 62593 h 2566307"/>
                  <a:gd name="connsiteX6" fmla="*/ 1905000 w 2642508"/>
                  <a:gd name="connsiteY6" fmla="*/ 277586 h 2566307"/>
                  <a:gd name="connsiteX7" fmla="*/ 1842408 w 2642508"/>
                  <a:gd name="connsiteY7" fmla="*/ 367393 h 2566307"/>
                  <a:gd name="connsiteX8" fmla="*/ 1673679 w 2642508"/>
                  <a:gd name="connsiteY8" fmla="*/ 212271 h 2566307"/>
                  <a:gd name="connsiteX9" fmla="*/ 1608365 w 2642508"/>
                  <a:gd name="connsiteY9" fmla="*/ 89807 h 2566307"/>
                  <a:gd name="connsiteX10" fmla="*/ 1464129 w 2642508"/>
                  <a:gd name="connsiteY10" fmla="*/ 0 h 2566307"/>
                  <a:gd name="connsiteX11" fmla="*/ 1303565 w 2642508"/>
                  <a:gd name="connsiteY11" fmla="*/ 81643 h 2566307"/>
                  <a:gd name="connsiteX12" fmla="*/ 1295400 w 2642508"/>
                  <a:gd name="connsiteY12" fmla="*/ 155121 h 2566307"/>
                  <a:gd name="connsiteX13" fmla="*/ 1377043 w 2642508"/>
                  <a:gd name="connsiteY13" fmla="*/ 288471 h 2566307"/>
                  <a:gd name="connsiteX14" fmla="*/ 1616529 w 2642508"/>
                  <a:gd name="connsiteY14" fmla="*/ 296636 h 2566307"/>
                  <a:gd name="connsiteX15" fmla="*/ 1662793 w 2642508"/>
                  <a:gd name="connsiteY15" fmla="*/ 394607 h 2566307"/>
                  <a:gd name="connsiteX16" fmla="*/ 1600200 w 2642508"/>
                  <a:gd name="connsiteY16" fmla="*/ 517071 h 2566307"/>
                  <a:gd name="connsiteX17" fmla="*/ 1513115 w 2642508"/>
                  <a:gd name="connsiteY17" fmla="*/ 582386 h 2566307"/>
                  <a:gd name="connsiteX18" fmla="*/ 1439636 w 2642508"/>
                  <a:gd name="connsiteY18" fmla="*/ 691243 h 2566307"/>
                  <a:gd name="connsiteX19" fmla="*/ 1450522 w 2642508"/>
                  <a:gd name="connsiteY19" fmla="*/ 810986 h 2566307"/>
                  <a:gd name="connsiteX20" fmla="*/ 1458686 w 2642508"/>
                  <a:gd name="connsiteY20" fmla="*/ 830036 h 2566307"/>
                  <a:gd name="connsiteX21" fmla="*/ 1534886 w 2642508"/>
                  <a:gd name="connsiteY21" fmla="*/ 868136 h 2566307"/>
                  <a:gd name="connsiteX22" fmla="*/ 1910443 w 2642508"/>
                  <a:gd name="connsiteY22" fmla="*/ 819150 h 2566307"/>
                  <a:gd name="connsiteX23" fmla="*/ 2008415 w 2642508"/>
                  <a:gd name="connsiteY23" fmla="*/ 824593 h 2566307"/>
                  <a:gd name="connsiteX24" fmla="*/ 2079172 w 2642508"/>
                  <a:gd name="connsiteY24" fmla="*/ 865414 h 2566307"/>
                  <a:gd name="connsiteX25" fmla="*/ 2054679 w 2642508"/>
                  <a:gd name="connsiteY25" fmla="*/ 1006929 h 2566307"/>
                  <a:gd name="connsiteX26" fmla="*/ 2008415 w 2642508"/>
                  <a:gd name="connsiteY26" fmla="*/ 1042307 h 2566307"/>
                  <a:gd name="connsiteX27" fmla="*/ 1861458 w 2642508"/>
                  <a:gd name="connsiteY27" fmla="*/ 1023257 h 2566307"/>
                  <a:gd name="connsiteX28" fmla="*/ 1845129 w 2642508"/>
                  <a:gd name="connsiteY28" fmla="*/ 1025979 h 2566307"/>
                  <a:gd name="connsiteX29" fmla="*/ 1817915 w 2642508"/>
                  <a:gd name="connsiteY29" fmla="*/ 955221 h 2566307"/>
                  <a:gd name="connsiteX30" fmla="*/ 1684565 w 2642508"/>
                  <a:gd name="connsiteY30" fmla="*/ 976993 h 2566307"/>
                  <a:gd name="connsiteX31" fmla="*/ 1641022 w 2642508"/>
                  <a:gd name="connsiteY31" fmla="*/ 1045029 h 2566307"/>
                  <a:gd name="connsiteX32" fmla="*/ 1567543 w 2642508"/>
                  <a:gd name="connsiteY32" fmla="*/ 1123950 h 2566307"/>
                  <a:gd name="connsiteX33" fmla="*/ 1635579 w 2642508"/>
                  <a:gd name="connsiteY33" fmla="*/ 1232807 h 2566307"/>
                  <a:gd name="connsiteX34" fmla="*/ 1768929 w 2642508"/>
                  <a:gd name="connsiteY34" fmla="*/ 1289957 h 2566307"/>
                  <a:gd name="connsiteX35" fmla="*/ 1804308 w 2642508"/>
                  <a:gd name="connsiteY35" fmla="*/ 1417864 h 2566307"/>
                  <a:gd name="connsiteX36" fmla="*/ 1766208 w 2642508"/>
                  <a:gd name="connsiteY36" fmla="*/ 1480457 h 2566307"/>
                  <a:gd name="connsiteX37" fmla="*/ 1646465 w 2642508"/>
                  <a:gd name="connsiteY37" fmla="*/ 1515836 h 2566307"/>
                  <a:gd name="connsiteX38" fmla="*/ 1602922 w 2642508"/>
                  <a:gd name="connsiteY38" fmla="*/ 1510393 h 2566307"/>
                  <a:gd name="connsiteX39" fmla="*/ 1600200 w 2642508"/>
                  <a:gd name="connsiteY39" fmla="*/ 1613807 h 2566307"/>
                  <a:gd name="connsiteX40" fmla="*/ 1608365 w 2642508"/>
                  <a:gd name="connsiteY40" fmla="*/ 1725386 h 2566307"/>
                  <a:gd name="connsiteX41" fmla="*/ 1551215 w 2642508"/>
                  <a:gd name="connsiteY41" fmla="*/ 1839686 h 2566307"/>
                  <a:gd name="connsiteX42" fmla="*/ 1390650 w 2642508"/>
                  <a:gd name="connsiteY42" fmla="*/ 1853293 h 2566307"/>
                  <a:gd name="connsiteX43" fmla="*/ 1295400 w 2642508"/>
                  <a:gd name="connsiteY43" fmla="*/ 1747157 h 2566307"/>
                  <a:gd name="connsiteX44" fmla="*/ 1265465 w 2642508"/>
                  <a:gd name="connsiteY44" fmla="*/ 1589314 h 2566307"/>
                  <a:gd name="connsiteX45" fmla="*/ 1085850 w 2642508"/>
                  <a:gd name="connsiteY45" fmla="*/ 1570264 h 2566307"/>
                  <a:gd name="connsiteX46" fmla="*/ 955222 w 2642508"/>
                  <a:gd name="connsiteY46" fmla="*/ 1469571 h 2566307"/>
                  <a:gd name="connsiteX47" fmla="*/ 930729 w 2642508"/>
                  <a:gd name="connsiteY47" fmla="*/ 1499507 h 2566307"/>
                  <a:gd name="connsiteX48" fmla="*/ 819150 w 2642508"/>
                  <a:gd name="connsiteY48" fmla="*/ 1485900 h 2566307"/>
                  <a:gd name="connsiteX49" fmla="*/ 734786 w 2642508"/>
                  <a:gd name="connsiteY49" fmla="*/ 1532164 h 2566307"/>
                  <a:gd name="connsiteX50" fmla="*/ 655865 w 2642508"/>
                  <a:gd name="connsiteY50" fmla="*/ 1619250 h 2566307"/>
                  <a:gd name="connsiteX51" fmla="*/ 519793 w 2642508"/>
                  <a:gd name="connsiteY51" fmla="*/ 1842407 h 2566307"/>
                  <a:gd name="connsiteX52" fmla="*/ 410936 w 2642508"/>
                  <a:gd name="connsiteY52" fmla="*/ 1948543 h 2566307"/>
                  <a:gd name="connsiteX53" fmla="*/ 312965 w 2642508"/>
                  <a:gd name="connsiteY53" fmla="*/ 1986643 h 2566307"/>
                  <a:gd name="connsiteX54" fmla="*/ 144236 w 2642508"/>
                  <a:gd name="connsiteY54" fmla="*/ 1981200 h 2566307"/>
                  <a:gd name="connsiteX55" fmla="*/ 54429 w 2642508"/>
                  <a:gd name="connsiteY55" fmla="*/ 2152650 h 2566307"/>
                  <a:gd name="connsiteX56" fmla="*/ 136072 w 2642508"/>
                  <a:gd name="connsiteY56" fmla="*/ 2324100 h 2566307"/>
                  <a:gd name="connsiteX57" fmla="*/ 117022 w 2642508"/>
                  <a:gd name="connsiteY57" fmla="*/ 2460171 h 2566307"/>
                  <a:gd name="connsiteX58" fmla="*/ 0 w 2642508"/>
                  <a:gd name="connsiteY58" fmla="*/ 2566307 h 2566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642508" h="2566307">
                    <a:moveTo>
                      <a:pt x="0" y="2566307"/>
                    </a:moveTo>
                    <a:lnTo>
                      <a:pt x="2642508" y="2555421"/>
                    </a:lnTo>
                    <a:cubicBezTo>
                      <a:pt x="2638879" y="1710871"/>
                      <a:pt x="2635251" y="866321"/>
                      <a:pt x="2631622" y="21771"/>
                    </a:cubicBezTo>
                    <a:lnTo>
                      <a:pt x="2424793" y="108857"/>
                    </a:lnTo>
                    <a:lnTo>
                      <a:pt x="1986643" y="13607"/>
                    </a:lnTo>
                    <a:lnTo>
                      <a:pt x="1888672" y="62593"/>
                    </a:lnTo>
                    <a:lnTo>
                      <a:pt x="1905000" y="277586"/>
                    </a:lnTo>
                    <a:lnTo>
                      <a:pt x="1842408" y="367393"/>
                    </a:lnTo>
                    <a:lnTo>
                      <a:pt x="1673679" y="212271"/>
                    </a:lnTo>
                    <a:lnTo>
                      <a:pt x="1608365" y="89807"/>
                    </a:lnTo>
                    <a:lnTo>
                      <a:pt x="1464129" y="0"/>
                    </a:lnTo>
                    <a:lnTo>
                      <a:pt x="1303565" y="81643"/>
                    </a:lnTo>
                    <a:lnTo>
                      <a:pt x="1295400" y="155121"/>
                    </a:lnTo>
                    <a:lnTo>
                      <a:pt x="1377043" y="288471"/>
                    </a:lnTo>
                    <a:lnTo>
                      <a:pt x="1616529" y="296636"/>
                    </a:lnTo>
                    <a:lnTo>
                      <a:pt x="1662793" y="394607"/>
                    </a:lnTo>
                    <a:lnTo>
                      <a:pt x="1600200" y="517071"/>
                    </a:lnTo>
                    <a:lnTo>
                      <a:pt x="1513115" y="582386"/>
                    </a:lnTo>
                    <a:lnTo>
                      <a:pt x="1439636" y="691243"/>
                    </a:lnTo>
                    <a:lnTo>
                      <a:pt x="1450522" y="810986"/>
                    </a:lnTo>
                    <a:lnTo>
                      <a:pt x="1458686" y="830036"/>
                    </a:lnTo>
                    <a:lnTo>
                      <a:pt x="1534886" y="868136"/>
                    </a:lnTo>
                    <a:lnTo>
                      <a:pt x="1910443" y="819150"/>
                    </a:lnTo>
                    <a:lnTo>
                      <a:pt x="2008415" y="824593"/>
                    </a:lnTo>
                    <a:lnTo>
                      <a:pt x="2079172" y="865414"/>
                    </a:lnTo>
                    <a:lnTo>
                      <a:pt x="2054679" y="1006929"/>
                    </a:lnTo>
                    <a:lnTo>
                      <a:pt x="2008415" y="1042307"/>
                    </a:lnTo>
                    <a:lnTo>
                      <a:pt x="1861458" y="1023257"/>
                    </a:lnTo>
                    <a:lnTo>
                      <a:pt x="1845129" y="1025979"/>
                    </a:lnTo>
                    <a:lnTo>
                      <a:pt x="1817915" y="955221"/>
                    </a:lnTo>
                    <a:lnTo>
                      <a:pt x="1684565" y="976993"/>
                    </a:lnTo>
                    <a:lnTo>
                      <a:pt x="1641022" y="1045029"/>
                    </a:lnTo>
                    <a:lnTo>
                      <a:pt x="1567543" y="1123950"/>
                    </a:lnTo>
                    <a:lnTo>
                      <a:pt x="1635579" y="1232807"/>
                    </a:lnTo>
                    <a:lnTo>
                      <a:pt x="1768929" y="1289957"/>
                    </a:lnTo>
                    <a:lnTo>
                      <a:pt x="1804308" y="1417864"/>
                    </a:lnTo>
                    <a:lnTo>
                      <a:pt x="1766208" y="1480457"/>
                    </a:lnTo>
                    <a:lnTo>
                      <a:pt x="1646465" y="1515836"/>
                    </a:lnTo>
                    <a:lnTo>
                      <a:pt x="1602922" y="1510393"/>
                    </a:lnTo>
                    <a:cubicBezTo>
                      <a:pt x="1602015" y="1544864"/>
                      <a:pt x="1601107" y="1579336"/>
                      <a:pt x="1600200" y="1613807"/>
                    </a:cubicBezTo>
                    <a:lnTo>
                      <a:pt x="1608365" y="1725386"/>
                    </a:lnTo>
                    <a:lnTo>
                      <a:pt x="1551215" y="1839686"/>
                    </a:lnTo>
                    <a:lnTo>
                      <a:pt x="1390650" y="1853293"/>
                    </a:lnTo>
                    <a:lnTo>
                      <a:pt x="1295400" y="1747157"/>
                    </a:lnTo>
                    <a:lnTo>
                      <a:pt x="1265465" y="1589314"/>
                    </a:lnTo>
                    <a:lnTo>
                      <a:pt x="1085850" y="1570264"/>
                    </a:lnTo>
                    <a:lnTo>
                      <a:pt x="955222" y="1469571"/>
                    </a:lnTo>
                    <a:lnTo>
                      <a:pt x="930729" y="1499507"/>
                    </a:lnTo>
                    <a:lnTo>
                      <a:pt x="819150" y="1485900"/>
                    </a:lnTo>
                    <a:lnTo>
                      <a:pt x="734786" y="1532164"/>
                    </a:lnTo>
                    <a:lnTo>
                      <a:pt x="655865" y="1619250"/>
                    </a:lnTo>
                    <a:lnTo>
                      <a:pt x="519793" y="1842407"/>
                    </a:lnTo>
                    <a:lnTo>
                      <a:pt x="410936" y="1948543"/>
                    </a:lnTo>
                    <a:lnTo>
                      <a:pt x="312965" y="1986643"/>
                    </a:lnTo>
                    <a:lnTo>
                      <a:pt x="144236" y="1981200"/>
                    </a:lnTo>
                    <a:lnTo>
                      <a:pt x="54429" y="2152650"/>
                    </a:lnTo>
                    <a:lnTo>
                      <a:pt x="136072" y="2324100"/>
                    </a:lnTo>
                    <a:lnTo>
                      <a:pt x="117022" y="2460171"/>
                    </a:lnTo>
                    <a:lnTo>
                      <a:pt x="0" y="2566307"/>
                    </a:lnTo>
                    <a:close/>
                  </a:path>
                </a:pathLst>
              </a:custGeom>
              <a:solidFill>
                <a:srgbClr val="FF0000">
                  <a:alpha val="20000"/>
                </a:srgbClr>
              </a:solidFill>
              <a:ln w="12700">
                <a:solidFill>
                  <a:srgbClr val="FF0000">
                    <a:alpha val="1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자유형: 도형 53">
                <a:extLst>
                  <a:ext uri="{FF2B5EF4-FFF2-40B4-BE49-F238E27FC236}">
                    <a16:creationId xmlns:a16="http://schemas.microsoft.com/office/drawing/2014/main" id="{731C085C-7702-4959-B4C1-21D46403E8C3}"/>
                  </a:ext>
                </a:extLst>
              </p:cNvPr>
              <p:cNvSpPr/>
              <p:nvPr/>
            </p:nvSpPr>
            <p:spPr>
              <a:xfrm>
                <a:off x="2356757" y="2941864"/>
                <a:ext cx="2873829" cy="2881993"/>
              </a:xfrm>
              <a:custGeom>
                <a:avLst/>
                <a:gdLst>
                  <a:gd name="connsiteX0" fmla="*/ 2722 w 2873829"/>
                  <a:gd name="connsiteY0" fmla="*/ 2879272 h 2881993"/>
                  <a:gd name="connsiteX1" fmla="*/ 0 w 2873829"/>
                  <a:gd name="connsiteY1" fmla="*/ 0 h 2881993"/>
                  <a:gd name="connsiteX2" fmla="*/ 2873829 w 2873829"/>
                  <a:gd name="connsiteY2" fmla="*/ 5443 h 2881993"/>
                  <a:gd name="connsiteX3" fmla="*/ 2868386 w 2873829"/>
                  <a:gd name="connsiteY3" fmla="*/ 337457 h 2881993"/>
                  <a:gd name="connsiteX4" fmla="*/ 2688772 w 2873829"/>
                  <a:gd name="connsiteY4" fmla="*/ 413657 h 2881993"/>
                  <a:gd name="connsiteX5" fmla="*/ 2460172 w 2873829"/>
                  <a:gd name="connsiteY5" fmla="*/ 372836 h 2881993"/>
                  <a:gd name="connsiteX6" fmla="*/ 2400300 w 2873829"/>
                  <a:gd name="connsiteY6" fmla="*/ 359229 h 2881993"/>
                  <a:gd name="connsiteX7" fmla="*/ 2209800 w 2873829"/>
                  <a:gd name="connsiteY7" fmla="*/ 329293 h 2881993"/>
                  <a:gd name="connsiteX8" fmla="*/ 2122714 w 2873829"/>
                  <a:gd name="connsiteY8" fmla="*/ 386443 h 2881993"/>
                  <a:gd name="connsiteX9" fmla="*/ 2128157 w 2873829"/>
                  <a:gd name="connsiteY9" fmla="*/ 487136 h 2881993"/>
                  <a:gd name="connsiteX10" fmla="*/ 2136322 w 2873829"/>
                  <a:gd name="connsiteY10" fmla="*/ 612322 h 2881993"/>
                  <a:gd name="connsiteX11" fmla="*/ 2073729 w 2873829"/>
                  <a:gd name="connsiteY11" fmla="*/ 685800 h 2881993"/>
                  <a:gd name="connsiteX12" fmla="*/ 1915886 w 2873829"/>
                  <a:gd name="connsiteY12" fmla="*/ 530679 h 2881993"/>
                  <a:gd name="connsiteX13" fmla="*/ 1842407 w 2873829"/>
                  <a:gd name="connsiteY13" fmla="*/ 402772 h 2881993"/>
                  <a:gd name="connsiteX14" fmla="*/ 1709057 w 2873829"/>
                  <a:gd name="connsiteY14" fmla="*/ 321129 h 2881993"/>
                  <a:gd name="connsiteX15" fmla="*/ 1551214 w 2873829"/>
                  <a:gd name="connsiteY15" fmla="*/ 389165 h 2881993"/>
                  <a:gd name="connsiteX16" fmla="*/ 1534886 w 2873829"/>
                  <a:gd name="connsiteY16" fmla="*/ 468086 h 2881993"/>
                  <a:gd name="connsiteX17" fmla="*/ 1608364 w 2873829"/>
                  <a:gd name="connsiteY17" fmla="*/ 601436 h 2881993"/>
                  <a:gd name="connsiteX18" fmla="*/ 1728107 w 2873829"/>
                  <a:gd name="connsiteY18" fmla="*/ 615043 h 2881993"/>
                  <a:gd name="connsiteX19" fmla="*/ 1842407 w 2873829"/>
                  <a:gd name="connsiteY19" fmla="*/ 617765 h 2881993"/>
                  <a:gd name="connsiteX20" fmla="*/ 1905000 w 2873829"/>
                  <a:gd name="connsiteY20" fmla="*/ 710293 h 2881993"/>
                  <a:gd name="connsiteX21" fmla="*/ 1831522 w 2873829"/>
                  <a:gd name="connsiteY21" fmla="*/ 835479 h 2881993"/>
                  <a:gd name="connsiteX22" fmla="*/ 1747157 w 2873829"/>
                  <a:gd name="connsiteY22" fmla="*/ 908957 h 2881993"/>
                  <a:gd name="connsiteX23" fmla="*/ 1681843 w 2873829"/>
                  <a:gd name="connsiteY23" fmla="*/ 1009650 h 2881993"/>
                  <a:gd name="connsiteX24" fmla="*/ 1684564 w 2873829"/>
                  <a:gd name="connsiteY24" fmla="*/ 1132115 h 2881993"/>
                  <a:gd name="connsiteX25" fmla="*/ 1692729 w 2873829"/>
                  <a:gd name="connsiteY25" fmla="*/ 1151165 h 2881993"/>
                  <a:gd name="connsiteX26" fmla="*/ 1758043 w 2873829"/>
                  <a:gd name="connsiteY26" fmla="*/ 1183822 h 2881993"/>
                  <a:gd name="connsiteX27" fmla="*/ 1828800 w 2873829"/>
                  <a:gd name="connsiteY27" fmla="*/ 1170215 h 2881993"/>
                  <a:gd name="connsiteX28" fmla="*/ 1975757 w 2873829"/>
                  <a:gd name="connsiteY28" fmla="*/ 1148443 h 2881993"/>
                  <a:gd name="connsiteX29" fmla="*/ 2130879 w 2873829"/>
                  <a:gd name="connsiteY29" fmla="*/ 1140279 h 2881993"/>
                  <a:gd name="connsiteX30" fmla="*/ 2242457 w 2873829"/>
                  <a:gd name="connsiteY30" fmla="*/ 1145722 h 2881993"/>
                  <a:gd name="connsiteX31" fmla="*/ 2315936 w 2873829"/>
                  <a:gd name="connsiteY31" fmla="*/ 1186543 h 2881993"/>
                  <a:gd name="connsiteX32" fmla="*/ 2307772 w 2873829"/>
                  <a:gd name="connsiteY32" fmla="*/ 1224643 h 2881993"/>
                  <a:gd name="connsiteX33" fmla="*/ 2288722 w 2873829"/>
                  <a:gd name="connsiteY33" fmla="*/ 1330779 h 2881993"/>
                  <a:gd name="connsiteX34" fmla="*/ 2247900 w 2873829"/>
                  <a:gd name="connsiteY34" fmla="*/ 1368879 h 2881993"/>
                  <a:gd name="connsiteX35" fmla="*/ 2087336 w 2873829"/>
                  <a:gd name="connsiteY35" fmla="*/ 1341665 h 2881993"/>
                  <a:gd name="connsiteX36" fmla="*/ 2049236 w 2873829"/>
                  <a:gd name="connsiteY36" fmla="*/ 1273629 h 2881993"/>
                  <a:gd name="connsiteX37" fmla="*/ 1921329 w 2873829"/>
                  <a:gd name="connsiteY37" fmla="*/ 1289957 h 2881993"/>
                  <a:gd name="connsiteX38" fmla="*/ 1877786 w 2873829"/>
                  <a:gd name="connsiteY38" fmla="*/ 1360715 h 2881993"/>
                  <a:gd name="connsiteX39" fmla="*/ 1796143 w 2873829"/>
                  <a:gd name="connsiteY39" fmla="*/ 1439636 h 2881993"/>
                  <a:gd name="connsiteX40" fmla="*/ 1869622 w 2873829"/>
                  <a:gd name="connsiteY40" fmla="*/ 1540329 h 2881993"/>
                  <a:gd name="connsiteX41" fmla="*/ 2011136 w 2873829"/>
                  <a:gd name="connsiteY41" fmla="*/ 1613807 h 2881993"/>
                  <a:gd name="connsiteX42" fmla="*/ 2038350 w 2873829"/>
                  <a:gd name="connsiteY42" fmla="*/ 1741715 h 2881993"/>
                  <a:gd name="connsiteX43" fmla="*/ 2002972 w 2873829"/>
                  <a:gd name="connsiteY43" fmla="*/ 1793422 h 2881993"/>
                  <a:gd name="connsiteX44" fmla="*/ 1896836 w 2873829"/>
                  <a:gd name="connsiteY44" fmla="*/ 1828800 h 2881993"/>
                  <a:gd name="connsiteX45" fmla="*/ 1839686 w 2873829"/>
                  <a:gd name="connsiteY45" fmla="*/ 1826079 h 2881993"/>
                  <a:gd name="connsiteX46" fmla="*/ 1836964 w 2873829"/>
                  <a:gd name="connsiteY46" fmla="*/ 1940379 h 2881993"/>
                  <a:gd name="connsiteX47" fmla="*/ 1847850 w 2873829"/>
                  <a:gd name="connsiteY47" fmla="*/ 2046515 h 2881993"/>
                  <a:gd name="connsiteX48" fmla="*/ 1793422 w 2873829"/>
                  <a:gd name="connsiteY48" fmla="*/ 2149929 h 2881993"/>
                  <a:gd name="connsiteX49" fmla="*/ 1654629 w 2873829"/>
                  <a:gd name="connsiteY49" fmla="*/ 2177143 h 2881993"/>
                  <a:gd name="connsiteX50" fmla="*/ 1534886 w 2873829"/>
                  <a:gd name="connsiteY50" fmla="*/ 2081893 h 2881993"/>
                  <a:gd name="connsiteX51" fmla="*/ 1504950 w 2873829"/>
                  <a:gd name="connsiteY51" fmla="*/ 1902279 h 2881993"/>
                  <a:gd name="connsiteX52" fmla="*/ 1328057 w 2873829"/>
                  <a:gd name="connsiteY52" fmla="*/ 1877786 h 2881993"/>
                  <a:gd name="connsiteX53" fmla="*/ 1197429 w 2873829"/>
                  <a:gd name="connsiteY53" fmla="*/ 1790700 h 2881993"/>
                  <a:gd name="connsiteX54" fmla="*/ 1162050 w 2873829"/>
                  <a:gd name="connsiteY54" fmla="*/ 1812472 h 2881993"/>
                  <a:gd name="connsiteX55" fmla="*/ 1055914 w 2873829"/>
                  <a:gd name="connsiteY55" fmla="*/ 1809750 h 2881993"/>
                  <a:gd name="connsiteX56" fmla="*/ 985157 w 2873829"/>
                  <a:gd name="connsiteY56" fmla="*/ 1839686 h 2881993"/>
                  <a:gd name="connsiteX57" fmla="*/ 887186 w 2873829"/>
                  <a:gd name="connsiteY57" fmla="*/ 1943100 h 2881993"/>
                  <a:gd name="connsiteX58" fmla="*/ 832757 w 2873829"/>
                  <a:gd name="connsiteY58" fmla="*/ 2038350 h 2881993"/>
                  <a:gd name="connsiteX59" fmla="*/ 762000 w 2873829"/>
                  <a:gd name="connsiteY59" fmla="*/ 2147207 h 2881993"/>
                  <a:gd name="connsiteX60" fmla="*/ 655864 w 2873829"/>
                  <a:gd name="connsiteY60" fmla="*/ 2258786 h 2881993"/>
                  <a:gd name="connsiteX61" fmla="*/ 541564 w 2873829"/>
                  <a:gd name="connsiteY61" fmla="*/ 2294165 h 2881993"/>
                  <a:gd name="connsiteX62" fmla="*/ 381000 w 2873829"/>
                  <a:gd name="connsiteY62" fmla="*/ 2299607 h 2881993"/>
                  <a:gd name="connsiteX63" fmla="*/ 296636 w 2873829"/>
                  <a:gd name="connsiteY63" fmla="*/ 2460172 h 2881993"/>
                  <a:gd name="connsiteX64" fmla="*/ 383722 w 2873829"/>
                  <a:gd name="connsiteY64" fmla="*/ 2647950 h 2881993"/>
                  <a:gd name="connsiteX65" fmla="*/ 353786 w 2873829"/>
                  <a:gd name="connsiteY65" fmla="*/ 2778579 h 2881993"/>
                  <a:gd name="connsiteX66" fmla="*/ 231322 w 2873829"/>
                  <a:gd name="connsiteY66" fmla="*/ 2881993 h 2881993"/>
                  <a:gd name="connsiteX67" fmla="*/ 2722 w 2873829"/>
                  <a:gd name="connsiteY67" fmla="*/ 2879272 h 288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873829" h="2881993">
                    <a:moveTo>
                      <a:pt x="2722" y="2879272"/>
                    </a:moveTo>
                    <a:cubicBezTo>
                      <a:pt x="1815" y="1919515"/>
                      <a:pt x="907" y="959757"/>
                      <a:pt x="0" y="0"/>
                    </a:cubicBezTo>
                    <a:lnTo>
                      <a:pt x="2873829" y="5443"/>
                    </a:lnTo>
                    <a:cubicBezTo>
                      <a:pt x="2872015" y="116114"/>
                      <a:pt x="2870200" y="226786"/>
                      <a:pt x="2868386" y="337457"/>
                    </a:cubicBezTo>
                    <a:lnTo>
                      <a:pt x="2688772" y="413657"/>
                    </a:lnTo>
                    <a:lnTo>
                      <a:pt x="2460172" y="372836"/>
                    </a:lnTo>
                    <a:lnTo>
                      <a:pt x="2400300" y="359229"/>
                    </a:lnTo>
                    <a:lnTo>
                      <a:pt x="2209800" y="329293"/>
                    </a:lnTo>
                    <a:lnTo>
                      <a:pt x="2122714" y="386443"/>
                    </a:lnTo>
                    <a:lnTo>
                      <a:pt x="2128157" y="487136"/>
                    </a:lnTo>
                    <a:lnTo>
                      <a:pt x="2136322" y="612322"/>
                    </a:lnTo>
                    <a:lnTo>
                      <a:pt x="2073729" y="685800"/>
                    </a:lnTo>
                    <a:lnTo>
                      <a:pt x="1915886" y="530679"/>
                    </a:lnTo>
                    <a:lnTo>
                      <a:pt x="1842407" y="402772"/>
                    </a:lnTo>
                    <a:lnTo>
                      <a:pt x="1709057" y="321129"/>
                    </a:lnTo>
                    <a:lnTo>
                      <a:pt x="1551214" y="389165"/>
                    </a:lnTo>
                    <a:lnTo>
                      <a:pt x="1534886" y="468086"/>
                    </a:lnTo>
                    <a:lnTo>
                      <a:pt x="1608364" y="601436"/>
                    </a:lnTo>
                    <a:lnTo>
                      <a:pt x="1728107" y="615043"/>
                    </a:lnTo>
                    <a:lnTo>
                      <a:pt x="1842407" y="617765"/>
                    </a:lnTo>
                    <a:lnTo>
                      <a:pt x="1905000" y="710293"/>
                    </a:lnTo>
                    <a:lnTo>
                      <a:pt x="1831522" y="835479"/>
                    </a:lnTo>
                    <a:lnTo>
                      <a:pt x="1747157" y="908957"/>
                    </a:lnTo>
                    <a:lnTo>
                      <a:pt x="1681843" y="1009650"/>
                    </a:lnTo>
                    <a:lnTo>
                      <a:pt x="1684564" y="1132115"/>
                    </a:lnTo>
                    <a:lnTo>
                      <a:pt x="1692729" y="1151165"/>
                    </a:lnTo>
                    <a:lnTo>
                      <a:pt x="1758043" y="1183822"/>
                    </a:lnTo>
                    <a:lnTo>
                      <a:pt x="1828800" y="1170215"/>
                    </a:lnTo>
                    <a:lnTo>
                      <a:pt x="1975757" y="1148443"/>
                    </a:lnTo>
                    <a:lnTo>
                      <a:pt x="2130879" y="1140279"/>
                    </a:lnTo>
                    <a:lnTo>
                      <a:pt x="2242457" y="1145722"/>
                    </a:lnTo>
                    <a:lnTo>
                      <a:pt x="2315936" y="1186543"/>
                    </a:lnTo>
                    <a:lnTo>
                      <a:pt x="2307772" y="1224643"/>
                    </a:lnTo>
                    <a:lnTo>
                      <a:pt x="2288722" y="1330779"/>
                    </a:lnTo>
                    <a:lnTo>
                      <a:pt x="2247900" y="1368879"/>
                    </a:lnTo>
                    <a:lnTo>
                      <a:pt x="2087336" y="1341665"/>
                    </a:lnTo>
                    <a:lnTo>
                      <a:pt x="2049236" y="1273629"/>
                    </a:lnTo>
                    <a:lnTo>
                      <a:pt x="1921329" y="1289957"/>
                    </a:lnTo>
                    <a:lnTo>
                      <a:pt x="1877786" y="1360715"/>
                    </a:lnTo>
                    <a:lnTo>
                      <a:pt x="1796143" y="1439636"/>
                    </a:lnTo>
                    <a:lnTo>
                      <a:pt x="1869622" y="1540329"/>
                    </a:lnTo>
                    <a:lnTo>
                      <a:pt x="2011136" y="1613807"/>
                    </a:lnTo>
                    <a:lnTo>
                      <a:pt x="2038350" y="1741715"/>
                    </a:lnTo>
                    <a:lnTo>
                      <a:pt x="2002972" y="1793422"/>
                    </a:lnTo>
                    <a:lnTo>
                      <a:pt x="1896836" y="1828800"/>
                    </a:lnTo>
                    <a:lnTo>
                      <a:pt x="1839686" y="1826079"/>
                    </a:lnTo>
                    <a:cubicBezTo>
                      <a:pt x="1838779" y="1864179"/>
                      <a:pt x="1837871" y="1902279"/>
                      <a:pt x="1836964" y="1940379"/>
                    </a:cubicBezTo>
                    <a:lnTo>
                      <a:pt x="1847850" y="2046515"/>
                    </a:lnTo>
                    <a:lnTo>
                      <a:pt x="1793422" y="2149929"/>
                    </a:lnTo>
                    <a:lnTo>
                      <a:pt x="1654629" y="2177143"/>
                    </a:lnTo>
                    <a:lnTo>
                      <a:pt x="1534886" y="2081893"/>
                    </a:lnTo>
                    <a:lnTo>
                      <a:pt x="1504950" y="1902279"/>
                    </a:lnTo>
                    <a:lnTo>
                      <a:pt x="1328057" y="1877786"/>
                    </a:lnTo>
                    <a:lnTo>
                      <a:pt x="1197429" y="1790700"/>
                    </a:lnTo>
                    <a:lnTo>
                      <a:pt x="1162050" y="1812472"/>
                    </a:lnTo>
                    <a:lnTo>
                      <a:pt x="1055914" y="1809750"/>
                    </a:lnTo>
                    <a:lnTo>
                      <a:pt x="985157" y="1839686"/>
                    </a:lnTo>
                    <a:lnTo>
                      <a:pt x="887186" y="1943100"/>
                    </a:lnTo>
                    <a:lnTo>
                      <a:pt x="832757" y="2038350"/>
                    </a:lnTo>
                    <a:lnTo>
                      <a:pt x="762000" y="2147207"/>
                    </a:lnTo>
                    <a:lnTo>
                      <a:pt x="655864" y="2258786"/>
                    </a:lnTo>
                    <a:lnTo>
                      <a:pt x="541564" y="2294165"/>
                    </a:lnTo>
                    <a:lnTo>
                      <a:pt x="381000" y="2299607"/>
                    </a:lnTo>
                    <a:lnTo>
                      <a:pt x="296636" y="2460172"/>
                    </a:lnTo>
                    <a:lnTo>
                      <a:pt x="383722" y="2647950"/>
                    </a:lnTo>
                    <a:lnTo>
                      <a:pt x="353786" y="2778579"/>
                    </a:lnTo>
                    <a:lnTo>
                      <a:pt x="231322" y="2881993"/>
                    </a:lnTo>
                    <a:lnTo>
                      <a:pt x="2722" y="2879272"/>
                    </a:lnTo>
                    <a:close/>
                  </a:path>
                </a:pathLst>
              </a:custGeom>
              <a:solidFill>
                <a:schemeClr val="accent1">
                  <a:alpha val="15000"/>
                </a:schemeClr>
              </a:solidFill>
              <a:ln w="12700">
                <a:solidFill>
                  <a:schemeClr val="accent1">
                    <a:shade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a:extLst>
                  <a:ext uri="{FF2B5EF4-FFF2-40B4-BE49-F238E27FC236}">
                    <a16:creationId xmlns:a16="http://schemas.microsoft.com/office/drawing/2014/main" id="{49FFC2CD-C1AE-4262-8238-17578C34D95F}"/>
                  </a:ext>
                </a:extLst>
              </p:cNvPr>
              <p:cNvSpPr>
                <a:spLocks noChangeAspect="1"/>
              </p:cNvSpPr>
              <p:nvPr/>
            </p:nvSpPr>
            <p:spPr>
              <a:xfrm>
                <a:off x="2351584" y="2941802"/>
                <a:ext cx="2880000" cy="2880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Oval 53">
                <a:extLst>
                  <a:ext uri="{FF2B5EF4-FFF2-40B4-BE49-F238E27FC236}">
                    <a16:creationId xmlns:a16="http://schemas.microsoft.com/office/drawing/2014/main" id="{8573A5BA-73FA-4ABB-A6D6-784CBB60E8CA}"/>
                  </a:ext>
                </a:extLst>
              </p:cNvPr>
              <p:cNvSpPr/>
              <p:nvPr/>
            </p:nvSpPr>
            <p:spPr>
              <a:xfrm>
                <a:off x="2517488" y="3073704"/>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7" name="Oval 53">
                <a:extLst>
                  <a:ext uri="{FF2B5EF4-FFF2-40B4-BE49-F238E27FC236}">
                    <a16:creationId xmlns:a16="http://schemas.microsoft.com/office/drawing/2014/main" id="{DFF892E5-99EF-4896-A2D3-A43B14778133}"/>
                  </a:ext>
                </a:extLst>
              </p:cNvPr>
              <p:cNvSpPr/>
              <p:nvPr/>
            </p:nvSpPr>
            <p:spPr>
              <a:xfrm>
                <a:off x="2568726" y="3378594"/>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8" name="Oval 53">
                <a:extLst>
                  <a:ext uri="{FF2B5EF4-FFF2-40B4-BE49-F238E27FC236}">
                    <a16:creationId xmlns:a16="http://schemas.microsoft.com/office/drawing/2014/main" id="{B4FDF84C-4241-4223-9403-B5228A1B0D81}"/>
                  </a:ext>
                </a:extLst>
              </p:cNvPr>
              <p:cNvSpPr/>
              <p:nvPr/>
            </p:nvSpPr>
            <p:spPr>
              <a:xfrm>
                <a:off x="2900686" y="3127704"/>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9" name="Oval 53">
                <a:extLst>
                  <a:ext uri="{FF2B5EF4-FFF2-40B4-BE49-F238E27FC236}">
                    <a16:creationId xmlns:a16="http://schemas.microsoft.com/office/drawing/2014/main" id="{B9999443-0D31-4C10-B435-B002E01E1FC3}"/>
                  </a:ext>
                </a:extLst>
              </p:cNvPr>
              <p:cNvSpPr/>
              <p:nvPr/>
            </p:nvSpPr>
            <p:spPr>
              <a:xfrm>
                <a:off x="2460726" y="3781704"/>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0" name="Oval 53">
                <a:extLst>
                  <a:ext uri="{FF2B5EF4-FFF2-40B4-BE49-F238E27FC236}">
                    <a16:creationId xmlns:a16="http://schemas.microsoft.com/office/drawing/2014/main" id="{39C9E79F-55EB-4787-8EC8-F1BB8372D863}"/>
                  </a:ext>
                </a:extLst>
              </p:cNvPr>
              <p:cNvSpPr/>
              <p:nvPr/>
            </p:nvSpPr>
            <p:spPr>
              <a:xfrm>
                <a:off x="3300380" y="4577055"/>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1" name="Oval 53">
                <a:extLst>
                  <a:ext uri="{FF2B5EF4-FFF2-40B4-BE49-F238E27FC236}">
                    <a16:creationId xmlns:a16="http://schemas.microsoft.com/office/drawing/2014/main" id="{4D84FFA2-C9F0-49FB-A22C-07B50217B14A}"/>
                  </a:ext>
                </a:extLst>
              </p:cNvPr>
              <p:cNvSpPr/>
              <p:nvPr/>
            </p:nvSpPr>
            <p:spPr>
              <a:xfrm>
                <a:off x="2733330" y="3727704"/>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2" name="Oval 53">
                <a:extLst>
                  <a:ext uri="{FF2B5EF4-FFF2-40B4-BE49-F238E27FC236}">
                    <a16:creationId xmlns:a16="http://schemas.microsoft.com/office/drawing/2014/main" id="{C78F3596-9476-450A-8F5D-AFCC3C948137}"/>
                  </a:ext>
                </a:extLst>
              </p:cNvPr>
              <p:cNvSpPr/>
              <p:nvPr/>
            </p:nvSpPr>
            <p:spPr>
              <a:xfrm>
                <a:off x="3370036" y="3181704"/>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3" name="Oval 53">
                <a:extLst>
                  <a:ext uri="{FF2B5EF4-FFF2-40B4-BE49-F238E27FC236}">
                    <a16:creationId xmlns:a16="http://schemas.microsoft.com/office/drawing/2014/main" id="{F3B63AB2-966D-4FBB-9FD3-237259B54359}"/>
                  </a:ext>
                </a:extLst>
              </p:cNvPr>
              <p:cNvSpPr/>
              <p:nvPr/>
            </p:nvSpPr>
            <p:spPr>
              <a:xfrm>
                <a:off x="2625330" y="4218496"/>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4" name="Oval 53">
                <a:extLst>
                  <a:ext uri="{FF2B5EF4-FFF2-40B4-BE49-F238E27FC236}">
                    <a16:creationId xmlns:a16="http://schemas.microsoft.com/office/drawing/2014/main" id="{DCA959A7-453D-41A8-AB0C-8BEBC756A46A}"/>
                  </a:ext>
                </a:extLst>
              </p:cNvPr>
              <p:cNvSpPr/>
              <p:nvPr/>
            </p:nvSpPr>
            <p:spPr>
              <a:xfrm>
                <a:off x="2577687" y="4641761"/>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5" name="Oval 53">
                <a:extLst>
                  <a:ext uri="{FF2B5EF4-FFF2-40B4-BE49-F238E27FC236}">
                    <a16:creationId xmlns:a16="http://schemas.microsoft.com/office/drawing/2014/main" id="{3AC8C007-9529-4B8A-94CE-C758137B6E83}"/>
                  </a:ext>
                </a:extLst>
              </p:cNvPr>
              <p:cNvSpPr/>
              <p:nvPr/>
            </p:nvSpPr>
            <p:spPr>
              <a:xfrm>
                <a:off x="3424036" y="3630681"/>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6" name="Oval 53">
                <a:extLst>
                  <a:ext uri="{FF2B5EF4-FFF2-40B4-BE49-F238E27FC236}">
                    <a16:creationId xmlns:a16="http://schemas.microsoft.com/office/drawing/2014/main" id="{DFF38D12-515A-4268-9D0A-86CCF1DD9117}"/>
                  </a:ext>
                </a:extLst>
              </p:cNvPr>
              <p:cNvSpPr/>
              <p:nvPr/>
            </p:nvSpPr>
            <p:spPr>
              <a:xfrm>
                <a:off x="2991443" y="3964658"/>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7" name="Oval 53">
                <a:extLst>
                  <a:ext uri="{FF2B5EF4-FFF2-40B4-BE49-F238E27FC236}">
                    <a16:creationId xmlns:a16="http://schemas.microsoft.com/office/drawing/2014/main" id="{A3CB1770-58D8-4155-B30F-8EC5A8B3DCA5}"/>
                  </a:ext>
                </a:extLst>
              </p:cNvPr>
              <p:cNvSpPr/>
              <p:nvPr/>
            </p:nvSpPr>
            <p:spPr>
              <a:xfrm>
                <a:off x="3842490" y="3144655"/>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8" name="Oval 53">
                <a:extLst>
                  <a:ext uri="{FF2B5EF4-FFF2-40B4-BE49-F238E27FC236}">
                    <a16:creationId xmlns:a16="http://schemas.microsoft.com/office/drawing/2014/main" id="{69BBE239-0322-450F-B8D3-F746EE2E22C9}"/>
                  </a:ext>
                </a:extLst>
              </p:cNvPr>
              <p:cNvSpPr/>
              <p:nvPr/>
            </p:nvSpPr>
            <p:spPr>
              <a:xfrm>
                <a:off x="3478036" y="3959488"/>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9" name="Oval 53">
                <a:extLst>
                  <a:ext uri="{FF2B5EF4-FFF2-40B4-BE49-F238E27FC236}">
                    <a16:creationId xmlns:a16="http://schemas.microsoft.com/office/drawing/2014/main" id="{8B47C600-3251-4343-9AFF-8E7ED5845594}"/>
                  </a:ext>
                </a:extLst>
              </p:cNvPr>
              <p:cNvSpPr/>
              <p:nvPr/>
            </p:nvSpPr>
            <p:spPr>
              <a:xfrm>
                <a:off x="3015637" y="4767048"/>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0" name="Oval 53">
                <a:extLst>
                  <a:ext uri="{FF2B5EF4-FFF2-40B4-BE49-F238E27FC236}">
                    <a16:creationId xmlns:a16="http://schemas.microsoft.com/office/drawing/2014/main" id="{F444D31F-9DB7-4EEF-AB1E-24B4960C54BD}"/>
                  </a:ext>
                </a:extLst>
              </p:cNvPr>
              <p:cNvSpPr/>
              <p:nvPr/>
            </p:nvSpPr>
            <p:spPr>
              <a:xfrm>
                <a:off x="3696627" y="3471522"/>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1" name="Oval 53">
                <a:extLst>
                  <a:ext uri="{FF2B5EF4-FFF2-40B4-BE49-F238E27FC236}">
                    <a16:creationId xmlns:a16="http://schemas.microsoft.com/office/drawing/2014/main" id="{52B438B1-C884-42C5-943F-C40FDD534187}"/>
                  </a:ext>
                </a:extLst>
              </p:cNvPr>
              <p:cNvSpPr/>
              <p:nvPr/>
            </p:nvSpPr>
            <p:spPr>
              <a:xfrm>
                <a:off x="4304255" y="3198655"/>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2" name="Oval 53">
                <a:extLst>
                  <a:ext uri="{FF2B5EF4-FFF2-40B4-BE49-F238E27FC236}">
                    <a16:creationId xmlns:a16="http://schemas.microsoft.com/office/drawing/2014/main" id="{1F34C3C9-C9C1-437D-ABA2-64B5EBC2F8A6}"/>
                  </a:ext>
                </a:extLst>
              </p:cNvPr>
              <p:cNvSpPr/>
              <p:nvPr/>
            </p:nvSpPr>
            <p:spPr>
              <a:xfrm>
                <a:off x="4015390" y="4208655"/>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3" name="Oval 53">
                <a:extLst>
                  <a:ext uri="{FF2B5EF4-FFF2-40B4-BE49-F238E27FC236}">
                    <a16:creationId xmlns:a16="http://schemas.microsoft.com/office/drawing/2014/main" id="{950E07AA-AB86-4A8B-9BE8-F849C4B38F19}"/>
                  </a:ext>
                </a:extLst>
              </p:cNvPr>
              <p:cNvSpPr/>
              <p:nvPr/>
            </p:nvSpPr>
            <p:spPr>
              <a:xfrm>
                <a:off x="2930288" y="4387294"/>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4" name="Oval 53">
                <a:extLst>
                  <a:ext uri="{FF2B5EF4-FFF2-40B4-BE49-F238E27FC236}">
                    <a16:creationId xmlns:a16="http://schemas.microsoft.com/office/drawing/2014/main" id="{4428FC9C-8D97-4ECA-860C-EBB96F61F23A}"/>
                  </a:ext>
                </a:extLst>
              </p:cNvPr>
              <p:cNvSpPr/>
              <p:nvPr/>
            </p:nvSpPr>
            <p:spPr>
              <a:xfrm>
                <a:off x="3298926" y="4304618"/>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5" name="Oval 53">
                <a:extLst>
                  <a:ext uri="{FF2B5EF4-FFF2-40B4-BE49-F238E27FC236}">
                    <a16:creationId xmlns:a16="http://schemas.microsoft.com/office/drawing/2014/main" id="{2A64B077-CB48-4733-89E3-DBDB3A962901}"/>
                  </a:ext>
                </a:extLst>
              </p:cNvPr>
              <p:cNvSpPr/>
              <p:nvPr/>
            </p:nvSpPr>
            <p:spPr>
              <a:xfrm>
                <a:off x="3830470" y="3943704"/>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6" name="Oval 53">
                <a:extLst>
                  <a:ext uri="{FF2B5EF4-FFF2-40B4-BE49-F238E27FC236}">
                    <a16:creationId xmlns:a16="http://schemas.microsoft.com/office/drawing/2014/main" id="{16AEFA1B-234D-4BD1-9255-010EC7658BDB}"/>
                  </a:ext>
                </a:extLst>
              </p:cNvPr>
              <p:cNvSpPr/>
              <p:nvPr/>
            </p:nvSpPr>
            <p:spPr>
              <a:xfrm>
                <a:off x="3696627" y="4326496"/>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7" name="Oval 53">
                <a:extLst>
                  <a:ext uri="{FF2B5EF4-FFF2-40B4-BE49-F238E27FC236}">
                    <a16:creationId xmlns:a16="http://schemas.microsoft.com/office/drawing/2014/main" id="{D9C8E93C-36F2-420D-854C-FED272FABD41}"/>
                  </a:ext>
                </a:extLst>
              </p:cNvPr>
              <p:cNvSpPr/>
              <p:nvPr/>
            </p:nvSpPr>
            <p:spPr>
              <a:xfrm>
                <a:off x="4030862" y="3629304"/>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8" name="Oval 53">
                <a:extLst>
                  <a:ext uri="{FF2B5EF4-FFF2-40B4-BE49-F238E27FC236}">
                    <a16:creationId xmlns:a16="http://schemas.microsoft.com/office/drawing/2014/main" id="{3B0746D8-FC33-42A1-9D0E-8F76232696E7}"/>
                  </a:ext>
                </a:extLst>
              </p:cNvPr>
              <p:cNvSpPr/>
              <p:nvPr/>
            </p:nvSpPr>
            <p:spPr>
              <a:xfrm>
                <a:off x="3904635" y="4631055"/>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9" name="Oval 53">
                <a:extLst>
                  <a:ext uri="{FF2B5EF4-FFF2-40B4-BE49-F238E27FC236}">
                    <a16:creationId xmlns:a16="http://schemas.microsoft.com/office/drawing/2014/main" id="{6084B2F1-467F-4BF0-A898-410902A851AA}"/>
                  </a:ext>
                </a:extLst>
              </p:cNvPr>
              <p:cNvSpPr/>
              <p:nvPr/>
            </p:nvSpPr>
            <p:spPr>
              <a:xfrm>
                <a:off x="2614864" y="5050348"/>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0" name="Oval 53">
                <a:extLst>
                  <a:ext uri="{FF2B5EF4-FFF2-40B4-BE49-F238E27FC236}">
                    <a16:creationId xmlns:a16="http://schemas.microsoft.com/office/drawing/2014/main" id="{4992778D-12B9-49B1-B822-64FB98464CAD}"/>
                  </a:ext>
                </a:extLst>
              </p:cNvPr>
              <p:cNvSpPr/>
              <p:nvPr/>
            </p:nvSpPr>
            <p:spPr>
              <a:xfrm>
                <a:off x="4201233" y="4577055"/>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1" name="Oval 53">
                <a:extLst>
                  <a:ext uri="{FF2B5EF4-FFF2-40B4-BE49-F238E27FC236}">
                    <a16:creationId xmlns:a16="http://schemas.microsoft.com/office/drawing/2014/main" id="{0C0C4BDE-337F-49EC-B0A2-41FFB8BCA972}"/>
                  </a:ext>
                </a:extLst>
              </p:cNvPr>
              <p:cNvSpPr/>
              <p:nvPr/>
            </p:nvSpPr>
            <p:spPr>
              <a:xfrm>
                <a:off x="2974688" y="3530904"/>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2" name="Oval 53">
                <a:extLst>
                  <a:ext uri="{FF2B5EF4-FFF2-40B4-BE49-F238E27FC236}">
                    <a16:creationId xmlns:a16="http://schemas.microsoft.com/office/drawing/2014/main" id="{284D2DBF-23EC-4B43-BFD7-FAB40D26EFCC}"/>
                  </a:ext>
                </a:extLst>
              </p:cNvPr>
              <p:cNvSpPr/>
              <p:nvPr/>
            </p:nvSpPr>
            <p:spPr>
              <a:xfrm>
                <a:off x="3650978" y="4663756"/>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3" name="Oval 53">
                <a:extLst>
                  <a:ext uri="{FF2B5EF4-FFF2-40B4-BE49-F238E27FC236}">
                    <a16:creationId xmlns:a16="http://schemas.microsoft.com/office/drawing/2014/main" id="{F5652443-6512-4C8C-A9B2-006D1DE6DB40}"/>
                  </a:ext>
                </a:extLst>
              </p:cNvPr>
              <p:cNvSpPr/>
              <p:nvPr/>
            </p:nvSpPr>
            <p:spPr>
              <a:xfrm>
                <a:off x="4354032" y="3471522"/>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4" name="Oval 53">
                <a:extLst>
                  <a:ext uri="{FF2B5EF4-FFF2-40B4-BE49-F238E27FC236}">
                    <a16:creationId xmlns:a16="http://schemas.microsoft.com/office/drawing/2014/main" id="{A824051B-8945-4A87-B245-40D84490B617}"/>
                  </a:ext>
                </a:extLst>
              </p:cNvPr>
              <p:cNvSpPr/>
              <p:nvPr/>
            </p:nvSpPr>
            <p:spPr>
              <a:xfrm>
                <a:off x="4012635" y="4907228"/>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5" name="Oval 53">
                <a:extLst>
                  <a:ext uri="{FF2B5EF4-FFF2-40B4-BE49-F238E27FC236}">
                    <a16:creationId xmlns:a16="http://schemas.microsoft.com/office/drawing/2014/main" id="{88A2BA2B-D740-443F-9138-CD4E21FEA9BE}"/>
                  </a:ext>
                </a:extLst>
              </p:cNvPr>
              <p:cNvSpPr/>
              <p:nvPr/>
            </p:nvSpPr>
            <p:spPr>
              <a:xfrm>
                <a:off x="4712571" y="3144655"/>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6" name="Oval 53">
                <a:extLst>
                  <a:ext uri="{FF2B5EF4-FFF2-40B4-BE49-F238E27FC236}">
                    <a16:creationId xmlns:a16="http://schemas.microsoft.com/office/drawing/2014/main" id="{789CBB88-D83F-4C9C-9E82-83C0C2106302}"/>
                  </a:ext>
                </a:extLst>
              </p:cNvPr>
              <p:cNvSpPr/>
              <p:nvPr/>
            </p:nvSpPr>
            <p:spPr>
              <a:xfrm>
                <a:off x="2514726" y="5549190"/>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7" name="Oval 53">
                <a:extLst>
                  <a:ext uri="{FF2B5EF4-FFF2-40B4-BE49-F238E27FC236}">
                    <a16:creationId xmlns:a16="http://schemas.microsoft.com/office/drawing/2014/main" id="{A227F71E-6DA2-4BEE-946A-659E01AD08A1}"/>
                  </a:ext>
                </a:extLst>
              </p:cNvPr>
              <p:cNvSpPr/>
              <p:nvPr/>
            </p:nvSpPr>
            <p:spPr>
              <a:xfrm>
                <a:off x="2841330" y="5048815"/>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8" name="Oval 53">
                <a:extLst>
                  <a:ext uri="{FF2B5EF4-FFF2-40B4-BE49-F238E27FC236}">
                    <a16:creationId xmlns:a16="http://schemas.microsoft.com/office/drawing/2014/main" id="{1A51973D-6295-43D7-A020-11A61FDB63AA}"/>
                  </a:ext>
                </a:extLst>
              </p:cNvPr>
              <p:cNvSpPr/>
              <p:nvPr/>
            </p:nvSpPr>
            <p:spPr>
              <a:xfrm>
                <a:off x="4961357" y="3181704"/>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9" name="Isosceles Triangle 58">
                <a:extLst>
                  <a:ext uri="{FF2B5EF4-FFF2-40B4-BE49-F238E27FC236}">
                    <a16:creationId xmlns:a16="http://schemas.microsoft.com/office/drawing/2014/main" id="{C6F8B0C7-D810-4813-9433-157A2F8B5F24}"/>
                  </a:ext>
                </a:extLst>
              </p:cNvPr>
              <p:cNvSpPr/>
              <p:nvPr/>
            </p:nvSpPr>
            <p:spPr>
              <a:xfrm>
                <a:off x="4030862" y="3385086"/>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Isosceles Triangle 58">
                <a:extLst>
                  <a:ext uri="{FF2B5EF4-FFF2-40B4-BE49-F238E27FC236}">
                    <a16:creationId xmlns:a16="http://schemas.microsoft.com/office/drawing/2014/main" id="{A83BF981-2DCF-4951-938C-FE365D07C9F4}"/>
                  </a:ext>
                </a:extLst>
              </p:cNvPr>
              <p:cNvSpPr/>
              <p:nvPr/>
            </p:nvSpPr>
            <p:spPr>
              <a:xfrm>
                <a:off x="4694462" y="3439173"/>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58">
                <a:extLst>
                  <a:ext uri="{FF2B5EF4-FFF2-40B4-BE49-F238E27FC236}">
                    <a16:creationId xmlns:a16="http://schemas.microsoft.com/office/drawing/2014/main" id="{593C6EC7-F75A-4905-96DE-C0A53D8A07BC}"/>
                  </a:ext>
                </a:extLst>
              </p:cNvPr>
              <p:cNvSpPr/>
              <p:nvPr/>
            </p:nvSpPr>
            <p:spPr>
              <a:xfrm>
                <a:off x="4218611" y="3877808"/>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Isosceles Triangle 58">
                <a:extLst>
                  <a:ext uri="{FF2B5EF4-FFF2-40B4-BE49-F238E27FC236}">
                    <a16:creationId xmlns:a16="http://schemas.microsoft.com/office/drawing/2014/main" id="{C8674AF9-36F3-4022-BF54-39ACEBC454DA}"/>
                  </a:ext>
                </a:extLst>
              </p:cNvPr>
              <p:cNvSpPr/>
              <p:nvPr/>
            </p:nvSpPr>
            <p:spPr>
              <a:xfrm>
                <a:off x="4945262" y="3683304"/>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Isosceles Triangle 58">
                <a:extLst>
                  <a:ext uri="{FF2B5EF4-FFF2-40B4-BE49-F238E27FC236}">
                    <a16:creationId xmlns:a16="http://schemas.microsoft.com/office/drawing/2014/main" id="{17CF62BB-4AB4-40EC-BD06-E6F3132536AB}"/>
                  </a:ext>
                </a:extLst>
              </p:cNvPr>
              <p:cNvSpPr/>
              <p:nvPr/>
            </p:nvSpPr>
            <p:spPr>
              <a:xfrm>
                <a:off x="4615497" y="3889704"/>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Isosceles Triangle 58">
                <a:extLst>
                  <a:ext uri="{FF2B5EF4-FFF2-40B4-BE49-F238E27FC236}">
                    <a16:creationId xmlns:a16="http://schemas.microsoft.com/office/drawing/2014/main" id="{383C0289-66D2-410F-B6A6-AB0F88DCFD5B}"/>
                  </a:ext>
                </a:extLst>
              </p:cNvPr>
              <p:cNvSpPr/>
              <p:nvPr/>
            </p:nvSpPr>
            <p:spPr>
              <a:xfrm>
                <a:off x="4372326" y="4313984"/>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58">
                <a:extLst>
                  <a:ext uri="{FF2B5EF4-FFF2-40B4-BE49-F238E27FC236}">
                    <a16:creationId xmlns:a16="http://schemas.microsoft.com/office/drawing/2014/main" id="{CE8BD009-56E2-47F8-8D91-1D5421EB5F1E}"/>
                  </a:ext>
                </a:extLst>
              </p:cNvPr>
              <p:cNvSpPr/>
              <p:nvPr/>
            </p:nvSpPr>
            <p:spPr>
              <a:xfrm>
                <a:off x="4423921" y="4821048"/>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Isosceles Triangle 58">
                <a:extLst>
                  <a:ext uri="{FF2B5EF4-FFF2-40B4-BE49-F238E27FC236}">
                    <a16:creationId xmlns:a16="http://schemas.microsoft.com/office/drawing/2014/main" id="{3D230128-3865-4436-8E4E-38DE8F636DCD}"/>
                  </a:ext>
                </a:extLst>
              </p:cNvPr>
              <p:cNvSpPr/>
              <p:nvPr/>
            </p:nvSpPr>
            <p:spPr>
              <a:xfrm>
                <a:off x="4729225" y="4555847"/>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Isosceles Triangle 58">
                <a:extLst>
                  <a:ext uri="{FF2B5EF4-FFF2-40B4-BE49-F238E27FC236}">
                    <a16:creationId xmlns:a16="http://schemas.microsoft.com/office/drawing/2014/main" id="{46B8A265-7A54-4EEC-A25D-8FF197E32B65}"/>
                  </a:ext>
                </a:extLst>
              </p:cNvPr>
              <p:cNvSpPr/>
              <p:nvPr/>
            </p:nvSpPr>
            <p:spPr>
              <a:xfrm>
                <a:off x="3406926" y="4830717"/>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Isosceles Triangle 58">
                <a:extLst>
                  <a:ext uri="{FF2B5EF4-FFF2-40B4-BE49-F238E27FC236}">
                    <a16:creationId xmlns:a16="http://schemas.microsoft.com/office/drawing/2014/main" id="{D8F5A69A-9415-47CB-B29B-DBD81C64294C}"/>
                  </a:ext>
                </a:extLst>
              </p:cNvPr>
              <p:cNvSpPr/>
              <p:nvPr/>
            </p:nvSpPr>
            <p:spPr>
              <a:xfrm>
                <a:off x="4335662" y="3689886"/>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Isosceles Triangle 58">
                <a:extLst>
                  <a:ext uri="{FF2B5EF4-FFF2-40B4-BE49-F238E27FC236}">
                    <a16:creationId xmlns:a16="http://schemas.microsoft.com/office/drawing/2014/main" id="{29D66B20-F48C-4AAA-9C2F-DFFD6DECB42A}"/>
                  </a:ext>
                </a:extLst>
              </p:cNvPr>
              <p:cNvSpPr/>
              <p:nvPr/>
            </p:nvSpPr>
            <p:spPr>
              <a:xfrm>
                <a:off x="3106538" y="5215955"/>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Isosceles Triangle 58">
                <a:extLst>
                  <a:ext uri="{FF2B5EF4-FFF2-40B4-BE49-F238E27FC236}">
                    <a16:creationId xmlns:a16="http://schemas.microsoft.com/office/drawing/2014/main" id="{A466A30E-C17C-4127-A000-865D89688956}"/>
                  </a:ext>
                </a:extLst>
              </p:cNvPr>
              <p:cNvSpPr/>
              <p:nvPr/>
            </p:nvSpPr>
            <p:spPr>
              <a:xfrm>
                <a:off x="3686057" y="4960030"/>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Isosceles Triangle 58">
                <a:extLst>
                  <a:ext uri="{FF2B5EF4-FFF2-40B4-BE49-F238E27FC236}">
                    <a16:creationId xmlns:a16="http://schemas.microsoft.com/office/drawing/2014/main" id="{979C59DC-6BE9-4680-B2BE-66E49E13489A}"/>
                  </a:ext>
                </a:extLst>
              </p:cNvPr>
              <p:cNvSpPr/>
              <p:nvPr/>
            </p:nvSpPr>
            <p:spPr>
              <a:xfrm>
                <a:off x="4867765" y="4852030"/>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Isosceles Triangle 58">
                <a:extLst>
                  <a:ext uri="{FF2B5EF4-FFF2-40B4-BE49-F238E27FC236}">
                    <a16:creationId xmlns:a16="http://schemas.microsoft.com/office/drawing/2014/main" id="{AE95F8CC-3360-4F76-B86F-CA3D1C31016A}"/>
                  </a:ext>
                </a:extLst>
              </p:cNvPr>
              <p:cNvSpPr/>
              <p:nvPr/>
            </p:nvSpPr>
            <p:spPr>
              <a:xfrm>
                <a:off x="4867765" y="4213569"/>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Isosceles Triangle 58">
                <a:extLst>
                  <a:ext uri="{FF2B5EF4-FFF2-40B4-BE49-F238E27FC236}">
                    <a16:creationId xmlns:a16="http://schemas.microsoft.com/office/drawing/2014/main" id="{72545998-CF66-437A-8D8E-5CC5756EF4B4}"/>
                  </a:ext>
                </a:extLst>
              </p:cNvPr>
              <p:cNvSpPr/>
              <p:nvPr/>
            </p:nvSpPr>
            <p:spPr>
              <a:xfrm>
                <a:off x="5090449" y="4469055"/>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Isosceles Triangle 58">
                <a:extLst>
                  <a:ext uri="{FF2B5EF4-FFF2-40B4-BE49-F238E27FC236}">
                    <a16:creationId xmlns:a16="http://schemas.microsoft.com/office/drawing/2014/main" id="{20F27D26-712C-4C1D-89EC-D2DFCB6EC35D}"/>
                  </a:ext>
                </a:extLst>
              </p:cNvPr>
              <p:cNvSpPr/>
              <p:nvPr/>
            </p:nvSpPr>
            <p:spPr>
              <a:xfrm>
                <a:off x="2846773" y="5443173"/>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Isosceles Triangle 58">
                <a:extLst>
                  <a:ext uri="{FF2B5EF4-FFF2-40B4-BE49-F238E27FC236}">
                    <a16:creationId xmlns:a16="http://schemas.microsoft.com/office/drawing/2014/main" id="{07DFDFE6-933D-4D23-B65D-9677112EA63B}"/>
                  </a:ext>
                </a:extLst>
              </p:cNvPr>
              <p:cNvSpPr/>
              <p:nvPr/>
            </p:nvSpPr>
            <p:spPr>
              <a:xfrm>
                <a:off x="3514926" y="5432769"/>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Isosceles Triangle 58">
                <a:extLst>
                  <a:ext uri="{FF2B5EF4-FFF2-40B4-BE49-F238E27FC236}">
                    <a16:creationId xmlns:a16="http://schemas.microsoft.com/office/drawing/2014/main" id="{BDEB92FB-9846-4DCB-A09D-97538AF05081}"/>
                  </a:ext>
                </a:extLst>
              </p:cNvPr>
              <p:cNvSpPr/>
              <p:nvPr/>
            </p:nvSpPr>
            <p:spPr>
              <a:xfrm>
                <a:off x="3244926" y="5591815"/>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Isosceles Triangle 58">
                <a:extLst>
                  <a:ext uri="{FF2B5EF4-FFF2-40B4-BE49-F238E27FC236}">
                    <a16:creationId xmlns:a16="http://schemas.microsoft.com/office/drawing/2014/main" id="{C4F9E8EB-2E76-4279-B94C-CC139356F612}"/>
                  </a:ext>
                </a:extLst>
              </p:cNvPr>
              <p:cNvSpPr/>
              <p:nvPr/>
            </p:nvSpPr>
            <p:spPr>
              <a:xfrm>
                <a:off x="3904635" y="5280645"/>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Isosceles Triangle 58">
                <a:extLst>
                  <a:ext uri="{FF2B5EF4-FFF2-40B4-BE49-F238E27FC236}">
                    <a16:creationId xmlns:a16="http://schemas.microsoft.com/office/drawing/2014/main" id="{FF01E6B7-F7F0-4E03-B9A4-252F99E4E56F}"/>
                  </a:ext>
                </a:extLst>
              </p:cNvPr>
              <p:cNvSpPr/>
              <p:nvPr/>
            </p:nvSpPr>
            <p:spPr>
              <a:xfrm>
                <a:off x="3884470" y="5524026"/>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Isosceles Triangle 58">
                <a:extLst>
                  <a:ext uri="{FF2B5EF4-FFF2-40B4-BE49-F238E27FC236}">
                    <a16:creationId xmlns:a16="http://schemas.microsoft.com/office/drawing/2014/main" id="{7B995A85-5252-466F-B04B-FA0A442FC674}"/>
                  </a:ext>
                </a:extLst>
              </p:cNvPr>
              <p:cNvSpPr/>
              <p:nvPr/>
            </p:nvSpPr>
            <p:spPr>
              <a:xfrm>
                <a:off x="4314655" y="5249990"/>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Isosceles Triangle 58">
                <a:extLst>
                  <a:ext uri="{FF2B5EF4-FFF2-40B4-BE49-F238E27FC236}">
                    <a16:creationId xmlns:a16="http://schemas.microsoft.com/office/drawing/2014/main" id="{9BCF7C77-59AC-43D5-B0A7-0DAE3590D786}"/>
                  </a:ext>
                </a:extLst>
              </p:cNvPr>
              <p:cNvSpPr/>
              <p:nvPr/>
            </p:nvSpPr>
            <p:spPr>
              <a:xfrm>
                <a:off x="4604065" y="5094394"/>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Isosceles Triangle 58">
                <a:extLst>
                  <a:ext uri="{FF2B5EF4-FFF2-40B4-BE49-F238E27FC236}">
                    <a16:creationId xmlns:a16="http://schemas.microsoft.com/office/drawing/2014/main" id="{05433414-0FEE-4184-BDA6-889CE476EC45}"/>
                  </a:ext>
                </a:extLst>
              </p:cNvPr>
              <p:cNvSpPr/>
              <p:nvPr/>
            </p:nvSpPr>
            <p:spPr>
              <a:xfrm>
                <a:off x="4531921" y="5632026"/>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Isosceles Triangle 58">
                <a:extLst>
                  <a:ext uri="{FF2B5EF4-FFF2-40B4-BE49-F238E27FC236}">
                    <a16:creationId xmlns:a16="http://schemas.microsoft.com/office/drawing/2014/main" id="{26EF82BF-5798-4289-84AF-1AE216BEB99C}"/>
                  </a:ext>
                </a:extLst>
              </p:cNvPr>
              <p:cNvSpPr/>
              <p:nvPr/>
            </p:nvSpPr>
            <p:spPr>
              <a:xfrm>
                <a:off x="4924684" y="5186655"/>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Isosceles Triangle 58">
                <a:extLst>
                  <a:ext uri="{FF2B5EF4-FFF2-40B4-BE49-F238E27FC236}">
                    <a16:creationId xmlns:a16="http://schemas.microsoft.com/office/drawing/2014/main" id="{4E3A35F9-7662-48F4-9410-C6646D17E38E}"/>
                  </a:ext>
                </a:extLst>
              </p:cNvPr>
              <p:cNvSpPr/>
              <p:nvPr/>
            </p:nvSpPr>
            <p:spPr>
              <a:xfrm>
                <a:off x="4156228" y="5567061"/>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Isosceles Triangle 58">
                <a:extLst>
                  <a:ext uri="{FF2B5EF4-FFF2-40B4-BE49-F238E27FC236}">
                    <a16:creationId xmlns:a16="http://schemas.microsoft.com/office/drawing/2014/main" id="{1FC0B188-12AB-4B71-AAB5-B7AD242D07D3}"/>
                  </a:ext>
                </a:extLst>
              </p:cNvPr>
              <p:cNvSpPr/>
              <p:nvPr/>
            </p:nvSpPr>
            <p:spPr>
              <a:xfrm>
                <a:off x="4945262" y="5578026"/>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Isosceles Triangle 58">
                <a:extLst>
                  <a:ext uri="{FF2B5EF4-FFF2-40B4-BE49-F238E27FC236}">
                    <a16:creationId xmlns:a16="http://schemas.microsoft.com/office/drawing/2014/main" id="{3BE13FDC-7879-493A-B8A2-4EEE20B86154}"/>
                  </a:ext>
                </a:extLst>
              </p:cNvPr>
              <p:cNvSpPr/>
              <p:nvPr/>
            </p:nvSpPr>
            <p:spPr>
              <a:xfrm>
                <a:off x="3454828" y="5188740"/>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53">
                <a:extLst>
                  <a:ext uri="{FF2B5EF4-FFF2-40B4-BE49-F238E27FC236}">
                    <a16:creationId xmlns:a16="http://schemas.microsoft.com/office/drawing/2014/main" id="{562DD8FA-0FE1-4104-B084-402AAF4C3F15}"/>
                  </a:ext>
                </a:extLst>
              </p:cNvPr>
              <p:cNvSpPr/>
              <p:nvPr/>
            </p:nvSpPr>
            <p:spPr>
              <a:xfrm>
                <a:off x="4512928" y="4134689"/>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52" name="자유형: 도형 51">
              <a:extLst>
                <a:ext uri="{FF2B5EF4-FFF2-40B4-BE49-F238E27FC236}">
                  <a16:creationId xmlns:a16="http://schemas.microsoft.com/office/drawing/2014/main" id="{217C1693-82A5-4E81-8217-8CACA684E5BE}"/>
                </a:ext>
              </a:extLst>
            </p:cNvPr>
            <p:cNvSpPr/>
            <p:nvPr/>
          </p:nvSpPr>
          <p:spPr>
            <a:xfrm>
              <a:off x="2454234" y="3021105"/>
              <a:ext cx="2776351" cy="2793846"/>
            </a:xfrm>
            <a:custGeom>
              <a:avLst/>
              <a:gdLst>
                <a:gd name="connsiteX0" fmla="*/ 0 w 2826327"/>
                <a:gd name="connsiteY0" fmla="*/ 2759034 h 2759034"/>
                <a:gd name="connsiteX1" fmla="*/ 55418 w 2826327"/>
                <a:gd name="connsiteY1" fmla="*/ 2751117 h 2759034"/>
                <a:gd name="connsiteX2" fmla="*/ 95002 w 2826327"/>
                <a:gd name="connsiteY2" fmla="*/ 2731325 h 2759034"/>
                <a:gd name="connsiteX3" fmla="*/ 126670 w 2826327"/>
                <a:gd name="connsiteY3" fmla="*/ 2711532 h 2759034"/>
                <a:gd name="connsiteX4" fmla="*/ 142504 w 2826327"/>
                <a:gd name="connsiteY4" fmla="*/ 2703615 h 2759034"/>
                <a:gd name="connsiteX5" fmla="*/ 154379 w 2826327"/>
                <a:gd name="connsiteY5" fmla="*/ 2695699 h 2759034"/>
                <a:gd name="connsiteX6" fmla="*/ 178130 w 2826327"/>
                <a:gd name="connsiteY6" fmla="*/ 2687782 h 2759034"/>
                <a:gd name="connsiteX7" fmla="*/ 193963 w 2826327"/>
                <a:gd name="connsiteY7" fmla="*/ 2675906 h 2759034"/>
                <a:gd name="connsiteX8" fmla="*/ 205839 w 2826327"/>
                <a:gd name="connsiteY8" fmla="*/ 2671948 h 2759034"/>
                <a:gd name="connsiteX9" fmla="*/ 229589 w 2826327"/>
                <a:gd name="connsiteY9" fmla="*/ 2648197 h 2759034"/>
                <a:gd name="connsiteX10" fmla="*/ 241465 w 2826327"/>
                <a:gd name="connsiteY10" fmla="*/ 2636322 h 2759034"/>
                <a:gd name="connsiteX11" fmla="*/ 253340 w 2826327"/>
                <a:gd name="connsiteY11" fmla="*/ 2624447 h 2759034"/>
                <a:gd name="connsiteX12" fmla="*/ 269174 w 2826327"/>
                <a:gd name="connsiteY12" fmla="*/ 2600696 h 2759034"/>
                <a:gd name="connsiteX13" fmla="*/ 277091 w 2826327"/>
                <a:gd name="connsiteY13" fmla="*/ 2588821 h 2759034"/>
                <a:gd name="connsiteX14" fmla="*/ 288966 w 2826327"/>
                <a:gd name="connsiteY14" fmla="*/ 2576945 h 2759034"/>
                <a:gd name="connsiteX15" fmla="*/ 308758 w 2826327"/>
                <a:gd name="connsiteY15" fmla="*/ 2541319 h 2759034"/>
                <a:gd name="connsiteX16" fmla="*/ 316675 w 2826327"/>
                <a:gd name="connsiteY16" fmla="*/ 2525486 h 2759034"/>
                <a:gd name="connsiteX17" fmla="*/ 320634 w 2826327"/>
                <a:gd name="connsiteY17" fmla="*/ 2513610 h 2759034"/>
                <a:gd name="connsiteX18" fmla="*/ 328550 w 2826327"/>
                <a:gd name="connsiteY18" fmla="*/ 2501735 h 2759034"/>
                <a:gd name="connsiteX19" fmla="*/ 336467 w 2826327"/>
                <a:gd name="connsiteY19" fmla="*/ 2477984 h 2759034"/>
                <a:gd name="connsiteX20" fmla="*/ 348343 w 2826327"/>
                <a:gd name="connsiteY20" fmla="*/ 2454234 h 2759034"/>
                <a:gd name="connsiteX21" fmla="*/ 360218 w 2826327"/>
                <a:gd name="connsiteY21" fmla="*/ 2430483 h 2759034"/>
                <a:gd name="connsiteX22" fmla="*/ 372093 w 2826327"/>
                <a:gd name="connsiteY22" fmla="*/ 2402774 h 2759034"/>
                <a:gd name="connsiteX23" fmla="*/ 380010 w 2826327"/>
                <a:gd name="connsiteY23" fmla="*/ 2390899 h 2759034"/>
                <a:gd name="connsiteX24" fmla="*/ 383969 w 2826327"/>
                <a:gd name="connsiteY24" fmla="*/ 2379023 h 2759034"/>
                <a:gd name="connsiteX25" fmla="*/ 411678 w 2826327"/>
                <a:gd name="connsiteY25" fmla="*/ 2327564 h 2759034"/>
                <a:gd name="connsiteX26" fmla="*/ 415636 w 2826327"/>
                <a:gd name="connsiteY26" fmla="*/ 2315688 h 2759034"/>
                <a:gd name="connsiteX27" fmla="*/ 423553 w 2826327"/>
                <a:gd name="connsiteY27" fmla="*/ 2303813 h 2759034"/>
                <a:gd name="connsiteX28" fmla="*/ 427511 w 2826327"/>
                <a:gd name="connsiteY28" fmla="*/ 2287979 h 2759034"/>
                <a:gd name="connsiteX29" fmla="*/ 439387 w 2826327"/>
                <a:gd name="connsiteY29" fmla="*/ 2268187 h 2759034"/>
                <a:gd name="connsiteX30" fmla="*/ 455221 w 2826327"/>
                <a:gd name="connsiteY30" fmla="*/ 2232561 h 2759034"/>
                <a:gd name="connsiteX31" fmla="*/ 467096 w 2826327"/>
                <a:gd name="connsiteY31" fmla="*/ 2208810 h 2759034"/>
                <a:gd name="connsiteX32" fmla="*/ 471054 w 2826327"/>
                <a:gd name="connsiteY32" fmla="*/ 2196935 h 2759034"/>
                <a:gd name="connsiteX33" fmla="*/ 478971 w 2826327"/>
                <a:gd name="connsiteY33" fmla="*/ 2185060 h 2759034"/>
                <a:gd name="connsiteX34" fmla="*/ 482930 w 2826327"/>
                <a:gd name="connsiteY34" fmla="*/ 2173184 h 2759034"/>
                <a:gd name="connsiteX35" fmla="*/ 490847 w 2826327"/>
                <a:gd name="connsiteY35" fmla="*/ 2157351 h 2759034"/>
                <a:gd name="connsiteX36" fmla="*/ 498763 w 2826327"/>
                <a:gd name="connsiteY36" fmla="*/ 2129641 h 2759034"/>
                <a:gd name="connsiteX37" fmla="*/ 518556 w 2826327"/>
                <a:gd name="connsiteY37" fmla="*/ 2105891 h 2759034"/>
                <a:gd name="connsiteX38" fmla="*/ 538348 w 2826327"/>
                <a:gd name="connsiteY38" fmla="*/ 2066306 h 2759034"/>
                <a:gd name="connsiteX39" fmla="*/ 546265 w 2826327"/>
                <a:gd name="connsiteY39" fmla="*/ 2042556 h 2759034"/>
                <a:gd name="connsiteX40" fmla="*/ 566057 w 2826327"/>
                <a:gd name="connsiteY40" fmla="*/ 2014847 h 2759034"/>
                <a:gd name="connsiteX41" fmla="*/ 581891 w 2826327"/>
                <a:gd name="connsiteY41" fmla="*/ 1991096 h 2759034"/>
                <a:gd name="connsiteX42" fmla="*/ 601683 w 2826327"/>
                <a:gd name="connsiteY42" fmla="*/ 1963387 h 2759034"/>
                <a:gd name="connsiteX43" fmla="*/ 613558 w 2826327"/>
                <a:gd name="connsiteY43" fmla="*/ 1951512 h 2759034"/>
                <a:gd name="connsiteX44" fmla="*/ 637309 w 2826327"/>
                <a:gd name="connsiteY44" fmla="*/ 1919844 h 2759034"/>
                <a:gd name="connsiteX45" fmla="*/ 700644 w 2826327"/>
                <a:gd name="connsiteY45" fmla="*/ 1856509 h 2759034"/>
                <a:gd name="connsiteX46" fmla="*/ 712519 w 2826327"/>
                <a:gd name="connsiteY46" fmla="*/ 1844634 h 2759034"/>
                <a:gd name="connsiteX47" fmla="*/ 724395 w 2826327"/>
                <a:gd name="connsiteY47" fmla="*/ 1832758 h 2759034"/>
                <a:gd name="connsiteX48" fmla="*/ 748145 w 2826327"/>
                <a:gd name="connsiteY48" fmla="*/ 1816925 h 2759034"/>
                <a:gd name="connsiteX49" fmla="*/ 775854 w 2826327"/>
                <a:gd name="connsiteY49" fmla="*/ 1801091 h 2759034"/>
                <a:gd name="connsiteX50" fmla="*/ 815439 w 2826327"/>
                <a:gd name="connsiteY50" fmla="*/ 1793174 h 2759034"/>
                <a:gd name="connsiteX51" fmla="*/ 858982 w 2826327"/>
                <a:gd name="connsiteY51" fmla="*/ 1785257 h 2759034"/>
                <a:gd name="connsiteX52" fmla="*/ 1025236 w 2826327"/>
                <a:gd name="connsiteY52" fmla="*/ 1789215 h 2759034"/>
                <a:gd name="connsiteX53" fmla="*/ 1068779 w 2826327"/>
                <a:gd name="connsiteY53" fmla="*/ 1801091 h 2759034"/>
                <a:gd name="connsiteX54" fmla="*/ 1096488 w 2826327"/>
                <a:gd name="connsiteY54" fmla="*/ 1805049 h 2759034"/>
                <a:gd name="connsiteX55" fmla="*/ 1108363 w 2826327"/>
                <a:gd name="connsiteY55" fmla="*/ 1809008 h 2759034"/>
                <a:gd name="connsiteX56" fmla="*/ 1159823 w 2826327"/>
                <a:gd name="connsiteY56" fmla="*/ 1816925 h 2759034"/>
                <a:gd name="connsiteX57" fmla="*/ 1179615 w 2826327"/>
                <a:gd name="connsiteY57" fmla="*/ 1820883 h 2759034"/>
                <a:gd name="connsiteX58" fmla="*/ 1211283 w 2826327"/>
                <a:gd name="connsiteY58" fmla="*/ 1836717 h 2759034"/>
                <a:gd name="connsiteX59" fmla="*/ 1227117 w 2826327"/>
                <a:gd name="connsiteY59" fmla="*/ 1844634 h 2759034"/>
                <a:gd name="connsiteX60" fmla="*/ 1266701 w 2826327"/>
                <a:gd name="connsiteY60" fmla="*/ 1864426 h 2759034"/>
                <a:gd name="connsiteX61" fmla="*/ 1282535 w 2826327"/>
                <a:gd name="connsiteY61" fmla="*/ 1876301 h 2759034"/>
                <a:gd name="connsiteX62" fmla="*/ 1314202 w 2826327"/>
                <a:gd name="connsiteY62" fmla="*/ 1884218 h 2759034"/>
                <a:gd name="connsiteX63" fmla="*/ 1341911 w 2826327"/>
                <a:gd name="connsiteY63" fmla="*/ 1900052 h 2759034"/>
                <a:gd name="connsiteX64" fmla="*/ 1381496 w 2826327"/>
                <a:gd name="connsiteY64" fmla="*/ 1919844 h 2759034"/>
                <a:gd name="connsiteX65" fmla="*/ 1401288 w 2826327"/>
                <a:gd name="connsiteY65" fmla="*/ 1923802 h 2759034"/>
                <a:gd name="connsiteX66" fmla="*/ 1444831 w 2826327"/>
                <a:gd name="connsiteY66" fmla="*/ 1939636 h 2759034"/>
                <a:gd name="connsiteX67" fmla="*/ 1468582 w 2826327"/>
                <a:gd name="connsiteY67" fmla="*/ 1947553 h 2759034"/>
                <a:gd name="connsiteX68" fmla="*/ 1492332 w 2826327"/>
                <a:gd name="connsiteY68" fmla="*/ 1943595 h 2759034"/>
                <a:gd name="connsiteX69" fmla="*/ 1516083 w 2826327"/>
                <a:gd name="connsiteY69" fmla="*/ 1935678 h 2759034"/>
                <a:gd name="connsiteX70" fmla="*/ 1527958 w 2826327"/>
                <a:gd name="connsiteY70" fmla="*/ 1931719 h 2759034"/>
                <a:gd name="connsiteX71" fmla="*/ 1622961 w 2826327"/>
                <a:gd name="connsiteY71" fmla="*/ 1927761 h 2759034"/>
                <a:gd name="connsiteX72" fmla="*/ 1658587 w 2826327"/>
                <a:gd name="connsiteY72" fmla="*/ 1923802 h 2759034"/>
                <a:gd name="connsiteX73" fmla="*/ 1682337 w 2826327"/>
                <a:gd name="connsiteY73" fmla="*/ 1915886 h 2759034"/>
                <a:gd name="connsiteX74" fmla="*/ 1706088 w 2826327"/>
                <a:gd name="connsiteY74" fmla="*/ 1904010 h 2759034"/>
                <a:gd name="connsiteX75" fmla="*/ 1729839 w 2826327"/>
                <a:gd name="connsiteY75" fmla="*/ 1892135 h 2759034"/>
                <a:gd name="connsiteX76" fmla="*/ 1745672 w 2826327"/>
                <a:gd name="connsiteY76" fmla="*/ 1880260 h 2759034"/>
                <a:gd name="connsiteX77" fmla="*/ 1777340 w 2826327"/>
                <a:gd name="connsiteY77" fmla="*/ 1864426 h 2759034"/>
                <a:gd name="connsiteX78" fmla="*/ 1797132 w 2826327"/>
                <a:gd name="connsiteY78" fmla="*/ 1840675 h 2759034"/>
                <a:gd name="connsiteX79" fmla="*/ 1809008 w 2826327"/>
                <a:gd name="connsiteY79" fmla="*/ 1832758 h 2759034"/>
                <a:gd name="connsiteX80" fmla="*/ 1832758 w 2826327"/>
                <a:gd name="connsiteY80" fmla="*/ 1809008 h 2759034"/>
                <a:gd name="connsiteX81" fmla="*/ 1836717 w 2826327"/>
                <a:gd name="connsiteY81" fmla="*/ 1797132 h 2759034"/>
                <a:gd name="connsiteX82" fmla="*/ 1864426 w 2826327"/>
                <a:gd name="connsiteY82" fmla="*/ 1765465 h 2759034"/>
                <a:gd name="connsiteX83" fmla="*/ 1868384 w 2826327"/>
                <a:gd name="connsiteY83" fmla="*/ 1753589 h 2759034"/>
                <a:gd name="connsiteX84" fmla="*/ 1896093 w 2826327"/>
                <a:gd name="connsiteY84" fmla="*/ 1717964 h 2759034"/>
                <a:gd name="connsiteX85" fmla="*/ 1919844 w 2826327"/>
                <a:gd name="connsiteY85" fmla="*/ 1678379 h 2759034"/>
                <a:gd name="connsiteX86" fmla="*/ 1931719 w 2826327"/>
                <a:gd name="connsiteY86" fmla="*/ 1650670 h 2759034"/>
                <a:gd name="connsiteX87" fmla="*/ 1935678 w 2826327"/>
                <a:gd name="connsiteY87" fmla="*/ 1638795 h 2759034"/>
                <a:gd name="connsiteX88" fmla="*/ 1955470 w 2826327"/>
                <a:gd name="connsiteY88" fmla="*/ 1595252 h 2759034"/>
                <a:gd name="connsiteX89" fmla="*/ 1959428 w 2826327"/>
                <a:gd name="connsiteY89" fmla="*/ 1575460 h 2759034"/>
                <a:gd name="connsiteX90" fmla="*/ 1975262 w 2826327"/>
                <a:gd name="connsiteY90" fmla="*/ 1524000 h 2759034"/>
                <a:gd name="connsiteX91" fmla="*/ 1983179 w 2826327"/>
                <a:gd name="connsiteY91" fmla="*/ 1488374 h 2759034"/>
                <a:gd name="connsiteX92" fmla="*/ 1983179 w 2826327"/>
                <a:gd name="connsiteY92" fmla="*/ 1330036 h 2759034"/>
                <a:gd name="connsiteX93" fmla="*/ 1979221 w 2826327"/>
                <a:gd name="connsiteY93" fmla="*/ 1302327 h 2759034"/>
                <a:gd name="connsiteX94" fmla="*/ 1959428 w 2826327"/>
                <a:gd name="connsiteY94" fmla="*/ 1270660 h 2759034"/>
                <a:gd name="connsiteX95" fmla="*/ 1955470 w 2826327"/>
                <a:gd name="connsiteY95" fmla="*/ 1258784 h 2759034"/>
                <a:gd name="connsiteX96" fmla="*/ 1931719 w 2826327"/>
                <a:gd name="connsiteY96" fmla="*/ 1231075 h 2759034"/>
                <a:gd name="connsiteX97" fmla="*/ 1923802 w 2826327"/>
                <a:gd name="connsiteY97" fmla="*/ 1219200 h 2759034"/>
                <a:gd name="connsiteX98" fmla="*/ 1876301 w 2826327"/>
                <a:gd name="connsiteY98" fmla="*/ 1179615 h 2759034"/>
                <a:gd name="connsiteX99" fmla="*/ 1864426 w 2826327"/>
                <a:gd name="connsiteY99" fmla="*/ 1155865 h 2759034"/>
                <a:gd name="connsiteX100" fmla="*/ 1852550 w 2826327"/>
                <a:gd name="connsiteY100" fmla="*/ 1143989 h 2759034"/>
                <a:gd name="connsiteX101" fmla="*/ 1832758 w 2826327"/>
                <a:gd name="connsiteY101" fmla="*/ 1116280 h 2759034"/>
                <a:gd name="connsiteX102" fmla="*/ 1820883 w 2826327"/>
                <a:gd name="connsiteY102" fmla="*/ 1096488 h 2759034"/>
                <a:gd name="connsiteX103" fmla="*/ 1801091 w 2826327"/>
                <a:gd name="connsiteY103" fmla="*/ 1068779 h 2759034"/>
                <a:gd name="connsiteX104" fmla="*/ 1797132 w 2826327"/>
                <a:gd name="connsiteY104" fmla="*/ 1056904 h 2759034"/>
                <a:gd name="connsiteX105" fmla="*/ 1777340 w 2826327"/>
                <a:gd name="connsiteY105" fmla="*/ 1025236 h 2759034"/>
                <a:gd name="connsiteX106" fmla="*/ 1769423 w 2826327"/>
                <a:gd name="connsiteY106" fmla="*/ 1005444 h 2759034"/>
                <a:gd name="connsiteX107" fmla="*/ 1753589 w 2826327"/>
                <a:gd name="connsiteY107" fmla="*/ 977735 h 2759034"/>
                <a:gd name="connsiteX108" fmla="*/ 1741714 w 2826327"/>
                <a:gd name="connsiteY108" fmla="*/ 934192 h 2759034"/>
                <a:gd name="connsiteX109" fmla="*/ 1729839 w 2826327"/>
                <a:gd name="connsiteY109" fmla="*/ 890649 h 2759034"/>
                <a:gd name="connsiteX110" fmla="*/ 1725880 w 2826327"/>
                <a:gd name="connsiteY110" fmla="*/ 858982 h 2759034"/>
                <a:gd name="connsiteX111" fmla="*/ 1729839 w 2826327"/>
                <a:gd name="connsiteY111" fmla="*/ 771896 h 2759034"/>
                <a:gd name="connsiteX112" fmla="*/ 1741714 w 2826327"/>
                <a:gd name="connsiteY112" fmla="*/ 708561 h 2759034"/>
                <a:gd name="connsiteX113" fmla="*/ 1745672 w 2826327"/>
                <a:gd name="connsiteY113" fmla="*/ 680852 h 2759034"/>
                <a:gd name="connsiteX114" fmla="*/ 1753589 w 2826327"/>
                <a:gd name="connsiteY114" fmla="*/ 645226 h 2759034"/>
                <a:gd name="connsiteX115" fmla="*/ 1761506 w 2826327"/>
                <a:gd name="connsiteY115" fmla="*/ 633351 h 2759034"/>
                <a:gd name="connsiteX116" fmla="*/ 1773382 w 2826327"/>
                <a:gd name="connsiteY116" fmla="*/ 597725 h 2759034"/>
                <a:gd name="connsiteX117" fmla="*/ 1785257 w 2826327"/>
                <a:gd name="connsiteY117" fmla="*/ 566057 h 2759034"/>
                <a:gd name="connsiteX118" fmla="*/ 1789215 w 2826327"/>
                <a:gd name="connsiteY118" fmla="*/ 554182 h 2759034"/>
                <a:gd name="connsiteX119" fmla="*/ 1797132 w 2826327"/>
                <a:gd name="connsiteY119" fmla="*/ 542306 h 2759034"/>
                <a:gd name="connsiteX120" fmla="*/ 1805049 w 2826327"/>
                <a:gd name="connsiteY120" fmla="*/ 526473 h 2759034"/>
                <a:gd name="connsiteX121" fmla="*/ 1809008 w 2826327"/>
                <a:gd name="connsiteY121" fmla="*/ 514597 h 2759034"/>
                <a:gd name="connsiteX122" fmla="*/ 1828800 w 2826327"/>
                <a:gd name="connsiteY122" fmla="*/ 490847 h 2759034"/>
                <a:gd name="connsiteX123" fmla="*/ 1844634 w 2826327"/>
                <a:gd name="connsiteY123" fmla="*/ 463138 h 2759034"/>
                <a:gd name="connsiteX124" fmla="*/ 1868384 w 2826327"/>
                <a:gd name="connsiteY124" fmla="*/ 443345 h 2759034"/>
                <a:gd name="connsiteX125" fmla="*/ 1888176 w 2826327"/>
                <a:gd name="connsiteY125" fmla="*/ 419595 h 2759034"/>
                <a:gd name="connsiteX126" fmla="*/ 1904010 w 2826327"/>
                <a:gd name="connsiteY126" fmla="*/ 411678 h 2759034"/>
                <a:gd name="connsiteX127" fmla="*/ 1927761 w 2826327"/>
                <a:gd name="connsiteY127" fmla="*/ 395844 h 2759034"/>
                <a:gd name="connsiteX128" fmla="*/ 1939636 w 2826327"/>
                <a:gd name="connsiteY128" fmla="*/ 387927 h 2759034"/>
                <a:gd name="connsiteX129" fmla="*/ 1955470 w 2826327"/>
                <a:gd name="connsiteY129" fmla="*/ 376052 h 2759034"/>
                <a:gd name="connsiteX130" fmla="*/ 1967345 w 2826327"/>
                <a:gd name="connsiteY130" fmla="*/ 372093 h 2759034"/>
                <a:gd name="connsiteX131" fmla="*/ 1987137 w 2826327"/>
                <a:gd name="connsiteY131" fmla="*/ 360218 h 2759034"/>
                <a:gd name="connsiteX132" fmla="*/ 2010888 w 2826327"/>
                <a:gd name="connsiteY132" fmla="*/ 352301 h 2759034"/>
                <a:gd name="connsiteX133" fmla="*/ 2038597 w 2826327"/>
                <a:gd name="connsiteY133" fmla="*/ 336467 h 2759034"/>
                <a:gd name="connsiteX134" fmla="*/ 2086098 w 2826327"/>
                <a:gd name="connsiteY134" fmla="*/ 320634 h 2759034"/>
                <a:gd name="connsiteX135" fmla="*/ 2109849 w 2826327"/>
                <a:gd name="connsiteY135" fmla="*/ 308758 h 2759034"/>
                <a:gd name="connsiteX136" fmla="*/ 2169226 w 2826327"/>
                <a:gd name="connsiteY136" fmla="*/ 277091 h 2759034"/>
                <a:gd name="connsiteX137" fmla="*/ 2196935 w 2826327"/>
                <a:gd name="connsiteY137" fmla="*/ 269174 h 2759034"/>
                <a:gd name="connsiteX138" fmla="*/ 2228602 w 2826327"/>
                <a:gd name="connsiteY138" fmla="*/ 257299 h 2759034"/>
                <a:gd name="connsiteX139" fmla="*/ 2252353 w 2826327"/>
                <a:gd name="connsiteY139" fmla="*/ 245423 h 2759034"/>
                <a:gd name="connsiteX140" fmla="*/ 2299854 w 2826327"/>
                <a:gd name="connsiteY140" fmla="*/ 225631 h 2759034"/>
                <a:gd name="connsiteX141" fmla="*/ 2327563 w 2826327"/>
                <a:gd name="connsiteY141" fmla="*/ 213756 h 2759034"/>
                <a:gd name="connsiteX142" fmla="*/ 2351314 w 2826327"/>
                <a:gd name="connsiteY142" fmla="*/ 205839 h 2759034"/>
                <a:gd name="connsiteX143" fmla="*/ 2363189 w 2826327"/>
                <a:gd name="connsiteY143" fmla="*/ 197922 h 2759034"/>
                <a:gd name="connsiteX144" fmla="*/ 2379023 w 2826327"/>
                <a:gd name="connsiteY144" fmla="*/ 186047 h 2759034"/>
                <a:gd name="connsiteX145" fmla="*/ 2406732 w 2826327"/>
                <a:gd name="connsiteY145" fmla="*/ 178130 h 2759034"/>
                <a:gd name="connsiteX146" fmla="*/ 2438400 w 2826327"/>
                <a:gd name="connsiteY146" fmla="*/ 162296 h 2759034"/>
                <a:gd name="connsiteX147" fmla="*/ 2450275 w 2826327"/>
                <a:gd name="connsiteY147" fmla="*/ 158338 h 2759034"/>
                <a:gd name="connsiteX148" fmla="*/ 2501735 w 2826327"/>
                <a:gd name="connsiteY148" fmla="*/ 134587 h 2759034"/>
                <a:gd name="connsiteX149" fmla="*/ 2525485 w 2826327"/>
                <a:gd name="connsiteY149" fmla="*/ 126670 h 2759034"/>
                <a:gd name="connsiteX150" fmla="*/ 2584862 w 2826327"/>
                <a:gd name="connsiteY150" fmla="*/ 95002 h 2759034"/>
                <a:gd name="connsiteX151" fmla="*/ 2604654 w 2826327"/>
                <a:gd name="connsiteY151" fmla="*/ 87086 h 2759034"/>
                <a:gd name="connsiteX152" fmla="*/ 2644239 w 2826327"/>
                <a:gd name="connsiteY152" fmla="*/ 71252 h 2759034"/>
                <a:gd name="connsiteX153" fmla="*/ 2656114 w 2826327"/>
                <a:gd name="connsiteY153" fmla="*/ 67293 h 2759034"/>
                <a:gd name="connsiteX154" fmla="*/ 2667989 w 2826327"/>
                <a:gd name="connsiteY154" fmla="*/ 63335 h 2759034"/>
                <a:gd name="connsiteX155" fmla="*/ 2691740 w 2826327"/>
                <a:gd name="connsiteY155" fmla="*/ 47501 h 2759034"/>
                <a:gd name="connsiteX156" fmla="*/ 2719449 w 2826327"/>
                <a:gd name="connsiteY156" fmla="*/ 35626 h 2759034"/>
                <a:gd name="connsiteX157" fmla="*/ 2731324 w 2826327"/>
                <a:gd name="connsiteY157" fmla="*/ 27709 h 2759034"/>
                <a:gd name="connsiteX158" fmla="*/ 2762992 w 2826327"/>
                <a:gd name="connsiteY158" fmla="*/ 19792 h 2759034"/>
                <a:gd name="connsiteX159" fmla="*/ 2814452 w 2826327"/>
                <a:gd name="connsiteY159" fmla="*/ 3958 h 2759034"/>
                <a:gd name="connsiteX160" fmla="*/ 2826327 w 2826327"/>
                <a:gd name="connsiteY160" fmla="*/ 0 h 2759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2826327" h="2759034">
                  <a:moveTo>
                    <a:pt x="0" y="2759034"/>
                  </a:moveTo>
                  <a:cubicBezTo>
                    <a:pt x="4757" y="2758602"/>
                    <a:pt x="42010" y="2758566"/>
                    <a:pt x="55418" y="2751117"/>
                  </a:cubicBezTo>
                  <a:cubicBezTo>
                    <a:pt x="93978" y="2729695"/>
                    <a:pt x="64059" y="2739060"/>
                    <a:pt x="95002" y="2731325"/>
                  </a:cubicBezTo>
                  <a:cubicBezTo>
                    <a:pt x="105558" y="2724727"/>
                    <a:pt x="115536" y="2717099"/>
                    <a:pt x="126670" y="2711532"/>
                  </a:cubicBezTo>
                  <a:cubicBezTo>
                    <a:pt x="131948" y="2708893"/>
                    <a:pt x="137380" y="2706543"/>
                    <a:pt x="142504" y="2703615"/>
                  </a:cubicBezTo>
                  <a:cubicBezTo>
                    <a:pt x="146634" y="2701255"/>
                    <a:pt x="150032" y="2697631"/>
                    <a:pt x="154379" y="2695699"/>
                  </a:cubicBezTo>
                  <a:cubicBezTo>
                    <a:pt x="162005" y="2692310"/>
                    <a:pt x="178130" y="2687782"/>
                    <a:pt x="178130" y="2687782"/>
                  </a:cubicBezTo>
                  <a:cubicBezTo>
                    <a:pt x="183408" y="2683823"/>
                    <a:pt x="188235" y="2679179"/>
                    <a:pt x="193963" y="2675906"/>
                  </a:cubicBezTo>
                  <a:cubicBezTo>
                    <a:pt x="197586" y="2673836"/>
                    <a:pt x="202545" y="2674510"/>
                    <a:pt x="205839" y="2671948"/>
                  </a:cubicBezTo>
                  <a:cubicBezTo>
                    <a:pt x="214677" y="2665074"/>
                    <a:pt x="221672" y="2656114"/>
                    <a:pt x="229589" y="2648197"/>
                  </a:cubicBezTo>
                  <a:lnTo>
                    <a:pt x="241465" y="2636322"/>
                  </a:lnTo>
                  <a:cubicBezTo>
                    <a:pt x="245423" y="2632364"/>
                    <a:pt x="250235" y="2629105"/>
                    <a:pt x="253340" y="2624447"/>
                  </a:cubicBezTo>
                  <a:lnTo>
                    <a:pt x="269174" y="2600696"/>
                  </a:lnTo>
                  <a:cubicBezTo>
                    <a:pt x="271813" y="2596738"/>
                    <a:pt x="273727" y="2592185"/>
                    <a:pt x="277091" y="2588821"/>
                  </a:cubicBezTo>
                  <a:lnTo>
                    <a:pt x="288966" y="2576945"/>
                  </a:lnTo>
                  <a:cubicBezTo>
                    <a:pt x="299909" y="2544112"/>
                    <a:pt x="281541" y="2595749"/>
                    <a:pt x="308758" y="2541319"/>
                  </a:cubicBezTo>
                  <a:cubicBezTo>
                    <a:pt x="311397" y="2536041"/>
                    <a:pt x="314350" y="2530910"/>
                    <a:pt x="316675" y="2525486"/>
                  </a:cubicBezTo>
                  <a:cubicBezTo>
                    <a:pt x="318319" y="2521651"/>
                    <a:pt x="318768" y="2517342"/>
                    <a:pt x="320634" y="2513610"/>
                  </a:cubicBezTo>
                  <a:cubicBezTo>
                    <a:pt x="322761" y="2509355"/>
                    <a:pt x="326618" y="2506082"/>
                    <a:pt x="328550" y="2501735"/>
                  </a:cubicBezTo>
                  <a:cubicBezTo>
                    <a:pt x="331939" y="2494109"/>
                    <a:pt x="332735" y="2485448"/>
                    <a:pt x="336467" y="2477984"/>
                  </a:cubicBezTo>
                  <a:cubicBezTo>
                    <a:pt x="340426" y="2470067"/>
                    <a:pt x="344748" y="2462322"/>
                    <a:pt x="348343" y="2454234"/>
                  </a:cubicBezTo>
                  <a:cubicBezTo>
                    <a:pt x="359271" y="2429646"/>
                    <a:pt x="343755" y="2455177"/>
                    <a:pt x="360218" y="2430483"/>
                  </a:cubicBezTo>
                  <a:cubicBezTo>
                    <a:pt x="364659" y="2417160"/>
                    <a:pt x="364266" y="2416470"/>
                    <a:pt x="372093" y="2402774"/>
                  </a:cubicBezTo>
                  <a:cubicBezTo>
                    <a:pt x="374453" y="2398643"/>
                    <a:pt x="377882" y="2395154"/>
                    <a:pt x="380010" y="2390899"/>
                  </a:cubicBezTo>
                  <a:cubicBezTo>
                    <a:pt x="381876" y="2387167"/>
                    <a:pt x="382220" y="2382812"/>
                    <a:pt x="383969" y="2379023"/>
                  </a:cubicBezTo>
                  <a:cubicBezTo>
                    <a:pt x="400410" y="2343402"/>
                    <a:pt x="397345" y="2349063"/>
                    <a:pt x="411678" y="2327564"/>
                  </a:cubicBezTo>
                  <a:cubicBezTo>
                    <a:pt x="412997" y="2323605"/>
                    <a:pt x="413770" y="2319420"/>
                    <a:pt x="415636" y="2315688"/>
                  </a:cubicBezTo>
                  <a:cubicBezTo>
                    <a:pt x="417763" y="2311433"/>
                    <a:pt x="421679" y="2308186"/>
                    <a:pt x="423553" y="2303813"/>
                  </a:cubicBezTo>
                  <a:cubicBezTo>
                    <a:pt x="425696" y="2298812"/>
                    <a:pt x="425301" y="2292950"/>
                    <a:pt x="427511" y="2287979"/>
                  </a:cubicBezTo>
                  <a:cubicBezTo>
                    <a:pt x="430636" y="2280948"/>
                    <a:pt x="436203" y="2275191"/>
                    <a:pt x="439387" y="2268187"/>
                  </a:cubicBezTo>
                  <a:cubicBezTo>
                    <a:pt x="459577" y="2223770"/>
                    <a:pt x="436536" y="2260588"/>
                    <a:pt x="455221" y="2232561"/>
                  </a:cubicBezTo>
                  <a:cubicBezTo>
                    <a:pt x="465169" y="2202714"/>
                    <a:pt x="451750" y="2239504"/>
                    <a:pt x="467096" y="2208810"/>
                  </a:cubicBezTo>
                  <a:cubicBezTo>
                    <a:pt x="468962" y="2205078"/>
                    <a:pt x="469188" y="2200667"/>
                    <a:pt x="471054" y="2196935"/>
                  </a:cubicBezTo>
                  <a:cubicBezTo>
                    <a:pt x="473182" y="2192680"/>
                    <a:pt x="476843" y="2189315"/>
                    <a:pt x="478971" y="2185060"/>
                  </a:cubicBezTo>
                  <a:cubicBezTo>
                    <a:pt x="480837" y="2181328"/>
                    <a:pt x="481286" y="2177019"/>
                    <a:pt x="482930" y="2173184"/>
                  </a:cubicBezTo>
                  <a:cubicBezTo>
                    <a:pt x="485255" y="2167760"/>
                    <a:pt x="488208" y="2162629"/>
                    <a:pt x="490847" y="2157351"/>
                  </a:cubicBezTo>
                  <a:cubicBezTo>
                    <a:pt x="492115" y="2152280"/>
                    <a:pt x="495925" y="2135318"/>
                    <a:pt x="498763" y="2129641"/>
                  </a:cubicBezTo>
                  <a:cubicBezTo>
                    <a:pt x="504274" y="2118620"/>
                    <a:pt x="509802" y="2114644"/>
                    <a:pt x="518556" y="2105891"/>
                  </a:cubicBezTo>
                  <a:cubicBezTo>
                    <a:pt x="528558" y="2075881"/>
                    <a:pt x="521465" y="2088816"/>
                    <a:pt x="538348" y="2066306"/>
                  </a:cubicBezTo>
                  <a:cubicBezTo>
                    <a:pt x="540987" y="2058389"/>
                    <a:pt x="541636" y="2049499"/>
                    <a:pt x="546265" y="2042556"/>
                  </a:cubicBezTo>
                  <a:cubicBezTo>
                    <a:pt x="571993" y="2003963"/>
                    <a:pt x="531704" y="2063922"/>
                    <a:pt x="566057" y="2014847"/>
                  </a:cubicBezTo>
                  <a:cubicBezTo>
                    <a:pt x="571514" y="2007052"/>
                    <a:pt x="576613" y="1999013"/>
                    <a:pt x="581891" y="1991096"/>
                  </a:cubicBezTo>
                  <a:cubicBezTo>
                    <a:pt x="588154" y="1981702"/>
                    <a:pt x="594323" y="1971974"/>
                    <a:pt x="601683" y="1963387"/>
                  </a:cubicBezTo>
                  <a:cubicBezTo>
                    <a:pt x="605326" y="1959137"/>
                    <a:pt x="610013" y="1955845"/>
                    <a:pt x="613558" y="1951512"/>
                  </a:cubicBezTo>
                  <a:cubicBezTo>
                    <a:pt x="621914" y="1941300"/>
                    <a:pt x="627979" y="1929174"/>
                    <a:pt x="637309" y="1919844"/>
                  </a:cubicBezTo>
                  <a:lnTo>
                    <a:pt x="700644" y="1856509"/>
                  </a:lnTo>
                  <a:lnTo>
                    <a:pt x="712519" y="1844634"/>
                  </a:lnTo>
                  <a:cubicBezTo>
                    <a:pt x="716478" y="1840675"/>
                    <a:pt x="719737" y="1835863"/>
                    <a:pt x="724395" y="1832758"/>
                  </a:cubicBezTo>
                  <a:lnTo>
                    <a:pt x="748145" y="1816925"/>
                  </a:lnTo>
                  <a:cubicBezTo>
                    <a:pt x="757987" y="1810364"/>
                    <a:pt x="764377" y="1805395"/>
                    <a:pt x="775854" y="1801091"/>
                  </a:cubicBezTo>
                  <a:cubicBezTo>
                    <a:pt x="785743" y="1797382"/>
                    <a:pt x="806579" y="1794785"/>
                    <a:pt x="815439" y="1793174"/>
                  </a:cubicBezTo>
                  <a:cubicBezTo>
                    <a:pt x="876297" y="1782109"/>
                    <a:pt x="788994" y="1796920"/>
                    <a:pt x="858982" y="1785257"/>
                  </a:cubicBezTo>
                  <a:cubicBezTo>
                    <a:pt x="914400" y="1786576"/>
                    <a:pt x="969960" y="1785043"/>
                    <a:pt x="1025236" y="1789215"/>
                  </a:cubicBezTo>
                  <a:cubicBezTo>
                    <a:pt x="1040238" y="1790347"/>
                    <a:pt x="1054093" y="1797827"/>
                    <a:pt x="1068779" y="1801091"/>
                  </a:cubicBezTo>
                  <a:cubicBezTo>
                    <a:pt x="1077887" y="1803115"/>
                    <a:pt x="1087252" y="1803730"/>
                    <a:pt x="1096488" y="1805049"/>
                  </a:cubicBezTo>
                  <a:cubicBezTo>
                    <a:pt x="1100446" y="1806369"/>
                    <a:pt x="1104290" y="1808103"/>
                    <a:pt x="1108363" y="1809008"/>
                  </a:cubicBezTo>
                  <a:cubicBezTo>
                    <a:pt x="1121484" y="1811924"/>
                    <a:pt x="1147224" y="1814825"/>
                    <a:pt x="1159823" y="1816925"/>
                  </a:cubicBezTo>
                  <a:cubicBezTo>
                    <a:pt x="1166459" y="1818031"/>
                    <a:pt x="1173018" y="1819564"/>
                    <a:pt x="1179615" y="1820883"/>
                  </a:cubicBezTo>
                  <a:cubicBezTo>
                    <a:pt x="1218586" y="1836471"/>
                    <a:pt x="1183613" y="1820905"/>
                    <a:pt x="1211283" y="1836717"/>
                  </a:cubicBezTo>
                  <a:cubicBezTo>
                    <a:pt x="1216406" y="1839645"/>
                    <a:pt x="1222057" y="1841598"/>
                    <a:pt x="1227117" y="1844634"/>
                  </a:cubicBezTo>
                  <a:cubicBezTo>
                    <a:pt x="1260780" y="1864832"/>
                    <a:pt x="1238557" y="1857389"/>
                    <a:pt x="1266701" y="1864426"/>
                  </a:cubicBezTo>
                  <a:cubicBezTo>
                    <a:pt x="1271979" y="1868384"/>
                    <a:pt x="1276445" y="1873764"/>
                    <a:pt x="1282535" y="1876301"/>
                  </a:cubicBezTo>
                  <a:cubicBezTo>
                    <a:pt x="1292579" y="1880486"/>
                    <a:pt x="1314202" y="1884218"/>
                    <a:pt x="1314202" y="1884218"/>
                  </a:cubicBezTo>
                  <a:cubicBezTo>
                    <a:pt x="1339082" y="1900804"/>
                    <a:pt x="1311783" y="1883315"/>
                    <a:pt x="1341911" y="1900052"/>
                  </a:cubicBezTo>
                  <a:cubicBezTo>
                    <a:pt x="1360881" y="1910591"/>
                    <a:pt x="1360948" y="1913680"/>
                    <a:pt x="1381496" y="1919844"/>
                  </a:cubicBezTo>
                  <a:cubicBezTo>
                    <a:pt x="1387940" y="1921777"/>
                    <a:pt x="1394691" y="1922483"/>
                    <a:pt x="1401288" y="1923802"/>
                  </a:cubicBezTo>
                  <a:cubicBezTo>
                    <a:pt x="1452376" y="1945698"/>
                    <a:pt x="1409298" y="1928977"/>
                    <a:pt x="1444831" y="1939636"/>
                  </a:cubicBezTo>
                  <a:cubicBezTo>
                    <a:pt x="1452824" y="1942034"/>
                    <a:pt x="1468582" y="1947553"/>
                    <a:pt x="1468582" y="1947553"/>
                  </a:cubicBezTo>
                  <a:cubicBezTo>
                    <a:pt x="1476499" y="1946234"/>
                    <a:pt x="1484546" y="1945542"/>
                    <a:pt x="1492332" y="1943595"/>
                  </a:cubicBezTo>
                  <a:cubicBezTo>
                    <a:pt x="1500428" y="1941571"/>
                    <a:pt x="1508166" y="1938317"/>
                    <a:pt x="1516083" y="1935678"/>
                  </a:cubicBezTo>
                  <a:cubicBezTo>
                    <a:pt x="1520041" y="1934358"/>
                    <a:pt x="1523789" y="1931893"/>
                    <a:pt x="1527958" y="1931719"/>
                  </a:cubicBezTo>
                  <a:lnTo>
                    <a:pt x="1622961" y="1927761"/>
                  </a:lnTo>
                  <a:cubicBezTo>
                    <a:pt x="1634836" y="1926441"/>
                    <a:pt x="1646871" y="1926145"/>
                    <a:pt x="1658587" y="1923802"/>
                  </a:cubicBezTo>
                  <a:cubicBezTo>
                    <a:pt x="1666770" y="1922165"/>
                    <a:pt x="1682337" y="1915886"/>
                    <a:pt x="1682337" y="1915886"/>
                  </a:cubicBezTo>
                  <a:cubicBezTo>
                    <a:pt x="1716378" y="1893193"/>
                    <a:pt x="1673306" y="1920403"/>
                    <a:pt x="1706088" y="1904010"/>
                  </a:cubicBezTo>
                  <a:cubicBezTo>
                    <a:pt x="1736771" y="1888667"/>
                    <a:pt x="1699998" y="1902080"/>
                    <a:pt x="1729839" y="1892135"/>
                  </a:cubicBezTo>
                  <a:cubicBezTo>
                    <a:pt x="1735117" y="1888177"/>
                    <a:pt x="1739974" y="1883584"/>
                    <a:pt x="1745672" y="1880260"/>
                  </a:cubicBezTo>
                  <a:cubicBezTo>
                    <a:pt x="1755866" y="1874313"/>
                    <a:pt x="1777340" y="1864426"/>
                    <a:pt x="1777340" y="1864426"/>
                  </a:cubicBezTo>
                  <a:cubicBezTo>
                    <a:pt x="1785123" y="1852752"/>
                    <a:pt x="1785705" y="1850198"/>
                    <a:pt x="1797132" y="1840675"/>
                  </a:cubicBezTo>
                  <a:cubicBezTo>
                    <a:pt x="1800787" y="1837629"/>
                    <a:pt x="1805452" y="1835919"/>
                    <a:pt x="1809008" y="1832758"/>
                  </a:cubicBezTo>
                  <a:cubicBezTo>
                    <a:pt x="1817376" y="1825320"/>
                    <a:pt x="1832758" y="1809008"/>
                    <a:pt x="1832758" y="1809008"/>
                  </a:cubicBezTo>
                  <a:cubicBezTo>
                    <a:pt x="1834078" y="1805049"/>
                    <a:pt x="1834851" y="1800864"/>
                    <a:pt x="1836717" y="1797132"/>
                  </a:cubicBezTo>
                  <a:cubicBezTo>
                    <a:pt x="1843263" y="1784041"/>
                    <a:pt x="1854109" y="1775782"/>
                    <a:pt x="1864426" y="1765465"/>
                  </a:cubicBezTo>
                  <a:cubicBezTo>
                    <a:pt x="1865745" y="1761506"/>
                    <a:pt x="1866518" y="1757321"/>
                    <a:pt x="1868384" y="1753589"/>
                  </a:cubicBezTo>
                  <a:cubicBezTo>
                    <a:pt x="1873899" y="1742558"/>
                    <a:pt x="1890841" y="1724967"/>
                    <a:pt x="1896093" y="1717964"/>
                  </a:cubicBezTo>
                  <a:cubicBezTo>
                    <a:pt x="1906996" y="1703427"/>
                    <a:pt x="1912760" y="1693964"/>
                    <a:pt x="1919844" y="1678379"/>
                  </a:cubicBezTo>
                  <a:cubicBezTo>
                    <a:pt x="1924002" y="1669231"/>
                    <a:pt x="1927987" y="1660000"/>
                    <a:pt x="1931719" y="1650670"/>
                  </a:cubicBezTo>
                  <a:cubicBezTo>
                    <a:pt x="1933269" y="1646796"/>
                    <a:pt x="1933812" y="1642527"/>
                    <a:pt x="1935678" y="1638795"/>
                  </a:cubicBezTo>
                  <a:cubicBezTo>
                    <a:pt x="1951261" y="1607629"/>
                    <a:pt x="1945755" y="1630875"/>
                    <a:pt x="1955470" y="1595252"/>
                  </a:cubicBezTo>
                  <a:cubicBezTo>
                    <a:pt x="1957240" y="1588761"/>
                    <a:pt x="1957658" y="1581951"/>
                    <a:pt x="1959428" y="1575460"/>
                  </a:cubicBezTo>
                  <a:cubicBezTo>
                    <a:pt x="1970254" y="1535763"/>
                    <a:pt x="1965200" y="1567598"/>
                    <a:pt x="1975262" y="1524000"/>
                  </a:cubicBezTo>
                  <a:cubicBezTo>
                    <a:pt x="1985714" y="1478712"/>
                    <a:pt x="1973665" y="1516920"/>
                    <a:pt x="1983179" y="1488374"/>
                  </a:cubicBezTo>
                  <a:cubicBezTo>
                    <a:pt x="1988008" y="1406269"/>
                    <a:pt x="1989346" y="1422557"/>
                    <a:pt x="1983179" y="1330036"/>
                  </a:cubicBezTo>
                  <a:cubicBezTo>
                    <a:pt x="1982558" y="1320727"/>
                    <a:pt x="1982686" y="1310990"/>
                    <a:pt x="1979221" y="1302327"/>
                  </a:cubicBezTo>
                  <a:cubicBezTo>
                    <a:pt x="1974598" y="1290769"/>
                    <a:pt x="1959428" y="1270660"/>
                    <a:pt x="1959428" y="1270660"/>
                  </a:cubicBezTo>
                  <a:cubicBezTo>
                    <a:pt x="1958109" y="1266701"/>
                    <a:pt x="1957540" y="1262407"/>
                    <a:pt x="1955470" y="1258784"/>
                  </a:cubicBezTo>
                  <a:cubicBezTo>
                    <a:pt x="1944692" y="1239922"/>
                    <a:pt x="1944478" y="1246386"/>
                    <a:pt x="1931719" y="1231075"/>
                  </a:cubicBezTo>
                  <a:cubicBezTo>
                    <a:pt x="1928673" y="1227420"/>
                    <a:pt x="1926963" y="1222756"/>
                    <a:pt x="1923802" y="1219200"/>
                  </a:cubicBezTo>
                  <a:cubicBezTo>
                    <a:pt x="1901634" y="1194261"/>
                    <a:pt x="1902305" y="1196951"/>
                    <a:pt x="1876301" y="1179615"/>
                  </a:cubicBezTo>
                  <a:cubicBezTo>
                    <a:pt x="1872334" y="1167713"/>
                    <a:pt x="1872953" y="1166097"/>
                    <a:pt x="1864426" y="1155865"/>
                  </a:cubicBezTo>
                  <a:cubicBezTo>
                    <a:pt x="1860842" y="1151564"/>
                    <a:pt x="1856193" y="1148240"/>
                    <a:pt x="1852550" y="1143989"/>
                  </a:cubicBezTo>
                  <a:cubicBezTo>
                    <a:pt x="1847188" y="1137733"/>
                    <a:pt x="1837579" y="1123994"/>
                    <a:pt x="1832758" y="1116280"/>
                  </a:cubicBezTo>
                  <a:cubicBezTo>
                    <a:pt x="1828680" y="1109756"/>
                    <a:pt x="1825151" y="1102890"/>
                    <a:pt x="1820883" y="1096488"/>
                  </a:cubicBezTo>
                  <a:cubicBezTo>
                    <a:pt x="1817300" y="1091113"/>
                    <a:pt x="1804630" y="1075857"/>
                    <a:pt x="1801091" y="1068779"/>
                  </a:cubicBezTo>
                  <a:cubicBezTo>
                    <a:pt x="1799225" y="1065047"/>
                    <a:pt x="1799130" y="1060567"/>
                    <a:pt x="1797132" y="1056904"/>
                  </a:cubicBezTo>
                  <a:cubicBezTo>
                    <a:pt x="1791171" y="1045976"/>
                    <a:pt x="1781963" y="1036794"/>
                    <a:pt x="1777340" y="1025236"/>
                  </a:cubicBezTo>
                  <a:cubicBezTo>
                    <a:pt x="1774701" y="1018639"/>
                    <a:pt x="1772601" y="1011799"/>
                    <a:pt x="1769423" y="1005444"/>
                  </a:cubicBezTo>
                  <a:cubicBezTo>
                    <a:pt x="1749549" y="965698"/>
                    <a:pt x="1774404" y="1026304"/>
                    <a:pt x="1753589" y="977735"/>
                  </a:cubicBezTo>
                  <a:cubicBezTo>
                    <a:pt x="1748456" y="965758"/>
                    <a:pt x="1744735" y="943256"/>
                    <a:pt x="1741714" y="934192"/>
                  </a:cubicBezTo>
                  <a:cubicBezTo>
                    <a:pt x="1736272" y="917865"/>
                    <a:pt x="1733666" y="911057"/>
                    <a:pt x="1729839" y="890649"/>
                  </a:cubicBezTo>
                  <a:cubicBezTo>
                    <a:pt x="1727878" y="880193"/>
                    <a:pt x="1727200" y="869538"/>
                    <a:pt x="1725880" y="858982"/>
                  </a:cubicBezTo>
                  <a:cubicBezTo>
                    <a:pt x="1727200" y="829953"/>
                    <a:pt x="1727285" y="800842"/>
                    <a:pt x="1729839" y="771896"/>
                  </a:cubicBezTo>
                  <a:cubicBezTo>
                    <a:pt x="1736552" y="695825"/>
                    <a:pt x="1734575" y="747832"/>
                    <a:pt x="1741714" y="708561"/>
                  </a:cubicBezTo>
                  <a:cubicBezTo>
                    <a:pt x="1743383" y="699381"/>
                    <a:pt x="1744253" y="690074"/>
                    <a:pt x="1745672" y="680852"/>
                  </a:cubicBezTo>
                  <a:cubicBezTo>
                    <a:pt x="1747023" y="672073"/>
                    <a:pt x="1748806" y="654793"/>
                    <a:pt x="1753589" y="645226"/>
                  </a:cubicBezTo>
                  <a:cubicBezTo>
                    <a:pt x="1755717" y="640971"/>
                    <a:pt x="1758867" y="637309"/>
                    <a:pt x="1761506" y="633351"/>
                  </a:cubicBezTo>
                  <a:cubicBezTo>
                    <a:pt x="1770996" y="595394"/>
                    <a:pt x="1758471" y="642459"/>
                    <a:pt x="1773382" y="597725"/>
                  </a:cubicBezTo>
                  <a:cubicBezTo>
                    <a:pt x="1791629" y="542981"/>
                    <a:pt x="1760960" y="622751"/>
                    <a:pt x="1785257" y="566057"/>
                  </a:cubicBezTo>
                  <a:cubicBezTo>
                    <a:pt x="1786901" y="562222"/>
                    <a:pt x="1787349" y="557914"/>
                    <a:pt x="1789215" y="554182"/>
                  </a:cubicBezTo>
                  <a:cubicBezTo>
                    <a:pt x="1791343" y="549927"/>
                    <a:pt x="1794772" y="546437"/>
                    <a:pt x="1797132" y="542306"/>
                  </a:cubicBezTo>
                  <a:cubicBezTo>
                    <a:pt x="1800060" y="537183"/>
                    <a:pt x="1802724" y="531897"/>
                    <a:pt x="1805049" y="526473"/>
                  </a:cubicBezTo>
                  <a:cubicBezTo>
                    <a:pt x="1806693" y="522638"/>
                    <a:pt x="1807142" y="518329"/>
                    <a:pt x="1809008" y="514597"/>
                  </a:cubicBezTo>
                  <a:cubicBezTo>
                    <a:pt x="1814520" y="503573"/>
                    <a:pt x="1820043" y="499603"/>
                    <a:pt x="1828800" y="490847"/>
                  </a:cubicBezTo>
                  <a:cubicBezTo>
                    <a:pt x="1831905" y="484636"/>
                    <a:pt x="1839038" y="468734"/>
                    <a:pt x="1844634" y="463138"/>
                  </a:cubicBezTo>
                  <a:cubicBezTo>
                    <a:pt x="1875771" y="432001"/>
                    <a:pt x="1835961" y="482254"/>
                    <a:pt x="1868384" y="443345"/>
                  </a:cubicBezTo>
                  <a:cubicBezTo>
                    <a:pt x="1878594" y="431093"/>
                    <a:pt x="1873893" y="429797"/>
                    <a:pt x="1888176" y="419595"/>
                  </a:cubicBezTo>
                  <a:cubicBezTo>
                    <a:pt x="1892978" y="416165"/>
                    <a:pt x="1898950" y="414714"/>
                    <a:pt x="1904010" y="411678"/>
                  </a:cubicBezTo>
                  <a:cubicBezTo>
                    <a:pt x="1912169" y="406783"/>
                    <a:pt x="1919844" y="401122"/>
                    <a:pt x="1927761" y="395844"/>
                  </a:cubicBezTo>
                  <a:cubicBezTo>
                    <a:pt x="1931719" y="393205"/>
                    <a:pt x="1935830" y="390781"/>
                    <a:pt x="1939636" y="387927"/>
                  </a:cubicBezTo>
                  <a:cubicBezTo>
                    <a:pt x="1944914" y="383969"/>
                    <a:pt x="1949742" y="379325"/>
                    <a:pt x="1955470" y="376052"/>
                  </a:cubicBezTo>
                  <a:cubicBezTo>
                    <a:pt x="1959093" y="373982"/>
                    <a:pt x="1963613" y="373959"/>
                    <a:pt x="1967345" y="372093"/>
                  </a:cubicBezTo>
                  <a:cubicBezTo>
                    <a:pt x="1974226" y="368652"/>
                    <a:pt x="1980133" y="363402"/>
                    <a:pt x="1987137" y="360218"/>
                  </a:cubicBezTo>
                  <a:cubicBezTo>
                    <a:pt x="1994734" y="356765"/>
                    <a:pt x="2003311" y="355798"/>
                    <a:pt x="2010888" y="352301"/>
                  </a:cubicBezTo>
                  <a:cubicBezTo>
                    <a:pt x="2020547" y="347843"/>
                    <a:pt x="2029082" y="341224"/>
                    <a:pt x="2038597" y="336467"/>
                  </a:cubicBezTo>
                  <a:cubicBezTo>
                    <a:pt x="2064420" y="323556"/>
                    <a:pt x="2061856" y="325482"/>
                    <a:pt x="2086098" y="320634"/>
                  </a:cubicBezTo>
                  <a:cubicBezTo>
                    <a:pt x="2120139" y="297941"/>
                    <a:pt x="2077067" y="325151"/>
                    <a:pt x="2109849" y="308758"/>
                  </a:cubicBezTo>
                  <a:cubicBezTo>
                    <a:pt x="2143236" y="292063"/>
                    <a:pt x="2092232" y="299090"/>
                    <a:pt x="2169226" y="277091"/>
                  </a:cubicBezTo>
                  <a:cubicBezTo>
                    <a:pt x="2178462" y="274452"/>
                    <a:pt x="2187907" y="272457"/>
                    <a:pt x="2196935" y="269174"/>
                  </a:cubicBezTo>
                  <a:cubicBezTo>
                    <a:pt x="2242469" y="252616"/>
                    <a:pt x="2184149" y="268411"/>
                    <a:pt x="2228602" y="257299"/>
                  </a:cubicBezTo>
                  <a:cubicBezTo>
                    <a:pt x="2248619" y="243955"/>
                    <a:pt x="2231870" y="253617"/>
                    <a:pt x="2252353" y="245423"/>
                  </a:cubicBezTo>
                  <a:cubicBezTo>
                    <a:pt x="2268279" y="239052"/>
                    <a:pt x="2284045" y="232287"/>
                    <a:pt x="2299854" y="225631"/>
                  </a:cubicBezTo>
                  <a:cubicBezTo>
                    <a:pt x="2309115" y="221732"/>
                    <a:pt x="2318030" y="216934"/>
                    <a:pt x="2327563" y="213756"/>
                  </a:cubicBezTo>
                  <a:lnTo>
                    <a:pt x="2351314" y="205839"/>
                  </a:lnTo>
                  <a:cubicBezTo>
                    <a:pt x="2355272" y="203200"/>
                    <a:pt x="2359318" y="200687"/>
                    <a:pt x="2363189" y="197922"/>
                  </a:cubicBezTo>
                  <a:cubicBezTo>
                    <a:pt x="2368558" y="194087"/>
                    <a:pt x="2373017" y="188777"/>
                    <a:pt x="2379023" y="186047"/>
                  </a:cubicBezTo>
                  <a:cubicBezTo>
                    <a:pt x="2387768" y="182072"/>
                    <a:pt x="2397813" y="181698"/>
                    <a:pt x="2406732" y="178130"/>
                  </a:cubicBezTo>
                  <a:cubicBezTo>
                    <a:pt x="2417690" y="173747"/>
                    <a:pt x="2427656" y="167180"/>
                    <a:pt x="2438400" y="162296"/>
                  </a:cubicBezTo>
                  <a:cubicBezTo>
                    <a:pt x="2442198" y="160569"/>
                    <a:pt x="2446317" y="159657"/>
                    <a:pt x="2450275" y="158338"/>
                  </a:cubicBezTo>
                  <a:cubicBezTo>
                    <a:pt x="2471029" y="144501"/>
                    <a:pt x="2466531" y="146322"/>
                    <a:pt x="2501735" y="134587"/>
                  </a:cubicBezTo>
                  <a:cubicBezTo>
                    <a:pt x="2509652" y="131948"/>
                    <a:pt x="2517815" y="129957"/>
                    <a:pt x="2525485" y="126670"/>
                  </a:cubicBezTo>
                  <a:cubicBezTo>
                    <a:pt x="2567611" y="108616"/>
                    <a:pt x="2546056" y="114405"/>
                    <a:pt x="2584862" y="95002"/>
                  </a:cubicBezTo>
                  <a:cubicBezTo>
                    <a:pt x="2591217" y="91824"/>
                    <a:pt x="2598161" y="89972"/>
                    <a:pt x="2604654" y="87086"/>
                  </a:cubicBezTo>
                  <a:cubicBezTo>
                    <a:pt x="2639614" y="71549"/>
                    <a:pt x="2598398" y="86533"/>
                    <a:pt x="2644239" y="71252"/>
                  </a:cubicBezTo>
                  <a:lnTo>
                    <a:pt x="2656114" y="67293"/>
                  </a:lnTo>
                  <a:lnTo>
                    <a:pt x="2667989" y="63335"/>
                  </a:lnTo>
                  <a:cubicBezTo>
                    <a:pt x="2675906" y="58057"/>
                    <a:pt x="2682713" y="50510"/>
                    <a:pt x="2691740" y="47501"/>
                  </a:cubicBezTo>
                  <a:cubicBezTo>
                    <a:pt x="2705063" y="43060"/>
                    <a:pt x="2705753" y="43453"/>
                    <a:pt x="2719449" y="35626"/>
                  </a:cubicBezTo>
                  <a:cubicBezTo>
                    <a:pt x="2723580" y="33266"/>
                    <a:pt x="2726853" y="29335"/>
                    <a:pt x="2731324" y="27709"/>
                  </a:cubicBezTo>
                  <a:cubicBezTo>
                    <a:pt x="2741550" y="23990"/>
                    <a:pt x="2752889" y="23833"/>
                    <a:pt x="2762992" y="19792"/>
                  </a:cubicBezTo>
                  <a:cubicBezTo>
                    <a:pt x="2797381" y="6036"/>
                    <a:pt x="2769008" y="16351"/>
                    <a:pt x="2814452" y="3958"/>
                  </a:cubicBezTo>
                  <a:cubicBezTo>
                    <a:pt x="2818477" y="2860"/>
                    <a:pt x="2826327" y="0"/>
                    <a:pt x="2826327" y="0"/>
                  </a:cubicBezTo>
                </a:path>
              </a:pathLst>
            </a:custGeom>
            <a:noFill/>
            <a:ln w="19050">
              <a:solidFill>
                <a:schemeClr val="tx1">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19" name="그룹 118">
            <a:extLst>
              <a:ext uri="{FF2B5EF4-FFF2-40B4-BE49-F238E27FC236}">
                <a16:creationId xmlns:a16="http://schemas.microsoft.com/office/drawing/2014/main" id="{438FDEAA-4631-4281-89E8-31A4999FE04B}"/>
              </a:ext>
            </a:extLst>
          </p:cNvPr>
          <p:cNvGrpSpPr/>
          <p:nvPr/>
        </p:nvGrpSpPr>
        <p:grpSpPr>
          <a:xfrm>
            <a:off x="5119281" y="2240868"/>
            <a:ext cx="3038400" cy="3034800"/>
            <a:chOff x="7364850" y="3249865"/>
            <a:chExt cx="2886771" cy="2886956"/>
          </a:xfrm>
        </p:grpSpPr>
        <p:sp>
          <p:nvSpPr>
            <p:cNvPr id="120" name="자유형: 도형 181">
              <a:extLst>
                <a:ext uri="{FF2B5EF4-FFF2-40B4-BE49-F238E27FC236}">
                  <a16:creationId xmlns:a16="http://schemas.microsoft.com/office/drawing/2014/main" id="{F3AF63DE-923D-4BB8-A316-C45A76A0A753}"/>
                </a:ext>
              </a:extLst>
            </p:cNvPr>
            <p:cNvSpPr/>
            <p:nvPr/>
          </p:nvSpPr>
          <p:spPr>
            <a:xfrm>
              <a:off x="7364850" y="3249865"/>
              <a:ext cx="2883877" cy="2881994"/>
            </a:xfrm>
            <a:custGeom>
              <a:avLst/>
              <a:gdLst>
                <a:gd name="connsiteX0" fmla="*/ 235840 w 2871464"/>
                <a:gd name="connsiteY0" fmla="*/ 2892152 h 2892152"/>
                <a:gd name="connsiteX1" fmla="*/ 8275 w 2871464"/>
                <a:gd name="connsiteY1" fmla="*/ 2883877 h 2892152"/>
                <a:gd name="connsiteX2" fmla="*/ 0 w 2871464"/>
                <a:gd name="connsiteY2" fmla="*/ 0 h 2892152"/>
                <a:gd name="connsiteX3" fmla="*/ 2871464 w 2871464"/>
                <a:gd name="connsiteY3" fmla="*/ 4137 h 2892152"/>
                <a:gd name="connsiteX4" fmla="*/ 2871464 w 2871464"/>
                <a:gd name="connsiteY4" fmla="*/ 169640 h 2892152"/>
                <a:gd name="connsiteX5" fmla="*/ 2739062 w 2871464"/>
                <a:gd name="connsiteY5" fmla="*/ 302041 h 2892152"/>
                <a:gd name="connsiteX6" fmla="*/ 2259106 w 2871464"/>
                <a:gd name="connsiteY6" fmla="*/ 529607 h 2892152"/>
                <a:gd name="connsiteX7" fmla="*/ 1936376 w 2871464"/>
                <a:gd name="connsiteY7" fmla="*/ 794411 h 2892152"/>
                <a:gd name="connsiteX8" fmla="*/ 1824662 w 2871464"/>
                <a:gd name="connsiteY8" fmla="*/ 901987 h 2892152"/>
                <a:gd name="connsiteX9" fmla="*/ 1675710 w 2871464"/>
                <a:gd name="connsiteY9" fmla="*/ 1125415 h 2892152"/>
                <a:gd name="connsiteX10" fmla="*/ 1555721 w 2871464"/>
                <a:gd name="connsiteY10" fmla="*/ 1315743 h 2892152"/>
                <a:gd name="connsiteX11" fmla="*/ 1497795 w 2871464"/>
                <a:gd name="connsiteY11" fmla="*/ 1468832 h 2892152"/>
                <a:gd name="connsiteX12" fmla="*/ 1315743 w 2871464"/>
                <a:gd name="connsiteY12" fmla="*/ 1634335 h 2892152"/>
                <a:gd name="connsiteX13" fmla="*/ 1137828 w 2871464"/>
                <a:gd name="connsiteY13" fmla="*/ 1791562 h 2892152"/>
                <a:gd name="connsiteX14" fmla="*/ 959913 w 2871464"/>
                <a:gd name="connsiteY14" fmla="*/ 1878450 h 2892152"/>
                <a:gd name="connsiteX15" fmla="*/ 761310 w 2871464"/>
                <a:gd name="connsiteY15" fmla="*/ 1998440 h 2892152"/>
                <a:gd name="connsiteX16" fmla="*/ 604083 w 2871464"/>
                <a:gd name="connsiteY16" fmla="*/ 2139117 h 2892152"/>
                <a:gd name="connsiteX17" fmla="*/ 467544 w 2871464"/>
                <a:gd name="connsiteY17" fmla="*/ 2337719 h 2892152"/>
                <a:gd name="connsiteX18" fmla="*/ 401343 w 2871464"/>
                <a:gd name="connsiteY18" fmla="*/ 2478396 h 2892152"/>
                <a:gd name="connsiteX19" fmla="*/ 289629 w 2871464"/>
                <a:gd name="connsiteY19" fmla="*/ 2623211 h 2892152"/>
                <a:gd name="connsiteX20" fmla="*/ 66201 w 2871464"/>
                <a:gd name="connsiteY20" fmla="*/ 2892152 h 2892152"/>
                <a:gd name="connsiteX21" fmla="*/ 4137 w 2871464"/>
                <a:gd name="connsiteY21" fmla="*/ 2888014 h 2892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1464" h="2892152">
                  <a:moveTo>
                    <a:pt x="235840" y="2892152"/>
                  </a:moveTo>
                  <a:lnTo>
                    <a:pt x="8275" y="2883877"/>
                  </a:lnTo>
                  <a:cubicBezTo>
                    <a:pt x="5517" y="1922585"/>
                    <a:pt x="2758" y="961292"/>
                    <a:pt x="0" y="0"/>
                  </a:cubicBezTo>
                  <a:lnTo>
                    <a:pt x="2871464" y="4137"/>
                  </a:lnTo>
                  <a:lnTo>
                    <a:pt x="2871464" y="169640"/>
                  </a:lnTo>
                  <a:lnTo>
                    <a:pt x="2739062" y="302041"/>
                  </a:lnTo>
                  <a:lnTo>
                    <a:pt x="2259106" y="529607"/>
                  </a:lnTo>
                  <a:lnTo>
                    <a:pt x="1936376" y="794411"/>
                  </a:lnTo>
                  <a:lnTo>
                    <a:pt x="1824662" y="901987"/>
                  </a:lnTo>
                  <a:lnTo>
                    <a:pt x="1675710" y="1125415"/>
                  </a:lnTo>
                  <a:lnTo>
                    <a:pt x="1555721" y="1315743"/>
                  </a:lnTo>
                  <a:lnTo>
                    <a:pt x="1497795" y="1468832"/>
                  </a:lnTo>
                  <a:lnTo>
                    <a:pt x="1315743" y="1634335"/>
                  </a:lnTo>
                  <a:lnTo>
                    <a:pt x="1137828" y="1791562"/>
                  </a:lnTo>
                  <a:lnTo>
                    <a:pt x="959913" y="1878450"/>
                  </a:lnTo>
                  <a:lnTo>
                    <a:pt x="761310" y="1998440"/>
                  </a:lnTo>
                  <a:lnTo>
                    <a:pt x="604083" y="2139117"/>
                  </a:lnTo>
                  <a:lnTo>
                    <a:pt x="467544" y="2337719"/>
                  </a:lnTo>
                  <a:lnTo>
                    <a:pt x="401343" y="2478396"/>
                  </a:lnTo>
                  <a:lnTo>
                    <a:pt x="289629" y="2623211"/>
                  </a:lnTo>
                  <a:lnTo>
                    <a:pt x="66201" y="2892152"/>
                  </a:lnTo>
                  <a:lnTo>
                    <a:pt x="4137" y="2888014"/>
                  </a:lnTo>
                </a:path>
              </a:pathLst>
            </a:custGeom>
            <a:solidFill>
              <a:schemeClr val="accent1">
                <a:alpha val="15000"/>
              </a:schemeClr>
            </a:solidFill>
            <a:ln w="12700">
              <a:solidFill>
                <a:schemeClr val="accent1">
                  <a:shade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자유형: 도형 182">
              <a:extLst>
                <a:ext uri="{FF2B5EF4-FFF2-40B4-BE49-F238E27FC236}">
                  <a16:creationId xmlns:a16="http://schemas.microsoft.com/office/drawing/2014/main" id="{65FA4D25-54AF-43B1-A0BB-C8DE814377B2}"/>
                </a:ext>
              </a:extLst>
            </p:cNvPr>
            <p:cNvSpPr/>
            <p:nvPr/>
          </p:nvSpPr>
          <p:spPr>
            <a:xfrm>
              <a:off x="7424057" y="3415393"/>
              <a:ext cx="2827564" cy="2721428"/>
            </a:xfrm>
            <a:custGeom>
              <a:avLst/>
              <a:gdLst>
                <a:gd name="connsiteX0" fmla="*/ 0 w 2827564"/>
                <a:gd name="connsiteY0" fmla="*/ 2715986 h 2721428"/>
                <a:gd name="connsiteX1" fmla="*/ 2827564 w 2827564"/>
                <a:gd name="connsiteY1" fmla="*/ 2721428 h 2721428"/>
                <a:gd name="connsiteX2" fmla="*/ 2824843 w 2827564"/>
                <a:gd name="connsiteY2" fmla="*/ 0 h 2721428"/>
                <a:gd name="connsiteX3" fmla="*/ 2683329 w 2827564"/>
                <a:gd name="connsiteY3" fmla="*/ 149678 h 2721428"/>
                <a:gd name="connsiteX4" fmla="*/ 2207079 w 2827564"/>
                <a:gd name="connsiteY4" fmla="*/ 370114 h 2721428"/>
                <a:gd name="connsiteX5" fmla="*/ 1774372 w 2827564"/>
                <a:gd name="connsiteY5" fmla="*/ 721178 h 2721428"/>
                <a:gd name="connsiteX6" fmla="*/ 1502229 w 2827564"/>
                <a:gd name="connsiteY6" fmla="*/ 1132114 h 2721428"/>
                <a:gd name="connsiteX7" fmla="*/ 1447800 w 2827564"/>
                <a:gd name="connsiteY7" fmla="*/ 1300843 h 2721428"/>
                <a:gd name="connsiteX8" fmla="*/ 1069522 w 2827564"/>
                <a:gd name="connsiteY8" fmla="*/ 1613807 h 2721428"/>
                <a:gd name="connsiteX9" fmla="*/ 685800 w 2827564"/>
                <a:gd name="connsiteY9" fmla="*/ 1831521 h 2721428"/>
                <a:gd name="connsiteX10" fmla="*/ 560614 w 2827564"/>
                <a:gd name="connsiteY10" fmla="*/ 1959428 h 2721428"/>
                <a:gd name="connsiteX11" fmla="*/ 402772 w 2827564"/>
                <a:gd name="connsiteY11" fmla="*/ 2166257 h 2721428"/>
                <a:gd name="connsiteX12" fmla="*/ 337457 w 2827564"/>
                <a:gd name="connsiteY12" fmla="*/ 2307771 h 2721428"/>
                <a:gd name="connsiteX13" fmla="*/ 0 w 2827564"/>
                <a:gd name="connsiteY13" fmla="*/ 2715986 h 272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27564" h="2721428">
                  <a:moveTo>
                    <a:pt x="0" y="2715986"/>
                  </a:moveTo>
                  <a:lnTo>
                    <a:pt x="2827564" y="2721428"/>
                  </a:lnTo>
                  <a:lnTo>
                    <a:pt x="2824843" y="0"/>
                  </a:lnTo>
                  <a:lnTo>
                    <a:pt x="2683329" y="149678"/>
                  </a:lnTo>
                  <a:lnTo>
                    <a:pt x="2207079" y="370114"/>
                  </a:lnTo>
                  <a:lnTo>
                    <a:pt x="1774372" y="721178"/>
                  </a:lnTo>
                  <a:lnTo>
                    <a:pt x="1502229" y="1132114"/>
                  </a:lnTo>
                  <a:lnTo>
                    <a:pt x="1447800" y="1300843"/>
                  </a:lnTo>
                  <a:lnTo>
                    <a:pt x="1069522" y="1613807"/>
                  </a:lnTo>
                  <a:lnTo>
                    <a:pt x="685800" y="1831521"/>
                  </a:lnTo>
                  <a:lnTo>
                    <a:pt x="560614" y="1959428"/>
                  </a:lnTo>
                  <a:lnTo>
                    <a:pt x="402772" y="2166257"/>
                  </a:lnTo>
                  <a:lnTo>
                    <a:pt x="337457" y="2307771"/>
                  </a:lnTo>
                  <a:lnTo>
                    <a:pt x="0" y="2715986"/>
                  </a:lnTo>
                  <a:close/>
                </a:path>
              </a:pathLst>
            </a:custGeom>
            <a:solidFill>
              <a:srgbClr val="FF0000">
                <a:alpha val="20000"/>
              </a:srgbClr>
            </a:solidFill>
            <a:ln>
              <a:solidFill>
                <a:srgbClr val="FF0000">
                  <a:alpha val="1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직사각형 121">
              <a:extLst>
                <a:ext uri="{FF2B5EF4-FFF2-40B4-BE49-F238E27FC236}">
                  <a16:creationId xmlns:a16="http://schemas.microsoft.com/office/drawing/2014/main" id="{D6B2D979-19A6-4B98-99F2-7980E82C6EB4}"/>
                </a:ext>
              </a:extLst>
            </p:cNvPr>
            <p:cNvSpPr>
              <a:spLocks noChangeAspect="1"/>
            </p:cNvSpPr>
            <p:nvPr/>
          </p:nvSpPr>
          <p:spPr>
            <a:xfrm>
              <a:off x="7370599" y="3251697"/>
              <a:ext cx="2880000" cy="2880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Oval 53">
              <a:extLst>
                <a:ext uri="{FF2B5EF4-FFF2-40B4-BE49-F238E27FC236}">
                  <a16:creationId xmlns:a16="http://schemas.microsoft.com/office/drawing/2014/main" id="{448BE1E2-D70B-4280-963F-7F595C0159BA}"/>
                </a:ext>
              </a:extLst>
            </p:cNvPr>
            <p:cNvSpPr/>
            <p:nvPr/>
          </p:nvSpPr>
          <p:spPr>
            <a:xfrm>
              <a:off x="7536503" y="3383599"/>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4" name="Oval 53">
              <a:extLst>
                <a:ext uri="{FF2B5EF4-FFF2-40B4-BE49-F238E27FC236}">
                  <a16:creationId xmlns:a16="http://schemas.microsoft.com/office/drawing/2014/main" id="{A07F4670-3883-4D3A-8686-2C992343E424}"/>
                </a:ext>
              </a:extLst>
            </p:cNvPr>
            <p:cNvSpPr/>
            <p:nvPr/>
          </p:nvSpPr>
          <p:spPr>
            <a:xfrm>
              <a:off x="7587741" y="3688489"/>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5" name="Oval 53">
              <a:extLst>
                <a:ext uri="{FF2B5EF4-FFF2-40B4-BE49-F238E27FC236}">
                  <a16:creationId xmlns:a16="http://schemas.microsoft.com/office/drawing/2014/main" id="{60EE0E0E-1C50-498B-B06E-EE84EF617A1D}"/>
                </a:ext>
              </a:extLst>
            </p:cNvPr>
            <p:cNvSpPr/>
            <p:nvPr/>
          </p:nvSpPr>
          <p:spPr>
            <a:xfrm>
              <a:off x="7919701" y="3437599"/>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6" name="Oval 53">
              <a:extLst>
                <a:ext uri="{FF2B5EF4-FFF2-40B4-BE49-F238E27FC236}">
                  <a16:creationId xmlns:a16="http://schemas.microsoft.com/office/drawing/2014/main" id="{E98E22D4-7D30-405B-AD54-DA7ADD5B6737}"/>
                </a:ext>
              </a:extLst>
            </p:cNvPr>
            <p:cNvSpPr/>
            <p:nvPr/>
          </p:nvSpPr>
          <p:spPr>
            <a:xfrm>
              <a:off x="7479741" y="4091599"/>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7" name="Oval 53">
              <a:extLst>
                <a:ext uri="{FF2B5EF4-FFF2-40B4-BE49-F238E27FC236}">
                  <a16:creationId xmlns:a16="http://schemas.microsoft.com/office/drawing/2014/main" id="{3E164F73-04A7-4942-BB74-DF024AB7ECDE}"/>
                </a:ext>
              </a:extLst>
            </p:cNvPr>
            <p:cNvSpPr/>
            <p:nvPr/>
          </p:nvSpPr>
          <p:spPr>
            <a:xfrm>
              <a:off x="8319395" y="4886950"/>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8" name="Oval 53">
              <a:extLst>
                <a:ext uri="{FF2B5EF4-FFF2-40B4-BE49-F238E27FC236}">
                  <a16:creationId xmlns:a16="http://schemas.microsoft.com/office/drawing/2014/main" id="{A9EE1959-06A7-4CF6-9F5C-58DF15C66768}"/>
                </a:ext>
              </a:extLst>
            </p:cNvPr>
            <p:cNvSpPr/>
            <p:nvPr/>
          </p:nvSpPr>
          <p:spPr>
            <a:xfrm>
              <a:off x="7752345" y="4037599"/>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9" name="Oval 53">
              <a:extLst>
                <a:ext uri="{FF2B5EF4-FFF2-40B4-BE49-F238E27FC236}">
                  <a16:creationId xmlns:a16="http://schemas.microsoft.com/office/drawing/2014/main" id="{CEE72DEF-1C9F-4342-A473-A904CD6085A9}"/>
                </a:ext>
              </a:extLst>
            </p:cNvPr>
            <p:cNvSpPr/>
            <p:nvPr/>
          </p:nvSpPr>
          <p:spPr>
            <a:xfrm>
              <a:off x="8389051" y="3491599"/>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0" name="Oval 53">
              <a:extLst>
                <a:ext uri="{FF2B5EF4-FFF2-40B4-BE49-F238E27FC236}">
                  <a16:creationId xmlns:a16="http://schemas.microsoft.com/office/drawing/2014/main" id="{5E041521-0A83-492F-9775-DFEF9F50A57B}"/>
                </a:ext>
              </a:extLst>
            </p:cNvPr>
            <p:cNvSpPr/>
            <p:nvPr/>
          </p:nvSpPr>
          <p:spPr>
            <a:xfrm>
              <a:off x="7644345" y="4528391"/>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1" name="Oval 53">
              <a:extLst>
                <a:ext uri="{FF2B5EF4-FFF2-40B4-BE49-F238E27FC236}">
                  <a16:creationId xmlns:a16="http://schemas.microsoft.com/office/drawing/2014/main" id="{0279931E-6D51-4F77-AB0C-B0A33EEB78AB}"/>
                </a:ext>
              </a:extLst>
            </p:cNvPr>
            <p:cNvSpPr/>
            <p:nvPr/>
          </p:nvSpPr>
          <p:spPr>
            <a:xfrm>
              <a:off x="7596702" y="4951656"/>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2" name="Oval 53">
              <a:extLst>
                <a:ext uri="{FF2B5EF4-FFF2-40B4-BE49-F238E27FC236}">
                  <a16:creationId xmlns:a16="http://schemas.microsoft.com/office/drawing/2014/main" id="{ED6551B7-1D83-4B16-A0B3-D46C74600FF3}"/>
                </a:ext>
              </a:extLst>
            </p:cNvPr>
            <p:cNvSpPr/>
            <p:nvPr/>
          </p:nvSpPr>
          <p:spPr>
            <a:xfrm>
              <a:off x="8443051" y="3940576"/>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3" name="Oval 53">
              <a:extLst>
                <a:ext uri="{FF2B5EF4-FFF2-40B4-BE49-F238E27FC236}">
                  <a16:creationId xmlns:a16="http://schemas.microsoft.com/office/drawing/2014/main" id="{EDD12671-1DF5-451A-BAD9-702D79C9F127}"/>
                </a:ext>
              </a:extLst>
            </p:cNvPr>
            <p:cNvSpPr/>
            <p:nvPr/>
          </p:nvSpPr>
          <p:spPr>
            <a:xfrm>
              <a:off x="8010458" y="4274553"/>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4" name="Oval 53">
              <a:extLst>
                <a:ext uri="{FF2B5EF4-FFF2-40B4-BE49-F238E27FC236}">
                  <a16:creationId xmlns:a16="http://schemas.microsoft.com/office/drawing/2014/main" id="{CE13E2BA-73F1-40A9-B01B-19EEAEA0D556}"/>
                </a:ext>
              </a:extLst>
            </p:cNvPr>
            <p:cNvSpPr/>
            <p:nvPr/>
          </p:nvSpPr>
          <p:spPr>
            <a:xfrm>
              <a:off x="8861505" y="3454550"/>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5" name="Oval 53">
              <a:extLst>
                <a:ext uri="{FF2B5EF4-FFF2-40B4-BE49-F238E27FC236}">
                  <a16:creationId xmlns:a16="http://schemas.microsoft.com/office/drawing/2014/main" id="{A830BF23-4685-4985-BEA3-6FBC22560F5E}"/>
                </a:ext>
              </a:extLst>
            </p:cNvPr>
            <p:cNvSpPr/>
            <p:nvPr/>
          </p:nvSpPr>
          <p:spPr>
            <a:xfrm>
              <a:off x="8497051" y="4269383"/>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6" name="Oval 53">
              <a:extLst>
                <a:ext uri="{FF2B5EF4-FFF2-40B4-BE49-F238E27FC236}">
                  <a16:creationId xmlns:a16="http://schemas.microsoft.com/office/drawing/2014/main" id="{14C2E33B-1455-4A64-8767-331D9A232F4C}"/>
                </a:ext>
              </a:extLst>
            </p:cNvPr>
            <p:cNvSpPr/>
            <p:nvPr/>
          </p:nvSpPr>
          <p:spPr>
            <a:xfrm>
              <a:off x="8034652" y="5076943"/>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7" name="Oval 53">
              <a:extLst>
                <a:ext uri="{FF2B5EF4-FFF2-40B4-BE49-F238E27FC236}">
                  <a16:creationId xmlns:a16="http://schemas.microsoft.com/office/drawing/2014/main" id="{9C5F4EC2-1D68-4257-8AF6-7E7F3B21F045}"/>
                </a:ext>
              </a:extLst>
            </p:cNvPr>
            <p:cNvSpPr/>
            <p:nvPr/>
          </p:nvSpPr>
          <p:spPr>
            <a:xfrm>
              <a:off x="8715642" y="3781417"/>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8" name="Oval 53">
              <a:extLst>
                <a:ext uri="{FF2B5EF4-FFF2-40B4-BE49-F238E27FC236}">
                  <a16:creationId xmlns:a16="http://schemas.microsoft.com/office/drawing/2014/main" id="{A5DE1438-3A2C-44B5-9A3F-388C4A5B7F0A}"/>
                </a:ext>
              </a:extLst>
            </p:cNvPr>
            <p:cNvSpPr/>
            <p:nvPr/>
          </p:nvSpPr>
          <p:spPr>
            <a:xfrm>
              <a:off x="9323270" y="3508550"/>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9" name="Oval 53">
              <a:extLst>
                <a:ext uri="{FF2B5EF4-FFF2-40B4-BE49-F238E27FC236}">
                  <a16:creationId xmlns:a16="http://schemas.microsoft.com/office/drawing/2014/main" id="{83C2CD47-F7FE-4F63-8810-F8B7C7B82AA7}"/>
                </a:ext>
              </a:extLst>
            </p:cNvPr>
            <p:cNvSpPr/>
            <p:nvPr/>
          </p:nvSpPr>
          <p:spPr>
            <a:xfrm>
              <a:off x="9034405" y="4518550"/>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0" name="Oval 53">
              <a:extLst>
                <a:ext uri="{FF2B5EF4-FFF2-40B4-BE49-F238E27FC236}">
                  <a16:creationId xmlns:a16="http://schemas.microsoft.com/office/drawing/2014/main" id="{5589D738-476C-49E5-BB7B-840E937D027E}"/>
                </a:ext>
              </a:extLst>
            </p:cNvPr>
            <p:cNvSpPr/>
            <p:nvPr/>
          </p:nvSpPr>
          <p:spPr>
            <a:xfrm>
              <a:off x="7949303" y="4697189"/>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1" name="Oval 53">
              <a:extLst>
                <a:ext uri="{FF2B5EF4-FFF2-40B4-BE49-F238E27FC236}">
                  <a16:creationId xmlns:a16="http://schemas.microsoft.com/office/drawing/2014/main" id="{A16288C6-7531-474E-8FF9-86B41F235BA2}"/>
                </a:ext>
              </a:extLst>
            </p:cNvPr>
            <p:cNvSpPr/>
            <p:nvPr/>
          </p:nvSpPr>
          <p:spPr>
            <a:xfrm>
              <a:off x="8317941" y="4614513"/>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2" name="Oval 53">
              <a:extLst>
                <a:ext uri="{FF2B5EF4-FFF2-40B4-BE49-F238E27FC236}">
                  <a16:creationId xmlns:a16="http://schemas.microsoft.com/office/drawing/2014/main" id="{079F0443-3141-4BD6-B028-658D2F0505B9}"/>
                </a:ext>
              </a:extLst>
            </p:cNvPr>
            <p:cNvSpPr/>
            <p:nvPr/>
          </p:nvSpPr>
          <p:spPr>
            <a:xfrm>
              <a:off x="8849485" y="4253599"/>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3" name="Oval 53">
              <a:extLst>
                <a:ext uri="{FF2B5EF4-FFF2-40B4-BE49-F238E27FC236}">
                  <a16:creationId xmlns:a16="http://schemas.microsoft.com/office/drawing/2014/main" id="{C745B45D-972D-44CC-AA1B-2C2FD06300AE}"/>
                </a:ext>
              </a:extLst>
            </p:cNvPr>
            <p:cNvSpPr/>
            <p:nvPr/>
          </p:nvSpPr>
          <p:spPr>
            <a:xfrm>
              <a:off x="8715642" y="4636391"/>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4" name="Oval 53">
              <a:extLst>
                <a:ext uri="{FF2B5EF4-FFF2-40B4-BE49-F238E27FC236}">
                  <a16:creationId xmlns:a16="http://schemas.microsoft.com/office/drawing/2014/main" id="{C9BAFC48-CFD7-4090-87BB-3632F96FEDAB}"/>
                </a:ext>
              </a:extLst>
            </p:cNvPr>
            <p:cNvSpPr/>
            <p:nvPr/>
          </p:nvSpPr>
          <p:spPr>
            <a:xfrm>
              <a:off x="9049877" y="3939199"/>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5" name="Oval 53">
              <a:extLst>
                <a:ext uri="{FF2B5EF4-FFF2-40B4-BE49-F238E27FC236}">
                  <a16:creationId xmlns:a16="http://schemas.microsoft.com/office/drawing/2014/main" id="{A013E993-B8C3-4DCA-A316-E3473DEC4571}"/>
                </a:ext>
              </a:extLst>
            </p:cNvPr>
            <p:cNvSpPr/>
            <p:nvPr/>
          </p:nvSpPr>
          <p:spPr>
            <a:xfrm>
              <a:off x="8923650" y="4940950"/>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6" name="Oval 53">
              <a:extLst>
                <a:ext uri="{FF2B5EF4-FFF2-40B4-BE49-F238E27FC236}">
                  <a16:creationId xmlns:a16="http://schemas.microsoft.com/office/drawing/2014/main" id="{EFE80090-B2A8-4433-A1B3-DD84647A87FC}"/>
                </a:ext>
              </a:extLst>
            </p:cNvPr>
            <p:cNvSpPr/>
            <p:nvPr/>
          </p:nvSpPr>
          <p:spPr>
            <a:xfrm>
              <a:off x="7633879" y="5360243"/>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7" name="Oval 53">
              <a:extLst>
                <a:ext uri="{FF2B5EF4-FFF2-40B4-BE49-F238E27FC236}">
                  <a16:creationId xmlns:a16="http://schemas.microsoft.com/office/drawing/2014/main" id="{58E59010-EDAD-424B-8D42-1026E8479BD2}"/>
                </a:ext>
              </a:extLst>
            </p:cNvPr>
            <p:cNvSpPr/>
            <p:nvPr/>
          </p:nvSpPr>
          <p:spPr>
            <a:xfrm>
              <a:off x="9220248" y="4886950"/>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8" name="Oval 53">
              <a:extLst>
                <a:ext uri="{FF2B5EF4-FFF2-40B4-BE49-F238E27FC236}">
                  <a16:creationId xmlns:a16="http://schemas.microsoft.com/office/drawing/2014/main" id="{0EF253BB-1175-4519-9995-E6E00C9CA799}"/>
                </a:ext>
              </a:extLst>
            </p:cNvPr>
            <p:cNvSpPr/>
            <p:nvPr/>
          </p:nvSpPr>
          <p:spPr>
            <a:xfrm>
              <a:off x="7993703" y="3840799"/>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9" name="Oval 53">
              <a:extLst>
                <a:ext uri="{FF2B5EF4-FFF2-40B4-BE49-F238E27FC236}">
                  <a16:creationId xmlns:a16="http://schemas.microsoft.com/office/drawing/2014/main" id="{89DFC60F-358F-407C-9F99-A8212735E36A}"/>
                </a:ext>
              </a:extLst>
            </p:cNvPr>
            <p:cNvSpPr/>
            <p:nvPr/>
          </p:nvSpPr>
          <p:spPr>
            <a:xfrm>
              <a:off x="8669993" y="4973651"/>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0" name="Oval 53">
              <a:extLst>
                <a:ext uri="{FF2B5EF4-FFF2-40B4-BE49-F238E27FC236}">
                  <a16:creationId xmlns:a16="http://schemas.microsoft.com/office/drawing/2014/main" id="{BDB7F1B6-2428-4353-B1CF-FF8704815F01}"/>
                </a:ext>
              </a:extLst>
            </p:cNvPr>
            <p:cNvSpPr/>
            <p:nvPr/>
          </p:nvSpPr>
          <p:spPr>
            <a:xfrm>
              <a:off x="9373047" y="3781417"/>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1" name="Oval 53">
              <a:extLst>
                <a:ext uri="{FF2B5EF4-FFF2-40B4-BE49-F238E27FC236}">
                  <a16:creationId xmlns:a16="http://schemas.microsoft.com/office/drawing/2014/main" id="{B416DEF5-5FCF-4C25-B61D-7A513DAF8FF3}"/>
                </a:ext>
              </a:extLst>
            </p:cNvPr>
            <p:cNvSpPr/>
            <p:nvPr/>
          </p:nvSpPr>
          <p:spPr>
            <a:xfrm>
              <a:off x="9031650" y="5217123"/>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2" name="Oval 53">
              <a:extLst>
                <a:ext uri="{FF2B5EF4-FFF2-40B4-BE49-F238E27FC236}">
                  <a16:creationId xmlns:a16="http://schemas.microsoft.com/office/drawing/2014/main" id="{F8189111-D09D-42D0-8C39-B37394462E0E}"/>
                </a:ext>
              </a:extLst>
            </p:cNvPr>
            <p:cNvSpPr/>
            <p:nvPr/>
          </p:nvSpPr>
          <p:spPr>
            <a:xfrm>
              <a:off x="9731586" y="3454550"/>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3" name="Oval 53">
              <a:extLst>
                <a:ext uri="{FF2B5EF4-FFF2-40B4-BE49-F238E27FC236}">
                  <a16:creationId xmlns:a16="http://schemas.microsoft.com/office/drawing/2014/main" id="{02718767-B4D6-4265-A157-1D02F638CD08}"/>
                </a:ext>
              </a:extLst>
            </p:cNvPr>
            <p:cNvSpPr/>
            <p:nvPr/>
          </p:nvSpPr>
          <p:spPr>
            <a:xfrm>
              <a:off x="7533741" y="5859085"/>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4" name="Oval 53">
              <a:extLst>
                <a:ext uri="{FF2B5EF4-FFF2-40B4-BE49-F238E27FC236}">
                  <a16:creationId xmlns:a16="http://schemas.microsoft.com/office/drawing/2014/main" id="{7E29DB22-829B-49B7-B57B-4730339C9623}"/>
                </a:ext>
              </a:extLst>
            </p:cNvPr>
            <p:cNvSpPr/>
            <p:nvPr/>
          </p:nvSpPr>
          <p:spPr>
            <a:xfrm>
              <a:off x="7860345" y="5358710"/>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5" name="Oval 53">
              <a:extLst>
                <a:ext uri="{FF2B5EF4-FFF2-40B4-BE49-F238E27FC236}">
                  <a16:creationId xmlns:a16="http://schemas.microsoft.com/office/drawing/2014/main" id="{059FB656-C502-4E4C-8FFE-8823EA58CCB8}"/>
                </a:ext>
              </a:extLst>
            </p:cNvPr>
            <p:cNvSpPr/>
            <p:nvPr/>
          </p:nvSpPr>
          <p:spPr>
            <a:xfrm>
              <a:off x="9980372" y="3491599"/>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6" name="Isosceles Triangle 58">
              <a:extLst>
                <a:ext uri="{FF2B5EF4-FFF2-40B4-BE49-F238E27FC236}">
                  <a16:creationId xmlns:a16="http://schemas.microsoft.com/office/drawing/2014/main" id="{D1F29836-5ED4-447C-BA43-EBD4F493A766}"/>
                </a:ext>
              </a:extLst>
            </p:cNvPr>
            <p:cNvSpPr/>
            <p:nvPr/>
          </p:nvSpPr>
          <p:spPr>
            <a:xfrm>
              <a:off x="9049877" y="3694981"/>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Isosceles Triangle 58">
              <a:extLst>
                <a:ext uri="{FF2B5EF4-FFF2-40B4-BE49-F238E27FC236}">
                  <a16:creationId xmlns:a16="http://schemas.microsoft.com/office/drawing/2014/main" id="{BD754ED2-EF55-4CC5-8E1F-BAD7373017F9}"/>
                </a:ext>
              </a:extLst>
            </p:cNvPr>
            <p:cNvSpPr/>
            <p:nvPr/>
          </p:nvSpPr>
          <p:spPr>
            <a:xfrm>
              <a:off x="9713477" y="3749068"/>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Isosceles Triangle 58">
              <a:extLst>
                <a:ext uri="{FF2B5EF4-FFF2-40B4-BE49-F238E27FC236}">
                  <a16:creationId xmlns:a16="http://schemas.microsoft.com/office/drawing/2014/main" id="{D53A615E-8D73-4953-AF83-1966868D636A}"/>
                </a:ext>
              </a:extLst>
            </p:cNvPr>
            <p:cNvSpPr/>
            <p:nvPr/>
          </p:nvSpPr>
          <p:spPr>
            <a:xfrm>
              <a:off x="9237626" y="4187703"/>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Isosceles Triangle 58">
              <a:extLst>
                <a:ext uri="{FF2B5EF4-FFF2-40B4-BE49-F238E27FC236}">
                  <a16:creationId xmlns:a16="http://schemas.microsoft.com/office/drawing/2014/main" id="{6A33BB0E-C0FC-41FA-89FF-15E9F93D6330}"/>
                </a:ext>
              </a:extLst>
            </p:cNvPr>
            <p:cNvSpPr/>
            <p:nvPr/>
          </p:nvSpPr>
          <p:spPr>
            <a:xfrm>
              <a:off x="9964277" y="3993199"/>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Isosceles Triangle 58">
              <a:extLst>
                <a:ext uri="{FF2B5EF4-FFF2-40B4-BE49-F238E27FC236}">
                  <a16:creationId xmlns:a16="http://schemas.microsoft.com/office/drawing/2014/main" id="{3006744D-939F-4651-B39A-07BB5C360EE1}"/>
                </a:ext>
              </a:extLst>
            </p:cNvPr>
            <p:cNvSpPr/>
            <p:nvPr/>
          </p:nvSpPr>
          <p:spPr>
            <a:xfrm>
              <a:off x="9634512" y="4199599"/>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Isosceles Triangle 58">
              <a:extLst>
                <a:ext uri="{FF2B5EF4-FFF2-40B4-BE49-F238E27FC236}">
                  <a16:creationId xmlns:a16="http://schemas.microsoft.com/office/drawing/2014/main" id="{4BD8A5C5-5D3A-4746-99C0-31398384CB8D}"/>
                </a:ext>
              </a:extLst>
            </p:cNvPr>
            <p:cNvSpPr/>
            <p:nvPr/>
          </p:nvSpPr>
          <p:spPr>
            <a:xfrm>
              <a:off x="9391341" y="4623879"/>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Isosceles Triangle 58">
              <a:extLst>
                <a:ext uri="{FF2B5EF4-FFF2-40B4-BE49-F238E27FC236}">
                  <a16:creationId xmlns:a16="http://schemas.microsoft.com/office/drawing/2014/main" id="{4AD04DB0-43D1-4DFA-BACE-491A166AFE7D}"/>
                </a:ext>
              </a:extLst>
            </p:cNvPr>
            <p:cNvSpPr/>
            <p:nvPr/>
          </p:nvSpPr>
          <p:spPr>
            <a:xfrm>
              <a:off x="9442936" y="5130943"/>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Isosceles Triangle 58">
              <a:extLst>
                <a:ext uri="{FF2B5EF4-FFF2-40B4-BE49-F238E27FC236}">
                  <a16:creationId xmlns:a16="http://schemas.microsoft.com/office/drawing/2014/main" id="{262B13DC-E16D-43EF-AFC8-C54743BF5742}"/>
                </a:ext>
              </a:extLst>
            </p:cNvPr>
            <p:cNvSpPr/>
            <p:nvPr/>
          </p:nvSpPr>
          <p:spPr>
            <a:xfrm>
              <a:off x="9748240" y="4865742"/>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Isosceles Triangle 58">
              <a:extLst>
                <a:ext uri="{FF2B5EF4-FFF2-40B4-BE49-F238E27FC236}">
                  <a16:creationId xmlns:a16="http://schemas.microsoft.com/office/drawing/2014/main" id="{29B31E67-00CB-47DE-89F9-CD4D418CB3BC}"/>
                </a:ext>
              </a:extLst>
            </p:cNvPr>
            <p:cNvSpPr/>
            <p:nvPr/>
          </p:nvSpPr>
          <p:spPr>
            <a:xfrm>
              <a:off x="8425941" y="5140612"/>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Isosceles Triangle 58">
              <a:extLst>
                <a:ext uri="{FF2B5EF4-FFF2-40B4-BE49-F238E27FC236}">
                  <a16:creationId xmlns:a16="http://schemas.microsoft.com/office/drawing/2014/main" id="{12F802E0-F11E-4982-9EBE-5DEF70A17E6B}"/>
                </a:ext>
              </a:extLst>
            </p:cNvPr>
            <p:cNvSpPr/>
            <p:nvPr/>
          </p:nvSpPr>
          <p:spPr>
            <a:xfrm>
              <a:off x="9354677" y="3999781"/>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Isosceles Triangle 58">
              <a:extLst>
                <a:ext uri="{FF2B5EF4-FFF2-40B4-BE49-F238E27FC236}">
                  <a16:creationId xmlns:a16="http://schemas.microsoft.com/office/drawing/2014/main" id="{64C721BD-AD56-48BD-9A06-9E3E0A1B70BC}"/>
                </a:ext>
              </a:extLst>
            </p:cNvPr>
            <p:cNvSpPr/>
            <p:nvPr/>
          </p:nvSpPr>
          <p:spPr>
            <a:xfrm>
              <a:off x="8125553" y="5525850"/>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Isosceles Triangle 58">
              <a:extLst>
                <a:ext uri="{FF2B5EF4-FFF2-40B4-BE49-F238E27FC236}">
                  <a16:creationId xmlns:a16="http://schemas.microsoft.com/office/drawing/2014/main" id="{100E69D9-6E78-41D1-9136-DE08761C7D0F}"/>
                </a:ext>
              </a:extLst>
            </p:cNvPr>
            <p:cNvSpPr/>
            <p:nvPr/>
          </p:nvSpPr>
          <p:spPr>
            <a:xfrm>
              <a:off x="8705072" y="5269925"/>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Isosceles Triangle 58">
              <a:extLst>
                <a:ext uri="{FF2B5EF4-FFF2-40B4-BE49-F238E27FC236}">
                  <a16:creationId xmlns:a16="http://schemas.microsoft.com/office/drawing/2014/main" id="{553BA9B2-F70D-473E-92A2-18A6C1368044}"/>
                </a:ext>
              </a:extLst>
            </p:cNvPr>
            <p:cNvSpPr/>
            <p:nvPr/>
          </p:nvSpPr>
          <p:spPr>
            <a:xfrm>
              <a:off x="9886780" y="5161925"/>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Isosceles Triangle 58">
              <a:extLst>
                <a:ext uri="{FF2B5EF4-FFF2-40B4-BE49-F238E27FC236}">
                  <a16:creationId xmlns:a16="http://schemas.microsoft.com/office/drawing/2014/main" id="{82B04795-A78C-44B2-BD6F-B5C9D8CC6F63}"/>
                </a:ext>
              </a:extLst>
            </p:cNvPr>
            <p:cNvSpPr/>
            <p:nvPr/>
          </p:nvSpPr>
          <p:spPr>
            <a:xfrm>
              <a:off x="9886780" y="4523464"/>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Isosceles Triangle 58">
              <a:extLst>
                <a:ext uri="{FF2B5EF4-FFF2-40B4-BE49-F238E27FC236}">
                  <a16:creationId xmlns:a16="http://schemas.microsoft.com/office/drawing/2014/main" id="{02FE3C47-0404-4E33-848D-7903F6A795C7}"/>
                </a:ext>
              </a:extLst>
            </p:cNvPr>
            <p:cNvSpPr/>
            <p:nvPr/>
          </p:nvSpPr>
          <p:spPr>
            <a:xfrm>
              <a:off x="10109464" y="4778950"/>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Isosceles Triangle 58">
              <a:extLst>
                <a:ext uri="{FF2B5EF4-FFF2-40B4-BE49-F238E27FC236}">
                  <a16:creationId xmlns:a16="http://schemas.microsoft.com/office/drawing/2014/main" id="{24845D83-A35E-487C-A14A-B7CEDC3E79AF}"/>
                </a:ext>
              </a:extLst>
            </p:cNvPr>
            <p:cNvSpPr/>
            <p:nvPr/>
          </p:nvSpPr>
          <p:spPr>
            <a:xfrm>
              <a:off x="7865788" y="5753068"/>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Isosceles Triangle 58">
              <a:extLst>
                <a:ext uri="{FF2B5EF4-FFF2-40B4-BE49-F238E27FC236}">
                  <a16:creationId xmlns:a16="http://schemas.microsoft.com/office/drawing/2014/main" id="{D6C72BBB-8606-4A80-B769-BBBA4D79888F}"/>
                </a:ext>
              </a:extLst>
            </p:cNvPr>
            <p:cNvSpPr/>
            <p:nvPr/>
          </p:nvSpPr>
          <p:spPr>
            <a:xfrm>
              <a:off x="8533941" y="5742664"/>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Isosceles Triangle 58">
              <a:extLst>
                <a:ext uri="{FF2B5EF4-FFF2-40B4-BE49-F238E27FC236}">
                  <a16:creationId xmlns:a16="http://schemas.microsoft.com/office/drawing/2014/main" id="{DAC02377-75C3-46F3-95E8-0810413ECEDD}"/>
                </a:ext>
              </a:extLst>
            </p:cNvPr>
            <p:cNvSpPr/>
            <p:nvPr/>
          </p:nvSpPr>
          <p:spPr>
            <a:xfrm>
              <a:off x="8263941" y="5901710"/>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Isosceles Triangle 58">
              <a:extLst>
                <a:ext uri="{FF2B5EF4-FFF2-40B4-BE49-F238E27FC236}">
                  <a16:creationId xmlns:a16="http://schemas.microsoft.com/office/drawing/2014/main" id="{6FF5D37E-583A-496E-886C-F281E2D76C64}"/>
                </a:ext>
              </a:extLst>
            </p:cNvPr>
            <p:cNvSpPr/>
            <p:nvPr/>
          </p:nvSpPr>
          <p:spPr>
            <a:xfrm>
              <a:off x="8923650" y="5590540"/>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Isosceles Triangle 58">
              <a:extLst>
                <a:ext uri="{FF2B5EF4-FFF2-40B4-BE49-F238E27FC236}">
                  <a16:creationId xmlns:a16="http://schemas.microsoft.com/office/drawing/2014/main" id="{1C855E9F-C69E-4B78-9E2A-48357E727C39}"/>
                </a:ext>
              </a:extLst>
            </p:cNvPr>
            <p:cNvSpPr/>
            <p:nvPr/>
          </p:nvSpPr>
          <p:spPr>
            <a:xfrm>
              <a:off x="8903485" y="5833921"/>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Isosceles Triangle 58">
              <a:extLst>
                <a:ext uri="{FF2B5EF4-FFF2-40B4-BE49-F238E27FC236}">
                  <a16:creationId xmlns:a16="http://schemas.microsoft.com/office/drawing/2014/main" id="{3E0E9CEC-9DFC-4945-ACFF-31EE00773537}"/>
                </a:ext>
              </a:extLst>
            </p:cNvPr>
            <p:cNvSpPr/>
            <p:nvPr/>
          </p:nvSpPr>
          <p:spPr>
            <a:xfrm>
              <a:off x="9333670" y="5559885"/>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Isosceles Triangle 58">
              <a:extLst>
                <a:ext uri="{FF2B5EF4-FFF2-40B4-BE49-F238E27FC236}">
                  <a16:creationId xmlns:a16="http://schemas.microsoft.com/office/drawing/2014/main" id="{64BAF7D8-5791-426B-99E7-FBB0C1F1DADD}"/>
                </a:ext>
              </a:extLst>
            </p:cNvPr>
            <p:cNvSpPr/>
            <p:nvPr/>
          </p:nvSpPr>
          <p:spPr>
            <a:xfrm>
              <a:off x="9623080" y="5404289"/>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Isosceles Triangle 58">
              <a:extLst>
                <a:ext uri="{FF2B5EF4-FFF2-40B4-BE49-F238E27FC236}">
                  <a16:creationId xmlns:a16="http://schemas.microsoft.com/office/drawing/2014/main" id="{5AB0B460-FF1E-434A-8D74-B1F5DCB969AD}"/>
                </a:ext>
              </a:extLst>
            </p:cNvPr>
            <p:cNvSpPr/>
            <p:nvPr/>
          </p:nvSpPr>
          <p:spPr>
            <a:xfrm>
              <a:off x="9550936" y="5941921"/>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Isosceles Triangle 58">
              <a:extLst>
                <a:ext uri="{FF2B5EF4-FFF2-40B4-BE49-F238E27FC236}">
                  <a16:creationId xmlns:a16="http://schemas.microsoft.com/office/drawing/2014/main" id="{7DAA9716-5CFE-482C-9947-E2A94E006815}"/>
                </a:ext>
              </a:extLst>
            </p:cNvPr>
            <p:cNvSpPr/>
            <p:nvPr/>
          </p:nvSpPr>
          <p:spPr>
            <a:xfrm>
              <a:off x="9943699" y="5496550"/>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Isosceles Triangle 58">
              <a:extLst>
                <a:ext uri="{FF2B5EF4-FFF2-40B4-BE49-F238E27FC236}">
                  <a16:creationId xmlns:a16="http://schemas.microsoft.com/office/drawing/2014/main" id="{4F698DE2-E1F9-494E-B91A-0E22DB919BF0}"/>
                </a:ext>
              </a:extLst>
            </p:cNvPr>
            <p:cNvSpPr/>
            <p:nvPr/>
          </p:nvSpPr>
          <p:spPr>
            <a:xfrm>
              <a:off x="9175243" y="5876956"/>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Isosceles Triangle 58">
              <a:extLst>
                <a:ext uri="{FF2B5EF4-FFF2-40B4-BE49-F238E27FC236}">
                  <a16:creationId xmlns:a16="http://schemas.microsoft.com/office/drawing/2014/main" id="{994562EE-BD37-4667-B2AB-513F2EF1C2FE}"/>
                </a:ext>
              </a:extLst>
            </p:cNvPr>
            <p:cNvSpPr/>
            <p:nvPr/>
          </p:nvSpPr>
          <p:spPr>
            <a:xfrm>
              <a:off x="9964277" y="5887921"/>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Isosceles Triangle 58">
              <a:extLst>
                <a:ext uri="{FF2B5EF4-FFF2-40B4-BE49-F238E27FC236}">
                  <a16:creationId xmlns:a16="http://schemas.microsoft.com/office/drawing/2014/main" id="{DE967FDD-4C54-4A70-8A75-5FB4AABCA217}"/>
                </a:ext>
              </a:extLst>
            </p:cNvPr>
            <p:cNvSpPr/>
            <p:nvPr/>
          </p:nvSpPr>
          <p:spPr>
            <a:xfrm>
              <a:off x="8473843" y="5498635"/>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53">
              <a:extLst>
                <a:ext uri="{FF2B5EF4-FFF2-40B4-BE49-F238E27FC236}">
                  <a16:creationId xmlns:a16="http://schemas.microsoft.com/office/drawing/2014/main" id="{2AF33644-6C08-4680-B292-5408F7B3E794}"/>
                </a:ext>
              </a:extLst>
            </p:cNvPr>
            <p:cNvSpPr/>
            <p:nvPr/>
          </p:nvSpPr>
          <p:spPr>
            <a:xfrm>
              <a:off x="9531943" y="4444584"/>
              <a:ext cx="108000" cy="10800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84" name="자유형: 도형 116">
              <a:extLst>
                <a:ext uri="{FF2B5EF4-FFF2-40B4-BE49-F238E27FC236}">
                  <a16:creationId xmlns:a16="http://schemas.microsoft.com/office/drawing/2014/main" id="{2BB33F10-00D7-4C5A-B749-7695C18776C4}"/>
                </a:ext>
              </a:extLst>
            </p:cNvPr>
            <p:cNvSpPr/>
            <p:nvPr/>
          </p:nvSpPr>
          <p:spPr>
            <a:xfrm>
              <a:off x="7472887" y="3334956"/>
              <a:ext cx="2776351" cy="2793846"/>
            </a:xfrm>
            <a:custGeom>
              <a:avLst/>
              <a:gdLst>
                <a:gd name="connsiteX0" fmla="*/ 0 w 2826327"/>
                <a:gd name="connsiteY0" fmla="*/ 2759034 h 2759034"/>
                <a:gd name="connsiteX1" fmla="*/ 55418 w 2826327"/>
                <a:gd name="connsiteY1" fmla="*/ 2751117 h 2759034"/>
                <a:gd name="connsiteX2" fmla="*/ 95002 w 2826327"/>
                <a:gd name="connsiteY2" fmla="*/ 2731325 h 2759034"/>
                <a:gd name="connsiteX3" fmla="*/ 126670 w 2826327"/>
                <a:gd name="connsiteY3" fmla="*/ 2711532 h 2759034"/>
                <a:gd name="connsiteX4" fmla="*/ 142504 w 2826327"/>
                <a:gd name="connsiteY4" fmla="*/ 2703615 h 2759034"/>
                <a:gd name="connsiteX5" fmla="*/ 154379 w 2826327"/>
                <a:gd name="connsiteY5" fmla="*/ 2695699 h 2759034"/>
                <a:gd name="connsiteX6" fmla="*/ 178130 w 2826327"/>
                <a:gd name="connsiteY6" fmla="*/ 2687782 h 2759034"/>
                <a:gd name="connsiteX7" fmla="*/ 193963 w 2826327"/>
                <a:gd name="connsiteY7" fmla="*/ 2675906 h 2759034"/>
                <a:gd name="connsiteX8" fmla="*/ 205839 w 2826327"/>
                <a:gd name="connsiteY8" fmla="*/ 2671948 h 2759034"/>
                <a:gd name="connsiteX9" fmla="*/ 229589 w 2826327"/>
                <a:gd name="connsiteY9" fmla="*/ 2648197 h 2759034"/>
                <a:gd name="connsiteX10" fmla="*/ 241465 w 2826327"/>
                <a:gd name="connsiteY10" fmla="*/ 2636322 h 2759034"/>
                <a:gd name="connsiteX11" fmla="*/ 253340 w 2826327"/>
                <a:gd name="connsiteY11" fmla="*/ 2624447 h 2759034"/>
                <a:gd name="connsiteX12" fmla="*/ 269174 w 2826327"/>
                <a:gd name="connsiteY12" fmla="*/ 2600696 h 2759034"/>
                <a:gd name="connsiteX13" fmla="*/ 277091 w 2826327"/>
                <a:gd name="connsiteY13" fmla="*/ 2588821 h 2759034"/>
                <a:gd name="connsiteX14" fmla="*/ 288966 w 2826327"/>
                <a:gd name="connsiteY14" fmla="*/ 2576945 h 2759034"/>
                <a:gd name="connsiteX15" fmla="*/ 308758 w 2826327"/>
                <a:gd name="connsiteY15" fmla="*/ 2541319 h 2759034"/>
                <a:gd name="connsiteX16" fmla="*/ 316675 w 2826327"/>
                <a:gd name="connsiteY16" fmla="*/ 2525486 h 2759034"/>
                <a:gd name="connsiteX17" fmla="*/ 320634 w 2826327"/>
                <a:gd name="connsiteY17" fmla="*/ 2513610 h 2759034"/>
                <a:gd name="connsiteX18" fmla="*/ 328550 w 2826327"/>
                <a:gd name="connsiteY18" fmla="*/ 2501735 h 2759034"/>
                <a:gd name="connsiteX19" fmla="*/ 336467 w 2826327"/>
                <a:gd name="connsiteY19" fmla="*/ 2477984 h 2759034"/>
                <a:gd name="connsiteX20" fmla="*/ 348343 w 2826327"/>
                <a:gd name="connsiteY20" fmla="*/ 2454234 h 2759034"/>
                <a:gd name="connsiteX21" fmla="*/ 360218 w 2826327"/>
                <a:gd name="connsiteY21" fmla="*/ 2430483 h 2759034"/>
                <a:gd name="connsiteX22" fmla="*/ 372093 w 2826327"/>
                <a:gd name="connsiteY22" fmla="*/ 2402774 h 2759034"/>
                <a:gd name="connsiteX23" fmla="*/ 380010 w 2826327"/>
                <a:gd name="connsiteY23" fmla="*/ 2390899 h 2759034"/>
                <a:gd name="connsiteX24" fmla="*/ 383969 w 2826327"/>
                <a:gd name="connsiteY24" fmla="*/ 2379023 h 2759034"/>
                <a:gd name="connsiteX25" fmla="*/ 411678 w 2826327"/>
                <a:gd name="connsiteY25" fmla="*/ 2327564 h 2759034"/>
                <a:gd name="connsiteX26" fmla="*/ 415636 w 2826327"/>
                <a:gd name="connsiteY26" fmla="*/ 2315688 h 2759034"/>
                <a:gd name="connsiteX27" fmla="*/ 423553 w 2826327"/>
                <a:gd name="connsiteY27" fmla="*/ 2303813 h 2759034"/>
                <a:gd name="connsiteX28" fmla="*/ 427511 w 2826327"/>
                <a:gd name="connsiteY28" fmla="*/ 2287979 h 2759034"/>
                <a:gd name="connsiteX29" fmla="*/ 439387 w 2826327"/>
                <a:gd name="connsiteY29" fmla="*/ 2268187 h 2759034"/>
                <a:gd name="connsiteX30" fmla="*/ 455221 w 2826327"/>
                <a:gd name="connsiteY30" fmla="*/ 2232561 h 2759034"/>
                <a:gd name="connsiteX31" fmla="*/ 467096 w 2826327"/>
                <a:gd name="connsiteY31" fmla="*/ 2208810 h 2759034"/>
                <a:gd name="connsiteX32" fmla="*/ 471054 w 2826327"/>
                <a:gd name="connsiteY32" fmla="*/ 2196935 h 2759034"/>
                <a:gd name="connsiteX33" fmla="*/ 478971 w 2826327"/>
                <a:gd name="connsiteY33" fmla="*/ 2185060 h 2759034"/>
                <a:gd name="connsiteX34" fmla="*/ 482930 w 2826327"/>
                <a:gd name="connsiteY34" fmla="*/ 2173184 h 2759034"/>
                <a:gd name="connsiteX35" fmla="*/ 490847 w 2826327"/>
                <a:gd name="connsiteY35" fmla="*/ 2157351 h 2759034"/>
                <a:gd name="connsiteX36" fmla="*/ 498763 w 2826327"/>
                <a:gd name="connsiteY36" fmla="*/ 2129641 h 2759034"/>
                <a:gd name="connsiteX37" fmla="*/ 518556 w 2826327"/>
                <a:gd name="connsiteY37" fmla="*/ 2105891 h 2759034"/>
                <a:gd name="connsiteX38" fmla="*/ 538348 w 2826327"/>
                <a:gd name="connsiteY38" fmla="*/ 2066306 h 2759034"/>
                <a:gd name="connsiteX39" fmla="*/ 546265 w 2826327"/>
                <a:gd name="connsiteY39" fmla="*/ 2042556 h 2759034"/>
                <a:gd name="connsiteX40" fmla="*/ 566057 w 2826327"/>
                <a:gd name="connsiteY40" fmla="*/ 2014847 h 2759034"/>
                <a:gd name="connsiteX41" fmla="*/ 581891 w 2826327"/>
                <a:gd name="connsiteY41" fmla="*/ 1991096 h 2759034"/>
                <a:gd name="connsiteX42" fmla="*/ 601683 w 2826327"/>
                <a:gd name="connsiteY42" fmla="*/ 1963387 h 2759034"/>
                <a:gd name="connsiteX43" fmla="*/ 613558 w 2826327"/>
                <a:gd name="connsiteY43" fmla="*/ 1951512 h 2759034"/>
                <a:gd name="connsiteX44" fmla="*/ 637309 w 2826327"/>
                <a:gd name="connsiteY44" fmla="*/ 1919844 h 2759034"/>
                <a:gd name="connsiteX45" fmla="*/ 700644 w 2826327"/>
                <a:gd name="connsiteY45" fmla="*/ 1856509 h 2759034"/>
                <a:gd name="connsiteX46" fmla="*/ 712519 w 2826327"/>
                <a:gd name="connsiteY46" fmla="*/ 1844634 h 2759034"/>
                <a:gd name="connsiteX47" fmla="*/ 724395 w 2826327"/>
                <a:gd name="connsiteY47" fmla="*/ 1832758 h 2759034"/>
                <a:gd name="connsiteX48" fmla="*/ 748145 w 2826327"/>
                <a:gd name="connsiteY48" fmla="*/ 1816925 h 2759034"/>
                <a:gd name="connsiteX49" fmla="*/ 775854 w 2826327"/>
                <a:gd name="connsiteY49" fmla="*/ 1801091 h 2759034"/>
                <a:gd name="connsiteX50" fmla="*/ 815439 w 2826327"/>
                <a:gd name="connsiteY50" fmla="*/ 1793174 h 2759034"/>
                <a:gd name="connsiteX51" fmla="*/ 858982 w 2826327"/>
                <a:gd name="connsiteY51" fmla="*/ 1785257 h 2759034"/>
                <a:gd name="connsiteX52" fmla="*/ 1025236 w 2826327"/>
                <a:gd name="connsiteY52" fmla="*/ 1789215 h 2759034"/>
                <a:gd name="connsiteX53" fmla="*/ 1068779 w 2826327"/>
                <a:gd name="connsiteY53" fmla="*/ 1801091 h 2759034"/>
                <a:gd name="connsiteX54" fmla="*/ 1096488 w 2826327"/>
                <a:gd name="connsiteY54" fmla="*/ 1805049 h 2759034"/>
                <a:gd name="connsiteX55" fmla="*/ 1108363 w 2826327"/>
                <a:gd name="connsiteY55" fmla="*/ 1809008 h 2759034"/>
                <a:gd name="connsiteX56" fmla="*/ 1159823 w 2826327"/>
                <a:gd name="connsiteY56" fmla="*/ 1816925 h 2759034"/>
                <a:gd name="connsiteX57" fmla="*/ 1179615 w 2826327"/>
                <a:gd name="connsiteY57" fmla="*/ 1820883 h 2759034"/>
                <a:gd name="connsiteX58" fmla="*/ 1211283 w 2826327"/>
                <a:gd name="connsiteY58" fmla="*/ 1836717 h 2759034"/>
                <a:gd name="connsiteX59" fmla="*/ 1227117 w 2826327"/>
                <a:gd name="connsiteY59" fmla="*/ 1844634 h 2759034"/>
                <a:gd name="connsiteX60" fmla="*/ 1266701 w 2826327"/>
                <a:gd name="connsiteY60" fmla="*/ 1864426 h 2759034"/>
                <a:gd name="connsiteX61" fmla="*/ 1282535 w 2826327"/>
                <a:gd name="connsiteY61" fmla="*/ 1876301 h 2759034"/>
                <a:gd name="connsiteX62" fmla="*/ 1314202 w 2826327"/>
                <a:gd name="connsiteY62" fmla="*/ 1884218 h 2759034"/>
                <a:gd name="connsiteX63" fmla="*/ 1341911 w 2826327"/>
                <a:gd name="connsiteY63" fmla="*/ 1900052 h 2759034"/>
                <a:gd name="connsiteX64" fmla="*/ 1381496 w 2826327"/>
                <a:gd name="connsiteY64" fmla="*/ 1919844 h 2759034"/>
                <a:gd name="connsiteX65" fmla="*/ 1401288 w 2826327"/>
                <a:gd name="connsiteY65" fmla="*/ 1923802 h 2759034"/>
                <a:gd name="connsiteX66" fmla="*/ 1444831 w 2826327"/>
                <a:gd name="connsiteY66" fmla="*/ 1939636 h 2759034"/>
                <a:gd name="connsiteX67" fmla="*/ 1468582 w 2826327"/>
                <a:gd name="connsiteY67" fmla="*/ 1947553 h 2759034"/>
                <a:gd name="connsiteX68" fmla="*/ 1492332 w 2826327"/>
                <a:gd name="connsiteY68" fmla="*/ 1943595 h 2759034"/>
                <a:gd name="connsiteX69" fmla="*/ 1516083 w 2826327"/>
                <a:gd name="connsiteY69" fmla="*/ 1935678 h 2759034"/>
                <a:gd name="connsiteX70" fmla="*/ 1527958 w 2826327"/>
                <a:gd name="connsiteY70" fmla="*/ 1931719 h 2759034"/>
                <a:gd name="connsiteX71" fmla="*/ 1622961 w 2826327"/>
                <a:gd name="connsiteY71" fmla="*/ 1927761 h 2759034"/>
                <a:gd name="connsiteX72" fmla="*/ 1658587 w 2826327"/>
                <a:gd name="connsiteY72" fmla="*/ 1923802 h 2759034"/>
                <a:gd name="connsiteX73" fmla="*/ 1682337 w 2826327"/>
                <a:gd name="connsiteY73" fmla="*/ 1915886 h 2759034"/>
                <a:gd name="connsiteX74" fmla="*/ 1706088 w 2826327"/>
                <a:gd name="connsiteY74" fmla="*/ 1904010 h 2759034"/>
                <a:gd name="connsiteX75" fmla="*/ 1729839 w 2826327"/>
                <a:gd name="connsiteY75" fmla="*/ 1892135 h 2759034"/>
                <a:gd name="connsiteX76" fmla="*/ 1745672 w 2826327"/>
                <a:gd name="connsiteY76" fmla="*/ 1880260 h 2759034"/>
                <a:gd name="connsiteX77" fmla="*/ 1777340 w 2826327"/>
                <a:gd name="connsiteY77" fmla="*/ 1864426 h 2759034"/>
                <a:gd name="connsiteX78" fmla="*/ 1797132 w 2826327"/>
                <a:gd name="connsiteY78" fmla="*/ 1840675 h 2759034"/>
                <a:gd name="connsiteX79" fmla="*/ 1809008 w 2826327"/>
                <a:gd name="connsiteY79" fmla="*/ 1832758 h 2759034"/>
                <a:gd name="connsiteX80" fmla="*/ 1832758 w 2826327"/>
                <a:gd name="connsiteY80" fmla="*/ 1809008 h 2759034"/>
                <a:gd name="connsiteX81" fmla="*/ 1836717 w 2826327"/>
                <a:gd name="connsiteY81" fmla="*/ 1797132 h 2759034"/>
                <a:gd name="connsiteX82" fmla="*/ 1864426 w 2826327"/>
                <a:gd name="connsiteY82" fmla="*/ 1765465 h 2759034"/>
                <a:gd name="connsiteX83" fmla="*/ 1868384 w 2826327"/>
                <a:gd name="connsiteY83" fmla="*/ 1753589 h 2759034"/>
                <a:gd name="connsiteX84" fmla="*/ 1896093 w 2826327"/>
                <a:gd name="connsiteY84" fmla="*/ 1717964 h 2759034"/>
                <a:gd name="connsiteX85" fmla="*/ 1919844 w 2826327"/>
                <a:gd name="connsiteY85" fmla="*/ 1678379 h 2759034"/>
                <a:gd name="connsiteX86" fmla="*/ 1931719 w 2826327"/>
                <a:gd name="connsiteY86" fmla="*/ 1650670 h 2759034"/>
                <a:gd name="connsiteX87" fmla="*/ 1935678 w 2826327"/>
                <a:gd name="connsiteY87" fmla="*/ 1638795 h 2759034"/>
                <a:gd name="connsiteX88" fmla="*/ 1955470 w 2826327"/>
                <a:gd name="connsiteY88" fmla="*/ 1595252 h 2759034"/>
                <a:gd name="connsiteX89" fmla="*/ 1959428 w 2826327"/>
                <a:gd name="connsiteY89" fmla="*/ 1575460 h 2759034"/>
                <a:gd name="connsiteX90" fmla="*/ 1975262 w 2826327"/>
                <a:gd name="connsiteY90" fmla="*/ 1524000 h 2759034"/>
                <a:gd name="connsiteX91" fmla="*/ 1983179 w 2826327"/>
                <a:gd name="connsiteY91" fmla="*/ 1488374 h 2759034"/>
                <a:gd name="connsiteX92" fmla="*/ 1983179 w 2826327"/>
                <a:gd name="connsiteY92" fmla="*/ 1330036 h 2759034"/>
                <a:gd name="connsiteX93" fmla="*/ 1979221 w 2826327"/>
                <a:gd name="connsiteY93" fmla="*/ 1302327 h 2759034"/>
                <a:gd name="connsiteX94" fmla="*/ 1959428 w 2826327"/>
                <a:gd name="connsiteY94" fmla="*/ 1270660 h 2759034"/>
                <a:gd name="connsiteX95" fmla="*/ 1955470 w 2826327"/>
                <a:gd name="connsiteY95" fmla="*/ 1258784 h 2759034"/>
                <a:gd name="connsiteX96" fmla="*/ 1931719 w 2826327"/>
                <a:gd name="connsiteY96" fmla="*/ 1231075 h 2759034"/>
                <a:gd name="connsiteX97" fmla="*/ 1923802 w 2826327"/>
                <a:gd name="connsiteY97" fmla="*/ 1219200 h 2759034"/>
                <a:gd name="connsiteX98" fmla="*/ 1876301 w 2826327"/>
                <a:gd name="connsiteY98" fmla="*/ 1179615 h 2759034"/>
                <a:gd name="connsiteX99" fmla="*/ 1864426 w 2826327"/>
                <a:gd name="connsiteY99" fmla="*/ 1155865 h 2759034"/>
                <a:gd name="connsiteX100" fmla="*/ 1852550 w 2826327"/>
                <a:gd name="connsiteY100" fmla="*/ 1143989 h 2759034"/>
                <a:gd name="connsiteX101" fmla="*/ 1832758 w 2826327"/>
                <a:gd name="connsiteY101" fmla="*/ 1116280 h 2759034"/>
                <a:gd name="connsiteX102" fmla="*/ 1820883 w 2826327"/>
                <a:gd name="connsiteY102" fmla="*/ 1096488 h 2759034"/>
                <a:gd name="connsiteX103" fmla="*/ 1801091 w 2826327"/>
                <a:gd name="connsiteY103" fmla="*/ 1068779 h 2759034"/>
                <a:gd name="connsiteX104" fmla="*/ 1797132 w 2826327"/>
                <a:gd name="connsiteY104" fmla="*/ 1056904 h 2759034"/>
                <a:gd name="connsiteX105" fmla="*/ 1777340 w 2826327"/>
                <a:gd name="connsiteY105" fmla="*/ 1025236 h 2759034"/>
                <a:gd name="connsiteX106" fmla="*/ 1769423 w 2826327"/>
                <a:gd name="connsiteY106" fmla="*/ 1005444 h 2759034"/>
                <a:gd name="connsiteX107" fmla="*/ 1753589 w 2826327"/>
                <a:gd name="connsiteY107" fmla="*/ 977735 h 2759034"/>
                <a:gd name="connsiteX108" fmla="*/ 1741714 w 2826327"/>
                <a:gd name="connsiteY108" fmla="*/ 934192 h 2759034"/>
                <a:gd name="connsiteX109" fmla="*/ 1729839 w 2826327"/>
                <a:gd name="connsiteY109" fmla="*/ 890649 h 2759034"/>
                <a:gd name="connsiteX110" fmla="*/ 1725880 w 2826327"/>
                <a:gd name="connsiteY110" fmla="*/ 858982 h 2759034"/>
                <a:gd name="connsiteX111" fmla="*/ 1729839 w 2826327"/>
                <a:gd name="connsiteY111" fmla="*/ 771896 h 2759034"/>
                <a:gd name="connsiteX112" fmla="*/ 1741714 w 2826327"/>
                <a:gd name="connsiteY112" fmla="*/ 708561 h 2759034"/>
                <a:gd name="connsiteX113" fmla="*/ 1745672 w 2826327"/>
                <a:gd name="connsiteY113" fmla="*/ 680852 h 2759034"/>
                <a:gd name="connsiteX114" fmla="*/ 1753589 w 2826327"/>
                <a:gd name="connsiteY114" fmla="*/ 645226 h 2759034"/>
                <a:gd name="connsiteX115" fmla="*/ 1761506 w 2826327"/>
                <a:gd name="connsiteY115" fmla="*/ 633351 h 2759034"/>
                <a:gd name="connsiteX116" fmla="*/ 1773382 w 2826327"/>
                <a:gd name="connsiteY116" fmla="*/ 597725 h 2759034"/>
                <a:gd name="connsiteX117" fmla="*/ 1785257 w 2826327"/>
                <a:gd name="connsiteY117" fmla="*/ 566057 h 2759034"/>
                <a:gd name="connsiteX118" fmla="*/ 1789215 w 2826327"/>
                <a:gd name="connsiteY118" fmla="*/ 554182 h 2759034"/>
                <a:gd name="connsiteX119" fmla="*/ 1797132 w 2826327"/>
                <a:gd name="connsiteY119" fmla="*/ 542306 h 2759034"/>
                <a:gd name="connsiteX120" fmla="*/ 1805049 w 2826327"/>
                <a:gd name="connsiteY120" fmla="*/ 526473 h 2759034"/>
                <a:gd name="connsiteX121" fmla="*/ 1809008 w 2826327"/>
                <a:gd name="connsiteY121" fmla="*/ 514597 h 2759034"/>
                <a:gd name="connsiteX122" fmla="*/ 1828800 w 2826327"/>
                <a:gd name="connsiteY122" fmla="*/ 490847 h 2759034"/>
                <a:gd name="connsiteX123" fmla="*/ 1844634 w 2826327"/>
                <a:gd name="connsiteY123" fmla="*/ 463138 h 2759034"/>
                <a:gd name="connsiteX124" fmla="*/ 1868384 w 2826327"/>
                <a:gd name="connsiteY124" fmla="*/ 443345 h 2759034"/>
                <a:gd name="connsiteX125" fmla="*/ 1888176 w 2826327"/>
                <a:gd name="connsiteY125" fmla="*/ 419595 h 2759034"/>
                <a:gd name="connsiteX126" fmla="*/ 1904010 w 2826327"/>
                <a:gd name="connsiteY126" fmla="*/ 411678 h 2759034"/>
                <a:gd name="connsiteX127" fmla="*/ 1927761 w 2826327"/>
                <a:gd name="connsiteY127" fmla="*/ 395844 h 2759034"/>
                <a:gd name="connsiteX128" fmla="*/ 1939636 w 2826327"/>
                <a:gd name="connsiteY128" fmla="*/ 387927 h 2759034"/>
                <a:gd name="connsiteX129" fmla="*/ 1955470 w 2826327"/>
                <a:gd name="connsiteY129" fmla="*/ 376052 h 2759034"/>
                <a:gd name="connsiteX130" fmla="*/ 1967345 w 2826327"/>
                <a:gd name="connsiteY130" fmla="*/ 372093 h 2759034"/>
                <a:gd name="connsiteX131" fmla="*/ 1987137 w 2826327"/>
                <a:gd name="connsiteY131" fmla="*/ 360218 h 2759034"/>
                <a:gd name="connsiteX132" fmla="*/ 2010888 w 2826327"/>
                <a:gd name="connsiteY132" fmla="*/ 352301 h 2759034"/>
                <a:gd name="connsiteX133" fmla="*/ 2038597 w 2826327"/>
                <a:gd name="connsiteY133" fmla="*/ 336467 h 2759034"/>
                <a:gd name="connsiteX134" fmla="*/ 2086098 w 2826327"/>
                <a:gd name="connsiteY134" fmla="*/ 320634 h 2759034"/>
                <a:gd name="connsiteX135" fmla="*/ 2109849 w 2826327"/>
                <a:gd name="connsiteY135" fmla="*/ 308758 h 2759034"/>
                <a:gd name="connsiteX136" fmla="*/ 2169226 w 2826327"/>
                <a:gd name="connsiteY136" fmla="*/ 277091 h 2759034"/>
                <a:gd name="connsiteX137" fmla="*/ 2196935 w 2826327"/>
                <a:gd name="connsiteY137" fmla="*/ 269174 h 2759034"/>
                <a:gd name="connsiteX138" fmla="*/ 2228602 w 2826327"/>
                <a:gd name="connsiteY138" fmla="*/ 257299 h 2759034"/>
                <a:gd name="connsiteX139" fmla="*/ 2252353 w 2826327"/>
                <a:gd name="connsiteY139" fmla="*/ 245423 h 2759034"/>
                <a:gd name="connsiteX140" fmla="*/ 2299854 w 2826327"/>
                <a:gd name="connsiteY140" fmla="*/ 225631 h 2759034"/>
                <a:gd name="connsiteX141" fmla="*/ 2327563 w 2826327"/>
                <a:gd name="connsiteY141" fmla="*/ 213756 h 2759034"/>
                <a:gd name="connsiteX142" fmla="*/ 2351314 w 2826327"/>
                <a:gd name="connsiteY142" fmla="*/ 205839 h 2759034"/>
                <a:gd name="connsiteX143" fmla="*/ 2363189 w 2826327"/>
                <a:gd name="connsiteY143" fmla="*/ 197922 h 2759034"/>
                <a:gd name="connsiteX144" fmla="*/ 2379023 w 2826327"/>
                <a:gd name="connsiteY144" fmla="*/ 186047 h 2759034"/>
                <a:gd name="connsiteX145" fmla="*/ 2406732 w 2826327"/>
                <a:gd name="connsiteY145" fmla="*/ 178130 h 2759034"/>
                <a:gd name="connsiteX146" fmla="*/ 2438400 w 2826327"/>
                <a:gd name="connsiteY146" fmla="*/ 162296 h 2759034"/>
                <a:gd name="connsiteX147" fmla="*/ 2450275 w 2826327"/>
                <a:gd name="connsiteY147" fmla="*/ 158338 h 2759034"/>
                <a:gd name="connsiteX148" fmla="*/ 2501735 w 2826327"/>
                <a:gd name="connsiteY148" fmla="*/ 134587 h 2759034"/>
                <a:gd name="connsiteX149" fmla="*/ 2525485 w 2826327"/>
                <a:gd name="connsiteY149" fmla="*/ 126670 h 2759034"/>
                <a:gd name="connsiteX150" fmla="*/ 2584862 w 2826327"/>
                <a:gd name="connsiteY150" fmla="*/ 95002 h 2759034"/>
                <a:gd name="connsiteX151" fmla="*/ 2604654 w 2826327"/>
                <a:gd name="connsiteY151" fmla="*/ 87086 h 2759034"/>
                <a:gd name="connsiteX152" fmla="*/ 2644239 w 2826327"/>
                <a:gd name="connsiteY152" fmla="*/ 71252 h 2759034"/>
                <a:gd name="connsiteX153" fmla="*/ 2656114 w 2826327"/>
                <a:gd name="connsiteY153" fmla="*/ 67293 h 2759034"/>
                <a:gd name="connsiteX154" fmla="*/ 2667989 w 2826327"/>
                <a:gd name="connsiteY154" fmla="*/ 63335 h 2759034"/>
                <a:gd name="connsiteX155" fmla="*/ 2691740 w 2826327"/>
                <a:gd name="connsiteY155" fmla="*/ 47501 h 2759034"/>
                <a:gd name="connsiteX156" fmla="*/ 2719449 w 2826327"/>
                <a:gd name="connsiteY156" fmla="*/ 35626 h 2759034"/>
                <a:gd name="connsiteX157" fmla="*/ 2731324 w 2826327"/>
                <a:gd name="connsiteY157" fmla="*/ 27709 h 2759034"/>
                <a:gd name="connsiteX158" fmla="*/ 2762992 w 2826327"/>
                <a:gd name="connsiteY158" fmla="*/ 19792 h 2759034"/>
                <a:gd name="connsiteX159" fmla="*/ 2814452 w 2826327"/>
                <a:gd name="connsiteY159" fmla="*/ 3958 h 2759034"/>
                <a:gd name="connsiteX160" fmla="*/ 2826327 w 2826327"/>
                <a:gd name="connsiteY160" fmla="*/ 0 h 2759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2826327" h="2759034">
                  <a:moveTo>
                    <a:pt x="0" y="2759034"/>
                  </a:moveTo>
                  <a:cubicBezTo>
                    <a:pt x="4757" y="2758602"/>
                    <a:pt x="42010" y="2758566"/>
                    <a:pt x="55418" y="2751117"/>
                  </a:cubicBezTo>
                  <a:cubicBezTo>
                    <a:pt x="93978" y="2729695"/>
                    <a:pt x="64059" y="2739060"/>
                    <a:pt x="95002" y="2731325"/>
                  </a:cubicBezTo>
                  <a:cubicBezTo>
                    <a:pt x="105558" y="2724727"/>
                    <a:pt x="115536" y="2717099"/>
                    <a:pt x="126670" y="2711532"/>
                  </a:cubicBezTo>
                  <a:cubicBezTo>
                    <a:pt x="131948" y="2708893"/>
                    <a:pt x="137380" y="2706543"/>
                    <a:pt x="142504" y="2703615"/>
                  </a:cubicBezTo>
                  <a:cubicBezTo>
                    <a:pt x="146634" y="2701255"/>
                    <a:pt x="150032" y="2697631"/>
                    <a:pt x="154379" y="2695699"/>
                  </a:cubicBezTo>
                  <a:cubicBezTo>
                    <a:pt x="162005" y="2692310"/>
                    <a:pt x="178130" y="2687782"/>
                    <a:pt x="178130" y="2687782"/>
                  </a:cubicBezTo>
                  <a:cubicBezTo>
                    <a:pt x="183408" y="2683823"/>
                    <a:pt x="188235" y="2679179"/>
                    <a:pt x="193963" y="2675906"/>
                  </a:cubicBezTo>
                  <a:cubicBezTo>
                    <a:pt x="197586" y="2673836"/>
                    <a:pt x="202545" y="2674510"/>
                    <a:pt x="205839" y="2671948"/>
                  </a:cubicBezTo>
                  <a:cubicBezTo>
                    <a:pt x="214677" y="2665074"/>
                    <a:pt x="221672" y="2656114"/>
                    <a:pt x="229589" y="2648197"/>
                  </a:cubicBezTo>
                  <a:lnTo>
                    <a:pt x="241465" y="2636322"/>
                  </a:lnTo>
                  <a:cubicBezTo>
                    <a:pt x="245423" y="2632364"/>
                    <a:pt x="250235" y="2629105"/>
                    <a:pt x="253340" y="2624447"/>
                  </a:cubicBezTo>
                  <a:lnTo>
                    <a:pt x="269174" y="2600696"/>
                  </a:lnTo>
                  <a:cubicBezTo>
                    <a:pt x="271813" y="2596738"/>
                    <a:pt x="273727" y="2592185"/>
                    <a:pt x="277091" y="2588821"/>
                  </a:cubicBezTo>
                  <a:lnTo>
                    <a:pt x="288966" y="2576945"/>
                  </a:lnTo>
                  <a:cubicBezTo>
                    <a:pt x="299909" y="2544112"/>
                    <a:pt x="281541" y="2595749"/>
                    <a:pt x="308758" y="2541319"/>
                  </a:cubicBezTo>
                  <a:cubicBezTo>
                    <a:pt x="311397" y="2536041"/>
                    <a:pt x="314350" y="2530910"/>
                    <a:pt x="316675" y="2525486"/>
                  </a:cubicBezTo>
                  <a:cubicBezTo>
                    <a:pt x="318319" y="2521651"/>
                    <a:pt x="318768" y="2517342"/>
                    <a:pt x="320634" y="2513610"/>
                  </a:cubicBezTo>
                  <a:cubicBezTo>
                    <a:pt x="322761" y="2509355"/>
                    <a:pt x="326618" y="2506082"/>
                    <a:pt x="328550" y="2501735"/>
                  </a:cubicBezTo>
                  <a:cubicBezTo>
                    <a:pt x="331939" y="2494109"/>
                    <a:pt x="332735" y="2485448"/>
                    <a:pt x="336467" y="2477984"/>
                  </a:cubicBezTo>
                  <a:cubicBezTo>
                    <a:pt x="340426" y="2470067"/>
                    <a:pt x="344748" y="2462322"/>
                    <a:pt x="348343" y="2454234"/>
                  </a:cubicBezTo>
                  <a:cubicBezTo>
                    <a:pt x="359271" y="2429646"/>
                    <a:pt x="343755" y="2455177"/>
                    <a:pt x="360218" y="2430483"/>
                  </a:cubicBezTo>
                  <a:cubicBezTo>
                    <a:pt x="364659" y="2417160"/>
                    <a:pt x="364266" y="2416470"/>
                    <a:pt x="372093" y="2402774"/>
                  </a:cubicBezTo>
                  <a:cubicBezTo>
                    <a:pt x="374453" y="2398643"/>
                    <a:pt x="377882" y="2395154"/>
                    <a:pt x="380010" y="2390899"/>
                  </a:cubicBezTo>
                  <a:cubicBezTo>
                    <a:pt x="381876" y="2387167"/>
                    <a:pt x="382220" y="2382812"/>
                    <a:pt x="383969" y="2379023"/>
                  </a:cubicBezTo>
                  <a:cubicBezTo>
                    <a:pt x="400410" y="2343402"/>
                    <a:pt x="397345" y="2349063"/>
                    <a:pt x="411678" y="2327564"/>
                  </a:cubicBezTo>
                  <a:cubicBezTo>
                    <a:pt x="412997" y="2323605"/>
                    <a:pt x="413770" y="2319420"/>
                    <a:pt x="415636" y="2315688"/>
                  </a:cubicBezTo>
                  <a:cubicBezTo>
                    <a:pt x="417763" y="2311433"/>
                    <a:pt x="421679" y="2308186"/>
                    <a:pt x="423553" y="2303813"/>
                  </a:cubicBezTo>
                  <a:cubicBezTo>
                    <a:pt x="425696" y="2298812"/>
                    <a:pt x="425301" y="2292950"/>
                    <a:pt x="427511" y="2287979"/>
                  </a:cubicBezTo>
                  <a:cubicBezTo>
                    <a:pt x="430636" y="2280948"/>
                    <a:pt x="436203" y="2275191"/>
                    <a:pt x="439387" y="2268187"/>
                  </a:cubicBezTo>
                  <a:cubicBezTo>
                    <a:pt x="459577" y="2223770"/>
                    <a:pt x="436536" y="2260588"/>
                    <a:pt x="455221" y="2232561"/>
                  </a:cubicBezTo>
                  <a:cubicBezTo>
                    <a:pt x="465169" y="2202714"/>
                    <a:pt x="451750" y="2239504"/>
                    <a:pt x="467096" y="2208810"/>
                  </a:cubicBezTo>
                  <a:cubicBezTo>
                    <a:pt x="468962" y="2205078"/>
                    <a:pt x="469188" y="2200667"/>
                    <a:pt x="471054" y="2196935"/>
                  </a:cubicBezTo>
                  <a:cubicBezTo>
                    <a:pt x="473182" y="2192680"/>
                    <a:pt x="476843" y="2189315"/>
                    <a:pt x="478971" y="2185060"/>
                  </a:cubicBezTo>
                  <a:cubicBezTo>
                    <a:pt x="480837" y="2181328"/>
                    <a:pt x="481286" y="2177019"/>
                    <a:pt x="482930" y="2173184"/>
                  </a:cubicBezTo>
                  <a:cubicBezTo>
                    <a:pt x="485255" y="2167760"/>
                    <a:pt x="488208" y="2162629"/>
                    <a:pt x="490847" y="2157351"/>
                  </a:cubicBezTo>
                  <a:cubicBezTo>
                    <a:pt x="492115" y="2152280"/>
                    <a:pt x="495925" y="2135318"/>
                    <a:pt x="498763" y="2129641"/>
                  </a:cubicBezTo>
                  <a:cubicBezTo>
                    <a:pt x="504274" y="2118620"/>
                    <a:pt x="509802" y="2114644"/>
                    <a:pt x="518556" y="2105891"/>
                  </a:cubicBezTo>
                  <a:cubicBezTo>
                    <a:pt x="528558" y="2075881"/>
                    <a:pt x="521465" y="2088816"/>
                    <a:pt x="538348" y="2066306"/>
                  </a:cubicBezTo>
                  <a:cubicBezTo>
                    <a:pt x="540987" y="2058389"/>
                    <a:pt x="541636" y="2049499"/>
                    <a:pt x="546265" y="2042556"/>
                  </a:cubicBezTo>
                  <a:cubicBezTo>
                    <a:pt x="571993" y="2003963"/>
                    <a:pt x="531704" y="2063922"/>
                    <a:pt x="566057" y="2014847"/>
                  </a:cubicBezTo>
                  <a:cubicBezTo>
                    <a:pt x="571514" y="2007052"/>
                    <a:pt x="576613" y="1999013"/>
                    <a:pt x="581891" y="1991096"/>
                  </a:cubicBezTo>
                  <a:cubicBezTo>
                    <a:pt x="588154" y="1981702"/>
                    <a:pt x="594323" y="1971974"/>
                    <a:pt x="601683" y="1963387"/>
                  </a:cubicBezTo>
                  <a:cubicBezTo>
                    <a:pt x="605326" y="1959137"/>
                    <a:pt x="610013" y="1955845"/>
                    <a:pt x="613558" y="1951512"/>
                  </a:cubicBezTo>
                  <a:cubicBezTo>
                    <a:pt x="621914" y="1941300"/>
                    <a:pt x="627979" y="1929174"/>
                    <a:pt x="637309" y="1919844"/>
                  </a:cubicBezTo>
                  <a:lnTo>
                    <a:pt x="700644" y="1856509"/>
                  </a:lnTo>
                  <a:lnTo>
                    <a:pt x="712519" y="1844634"/>
                  </a:lnTo>
                  <a:cubicBezTo>
                    <a:pt x="716478" y="1840675"/>
                    <a:pt x="719737" y="1835863"/>
                    <a:pt x="724395" y="1832758"/>
                  </a:cubicBezTo>
                  <a:lnTo>
                    <a:pt x="748145" y="1816925"/>
                  </a:lnTo>
                  <a:cubicBezTo>
                    <a:pt x="757987" y="1810364"/>
                    <a:pt x="764377" y="1805395"/>
                    <a:pt x="775854" y="1801091"/>
                  </a:cubicBezTo>
                  <a:cubicBezTo>
                    <a:pt x="785743" y="1797382"/>
                    <a:pt x="806579" y="1794785"/>
                    <a:pt x="815439" y="1793174"/>
                  </a:cubicBezTo>
                  <a:cubicBezTo>
                    <a:pt x="876297" y="1782109"/>
                    <a:pt x="788994" y="1796920"/>
                    <a:pt x="858982" y="1785257"/>
                  </a:cubicBezTo>
                  <a:cubicBezTo>
                    <a:pt x="914400" y="1786576"/>
                    <a:pt x="969960" y="1785043"/>
                    <a:pt x="1025236" y="1789215"/>
                  </a:cubicBezTo>
                  <a:cubicBezTo>
                    <a:pt x="1040238" y="1790347"/>
                    <a:pt x="1054093" y="1797827"/>
                    <a:pt x="1068779" y="1801091"/>
                  </a:cubicBezTo>
                  <a:cubicBezTo>
                    <a:pt x="1077887" y="1803115"/>
                    <a:pt x="1087252" y="1803730"/>
                    <a:pt x="1096488" y="1805049"/>
                  </a:cubicBezTo>
                  <a:cubicBezTo>
                    <a:pt x="1100446" y="1806369"/>
                    <a:pt x="1104290" y="1808103"/>
                    <a:pt x="1108363" y="1809008"/>
                  </a:cubicBezTo>
                  <a:cubicBezTo>
                    <a:pt x="1121484" y="1811924"/>
                    <a:pt x="1147224" y="1814825"/>
                    <a:pt x="1159823" y="1816925"/>
                  </a:cubicBezTo>
                  <a:cubicBezTo>
                    <a:pt x="1166459" y="1818031"/>
                    <a:pt x="1173018" y="1819564"/>
                    <a:pt x="1179615" y="1820883"/>
                  </a:cubicBezTo>
                  <a:cubicBezTo>
                    <a:pt x="1218586" y="1836471"/>
                    <a:pt x="1183613" y="1820905"/>
                    <a:pt x="1211283" y="1836717"/>
                  </a:cubicBezTo>
                  <a:cubicBezTo>
                    <a:pt x="1216406" y="1839645"/>
                    <a:pt x="1222057" y="1841598"/>
                    <a:pt x="1227117" y="1844634"/>
                  </a:cubicBezTo>
                  <a:cubicBezTo>
                    <a:pt x="1260780" y="1864832"/>
                    <a:pt x="1238557" y="1857389"/>
                    <a:pt x="1266701" y="1864426"/>
                  </a:cubicBezTo>
                  <a:cubicBezTo>
                    <a:pt x="1271979" y="1868384"/>
                    <a:pt x="1276445" y="1873764"/>
                    <a:pt x="1282535" y="1876301"/>
                  </a:cubicBezTo>
                  <a:cubicBezTo>
                    <a:pt x="1292579" y="1880486"/>
                    <a:pt x="1314202" y="1884218"/>
                    <a:pt x="1314202" y="1884218"/>
                  </a:cubicBezTo>
                  <a:cubicBezTo>
                    <a:pt x="1339082" y="1900804"/>
                    <a:pt x="1311783" y="1883315"/>
                    <a:pt x="1341911" y="1900052"/>
                  </a:cubicBezTo>
                  <a:cubicBezTo>
                    <a:pt x="1360881" y="1910591"/>
                    <a:pt x="1360948" y="1913680"/>
                    <a:pt x="1381496" y="1919844"/>
                  </a:cubicBezTo>
                  <a:cubicBezTo>
                    <a:pt x="1387940" y="1921777"/>
                    <a:pt x="1394691" y="1922483"/>
                    <a:pt x="1401288" y="1923802"/>
                  </a:cubicBezTo>
                  <a:cubicBezTo>
                    <a:pt x="1452376" y="1945698"/>
                    <a:pt x="1409298" y="1928977"/>
                    <a:pt x="1444831" y="1939636"/>
                  </a:cubicBezTo>
                  <a:cubicBezTo>
                    <a:pt x="1452824" y="1942034"/>
                    <a:pt x="1468582" y="1947553"/>
                    <a:pt x="1468582" y="1947553"/>
                  </a:cubicBezTo>
                  <a:cubicBezTo>
                    <a:pt x="1476499" y="1946234"/>
                    <a:pt x="1484546" y="1945542"/>
                    <a:pt x="1492332" y="1943595"/>
                  </a:cubicBezTo>
                  <a:cubicBezTo>
                    <a:pt x="1500428" y="1941571"/>
                    <a:pt x="1508166" y="1938317"/>
                    <a:pt x="1516083" y="1935678"/>
                  </a:cubicBezTo>
                  <a:cubicBezTo>
                    <a:pt x="1520041" y="1934358"/>
                    <a:pt x="1523789" y="1931893"/>
                    <a:pt x="1527958" y="1931719"/>
                  </a:cubicBezTo>
                  <a:lnTo>
                    <a:pt x="1622961" y="1927761"/>
                  </a:lnTo>
                  <a:cubicBezTo>
                    <a:pt x="1634836" y="1926441"/>
                    <a:pt x="1646871" y="1926145"/>
                    <a:pt x="1658587" y="1923802"/>
                  </a:cubicBezTo>
                  <a:cubicBezTo>
                    <a:pt x="1666770" y="1922165"/>
                    <a:pt x="1682337" y="1915886"/>
                    <a:pt x="1682337" y="1915886"/>
                  </a:cubicBezTo>
                  <a:cubicBezTo>
                    <a:pt x="1716378" y="1893193"/>
                    <a:pt x="1673306" y="1920403"/>
                    <a:pt x="1706088" y="1904010"/>
                  </a:cubicBezTo>
                  <a:cubicBezTo>
                    <a:pt x="1736771" y="1888667"/>
                    <a:pt x="1699998" y="1902080"/>
                    <a:pt x="1729839" y="1892135"/>
                  </a:cubicBezTo>
                  <a:cubicBezTo>
                    <a:pt x="1735117" y="1888177"/>
                    <a:pt x="1739974" y="1883584"/>
                    <a:pt x="1745672" y="1880260"/>
                  </a:cubicBezTo>
                  <a:cubicBezTo>
                    <a:pt x="1755866" y="1874313"/>
                    <a:pt x="1777340" y="1864426"/>
                    <a:pt x="1777340" y="1864426"/>
                  </a:cubicBezTo>
                  <a:cubicBezTo>
                    <a:pt x="1785123" y="1852752"/>
                    <a:pt x="1785705" y="1850198"/>
                    <a:pt x="1797132" y="1840675"/>
                  </a:cubicBezTo>
                  <a:cubicBezTo>
                    <a:pt x="1800787" y="1837629"/>
                    <a:pt x="1805452" y="1835919"/>
                    <a:pt x="1809008" y="1832758"/>
                  </a:cubicBezTo>
                  <a:cubicBezTo>
                    <a:pt x="1817376" y="1825320"/>
                    <a:pt x="1832758" y="1809008"/>
                    <a:pt x="1832758" y="1809008"/>
                  </a:cubicBezTo>
                  <a:cubicBezTo>
                    <a:pt x="1834078" y="1805049"/>
                    <a:pt x="1834851" y="1800864"/>
                    <a:pt x="1836717" y="1797132"/>
                  </a:cubicBezTo>
                  <a:cubicBezTo>
                    <a:pt x="1843263" y="1784041"/>
                    <a:pt x="1854109" y="1775782"/>
                    <a:pt x="1864426" y="1765465"/>
                  </a:cubicBezTo>
                  <a:cubicBezTo>
                    <a:pt x="1865745" y="1761506"/>
                    <a:pt x="1866518" y="1757321"/>
                    <a:pt x="1868384" y="1753589"/>
                  </a:cubicBezTo>
                  <a:cubicBezTo>
                    <a:pt x="1873899" y="1742558"/>
                    <a:pt x="1890841" y="1724967"/>
                    <a:pt x="1896093" y="1717964"/>
                  </a:cubicBezTo>
                  <a:cubicBezTo>
                    <a:pt x="1906996" y="1703427"/>
                    <a:pt x="1912760" y="1693964"/>
                    <a:pt x="1919844" y="1678379"/>
                  </a:cubicBezTo>
                  <a:cubicBezTo>
                    <a:pt x="1924002" y="1669231"/>
                    <a:pt x="1927987" y="1660000"/>
                    <a:pt x="1931719" y="1650670"/>
                  </a:cubicBezTo>
                  <a:cubicBezTo>
                    <a:pt x="1933269" y="1646796"/>
                    <a:pt x="1933812" y="1642527"/>
                    <a:pt x="1935678" y="1638795"/>
                  </a:cubicBezTo>
                  <a:cubicBezTo>
                    <a:pt x="1951261" y="1607629"/>
                    <a:pt x="1945755" y="1630875"/>
                    <a:pt x="1955470" y="1595252"/>
                  </a:cubicBezTo>
                  <a:cubicBezTo>
                    <a:pt x="1957240" y="1588761"/>
                    <a:pt x="1957658" y="1581951"/>
                    <a:pt x="1959428" y="1575460"/>
                  </a:cubicBezTo>
                  <a:cubicBezTo>
                    <a:pt x="1970254" y="1535763"/>
                    <a:pt x="1965200" y="1567598"/>
                    <a:pt x="1975262" y="1524000"/>
                  </a:cubicBezTo>
                  <a:cubicBezTo>
                    <a:pt x="1985714" y="1478712"/>
                    <a:pt x="1973665" y="1516920"/>
                    <a:pt x="1983179" y="1488374"/>
                  </a:cubicBezTo>
                  <a:cubicBezTo>
                    <a:pt x="1988008" y="1406269"/>
                    <a:pt x="1989346" y="1422557"/>
                    <a:pt x="1983179" y="1330036"/>
                  </a:cubicBezTo>
                  <a:cubicBezTo>
                    <a:pt x="1982558" y="1320727"/>
                    <a:pt x="1982686" y="1310990"/>
                    <a:pt x="1979221" y="1302327"/>
                  </a:cubicBezTo>
                  <a:cubicBezTo>
                    <a:pt x="1974598" y="1290769"/>
                    <a:pt x="1959428" y="1270660"/>
                    <a:pt x="1959428" y="1270660"/>
                  </a:cubicBezTo>
                  <a:cubicBezTo>
                    <a:pt x="1958109" y="1266701"/>
                    <a:pt x="1957540" y="1262407"/>
                    <a:pt x="1955470" y="1258784"/>
                  </a:cubicBezTo>
                  <a:cubicBezTo>
                    <a:pt x="1944692" y="1239922"/>
                    <a:pt x="1944478" y="1246386"/>
                    <a:pt x="1931719" y="1231075"/>
                  </a:cubicBezTo>
                  <a:cubicBezTo>
                    <a:pt x="1928673" y="1227420"/>
                    <a:pt x="1926963" y="1222756"/>
                    <a:pt x="1923802" y="1219200"/>
                  </a:cubicBezTo>
                  <a:cubicBezTo>
                    <a:pt x="1901634" y="1194261"/>
                    <a:pt x="1902305" y="1196951"/>
                    <a:pt x="1876301" y="1179615"/>
                  </a:cubicBezTo>
                  <a:cubicBezTo>
                    <a:pt x="1872334" y="1167713"/>
                    <a:pt x="1872953" y="1166097"/>
                    <a:pt x="1864426" y="1155865"/>
                  </a:cubicBezTo>
                  <a:cubicBezTo>
                    <a:pt x="1860842" y="1151564"/>
                    <a:pt x="1856193" y="1148240"/>
                    <a:pt x="1852550" y="1143989"/>
                  </a:cubicBezTo>
                  <a:cubicBezTo>
                    <a:pt x="1847188" y="1137733"/>
                    <a:pt x="1837579" y="1123994"/>
                    <a:pt x="1832758" y="1116280"/>
                  </a:cubicBezTo>
                  <a:cubicBezTo>
                    <a:pt x="1828680" y="1109756"/>
                    <a:pt x="1825151" y="1102890"/>
                    <a:pt x="1820883" y="1096488"/>
                  </a:cubicBezTo>
                  <a:cubicBezTo>
                    <a:pt x="1817300" y="1091113"/>
                    <a:pt x="1804630" y="1075857"/>
                    <a:pt x="1801091" y="1068779"/>
                  </a:cubicBezTo>
                  <a:cubicBezTo>
                    <a:pt x="1799225" y="1065047"/>
                    <a:pt x="1799130" y="1060567"/>
                    <a:pt x="1797132" y="1056904"/>
                  </a:cubicBezTo>
                  <a:cubicBezTo>
                    <a:pt x="1791171" y="1045976"/>
                    <a:pt x="1781963" y="1036794"/>
                    <a:pt x="1777340" y="1025236"/>
                  </a:cubicBezTo>
                  <a:cubicBezTo>
                    <a:pt x="1774701" y="1018639"/>
                    <a:pt x="1772601" y="1011799"/>
                    <a:pt x="1769423" y="1005444"/>
                  </a:cubicBezTo>
                  <a:cubicBezTo>
                    <a:pt x="1749549" y="965698"/>
                    <a:pt x="1774404" y="1026304"/>
                    <a:pt x="1753589" y="977735"/>
                  </a:cubicBezTo>
                  <a:cubicBezTo>
                    <a:pt x="1748456" y="965758"/>
                    <a:pt x="1744735" y="943256"/>
                    <a:pt x="1741714" y="934192"/>
                  </a:cubicBezTo>
                  <a:cubicBezTo>
                    <a:pt x="1736272" y="917865"/>
                    <a:pt x="1733666" y="911057"/>
                    <a:pt x="1729839" y="890649"/>
                  </a:cubicBezTo>
                  <a:cubicBezTo>
                    <a:pt x="1727878" y="880193"/>
                    <a:pt x="1727200" y="869538"/>
                    <a:pt x="1725880" y="858982"/>
                  </a:cubicBezTo>
                  <a:cubicBezTo>
                    <a:pt x="1727200" y="829953"/>
                    <a:pt x="1727285" y="800842"/>
                    <a:pt x="1729839" y="771896"/>
                  </a:cubicBezTo>
                  <a:cubicBezTo>
                    <a:pt x="1736552" y="695825"/>
                    <a:pt x="1734575" y="747832"/>
                    <a:pt x="1741714" y="708561"/>
                  </a:cubicBezTo>
                  <a:cubicBezTo>
                    <a:pt x="1743383" y="699381"/>
                    <a:pt x="1744253" y="690074"/>
                    <a:pt x="1745672" y="680852"/>
                  </a:cubicBezTo>
                  <a:cubicBezTo>
                    <a:pt x="1747023" y="672073"/>
                    <a:pt x="1748806" y="654793"/>
                    <a:pt x="1753589" y="645226"/>
                  </a:cubicBezTo>
                  <a:cubicBezTo>
                    <a:pt x="1755717" y="640971"/>
                    <a:pt x="1758867" y="637309"/>
                    <a:pt x="1761506" y="633351"/>
                  </a:cubicBezTo>
                  <a:cubicBezTo>
                    <a:pt x="1770996" y="595394"/>
                    <a:pt x="1758471" y="642459"/>
                    <a:pt x="1773382" y="597725"/>
                  </a:cubicBezTo>
                  <a:cubicBezTo>
                    <a:pt x="1791629" y="542981"/>
                    <a:pt x="1760960" y="622751"/>
                    <a:pt x="1785257" y="566057"/>
                  </a:cubicBezTo>
                  <a:cubicBezTo>
                    <a:pt x="1786901" y="562222"/>
                    <a:pt x="1787349" y="557914"/>
                    <a:pt x="1789215" y="554182"/>
                  </a:cubicBezTo>
                  <a:cubicBezTo>
                    <a:pt x="1791343" y="549927"/>
                    <a:pt x="1794772" y="546437"/>
                    <a:pt x="1797132" y="542306"/>
                  </a:cubicBezTo>
                  <a:cubicBezTo>
                    <a:pt x="1800060" y="537183"/>
                    <a:pt x="1802724" y="531897"/>
                    <a:pt x="1805049" y="526473"/>
                  </a:cubicBezTo>
                  <a:cubicBezTo>
                    <a:pt x="1806693" y="522638"/>
                    <a:pt x="1807142" y="518329"/>
                    <a:pt x="1809008" y="514597"/>
                  </a:cubicBezTo>
                  <a:cubicBezTo>
                    <a:pt x="1814520" y="503573"/>
                    <a:pt x="1820043" y="499603"/>
                    <a:pt x="1828800" y="490847"/>
                  </a:cubicBezTo>
                  <a:cubicBezTo>
                    <a:pt x="1831905" y="484636"/>
                    <a:pt x="1839038" y="468734"/>
                    <a:pt x="1844634" y="463138"/>
                  </a:cubicBezTo>
                  <a:cubicBezTo>
                    <a:pt x="1875771" y="432001"/>
                    <a:pt x="1835961" y="482254"/>
                    <a:pt x="1868384" y="443345"/>
                  </a:cubicBezTo>
                  <a:cubicBezTo>
                    <a:pt x="1878594" y="431093"/>
                    <a:pt x="1873893" y="429797"/>
                    <a:pt x="1888176" y="419595"/>
                  </a:cubicBezTo>
                  <a:cubicBezTo>
                    <a:pt x="1892978" y="416165"/>
                    <a:pt x="1898950" y="414714"/>
                    <a:pt x="1904010" y="411678"/>
                  </a:cubicBezTo>
                  <a:cubicBezTo>
                    <a:pt x="1912169" y="406783"/>
                    <a:pt x="1919844" y="401122"/>
                    <a:pt x="1927761" y="395844"/>
                  </a:cubicBezTo>
                  <a:cubicBezTo>
                    <a:pt x="1931719" y="393205"/>
                    <a:pt x="1935830" y="390781"/>
                    <a:pt x="1939636" y="387927"/>
                  </a:cubicBezTo>
                  <a:cubicBezTo>
                    <a:pt x="1944914" y="383969"/>
                    <a:pt x="1949742" y="379325"/>
                    <a:pt x="1955470" y="376052"/>
                  </a:cubicBezTo>
                  <a:cubicBezTo>
                    <a:pt x="1959093" y="373982"/>
                    <a:pt x="1963613" y="373959"/>
                    <a:pt x="1967345" y="372093"/>
                  </a:cubicBezTo>
                  <a:cubicBezTo>
                    <a:pt x="1974226" y="368652"/>
                    <a:pt x="1980133" y="363402"/>
                    <a:pt x="1987137" y="360218"/>
                  </a:cubicBezTo>
                  <a:cubicBezTo>
                    <a:pt x="1994734" y="356765"/>
                    <a:pt x="2003311" y="355798"/>
                    <a:pt x="2010888" y="352301"/>
                  </a:cubicBezTo>
                  <a:cubicBezTo>
                    <a:pt x="2020547" y="347843"/>
                    <a:pt x="2029082" y="341224"/>
                    <a:pt x="2038597" y="336467"/>
                  </a:cubicBezTo>
                  <a:cubicBezTo>
                    <a:pt x="2064420" y="323556"/>
                    <a:pt x="2061856" y="325482"/>
                    <a:pt x="2086098" y="320634"/>
                  </a:cubicBezTo>
                  <a:cubicBezTo>
                    <a:pt x="2120139" y="297941"/>
                    <a:pt x="2077067" y="325151"/>
                    <a:pt x="2109849" y="308758"/>
                  </a:cubicBezTo>
                  <a:cubicBezTo>
                    <a:pt x="2143236" y="292063"/>
                    <a:pt x="2092232" y="299090"/>
                    <a:pt x="2169226" y="277091"/>
                  </a:cubicBezTo>
                  <a:cubicBezTo>
                    <a:pt x="2178462" y="274452"/>
                    <a:pt x="2187907" y="272457"/>
                    <a:pt x="2196935" y="269174"/>
                  </a:cubicBezTo>
                  <a:cubicBezTo>
                    <a:pt x="2242469" y="252616"/>
                    <a:pt x="2184149" y="268411"/>
                    <a:pt x="2228602" y="257299"/>
                  </a:cubicBezTo>
                  <a:cubicBezTo>
                    <a:pt x="2248619" y="243955"/>
                    <a:pt x="2231870" y="253617"/>
                    <a:pt x="2252353" y="245423"/>
                  </a:cubicBezTo>
                  <a:cubicBezTo>
                    <a:pt x="2268279" y="239052"/>
                    <a:pt x="2284045" y="232287"/>
                    <a:pt x="2299854" y="225631"/>
                  </a:cubicBezTo>
                  <a:cubicBezTo>
                    <a:pt x="2309115" y="221732"/>
                    <a:pt x="2318030" y="216934"/>
                    <a:pt x="2327563" y="213756"/>
                  </a:cubicBezTo>
                  <a:lnTo>
                    <a:pt x="2351314" y="205839"/>
                  </a:lnTo>
                  <a:cubicBezTo>
                    <a:pt x="2355272" y="203200"/>
                    <a:pt x="2359318" y="200687"/>
                    <a:pt x="2363189" y="197922"/>
                  </a:cubicBezTo>
                  <a:cubicBezTo>
                    <a:pt x="2368558" y="194087"/>
                    <a:pt x="2373017" y="188777"/>
                    <a:pt x="2379023" y="186047"/>
                  </a:cubicBezTo>
                  <a:cubicBezTo>
                    <a:pt x="2387768" y="182072"/>
                    <a:pt x="2397813" y="181698"/>
                    <a:pt x="2406732" y="178130"/>
                  </a:cubicBezTo>
                  <a:cubicBezTo>
                    <a:pt x="2417690" y="173747"/>
                    <a:pt x="2427656" y="167180"/>
                    <a:pt x="2438400" y="162296"/>
                  </a:cubicBezTo>
                  <a:cubicBezTo>
                    <a:pt x="2442198" y="160569"/>
                    <a:pt x="2446317" y="159657"/>
                    <a:pt x="2450275" y="158338"/>
                  </a:cubicBezTo>
                  <a:cubicBezTo>
                    <a:pt x="2471029" y="144501"/>
                    <a:pt x="2466531" y="146322"/>
                    <a:pt x="2501735" y="134587"/>
                  </a:cubicBezTo>
                  <a:cubicBezTo>
                    <a:pt x="2509652" y="131948"/>
                    <a:pt x="2517815" y="129957"/>
                    <a:pt x="2525485" y="126670"/>
                  </a:cubicBezTo>
                  <a:cubicBezTo>
                    <a:pt x="2567611" y="108616"/>
                    <a:pt x="2546056" y="114405"/>
                    <a:pt x="2584862" y="95002"/>
                  </a:cubicBezTo>
                  <a:cubicBezTo>
                    <a:pt x="2591217" y="91824"/>
                    <a:pt x="2598161" y="89972"/>
                    <a:pt x="2604654" y="87086"/>
                  </a:cubicBezTo>
                  <a:cubicBezTo>
                    <a:pt x="2639614" y="71549"/>
                    <a:pt x="2598398" y="86533"/>
                    <a:pt x="2644239" y="71252"/>
                  </a:cubicBezTo>
                  <a:lnTo>
                    <a:pt x="2656114" y="67293"/>
                  </a:lnTo>
                  <a:lnTo>
                    <a:pt x="2667989" y="63335"/>
                  </a:lnTo>
                  <a:cubicBezTo>
                    <a:pt x="2675906" y="58057"/>
                    <a:pt x="2682713" y="50510"/>
                    <a:pt x="2691740" y="47501"/>
                  </a:cubicBezTo>
                  <a:cubicBezTo>
                    <a:pt x="2705063" y="43060"/>
                    <a:pt x="2705753" y="43453"/>
                    <a:pt x="2719449" y="35626"/>
                  </a:cubicBezTo>
                  <a:cubicBezTo>
                    <a:pt x="2723580" y="33266"/>
                    <a:pt x="2726853" y="29335"/>
                    <a:pt x="2731324" y="27709"/>
                  </a:cubicBezTo>
                  <a:cubicBezTo>
                    <a:pt x="2741550" y="23990"/>
                    <a:pt x="2752889" y="23833"/>
                    <a:pt x="2762992" y="19792"/>
                  </a:cubicBezTo>
                  <a:cubicBezTo>
                    <a:pt x="2797381" y="6036"/>
                    <a:pt x="2769008" y="16351"/>
                    <a:pt x="2814452" y="3958"/>
                  </a:cubicBezTo>
                  <a:cubicBezTo>
                    <a:pt x="2818477" y="2860"/>
                    <a:pt x="2826327" y="0"/>
                    <a:pt x="2826327" y="0"/>
                  </a:cubicBezTo>
                </a:path>
              </a:pathLst>
            </a:custGeom>
            <a:noFill/>
            <a:ln w="19050">
              <a:solidFill>
                <a:schemeClr val="tx1">
                  <a:alpha val="7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85" name="직사각형 184">
            <a:extLst>
              <a:ext uri="{FF2B5EF4-FFF2-40B4-BE49-F238E27FC236}">
                <a16:creationId xmlns:a16="http://schemas.microsoft.com/office/drawing/2014/main" id="{087FC6BA-BEA9-4102-AFF9-A254917F8799}"/>
              </a:ext>
            </a:extLst>
          </p:cNvPr>
          <p:cNvSpPr/>
          <p:nvPr/>
        </p:nvSpPr>
        <p:spPr>
          <a:xfrm>
            <a:off x="671261" y="1700808"/>
            <a:ext cx="428015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4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When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𝑘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is too small, overfitting may happen.</a:t>
            </a:r>
          </a:p>
        </p:txBody>
      </p:sp>
    </p:spTree>
    <p:extLst>
      <p:ext uri="{BB962C8B-B14F-4D97-AF65-F5344CB8AC3E}">
        <p14:creationId xmlns:p14="http://schemas.microsoft.com/office/powerpoint/2010/main" val="602898141"/>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8B1BC1D-DFB7-4482-BA23-F01AD71B1BBE}"/>
              </a:ext>
            </a:extLst>
          </p:cNvPr>
          <p:cNvSpPr/>
          <p:nvPr/>
        </p:nvSpPr>
        <p:spPr>
          <a:xfrm>
            <a:off x="546895" y="1523719"/>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Coding Exercise #0310</a:t>
            </a:r>
          </a:p>
        </p:txBody>
      </p:sp>
      <p:grpSp>
        <p:nvGrpSpPr>
          <p:cNvPr id="11" name="그룹 10">
            <a:extLst>
              <a:ext uri="{FF2B5EF4-FFF2-40B4-BE49-F238E27FC236}">
                <a16:creationId xmlns:a16="http://schemas.microsoft.com/office/drawing/2014/main" id="{A2A7775F-AE07-4A60-B96A-7B00D8607BDB}"/>
              </a:ext>
            </a:extLst>
          </p:cNvPr>
          <p:cNvGrpSpPr/>
          <p:nvPr/>
        </p:nvGrpSpPr>
        <p:grpSpPr>
          <a:xfrm>
            <a:off x="558798" y="2060849"/>
            <a:ext cx="8797129" cy="3960439"/>
            <a:chOff x="558798" y="2060849"/>
            <a:chExt cx="8797129" cy="3960439"/>
          </a:xfrm>
        </p:grpSpPr>
        <p:sp>
          <p:nvSpPr>
            <p:cNvPr id="12" name="직사각형 11">
              <a:extLst>
                <a:ext uri="{FF2B5EF4-FFF2-40B4-BE49-F238E27FC236}">
                  <a16:creationId xmlns:a16="http://schemas.microsoft.com/office/drawing/2014/main" id="{0E2B63F1-717C-45E5-9484-DF4505693008}"/>
                </a:ext>
              </a:extLst>
            </p:cNvPr>
            <p:cNvSpPr/>
            <p:nvPr/>
          </p:nvSpPr>
          <p:spPr>
            <a:xfrm>
              <a:off x="558799" y="2060849"/>
              <a:ext cx="8785225" cy="3960439"/>
            </a:xfrm>
            <a:prstGeom prst="rect">
              <a:avLst/>
            </a:prstGeom>
            <a:solidFill>
              <a:schemeClr val="accent5">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5" name="그룹 14">
              <a:extLst>
                <a:ext uri="{FF2B5EF4-FFF2-40B4-BE49-F238E27FC236}">
                  <a16:creationId xmlns:a16="http://schemas.microsoft.com/office/drawing/2014/main" id="{AC1F47E5-59C0-4468-B93D-A8F7F0C32C93}"/>
                </a:ext>
              </a:extLst>
            </p:cNvPr>
            <p:cNvGrpSpPr/>
            <p:nvPr/>
          </p:nvGrpSpPr>
          <p:grpSpPr>
            <a:xfrm>
              <a:off x="558798" y="3945816"/>
              <a:ext cx="8797129" cy="576572"/>
              <a:chOff x="4778069" y="4391025"/>
              <a:chExt cx="2349160" cy="431802"/>
            </a:xfrm>
          </p:grpSpPr>
          <p:sp>
            <p:nvSpPr>
              <p:cNvPr id="18" name="직사각형 17">
                <a:extLst>
                  <a:ext uri="{FF2B5EF4-FFF2-40B4-BE49-F238E27FC236}">
                    <a16:creationId xmlns:a16="http://schemas.microsoft.com/office/drawing/2014/main" id="{3C6A9AF5-127F-406D-B69A-2777F03F88E5}"/>
                  </a:ext>
                </a:extLst>
              </p:cNvPr>
              <p:cNvSpPr/>
              <p:nvPr/>
            </p:nvSpPr>
            <p:spPr>
              <a:xfrm>
                <a:off x="4778069" y="4391025"/>
                <a:ext cx="2349160" cy="431802"/>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sp3d>
                  <a:bevelT w="0" h="6350"/>
                </a:sp3d>
              </a:bodyPr>
              <a:lstStyle/>
              <a:p>
                <a:pPr algn="ctr"/>
                <a:endParaRPr lang="ko-KR" altLang="en-US" sz="2000" dirty="0"/>
              </a:p>
            </p:txBody>
          </p:sp>
          <p:sp>
            <p:nvSpPr>
              <p:cNvPr id="21" name="직사각형 133">
                <a:extLst>
                  <a:ext uri="{FF2B5EF4-FFF2-40B4-BE49-F238E27FC236}">
                    <a16:creationId xmlns:a16="http://schemas.microsoft.com/office/drawing/2014/main" id="{21A3736B-043B-48A0-AE25-A04C3CBB178F}"/>
                  </a:ext>
                </a:extLst>
              </p:cNvPr>
              <p:cNvSpPr/>
              <p:nvPr/>
            </p:nvSpPr>
            <p:spPr>
              <a:xfrm>
                <a:off x="4852511" y="4528465"/>
                <a:ext cx="2200275" cy="230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lgn="ctr"/>
                <a:r>
                  <a:rPr lang="en-US" altLang="ko-KR" sz="2000" dirty="0">
                    <a:solidFill>
                      <a:schemeClr val="bg1"/>
                    </a:solidFill>
                    <a:latin typeface="SamsungOne 700" panose="020B0803030303020204" pitchFamily="34" charset="0"/>
                    <a:ea typeface="SamsungOne 700" panose="020B0803030303020204" pitchFamily="34" charset="0"/>
                    <a:cs typeface="Samsung Sharp Sans" pitchFamily="2" charset="0"/>
                  </a:rPr>
                  <a:t>Follow practice steps on 'ex_0310.ipynb’ file.</a:t>
                </a:r>
              </a:p>
            </p:txBody>
          </p:sp>
        </p:grpSp>
        <p:pic>
          <p:nvPicPr>
            <p:cNvPr id="16" name="그림 15" descr="텍스트, 클립아트이(가) 표시된 사진&#10;&#10;자동 생성된 설명">
              <a:extLst>
                <a:ext uri="{FF2B5EF4-FFF2-40B4-BE49-F238E27FC236}">
                  <a16:creationId xmlns:a16="http://schemas.microsoft.com/office/drawing/2014/main" id="{70D03265-398A-4B21-9492-31D700046C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93" t="14475" r="51947" b="14299"/>
            <a:stretch/>
          </p:blipFill>
          <p:spPr>
            <a:xfrm>
              <a:off x="4370123" y="2647560"/>
              <a:ext cx="1162577" cy="1174440"/>
            </a:xfrm>
            <a:prstGeom prst="ellipse">
              <a:avLst/>
            </a:prstGeom>
          </p:spPr>
        </p:pic>
      </p:grpSp>
      <p:grpSp>
        <p:nvGrpSpPr>
          <p:cNvPr id="13" name="그룹 1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4" name="직사각형 1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6.1. KNN Algorithm</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 Sharp Sans Medium" pitchFamily="2" charset="0"/>
                  <a:ea typeface="Samsung Sharp Sans Medium" pitchFamily="2" charset="0"/>
                  <a:cs typeface="Samsung Sharp Sans 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06</a:t>
              </a:r>
            </a:p>
          </p:txBody>
        </p:sp>
      </p:grpSp>
    </p:spTree>
    <p:extLst>
      <p:ext uri="{BB962C8B-B14F-4D97-AF65-F5344CB8AC3E}">
        <p14:creationId xmlns:p14="http://schemas.microsoft.com/office/powerpoint/2010/main" val="2200432433"/>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33">
            <a:extLst>
              <a:ext uri="{FF2B5EF4-FFF2-40B4-BE49-F238E27FC236}">
                <a16:creationId xmlns:a16="http://schemas.microsoft.com/office/drawing/2014/main" id="{551F01E8-8777-4A7B-AD71-63E7C805C68C}"/>
              </a:ext>
            </a:extLst>
          </p:cNvPr>
          <p:cNvSpPr/>
          <p:nvPr/>
        </p:nvSpPr>
        <p:spPr>
          <a:xfrm>
            <a:off x="989683" y="3133792"/>
            <a:ext cx="8913142"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SVM Algorithm</a:t>
            </a: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7.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17" name="직사각형 16">
            <a:extLst>
              <a:ext uri="{FF2B5EF4-FFF2-40B4-BE49-F238E27FC236}">
                <a16:creationId xmlns:a16="http://schemas.microsoft.com/office/drawing/2014/main" id="{88522452-0F25-4CFF-B4F1-4F97F94CF66D}"/>
              </a:ext>
            </a:extLst>
          </p:cNvPr>
          <p:cNvSpPr/>
          <p:nvPr/>
        </p:nvSpPr>
        <p:spPr>
          <a:xfrm>
            <a:off x="1054111" y="3929021"/>
            <a:ext cx="6633605"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algn="l" defTabSz="914400" rtl="0" eaLnBrk="1" fontAlgn="base" latinLnBrk="1" hangingPunct="1">
              <a:lnSpc>
                <a:spcPct val="100000"/>
              </a:lnSpc>
              <a:spcBef>
                <a:spcPct val="0"/>
              </a:spcBef>
              <a:spcAft>
                <a:spcPts val="1000"/>
              </a:spcAft>
              <a:buClrTx/>
              <a:buSzPct val="120000"/>
              <a:buBlip>
                <a:blip r:embed="rId3"/>
              </a:buBlip>
              <a:tabLst/>
              <a:defRPr/>
            </a:pPr>
            <a:r>
              <a:rPr kumimoji="1" lang="en-US" altLang="ko-KR" sz="1800" b="0" i="0" u="none" strike="noStrike" kern="1200" cap="none" spc="0" normalizeH="0" baseline="0" noProof="0" dirty="0">
                <a:ln>
                  <a:noFill/>
                </a:ln>
                <a:solidFill>
                  <a:prstClr val="black">
                    <a:lumMod val="75000"/>
                    <a:lumOff val="25000"/>
                  </a:prstClr>
                </a:solidFill>
                <a:effectLst/>
                <a:uLnTx/>
                <a:uFillTx/>
                <a:latin typeface="SamsungOne-700" panose="020B0803030303020204" pitchFamily="34" charset="0"/>
                <a:ea typeface="SamsungOne-700" panose="020B0803030303020204" pitchFamily="34" charset="0"/>
                <a:cs typeface="+mn-cs"/>
              </a:rPr>
              <a:t>7.1. SVM Algorithm</a:t>
            </a:r>
          </a:p>
        </p:txBody>
      </p:sp>
    </p:spTree>
    <p:extLst>
      <p:ext uri="{BB962C8B-B14F-4D97-AF65-F5344CB8AC3E}">
        <p14:creationId xmlns:p14="http://schemas.microsoft.com/office/powerpoint/2010/main" val="1419043265"/>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7.1. SVM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07</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00" name="직사각형 199">
            <a:extLst>
              <a:ext uri="{FF2B5EF4-FFF2-40B4-BE49-F238E27FC236}">
                <a16:creationId xmlns:a16="http://schemas.microsoft.com/office/drawing/2014/main" id="{E8D21B0D-F4D1-4501-AE0A-758BD547B809}"/>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SVM Algorithm </a:t>
            </a:r>
          </a:p>
        </p:txBody>
      </p:sp>
      <p:sp>
        <p:nvSpPr>
          <p:cNvPr id="201" name="직사각형 200">
            <a:extLst>
              <a:ext uri="{FF2B5EF4-FFF2-40B4-BE49-F238E27FC236}">
                <a16:creationId xmlns:a16="http://schemas.microsoft.com/office/drawing/2014/main" id="{9C349F5D-7044-42D1-AA7E-93D389AAEE1B}"/>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SVM (Support Vector Machine)</a:t>
            </a:r>
          </a:p>
        </p:txBody>
      </p:sp>
      <p:sp>
        <p:nvSpPr>
          <p:cNvPr id="202" name="직사각형 201">
            <a:extLst>
              <a:ext uri="{FF2B5EF4-FFF2-40B4-BE49-F238E27FC236}">
                <a16:creationId xmlns:a16="http://schemas.microsoft.com/office/drawing/2014/main" id="{B8AB28E7-75F6-4D64-956B-057344C4C07F}"/>
              </a:ext>
            </a:extLst>
          </p:cNvPr>
          <p:cNvSpPr/>
          <p:nvPr/>
        </p:nvSpPr>
        <p:spPr>
          <a:xfrm>
            <a:off x="672080" y="2204864"/>
            <a:ext cx="867194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Enhanced classification accuracy by maximizing the margin</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Effective non-linear classification boundary by the “kernel” transformation</a:t>
            </a:r>
          </a:p>
        </p:txBody>
      </p:sp>
    </p:spTree>
    <p:extLst>
      <p:ext uri="{BB962C8B-B14F-4D97-AF65-F5344CB8AC3E}">
        <p14:creationId xmlns:p14="http://schemas.microsoft.com/office/powerpoint/2010/main" val="2040869198"/>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7.1. SVM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07</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E767A8E2-6FB8-4337-838A-D76295D5F77F}"/>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SVM (Support Vector Machine)</a:t>
            </a:r>
          </a:p>
        </p:txBody>
      </p:sp>
      <p:sp>
        <p:nvSpPr>
          <p:cNvPr id="9" name="직사각형 8">
            <a:extLst>
              <a:ext uri="{FF2B5EF4-FFF2-40B4-BE49-F238E27FC236}">
                <a16:creationId xmlns:a16="http://schemas.microsoft.com/office/drawing/2014/main" id="{CDD26C78-20B0-4FC5-B80A-459ABED43431}"/>
              </a:ext>
            </a:extLst>
          </p:cNvPr>
          <p:cNvSpPr/>
          <p:nvPr/>
        </p:nvSpPr>
        <p:spPr>
          <a:xfrm>
            <a:off x="671261" y="1700808"/>
            <a:ext cx="8672764" cy="17509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Support vector is a model that classifies data by finding the line (or hyperplane) where the distance (margin) between data in different categories becomes maximum. </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As shown in the figure below, the support vector machine model finds the hyperplane that splits the data into two different categories with maximum margin to classify data.  </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There would be many lines or planes that split data into two different categories. However, points that go over the classification boundary can occur in evaluation data or unknown future data as the points near the boundary slightly change.</a:t>
            </a:r>
          </a:p>
        </p:txBody>
      </p:sp>
      <p:grpSp>
        <p:nvGrpSpPr>
          <p:cNvPr id="57" name="그룹 56"/>
          <p:cNvGrpSpPr/>
          <p:nvPr/>
        </p:nvGrpSpPr>
        <p:grpSpPr>
          <a:xfrm>
            <a:off x="2347414" y="3532340"/>
            <a:ext cx="4281533" cy="2740976"/>
            <a:chOff x="2347414" y="3532340"/>
            <a:chExt cx="4281533" cy="2740976"/>
          </a:xfrm>
        </p:grpSpPr>
        <p:sp>
          <p:nvSpPr>
            <p:cNvPr id="12" name="TextBox 11">
              <a:extLst>
                <a:ext uri="{FF2B5EF4-FFF2-40B4-BE49-F238E27FC236}">
                  <a16:creationId xmlns:a16="http://schemas.microsoft.com/office/drawing/2014/main" id="{4E5B12C4-4508-4FB9-B454-D0AD805C403C}"/>
                </a:ext>
              </a:extLst>
            </p:cNvPr>
            <p:cNvSpPr txBox="1"/>
            <p:nvPr/>
          </p:nvSpPr>
          <p:spPr>
            <a:xfrm>
              <a:off x="5533774" y="4783248"/>
              <a:ext cx="1095173" cy="292388"/>
            </a:xfrm>
            <a:prstGeom prst="rect">
              <a:avLst/>
            </a:prstGeom>
            <a:solidFill>
              <a:schemeClr val="bg1"/>
            </a:solidFill>
          </p:spPr>
          <p:txBody>
            <a:bodyPr wrap="none" rtlCol="0">
              <a:spAutoFit/>
            </a:bodyPr>
            <a:lstStyle/>
            <a:p>
              <a:pPr algn="ctr"/>
              <a:r>
                <a:rPr lang="en-US" altLang="ko-KR" sz="1300" dirty="0">
                  <a:latin typeface="SamsungOne 400" panose="020B0503030303020204" pitchFamily="34" charset="0"/>
                  <a:ea typeface="SamsungOne 400" panose="020B0503030303020204" pitchFamily="34" charset="0"/>
                </a:rPr>
                <a:t>Max. margin</a:t>
              </a:r>
              <a:endParaRPr lang="en-US" sz="1300" dirty="0">
                <a:latin typeface="SamsungOne 400" panose="020B0503030303020204" pitchFamily="34" charset="0"/>
                <a:ea typeface="SamsungOne 400" panose="020B0503030303020204" pitchFamily="34" charset="0"/>
              </a:endParaRPr>
            </a:p>
          </p:txBody>
        </p:sp>
        <p:sp>
          <p:nvSpPr>
            <p:cNvPr id="13" name="TextBox 12">
              <a:extLst>
                <a:ext uri="{FF2B5EF4-FFF2-40B4-BE49-F238E27FC236}">
                  <a16:creationId xmlns:a16="http://schemas.microsoft.com/office/drawing/2014/main" id="{9580E2AB-D837-4AE7-AEFE-D3C624AD031C}"/>
                </a:ext>
              </a:extLst>
            </p:cNvPr>
            <p:cNvSpPr txBox="1"/>
            <p:nvPr/>
          </p:nvSpPr>
          <p:spPr>
            <a:xfrm>
              <a:off x="3990654" y="3532340"/>
              <a:ext cx="1508747" cy="292388"/>
            </a:xfrm>
            <a:prstGeom prst="rect">
              <a:avLst/>
            </a:prstGeom>
            <a:solidFill>
              <a:schemeClr val="bg1"/>
            </a:solidFill>
          </p:spPr>
          <p:txBody>
            <a:bodyPr wrap="none" rtlCol="0">
              <a:spAutoFit/>
            </a:bodyPr>
            <a:lstStyle/>
            <a:p>
              <a:pPr algn="ctr"/>
              <a:r>
                <a:rPr lang="en-US" altLang="ko-KR" sz="1300" dirty="0">
                  <a:latin typeface="SamsungOne 400" panose="020B0503030303020204" pitchFamily="34" charset="0"/>
                  <a:ea typeface="SamsungOne 400" panose="020B0503030303020204" pitchFamily="34" charset="0"/>
                </a:rPr>
                <a:t>Supporting vector</a:t>
              </a:r>
              <a:endParaRPr lang="en-US" sz="1300" dirty="0">
                <a:latin typeface="SamsungOne 400" panose="020B0503030303020204" pitchFamily="34" charset="0"/>
                <a:ea typeface="SamsungOne 400" panose="020B0503030303020204" pitchFamily="34" charset="0"/>
              </a:endParaRPr>
            </a:p>
          </p:txBody>
        </p:sp>
        <p:sp>
          <p:nvSpPr>
            <p:cNvPr id="14" name="TextBox 13">
              <a:extLst>
                <a:ext uri="{FF2B5EF4-FFF2-40B4-BE49-F238E27FC236}">
                  <a16:creationId xmlns:a16="http://schemas.microsoft.com/office/drawing/2014/main" id="{84941191-8086-4F4B-A18F-8908E080B29F}"/>
                </a:ext>
              </a:extLst>
            </p:cNvPr>
            <p:cNvSpPr txBox="1"/>
            <p:nvPr/>
          </p:nvSpPr>
          <p:spPr>
            <a:xfrm>
              <a:off x="2347414" y="4374056"/>
              <a:ext cx="1508747" cy="292388"/>
            </a:xfrm>
            <a:prstGeom prst="rect">
              <a:avLst/>
            </a:prstGeom>
            <a:noFill/>
          </p:spPr>
          <p:txBody>
            <a:bodyPr wrap="none" rtlCol="0">
              <a:spAutoFit/>
            </a:bodyPr>
            <a:lstStyle/>
            <a:p>
              <a:pPr algn="ctr"/>
              <a:r>
                <a:rPr lang="en-US" altLang="ko-KR" sz="1300" dirty="0">
                  <a:latin typeface="SamsungOne 400" panose="020B0503030303020204" pitchFamily="34" charset="0"/>
                  <a:ea typeface="SamsungOne 400" panose="020B0503030303020204" pitchFamily="34" charset="0"/>
                </a:rPr>
                <a:t>Supporting vector</a:t>
              </a:r>
              <a:endParaRPr lang="en-US" altLang="x-none" sz="1300" dirty="0">
                <a:latin typeface="SamsungOne 400" panose="020B0503030303020204" pitchFamily="34" charset="0"/>
                <a:ea typeface="SamsungOne 400" panose="020B0503030303020204" pitchFamily="34" charset="0"/>
              </a:endParaRPr>
            </a:p>
          </p:txBody>
        </p:sp>
        <p:cxnSp>
          <p:nvCxnSpPr>
            <p:cNvPr id="4" name="직선 화살표 연결선 3"/>
            <p:cNvCxnSpPr/>
            <p:nvPr/>
          </p:nvCxnSpPr>
          <p:spPr>
            <a:xfrm flipV="1">
              <a:off x="3856604" y="3753036"/>
              <a:ext cx="0" cy="21962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직선 화살표 연결선 14"/>
            <p:cNvCxnSpPr/>
            <p:nvPr/>
          </p:nvCxnSpPr>
          <p:spPr>
            <a:xfrm>
              <a:off x="3856604" y="5949280"/>
              <a:ext cx="235771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4941191-8086-4F4B-A18F-8908E080B29F}"/>
                </a:ext>
              </a:extLst>
            </p:cNvPr>
            <p:cNvSpPr txBox="1"/>
            <p:nvPr/>
          </p:nvSpPr>
          <p:spPr>
            <a:xfrm>
              <a:off x="3461430" y="3706906"/>
              <a:ext cx="356188" cy="276999"/>
            </a:xfrm>
            <a:prstGeom prst="rect">
              <a:avLst/>
            </a:prstGeom>
            <a:solidFill>
              <a:schemeClr val="bg1"/>
            </a:solidFill>
          </p:spPr>
          <p:txBody>
            <a:bodyPr wrap="none" rtlCol="0">
              <a:spAutoFit/>
            </a:bodyPr>
            <a:lstStyle/>
            <a:p>
              <a:pPr algn="ctr"/>
              <a:r>
                <a:rPr lang="en-US" altLang="x-none" sz="1200" b="1" dirty="0">
                  <a:latin typeface="SamsungOne 400" panose="020B0503030303020204" pitchFamily="34" charset="0"/>
                  <a:ea typeface="SamsungOne 400" panose="020B0503030303020204" pitchFamily="34" charset="0"/>
                </a:rPr>
                <a:t>X2</a:t>
              </a:r>
            </a:p>
          </p:txBody>
        </p:sp>
        <p:sp>
          <p:nvSpPr>
            <p:cNvPr id="18" name="TextBox 17">
              <a:extLst>
                <a:ext uri="{FF2B5EF4-FFF2-40B4-BE49-F238E27FC236}">
                  <a16:creationId xmlns:a16="http://schemas.microsoft.com/office/drawing/2014/main" id="{84941191-8086-4F4B-A18F-8908E080B29F}"/>
                </a:ext>
              </a:extLst>
            </p:cNvPr>
            <p:cNvSpPr txBox="1"/>
            <p:nvPr/>
          </p:nvSpPr>
          <p:spPr>
            <a:xfrm>
              <a:off x="5858127" y="5996317"/>
              <a:ext cx="356188" cy="276999"/>
            </a:xfrm>
            <a:prstGeom prst="rect">
              <a:avLst/>
            </a:prstGeom>
            <a:solidFill>
              <a:schemeClr val="bg1"/>
            </a:solidFill>
          </p:spPr>
          <p:txBody>
            <a:bodyPr wrap="none" rtlCol="0">
              <a:spAutoFit/>
            </a:bodyPr>
            <a:lstStyle/>
            <a:p>
              <a:pPr algn="ctr"/>
              <a:r>
                <a:rPr lang="en-US" altLang="x-none" sz="1200" b="1" dirty="0">
                  <a:latin typeface="SamsungOne 400" panose="020B0503030303020204" pitchFamily="34" charset="0"/>
                  <a:ea typeface="SamsungOne 400" panose="020B0503030303020204" pitchFamily="34" charset="0"/>
                </a:rPr>
                <a:t>X1</a:t>
              </a:r>
            </a:p>
          </p:txBody>
        </p:sp>
        <p:sp>
          <p:nvSpPr>
            <p:cNvPr id="7" name="타원 6"/>
            <p:cNvSpPr/>
            <p:nvPr/>
          </p:nvSpPr>
          <p:spPr>
            <a:xfrm>
              <a:off x="4074388" y="4797906"/>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a:off x="4276318" y="4996026"/>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타원 20"/>
            <p:cNvSpPr/>
            <p:nvPr/>
          </p:nvSpPr>
          <p:spPr>
            <a:xfrm>
              <a:off x="4487170" y="5181114"/>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a:off x="4179862" y="5278572"/>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a:off x="4428814" y="5475090"/>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a:off x="4643476" y="5519208"/>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5006728" y="5517606"/>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타원 28"/>
            <p:cNvSpPr/>
            <p:nvPr/>
          </p:nvSpPr>
          <p:spPr>
            <a:xfrm>
              <a:off x="5221390" y="5653164"/>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p:cNvSpPr/>
            <p:nvPr/>
          </p:nvSpPr>
          <p:spPr>
            <a:xfrm>
              <a:off x="4792162" y="5274372"/>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6" name="직선 연결선 15"/>
            <p:cNvCxnSpPr/>
            <p:nvPr/>
          </p:nvCxnSpPr>
          <p:spPr>
            <a:xfrm>
              <a:off x="3965755" y="4265257"/>
              <a:ext cx="1673045" cy="155642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직선 연결선 30"/>
            <p:cNvCxnSpPr/>
            <p:nvPr/>
          </p:nvCxnSpPr>
          <p:spPr>
            <a:xfrm>
              <a:off x="4262935" y="4029037"/>
              <a:ext cx="1673045" cy="155642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2" name="타원 31"/>
            <p:cNvSpPr/>
            <p:nvPr/>
          </p:nvSpPr>
          <p:spPr>
            <a:xfrm>
              <a:off x="4750355" y="4984146"/>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4" name="직선 화살표 연결선 33"/>
            <p:cNvCxnSpPr/>
            <p:nvPr/>
          </p:nvCxnSpPr>
          <p:spPr>
            <a:xfrm>
              <a:off x="3802380" y="4549140"/>
              <a:ext cx="971334" cy="443457"/>
            </a:xfrm>
            <a:prstGeom prst="straightConnector1">
              <a:avLst/>
            </a:prstGeom>
            <a:ln w="12700">
              <a:solidFill>
                <a:srgbClr val="1429A0"/>
              </a:solidFill>
              <a:tailEnd type="triangle"/>
            </a:ln>
          </p:spPr>
          <p:style>
            <a:lnRef idx="1">
              <a:schemeClr val="accent1"/>
            </a:lnRef>
            <a:fillRef idx="0">
              <a:schemeClr val="accent1"/>
            </a:fillRef>
            <a:effectRef idx="0">
              <a:schemeClr val="accent1"/>
            </a:effectRef>
            <a:fontRef idx="minor">
              <a:schemeClr val="tx1"/>
            </a:fontRef>
          </p:style>
        </p:cxnSp>
        <p:sp>
          <p:nvSpPr>
            <p:cNvPr id="36" name="타원 35"/>
            <p:cNvSpPr/>
            <p:nvPr/>
          </p:nvSpPr>
          <p:spPr>
            <a:xfrm>
              <a:off x="4951788" y="4657804"/>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타원 36"/>
            <p:cNvSpPr/>
            <p:nvPr/>
          </p:nvSpPr>
          <p:spPr>
            <a:xfrm>
              <a:off x="5337698" y="4750112"/>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5228308" y="4552860"/>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타원 38"/>
            <p:cNvSpPr/>
            <p:nvPr/>
          </p:nvSpPr>
          <p:spPr>
            <a:xfrm>
              <a:off x="5525488" y="4457610"/>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p:cNvSpPr/>
            <p:nvPr/>
          </p:nvSpPr>
          <p:spPr>
            <a:xfrm>
              <a:off x="5106388" y="4312830"/>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타원 40"/>
            <p:cNvSpPr/>
            <p:nvPr/>
          </p:nvSpPr>
          <p:spPr>
            <a:xfrm>
              <a:off x="4893028" y="4267110"/>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5060668" y="4065180"/>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타원 42"/>
            <p:cNvSpPr/>
            <p:nvPr/>
          </p:nvSpPr>
          <p:spPr>
            <a:xfrm>
              <a:off x="5266408" y="3973740"/>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5479768" y="4206150"/>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6" name="직선 화살표 연결선 45"/>
            <p:cNvCxnSpPr>
              <a:endCxn id="36" idx="1"/>
            </p:cNvCxnSpPr>
            <p:nvPr/>
          </p:nvCxnSpPr>
          <p:spPr>
            <a:xfrm>
              <a:off x="4594860" y="3851910"/>
              <a:ext cx="372746" cy="821712"/>
            </a:xfrm>
            <a:prstGeom prst="straightConnector1">
              <a:avLst/>
            </a:prstGeom>
            <a:ln w="12700">
              <a:solidFill>
                <a:srgbClr val="1429A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직선 화살표 연결선 50"/>
            <p:cNvCxnSpPr/>
            <p:nvPr/>
          </p:nvCxnSpPr>
          <p:spPr>
            <a:xfrm flipV="1">
              <a:off x="5484161" y="5425440"/>
              <a:ext cx="287989" cy="239821"/>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직선 화살표 연결선 54"/>
            <p:cNvCxnSpPr/>
            <p:nvPr/>
          </p:nvCxnSpPr>
          <p:spPr>
            <a:xfrm flipH="1">
              <a:off x="5646071" y="5059680"/>
              <a:ext cx="49879" cy="480105"/>
            </a:xfrm>
            <a:prstGeom prst="straightConnector1">
              <a:avLst/>
            </a:prstGeom>
            <a:ln w="12700">
              <a:solidFill>
                <a:srgbClr val="1429A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19152633"/>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7.1. SVM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07</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E767A8E2-6FB8-4337-838A-D76295D5F77F}"/>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SVM (Support Vector Machine)</a:t>
            </a:r>
          </a:p>
        </p:txBody>
      </p:sp>
      <p:sp>
        <p:nvSpPr>
          <p:cNvPr id="9" name="직사각형 8">
            <a:extLst>
              <a:ext uri="{FF2B5EF4-FFF2-40B4-BE49-F238E27FC236}">
                <a16:creationId xmlns:a16="http://schemas.microsoft.com/office/drawing/2014/main" id="{CDD26C78-20B0-4FC5-B80A-459ABED43431}"/>
              </a:ext>
            </a:extLst>
          </p:cNvPr>
          <p:cNvSpPr/>
          <p:nvPr/>
        </p:nvSpPr>
        <p:spPr>
          <a:xfrm>
            <a:off x="671261" y="1700808"/>
            <a:ext cx="8672764" cy="14483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To minimize such a possibility, a line (or hyperplane) making the maximum margin between different data categories should be found. In other words, the aim is to find a hyperplane that can induce maximum differentiation for the best possible generalization to classify and predict the future data, not the current training data. </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The point in the category closest to the boundary line is called a support vector, and each classification should have at least one support vector.</a:t>
            </a:r>
          </a:p>
        </p:txBody>
      </p:sp>
      <p:grpSp>
        <p:nvGrpSpPr>
          <p:cNvPr id="15" name="그룹 14"/>
          <p:cNvGrpSpPr/>
          <p:nvPr/>
        </p:nvGrpSpPr>
        <p:grpSpPr>
          <a:xfrm>
            <a:off x="2347414" y="3532340"/>
            <a:ext cx="4281533" cy="2740976"/>
            <a:chOff x="2347414" y="3532340"/>
            <a:chExt cx="4281533" cy="2740976"/>
          </a:xfrm>
        </p:grpSpPr>
        <p:sp>
          <p:nvSpPr>
            <p:cNvPr id="16" name="TextBox 15">
              <a:extLst>
                <a:ext uri="{FF2B5EF4-FFF2-40B4-BE49-F238E27FC236}">
                  <a16:creationId xmlns:a16="http://schemas.microsoft.com/office/drawing/2014/main" id="{4E5B12C4-4508-4FB9-B454-D0AD805C403C}"/>
                </a:ext>
              </a:extLst>
            </p:cNvPr>
            <p:cNvSpPr txBox="1"/>
            <p:nvPr/>
          </p:nvSpPr>
          <p:spPr>
            <a:xfrm>
              <a:off x="5533774" y="4783248"/>
              <a:ext cx="1095173" cy="292388"/>
            </a:xfrm>
            <a:prstGeom prst="rect">
              <a:avLst/>
            </a:prstGeom>
            <a:solidFill>
              <a:schemeClr val="bg1"/>
            </a:solidFill>
          </p:spPr>
          <p:txBody>
            <a:bodyPr wrap="none" rtlCol="0">
              <a:spAutoFit/>
            </a:bodyPr>
            <a:lstStyle/>
            <a:p>
              <a:pPr algn="ctr"/>
              <a:r>
                <a:rPr lang="en-US" altLang="ko-KR" sz="1300" dirty="0">
                  <a:latin typeface="SamsungOne 400" panose="020B0503030303020204" pitchFamily="34" charset="0"/>
                  <a:ea typeface="SamsungOne 400" panose="020B0503030303020204" pitchFamily="34" charset="0"/>
                </a:rPr>
                <a:t>Max. margin</a:t>
              </a:r>
              <a:endParaRPr lang="en-US" sz="1300" dirty="0">
                <a:latin typeface="SamsungOne 400" panose="020B0503030303020204" pitchFamily="34" charset="0"/>
                <a:ea typeface="SamsungOne 400" panose="020B0503030303020204" pitchFamily="34" charset="0"/>
              </a:endParaRPr>
            </a:p>
          </p:txBody>
        </p:sp>
        <p:sp>
          <p:nvSpPr>
            <p:cNvPr id="17" name="TextBox 16">
              <a:extLst>
                <a:ext uri="{FF2B5EF4-FFF2-40B4-BE49-F238E27FC236}">
                  <a16:creationId xmlns:a16="http://schemas.microsoft.com/office/drawing/2014/main" id="{9580E2AB-D837-4AE7-AEFE-D3C624AD031C}"/>
                </a:ext>
              </a:extLst>
            </p:cNvPr>
            <p:cNvSpPr txBox="1"/>
            <p:nvPr/>
          </p:nvSpPr>
          <p:spPr>
            <a:xfrm>
              <a:off x="3990654" y="3532340"/>
              <a:ext cx="1508747" cy="292388"/>
            </a:xfrm>
            <a:prstGeom prst="rect">
              <a:avLst/>
            </a:prstGeom>
            <a:solidFill>
              <a:schemeClr val="bg1"/>
            </a:solidFill>
          </p:spPr>
          <p:txBody>
            <a:bodyPr wrap="none" rtlCol="0">
              <a:spAutoFit/>
            </a:bodyPr>
            <a:lstStyle/>
            <a:p>
              <a:pPr algn="ctr"/>
              <a:r>
                <a:rPr lang="en-US" altLang="ko-KR" sz="1300" dirty="0">
                  <a:latin typeface="SamsungOne 400" panose="020B0503030303020204" pitchFamily="34" charset="0"/>
                  <a:ea typeface="SamsungOne 400" panose="020B0503030303020204" pitchFamily="34" charset="0"/>
                </a:rPr>
                <a:t>Supporting vector</a:t>
              </a:r>
              <a:endParaRPr lang="en-US" sz="1300" dirty="0">
                <a:latin typeface="SamsungOne 400" panose="020B0503030303020204" pitchFamily="34" charset="0"/>
                <a:ea typeface="SamsungOne 400" panose="020B0503030303020204" pitchFamily="34" charset="0"/>
              </a:endParaRPr>
            </a:p>
          </p:txBody>
        </p:sp>
        <p:sp>
          <p:nvSpPr>
            <p:cNvPr id="18" name="TextBox 17">
              <a:extLst>
                <a:ext uri="{FF2B5EF4-FFF2-40B4-BE49-F238E27FC236}">
                  <a16:creationId xmlns:a16="http://schemas.microsoft.com/office/drawing/2014/main" id="{84941191-8086-4F4B-A18F-8908E080B29F}"/>
                </a:ext>
              </a:extLst>
            </p:cNvPr>
            <p:cNvSpPr txBox="1"/>
            <p:nvPr/>
          </p:nvSpPr>
          <p:spPr>
            <a:xfrm>
              <a:off x="2347414" y="4374056"/>
              <a:ext cx="1508747" cy="292388"/>
            </a:xfrm>
            <a:prstGeom prst="rect">
              <a:avLst/>
            </a:prstGeom>
            <a:noFill/>
          </p:spPr>
          <p:txBody>
            <a:bodyPr wrap="none" rtlCol="0">
              <a:spAutoFit/>
            </a:bodyPr>
            <a:lstStyle/>
            <a:p>
              <a:pPr algn="ctr"/>
              <a:r>
                <a:rPr lang="en-US" altLang="ko-KR" sz="1300" dirty="0">
                  <a:latin typeface="SamsungOne 400" panose="020B0503030303020204" pitchFamily="34" charset="0"/>
                  <a:ea typeface="SamsungOne 400" panose="020B0503030303020204" pitchFamily="34" charset="0"/>
                </a:rPr>
                <a:t>Supporting vector</a:t>
              </a:r>
              <a:endParaRPr lang="en-US" altLang="x-none" sz="1300" dirty="0">
                <a:latin typeface="SamsungOne 400" panose="020B0503030303020204" pitchFamily="34" charset="0"/>
                <a:ea typeface="SamsungOne 400" panose="020B0503030303020204" pitchFamily="34" charset="0"/>
              </a:endParaRPr>
            </a:p>
          </p:txBody>
        </p:sp>
        <p:cxnSp>
          <p:nvCxnSpPr>
            <p:cNvPr id="19" name="직선 화살표 연결선 18"/>
            <p:cNvCxnSpPr/>
            <p:nvPr/>
          </p:nvCxnSpPr>
          <p:spPr>
            <a:xfrm flipV="1">
              <a:off x="3856604" y="3753036"/>
              <a:ext cx="0" cy="21962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직선 화살표 연결선 19"/>
            <p:cNvCxnSpPr/>
            <p:nvPr/>
          </p:nvCxnSpPr>
          <p:spPr>
            <a:xfrm>
              <a:off x="3856604" y="5949280"/>
              <a:ext cx="235771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4941191-8086-4F4B-A18F-8908E080B29F}"/>
                </a:ext>
              </a:extLst>
            </p:cNvPr>
            <p:cNvSpPr txBox="1"/>
            <p:nvPr/>
          </p:nvSpPr>
          <p:spPr>
            <a:xfrm>
              <a:off x="3461430" y="3706906"/>
              <a:ext cx="356188" cy="276999"/>
            </a:xfrm>
            <a:prstGeom prst="rect">
              <a:avLst/>
            </a:prstGeom>
            <a:solidFill>
              <a:schemeClr val="bg1"/>
            </a:solidFill>
          </p:spPr>
          <p:txBody>
            <a:bodyPr wrap="none" rtlCol="0">
              <a:spAutoFit/>
            </a:bodyPr>
            <a:lstStyle/>
            <a:p>
              <a:pPr algn="ctr"/>
              <a:r>
                <a:rPr lang="en-US" altLang="x-none" sz="1200" b="1" dirty="0">
                  <a:latin typeface="SamsungOne 400" panose="020B0503030303020204" pitchFamily="34" charset="0"/>
                  <a:ea typeface="SamsungOne 400" panose="020B0503030303020204" pitchFamily="34" charset="0"/>
                </a:rPr>
                <a:t>X2</a:t>
              </a:r>
            </a:p>
          </p:txBody>
        </p:sp>
        <p:sp>
          <p:nvSpPr>
            <p:cNvPr id="22" name="TextBox 21">
              <a:extLst>
                <a:ext uri="{FF2B5EF4-FFF2-40B4-BE49-F238E27FC236}">
                  <a16:creationId xmlns:a16="http://schemas.microsoft.com/office/drawing/2014/main" id="{84941191-8086-4F4B-A18F-8908E080B29F}"/>
                </a:ext>
              </a:extLst>
            </p:cNvPr>
            <p:cNvSpPr txBox="1"/>
            <p:nvPr/>
          </p:nvSpPr>
          <p:spPr>
            <a:xfrm>
              <a:off x="5858127" y="5996317"/>
              <a:ext cx="356188" cy="276999"/>
            </a:xfrm>
            <a:prstGeom prst="rect">
              <a:avLst/>
            </a:prstGeom>
            <a:solidFill>
              <a:schemeClr val="bg1"/>
            </a:solidFill>
          </p:spPr>
          <p:txBody>
            <a:bodyPr wrap="none" rtlCol="0">
              <a:spAutoFit/>
            </a:bodyPr>
            <a:lstStyle/>
            <a:p>
              <a:pPr algn="ctr"/>
              <a:r>
                <a:rPr lang="en-US" altLang="x-none" sz="1200" b="1" dirty="0">
                  <a:latin typeface="SamsungOne 400" panose="020B0503030303020204" pitchFamily="34" charset="0"/>
                  <a:ea typeface="SamsungOne 400" panose="020B0503030303020204" pitchFamily="34" charset="0"/>
                </a:rPr>
                <a:t>X1</a:t>
              </a:r>
            </a:p>
          </p:txBody>
        </p:sp>
        <p:sp>
          <p:nvSpPr>
            <p:cNvPr id="26" name="타원 25"/>
            <p:cNvSpPr/>
            <p:nvPr/>
          </p:nvSpPr>
          <p:spPr>
            <a:xfrm>
              <a:off x="4074388" y="4797906"/>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a:off x="4276318" y="4996026"/>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4487170" y="5181114"/>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타원 28"/>
            <p:cNvSpPr/>
            <p:nvPr/>
          </p:nvSpPr>
          <p:spPr>
            <a:xfrm>
              <a:off x="4179862" y="5278572"/>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p:cNvSpPr/>
            <p:nvPr/>
          </p:nvSpPr>
          <p:spPr>
            <a:xfrm>
              <a:off x="4428814" y="5475090"/>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타원 30"/>
            <p:cNvSpPr/>
            <p:nvPr/>
          </p:nvSpPr>
          <p:spPr>
            <a:xfrm>
              <a:off x="4643476" y="5519208"/>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p:cNvSpPr/>
            <p:nvPr/>
          </p:nvSpPr>
          <p:spPr>
            <a:xfrm>
              <a:off x="5006728" y="5517606"/>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타원 32"/>
            <p:cNvSpPr/>
            <p:nvPr/>
          </p:nvSpPr>
          <p:spPr>
            <a:xfrm>
              <a:off x="5221390" y="5653164"/>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p:cNvSpPr/>
            <p:nvPr/>
          </p:nvSpPr>
          <p:spPr>
            <a:xfrm>
              <a:off x="4792162" y="5274372"/>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5" name="직선 연결선 34"/>
            <p:cNvCxnSpPr/>
            <p:nvPr/>
          </p:nvCxnSpPr>
          <p:spPr>
            <a:xfrm>
              <a:off x="3965755" y="4265257"/>
              <a:ext cx="1673045" cy="155642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직선 연결선 35"/>
            <p:cNvCxnSpPr/>
            <p:nvPr/>
          </p:nvCxnSpPr>
          <p:spPr>
            <a:xfrm>
              <a:off x="4262935" y="4029037"/>
              <a:ext cx="1673045" cy="155642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7" name="타원 36"/>
            <p:cNvSpPr/>
            <p:nvPr/>
          </p:nvSpPr>
          <p:spPr>
            <a:xfrm>
              <a:off x="4750355" y="4984146"/>
              <a:ext cx="108012" cy="108012"/>
            </a:xfrm>
            <a:prstGeom prst="ellipse">
              <a:avLst/>
            </a:prstGeom>
            <a:solidFill>
              <a:srgbClr val="1429A0"/>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8" name="직선 화살표 연결선 37"/>
            <p:cNvCxnSpPr/>
            <p:nvPr/>
          </p:nvCxnSpPr>
          <p:spPr>
            <a:xfrm>
              <a:off x="3802380" y="4549140"/>
              <a:ext cx="971334" cy="443457"/>
            </a:xfrm>
            <a:prstGeom prst="straightConnector1">
              <a:avLst/>
            </a:prstGeom>
            <a:ln w="12700">
              <a:solidFill>
                <a:srgbClr val="1429A0"/>
              </a:solidFill>
              <a:tailEnd type="triangle"/>
            </a:ln>
          </p:spPr>
          <p:style>
            <a:lnRef idx="1">
              <a:schemeClr val="accent1"/>
            </a:lnRef>
            <a:fillRef idx="0">
              <a:schemeClr val="accent1"/>
            </a:fillRef>
            <a:effectRef idx="0">
              <a:schemeClr val="accent1"/>
            </a:effectRef>
            <a:fontRef idx="minor">
              <a:schemeClr val="tx1"/>
            </a:fontRef>
          </p:style>
        </p:cxnSp>
        <p:sp>
          <p:nvSpPr>
            <p:cNvPr id="39" name="타원 38"/>
            <p:cNvSpPr/>
            <p:nvPr/>
          </p:nvSpPr>
          <p:spPr>
            <a:xfrm>
              <a:off x="4951788" y="4657804"/>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p:cNvSpPr/>
            <p:nvPr/>
          </p:nvSpPr>
          <p:spPr>
            <a:xfrm>
              <a:off x="5337698" y="4750112"/>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타원 40"/>
            <p:cNvSpPr/>
            <p:nvPr/>
          </p:nvSpPr>
          <p:spPr>
            <a:xfrm>
              <a:off x="5228308" y="4552860"/>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5525488" y="4457610"/>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타원 42"/>
            <p:cNvSpPr/>
            <p:nvPr/>
          </p:nvSpPr>
          <p:spPr>
            <a:xfrm>
              <a:off x="5106388" y="4312830"/>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4893028" y="4267110"/>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타원 44"/>
            <p:cNvSpPr/>
            <p:nvPr/>
          </p:nvSpPr>
          <p:spPr>
            <a:xfrm>
              <a:off x="5060668" y="4065180"/>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45"/>
            <p:cNvSpPr/>
            <p:nvPr/>
          </p:nvSpPr>
          <p:spPr>
            <a:xfrm>
              <a:off x="5266408" y="3973740"/>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타원 46"/>
            <p:cNvSpPr/>
            <p:nvPr/>
          </p:nvSpPr>
          <p:spPr>
            <a:xfrm>
              <a:off x="5479768" y="4206150"/>
              <a:ext cx="108012" cy="108012"/>
            </a:xfrm>
            <a:prstGeom prst="ellipse">
              <a:avLst/>
            </a:prstGeom>
            <a:noFill/>
            <a:ln w="12700">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8" name="직선 화살표 연결선 47"/>
            <p:cNvCxnSpPr>
              <a:endCxn id="39" idx="1"/>
            </p:cNvCxnSpPr>
            <p:nvPr/>
          </p:nvCxnSpPr>
          <p:spPr>
            <a:xfrm>
              <a:off x="4594860" y="3851910"/>
              <a:ext cx="372746" cy="821712"/>
            </a:xfrm>
            <a:prstGeom prst="straightConnector1">
              <a:avLst/>
            </a:prstGeom>
            <a:ln w="12700">
              <a:solidFill>
                <a:srgbClr val="1429A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직선 화살표 연결선 48"/>
            <p:cNvCxnSpPr/>
            <p:nvPr/>
          </p:nvCxnSpPr>
          <p:spPr>
            <a:xfrm flipV="1">
              <a:off x="5484161" y="5425440"/>
              <a:ext cx="287989" cy="239821"/>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직선 화살표 연결선 49"/>
            <p:cNvCxnSpPr/>
            <p:nvPr/>
          </p:nvCxnSpPr>
          <p:spPr>
            <a:xfrm flipH="1">
              <a:off x="5646071" y="5059680"/>
              <a:ext cx="49879" cy="480105"/>
            </a:xfrm>
            <a:prstGeom prst="straightConnector1">
              <a:avLst/>
            </a:prstGeom>
            <a:ln w="12700">
              <a:solidFill>
                <a:srgbClr val="1429A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68237266"/>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7.1. SVM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07</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E767A8E2-6FB8-4337-838A-D76295D5F77F}"/>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SVM (Support Vector Machine)</a:t>
            </a:r>
          </a:p>
        </p:txBody>
      </p:sp>
      <p:sp>
        <p:nvSpPr>
          <p:cNvPr id="9" name="직사각형 8">
            <a:extLst>
              <a:ext uri="{FF2B5EF4-FFF2-40B4-BE49-F238E27FC236}">
                <a16:creationId xmlns:a16="http://schemas.microsoft.com/office/drawing/2014/main" id="{CDD26C78-20B0-4FC5-B80A-459ABED43431}"/>
              </a:ext>
            </a:extLst>
          </p:cNvPr>
          <p:cNvSpPr/>
          <p:nvPr/>
        </p:nvSpPr>
        <p:spPr>
          <a:xfrm>
            <a:off x="671261" y="1700808"/>
            <a:ext cx="8672764" cy="20536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However, it is not always possible to classify all data linearly. Sometimes, data classification should be done in a curve or a more complex non-linear classification plane. </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If so, use the Kernel trick method for mapping the given data into a higher dimension and find a hyperplane that can classify the data in the converted dimension.</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Instead of converting the data to a higher dimension, the Kernel trick method uses the Kernel function that returns a similar value to when performing internal calculations between vectors in the higher dimension. This can result in a non-linear classification without moving data to a higher dimension.</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The major Kernel functions include polynomial, Gaussian, and sigmoid kernels.</a:t>
            </a:r>
          </a:p>
        </p:txBody>
      </p:sp>
    </p:spTree>
    <p:extLst>
      <p:ext uri="{BB962C8B-B14F-4D97-AF65-F5344CB8AC3E}">
        <p14:creationId xmlns:p14="http://schemas.microsoft.com/office/powerpoint/2010/main" val="3746277808"/>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7.1. SVM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07</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E767A8E2-6FB8-4337-838A-D76295D5F77F}"/>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Pros</a:t>
            </a:r>
          </a:p>
        </p:txBody>
      </p:sp>
      <p:sp>
        <p:nvSpPr>
          <p:cNvPr id="9" name="직사각형 8">
            <a:extLst>
              <a:ext uri="{FF2B5EF4-FFF2-40B4-BE49-F238E27FC236}">
                <a16:creationId xmlns:a16="http://schemas.microsoft.com/office/drawing/2014/main" id="{CDD26C78-20B0-4FC5-B80A-459ABED43431}"/>
              </a:ext>
            </a:extLst>
          </p:cNvPr>
          <p:cNvSpPr/>
          <p:nvPr/>
        </p:nvSpPr>
        <p:spPr>
          <a:xfrm>
            <a:off x="671261" y="1700808"/>
            <a:ext cx="8672764"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Not very sensitive to the outliers. </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Performance is good.</a:t>
            </a:r>
          </a:p>
        </p:txBody>
      </p:sp>
      <p:sp>
        <p:nvSpPr>
          <p:cNvPr id="7" name="직사각형 6">
            <a:extLst>
              <a:ext uri="{FF2B5EF4-FFF2-40B4-BE49-F238E27FC236}">
                <a16:creationId xmlns:a16="http://schemas.microsoft.com/office/drawing/2014/main" id="{3F26B85C-4E09-4381-8F8A-55866D43AEA4}"/>
              </a:ext>
            </a:extLst>
          </p:cNvPr>
          <p:cNvSpPr/>
          <p:nvPr/>
        </p:nvSpPr>
        <p:spPr>
          <a:xfrm>
            <a:off x="558924" y="252890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Cons</a:t>
            </a:r>
          </a:p>
        </p:txBody>
      </p:sp>
      <p:sp>
        <p:nvSpPr>
          <p:cNvPr id="10" name="직사각형 9">
            <a:extLst>
              <a:ext uri="{FF2B5EF4-FFF2-40B4-BE49-F238E27FC236}">
                <a16:creationId xmlns:a16="http://schemas.microsoft.com/office/drawing/2014/main" id="{66750DD9-86F4-446F-836D-F97F0EADA95E}"/>
              </a:ext>
            </a:extLst>
          </p:cNvPr>
          <p:cNvSpPr/>
          <p:nvPr/>
        </p:nvSpPr>
        <p:spPr>
          <a:xfrm>
            <a:off x="671261" y="2800963"/>
            <a:ext cx="8672764"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Training is relatively slow. Performs poorly for large data.</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The kernel and the hyperparameter set should be carefully optimized.</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Not much insight can be gained.</a:t>
            </a:r>
          </a:p>
        </p:txBody>
      </p:sp>
    </p:spTree>
    <p:extLst>
      <p:ext uri="{BB962C8B-B14F-4D97-AF65-F5344CB8AC3E}">
        <p14:creationId xmlns:p14="http://schemas.microsoft.com/office/powerpoint/2010/main" val="3991764552"/>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7.1. SVM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07</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E767A8E2-6FB8-4337-838A-D76295D5F77F}"/>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SVM classification algorithm</a:t>
            </a:r>
          </a:p>
        </p:txBody>
      </p:sp>
      <p:sp>
        <p:nvSpPr>
          <p:cNvPr id="11" name="모서리가 둥근 직사각형 4">
            <a:extLst>
              <a:ext uri="{FF2B5EF4-FFF2-40B4-BE49-F238E27FC236}">
                <a16:creationId xmlns:a16="http://schemas.microsoft.com/office/drawing/2014/main" id="{58C995D9-5C9C-4B12-BB3D-4A3696FC66A0}"/>
              </a:ext>
            </a:extLst>
          </p:cNvPr>
          <p:cNvSpPr/>
          <p:nvPr/>
        </p:nvSpPr>
        <p:spPr>
          <a:xfrm>
            <a:off x="1639432" y="1773238"/>
            <a:ext cx="6732360" cy="2951906"/>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2" name="그룹 11">
            <a:extLst>
              <a:ext uri="{FF2B5EF4-FFF2-40B4-BE49-F238E27FC236}">
                <a16:creationId xmlns:a16="http://schemas.microsoft.com/office/drawing/2014/main" id="{D92C2181-CC21-403A-966F-078C4BD89295}"/>
              </a:ext>
            </a:extLst>
          </p:cNvPr>
          <p:cNvGrpSpPr/>
          <p:nvPr/>
        </p:nvGrpSpPr>
        <p:grpSpPr>
          <a:xfrm>
            <a:off x="1846389" y="1930765"/>
            <a:ext cx="6210046" cy="2390550"/>
            <a:chOff x="711200" y="2573792"/>
            <a:chExt cx="9074404" cy="3493179"/>
          </a:xfrm>
        </p:grpSpPr>
        <p:grpSp>
          <p:nvGrpSpPr>
            <p:cNvPr id="13" name="그룹 12">
              <a:extLst>
                <a:ext uri="{FF2B5EF4-FFF2-40B4-BE49-F238E27FC236}">
                  <a16:creationId xmlns:a16="http://schemas.microsoft.com/office/drawing/2014/main" id="{C9935953-2E07-466E-9438-F4A583519212}"/>
                </a:ext>
              </a:extLst>
            </p:cNvPr>
            <p:cNvGrpSpPr/>
            <p:nvPr/>
          </p:nvGrpSpPr>
          <p:grpSpPr>
            <a:xfrm>
              <a:off x="711200" y="2573792"/>
              <a:ext cx="8649500" cy="3493179"/>
              <a:chOff x="11796988" y="2030043"/>
              <a:chExt cx="8794920" cy="3551908"/>
            </a:xfrm>
          </p:grpSpPr>
          <p:sp>
            <p:nvSpPr>
              <p:cNvPr id="16" name="Oval 3">
                <a:extLst>
                  <a:ext uri="{FF2B5EF4-FFF2-40B4-BE49-F238E27FC236}">
                    <a16:creationId xmlns:a16="http://schemas.microsoft.com/office/drawing/2014/main" id="{2309BC16-00AB-4A21-9E49-317A983CE4A9}"/>
                  </a:ext>
                </a:extLst>
              </p:cNvPr>
              <p:cNvSpPr/>
              <p:nvPr/>
            </p:nvSpPr>
            <p:spPr>
              <a:xfrm>
                <a:off x="14039180" y="4509120"/>
                <a:ext cx="298800" cy="29843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7" name="Oval 17">
                <a:extLst>
                  <a:ext uri="{FF2B5EF4-FFF2-40B4-BE49-F238E27FC236}">
                    <a16:creationId xmlns:a16="http://schemas.microsoft.com/office/drawing/2014/main" id="{3A778C92-3DCF-4E35-A40E-E0C1D61ED3F0}"/>
                  </a:ext>
                </a:extLst>
              </p:cNvPr>
              <p:cNvSpPr/>
              <p:nvPr/>
            </p:nvSpPr>
            <p:spPr>
              <a:xfrm>
                <a:off x="14915754" y="3933056"/>
                <a:ext cx="298800" cy="29843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8" name="Oval 19">
                <a:extLst>
                  <a:ext uri="{FF2B5EF4-FFF2-40B4-BE49-F238E27FC236}">
                    <a16:creationId xmlns:a16="http://schemas.microsoft.com/office/drawing/2014/main" id="{7325A892-FA61-40E5-B1EC-7FFFBD24E079}"/>
                  </a:ext>
                </a:extLst>
              </p:cNvPr>
              <p:cNvSpPr/>
              <p:nvPr/>
            </p:nvSpPr>
            <p:spPr>
              <a:xfrm>
                <a:off x="15299510" y="4807550"/>
                <a:ext cx="298800" cy="29843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9" name="Oval 20">
                <a:extLst>
                  <a:ext uri="{FF2B5EF4-FFF2-40B4-BE49-F238E27FC236}">
                    <a16:creationId xmlns:a16="http://schemas.microsoft.com/office/drawing/2014/main" id="{30FAD587-2048-4F09-A14B-0EDCA60D3DD4}"/>
                  </a:ext>
                </a:extLst>
              </p:cNvPr>
              <p:cNvSpPr/>
              <p:nvPr/>
            </p:nvSpPr>
            <p:spPr>
              <a:xfrm>
                <a:off x="14547392" y="5283521"/>
                <a:ext cx="298800" cy="298430"/>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0" name="Isosceles Triangle 5">
                <a:extLst>
                  <a:ext uri="{FF2B5EF4-FFF2-40B4-BE49-F238E27FC236}">
                    <a16:creationId xmlns:a16="http://schemas.microsoft.com/office/drawing/2014/main" id="{1831545F-F15B-4722-B0E5-7E0E206556D7}"/>
                  </a:ext>
                </a:extLst>
              </p:cNvPr>
              <p:cNvSpPr/>
              <p:nvPr/>
            </p:nvSpPr>
            <p:spPr>
              <a:xfrm>
                <a:off x="16888730" y="2986182"/>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2">
                <a:extLst>
                  <a:ext uri="{FF2B5EF4-FFF2-40B4-BE49-F238E27FC236}">
                    <a16:creationId xmlns:a16="http://schemas.microsoft.com/office/drawing/2014/main" id="{9D2D6E9F-5119-47F5-BF34-A615869ACC6D}"/>
                  </a:ext>
                </a:extLst>
              </p:cNvPr>
              <p:cNvSpPr/>
              <p:nvPr/>
            </p:nvSpPr>
            <p:spPr>
              <a:xfrm>
                <a:off x="17453669" y="3207024"/>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3">
                <a:extLst>
                  <a:ext uri="{FF2B5EF4-FFF2-40B4-BE49-F238E27FC236}">
                    <a16:creationId xmlns:a16="http://schemas.microsoft.com/office/drawing/2014/main" id="{FE753A63-1D9E-43E5-AC22-62758ABBDE14}"/>
                  </a:ext>
                </a:extLst>
              </p:cNvPr>
              <p:cNvSpPr/>
              <p:nvPr/>
            </p:nvSpPr>
            <p:spPr>
              <a:xfrm>
                <a:off x="17064739" y="2030043"/>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4">
                <a:extLst>
                  <a:ext uri="{FF2B5EF4-FFF2-40B4-BE49-F238E27FC236}">
                    <a16:creationId xmlns:a16="http://schemas.microsoft.com/office/drawing/2014/main" id="{5E898E39-4698-4456-B9CD-7046B1608FBB}"/>
                  </a:ext>
                </a:extLst>
              </p:cNvPr>
              <p:cNvSpPr/>
              <p:nvPr/>
            </p:nvSpPr>
            <p:spPr>
              <a:xfrm>
                <a:off x="18513646" y="3213675"/>
                <a:ext cx="328772" cy="298802"/>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7">
                <a:extLst>
                  <a:ext uri="{FF2B5EF4-FFF2-40B4-BE49-F238E27FC236}">
                    <a16:creationId xmlns:a16="http://schemas.microsoft.com/office/drawing/2014/main" id="{6C906B6C-DE83-4428-92B3-10D3C8F29F6D}"/>
                  </a:ext>
                </a:extLst>
              </p:cNvPr>
              <p:cNvCxnSpPr/>
              <p:nvPr/>
            </p:nvCxnSpPr>
            <p:spPr>
              <a:xfrm>
                <a:off x="11796988" y="3717032"/>
                <a:ext cx="8794920" cy="0"/>
              </a:xfrm>
              <a:prstGeom prst="line">
                <a:avLst/>
              </a:prstGeom>
              <a:ln w="12700">
                <a:solidFill>
                  <a:srgbClr val="00B050"/>
                </a:solidFill>
                <a:prstDash val="solid"/>
              </a:ln>
            </p:spPr>
            <p:style>
              <a:lnRef idx="1">
                <a:schemeClr val="accent1"/>
              </a:lnRef>
              <a:fillRef idx="0">
                <a:schemeClr val="accent1"/>
              </a:fillRef>
              <a:effectRef idx="0">
                <a:schemeClr val="accent1"/>
              </a:effectRef>
              <a:fontRef idx="minor">
                <a:schemeClr val="tx1"/>
              </a:fontRef>
            </p:style>
          </p:cxnSp>
        </p:grpSp>
        <p:sp>
          <p:nvSpPr>
            <p:cNvPr id="14" name="화살표: 아래쪽 13">
              <a:extLst>
                <a:ext uri="{FF2B5EF4-FFF2-40B4-BE49-F238E27FC236}">
                  <a16:creationId xmlns:a16="http://schemas.microsoft.com/office/drawing/2014/main" id="{DA37FD3F-3910-41AA-9A8E-5EAEE1475752}"/>
                </a:ext>
              </a:extLst>
            </p:cNvPr>
            <p:cNvSpPr/>
            <p:nvPr/>
          </p:nvSpPr>
          <p:spPr>
            <a:xfrm flipV="1">
              <a:off x="8768415" y="4358042"/>
              <a:ext cx="193125" cy="761587"/>
            </a:xfrm>
            <a:prstGeom prst="downArrow">
              <a:avLst/>
            </a:prstGeom>
            <a:gradFill>
              <a:gsLst>
                <a:gs pos="0">
                  <a:schemeClr val="bg1"/>
                </a:gs>
                <a:gs pos="100000">
                  <a:srgbClr val="FF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0F604535-3C88-4104-BE1E-3F0D82AC56DA}"/>
                </a:ext>
              </a:extLst>
            </p:cNvPr>
            <p:cNvSpPr txBox="1"/>
            <p:nvPr/>
          </p:nvSpPr>
          <p:spPr>
            <a:xfrm>
              <a:off x="7944352" y="4977014"/>
              <a:ext cx="1841252" cy="307777"/>
            </a:xfrm>
            <a:prstGeom prst="rect">
              <a:avLst/>
            </a:prstGeom>
            <a:noFill/>
          </p:spPr>
          <p:txBody>
            <a:bodyPr wrap="square" rtlCol="0">
              <a:spAutoFit/>
            </a:bodyPr>
            <a:lstStyle/>
            <a:p>
              <a:pPr algn="ctr"/>
              <a:r>
                <a:rPr lang="en-US" altLang="ko-KR" sz="1400" dirty="0">
                  <a:latin typeface="SamsungOne 700" panose="020B0803030303020204" pitchFamily="34" charset="0"/>
                  <a:ea typeface="SamsungOne 700" panose="020B0803030303020204" pitchFamily="34" charset="0"/>
                  <a:cs typeface="Times New Roman" panose="02020603050405020304" pitchFamily="18" charset="0"/>
                </a:rPr>
                <a:t>Boundary</a:t>
              </a:r>
              <a:endParaRPr lang="en-US" sz="1400" dirty="0">
                <a:latin typeface="SamsungOne 700" panose="020B0803030303020204" pitchFamily="34" charset="0"/>
                <a:ea typeface="SamsungOne 700" panose="020B0803030303020204" pitchFamily="34" charset="0"/>
                <a:cs typeface="Times New Roman" panose="02020603050405020304" pitchFamily="18" charset="0"/>
              </a:endParaRPr>
            </a:p>
          </p:txBody>
        </p:sp>
      </p:grpSp>
    </p:spTree>
    <p:extLst>
      <p:ext uri="{BB962C8B-B14F-4D97-AF65-F5344CB8AC3E}">
        <p14:creationId xmlns:p14="http://schemas.microsoft.com/office/powerpoint/2010/main" val="494105555"/>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7.1. SVM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07</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E767A8E2-6FB8-4337-838A-D76295D5F77F}"/>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SVM classification algorithm</a:t>
            </a:r>
          </a:p>
        </p:txBody>
      </p:sp>
      <p:sp>
        <p:nvSpPr>
          <p:cNvPr id="11" name="모서리가 둥근 직사각형 4">
            <a:extLst>
              <a:ext uri="{FF2B5EF4-FFF2-40B4-BE49-F238E27FC236}">
                <a16:creationId xmlns:a16="http://schemas.microsoft.com/office/drawing/2014/main" id="{58C995D9-5C9C-4B12-BB3D-4A3696FC66A0}"/>
              </a:ext>
            </a:extLst>
          </p:cNvPr>
          <p:cNvSpPr/>
          <p:nvPr/>
        </p:nvSpPr>
        <p:spPr>
          <a:xfrm>
            <a:off x="2575148" y="1773238"/>
            <a:ext cx="4860928" cy="2807890"/>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28" name="그룹 27">
            <a:extLst>
              <a:ext uri="{FF2B5EF4-FFF2-40B4-BE49-F238E27FC236}">
                <a16:creationId xmlns:a16="http://schemas.microsoft.com/office/drawing/2014/main" id="{14489177-1B4B-40F4-A286-71444372FD45}"/>
              </a:ext>
            </a:extLst>
          </p:cNvPr>
          <p:cNvGrpSpPr/>
          <p:nvPr/>
        </p:nvGrpSpPr>
        <p:grpSpPr>
          <a:xfrm>
            <a:off x="3255692" y="1916113"/>
            <a:ext cx="3430858" cy="2485594"/>
            <a:chOff x="3255692" y="2134913"/>
            <a:chExt cx="3430858" cy="2485594"/>
          </a:xfrm>
        </p:grpSpPr>
        <p:grpSp>
          <p:nvGrpSpPr>
            <p:cNvPr id="29" name="그룹 28">
              <a:extLst>
                <a:ext uri="{FF2B5EF4-FFF2-40B4-BE49-F238E27FC236}">
                  <a16:creationId xmlns:a16="http://schemas.microsoft.com/office/drawing/2014/main" id="{D34D58B0-AEAC-42EC-BB0B-1D287DC1402E}"/>
                </a:ext>
              </a:extLst>
            </p:cNvPr>
            <p:cNvGrpSpPr/>
            <p:nvPr/>
          </p:nvGrpSpPr>
          <p:grpSpPr>
            <a:xfrm>
              <a:off x="3255692" y="2134913"/>
              <a:ext cx="3430858" cy="2485594"/>
              <a:chOff x="2589210" y="2606599"/>
              <a:chExt cx="4763821" cy="3451302"/>
            </a:xfrm>
          </p:grpSpPr>
          <p:cxnSp>
            <p:nvCxnSpPr>
              <p:cNvPr id="32" name="Straight Connector 7">
                <a:extLst>
                  <a:ext uri="{FF2B5EF4-FFF2-40B4-BE49-F238E27FC236}">
                    <a16:creationId xmlns:a16="http://schemas.microsoft.com/office/drawing/2014/main" id="{7CD2977F-FD6A-4448-9A5D-359B203623FD}"/>
                  </a:ext>
                </a:extLst>
              </p:cNvPr>
              <p:cNvCxnSpPr/>
              <p:nvPr/>
            </p:nvCxnSpPr>
            <p:spPr>
              <a:xfrm>
                <a:off x="4710033" y="2606599"/>
                <a:ext cx="0" cy="3451302"/>
              </a:xfrm>
              <a:prstGeom prst="line">
                <a:avLst/>
              </a:prstGeom>
              <a:ln w="1270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33" name="Oval 17">
                <a:extLst>
                  <a:ext uri="{FF2B5EF4-FFF2-40B4-BE49-F238E27FC236}">
                    <a16:creationId xmlns:a16="http://schemas.microsoft.com/office/drawing/2014/main" id="{391882FE-B789-4BAC-9906-3A6249FB316D}"/>
                  </a:ext>
                </a:extLst>
              </p:cNvPr>
              <p:cNvSpPr/>
              <p:nvPr/>
            </p:nvSpPr>
            <p:spPr>
              <a:xfrm>
                <a:off x="3466324" y="4267459"/>
                <a:ext cx="293859" cy="293496"/>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4" name="Isosceles Triangle 5">
                <a:extLst>
                  <a:ext uri="{FF2B5EF4-FFF2-40B4-BE49-F238E27FC236}">
                    <a16:creationId xmlns:a16="http://schemas.microsoft.com/office/drawing/2014/main" id="{61630E77-DCB6-4BD7-827F-96A1E0187AB9}"/>
                  </a:ext>
                </a:extLst>
              </p:cNvPr>
              <p:cNvSpPr/>
              <p:nvPr/>
            </p:nvSpPr>
            <p:spPr>
              <a:xfrm>
                <a:off x="5580788" y="2827047"/>
                <a:ext cx="323336" cy="293861"/>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17">
                <a:extLst>
                  <a:ext uri="{FF2B5EF4-FFF2-40B4-BE49-F238E27FC236}">
                    <a16:creationId xmlns:a16="http://schemas.microsoft.com/office/drawing/2014/main" id="{F4FEBFBE-1E84-4C0A-91D6-1B4885EB0517}"/>
                  </a:ext>
                </a:extLst>
              </p:cNvPr>
              <p:cNvSpPr/>
              <p:nvPr/>
            </p:nvSpPr>
            <p:spPr>
              <a:xfrm>
                <a:off x="2589210" y="4746146"/>
                <a:ext cx="293859" cy="293496"/>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6" name="Oval 17">
                <a:extLst>
                  <a:ext uri="{FF2B5EF4-FFF2-40B4-BE49-F238E27FC236}">
                    <a16:creationId xmlns:a16="http://schemas.microsoft.com/office/drawing/2014/main" id="{91B9ED2E-C841-405F-86B7-4349B465CCC3}"/>
                  </a:ext>
                </a:extLst>
              </p:cNvPr>
              <p:cNvSpPr/>
              <p:nvPr/>
            </p:nvSpPr>
            <p:spPr>
              <a:xfrm>
                <a:off x="3109991" y="5296008"/>
                <a:ext cx="293859" cy="293496"/>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7" name="Oval 17">
                <a:extLst>
                  <a:ext uri="{FF2B5EF4-FFF2-40B4-BE49-F238E27FC236}">
                    <a16:creationId xmlns:a16="http://schemas.microsoft.com/office/drawing/2014/main" id="{790E39CB-A885-4B2C-B4EB-8C88298E2A97}"/>
                  </a:ext>
                </a:extLst>
              </p:cNvPr>
              <p:cNvSpPr/>
              <p:nvPr/>
            </p:nvSpPr>
            <p:spPr>
              <a:xfrm>
                <a:off x="3850080" y="4937021"/>
                <a:ext cx="293859" cy="293496"/>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8" name="Isosceles Triangle 5">
                <a:extLst>
                  <a:ext uri="{FF2B5EF4-FFF2-40B4-BE49-F238E27FC236}">
                    <a16:creationId xmlns:a16="http://schemas.microsoft.com/office/drawing/2014/main" id="{F6E9ECAB-74CA-4E06-B55F-B1D5E7D81306}"/>
                  </a:ext>
                </a:extLst>
              </p:cNvPr>
              <p:cNvSpPr/>
              <p:nvPr/>
            </p:nvSpPr>
            <p:spPr>
              <a:xfrm>
                <a:off x="5419920" y="3525256"/>
                <a:ext cx="323336" cy="293861"/>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Isosceles Triangle 5">
                <a:extLst>
                  <a:ext uri="{FF2B5EF4-FFF2-40B4-BE49-F238E27FC236}">
                    <a16:creationId xmlns:a16="http://schemas.microsoft.com/office/drawing/2014/main" id="{9F4E700F-E328-469A-9EE4-98671EFF4A03}"/>
                  </a:ext>
                </a:extLst>
              </p:cNvPr>
              <p:cNvSpPr/>
              <p:nvPr/>
            </p:nvSpPr>
            <p:spPr>
              <a:xfrm>
                <a:off x="5986014" y="3699812"/>
                <a:ext cx="323336" cy="293861"/>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Isosceles Triangle 5">
                <a:extLst>
                  <a:ext uri="{FF2B5EF4-FFF2-40B4-BE49-F238E27FC236}">
                    <a16:creationId xmlns:a16="http://schemas.microsoft.com/office/drawing/2014/main" id="{765E97AB-6A58-45F7-B64A-82B4C247E9F0}"/>
                  </a:ext>
                </a:extLst>
              </p:cNvPr>
              <p:cNvSpPr/>
              <p:nvPr/>
            </p:nvSpPr>
            <p:spPr>
              <a:xfrm>
                <a:off x="7029695" y="3699812"/>
                <a:ext cx="323336" cy="293861"/>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화살표: 아래쪽 29">
              <a:extLst>
                <a:ext uri="{FF2B5EF4-FFF2-40B4-BE49-F238E27FC236}">
                  <a16:creationId xmlns:a16="http://schemas.microsoft.com/office/drawing/2014/main" id="{ECFE0687-92F5-4910-9D0F-6F1B78FC8BC1}"/>
                </a:ext>
              </a:extLst>
            </p:cNvPr>
            <p:cNvSpPr/>
            <p:nvPr/>
          </p:nvSpPr>
          <p:spPr>
            <a:xfrm rot="16200000" flipV="1">
              <a:off x="5124702" y="3935165"/>
              <a:ext cx="132165" cy="521191"/>
            </a:xfrm>
            <a:prstGeom prst="downArrow">
              <a:avLst/>
            </a:prstGeom>
            <a:gradFill>
              <a:gsLst>
                <a:gs pos="0">
                  <a:schemeClr val="bg1"/>
                </a:gs>
                <a:gs pos="100000">
                  <a:srgbClr val="FF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TextBox 30">
              <a:extLst>
                <a:ext uri="{FF2B5EF4-FFF2-40B4-BE49-F238E27FC236}">
                  <a16:creationId xmlns:a16="http://schemas.microsoft.com/office/drawing/2014/main" id="{FB2332E9-6878-4F54-B4A4-664953A28318}"/>
                </a:ext>
              </a:extLst>
            </p:cNvPr>
            <p:cNvSpPr txBox="1"/>
            <p:nvPr/>
          </p:nvSpPr>
          <p:spPr>
            <a:xfrm>
              <a:off x="5198489" y="4047424"/>
              <a:ext cx="1348346" cy="221658"/>
            </a:xfrm>
            <a:prstGeom prst="rect">
              <a:avLst/>
            </a:prstGeom>
            <a:noFill/>
          </p:spPr>
          <p:txBody>
            <a:bodyPr wrap="square" rtlCol="0">
              <a:spAutoFit/>
            </a:bodyPr>
            <a:lstStyle>
              <a:defPPr>
                <a:defRPr lang="en-US"/>
              </a:defPPr>
              <a:lvl1pPr algn="ctr">
                <a:defRPr sz="1400">
                  <a:latin typeface="SamsungOne 700" panose="020B0803030303020204" pitchFamily="34" charset="0"/>
                  <a:ea typeface="SamsungOne 700" panose="020B0803030303020204" pitchFamily="34" charset="0"/>
                  <a:cs typeface="Times New Roman" panose="02020603050405020304" pitchFamily="18" charset="0"/>
                </a:defRPr>
              </a:lvl1pPr>
            </a:lstStyle>
            <a:p>
              <a:r>
                <a:rPr lang="en-US" altLang="ko-KR" dirty="0"/>
                <a:t>Boundary</a:t>
              </a:r>
              <a:endParaRPr lang="en-US" dirty="0"/>
            </a:p>
          </p:txBody>
        </p:sp>
      </p:grpSp>
    </p:spTree>
    <p:extLst>
      <p:ext uri="{BB962C8B-B14F-4D97-AF65-F5344CB8AC3E}">
        <p14:creationId xmlns:p14="http://schemas.microsoft.com/office/powerpoint/2010/main" val="1982346510"/>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7.1. SVM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07</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E767A8E2-6FB8-4337-838A-D76295D5F77F}"/>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SVM classification algorithm</a:t>
            </a:r>
          </a:p>
        </p:txBody>
      </p:sp>
      <p:sp>
        <p:nvSpPr>
          <p:cNvPr id="11" name="모서리가 둥근 직사각형 4">
            <a:extLst>
              <a:ext uri="{FF2B5EF4-FFF2-40B4-BE49-F238E27FC236}">
                <a16:creationId xmlns:a16="http://schemas.microsoft.com/office/drawing/2014/main" id="{58C995D9-5C9C-4B12-BB3D-4A3696FC66A0}"/>
              </a:ext>
            </a:extLst>
          </p:cNvPr>
          <p:cNvSpPr/>
          <p:nvPr/>
        </p:nvSpPr>
        <p:spPr>
          <a:xfrm>
            <a:off x="2161297" y="1773238"/>
            <a:ext cx="5580232" cy="3059918"/>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58" name="그룹 57">
            <a:extLst>
              <a:ext uri="{FF2B5EF4-FFF2-40B4-BE49-F238E27FC236}">
                <a16:creationId xmlns:a16="http://schemas.microsoft.com/office/drawing/2014/main" id="{6FF05A8D-3DFC-4D6F-9042-01D213D339B9}"/>
              </a:ext>
            </a:extLst>
          </p:cNvPr>
          <p:cNvGrpSpPr/>
          <p:nvPr/>
        </p:nvGrpSpPr>
        <p:grpSpPr>
          <a:xfrm>
            <a:off x="2575148" y="1968305"/>
            <a:ext cx="4798767" cy="2612823"/>
            <a:chOff x="2292605" y="2635111"/>
            <a:chExt cx="4798767" cy="2612823"/>
          </a:xfrm>
        </p:grpSpPr>
        <p:grpSp>
          <p:nvGrpSpPr>
            <p:cNvPr id="59" name="그룹 58">
              <a:extLst>
                <a:ext uri="{FF2B5EF4-FFF2-40B4-BE49-F238E27FC236}">
                  <a16:creationId xmlns:a16="http://schemas.microsoft.com/office/drawing/2014/main" id="{5E683A51-6C98-4E6A-BB23-BD16CB2DF1A8}"/>
                </a:ext>
              </a:extLst>
            </p:cNvPr>
            <p:cNvGrpSpPr/>
            <p:nvPr/>
          </p:nvGrpSpPr>
          <p:grpSpPr>
            <a:xfrm>
              <a:off x="2292605" y="2635111"/>
              <a:ext cx="4504566" cy="2612823"/>
              <a:chOff x="2292605" y="2692261"/>
              <a:chExt cx="4504566" cy="2612823"/>
            </a:xfrm>
          </p:grpSpPr>
          <p:grpSp>
            <p:nvGrpSpPr>
              <p:cNvPr id="61" name="그룹 60">
                <a:extLst>
                  <a:ext uri="{FF2B5EF4-FFF2-40B4-BE49-F238E27FC236}">
                    <a16:creationId xmlns:a16="http://schemas.microsoft.com/office/drawing/2014/main" id="{4DB444E4-7D9B-4E1C-AAC5-63D7E9F504DC}"/>
                  </a:ext>
                </a:extLst>
              </p:cNvPr>
              <p:cNvGrpSpPr/>
              <p:nvPr/>
            </p:nvGrpSpPr>
            <p:grpSpPr>
              <a:xfrm>
                <a:off x="3844202" y="2692261"/>
                <a:ext cx="2952969" cy="2612823"/>
                <a:chOff x="3911307" y="2600325"/>
                <a:chExt cx="4104043" cy="3631306"/>
              </a:xfrm>
            </p:grpSpPr>
            <p:grpSp>
              <p:nvGrpSpPr>
                <p:cNvPr id="66" name="그룹 65">
                  <a:extLst>
                    <a:ext uri="{FF2B5EF4-FFF2-40B4-BE49-F238E27FC236}">
                      <a16:creationId xmlns:a16="http://schemas.microsoft.com/office/drawing/2014/main" id="{F9E5DAD5-B7AB-48E9-85A1-FC66EB450687}"/>
                    </a:ext>
                  </a:extLst>
                </p:cNvPr>
                <p:cNvGrpSpPr/>
                <p:nvPr/>
              </p:nvGrpSpPr>
              <p:grpSpPr>
                <a:xfrm>
                  <a:off x="3911307" y="2600325"/>
                  <a:ext cx="4104043" cy="3631306"/>
                  <a:chOff x="14100875" y="1608005"/>
                  <a:chExt cx="6041433" cy="5345530"/>
                </a:xfrm>
              </p:grpSpPr>
              <p:cxnSp>
                <p:nvCxnSpPr>
                  <p:cNvPr id="75" name="Straight Connector 7">
                    <a:extLst>
                      <a:ext uri="{FF2B5EF4-FFF2-40B4-BE49-F238E27FC236}">
                        <a16:creationId xmlns:a16="http://schemas.microsoft.com/office/drawing/2014/main" id="{4B5ABA68-FA3F-4A01-B281-2D53B12F0B05}"/>
                      </a:ext>
                    </a:extLst>
                  </p:cNvPr>
                  <p:cNvCxnSpPr/>
                  <p:nvPr/>
                </p:nvCxnSpPr>
                <p:spPr>
                  <a:xfrm>
                    <a:off x="14743329" y="2015076"/>
                    <a:ext cx="3213312" cy="3934204"/>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6" name="Straight Connector 26">
                    <a:extLst>
                      <a:ext uri="{FF2B5EF4-FFF2-40B4-BE49-F238E27FC236}">
                        <a16:creationId xmlns:a16="http://schemas.microsoft.com/office/drawing/2014/main" id="{42238C71-BCA4-409D-A7AC-B5335CD25125}"/>
                      </a:ext>
                    </a:extLst>
                  </p:cNvPr>
                  <p:cNvCxnSpPr/>
                  <p:nvPr/>
                </p:nvCxnSpPr>
                <p:spPr>
                  <a:xfrm>
                    <a:off x="14100875" y="2542018"/>
                    <a:ext cx="3213312" cy="393420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7" name="Straight Connector 27">
                    <a:extLst>
                      <a:ext uri="{FF2B5EF4-FFF2-40B4-BE49-F238E27FC236}">
                        <a16:creationId xmlns:a16="http://schemas.microsoft.com/office/drawing/2014/main" id="{8EB7DC9D-2B7A-4255-A003-D0F3EF57CFEC}"/>
                      </a:ext>
                    </a:extLst>
                  </p:cNvPr>
                  <p:cNvCxnSpPr/>
                  <p:nvPr/>
                </p:nvCxnSpPr>
                <p:spPr>
                  <a:xfrm>
                    <a:off x="15475489" y="1608005"/>
                    <a:ext cx="3213312" cy="3934204"/>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49DF9EB6-F52D-42BC-B8B1-B7CFFFE9E092}"/>
                      </a:ext>
                    </a:extLst>
                  </p:cNvPr>
                  <p:cNvSpPr txBox="1"/>
                  <p:nvPr/>
                </p:nvSpPr>
                <p:spPr>
                  <a:xfrm>
                    <a:off x="18270101" y="6500466"/>
                    <a:ext cx="1872207" cy="453069"/>
                  </a:xfrm>
                  <a:prstGeom prst="rect">
                    <a:avLst/>
                  </a:prstGeom>
                  <a:noFill/>
                </p:spPr>
                <p:txBody>
                  <a:bodyPr wrap="square" rtlCol="0">
                    <a:spAutoFit/>
                  </a:bodyPr>
                  <a:lstStyle/>
                  <a:p>
                    <a:pPr algn="ctr"/>
                    <a:r>
                      <a:rPr lang="en-US" altLang="ko-KR" sz="1400" dirty="0">
                        <a:latin typeface="SamsungOne 700" panose="020B0803030303020204" pitchFamily="34" charset="0"/>
                        <a:ea typeface="SamsungOne 700" panose="020B0803030303020204" pitchFamily="34" charset="0"/>
                        <a:cs typeface="Times New Roman" panose="02020603050405020304" pitchFamily="18" charset="0"/>
                      </a:rPr>
                      <a:t>Margin</a:t>
                    </a:r>
                    <a:endParaRPr lang="en-US" sz="1400" dirty="0">
                      <a:latin typeface="SamsungOne 700" panose="020B0803030303020204" pitchFamily="34" charset="0"/>
                      <a:ea typeface="SamsungOne 700" panose="020B0803030303020204" pitchFamily="34" charset="0"/>
                      <a:cs typeface="Times New Roman" panose="02020603050405020304" pitchFamily="18" charset="0"/>
                    </a:endParaRPr>
                  </a:p>
                </p:txBody>
              </p:sp>
              <p:sp>
                <p:nvSpPr>
                  <p:cNvPr id="79" name="Right Brace 6">
                    <a:extLst>
                      <a:ext uri="{FF2B5EF4-FFF2-40B4-BE49-F238E27FC236}">
                        <a16:creationId xmlns:a16="http://schemas.microsoft.com/office/drawing/2014/main" id="{571B3948-5E1E-4DE5-9E7E-5B02630AEF20}"/>
                      </a:ext>
                    </a:extLst>
                  </p:cNvPr>
                  <p:cNvSpPr/>
                  <p:nvPr/>
                </p:nvSpPr>
                <p:spPr>
                  <a:xfrm rot="3030886">
                    <a:off x="17943531" y="5548100"/>
                    <a:ext cx="536950" cy="1399280"/>
                  </a:xfrm>
                  <a:prstGeom prst="rightBrace">
                    <a:avLst>
                      <a:gd name="adj1" fmla="val 0"/>
                      <a:gd name="adj2" fmla="val 49635"/>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67" name="Oval 17">
                  <a:extLst>
                    <a:ext uri="{FF2B5EF4-FFF2-40B4-BE49-F238E27FC236}">
                      <a16:creationId xmlns:a16="http://schemas.microsoft.com/office/drawing/2014/main" id="{7745AE0C-012D-4126-B6EF-8FFB23AEAD80}"/>
                    </a:ext>
                  </a:extLst>
                </p:cNvPr>
                <p:cNvSpPr/>
                <p:nvPr/>
              </p:nvSpPr>
              <p:spPr>
                <a:xfrm>
                  <a:off x="4482152" y="4179770"/>
                  <a:ext cx="293859" cy="293496"/>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8" name="Isosceles Triangle 5">
                  <a:extLst>
                    <a:ext uri="{FF2B5EF4-FFF2-40B4-BE49-F238E27FC236}">
                      <a16:creationId xmlns:a16="http://schemas.microsoft.com/office/drawing/2014/main" id="{B1001862-DC3B-441E-87D9-6D69DAACCE10}"/>
                    </a:ext>
                  </a:extLst>
                </p:cNvPr>
                <p:cNvSpPr/>
                <p:nvPr/>
              </p:nvSpPr>
              <p:spPr>
                <a:xfrm>
                  <a:off x="5955628" y="2840919"/>
                  <a:ext cx="323336" cy="293861"/>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17">
                  <a:extLst>
                    <a:ext uri="{FF2B5EF4-FFF2-40B4-BE49-F238E27FC236}">
                      <a16:creationId xmlns:a16="http://schemas.microsoft.com/office/drawing/2014/main" id="{1AF64724-E404-4E5A-A6C6-D76449F6518E}"/>
                    </a:ext>
                  </a:extLst>
                </p:cNvPr>
                <p:cNvSpPr/>
                <p:nvPr/>
              </p:nvSpPr>
              <p:spPr>
                <a:xfrm>
                  <a:off x="3916294" y="4586374"/>
                  <a:ext cx="293859" cy="293496"/>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0" name="Oval 17">
                  <a:extLst>
                    <a:ext uri="{FF2B5EF4-FFF2-40B4-BE49-F238E27FC236}">
                      <a16:creationId xmlns:a16="http://schemas.microsoft.com/office/drawing/2014/main" id="{1A860B6C-F266-4D43-A621-B931B2980A82}"/>
                    </a:ext>
                  </a:extLst>
                </p:cNvPr>
                <p:cNvSpPr/>
                <p:nvPr/>
              </p:nvSpPr>
              <p:spPr>
                <a:xfrm>
                  <a:off x="4701095" y="4731186"/>
                  <a:ext cx="293859" cy="293496"/>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1" name="Oval 17">
                  <a:extLst>
                    <a:ext uri="{FF2B5EF4-FFF2-40B4-BE49-F238E27FC236}">
                      <a16:creationId xmlns:a16="http://schemas.microsoft.com/office/drawing/2014/main" id="{DD187A3E-82E9-4559-8C8C-6FDD9C1E3156}"/>
                    </a:ext>
                  </a:extLst>
                </p:cNvPr>
                <p:cNvSpPr/>
                <p:nvPr/>
              </p:nvSpPr>
              <p:spPr>
                <a:xfrm>
                  <a:off x="4195626" y="5051779"/>
                  <a:ext cx="293859" cy="293496"/>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2" name="Isosceles Triangle 5">
                  <a:extLst>
                    <a:ext uri="{FF2B5EF4-FFF2-40B4-BE49-F238E27FC236}">
                      <a16:creationId xmlns:a16="http://schemas.microsoft.com/office/drawing/2014/main" id="{A0652B19-29C4-4271-8F3B-68E4866676D9}"/>
                    </a:ext>
                  </a:extLst>
                </p:cNvPr>
                <p:cNvSpPr/>
                <p:nvPr/>
              </p:nvSpPr>
              <p:spPr>
                <a:xfrm>
                  <a:off x="5868406" y="3447963"/>
                  <a:ext cx="323336" cy="293861"/>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Isosceles Triangle 5">
                  <a:extLst>
                    <a:ext uri="{FF2B5EF4-FFF2-40B4-BE49-F238E27FC236}">
                      <a16:creationId xmlns:a16="http://schemas.microsoft.com/office/drawing/2014/main" id="{15D12F1B-3C64-4456-BB96-7B1566046179}"/>
                    </a:ext>
                  </a:extLst>
                </p:cNvPr>
                <p:cNvSpPr/>
                <p:nvPr/>
              </p:nvSpPr>
              <p:spPr>
                <a:xfrm>
                  <a:off x="6246324" y="3646339"/>
                  <a:ext cx="323336" cy="293861"/>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Isosceles Triangle 5">
                  <a:extLst>
                    <a:ext uri="{FF2B5EF4-FFF2-40B4-BE49-F238E27FC236}">
                      <a16:creationId xmlns:a16="http://schemas.microsoft.com/office/drawing/2014/main" id="{C3424681-31EA-43FD-BDC6-FC4F0BABCB5E}"/>
                    </a:ext>
                  </a:extLst>
                </p:cNvPr>
                <p:cNvSpPr/>
                <p:nvPr/>
              </p:nvSpPr>
              <p:spPr>
                <a:xfrm>
                  <a:off x="6885293" y="3625035"/>
                  <a:ext cx="323336" cy="293861"/>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2" name="화살표: 아래쪽 61">
                <a:extLst>
                  <a:ext uri="{FF2B5EF4-FFF2-40B4-BE49-F238E27FC236}">
                    <a16:creationId xmlns:a16="http://schemas.microsoft.com/office/drawing/2014/main" id="{71B076B4-BE25-4E35-BBB6-B8048A2F221E}"/>
                  </a:ext>
                </a:extLst>
              </p:cNvPr>
              <p:cNvSpPr/>
              <p:nvPr/>
            </p:nvSpPr>
            <p:spPr>
              <a:xfrm rot="5400000" flipH="1" flipV="1">
                <a:off x="4046527" y="2289790"/>
                <a:ext cx="132165" cy="2279555"/>
              </a:xfrm>
              <a:prstGeom prst="downArrow">
                <a:avLst/>
              </a:prstGeom>
              <a:gradFill>
                <a:gsLst>
                  <a:gs pos="0">
                    <a:schemeClr val="bg1"/>
                  </a:gs>
                  <a:gs pos="100000">
                    <a:srgbClr val="FF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화살표: 아래쪽 62">
                <a:extLst>
                  <a:ext uri="{FF2B5EF4-FFF2-40B4-BE49-F238E27FC236}">
                    <a16:creationId xmlns:a16="http://schemas.microsoft.com/office/drawing/2014/main" id="{AF70CB06-3A63-4D50-BC0F-D86C794D15A2}"/>
                  </a:ext>
                </a:extLst>
              </p:cNvPr>
              <p:cNvSpPr/>
              <p:nvPr/>
            </p:nvSpPr>
            <p:spPr>
              <a:xfrm rot="6596109" flipH="1" flipV="1">
                <a:off x="3569687" y="3017938"/>
                <a:ext cx="132165" cy="1288489"/>
              </a:xfrm>
              <a:prstGeom prst="downArrow">
                <a:avLst/>
              </a:prstGeom>
              <a:gradFill>
                <a:gsLst>
                  <a:gs pos="0">
                    <a:schemeClr val="bg1"/>
                  </a:gs>
                  <a:gs pos="100000">
                    <a:srgbClr val="FF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TextBox 63">
                <a:extLst>
                  <a:ext uri="{FF2B5EF4-FFF2-40B4-BE49-F238E27FC236}">
                    <a16:creationId xmlns:a16="http://schemas.microsoft.com/office/drawing/2014/main" id="{919164E3-2436-4F0B-8DBD-BC94E2F31BF6}"/>
                  </a:ext>
                </a:extLst>
              </p:cNvPr>
              <p:cNvSpPr txBox="1"/>
              <p:nvPr/>
            </p:nvSpPr>
            <p:spPr>
              <a:xfrm>
                <a:off x="2292605" y="3183286"/>
                <a:ext cx="915109" cy="523220"/>
              </a:xfrm>
              <a:prstGeom prst="rect">
                <a:avLst/>
              </a:prstGeom>
              <a:noFill/>
            </p:spPr>
            <p:txBody>
              <a:bodyPr wrap="square" rtlCol="0">
                <a:spAutoFit/>
              </a:bodyPr>
              <a:lstStyle/>
              <a:p>
                <a:pPr algn="r"/>
                <a:r>
                  <a:rPr lang="en-US" altLang="ko-KR" sz="1400" dirty="0">
                    <a:latin typeface="SamsungOne 700" panose="020B0803030303020204" pitchFamily="34" charset="0"/>
                    <a:ea typeface="SamsungOne 700" panose="020B0803030303020204" pitchFamily="34" charset="0"/>
                    <a:cs typeface="Times New Roman" panose="02020603050405020304" pitchFamily="18" charset="0"/>
                  </a:rPr>
                  <a:t>Support vectors</a:t>
                </a:r>
                <a:endParaRPr lang="en-US" sz="1400" dirty="0">
                  <a:latin typeface="SamsungOne 700" panose="020B0803030303020204" pitchFamily="34" charset="0"/>
                  <a:ea typeface="SamsungOne 700" panose="020B0803030303020204" pitchFamily="34" charset="0"/>
                  <a:cs typeface="Times New Roman" panose="02020603050405020304" pitchFamily="18" charset="0"/>
                </a:endParaRPr>
              </a:p>
            </p:txBody>
          </p:sp>
          <p:sp>
            <p:nvSpPr>
              <p:cNvPr id="65" name="화살표: 아래쪽 64">
                <a:extLst>
                  <a:ext uri="{FF2B5EF4-FFF2-40B4-BE49-F238E27FC236}">
                    <a16:creationId xmlns:a16="http://schemas.microsoft.com/office/drawing/2014/main" id="{76CA46F5-2D49-421F-977E-7B0D16C7E129}"/>
                  </a:ext>
                </a:extLst>
              </p:cNvPr>
              <p:cNvSpPr/>
              <p:nvPr/>
            </p:nvSpPr>
            <p:spPr>
              <a:xfrm rot="14021700" flipV="1">
                <a:off x="5788861" y="4079615"/>
                <a:ext cx="132165" cy="665864"/>
              </a:xfrm>
              <a:prstGeom prst="downArrow">
                <a:avLst/>
              </a:prstGeom>
              <a:gradFill>
                <a:gsLst>
                  <a:gs pos="0">
                    <a:schemeClr val="bg1"/>
                  </a:gs>
                  <a:gs pos="100000">
                    <a:srgbClr val="FF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0" name="TextBox 59">
              <a:extLst>
                <a:ext uri="{FF2B5EF4-FFF2-40B4-BE49-F238E27FC236}">
                  <a16:creationId xmlns:a16="http://schemas.microsoft.com/office/drawing/2014/main" id="{C00EEA01-BE81-4367-96E2-CD851CEE4A99}"/>
                </a:ext>
              </a:extLst>
            </p:cNvPr>
            <p:cNvSpPr txBox="1"/>
            <p:nvPr/>
          </p:nvSpPr>
          <p:spPr>
            <a:xfrm>
              <a:off x="5976238" y="4024701"/>
              <a:ext cx="1115134" cy="307777"/>
            </a:xfrm>
            <a:prstGeom prst="rect">
              <a:avLst/>
            </a:prstGeom>
            <a:noFill/>
          </p:spPr>
          <p:txBody>
            <a:bodyPr wrap="square" rtlCol="0">
              <a:spAutoFit/>
            </a:bodyPr>
            <a:lstStyle/>
            <a:p>
              <a:pPr algn="ctr"/>
              <a:r>
                <a:rPr lang="en-US" sz="1400" dirty="0">
                  <a:latin typeface="SamsungOne 700" panose="020B0803030303020204" pitchFamily="34" charset="0"/>
                  <a:ea typeface="SamsungOne 700" panose="020B0803030303020204" pitchFamily="34" charset="0"/>
                  <a:cs typeface="Times New Roman" panose="02020603050405020304" pitchFamily="18" charset="0"/>
                </a:rPr>
                <a:t>Boundary</a:t>
              </a:r>
            </a:p>
          </p:txBody>
        </p:sp>
      </p:grpSp>
    </p:spTree>
    <p:extLst>
      <p:ext uri="{BB962C8B-B14F-4D97-AF65-F5344CB8AC3E}">
        <p14:creationId xmlns:p14="http://schemas.microsoft.com/office/powerpoint/2010/main" val="3183300652"/>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7.1. SVM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07</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E767A8E2-6FB8-4337-838A-D76295D5F77F}"/>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Hyperplane</a:t>
            </a:r>
          </a:p>
        </p:txBody>
      </p:sp>
      <p:sp>
        <p:nvSpPr>
          <p:cNvPr id="29" name="직사각형 28">
            <a:extLst>
              <a:ext uri="{FF2B5EF4-FFF2-40B4-BE49-F238E27FC236}">
                <a16:creationId xmlns:a16="http://schemas.microsoft.com/office/drawing/2014/main" id="{04A38E18-3E67-41F7-902E-B9A07DFF9D50}"/>
              </a:ext>
            </a:extLst>
          </p:cNvPr>
          <p:cNvSpPr/>
          <p:nvPr/>
        </p:nvSpPr>
        <p:spPr>
          <a:xfrm>
            <a:off x="671261" y="1700808"/>
            <a:ext cx="8672764"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For a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𝑘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dimensional configurational space, the hyperplane has the dimension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𝑘−</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a:rPr>
              <a:t>1.</a:t>
            </a:r>
          </a:p>
        </p:txBody>
      </p:sp>
      <p:grpSp>
        <p:nvGrpSpPr>
          <p:cNvPr id="3" name="그룹 2">
            <a:extLst>
              <a:ext uri="{FF2B5EF4-FFF2-40B4-BE49-F238E27FC236}">
                <a16:creationId xmlns:a16="http://schemas.microsoft.com/office/drawing/2014/main" id="{B5DDFA9C-EAFF-4C43-91B8-B9BFCFF0DA1C}"/>
              </a:ext>
            </a:extLst>
          </p:cNvPr>
          <p:cNvGrpSpPr/>
          <p:nvPr/>
        </p:nvGrpSpPr>
        <p:grpSpPr>
          <a:xfrm>
            <a:off x="850766" y="2009838"/>
            <a:ext cx="8493259" cy="2772735"/>
            <a:chOff x="850766" y="2009838"/>
            <a:chExt cx="8493259" cy="2772735"/>
          </a:xfrm>
        </p:grpSpPr>
        <p:sp>
          <p:nvSpPr>
            <p:cNvPr id="31" name="직사각형 30">
              <a:extLst>
                <a:ext uri="{FF2B5EF4-FFF2-40B4-BE49-F238E27FC236}">
                  <a16:creationId xmlns:a16="http://schemas.microsoft.com/office/drawing/2014/main" id="{35647D8A-7EAE-48E8-9098-97320CD3DF50}"/>
                </a:ext>
              </a:extLst>
            </p:cNvPr>
            <p:cNvSpPr/>
            <p:nvPr/>
          </p:nvSpPr>
          <p:spPr>
            <a:xfrm>
              <a:off x="1226264" y="2009838"/>
              <a:ext cx="811776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indent="14288">
                <a:spcAft>
                  <a:spcPts val="800"/>
                </a:spcAft>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For a two dimensional space, a hyperplane is a bisecting line that can be parametrized as:</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sym typeface="Symbol" panose="05050102010706020507" pitchFamily="18" charset="2"/>
              </a:endParaRPr>
            </a:p>
          </p:txBody>
        </p:sp>
        <p:sp>
          <p:nvSpPr>
            <p:cNvPr id="30" name="사각형: 둥근 모서리 2">
              <a:extLst>
                <a:ext uri="{FF2B5EF4-FFF2-40B4-BE49-F238E27FC236}">
                  <a16:creationId xmlns:a16="http://schemas.microsoft.com/office/drawing/2014/main" id="{36A96043-23EE-47D3-9D31-7812D35BF355}"/>
                </a:ext>
              </a:extLst>
            </p:cNvPr>
            <p:cNvSpPr/>
            <p:nvPr/>
          </p:nvSpPr>
          <p:spPr>
            <a:xfrm>
              <a:off x="850766" y="2070735"/>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mc:AlternateContent xmlns:mc="http://schemas.openxmlformats.org/markup-compatibility/2006" xmlns:a14="http://schemas.microsoft.com/office/drawing/2010/main">
          <mc:Choice Requires="a14">
            <p:sp>
              <p:nvSpPr>
                <p:cNvPr id="32" name="직사각형 31">
                  <a:extLst>
                    <a:ext uri="{FF2B5EF4-FFF2-40B4-BE49-F238E27FC236}">
                      <a16:creationId xmlns:a16="http://schemas.microsoft.com/office/drawing/2014/main" id="{236640E5-1BE5-464E-8E77-76B1556CCD58}"/>
                    </a:ext>
                  </a:extLst>
                </p:cNvPr>
                <p:cNvSpPr/>
                <p:nvPr/>
              </p:nvSpPr>
              <p:spPr>
                <a:xfrm>
                  <a:off x="3947950" y="2456579"/>
                  <a:ext cx="2006923" cy="41549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lgn="just">
                    <a:lnSpc>
                      <a:spcPct val="150000"/>
                    </a:lnSpc>
                  </a:pPr>
                  <a14:m>
                    <m:oMathPara xmlns:m="http://schemas.openxmlformats.org/officeDocument/2006/math">
                      <m:oMathParaPr>
                        <m:jc m:val="centerGroup"/>
                      </m:oMathParaPr>
                      <m:oMath xmlns:m="http://schemas.openxmlformats.org/officeDocument/2006/math">
                        <m:sSub>
                          <m:sSubPr>
                            <m:ctrlP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ko-KR" altLang="en-US" sz="1400" i="1">
                                <a:solidFill>
                                  <a:schemeClr val="tx1">
                                    <a:lumMod val="85000"/>
                                    <a:lumOff val="15000"/>
                                  </a:schemeClr>
                                </a:solidFill>
                                <a:latin typeface="Cambria Math" panose="02040503050406030204" pitchFamily="18" charset="0"/>
                                <a:cs typeface="Times New Roman" panose="02020603050405020304" pitchFamily="18" charset="0"/>
                              </a:rPr>
                              <m:t>𝛽</m:t>
                            </m:r>
                          </m:e>
                          <m: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0</m:t>
                            </m:r>
                          </m:sub>
                        </m:s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m:t>
                        </m:r>
                        <m:sSub>
                          <m:sSubPr>
                            <m:ctrlP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ko-KR" altLang="en-US" sz="1400" i="1">
                                <a:solidFill>
                                  <a:schemeClr val="tx1">
                                    <a:lumMod val="85000"/>
                                    <a:lumOff val="15000"/>
                                  </a:schemeClr>
                                </a:solidFill>
                                <a:latin typeface="Cambria Math" panose="02040503050406030204" pitchFamily="18" charset="0"/>
                                <a:cs typeface="Times New Roman" panose="02020603050405020304" pitchFamily="18" charset="0"/>
                              </a:rPr>
                              <m:t>𝛽</m:t>
                            </m:r>
                          </m:e>
                          <m: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1</m:t>
                            </m:r>
                          </m:sub>
                        </m:sSub>
                        <m:sSub>
                          <m:sSubPr>
                            <m:ctrlP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𝑋</m:t>
                            </m:r>
                          </m:e>
                          <m: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1</m:t>
                            </m:r>
                          </m:sub>
                        </m:s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m:t>
                        </m:r>
                        <m:sSub>
                          <m:sSubPr>
                            <m:ctrlP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ko-KR" altLang="en-US" sz="1400" i="1">
                                <a:solidFill>
                                  <a:schemeClr val="tx1">
                                    <a:lumMod val="85000"/>
                                    <a:lumOff val="15000"/>
                                  </a:schemeClr>
                                </a:solidFill>
                                <a:latin typeface="Cambria Math" panose="02040503050406030204" pitchFamily="18" charset="0"/>
                                <a:cs typeface="Times New Roman" panose="02020603050405020304" pitchFamily="18" charset="0"/>
                              </a:rPr>
                              <m:t>𝛽</m:t>
                            </m:r>
                          </m:e>
                          <m: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2</m:t>
                            </m:r>
                          </m:sub>
                        </m:sSub>
                        <m:sSub>
                          <m:sSubPr>
                            <m:ctrlP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𝑋</m:t>
                            </m:r>
                          </m:e>
                          <m: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2</m:t>
                            </m:r>
                          </m:sub>
                        </m:s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=0</m:t>
                        </m:r>
                      </m:oMath>
                    </m:oMathPara>
                  </a14:m>
                  <a:endPar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endParaRPr>
                </a:p>
              </p:txBody>
            </p:sp>
          </mc:Choice>
          <mc:Fallback xmlns="">
            <p:sp>
              <p:nvSpPr>
                <p:cNvPr id="32" name="직사각형 31">
                  <a:extLst>
                    <a:ext uri="{FF2B5EF4-FFF2-40B4-BE49-F238E27FC236}">
                      <a16:creationId xmlns:a16="http://schemas.microsoft.com/office/drawing/2014/main" xmlns="" xmlns:a14="http://schemas.microsoft.com/office/drawing/2010/main" id="{236640E5-1BE5-464E-8E77-76B1556CCD58}"/>
                    </a:ext>
                  </a:extLst>
                </p:cNvPr>
                <p:cNvSpPr>
                  <a:spLocks noRot="1" noChangeAspect="1" noMove="1" noResize="1" noEditPoints="1" noAdjustHandles="1" noChangeArrowheads="1" noChangeShapeType="1" noTextEdit="1"/>
                </p:cNvSpPr>
                <p:nvPr/>
              </p:nvSpPr>
              <p:spPr>
                <a:xfrm>
                  <a:off x="3947950" y="2456579"/>
                  <a:ext cx="2006923" cy="415498"/>
                </a:xfrm>
                <a:prstGeom prst="rect">
                  <a:avLst/>
                </a:prstGeom>
                <a:blipFill rotWithShape="0">
                  <a:blip r:embed="rId4"/>
                  <a:stretch>
                    <a:fillRect/>
                  </a:stretch>
                </a:blipFill>
                <a:ln>
                  <a:noFill/>
                </a:ln>
              </p:spPr>
              <p:txBody>
                <a:bodyPr/>
                <a:lstStyle/>
                <a:p>
                  <a:r>
                    <a:rPr lang="ko-KR" altLang="en-US">
                      <a:noFill/>
                    </a:rPr>
                    <a:t> </a:t>
                  </a:r>
                </a:p>
              </p:txBody>
            </p:sp>
          </mc:Fallback>
        </mc:AlternateContent>
        <p:sp>
          <p:nvSpPr>
            <p:cNvPr id="33" name="직사각형 32">
              <a:extLst>
                <a:ext uri="{FF2B5EF4-FFF2-40B4-BE49-F238E27FC236}">
                  <a16:creationId xmlns:a16="http://schemas.microsoft.com/office/drawing/2014/main" id="{AAEF18B6-1A23-4984-AF16-6FB59B42CEC2}"/>
                </a:ext>
              </a:extLst>
            </p:cNvPr>
            <p:cNvSpPr/>
            <p:nvPr/>
          </p:nvSpPr>
          <p:spPr>
            <a:xfrm>
              <a:off x="1226264" y="3066332"/>
              <a:ext cx="811776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indent="14288">
                <a:spcAft>
                  <a:spcPts val="800"/>
                </a:spcAft>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The two dimensional space is subdivided into two:</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sym typeface="Symbol" panose="05050102010706020507" pitchFamily="18" charset="2"/>
              </a:endParaRPr>
            </a:p>
          </p:txBody>
        </p:sp>
        <mc:AlternateContent xmlns:mc="http://schemas.openxmlformats.org/markup-compatibility/2006" xmlns:a14="http://schemas.microsoft.com/office/drawing/2010/main">
          <mc:Choice Requires="a14">
            <p:sp>
              <p:nvSpPr>
                <p:cNvPr id="34" name="직사각형 33">
                  <a:extLst>
                    <a:ext uri="{FF2B5EF4-FFF2-40B4-BE49-F238E27FC236}">
                      <a16:creationId xmlns:a16="http://schemas.microsoft.com/office/drawing/2014/main" id="{9D7198B0-CED9-41D1-8C47-08B35D8BB371}"/>
                    </a:ext>
                  </a:extLst>
                </p:cNvPr>
                <p:cNvSpPr/>
                <p:nvPr/>
              </p:nvSpPr>
              <p:spPr>
                <a:xfrm>
                  <a:off x="3947950" y="3500400"/>
                  <a:ext cx="2006923" cy="7386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44000" rIns="144000" rtlCol="0" anchor="ctr" anchorCtr="0">
                  <a:spAutoFit/>
                </a:bodyPr>
                <a:lstStyle/>
                <a:p>
                  <a:pPr algn="just">
                    <a:lnSpc>
                      <a:spcPct val="150000"/>
                    </a:lnSpc>
                  </a:pPr>
                  <a14:m>
                    <m:oMathPara xmlns:m="http://schemas.openxmlformats.org/officeDocument/2006/math">
                      <m:oMathParaPr>
                        <m:jc m:val="centerGroup"/>
                      </m:oMathParaPr>
                      <m:oMath xmlns:m="http://schemas.openxmlformats.org/officeDocument/2006/math">
                        <m:sSub>
                          <m:sSubPr>
                            <m:ctrlP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ko-KR" altLang="en-US" sz="1400" i="1">
                                <a:solidFill>
                                  <a:schemeClr val="tx1">
                                    <a:lumMod val="85000"/>
                                    <a:lumOff val="15000"/>
                                  </a:schemeClr>
                                </a:solidFill>
                                <a:latin typeface="Cambria Math" panose="02040503050406030204" pitchFamily="18" charset="0"/>
                                <a:cs typeface="Times New Roman" panose="02020603050405020304" pitchFamily="18" charset="0"/>
                              </a:rPr>
                              <m:t>𝛽</m:t>
                            </m:r>
                          </m:e>
                          <m: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0</m:t>
                            </m:r>
                          </m:sub>
                        </m:s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m:t>
                        </m:r>
                        <m:sSub>
                          <m:sSubPr>
                            <m:ctrlP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ko-KR" altLang="en-US" sz="1400" i="1">
                                <a:solidFill>
                                  <a:schemeClr val="tx1">
                                    <a:lumMod val="85000"/>
                                    <a:lumOff val="15000"/>
                                  </a:schemeClr>
                                </a:solidFill>
                                <a:latin typeface="Cambria Math" panose="02040503050406030204" pitchFamily="18" charset="0"/>
                                <a:cs typeface="Times New Roman" panose="02020603050405020304" pitchFamily="18" charset="0"/>
                              </a:rPr>
                              <m:t>𝛽</m:t>
                            </m:r>
                          </m:e>
                          <m: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1</m:t>
                            </m:r>
                          </m:sub>
                        </m:sSub>
                        <m:sSub>
                          <m:sSubPr>
                            <m:ctrlP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𝑋</m:t>
                            </m:r>
                          </m:e>
                          <m: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1</m:t>
                            </m:r>
                          </m:sub>
                        </m:s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m:t>
                        </m:r>
                        <m:sSub>
                          <m:sSubPr>
                            <m:ctrlP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ko-KR" altLang="en-US" sz="1400" i="1">
                                <a:solidFill>
                                  <a:schemeClr val="tx1">
                                    <a:lumMod val="85000"/>
                                    <a:lumOff val="15000"/>
                                  </a:schemeClr>
                                </a:solidFill>
                                <a:latin typeface="Cambria Math" panose="02040503050406030204" pitchFamily="18" charset="0"/>
                                <a:cs typeface="Times New Roman" panose="02020603050405020304" pitchFamily="18" charset="0"/>
                              </a:rPr>
                              <m:t>𝛽</m:t>
                            </m:r>
                          </m:e>
                          <m: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2</m:t>
                            </m:r>
                          </m:sub>
                        </m:sSub>
                        <m:sSub>
                          <m:sSubPr>
                            <m:ctrlP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𝑋</m:t>
                            </m:r>
                          </m:e>
                          <m: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2</m:t>
                            </m:r>
                          </m:sub>
                        </m:s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&gt;0</m:t>
                        </m:r>
                      </m:oMath>
                    </m:oMathPara>
                  </a14:m>
                  <a:endPar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ko-KR" altLang="en-US" sz="1400" i="1">
                                <a:solidFill>
                                  <a:schemeClr val="tx1">
                                    <a:lumMod val="85000"/>
                                    <a:lumOff val="15000"/>
                                  </a:schemeClr>
                                </a:solidFill>
                                <a:latin typeface="Cambria Math" panose="02040503050406030204" pitchFamily="18" charset="0"/>
                                <a:cs typeface="Times New Roman" panose="02020603050405020304" pitchFamily="18" charset="0"/>
                              </a:rPr>
                              <m:t>𝛽</m:t>
                            </m:r>
                          </m:e>
                          <m: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0</m:t>
                            </m:r>
                          </m:sub>
                        </m:s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m:t>
                        </m:r>
                        <m:sSub>
                          <m:sSubPr>
                            <m:ctrlP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ko-KR" altLang="en-US" sz="1400" i="1">
                                <a:solidFill>
                                  <a:schemeClr val="tx1">
                                    <a:lumMod val="85000"/>
                                    <a:lumOff val="15000"/>
                                  </a:schemeClr>
                                </a:solidFill>
                                <a:latin typeface="Cambria Math" panose="02040503050406030204" pitchFamily="18" charset="0"/>
                                <a:cs typeface="Times New Roman" panose="02020603050405020304" pitchFamily="18" charset="0"/>
                              </a:rPr>
                              <m:t>𝛽</m:t>
                            </m:r>
                          </m:e>
                          <m: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1</m:t>
                            </m:r>
                          </m:sub>
                        </m:sSub>
                        <m:sSub>
                          <m:sSubPr>
                            <m:ctrlP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𝑋</m:t>
                            </m:r>
                          </m:e>
                          <m: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1</m:t>
                            </m:r>
                          </m:sub>
                        </m:s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m:t>
                        </m:r>
                        <m:sSub>
                          <m:sSubPr>
                            <m:ctrlP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ko-KR" altLang="en-US" sz="1400" i="1">
                                <a:solidFill>
                                  <a:schemeClr val="tx1">
                                    <a:lumMod val="85000"/>
                                    <a:lumOff val="15000"/>
                                  </a:schemeClr>
                                </a:solidFill>
                                <a:latin typeface="Cambria Math" panose="02040503050406030204" pitchFamily="18" charset="0"/>
                                <a:cs typeface="Times New Roman" panose="02020603050405020304" pitchFamily="18" charset="0"/>
                              </a:rPr>
                              <m:t>𝛽</m:t>
                            </m:r>
                          </m:e>
                          <m: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2</m:t>
                            </m:r>
                          </m:sub>
                        </m:sSub>
                        <m:sSub>
                          <m:sSubPr>
                            <m:ctrlP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𝑋</m:t>
                            </m:r>
                          </m:e>
                          <m: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2</m:t>
                            </m:r>
                          </m:sub>
                        </m:sSub>
                        <m:r>
                          <a:rPr lang="en-US" altLang="ko-KR" sz="1400" i="1">
                            <a:solidFill>
                              <a:schemeClr val="tx1">
                                <a:lumMod val="85000"/>
                                <a:lumOff val="15000"/>
                              </a:schemeClr>
                            </a:solidFill>
                            <a:latin typeface="Cambria Math" panose="02040503050406030204" pitchFamily="18" charset="0"/>
                            <a:cs typeface="Times New Roman" panose="02020603050405020304" pitchFamily="18" charset="0"/>
                          </a:rPr>
                          <m:t>&lt;0</m:t>
                        </m:r>
                      </m:oMath>
                    </m:oMathPara>
                  </a14:m>
                  <a:endPar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endParaRPr>
                </a:p>
              </p:txBody>
            </p:sp>
          </mc:Choice>
          <mc:Fallback xmlns="">
            <p:sp>
              <p:nvSpPr>
                <p:cNvPr id="34" name="직사각형 33">
                  <a:extLst>
                    <a:ext uri="{FF2B5EF4-FFF2-40B4-BE49-F238E27FC236}">
                      <a16:creationId xmlns:a16="http://schemas.microsoft.com/office/drawing/2014/main" xmlns="" xmlns:a14="http://schemas.microsoft.com/office/drawing/2010/main" id="{9D7198B0-CED9-41D1-8C47-08B35D8BB371}"/>
                    </a:ext>
                  </a:extLst>
                </p:cNvPr>
                <p:cNvSpPr>
                  <a:spLocks noRot="1" noChangeAspect="1" noMove="1" noResize="1" noEditPoints="1" noAdjustHandles="1" noChangeArrowheads="1" noChangeShapeType="1" noTextEdit="1"/>
                </p:cNvSpPr>
                <p:nvPr/>
              </p:nvSpPr>
              <p:spPr>
                <a:xfrm>
                  <a:off x="3947950" y="3500400"/>
                  <a:ext cx="2006923" cy="738664"/>
                </a:xfrm>
                <a:prstGeom prst="rect">
                  <a:avLst/>
                </a:prstGeom>
                <a:blipFill rotWithShape="0">
                  <a:blip r:embed="rId5"/>
                  <a:stretch>
                    <a:fillRect/>
                  </a:stretch>
                </a:blipFill>
                <a:ln>
                  <a:noFill/>
                </a:ln>
              </p:spPr>
              <p:txBody>
                <a:bodyPr/>
                <a:lstStyle/>
                <a:p>
                  <a:r>
                    <a:rPr lang="ko-KR" altLang="en-US">
                      <a:noFill/>
                    </a:rPr>
                    <a:t> </a:t>
                  </a:r>
                </a:p>
              </p:txBody>
            </p:sp>
          </mc:Fallback>
        </mc:AlternateContent>
        <p:sp>
          <p:nvSpPr>
            <p:cNvPr id="35" name="직사각형 34">
              <a:extLst>
                <a:ext uri="{FF2B5EF4-FFF2-40B4-BE49-F238E27FC236}">
                  <a16:creationId xmlns:a16="http://schemas.microsoft.com/office/drawing/2014/main" id="{889F96DA-2B6D-4AC8-BBBC-D5C39C3F0FAE}"/>
                </a:ext>
              </a:extLst>
            </p:cNvPr>
            <p:cNvSpPr/>
            <p:nvPr/>
          </p:nvSpPr>
          <p:spPr>
            <a:xfrm>
              <a:off x="1226264" y="4437112"/>
              <a:ext cx="811776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indent="14288">
                <a:spcAft>
                  <a:spcPts val="800"/>
                </a:spcAft>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An observation would belong to either one of </a:t>
              </a:r>
              <a:r>
                <a:rPr lang="en-US" altLang="ko-KR" sz="130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them </a:t>
              </a:r>
              <a:r>
                <a:rPr lang="en-US" altLang="ko-KR" sz="1300">
                  <a:solidFill>
                    <a:srgbClr val="193EB0"/>
                  </a:solidFill>
                  <a:latin typeface="SamsungOne 700" panose="020B0803030303020204" pitchFamily="34" charset="0"/>
                  <a:ea typeface="SamsungOne 700" panose="020B0803030303020204" pitchFamily="34" charset="0"/>
                  <a:sym typeface="Symbol" panose="05050102010706020507" pitchFamily="18" charset="2"/>
                </a:rPr>
                <a:t>⇨</a:t>
              </a:r>
              <a:r>
                <a:rPr lang="en-US" altLang="ko-KR" sz="130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panose="05050102010706020507" pitchFamily="18" charset="2"/>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sym typeface="Symbol" panose="05050102010706020507" pitchFamily="18" charset="2"/>
                </a:rPr>
                <a:t>b</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inary classification!</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sym typeface="Symbol" panose="05050102010706020507" pitchFamily="18" charset="2"/>
              </a:endParaRPr>
            </a:p>
          </p:txBody>
        </p:sp>
      </p:grpSp>
    </p:spTree>
    <p:extLst>
      <p:ext uri="{BB962C8B-B14F-4D97-AF65-F5344CB8AC3E}">
        <p14:creationId xmlns:p14="http://schemas.microsoft.com/office/powerpoint/2010/main" val="2201667420"/>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7.1. SVM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07</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E767A8E2-6FB8-4337-838A-D76295D5F77F}"/>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Margin optimization (for the binary </a:t>
            </a:r>
            <a:r>
              <a:rPr lang="ko-KR" altLang="en-US" sz="1400" dirty="0">
                <a:solidFill>
                  <a:schemeClr val="tx1"/>
                </a:solidFill>
                <a:latin typeface="SamsungOne 400" panose="020B0503030303020204" pitchFamily="34" charset="0"/>
                <a:ea typeface="SamsungOne 400" panose="020B0503030303020204" pitchFamily="34" charset="0"/>
              </a:rPr>
              <a:t>𝑦</a:t>
            </a:r>
            <a:r>
              <a:rPr lang="en-US" altLang="ko-KR" sz="1400" dirty="0">
                <a:solidFill>
                  <a:schemeClr val="tx1"/>
                </a:solidFill>
                <a:latin typeface="SamsungOne 400" panose="020B0503030303020204" pitchFamily="34" charset="0"/>
                <a:ea typeface="SamsungOne 400" panose="020B0503030303020204" pitchFamily="34" charset="0"/>
              </a:rPr>
              <a:t>)</a:t>
            </a:r>
          </a:p>
        </p:txBody>
      </p:sp>
      <mc:AlternateContent xmlns:mc="http://schemas.openxmlformats.org/markup-compatibility/2006" xmlns:a14="http://schemas.microsoft.com/office/drawing/2010/main">
        <mc:Choice Requires="a14">
          <p:sp>
            <p:nvSpPr>
              <p:cNvPr id="29" name="직사각형 28">
                <a:extLst>
                  <a:ext uri="{FF2B5EF4-FFF2-40B4-BE49-F238E27FC236}">
                    <a16:creationId xmlns:a16="http://schemas.microsoft.com/office/drawing/2014/main" id="{04A38E18-3E67-41F7-902E-B9A07DFF9D50}"/>
                  </a:ext>
                </a:extLst>
              </p:cNvPr>
              <p:cNvSpPr/>
              <p:nvPr/>
            </p:nvSpPr>
            <p:spPr>
              <a:xfrm>
                <a:off x="671261" y="1700808"/>
                <a:ext cx="8672764" cy="23443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boundary margin is maximized.</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a clear margin is not possible to establish, an error is allowed within a limit.</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sym typeface="Symbol" panose="05050102010706020507" pitchFamily="18" charset="2"/>
                  </a:rPr>
                  <a:t>Target is to maximize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14:m>
                  <m:oMath xmlns:m="http://schemas.openxmlformats.org/officeDocument/2006/math">
                    <m:r>
                      <a:rPr lang="en-US" altLang="ko-KR" sz="1300" dirty="0">
                        <a:solidFill>
                          <a:schemeClr val="tx1">
                            <a:lumMod val="85000"/>
                            <a:lumOff val="15000"/>
                          </a:schemeClr>
                        </a:solidFill>
                        <a:latin typeface="Cambria Math" panose="02040503050406030204" pitchFamily="18" charset="0"/>
                      </a:rPr>
                      <m:t>𝑀</m:t>
                    </m:r>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by optimizing the p</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sym typeface="Symbol" panose="05050102010706020507" pitchFamily="18" charset="2"/>
                  </a:rPr>
                  <a:t>arameters </a:t>
                </a:r>
                <a14:m>
                  <m:oMath xmlns:m="http://schemas.openxmlformats.org/officeDocument/2006/math">
                    <m:sSub>
                      <m:sSubPr>
                        <m:ctrlPr>
                          <a:rPr lang="en-US" altLang="ko-KR" sz="1300" i="1">
                            <a:solidFill>
                              <a:schemeClr val="tx1">
                                <a:lumMod val="85000"/>
                                <a:lumOff val="15000"/>
                              </a:schemeClr>
                            </a:solidFill>
                            <a:latin typeface="Cambria Math" panose="02040503050406030204" pitchFamily="18" charset="0"/>
                          </a:rPr>
                        </m:ctrlPr>
                      </m:sSubPr>
                      <m:e>
                        <m:r>
                          <a:rPr lang="ko-KR" altLang="en-US" sz="1300">
                            <a:solidFill>
                              <a:schemeClr val="tx1">
                                <a:lumMod val="85000"/>
                                <a:lumOff val="15000"/>
                              </a:schemeClr>
                            </a:solidFill>
                            <a:latin typeface="Cambria Math" panose="02040503050406030204" pitchFamily="18" charset="0"/>
                          </a:rPr>
                          <m:t>𝛽</m:t>
                        </m:r>
                      </m:e>
                      <m:sub>
                        <m:r>
                          <a:rPr lang="en-US" altLang="ko-KR" sz="1300">
                            <a:solidFill>
                              <a:schemeClr val="tx1">
                                <a:lumMod val="85000"/>
                                <a:lumOff val="15000"/>
                              </a:schemeClr>
                            </a:solidFill>
                            <a:latin typeface="Cambria Math" panose="02040503050406030204" pitchFamily="18" charset="0"/>
                          </a:rPr>
                          <m:t>0</m:t>
                        </m:r>
                      </m:sub>
                    </m:sSub>
                    <m:r>
                      <a:rPr lang="en-US" altLang="ko-KR" sz="1300">
                        <a:solidFill>
                          <a:schemeClr val="tx1">
                            <a:lumMod val="85000"/>
                            <a:lumOff val="15000"/>
                          </a:schemeClr>
                        </a:solidFill>
                        <a:latin typeface="Cambria Math" panose="02040503050406030204" pitchFamily="18" charset="0"/>
                      </a:rPr>
                      <m:t>,</m:t>
                    </m:r>
                    <m:sSub>
                      <m:sSubPr>
                        <m:ctrlPr>
                          <a:rPr lang="en-US" altLang="ko-KR" sz="1300" i="1">
                            <a:solidFill>
                              <a:schemeClr val="tx1">
                                <a:lumMod val="85000"/>
                                <a:lumOff val="15000"/>
                              </a:schemeClr>
                            </a:solidFill>
                            <a:latin typeface="Cambria Math" panose="02040503050406030204" pitchFamily="18" charset="0"/>
                          </a:rPr>
                        </m:ctrlPr>
                      </m:sSubPr>
                      <m:e>
                        <m:r>
                          <a:rPr lang="ko-KR" altLang="en-US" sz="1300">
                            <a:solidFill>
                              <a:schemeClr val="tx1">
                                <a:lumMod val="85000"/>
                                <a:lumOff val="15000"/>
                              </a:schemeClr>
                            </a:solidFill>
                            <a:latin typeface="Cambria Math" panose="02040503050406030204" pitchFamily="18" charset="0"/>
                          </a:rPr>
                          <m:t>𝛽</m:t>
                        </m:r>
                      </m:e>
                      <m:sub>
                        <m:r>
                          <a:rPr lang="en-US" altLang="ko-KR" sz="1300">
                            <a:solidFill>
                              <a:schemeClr val="tx1">
                                <a:lumMod val="85000"/>
                                <a:lumOff val="15000"/>
                              </a:schemeClr>
                            </a:solidFill>
                            <a:latin typeface="Cambria Math" panose="02040503050406030204" pitchFamily="18" charset="0"/>
                          </a:rPr>
                          <m:t>1</m:t>
                        </m:r>
                      </m:sub>
                    </m:sSub>
                    <m:r>
                      <a:rPr lang="en-US" altLang="ko-KR" sz="1300">
                        <a:solidFill>
                          <a:schemeClr val="tx1">
                            <a:lumMod val="85000"/>
                            <a:lumOff val="15000"/>
                          </a:schemeClr>
                        </a:solidFill>
                        <a:latin typeface="Cambria Math" panose="02040503050406030204" pitchFamily="18" charset="0"/>
                      </a:rPr>
                      <m:t>,…,</m:t>
                    </m:r>
                    <m:sSub>
                      <m:sSubPr>
                        <m:ctrlPr>
                          <a:rPr lang="en-US" altLang="ko-KR" sz="1300" i="1">
                            <a:solidFill>
                              <a:schemeClr val="tx1">
                                <a:lumMod val="85000"/>
                                <a:lumOff val="15000"/>
                              </a:schemeClr>
                            </a:solidFill>
                            <a:latin typeface="Cambria Math" panose="02040503050406030204" pitchFamily="18" charset="0"/>
                          </a:rPr>
                        </m:ctrlPr>
                      </m:sSubPr>
                      <m:e>
                        <m:r>
                          <a:rPr lang="ko-KR" altLang="en-US" sz="1300">
                            <a:solidFill>
                              <a:schemeClr val="tx1">
                                <a:lumMod val="85000"/>
                                <a:lumOff val="15000"/>
                              </a:schemeClr>
                            </a:solidFill>
                            <a:latin typeface="Cambria Math" panose="02040503050406030204" pitchFamily="18" charset="0"/>
                          </a:rPr>
                          <m:t>𝛽</m:t>
                        </m:r>
                      </m:e>
                      <m:sub>
                        <m:r>
                          <a:rPr lang="en-US" altLang="ko-KR" sz="1300">
                            <a:solidFill>
                              <a:schemeClr val="tx1">
                                <a:lumMod val="85000"/>
                                <a:lumOff val="15000"/>
                              </a:schemeClr>
                            </a:solidFill>
                            <a:latin typeface="Cambria Math" panose="02040503050406030204" pitchFamily="18" charset="0"/>
                          </a:rPr>
                          <m:t>𝑘</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subject to the constraints</a:t>
                </a: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a:t>
                </a:r>
              </a:p>
              <a:p>
                <a:pPr marL="361950" lvl="1" indent="-180975">
                  <a:spcAft>
                    <a:spcPts val="800"/>
                  </a:spcAft>
                  <a:buClr>
                    <a:srgbClr val="193EB0"/>
                  </a:buClr>
                  <a:buFont typeface="Arial" panose="020B0604020202020204" pitchFamily="34" charset="0"/>
                  <a:buChar char="•"/>
                </a:pPr>
                <a:r>
                  <a:rPr lang="en-US" altLang="ko-KR" sz="1300" b="1" dirty="0">
                    <a:solidFill>
                      <a:srgbClr val="1429A0"/>
                    </a:solidFill>
                    <a:latin typeface="SamsungOne 400" panose="020B0503030303020204" pitchFamily="34" charset="0"/>
                  </a:rPr>
                  <a:t>Constraint 1:  </a:t>
                </a:r>
                <a14:m>
                  <m:oMath xmlns:m="http://schemas.openxmlformats.org/officeDocument/2006/math">
                    <m:nary>
                      <m:naryPr>
                        <m:chr m:val="∑"/>
                        <m:ctrlPr>
                          <a:rPr lang="en-US" altLang="ko-KR" sz="1300" i="1" smtClean="0">
                            <a:solidFill>
                              <a:schemeClr val="tx1">
                                <a:lumMod val="85000"/>
                                <a:lumOff val="15000"/>
                              </a:schemeClr>
                            </a:solidFill>
                            <a:latin typeface="Cambria Math" panose="02040503050406030204" pitchFamily="18" charset="0"/>
                          </a:rPr>
                        </m:ctrlPr>
                      </m:naryPr>
                      <m:sub>
                        <m:r>
                          <a:rPr lang="en-US" altLang="ko-KR" sz="1300">
                            <a:solidFill>
                              <a:schemeClr val="tx1">
                                <a:lumMod val="85000"/>
                                <a:lumOff val="15000"/>
                              </a:schemeClr>
                            </a:solidFill>
                            <a:latin typeface="Cambria Math" panose="02040503050406030204" pitchFamily="18" charset="0"/>
                          </a:rPr>
                          <m:t>𝑗</m:t>
                        </m:r>
                        <m:r>
                          <a:rPr lang="en-US" altLang="ko-KR" sz="1300">
                            <a:solidFill>
                              <a:schemeClr val="tx1">
                                <a:lumMod val="85000"/>
                                <a:lumOff val="15000"/>
                              </a:schemeClr>
                            </a:solidFill>
                            <a:latin typeface="Cambria Math" panose="02040503050406030204" pitchFamily="18" charset="0"/>
                          </a:rPr>
                          <m:t>=1</m:t>
                        </m:r>
                      </m:sub>
                      <m:sup>
                        <m:r>
                          <a:rPr lang="en-US" altLang="ko-KR" sz="1300">
                            <a:solidFill>
                              <a:schemeClr val="tx1">
                                <a:lumMod val="85000"/>
                                <a:lumOff val="15000"/>
                              </a:schemeClr>
                            </a:solidFill>
                            <a:latin typeface="Cambria Math" panose="02040503050406030204" pitchFamily="18" charset="0"/>
                          </a:rPr>
                          <m:t>𝑘</m:t>
                        </m:r>
                      </m:sup>
                      <m:e>
                        <m:sSup>
                          <m:sSupPr>
                            <m:ctrlPr>
                              <a:rPr lang="en-US" altLang="ko-KR" sz="1300" i="1">
                                <a:solidFill>
                                  <a:schemeClr val="tx1">
                                    <a:lumMod val="85000"/>
                                    <a:lumOff val="15000"/>
                                  </a:schemeClr>
                                </a:solidFill>
                                <a:latin typeface="Cambria Math" panose="02040503050406030204" pitchFamily="18" charset="0"/>
                              </a:rPr>
                            </m:ctrlPr>
                          </m:sSupPr>
                          <m:e>
                            <m:sSub>
                              <m:sSubPr>
                                <m:ctrlPr>
                                  <a:rPr lang="en-US" altLang="ko-KR" sz="1300" i="1">
                                    <a:solidFill>
                                      <a:schemeClr val="tx1">
                                        <a:lumMod val="85000"/>
                                        <a:lumOff val="15000"/>
                                      </a:schemeClr>
                                    </a:solidFill>
                                    <a:latin typeface="Cambria Math" panose="02040503050406030204" pitchFamily="18" charset="0"/>
                                  </a:rPr>
                                </m:ctrlPr>
                              </m:sSubPr>
                              <m:e>
                                <m:r>
                                  <a:rPr lang="ko-KR" altLang="en-US" sz="1300">
                                    <a:solidFill>
                                      <a:schemeClr val="tx1">
                                        <a:lumMod val="85000"/>
                                        <a:lumOff val="15000"/>
                                      </a:schemeClr>
                                    </a:solidFill>
                                    <a:latin typeface="Cambria Math" panose="02040503050406030204" pitchFamily="18" charset="0"/>
                                  </a:rPr>
                                  <m:t>𝛽</m:t>
                                </m:r>
                              </m:e>
                              <m:sub>
                                <m:r>
                                  <a:rPr lang="en-US" altLang="ko-KR" sz="1300">
                                    <a:solidFill>
                                      <a:schemeClr val="tx1">
                                        <a:lumMod val="85000"/>
                                        <a:lumOff val="15000"/>
                                      </a:schemeClr>
                                    </a:solidFill>
                                    <a:latin typeface="Cambria Math" panose="02040503050406030204" pitchFamily="18" charset="0"/>
                                  </a:rPr>
                                  <m:t>𝑗</m:t>
                                </m:r>
                              </m:sub>
                            </m:sSub>
                          </m:e>
                          <m:sup>
                            <m:r>
                              <a:rPr lang="en-US" altLang="ko-KR" sz="1300">
                                <a:solidFill>
                                  <a:schemeClr val="tx1">
                                    <a:lumMod val="85000"/>
                                    <a:lumOff val="15000"/>
                                  </a:schemeClr>
                                </a:solidFill>
                                <a:latin typeface="Cambria Math" panose="02040503050406030204" pitchFamily="18" charset="0"/>
                              </a:rPr>
                              <m:t>2</m:t>
                            </m:r>
                          </m:sup>
                        </m:sSup>
                      </m:e>
                    </m:nary>
                    <m:r>
                      <a:rPr lang="en-US" altLang="ko-KR" sz="1300">
                        <a:solidFill>
                          <a:schemeClr val="tx1">
                            <a:lumMod val="85000"/>
                            <a:lumOff val="15000"/>
                          </a:schemeClr>
                        </a:solidFill>
                        <a:latin typeface="Cambria Math" panose="02040503050406030204" pitchFamily="18" charset="0"/>
                      </a:rPr>
                      <m:t>=1</m:t>
                    </m:r>
                  </m:oMath>
                </a14:m>
                <a:endParaRPr lang="en-US" altLang="ko-KR" sz="1300" dirty="0">
                  <a:solidFill>
                    <a:schemeClr val="tx1">
                      <a:lumMod val="85000"/>
                      <a:lumOff val="15000"/>
                    </a:schemeClr>
                  </a:solidFill>
                  <a:latin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r>
                  <a:rPr lang="en-US" altLang="ko-KR" sz="1300" b="1" dirty="0">
                    <a:solidFill>
                      <a:srgbClr val="1429A0"/>
                    </a:solidFill>
                    <a:latin typeface="SamsungOne 400" panose="020B0503030303020204" pitchFamily="34" charset="0"/>
                  </a:rPr>
                  <a:t>Constraint 2:</a:t>
                </a:r>
                <a:r>
                  <a:rPr lang="en-US" altLang="ko-KR" sz="1300" dirty="0">
                    <a:solidFill>
                      <a:schemeClr val="tx1"/>
                    </a:solidFill>
                    <a:latin typeface="SamsungOne 400" panose="020B0503030303020204" pitchFamily="34" charset="0"/>
                  </a:rPr>
                  <a:t> </a:t>
                </a:r>
                <a14:m>
                  <m:oMath xmlns:m="http://schemas.openxmlformats.org/officeDocument/2006/math">
                    <m:sSub>
                      <m:sSubPr>
                        <m:ctrlPr>
                          <a:rPr lang="en-US" altLang="ko-KR" sz="1300" i="1" smtClean="0">
                            <a:solidFill>
                              <a:schemeClr val="tx1">
                                <a:lumMod val="85000"/>
                                <a:lumOff val="15000"/>
                              </a:schemeClr>
                            </a:solidFill>
                            <a:latin typeface="Cambria Math" panose="02040503050406030204" pitchFamily="18" charset="0"/>
                          </a:rPr>
                        </m:ctrlPr>
                      </m:sSubPr>
                      <m:e>
                        <m:r>
                          <a:rPr lang="en-US" altLang="ko-KR" sz="1300">
                            <a:solidFill>
                              <a:schemeClr val="tx1">
                                <a:lumMod val="85000"/>
                                <a:lumOff val="15000"/>
                              </a:schemeClr>
                            </a:solidFill>
                            <a:latin typeface="Cambria Math" panose="02040503050406030204" pitchFamily="18" charset="0"/>
                          </a:rPr>
                          <m:t>𝑦</m:t>
                        </m:r>
                      </m:e>
                      <m:sub>
                        <m:r>
                          <a:rPr lang="en-US" altLang="ko-KR" sz="1300">
                            <a:solidFill>
                              <a:schemeClr val="tx1">
                                <a:lumMod val="85000"/>
                                <a:lumOff val="15000"/>
                              </a:schemeClr>
                            </a:solidFill>
                            <a:latin typeface="Cambria Math" panose="02040503050406030204" pitchFamily="18" charset="0"/>
                          </a:rPr>
                          <m:t>𝑖</m:t>
                        </m:r>
                      </m:sub>
                    </m:sSub>
                    <m:d>
                      <m:dPr>
                        <m:ctrlPr>
                          <a:rPr lang="en-US" altLang="ko-KR" sz="1300" i="1">
                            <a:solidFill>
                              <a:schemeClr val="tx1">
                                <a:lumMod val="85000"/>
                                <a:lumOff val="15000"/>
                              </a:schemeClr>
                            </a:solidFill>
                            <a:latin typeface="Cambria Math" panose="02040503050406030204" pitchFamily="18" charset="0"/>
                          </a:rPr>
                        </m:ctrlPr>
                      </m:dPr>
                      <m:e>
                        <m:sSub>
                          <m:sSubPr>
                            <m:ctrlPr>
                              <a:rPr lang="en-US" altLang="ko-KR" sz="1300" i="1">
                                <a:solidFill>
                                  <a:schemeClr val="tx1">
                                    <a:lumMod val="85000"/>
                                    <a:lumOff val="15000"/>
                                  </a:schemeClr>
                                </a:solidFill>
                                <a:latin typeface="Cambria Math" panose="02040503050406030204" pitchFamily="18" charset="0"/>
                              </a:rPr>
                            </m:ctrlPr>
                          </m:sSubPr>
                          <m:e>
                            <m:r>
                              <a:rPr lang="ko-KR" altLang="en-US" sz="1300">
                                <a:solidFill>
                                  <a:schemeClr val="tx1">
                                    <a:lumMod val="85000"/>
                                    <a:lumOff val="15000"/>
                                  </a:schemeClr>
                                </a:solidFill>
                                <a:latin typeface="Cambria Math" panose="02040503050406030204" pitchFamily="18" charset="0"/>
                              </a:rPr>
                              <m:t>𝛽</m:t>
                            </m:r>
                          </m:e>
                          <m:sub>
                            <m:r>
                              <a:rPr lang="en-US" altLang="ko-KR" sz="1300">
                                <a:solidFill>
                                  <a:schemeClr val="tx1">
                                    <a:lumMod val="85000"/>
                                    <a:lumOff val="15000"/>
                                  </a:schemeClr>
                                </a:solidFill>
                                <a:latin typeface="Cambria Math" panose="02040503050406030204" pitchFamily="18" charset="0"/>
                              </a:rPr>
                              <m:t>0</m:t>
                            </m:r>
                          </m:sub>
                        </m:sSub>
                        <m:r>
                          <a:rPr lang="en-US" altLang="ko-KR" sz="1300">
                            <a:solidFill>
                              <a:schemeClr val="tx1">
                                <a:lumMod val="85000"/>
                                <a:lumOff val="15000"/>
                              </a:schemeClr>
                            </a:solidFill>
                            <a:latin typeface="Cambria Math" panose="02040503050406030204" pitchFamily="18" charset="0"/>
                          </a:rPr>
                          <m:t>+</m:t>
                        </m:r>
                        <m:sSub>
                          <m:sSubPr>
                            <m:ctrlPr>
                              <a:rPr lang="en-US" altLang="ko-KR" sz="1300" i="1">
                                <a:solidFill>
                                  <a:schemeClr val="tx1">
                                    <a:lumMod val="85000"/>
                                    <a:lumOff val="15000"/>
                                  </a:schemeClr>
                                </a:solidFill>
                                <a:latin typeface="Cambria Math" panose="02040503050406030204" pitchFamily="18" charset="0"/>
                              </a:rPr>
                            </m:ctrlPr>
                          </m:sSubPr>
                          <m:e>
                            <m:r>
                              <a:rPr lang="ko-KR" altLang="en-US" sz="1300">
                                <a:solidFill>
                                  <a:schemeClr val="tx1">
                                    <a:lumMod val="85000"/>
                                    <a:lumOff val="15000"/>
                                  </a:schemeClr>
                                </a:solidFill>
                                <a:latin typeface="Cambria Math" panose="02040503050406030204" pitchFamily="18" charset="0"/>
                              </a:rPr>
                              <m:t>𝛽</m:t>
                            </m:r>
                          </m:e>
                          <m:sub>
                            <m:r>
                              <a:rPr lang="en-US" altLang="ko-KR" sz="1300">
                                <a:solidFill>
                                  <a:schemeClr val="tx1">
                                    <a:lumMod val="85000"/>
                                    <a:lumOff val="15000"/>
                                  </a:schemeClr>
                                </a:solidFill>
                                <a:latin typeface="Cambria Math" panose="02040503050406030204" pitchFamily="18" charset="0"/>
                              </a:rPr>
                              <m:t>1</m:t>
                            </m:r>
                          </m:sub>
                        </m:sSub>
                        <m:sSub>
                          <m:sSubPr>
                            <m:ctrlPr>
                              <a:rPr lang="en-US" altLang="ko-KR" sz="1300" i="1">
                                <a:solidFill>
                                  <a:schemeClr val="tx1">
                                    <a:lumMod val="85000"/>
                                    <a:lumOff val="15000"/>
                                  </a:schemeClr>
                                </a:solidFill>
                                <a:latin typeface="Cambria Math" panose="02040503050406030204" pitchFamily="18" charset="0"/>
                              </a:rPr>
                            </m:ctrlPr>
                          </m:sSubPr>
                          <m:e>
                            <m:r>
                              <a:rPr lang="en-US" altLang="ko-KR" sz="1300">
                                <a:solidFill>
                                  <a:schemeClr val="tx1">
                                    <a:lumMod val="85000"/>
                                    <a:lumOff val="15000"/>
                                  </a:schemeClr>
                                </a:solidFill>
                                <a:latin typeface="Cambria Math" panose="02040503050406030204" pitchFamily="18" charset="0"/>
                              </a:rPr>
                              <m:t>𝑥</m:t>
                            </m:r>
                          </m:e>
                          <m:sub>
                            <m:r>
                              <a:rPr lang="en-US" altLang="ko-KR" sz="1300">
                                <a:solidFill>
                                  <a:schemeClr val="tx1">
                                    <a:lumMod val="85000"/>
                                    <a:lumOff val="15000"/>
                                  </a:schemeClr>
                                </a:solidFill>
                                <a:latin typeface="Cambria Math" panose="02040503050406030204" pitchFamily="18" charset="0"/>
                              </a:rPr>
                              <m:t>𝑖</m:t>
                            </m:r>
                            <m:r>
                              <a:rPr lang="en-US" altLang="ko-KR" sz="1300">
                                <a:solidFill>
                                  <a:schemeClr val="tx1">
                                    <a:lumMod val="85000"/>
                                    <a:lumOff val="15000"/>
                                  </a:schemeClr>
                                </a:solidFill>
                                <a:latin typeface="Cambria Math" panose="02040503050406030204" pitchFamily="18" charset="0"/>
                              </a:rPr>
                              <m:t>1</m:t>
                            </m:r>
                          </m:sub>
                        </m:sSub>
                        <m:r>
                          <a:rPr lang="en-US" altLang="ko-KR" sz="1300">
                            <a:solidFill>
                              <a:schemeClr val="tx1">
                                <a:lumMod val="85000"/>
                                <a:lumOff val="15000"/>
                              </a:schemeClr>
                            </a:solidFill>
                            <a:latin typeface="Cambria Math" panose="02040503050406030204" pitchFamily="18" charset="0"/>
                          </a:rPr>
                          <m:t>+</m:t>
                        </m:r>
                        <m:sSub>
                          <m:sSubPr>
                            <m:ctrlPr>
                              <a:rPr lang="en-US" altLang="ko-KR" sz="1300" i="1">
                                <a:solidFill>
                                  <a:schemeClr val="tx1">
                                    <a:lumMod val="85000"/>
                                    <a:lumOff val="15000"/>
                                  </a:schemeClr>
                                </a:solidFill>
                                <a:latin typeface="Cambria Math" panose="02040503050406030204" pitchFamily="18" charset="0"/>
                              </a:rPr>
                            </m:ctrlPr>
                          </m:sSubPr>
                          <m:e>
                            <m:r>
                              <a:rPr lang="ko-KR" altLang="en-US" sz="1300">
                                <a:solidFill>
                                  <a:schemeClr val="tx1">
                                    <a:lumMod val="85000"/>
                                    <a:lumOff val="15000"/>
                                  </a:schemeClr>
                                </a:solidFill>
                                <a:latin typeface="Cambria Math" panose="02040503050406030204" pitchFamily="18" charset="0"/>
                              </a:rPr>
                              <m:t>𝛽</m:t>
                            </m:r>
                          </m:e>
                          <m:sub>
                            <m:r>
                              <a:rPr lang="en-US" altLang="ko-KR" sz="1300">
                                <a:solidFill>
                                  <a:schemeClr val="tx1">
                                    <a:lumMod val="85000"/>
                                    <a:lumOff val="15000"/>
                                  </a:schemeClr>
                                </a:solidFill>
                                <a:latin typeface="Cambria Math" panose="02040503050406030204" pitchFamily="18" charset="0"/>
                              </a:rPr>
                              <m:t>2</m:t>
                            </m:r>
                          </m:sub>
                        </m:sSub>
                        <m:sSub>
                          <m:sSubPr>
                            <m:ctrlPr>
                              <a:rPr lang="en-US" altLang="ko-KR" sz="1300" i="1">
                                <a:solidFill>
                                  <a:schemeClr val="tx1">
                                    <a:lumMod val="85000"/>
                                    <a:lumOff val="15000"/>
                                  </a:schemeClr>
                                </a:solidFill>
                                <a:latin typeface="Cambria Math" panose="02040503050406030204" pitchFamily="18" charset="0"/>
                              </a:rPr>
                            </m:ctrlPr>
                          </m:sSubPr>
                          <m:e>
                            <m:r>
                              <a:rPr lang="en-US" altLang="ko-KR" sz="1300">
                                <a:solidFill>
                                  <a:schemeClr val="tx1">
                                    <a:lumMod val="85000"/>
                                    <a:lumOff val="15000"/>
                                  </a:schemeClr>
                                </a:solidFill>
                                <a:latin typeface="Cambria Math" panose="02040503050406030204" pitchFamily="18" charset="0"/>
                              </a:rPr>
                              <m:t>𝑥</m:t>
                            </m:r>
                          </m:e>
                          <m:sub>
                            <m:r>
                              <a:rPr lang="en-US" altLang="ko-KR" sz="1300">
                                <a:solidFill>
                                  <a:schemeClr val="tx1">
                                    <a:lumMod val="85000"/>
                                    <a:lumOff val="15000"/>
                                  </a:schemeClr>
                                </a:solidFill>
                                <a:latin typeface="Cambria Math" panose="02040503050406030204" pitchFamily="18" charset="0"/>
                              </a:rPr>
                              <m:t>𝑖</m:t>
                            </m:r>
                            <m:r>
                              <a:rPr lang="en-US" altLang="ko-KR" sz="1300">
                                <a:solidFill>
                                  <a:schemeClr val="tx1">
                                    <a:lumMod val="85000"/>
                                    <a:lumOff val="15000"/>
                                  </a:schemeClr>
                                </a:solidFill>
                                <a:latin typeface="Cambria Math" panose="02040503050406030204" pitchFamily="18" charset="0"/>
                              </a:rPr>
                              <m:t>2</m:t>
                            </m:r>
                          </m:sub>
                        </m:sSub>
                        <m:r>
                          <a:rPr lang="en-US" altLang="ko-KR" sz="1300">
                            <a:solidFill>
                              <a:schemeClr val="tx1">
                                <a:lumMod val="85000"/>
                                <a:lumOff val="15000"/>
                              </a:schemeClr>
                            </a:solidFill>
                            <a:latin typeface="Cambria Math" panose="02040503050406030204" pitchFamily="18" charset="0"/>
                          </a:rPr>
                          <m:t>+…+</m:t>
                        </m:r>
                        <m:sSub>
                          <m:sSubPr>
                            <m:ctrlPr>
                              <a:rPr lang="en-US" altLang="ko-KR" sz="1300" i="1">
                                <a:solidFill>
                                  <a:schemeClr val="tx1">
                                    <a:lumMod val="85000"/>
                                    <a:lumOff val="15000"/>
                                  </a:schemeClr>
                                </a:solidFill>
                                <a:latin typeface="Cambria Math" panose="02040503050406030204" pitchFamily="18" charset="0"/>
                              </a:rPr>
                            </m:ctrlPr>
                          </m:sSubPr>
                          <m:e>
                            <m:r>
                              <a:rPr lang="ko-KR" altLang="en-US" sz="1300">
                                <a:solidFill>
                                  <a:schemeClr val="tx1">
                                    <a:lumMod val="85000"/>
                                    <a:lumOff val="15000"/>
                                  </a:schemeClr>
                                </a:solidFill>
                                <a:latin typeface="Cambria Math" panose="02040503050406030204" pitchFamily="18" charset="0"/>
                              </a:rPr>
                              <m:t>𝛽</m:t>
                            </m:r>
                          </m:e>
                          <m:sub>
                            <m:r>
                              <a:rPr lang="en-US" altLang="ko-KR" sz="1300">
                                <a:solidFill>
                                  <a:schemeClr val="tx1">
                                    <a:lumMod val="85000"/>
                                    <a:lumOff val="15000"/>
                                  </a:schemeClr>
                                </a:solidFill>
                                <a:latin typeface="Cambria Math" panose="02040503050406030204" pitchFamily="18" charset="0"/>
                              </a:rPr>
                              <m:t>𝑘</m:t>
                            </m:r>
                          </m:sub>
                        </m:sSub>
                        <m:sSub>
                          <m:sSubPr>
                            <m:ctrlPr>
                              <a:rPr lang="en-US" altLang="ko-KR" sz="1300" i="1">
                                <a:solidFill>
                                  <a:schemeClr val="tx1">
                                    <a:lumMod val="85000"/>
                                    <a:lumOff val="15000"/>
                                  </a:schemeClr>
                                </a:solidFill>
                                <a:latin typeface="Cambria Math" panose="02040503050406030204" pitchFamily="18" charset="0"/>
                              </a:rPr>
                            </m:ctrlPr>
                          </m:sSubPr>
                          <m:e>
                            <m:r>
                              <a:rPr lang="en-US" altLang="ko-KR" sz="1300">
                                <a:solidFill>
                                  <a:schemeClr val="tx1">
                                    <a:lumMod val="85000"/>
                                    <a:lumOff val="15000"/>
                                  </a:schemeClr>
                                </a:solidFill>
                                <a:latin typeface="Cambria Math" panose="02040503050406030204" pitchFamily="18" charset="0"/>
                              </a:rPr>
                              <m:t>𝑥</m:t>
                            </m:r>
                          </m:e>
                          <m:sub>
                            <m:r>
                              <a:rPr lang="en-US" altLang="ko-KR" sz="1300">
                                <a:solidFill>
                                  <a:schemeClr val="tx1">
                                    <a:lumMod val="85000"/>
                                    <a:lumOff val="15000"/>
                                  </a:schemeClr>
                                </a:solidFill>
                                <a:latin typeface="Cambria Math" panose="02040503050406030204" pitchFamily="18" charset="0"/>
                              </a:rPr>
                              <m:t>𝑖𝑘</m:t>
                            </m:r>
                          </m:sub>
                        </m:sSub>
                      </m:e>
                    </m:d>
                    <m:r>
                      <a:rPr lang="en-US" altLang="ko-KR" sz="1300">
                        <a:solidFill>
                          <a:schemeClr val="tx1">
                            <a:lumMod val="85000"/>
                            <a:lumOff val="15000"/>
                          </a:schemeClr>
                        </a:solidFill>
                        <a:latin typeface="Cambria Math" panose="02040503050406030204" pitchFamily="18" charset="0"/>
                      </a:rPr>
                      <m:t>≥</m:t>
                    </m:r>
                    <m:r>
                      <a:rPr lang="en-US" altLang="ko-KR" sz="1300">
                        <a:solidFill>
                          <a:schemeClr val="tx1">
                            <a:lumMod val="85000"/>
                            <a:lumOff val="15000"/>
                          </a:schemeClr>
                        </a:solidFill>
                        <a:latin typeface="Cambria Math" panose="02040503050406030204" pitchFamily="18" charset="0"/>
                      </a:rPr>
                      <m:t>𝑀</m:t>
                    </m:r>
                    <m:r>
                      <a:rPr lang="en-US" altLang="ko-KR" sz="1300" smtClean="0">
                        <a:solidFill>
                          <a:srgbClr val="FF0000"/>
                        </a:solidFill>
                        <a:latin typeface="Cambria Math" panose="02040503050406030204" pitchFamily="18" charset="0"/>
                      </a:rPr>
                      <m:t>(1−</m:t>
                    </m:r>
                    <m:sSub>
                      <m:sSubPr>
                        <m:ctrlPr>
                          <a:rPr lang="en-US" altLang="ko-KR" sz="1300" i="1">
                            <a:solidFill>
                              <a:srgbClr val="FF0000"/>
                            </a:solidFill>
                            <a:latin typeface="Cambria Math" panose="02040503050406030204" pitchFamily="18" charset="0"/>
                          </a:rPr>
                        </m:ctrlPr>
                      </m:sSubPr>
                      <m:e>
                        <m:r>
                          <a:rPr lang="ko-KR" altLang="en-US" sz="1300">
                            <a:solidFill>
                              <a:srgbClr val="FF0000"/>
                            </a:solidFill>
                            <a:latin typeface="Cambria Math" panose="02040503050406030204" pitchFamily="18" charset="0"/>
                          </a:rPr>
                          <m:t>𝜀</m:t>
                        </m:r>
                      </m:e>
                      <m:sub>
                        <m:r>
                          <a:rPr lang="en-US" altLang="ko-KR" sz="1300">
                            <a:solidFill>
                              <a:srgbClr val="FF0000"/>
                            </a:solidFill>
                            <a:latin typeface="Cambria Math" panose="02040503050406030204" pitchFamily="18" charset="0"/>
                          </a:rPr>
                          <m:t>𝑖</m:t>
                        </m:r>
                      </m:sub>
                    </m:sSub>
                    <m:r>
                      <a:rPr lang="en-US" altLang="ko-KR" sz="1300">
                        <a:solidFill>
                          <a:srgbClr val="FF0000"/>
                        </a:solidFill>
                        <a:latin typeface="Cambria Math" panose="02040503050406030204" pitchFamily="18" charset="0"/>
                      </a:rPr>
                      <m:t>)</m:t>
                    </m:r>
                  </m:oMath>
                </a14:m>
                <a:r>
                  <a:rPr lang="en-US" altLang="ko-KR" sz="1300" dirty="0">
                    <a:solidFill>
                      <a:schemeClr val="tx1">
                        <a:lumMod val="85000"/>
                        <a:lumOff val="15000"/>
                      </a:schemeClr>
                    </a:solidFill>
                    <a:latin typeface="SamsungOne 400" panose="020B0503030303020204" pitchFamily="34" charset="0"/>
                  </a:rPr>
                  <a:t>,   </a:t>
                </a:r>
                <a14:m>
                  <m:oMath xmlns:m="http://schemas.openxmlformats.org/officeDocument/2006/math">
                    <m:r>
                      <a:rPr lang="en-US" altLang="ko-KR" sz="1300">
                        <a:solidFill>
                          <a:schemeClr val="tx1">
                            <a:lumMod val="85000"/>
                            <a:lumOff val="15000"/>
                          </a:schemeClr>
                        </a:solidFill>
                        <a:latin typeface="Cambria Math" panose="02040503050406030204" pitchFamily="18" charset="0"/>
                      </a:rPr>
                      <m:t>𝑖</m:t>
                    </m:r>
                    <m:r>
                      <a:rPr lang="en-US" altLang="ko-KR" sz="1300">
                        <a:solidFill>
                          <a:schemeClr val="tx1">
                            <a:lumMod val="85000"/>
                            <a:lumOff val="15000"/>
                          </a:schemeClr>
                        </a:solidFill>
                        <a:latin typeface="Cambria Math" panose="02040503050406030204" pitchFamily="18" charset="0"/>
                      </a:rPr>
                      <m:t>=1,2,…,</m:t>
                    </m:r>
                    <m:r>
                      <a:rPr lang="en-US" altLang="ko-KR" sz="1300">
                        <a:solidFill>
                          <a:schemeClr val="tx1">
                            <a:lumMod val="85000"/>
                            <a:lumOff val="15000"/>
                          </a:schemeClr>
                        </a:solidFill>
                        <a:latin typeface="Cambria Math" panose="02040503050406030204" pitchFamily="18" charset="0"/>
                      </a:rPr>
                      <m:t>𝑛</m:t>
                    </m:r>
                  </m:oMath>
                </a14:m>
                <a:r>
                  <a:rPr lang="en-US" altLang="ko-KR" sz="1300" dirty="0">
                    <a:solidFill>
                      <a:schemeClr val="tx1">
                        <a:lumMod val="85000"/>
                        <a:lumOff val="15000"/>
                      </a:schemeClr>
                    </a:solidFill>
                    <a:latin typeface="SamsungOne 400" panose="020B0503030303020204" pitchFamily="34" charset="0"/>
                  </a:rPr>
                  <a:t> </a:t>
                </a:r>
                <a:br>
                  <a:rPr lang="en-US" altLang="ko-KR" sz="1300" dirty="0">
                    <a:solidFill>
                      <a:schemeClr val="tx1">
                        <a:lumMod val="85000"/>
                        <a:lumOff val="15000"/>
                      </a:schemeClr>
                    </a:solidFill>
                    <a:latin typeface="SamsungOne 400" panose="020B0503030303020204" pitchFamily="34" charset="0"/>
                  </a:rPr>
                </a:br>
                <a:r>
                  <a:rPr lang="en-US" altLang="ko-KR" sz="1300" dirty="0">
                    <a:solidFill>
                      <a:schemeClr val="tx1">
                        <a:lumMod val="85000"/>
                        <a:lumOff val="15000"/>
                      </a:schemeClr>
                    </a:solidFill>
                    <a:latin typeface="SamsungOne 400" panose="020B0503030303020204" pitchFamily="34" charset="0"/>
                  </a:rPr>
                  <a:t>                          </a:t>
                </a:r>
                <a14:m>
                  <m:oMath xmlns:m="http://schemas.openxmlformats.org/officeDocument/2006/math">
                    <m:sSub>
                      <m:sSubPr>
                        <m:ctrlPr>
                          <a:rPr lang="en-US" altLang="ko-KR" sz="1300" i="1">
                            <a:solidFill>
                              <a:schemeClr val="tx1">
                                <a:lumMod val="85000"/>
                                <a:lumOff val="15000"/>
                              </a:schemeClr>
                            </a:solidFill>
                            <a:latin typeface="Cambria Math" panose="02040503050406030204" pitchFamily="18" charset="0"/>
                          </a:rPr>
                        </m:ctrlPr>
                      </m:sSubPr>
                      <m:e>
                        <m:r>
                          <a:rPr lang="en-US" altLang="ko-KR" sz="1300">
                            <a:solidFill>
                              <a:schemeClr val="tx1">
                                <a:lumMod val="85000"/>
                                <a:lumOff val="15000"/>
                              </a:schemeClr>
                            </a:solidFill>
                            <a:latin typeface="Cambria Math" panose="02040503050406030204" pitchFamily="18" charset="0"/>
                          </a:rPr>
                          <m:t>𝑦</m:t>
                        </m:r>
                      </m:e>
                      <m:sub>
                        <m:r>
                          <a:rPr lang="en-US" altLang="ko-KR" sz="1300">
                            <a:solidFill>
                              <a:schemeClr val="tx1">
                                <a:lumMod val="85000"/>
                                <a:lumOff val="15000"/>
                              </a:schemeClr>
                            </a:solidFill>
                            <a:latin typeface="Cambria Math" panose="02040503050406030204" pitchFamily="18" charset="0"/>
                          </a:rPr>
                          <m:t>𝑖</m:t>
                        </m:r>
                      </m:sub>
                    </m:sSub>
                  </m:oMath>
                </a14:m>
                <a:r>
                  <a:rPr lang="en-US" altLang="ko-KR" sz="1300" dirty="0">
                    <a:solidFill>
                      <a:schemeClr val="tx1">
                        <a:lumMod val="85000"/>
                        <a:lumOff val="15000"/>
                      </a:schemeClr>
                    </a:solidFill>
                    <a:latin typeface="SamsungOne 400" panose="020B0503030303020204" pitchFamily="34" charset="0"/>
                  </a:rPr>
                  <a:t> is either -1 or +1.</a:t>
                </a:r>
              </a:p>
              <a:p>
                <a:pPr marL="361950" lvl="1" indent="-180975">
                  <a:spcAft>
                    <a:spcPts val="800"/>
                  </a:spcAft>
                  <a:buClr>
                    <a:srgbClr val="193EB0"/>
                  </a:buClr>
                  <a:buFont typeface="Arial" panose="020B0604020202020204" pitchFamily="34" charset="0"/>
                  <a:buChar char="•"/>
                </a:pPr>
                <a:r>
                  <a:rPr lang="en-US" altLang="ko-KR" sz="1300" b="1" dirty="0">
                    <a:solidFill>
                      <a:srgbClr val="1429A0"/>
                    </a:solidFill>
                    <a:latin typeface="SamsungOne 400" panose="020B0503030303020204" pitchFamily="34" charset="0"/>
                  </a:rPr>
                  <a:t>Constraint</a:t>
                </a:r>
                <a:r>
                  <a:rPr lang="ko-KR" altLang="en-US" sz="1300" b="1" dirty="0">
                    <a:solidFill>
                      <a:srgbClr val="1429A0"/>
                    </a:solidFill>
                    <a:latin typeface="SamsungOne 400" panose="020B0503030303020204" pitchFamily="34" charset="0"/>
                  </a:rPr>
                  <a:t> </a:t>
                </a:r>
                <a:r>
                  <a:rPr lang="en-US" altLang="ko-KR" sz="1300" b="1" dirty="0">
                    <a:solidFill>
                      <a:srgbClr val="1429A0"/>
                    </a:solidFill>
                    <a:latin typeface="SamsungOne 400" panose="020B0503030303020204" pitchFamily="34" charset="0"/>
                  </a:rPr>
                  <a:t>3:</a:t>
                </a:r>
                <a:r>
                  <a:rPr lang="en-US" altLang="ko-KR" sz="1300" dirty="0">
                    <a:solidFill>
                      <a:schemeClr val="tx1"/>
                    </a:solidFill>
                    <a:latin typeface="SamsungOne 400" panose="020B0503030303020204" pitchFamily="34" charset="0"/>
                  </a:rPr>
                  <a:t> </a:t>
                </a:r>
                <a14:m>
                  <m:oMath xmlns:m="http://schemas.openxmlformats.org/officeDocument/2006/math">
                    <m:sSub>
                      <m:sSubPr>
                        <m:ctrlPr>
                          <a:rPr lang="en-US" altLang="ko-KR" sz="1300" i="1" smtClean="0">
                            <a:solidFill>
                              <a:srgbClr val="FF0000"/>
                            </a:solidFill>
                            <a:latin typeface="Cambria Math" panose="02040503050406030204" pitchFamily="18" charset="0"/>
                          </a:rPr>
                        </m:ctrlPr>
                      </m:sSubPr>
                      <m:e>
                        <m:r>
                          <a:rPr lang="ko-KR" altLang="en-US" sz="1300">
                            <a:solidFill>
                              <a:srgbClr val="FF0000"/>
                            </a:solidFill>
                            <a:latin typeface="Cambria Math" panose="02040503050406030204" pitchFamily="18" charset="0"/>
                          </a:rPr>
                          <m:t>𝜀</m:t>
                        </m:r>
                      </m:e>
                      <m:sub>
                        <m:r>
                          <a:rPr lang="en-US" altLang="ko-KR" sz="1300">
                            <a:solidFill>
                              <a:srgbClr val="FF0000"/>
                            </a:solidFill>
                            <a:latin typeface="Cambria Math" panose="02040503050406030204" pitchFamily="18" charset="0"/>
                          </a:rPr>
                          <m:t>𝑖</m:t>
                        </m:r>
                      </m:sub>
                    </m:sSub>
                    <m:r>
                      <a:rPr lang="en-US" altLang="ko-KR" sz="1300">
                        <a:solidFill>
                          <a:srgbClr val="FF0000"/>
                        </a:solidFill>
                        <a:latin typeface="Cambria Math" panose="02040503050406030204" pitchFamily="18" charset="0"/>
                      </a:rPr>
                      <m:t>≥0</m:t>
                    </m:r>
                  </m:oMath>
                </a14:m>
                <a:r>
                  <a:rPr lang="en-US" altLang="ko-KR" sz="1300" dirty="0">
                    <a:solidFill>
                      <a:schemeClr val="tx1"/>
                    </a:solidFill>
                    <a:latin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rPr>
                  <a:t>and</a:t>
                </a:r>
                <a:r>
                  <a:rPr lang="en-US" altLang="ko-KR" sz="1300" dirty="0">
                    <a:solidFill>
                      <a:schemeClr val="tx1"/>
                    </a:solidFill>
                    <a:latin typeface="SamsungOne 400" panose="020B0503030303020204" pitchFamily="34" charset="0"/>
                  </a:rPr>
                  <a:t> </a:t>
                </a:r>
                <a14:m>
                  <m:oMath xmlns:m="http://schemas.openxmlformats.org/officeDocument/2006/math">
                    <m:nary>
                      <m:naryPr>
                        <m:chr m:val="∑"/>
                        <m:ctrlPr>
                          <a:rPr lang="en-US" altLang="ko-KR" sz="1300" i="1" smtClean="0">
                            <a:solidFill>
                              <a:srgbClr val="FF0000"/>
                            </a:solidFill>
                            <a:latin typeface="Cambria Math" panose="02040503050406030204" pitchFamily="18" charset="0"/>
                          </a:rPr>
                        </m:ctrlPr>
                      </m:naryPr>
                      <m:sub>
                        <m:r>
                          <m:rPr>
                            <m:brk m:alnAt="23"/>
                          </m:rPr>
                          <a:rPr lang="en-US" altLang="ko-KR" sz="1300">
                            <a:solidFill>
                              <a:srgbClr val="FF0000"/>
                            </a:solidFill>
                            <a:latin typeface="Cambria Math" panose="02040503050406030204" pitchFamily="18" charset="0"/>
                          </a:rPr>
                          <m:t>𝑖</m:t>
                        </m:r>
                        <m:r>
                          <a:rPr lang="en-US" altLang="ko-KR" sz="1300">
                            <a:solidFill>
                              <a:srgbClr val="FF0000"/>
                            </a:solidFill>
                            <a:latin typeface="Cambria Math" panose="02040503050406030204" pitchFamily="18" charset="0"/>
                          </a:rPr>
                          <m:t>=1</m:t>
                        </m:r>
                      </m:sub>
                      <m:sup>
                        <m:r>
                          <a:rPr lang="en-US" altLang="ko-KR" sz="1300">
                            <a:solidFill>
                              <a:srgbClr val="FF0000"/>
                            </a:solidFill>
                            <a:latin typeface="Cambria Math" panose="02040503050406030204" pitchFamily="18" charset="0"/>
                          </a:rPr>
                          <m:t>𝑘</m:t>
                        </m:r>
                      </m:sup>
                      <m:e>
                        <m:sSub>
                          <m:sSubPr>
                            <m:ctrlPr>
                              <a:rPr lang="en-US" altLang="ko-KR" sz="1300" i="1">
                                <a:solidFill>
                                  <a:srgbClr val="FF0000"/>
                                </a:solidFill>
                                <a:latin typeface="Cambria Math" panose="02040503050406030204" pitchFamily="18" charset="0"/>
                              </a:rPr>
                            </m:ctrlPr>
                          </m:sSubPr>
                          <m:e>
                            <m:r>
                              <a:rPr lang="ko-KR" altLang="en-US" sz="1300">
                                <a:solidFill>
                                  <a:srgbClr val="FF0000"/>
                                </a:solidFill>
                                <a:latin typeface="Cambria Math" panose="02040503050406030204" pitchFamily="18" charset="0"/>
                              </a:rPr>
                              <m:t>𝜀</m:t>
                            </m:r>
                          </m:e>
                          <m:sub>
                            <m:r>
                              <a:rPr lang="en-US" altLang="ko-KR" sz="1300">
                                <a:solidFill>
                                  <a:srgbClr val="FF0000"/>
                                </a:solidFill>
                                <a:latin typeface="Cambria Math" panose="02040503050406030204" pitchFamily="18" charset="0"/>
                              </a:rPr>
                              <m:t>𝑖</m:t>
                            </m:r>
                          </m:sub>
                        </m:sSub>
                      </m:e>
                    </m:nary>
                    <m:r>
                      <a:rPr lang="en-US" altLang="ko-KR" sz="1300">
                        <a:solidFill>
                          <a:srgbClr val="FF0000"/>
                        </a:solidFill>
                        <a:latin typeface="Cambria Math" panose="02040503050406030204" pitchFamily="18" charset="0"/>
                      </a:rPr>
                      <m:t>≤</m:t>
                    </m:r>
                    <m:r>
                      <a:rPr lang="en-US" altLang="ko-KR" sz="1300">
                        <a:solidFill>
                          <a:srgbClr val="FF0000"/>
                        </a:solidFill>
                        <a:latin typeface="Cambria Math" panose="02040503050406030204" pitchFamily="18" charset="0"/>
                      </a:rPr>
                      <m:t>𝐶</m:t>
                    </m:r>
                  </m:oMath>
                </a14:m>
                <a:r>
                  <a:rPr lang="en-US" altLang="ko-KR" sz="1300" dirty="0">
                    <a:solidFill>
                      <a:srgbClr val="FF0000"/>
                    </a:solidFill>
                    <a:latin typeface="SamsungOne 400" panose="020B0503030303020204" pitchFamily="34" charset="0"/>
                  </a:rPr>
                  <a:t>   </a:t>
                </a:r>
                <a:br>
                  <a:rPr lang="en-US" altLang="ko-KR" sz="1300" dirty="0">
                    <a:solidFill>
                      <a:schemeClr val="tx1"/>
                    </a:solidFill>
                    <a:latin typeface="SamsungOne 400" panose="020B0503030303020204" pitchFamily="34" charset="0"/>
                  </a:rPr>
                </a:br>
                <a:r>
                  <a:rPr lang="en-US" altLang="ko-KR" sz="1300" dirty="0">
                    <a:solidFill>
                      <a:srgbClr val="00B050"/>
                    </a:solidFill>
                    <a:latin typeface="SamsungOne 400" panose="020B0503030303020204" pitchFamily="34" charset="0"/>
                    <a:sym typeface="Symbol" panose="05050102010706020507" pitchFamily="18" charset="2"/>
                  </a:rPr>
                  <a:t>⇦</a:t>
                </a:r>
                <a:r>
                  <a:rPr lang="en-US" altLang="ko-KR" sz="1300" dirty="0">
                    <a:solidFill>
                      <a:schemeClr val="tx1"/>
                    </a:solidFill>
                    <a:latin typeface="SamsungOne 400" panose="020B0503030303020204" pitchFamily="34" charset="0"/>
                  </a:rPr>
                  <a:t> </a:t>
                </a:r>
                <a14:m>
                  <m:oMath xmlns:m="http://schemas.openxmlformats.org/officeDocument/2006/math">
                    <m:r>
                      <a:rPr lang="en-US" altLang="ko-KR" sz="1300" dirty="0" smtClean="0">
                        <a:solidFill>
                          <a:schemeClr val="tx1">
                            <a:lumMod val="85000"/>
                            <a:lumOff val="15000"/>
                          </a:schemeClr>
                        </a:solidFill>
                        <a:latin typeface="Cambria Math" panose="02040503050406030204" pitchFamily="18" charset="0"/>
                        <a:sym typeface="Symbol" panose="05050102010706020507" pitchFamily="18" charset="2"/>
                      </a:rPr>
                      <m:t>𝐶</m:t>
                    </m:r>
                  </m:oMath>
                </a14:m>
                <a:r>
                  <a:rPr lang="en-US" altLang="ko-KR" sz="1300" dirty="0">
                    <a:solidFill>
                      <a:schemeClr val="tx1">
                        <a:lumMod val="85000"/>
                        <a:lumOff val="15000"/>
                      </a:schemeClr>
                    </a:solidFill>
                    <a:latin typeface="SamsungOne 400" panose="020B0503030303020204" pitchFamily="34" charset="0"/>
                    <a:sym typeface="Symbol" panose="05050102010706020507" pitchFamily="18" charset="2"/>
                  </a:rPr>
                  <a:t> is a hyperparameter related to the miss-classification errors.</a:t>
                </a:r>
                <a:endParaRPr lang="ko-KR" altLang="en-US" sz="1300" dirty="0">
                  <a:solidFill>
                    <a:schemeClr val="tx1">
                      <a:lumMod val="85000"/>
                      <a:lumOff val="15000"/>
                    </a:schemeClr>
                  </a:solidFill>
                  <a:latin typeface="SamsungOne 400" panose="020B0503030303020204" pitchFamily="34" charset="0"/>
                </a:endParaRPr>
              </a:p>
            </p:txBody>
          </p:sp>
        </mc:Choice>
        <mc:Fallback xmlns="">
          <p:sp>
            <p:nvSpPr>
              <p:cNvPr id="29" name="직사각형 28">
                <a:extLst>
                  <a:ext uri="{FF2B5EF4-FFF2-40B4-BE49-F238E27FC236}">
                    <a16:creationId xmlns="" xmlns:a16="http://schemas.microsoft.com/office/drawing/2014/main" xmlns:a14="http://schemas.microsoft.com/office/drawing/2010/main" id="{04A38E18-3E67-41F7-902E-B9A07DFF9D50}"/>
                  </a:ext>
                </a:extLst>
              </p:cNvPr>
              <p:cNvSpPr>
                <a:spLocks noRot="1" noChangeAspect="1" noMove="1" noResize="1" noEditPoints="1" noAdjustHandles="1" noChangeArrowheads="1" noChangeShapeType="1" noTextEdit="1"/>
              </p:cNvSpPr>
              <p:nvPr/>
            </p:nvSpPr>
            <p:spPr>
              <a:xfrm>
                <a:off x="671261" y="1700808"/>
                <a:ext cx="8672764" cy="2344342"/>
              </a:xfrm>
              <a:prstGeom prst="rect">
                <a:avLst/>
              </a:prstGeom>
              <a:blipFill rotWithShape="0">
                <a:blip r:embed="rId4"/>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2170141570"/>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7.1. SVM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07</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E767A8E2-6FB8-4337-838A-D76295D5F77F}"/>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Kernel</a:t>
            </a:r>
          </a:p>
        </p:txBody>
      </p:sp>
      <p:sp>
        <p:nvSpPr>
          <p:cNvPr id="29" name="직사각형 28">
            <a:extLst>
              <a:ext uri="{FF2B5EF4-FFF2-40B4-BE49-F238E27FC236}">
                <a16:creationId xmlns:a16="http://schemas.microsoft.com/office/drawing/2014/main" id="{04A38E18-3E67-41F7-902E-B9A07DFF9D50}"/>
              </a:ext>
            </a:extLst>
          </p:cNvPr>
          <p:cNvSpPr/>
          <p:nvPr/>
        </p:nvSpPr>
        <p:spPr>
          <a:xfrm>
            <a:off x="671261" y="1700808"/>
            <a:ext cx="8672764"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Mapping to a higher dimension using the “kernel” functions.</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Kernel functions introduce an effective non-linear classification boundary.</a:t>
            </a:r>
          </a:p>
        </p:txBody>
      </p:sp>
      <p:grpSp>
        <p:nvGrpSpPr>
          <p:cNvPr id="2" name="그룹 1">
            <a:extLst>
              <a:ext uri="{FF2B5EF4-FFF2-40B4-BE49-F238E27FC236}">
                <a16:creationId xmlns:a16="http://schemas.microsoft.com/office/drawing/2014/main" id="{3DD8A098-0BB8-454E-AB30-F0A679D69AF6}"/>
              </a:ext>
            </a:extLst>
          </p:cNvPr>
          <p:cNvGrpSpPr/>
          <p:nvPr/>
        </p:nvGrpSpPr>
        <p:grpSpPr>
          <a:xfrm>
            <a:off x="850766" y="2363459"/>
            <a:ext cx="8493259" cy="345461"/>
            <a:chOff x="850766" y="2408851"/>
            <a:chExt cx="8493259" cy="345461"/>
          </a:xfrm>
        </p:grpSpPr>
        <p:sp>
          <p:nvSpPr>
            <p:cNvPr id="7" name="직사각형 6">
              <a:extLst>
                <a:ext uri="{FF2B5EF4-FFF2-40B4-BE49-F238E27FC236}">
                  <a16:creationId xmlns:a16="http://schemas.microsoft.com/office/drawing/2014/main" id="{04994F83-9280-4809-AF27-CB69AE0E22E3}"/>
                </a:ext>
              </a:extLst>
            </p:cNvPr>
            <p:cNvSpPr/>
            <p:nvPr/>
          </p:nvSpPr>
          <p:spPr>
            <a:xfrm>
              <a:off x="1226264" y="2408851"/>
              <a:ext cx="811776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indent="14288">
                <a:spcAft>
                  <a:spcPts val="800"/>
                </a:spcAft>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Polynomial kernel</a:t>
              </a:r>
            </a:p>
          </p:txBody>
        </p:sp>
        <p:sp>
          <p:nvSpPr>
            <p:cNvPr id="9" name="사각형: 둥근 모서리 2">
              <a:extLst>
                <a:ext uri="{FF2B5EF4-FFF2-40B4-BE49-F238E27FC236}">
                  <a16:creationId xmlns:a16="http://schemas.microsoft.com/office/drawing/2014/main" id="{55FD9F7A-E1F9-4409-BD03-07463583414E}"/>
                </a:ext>
              </a:extLst>
            </p:cNvPr>
            <p:cNvSpPr/>
            <p:nvPr/>
          </p:nvSpPr>
          <p:spPr>
            <a:xfrm>
              <a:off x="850766" y="2469748"/>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grpSp>
      <p:sp>
        <p:nvSpPr>
          <p:cNvPr id="10" name="모서리가 둥근 직사각형 4">
            <a:extLst>
              <a:ext uri="{FF2B5EF4-FFF2-40B4-BE49-F238E27FC236}">
                <a16:creationId xmlns:a16="http://schemas.microsoft.com/office/drawing/2014/main" id="{54759DFA-FB72-4D9A-897A-66D2C53C10CB}"/>
              </a:ext>
            </a:extLst>
          </p:cNvPr>
          <p:cNvSpPr/>
          <p:nvPr/>
        </p:nvSpPr>
        <p:spPr>
          <a:xfrm>
            <a:off x="1226264" y="2816932"/>
            <a:ext cx="7450298" cy="2736304"/>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4" name="그룹 3">
            <a:extLst>
              <a:ext uri="{FF2B5EF4-FFF2-40B4-BE49-F238E27FC236}">
                <a16:creationId xmlns:a16="http://schemas.microsoft.com/office/drawing/2014/main" id="{8D81B22F-5DF6-4DC5-87E5-9DD13B82A29B}"/>
              </a:ext>
            </a:extLst>
          </p:cNvPr>
          <p:cNvGrpSpPr/>
          <p:nvPr/>
        </p:nvGrpSpPr>
        <p:grpSpPr>
          <a:xfrm>
            <a:off x="2152195" y="2983964"/>
            <a:ext cx="5498770" cy="2353248"/>
            <a:chOff x="2152195" y="2983964"/>
            <a:chExt cx="5498770" cy="2353248"/>
          </a:xfrm>
        </p:grpSpPr>
        <p:grpSp>
          <p:nvGrpSpPr>
            <p:cNvPr id="11" name="Group 6">
              <a:extLst>
                <a:ext uri="{FF2B5EF4-FFF2-40B4-BE49-F238E27FC236}">
                  <a16:creationId xmlns:a16="http://schemas.microsoft.com/office/drawing/2014/main" id="{3EA51DB2-06BE-46E4-8CEF-02D839670322}"/>
                </a:ext>
              </a:extLst>
            </p:cNvPr>
            <p:cNvGrpSpPr/>
            <p:nvPr/>
          </p:nvGrpSpPr>
          <p:grpSpPr>
            <a:xfrm>
              <a:off x="2152195" y="4546790"/>
              <a:ext cx="2163233" cy="790422"/>
              <a:chOff x="2152195" y="5355865"/>
              <a:chExt cx="2163233" cy="790422"/>
            </a:xfrm>
          </p:grpSpPr>
          <p:sp>
            <p:nvSpPr>
              <p:cNvPr id="12" name="TextBox 11">
                <a:extLst>
                  <a:ext uri="{FF2B5EF4-FFF2-40B4-BE49-F238E27FC236}">
                    <a16:creationId xmlns:a16="http://schemas.microsoft.com/office/drawing/2014/main" id="{064088A3-922D-4CB1-84CE-7CACF5BC9915}"/>
                  </a:ext>
                </a:extLst>
              </p:cNvPr>
              <p:cNvSpPr txBox="1"/>
              <p:nvPr/>
            </p:nvSpPr>
            <p:spPr>
              <a:xfrm>
                <a:off x="2802992" y="5776955"/>
                <a:ext cx="761772" cy="369332"/>
              </a:xfrm>
              <a:prstGeom prst="rect">
                <a:avLst/>
              </a:prstGeom>
              <a:noFill/>
            </p:spPr>
            <p:txBody>
              <a:bodyPr wrap="square" rtlCol="0">
                <a:spAutoFit/>
              </a:bodyPr>
              <a:lstStyle/>
              <a:p>
                <a:pPr algn="ctr"/>
                <a:r>
                  <a:rPr lang="en-US" altLang="ko-KR" dirty="0">
                    <a:solidFill>
                      <a:srgbClr val="00B050"/>
                    </a:solidFill>
                    <a:latin typeface="SamsungOne 400" panose="020B0503030303020204" pitchFamily="34" charset="0"/>
                    <a:ea typeface="SamsungOne 400" panose="020B0503030303020204" pitchFamily="34" charset="0"/>
                    <a:cs typeface="Times New Roman" panose="02020603050405020304" pitchFamily="18" charset="0"/>
                  </a:rPr>
                  <a:t>1D</a:t>
                </a:r>
                <a:endParaRPr lang="ko-KR" altLang="en-US" dirty="0">
                  <a:solidFill>
                    <a:srgbClr val="00B050"/>
                  </a:solidFill>
                  <a:latin typeface="SamsungOne 400" panose="020B0503030303020204" pitchFamily="34" charset="0"/>
                  <a:cs typeface="Times New Roman" panose="02020603050405020304" pitchFamily="18" charset="0"/>
                </a:endParaRPr>
              </a:p>
            </p:txBody>
          </p:sp>
          <p:sp>
            <p:nvSpPr>
              <p:cNvPr id="13" name="Oval 17">
                <a:extLst>
                  <a:ext uri="{FF2B5EF4-FFF2-40B4-BE49-F238E27FC236}">
                    <a16:creationId xmlns:a16="http://schemas.microsoft.com/office/drawing/2014/main" id="{0B51DEDC-281C-4AD3-A8F1-6D406019FEEC}"/>
                  </a:ext>
                </a:extLst>
              </p:cNvPr>
              <p:cNvSpPr/>
              <p:nvPr/>
            </p:nvSpPr>
            <p:spPr>
              <a:xfrm>
                <a:off x="2390386" y="5355867"/>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14" name="Isosceles Triangle 23">
                <a:extLst>
                  <a:ext uri="{FF2B5EF4-FFF2-40B4-BE49-F238E27FC236}">
                    <a16:creationId xmlns:a16="http://schemas.microsoft.com/office/drawing/2014/main" id="{47B3E52E-A1C7-4CEA-87B6-44924D147791}"/>
                  </a:ext>
                </a:extLst>
              </p:cNvPr>
              <p:cNvSpPr/>
              <p:nvPr/>
            </p:nvSpPr>
            <p:spPr>
              <a:xfrm>
                <a:off x="2977574" y="5355867"/>
                <a:ext cx="89877" cy="89877"/>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15" name="Oval 17">
                <a:extLst>
                  <a:ext uri="{FF2B5EF4-FFF2-40B4-BE49-F238E27FC236}">
                    <a16:creationId xmlns:a16="http://schemas.microsoft.com/office/drawing/2014/main" id="{C974A9F0-C181-462E-B0E3-93E2E422FEB4}"/>
                  </a:ext>
                </a:extLst>
              </p:cNvPr>
              <p:cNvSpPr/>
              <p:nvPr/>
            </p:nvSpPr>
            <p:spPr>
              <a:xfrm>
                <a:off x="2537183" y="5355867"/>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16" name="Oval 17">
                <a:extLst>
                  <a:ext uri="{FF2B5EF4-FFF2-40B4-BE49-F238E27FC236}">
                    <a16:creationId xmlns:a16="http://schemas.microsoft.com/office/drawing/2014/main" id="{7050DD92-9E1B-4EDB-8ACB-7630AE5A66E3}"/>
                  </a:ext>
                </a:extLst>
              </p:cNvPr>
              <p:cNvSpPr/>
              <p:nvPr/>
            </p:nvSpPr>
            <p:spPr>
              <a:xfrm>
                <a:off x="2683980" y="5355867"/>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17" name="Oval 17">
                <a:extLst>
                  <a:ext uri="{FF2B5EF4-FFF2-40B4-BE49-F238E27FC236}">
                    <a16:creationId xmlns:a16="http://schemas.microsoft.com/office/drawing/2014/main" id="{FD93A9F1-114A-4EF7-920D-5D64B89DED93}"/>
                  </a:ext>
                </a:extLst>
              </p:cNvPr>
              <p:cNvSpPr/>
              <p:nvPr/>
            </p:nvSpPr>
            <p:spPr>
              <a:xfrm>
                <a:off x="2830777" y="5355867"/>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18" name="Isosceles Triangle 23">
                <a:extLst>
                  <a:ext uri="{FF2B5EF4-FFF2-40B4-BE49-F238E27FC236}">
                    <a16:creationId xmlns:a16="http://schemas.microsoft.com/office/drawing/2014/main" id="{F473C853-D31C-4829-A441-40C3E9112707}"/>
                  </a:ext>
                </a:extLst>
              </p:cNvPr>
              <p:cNvSpPr/>
              <p:nvPr/>
            </p:nvSpPr>
            <p:spPr>
              <a:xfrm>
                <a:off x="3124371" y="5355867"/>
                <a:ext cx="89877" cy="89877"/>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19" name="Isosceles Triangle 23">
                <a:extLst>
                  <a:ext uri="{FF2B5EF4-FFF2-40B4-BE49-F238E27FC236}">
                    <a16:creationId xmlns:a16="http://schemas.microsoft.com/office/drawing/2014/main" id="{712F6579-73A9-4C64-BC25-6EE5352F0D6D}"/>
                  </a:ext>
                </a:extLst>
              </p:cNvPr>
              <p:cNvSpPr/>
              <p:nvPr/>
            </p:nvSpPr>
            <p:spPr>
              <a:xfrm>
                <a:off x="3271168" y="5355865"/>
                <a:ext cx="89877" cy="89877"/>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20" name="Oval 17">
                <a:extLst>
                  <a:ext uri="{FF2B5EF4-FFF2-40B4-BE49-F238E27FC236}">
                    <a16:creationId xmlns:a16="http://schemas.microsoft.com/office/drawing/2014/main" id="{C95B2729-6EF7-47CC-9A33-978707F7D5A1}"/>
                  </a:ext>
                </a:extLst>
              </p:cNvPr>
              <p:cNvSpPr/>
              <p:nvPr/>
            </p:nvSpPr>
            <p:spPr>
              <a:xfrm>
                <a:off x="3417965" y="5355867"/>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21" name="Oval 17">
                <a:extLst>
                  <a:ext uri="{FF2B5EF4-FFF2-40B4-BE49-F238E27FC236}">
                    <a16:creationId xmlns:a16="http://schemas.microsoft.com/office/drawing/2014/main" id="{2D690559-9D76-45E9-B330-6C4C27DE069B}"/>
                  </a:ext>
                </a:extLst>
              </p:cNvPr>
              <p:cNvSpPr/>
              <p:nvPr/>
            </p:nvSpPr>
            <p:spPr>
              <a:xfrm>
                <a:off x="3564762" y="5355867"/>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22" name="Oval 17">
                <a:extLst>
                  <a:ext uri="{FF2B5EF4-FFF2-40B4-BE49-F238E27FC236}">
                    <a16:creationId xmlns:a16="http://schemas.microsoft.com/office/drawing/2014/main" id="{0F0D8441-BB4C-4795-A601-36E1557469FC}"/>
                  </a:ext>
                </a:extLst>
              </p:cNvPr>
              <p:cNvSpPr/>
              <p:nvPr/>
            </p:nvSpPr>
            <p:spPr>
              <a:xfrm>
                <a:off x="3711559" y="5355867"/>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26" name="Oval 17">
                <a:extLst>
                  <a:ext uri="{FF2B5EF4-FFF2-40B4-BE49-F238E27FC236}">
                    <a16:creationId xmlns:a16="http://schemas.microsoft.com/office/drawing/2014/main" id="{E8A052B8-AEF2-418F-9F56-FA254C1BF0A7}"/>
                  </a:ext>
                </a:extLst>
              </p:cNvPr>
              <p:cNvSpPr/>
              <p:nvPr/>
            </p:nvSpPr>
            <p:spPr>
              <a:xfrm>
                <a:off x="3858360" y="5355867"/>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583E21C-0665-40C6-9D0A-8790B7B3CF37}"/>
                      </a:ext>
                    </a:extLst>
                  </p:cNvPr>
                  <p:cNvSpPr txBox="1"/>
                  <p:nvPr/>
                </p:nvSpPr>
                <p:spPr>
                  <a:xfrm>
                    <a:off x="3964913" y="5633684"/>
                    <a:ext cx="350515"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altLang="ko-KR" i="1">
                              <a:latin typeface="Cambria Math" panose="02040503050406030204" pitchFamily="18" charset="0"/>
                            </a:rPr>
                            <m:t>𝑋</m:t>
                          </m:r>
                        </m:oMath>
                      </m:oMathPara>
                    </a14:m>
                    <a:endParaRPr lang="ko-KR" altLang="en-US" dirty="0">
                      <a:latin typeface="SamsungOne 400" panose="020B0503030303020204" pitchFamily="34" charset="0"/>
                    </a:endParaRPr>
                  </a:p>
                </p:txBody>
              </p:sp>
            </mc:Choice>
            <mc:Fallback xmlns="">
              <p:sp>
                <p:nvSpPr>
                  <p:cNvPr id="76" name="TextBox 75">
                    <a:extLst>
                      <a:ext uri="{FF2B5EF4-FFF2-40B4-BE49-F238E27FC236}">
                        <a16:creationId xmlns:a16="http://schemas.microsoft.com/office/drawing/2014/main" id="{2F73BEE9-A719-4FB5-9765-926A47DD34A6}"/>
                      </a:ext>
                    </a:extLst>
                  </p:cNvPr>
                  <p:cNvSpPr txBox="1">
                    <a:spLocks noRot="1" noChangeAspect="1" noMove="1" noResize="1" noEditPoints="1" noAdjustHandles="1" noChangeArrowheads="1" noChangeShapeType="1" noTextEdit="1"/>
                  </p:cNvSpPr>
                  <p:nvPr/>
                </p:nvSpPr>
                <p:spPr>
                  <a:xfrm>
                    <a:off x="3964913" y="5633684"/>
                    <a:ext cx="350515" cy="369332"/>
                  </a:xfrm>
                  <a:prstGeom prst="rect">
                    <a:avLst/>
                  </a:prstGeom>
                  <a:blipFill>
                    <a:blip r:embed="rId4"/>
                    <a:stretch>
                      <a:fillRect/>
                    </a:stretch>
                  </a:blipFill>
                </p:spPr>
                <p:txBody>
                  <a:bodyPr/>
                  <a:lstStyle/>
                  <a:p>
                    <a:r>
                      <a:rPr lang="ko-KR" altLang="en-US">
                        <a:noFill/>
                      </a:rPr>
                      <a:t> </a:t>
                    </a:r>
                  </a:p>
                </p:txBody>
              </p:sp>
            </mc:Fallback>
          </mc:AlternateContent>
          <p:cxnSp>
            <p:nvCxnSpPr>
              <p:cNvPr id="28" name="직선 화살표 연결선 27">
                <a:extLst>
                  <a:ext uri="{FF2B5EF4-FFF2-40B4-BE49-F238E27FC236}">
                    <a16:creationId xmlns:a16="http://schemas.microsoft.com/office/drawing/2014/main" id="{9FAF4FEE-9FAD-44AD-8F37-A40BFC126A9F}"/>
                  </a:ext>
                </a:extLst>
              </p:cNvPr>
              <p:cNvCxnSpPr>
                <a:cxnSpLocks/>
              </p:cNvCxnSpPr>
              <p:nvPr/>
            </p:nvCxnSpPr>
            <p:spPr>
              <a:xfrm>
                <a:off x="2152195" y="5590593"/>
                <a:ext cx="2097141"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30" name="Group 4">
              <a:extLst>
                <a:ext uri="{FF2B5EF4-FFF2-40B4-BE49-F238E27FC236}">
                  <a16:creationId xmlns:a16="http://schemas.microsoft.com/office/drawing/2014/main" id="{7FBF945A-E934-4B04-A239-9EEE087595B2}"/>
                </a:ext>
              </a:extLst>
            </p:cNvPr>
            <p:cNvGrpSpPr/>
            <p:nvPr/>
          </p:nvGrpSpPr>
          <p:grpSpPr>
            <a:xfrm>
              <a:off x="5455468" y="2983964"/>
              <a:ext cx="2195497" cy="2353248"/>
              <a:chOff x="5555132" y="3793039"/>
              <a:chExt cx="2195497" cy="2353248"/>
            </a:xfrm>
          </p:grpSpPr>
          <p:cxnSp>
            <p:nvCxnSpPr>
              <p:cNvPr id="31" name="직선 화살표 연결선 30">
                <a:extLst>
                  <a:ext uri="{FF2B5EF4-FFF2-40B4-BE49-F238E27FC236}">
                    <a16:creationId xmlns:a16="http://schemas.microsoft.com/office/drawing/2014/main" id="{FB2A3A72-0356-4A71-9DA2-6373698935F7}"/>
                  </a:ext>
                </a:extLst>
              </p:cNvPr>
              <p:cNvCxnSpPr>
                <a:cxnSpLocks/>
              </p:cNvCxnSpPr>
              <p:nvPr/>
            </p:nvCxnSpPr>
            <p:spPr>
              <a:xfrm>
                <a:off x="5555132" y="5590588"/>
                <a:ext cx="2097141"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직선 화살표 연결선 31">
                <a:extLst>
                  <a:ext uri="{FF2B5EF4-FFF2-40B4-BE49-F238E27FC236}">
                    <a16:creationId xmlns:a16="http://schemas.microsoft.com/office/drawing/2014/main" id="{65ADE15B-2501-4E4B-8CE9-3AC88D0ACE2F}"/>
                  </a:ext>
                </a:extLst>
              </p:cNvPr>
              <p:cNvCxnSpPr>
                <a:cxnSpLocks/>
              </p:cNvCxnSpPr>
              <p:nvPr/>
            </p:nvCxnSpPr>
            <p:spPr>
              <a:xfrm rot="10800000">
                <a:off x="5555132" y="3793039"/>
                <a:ext cx="0" cy="1797549"/>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Oval 17">
                <a:extLst>
                  <a:ext uri="{FF2B5EF4-FFF2-40B4-BE49-F238E27FC236}">
                    <a16:creationId xmlns:a16="http://schemas.microsoft.com/office/drawing/2014/main" id="{973FF860-5E90-49BE-9B26-00342BD41095}"/>
                  </a:ext>
                </a:extLst>
              </p:cNvPr>
              <p:cNvSpPr/>
              <p:nvPr/>
            </p:nvSpPr>
            <p:spPr>
              <a:xfrm>
                <a:off x="5794560" y="4348060"/>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34" name="Isosceles Triangle 23">
                <a:extLst>
                  <a:ext uri="{FF2B5EF4-FFF2-40B4-BE49-F238E27FC236}">
                    <a16:creationId xmlns:a16="http://schemas.microsoft.com/office/drawing/2014/main" id="{A246B377-2FCF-45BF-B7E5-8EDBE419F149}"/>
                  </a:ext>
                </a:extLst>
              </p:cNvPr>
              <p:cNvSpPr/>
              <p:nvPr/>
            </p:nvSpPr>
            <p:spPr>
              <a:xfrm>
                <a:off x="6381749" y="4893196"/>
                <a:ext cx="89877" cy="89877"/>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35" name="Oval 17">
                <a:extLst>
                  <a:ext uri="{FF2B5EF4-FFF2-40B4-BE49-F238E27FC236}">
                    <a16:creationId xmlns:a16="http://schemas.microsoft.com/office/drawing/2014/main" id="{2535395D-9CD5-489A-9F8D-79C1586F6A51}"/>
                  </a:ext>
                </a:extLst>
              </p:cNvPr>
              <p:cNvSpPr/>
              <p:nvPr/>
            </p:nvSpPr>
            <p:spPr>
              <a:xfrm>
                <a:off x="5941357" y="4518373"/>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36" name="Oval 17">
                <a:extLst>
                  <a:ext uri="{FF2B5EF4-FFF2-40B4-BE49-F238E27FC236}">
                    <a16:creationId xmlns:a16="http://schemas.microsoft.com/office/drawing/2014/main" id="{56848CFA-20F8-4012-9DF9-B3EEA1D798F4}"/>
                  </a:ext>
                </a:extLst>
              </p:cNvPr>
              <p:cNvSpPr/>
              <p:nvPr/>
            </p:nvSpPr>
            <p:spPr>
              <a:xfrm>
                <a:off x="6088155" y="4654040"/>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37" name="Oval 17">
                <a:extLst>
                  <a:ext uri="{FF2B5EF4-FFF2-40B4-BE49-F238E27FC236}">
                    <a16:creationId xmlns:a16="http://schemas.microsoft.com/office/drawing/2014/main" id="{BDF17A50-0BBC-4BCE-9305-2B672376F61E}"/>
                  </a:ext>
                </a:extLst>
              </p:cNvPr>
              <p:cNvSpPr/>
              <p:nvPr/>
            </p:nvSpPr>
            <p:spPr>
              <a:xfrm>
                <a:off x="6234952" y="4780863"/>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38" name="Isosceles Triangle 23">
                <a:extLst>
                  <a:ext uri="{FF2B5EF4-FFF2-40B4-BE49-F238E27FC236}">
                    <a16:creationId xmlns:a16="http://schemas.microsoft.com/office/drawing/2014/main" id="{73C0C553-D9CC-4D29-8813-F4EA0D68BFFE}"/>
                  </a:ext>
                </a:extLst>
              </p:cNvPr>
              <p:cNvSpPr/>
              <p:nvPr/>
            </p:nvSpPr>
            <p:spPr>
              <a:xfrm>
                <a:off x="6528547" y="4968269"/>
                <a:ext cx="89877" cy="89877"/>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39" name="Isosceles Triangle 23">
                <a:extLst>
                  <a:ext uri="{FF2B5EF4-FFF2-40B4-BE49-F238E27FC236}">
                    <a16:creationId xmlns:a16="http://schemas.microsoft.com/office/drawing/2014/main" id="{FD1809E4-6A86-4962-89E9-1DC745BED8CE}"/>
                  </a:ext>
                </a:extLst>
              </p:cNvPr>
              <p:cNvSpPr/>
              <p:nvPr/>
            </p:nvSpPr>
            <p:spPr>
              <a:xfrm>
                <a:off x="6675344" y="4895229"/>
                <a:ext cx="89877" cy="89877"/>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40" name="Oval 17">
                <a:extLst>
                  <a:ext uri="{FF2B5EF4-FFF2-40B4-BE49-F238E27FC236}">
                    <a16:creationId xmlns:a16="http://schemas.microsoft.com/office/drawing/2014/main" id="{E88E0655-70D1-493A-9DC3-D406AFDB0625}"/>
                  </a:ext>
                </a:extLst>
              </p:cNvPr>
              <p:cNvSpPr/>
              <p:nvPr/>
            </p:nvSpPr>
            <p:spPr>
              <a:xfrm>
                <a:off x="6822141" y="4779844"/>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41" name="Oval 17">
                <a:extLst>
                  <a:ext uri="{FF2B5EF4-FFF2-40B4-BE49-F238E27FC236}">
                    <a16:creationId xmlns:a16="http://schemas.microsoft.com/office/drawing/2014/main" id="{F4B0C0B0-1AE1-422A-A956-D33DBA0AC23B}"/>
                  </a:ext>
                </a:extLst>
              </p:cNvPr>
              <p:cNvSpPr/>
              <p:nvPr/>
            </p:nvSpPr>
            <p:spPr>
              <a:xfrm>
                <a:off x="6968939" y="4653021"/>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42" name="Oval 17">
                <a:extLst>
                  <a:ext uri="{FF2B5EF4-FFF2-40B4-BE49-F238E27FC236}">
                    <a16:creationId xmlns:a16="http://schemas.microsoft.com/office/drawing/2014/main" id="{6E63FED2-C8E1-4789-9C15-384F0A93E4BE}"/>
                  </a:ext>
                </a:extLst>
              </p:cNvPr>
              <p:cNvSpPr/>
              <p:nvPr/>
            </p:nvSpPr>
            <p:spPr>
              <a:xfrm>
                <a:off x="7115736" y="4513289"/>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43" name="Oval 17">
                <a:extLst>
                  <a:ext uri="{FF2B5EF4-FFF2-40B4-BE49-F238E27FC236}">
                    <a16:creationId xmlns:a16="http://schemas.microsoft.com/office/drawing/2014/main" id="{172456D2-2587-4ACF-BD94-B31FBEC201C6}"/>
                  </a:ext>
                </a:extLst>
              </p:cNvPr>
              <p:cNvSpPr/>
              <p:nvPr/>
            </p:nvSpPr>
            <p:spPr>
              <a:xfrm>
                <a:off x="7262533" y="4342975"/>
                <a:ext cx="89877" cy="89877"/>
              </a:xfrm>
              <a:prstGeom prst="ellipse">
                <a:avLst/>
              </a:prstGeom>
              <a:solidFill>
                <a:srgbClr val="C5D1F7">
                  <a:alpha val="50000"/>
                </a:srgbClr>
              </a:solidFill>
              <a:ln w="12700">
                <a:solidFill>
                  <a:srgbClr val="1D48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cxnSp>
            <p:nvCxnSpPr>
              <p:cNvPr id="44" name="직선 연결선 43">
                <a:extLst>
                  <a:ext uri="{FF2B5EF4-FFF2-40B4-BE49-F238E27FC236}">
                    <a16:creationId xmlns:a16="http://schemas.microsoft.com/office/drawing/2014/main" id="{72F6DE95-0F67-4888-81A6-558F9080139B}"/>
                  </a:ext>
                </a:extLst>
              </p:cNvPr>
              <p:cNvCxnSpPr/>
              <p:nvPr/>
            </p:nvCxnSpPr>
            <p:spPr>
              <a:xfrm>
                <a:off x="5869445" y="4893196"/>
                <a:ext cx="1497958" cy="0"/>
              </a:xfrm>
              <a:prstGeom prst="line">
                <a:avLst/>
              </a:prstGeom>
              <a:ln w="12700">
                <a:solidFill>
                  <a:srgbClr val="00B05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B5E25083-BD75-4BDA-80B8-282C27C49F93}"/>
                      </a:ext>
                    </a:extLst>
                  </p:cNvPr>
                  <p:cNvSpPr txBox="1"/>
                  <p:nvPr/>
                </p:nvSpPr>
                <p:spPr>
                  <a:xfrm>
                    <a:off x="7400114" y="5630357"/>
                    <a:ext cx="350515"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altLang="ko-KR" i="1">
                              <a:latin typeface="Cambria Math" panose="02040503050406030204" pitchFamily="18" charset="0"/>
                            </a:rPr>
                            <m:t>𝑋</m:t>
                          </m:r>
                        </m:oMath>
                      </m:oMathPara>
                    </a14:m>
                    <a:endParaRPr lang="ko-KR" altLang="en-US" dirty="0">
                      <a:latin typeface="SamsungOne 400" panose="020B0503030303020204" pitchFamily="34" charset="0"/>
                    </a:endParaRPr>
                  </a:p>
                </p:txBody>
              </p:sp>
            </mc:Choice>
            <mc:Fallback xmlns="">
              <p:sp>
                <p:nvSpPr>
                  <p:cNvPr id="91" name="TextBox 90">
                    <a:extLst>
                      <a:ext uri="{FF2B5EF4-FFF2-40B4-BE49-F238E27FC236}">
                        <a16:creationId xmlns:a16="http://schemas.microsoft.com/office/drawing/2014/main" id="{318C9FE9-BE2D-410C-BB2B-E1F86C133D5F}"/>
                      </a:ext>
                    </a:extLst>
                  </p:cNvPr>
                  <p:cNvSpPr txBox="1">
                    <a:spLocks noRot="1" noChangeAspect="1" noMove="1" noResize="1" noEditPoints="1" noAdjustHandles="1" noChangeArrowheads="1" noChangeShapeType="1" noTextEdit="1"/>
                  </p:cNvSpPr>
                  <p:nvPr/>
                </p:nvSpPr>
                <p:spPr>
                  <a:xfrm>
                    <a:off x="7400114" y="5630357"/>
                    <a:ext cx="350515" cy="369332"/>
                  </a:xfrm>
                  <a:prstGeom prst="rect">
                    <a:avLst/>
                  </a:prstGeom>
                  <a:blipFill>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BF5820F8-DC1B-4763-8947-C65ACAAA654A}"/>
                      </a:ext>
                    </a:extLst>
                  </p:cNvPr>
                  <p:cNvSpPr txBox="1"/>
                  <p:nvPr/>
                </p:nvSpPr>
                <p:spPr>
                  <a:xfrm>
                    <a:off x="7280364" y="4033585"/>
                    <a:ext cx="350515"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p>
                            <m:sSupPr>
                              <m:ctrlPr>
                                <a:rPr lang="en-US" altLang="ko-KR" i="1">
                                  <a:latin typeface="Cambria Math" panose="02040503050406030204" pitchFamily="18" charset="0"/>
                                </a:rPr>
                              </m:ctrlPr>
                            </m:sSupPr>
                            <m:e>
                              <m:r>
                                <a:rPr lang="en-US" altLang="ko-KR" i="1">
                                  <a:latin typeface="Cambria Math" panose="02040503050406030204" pitchFamily="18" charset="0"/>
                                </a:rPr>
                                <m:t>~</m:t>
                              </m:r>
                              <m:r>
                                <a:rPr lang="en-US" altLang="ko-KR" i="1">
                                  <a:latin typeface="Cambria Math" panose="02040503050406030204" pitchFamily="18" charset="0"/>
                                </a:rPr>
                                <m:t>𝑋</m:t>
                              </m:r>
                            </m:e>
                            <m:sup>
                              <m:r>
                                <a:rPr lang="en-US" altLang="ko-KR" i="1">
                                  <a:latin typeface="Cambria Math" panose="02040503050406030204" pitchFamily="18" charset="0"/>
                                </a:rPr>
                                <m:t>2</m:t>
                              </m:r>
                            </m:sup>
                          </m:sSup>
                        </m:oMath>
                      </m:oMathPara>
                    </a14:m>
                    <a:endParaRPr lang="ko-KR" altLang="en-US" dirty="0">
                      <a:latin typeface="SamsungOne 400" panose="020B0503030303020204" pitchFamily="34" charset="0"/>
                    </a:endParaRPr>
                  </a:p>
                </p:txBody>
              </p:sp>
            </mc:Choice>
            <mc:Fallback xmlns="">
              <p:sp>
                <p:nvSpPr>
                  <p:cNvPr id="92" name="TextBox 91">
                    <a:extLst>
                      <a:ext uri="{FF2B5EF4-FFF2-40B4-BE49-F238E27FC236}">
                        <a16:creationId xmlns:a16="http://schemas.microsoft.com/office/drawing/2014/main" id="{F1C89F31-C4CC-4030-A0C2-8B4795381512}"/>
                      </a:ext>
                    </a:extLst>
                  </p:cNvPr>
                  <p:cNvSpPr txBox="1">
                    <a:spLocks noRot="1" noChangeAspect="1" noMove="1" noResize="1" noEditPoints="1" noAdjustHandles="1" noChangeArrowheads="1" noChangeShapeType="1" noTextEdit="1"/>
                  </p:cNvSpPr>
                  <p:nvPr/>
                </p:nvSpPr>
                <p:spPr>
                  <a:xfrm>
                    <a:off x="7280364" y="4033585"/>
                    <a:ext cx="350515" cy="369332"/>
                  </a:xfrm>
                  <a:prstGeom prst="rect">
                    <a:avLst/>
                  </a:prstGeom>
                  <a:blipFill>
                    <a:blip r:embed="rId6"/>
                    <a:stretch>
                      <a:fillRect r="-63793"/>
                    </a:stretch>
                  </a:blipFill>
                </p:spPr>
                <p:txBody>
                  <a:bodyPr/>
                  <a:lstStyle/>
                  <a:p>
                    <a:r>
                      <a:rPr lang="ko-KR" altLang="en-US">
                        <a:noFill/>
                      </a:rPr>
                      <a:t> </a:t>
                    </a:r>
                  </a:p>
                </p:txBody>
              </p:sp>
            </mc:Fallback>
          </mc:AlternateContent>
          <p:sp>
            <p:nvSpPr>
              <p:cNvPr id="47" name="TextBox 46">
                <a:extLst>
                  <a:ext uri="{FF2B5EF4-FFF2-40B4-BE49-F238E27FC236}">
                    <a16:creationId xmlns:a16="http://schemas.microsoft.com/office/drawing/2014/main" id="{1F03FDCA-69BF-4C49-9CC5-87EBE6C16F70}"/>
                  </a:ext>
                </a:extLst>
              </p:cNvPr>
              <p:cNvSpPr txBox="1"/>
              <p:nvPr/>
            </p:nvSpPr>
            <p:spPr>
              <a:xfrm>
                <a:off x="6207167" y="5776955"/>
                <a:ext cx="761772" cy="369332"/>
              </a:xfrm>
              <a:prstGeom prst="rect">
                <a:avLst/>
              </a:prstGeom>
              <a:noFill/>
            </p:spPr>
            <p:txBody>
              <a:bodyPr wrap="square" rtlCol="0">
                <a:spAutoFit/>
              </a:bodyPr>
              <a:lstStyle/>
              <a:p>
                <a:pPr algn="ctr"/>
                <a:r>
                  <a:rPr lang="en-US" altLang="ko-KR" dirty="0">
                    <a:solidFill>
                      <a:srgbClr val="00B050"/>
                    </a:solidFill>
                    <a:latin typeface="SamsungOne 400" panose="020B0503030303020204" pitchFamily="34" charset="0"/>
                    <a:ea typeface="SamsungOne 400" panose="020B0503030303020204" pitchFamily="34" charset="0"/>
                    <a:cs typeface="Times New Roman" panose="02020603050405020304" pitchFamily="18" charset="0"/>
                  </a:rPr>
                  <a:t>2D</a:t>
                </a:r>
                <a:endParaRPr lang="ko-KR" altLang="en-US" dirty="0">
                  <a:solidFill>
                    <a:srgbClr val="00B050"/>
                  </a:solidFill>
                  <a:latin typeface="SamsungOne 400" panose="020B0503030303020204" pitchFamily="34" charset="0"/>
                  <a:cs typeface="Times New Roman" panose="02020603050405020304" pitchFamily="18" charset="0"/>
                </a:endParaRPr>
              </a:p>
            </p:txBody>
          </p:sp>
        </p:grpSp>
        <p:sp>
          <p:nvSpPr>
            <p:cNvPr id="48" name="Right Arrow 63">
              <a:extLst>
                <a:ext uri="{FF2B5EF4-FFF2-40B4-BE49-F238E27FC236}">
                  <a16:creationId xmlns:a16="http://schemas.microsoft.com/office/drawing/2014/main" id="{FF652F97-EB0C-4166-866F-4030E9B631CF}"/>
                </a:ext>
              </a:extLst>
            </p:cNvPr>
            <p:cNvSpPr/>
            <p:nvPr/>
          </p:nvSpPr>
          <p:spPr>
            <a:xfrm>
              <a:off x="4740216" y="3896412"/>
              <a:ext cx="324036" cy="238589"/>
            </a:xfrm>
            <a:prstGeom prst="rightArrow">
              <a:avLst>
                <a:gd name="adj1" fmla="val 52110"/>
                <a:gd name="adj2" fmla="val 56763"/>
              </a:avLst>
            </a:prstGeom>
            <a:solidFill>
              <a:srgbClr val="1429A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sz="1400"/>
            </a:p>
          </p:txBody>
        </p:sp>
      </p:grpSp>
    </p:spTree>
    <p:extLst>
      <p:ext uri="{BB962C8B-B14F-4D97-AF65-F5344CB8AC3E}">
        <p14:creationId xmlns:p14="http://schemas.microsoft.com/office/powerpoint/2010/main" val="4249584213"/>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7.1. SVM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07</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E767A8E2-6FB8-4337-838A-D76295D5F77F}"/>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Kernel</a:t>
            </a:r>
          </a:p>
        </p:txBody>
      </p:sp>
      <p:sp>
        <p:nvSpPr>
          <p:cNvPr id="29" name="직사각형 28">
            <a:extLst>
              <a:ext uri="{FF2B5EF4-FFF2-40B4-BE49-F238E27FC236}">
                <a16:creationId xmlns:a16="http://schemas.microsoft.com/office/drawing/2014/main" id="{04A38E18-3E67-41F7-902E-B9A07DFF9D50}"/>
              </a:ext>
            </a:extLst>
          </p:cNvPr>
          <p:cNvSpPr/>
          <p:nvPr/>
        </p:nvSpPr>
        <p:spPr>
          <a:xfrm>
            <a:off x="671261" y="1700808"/>
            <a:ext cx="8672764"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Mapping to a higher dimension using the “kernel” functions.</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Kernel functions introduce an effective non-linear classification boundary.</a:t>
            </a:r>
          </a:p>
        </p:txBody>
      </p:sp>
      <p:grpSp>
        <p:nvGrpSpPr>
          <p:cNvPr id="2" name="그룹 1">
            <a:extLst>
              <a:ext uri="{FF2B5EF4-FFF2-40B4-BE49-F238E27FC236}">
                <a16:creationId xmlns:a16="http://schemas.microsoft.com/office/drawing/2014/main" id="{3DD8A098-0BB8-454E-AB30-F0A679D69AF6}"/>
              </a:ext>
            </a:extLst>
          </p:cNvPr>
          <p:cNvGrpSpPr/>
          <p:nvPr/>
        </p:nvGrpSpPr>
        <p:grpSpPr>
          <a:xfrm>
            <a:off x="850766" y="2363459"/>
            <a:ext cx="8493259" cy="345461"/>
            <a:chOff x="850766" y="2408851"/>
            <a:chExt cx="8493259" cy="345461"/>
          </a:xfrm>
        </p:grpSpPr>
        <p:sp>
          <p:nvSpPr>
            <p:cNvPr id="7" name="직사각형 6">
              <a:extLst>
                <a:ext uri="{FF2B5EF4-FFF2-40B4-BE49-F238E27FC236}">
                  <a16:creationId xmlns:a16="http://schemas.microsoft.com/office/drawing/2014/main" id="{04994F83-9280-4809-AF27-CB69AE0E22E3}"/>
                </a:ext>
              </a:extLst>
            </p:cNvPr>
            <p:cNvSpPr/>
            <p:nvPr/>
          </p:nvSpPr>
          <p:spPr>
            <a:xfrm>
              <a:off x="1226264" y="2408851"/>
              <a:ext cx="811776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indent="14288">
                <a:spcAft>
                  <a:spcPts val="800"/>
                </a:spcAft>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Polynomial kernel</a:t>
              </a:r>
            </a:p>
          </p:txBody>
        </p:sp>
        <p:sp>
          <p:nvSpPr>
            <p:cNvPr id="9" name="사각형: 둥근 모서리 2">
              <a:extLst>
                <a:ext uri="{FF2B5EF4-FFF2-40B4-BE49-F238E27FC236}">
                  <a16:creationId xmlns:a16="http://schemas.microsoft.com/office/drawing/2014/main" id="{55FD9F7A-E1F9-4409-BD03-07463583414E}"/>
                </a:ext>
              </a:extLst>
            </p:cNvPr>
            <p:cNvSpPr/>
            <p:nvPr/>
          </p:nvSpPr>
          <p:spPr>
            <a:xfrm>
              <a:off x="850766" y="2469748"/>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spcAft>
                  <a:spcPts val="800"/>
                </a:spcAft>
              </a:pP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grpSp>
      <p:sp>
        <p:nvSpPr>
          <p:cNvPr id="10" name="모서리가 둥근 직사각형 4">
            <a:extLst>
              <a:ext uri="{FF2B5EF4-FFF2-40B4-BE49-F238E27FC236}">
                <a16:creationId xmlns:a16="http://schemas.microsoft.com/office/drawing/2014/main" id="{54759DFA-FB72-4D9A-897A-66D2C53C10CB}"/>
              </a:ext>
            </a:extLst>
          </p:cNvPr>
          <p:cNvSpPr/>
          <p:nvPr/>
        </p:nvSpPr>
        <p:spPr>
          <a:xfrm>
            <a:off x="1226264" y="2816932"/>
            <a:ext cx="7450298" cy="2736304"/>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00" name="그룹 99">
            <a:extLst>
              <a:ext uri="{FF2B5EF4-FFF2-40B4-BE49-F238E27FC236}">
                <a16:creationId xmlns:a16="http://schemas.microsoft.com/office/drawing/2014/main" id="{960520A1-5A54-48CA-B01C-39077190951D}"/>
              </a:ext>
            </a:extLst>
          </p:cNvPr>
          <p:cNvGrpSpPr/>
          <p:nvPr/>
        </p:nvGrpSpPr>
        <p:grpSpPr>
          <a:xfrm>
            <a:off x="1735992" y="3008460"/>
            <a:ext cx="6760252" cy="2353248"/>
            <a:chOff x="1735992" y="3008460"/>
            <a:chExt cx="6760252" cy="2353248"/>
          </a:xfrm>
        </p:grpSpPr>
        <p:grpSp>
          <p:nvGrpSpPr>
            <p:cNvPr id="98" name="그룹 97">
              <a:extLst>
                <a:ext uri="{FF2B5EF4-FFF2-40B4-BE49-F238E27FC236}">
                  <a16:creationId xmlns:a16="http://schemas.microsoft.com/office/drawing/2014/main" id="{0EAC7CD9-48A8-4512-A143-A8419353E4FA}"/>
                </a:ext>
              </a:extLst>
            </p:cNvPr>
            <p:cNvGrpSpPr/>
            <p:nvPr/>
          </p:nvGrpSpPr>
          <p:grpSpPr>
            <a:xfrm>
              <a:off x="1735992" y="3008460"/>
              <a:ext cx="6760252" cy="2353248"/>
              <a:chOff x="1735992" y="3008460"/>
              <a:chExt cx="6760252" cy="2353248"/>
            </a:xfrm>
          </p:grpSpPr>
          <p:grpSp>
            <p:nvGrpSpPr>
              <p:cNvPr id="4" name="그룹 3">
                <a:extLst>
                  <a:ext uri="{FF2B5EF4-FFF2-40B4-BE49-F238E27FC236}">
                    <a16:creationId xmlns:a16="http://schemas.microsoft.com/office/drawing/2014/main" id="{FECFB0E8-5C6C-458B-B950-71D5632F5DB1}"/>
                  </a:ext>
                </a:extLst>
              </p:cNvPr>
              <p:cNvGrpSpPr/>
              <p:nvPr/>
            </p:nvGrpSpPr>
            <p:grpSpPr>
              <a:xfrm>
                <a:off x="1735992" y="3008460"/>
                <a:ext cx="2604888" cy="2353248"/>
                <a:chOff x="1545604" y="3076007"/>
                <a:chExt cx="2604888" cy="2353248"/>
              </a:xfrm>
            </p:grpSpPr>
            <p:grpSp>
              <p:nvGrpSpPr>
                <p:cNvPr id="54" name="그룹 53">
                  <a:extLst>
                    <a:ext uri="{FF2B5EF4-FFF2-40B4-BE49-F238E27FC236}">
                      <a16:creationId xmlns:a16="http://schemas.microsoft.com/office/drawing/2014/main" id="{C808E5DD-1EEB-45E6-9745-5D437DCEB4CB}"/>
                    </a:ext>
                  </a:extLst>
                </p:cNvPr>
                <p:cNvGrpSpPr/>
                <p:nvPr/>
              </p:nvGrpSpPr>
              <p:grpSpPr>
                <a:xfrm>
                  <a:off x="1954995" y="3076007"/>
                  <a:ext cx="2097141" cy="1797549"/>
                  <a:chOff x="6335485" y="3578949"/>
                  <a:chExt cx="2520000" cy="2160000"/>
                </a:xfrm>
              </p:grpSpPr>
              <p:cxnSp>
                <p:nvCxnSpPr>
                  <p:cNvPr id="93" name="직선 화살표 연결선 92">
                    <a:extLst>
                      <a:ext uri="{FF2B5EF4-FFF2-40B4-BE49-F238E27FC236}">
                        <a16:creationId xmlns:a16="http://schemas.microsoft.com/office/drawing/2014/main" id="{D484C282-7E18-4C1F-8894-DA4D008CD19C}"/>
                      </a:ext>
                    </a:extLst>
                  </p:cNvPr>
                  <p:cNvCxnSpPr>
                    <a:cxnSpLocks/>
                  </p:cNvCxnSpPr>
                  <p:nvPr/>
                </p:nvCxnSpPr>
                <p:spPr>
                  <a:xfrm>
                    <a:off x="6335485" y="5738949"/>
                    <a:ext cx="2520000"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4" name="직선 화살표 연결선 93">
                    <a:extLst>
                      <a:ext uri="{FF2B5EF4-FFF2-40B4-BE49-F238E27FC236}">
                        <a16:creationId xmlns:a16="http://schemas.microsoft.com/office/drawing/2014/main" id="{7BB68045-9C46-4B12-AC33-8AFC4FB1DAEC}"/>
                      </a:ext>
                    </a:extLst>
                  </p:cNvPr>
                  <p:cNvCxnSpPr>
                    <a:cxnSpLocks/>
                  </p:cNvCxnSpPr>
                  <p:nvPr/>
                </p:nvCxnSpPr>
                <p:spPr>
                  <a:xfrm rot="10800000">
                    <a:off x="6335485" y="3578949"/>
                    <a:ext cx="0" cy="216000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A50080F8-41BA-45E8-A543-09CE4061EBB7}"/>
                        </a:ext>
                      </a:extLst>
                    </p:cNvPr>
                    <p:cNvSpPr txBox="1"/>
                    <p:nvPr/>
                  </p:nvSpPr>
                  <p:spPr>
                    <a:xfrm>
                      <a:off x="3799977" y="4913324"/>
                      <a:ext cx="350515"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𝑋</m:t>
                                </m:r>
                              </m:e>
                              <m:sub>
                                <m:r>
                                  <a:rPr lang="en-US" altLang="ko-KR" i="1">
                                    <a:latin typeface="Cambria Math" panose="02040503050406030204" pitchFamily="18" charset="0"/>
                                  </a:rPr>
                                  <m:t>1</m:t>
                                </m:r>
                              </m:sub>
                            </m:sSub>
                          </m:oMath>
                        </m:oMathPara>
                      </a14:m>
                      <a:endParaRPr lang="ko-KR" altLang="en-US" dirty="0">
                        <a:latin typeface="SamsungOne 400" panose="020B0503030303020204" pitchFamily="34" charset="0"/>
                      </a:endParaRPr>
                    </a:p>
                  </p:txBody>
                </p:sp>
              </mc:Choice>
              <mc:Fallback xmlns="">
                <p:sp>
                  <p:nvSpPr>
                    <p:cNvPr id="55" name="TextBox 54">
                      <a:extLst>
                        <a:ext uri="{FF2B5EF4-FFF2-40B4-BE49-F238E27FC236}">
                          <a16:creationId xmlns:a16="http://schemas.microsoft.com/office/drawing/2014/main" id="{A50080F8-41BA-45E8-A543-09CE4061EBB7}"/>
                        </a:ext>
                      </a:extLst>
                    </p:cNvPr>
                    <p:cNvSpPr txBox="1">
                      <a:spLocks noRot="1" noChangeAspect="1" noMove="1" noResize="1" noEditPoints="1" noAdjustHandles="1" noChangeArrowheads="1" noChangeShapeType="1" noTextEdit="1"/>
                    </p:cNvSpPr>
                    <p:nvPr/>
                  </p:nvSpPr>
                  <p:spPr>
                    <a:xfrm>
                      <a:off x="3799977" y="4913324"/>
                      <a:ext cx="350515" cy="369332"/>
                    </a:xfrm>
                    <a:prstGeom prst="rect">
                      <a:avLst/>
                    </a:prstGeom>
                    <a:blipFill>
                      <a:blip r:embed="rId4"/>
                      <a:stretch>
                        <a:fillRect r="-8772"/>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D1E2F9E7-7F3A-454C-931E-A535E1B947E6}"/>
                        </a:ext>
                      </a:extLst>
                    </p:cNvPr>
                    <p:cNvSpPr txBox="1"/>
                    <p:nvPr/>
                  </p:nvSpPr>
                  <p:spPr>
                    <a:xfrm>
                      <a:off x="1545604" y="3176853"/>
                      <a:ext cx="350515"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𝑋</m:t>
                                </m:r>
                              </m:e>
                              <m:sub>
                                <m:r>
                                  <a:rPr lang="en-US" altLang="ko-KR" i="1">
                                    <a:latin typeface="Cambria Math" panose="02040503050406030204" pitchFamily="18" charset="0"/>
                                  </a:rPr>
                                  <m:t>2</m:t>
                                </m:r>
                              </m:sub>
                            </m:sSub>
                          </m:oMath>
                        </m:oMathPara>
                      </a14:m>
                      <a:endParaRPr lang="ko-KR" altLang="en-US" dirty="0">
                        <a:latin typeface="SamsungOne 400" panose="020B0503030303020204" pitchFamily="34" charset="0"/>
                      </a:endParaRPr>
                    </a:p>
                  </p:txBody>
                </p:sp>
              </mc:Choice>
              <mc:Fallback xmlns="">
                <p:sp>
                  <p:nvSpPr>
                    <p:cNvPr id="56" name="TextBox 55">
                      <a:extLst>
                        <a:ext uri="{FF2B5EF4-FFF2-40B4-BE49-F238E27FC236}">
                          <a16:creationId xmlns:a16="http://schemas.microsoft.com/office/drawing/2014/main" id="{D1E2F9E7-7F3A-454C-931E-A535E1B947E6}"/>
                        </a:ext>
                      </a:extLst>
                    </p:cNvPr>
                    <p:cNvSpPr txBox="1">
                      <a:spLocks noRot="1" noChangeAspect="1" noMove="1" noResize="1" noEditPoints="1" noAdjustHandles="1" noChangeArrowheads="1" noChangeShapeType="1" noTextEdit="1"/>
                    </p:cNvSpPr>
                    <p:nvPr/>
                  </p:nvSpPr>
                  <p:spPr>
                    <a:xfrm>
                      <a:off x="1545604" y="3176853"/>
                      <a:ext cx="350515" cy="369332"/>
                    </a:xfrm>
                    <a:prstGeom prst="rect">
                      <a:avLst/>
                    </a:prstGeom>
                    <a:blipFill>
                      <a:blip r:embed="rId5"/>
                      <a:stretch>
                        <a:fillRect r="-10526"/>
                      </a:stretch>
                    </a:blipFill>
                  </p:spPr>
                  <p:txBody>
                    <a:bodyPr/>
                    <a:lstStyle/>
                    <a:p>
                      <a:r>
                        <a:rPr lang="ko-KR" altLang="en-US">
                          <a:noFill/>
                        </a:rPr>
                        <a:t> </a:t>
                      </a:r>
                    </a:p>
                  </p:txBody>
                </p:sp>
              </mc:Fallback>
            </mc:AlternateContent>
            <p:sp>
              <p:nvSpPr>
                <p:cNvPr id="57" name="TextBox 56">
                  <a:extLst>
                    <a:ext uri="{FF2B5EF4-FFF2-40B4-BE49-F238E27FC236}">
                      <a16:creationId xmlns:a16="http://schemas.microsoft.com/office/drawing/2014/main" id="{DC65E1BB-DB21-4D89-8EEF-EA63CFFE80A8}"/>
                    </a:ext>
                  </a:extLst>
                </p:cNvPr>
                <p:cNvSpPr txBox="1"/>
                <p:nvPr/>
              </p:nvSpPr>
              <p:spPr>
                <a:xfrm>
                  <a:off x="2607030" y="5059923"/>
                  <a:ext cx="761772" cy="369332"/>
                </a:xfrm>
                <a:prstGeom prst="rect">
                  <a:avLst/>
                </a:prstGeom>
                <a:noFill/>
              </p:spPr>
              <p:txBody>
                <a:bodyPr wrap="square" rtlCol="0">
                  <a:spAutoFit/>
                </a:bodyPr>
                <a:lstStyle/>
                <a:p>
                  <a:pPr algn="ctr"/>
                  <a:r>
                    <a:rPr lang="en-US" altLang="ko-KR" dirty="0">
                      <a:solidFill>
                        <a:srgbClr val="00B050"/>
                      </a:solidFill>
                      <a:latin typeface="SamsungOne 400" panose="020B0503030303020204" pitchFamily="34" charset="0"/>
                      <a:ea typeface="SamsungOne 400" panose="020B0503030303020204" pitchFamily="34" charset="0"/>
                      <a:cs typeface="Times New Roman" panose="02020603050405020304" pitchFamily="18" charset="0"/>
                    </a:rPr>
                    <a:t>2D</a:t>
                  </a:r>
                  <a:endParaRPr lang="ko-KR" altLang="en-US" dirty="0">
                    <a:solidFill>
                      <a:srgbClr val="00B050"/>
                    </a:solidFill>
                    <a:latin typeface="SamsungOne 400" panose="020B0503030303020204" pitchFamily="34" charset="0"/>
                    <a:cs typeface="Times New Roman" panose="02020603050405020304" pitchFamily="18" charset="0"/>
                  </a:endParaRPr>
                </a:p>
              </p:txBody>
            </p:sp>
            <p:sp>
              <p:nvSpPr>
                <p:cNvPr id="58" name="Oval 17">
                  <a:extLst>
                    <a:ext uri="{FF2B5EF4-FFF2-40B4-BE49-F238E27FC236}">
                      <a16:creationId xmlns:a16="http://schemas.microsoft.com/office/drawing/2014/main" id="{83CDAC69-23D3-44EE-8C07-DB546C51D59D}"/>
                    </a:ext>
                  </a:extLst>
                </p:cNvPr>
                <p:cNvSpPr/>
                <p:nvPr/>
              </p:nvSpPr>
              <p:spPr>
                <a:xfrm>
                  <a:off x="2690357" y="3620262"/>
                  <a:ext cx="100401" cy="100401"/>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59" name="Isosceles Triangle 23">
                  <a:extLst>
                    <a:ext uri="{FF2B5EF4-FFF2-40B4-BE49-F238E27FC236}">
                      <a16:creationId xmlns:a16="http://schemas.microsoft.com/office/drawing/2014/main" id="{817D8DED-CAFA-45F8-9BF2-21151A33DFA2}"/>
                    </a:ext>
                  </a:extLst>
                </p:cNvPr>
                <p:cNvSpPr/>
                <p:nvPr/>
              </p:nvSpPr>
              <p:spPr>
                <a:xfrm>
                  <a:off x="2816165" y="3838293"/>
                  <a:ext cx="100401" cy="100401"/>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60" name="Oval 17">
                  <a:extLst>
                    <a:ext uri="{FF2B5EF4-FFF2-40B4-BE49-F238E27FC236}">
                      <a16:creationId xmlns:a16="http://schemas.microsoft.com/office/drawing/2014/main" id="{0A54519C-B9D6-4AE4-9809-9D4138218803}"/>
                    </a:ext>
                  </a:extLst>
                </p:cNvPr>
                <p:cNvSpPr/>
                <p:nvPr/>
              </p:nvSpPr>
              <p:spPr>
                <a:xfrm>
                  <a:off x="2587057" y="3881261"/>
                  <a:ext cx="100401" cy="100401"/>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61" name="Oval 17">
                  <a:extLst>
                    <a:ext uri="{FF2B5EF4-FFF2-40B4-BE49-F238E27FC236}">
                      <a16:creationId xmlns:a16="http://schemas.microsoft.com/office/drawing/2014/main" id="{AA4A6B60-414D-4943-BDCF-AEAEFA3F43FE}"/>
                    </a:ext>
                  </a:extLst>
                </p:cNvPr>
                <p:cNvSpPr/>
                <p:nvPr/>
              </p:nvSpPr>
              <p:spPr>
                <a:xfrm>
                  <a:off x="2681267" y="4170779"/>
                  <a:ext cx="100401" cy="100401"/>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62" name="Oval 17">
                  <a:extLst>
                    <a:ext uri="{FF2B5EF4-FFF2-40B4-BE49-F238E27FC236}">
                      <a16:creationId xmlns:a16="http://schemas.microsoft.com/office/drawing/2014/main" id="{A0BA07C8-2485-4080-BD6C-6F96E84BB113}"/>
                    </a:ext>
                  </a:extLst>
                </p:cNvPr>
                <p:cNvSpPr/>
                <p:nvPr/>
              </p:nvSpPr>
              <p:spPr>
                <a:xfrm>
                  <a:off x="2917909" y="4308599"/>
                  <a:ext cx="100401" cy="100401"/>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63" name="Isosceles Triangle 23">
                  <a:extLst>
                    <a:ext uri="{FF2B5EF4-FFF2-40B4-BE49-F238E27FC236}">
                      <a16:creationId xmlns:a16="http://schemas.microsoft.com/office/drawing/2014/main" id="{1F1D26A4-FC39-4E32-99EC-625C608846B4}"/>
                    </a:ext>
                  </a:extLst>
                </p:cNvPr>
                <p:cNvSpPr/>
                <p:nvPr/>
              </p:nvSpPr>
              <p:spPr>
                <a:xfrm>
                  <a:off x="2957819" y="3679596"/>
                  <a:ext cx="100401" cy="100401"/>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64" name="Isosceles Triangle 23">
                  <a:extLst>
                    <a:ext uri="{FF2B5EF4-FFF2-40B4-BE49-F238E27FC236}">
                      <a16:creationId xmlns:a16="http://schemas.microsoft.com/office/drawing/2014/main" id="{4862A9A7-37FA-4EBD-9232-3AD281C2E098}"/>
                    </a:ext>
                  </a:extLst>
                </p:cNvPr>
                <p:cNvSpPr/>
                <p:nvPr/>
              </p:nvSpPr>
              <p:spPr>
                <a:xfrm>
                  <a:off x="3145674" y="3761739"/>
                  <a:ext cx="100401" cy="100401"/>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65" name="Oval 17">
                  <a:extLst>
                    <a:ext uri="{FF2B5EF4-FFF2-40B4-BE49-F238E27FC236}">
                      <a16:creationId xmlns:a16="http://schemas.microsoft.com/office/drawing/2014/main" id="{E6E3FDBA-0B31-40C2-BFAA-78A1C350B278}"/>
                    </a:ext>
                  </a:extLst>
                </p:cNvPr>
                <p:cNvSpPr/>
                <p:nvPr/>
              </p:nvSpPr>
              <p:spPr>
                <a:xfrm>
                  <a:off x="2950055" y="3446102"/>
                  <a:ext cx="100401" cy="100401"/>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66" name="Oval 17">
                  <a:extLst>
                    <a:ext uri="{FF2B5EF4-FFF2-40B4-BE49-F238E27FC236}">
                      <a16:creationId xmlns:a16="http://schemas.microsoft.com/office/drawing/2014/main" id="{2043A26A-9A61-408C-9D00-6A712CF4B2C2}"/>
                    </a:ext>
                  </a:extLst>
                </p:cNvPr>
                <p:cNvSpPr/>
                <p:nvPr/>
              </p:nvSpPr>
              <p:spPr>
                <a:xfrm>
                  <a:off x="3225111" y="3528246"/>
                  <a:ext cx="100401" cy="100401"/>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67" name="Oval 17">
                  <a:extLst>
                    <a:ext uri="{FF2B5EF4-FFF2-40B4-BE49-F238E27FC236}">
                      <a16:creationId xmlns:a16="http://schemas.microsoft.com/office/drawing/2014/main" id="{1635CDF2-0A6D-4908-A18E-71980AE30B77}"/>
                    </a:ext>
                  </a:extLst>
                </p:cNvPr>
                <p:cNvSpPr/>
                <p:nvPr/>
              </p:nvSpPr>
              <p:spPr>
                <a:xfrm>
                  <a:off x="3359860" y="3825380"/>
                  <a:ext cx="100401" cy="100401"/>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68" name="Oval 17">
                  <a:extLst>
                    <a:ext uri="{FF2B5EF4-FFF2-40B4-BE49-F238E27FC236}">
                      <a16:creationId xmlns:a16="http://schemas.microsoft.com/office/drawing/2014/main" id="{648B13FF-6035-4927-8F0B-C995E3FEB3A7}"/>
                    </a:ext>
                  </a:extLst>
                </p:cNvPr>
                <p:cNvSpPr/>
                <p:nvPr/>
              </p:nvSpPr>
              <p:spPr>
                <a:xfrm>
                  <a:off x="3371548" y="4131585"/>
                  <a:ext cx="100401" cy="100401"/>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69" name="Isosceles Triangle 23">
                  <a:extLst>
                    <a:ext uri="{FF2B5EF4-FFF2-40B4-BE49-F238E27FC236}">
                      <a16:creationId xmlns:a16="http://schemas.microsoft.com/office/drawing/2014/main" id="{D8E60089-682A-425C-969E-F178E1C5BADA}"/>
                    </a:ext>
                  </a:extLst>
                </p:cNvPr>
                <p:cNvSpPr/>
                <p:nvPr/>
              </p:nvSpPr>
              <p:spPr>
                <a:xfrm>
                  <a:off x="2840121" y="4014862"/>
                  <a:ext cx="100401" cy="100401"/>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70" name="Isosceles Triangle 23">
                  <a:extLst>
                    <a:ext uri="{FF2B5EF4-FFF2-40B4-BE49-F238E27FC236}">
                      <a16:creationId xmlns:a16="http://schemas.microsoft.com/office/drawing/2014/main" id="{DE8D6893-E79F-43A8-96F8-EEFD6DCACEBA}"/>
                    </a:ext>
                  </a:extLst>
                </p:cNvPr>
                <p:cNvSpPr/>
                <p:nvPr/>
              </p:nvSpPr>
              <p:spPr>
                <a:xfrm>
                  <a:off x="3008019" y="3878286"/>
                  <a:ext cx="100401" cy="100401"/>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71" name="Isosceles Triangle 23">
                  <a:extLst>
                    <a:ext uri="{FF2B5EF4-FFF2-40B4-BE49-F238E27FC236}">
                      <a16:creationId xmlns:a16="http://schemas.microsoft.com/office/drawing/2014/main" id="{182F7FA5-0DE0-4489-96F3-A0AC59D6998B}"/>
                    </a:ext>
                  </a:extLst>
                </p:cNvPr>
                <p:cNvSpPr/>
                <p:nvPr/>
              </p:nvSpPr>
              <p:spPr>
                <a:xfrm>
                  <a:off x="3087670" y="4030294"/>
                  <a:ext cx="100401" cy="100401"/>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72" name="Oval 17">
                  <a:extLst>
                    <a:ext uri="{FF2B5EF4-FFF2-40B4-BE49-F238E27FC236}">
                      <a16:creationId xmlns:a16="http://schemas.microsoft.com/office/drawing/2014/main" id="{F3641114-359C-4D53-8102-7FB5FCAFC199}"/>
                    </a:ext>
                  </a:extLst>
                </p:cNvPr>
                <p:cNvSpPr/>
                <p:nvPr/>
              </p:nvSpPr>
              <p:spPr>
                <a:xfrm>
                  <a:off x="3192733" y="4308599"/>
                  <a:ext cx="100401" cy="100401"/>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grpSp>
          <p:grpSp>
            <p:nvGrpSpPr>
              <p:cNvPr id="5" name="그룹 4">
                <a:extLst>
                  <a:ext uri="{FF2B5EF4-FFF2-40B4-BE49-F238E27FC236}">
                    <a16:creationId xmlns:a16="http://schemas.microsoft.com/office/drawing/2014/main" id="{31F6BD28-8CF1-4558-9014-D17D5090D6BB}"/>
                  </a:ext>
                </a:extLst>
              </p:cNvPr>
              <p:cNvGrpSpPr/>
              <p:nvPr/>
            </p:nvGrpSpPr>
            <p:grpSpPr>
              <a:xfrm>
                <a:off x="5426376" y="3008460"/>
                <a:ext cx="3069868" cy="2353248"/>
                <a:chOff x="5287353" y="3076007"/>
                <a:chExt cx="3069868" cy="2353248"/>
              </a:xfrm>
            </p:grpSpPr>
            <p:grpSp>
              <p:nvGrpSpPr>
                <p:cNvPr id="50" name="그룹 49">
                  <a:extLst>
                    <a:ext uri="{FF2B5EF4-FFF2-40B4-BE49-F238E27FC236}">
                      <a16:creationId xmlns:a16="http://schemas.microsoft.com/office/drawing/2014/main" id="{E46F0BC6-7BDC-4996-8285-741426DF55D6}"/>
                    </a:ext>
                  </a:extLst>
                </p:cNvPr>
                <p:cNvGrpSpPr/>
                <p:nvPr/>
              </p:nvGrpSpPr>
              <p:grpSpPr>
                <a:xfrm>
                  <a:off x="5293281" y="3076007"/>
                  <a:ext cx="2097141" cy="1797549"/>
                  <a:chOff x="6335485" y="3578949"/>
                  <a:chExt cx="2520000" cy="2160000"/>
                </a:xfrm>
              </p:grpSpPr>
              <p:cxnSp>
                <p:nvCxnSpPr>
                  <p:cNvPr id="95" name="직선 화살표 연결선 94">
                    <a:extLst>
                      <a:ext uri="{FF2B5EF4-FFF2-40B4-BE49-F238E27FC236}">
                        <a16:creationId xmlns:a16="http://schemas.microsoft.com/office/drawing/2014/main" id="{D6512CDF-F12A-4098-BCF2-E3B23F68D120}"/>
                      </a:ext>
                    </a:extLst>
                  </p:cNvPr>
                  <p:cNvCxnSpPr>
                    <a:cxnSpLocks/>
                  </p:cNvCxnSpPr>
                  <p:nvPr/>
                </p:nvCxnSpPr>
                <p:spPr>
                  <a:xfrm>
                    <a:off x="6335485" y="5738949"/>
                    <a:ext cx="2520000"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6" name="직선 화살표 연결선 95">
                    <a:extLst>
                      <a:ext uri="{FF2B5EF4-FFF2-40B4-BE49-F238E27FC236}">
                        <a16:creationId xmlns:a16="http://schemas.microsoft.com/office/drawing/2014/main" id="{A0B50F38-9A05-414D-B52D-D60EF32D8AE9}"/>
                      </a:ext>
                    </a:extLst>
                  </p:cNvPr>
                  <p:cNvCxnSpPr>
                    <a:cxnSpLocks/>
                  </p:cNvCxnSpPr>
                  <p:nvPr/>
                </p:nvCxnSpPr>
                <p:spPr>
                  <a:xfrm rot="10800000">
                    <a:off x="6335485" y="3578949"/>
                    <a:ext cx="0" cy="216000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412DCF52-286B-486A-8B39-EDE2937E1335}"/>
                        </a:ext>
                      </a:extLst>
                    </p:cNvPr>
                    <p:cNvSpPr txBox="1"/>
                    <p:nvPr/>
                  </p:nvSpPr>
                  <p:spPr>
                    <a:xfrm>
                      <a:off x="7138263" y="4913324"/>
                      <a:ext cx="350515"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𝑋</m:t>
                                </m:r>
                              </m:e>
                              <m:sub>
                                <m:r>
                                  <a:rPr lang="en-US" altLang="ko-KR" i="1">
                                    <a:latin typeface="Cambria Math" panose="02040503050406030204" pitchFamily="18" charset="0"/>
                                  </a:rPr>
                                  <m:t>1</m:t>
                                </m:r>
                              </m:sub>
                            </m:sSub>
                          </m:oMath>
                        </m:oMathPara>
                      </a14:m>
                      <a:endParaRPr lang="ko-KR" altLang="en-US" dirty="0">
                        <a:latin typeface="SamsungOne 400" panose="020B0503030303020204" pitchFamily="34" charset="0"/>
                      </a:endParaRPr>
                    </a:p>
                  </p:txBody>
                </p:sp>
              </mc:Choice>
              <mc:Fallback xmlns="">
                <p:sp>
                  <p:nvSpPr>
                    <p:cNvPr id="51" name="TextBox 50">
                      <a:extLst>
                        <a:ext uri="{FF2B5EF4-FFF2-40B4-BE49-F238E27FC236}">
                          <a16:creationId xmlns:a16="http://schemas.microsoft.com/office/drawing/2014/main" id="{412DCF52-286B-486A-8B39-EDE2937E1335}"/>
                        </a:ext>
                      </a:extLst>
                    </p:cNvPr>
                    <p:cNvSpPr txBox="1">
                      <a:spLocks noRot="1" noChangeAspect="1" noMove="1" noResize="1" noEditPoints="1" noAdjustHandles="1" noChangeArrowheads="1" noChangeShapeType="1" noTextEdit="1"/>
                    </p:cNvSpPr>
                    <p:nvPr/>
                  </p:nvSpPr>
                  <p:spPr>
                    <a:xfrm>
                      <a:off x="7138263" y="4913324"/>
                      <a:ext cx="350515" cy="369332"/>
                    </a:xfrm>
                    <a:prstGeom prst="rect">
                      <a:avLst/>
                    </a:prstGeom>
                    <a:blipFill>
                      <a:blip r:embed="rId6"/>
                      <a:stretch>
                        <a:fillRect r="-8772"/>
                      </a:stretch>
                    </a:blipFill>
                  </p:spPr>
                  <p:txBody>
                    <a:bodyPr/>
                    <a:lstStyle/>
                    <a:p>
                      <a:r>
                        <a:rPr lang="ko-KR" altLang="en-US">
                          <a:noFill/>
                        </a:rPr>
                        <a:t> </a:t>
                      </a:r>
                    </a:p>
                  </p:txBody>
                </p:sp>
              </mc:Fallback>
            </mc:AlternateContent>
            <p:sp>
              <p:nvSpPr>
                <p:cNvPr id="52" name="TextBox 51">
                  <a:extLst>
                    <a:ext uri="{FF2B5EF4-FFF2-40B4-BE49-F238E27FC236}">
                      <a16:creationId xmlns:a16="http://schemas.microsoft.com/office/drawing/2014/main" id="{D5F104D5-C22E-49F8-8BAA-0401F4D16343}"/>
                    </a:ext>
                  </a:extLst>
                </p:cNvPr>
                <p:cNvSpPr txBox="1"/>
                <p:nvPr/>
              </p:nvSpPr>
              <p:spPr>
                <a:xfrm>
                  <a:off x="5945316" y="5059923"/>
                  <a:ext cx="761772" cy="369332"/>
                </a:xfrm>
                <a:prstGeom prst="rect">
                  <a:avLst/>
                </a:prstGeom>
                <a:noFill/>
              </p:spPr>
              <p:txBody>
                <a:bodyPr wrap="square" rtlCol="0">
                  <a:spAutoFit/>
                </a:bodyPr>
                <a:lstStyle/>
                <a:p>
                  <a:pPr algn="ctr"/>
                  <a:r>
                    <a:rPr lang="en-US" altLang="ko-KR" dirty="0">
                      <a:solidFill>
                        <a:srgbClr val="00B050"/>
                      </a:solidFill>
                      <a:latin typeface="SamsungOne 400" panose="020B0503030303020204" pitchFamily="34" charset="0"/>
                      <a:ea typeface="SamsungOne 400" panose="020B0503030303020204" pitchFamily="34" charset="0"/>
                      <a:cs typeface="Times New Roman" panose="02020603050405020304" pitchFamily="18" charset="0"/>
                    </a:rPr>
                    <a:t>3D</a:t>
                  </a:r>
                  <a:endParaRPr lang="ko-KR" altLang="en-US" dirty="0">
                    <a:solidFill>
                      <a:srgbClr val="00B050"/>
                    </a:solidFill>
                    <a:latin typeface="SamsungOne 400" panose="020B0503030303020204" pitchFamily="34" charset="0"/>
                    <a:cs typeface="Times New Roman" panose="02020603050405020304" pitchFamily="18" charset="0"/>
                  </a:endParaRPr>
                </a:p>
              </p:txBody>
            </p:sp>
            <p:grpSp>
              <p:nvGrpSpPr>
                <p:cNvPr id="73" name="그룹 72">
                  <a:extLst>
                    <a:ext uri="{FF2B5EF4-FFF2-40B4-BE49-F238E27FC236}">
                      <a16:creationId xmlns:a16="http://schemas.microsoft.com/office/drawing/2014/main" id="{F279AC0D-CBDA-491C-834B-2C5A03578439}"/>
                    </a:ext>
                  </a:extLst>
                </p:cNvPr>
                <p:cNvGrpSpPr/>
                <p:nvPr/>
              </p:nvGrpSpPr>
              <p:grpSpPr>
                <a:xfrm>
                  <a:off x="5287353" y="3197959"/>
                  <a:ext cx="3069868" cy="1682242"/>
                  <a:chOff x="17043680" y="3831644"/>
                  <a:chExt cx="3524603" cy="1931428"/>
                </a:xfrm>
              </p:grpSpPr>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037CAF5E-51C3-4574-8BA0-C338A149F668}"/>
                          </a:ext>
                        </a:extLst>
                      </p:cNvPr>
                      <p:cNvSpPr txBox="1"/>
                      <p:nvPr/>
                    </p:nvSpPr>
                    <p:spPr>
                      <a:xfrm>
                        <a:off x="18280454" y="3831644"/>
                        <a:ext cx="421191" cy="42404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𝑋</m:t>
                                  </m:r>
                                </m:e>
                                <m:sub>
                                  <m:r>
                                    <a:rPr lang="en-US" altLang="ko-KR" i="1">
                                      <a:latin typeface="Cambria Math" panose="02040503050406030204" pitchFamily="18" charset="0"/>
                                    </a:rPr>
                                    <m:t>2</m:t>
                                  </m:r>
                                </m:sub>
                              </m:sSub>
                            </m:oMath>
                          </m:oMathPara>
                        </a14:m>
                        <a:endParaRPr lang="ko-KR" altLang="en-US" dirty="0">
                          <a:latin typeface="SamsungOne 400" panose="020B0503030303020204" pitchFamily="34" charset="0"/>
                        </a:endParaRPr>
                      </a:p>
                    </p:txBody>
                  </p:sp>
                </mc:Choice>
                <mc:Fallback xmlns="">
                  <p:sp>
                    <p:nvSpPr>
                      <p:cNvPr id="147" name="TextBox 146">
                        <a:extLst>
                          <a:ext uri="{FF2B5EF4-FFF2-40B4-BE49-F238E27FC236}">
                            <a16:creationId xmlns:a16="http://schemas.microsoft.com/office/drawing/2014/main" id="{E3784BC4-B5D2-4E1C-BDCC-055A33997883}"/>
                          </a:ext>
                        </a:extLst>
                      </p:cNvPr>
                      <p:cNvSpPr txBox="1">
                        <a:spLocks noRot="1" noChangeAspect="1" noMove="1" noResize="1" noEditPoints="1" noAdjustHandles="1" noChangeArrowheads="1" noChangeShapeType="1" noTextEdit="1"/>
                      </p:cNvSpPr>
                      <p:nvPr/>
                    </p:nvSpPr>
                    <p:spPr>
                      <a:xfrm>
                        <a:off x="18280454" y="3831644"/>
                        <a:ext cx="421191" cy="424040"/>
                      </a:xfrm>
                      <a:prstGeom prst="rect">
                        <a:avLst/>
                      </a:prstGeom>
                      <a:blipFill>
                        <a:blip r:embed="rId7"/>
                        <a:stretch>
                          <a:fillRect r="-6667"/>
                        </a:stretch>
                      </a:blipFill>
                    </p:spPr>
                    <p:txBody>
                      <a:bodyPr/>
                      <a:lstStyle/>
                      <a:p>
                        <a:r>
                          <a:rPr lang="ko-KR" altLang="en-US">
                            <a:noFill/>
                          </a:rPr>
                          <a:t> </a:t>
                        </a:r>
                      </a:p>
                    </p:txBody>
                  </p:sp>
                </mc:Fallback>
              </mc:AlternateContent>
              <p:cxnSp>
                <p:nvCxnSpPr>
                  <p:cNvPr id="75" name="직선 화살표 연결선 74">
                    <a:extLst>
                      <a:ext uri="{FF2B5EF4-FFF2-40B4-BE49-F238E27FC236}">
                        <a16:creationId xmlns:a16="http://schemas.microsoft.com/office/drawing/2014/main" id="{6E8D4557-1E03-4AE0-88DA-E01F20EEADB6}"/>
                      </a:ext>
                    </a:extLst>
                  </p:cNvPr>
                  <p:cNvCxnSpPr>
                    <a:cxnSpLocks/>
                  </p:cNvCxnSpPr>
                  <p:nvPr/>
                </p:nvCxnSpPr>
                <p:spPr>
                  <a:xfrm flipV="1">
                    <a:off x="17043680" y="4317894"/>
                    <a:ext cx="1522485" cy="1445178"/>
                  </a:xfrm>
                  <a:prstGeom prst="straightConnector1">
                    <a:avLst/>
                  </a:prstGeom>
                  <a:ln w="1270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 name="Isosceles Triangle 23">
                    <a:extLst>
                      <a:ext uri="{FF2B5EF4-FFF2-40B4-BE49-F238E27FC236}">
                        <a16:creationId xmlns:a16="http://schemas.microsoft.com/office/drawing/2014/main" id="{B23155FD-B599-4E06-BE92-8368D0FA4EDB}"/>
                      </a:ext>
                    </a:extLst>
                  </p:cNvPr>
                  <p:cNvSpPr/>
                  <p:nvPr/>
                </p:nvSpPr>
                <p:spPr>
                  <a:xfrm>
                    <a:off x="18172453" y="4960936"/>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77" name="Isosceles Triangle 23">
                    <a:extLst>
                      <a:ext uri="{FF2B5EF4-FFF2-40B4-BE49-F238E27FC236}">
                        <a16:creationId xmlns:a16="http://schemas.microsoft.com/office/drawing/2014/main" id="{9FDE7F02-CD08-4A62-AC34-5592D5B7B07B}"/>
                      </a:ext>
                    </a:extLst>
                  </p:cNvPr>
                  <p:cNvSpPr/>
                  <p:nvPr/>
                </p:nvSpPr>
                <p:spPr>
                  <a:xfrm>
                    <a:off x="18252286" y="5263783"/>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78" name="Isosceles Triangle 23">
                    <a:extLst>
                      <a:ext uri="{FF2B5EF4-FFF2-40B4-BE49-F238E27FC236}">
                        <a16:creationId xmlns:a16="http://schemas.microsoft.com/office/drawing/2014/main" id="{2549AE07-8AFC-45F9-B463-DD1BACB9C251}"/>
                      </a:ext>
                    </a:extLst>
                  </p:cNvPr>
                  <p:cNvSpPr/>
                  <p:nvPr/>
                </p:nvSpPr>
                <p:spPr>
                  <a:xfrm>
                    <a:off x="18110493" y="5098371"/>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79" name="Isosceles Triangle 23">
                    <a:extLst>
                      <a:ext uri="{FF2B5EF4-FFF2-40B4-BE49-F238E27FC236}">
                        <a16:creationId xmlns:a16="http://schemas.microsoft.com/office/drawing/2014/main" id="{812845D0-BC65-4A4A-A7FA-CA7D20016FCC}"/>
                      </a:ext>
                    </a:extLst>
                  </p:cNvPr>
                  <p:cNvSpPr/>
                  <p:nvPr/>
                </p:nvSpPr>
                <p:spPr>
                  <a:xfrm>
                    <a:off x="18250874" y="5104647"/>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80" name="Isosceles Triangle 23">
                    <a:extLst>
                      <a:ext uri="{FF2B5EF4-FFF2-40B4-BE49-F238E27FC236}">
                        <a16:creationId xmlns:a16="http://schemas.microsoft.com/office/drawing/2014/main" id="{3B67BA7D-10B6-4A09-A3C9-F076375243AF}"/>
                      </a:ext>
                    </a:extLst>
                  </p:cNvPr>
                  <p:cNvSpPr/>
                  <p:nvPr/>
                </p:nvSpPr>
                <p:spPr>
                  <a:xfrm>
                    <a:off x="18417863" y="4972814"/>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81" name="Isosceles Triangle 23">
                    <a:extLst>
                      <a:ext uri="{FF2B5EF4-FFF2-40B4-BE49-F238E27FC236}">
                        <a16:creationId xmlns:a16="http://schemas.microsoft.com/office/drawing/2014/main" id="{D5E83E36-CFA5-4CD2-A3EE-692BFB744470}"/>
                      </a:ext>
                    </a:extLst>
                  </p:cNvPr>
                  <p:cNvSpPr/>
                  <p:nvPr/>
                </p:nvSpPr>
                <p:spPr>
                  <a:xfrm>
                    <a:off x="18440400" y="5152185"/>
                    <a:ext cx="108000" cy="108000"/>
                  </a:xfrm>
                  <a:prstGeom prst="triangle">
                    <a:avLst/>
                  </a:prstGeom>
                  <a:solidFill>
                    <a:srgbClr val="FF0000">
                      <a:alpha val="31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400" panose="020B0503030303020204" pitchFamily="34" charset="0"/>
                      <a:ea typeface="SamsungOne 400" panose="020B0503030303020204" pitchFamily="34" charset="0"/>
                    </a:endParaRPr>
                  </a:p>
                </p:txBody>
              </p:sp>
              <p:sp>
                <p:nvSpPr>
                  <p:cNvPr id="82" name="Oval 17">
                    <a:extLst>
                      <a:ext uri="{FF2B5EF4-FFF2-40B4-BE49-F238E27FC236}">
                        <a16:creationId xmlns:a16="http://schemas.microsoft.com/office/drawing/2014/main" id="{907D1738-36F6-421A-B5F6-22729F86335D}"/>
                      </a:ext>
                    </a:extLst>
                  </p:cNvPr>
                  <p:cNvSpPr/>
                  <p:nvPr/>
                </p:nvSpPr>
                <p:spPr>
                  <a:xfrm>
                    <a:off x="17927140" y="4276082"/>
                    <a:ext cx="108000" cy="108000"/>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83" name="Oval 17">
                    <a:extLst>
                      <a:ext uri="{FF2B5EF4-FFF2-40B4-BE49-F238E27FC236}">
                        <a16:creationId xmlns:a16="http://schemas.microsoft.com/office/drawing/2014/main" id="{7EE6AF57-FB1E-4969-8EB5-F0CAFBEDEB35}"/>
                      </a:ext>
                    </a:extLst>
                  </p:cNvPr>
                  <p:cNvSpPr/>
                  <p:nvPr/>
                </p:nvSpPr>
                <p:spPr>
                  <a:xfrm>
                    <a:off x="18472720" y="4195407"/>
                    <a:ext cx="108000" cy="108000"/>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84" name="Oval 17">
                    <a:extLst>
                      <a:ext uri="{FF2B5EF4-FFF2-40B4-BE49-F238E27FC236}">
                        <a16:creationId xmlns:a16="http://schemas.microsoft.com/office/drawing/2014/main" id="{7071722C-AA1B-40AC-9962-87AC12E2BF2B}"/>
                      </a:ext>
                    </a:extLst>
                  </p:cNvPr>
                  <p:cNvSpPr/>
                  <p:nvPr/>
                </p:nvSpPr>
                <p:spPr>
                  <a:xfrm>
                    <a:off x="18795680" y="4262445"/>
                    <a:ext cx="108000" cy="108000"/>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85" name="Oval 17">
                    <a:extLst>
                      <a:ext uri="{FF2B5EF4-FFF2-40B4-BE49-F238E27FC236}">
                        <a16:creationId xmlns:a16="http://schemas.microsoft.com/office/drawing/2014/main" id="{11ABD983-0C0A-4E31-8509-D2C7B34BE370}"/>
                      </a:ext>
                    </a:extLst>
                  </p:cNvPr>
                  <p:cNvSpPr/>
                  <p:nvPr/>
                </p:nvSpPr>
                <p:spPr>
                  <a:xfrm>
                    <a:off x="18964073" y="4466734"/>
                    <a:ext cx="108000" cy="108000"/>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86" name="Oval 17">
                    <a:extLst>
                      <a:ext uri="{FF2B5EF4-FFF2-40B4-BE49-F238E27FC236}">
                        <a16:creationId xmlns:a16="http://schemas.microsoft.com/office/drawing/2014/main" id="{735AE010-DAB0-43F8-AE29-32F73DE5474D}"/>
                      </a:ext>
                    </a:extLst>
                  </p:cNvPr>
                  <p:cNvSpPr/>
                  <p:nvPr/>
                </p:nvSpPr>
                <p:spPr>
                  <a:xfrm>
                    <a:off x="17761893" y="4505919"/>
                    <a:ext cx="108000" cy="108000"/>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87" name="Oval 17">
                    <a:extLst>
                      <a:ext uri="{FF2B5EF4-FFF2-40B4-BE49-F238E27FC236}">
                        <a16:creationId xmlns:a16="http://schemas.microsoft.com/office/drawing/2014/main" id="{D8E546A4-2256-4B1C-AE22-8A7D72B773AA}"/>
                      </a:ext>
                    </a:extLst>
                  </p:cNvPr>
                  <p:cNvSpPr/>
                  <p:nvPr/>
                </p:nvSpPr>
                <p:spPr>
                  <a:xfrm>
                    <a:off x="18726775" y="4644583"/>
                    <a:ext cx="108000" cy="108000"/>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88" name="Oval 17">
                    <a:extLst>
                      <a:ext uri="{FF2B5EF4-FFF2-40B4-BE49-F238E27FC236}">
                        <a16:creationId xmlns:a16="http://schemas.microsoft.com/office/drawing/2014/main" id="{E5AD24CC-C737-4982-8302-C0CC06CD23BD}"/>
                      </a:ext>
                    </a:extLst>
                  </p:cNvPr>
                  <p:cNvSpPr/>
                  <p:nvPr/>
                </p:nvSpPr>
                <p:spPr>
                  <a:xfrm>
                    <a:off x="18203760" y="4178570"/>
                    <a:ext cx="108000" cy="108000"/>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89" name="자유형: 도형 76">
                    <a:extLst>
                      <a:ext uri="{FF2B5EF4-FFF2-40B4-BE49-F238E27FC236}">
                        <a16:creationId xmlns:a16="http://schemas.microsoft.com/office/drawing/2014/main" id="{DBB814CD-A79E-4858-AAA2-5F5536805A92}"/>
                      </a:ext>
                    </a:extLst>
                  </p:cNvPr>
                  <p:cNvSpPr/>
                  <p:nvPr/>
                </p:nvSpPr>
                <p:spPr>
                  <a:xfrm>
                    <a:off x="17487094" y="4788142"/>
                    <a:ext cx="1907177" cy="177881"/>
                  </a:xfrm>
                  <a:custGeom>
                    <a:avLst/>
                    <a:gdLst>
                      <a:gd name="connsiteX0" fmla="*/ 317863 w 1907177"/>
                      <a:gd name="connsiteY0" fmla="*/ 0 h 326571"/>
                      <a:gd name="connsiteX1" fmla="*/ 0 w 1907177"/>
                      <a:gd name="connsiteY1" fmla="*/ 317863 h 326571"/>
                      <a:gd name="connsiteX2" fmla="*/ 1576251 w 1907177"/>
                      <a:gd name="connsiteY2" fmla="*/ 326571 h 326571"/>
                      <a:gd name="connsiteX3" fmla="*/ 1907177 w 1907177"/>
                      <a:gd name="connsiteY3" fmla="*/ 4354 h 326571"/>
                      <a:gd name="connsiteX4" fmla="*/ 317863 w 1907177"/>
                      <a:gd name="connsiteY4" fmla="*/ 0 h 326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177" h="326571">
                        <a:moveTo>
                          <a:pt x="317863" y="0"/>
                        </a:moveTo>
                        <a:lnTo>
                          <a:pt x="0" y="317863"/>
                        </a:lnTo>
                        <a:lnTo>
                          <a:pt x="1576251" y="326571"/>
                        </a:lnTo>
                        <a:lnTo>
                          <a:pt x="1907177" y="4354"/>
                        </a:lnTo>
                        <a:lnTo>
                          <a:pt x="317863" y="0"/>
                        </a:lnTo>
                        <a:close/>
                      </a:path>
                    </a:pathLst>
                  </a:custGeom>
                  <a:solidFill>
                    <a:srgbClr val="00B050">
                      <a:alpha val="15000"/>
                    </a:srgbClr>
                  </a:solidFill>
                  <a:ln>
                    <a:solidFill>
                      <a:srgbClr val="00B050">
                        <a:alpha val="7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SamsungOne 400" panose="020B0503030303020204" pitchFamily="34" charset="0"/>
                    </a:endParaRPr>
                  </a:p>
                </p:txBody>
              </p:sp>
              <p:sp>
                <p:nvSpPr>
                  <p:cNvPr id="90" name="Oval 17">
                    <a:extLst>
                      <a:ext uri="{FF2B5EF4-FFF2-40B4-BE49-F238E27FC236}">
                        <a16:creationId xmlns:a16="http://schemas.microsoft.com/office/drawing/2014/main" id="{72E4A4A7-2DA6-484E-B8D0-972E39DF7FE2}"/>
                      </a:ext>
                    </a:extLst>
                  </p:cNvPr>
                  <p:cNvSpPr/>
                  <p:nvPr/>
                </p:nvSpPr>
                <p:spPr>
                  <a:xfrm>
                    <a:off x="18414362" y="4742241"/>
                    <a:ext cx="108000" cy="108000"/>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p:sp>
                <p:nvSpPr>
                  <p:cNvPr id="91" name="Oval 17">
                    <a:extLst>
                      <a:ext uri="{FF2B5EF4-FFF2-40B4-BE49-F238E27FC236}">
                        <a16:creationId xmlns:a16="http://schemas.microsoft.com/office/drawing/2014/main" id="{68D9E2FE-7021-4337-902A-0C8C48FF45F0}"/>
                      </a:ext>
                    </a:extLst>
                  </p:cNvPr>
                  <p:cNvSpPr/>
                  <p:nvPr/>
                </p:nvSpPr>
                <p:spPr>
                  <a:xfrm>
                    <a:off x="18024587" y="4687495"/>
                    <a:ext cx="108000" cy="108000"/>
                  </a:xfrm>
                  <a:prstGeom prst="ellipse">
                    <a:avLst/>
                  </a:prstGeom>
                  <a:solidFill>
                    <a:schemeClr val="accent1">
                      <a:alpha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msungOne 400" panose="020B0503030303020204" pitchFamily="34" charset="0"/>
                      <a:ea typeface="SamsungOne 400" panose="020B0503030303020204" pitchFamily="34" charset="0"/>
                    </a:endParaRP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4F2E5CB5-6553-4441-99C3-0B83C58855CD}"/>
                          </a:ext>
                        </a:extLst>
                      </p:cNvPr>
                      <p:cNvSpPr txBox="1"/>
                      <p:nvPr/>
                    </p:nvSpPr>
                    <p:spPr>
                      <a:xfrm>
                        <a:off x="18978628" y="4213336"/>
                        <a:ext cx="1589655" cy="42831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altLang="ko-KR" i="1">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𝑋</m:t>
                                  </m:r>
                                </m:e>
                                <m:sub>
                                  <m:r>
                                    <a:rPr lang="en-US" altLang="ko-KR" i="1">
                                      <a:latin typeface="Cambria Math" panose="02040503050406030204" pitchFamily="18" charset="0"/>
                                    </a:rPr>
                                    <m:t>1</m:t>
                                  </m:r>
                                </m:sub>
                                <m:sup>
                                  <m:r>
                                    <a:rPr lang="en-US" altLang="ko-KR" i="1">
                                      <a:latin typeface="Cambria Math" panose="02040503050406030204" pitchFamily="18" charset="0"/>
                                    </a:rPr>
                                    <m:t>2</m:t>
                                  </m:r>
                                </m:sup>
                              </m:sSubSup>
                              <m:r>
                                <a:rPr lang="en-US" altLang="ko-KR" i="1">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𝑋</m:t>
                                  </m:r>
                                </m:e>
                                <m:sub>
                                  <m:r>
                                    <a:rPr lang="en-US" altLang="ko-KR" i="1">
                                      <a:latin typeface="Cambria Math" panose="02040503050406030204" pitchFamily="18" charset="0"/>
                                    </a:rPr>
                                    <m:t>2</m:t>
                                  </m:r>
                                </m:sub>
                                <m:sup>
                                  <m:r>
                                    <a:rPr lang="en-US" altLang="ko-KR" i="1">
                                      <a:latin typeface="Cambria Math" panose="02040503050406030204" pitchFamily="18" charset="0"/>
                                    </a:rPr>
                                    <m:t>2</m:t>
                                  </m:r>
                                </m:sup>
                              </m:sSubSup>
                            </m:oMath>
                          </m:oMathPara>
                        </a14:m>
                        <a:endParaRPr lang="ko-KR" altLang="en-US" dirty="0">
                          <a:latin typeface="SamsungOne 400" panose="020B0503030303020204" pitchFamily="34" charset="0"/>
                        </a:endParaRPr>
                      </a:p>
                    </p:txBody>
                  </p:sp>
                </mc:Choice>
                <mc:Fallback xmlns="">
                  <p:sp>
                    <p:nvSpPr>
                      <p:cNvPr id="165" name="TextBox 164">
                        <a:extLst>
                          <a:ext uri="{FF2B5EF4-FFF2-40B4-BE49-F238E27FC236}">
                            <a16:creationId xmlns:a16="http://schemas.microsoft.com/office/drawing/2014/main" id="{4549838B-2937-40A8-B2E3-F33E11952361}"/>
                          </a:ext>
                        </a:extLst>
                      </p:cNvPr>
                      <p:cNvSpPr txBox="1">
                        <a:spLocks noRot="1" noChangeAspect="1" noMove="1" noResize="1" noEditPoints="1" noAdjustHandles="1" noChangeArrowheads="1" noChangeShapeType="1" noTextEdit="1"/>
                      </p:cNvSpPr>
                      <p:nvPr/>
                    </p:nvSpPr>
                    <p:spPr>
                      <a:xfrm>
                        <a:off x="18978628" y="4213336"/>
                        <a:ext cx="1589655" cy="428310"/>
                      </a:xfrm>
                      <a:prstGeom prst="rect">
                        <a:avLst/>
                      </a:prstGeom>
                      <a:blipFill>
                        <a:blip r:embed="rId8"/>
                        <a:stretch>
                          <a:fillRect b="-1639"/>
                        </a:stretch>
                      </a:blipFill>
                    </p:spPr>
                    <p:txBody>
                      <a:bodyPr/>
                      <a:lstStyle/>
                      <a:p>
                        <a:r>
                          <a:rPr lang="ko-KR" altLang="en-US">
                            <a:noFill/>
                          </a:rPr>
                          <a:t> </a:t>
                        </a:r>
                      </a:p>
                    </p:txBody>
                  </p:sp>
                </mc:Fallback>
              </mc:AlternateContent>
            </p:grpSp>
          </p:grpSp>
        </p:grpSp>
        <p:sp>
          <p:nvSpPr>
            <p:cNvPr id="99" name="Right Arrow 63">
              <a:extLst>
                <a:ext uri="{FF2B5EF4-FFF2-40B4-BE49-F238E27FC236}">
                  <a16:creationId xmlns:a16="http://schemas.microsoft.com/office/drawing/2014/main" id="{A6340EB2-E621-4C4B-8E8D-C3FFBB8CD7EA}"/>
                </a:ext>
              </a:extLst>
            </p:cNvPr>
            <p:cNvSpPr/>
            <p:nvPr/>
          </p:nvSpPr>
          <p:spPr>
            <a:xfrm>
              <a:off x="4740216" y="3896412"/>
              <a:ext cx="324036" cy="238589"/>
            </a:xfrm>
            <a:prstGeom prst="rightArrow">
              <a:avLst>
                <a:gd name="adj1" fmla="val 52110"/>
                <a:gd name="adj2" fmla="val 56763"/>
              </a:avLst>
            </a:prstGeom>
            <a:solidFill>
              <a:srgbClr val="1429A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a:endParaRPr lang="en-US" sz="1400"/>
            </a:p>
          </p:txBody>
        </p:sp>
      </p:grpSp>
    </p:spTree>
    <p:extLst>
      <p:ext uri="{BB962C8B-B14F-4D97-AF65-F5344CB8AC3E}">
        <p14:creationId xmlns:p14="http://schemas.microsoft.com/office/powerpoint/2010/main" val="178878028"/>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7.1. SVM Algorithm</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07</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E767A8E2-6FB8-4337-838A-D76295D5F77F}"/>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Kernel</a:t>
            </a:r>
          </a:p>
        </p:txBody>
      </p:sp>
      <mc:AlternateContent xmlns:mc="http://schemas.openxmlformats.org/markup-compatibility/2006" xmlns:a14="http://schemas.microsoft.com/office/drawing/2010/main">
        <mc:Choice Requires="a14">
          <p:sp>
            <p:nvSpPr>
              <p:cNvPr id="29" name="직사각형 28">
                <a:extLst>
                  <a:ext uri="{FF2B5EF4-FFF2-40B4-BE49-F238E27FC236}">
                    <a16:creationId xmlns:a16="http://schemas.microsoft.com/office/drawing/2014/main" id="{04A38E18-3E67-41F7-902E-B9A07DFF9D50}"/>
                  </a:ext>
                </a:extLst>
              </p:cNvPr>
              <p:cNvSpPr/>
              <p:nvPr/>
            </p:nvSpPr>
            <p:spPr>
              <a:xfrm>
                <a:off x="671261" y="1700808"/>
                <a:ext cx="8672764" cy="15991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Effective mapping to a higher dimension by giving the inner product of two vectors </a:t>
                </a:r>
                <a14:m>
                  <m:oMath xmlns:m="http://schemas.openxmlformats.org/officeDocument/2006/math">
                    <m:sSub>
                      <m:sSubPr>
                        <m:ctrlP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en-US" altLang="ko-KR" sz="1300" b="1" i="1">
                            <a:solidFill>
                              <a:schemeClr val="tx1">
                                <a:lumMod val="85000"/>
                                <a:lumOff val="15000"/>
                              </a:schemeClr>
                            </a:solidFill>
                            <a:latin typeface="Cambria Math" panose="02040503050406030204" pitchFamily="18" charset="0"/>
                            <a:cs typeface="Times New Roman" panose="02020603050405020304" pitchFamily="18" charset="0"/>
                          </a:rPr>
                          <m:t>𝒙</m:t>
                        </m:r>
                      </m:e>
                      <m:sub>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1</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and </a:t>
                </a:r>
                <a14:m>
                  <m:oMath xmlns:m="http://schemas.openxmlformats.org/officeDocument/2006/math">
                    <m:sSub>
                      <m:sSubPr>
                        <m:ctrlP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en-US" altLang="ko-KR" sz="1300" b="1" i="1">
                            <a:solidFill>
                              <a:schemeClr val="tx1">
                                <a:lumMod val="85000"/>
                                <a:lumOff val="15000"/>
                              </a:schemeClr>
                            </a:solidFill>
                            <a:latin typeface="Cambria Math" panose="02040503050406030204" pitchFamily="18" charset="0"/>
                            <a:cs typeface="Times New Roman" panose="02020603050405020304" pitchFamily="18" charset="0"/>
                          </a:rPr>
                          <m:t>𝒙</m:t>
                        </m:r>
                      </m:e>
                      <m:sub>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2</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a:t>
                </a: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Linear: </a:t>
                </a:r>
                <a14:m>
                  <m:oMath xmlns:m="http://schemas.openxmlformats.org/officeDocument/2006/math">
                    <m:r>
                      <a:rPr lang="en-US" altLang="ko-KR" sz="1300" b="0" i="1">
                        <a:solidFill>
                          <a:schemeClr val="tx1">
                            <a:lumMod val="85000"/>
                            <a:lumOff val="15000"/>
                          </a:schemeClr>
                        </a:solidFill>
                        <a:latin typeface="Cambria Math" panose="02040503050406030204" pitchFamily="18" charset="0"/>
                      </a:rPr>
                      <m:t>𝐾</m:t>
                    </m:r>
                    <m:d>
                      <m:dPr>
                        <m:ctrlPr>
                          <a:rPr lang="en-US" altLang="ko-KR" sz="1300" i="1">
                            <a:solidFill>
                              <a:schemeClr val="tx1">
                                <a:lumMod val="85000"/>
                                <a:lumOff val="15000"/>
                              </a:schemeClr>
                            </a:solidFill>
                            <a:latin typeface="Cambria Math" panose="02040503050406030204" pitchFamily="18" charset="0"/>
                          </a:rPr>
                        </m:ctrlPr>
                      </m:dPr>
                      <m:e>
                        <m:sSub>
                          <m:sSubPr>
                            <m:ctrlPr>
                              <a:rPr lang="en-US" altLang="ko-KR" sz="1300" i="1">
                                <a:solidFill>
                                  <a:schemeClr val="tx1">
                                    <a:lumMod val="85000"/>
                                    <a:lumOff val="15000"/>
                                  </a:schemeClr>
                                </a:solidFill>
                                <a:latin typeface="Cambria Math" panose="02040503050406030204" pitchFamily="18" charset="0"/>
                              </a:rPr>
                            </m:ctrlPr>
                          </m:sSub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1</m:t>
                            </m:r>
                          </m:sub>
                        </m:sSub>
                        <m:r>
                          <a:rPr lang="en-US" altLang="ko-KR" sz="1300" b="0">
                            <a:solidFill>
                              <a:schemeClr val="tx1">
                                <a:lumMod val="85000"/>
                                <a:lumOff val="15000"/>
                              </a:schemeClr>
                            </a:solidFill>
                            <a:latin typeface="Cambria Math" panose="02040503050406030204" pitchFamily="18" charset="0"/>
                          </a:rPr>
                          <m:t>,</m:t>
                        </m:r>
                        <m:sSub>
                          <m:sSubPr>
                            <m:ctrlPr>
                              <a:rPr lang="en-US" altLang="ko-KR" sz="1300" i="1">
                                <a:solidFill>
                                  <a:schemeClr val="tx1">
                                    <a:lumMod val="85000"/>
                                    <a:lumOff val="15000"/>
                                  </a:schemeClr>
                                </a:solidFill>
                                <a:latin typeface="Cambria Math" panose="02040503050406030204" pitchFamily="18" charset="0"/>
                              </a:rPr>
                            </m:ctrlPr>
                          </m:sSub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2</m:t>
                            </m:r>
                          </m:sub>
                        </m:sSub>
                      </m:e>
                    </m:d>
                    <m:r>
                      <a:rPr lang="en-US" altLang="ko-KR" sz="1300" b="0">
                        <a:solidFill>
                          <a:schemeClr val="tx1">
                            <a:lumMod val="85000"/>
                            <a:lumOff val="15000"/>
                          </a:schemeClr>
                        </a:solidFill>
                        <a:latin typeface="Cambria Math" panose="02040503050406030204" pitchFamily="18" charset="0"/>
                      </a:rPr>
                      <m:t>=</m:t>
                    </m:r>
                    <m:sSubSup>
                      <m:sSubSupPr>
                        <m:ctrlPr>
                          <a:rPr lang="en-US" altLang="ko-KR" sz="1300" i="1">
                            <a:solidFill>
                              <a:schemeClr val="tx1">
                                <a:lumMod val="85000"/>
                                <a:lumOff val="15000"/>
                              </a:schemeClr>
                            </a:solidFill>
                            <a:latin typeface="Cambria Math" panose="02040503050406030204" pitchFamily="18" charset="0"/>
                          </a:rPr>
                        </m:ctrlPr>
                      </m:sSubSup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1</m:t>
                        </m:r>
                      </m:sub>
                      <m:sup>
                        <m:r>
                          <m:rPr>
                            <m:sty m:val="p"/>
                          </m:rPr>
                          <a:rPr lang="en-US" altLang="ko-KR" sz="1300" b="0" i="1">
                            <a:solidFill>
                              <a:schemeClr val="tx1">
                                <a:lumMod val="85000"/>
                                <a:lumOff val="15000"/>
                              </a:schemeClr>
                            </a:solidFill>
                            <a:latin typeface="Cambria Math" panose="02040503050406030204" pitchFamily="18" charset="0"/>
                          </a:rPr>
                          <m:t>t</m:t>
                        </m:r>
                      </m:sup>
                    </m:sSubSup>
                    <m:sSub>
                      <m:sSubPr>
                        <m:ctrlPr>
                          <a:rPr lang="en-US" altLang="ko-KR" sz="1300" i="1">
                            <a:solidFill>
                              <a:schemeClr val="tx1">
                                <a:lumMod val="85000"/>
                                <a:lumOff val="15000"/>
                              </a:schemeClr>
                            </a:solidFill>
                            <a:latin typeface="Cambria Math" panose="02040503050406030204" pitchFamily="18" charset="0"/>
                          </a:rPr>
                        </m:ctrlPr>
                      </m:sSub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2</m:t>
                        </m:r>
                      </m:sub>
                    </m:sSub>
                  </m:oMath>
                </a14:m>
                <a:endParaRPr lang="en-US" altLang="ko-KR" sz="1300" dirty="0">
                  <a:solidFill>
                    <a:schemeClr val="tx1">
                      <a:lumMod val="85000"/>
                      <a:lumOff val="15000"/>
                    </a:schemeClr>
                  </a:solidFill>
                  <a:latin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Polynomial: </a:t>
                </a:r>
                <a14:m>
                  <m:oMath xmlns:m="http://schemas.openxmlformats.org/officeDocument/2006/math">
                    <m:r>
                      <a:rPr lang="en-US" altLang="ko-KR" sz="1300" b="0" i="1">
                        <a:solidFill>
                          <a:schemeClr val="tx1">
                            <a:lumMod val="85000"/>
                            <a:lumOff val="15000"/>
                          </a:schemeClr>
                        </a:solidFill>
                        <a:latin typeface="Cambria Math" panose="02040503050406030204" pitchFamily="18" charset="0"/>
                      </a:rPr>
                      <m:t>𝐾</m:t>
                    </m:r>
                    <m:d>
                      <m:dPr>
                        <m:ctrlPr>
                          <a:rPr lang="en-US" altLang="ko-KR" sz="1300" i="1">
                            <a:solidFill>
                              <a:schemeClr val="tx1">
                                <a:lumMod val="85000"/>
                                <a:lumOff val="15000"/>
                              </a:schemeClr>
                            </a:solidFill>
                            <a:latin typeface="Cambria Math" panose="02040503050406030204" pitchFamily="18" charset="0"/>
                          </a:rPr>
                        </m:ctrlPr>
                      </m:dPr>
                      <m:e>
                        <m:sSub>
                          <m:sSubPr>
                            <m:ctrlPr>
                              <a:rPr lang="en-US" altLang="ko-KR" sz="1300" i="1">
                                <a:solidFill>
                                  <a:schemeClr val="tx1">
                                    <a:lumMod val="85000"/>
                                    <a:lumOff val="15000"/>
                                  </a:schemeClr>
                                </a:solidFill>
                                <a:latin typeface="Cambria Math" panose="02040503050406030204" pitchFamily="18" charset="0"/>
                              </a:rPr>
                            </m:ctrlPr>
                          </m:sSub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1</m:t>
                            </m:r>
                          </m:sub>
                        </m:sSub>
                        <m:r>
                          <a:rPr lang="en-US" altLang="ko-KR" sz="1300" b="0">
                            <a:solidFill>
                              <a:schemeClr val="tx1">
                                <a:lumMod val="85000"/>
                                <a:lumOff val="15000"/>
                              </a:schemeClr>
                            </a:solidFill>
                            <a:latin typeface="Cambria Math" panose="02040503050406030204" pitchFamily="18" charset="0"/>
                          </a:rPr>
                          <m:t>,</m:t>
                        </m:r>
                        <m:sSub>
                          <m:sSubPr>
                            <m:ctrlPr>
                              <a:rPr lang="en-US" altLang="ko-KR" sz="1300" i="1">
                                <a:solidFill>
                                  <a:schemeClr val="tx1">
                                    <a:lumMod val="85000"/>
                                    <a:lumOff val="15000"/>
                                  </a:schemeClr>
                                </a:solidFill>
                                <a:latin typeface="Cambria Math" panose="02040503050406030204" pitchFamily="18" charset="0"/>
                              </a:rPr>
                            </m:ctrlPr>
                          </m:sSub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2</m:t>
                            </m:r>
                          </m:sub>
                        </m:sSub>
                      </m:e>
                    </m:d>
                    <m:r>
                      <a:rPr lang="en-US" altLang="ko-KR" sz="1300" b="0">
                        <a:solidFill>
                          <a:schemeClr val="tx1">
                            <a:lumMod val="85000"/>
                            <a:lumOff val="15000"/>
                          </a:schemeClr>
                        </a:solidFill>
                        <a:latin typeface="Cambria Math" panose="02040503050406030204" pitchFamily="18" charset="0"/>
                      </a:rPr>
                      <m:t>=</m:t>
                    </m:r>
                    <m:sSup>
                      <m:sSupPr>
                        <m:ctrlPr>
                          <a:rPr lang="en-US" altLang="ko-KR" sz="1300" i="1">
                            <a:solidFill>
                              <a:schemeClr val="tx1">
                                <a:lumMod val="85000"/>
                                <a:lumOff val="15000"/>
                              </a:schemeClr>
                            </a:solidFill>
                            <a:latin typeface="Cambria Math" panose="02040503050406030204" pitchFamily="18" charset="0"/>
                          </a:rPr>
                        </m:ctrlPr>
                      </m:sSupPr>
                      <m:e>
                        <m:d>
                          <m:dPr>
                            <m:ctrlPr>
                              <a:rPr lang="en-US" altLang="ko-KR" sz="1300" i="1">
                                <a:solidFill>
                                  <a:schemeClr val="tx1">
                                    <a:lumMod val="85000"/>
                                    <a:lumOff val="15000"/>
                                  </a:schemeClr>
                                </a:solidFill>
                                <a:latin typeface="Cambria Math" panose="02040503050406030204" pitchFamily="18" charset="0"/>
                              </a:rPr>
                            </m:ctrlPr>
                          </m:dPr>
                          <m:e>
                            <m:sSubSup>
                              <m:sSubSupPr>
                                <m:ctrlPr>
                                  <a:rPr lang="en-US" altLang="ko-KR" sz="1300" i="1">
                                    <a:solidFill>
                                      <a:schemeClr val="tx1">
                                        <a:lumMod val="85000"/>
                                        <a:lumOff val="15000"/>
                                      </a:schemeClr>
                                    </a:solidFill>
                                    <a:latin typeface="Cambria Math" panose="02040503050406030204" pitchFamily="18" charset="0"/>
                                  </a:rPr>
                                </m:ctrlPr>
                              </m:sSubSup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1</m:t>
                                </m:r>
                              </m:sub>
                              <m:sup>
                                <m:r>
                                  <m:rPr>
                                    <m:sty m:val="p"/>
                                  </m:rPr>
                                  <a:rPr lang="en-US" altLang="ko-KR" sz="1300" b="0" i="1">
                                    <a:solidFill>
                                      <a:schemeClr val="tx1">
                                        <a:lumMod val="85000"/>
                                        <a:lumOff val="15000"/>
                                      </a:schemeClr>
                                    </a:solidFill>
                                    <a:latin typeface="Cambria Math" panose="02040503050406030204" pitchFamily="18" charset="0"/>
                                  </a:rPr>
                                  <m:t>t</m:t>
                                </m:r>
                              </m:sup>
                            </m:sSubSup>
                            <m:sSub>
                              <m:sSubPr>
                                <m:ctrlPr>
                                  <a:rPr lang="en-US" altLang="ko-KR" sz="1300" i="1">
                                    <a:solidFill>
                                      <a:schemeClr val="tx1">
                                        <a:lumMod val="85000"/>
                                        <a:lumOff val="15000"/>
                                      </a:schemeClr>
                                    </a:solidFill>
                                    <a:latin typeface="Cambria Math" panose="02040503050406030204" pitchFamily="18" charset="0"/>
                                  </a:rPr>
                                </m:ctrlPr>
                              </m:sSub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2</m:t>
                                </m:r>
                              </m:sub>
                            </m:sSub>
                            <m:r>
                              <a:rPr lang="en-US" altLang="ko-KR" sz="1300" b="0">
                                <a:solidFill>
                                  <a:schemeClr val="tx1">
                                    <a:lumMod val="85000"/>
                                    <a:lumOff val="15000"/>
                                  </a:schemeClr>
                                </a:solidFill>
                                <a:latin typeface="Cambria Math" panose="02040503050406030204" pitchFamily="18" charset="0"/>
                              </a:rPr>
                              <m:t>+</m:t>
                            </m:r>
                            <m:r>
                              <m:rPr>
                                <m:sty m:val="p"/>
                              </m:rPr>
                              <a:rPr lang="en-US" altLang="ko-KR" sz="1300" b="0" i="1">
                                <a:solidFill>
                                  <a:schemeClr val="tx1">
                                    <a:lumMod val="85000"/>
                                    <a:lumOff val="15000"/>
                                  </a:schemeClr>
                                </a:solidFill>
                                <a:latin typeface="Cambria Math" panose="02040503050406030204" pitchFamily="18" charset="0"/>
                              </a:rPr>
                              <m:t>c</m:t>
                            </m:r>
                          </m:e>
                        </m:d>
                      </m:e>
                      <m:sup>
                        <m:r>
                          <m:rPr>
                            <m:sty m:val="p"/>
                          </m:rPr>
                          <a:rPr lang="en-US" altLang="ko-KR" sz="1300" b="0" i="1">
                            <a:solidFill>
                              <a:schemeClr val="tx1">
                                <a:lumMod val="85000"/>
                                <a:lumOff val="15000"/>
                              </a:schemeClr>
                            </a:solidFill>
                            <a:latin typeface="Cambria Math" panose="02040503050406030204" pitchFamily="18" charset="0"/>
                          </a:rPr>
                          <m:t>d</m:t>
                        </m:r>
                      </m:sup>
                    </m:sSup>
                  </m:oMath>
                </a14:m>
                <a:r>
                  <a:rPr lang="en-US" altLang="ko-KR" sz="1300" dirty="0">
                    <a:solidFill>
                      <a:schemeClr val="tx1">
                        <a:lumMod val="85000"/>
                        <a:lumOff val="15000"/>
                      </a:schemeClr>
                    </a:solidFill>
                    <a:latin typeface="SamsungOne 400" panose="020B0503030303020204" pitchFamily="34" charset="0"/>
                  </a:rPr>
                  <a:t>, where </a:t>
                </a:r>
                <a14:m>
                  <m:oMath xmlns:m="http://schemas.openxmlformats.org/officeDocument/2006/math">
                    <m:r>
                      <m:rPr>
                        <m:sty m:val="p"/>
                      </m:rPr>
                      <a:rPr lang="en-US" altLang="ko-KR" sz="1300" b="0" i="1" dirty="0">
                        <a:solidFill>
                          <a:schemeClr val="tx1">
                            <a:lumMod val="85000"/>
                            <a:lumOff val="15000"/>
                          </a:schemeClr>
                        </a:solidFill>
                        <a:latin typeface="Cambria Math" panose="02040503050406030204" pitchFamily="18" charset="0"/>
                      </a:rPr>
                      <m:t>c</m:t>
                    </m:r>
                    <m:r>
                      <a:rPr lang="en-US" altLang="ko-KR" sz="1300" b="0" dirty="0">
                        <a:solidFill>
                          <a:schemeClr val="tx1">
                            <a:lumMod val="85000"/>
                            <a:lumOff val="15000"/>
                          </a:schemeClr>
                        </a:solidFill>
                        <a:latin typeface="Cambria Math" panose="02040503050406030204" pitchFamily="18" charset="0"/>
                      </a:rPr>
                      <m:t>&gt;0</m:t>
                    </m:r>
                  </m:oMath>
                </a14:m>
                <a:endParaRPr lang="en-US" altLang="ko-KR" sz="1300" dirty="0">
                  <a:solidFill>
                    <a:schemeClr val="tx1">
                      <a:lumMod val="85000"/>
                      <a:lumOff val="15000"/>
                    </a:schemeClr>
                  </a:solidFill>
                  <a:latin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Sigmoid: </a:t>
                </a:r>
                <a14:m>
                  <m:oMath xmlns:m="http://schemas.openxmlformats.org/officeDocument/2006/math">
                    <m:r>
                      <a:rPr lang="en-US" altLang="ko-KR" sz="1300" b="0" i="1">
                        <a:solidFill>
                          <a:schemeClr val="tx1">
                            <a:lumMod val="85000"/>
                            <a:lumOff val="15000"/>
                          </a:schemeClr>
                        </a:solidFill>
                        <a:latin typeface="Cambria Math" panose="02040503050406030204" pitchFamily="18" charset="0"/>
                      </a:rPr>
                      <m:t>𝐾</m:t>
                    </m:r>
                    <m:d>
                      <m:dPr>
                        <m:ctrlPr>
                          <a:rPr lang="en-US" altLang="ko-KR" sz="1300" i="1">
                            <a:solidFill>
                              <a:schemeClr val="tx1">
                                <a:lumMod val="85000"/>
                                <a:lumOff val="15000"/>
                              </a:schemeClr>
                            </a:solidFill>
                            <a:latin typeface="Cambria Math" panose="02040503050406030204" pitchFamily="18" charset="0"/>
                          </a:rPr>
                        </m:ctrlPr>
                      </m:dPr>
                      <m:e>
                        <m:sSub>
                          <m:sSubPr>
                            <m:ctrlPr>
                              <a:rPr lang="en-US" altLang="ko-KR" sz="1300" i="1">
                                <a:solidFill>
                                  <a:schemeClr val="tx1">
                                    <a:lumMod val="85000"/>
                                    <a:lumOff val="15000"/>
                                  </a:schemeClr>
                                </a:solidFill>
                                <a:latin typeface="Cambria Math" panose="02040503050406030204" pitchFamily="18" charset="0"/>
                              </a:rPr>
                            </m:ctrlPr>
                          </m:sSub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1</m:t>
                            </m:r>
                          </m:sub>
                        </m:sSub>
                        <m:r>
                          <a:rPr lang="en-US" altLang="ko-KR" sz="1300" b="0">
                            <a:solidFill>
                              <a:schemeClr val="tx1">
                                <a:lumMod val="85000"/>
                                <a:lumOff val="15000"/>
                              </a:schemeClr>
                            </a:solidFill>
                            <a:latin typeface="Cambria Math" panose="02040503050406030204" pitchFamily="18" charset="0"/>
                          </a:rPr>
                          <m:t>,</m:t>
                        </m:r>
                        <m:sSub>
                          <m:sSubPr>
                            <m:ctrlPr>
                              <a:rPr lang="en-US" altLang="ko-KR" sz="1300" i="1">
                                <a:solidFill>
                                  <a:schemeClr val="tx1">
                                    <a:lumMod val="85000"/>
                                    <a:lumOff val="15000"/>
                                  </a:schemeClr>
                                </a:solidFill>
                                <a:latin typeface="Cambria Math" panose="02040503050406030204" pitchFamily="18" charset="0"/>
                              </a:rPr>
                            </m:ctrlPr>
                          </m:sSub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2</m:t>
                            </m:r>
                          </m:sub>
                        </m:sSub>
                      </m:e>
                    </m:d>
                    <m:r>
                      <a:rPr lang="en-US" altLang="ko-KR" sz="1300" b="0">
                        <a:solidFill>
                          <a:schemeClr val="tx1">
                            <a:lumMod val="85000"/>
                            <a:lumOff val="15000"/>
                          </a:schemeClr>
                        </a:solidFill>
                        <a:latin typeface="Cambria Math" panose="02040503050406030204" pitchFamily="18" charset="0"/>
                      </a:rPr>
                      <m:t>=</m:t>
                    </m:r>
                    <m:r>
                      <a:rPr lang="en-US" altLang="ko-KR" sz="1300" b="0" i="1">
                        <a:solidFill>
                          <a:schemeClr val="tx1">
                            <a:lumMod val="85000"/>
                            <a:lumOff val="15000"/>
                          </a:schemeClr>
                        </a:solidFill>
                        <a:latin typeface="Cambria Math" panose="02040503050406030204" pitchFamily="18" charset="0"/>
                      </a:rPr>
                      <m:t>𝑡𝑎𝑛h</m:t>
                    </m:r>
                    <m:d>
                      <m:dPr>
                        <m:ctrlPr>
                          <a:rPr lang="en-US" altLang="ko-KR" sz="1300" i="1">
                            <a:solidFill>
                              <a:schemeClr val="tx1">
                                <a:lumMod val="85000"/>
                                <a:lumOff val="15000"/>
                              </a:schemeClr>
                            </a:solidFill>
                            <a:latin typeface="Cambria Math" panose="02040503050406030204" pitchFamily="18" charset="0"/>
                          </a:rPr>
                        </m:ctrlPr>
                      </m:dPr>
                      <m:e>
                        <m:r>
                          <m:rPr>
                            <m:sty m:val="p"/>
                          </m:rPr>
                          <a:rPr lang="en-US" altLang="ko-KR" sz="1300" b="0" i="1">
                            <a:solidFill>
                              <a:schemeClr val="tx1">
                                <a:lumMod val="85000"/>
                                <a:lumOff val="15000"/>
                              </a:schemeClr>
                            </a:solidFill>
                            <a:latin typeface="Cambria Math" panose="02040503050406030204" pitchFamily="18" charset="0"/>
                          </a:rPr>
                          <m:t>a</m:t>
                        </m:r>
                        <m:d>
                          <m:dPr>
                            <m:ctrlPr>
                              <a:rPr lang="en-US" altLang="ko-KR" sz="1300" i="1">
                                <a:solidFill>
                                  <a:schemeClr val="tx1">
                                    <a:lumMod val="85000"/>
                                    <a:lumOff val="15000"/>
                                  </a:schemeClr>
                                </a:solidFill>
                                <a:latin typeface="Cambria Math" panose="02040503050406030204" pitchFamily="18" charset="0"/>
                              </a:rPr>
                            </m:ctrlPr>
                          </m:dPr>
                          <m:e>
                            <m:sSubSup>
                              <m:sSubSupPr>
                                <m:ctrlPr>
                                  <a:rPr lang="en-US" altLang="ko-KR" sz="1300" i="1">
                                    <a:solidFill>
                                      <a:schemeClr val="tx1">
                                        <a:lumMod val="85000"/>
                                        <a:lumOff val="15000"/>
                                      </a:schemeClr>
                                    </a:solidFill>
                                    <a:latin typeface="Cambria Math" panose="02040503050406030204" pitchFamily="18" charset="0"/>
                                  </a:rPr>
                                </m:ctrlPr>
                              </m:sSubSup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1</m:t>
                                </m:r>
                              </m:sub>
                              <m:sup>
                                <m:r>
                                  <m:rPr>
                                    <m:sty m:val="p"/>
                                  </m:rPr>
                                  <a:rPr lang="en-US" altLang="ko-KR" sz="1300" b="0" i="1">
                                    <a:solidFill>
                                      <a:schemeClr val="tx1">
                                        <a:lumMod val="85000"/>
                                        <a:lumOff val="15000"/>
                                      </a:schemeClr>
                                    </a:solidFill>
                                    <a:latin typeface="Cambria Math" panose="02040503050406030204" pitchFamily="18" charset="0"/>
                                  </a:rPr>
                                  <m:t>t</m:t>
                                </m:r>
                              </m:sup>
                            </m:sSubSup>
                            <m:sSub>
                              <m:sSubPr>
                                <m:ctrlPr>
                                  <a:rPr lang="en-US" altLang="ko-KR" sz="1300" i="1">
                                    <a:solidFill>
                                      <a:schemeClr val="tx1">
                                        <a:lumMod val="85000"/>
                                        <a:lumOff val="15000"/>
                                      </a:schemeClr>
                                    </a:solidFill>
                                    <a:latin typeface="Cambria Math" panose="02040503050406030204" pitchFamily="18" charset="0"/>
                                  </a:rPr>
                                </m:ctrlPr>
                              </m:sSub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2</m:t>
                                </m:r>
                              </m:sub>
                            </m:sSub>
                          </m:e>
                        </m:d>
                        <m:r>
                          <a:rPr lang="en-US" altLang="ko-KR" sz="1300" b="0">
                            <a:solidFill>
                              <a:schemeClr val="tx1">
                                <a:lumMod val="85000"/>
                                <a:lumOff val="15000"/>
                              </a:schemeClr>
                            </a:solidFill>
                            <a:latin typeface="Cambria Math" panose="02040503050406030204" pitchFamily="18" charset="0"/>
                          </a:rPr>
                          <m:t>+</m:t>
                        </m:r>
                        <m:r>
                          <m:rPr>
                            <m:sty m:val="p"/>
                          </m:rPr>
                          <a:rPr lang="en-US" altLang="ko-KR" sz="1300" b="0" i="1">
                            <a:solidFill>
                              <a:schemeClr val="tx1">
                                <a:lumMod val="85000"/>
                                <a:lumOff val="15000"/>
                              </a:schemeClr>
                            </a:solidFill>
                            <a:latin typeface="Cambria Math" panose="02040503050406030204" pitchFamily="18" charset="0"/>
                          </a:rPr>
                          <m:t>b</m:t>
                        </m:r>
                      </m:e>
                    </m:d>
                  </m:oMath>
                </a14:m>
                <a:r>
                  <a:rPr lang="en-US" altLang="ko-KR" sz="1300" dirty="0">
                    <a:solidFill>
                      <a:schemeClr val="tx1">
                        <a:lumMod val="85000"/>
                        <a:lumOff val="15000"/>
                      </a:schemeClr>
                    </a:solidFill>
                    <a:latin typeface="SamsungOne 400" panose="020B0503030303020204" pitchFamily="34" charset="0"/>
                  </a:rPr>
                  <a:t>, where </a:t>
                </a:r>
                <a14:m>
                  <m:oMath xmlns:m="http://schemas.openxmlformats.org/officeDocument/2006/math">
                    <m:r>
                      <m:rPr>
                        <m:sty m:val="p"/>
                      </m:rPr>
                      <a:rPr lang="en-US" altLang="ko-KR" sz="1300" b="0" i="1" dirty="0">
                        <a:solidFill>
                          <a:schemeClr val="tx1">
                            <a:lumMod val="85000"/>
                            <a:lumOff val="15000"/>
                          </a:schemeClr>
                        </a:solidFill>
                        <a:latin typeface="Cambria Math" panose="02040503050406030204" pitchFamily="18" charset="0"/>
                      </a:rPr>
                      <m:t>a</m:t>
                    </m:r>
                    <m:r>
                      <a:rPr lang="en-US" altLang="ko-KR" sz="1300" b="0" dirty="0">
                        <a:solidFill>
                          <a:schemeClr val="tx1">
                            <a:lumMod val="85000"/>
                            <a:lumOff val="15000"/>
                          </a:schemeClr>
                        </a:solidFill>
                        <a:latin typeface="Cambria Math" panose="02040503050406030204" pitchFamily="18" charset="0"/>
                      </a:rPr>
                      <m:t>, </m:t>
                    </m:r>
                    <m:r>
                      <m:rPr>
                        <m:sty m:val="p"/>
                      </m:rPr>
                      <a:rPr lang="en-US" altLang="ko-KR" sz="1300" b="0" i="1" dirty="0">
                        <a:solidFill>
                          <a:schemeClr val="tx1">
                            <a:lumMod val="85000"/>
                            <a:lumOff val="15000"/>
                          </a:schemeClr>
                        </a:solidFill>
                        <a:latin typeface="Cambria Math" panose="02040503050406030204" pitchFamily="18" charset="0"/>
                      </a:rPr>
                      <m:t>b</m:t>
                    </m:r>
                    <m:r>
                      <a:rPr lang="en-US" altLang="ko-KR" sz="1300" b="0" dirty="0">
                        <a:solidFill>
                          <a:schemeClr val="tx1">
                            <a:lumMod val="85000"/>
                            <a:lumOff val="15000"/>
                          </a:schemeClr>
                        </a:solidFill>
                        <a:latin typeface="Cambria Math" panose="02040503050406030204" pitchFamily="18" charset="0"/>
                      </a:rPr>
                      <m:t>&gt;0</m:t>
                    </m:r>
                  </m:oMath>
                </a14:m>
                <a:endParaRPr lang="en-US" altLang="ko-KR" sz="1300" dirty="0">
                  <a:solidFill>
                    <a:schemeClr val="tx1">
                      <a:lumMod val="85000"/>
                      <a:lumOff val="15000"/>
                    </a:schemeClr>
                  </a:solidFill>
                  <a:latin typeface="SamsungOne 400" panose="020B0503030303020204" pitchFamily="34" charset="0"/>
                </a:endParaRPr>
              </a:p>
              <a:p>
                <a:pPr marL="361950" lvl="1" indent="-180975">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Radial function basis (</a:t>
                </a:r>
                <a:r>
                  <a:rPr lang="en-US" altLang="ko-KR" sz="1300" dirty="0" err="1">
                    <a:solidFill>
                      <a:schemeClr val="tx1">
                        <a:lumMod val="85000"/>
                        <a:lumOff val="15000"/>
                      </a:schemeClr>
                    </a:solidFill>
                    <a:latin typeface="SamsungOne 400" panose="020B0503030303020204" pitchFamily="34" charset="0"/>
                  </a:rPr>
                  <a:t>rbf</a:t>
                </a:r>
                <a:r>
                  <a:rPr lang="en-US" altLang="ko-KR" sz="1300" dirty="0">
                    <a:solidFill>
                      <a:schemeClr val="tx1">
                        <a:lumMod val="85000"/>
                        <a:lumOff val="15000"/>
                      </a:schemeClr>
                    </a:solidFill>
                    <a:latin typeface="SamsungOne 400" panose="020B0503030303020204" pitchFamily="34" charset="0"/>
                  </a:rPr>
                  <a:t>): </a:t>
                </a:r>
                <a14:m>
                  <m:oMath xmlns:m="http://schemas.openxmlformats.org/officeDocument/2006/math">
                    <m:r>
                      <a:rPr lang="en-US" altLang="ko-KR" sz="1300" b="0" i="1">
                        <a:solidFill>
                          <a:schemeClr val="tx1">
                            <a:lumMod val="85000"/>
                            <a:lumOff val="15000"/>
                          </a:schemeClr>
                        </a:solidFill>
                        <a:latin typeface="Cambria Math" panose="02040503050406030204" pitchFamily="18" charset="0"/>
                      </a:rPr>
                      <m:t>𝐾</m:t>
                    </m:r>
                    <m:d>
                      <m:dPr>
                        <m:ctrlPr>
                          <a:rPr lang="en-US" altLang="ko-KR" sz="1300" i="1">
                            <a:solidFill>
                              <a:schemeClr val="tx1">
                                <a:lumMod val="85000"/>
                                <a:lumOff val="15000"/>
                              </a:schemeClr>
                            </a:solidFill>
                            <a:latin typeface="Cambria Math" panose="02040503050406030204" pitchFamily="18" charset="0"/>
                          </a:rPr>
                        </m:ctrlPr>
                      </m:dPr>
                      <m:e>
                        <m:sSub>
                          <m:sSubPr>
                            <m:ctrlPr>
                              <a:rPr lang="en-US" altLang="ko-KR" sz="1300" i="1">
                                <a:solidFill>
                                  <a:schemeClr val="tx1">
                                    <a:lumMod val="85000"/>
                                    <a:lumOff val="15000"/>
                                  </a:schemeClr>
                                </a:solidFill>
                                <a:latin typeface="Cambria Math" panose="02040503050406030204" pitchFamily="18" charset="0"/>
                              </a:rPr>
                            </m:ctrlPr>
                          </m:sSub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1</m:t>
                            </m:r>
                          </m:sub>
                        </m:sSub>
                        <m:r>
                          <a:rPr lang="en-US" altLang="ko-KR" sz="1300" b="0">
                            <a:solidFill>
                              <a:schemeClr val="tx1">
                                <a:lumMod val="85000"/>
                                <a:lumOff val="15000"/>
                              </a:schemeClr>
                            </a:solidFill>
                            <a:latin typeface="Cambria Math" panose="02040503050406030204" pitchFamily="18" charset="0"/>
                          </a:rPr>
                          <m:t>,</m:t>
                        </m:r>
                        <m:sSub>
                          <m:sSubPr>
                            <m:ctrlPr>
                              <a:rPr lang="en-US" altLang="ko-KR" sz="1300" i="1">
                                <a:solidFill>
                                  <a:schemeClr val="tx1">
                                    <a:lumMod val="85000"/>
                                    <a:lumOff val="15000"/>
                                  </a:schemeClr>
                                </a:solidFill>
                                <a:latin typeface="Cambria Math" panose="02040503050406030204" pitchFamily="18" charset="0"/>
                              </a:rPr>
                            </m:ctrlPr>
                          </m:sSub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2</m:t>
                            </m:r>
                          </m:sub>
                        </m:sSub>
                      </m:e>
                    </m:d>
                    <m:r>
                      <a:rPr lang="en-US" altLang="ko-KR" sz="1300" b="0">
                        <a:solidFill>
                          <a:schemeClr val="tx1">
                            <a:lumMod val="85000"/>
                            <a:lumOff val="15000"/>
                          </a:schemeClr>
                        </a:solidFill>
                        <a:latin typeface="Cambria Math" panose="02040503050406030204" pitchFamily="18" charset="0"/>
                      </a:rPr>
                      <m:t>=</m:t>
                    </m:r>
                    <m:r>
                      <a:rPr lang="en-US" altLang="ko-KR" sz="1300" b="0" i="1">
                        <a:solidFill>
                          <a:schemeClr val="tx1">
                            <a:lumMod val="85000"/>
                            <a:lumOff val="15000"/>
                          </a:schemeClr>
                        </a:solidFill>
                        <a:latin typeface="Cambria Math" panose="02040503050406030204" pitchFamily="18" charset="0"/>
                      </a:rPr>
                      <m:t>𝑒𝑥𝑝</m:t>
                    </m:r>
                    <m:d>
                      <m:dPr>
                        <m:ctrlPr>
                          <a:rPr lang="en-US" altLang="ko-KR" sz="1300" i="1">
                            <a:solidFill>
                              <a:schemeClr val="tx1">
                                <a:lumMod val="85000"/>
                                <a:lumOff val="15000"/>
                              </a:schemeClr>
                            </a:solidFill>
                            <a:latin typeface="Cambria Math" panose="02040503050406030204" pitchFamily="18" charset="0"/>
                          </a:rPr>
                        </m:ctrlPr>
                      </m:dPr>
                      <m:e>
                        <m:r>
                          <a:rPr lang="en-US" altLang="ko-KR" sz="1300" b="0">
                            <a:solidFill>
                              <a:schemeClr val="tx1">
                                <a:lumMod val="85000"/>
                                <a:lumOff val="15000"/>
                              </a:schemeClr>
                            </a:solidFill>
                            <a:latin typeface="Cambria Math" panose="02040503050406030204" pitchFamily="18" charset="0"/>
                          </a:rPr>
                          <m:t>−</m:t>
                        </m:r>
                        <m:r>
                          <m:rPr>
                            <m:sty m:val="p"/>
                          </m:rPr>
                          <a:rPr lang="ko-KR" altLang="en-US" sz="1300" b="0" i="1">
                            <a:solidFill>
                              <a:schemeClr val="tx1">
                                <a:lumMod val="85000"/>
                                <a:lumOff val="15000"/>
                              </a:schemeClr>
                            </a:solidFill>
                            <a:latin typeface="Cambria Math" panose="02040503050406030204" pitchFamily="18" charset="0"/>
                          </a:rPr>
                          <m:t>γ</m:t>
                        </m:r>
                        <m:sSup>
                          <m:sSupPr>
                            <m:ctrlPr>
                              <a:rPr lang="en-US" altLang="ko-KR" sz="1300" i="1">
                                <a:solidFill>
                                  <a:schemeClr val="tx1">
                                    <a:lumMod val="85000"/>
                                    <a:lumOff val="15000"/>
                                  </a:schemeClr>
                                </a:solidFill>
                                <a:latin typeface="Cambria Math" panose="02040503050406030204" pitchFamily="18" charset="0"/>
                              </a:rPr>
                            </m:ctrlPr>
                          </m:sSupPr>
                          <m:e>
                            <m:d>
                              <m:dPr>
                                <m:begChr m:val="‖"/>
                                <m:endChr m:val="‖"/>
                                <m:ctrlPr>
                                  <a:rPr lang="en-US" altLang="ko-KR" sz="1300" i="1">
                                    <a:solidFill>
                                      <a:schemeClr val="tx1">
                                        <a:lumMod val="85000"/>
                                        <a:lumOff val="15000"/>
                                      </a:schemeClr>
                                    </a:solidFill>
                                    <a:latin typeface="Cambria Math" panose="02040503050406030204" pitchFamily="18" charset="0"/>
                                  </a:rPr>
                                </m:ctrlPr>
                              </m:dPr>
                              <m:e>
                                <m:sSub>
                                  <m:sSubPr>
                                    <m:ctrlPr>
                                      <a:rPr lang="en-US" altLang="ko-KR" sz="1300" i="1">
                                        <a:solidFill>
                                          <a:schemeClr val="tx1">
                                            <a:lumMod val="85000"/>
                                            <a:lumOff val="15000"/>
                                          </a:schemeClr>
                                        </a:solidFill>
                                        <a:latin typeface="Cambria Math" panose="02040503050406030204" pitchFamily="18" charset="0"/>
                                      </a:rPr>
                                    </m:ctrlPr>
                                  </m:sSub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1</m:t>
                                    </m:r>
                                  </m:sub>
                                </m:sSub>
                                <m:r>
                                  <a:rPr lang="en-US" altLang="ko-KR" sz="1300" b="0">
                                    <a:solidFill>
                                      <a:schemeClr val="tx1">
                                        <a:lumMod val="85000"/>
                                        <a:lumOff val="15000"/>
                                      </a:schemeClr>
                                    </a:solidFill>
                                    <a:latin typeface="Cambria Math" panose="02040503050406030204" pitchFamily="18" charset="0"/>
                                  </a:rPr>
                                  <m:t>−</m:t>
                                </m:r>
                                <m:sSub>
                                  <m:sSubPr>
                                    <m:ctrlPr>
                                      <a:rPr lang="en-US" altLang="ko-KR" sz="1300" i="1">
                                        <a:solidFill>
                                          <a:schemeClr val="tx1">
                                            <a:lumMod val="85000"/>
                                            <a:lumOff val="15000"/>
                                          </a:schemeClr>
                                        </a:solidFill>
                                        <a:latin typeface="Cambria Math" panose="02040503050406030204" pitchFamily="18" charset="0"/>
                                      </a:rPr>
                                    </m:ctrlPr>
                                  </m:sSubPr>
                                  <m:e>
                                    <m:r>
                                      <m:rPr>
                                        <m:sty m:val="p"/>
                                      </m:rPr>
                                      <a:rPr lang="en-US" altLang="ko-KR" sz="1300" b="0" i="1">
                                        <a:solidFill>
                                          <a:schemeClr val="tx1">
                                            <a:lumMod val="85000"/>
                                            <a:lumOff val="15000"/>
                                          </a:schemeClr>
                                        </a:solidFill>
                                        <a:latin typeface="Cambria Math" panose="02040503050406030204" pitchFamily="18" charset="0"/>
                                      </a:rPr>
                                      <m:t>x</m:t>
                                    </m:r>
                                  </m:e>
                                  <m:sub>
                                    <m:r>
                                      <a:rPr lang="en-US" altLang="ko-KR" sz="1300" b="0">
                                        <a:solidFill>
                                          <a:schemeClr val="tx1">
                                            <a:lumMod val="85000"/>
                                            <a:lumOff val="15000"/>
                                          </a:schemeClr>
                                        </a:solidFill>
                                        <a:latin typeface="Cambria Math" panose="02040503050406030204" pitchFamily="18" charset="0"/>
                                      </a:rPr>
                                      <m:t>2</m:t>
                                    </m:r>
                                  </m:sub>
                                </m:sSub>
                              </m:e>
                            </m:d>
                          </m:e>
                          <m:sup>
                            <m:r>
                              <a:rPr lang="en-US" altLang="ko-KR" sz="1300" b="0">
                                <a:solidFill>
                                  <a:schemeClr val="tx1">
                                    <a:lumMod val="85000"/>
                                    <a:lumOff val="15000"/>
                                  </a:schemeClr>
                                </a:solidFill>
                                <a:latin typeface="Cambria Math" panose="02040503050406030204" pitchFamily="18" charset="0"/>
                              </a:rPr>
                              <m:t>2</m:t>
                            </m:r>
                          </m:sup>
                        </m:sSup>
                      </m:e>
                    </m:d>
                  </m:oMath>
                </a14:m>
                <a:r>
                  <a:rPr lang="en-US" altLang="ko-KR" sz="1300" dirty="0">
                    <a:solidFill>
                      <a:schemeClr val="tx1">
                        <a:lumMod val="85000"/>
                        <a:lumOff val="15000"/>
                      </a:schemeClr>
                    </a:solidFill>
                    <a:latin typeface="SamsungOne 400" panose="020B0503030303020204" pitchFamily="34" charset="0"/>
                    <a:sym typeface="Symbol" panose="05050102010706020507" pitchFamily="18" charset="2"/>
                  </a:rPr>
                  <a:t>, </a:t>
                </a:r>
                <a:r>
                  <a:rPr lang="en-US" altLang="ko-KR" sz="1300" dirty="0">
                    <a:solidFill>
                      <a:schemeClr val="tx1">
                        <a:lumMod val="85000"/>
                        <a:lumOff val="15000"/>
                      </a:schemeClr>
                    </a:solidFill>
                    <a:latin typeface="SamsungOne 400" panose="020B0503030303020204" pitchFamily="34" charset="0"/>
                  </a:rPr>
                  <a:t>where </a:t>
                </a:r>
                <a14:m>
                  <m:oMath xmlns:m="http://schemas.openxmlformats.org/officeDocument/2006/math">
                    <m:r>
                      <m:rPr>
                        <m:sty m:val="p"/>
                      </m:rPr>
                      <a:rPr lang="el-GR" altLang="ko-KR" sz="1300" b="0" i="1" dirty="0">
                        <a:solidFill>
                          <a:schemeClr val="tx1">
                            <a:lumMod val="85000"/>
                            <a:lumOff val="15000"/>
                          </a:schemeClr>
                        </a:solidFill>
                        <a:latin typeface="Cambria Math" panose="02040503050406030204" pitchFamily="18" charset="0"/>
                      </a:rPr>
                      <m:t>γ</m:t>
                    </m:r>
                    <m:r>
                      <a:rPr lang="en-US" altLang="ko-KR" sz="1300" b="0" dirty="0">
                        <a:solidFill>
                          <a:schemeClr val="tx1">
                            <a:lumMod val="85000"/>
                            <a:lumOff val="15000"/>
                          </a:schemeClr>
                        </a:solidFill>
                        <a:latin typeface="Cambria Math" panose="02040503050406030204" pitchFamily="18" charset="0"/>
                      </a:rPr>
                      <m:t>&gt;0</m:t>
                    </m:r>
                  </m:oMath>
                </a14:m>
                <a:endParaRPr lang="en-US" altLang="ko-KR" sz="1300" dirty="0">
                  <a:solidFill>
                    <a:schemeClr val="tx1">
                      <a:lumMod val="85000"/>
                      <a:lumOff val="15000"/>
                    </a:schemeClr>
                  </a:solidFill>
                  <a:latin typeface="SamsungOne 400" panose="020B0503030303020204" pitchFamily="34" charset="0"/>
                </a:endParaRPr>
              </a:p>
            </p:txBody>
          </p:sp>
        </mc:Choice>
        <mc:Fallback xmlns="">
          <p:sp>
            <p:nvSpPr>
              <p:cNvPr id="29" name="직사각형 28">
                <a:extLst>
                  <a:ext uri="{FF2B5EF4-FFF2-40B4-BE49-F238E27FC236}">
                    <a16:creationId xmlns="" xmlns:a16="http://schemas.microsoft.com/office/drawing/2014/main" xmlns:a14="http://schemas.microsoft.com/office/drawing/2010/main" id="{04A38E18-3E67-41F7-902E-B9A07DFF9D50}"/>
                  </a:ext>
                </a:extLst>
              </p:cNvPr>
              <p:cNvSpPr>
                <a:spLocks noRot="1" noChangeAspect="1" noMove="1" noResize="1" noEditPoints="1" noAdjustHandles="1" noChangeArrowheads="1" noChangeShapeType="1" noTextEdit="1"/>
              </p:cNvSpPr>
              <p:nvPr/>
            </p:nvSpPr>
            <p:spPr>
              <a:xfrm>
                <a:off x="671261" y="1700808"/>
                <a:ext cx="8672764" cy="1599138"/>
              </a:xfrm>
              <a:prstGeom prst="rect">
                <a:avLst/>
              </a:prstGeom>
              <a:blipFill rotWithShape="0">
                <a:blip r:embed="rId4"/>
                <a:stretch>
                  <a:fillRect/>
                </a:stretch>
              </a:blipFill>
              <a:ln>
                <a:noFill/>
              </a:ln>
            </p:spPr>
            <p:txBody>
              <a:bodyPr/>
              <a:lstStyle/>
              <a:p>
                <a:r>
                  <a:rPr lang="ko-KR" altLang="en-US">
                    <a:noFill/>
                  </a:rPr>
                  <a:t> </a:t>
                </a:r>
              </a:p>
            </p:txBody>
          </p:sp>
        </mc:Fallback>
      </mc:AlternateContent>
    </p:spTree>
    <p:extLst>
      <p:ext uri="{BB962C8B-B14F-4D97-AF65-F5344CB8AC3E}">
        <p14:creationId xmlns:p14="http://schemas.microsoft.com/office/powerpoint/2010/main" val="335434796"/>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8B1BC1D-DFB7-4482-BA23-F01AD71B1BBE}"/>
              </a:ext>
            </a:extLst>
          </p:cNvPr>
          <p:cNvSpPr/>
          <p:nvPr/>
        </p:nvSpPr>
        <p:spPr>
          <a:xfrm>
            <a:off x="546895" y="1523719"/>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Coding Exercise #0311</a:t>
            </a:r>
          </a:p>
        </p:txBody>
      </p:sp>
      <p:grpSp>
        <p:nvGrpSpPr>
          <p:cNvPr id="11" name="그룹 10">
            <a:extLst>
              <a:ext uri="{FF2B5EF4-FFF2-40B4-BE49-F238E27FC236}">
                <a16:creationId xmlns:a16="http://schemas.microsoft.com/office/drawing/2014/main" id="{A2A7775F-AE07-4A60-B96A-7B00D8607BDB}"/>
              </a:ext>
            </a:extLst>
          </p:cNvPr>
          <p:cNvGrpSpPr/>
          <p:nvPr/>
        </p:nvGrpSpPr>
        <p:grpSpPr>
          <a:xfrm>
            <a:off x="558798" y="2060849"/>
            <a:ext cx="8797129" cy="3960439"/>
            <a:chOff x="558798" y="2060849"/>
            <a:chExt cx="8797129" cy="3960439"/>
          </a:xfrm>
        </p:grpSpPr>
        <p:sp>
          <p:nvSpPr>
            <p:cNvPr id="12" name="직사각형 11">
              <a:extLst>
                <a:ext uri="{FF2B5EF4-FFF2-40B4-BE49-F238E27FC236}">
                  <a16:creationId xmlns:a16="http://schemas.microsoft.com/office/drawing/2014/main" id="{0E2B63F1-717C-45E5-9484-DF4505693008}"/>
                </a:ext>
              </a:extLst>
            </p:cNvPr>
            <p:cNvSpPr/>
            <p:nvPr/>
          </p:nvSpPr>
          <p:spPr>
            <a:xfrm>
              <a:off x="558799" y="2060849"/>
              <a:ext cx="8785225" cy="3960439"/>
            </a:xfrm>
            <a:prstGeom prst="rect">
              <a:avLst/>
            </a:prstGeom>
            <a:solidFill>
              <a:schemeClr val="accent5">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5" name="그룹 14">
              <a:extLst>
                <a:ext uri="{FF2B5EF4-FFF2-40B4-BE49-F238E27FC236}">
                  <a16:creationId xmlns:a16="http://schemas.microsoft.com/office/drawing/2014/main" id="{AC1F47E5-59C0-4468-B93D-A8F7F0C32C93}"/>
                </a:ext>
              </a:extLst>
            </p:cNvPr>
            <p:cNvGrpSpPr/>
            <p:nvPr/>
          </p:nvGrpSpPr>
          <p:grpSpPr>
            <a:xfrm>
              <a:off x="558798" y="3945816"/>
              <a:ext cx="8797129" cy="576572"/>
              <a:chOff x="4778069" y="4391025"/>
              <a:chExt cx="2349160" cy="431802"/>
            </a:xfrm>
          </p:grpSpPr>
          <p:sp>
            <p:nvSpPr>
              <p:cNvPr id="18" name="직사각형 17">
                <a:extLst>
                  <a:ext uri="{FF2B5EF4-FFF2-40B4-BE49-F238E27FC236}">
                    <a16:creationId xmlns:a16="http://schemas.microsoft.com/office/drawing/2014/main" id="{3C6A9AF5-127F-406D-B69A-2777F03F88E5}"/>
                  </a:ext>
                </a:extLst>
              </p:cNvPr>
              <p:cNvSpPr/>
              <p:nvPr/>
            </p:nvSpPr>
            <p:spPr>
              <a:xfrm>
                <a:off x="4778069" y="4391025"/>
                <a:ext cx="2349160" cy="431802"/>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sp3d>
                  <a:bevelT w="0" h="6350"/>
                </a:sp3d>
              </a:bodyPr>
              <a:lstStyle/>
              <a:p>
                <a:pPr algn="ctr"/>
                <a:endParaRPr lang="ko-KR" altLang="en-US" sz="2000" dirty="0"/>
              </a:p>
            </p:txBody>
          </p:sp>
          <p:sp>
            <p:nvSpPr>
              <p:cNvPr id="21" name="직사각형 133">
                <a:extLst>
                  <a:ext uri="{FF2B5EF4-FFF2-40B4-BE49-F238E27FC236}">
                    <a16:creationId xmlns:a16="http://schemas.microsoft.com/office/drawing/2014/main" id="{21A3736B-043B-48A0-AE25-A04C3CBB178F}"/>
                  </a:ext>
                </a:extLst>
              </p:cNvPr>
              <p:cNvSpPr/>
              <p:nvPr/>
            </p:nvSpPr>
            <p:spPr>
              <a:xfrm>
                <a:off x="4852511" y="4528465"/>
                <a:ext cx="2200275" cy="230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lgn="ctr"/>
                <a:r>
                  <a:rPr lang="en-US" altLang="ko-KR" sz="2000" dirty="0">
                    <a:solidFill>
                      <a:schemeClr val="bg1"/>
                    </a:solidFill>
                    <a:latin typeface="SamsungOne 700" panose="020B0803030303020204" pitchFamily="34" charset="0"/>
                    <a:ea typeface="SamsungOne 700" panose="020B0803030303020204" pitchFamily="34" charset="0"/>
                    <a:cs typeface="Samsung Sharp Sans" pitchFamily="2" charset="0"/>
                  </a:rPr>
                  <a:t>Follow practice steps on 'ex_0311.ipynb’ file.</a:t>
                </a:r>
              </a:p>
            </p:txBody>
          </p:sp>
        </p:grpSp>
        <p:pic>
          <p:nvPicPr>
            <p:cNvPr id="16" name="그림 15" descr="텍스트, 클립아트이(가) 표시된 사진&#10;&#10;자동 생성된 설명">
              <a:extLst>
                <a:ext uri="{FF2B5EF4-FFF2-40B4-BE49-F238E27FC236}">
                  <a16:creationId xmlns:a16="http://schemas.microsoft.com/office/drawing/2014/main" id="{70D03265-398A-4B21-9492-31D700046C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93" t="14475" r="51947" b="14299"/>
            <a:stretch/>
          </p:blipFill>
          <p:spPr>
            <a:xfrm>
              <a:off x="4370123" y="2647560"/>
              <a:ext cx="1162577" cy="1174440"/>
            </a:xfrm>
            <a:prstGeom prst="ellipse">
              <a:avLst/>
            </a:prstGeom>
          </p:spPr>
        </p:pic>
      </p:grpSp>
      <p:grpSp>
        <p:nvGrpSpPr>
          <p:cNvPr id="13" name="그룹 1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4" name="직사각형 1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7.1. SVM Algorithm</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 Sharp Sans Medium" pitchFamily="2" charset="0"/>
                  <a:ea typeface="Samsung Sharp Sans Medium" pitchFamily="2" charset="0"/>
                  <a:cs typeface="Samsung Sharp Sans Medium" pitchFamily="2" charset="0"/>
                </a:rPr>
                <a:t>UNIT </a:t>
              </a:r>
              <a:r>
                <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rPr>
                <a:t>07</a:t>
              </a:r>
            </a:p>
          </p:txBody>
        </p:sp>
      </p:grpSp>
    </p:spTree>
    <p:extLst>
      <p:ext uri="{BB962C8B-B14F-4D97-AF65-F5344CB8AC3E}">
        <p14:creationId xmlns:p14="http://schemas.microsoft.com/office/powerpoint/2010/main" val="1120100607"/>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33">
            <a:extLst>
              <a:ext uri="{FF2B5EF4-FFF2-40B4-BE49-F238E27FC236}">
                <a16:creationId xmlns:a16="http://schemas.microsoft.com/office/drawing/2014/main" id="{551F01E8-8777-4A7B-AD71-63E7C805C68C}"/>
              </a:ext>
            </a:extLst>
          </p:cNvPr>
          <p:cNvSpPr/>
          <p:nvPr/>
        </p:nvSpPr>
        <p:spPr>
          <a:xfrm>
            <a:off x="989683" y="3133792"/>
            <a:ext cx="8913142"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Ensemble Algorithm</a:t>
            </a: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8.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11" name="직사각형 10">
            <a:extLst>
              <a:ext uri="{FF2B5EF4-FFF2-40B4-BE49-F238E27FC236}">
                <a16:creationId xmlns:a16="http://schemas.microsoft.com/office/drawing/2014/main" id="{07CBE376-934F-4F02-851D-3B0DB538BEA9}"/>
              </a:ext>
            </a:extLst>
          </p:cNvPr>
          <p:cNvSpPr/>
          <p:nvPr/>
        </p:nvSpPr>
        <p:spPr>
          <a:xfrm>
            <a:off x="1054111" y="3929021"/>
            <a:ext cx="5697501" cy="10874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algn="l" defTabSz="914400" rtl="0" eaLnBrk="1" fontAlgn="base" latinLnBrk="1" hangingPunct="1">
              <a:lnSpc>
                <a:spcPct val="100000"/>
              </a:lnSpc>
              <a:spcBef>
                <a:spcPct val="0"/>
              </a:spcBef>
              <a:spcAft>
                <a:spcPts val="1000"/>
              </a:spcAft>
              <a:buClrTx/>
              <a:buSzPct val="120000"/>
              <a:buBlip>
                <a:blip r:embed="rId3"/>
              </a:buBlip>
              <a:tabLst/>
              <a:defRPr/>
            </a:pPr>
            <a:r>
              <a:rPr kumimoji="1" lang="en-US" altLang="ko-KR" sz="1800" b="0" i="0" u="none" strike="noStrike" kern="1200" cap="none" spc="0" normalizeH="0" baseline="0" noProof="0" dirty="0">
                <a:ln>
                  <a:noFill/>
                </a:ln>
                <a:solidFill>
                  <a:prstClr val="black">
                    <a:lumMod val="75000"/>
                    <a:lumOff val="25000"/>
                  </a:prstClr>
                </a:solidFill>
                <a:effectLst/>
                <a:uLnTx/>
                <a:uFillTx/>
                <a:latin typeface="SamsungOne-700" panose="020B0803030303020204" pitchFamily="34" charset="0"/>
                <a:ea typeface="SamsungOne-700" panose="020B0803030303020204" pitchFamily="34" charset="0"/>
                <a:cs typeface="+mn-cs"/>
              </a:rPr>
              <a:t>8.1. The Concept of Ensemble Algorithm and Voting</a:t>
            </a:r>
          </a:p>
          <a:p>
            <a:pPr marL="176213" indent="-176213" fontAlgn="base">
              <a:spcBef>
                <a:spcPct val="0"/>
              </a:spcBef>
              <a:spcAft>
                <a:spcPts val="1000"/>
              </a:spcAft>
              <a:buSzPct val="120000"/>
              <a:buBlip>
                <a:blip r:embed="rId4"/>
              </a:buBlip>
              <a:defRPr/>
            </a:pPr>
            <a:r>
              <a:rPr lang="en-US" altLang="ko-KR" dirty="0">
                <a:solidFill>
                  <a:srgbClr val="A6A6A6"/>
                </a:solidFill>
                <a:latin typeface="SamsungOne 400" panose="020B0503030303020204" pitchFamily="34" charset="0"/>
                <a:ea typeface="SamsungOne 400" panose="020B0503030303020204" pitchFamily="34" charset="0"/>
              </a:rPr>
              <a:t>8.2. Bagging &amp; Random Forest</a:t>
            </a:r>
            <a:endParaRPr lang="ko-KR" altLang="en-US" dirty="0">
              <a:solidFill>
                <a:srgbClr val="A6A6A6"/>
              </a:solidFill>
              <a:latin typeface="SamsungOne 400" panose="020B0503030303020204" pitchFamily="34" charset="0"/>
            </a:endParaRPr>
          </a:p>
          <a:p>
            <a:pPr marL="176213" indent="-176213" fontAlgn="base">
              <a:spcBef>
                <a:spcPct val="0"/>
              </a:spcBef>
              <a:spcAft>
                <a:spcPts val="1000"/>
              </a:spcAft>
              <a:buSzPct val="120000"/>
              <a:buBlip>
                <a:blip r:embed="rId4"/>
              </a:buBlip>
              <a:defRPr/>
            </a:pPr>
            <a:r>
              <a:rPr lang="en-US" altLang="ko-KR" dirty="0">
                <a:solidFill>
                  <a:srgbClr val="A6A6A6"/>
                </a:solidFill>
                <a:latin typeface="SamsungOne 400" panose="020B0503030303020204" pitchFamily="34" charset="0"/>
                <a:ea typeface="SamsungOne 400" panose="020B0503030303020204" pitchFamily="34" charset="0"/>
              </a:rPr>
              <a:t>8.3. Boosting</a:t>
            </a:r>
            <a:endParaRPr lang="ko-KR" altLang="en-US" dirty="0">
              <a:solidFill>
                <a:srgbClr val="A6A6A6"/>
              </a:solidFill>
              <a:latin typeface="SamsungOne 400" panose="020B0503030303020204" pitchFamily="34" charset="0"/>
            </a:endParaRPr>
          </a:p>
        </p:txBody>
      </p:sp>
    </p:spTree>
    <p:extLst>
      <p:ext uri="{BB962C8B-B14F-4D97-AF65-F5344CB8AC3E}">
        <p14:creationId xmlns:p14="http://schemas.microsoft.com/office/powerpoint/2010/main" val="4119103401"/>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8.1. The Concept of Ensemble Algorithm and Voting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26" name="직사각형 25">
            <a:extLst>
              <a:ext uri="{FF2B5EF4-FFF2-40B4-BE49-F238E27FC236}">
                <a16:creationId xmlns:a16="http://schemas.microsoft.com/office/drawing/2014/main" id="{DB896CD5-A0B0-4F39-9F23-22CE6C96BB3D}"/>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Ensemble Algorithms</a:t>
            </a:r>
          </a:p>
        </p:txBody>
      </p:sp>
      <p:sp>
        <p:nvSpPr>
          <p:cNvPr id="40" name="직사각형 39">
            <a:extLst>
              <a:ext uri="{FF2B5EF4-FFF2-40B4-BE49-F238E27FC236}">
                <a16:creationId xmlns:a16="http://schemas.microsoft.com/office/drawing/2014/main" id="{3A76204B-18F3-4CF1-ACE4-AFDF6C8ED0B9}"/>
              </a:ext>
            </a:extLst>
          </p:cNvPr>
          <p:cNvSpPr/>
          <p:nvPr/>
        </p:nvSpPr>
        <p:spPr>
          <a:xfrm>
            <a:off x="675071" y="2219443"/>
            <a:ext cx="8632825" cy="30692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latinLnBrk="1">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Strong predictive model based on the weaker learners.</a:t>
            </a:r>
          </a:p>
          <a:p>
            <a:pPr marL="182563" indent="-182563" defTabSz="914400" latinLnBrk="1">
              <a:spcAft>
                <a:spcPts val="800"/>
              </a:spcAft>
              <a:buClr>
                <a:srgbClr val="193EB0"/>
              </a:buClr>
              <a:buFont typeface="SamsungOne 400" panose="020B0503030303020204" pitchFamily="34" charset="0"/>
              <a:buChar char="‣"/>
            </a:pPr>
            <a:r>
              <a:rPr lang="en-US" altLang="ko-KR" sz="1300" b="1" dirty="0">
                <a:solidFill>
                  <a:srgbClr val="193EB0"/>
                </a:solidFill>
                <a:latin typeface="SamsungOne 400" panose="020B0503030303020204" pitchFamily="34" charset="0"/>
                <a:ea typeface="SamsungOne 400" panose="020B0503030303020204" pitchFamily="34" charset="0"/>
              </a:rPr>
              <a:t>Voting type</a:t>
            </a:r>
            <a:r>
              <a:rPr lang="en-US" altLang="ko-KR" sz="1300" b="1" dirty="0">
                <a:solidFill>
                  <a:schemeClr val="tx1">
                    <a:lumMod val="85000"/>
                    <a:lumOff val="15000"/>
                  </a:schemeClr>
                </a:solidFill>
                <a:latin typeface="SamsungOne 400" panose="020B0503030303020204" pitchFamily="34" charset="0"/>
                <a:ea typeface="SamsungOne 400" panose="020B0503030303020204" pitchFamily="34" charset="0"/>
              </a:rPr>
              <a:t>:</a:t>
            </a:r>
          </a:p>
          <a:p>
            <a:pPr marL="355600" lvl="1" indent="-179388" defTabSz="914400" latinLnBrk="1">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 collection of basic learners that “vote”</a:t>
            </a:r>
          </a:p>
          <a:p>
            <a:pPr marL="355600" lvl="1" indent="-179388" defTabSz="914400" latinLnBrk="1">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An ensemble of different kinds of learners </a:t>
            </a:r>
            <a:r>
              <a:rPr lang="en-US" altLang="ko-KR" sz="1300" dirty="0">
                <a:solidFill>
                  <a:srgbClr val="FF0000"/>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Combine Tree, KNN, SVM, etc.</a:t>
            </a:r>
          </a:p>
          <a:p>
            <a:pPr marL="182563" indent="-182563" defTabSz="914400" latinLnBrk="1">
              <a:spcAft>
                <a:spcPts val="800"/>
              </a:spcAft>
              <a:buClr>
                <a:srgbClr val="193EB0"/>
              </a:buClr>
              <a:buFont typeface="SamsungOne 400" panose="020B0503030303020204" pitchFamily="34" charset="0"/>
              <a:buChar char="‣"/>
            </a:pPr>
            <a:r>
              <a:rPr lang="en-US" altLang="ko-KR" sz="1300" b="1" dirty="0">
                <a:solidFill>
                  <a:srgbClr val="193EB0"/>
                </a:solidFill>
                <a:latin typeface="SamsungOne 400" panose="020B0503030303020204" pitchFamily="34" charset="0"/>
                <a:ea typeface="SamsungOne 400" panose="020B0503030303020204" pitchFamily="34" charset="0"/>
              </a:rPr>
              <a:t>Bagging type</a:t>
            </a:r>
            <a:r>
              <a:rPr lang="en-US" altLang="ko-KR" sz="1300" b="1" dirty="0">
                <a:solidFill>
                  <a:schemeClr val="tx1">
                    <a:lumMod val="85000"/>
                    <a:lumOff val="15000"/>
                  </a:schemeClr>
                </a:solidFill>
                <a:latin typeface="SamsungOne 400" panose="020B0503030303020204" pitchFamily="34" charset="0"/>
                <a:ea typeface="SamsungOne 400" panose="020B0503030303020204" pitchFamily="34" charset="0"/>
              </a:rPr>
              <a:t>:</a:t>
            </a:r>
          </a:p>
          <a:p>
            <a:pPr marL="355600" lvl="1" indent="-179388" defTabSz="914400" latinLnBrk="1">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 collection of independent weak learners that “vote”</a:t>
            </a:r>
          </a:p>
          <a:p>
            <a:pPr marL="355600" lvl="1" indent="-179388" defTabSz="914400" latinLnBrk="1">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An ensemble of the same kind of weak learners         </a:t>
            </a:r>
            <a:r>
              <a:rPr lang="en-US" altLang="ko-KR" sz="1300" dirty="0">
                <a:solidFill>
                  <a:srgbClr val="FF0000"/>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Random Forest</a:t>
            </a:r>
          </a:p>
          <a:p>
            <a:pPr marL="182563" indent="-182563" defTabSz="914400" latinLnBrk="1">
              <a:spcAft>
                <a:spcPts val="800"/>
              </a:spcAft>
              <a:buClr>
                <a:srgbClr val="193EB0"/>
              </a:buClr>
              <a:buFont typeface="SamsungOne 400" panose="020B0503030303020204" pitchFamily="34" charset="0"/>
              <a:buChar char="‣"/>
            </a:pPr>
            <a:r>
              <a:rPr lang="en-US" altLang="ko-KR" sz="1300" b="1" dirty="0">
                <a:solidFill>
                  <a:srgbClr val="193EB0"/>
                </a:solidFill>
                <a:latin typeface="SamsungOne 400" panose="020B0503030303020204" pitchFamily="34" charset="0"/>
                <a:ea typeface="SamsungOne 400" panose="020B0503030303020204" pitchFamily="34" charset="0"/>
              </a:rPr>
              <a:t>Boosting type</a:t>
            </a:r>
            <a:r>
              <a:rPr lang="en-US" altLang="ko-KR" sz="1300" b="1" dirty="0">
                <a:solidFill>
                  <a:schemeClr val="tx1">
                    <a:lumMod val="85000"/>
                    <a:lumOff val="15000"/>
                  </a:schemeClr>
                </a:solidFill>
                <a:latin typeface="SamsungOne 400" panose="020B0503030303020204" pitchFamily="34" charset="0"/>
                <a:ea typeface="SamsungOne 400" panose="020B0503030303020204" pitchFamily="34" charset="0"/>
              </a:rPr>
              <a:t>: </a:t>
            </a:r>
          </a:p>
          <a:p>
            <a:pPr marL="355600" lvl="1" indent="-179388" defTabSz="914400" latinLnBrk="1">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 series of weak learners that adaptatively learn and predict            AdaBoost, GBM,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XGBoost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etc.</a:t>
            </a:r>
          </a:p>
          <a:p>
            <a:pPr marL="355600" lvl="1" indent="-179388" defTabSz="914400" latinLnBrk="1">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series is grown by adding new learners multiplied by the “boosting weights.”       </a:t>
            </a:r>
          </a:p>
        </p:txBody>
      </p:sp>
      <p:sp>
        <p:nvSpPr>
          <p:cNvPr id="16" name="직사각형 15">
            <a:extLst>
              <a:ext uri="{FF2B5EF4-FFF2-40B4-BE49-F238E27FC236}">
                <a16:creationId xmlns:a16="http://schemas.microsoft.com/office/drawing/2014/main" id="{9E1FD293-3081-4335-905A-1BD3EB2C5B33}"/>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ensemble algorithms</a:t>
            </a:r>
          </a:p>
        </p:txBody>
      </p:sp>
      <p:sp>
        <p:nvSpPr>
          <p:cNvPr id="15" name="사각형: 둥근 모서리 2">
            <a:extLst>
              <a:ext uri="{FF2B5EF4-FFF2-40B4-BE49-F238E27FC236}">
                <a16:creationId xmlns:a16="http://schemas.microsoft.com/office/drawing/2014/main" id="{A36F8196-2765-4D0C-921A-F5679D9F2607}"/>
              </a:ext>
            </a:extLst>
          </p:cNvPr>
          <p:cNvSpPr/>
          <p:nvPr/>
        </p:nvSpPr>
        <p:spPr>
          <a:xfrm>
            <a:off x="4209188" y="3176972"/>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27" name="사각형: 둥근 모서리 2">
            <a:extLst>
              <a:ext uri="{FF2B5EF4-FFF2-40B4-BE49-F238E27FC236}">
                <a16:creationId xmlns:a16="http://schemas.microsoft.com/office/drawing/2014/main" id="{C3C23612-6004-41DE-B43F-B963A41348B1}"/>
              </a:ext>
            </a:extLst>
          </p:cNvPr>
          <p:cNvSpPr/>
          <p:nvPr/>
        </p:nvSpPr>
        <p:spPr>
          <a:xfrm>
            <a:off x="4619848" y="4069015"/>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28" name="사각형: 둥근 모서리 2">
            <a:extLst>
              <a:ext uri="{FF2B5EF4-FFF2-40B4-BE49-F238E27FC236}">
                <a16:creationId xmlns:a16="http://schemas.microsoft.com/office/drawing/2014/main" id="{A267CA5E-81FA-4AE8-B22F-A16EA9248848}"/>
              </a:ext>
            </a:extLst>
          </p:cNvPr>
          <p:cNvSpPr/>
          <p:nvPr/>
        </p:nvSpPr>
        <p:spPr>
          <a:xfrm>
            <a:off x="5527476" y="4674156"/>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Tree>
    <p:extLst>
      <p:ext uri="{BB962C8B-B14F-4D97-AF65-F5344CB8AC3E}">
        <p14:creationId xmlns:p14="http://schemas.microsoft.com/office/powerpoint/2010/main" val="71210613"/>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8.1. The Concept of Ensemble Algorithm and Voting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1" name="직사각형 10">
            <a:extLst>
              <a:ext uri="{FF2B5EF4-FFF2-40B4-BE49-F238E27FC236}">
                <a16:creationId xmlns:a16="http://schemas.microsoft.com/office/drawing/2014/main" id="{3B44D891-09E4-4FF0-8E0A-AF12FA373EA3}"/>
              </a:ext>
            </a:extLst>
          </p:cNvPr>
          <p:cNvSpPr/>
          <p:nvPr/>
        </p:nvSpPr>
        <p:spPr>
          <a:xfrm>
            <a:off x="675071" y="1700808"/>
            <a:ext cx="8632825" cy="20587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Making a more suitable decision-making by appropriately combining multiple opinions obtained by different experts</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Majority Voting – Analysis using many different classification models with one identical training set</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Bagging</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(different training set) </a:t>
            </a:r>
          </a:p>
          <a:p>
            <a:pPr marL="355600" lvl="1" indent="-179388" defTabSz="914400" latinLnBrk="1">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bootstrap + aggregating</a:t>
            </a:r>
          </a:p>
          <a:p>
            <a:pPr marL="355600" lvl="1" indent="-179388" defTabSz="914400" latinLnBrk="1">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Bootstrap + aggregating</a:t>
            </a:r>
          </a:p>
          <a:p>
            <a:pPr marL="355600" lvl="1" indent="-179388" defTabSz="914400" latinLnBrk="1">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Bagging</a:t>
            </a:r>
            <a:r>
              <a:rPr lang="ko-KR" altLang="en-US" sz="1300" dirty="0">
                <a:solidFill>
                  <a:schemeClr val="tx1">
                    <a:lumMod val="85000"/>
                    <a:lumOff val="15000"/>
                  </a:schemeClr>
                </a:solidFill>
                <a:latin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(random sampling with replacement (random bootstrap))</a:t>
            </a:r>
          </a:p>
        </p:txBody>
      </p:sp>
      <p:sp>
        <p:nvSpPr>
          <p:cNvPr id="12" name="직사각형 11">
            <a:extLst>
              <a:ext uri="{FF2B5EF4-FFF2-40B4-BE49-F238E27FC236}">
                <a16:creationId xmlns:a16="http://schemas.microsoft.com/office/drawing/2014/main" id="{8314BCE9-5824-48F1-BB34-1C9E01048905}"/>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ensemble algorithms</a:t>
            </a:r>
          </a:p>
        </p:txBody>
      </p:sp>
      <p:grpSp>
        <p:nvGrpSpPr>
          <p:cNvPr id="3" name="그룹 2">
            <a:extLst>
              <a:ext uri="{FF2B5EF4-FFF2-40B4-BE49-F238E27FC236}">
                <a16:creationId xmlns:a16="http://schemas.microsoft.com/office/drawing/2014/main" id="{643A7EB0-6CFA-4012-B9FC-D32DB90845D1}"/>
              </a:ext>
            </a:extLst>
          </p:cNvPr>
          <p:cNvGrpSpPr/>
          <p:nvPr/>
        </p:nvGrpSpPr>
        <p:grpSpPr>
          <a:xfrm>
            <a:off x="1026976" y="3699300"/>
            <a:ext cx="5234083" cy="292388"/>
            <a:chOff x="4303340" y="5128227"/>
            <a:chExt cx="5234083" cy="292388"/>
          </a:xfrm>
        </p:grpSpPr>
        <p:sp>
          <p:nvSpPr>
            <p:cNvPr id="13" name="사각형: 둥근 모서리 2">
              <a:extLst>
                <a:ext uri="{FF2B5EF4-FFF2-40B4-BE49-F238E27FC236}">
                  <a16:creationId xmlns:a16="http://schemas.microsoft.com/office/drawing/2014/main" id="{6F9BE5AD-2AC9-472A-AC5E-B02A473D73FF}"/>
                </a:ext>
              </a:extLst>
            </p:cNvPr>
            <p:cNvSpPr/>
            <p:nvPr/>
          </p:nvSpPr>
          <p:spPr>
            <a:xfrm>
              <a:off x="4303340" y="5162588"/>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17" name="TextBox 16">
              <a:extLst>
                <a:ext uri="{FF2B5EF4-FFF2-40B4-BE49-F238E27FC236}">
                  <a16:creationId xmlns:a16="http://schemas.microsoft.com/office/drawing/2014/main" id="{ED2CDAAC-9A45-4895-9B9E-BAF2DC3216D9}"/>
                </a:ext>
              </a:extLst>
            </p:cNvPr>
            <p:cNvSpPr txBox="1"/>
            <p:nvPr/>
          </p:nvSpPr>
          <p:spPr>
            <a:xfrm>
              <a:off x="4587737" y="5128227"/>
              <a:ext cx="4949686" cy="292388"/>
            </a:xfrm>
            <a:prstGeom prst="rect">
              <a:avLst/>
            </a:prstGeom>
            <a:noFill/>
          </p:spPr>
          <p:txBody>
            <a:bodyPr wrap="square">
              <a:spAutoFit/>
            </a:bodyPr>
            <a:lstStyle/>
            <a:p>
              <a:r>
                <a:rPr lang="en-US" altLang="ko-KR" sz="1300" dirty="0">
                  <a:solidFill>
                    <a:schemeClr val="tx1">
                      <a:lumMod val="85000"/>
                      <a:lumOff val="15000"/>
                    </a:schemeClr>
                  </a:solidFill>
                  <a:latin typeface="SamsungOne 400" panose="020B0503030303020204" pitchFamily="34" charset="0"/>
                </a:rPr>
                <a:t>Random Forest</a:t>
              </a:r>
              <a:endParaRPr lang="ko-KR" altLang="en-US" sz="1300" dirty="0">
                <a:solidFill>
                  <a:schemeClr val="tx1">
                    <a:lumMod val="85000"/>
                    <a:lumOff val="15000"/>
                  </a:schemeClr>
                </a:solidFill>
                <a:latin typeface="SamsungOne 400" panose="020B0503030303020204" pitchFamily="34" charset="0"/>
              </a:endParaRPr>
            </a:p>
          </p:txBody>
        </p:sp>
      </p:grpSp>
      <p:sp>
        <p:nvSpPr>
          <p:cNvPr id="18" name="직사각형 17">
            <a:extLst>
              <a:ext uri="{FF2B5EF4-FFF2-40B4-BE49-F238E27FC236}">
                <a16:creationId xmlns:a16="http://schemas.microsoft.com/office/drawing/2014/main" id="{1D27E9F9-BA40-4ECB-9ED7-E188316F5AC6}"/>
              </a:ext>
            </a:extLst>
          </p:cNvPr>
          <p:cNvSpPr/>
          <p:nvPr/>
        </p:nvSpPr>
        <p:spPr>
          <a:xfrm>
            <a:off x="675071" y="3933020"/>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Boosting</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355600" lvl="1" indent="-179388" defTabSz="914400" latinLnBrk="1">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Retain 50% of incorrectly classified data or use weight for sample selection. </a:t>
            </a:r>
          </a:p>
        </p:txBody>
      </p:sp>
    </p:spTree>
    <p:extLst>
      <p:ext uri="{BB962C8B-B14F-4D97-AF65-F5344CB8AC3E}">
        <p14:creationId xmlns:p14="http://schemas.microsoft.com/office/powerpoint/2010/main" val="1526551020"/>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8.1. The Concept of Ensemble Algorithm and Voting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1" name="직사각형 10">
            <a:extLst>
              <a:ext uri="{FF2B5EF4-FFF2-40B4-BE49-F238E27FC236}">
                <a16:creationId xmlns:a16="http://schemas.microsoft.com/office/drawing/2014/main" id="{3B44D891-09E4-4FF0-8E0A-AF12FA373EA3}"/>
              </a:ext>
            </a:extLst>
          </p:cNvPr>
          <p:cNvSpPr/>
          <p:nvPr/>
        </p:nvSpPr>
        <p:spPr>
          <a:xfrm>
            <a:off x="666936" y="1689661"/>
            <a:ext cx="8560818" cy="19561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Estimation of unknown statistics</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Easy and effective estimation method with the unknown distribution of the model parameter sample</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Process of recalculating the statistics and model for each sample through additional sampling with replacement from the current sample </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No assumption is required such that the parameters or sample statistics should be in a normal distribution.</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bootstrap sample</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Aggregation of observed data (sampling with replacement obtained from the record</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value and dependent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variable)</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
        <p:nvSpPr>
          <p:cNvPr id="12" name="직사각형 11">
            <a:extLst>
              <a:ext uri="{FF2B5EF4-FFF2-40B4-BE49-F238E27FC236}">
                <a16:creationId xmlns:a16="http://schemas.microsoft.com/office/drawing/2014/main" id="{8314BCE9-5824-48F1-BB34-1C9E01048905}"/>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bootstrap</a:t>
            </a:r>
          </a:p>
        </p:txBody>
      </p:sp>
      <p:sp>
        <p:nvSpPr>
          <p:cNvPr id="2" name="직사각형 1">
            <a:extLst>
              <a:ext uri="{FF2B5EF4-FFF2-40B4-BE49-F238E27FC236}">
                <a16:creationId xmlns:a16="http://schemas.microsoft.com/office/drawing/2014/main" id="{09469976-FAA5-4EEE-B833-58E0158607DB}"/>
              </a:ext>
            </a:extLst>
          </p:cNvPr>
          <p:cNvSpPr/>
          <p:nvPr/>
        </p:nvSpPr>
        <p:spPr>
          <a:xfrm>
            <a:off x="616935" y="3739740"/>
            <a:ext cx="8668954" cy="127343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2" lvl="1" defTabSz="914400">
              <a:spcAft>
                <a:spcPts val="800"/>
              </a:spcAft>
              <a:buClr>
                <a:srgbClr val="193EB0"/>
              </a:buClr>
            </a:pPr>
            <a:r>
              <a:rPr lang="en-US" altLang="ko-KR" sz="1300" b="1" dirty="0">
                <a:solidFill>
                  <a:srgbClr val="1429A0"/>
                </a:solidFill>
                <a:latin typeface="SamsungOne 400" panose="020B0503030303020204" pitchFamily="34" charset="0"/>
              </a:rPr>
              <a:t>Contents to be learned in the future</a:t>
            </a:r>
            <a:endParaRPr lang="en-US" altLang="ko-KR" sz="1300" b="1" dirty="0">
              <a:solidFill>
                <a:srgbClr val="1429A0"/>
              </a:solidFill>
              <a:latin typeface="SamsungOne 400" panose="020B0503030303020204" pitchFamily="34" charset="0"/>
              <a:ea typeface="SamsungOne 400" panose="020B0503030303020204" pitchFamily="34" charset="0"/>
            </a:endParaRP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Resampling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Involves permutation under-sampling without replacement</a:t>
            </a:r>
            <a:endParaRPr lang="en-US" altLang="ko-KR" sz="1300" dirty="0">
              <a:solidFill>
                <a:schemeClr val="tx1">
                  <a:lumMod val="85000"/>
                  <a:lumOff val="15000"/>
                </a:schemeClr>
              </a:solidFill>
              <a:latin typeface="SamsungOne 400" panose="020B0503030303020204" pitchFamily="34" charset="0"/>
            </a:endParaRP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Bootstrap aggregation – Making a result from aggregating predicted values obtained from different bootstrap samples</a:t>
            </a:r>
          </a:p>
        </p:txBody>
      </p:sp>
    </p:spTree>
    <p:extLst>
      <p:ext uri="{BB962C8B-B14F-4D97-AF65-F5344CB8AC3E}">
        <p14:creationId xmlns:p14="http://schemas.microsoft.com/office/powerpoint/2010/main" val="969199147"/>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8.1. The Concept of Ensemble Algorithm and Voting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1" name="직사각형 10">
            <a:extLst>
              <a:ext uri="{FF2B5EF4-FFF2-40B4-BE49-F238E27FC236}">
                <a16:creationId xmlns:a16="http://schemas.microsoft.com/office/drawing/2014/main" id="{3B44D891-09E4-4FF0-8E0A-AF12FA373EA3}"/>
              </a:ext>
            </a:extLst>
          </p:cNvPr>
          <p:cNvSpPr/>
          <p:nvPr/>
        </p:nvSpPr>
        <p:spPr>
          <a:xfrm>
            <a:off x="675071" y="1700808"/>
            <a:ext cx="8632825" cy="3669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앙상블이란 단어를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wiki</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에서 검색해 보면 다음과 같이 나온다</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a:p>
            <a:pPr marL="355600" lvl="1" indent="-179388" defTabSz="914400">
              <a:spcAft>
                <a:spcPts val="800"/>
              </a:spcAft>
              <a:buClr>
                <a:srgbClr val="193EB0"/>
              </a:buClr>
              <a:buFont typeface="Arial" panose="020B0604020202020204" pitchFamily="34" charset="0"/>
              <a:buChar char="•"/>
            </a:pPr>
            <a:r>
              <a:rPr lang="ko-KR" altLang="en-US" sz="1300" dirty="0">
                <a:solidFill>
                  <a:schemeClr val="tx1">
                    <a:lumMod val="85000"/>
                    <a:lumOff val="15000"/>
                  </a:schemeClr>
                </a:solidFill>
                <a:latin typeface="SamsungOne 400" panose="020B0503030303020204" pitchFamily="34" charset="0"/>
              </a:rPr>
              <a:t>통계역학에서</a:t>
            </a:r>
            <a:r>
              <a:rPr lang="en-US" altLang="ko-KR" sz="1300" dirty="0">
                <a:solidFill>
                  <a:schemeClr val="tx1">
                    <a:lumMod val="85000"/>
                    <a:lumOff val="15000"/>
                  </a:schemeClr>
                </a:solidFill>
                <a:latin typeface="SamsungOne 400" panose="020B0503030303020204" pitchFamily="34" charset="0"/>
              </a:rPr>
              <a:t>, </a:t>
            </a:r>
            <a:r>
              <a:rPr lang="ko-KR" altLang="en-US" sz="1300" dirty="0">
                <a:solidFill>
                  <a:schemeClr val="tx1">
                    <a:lumMod val="85000"/>
                    <a:lumOff val="15000"/>
                  </a:schemeClr>
                </a:solidFill>
                <a:latin typeface="SamsungOne 400" panose="020B0503030303020204" pitchFamily="34" charset="0"/>
              </a:rPr>
              <a:t>어떤 계의 앙상블 </a:t>
            </a:r>
            <a:r>
              <a:rPr lang="en-US" altLang="ko-KR" sz="1300" dirty="0">
                <a:solidFill>
                  <a:schemeClr val="tx1">
                    <a:lumMod val="85000"/>
                    <a:lumOff val="15000"/>
                  </a:schemeClr>
                </a:solidFill>
                <a:latin typeface="SamsungOne 400" panose="020B0503030303020204" pitchFamily="34" charset="0"/>
              </a:rPr>
              <a:t>(ensemble)</a:t>
            </a:r>
            <a:r>
              <a:rPr lang="ko-KR" altLang="en-US" sz="1300" dirty="0">
                <a:solidFill>
                  <a:schemeClr val="tx1">
                    <a:lumMod val="85000"/>
                    <a:lumOff val="15000"/>
                  </a:schemeClr>
                </a:solidFill>
                <a:latin typeface="SamsungOne 400" panose="020B0503030303020204" pitchFamily="34" charset="0"/>
              </a:rPr>
              <a:t>이란 그 계와 동등한 계의 모음을 말한다</a:t>
            </a:r>
            <a:r>
              <a:rPr lang="en-US" altLang="ko-KR" sz="1300" dirty="0">
                <a:solidFill>
                  <a:schemeClr val="tx1">
                    <a:lumMod val="85000"/>
                    <a:lumOff val="15000"/>
                  </a:schemeClr>
                </a:solidFill>
                <a:latin typeface="SamsungOne 400" panose="020B0503030303020204" pitchFamily="34" charset="0"/>
              </a:rPr>
              <a:t>.</a:t>
            </a:r>
          </a:p>
          <a:p>
            <a:pPr marL="182563" indent="-182563">
              <a:spcAft>
                <a:spcPts val="800"/>
              </a:spcAft>
              <a:buClr>
                <a:srgbClr val="193EB0"/>
              </a:buClr>
              <a:buFont typeface="SamsungOne 400" panose="020B0503030303020204" pitchFamily="34" charset="0"/>
              <a:buChar char="‣"/>
            </a:pP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쉽게 말하면</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비슷한 무리들의 집합이다</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a:p>
            <a:pPr marL="182563" indent="-182563">
              <a:spcAft>
                <a:spcPts val="800"/>
              </a:spcAft>
              <a:buClr>
                <a:srgbClr val="193EB0"/>
              </a:buClr>
              <a:buFont typeface="SamsungOne 400" panose="020B0503030303020204" pitchFamily="34" charset="0"/>
              <a:buChar char="‣"/>
            </a:pP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즉</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우리는 단일 모델에서 나오는 성능의 결과를 기대하는 것이 아니라</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여러 개의 단일 모델들의 평균치를 내거나</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투표를 해서 다수결에 의한 결정을 하는 등 여러 모델들의 집단 지성을 활용하여 더 나은 결과를 도출해 내는 것에 </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b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주 목적이 있다</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a:p>
            <a:pPr marL="182563" indent="-182563">
              <a:spcAft>
                <a:spcPts val="800"/>
              </a:spcAft>
              <a:buClr>
                <a:srgbClr val="193EB0"/>
              </a:buClr>
              <a:buFont typeface="SamsungOne 400" panose="020B0503030303020204" pitchFamily="34" charset="0"/>
              <a:buChar char="‣"/>
            </a:pP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집단 지성을 활용하는 방법</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즉 앙상블 기법에는 다양한 방법이 있다</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Voting (</a:t>
            </a:r>
            <a:r>
              <a:rPr lang="ko-KR" altLang="en-US" sz="1300" dirty="0">
                <a:solidFill>
                  <a:schemeClr val="tx1">
                    <a:lumMod val="85000"/>
                    <a:lumOff val="15000"/>
                  </a:schemeClr>
                </a:solidFill>
                <a:latin typeface="SamsungOne 400" panose="020B0503030303020204" pitchFamily="34" charset="0"/>
              </a:rPr>
              <a:t>투표</a:t>
            </a:r>
            <a:r>
              <a:rPr lang="en-US" altLang="ko-KR" sz="1300" dirty="0">
                <a:solidFill>
                  <a:schemeClr val="tx1">
                    <a:lumMod val="85000"/>
                    <a:lumOff val="15000"/>
                  </a:schemeClr>
                </a:solidFill>
                <a:latin typeface="SamsungOne 400" panose="020B0503030303020204" pitchFamily="34" charset="0"/>
              </a:rPr>
              <a:t>) – </a:t>
            </a:r>
            <a:r>
              <a:rPr lang="ko-KR" altLang="en-US" sz="1300" dirty="0">
                <a:solidFill>
                  <a:schemeClr val="tx1">
                    <a:lumMod val="85000"/>
                    <a:lumOff val="15000"/>
                  </a:schemeClr>
                </a:solidFill>
                <a:latin typeface="SamsungOne 400" panose="020B0503030303020204" pitchFamily="34" charset="0"/>
              </a:rPr>
              <a:t>투표를 통해 결과 도출</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Bagging – Bootstrap Aggregating (</a:t>
            </a:r>
            <a:r>
              <a:rPr lang="ko-KR" altLang="en-US" sz="1300" dirty="0">
                <a:solidFill>
                  <a:schemeClr val="tx1">
                    <a:lumMod val="85000"/>
                    <a:lumOff val="15000"/>
                  </a:schemeClr>
                </a:solidFill>
                <a:latin typeface="SamsungOne 400" panose="020B0503030303020204" pitchFamily="34" charset="0"/>
              </a:rPr>
              <a:t>샘플을 다양하게 중복 생성</a:t>
            </a:r>
            <a:r>
              <a:rPr lang="en-US" altLang="ko-KR" sz="1300" dirty="0">
                <a:solidFill>
                  <a:schemeClr val="tx1">
                    <a:lumMod val="85000"/>
                    <a:lumOff val="15000"/>
                  </a:schemeClr>
                </a:solidFill>
                <a:latin typeface="SamsungOne 400" panose="020B0503030303020204" pitchFamily="34" charset="0"/>
              </a:rPr>
              <a:t>)</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Boosting – </a:t>
            </a:r>
            <a:r>
              <a:rPr lang="ko-KR" altLang="en-US" sz="1300" dirty="0">
                <a:solidFill>
                  <a:schemeClr val="tx1">
                    <a:lumMod val="85000"/>
                    <a:lumOff val="15000"/>
                  </a:schemeClr>
                </a:solidFill>
                <a:latin typeface="SamsungOne 400" panose="020B0503030303020204" pitchFamily="34" charset="0"/>
              </a:rPr>
              <a:t>이전 오차를 보완하며 가중치 부여</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Stacking – </a:t>
            </a:r>
            <a:r>
              <a:rPr lang="ko-KR" altLang="en-US" sz="1300" dirty="0">
                <a:solidFill>
                  <a:schemeClr val="tx1">
                    <a:lumMod val="85000"/>
                    <a:lumOff val="15000"/>
                  </a:schemeClr>
                </a:solidFill>
                <a:latin typeface="SamsungOne 400" panose="020B0503030303020204" pitchFamily="34" charset="0"/>
              </a:rPr>
              <a:t>여러 모델을 기반으로 </a:t>
            </a:r>
            <a:r>
              <a:rPr lang="en-US" altLang="ko-KR" sz="1300" dirty="0">
                <a:solidFill>
                  <a:schemeClr val="tx1">
                    <a:lumMod val="85000"/>
                    <a:lumOff val="15000"/>
                  </a:schemeClr>
                </a:solidFill>
                <a:latin typeface="SamsungOne 400" panose="020B0503030303020204" pitchFamily="34" charset="0"/>
              </a:rPr>
              <a:t>meta </a:t>
            </a:r>
            <a:r>
              <a:rPr lang="ko-KR" altLang="en-US" sz="1300" dirty="0">
                <a:solidFill>
                  <a:schemeClr val="tx1">
                    <a:lumMod val="85000"/>
                    <a:lumOff val="15000"/>
                  </a:schemeClr>
                </a:solidFill>
                <a:latin typeface="SamsungOne 400" panose="020B0503030303020204" pitchFamily="34" charset="0"/>
              </a:rPr>
              <a:t>모델</a:t>
            </a:r>
          </a:p>
          <a:p>
            <a:pPr marL="182563" indent="-182563">
              <a:spcAft>
                <a:spcPts val="800"/>
              </a:spcAft>
              <a:buClr>
                <a:srgbClr val="193EB0"/>
              </a:buClr>
              <a:buFont typeface="SamsungOne 400" panose="020B0503030303020204" pitchFamily="34" charset="0"/>
              <a:buChar char="‣"/>
            </a:pP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사실 앙상블 기법은 말 그대로 하나의 기법</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방법론 적인 부분이 있어서 다양한 방식들이 추가로 더 있을 수 있다</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하지만 위에 언급한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4</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개지가 대표적인 앙상블 기법이며 이미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sklearn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라이브러리에도 구현된 기법들이다</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p:txBody>
      </p:sp>
      <p:sp>
        <p:nvSpPr>
          <p:cNvPr id="12" name="직사각형 11">
            <a:extLst>
              <a:ext uri="{FF2B5EF4-FFF2-40B4-BE49-F238E27FC236}">
                <a16:creationId xmlns:a16="http://schemas.microsoft.com/office/drawing/2014/main" id="{8314BCE9-5824-48F1-BB34-1C9E01048905}"/>
              </a:ext>
            </a:extLst>
          </p:cNvPr>
          <p:cNvSpPr/>
          <p:nvPr/>
        </p:nvSpPr>
        <p:spPr>
          <a:xfrm>
            <a:off x="558924" y="1428745"/>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Ensemble Learning</a:t>
            </a:r>
            <a:r>
              <a:rPr lang="ko-KR" altLang="en-US" sz="1400" dirty="0">
                <a:solidFill>
                  <a:schemeClr val="tx1"/>
                </a:solidFill>
                <a:latin typeface="SamsungOne 400" panose="020B0503030303020204" pitchFamily="34" charset="0"/>
                <a:ea typeface="SamsungOne 400" panose="020B0503030303020204" pitchFamily="34" charset="0"/>
              </a:rPr>
              <a:t>이란</a:t>
            </a:r>
            <a:r>
              <a:rPr lang="en-US" altLang="ko-KR" sz="1400" dirty="0">
                <a:solidFill>
                  <a:schemeClr val="tx1"/>
                </a:solidFill>
                <a:latin typeface="SamsungOne 400" panose="020B0503030303020204" pitchFamily="34" charset="0"/>
                <a:ea typeface="SamsungOne 400" panose="020B0503030303020204" pitchFamily="34" charset="0"/>
              </a:rPr>
              <a:t>?</a:t>
            </a:r>
          </a:p>
        </p:txBody>
      </p:sp>
      <p:sp>
        <p:nvSpPr>
          <p:cNvPr id="8" name="직사각형 7">
            <a:extLst>
              <a:ext uri="{FF2B5EF4-FFF2-40B4-BE49-F238E27FC236}">
                <a16:creationId xmlns:a16="http://schemas.microsoft.com/office/drawing/2014/main" id="{0F988639-C6C4-42CB-8CA0-83117A0BD02E}"/>
              </a:ext>
            </a:extLst>
          </p:cNvPr>
          <p:cNvSpPr/>
          <p:nvPr/>
        </p:nvSpPr>
        <p:spPr>
          <a:xfrm>
            <a:off x="675556" y="1700213"/>
            <a:ext cx="8632825" cy="3669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term ‘ensemble’ can be defined as follows:</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In</a:t>
            </a:r>
            <a:r>
              <a:rPr lang="ko-KR" altLang="en-US" sz="1300" dirty="0">
                <a:solidFill>
                  <a:schemeClr val="tx1">
                    <a:lumMod val="85000"/>
                    <a:lumOff val="15000"/>
                  </a:schemeClr>
                </a:solidFill>
                <a:latin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rPr>
              <a:t>statistical mechanics, an ensemble of a system refers to the collection of equivalent systems.</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other words, it is an assembly of similar groups.</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Instead of expecting performance results from a single model, ensemble learning draws a better result using the collective intelligence of different models, such as averaging out many different single models or making a decision based on the majority vote.</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There are many different ensemble methods using collective intelligence. </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Voting – Drawing results through voting</a:t>
            </a:r>
            <a:endParaRPr lang="ko-KR" altLang="en-US" sz="1300" dirty="0">
              <a:solidFill>
                <a:schemeClr val="tx1">
                  <a:lumMod val="85000"/>
                  <a:lumOff val="15000"/>
                </a:schemeClr>
              </a:solidFill>
              <a:latin typeface="SamsungOne 400" panose="020B0503030303020204" pitchFamily="34" charset="0"/>
            </a:endParaRP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Bagging – Bootstrap aggregating (duplicated creation of various samples)</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Boosting – Weighting by supplementing previous errors</a:t>
            </a:r>
            <a:r>
              <a:rPr lang="ko-KR" altLang="en-US" sz="1300" dirty="0">
                <a:solidFill>
                  <a:schemeClr val="tx1">
                    <a:lumMod val="85000"/>
                    <a:lumOff val="15000"/>
                  </a:schemeClr>
                </a:solidFill>
                <a:latin typeface="SamsungOne 400" panose="020B0503030303020204" pitchFamily="34" charset="0"/>
              </a:rPr>
              <a:t> </a:t>
            </a:r>
            <a:endParaRPr lang="en-US" altLang="ko-KR" sz="1300" dirty="0">
              <a:solidFill>
                <a:schemeClr val="tx1">
                  <a:lumMod val="85000"/>
                  <a:lumOff val="15000"/>
                </a:schemeClr>
              </a:solidFill>
              <a:latin typeface="SamsungOne 400" panose="020B0503030303020204" pitchFamily="34" charset="0"/>
            </a:endParaRP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Stacking – A</a:t>
            </a:r>
            <a:r>
              <a:rPr lang="ko-KR" altLang="en-US" sz="1300" dirty="0">
                <a:solidFill>
                  <a:schemeClr val="tx1">
                    <a:lumMod val="85000"/>
                    <a:lumOff val="15000"/>
                  </a:schemeClr>
                </a:solidFill>
                <a:latin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rPr>
              <a:t>meta-model</a:t>
            </a:r>
            <a:r>
              <a:rPr lang="ko-KR" altLang="en-US" sz="1300" dirty="0">
                <a:solidFill>
                  <a:schemeClr val="tx1">
                    <a:lumMod val="85000"/>
                    <a:lumOff val="15000"/>
                  </a:schemeClr>
                </a:solidFill>
                <a:latin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rPr>
              <a:t>based</a:t>
            </a:r>
            <a:r>
              <a:rPr lang="ko-KR" altLang="en-US" sz="1300" dirty="0">
                <a:solidFill>
                  <a:schemeClr val="tx1">
                    <a:lumMod val="85000"/>
                    <a:lumOff val="15000"/>
                  </a:schemeClr>
                </a:solidFill>
                <a:latin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rPr>
              <a:t>on</a:t>
            </a:r>
            <a:r>
              <a:rPr lang="ko-KR" altLang="en-US" sz="1300" dirty="0">
                <a:solidFill>
                  <a:schemeClr val="tx1">
                    <a:lumMod val="85000"/>
                    <a:lumOff val="15000"/>
                  </a:schemeClr>
                </a:solidFill>
                <a:latin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rPr>
              <a:t>different</a:t>
            </a:r>
            <a:r>
              <a:rPr lang="ko-KR" altLang="en-US" sz="1300" dirty="0">
                <a:solidFill>
                  <a:schemeClr val="tx1">
                    <a:lumMod val="85000"/>
                    <a:lumOff val="15000"/>
                  </a:schemeClr>
                </a:solidFill>
                <a:latin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rPr>
              <a:t>models</a:t>
            </a:r>
            <a:endParaRPr lang="ko-KR" altLang="en-US" sz="1300" dirty="0">
              <a:solidFill>
                <a:schemeClr val="tx1">
                  <a:lumMod val="85000"/>
                  <a:lumOff val="15000"/>
                </a:schemeClr>
              </a:solidFill>
              <a:latin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There</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can</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be</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other</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more different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methods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since</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ensemble</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learning</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applies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 certain technique/methodology.</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b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Yet, the four methods listed above are the most representative ensemble techniques in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sklearn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library. </a:t>
            </a:r>
          </a:p>
        </p:txBody>
      </p:sp>
      <p:sp>
        <p:nvSpPr>
          <p:cNvPr id="9" name="직사각형 8">
            <a:extLst>
              <a:ext uri="{FF2B5EF4-FFF2-40B4-BE49-F238E27FC236}">
                <a16:creationId xmlns:a16="http://schemas.microsoft.com/office/drawing/2014/main" id="{AEA1B8D9-F33A-4362-9F9E-AD428DF01FBF}"/>
              </a:ext>
            </a:extLst>
          </p:cNvPr>
          <p:cNvSpPr/>
          <p:nvPr/>
        </p:nvSpPr>
        <p:spPr>
          <a:xfrm>
            <a:off x="559409" y="1428150"/>
            <a:ext cx="9180558" cy="2154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What is ensemble learning?</a:t>
            </a:r>
          </a:p>
        </p:txBody>
      </p:sp>
    </p:spTree>
    <p:extLst>
      <p:ext uri="{BB962C8B-B14F-4D97-AF65-F5344CB8AC3E}">
        <p14:creationId xmlns:p14="http://schemas.microsoft.com/office/powerpoint/2010/main" val="1840718313"/>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8.1. The Concept of Ensemble Algorithm and Voting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7" name="직사각형 6">
            <a:extLst>
              <a:ext uri="{FF2B5EF4-FFF2-40B4-BE49-F238E27FC236}">
                <a16:creationId xmlns:a16="http://schemas.microsoft.com/office/drawing/2014/main" id="{007D4799-C994-448B-AE6C-E63AD7ADC472}"/>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Voting Ensemble </a:t>
            </a:r>
          </a:p>
        </p:txBody>
      </p:sp>
      <p:sp>
        <p:nvSpPr>
          <p:cNvPr id="8" name="직사각형 7">
            <a:extLst>
              <a:ext uri="{FF2B5EF4-FFF2-40B4-BE49-F238E27FC236}">
                <a16:creationId xmlns:a16="http://schemas.microsoft.com/office/drawing/2014/main" id="{4BEBA4BA-79EA-4580-B1DA-98E76CF78B44}"/>
              </a:ext>
            </a:extLst>
          </p:cNvPr>
          <p:cNvSpPr/>
          <p:nvPr/>
        </p:nvSpPr>
        <p:spPr>
          <a:xfrm>
            <a:off x="675071" y="2219443"/>
            <a:ext cx="8632825" cy="15560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latinLnBrk="1">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Can be applied to classification and regression.</a:t>
            </a:r>
          </a:p>
          <a:p>
            <a:pPr marL="182563" indent="-182563" defTabSz="914400" latinLnBrk="1">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learners that form an ensemble should be of different kinds for a good performance.</a:t>
            </a:r>
          </a:p>
          <a:p>
            <a:pPr marL="182563" indent="-182563" defTabSz="914400" latinLnBrk="1">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Two voting methods for the classifier:</a:t>
            </a:r>
          </a:p>
          <a:p>
            <a:pPr marL="355600" lvl="1" indent="-179388" defTabSz="914400" latinLnBrk="1">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Hard: predicted class label is given by the majority rule voting. </a:t>
            </a:r>
          </a:p>
          <a:p>
            <a:pPr marL="355600" lvl="1" indent="-179388" defTabSz="914400" latinLnBrk="1">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Soft: predicted class label is given by the </a:t>
            </a:r>
            <a:r>
              <a:rPr lang="en-US" altLang="ko-KR" sz="1300" b="1" dirty="0">
                <a:solidFill>
                  <a:srgbClr val="1429A0"/>
                </a:solidFill>
                <a:latin typeface="SamsungOne 400" panose="020B0503030303020204" pitchFamily="34" charset="0"/>
                <a:ea typeface="SamsungOne 400" panose="020B0503030303020204" pitchFamily="34" charset="0"/>
              </a:rPr>
              <a:t>argmax</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of the sum of the predicted probabilities. </a:t>
            </a:r>
          </a:p>
        </p:txBody>
      </p:sp>
      <p:sp>
        <p:nvSpPr>
          <p:cNvPr id="9" name="직사각형 8">
            <a:extLst>
              <a:ext uri="{FF2B5EF4-FFF2-40B4-BE49-F238E27FC236}">
                <a16:creationId xmlns:a16="http://schemas.microsoft.com/office/drawing/2014/main" id="{32BBE1C7-69B7-4787-9154-CF2D80AC88D5}"/>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Voting ensemble</a:t>
            </a:r>
          </a:p>
        </p:txBody>
      </p:sp>
    </p:spTree>
    <p:extLst>
      <p:ext uri="{BB962C8B-B14F-4D97-AF65-F5344CB8AC3E}">
        <p14:creationId xmlns:p14="http://schemas.microsoft.com/office/powerpoint/2010/main" val="1459119995"/>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8.1. The Concept of Ensemble Algorithm and Voting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1" name="직사각형 10">
            <a:extLst>
              <a:ext uri="{FF2B5EF4-FFF2-40B4-BE49-F238E27FC236}">
                <a16:creationId xmlns:a16="http://schemas.microsoft.com/office/drawing/2014/main" id="{4B6F5537-52C4-47E0-92F6-49DEB96D42C2}"/>
              </a:ext>
            </a:extLst>
          </p:cNvPr>
          <p:cNvSpPr/>
          <p:nvPr/>
        </p:nvSpPr>
        <p:spPr>
          <a:xfrm>
            <a:off x="675556" y="1700213"/>
            <a:ext cx="8632825" cy="25614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As the word itself, voting makes a decision through votes. Voting is similar to bagging as it uses a voting method, but they are highly differentiated from each other as follows:</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Voting:</a:t>
            </a:r>
            <a:r>
              <a:rPr lang="ko-KR" altLang="en-US" sz="1300" dirty="0">
                <a:solidFill>
                  <a:schemeClr val="tx1">
                    <a:lumMod val="85000"/>
                    <a:lumOff val="15000"/>
                  </a:schemeClr>
                </a:solidFill>
                <a:latin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Combines different algorithm models.</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Bagging:</a:t>
            </a:r>
            <a:r>
              <a:rPr lang="ko-KR" altLang="en-US" sz="1300" dirty="0">
                <a:solidFill>
                  <a:schemeClr val="tx1">
                    <a:lumMod val="85000"/>
                    <a:lumOff val="15000"/>
                  </a:schemeClr>
                </a:solidFill>
                <a:latin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Uses different sample combinations within the same algorithm.</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Voting selects final results by having final voting on results deduced by different algorithms. </a:t>
            </a: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Voting is classified into hard voting and</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 soft voting.</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Hard voting: Decides the final value of the result through voting.</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Soft voting: Draws the final value by adding all the probability values of getting the final result and then calculating every probability of the final result. </a:t>
            </a:r>
          </a:p>
        </p:txBody>
      </p:sp>
      <p:sp>
        <p:nvSpPr>
          <p:cNvPr id="12" name="직사각형 11">
            <a:extLst>
              <a:ext uri="{FF2B5EF4-FFF2-40B4-BE49-F238E27FC236}">
                <a16:creationId xmlns:a16="http://schemas.microsoft.com/office/drawing/2014/main" id="{0FAE4D86-683B-42C3-8B8A-30EF57E21D17}"/>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Voting</a:t>
            </a:r>
          </a:p>
        </p:txBody>
      </p:sp>
    </p:spTree>
    <p:extLst>
      <p:ext uri="{BB962C8B-B14F-4D97-AF65-F5344CB8AC3E}">
        <p14:creationId xmlns:p14="http://schemas.microsoft.com/office/powerpoint/2010/main" val="470924323"/>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8.1. The Concept of Ensemble Algorithm and Voting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0FAE4D86-683B-42C3-8B8A-30EF57E21D17}"/>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Voting</a:t>
            </a:r>
          </a:p>
        </p:txBody>
      </p:sp>
      <p:grpSp>
        <p:nvGrpSpPr>
          <p:cNvPr id="2" name="그룹 1"/>
          <p:cNvGrpSpPr/>
          <p:nvPr/>
        </p:nvGrpSpPr>
        <p:grpSpPr>
          <a:xfrm>
            <a:off x="558924" y="1773237"/>
            <a:ext cx="4752528" cy="4068031"/>
            <a:chOff x="558924" y="1773237"/>
            <a:chExt cx="4752528" cy="4068031"/>
          </a:xfrm>
        </p:grpSpPr>
        <p:sp>
          <p:nvSpPr>
            <p:cNvPr id="28" name="모서리가 둥근 직사각형 4">
              <a:extLst>
                <a:ext uri="{FF2B5EF4-FFF2-40B4-BE49-F238E27FC236}">
                  <a16:creationId xmlns:a16="http://schemas.microsoft.com/office/drawing/2014/main" id="{8C243CB6-4E08-4DE1-81EE-52E1231A41DD}"/>
                </a:ext>
              </a:extLst>
            </p:cNvPr>
            <p:cNvSpPr/>
            <p:nvPr/>
          </p:nvSpPr>
          <p:spPr>
            <a:xfrm>
              <a:off x="558924" y="1773237"/>
              <a:ext cx="4752528" cy="406803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SamsungOne 400" panose="020B0503030303020204" pitchFamily="34" charset="0"/>
              </a:endParaRPr>
            </a:p>
          </p:txBody>
        </p:sp>
        <p:sp>
          <p:nvSpPr>
            <p:cNvPr id="7" name="직사각형 6">
              <a:extLst>
                <a:ext uri="{FF2B5EF4-FFF2-40B4-BE49-F238E27FC236}">
                  <a16:creationId xmlns:a16="http://schemas.microsoft.com/office/drawing/2014/main" id="{CEB994A0-007E-485F-85A3-B03AB6851A9E}"/>
                </a:ext>
              </a:extLst>
            </p:cNvPr>
            <p:cNvSpPr/>
            <p:nvPr/>
          </p:nvSpPr>
          <p:spPr>
            <a:xfrm>
              <a:off x="747398" y="1844824"/>
              <a:ext cx="4375580" cy="360040"/>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latin typeface="SamsungOne 400" panose="020B0503030303020204" pitchFamily="34" charset="0"/>
                </a:rPr>
                <a:t>Training set</a:t>
              </a:r>
              <a:endParaRPr lang="en-US" sz="1400" b="1" dirty="0">
                <a:latin typeface="SamsungOne 400" panose="020B0503030303020204" pitchFamily="34" charset="0"/>
                <a:ea typeface="SamsungOne 400" panose="020B0503030303020204" pitchFamily="34" charset="0"/>
              </a:endParaRPr>
            </a:p>
          </p:txBody>
        </p:sp>
        <p:grpSp>
          <p:nvGrpSpPr>
            <p:cNvPr id="85" name="그룹 84">
              <a:extLst>
                <a:ext uri="{FF2B5EF4-FFF2-40B4-BE49-F238E27FC236}">
                  <a16:creationId xmlns:a16="http://schemas.microsoft.com/office/drawing/2014/main" id="{A71C2E3B-1903-4382-A6FC-5B734606965F}"/>
                </a:ext>
              </a:extLst>
            </p:cNvPr>
            <p:cNvGrpSpPr/>
            <p:nvPr/>
          </p:nvGrpSpPr>
          <p:grpSpPr>
            <a:xfrm>
              <a:off x="747398" y="2643912"/>
              <a:ext cx="4366890" cy="785088"/>
              <a:chOff x="747398" y="2463892"/>
              <a:chExt cx="4366890" cy="785088"/>
            </a:xfrm>
          </p:grpSpPr>
          <p:sp>
            <p:nvSpPr>
              <p:cNvPr id="8" name="직사각형 7">
                <a:extLst>
                  <a:ext uri="{FF2B5EF4-FFF2-40B4-BE49-F238E27FC236}">
                    <a16:creationId xmlns:a16="http://schemas.microsoft.com/office/drawing/2014/main" id="{CA00C784-CF9B-4A87-83BD-547210AEE960}"/>
                  </a:ext>
                </a:extLst>
              </p:cNvPr>
              <p:cNvSpPr/>
              <p:nvPr/>
            </p:nvSpPr>
            <p:spPr>
              <a:xfrm>
                <a:off x="747398" y="2463892"/>
                <a:ext cx="1368152" cy="78508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a:latin typeface="SamsungOne 400" panose="020B0503030303020204" pitchFamily="34" charset="0"/>
                  </a:rPr>
                  <a:t>Logistic regression analysis</a:t>
                </a:r>
                <a:endParaRPr lang="en-US" sz="1400" dirty="0">
                  <a:latin typeface="SamsungOne 400" panose="020B0503030303020204" pitchFamily="34" charset="0"/>
                  <a:ea typeface="SamsungOne 400" panose="020B0503030303020204" pitchFamily="34" charset="0"/>
                </a:endParaRPr>
              </a:p>
            </p:txBody>
          </p:sp>
          <p:sp>
            <p:nvSpPr>
              <p:cNvPr id="9" name="직사각형 8">
                <a:extLst>
                  <a:ext uri="{FF2B5EF4-FFF2-40B4-BE49-F238E27FC236}">
                    <a16:creationId xmlns:a16="http://schemas.microsoft.com/office/drawing/2014/main" id="{9DDBABBD-429B-42E4-88FC-7D749ABB4E9D}"/>
                  </a:ext>
                </a:extLst>
              </p:cNvPr>
              <p:cNvSpPr/>
              <p:nvPr/>
            </p:nvSpPr>
            <p:spPr>
              <a:xfrm>
                <a:off x="2246767" y="2463892"/>
                <a:ext cx="1368152" cy="78508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a:latin typeface="SamsungOne 400" panose="020B0503030303020204" pitchFamily="34" charset="0"/>
                  </a:rPr>
                  <a:t>Decision tree</a:t>
                </a:r>
                <a:endParaRPr lang="en-US" sz="1400" dirty="0">
                  <a:latin typeface="SamsungOne 400" panose="020B0503030303020204" pitchFamily="34" charset="0"/>
                  <a:ea typeface="SamsungOne 400" panose="020B0503030303020204" pitchFamily="34" charset="0"/>
                </a:endParaRPr>
              </a:p>
            </p:txBody>
          </p:sp>
          <p:sp>
            <p:nvSpPr>
              <p:cNvPr id="10" name="직사각형 9">
                <a:extLst>
                  <a:ext uri="{FF2B5EF4-FFF2-40B4-BE49-F238E27FC236}">
                    <a16:creationId xmlns:a16="http://schemas.microsoft.com/office/drawing/2014/main" id="{C5BB2C0F-C46F-45F4-9DD1-3DB5764A7440}"/>
                  </a:ext>
                </a:extLst>
              </p:cNvPr>
              <p:cNvSpPr/>
              <p:nvPr/>
            </p:nvSpPr>
            <p:spPr>
              <a:xfrm>
                <a:off x="3746136" y="2463892"/>
                <a:ext cx="1368152" cy="78508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a:latin typeface="SamsungOne 400" panose="020B0503030303020204" pitchFamily="34" charset="0"/>
                  </a:rPr>
                  <a:t>Training set</a:t>
                </a:r>
                <a:endParaRPr lang="en-US" sz="1400" dirty="0">
                  <a:latin typeface="SamsungOne 400" panose="020B0503030303020204" pitchFamily="34" charset="0"/>
                  <a:ea typeface="SamsungOne 400" panose="020B0503030303020204" pitchFamily="34" charset="0"/>
                </a:endParaRPr>
              </a:p>
            </p:txBody>
          </p:sp>
        </p:grpSp>
        <p:sp>
          <p:nvSpPr>
            <p:cNvPr id="13" name="타원 12">
              <a:extLst>
                <a:ext uri="{FF2B5EF4-FFF2-40B4-BE49-F238E27FC236}">
                  <a16:creationId xmlns:a16="http://schemas.microsoft.com/office/drawing/2014/main" id="{9195A566-6715-42C9-8867-EE790675A9A8}"/>
                </a:ext>
              </a:extLst>
            </p:cNvPr>
            <p:cNvSpPr/>
            <p:nvPr/>
          </p:nvSpPr>
          <p:spPr>
            <a:xfrm>
              <a:off x="1137621" y="3673038"/>
              <a:ext cx="587705" cy="58770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SamsungOne 400" panose="020B0503030303020204" pitchFamily="34" charset="0"/>
                  <a:ea typeface="SamsungOne 400" panose="020B0503030303020204" pitchFamily="34" charset="0"/>
                </a:rPr>
                <a:t>P1</a:t>
              </a:r>
            </a:p>
          </p:txBody>
        </p:sp>
        <p:sp>
          <p:nvSpPr>
            <p:cNvPr id="14" name="타원 13">
              <a:extLst>
                <a:ext uri="{FF2B5EF4-FFF2-40B4-BE49-F238E27FC236}">
                  <a16:creationId xmlns:a16="http://schemas.microsoft.com/office/drawing/2014/main" id="{1A4101BD-B13C-4304-A852-8DBDA75AE2CC}"/>
                </a:ext>
              </a:extLst>
            </p:cNvPr>
            <p:cNvSpPr/>
            <p:nvPr/>
          </p:nvSpPr>
          <p:spPr>
            <a:xfrm>
              <a:off x="2642886" y="3662766"/>
              <a:ext cx="587705" cy="58770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SamsungOne 400" panose="020B0503030303020204" pitchFamily="34" charset="0"/>
                  <a:ea typeface="SamsungOne 400" panose="020B0503030303020204" pitchFamily="34" charset="0"/>
                </a:rPr>
                <a:t>P2</a:t>
              </a:r>
            </a:p>
          </p:txBody>
        </p:sp>
        <p:sp>
          <p:nvSpPr>
            <p:cNvPr id="15" name="타원 14">
              <a:extLst>
                <a:ext uri="{FF2B5EF4-FFF2-40B4-BE49-F238E27FC236}">
                  <a16:creationId xmlns:a16="http://schemas.microsoft.com/office/drawing/2014/main" id="{CE6FD0B8-B904-42E7-8B3E-4224911EA66B}"/>
                </a:ext>
              </a:extLst>
            </p:cNvPr>
            <p:cNvSpPr/>
            <p:nvPr/>
          </p:nvSpPr>
          <p:spPr>
            <a:xfrm>
              <a:off x="4136359" y="3662766"/>
              <a:ext cx="587705" cy="58770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a:latin typeface="SamsungOne 400" panose="020B0503030303020204" pitchFamily="34" charset="0"/>
                  <a:ea typeface="SamsungOne 400" panose="020B0503030303020204" pitchFamily="34" charset="0"/>
                </a:rPr>
                <a:t>Pn</a:t>
              </a:r>
              <a:endParaRPr lang="en-US" sz="1200" b="1" dirty="0">
                <a:latin typeface="SamsungOne 400" panose="020B0503030303020204" pitchFamily="34" charset="0"/>
                <a:ea typeface="SamsungOne 400" panose="020B0503030303020204" pitchFamily="34" charset="0"/>
              </a:endParaRPr>
            </a:p>
          </p:txBody>
        </p:sp>
        <p:sp>
          <p:nvSpPr>
            <p:cNvPr id="16" name="순서도: 병합 15">
              <a:extLst>
                <a:ext uri="{FF2B5EF4-FFF2-40B4-BE49-F238E27FC236}">
                  <a16:creationId xmlns:a16="http://schemas.microsoft.com/office/drawing/2014/main" id="{9921D3EF-BFF4-4978-8E9A-64D0580A2981}"/>
                </a:ext>
              </a:extLst>
            </p:cNvPr>
            <p:cNvSpPr/>
            <p:nvPr/>
          </p:nvSpPr>
          <p:spPr>
            <a:xfrm>
              <a:off x="1376642" y="4433905"/>
              <a:ext cx="3178725" cy="648072"/>
            </a:xfrm>
            <a:prstGeom prst="flowChartMerg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SamsungOne 400" panose="020B0503030303020204" pitchFamily="34" charset="0"/>
                  <a:ea typeface="SamsungOne 400" panose="020B0503030303020204" pitchFamily="34" charset="0"/>
                </a:rPr>
                <a:t>Voting</a:t>
              </a:r>
            </a:p>
          </p:txBody>
        </p:sp>
        <p:sp>
          <p:nvSpPr>
            <p:cNvPr id="17" name="직사각형 16">
              <a:extLst>
                <a:ext uri="{FF2B5EF4-FFF2-40B4-BE49-F238E27FC236}">
                  <a16:creationId xmlns:a16="http://schemas.microsoft.com/office/drawing/2014/main" id="{D506A048-F455-40A4-8037-A5D1F4CBE490}"/>
                </a:ext>
              </a:extLst>
            </p:cNvPr>
            <p:cNvSpPr/>
            <p:nvPr/>
          </p:nvSpPr>
          <p:spPr>
            <a:xfrm>
              <a:off x="747398" y="5282356"/>
              <a:ext cx="4366890" cy="392583"/>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latin typeface="SamsungOne 400" panose="020B0503030303020204" pitchFamily="34" charset="0"/>
                </a:rPr>
                <a:t>Final PI</a:t>
              </a:r>
              <a:endParaRPr lang="en-US" sz="1400" b="1" dirty="0">
                <a:latin typeface="SamsungOne 400" panose="020B0503030303020204" pitchFamily="34" charset="0"/>
                <a:ea typeface="SamsungOne 400" panose="020B0503030303020204" pitchFamily="34" charset="0"/>
              </a:endParaRPr>
            </a:p>
          </p:txBody>
        </p:sp>
        <p:cxnSp>
          <p:nvCxnSpPr>
            <p:cNvPr id="66" name="연결선: 꺾임 65">
              <a:extLst>
                <a:ext uri="{FF2B5EF4-FFF2-40B4-BE49-F238E27FC236}">
                  <a16:creationId xmlns:a16="http://schemas.microsoft.com/office/drawing/2014/main" id="{45550142-37CF-41A0-BBFF-43D487257C5E}"/>
                </a:ext>
              </a:extLst>
            </p:cNvPr>
            <p:cNvCxnSpPr>
              <a:stCxn id="7" idx="2"/>
              <a:endCxn id="8" idx="0"/>
            </p:cNvCxnSpPr>
            <p:nvPr/>
          </p:nvCxnSpPr>
          <p:spPr>
            <a:xfrm rot="5400000">
              <a:off x="1963807" y="1672531"/>
              <a:ext cx="439048" cy="1503714"/>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연결선: 꺾임 67">
              <a:extLst>
                <a:ext uri="{FF2B5EF4-FFF2-40B4-BE49-F238E27FC236}">
                  <a16:creationId xmlns:a16="http://schemas.microsoft.com/office/drawing/2014/main" id="{773DA85C-A335-476F-A41A-9FF150B8E79E}"/>
                </a:ext>
              </a:extLst>
            </p:cNvPr>
            <p:cNvCxnSpPr>
              <a:stCxn id="7" idx="2"/>
              <a:endCxn id="9" idx="0"/>
            </p:cNvCxnSpPr>
            <p:nvPr/>
          </p:nvCxnSpPr>
          <p:spPr>
            <a:xfrm rot="5400000">
              <a:off x="2713492" y="2422216"/>
              <a:ext cx="439048" cy="4345"/>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연결선: 꺾임 71">
              <a:extLst>
                <a:ext uri="{FF2B5EF4-FFF2-40B4-BE49-F238E27FC236}">
                  <a16:creationId xmlns:a16="http://schemas.microsoft.com/office/drawing/2014/main" id="{29D7B1F8-0565-4BF6-8F28-C48178DD1EBB}"/>
                </a:ext>
              </a:extLst>
            </p:cNvPr>
            <p:cNvCxnSpPr>
              <a:stCxn id="7" idx="2"/>
              <a:endCxn id="10" idx="0"/>
            </p:cNvCxnSpPr>
            <p:nvPr/>
          </p:nvCxnSpPr>
          <p:spPr>
            <a:xfrm rot="16200000" flipH="1">
              <a:off x="3463176" y="1676876"/>
              <a:ext cx="439048" cy="1495024"/>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직선 화살표 연결선 95">
              <a:extLst>
                <a:ext uri="{FF2B5EF4-FFF2-40B4-BE49-F238E27FC236}">
                  <a16:creationId xmlns:a16="http://schemas.microsoft.com/office/drawing/2014/main" id="{8DC975C9-1AC0-4157-A470-54F05AF7E4CF}"/>
                </a:ext>
              </a:extLst>
            </p:cNvPr>
            <p:cNvCxnSpPr>
              <a:endCxn id="13" idx="0"/>
            </p:cNvCxnSpPr>
            <p:nvPr/>
          </p:nvCxnSpPr>
          <p:spPr>
            <a:xfrm>
              <a:off x="1419683" y="3439272"/>
              <a:ext cx="11791" cy="23376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직선 화살표 연결선 96">
              <a:extLst>
                <a:ext uri="{FF2B5EF4-FFF2-40B4-BE49-F238E27FC236}">
                  <a16:creationId xmlns:a16="http://schemas.microsoft.com/office/drawing/2014/main" id="{542AE38C-ACEE-4476-9CB3-CAC5F11A900C}"/>
                </a:ext>
              </a:extLst>
            </p:cNvPr>
            <p:cNvCxnSpPr/>
            <p:nvPr/>
          </p:nvCxnSpPr>
          <p:spPr>
            <a:xfrm>
              <a:off x="4430212" y="3439272"/>
              <a:ext cx="11791" cy="23376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직선 화살표 연결선 97">
              <a:extLst>
                <a:ext uri="{FF2B5EF4-FFF2-40B4-BE49-F238E27FC236}">
                  <a16:creationId xmlns:a16="http://schemas.microsoft.com/office/drawing/2014/main" id="{A66B1A0F-2789-4900-BE45-16CF3BDB7703}"/>
                </a:ext>
              </a:extLst>
            </p:cNvPr>
            <p:cNvCxnSpPr/>
            <p:nvPr/>
          </p:nvCxnSpPr>
          <p:spPr>
            <a:xfrm>
              <a:off x="2913156" y="3439272"/>
              <a:ext cx="11791" cy="23376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9" name="직사각형 98">
            <a:extLst>
              <a:ext uri="{FF2B5EF4-FFF2-40B4-BE49-F238E27FC236}">
                <a16:creationId xmlns:a16="http://schemas.microsoft.com/office/drawing/2014/main" id="{49370A12-916E-4CFB-83BB-619009324F28}"/>
              </a:ext>
            </a:extLst>
          </p:cNvPr>
          <p:cNvSpPr/>
          <p:nvPr/>
        </p:nvSpPr>
        <p:spPr>
          <a:xfrm>
            <a:off x="5442668" y="1831132"/>
            <a:ext cx="4025331" cy="43722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Use a single training set.</a:t>
            </a:r>
          </a:p>
          <a:p>
            <a:pPr marL="182563" indent="-182563">
              <a:spcAft>
                <a:spcPts val="800"/>
              </a:spcAft>
              <a:buClr>
                <a:srgbClr val="193EB0"/>
              </a:buClr>
              <a:buFont typeface="SamsungOne 400" panose="020B0503030303020204" pitchFamily="34" charset="0"/>
              <a:buChar char="‣"/>
            </a:pP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Use different classification models.</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Predictive value</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a:spcAft>
                <a:spcPts val="800"/>
              </a:spcAft>
              <a:buClr>
                <a:srgbClr val="193EB0"/>
              </a:buClr>
              <a:buFont typeface="SamsungOne 400" panose="020B0503030303020204" pitchFamily="34" charset="0"/>
              <a:buChar char="‣"/>
            </a:pP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a:spcAft>
                <a:spcPts val="6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the predictive values of each analysis model are different from voting, choose the result with the most values.</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355600" lvl="1" indent="-179388" defTabSz="914400">
              <a:spcAft>
                <a:spcPts val="6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hard voting</a:t>
            </a:r>
          </a:p>
          <a:p>
            <a:pPr marL="355600" lvl="1" indent="-179388" defTabSz="914400">
              <a:spcAft>
                <a:spcPts val="6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soft voting</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b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br>
            <a:r>
              <a:rPr lang="en-US" altLang="ko-KR" sz="1300" b="1" dirty="0">
                <a:solidFill>
                  <a:srgbClr val="1429A0"/>
                </a:solidFill>
                <a:latin typeface="SamsungOne 400" panose="020B0503030303020204" pitchFamily="34" charset="0"/>
                <a:ea typeface="SamsungOne 400" panose="020B0503030303020204" pitchFamily="34" charset="0"/>
                <a:sym typeface="Wingdings" panose="05000000000000000000" pitchFamily="2" charset="2"/>
              </a:rPr>
              <a:t> </a:t>
            </a:r>
            <a:r>
              <a:rPr lang="en-US" altLang="ko-KR" sz="1300" b="1" dirty="0">
                <a:solidFill>
                  <a:srgbClr val="1429A0"/>
                </a:solidFill>
                <a:latin typeface="SamsungOne 400" panose="020B0503030303020204" pitchFamily="34" charset="0"/>
              </a:rPr>
              <a:t>Predict the highest class by averaging out the prediction of individual classifier.</a:t>
            </a:r>
            <a:endParaRPr lang="ko-KR" altLang="en-US" sz="1300" b="1" dirty="0">
              <a:solidFill>
                <a:srgbClr val="1429A0"/>
              </a:solidFill>
              <a:latin typeface="SamsungOne 400" panose="020B0503030303020204" pitchFamily="34" charset="0"/>
              <a:ea typeface="SamsungOne 400" panose="020B0503030303020204" pitchFamily="34" charset="0"/>
            </a:endParaRPr>
          </a:p>
        </p:txBody>
      </p:sp>
    </p:spTree>
    <p:extLst>
      <p:ext uri="{BB962C8B-B14F-4D97-AF65-F5344CB8AC3E}">
        <p14:creationId xmlns:p14="http://schemas.microsoft.com/office/powerpoint/2010/main" val="2623486250"/>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8.1. The Concept of Ensemble Algorithm and Voting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0FAE4D86-683B-42C3-8B8A-30EF57E21D17}"/>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lumMod val="85000"/>
                    <a:lumOff val="15000"/>
                  </a:schemeClr>
                </a:solidFill>
                <a:latin typeface="SamsungOne 400" panose="020B0503030303020204" pitchFamily="34" charset="0"/>
                <a:ea typeface="SamsungOne 400" panose="020B0503030303020204" pitchFamily="34" charset="0"/>
              </a:rPr>
              <a:t>Voting</a:t>
            </a:r>
          </a:p>
        </p:txBody>
      </p:sp>
      <p:sp>
        <p:nvSpPr>
          <p:cNvPr id="27" name="직사각형 26">
            <a:extLst>
              <a:ext uri="{FF2B5EF4-FFF2-40B4-BE49-F238E27FC236}">
                <a16:creationId xmlns:a16="http://schemas.microsoft.com/office/drawing/2014/main" id="{CFDA8044-EED7-4C4D-9FD1-01536007FD6A}"/>
              </a:ext>
            </a:extLst>
          </p:cNvPr>
          <p:cNvSpPr/>
          <p:nvPr/>
        </p:nvSpPr>
        <p:spPr>
          <a:xfrm>
            <a:off x="675556" y="1700213"/>
            <a:ext cx="8632825" cy="3059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latinLnBrk="1">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Hard</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Voting</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Taking classification as an example. Suppose the predictive values for classification are 1,0,0,1,1 since 1 has three votes and 0 has 2 votes. In that case, 1 becomes the final predictive value in the hard voting method. </a:t>
            </a:r>
          </a:p>
          <a:p>
            <a:pPr marL="182563" indent="-182563" defTabSz="914400" latinLnBrk="1">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Soft Voting</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Soft voting method calculates the average value of each probability and then determines the one with the highest probability.</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Suppose the probability of getting class 0 is (0.4, 0.9, 0.9, 0.4, 0.4), and the probability of getting class 1 is (0.6, 0.1, 0.1, 0.6, 0.6). The final probability of getting class 0 is (0.4+0.9+0.9+0.4+0.4) / 5 = 0.6; the final probability of getting class 1 is (0.6+0.1+0.1+0.6+0.6) / 5 = 0.4. Therefore, the selected final value is different from the result of the hard voting above. </a:t>
            </a:r>
          </a:p>
          <a:p>
            <a:pPr marL="182563" indent="-182563" defTabSz="914400" latinLnBrk="1">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general, using the soft voting method is considered more reasonable than the hard voting method in competitions because the soft voting method provides a much better actual performance result. </a:t>
            </a:r>
          </a:p>
        </p:txBody>
      </p:sp>
    </p:spTree>
    <p:extLst>
      <p:ext uri="{BB962C8B-B14F-4D97-AF65-F5344CB8AC3E}">
        <p14:creationId xmlns:p14="http://schemas.microsoft.com/office/powerpoint/2010/main" val="3347894514"/>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8.1. The Concept of Ensemble Algorithm and Voting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0FAE4D86-683B-42C3-8B8A-30EF57E21D17}"/>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Voting ensemble in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p>
        </p:txBody>
      </p:sp>
      <p:sp>
        <p:nvSpPr>
          <p:cNvPr id="27" name="직사각형 26">
            <a:extLst>
              <a:ext uri="{FF2B5EF4-FFF2-40B4-BE49-F238E27FC236}">
                <a16:creationId xmlns:a16="http://schemas.microsoft.com/office/drawing/2014/main" id="{CFDA8044-EED7-4C4D-9FD1-01536007FD6A}"/>
              </a:ext>
            </a:extLst>
          </p:cNvPr>
          <p:cNvSpPr/>
          <p:nvPr/>
        </p:nvSpPr>
        <p:spPr>
          <a:xfrm>
            <a:off x="675556" y="1700213"/>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latinLnBrk="1">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To import the voting ensemble as class:</a:t>
            </a:r>
          </a:p>
        </p:txBody>
      </p:sp>
      <p:sp>
        <p:nvSpPr>
          <p:cNvPr id="7" name="직사각형 6">
            <a:extLst>
              <a:ext uri="{FF2B5EF4-FFF2-40B4-BE49-F238E27FC236}">
                <a16:creationId xmlns:a16="http://schemas.microsoft.com/office/drawing/2014/main" id="{F8516503-FEA8-4172-A77A-49FCF7EB6116}"/>
              </a:ext>
            </a:extLst>
          </p:cNvPr>
          <p:cNvSpPr/>
          <p:nvPr/>
        </p:nvSpPr>
        <p:spPr>
          <a:xfrm>
            <a:off x="847724" y="2063922"/>
            <a:ext cx="5831879" cy="54006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2" lvl="1" defTabSz="914400">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from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sklearn.ensemble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import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VotingClassifier</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 For classification</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b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from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sklearn.ensemble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import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VotingRegressor</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 For regression</a:t>
            </a:r>
          </a:p>
        </p:txBody>
      </p:sp>
      <p:sp>
        <p:nvSpPr>
          <p:cNvPr id="8" name="직사각형 7">
            <a:extLst>
              <a:ext uri="{FF2B5EF4-FFF2-40B4-BE49-F238E27FC236}">
                <a16:creationId xmlns:a16="http://schemas.microsoft.com/office/drawing/2014/main" id="{DE4FB561-8AB3-418D-A39F-5C74E93DAA71}"/>
              </a:ext>
            </a:extLst>
          </p:cNvPr>
          <p:cNvSpPr/>
          <p:nvPr/>
        </p:nvSpPr>
        <p:spPr>
          <a:xfrm>
            <a:off x="675556" y="2744924"/>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latinLnBrk="1">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To instantiate an object that implements voting ensemble:</a:t>
            </a:r>
          </a:p>
        </p:txBody>
      </p:sp>
      <p:grpSp>
        <p:nvGrpSpPr>
          <p:cNvPr id="9" name="그룹 8">
            <a:extLst>
              <a:ext uri="{FF2B5EF4-FFF2-40B4-BE49-F238E27FC236}">
                <a16:creationId xmlns:a16="http://schemas.microsoft.com/office/drawing/2014/main" id="{334C359E-254B-4211-A163-2875C34D2F13}"/>
              </a:ext>
            </a:extLst>
          </p:cNvPr>
          <p:cNvGrpSpPr/>
          <p:nvPr/>
        </p:nvGrpSpPr>
        <p:grpSpPr>
          <a:xfrm>
            <a:off x="846956" y="3053119"/>
            <a:ext cx="7308261" cy="950755"/>
            <a:chOff x="903506" y="2434964"/>
            <a:chExt cx="7308261" cy="950755"/>
          </a:xfrm>
        </p:grpSpPr>
        <p:sp>
          <p:nvSpPr>
            <p:cNvPr id="10" name="사각형: 둥근 모서리 2">
              <a:extLst>
                <a:ext uri="{FF2B5EF4-FFF2-40B4-BE49-F238E27FC236}">
                  <a16:creationId xmlns:a16="http://schemas.microsoft.com/office/drawing/2014/main" id="{35567643-DCC5-4203-99D9-E52009CC4DE0}"/>
                </a:ext>
              </a:extLst>
            </p:cNvPr>
            <p:cNvSpPr/>
            <p:nvPr/>
          </p:nvSpPr>
          <p:spPr>
            <a:xfrm>
              <a:off x="903506" y="2490277"/>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11" name="직사각형 10">
              <a:extLst>
                <a:ext uri="{FF2B5EF4-FFF2-40B4-BE49-F238E27FC236}">
                  <a16:creationId xmlns:a16="http://schemas.microsoft.com/office/drawing/2014/main" id="{1D411888-6678-41F6-B3A1-A43BD5AEF08B}"/>
                </a:ext>
              </a:extLst>
            </p:cNvPr>
            <p:cNvSpPr/>
            <p:nvPr/>
          </p:nvSpPr>
          <p:spPr>
            <a:xfrm>
              <a:off x="1279004" y="2434964"/>
              <a:ext cx="6932763"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ctr">
              <a:spAutoFit/>
              <a:scene3d>
                <a:camera prst="orthographicFront"/>
                <a:lightRig rig="threePt" dir="t"/>
              </a:scene3d>
              <a:sp3d>
                <a:bevelT w="0" h="6350"/>
              </a:sp3d>
            </a:bodyPr>
            <a:lstStyle/>
            <a:p>
              <a:pPr marL="0" lvl="1" defTabSz="914400" latinLnBrk="1">
                <a:spcAft>
                  <a:spcPts val="800"/>
                </a:spcAft>
                <a:buClr>
                  <a:srgbClr val="193EB0"/>
                </a:buClr>
              </a:pPr>
              <a:r>
                <a:rPr lang="en-US" altLang="ko-KR" sz="1300" dirty="0" err="1">
                  <a:solidFill>
                    <a:srgbClr val="1D48D1"/>
                  </a:solidFill>
                  <a:latin typeface="SamsungOne 400" panose="020B0503030303020204" pitchFamily="34" charset="0"/>
                  <a:ea typeface="SamsungOne 400" panose="020B0503030303020204" pitchFamily="34" charset="0"/>
                </a:rPr>
                <a:t>myKNN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KNeighborsClassifier</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n_neighbors</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rgbClr val="1D48D1"/>
                  </a:solidFill>
                  <a:latin typeface="SamsungOne 400" panose="020B0503030303020204" pitchFamily="34" charset="0"/>
                  <a:ea typeface="SamsungOne 400" panose="020B0503030303020204" pitchFamily="34" charset="0"/>
                </a:rPr>
                <a:t> 3</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a:p>
              <a:pPr marL="0" lvl="1" defTabSz="914400" latinLnBrk="1">
                <a:spcAft>
                  <a:spcPts val="800"/>
                </a:spcAft>
                <a:buClr>
                  <a:srgbClr val="193EB0"/>
                </a:buClr>
              </a:pPr>
              <a:r>
                <a:rPr lang="en-US" altLang="ko-KR" sz="1300" dirty="0" err="1">
                  <a:solidFill>
                    <a:srgbClr val="1D48D1"/>
                  </a:solidFill>
                  <a:latin typeface="SamsungOne 400" panose="020B0503030303020204" pitchFamily="34" charset="0"/>
                  <a:ea typeface="SamsungOne 400" panose="020B0503030303020204" pitchFamily="34" charset="0"/>
                </a:rPr>
                <a:t>myLL</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LogisticRegression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a:p>
              <a:pPr marL="0" lvl="1" defTabSz="914400" latinLnBrk="1">
                <a:spcAft>
                  <a:spcPts val="800"/>
                </a:spcAft>
                <a:buClr>
                  <a:srgbClr val="193EB0"/>
                </a:buClr>
              </a:pPr>
              <a:r>
                <a:rPr lang="en-US" altLang="ko-KR" sz="1300" dirty="0" err="1">
                  <a:solidFill>
                    <a:srgbClr val="1D48D1"/>
                  </a:solidFill>
                  <a:latin typeface="SamsungOne 400" panose="020B0503030303020204" pitchFamily="34" charset="0"/>
                  <a:ea typeface="SamsungOne 400" panose="020B0503030303020204" pitchFamily="34" charset="0"/>
                </a:rPr>
                <a:t>myVotingEnsemble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VotingClassifier</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(estimators=[(</a:t>
              </a:r>
              <a:r>
                <a:rPr lang="en-US" altLang="ko-KR" sz="1300" dirty="0">
                  <a:solidFill>
                    <a:srgbClr val="1D48D1"/>
                  </a:solidFill>
                  <a:latin typeface="SamsungOne 400" panose="020B0503030303020204" pitchFamily="34" charset="0"/>
                  <a:ea typeface="SamsungOne 400" panose="020B0503030303020204" pitchFamily="34" charset="0"/>
                </a:rPr>
                <a:t>'</a:t>
              </a:r>
              <a:r>
                <a:rPr lang="en-US" altLang="ko-KR" sz="1300" dirty="0" err="1">
                  <a:solidFill>
                    <a:srgbClr val="1D48D1"/>
                  </a:solidFill>
                  <a:latin typeface="SamsungOne 400" panose="020B0503030303020204" pitchFamily="34" charset="0"/>
                  <a:ea typeface="SamsungOne 400" panose="020B0503030303020204" pitchFamily="34" charset="0"/>
                </a:rPr>
                <a:t>lr</a:t>
              </a:r>
              <a:r>
                <a:rPr lang="en-US" altLang="ko-KR" sz="1300" dirty="0">
                  <a:solidFill>
                    <a:srgbClr val="1D48D1"/>
                  </a:solidFill>
                  <a:latin typeface="SamsungOne 400" panose="020B0503030303020204" pitchFamily="34" charset="0"/>
                  <a:ea typeface="SamsungOne 400" panose="020B0503030303020204" pitchFamily="34" charset="0"/>
                </a:rPr>
                <a:t>',</a:t>
              </a:r>
              <a:r>
                <a:rPr lang="en-US" altLang="ko-KR" sz="1300" dirty="0" err="1">
                  <a:solidFill>
                    <a:srgbClr val="1D48D1"/>
                  </a:solidFill>
                  <a:latin typeface="SamsungOne 400" panose="020B0503030303020204" pitchFamily="34" charset="0"/>
                  <a:ea typeface="SamsungOne 400" panose="020B0503030303020204" pitchFamily="34" charset="0"/>
                </a:rPr>
                <a:t>myLL</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a:solidFill>
                    <a:srgbClr val="1D48D1"/>
                  </a:solidFill>
                  <a:latin typeface="SamsungOne 400" panose="020B0503030303020204" pitchFamily="34" charset="0"/>
                  <a:ea typeface="SamsungOne 400" panose="020B0503030303020204" pitchFamily="34" charset="0"/>
                </a:rPr>
                <a:t>'</a:t>
              </a:r>
              <a:r>
                <a:rPr lang="en-US" altLang="ko-KR" sz="1300" dirty="0" err="1">
                  <a:solidFill>
                    <a:srgbClr val="1D48D1"/>
                  </a:solidFill>
                  <a:latin typeface="SamsungOne 400" panose="020B0503030303020204" pitchFamily="34" charset="0"/>
                  <a:ea typeface="SamsungOne 400" panose="020B0503030303020204" pitchFamily="34" charset="0"/>
                </a:rPr>
                <a:t>knn</a:t>
              </a:r>
              <a:r>
                <a:rPr lang="en-US" altLang="ko-KR" sz="1300" dirty="0">
                  <a:solidFill>
                    <a:srgbClr val="1D48D1"/>
                  </a:solidFill>
                  <a:latin typeface="SamsungOne 400" panose="020B0503030303020204" pitchFamily="34" charset="0"/>
                  <a:ea typeface="SamsungOne 400" panose="020B0503030303020204" pitchFamily="34" charset="0"/>
                </a:rPr>
                <a:t>',</a:t>
              </a:r>
              <a:r>
                <a:rPr lang="en-US" altLang="ko-KR" sz="1300" dirty="0" err="1">
                  <a:solidFill>
                    <a:srgbClr val="1D48D1"/>
                  </a:solidFill>
                  <a:latin typeface="SamsungOne 400" panose="020B0503030303020204" pitchFamily="34" charset="0"/>
                  <a:ea typeface="SamsungOne 400" panose="020B0503030303020204" pitchFamily="34" charset="0"/>
                </a:rPr>
                <a:t>myKNN</a:t>
              </a:r>
              <a:r>
                <a:rPr lang="en-US" altLang="ko-KR" sz="1300" dirty="0">
                  <a:solidFill>
                    <a:srgbClr val="1D48D1"/>
                  </a:solidFill>
                  <a:latin typeface="SamsungOne 400" panose="020B0503030303020204" pitchFamily="34" charset="0"/>
                  <a:ea typeface="SamsungOne 400" panose="020B0503030303020204" pitchFamily="34" charset="0"/>
                </a:rPr>
                <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],voting='</a:t>
              </a:r>
              <a:r>
                <a:rPr lang="en-US" altLang="ko-KR" sz="1300" dirty="0">
                  <a:solidFill>
                    <a:srgbClr val="1D48D1"/>
                  </a:solidFill>
                  <a:latin typeface="SamsungOne 400" panose="020B0503030303020204" pitchFamily="34" charset="0"/>
                  <a:ea typeface="SamsungOne 400" panose="020B0503030303020204" pitchFamily="34" charset="0"/>
                </a:rPr>
                <a:t>hard</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p>
          </p:txBody>
        </p:sp>
      </p:grpSp>
    </p:spTree>
    <p:extLst>
      <p:ext uri="{BB962C8B-B14F-4D97-AF65-F5344CB8AC3E}">
        <p14:creationId xmlns:p14="http://schemas.microsoft.com/office/powerpoint/2010/main" val="4247398801"/>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8.1. The Concept of Ensemble Algorithm and Voting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0FAE4D86-683B-42C3-8B8A-30EF57E21D17}"/>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Voting ensemble in </a:t>
            </a: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a:t>
            </a:r>
          </a:p>
        </p:txBody>
      </p:sp>
      <p:sp>
        <p:nvSpPr>
          <p:cNvPr id="27" name="직사각형 26">
            <a:extLst>
              <a:ext uri="{FF2B5EF4-FFF2-40B4-BE49-F238E27FC236}">
                <a16:creationId xmlns:a16="http://schemas.microsoft.com/office/drawing/2014/main" id="{CFDA8044-EED7-4C4D-9FD1-01536007FD6A}"/>
              </a:ext>
            </a:extLst>
          </p:cNvPr>
          <p:cNvSpPr/>
          <p:nvPr/>
        </p:nvSpPr>
        <p:spPr>
          <a:xfrm>
            <a:off x="675556" y="1700213"/>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latinLnBrk="1">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We can train and predict just like any other estimator:</a:t>
            </a:r>
          </a:p>
        </p:txBody>
      </p:sp>
      <p:grpSp>
        <p:nvGrpSpPr>
          <p:cNvPr id="9" name="그룹 8">
            <a:extLst>
              <a:ext uri="{FF2B5EF4-FFF2-40B4-BE49-F238E27FC236}">
                <a16:creationId xmlns:a16="http://schemas.microsoft.com/office/drawing/2014/main" id="{334C359E-254B-4211-A163-2875C34D2F13}"/>
              </a:ext>
            </a:extLst>
          </p:cNvPr>
          <p:cNvGrpSpPr/>
          <p:nvPr/>
        </p:nvGrpSpPr>
        <p:grpSpPr>
          <a:xfrm>
            <a:off x="846956" y="1997462"/>
            <a:ext cx="7308261" cy="648108"/>
            <a:chOff x="903506" y="2413730"/>
            <a:chExt cx="7308261" cy="648108"/>
          </a:xfrm>
        </p:grpSpPr>
        <p:sp>
          <p:nvSpPr>
            <p:cNvPr id="10" name="사각형: 둥근 모서리 2">
              <a:extLst>
                <a:ext uri="{FF2B5EF4-FFF2-40B4-BE49-F238E27FC236}">
                  <a16:creationId xmlns:a16="http://schemas.microsoft.com/office/drawing/2014/main" id="{35567643-DCC5-4203-99D9-E52009CC4DE0}"/>
                </a:ext>
              </a:extLst>
            </p:cNvPr>
            <p:cNvSpPr/>
            <p:nvPr/>
          </p:nvSpPr>
          <p:spPr>
            <a:xfrm>
              <a:off x="903506" y="2490277"/>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11" name="직사각형 10">
              <a:extLst>
                <a:ext uri="{FF2B5EF4-FFF2-40B4-BE49-F238E27FC236}">
                  <a16:creationId xmlns:a16="http://schemas.microsoft.com/office/drawing/2014/main" id="{1D411888-6678-41F6-B3A1-A43BD5AEF08B}"/>
                </a:ext>
              </a:extLst>
            </p:cNvPr>
            <p:cNvSpPr/>
            <p:nvPr/>
          </p:nvSpPr>
          <p:spPr>
            <a:xfrm>
              <a:off x="1279004" y="2413730"/>
              <a:ext cx="6932763"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ctr">
              <a:spAutoFit/>
              <a:scene3d>
                <a:camera prst="orthographicFront"/>
                <a:lightRig rig="threePt" dir="t"/>
              </a:scene3d>
              <a:sp3d>
                <a:bevelT w="0" h="6350"/>
              </a:sp3d>
            </a:bodyPr>
            <a:lstStyle/>
            <a:p>
              <a:pPr marL="0" lvl="1" defTabSz="914400" latinLnBrk="1">
                <a:spcAft>
                  <a:spcPts val="800"/>
                </a:spcAft>
                <a:buClr>
                  <a:srgbClr val="193EB0"/>
                </a:buClr>
              </a:pPr>
              <a:r>
                <a:rPr lang="en-US" altLang="ko-KR" sz="1300" dirty="0" err="1">
                  <a:solidFill>
                    <a:srgbClr val="1D48D1"/>
                  </a:solidFill>
                  <a:latin typeface="SamsungOne 400" panose="020B0503030303020204" pitchFamily="34" charset="0"/>
                  <a:ea typeface="SamsungOne 400" panose="020B0503030303020204" pitchFamily="34" charset="0"/>
                </a:rPr>
                <a:t>myVotingEnsemble</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.fit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err="1">
                  <a:solidFill>
                    <a:srgbClr val="1D48D1"/>
                  </a:solidFill>
                  <a:latin typeface="SamsungOne 400" panose="020B0503030303020204" pitchFamily="34" charset="0"/>
                  <a:ea typeface="SamsungOne 400" panose="020B0503030303020204" pitchFamily="34" charset="0"/>
                </a:rPr>
                <a:t>X_train</a:t>
              </a:r>
              <a:r>
                <a:rPr lang="en-US" altLang="ko-KR" sz="1300" dirty="0">
                  <a:solidFill>
                    <a:srgbClr val="1D48D1"/>
                  </a:solidFill>
                  <a:latin typeface="SamsungOne 400" panose="020B0503030303020204" pitchFamily="34" charset="0"/>
                  <a:ea typeface="SamsungOne 400" panose="020B0503030303020204" pitchFamily="34" charset="0"/>
                </a:rPr>
                <a:t>, </a:t>
              </a:r>
              <a:r>
                <a:rPr lang="en-US" altLang="ko-KR" sz="1300" dirty="0" err="1">
                  <a:solidFill>
                    <a:srgbClr val="1D48D1"/>
                  </a:solidFill>
                  <a:latin typeface="SamsungOne 400" panose="020B0503030303020204" pitchFamily="34" charset="0"/>
                  <a:ea typeface="SamsungOne 400" panose="020B0503030303020204" pitchFamily="34" charset="0"/>
                </a:rPr>
                <a:t>Y_train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p>
            <a:p>
              <a:pPr marL="0" lvl="1" defTabSz="914400" latinLnBrk="1">
                <a:spcAft>
                  <a:spcPts val="800"/>
                </a:spcAft>
                <a:buClr>
                  <a:srgbClr val="193EB0"/>
                </a:buClr>
              </a:pPr>
              <a:r>
                <a:rPr lang="en-US" altLang="ko-KR" sz="1300" dirty="0" err="1">
                  <a:solidFill>
                    <a:srgbClr val="1D48D1"/>
                  </a:solidFill>
                  <a:latin typeface="SamsungOne 400" panose="020B0503030303020204" pitchFamily="34" charset="0"/>
                  <a:ea typeface="SamsungOne 400" panose="020B0503030303020204" pitchFamily="34" charset="0"/>
                </a:rPr>
                <a:t>myVotingEnsemble</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.predict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err="1">
                  <a:solidFill>
                    <a:srgbClr val="1D48D1"/>
                  </a:solidFill>
                  <a:latin typeface="SamsungOne 400" panose="020B0503030303020204" pitchFamily="34" charset="0"/>
                  <a:ea typeface="SamsungOne 400" panose="020B0503030303020204" pitchFamily="34" charset="0"/>
                </a:rPr>
                <a:t>X_test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p:txBody>
        </p:sp>
      </p:grpSp>
      <p:sp>
        <p:nvSpPr>
          <p:cNvPr id="13" name="직사각형 12">
            <a:extLst>
              <a:ext uri="{FF2B5EF4-FFF2-40B4-BE49-F238E27FC236}">
                <a16:creationId xmlns:a16="http://schemas.microsoft.com/office/drawing/2014/main" id="{DD6215C8-CF20-4221-9630-C2C3EC5B9342}"/>
              </a:ext>
            </a:extLst>
          </p:cNvPr>
          <p:cNvSpPr/>
          <p:nvPr/>
        </p:nvSpPr>
        <p:spPr>
          <a:xfrm>
            <a:off x="559409" y="2835097"/>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 </a:t>
            </a:r>
            <a:r>
              <a:rPr lang="en-US" altLang="ko-KR" sz="1400" dirty="0" err="1">
                <a:solidFill>
                  <a:schemeClr val="tx1"/>
                </a:solidFill>
                <a:latin typeface="SamsungOne 400" panose="020B0503030303020204" pitchFamily="34" charset="0"/>
                <a:ea typeface="SamsungOne 400" panose="020B0503030303020204" pitchFamily="34" charset="0"/>
              </a:rPr>
              <a:t>VotingClassifier</a:t>
            </a:r>
            <a:r>
              <a:rPr lang="en-US" altLang="ko-KR" sz="1400" dirty="0">
                <a:solidFill>
                  <a:schemeClr val="tx1"/>
                </a:solidFill>
                <a:latin typeface="SamsungOne 400" panose="020B0503030303020204" pitchFamily="34" charset="0"/>
                <a:ea typeface="SamsungOne 400" panose="020B0503030303020204" pitchFamily="34" charset="0"/>
              </a:rPr>
              <a:t>/Regressor Hyperparameters:</a:t>
            </a:r>
          </a:p>
        </p:txBody>
      </p:sp>
      <p:graphicFrame>
        <p:nvGraphicFramePr>
          <p:cNvPr id="14" name="표 13">
            <a:extLst>
              <a:ext uri="{FF2B5EF4-FFF2-40B4-BE49-F238E27FC236}">
                <a16:creationId xmlns:a16="http://schemas.microsoft.com/office/drawing/2014/main" id="{16D0537B-34C9-4DC4-90A6-01ABFFB7A642}"/>
              </a:ext>
            </a:extLst>
          </p:cNvPr>
          <p:cNvGraphicFramePr>
            <a:graphicFrameLocks noGrp="1"/>
          </p:cNvGraphicFramePr>
          <p:nvPr>
            <p:extLst>
              <p:ext uri="{D42A27DB-BD31-4B8C-83A1-F6EECF244321}">
                <p14:modId xmlns:p14="http://schemas.microsoft.com/office/powerpoint/2010/main" val="3719569378"/>
              </p:ext>
            </p:extLst>
          </p:nvPr>
        </p:nvGraphicFramePr>
        <p:xfrm>
          <a:off x="675556" y="3237551"/>
          <a:ext cx="8668470" cy="883920"/>
        </p:xfrm>
        <a:graphic>
          <a:graphicData uri="http://schemas.openxmlformats.org/drawingml/2006/table">
            <a:tbl>
              <a:tblPr firstRow="1" bandRow="1">
                <a:tableStyleId>{5940675A-B579-460E-94D1-54222C63F5DA}</a:tableStyleId>
              </a:tblPr>
              <a:tblGrid>
                <a:gridCol w="2339432">
                  <a:extLst>
                    <a:ext uri="{9D8B030D-6E8A-4147-A177-3AD203B41FA5}">
                      <a16:colId xmlns:a16="http://schemas.microsoft.com/office/drawing/2014/main" val="4023989761"/>
                    </a:ext>
                  </a:extLst>
                </a:gridCol>
                <a:gridCol w="6329038">
                  <a:extLst>
                    <a:ext uri="{9D8B030D-6E8A-4147-A177-3AD203B41FA5}">
                      <a16:colId xmlns:a16="http://schemas.microsoft.com/office/drawing/2014/main" val="1127139662"/>
                    </a:ext>
                  </a:extLst>
                </a:gridCol>
              </a:tblGrid>
              <a:tr h="220860">
                <a:tc>
                  <a:txBody>
                    <a:bodyPr/>
                    <a:lstStyle/>
                    <a:p>
                      <a:pPr marL="0" algn="ctr" defTabSz="914400" rtl="0" eaLnBrk="1" latinLnBrk="1" hangingPunct="1"/>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Hyperparameter</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914400" rtl="0" eaLnBrk="1" latinLnBrk="1" hangingPunct="1"/>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Explanation</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7729922"/>
                  </a:ext>
                </a:extLst>
              </a:tr>
              <a:tr h="269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estimators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80000"/>
                        </a:lnSpc>
                        <a:spcAft>
                          <a:spcPts val="2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list of basic learner objects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417462398"/>
                  </a:ext>
                </a:extLst>
              </a:tr>
              <a:tr h="269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voting</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80000"/>
                        </a:lnSpc>
                        <a:spcAft>
                          <a:spcPts val="2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Either ‘soft’ or ‘hard’ (for classifier only)</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755441991"/>
                  </a:ext>
                </a:extLst>
              </a:tr>
            </a:tbl>
          </a:graphicData>
        </a:graphic>
      </p:graphicFrame>
      <p:sp>
        <p:nvSpPr>
          <p:cNvPr id="15" name="직사각형 14">
            <a:extLst>
              <a:ext uri="{FF2B5EF4-FFF2-40B4-BE49-F238E27FC236}">
                <a16:creationId xmlns:a16="http://schemas.microsoft.com/office/drawing/2014/main" id="{234FCEBC-4619-424B-A950-E21427711010}"/>
              </a:ext>
            </a:extLst>
          </p:cNvPr>
          <p:cNvSpPr/>
          <p:nvPr/>
        </p:nvSpPr>
        <p:spPr>
          <a:xfrm>
            <a:off x="675556" y="4221863"/>
            <a:ext cx="8632825" cy="10456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lnSpc>
                <a:spcPct val="150000"/>
              </a:lnSpc>
              <a:spcAft>
                <a:spcPts val="4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More information can be found at:</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br>
            <a: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Classifier: </a:t>
            </a:r>
            <a: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hlinkClick r:id="rId4"/>
              </a:rPr>
              <a:t>https://scikit-learn.org/stable/modules/generated/sklearn.ensemble.VotingClassifier.html</a:t>
            </a:r>
            <a: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a:t>
            </a:r>
            <a:b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br>
            <a:r>
              <a:rPr lang="pt-B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Regressor: </a:t>
            </a:r>
            <a:r>
              <a:rPr lang="pt-B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hlinkClick r:id="rId5"/>
              </a:rPr>
              <a:t>https://scikit-learn.org/stable/modules/generated/sklearn.ensemble.VotingRegressor.html</a:t>
            </a:r>
            <a:r>
              <a:rPr lang="pt-B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endParaRPr>
          </a:p>
        </p:txBody>
      </p:sp>
    </p:spTree>
    <p:extLst>
      <p:ext uri="{BB962C8B-B14F-4D97-AF65-F5344CB8AC3E}">
        <p14:creationId xmlns:p14="http://schemas.microsoft.com/office/powerpoint/2010/main" val="153088363"/>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33">
            <a:extLst>
              <a:ext uri="{FF2B5EF4-FFF2-40B4-BE49-F238E27FC236}">
                <a16:creationId xmlns:a16="http://schemas.microsoft.com/office/drawing/2014/main" id="{551F01E8-8777-4A7B-AD71-63E7C805C68C}"/>
              </a:ext>
            </a:extLst>
          </p:cNvPr>
          <p:cNvSpPr/>
          <p:nvPr/>
        </p:nvSpPr>
        <p:spPr>
          <a:xfrm>
            <a:off x="989683" y="3133792"/>
            <a:ext cx="8913142"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Ensemble Algorithm</a:t>
            </a: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8.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11" name="직사각형 10">
            <a:extLst>
              <a:ext uri="{FF2B5EF4-FFF2-40B4-BE49-F238E27FC236}">
                <a16:creationId xmlns:a16="http://schemas.microsoft.com/office/drawing/2014/main" id="{07CBE376-934F-4F02-851D-3B0DB538BEA9}"/>
              </a:ext>
            </a:extLst>
          </p:cNvPr>
          <p:cNvSpPr/>
          <p:nvPr/>
        </p:nvSpPr>
        <p:spPr>
          <a:xfrm>
            <a:off x="1054111" y="3929021"/>
            <a:ext cx="5697501" cy="10874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fontAlgn="base">
              <a:lnSpc>
                <a:spcPct val="100000"/>
              </a:lnSpc>
              <a:spcBef>
                <a:spcPct val="0"/>
              </a:spcBef>
              <a:spcAft>
                <a:spcPts val="1000"/>
              </a:spcAft>
              <a:buClrTx/>
              <a:buSzPct val="120000"/>
              <a:buBlip>
                <a:blip r:embed="rId3"/>
              </a:buBlip>
              <a:tabLst/>
              <a:defRPr/>
            </a:pPr>
            <a:r>
              <a:rPr lang="en-US" altLang="ko-KR" dirty="0">
                <a:solidFill>
                  <a:srgbClr val="A6A6A6"/>
                </a:solidFill>
                <a:latin typeface="SamsungOne 400" panose="020B0503030303020204" pitchFamily="34" charset="0"/>
                <a:ea typeface="SamsungOne 400" panose="020B0503030303020204" pitchFamily="34" charset="0"/>
              </a:rPr>
              <a:t>8.1. The Concept of Ensemble Algorithm and Voting</a:t>
            </a: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8.2. Bagging &amp; Random Forest</a:t>
            </a:r>
            <a:endParaRPr kumimoji="1" lang="ko-KR" altLang="en-US" dirty="0">
              <a:solidFill>
                <a:prstClr val="black">
                  <a:lumMod val="75000"/>
                  <a:lumOff val="25000"/>
                </a:prstClr>
              </a:solidFill>
              <a:latin typeface="SamsungOne-700" panose="020B0803030303020204" pitchFamily="34" charset="0"/>
            </a:endParaRP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8.3. Boosting</a:t>
            </a:r>
            <a:endParaRPr lang="ko-KR" altLang="en-US" dirty="0">
              <a:solidFill>
                <a:srgbClr val="A6A6A6"/>
              </a:solidFill>
              <a:latin typeface="SamsungOne 400" panose="020B0503030303020204" pitchFamily="34" charset="0"/>
            </a:endParaRPr>
          </a:p>
        </p:txBody>
      </p:sp>
    </p:spTree>
    <p:extLst>
      <p:ext uri="{BB962C8B-B14F-4D97-AF65-F5344CB8AC3E}">
        <p14:creationId xmlns:p14="http://schemas.microsoft.com/office/powerpoint/2010/main" val="2836103387"/>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8.2. Bagging &amp; Random Forest</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6" name="직사각형 15">
            <a:extLst>
              <a:ext uri="{FF2B5EF4-FFF2-40B4-BE49-F238E27FC236}">
                <a16:creationId xmlns:a16="http://schemas.microsoft.com/office/drawing/2014/main" id="{226E861E-0C56-453C-A03C-A58AA2F32848}"/>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Bagging Ensemble: Random Forest</a:t>
            </a:r>
          </a:p>
        </p:txBody>
      </p:sp>
      <p:sp>
        <p:nvSpPr>
          <p:cNvPr id="17" name="직사각형 16">
            <a:extLst>
              <a:ext uri="{FF2B5EF4-FFF2-40B4-BE49-F238E27FC236}">
                <a16:creationId xmlns:a16="http://schemas.microsoft.com/office/drawing/2014/main" id="{4C5A7B44-5DA2-4112-A708-1D191CF38148}"/>
              </a:ext>
            </a:extLst>
          </p:cNvPr>
          <p:cNvSpPr/>
          <p:nvPr/>
        </p:nvSpPr>
        <p:spPr>
          <a:xfrm>
            <a:off x="675071" y="2219443"/>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An ensemble algorithm based on trees</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Can be applied to classification and regression </a:t>
            </a:r>
          </a:p>
        </p:txBody>
      </p:sp>
      <p:sp>
        <p:nvSpPr>
          <p:cNvPr id="18" name="직사각형 17">
            <a:extLst>
              <a:ext uri="{FF2B5EF4-FFF2-40B4-BE49-F238E27FC236}">
                <a16:creationId xmlns:a16="http://schemas.microsoft.com/office/drawing/2014/main" id="{B2C2A873-625B-4ACF-979A-498F7DC9EA87}"/>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Random Forest</a:t>
            </a:r>
          </a:p>
        </p:txBody>
      </p:sp>
      <p:sp>
        <p:nvSpPr>
          <p:cNvPr id="19" name="직사각형 18">
            <a:extLst>
              <a:ext uri="{FF2B5EF4-FFF2-40B4-BE49-F238E27FC236}">
                <a16:creationId xmlns:a16="http://schemas.microsoft.com/office/drawing/2014/main" id="{B742DD06-81A0-4DB7-B050-2628BD68CA13}"/>
              </a:ext>
            </a:extLst>
          </p:cNvPr>
          <p:cNvSpPr/>
          <p:nvPr/>
        </p:nvSpPr>
        <p:spPr>
          <a:xfrm>
            <a:off x="675071" y="3356956"/>
            <a:ext cx="863282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Powerful</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Few assumptions</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Little or no concern about the overfitting problem</a:t>
            </a:r>
          </a:p>
        </p:txBody>
      </p:sp>
      <p:sp>
        <p:nvSpPr>
          <p:cNvPr id="20" name="직사각형 19">
            <a:extLst>
              <a:ext uri="{FF2B5EF4-FFF2-40B4-BE49-F238E27FC236}">
                <a16:creationId xmlns:a16="http://schemas.microsoft.com/office/drawing/2014/main" id="{6FB78BFA-F4D2-486C-B6BC-FA3B75D332D0}"/>
              </a:ext>
            </a:extLst>
          </p:cNvPr>
          <p:cNvSpPr/>
          <p:nvPr/>
        </p:nvSpPr>
        <p:spPr>
          <a:xfrm>
            <a:off x="558800" y="3039685"/>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Pros</a:t>
            </a:r>
          </a:p>
        </p:txBody>
      </p:sp>
      <p:sp>
        <p:nvSpPr>
          <p:cNvPr id="21" name="직사각형 20">
            <a:extLst>
              <a:ext uri="{FF2B5EF4-FFF2-40B4-BE49-F238E27FC236}">
                <a16:creationId xmlns:a16="http://schemas.microsoft.com/office/drawing/2014/main" id="{76F1A299-16EB-4875-A38A-3F04E2382363}"/>
              </a:ext>
            </a:extLst>
          </p:cNvPr>
          <p:cNvSpPr/>
          <p:nvPr/>
        </p:nvSpPr>
        <p:spPr>
          <a:xfrm>
            <a:off x="675071" y="4890513"/>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Training is time consuming. </a:t>
            </a:r>
          </a:p>
        </p:txBody>
      </p:sp>
      <p:sp>
        <p:nvSpPr>
          <p:cNvPr id="22" name="직사각형 21">
            <a:extLst>
              <a:ext uri="{FF2B5EF4-FFF2-40B4-BE49-F238E27FC236}">
                <a16:creationId xmlns:a16="http://schemas.microsoft.com/office/drawing/2014/main" id="{DB1AC06B-1E3A-4B3B-A92E-F764529604E5}"/>
              </a:ext>
            </a:extLst>
          </p:cNvPr>
          <p:cNvSpPr/>
          <p:nvPr/>
        </p:nvSpPr>
        <p:spPr>
          <a:xfrm>
            <a:off x="558800" y="457324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Cons</a:t>
            </a:r>
          </a:p>
        </p:txBody>
      </p:sp>
    </p:spTree>
    <p:extLst>
      <p:ext uri="{BB962C8B-B14F-4D97-AF65-F5344CB8AC3E}">
        <p14:creationId xmlns:p14="http://schemas.microsoft.com/office/powerpoint/2010/main" val="423781758"/>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8.2. Bagging &amp; Random Forest</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31DF3F79-726D-45C2-92D6-012109C05F3F}"/>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Random Forest algorithm</a:t>
            </a:r>
          </a:p>
        </p:txBody>
      </p:sp>
      <p:sp>
        <p:nvSpPr>
          <p:cNvPr id="13" name="직사각형 12">
            <a:extLst>
              <a:ext uri="{FF2B5EF4-FFF2-40B4-BE49-F238E27FC236}">
                <a16:creationId xmlns:a16="http://schemas.microsoft.com/office/drawing/2014/main" id="{92719FB5-A059-4B73-BE02-3E1E95CD6D7D}"/>
              </a:ext>
            </a:extLst>
          </p:cNvPr>
          <p:cNvSpPr/>
          <p:nvPr/>
        </p:nvSpPr>
        <p:spPr>
          <a:xfrm>
            <a:off x="675556" y="4813577"/>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latinLnBrk="1">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Randomly chosen trees form a forest</a:t>
            </a:r>
          </a:p>
          <a:p>
            <a:pPr marL="182563" indent="-182563" defTabSz="914400" latinLnBrk="1">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Prediction is decided by the majority vote.</a:t>
            </a:r>
          </a:p>
        </p:txBody>
      </p:sp>
      <p:grpSp>
        <p:nvGrpSpPr>
          <p:cNvPr id="9" name="그룹 8">
            <a:extLst>
              <a:ext uri="{FF2B5EF4-FFF2-40B4-BE49-F238E27FC236}">
                <a16:creationId xmlns:a16="http://schemas.microsoft.com/office/drawing/2014/main" id="{68DCDF49-E9F8-413A-AD11-CF20FC8D1EED}"/>
              </a:ext>
            </a:extLst>
          </p:cNvPr>
          <p:cNvGrpSpPr/>
          <p:nvPr/>
        </p:nvGrpSpPr>
        <p:grpSpPr>
          <a:xfrm>
            <a:off x="2440888" y="1914389"/>
            <a:ext cx="5174635" cy="2568544"/>
            <a:chOff x="2440888" y="2118084"/>
            <a:chExt cx="5174635" cy="2568544"/>
          </a:xfrm>
        </p:grpSpPr>
        <p:sp>
          <p:nvSpPr>
            <p:cNvPr id="10" name="Freeform 5">
              <a:extLst>
                <a:ext uri="{FF2B5EF4-FFF2-40B4-BE49-F238E27FC236}">
                  <a16:creationId xmlns:a16="http://schemas.microsoft.com/office/drawing/2014/main" id="{BBDE369E-58C3-42AB-8632-FF4D25AC7AE9}"/>
                </a:ext>
              </a:extLst>
            </p:cNvPr>
            <p:cNvSpPr>
              <a:spLocks/>
            </p:cNvSpPr>
            <p:nvPr/>
          </p:nvSpPr>
          <p:spPr bwMode="auto">
            <a:xfrm>
              <a:off x="3056298" y="2144840"/>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11" name="그룹 10">
              <a:extLst>
                <a:ext uri="{FF2B5EF4-FFF2-40B4-BE49-F238E27FC236}">
                  <a16:creationId xmlns:a16="http://schemas.microsoft.com/office/drawing/2014/main" id="{2867109D-6EC2-40B9-946E-C4613AFC3D84}"/>
                </a:ext>
              </a:extLst>
            </p:cNvPr>
            <p:cNvGrpSpPr/>
            <p:nvPr/>
          </p:nvGrpSpPr>
          <p:grpSpPr>
            <a:xfrm>
              <a:off x="3405813" y="2668503"/>
              <a:ext cx="271990" cy="774775"/>
              <a:chOff x="6998491" y="3230563"/>
              <a:chExt cx="765176" cy="2179637"/>
            </a:xfrm>
          </p:grpSpPr>
          <p:sp>
            <p:nvSpPr>
              <p:cNvPr id="92" name="Line 9">
                <a:extLst>
                  <a:ext uri="{FF2B5EF4-FFF2-40B4-BE49-F238E27FC236}">
                    <a16:creationId xmlns:a16="http://schemas.microsoft.com/office/drawing/2014/main" id="{8E29CB19-DED0-494B-80E2-A8660164FFE0}"/>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93" name="Line 10">
                <a:extLst>
                  <a:ext uri="{FF2B5EF4-FFF2-40B4-BE49-F238E27FC236}">
                    <a16:creationId xmlns:a16="http://schemas.microsoft.com/office/drawing/2014/main" id="{E1B862DF-F857-4639-A26C-08BEB8F53882}"/>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94" name="Line 11">
                <a:extLst>
                  <a:ext uri="{FF2B5EF4-FFF2-40B4-BE49-F238E27FC236}">
                    <a16:creationId xmlns:a16="http://schemas.microsoft.com/office/drawing/2014/main" id="{88CE5417-73D7-47A9-B5EF-E3673CEFBBE9}"/>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14" name="Freeform 5">
              <a:extLst>
                <a:ext uri="{FF2B5EF4-FFF2-40B4-BE49-F238E27FC236}">
                  <a16:creationId xmlns:a16="http://schemas.microsoft.com/office/drawing/2014/main" id="{96C94DAE-0ABD-4AB0-83C1-C2A163294F41}"/>
                </a:ext>
              </a:extLst>
            </p:cNvPr>
            <p:cNvSpPr>
              <a:spLocks/>
            </p:cNvSpPr>
            <p:nvPr/>
          </p:nvSpPr>
          <p:spPr bwMode="auto">
            <a:xfrm>
              <a:off x="3845629" y="2131462"/>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15" name="그룹 14">
              <a:extLst>
                <a:ext uri="{FF2B5EF4-FFF2-40B4-BE49-F238E27FC236}">
                  <a16:creationId xmlns:a16="http://schemas.microsoft.com/office/drawing/2014/main" id="{F061E020-3030-4944-AC30-0F1AE4C6F09A}"/>
                </a:ext>
              </a:extLst>
            </p:cNvPr>
            <p:cNvGrpSpPr/>
            <p:nvPr/>
          </p:nvGrpSpPr>
          <p:grpSpPr>
            <a:xfrm>
              <a:off x="4195144" y="2655125"/>
              <a:ext cx="271990" cy="774775"/>
              <a:chOff x="6998491" y="3230563"/>
              <a:chExt cx="765176" cy="2179637"/>
            </a:xfrm>
          </p:grpSpPr>
          <p:sp>
            <p:nvSpPr>
              <p:cNvPr id="89" name="Line 9">
                <a:extLst>
                  <a:ext uri="{FF2B5EF4-FFF2-40B4-BE49-F238E27FC236}">
                    <a16:creationId xmlns:a16="http://schemas.microsoft.com/office/drawing/2014/main" id="{E58A9319-2C6B-4A58-9CDD-67A1BD11FBF8}"/>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90" name="Line 10">
                <a:extLst>
                  <a:ext uri="{FF2B5EF4-FFF2-40B4-BE49-F238E27FC236}">
                    <a16:creationId xmlns:a16="http://schemas.microsoft.com/office/drawing/2014/main" id="{65CF4B43-BBA8-48A2-9A45-8C278010638B}"/>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91" name="Line 11">
                <a:extLst>
                  <a:ext uri="{FF2B5EF4-FFF2-40B4-BE49-F238E27FC236}">
                    <a16:creationId xmlns:a16="http://schemas.microsoft.com/office/drawing/2014/main" id="{1719A8FE-70EA-4332-93A7-46B3118020C3}"/>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16" name="Freeform 5">
              <a:extLst>
                <a:ext uri="{FF2B5EF4-FFF2-40B4-BE49-F238E27FC236}">
                  <a16:creationId xmlns:a16="http://schemas.microsoft.com/office/drawing/2014/main" id="{47EC134D-D795-4C11-98DB-F6B00AAFEDFA}"/>
                </a:ext>
              </a:extLst>
            </p:cNvPr>
            <p:cNvSpPr>
              <a:spLocks/>
            </p:cNvSpPr>
            <p:nvPr/>
          </p:nvSpPr>
          <p:spPr bwMode="auto">
            <a:xfrm>
              <a:off x="4581446" y="2412410"/>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17" name="그룹 16">
              <a:extLst>
                <a:ext uri="{FF2B5EF4-FFF2-40B4-BE49-F238E27FC236}">
                  <a16:creationId xmlns:a16="http://schemas.microsoft.com/office/drawing/2014/main" id="{411A0955-1548-4122-A192-DC62BB20E1B4}"/>
                </a:ext>
              </a:extLst>
            </p:cNvPr>
            <p:cNvGrpSpPr/>
            <p:nvPr/>
          </p:nvGrpSpPr>
          <p:grpSpPr>
            <a:xfrm>
              <a:off x="4930961" y="2936073"/>
              <a:ext cx="271990" cy="774775"/>
              <a:chOff x="6998491" y="3230563"/>
              <a:chExt cx="765176" cy="2179637"/>
            </a:xfrm>
          </p:grpSpPr>
          <p:sp>
            <p:nvSpPr>
              <p:cNvPr id="86" name="Line 9">
                <a:extLst>
                  <a:ext uri="{FF2B5EF4-FFF2-40B4-BE49-F238E27FC236}">
                    <a16:creationId xmlns:a16="http://schemas.microsoft.com/office/drawing/2014/main" id="{92C3ED25-F406-450F-B71B-F896F32055A2}"/>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87" name="Line 10">
                <a:extLst>
                  <a:ext uri="{FF2B5EF4-FFF2-40B4-BE49-F238E27FC236}">
                    <a16:creationId xmlns:a16="http://schemas.microsoft.com/office/drawing/2014/main" id="{2922963A-009B-43D6-93BD-99E963A22C19}"/>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88" name="Line 11">
                <a:extLst>
                  <a:ext uri="{FF2B5EF4-FFF2-40B4-BE49-F238E27FC236}">
                    <a16:creationId xmlns:a16="http://schemas.microsoft.com/office/drawing/2014/main" id="{275C05F2-A9E8-41A2-945D-DCC8B2F2F567}"/>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18" name="Freeform 5">
              <a:extLst>
                <a:ext uri="{FF2B5EF4-FFF2-40B4-BE49-F238E27FC236}">
                  <a16:creationId xmlns:a16="http://schemas.microsoft.com/office/drawing/2014/main" id="{F04CFFF4-E815-4537-8CB3-866C8F24F676}"/>
                </a:ext>
              </a:extLst>
            </p:cNvPr>
            <p:cNvSpPr>
              <a:spLocks/>
            </p:cNvSpPr>
            <p:nvPr/>
          </p:nvSpPr>
          <p:spPr bwMode="auto">
            <a:xfrm>
              <a:off x="5317262" y="2118084"/>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19" name="그룹 18">
              <a:extLst>
                <a:ext uri="{FF2B5EF4-FFF2-40B4-BE49-F238E27FC236}">
                  <a16:creationId xmlns:a16="http://schemas.microsoft.com/office/drawing/2014/main" id="{6A094DAB-5573-4614-A4D9-FB2CE4B4C743}"/>
                </a:ext>
              </a:extLst>
            </p:cNvPr>
            <p:cNvGrpSpPr/>
            <p:nvPr/>
          </p:nvGrpSpPr>
          <p:grpSpPr>
            <a:xfrm>
              <a:off x="5666777" y="2641747"/>
              <a:ext cx="271990" cy="774775"/>
              <a:chOff x="6998491" y="3230563"/>
              <a:chExt cx="765176" cy="2179637"/>
            </a:xfrm>
          </p:grpSpPr>
          <p:sp>
            <p:nvSpPr>
              <p:cNvPr id="83" name="Line 9">
                <a:extLst>
                  <a:ext uri="{FF2B5EF4-FFF2-40B4-BE49-F238E27FC236}">
                    <a16:creationId xmlns:a16="http://schemas.microsoft.com/office/drawing/2014/main" id="{EB020578-0221-41DA-9558-993243D2D17D}"/>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84" name="Line 10">
                <a:extLst>
                  <a:ext uri="{FF2B5EF4-FFF2-40B4-BE49-F238E27FC236}">
                    <a16:creationId xmlns:a16="http://schemas.microsoft.com/office/drawing/2014/main" id="{4E3B4B30-70D9-457C-A822-F58036CC7CE1}"/>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85" name="Line 11">
                <a:extLst>
                  <a:ext uri="{FF2B5EF4-FFF2-40B4-BE49-F238E27FC236}">
                    <a16:creationId xmlns:a16="http://schemas.microsoft.com/office/drawing/2014/main" id="{FEA6C310-B0BE-41D1-BD1E-F1267C5E0221}"/>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20" name="Freeform 5">
              <a:extLst>
                <a:ext uri="{FF2B5EF4-FFF2-40B4-BE49-F238E27FC236}">
                  <a16:creationId xmlns:a16="http://schemas.microsoft.com/office/drawing/2014/main" id="{0D56B145-9805-40BD-914D-C2F54A317126}"/>
                </a:ext>
              </a:extLst>
            </p:cNvPr>
            <p:cNvSpPr>
              <a:spLocks/>
            </p:cNvSpPr>
            <p:nvPr/>
          </p:nvSpPr>
          <p:spPr bwMode="auto">
            <a:xfrm>
              <a:off x="6079836" y="2345517"/>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21" name="그룹 20">
              <a:extLst>
                <a:ext uri="{FF2B5EF4-FFF2-40B4-BE49-F238E27FC236}">
                  <a16:creationId xmlns:a16="http://schemas.microsoft.com/office/drawing/2014/main" id="{9301A54F-935D-4F72-9400-B93A46523C1A}"/>
                </a:ext>
              </a:extLst>
            </p:cNvPr>
            <p:cNvGrpSpPr/>
            <p:nvPr/>
          </p:nvGrpSpPr>
          <p:grpSpPr>
            <a:xfrm>
              <a:off x="6429351" y="2869180"/>
              <a:ext cx="271990" cy="774775"/>
              <a:chOff x="6998491" y="3230563"/>
              <a:chExt cx="765176" cy="2179637"/>
            </a:xfrm>
          </p:grpSpPr>
          <p:sp>
            <p:nvSpPr>
              <p:cNvPr id="80" name="Line 9">
                <a:extLst>
                  <a:ext uri="{FF2B5EF4-FFF2-40B4-BE49-F238E27FC236}">
                    <a16:creationId xmlns:a16="http://schemas.microsoft.com/office/drawing/2014/main" id="{7FCD88E8-8E91-4564-8F15-37B8088E3CAB}"/>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81" name="Line 10">
                <a:extLst>
                  <a:ext uri="{FF2B5EF4-FFF2-40B4-BE49-F238E27FC236}">
                    <a16:creationId xmlns:a16="http://schemas.microsoft.com/office/drawing/2014/main" id="{DA8EE513-CA79-423A-94E7-98B826805131}"/>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82" name="Line 11">
                <a:extLst>
                  <a:ext uri="{FF2B5EF4-FFF2-40B4-BE49-F238E27FC236}">
                    <a16:creationId xmlns:a16="http://schemas.microsoft.com/office/drawing/2014/main" id="{73DFD775-8CAF-4F8A-9C04-0C4F112F65F7}"/>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22" name="Freeform 5">
              <a:extLst>
                <a:ext uri="{FF2B5EF4-FFF2-40B4-BE49-F238E27FC236}">
                  <a16:creationId xmlns:a16="http://schemas.microsoft.com/office/drawing/2014/main" id="{572902D2-8294-453A-B275-6F9E050707BA}"/>
                </a:ext>
              </a:extLst>
            </p:cNvPr>
            <p:cNvSpPr>
              <a:spLocks/>
            </p:cNvSpPr>
            <p:nvPr/>
          </p:nvSpPr>
          <p:spPr bwMode="auto">
            <a:xfrm>
              <a:off x="2440888" y="2613087"/>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26" name="그룹 25">
              <a:extLst>
                <a:ext uri="{FF2B5EF4-FFF2-40B4-BE49-F238E27FC236}">
                  <a16:creationId xmlns:a16="http://schemas.microsoft.com/office/drawing/2014/main" id="{1A5C4684-E7D8-4181-88F0-905BA574F46C}"/>
                </a:ext>
              </a:extLst>
            </p:cNvPr>
            <p:cNvGrpSpPr/>
            <p:nvPr/>
          </p:nvGrpSpPr>
          <p:grpSpPr>
            <a:xfrm>
              <a:off x="2790403" y="3136750"/>
              <a:ext cx="271990" cy="774775"/>
              <a:chOff x="6998491" y="3230563"/>
              <a:chExt cx="765176" cy="2179637"/>
            </a:xfrm>
          </p:grpSpPr>
          <p:sp>
            <p:nvSpPr>
              <p:cNvPr id="77" name="Line 9">
                <a:extLst>
                  <a:ext uri="{FF2B5EF4-FFF2-40B4-BE49-F238E27FC236}">
                    <a16:creationId xmlns:a16="http://schemas.microsoft.com/office/drawing/2014/main" id="{BB095270-4181-44F7-95C9-0B4117AE82CD}"/>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78" name="Line 10">
                <a:extLst>
                  <a:ext uri="{FF2B5EF4-FFF2-40B4-BE49-F238E27FC236}">
                    <a16:creationId xmlns:a16="http://schemas.microsoft.com/office/drawing/2014/main" id="{BE2C028E-0A35-4CAB-BCC3-C0C772DFC32A}"/>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79" name="Line 11">
                <a:extLst>
                  <a:ext uri="{FF2B5EF4-FFF2-40B4-BE49-F238E27FC236}">
                    <a16:creationId xmlns:a16="http://schemas.microsoft.com/office/drawing/2014/main" id="{115A464E-9C0F-4F36-87EA-5DD4019DB32E}"/>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27" name="Freeform 5">
              <a:extLst>
                <a:ext uri="{FF2B5EF4-FFF2-40B4-BE49-F238E27FC236}">
                  <a16:creationId xmlns:a16="http://schemas.microsoft.com/office/drawing/2014/main" id="{58C5135B-35B1-4692-8CB6-C015CC240CF1}"/>
                </a:ext>
              </a:extLst>
            </p:cNvPr>
            <p:cNvSpPr>
              <a:spLocks/>
            </p:cNvSpPr>
            <p:nvPr/>
          </p:nvSpPr>
          <p:spPr bwMode="auto">
            <a:xfrm>
              <a:off x="3002611" y="2800385"/>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28" name="그룹 27">
              <a:extLst>
                <a:ext uri="{FF2B5EF4-FFF2-40B4-BE49-F238E27FC236}">
                  <a16:creationId xmlns:a16="http://schemas.microsoft.com/office/drawing/2014/main" id="{34176AFC-3D83-4DCD-A081-D9588C81332B}"/>
                </a:ext>
              </a:extLst>
            </p:cNvPr>
            <p:cNvGrpSpPr/>
            <p:nvPr/>
          </p:nvGrpSpPr>
          <p:grpSpPr>
            <a:xfrm>
              <a:off x="3352126" y="3324048"/>
              <a:ext cx="271990" cy="774775"/>
              <a:chOff x="6998491" y="3230563"/>
              <a:chExt cx="765176" cy="2179637"/>
            </a:xfrm>
          </p:grpSpPr>
          <p:sp>
            <p:nvSpPr>
              <p:cNvPr id="74" name="Line 9">
                <a:extLst>
                  <a:ext uri="{FF2B5EF4-FFF2-40B4-BE49-F238E27FC236}">
                    <a16:creationId xmlns:a16="http://schemas.microsoft.com/office/drawing/2014/main" id="{AA2A95D5-302A-421D-9261-2CE9C0BFA78F}"/>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75" name="Line 10">
                <a:extLst>
                  <a:ext uri="{FF2B5EF4-FFF2-40B4-BE49-F238E27FC236}">
                    <a16:creationId xmlns:a16="http://schemas.microsoft.com/office/drawing/2014/main" id="{53CA921E-60D2-4B90-8C31-9AC24244A057}"/>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76" name="Line 11">
                <a:extLst>
                  <a:ext uri="{FF2B5EF4-FFF2-40B4-BE49-F238E27FC236}">
                    <a16:creationId xmlns:a16="http://schemas.microsoft.com/office/drawing/2014/main" id="{A502D47B-1A0E-4BCF-822B-4835643B2F83}"/>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29" name="Freeform 5">
              <a:extLst>
                <a:ext uri="{FF2B5EF4-FFF2-40B4-BE49-F238E27FC236}">
                  <a16:creationId xmlns:a16="http://schemas.microsoft.com/office/drawing/2014/main" id="{58B4D9B9-12F5-43F7-A078-B31505A2D10A}"/>
                </a:ext>
              </a:extLst>
            </p:cNvPr>
            <p:cNvSpPr>
              <a:spLocks/>
            </p:cNvSpPr>
            <p:nvPr/>
          </p:nvSpPr>
          <p:spPr bwMode="auto">
            <a:xfrm>
              <a:off x="3456779" y="2773628"/>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30" name="그룹 29">
              <a:extLst>
                <a:ext uri="{FF2B5EF4-FFF2-40B4-BE49-F238E27FC236}">
                  <a16:creationId xmlns:a16="http://schemas.microsoft.com/office/drawing/2014/main" id="{BEB6EA9B-C817-47F0-B0A3-8EC78B8A5017}"/>
                </a:ext>
              </a:extLst>
            </p:cNvPr>
            <p:cNvGrpSpPr/>
            <p:nvPr/>
          </p:nvGrpSpPr>
          <p:grpSpPr>
            <a:xfrm>
              <a:off x="3806294" y="3297291"/>
              <a:ext cx="271990" cy="774775"/>
              <a:chOff x="6998491" y="3230563"/>
              <a:chExt cx="765176" cy="2179637"/>
            </a:xfrm>
          </p:grpSpPr>
          <p:sp>
            <p:nvSpPr>
              <p:cNvPr id="71" name="Line 9">
                <a:extLst>
                  <a:ext uri="{FF2B5EF4-FFF2-40B4-BE49-F238E27FC236}">
                    <a16:creationId xmlns:a16="http://schemas.microsoft.com/office/drawing/2014/main" id="{EE77AD3A-6462-4263-9DC8-9669B1F79A3B}"/>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72" name="Line 10">
                <a:extLst>
                  <a:ext uri="{FF2B5EF4-FFF2-40B4-BE49-F238E27FC236}">
                    <a16:creationId xmlns:a16="http://schemas.microsoft.com/office/drawing/2014/main" id="{52B5DF56-55C7-4F0E-84BD-F49995DD0D37}"/>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73" name="Line 11">
                <a:extLst>
                  <a:ext uri="{FF2B5EF4-FFF2-40B4-BE49-F238E27FC236}">
                    <a16:creationId xmlns:a16="http://schemas.microsoft.com/office/drawing/2014/main" id="{31CE5F25-CF77-45AF-ACD8-E00CE5C49D0D}"/>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31" name="Freeform 5">
              <a:extLst>
                <a:ext uri="{FF2B5EF4-FFF2-40B4-BE49-F238E27FC236}">
                  <a16:creationId xmlns:a16="http://schemas.microsoft.com/office/drawing/2014/main" id="{5EABCC0B-67FE-48E7-AF73-DFD5C04101AE}"/>
                </a:ext>
              </a:extLst>
            </p:cNvPr>
            <p:cNvSpPr>
              <a:spLocks/>
            </p:cNvSpPr>
            <p:nvPr/>
          </p:nvSpPr>
          <p:spPr bwMode="auto">
            <a:xfrm>
              <a:off x="4059913" y="2654886"/>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32" name="그룹 31">
              <a:extLst>
                <a:ext uri="{FF2B5EF4-FFF2-40B4-BE49-F238E27FC236}">
                  <a16:creationId xmlns:a16="http://schemas.microsoft.com/office/drawing/2014/main" id="{386A955A-4E3C-4982-B0E8-8FA278C017E9}"/>
                </a:ext>
              </a:extLst>
            </p:cNvPr>
            <p:cNvGrpSpPr/>
            <p:nvPr/>
          </p:nvGrpSpPr>
          <p:grpSpPr>
            <a:xfrm>
              <a:off x="4409428" y="3178549"/>
              <a:ext cx="271990" cy="774775"/>
              <a:chOff x="6998491" y="3230563"/>
              <a:chExt cx="765176" cy="2179637"/>
            </a:xfrm>
          </p:grpSpPr>
          <p:sp>
            <p:nvSpPr>
              <p:cNvPr id="68" name="Line 9">
                <a:extLst>
                  <a:ext uri="{FF2B5EF4-FFF2-40B4-BE49-F238E27FC236}">
                    <a16:creationId xmlns:a16="http://schemas.microsoft.com/office/drawing/2014/main" id="{F0BB3EE7-1DCA-44D4-A56B-F7E28E0F7AA4}"/>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69" name="Line 10">
                <a:extLst>
                  <a:ext uri="{FF2B5EF4-FFF2-40B4-BE49-F238E27FC236}">
                    <a16:creationId xmlns:a16="http://schemas.microsoft.com/office/drawing/2014/main" id="{D4A947C6-3FF4-4162-9C42-32FB129AE760}"/>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70" name="Line 11">
                <a:extLst>
                  <a:ext uri="{FF2B5EF4-FFF2-40B4-BE49-F238E27FC236}">
                    <a16:creationId xmlns:a16="http://schemas.microsoft.com/office/drawing/2014/main" id="{31E776EB-0554-4923-9D7C-9B884F26843B}"/>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33" name="Freeform 5">
              <a:extLst>
                <a:ext uri="{FF2B5EF4-FFF2-40B4-BE49-F238E27FC236}">
                  <a16:creationId xmlns:a16="http://schemas.microsoft.com/office/drawing/2014/main" id="{A97A275E-57EC-4D31-A6AB-DB52376E51E9}"/>
                </a:ext>
              </a:extLst>
            </p:cNvPr>
            <p:cNvSpPr>
              <a:spLocks/>
            </p:cNvSpPr>
            <p:nvPr/>
          </p:nvSpPr>
          <p:spPr bwMode="auto">
            <a:xfrm>
              <a:off x="4567383" y="3187513"/>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34" name="그룹 33">
              <a:extLst>
                <a:ext uri="{FF2B5EF4-FFF2-40B4-BE49-F238E27FC236}">
                  <a16:creationId xmlns:a16="http://schemas.microsoft.com/office/drawing/2014/main" id="{1F94E1EB-F18F-4006-A81E-B0ACE98C2DB5}"/>
                </a:ext>
              </a:extLst>
            </p:cNvPr>
            <p:cNvGrpSpPr/>
            <p:nvPr/>
          </p:nvGrpSpPr>
          <p:grpSpPr>
            <a:xfrm>
              <a:off x="4916898" y="3711176"/>
              <a:ext cx="271990" cy="774775"/>
              <a:chOff x="6998491" y="3230563"/>
              <a:chExt cx="765176" cy="2179637"/>
            </a:xfrm>
          </p:grpSpPr>
          <p:sp>
            <p:nvSpPr>
              <p:cNvPr id="65" name="Line 9">
                <a:extLst>
                  <a:ext uri="{FF2B5EF4-FFF2-40B4-BE49-F238E27FC236}">
                    <a16:creationId xmlns:a16="http://schemas.microsoft.com/office/drawing/2014/main" id="{FF1B0CF5-5535-48D7-9217-F5B2EEDED395}"/>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66" name="Line 10">
                <a:extLst>
                  <a:ext uri="{FF2B5EF4-FFF2-40B4-BE49-F238E27FC236}">
                    <a16:creationId xmlns:a16="http://schemas.microsoft.com/office/drawing/2014/main" id="{4C752382-CE8E-44C3-8206-03E3B0D87065}"/>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67" name="Line 11">
                <a:extLst>
                  <a:ext uri="{FF2B5EF4-FFF2-40B4-BE49-F238E27FC236}">
                    <a16:creationId xmlns:a16="http://schemas.microsoft.com/office/drawing/2014/main" id="{3AC6A9ED-C35A-4AFC-85DE-02107DDFC040}"/>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35" name="Freeform 5">
              <a:extLst>
                <a:ext uri="{FF2B5EF4-FFF2-40B4-BE49-F238E27FC236}">
                  <a16:creationId xmlns:a16="http://schemas.microsoft.com/office/drawing/2014/main" id="{23C71145-5700-4DC0-B75E-29130FC21D93}"/>
                </a:ext>
              </a:extLst>
            </p:cNvPr>
            <p:cNvSpPr>
              <a:spLocks/>
            </p:cNvSpPr>
            <p:nvPr/>
          </p:nvSpPr>
          <p:spPr bwMode="auto">
            <a:xfrm>
              <a:off x="5063071" y="2666600"/>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36" name="그룹 35">
              <a:extLst>
                <a:ext uri="{FF2B5EF4-FFF2-40B4-BE49-F238E27FC236}">
                  <a16:creationId xmlns:a16="http://schemas.microsoft.com/office/drawing/2014/main" id="{C8E5D2B2-F868-4BB7-9F37-8A6497B2109D}"/>
                </a:ext>
              </a:extLst>
            </p:cNvPr>
            <p:cNvGrpSpPr/>
            <p:nvPr/>
          </p:nvGrpSpPr>
          <p:grpSpPr>
            <a:xfrm>
              <a:off x="5412586" y="3190263"/>
              <a:ext cx="271990" cy="774775"/>
              <a:chOff x="6998491" y="3230563"/>
              <a:chExt cx="765176" cy="2179637"/>
            </a:xfrm>
          </p:grpSpPr>
          <p:sp>
            <p:nvSpPr>
              <p:cNvPr id="62" name="Line 9">
                <a:extLst>
                  <a:ext uri="{FF2B5EF4-FFF2-40B4-BE49-F238E27FC236}">
                    <a16:creationId xmlns:a16="http://schemas.microsoft.com/office/drawing/2014/main" id="{EF3ED80D-901C-4B33-B280-13734FAB4A64}"/>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63" name="Line 10">
                <a:extLst>
                  <a:ext uri="{FF2B5EF4-FFF2-40B4-BE49-F238E27FC236}">
                    <a16:creationId xmlns:a16="http://schemas.microsoft.com/office/drawing/2014/main" id="{41FEDFDC-403F-4716-836D-CA03ED97450B}"/>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64" name="Line 11">
                <a:extLst>
                  <a:ext uri="{FF2B5EF4-FFF2-40B4-BE49-F238E27FC236}">
                    <a16:creationId xmlns:a16="http://schemas.microsoft.com/office/drawing/2014/main" id="{FDAA3D57-4BBF-4359-B453-897B7D414400}"/>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37" name="Freeform 5">
              <a:extLst>
                <a:ext uri="{FF2B5EF4-FFF2-40B4-BE49-F238E27FC236}">
                  <a16:creationId xmlns:a16="http://schemas.microsoft.com/office/drawing/2014/main" id="{FD4A9F34-39CD-4EC4-865F-4389F66F1C23}"/>
                </a:ext>
              </a:extLst>
            </p:cNvPr>
            <p:cNvSpPr>
              <a:spLocks/>
            </p:cNvSpPr>
            <p:nvPr/>
          </p:nvSpPr>
          <p:spPr bwMode="auto">
            <a:xfrm>
              <a:off x="5624967" y="2800385"/>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38" name="그룹 37">
              <a:extLst>
                <a:ext uri="{FF2B5EF4-FFF2-40B4-BE49-F238E27FC236}">
                  <a16:creationId xmlns:a16="http://schemas.microsoft.com/office/drawing/2014/main" id="{C6D7C299-1C88-40C8-9E94-F8A03B2B6ED9}"/>
                </a:ext>
              </a:extLst>
            </p:cNvPr>
            <p:cNvGrpSpPr/>
            <p:nvPr/>
          </p:nvGrpSpPr>
          <p:grpSpPr>
            <a:xfrm>
              <a:off x="5974482" y="3324048"/>
              <a:ext cx="271990" cy="774775"/>
              <a:chOff x="6998491" y="3230563"/>
              <a:chExt cx="765176" cy="2179637"/>
            </a:xfrm>
          </p:grpSpPr>
          <p:sp>
            <p:nvSpPr>
              <p:cNvPr id="59" name="Line 9">
                <a:extLst>
                  <a:ext uri="{FF2B5EF4-FFF2-40B4-BE49-F238E27FC236}">
                    <a16:creationId xmlns:a16="http://schemas.microsoft.com/office/drawing/2014/main" id="{2F2D31A3-921A-44B1-A19C-62774ED7DC08}"/>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60" name="Line 10">
                <a:extLst>
                  <a:ext uri="{FF2B5EF4-FFF2-40B4-BE49-F238E27FC236}">
                    <a16:creationId xmlns:a16="http://schemas.microsoft.com/office/drawing/2014/main" id="{CF5083C4-9FC2-4208-B243-7A6AD0D67229}"/>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61" name="Line 11">
                <a:extLst>
                  <a:ext uri="{FF2B5EF4-FFF2-40B4-BE49-F238E27FC236}">
                    <a16:creationId xmlns:a16="http://schemas.microsoft.com/office/drawing/2014/main" id="{4FB0165D-C556-42EF-B902-51143CDF287F}"/>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39" name="Freeform 5">
              <a:extLst>
                <a:ext uri="{FF2B5EF4-FFF2-40B4-BE49-F238E27FC236}">
                  <a16:creationId xmlns:a16="http://schemas.microsoft.com/office/drawing/2014/main" id="{EFE5452E-934F-4B92-ABCA-63E5C4240A7F}"/>
                </a:ext>
              </a:extLst>
            </p:cNvPr>
            <p:cNvSpPr>
              <a:spLocks/>
            </p:cNvSpPr>
            <p:nvPr/>
          </p:nvSpPr>
          <p:spPr bwMode="auto">
            <a:xfrm>
              <a:off x="6601597" y="2773628"/>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40" name="그룹 39">
              <a:extLst>
                <a:ext uri="{FF2B5EF4-FFF2-40B4-BE49-F238E27FC236}">
                  <a16:creationId xmlns:a16="http://schemas.microsoft.com/office/drawing/2014/main" id="{05F46059-13EC-443F-B2F9-3BBFEF72B364}"/>
                </a:ext>
              </a:extLst>
            </p:cNvPr>
            <p:cNvGrpSpPr/>
            <p:nvPr/>
          </p:nvGrpSpPr>
          <p:grpSpPr>
            <a:xfrm>
              <a:off x="6951112" y="3297291"/>
              <a:ext cx="271990" cy="774775"/>
              <a:chOff x="6998491" y="3230563"/>
              <a:chExt cx="765176" cy="2179637"/>
            </a:xfrm>
          </p:grpSpPr>
          <p:sp>
            <p:nvSpPr>
              <p:cNvPr id="56" name="Line 9">
                <a:extLst>
                  <a:ext uri="{FF2B5EF4-FFF2-40B4-BE49-F238E27FC236}">
                    <a16:creationId xmlns:a16="http://schemas.microsoft.com/office/drawing/2014/main" id="{6D0EE8B9-85DE-4390-915E-9E2A9B36BDC2}"/>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57" name="Line 10">
                <a:extLst>
                  <a:ext uri="{FF2B5EF4-FFF2-40B4-BE49-F238E27FC236}">
                    <a16:creationId xmlns:a16="http://schemas.microsoft.com/office/drawing/2014/main" id="{0360FAEE-9082-4B05-8889-D61968D66C3E}"/>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58" name="Line 11">
                <a:extLst>
                  <a:ext uri="{FF2B5EF4-FFF2-40B4-BE49-F238E27FC236}">
                    <a16:creationId xmlns:a16="http://schemas.microsoft.com/office/drawing/2014/main" id="{FFE40CD8-0605-4531-BE70-E526C0C912A3}"/>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41" name="Freeform 5">
              <a:extLst>
                <a:ext uri="{FF2B5EF4-FFF2-40B4-BE49-F238E27FC236}">
                  <a16:creationId xmlns:a16="http://schemas.microsoft.com/office/drawing/2014/main" id="{8EF47F37-14B2-4A68-90CA-0403F843A4C7}"/>
                </a:ext>
              </a:extLst>
            </p:cNvPr>
            <p:cNvSpPr>
              <a:spLocks/>
            </p:cNvSpPr>
            <p:nvPr/>
          </p:nvSpPr>
          <p:spPr bwMode="auto">
            <a:xfrm>
              <a:off x="3885080" y="3334676"/>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42" name="그룹 41">
              <a:extLst>
                <a:ext uri="{FF2B5EF4-FFF2-40B4-BE49-F238E27FC236}">
                  <a16:creationId xmlns:a16="http://schemas.microsoft.com/office/drawing/2014/main" id="{DAAEE963-7A61-4657-A774-48E56E05AEA9}"/>
                </a:ext>
              </a:extLst>
            </p:cNvPr>
            <p:cNvGrpSpPr/>
            <p:nvPr/>
          </p:nvGrpSpPr>
          <p:grpSpPr>
            <a:xfrm>
              <a:off x="4234595" y="3858339"/>
              <a:ext cx="271990" cy="774775"/>
              <a:chOff x="6998491" y="3230563"/>
              <a:chExt cx="765176" cy="2179637"/>
            </a:xfrm>
          </p:grpSpPr>
          <p:sp>
            <p:nvSpPr>
              <p:cNvPr id="53" name="Line 9">
                <a:extLst>
                  <a:ext uri="{FF2B5EF4-FFF2-40B4-BE49-F238E27FC236}">
                    <a16:creationId xmlns:a16="http://schemas.microsoft.com/office/drawing/2014/main" id="{09F8A377-5607-4358-865D-C835F7BB9E5D}"/>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54" name="Line 10">
                <a:extLst>
                  <a:ext uri="{FF2B5EF4-FFF2-40B4-BE49-F238E27FC236}">
                    <a16:creationId xmlns:a16="http://schemas.microsoft.com/office/drawing/2014/main" id="{CFF49D26-858A-4265-A9AB-BAB05668D67C}"/>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55" name="Line 11">
                <a:extLst>
                  <a:ext uri="{FF2B5EF4-FFF2-40B4-BE49-F238E27FC236}">
                    <a16:creationId xmlns:a16="http://schemas.microsoft.com/office/drawing/2014/main" id="{1D4B1FB4-0869-405E-AFD1-30FB6B888B50}"/>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43" name="Freeform 5">
              <a:extLst>
                <a:ext uri="{FF2B5EF4-FFF2-40B4-BE49-F238E27FC236}">
                  <a16:creationId xmlns:a16="http://schemas.microsoft.com/office/drawing/2014/main" id="{24CFCA22-EB16-4482-9E7C-02B03F875B9F}"/>
                </a:ext>
              </a:extLst>
            </p:cNvPr>
            <p:cNvSpPr>
              <a:spLocks/>
            </p:cNvSpPr>
            <p:nvPr/>
          </p:nvSpPr>
          <p:spPr bwMode="auto">
            <a:xfrm>
              <a:off x="5209549" y="3388190"/>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44" name="그룹 43">
              <a:extLst>
                <a:ext uri="{FF2B5EF4-FFF2-40B4-BE49-F238E27FC236}">
                  <a16:creationId xmlns:a16="http://schemas.microsoft.com/office/drawing/2014/main" id="{AD821192-23A8-43D8-874E-1E88A6348EBB}"/>
                </a:ext>
              </a:extLst>
            </p:cNvPr>
            <p:cNvGrpSpPr/>
            <p:nvPr/>
          </p:nvGrpSpPr>
          <p:grpSpPr>
            <a:xfrm>
              <a:off x="5559064" y="3911853"/>
              <a:ext cx="271990" cy="774775"/>
              <a:chOff x="6998491" y="3230563"/>
              <a:chExt cx="765176" cy="2179637"/>
            </a:xfrm>
          </p:grpSpPr>
          <p:sp>
            <p:nvSpPr>
              <p:cNvPr id="50" name="Line 9">
                <a:extLst>
                  <a:ext uri="{FF2B5EF4-FFF2-40B4-BE49-F238E27FC236}">
                    <a16:creationId xmlns:a16="http://schemas.microsoft.com/office/drawing/2014/main" id="{99FB68EC-CC4B-4511-A568-980C0C0318B4}"/>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51" name="Line 10">
                <a:extLst>
                  <a:ext uri="{FF2B5EF4-FFF2-40B4-BE49-F238E27FC236}">
                    <a16:creationId xmlns:a16="http://schemas.microsoft.com/office/drawing/2014/main" id="{9A716400-2B65-4EEF-9023-6E02A4E24DE2}"/>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52" name="Line 11">
                <a:extLst>
                  <a:ext uri="{FF2B5EF4-FFF2-40B4-BE49-F238E27FC236}">
                    <a16:creationId xmlns:a16="http://schemas.microsoft.com/office/drawing/2014/main" id="{8ED212B0-0635-4382-B0B9-4E022B20821B}"/>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sp>
          <p:nvSpPr>
            <p:cNvPr id="45" name="Freeform 5">
              <a:extLst>
                <a:ext uri="{FF2B5EF4-FFF2-40B4-BE49-F238E27FC236}">
                  <a16:creationId xmlns:a16="http://schemas.microsoft.com/office/drawing/2014/main" id="{234A0138-3C3A-4E1E-AB94-DEBC414DB949}"/>
                </a:ext>
              </a:extLst>
            </p:cNvPr>
            <p:cNvSpPr>
              <a:spLocks/>
            </p:cNvSpPr>
            <p:nvPr/>
          </p:nvSpPr>
          <p:spPr bwMode="auto">
            <a:xfrm>
              <a:off x="5891852" y="3388190"/>
              <a:ext cx="1013926" cy="938131"/>
            </a:xfrm>
            <a:custGeom>
              <a:avLst/>
              <a:gdLst>
                <a:gd name="T0" fmla="*/ 1350 w 1632"/>
                <a:gd name="T1" fmla="*/ 440 h 1510"/>
                <a:gd name="T2" fmla="*/ 1346 w 1632"/>
                <a:gd name="T3" fmla="*/ 374 h 1510"/>
                <a:gd name="T4" fmla="*/ 1323 w 1632"/>
                <a:gd name="T5" fmla="*/ 289 h 1510"/>
                <a:gd name="T6" fmla="*/ 1286 w 1632"/>
                <a:gd name="T7" fmla="*/ 212 h 1510"/>
                <a:gd name="T8" fmla="*/ 1236 w 1632"/>
                <a:gd name="T9" fmla="*/ 145 h 1510"/>
                <a:gd name="T10" fmla="*/ 1173 w 1632"/>
                <a:gd name="T11" fmla="*/ 88 h 1510"/>
                <a:gd name="T12" fmla="*/ 1101 w 1632"/>
                <a:gd name="T13" fmla="*/ 45 h 1510"/>
                <a:gd name="T14" fmla="*/ 1019 w 1632"/>
                <a:gd name="T15" fmla="*/ 14 h 1510"/>
                <a:gd name="T16" fmla="*/ 933 w 1632"/>
                <a:gd name="T17" fmla="*/ 2 h 1510"/>
                <a:gd name="T18" fmla="*/ 867 w 1632"/>
                <a:gd name="T19" fmla="*/ 3 h 1510"/>
                <a:gd name="T20" fmla="*/ 782 w 1632"/>
                <a:gd name="T21" fmla="*/ 20 h 1510"/>
                <a:gd name="T22" fmla="*/ 705 w 1632"/>
                <a:gd name="T23" fmla="*/ 51 h 1510"/>
                <a:gd name="T24" fmla="*/ 637 w 1632"/>
                <a:gd name="T25" fmla="*/ 95 h 1510"/>
                <a:gd name="T26" fmla="*/ 577 w 1632"/>
                <a:gd name="T27" fmla="*/ 151 h 1510"/>
                <a:gd name="T28" fmla="*/ 530 w 1632"/>
                <a:gd name="T29" fmla="*/ 217 h 1510"/>
                <a:gd name="T30" fmla="*/ 494 w 1632"/>
                <a:gd name="T31" fmla="*/ 292 h 1510"/>
                <a:gd name="T32" fmla="*/ 474 w 1632"/>
                <a:gd name="T33" fmla="*/ 374 h 1510"/>
                <a:gd name="T34" fmla="*/ 470 w 1632"/>
                <a:gd name="T35" fmla="*/ 417 h 1510"/>
                <a:gd name="T36" fmla="*/ 397 w 1632"/>
                <a:gd name="T37" fmla="*/ 423 h 1510"/>
                <a:gd name="T38" fmla="*/ 308 w 1632"/>
                <a:gd name="T39" fmla="*/ 446 h 1510"/>
                <a:gd name="T40" fmla="*/ 226 w 1632"/>
                <a:gd name="T41" fmla="*/ 484 h 1510"/>
                <a:gd name="T42" fmla="*/ 154 w 1632"/>
                <a:gd name="T43" fmla="*/ 538 h 1510"/>
                <a:gd name="T44" fmla="*/ 94 w 1632"/>
                <a:gd name="T45" fmla="*/ 604 h 1510"/>
                <a:gd name="T46" fmla="*/ 46 w 1632"/>
                <a:gd name="T47" fmla="*/ 683 h 1510"/>
                <a:gd name="T48" fmla="*/ 15 w 1632"/>
                <a:gd name="T49" fmla="*/ 767 h 1510"/>
                <a:gd name="T50" fmla="*/ 2 w 1632"/>
                <a:gd name="T51" fmla="*/ 861 h 1510"/>
                <a:gd name="T52" fmla="*/ 3 w 1632"/>
                <a:gd name="T53" fmla="*/ 933 h 1510"/>
                <a:gd name="T54" fmla="*/ 22 w 1632"/>
                <a:gd name="T55" fmla="*/ 1024 h 1510"/>
                <a:gd name="T56" fmla="*/ 57 w 1632"/>
                <a:gd name="T57" fmla="*/ 1109 h 1510"/>
                <a:gd name="T58" fmla="*/ 108 w 1632"/>
                <a:gd name="T59" fmla="*/ 1182 h 1510"/>
                <a:gd name="T60" fmla="*/ 171 w 1632"/>
                <a:gd name="T61" fmla="*/ 1246 h 1510"/>
                <a:gd name="T62" fmla="*/ 246 w 1632"/>
                <a:gd name="T63" fmla="*/ 1296 h 1510"/>
                <a:gd name="T64" fmla="*/ 329 w 1632"/>
                <a:gd name="T65" fmla="*/ 1332 h 1510"/>
                <a:gd name="T66" fmla="*/ 422 w 1632"/>
                <a:gd name="T67" fmla="*/ 1350 h 1510"/>
                <a:gd name="T68" fmla="*/ 497 w 1632"/>
                <a:gd name="T69" fmla="*/ 1352 h 1510"/>
                <a:gd name="T70" fmla="*/ 602 w 1632"/>
                <a:gd name="T71" fmla="*/ 1335 h 1510"/>
                <a:gd name="T72" fmla="*/ 674 w 1632"/>
                <a:gd name="T73" fmla="*/ 1305 h 1510"/>
                <a:gd name="T74" fmla="*/ 757 w 1632"/>
                <a:gd name="T75" fmla="*/ 1390 h 1510"/>
                <a:gd name="T76" fmla="*/ 858 w 1632"/>
                <a:gd name="T77" fmla="*/ 1455 h 1510"/>
                <a:gd name="T78" fmla="*/ 972 w 1632"/>
                <a:gd name="T79" fmla="*/ 1496 h 1510"/>
                <a:gd name="T80" fmla="*/ 1096 w 1632"/>
                <a:gd name="T81" fmla="*/ 1510 h 1510"/>
                <a:gd name="T82" fmla="*/ 1178 w 1632"/>
                <a:gd name="T83" fmla="*/ 1504 h 1510"/>
                <a:gd name="T84" fmla="*/ 1281 w 1632"/>
                <a:gd name="T85" fmla="*/ 1478 h 1510"/>
                <a:gd name="T86" fmla="*/ 1375 w 1632"/>
                <a:gd name="T87" fmla="*/ 1433 h 1510"/>
                <a:gd name="T88" fmla="*/ 1456 w 1632"/>
                <a:gd name="T89" fmla="*/ 1372 h 1510"/>
                <a:gd name="T90" fmla="*/ 1526 w 1632"/>
                <a:gd name="T91" fmla="*/ 1295 h 1510"/>
                <a:gd name="T92" fmla="*/ 1580 w 1632"/>
                <a:gd name="T93" fmla="*/ 1207 h 1510"/>
                <a:gd name="T94" fmla="*/ 1615 w 1632"/>
                <a:gd name="T95" fmla="*/ 1109 h 1510"/>
                <a:gd name="T96" fmla="*/ 1632 w 1632"/>
                <a:gd name="T97" fmla="*/ 1003 h 1510"/>
                <a:gd name="T98" fmla="*/ 1627 w 1632"/>
                <a:gd name="T99" fmla="*/ 898 h 1510"/>
                <a:gd name="T100" fmla="*/ 1587 w 1632"/>
                <a:gd name="T101" fmla="*/ 758 h 1510"/>
                <a:gd name="T102" fmla="*/ 1512 w 1632"/>
                <a:gd name="T103" fmla="*/ 635 h 1510"/>
                <a:gd name="T104" fmla="*/ 1407 w 1632"/>
                <a:gd name="T105" fmla="*/ 538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32" h="1510">
                  <a:moveTo>
                    <a:pt x="1346" y="500"/>
                  </a:moveTo>
                  <a:lnTo>
                    <a:pt x="1346" y="500"/>
                  </a:lnTo>
                  <a:lnTo>
                    <a:pt x="1349" y="471"/>
                  </a:lnTo>
                  <a:lnTo>
                    <a:pt x="1350" y="440"/>
                  </a:lnTo>
                  <a:lnTo>
                    <a:pt x="1350" y="440"/>
                  </a:lnTo>
                  <a:lnTo>
                    <a:pt x="1349" y="418"/>
                  </a:lnTo>
                  <a:lnTo>
                    <a:pt x="1347" y="395"/>
                  </a:lnTo>
                  <a:lnTo>
                    <a:pt x="1346" y="374"/>
                  </a:lnTo>
                  <a:lnTo>
                    <a:pt x="1341" y="352"/>
                  </a:lnTo>
                  <a:lnTo>
                    <a:pt x="1336" y="331"/>
                  </a:lnTo>
                  <a:lnTo>
                    <a:pt x="1330" y="309"/>
                  </a:lnTo>
                  <a:lnTo>
                    <a:pt x="1323" y="289"/>
                  </a:lnTo>
                  <a:lnTo>
                    <a:pt x="1315" y="269"/>
                  </a:lnTo>
                  <a:lnTo>
                    <a:pt x="1307" y="249"/>
                  </a:lnTo>
                  <a:lnTo>
                    <a:pt x="1296" y="231"/>
                  </a:lnTo>
                  <a:lnTo>
                    <a:pt x="1286" y="212"/>
                  </a:lnTo>
                  <a:lnTo>
                    <a:pt x="1275" y="195"/>
                  </a:lnTo>
                  <a:lnTo>
                    <a:pt x="1262" y="177"/>
                  </a:lnTo>
                  <a:lnTo>
                    <a:pt x="1250" y="161"/>
                  </a:lnTo>
                  <a:lnTo>
                    <a:pt x="1236" y="145"/>
                  </a:lnTo>
                  <a:lnTo>
                    <a:pt x="1221" y="129"/>
                  </a:lnTo>
                  <a:lnTo>
                    <a:pt x="1206" y="115"/>
                  </a:lnTo>
                  <a:lnTo>
                    <a:pt x="1190" y="101"/>
                  </a:lnTo>
                  <a:lnTo>
                    <a:pt x="1173" y="88"/>
                  </a:lnTo>
                  <a:lnTo>
                    <a:pt x="1156" y="75"/>
                  </a:lnTo>
                  <a:lnTo>
                    <a:pt x="1138" y="65"/>
                  </a:lnTo>
                  <a:lnTo>
                    <a:pt x="1119" y="54"/>
                  </a:lnTo>
                  <a:lnTo>
                    <a:pt x="1101" y="45"/>
                  </a:lnTo>
                  <a:lnTo>
                    <a:pt x="1081" y="35"/>
                  </a:lnTo>
                  <a:lnTo>
                    <a:pt x="1061" y="28"/>
                  </a:lnTo>
                  <a:lnTo>
                    <a:pt x="1041" y="20"/>
                  </a:lnTo>
                  <a:lnTo>
                    <a:pt x="1019" y="14"/>
                  </a:lnTo>
                  <a:lnTo>
                    <a:pt x="998" y="9"/>
                  </a:lnTo>
                  <a:lnTo>
                    <a:pt x="976" y="6"/>
                  </a:lnTo>
                  <a:lnTo>
                    <a:pt x="955" y="3"/>
                  </a:lnTo>
                  <a:lnTo>
                    <a:pt x="933" y="2"/>
                  </a:lnTo>
                  <a:lnTo>
                    <a:pt x="910" y="0"/>
                  </a:lnTo>
                  <a:lnTo>
                    <a:pt x="910" y="0"/>
                  </a:lnTo>
                  <a:lnTo>
                    <a:pt x="888" y="2"/>
                  </a:lnTo>
                  <a:lnTo>
                    <a:pt x="867" y="3"/>
                  </a:lnTo>
                  <a:lnTo>
                    <a:pt x="845" y="6"/>
                  </a:lnTo>
                  <a:lnTo>
                    <a:pt x="824" y="9"/>
                  </a:lnTo>
                  <a:lnTo>
                    <a:pt x="804" y="14"/>
                  </a:lnTo>
                  <a:lnTo>
                    <a:pt x="782" y="20"/>
                  </a:lnTo>
                  <a:lnTo>
                    <a:pt x="762" y="26"/>
                  </a:lnTo>
                  <a:lnTo>
                    <a:pt x="744" y="34"/>
                  </a:lnTo>
                  <a:lnTo>
                    <a:pt x="725" y="42"/>
                  </a:lnTo>
                  <a:lnTo>
                    <a:pt x="705" y="51"/>
                  </a:lnTo>
                  <a:lnTo>
                    <a:pt x="688" y="60"/>
                  </a:lnTo>
                  <a:lnTo>
                    <a:pt x="670" y="71"/>
                  </a:lnTo>
                  <a:lnTo>
                    <a:pt x="653" y="83"/>
                  </a:lnTo>
                  <a:lnTo>
                    <a:pt x="637" y="95"/>
                  </a:lnTo>
                  <a:lnTo>
                    <a:pt x="622" y="108"/>
                  </a:lnTo>
                  <a:lnTo>
                    <a:pt x="607" y="121"/>
                  </a:lnTo>
                  <a:lnTo>
                    <a:pt x="591" y="137"/>
                  </a:lnTo>
                  <a:lnTo>
                    <a:pt x="577" y="151"/>
                  </a:lnTo>
                  <a:lnTo>
                    <a:pt x="565" y="168"/>
                  </a:lnTo>
                  <a:lnTo>
                    <a:pt x="553" y="183"/>
                  </a:lnTo>
                  <a:lnTo>
                    <a:pt x="540" y="200"/>
                  </a:lnTo>
                  <a:lnTo>
                    <a:pt x="530" y="217"/>
                  </a:lnTo>
                  <a:lnTo>
                    <a:pt x="520" y="235"/>
                  </a:lnTo>
                  <a:lnTo>
                    <a:pt x="511" y="254"/>
                  </a:lnTo>
                  <a:lnTo>
                    <a:pt x="502" y="272"/>
                  </a:lnTo>
                  <a:lnTo>
                    <a:pt x="494" y="292"/>
                  </a:lnTo>
                  <a:lnTo>
                    <a:pt x="488" y="312"/>
                  </a:lnTo>
                  <a:lnTo>
                    <a:pt x="483" y="332"/>
                  </a:lnTo>
                  <a:lnTo>
                    <a:pt x="477" y="354"/>
                  </a:lnTo>
                  <a:lnTo>
                    <a:pt x="474" y="374"/>
                  </a:lnTo>
                  <a:lnTo>
                    <a:pt x="471" y="395"/>
                  </a:lnTo>
                  <a:lnTo>
                    <a:pt x="470" y="417"/>
                  </a:lnTo>
                  <a:lnTo>
                    <a:pt x="470" y="417"/>
                  </a:lnTo>
                  <a:lnTo>
                    <a:pt x="470" y="417"/>
                  </a:lnTo>
                  <a:lnTo>
                    <a:pt x="470" y="417"/>
                  </a:lnTo>
                  <a:lnTo>
                    <a:pt x="445" y="417"/>
                  </a:lnTo>
                  <a:lnTo>
                    <a:pt x="422" y="420"/>
                  </a:lnTo>
                  <a:lnTo>
                    <a:pt x="397" y="423"/>
                  </a:lnTo>
                  <a:lnTo>
                    <a:pt x="374" y="426"/>
                  </a:lnTo>
                  <a:lnTo>
                    <a:pt x="353" y="432"/>
                  </a:lnTo>
                  <a:lnTo>
                    <a:pt x="329" y="438"/>
                  </a:lnTo>
                  <a:lnTo>
                    <a:pt x="308" y="446"/>
                  </a:lnTo>
                  <a:lnTo>
                    <a:pt x="286" y="454"/>
                  </a:lnTo>
                  <a:lnTo>
                    <a:pt x="266" y="463"/>
                  </a:lnTo>
                  <a:lnTo>
                    <a:pt x="246" y="474"/>
                  </a:lnTo>
                  <a:lnTo>
                    <a:pt x="226" y="484"/>
                  </a:lnTo>
                  <a:lnTo>
                    <a:pt x="208" y="497"/>
                  </a:lnTo>
                  <a:lnTo>
                    <a:pt x="189" y="511"/>
                  </a:lnTo>
                  <a:lnTo>
                    <a:pt x="171" y="524"/>
                  </a:lnTo>
                  <a:lnTo>
                    <a:pt x="154" y="538"/>
                  </a:lnTo>
                  <a:lnTo>
                    <a:pt x="139" y="554"/>
                  </a:lnTo>
                  <a:lnTo>
                    <a:pt x="122" y="570"/>
                  </a:lnTo>
                  <a:lnTo>
                    <a:pt x="108" y="587"/>
                  </a:lnTo>
                  <a:lnTo>
                    <a:pt x="94" y="604"/>
                  </a:lnTo>
                  <a:lnTo>
                    <a:pt x="80" y="623"/>
                  </a:lnTo>
                  <a:lnTo>
                    <a:pt x="68" y="643"/>
                  </a:lnTo>
                  <a:lnTo>
                    <a:pt x="57" y="661"/>
                  </a:lnTo>
                  <a:lnTo>
                    <a:pt x="46" y="683"/>
                  </a:lnTo>
                  <a:lnTo>
                    <a:pt x="37" y="703"/>
                  </a:lnTo>
                  <a:lnTo>
                    <a:pt x="29" y="724"/>
                  </a:lnTo>
                  <a:lnTo>
                    <a:pt x="22" y="746"/>
                  </a:lnTo>
                  <a:lnTo>
                    <a:pt x="15" y="767"/>
                  </a:lnTo>
                  <a:lnTo>
                    <a:pt x="11" y="790"/>
                  </a:lnTo>
                  <a:lnTo>
                    <a:pt x="6" y="813"/>
                  </a:lnTo>
                  <a:lnTo>
                    <a:pt x="3" y="836"/>
                  </a:lnTo>
                  <a:lnTo>
                    <a:pt x="2" y="861"/>
                  </a:lnTo>
                  <a:lnTo>
                    <a:pt x="0" y="884"/>
                  </a:lnTo>
                  <a:lnTo>
                    <a:pt x="0" y="884"/>
                  </a:lnTo>
                  <a:lnTo>
                    <a:pt x="2" y="909"/>
                  </a:lnTo>
                  <a:lnTo>
                    <a:pt x="3" y="933"/>
                  </a:lnTo>
                  <a:lnTo>
                    <a:pt x="6" y="956"/>
                  </a:lnTo>
                  <a:lnTo>
                    <a:pt x="11" y="980"/>
                  </a:lnTo>
                  <a:lnTo>
                    <a:pt x="15" y="1003"/>
                  </a:lnTo>
                  <a:lnTo>
                    <a:pt x="22" y="1024"/>
                  </a:lnTo>
                  <a:lnTo>
                    <a:pt x="29" y="1046"/>
                  </a:lnTo>
                  <a:lnTo>
                    <a:pt x="37" y="1067"/>
                  </a:lnTo>
                  <a:lnTo>
                    <a:pt x="46" y="1087"/>
                  </a:lnTo>
                  <a:lnTo>
                    <a:pt x="57" y="1109"/>
                  </a:lnTo>
                  <a:lnTo>
                    <a:pt x="68" y="1127"/>
                  </a:lnTo>
                  <a:lnTo>
                    <a:pt x="80" y="1147"/>
                  </a:lnTo>
                  <a:lnTo>
                    <a:pt x="94" y="1166"/>
                  </a:lnTo>
                  <a:lnTo>
                    <a:pt x="108" y="1182"/>
                  </a:lnTo>
                  <a:lnTo>
                    <a:pt x="122" y="1199"/>
                  </a:lnTo>
                  <a:lnTo>
                    <a:pt x="139" y="1216"/>
                  </a:lnTo>
                  <a:lnTo>
                    <a:pt x="154" y="1232"/>
                  </a:lnTo>
                  <a:lnTo>
                    <a:pt x="171" y="1246"/>
                  </a:lnTo>
                  <a:lnTo>
                    <a:pt x="189" y="1259"/>
                  </a:lnTo>
                  <a:lnTo>
                    <a:pt x="208" y="1273"/>
                  </a:lnTo>
                  <a:lnTo>
                    <a:pt x="226" y="1285"/>
                  </a:lnTo>
                  <a:lnTo>
                    <a:pt x="246" y="1296"/>
                  </a:lnTo>
                  <a:lnTo>
                    <a:pt x="266" y="1307"/>
                  </a:lnTo>
                  <a:lnTo>
                    <a:pt x="286" y="1316"/>
                  </a:lnTo>
                  <a:lnTo>
                    <a:pt x="308" y="1324"/>
                  </a:lnTo>
                  <a:lnTo>
                    <a:pt x="329" y="1332"/>
                  </a:lnTo>
                  <a:lnTo>
                    <a:pt x="353" y="1338"/>
                  </a:lnTo>
                  <a:lnTo>
                    <a:pt x="374" y="1344"/>
                  </a:lnTo>
                  <a:lnTo>
                    <a:pt x="397" y="1347"/>
                  </a:lnTo>
                  <a:lnTo>
                    <a:pt x="422" y="1350"/>
                  </a:lnTo>
                  <a:lnTo>
                    <a:pt x="445" y="1353"/>
                  </a:lnTo>
                  <a:lnTo>
                    <a:pt x="470" y="1353"/>
                  </a:lnTo>
                  <a:lnTo>
                    <a:pt x="470" y="1353"/>
                  </a:lnTo>
                  <a:lnTo>
                    <a:pt x="497" y="1352"/>
                  </a:lnTo>
                  <a:lnTo>
                    <a:pt x="523" y="1350"/>
                  </a:lnTo>
                  <a:lnTo>
                    <a:pt x="550" y="1345"/>
                  </a:lnTo>
                  <a:lnTo>
                    <a:pt x="576" y="1341"/>
                  </a:lnTo>
                  <a:lnTo>
                    <a:pt x="602" y="1335"/>
                  </a:lnTo>
                  <a:lnTo>
                    <a:pt x="627" y="1325"/>
                  </a:lnTo>
                  <a:lnTo>
                    <a:pt x="651" y="1316"/>
                  </a:lnTo>
                  <a:lnTo>
                    <a:pt x="674" y="1305"/>
                  </a:lnTo>
                  <a:lnTo>
                    <a:pt x="674" y="1305"/>
                  </a:lnTo>
                  <a:lnTo>
                    <a:pt x="694" y="1329"/>
                  </a:lnTo>
                  <a:lnTo>
                    <a:pt x="714" y="1350"/>
                  </a:lnTo>
                  <a:lnTo>
                    <a:pt x="736" y="1370"/>
                  </a:lnTo>
                  <a:lnTo>
                    <a:pt x="757" y="1390"/>
                  </a:lnTo>
                  <a:lnTo>
                    <a:pt x="782" y="1409"/>
                  </a:lnTo>
                  <a:lnTo>
                    <a:pt x="807" y="1425"/>
                  </a:lnTo>
                  <a:lnTo>
                    <a:pt x="831" y="1441"/>
                  </a:lnTo>
                  <a:lnTo>
                    <a:pt x="858" y="1455"/>
                  </a:lnTo>
                  <a:lnTo>
                    <a:pt x="885" y="1467"/>
                  </a:lnTo>
                  <a:lnTo>
                    <a:pt x="913" y="1478"/>
                  </a:lnTo>
                  <a:lnTo>
                    <a:pt x="942" y="1488"/>
                  </a:lnTo>
                  <a:lnTo>
                    <a:pt x="972" y="1496"/>
                  </a:lnTo>
                  <a:lnTo>
                    <a:pt x="1002" y="1502"/>
                  </a:lnTo>
                  <a:lnTo>
                    <a:pt x="1033" y="1507"/>
                  </a:lnTo>
                  <a:lnTo>
                    <a:pt x="1064" y="1508"/>
                  </a:lnTo>
                  <a:lnTo>
                    <a:pt x="1096" y="1510"/>
                  </a:lnTo>
                  <a:lnTo>
                    <a:pt x="1096" y="1510"/>
                  </a:lnTo>
                  <a:lnTo>
                    <a:pt x="1124" y="1510"/>
                  </a:lnTo>
                  <a:lnTo>
                    <a:pt x="1150" y="1507"/>
                  </a:lnTo>
                  <a:lnTo>
                    <a:pt x="1178" y="1504"/>
                  </a:lnTo>
                  <a:lnTo>
                    <a:pt x="1204" y="1499"/>
                  </a:lnTo>
                  <a:lnTo>
                    <a:pt x="1230" y="1493"/>
                  </a:lnTo>
                  <a:lnTo>
                    <a:pt x="1255" y="1485"/>
                  </a:lnTo>
                  <a:lnTo>
                    <a:pt x="1281" y="1478"/>
                  </a:lnTo>
                  <a:lnTo>
                    <a:pt x="1306" y="1468"/>
                  </a:lnTo>
                  <a:lnTo>
                    <a:pt x="1329" y="1458"/>
                  </a:lnTo>
                  <a:lnTo>
                    <a:pt x="1352" y="1445"/>
                  </a:lnTo>
                  <a:lnTo>
                    <a:pt x="1375" y="1433"/>
                  </a:lnTo>
                  <a:lnTo>
                    <a:pt x="1396" y="1419"/>
                  </a:lnTo>
                  <a:lnTo>
                    <a:pt x="1416" y="1404"/>
                  </a:lnTo>
                  <a:lnTo>
                    <a:pt x="1438" y="1387"/>
                  </a:lnTo>
                  <a:lnTo>
                    <a:pt x="1456" y="1372"/>
                  </a:lnTo>
                  <a:lnTo>
                    <a:pt x="1475" y="1353"/>
                  </a:lnTo>
                  <a:lnTo>
                    <a:pt x="1493" y="1335"/>
                  </a:lnTo>
                  <a:lnTo>
                    <a:pt x="1510" y="1315"/>
                  </a:lnTo>
                  <a:lnTo>
                    <a:pt x="1526" y="1295"/>
                  </a:lnTo>
                  <a:lnTo>
                    <a:pt x="1541" y="1273"/>
                  </a:lnTo>
                  <a:lnTo>
                    <a:pt x="1555" y="1252"/>
                  </a:lnTo>
                  <a:lnTo>
                    <a:pt x="1567" y="1230"/>
                  </a:lnTo>
                  <a:lnTo>
                    <a:pt x="1580" y="1207"/>
                  </a:lnTo>
                  <a:lnTo>
                    <a:pt x="1590" y="1182"/>
                  </a:lnTo>
                  <a:lnTo>
                    <a:pt x="1600" y="1158"/>
                  </a:lnTo>
                  <a:lnTo>
                    <a:pt x="1609" y="1133"/>
                  </a:lnTo>
                  <a:lnTo>
                    <a:pt x="1615" y="1109"/>
                  </a:lnTo>
                  <a:lnTo>
                    <a:pt x="1621" y="1083"/>
                  </a:lnTo>
                  <a:lnTo>
                    <a:pt x="1626" y="1056"/>
                  </a:lnTo>
                  <a:lnTo>
                    <a:pt x="1630" y="1029"/>
                  </a:lnTo>
                  <a:lnTo>
                    <a:pt x="1632" y="1003"/>
                  </a:lnTo>
                  <a:lnTo>
                    <a:pt x="1632" y="975"/>
                  </a:lnTo>
                  <a:lnTo>
                    <a:pt x="1632" y="975"/>
                  </a:lnTo>
                  <a:lnTo>
                    <a:pt x="1630" y="936"/>
                  </a:lnTo>
                  <a:lnTo>
                    <a:pt x="1627" y="898"/>
                  </a:lnTo>
                  <a:lnTo>
                    <a:pt x="1621" y="861"/>
                  </a:lnTo>
                  <a:lnTo>
                    <a:pt x="1612" y="826"/>
                  </a:lnTo>
                  <a:lnTo>
                    <a:pt x="1600" y="792"/>
                  </a:lnTo>
                  <a:lnTo>
                    <a:pt x="1587" y="758"/>
                  </a:lnTo>
                  <a:lnTo>
                    <a:pt x="1570" y="724"/>
                  </a:lnTo>
                  <a:lnTo>
                    <a:pt x="1553" y="693"/>
                  </a:lnTo>
                  <a:lnTo>
                    <a:pt x="1533" y="664"/>
                  </a:lnTo>
                  <a:lnTo>
                    <a:pt x="1512" y="635"/>
                  </a:lnTo>
                  <a:lnTo>
                    <a:pt x="1487" y="609"/>
                  </a:lnTo>
                  <a:lnTo>
                    <a:pt x="1463" y="583"/>
                  </a:lnTo>
                  <a:lnTo>
                    <a:pt x="1435" y="560"/>
                  </a:lnTo>
                  <a:lnTo>
                    <a:pt x="1407" y="538"/>
                  </a:lnTo>
                  <a:lnTo>
                    <a:pt x="1376" y="518"/>
                  </a:lnTo>
                  <a:lnTo>
                    <a:pt x="1346" y="500"/>
                  </a:lnTo>
                  <a:lnTo>
                    <a:pt x="1346" y="500"/>
                  </a:lnTo>
                  <a:close/>
                </a:path>
              </a:pathLst>
            </a:custGeom>
            <a:solidFill>
              <a:srgbClr val="97D653"/>
            </a:solidFill>
            <a:ln>
              <a:solidFill>
                <a:srgbClr val="00B050">
                  <a:alpha val="30000"/>
                </a:srgbClr>
              </a:solidFill>
            </a:ln>
          </p:spPr>
          <p:txBody>
            <a:bodyPr vert="horz" wrap="square" lIns="91440" tIns="45720" rIns="91440" bIns="45720" numCol="1" anchor="t" anchorCtr="0" compatLnSpc="1">
              <a:prstTxWarp prst="textNoShape">
                <a:avLst/>
              </a:prstTxWarp>
            </a:bodyPr>
            <a:lstStyle/>
            <a:p>
              <a:endParaRPr lang="ko-KR" altLang="en-US"/>
            </a:p>
          </p:txBody>
        </p:sp>
        <p:grpSp>
          <p:nvGrpSpPr>
            <p:cNvPr id="46" name="그룹 45">
              <a:extLst>
                <a:ext uri="{FF2B5EF4-FFF2-40B4-BE49-F238E27FC236}">
                  <a16:creationId xmlns:a16="http://schemas.microsoft.com/office/drawing/2014/main" id="{247CA228-DF38-4D02-B975-AF47EA0C3FD4}"/>
                </a:ext>
              </a:extLst>
            </p:cNvPr>
            <p:cNvGrpSpPr/>
            <p:nvPr/>
          </p:nvGrpSpPr>
          <p:grpSpPr>
            <a:xfrm>
              <a:off x="6241367" y="3911853"/>
              <a:ext cx="271990" cy="774775"/>
              <a:chOff x="6998491" y="3230563"/>
              <a:chExt cx="765176" cy="2179637"/>
            </a:xfrm>
          </p:grpSpPr>
          <p:sp>
            <p:nvSpPr>
              <p:cNvPr id="47" name="Line 9">
                <a:extLst>
                  <a:ext uri="{FF2B5EF4-FFF2-40B4-BE49-F238E27FC236}">
                    <a16:creationId xmlns:a16="http://schemas.microsoft.com/office/drawing/2014/main" id="{24EEC96C-12C7-4B92-82A6-E372966F6AF5}"/>
                  </a:ext>
                </a:extLst>
              </p:cNvPr>
              <p:cNvSpPr>
                <a:spLocks noChangeShapeType="1"/>
              </p:cNvSpPr>
              <p:nvPr/>
            </p:nvSpPr>
            <p:spPr bwMode="auto">
              <a:xfrm>
                <a:off x="6998491"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48" name="Line 10">
                <a:extLst>
                  <a:ext uri="{FF2B5EF4-FFF2-40B4-BE49-F238E27FC236}">
                    <a16:creationId xmlns:a16="http://schemas.microsoft.com/office/drawing/2014/main" id="{E76FF3D5-A960-44A4-BD4B-238B9AB43427}"/>
                  </a:ext>
                </a:extLst>
              </p:cNvPr>
              <p:cNvSpPr>
                <a:spLocks noChangeShapeType="1"/>
              </p:cNvSpPr>
              <p:nvPr/>
            </p:nvSpPr>
            <p:spPr bwMode="auto">
              <a:xfrm flipH="1">
                <a:off x="7381079" y="3230563"/>
                <a:ext cx="382588" cy="384175"/>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49" name="Line 11">
                <a:extLst>
                  <a:ext uri="{FF2B5EF4-FFF2-40B4-BE49-F238E27FC236}">
                    <a16:creationId xmlns:a16="http://schemas.microsoft.com/office/drawing/2014/main" id="{A06AE438-3EB0-4469-8DE8-124B9F77267F}"/>
                  </a:ext>
                </a:extLst>
              </p:cNvPr>
              <p:cNvSpPr>
                <a:spLocks noChangeShapeType="1"/>
              </p:cNvSpPr>
              <p:nvPr/>
            </p:nvSpPr>
            <p:spPr bwMode="auto">
              <a:xfrm>
                <a:off x="7381079" y="3614738"/>
                <a:ext cx="0" cy="1795462"/>
              </a:xfrm>
              <a:prstGeom prst="line">
                <a:avLst/>
              </a:prstGeom>
              <a:noFill/>
              <a:ln w="52388">
                <a:solidFill>
                  <a:srgbClr val="6C4127"/>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ko-KR" altLang="en-US"/>
              </a:p>
            </p:txBody>
          </p:sp>
        </p:grpSp>
      </p:grpSp>
    </p:spTree>
    <p:extLst>
      <p:ext uri="{BB962C8B-B14F-4D97-AF65-F5344CB8AC3E}">
        <p14:creationId xmlns:p14="http://schemas.microsoft.com/office/powerpoint/2010/main" val="1257263269"/>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8.2. Bagging &amp; Random Forest</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31DF3F79-726D-45C2-92D6-012109C05F3F}"/>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Random Forest algorithm</a:t>
            </a:r>
          </a:p>
        </p:txBody>
      </p:sp>
      <p:sp>
        <p:nvSpPr>
          <p:cNvPr id="13" name="직사각형 12">
            <a:extLst>
              <a:ext uri="{FF2B5EF4-FFF2-40B4-BE49-F238E27FC236}">
                <a16:creationId xmlns:a16="http://schemas.microsoft.com/office/drawing/2014/main" id="{92719FB5-A059-4B73-BE02-3E1E95CD6D7D}"/>
              </a:ext>
            </a:extLst>
          </p:cNvPr>
          <p:cNvSpPr/>
          <p:nvPr/>
        </p:nvSpPr>
        <p:spPr>
          <a:xfrm>
            <a:off x="675556" y="1700213"/>
            <a:ext cx="8632825" cy="125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defTabSz="914400" latinLnBrk="1">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1) Make trees with randomly selected variables and observations.</a:t>
            </a:r>
          </a:p>
          <a:p>
            <a:pPr defTabSz="914400" latinLnBrk="1">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2) Keep only those with the lowest Gini impurity (or entropy).</a:t>
            </a:r>
          </a:p>
          <a:p>
            <a:pPr defTabSz="914400" latinLnBrk="1">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3) Repeat from step 1) a given number of times. </a:t>
            </a:r>
          </a:p>
          <a:p>
            <a:pPr defTabSz="914400" latinLnBrk="1">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4) Using the trees gathered during the training step, we can make predictions by majority vote. </a:t>
            </a:r>
          </a:p>
        </p:txBody>
      </p:sp>
    </p:spTree>
    <p:extLst>
      <p:ext uri="{BB962C8B-B14F-4D97-AF65-F5344CB8AC3E}">
        <p14:creationId xmlns:p14="http://schemas.microsoft.com/office/powerpoint/2010/main" val="3818348702"/>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8.2. Bagging &amp; Random Forest</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31DF3F79-726D-45C2-92D6-012109C05F3F}"/>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 </a:t>
            </a:r>
            <a:r>
              <a:rPr lang="en-US" altLang="ko-KR" sz="1400" dirty="0" err="1">
                <a:solidFill>
                  <a:schemeClr val="tx1"/>
                </a:solidFill>
                <a:latin typeface="SamsungOne 400" panose="020B0503030303020204" pitchFamily="34" charset="0"/>
                <a:ea typeface="SamsungOne 400" panose="020B0503030303020204" pitchFamily="34" charset="0"/>
              </a:rPr>
              <a:t>RandomForestClassifier</a:t>
            </a:r>
            <a:r>
              <a:rPr lang="en-US" altLang="ko-KR" sz="1400" dirty="0">
                <a:solidFill>
                  <a:schemeClr val="tx1"/>
                </a:solidFill>
                <a:latin typeface="SamsungOne 400" panose="020B0503030303020204" pitchFamily="34" charset="0"/>
                <a:ea typeface="SamsungOne 400" panose="020B0503030303020204" pitchFamily="34" charset="0"/>
              </a:rPr>
              <a:t>/Regressor Hyperparameters:</a:t>
            </a:r>
          </a:p>
        </p:txBody>
      </p:sp>
      <p:graphicFrame>
        <p:nvGraphicFramePr>
          <p:cNvPr id="7" name="표 6">
            <a:extLst>
              <a:ext uri="{FF2B5EF4-FFF2-40B4-BE49-F238E27FC236}">
                <a16:creationId xmlns:a16="http://schemas.microsoft.com/office/drawing/2014/main" id="{E09055B3-D871-4CD5-AFAA-AA9B0D00D347}"/>
              </a:ext>
            </a:extLst>
          </p:cNvPr>
          <p:cNvGraphicFramePr>
            <a:graphicFrameLocks noGrp="1"/>
          </p:cNvGraphicFramePr>
          <p:nvPr>
            <p:extLst>
              <p:ext uri="{D42A27DB-BD31-4B8C-83A1-F6EECF244321}">
                <p14:modId xmlns:p14="http://schemas.microsoft.com/office/powerpoint/2010/main" val="2887760593"/>
              </p:ext>
            </p:extLst>
          </p:nvPr>
        </p:nvGraphicFramePr>
        <p:xfrm>
          <a:off x="666749" y="1773238"/>
          <a:ext cx="8677275" cy="2036345"/>
        </p:xfrm>
        <a:graphic>
          <a:graphicData uri="http://schemas.openxmlformats.org/drawingml/2006/table">
            <a:tbl>
              <a:tblPr firstRow="1" bandRow="1">
                <a:tableStyleId>{5940675A-B579-460E-94D1-54222C63F5DA}</a:tableStyleId>
              </a:tblPr>
              <a:tblGrid>
                <a:gridCol w="2341809">
                  <a:extLst>
                    <a:ext uri="{9D8B030D-6E8A-4147-A177-3AD203B41FA5}">
                      <a16:colId xmlns:a16="http://schemas.microsoft.com/office/drawing/2014/main" val="4023989761"/>
                    </a:ext>
                  </a:extLst>
                </a:gridCol>
                <a:gridCol w="6335466">
                  <a:extLst>
                    <a:ext uri="{9D8B030D-6E8A-4147-A177-3AD203B41FA5}">
                      <a16:colId xmlns:a16="http://schemas.microsoft.com/office/drawing/2014/main" val="1127139662"/>
                    </a:ext>
                  </a:extLst>
                </a:gridCol>
              </a:tblGrid>
              <a:tr h="283343">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Hyperparameter</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base" latinLnBrk="1" hangingPunct="1">
                        <a:lnSpc>
                          <a:spcPct val="100000"/>
                        </a:lnSpc>
                        <a:spcBef>
                          <a:spcPts val="0"/>
                        </a:spcBef>
                        <a:spcAft>
                          <a:spcPts val="0"/>
                        </a:spcAft>
                        <a:buClrTx/>
                        <a:buSzTx/>
                        <a:buFontTx/>
                        <a:buNone/>
                        <a:tabLst/>
                        <a:defRPr/>
                      </a:pPr>
                      <a:r>
                        <a:rPr lang="en-US" altLang="ko-KR"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rPr>
                        <a:t>Explanation</a:t>
                      </a:r>
                      <a:endParaRPr lang="ko-KR" altLang="en-US" sz="1400" b="0" kern="1200" dirty="0">
                        <a:gradFill>
                          <a:gsLst>
                            <a:gs pos="0">
                              <a:srgbClr val="1D48D1"/>
                            </a:gs>
                            <a:gs pos="100000">
                              <a:srgbClr val="1D48D1"/>
                            </a:gs>
                          </a:gsLst>
                          <a:lin ang="5400000" scaled="1"/>
                        </a:gra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7729922"/>
                  </a:ext>
                </a:extLst>
              </a:tr>
              <a:tr h="346309">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n_estimators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80000"/>
                        </a:lnSpc>
                        <a:spcAft>
                          <a:spcPts val="2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number of trees in the forest</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417462398"/>
                  </a:ext>
                </a:extLst>
              </a:tr>
              <a:tr h="346309">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max_depth</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80000"/>
                        </a:lnSpc>
                        <a:spcAft>
                          <a:spcPts val="2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maximum depth of a tree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97506961"/>
                  </a:ext>
                </a:extLst>
              </a:tr>
              <a:tr h="346309">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min_samples_leaf</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80000"/>
                        </a:lnSpc>
                        <a:spcAft>
                          <a:spcPts val="2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minimum number of sample points required to be at a leaf node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58278547"/>
                  </a:ext>
                </a:extLst>
              </a:tr>
              <a:tr h="346309">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min_samples_split</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80000"/>
                        </a:lnSpc>
                        <a:spcAft>
                          <a:spcPts val="2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minimum number of sample points required to split an internal node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71226744"/>
                  </a:ext>
                </a:extLst>
              </a:tr>
              <a:tr h="346309">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max_features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80000"/>
                        </a:lnSpc>
                        <a:spcAft>
                          <a:spcPts val="2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number of features to consider when looking for the best split</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755441991"/>
                  </a:ext>
                </a:extLst>
              </a:tr>
            </a:tbl>
          </a:graphicData>
        </a:graphic>
      </p:graphicFrame>
      <p:sp>
        <p:nvSpPr>
          <p:cNvPr id="8" name="직사각형 7">
            <a:extLst>
              <a:ext uri="{FF2B5EF4-FFF2-40B4-BE49-F238E27FC236}">
                <a16:creationId xmlns:a16="http://schemas.microsoft.com/office/drawing/2014/main" id="{12F252D9-1B9E-4417-8D70-E76E77D06FB4}"/>
              </a:ext>
            </a:extLst>
          </p:cNvPr>
          <p:cNvSpPr/>
          <p:nvPr/>
        </p:nvSpPr>
        <p:spPr>
          <a:xfrm>
            <a:off x="675071" y="3939227"/>
            <a:ext cx="8632825" cy="13483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Except for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n_estimators</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the rest are analogous to those of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DecisionTreeClassifier</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/Regressor.</a:t>
            </a:r>
          </a:p>
          <a:p>
            <a:pPr marL="182526" indent="-182526">
              <a:lnSpc>
                <a:spcPct val="150000"/>
              </a:lnSpc>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More information can be found at:</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br>
            <a: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Classifier: </a:t>
            </a:r>
            <a: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hlinkClick r:id="rId4"/>
              </a:rPr>
              <a:t>https://scikit-learn.org/stable/modules/generated/sklearn.ensemble.RandomForestClassifier.html</a:t>
            </a:r>
            <a: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a:t>
            </a:r>
            <a:b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br>
            <a:r>
              <a:rPr lang="pt-B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Regressor: </a:t>
            </a:r>
            <a:r>
              <a:rPr lang="pt-B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hlinkClick r:id="rId5"/>
              </a:rPr>
              <a:t>https://scikit-learn.org/stable/modules/generated/sklearn.ensemble.RandomForestRegressor.html</a:t>
            </a:r>
            <a:r>
              <a:rPr lang="pt-B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endParaRPr>
          </a:p>
        </p:txBody>
      </p:sp>
    </p:spTree>
    <p:extLst>
      <p:ext uri="{BB962C8B-B14F-4D97-AF65-F5344CB8AC3E}">
        <p14:creationId xmlns:p14="http://schemas.microsoft.com/office/powerpoint/2010/main" val="876428274"/>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8.2. Bagging &amp; Random Forest</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31DF3F79-726D-45C2-92D6-012109C05F3F}"/>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Bagging</a:t>
            </a:r>
          </a:p>
        </p:txBody>
      </p:sp>
      <p:sp>
        <p:nvSpPr>
          <p:cNvPr id="9" name="직사각형 8">
            <a:extLst>
              <a:ext uri="{FF2B5EF4-FFF2-40B4-BE49-F238E27FC236}">
                <a16:creationId xmlns:a16="http://schemas.microsoft.com/office/drawing/2014/main" id="{03417BCA-4887-40DC-B970-B8E08C15C721}"/>
              </a:ext>
            </a:extLst>
          </p:cNvPr>
          <p:cNvSpPr/>
          <p:nvPr/>
        </p:nvSpPr>
        <p:spPr>
          <a:xfrm>
            <a:off x="675556" y="1700213"/>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Bagging-based ensemble method</a:t>
            </a:r>
          </a:p>
        </p:txBody>
      </p:sp>
      <p:grpSp>
        <p:nvGrpSpPr>
          <p:cNvPr id="10" name="그룹 9">
            <a:extLst>
              <a:ext uri="{FF2B5EF4-FFF2-40B4-BE49-F238E27FC236}">
                <a16:creationId xmlns:a16="http://schemas.microsoft.com/office/drawing/2014/main" id="{B3F5FA5E-FDD4-475B-BCEA-3A0EFAE28BDA}"/>
              </a:ext>
            </a:extLst>
          </p:cNvPr>
          <p:cNvGrpSpPr/>
          <p:nvPr/>
        </p:nvGrpSpPr>
        <p:grpSpPr>
          <a:xfrm>
            <a:off x="846956" y="2020691"/>
            <a:ext cx="7308261" cy="1253402"/>
            <a:chOff x="903506" y="2436959"/>
            <a:chExt cx="7308261" cy="1253402"/>
          </a:xfrm>
        </p:grpSpPr>
        <p:sp>
          <p:nvSpPr>
            <p:cNvPr id="11" name="사각형: 둥근 모서리 2">
              <a:extLst>
                <a:ext uri="{FF2B5EF4-FFF2-40B4-BE49-F238E27FC236}">
                  <a16:creationId xmlns:a16="http://schemas.microsoft.com/office/drawing/2014/main" id="{C6AD7600-8E18-4161-B28A-8E73FA7102C9}"/>
                </a:ext>
              </a:extLst>
            </p:cNvPr>
            <p:cNvSpPr/>
            <p:nvPr/>
          </p:nvSpPr>
          <p:spPr>
            <a:xfrm>
              <a:off x="903506" y="2490277"/>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13" name="직사각형 12">
              <a:extLst>
                <a:ext uri="{FF2B5EF4-FFF2-40B4-BE49-F238E27FC236}">
                  <a16:creationId xmlns:a16="http://schemas.microsoft.com/office/drawing/2014/main" id="{C2A2E3CE-7589-4D50-83C3-57DFE100566A}"/>
                </a:ext>
              </a:extLst>
            </p:cNvPr>
            <p:cNvSpPr/>
            <p:nvPr/>
          </p:nvSpPr>
          <p:spPr>
            <a:xfrm>
              <a:off x="1279004" y="2436959"/>
              <a:ext cx="6932763" cy="125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0" lvl="1" defTabSz="914400" latinLnBrk="1">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Random Forest algorithm</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Easy to use since it is well constructed in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Sklearn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library</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Relatively quick performance speed</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High performance</a:t>
              </a:r>
            </a:p>
          </p:txBody>
        </p:sp>
      </p:grpSp>
      <p:sp>
        <p:nvSpPr>
          <p:cNvPr id="14" name="직사각형 13">
            <a:extLst>
              <a:ext uri="{FF2B5EF4-FFF2-40B4-BE49-F238E27FC236}">
                <a16:creationId xmlns:a16="http://schemas.microsoft.com/office/drawing/2014/main" id="{179A14DF-1092-4CD5-84D1-20F1061DDD18}"/>
              </a:ext>
            </a:extLst>
          </p:cNvPr>
          <p:cNvSpPr/>
          <p:nvPr/>
        </p:nvSpPr>
        <p:spPr>
          <a:xfrm>
            <a:off x="675556" y="3429000"/>
            <a:ext cx="8632825" cy="545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ensemble method has been widely used as it raises the performance level and is easy to use. The bagging-based ensemble method is commonly found in the high-ranked solutions in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Kaggle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p:txBody>
      </p:sp>
    </p:spTree>
    <p:extLst>
      <p:ext uri="{BB962C8B-B14F-4D97-AF65-F5344CB8AC3E}">
        <p14:creationId xmlns:p14="http://schemas.microsoft.com/office/powerpoint/2010/main" val="2589338294"/>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모서리가 둥근 직사각형 4">
            <a:extLst>
              <a:ext uri="{FF2B5EF4-FFF2-40B4-BE49-F238E27FC236}">
                <a16:creationId xmlns:a16="http://schemas.microsoft.com/office/drawing/2014/main" id="{89E3C7C6-9405-4679-B0C4-BD6C7517F8DE}"/>
              </a:ext>
            </a:extLst>
          </p:cNvPr>
          <p:cNvSpPr/>
          <p:nvPr/>
        </p:nvSpPr>
        <p:spPr>
          <a:xfrm>
            <a:off x="5364230" y="1773237"/>
            <a:ext cx="3968877" cy="406803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SamsungOne 400" panose="020B0503030303020204" pitchFamily="34" charset="0"/>
            </a:endParaRPr>
          </a:p>
        </p:txBody>
      </p:sp>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8.2. Bagging &amp; Random Forest</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31DF3F79-726D-45C2-92D6-012109C05F3F}"/>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Bagging</a:t>
            </a:r>
          </a:p>
        </p:txBody>
      </p:sp>
      <p:grpSp>
        <p:nvGrpSpPr>
          <p:cNvPr id="2" name="그룹 1"/>
          <p:cNvGrpSpPr/>
          <p:nvPr/>
        </p:nvGrpSpPr>
        <p:grpSpPr>
          <a:xfrm>
            <a:off x="558923" y="1773237"/>
            <a:ext cx="4871503" cy="4068031"/>
            <a:chOff x="558923" y="1773237"/>
            <a:chExt cx="4871503" cy="4068031"/>
          </a:xfrm>
        </p:grpSpPr>
        <p:sp>
          <p:nvSpPr>
            <p:cNvPr id="15" name="모서리가 둥근 직사각형 4">
              <a:extLst>
                <a:ext uri="{FF2B5EF4-FFF2-40B4-BE49-F238E27FC236}">
                  <a16:creationId xmlns:a16="http://schemas.microsoft.com/office/drawing/2014/main" id="{34F9BA0A-094D-4665-BB05-1C76C2A169AA}"/>
                </a:ext>
              </a:extLst>
            </p:cNvPr>
            <p:cNvSpPr/>
            <p:nvPr/>
          </p:nvSpPr>
          <p:spPr>
            <a:xfrm>
              <a:off x="558923" y="1773237"/>
              <a:ext cx="4716525" cy="4068031"/>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SamsungOne 400" panose="020B0503030303020204" pitchFamily="34" charset="0"/>
              </a:endParaRPr>
            </a:p>
          </p:txBody>
        </p:sp>
        <p:grpSp>
          <p:nvGrpSpPr>
            <p:cNvPr id="45" name="그룹 44">
              <a:extLst>
                <a:ext uri="{FF2B5EF4-FFF2-40B4-BE49-F238E27FC236}">
                  <a16:creationId xmlns:a16="http://schemas.microsoft.com/office/drawing/2014/main" id="{2C92C0B4-5CB8-43CC-8F34-6BC1E11EEC1C}"/>
                </a:ext>
              </a:extLst>
            </p:cNvPr>
            <p:cNvGrpSpPr/>
            <p:nvPr/>
          </p:nvGrpSpPr>
          <p:grpSpPr>
            <a:xfrm>
              <a:off x="698853" y="1844824"/>
              <a:ext cx="4731573" cy="3830115"/>
              <a:chOff x="698852" y="1844824"/>
              <a:chExt cx="5015844" cy="3830115"/>
            </a:xfrm>
          </p:grpSpPr>
          <p:sp>
            <p:nvSpPr>
              <p:cNvPr id="16" name="직사각형 15">
                <a:extLst>
                  <a:ext uri="{FF2B5EF4-FFF2-40B4-BE49-F238E27FC236}">
                    <a16:creationId xmlns:a16="http://schemas.microsoft.com/office/drawing/2014/main" id="{C037E7C0-3B28-4935-A0C1-26C8539357BC}"/>
                  </a:ext>
                </a:extLst>
              </p:cNvPr>
              <p:cNvSpPr/>
              <p:nvPr/>
            </p:nvSpPr>
            <p:spPr>
              <a:xfrm>
                <a:off x="698852" y="1844824"/>
                <a:ext cx="3248537" cy="36004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a:latin typeface="SamsungOne 400" panose="020B0503030303020204" pitchFamily="34" charset="0"/>
                  </a:rPr>
                  <a:t>Training Set</a:t>
                </a:r>
                <a:endParaRPr lang="en-US" sz="1400" dirty="0">
                  <a:latin typeface="SamsungOne 400" panose="020B0503030303020204" pitchFamily="34" charset="0"/>
                  <a:ea typeface="SamsungOne 400" panose="020B0503030303020204" pitchFamily="34" charset="0"/>
                </a:endParaRPr>
              </a:p>
            </p:txBody>
          </p:sp>
          <p:grpSp>
            <p:nvGrpSpPr>
              <p:cNvPr id="17" name="그룹 16">
                <a:extLst>
                  <a:ext uri="{FF2B5EF4-FFF2-40B4-BE49-F238E27FC236}">
                    <a16:creationId xmlns:a16="http://schemas.microsoft.com/office/drawing/2014/main" id="{D2CFBC13-54FC-45C5-AEE9-A2189928401F}"/>
                  </a:ext>
                </a:extLst>
              </p:cNvPr>
              <p:cNvGrpSpPr/>
              <p:nvPr/>
            </p:nvGrpSpPr>
            <p:grpSpPr>
              <a:xfrm>
                <a:off x="698852" y="2643912"/>
                <a:ext cx="3203252" cy="551322"/>
                <a:chOff x="747398" y="2463892"/>
                <a:chExt cx="4314583" cy="551322"/>
              </a:xfrm>
            </p:grpSpPr>
            <p:sp>
              <p:nvSpPr>
                <p:cNvPr id="18" name="직사각형 17">
                  <a:extLst>
                    <a:ext uri="{FF2B5EF4-FFF2-40B4-BE49-F238E27FC236}">
                      <a16:creationId xmlns:a16="http://schemas.microsoft.com/office/drawing/2014/main" id="{629B1DB0-410A-4A7A-ABC1-7EC8022D909C}"/>
                    </a:ext>
                  </a:extLst>
                </p:cNvPr>
                <p:cNvSpPr/>
                <p:nvPr/>
              </p:nvSpPr>
              <p:spPr>
                <a:xfrm>
                  <a:off x="747398" y="2463892"/>
                  <a:ext cx="996155" cy="5513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a:latin typeface="SamsungOne 400" panose="020B0503030303020204" pitchFamily="34" charset="0"/>
                    </a:rPr>
                    <a:t>Sample</a:t>
                  </a:r>
                  <a:r>
                    <a:rPr lang="ko-KR" altLang="en-US" sz="1100" dirty="0">
                      <a:latin typeface="SamsungOne 400" panose="020B0503030303020204" pitchFamily="34" charset="0"/>
                    </a:rPr>
                    <a:t> </a:t>
                  </a:r>
                  <a:r>
                    <a:rPr lang="en-US" altLang="ko-KR" sz="1100" dirty="0">
                      <a:latin typeface="SamsungOne 400" panose="020B0503030303020204" pitchFamily="34" charset="0"/>
                    </a:rPr>
                    <a:t>1</a:t>
                  </a:r>
                  <a:endParaRPr lang="en-US" sz="1100" dirty="0">
                    <a:latin typeface="SamsungOne 400" panose="020B0503030303020204" pitchFamily="34" charset="0"/>
                    <a:ea typeface="SamsungOne 400" panose="020B0503030303020204" pitchFamily="34" charset="0"/>
                  </a:endParaRPr>
                </a:p>
              </p:txBody>
            </p:sp>
            <p:sp>
              <p:nvSpPr>
                <p:cNvPr id="19" name="직사각형 18">
                  <a:extLst>
                    <a:ext uri="{FF2B5EF4-FFF2-40B4-BE49-F238E27FC236}">
                      <a16:creationId xmlns:a16="http://schemas.microsoft.com/office/drawing/2014/main" id="{BF581DF2-6CD3-47B0-AF4D-EE194A89AE0D}"/>
                    </a:ext>
                  </a:extLst>
                </p:cNvPr>
                <p:cNvSpPr/>
                <p:nvPr/>
              </p:nvSpPr>
              <p:spPr>
                <a:xfrm>
                  <a:off x="2246767" y="2463892"/>
                  <a:ext cx="996155" cy="5513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a:latin typeface="SamsungOne 400" panose="020B0503030303020204" pitchFamily="34" charset="0"/>
                    </a:rPr>
                    <a:t>Sample</a:t>
                  </a:r>
                  <a:r>
                    <a:rPr lang="ko-KR" altLang="en-US" sz="1100" dirty="0">
                      <a:latin typeface="SamsungOne 400" panose="020B0503030303020204" pitchFamily="34" charset="0"/>
                    </a:rPr>
                    <a:t> </a:t>
                  </a:r>
                  <a:r>
                    <a:rPr lang="en-US" altLang="ko-KR" sz="1100" dirty="0">
                      <a:latin typeface="SamsungOne 400" panose="020B0503030303020204" pitchFamily="34" charset="0"/>
                    </a:rPr>
                    <a:t>2</a:t>
                  </a:r>
                  <a:endParaRPr lang="en-US" sz="1100" dirty="0">
                    <a:latin typeface="SamsungOne 400" panose="020B0503030303020204" pitchFamily="34" charset="0"/>
                    <a:ea typeface="SamsungOne 400" panose="020B0503030303020204" pitchFamily="34" charset="0"/>
                  </a:endParaRPr>
                </a:p>
              </p:txBody>
            </p:sp>
            <p:sp>
              <p:nvSpPr>
                <p:cNvPr id="20" name="직사각형 19">
                  <a:extLst>
                    <a:ext uri="{FF2B5EF4-FFF2-40B4-BE49-F238E27FC236}">
                      <a16:creationId xmlns:a16="http://schemas.microsoft.com/office/drawing/2014/main" id="{D9707685-88A6-444C-A280-00F30F66C19B}"/>
                    </a:ext>
                  </a:extLst>
                </p:cNvPr>
                <p:cNvSpPr/>
                <p:nvPr/>
              </p:nvSpPr>
              <p:spPr>
                <a:xfrm>
                  <a:off x="4065826" y="2463892"/>
                  <a:ext cx="996155" cy="5513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a:latin typeface="SamsungOne 400" panose="020B0503030303020204" pitchFamily="34" charset="0"/>
                    </a:rPr>
                    <a:t>Sample</a:t>
                  </a:r>
                  <a:r>
                    <a:rPr lang="ko-KR" altLang="en-US" sz="1100" dirty="0">
                      <a:latin typeface="SamsungOne 400" panose="020B0503030303020204" pitchFamily="34" charset="0"/>
                    </a:rPr>
                    <a:t> </a:t>
                  </a:r>
                  <a:r>
                    <a:rPr lang="en-US" altLang="ko-KR" sz="1100" dirty="0">
                      <a:latin typeface="SamsungOne 400" panose="020B0503030303020204" pitchFamily="34" charset="0"/>
                    </a:rPr>
                    <a:t>3</a:t>
                  </a:r>
                  <a:endParaRPr lang="en-US" sz="1100" dirty="0">
                    <a:latin typeface="SamsungOne 400" panose="020B0503030303020204" pitchFamily="34" charset="0"/>
                    <a:ea typeface="SamsungOne 400" panose="020B0503030303020204" pitchFamily="34" charset="0"/>
                  </a:endParaRPr>
                </a:p>
              </p:txBody>
            </p:sp>
          </p:grpSp>
          <p:grpSp>
            <p:nvGrpSpPr>
              <p:cNvPr id="44" name="그룹 43">
                <a:extLst>
                  <a:ext uri="{FF2B5EF4-FFF2-40B4-BE49-F238E27FC236}">
                    <a16:creationId xmlns:a16="http://schemas.microsoft.com/office/drawing/2014/main" id="{FFF18F85-FD30-4AD6-8C5A-9847EA1B7ED8}"/>
                  </a:ext>
                </a:extLst>
              </p:cNvPr>
              <p:cNvGrpSpPr/>
              <p:nvPr/>
            </p:nvGrpSpPr>
            <p:grpSpPr>
              <a:xfrm>
                <a:off x="847316" y="4053169"/>
                <a:ext cx="2907115" cy="456282"/>
                <a:chOff x="847316" y="3806004"/>
                <a:chExt cx="2907115" cy="456282"/>
              </a:xfrm>
            </p:grpSpPr>
            <p:sp>
              <p:nvSpPr>
                <p:cNvPr id="21" name="타원 20">
                  <a:extLst>
                    <a:ext uri="{FF2B5EF4-FFF2-40B4-BE49-F238E27FC236}">
                      <a16:creationId xmlns:a16="http://schemas.microsoft.com/office/drawing/2014/main" id="{F0F31F86-4FDF-49E4-99C1-2C15CDF8304D}"/>
                    </a:ext>
                  </a:extLst>
                </p:cNvPr>
                <p:cNvSpPr/>
                <p:nvPr/>
              </p:nvSpPr>
              <p:spPr>
                <a:xfrm>
                  <a:off x="847316" y="3806004"/>
                  <a:ext cx="436326" cy="4356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46800" rtlCol="0" anchor="ctr"/>
                <a:lstStyle/>
                <a:p>
                  <a:pPr algn="ctr"/>
                  <a:r>
                    <a:rPr lang="en-US" sz="1200" b="1" dirty="0">
                      <a:latin typeface="SamsungOne 400" panose="020B0503030303020204" pitchFamily="34" charset="0"/>
                      <a:ea typeface="SamsungOne 400" panose="020B0503030303020204" pitchFamily="34" charset="0"/>
                    </a:rPr>
                    <a:t>P1</a:t>
                  </a:r>
                </a:p>
              </p:txBody>
            </p:sp>
            <p:sp>
              <p:nvSpPr>
                <p:cNvPr id="22" name="타원 21">
                  <a:extLst>
                    <a:ext uri="{FF2B5EF4-FFF2-40B4-BE49-F238E27FC236}">
                      <a16:creationId xmlns:a16="http://schemas.microsoft.com/office/drawing/2014/main" id="{DF44B6C2-C7DE-42D9-BA78-9E920878EFA2}"/>
                    </a:ext>
                  </a:extLst>
                </p:cNvPr>
                <p:cNvSpPr/>
                <p:nvPr/>
              </p:nvSpPr>
              <p:spPr>
                <a:xfrm>
                  <a:off x="1963641" y="3816518"/>
                  <a:ext cx="436326" cy="4356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46800" rtlCol="0" anchor="ctr"/>
                <a:lstStyle/>
                <a:p>
                  <a:pPr algn="ctr"/>
                  <a:r>
                    <a:rPr lang="en-US" sz="1200" b="1" dirty="0">
                      <a:latin typeface="SamsungOne 400" panose="020B0503030303020204" pitchFamily="34" charset="0"/>
                      <a:ea typeface="SamsungOne 400" panose="020B0503030303020204" pitchFamily="34" charset="0"/>
                    </a:rPr>
                    <a:t>P2</a:t>
                  </a:r>
                </a:p>
              </p:txBody>
            </p:sp>
            <p:sp>
              <p:nvSpPr>
                <p:cNvPr id="26" name="타원 25">
                  <a:extLst>
                    <a:ext uri="{FF2B5EF4-FFF2-40B4-BE49-F238E27FC236}">
                      <a16:creationId xmlns:a16="http://schemas.microsoft.com/office/drawing/2014/main" id="{ABF25445-CF21-4F16-816A-65190891ADDD}"/>
                    </a:ext>
                  </a:extLst>
                </p:cNvPr>
                <p:cNvSpPr/>
                <p:nvPr/>
              </p:nvSpPr>
              <p:spPr>
                <a:xfrm>
                  <a:off x="3318105" y="3826686"/>
                  <a:ext cx="436326" cy="4356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46800" rtlCol="0" anchor="ctr"/>
                <a:lstStyle/>
                <a:p>
                  <a:pPr algn="ctr"/>
                  <a:r>
                    <a:rPr lang="en-US" sz="1200" b="1" dirty="0" err="1">
                      <a:latin typeface="SamsungOne 400" panose="020B0503030303020204" pitchFamily="34" charset="0"/>
                      <a:ea typeface="SamsungOne 400" panose="020B0503030303020204" pitchFamily="34" charset="0"/>
                    </a:rPr>
                    <a:t>Pn</a:t>
                  </a:r>
                  <a:endParaRPr lang="en-US" sz="1200" b="1" dirty="0">
                    <a:latin typeface="SamsungOne 400" panose="020B0503030303020204" pitchFamily="34" charset="0"/>
                    <a:ea typeface="SamsungOne 400" panose="020B0503030303020204" pitchFamily="34" charset="0"/>
                  </a:endParaRPr>
                </a:p>
              </p:txBody>
            </p:sp>
          </p:grpSp>
          <p:sp>
            <p:nvSpPr>
              <p:cNvPr id="27" name="순서도: 병합 26">
                <a:extLst>
                  <a:ext uri="{FF2B5EF4-FFF2-40B4-BE49-F238E27FC236}">
                    <a16:creationId xmlns:a16="http://schemas.microsoft.com/office/drawing/2014/main" id="{BC8D12FD-91CE-444F-A6BC-F06BC9D09D8F}"/>
                  </a:ext>
                </a:extLst>
              </p:cNvPr>
              <p:cNvSpPr/>
              <p:nvPr/>
            </p:nvSpPr>
            <p:spPr>
              <a:xfrm>
                <a:off x="1129420" y="4573843"/>
                <a:ext cx="2359963" cy="645150"/>
              </a:xfrm>
              <a:prstGeom prst="flowChartMerg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latin typeface="SamsungOne 400" panose="020B0503030303020204" pitchFamily="34" charset="0"/>
                    <a:ea typeface="SamsungOne 400" panose="020B0503030303020204" pitchFamily="34" charset="0"/>
                  </a:rPr>
                  <a:t>Voting</a:t>
                </a:r>
              </a:p>
            </p:txBody>
          </p:sp>
          <p:sp>
            <p:nvSpPr>
              <p:cNvPr id="28" name="직사각형 27">
                <a:extLst>
                  <a:ext uri="{FF2B5EF4-FFF2-40B4-BE49-F238E27FC236}">
                    <a16:creationId xmlns:a16="http://schemas.microsoft.com/office/drawing/2014/main" id="{F30D63A8-3EB5-49D9-940C-A1C5F14E9EB3}"/>
                  </a:ext>
                </a:extLst>
              </p:cNvPr>
              <p:cNvSpPr/>
              <p:nvPr/>
            </p:nvSpPr>
            <p:spPr>
              <a:xfrm>
                <a:off x="698852" y="5282356"/>
                <a:ext cx="3242085" cy="392583"/>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a:latin typeface="SamsungOne 400" panose="020B0503030303020204" pitchFamily="34" charset="0"/>
                  </a:rPr>
                  <a:t>Final PI</a:t>
                </a:r>
                <a:endParaRPr lang="en-US" sz="1400" dirty="0">
                  <a:latin typeface="SamsungOne 400" panose="020B0503030303020204" pitchFamily="34" charset="0"/>
                  <a:ea typeface="SamsungOne 400" panose="020B0503030303020204" pitchFamily="34" charset="0"/>
                </a:endParaRPr>
              </a:p>
            </p:txBody>
          </p:sp>
          <p:cxnSp>
            <p:nvCxnSpPr>
              <p:cNvPr id="29" name="연결선: 꺾임 28">
                <a:extLst>
                  <a:ext uri="{FF2B5EF4-FFF2-40B4-BE49-F238E27FC236}">
                    <a16:creationId xmlns:a16="http://schemas.microsoft.com/office/drawing/2014/main" id="{911D8478-3004-4AE3-92F0-A2C3C547020F}"/>
                  </a:ext>
                </a:extLst>
              </p:cNvPr>
              <p:cNvCxnSpPr>
                <a:cxnSpLocks/>
                <a:stCxn id="16" idx="2"/>
                <a:endCxn id="18" idx="0"/>
              </p:cNvCxnSpPr>
              <p:nvPr/>
            </p:nvCxnSpPr>
            <p:spPr>
              <a:xfrm rot="5400000">
                <a:off x="1476355" y="1797146"/>
                <a:ext cx="439048" cy="1254483"/>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연결선: 꺾임 29">
                <a:extLst>
                  <a:ext uri="{FF2B5EF4-FFF2-40B4-BE49-F238E27FC236}">
                    <a16:creationId xmlns:a16="http://schemas.microsoft.com/office/drawing/2014/main" id="{AFE0F7FB-9DEC-4ED6-A87C-BD90464718E8}"/>
                  </a:ext>
                </a:extLst>
              </p:cNvPr>
              <p:cNvCxnSpPr>
                <a:cxnSpLocks/>
                <a:stCxn id="16" idx="2"/>
                <a:endCxn id="19" idx="0"/>
              </p:cNvCxnSpPr>
              <p:nvPr/>
            </p:nvCxnSpPr>
            <p:spPr>
              <a:xfrm rot="5400000">
                <a:off x="2032939" y="2353731"/>
                <a:ext cx="439048" cy="141315"/>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연결선: 꺾임 30">
                <a:extLst>
                  <a:ext uri="{FF2B5EF4-FFF2-40B4-BE49-F238E27FC236}">
                    <a16:creationId xmlns:a16="http://schemas.microsoft.com/office/drawing/2014/main" id="{BE89BCAD-D783-4260-A045-B83334EB15A8}"/>
                  </a:ext>
                </a:extLst>
              </p:cNvPr>
              <p:cNvCxnSpPr>
                <a:cxnSpLocks/>
                <a:stCxn id="16" idx="2"/>
                <a:endCxn id="20" idx="0"/>
              </p:cNvCxnSpPr>
              <p:nvPr/>
            </p:nvCxnSpPr>
            <p:spPr>
              <a:xfrm rot="16200000" flipH="1">
                <a:off x="2708196" y="1819789"/>
                <a:ext cx="439048" cy="1209199"/>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0320E499-DC55-45F6-80C9-8B4F62DD6F97}"/>
                  </a:ext>
                </a:extLst>
              </p:cNvPr>
              <p:cNvSpPr txBox="1"/>
              <p:nvPr/>
            </p:nvSpPr>
            <p:spPr>
              <a:xfrm>
                <a:off x="2639637" y="2689832"/>
                <a:ext cx="440439" cy="369332"/>
              </a:xfrm>
              <a:prstGeom prst="rect">
                <a:avLst/>
              </a:prstGeom>
              <a:noFill/>
            </p:spPr>
            <p:txBody>
              <a:bodyPr wrap="square">
                <a:spAutoFit/>
              </a:bodyPr>
              <a:lstStyle/>
              <a:p>
                <a:pPr algn="ctr"/>
                <a:r>
                  <a:rPr lang="en-US" altLang="ko-KR" sz="1800" dirty="0">
                    <a:solidFill>
                      <a:schemeClr val="tx1"/>
                    </a:solidFill>
                    <a:latin typeface="SamsungOne 400" panose="020B0503030303020204" pitchFamily="34" charset="0"/>
                    <a:ea typeface="SamsungOne 400" panose="020B0503030303020204" pitchFamily="34" charset="0"/>
                  </a:rPr>
                  <a:t>…</a:t>
                </a:r>
                <a:endParaRPr lang="ko-KR" altLang="en-US" dirty="0"/>
              </a:p>
            </p:txBody>
          </p:sp>
          <p:grpSp>
            <p:nvGrpSpPr>
              <p:cNvPr id="40" name="그룹 39">
                <a:extLst>
                  <a:ext uri="{FF2B5EF4-FFF2-40B4-BE49-F238E27FC236}">
                    <a16:creationId xmlns:a16="http://schemas.microsoft.com/office/drawing/2014/main" id="{7367170A-DEFD-46F1-8159-EAC184EE079B}"/>
                  </a:ext>
                </a:extLst>
              </p:cNvPr>
              <p:cNvGrpSpPr/>
              <p:nvPr/>
            </p:nvGrpSpPr>
            <p:grpSpPr>
              <a:xfrm>
                <a:off x="698852" y="3243682"/>
                <a:ext cx="3203252" cy="722941"/>
                <a:chOff x="747398" y="2463892"/>
                <a:chExt cx="4314583" cy="551322"/>
              </a:xfrm>
            </p:grpSpPr>
            <p:sp>
              <p:nvSpPr>
                <p:cNvPr id="41" name="직사각형 40">
                  <a:extLst>
                    <a:ext uri="{FF2B5EF4-FFF2-40B4-BE49-F238E27FC236}">
                      <a16:creationId xmlns:a16="http://schemas.microsoft.com/office/drawing/2014/main" id="{7A82A87A-D82D-44D4-A7D5-D317B2EDBE2A}"/>
                    </a:ext>
                  </a:extLst>
                </p:cNvPr>
                <p:cNvSpPr/>
                <p:nvPr/>
              </p:nvSpPr>
              <p:spPr>
                <a:xfrm>
                  <a:off x="747398" y="2463892"/>
                  <a:ext cx="996155" cy="5513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50" dirty="0">
                      <a:latin typeface="SamsungOne 400" panose="020B0503030303020204" pitchFamily="34" charset="0"/>
                    </a:rPr>
                    <a:t>Decision Tree</a:t>
                  </a:r>
                  <a:endParaRPr lang="en-US" sz="1050" dirty="0">
                    <a:latin typeface="SamsungOne 400" panose="020B0503030303020204" pitchFamily="34" charset="0"/>
                    <a:ea typeface="SamsungOne 400" panose="020B0503030303020204" pitchFamily="34" charset="0"/>
                  </a:endParaRPr>
                </a:p>
              </p:txBody>
            </p:sp>
            <p:sp>
              <p:nvSpPr>
                <p:cNvPr id="42" name="직사각형 41">
                  <a:extLst>
                    <a:ext uri="{FF2B5EF4-FFF2-40B4-BE49-F238E27FC236}">
                      <a16:creationId xmlns:a16="http://schemas.microsoft.com/office/drawing/2014/main" id="{92F86591-06B5-40A8-8643-56CD83E8F292}"/>
                    </a:ext>
                  </a:extLst>
                </p:cNvPr>
                <p:cNvSpPr/>
                <p:nvPr/>
              </p:nvSpPr>
              <p:spPr>
                <a:xfrm>
                  <a:off x="2246767" y="2463892"/>
                  <a:ext cx="996155" cy="5513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50" dirty="0">
                      <a:latin typeface="SamsungOne 400" panose="020B0503030303020204" pitchFamily="34" charset="0"/>
                    </a:rPr>
                    <a:t>Decision Tree</a:t>
                  </a:r>
                  <a:endParaRPr lang="en-US" altLang="x-none" sz="1050" dirty="0">
                    <a:latin typeface="SamsungOne 400" panose="020B0503030303020204" pitchFamily="34" charset="0"/>
                    <a:ea typeface="SamsungOne 400" panose="020B0503030303020204" pitchFamily="34" charset="0"/>
                  </a:endParaRPr>
                </a:p>
              </p:txBody>
            </p:sp>
            <p:sp>
              <p:nvSpPr>
                <p:cNvPr id="43" name="직사각형 42">
                  <a:extLst>
                    <a:ext uri="{FF2B5EF4-FFF2-40B4-BE49-F238E27FC236}">
                      <a16:creationId xmlns:a16="http://schemas.microsoft.com/office/drawing/2014/main" id="{35035C0B-EE40-4BD2-ABCC-95B688E6FD24}"/>
                    </a:ext>
                  </a:extLst>
                </p:cNvPr>
                <p:cNvSpPr/>
                <p:nvPr/>
              </p:nvSpPr>
              <p:spPr>
                <a:xfrm>
                  <a:off x="4065826" y="2463892"/>
                  <a:ext cx="996155" cy="5513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50" dirty="0">
                      <a:latin typeface="SamsungOne 400" panose="020B0503030303020204" pitchFamily="34" charset="0"/>
                    </a:rPr>
                    <a:t>Decision Tree</a:t>
                  </a:r>
                  <a:endParaRPr lang="en-US" altLang="x-none" sz="1050" dirty="0">
                    <a:latin typeface="SamsungOne 400" panose="020B0503030303020204" pitchFamily="34" charset="0"/>
                    <a:ea typeface="SamsungOne 400" panose="020B0503030303020204" pitchFamily="34" charset="0"/>
                  </a:endParaRPr>
                </a:p>
              </p:txBody>
            </p:sp>
          </p:grpSp>
          <p:sp>
            <p:nvSpPr>
              <p:cNvPr id="46" name="TextBox 45">
                <a:extLst>
                  <a:ext uri="{FF2B5EF4-FFF2-40B4-BE49-F238E27FC236}">
                    <a16:creationId xmlns:a16="http://schemas.microsoft.com/office/drawing/2014/main" id="{C344046C-BF84-41E3-8C7B-7DB30BCBF59F}"/>
                  </a:ext>
                </a:extLst>
              </p:cNvPr>
              <p:cNvSpPr txBox="1"/>
              <p:nvPr/>
            </p:nvSpPr>
            <p:spPr>
              <a:xfrm>
                <a:off x="2639637" y="3361384"/>
                <a:ext cx="440439" cy="369332"/>
              </a:xfrm>
              <a:prstGeom prst="rect">
                <a:avLst/>
              </a:prstGeom>
              <a:noFill/>
            </p:spPr>
            <p:txBody>
              <a:bodyPr wrap="square">
                <a:spAutoFit/>
              </a:bodyPr>
              <a:lstStyle/>
              <a:p>
                <a:pPr algn="ctr"/>
                <a:r>
                  <a:rPr lang="en-US" altLang="ko-KR" sz="1800" dirty="0">
                    <a:solidFill>
                      <a:schemeClr val="tx1"/>
                    </a:solidFill>
                    <a:latin typeface="SamsungOne 400" panose="020B0503030303020204" pitchFamily="34" charset="0"/>
                    <a:ea typeface="SamsungOne 400" panose="020B0503030303020204" pitchFamily="34" charset="0"/>
                  </a:rPr>
                  <a:t>…</a:t>
                </a:r>
                <a:endParaRPr lang="ko-KR" altLang="en-US" dirty="0"/>
              </a:p>
            </p:txBody>
          </p:sp>
          <p:sp>
            <p:nvSpPr>
              <p:cNvPr id="48" name="TextBox 47">
                <a:extLst>
                  <a:ext uri="{FF2B5EF4-FFF2-40B4-BE49-F238E27FC236}">
                    <a16:creationId xmlns:a16="http://schemas.microsoft.com/office/drawing/2014/main" id="{DEA940AF-CFA0-4C68-BEEC-563BDA46FAB0}"/>
                  </a:ext>
                </a:extLst>
              </p:cNvPr>
              <p:cNvSpPr txBox="1"/>
              <p:nvPr/>
            </p:nvSpPr>
            <p:spPr>
              <a:xfrm>
                <a:off x="3977590" y="1916113"/>
                <a:ext cx="1606329" cy="692497"/>
              </a:xfrm>
              <a:prstGeom prst="rect">
                <a:avLst/>
              </a:prstGeom>
              <a:noFill/>
            </p:spPr>
            <p:txBody>
              <a:bodyPr wrap="square">
                <a:spAutoFit/>
              </a:bodyPr>
              <a:lstStyle/>
              <a:p>
                <a:r>
                  <a:rPr lang="en-US" altLang="ko-KR" sz="1300" dirty="0">
                    <a:solidFill>
                      <a:schemeClr val="tx1"/>
                    </a:solidFill>
                    <a:latin typeface="SamsungOne 400" panose="020B0503030303020204" pitchFamily="34" charset="0"/>
                    <a:ea typeface="SamsungOne 400" panose="020B0503030303020204" pitchFamily="34" charset="0"/>
                  </a:rPr>
                  <a:t>Allows </a:t>
                </a:r>
                <a:r>
                  <a:rPr lang="en-US" altLang="ko-KR" sz="1300">
                    <a:solidFill>
                      <a:schemeClr val="tx1"/>
                    </a:solidFill>
                    <a:latin typeface="SamsungOne 400" panose="020B0503030303020204" pitchFamily="34" charset="0"/>
                    <a:ea typeface="SamsungOne 400" panose="020B0503030303020204" pitchFamily="34" charset="0"/>
                  </a:rPr>
                  <a:t>duplication by using </a:t>
                </a:r>
                <a:r>
                  <a:rPr lang="en-US" altLang="ko-KR" sz="1300" dirty="0">
                    <a:solidFill>
                      <a:schemeClr val="tx1"/>
                    </a:solidFill>
                    <a:latin typeface="SamsungOne 400" panose="020B0503030303020204" pitchFamily="34" charset="0"/>
                    <a:ea typeface="SamsungOne 400" panose="020B0503030303020204" pitchFamily="34" charset="0"/>
                  </a:rPr>
                  <a:t>bootstrap</a:t>
                </a:r>
                <a:endParaRPr lang="ko-KR" altLang="en-US" sz="1300" dirty="0"/>
              </a:p>
            </p:txBody>
          </p:sp>
          <p:sp>
            <p:nvSpPr>
              <p:cNvPr id="49" name="TextBox 48">
                <a:extLst>
                  <a:ext uri="{FF2B5EF4-FFF2-40B4-BE49-F238E27FC236}">
                    <a16:creationId xmlns:a16="http://schemas.microsoft.com/office/drawing/2014/main" id="{2596A7F4-A80C-44E5-A0CE-A2A298F552EC}"/>
                  </a:ext>
                </a:extLst>
              </p:cNvPr>
              <p:cNvSpPr txBox="1"/>
              <p:nvPr/>
            </p:nvSpPr>
            <p:spPr>
              <a:xfrm>
                <a:off x="3928948" y="2991516"/>
                <a:ext cx="1689024" cy="292388"/>
              </a:xfrm>
              <a:prstGeom prst="rect">
                <a:avLst/>
              </a:prstGeom>
              <a:noFill/>
            </p:spPr>
            <p:txBody>
              <a:bodyPr wrap="square">
                <a:spAutoFit/>
              </a:bodyPr>
              <a:lstStyle/>
              <a:p>
                <a:pPr algn="ctr"/>
                <a:r>
                  <a:rPr lang="en-US" altLang="ko-KR" sz="1300" dirty="0">
                    <a:latin typeface="SamsungOne 400" panose="020B0503030303020204" pitchFamily="34" charset="0"/>
                  </a:rPr>
                  <a:t>Bootstrap sample</a:t>
                </a:r>
                <a:endParaRPr lang="ko-KR" altLang="en-US" sz="1300" dirty="0"/>
              </a:p>
            </p:txBody>
          </p:sp>
          <p:sp>
            <p:nvSpPr>
              <p:cNvPr id="50" name="TextBox 49">
                <a:extLst>
                  <a:ext uri="{FF2B5EF4-FFF2-40B4-BE49-F238E27FC236}">
                    <a16:creationId xmlns:a16="http://schemas.microsoft.com/office/drawing/2014/main" id="{D8DE46A0-2A63-466E-8D4F-F083B2B3E9CE}"/>
                  </a:ext>
                </a:extLst>
              </p:cNvPr>
              <p:cNvSpPr txBox="1"/>
              <p:nvPr/>
            </p:nvSpPr>
            <p:spPr>
              <a:xfrm>
                <a:off x="3887934" y="4145457"/>
                <a:ext cx="1689024" cy="292388"/>
              </a:xfrm>
              <a:prstGeom prst="rect">
                <a:avLst/>
              </a:prstGeom>
              <a:noFill/>
            </p:spPr>
            <p:txBody>
              <a:bodyPr wrap="square">
                <a:spAutoFit/>
              </a:bodyPr>
              <a:lstStyle/>
              <a:p>
                <a:pPr algn="ctr"/>
                <a:r>
                  <a:rPr lang="en-US" altLang="ko-KR" sz="1300" dirty="0">
                    <a:latin typeface="SamsungOne 400" panose="020B0503030303020204" pitchFamily="34" charset="0"/>
                  </a:rPr>
                  <a:t>Predictive value</a:t>
                </a:r>
                <a:endParaRPr lang="ko-KR" altLang="en-US" sz="1300" dirty="0"/>
              </a:p>
            </p:txBody>
          </p:sp>
          <p:sp>
            <p:nvSpPr>
              <p:cNvPr id="51" name="TextBox 50">
                <a:extLst>
                  <a:ext uri="{FF2B5EF4-FFF2-40B4-BE49-F238E27FC236}">
                    <a16:creationId xmlns:a16="http://schemas.microsoft.com/office/drawing/2014/main" id="{62C991E0-B04A-4CA8-B520-BC8E424A883D}"/>
                  </a:ext>
                </a:extLst>
              </p:cNvPr>
              <p:cNvSpPr txBox="1"/>
              <p:nvPr/>
            </p:nvSpPr>
            <p:spPr>
              <a:xfrm>
                <a:off x="3069545" y="4750224"/>
                <a:ext cx="2645151" cy="492443"/>
              </a:xfrm>
              <a:prstGeom prst="rect">
                <a:avLst/>
              </a:prstGeom>
              <a:noFill/>
            </p:spPr>
            <p:txBody>
              <a:bodyPr wrap="square">
                <a:spAutoFit/>
              </a:bodyPr>
              <a:lstStyle/>
              <a:p>
                <a:pPr algn="ctr"/>
                <a:r>
                  <a:rPr lang="en-US" altLang="ko-KR" sz="1300" dirty="0">
                    <a:solidFill>
                      <a:schemeClr val="tx1"/>
                    </a:solidFill>
                    <a:latin typeface="SamsungOne 400" panose="020B0503030303020204" pitchFamily="34" charset="0"/>
                    <a:ea typeface="SamsungOne 400" panose="020B0503030303020204" pitchFamily="34" charset="0"/>
                  </a:rPr>
                  <a:t>Voting for classification, and </a:t>
                </a:r>
                <a:r>
                  <a:rPr lang="en-US" altLang="ko-KR" sz="1300" dirty="0">
                    <a:latin typeface="SamsungOne 400" panose="020B0503030303020204" pitchFamily="34" charset="0"/>
                    <a:ea typeface="SamsungOne 400" panose="020B0503030303020204" pitchFamily="34" charset="0"/>
                  </a:rPr>
                  <a:t>equalization for prediction</a:t>
                </a:r>
                <a:endParaRPr lang="ko-KR" altLang="en-US" sz="1300" dirty="0"/>
              </a:p>
            </p:txBody>
          </p:sp>
        </p:grpSp>
        <p:sp>
          <p:nvSpPr>
            <p:cNvPr id="47" name="직사각형 46">
              <a:extLst>
                <a:ext uri="{FF2B5EF4-FFF2-40B4-BE49-F238E27FC236}">
                  <a16:creationId xmlns:a16="http://schemas.microsoft.com/office/drawing/2014/main" id="{373BC241-84C3-4AC9-8F82-DB5A1A675A8B}"/>
                </a:ext>
              </a:extLst>
            </p:cNvPr>
            <p:cNvSpPr/>
            <p:nvPr/>
          </p:nvSpPr>
          <p:spPr>
            <a:xfrm>
              <a:off x="693420" y="2636520"/>
              <a:ext cx="3025140" cy="56388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06" name="그룹 105">
            <a:extLst>
              <a:ext uri="{FF2B5EF4-FFF2-40B4-BE49-F238E27FC236}">
                <a16:creationId xmlns:a16="http://schemas.microsoft.com/office/drawing/2014/main" id="{7520279A-D135-476B-98AC-603396CB6F11}"/>
              </a:ext>
            </a:extLst>
          </p:cNvPr>
          <p:cNvGrpSpPr/>
          <p:nvPr/>
        </p:nvGrpSpPr>
        <p:grpSpPr>
          <a:xfrm>
            <a:off x="5419462" y="2026664"/>
            <a:ext cx="3815764" cy="3292588"/>
            <a:chOff x="5419462" y="1773238"/>
            <a:chExt cx="3815764" cy="3292588"/>
          </a:xfrm>
        </p:grpSpPr>
        <p:sp>
          <p:nvSpPr>
            <p:cNvPr id="89" name="직사각형 88">
              <a:extLst>
                <a:ext uri="{FF2B5EF4-FFF2-40B4-BE49-F238E27FC236}">
                  <a16:creationId xmlns:a16="http://schemas.microsoft.com/office/drawing/2014/main" id="{4BC1457D-ED0B-40CE-BF07-8536A11907D1}"/>
                </a:ext>
              </a:extLst>
            </p:cNvPr>
            <p:cNvSpPr/>
            <p:nvPr/>
          </p:nvSpPr>
          <p:spPr>
            <a:xfrm>
              <a:off x="5430425" y="3410199"/>
              <a:ext cx="3773546" cy="558861"/>
            </a:xfrm>
            <a:prstGeom prst="rect">
              <a:avLst/>
            </a:prstGeom>
            <a:solidFill>
              <a:schemeClr val="bg1">
                <a:lumMod val="95000"/>
              </a:schemeClr>
            </a:solidFill>
            <a:ln>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62" name="그룹 61">
              <a:extLst>
                <a:ext uri="{FF2B5EF4-FFF2-40B4-BE49-F238E27FC236}">
                  <a16:creationId xmlns:a16="http://schemas.microsoft.com/office/drawing/2014/main" id="{E3224444-D6D7-48C0-AADA-AA9A4F806FA4}"/>
                </a:ext>
              </a:extLst>
            </p:cNvPr>
            <p:cNvGrpSpPr/>
            <p:nvPr/>
          </p:nvGrpSpPr>
          <p:grpSpPr>
            <a:xfrm>
              <a:off x="6815303" y="2060575"/>
              <a:ext cx="1138994" cy="396317"/>
              <a:chOff x="6246495" y="2060575"/>
              <a:chExt cx="949947" cy="527904"/>
            </a:xfrm>
          </p:grpSpPr>
          <p:sp>
            <p:nvSpPr>
              <p:cNvPr id="59" name="직사각형 58">
                <a:extLst>
                  <a:ext uri="{FF2B5EF4-FFF2-40B4-BE49-F238E27FC236}">
                    <a16:creationId xmlns:a16="http://schemas.microsoft.com/office/drawing/2014/main" id="{9E754E13-91AA-4FE1-9464-7B818896EF6D}"/>
                  </a:ext>
                </a:extLst>
              </p:cNvPr>
              <p:cNvSpPr/>
              <p:nvPr/>
            </p:nvSpPr>
            <p:spPr>
              <a:xfrm>
                <a:off x="6246495" y="2060575"/>
                <a:ext cx="866179" cy="52790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직사각형 59">
                <a:extLst>
                  <a:ext uri="{FF2B5EF4-FFF2-40B4-BE49-F238E27FC236}">
                    <a16:creationId xmlns:a16="http://schemas.microsoft.com/office/drawing/2014/main" id="{71CF4D13-2574-4365-8654-2A36FD808F8F}"/>
                  </a:ext>
                </a:extLst>
              </p:cNvPr>
              <p:cNvSpPr/>
              <p:nvPr/>
            </p:nvSpPr>
            <p:spPr>
              <a:xfrm>
                <a:off x="7139040" y="2060575"/>
                <a:ext cx="57402" cy="52790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1" name="TextBox 60">
              <a:extLst>
                <a:ext uri="{FF2B5EF4-FFF2-40B4-BE49-F238E27FC236}">
                  <a16:creationId xmlns:a16="http://schemas.microsoft.com/office/drawing/2014/main" id="{C359E71D-C2E5-40DE-8BF7-D4D527559252}"/>
                </a:ext>
              </a:extLst>
            </p:cNvPr>
            <p:cNvSpPr txBox="1"/>
            <p:nvPr/>
          </p:nvSpPr>
          <p:spPr>
            <a:xfrm>
              <a:off x="6553093" y="1773238"/>
              <a:ext cx="1593299" cy="292388"/>
            </a:xfrm>
            <a:prstGeom prst="rect">
              <a:avLst/>
            </a:prstGeom>
            <a:noFill/>
          </p:spPr>
          <p:txBody>
            <a:bodyPr wrap="square">
              <a:spAutoFit/>
            </a:bodyPr>
            <a:lstStyle/>
            <a:p>
              <a:pPr algn="ctr"/>
              <a:r>
                <a:rPr lang="en-US" altLang="ko-KR" sz="1300" b="1" dirty="0">
                  <a:latin typeface="SamsungOne 400" panose="020B0503030303020204" pitchFamily="34" charset="0"/>
                  <a:ea typeface="SamsungOne 400" panose="020B0503030303020204" pitchFamily="34" charset="0"/>
                </a:rPr>
                <a:t>Data + Labels</a:t>
              </a:r>
              <a:endParaRPr lang="ko-KR" altLang="en-US" sz="1300" b="1" dirty="0">
                <a:latin typeface="SamsungOne 400" panose="020B0503030303020204" pitchFamily="34" charset="0"/>
              </a:endParaRPr>
            </a:p>
          </p:txBody>
        </p:sp>
        <p:grpSp>
          <p:nvGrpSpPr>
            <p:cNvPr id="64" name="그룹 63">
              <a:extLst>
                <a:ext uri="{FF2B5EF4-FFF2-40B4-BE49-F238E27FC236}">
                  <a16:creationId xmlns:a16="http://schemas.microsoft.com/office/drawing/2014/main" id="{D48B0FF7-6541-4704-9DEC-24FD7ED0F6E8}"/>
                </a:ext>
              </a:extLst>
            </p:cNvPr>
            <p:cNvGrpSpPr/>
            <p:nvPr/>
          </p:nvGrpSpPr>
          <p:grpSpPr>
            <a:xfrm>
              <a:off x="5419462" y="2741393"/>
              <a:ext cx="981342" cy="396317"/>
              <a:chOff x="6246495" y="2060575"/>
              <a:chExt cx="962650" cy="527904"/>
            </a:xfrm>
          </p:grpSpPr>
          <p:sp>
            <p:nvSpPr>
              <p:cNvPr id="65" name="직사각형 64">
                <a:extLst>
                  <a:ext uri="{FF2B5EF4-FFF2-40B4-BE49-F238E27FC236}">
                    <a16:creationId xmlns:a16="http://schemas.microsoft.com/office/drawing/2014/main" id="{DEFE6C78-CE35-4FDA-8ED0-8AED2D3710D1}"/>
                  </a:ext>
                </a:extLst>
              </p:cNvPr>
              <p:cNvSpPr/>
              <p:nvPr/>
            </p:nvSpPr>
            <p:spPr>
              <a:xfrm>
                <a:off x="6246495" y="2060575"/>
                <a:ext cx="866179" cy="52790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latin typeface="SamsungOne 400" panose="020B0503030303020204" pitchFamily="34" charset="0"/>
                    <a:ea typeface="SamsungOne 400" panose="020B0503030303020204" pitchFamily="34" charset="0"/>
                  </a:rPr>
                  <a:t>Bootstrap 1</a:t>
                </a:r>
                <a:endParaRPr lang="ko-KR" altLang="en-US" sz="1200" dirty="0">
                  <a:latin typeface="SamsungOne 400" panose="020B0503030303020204" pitchFamily="34" charset="0"/>
                </a:endParaRPr>
              </a:p>
            </p:txBody>
          </p:sp>
          <p:sp>
            <p:nvSpPr>
              <p:cNvPr id="66" name="직사각형 65">
                <a:extLst>
                  <a:ext uri="{FF2B5EF4-FFF2-40B4-BE49-F238E27FC236}">
                    <a16:creationId xmlns:a16="http://schemas.microsoft.com/office/drawing/2014/main" id="{FC9024B8-3455-467A-85FD-208E99D9B540}"/>
                  </a:ext>
                </a:extLst>
              </p:cNvPr>
              <p:cNvSpPr/>
              <p:nvPr/>
            </p:nvSpPr>
            <p:spPr>
              <a:xfrm>
                <a:off x="7129447" y="2060575"/>
                <a:ext cx="79698" cy="52790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grpSp>
        <p:grpSp>
          <p:nvGrpSpPr>
            <p:cNvPr id="68" name="그룹 67">
              <a:extLst>
                <a:ext uri="{FF2B5EF4-FFF2-40B4-BE49-F238E27FC236}">
                  <a16:creationId xmlns:a16="http://schemas.microsoft.com/office/drawing/2014/main" id="{63F8AE3F-711F-4788-92C9-C95620C01410}"/>
                </a:ext>
              </a:extLst>
            </p:cNvPr>
            <p:cNvGrpSpPr/>
            <p:nvPr/>
          </p:nvGrpSpPr>
          <p:grpSpPr>
            <a:xfrm>
              <a:off x="6593965" y="2741394"/>
              <a:ext cx="996538" cy="396318"/>
              <a:chOff x="6246495" y="2060575"/>
              <a:chExt cx="977556" cy="527905"/>
            </a:xfrm>
          </p:grpSpPr>
          <p:sp>
            <p:nvSpPr>
              <p:cNvPr id="69" name="직사각형 68">
                <a:extLst>
                  <a:ext uri="{FF2B5EF4-FFF2-40B4-BE49-F238E27FC236}">
                    <a16:creationId xmlns:a16="http://schemas.microsoft.com/office/drawing/2014/main" id="{B7E8EFCE-A0D6-4D37-9025-2A0BC6578F9C}"/>
                  </a:ext>
                </a:extLst>
              </p:cNvPr>
              <p:cNvSpPr/>
              <p:nvPr/>
            </p:nvSpPr>
            <p:spPr>
              <a:xfrm>
                <a:off x="6246495" y="2060575"/>
                <a:ext cx="866179" cy="52790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a:latin typeface="SamsungOne 400" panose="020B0503030303020204" pitchFamily="34" charset="0"/>
                    <a:ea typeface="SamsungOne 400" panose="020B0503030303020204" pitchFamily="34" charset="0"/>
                  </a:rPr>
                  <a:t>Bootstrap 2</a:t>
                </a:r>
                <a:endParaRPr lang="ko-KR" altLang="en-US" sz="1200" dirty="0">
                  <a:latin typeface="SamsungOne 400" panose="020B0503030303020204" pitchFamily="34" charset="0"/>
                </a:endParaRPr>
              </a:p>
            </p:txBody>
          </p:sp>
          <p:sp>
            <p:nvSpPr>
              <p:cNvPr id="70" name="직사각형 69">
                <a:extLst>
                  <a:ext uri="{FF2B5EF4-FFF2-40B4-BE49-F238E27FC236}">
                    <a16:creationId xmlns:a16="http://schemas.microsoft.com/office/drawing/2014/main" id="{55511378-4434-4547-825E-6A83E37F8D55}"/>
                  </a:ext>
                </a:extLst>
              </p:cNvPr>
              <p:cNvSpPr/>
              <p:nvPr/>
            </p:nvSpPr>
            <p:spPr>
              <a:xfrm>
                <a:off x="7140592" y="2060576"/>
                <a:ext cx="83459" cy="52790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grpSp>
        <p:grpSp>
          <p:nvGrpSpPr>
            <p:cNvPr id="72" name="그룹 71">
              <a:extLst>
                <a:ext uri="{FF2B5EF4-FFF2-40B4-BE49-F238E27FC236}">
                  <a16:creationId xmlns:a16="http://schemas.microsoft.com/office/drawing/2014/main" id="{4FBB7573-7E14-4FAA-8897-B87DBEC0BA15}"/>
                </a:ext>
              </a:extLst>
            </p:cNvPr>
            <p:cNvGrpSpPr/>
            <p:nvPr/>
          </p:nvGrpSpPr>
          <p:grpSpPr>
            <a:xfrm>
              <a:off x="8115351" y="2741393"/>
              <a:ext cx="979489" cy="396317"/>
              <a:chOff x="6246495" y="2060575"/>
              <a:chExt cx="960832" cy="527904"/>
            </a:xfrm>
          </p:grpSpPr>
          <p:sp>
            <p:nvSpPr>
              <p:cNvPr id="73" name="직사각형 72">
                <a:extLst>
                  <a:ext uri="{FF2B5EF4-FFF2-40B4-BE49-F238E27FC236}">
                    <a16:creationId xmlns:a16="http://schemas.microsoft.com/office/drawing/2014/main" id="{D5EC200D-92F1-4A18-B80D-82FB9C01342F}"/>
                  </a:ext>
                </a:extLst>
              </p:cNvPr>
              <p:cNvSpPr/>
              <p:nvPr/>
            </p:nvSpPr>
            <p:spPr>
              <a:xfrm>
                <a:off x="6246495" y="2060575"/>
                <a:ext cx="866179" cy="52790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latin typeface="SamsungOne 400" panose="020B0503030303020204" pitchFamily="34" charset="0"/>
                    <a:ea typeface="SamsungOne 400" panose="020B0503030303020204" pitchFamily="34" charset="0"/>
                  </a:rPr>
                  <a:t>Bootstrap 3</a:t>
                </a:r>
                <a:endParaRPr lang="ko-KR" altLang="en-US" sz="1200" dirty="0">
                  <a:latin typeface="SamsungOne 400" panose="020B0503030303020204" pitchFamily="34" charset="0"/>
                </a:endParaRPr>
              </a:p>
            </p:txBody>
          </p:sp>
          <p:sp>
            <p:nvSpPr>
              <p:cNvPr id="74" name="직사각형 73">
                <a:extLst>
                  <a:ext uri="{FF2B5EF4-FFF2-40B4-BE49-F238E27FC236}">
                    <a16:creationId xmlns:a16="http://schemas.microsoft.com/office/drawing/2014/main" id="{3BA4D672-4CD5-4016-A866-6893ADD5602C}"/>
                  </a:ext>
                </a:extLst>
              </p:cNvPr>
              <p:cNvSpPr/>
              <p:nvPr/>
            </p:nvSpPr>
            <p:spPr>
              <a:xfrm>
                <a:off x="7132132" y="2060575"/>
                <a:ext cx="75195" cy="52790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grpSp>
        <p:sp>
          <p:nvSpPr>
            <p:cNvPr id="78" name="TextBox 77">
              <a:extLst>
                <a:ext uri="{FF2B5EF4-FFF2-40B4-BE49-F238E27FC236}">
                  <a16:creationId xmlns:a16="http://schemas.microsoft.com/office/drawing/2014/main" id="{0A5CD12F-D91E-473F-90AD-C1FC09996B8E}"/>
                </a:ext>
              </a:extLst>
            </p:cNvPr>
            <p:cNvSpPr txBox="1"/>
            <p:nvPr/>
          </p:nvSpPr>
          <p:spPr>
            <a:xfrm>
              <a:off x="7749041" y="2668043"/>
              <a:ext cx="415477" cy="369332"/>
            </a:xfrm>
            <a:prstGeom prst="rect">
              <a:avLst/>
            </a:prstGeom>
            <a:noFill/>
          </p:spPr>
          <p:txBody>
            <a:bodyPr wrap="square">
              <a:spAutoFit/>
            </a:bodyPr>
            <a:lstStyle/>
            <a:p>
              <a:pPr algn="ctr"/>
              <a:r>
                <a:rPr lang="en-US" altLang="ko-KR" sz="1800" dirty="0">
                  <a:solidFill>
                    <a:schemeClr val="tx1"/>
                  </a:solidFill>
                  <a:latin typeface="SamsungOne 400" panose="020B0503030303020204" pitchFamily="34" charset="0"/>
                  <a:ea typeface="SamsungOne 400" panose="020B0503030303020204" pitchFamily="34" charset="0"/>
                </a:rPr>
                <a:t>…</a:t>
              </a:r>
              <a:endParaRPr lang="ko-KR" altLang="en-US" dirty="0"/>
            </a:p>
          </p:txBody>
        </p:sp>
        <p:cxnSp>
          <p:nvCxnSpPr>
            <p:cNvPr id="80" name="연결선: 꺾임 79">
              <a:extLst>
                <a:ext uri="{FF2B5EF4-FFF2-40B4-BE49-F238E27FC236}">
                  <a16:creationId xmlns:a16="http://schemas.microsoft.com/office/drawing/2014/main" id="{B749D864-5F28-4F1A-8E43-E49A4C9EB57A}"/>
                </a:ext>
              </a:extLst>
            </p:cNvPr>
            <p:cNvCxnSpPr>
              <a:stCxn id="59" idx="2"/>
              <a:endCxn id="65" idx="0"/>
            </p:cNvCxnSpPr>
            <p:nvPr/>
          </p:nvCxnSpPr>
          <p:spPr>
            <a:xfrm rot="5400000">
              <a:off x="6455522" y="1862333"/>
              <a:ext cx="284501" cy="1473618"/>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연결선: 꺾임 81">
              <a:extLst>
                <a:ext uri="{FF2B5EF4-FFF2-40B4-BE49-F238E27FC236}">
                  <a16:creationId xmlns:a16="http://schemas.microsoft.com/office/drawing/2014/main" id="{46736353-0987-4DAF-BFC9-FF59B616715F}"/>
                </a:ext>
              </a:extLst>
            </p:cNvPr>
            <p:cNvCxnSpPr>
              <a:cxnSpLocks/>
              <a:stCxn id="59" idx="2"/>
              <a:endCxn id="69" idx="0"/>
            </p:cNvCxnSpPr>
            <p:nvPr/>
          </p:nvCxnSpPr>
          <p:spPr>
            <a:xfrm rot="5400000">
              <a:off x="7042772" y="2449583"/>
              <a:ext cx="284501" cy="299119"/>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연결선: 꺾임 84">
              <a:extLst>
                <a:ext uri="{FF2B5EF4-FFF2-40B4-BE49-F238E27FC236}">
                  <a16:creationId xmlns:a16="http://schemas.microsoft.com/office/drawing/2014/main" id="{76C17512-E531-45A2-9F8D-DB13E53A4BF7}"/>
                </a:ext>
              </a:extLst>
            </p:cNvPr>
            <p:cNvCxnSpPr>
              <a:stCxn id="59" idx="2"/>
              <a:endCxn id="73" idx="0"/>
            </p:cNvCxnSpPr>
            <p:nvPr/>
          </p:nvCxnSpPr>
          <p:spPr>
            <a:xfrm rot="16200000" flipH="1">
              <a:off x="7803465" y="1988007"/>
              <a:ext cx="284501" cy="1222269"/>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직사각형 85">
              <a:extLst>
                <a:ext uri="{FF2B5EF4-FFF2-40B4-BE49-F238E27FC236}">
                  <a16:creationId xmlns:a16="http://schemas.microsoft.com/office/drawing/2014/main" id="{54470555-2113-4BF3-A6E0-7AC39CAFE096}"/>
                </a:ext>
              </a:extLst>
            </p:cNvPr>
            <p:cNvSpPr/>
            <p:nvPr/>
          </p:nvSpPr>
          <p:spPr>
            <a:xfrm>
              <a:off x="5481070" y="3491471"/>
              <a:ext cx="882998" cy="39631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latin typeface="SamsungOne 400" panose="020B0503030303020204" pitchFamily="34" charset="0"/>
                  <a:ea typeface="SamsungOne 400" panose="020B0503030303020204" pitchFamily="34" charset="0"/>
                </a:rPr>
                <a:t>Model 1</a:t>
              </a:r>
              <a:endParaRPr lang="ko-KR" altLang="en-US" sz="1200" dirty="0">
                <a:latin typeface="SamsungOne 400" panose="020B0503030303020204" pitchFamily="34" charset="0"/>
              </a:endParaRPr>
            </a:p>
          </p:txBody>
        </p:sp>
        <p:sp>
          <p:nvSpPr>
            <p:cNvPr id="87" name="직사각형 86">
              <a:extLst>
                <a:ext uri="{FF2B5EF4-FFF2-40B4-BE49-F238E27FC236}">
                  <a16:creationId xmlns:a16="http://schemas.microsoft.com/office/drawing/2014/main" id="{7961793D-3B19-4C31-97AB-AD93941818A0}"/>
                </a:ext>
              </a:extLst>
            </p:cNvPr>
            <p:cNvSpPr/>
            <p:nvPr/>
          </p:nvSpPr>
          <p:spPr>
            <a:xfrm>
              <a:off x="6866503" y="3491471"/>
              <a:ext cx="882998" cy="39631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latin typeface="SamsungOne 400" panose="020B0503030303020204" pitchFamily="34" charset="0"/>
                  <a:ea typeface="SamsungOne 400" panose="020B0503030303020204" pitchFamily="34" charset="0"/>
                </a:rPr>
                <a:t>Model 2</a:t>
              </a:r>
              <a:endParaRPr lang="ko-KR" altLang="en-US" sz="1200" dirty="0">
                <a:latin typeface="SamsungOne 400" panose="020B0503030303020204" pitchFamily="34" charset="0"/>
              </a:endParaRPr>
            </a:p>
          </p:txBody>
        </p:sp>
        <p:sp>
          <p:nvSpPr>
            <p:cNvPr id="88" name="직사각형 87">
              <a:extLst>
                <a:ext uri="{FF2B5EF4-FFF2-40B4-BE49-F238E27FC236}">
                  <a16:creationId xmlns:a16="http://schemas.microsoft.com/office/drawing/2014/main" id="{159ACA6E-1442-44CC-8633-520E58619075}"/>
                </a:ext>
              </a:extLst>
            </p:cNvPr>
            <p:cNvSpPr/>
            <p:nvPr/>
          </p:nvSpPr>
          <p:spPr>
            <a:xfrm>
              <a:off x="8251935" y="3491471"/>
              <a:ext cx="882998" cy="39631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latin typeface="SamsungOne 400" panose="020B0503030303020204" pitchFamily="34" charset="0"/>
                  <a:ea typeface="SamsungOne 400" panose="020B0503030303020204" pitchFamily="34" charset="0"/>
                </a:rPr>
                <a:t>Model 3</a:t>
              </a:r>
              <a:endParaRPr lang="ko-KR" altLang="en-US" sz="1200" dirty="0">
                <a:latin typeface="SamsungOne 400" panose="020B0503030303020204" pitchFamily="34" charset="0"/>
              </a:endParaRPr>
            </a:p>
          </p:txBody>
        </p:sp>
        <p:cxnSp>
          <p:nvCxnSpPr>
            <p:cNvPr id="91" name="직선 화살표 연결선 90">
              <a:extLst>
                <a:ext uri="{FF2B5EF4-FFF2-40B4-BE49-F238E27FC236}">
                  <a16:creationId xmlns:a16="http://schemas.microsoft.com/office/drawing/2014/main" id="{9A3C1F06-36B2-4D1A-B1D1-AE90CAE12F06}"/>
                </a:ext>
              </a:extLst>
            </p:cNvPr>
            <p:cNvCxnSpPr/>
            <p:nvPr/>
          </p:nvCxnSpPr>
          <p:spPr>
            <a:xfrm>
              <a:off x="5860963" y="3137710"/>
              <a:ext cx="0" cy="27248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직선 화살표 연결선 91">
              <a:extLst>
                <a:ext uri="{FF2B5EF4-FFF2-40B4-BE49-F238E27FC236}">
                  <a16:creationId xmlns:a16="http://schemas.microsoft.com/office/drawing/2014/main" id="{B5CA924E-7169-4A3E-B3CF-B9BE9D168949}"/>
                </a:ext>
              </a:extLst>
            </p:cNvPr>
            <p:cNvCxnSpPr/>
            <p:nvPr/>
          </p:nvCxnSpPr>
          <p:spPr>
            <a:xfrm>
              <a:off x="7173505" y="3137710"/>
              <a:ext cx="0" cy="27248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직선 화살표 연결선 92">
              <a:extLst>
                <a:ext uri="{FF2B5EF4-FFF2-40B4-BE49-F238E27FC236}">
                  <a16:creationId xmlns:a16="http://schemas.microsoft.com/office/drawing/2014/main" id="{8E701D8C-9F9A-4A6B-AD7C-CD0082547B80}"/>
                </a:ext>
              </a:extLst>
            </p:cNvPr>
            <p:cNvCxnSpPr/>
            <p:nvPr/>
          </p:nvCxnSpPr>
          <p:spPr>
            <a:xfrm>
              <a:off x="8674461" y="3137710"/>
              <a:ext cx="0" cy="27248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CEA75FAC-BD52-409F-9305-8FD6D2ACFEBC}"/>
                </a:ext>
              </a:extLst>
            </p:cNvPr>
            <p:cNvSpPr txBox="1"/>
            <p:nvPr/>
          </p:nvSpPr>
          <p:spPr>
            <a:xfrm>
              <a:off x="6677236" y="4628478"/>
              <a:ext cx="1593299" cy="292388"/>
            </a:xfrm>
            <a:prstGeom prst="rect">
              <a:avLst/>
            </a:prstGeom>
            <a:noFill/>
          </p:spPr>
          <p:txBody>
            <a:bodyPr wrap="square">
              <a:spAutoFit/>
            </a:bodyPr>
            <a:lstStyle/>
            <a:p>
              <a:pPr algn="ctr"/>
              <a:r>
                <a:rPr lang="en-US" altLang="ko-KR" sz="1300" b="1" dirty="0">
                  <a:latin typeface="SamsungOne 400" panose="020B0503030303020204" pitchFamily="34" charset="0"/>
                  <a:ea typeface="SamsungOne 400" panose="020B0503030303020204" pitchFamily="34" charset="0"/>
                </a:rPr>
                <a:t>Vote</a:t>
              </a:r>
              <a:endParaRPr lang="ko-KR" altLang="en-US" sz="1300" b="1" dirty="0">
                <a:latin typeface="SamsungOne 400" panose="020B0503030303020204" pitchFamily="34" charset="0"/>
              </a:endParaRPr>
            </a:p>
          </p:txBody>
        </p:sp>
        <p:sp>
          <p:nvSpPr>
            <p:cNvPr id="95" name="TextBox 94">
              <a:extLst>
                <a:ext uri="{FF2B5EF4-FFF2-40B4-BE49-F238E27FC236}">
                  <a16:creationId xmlns:a16="http://schemas.microsoft.com/office/drawing/2014/main" id="{887DB305-5DB1-4440-BEB5-0C1E0A1AA0DA}"/>
                </a:ext>
              </a:extLst>
            </p:cNvPr>
            <p:cNvSpPr txBox="1"/>
            <p:nvPr/>
          </p:nvSpPr>
          <p:spPr>
            <a:xfrm>
              <a:off x="7641927" y="4281455"/>
              <a:ext cx="1593299" cy="292388"/>
            </a:xfrm>
            <a:prstGeom prst="rect">
              <a:avLst/>
            </a:prstGeom>
            <a:noFill/>
          </p:spPr>
          <p:txBody>
            <a:bodyPr wrap="square">
              <a:spAutoFit/>
            </a:bodyPr>
            <a:lstStyle/>
            <a:p>
              <a:pPr algn="r"/>
              <a:r>
                <a:rPr lang="en-US" altLang="ko-KR" sz="1300" b="1" dirty="0">
                  <a:latin typeface="SamsungOne 400" panose="020B0503030303020204" pitchFamily="34" charset="0"/>
                  <a:ea typeface="SamsungOne 400" panose="020B0503030303020204" pitchFamily="34" charset="0"/>
                </a:rPr>
                <a:t>Bagged Ensemble</a:t>
              </a:r>
              <a:endParaRPr lang="ko-KR" altLang="en-US" sz="1300" b="1" dirty="0">
                <a:latin typeface="SamsungOne 400" panose="020B0503030303020204" pitchFamily="34" charset="0"/>
              </a:endParaRPr>
            </a:p>
          </p:txBody>
        </p:sp>
        <p:cxnSp>
          <p:nvCxnSpPr>
            <p:cNvPr id="97" name="연결선: 꺾임 96">
              <a:extLst>
                <a:ext uri="{FF2B5EF4-FFF2-40B4-BE49-F238E27FC236}">
                  <a16:creationId xmlns:a16="http://schemas.microsoft.com/office/drawing/2014/main" id="{7144B2CA-8862-4486-B461-0AAB658B49C0}"/>
                </a:ext>
              </a:extLst>
            </p:cNvPr>
            <p:cNvCxnSpPr>
              <a:stCxn id="88" idx="2"/>
              <a:endCxn id="94" idx="0"/>
            </p:cNvCxnSpPr>
            <p:nvPr/>
          </p:nvCxnSpPr>
          <p:spPr>
            <a:xfrm rot="5400000">
              <a:off x="7713315" y="3648359"/>
              <a:ext cx="740690" cy="1219548"/>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연결선: 꺾임 98">
              <a:extLst>
                <a:ext uri="{FF2B5EF4-FFF2-40B4-BE49-F238E27FC236}">
                  <a16:creationId xmlns:a16="http://schemas.microsoft.com/office/drawing/2014/main" id="{0CF5EC3C-E38C-4FB9-A78F-BE53D1FB1C38}"/>
                </a:ext>
              </a:extLst>
            </p:cNvPr>
            <p:cNvCxnSpPr>
              <a:stCxn id="87" idx="2"/>
              <a:endCxn id="94" idx="0"/>
            </p:cNvCxnSpPr>
            <p:nvPr/>
          </p:nvCxnSpPr>
          <p:spPr>
            <a:xfrm rot="16200000" flipH="1">
              <a:off x="7020599" y="4175191"/>
              <a:ext cx="740690" cy="165884"/>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연결선: 꺾임 100">
              <a:extLst>
                <a:ext uri="{FF2B5EF4-FFF2-40B4-BE49-F238E27FC236}">
                  <a16:creationId xmlns:a16="http://schemas.microsoft.com/office/drawing/2014/main" id="{598705E1-563C-4D9F-967C-CFEFF9CD4B4B}"/>
                </a:ext>
              </a:extLst>
            </p:cNvPr>
            <p:cNvCxnSpPr>
              <a:cxnSpLocks/>
              <a:stCxn id="86" idx="2"/>
              <a:endCxn id="94" idx="0"/>
            </p:cNvCxnSpPr>
            <p:nvPr/>
          </p:nvCxnSpPr>
          <p:spPr>
            <a:xfrm rot="16200000" flipH="1">
              <a:off x="6327882" y="3482474"/>
              <a:ext cx="740690" cy="1551317"/>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5" name="직사각형 104">
              <a:extLst>
                <a:ext uri="{FF2B5EF4-FFF2-40B4-BE49-F238E27FC236}">
                  <a16:creationId xmlns:a16="http://schemas.microsoft.com/office/drawing/2014/main" id="{C1969A82-EC1F-4DF9-A3AC-048099C0B6C5}"/>
                </a:ext>
              </a:extLst>
            </p:cNvPr>
            <p:cNvSpPr/>
            <p:nvPr/>
          </p:nvSpPr>
          <p:spPr>
            <a:xfrm>
              <a:off x="7384734" y="4896843"/>
              <a:ext cx="176272" cy="1689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55848994"/>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8.2. Bagging &amp; Random Forest</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31DF3F79-726D-45C2-92D6-012109C05F3F}"/>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Bagging</a:t>
            </a:r>
          </a:p>
        </p:txBody>
      </p:sp>
      <p:sp>
        <p:nvSpPr>
          <p:cNvPr id="67" name="직사각형 66">
            <a:extLst>
              <a:ext uri="{FF2B5EF4-FFF2-40B4-BE49-F238E27FC236}">
                <a16:creationId xmlns:a16="http://schemas.microsoft.com/office/drawing/2014/main" id="{7C391D4E-C7CF-44F5-8D26-9DBC0621AF88}"/>
              </a:ext>
            </a:extLst>
          </p:cNvPr>
          <p:cNvSpPr/>
          <p:nvPr/>
        </p:nvSpPr>
        <p:spPr>
          <a:xfrm>
            <a:off x="675556" y="1700213"/>
            <a:ext cx="8632825" cy="1253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Bagging is an abbreviation of</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Bootstrap Aggregating.</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Bootstrap = Sample</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Aggregating = Adding up</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Bootstrap refers to a method that allows overlapping of different datasets for sampling and splitting. </a:t>
            </a:r>
          </a:p>
        </p:txBody>
      </p:sp>
    </p:spTree>
    <p:extLst>
      <p:ext uri="{BB962C8B-B14F-4D97-AF65-F5344CB8AC3E}">
        <p14:creationId xmlns:p14="http://schemas.microsoft.com/office/powerpoint/2010/main" val="3069911671"/>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8.2. Bagging &amp; Random Forest</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31DF3F79-726D-45C2-92D6-012109C05F3F}"/>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Bagging</a:t>
            </a:r>
          </a:p>
        </p:txBody>
      </p:sp>
      <p:sp>
        <p:nvSpPr>
          <p:cNvPr id="67" name="직사각형 66">
            <a:extLst>
              <a:ext uri="{FF2B5EF4-FFF2-40B4-BE49-F238E27FC236}">
                <a16:creationId xmlns:a16="http://schemas.microsoft.com/office/drawing/2014/main" id="{7C391D4E-C7CF-44F5-8D26-9DBC0621AF88}"/>
              </a:ext>
            </a:extLst>
          </p:cNvPr>
          <p:cNvSpPr/>
          <p:nvPr/>
        </p:nvSpPr>
        <p:spPr>
          <a:xfrm>
            <a:off x="675556" y="2060575"/>
            <a:ext cx="8632825" cy="23613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It creates multiple decision trees and performs sampling of different datasets while allowing overlapped datasets.</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If the dataset consists of [1, 2, 3, 4, 5]:</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Group 1 = [1, 2, 3]</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Group 2 = [1, 3, 4]</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Group 3 = [2, 3, 5]</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This is the bootstrap method. In the classification problem, voting is done on each tree trained with different sampling for the final prediction result.</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regression problems, the average of each obtained value is calculated.</a:t>
            </a:r>
          </a:p>
        </p:txBody>
      </p:sp>
      <p:grpSp>
        <p:nvGrpSpPr>
          <p:cNvPr id="7" name="그룹 6">
            <a:extLst>
              <a:ext uri="{FF2B5EF4-FFF2-40B4-BE49-F238E27FC236}">
                <a16:creationId xmlns:a16="http://schemas.microsoft.com/office/drawing/2014/main" id="{1FE078F3-89E6-4D48-B6DF-E61E1A2DA5B6}"/>
              </a:ext>
            </a:extLst>
          </p:cNvPr>
          <p:cNvGrpSpPr/>
          <p:nvPr/>
        </p:nvGrpSpPr>
        <p:grpSpPr>
          <a:xfrm>
            <a:off x="558800" y="1728581"/>
            <a:ext cx="7308261" cy="345461"/>
            <a:chOff x="903506" y="2442098"/>
            <a:chExt cx="7308261" cy="345461"/>
          </a:xfrm>
        </p:grpSpPr>
        <p:sp>
          <p:nvSpPr>
            <p:cNvPr id="8" name="사각형: 둥근 모서리 2">
              <a:extLst>
                <a:ext uri="{FF2B5EF4-FFF2-40B4-BE49-F238E27FC236}">
                  <a16:creationId xmlns:a16="http://schemas.microsoft.com/office/drawing/2014/main" id="{8FD5FB7E-24DE-43A0-A95B-DF9991DB8B71}"/>
                </a:ext>
              </a:extLst>
            </p:cNvPr>
            <p:cNvSpPr/>
            <p:nvPr/>
          </p:nvSpPr>
          <p:spPr>
            <a:xfrm>
              <a:off x="903506" y="2490277"/>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9" name="직사각형 8">
              <a:extLst>
                <a:ext uri="{FF2B5EF4-FFF2-40B4-BE49-F238E27FC236}">
                  <a16:creationId xmlns:a16="http://schemas.microsoft.com/office/drawing/2014/main" id="{2D05F422-64DD-4594-9D55-B61F81CFAD3F}"/>
                </a:ext>
              </a:extLst>
            </p:cNvPr>
            <p:cNvSpPr/>
            <p:nvPr/>
          </p:nvSpPr>
          <p:spPr>
            <a:xfrm>
              <a:off x="1279004" y="2442098"/>
              <a:ext cx="6932763"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ctr">
              <a:spAutoFit/>
              <a:scene3d>
                <a:camera prst="orthographicFront"/>
                <a:lightRig rig="threePt" dir="t"/>
              </a:scene3d>
              <a:sp3d>
                <a:bevelT w="0" h="6350"/>
              </a:sp3d>
            </a:bodyPr>
            <a:lstStyle/>
            <a:p>
              <a:pPr marL="0" lvl="1" defTabSz="914400" latinLnBrk="1">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Random Forest is a typical bagging method algorithm.</a:t>
              </a:r>
            </a:p>
          </p:txBody>
        </p:sp>
      </p:grpSp>
    </p:spTree>
    <p:extLst>
      <p:ext uri="{BB962C8B-B14F-4D97-AF65-F5344CB8AC3E}">
        <p14:creationId xmlns:p14="http://schemas.microsoft.com/office/powerpoint/2010/main" val="3762169942"/>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8.2. Bagging &amp; Random Forest</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31DF3F79-726D-45C2-92D6-012109C05F3F}"/>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Bagging</a:t>
            </a:r>
          </a:p>
        </p:txBody>
      </p:sp>
      <p:sp>
        <p:nvSpPr>
          <p:cNvPr id="10" name="직사각형 9">
            <a:extLst>
              <a:ext uri="{FF2B5EF4-FFF2-40B4-BE49-F238E27FC236}">
                <a16:creationId xmlns:a16="http://schemas.microsoft.com/office/drawing/2014/main" id="{5781854C-388B-435E-884E-E20003E456BB}"/>
              </a:ext>
            </a:extLst>
          </p:cNvPr>
          <p:cNvSpPr/>
          <p:nvPr/>
        </p:nvSpPr>
        <p:spPr>
          <a:xfrm>
            <a:off x="675556" y="1700213"/>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b="1" dirty="0">
                <a:solidFill>
                  <a:schemeClr val="tx1">
                    <a:lumMod val="85000"/>
                    <a:lumOff val="15000"/>
                  </a:schemeClr>
                </a:solidFill>
                <a:latin typeface="SamsungOne 400" panose="020B0503030303020204" pitchFamily="34" charset="0"/>
                <a:ea typeface="SamsungOne 400" panose="020B0503030303020204" pitchFamily="34" charset="0"/>
              </a:rPr>
              <a:t>Bagging</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b="1" dirty="0">
                <a:solidFill>
                  <a:schemeClr val="tx1">
                    <a:lumMod val="85000"/>
                    <a:lumOff val="15000"/>
                  </a:schemeClr>
                </a:solidFill>
                <a:latin typeface="SamsungOne 400" panose="020B0503030303020204" pitchFamily="34" charset="0"/>
                <a:ea typeface="SamsungOne 400" panose="020B0503030303020204" pitchFamily="34" charset="0"/>
              </a:rPr>
              <a:t>B</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ootstrap </a:t>
            </a:r>
            <a:r>
              <a:rPr lang="en-US" altLang="ko-KR" sz="1300" b="1" dirty="0" err="1">
                <a:solidFill>
                  <a:schemeClr val="tx1">
                    <a:lumMod val="85000"/>
                    <a:lumOff val="15000"/>
                  </a:schemeClr>
                </a:solidFill>
                <a:latin typeface="SamsungOne 400" panose="020B0503030303020204" pitchFamily="34" charset="0"/>
                <a:ea typeface="SamsungOne 400" panose="020B0503030303020204" pitchFamily="34" charset="0"/>
              </a:rPr>
              <a:t>AGG</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regat</a:t>
            </a:r>
            <a:r>
              <a:rPr lang="en-US" altLang="ko-KR" sz="1300" b="1" dirty="0" err="1">
                <a:solidFill>
                  <a:schemeClr val="tx1">
                    <a:lumMod val="85000"/>
                    <a:lumOff val="15000"/>
                  </a:schemeClr>
                </a:solidFill>
                <a:latin typeface="SamsungOne 400" panose="020B0503030303020204" pitchFamily="34" charset="0"/>
                <a:ea typeface="SamsungOne 400" panose="020B0503030303020204" pitchFamily="34" charset="0"/>
              </a:rPr>
              <a:t>ING</a:t>
            </a:r>
            <a:endParaRPr lang="en-US" altLang="ko-KR" sz="1300" b="1" dirty="0">
              <a:solidFill>
                <a:schemeClr val="tx1">
                  <a:lumMod val="85000"/>
                  <a:lumOff val="15000"/>
                </a:schemeClr>
              </a:solidFill>
              <a:latin typeface="SamsungOne 400" panose="020B0503030303020204" pitchFamily="34" charset="0"/>
              <a:ea typeface="SamsungOne 400" panose="020B0503030303020204" pitchFamily="34" charset="0"/>
            </a:endParaRPr>
          </a:p>
        </p:txBody>
      </p:sp>
      <p:grpSp>
        <p:nvGrpSpPr>
          <p:cNvPr id="2" name="그룹 1"/>
          <p:cNvGrpSpPr/>
          <p:nvPr/>
        </p:nvGrpSpPr>
        <p:grpSpPr>
          <a:xfrm>
            <a:off x="1766288" y="2192063"/>
            <a:ext cx="6346120" cy="3901234"/>
            <a:chOff x="1766288" y="2192063"/>
            <a:chExt cx="6346120" cy="3901234"/>
          </a:xfrm>
        </p:grpSpPr>
        <p:sp>
          <p:nvSpPr>
            <p:cNvPr id="47" name="모서리가 둥근 직사각형 4">
              <a:extLst>
                <a:ext uri="{FF2B5EF4-FFF2-40B4-BE49-F238E27FC236}">
                  <a16:creationId xmlns:a16="http://schemas.microsoft.com/office/drawing/2014/main" id="{7426E042-BE6F-4C6D-90FB-FF8B6672B86C}"/>
                </a:ext>
              </a:extLst>
            </p:cNvPr>
            <p:cNvSpPr/>
            <p:nvPr/>
          </p:nvSpPr>
          <p:spPr>
            <a:xfrm>
              <a:off x="1766288" y="2192063"/>
              <a:ext cx="6346120" cy="3901234"/>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SamsungOne 400" panose="020B0503030303020204" pitchFamily="34" charset="0"/>
              </a:endParaRPr>
            </a:p>
          </p:txBody>
        </p:sp>
        <p:grpSp>
          <p:nvGrpSpPr>
            <p:cNvPr id="13" name="그룹 12">
              <a:extLst>
                <a:ext uri="{FF2B5EF4-FFF2-40B4-BE49-F238E27FC236}">
                  <a16:creationId xmlns:a16="http://schemas.microsoft.com/office/drawing/2014/main" id="{31E48BF7-C32E-4239-BBDD-83F6F8F7F317}"/>
                </a:ext>
              </a:extLst>
            </p:cNvPr>
            <p:cNvGrpSpPr/>
            <p:nvPr/>
          </p:nvGrpSpPr>
          <p:grpSpPr>
            <a:xfrm>
              <a:off x="2671099" y="2564904"/>
              <a:ext cx="4536497" cy="3348132"/>
              <a:chOff x="5419469" y="1773238"/>
              <a:chExt cx="3815757" cy="3348132"/>
            </a:xfrm>
          </p:grpSpPr>
          <p:sp>
            <p:nvSpPr>
              <p:cNvPr id="14" name="직사각형 13">
                <a:extLst>
                  <a:ext uri="{FF2B5EF4-FFF2-40B4-BE49-F238E27FC236}">
                    <a16:creationId xmlns:a16="http://schemas.microsoft.com/office/drawing/2014/main" id="{24196D13-2E49-4E1F-8FD7-A4B3DF6A8380}"/>
                  </a:ext>
                </a:extLst>
              </p:cNvPr>
              <p:cNvSpPr/>
              <p:nvPr/>
            </p:nvSpPr>
            <p:spPr>
              <a:xfrm>
                <a:off x="5430425" y="3410199"/>
                <a:ext cx="3773546" cy="558861"/>
              </a:xfrm>
              <a:prstGeom prst="rect">
                <a:avLst/>
              </a:prstGeom>
              <a:solidFill>
                <a:schemeClr val="bg1">
                  <a:lumMod val="95000"/>
                </a:schemeClr>
              </a:solidFill>
              <a:ln>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 name="그룹 14">
                <a:extLst>
                  <a:ext uri="{FF2B5EF4-FFF2-40B4-BE49-F238E27FC236}">
                    <a16:creationId xmlns:a16="http://schemas.microsoft.com/office/drawing/2014/main" id="{1CC4D5B6-F678-4D8D-927D-8D445D67914E}"/>
                  </a:ext>
                </a:extLst>
              </p:cNvPr>
              <p:cNvGrpSpPr/>
              <p:nvPr/>
            </p:nvGrpSpPr>
            <p:grpSpPr>
              <a:xfrm>
                <a:off x="6815291" y="2060575"/>
                <a:ext cx="1135719" cy="396317"/>
                <a:chOff x="6246495" y="2060575"/>
                <a:chExt cx="947217" cy="527904"/>
              </a:xfrm>
            </p:grpSpPr>
            <p:sp>
              <p:nvSpPr>
                <p:cNvPr id="45" name="직사각형 44">
                  <a:extLst>
                    <a:ext uri="{FF2B5EF4-FFF2-40B4-BE49-F238E27FC236}">
                      <a16:creationId xmlns:a16="http://schemas.microsoft.com/office/drawing/2014/main" id="{AB7866C4-43EA-46E0-99F5-AC67D608CD0A}"/>
                    </a:ext>
                  </a:extLst>
                </p:cNvPr>
                <p:cNvSpPr/>
                <p:nvPr/>
              </p:nvSpPr>
              <p:spPr>
                <a:xfrm>
                  <a:off x="6246495" y="2060575"/>
                  <a:ext cx="866179" cy="52790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a:extLst>
                    <a:ext uri="{FF2B5EF4-FFF2-40B4-BE49-F238E27FC236}">
                      <a16:creationId xmlns:a16="http://schemas.microsoft.com/office/drawing/2014/main" id="{DCE66C9F-5983-43A7-B79A-100EEAA4745C}"/>
                    </a:ext>
                  </a:extLst>
                </p:cNvPr>
                <p:cNvSpPr/>
                <p:nvPr/>
              </p:nvSpPr>
              <p:spPr>
                <a:xfrm>
                  <a:off x="7132747" y="2060575"/>
                  <a:ext cx="60965" cy="52790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16" name="TextBox 15">
                <a:extLst>
                  <a:ext uri="{FF2B5EF4-FFF2-40B4-BE49-F238E27FC236}">
                    <a16:creationId xmlns:a16="http://schemas.microsoft.com/office/drawing/2014/main" id="{74C782F1-1B19-49DB-ADB7-2F8D77F8D734}"/>
                  </a:ext>
                </a:extLst>
              </p:cNvPr>
              <p:cNvSpPr txBox="1"/>
              <p:nvPr/>
            </p:nvSpPr>
            <p:spPr>
              <a:xfrm>
                <a:off x="6591925" y="1773238"/>
                <a:ext cx="1593299" cy="292388"/>
              </a:xfrm>
              <a:prstGeom prst="rect">
                <a:avLst/>
              </a:prstGeom>
              <a:noFill/>
            </p:spPr>
            <p:txBody>
              <a:bodyPr wrap="square">
                <a:spAutoFit/>
              </a:bodyPr>
              <a:lstStyle/>
              <a:p>
                <a:pPr algn="ctr"/>
                <a:r>
                  <a:rPr lang="en-US" altLang="ko-KR" sz="1300" b="1" dirty="0">
                    <a:latin typeface="SamsungOne 400" panose="020B0503030303020204" pitchFamily="34" charset="0"/>
                    <a:ea typeface="SamsungOne 400" panose="020B0503030303020204" pitchFamily="34" charset="0"/>
                  </a:rPr>
                  <a:t>Data + Labels</a:t>
                </a:r>
                <a:endParaRPr lang="ko-KR" altLang="en-US" sz="1300" b="1" dirty="0">
                  <a:latin typeface="SamsungOne 400" panose="020B0503030303020204" pitchFamily="34" charset="0"/>
                </a:endParaRPr>
              </a:p>
            </p:txBody>
          </p:sp>
          <p:grpSp>
            <p:nvGrpSpPr>
              <p:cNvPr id="17" name="그룹 16">
                <a:extLst>
                  <a:ext uri="{FF2B5EF4-FFF2-40B4-BE49-F238E27FC236}">
                    <a16:creationId xmlns:a16="http://schemas.microsoft.com/office/drawing/2014/main" id="{B1C071E0-A409-4E9A-B5AA-DB4CA2C7949A}"/>
                  </a:ext>
                </a:extLst>
              </p:cNvPr>
              <p:cNvGrpSpPr/>
              <p:nvPr/>
            </p:nvGrpSpPr>
            <p:grpSpPr>
              <a:xfrm>
                <a:off x="5419469" y="2741393"/>
                <a:ext cx="985022" cy="396317"/>
                <a:chOff x="6246495" y="2060575"/>
                <a:chExt cx="966259" cy="527904"/>
              </a:xfrm>
            </p:grpSpPr>
            <p:sp>
              <p:nvSpPr>
                <p:cNvPr id="43" name="직사각형 42">
                  <a:extLst>
                    <a:ext uri="{FF2B5EF4-FFF2-40B4-BE49-F238E27FC236}">
                      <a16:creationId xmlns:a16="http://schemas.microsoft.com/office/drawing/2014/main" id="{B8784069-5F30-4113-A6C0-F028F59DD4F3}"/>
                    </a:ext>
                  </a:extLst>
                </p:cNvPr>
                <p:cNvSpPr/>
                <p:nvPr/>
              </p:nvSpPr>
              <p:spPr>
                <a:xfrm>
                  <a:off x="6246495" y="2060575"/>
                  <a:ext cx="866179" cy="52790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latin typeface="SamsungOne 400" panose="020B0503030303020204" pitchFamily="34" charset="0"/>
                      <a:ea typeface="SamsungOne 400" panose="020B0503030303020204" pitchFamily="34" charset="0"/>
                    </a:rPr>
                    <a:t>Bootstrap 1</a:t>
                  </a:r>
                  <a:endParaRPr lang="ko-KR" altLang="en-US" sz="1200" dirty="0">
                    <a:latin typeface="SamsungOne 400" panose="020B0503030303020204" pitchFamily="34" charset="0"/>
                  </a:endParaRPr>
                </a:p>
              </p:txBody>
            </p:sp>
            <p:sp>
              <p:nvSpPr>
                <p:cNvPr id="44" name="직사각형 43">
                  <a:extLst>
                    <a:ext uri="{FF2B5EF4-FFF2-40B4-BE49-F238E27FC236}">
                      <a16:creationId xmlns:a16="http://schemas.microsoft.com/office/drawing/2014/main" id="{D99F5DE2-B940-4B6C-A29E-2A0993A37047}"/>
                    </a:ext>
                  </a:extLst>
                </p:cNvPr>
                <p:cNvSpPr/>
                <p:nvPr/>
              </p:nvSpPr>
              <p:spPr>
                <a:xfrm>
                  <a:off x="7140888" y="2060575"/>
                  <a:ext cx="71866" cy="52790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grpSp>
          <p:grpSp>
            <p:nvGrpSpPr>
              <p:cNvPr id="18" name="그룹 17">
                <a:extLst>
                  <a:ext uri="{FF2B5EF4-FFF2-40B4-BE49-F238E27FC236}">
                    <a16:creationId xmlns:a16="http://schemas.microsoft.com/office/drawing/2014/main" id="{836D290D-09AD-4EE0-9C7A-AD71B149F0F7}"/>
                  </a:ext>
                </a:extLst>
              </p:cNvPr>
              <p:cNvGrpSpPr/>
              <p:nvPr/>
            </p:nvGrpSpPr>
            <p:grpSpPr>
              <a:xfrm>
                <a:off x="6691997" y="2741393"/>
                <a:ext cx="977817" cy="396317"/>
                <a:chOff x="6342673" y="2060575"/>
                <a:chExt cx="959194" cy="527904"/>
              </a:xfrm>
            </p:grpSpPr>
            <p:sp>
              <p:nvSpPr>
                <p:cNvPr id="41" name="직사각형 40">
                  <a:extLst>
                    <a:ext uri="{FF2B5EF4-FFF2-40B4-BE49-F238E27FC236}">
                      <a16:creationId xmlns:a16="http://schemas.microsoft.com/office/drawing/2014/main" id="{68E82653-8BE9-4A7C-A043-237E993145AB}"/>
                    </a:ext>
                  </a:extLst>
                </p:cNvPr>
                <p:cNvSpPr/>
                <p:nvPr/>
              </p:nvSpPr>
              <p:spPr>
                <a:xfrm>
                  <a:off x="6342673" y="2060575"/>
                  <a:ext cx="866179" cy="52790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a:latin typeface="SamsungOne 400" panose="020B0503030303020204" pitchFamily="34" charset="0"/>
                      <a:ea typeface="SamsungOne 400" panose="020B0503030303020204" pitchFamily="34" charset="0"/>
                    </a:rPr>
                    <a:t>Bootstrap 2</a:t>
                  </a:r>
                  <a:endParaRPr lang="ko-KR" altLang="en-US" sz="1200" dirty="0">
                    <a:latin typeface="SamsungOne 400" panose="020B0503030303020204" pitchFamily="34" charset="0"/>
                  </a:endParaRPr>
                </a:p>
              </p:txBody>
            </p:sp>
            <p:sp>
              <p:nvSpPr>
                <p:cNvPr id="42" name="직사각형 41">
                  <a:extLst>
                    <a:ext uri="{FF2B5EF4-FFF2-40B4-BE49-F238E27FC236}">
                      <a16:creationId xmlns:a16="http://schemas.microsoft.com/office/drawing/2014/main" id="{66F7BC4E-14C2-49E4-931B-F4960AF1927A}"/>
                    </a:ext>
                  </a:extLst>
                </p:cNvPr>
                <p:cNvSpPr/>
                <p:nvPr/>
              </p:nvSpPr>
              <p:spPr>
                <a:xfrm>
                  <a:off x="7235551" y="2060575"/>
                  <a:ext cx="66316" cy="52790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a:p>
              </p:txBody>
            </p:sp>
          </p:grpSp>
          <p:grpSp>
            <p:nvGrpSpPr>
              <p:cNvPr id="19" name="그룹 18">
                <a:extLst>
                  <a:ext uri="{FF2B5EF4-FFF2-40B4-BE49-F238E27FC236}">
                    <a16:creationId xmlns:a16="http://schemas.microsoft.com/office/drawing/2014/main" id="{2EF37D84-EC08-4A54-8566-329E3E62059E}"/>
                  </a:ext>
                </a:extLst>
              </p:cNvPr>
              <p:cNvGrpSpPr/>
              <p:nvPr/>
            </p:nvGrpSpPr>
            <p:grpSpPr>
              <a:xfrm>
                <a:off x="8115349" y="2741393"/>
                <a:ext cx="974623" cy="396317"/>
                <a:chOff x="6246495" y="2060575"/>
                <a:chExt cx="956059" cy="527904"/>
              </a:xfrm>
            </p:grpSpPr>
            <p:sp>
              <p:nvSpPr>
                <p:cNvPr id="39" name="직사각형 38">
                  <a:extLst>
                    <a:ext uri="{FF2B5EF4-FFF2-40B4-BE49-F238E27FC236}">
                      <a16:creationId xmlns:a16="http://schemas.microsoft.com/office/drawing/2014/main" id="{92A44669-FE2E-4D78-A115-58A8CD9D87BA}"/>
                    </a:ext>
                  </a:extLst>
                </p:cNvPr>
                <p:cNvSpPr/>
                <p:nvPr/>
              </p:nvSpPr>
              <p:spPr>
                <a:xfrm>
                  <a:off x="6246495" y="2060575"/>
                  <a:ext cx="866179" cy="52790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latin typeface="SamsungOne 400" panose="020B0503030303020204" pitchFamily="34" charset="0"/>
                      <a:ea typeface="SamsungOne 400" panose="020B0503030303020204" pitchFamily="34" charset="0"/>
                    </a:rPr>
                    <a:t>Bootstrap 3</a:t>
                  </a:r>
                  <a:endParaRPr lang="ko-KR" altLang="en-US" sz="1200" dirty="0">
                    <a:latin typeface="SamsungOne 400" panose="020B0503030303020204" pitchFamily="34" charset="0"/>
                  </a:endParaRPr>
                </a:p>
              </p:txBody>
            </p:sp>
            <p:sp>
              <p:nvSpPr>
                <p:cNvPr id="40" name="직사각형 39">
                  <a:extLst>
                    <a:ext uri="{FF2B5EF4-FFF2-40B4-BE49-F238E27FC236}">
                      <a16:creationId xmlns:a16="http://schemas.microsoft.com/office/drawing/2014/main" id="{BE898022-9082-40F7-8502-8A9888C41AAB}"/>
                    </a:ext>
                  </a:extLst>
                </p:cNvPr>
                <p:cNvSpPr/>
                <p:nvPr/>
              </p:nvSpPr>
              <p:spPr>
                <a:xfrm>
                  <a:off x="7137094" y="2060575"/>
                  <a:ext cx="65460" cy="52790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grpSp>
          <p:sp>
            <p:nvSpPr>
              <p:cNvPr id="20" name="TextBox 19">
                <a:extLst>
                  <a:ext uri="{FF2B5EF4-FFF2-40B4-BE49-F238E27FC236}">
                    <a16:creationId xmlns:a16="http://schemas.microsoft.com/office/drawing/2014/main" id="{65DBC043-FBFC-40A1-A14D-57C14BE12AA9}"/>
                  </a:ext>
                </a:extLst>
              </p:cNvPr>
              <p:cNvSpPr txBox="1"/>
              <p:nvPr/>
            </p:nvSpPr>
            <p:spPr>
              <a:xfrm>
                <a:off x="7749041" y="2668043"/>
                <a:ext cx="415477" cy="369332"/>
              </a:xfrm>
              <a:prstGeom prst="rect">
                <a:avLst/>
              </a:prstGeom>
              <a:noFill/>
            </p:spPr>
            <p:txBody>
              <a:bodyPr wrap="square">
                <a:spAutoFit/>
              </a:bodyPr>
              <a:lstStyle/>
              <a:p>
                <a:pPr algn="ctr"/>
                <a:r>
                  <a:rPr lang="en-US" altLang="ko-KR" sz="1800" dirty="0">
                    <a:solidFill>
                      <a:schemeClr val="tx1"/>
                    </a:solidFill>
                    <a:latin typeface="SamsungOne 400" panose="020B0503030303020204" pitchFamily="34" charset="0"/>
                    <a:ea typeface="SamsungOne 400" panose="020B0503030303020204" pitchFamily="34" charset="0"/>
                  </a:rPr>
                  <a:t>…</a:t>
                </a:r>
                <a:endParaRPr lang="ko-KR" altLang="en-US" dirty="0"/>
              </a:p>
            </p:txBody>
          </p:sp>
          <p:cxnSp>
            <p:nvCxnSpPr>
              <p:cNvPr id="21" name="연결선: 꺾임 20">
                <a:extLst>
                  <a:ext uri="{FF2B5EF4-FFF2-40B4-BE49-F238E27FC236}">
                    <a16:creationId xmlns:a16="http://schemas.microsoft.com/office/drawing/2014/main" id="{D12230C3-2E90-4E80-B1CE-A380CE599D5F}"/>
                  </a:ext>
                </a:extLst>
              </p:cNvPr>
              <p:cNvCxnSpPr>
                <a:stCxn id="45" idx="2"/>
                <a:endCxn id="43" idx="0"/>
              </p:cNvCxnSpPr>
              <p:nvPr/>
            </p:nvCxnSpPr>
            <p:spPr>
              <a:xfrm rot="5400000">
                <a:off x="6455522" y="1862333"/>
                <a:ext cx="284501" cy="1473618"/>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연결선: 꺾임 21">
                <a:extLst>
                  <a:ext uri="{FF2B5EF4-FFF2-40B4-BE49-F238E27FC236}">
                    <a16:creationId xmlns:a16="http://schemas.microsoft.com/office/drawing/2014/main" id="{DB146302-39F9-4570-AAFC-41825FE1EE48}"/>
                  </a:ext>
                </a:extLst>
              </p:cNvPr>
              <p:cNvCxnSpPr>
                <a:cxnSpLocks/>
                <a:stCxn id="45" idx="2"/>
                <a:endCxn id="41" idx="0"/>
              </p:cNvCxnSpPr>
              <p:nvPr/>
            </p:nvCxnSpPr>
            <p:spPr>
              <a:xfrm rot="5400000">
                <a:off x="7091795" y="2498606"/>
                <a:ext cx="284501" cy="201073"/>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연결선: 꺾임 25">
                <a:extLst>
                  <a:ext uri="{FF2B5EF4-FFF2-40B4-BE49-F238E27FC236}">
                    <a16:creationId xmlns:a16="http://schemas.microsoft.com/office/drawing/2014/main" id="{64FE2C6C-1BA6-4176-8F77-55A5014677A7}"/>
                  </a:ext>
                </a:extLst>
              </p:cNvPr>
              <p:cNvCxnSpPr>
                <a:stCxn id="45" idx="2"/>
                <a:endCxn id="39" idx="0"/>
              </p:cNvCxnSpPr>
              <p:nvPr/>
            </p:nvCxnSpPr>
            <p:spPr>
              <a:xfrm rot="16200000" flipH="1">
                <a:off x="7803465" y="1988007"/>
                <a:ext cx="284501" cy="1222269"/>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직사각형 26">
                <a:extLst>
                  <a:ext uri="{FF2B5EF4-FFF2-40B4-BE49-F238E27FC236}">
                    <a16:creationId xmlns:a16="http://schemas.microsoft.com/office/drawing/2014/main" id="{7607039C-CC08-48E7-AD33-92B8F33E0F46}"/>
                  </a:ext>
                </a:extLst>
              </p:cNvPr>
              <p:cNvSpPr/>
              <p:nvPr/>
            </p:nvSpPr>
            <p:spPr>
              <a:xfrm>
                <a:off x="5481070" y="3491471"/>
                <a:ext cx="882998" cy="39631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latin typeface="SamsungOne 400" panose="020B0503030303020204" pitchFamily="34" charset="0"/>
                    <a:ea typeface="SamsungOne 400" panose="020B0503030303020204" pitchFamily="34" charset="0"/>
                  </a:rPr>
                  <a:t>Model 1</a:t>
                </a:r>
                <a:endParaRPr lang="ko-KR" altLang="en-US" sz="1200" dirty="0">
                  <a:latin typeface="SamsungOne 400" panose="020B0503030303020204" pitchFamily="34" charset="0"/>
                </a:endParaRPr>
              </a:p>
            </p:txBody>
          </p:sp>
          <p:sp>
            <p:nvSpPr>
              <p:cNvPr id="28" name="직사각형 27">
                <a:extLst>
                  <a:ext uri="{FF2B5EF4-FFF2-40B4-BE49-F238E27FC236}">
                    <a16:creationId xmlns:a16="http://schemas.microsoft.com/office/drawing/2014/main" id="{C60B9CB5-EE0B-4840-ACE3-0DF9FC4B7CE9}"/>
                  </a:ext>
                </a:extLst>
              </p:cNvPr>
              <p:cNvSpPr/>
              <p:nvPr/>
            </p:nvSpPr>
            <p:spPr>
              <a:xfrm>
                <a:off x="6866503" y="3491471"/>
                <a:ext cx="882998" cy="39631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latin typeface="SamsungOne 400" panose="020B0503030303020204" pitchFamily="34" charset="0"/>
                    <a:ea typeface="SamsungOne 400" panose="020B0503030303020204" pitchFamily="34" charset="0"/>
                  </a:rPr>
                  <a:t>Model 2</a:t>
                </a:r>
                <a:endParaRPr lang="ko-KR" altLang="en-US" sz="1200" dirty="0">
                  <a:latin typeface="SamsungOne 400" panose="020B0503030303020204" pitchFamily="34" charset="0"/>
                </a:endParaRPr>
              </a:p>
            </p:txBody>
          </p:sp>
          <p:sp>
            <p:nvSpPr>
              <p:cNvPr id="29" name="직사각형 28">
                <a:extLst>
                  <a:ext uri="{FF2B5EF4-FFF2-40B4-BE49-F238E27FC236}">
                    <a16:creationId xmlns:a16="http://schemas.microsoft.com/office/drawing/2014/main" id="{BEEFABA3-1F29-444C-9032-0CFDF8BB3375}"/>
                  </a:ext>
                </a:extLst>
              </p:cNvPr>
              <p:cNvSpPr/>
              <p:nvPr/>
            </p:nvSpPr>
            <p:spPr>
              <a:xfrm>
                <a:off x="8251935" y="3491471"/>
                <a:ext cx="882998" cy="39631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latin typeface="SamsungOne 400" panose="020B0503030303020204" pitchFamily="34" charset="0"/>
                    <a:ea typeface="SamsungOne 400" panose="020B0503030303020204" pitchFamily="34" charset="0"/>
                  </a:rPr>
                  <a:t>Model 3</a:t>
                </a:r>
                <a:endParaRPr lang="ko-KR" altLang="en-US" sz="1200" dirty="0">
                  <a:latin typeface="SamsungOne 400" panose="020B0503030303020204" pitchFamily="34" charset="0"/>
                </a:endParaRPr>
              </a:p>
            </p:txBody>
          </p:sp>
          <p:cxnSp>
            <p:nvCxnSpPr>
              <p:cNvPr id="30" name="직선 화살표 연결선 29">
                <a:extLst>
                  <a:ext uri="{FF2B5EF4-FFF2-40B4-BE49-F238E27FC236}">
                    <a16:creationId xmlns:a16="http://schemas.microsoft.com/office/drawing/2014/main" id="{64A05C53-0558-40CA-914C-3F86AD11E3AA}"/>
                  </a:ext>
                </a:extLst>
              </p:cNvPr>
              <p:cNvCxnSpPr/>
              <p:nvPr/>
            </p:nvCxnSpPr>
            <p:spPr>
              <a:xfrm>
                <a:off x="5860963" y="3137710"/>
                <a:ext cx="0" cy="27248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592B82EA-8E46-4861-8F67-CD382359B804}"/>
                  </a:ext>
                </a:extLst>
              </p:cNvPr>
              <p:cNvCxnSpPr/>
              <p:nvPr/>
            </p:nvCxnSpPr>
            <p:spPr>
              <a:xfrm>
                <a:off x="7173505" y="3137710"/>
                <a:ext cx="0" cy="27248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직선 화살표 연결선 31">
                <a:extLst>
                  <a:ext uri="{FF2B5EF4-FFF2-40B4-BE49-F238E27FC236}">
                    <a16:creationId xmlns:a16="http://schemas.microsoft.com/office/drawing/2014/main" id="{778F9A6E-789E-4418-8157-97665BC020DC}"/>
                  </a:ext>
                </a:extLst>
              </p:cNvPr>
              <p:cNvCxnSpPr/>
              <p:nvPr/>
            </p:nvCxnSpPr>
            <p:spPr>
              <a:xfrm>
                <a:off x="8674461" y="3137710"/>
                <a:ext cx="0" cy="27248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890A965-CB18-4C7B-B591-51F80D331389}"/>
                  </a:ext>
                </a:extLst>
              </p:cNvPr>
              <p:cNvSpPr txBox="1"/>
              <p:nvPr/>
            </p:nvSpPr>
            <p:spPr>
              <a:xfrm>
                <a:off x="6677236" y="4628478"/>
                <a:ext cx="1593299" cy="292388"/>
              </a:xfrm>
              <a:prstGeom prst="rect">
                <a:avLst/>
              </a:prstGeom>
              <a:noFill/>
            </p:spPr>
            <p:txBody>
              <a:bodyPr wrap="square">
                <a:spAutoFit/>
              </a:bodyPr>
              <a:lstStyle/>
              <a:p>
                <a:pPr algn="ctr"/>
                <a:r>
                  <a:rPr lang="en-US" altLang="ko-KR" sz="1300" b="1" dirty="0">
                    <a:latin typeface="SamsungOne 400" panose="020B0503030303020204" pitchFamily="34" charset="0"/>
                    <a:ea typeface="SamsungOne 400" panose="020B0503030303020204" pitchFamily="34" charset="0"/>
                  </a:rPr>
                  <a:t>Vote</a:t>
                </a:r>
                <a:endParaRPr lang="ko-KR" altLang="en-US" sz="1300" b="1" dirty="0">
                  <a:latin typeface="SamsungOne 400" panose="020B0503030303020204" pitchFamily="34" charset="0"/>
                </a:endParaRPr>
              </a:p>
            </p:txBody>
          </p:sp>
          <p:sp>
            <p:nvSpPr>
              <p:cNvPr id="34" name="TextBox 33">
                <a:extLst>
                  <a:ext uri="{FF2B5EF4-FFF2-40B4-BE49-F238E27FC236}">
                    <a16:creationId xmlns:a16="http://schemas.microsoft.com/office/drawing/2014/main" id="{07BD48BA-C015-44ED-B49F-274E0ACF3F3C}"/>
                  </a:ext>
                </a:extLst>
              </p:cNvPr>
              <p:cNvSpPr txBox="1"/>
              <p:nvPr/>
            </p:nvSpPr>
            <p:spPr>
              <a:xfrm>
                <a:off x="7641927" y="4281455"/>
                <a:ext cx="1593299" cy="292388"/>
              </a:xfrm>
              <a:prstGeom prst="rect">
                <a:avLst/>
              </a:prstGeom>
              <a:noFill/>
            </p:spPr>
            <p:txBody>
              <a:bodyPr wrap="square">
                <a:spAutoFit/>
              </a:bodyPr>
              <a:lstStyle/>
              <a:p>
                <a:pPr algn="r"/>
                <a:r>
                  <a:rPr lang="en-US" altLang="ko-KR" sz="1300" b="1" dirty="0">
                    <a:latin typeface="SamsungOne 400" panose="020B0503030303020204" pitchFamily="34" charset="0"/>
                    <a:ea typeface="SamsungOne 400" panose="020B0503030303020204" pitchFamily="34" charset="0"/>
                  </a:rPr>
                  <a:t>Bagged Ensemble</a:t>
                </a:r>
                <a:endParaRPr lang="ko-KR" altLang="en-US" sz="1300" b="1" dirty="0">
                  <a:latin typeface="SamsungOne 400" panose="020B0503030303020204" pitchFamily="34" charset="0"/>
                </a:endParaRPr>
              </a:p>
            </p:txBody>
          </p:sp>
          <p:cxnSp>
            <p:nvCxnSpPr>
              <p:cNvPr id="35" name="연결선: 꺾임 34">
                <a:extLst>
                  <a:ext uri="{FF2B5EF4-FFF2-40B4-BE49-F238E27FC236}">
                    <a16:creationId xmlns:a16="http://schemas.microsoft.com/office/drawing/2014/main" id="{FC17E3A5-181A-4F05-BFD3-CBFEE26F23F7}"/>
                  </a:ext>
                </a:extLst>
              </p:cNvPr>
              <p:cNvCxnSpPr>
                <a:stCxn id="29" idx="2"/>
                <a:endCxn id="33" idx="0"/>
              </p:cNvCxnSpPr>
              <p:nvPr/>
            </p:nvCxnSpPr>
            <p:spPr>
              <a:xfrm rot="5400000">
                <a:off x="7713315" y="3648359"/>
                <a:ext cx="740690" cy="1219548"/>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연결선: 꺾임 35">
                <a:extLst>
                  <a:ext uri="{FF2B5EF4-FFF2-40B4-BE49-F238E27FC236}">
                    <a16:creationId xmlns:a16="http://schemas.microsoft.com/office/drawing/2014/main" id="{B50B2C41-B1F8-4F2A-BAB5-AE4337A7866F}"/>
                  </a:ext>
                </a:extLst>
              </p:cNvPr>
              <p:cNvCxnSpPr>
                <a:stCxn id="28" idx="2"/>
                <a:endCxn id="33" idx="0"/>
              </p:cNvCxnSpPr>
              <p:nvPr/>
            </p:nvCxnSpPr>
            <p:spPr>
              <a:xfrm rot="16200000" flipH="1">
                <a:off x="7020599" y="4175191"/>
                <a:ext cx="740690" cy="165884"/>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연결선: 꺾임 36">
                <a:extLst>
                  <a:ext uri="{FF2B5EF4-FFF2-40B4-BE49-F238E27FC236}">
                    <a16:creationId xmlns:a16="http://schemas.microsoft.com/office/drawing/2014/main" id="{512FF31F-6C5C-4745-A8ED-6A6100AC9652}"/>
                  </a:ext>
                </a:extLst>
              </p:cNvPr>
              <p:cNvCxnSpPr>
                <a:cxnSpLocks/>
                <a:stCxn id="27" idx="2"/>
                <a:endCxn id="33" idx="0"/>
              </p:cNvCxnSpPr>
              <p:nvPr/>
            </p:nvCxnSpPr>
            <p:spPr>
              <a:xfrm rot="16200000" flipH="1">
                <a:off x="6327882" y="3482474"/>
                <a:ext cx="740690" cy="1551317"/>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직사각형 37">
                <a:extLst>
                  <a:ext uri="{FF2B5EF4-FFF2-40B4-BE49-F238E27FC236}">
                    <a16:creationId xmlns:a16="http://schemas.microsoft.com/office/drawing/2014/main" id="{8C492D7E-832B-4FEA-ADE7-EA0FE7F1D869}"/>
                  </a:ext>
                </a:extLst>
              </p:cNvPr>
              <p:cNvSpPr/>
              <p:nvPr/>
            </p:nvSpPr>
            <p:spPr>
              <a:xfrm>
                <a:off x="7388575" y="4920866"/>
                <a:ext cx="157199" cy="20050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p>
            </p:txBody>
          </p:sp>
        </p:grpSp>
      </p:grpSp>
    </p:spTree>
    <p:extLst>
      <p:ext uri="{BB962C8B-B14F-4D97-AF65-F5344CB8AC3E}">
        <p14:creationId xmlns:p14="http://schemas.microsoft.com/office/powerpoint/2010/main" val="3857939506"/>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8.2. Bagging &amp; Random Forest</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31DF3F79-726D-45C2-92D6-012109C05F3F}"/>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Differences Between Bagging and</a:t>
            </a:r>
            <a:r>
              <a:rPr lang="ko-KR" altLang="en-US" sz="1400" dirty="0">
                <a:solidFill>
                  <a:schemeClr val="tx1"/>
                </a:solidFill>
                <a:latin typeface="SamsungOne 400" panose="020B0503030303020204" pitchFamily="34" charset="0"/>
                <a:ea typeface="SamsungOne 400" panose="020B0503030303020204" pitchFamily="34" charset="0"/>
              </a:rPr>
              <a:t> </a:t>
            </a:r>
            <a:r>
              <a:rPr lang="en-US" altLang="ko-KR" sz="1400" dirty="0">
                <a:solidFill>
                  <a:schemeClr val="tx1"/>
                </a:solidFill>
                <a:latin typeface="SamsungOne 400" panose="020B0503030303020204" pitchFamily="34" charset="0"/>
                <a:ea typeface="SamsungOne 400" panose="020B0503030303020204" pitchFamily="34" charset="0"/>
              </a:rPr>
              <a:t>Voting</a:t>
            </a:r>
          </a:p>
        </p:txBody>
      </p:sp>
      <p:sp>
        <p:nvSpPr>
          <p:cNvPr id="10" name="직사각형 9">
            <a:extLst>
              <a:ext uri="{FF2B5EF4-FFF2-40B4-BE49-F238E27FC236}">
                <a16:creationId xmlns:a16="http://schemas.microsoft.com/office/drawing/2014/main" id="{5781854C-388B-435E-884E-E20003E456BB}"/>
              </a:ext>
            </a:extLst>
          </p:cNvPr>
          <p:cNvSpPr/>
          <p:nvPr/>
        </p:nvSpPr>
        <p:spPr>
          <a:xfrm>
            <a:off x="675556" y="1700213"/>
            <a:ext cx="8632825" cy="19510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greatest difference between the bagging and voting methods is whether to use multiple single algorithms or apply various algorithms to the same sample dataset.</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general, the bragging method is to train a single algorithm with different sampling datasets and perform voting. It has relatively better usability than the voting method because it uses a single algorithm. Thus, what is important is the hyperparameter of the single algorithm. </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Taking the Random Forest algorithm as an example again, it is suitable to obtain the baseline score as it requires simple hyperparameter setting such as how many trees to use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n_estimators</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maximum depth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max_depth</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and the minimum number of samples for splitting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min_samples_leaf</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p:txBody>
      </p:sp>
    </p:spTree>
    <p:extLst>
      <p:ext uri="{BB962C8B-B14F-4D97-AF65-F5344CB8AC3E}">
        <p14:creationId xmlns:p14="http://schemas.microsoft.com/office/powerpoint/2010/main" val="2434275864"/>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8.2. Bagging &amp; Random Forest</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31DF3F79-726D-45C2-92D6-012109C05F3F}"/>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Advantages of the Bagging Ensemble</a:t>
            </a:r>
          </a:p>
        </p:txBody>
      </p:sp>
      <p:sp>
        <p:nvSpPr>
          <p:cNvPr id="10" name="직사각형 9">
            <a:extLst>
              <a:ext uri="{FF2B5EF4-FFF2-40B4-BE49-F238E27FC236}">
                <a16:creationId xmlns:a16="http://schemas.microsoft.com/office/drawing/2014/main" id="{5781854C-388B-435E-884E-E20003E456BB}"/>
              </a:ext>
            </a:extLst>
          </p:cNvPr>
          <p:cNvSpPr/>
          <p:nvPr/>
        </p:nvSpPr>
        <p:spPr>
          <a:xfrm>
            <a:off x="675556" y="1700213"/>
            <a:ext cx="8632825" cy="1048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When using the bagging method, it can reduce variance compared to making a prediction with a single model. There are three major training errors in a model: variance, noise, and bias. (Of course, more significant factors include overfitting/</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underfitting</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and many different preprocessing issues, but assume they are already being set.)</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ensemble method reduces variance, thus enhancing the performance of the final result. </a:t>
            </a:r>
          </a:p>
        </p:txBody>
      </p:sp>
    </p:spTree>
    <p:extLst>
      <p:ext uri="{BB962C8B-B14F-4D97-AF65-F5344CB8AC3E}">
        <p14:creationId xmlns:p14="http://schemas.microsoft.com/office/powerpoint/2010/main" val="2970094855"/>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8.2. Bagging &amp; Random Forest</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2" name="직사각형 11">
            <a:extLst>
              <a:ext uri="{FF2B5EF4-FFF2-40B4-BE49-F238E27FC236}">
                <a16:creationId xmlns:a16="http://schemas.microsoft.com/office/drawing/2014/main" id="{31DF3F79-726D-45C2-92D6-012109C05F3F}"/>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err="1">
                <a:solidFill>
                  <a:schemeClr val="tx1"/>
                </a:solidFill>
                <a:latin typeface="SamsungOne 400" panose="020B0503030303020204" pitchFamily="34" charset="0"/>
                <a:ea typeface="SamsungOne 400" panose="020B0503030303020204" pitchFamily="34" charset="0"/>
              </a:rPr>
              <a:t>sklearn.ensemble.BaggingClassifer</a:t>
            </a:r>
            <a:r>
              <a:rPr lang="en-US" altLang="ko-KR" sz="1400" dirty="0">
                <a:solidFill>
                  <a:schemeClr val="tx1"/>
                </a:solidFill>
                <a:latin typeface="SamsungOne 400" panose="020B0503030303020204" pitchFamily="34" charset="0"/>
                <a:ea typeface="SamsungOne 400" panose="020B0503030303020204" pitchFamily="34" charset="0"/>
              </a:rPr>
              <a:t>/</a:t>
            </a:r>
            <a:r>
              <a:rPr lang="en-US" altLang="ko-KR" sz="1400" dirty="0" err="1">
                <a:solidFill>
                  <a:schemeClr val="tx1"/>
                </a:solidFill>
                <a:latin typeface="SamsungOne 400" panose="020B0503030303020204" pitchFamily="34" charset="0"/>
                <a:ea typeface="SamsungOne 400" panose="020B0503030303020204" pitchFamily="34" charset="0"/>
              </a:rPr>
              <a:t>BaggingRegressor</a:t>
            </a:r>
            <a:endParaRPr lang="en-US" altLang="ko-KR" sz="1400" dirty="0">
              <a:solidFill>
                <a:schemeClr val="tx1"/>
              </a:solidFill>
              <a:latin typeface="SamsungOne 400" panose="020B0503030303020204" pitchFamily="34" charset="0"/>
              <a:ea typeface="SamsungOne 400" panose="020B0503030303020204" pitchFamily="34" charset="0"/>
            </a:endParaRPr>
          </a:p>
        </p:txBody>
      </p:sp>
      <p:sp>
        <p:nvSpPr>
          <p:cNvPr id="10" name="직사각형 9">
            <a:extLst>
              <a:ext uri="{FF2B5EF4-FFF2-40B4-BE49-F238E27FC236}">
                <a16:creationId xmlns:a16="http://schemas.microsoft.com/office/drawing/2014/main" id="{5781854C-388B-435E-884E-E20003E456BB}"/>
              </a:ext>
            </a:extLst>
          </p:cNvPr>
          <p:cNvSpPr/>
          <p:nvPr/>
        </p:nvSpPr>
        <p:spPr>
          <a:xfrm>
            <a:off x="675556" y="1700213"/>
            <a:ext cx="8632825" cy="848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sklearn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library package provides the wrapper class called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BaggingClassifier</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BaggingRegressor</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When designating the base algorithm to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base_estimator</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parameter,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BaggingClassifier</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BaggingRegressor</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performs bagging ensemble. </a:t>
            </a:r>
          </a:p>
        </p:txBody>
      </p:sp>
    </p:spTree>
    <p:extLst>
      <p:ext uri="{BB962C8B-B14F-4D97-AF65-F5344CB8AC3E}">
        <p14:creationId xmlns:p14="http://schemas.microsoft.com/office/powerpoint/2010/main" val="828615083"/>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33">
            <a:extLst>
              <a:ext uri="{FF2B5EF4-FFF2-40B4-BE49-F238E27FC236}">
                <a16:creationId xmlns:a16="http://schemas.microsoft.com/office/drawing/2014/main" id="{551F01E8-8777-4A7B-AD71-63E7C805C68C}"/>
              </a:ext>
            </a:extLst>
          </p:cNvPr>
          <p:cNvSpPr/>
          <p:nvPr/>
        </p:nvSpPr>
        <p:spPr>
          <a:xfrm>
            <a:off x="989683" y="3133792"/>
            <a:ext cx="8913142"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3200" dirty="0">
                <a:solidFill>
                  <a:prstClr val="black"/>
                </a:solidFill>
                <a:latin typeface="Samsung Sharp Sans" pitchFamily="2" charset="0"/>
                <a:ea typeface="맑은 고딕" panose="020B0503020000020004" pitchFamily="50" charset="-127"/>
                <a:cs typeface="Samsung Sharp Sans" pitchFamily="2" charset="0"/>
              </a:rPr>
              <a:t>Ensemble Algorithm</a:t>
            </a:r>
          </a:p>
        </p:txBody>
      </p:sp>
      <p:sp>
        <p:nvSpPr>
          <p:cNvPr id="21" name="직사각형 133">
            <a:extLst>
              <a:ext uri="{FF2B5EF4-FFF2-40B4-BE49-F238E27FC236}">
                <a16:creationId xmlns:a16="http://schemas.microsoft.com/office/drawing/2014/main" id="{F30E60FD-5340-4E90-99F1-BB9E55EB305D}"/>
              </a:ext>
            </a:extLst>
          </p:cNvPr>
          <p:cNvSpPr/>
          <p:nvPr/>
        </p:nvSpPr>
        <p:spPr>
          <a:xfrm>
            <a:off x="989683" y="2748696"/>
            <a:ext cx="5477955" cy="3076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fontAlgn="base" latinLnBrk="1">
              <a:spcBef>
                <a:spcPct val="0"/>
              </a:spcBef>
              <a:spcAft>
                <a:spcPct val="0"/>
              </a:spcAft>
              <a:defRPr/>
            </a:pPr>
            <a:r>
              <a:rPr kumimoji="1" lang="en-US" altLang="ko-KR" sz="1999" dirty="0">
                <a:solidFill>
                  <a:prstClr val="white">
                    <a:lumMod val="50000"/>
                  </a:prstClr>
                </a:solidFill>
                <a:latin typeface="Samsung Sharp Sans" pitchFamily="2" charset="0"/>
                <a:ea typeface="Samsung Sharp Sans" pitchFamily="2" charset="0"/>
                <a:cs typeface="Samsung Sharp Sans" pitchFamily="2" charset="0"/>
              </a:rPr>
              <a:t>Unit 8. </a:t>
            </a:r>
            <a:endParaRPr kumimoji="1" lang="en-US" altLang="ko-KR" sz="5398" dirty="0">
              <a:solidFill>
                <a:prstClr val="white">
                  <a:lumMod val="50000"/>
                </a:prstClr>
              </a:solidFill>
              <a:latin typeface="Samsung Sharp Sans" pitchFamily="2" charset="0"/>
              <a:ea typeface="Samsung Sharp Sans" pitchFamily="2" charset="0"/>
              <a:cs typeface="Samsung Sharp Sans" pitchFamily="2" charset="0"/>
            </a:endParaRPr>
          </a:p>
        </p:txBody>
      </p:sp>
      <p:sp>
        <p:nvSpPr>
          <p:cNvPr id="11" name="직사각형 10">
            <a:extLst>
              <a:ext uri="{FF2B5EF4-FFF2-40B4-BE49-F238E27FC236}">
                <a16:creationId xmlns:a16="http://schemas.microsoft.com/office/drawing/2014/main" id="{07CBE376-934F-4F02-851D-3B0DB538BEA9}"/>
              </a:ext>
            </a:extLst>
          </p:cNvPr>
          <p:cNvSpPr/>
          <p:nvPr/>
        </p:nvSpPr>
        <p:spPr>
          <a:xfrm>
            <a:off x="1054111" y="3929021"/>
            <a:ext cx="5697501" cy="10874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76213" marR="0" lvl="0" indent="-176213" fontAlgn="base">
              <a:lnSpc>
                <a:spcPct val="100000"/>
              </a:lnSpc>
              <a:spcBef>
                <a:spcPct val="0"/>
              </a:spcBef>
              <a:spcAft>
                <a:spcPts val="1000"/>
              </a:spcAft>
              <a:buClrTx/>
              <a:buSzPct val="120000"/>
              <a:buBlip>
                <a:blip r:embed="rId3"/>
              </a:buBlip>
              <a:tabLst/>
              <a:defRPr/>
            </a:pPr>
            <a:r>
              <a:rPr lang="en-US" altLang="ko-KR" dirty="0">
                <a:solidFill>
                  <a:srgbClr val="A6A6A6"/>
                </a:solidFill>
                <a:latin typeface="SamsungOne 400" panose="020B0503030303020204" pitchFamily="34" charset="0"/>
                <a:ea typeface="SamsungOne 400" panose="020B0503030303020204" pitchFamily="34" charset="0"/>
              </a:rPr>
              <a:t>8.1. The Concept of Ensemble Algorithm and Voting</a:t>
            </a:r>
          </a:p>
          <a:p>
            <a:pPr marL="176213" indent="-176213" fontAlgn="base">
              <a:spcBef>
                <a:spcPct val="0"/>
              </a:spcBef>
              <a:spcAft>
                <a:spcPts val="1000"/>
              </a:spcAft>
              <a:buSzPct val="120000"/>
              <a:buBlip>
                <a:blip r:embed="rId3"/>
              </a:buBlip>
              <a:defRPr/>
            </a:pPr>
            <a:r>
              <a:rPr lang="en-US" altLang="ko-KR" dirty="0">
                <a:solidFill>
                  <a:srgbClr val="A6A6A6"/>
                </a:solidFill>
                <a:latin typeface="SamsungOne 400" panose="020B0503030303020204" pitchFamily="34" charset="0"/>
                <a:ea typeface="SamsungOne 400" panose="020B0503030303020204" pitchFamily="34" charset="0"/>
              </a:rPr>
              <a:t>8.2. Bagging &amp; Random Forest</a:t>
            </a:r>
            <a:endParaRPr lang="ko-KR" altLang="en-US" dirty="0">
              <a:solidFill>
                <a:srgbClr val="A6A6A6"/>
              </a:solidFill>
              <a:latin typeface="SamsungOne 400" panose="020B0503030303020204" pitchFamily="34" charset="0"/>
            </a:endParaRPr>
          </a:p>
          <a:p>
            <a:pPr marL="176213" indent="-176213" defTabSz="914400" fontAlgn="base" latinLnBrk="1">
              <a:spcBef>
                <a:spcPct val="0"/>
              </a:spcBef>
              <a:spcAft>
                <a:spcPts val="1000"/>
              </a:spcAft>
              <a:buSzPct val="120000"/>
              <a:buBlip>
                <a:blip r:embed="rId4"/>
              </a:buBlip>
              <a:defRPr/>
            </a:pPr>
            <a:r>
              <a:rPr kumimoji="1" lang="en-US" altLang="ko-KR" dirty="0">
                <a:solidFill>
                  <a:prstClr val="black">
                    <a:lumMod val="75000"/>
                    <a:lumOff val="25000"/>
                  </a:prstClr>
                </a:solidFill>
                <a:latin typeface="SamsungOne-700" panose="020B0803030303020204" pitchFamily="34" charset="0"/>
                <a:ea typeface="SamsungOne-700" panose="020B0803030303020204" pitchFamily="34" charset="0"/>
              </a:rPr>
              <a:t>8.3. Boosting</a:t>
            </a:r>
            <a:endParaRPr kumimoji="1" lang="ko-KR" altLang="en-US" dirty="0">
              <a:solidFill>
                <a:prstClr val="black">
                  <a:lumMod val="75000"/>
                  <a:lumOff val="25000"/>
                </a:prstClr>
              </a:solidFill>
              <a:latin typeface="SamsungOne-700" panose="020B0803030303020204" pitchFamily="34" charset="0"/>
            </a:endParaRPr>
          </a:p>
        </p:txBody>
      </p:sp>
    </p:spTree>
    <p:extLst>
      <p:ext uri="{BB962C8B-B14F-4D97-AF65-F5344CB8AC3E}">
        <p14:creationId xmlns:p14="http://schemas.microsoft.com/office/powerpoint/2010/main" val="1387237450"/>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7" name="직사각형 6">
            <a:extLst>
              <a:ext uri="{FF2B5EF4-FFF2-40B4-BE49-F238E27FC236}">
                <a16:creationId xmlns:a16="http://schemas.microsoft.com/office/drawing/2014/main" id="{6DFE37A4-AD80-4D6E-BBD2-2D446FF6776A}"/>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Boosting Ensemble: AdaBoost</a:t>
            </a:r>
          </a:p>
        </p:txBody>
      </p:sp>
      <p:sp>
        <p:nvSpPr>
          <p:cNvPr id="8" name="직사각형 7">
            <a:extLst>
              <a:ext uri="{FF2B5EF4-FFF2-40B4-BE49-F238E27FC236}">
                <a16:creationId xmlns:a16="http://schemas.microsoft.com/office/drawing/2014/main" id="{0E863974-4F19-413A-A8B7-10F8A57632DB}"/>
              </a:ext>
            </a:extLst>
          </p:cNvPr>
          <p:cNvSpPr/>
          <p:nvPr/>
        </p:nvSpPr>
        <p:spPr>
          <a:xfrm>
            <a:off x="675071" y="2219443"/>
            <a:ext cx="8632825" cy="15560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 sequence of weak learners such as trees</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 weighted ensemble of weak learners</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One set of weights that increase the importance of the better-performing learners</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One set of weights that increase the importance of the wrongly classified observations</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Similar pros and cons as the Random Forest</a:t>
            </a:r>
          </a:p>
        </p:txBody>
      </p:sp>
      <p:sp>
        <p:nvSpPr>
          <p:cNvPr id="9" name="직사각형 8">
            <a:extLst>
              <a:ext uri="{FF2B5EF4-FFF2-40B4-BE49-F238E27FC236}">
                <a16:creationId xmlns:a16="http://schemas.microsoft.com/office/drawing/2014/main" id="{0A0D01FA-32A1-4E07-B4F8-83FAD4A7BDC3}"/>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About AdaBoost</a:t>
            </a:r>
          </a:p>
        </p:txBody>
      </p:sp>
    </p:spTree>
    <p:extLst>
      <p:ext uri="{BB962C8B-B14F-4D97-AF65-F5344CB8AC3E}">
        <p14:creationId xmlns:p14="http://schemas.microsoft.com/office/powerpoint/2010/main" val="2824324753"/>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AdaBoost classification algorithm</a:t>
            </a:r>
          </a:p>
        </p:txBody>
      </p:sp>
      <p:sp>
        <p:nvSpPr>
          <p:cNvPr id="11" name="직사각형 10">
            <a:extLst>
              <a:ext uri="{FF2B5EF4-FFF2-40B4-BE49-F238E27FC236}">
                <a16:creationId xmlns:a16="http://schemas.microsoft.com/office/drawing/2014/main" id="{47EBFE05-0A93-4F26-8155-D62EDF3433EF}"/>
              </a:ext>
            </a:extLst>
          </p:cNvPr>
          <p:cNvSpPr/>
          <p:nvPr/>
        </p:nvSpPr>
        <p:spPr>
          <a:xfrm>
            <a:off x="675556" y="1700213"/>
            <a:ext cx="8632825" cy="11508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Let’s suppose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𝑛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observations for the training step: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𝒙</a:t>
            </a:r>
            <a:r>
              <a:rPr lang="ko-KR" altLang="en-US" sz="1300" baseline="-25000" dirty="0">
                <a:solidFill>
                  <a:schemeClr val="tx1">
                    <a:lumMod val="85000"/>
                    <a:lumOff val="15000"/>
                  </a:schemeClr>
                </a:solidFill>
                <a:latin typeface="SamsungOne 400" panose="020B0503030303020204" pitchFamily="34" charset="0"/>
                <a:ea typeface="SamsungOne 400" panose="020B0503030303020204" pitchFamily="34" charset="0"/>
              </a:rPr>
              <a:t>𝑖</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and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𝑦</a:t>
            </a:r>
            <a:r>
              <a:rPr lang="ko-KR" altLang="en-US" sz="1300" baseline="-25000" dirty="0">
                <a:solidFill>
                  <a:schemeClr val="tx1">
                    <a:lumMod val="85000"/>
                    <a:lumOff val="15000"/>
                  </a:schemeClr>
                </a:solidFill>
                <a:latin typeface="SamsungOne 400" panose="020B0503030303020204" pitchFamily="34" charset="0"/>
                <a:ea typeface="SamsungOne 400" panose="020B0503030303020204" pitchFamily="34" charset="0"/>
              </a:rPr>
              <a:t>𝑖</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b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We also suppose that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𝑦</a:t>
            </a:r>
            <a:r>
              <a:rPr lang="ko-KR" altLang="en-US" sz="1300" baseline="-25000" dirty="0">
                <a:solidFill>
                  <a:schemeClr val="tx1">
                    <a:lumMod val="85000"/>
                    <a:lumOff val="15000"/>
                  </a:schemeClr>
                </a:solidFill>
                <a:latin typeface="SamsungOne 400" panose="020B0503030303020204" pitchFamily="34" charset="0"/>
                <a:ea typeface="SamsungOne 400" panose="020B0503030303020204" pitchFamily="34" charset="0"/>
              </a:rPr>
              <a:t>𝑖</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{−1,+1}.  (binary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𝑦</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We will make a series of weak learners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𝐺</a:t>
            </a:r>
            <a:r>
              <a:rPr lang="ko-KR" altLang="en-US" sz="1300" baseline="-25000" dirty="0">
                <a:solidFill>
                  <a:schemeClr val="tx1">
                    <a:lumMod val="85000"/>
                    <a:lumOff val="15000"/>
                  </a:schemeClr>
                </a:solidFill>
                <a:latin typeface="SamsungOne 400" panose="020B0503030303020204" pitchFamily="34" charset="0"/>
                <a:ea typeface="SamsungOne 400" panose="020B0503030303020204" pitchFamily="34" charset="0"/>
              </a:rPr>
              <a:t>𝑚</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𝒙</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with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𝑚</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1,…,</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𝑀</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ensemble classifier is made up of a linear combination of these weak learners: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0177CB9-7BA5-4A44-BFFB-10A4381CD41B}"/>
                  </a:ext>
                </a:extLst>
              </p:cNvPr>
              <p:cNvSpPr txBox="1"/>
              <p:nvPr/>
            </p:nvSpPr>
            <p:spPr>
              <a:xfrm>
                <a:off x="2967742" y="2936974"/>
                <a:ext cx="3963890" cy="885050"/>
              </a:xfrm>
              <a:prstGeom prst="rect">
                <a:avLst/>
              </a:prstGeom>
              <a:solidFill>
                <a:srgbClr val="F2F2F2"/>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1600" i="1" smtClean="0">
                              <a:solidFill>
                                <a:schemeClr val="tx1">
                                  <a:lumMod val="85000"/>
                                  <a:lumOff val="15000"/>
                                </a:schemeClr>
                              </a:solidFill>
                              <a:latin typeface="Cambria Math" panose="02040503050406030204" pitchFamily="18" charset="0"/>
                              <a:cs typeface="Times New Roman" panose="02020603050405020304" pitchFamily="18" charset="0"/>
                            </a:rPr>
                          </m:ctrlPr>
                        </m:sSubPr>
                        <m:e>
                          <m: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t>𝐺</m:t>
                          </m:r>
                        </m:e>
                        <m:sub>
                          <m: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t>𝑒𝑛𝑠𝑒𝑚𝑏𝑙𝑒</m:t>
                          </m:r>
                        </m:sub>
                      </m:sSub>
                      <m:d>
                        <m:dPr>
                          <m:ctrlP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ctrlPr>
                        </m:dPr>
                        <m:e>
                          <m:r>
                            <a:rPr lang="en-US" altLang="ko-KR" sz="1600" b="1" i="1">
                              <a:solidFill>
                                <a:schemeClr val="tx1">
                                  <a:lumMod val="85000"/>
                                  <a:lumOff val="15000"/>
                                </a:schemeClr>
                              </a:solidFill>
                              <a:latin typeface="Cambria Math" panose="02040503050406030204" pitchFamily="18" charset="0"/>
                              <a:cs typeface="Times New Roman" panose="02020603050405020304" pitchFamily="18" charset="0"/>
                            </a:rPr>
                            <m:t>𝒙</m:t>
                          </m:r>
                        </m:e>
                      </m:d>
                      <m: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t>=</m:t>
                      </m:r>
                      <m: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t>𝑠𝑖𝑔𝑛</m:t>
                      </m:r>
                      <m:d>
                        <m:dPr>
                          <m:ctrlP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ctrlPr>
                        </m:dPr>
                        <m:e>
                          <m:nary>
                            <m:naryPr>
                              <m:chr m:val="∑"/>
                              <m:ctrlP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ctrlPr>
                            </m:naryPr>
                            <m:sub>
                              <m:r>
                                <m:rPr>
                                  <m:brk m:alnAt="23"/>
                                </m:rP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t>𝑚</m:t>
                              </m:r>
                              <m: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t>=1</m:t>
                              </m:r>
                            </m:sub>
                            <m:sup>
                              <m: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t>𝑀</m:t>
                              </m:r>
                            </m:sup>
                            <m:e>
                              <m:sSub>
                                <m:sSubPr>
                                  <m:ctrlP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ko-KR" altLang="en-US" sz="1600" i="1">
                                      <a:solidFill>
                                        <a:schemeClr val="tx1">
                                          <a:lumMod val="85000"/>
                                          <a:lumOff val="15000"/>
                                        </a:schemeClr>
                                      </a:solidFill>
                                      <a:latin typeface="Cambria Math" panose="02040503050406030204" pitchFamily="18" charset="0"/>
                                      <a:cs typeface="Times New Roman" panose="02020603050405020304" pitchFamily="18" charset="0"/>
                                    </a:rPr>
                                    <m:t>𝛼</m:t>
                                  </m:r>
                                </m:e>
                                <m:sub>
                                  <m: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t>𝑚</m:t>
                                  </m:r>
                                </m:sub>
                              </m:sSub>
                              <m:sSub>
                                <m:sSubPr>
                                  <m:ctrlP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t>𝐺</m:t>
                                  </m:r>
                                </m:e>
                                <m:sub>
                                  <m: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t>𝑚</m:t>
                                  </m:r>
                                </m:sub>
                              </m:sSub>
                              <m: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t>(</m:t>
                              </m:r>
                              <m:r>
                                <a:rPr lang="en-US" altLang="ko-KR" sz="1600" b="1" i="1">
                                  <a:solidFill>
                                    <a:schemeClr val="tx1">
                                      <a:lumMod val="85000"/>
                                      <a:lumOff val="15000"/>
                                    </a:schemeClr>
                                  </a:solidFill>
                                  <a:latin typeface="Cambria Math" panose="02040503050406030204" pitchFamily="18" charset="0"/>
                                  <a:cs typeface="Times New Roman" panose="02020603050405020304" pitchFamily="18" charset="0"/>
                                </a:rPr>
                                <m:t>𝒙</m:t>
                              </m:r>
                              <m:r>
                                <a:rPr lang="en-US" altLang="ko-KR" sz="1600" i="1">
                                  <a:solidFill>
                                    <a:schemeClr val="tx1">
                                      <a:lumMod val="85000"/>
                                      <a:lumOff val="15000"/>
                                    </a:schemeClr>
                                  </a:solidFill>
                                  <a:latin typeface="Cambria Math" panose="02040503050406030204" pitchFamily="18" charset="0"/>
                                  <a:cs typeface="Times New Roman" panose="02020603050405020304" pitchFamily="18" charset="0"/>
                                </a:rPr>
                                <m:t>)</m:t>
                              </m:r>
                            </m:e>
                          </m:nary>
                        </m:e>
                      </m:d>
                    </m:oMath>
                  </m:oMathPara>
                </a14:m>
                <a:endParaRPr lang="ko-KR" altLang="en-US" sz="1600" dirty="0"/>
              </a:p>
            </p:txBody>
          </p:sp>
        </mc:Choice>
        <mc:Fallback xmlns="">
          <p:sp>
            <p:nvSpPr>
              <p:cNvPr id="12" name="TextBox 11">
                <a:extLst>
                  <a:ext uri="{FF2B5EF4-FFF2-40B4-BE49-F238E27FC236}">
                    <a16:creationId xmlns:a16="http://schemas.microsoft.com/office/drawing/2014/main" id="{90177CB9-7BA5-4A44-BFFB-10A4381CD41B}"/>
                  </a:ext>
                </a:extLst>
              </p:cNvPr>
              <p:cNvSpPr txBox="1">
                <a:spLocks noRot="1" noChangeAspect="1" noMove="1" noResize="1" noEditPoints="1" noAdjustHandles="1" noChangeArrowheads="1" noChangeShapeType="1" noTextEdit="1"/>
              </p:cNvSpPr>
              <p:nvPr/>
            </p:nvSpPr>
            <p:spPr>
              <a:xfrm>
                <a:off x="2967742" y="2936974"/>
                <a:ext cx="3963890" cy="885050"/>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직사각형 12">
                <a:extLst>
                  <a:ext uri="{FF2B5EF4-FFF2-40B4-BE49-F238E27FC236}">
                    <a16:creationId xmlns:a16="http://schemas.microsoft.com/office/drawing/2014/main" id="{80659371-EEF7-451B-B9EF-54940B61F4C5}"/>
                  </a:ext>
                </a:extLst>
              </p:cNvPr>
              <p:cNvSpPr/>
              <p:nvPr/>
            </p:nvSpPr>
            <p:spPr>
              <a:xfrm>
                <a:off x="890270" y="3907975"/>
                <a:ext cx="8632825" cy="4147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just">
                  <a:lnSpc>
                    <a:spcPct val="150000"/>
                  </a:lnSpc>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where </a:t>
                </a:r>
                <a14:m>
                  <m:oMath xmlns:m="http://schemas.openxmlformats.org/officeDocument/2006/math">
                    <m:sSub>
                      <m:sSubPr>
                        <m:ctrlP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ctrlPr>
                      </m:sSubPr>
                      <m:e>
                        <m:r>
                          <a:rPr lang="ko-KR" altLang="en-US" sz="1300" i="1">
                            <a:solidFill>
                              <a:schemeClr val="tx1">
                                <a:lumMod val="85000"/>
                                <a:lumOff val="15000"/>
                              </a:schemeClr>
                            </a:solidFill>
                            <a:latin typeface="Cambria Math" panose="02040503050406030204" pitchFamily="18" charset="0"/>
                            <a:cs typeface="Times New Roman" panose="02020603050405020304" pitchFamily="18" charset="0"/>
                          </a:rPr>
                          <m:t>𝛼</m:t>
                        </m:r>
                      </m:e>
                      <m:sub>
                        <m:r>
                          <a:rPr lang="en-US" altLang="ko-KR" sz="1300" i="1">
                            <a:solidFill>
                              <a:schemeClr val="tx1">
                                <a:lumMod val="85000"/>
                                <a:lumOff val="15000"/>
                              </a:schemeClr>
                            </a:solidFill>
                            <a:latin typeface="Cambria Math" panose="02040503050406030204" pitchFamily="18" charset="0"/>
                            <a:cs typeface="Times New Roman" panose="02020603050405020304" pitchFamily="18" charset="0"/>
                          </a:rPr>
                          <m:t>𝑚</m:t>
                        </m:r>
                      </m:sub>
                    </m:sSub>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are the “boosting weights” that need to be calculated.</a:t>
                </a:r>
              </a:p>
            </p:txBody>
          </p:sp>
        </mc:Choice>
        <mc:Fallback xmlns="">
          <p:sp>
            <p:nvSpPr>
              <p:cNvPr id="13" name="직사각형 12">
                <a:extLst>
                  <a:ext uri="{FF2B5EF4-FFF2-40B4-BE49-F238E27FC236}">
                    <a16:creationId xmlns:a16="http://schemas.microsoft.com/office/drawing/2014/main" id="{80659371-EEF7-451B-B9EF-54940B61F4C5}"/>
                  </a:ext>
                </a:extLst>
              </p:cNvPr>
              <p:cNvSpPr>
                <a:spLocks noRot="1" noChangeAspect="1" noMove="1" noResize="1" noEditPoints="1" noAdjustHandles="1" noChangeArrowheads="1" noChangeShapeType="1" noTextEdit="1"/>
              </p:cNvSpPr>
              <p:nvPr/>
            </p:nvSpPr>
            <p:spPr>
              <a:xfrm>
                <a:off x="890270" y="3907975"/>
                <a:ext cx="8632825" cy="414711"/>
              </a:xfrm>
              <a:prstGeom prst="rect">
                <a:avLst/>
              </a:prstGeom>
              <a:blipFill>
                <a:blip r:embed="rId5"/>
                <a:stretch>
                  <a:fillRect l="-141"/>
                </a:stretch>
              </a:blipFill>
              <a:ln>
                <a:noFill/>
              </a:ln>
            </p:spPr>
            <p:txBody>
              <a:bodyPr/>
              <a:lstStyle/>
              <a:p>
                <a:r>
                  <a:rPr lang="ko-KR" altLang="en-US">
                    <a:noFill/>
                  </a:rPr>
                  <a:t> </a:t>
                </a:r>
              </a:p>
            </p:txBody>
          </p:sp>
        </mc:Fallback>
      </mc:AlternateContent>
      <p:sp>
        <p:nvSpPr>
          <p:cNvPr id="14" name="직사각형 13">
            <a:extLst>
              <a:ext uri="{FF2B5EF4-FFF2-40B4-BE49-F238E27FC236}">
                <a16:creationId xmlns:a16="http://schemas.microsoft.com/office/drawing/2014/main" id="{D62A9840-4B26-42DB-8A6A-DB2481BCCD85}"/>
              </a:ext>
            </a:extLst>
          </p:cNvPr>
          <p:cNvSpPr/>
          <p:nvPr/>
        </p:nvSpPr>
        <p:spPr>
          <a:xfrm>
            <a:off x="675556" y="4466764"/>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Heavier weight is given to a better performing learner. </a:t>
            </a:r>
          </a:p>
        </p:txBody>
      </p:sp>
    </p:spTree>
    <p:extLst>
      <p:ext uri="{BB962C8B-B14F-4D97-AF65-F5344CB8AC3E}">
        <p14:creationId xmlns:p14="http://schemas.microsoft.com/office/powerpoint/2010/main" val="3258625755"/>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AdaBoost classification algorithm</a:t>
            </a:r>
          </a:p>
        </p:txBody>
      </p:sp>
      <p:sp>
        <p:nvSpPr>
          <p:cNvPr id="11" name="직사각형 10">
            <a:extLst>
              <a:ext uri="{FF2B5EF4-FFF2-40B4-BE49-F238E27FC236}">
                <a16:creationId xmlns:a16="http://schemas.microsoft.com/office/drawing/2014/main" id="{47EBFE05-0A93-4F26-8155-D62EDF3433EF}"/>
              </a:ext>
            </a:extLst>
          </p:cNvPr>
          <p:cNvSpPr/>
          <p:nvPr/>
        </p:nvSpPr>
        <p:spPr>
          <a:xfrm>
            <a:off x="675556" y="1700213"/>
            <a:ext cx="8632825" cy="14688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defTabSz="914400">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1) For the first step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𝑚</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=1), equal weight is assigned to the observations:</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defTabSz="914400">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2) For the boost sequence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𝑚</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=1,…,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𝑀</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a:p>
            <a:pPr marL="176212" lvl="1" defTabSz="914400">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 Train the learner </a:t>
            </a:r>
            <a:r>
              <a:rPr lang="ko-KR" altLang="en-US" sz="1300" dirty="0">
                <a:solidFill>
                  <a:schemeClr val="tx1">
                    <a:lumMod val="85000"/>
                    <a:lumOff val="15000"/>
                  </a:schemeClr>
                </a:solidFill>
                <a:latin typeface="SamsungOne 400" panose="020B0503030303020204" pitchFamily="34" charset="0"/>
              </a:rPr>
              <a:t>𝐺</a:t>
            </a:r>
            <a:r>
              <a:rPr lang="ko-KR" altLang="en-US" sz="1300" baseline="-25000" dirty="0">
                <a:solidFill>
                  <a:schemeClr val="tx1">
                    <a:lumMod val="85000"/>
                    <a:lumOff val="15000"/>
                  </a:schemeClr>
                </a:solidFill>
                <a:latin typeface="SamsungOne 400" panose="020B0503030303020204" pitchFamily="34" charset="0"/>
              </a:rPr>
              <a:t>𝑚</a:t>
            </a:r>
            <a:r>
              <a:rPr lang="ko-KR" altLang="en-US" sz="1300" dirty="0">
                <a:solidFill>
                  <a:schemeClr val="tx1">
                    <a:lumMod val="85000"/>
                    <a:lumOff val="15000"/>
                  </a:schemeClr>
                </a:solidFill>
                <a:latin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ko-KR" altLang="en-US" sz="1300" dirty="0">
                <a:solidFill>
                  <a:schemeClr val="tx1">
                    <a:lumMod val="85000"/>
                    <a:lumOff val="15000"/>
                  </a:schemeClr>
                </a:solidFill>
                <a:latin typeface="SamsungOne 400" panose="020B0503030303020204" pitchFamily="34" charset="0"/>
              </a:rPr>
              <a:t>𝒙</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using observations weighted by </a:t>
            </a:r>
            <a:r>
              <a:rPr lang="ko-KR" altLang="en-US" sz="1300" dirty="0">
                <a:solidFill>
                  <a:schemeClr val="tx1">
                    <a:lumMod val="85000"/>
                    <a:lumOff val="15000"/>
                  </a:schemeClr>
                </a:solidFill>
                <a:latin typeface="SamsungOne 400" panose="020B0503030303020204" pitchFamily="34" charset="0"/>
              </a:rPr>
              <a:t>𝑤</a:t>
            </a:r>
            <a:r>
              <a:rPr lang="ko-KR" altLang="en-US" sz="1300" baseline="-25000" dirty="0">
                <a:solidFill>
                  <a:schemeClr val="tx1">
                    <a:lumMod val="85000"/>
                    <a:lumOff val="15000"/>
                  </a:schemeClr>
                </a:solidFill>
                <a:latin typeface="SamsungOne 400" panose="020B0503030303020204" pitchFamily="34" charset="0"/>
              </a:rPr>
              <a:t>𝑖</a:t>
            </a:r>
            <a:r>
              <a:rPr lang="en-US" altLang="ko-KR" sz="1300" baseline="30000" dirty="0">
                <a:solidFill>
                  <a:schemeClr val="tx1">
                    <a:lumMod val="85000"/>
                    <a:lumOff val="15000"/>
                  </a:schemeClr>
                </a:solidFill>
                <a:latin typeface="SamsungOne 400" panose="020B0503030303020204" pitchFamily="34" charset="0"/>
                <a:ea typeface="SamsungOne 400" panose="020B0503030303020204" pitchFamily="34" charset="0"/>
              </a:rPr>
              <a:t>(</a:t>
            </a:r>
            <a:r>
              <a:rPr lang="ko-KR" altLang="en-US" sz="1300" baseline="30000" dirty="0">
                <a:solidFill>
                  <a:schemeClr val="tx1">
                    <a:lumMod val="85000"/>
                    <a:lumOff val="15000"/>
                  </a:schemeClr>
                </a:solidFill>
                <a:latin typeface="SamsungOne 400" panose="020B0503030303020204" pitchFamily="34" charset="0"/>
              </a:rPr>
              <a:t>𝑚</a:t>
            </a:r>
            <a:r>
              <a:rPr lang="en-US" altLang="ko-KR" sz="1300" baseline="30000" dirty="0">
                <a:solidFill>
                  <a:schemeClr val="tx1">
                    <a:lumMod val="85000"/>
                    <a:lumOff val="15000"/>
                  </a:schemeClr>
                </a:solidFill>
                <a:latin typeface="SamsungOne 400" panose="020B0503030303020204" pitchFamily="34" charset="0"/>
                <a:ea typeface="SamsungOne 400" panose="020B0503030303020204" pitchFamily="34" charset="0"/>
              </a:rPr>
              <a: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p>
          <a:p>
            <a:pPr marL="176212" lvl="1" defTabSz="914400">
              <a:spcAft>
                <a:spcPts val="800"/>
              </a:spcAft>
              <a:buClr>
                <a:srgbClr val="193EB0"/>
              </a:buClr>
            </a:pP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b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 Calculate the error ratio: </a:t>
            </a:r>
            <a:r>
              <a:rPr lang="en-US" altLang="ko-KR" sz="1400" dirty="0"/>
              <a:t>: </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2E298BB-1217-4F38-941A-C0CFECB92ACF}"/>
                  </a:ext>
                </a:extLst>
              </p:cNvPr>
              <p:cNvSpPr txBox="1"/>
              <p:nvPr/>
            </p:nvSpPr>
            <p:spPr>
              <a:xfrm>
                <a:off x="2899184" y="2714351"/>
                <a:ext cx="2484276" cy="623632"/>
              </a:xfrm>
              <a:prstGeom prst="rect">
                <a:avLst/>
              </a:prstGeom>
              <a:solidFill>
                <a:srgbClr val="F2F2F2"/>
              </a:solidFill>
            </p:spPr>
            <p:txBody>
              <a:bodyPr wrap="square">
                <a:spAutoFit/>
              </a:bodyPr>
              <a:lstStyle/>
              <a:p>
                <a:r>
                  <a:rPr lang="en-US" altLang="ko-KR" sz="1600" dirty="0"/>
                  <a:t> </a:t>
                </a:r>
                <a14:m>
                  <m:oMath xmlns:m="http://schemas.openxmlformats.org/officeDocument/2006/math">
                    <m:sSub>
                      <m:sSubPr>
                        <m:ctrlPr>
                          <a:rPr lang="en-US" altLang="ko-KR" sz="1600" i="1">
                            <a:latin typeface="Cambria Math" panose="02040503050406030204" pitchFamily="18" charset="0"/>
                          </a:rPr>
                        </m:ctrlPr>
                      </m:sSubPr>
                      <m:e>
                        <m:r>
                          <a:rPr lang="ko-KR" altLang="en-US" sz="1600">
                            <a:latin typeface="Cambria Math" panose="02040503050406030204" pitchFamily="18" charset="0"/>
                          </a:rPr>
                          <m:t>𝜀</m:t>
                        </m:r>
                      </m:e>
                      <m:sub>
                        <m:r>
                          <a:rPr lang="en-US" altLang="ko-KR" sz="1600">
                            <a:latin typeface="Cambria Math" panose="02040503050406030204" pitchFamily="18" charset="0"/>
                          </a:rPr>
                          <m:t>𝑚</m:t>
                        </m:r>
                      </m:sub>
                    </m:sSub>
                    <m:r>
                      <a:rPr lang="en-US" altLang="ko-KR" sz="1600">
                        <a:latin typeface="Cambria Math" panose="02040503050406030204" pitchFamily="18" charset="0"/>
                      </a:rPr>
                      <m:t>=</m:t>
                    </m:r>
                    <m:f>
                      <m:fPr>
                        <m:ctrlPr>
                          <a:rPr lang="en-US" altLang="ko-KR" sz="1600" i="1">
                            <a:latin typeface="Cambria Math" panose="02040503050406030204" pitchFamily="18" charset="0"/>
                          </a:rPr>
                        </m:ctrlPr>
                      </m:fPr>
                      <m:num>
                        <m:nary>
                          <m:naryPr>
                            <m:chr m:val="∑"/>
                            <m:ctrlPr>
                              <a:rPr lang="en-US" altLang="ko-KR" sz="1600" i="1">
                                <a:latin typeface="Cambria Math" panose="02040503050406030204" pitchFamily="18" charset="0"/>
                              </a:rPr>
                            </m:ctrlPr>
                          </m:naryPr>
                          <m:sub>
                            <m:r>
                              <m:rPr>
                                <m:brk m:alnAt="23"/>
                              </m:rPr>
                              <a:rPr lang="en-US" altLang="ko-KR" sz="1600">
                                <a:latin typeface="Cambria Math" panose="02040503050406030204" pitchFamily="18" charset="0"/>
                              </a:rPr>
                              <m:t>𝑖</m:t>
                            </m:r>
                            <m:r>
                              <a:rPr lang="en-US" altLang="ko-KR" sz="1600">
                                <a:latin typeface="Cambria Math" panose="02040503050406030204" pitchFamily="18" charset="0"/>
                              </a:rPr>
                              <m:t>=1</m:t>
                            </m:r>
                          </m:sub>
                          <m:sup>
                            <m:r>
                              <a:rPr lang="en-US" altLang="ko-KR" sz="1600">
                                <a:latin typeface="Cambria Math" panose="02040503050406030204" pitchFamily="18" charset="0"/>
                              </a:rPr>
                              <m:t>𝑛</m:t>
                            </m:r>
                          </m:sup>
                          <m:e>
                            <m:sSubSup>
                              <m:sSubSupPr>
                                <m:ctrlPr>
                                  <a:rPr lang="en-US" altLang="ko-KR" sz="1600" i="1" dirty="0">
                                    <a:latin typeface="Cambria Math" panose="02040503050406030204" pitchFamily="18" charset="0"/>
                                  </a:rPr>
                                </m:ctrlPr>
                              </m:sSubSupPr>
                              <m:e>
                                <m:r>
                                  <a:rPr lang="en-US" altLang="ko-KR" sz="1600" dirty="0">
                                    <a:latin typeface="Cambria Math" panose="02040503050406030204" pitchFamily="18" charset="0"/>
                                  </a:rPr>
                                  <m:t>𝑤</m:t>
                                </m:r>
                              </m:e>
                              <m:sub>
                                <m:r>
                                  <a:rPr lang="en-US" altLang="ko-KR" sz="1600" dirty="0">
                                    <a:latin typeface="Cambria Math" panose="02040503050406030204" pitchFamily="18" charset="0"/>
                                  </a:rPr>
                                  <m:t>𝑖</m:t>
                                </m:r>
                              </m:sub>
                              <m:sup>
                                <m:r>
                                  <a:rPr lang="en-US" altLang="ko-KR" sz="1600" dirty="0">
                                    <a:latin typeface="Cambria Math" panose="02040503050406030204" pitchFamily="18" charset="0"/>
                                  </a:rPr>
                                  <m:t>(</m:t>
                                </m:r>
                                <m:r>
                                  <a:rPr lang="en-US" altLang="ko-KR" sz="1600" dirty="0">
                                    <a:latin typeface="Cambria Math" panose="02040503050406030204" pitchFamily="18" charset="0"/>
                                  </a:rPr>
                                  <m:t>𝑚</m:t>
                                </m:r>
                                <m:r>
                                  <a:rPr lang="en-US" altLang="ko-KR" sz="1600" dirty="0">
                                    <a:latin typeface="Cambria Math" panose="02040503050406030204" pitchFamily="18" charset="0"/>
                                  </a:rPr>
                                  <m:t>)</m:t>
                                </m:r>
                              </m:sup>
                            </m:sSubSup>
                            <m:r>
                              <a:rPr lang="en-US" altLang="ko-KR" sz="1600" smtClean="0">
                                <a:solidFill>
                                  <a:srgbClr val="FF0000"/>
                                </a:solidFill>
                                <a:latin typeface="Cambria Math" panose="02040503050406030204" pitchFamily="18" charset="0"/>
                              </a:rPr>
                              <m:t>𝐼</m:t>
                            </m:r>
                            <m:r>
                              <a:rPr lang="en-US" altLang="ko-KR" sz="1600" smtClean="0">
                                <a:solidFill>
                                  <a:srgbClr val="FF0000"/>
                                </a:solidFill>
                                <a:latin typeface="Cambria Math" panose="02040503050406030204" pitchFamily="18" charset="0"/>
                              </a:rPr>
                              <m:t>(</m:t>
                            </m:r>
                            <m:sSub>
                              <m:sSubPr>
                                <m:ctrlPr>
                                  <a:rPr lang="en-US" altLang="ko-KR" sz="1600" i="1">
                                    <a:solidFill>
                                      <a:srgbClr val="FF0000"/>
                                    </a:solidFill>
                                    <a:latin typeface="Cambria Math" panose="02040503050406030204" pitchFamily="18" charset="0"/>
                                  </a:rPr>
                                </m:ctrlPr>
                              </m:sSubPr>
                              <m:e>
                                <m:r>
                                  <a:rPr lang="en-US" altLang="ko-KR" sz="1600">
                                    <a:solidFill>
                                      <a:srgbClr val="FF0000"/>
                                    </a:solidFill>
                                    <a:latin typeface="Cambria Math" panose="02040503050406030204" pitchFamily="18" charset="0"/>
                                  </a:rPr>
                                  <m:t>𝑦</m:t>
                                </m:r>
                              </m:e>
                              <m:sub>
                                <m:r>
                                  <a:rPr lang="en-US" altLang="ko-KR" sz="1600">
                                    <a:solidFill>
                                      <a:srgbClr val="FF0000"/>
                                    </a:solidFill>
                                    <a:latin typeface="Cambria Math" panose="02040503050406030204" pitchFamily="18" charset="0"/>
                                  </a:rPr>
                                  <m:t>𝑖</m:t>
                                </m:r>
                              </m:sub>
                            </m:sSub>
                            <m:r>
                              <a:rPr lang="en-US" altLang="ko-KR" sz="1600">
                                <a:solidFill>
                                  <a:srgbClr val="FF0000"/>
                                </a:solidFill>
                                <a:latin typeface="Cambria Math" panose="02040503050406030204" pitchFamily="18" charset="0"/>
                              </a:rPr>
                              <m:t>≠</m:t>
                            </m:r>
                            <m:sSub>
                              <m:sSubPr>
                                <m:ctrlPr>
                                  <a:rPr lang="en-US" altLang="ko-KR" sz="1600" i="1">
                                    <a:solidFill>
                                      <a:srgbClr val="FF0000"/>
                                    </a:solidFill>
                                    <a:latin typeface="Cambria Math" panose="02040503050406030204" pitchFamily="18" charset="0"/>
                                  </a:rPr>
                                </m:ctrlPr>
                              </m:sSubPr>
                              <m:e>
                                <m:r>
                                  <a:rPr lang="en-US" altLang="ko-KR" sz="1600">
                                    <a:solidFill>
                                      <a:srgbClr val="FF0000"/>
                                    </a:solidFill>
                                    <a:latin typeface="Cambria Math" panose="02040503050406030204" pitchFamily="18" charset="0"/>
                                  </a:rPr>
                                  <m:t>𝐺</m:t>
                                </m:r>
                              </m:e>
                              <m:sub>
                                <m:r>
                                  <a:rPr lang="en-US" altLang="ko-KR" sz="1600">
                                    <a:solidFill>
                                      <a:srgbClr val="FF0000"/>
                                    </a:solidFill>
                                    <a:latin typeface="Cambria Math" panose="02040503050406030204" pitchFamily="18" charset="0"/>
                                  </a:rPr>
                                  <m:t>𝑚</m:t>
                                </m:r>
                              </m:sub>
                            </m:sSub>
                            <m:d>
                              <m:dPr>
                                <m:ctrlPr>
                                  <a:rPr lang="en-US" altLang="ko-KR" sz="1600" i="1">
                                    <a:solidFill>
                                      <a:srgbClr val="FF0000"/>
                                    </a:solidFill>
                                    <a:latin typeface="Cambria Math" panose="02040503050406030204" pitchFamily="18" charset="0"/>
                                  </a:rPr>
                                </m:ctrlPr>
                              </m:dPr>
                              <m:e>
                                <m:sSub>
                                  <m:sSubPr>
                                    <m:ctrlPr>
                                      <a:rPr lang="en-US" altLang="ko-KR" sz="1600" i="1">
                                        <a:solidFill>
                                          <a:srgbClr val="FF0000"/>
                                        </a:solidFill>
                                        <a:latin typeface="Cambria Math" panose="02040503050406030204" pitchFamily="18" charset="0"/>
                                      </a:rPr>
                                    </m:ctrlPr>
                                  </m:sSubPr>
                                  <m:e>
                                    <m:r>
                                      <a:rPr lang="en-US" altLang="ko-KR" sz="1600">
                                        <a:solidFill>
                                          <a:srgbClr val="FF0000"/>
                                        </a:solidFill>
                                        <a:latin typeface="Cambria Math" panose="02040503050406030204" pitchFamily="18" charset="0"/>
                                      </a:rPr>
                                      <m:t>𝒙</m:t>
                                    </m:r>
                                  </m:e>
                                  <m:sub>
                                    <m:r>
                                      <a:rPr lang="en-US" altLang="ko-KR" sz="1600">
                                        <a:solidFill>
                                          <a:srgbClr val="FF0000"/>
                                        </a:solidFill>
                                        <a:latin typeface="Cambria Math" panose="02040503050406030204" pitchFamily="18" charset="0"/>
                                      </a:rPr>
                                      <m:t>𝑖</m:t>
                                    </m:r>
                                  </m:sub>
                                </m:sSub>
                              </m:e>
                            </m:d>
                            <m:r>
                              <a:rPr lang="en-US" altLang="ko-KR" sz="1600">
                                <a:solidFill>
                                  <a:srgbClr val="FF0000"/>
                                </a:solidFill>
                                <a:latin typeface="Cambria Math" panose="02040503050406030204" pitchFamily="18" charset="0"/>
                              </a:rPr>
                              <m:t>)</m:t>
                            </m:r>
                          </m:e>
                        </m:nary>
                      </m:num>
                      <m:den>
                        <m:nary>
                          <m:naryPr>
                            <m:chr m:val="∑"/>
                            <m:ctrlPr>
                              <a:rPr lang="en-US" altLang="ko-KR" sz="1600" i="1">
                                <a:latin typeface="Cambria Math" panose="02040503050406030204" pitchFamily="18" charset="0"/>
                              </a:rPr>
                            </m:ctrlPr>
                          </m:naryPr>
                          <m:sub>
                            <m:r>
                              <m:rPr>
                                <m:brk m:alnAt="23"/>
                              </m:rPr>
                              <a:rPr lang="en-US" altLang="ko-KR" sz="1600">
                                <a:latin typeface="Cambria Math" panose="02040503050406030204" pitchFamily="18" charset="0"/>
                              </a:rPr>
                              <m:t>𝑖</m:t>
                            </m:r>
                            <m:r>
                              <a:rPr lang="en-US" altLang="ko-KR" sz="1600">
                                <a:latin typeface="Cambria Math" panose="02040503050406030204" pitchFamily="18" charset="0"/>
                              </a:rPr>
                              <m:t>=1</m:t>
                            </m:r>
                          </m:sub>
                          <m:sup>
                            <m:r>
                              <a:rPr lang="en-US" altLang="ko-KR" sz="1600">
                                <a:latin typeface="Cambria Math" panose="02040503050406030204" pitchFamily="18" charset="0"/>
                              </a:rPr>
                              <m:t>𝑛</m:t>
                            </m:r>
                          </m:sup>
                          <m:e>
                            <m:sSubSup>
                              <m:sSubSupPr>
                                <m:ctrlPr>
                                  <a:rPr lang="en-US" altLang="ko-KR" sz="1600" i="1" dirty="0">
                                    <a:latin typeface="Cambria Math" panose="02040503050406030204" pitchFamily="18" charset="0"/>
                                  </a:rPr>
                                </m:ctrlPr>
                              </m:sSubSupPr>
                              <m:e>
                                <m:r>
                                  <a:rPr lang="en-US" altLang="ko-KR" sz="1600" dirty="0">
                                    <a:latin typeface="Cambria Math" panose="02040503050406030204" pitchFamily="18" charset="0"/>
                                  </a:rPr>
                                  <m:t>𝑤</m:t>
                                </m:r>
                              </m:e>
                              <m:sub>
                                <m:r>
                                  <a:rPr lang="en-US" altLang="ko-KR" sz="1600" dirty="0">
                                    <a:latin typeface="Cambria Math" panose="02040503050406030204" pitchFamily="18" charset="0"/>
                                  </a:rPr>
                                  <m:t>𝑖</m:t>
                                </m:r>
                              </m:sub>
                              <m:sup>
                                <m:r>
                                  <a:rPr lang="en-US" altLang="ko-KR" sz="1600" dirty="0">
                                    <a:latin typeface="Cambria Math" panose="02040503050406030204" pitchFamily="18" charset="0"/>
                                  </a:rPr>
                                  <m:t>(</m:t>
                                </m:r>
                                <m:r>
                                  <a:rPr lang="en-US" altLang="ko-KR" sz="1600" dirty="0">
                                    <a:latin typeface="Cambria Math" panose="02040503050406030204" pitchFamily="18" charset="0"/>
                                  </a:rPr>
                                  <m:t>𝑚</m:t>
                                </m:r>
                                <m:r>
                                  <a:rPr lang="en-US" altLang="ko-KR" sz="1600" dirty="0">
                                    <a:latin typeface="Cambria Math" panose="02040503050406030204" pitchFamily="18" charset="0"/>
                                  </a:rPr>
                                  <m:t>)</m:t>
                                </m:r>
                              </m:sup>
                            </m:sSubSup>
                          </m:e>
                        </m:nary>
                      </m:den>
                    </m:f>
                  </m:oMath>
                </a14:m>
                <a:endParaRPr lang="ko-KR" altLang="en-US" sz="1600" dirty="0"/>
              </a:p>
            </p:txBody>
          </p:sp>
        </mc:Choice>
        <mc:Fallback xmlns="">
          <p:sp>
            <p:nvSpPr>
              <p:cNvPr id="15" name="TextBox 14">
                <a:extLst>
                  <a:ext uri="{FF2B5EF4-FFF2-40B4-BE49-F238E27FC236}">
                    <a16:creationId xmlns:a16="http://schemas.microsoft.com/office/drawing/2014/main" id="{72E298BB-1217-4F38-941A-C0CFECB92ACF}"/>
                  </a:ext>
                </a:extLst>
              </p:cNvPr>
              <p:cNvSpPr txBox="1">
                <a:spLocks noRot="1" noChangeAspect="1" noMove="1" noResize="1" noEditPoints="1" noAdjustHandles="1" noChangeArrowheads="1" noChangeShapeType="1" noTextEdit="1"/>
              </p:cNvSpPr>
              <p:nvPr/>
            </p:nvSpPr>
            <p:spPr>
              <a:xfrm>
                <a:off x="2899184" y="2714351"/>
                <a:ext cx="2484276" cy="623632"/>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직사각형 15">
                <a:extLst>
                  <a:ext uri="{FF2B5EF4-FFF2-40B4-BE49-F238E27FC236}">
                    <a16:creationId xmlns:a16="http://schemas.microsoft.com/office/drawing/2014/main" id="{929563B7-1422-44BF-86E7-3AB92FFB2099}"/>
                  </a:ext>
                </a:extLst>
              </p:cNvPr>
              <p:cNvSpPr/>
              <p:nvPr/>
            </p:nvSpPr>
            <p:spPr>
              <a:xfrm>
                <a:off x="675556" y="3516095"/>
                <a:ext cx="8632825" cy="7993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76212" lvl="1" defTabSz="914400">
                  <a:lnSpc>
                    <a:spcPct val="150000"/>
                  </a:lnSpc>
                  <a:spcAft>
                    <a:spcPts val="800"/>
                  </a:spcAft>
                  <a:buClr>
                    <a:srgbClr val="193EB0"/>
                  </a:buClr>
                </a:pP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ko-KR" altLang="en-US" sz="1300" dirty="0">
                    <a:solidFill>
                      <a:schemeClr val="tx1">
                        <a:lumMod val="85000"/>
                        <a:lumOff val="15000"/>
                      </a:schemeClr>
                    </a:solidFill>
                    <a:latin typeface="나눔고딕 ExtraBold" panose="020D0904000000000000" pitchFamily="50" charset="-127"/>
                    <a:ea typeface="나눔고딕 ExtraBold" panose="020D0904000000000000" pitchFamily="50" charset="-127"/>
                  </a:rPr>
                  <a:t>⇨ </a:t>
                </a:r>
                <a14:m>
                  <m:oMath xmlns:m="http://schemas.openxmlformats.org/officeDocument/2006/math">
                    <m:r>
                      <a:rPr lang="en-US" altLang="ko-KR" sz="1400" smtClean="0">
                        <a:solidFill>
                          <a:srgbClr val="FF0000"/>
                        </a:solidFill>
                        <a:latin typeface="Cambria Math" panose="02040503050406030204" pitchFamily="18" charset="0"/>
                      </a:rPr>
                      <m:t>𝐼</m:t>
                    </m:r>
                    <m:d>
                      <m:dPr>
                        <m:ctrlPr>
                          <a:rPr lang="en-US" altLang="ko-KR" sz="1400" i="1">
                            <a:solidFill>
                              <a:srgbClr val="FF0000"/>
                            </a:solidFill>
                            <a:latin typeface="Cambria Math" panose="02040503050406030204" pitchFamily="18" charset="0"/>
                          </a:rPr>
                        </m:ctrlPr>
                      </m:dPr>
                      <m:e>
                        <m:sSub>
                          <m:sSubPr>
                            <m:ctrlPr>
                              <a:rPr lang="en-US" altLang="ko-KR" sz="1400" i="1">
                                <a:solidFill>
                                  <a:srgbClr val="FF0000"/>
                                </a:solidFill>
                                <a:latin typeface="Cambria Math" panose="02040503050406030204" pitchFamily="18" charset="0"/>
                              </a:rPr>
                            </m:ctrlPr>
                          </m:sSubPr>
                          <m:e>
                            <m:r>
                              <a:rPr lang="en-US" altLang="ko-KR" sz="1400">
                                <a:solidFill>
                                  <a:srgbClr val="FF0000"/>
                                </a:solidFill>
                                <a:latin typeface="Cambria Math" panose="02040503050406030204" pitchFamily="18" charset="0"/>
                              </a:rPr>
                              <m:t>𝑦</m:t>
                            </m:r>
                          </m:e>
                          <m:sub>
                            <m:r>
                              <a:rPr lang="en-US" altLang="ko-KR" sz="1400">
                                <a:solidFill>
                                  <a:srgbClr val="FF0000"/>
                                </a:solidFill>
                                <a:latin typeface="Cambria Math" panose="02040503050406030204" pitchFamily="18" charset="0"/>
                              </a:rPr>
                              <m:t>𝑖</m:t>
                            </m:r>
                          </m:sub>
                        </m:sSub>
                        <m:r>
                          <a:rPr lang="en-US" altLang="ko-KR" sz="1400">
                            <a:solidFill>
                              <a:srgbClr val="FF0000"/>
                            </a:solidFill>
                            <a:latin typeface="Cambria Math" panose="02040503050406030204" pitchFamily="18" charset="0"/>
                          </a:rPr>
                          <m:t>≠</m:t>
                        </m:r>
                        <m:sSub>
                          <m:sSubPr>
                            <m:ctrlPr>
                              <a:rPr lang="en-US" altLang="ko-KR" sz="1400" i="1">
                                <a:solidFill>
                                  <a:srgbClr val="FF0000"/>
                                </a:solidFill>
                                <a:latin typeface="Cambria Math" panose="02040503050406030204" pitchFamily="18" charset="0"/>
                              </a:rPr>
                            </m:ctrlPr>
                          </m:sSubPr>
                          <m:e>
                            <m:r>
                              <a:rPr lang="en-US" altLang="ko-KR" sz="1400">
                                <a:solidFill>
                                  <a:srgbClr val="FF0000"/>
                                </a:solidFill>
                                <a:latin typeface="Cambria Math" panose="02040503050406030204" pitchFamily="18" charset="0"/>
                              </a:rPr>
                              <m:t>𝐺</m:t>
                            </m:r>
                          </m:e>
                          <m:sub>
                            <m:r>
                              <a:rPr lang="en-US" altLang="ko-KR" sz="1400">
                                <a:solidFill>
                                  <a:srgbClr val="FF0000"/>
                                </a:solidFill>
                                <a:latin typeface="Cambria Math" panose="02040503050406030204" pitchFamily="18" charset="0"/>
                              </a:rPr>
                              <m:t>𝑚</m:t>
                            </m:r>
                          </m:sub>
                        </m:sSub>
                        <m:d>
                          <m:dPr>
                            <m:ctrlPr>
                              <a:rPr lang="en-US" altLang="ko-KR" sz="1400" i="1">
                                <a:solidFill>
                                  <a:srgbClr val="FF0000"/>
                                </a:solidFill>
                                <a:latin typeface="Cambria Math" panose="02040503050406030204" pitchFamily="18" charset="0"/>
                              </a:rPr>
                            </m:ctrlPr>
                          </m:dPr>
                          <m:e>
                            <m:sSub>
                              <m:sSubPr>
                                <m:ctrlPr>
                                  <a:rPr lang="en-US" altLang="ko-KR" sz="1400" i="1">
                                    <a:solidFill>
                                      <a:srgbClr val="FF0000"/>
                                    </a:solidFill>
                                    <a:latin typeface="Cambria Math" panose="02040503050406030204" pitchFamily="18" charset="0"/>
                                  </a:rPr>
                                </m:ctrlPr>
                              </m:sSubPr>
                              <m:e>
                                <m:r>
                                  <a:rPr lang="en-US" altLang="ko-KR" sz="1400">
                                    <a:solidFill>
                                      <a:srgbClr val="FF0000"/>
                                    </a:solidFill>
                                    <a:latin typeface="Cambria Math" panose="02040503050406030204" pitchFamily="18" charset="0"/>
                                  </a:rPr>
                                  <m:t>𝒙</m:t>
                                </m:r>
                              </m:e>
                              <m:sub>
                                <m:r>
                                  <a:rPr lang="en-US" altLang="ko-KR" sz="1400">
                                    <a:solidFill>
                                      <a:srgbClr val="FF0000"/>
                                    </a:solidFill>
                                    <a:latin typeface="Cambria Math" panose="02040503050406030204" pitchFamily="18" charset="0"/>
                                  </a:rPr>
                                  <m:t>𝑖</m:t>
                                </m:r>
                              </m:sub>
                            </m:sSub>
                          </m:e>
                        </m:d>
                      </m:e>
                    </m:d>
                    <m:r>
                      <a:rPr lang="en-US" altLang="ko-KR" sz="1400" i="1">
                        <a:solidFill>
                          <a:srgbClr val="FF0000"/>
                        </a:solidFill>
                        <a:latin typeface="Cambria Math" panose="02040503050406030204" pitchFamily="18" charset="0"/>
                      </a:rPr>
                      <m:t> </m:t>
                    </m:r>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gives 1 for an incorrect prediction, else 0.</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b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나눔고딕 ExtraBold" panose="020D0904000000000000" pitchFamily="50" charset="-127"/>
                    <a:ea typeface="나눔고딕 ExtraBold" panose="020D0904000000000000" pitchFamily="50" charset="-127"/>
                  </a:rPr>
                  <a:t>⇨ </a:t>
                </a:r>
                <a14:m>
                  <m:oMath xmlns:m="http://schemas.openxmlformats.org/officeDocument/2006/math">
                    <m:r>
                      <a:rPr lang="en-US" altLang="ko-KR" sz="1400" smtClean="0">
                        <a:solidFill>
                          <a:schemeClr val="tx1">
                            <a:lumMod val="85000"/>
                            <a:lumOff val="15000"/>
                          </a:schemeClr>
                        </a:solidFill>
                        <a:latin typeface="Cambria Math" panose="02040503050406030204" pitchFamily="18" charset="0"/>
                        <a:sym typeface="Symbol" panose="05050102010706020507" pitchFamily="18" charset="2"/>
                      </a:rPr>
                      <m:t>0≤</m:t>
                    </m:r>
                    <m:sSub>
                      <m:sSubPr>
                        <m:ctrlPr>
                          <a:rPr lang="en-US" altLang="ko-KR" sz="1400" i="1">
                            <a:solidFill>
                              <a:schemeClr val="tx1">
                                <a:lumMod val="85000"/>
                                <a:lumOff val="15000"/>
                              </a:schemeClr>
                            </a:solidFill>
                            <a:latin typeface="Cambria Math" panose="02040503050406030204" pitchFamily="18" charset="0"/>
                          </a:rPr>
                        </m:ctrlPr>
                      </m:sSubPr>
                      <m:e>
                        <m:r>
                          <a:rPr lang="ko-KR" altLang="en-US" sz="1400">
                            <a:solidFill>
                              <a:schemeClr val="tx1">
                                <a:lumMod val="85000"/>
                                <a:lumOff val="15000"/>
                              </a:schemeClr>
                            </a:solidFill>
                            <a:latin typeface="Cambria Math" panose="02040503050406030204" pitchFamily="18" charset="0"/>
                          </a:rPr>
                          <m:t>𝜀</m:t>
                        </m:r>
                      </m:e>
                      <m:sub>
                        <m:r>
                          <a:rPr lang="en-US" altLang="ko-KR" sz="1400">
                            <a:solidFill>
                              <a:schemeClr val="tx1">
                                <a:lumMod val="85000"/>
                                <a:lumOff val="15000"/>
                              </a:schemeClr>
                            </a:solidFill>
                            <a:latin typeface="Cambria Math" panose="02040503050406030204" pitchFamily="18" charset="0"/>
                          </a:rPr>
                          <m:t>𝑚</m:t>
                        </m:r>
                      </m:sub>
                    </m:sSub>
                    <m:r>
                      <a:rPr lang="en-US" altLang="ko-KR" sz="1400">
                        <a:solidFill>
                          <a:schemeClr val="tx1">
                            <a:lumMod val="85000"/>
                            <a:lumOff val="15000"/>
                          </a:schemeClr>
                        </a:solidFill>
                        <a:latin typeface="Cambria Math" panose="02040503050406030204" pitchFamily="18" charset="0"/>
                        <a:sym typeface="Symbol" panose="05050102010706020507" pitchFamily="18" charset="2"/>
                      </a:rPr>
                      <m:t>≤1</m:t>
                    </m:r>
                  </m:oMath>
                </a14:m>
                <a:endParaRPr lang="en-US" altLang="ko-KR" sz="1400" dirty="0">
                  <a:solidFill>
                    <a:srgbClr val="FF0000"/>
                  </a:solidFill>
                </a:endParaRPr>
              </a:p>
            </p:txBody>
          </p:sp>
        </mc:Choice>
        <mc:Fallback xmlns="">
          <p:sp>
            <p:nvSpPr>
              <p:cNvPr id="16" name="직사각형 15">
                <a:extLst>
                  <a:ext uri="{FF2B5EF4-FFF2-40B4-BE49-F238E27FC236}">
                    <a16:creationId xmlns:a16="http://schemas.microsoft.com/office/drawing/2014/main" id="{929563B7-1422-44BF-86E7-3AB92FFB2099}"/>
                  </a:ext>
                </a:extLst>
              </p:cNvPr>
              <p:cNvSpPr>
                <a:spLocks noRot="1" noChangeAspect="1" noMove="1" noResize="1" noEditPoints="1" noAdjustHandles="1" noChangeArrowheads="1" noChangeShapeType="1" noTextEdit="1"/>
              </p:cNvSpPr>
              <p:nvPr/>
            </p:nvSpPr>
            <p:spPr>
              <a:xfrm>
                <a:off x="675556" y="3516095"/>
                <a:ext cx="8632825" cy="799303"/>
              </a:xfrm>
              <a:prstGeom prst="rect">
                <a:avLst/>
              </a:prstGeom>
              <a:blipFill>
                <a:blip r:embed="rId5"/>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EA524EA-9028-4DB4-90FD-E7794FCA6AC4}"/>
                  </a:ext>
                </a:extLst>
              </p:cNvPr>
              <p:cNvSpPr txBox="1"/>
              <p:nvPr/>
            </p:nvSpPr>
            <p:spPr>
              <a:xfrm>
                <a:off x="5923520" y="1677219"/>
                <a:ext cx="936104" cy="441275"/>
              </a:xfrm>
              <a:prstGeom prst="rect">
                <a:avLst/>
              </a:prstGeom>
              <a:solidFill>
                <a:srgbClr val="F2F2F2"/>
              </a:solidFill>
            </p:spPr>
            <p:txBody>
              <a:bodyPr wrap="square">
                <a:spAutoFit/>
              </a:bodyPr>
              <a:lstStyle/>
              <a:p>
                <a:pPr algn="ctr"/>
                <a:r>
                  <a:rPr lang="ko-KR" altLang="en-US" sz="1600" dirty="0">
                    <a:solidFill>
                      <a:schemeClr val="tx1">
                        <a:lumMod val="85000"/>
                        <a:lumOff val="15000"/>
                      </a:schemeClr>
                    </a:solidFill>
                    <a:latin typeface="SamsungOne 400" panose="020B0503030303020204" pitchFamily="34" charset="0"/>
                    <a:ea typeface="SamsungOne 400" panose="020B0503030303020204" pitchFamily="34" charset="0"/>
                  </a:rPr>
                  <a:t>𝑤</a:t>
                </a:r>
                <a:r>
                  <a:rPr lang="ko-KR" altLang="en-US" sz="1600" baseline="-25000" dirty="0">
                    <a:solidFill>
                      <a:schemeClr val="tx1">
                        <a:lumMod val="85000"/>
                        <a:lumOff val="15000"/>
                      </a:schemeClr>
                    </a:solidFill>
                    <a:latin typeface="SamsungOne 400" panose="020B0503030303020204" pitchFamily="34" charset="0"/>
                    <a:ea typeface="SamsungOne 400" panose="020B0503030303020204" pitchFamily="34" charset="0"/>
                  </a:rPr>
                  <a:t>𝑖</a:t>
                </a:r>
                <a:r>
                  <a:rPr lang="en-US" altLang="ko-KR" sz="1600" baseline="30000" dirty="0">
                    <a:solidFill>
                      <a:schemeClr val="tx1">
                        <a:lumMod val="85000"/>
                        <a:lumOff val="15000"/>
                      </a:schemeClr>
                    </a:solidFill>
                    <a:latin typeface="SamsungOne 400" panose="020B0503030303020204" pitchFamily="34" charset="0"/>
                    <a:ea typeface="SamsungOne 400" panose="020B0503030303020204" pitchFamily="34" charset="0"/>
                  </a:rPr>
                  <a:t>(1)</a:t>
                </a:r>
                <a:r>
                  <a:rPr lang="en-US" altLang="ko-KR" sz="1600" dirty="0">
                    <a:solidFill>
                      <a:schemeClr val="tx1">
                        <a:lumMod val="85000"/>
                        <a:lumOff val="15000"/>
                      </a:schemeClr>
                    </a:solidFill>
                    <a:latin typeface="SamsungOne 400" panose="020B0503030303020204" pitchFamily="34" charset="0"/>
                    <a:ea typeface="SamsungOne 400" panose="020B0503030303020204" pitchFamily="34" charset="0"/>
                  </a:rPr>
                  <a:t>=</a:t>
                </a:r>
                <a14:m>
                  <m:oMath xmlns:m="http://schemas.openxmlformats.org/officeDocument/2006/math">
                    <m:f>
                      <m:fPr>
                        <m:ctrlPr>
                          <a:rPr lang="en-US" altLang="ko-KR" sz="1600" i="1" dirty="0">
                            <a:solidFill>
                              <a:schemeClr val="tx1">
                                <a:lumMod val="85000"/>
                                <a:lumOff val="15000"/>
                              </a:schemeClr>
                            </a:solidFill>
                            <a:latin typeface="Cambria Math" panose="02040503050406030204" pitchFamily="18" charset="0"/>
                            <a:ea typeface="SamsungOne 400" panose="020B0503030303020204" pitchFamily="34" charset="0"/>
                          </a:rPr>
                        </m:ctrlPr>
                      </m:fPr>
                      <m:num>
                        <m:r>
                          <a:rPr lang="en-US" altLang="ko-KR" sz="1600" i="1" dirty="0">
                            <a:solidFill>
                              <a:schemeClr val="tx1">
                                <a:lumMod val="85000"/>
                                <a:lumOff val="15000"/>
                              </a:schemeClr>
                            </a:solidFill>
                            <a:latin typeface="Cambria Math" panose="02040503050406030204" pitchFamily="18" charset="0"/>
                            <a:ea typeface="SamsungOne 400" panose="020B0503030303020204" pitchFamily="34" charset="0"/>
                          </a:rPr>
                          <m:t>1</m:t>
                        </m:r>
                      </m:num>
                      <m:den>
                        <m:r>
                          <a:rPr lang="en-US" altLang="ko-KR" sz="1600" i="1" dirty="0">
                            <a:solidFill>
                              <a:schemeClr val="tx1">
                                <a:lumMod val="85000"/>
                                <a:lumOff val="15000"/>
                              </a:schemeClr>
                            </a:solidFill>
                            <a:latin typeface="Cambria Math" panose="02040503050406030204" pitchFamily="18" charset="0"/>
                            <a:ea typeface="SamsungOne 400" panose="020B0503030303020204" pitchFamily="34" charset="0"/>
                          </a:rPr>
                          <m:t>𝑛</m:t>
                        </m:r>
                      </m:den>
                    </m:f>
                  </m:oMath>
                </a14:m>
                <a:endParaRPr lang="ko-KR" altLang="en-US" sz="1600" dirty="0"/>
              </a:p>
            </p:txBody>
          </p:sp>
        </mc:Choice>
        <mc:Fallback xmlns="">
          <p:sp>
            <p:nvSpPr>
              <p:cNvPr id="9" name="TextBox 8">
                <a:extLst>
                  <a:ext uri="{FF2B5EF4-FFF2-40B4-BE49-F238E27FC236}">
                    <a16:creationId xmlns:a16="http://schemas.microsoft.com/office/drawing/2014/main" id="{4EA524EA-9028-4DB4-90FD-E7794FCA6AC4}"/>
                  </a:ext>
                </a:extLst>
              </p:cNvPr>
              <p:cNvSpPr txBox="1">
                <a:spLocks noRot="1" noChangeAspect="1" noMove="1" noResize="1" noEditPoints="1" noAdjustHandles="1" noChangeArrowheads="1" noChangeShapeType="1" noTextEdit="1"/>
              </p:cNvSpPr>
              <p:nvPr/>
            </p:nvSpPr>
            <p:spPr>
              <a:xfrm>
                <a:off x="5923520" y="1677219"/>
                <a:ext cx="936104" cy="441275"/>
              </a:xfrm>
              <a:prstGeom prst="rect">
                <a:avLst/>
              </a:prstGeom>
              <a:blipFill>
                <a:blip r:embed="rId6"/>
                <a:stretch>
                  <a:fillRect b="-5479"/>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567096086"/>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AdaBoost classification algorithm</a:t>
            </a:r>
          </a:p>
        </p:txBody>
      </p:sp>
      <mc:AlternateContent xmlns:mc="http://schemas.openxmlformats.org/markup-compatibility/2006" xmlns:a14="http://schemas.microsoft.com/office/drawing/2010/main">
        <mc:Choice Requires="a14">
          <p:sp>
            <p:nvSpPr>
              <p:cNvPr id="11" name="직사각형 10">
                <a:extLst>
                  <a:ext uri="{FF2B5EF4-FFF2-40B4-BE49-F238E27FC236}">
                    <a16:creationId xmlns:a16="http://schemas.microsoft.com/office/drawing/2014/main" id="{47EBFE05-0A93-4F26-8155-D62EDF3433EF}"/>
                  </a:ext>
                </a:extLst>
              </p:cNvPr>
              <p:cNvSpPr/>
              <p:nvPr/>
            </p:nvSpPr>
            <p:spPr>
              <a:xfrm>
                <a:off x="675556" y="1700213"/>
                <a:ext cx="8632825" cy="991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defTabSz="914400">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3) For the boost sequence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𝑚</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=1,…,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𝑀</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p>
              <a:p>
                <a:pPr marL="176212" lvl="1" defTabSz="914400">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 Calculate the boosting weight:</a:t>
                </a:r>
                <a:r>
                  <a:rPr lang="en-US" altLang="ko-KR" sz="1400" dirty="0"/>
                  <a:t> </a:t>
                </a:r>
                <a14:m>
                  <m:oMath xmlns:m="http://schemas.openxmlformats.org/officeDocument/2006/math">
                    <m:sSub>
                      <m:sSubPr>
                        <m:ctrlPr>
                          <a:rPr lang="en-US" altLang="ko-KR" sz="1400" i="1">
                            <a:latin typeface="Cambria Math" panose="02040503050406030204" pitchFamily="18" charset="0"/>
                          </a:rPr>
                        </m:ctrlPr>
                      </m:sSubPr>
                      <m:e>
                        <m:r>
                          <a:rPr lang="ko-KR" altLang="en-US" sz="1400">
                            <a:latin typeface="Cambria Math" panose="02040503050406030204" pitchFamily="18" charset="0"/>
                          </a:rPr>
                          <m:t>𝛼</m:t>
                        </m:r>
                      </m:e>
                      <m:sub>
                        <m:r>
                          <a:rPr lang="en-US" altLang="ko-KR" sz="1400">
                            <a:latin typeface="Cambria Math" panose="02040503050406030204" pitchFamily="18" charset="0"/>
                          </a:rPr>
                          <m:t>𝑚</m:t>
                        </m:r>
                      </m:sub>
                    </m:sSub>
                    <m:r>
                      <a:rPr lang="en-US" altLang="ko-KR" sz="1400">
                        <a:latin typeface="Cambria Math" panose="02040503050406030204" pitchFamily="18" charset="0"/>
                      </a:rPr>
                      <m:t>=</m:t>
                    </m:r>
                    <m:f>
                      <m:fPr>
                        <m:ctrlPr>
                          <a:rPr lang="en-US" altLang="ko-KR" sz="1400" i="1">
                            <a:latin typeface="Cambria Math" panose="02040503050406030204" pitchFamily="18" charset="0"/>
                          </a:rPr>
                        </m:ctrlPr>
                      </m:fPr>
                      <m:num>
                        <m:r>
                          <a:rPr lang="en-US" altLang="ko-KR" sz="1400">
                            <a:latin typeface="Cambria Math" panose="02040503050406030204" pitchFamily="18" charset="0"/>
                          </a:rPr>
                          <m:t>1</m:t>
                        </m:r>
                      </m:num>
                      <m:den>
                        <m:r>
                          <a:rPr lang="en-US" altLang="ko-KR" sz="1400">
                            <a:latin typeface="Cambria Math" panose="02040503050406030204" pitchFamily="18" charset="0"/>
                          </a:rPr>
                          <m:t>2</m:t>
                        </m:r>
                      </m:den>
                    </m:f>
                    <m:r>
                      <a:rPr lang="en-US" altLang="ko-KR" sz="1400">
                        <a:latin typeface="Cambria Math" panose="02040503050406030204" pitchFamily="18" charset="0"/>
                      </a:rPr>
                      <m:t>𝑙𝑜𝑔</m:t>
                    </m:r>
                    <m:d>
                      <m:dPr>
                        <m:ctrlPr>
                          <a:rPr lang="en-US" altLang="ko-KR" sz="1400" i="1">
                            <a:latin typeface="Cambria Math" panose="02040503050406030204" pitchFamily="18" charset="0"/>
                          </a:rPr>
                        </m:ctrlPr>
                      </m:dPr>
                      <m:e>
                        <m:f>
                          <m:fPr>
                            <m:ctrlPr>
                              <a:rPr lang="en-US" altLang="ko-KR" sz="1400" i="1">
                                <a:latin typeface="Cambria Math" panose="02040503050406030204" pitchFamily="18" charset="0"/>
                              </a:rPr>
                            </m:ctrlPr>
                          </m:fPr>
                          <m:num>
                            <m:r>
                              <a:rPr lang="en-US" altLang="ko-KR" sz="1400">
                                <a:latin typeface="Cambria Math" panose="02040503050406030204" pitchFamily="18" charset="0"/>
                              </a:rPr>
                              <m:t>1−</m:t>
                            </m:r>
                            <m:sSub>
                              <m:sSubPr>
                                <m:ctrlPr>
                                  <a:rPr lang="en-US" altLang="ko-KR" sz="1400" i="1">
                                    <a:latin typeface="Cambria Math" panose="02040503050406030204" pitchFamily="18" charset="0"/>
                                  </a:rPr>
                                </m:ctrlPr>
                              </m:sSubPr>
                              <m:e>
                                <m:r>
                                  <a:rPr lang="ko-KR" altLang="en-US" sz="1400">
                                    <a:latin typeface="Cambria Math" panose="02040503050406030204" pitchFamily="18" charset="0"/>
                                  </a:rPr>
                                  <m:t>𝜀</m:t>
                                </m:r>
                              </m:e>
                              <m:sub>
                                <m:r>
                                  <a:rPr lang="en-US" altLang="ko-KR" sz="1400">
                                    <a:latin typeface="Cambria Math" panose="02040503050406030204" pitchFamily="18" charset="0"/>
                                  </a:rPr>
                                  <m:t>𝑚</m:t>
                                </m:r>
                              </m:sub>
                            </m:sSub>
                          </m:num>
                          <m:den>
                            <m:sSub>
                              <m:sSubPr>
                                <m:ctrlPr>
                                  <a:rPr lang="en-US" altLang="ko-KR" sz="1400" i="1">
                                    <a:latin typeface="Cambria Math" panose="02040503050406030204" pitchFamily="18" charset="0"/>
                                  </a:rPr>
                                </m:ctrlPr>
                              </m:sSubPr>
                              <m:e>
                                <m:r>
                                  <a:rPr lang="ko-KR" altLang="en-US" sz="1400">
                                    <a:latin typeface="Cambria Math" panose="02040503050406030204" pitchFamily="18" charset="0"/>
                                  </a:rPr>
                                  <m:t>𝜀</m:t>
                                </m:r>
                              </m:e>
                              <m:sub>
                                <m:r>
                                  <a:rPr lang="en-US" altLang="ko-KR" sz="1400">
                                    <a:latin typeface="Cambria Math" panose="02040503050406030204" pitchFamily="18" charset="0"/>
                                  </a:rPr>
                                  <m:t>𝑚</m:t>
                                </m:r>
                              </m:sub>
                            </m:sSub>
                          </m:den>
                        </m:f>
                      </m:e>
                    </m:d>
                  </m:oMath>
                </a14:m>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b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p:txBody>
          </p:sp>
        </mc:Choice>
        <mc:Fallback xmlns="">
          <p:sp>
            <p:nvSpPr>
              <p:cNvPr id="11" name="직사각형 10">
                <a:extLst>
                  <a:ext uri="{FF2B5EF4-FFF2-40B4-BE49-F238E27FC236}">
                    <a16:creationId xmlns:a16="http://schemas.microsoft.com/office/drawing/2014/main" id="{47EBFE05-0A93-4F26-8155-D62EDF3433EF}"/>
                  </a:ext>
                </a:extLst>
              </p:cNvPr>
              <p:cNvSpPr>
                <a:spLocks noRot="1" noChangeAspect="1" noMove="1" noResize="1" noEditPoints="1" noAdjustHandles="1" noChangeArrowheads="1" noChangeShapeType="1" noTextEdit="1"/>
              </p:cNvSpPr>
              <p:nvPr/>
            </p:nvSpPr>
            <p:spPr>
              <a:xfrm>
                <a:off x="675556" y="1700213"/>
                <a:ext cx="8632825" cy="991792"/>
              </a:xfrm>
              <a:prstGeom prst="rect">
                <a:avLst/>
              </a:prstGeom>
              <a:blipFill>
                <a:blip r:embed="rId4"/>
                <a:stretch>
                  <a:fillRect l="-141"/>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직사각형 15">
                <a:extLst>
                  <a:ext uri="{FF2B5EF4-FFF2-40B4-BE49-F238E27FC236}">
                    <a16:creationId xmlns:a16="http://schemas.microsoft.com/office/drawing/2014/main" id="{929563B7-1422-44BF-86E7-3AB92FFB2099}"/>
                  </a:ext>
                </a:extLst>
              </p:cNvPr>
              <p:cNvSpPr/>
              <p:nvPr/>
            </p:nvSpPr>
            <p:spPr>
              <a:xfrm>
                <a:off x="675556" y="2600908"/>
                <a:ext cx="8632825" cy="10456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469900">
                  <a:lnSpc>
                    <a:spcPct val="150000"/>
                  </a:lnSpc>
                </a:pPr>
                <a:r>
                  <a:rPr lang="ko-KR" altLang="en-US" sz="1300" dirty="0">
                    <a:solidFill>
                      <a:schemeClr val="tx1">
                        <a:lumMod val="85000"/>
                        <a:lumOff val="15000"/>
                      </a:schemeClr>
                    </a:solidFill>
                    <a:latin typeface="나눔고딕 ExtraBold" panose="020D0904000000000000" pitchFamily="50" charset="-127"/>
                    <a:ea typeface="나눔고딕 ExtraBold" panose="020D0904000000000000" pitchFamily="50" charset="-127"/>
                  </a:rPr>
                  <a:t>⇨</a:t>
                </a:r>
                <a:r>
                  <a:rPr lang="en-US" altLang="ko-KR" sz="1300" dirty="0">
                    <a:solidFill>
                      <a:srgbClr val="1D48D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ko-KR" sz="1300" dirty="0">
                    <a:solidFill>
                      <a:prstClr val="black">
                        <a:lumMod val="85000"/>
                        <a:lumOff val="15000"/>
                      </a:prstClr>
                    </a:solidFill>
                    <a:sym typeface="Symbol" panose="05050102010706020507" pitchFamily="18" charset="2"/>
                  </a:rPr>
                  <a:t>As </a:t>
                </a:r>
                <a14:m>
                  <m:oMath xmlns:m="http://schemas.openxmlformats.org/officeDocument/2006/math">
                    <m:sSub>
                      <m:sSubPr>
                        <m:ctrlPr>
                          <a:rPr lang="en-US" altLang="ko-KR" sz="1300" i="1">
                            <a:solidFill>
                              <a:prstClr val="black">
                                <a:lumMod val="85000"/>
                                <a:lumOff val="15000"/>
                              </a:prstClr>
                            </a:solidFill>
                            <a:latin typeface="Cambria Math" panose="02040503050406030204" pitchFamily="18" charset="0"/>
                          </a:rPr>
                        </m:ctrlPr>
                      </m:sSubPr>
                      <m:e>
                        <m:r>
                          <a:rPr lang="ko-KR" altLang="en-US" sz="1300">
                            <a:solidFill>
                              <a:prstClr val="black">
                                <a:lumMod val="85000"/>
                                <a:lumOff val="15000"/>
                              </a:prstClr>
                            </a:solidFill>
                            <a:latin typeface="Cambria Math" panose="02040503050406030204" pitchFamily="18" charset="0"/>
                          </a:rPr>
                          <m:t>𝜀</m:t>
                        </m:r>
                      </m:e>
                      <m:sub>
                        <m:r>
                          <a:rPr lang="en-US" altLang="ko-KR" sz="1300">
                            <a:solidFill>
                              <a:prstClr val="black">
                                <a:lumMod val="85000"/>
                                <a:lumOff val="15000"/>
                              </a:prstClr>
                            </a:solidFill>
                            <a:latin typeface="Cambria Math" panose="02040503050406030204" pitchFamily="18" charset="0"/>
                          </a:rPr>
                          <m:t>𝑚</m:t>
                        </m:r>
                      </m:sub>
                    </m:sSub>
                    <m:r>
                      <a:rPr lang="en-US" altLang="ko-KR" sz="1300">
                        <a:solidFill>
                          <a:prstClr val="black">
                            <a:lumMod val="85000"/>
                            <a:lumOff val="15000"/>
                          </a:prstClr>
                        </a:solidFill>
                        <a:latin typeface="Cambria Math" panose="02040503050406030204" pitchFamily="18" charset="0"/>
                      </a:rPr>
                      <m:t>→0</m:t>
                    </m:r>
                  </m:oMath>
                </a14:m>
                <a:r>
                  <a:rPr lang="en-US" altLang="ko-KR" sz="1300" dirty="0">
                    <a:solidFill>
                      <a:prstClr val="black">
                        <a:lumMod val="85000"/>
                        <a:lumOff val="15000"/>
                      </a:prstClr>
                    </a:solidFill>
                  </a:rPr>
                  <a:t>,</a:t>
                </a:r>
                <a:r>
                  <a:rPr lang="ko-KR" altLang="en-US" sz="1300" dirty="0">
                    <a:solidFill>
                      <a:prstClr val="black">
                        <a:lumMod val="85000"/>
                        <a:lumOff val="15000"/>
                      </a:prstClr>
                    </a:solidFill>
                  </a:rPr>
                  <a:t> </a:t>
                </a:r>
                <a14:m>
                  <m:oMath xmlns:m="http://schemas.openxmlformats.org/officeDocument/2006/math">
                    <m:sSub>
                      <m:sSubPr>
                        <m:ctrlPr>
                          <a:rPr lang="en-US" altLang="ko-KR" sz="1300" i="1">
                            <a:solidFill>
                              <a:prstClr val="black">
                                <a:lumMod val="85000"/>
                                <a:lumOff val="15000"/>
                              </a:prstClr>
                            </a:solidFill>
                            <a:latin typeface="Cambria Math" panose="02040503050406030204" pitchFamily="18" charset="0"/>
                          </a:rPr>
                        </m:ctrlPr>
                      </m:sSubPr>
                      <m:e>
                        <m:r>
                          <a:rPr lang="ko-KR" altLang="en-US" sz="1300">
                            <a:solidFill>
                              <a:prstClr val="black">
                                <a:lumMod val="85000"/>
                                <a:lumOff val="15000"/>
                              </a:prstClr>
                            </a:solidFill>
                            <a:latin typeface="Cambria Math" panose="02040503050406030204" pitchFamily="18" charset="0"/>
                          </a:rPr>
                          <m:t>𝛼</m:t>
                        </m:r>
                      </m:e>
                      <m:sub>
                        <m:r>
                          <a:rPr lang="en-US" altLang="ko-KR" sz="1300">
                            <a:solidFill>
                              <a:prstClr val="black">
                                <a:lumMod val="85000"/>
                                <a:lumOff val="15000"/>
                              </a:prstClr>
                            </a:solidFill>
                            <a:latin typeface="Cambria Math" panose="02040503050406030204" pitchFamily="18" charset="0"/>
                          </a:rPr>
                          <m:t>𝑚</m:t>
                        </m:r>
                      </m:sub>
                    </m:sSub>
                  </m:oMath>
                </a14:m>
                <a:r>
                  <a:rPr lang="ko-KR" altLang="en-US" sz="1300" dirty="0">
                    <a:solidFill>
                      <a:prstClr val="black">
                        <a:lumMod val="85000"/>
                        <a:lumOff val="15000"/>
                      </a:prstClr>
                    </a:solidFill>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is a large positive number. The learner is given more importance!</a:t>
                </a:r>
              </a:p>
              <a:p>
                <a:pPr marL="469900">
                  <a:lnSpc>
                    <a:spcPct val="150000"/>
                  </a:lnSpc>
                </a:pPr>
                <a:r>
                  <a:rPr lang="ko-KR" altLang="en-US" sz="1300" dirty="0">
                    <a:solidFill>
                      <a:schemeClr val="tx1">
                        <a:lumMod val="85000"/>
                        <a:lumOff val="15000"/>
                      </a:schemeClr>
                    </a:solidFill>
                    <a:latin typeface="나눔고딕 ExtraBold" panose="020D0904000000000000" pitchFamily="50" charset="-127"/>
                    <a:ea typeface="나눔고딕 ExtraBold" panose="020D0904000000000000" pitchFamily="50" charset="-127"/>
                  </a:rPr>
                  <a:t>⇨ </a:t>
                </a:r>
                <a:r>
                  <a:rPr lang="en-US" altLang="ko-KR" sz="1300" dirty="0">
                    <a:solidFill>
                      <a:prstClr val="black">
                        <a:lumMod val="85000"/>
                        <a:lumOff val="15000"/>
                      </a:prstClr>
                    </a:solidFill>
                  </a:rPr>
                  <a:t>As </a:t>
                </a:r>
                <a14:m>
                  <m:oMath xmlns:m="http://schemas.openxmlformats.org/officeDocument/2006/math">
                    <m:sSub>
                      <m:sSubPr>
                        <m:ctrlPr>
                          <a:rPr lang="en-US" altLang="ko-KR" sz="1300" i="1">
                            <a:solidFill>
                              <a:prstClr val="black">
                                <a:lumMod val="85000"/>
                                <a:lumOff val="15000"/>
                              </a:prstClr>
                            </a:solidFill>
                            <a:latin typeface="Cambria Math" panose="02040503050406030204" pitchFamily="18" charset="0"/>
                          </a:rPr>
                        </m:ctrlPr>
                      </m:sSubPr>
                      <m:e>
                        <m:r>
                          <a:rPr lang="ko-KR" altLang="en-US" sz="1300">
                            <a:solidFill>
                              <a:prstClr val="black">
                                <a:lumMod val="85000"/>
                                <a:lumOff val="15000"/>
                              </a:prstClr>
                            </a:solidFill>
                            <a:latin typeface="Cambria Math" panose="02040503050406030204" pitchFamily="18" charset="0"/>
                          </a:rPr>
                          <m:t>𝜀</m:t>
                        </m:r>
                      </m:e>
                      <m:sub>
                        <m:r>
                          <a:rPr lang="en-US" altLang="ko-KR" sz="1300">
                            <a:solidFill>
                              <a:prstClr val="black">
                                <a:lumMod val="85000"/>
                                <a:lumOff val="15000"/>
                              </a:prstClr>
                            </a:solidFill>
                            <a:latin typeface="Cambria Math" panose="02040503050406030204" pitchFamily="18" charset="0"/>
                          </a:rPr>
                          <m:t>𝑚</m:t>
                        </m:r>
                      </m:sub>
                    </m:sSub>
                    <m:r>
                      <a:rPr lang="en-US" altLang="ko-KR" sz="1300">
                        <a:solidFill>
                          <a:prstClr val="black">
                            <a:lumMod val="85000"/>
                            <a:lumOff val="15000"/>
                          </a:prstClr>
                        </a:solidFill>
                        <a:latin typeface="Cambria Math" panose="02040503050406030204" pitchFamily="18" charset="0"/>
                      </a:rPr>
                      <m:t>≅0.5,</m:t>
                    </m:r>
                  </m:oMath>
                </a14:m>
                <a:r>
                  <a:rPr lang="ko-KR" altLang="en-US" sz="1300" dirty="0">
                    <a:solidFill>
                      <a:prstClr val="black">
                        <a:lumMod val="85000"/>
                        <a:lumOff val="15000"/>
                      </a:prstClr>
                    </a:solidFill>
                  </a:rPr>
                  <a:t> </a:t>
                </a:r>
                <a14:m>
                  <m:oMath xmlns:m="http://schemas.openxmlformats.org/officeDocument/2006/math">
                    <m:sSub>
                      <m:sSubPr>
                        <m:ctrlPr>
                          <a:rPr lang="en-US" altLang="ko-KR" sz="1300" i="1">
                            <a:solidFill>
                              <a:prstClr val="black">
                                <a:lumMod val="85000"/>
                                <a:lumOff val="15000"/>
                              </a:prstClr>
                            </a:solidFill>
                            <a:latin typeface="Cambria Math" panose="02040503050406030204" pitchFamily="18" charset="0"/>
                          </a:rPr>
                        </m:ctrlPr>
                      </m:sSubPr>
                      <m:e>
                        <m:r>
                          <a:rPr lang="ko-KR" altLang="en-US" sz="1300">
                            <a:solidFill>
                              <a:prstClr val="black">
                                <a:lumMod val="85000"/>
                                <a:lumOff val="15000"/>
                              </a:prstClr>
                            </a:solidFill>
                            <a:latin typeface="Cambria Math" panose="02040503050406030204" pitchFamily="18" charset="0"/>
                          </a:rPr>
                          <m:t>𝛼</m:t>
                        </m:r>
                      </m:e>
                      <m:sub>
                        <m:r>
                          <a:rPr lang="en-US" altLang="ko-KR" sz="1300">
                            <a:solidFill>
                              <a:prstClr val="black">
                                <a:lumMod val="85000"/>
                                <a:lumOff val="15000"/>
                              </a:prstClr>
                            </a:solidFill>
                            <a:latin typeface="Cambria Math" panose="02040503050406030204" pitchFamily="18" charset="0"/>
                          </a:rPr>
                          <m:t>𝑚</m:t>
                        </m:r>
                      </m:sub>
                    </m:sSub>
                    <m:r>
                      <a:rPr lang="en-US" altLang="ko-KR" sz="1300">
                        <a:solidFill>
                          <a:prstClr val="black">
                            <a:lumMod val="85000"/>
                            <a:lumOff val="15000"/>
                          </a:prstClr>
                        </a:solidFill>
                        <a:latin typeface="Cambria Math" panose="02040503050406030204" pitchFamily="18" charset="0"/>
                      </a:rPr>
                      <m:t>≅0</m:t>
                    </m:r>
                  </m:oMath>
                </a14:m>
                <a:r>
                  <a:rPr lang="en-US" altLang="ko-KR" sz="1300" dirty="0">
                    <a:solidFill>
                      <a:prstClr val="black">
                        <a:lumMod val="85000"/>
                        <a:lumOff val="15000"/>
                      </a:prstClr>
                    </a:solidFill>
                  </a:rPr>
                  <a:t>.</a:t>
                </a:r>
              </a:p>
              <a:p>
                <a:pPr marL="469900">
                  <a:lnSpc>
                    <a:spcPct val="150000"/>
                  </a:lnSpc>
                </a:pPr>
                <a:r>
                  <a:rPr lang="ko-KR" altLang="en-US" sz="1300" dirty="0">
                    <a:solidFill>
                      <a:schemeClr val="tx1">
                        <a:lumMod val="85000"/>
                        <a:lumOff val="15000"/>
                      </a:schemeClr>
                    </a:solidFill>
                    <a:latin typeface="나눔고딕 ExtraBold" panose="020D0904000000000000" pitchFamily="50" charset="-127"/>
                    <a:ea typeface="나눔고딕 ExtraBold" panose="020D0904000000000000" pitchFamily="50" charset="-127"/>
                  </a:rPr>
                  <a:t>⇨ </a:t>
                </a:r>
                <a:r>
                  <a:rPr lang="en-US" altLang="ko-KR" sz="1300" dirty="0">
                    <a:solidFill>
                      <a:prstClr val="black">
                        <a:lumMod val="85000"/>
                        <a:lumOff val="15000"/>
                      </a:prstClr>
                    </a:solidFill>
                    <a:sym typeface="Symbol" panose="05050102010706020507" pitchFamily="18" charset="2"/>
                  </a:rPr>
                  <a:t>As </a:t>
                </a:r>
                <a14:m>
                  <m:oMath xmlns:m="http://schemas.openxmlformats.org/officeDocument/2006/math">
                    <m:sSub>
                      <m:sSubPr>
                        <m:ctrlPr>
                          <a:rPr lang="en-US" altLang="ko-KR" sz="1300" i="1">
                            <a:solidFill>
                              <a:prstClr val="black">
                                <a:lumMod val="85000"/>
                                <a:lumOff val="15000"/>
                              </a:prstClr>
                            </a:solidFill>
                            <a:latin typeface="Cambria Math" panose="02040503050406030204" pitchFamily="18" charset="0"/>
                          </a:rPr>
                        </m:ctrlPr>
                      </m:sSubPr>
                      <m:e>
                        <m:r>
                          <a:rPr lang="ko-KR" altLang="en-US" sz="1300">
                            <a:solidFill>
                              <a:prstClr val="black">
                                <a:lumMod val="85000"/>
                                <a:lumOff val="15000"/>
                              </a:prstClr>
                            </a:solidFill>
                            <a:latin typeface="Cambria Math" panose="02040503050406030204" pitchFamily="18" charset="0"/>
                          </a:rPr>
                          <m:t>𝜀</m:t>
                        </m:r>
                      </m:e>
                      <m:sub>
                        <m:r>
                          <a:rPr lang="en-US" altLang="ko-KR" sz="1300">
                            <a:solidFill>
                              <a:prstClr val="black">
                                <a:lumMod val="85000"/>
                                <a:lumOff val="15000"/>
                              </a:prstClr>
                            </a:solidFill>
                            <a:latin typeface="Cambria Math" panose="02040503050406030204" pitchFamily="18" charset="0"/>
                          </a:rPr>
                          <m:t>𝑚</m:t>
                        </m:r>
                      </m:sub>
                    </m:sSub>
                    <m:r>
                      <a:rPr lang="en-US" altLang="ko-KR" sz="1300">
                        <a:solidFill>
                          <a:prstClr val="black">
                            <a:lumMod val="85000"/>
                            <a:lumOff val="15000"/>
                          </a:prstClr>
                        </a:solidFill>
                        <a:latin typeface="Cambria Math" panose="02040503050406030204" pitchFamily="18" charset="0"/>
                      </a:rPr>
                      <m:t>→1</m:t>
                    </m:r>
                  </m:oMath>
                </a14:m>
                <a:r>
                  <a:rPr lang="en-US" altLang="ko-KR" sz="1300" dirty="0">
                    <a:solidFill>
                      <a:prstClr val="black">
                        <a:lumMod val="85000"/>
                        <a:lumOff val="15000"/>
                      </a:prstClr>
                    </a:solidFill>
                  </a:rPr>
                  <a:t>,</a:t>
                </a:r>
                <a:r>
                  <a:rPr lang="ko-KR" altLang="en-US" sz="1300" dirty="0">
                    <a:solidFill>
                      <a:prstClr val="black">
                        <a:lumMod val="85000"/>
                        <a:lumOff val="15000"/>
                      </a:prstClr>
                    </a:solidFill>
                  </a:rPr>
                  <a:t> </a:t>
                </a:r>
                <a14:m>
                  <m:oMath xmlns:m="http://schemas.openxmlformats.org/officeDocument/2006/math">
                    <m:sSub>
                      <m:sSubPr>
                        <m:ctrlPr>
                          <a:rPr lang="en-US" altLang="ko-KR" sz="1300" i="1">
                            <a:solidFill>
                              <a:prstClr val="black">
                                <a:lumMod val="85000"/>
                                <a:lumOff val="15000"/>
                              </a:prstClr>
                            </a:solidFill>
                            <a:latin typeface="Cambria Math" panose="02040503050406030204" pitchFamily="18" charset="0"/>
                          </a:rPr>
                        </m:ctrlPr>
                      </m:sSubPr>
                      <m:e>
                        <m:r>
                          <a:rPr lang="ko-KR" altLang="en-US" sz="1300">
                            <a:solidFill>
                              <a:prstClr val="black">
                                <a:lumMod val="85000"/>
                                <a:lumOff val="15000"/>
                              </a:prstClr>
                            </a:solidFill>
                            <a:latin typeface="Cambria Math" panose="02040503050406030204" pitchFamily="18" charset="0"/>
                          </a:rPr>
                          <m:t>𝛼</m:t>
                        </m:r>
                      </m:e>
                      <m:sub>
                        <m:r>
                          <a:rPr lang="en-US" altLang="ko-KR" sz="1300">
                            <a:solidFill>
                              <a:prstClr val="black">
                                <a:lumMod val="85000"/>
                                <a:lumOff val="15000"/>
                              </a:prstClr>
                            </a:solidFill>
                            <a:latin typeface="Cambria Math" panose="02040503050406030204" pitchFamily="18" charset="0"/>
                          </a:rPr>
                          <m:t>𝑚</m:t>
                        </m:r>
                      </m:sub>
                    </m:sSub>
                  </m:oMath>
                </a14:m>
                <a:r>
                  <a:rPr lang="ko-KR" altLang="en-US" sz="1300" dirty="0">
                    <a:solidFill>
                      <a:prstClr val="black">
                        <a:lumMod val="85000"/>
                        <a:lumOff val="15000"/>
                      </a:prstClr>
                    </a:solidFill>
                  </a:rPr>
                  <a:t> </a:t>
                </a:r>
                <a:r>
                  <a:rPr lang="en-US" altLang="ko-KR" sz="1300" dirty="0">
                    <a:solidFill>
                      <a:prstClr val="black">
                        <a:lumMod val="85000"/>
                        <a:lumOff val="15000"/>
                      </a:prstClr>
                    </a:solidFill>
                    <a:latin typeface="SamsungOne 400" panose="020B0503030303020204" pitchFamily="34" charset="0"/>
                    <a:ea typeface="SamsungOne 400" panose="020B0503030303020204" pitchFamily="34" charset="0"/>
                  </a:rPr>
                  <a:t>is a large negative number.</a:t>
                </a:r>
                <a:endParaRPr lang="en-US" altLang="ko-KR" sz="1300" dirty="0">
                  <a:solidFill>
                    <a:srgbClr val="FF0000"/>
                  </a:solidFill>
                  <a:latin typeface="SamsungOne 400" panose="020B0503030303020204" pitchFamily="34" charset="0"/>
                  <a:ea typeface="SamsungOne 400" panose="020B0503030303020204" pitchFamily="34" charset="0"/>
                </a:endParaRPr>
              </a:p>
            </p:txBody>
          </p:sp>
        </mc:Choice>
        <mc:Fallback xmlns="">
          <p:sp>
            <p:nvSpPr>
              <p:cNvPr id="16" name="직사각형 15">
                <a:extLst>
                  <a:ext uri="{FF2B5EF4-FFF2-40B4-BE49-F238E27FC236}">
                    <a16:creationId xmlns:a16="http://schemas.microsoft.com/office/drawing/2014/main" xmlns="" xmlns:a14="http://schemas.microsoft.com/office/drawing/2010/main" id="{929563B7-1422-44BF-86E7-3AB92FFB2099}"/>
                  </a:ext>
                </a:extLst>
              </p:cNvPr>
              <p:cNvSpPr>
                <a:spLocks noRot="1" noChangeAspect="1" noMove="1" noResize="1" noEditPoints="1" noAdjustHandles="1" noChangeArrowheads="1" noChangeShapeType="1" noTextEdit="1"/>
              </p:cNvSpPr>
              <p:nvPr/>
            </p:nvSpPr>
            <p:spPr>
              <a:xfrm>
                <a:off x="675556" y="2600908"/>
                <a:ext cx="8632825" cy="1045653"/>
              </a:xfrm>
              <a:prstGeom prst="rect">
                <a:avLst/>
              </a:prstGeom>
              <a:blipFill rotWithShape="0">
                <a:blip r:embed="rId5"/>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88BA02D-10B7-4017-A2DE-400747380A7C}"/>
                  </a:ext>
                </a:extLst>
              </p:cNvPr>
              <p:cNvSpPr txBox="1"/>
              <p:nvPr/>
            </p:nvSpPr>
            <p:spPr>
              <a:xfrm>
                <a:off x="3367236" y="1991351"/>
                <a:ext cx="1836204" cy="576376"/>
              </a:xfrm>
              <a:prstGeom prst="rect">
                <a:avLst/>
              </a:prstGeom>
              <a:solidFill>
                <a:srgbClr val="F2F2F2"/>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1400" i="1" smtClean="0">
                              <a:latin typeface="Cambria Math" panose="02040503050406030204" pitchFamily="18" charset="0"/>
                            </a:rPr>
                          </m:ctrlPr>
                        </m:sSubPr>
                        <m:e>
                          <m:r>
                            <a:rPr lang="ko-KR" altLang="en-US" sz="1400">
                              <a:latin typeface="Cambria Math" panose="02040503050406030204" pitchFamily="18" charset="0"/>
                            </a:rPr>
                            <m:t>𝛼</m:t>
                          </m:r>
                        </m:e>
                        <m:sub>
                          <m:r>
                            <a:rPr lang="en-US" altLang="ko-KR" sz="1400">
                              <a:latin typeface="Cambria Math" panose="02040503050406030204" pitchFamily="18" charset="0"/>
                            </a:rPr>
                            <m:t>𝑚</m:t>
                          </m:r>
                        </m:sub>
                      </m:sSub>
                      <m:r>
                        <a:rPr lang="en-US" altLang="ko-KR" sz="1400">
                          <a:latin typeface="Cambria Math" panose="02040503050406030204" pitchFamily="18" charset="0"/>
                        </a:rPr>
                        <m:t>=</m:t>
                      </m:r>
                      <m:f>
                        <m:fPr>
                          <m:ctrlPr>
                            <a:rPr lang="en-US" altLang="ko-KR" sz="1400" i="1">
                              <a:latin typeface="Cambria Math" panose="02040503050406030204" pitchFamily="18" charset="0"/>
                            </a:rPr>
                          </m:ctrlPr>
                        </m:fPr>
                        <m:num>
                          <m:r>
                            <a:rPr lang="en-US" altLang="ko-KR" sz="1400">
                              <a:latin typeface="Cambria Math" panose="02040503050406030204" pitchFamily="18" charset="0"/>
                            </a:rPr>
                            <m:t>1</m:t>
                          </m:r>
                        </m:num>
                        <m:den>
                          <m:r>
                            <a:rPr lang="en-US" altLang="ko-KR" sz="1400">
                              <a:latin typeface="Cambria Math" panose="02040503050406030204" pitchFamily="18" charset="0"/>
                            </a:rPr>
                            <m:t>2</m:t>
                          </m:r>
                        </m:den>
                      </m:f>
                      <m:r>
                        <a:rPr lang="en-US" altLang="ko-KR" sz="1400">
                          <a:latin typeface="Cambria Math" panose="02040503050406030204" pitchFamily="18" charset="0"/>
                        </a:rPr>
                        <m:t>𝑙𝑜𝑔</m:t>
                      </m:r>
                      <m:d>
                        <m:dPr>
                          <m:ctrlPr>
                            <a:rPr lang="en-US" altLang="ko-KR" sz="1400" i="1">
                              <a:latin typeface="Cambria Math" panose="02040503050406030204" pitchFamily="18" charset="0"/>
                            </a:rPr>
                          </m:ctrlPr>
                        </m:dPr>
                        <m:e>
                          <m:f>
                            <m:fPr>
                              <m:ctrlPr>
                                <a:rPr lang="en-US" altLang="ko-KR" sz="1400" i="1">
                                  <a:latin typeface="Cambria Math" panose="02040503050406030204" pitchFamily="18" charset="0"/>
                                </a:rPr>
                              </m:ctrlPr>
                            </m:fPr>
                            <m:num>
                              <m:r>
                                <a:rPr lang="en-US" altLang="ko-KR" sz="1400">
                                  <a:latin typeface="Cambria Math" panose="02040503050406030204" pitchFamily="18" charset="0"/>
                                </a:rPr>
                                <m:t>1−</m:t>
                              </m:r>
                              <m:sSub>
                                <m:sSubPr>
                                  <m:ctrlPr>
                                    <a:rPr lang="en-US" altLang="ko-KR" sz="1400" i="1">
                                      <a:latin typeface="Cambria Math" panose="02040503050406030204" pitchFamily="18" charset="0"/>
                                    </a:rPr>
                                  </m:ctrlPr>
                                </m:sSubPr>
                                <m:e>
                                  <m:r>
                                    <a:rPr lang="ko-KR" altLang="en-US" sz="1400">
                                      <a:latin typeface="Cambria Math" panose="02040503050406030204" pitchFamily="18" charset="0"/>
                                    </a:rPr>
                                    <m:t>𝜀</m:t>
                                  </m:r>
                                </m:e>
                                <m:sub>
                                  <m:r>
                                    <a:rPr lang="en-US" altLang="ko-KR" sz="1400">
                                      <a:latin typeface="Cambria Math" panose="02040503050406030204" pitchFamily="18" charset="0"/>
                                    </a:rPr>
                                    <m:t>𝑚</m:t>
                                  </m:r>
                                </m:sub>
                              </m:sSub>
                            </m:num>
                            <m:den>
                              <m:sSub>
                                <m:sSubPr>
                                  <m:ctrlPr>
                                    <a:rPr lang="en-US" altLang="ko-KR" sz="1400" i="1">
                                      <a:latin typeface="Cambria Math" panose="02040503050406030204" pitchFamily="18" charset="0"/>
                                    </a:rPr>
                                  </m:ctrlPr>
                                </m:sSubPr>
                                <m:e>
                                  <m:r>
                                    <a:rPr lang="ko-KR" altLang="en-US" sz="1400">
                                      <a:latin typeface="Cambria Math" panose="02040503050406030204" pitchFamily="18" charset="0"/>
                                    </a:rPr>
                                    <m:t>𝜀</m:t>
                                  </m:r>
                                </m:e>
                                <m:sub>
                                  <m:r>
                                    <a:rPr lang="en-US" altLang="ko-KR" sz="1400">
                                      <a:latin typeface="Cambria Math" panose="02040503050406030204" pitchFamily="18" charset="0"/>
                                    </a:rPr>
                                    <m:t>𝑚</m:t>
                                  </m:r>
                                </m:sub>
                              </m:sSub>
                            </m:den>
                          </m:f>
                        </m:e>
                      </m:d>
                    </m:oMath>
                  </m:oMathPara>
                </a14:m>
                <a:endParaRPr lang="ko-KR" altLang="en-US" sz="1400" dirty="0"/>
              </a:p>
            </p:txBody>
          </p:sp>
        </mc:Choice>
        <mc:Fallback xmlns="">
          <p:sp>
            <p:nvSpPr>
              <p:cNvPr id="12" name="TextBox 11">
                <a:extLst>
                  <a:ext uri="{FF2B5EF4-FFF2-40B4-BE49-F238E27FC236}">
                    <a16:creationId xmlns:a16="http://schemas.microsoft.com/office/drawing/2014/main" xmlns="" xmlns:a14="http://schemas.microsoft.com/office/drawing/2010/main" id="{988BA02D-10B7-4017-A2DE-400747380A7C}"/>
                  </a:ext>
                </a:extLst>
              </p:cNvPr>
              <p:cNvSpPr txBox="1">
                <a:spLocks noRot="1" noChangeAspect="1" noMove="1" noResize="1" noEditPoints="1" noAdjustHandles="1" noChangeArrowheads="1" noChangeShapeType="1" noTextEdit="1"/>
              </p:cNvSpPr>
              <p:nvPr/>
            </p:nvSpPr>
            <p:spPr>
              <a:xfrm>
                <a:off x="3367236" y="1991351"/>
                <a:ext cx="1836204" cy="576376"/>
              </a:xfrm>
              <a:prstGeom prst="rect">
                <a:avLst/>
              </a:prstGeom>
              <a:blipFill rotWithShape="0">
                <a:blip r:embed="rId6"/>
                <a:stretch>
                  <a:fillRect/>
                </a:stretch>
              </a:blipFill>
            </p:spPr>
            <p:txBody>
              <a:bodyPr/>
              <a:lstStyle/>
              <a:p>
                <a:r>
                  <a:rPr lang="ko-KR" altLang="en-US">
                    <a:noFill/>
                  </a:rPr>
                  <a:t> </a:t>
                </a:r>
              </a:p>
            </p:txBody>
          </p:sp>
        </mc:Fallback>
      </mc:AlternateContent>
      <p:sp>
        <p:nvSpPr>
          <p:cNvPr id="13" name="직사각형 12">
            <a:extLst>
              <a:ext uri="{FF2B5EF4-FFF2-40B4-BE49-F238E27FC236}">
                <a16:creationId xmlns:a16="http://schemas.microsoft.com/office/drawing/2014/main" id="{2AEA7C27-4DE5-4FF6-894B-1C7158527F0A}"/>
              </a:ext>
            </a:extLst>
          </p:cNvPr>
          <p:cNvSpPr/>
          <p:nvPr/>
        </p:nvSpPr>
        <p:spPr>
          <a:xfrm>
            <a:off x="856752" y="3789040"/>
            <a:ext cx="8632825" cy="71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defTabSz="914400">
              <a:lnSpc>
                <a:spcPct val="150000"/>
              </a:lnSpc>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 For the next step, the weights of the </a:t>
            </a:r>
            <a:r>
              <a:rPr lang="en-US" altLang="ko-KR" sz="1300" b="1" dirty="0">
                <a:solidFill>
                  <a:srgbClr val="FF0000"/>
                </a:solidFill>
                <a:latin typeface="SamsungOne 400" panose="020B0503030303020204" pitchFamily="34" charset="0"/>
                <a:ea typeface="SamsungOne 400" panose="020B0503030303020204" pitchFamily="34" charset="0"/>
              </a:rPr>
              <a:t>wrongly</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predicted observation are rescaled by a factor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𝑒</a:t>
            </a:r>
            <a:r>
              <a:rPr lang="en-US" altLang="ko-KR" sz="1300" baseline="30000" dirty="0">
                <a:solidFill>
                  <a:schemeClr val="tx1">
                    <a:lumMod val="85000"/>
                    <a:lumOff val="15000"/>
                  </a:schemeClr>
                </a:solidFill>
                <a:latin typeface="SamsungOne 400" panose="020B0503030303020204" pitchFamily="34" charset="0"/>
                <a:ea typeface="SamsungOne 400" panose="020B0503030303020204" pitchFamily="34" charset="0"/>
              </a:rPr>
              <a:t>a</a:t>
            </a:r>
            <a:r>
              <a:rPr lang="en-US" altLang="ko-KR" sz="1300" baseline="-25000" dirty="0">
                <a:solidFill>
                  <a:schemeClr val="tx1">
                    <a:lumMod val="85000"/>
                    <a:lumOff val="15000"/>
                  </a:schemeClr>
                </a:solidFill>
                <a:latin typeface="SamsungOne 400" panose="020B0503030303020204" pitchFamily="34" charset="0"/>
                <a:ea typeface="SamsungOne 400" panose="020B0503030303020204" pitchFamily="34" charset="0"/>
              </a:rPr>
              <a:t>m</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b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This can be compactly expressed as: </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14785B9-B0F9-4A5E-8598-DF553B0D9C8D}"/>
                  </a:ext>
                </a:extLst>
              </p:cNvPr>
              <p:cNvSpPr txBox="1"/>
              <p:nvPr/>
            </p:nvSpPr>
            <p:spPr>
              <a:xfrm>
                <a:off x="3691273" y="4185084"/>
                <a:ext cx="4788531" cy="405752"/>
              </a:xfrm>
              <a:prstGeom prst="rect">
                <a:avLst/>
              </a:prstGeom>
              <a:solidFill>
                <a:srgbClr val="F2F2F2"/>
              </a:solidFill>
            </p:spPr>
            <p:txBody>
              <a:bodyPr wrap="square">
                <a:spAutoFit/>
              </a:bodyPr>
              <a:lstStyle/>
              <a:p>
                <a14:m>
                  <m:oMath xmlns:m="http://schemas.openxmlformats.org/officeDocument/2006/math">
                    <m:sSubSup>
                      <m:sSubSupPr>
                        <m:ctrlPr>
                          <a:rPr lang="en-US" altLang="ko-KR" sz="1600" i="1" dirty="0" smtClean="0">
                            <a:latin typeface="Cambria Math" panose="02040503050406030204" pitchFamily="18" charset="0"/>
                          </a:rPr>
                        </m:ctrlPr>
                      </m:sSubSupPr>
                      <m:e>
                        <m:r>
                          <a:rPr lang="en-US" altLang="ko-KR" sz="1600" dirty="0">
                            <a:latin typeface="Cambria Math" panose="02040503050406030204" pitchFamily="18" charset="0"/>
                          </a:rPr>
                          <m:t>𝑤</m:t>
                        </m:r>
                      </m:e>
                      <m:sub>
                        <m:r>
                          <a:rPr lang="en-US" altLang="ko-KR" sz="1600" dirty="0">
                            <a:latin typeface="Cambria Math" panose="02040503050406030204" pitchFamily="18" charset="0"/>
                          </a:rPr>
                          <m:t>𝑖</m:t>
                        </m:r>
                      </m:sub>
                      <m:sup>
                        <m:r>
                          <a:rPr lang="en-US" altLang="ko-KR" sz="1600" dirty="0">
                            <a:latin typeface="Cambria Math" panose="02040503050406030204" pitchFamily="18" charset="0"/>
                          </a:rPr>
                          <m:t>(</m:t>
                        </m:r>
                        <m:r>
                          <a:rPr lang="en-US" altLang="ko-KR" sz="1600" dirty="0">
                            <a:latin typeface="Cambria Math" panose="02040503050406030204" pitchFamily="18" charset="0"/>
                          </a:rPr>
                          <m:t>𝑚</m:t>
                        </m:r>
                        <m:r>
                          <a:rPr lang="en-US" altLang="ko-KR" sz="1600" dirty="0">
                            <a:latin typeface="Cambria Math" panose="02040503050406030204" pitchFamily="18" charset="0"/>
                          </a:rPr>
                          <m:t>+1)</m:t>
                        </m:r>
                      </m:sup>
                    </m:sSubSup>
                    <m:r>
                      <a:rPr lang="en-US" altLang="ko-KR" sz="1600" dirty="0">
                        <a:latin typeface="Cambria Math" panose="02040503050406030204" pitchFamily="18" charset="0"/>
                      </a:rPr>
                      <m:t>=</m:t>
                    </m:r>
                    <m:sSubSup>
                      <m:sSubSupPr>
                        <m:ctrlPr>
                          <a:rPr lang="en-US" altLang="ko-KR" sz="1600" i="1" dirty="0">
                            <a:latin typeface="Cambria Math" panose="02040503050406030204" pitchFamily="18" charset="0"/>
                          </a:rPr>
                        </m:ctrlPr>
                      </m:sSubSupPr>
                      <m:e>
                        <m:r>
                          <a:rPr lang="en-US" altLang="ko-KR" sz="1600" dirty="0">
                            <a:latin typeface="Cambria Math" panose="02040503050406030204" pitchFamily="18" charset="0"/>
                          </a:rPr>
                          <m:t>𝑤</m:t>
                        </m:r>
                      </m:e>
                      <m:sub>
                        <m:r>
                          <a:rPr lang="en-US" altLang="ko-KR" sz="1600" dirty="0">
                            <a:latin typeface="Cambria Math" panose="02040503050406030204" pitchFamily="18" charset="0"/>
                          </a:rPr>
                          <m:t>𝑖</m:t>
                        </m:r>
                      </m:sub>
                      <m:sup>
                        <m:r>
                          <a:rPr lang="en-US" altLang="ko-KR" sz="1600" dirty="0">
                            <a:latin typeface="Cambria Math" panose="02040503050406030204" pitchFamily="18" charset="0"/>
                          </a:rPr>
                          <m:t>(</m:t>
                        </m:r>
                        <m:r>
                          <a:rPr lang="en-US" altLang="ko-KR" sz="1600" dirty="0">
                            <a:latin typeface="Cambria Math" panose="02040503050406030204" pitchFamily="18" charset="0"/>
                          </a:rPr>
                          <m:t>𝑚</m:t>
                        </m:r>
                        <m:r>
                          <a:rPr lang="en-US" altLang="ko-KR" sz="1600" dirty="0">
                            <a:latin typeface="Cambria Math" panose="02040503050406030204" pitchFamily="18" charset="0"/>
                          </a:rPr>
                          <m:t>)</m:t>
                        </m:r>
                      </m:sup>
                    </m:sSubSup>
                    <m:r>
                      <a:rPr lang="en-US" altLang="ko-KR" sz="1600">
                        <a:latin typeface="Cambria Math" panose="02040503050406030204" pitchFamily="18" charset="0"/>
                      </a:rPr>
                      <m:t>×</m:t>
                    </m:r>
                    <m:sSup>
                      <m:sSupPr>
                        <m:ctrlPr>
                          <a:rPr lang="en-US" altLang="ko-KR" sz="1600" i="1">
                            <a:latin typeface="Cambria Math" panose="02040503050406030204" pitchFamily="18" charset="0"/>
                          </a:rPr>
                        </m:ctrlPr>
                      </m:sSupPr>
                      <m:e>
                        <m:r>
                          <a:rPr lang="en-US" altLang="ko-KR" sz="1600">
                            <a:latin typeface="Cambria Math" panose="02040503050406030204" pitchFamily="18" charset="0"/>
                          </a:rPr>
                          <m:t>𝑒</m:t>
                        </m:r>
                      </m:e>
                      <m:sup>
                        <m:sSub>
                          <m:sSubPr>
                            <m:ctrlPr>
                              <a:rPr lang="en-US" altLang="ko-KR" sz="1600" i="1">
                                <a:latin typeface="Cambria Math" panose="02040503050406030204" pitchFamily="18" charset="0"/>
                              </a:rPr>
                            </m:ctrlPr>
                          </m:sSubPr>
                          <m:e>
                            <m:r>
                              <a:rPr lang="ko-KR" altLang="en-US" sz="1600">
                                <a:latin typeface="Cambria Math" panose="02040503050406030204" pitchFamily="18" charset="0"/>
                              </a:rPr>
                              <m:t>𝛼</m:t>
                            </m:r>
                          </m:e>
                          <m:sub>
                            <m:r>
                              <a:rPr lang="en-US" altLang="ko-KR" sz="1600">
                                <a:latin typeface="Cambria Math" panose="02040503050406030204" pitchFamily="18" charset="0"/>
                              </a:rPr>
                              <m:t>𝑚</m:t>
                            </m:r>
                          </m:sub>
                        </m:sSub>
                        <m:r>
                          <a:rPr lang="en-US" altLang="ko-KR" sz="1600">
                            <a:latin typeface="Cambria Math" panose="02040503050406030204" pitchFamily="18" charset="0"/>
                          </a:rPr>
                          <m:t>∙</m:t>
                        </m:r>
                        <m:r>
                          <a:rPr lang="en-US" altLang="ko-KR" sz="1600">
                            <a:latin typeface="Cambria Math" panose="02040503050406030204" pitchFamily="18" charset="0"/>
                          </a:rPr>
                          <m:t>𝐼</m:t>
                        </m:r>
                        <m:d>
                          <m:dPr>
                            <m:ctrlPr>
                              <a:rPr lang="en-US" altLang="ko-KR" sz="1600" i="1">
                                <a:latin typeface="Cambria Math" panose="02040503050406030204" pitchFamily="18" charset="0"/>
                              </a:rPr>
                            </m:ctrlPr>
                          </m:dPr>
                          <m:e>
                            <m:sSub>
                              <m:sSubPr>
                                <m:ctrlPr>
                                  <a:rPr lang="en-US" altLang="ko-KR" sz="1600" i="1">
                                    <a:latin typeface="Cambria Math" panose="02040503050406030204" pitchFamily="18" charset="0"/>
                                  </a:rPr>
                                </m:ctrlPr>
                              </m:sSubPr>
                              <m:e>
                                <m:r>
                                  <a:rPr lang="en-US" altLang="ko-KR" sz="1600">
                                    <a:latin typeface="Cambria Math" panose="02040503050406030204" pitchFamily="18" charset="0"/>
                                  </a:rPr>
                                  <m:t>𝑦</m:t>
                                </m:r>
                              </m:e>
                              <m:sub>
                                <m:r>
                                  <a:rPr lang="en-US" altLang="ko-KR" sz="1600">
                                    <a:latin typeface="Cambria Math" panose="02040503050406030204" pitchFamily="18" charset="0"/>
                                  </a:rPr>
                                  <m:t>𝑖</m:t>
                                </m:r>
                              </m:sub>
                            </m:sSub>
                            <m:r>
                              <a:rPr lang="en-US" altLang="ko-KR" sz="1600">
                                <a:latin typeface="Cambria Math" panose="02040503050406030204" pitchFamily="18" charset="0"/>
                              </a:rPr>
                              <m:t>≠</m:t>
                            </m:r>
                            <m:sSub>
                              <m:sSubPr>
                                <m:ctrlPr>
                                  <a:rPr lang="en-US" altLang="ko-KR" sz="1600" i="1">
                                    <a:latin typeface="Cambria Math" panose="02040503050406030204" pitchFamily="18" charset="0"/>
                                  </a:rPr>
                                </m:ctrlPr>
                              </m:sSubPr>
                              <m:e>
                                <m:r>
                                  <a:rPr lang="en-US" altLang="ko-KR" sz="1600">
                                    <a:latin typeface="Cambria Math" panose="02040503050406030204" pitchFamily="18" charset="0"/>
                                  </a:rPr>
                                  <m:t>𝐺</m:t>
                                </m:r>
                              </m:e>
                              <m:sub>
                                <m:r>
                                  <a:rPr lang="en-US" altLang="ko-KR" sz="1600">
                                    <a:latin typeface="Cambria Math" panose="02040503050406030204" pitchFamily="18" charset="0"/>
                                  </a:rPr>
                                  <m:t>𝑚</m:t>
                                </m:r>
                              </m:sub>
                            </m:sSub>
                            <m:d>
                              <m:dPr>
                                <m:ctrlPr>
                                  <a:rPr lang="en-US" altLang="ko-KR" sz="1600" i="1">
                                    <a:latin typeface="Cambria Math" panose="02040503050406030204" pitchFamily="18" charset="0"/>
                                  </a:rPr>
                                </m:ctrlPr>
                              </m:dPr>
                              <m:e>
                                <m:sSub>
                                  <m:sSubPr>
                                    <m:ctrlPr>
                                      <a:rPr lang="en-US" altLang="ko-KR" sz="1600" i="1">
                                        <a:latin typeface="Cambria Math" panose="02040503050406030204" pitchFamily="18" charset="0"/>
                                      </a:rPr>
                                    </m:ctrlPr>
                                  </m:sSubPr>
                                  <m:e>
                                    <m:r>
                                      <a:rPr lang="en-US" altLang="ko-KR" sz="1600">
                                        <a:latin typeface="Cambria Math" panose="02040503050406030204" pitchFamily="18" charset="0"/>
                                      </a:rPr>
                                      <m:t>𝒙</m:t>
                                    </m:r>
                                  </m:e>
                                  <m:sub>
                                    <m:r>
                                      <a:rPr lang="en-US" altLang="ko-KR" sz="1600">
                                        <a:latin typeface="Cambria Math" panose="02040503050406030204" pitchFamily="18" charset="0"/>
                                      </a:rPr>
                                      <m:t>𝑖</m:t>
                                    </m:r>
                                  </m:sub>
                                </m:sSub>
                              </m:e>
                            </m:d>
                          </m:e>
                        </m:d>
                      </m:sup>
                    </m:sSup>
                  </m:oMath>
                </a14:m>
                <a:r>
                  <a:rPr lang="en-US" altLang="ko-KR" sz="1600" dirty="0"/>
                  <a:t>,  where </a:t>
                </a:r>
                <a14:m>
                  <m:oMath xmlns:m="http://schemas.openxmlformats.org/officeDocument/2006/math">
                    <m:r>
                      <a:rPr lang="en-US" altLang="ko-KR" sz="1600" dirty="0">
                        <a:latin typeface="Cambria Math" panose="02040503050406030204" pitchFamily="18" charset="0"/>
                      </a:rPr>
                      <m:t>𝑖</m:t>
                    </m:r>
                    <m:r>
                      <a:rPr lang="en-US" altLang="ko-KR" sz="1600" dirty="0">
                        <a:latin typeface="Cambria Math" panose="02040503050406030204" pitchFamily="18" charset="0"/>
                      </a:rPr>
                      <m:t>=1,…,</m:t>
                    </m:r>
                    <m:r>
                      <a:rPr lang="en-US" altLang="ko-KR" sz="1600" dirty="0">
                        <a:latin typeface="Cambria Math" panose="02040503050406030204" pitchFamily="18" charset="0"/>
                      </a:rPr>
                      <m:t>𝑛</m:t>
                    </m:r>
                  </m:oMath>
                </a14:m>
                <a:endParaRPr lang="en-US" altLang="ko-KR" sz="1600" dirty="0"/>
              </a:p>
            </p:txBody>
          </p:sp>
        </mc:Choice>
        <mc:Fallback xmlns="">
          <p:sp>
            <p:nvSpPr>
              <p:cNvPr id="17" name="TextBox 16">
                <a:extLst>
                  <a:ext uri="{FF2B5EF4-FFF2-40B4-BE49-F238E27FC236}">
                    <a16:creationId xmlns:a16="http://schemas.microsoft.com/office/drawing/2014/main" xmlns="" xmlns:a14="http://schemas.microsoft.com/office/drawing/2010/main" id="{614785B9-B0F9-4A5E-8598-DF553B0D9C8D}"/>
                  </a:ext>
                </a:extLst>
              </p:cNvPr>
              <p:cNvSpPr txBox="1">
                <a:spLocks noRot="1" noChangeAspect="1" noMove="1" noResize="1" noEditPoints="1" noAdjustHandles="1" noChangeArrowheads="1" noChangeShapeType="1" noTextEdit="1"/>
              </p:cNvSpPr>
              <p:nvPr/>
            </p:nvSpPr>
            <p:spPr>
              <a:xfrm>
                <a:off x="3691273" y="4185084"/>
                <a:ext cx="4788531" cy="405752"/>
              </a:xfrm>
              <a:prstGeom prst="rect">
                <a:avLst/>
              </a:prstGeom>
              <a:blipFill rotWithShape="0">
                <a:blip r:embed="rId7"/>
                <a:stretch>
                  <a:fillRect b="-16667"/>
                </a:stretch>
              </a:blipFill>
            </p:spPr>
            <p:txBody>
              <a:bodyPr/>
              <a:lstStyle/>
              <a:p>
                <a:r>
                  <a:rPr lang="ko-KR" altLang="en-US">
                    <a:noFill/>
                  </a:rPr>
                  <a:t> </a:t>
                </a:r>
              </a:p>
            </p:txBody>
          </p:sp>
        </mc:Fallback>
      </mc:AlternateContent>
      <p:sp>
        <p:nvSpPr>
          <p:cNvPr id="18" name="직사각형 17">
            <a:extLst>
              <a:ext uri="{FF2B5EF4-FFF2-40B4-BE49-F238E27FC236}">
                <a16:creationId xmlns:a16="http://schemas.microsoft.com/office/drawing/2014/main" id="{A12FCBCE-BB2C-44A8-BF23-8A99A80D3925}"/>
              </a:ext>
            </a:extLst>
          </p:cNvPr>
          <p:cNvSpPr/>
          <p:nvPr/>
        </p:nvSpPr>
        <p:spPr>
          <a:xfrm>
            <a:off x="675556" y="4550906"/>
            <a:ext cx="8632825" cy="413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469900">
              <a:lnSpc>
                <a:spcPct val="150000"/>
              </a:lnSpc>
            </a:pPr>
            <a:r>
              <a:rPr lang="ko-KR" altLang="en-US" sz="1300" dirty="0">
                <a:solidFill>
                  <a:schemeClr val="tx1">
                    <a:lumMod val="85000"/>
                    <a:lumOff val="15000"/>
                  </a:schemeClr>
                </a:solidFill>
                <a:latin typeface="나눔고딕 ExtraBold" panose="020D0904000000000000" pitchFamily="50" charset="-127"/>
                <a:ea typeface="나눔고딕 ExtraBold" panose="020D0904000000000000" pitchFamily="50" charset="-127"/>
              </a:rPr>
              <a:t>⇨</a:t>
            </a:r>
            <a:r>
              <a:rPr lang="en-US" altLang="ko-KR" sz="1300" dirty="0">
                <a:solidFill>
                  <a:srgbClr val="1D48D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sym typeface="Symbol" panose="05050102010706020507" pitchFamily="18" charset="2"/>
              </a:rPr>
              <a:t>In the next sequence step, the wrongly predicted observations receive heavier weight. </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Tree>
    <p:extLst>
      <p:ext uri="{BB962C8B-B14F-4D97-AF65-F5344CB8AC3E}">
        <p14:creationId xmlns:p14="http://schemas.microsoft.com/office/powerpoint/2010/main" val="1504598337"/>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AdaBoost classification algorithm</a:t>
            </a:r>
          </a:p>
        </p:txBody>
      </p:sp>
      <p:sp>
        <p:nvSpPr>
          <p:cNvPr id="11" name="직사각형 10">
            <a:extLst>
              <a:ext uri="{FF2B5EF4-FFF2-40B4-BE49-F238E27FC236}">
                <a16:creationId xmlns:a16="http://schemas.microsoft.com/office/drawing/2014/main" id="{47EBFE05-0A93-4F26-8155-D62EDF3433EF}"/>
              </a:ext>
            </a:extLst>
          </p:cNvPr>
          <p:cNvSpPr/>
          <p:nvPr/>
        </p:nvSpPr>
        <p:spPr>
          <a:xfrm>
            <a:off x="675556" y="1700213"/>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defTabSz="914400">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4) The ensemble classifier is made up of a linear combination of weak learners: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88BA02D-10B7-4017-A2DE-400747380A7C}"/>
                  </a:ext>
                </a:extLst>
              </p:cNvPr>
              <p:cNvSpPr txBox="1"/>
              <p:nvPr/>
            </p:nvSpPr>
            <p:spPr>
              <a:xfrm>
                <a:off x="2387420" y="2139023"/>
                <a:ext cx="3716120" cy="785921"/>
              </a:xfrm>
              <a:prstGeom prst="rect">
                <a:avLst/>
              </a:prstGeom>
              <a:solidFill>
                <a:srgbClr val="F2F2F2"/>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ko-KR" sz="1400" i="1">
                              <a:latin typeface="Cambria Math" panose="02040503050406030204" pitchFamily="18" charset="0"/>
                            </a:rPr>
                          </m:ctrlPr>
                        </m:sSubPr>
                        <m:e>
                          <m:r>
                            <a:rPr lang="en-US" altLang="ko-KR" sz="1400">
                              <a:latin typeface="Cambria Math" panose="02040503050406030204" pitchFamily="18" charset="0"/>
                            </a:rPr>
                            <m:t>𝐺</m:t>
                          </m:r>
                        </m:e>
                        <m:sub>
                          <m:r>
                            <a:rPr lang="en-US" altLang="ko-KR" sz="1400">
                              <a:latin typeface="Cambria Math" panose="02040503050406030204" pitchFamily="18" charset="0"/>
                            </a:rPr>
                            <m:t>𝑒𝑛𝑠𝑒𝑚𝑏𝑙𝑒</m:t>
                          </m:r>
                        </m:sub>
                      </m:sSub>
                      <m:d>
                        <m:dPr>
                          <m:ctrlPr>
                            <a:rPr lang="en-US" altLang="ko-KR" sz="1400" i="1">
                              <a:latin typeface="Cambria Math" panose="02040503050406030204" pitchFamily="18" charset="0"/>
                            </a:rPr>
                          </m:ctrlPr>
                        </m:dPr>
                        <m:e>
                          <m:r>
                            <a:rPr lang="en-US" altLang="ko-KR" sz="1400">
                              <a:latin typeface="Cambria Math" panose="02040503050406030204" pitchFamily="18" charset="0"/>
                            </a:rPr>
                            <m:t>𝒙</m:t>
                          </m:r>
                        </m:e>
                      </m:d>
                      <m:r>
                        <a:rPr lang="en-US" altLang="ko-KR" sz="1400">
                          <a:latin typeface="Cambria Math" panose="02040503050406030204" pitchFamily="18" charset="0"/>
                        </a:rPr>
                        <m:t>=</m:t>
                      </m:r>
                      <m:r>
                        <a:rPr lang="en-US" altLang="ko-KR" sz="1400">
                          <a:latin typeface="Cambria Math" panose="02040503050406030204" pitchFamily="18" charset="0"/>
                        </a:rPr>
                        <m:t>𝑠𝑖𝑔𝑛</m:t>
                      </m:r>
                      <m:d>
                        <m:dPr>
                          <m:ctrlPr>
                            <a:rPr lang="en-US" altLang="ko-KR" sz="1400" i="1">
                              <a:latin typeface="Cambria Math" panose="02040503050406030204" pitchFamily="18" charset="0"/>
                            </a:rPr>
                          </m:ctrlPr>
                        </m:dPr>
                        <m:e>
                          <m:nary>
                            <m:naryPr>
                              <m:chr m:val="∑"/>
                              <m:ctrlPr>
                                <a:rPr lang="en-US" altLang="ko-KR" sz="1400" i="1">
                                  <a:latin typeface="Cambria Math" panose="02040503050406030204" pitchFamily="18" charset="0"/>
                                </a:rPr>
                              </m:ctrlPr>
                            </m:naryPr>
                            <m:sub>
                              <m:r>
                                <m:rPr>
                                  <m:brk m:alnAt="23"/>
                                </m:rPr>
                                <a:rPr lang="en-US" altLang="ko-KR" sz="1400">
                                  <a:latin typeface="Cambria Math" panose="02040503050406030204" pitchFamily="18" charset="0"/>
                                </a:rPr>
                                <m:t>𝑚</m:t>
                              </m:r>
                              <m:r>
                                <a:rPr lang="en-US" altLang="ko-KR" sz="1400">
                                  <a:latin typeface="Cambria Math" panose="02040503050406030204" pitchFamily="18" charset="0"/>
                                </a:rPr>
                                <m:t>=1</m:t>
                              </m:r>
                            </m:sub>
                            <m:sup>
                              <m:r>
                                <a:rPr lang="en-US" altLang="ko-KR" sz="1400">
                                  <a:latin typeface="Cambria Math" panose="02040503050406030204" pitchFamily="18" charset="0"/>
                                </a:rPr>
                                <m:t>𝑀</m:t>
                              </m:r>
                            </m:sup>
                            <m:e>
                              <m:sSub>
                                <m:sSubPr>
                                  <m:ctrlPr>
                                    <a:rPr lang="en-US" altLang="ko-KR" sz="1400" i="1">
                                      <a:latin typeface="Cambria Math" panose="02040503050406030204" pitchFamily="18" charset="0"/>
                                    </a:rPr>
                                  </m:ctrlPr>
                                </m:sSubPr>
                                <m:e>
                                  <m:r>
                                    <a:rPr lang="ko-KR" altLang="en-US" sz="1400">
                                      <a:latin typeface="Cambria Math" panose="02040503050406030204" pitchFamily="18" charset="0"/>
                                    </a:rPr>
                                    <m:t>𝛼</m:t>
                                  </m:r>
                                </m:e>
                                <m:sub>
                                  <m:r>
                                    <a:rPr lang="en-US" altLang="ko-KR" sz="1400">
                                      <a:latin typeface="Cambria Math" panose="02040503050406030204" pitchFamily="18" charset="0"/>
                                    </a:rPr>
                                    <m:t>𝑚</m:t>
                                  </m:r>
                                </m:sub>
                              </m:sSub>
                              <m:sSub>
                                <m:sSubPr>
                                  <m:ctrlPr>
                                    <a:rPr lang="en-US" altLang="ko-KR" sz="1400" i="1">
                                      <a:latin typeface="Cambria Math" panose="02040503050406030204" pitchFamily="18" charset="0"/>
                                    </a:rPr>
                                  </m:ctrlPr>
                                </m:sSubPr>
                                <m:e>
                                  <m:r>
                                    <a:rPr lang="en-US" altLang="ko-KR" sz="1400">
                                      <a:latin typeface="Cambria Math" panose="02040503050406030204" pitchFamily="18" charset="0"/>
                                    </a:rPr>
                                    <m:t>𝐺</m:t>
                                  </m:r>
                                </m:e>
                                <m:sub>
                                  <m:r>
                                    <a:rPr lang="en-US" altLang="ko-KR" sz="1400">
                                      <a:latin typeface="Cambria Math" panose="02040503050406030204" pitchFamily="18" charset="0"/>
                                    </a:rPr>
                                    <m:t>𝑚</m:t>
                                  </m:r>
                                </m:sub>
                              </m:sSub>
                              <m:r>
                                <a:rPr lang="en-US" altLang="ko-KR" sz="1400">
                                  <a:latin typeface="Cambria Math" panose="02040503050406030204" pitchFamily="18" charset="0"/>
                                </a:rPr>
                                <m:t>(</m:t>
                              </m:r>
                              <m:r>
                                <a:rPr lang="en-US" altLang="ko-KR" sz="1400">
                                  <a:latin typeface="Cambria Math" panose="02040503050406030204" pitchFamily="18" charset="0"/>
                                </a:rPr>
                                <m:t>𝒙</m:t>
                              </m:r>
                              <m:r>
                                <a:rPr lang="en-US" altLang="ko-KR" sz="1400">
                                  <a:latin typeface="Cambria Math" panose="02040503050406030204" pitchFamily="18" charset="0"/>
                                </a:rPr>
                                <m:t>)</m:t>
                              </m:r>
                            </m:e>
                          </m:nary>
                        </m:e>
                      </m:d>
                    </m:oMath>
                  </m:oMathPara>
                </a14:m>
                <a:endParaRPr lang="en-US" altLang="ko-KR" sz="1400" dirty="0"/>
              </a:p>
            </p:txBody>
          </p:sp>
        </mc:Choice>
        <mc:Fallback xmlns="">
          <p:sp>
            <p:nvSpPr>
              <p:cNvPr id="12" name="TextBox 11">
                <a:extLst>
                  <a:ext uri="{FF2B5EF4-FFF2-40B4-BE49-F238E27FC236}">
                    <a16:creationId xmlns:a16="http://schemas.microsoft.com/office/drawing/2014/main" xmlns="" xmlns:a14="http://schemas.microsoft.com/office/drawing/2010/main" id="{988BA02D-10B7-4017-A2DE-400747380A7C}"/>
                  </a:ext>
                </a:extLst>
              </p:cNvPr>
              <p:cNvSpPr txBox="1">
                <a:spLocks noRot="1" noChangeAspect="1" noMove="1" noResize="1" noEditPoints="1" noAdjustHandles="1" noChangeArrowheads="1" noChangeShapeType="1" noTextEdit="1"/>
              </p:cNvSpPr>
              <p:nvPr/>
            </p:nvSpPr>
            <p:spPr>
              <a:xfrm>
                <a:off x="2387420" y="2139023"/>
                <a:ext cx="3716120" cy="785921"/>
              </a:xfrm>
              <a:prstGeom prst="rect">
                <a:avLst/>
              </a:prstGeom>
              <a:blipFill rotWithShape="0">
                <a:blip r:embed="rId4"/>
                <a:stretch>
                  <a:fillRect/>
                </a:stretch>
              </a:blipFill>
            </p:spPr>
            <p:txBody>
              <a:bodyPr/>
              <a:lstStyle/>
              <a:p>
                <a:r>
                  <a:rPr lang="ko-KR" altLang="en-US">
                    <a:noFill/>
                  </a:rPr>
                  <a:t> </a:t>
                </a:r>
              </a:p>
            </p:txBody>
          </p:sp>
        </mc:Fallback>
      </mc:AlternateContent>
      <p:sp>
        <p:nvSpPr>
          <p:cNvPr id="14" name="직사각형 13">
            <a:extLst>
              <a:ext uri="{FF2B5EF4-FFF2-40B4-BE49-F238E27FC236}">
                <a16:creationId xmlns:a16="http://schemas.microsoft.com/office/drawing/2014/main" id="{2A2390BE-F92B-415D-AFA0-2787BB2D76B9}"/>
              </a:ext>
            </a:extLst>
          </p:cNvPr>
          <p:cNvSpPr/>
          <p:nvPr/>
        </p:nvSpPr>
        <p:spPr>
          <a:xfrm>
            <a:off x="675556" y="3199928"/>
            <a:ext cx="8632825"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defTabSz="914400">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5) For a new testing condition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𝒙</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we can predict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𝑦</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by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𝐺</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_</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𝑒𝑛𝑠𝑒𝑚𝑏𝑙𝑒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𝒙</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p>
        </p:txBody>
      </p:sp>
    </p:spTree>
    <p:extLst>
      <p:ext uri="{BB962C8B-B14F-4D97-AF65-F5344CB8AC3E}">
        <p14:creationId xmlns:p14="http://schemas.microsoft.com/office/powerpoint/2010/main" val="3077328595"/>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AdaBoost classification algorithm</a:t>
            </a:r>
          </a:p>
        </p:txBody>
      </p:sp>
      <p:grpSp>
        <p:nvGrpSpPr>
          <p:cNvPr id="2" name="그룹 1">
            <a:extLst>
              <a:ext uri="{FF2B5EF4-FFF2-40B4-BE49-F238E27FC236}">
                <a16:creationId xmlns:a16="http://schemas.microsoft.com/office/drawing/2014/main" id="{A5C9BFE5-7C7D-4C4B-BE5B-F95CF08342D2}"/>
              </a:ext>
            </a:extLst>
          </p:cNvPr>
          <p:cNvGrpSpPr/>
          <p:nvPr/>
        </p:nvGrpSpPr>
        <p:grpSpPr>
          <a:xfrm>
            <a:off x="559409" y="2168860"/>
            <a:ext cx="8629075" cy="3471669"/>
            <a:chOff x="714951" y="1878551"/>
            <a:chExt cx="8629075" cy="3471669"/>
          </a:xfrm>
        </p:grpSpPr>
        <p:sp>
          <p:nvSpPr>
            <p:cNvPr id="9" name="직사각형 8">
              <a:extLst>
                <a:ext uri="{FF2B5EF4-FFF2-40B4-BE49-F238E27FC236}">
                  <a16:creationId xmlns:a16="http://schemas.microsoft.com/office/drawing/2014/main" id="{46E54BA6-2C3E-4D84-B159-0247BC7C013F}"/>
                </a:ext>
              </a:extLst>
            </p:cNvPr>
            <p:cNvSpPr/>
            <p:nvPr/>
          </p:nvSpPr>
          <p:spPr>
            <a:xfrm>
              <a:off x="4190197" y="3897269"/>
              <a:ext cx="1685500" cy="1452951"/>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3" name="TextBox 12">
              <a:extLst>
                <a:ext uri="{FF2B5EF4-FFF2-40B4-BE49-F238E27FC236}">
                  <a16:creationId xmlns:a16="http://schemas.microsoft.com/office/drawing/2014/main" id="{BE4ABDB4-C1F0-4699-A8A3-3EF59302EA14}"/>
                </a:ext>
              </a:extLst>
            </p:cNvPr>
            <p:cNvSpPr txBox="1"/>
            <p:nvPr/>
          </p:nvSpPr>
          <p:spPr>
            <a:xfrm>
              <a:off x="4538168" y="3980528"/>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15" name="TextBox 14">
              <a:extLst>
                <a:ext uri="{FF2B5EF4-FFF2-40B4-BE49-F238E27FC236}">
                  <a16:creationId xmlns:a16="http://schemas.microsoft.com/office/drawing/2014/main" id="{24E1D533-3724-4AEB-AB37-1A4B5A50BF95}"/>
                </a:ext>
              </a:extLst>
            </p:cNvPr>
            <p:cNvSpPr txBox="1"/>
            <p:nvPr/>
          </p:nvSpPr>
          <p:spPr>
            <a:xfrm>
              <a:off x="4852138" y="4188013"/>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16" name="TextBox 15">
              <a:extLst>
                <a:ext uri="{FF2B5EF4-FFF2-40B4-BE49-F238E27FC236}">
                  <a16:creationId xmlns:a16="http://schemas.microsoft.com/office/drawing/2014/main" id="{AF1D6C52-181D-41C3-B664-B7FAA14A3C69}"/>
                </a:ext>
              </a:extLst>
            </p:cNvPr>
            <p:cNvSpPr txBox="1"/>
            <p:nvPr/>
          </p:nvSpPr>
          <p:spPr>
            <a:xfrm>
              <a:off x="4508772" y="4484948"/>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17" name="TextBox 16">
              <a:extLst>
                <a:ext uri="{FF2B5EF4-FFF2-40B4-BE49-F238E27FC236}">
                  <a16:creationId xmlns:a16="http://schemas.microsoft.com/office/drawing/2014/main" id="{E1EF45BA-1623-4B0A-AF91-B88602FDD54A}"/>
                </a:ext>
              </a:extLst>
            </p:cNvPr>
            <p:cNvSpPr txBox="1"/>
            <p:nvPr/>
          </p:nvSpPr>
          <p:spPr>
            <a:xfrm>
              <a:off x="5091102" y="4008992"/>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18" name="TextBox 17">
              <a:extLst>
                <a:ext uri="{FF2B5EF4-FFF2-40B4-BE49-F238E27FC236}">
                  <a16:creationId xmlns:a16="http://schemas.microsoft.com/office/drawing/2014/main" id="{C5BFED08-170D-4137-B281-DED71EF9C2E4}"/>
                </a:ext>
              </a:extLst>
            </p:cNvPr>
            <p:cNvSpPr txBox="1"/>
            <p:nvPr/>
          </p:nvSpPr>
          <p:spPr>
            <a:xfrm>
              <a:off x="4532769" y="5123184"/>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19" name="TextBox 18">
              <a:extLst>
                <a:ext uri="{FF2B5EF4-FFF2-40B4-BE49-F238E27FC236}">
                  <a16:creationId xmlns:a16="http://schemas.microsoft.com/office/drawing/2014/main" id="{C6D3F47D-8E3B-4D0D-A120-46007C42DC3A}"/>
                </a:ext>
              </a:extLst>
            </p:cNvPr>
            <p:cNvSpPr txBox="1"/>
            <p:nvPr/>
          </p:nvSpPr>
          <p:spPr>
            <a:xfrm>
              <a:off x="4270597" y="4851976"/>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20" name="TextBox 19">
              <a:extLst>
                <a:ext uri="{FF2B5EF4-FFF2-40B4-BE49-F238E27FC236}">
                  <a16:creationId xmlns:a16="http://schemas.microsoft.com/office/drawing/2014/main" id="{7C15CAD9-9B31-4917-8DDE-D4A335F64603}"/>
                </a:ext>
              </a:extLst>
            </p:cNvPr>
            <p:cNvSpPr txBox="1"/>
            <p:nvPr/>
          </p:nvSpPr>
          <p:spPr>
            <a:xfrm>
              <a:off x="5222906" y="4275009"/>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21" name="TextBox 20">
              <a:extLst>
                <a:ext uri="{FF2B5EF4-FFF2-40B4-BE49-F238E27FC236}">
                  <a16:creationId xmlns:a16="http://schemas.microsoft.com/office/drawing/2014/main" id="{EFA47A54-25E1-44D7-99A3-77842A7D27D8}"/>
                </a:ext>
              </a:extLst>
            </p:cNvPr>
            <p:cNvSpPr txBox="1"/>
            <p:nvPr/>
          </p:nvSpPr>
          <p:spPr>
            <a:xfrm>
              <a:off x="5666192" y="4070382"/>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22" name="TextBox 21">
              <a:extLst>
                <a:ext uri="{FF2B5EF4-FFF2-40B4-BE49-F238E27FC236}">
                  <a16:creationId xmlns:a16="http://schemas.microsoft.com/office/drawing/2014/main" id="{C24FB2FB-D461-4E8B-BE3D-468BB5A59E47}"/>
                </a:ext>
              </a:extLst>
            </p:cNvPr>
            <p:cNvSpPr txBox="1"/>
            <p:nvPr/>
          </p:nvSpPr>
          <p:spPr>
            <a:xfrm>
              <a:off x="4307825" y="4173923"/>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26" name="TextBox 25">
              <a:extLst>
                <a:ext uri="{FF2B5EF4-FFF2-40B4-BE49-F238E27FC236}">
                  <a16:creationId xmlns:a16="http://schemas.microsoft.com/office/drawing/2014/main" id="{D182D1EE-3BD7-492E-B965-1E51955461CD}"/>
                </a:ext>
              </a:extLst>
            </p:cNvPr>
            <p:cNvSpPr txBox="1"/>
            <p:nvPr/>
          </p:nvSpPr>
          <p:spPr>
            <a:xfrm>
              <a:off x="4567643" y="4719911"/>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27" name="TextBox 26">
              <a:extLst>
                <a:ext uri="{FF2B5EF4-FFF2-40B4-BE49-F238E27FC236}">
                  <a16:creationId xmlns:a16="http://schemas.microsoft.com/office/drawing/2014/main" id="{9FDB3776-433D-4EB0-822C-025B9AB19133}"/>
                </a:ext>
              </a:extLst>
            </p:cNvPr>
            <p:cNvSpPr txBox="1"/>
            <p:nvPr/>
          </p:nvSpPr>
          <p:spPr>
            <a:xfrm>
              <a:off x="4893182" y="4617941"/>
              <a:ext cx="72135"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28" name="TextBox 27">
              <a:extLst>
                <a:ext uri="{FF2B5EF4-FFF2-40B4-BE49-F238E27FC236}">
                  <a16:creationId xmlns:a16="http://schemas.microsoft.com/office/drawing/2014/main" id="{32B87290-53B7-4C2A-938A-7AC8682D437E}"/>
                </a:ext>
              </a:extLst>
            </p:cNvPr>
            <p:cNvSpPr txBox="1"/>
            <p:nvPr/>
          </p:nvSpPr>
          <p:spPr>
            <a:xfrm>
              <a:off x="5465942" y="4599330"/>
              <a:ext cx="72135"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29" name="TextBox 28">
              <a:extLst>
                <a:ext uri="{FF2B5EF4-FFF2-40B4-BE49-F238E27FC236}">
                  <a16:creationId xmlns:a16="http://schemas.microsoft.com/office/drawing/2014/main" id="{C22D4657-EB5F-41DB-802A-FEA937672AF3}"/>
                </a:ext>
              </a:extLst>
            </p:cNvPr>
            <p:cNvSpPr txBox="1"/>
            <p:nvPr/>
          </p:nvSpPr>
          <p:spPr>
            <a:xfrm>
              <a:off x="5131024" y="4822969"/>
              <a:ext cx="72135"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30" name="TextBox 29">
              <a:extLst>
                <a:ext uri="{FF2B5EF4-FFF2-40B4-BE49-F238E27FC236}">
                  <a16:creationId xmlns:a16="http://schemas.microsoft.com/office/drawing/2014/main" id="{E0C93EEA-0F16-4890-9B60-EC2A2C006F8D}"/>
                </a:ext>
              </a:extLst>
            </p:cNvPr>
            <p:cNvSpPr txBox="1"/>
            <p:nvPr/>
          </p:nvSpPr>
          <p:spPr>
            <a:xfrm>
              <a:off x="4846528" y="5076001"/>
              <a:ext cx="72135"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31" name="TextBox 30">
              <a:extLst>
                <a:ext uri="{FF2B5EF4-FFF2-40B4-BE49-F238E27FC236}">
                  <a16:creationId xmlns:a16="http://schemas.microsoft.com/office/drawing/2014/main" id="{9802A2E4-F36C-4EFA-BF69-BA2D3C6513AB}"/>
                </a:ext>
              </a:extLst>
            </p:cNvPr>
            <p:cNvSpPr txBox="1"/>
            <p:nvPr/>
          </p:nvSpPr>
          <p:spPr>
            <a:xfrm>
              <a:off x="5633203" y="4799434"/>
              <a:ext cx="72135"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32" name="TextBox 31">
              <a:extLst>
                <a:ext uri="{FF2B5EF4-FFF2-40B4-BE49-F238E27FC236}">
                  <a16:creationId xmlns:a16="http://schemas.microsoft.com/office/drawing/2014/main" id="{38344B30-9547-4AB3-BBCD-4262500EAA39}"/>
                </a:ext>
              </a:extLst>
            </p:cNvPr>
            <p:cNvSpPr txBox="1"/>
            <p:nvPr/>
          </p:nvSpPr>
          <p:spPr>
            <a:xfrm>
              <a:off x="5528037" y="5068224"/>
              <a:ext cx="72135"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33" name="TextBox 32">
              <a:extLst>
                <a:ext uri="{FF2B5EF4-FFF2-40B4-BE49-F238E27FC236}">
                  <a16:creationId xmlns:a16="http://schemas.microsoft.com/office/drawing/2014/main" id="{57228B17-B0CB-491B-8160-3EF2BA68EE24}"/>
                </a:ext>
              </a:extLst>
            </p:cNvPr>
            <p:cNvSpPr txBox="1"/>
            <p:nvPr/>
          </p:nvSpPr>
          <p:spPr>
            <a:xfrm>
              <a:off x="5229255" y="5057797"/>
              <a:ext cx="72135"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34" name="직사각형 33">
              <a:extLst>
                <a:ext uri="{FF2B5EF4-FFF2-40B4-BE49-F238E27FC236}">
                  <a16:creationId xmlns:a16="http://schemas.microsoft.com/office/drawing/2014/main" id="{76F06421-5553-4948-9DCA-F9DCBE2F9867}"/>
                </a:ext>
              </a:extLst>
            </p:cNvPr>
            <p:cNvSpPr/>
            <p:nvPr/>
          </p:nvSpPr>
          <p:spPr>
            <a:xfrm>
              <a:off x="4198408" y="3897269"/>
              <a:ext cx="625650" cy="1452951"/>
            </a:xfrm>
            <a:prstGeom prst="rect">
              <a:avLst/>
            </a:prstGeom>
            <a:solidFill>
              <a:srgbClr val="FF0000">
                <a:alpha val="20000"/>
              </a:srgbClr>
            </a:solidFill>
            <a:ln>
              <a:solidFill>
                <a:srgbClr val="FF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D6D26C31-F3EF-4F58-912B-8CA0CE63EA19}"/>
                </a:ext>
              </a:extLst>
            </p:cNvPr>
            <p:cNvSpPr/>
            <p:nvPr/>
          </p:nvSpPr>
          <p:spPr>
            <a:xfrm>
              <a:off x="4824413" y="3902041"/>
              <a:ext cx="1051284" cy="1443406"/>
            </a:xfrm>
            <a:prstGeom prst="rect">
              <a:avLst/>
            </a:prstGeom>
            <a:solidFill>
              <a:srgbClr val="0070C0">
                <a:alpha val="20000"/>
              </a:srgbClr>
            </a:solidFill>
            <a:ln>
              <a:solidFill>
                <a:srgbClr val="0070C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6" name="직사각형 35">
              <a:extLst>
                <a:ext uri="{FF2B5EF4-FFF2-40B4-BE49-F238E27FC236}">
                  <a16:creationId xmlns:a16="http://schemas.microsoft.com/office/drawing/2014/main" id="{008C5BA0-9706-4384-9244-250D2D4CA61D}"/>
                </a:ext>
              </a:extLst>
            </p:cNvPr>
            <p:cNvSpPr/>
            <p:nvPr/>
          </p:nvSpPr>
          <p:spPr>
            <a:xfrm>
              <a:off x="4194783" y="3892516"/>
              <a:ext cx="1685501" cy="555484"/>
            </a:xfrm>
            <a:prstGeom prst="rect">
              <a:avLst/>
            </a:prstGeom>
            <a:solidFill>
              <a:srgbClr val="FF0000">
                <a:alpha val="20000"/>
              </a:srgbClr>
            </a:solidFill>
            <a:ln>
              <a:solidFill>
                <a:srgbClr val="FF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a:extLst>
                <a:ext uri="{FF2B5EF4-FFF2-40B4-BE49-F238E27FC236}">
                  <a16:creationId xmlns:a16="http://schemas.microsoft.com/office/drawing/2014/main" id="{F0BFB065-94EB-46DA-82AB-011BC0AAE0F8}"/>
                </a:ext>
              </a:extLst>
            </p:cNvPr>
            <p:cNvSpPr/>
            <p:nvPr/>
          </p:nvSpPr>
          <p:spPr>
            <a:xfrm>
              <a:off x="4190770" y="4448189"/>
              <a:ext cx="1685500" cy="894601"/>
            </a:xfrm>
            <a:prstGeom prst="rect">
              <a:avLst/>
            </a:prstGeom>
            <a:solidFill>
              <a:srgbClr val="0070C0">
                <a:alpha val="20000"/>
              </a:srgbClr>
            </a:solidFill>
            <a:ln>
              <a:solidFill>
                <a:srgbClr val="0070C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8" name="직사각형 37">
              <a:extLst>
                <a:ext uri="{FF2B5EF4-FFF2-40B4-BE49-F238E27FC236}">
                  <a16:creationId xmlns:a16="http://schemas.microsoft.com/office/drawing/2014/main" id="{47EBA15A-D937-4C87-995C-5D076037337E}"/>
                </a:ext>
              </a:extLst>
            </p:cNvPr>
            <p:cNvSpPr/>
            <p:nvPr/>
          </p:nvSpPr>
          <p:spPr>
            <a:xfrm>
              <a:off x="714951" y="2096926"/>
              <a:ext cx="1685500" cy="1452951"/>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39" name="TextBox 38">
              <a:extLst>
                <a:ext uri="{FF2B5EF4-FFF2-40B4-BE49-F238E27FC236}">
                  <a16:creationId xmlns:a16="http://schemas.microsoft.com/office/drawing/2014/main" id="{DD4DF84E-8721-4382-981D-912A4067F63D}"/>
                </a:ext>
              </a:extLst>
            </p:cNvPr>
            <p:cNvSpPr txBox="1"/>
            <p:nvPr/>
          </p:nvSpPr>
          <p:spPr>
            <a:xfrm>
              <a:off x="1062922" y="2180185"/>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40" name="TextBox 39">
              <a:extLst>
                <a:ext uri="{FF2B5EF4-FFF2-40B4-BE49-F238E27FC236}">
                  <a16:creationId xmlns:a16="http://schemas.microsoft.com/office/drawing/2014/main" id="{7DE8F296-981D-48AB-A91C-5F0A5D887A5A}"/>
                </a:ext>
              </a:extLst>
            </p:cNvPr>
            <p:cNvSpPr txBox="1"/>
            <p:nvPr/>
          </p:nvSpPr>
          <p:spPr>
            <a:xfrm>
              <a:off x="1395440" y="2394257"/>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41" name="TextBox 40">
              <a:extLst>
                <a:ext uri="{FF2B5EF4-FFF2-40B4-BE49-F238E27FC236}">
                  <a16:creationId xmlns:a16="http://schemas.microsoft.com/office/drawing/2014/main" id="{79A4F5D5-7194-4BDA-A36A-530EDE07C21B}"/>
                </a:ext>
              </a:extLst>
            </p:cNvPr>
            <p:cNvSpPr txBox="1"/>
            <p:nvPr/>
          </p:nvSpPr>
          <p:spPr>
            <a:xfrm>
              <a:off x="1033526" y="2684605"/>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42" name="TextBox 41">
              <a:extLst>
                <a:ext uri="{FF2B5EF4-FFF2-40B4-BE49-F238E27FC236}">
                  <a16:creationId xmlns:a16="http://schemas.microsoft.com/office/drawing/2014/main" id="{558748C7-1F77-4F71-978C-CE9D5CF9AC64}"/>
                </a:ext>
              </a:extLst>
            </p:cNvPr>
            <p:cNvSpPr txBox="1"/>
            <p:nvPr/>
          </p:nvSpPr>
          <p:spPr>
            <a:xfrm>
              <a:off x="1615856" y="2208648"/>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43" name="TextBox 42">
              <a:extLst>
                <a:ext uri="{FF2B5EF4-FFF2-40B4-BE49-F238E27FC236}">
                  <a16:creationId xmlns:a16="http://schemas.microsoft.com/office/drawing/2014/main" id="{0A602F3A-19E2-4517-BA76-D7C6665F4F96}"/>
                </a:ext>
              </a:extLst>
            </p:cNvPr>
            <p:cNvSpPr txBox="1"/>
            <p:nvPr/>
          </p:nvSpPr>
          <p:spPr>
            <a:xfrm>
              <a:off x="977015" y="3316254"/>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44" name="TextBox 43">
              <a:extLst>
                <a:ext uri="{FF2B5EF4-FFF2-40B4-BE49-F238E27FC236}">
                  <a16:creationId xmlns:a16="http://schemas.microsoft.com/office/drawing/2014/main" id="{1B3D8833-CCF5-42E0-B695-3AF9406362E7}"/>
                </a:ext>
              </a:extLst>
            </p:cNvPr>
            <p:cNvSpPr txBox="1"/>
            <p:nvPr/>
          </p:nvSpPr>
          <p:spPr>
            <a:xfrm>
              <a:off x="795351" y="3051633"/>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45" name="TextBox 44">
              <a:extLst>
                <a:ext uri="{FF2B5EF4-FFF2-40B4-BE49-F238E27FC236}">
                  <a16:creationId xmlns:a16="http://schemas.microsoft.com/office/drawing/2014/main" id="{A415734A-0BED-432F-8BD1-CE3E47FF219B}"/>
                </a:ext>
              </a:extLst>
            </p:cNvPr>
            <p:cNvSpPr txBox="1"/>
            <p:nvPr/>
          </p:nvSpPr>
          <p:spPr>
            <a:xfrm>
              <a:off x="1828168" y="2481253"/>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46" name="TextBox 45">
              <a:extLst>
                <a:ext uri="{FF2B5EF4-FFF2-40B4-BE49-F238E27FC236}">
                  <a16:creationId xmlns:a16="http://schemas.microsoft.com/office/drawing/2014/main" id="{A4AC7A1C-3AF8-4004-B879-827667E00620}"/>
                </a:ext>
              </a:extLst>
            </p:cNvPr>
            <p:cNvSpPr txBox="1"/>
            <p:nvPr/>
          </p:nvSpPr>
          <p:spPr>
            <a:xfrm>
              <a:off x="2110439" y="2263452"/>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47" name="TextBox 46">
              <a:extLst>
                <a:ext uri="{FF2B5EF4-FFF2-40B4-BE49-F238E27FC236}">
                  <a16:creationId xmlns:a16="http://schemas.microsoft.com/office/drawing/2014/main" id="{208527BF-A4A8-4C07-8C56-61D32AD83ADD}"/>
                </a:ext>
              </a:extLst>
            </p:cNvPr>
            <p:cNvSpPr txBox="1"/>
            <p:nvPr/>
          </p:nvSpPr>
          <p:spPr>
            <a:xfrm>
              <a:off x="832579" y="2373580"/>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48" name="TextBox 47">
              <a:extLst>
                <a:ext uri="{FF2B5EF4-FFF2-40B4-BE49-F238E27FC236}">
                  <a16:creationId xmlns:a16="http://schemas.microsoft.com/office/drawing/2014/main" id="{248F57C8-0DCF-418E-93B1-06F4D06DCAA4}"/>
                </a:ext>
              </a:extLst>
            </p:cNvPr>
            <p:cNvSpPr txBox="1"/>
            <p:nvPr/>
          </p:nvSpPr>
          <p:spPr>
            <a:xfrm>
              <a:off x="1092397" y="2919568"/>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49" name="TextBox 48">
              <a:extLst>
                <a:ext uri="{FF2B5EF4-FFF2-40B4-BE49-F238E27FC236}">
                  <a16:creationId xmlns:a16="http://schemas.microsoft.com/office/drawing/2014/main" id="{1ABBF348-D404-472B-BD0C-D2AF2879CDC8}"/>
                </a:ext>
              </a:extLst>
            </p:cNvPr>
            <p:cNvSpPr txBox="1"/>
            <p:nvPr/>
          </p:nvSpPr>
          <p:spPr>
            <a:xfrm>
              <a:off x="1417936" y="2817598"/>
              <a:ext cx="72135"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50" name="TextBox 49">
              <a:extLst>
                <a:ext uri="{FF2B5EF4-FFF2-40B4-BE49-F238E27FC236}">
                  <a16:creationId xmlns:a16="http://schemas.microsoft.com/office/drawing/2014/main" id="{F6A08EF7-1709-4BBC-A7F9-24F6EFE4DA2D}"/>
                </a:ext>
              </a:extLst>
            </p:cNvPr>
            <p:cNvSpPr txBox="1"/>
            <p:nvPr/>
          </p:nvSpPr>
          <p:spPr>
            <a:xfrm>
              <a:off x="1990696" y="2798987"/>
              <a:ext cx="72135"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51" name="TextBox 50">
              <a:extLst>
                <a:ext uri="{FF2B5EF4-FFF2-40B4-BE49-F238E27FC236}">
                  <a16:creationId xmlns:a16="http://schemas.microsoft.com/office/drawing/2014/main" id="{EAC5E50E-FDFF-4352-A360-3994ABE88C31}"/>
                </a:ext>
              </a:extLst>
            </p:cNvPr>
            <p:cNvSpPr txBox="1"/>
            <p:nvPr/>
          </p:nvSpPr>
          <p:spPr>
            <a:xfrm>
              <a:off x="1736286" y="3029213"/>
              <a:ext cx="72136"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52" name="TextBox 51">
              <a:extLst>
                <a:ext uri="{FF2B5EF4-FFF2-40B4-BE49-F238E27FC236}">
                  <a16:creationId xmlns:a16="http://schemas.microsoft.com/office/drawing/2014/main" id="{2D99EC04-4DA6-4084-8B66-09F8F788E290}"/>
                </a:ext>
              </a:extLst>
            </p:cNvPr>
            <p:cNvSpPr txBox="1"/>
            <p:nvPr/>
          </p:nvSpPr>
          <p:spPr>
            <a:xfrm>
              <a:off x="1451790" y="3282245"/>
              <a:ext cx="72136"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53" name="TextBox 52">
              <a:extLst>
                <a:ext uri="{FF2B5EF4-FFF2-40B4-BE49-F238E27FC236}">
                  <a16:creationId xmlns:a16="http://schemas.microsoft.com/office/drawing/2014/main" id="{889DC2A2-DF88-46EB-8BF2-9BA24713FE25}"/>
                </a:ext>
              </a:extLst>
            </p:cNvPr>
            <p:cNvSpPr txBox="1"/>
            <p:nvPr/>
          </p:nvSpPr>
          <p:spPr>
            <a:xfrm>
              <a:off x="2157957" y="2999091"/>
              <a:ext cx="72135"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54" name="TextBox 53">
              <a:extLst>
                <a:ext uri="{FF2B5EF4-FFF2-40B4-BE49-F238E27FC236}">
                  <a16:creationId xmlns:a16="http://schemas.microsoft.com/office/drawing/2014/main" id="{8F1DE07F-7DAB-47D8-A94A-28D546083755}"/>
                </a:ext>
              </a:extLst>
            </p:cNvPr>
            <p:cNvSpPr txBox="1"/>
            <p:nvPr/>
          </p:nvSpPr>
          <p:spPr>
            <a:xfrm>
              <a:off x="2119980" y="3274468"/>
              <a:ext cx="72136"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55" name="TextBox 54">
              <a:extLst>
                <a:ext uri="{FF2B5EF4-FFF2-40B4-BE49-F238E27FC236}">
                  <a16:creationId xmlns:a16="http://schemas.microsoft.com/office/drawing/2014/main" id="{3669698D-218E-489A-8269-7819AA554A29}"/>
                </a:ext>
              </a:extLst>
            </p:cNvPr>
            <p:cNvSpPr txBox="1"/>
            <p:nvPr/>
          </p:nvSpPr>
          <p:spPr>
            <a:xfrm>
              <a:off x="1754009" y="3257454"/>
              <a:ext cx="72135"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56" name="직사각형 55">
              <a:extLst>
                <a:ext uri="{FF2B5EF4-FFF2-40B4-BE49-F238E27FC236}">
                  <a16:creationId xmlns:a16="http://schemas.microsoft.com/office/drawing/2014/main" id="{8C242BEC-851A-46ED-8A5A-D33EFBA4859B}"/>
                </a:ext>
              </a:extLst>
            </p:cNvPr>
            <p:cNvSpPr/>
            <p:nvPr/>
          </p:nvSpPr>
          <p:spPr>
            <a:xfrm>
              <a:off x="5324269" y="2091731"/>
              <a:ext cx="1685500" cy="1452951"/>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57" name="TextBox 56">
              <a:extLst>
                <a:ext uri="{FF2B5EF4-FFF2-40B4-BE49-F238E27FC236}">
                  <a16:creationId xmlns:a16="http://schemas.microsoft.com/office/drawing/2014/main" id="{C8FBD638-0508-482A-A360-14032C8468AE}"/>
                </a:ext>
              </a:extLst>
            </p:cNvPr>
            <p:cNvSpPr txBox="1"/>
            <p:nvPr/>
          </p:nvSpPr>
          <p:spPr>
            <a:xfrm>
              <a:off x="5672240" y="2174990"/>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58" name="TextBox 57">
              <a:extLst>
                <a:ext uri="{FF2B5EF4-FFF2-40B4-BE49-F238E27FC236}">
                  <a16:creationId xmlns:a16="http://schemas.microsoft.com/office/drawing/2014/main" id="{6DE48C74-795D-4434-835C-892FD2473338}"/>
                </a:ext>
              </a:extLst>
            </p:cNvPr>
            <p:cNvSpPr txBox="1"/>
            <p:nvPr/>
          </p:nvSpPr>
          <p:spPr>
            <a:xfrm>
              <a:off x="5987927" y="2350591"/>
              <a:ext cx="94578" cy="246221"/>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sz="1600" dirty="0">
                  <a:latin typeface="SamsungOne 700" panose="020B0803030303020204" pitchFamily="34" charset="0"/>
                  <a:ea typeface="SamsungOne 700" panose="020B0803030303020204" pitchFamily="34" charset="0"/>
                </a:rPr>
                <a:t>1</a:t>
              </a:r>
              <a:endParaRPr lang="ko-KR" altLang="en-US" sz="1600" dirty="0">
                <a:latin typeface="SamsungOne 700" panose="020B0803030303020204" pitchFamily="34" charset="0"/>
                <a:ea typeface="KoPub돋움체 Bold" panose="02020603020101020101" pitchFamily="18" charset="-127"/>
              </a:endParaRPr>
            </a:p>
          </p:txBody>
        </p:sp>
        <p:sp>
          <p:nvSpPr>
            <p:cNvPr id="59" name="TextBox 58">
              <a:extLst>
                <a:ext uri="{FF2B5EF4-FFF2-40B4-BE49-F238E27FC236}">
                  <a16:creationId xmlns:a16="http://schemas.microsoft.com/office/drawing/2014/main" id="{9FB84648-BA68-4A8A-87F1-9E611D22FB40}"/>
                </a:ext>
              </a:extLst>
            </p:cNvPr>
            <p:cNvSpPr txBox="1"/>
            <p:nvPr/>
          </p:nvSpPr>
          <p:spPr>
            <a:xfrm>
              <a:off x="5562336" y="2672823"/>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60" name="TextBox 59">
              <a:extLst>
                <a:ext uri="{FF2B5EF4-FFF2-40B4-BE49-F238E27FC236}">
                  <a16:creationId xmlns:a16="http://schemas.microsoft.com/office/drawing/2014/main" id="{10CDF761-0053-47B2-B782-E74D9B91AE4C}"/>
                </a:ext>
              </a:extLst>
            </p:cNvPr>
            <p:cNvSpPr txBox="1"/>
            <p:nvPr/>
          </p:nvSpPr>
          <p:spPr>
            <a:xfrm>
              <a:off x="6221167" y="2187569"/>
              <a:ext cx="94578" cy="246221"/>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sz="1600" dirty="0">
                  <a:latin typeface="SamsungOne 700" panose="020B0803030303020204" pitchFamily="34" charset="0"/>
                  <a:ea typeface="SamsungOne 700" panose="020B0803030303020204" pitchFamily="34" charset="0"/>
                </a:rPr>
                <a:t>1</a:t>
              </a:r>
              <a:endParaRPr lang="ko-KR" altLang="en-US" sz="1600" dirty="0">
                <a:latin typeface="SamsungOne 700" panose="020B0803030303020204" pitchFamily="34" charset="0"/>
                <a:ea typeface="KoPub돋움체 Bold" panose="02020603020101020101" pitchFamily="18" charset="-127"/>
              </a:endParaRPr>
            </a:p>
          </p:txBody>
        </p:sp>
        <p:sp>
          <p:nvSpPr>
            <p:cNvPr id="61" name="TextBox 60">
              <a:extLst>
                <a:ext uri="{FF2B5EF4-FFF2-40B4-BE49-F238E27FC236}">
                  <a16:creationId xmlns:a16="http://schemas.microsoft.com/office/drawing/2014/main" id="{9DA149EE-454C-4331-911A-0F14099C2729}"/>
                </a:ext>
              </a:extLst>
            </p:cNvPr>
            <p:cNvSpPr txBox="1"/>
            <p:nvPr/>
          </p:nvSpPr>
          <p:spPr>
            <a:xfrm>
              <a:off x="5586333" y="3311059"/>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62" name="TextBox 61">
              <a:extLst>
                <a:ext uri="{FF2B5EF4-FFF2-40B4-BE49-F238E27FC236}">
                  <a16:creationId xmlns:a16="http://schemas.microsoft.com/office/drawing/2014/main" id="{17DE7433-A862-4E26-924E-437D9D1FEB6F}"/>
                </a:ext>
              </a:extLst>
            </p:cNvPr>
            <p:cNvSpPr txBox="1"/>
            <p:nvPr/>
          </p:nvSpPr>
          <p:spPr>
            <a:xfrm>
              <a:off x="5485177" y="3053025"/>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63" name="TextBox 62">
              <a:extLst>
                <a:ext uri="{FF2B5EF4-FFF2-40B4-BE49-F238E27FC236}">
                  <a16:creationId xmlns:a16="http://schemas.microsoft.com/office/drawing/2014/main" id="{93156C66-AF40-4003-A90F-7B05F08D1962}"/>
                </a:ext>
              </a:extLst>
            </p:cNvPr>
            <p:cNvSpPr txBox="1"/>
            <p:nvPr/>
          </p:nvSpPr>
          <p:spPr>
            <a:xfrm>
              <a:off x="6352971" y="2453586"/>
              <a:ext cx="94578" cy="246221"/>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sz="1600" dirty="0">
                  <a:latin typeface="SamsungOne 700" panose="020B0803030303020204" pitchFamily="34" charset="0"/>
                  <a:ea typeface="SamsungOne 700" panose="020B0803030303020204" pitchFamily="34" charset="0"/>
                </a:rPr>
                <a:t>1</a:t>
              </a:r>
              <a:endParaRPr lang="ko-KR" altLang="en-US" sz="1600" dirty="0">
                <a:latin typeface="SamsungOne 700" panose="020B0803030303020204" pitchFamily="34" charset="0"/>
                <a:ea typeface="KoPub돋움체 Bold" panose="02020603020101020101" pitchFamily="18" charset="-127"/>
              </a:endParaRPr>
            </a:p>
          </p:txBody>
        </p:sp>
        <p:sp>
          <p:nvSpPr>
            <p:cNvPr id="64" name="TextBox 63">
              <a:extLst>
                <a:ext uri="{FF2B5EF4-FFF2-40B4-BE49-F238E27FC236}">
                  <a16:creationId xmlns:a16="http://schemas.microsoft.com/office/drawing/2014/main" id="{054691F5-6905-4C54-BC8A-4A483837B936}"/>
                </a:ext>
              </a:extLst>
            </p:cNvPr>
            <p:cNvSpPr txBox="1"/>
            <p:nvPr/>
          </p:nvSpPr>
          <p:spPr>
            <a:xfrm>
              <a:off x="6715750" y="2242372"/>
              <a:ext cx="94578" cy="246221"/>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sz="1600" dirty="0">
                  <a:latin typeface="SamsungOne 700" panose="020B0803030303020204" pitchFamily="34" charset="0"/>
                  <a:ea typeface="SamsungOne 700" panose="020B0803030303020204" pitchFamily="34" charset="0"/>
                </a:rPr>
                <a:t>1</a:t>
              </a:r>
              <a:endParaRPr lang="ko-KR" altLang="en-US" sz="1600" dirty="0">
                <a:latin typeface="SamsungOne 700" panose="020B0803030303020204" pitchFamily="34" charset="0"/>
                <a:ea typeface="KoPub돋움체 Bold" panose="02020603020101020101" pitchFamily="18" charset="-127"/>
              </a:endParaRPr>
            </a:p>
          </p:txBody>
        </p:sp>
        <p:sp>
          <p:nvSpPr>
            <p:cNvPr id="65" name="TextBox 64">
              <a:extLst>
                <a:ext uri="{FF2B5EF4-FFF2-40B4-BE49-F238E27FC236}">
                  <a16:creationId xmlns:a16="http://schemas.microsoft.com/office/drawing/2014/main" id="{5A29806F-6953-4DB3-8FFA-7445B162767A}"/>
                </a:ext>
              </a:extLst>
            </p:cNvPr>
            <p:cNvSpPr txBox="1"/>
            <p:nvPr/>
          </p:nvSpPr>
          <p:spPr>
            <a:xfrm>
              <a:off x="5361389" y="2361798"/>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66" name="TextBox 65">
              <a:extLst>
                <a:ext uri="{FF2B5EF4-FFF2-40B4-BE49-F238E27FC236}">
                  <a16:creationId xmlns:a16="http://schemas.microsoft.com/office/drawing/2014/main" id="{4FD205FF-4931-4B95-A1DB-CEC51953FDC0}"/>
                </a:ext>
              </a:extLst>
            </p:cNvPr>
            <p:cNvSpPr txBox="1"/>
            <p:nvPr/>
          </p:nvSpPr>
          <p:spPr>
            <a:xfrm>
              <a:off x="5701715" y="2914373"/>
              <a:ext cx="60914"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67" name="TextBox 66">
              <a:extLst>
                <a:ext uri="{FF2B5EF4-FFF2-40B4-BE49-F238E27FC236}">
                  <a16:creationId xmlns:a16="http://schemas.microsoft.com/office/drawing/2014/main" id="{81DA08BF-C20A-4FC1-AF07-DA080CED7515}"/>
                </a:ext>
              </a:extLst>
            </p:cNvPr>
            <p:cNvSpPr txBox="1"/>
            <p:nvPr/>
          </p:nvSpPr>
          <p:spPr>
            <a:xfrm>
              <a:off x="6107762" y="2818990"/>
              <a:ext cx="72136"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68" name="TextBox 67">
              <a:extLst>
                <a:ext uri="{FF2B5EF4-FFF2-40B4-BE49-F238E27FC236}">
                  <a16:creationId xmlns:a16="http://schemas.microsoft.com/office/drawing/2014/main" id="{C45D0DED-907D-45E7-82A8-C2FBD4A6B9C1}"/>
                </a:ext>
              </a:extLst>
            </p:cNvPr>
            <p:cNvSpPr txBox="1"/>
            <p:nvPr/>
          </p:nvSpPr>
          <p:spPr>
            <a:xfrm>
              <a:off x="6680522" y="2800379"/>
              <a:ext cx="72136"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69" name="TextBox 68">
              <a:extLst>
                <a:ext uri="{FF2B5EF4-FFF2-40B4-BE49-F238E27FC236}">
                  <a16:creationId xmlns:a16="http://schemas.microsoft.com/office/drawing/2014/main" id="{3FDE58C7-3A7E-4EA4-9528-83647D6B73F9}"/>
                </a:ext>
              </a:extLst>
            </p:cNvPr>
            <p:cNvSpPr txBox="1"/>
            <p:nvPr/>
          </p:nvSpPr>
          <p:spPr>
            <a:xfrm>
              <a:off x="6265096" y="3017431"/>
              <a:ext cx="72135"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70" name="TextBox 69">
              <a:extLst>
                <a:ext uri="{FF2B5EF4-FFF2-40B4-BE49-F238E27FC236}">
                  <a16:creationId xmlns:a16="http://schemas.microsoft.com/office/drawing/2014/main" id="{31A33BE8-3FB4-4809-A560-9DB5FCB92DF5}"/>
                </a:ext>
              </a:extLst>
            </p:cNvPr>
            <p:cNvSpPr txBox="1"/>
            <p:nvPr/>
          </p:nvSpPr>
          <p:spPr>
            <a:xfrm>
              <a:off x="5980600" y="3270463"/>
              <a:ext cx="72135"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71" name="TextBox 70">
              <a:extLst>
                <a:ext uri="{FF2B5EF4-FFF2-40B4-BE49-F238E27FC236}">
                  <a16:creationId xmlns:a16="http://schemas.microsoft.com/office/drawing/2014/main" id="{5269E7DB-7F4A-499C-82BF-07F24A3D4B1C}"/>
                </a:ext>
              </a:extLst>
            </p:cNvPr>
            <p:cNvSpPr txBox="1"/>
            <p:nvPr/>
          </p:nvSpPr>
          <p:spPr>
            <a:xfrm>
              <a:off x="6847784" y="3000483"/>
              <a:ext cx="72136"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72" name="TextBox 71">
              <a:extLst>
                <a:ext uri="{FF2B5EF4-FFF2-40B4-BE49-F238E27FC236}">
                  <a16:creationId xmlns:a16="http://schemas.microsoft.com/office/drawing/2014/main" id="{8857952D-2396-4611-8EDA-9104CECAB6BC}"/>
                </a:ext>
              </a:extLst>
            </p:cNvPr>
            <p:cNvSpPr txBox="1"/>
            <p:nvPr/>
          </p:nvSpPr>
          <p:spPr>
            <a:xfrm>
              <a:off x="6662109" y="3262686"/>
              <a:ext cx="72135"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73" name="TextBox 72">
              <a:extLst>
                <a:ext uri="{FF2B5EF4-FFF2-40B4-BE49-F238E27FC236}">
                  <a16:creationId xmlns:a16="http://schemas.microsoft.com/office/drawing/2014/main" id="{CC6BF6D1-9CC5-4D1F-BC64-A2F65EBCBE92}"/>
                </a:ext>
              </a:extLst>
            </p:cNvPr>
            <p:cNvSpPr txBox="1"/>
            <p:nvPr/>
          </p:nvSpPr>
          <p:spPr>
            <a:xfrm>
              <a:off x="6443836" y="3258846"/>
              <a:ext cx="72136" cy="169277"/>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grpSp>
          <p:nvGrpSpPr>
            <p:cNvPr id="74" name="그룹 73">
              <a:extLst>
                <a:ext uri="{FF2B5EF4-FFF2-40B4-BE49-F238E27FC236}">
                  <a16:creationId xmlns:a16="http://schemas.microsoft.com/office/drawing/2014/main" id="{A9854C94-F0A3-49ED-8B01-9982253304ED}"/>
                </a:ext>
              </a:extLst>
            </p:cNvPr>
            <p:cNvGrpSpPr/>
            <p:nvPr/>
          </p:nvGrpSpPr>
          <p:grpSpPr>
            <a:xfrm>
              <a:off x="3021461" y="2096926"/>
              <a:ext cx="1685500" cy="1452951"/>
              <a:chOff x="1018476" y="1763864"/>
              <a:chExt cx="2160000" cy="2160000"/>
            </a:xfrm>
          </p:grpSpPr>
          <p:sp>
            <p:nvSpPr>
              <p:cNvPr id="75" name="직사각형 74">
                <a:extLst>
                  <a:ext uri="{FF2B5EF4-FFF2-40B4-BE49-F238E27FC236}">
                    <a16:creationId xmlns:a16="http://schemas.microsoft.com/office/drawing/2014/main" id="{BF5E240C-2DD0-44E7-9356-E1C3587C69BB}"/>
                  </a:ext>
                </a:extLst>
              </p:cNvPr>
              <p:cNvSpPr/>
              <p:nvPr/>
            </p:nvSpPr>
            <p:spPr>
              <a:xfrm>
                <a:off x="1018476" y="1763864"/>
                <a:ext cx="2160000" cy="216000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76" name="TextBox 75">
                <a:extLst>
                  <a:ext uri="{FF2B5EF4-FFF2-40B4-BE49-F238E27FC236}">
                    <a16:creationId xmlns:a16="http://schemas.microsoft.com/office/drawing/2014/main" id="{EDE412EA-8DD9-4489-90F1-E66C997CFB8E}"/>
                  </a:ext>
                </a:extLst>
              </p:cNvPr>
              <p:cNvSpPr txBox="1"/>
              <p:nvPr/>
            </p:nvSpPr>
            <p:spPr>
              <a:xfrm>
                <a:off x="1464407" y="1887639"/>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77" name="TextBox 76">
                <a:extLst>
                  <a:ext uri="{FF2B5EF4-FFF2-40B4-BE49-F238E27FC236}">
                    <a16:creationId xmlns:a16="http://schemas.microsoft.com/office/drawing/2014/main" id="{B04D314A-35DF-4FCF-BB4A-8E36FEBE8BE4}"/>
                  </a:ext>
                </a:extLst>
              </p:cNvPr>
              <p:cNvSpPr txBox="1"/>
              <p:nvPr/>
            </p:nvSpPr>
            <p:spPr>
              <a:xfrm>
                <a:off x="1890535" y="2205885"/>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78" name="TextBox 77">
                <a:extLst>
                  <a:ext uri="{FF2B5EF4-FFF2-40B4-BE49-F238E27FC236}">
                    <a16:creationId xmlns:a16="http://schemas.microsoft.com/office/drawing/2014/main" id="{00B353C9-73D0-4870-9827-4F0652D14FBF}"/>
                  </a:ext>
                </a:extLst>
              </p:cNvPr>
              <p:cNvSpPr txBox="1"/>
              <p:nvPr/>
            </p:nvSpPr>
            <p:spPr>
              <a:xfrm>
                <a:off x="1426736" y="2637525"/>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79" name="TextBox 78">
                <a:extLst>
                  <a:ext uri="{FF2B5EF4-FFF2-40B4-BE49-F238E27FC236}">
                    <a16:creationId xmlns:a16="http://schemas.microsoft.com/office/drawing/2014/main" id="{6B6EA729-7B6A-4CD2-B62D-22D67A88557A}"/>
                  </a:ext>
                </a:extLst>
              </p:cNvPr>
              <p:cNvSpPr txBox="1"/>
              <p:nvPr/>
            </p:nvSpPr>
            <p:spPr>
              <a:xfrm>
                <a:off x="2173003" y="1929955"/>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80" name="TextBox 79">
                <a:extLst>
                  <a:ext uri="{FF2B5EF4-FFF2-40B4-BE49-F238E27FC236}">
                    <a16:creationId xmlns:a16="http://schemas.microsoft.com/office/drawing/2014/main" id="{08396D00-6978-45B5-A09A-6568A8528C43}"/>
                  </a:ext>
                </a:extLst>
              </p:cNvPr>
              <p:cNvSpPr txBox="1"/>
              <p:nvPr/>
            </p:nvSpPr>
            <p:spPr>
              <a:xfrm>
                <a:off x="1354316" y="3576553"/>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81" name="TextBox 80">
                <a:extLst>
                  <a:ext uri="{FF2B5EF4-FFF2-40B4-BE49-F238E27FC236}">
                    <a16:creationId xmlns:a16="http://schemas.microsoft.com/office/drawing/2014/main" id="{65436697-59DE-45D3-8625-52AB0F74995B}"/>
                  </a:ext>
                </a:extLst>
              </p:cNvPr>
              <p:cNvSpPr txBox="1"/>
              <p:nvPr/>
            </p:nvSpPr>
            <p:spPr>
              <a:xfrm>
                <a:off x="1224683" y="3192952"/>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82" name="TextBox 81">
                <a:extLst>
                  <a:ext uri="{FF2B5EF4-FFF2-40B4-BE49-F238E27FC236}">
                    <a16:creationId xmlns:a16="http://schemas.microsoft.com/office/drawing/2014/main" id="{FB4F9048-163B-4AD6-B940-90026AA58ABE}"/>
                  </a:ext>
                </a:extLst>
              </p:cNvPr>
              <p:cNvSpPr txBox="1"/>
              <p:nvPr/>
            </p:nvSpPr>
            <p:spPr>
              <a:xfrm>
                <a:off x="2341912" y="2325423"/>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83" name="TextBox 82">
                <a:extLst>
                  <a:ext uri="{FF2B5EF4-FFF2-40B4-BE49-F238E27FC236}">
                    <a16:creationId xmlns:a16="http://schemas.microsoft.com/office/drawing/2014/main" id="{1ED60FED-EA4D-4C8D-BA04-3CFDA294FE3D}"/>
                  </a:ext>
                </a:extLst>
              </p:cNvPr>
              <p:cNvSpPr txBox="1"/>
              <p:nvPr/>
            </p:nvSpPr>
            <p:spPr>
              <a:xfrm>
                <a:off x="2909993" y="2021219"/>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84" name="TextBox 83">
                <a:extLst>
                  <a:ext uri="{FF2B5EF4-FFF2-40B4-BE49-F238E27FC236}">
                    <a16:creationId xmlns:a16="http://schemas.microsoft.com/office/drawing/2014/main" id="{89B9D459-90B7-43F4-BDE6-F5E5C0B83550}"/>
                  </a:ext>
                </a:extLst>
              </p:cNvPr>
              <p:cNvSpPr txBox="1"/>
              <p:nvPr/>
            </p:nvSpPr>
            <p:spPr>
              <a:xfrm>
                <a:off x="1066046" y="2165354"/>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85" name="TextBox 84">
                <a:extLst>
                  <a:ext uri="{FF2B5EF4-FFF2-40B4-BE49-F238E27FC236}">
                    <a16:creationId xmlns:a16="http://schemas.microsoft.com/office/drawing/2014/main" id="{3F5F12F1-1147-487D-AB98-D6BFCC70A10F}"/>
                  </a:ext>
                </a:extLst>
              </p:cNvPr>
              <p:cNvSpPr txBox="1"/>
              <p:nvPr/>
            </p:nvSpPr>
            <p:spPr>
              <a:xfrm>
                <a:off x="1502180" y="2986828"/>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86" name="TextBox 85">
                <a:extLst>
                  <a:ext uri="{FF2B5EF4-FFF2-40B4-BE49-F238E27FC236}">
                    <a16:creationId xmlns:a16="http://schemas.microsoft.com/office/drawing/2014/main" id="{46B24779-97DD-4E8C-A2DB-2FC7FD823D37}"/>
                  </a:ext>
                </a:extLst>
              </p:cNvPr>
              <p:cNvSpPr txBox="1"/>
              <p:nvPr/>
            </p:nvSpPr>
            <p:spPr>
              <a:xfrm>
                <a:off x="2022537" y="2845029"/>
                <a:ext cx="92444"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87" name="TextBox 86">
                <a:extLst>
                  <a:ext uri="{FF2B5EF4-FFF2-40B4-BE49-F238E27FC236}">
                    <a16:creationId xmlns:a16="http://schemas.microsoft.com/office/drawing/2014/main" id="{5AC95485-1142-405B-AFA5-85CE56002492}"/>
                  </a:ext>
                </a:extLst>
              </p:cNvPr>
              <p:cNvSpPr txBox="1"/>
              <p:nvPr/>
            </p:nvSpPr>
            <p:spPr>
              <a:xfrm>
                <a:off x="2756540" y="2817361"/>
                <a:ext cx="92444"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88" name="TextBox 87">
                <a:extLst>
                  <a:ext uri="{FF2B5EF4-FFF2-40B4-BE49-F238E27FC236}">
                    <a16:creationId xmlns:a16="http://schemas.microsoft.com/office/drawing/2014/main" id="{66B047BD-85AD-4875-B469-8CFAABBF3CAD}"/>
                  </a:ext>
                </a:extLst>
              </p:cNvPr>
              <p:cNvSpPr txBox="1"/>
              <p:nvPr/>
            </p:nvSpPr>
            <p:spPr>
              <a:xfrm>
                <a:off x="2224163" y="3140037"/>
                <a:ext cx="9244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89" name="TextBox 88">
                <a:extLst>
                  <a:ext uri="{FF2B5EF4-FFF2-40B4-BE49-F238E27FC236}">
                    <a16:creationId xmlns:a16="http://schemas.microsoft.com/office/drawing/2014/main" id="{4FE50BC0-465F-44C5-A32D-D89D2168F61C}"/>
                  </a:ext>
                </a:extLst>
              </p:cNvPr>
              <p:cNvSpPr txBox="1"/>
              <p:nvPr/>
            </p:nvSpPr>
            <p:spPr>
              <a:xfrm>
                <a:off x="1962749" y="3525994"/>
                <a:ext cx="92444"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90" name="TextBox 89">
                <a:extLst>
                  <a:ext uri="{FF2B5EF4-FFF2-40B4-BE49-F238E27FC236}">
                    <a16:creationId xmlns:a16="http://schemas.microsoft.com/office/drawing/2014/main" id="{C20EF4AE-5D81-47FB-92B0-1F85D92AB348}"/>
                  </a:ext>
                </a:extLst>
              </p:cNvPr>
              <p:cNvSpPr txBox="1"/>
              <p:nvPr/>
            </p:nvSpPr>
            <p:spPr>
              <a:xfrm>
                <a:off x="2867715" y="3105049"/>
                <a:ext cx="9244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91" name="TextBox 90">
                <a:extLst>
                  <a:ext uri="{FF2B5EF4-FFF2-40B4-BE49-F238E27FC236}">
                    <a16:creationId xmlns:a16="http://schemas.microsoft.com/office/drawing/2014/main" id="{F30A0C3C-2333-4F99-A932-7189F49FB62B}"/>
                  </a:ext>
                </a:extLst>
              </p:cNvPr>
              <p:cNvSpPr txBox="1"/>
              <p:nvPr/>
            </p:nvSpPr>
            <p:spPr>
              <a:xfrm>
                <a:off x="2819047" y="3514433"/>
                <a:ext cx="92444"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92" name="TextBox 91">
                <a:extLst>
                  <a:ext uri="{FF2B5EF4-FFF2-40B4-BE49-F238E27FC236}">
                    <a16:creationId xmlns:a16="http://schemas.microsoft.com/office/drawing/2014/main" id="{ECAC4826-3D5F-450D-973A-344276C8881E}"/>
                  </a:ext>
                </a:extLst>
              </p:cNvPr>
              <p:cNvSpPr txBox="1"/>
              <p:nvPr/>
            </p:nvSpPr>
            <p:spPr>
              <a:xfrm>
                <a:off x="2350049" y="3489139"/>
                <a:ext cx="9244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grpSp>
        <p:sp>
          <p:nvSpPr>
            <p:cNvPr id="93" name="직사각형 92">
              <a:extLst>
                <a:ext uri="{FF2B5EF4-FFF2-40B4-BE49-F238E27FC236}">
                  <a16:creationId xmlns:a16="http://schemas.microsoft.com/office/drawing/2014/main" id="{3762E455-A6FA-4C9F-8652-0D0DAAEAA328}"/>
                </a:ext>
              </a:extLst>
            </p:cNvPr>
            <p:cNvSpPr/>
            <p:nvPr/>
          </p:nvSpPr>
          <p:spPr>
            <a:xfrm>
              <a:off x="3021461" y="2105092"/>
              <a:ext cx="625650" cy="1452951"/>
            </a:xfrm>
            <a:prstGeom prst="rect">
              <a:avLst/>
            </a:prstGeom>
            <a:solidFill>
              <a:srgbClr val="FF0000">
                <a:alpha val="20000"/>
              </a:srgbClr>
            </a:solidFill>
            <a:ln>
              <a:solidFill>
                <a:srgbClr val="FF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직사각형 93">
              <a:extLst>
                <a:ext uri="{FF2B5EF4-FFF2-40B4-BE49-F238E27FC236}">
                  <a16:creationId xmlns:a16="http://schemas.microsoft.com/office/drawing/2014/main" id="{AFDE3724-29AB-4EC7-9DE6-DE3AEA466730}"/>
                </a:ext>
              </a:extLst>
            </p:cNvPr>
            <p:cNvSpPr/>
            <p:nvPr/>
          </p:nvSpPr>
          <p:spPr>
            <a:xfrm>
              <a:off x="3640668" y="2105092"/>
              <a:ext cx="1067608" cy="1443406"/>
            </a:xfrm>
            <a:prstGeom prst="rect">
              <a:avLst/>
            </a:prstGeom>
            <a:solidFill>
              <a:srgbClr val="0070C0">
                <a:alpha val="20000"/>
              </a:srgbClr>
            </a:solidFill>
            <a:ln>
              <a:solidFill>
                <a:srgbClr val="0070C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5" name="타원 94">
              <a:extLst>
                <a:ext uri="{FF2B5EF4-FFF2-40B4-BE49-F238E27FC236}">
                  <a16:creationId xmlns:a16="http://schemas.microsoft.com/office/drawing/2014/main" id="{0A78320C-71F5-44CB-8C7D-AF45CFB44098}"/>
                </a:ext>
              </a:extLst>
            </p:cNvPr>
            <p:cNvSpPr/>
            <p:nvPr/>
          </p:nvSpPr>
          <p:spPr>
            <a:xfrm>
              <a:off x="3963853" y="2432582"/>
              <a:ext cx="252000" cy="252000"/>
            </a:xfrm>
            <a:prstGeom prst="ellipse">
              <a:avLst/>
            </a:prstGeom>
            <a:noFill/>
            <a:ln w="19050">
              <a:solidFill>
                <a:srgbClr val="1D48D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타원 95">
              <a:extLst>
                <a:ext uri="{FF2B5EF4-FFF2-40B4-BE49-F238E27FC236}">
                  <a16:creationId xmlns:a16="http://schemas.microsoft.com/office/drawing/2014/main" id="{CAB162DC-A89A-4E78-BA17-0D664DA13BEC}"/>
                </a:ext>
              </a:extLst>
            </p:cNvPr>
            <p:cNvSpPr/>
            <p:nvPr/>
          </p:nvSpPr>
          <p:spPr>
            <a:xfrm>
              <a:off x="3834852" y="2168568"/>
              <a:ext cx="252000" cy="252000"/>
            </a:xfrm>
            <a:prstGeom prst="ellipse">
              <a:avLst/>
            </a:prstGeom>
            <a:noFill/>
            <a:ln w="19050">
              <a:solidFill>
                <a:srgbClr val="1D48D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a:extLst>
                <a:ext uri="{FF2B5EF4-FFF2-40B4-BE49-F238E27FC236}">
                  <a16:creationId xmlns:a16="http://schemas.microsoft.com/office/drawing/2014/main" id="{93E0E1D6-B116-4541-A939-84B2FCD6CFA2}"/>
                </a:ext>
              </a:extLst>
            </p:cNvPr>
            <p:cNvSpPr/>
            <p:nvPr/>
          </p:nvSpPr>
          <p:spPr>
            <a:xfrm>
              <a:off x="4407611" y="2230768"/>
              <a:ext cx="252000" cy="252000"/>
            </a:xfrm>
            <a:prstGeom prst="ellipse">
              <a:avLst/>
            </a:prstGeom>
            <a:noFill/>
            <a:ln w="19050">
              <a:solidFill>
                <a:srgbClr val="1D48D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a:extLst>
                <a:ext uri="{FF2B5EF4-FFF2-40B4-BE49-F238E27FC236}">
                  <a16:creationId xmlns:a16="http://schemas.microsoft.com/office/drawing/2014/main" id="{19314819-975B-4AEC-85F2-401459502085}"/>
                </a:ext>
              </a:extLst>
            </p:cNvPr>
            <p:cNvSpPr/>
            <p:nvPr/>
          </p:nvSpPr>
          <p:spPr>
            <a:xfrm>
              <a:off x="3618707" y="2353469"/>
              <a:ext cx="252000" cy="252000"/>
            </a:xfrm>
            <a:prstGeom prst="ellipse">
              <a:avLst/>
            </a:prstGeom>
            <a:noFill/>
            <a:ln w="19050">
              <a:solidFill>
                <a:srgbClr val="1D48D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99" name="그룹 98">
              <a:extLst>
                <a:ext uri="{FF2B5EF4-FFF2-40B4-BE49-F238E27FC236}">
                  <a16:creationId xmlns:a16="http://schemas.microsoft.com/office/drawing/2014/main" id="{2CA82C0D-6A86-4E5E-9C25-83F07D405822}"/>
                </a:ext>
              </a:extLst>
            </p:cNvPr>
            <p:cNvGrpSpPr/>
            <p:nvPr/>
          </p:nvGrpSpPr>
          <p:grpSpPr>
            <a:xfrm>
              <a:off x="7646462" y="2105684"/>
              <a:ext cx="1685501" cy="1452951"/>
              <a:chOff x="1018476" y="1763864"/>
              <a:chExt cx="2160000" cy="2160000"/>
            </a:xfrm>
          </p:grpSpPr>
          <p:sp>
            <p:nvSpPr>
              <p:cNvPr id="100" name="직사각형 99">
                <a:extLst>
                  <a:ext uri="{FF2B5EF4-FFF2-40B4-BE49-F238E27FC236}">
                    <a16:creationId xmlns:a16="http://schemas.microsoft.com/office/drawing/2014/main" id="{02C370EF-36CC-45E0-8508-568F8542E305}"/>
                  </a:ext>
                </a:extLst>
              </p:cNvPr>
              <p:cNvSpPr/>
              <p:nvPr/>
            </p:nvSpPr>
            <p:spPr>
              <a:xfrm>
                <a:off x="1018476" y="1763864"/>
                <a:ext cx="2160000" cy="216000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101" name="TextBox 100">
                <a:extLst>
                  <a:ext uri="{FF2B5EF4-FFF2-40B4-BE49-F238E27FC236}">
                    <a16:creationId xmlns:a16="http://schemas.microsoft.com/office/drawing/2014/main" id="{6B5DA80F-E15F-4E96-89CB-FA91AAC4B1C6}"/>
                  </a:ext>
                </a:extLst>
              </p:cNvPr>
              <p:cNvSpPr txBox="1"/>
              <p:nvPr/>
            </p:nvSpPr>
            <p:spPr>
              <a:xfrm>
                <a:off x="1567580" y="1897432"/>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102" name="TextBox 101">
                <a:extLst>
                  <a:ext uri="{FF2B5EF4-FFF2-40B4-BE49-F238E27FC236}">
                    <a16:creationId xmlns:a16="http://schemas.microsoft.com/office/drawing/2014/main" id="{CB93DB99-E60B-4AD0-9703-BF740AADFE28}"/>
                  </a:ext>
                </a:extLst>
              </p:cNvPr>
              <p:cNvSpPr txBox="1"/>
              <p:nvPr/>
            </p:nvSpPr>
            <p:spPr>
              <a:xfrm>
                <a:off x="1890536" y="2205885"/>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103" name="TextBox 102">
                <a:extLst>
                  <a:ext uri="{FF2B5EF4-FFF2-40B4-BE49-F238E27FC236}">
                    <a16:creationId xmlns:a16="http://schemas.microsoft.com/office/drawing/2014/main" id="{74CBA9F2-DD56-4A9D-A20D-CAE42BBE69C2}"/>
                  </a:ext>
                </a:extLst>
              </p:cNvPr>
              <p:cNvSpPr txBox="1"/>
              <p:nvPr/>
            </p:nvSpPr>
            <p:spPr>
              <a:xfrm>
                <a:off x="1414529" y="2637525"/>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104" name="TextBox 103">
                <a:extLst>
                  <a:ext uri="{FF2B5EF4-FFF2-40B4-BE49-F238E27FC236}">
                    <a16:creationId xmlns:a16="http://schemas.microsoft.com/office/drawing/2014/main" id="{202B6FEF-A55D-4E3A-8515-297E85A40836}"/>
                  </a:ext>
                </a:extLst>
              </p:cNvPr>
              <p:cNvSpPr txBox="1"/>
              <p:nvPr/>
            </p:nvSpPr>
            <p:spPr>
              <a:xfrm>
                <a:off x="2173002" y="1929953"/>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105" name="TextBox 104">
                <a:extLst>
                  <a:ext uri="{FF2B5EF4-FFF2-40B4-BE49-F238E27FC236}">
                    <a16:creationId xmlns:a16="http://schemas.microsoft.com/office/drawing/2014/main" id="{17F3E6FB-B977-45FD-96C7-9EA7379BB012}"/>
                  </a:ext>
                </a:extLst>
              </p:cNvPr>
              <p:cNvSpPr txBox="1"/>
              <p:nvPr/>
            </p:nvSpPr>
            <p:spPr>
              <a:xfrm>
                <a:off x="1427555" y="3576553"/>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106" name="TextBox 105">
                <a:extLst>
                  <a:ext uri="{FF2B5EF4-FFF2-40B4-BE49-F238E27FC236}">
                    <a16:creationId xmlns:a16="http://schemas.microsoft.com/office/drawing/2014/main" id="{39A012E3-F0AC-41B5-B743-921F04825C13}"/>
                  </a:ext>
                </a:extLst>
              </p:cNvPr>
              <p:cNvSpPr txBox="1"/>
              <p:nvPr/>
            </p:nvSpPr>
            <p:spPr>
              <a:xfrm>
                <a:off x="1188063" y="3192952"/>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107" name="TextBox 106">
                <a:extLst>
                  <a:ext uri="{FF2B5EF4-FFF2-40B4-BE49-F238E27FC236}">
                    <a16:creationId xmlns:a16="http://schemas.microsoft.com/office/drawing/2014/main" id="{DAABB005-B352-4156-BC57-66ABFC8D9016}"/>
                  </a:ext>
                </a:extLst>
              </p:cNvPr>
              <p:cNvSpPr txBox="1"/>
              <p:nvPr/>
            </p:nvSpPr>
            <p:spPr>
              <a:xfrm>
                <a:off x="2445084" y="2335216"/>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108" name="TextBox 107">
                <a:extLst>
                  <a:ext uri="{FF2B5EF4-FFF2-40B4-BE49-F238E27FC236}">
                    <a16:creationId xmlns:a16="http://schemas.microsoft.com/office/drawing/2014/main" id="{6DEEAF1C-7F46-47C7-B943-DD395EAA2080}"/>
                  </a:ext>
                </a:extLst>
              </p:cNvPr>
              <p:cNvSpPr txBox="1"/>
              <p:nvPr/>
            </p:nvSpPr>
            <p:spPr>
              <a:xfrm>
                <a:off x="2806819" y="2011426"/>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109" name="TextBox 108">
                <a:extLst>
                  <a:ext uri="{FF2B5EF4-FFF2-40B4-BE49-F238E27FC236}">
                    <a16:creationId xmlns:a16="http://schemas.microsoft.com/office/drawing/2014/main" id="{17851D78-B42B-418C-81EF-83F8E992A2EF}"/>
                  </a:ext>
                </a:extLst>
              </p:cNvPr>
              <p:cNvSpPr txBox="1"/>
              <p:nvPr/>
            </p:nvSpPr>
            <p:spPr>
              <a:xfrm>
                <a:off x="1066046" y="2165354"/>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110" name="TextBox 109">
                <a:extLst>
                  <a:ext uri="{FF2B5EF4-FFF2-40B4-BE49-F238E27FC236}">
                    <a16:creationId xmlns:a16="http://schemas.microsoft.com/office/drawing/2014/main" id="{E22AD81F-AADB-4A96-BC89-EB8C2F2DE16D}"/>
                  </a:ext>
                </a:extLst>
              </p:cNvPr>
              <p:cNvSpPr txBox="1"/>
              <p:nvPr/>
            </p:nvSpPr>
            <p:spPr>
              <a:xfrm>
                <a:off x="1587625" y="2986828"/>
                <a:ext cx="7806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1</a:t>
                </a:r>
                <a:endParaRPr lang="ko-KR" altLang="en-US" dirty="0"/>
              </a:p>
            </p:txBody>
          </p:sp>
          <p:sp>
            <p:nvSpPr>
              <p:cNvPr id="111" name="TextBox 110">
                <a:extLst>
                  <a:ext uri="{FF2B5EF4-FFF2-40B4-BE49-F238E27FC236}">
                    <a16:creationId xmlns:a16="http://schemas.microsoft.com/office/drawing/2014/main" id="{B5EFCE59-C683-45CD-AE27-7C3983D9662C}"/>
                  </a:ext>
                </a:extLst>
              </p:cNvPr>
              <p:cNvSpPr txBox="1"/>
              <p:nvPr/>
            </p:nvSpPr>
            <p:spPr>
              <a:xfrm>
                <a:off x="2022536" y="2845029"/>
                <a:ext cx="92444"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112" name="TextBox 111">
                <a:extLst>
                  <a:ext uri="{FF2B5EF4-FFF2-40B4-BE49-F238E27FC236}">
                    <a16:creationId xmlns:a16="http://schemas.microsoft.com/office/drawing/2014/main" id="{7A7C20A4-AA31-4A42-8D19-1485A4ED015E}"/>
                  </a:ext>
                </a:extLst>
              </p:cNvPr>
              <p:cNvSpPr txBox="1"/>
              <p:nvPr/>
            </p:nvSpPr>
            <p:spPr>
              <a:xfrm>
                <a:off x="2653368" y="2807569"/>
                <a:ext cx="9244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113" name="TextBox 112">
                <a:extLst>
                  <a:ext uri="{FF2B5EF4-FFF2-40B4-BE49-F238E27FC236}">
                    <a16:creationId xmlns:a16="http://schemas.microsoft.com/office/drawing/2014/main" id="{77CDA9B8-DFAF-4970-AB45-35F63BD44992}"/>
                  </a:ext>
                </a:extLst>
              </p:cNvPr>
              <p:cNvSpPr txBox="1"/>
              <p:nvPr/>
            </p:nvSpPr>
            <p:spPr>
              <a:xfrm>
                <a:off x="2224164" y="3140037"/>
                <a:ext cx="9244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114" name="TextBox 113">
                <a:extLst>
                  <a:ext uri="{FF2B5EF4-FFF2-40B4-BE49-F238E27FC236}">
                    <a16:creationId xmlns:a16="http://schemas.microsoft.com/office/drawing/2014/main" id="{7D131708-0AB6-4851-B0C0-349E97C02782}"/>
                  </a:ext>
                </a:extLst>
              </p:cNvPr>
              <p:cNvSpPr txBox="1"/>
              <p:nvPr/>
            </p:nvSpPr>
            <p:spPr>
              <a:xfrm>
                <a:off x="1962749" y="3525994"/>
                <a:ext cx="92444"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115" name="TextBox 114">
                <a:extLst>
                  <a:ext uri="{FF2B5EF4-FFF2-40B4-BE49-F238E27FC236}">
                    <a16:creationId xmlns:a16="http://schemas.microsoft.com/office/drawing/2014/main" id="{F2D1721C-5845-495C-BE7C-8D8F1338E403}"/>
                  </a:ext>
                </a:extLst>
              </p:cNvPr>
              <p:cNvSpPr txBox="1"/>
              <p:nvPr/>
            </p:nvSpPr>
            <p:spPr>
              <a:xfrm>
                <a:off x="2970889" y="3114842"/>
                <a:ext cx="92444"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116" name="TextBox 115">
                <a:extLst>
                  <a:ext uri="{FF2B5EF4-FFF2-40B4-BE49-F238E27FC236}">
                    <a16:creationId xmlns:a16="http://schemas.microsoft.com/office/drawing/2014/main" id="{04005C4B-8AA0-4303-93E2-4C530DD57334}"/>
                  </a:ext>
                </a:extLst>
              </p:cNvPr>
              <p:cNvSpPr txBox="1"/>
              <p:nvPr/>
            </p:nvSpPr>
            <p:spPr>
              <a:xfrm>
                <a:off x="2732943" y="3504640"/>
                <a:ext cx="9244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sp>
            <p:nvSpPr>
              <p:cNvPr id="117" name="TextBox 116">
                <a:extLst>
                  <a:ext uri="{FF2B5EF4-FFF2-40B4-BE49-F238E27FC236}">
                    <a16:creationId xmlns:a16="http://schemas.microsoft.com/office/drawing/2014/main" id="{B783D2F5-EEE0-4321-A7DB-2F19D281E1B3}"/>
                  </a:ext>
                </a:extLst>
              </p:cNvPr>
              <p:cNvSpPr txBox="1"/>
              <p:nvPr/>
            </p:nvSpPr>
            <p:spPr>
              <a:xfrm>
                <a:off x="2350049" y="3489139"/>
                <a:ext cx="92442" cy="251652"/>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1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2</a:t>
                </a:r>
                <a:endParaRPr lang="ko-KR" altLang="en-US" dirty="0"/>
              </a:p>
            </p:txBody>
          </p:sp>
        </p:grpSp>
        <p:sp>
          <p:nvSpPr>
            <p:cNvPr id="118" name="직사각형 117">
              <a:extLst>
                <a:ext uri="{FF2B5EF4-FFF2-40B4-BE49-F238E27FC236}">
                  <a16:creationId xmlns:a16="http://schemas.microsoft.com/office/drawing/2014/main" id="{802430B0-CAE8-4208-B1ED-ED1948A2779C}"/>
                </a:ext>
              </a:extLst>
            </p:cNvPr>
            <p:cNvSpPr/>
            <p:nvPr/>
          </p:nvSpPr>
          <p:spPr>
            <a:xfrm>
              <a:off x="7653898" y="2106112"/>
              <a:ext cx="1685501" cy="555484"/>
            </a:xfrm>
            <a:prstGeom prst="rect">
              <a:avLst/>
            </a:prstGeom>
            <a:solidFill>
              <a:srgbClr val="FF0000">
                <a:alpha val="20000"/>
              </a:srgbClr>
            </a:solidFill>
            <a:ln>
              <a:solidFill>
                <a:srgbClr val="FF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9" name="직사각형 118">
              <a:extLst>
                <a:ext uri="{FF2B5EF4-FFF2-40B4-BE49-F238E27FC236}">
                  <a16:creationId xmlns:a16="http://schemas.microsoft.com/office/drawing/2014/main" id="{B2C34572-336C-4B00-BADA-D4D1617B1603}"/>
                </a:ext>
              </a:extLst>
            </p:cNvPr>
            <p:cNvSpPr/>
            <p:nvPr/>
          </p:nvSpPr>
          <p:spPr>
            <a:xfrm>
              <a:off x="7653898" y="2660995"/>
              <a:ext cx="1685500" cy="899197"/>
            </a:xfrm>
            <a:prstGeom prst="rect">
              <a:avLst/>
            </a:prstGeom>
            <a:solidFill>
              <a:srgbClr val="0070C0">
                <a:alpha val="20000"/>
              </a:srgbClr>
            </a:solidFill>
            <a:ln>
              <a:solidFill>
                <a:srgbClr val="0070C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0" name="타원 119">
              <a:extLst>
                <a:ext uri="{FF2B5EF4-FFF2-40B4-BE49-F238E27FC236}">
                  <a16:creationId xmlns:a16="http://schemas.microsoft.com/office/drawing/2014/main" id="{26B4DEF6-C33F-4BFB-BC63-1092C4FC6913}"/>
                </a:ext>
              </a:extLst>
            </p:cNvPr>
            <p:cNvSpPr/>
            <p:nvPr/>
          </p:nvSpPr>
          <p:spPr>
            <a:xfrm>
              <a:off x="7852456" y="2648565"/>
              <a:ext cx="252000" cy="252000"/>
            </a:xfrm>
            <a:prstGeom prst="ellipse">
              <a:avLst/>
            </a:prstGeom>
            <a:noFill/>
            <a:ln w="19050">
              <a:solidFill>
                <a:srgbClr val="1D48D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타원 120">
              <a:extLst>
                <a:ext uri="{FF2B5EF4-FFF2-40B4-BE49-F238E27FC236}">
                  <a16:creationId xmlns:a16="http://schemas.microsoft.com/office/drawing/2014/main" id="{68BF1BEB-D393-466B-A6A7-2D756D1DE43C}"/>
                </a:ext>
              </a:extLst>
            </p:cNvPr>
            <p:cNvSpPr/>
            <p:nvPr/>
          </p:nvSpPr>
          <p:spPr>
            <a:xfrm>
              <a:off x="7996471" y="2880562"/>
              <a:ext cx="252000" cy="252000"/>
            </a:xfrm>
            <a:prstGeom prst="ellipse">
              <a:avLst/>
            </a:prstGeom>
            <a:noFill/>
            <a:ln w="19050">
              <a:solidFill>
                <a:srgbClr val="1D48D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타원 121">
              <a:extLst>
                <a:ext uri="{FF2B5EF4-FFF2-40B4-BE49-F238E27FC236}">
                  <a16:creationId xmlns:a16="http://schemas.microsoft.com/office/drawing/2014/main" id="{5EE25E77-C5D8-403D-9DA9-A8893E50DFD0}"/>
                </a:ext>
              </a:extLst>
            </p:cNvPr>
            <p:cNvSpPr/>
            <p:nvPr/>
          </p:nvSpPr>
          <p:spPr>
            <a:xfrm>
              <a:off x="7683370" y="3019979"/>
              <a:ext cx="252000" cy="252000"/>
            </a:xfrm>
            <a:prstGeom prst="ellipse">
              <a:avLst/>
            </a:prstGeom>
            <a:noFill/>
            <a:ln w="19050">
              <a:solidFill>
                <a:srgbClr val="1D48D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타원 122">
              <a:extLst>
                <a:ext uri="{FF2B5EF4-FFF2-40B4-BE49-F238E27FC236}">
                  <a16:creationId xmlns:a16="http://schemas.microsoft.com/office/drawing/2014/main" id="{7C7F6AAF-9C47-45C0-96E5-6D0AACD49C3F}"/>
                </a:ext>
              </a:extLst>
            </p:cNvPr>
            <p:cNvSpPr/>
            <p:nvPr/>
          </p:nvSpPr>
          <p:spPr>
            <a:xfrm>
              <a:off x="7879327" y="3271944"/>
              <a:ext cx="252000" cy="252000"/>
            </a:xfrm>
            <a:prstGeom prst="ellipse">
              <a:avLst/>
            </a:prstGeom>
            <a:noFill/>
            <a:ln w="19050">
              <a:solidFill>
                <a:srgbClr val="1D48D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왼쪽 중괄호 123">
              <a:extLst>
                <a:ext uri="{FF2B5EF4-FFF2-40B4-BE49-F238E27FC236}">
                  <a16:creationId xmlns:a16="http://schemas.microsoft.com/office/drawing/2014/main" id="{6CF3B26B-D67F-4E7A-B6E9-54B53402E9B4}"/>
                </a:ext>
              </a:extLst>
            </p:cNvPr>
            <p:cNvSpPr/>
            <p:nvPr/>
          </p:nvSpPr>
          <p:spPr>
            <a:xfrm rot="16200000">
              <a:off x="4920300" y="-587361"/>
              <a:ext cx="231186" cy="8616266"/>
            </a:xfrm>
            <a:prstGeom prst="leftBrace">
              <a:avLst>
                <a:gd name="adj1" fmla="val 48739"/>
                <a:gd name="adj2" fmla="val 50000"/>
              </a:avLst>
            </a:prstGeom>
            <a:noFill/>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25" name="TextBox 124">
              <a:extLst>
                <a:ext uri="{FF2B5EF4-FFF2-40B4-BE49-F238E27FC236}">
                  <a16:creationId xmlns:a16="http://schemas.microsoft.com/office/drawing/2014/main" id="{C437EF5F-FAB3-4F3D-85E5-7798E4732F2D}"/>
                </a:ext>
              </a:extLst>
            </p:cNvPr>
            <p:cNvSpPr txBox="1"/>
            <p:nvPr/>
          </p:nvSpPr>
          <p:spPr>
            <a:xfrm>
              <a:off x="3715842" y="1882415"/>
              <a:ext cx="415178" cy="184666"/>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200">
                  <a:solidFill>
                    <a:srgbClr val="FF0000"/>
                  </a:solidFill>
                  <a:latin typeface="SamsungOne 700" panose="020B0803030303020204" pitchFamily="34" charset="0"/>
                  <a:ea typeface="SamsungOne 700" panose="020B0803030303020204" pitchFamily="34" charset="0"/>
                </a:defRPr>
              </a:lvl1pPr>
            </a:lstStyle>
            <a:p>
              <a:r>
                <a:rPr lang="en-US" altLang="ko-KR" dirty="0"/>
                <a:t>Step 1</a:t>
              </a:r>
              <a:endParaRPr lang="ko-KR" altLang="en-US" dirty="0"/>
            </a:p>
          </p:txBody>
        </p:sp>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0D218DE7-AC77-43A0-AF66-05D672AD3841}"/>
                    </a:ext>
                  </a:extLst>
                </p:cNvPr>
                <p:cNvSpPr txBox="1"/>
                <p:nvPr/>
              </p:nvSpPr>
              <p:spPr>
                <a:xfrm>
                  <a:off x="5952093" y="1886328"/>
                  <a:ext cx="455254" cy="184666"/>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200">
                      <a:solidFill>
                        <a:srgbClr val="FF0000"/>
                      </a:solidFill>
                      <a:latin typeface="SamsungOne 700" panose="020B0803030303020204" pitchFamily="34" charset="0"/>
                      <a:ea typeface="SamsungOne 700" panose="020B0803030303020204" pitchFamily="34" charset="0"/>
                    </a:defRPr>
                  </a:lvl1pPr>
                </a:lstStyle>
                <a:p>
                  <a:r>
                    <a:rPr lang="en-US" altLang="ko-KR" dirty="0"/>
                    <a:t>Step 1</a:t>
                  </a:r>
                  <a14:m>
                    <m:oMath xmlns:m="http://schemas.openxmlformats.org/officeDocument/2006/math">
                      <m:r>
                        <a:rPr lang="en-US" altLang="ko-KR">
                          <a:latin typeface="Cambria Math" panose="02040503050406030204" pitchFamily="18" charset="0"/>
                        </a:rPr>
                        <m:t>′</m:t>
                      </m:r>
                    </m:oMath>
                  </a14:m>
                  <a:endParaRPr lang="ko-KR" altLang="en-US" dirty="0"/>
                </a:p>
              </p:txBody>
            </p:sp>
          </mc:Choice>
          <mc:Fallback xmlns="">
            <p:sp>
              <p:nvSpPr>
                <p:cNvPr id="126" name="TextBox 125">
                  <a:extLst>
                    <a:ext uri="{FF2B5EF4-FFF2-40B4-BE49-F238E27FC236}">
                      <a16:creationId xmlns:a16="http://schemas.microsoft.com/office/drawing/2014/main" id="{0D218DE7-AC77-43A0-AF66-05D672AD3841}"/>
                    </a:ext>
                  </a:extLst>
                </p:cNvPr>
                <p:cNvSpPr txBox="1">
                  <a:spLocks noRot="1" noChangeAspect="1" noMove="1" noResize="1" noEditPoints="1" noAdjustHandles="1" noChangeArrowheads="1" noChangeShapeType="1" noTextEdit="1"/>
                </p:cNvSpPr>
                <p:nvPr/>
              </p:nvSpPr>
              <p:spPr>
                <a:xfrm>
                  <a:off x="5952093" y="1886328"/>
                  <a:ext cx="455254" cy="184666"/>
                </a:xfrm>
                <a:prstGeom prst="rect">
                  <a:avLst/>
                </a:prstGeom>
                <a:blipFill>
                  <a:blip r:embed="rId4"/>
                  <a:stretch>
                    <a:fillRect l="-1333" b="-3333"/>
                  </a:stretch>
                </a:blipFill>
                <a:ln w="25400" cap="flat" cmpd="sng" algn="ctr">
                  <a:noFill/>
                  <a:prstDash val="solid"/>
                </a:ln>
                <a:effectLst/>
              </p:spPr>
              <p:txBody>
                <a:bodyPr/>
                <a:lstStyle/>
                <a:p>
                  <a:r>
                    <a:rPr lang="ko-KR" altLang="en-US">
                      <a:noFill/>
                    </a:rPr>
                    <a:t> </a:t>
                  </a:r>
                </a:p>
              </p:txBody>
            </p:sp>
          </mc:Fallback>
        </mc:AlternateContent>
        <p:sp>
          <p:nvSpPr>
            <p:cNvPr id="127" name="TextBox 126">
              <a:extLst>
                <a:ext uri="{FF2B5EF4-FFF2-40B4-BE49-F238E27FC236}">
                  <a16:creationId xmlns:a16="http://schemas.microsoft.com/office/drawing/2014/main" id="{A769C677-DD3C-4509-9031-60D7C1DCD97D}"/>
                </a:ext>
              </a:extLst>
            </p:cNvPr>
            <p:cNvSpPr txBox="1"/>
            <p:nvPr/>
          </p:nvSpPr>
          <p:spPr>
            <a:xfrm>
              <a:off x="8279718" y="1878551"/>
              <a:ext cx="424796" cy="184666"/>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200">
                  <a:solidFill>
                    <a:srgbClr val="FF0000"/>
                  </a:solidFill>
                  <a:latin typeface="SamsungOne 700" panose="020B0803030303020204" pitchFamily="34" charset="0"/>
                  <a:ea typeface="SamsungOne 700" panose="020B0803030303020204" pitchFamily="34" charset="0"/>
                </a:defRPr>
              </a:lvl1pPr>
            </a:lstStyle>
            <a:p>
              <a:r>
                <a:rPr lang="en-US" altLang="ko-KR" dirty="0"/>
                <a:t>Step 2</a:t>
              </a:r>
              <a:endParaRPr lang="ko-KR" altLang="en-US" dirty="0"/>
            </a:p>
          </p:txBody>
        </p:sp>
        <p:sp>
          <p:nvSpPr>
            <p:cNvPr id="128" name="TextBox 127">
              <a:extLst>
                <a:ext uri="{FF2B5EF4-FFF2-40B4-BE49-F238E27FC236}">
                  <a16:creationId xmlns:a16="http://schemas.microsoft.com/office/drawing/2014/main" id="{54B4875E-2C7B-4893-942D-B331A6B1F9E5}"/>
                </a:ext>
              </a:extLst>
            </p:cNvPr>
            <p:cNvSpPr txBox="1"/>
            <p:nvPr/>
          </p:nvSpPr>
          <p:spPr>
            <a:xfrm>
              <a:off x="6115216" y="4544850"/>
              <a:ext cx="676467" cy="184666"/>
            </a:xfrm>
            <a:prstGeom prst="rect">
              <a:avLst/>
            </a:prstGeom>
            <a:noFill/>
            <a:ln w="25400" cap="flat" cmpd="sng" algn="ctr">
              <a:noFill/>
              <a:prstDash val="solid"/>
            </a:ln>
            <a:effectLst/>
          </p:spPr>
          <p:txBody>
            <a:bodyPr wrap="none" lIns="0" tIns="0" rIns="0" bIns="0" rtlCol="0" anchor="ctr">
              <a:spAutoFit/>
              <a:scene3d>
                <a:camera prst="orthographicFront"/>
                <a:lightRig rig="threePt" dir="t"/>
              </a:scene3d>
              <a:sp3d>
                <a:bevelT w="0" h="6350"/>
              </a:sp3d>
            </a:bodyPr>
            <a:lstStyle>
              <a:defPPr>
                <a:defRPr lang="en-US"/>
              </a:defPPr>
              <a:lvl1pPr algn="ctr" defTabSz="914400">
                <a:defRPr sz="1200">
                  <a:solidFill>
                    <a:srgbClr val="FF0000"/>
                  </a:solidFill>
                  <a:latin typeface="SamsungOne 700" panose="020B0803030303020204" pitchFamily="34" charset="0"/>
                  <a:ea typeface="SamsungOne 700" panose="020B0803030303020204" pitchFamily="34" charset="0"/>
                </a:defRPr>
              </a:lvl1pPr>
            </a:lstStyle>
            <a:p>
              <a:r>
                <a:rPr lang="en-US" altLang="ko-KR" dirty="0"/>
                <a:t>Ensemble</a:t>
              </a:r>
              <a:endParaRPr lang="ko-KR" altLang="en-US" dirty="0"/>
            </a:p>
          </p:txBody>
        </p:sp>
        <p:sp>
          <p:nvSpPr>
            <p:cNvPr id="129" name="화살표: 아래쪽 6">
              <a:extLst>
                <a:ext uri="{FF2B5EF4-FFF2-40B4-BE49-F238E27FC236}">
                  <a16:creationId xmlns:a16="http://schemas.microsoft.com/office/drawing/2014/main" id="{C6802381-527E-47B9-A84C-ED536082311B}"/>
                </a:ext>
              </a:extLst>
            </p:cNvPr>
            <p:cNvSpPr/>
            <p:nvPr/>
          </p:nvSpPr>
          <p:spPr>
            <a:xfrm rot="16200000">
              <a:off x="7182734" y="2683635"/>
              <a:ext cx="283043" cy="313124"/>
            </a:xfrm>
            <a:prstGeom prst="downArrow">
              <a:avLst>
                <a:gd name="adj1" fmla="val 56781"/>
                <a:gd name="adj2" fmla="val 56860"/>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defTabSz="914400" latinLnBrk="1">
                <a:defRPr/>
              </a:pPr>
              <a:endParaRPr lang="ko-KR" altLang="en-US" dirty="0">
                <a:solidFill>
                  <a:prstClr val="white"/>
                </a:solidFill>
                <a:latin typeface="SamsungOne 400" panose="020B0503030303020204" pitchFamily="34" charset="0"/>
                <a:ea typeface="KoPub돋움체 Bold" panose="02020603020101020101" pitchFamily="18" charset="-127"/>
              </a:endParaRPr>
            </a:p>
          </p:txBody>
        </p:sp>
        <p:sp>
          <p:nvSpPr>
            <p:cNvPr id="130" name="화살표: 아래쪽 6">
              <a:extLst>
                <a:ext uri="{FF2B5EF4-FFF2-40B4-BE49-F238E27FC236}">
                  <a16:creationId xmlns:a16="http://schemas.microsoft.com/office/drawing/2014/main" id="{B16092F1-B827-42B5-B946-74367C6294D0}"/>
                </a:ext>
              </a:extLst>
            </p:cNvPr>
            <p:cNvSpPr/>
            <p:nvPr/>
          </p:nvSpPr>
          <p:spPr>
            <a:xfrm rot="16200000">
              <a:off x="4906260" y="2683635"/>
              <a:ext cx="283043" cy="313124"/>
            </a:xfrm>
            <a:prstGeom prst="downArrow">
              <a:avLst>
                <a:gd name="adj1" fmla="val 56781"/>
                <a:gd name="adj2" fmla="val 56860"/>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defTabSz="914400" latinLnBrk="1">
                <a:defRPr/>
              </a:pPr>
              <a:endParaRPr lang="ko-KR" altLang="en-US" dirty="0">
                <a:solidFill>
                  <a:prstClr val="white"/>
                </a:solidFill>
                <a:latin typeface="SamsungOne 400" panose="020B0503030303020204" pitchFamily="34" charset="0"/>
                <a:ea typeface="KoPub돋움체 Bold" panose="02020603020101020101" pitchFamily="18" charset="-127"/>
              </a:endParaRPr>
            </a:p>
          </p:txBody>
        </p:sp>
        <p:sp>
          <p:nvSpPr>
            <p:cNvPr id="131" name="화살표: 아래쪽 6">
              <a:extLst>
                <a:ext uri="{FF2B5EF4-FFF2-40B4-BE49-F238E27FC236}">
                  <a16:creationId xmlns:a16="http://schemas.microsoft.com/office/drawing/2014/main" id="{020A9080-1DDE-4A4A-B2C7-BAA1B735B579}"/>
                </a:ext>
              </a:extLst>
            </p:cNvPr>
            <p:cNvSpPr/>
            <p:nvPr/>
          </p:nvSpPr>
          <p:spPr>
            <a:xfrm rot="16200000">
              <a:off x="2591686" y="2683635"/>
              <a:ext cx="283043" cy="313124"/>
            </a:xfrm>
            <a:prstGeom prst="downArrow">
              <a:avLst>
                <a:gd name="adj1" fmla="val 56781"/>
                <a:gd name="adj2" fmla="val 56860"/>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p>
              <a:pPr algn="ctr" defTabSz="914400" latinLnBrk="1">
                <a:defRPr/>
              </a:pPr>
              <a:endParaRPr lang="ko-KR" altLang="en-US" dirty="0">
                <a:solidFill>
                  <a:prstClr val="white"/>
                </a:solidFill>
                <a:latin typeface="SamsungOne 400" panose="020B0503030303020204" pitchFamily="34" charset="0"/>
                <a:ea typeface="KoPub돋움체 Bold" panose="02020603020101020101" pitchFamily="18" charset="-127"/>
              </a:endParaRPr>
            </a:p>
          </p:txBody>
        </p:sp>
      </p:grpSp>
    </p:spTree>
    <p:extLst>
      <p:ext uri="{BB962C8B-B14F-4D97-AF65-F5344CB8AC3E}">
        <p14:creationId xmlns:p14="http://schemas.microsoft.com/office/powerpoint/2010/main" val="1680670346"/>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 </a:t>
            </a:r>
            <a:r>
              <a:rPr lang="en-US" altLang="ko-KR" sz="1400" dirty="0" err="1">
                <a:solidFill>
                  <a:schemeClr val="tx1"/>
                </a:solidFill>
                <a:latin typeface="SamsungOne 400" panose="020B0503030303020204" pitchFamily="34" charset="0"/>
                <a:ea typeface="SamsungOne 400" panose="020B0503030303020204" pitchFamily="34" charset="0"/>
              </a:rPr>
              <a:t>AdaBoostClassifier</a:t>
            </a:r>
            <a:r>
              <a:rPr lang="en-US" altLang="ko-KR" sz="1400" dirty="0">
                <a:solidFill>
                  <a:schemeClr val="tx1"/>
                </a:solidFill>
                <a:latin typeface="SamsungOne 400" panose="020B0503030303020204" pitchFamily="34" charset="0"/>
                <a:ea typeface="SamsungOne 400" panose="020B0503030303020204" pitchFamily="34" charset="0"/>
              </a:rPr>
              <a:t>/</a:t>
            </a:r>
            <a:r>
              <a:rPr lang="en-US" altLang="ko-KR" sz="1400" dirty="0" err="1">
                <a:solidFill>
                  <a:schemeClr val="tx1"/>
                </a:solidFill>
                <a:latin typeface="SamsungOne 400" panose="020B0503030303020204" pitchFamily="34" charset="0"/>
                <a:ea typeface="SamsungOne 400" panose="020B0503030303020204" pitchFamily="34" charset="0"/>
              </a:rPr>
              <a:t>Regressor</a:t>
            </a:r>
            <a:r>
              <a:rPr lang="en-US" altLang="ko-KR" sz="1400" dirty="0">
                <a:solidFill>
                  <a:schemeClr val="tx1"/>
                </a:solidFill>
                <a:latin typeface="SamsungOne 400" panose="020B0503030303020204" pitchFamily="34" charset="0"/>
                <a:ea typeface="SamsungOne 400" panose="020B0503030303020204" pitchFamily="34" charset="0"/>
              </a:rPr>
              <a:t> </a:t>
            </a:r>
            <a:r>
              <a:rPr lang="en-US" altLang="ko-KR" sz="1400" dirty="0" err="1">
                <a:solidFill>
                  <a:schemeClr val="tx1"/>
                </a:solidFill>
                <a:latin typeface="SamsungOne 400" panose="020B0503030303020204" pitchFamily="34" charset="0"/>
                <a:ea typeface="SamsungOne 400" panose="020B0503030303020204" pitchFamily="34" charset="0"/>
              </a:rPr>
              <a:t>Hyperparameters</a:t>
            </a:r>
            <a:endParaRPr lang="en-US" altLang="ko-KR" sz="1400" dirty="0">
              <a:solidFill>
                <a:schemeClr val="tx1"/>
              </a:solidFill>
              <a:latin typeface="SamsungOne 400" panose="020B0503030303020204" pitchFamily="34" charset="0"/>
              <a:ea typeface="SamsungOne 400" panose="020B0503030303020204" pitchFamily="34" charset="0"/>
            </a:endParaRPr>
          </a:p>
        </p:txBody>
      </p:sp>
      <p:graphicFrame>
        <p:nvGraphicFramePr>
          <p:cNvPr id="132" name="표 131">
            <a:extLst>
              <a:ext uri="{FF2B5EF4-FFF2-40B4-BE49-F238E27FC236}">
                <a16:creationId xmlns:a16="http://schemas.microsoft.com/office/drawing/2014/main" id="{06B1C962-D77A-48FF-AEB4-ACA8F2BB9178}"/>
              </a:ext>
            </a:extLst>
          </p:cNvPr>
          <p:cNvGraphicFramePr>
            <a:graphicFrameLocks noGrp="1"/>
          </p:cNvGraphicFramePr>
          <p:nvPr>
            <p:extLst>
              <p:ext uri="{D42A27DB-BD31-4B8C-83A1-F6EECF244321}">
                <p14:modId xmlns:p14="http://schemas.microsoft.com/office/powerpoint/2010/main" val="2971730801"/>
              </p:ext>
            </p:extLst>
          </p:nvPr>
        </p:nvGraphicFramePr>
        <p:xfrm>
          <a:off x="666751" y="1773238"/>
          <a:ext cx="8677274" cy="1882083"/>
        </p:xfrm>
        <a:graphic>
          <a:graphicData uri="http://schemas.openxmlformats.org/drawingml/2006/table">
            <a:tbl>
              <a:tblPr firstRow="1" bandRow="1">
                <a:tableStyleId>{5940675A-B579-460E-94D1-54222C63F5DA}</a:tableStyleId>
              </a:tblPr>
              <a:tblGrid>
                <a:gridCol w="2341809">
                  <a:extLst>
                    <a:ext uri="{9D8B030D-6E8A-4147-A177-3AD203B41FA5}">
                      <a16:colId xmlns:a16="http://schemas.microsoft.com/office/drawing/2014/main" val="4023989761"/>
                    </a:ext>
                  </a:extLst>
                </a:gridCol>
                <a:gridCol w="6335465">
                  <a:extLst>
                    <a:ext uri="{9D8B030D-6E8A-4147-A177-3AD203B41FA5}">
                      <a16:colId xmlns:a16="http://schemas.microsoft.com/office/drawing/2014/main" val="1127139662"/>
                    </a:ext>
                  </a:extLst>
                </a:gridCol>
              </a:tblGrid>
              <a:tr h="319599">
                <a:tc>
                  <a:txBody>
                    <a:bodyPr/>
                    <a:lstStyle/>
                    <a:p>
                      <a:pPr marL="0" algn="ctr" defTabSz="914400" rtl="0" eaLnBrk="1" latinLnBrk="1" hangingPunct="1">
                        <a:lnSpc>
                          <a:spcPct val="100000"/>
                        </a:lnSpc>
                        <a:spcAft>
                          <a:spcPts val="800"/>
                        </a:spcAft>
                      </a:pPr>
                      <a:r>
                        <a:rPr lang="en-US" altLang="ko-KR"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Hyperparameter</a:t>
                      </a:r>
                      <a:endParaRPr lang="ko-KR" altLang="en-US"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914400" rtl="0" eaLnBrk="1" latinLnBrk="1" hangingPunct="1">
                        <a:lnSpc>
                          <a:spcPct val="100000"/>
                        </a:lnSpc>
                        <a:spcAft>
                          <a:spcPts val="800"/>
                        </a:spcAft>
                      </a:pPr>
                      <a:r>
                        <a:rPr lang="en-US" altLang="ko-KR"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Explanation</a:t>
                      </a:r>
                      <a:endParaRPr lang="ko-KR" altLang="en-US"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7729922"/>
                  </a:ext>
                </a:extLst>
              </a:tr>
              <a:tr h="390621">
                <a:tc>
                  <a:txBody>
                    <a:bodyPr/>
                    <a:lstStyle/>
                    <a:p>
                      <a:pPr marL="0" marR="0" lvl="0" indent="0" algn="ctr" defTabSz="914400" rtl="0" eaLnBrk="1" fontAlgn="auto" latinLnBrk="1" hangingPunct="1">
                        <a:lnSpc>
                          <a:spcPct val="100000"/>
                        </a:lnSpc>
                        <a:spcBef>
                          <a:spcPts val="0"/>
                        </a:spcBef>
                        <a:spcAft>
                          <a:spcPts val="80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base_estimator</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base estimator with which the boosted ensemble is built</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417462398"/>
                  </a:ext>
                </a:extLst>
              </a:tr>
              <a:tr h="390621">
                <a:tc>
                  <a:txBody>
                    <a:bodyPr/>
                    <a:lstStyle/>
                    <a:p>
                      <a:pPr marL="0" marR="0" lvl="0" indent="0" algn="ctr" defTabSz="914400" rtl="0" eaLnBrk="1" fontAlgn="auto" latinLnBrk="1" hangingPunct="1">
                        <a:lnSpc>
                          <a:spcPct val="100000"/>
                        </a:lnSpc>
                        <a:spcBef>
                          <a:spcPts val="0"/>
                        </a:spcBef>
                        <a:spcAft>
                          <a:spcPts val="80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n_estimators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maximum number of estimators at which boosting is terminated</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97506961"/>
                  </a:ext>
                </a:extLst>
              </a:tr>
              <a:tr h="390621">
                <a:tc>
                  <a:txBody>
                    <a:bodyPr/>
                    <a:lstStyle/>
                    <a:p>
                      <a:pPr marL="0" marR="0" lvl="0" indent="0" algn="ctr" defTabSz="914400" rtl="0" eaLnBrk="1" fontAlgn="auto" latinLnBrk="1" hangingPunct="1">
                        <a:lnSpc>
                          <a:spcPct val="100000"/>
                        </a:lnSpc>
                        <a:spcBef>
                          <a:spcPts val="0"/>
                        </a:spcBef>
                        <a:spcAft>
                          <a:spcPts val="80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learning_rate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rate by which the contribution of each learner is shrunken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58278547"/>
                  </a:ext>
                </a:extLst>
              </a:tr>
              <a:tr h="390621">
                <a:tc>
                  <a:txBody>
                    <a:bodyPr/>
                    <a:lstStyle/>
                    <a:p>
                      <a:pPr marL="0" marR="0" lvl="0" indent="0" algn="ctr" defTabSz="914400" rtl="0" eaLnBrk="1" fontAlgn="auto" latinLnBrk="1" hangingPunct="1">
                        <a:lnSpc>
                          <a:spcPct val="100000"/>
                        </a:lnSpc>
                        <a:spcBef>
                          <a:spcPts val="0"/>
                        </a:spcBef>
                        <a:spcAft>
                          <a:spcPts val="80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algorithm</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Either ‘SAMME’</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or</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‘SAMME.R’</a:t>
                      </a: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755441991"/>
                  </a:ext>
                </a:extLst>
              </a:tr>
            </a:tbl>
          </a:graphicData>
        </a:graphic>
      </p:graphicFrame>
      <p:sp>
        <p:nvSpPr>
          <p:cNvPr id="133" name="직사각형 132">
            <a:extLst>
              <a:ext uri="{FF2B5EF4-FFF2-40B4-BE49-F238E27FC236}">
                <a16:creationId xmlns:a16="http://schemas.microsoft.com/office/drawing/2014/main" id="{FC784DA2-FD8A-49F9-9022-4B5BC93377F5}"/>
              </a:ext>
            </a:extLst>
          </p:cNvPr>
          <p:cNvSpPr/>
          <p:nvPr/>
        </p:nvSpPr>
        <p:spPr>
          <a:xfrm>
            <a:off x="675556" y="3784965"/>
            <a:ext cx="8632825" cy="13483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base_estimator</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is by default </a:t>
            </a:r>
            <a:r>
              <a:rPr lang="en-US" altLang="ko-KR" sz="1300" dirty="0">
                <a:solidFill>
                  <a:srgbClr val="193EB0"/>
                </a:solidFill>
                <a:latin typeface="SamsungOne 700" panose="020B0803030303020204" pitchFamily="34" charset="0"/>
                <a:ea typeface="SamsungOne 700" panose="020B0803030303020204" pitchFamily="34" charset="0"/>
              </a:rPr>
              <a:t>None</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which means </a:t>
            </a:r>
            <a:r>
              <a:rPr lang="en-US" altLang="ko-KR" sz="1300" dirty="0" err="1">
                <a:solidFill>
                  <a:srgbClr val="193EB0"/>
                </a:solidFill>
                <a:latin typeface="SamsungOne 700" panose="020B0803030303020204" pitchFamily="34" charset="0"/>
                <a:ea typeface="SamsungOne 700" panose="020B0803030303020204" pitchFamily="34" charset="0"/>
              </a:rPr>
              <a:t>DecisionTreeClassifier</a:t>
            </a:r>
            <a:r>
              <a:rPr lang="en-US" altLang="ko-KR" sz="1300" dirty="0">
                <a:solidFill>
                  <a:srgbClr val="193EB0"/>
                </a:solidFill>
                <a:latin typeface="SamsungOne 700" panose="020B0803030303020204" pitchFamily="34" charset="0"/>
                <a:ea typeface="SamsungOne 700" panose="020B0803030303020204" pitchFamily="34" charset="0"/>
              </a:rPr>
              <a:t>(</a:t>
            </a:r>
            <a:r>
              <a:rPr lang="en-US" altLang="ko-KR" sz="1300" dirty="0" err="1">
                <a:solidFill>
                  <a:srgbClr val="193EB0"/>
                </a:solidFill>
                <a:latin typeface="SamsungOne 700" panose="020B0803030303020204" pitchFamily="34" charset="0"/>
                <a:ea typeface="SamsungOne 700" panose="020B0803030303020204" pitchFamily="34" charset="0"/>
              </a:rPr>
              <a:t>max_depth</a:t>
            </a:r>
            <a:r>
              <a:rPr lang="en-US" altLang="ko-KR" sz="1300" dirty="0">
                <a:solidFill>
                  <a:srgbClr val="193EB0"/>
                </a:solidFill>
                <a:latin typeface="SamsungOne 700" panose="020B0803030303020204" pitchFamily="34" charset="0"/>
                <a:ea typeface="SamsungOne 700" panose="020B0803030303020204" pitchFamily="34" charset="0"/>
              </a:rPr>
              <a:t>=1).</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endParaRPr>
          </a:p>
          <a:p>
            <a:pPr marL="182563" indent="-182563" defTabSz="914400">
              <a:lnSpc>
                <a:spcPct val="150000"/>
              </a:lnSpc>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More information can be found at:</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br>
            <a: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Classifier: </a:t>
            </a:r>
            <a: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hlinkClick r:id="rId4"/>
              </a:rPr>
              <a:t>https://scikit-learn.org/stable/modules/generated/sklearn.ensemble.AdaBoostClassifier.html</a:t>
            </a:r>
            <a: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a:t>
            </a:r>
            <a:b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br>
            <a:r>
              <a:rPr lang="pt-B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Regressor: </a:t>
            </a:r>
            <a:r>
              <a:rPr lang="pt-B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hlinkClick r:id="rId5"/>
              </a:rPr>
              <a:t>https://scikit-learn.org/stable/modules/generated/sklearn.ensemble.AdaBoostRegressor.html</a:t>
            </a:r>
            <a:r>
              <a:rPr lang="pt-B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endParaRPr>
          </a:p>
        </p:txBody>
      </p:sp>
    </p:spTree>
    <p:extLst>
      <p:ext uri="{BB962C8B-B14F-4D97-AF65-F5344CB8AC3E}">
        <p14:creationId xmlns:p14="http://schemas.microsoft.com/office/powerpoint/2010/main" val="3953510944"/>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8" name="직사각형 7">
            <a:extLst>
              <a:ext uri="{FF2B5EF4-FFF2-40B4-BE49-F238E27FC236}">
                <a16:creationId xmlns:a16="http://schemas.microsoft.com/office/drawing/2014/main" id="{B8C65ABC-F189-426D-B2FC-0F3BBF68BAFF}"/>
              </a:ext>
            </a:extLst>
          </p:cNvPr>
          <p:cNvSpPr/>
          <p:nvPr/>
        </p:nvSpPr>
        <p:spPr>
          <a:xfrm>
            <a:off x="449998" y="1375101"/>
            <a:ext cx="900498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Boosting Ensemble: GBM &amp; </a:t>
            </a:r>
            <a:r>
              <a:rPr lang="en-US" altLang="ko-KR" sz="2400" dirty="0" err="1">
                <a:solidFill>
                  <a:schemeClr val="tx1">
                    <a:lumMod val="95000"/>
                    <a:lumOff val="5000"/>
                  </a:schemeClr>
                </a:solidFill>
                <a:latin typeface="Samsung Sharp Sans" pitchFamily="2" charset="0"/>
                <a:ea typeface="Samsung Sharp Sans" pitchFamily="2" charset="0"/>
                <a:cs typeface="Samsung Sharp Sans" pitchFamily="2" charset="0"/>
              </a:rPr>
              <a:t>XGBoost</a:t>
            </a:r>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 </a:t>
            </a:r>
          </a:p>
        </p:txBody>
      </p:sp>
      <mc:AlternateContent xmlns:mc="http://schemas.openxmlformats.org/markup-compatibility/2006" xmlns:a14="http://schemas.microsoft.com/office/drawing/2010/main">
        <mc:Choice Requires="a14">
          <p:sp>
            <p:nvSpPr>
              <p:cNvPr id="9" name="직사각형 8">
                <a:extLst>
                  <a:ext uri="{FF2B5EF4-FFF2-40B4-BE49-F238E27FC236}">
                    <a16:creationId xmlns:a16="http://schemas.microsoft.com/office/drawing/2014/main" id="{AAA126A5-9F90-4299-946B-C07E6706597E}"/>
                  </a:ext>
                </a:extLst>
              </p:cNvPr>
              <p:cNvSpPr/>
              <p:nvPr/>
            </p:nvSpPr>
            <p:spPr>
              <a:xfrm>
                <a:off x="675071" y="2219443"/>
                <a:ext cx="8632825" cy="1453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GBM is also made up of a sequence of weak learners similar to AdaBoost.</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disagreement between the predicted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𝑦 ̂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and the true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𝑦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can be represented by a “loss” function.</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the sequence of weak learners, the learner at step </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𝑚</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14:m>
                  <m:oMath xmlns:m="http://schemas.openxmlformats.org/officeDocument/2006/math">
                    <m:r>
                      <a:rPr lang="ko-KR" altLang="en-US" sz="1300" i="1" dirty="0" smtClean="0">
                        <a:solidFill>
                          <a:schemeClr val="tx1">
                            <a:lumMod val="85000"/>
                            <a:lumOff val="15000"/>
                          </a:schemeClr>
                        </a:solidFill>
                        <a:latin typeface="Cambria Math" panose="02040503050406030204" pitchFamily="18" charset="0"/>
                        <a:ea typeface="SamsungOne 400" panose="020B0503030303020204" pitchFamily="34" charset="0"/>
                      </a:rPr>
                      <m:t>𝐺</m:t>
                    </m:r>
                    <m:r>
                      <a:rPr lang="ko-KR" altLang="en-US" sz="1300" i="1" baseline="-25000" dirty="0" smtClean="0">
                        <a:solidFill>
                          <a:schemeClr val="tx1">
                            <a:lumMod val="85000"/>
                            <a:lumOff val="15000"/>
                          </a:schemeClr>
                        </a:solidFill>
                        <a:latin typeface="Cambria Math" panose="02040503050406030204" pitchFamily="18" charset="0"/>
                        <a:ea typeface="SamsungOne 400" panose="020B0503030303020204" pitchFamily="34" charset="0"/>
                      </a:rPr>
                      <m:t>𝑚</m:t>
                    </m:r>
                    <m:r>
                      <a:rPr lang="en-US" altLang="ko-KR" sz="1300" i="1" dirty="0" smtClean="0">
                        <a:solidFill>
                          <a:schemeClr val="tx1">
                            <a:lumMod val="85000"/>
                            <a:lumOff val="15000"/>
                          </a:schemeClr>
                        </a:solidFill>
                        <a:latin typeface="Cambria Math" panose="02040503050406030204" pitchFamily="18" charset="0"/>
                        <a:ea typeface="SamsungOne 400" panose="020B0503030303020204" pitchFamily="34" charset="0"/>
                      </a:rPr>
                      <m:t>(</m:t>
                    </m:r>
                    <m:r>
                      <a:rPr lang="ko-KR" altLang="en-US" sz="1300" i="1" dirty="0" smtClean="0">
                        <a:solidFill>
                          <a:schemeClr val="tx1">
                            <a:lumMod val="85000"/>
                            <a:lumOff val="15000"/>
                          </a:schemeClr>
                        </a:solidFill>
                        <a:latin typeface="Cambria Math" panose="02040503050406030204" pitchFamily="18" charset="0"/>
                        <a:ea typeface="SamsungOne 400" panose="020B0503030303020204" pitchFamily="34" charset="0"/>
                      </a:rPr>
                      <m:t>𝒙</m:t>
                    </m:r>
                    <m:r>
                      <a:rPr lang="en-US" altLang="ko-KR" sz="1300" i="1" dirty="0" smtClean="0">
                        <a:solidFill>
                          <a:schemeClr val="tx1">
                            <a:lumMod val="85000"/>
                            <a:lumOff val="15000"/>
                          </a:schemeClr>
                        </a:solidFill>
                        <a:latin typeface="Cambria Math" panose="02040503050406030204" pitchFamily="18" charset="0"/>
                        <a:ea typeface="SamsungOne 400" panose="020B0503030303020204" pitchFamily="34" charset="0"/>
                      </a:rPr>
                      <m:t>) </m:t>
                    </m:r>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can be obtained by moving the previous step learner </a:t>
                </a:r>
                <a14:m>
                  <m:oMath xmlns:m="http://schemas.openxmlformats.org/officeDocument/2006/math">
                    <m:sSub>
                      <m:sSubPr>
                        <m:ctrlPr>
                          <a:rPr lang="en-US" altLang="ko-KR" sz="1300" i="1">
                            <a:solidFill>
                              <a:schemeClr val="tx1">
                                <a:lumMod val="85000"/>
                                <a:lumOff val="15000"/>
                              </a:schemeClr>
                            </a:solidFill>
                            <a:latin typeface="Cambria Math" panose="02040503050406030204" pitchFamily="18" charset="0"/>
                          </a:rPr>
                        </m:ctrlPr>
                      </m:sSubPr>
                      <m:e>
                        <m:r>
                          <a:rPr lang="en-US" altLang="ko-KR" sz="1300">
                            <a:solidFill>
                              <a:schemeClr val="tx1">
                                <a:lumMod val="85000"/>
                                <a:lumOff val="15000"/>
                              </a:schemeClr>
                            </a:solidFill>
                            <a:latin typeface="Cambria Math" panose="02040503050406030204" pitchFamily="18" charset="0"/>
                          </a:rPr>
                          <m:t>𝐺</m:t>
                        </m:r>
                      </m:e>
                      <m:sub>
                        <m:r>
                          <a:rPr lang="en-US" altLang="ko-KR" sz="1300">
                            <a:solidFill>
                              <a:schemeClr val="tx1">
                                <a:lumMod val="85000"/>
                                <a:lumOff val="15000"/>
                              </a:schemeClr>
                            </a:solidFill>
                            <a:latin typeface="Cambria Math" panose="02040503050406030204" pitchFamily="18" charset="0"/>
                          </a:rPr>
                          <m:t>𝑚</m:t>
                        </m:r>
                        <m:r>
                          <a:rPr lang="en-US" altLang="ko-KR" sz="1300">
                            <a:solidFill>
                              <a:schemeClr val="tx1">
                                <a:lumMod val="85000"/>
                                <a:lumOff val="15000"/>
                              </a:schemeClr>
                            </a:solidFill>
                            <a:latin typeface="Cambria Math" panose="02040503050406030204" pitchFamily="18" charset="0"/>
                          </a:rPr>
                          <m:t>−1</m:t>
                        </m:r>
                      </m:sub>
                    </m:sSub>
                    <m:r>
                      <a:rPr lang="en-US" altLang="ko-KR" sz="1300">
                        <a:solidFill>
                          <a:schemeClr val="tx1">
                            <a:lumMod val="85000"/>
                            <a:lumOff val="15000"/>
                          </a:schemeClr>
                        </a:solidFill>
                        <a:latin typeface="Cambria Math" panose="02040503050406030204" pitchFamily="18" charset="0"/>
                      </a:rPr>
                      <m:t>(</m:t>
                    </m:r>
                    <m:r>
                      <a:rPr lang="en-US" altLang="ko-KR" sz="1300">
                        <a:solidFill>
                          <a:schemeClr val="tx1">
                            <a:lumMod val="85000"/>
                            <a:lumOff val="15000"/>
                          </a:schemeClr>
                        </a:solidFill>
                        <a:latin typeface="Cambria Math" panose="02040503050406030204" pitchFamily="18" charset="0"/>
                      </a:rPr>
                      <m:t>𝒙</m:t>
                    </m:r>
                    <m:r>
                      <a:rPr lang="en-US" altLang="ko-KR" sz="1300">
                        <a:solidFill>
                          <a:schemeClr val="tx1">
                            <a:lumMod val="85000"/>
                            <a:lumOff val="15000"/>
                          </a:schemeClr>
                        </a:solidFill>
                        <a:latin typeface="Cambria Math" panose="02040503050406030204" pitchFamily="18" charset="0"/>
                      </a:rPr>
                      <m:t>)</m:t>
                    </m:r>
                  </m:oMath>
                </a14:m>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towards the direction that decreases the loss as defined above.</a:t>
                </a:r>
              </a:p>
              <a:p>
                <a:pPr marL="182526" indent="-182526">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These updating movements are restricted to a set of base learners.</a:t>
                </a:r>
              </a:p>
            </p:txBody>
          </p:sp>
        </mc:Choice>
        <mc:Fallback xmlns="">
          <p:sp>
            <p:nvSpPr>
              <p:cNvPr id="9" name="직사각형 8">
                <a:extLst>
                  <a:ext uri="{FF2B5EF4-FFF2-40B4-BE49-F238E27FC236}">
                    <a16:creationId xmlns:a16="http://schemas.microsoft.com/office/drawing/2014/main" xmlns="" xmlns:a14="http://schemas.microsoft.com/office/drawing/2010/main" id="{AAA126A5-9F90-4299-946B-C07E6706597E}"/>
                  </a:ext>
                </a:extLst>
              </p:cNvPr>
              <p:cNvSpPr>
                <a:spLocks noRot="1" noChangeAspect="1" noMove="1" noResize="1" noEditPoints="1" noAdjustHandles="1" noChangeArrowheads="1" noChangeShapeType="1" noTextEdit="1"/>
              </p:cNvSpPr>
              <p:nvPr/>
            </p:nvSpPr>
            <p:spPr>
              <a:xfrm>
                <a:off x="675071" y="2219443"/>
                <a:ext cx="8632825" cy="1453457"/>
              </a:xfrm>
              <a:prstGeom prst="rect">
                <a:avLst/>
              </a:prstGeom>
              <a:blipFill rotWithShape="0">
                <a:blip r:embed="rId3"/>
                <a:stretch>
                  <a:fillRect/>
                </a:stretch>
              </a:blipFill>
              <a:ln>
                <a:noFill/>
              </a:ln>
            </p:spPr>
            <p:txBody>
              <a:bodyPr/>
              <a:lstStyle/>
              <a:p>
                <a:r>
                  <a:rPr lang="ko-KR" altLang="en-US">
                    <a:noFill/>
                  </a:rPr>
                  <a:t> </a:t>
                </a:r>
              </a:p>
            </p:txBody>
          </p:sp>
        </mc:Fallback>
      </mc:AlternateContent>
      <p:sp>
        <p:nvSpPr>
          <p:cNvPr id="11" name="직사각형 10">
            <a:extLst>
              <a:ext uri="{FF2B5EF4-FFF2-40B4-BE49-F238E27FC236}">
                <a16:creationId xmlns:a16="http://schemas.microsoft.com/office/drawing/2014/main" id="{9274A458-8B0D-45DF-A828-7EE0D88839E2}"/>
              </a:ext>
            </a:extLst>
          </p:cNvPr>
          <p:cNvSpPr/>
          <p:nvPr/>
        </p:nvSpPr>
        <p:spPr>
          <a:xfrm>
            <a:off x="558800" y="1902172"/>
            <a:ext cx="8763637"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4"/>
              </a:buBlip>
              <a:defRPr/>
            </a:pPr>
            <a:r>
              <a:rPr lang="en-US" altLang="ko-KR" sz="1400" dirty="0">
                <a:solidFill>
                  <a:schemeClr val="tx1"/>
                </a:solidFill>
                <a:latin typeface="SamsungOne 400" panose="020B0503030303020204" pitchFamily="34" charset="0"/>
                <a:ea typeface="SamsungOne 400" panose="020B0503030303020204" pitchFamily="34" charset="0"/>
              </a:rPr>
              <a:t>Gradient Boosting Machine (GBM)</a:t>
            </a:r>
          </a:p>
        </p:txBody>
      </p:sp>
    </p:spTree>
    <p:extLst>
      <p:ext uri="{BB962C8B-B14F-4D97-AF65-F5344CB8AC3E}">
        <p14:creationId xmlns:p14="http://schemas.microsoft.com/office/powerpoint/2010/main" val="1362203036"/>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err="1">
                <a:solidFill>
                  <a:schemeClr val="tx1"/>
                </a:solidFill>
                <a:latin typeface="SamsungOne 400" panose="020B0503030303020204" pitchFamily="34" charset="0"/>
                <a:ea typeface="SamsungOne 400" panose="020B0503030303020204" pitchFamily="34" charset="0"/>
              </a:rPr>
              <a:t>scikit</a:t>
            </a:r>
            <a:r>
              <a:rPr lang="en-US" altLang="ko-KR" sz="1400" dirty="0">
                <a:solidFill>
                  <a:schemeClr val="tx1"/>
                </a:solidFill>
                <a:latin typeface="SamsungOne 400" panose="020B0503030303020204" pitchFamily="34" charset="0"/>
                <a:ea typeface="SamsungOne 400" panose="020B0503030303020204" pitchFamily="34" charset="0"/>
              </a:rPr>
              <a:t>-learn </a:t>
            </a:r>
            <a:r>
              <a:rPr lang="en-US" altLang="ko-KR" sz="1400" dirty="0" err="1">
                <a:solidFill>
                  <a:schemeClr val="tx1"/>
                </a:solidFill>
                <a:latin typeface="SamsungOne 400" panose="020B0503030303020204" pitchFamily="34" charset="0"/>
                <a:ea typeface="SamsungOne 400" panose="020B0503030303020204" pitchFamily="34" charset="0"/>
              </a:rPr>
              <a:t>GradientBoostingClassifier</a:t>
            </a:r>
            <a:r>
              <a:rPr lang="en-US" altLang="ko-KR" sz="1400" dirty="0">
                <a:solidFill>
                  <a:schemeClr val="tx1"/>
                </a:solidFill>
                <a:latin typeface="SamsungOne 400" panose="020B0503030303020204" pitchFamily="34" charset="0"/>
                <a:ea typeface="SamsungOne 400" panose="020B0503030303020204" pitchFamily="34" charset="0"/>
              </a:rPr>
              <a:t>/Regressor Hyperparameters</a:t>
            </a:r>
          </a:p>
        </p:txBody>
      </p:sp>
      <p:graphicFrame>
        <p:nvGraphicFramePr>
          <p:cNvPr id="132" name="표 131">
            <a:extLst>
              <a:ext uri="{FF2B5EF4-FFF2-40B4-BE49-F238E27FC236}">
                <a16:creationId xmlns:a16="http://schemas.microsoft.com/office/drawing/2014/main" id="{06B1C962-D77A-48FF-AEB4-ACA8F2BB9178}"/>
              </a:ext>
            </a:extLst>
          </p:cNvPr>
          <p:cNvGraphicFramePr>
            <a:graphicFrameLocks noGrp="1"/>
          </p:cNvGraphicFramePr>
          <p:nvPr>
            <p:extLst>
              <p:ext uri="{D42A27DB-BD31-4B8C-83A1-F6EECF244321}">
                <p14:modId xmlns:p14="http://schemas.microsoft.com/office/powerpoint/2010/main" val="1630120632"/>
              </p:ext>
            </p:extLst>
          </p:nvPr>
        </p:nvGraphicFramePr>
        <p:xfrm>
          <a:off x="675556" y="1773238"/>
          <a:ext cx="8668468" cy="1882083"/>
        </p:xfrm>
        <a:graphic>
          <a:graphicData uri="http://schemas.openxmlformats.org/drawingml/2006/table">
            <a:tbl>
              <a:tblPr firstRow="1" bandRow="1">
                <a:tableStyleId>{5940675A-B579-460E-94D1-54222C63F5DA}</a:tableStyleId>
              </a:tblPr>
              <a:tblGrid>
                <a:gridCol w="2339432">
                  <a:extLst>
                    <a:ext uri="{9D8B030D-6E8A-4147-A177-3AD203B41FA5}">
                      <a16:colId xmlns:a16="http://schemas.microsoft.com/office/drawing/2014/main" val="4023989761"/>
                    </a:ext>
                  </a:extLst>
                </a:gridCol>
                <a:gridCol w="6329036">
                  <a:extLst>
                    <a:ext uri="{9D8B030D-6E8A-4147-A177-3AD203B41FA5}">
                      <a16:colId xmlns:a16="http://schemas.microsoft.com/office/drawing/2014/main" val="1127139662"/>
                    </a:ext>
                  </a:extLst>
                </a:gridCol>
              </a:tblGrid>
              <a:tr h="319599">
                <a:tc>
                  <a:txBody>
                    <a:bodyPr/>
                    <a:lstStyle/>
                    <a:p>
                      <a:pPr marL="0" algn="ctr" defTabSz="914400" rtl="0" eaLnBrk="1" latinLnBrk="1" hangingPunct="1">
                        <a:lnSpc>
                          <a:spcPct val="100000"/>
                        </a:lnSpc>
                        <a:spcAft>
                          <a:spcPts val="800"/>
                        </a:spcAft>
                      </a:pPr>
                      <a:r>
                        <a:rPr lang="en-US" altLang="ko-KR"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Hyperparameter</a:t>
                      </a:r>
                      <a:endParaRPr lang="ko-KR" altLang="en-US"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914400" rtl="0" eaLnBrk="1" latinLnBrk="1" hangingPunct="1">
                        <a:lnSpc>
                          <a:spcPct val="100000"/>
                        </a:lnSpc>
                        <a:spcAft>
                          <a:spcPts val="800"/>
                        </a:spcAft>
                      </a:pPr>
                      <a:r>
                        <a:rPr lang="en-US" altLang="ko-KR"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Explanation</a:t>
                      </a:r>
                      <a:endParaRPr lang="ko-KR" altLang="en-US"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7729922"/>
                  </a:ext>
                </a:extLst>
              </a:tr>
              <a:tr h="390621">
                <a:tc>
                  <a:txBody>
                    <a:bodyPr/>
                    <a:lstStyle/>
                    <a:p>
                      <a:pPr marL="0" marR="0" lvl="0" indent="0" algn="ctr" defTabSz="914400" rtl="0" eaLnBrk="1" fontAlgn="auto" latinLnBrk="1" hangingPunct="1">
                        <a:lnSpc>
                          <a:spcPct val="100000"/>
                        </a:lnSpc>
                        <a:spcBef>
                          <a:spcPts val="0"/>
                        </a:spcBef>
                        <a:spcAft>
                          <a:spcPts val="80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loss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loss function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417462398"/>
                  </a:ext>
                </a:extLst>
              </a:tr>
              <a:tr h="390621">
                <a:tc>
                  <a:txBody>
                    <a:bodyPr/>
                    <a:lstStyle/>
                    <a:p>
                      <a:pPr marL="0" marR="0" lvl="0" indent="0" algn="ctr" defTabSz="914400" rtl="0" eaLnBrk="1" fontAlgn="auto" latinLnBrk="1" hangingPunct="1">
                        <a:lnSpc>
                          <a:spcPct val="100000"/>
                        </a:lnSpc>
                        <a:spcBef>
                          <a:spcPts val="0"/>
                        </a:spcBef>
                        <a:spcAft>
                          <a:spcPts val="80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n_estimators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800"/>
                        </a:spcAft>
                        <a:buClrTx/>
                        <a:buSzTx/>
                        <a:buFont typeface="Arial" panose="020B0604020202020204" pitchFamily="34" charset="0"/>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number of boosting steps (weak learners)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97506961"/>
                  </a:ext>
                </a:extLst>
              </a:tr>
              <a:tr h="390621">
                <a:tc>
                  <a:txBody>
                    <a:bodyPr/>
                    <a:lstStyle/>
                    <a:p>
                      <a:pPr marL="0" marR="0" lvl="0" indent="0" algn="ctr" defTabSz="914400" rtl="0" eaLnBrk="1" fontAlgn="auto" latinLnBrk="1" hangingPunct="1">
                        <a:lnSpc>
                          <a:spcPct val="100000"/>
                        </a:lnSpc>
                        <a:spcBef>
                          <a:spcPts val="0"/>
                        </a:spcBef>
                        <a:spcAft>
                          <a:spcPts val="80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learning_rate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contribution of each weak learner</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58278547"/>
                  </a:ext>
                </a:extLst>
              </a:tr>
              <a:tr h="390621">
                <a:tc>
                  <a:txBody>
                    <a:bodyPr/>
                    <a:lstStyle/>
                    <a:p>
                      <a:pPr marL="0" marR="0" lvl="0" indent="0" algn="ctr" defTabSz="914400" rtl="0" eaLnBrk="1" fontAlgn="auto" latinLnBrk="1" hangingPunct="1">
                        <a:lnSpc>
                          <a:spcPct val="100000"/>
                        </a:lnSpc>
                        <a:spcBef>
                          <a:spcPts val="0"/>
                        </a:spcBef>
                        <a:spcAft>
                          <a:spcPts val="80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subsample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fraction of data that will be used by individual weak learner</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755441991"/>
                  </a:ext>
                </a:extLst>
              </a:tr>
            </a:tbl>
          </a:graphicData>
        </a:graphic>
      </p:graphicFrame>
      <p:sp>
        <p:nvSpPr>
          <p:cNvPr id="133" name="직사각형 132">
            <a:extLst>
              <a:ext uri="{FF2B5EF4-FFF2-40B4-BE49-F238E27FC236}">
                <a16:creationId xmlns:a16="http://schemas.microsoft.com/office/drawing/2014/main" id="{FC784DA2-FD8A-49F9-9022-4B5BC93377F5}"/>
              </a:ext>
            </a:extLst>
          </p:cNvPr>
          <p:cNvSpPr/>
          <p:nvPr/>
        </p:nvSpPr>
        <p:spPr>
          <a:xfrm>
            <a:off x="675556" y="3784965"/>
            <a:ext cx="8792444" cy="13483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Need to be tuned for optimized performance.</a:t>
            </a:r>
          </a:p>
          <a:p>
            <a:pPr marL="182563" indent="-182563" defTabSz="914400">
              <a:lnSpc>
                <a:spcPct val="150000"/>
              </a:lnSpc>
              <a:spcAft>
                <a:spcPts val="4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More information can be found at:</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br>
            <a: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Classifier: </a:t>
            </a:r>
            <a: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hlinkClick r:id="rId4"/>
              </a:rPr>
              <a:t>https://scikit-learn.org/stable/modules/generated/sklearn.ensemble.GradientBoostingClassifier.html</a:t>
            </a:r>
            <a: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a:t>
            </a:r>
            <a:br>
              <a:rPr lang="fr-F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br>
            <a:r>
              <a:rPr lang="pt-B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Regressor: </a:t>
            </a:r>
            <a:r>
              <a:rPr lang="pt-B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hlinkClick r:id="rId5"/>
              </a:rPr>
              <a:t>https://scikit-learn.org/stable/modules/generated/sklearn.ensemble.GradientBoostingRegressor.html</a:t>
            </a:r>
            <a:r>
              <a:rPr lang="pt-BR"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endParaRPr>
          </a:p>
        </p:txBody>
      </p:sp>
    </p:spTree>
    <p:extLst>
      <p:ext uri="{BB962C8B-B14F-4D97-AF65-F5344CB8AC3E}">
        <p14:creationId xmlns:p14="http://schemas.microsoft.com/office/powerpoint/2010/main" val="2165462936"/>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Extreme Gradient Boosting (</a:t>
            </a:r>
            <a:r>
              <a:rPr lang="en-US" altLang="ko-KR" sz="1400" dirty="0" err="1">
                <a:solidFill>
                  <a:schemeClr val="tx1"/>
                </a:solidFill>
                <a:latin typeface="SamsungOne 400" panose="020B0503030303020204" pitchFamily="34" charset="0"/>
                <a:ea typeface="SamsungOne 400" panose="020B0503030303020204" pitchFamily="34" charset="0"/>
              </a:rPr>
              <a:t>XGBoost</a:t>
            </a:r>
            <a:r>
              <a:rPr lang="en-US" altLang="ko-KR" sz="1400" dirty="0">
                <a:solidFill>
                  <a:schemeClr val="tx1"/>
                </a:solidFill>
                <a:latin typeface="SamsungOne 400" panose="020B0503030303020204" pitchFamily="34" charset="0"/>
                <a:ea typeface="SamsungOne 400" panose="020B0503030303020204" pitchFamily="34" charset="0"/>
              </a:rPr>
              <a:t>)</a:t>
            </a:r>
          </a:p>
        </p:txBody>
      </p:sp>
      <p:sp>
        <p:nvSpPr>
          <p:cNvPr id="8" name="직사각형 7">
            <a:extLst>
              <a:ext uri="{FF2B5EF4-FFF2-40B4-BE49-F238E27FC236}">
                <a16:creationId xmlns:a16="http://schemas.microsoft.com/office/drawing/2014/main" id="{F0844BA0-46F0-444A-A334-A68438243E78}"/>
              </a:ext>
            </a:extLst>
          </p:cNvPr>
          <p:cNvSpPr/>
          <p:nvPr/>
        </p:nvSpPr>
        <p:spPr>
          <a:xfrm>
            <a:off x="675556" y="1700213"/>
            <a:ext cx="8632825" cy="9507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Improves upon GBM in the execution speed.</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More resistant to the overfitting than GBM.</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Not included in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scikit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-learn library. Requires installation of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xgboost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library.</a:t>
            </a:r>
          </a:p>
        </p:txBody>
      </p:sp>
    </p:spTree>
    <p:extLst>
      <p:ext uri="{BB962C8B-B14F-4D97-AF65-F5344CB8AC3E}">
        <p14:creationId xmlns:p14="http://schemas.microsoft.com/office/powerpoint/2010/main" val="369138848"/>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err="1">
                <a:solidFill>
                  <a:schemeClr val="tx1"/>
                </a:solidFill>
                <a:latin typeface="SamsungOne 400" panose="020B0503030303020204" pitchFamily="34" charset="0"/>
                <a:ea typeface="SamsungOne 400" panose="020B0503030303020204" pitchFamily="34" charset="0"/>
              </a:rPr>
              <a:t>XGBClassifier</a:t>
            </a:r>
            <a:r>
              <a:rPr lang="en-US" altLang="ko-KR" sz="1400" dirty="0">
                <a:solidFill>
                  <a:schemeClr val="tx1"/>
                </a:solidFill>
                <a:latin typeface="SamsungOne 400" panose="020B0503030303020204" pitchFamily="34" charset="0"/>
                <a:ea typeface="SamsungOne 400" panose="020B0503030303020204" pitchFamily="34" charset="0"/>
              </a:rPr>
              <a:t>/Regressor Hyperparameters</a:t>
            </a:r>
          </a:p>
        </p:txBody>
      </p:sp>
      <p:graphicFrame>
        <p:nvGraphicFramePr>
          <p:cNvPr id="132" name="표 131">
            <a:extLst>
              <a:ext uri="{FF2B5EF4-FFF2-40B4-BE49-F238E27FC236}">
                <a16:creationId xmlns:a16="http://schemas.microsoft.com/office/drawing/2014/main" id="{06B1C962-D77A-48FF-AEB4-ACA8F2BB9178}"/>
              </a:ext>
            </a:extLst>
          </p:cNvPr>
          <p:cNvGraphicFramePr>
            <a:graphicFrameLocks noGrp="1"/>
          </p:cNvGraphicFramePr>
          <p:nvPr>
            <p:extLst>
              <p:ext uri="{D42A27DB-BD31-4B8C-83A1-F6EECF244321}">
                <p14:modId xmlns:p14="http://schemas.microsoft.com/office/powerpoint/2010/main" val="2582439568"/>
              </p:ext>
            </p:extLst>
          </p:nvPr>
        </p:nvGraphicFramePr>
        <p:xfrm>
          <a:off x="666750" y="1773238"/>
          <a:ext cx="8677274" cy="1882083"/>
        </p:xfrm>
        <a:graphic>
          <a:graphicData uri="http://schemas.openxmlformats.org/drawingml/2006/table">
            <a:tbl>
              <a:tblPr firstRow="1" bandRow="1">
                <a:tableStyleId>{5940675A-B579-460E-94D1-54222C63F5DA}</a:tableStyleId>
              </a:tblPr>
              <a:tblGrid>
                <a:gridCol w="2341808">
                  <a:extLst>
                    <a:ext uri="{9D8B030D-6E8A-4147-A177-3AD203B41FA5}">
                      <a16:colId xmlns:a16="http://schemas.microsoft.com/office/drawing/2014/main" val="4023989761"/>
                    </a:ext>
                  </a:extLst>
                </a:gridCol>
                <a:gridCol w="6335466">
                  <a:extLst>
                    <a:ext uri="{9D8B030D-6E8A-4147-A177-3AD203B41FA5}">
                      <a16:colId xmlns:a16="http://schemas.microsoft.com/office/drawing/2014/main" val="1127139662"/>
                    </a:ext>
                  </a:extLst>
                </a:gridCol>
              </a:tblGrid>
              <a:tr h="319599">
                <a:tc>
                  <a:txBody>
                    <a:bodyPr/>
                    <a:lstStyle/>
                    <a:p>
                      <a:pPr marL="0" algn="ctr" defTabSz="914400" rtl="0" eaLnBrk="1" latinLnBrk="1" hangingPunct="1">
                        <a:lnSpc>
                          <a:spcPct val="100000"/>
                        </a:lnSpc>
                        <a:spcAft>
                          <a:spcPts val="800"/>
                        </a:spcAft>
                      </a:pPr>
                      <a:r>
                        <a:rPr lang="en-US" altLang="ko-KR"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Hyperparameter</a:t>
                      </a:r>
                      <a:endParaRPr lang="ko-KR" altLang="en-US"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914400" rtl="0" eaLnBrk="1" latinLnBrk="1" hangingPunct="1">
                        <a:lnSpc>
                          <a:spcPct val="100000"/>
                        </a:lnSpc>
                        <a:spcAft>
                          <a:spcPts val="800"/>
                        </a:spcAft>
                      </a:pPr>
                      <a:r>
                        <a:rPr lang="en-US" altLang="ko-KR"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Explanation</a:t>
                      </a:r>
                      <a:endParaRPr lang="ko-KR" altLang="en-US"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7729922"/>
                  </a:ext>
                </a:extLst>
              </a:tr>
              <a:tr h="390621">
                <a:tc>
                  <a:txBody>
                    <a:bodyPr/>
                    <a:lstStyle/>
                    <a:p>
                      <a:pPr marL="0" algn="ctr" defTabSz="914400" rtl="0" eaLnBrk="1" latinLnBrk="1" hangingPunct="1"/>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booster</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800"/>
                        </a:spcAft>
                        <a:buClrTx/>
                        <a:buSzTx/>
                        <a:buFont typeface="Arial" panose="020B0604020202020204" pitchFamily="34" charset="0"/>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gbtree</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or </a:t>
                      </a: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gblinear</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417462398"/>
                  </a:ext>
                </a:extLst>
              </a:tr>
              <a:tr h="390621">
                <a:tc>
                  <a:txBody>
                    <a:bodyPr/>
                    <a:lstStyle/>
                    <a:p>
                      <a:pPr marL="0" algn="ctr" defTabSz="914400" rtl="0" eaLnBrk="1" latinLnBrk="1" hangingPunct="1"/>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n_estimators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1" hangingPunct="1">
                        <a:lnSpc>
                          <a:spcPct val="100000"/>
                        </a:lnSpc>
                        <a:spcBef>
                          <a:spcPts val="0"/>
                        </a:spcBef>
                        <a:spcAft>
                          <a:spcPts val="800"/>
                        </a:spcAft>
                        <a:buClrTx/>
                        <a:buSzTx/>
                        <a:buFont typeface="Arial" panose="020B0604020202020204" pitchFamily="34" charset="0"/>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number of boosting steps (weak learners)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97506961"/>
                  </a:ext>
                </a:extLst>
              </a:tr>
              <a:tr h="390621">
                <a:tc>
                  <a:txBody>
                    <a:bodyPr/>
                    <a:lstStyle/>
                    <a:p>
                      <a:pPr marL="0" algn="ctr" defTabSz="914400" rtl="0" eaLnBrk="1" latinLnBrk="1" hangingPunct="1"/>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learning_rate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contribution of each weak learner</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58278547"/>
                  </a:ext>
                </a:extLst>
              </a:tr>
              <a:tr h="39062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subsample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fraction of data that will be used by individual weak learner</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755441991"/>
                  </a:ext>
                </a:extLst>
              </a:tr>
            </a:tbl>
          </a:graphicData>
        </a:graphic>
      </p:graphicFrame>
      <p:sp>
        <p:nvSpPr>
          <p:cNvPr id="133" name="직사각형 132">
            <a:extLst>
              <a:ext uri="{FF2B5EF4-FFF2-40B4-BE49-F238E27FC236}">
                <a16:creationId xmlns:a16="http://schemas.microsoft.com/office/drawing/2014/main" id="{FC784DA2-FD8A-49F9-9022-4B5BC93377F5}"/>
              </a:ext>
            </a:extLst>
          </p:cNvPr>
          <p:cNvSpPr/>
          <p:nvPr/>
        </p:nvSpPr>
        <p:spPr>
          <a:xfrm>
            <a:off x="675556" y="3784965"/>
            <a:ext cx="8632825" cy="648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Need to be tuned for optimized performance.</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More information can be found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hlinkClick r:id="rId4"/>
              </a:rPr>
              <a:t>https://xgboost.readthedocs.io/en/latest/python/index.htm</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 </a:t>
            </a:r>
          </a:p>
        </p:txBody>
      </p:sp>
    </p:spTree>
    <p:extLst>
      <p:ext uri="{BB962C8B-B14F-4D97-AF65-F5344CB8AC3E}">
        <p14:creationId xmlns:p14="http://schemas.microsoft.com/office/powerpoint/2010/main" val="2718944228"/>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err="1">
                <a:solidFill>
                  <a:schemeClr val="tx1"/>
                </a:solidFill>
                <a:latin typeface="SamsungOne 400" panose="020B0503030303020204" pitchFamily="34" charset="0"/>
                <a:ea typeface="SamsungOne 400" panose="020B0503030303020204" pitchFamily="34" charset="0"/>
              </a:rPr>
              <a:t>XGBoost</a:t>
            </a:r>
            <a:r>
              <a:rPr lang="en-US" altLang="ko-KR" sz="1400" dirty="0">
                <a:solidFill>
                  <a:schemeClr val="tx1"/>
                </a:solidFill>
                <a:latin typeface="SamsungOne 400" panose="020B0503030303020204" pitchFamily="34" charset="0"/>
                <a:ea typeface="SamsungOne 400" panose="020B0503030303020204" pitchFamily="34" charset="0"/>
              </a:rPr>
              <a:t> </a:t>
            </a:r>
          </a:p>
        </p:txBody>
      </p:sp>
      <p:sp>
        <p:nvSpPr>
          <p:cNvPr id="8" name="직사각형 7">
            <a:extLst>
              <a:ext uri="{FF2B5EF4-FFF2-40B4-BE49-F238E27FC236}">
                <a16:creationId xmlns:a16="http://schemas.microsoft.com/office/drawing/2014/main" id="{F0844BA0-46F0-444A-A334-A68438243E78}"/>
              </a:ext>
            </a:extLst>
          </p:cNvPr>
          <p:cNvSpPr/>
          <p:nvPr/>
        </p:nvSpPr>
        <p:spPr>
          <a:xfrm>
            <a:off x="675556" y="1700213"/>
            <a:ext cx="8632825" cy="18535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XGBoost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is a library that implements the gradient boosting algorithm to be used in the distributed system.</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It supports both regression and classification problems. This popularly used algorithm features good performance and resource efficiency.</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Gradient boost is a representative algorithm using the boosting method.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XGBoost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is the library using this algorithm to support parallel training.</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It has been recently used a lot due to its high performance and computer resource application rate. It has become more popular as it was frequently used by top rankers of Kaggle.</a:t>
            </a:r>
          </a:p>
        </p:txBody>
      </p:sp>
    </p:spTree>
    <p:extLst>
      <p:ext uri="{BB962C8B-B14F-4D97-AF65-F5344CB8AC3E}">
        <p14:creationId xmlns:p14="http://schemas.microsoft.com/office/powerpoint/2010/main" val="1369954288"/>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Light GBM</a:t>
            </a:r>
          </a:p>
        </p:txBody>
      </p:sp>
      <p:sp>
        <p:nvSpPr>
          <p:cNvPr id="8" name="직사각형 7">
            <a:extLst>
              <a:ext uri="{FF2B5EF4-FFF2-40B4-BE49-F238E27FC236}">
                <a16:creationId xmlns:a16="http://schemas.microsoft.com/office/drawing/2014/main" id="{F0844BA0-46F0-444A-A334-A68438243E78}"/>
              </a:ext>
            </a:extLst>
          </p:cNvPr>
          <p:cNvSpPr/>
          <p:nvPr/>
        </p:nvSpPr>
        <p:spPr>
          <a:xfrm>
            <a:off x="675556" y="1700213"/>
            <a:ext cx="8632825" cy="1350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While the tree is vertically expanded with Light GBM, other algorithms expand the tree horizontally.</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b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In other words, while the Light GBM is leaf-wise, other algorithms are level-wise.</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For expansion, the leaf with max delta loss is selected. When expanding the same leaf, the leaf-wise algorithm can reduce more loss than the level-wise algorithm.</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following diagram shows how a boosting algorithm is implemented, which differs from the Light GBM.</a:t>
            </a:r>
          </a:p>
        </p:txBody>
      </p:sp>
      <p:grpSp>
        <p:nvGrpSpPr>
          <p:cNvPr id="35" name="그룹 34"/>
          <p:cNvGrpSpPr/>
          <p:nvPr/>
        </p:nvGrpSpPr>
        <p:grpSpPr>
          <a:xfrm>
            <a:off x="1576164" y="3265510"/>
            <a:ext cx="7147048" cy="2863790"/>
            <a:chOff x="1206996" y="3150300"/>
            <a:chExt cx="7147048" cy="2863790"/>
          </a:xfrm>
        </p:grpSpPr>
        <p:grpSp>
          <p:nvGrpSpPr>
            <p:cNvPr id="4" name="그룹 3">
              <a:extLst>
                <a:ext uri="{FF2B5EF4-FFF2-40B4-BE49-F238E27FC236}">
                  <a16:creationId xmlns:a16="http://schemas.microsoft.com/office/drawing/2014/main" id="{CD182A49-0E3E-46EF-8302-948B3C3B5BCD}"/>
                </a:ext>
              </a:extLst>
            </p:cNvPr>
            <p:cNvGrpSpPr/>
            <p:nvPr/>
          </p:nvGrpSpPr>
          <p:grpSpPr>
            <a:xfrm>
              <a:off x="1945331" y="3150300"/>
              <a:ext cx="6408713" cy="2863790"/>
              <a:chOff x="1823238" y="3139440"/>
              <a:chExt cx="6408713" cy="2863790"/>
            </a:xfrm>
          </p:grpSpPr>
          <p:pic>
            <p:nvPicPr>
              <p:cNvPr id="7" name="그림 6">
                <a:extLst>
                  <a:ext uri="{FF2B5EF4-FFF2-40B4-BE49-F238E27FC236}">
                    <a16:creationId xmlns:a16="http://schemas.microsoft.com/office/drawing/2014/main" id="{D6B279B7-14AF-4CD0-86A1-D2F852450BF4}"/>
                  </a:ext>
                </a:extLst>
              </p:cNvPr>
              <p:cNvPicPr>
                <a:picLocks noChangeAspect="1"/>
              </p:cNvPicPr>
              <p:nvPr/>
            </p:nvPicPr>
            <p:blipFill rotWithShape="1">
              <a:blip r:embed="rId4">
                <a:extLst>
                  <a:ext uri="{28A0092B-C50C-407E-A947-70E740481C1C}">
                    <a14:useLocalDpi xmlns:a14="http://schemas.microsoft.com/office/drawing/2010/main" val="0"/>
                  </a:ext>
                </a:extLst>
              </a:blip>
              <a:srcRect l="2908" t="42353" r="32376"/>
              <a:stretch/>
            </p:blipFill>
            <p:spPr>
              <a:xfrm>
                <a:off x="1823238" y="3139440"/>
                <a:ext cx="6408713" cy="2863790"/>
              </a:xfrm>
              <a:prstGeom prst="rect">
                <a:avLst/>
              </a:prstGeom>
            </p:spPr>
          </p:pic>
          <p:grpSp>
            <p:nvGrpSpPr>
              <p:cNvPr id="3" name="그룹 2">
                <a:extLst>
                  <a:ext uri="{FF2B5EF4-FFF2-40B4-BE49-F238E27FC236}">
                    <a16:creationId xmlns:a16="http://schemas.microsoft.com/office/drawing/2014/main" id="{65D5951A-AD8E-489D-8967-440E907D548E}"/>
                  </a:ext>
                </a:extLst>
              </p:cNvPr>
              <p:cNvGrpSpPr/>
              <p:nvPr/>
            </p:nvGrpSpPr>
            <p:grpSpPr>
              <a:xfrm>
                <a:off x="3165628" y="5126612"/>
                <a:ext cx="2373081" cy="816873"/>
                <a:chOff x="3165628" y="5126612"/>
                <a:chExt cx="2373081" cy="816873"/>
              </a:xfrm>
            </p:grpSpPr>
            <p:sp>
              <p:nvSpPr>
                <p:cNvPr id="9" name="TextBox 8">
                  <a:extLst>
                    <a:ext uri="{FF2B5EF4-FFF2-40B4-BE49-F238E27FC236}">
                      <a16:creationId xmlns:a16="http://schemas.microsoft.com/office/drawing/2014/main" id="{772DAC10-12BF-4BB2-8685-22E36CCFA40A}"/>
                    </a:ext>
                  </a:extLst>
                </p:cNvPr>
                <p:cNvSpPr txBox="1"/>
                <p:nvPr/>
              </p:nvSpPr>
              <p:spPr>
                <a:xfrm>
                  <a:off x="3165628" y="5126612"/>
                  <a:ext cx="2368556" cy="307777"/>
                </a:xfrm>
                <a:prstGeom prst="rect">
                  <a:avLst/>
                </a:prstGeom>
                <a:solidFill>
                  <a:schemeClr val="bg1"/>
                </a:solidFill>
              </p:spPr>
              <p:txBody>
                <a:bodyPr wrap="square">
                  <a:spAutoFit/>
                </a:bodyPr>
                <a:lstStyle/>
                <a:p>
                  <a:pPr algn="ctr"/>
                  <a:r>
                    <a:rPr lang="en-US" altLang="ko-KR" sz="1400" b="1" dirty="0">
                      <a:solidFill>
                        <a:schemeClr val="tx1">
                          <a:lumMod val="85000"/>
                          <a:lumOff val="15000"/>
                        </a:schemeClr>
                      </a:solidFill>
                      <a:latin typeface="SamsungOne 700" panose="020B0803030303020204" pitchFamily="34" charset="0"/>
                      <a:ea typeface="SamsungOne 700" panose="020B0803030303020204" pitchFamily="34" charset="0"/>
                    </a:rPr>
                    <a:t>Leaf-wise tree growth</a:t>
                  </a:r>
                  <a:endParaRPr lang="ko-KR" altLang="en-US" sz="1400" b="1" dirty="0">
                    <a:solidFill>
                      <a:schemeClr val="tx1">
                        <a:lumMod val="85000"/>
                        <a:lumOff val="15000"/>
                      </a:schemeClr>
                    </a:solidFill>
                    <a:latin typeface="SamsungOne 700" panose="020B0803030303020204" pitchFamily="34" charset="0"/>
                  </a:endParaRPr>
                </a:p>
              </p:txBody>
            </p:sp>
            <p:sp>
              <p:nvSpPr>
                <p:cNvPr id="11" name="TextBox 10">
                  <a:extLst>
                    <a:ext uri="{FF2B5EF4-FFF2-40B4-BE49-F238E27FC236}">
                      <a16:creationId xmlns:a16="http://schemas.microsoft.com/office/drawing/2014/main" id="{D94CDF4C-5EEC-4046-964C-512D16E0365F}"/>
                    </a:ext>
                  </a:extLst>
                </p:cNvPr>
                <p:cNvSpPr txBox="1"/>
                <p:nvPr/>
              </p:nvSpPr>
              <p:spPr>
                <a:xfrm>
                  <a:off x="3170153" y="5651097"/>
                  <a:ext cx="2368556" cy="292388"/>
                </a:xfrm>
                <a:prstGeom prst="rect">
                  <a:avLst/>
                </a:prstGeom>
                <a:solidFill>
                  <a:schemeClr val="bg1"/>
                </a:solidFill>
              </p:spPr>
              <p:txBody>
                <a:bodyPr wrap="square">
                  <a:spAutoFit/>
                </a:bodyPr>
                <a:lstStyle/>
                <a:p>
                  <a:pPr algn="ctr"/>
                  <a:r>
                    <a:rPr lang="en-US" altLang="ko-KR" sz="1300" b="1" dirty="0">
                      <a:solidFill>
                        <a:schemeClr val="tx1">
                          <a:lumMod val="85000"/>
                          <a:lumOff val="15000"/>
                        </a:schemeClr>
                      </a:solidFill>
                      <a:latin typeface="SamsungOne 400" panose="020B0503030303020204" pitchFamily="34" charset="0"/>
                      <a:ea typeface="SamsungOne 400" panose="020B0503030303020204" pitchFamily="34" charset="0"/>
                    </a:rPr>
                    <a:t>Light GBM operation method</a:t>
                  </a:r>
                  <a:endParaRPr lang="ko-KR" altLang="en-US" sz="1300" b="1" dirty="0">
                    <a:solidFill>
                      <a:schemeClr val="tx1">
                        <a:lumMod val="85000"/>
                        <a:lumOff val="15000"/>
                      </a:schemeClr>
                    </a:solidFill>
                    <a:latin typeface="SamsungOne 400" panose="020B0503030303020204" pitchFamily="34" charset="0"/>
                  </a:endParaRPr>
                </a:p>
              </p:txBody>
            </p:sp>
          </p:grpSp>
        </p:grpSp>
        <p:grpSp>
          <p:nvGrpSpPr>
            <p:cNvPr id="21" name="그룹 20"/>
            <p:cNvGrpSpPr/>
            <p:nvPr/>
          </p:nvGrpSpPr>
          <p:grpSpPr>
            <a:xfrm>
              <a:off x="1206996" y="3150300"/>
              <a:ext cx="6840760" cy="2438940"/>
              <a:chOff x="1206996" y="3150300"/>
              <a:chExt cx="6840760" cy="2438940"/>
            </a:xfrm>
          </p:grpSpPr>
          <p:sp>
            <p:nvSpPr>
              <p:cNvPr id="2" name="타원 1"/>
              <p:cNvSpPr/>
              <p:nvPr/>
            </p:nvSpPr>
            <p:spPr>
              <a:xfrm>
                <a:off x="2235872" y="3537012"/>
                <a:ext cx="252028" cy="2520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p:cNvSpPr/>
              <p:nvPr/>
            </p:nvSpPr>
            <p:spPr>
              <a:xfrm>
                <a:off x="2441866" y="4001832"/>
                <a:ext cx="252028" cy="2520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p:cNvSpPr/>
              <p:nvPr/>
            </p:nvSpPr>
            <p:spPr>
              <a:xfrm>
                <a:off x="2029564" y="4001832"/>
                <a:ext cx="252028" cy="25202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타원 15"/>
              <p:cNvSpPr/>
              <p:nvPr/>
            </p:nvSpPr>
            <p:spPr>
              <a:xfrm>
                <a:off x="3886846" y="3537012"/>
                <a:ext cx="252028" cy="2520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타원 16"/>
              <p:cNvSpPr/>
              <p:nvPr/>
            </p:nvSpPr>
            <p:spPr>
              <a:xfrm>
                <a:off x="4241695" y="4001832"/>
                <a:ext cx="252028" cy="2520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타원 17"/>
              <p:cNvSpPr/>
              <p:nvPr/>
            </p:nvSpPr>
            <p:spPr>
              <a:xfrm>
                <a:off x="3562125" y="4001832"/>
                <a:ext cx="252028" cy="2520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타원 18"/>
              <p:cNvSpPr/>
              <p:nvPr/>
            </p:nvSpPr>
            <p:spPr>
              <a:xfrm>
                <a:off x="3363696" y="4453772"/>
                <a:ext cx="252028" cy="2520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a:off x="3761478" y="4453772"/>
                <a:ext cx="252028" cy="25202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p:cNvSpPr/>
              <p:nvPr/>
            </p:nvSpPr>
            <p:spPr>
              <a:xfrm>
                <a:off x="2842260" y="3886200"/>
                <a:ext cx="640080" cy="433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직사각형 21"/>
              <p:cNvSpPr/>
              <p:nvPr/>
            </p:nvSpPr>
            <p:spPr>
              <a:xfrm>
                <a:off x="4533587" y="3911312"/>
                <a:ext cx="640080" cy="433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직사각형 25"/>
              <p:cNvSpPr/>
              <p:nvPr/>
            </p:nvSpPr>
            <p:spPr>
              <a:xfrm>
                <a:off x="6443815" y="3868766"/>
                <a:ext cx="640080" cy="433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a:off x="5716591" y="3537012"/>
                <a:ext cx="252028" cy="2520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5385711" y="4001832"/>
                <a:ext cx="252028" cy="2520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타원 28"/>
              <p:cNvSpPr/>
              <p:nvPr/>
            </p:nvSpPr>
            <p:spPr>
              <a:xfrm>
                <a:off x="5188907" y="4453772"/>
                <a:ext cx="252028" cy="2520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p:cNvSpPr/>
              <p:nvPr/>
            </p:nvSpPr>
            <p:spPr>
              <a:xfrm>
                <a:off x="5605817" y="4453772"/>
                <a:ext cx="252028" cy="2520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타원 30"/>
              <p:cNvSpPr/>
              <p:nvPr/>
            </p:nvSpPr>
            <p:spPr>
              <a:xfrm>
                <a:off x="5395796" y="4884113"/>
                <a:ext cx="252028" cy="2520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p:cNvSpPr/>
              <p:nvPr/>
            </p:nvSpPr>
            <p:spPr>
              <a:xfrm>
                <a:off x="5812706" y="4884113"/>
                <a:ext cx="252028" cy="2520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타원 32"/>
              <p:cNvSpPr/>
              <p:nvPr/>
            </p:nvSpPr>
            <p:spPr>
              <a:xfrm>
                <a:off x="6041874" y="4001832"/>
                <a:ext cx="252028" cy="25202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오른쪽 화살표 5"/>
              <p:cNvSpPr/>
              <p:nvPr/>
            </p:nvSpPr>
            <p:spPr>
              <a:xfrm>
                <a:off x="2971546" y="3791704"/>
                <a:ext cx="358318" cy="311088"/>
              </a:xfrm>
              <a:prstGeom prst="rightArrow">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오른쪽 화살표 33"/>
              <p:cNvSpPr/>
              <p:nvPr/>
            </p:nvSpPr>
            <p:spPr>
              <a:xfrm>
                <a:off x="4818424" y="3784611"/>
                <a:ext cx="358318" cy="311088"/>
              </a:xfrm>
              <a:prstGeom prst="rightArrow">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p:cNvSpPr/>
              <p:nvPr/>
            </p:nvSpPr>
            <p:spPr>
              <a:xfrm>
                <a:off x="1206996" y="3150300"/>
                <a:ext cx="6840760" cy="2438940"/>
              </a:xfrm>
              <a:prstGeom prst="rect">
                <a:avLst/>
              </a:prstGeom>
              <a:no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SamsungOne 400" panose="020B0503030303020204" pitchFamily="34" charset="0"/>
                </a:endParaRPr>
              </a:p>
            </p:txBody>
          </p:sp>
        </p:grpSp>
      </p:grpSp>
    </p:spTree>
    <p:extLst>
      <p:ext uri="{BB962C8B-B14F-4D97-AF65-F5344CB8AC3E}">
        <p14:creationId xmlns:p14="http://schemas.microsoft.com/office/powerpoint/2010/main" val="3843522606"/>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Boosting</a:t>
            </a:r>
          </a:p>
        </p:txBody>
      </p:sp>
      <p:sp>
        <p:nvSpPr>
          <p:cNvPr id="8" name="직사각형 7">
            <a:extLst>
              <a:ext uri="{FF2B5EF4-FFF2-40B4-BE49-F238E27FC236}">
                <a16:creationId xmlns:a16="http://schemas.microsoft.com/office/drawing/2014/main" id="{F0844BA0-46F0-444A-A334-A68438243E78}"/>
              </a:ext>
            </a:extLst>
          </p:cNvPr>
          <p:cNvSpPr/>
          <p:nvPr/>
        </p:nvSpPr>
        <p:spPr>
          <a:xfrm>
            <a:off x="675556" y="1700213"/>
            <a:ext cx="8632825" cy="12482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boosting algorithm is also ensemble learning.</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After sequentially learning weak learning machines, it supplements errors by adding weight to inaccurately predicted data from the previous learning.</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difference from other ensemble methods is that it performs sequential learning and supplements errors by adding weight. However, one of the disadvantages is that it is difficult to process parallel due to its sequential property, leading to a longer learning time compared to other ensembles.</a:t>
            </a:r>
          </a:p>
        </p:txBody>
      </p:sp>
      <p:grpSp>
        <p:nvGrpSpPr>
          <p:cNvPr id="3" name="그룹 2">
            <a:extLst>
              <a:ext uri="{FF2B5EF4-FFF2-40B4-BE49-F238E27FC236}">
                <a16:creationId xmlns:a16="http://schemas.microsoft.com/office/drawing/2014/main" id="{47A2A80F-F91E-418E-8CD4-6F6A2EEC1598}"/>
              </a:ext>
            </a:extLst>
          </p:cNvPr>
          <p:cNvGrpSpPr/>
          <p:nvPr/>
        </p:nvGrpSpPr>
        <p:grpSpPr>
          <a:xfrm>
            <a:off x="1783060" y="2960948"/>
            <a:ext cx="6264696" cy="3163387"/>
            <a:chOff x="1783060" y="3073925"/>
            <a:chExt cx="6264696" cy="3163387"/>
          </a:xfrm>
        </p:grpSpPr>
        <p:sp>
          <p:nvSpPr>
            <p:cNvPr id="20" name="직사각형 19">
              <a:extLst>
                <a:ext uri="{FF2B5EF4-FFF2-40B4-BE49-F238E27FC236}">
                  <a16:creationId xmlns:a16="http://schemas.microsoft.com/office/drawing/2014/main" id="{38778B84-05CA-40E5-986D-D2C393212630}"/>
                </a:ext>
              </a:extLst>
            </p:cNvPr>
            <p:cNvSpPr/>
            <p:nvPr/>
          </p:nvSpPr>
          <p:spPr>
            <a:xfrm>
              <a:off x="2588217" y="3073925"/>
              <a:ext cx="4654382" cy="4685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ctr" defTabSz="914400">
                <a:lnSpc>
                  <a:spcPct val="150000"/>
                </a:lnSpc>
                <a:spcAft>
                  <a:spcPts val="400"/>
                </a:spcAft>
                <a:buClr>
                  <a:srgbClr val="193EB0"/>
                </a:buClr>
              </a:pPr>
              <a:r>
                <a:rPr lang="en-US" altLang="ko-KR" sz="1400" b="1" dirty="0">
                  <a:solidFill>
                    <a:schemeClr val="tx1">
                      <a:lumMod val="85000"/>
                      <a:lumOff val="15000"/>
                    </a:schemeClr>
                  </a:solidFill>
                  <a:latin typeface="SamsungOne 400" panose="020B0503030303020204" pitchFamily="34" charset="0"/>
                  <a:ea typeface="SamsungOne 400" panose="020B0503030303020204" pitchFamily="34" charset="0"/>
                  <a:cs typeface="Times New Roman" panose="02020603050405020304" pitchFamily="18" charset="0"/>
                </a:rPr>
                <a:t>Single Estimator, Bagging, Boosting</a:t>
              </a:r>
            </a:p>
          </p:txBody>
        </p:sp>
        <p:sp>
          <p:nvSpPr>
            <p:cNvPr id="21" name="직사각형 20">
              <a:extLst>
                <a:ext uri="{FF2B5EF4-FFF2-40B4-BE49-F238E27FC236}">
                  <a16:creationId xmlns:a16="http://schemas.microsoft.com/office/drawing/2014/main" id="{7A0C3107-FC0B-436A-A1A4-EF59A0CF8931}"/>
                </a:ext>
              </a:extLst>
            </p:cNvPr>
            <p:cNvSpPr/>
            <p:nvPr/>
          </p:nvSpPr>
          <p:spPr>
            <a:xfrm>
              <a:off x="1783060" y="3573566"/>
              <a:ext cx="2088232" cy="2663746"/>
            </a:xfrm>
            <a:prstGeom prst="rect">
              <a:avLst/>
            </a:prstGeom>
            <a:solidFill>
              <a:srgbClr val="E26C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직사각형 21">
              <a:extLst>
                <a:ext uri="{FF2B5EF4-FFF2-40B4-BE49-F238E27FC236}">
                  <a16:creationId xmlns:a16="http://schemas.microsoft.com/office/drawing/2014/main" id="{EF3A3929-2B83-408F-A6A2-52BCE6BD0EE3}"/>
                </a:ext>
              </a:extLst>
            </p:cNvPr>
            <p:cNvSpPr/>
            <p:nvPr/>
          </p:nvSpPr>
          <p:spPr>
            <a:xfrm>
              <a:off x="3871292" y="3573566"/>
              <a:ext cx="2088232" cy="2663746"/>
            </a:xfrm>
            <a:prstGeom prst="rect">
              <a:avLst/>
            </a:prstGeom>
            <a:solidFill>
              <a:srgbClr val="DD51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6" name="직사각형 25">
              <a:extLst>
                <a:ext uri="{FF2B5EF4-FFF2-40B4-BE49-F238E27FC236}">
                  <a16:creationId xmlns:a16="http://schemas.microsoft.com/office/drawing/2014/main" id="{1B107D17-A6C3-4472-84AC-E3F89A788DF9}"/>
                </a:ext>
              </a:extLst>
            </p:cNvPr>
            <p:cNvSpPr/>
            <p:nvPr/>
          </p:nvSpPr>
          <p:spPr>
            <a:xfrm>
              <a:off x="5959524" y="3573566"/>
              <a:ext cx="2088232" cy="2663746"/>
            </a:xfrm>
            <a:prstGeom prst="rect">
              <a:avLst/>
            </a:prstGeom>
            <a:solidFill>
              <a:srgbClr val="DA3B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19">
              <a:extLst>
                <a:ext uri="{FF2B5EF4-FFF2-40B4-BE49-F238E27FC236}">
                  <a16:creationId xmlns:a16="http://schemas.microsoft.com/office/drawing/2014/main" id="{11913D72-8E0D-4C0B-98F7-75DE34B689BD}"/>
                </a:ext>
              </a:extLst>
            </p:cNvPr>
            <p:cNvSpPr/>
            <p:nvPr/>
          </p:nvSpPr>
          <p:spPr>
            <a:xfrm>
              <a:off x="2119299" y="3573566"/>
              <a:ext cx="1415754" cy="3000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ctr" defTabSz="914400">
                <a:lnSpc>
                  <a:spcPct val="150000"/>
                </a:lnSpc>
                <a:spcAft>
                  <a:spcPts val="400"/>
                </a:spcAft>
                <a:buClr>
                  <a:srgbClr val="193EB0"/>
                </a:buClr>
              </a:pPr>
              <a:r>
                <a:rPr lang="en-US" altLang="ko-KR" sz="1300"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single</a:t>
              </a:r>
            </a:p>
          </p:txBody>
        </p:sp>
        <p:sp>
          <p:nvSpPr>
            <p:cNvPr id="28" name="직사각형 19">
              <a:extLst>
                <a:ext uri="{FF2B5EF4-FFF2-40B4-BE49-F238E27FC236}">
                  <a16:creationId xmlns:a16="http://schemas.microsoft.com/office/drawing/2014/main" id="{53690816-1C53-45A8-8ECC-9607D53F66FF}"/>
                </a:ext>
              </a:extLst>
            </p:cNvPr>
            <p:cNvSpPr/>
            <p:nvPr/>
          </p:nvSpPr>
          <p:spPr>
            <a:xfrm>
              <a:off x="4207531" y="3573566"/>
              <a:ext cx="1415754" cy="3000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ctr" defTabSz="914400">
                <a:lnSpc>
                  <a:spcPct val="150000"/>
                </a:lnSpc>
                <a:spcAft>
                  <a:spcPts val="400"/>
                </a:spcAft>
                <a:buClr>
                  <a:srgbClr val="193EB0"/>
                </a:buClr>
              </a:pPr>
              <a:r>
                <a:rPr lang="en-US" altLang="ko-KR" sz="1300"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bagging</a:t>
              </a:r>
            </a:p>
          </p:txBody>
        </p:sp>
        <p:sp>
          <p:nvSpPr>
            <p:cNvPr id="29" name="직사각형 19">
              <a:extLst>
                <a:ext uri="{FF2B5EF4-FFF2-40B4-BE49-F238E27FC236}">
                  <a16:creationId xmlns:a16="http://schemas.microsoft.com/office/drawing/2014/main" id="{43B13C49-A363-4CB9-86C5-6B41EED21B3B}"/>
                </a:ext>
              </a:extLst>
            </p:cNvPr>
            <p:cNvSpPr/>
            <p:nvPr/>
          </p:nvSpPr>
          <p:spPr>
            <a:xfrm>
              <a:off x="6295763" y="3573566"/>
              <a:ext cx="1415754" cy="3000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ctr" defTabSz="914400">
                <a:lnSpc>
                  <a:spcPct val="150000"/>
                </a:lnSpc>
                <a:spcAft>
                  <a:spcPts val="400"/>
                </a:spcAft>
                <a:buClr>
                  <a:srgbClr val="193EB0"/>
                </a:buClr>
              </a:pPr>
              <a:r>
                <a:rPr lang="en-US" altLang="ko-KR" sz="1300"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boosting</a:t>
              </a:r>
            </a:p>
          </p:txBody>
        </p:sp>
        <p:sp>
          <p:nvSpPr>
            <p:cNvPr id="30" name="직사각형 19">
              <a:extLst>
                <a:ext uri="{FF2B5EF4-FFF2-40B4-BE49-F238E27FC236}">
                  <a16:creationId xmlns:a16="http://schemas.microsoft.com/office/drawing/2014/main" id="{767CCEB0-6D6A-4897-8444-E9FE9FBEC23F}"/>
                </a:ext>
              </a:extLst>
            </p:cNvPr>
            <p:cNvSpPr/>
            <p:nvPr/>
          </p:nvSpPr>
          <p:spPr>
            <a:xfrm>
              <a:off x="2119299" y="5839380"/>
              <a:ext cx="1415754"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ctr" defTabSz="914400">
                <a:lnSpc>
                  <a:spcPct val="150000"/>
                </a:lnSpc>
                <a:spcAft>
                  <a:spcPts val="400"/>
                </a:spcAft>
                <a:buClr>
                  <a:srgbClr val="193EB0"/>
                </a:buClr>
              </a:pPr>
              <a:r>
                <a:rPr lang="en-US" altLang="ko-KR" sz="1100"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1 iteration</a:t>
              </a:r>
            </a:p>
          </p:txBody>
        </p:sp>
        <p:sp>
          <p:nvSpPr>
            <p:cNvPr id="31" name="직사각형 19">
              <a:extLst>
                <a:ext uri="{FF2B5EF4-FFF2-40B4-BE49-F238E27FC236}">
                  <a16:creationId xmlns:a16="http://schemas.microsoft.com/office/drawing/2014/main" id="{8583B6BE-1C01-4F40-9B2A-4EFCD01FBF31}"/>
                </a:ext>
              </a:extLst>
            </p:cNvPr>
            <p:cNvSpPr/>
            <p:nvPr/>
          </p:nvSpPr>
          <p:spPr>
            <a:xfrm>
              <a:off x="4207531" y="5839380"/>
              <a:ext cx="1415754"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ctr" defTabSz="914400">
                <a:lnSpc>
                  <a:spcPct val="150000"/>
                </a:lnSpc>
                <a:spcAft>
                  <a:spcPts val="400"/>
                </a:spcAft>
                <a:buClr>
                  <a:srgbClr val="193EB0"/>
                </a:buClr>
              </a:pPr>
              <a:r>
                <a:rPr lang="en-US" altLang="ko-KR" sz="1100"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parallel</a:t>
              </a:r>
            </a:p>
          </p:txBody>
        </p:sp>
        <p:sp>
          <p:nvSpPr>
            <p:cNvPr id="32" name="직사각형 19">
              <a:extLst>
                <a:ext uri="{FF2B5EF4-FFF2-40B4-BE49-F238E27FC236}">
                  <a16:creationId xmlns:a16="http://schemas.microsoft.com/office/drawing/2014/main" id="{0CA451F8-037E-46AB-8BA5-8DF1DB184ABA}"/>
                </a:ext>
              </a:extLst>
            </p:cNvPr>
            <p:cNvSpPr/>
            <p:nvPr/>
          </p:nvSpPr>
          <p:spPr>
            <a:xfrm>
              <a:off x="6295763" y="5839380"/>
              <a:ext cx="1415754" cy="253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ctr" defTabSz="914400">
                <a:lnSpc>
                  <a:spcPct val="150000"/>
                </a:lnSpc>
                <a:spcAft>
                  <a:spcPts val="400"/>
                </a:spcAft>
                <a:buClr>
                  <a:srgbClr val="193EB0"/>
                </a:buClr>
              </a:pPr>
              <a:r>
                <a:rPr lang="en-US" altLang="ko-KR" sz="1100"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sequential</a:t>
              </a:r>
            </a:p>
          </p:txBody>
        </p:sp>
        <p:sp>
          <p:nvSpPr>
            <p:cNvPr id="33" name="직사각형 32">
              <a:extLst>
                <a:ext uri="{FF2B5EF4-FFF2-40B4-BE49-F238E27FC236}">
                  <a16:creationId xmlns:a16="http://schemas.microsoft.com/office/drawing/2014/main" id="{8DC1C119-F3D5-43AD-B626-15A5CCC10187}"/>
                </a:ext>
              </a:extLst>
            </p:cNvPr>
            <p:cNvSpPr/>
            <p:nvPr/>
          </p:nvSpPr>
          <p:spPr>
            <a:xfrm>
              <a:off x="1855068" y="3928579"/>
              <a:ext cx="1944216" cy="2206039"/>
            </a:xfrm>
            <a:prstGeom prst="rect">
              <a:avLst/>
            </a:prstGeom>
            <a:noFill/>
            <a:ln w="952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1765CD2B-30A9-4A3A-8A2E-8CA161DD4F72}"/>
                </a:ext>
              </a:extLst>
            </p:cNvPr>
            <p:cNvSpPr/>
            <p:nvPr/>
          </p:nvSpPr>
          <p:spPr>
            <a:xfrm>
              <a:off x="3943300" y="3928579"/>
              <a:ext cx="1944216" cy="2206039"/>
            </a:xfrm>
            <a:prstGeom prst="rect">
              <a:avLst/>
            </a:prstGeom>
            <a:noFill/>
            <a:ln w="952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5DD5FD2F-C4F6-42DE-AA83-38150500A0B7}"/>
                </a:ext>
              </a:extLst>
            </p:cNvPr>
            <p:cNvSpPr/>
            <p:nvPr/>
          </p:nvSpPr>
          <p:spPr>
            <a:xfrm>
              <a:off x="6031532" y="3928579"/>
              <a:ext cx="1944216" cy="2206039"/>
            </a:xfrm>
            <a:prstGeom prst="rect">
              <a:avLst/>
            </a:prstGeom>
            <a:noFill/>
            <a:ln w="952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6" name="그룹 35">
              <a:extLst>
                <a:ext uri="{FF2B5EF4-FFF2-40B4-BE49-F238E27FC236}">
                  <a16:creationId xmlns:a16="http://schemas.microsoft.com/office/drawing/2014/main" id="{45B068B5-32BC-4519-84C2-7BA19E762E63}"/>
                </a:ext>
              </a:extLst>
            </p:cNvPr>
            <p:cNvGrpSpPr/>
            <p:nvPr/>
          </p:nvGrpSpPr>
          <p:grpSpPr>
            <a:xfrm>
              <a:off x="2229149" y="4604578"/>
              <a:ext cx="504160" cy="504160"/>
              <a:chOff x="1899819" y="4735978"/>
              <a:chExt cx="504160" cy="504160"/>
            </a:xfrm>
          </p:grpSpPr>
          <p:sp>
            <p:nvSpPr>
              <p:cNvPr id="37" name="타원 36">
                <a:extLst>
                  <a:ext uri="{FF2B5EF4-FFF2-40B4-BE49-F238E27FC236}">
                    <a16:creationId xmlns:a16="http://schemas.microsoft.com/office/drawing/2014/main" id="{E67369EC-DD1B-4430-A14A-852ECEFDEEE3}"/>
                  </a:ext>
                </a:extLst>
              </p:cNvPr>
              <p:cNvSpPr/>
              <p:nvPr/>
            </p:nvSpPr>
            <p:spPr>
              <a:xfrm>
                <a:off x="1899819" y="4735978"/>
                <a:ext cx="504160" cy="504160"/>
              </a:xfrm>
              <a:prstGeom prst="ellipse">
                <a:avLst/>
              </a:prstGeom>
              <a:noFill/>
              <a:ln w="1270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3F031688-4715-4285-8EF0-BAB2EB6E9227}"/>
                  </a:ext>
                </a:extLst>
              </p:cNvPr>
              <p:cNvSpPr/>
              <p:nvPr/>
            </p:nvSpPr>
            <p:spPr>
              <a:xfrm flipV="1">
                <a:off x="2053244" y="4797251"/>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타원 38">
                <a:extLst>
                  <a:ext uri="{FF2B5EF4-FFF2-40B4-BE49-F238E27FC236}">
                    <a16:creationId xmlns:a16="http://schemas.microsoft.com/office/drawing/2014/main" id="{7B48DD4D-82E7-4B53-8E77-39BA9E6953FB}"/>
                  </a:ext>
                </a:extLst>
              </p:cNvPr>
              <p:cNvSpPr/>
              <p:nvPr/>
            </p:nvSpPr>
            <p:spPr>
              <a:xfrm flipV="1">
                <a:off x="2017244" y="489452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7AFF7E64-56C4-4B73-83A2-0220C22F3210}"/>
                  </a:ext>
                </a:extLst>
              </p:cNvPr>
              <p:cNvSpPr/>
              <p:nvPr/>
            </p:nvSpPr>
            <p:spPr>
              <a:xfrm flipV="1">
                <a:off x="2215108" y="4970058"/>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타원 40">
                <a:extLst>
                  <a:ext uri="{FF2B5EF4-FFF2-40B4-BE49-F238E27FC236}">
                    <a16:creationId xmlns:a16="http://schemas.microsoft.com/office/drawing/2014/main" id="{410B23E3-FCCB-4665-88BC-D0F884791C62}"/>
                  </a:ext>
                </a:extLst>
              </p:cNvPr>
              <p:cNvSpPr/>
              <p:nvPr/>
            </p:nvSpPr>
            <p:spPr>
              <a:xfrm flipV="1">
                <a:off x="2179108" y="5067331"/>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C05922DA-59D7-4D6A-9341-675F9AE2562C}"/>
                  </a:ext>
                </a:extLst>
              </p:cNvPr>
              <p:cNvSpPr/>
              <p:nvPr/>
            </p:nvSpPr>
            <p:spPr>
              <a:xfrm flipV="1">
                <a:off x="2107100" y="5002447"/>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타원 42">
                <a:extLst>
                  <a:ext uri="{FF2B5EF4-FFF2-40B4-BE49-F238E27FC236}">
                    <a16:creationId xmlns:a16="http://schemas.microsoft.com/office/drawing/2014/main" id="{949E0D27-EC7D-461D-8347-1FD23DAD4E73}"/>
                  </a:ext>
                </a:extLst>
              </p:cNvPr>
              <p:cNvSpPr/>
              <p:nvPr/>
            </p:nvSpPr>
            <p:spPr>
              <a:xfrm flipV="1">
                <a:off x="2071100" y="5099720"/>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5689DE80-DE50-47D7-989F-9F4C533AA4D5}"/>
                  </a:ext>
                </a:extLst>
              </p:cNvPr>
              <p:cNvSpPr/>
              <p:nvPr/>
            </p:nvSpPr>
            <p:spPr>
              <a:xfrm flipV="1">
                <a:off x="2215108" y="4809086"/>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타원 44">
                <a:extLst>
                  <a:ext uri="{FF2B5EF4-FFF2-40B4-BE49-F238E27FC236}">
                    <a16:creationId xmlns:a16="http://schemas.microsoft.com/office/drawing/2014/main" id="{079E3ACD-4DFF-4825-BE52-B97B083B765E}"/>
                  </a:ext>
                </a:extLst>
              </p:cNvPr>
              <p:cNvSpPr/>
              <p:nvPr/>
            </p:nvSpPr>
            <p:spPr>
              <a:xfrm flipV="1">
                <a:off x="2179108" y="4906359"/>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45">
                <a:extLst>
                  <a:ext uri="{FF2B5EF4-FFF2-40B4-BE49-F238E27FC236}">
                    <a16:creationId xmlns:a16="http://schemas.microsoft.com/office/drawing/2014/main" id="{8CDFEE4E-6CDD-48C6-B7E4-534F0BE36DF1}"/>
                  </a:ext>
                </a:extLst>
              </p:cNvPr>
              <p:cNvSpPr/>
              <p:nvPr/>
            </p:nvSpPr>
            <p:spPr>
              <a:xfrm flipV="1">
                <a:off x="2272716" y="505320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타원 46">
                <a:extLst>
                  <a:ext uri="{FF2B5EF4-FFF2-40B4-BE49-F238E27FC236}">
                    <a16:creationId xmlns:a16="http://schemas.microsoft.com/office/drawing/2014/main" id="{DD3120EF-B2DD-4B5C-BE1F-56AC1625A1F7}"/>
                  </a:ext>
                </a:extLst>
              </p:cNvPr>
              <p:cNvSpPr/>
              <p:nvPr/>
            </p:nvSpPr>
            <p:spPr>
              <a:xfrm flipV="1">
                <a:off x="2133950" y="4831322"/>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타원 47">
                <a:extLst>
                  <a:ext uri="{FF2B5EF4-FFF2-40B4-BE49-F238E27FC236}">
                    <a16:creationId xmlns:a16="http://schemas.microsoft.com/office/drawing/2014/main" id="{EC144F9A-F632-4BAD-843C-99D888999C91}"/>
                  </a:ext>
                </a:extLst>
              </p:cNvPr>
              <p:cNvSpPr/>
              <p:nvPr/>
            </p:nvSpPr>
            <p:spPr>
              <a:xfrm flipV="1">
                <a:off x="2097950" y="4928595"/>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68904E18-C963-4A48-AF4F-BC747EE505E2}"/>
                  </a:ext>
                </a:extLst>
              </p:cNvPr>
              <p:cNvSpPr/>
              <p:nvPr/>
            </p:nvSpPr>
            <p:spPr>
              <a:xfrm flipV="1">
                <a:off x="2269223" y="4893007"/>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타원 49">
                <a:extLst>
                  <a:ext uri="{FF2B5EF4-FFF2-40B4-BE49-F238E27FC236}">
                    <a16:creationId xmlns:a16="http://schemas.microsoft.com/office/drawing/2014/main" id="{C0EB91B1-A1CC-4AC3-8BE3-8E624FD96F3A}"/>
                  </a:ext>
                </a:extLst>
              </p:cNvPr>
              <p:cNvSpPr/>
              <p:nvPr/>
            </p:nvSpPr>
            <p:spPr>
              <a:xfrm flipV="1">
                <a:off x="2326831" y="4976153"/>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타원 50">
                <a:extLst>
                  <a:ext uri="{FF2B5EF4-FFF2-40B4-BE49-F238E27FC236}">
                    <a16:creationId xmlns:a16="http://schemas.microsoft.com/office/drawing/2014/main" id="{00031DEE-BD22-4F63-9E8A-234D187EA1FD}"/>
                  </a:ext>
                </a:extLst>
              </p:cNvPr>
              <p:cNvSpPr/>
              <p:nvPr/>
            </p:nvSpPr>
            <p:spPr>
              <a:xfrm flipV="1">
                <a:off x="1948569" y="498072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타원 51">
                <a:extLst>
                  <a:ext uri="{FF2B5EF4-FFF2-40B4-BE49-F238E27FC236}">
                    <a16:creationId xmlns:a16="http://schemas.microsoft.com/office/drawing/2014/main" id="{244F1C3F-E874-4A7F-A410-7D4B13C4D1BA}"/>
                  </a:ext>
                </a:extLst>
              </p:cNvPr>
              <p:cNvSpPr/>
              <p:nvPr/>
            </p:nvSpPr>
            <p:spPr>
              <a:xfrm flipV="1">
                <a:off x="2006177" y="5063870"/>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타원 52">
                <a:extLst>
                  <a:ext uri="{FF2B5EF4-FFF2-40B4-BE49-F238E27FC236}">
                    <a16:creationId xmlns:a16="http://schemas.microsoft.com/office/drawing/2014/main" id="{781F342C-2402-49FF-82C6-C4D29C2241EE}"/>
                  </a:ext>
                </a:extLst>
              </p:cNvPr>
              <p:cNvSpPr/>
              <p:nvPr/>
            </p:nvSpPr>
            <p:spPr>
              <a:xfrm flipV="1">
                <a:off x="2088389" y="5164558"/>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54" name="직선 화살표 연결선 53">
              <a:extLst>
                <a:ext uri="{FF2B5EF4-FFF2-40B4-BE49-F238E27FC236}">
                  <a16:creationId xmlns:a16="http://schemas.microsoft.com/office/drawing/2014/main" id="{D4B7D86D-A0AA-4083-9FAB-DA02CB296B75}"/>
                </a:ext>
              </a:extLst>
            </p:cNvPr>
            <p:cNvCxnSpPr/>
            <p:nvPr/>
          </p:nvCxnSpPr>
          <p:spPr>
            <a:xfrm>
              <a:off x="2733309" y="4838658"/>
              <a:ext cx="265604" cy="0"/>
            </a:xfrm>
            <a:prstGeom prst="straightConnector1">
              <a:avLst/>
            </a:prstGeom>
            <a:ln>
              <a:solidFill>
                <a:srgbClr val="FDDC96"/>
              </a:solidFill>
              <a:tailEnd type="triangle"/>
            </a:ln>
          </p:spPr>
          <p:style>
            <a:lnRef idx="1">
              <a:schemeClr val="accent1"/>
            </a:lnRef>
            <a:fillRef idx="0">
              <a:schemeClr val="accent1"/>
            </a:fillRef>
            <a:effectRef idx="0">
              <a:schemeClr val="accent1"/>
            </a:effectRef>
            <a:fontRef idx="minor">
              <a:schemeClr val="tx1"/>
            </a:fontRef>
          </p:style>
        </p:cxnSp>
        <p:sp>
          <p:nvSpPr>
            <p:cNvPr id="55" name="타원 54">
              <a:extLst>
                <a:ext uri="{FF2B5EF4-FFF2-40B4-BE49-F238E27FC236}">
                  <a16:creationId xmlns:a16="http://schemas.microsoft.com/office/drawing/2014/main" id="{9C40C949-71C5-43C9-B377-8FF7601E634A}"/>
                </a:ext>
              </a:extLst>
            </p:cNvPr>
            <p:cNvSpPr/>
            <p:nvPr/>
          </p:nvSpPr>
          <p:spPr>
            <a:xfrm>
              <a:off x="3079204" y="4663444"/>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6" name="그룹 55">
              <a:extLst>
                <a:ext uri="{FF2B5EF4-FFF2-40B4-BE49-F238E27FC236}">
                  <a16:creationId xmlns:a16="http://schemas.microsoft.com/office/drawing/2014/main" id="{492589CA-26F1-4C13-9281-838B5F18A793}"/>
                </a:ext>
              </a:extLst>
            </p:cNvPr>
            <p:cNvGrpSpPr/>
            <p:nvPr/>
          </p:nvGrpSpPr>
          <p:grpSpPr>
            <a:xfrm>
              <a:off x="4396809" y="4022285"/>
              <a:ext cx="504160" cy="504160"/>
              <a:chOff x="1899819" y="4735978"/>
              <a:chExt cx="504160" cy="504160"/>
            </a:xfrm>
          </p:grpSpPr>
          <p:sp>
            <p:nvSpPr>
              <p:cNvPr id="57" name="타원 56">
                <a:extLst>
                  <a:ext uri="{FF2B5EF4-FFF2-40B4-BE49-F238E27FC236}">
                    <a16:creationId xmlns:a16="http://schemas.microsoft.com/office/drawing/2014/main" id="{508E9388-3202-4120-B80C-C3EB5CA05BC7}"/>
                  </a:ext>
                </a:extLst>
              </p:cNvPr>
              <p:cNvSpPr/>
              <p:nvPr/>
            </p:nvSpPr>
            <p:spPr>
              <a:xfrm>
                <a:off x="1899819" y="4735978"/>
                <a:ext cx="504160" cy="504160"/>
              </a:xfrm>
              <a:prstGeom prst="ellipse">
                <a:avLst/>
              </a:prstGeom>
              <a:noFill/>
              <a:ln w="1270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타원 57">
                <a:extLst>
                  <a:ext uri="{FF2B5EF4-FFF2-40B4-BE49-F238E27FC236}">
                    <a16:creationId xmlns:a16="http://schemas.microsoft.com/office/drawing/2014/main" id="{78553B15-EBD0-4F54-9D1F-82850EA8A545}"/>
                  </a:ext>
                </a:extLst>
              </p:cNvPr>
              <p:cNvSpPr/>
              <p:nvPr/>
            </p:nvSpPr>
            <p:spPr>
              <a:xfrm flipV="1">
                <a:off x="2053244" y="4797251"/>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타원 58">
                <a:extLst>
                  <a:ext uri="{FF2B5EF4-FFF2-40B4-BE49-F238E27FC236}">
                    <a16:creationId xmlns:a16="http://schemas.microsoft.com/office/drawing/2014/main" id="{3D8BB183-5C90-44F5-B2EF-EEFC3DE4595F}"/>
                  </a:ext>
                </a:extLst>
              </p:cNvPr>
              <p:cNvSpPr/>
              <p:nvPr/>
            </p:nvSpPr>
            <p:spPr>
              <a:xfrm flipV="1">
                <a:off x="2017244" y="489452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타원 59">
                <a:extLst>
                  <a:ext uri="{FF2B5EF4-FFF2-40B4-BE49-F238E27FC236}">
                    <a16:creationId xmlns:a16="http://schemas.microsoft.com/office/drawing/2014/main" id="{D503873F-AA68-4C80-A5F5-ECC665173885}"/>
                  </a:ext>
                </a:extLst>
              </p:cNvPr>
              <p:cNvSpPr/>
              <p:nvPr/>
            </p:nvSpPr>
            <p:spPr>
              <a:xfrm flipV="1">
                <a:off x="2215108" y="4970058"/>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1" name="타원 60">
                <a:extLst>
                  <a:ext uri="{FF2B5EF4-FFF2-40B4-BE49-F238E27FC236}">
                    <a16:creationId xmlns:a16="http://schemas.microsoft.com/office/drawing/2014/main" id="{958AD5A3-C0D4-42F0-8BDC-8FB4532FCEC4}"/>
                  </a:ext>
                </a:extLst>
              </p:cNvPr>
              <p:cNvSpPr/>
              <p:nvPr/>
            </p:nvSpPr>
            <p:spPr>
              <a:xfrm flipV="1">
                <a:off x="2179108" y="5067331"/>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타원 61">
                <a:extLst>
                  <a:ext uri="{FF2B5EF4-FFF2-40B4-BE49-F238E27FC236}">
                    <a16:creationId xmlns:a16="http://schemas.microsoft.com/office/drawing/2014/main" id="{9579DF5C-62C7-47DB-B924-8A9B0D4EFE61}"/>
                  </a:ext>
                </a:extLst>
              </p:cNvPr>
              <p:cNvSpPr/>
              <p:nvPr/>
            </p:nvSpPr>
            <p:spPr>
              <a:xfrm flipV="1">
                <a:off x="2107100" y="5002447"/>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타원 62">
                <a:extLst>
                  <a:ext uri="{FF2B5EF4-FFF2-40B4-BE49-F238E27FC236}">
                    <a16:creationId xmlns:a16="http://schemas.microsoft.com/office/drawing/2014/main" id="{B789D6B8-EC2E-41E0-9B45-B16456911CB0}"/>
                  </a:ext>
                </a:extLst>
              </p:cNvPr>
              <p:cNvSpPr/>
              <p:nvPr/>
            </p:nvSpPr>
            <p:spPr>
              <a:xfrm flipV="1">
                <a:off x="2071100" y="5099720"/>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타원 63">
                <a:extLst>
                  <a:ext uri="{FF2B5EF4-FFF2-40B4-BE49-F238E27FC236}">
                    <a16:creationId xmlns:a16="http://schemas.microsoft.com/office/drawing/2014/main" id="{82E91E30-70FF-40DF-B85A-1ADDD589B1B7}"/>
                  </a:ext>
                </a:extLst>
              </p:cNvPr>
              <p:cNvSpPr/>
              <p:nvPr/>
            </p:nvSpPr>
            <p:spPr>
              <a:xfrm flipV="1">
                <a:off x="2215108" y="4809086"/>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5" name="타원 64">
                <a:extLst>
                  <a:ext uri="{FF2B5EF4-FFF2-40B4-BE49-F238E27FC236}">
                    <a16:creationId xmlns:a16="http://schemas.microsoft.com/office/drawing/2014/main" id="{81009763-0A14-417E-AF85-110CAC4FB136}"/>
                  </a:ext>
                </a:extLst>
              </p:cNvPr>
              <p:cNvSpPr/>
              <p:nvPr/>
            </p:nvSpPr>
            <p:spPr>
              <a:xfrm flipV="1">
                <a:off x="2179108" y="4906359"/>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6" name="타원 65">
                <a:extLst>
                  <a:ext uri="{FF2B5EF4-FFF2-40B4-BE49-F238E27FC236}">
                    <a16:creationId xmlns:a16="http://schemas.microsoft.com/office/drawing/2014/main" id="{6E2BF8B0-D55F-49FE-BAD8-B1CD82C863B6}"/>
                  </a:ext>
                </a:extLst>
              </p:cNvPr>
              <p:cNvSpPr/>
              <p:nvPr/>
            </p:nvSpPr>
            <p:spPr>
              <a:xfrm flipV="1">
                <a:off x="2272716" y="505320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타원 66">
                <a:extLst>
                  <a:ext uri="{FF2B5EF4-FFF2-40B4-BE49-F238E27FC236}">
                    <a16:creationId xmlns:a16="http://schemas.microsoft.com/office/drawing/2014/main" id="{40A215A6-E79E-4888-96C7-EEC1C37DCF32}"/>
                  </a:ext>
                </a:extLst>
              </p:cNvPr>
              <p:cNvSpPr/>
              <p:nvPr/>
            </p:nvSpPr>
            <p:spPr>
              <a:xfrm flipV="1">
                <a:off x="2133950" y="4831322"/>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a:extLst>
                  <a:ext uri="{FF2B5EF4-FFF2-40B4-BE49-F238E27FC236}">
                    <a16:creationId xmlns:a16="http://schemas.microsoft.com/office/drawing/2014/main" id="{50D3ABDF-4EC2-4DC4-97CE-80B232D56391}"/>
                  </a:ext>
                </a:extLst>
              </p:cNvPr>
              <p:cNvSpPr/>
              <p:nvPr/>
            </p:nvSpPr>
            <p:spPr>
              <a:xfrm flipV="1">
                <a:off x="2097950" y="4928595"/>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a:extLst>
                  <a:ext uri="{FF2B5EF4-FFF2-40B4-BE49-F238E27FC236}">
                    <a16:creationId xmlns:a16="http://schemas.microsoft.com/office/drawing/2014/main" id="{95B853A0-B7FC-4365-AB88-80C38D835235}"/>
                  </a:ext>
                </a:extLst>
              </p:cNvPr>
              <p:cNvSpPr/>
              <p:nvPr/>
            </p:nvSpPr>
            <p:spPr>
              <a:xfrm flipV="1">
                <a:off x="2269223" y="4893007"/>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a:extLst>
                  <a:ext uri="{FF2B5EF4-FFF2-40B4-BE49-F238E27FC236}">
                    <a16:creationId xmlns:a16="http://schemas.microsoft.com/office/drawing/2014/main" id="{EBEFF9A2-0FFC-4908-B030-4EF590855D3F}"/>
                  </a:ext>
                </a:extLst>
              </p:cNvPr>
              <p:cNvSpPr/>
              <p:nvPr/>
            </p:nvSpPr>
            <p:spPr>
              <a:xfrm flipV="1">
                <a:off x="2326831" y="4976153"/>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타원 70">
                <a:extLst>
                  <a:ext uri="{FF2B5EF4-FFF2-40B4-BE49-F238E27FC236}">
                    <a16:creationId xmlns:a16="http://schemas.microsoft.com/office/drawing/2014/main" id="{80C47DB7-52AD-498B-88B6-0201168BAE17}"/>
                  </a:ext>
                </a:extLst>
              </p:cNvPr>
              <p:cNvSpPr/>
              <p:nvPr/>
            </p:nvSpPr>
            <p:spPr>
              <a:xfrm flipV="1">
                <a:off x="1948569" y="498072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a:extLst>
                  <a:ext uri="{FF2B5EF4-FFF2-40B4-BE49-F238E27FC236}">
                    <a16:creationId xmlns:a16="http://schemas.microsoft.com/office/drawing/2014/main" id="{D0430CB5-2634-4619-B838-4623665CE6A3}"/>
                  </a:ext>
                </a:extLst>
              </p:cNvPr>
              <p:cNvSpPr/>
              <p:nvPr/>
            </p:nvSpPr>
            <p:spPr>
              <a:xfrm flipV="1">
                <a:off x="2006177" y="5063870"/>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a:extLst>
                  <a:ext uri="{FF2B5EF4-FFF2-40B4-BE49-F238E27FC236}">
                    <a16:creationId xmlns:a16="http://schemas.microsoft.com/office/drawing/2014/main" id="{A053B8B0-44A9-4C7B-A4C1-E8C9218A38AD}"/>
                  </a:ext>
                </a:extLst>
              </p:cNvPr>
              <p:cNvSpPr/>
              <p:nvPr/>
            </p:nvSpPr>
            <p:spPr>
              <a:xfrm flipV="1">
                <a:off x="2088389" y="5164558"/>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74" name="직선 화살표 연결선 73">
              <a:extLst>
                <a:ext uri="{FF2B5EF4-FFF2-40B4-BE49-F238E27FC236}">
                  <a16:creationId xmlns:a16="http://schemas.microsoft.com/office/drawing/2014/main" id="{3A88B33E-BC30-45FC-8250-14748F664FD1}"/>
                </a:ext>
              </a:extLst>
            </p:cNvPr>
            <p:cNvCxnSpPr/>
            <p:nvPr/>
          </p:nvCxnSpPr>
          <p:spPr>
            <a:xfrm>
              <a:off x="4900969" y="4256365"/>
              <a:ext cx="265604" cy="0"/>
            </a:xfrm>
            <a:prstGeom prst="straightConnector1">
              <a:avLst/>
            </a:prstGeom>
            <a:ln>
              <a:solidFill>
                <a:srgbClr val="FDDC96"/>
              </a:solidFill>
              <a:tailEnd type="triangle"/>
            </a:ln>
          </p:spPr>
          <p:style>
            <a:lnRef idx="1">
              <a:schemeClr val="accent1"/>
            </a:lnRef>
            <a:fillRef idx="0">
              <a:schemeClr val="accent1"/>
            </a:fillRef>
            <a:effectRef idx="0">
              <a:schemeClr val="accent1"/>
            </a:effectRef>
            <a:fontRef idx="minor">
              <a:schemeClr val="tx1"/>
            </a:fontRef>
          </p:style>
        </p:cxnSp>
        <p:sp>
          <p:nvSpPr>
            <p:cNvPr id="75" name="타원 74">
              <a:extLst>
                <a:ext uri="{FF2B5EF4-FFF2-40B4-BE49-F238E27FC236}">
                  <a16:creationId xmlns:a16="http://schemas.microsoft.com/office/drawing/2014/main" id="{61566347-4F71-4826-9422-5784A5F90ACB}"/>
                </a:ext>
              </a:extLst>
            </p:cNvPr>
            <p:cNvSpPr/>
            <p:nvPr/>
          </p:nvSpPr>
          <p:spPr>
            <a:xfrm>
              <a:off x="5246864" y="4091199"/>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6" name="그룹 75">
              <a:extLst>
                <a:ext uri="{FF2B5EF4-FFF2-40B4-BE49-F238E27FC236}">
                  <a16:creationId xmlns:a16="http://schemas.microsoft.com/office/drawing/2014/main" id="{CD9124F7-8188-4AAB-90DA-0103332F58DF}"/>
                </a:ext>
              </a:extLst>
            </p:cNvPr>
            <p:cNvGrpSpPr/>
            <p:nvPr/>
          </p:nvGrpSpPr>
          <p:grpSpPr>
            <a:xfrm>
              <a:off x="4396809" y="4595068"/>
              <a:ext cx="504160" cy="504160"/>
              <a:chOff x="1899819" y="4735978"/>
              <a:chExt cx="504160" cy="504160"/>
            </a:xfrm>
          </p:grpSpPr>
          <p:sp>
            <p:nvSpPr>
              <p:cNvPr id="77" name="타원 76">
                <a:extLst>
                  <a:ext uri="{FF2B5EF4-FFF2-40B4-BE49-F238E27FC236}">
                    <a16:creationId xmlns:a16="http://schemas.microsoft.com/office/drawing/2014/main" id="{00C7BD86-FCF6-4AE8-8321-3A3172290019}"/>
                  </a:ext>
                </a:extLst>
              </p:cNvPr>
              <p:cNvSpPr/>
              <p:nvPr/>
            </p:nvSpPr>
            <p:spPr>
              <a:xfrm>
                <a:off x="1899819" y="4735978"/>
                <a:ext cx="504160" cy="504160"/>
              </a:xfrm>
              <a:prstGeom prst="ellipse">
                <a:avLst/>
              </a:prstGeom>
              <a:noFill/>
              <a:ln w="1270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타원 77">
                <a:extLst>
                  <a:ext uri="{FF2B5EF4-FFF2-40B4-BE49-F238E27FC236}">
                    <a16:creationId xmlns:a16="http://schemas.microsoft.com/office/drawing/2014/main" id="{4E7E4049-F98E-4DFF-9C36-E90D352EF74F}"/>
                  </a:ext>
                </a:extLst>
              </p:cNvPr>
              <p:cNvSpPr/>
              <p:nvPr/>
            </p:nvSpPr>
            <p:spPr>
              <a:xfrm flipV="1">
                <a:off x="2053244" y="4797251"/>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타원 78">
                <a:extLst>
                  <a:ext uri="{FF2B5EF4-FFF2-40B4-BE49-F238E27FC236}">
                    <a16:creationId xmlns:a16="http://schemas.microsoft.com/office/drawing/2014/main" id="{630FF800-4582-4854-8743-8BE1C1290F48}"/>
                  </a:ext>
                </a:extLst>
              </p:cNvPr>
              <p:cNvSpPr/>
              <p:nvPr/>
            </p:nvSpPr>
            <p:spPr>
              <a:xfrm flipV="1">
                <a:off x="2017244" y="489452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0" name="타원 79">
                <a:extLst>
                  <a:ext uri="{FF2B5EF4-FFF2-40B4-BE49-F238E27FC236}">
                    <a16:creationId xmlns:a16="http://schemas.microsoft.com/office/drawing/2014/main" id="{4988D27B-AE6B-4652-A8A1-32086D72E2EE}"/>
                  </a:ext>
                </a:extLst>
              </p:cNvPr>
              <p:cNvSpPr/>
              <p:nvPr/>
            </p:nvSpPr>
            <p:spPr>
              <a:xfrm flipV="1">
                <a:off x="2215108" y="4970058"/>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타원 80">
                <a:extLst>
                  <a:ext uri="{FF2B5EF4-FFF2-40B4-BE49-F238E27FC236}">
                    <a16:creationId xmlns:a16="http://schemas.microsoft.com/office/drawing/2014/main" id="{714C86CB-04DE-4AE5-AD26-47374F0B9C0A}"/>
                  </a:ext>
                </a:extLst>
              </p:cNvPr>
              <p:cNvSpPr/>
              <p:nvPr/>
            </p:nvSpPr>
            <p:spPr>
              <a:xfrm flipV="1">
                <a:off x="2179108" y="5067331"/>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타원 81">
                <a:extLst>
                  <a:ext uri="{FF2B5EF4-FFF2-40B4-BE49-F238E27FC236}">
                    <a16:creationId xmlns:a16="http://schemas.microsoft.com/office/drawing/2014/main" id="{B936879C-AF56-4FBA-BE4C-EA4112A369C3}"/>
                  </a:ext>
                </a:extLst>
              </p:cNvPr>
              <p:cNvSpPr/>
              <p:nvPr/>
            </p:nvSpPr>
            <p:spPr>
              <a:xfrm flipV="1">
                <a:off x="2107100" y="5002447"/>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3" name="타원 82">
                <a:extLst>
                  <a:ext uri="{FF2B5EF4-FFF2-40B4-BE49-F238E27FC236}">
                    <a16:creationId xmlns:a16="http://schemas.microsoft.com/office/drawing/2014/main" id="{59B38D83-4C46-424A-82EC-645A17D26336}"/>
                  </a:ext>
                </a:extLst>
              </p:cNvPr>
              <p:cNvSpPr/>
              <p:nvPr/>
            </p:nvSpPr>
            <p:spPr>
              <a:xfrm flipV="1">
                <a:off x="2071100" y="5099720"/>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4" name="타원 83">
                <a:extLst>
                  <a:ext uri="{FF2B5EF4-FFF2-40B4-BE49-F238E27FC236}">
                    <a16:creationId xmlns:a16="http://schemas.microsoft.com/office/drawing/2014/main" id="{D2B1E412-70DE-4FA5-951F-70D53616ACF9}"/>
                  </a:ext>
                </a:extLst>
              </p:cNvPr>
              <p:cNvSpPr/>
              <p:nvPr/>
            </p:nvSpPr>
            <p:spPr>
              <a:xfrm flipV="1">
                <a:off x="2215108" y="4809086"/>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5" name="타원 84">
                <a:extLst>
                  <a:ext uri="{FF2B5EF4-FFF2-40B4-BE49-F238E27FC236}">
                    <a16:creationId xmlns:a16="http://schemas.microsoft.com/office/drawing/2014/main" id="{D40F6292-9B96-4BBF-812B-43555C4E1E92}"/>
                  </a:ext>
                </a:extLst>
              </p:cNvPr>
              <p:cNvSpPr/>
              <p:nvPr/>
            </p:nvSpPr>
            <p:spPr>
              <a:xfrm flipV="1">
                <a:off x="2179108" y="4906359"/>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타원 85">
                <a:extLst>
                  <a:ext uri="{FF2B5EF4-FFF2-40B4-BE49-F238E27FC236}">
                    <a16:creationId xmlns:a16="http://schemas.microsoft.com/office/drawing/2014/main" id="{736BAB43-7CFB-4AA5-BC21-2CEBD67FB843}"/>
                  </a:ext>
                </a:extLst>
              </p:cNvPr>
              <p:cNvSpPr/>
              <p:nvPr/>
            </p:nvSpPr>
            <p:spPr>
              <a:xfrm flipV="1">
                <a:off x="2272716" y="505320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a:extLst>
                  <a:ext uri="{FF2B5EF4-FFF2-40B4-BE49-F238E27FC236}">
                    <a16:creationId xmlns:a16="http://schemas.microsoft.com/office/drawing/2014/main" id="{44D41EA3-AF72-4BA4-909E-949CA6A64E84}"/>
                  </a:ext>
                </a:extLst>
              </p:cNvPr>
              <p:cNvSpPr/>
              <p:nvPr/>
            </p:nvSpPr>
            <p:spPr>
              <a:xfrm flipV="1">
                <a:off x="2133950" y="4831322"/>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a:extLst>
                  <a:ext uri="{FF2B5EF4-FFF2-40B4-BE49-F238E27FC236}">
                    <a16:creationId xmlns:a16="http://schemas.microsoft.com/office/drawing/2014/main" id="{D8F26678-A1EB-40AB-BB4D-AA3DB577352B}"/>
                  </a:ext>
                </a:extLst>
              </p:cNvPr>
              <p:cNvSpPr/>
              <p:nvPr/>
            </p:nvSpPr>
            <p:spPr>
              <a:xfrm flipV="1">
                <a:off x="2097950" y="4928595"/>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a:extLst>
                  <a:ext uri="{FF2B5EF4-FFF2-40B4-BE49-F238E27FC236}">
                    <a16:creationId xmlns:a16="http://schemas.microsoft.com/office/drawing/2014/main" id="{FC62E434-AA17-4D74-8D00-EE2F75B63064}"/>
                  </a:ext>
                </a:extLst>
              </p:cNvPr>
              <p:cNvSpPr/>
              <p:nvPr/>
            </p:nvSpPr>
            <p:spPr>
              <a:xfrm flipV="1">
                <a:off x="2269223" y="4893007"/>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a:extLst>
                  <a:ext uri="{FF2B5EF4-FFF2-40B4-BE49-F238E27FC236}">
                    <a16:creationId xmlns:a16="http://schemas.microsoft.com/office/drawing/2014/main" id="{F78FC7D8-1892-49B5-A945-C43E40722265}"/>
                  </a:ext>
                </a:extLst>
              </p:cNvPr>
              <p:cNvSpPr/>
              <p:nvPr/>
            </p:nvSpPr>
            <p:spPr>
              <a:xfrm flipV="1">
                <a:off x="2326831" y="4976153"/>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1" name="타원 90">
                <a:extLst>
                  <a:ext uri="{FF2B5EF4-FFF2-40B4-BE49-F238E27FC236}">
                    <a16:creationId xmlns:a16="http://schemas.microsoft.com/office/drawing/2014/main" id="{D942E190-1E6B-4182-9BBC-D67A3D63AF68}"/>
                  </a:ext>
                </a:extLst>
              </p:cNvPr>
              <p:cNvSpPr/>
              <p:nvPr/>
            </p:nvSpPr>
            <p:spPr>
              <a:xfrm flipV="1">
                <a:off x="1948569" y="498072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a:extLst>
                  <a:ext uri="{FF2B5EF4-FFF2-40B4-BE49-F238E27FC236}">
                    <a16:creationId xmlns:a16="http://schemas.microsoft.com/office/drawing/2014/main" id="{FFC0D9DD-6C62-49CF-91B5-9C084541C3EF}"/>
                  </a:ext>
                </a:extLst>
              </p:cNvPr>
              <p:cNvSpPr/>
              <p:nvPr/>
            </p:nvSpPr>
            <p:spPr>
              <a:xfrm flipV="1">
                <a:off x="2006177" y="5063870"/>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a:extLst>
                  <a:ext uri="{FF2B5EF4-FFF2-40B4-BE49-F238E27FC236}">
                    <a16:creationId xmlns:a16="http://schemas.microsoft.com/office/drawing/2014/main" id="{679B4886-9350-4F42-9010-A570CF05BB60}"/>
                  </a:ext>
                </a:extLst>
              </p:cNvPr>
              <p:cNvSpPr/>
              <p:nvPr/>
            </p:nvSpPr>
            <p:spPr>
              <a:xfrm flipV="1">
                <a:off x="2088389" y="5164558"/>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94" name="직선 화살표 연결선 93">
              <a:extLst>
                <a:ext uri="{FF2B5EF4-FFF2-40B4-BE49-F238E27FC236}">
                  <a16:creationId xmlns:a16="http://schemas.microsoft.com/office/drawing/2014/main" id="{6BD74B9E-ACE4-4E2B-A2B9-0BD0D69F8078}"/>
                </a:ext>
              </a:extLst>
            </p:cNvPr>
            <p:cNvCxnSpPr/>
            <p:nvPr/>
          </p:nvCxnSpPr>
          <p:spPr>
            <a:xfrm>
              <a:off x="4900969" y="4829148"/>
              <a:ext cx="265604" cy="0"/>
            </a:xfrm>
            <a:prstGeom prst="straightConnector1">
              <a:avLst/>
            </a:prstGeom>
            <a:ln>
              <a:solidFill>
                <a:srgbClr val="FDDC96"/>
              </a:solidFill>
              <a:tailEnd type="triangle"/>
            </a:ln>
          </p:spPr>
          <p:style>
            <a:lnRef idx="1">
              <a:schemeClr val="accent1"/>
            </a:lnRef>
            <a:fillRef idx="0">
              <a:schemeClr val="accent1"/>
            </a:fillRef>
            <a:effectRef idx="0">
              <a:schemeClr val="accent1"/>
            </a:effectRef>
            <a:fontRef idx="minor">
              <a:schemeClr val="tx1"/>
            </a:fontRef>
          </p:style>
        </p:cxnSp>
        <p:sp>
          <p:nvSpPr>
            <p:cNvPr id="95" name="타원 94">
              <a:extLst>
                <a:ext uri="{FF2B5EF4-FFF2-40B4-BE49-F238E27FC236}">
                  <a16:creationId xmlns:a16="http://schemas.microsoft.com/office/drawing/2014/main" id="{FAE8C34A-98A7-4BA1-8E7C-B4EB6542550C}"/>
                </a:ext>
              </a:extLst>
            </p:cNvPr>
            <p:cNvSpPr/>
            <p:nvPr/>
          </p:nvSpPr>
          <p:spPr>
            <a:xfrm>
              <a:off x="5246864" y="4663982"/>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96" name="그룹 95">
              <a:extLst>
                <a:ext uri="{FF2B5EF4-FFF2-40B4-BE49-F238E27FC236}">
                  <a16:creationId xmlns:a16="http://schemas.microsoft.com/office/drawing/2014/main" id="{C4586C58-2DD4-4642-AD68-5353A609F29D}"/>
                </a:ext>
              </a:extLst>
            </p:cNvPr>
            <p:cNvGrpSpPr/>
            <p:nvPr/>
          </p:nvGrpSpPr>
          <p:grpSpPr>
            <a:xfrm>
              <a:off x="4396809" y="5301104"/>
              <a:ext cx="504160" cy="504160"/>
              <a:chOff x="1899819" y="4735978"/>
              <a:chExt cx="504160" cy="504160"/>
            </a:xfrm>
          </p:grpSpPr>
          <p:sp>
            <p:nvSpPr>
              <p:cNvPr id="97" name="타원 96">
                <a:extLst>
                  <a:ext uri="{FF2B5EF4-FFF2-40B4-BE49-F238E27FC236}">
                    <a16:creationId xmlns:a16="http://schemas.microsoft.com/office/drawing/2014/main" id="{44C87448-786F-4B05-B6A9-B3403F483EDC}"/>
                  </a:ext>
                </a:extLst>
              </p:cNvPr>
              <p:cNvSpPr/>
              <p:nvPr/>
            </p:nvSpPr>
            <p:spPr>
              <a:xfrm>
                <a:off x="1899819" y="4735978"/>
                <a:ext cx="504160" cy="504160"/>
              </a:xfrm>
              <a:prstGeom prst="ellipse">
                <a:avLst/>
              </a:prstGeom>
              <a:noFill/>
              <a:ln w="1270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a:extLst>
                  <a:ext uri="{FF2B5EF4-FFF2-40B4-BE49-F238E27FC236}">
                    <a16:creationId xmlns:a16="http://schemas.microsoft.com/office/drawing/2014/main" id="{8EF07EC9-C9AB-4878-9852-B67DAFD8FD9A}"/>
                  </a:ext>
                </a:extLst>
              </p:cNvPr>
              <p:cNvSpPr/>
              <p:nvPr/>
            </p:nvSpPr>
            <p:spPr>
              <a:xfrm flipV="1">
                <a:off x="2053244" y="4797251"/>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a:extLst>
                  <a:ext uri="{FF2B5EF4-FFF2-40B4-BE49-F238E27FC236}">
                    <a16:creationId xmlns:a16="http://schemas.microsoft.com/office/drawing/2014/main" id="{A82DE884-5CB5-4C41-A557-6BDC9DBF60E6}"/>
                  </a:ext>
                </a:extLst>
              </p:cNvPr>
              <p:cNvSpPr/>
              <p:nvPr/>
            </p:nvSpPr>
            <p:spPr>
              <a:xfrm flipV="1">
                <a:off x="2017244" y="489452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a:extLst>
                  <a:ext uri="{FF2B5EF4-FFF2-40B4-BE49-F238E27FC236}">
                    <a16:creationId xmlns:a16="http://schemas.microsoft.com/office/drawing/2014/main" id="{F9BBEF52-9DC3-4215-BE67-9765C696D0AE}"/>
                  </a:ext>
                </a:extLst>
              </p:cNvPr>
              <p:cNvSpPr/>
              <p:nvPr/>
            </p:nvSpPr>
            <p:spPr>
              <a:xfrm flipV="1">
                <a:off x="2215108" y="4970058"/>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타원 100">
                <a:extLst>
                  <a:ext uri="{FF2B5EF4-FFF2-40B4-BE49-F238E27FC236}">
                    <a16:creationId xmlns:a16="http://schemas.microsoft.com/office/drawing/2014/main" id="{F73C4C31-F6AE-428F-A09F-BB20E0F79F01}"/>
                  </a:ext>
                </a:extLst>
              </p:cNvPr>
              <p:cNvSpPr/>
              <p:nvPr/>
            </p:nvSpPr>
            <p:spPr>
              <a:xfrm flipV="1">
                <a:off x="2179108" y="5067331"/>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a:extLst>
                  <a:ext uri="{FF2B5EF4-FFF2-40B4-BE49-F238E27FC236}">
                    <a16:creationId xmlns:a16="http://schemas.microsoft.com/office/drawing/2014/main" id="{57920DD7-646D-4B40-8078-3F723FE4A813}"/>
                  </a:ext>
                </a:extLst>
              </p:cNvPr>
              <p:cNvSpPr/>
              <p:nvPr/>
            </p:nvSpPr>
            <p:spPr>
              <a:xfrm flipV="1">
                <a:off x="2107100" y="5002447"/>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a:extLst>
                  <a:ext uri="{FF2B5EF4-FFF2-40B4-BE49-F238E27FC236}">
                    <a16:creationId xmlns:a16="http://schemas.microsoft.com/office/drawing/2014/main" id="{FFE34DC0-C0ED-4777-A468-34C87F322E32}"/>
                  </a:ext>
                </a:extLst>
              </p:cNvPr>
              <p:cNvSpPr/>
              <p:nvPr/>
            </p:nvSpPr>
            <p:spPr>
              <a:xfrm flipV="1">
                <a:off x="2071100" y="5099720"/>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a:extLst>
                  <a:ext uri="{FF2B5EF4-FFF2-40B4-BE49-F238E27FC236}">
                    <a16:creationId xmlns:a16="http://schemas.microsoft.com/office/drawing/2014/main" id="{8C070BAD-E4FA-47D7-A539-92A6430ACF6B}"/>
                  </a:ext>
                </a:extLst>
              </p:cNvPr>
              <p:cNvSpPr/>
              <p:nvPr/>
            </p:nvSpPr>
            <p:spPr>
              <a:xfrm flipV="1">
                <a:off x="2215108" y="4809086"/>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5" name="타원 104">
                <a:extLst>
                  <a:ext uri="{FF2B5EF4-FFF2-40B4-BE49-F238E27FC236}">
                    <a16:creationId xmlns:a16="http://schemas.microsoft.com/office/drawing/2014/main" id="{7B832DCF-F588-46B6-B7EF-CAEBA466F1BC}"/>
                  </a:ext>
                </a:extLst>
              </p:cNvPr>
              <p:cNvSpPr/>
              <p:nvPr/>
            </p:nvSpPr>
            <p:spPr>
              <a:xfrm flipV="1">
                <a:off x="2179108" y="4906359"/>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타원 105">
                <a:extLst>
                  <a:ext uri="{FF2B5EF4-FFF2-40B4-BE49-F238E27FC236}">
                    <a16:creationId xmlns:a16="http://schemas.microsoft.com/office/drawing/2014/main" id="{6B1E077E-131B-48A0-9CBD-3780152A010E}"/>
                  </a:ext>
                </a:extLst>
              </p:cNvPr>
              <p:cNvSpPr/>
              <p:nvPr/>
            </p:nvSpPr>
            <p:spPr>
              <a:xfrm flipV="1">
                <a:off x="2272716" y="505320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7" name="타원 106">
                <a:extLst>
                  <a:ext uri="{FF2B5EF4-FFF2-40B4-BE49-F238E27FC236}">
                    <a16:creationId xmlns:a16="http://schemas.microsoft.com/office/drawing/2014/main" id="{A8044374-0CB7-41FF-A4EA-C7DC7FF5DA34}"/>
                  </a:ext>
                </a:extLst>
              </p:cNvPr>
              <p:cNvSpPr/>
              <p:nvPr/>
            </p:nvSpPr>
            <p:spPr>
              <a:xfrm flipV="1">
                <a:off x="2133950" y="4831322"/>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8" name="타원 107">
                <a:extLst>
                  <a:ext uri="{FF2B5EF4-FFF2-40B4-BE49-F238E27FC236}">
                    <a16:creationId xmlns:a16="http://schemas.microsoft.com/office/drawing/2014/main" id="{0F3EDC94-C6E6-4646-8F73-7F1FC1990822}"/>
                  </a:ext>
                </a:extLst>
              </p:cNvPr>
              <p:cNvSpPr/>
              <p:nvPr/>
            </p:nvSpPr>
            <p:spPr>
              <a:xfrm flipV="1">
                <a:off x="2097950" y="4928595"/>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9" name="타원 108">
                <a:extLst>
                  <a:ext uri="{FF2B5EF4-FFF2-40B4-BE49-F238E27FC236}">
                    <a16:creationId xmlns:a16="http://schemas.microsoft.com/office/drawing/2014/main" id="{3A176737-9DA1-45E3-8057-A9D23A13CA82}"/>
                  </a:ext>
                </a:extLst>
              </p:cNvPr>
              <p:cNvSpPr/>
              <p:nvPr/>
            </p:nvSpPr>
            <p:spPr>
              <a:xfrm flipV="1">
                <a:off x="2269223" y="4893007"/>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타원 109">
                <a:extLst>
                  <a:ext uri="{FF2B5EF4-FFF2-40B4-BE49-F238E27FC236}">
                    <a16:creationId xmlns:a16="http://schemas.microsoft.com/office/drawing/2014/main" id="{DE77F06D-0E92-4EDB-B9F1-ACCAF280018B}"/>
                  </a:ext>
                </a:extLst>
              </p:cNvPr>
              <p:cNvSpPr/>
              <p:nvPr/>
            </p:nvSpPr>
            <p:spPr>
              <a:xfrm flipV="1">
                <a:off x="2326831" y="4976153"/>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타원 110">
                <a:extLst>
                  <a:ext uri="{FF2B5EF4-FFF2-40B4-BE49-F238E27FC236}">
                    <a16:creationId xmlns:a16="http://schemas.microsoft.com/office/drawing/2014/main" id="{BA9E76C0-9F0C-4F1B-B21D-79819A1E48E9}"/>
                  </a:ext>
                </a:extLst>
              </p:cNvPr>
              <p:cNvSpPr/>
              <p:nvPr/>
            </p:nvSpPr>
            <p:spPr>
              <a:xfrm flipV="1">
                <a:off x="1948569" y="498072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타원 111">
                <a:extLst>
                  <a:ext uri="{FF2B5EF4-FFF2-40B4-BE49-F238E27FC236}">
                    <a16:creationId xmlns:a16="http://schemas.microsoft.com/office/drawing/2014/main" id="{2CD32228-FBE1-48C5-AEB1-A9DAF51EF617}"/>
                  </a:ext>
                </a:extLst>
              </p:cNvPr>
              <p:cNvSpPr/>
              <p:nvPr/>
            </p:nvSpPr>
            <p:spPr>
              <a:xfrm flipV="1">
                <a:off x="2006177" y="5063870"/>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3" name="타원 112">
                <a:extLst>
                  <a:ext uri="{FF2B5EF4-FFF2-40B4-BE49-F238E27FC236}">
                    <a16:creationId xmlns:a16="http://schemas.microsoft.com/office/drawing/2014/main" id="{8C7CA0F2-9DB6-4662-99C8-7AE1FB7B127D}"/>
                  </a:ext>
                </a:extLst>
              </p:cNvPr>
              <p:cNvSpPr/>
              <p:nvPr/>
            </p:nvSpPr>
            <p:spPr>
              <a:xfrm flipV="1">
                <a:off x="2088389" y="5164558"/>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114" name="직선 화살표 연결선 113">
              <a:extLst>
                <a:ext uri="{FF2B5EF4-FFF2-40B4-BE49-F238E27FC236}">
                  <a16:creationId xmlns:a16="http://schemas.microsoft.com/office/drawing/2014/main" id="{1103F22A-A7FD-4485-AE8E-AE8D0D4748B6}"/>
                </a:ext>
              </a:extLst>
            </p:cNvPr>
            <p:cNvCxnSpPr/>
            <p:nvPr/>
          </p:nvCxnSpPr>
          <p:spPr>
            <a:xfrm>
              <a:off x="4900969" y="5523167"/>
              <a:ext cx="265604" cy="0"/>
            </a:xfrm>
            <a:prstGeom prst="straightConnector1">
              <a:avLst/>
            </a:prstGeom>
            <a:ln>
              <a:solidFill>
                <a:srgbClr val="FDDC96"/>
              </a:solidFill>
              <a:tailEnd type="triangle"/>
            </a:ln>
          </p:spPr>
          <p:style>
            <a:lnRef idx="1">
              <a:schemeClr val="accent1"/>
            </a:lnRef>
            <a:fillRef idx="0">
              <a:schemeClr val="accent1"/>
            </a:fillRef>
            <a:effectRef idx="0">
              <a:schemeClr val="accent1"/>
            </a:effectRef>
            <a:fontRef idx="minor">
              <a:schemeClr val="tx1"/>
            </a:fontRef>
          </p:style>
        </p:cxnSp>
        <p:sp>
          <p:nvSpPr>
            <p:cNvPr id="115" name="타원 114">
              <a:extLst>
                <a:ext uri="{FF2B5EF4-FFF2-40B4-BE49-F238E27FC236}">
                  <a16:creationId xmlns:a16="http://schemas.microsoft.com/office/drawing/2014/main" id="{100D3F7F-DDA3-4BFF-B33C-071299FBFEB1}"/>
                </a:ext>
              </a:extLst>
            </p:cNvPr>
            <p:cNvSpPr/>
            <p:nvPr/>
          </p:nvSpPr>
          <p:spPr>
            <a:xfrm>
              <a:off x="5246864" y="5370018"/>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16" name="직선 화살표 연결선 115">
              <a:extLst>
                <a:ext uri="{FF2B5EF4-FFF2-40B4-BE49-F238E27FC236}">
                  <a16:creationId xmlns:a16="http://schemas.microsoft.com/office/drawing/2014/main" id="{69895693-ED96-4D7A-9D8D-83A9B0EDB632}"/>
                </a:ext>
              </a:extLst>
            </p:cNvPr>
            <p:cNvCxnSpPr/>
            <p:nvPr/>
          </p:nvCxnSpPr>
          <p:spPr>
            <a:xfrm>
              <a:off x="4164708" y="4256365"/>
              <a:ext cx="180000" cy="0"/>
            </a:xfrm>
            <a:prstGeom prst="straightConnector1">
              <a:avLst/>
            </a:prstGeom>
            <a:ln>
              <a:solidFill>
                <a:srgbClr val="FDDC96"/>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직선 화살표 연결선 116">
              <a:extLst>
                <a:ext uri="{FF2B5EF4-FFF2-40B4-BE49-F238E27FC236}">
                  <a16:creationId xmlns:a16="http://schemas.microsoft.com/office/drawing/2014/main" id="{1B0DD43C-6FD5-4106-A179-47E2138CCC7A}"/>
                </a:ext>
              </a:extLst>
            </p:cNvPr>
            <p:cNvCxnSpPr/>
            <p:nvPr/>
          </p:nvCxnSpPr>
          <p:spPr>
            <a:xfrm>
              <a:off x="4164708" y="4829148"/>
              <a:ext cx="180000" cy="0"/>
            </a:xfrm>
            <a:prstGeom prst="straightConnector1">
              <a:avLst/>
            </a:prstGeom>
            <a:ln>
              <a:solidFill>
                <a:srgbClr val="FDDC96"/>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직선 화살표 연결선 117">
              <a:extLst>
                <a:ext uri="{FF2B5EF4-FFF2-40B4-BE49-F238E27FC236}">
                  <a16:creationId xmlns:a16="http://schemas.microsoft.com/office/drawing/2014/main" id="{A093EBCF-4314-48C1-B6ED-A99A8F718E1E}"/>
                </a:ext>
              </a:extLst>
            </p:cNvPr>
            <p:cNvCxnSpPr/>
            <p:nvPr/>
          </p:nvCxnSpPr>
          <p:spPr>
            <a:xfrm>
              <a:off x="4164708" y="5523167"/>
              <a:ext cx="180000" cy="0"/>
            </a:xfrm>
            <a:prstGeom prst="straightConnector1">
              <a:avLst/>
            </a:prstGeom>
            <a:ln>
              <a:solidFill>
                <a:srgbClr val="FDDC96"/>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직선 연결선 118">
              <a:extLst>
                <a:ext uri="{FF2B5EF4-FFF2-40B4-BE49-F238E27FC236}">
                  <a16:creationId xmlns:a16="http://schemas.microsoft.com/office/drawing/2014/main" id="{AA89FF3B-0856-4360-98C4-06E36D533C0D}"/>
                </a:ext>
              </a:extLst>
            </p:cNvPr>
            <p:cNvCxnSpPr/>
            <p:nvPr/>
          </p:nvCxnSpPr>
          <p:spPr>
            <a:xfrm>
              <a:off x="4164708" y="4256849"/>
              <a:ext cx="0" cy="1278335"/>
            </a:xfrm>
            <a:prstGeom prst="line">
              <a:avLst/>
            </a:prstGeom>
            <a:ln>
              <a:solidFill>
                <a:srgbClr val="FDDC96"/>
              </a:solidFill>
            </a:ln>
          </p:spPr>
          <p:style>
            <a:lnRef idx="1">
              <a:schemeClr val="accent1"/>
            </a:lnRef>
            <a:fillRef idx="0">
              <a:schemeClr val="accent1"/>
            </a:fillRef>
            <a:effectRef idx="0">
              <a:schemeClr val="accent1"/>
            </a:effectRef>
            <a:fontRef idx="minor">
              <a:schemeClr val="tx1"/>
            </a:fontRef>
          </p:style>
        </p:cxnSp>
        <p:sp>
          <p:nvSpPr>
            <p:cNvPr id="120" name="타원 119">
              <a:extLst>
                <a:ext uri="{FF2B5EF4-FFF2-40B4-BE49-F238E27FC236}">
                  <a16:creationId xmlns:a16="http://schemas.microsoft.com/office/drawing/2014/main" id="{0C19B0D6-2CCD-4AA7-85D7-DCFDD3371413}"/>
                </a:ext>
              </a:extLst>
            </p:cNvPr>
            <p:cNvSpPr/>
            <p:nvPr/>
          </p:nvSpPr>
          <p:spPr>
            <a:xfrm>
              <a:off x="6500004" y="4022285"/>
              <a:ext cx="504160" cy="504160"/>
            </a:xfrm>
            <a:prstGeom prst="ellipse">
              <a:avLst/>
            </a:prstGeom>
            <a:noFill/>
            <a:ln w="1905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타원 120">
              <a:extLst>
                <a:ext uri="{FF2B5EF4-FFF2-40B4-BE49-F238E27FC236}">
                  <a16:creationId xmlns:a16="http://schemas.microsoft.com/office/drawing/2014/main" id="{CB2CE9B4-9C48-494D-9A6A-34E0C61FF014}"/>
                </a:ext>
              </a:extLst>
            </p:cNvPr>
            <p:cNvSpPr/>
            <p:nvPr/>
          </p:nvSpPr>
          <p:spPr>
            <a:xfrm flipV="1">
              <a:off x="6653429" y="4083558"/>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타원 121">
              <a:extLst>
                <a:ext uri="{FF2B5EF4-FFF2-40B4-BE49-F238E27FC236}">
                  <a16:creationId xmlns:a16="http://schemas.microsoft.com/office/drawing/2014/main" id="{5831D359-AE55-4322-8EB0-14C9A6076CC7}"/>
                </a:ext>
              </a:extLst>
            </p:cNvPr>
            <p:cNvSpPr/>
            <p:nvPr/>
          </p:nvSpPr>
          <p:spPr>
            <a:xfrm flipV="1">
              <a:off x="6617429" y="4180831"/>
              <a:ext cx="36000" cy="360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타원 122">
              <a:extLst>
                <a:ext uri="{FF2B5EF4-FFF2-40B4-BE49-F238E27FC236}">
                  <a16:creationId xmlns:a16="http://schemas.microsoft.com/office/drawing/2014/main" id="{E9E14481-D285-446D-BCCA-023B911F26CB}"/>
                </a:ext>
              </a:extLst>
            </p:cNvPr>
            <p:cNvSpPr/>
            <p:nvPr/>
          </p:nvSpPr>
          <p:spPr>
            <a:xfrm flipV="1">
              <a:off x="6815293" y="4256365"/>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타원 123">
              <a:extLst>
                <a:ext uri="{FF2B5EF4-FFF2-40B4-BE49-F238E27FC236}">
                  <a16:creationId xmlns:a16="http://schemas.microsoft.com/office/drawing/2014/main" id="{2AB6911D-6CF2-4FD6-95DC-5FCCF8D0A69E}"/>
                </a:ext>
              </a:extLst>
            </p:cNvPr>
            <p:cNvSpPr/>
            <p:nvPr/>
          </p:nvSpPr>
          <p:spPr>
            <a:xfrm flipV="1">
              <a:off x="6779293" y="4353638"/>
              <a:ext cx="36000" cy="360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5" name="타원 124">
              <a:extLst>
                <a:ext uri="{FF2B5EF4-FFF2-40B4-BE49-F238E27FC236}">
                  <a16:creationId xmlns:a16="http://schemas.microsoft.com/office/drawing/2014/main" id="{0A967D8F-4EF8-4CB6-B2E9-CE85FAF01A25}"/>
                </a:ext>
              </a:extLst>
            </p:cNvPr>
            <p:cNvSpPr/>
            <p:nvPr/>
          </p:nvSpPr>
          <p:spPr>
            <a:xfrm flipV="1">
              <a:off x="6712770" y="4386027"/>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6" name="타원 125">
              <a:extLst>
                <a:ext uri="{FF2B5EF4-FFF2-40B4-BE49-F238E27FC236}">
                  <a16:creationId xmlns:a16="http://schemas.microsoft.com/office/drawing/2014/main" id="{06817D1C-D558-4D03-94BC-E866A68BB11A}"/>
                </a:ext>
              </a:extLst>
            </p:cNvPr>
            <p:cNvSpPr/>
            <p:nvPr/>
          </p:nvSpPr>
          <p:spPr>
            <a:xfrm flipV="1">
              <a:off x="6815293" y="4095393"/>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7" name="타원 126">
              <a:extLst>
                <a:ext uri="{FF2B5EF4-FFF2-40B4-BE49-F238E27FC236}">
                  <a16:creationId xmlns:a16="http://schemas.microsoft.com/office/drawing/2014/main" id="{A7C6DD2F-7DF8-4C92-B274-4F30E9BE4147}"/>
                </a:ext>
              </a:extLst>
            </p:cNvPr>
            <p:cNvSpPr/>
            <p:nvPr/>
          </p:nvSpPr>
          <p:spPr>
            <a:xfrm flipV="1">
              <a:off x="6779293" y="4192666"/>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8" name="타원 127">
              <a:extLst>
                <a:ext uri="{FF2B5EF4-FFF2-40B4-BE49-F238E27FC236}">
                  <a16:creationId xmlns:a16="http://schemas.microsoft.com/office/drawing/2014/main" id="{74EA1BD9-3D6B-485A-A55D-91F6550C652E}"/>
                </a:ext>
              </a:extLst>
            </p:cNvPr>
            <p:cNvSpPr/>
            <p:nvPr/>
          </p:nvSpPr>
          <p:spPr>
            <a:xfrm flipV="1">
              <a:off x="6872901" y="4339511"/>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9" name="타원 128">
              <a:extLst>
                <a:ext uri="{FF2B5EF4-FFF2-40B4-BE49-F238E27FC236}">
                  <a16:creationId xmlns:a16="http://schemas.microsoft.com/office/drawing/2014/main" id="{73601830-B5FB-4C0B-B648-4E1E6667DF73}"/>
                </a:ext>
              </a:extLst>
            </p:cNvPr>
            <p:cNvSpPr/>
            <p:nvPr/>
          </p:nvSpPr>
          <p:spPr>
            <a:xfrm flipV="1">
              <a:off x="6734135" y="4117629"/>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0" name="타원 129">
              <a:extLst>
                <a:ext uri="{FF2B5EF4-FFF2-40B4-BE49-F238E27FC236}">
                  <a16:creationId xmlns:a16="http://schemas.microsoft.com/office/drawing/2014/main" id="{A065089E-3850-4F49-866A-2878F8B9024E}"/>
                </a:ext>
              </a:extLst>
            </p:cNvPr>
            <p:cNvSpPr/>
            <p:nvPr/>
          </p:nvSpPr>
          <p:spPr>
            <a:xfrm flipV="1">
              <a:off x="6698135" y="4214902"/>
              <a:ext cx="72000" cy="720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1" name="타원 130">
              <a:extLst>
                <a:ext uri="{FF2B5EF4-FFF2-40B4-BE49-F238E27FC236}">
                  <a16:creationId xmlns:a16="http://schemas.microsoft.com/office/drawing/2014/main" id="{02B0C6F9-27C3-4A31-8229-4AECFB622147}"/>
                </a:ext>
              </a:extLst>
            </p:cNvPr>
            <p:cNvSpPr/>
            <p:nvPr/>
          </p:nvSpPr>
          <p:spPr>
            <a:xfrm flipV="1">
              <a:off x="6869408" y="4179314"/>
              <a:ext cx="36000" cy="360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2" name="타원 131">
              <a:extLst>
                <a:ext uri="{FF2B5EF4-FFF2-40B4-BE49-F238E27FC236}">
                  <a16:creationId xmlns:a16="http://schemas.microsoft.com/office/drawing/2014/main" id="{CE937CE9-E58C-4924-A181-CECACD1EA8CB}"/>
                </a:ext>
              </a:extLst>
            </p:cNvPr>
            <p:cNvSpPr/>
            <p:nvPr/>
          </p:nvSpPr>
          <p:spPr>
            <a:xfrm flipV="1">
              <a:off x="6927016" y="4262460"/>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3" name="타원 132">
              <a:extLst>
                <a:ext uri="{FF2B5EF4-FFF2-40B4-BE49-F238E27FC236}">
                  <a16:creationId xmlns:a16="http://schemas.microsoft.com/office/drawing/2014/main" id="{BDEF8CFF-5F10-41C4-AF41-34C4DE806536}"/>
                </a:ext>
              </a:extLst>
            </p:cNvPr>
            <p:cNvSpPr/>
            <p:nvPr/>
          </p:nvSpPr>
          <p:spPr>
            <a:xfrm flipV="1">
              <a:off x="6548754" y="4267031"/>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4" name="타원 133">
              <a:extLst>
                <a:ext uri="{FF2B5EF4-FFF2-40B4-BE49-F238E27FC236}">
                  <a16:creationId xmlns:a16="http://schemas.microsoft.com/office/drawing/2014/main" id="{75CF30C6-59E8-4AA5-92E2-78DA7E98276A}"/>
                </a:ext>
              </a:extLst>
            </p:cNvPr>
            <p:cNvSpPr/>
            <p:nvPr/>
          </p:nvSpPr>
          <p:spPr>
            <a:xfrm flipV="1">
              <a:off x="6606362" y="4350177"/>
              <a:ext cx="54000" cy="540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5" name="타원 134">
              <a:extLst>
                <a:ext uri="{FF2B5EF4-FFF2-40B4-BE49-F238E27FC236}">
                  <a16:creationId xmlns:a16="http://schemas.microsoft.com/office/drawing/2014/main" id="{BB226ABB-0508-4C1A-BEBE-E96CF85FA5DF}"/>
                </a:ext>
              </a:extLst>
            </p:cNvPr>
            <p:cNvSpPr/>
            <p:nvPr/>
          </p:nvSpPr>
          <p:spPr>
            <a:xfrm flipV="1">
              <a:off x="6688574" y="4450865"/>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36" name="직선 화살표 연결선 135">
              <a:extLst>
                <a:ext uri="{FF2B5EF4-FFF2-40B4-BE49-F238E27FC236}">
                  <a16:creationId xmlns:a16="http://schemas.microsoft.com/office/drawing/2014/main" id="{5A074F11-8DC8-4A3D-93B7-13CAECB992B9}"/>
                </a:ext>
              </a:extLst>
            </p:cNvPr>
            <p:cNvCxnSpPr/>
            <p:nvPr/>
          </p:nvCxnSpPr>
          <p:spPr>
            <a:xfrm>
              <a:off x="7004164" y="4256365"/>
              <a:ext cx="265604" cy="0"/>
            </a:xfrm>
            <a:prstGeom prst="straightConnector1">
              <a:avLst/>
            </a:prstGeom>
            <a:ln>
              <a:solidFill>
                <a:srgbClr val="FDDC96"/>
              </a:solidFill>
              <a:tailEnd type="triangle"/>
            </a:ln>
          </p:spPr>
          <p:style>
            <a:lnRef idx="1">
              <a:schemeClr val="accent1"/>
            </a:lnRef>
            <a:fillRef idx="0">
              <a:schemeClr val="accent1"/>
            </a:fillRef>
            <a:effectRef idx="0">
              <a:schemeClr val="accent1"/>
            </a:effectRef>
            <a:fontRef idx="minor">
              <a:schemeClr val="tx1"/>
            </a:fontRef>
          </p:style>
        </p:cxnSp>
        <p:sp>
          <p:nvSpPr>
            <p:cNvPr id="137" name="타원 136">
              <a:extLst>
                <a:ext uri="{FF2B5EF4-FFF2-40B4-BE49-F238E27FC236}">
                  <a16:creationId xmlns:a16="http://schemas.microsoft.com/office/drawing/2014/main" id="{92800794-F9C3-4570-A93C-EEF0212C7FCE}"/>
                </a:ext>
              </a:extLst>
            </p:cNvPr>
            <p:cNvSpPr/>
            <p:nvPr/>
          </p:nvSpPr>
          <p:spPr>
            <a:xfrm>
              <a:off x="7350059" y="4091199"/>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8" name="타원 137">
              <a:extLst>
                <a:ext uri="{FF2B5EF4-FFF2-40B4-BE49-F238E27FC236}">
                  <a16:creationId xmlns:a16="http://schemas.microsoft.com/office/drawing/2014/main" id="{B84E517A-CD9B-4A1D-9DF2-58BE4E4C171A}"/>
                </a:ext>
              </a:extLst>
            </p:cNvPr>
            <p:cNvSpPr/>
            <p:nvPr/>
          </p:nvSpPr>
          <p:spPr>
            <a:xfrm>
              <a:off x="6500004" y="4595068"/>
              <a:ext cx="504160" cy="504160"/>
            </a:xfrm>
            <a:prstGeom prst="ellipse">
              <a:avLst/>
            </a:prstGeom>
            <a:noFill/>
            <a:ln w="1905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9" name="타원 138">
              <a:extLst>
                <a:ext uri="{FF2B5EF4-FFF2-40B4-BE49-F238E27FC236}">
                  <a16:creationId xmlns:a16="http://schemas.microsoft.com/office/drawing/2014/main" id="{E628B16A-B420-4654-837A-A7B165978F37}"/>
                </a:ext>
              </a:extLst>
            </p:cNvPr>
            <p:cNvSpPr/>
            <p:nvPr/>
          </p:nvSpPr>
          <p:spPr>
            <a:xfrm flipV="1">
              <a:off x="6653429" y="4656341"/>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0" name="타원 139">
              <a:extLst>
                <a:ext uri="{FF2B5EF4-FFF2-40B4-BE49-F238E27FC236}">
                  <a16:creationId xmlns:a16="http://schemas.microsoft.com/office/drawing/2014/main" id="{A9CD3975-E353-42D8-B983-E1430AFEED2F}"/>
                </a:ext>
              </a:extLst>
            </p:cNvPr>
            <p:cNvSpPr/>
            <p:nvPr/>
          </p:nvSpPr>
          <p:spPr>
            <a:xfrm flipV="1">
              <a:off x="6617429" y="4753614"/>
              <a:ext cx="36000" cy="360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1" name="타원 140">
              <a:extLst>
                <a:ext uri="{FF2B5EF4-FFF2-40B4-BE49-F238E27FC236}">
                  <a16:creationId xmlns:a16="http://schemas.microsoft.com/office/drawing/2014/main" id="{93B0ED88-1D04-4E31-8292-88ADD95C856D}"/>
                </a:ext>
              </a:extLst>
            </p:cNvPr>
            <p:cNvSpPr/>
            <p:nvPr/>
          </p:nvSpPr>
          <p:spPr>
            <a:xfrm flipV="1">
              <a:off x="6815293" y="4829148"/>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2" name="타원 141">
              <a:extLst>
                <a:ext uri="{FF2B5EF4-FFF2-40B4-BE49-F238E27FC236}">
                  <a16:creationId xmlns:a16="http://schemas.microsoft.com/office/drawing/2014/main" id="{D2F49C71-6A0D-4649-8DEF-090FD3A0470F}"/>
                </a:ext>
              </a:extLst>
            </p:cNvPr>
            <p:cNvSpPr/>
            <p:nvPr/>
          </p:nvSpPr>
          <p:spPr>
            <a:xfrm flipV="1">
              <a:off x="6779293" y="4926421"/>
              <a:ext cx="36000" cy="360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3" name="타원 142">
              <a:extLst>
                <a:ext uri="{FF2B5EF4-FFF2-40B4-BE49-F238E27FC236}">
                  <a16:creationId xmlns:a16="http://schemas.microsoft.com/office/drawing/2014/main" id="{D8D6112C-204D-4790-9EFA-E5B96BD849E8}"/>
                </a:ext>
              </a:extLst>
            </p:cNvPr>
            <p:cNvSpPr/>
            <p:nvPr/>
          </p:nvSpPr>
          <p:spPr>
            <a:xfrm flipV="1">
              <a:off x="6704451" y="4958810"/>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4" name="타원 143">
              <a:extLst>
                <a:ext uri="{FF2B5EF4-FFF2-40B4-BE49-F238E27FC236}">
                  <a16:creationId xmlns:a16="http://schemas.microsoft.com/office/drawing/2014/main" id="{7D329D2D-5329-4930-BF71-6F301BC9C692}"/>
                </a:ext>
              </a:extLst>
            </p:cNvPr>
            <p:cNvSpPr/>
            <p:nvPr/>
          </p:nvSpPr>
          <p:spPr>
            <a:xfrm flipV="1">
              <a:off x="6815293" y="4668176"/>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5" name="타원 144">
              <a:extLst>
                <a:ext uri="{FF2B5EF4-FFF2-40B4-BE49-F238E27FC236}">
                  <a16:creationId xmlns:a16="http://schemas.microsoft.com/office/drawing/2014/main" id="{92FA77F0-DEF4-42F5-B84A-2D95C9957FED}"/>
                </a:ext>
              </a:extLst>
            </p:cNvPr>
            <p:cNvSpPr/>
            <p:nvPr/>
          </p:nvSpPr>
          <p:spPr>
            <a:xfrm flipV="1">
              <a:off x="6779293" y="4765449"/>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6" name="타원 145">
              <a:extLst>
                <a:ext uri="{FF2B5EF4-FFF2-40B4-BE49-F238E27FC236}">
                  <a16:creationId xmlns:a16="http://schemas.microsoft.com/office/drawing/2014/main" id="{A6AF21D9-F407-40D7-B4D7-5065493F2796}"/>
                </a:ext>
              </a:extLst>
            </p:cNvPr>
            <p:cNvSpPr/>
            <p:nvPr/>
          </p:nvSpPr>
          <p:spPr>
            <a:xfrm flipV="1">
              <a:off x="6872901" y="491229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7" name="타원 146">
              <a:extLst>
                <a:ext uri="{FF2B5EF4-FFF2-40B4-BE49-F238E27FC236}">
                  <a16:creationId xmlns:a16="http://schemas.microsoft.com/office/drawing/2014/main" id="{288A880E-BEFA-413E-B52C-D4A9FD234256}"/>
                </a:ext>
              </a:extLst>
            </p:cNvPr>
            <p:cNvSpPr/>
            <p:nvPr/>
          </p:nvSpPr>
          <p:spPr>
            <a:xfrm flipV="1">
              <a:off x="6734135" y="4690412"/>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8" name="타원 147">
              <a:extLst>
                <a:ext uri="{FF2B5EF4-FFF2-40B4-BE49-F238E27FC236}">
                  <a16:creationId xmlns:a16="http://schemas.microsoft.com/office/drawing/2014/main" id="{EE952A71-7F9B-492B-BEC6-43D41FCFDEC7}"/>
                </a:ext>
              </a:extLst>
            </p:cNvPr>
            <p:cNvSpPr/>
            <p:nvPr/>
          </p:nvSpPr>
          <p:spPr>
            <a:xfrm flipV="1">
              <a:off x="6698135" y="4787685"/>
              <a:ext cx="72000" cy="720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9" name="타원 148">
              <a:extLst>
                <a:ext uri="{FF2B5EF4-FFF2-40B4-BE49-F238E27FC236}">
                  <a16:creationId xmlns:a16="http://schemas.microsoft.com/office/drawing/2014/main" id="{8C38D95D-5881-4847-8DB2-5E1F0CA67427}"/>
                </a:ext>
              </a:extLst>
            </p:cNvPr>
            <p:cNvSpPr/>
            <p:nvPr/>
          </p:nvSpPr>
          <p:spPr>
            <a:xfrm flipV="1">
              <a:off x="6869408" y="4752097"/>
              <a:ext cx="36000" cy="360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0" name="타원 149">
              <a:extLst>
                <a:ext uri="{FF2B5EF4-FFF2-40B4-BE49-F238E27FC236}">
                  <a16:creationId xmlns:a16="http://schemas.microsoft.com/office/drawing/2014/main" id="{E333BAC3-E386-4254-AF3D-F28C90DB4CF6}"/>
                </a:ext>
              </a:extLst>
            </p:cNvPr>
            <p:cNvSpPr/>
            <p:nvPr/>
          </p:nvSpPr>
          <p:spPr>
            <a:xfrm flipV="1">
              <a:off x="6927016" y="4835243"/>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1" name="타원 150">
              <a:extLst>
                <a:ext uri="{FF2B5EF4-FFF2-40B4-BE49-F238E27FC236}">
                  <a16:creationId xmlns:a16="http://schemas.microsoft.com/office/drawing/2014/main" id="{E95F406A-8A1C-44BB-BE4A-B17572F88435}"/>
                </a:ext>
              </a:extLst>
            </p:cNvPr>
            <p:cNvSpPr/>
            <p:nvPr/>
          </p:nvSpPr>
          <p:spPr>
            <a:xfrm flipV="1">
              <a:off x="6548754" y="483981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2" name="타원 151">
              <a:extLst>
                <a:ext uri="{FF2B5EF4-FFF2-40B4-BE49-F238E27FC236}">
                  <a16:creationId xmlns:a16="http://schemas.microsoft.com/office/drawing/2014/main" id="{CC45E47B-4197-4DDD-8BE8-E6603E9CE7AF}"/>
                </a:ext>
              </a:extLst>
            </p:cNvPr>
            <p:cNvSpPr/>
            <p:nvPr/>
          </p:nvSpPr>
          <p:spPr>
            <a:xfrm flipV="1">
              <a:off x="6606362" y="4922960"/>
              <a:ext cx="54000" cy="540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3" name="타원 152">
              <a:extLst>
                <a:ext uri="{FF2B5EF4-FFF2-40B4-BE49-F238E27FC236}">
                  <a16:creationId xmlns:a16="http://schemas.microsoft.com/office/drawing/2014/main" id="{2B6D8791-EC76-4D2C-B1A0-746739C341F1}"/>
                </a:ext>
              </a:extLst>
            </p:cNvPr>
            <p:cNvSpPr/>
            <p:nvPr/>
          </p:nvSpPr>
          <p:spPr>
            <a:xfrm flipV="1">
              <a:off x="6688574" y="5023648"/>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4" name="직선 화살표 연결선 153">
              <a:extLst>
                <a:ext uri="{FF2B5EF4-FFF2-40B4-BE49-F238E27FC236}">
                  <a16:creationId xmlns:a16="http://schemas.microsoft.com/office/drawing/2014/main" id="{248C1B74-F141-4E7F-A5EB-A13E8484D39E}"/>
                </a:ext>
              </a:extLst>
            </p:cNvPr>
            <p:cNvCxnSpPr/>
            <p:nvPr/>
          </p:nvCxnSpPr>
          <p:spPr>
            <a:xfrm>
              <a:off x="7004164" y="4829148"/>
              <a:ext cx="265604" cy="0"/>
            </a:xfrm>
            <a:prstGeom prst="straightConnector1">
              <a:avLst/>
            </a:prstGeom>
            <a:ln>
              <a:solidFill>
                <a:srgbClr val="FDDC96"/>
              </a:solidFill>
              <a:tailEnd type="triangle"/>
            </a:ln>
          </p:spPr>
          <p:style>
            <a:lnRef idx="1">
              <a:schemeClr val="accent1"/>
            </a:lnRef>
            <a:fillRef idx="0">
              <a:schemeClr val="accent1"/>
            </a:fillRef>
            <a:effectRef idx="0">
              <a:schemeClr val="accent1"/>
            </a:effectRef>
            <a:fontRef idx="minor">
              <a:schemeClr val="tx1"/>
            </a:fontRef>
          </p:style>
        </p:cxnSp>
        <p:sp>
          <p:nvSpPr>
            <p:cNvPr id="155" name="타원 154">
              <a:extLst>
                <a:ext uri="{FF2B5EF4-FFF2-40B4-BE49-F238E27FC236}">
                  <a16:creationId xmlns:a16="http://schemas.microsoft.com/office/drawing/2014/main" id="{B0FBD207-E1E5-4F94-A3F0-3A4F3772C4A8}"/>
                </a:ext>
              </a:extLst>
            </p:cNvPr>
            <p:cNvSpPr/>
            <p:nvPr/>
          </p:nvSpPr>
          <p:spPr>
            <a:xfrm>
              <a:off x="7350059" y="4663982"/>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6" name="타원 155">
              <a:extLst>
                <a:ext uri="{FF2B5EF4-FFF2-40B4-BE49-F238E27FC236}">
                  <a16:creationId xmlns:a16="http://schemas.microsoft.com/office/drawing/2014/main" id="{40772A1C-0E6B-4EF8-96D6-1D050CECF9B8}"/>
                </a:ext>
              </a:extLst>
            </p:cNvPr>
            <p:cNvSpPr/>
            <p:nvPr/>
          </p:nvSpPr>
          <p:spPr>
            <a:xfrm>
              <a:off x="6500004" y="5301104"/>
              <a:ext cx="504160" cy="504160"/>
            </a:xfrm>
            <a:prstGeom prst="ellipse">
              <a:avLst/>
            </a:prstGeom>
            <a:noFill/>
            <a:ln w="1905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7" name="타원 156">
              <a:extLst>
                <a:ext uri="{FF2B5EF4-FFF2-40B4-BE49-F238E27FC236}">
                  <a16:creationId xmlns:a16="http://schemas.microsoft.com/office/drawing/2014/main" id="{179FE23F-7FDA-4207-BA44-BAE0492D2957}"/>
                </a:ext>
              </a:extLst>
            </p:cNvPr>
            <p:cNvSpPr/>
            <p:nvPr/>
          </p:nvSpPr>
          <p:spPr>
            <a:xfrm flipV="1">
              <a:off x="6653429" y="5362377"/>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8" name="타원 157">
              <a:extLst>
                <a:ext uri="{FF2B5EF4-FFF2-40B4-BE49-F238E27FC236}">
                  <a16:creationId xmlns:a16="http://schemas.microsoft.com/office/drawing/2014/main" id="{B4222DC8-10B3-4A64-B8E1-72F9E7914E51}"/>
                </a:ext>
              </a:extLst>
            </p:cNvPr>
            <p:cNvSpPr/>
            <p:nvPr/>
          </p:nvSpPr>
          <p:spPr>
            <a:xfrm flipV="1">
              <a:off x="6617429" y="5459650"/>
              <a:ext cx="36000" cy="360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9" name="타원 158">
              <a:extLst>
                <a:ext uri="{FF2B5EF4-FFF2-40B4-BE49-F238E27FC236}">
                  <a16:creationId xmlns:a16="http://schemas.microsoft.com/office/drawing/2014/main" id="{BE859E0C-4485-441D-935D-3EA238745E8B}"/>
                </a:ext>
              </a:extLst>
            </p:cNvPr>
            <p:cNvSpPr/>
            <p:nvPr/>
          </p:nvSpPr>
          <p:spPr>
            <a:xfrm flipV="1">
              <a:off x="6815293" y="553518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0" name="타원 159">
              <a:extLst>
                <a:ext uri="{FF2B5EF4-FFF2-40B4-BE49-F238E27FC236}">
                  <a16:creationId xmlns:a16="http://schemas.microsoft.com/office/drawing/2014/main" id="{36010837-E9D5-4582-9EFA-A4254C1EED98}"/>
                </a:ext>
              </a:extLst>
            </p:cNvPr>
            <p:cNvSpPr/>
            <p:nvPr/>
          </p:nvSpPr>
          <p:spPr>
            <a:xfrm flipV="1">
              <a:off x="6779293" y="5632457"/>
              <a:ext cx="36000" cy="360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1" name="타원 160">
              <a:extLst>
                <a:ext uri="{FF2B5EF4-FFF2-40B4-BE49-F238E27FC236}">
                  <a16:creationId xmlns:a16="http://schemas.microsoft.com/office/drawing/2014/main" id="{D813546E-2862-4D9E-9C0F-1E9F97904AC2}"/>
                </a:ext>
              </a:extLst>
            </p:cNvPr>
            <p:cNvSpPr/>
            <p:nvPr/>
          </p:nvSpPr>
          <p:spPr>
            <a:xfrm flipV="1">
              <a:off x="6704451" y="5664846"/>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2" name="타원 161">
              <a:extLst>
                <a:ext uri="{FF2B5EF4-FFF2-40B4-BE49-F238E27FC236}">
                  <a16:creationId xmlns:a16="http://schemas.microsoft.com/office/drawing/2014/main" id="{B27772E0-2134-418C-8337-88F34C10F358}"/>
                </a:ext>
              </a:extLst>
            </p:cNvPr>
            <p:cNvSpPr/>
            <p:nvPr/>
          </p:nvSpPr>
          <p:spPr>
            <a:xfrm flipV="1">
              <a:off x="6815293" y="5374212"/>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3" name="타원 162">
              <a:extLst>
                <a:ext uri="{FF2B5EF4-FFF2-40B4-BE49-F238E27FC236}">
                  <a16:creationId xmlns:a16="http://schemas.microsoft.com/office/drawing/2014/main" id="{08B23415-B24F-4856-A7FF-853FF1D8E6E5}"/>
                </a:ext>
              </a:extLst>
            </p:cNvPr>
            <p:cNvSpPr/>
            <p:nvPr/>
          </p:nvSpPr>
          <p:spPr>
            <a:xfrm flipV="1">
              <a:off x="6779293" y="5471485"/>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4" name="타원 163">
              <a:extLst>
                <a:ext uri="{FF2B5EF4-FFF2-40B4-BE49-F238E27FC236}">
                  <a16:creationId xmlns:a16="http://schemas.microsoft.com/office/drawing/2014/main" id="{81F3622D-AC12-4CF8-817F-12F5BDB13497}"/>
                </a:ext>
              </a:extLst>
            </p:cNvPr>
            <p:cNvSpPr/>
            <p:nvPr/>
          </p:nvSpPr>
          <p:spPr>
            <a:xfrm flipV="1">
              <a:off x="6872901" y="5618330"/>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5" name="타원 164">
              <a:extLst>
                <a:ext uri="{FF2B5EF4-FFF2-40B4-BE49-F238E27FC236}">
                  <a16:creationId xmlns:a16="http://schemas.microsoft.com/office/drawing/2014/main" id="{99FFAB3D-E582-4D45-9BFF-27E8DF84D511}"/>
                </a:ext>
              </a:extLst>
            </p:cNvPr>
            <p:cNvSpPr/>
            <p:nvPr/>
          </p:nvSpPr>
          <p:spPr>
            <a:xfrm flipV="1">
              <a:off x="6734135" y="5396448"/>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6" name="타원 165">
              <a:extLst>
                <a:ext uri="{FF2B5EF4-FFF2-40B4-BE49-F238E27FC236}">
                  <a16:creationId xmlns:a16="http://schemas.microsoft.com/office/drawing/2014/main" id="{8807CC90-008C-40EB-AC82-2C3A384D7829}"/>
                </a:ext>
              </a:extLst>
            </p:cNvPr>
            <p:cNvSpPr/>
            <p:nvPr/>
          </p:nvSpPr>
          <p:spPr>
            <a:xfrm flipV="1">
              <a:off x="6698135" y="5493721"/>
              <a:ext cx="72000" cy="720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7" name="타원 166">
              <a:extLst>
                <a:ext uri="{FF2B5EF4-FFF2-40B4-BE49-F238E27FC236}">
                  <a16:creationId xmlns:a16="http://schemas.microsoft.com/office/drawing/2014/main" id="{F0E47404-D586-40A7-B662-E14AE8411E69}"/>
                </a:ext>
              </a:extLst>
            </p:cNvPr>
            <p:cNvSpPr/>
            <p:nvPr/>
          </p:nvSpPr>
          <p:spPr>
            <a:xfrm flipV="1">
              <a:off x="6869408" y="5458133"/>
              <a:ext cx="36000" cy="360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8" name="타원 167">
              <a:extLst>
                <a:ext uri="{FF2B5EF4-FFF2-40B4-BE49-F238E27FC236}">
                  <a16:creationId xmlns:a16="http://schemas.microsoft.com/office/drawing/2014/main" id="{2B82E10D-D091-46B4-9CE2-333D339FC320}"/>
                </a:ext>
              </a:extLst>
            </p:cNvPr>
            <p:cNvSpPr/>
            <p:nvPr/>
          </p:nvSpPr>
          <p:spPr>
            <a:xfrm flipV="1">
              <a:off x="6927016" y="5541279"/>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9" name="타원 168">
              <a:extLst>
                <a:ext uri="{FF2B5EF4-FFF2-40B4-BE49-F238E27FC236}">
                  <a16:creationId xmlns:a16="http://schemas.microsoft.com/office/drawing/2014/main" id="{080DA94F-C5FA-4880-B1F6-B49E0D5EACCD}"/>
                </a:ext>
              </a:extLst>
            </p:cNvPr>
            <p:cNvSpPr/>
            <p:nvPr/>
          </p:nvSpPr>
          <p:spPr>
            <a:xfrm flipV="1">
              <a:off x="6548754" y="5545850"/>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0" name="타원 169">
              <a:extLst>
                <a:ext uri="{FF2B5EF4-FFF2-40B4-BE49-F238E27FC236}">
                  <a16:creationId xmlns:a16="http://schemas.microsoft.com/office/drawing/2014/main" id="{59FC192B-D0CD-4B80-92ED-3810B881CAC0}"/>
                </a:ext>
              </a:extLst>
            </p:cNvPr>
            <p:cNvSpPr/>
            <p:nvPr/>
          </p:nvSpPr>
          <p:spPr>
            <a:xfrm flipV="1">
              <a:off x="6606362" y="5628996"/>
              <a:ext cx="54000" cy="540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1" name="타원 170">
              <a:extLst>
                <a:ext uri="{FF2B5EF4-FFF2-40B4-BE49-F238E27FC236}">
                  <a16:creationId xmlns:a16="http://schemas.microsoft.com/office/drawing/2014/main" id="{ACC48195-8D77-431B-BBDC-10E81B2E9F94}"/>
                </a:ext>
              </a:extLst>
            </p:cNvPr>
            <p:cNvSpPr/>
            <p:nvPr/>
          </p:nvSpPr>
          <p:spPr>
            <a:xfrm flipV="1">
              <a:off x="6688574" y="5729684"/>
              <a:ext cx="21600" cy="21600"/>
            </a:xfrm>
            <a:prstGeom prst="ellipse">
              <a:avLst/>
            </a:prstGeom>
            <a:solidFill>
              <a:srgbClr val="FDDC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2" name="직선 화살표 연결선 171">
              <a:extLst>
                <a:ext uri="{FF2B5EF4-FFF2-40B4-BE49-F238E27FC236}">
                  <a16:creationId xmlns:a16="http://schemas.microsoft.com/office/drawing/2014/main" id="{7D7AA257-A975-485D-9D25-E546A844A473}"/>
                </a:ext>
              </a:extLst>
            </p:cNvPr>
            <p:cNvCxnSpPr/>
            <p:nvPr/>
          </p:nvCxnSpPr>
          <p:spPr>
            <a:xfrm>
              <a:off x="7004164" y="5523167"/>
              <a:ext cx="265604" cy="0"/>
            </a:xfrm>
            <a:prstGeom prst="straightConnector1">
              <a:avLst/>
            </a:prstGeom>
            <a:ln>
              <a:solidFill>
                <a:srgbClr val="FDDC96"/>
              </a:solidFill>
              <a:tailEnd type="triangle"/>
            </a:ln>
          </p:spPr>
          <p:style>
            <a:lnRef idx="1">
              <a:schemeClr val="accent1"/>
            </a:lnRef>
            <a:fillRef idx="0">
              <a:schemeClr val="accent1"/>
            </a:fillRef>
            <a:effectRef idx="0">
              <a:schemeClr val="accent1"/>
            </a:effectRef>
            <a:fontRef idx="minor">
              <a:schemeClr val="tx1"/>
            </a:fontRef>
          </p:style>
        </p:cxnSp>
        <p:sp>
          <p:nvSpPr>
            <p:cNvPr id="173" name="타원 172">
              <a:extLst>
                <a:ext uri="{FF2B5EF4-FFF2-40B4-BE49-F238E27FC236}">
                  <a16:creationId xmlns:a16="http://schemas.microsoft.com/office/drawing/2014/main" id="{B38CCCE9-5476-46C1-8144-E89D9A8D0397}"/>
                </a:ext>
              </a:extLst>
            </p:cNvPr>
            <p:cNvSpPr/>
            <p:nvPr/>
          </p:nvSpPr>
          <p:spPr>
            <a:xfrm>
              <a:off x="7350059" y="5370018"/>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74" name="직선 화살표 연결선 173">
              <a:extLst>
                <a:ext uri="{FF2B5EF4-FFF2-40B4-BE49-F238E27FC236}">
                  <a16:creationId xmlns:a16="http://schemas.microsoft.com/office/drawing/2014/main" id="{906C15AE-4E83-4517-B7E0-2DA2658185FB}"/>
                </a:ext>
              </a:extLst>
            </p:cNvPr>
            <p:cNvCxnSpPr/>
            <p:nvPr/>
          </p:nvCxnSpPr>
          <p:spPr>
            <a:xfrm>
              <a:off x="6267903" y="4256365"/>
              <a:ext cx="180000" cy="0"/>
            </a:xfrm>
            <a:prstGeom prst="straightConnector1">
              <a:avLst/>
            </a:prstGeom>
            <a:ln>
              <a:solidFill>
                <a:srgbClr val="FDDC96"/>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직선 화살표 연결선 174">
              <a:extLst>
                <a:ext uri="{FF2B5EF4-FFF2-40B4-BE49-F238E27FC236}">
                  <a16:creationId xmlns:a16="http://schemas.microsoft.com/office/drawing/2014/main" id="{86F016AC-A996-4D0B-850B-2B399442D92F}"/>
                </a:ext>
              </a:extLst>
            </p:cNvPr>
            <p:cNvCxnSpPr/>
            <p:nvPr/>
          </p:nvCxnSpPr>
          <p:spPr>
            <a:xfrm flipH="1">
              <a:off x="7003640" y="4498297"/>
              <a:ext cx="526419" cy="160594"/>
            </a:xfrm>
            <a:prstGeom prst="straightConnector1">
              <a:avLst/>
            </a:prstGeom>
            <a:ln>
              <a:solidFill>
                <a:srgbClr val="FDDC96"/>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직선 화살표 연결선 175">
              <a:extLst>
                <a:ext uri="{FF2B5EF4-FFF2-40B4-BE49-F238E27FC236}">
                  <a16:creationId xmlns:a16="http://schemas.microsoft.com/office/drawing/2014/main" id="{B4A83C9A-D421-4551-A304-80B3F8AF38C3}"/>
                </a:ext>
              </a:extLst>
            </p:cNvPr>
            <p:cNvCxnSpPr/>
            <p:nvPr/>
          </p:nvCxnSpPr>
          <p:spPr>
            <a:xfrm flipH="1">
              <a:off x="7003640" y="5068149"/>
              <a:ext cx="526419" cy="160594"/>
            </a:xfrm>
            <a:prstGeom prst="straightConnector1">
              <a:avLst/>
            </a:prstGeom>
            <a:ln>
              <a:solidFill>
                <a:srgbClr val="FDDC96"/>
              </a:solidFill>
              <a:tailEnd type="triangle"/>
            </a:ln>
          </p:spPr>
          <p:style>
            <a:lnRef idx="1">
              <a:schemeClr val="accent1"/>
            </a:lnRef>
            <a:fillRef idx="0">
              <a:schemeClr val="accent1"/>
            </a:fillRef>
            <a:effectRef idx="0">
              <a:schemeClr val="accent1"/>
            </a:effectRef>
            <a:fontRef idx="minor">
              <a:schemeClr val="tx1"/>
            </a:fontRef>
          </p:style>
        </p:cxnSp>
        <p:sp>
          <p:nvSpPr>
            <p:cNvPr id="177" name="직사각형 176">
              <a:extLst>
                <a:ext uri="{FF2B5EF4-FFF2-40B4-BE49-F238E27FC236}">
                  <a16:creationId xmlns:a16="http://schemas.microsoft.com/office/drawing/2014/main" id="{3FD52FFB-285A-4BCF-ABF6-84DA8295E44F}"/>
                </a:ext>
              </a:extLst>
            </p:cNvPr>
            <p:cNvSpPr/>
            <p:nvPr/>
          </p:nvSpPr>
          <p:spPr>
            <a:xfrm>
              <a:off x="7183660" y="5111473"/>
              <a:ext cx="216024" cy="82766"/>
            </a:xfrm>
            <a:prstGeom prst="rect">
              <a:avLst/>
            </a:prstGeom>
            <a:solidFill>
              <a:srgbClr val="DA3B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8" name="직사각형 19">
              <a:extLst>
                <a:ext uri="{FF2B5EF4-FFF2-40B4-BE49-F238E27FC236}">
                  <a16:creationId xmlns:a16="http://schemas.microsoft.com/office/drawing/2014/main" id="{CDBCF743-8626-48E2-BA37-F0AF1A793B5F}"/>
                </a:ext>
              </a:extLst>
            </p:cNvPr>
            <p:cNvSpPr/>
            <p:nvPr/>
          </p:nvSpPr>
          <p:spPr>
            <a:xfrm>
              <a:off x="6595998" y="4933635"/>
              <a:ext cx="1415754" cy="270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ctr" defTabSz="914400">
                <a:lnSpc>
                  <a:spcPct val="150000"/>
                </a:lnSpc>
                <a:spcAft>
                  <a:spcPts val="400"/>
                </a:spcAft>
                <a:buClr>
                  <a:srgbClr val="193EB0"/>
                </a:buClr>
              </a:pPr>
              <a:r>
                <a:rPr lang="en-US" altLang="ko-KR" sz="1300"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a:t>
              </a:r>
            </a:p>
          </p:txBody>
        </p:sp>
        <p:sp>
          <p:nvSpPr>
            <p:cNvPr id="179" name="직사각형 19">
              <a:extLst>
                <a:ext uri="{FF2B5EF4-FFF2-40B4-BE49-F238E27FC236}">
                  <a16:creationId xmlns:a16="http://schemas.microsoft.com/office/drawing/2014/main" id="{6409A15E-678D-4113-B966-55A3D3105C95}"/>
                </a:ext>
              </a:extLst>
            </p:cNvPr>
            <p:cNvSpPr/>
            <p:nvPr/>
          </p:nvSpPr>
          <p:spPr>
            <a:xfrm>
              <a:off x="4295256" y="5023010"/>
              <a:ext cx="1415754" cy="270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ctr" defTabSz="914400">
                <a:lnSpc>
                  <a:spcPct val="150000"/>
                </a:lnSpc>
                <a:spcAft>
                  <a:spcPts val="400"/>
                </a:spcAft>
                <a:buClr>
                  <a:srgbClr val="193EB0"/>
                </a:buClr>
              </a:pPr>
              <a:r>
                <a:rPr lang="en-US" altLang="ko-KR" sz="1300" dirty="0">
                  <a:solidFill>
                    <a:schemeClr val="bg1"/>
                  </a:solidFill>
                  <a:latin typeface="SamsungOne 400" panose="020B0503030303020204" pitchFamily="34" charset="0"/>
                  <a:ea typeface="SamsungOne 400" panose="020B0503030303020204" pitchFamily="34" charset="0"/>
                  <a:cs typeface="Times New Roman" panose="02020603050405020304" pitchFamily="18" charset="0"/>
                </a:rPr>
                <a:t>…</a:t>
              </a:r>
            </a:p>
          </p:txBody>
        </p:sp>
        <p:pic>
          <p:nvPicPr>
            <p:cNvPr id="180" name="그림 179">
              <a:extLst>
                <a:ext uri="{FF2B5EF4-FFF2-40B4-BE49-F238E27FC236}">
                  <a16:creationId xmlns:a16="http://schemas.microsoft.com/office/drawing/2014/main" id="{16E9030B-FF9D-4B48-A2CF-6E2779EEAD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05247" y="4112514"/>
              <a:ext cx="249622" cy="309057"/>
            </a:xfrm>
            <a:prstGeom prst="rect">
              <a:avLst/>
            </a:prstGeom>
          </p:spPr>
        </p:pic>
        <p:pic>
          <p:nvPicPr>
            <p:cNvPr id="181" name="그림 180">
              <a:extLst>
                <a:ext uri="{FF2B5EF4-FFF2-40B4-BE49-F238E27FC236}">
                  <a16:creationId xmlns:a16="http://schemas.microsoft.com/office/drawing/2014/main" id="{F4D29860-17CC-49DD-8018-EA5FC97BFAC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05247" y="4693054"/>
              <a:ext cx="249622" cy="309057"/>
            </a:xfrm>
            <a:prstGeom prst="rect">
              <a:avLst/>
            </a:prstGeom>
          </p:spPr>
        </p:pic>
        <p:pic>
          <p:nvPicPr>
            <p:cNvPr id="182" name="그림 181">
              <a:extLst>
                <a:ext uri="{FF2B5EF4-FFF2-40B4-BE49-F238E27FC236}">
                  <a16:creationId xmlns:a16="http://schemas.microsoft.com/office/drawing/2014/main" id="{F38B97CB-FD49-41BA-AFA9-9ABA32FB91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05247" y="5394723"/>
              <a:ext cx="249622" cy="309057"/>
            </a:xfrm>
            <a:prstGeom prst="rect">
              <a:avLst/>
            </a:prstGeom>
          </p:spPr>
        </p:pic>
        <p:pic>
          <p:nvPicPr>
            <p:cNvPr id="183" name="그림 182">
              <a:extLst>
                <a:ext uri="{FF2B5EF4-FFF2-40B4-BE49-F238E27FC236}">
                  <a16:creationId xmlns:a16="http://schemas.microsoft.com/office/drawing/2014/main" id="{8849640B-BC0B-4B7F-B0DE-2C0FB016095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03153" y="4112515"/>
              <a:ext cx="249622" cy="309055"/>
            </a:xfrm>
            <a:prstGeom prst="rect">
              <a:avLst/>
            </a:prstGeom>
          </p:spPr>
        </p:pic>
        <p:pic>
          <p:nvPicPr>
            <p:cNvPr id="184" name="그림 183">
              <a:extLst>
                <a:ext uri="{FF2B5EF4-FFF2-40B4-BE49-F238E27FC236}">
                  <a16:creationId xmlns:a16="http://schemas.microsoft.com/office/drawing/2014/main" id="{A79269EF-2A66-40EC-BE05-8B286B0A9D4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03153" y="4693055"/>
              <a:ext cx="249622" cy="309055"/>
            </a:xfrm>
            <a:prstGeom prst="rect">
              <a:avLst/>
            </a:prstGeom>
          </p:spPr>
        </p:pic>
        <p:pic>
          <p:nvPicPr>
            <p:cNvPr id="185" name="그림 184">
              <a:extLst>
                <a:ext uri="{FF2B5EF4-FFF2-40B4-BE49-F238E27FC236}">
                  <a16:creationId xmlns:a16="http://schemas.microsoft.com/office/drawing/2014/main" id="{F819CFDE-2627-44D5-8DA7-A3F1312F401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03153" y="5394724"/>
              <a:ext cx="249622" cy="309055"/>
            </a:xfrm>
            <a:prstGeom prst="rect">
              <a:avLst/>
            </a:prstGeom>
          </p:spPr>
        </p:pic>
        <p:pic>
          <p:nvPicPr>
            <p:cNvPr id="186" name="그림 185">
              <a:extLst>
                <a:ext uri="{FF2B5EF4-FFF2-40B4-BE49-F238E27FC236}">
                  <a16:creationId xmlns:a16="http://schemas.microsoft.com/office/drawing/2014/main" id="{D67D5E5E-E347-4B60-BE8F-1087FEEE923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32321" y="4693055"/>
              <a:ext cx="249621" cy="309055"/>
            </a:xfrm>
            <a:prstGeom prst="rect">
              <a:avLst/>
            </a:prstGeom>
          </p:spPr>
        </p:pic>
      </p:grpSp>
    </p:spTree>
    <p:extLst>
      <p:ext uri="{BB962C8B-B14F-4D97-AF65-F5344CB8AC3E}">
        <p14:creationId xmlns:p14="http://schemas.microsoft.com/office/powerpoint/2010/main" val="2371068371"/>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Learning a series of predictors by supplementing previous models</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F0844BA0-46F0-444A-A334-A68438243E78}"/>
              </a:ext>
            </a:extLst>
          </p:cNvPr>
          <p:cNvSpPr/>
          <p:nvPr/>
        </p:nvSpPr>
        <p:spPr>
          <a:xfrm>
            <a:off x="675556" y="1700213"/>
            <a:ext cx="8632825" cy="31667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AdaBoost</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Train the first distributor (e.g., decision tree) in the training set and make a prediction.</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Slightly increase the weight of the training sample with an inaccurately classified algorithm.</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second distributor uses the updated weight to be trained at the training set and makes a prediction again.</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weight is updated again, and the same process is repeated.</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Gradient boosting</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Similar to AdaBoost, gradient boosting sequentially adds predictors to the ensemble to correct the previous errors.</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However, instead of modifying the sample weight repeatedly as AdaBoost, it trains a new predictor to residual error created by the previous predictor.</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For regression problems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gradient boosted regression tree (GBRT)</a:t>
            </a:r>
          </a:p>
        </p:txBody>
      </p:sp>
    </p:spTree>
    <p:extLst>
      <p:ext uri="{BB962C8B-B14F-4D97-AF65-F5344CB8AC3E}">
        <p14:creationId xmlns:p14="http://schemas.microsoft.com/office/powerpoint/2010/main" val="3843424772"/>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AdaBoost (Adaptive Boosting)</a:t>
            </a:r>
          </a:p>
        </p:txBody>
      </p:sp>
      <p:sp>
        <p:nvSpPr>
          <p:cNvPr id="8" name="직사각형 7">
            <a:extLst>
              <a:ext uri="{FF2B5EF4-FFF2-40B4-BE49-F238E27FC236}">
                <a16:creationId xmlns:a16="http://schemas.microsoft.com/office/drawing/2014/main" id="{F0844BA0-46F0-444A-A334-A68438243E78}"/>
              </a:ext>
            </a:extLst>
          </p:cNvPr>
          <p:cNvSpPr/>
          <p:nvPr/>
        </p:nvSpPr>
        <p:spPr>
          <a:xfrm>
            <a:off x="675556" y="1700213"/>
            <a:ext cx="8632825" cy="1048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AdaBoost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(Adaptive Boosting) is an adaptive boosting method, one of the most representative boosting algorithms.</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As explained,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AdaBoost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sequentially learns weak learning machines and supplements errors by applying weights to inaccurately predicted data.</a:t>
            </a:r>
          </a:p>
        </p:txBody>
      </p:sp>
    </p:spTree>
    <p:extLst>
      <p:ext uri="{BB962C8B-B14F-4D97-AF65-F5344CB8AC3E}">
        <p14:creationId xmlns:p14="http://schemas.microsoft.com/office/powerpoint/2010/main" val="1195190291"/>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Principle of the AdaBoost</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F0844BA0-46F0-444A-A334-A68438243E78}"/>
              </a:ext>
            </a:extLst>
          </p:cNvPr>
          <p:cNvSpPr/>
          <p:nvPr/>
        </p:nvSpPr>
        <p:spPr>
          <a:xfrm>
            <a:off x="4951413" y="1700213"/>
            <a:ext cx="4356968" cy="34540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Box 1 results from a weak learning machine classified as the D1 sector. However, the error rate is relatively high because some datasets are expressed in + distributed in the red sector.</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D2 line in Box 2 moves to the right to supplement the error rate from Box 1. Here, the datasets expressed in – are distributed in the blue sector for better performance, but it is not satisfactory yet.</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D3 line in Box 3 is horizontally drawn on the top. However, the dataset expressed in – is incorrectly classified.</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By training the previous Box 1, 2, and 3, Box 4 finds the most ideal combination. It shows much better performance compared to the previous three individual learning machines.</a:t>
            </a:r>
          </a:p>
        </p:txBody>
      </p:sp>
      <p:grpSp>
        <p:nvGrpSpPr>
          <p:cNvPr id="2" name="그룹 1">
            <a:extLst>
              <a:ext uri="{FF2B5EF4-FFF2-40B4-BE49-F238E27FC236}">
                <a16:creationId xmlns:a16="http://schemas.microsoft.com/office/drawing/2014/main" id="{B4142367-6DFC-4735-AF9D-846E9F666644}"/>
              </a:ext>
            </a:extLst>
          </p:cNvPr>
          <p:cNvGrpSpPr/>
          <p:nvPr/>
        </p:nvGrpSpPr>
        <p:grpSpPr>
          <a:xfrm>
            <a:off x="557278" y="1756419"/>
            <a:ext cx="4214113" cy="3364769"/>
            <a:chOff x="557278" y="1688887"/>
            <a:chExt cx="4214113" cy="3364769"/>
          </a:xfrm>
        </p:grpSpPr>
        <p:pic>
          <p:nvPicPr>
            <p:cNvPr id="7" name="그림 6">
              <a:extLst>
                <a:ext uri="{FF2B5EF4-FFF2-40B4-BE49-F238E27FC236}">
                  <a16:creationId xmlns:a16="http://schemas.microsoft.com/office/drawing/2014/main" id="{BB4C1DA5-17C1-4BAC-81A1-E2C12106B05A}"/>
                </a:ext>
              </a:extLst>
            </p:cNvPr>
            <p:cNvPicPr>
              <a:picLocks noChangeAspect="1"/>
            </p:cNvPicPr>
            <p:nvPr/>
          </p:nvPicPr>
          <p:blipFill rotWithShape="1">
            <a:blip r:embed="rId4">
              <a:extLst>
                <a:ext uri="{28A0092B-C50C-407E-A947-70E740481C1C}">
                  <a14:useLocalDpi xmlns:a14="http://schemas.microsoft.com/office/drawing/2010/main" val="0"/>
                </a:ext>
              </a:extLst>
            </a:blip>
            <a:srcRect l="7183" t="27299" r="41709" b="27497"/>
            <a:stretch/>
          </p:blipFill>
          <p:spPr>
            <a:xfrm>
              <a:off x="557278" y="1688887"/>
              <a:ext cx="4214113" cy="3364769"/>
            </a:xfrm>
            <a:prstGeom prst="rect">
              <a:avLst/>
            </a:prstGeom>
          </p:spPr>
        </p:pic>
        <p:sp>
          <p:nvSpPr>
            <p:cNvPr id="9" name="TextBox 8">
              <a:extLst>
                <a:ext uri="{FF2B5EF4-FFF2-40B4-BE49-F238E27FC236}">
                  <a16:creationId xmlns:a16="http://schemas.microsoft.com/office/drawing/2014/main" id="{A40187FB-BA71-4383-9C7B-D3FAA1730C80}"/>
                </a:ext>
              </a:extLst>
            </p:cNvPr>
            <p:cNvSpPr txBox="1"/>
            <p:nvPr/>
          </p:nvSpPr>
          <p:spPr>
            <a:xfrm>
              <a:off x="2071092" y="1760492"/>
              <a:ext cx="727788" cy="200055"/>
            </a:xfrm>
            <a:prstGeom prst="rect">
              <a:avLst/>
            </a:prstGeom>
            <a:solidFill>
              <a:schemeClr val="bg1"/>
            </a:solidFill>
          </p:spPr>
          <p:txBody>
            <a:bodyPr wrap="square" lIns="0" tIns="0" rIns="0" bIns="0">
              <a:spAutoFit/>
            </a:bodyPr>
            <a:lstStyle>
              <a:defPPr>
                <a:defRPr lang="en-US"/>
              </a:defPPr>
              <a:lvl1pPr algn="ctr">
                <a:defRPr sz="13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Box 2</a:t>
              </a:r>
              <a:endParaRPr lang="ko-KR" altLang="en-US" dirty="0"/>
            </a:p>
          </p:txBody>
        </p:sp>
        <p:sp>
          <p:nvSpPr>
            <p:cNvPr id="11" name="TextBox 10">
              <a:extLst>
                <a:ext uri="{FF2B5EF4-FFF2-40B4-BE49-F238E27FC236}">
                  <a16:creationId xmlns:a16="http://schemas.microsoft.com/office/drawing/2014/main" id="{1D553218-FBF6-4490-981D-25E6F6AF68E1}"/>
                </a:ext>
              </a:extLst>
            </p:cNvPr>
            <p:cNvSpPr txBox="1"/>
            <p:nvPr/>
          </p:nvSpPr>
          <p:spPr>
            <a:xfrm>
              <a:off x="866343" y="1960547"/>
              <a:ext cx="406279" cy="200055"/>
            </a:xfrm>
            <a:prstGeom prst="rect">
              <a:avLst/>
            </a:prstGeom>
            <a:solidFill>
              <a:schemeClr val="bg1"/>
            </a:solidFill>
          </p:spPr>
          <p:txBody>
            <a:bodyPr wrap="square" lIns="0" tIns="0" rIns="0" bIns="0">
              <a:spAutoFit/>
            </a:bodyPr>
            <a:lstStyle/>
            <a:p>
              <a:pPr algn="ct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D1</a:t>
              </a:r>
              <a:endParaRPr lang="ko-KR" altLang="en-US" sz="1300" dirty="0">
                <a:solidFill>
                  <a:schemeClr val="tx1">
                    <a:lumMod val="85000"/>
                    <a:lumOff val="15000"/>
                  </a:schemeClr>
                </a:solidFill>
                <a:latin typeface="SamsungOne 400" panose="020B0503030303020204" pitchFamily="34" charset="0"/>
              </a:endParaRPr>
            </a:p>
          </p:txBody>
        </p:sp>
        <p:sp>
          <p:nvSpPr>
            <p:cNvPr id="12" name="TextBox 11">
              <a:extLst>
                <a:ext uri="{FF2B5EF4-FFF2-40B4-BE49-F238E27FC236}">
                  <a16:creationId xmlns:a16="http://schemas.microsoft.com/office/drawing/2014/main" id="{99DC5A53-EB1B-4F47-9242-3AD176141430}"/>
                </a:ext>
              </a:extLst>
            </p:cNvPr>
            <p:cNvSpPr txBox="1"/>
            <p:nvPr/>
          </p:nvSpPr>
          <p:spPr>
            <a:xfrm>
              <a:off x="2818867" y="1978976"/>
              <a:ext cx="406279" cy="200055"/>
            </a:xfrm>
            <a:prstGeom prst="rect">
              <a:avLst/>
            </a:prstGeom>
            <a:solidFill>
              <a:schemeClr val="bg1"/>
            </a:solidFill>
          </p:spPr>
          <p:txBody>
            <a:bodyPr wrap="square" lIns="0" tIns="0" rIns="0" bIns="0">
              <a:spAutoFit/>
            </a:bodyPr>
            <a:lstStyle/>
            <a:p>
              <a:pPr algn="ct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D2</a:t>
              </a:r>
              <a:endParaRPr lang="ko-KR" altLang="en-US" sz="1300" dirty="0">
                <a:solidFill>
                  <a:schemeClr val="tx1">
                    <a:lumMod val="85000"/>
                    <a:lumOff val="15000"/>
                  </a:schemeClr>
                </a:solidFill>
                <a:latin typeface="SamsungOne 400" panose="020B0503030303020204" pitchFamily="34" charset="0"/>
              </a:endParaRPr>
            </a:p>
          </p:txBody>
        </p:sp>
        <p:sp>
          <p:nvSpPr>
            <p:cNvPr id="13" name="TextBox 12">
              <a:extLst>
                <a:ext uri="{FF2B5EF4-FFF2-40B4-BE49-F238E27FC236}">
                  <a16:creationId xmlns:a16="http://schemas.microsoft.com/office/drawing/2014/main" id="{A56E434B-9F01-4622-98FF-19550CFC4749}"/>
                </a:ext>
              </a:extLst>
            </p:cNvPr>
            <p:cNvSpPr txBox="1"/>
            <p:nvPr/>
          </p:nvSpPr>
          <p:spPr>
            <a:xfrm>
              <a:off x="4365112" y="2344745"/>
              <a:ext cx="406279" cy="200055"/>
            </a:xfrm>
            <a:prstGeom prst="rect">
              <a:avLst/>
            </a:prstGeom>
            <a:solidFill>
              <a:schemeClr val="bg1"/>
            </a:solidFill>
          </p:spPr>
          <p:txBody>
            <a:bodyPr wrap="square" lIns="0" tIns="0" rIns="0" bIns="0">
              <a:spAutoFit/>
            </a:bodyPr>
            <a:lstStyle/>
            <a:p>
              <a:pPr algn="ct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D3</a:t>
              </a:r>
              <a:endParaRPr lang="ko-KR" altLang="en-US" sz="1300" dirty="0">
                <a:solidFill>
                  <a:schemeClr val="tx1">
                    <a:lumMod val="85000"/>
                    <a:lumOff val="15000"/>
                  </a:schemeClr>
                </a:solidFill>
                <a:latin typeface="SamsungOne 400" panose="020B0503030303020204" pitchFamily="34" charset="0"/>
              </a:endParaRPr>
            </a:p>
          </p:txBody>
        </p:sp>
        <p:sp>
          <p:nvSpPr>
            <p:cNvPr id="15" name="TextBox 14">
              <a:extLst>
                <a:ext uri="{FF2B5EF4-FFF2-40B4-BE49-F238E27FC236}">
                  <a16:creationId xmlns:a16="http://schemas.microsoft.com/office/drawing/2014/main" id="{95EC71EC-B9FD-484D-A2AF-079E5BE6BAC0}"/>
                </a:ext>
              </a:extLst>
            </p:cNvPr>
            <p:cNvSpPr txBox="1"/>
            <p:nvPr/>
          </p:nvSpPr>
          <p:spPr>
            <a:xfrm>
              <a:off x="666750" y="3969060"/>
              <a:ext cx="727788" cy="200055"/>
            </a:xfrm>
            <a:prstGeom prst="rect">
              <a:avLst/>
            </a:prstGeom>
            <a:solidFill>
              <a:schemeClr val="bg1"/>
            </a:solidFill>
          </p:spPr>
          <p:txBody>
            <a:bodyPr wrap="square" lIns="0" tIns="0" rIns="0" bIns="0">
              <a:spAutoFit/>
            </a:bodyPr>
            <a:lstStyle>
              <a:defPPr>
                <a:defRPr lang="en-US"/>
              </a:defPPr>
              <a:lvl1pPr algn="ctr">
                <a:defRPr sz="13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Box 1</a:t>
              </a:r>
              <a:endParaRPr lang="ko-KR" altLang="en-US" dirty="0"/>
            </a:p>
          </p:txBody>
        </p:sp>
        <p:sp>
          <p:nvSpPr>
            <p:cNvPr id="16" name="TextBox 15">
              <a:extLst>
                <a:ext uri="{FF2B5EF4-FFF2-40B4-BE49-F238E27FC236}">
                  <a16:creationId xmlns:a16="http://schemas.microsoft.com/office/drawing/2014/main" id="{AC7B32CA-FB62-4A5A-9CA3-9766FE506F3D}"/>
                </a:ext>
              </a:extLst>
            </p:cNvPr>
            <p:cNvSpPr txBox="1"/>
            <p:nvPr/>
          </p:nvSpPr>
          <p:spPr>
            <a:xfrm>
              <a:off x="3511252" y="3973679"/>
              <a:ext cx="727788" cy="200055"/>
            </a:xfrm>
            <a:prstGeom prst="rect">
              <a:avLst/>
            </a:prstGeom>
            <a:solidFill>
              <a:schemeClr val="bg1"/>
            </a:solidFill>
          </p:spPr>
          <p:txBody>
            <a:bodyPr wrap="square" lIns="0" tIns="0" rIns="0" bIns="0">
              <a:spAutoFit/>
            </a:bodyPr>
            <a:lstStyle>
              <a:defPPr>
                <a:defRPr lang="en-US"/>
              </a:defPPr>
              <a:lvl1pPr algn="ctr">
                <a:defRPr sz="13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Box 3</a:t>
              </a:r>
              <a:endParaRPr lang="ko-KR" altLang="en-US" dirty="0"/>
            </a:p>
          </p:txBody>
        </p:sp>
        <p:sp>
          <p:nvSpPr>
            <p:cNvPr id="17" name="TextBox 16">
              <a:extLst>
                <a:ext uri="{FF2B5EF4-FFF2-40B4-BE49-F238E27FC236}">
                  <a16:creationId xmlns:a16="http://schemas.microsoft.com/office/drawing/2014/main" id="{C15529DF-27B5-4700-9023-508B9741BED4}"/>
                </a:ext>
              </a:extLst>
            </p:cNvPr>
            <p:cNvSpPr txBox="1"/>
            <p:nvPr/>
          </p:nvSpPr>
          <p:spPr>
            <a:xfrm>
              <a:off x="3439244" y="4581128"/>
              <a:ext cx="432048" cy="200055"/>
            </a:xfrm>
            <a:prstGeom prst="rect">
              <a:avLst/>
            </a:prstGeom>
            <a:solidFill>
              <a:schemeClr val="bg1"/>
            </a:solidFill>
          </p:spPr>
          <p:txBody>
            <a:bodyPr wrap="square" lIns="0" tIns="0" rIns="0" bIns="0">
              <a:spAutoFit/>
            </a:bodyPr>
            <a:lstStyle>
              <a:defPPr>
                <a:defRPr lang="en-US"/>
              </a:defPPr>
              <a:lvl1pPr algn="ctr">
                <a:defRPr sz="1300">
                  <a:solidFill>
                    <a:schemeClr val="tx1">
                      <a:lumMod val="85000"/>
                      <a:lumOff val="15000"/>
                    </a:schemeClr>
                  </a:solidFill>
                  <a:latin typeface="SamsungOne 400" panose="020B0503030303020204" pitchFamily="34" charset="0"/>
                  <a:ea typeface="SamsungOne 400" panose="020B0503030303020204" pitchFamily="34" charset="0"/>
                </a:defRPr>
              </a:lvl1pPr>
            </a:lstStyle>
            <a:p>
              <a:r>
                <a:rPr lang="en-US" altLang="ko-KR" dirty="0"/>
                <a:t>Box 4</a:t>
              </a:r>
              <a:endParaRPr lang="ko-KR" altLang="en-US" dirty="0"/>
            </a:p>
          </p:txBody>
        </p:sp>
      </p:grpSp>
    </p:spTree>
    <p:extLst>
      <p:ext uri="{BB962C8B-B14F-4D97-AF65-F5344CB8AC3E}">
        <p14:creationId xmlns:p14="http://schemas.microsoft.com/office/powerpoint/2010/main" val="3523140182"/>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Principle of the AdaBoost</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F0844BA0-46F0-444A-A334-A68438243E78}"/>
              </a:ext>
            </a:extLst>
          </p:cNvPr>
          <p:cNvSpPr/>
          <p:nvPr/>
        </p:nvSpPr>
        <p:spPr>
          <a:xfrm>
            <a:off x="666750" y="1700213"/>
            <a:ext cx="8641631" cy="345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How is the weight applied for combination?</a:t>
            </a:r>
          </a:p>
        </p:txBody>
      </p:sp>
      <p:grpSp>
        <p:nvGrpSpPr>
          <p:cNvPr id="18" name="그룹 17">
            <a:extLst>
              <a:ext uri="{FF2B5EF4-FFF2-40B4-BE49-F238E27FC236}">
                <a16:creationId xmlns:a16="http://schemas.microsoft.com/office/drawing/2014/main" id="{04A8AA3A-B7CE-487E-8A02-780440144FF9}"/>
              </a:ext>
            </a:extLst>
          </p:cNvPr>
          <p:cNvGrpSpPr/>
          <p:nvPr/>
        </p:nvGrpSpPr>
        <p:grpSpPr>
          <a:xfrm>
            <a:off x="847725" y="2037569"/>
            <a:ext cx="7308261" cy="1556049"/>
            <a:chOff x="903506" y="2440226"/>
            <a:chExt cx="7308261" cy="1556049"/>
          </a:xfrm>
        </p:grpSpPr>
        <p:sp>
          <p:nvSpPr>
            <p:cNvPr id="19" name="사각형: 둥근 모서리 2">
              <a:extLst>
                <a:ext uri="{FF2B5EF4-FFF2-40B4-BE49-F238E27FC236}">
                  <a16:creationId xmlns:a16="http://schemas.microsoft.com/office/drawing/2014/main" id="{A1E3E5AA-9693-44E3-9BA7-16D603BA8376}"/>
                </a:ext>
              </a:extLst>
            </p:cNvPr>
            <p:cNvSpPr/>
            <p:nvPr/>
          </p:nvSpPr>
          <p:spPr>
            <a:xfrm>
              <a:off x="903506" y="2490277"/>
              <a:ext cx="290279" cy="223667"/>
            </a:xfrm>
            <a:prstGeom prst="round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b="1" dirty="0">
                  <a:solidFill>
                    <a:schemeClr val="bg1"/>
                  </a:solidFill>
                  <a:latin typeface="SamsungOne 400" panose="020B0503030303020204" pitchFamily="34" charset="0"/>
                  <a:ea typeface="SamsungOne 400" panose="020B0503030303020204" pitchFamily="34" charset="0"/>
                </a:rPr>
                <a:t>Ex</a:t>
              </a:r>
              <a:endParaRPr lang="ko-KR" altLang="en-US" sz="1300" b="1" dirty="0">
                <a:solidFill>
                  <a:schemeClr val="bg1"/>
                </a:solidFill>
                <a:latin typeface="SamsungOne 400" panose="020B0503030303020204" pitchFamily="34" charset="0"/>
              </a:endParaRPr>
            </a:p>
          </p:txBody>
        </p:sp>
        <p:sp>
          <p:nvSpPr>
            <p:cNvPr id="20" name="직사각형 19">
              <a:extLst>
                <a:ext uri="{FF2B5EF4-FFF2-40B4-BE49-F238E27FC236}">
                  <a16:creationId xmlns:a16="http://schemas.microsoft.com/office/drawing/2014/main" id="{5A949B13-0F35-4D99-AEFC-DFF937B066E3}"/>
                </a:ext>
              </a:extLst>
            </p:cNvPr>
            <p:cNvSpPr/>
            <p:nvPr/>
          </p:nvSpPr>
          <p:spPr>
            <a:xfrm>
              <a:off x="1279004" y="2440226"/>
              <a:ext cx="6932763" cy="15560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0" lvl="1" defTabSz="914400">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Suppose that the following weight will be applied to the performance of Box 1~3.</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Performance of Box 1: weight = 0.2</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Performance of Box 2:</a:t>
              </a:r>
              <a:r>
                <a:rPr lang="ko-KR" altLang="en-US" sz="1300" dirty="0">
                  <a:solidFill>
                    <a:schemeClr val="tx1">
                      <a:lumMod val="85000"/>
                      <a:lumOff val="15000"/>
                    </a:schemeClr>
                  </a:solidFill>
                  <a:latin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weight = 0.5</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Performance of Box 3:</a:t>
              </a:r>
              <a:r>
                <a:rPr lang="ko-KR" altLang="en-US" sz="1300" dirty="0">
                  <a:solidFill>
                    <a:schemeClr val="tx1">
                      <a:lumMod val="85000"/>
                      <a:lumOff val="15000"/>
                    </a:schemeClr>
                  </a:solidFill>
                  <a:latin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weight = 0.6</a:t>
              </a:r>
            </a:p>
            <a:p>
              <a:pPr marL="0" lvl="1" defTabSz="914400">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It can be expressed as the following formula:</a:t>
              </a:r>
            </a:p>
          </p:txBody>
        </p:sp>
      </p:grpSp>
      <p:sp>
        <p:nvSpPr>
          <p:cNvPr id="21" name="직사각형 20">
            <a:extLst>
              <a:ext uri="{FF2B5EF4-FFF2-40B4-BE49-F238E27FC236}">
                <a16:creationId xmlns:a16="http://schemas.microsoft.com/office/drawing/2014/main" id="{0065452D-9ECD-4ECC-A794-DFA3B71A88C5}"/>
              </a:ext>
            </a:extLst>
          </p:cNvPr>
          <p:cNvSpPr/>
          <p:nvPr/>
        </p:nvSpPr>
        <p:spPr>
          <a:xfrm>
            <a:off x="1314035" y="3630689"/>
            <a:ext cx="3528578" cy="345461"/>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algn="ctr" defTabSz="914400">
              <a:spcAft>
                <a:spcPts val="800"/>
              </a:spcAft>
              <a:buClr>
                <a:srgbClr val="193EB0"/>
              </a:buCl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0.2 * Box 1 + 0.5 + Box 2 + 0.6 * Box 3 = Box 4</a:t>
            </a:r>
          </a:p>
        </p:txBody>
      </p:sp>
    </p:spTree>
    <p:extLst>
      <p:ext uri="{BB962C8B-B14F-4D97-AF65-F5344CB8AC3E}">
        <p14:creationId xmlns:p14="http://schemas.microsoft.com/office/powerpoint/2010/main" val="1861350536"/>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Gradient Descent</a:t>
            </a:r>
          </a:p>
        </p:txBody>
      </p:sp>
      <p:sp>
        <p:nvSpPr>
          <p:cNvPr id="8" name="직사각형 7">
            <a:extLst>
              <a:ext uri="{FF2B5EF4-FFF2-40B4-BE49-F238E27FC236}">
                <a16:creationId xmlns:a16="http://schemas.microsoft.com/office/drawing/2014/main" id="{F0844BA0-46F0-444A-A334-A68438243E78}"/>
              </a:ext>
            </a:extLst>
          </p:cNvPr>
          <p:cNvSpPr/>
          <p:nvPr/>
        </p:nvSpPr>
        <p:spPr>
          <a:xfrm>
            <a:off x="666750" y="1700213"/>
            <a:ext cx="8641631" cy="46799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key to the boosting method is to supplement errors from the previous learning.</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AdaBoosting</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and gradient descent methods are slightly different in</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how</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to</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supplement</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errors.</a:t>
            </a:r>
            <a:r>
              <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rPr>
              <a:t> </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Gradient descent uses differentiation to minimize the difference between the predicted value and actual data.</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Weight </a:t>
            </a:r>
            <a:endParaRPr lang="ko-KR" altLang="en-US" sz="1300" dirty="0">
              <a:solidFill>
                <a:schemeClr val="tx1">
                  <a:lumMod val="85000"/>
                  <a:lumOff val="15000"/>
                </a:schemeClr>
              </a:solidFill>
              <a:latin typeface="SamsungOne 400" panose="020B0503030303020204" pitchFamily="34" charset="0"/>
            </a:endParaRPr>
          </a:p>
          <a:p>
            <a:pPr marL="355600" lvl="1" indent="-179388" defTabSz="914400">
              <a:spcAft>
                <a:spcPts val="800"/>
              </a:spcAft>
              <a:buClr>
                <a:srgbClr val="193EB0"/>
              </a:buClr>
              <a:buFont typeface="Arial" panose="020B0604020202020204" pitchFamily="34" charset="0"/>
              <a:buChar char="•"/>
            </a:pP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Input_data</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 feature data (input data)</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Bias</a:t>
            </a:r>
            <a:endParaRPr lang="ko-KR" altLang="en-US" sz="1300" dirty="0">
              <a:solidFill>
                <a:schemeClr val="tx1">
                  <a:lumMod val="85000"/>
                  <a:lumOff val="15000"/>
                </a:schemeClr>
              </a:solidFill>
              <a:latin typeface="SamsungOne 400" panose="020B0503030303020204" pitchFamily="34" charset="0"/>
            </a:endParaRPr>
          </a:p>
          <a:p>
            <a:pPr marL="355600" lvl="1" indent="-179388" defTabSz="914400">
              <a:spcAft>
                <a:spcPts val="800"/>
              </a:spcAft>
              <a:buClr>
                <a:srgbClr val="193EB0"/>
              </a:buClr>
              <a:buFont typeface="Arial" panose="020B0604020202020204" pitchFamily="34" charset="0"/>
              <a:buChar char="•"/>
            </a:pP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Y_actual</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 actual data value</a:t>
            </a:r>
            <a:endParaRPr lang="ko-KR" altLang="en-US" sz="1300" dirty="0">
              <a:solidFill>
                <a:schemeClr val="tx1">
                  <a:lumMod val="85000"/>
                  <a:lumOff val="15000"/>
                </a:schemeClr>
              </a:solidFill>
              <a:latin typeface="SamsungOne 400" panose="020B0503030303020204" pitchFamily="34" charset="0"/>
            </a:endParaRPr>
          </a:p>
          <a:p>
            <a:pPr marL="355600" lvl="1" indent="-179388" defTabSz="914400">
              <a:spcAft>
                <a:spcPts val="800"/>
              </a:spcAft>
              <a:buClr>
                <a:srgbClr val="193EB0"/>
              </a:buClr>
              <a:buFont typeface="Arial" panose="020B0604020202020204" pitchFamily="34" charset="0"/>
              <a:buChar char="•"/>
            </a:pP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Y_predict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 predicted value</a:t>
            </a:r>
            <a:endParaRPr lang="ko-KR" altLang="en-US" sz="1300" dirty="0">
              <a:solidFill>
                <a:schemeClr val="tx1">
                  <a:lumMod val="85000"/>
                  <a:lumOff val="15000"/>
                </a:schemeClr>
              </a:solidFill>
              <a:latin typeface="SamsungOne 400" panose="020B0503030303020204" pitchFamily="34" charset="0"/>
            </a:endParaRP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Loss = error rate</a:t>
            </a:r>
            <a:endParaRPr lang="ko-KR" altLang="en-US" sz="1300" dirty="0">
              <a:solidFill>
                <a:schemeClr val="tx1">
                  <a:lumMod val="85000"/>
                  <a:lumOff val="15000"/>
                </a:schemeClr>
              </a:solidFill>
              <a:latin typeface="SamsungOne 400" panose="020B0503030303020204" pitchFamily="34" charset="0"/>
            </a:endParaRPr>
          </a:p>
          <a:p>
            <a:pPr marL="182563" indent="-182563" defTabSz="914400">
              <a:spcAft>
                <a:spcPts val="800"/>
              </a:spcAft>
              <a:buClr>
                <a:srgbClr val="193EB0"/>
              </a:buClr>
              <a:buFont typeface="SamsungOne 400" panose="020B0503030303020204" pitchFamily="34" charset="0"/>
              <a:buChar char="‣"/>
            </a:pP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Y_predict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 weight*</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input_data+bias</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predictive value can be obtained from the above formula.</a:t>
            </a:r>
            <a:b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b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Calculating the difference with actual data will result in the total error rate.</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Loss =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Y_predict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Y_actual</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(There are many different functional formulas to define error rate, including root means square error and means absolute error, but the above definition is provided for convenience.)</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purpose of gradient descent is to find the weight that makes the loss closest to 0.</a:t>
            </a:r>
          </a:p>
        </p:txBody>
      </p:sp>
    </p:spTree>
    <p:extLst>
      <p:ext uri="{BB962C8B-B14F-4D97-AF65-F5344CB8AC3E}">
        <p14:creationId xmlns:p14="http://schemas.microsoft.com/office/powerpoint/2010/main" val="2251929026"/>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Gradient Boosting Machine (GBM)</a:t>
            </a:r>
          </a:p>
        </p:txBody>
      </p:sp>
      <p:sp>
        <p:nvSpPr>
          <p:cNvPr id="8" name="직사각형 7">
            <a:extLst>
              <a:ext uri="{FF2B5EF4-FFF2-40B4-BE49-F238E27FC236}">
                <a16:creationId xmlns:a16="http://schemas.microsoft.com/office/drawing/2014/main" id="{F0844BA0-46F0-444A-A334-A68438243E78}"/>
              </a:ext>
            </a:extLst>
          </p:cNvPr>
          <p:cNvSpPr/>
          <p:nvPr/>
        </p:nvSpPr>
        <p:spPr>
          <a:xfrm>
            <a:off x="666750" y="1700213"/>
            <a:ext cx="8641631" cy="2258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boosting algorithm in gradient descent is called gradient boosting machine, abbreviated as GBM. It is provided in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sklearn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package and applicable to both classification and regression problems.</a:t>
            </a:r>
          </a:p>
          <a:p>
            <a:pPr marL="355600" lvl="1" indent="-179388" defTabSz="914400">
              <a:spcAft>
                <a:spcPts val="800"/>
              </a:spcAft>
              <a:buClr>
                <a:srgbClr val="193EB0"/>
              </a:buClr>
              <a:buFont typeface="Arial" panose="020B0604020202020204" pitchFamily="34" charset="0"/>
              <a:buChar char="•"/>
            </a:pP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GradientBoostingClassifier</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355600" lvl="1" indent="-179388" defTabSz="914400">
              <a:spcAft>
                <a:spcPts val="800"/>
              </a:spcAft>
              <a:buClr>
                <a:srgbClr val="193EB0"/>
              </a:buClr>
              <a:buFont typeface="Arial" panose="020B0604020202020204" pitchFamily="34" charset="0"/>
              <a:buChar char="•"/>
            </a:pP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GradientBoostingRegressor</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It is extremely easy to apply in actual problems.</a:t>
            </a:r>
          </a:p>
          <a:p>
            <a:pPr marL="182563" indent="-182563" defTabSz="914400">
              <a:spcAft>
                <a:spcPts val="800"/>
              </a:spcAft>
              <a:buClr>
                <a:srgbClr val="193EB0"/>
              </a:buClr>
              <a:buFont typeface="SamsungOne 400" panose="020B0503030303020204" pitchFamily="34" charset="0"/>
              <a:buChar char="‣"/>
            </a:pP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XGBoost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and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LightGBM</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are two major ML packages mostly used in Kaggle.</a:t>
            </a:r>
          </a:p>
          <a:p>
            <a:pPr marL="182563" indent="-182563" defTabSz="914400">
              <a:spcAft>
                <a:spcPts val="800"/>
              </a:spcAft>
              <a:buClr>
                <a:srgbClr val="193EB0"/>
              </a:buClr>
              <a:buFont typeface="SamsungOne 400" panose="020B0503030303020204" pitchFamily="34" charset="0"/>
              <a:buChar char="‣"/>
            </a:pP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XGBoost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and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LightGBM</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are not provided in the existing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sklearn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package. However,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sklearn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wrapper class allows an easy application for fit &amp; predict similar to the ML class of the existing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sklearn</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package. </a:t>
            </a:r>
          </a:p>
        </p:txBody>
      </p:sp>
    </p:spTree>
    <p:extLst>
      <p:ext uri="{BB962C8B-B14F-4D97-AF65-F5344CB8AC3E}">
        <p14:creationId xmlns:p14="http://schemas.microsoft.com/office/powerpoint/2010/main" val="4083655246"/>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Gradient Boosting Machine (GBM)</a:t>
            </a:r>
          </a:p>
        </p:txBody>
      </p:sp>
      <p:sp>
        <p:nvSpPr>
          <p:cNvPr id="8" name="직사각형 7">
            <a:extLst>
              <a:ext uri="{FF2B5EF4-FFF2-40B4-BE49-F238E27FC236}">
                <a16:creationId xmlns:a16="http://schemas.microsoft.com/office/drawing/2014/main" id="{F0844BA0-46F0-444A-A334-A68438243E78}"/>
              </a:ext>
            </a:extLst>
          </p:cNvPr>
          <p:cNvSpPr/>
          <p:nvPr/>
        </p:nvSpPr>
        <p:spPr>
          <a:xfrm>
            <a:off x="666750" y="1700213"/>
            <a:ext cx="8641631" cy="17561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Together with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XGBoost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LightGBM</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is the most highlighted boosting algorithm. Although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XGBoost</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has an excellent performance, its learning time is too long.</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Advantages of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LightGBM</a:t>
            </a:r>
            <a:endParaRPr lang="ko-KR" altLang="en-US" sz="1300" dirty="0">
              <a:solidFill>
                <a:schemeClr val="tx1">
                  <a:lumMod val="85000"/>
                  <a:lumOff val="15000"/>
                </a:schemeClr>
              </a:solidFill>
              <a:latin typeface="SamsungOne 400" panose="020B0503030303020204" pitchFamily="34" charset="0"/>
              <a:ea typeface="SamsungOne 400" panose="020B0503030303020204" pitchFamily="34" charset="0"/>
            </a:endParaRP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Short learning time</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Relatively small memory use</a:t>
            </a:r>
          </a:p>
          <a:p>
            <a:pPr marL="355600" lvl="1" indent="-179388" defTabSz="914400">
              <a:spcAft>
                <a:spcPts val="800"/>
              </a:spcAft>
              <a:buClr>
                <a:srgbClr val="193EB0"/>
              </a:buClr>
              <a:buFont typeface="Arial" panose="020B0604020202020204" pitchFamily="34" charset="0"/>
              <a:buChar char="•"/>
            </a:pPr>
            <a:r>
              <a:rPr lang="en-US" altLang="ko-KR" sz="1300" dirty="0">
                <a:solidFill>
                  <a:schemeClr val="tx1">
                    <a:lumMod val="85000"/>
                    <a:lumOff val="15000"/>
                  </a:schemeClr>
                </a:solidFill>
                <a:latin typeface="SamsungOne 400" panose="020B0503030303020204" pitchFamily="34" charset="0"/>
              </a:rPr>
              <a:t>Automatic conversion and optimal splitting of categorical features</a:t>
            </a:r>
            <a:endPar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endParaRPr>
          </a:p>
        </p:txBody>
      </p:sp>
    </p:spTree>
    <p:extLst>
      <p:ext uri="{BB962C8B-B14F-4D97-AF65-F5344CB8AC3E}">
        <p14:creationId xmlns:p14="http://schemas.microsoft.com/office/powerpoint/2010/main" val="2660220180"/>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Characteristics of the </a:t>
            </a:r>
            <a:r>
              <a:rPr lang="en-US" altLang="ko-KR" sz="1400" dirty="0" err="1">
                <a:solidFill>
                  <a:schemeClr val="tx1"/>
                </a:solidFill>
                <a:latin typeface="SamsungOne 400" panose="020B0503030303020204" pitchFamily="34" charset="0"/>
                <a:ea typeface="SamsungOne 400" panose="020B0503030303020204" pitchFamily="34" charset="0"/>
              </a:rPr>
              <a:t>LightGBM</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F0844BA0-46F0-444A-A334-A68438243E78}"/>
              </a:ext>
            </a:extLst>
          </p:cNvPr>
          <p:cNvSpPr/>
          <p:nvPr/>
        </p:nvSpPr>
        <p:spPr>
          <a:xfrm>
            <a:off x="666750" y="1700213"/>
            <a:ext cx="8641631" cy="14483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existing tree-based algorithm uses a level-wise method. It splits but maintains a balanced tree as much as possible, so the tree depth becomes minimum. A disadvantage of the level-wise method is that it takes time to make a balanced tree.</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On the other hand,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LightGBM</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uses a leaf-wise method. It does not balance the tree but continuously splits the leaf node with the max data loss. The tree depth becomes greater, and an asymmetrical tree is created. The repetition of the leaf node with the max data loss minimizes predicted error loss than splitting a balanced tree.</a:t>
            </a:r>
          </a:p>
        </p:txBody>
      </p:sp>
      <p:grpSp>
        <p:nvGrpSpPr>
          <p:cNvPr id="2" name="그룹 1">
            <a:extLst>
              <a:ext uri="{FF2B5EF4-FFF2-40B4-BE49-F238E27FC236}">
                <a16:creationId xmlns:a16="http://schemas.microsoft.com/office/drawing/2014/main" id="{131E7E91-9051-417C-9C6A-0FE1AFB62051}"/>
              </a:ext>
            </a:extLst>
          </p:cNvPr>
          <p:cNvGrpSpPr/>
          <p:nvPr/>
        </p:nvGrpSpPr>
        <p:grpSpPr>
          <a:xfrm>
            <a:off x="1599586" y="3313170"/>
            <a:ext cx="6700198" cy="2744122"/>
            <a:chOff x="1599586" y="3205158"/>
            <a:chExt cx="6700198" cy="2744122"/>
          </a:xfrm>
        </p:grpSpPr>
        <p:sp>
          <p:nvSpPr>
            <p:cNvPr id="11" name="모서리가 둥근 직사각형 4">
              <a:extLst>
                <a:ext uri="{FF2B5EF4-FFF2-40B4-BE49-F238E27FC236}">
                  <a16:creationId xmlns:a16="http://schemas.microsoft.com/office/drawing/2014/main" id="{AA79CE53-1063-4FBD-9D59-70FC91ADE3F1}"/>
                </a:ext>
              </a:extLst>
            </p:cNvPr>
            <p:cNvSpPr/>
            <p:nvPr/>
          </p:nvSpPr>
          <p:spPr>
            <a:xfrm>
              <a:off x="1599586" y="3205158"/>
              <a:ext cx="6700198" cy="2744122"/>
            </a:xfrm>
            <a:prstGeom prst="roundRect">
              <a:avLst>
                <a:gd name="adj" fmla="val 0"/>
              </a:avLst>
            </a:prstGeom>
            <a:solidFill>
              <a:schemeClr val="bg1"/>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SamsungOne 400" panose="020B0503030303020204" pitchFamily="34" charset="0"/>
              </a:endParaRPr>
            </a:p>
          </p:txBody>
        </p:sp>
        <p:pic>
          <p:nvPicPr>
            <p:cNvPr id="7" name="그림 6">
              <a:extLst>
                <a:ext uri="{FF2B5EF4-FFF2-40B4-BE49-F238E27FC236}">
                  <a16:creationId xmlns:a16="http://schemas.microsoft.com/office/drawing/2014/main" id="{84421120-B3BF-4E51-948E-33F7C555FE01}"/>
                </a:ext>
              </a:extLst>
            </p:cNvPr>
            <p:cNvPicPr>
              <a:picLocks noChangeAspect="1"/>
            </p:cNvPicPr>
            <p:nvPr/>
          </p:nvPicPr>
          <p:blipFill rotWithShape="1">
            <a:blip r:embed="rId4">
              <a:extLst>
                <a:ext uri="{28A0092B-C50C-407E-A947-70E740481C1C}">
                  <a14:useLocalDpi xmlns:a14="http://schemas.microsoft.com/office/drawing/2010/main" val="0"/>
                </a:ext>
              </a:extLst>
            </a:blip>
            <a:srcRect l="16834" t="56263" r="13790" b="5544"/>
            <a:stretch/>
          </p:blipFill>
          <p:spPr>
            <a:xfrm>
              <a:off x="2501413" y="3320988"/>
              <a:ext cx="4896545" cy="2448272"/>
            </a:xfrm>
            <a:prstGeom prst="rect">
              <a:avLst/>
            </a:prstGeom>
          </p:spPr>
        </p:pic>
        <p:sp>
          <p:nvSpPr>
            <p:cNvPr id="9" name="TextBox 8">
              <a:extLst>
                <a:ext uri="{FF2B5EF4-FFF2-40B4-BE49-F238E27FC236}">
                  <a16:creationId xmlns:a16="http://schemas.microsoft.com/office/drawing/2014/main" id="{B5E0F49A-A4FD-4683-92F9-6CADD1C2A13E}"/>
                </a:ext>
              </a:extLst>
            </p:cNvPr>
            <p:cNvSpPr txBox="1"/>
            <p:nvPr/>
          </p:nvSpPr>
          <p:spPr>
            <a:xfrm>
              <a:off x="1924156" y="3320988"/>
              <a:ext cx="1767116" cy="338554"/>
            </a:xfrm>
            <a:prstGeom prst="rect">
              <a:avLst/>
            </a:prstGeom>
            <a:solidFill>
              <a:schemeClr val="bg1"/>
            </a:solidFill>
          </p:spPr>
          <p:txBody>
            <a:bodyPr wrap="square">
              <a:spAutoFit/>
            </a:bodyPr>
            <a:lstStyle/>
            <a:p>
              <a:pPr algn="ctr"/>
              <a:r>
                <a:rPr lang="en-US" altLang="ko-KR" sz="1600" b="1" dirty="0">
                  <a:solidFill>
                    <a:srgbClr val="1429A0"/>
                  </a:solidFill>
                  <a:latin typeface="SamsungOne 700" panose="020B0803030303020204" pitchFamily="34" charset="0"/>
                </a:rPr>
                <a:t>Level-wise</a:t>
              </a:r>
              <a:endParaRPr lang="ko-KR" altLang="en-US" sz="1600" b="1" dirty="0">
                <a:solidFill>
                  <a:srgbClr val="1429A0"/>
                </a:solidFill>
                <a:latin typeface="SamsungOne 700" panose="020B0803030303020204" pitchFamily="34" charset="0"/>
              </a:endParaRPr>
            </a:p>
          </p:txBody>
        </p:sp>
      </p:grpSp>
    </p:spTree>
    <p:extLst>
      <p:ext uri="{BB962C8B-B14F-4D97-AF65-F5344CB8AC3E}">
        <p14:creationId xmlns:p14="http://schemas.microsoft.com/office/powerpoint/2010/main" val="1566914526"/>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a:solidFill>
                  <a:schemeClr val="tx1"/>
                </a:solidFill>
                <a:latin typeface="SamsungOne 400" panose="020B0503030303020204" pitchFamily="34" charset="0"/>
                <a:ea typeface="SamsungOne 400" panose="020B0503030303020204" pitchFamily="34" charset="0"/>
              </a:rPr>
              <a:t>Hyperparameter tuning methods</a:t>
            </a:r>
            <a:endParaRPr lang="ko-KR" altLang="en-US" sz="1400" dirty="0">
              <a:solidFill>
                <a:schemeClr val="tx1"/>
              </a:solidFill>
              <a:latin typeface="SamsungOne 400" panose="020B0503030303020204" pitchFamily="34" charset="0"/>
              <a:ea typeface="SamsungOne 400" panose="020B0503030303020204" pitchFamily="34" charset="0"/>
            </a:endParaRPr>
          </a:p>
        </p:txBody>
      </p:sp>
      <p:sp>
        <p:nvSpPr>
          <p:cNvPr id="8" name="직사각형 7">
            <a:extLst>
              <a:ext uri="{FF2B5EF4-FFF2-40B4-BE49-F238E27FC236}">
                <a16:creationId xmlns:a16="http://schemas.microsoft.com/office/drawing/2014/main" id="{F0844BA0-46F0-444A-A334-A68438243E78}"/>
              </a:ext>
            </a:extLst>
          </p:cNvPr>
          <p:cNvSpPr/>
          <p:nvPr/>
        </p:nvSpPr>
        <p:spPr>
          <a:xfrm>
            <a:off x="666750" y="1700213"/>
            <a:ext cx="8641631" cy="1350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72000" rIns="144000" bIns="72000" rtlCol="0" anchor="t">
            <a:spAutoFit/>
            <a:scene3d>
              <a:camera prst="orthographicFront"/>
              <a:lightRig rig="threePt" dir="t"/>
            </a:scene3d>
            <a:sp3d>
              <a:bevelT w="0" h="6350"/>
            </a:sp3d>
          </a:bodyPr>
          <a:lstStyle/>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The increased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Num_leaves</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value raises accuracy. However, it also increases the tree depth and makes the model complex, thus increasing the probability of overfitting.</a:t>
            </a:r>
          </a:p>
          <a:p>
            <a:pPr marL="182563" indent="-182563" defTabSz="914400">
              <a:spcAft>
                <a:spcPts val="800"/>
              </a:spcAft>
              <a:buClr>
                <a:srgbClr val="193EB0"/>
              </a:buClr>
              <a:buFont typeface="SamsungOne 400" panose="020B0503030303020204" pitchFamily="34" charset="0"/>
              <a:buChar char="‣"/>
            </a:pP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Min_data_in_leaf</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is a significant parameter for overfitting. It depends on the </a:t>
            </a:r>
            <a:r>
              <a:rPr lang="en-US" altLang="ko-KR" sz="1300" dirty="0" err="1">
                <a:solidFill>
                  <a:schemeClr val="tx1">
                    <a:lumMod val="85000"/>
                    <a:lumOff val="15000"/>
                  </a:schemeClr>
                </a:solidFill>
                <a:latin typeface="SamsungOne 400" panose="020B0503030303020204" pitchFamily="34" charset="0"/>
                <a:ea typeface="SamsungOne 400" panose="020B0503030303020204" pitchFamily="34" charset="0"/>
              </a:rPr>
              <a:t>Num_leaves</a:t>
            </a: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 and the size of training data, but in general, it prevents a deeper tree when setting it as a higher value.</a:t>
            </a:r>
          </a:p>
          <a:p>
            <a:pPr marL="182563" indent="-182563" defTabSz="914400">
              <a:spcAft>
                <a:spcPts val="800"/>
              </a:spcAft>
              <a:buClr>
                <a:srgbClr val="193EB0"/>
              </a:buClr>
              <a:buFont typeface="SamsungOne 400" panose="020B0503030303020204" pitchFamily="34" charset="0"/>
              <a:buChar char="‣"/>
            </a:pPr>
            <a:r>
              <a:rPr lang="en-US" altLang="ko-KR" sz="1300" dirty="0">
                <a:solidFill>
                  <a:schemeClr val="tx1">
                    <a:lumMod val="85000"/>
                    <a:lumOff val="15000"/>
                  </a:schemeClr>
                </a:solidFill>
                <a:latin typeface="SamsungOne 400" panose="020B0503030303020204" pitchFamily="34" charset="0"/>
                <a:ea typeface="SamsungOne 400" panose="020B0503030303020204" pitchFamily="34" charset="0"/>
              </a:rPr>
              <a:t>Max_depth constraints the depth size and improves overfitting when combined with the two parameters above. </a:t>
            </a:r>
          </a:p>
        </p:txBody>
      </p:sp>
    </p:spTree>
    <p:extLst>
      <p:ext uri="{BB962C8B-B14F-4D97-AF65-F5344CB8AC3E}">
        <p14:creationId xmlns:p14="http://schemas.microsoft.com/office/powerpoint/2010/main" val="33619092"/>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그룹 2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24" name="직사각형 2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25" name="직사각형 24">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08</a:t>
              </a:r>
              <a:endPar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endParaRPr>
            </a:p>
          </p:txBody>
        </p:sp>
      </p:grpSp>
      <p:sp>
        <p:nvSpPr>
          <p:cNvPr id="10" name="직사각형 9">
            <a:extLst>
              <a:ext uri="{FF2B5EF4-FFF2-40B4-BE49-F238E27FC236}">
                <a16:creationId xmlns:a16="http://schemas.microsoft.com/office/drawing/2014/main" id="{B5193550-6C4D-4B73-B3D1-0E914AF50DCE}"/>
              </a:ext>
            </a:extLst>
          </p:cNvPr>
          <p:cNvSpPr/>
          <p:nvPr/>
        </p:nvSpPr>
        <p:spPr>
          <a:xfrm>
            <a:off x="559409" y="1428150"/>
            <a:ext cx="918055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115888" indent="-115888">
              <a:spcAft>
                <a:spcPts val="1000"/>
              </a:spcAft>
              <a:buClr>
                <a:srgbClr val="A5A5A5"/>
              </a:buClr>
              <a:buSzPct val="120000"/>
              <a:buBlip>
                <a:blip r:embed="rId3"/>
              </a:buBlip>
              <a:defRPr/>
            </a:pPr>
            <a:r>
              <a:rPr lang="en-US" altLang="ko-KR" sz="1400" dirty="0" err="1">
                <a:solidFill>
                  <a:schemeClr val="tx1"/>
                </a:solidFill>
                <a:latin typeface="SamsungOne 400" panose="020B0503030303020204" pitchFamily="34" charset="0"/>
                <a:ea typeface="SamsungOne 400" panose="020B0503030303020204" pitchFamily="34" charset="0"/>
              </a:rPr>
              <a:t>XGBoost</a:t>
            </a:r>
            <a:r>
              <a:rPr lang="en-US" altLang="ko-KR" sz="1400" dirty="0">
                <a:solidFill>
                  <a:schemeClr val="tx1"/>
                </a:solidFill>
                <a:latin typeface="SamsungOne 400" panose="020B0503030303020204" pitchFamily="34" charset="0"/>
                <a:ea typeface="SamsungOne 400" panose="020B0503030303020204" pitchFamily="34" charset="0"/>
              </a:rPr>
              <a:t> </a:t>
            </a:r>
          </a:p>
        </p:txBody>
      </p:sp>
      <p:graphicFrame>
        <p:nvGraphicFramePr>
          <p:cNvPr id="7" name="표 6">
            <a:extLst>
              <a:ext uri="{FF2B5EF4-FFF2-40B4-BE49-F238E27FC236}">
                <a16:creationId xmlns:a16="http://schemas.microsoft.com/office/drawing/2014/main" id="{638D5525-2A19-46DC-BB8D-1D9377148A58}"/>
              </a:ext>
            </a:extLst>
          </p:cNvPr>
          <p:cNvGraphicFramePr>
            <a:graphicFrameLocks noGrp="1"/>
          </p:cNvGraphicFramePr>
          <p:nvPr>
            <p:extLst>
              <p:ext uri="{D42A27DB-BD31-4B8C-83A1-F6EECF244321}">
                <p14:modId xmlns:p14="http://schemas.microsoft.com/office/powerpoint/2010/main" val="1471985810"/>
              </p:ext>
            </p:extLst>
          </p:nvPr>
        </p:nvGraphicFramePr>
        <p:xfrm>
          <a:off x="666750" y="1785866"/>
          <a:ext cx="8677276" cy="4379437"/>
        </p:xfrm>
        <a:graphic>
          <a:graphicData uri="http://schemas.openxmlformats.org/drawingml/2006/table">
            <a:tbl>
              <a:tblPr firstRow="1" bandRow="1">
                <a:tableStyleId>{5940675A-B579-460E-94D1-54222C63F5DA}</a:tableStyleId>
              </a:tblPr>
              <a:tblGrid>
                <a:gridCol w="1548358">
                  <a:extLst>
                    <a:ext uri="{9D8B030D-6E8A-4147-A177-3AD203B41FA5}">
                      <a16:colId xmlns:a16="http://schemas.microsoft.com/office/drawing/2014/main" val="4023989761"/>
                    </a:ext>
                  </a:extLst>
                </a:gridCol>
                <a:gridCol w="1296144">
                  <a:extLst>
                    <a:ext uri="{9D8B030D-6E8A-4147-A177-3AD203B41FA5}">
                      <a16:colId xmlns:a16="http://schemas.microsoft.com/office/drawing/2014/main" val="1127139662"/>
                    </a:ext>
                  </a:extLst>
                </a:gridCol>
                <a:gridCol w="5832774">
                  <a:extLst>
                    <a:ext uri="{9D8B030D-6E8A-4147-A177-3AD203B41FA5}">
                      <a16:colId xmlns:a16="http://schemas.microsoft.com/office/drawing/2014/main" val="20002"/>
                    </a:ext>
                  </a:extLst>
                </a:gridCol>
              </a:tblGrid>
              <a:tr h="318119">
                <a:tc>
                  <a:txBody>
                    <a:bodyPr/>
                    <a:lstStyle/>
                    <a:p>
                      <a:pPr marL="0" algn="ctr" defTabSz="914400" rtl="0" eaLnBrk="1" latinLnBrk="1" hangingPunct="1">
                        <a:lnSpc>
                          <a:spcPct val="100000"/>
                        </a:lnSpc>
                        <a:spcAft>
                          <a:spcPts val="800"/>
                        </a:spcAft>
                      </a:pPr>
                      <a:r>
                        <a:rPr lang="en-US" altLang="ko-KR"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Parameter</a:t>
                      </a:r>
                      <a:endParaRPr lang="ko-KR" altLang="en-US"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914400" rtl="0" eaLnBrk="1" latinLnBrk="1" hangingPunct="1">
                        <a:lnSpc>
                          <a:spcPct val="100000"/>
                        </a:lnSpc>
                        <a:spcAft>
                          <a:spcPts val="800"/>
                        </a:spcAft>
                      </a:pPr>
                      <a:r>
                        <a:rPr lang="en-US" altLang="ko-KR"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Default Value</a:t>
                      </a:r>
                      <a:endParaRPr lang="ko-KR" altLang="en-US"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914400" rtl="0" eaLnBrk="1" latinLnBrk="1" hangingPunct="1">
                        <a:lnSpc>
                          <a:spcPct val="100000"/>
                        </a:lnSpc>
                        <a:spcAft>
                          <a:spcPts val="800"/>
                        </a:spcAft>
                      </a:pPr>
                      <a:r>
                        <a:rPr lang="en-US" altLang="ko-KR"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rPr>
                        <a:t>Description</a:t>
                      </a:r>
                      <a:endParaRPr lang="ko-KR" altLang="en-US" sz="1400" b="0" kern="1200" dirty="0">
                        <a:solidFill>
                          <a:srgbClr val="1429A0"/>
                        </a:solidFill>
                        <a:latin typeface="SamsungOne 700" panose="020B0803030303020204" pitchFamily="34" charset="0"/>
                        <a:ea typeface="SamsungOne 700" panose="020B0803030303020204" pitchFamily="34" charset="0"/>
                        <a:cs typeface="Times New Roman" panose="02020603050405020304" pitchFamily="18" charset="0"/>
                      </a:endParaRPr>
                    </a:p>
                  </a:txBody>
                  <a:tcPr anchor="ctr">
                    <a:lnL w="3175" cap="flat" cmpd="sng" algn="ctr">
                      <a:solidFill>
                        <a:schemeClr val="bg2">
                          <a:lumMod val="75000"/>
                        </a:schemeClr>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193EB0"/>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7729922"/>
                  </a:ext>
                </a:extLst>
              </a:tr>
              <a:tr h="615030">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num_iterations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100</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Designates the number of trees for repetitive work.</a:t>
                      </a:r>
                    </a:p>
                    <a:p>
                      <a:pPr marL="0" indent="0" algn="l"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Overfitting occurs if the value is too high.</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3175" cap="flat" cmpd="sng" algn="ctr">
                      <a:solidFill>
                        <a:schemeClr val="bg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417462398"/>
                  </a:ext>
                </a:extLst>
              </a:tr>
              <a:tr h="615030">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learning_rate</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0.1</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Updated when boosting steps are repeatedly conducted.</a:t>
                      </a:r>
                    </a:p>
                    <a:p>
                      <a:pPr marL="0" indent="0" algn="l"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value is designated between 0~1.</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3175" cap="flat" cmpd="sng" algn="ctr">
                      <a:solidFill>
                        <a:schemeClr val="bg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97506961"/>
                  </a:ext>
                </a:extLst>
              </a:tr>
              <a:tr h="508990">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max_depth</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Identical to the</a:t>
                      </a:r>
                      <a:r>
                        <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max_depth of tree-based algorithms.</a:t>
                      </a:r>
                      <a:b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b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No restriction is applied to tree depth when entering a value smaller than 0.</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3175" cap="flat" cmpd="sng" algn="ctr">
                      <a:solidFill>
                        <a:schemeClr val="bg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58278547"/>
                  </a:ext>
                </a:extLst>
              </a:tr>
              <a:tr h="508990">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min_data_in_leaf</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20</a:t>
                      </a:r>
                    </a:p>
                  </a:txBody>
                  <a:tcPr anchor="ctr">
                    <a:lnL w="6350" cap="flat" cmpd="sng" algn="ctr">
                      <a:solidFill>
                        <a:schemeClr val="bg1">
                          <a:lumMod val="75000"/>
                        </a:schemeClr>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Identical to the </a:t>
                      </a: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min_samples_leaf</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of a decision tree. Used as a parameter to control overfitting.</a:t>
                      </a:r>
                    </a:p>
                  </a:txBody>
                  <a:tcPr anchor="ctr">
                    <a:lnL w="3175" cap="flat" cmpd="sng" algn="ctr">
                      <a:solidFill>
                        <a:schemeClr val="bg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755441991"/>
                  </a:ext>
                </a:extLst>
              </a:tr>
              <a:tr h="302213">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num_leaves</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3</a:t>
                      </a:r>
                    </a:p>
                  </a:txBody>
                  <a:tcPr anchor="ctr">
                    <a:lnL w="6350" cap="flat" cmpd="sng" algn="ctr">
                      <a:solidFill>
                        <a:schemeClr val="bg1">
                          <a:lumMod val="75000"/>
                        </a:schemeClr>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rowSpan="2">
                  <a:txBody>
                    <a:bodyPr/>
                    <a:lstStyle/>
                    <a:p>
                      <a:pPr marL="0" indent="0" algn="l"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Signifies the max. The number of leaves for one tree.</a:t>
                      </a:r>
                    </a:p>
                  </a:txBody>
                  <a:tcPr anchor="ctr">
                    <a:lnL w="3175" cap="flat" cmpd="sng" algn="ctr">
                      <a:solidFill>
                        <a:schemeClr val="bg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302213">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boosting</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GBDT</a:t>
                      </a:r>
                    </a:p>
                  </a:txBody>
                  <a:tcPr anchor="ctr">
                    <a:lnL w="6350" cap="flat" cmpd="sng" algn="ctr">
                      <a:solidFill>
                        <a:schemeClr val="bg1">
                          <a:lumMod val="75000"/>
                        </a:schemeClr>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vMerge="1">
                  <a:txBody>
                    <a:bodyPr/>
                    <a:lstStyle/>
                    <a:p>
                      <a:pPr marL="0" indent="0" algn="l" defTabSz="914400" rtl="0" eaLnBrk="1" latinLnBrk="0" hangingPunct="1">
                        <a:lnSpc>
                          <a:spcPct val="100000"/>
                        </a:lnSpc>
                        <a:spcAft>
                          <a:spcPts val="200"/>
                        </a:spcAft>
                        <a:buFont typeface="Arial" panose="020B0604020202020204" pitchFamily="34" charset="0"/>
                        <a:buNone/>
                      </a:pPr>
                      <a:endPar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302213">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bagging_fraction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1.0</a:t>
                      </a:r>
                    </a:p>
                  </a:txBody>
                  <a:tcPr anchor="ctr">
                    <a:lnL w="6350" cap="flat" cmpd="sng" algn="ctr">
                      <a:solidFill>
                        <a:schemeClr val="bg1">
                          <a:lumMod val="75000"/>
                        </a:schemeClr>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Designates the ratio for data sampling. Used to control overfitting.</a:t>
                      </a:r>
                    </a:p>
                  </a:txBody>
                  <a:tcPr anchor="ctr">
                    <a:lnL w="3175" cap="flat" cmpd="sng" algn="ctr">
                      <a:solidFill>
                        <a:schemeClr val="bg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3022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1300" b="0" kern="1200" dirty="0" err="1">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feature_fraction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latinLnBrk="0" hangingPunct="1">
                        <a:lnSpc>
                          <a:spcPct val="100000"/>
                        </a:lnSpc>
                        <a:spcAft>
                          <a:spcPts val="2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1.0</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a:t>
                      </a:r>
                      <a:r>
                        <a:rPr lang="en-US" altLang="ko-KR" sz="1300" b="0" kern="1200" baseline="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 r</a:t>
                      </a: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atio of the random feature for individual tree learning</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3175" cap="flat" cmpd="sng" algn="ctr">
                      <a:solidFill>
                        <a:schemeClr val="bg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68354725"/>
                  </a:ext>
                </a:extLst>
              </a:tr>
              <a:tr h="3022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Lambda_l1</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latinLnBrk="0" hangingPunct="1">
                        <a:lnSpc>
                          <a:spcPct val="100000"/>
                        </a:lnSpc>
                        <a:spcAft>
                          <a:spcPts val="2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0.0</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value for L1 regulation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3175" cap="flat" cmpd="sng" algn="ctr">
                      <a:solidFill>
                        <a:schemeClr val="bg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341372250"/>
                  </a:ext>
                </a:extLst>
              </a:tr>
              <a:tr h="3022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Lambda_l2</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latinLnBrk="0" hangingPunct="1">
                        <a:lnSpc>
                          <a:spcPct val="100000"/>
                        </a:lnSpc>
                        <a:spcAft>
                          <a:spcPts val="2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0.0</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6350" cap="flat" cmpd="sng" algn="ctr">
                      <a:solidFill>
                        <a:schemeClr val="bg1">
                          <a:lumMod val="75000"/>
                        </a:schemeClr>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latinLnBrk="0" hangingPunct="1">
                        <a:lnSpc>
                          <a:spcPct val="100000"/>
                        </a:lnSpc>
                        <a:spcAft>
                          <a:spcPts val="800"/>
                        </a:spcAft>
                        <a:buFont typeface="Arial" panose="020B0604020202020204" pitchFamily="34" charset="0"/>
                        <a:buNone/>
                      </a:pPr>
                      <a:r>
                        <a:rPr lang="en-US" altLang="ko-KR"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rPr>
                        <a:t>The value for L2 regulation</a:t>
                      </a:r>
                      <a:endParaRPr lang="ko-KR" altLang="en-US" sz="1300" b="0" kern="1200" dirty="0">
                        <a:gradFill>
                          <a:gsLst>
                            <a:gs pos="0">
                              <a:schemeClr val="tx1">
                                <a:lumMod val="85000"/>
                                <a:lumOff val="15000"/>
                              </a:schemeClr>
                            </a:gs>
                            <a:gs pos="100000">
                              <a:schemeClr val="tx1">
                                <a:lumMod val="85000"/>
                                <a:lumOff val="15000"/>
                              </a:schemeClr>
                            </a:gs>
                          </a:gsLst>
                          <a:lin ang="5400000" scaled="1"/>
                        </a:gradFill>
                        <a:latin typeface="SamsungOne 400" panose="020B0503030303020204" pitchFamily="34" charset="0"/>
                        <a:ea typeface="SamsungOne 400" panose="020B0503030303020204" pitchFamily="34" charset="0"/>
                        <a:cs typeface="Times New Roman" panose="02020603050405020304" pitchFamily="18" charset="0"/>
                      </a:endParaRPr>
                    </a:p>
                  </a:txBody>
                  <a:tcPr anchor="ctr">
                    <a:lnL w="3175" cap="flat" cmpd="sng" algn="ctr">
                      <a:solidFill>
                        <a:schemeClr val="bg2">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374574265"/>
                  </a:ext>
                </a:extLst>
              </a:tr>
            </a:tbl>
          </a:graphicData>
        </a:graphic>
      </p:graphicFrame>
    </p:spTree>
    <p:extLst>
      <p:ext uri="{BB962C8B-B14F-4D97-AF65-F5344CB8AC3E}">
        <p14:creationId xmlns:p14="http://schemas.microsoft.com/office/powerpoint/2010/main" val="630179156"/>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8B1BC1D-DFB7-4482-BA23-F01AD71B1BBE}"/>
              </a:ext>
            </a:extLst>
          </p:cNvPr>
          <p:cNvSpPr/>
          <p:nvPr/>
        </p:nvSpPr>
        <p:spPr>
          <a:xfrm>
            <a:off x="546895" y="1523719"/>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Coding Exercise #0312</a:t>
            </a:r>
          </a:p>
        </p:txBody>
      </p:sp>
      <p:grpSp>
        <p:nvGrpSpPr>
          <p:cNvPr id="11" name="그룹 10">
            <a:extLst>
              <a:ext uri="{FF2B5EF4-FFF2-40B4-BE49-F238E27FC236}">
                <a16:creationId xmlns:a16="http://schemas.microsoft.com/office/drawing/2014/main" id="{A2A7775F-AE07-4A60-B96A-7B00D8607BDB}"/>
              </a:ext>
            </a:extLst>
          </p:cNvPr>
          <p:cNvGrpSpPr/>
          <p:nvPr/>
        </p:nvGrpSpPr>
        <p:grpSpPr>
          <a:xfrm>
            <a:off x="558798" y="2060849"/>
            <a:ext cx="8797129" cy="3960439"/>
            <a:chOff x="558798" y="2060849"/>
            <a:chExt cx="8797129" cy="3960439"/>
          </a:xfrm>
        </p:grpSpPr>
        <p:sp>
          <p:nvSpPr>
            <p:cNvPr id="12" name="직사각형 11">
              <a:extLst>
                <a:ext uri="{FF2B5EF4-FFF2-40B4-BE49-F238E27FC236}">
                  <a16:creationId xmlns:a16="http://schemas.microsoft.com/office/drawing/2014/main" id="{0E2B63F1-717C-45E5-9484-DF4505693008}"/>
                </a:ext>
              </a:extLst>
            </p:cNvPr>
            <p:cNvSpPr/>
            <p:nvPr/>
          </p:nvSpPr>
          <p:spPr>
            <a:xfrm>
              <a:off x="558799" y="2060849"/>
              <a:ext cx="8785225" cy="3960439"/>
            </a:xfrm>
            <a:prstGeom prst="rect">
              <a:avLst/>
            </a:prstGeom>
            <a:solidFill>
              <a:schemeClr val="accent5">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5" name="그룹 14">
              <a:extLst>
                <a:ext uri="{FF2B5EF4-FFF2-40B4-BE49-F238E27FC236}">
                  <a16:creationId xmlns:a16="http://schemas.microsoft.com/office/drawing/2014/main" id="{AC1F47E5-59C0-4468-B93D-A8F7F0C32C93}"/>
                </a:ext>
              </a:extLst>
            </p:cNvPr>
            <p:cNvGrpSpPr/>
            <p:nvPr/>
          </p:nvGrpSpPr>
          <p:grpSpPr>
            <a:xfrm>
              <a:off x="558798" y="3945816"/>
              <a:ext cx="8797129" cy="576572"/>
              <a:chOff x="4778069" y="4391025"/>
              <a:chExt cx="2349160" cy="431802"/>
            </a:xfrm>
          </p:grpSpPr>
          <p:sp>
            <p:nvSpPr>
              <p:cNvPr id="18" name="직사각형 17">
                <a:extLst>
                  <a:ext uri="{FF2B5EF4-FFF2-40B4-BE49-F238E27FC236}">
                    <a16:creationId xmlns:a16="http://schemas.microsoft.com/office/drawing/2014/main" id="{3C6A9AF5-127F-406D-B69A-2777F03F88E5}"/>
                  </a:ext>
                </a:extLst>
              </p:cNvPr>
              <p:cNvSpPr/>
              <p:nvPr/>
            </p:nvSpPr>
            <p:spPr>
              <a:xfrm>
                <a:off x="4778069" y="4391025"/>
                <a:ext cx="2349160" cy="431802"/>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sp3d>
                  <a:bevelT w="0" h="6350"/>
                </a:sp3d>
              </a:bodyPr>
              <a:lstStyle/>
              <a:p>
                <a:pPr algn="ctr"/>
                <a:endParaRPr lang="ko-KR" altLang="en-US" sz="2000" dirty="0"/>
              </a:p>
            </p:txBody>
          </p:sp>
          <p:sp>
            <p:nvSpPr>
              <p:cNvPr id="21" name="직사각형 133">
                <a:extLst>
                  <a:ext uri="{FF2B5EF4-FFF2-40B4-BE49-F238E27FC236}">
                    <a16:creationId xmlns:a16="http://schemas.microsoft.com/office/drawing/2014/main" id="{21A3736B-043B-48A0-AE25-A04C3CBB178F}"/>
                  </a:ext>
                </a:extLst>
              </p:cNvPr>
              <p:cNvSpPr/>
              <p:nvPr/>
            </p:nvSpPr>
            <p:spPr>
              <a:xfrm>
                <a:off x="4852511" y="4528465"/>
                <a:ext cx="2200275" cy="230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lgn="ctr"/>
                <a:r>
                  <a:rPr lang="en-US" altLang="ko-KR" sz="2000" dirty="0">
                    <a:solidFill>
                      <a:schemeClr val="bg1"/>
                    </a:solidFill>
                    <a:latin typeface="SamsungOne 700" panose="020B0803030303020204" pitchFamily="34" charset="0"/>
                    <a:ea typeface="SamsungOne 700" panose="020B0803030303020204" pitchFamily="34" charset="0"/>
                    <a:cs typeface="Samsung Sharp Sans" pitchFamily="2" charset="0"/>
                  </a:rPr>
                  <a:t>Follow practice steps on 'ex_0312.ipynb' file </a:t>
                </a:r>
              </a:p>
            </p:txBody>
          </p:sp>
        </p:grpSp>
        <p:pic>
          <p:nvPicPr>
            <p:cNvPr id="16" name="그림 15" descr="텍스트, 클립아트이(가) 표시된 사진&#10;&#10;자동 생성된 설명">
              <a:extLst>
                <a:ext uri="{FF2B5EF4-FFF2-40B4-BE49-F238E27FC236}">
                  <a16:creationId xmlns:a16="http://schemas.microsoft.com/office/drawing/2014/main" id="{70D03265-398A-4B21-9492-31D700046C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93" t="14475" r="51947" b="14299"/>
            <a:stretch/>
          </p:blipFill>
          <p:spPr>
            <a:xfrm>
              <a:off x="4370123" y="2647560"/>
              <a:ext cx="1162577" cy="1174440"/>
            </a:xfrm>
            <a:prstGeom prst="ellipse">
              <a:avLst/>
            </a:prstGeom>
          </p:spPr>
        </p:pic>
      </p:grpSp>
      <p:grpSp>
        <p:nvGrpSpPr>
          <p:cNvPr id="13" name="그룹 1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4" name="직사각형 1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 Sharp Sans Medium" pitchFamily="2" charset="0"/>
                  <a:ea typeface="Samsung Sharp Sans Medium" pitchFamily="2" charset="0"/>
                  <a:cs typeface="Samsung Sharp Sans Medium" pitchFamily="2" charset="0"/>
                </a:rPr>
                <a:t>UNIT 08</a:t>
              </a:r>
              <a:endPar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endParaRPr>
            </a:p>
          </p:txBody>
        </p:sp>
      </p:grpSp>
    </p:spTree>
    <p:extLst>
      <p:ext uri="{BB962C8B-B14F-4D97-AF65-F5344CB8AC3E}">
        <p14:creationId xmlns:p14="http://schemas.microsoft.com/office/powerpoint/2010/main" val="654572662"/>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8B1BC1D-DFB7-4482-BA23-F01AD71B1BBE}"/>
              </a:ext>
            </a:extLst>
          </p:cNvPr>
          <p:cNvSpPr/>
          <p:nvPr/>
        </p:nvSpPr>
        <p:spPr>
          <a:xfrm>
            <a:off x="546895" y="1523719"/>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Coding Exercise #0313</a:t>
            </a:r>
          </a:p>
        </p:txBody>
      </p:sp>
      <p:grpSp>
        <p:nvGrpSpPr>
          <p:cNvPr id="11" name="그룹 10">
            <a:extLst>
              <a:ext uri="{FF2B5EF4-FFF2-40B4-BE49-F238E27FC236}">
                <a16:creationId xmlns:a16="http://schemas.microsoft.com/office/drawing/2014/main" id="{A2A7775F-AE07-4A60-B96A-7B00D8607BDB}"/>
              </a:ext>
            </a:extLst>
          </p:cNvPr>
          <p:cNvGrpSpPr/>
          <p:nvPr/>
        </p:nvGrpSpPr>
        <p:grpSpPr>
          <a:xfrm>
            <a:off x="558798" y="2060849"/>
            <a:ext cx="8797129" cy="3960439"/>
            <a:chOff x="558798" y="2060849"/>
            <a:chExt cx="8797129" cy="3960439"/>
          </a:xfrm>
        </p:grpSpPr>
        <p:sp>
          <p:nvSpPr>
            <p:cNvPr id="12" name="직사각형 11">
              <a:extLst>
                <a:ext uri="{FF2B5EF4-FFF2-40B4-BE49-F238E27FC236}">
                  <a16:creationId xmlns:a16="http://schemas.microsoft.com/office/drawing/2014/main" id="{0E2B63F1-717C-45E5-9484-DF4505693008}"/>
                </a:ext>
              </a:extLst>
            </p:cNvPr>
            <p:cNvSpPr/>
            <p:nvPr/>
          </p:nvSpPr>
          <p:spPr>
            <a:xfrm>
              <a:off x="558799" y="2060849"/>
              <a:ext cx="8785225" cy="3960439"/>
            </a:xfrm>
            <a:prstGeom prst="rect">
              <a:avLst/>
            </a:prstGeom>
            <a:solidFill>
              <a:schemeClr val="accent5">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5" name="그룹 14">
              <a:extLst>
                <a:ext uri="{FF2B5EF4-FFF2-40B4-BE49-F238E27FC236}">
                  <a16:creationId xmlns:a16="http://schemas.microsoft.com/office/drawing/2014/main" id="{AC1F47E5-59C0-4468-B93D-A8F7F0C32C93}"/>
                </a:ext>
              </a:extLst>
            </p:cNvPr>
            <p:cNvGrpSpPr/>
            <p:nvPr/>
          </p:nvGrpSpPr>
          <p:grpSpPr>
            <a:xfrm>
              <a:off x="558798" y="3945816"/>
              <a:ext cx="8797129" cy="576572"/>
              <a:chOff x="4778069" y="4391025"/>
              <a:chExt cx="2349160" cy="431802"/>
            </a:xfrm>
          </p:grpSpPr>
          <p:sp>
            <p:nvSpPr>
              <p:cNvPr id="18" name="직사각형 17">
                <a:extLst>
                  <a:ext uri="{FF2B5EF4-FFF2-40B4-BE49-F238E27FC236}">
                    <a16:creationId xmlns:a16="http://schemas.microsoft.com/office/drawing/2014/main" id="{3C6A9AF5-127F-406D-B69A-2777F03F88E5}"/>
                  </a:ext>
                </a:extLst>
              </p:cNvPr>
              <p:cNvSpPr/>
              <p:nvPr/>
            </p:nvSpPr>
            <p:spPr>
              <a:xfrm>
                <a:off x="4778069" y="4391025"/>
                <a:ext cx="2349160" cy="431802"/>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sp3d>
                  <a:bevelT w="0" h="6350"/>
                </a:sp3d>
              </a:bodyPr>
              <a:lstStyle/>
              <a:p>
                <a:pPr algn="ctr"/>
                <a:endParaRPr lang="ko-KR" altLang="en-US" sz="2000" dirty="0"/>
              </a:p>
            </p:txBody>
          </p:sp>
          <p:sp>
            <p:nvSpPr>
              <p:cNvPr id="21" name="직사각형 133">
                <a:extLst>
                  <a:ext uri="{FF2B5EF4-FFF2-40B4-BE49-F238E27FC236}">
                    <a16:creationId xmlns:a16="http://schemas.microsoft.com/office/drawing/2014/main" id="{21A3736B-043B-48A0-AE25-A04C3CBB178F}"/>
                  </a:ext>
                </a:extLst>
              </p:cNvPr>
              <p:cNvSpPr/>
              <p:nvPr/>
            </p:nvSpPr>
            <p:spPr>
              <a:xfrm>
                <a:off x="4852511" y="4528465"/>
                <a:ext cx="2200275" cy="230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lgn="ctr"/>
                <a:r>
                  <a:rPr lang="en-US" altLang="ko-KR" sz="2000" dirty="0">
                    <a:solidFill>
                      <a:schemeClr val="bg1"/>
                    </a:solidFill>
                    <a:latin typeface="SamsungOne 700" panose="020B0803030303020204" pitchFamily="34" charset="0"/>
                    <a:ea typeface="SamsungOne 700" panose="020B0803030303020204" pitchFamily="34" charset="0"/>
                    <a:cs typeface="Samsung Sharp Sans" pitchFamily="2" charset="0"/>
                  </a:rPr>
                  <a:t>Follow practice steps on 'ex_0313.ipynb' file </a:t>
                </a:r>
              </a:p>
            </p:txBody>
          </p:sp>
        </p:grpSp>
        <p:pic>
          <p:nvPicPr>
            <p:cNvPr id="16" name="그림 15" descr="텍스트, 클립아트이(가) 표시된 사진&#10;&#10;자동 생성된 설명">
              <a:extLst>
                <a:ext uri="{FF2B5EF4-FFF2-40B4-BE49-F238E27FC236}">
                  <a16:creationId xmlns:a16="http://schemas.microsoft.com/office/drawing/2014/main" id="{70D03265-398A-4B21-9492-31D700046C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93" t="14475" r="51947" b="14299"/>
            <a:stretch/>
          </p:blipFill>
          <p:spPr>
            <a:xfrm>
              <a:off x="4370123" y="2647560"/>
              <a:ext cx="1162577" cy="1174440"/>
            </a:xfrm>
            <a:prstGeom prst="ellipse">
              <a:avLst/>
            </a:prstGeom>
          </p:spPr>
        </p:pic>
      </p:grpSp>
      <p:grpSp>
        <p:nvGrpSpPr>
          <p:cNvPr id="13" name="그룹 1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4" name="직사각형 1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 Sharp Sans Medium" pitchFamily="2" charset="0"/>
                  <a:ea typeface="Samsung Sharp Sans Medium" pitchFamily="2" charset="0"/>
                  <a:cs typeface="Samsung Sharp Sans Medium" pitchFamily="2" charset="0"/>
                </a:rPr>
                <a:t>UNIT 08</a:t>
              </a:r>
              <a:endPar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endParaRPr>
            </a:p>
          </p:txBody>
        </p:sp>
      </p:grpSp>
    </p:spTree>
    <p:extLst>
      <p:ext uri="{BB962C8B-B14F-4D97-AF65-F5344CB8AC3E}">
        <p14:creationId xmlns:p14="http://schemas.microsoft.com/office/powerpoint/2010/main" val="1263046292"/>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8B1BC1D-DFB7-4482-BA23-F01AD71B1BBE}"/>
              </a:ext>
            </a:extLst>
          </p:cNvPr>
          <p:cNvSpPr/>
          <p:nvPr/>
        </p:nvSpPr>
        <p:spPr>
          <a:xfrm>
            <a:off x="546895" y="1523719"/>
            <a:ext cx="879713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400" dirty="0">
                <a:solidFill>
                  <a:schemeClr val="tx1">
                    <a:lumMod val="95000"/>
                    <a:lumOff val="5000"/>
                  </a:schemeClr>
                </a:solidFill>
                <a:latin typeface="Samsung Sharp Sans" pitchFamily="2" charset="0"/>
                <a:ea typeface="Samsung Sharp Sans" pitchFamily="2" charset="0"/>
                <a:cs typeface="Samsung Sharp Sans" pitchFamily="2" charset="0"/>
              </a:rPr>
              <a:t>Coding Exercise #0314</a:t>
            </a:r>
          </a:p>
        </p:txBody>
      </p:sp>
      <p:grpSp>
        <p:nvGrpSpPr>
          <p:cNvPr id="11" name="그룹 10">
            <a:extLst>
              <a:ext uri="{FF2B5EF4-FFF2-40B4-BE49-F238E27FC236}">
                <a16:creationId xmlns:a16="http://schemas.microsoft.com/office/drawing/2014/main" id="{A2A7775F-AE07-4A60-B96A-7B00D8607BDB}"/>
              </a:ext>
            </a:extLst>
          </p:cNvPr>
          <p:cNvGrpSpPr/>
          <p:nvPr/>
        </p:nvGrpSpPr>
        <p:grpSpPr>
          <a:xfrm>
            <a:off x="558798" y="2060849"/>
            <a:ext cx="8797129" cy="3960439"/>
            <a:chOff x="558798" y="2060849"/>
            <a:chExt cx="8797129" cy="3960439"/>
          </a:xfrm>
        </p:grpSpPr>
        <p:sp>
          <p:nvSpPr>
            <p:cNvPr id="12" name="직사각형 11">
              <a:extLst>
                <a:ext uri="{FF2B5EF4-FFF2-40B4-BE49-F238E27FC236}">
                  <a16:creationId xmlns:a16="http://schemas.microsoft.com/office/drawing/2014/main" id="{0E2B63F1-717C-45E5-9484-DF4505693008}"/>
                </a:ext>
              </a:extLst>
            </p:cNvPr>
            <p:cNvSpPr/>
            <p:nvPr/>
          </p:nvSpPr>
          <p:spPr>
            <a:xfrm>
              <a:off x="558799" y="2060849"/>
              <a:ext cx="8785225" cy="3960439"/>
            </a:xfrm>
            <a:prstGeom prst="rect">
              <a:avLst/>
            </a:prstGeom>
            <a:solidFill>
              <a:schemeClr val="accent5">
                <a:lumMod val="40000"/>
                <a:lumOff val="6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5" name="그룹 14">
              <a:extLst>
                <a:ext uri="{FF2B5EF4-FFF2-40B4-BE49-F238E27FC236}">
                  <a16:creationId xmlns:a16="http://schemas.microsoft.com/office/drawing/2014/main" id="{AC1F47E5-59C0-4468-B93D-A8F7F0C32C93}"/>
                </a:ext>
              </a:extLst>
            </p:cNvPr>
            <p:cNvGrpSpPr/>
            <p:nvPr/>
          </p:nvGrpSpPr>
          <p:grpSpPr>
            <a:xfrm>
              <a:off x="558798" y="3945816"/>
              <a:ext cx="8797129" cy="576572"/>
              <a:chOff x="4778069" y="4391025"/>
              <a:chExt cx="2349160" cy="431802"/>
            </a:xfrm>
          </p:grpSpPr>
          <p:sp>
            <p:nvSpPr>
              <p:cNvPr id="18" name="직사각형 17">
                <a:extLst>
                  <a:ext uri="{FF2B5EF4-FFF2-40B4-BE49-F238E27FC236}">
                    <a16:creationId xmlns:a16="http://schemas.microsoft.com/office/drawing/2014/main" id="{3C6A9AF5-127F-406D-B69A-2777F03F88E5}"/>
                  </a:ext>
                </a:extLst>
              </p:cNvPr>
              <p:cNvSpPr/>
              <p:nvPr/>
            </p:nvSpPr>
            <p:spPr>
              <a:xfrm>
                <a:off x="4778069" y="4391025"/>
                <a:ext cx="2349160" cy="431802"/>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scene3d>
                  <a:camera prst="orthographicFront"/>
                  <a:lightRig rig="threePt" dir="t"/>
                </a:scene3d>
                <a:sp3d>
                  <a:bevelT w="0" h="6350"/>
                </a:sp3d>
              </a:bodyPr>
              <a:lstStyle/>
              <a:p>
                <a:pPr algn="ctr"/>
                <a:endParaRPr lang="ko-KR" altLang="en-US" sz="2000" dirty="0"/>
              </a:p>
            </p:txBody>
          </p:sp>
          <p:sp>
            <p:nvSpPr>
              <p:cNvPr id="21" name="직사각형 133">
                <a:extLst>
                  <a:ext uri="{FF2B5EF4-FFF2-40B4-BE49-F238E27FC236}">
                    <a16:creationId xmlns:a16="http://schemas.microsoft.com/office/drawing/2014/main" id="{21A3736B-043B-48A0-AE25-A04C3CBB178F}"/>
                  </a:ext>
                </a:extLst>
              </p:cNvPr>
              <p:cNvSpPr/>
              <p:nvPr/>
            </p:nvSpPr>
            <p:spPr>
              <a:xfrm>
                <a:off x="4852511" y="4528465"/>
                <a:ext cx="2200275" cy="230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lgn="ctr"/>
                <a:r>
                  <a:rPr lang="en-US" altLang="ko-KR" sz="2000" dirty="0">
                    <a:solidFill>
                      <a:schemeClr val="bg1"/>
                    </a:solidFill>
                    <a:latin typeface="SamsungOne 700" panose="020B0803030303020204" pitchFamily="34" charset="0"/>
                    <a:ea typeface="SamsungOne 700" panose="020B0803030303020204" pitchFamily="34" charset="0"/>
                    <a:cs typeface="Samsung Sharp Sans" pitchFamily="2" charset="0"/>
                  </a:rPr>
                  <a:t>Follow practice steps on 'ex_0314.ipynb' file </a:t>
                </a:r>
              </a:p>
            </p:txBody>
          </p:sp>
        </p:grpSp>
        <p:pic>
          <p:nvPicPr>
            <p:cNvPr id="16" name="그림 15" descr="텍스트, 클립아트이(가) 표시된 사진&#10;&#10;자동 생성된 설명">
              <a:extLst>
                <a:ext uri="{FF2B5EF4-FFF2-40B4-BE49-F238E27FC236}">
                  <a16:creationId xmlns:a16="http://schemas.microsoft.com/office/drawing/2014/main" id="{70D03265-398A-4B21-9492-31D700046C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93" t="14475" r="51947" b="14299"/>
            <a:stretch/>
          </p:blipFill>
          <p:spPr>
            <a:xfrm>
              <a:off x="4370123" y="2647560"/>
              <a:ext cx="1162577" cy="1174440"/>
            </a:xfrm>
            <a:prstGeom prst="ellipse">
              <a:avLst/>
            </a:prstGeom>
          </p:spPr>
        </p:pic>
      </p:grpSp>
      <p:grpSp>
        <p:nvGrpSpPr>
          <p:cNvPr id="13" name="그룹 12">
            <a:extLst>
              <a:ext uri="{FF2B5EF4-FFF2-40B4-BE49-F238E27FC236}">
                <a16:creationId xmlns:a16="http://schemas.microsoft.com/office/drawing/2014/main" id="{B4A4B797-A2F4-4FEF-B4E6-062D4E9B6212}"/>
              </a:ext>
            </a:extLst>
          </p:cNvPr>
          <p:cNvGrpSpPr/>
          <p:nvPr/>
        </p:nvGrpSpPr>
        <p:grpSpPr>
          <a:xfrm>
            <a:off x="450000" y="450000"/>
            <a:ext cx="9018000" cy="276999"/>
            <a:chOff x="450000" y="450000"/>
            <a:chExt cx="9018000" cy="276999"/>
          </a:xfrm>
        </p:grpSpPr>
        <p:sp>
          <p:nvSpPr>
            <p:cNvPr id="14" name="직사각형 13">
              <a:extLst>
                <a:ext uri="{FF2B5EF4-FFF2-40B4-BE49-F238E27FC236}">
                  <a16:creationId xmlns:a16="http://schemas.microsoft.com/office/drawing/2014/main" id="{A8357F9D-614D-4F53-B895-4EF47694F904}"/>
                </a:ext>
              </a:extLst>
            </p:cNvPr>
            <p:cNvSpPr/>
            <p:nvPr/>
          </p:nvSpPr>
          <p:spPr>
            <a:xfrm>
              <a:off x="450000" y="450000"/>
              <a:ext cx="8785226" cy="276999"/>
            </a:xfrm>
            <a:prstGeom prst="rect">
              <a:avLst/>
            </a:prstGeom>
          </p:spPr>
          <p:txBody>
            <a:bodyPr wrap="square" lIns="0" tIns="0" rIns="0" bIns="0">
              <a:spAutoFit/>
            </a:bodyPr>
            <a:lstStyle/>
            <a:p>
              <a:pPr defTabSz="457187">
                <a:defRPr/>
              </a:pPr>
              <a:r>
                <a:rPr lang="en-US" altLang="ko-KR" dirty="0">
                  <a:solidFill>
                    <a:schemeClr val="bg1"/>
                  </a:solidFill>
                  <a:latin typeface="Samsung Sharp Sans Medium" pitchFamily="2" charset="0"/>
                  <a:ea typeface="Samsung Sharp Sans Medium" pitchFamily="2" charset="0"/>
                  <a:cs typeface="Samsung Sharp Sans Medium" pitchFamily="2" charset="0"/>
                </a:rPr>
                <a:t>8.3. Boosting</a:t>
              </a:r>
            </a:p>
          </p:txBody>
        </p:sp>
        <p:sp>
          <p:nvSpPr>
            <p:cNvPr id="17" name="직사각형 16">
              <a:extLst>
                <a:ext uri="{FF2B5EF4-FFF2-40B4-BE49-F238E27FC236}">
                  <a16:creationId xmlns:a16="http://schemas.microsoft.com/office/drawing/2014/main" id="{BB494928-F89D-4ED8-89BC-701B19676E48}"/>
                </a:ext>
              </a:extLst>
            </p:cNvPr>
            <p:cNvSpPr/>
            <p:nvPr/>
          </p:nvSpPr>
          <p:spPr>
            <a:xfrm>
              <a:off x="8674461" y="480778"/>
              <a:ext cx="793539" cy="246221"/>
            </a:xfrm>
            <a:prstGeom prst="rect">
              <a:avLst/>
            </a:prstGeom>
          </p:spPr>
          <p:txBody>
            <a:bodyPr wrap="square" lIns="0" tIns="0" rIns="0" b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prstClr val="white">
                      <a:lumMod val="85000"/>
                    </a:prstClr>
                  </a:solidFill>
                  <a:effectLst/>
                  <a:uLnTx/>
                  <a:uFillTx/>
                  <a:latin typeface="Samsung Sharp Sans Medium" pitchFamily="2" charset="0"/>
                  <a:ea typeface="Samsung Sharp Sans Medium" pitchFamily="2" charset="0"/>
                  <a:cs typeface="Samsung Sharp Sans Medium" pitchFamily="2" charset="0"/>
                </a:rPr>
                <a:t>UNIT 08</a:t>
              </a:r>
              <a:endParaRPr kumimoji="0" lang="en-US" altLang="ko-KR" sz="1600" b="0" i="0" u="none" strike="noStrike" kern="1200" cap="none" spc="0" normalizeH="0" baseline="0" noProof="0" dirty="0">
                <a:ln>
                  <a:noFill/>
                </a:ln>
                <a:solidFill>
                  <a:prstClr val="white">
                    <a:lumMod val="85000"/>
                  </a:prstClr>
                </a:solidFill>
                <a:effectLst/>
                <a:uLnTx/>
                <a:uFillTx/>
                <a:latin typeface="Samsung Sharp Sans Bold" pitchFamily="2" charset="0"/>
                <a:ea typeface="Samsung Sharp Sans Bold" pitchFamily="2" charset="0"/>
                <a:cs typeface="Samsung Sharp Sans Bold" pitchFamily="2" charset="0"/>
              </a:endParaRPr>
            </a:p>
          </p:txBody>
        </p:sp>
      </p:grpSp>
    </p:spTree>
    <p:extLst>
      <p:ext uri="{BB962C8B-B14F-4D97-AF65-F5344CB8AC3E}">
        <p14:creationId xmlns:p14="http://schemas.microsoft.com/office/powerpoint/2010/main" val="3874867521"/>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p:cNvGrpSpPr/>
          <p:nvPr/>
        </p:nvGrpSpPr>
        <p:grpSpPr>
          <a:xfrm>
            <a:off x="-1" y="0"/>
            <a:ext cx="9902826" cy="6858000"/>
            <a:chOff x="-1" y="0"/>
            <a:chExt cx="9902826" cy="6858000"/>
          </a:xfrm>
        </p:grpSpPr>
        <p:pic>
          <p:nvPicPr>
            <p:cNvPr id="11" name="그림 2">
              <a:extLst>
                <a:ext uri="{FF2B5EF4-FFF2-40B4-BE49-F238E27FC236}">
                  <a16:creationId xmlns:a16="http://schemas.microsoft.com/office/drawing/2014/main" id="{5DB88D6A-0437-41B5-8719-35E861A56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98"/>
              <a:ext cx="9902825" cy="6855802"/>
            </a:xfrm>
            <a:prstGeom prst="rect">
              <a:avLst/>
            </a:prstGeom>
          </p:spPr>
        </p:pic>
        <p:sp>
          <p:nvSpPr>
            <p:cNvPr id="13" name="직사각형 17">
              <a:extLst>
                <a:ext uri="{FF2B5EF4-FFF2-40B4-BE49-F238E27FC236}">
                  <a16:creationId xmlns:a16="http://schemas.microsoft.com/office/drawing/2014/main" id="{789C5074-4DAE-4026-AD47-B9945924B2E2}"/>
                </a:ext>
              </a:extLst>
            </p:cNvPr>
            <p:cNvSpPr/>
            <p:nvPr/>
          </p:nvSpPr>
          <p:spPr>
            <a:xfrm>
              <a:off x="-1" y="0"/>
              <a:ext cx="9902826" cy="6858000"/>
            </a:xfrm>
            <a:prstGeom prst="rect">
              <a:avLst/>
            </a:prstGeom>
            <a:solidFill>
              <a:schemeClr val="tx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cxnSp>
          <p:nvCxnSpPr>
            <p:cNvPr id="14" name="직선 연결선 11">
              <a:extLst>
                <a:ext uri="{FF2B5EF4-FFF2-40B4-BE49-F238E27FC236}">
                  <a16:creationId xmlns:a16="http://schemas.microsoft.com/office/drawing/2014/main" id="{8F374A7D-F260-4587-9A59-12BC85A3DDC1}"/>
                </a:ext>
              </a:extLst>
            </p:cNvPr>
            <p:cNvCxnSpPr/>
            <p:nvPr/>
          </p:nvCxnSpPr>
          <p:spPr>
            <a:xfrm>
              <a:off x="656391" y="2327183"/>
              <a:ext cx="0" cy="1976055"/>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직사각형 133">
              <a:extLst>
                <a:ext uri="{FF2B5EF4-FFF2-40B4-BE49-F238E27FC236}">
                  <a16:creationId xmlns:a16="http://schemas.microsoft.com/office/drawing/2014/main" id="{D24015EF-24A9-454E-B555-41065A382381}"/>
                </a:ext>
              </a:extLst>
            </p:cNvPr>
            <p:cNvSpPr/>
            <p:nvPr/>
          </p:nvSpPr>
          <p:spPr>
            <a:xfrm>
              <a:off x="945928" y="2468825"/>
              <a:ext cx="8398097" cy="16927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5500" b="0" i="0" u="none" strike="noStrike" kern="1200" cap="none" spc="0" normalizeH="0" baseline="0" noProof="0" dirty="0">
                  <a:ln>
                    <a:noFill/>
                  </a:ln>
                  <a:solidFill>
                    <a:prstClr val="white"/>
                  </a:solidFill>
                  <a:effectLst/>
                  <a:uLnTx/>
                  <a:uFillTx/>
                  <a:latin typeface="Samsung Sharp Sans" pitchFamily="2" charset="0"/>
                  <a:ea typeface="Samsung Sharp Sans" pitchFamily="2" charset="0"/>
                  <a:cs typeface="Samsung Sharp Sans" pitchFamily="2" charset="0"/>
                </a:rPr>
                <a:t>End of</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5500" b="0" i="0" u="none" strike="noStrike" kern="1200" cap="none" spc="0" normalizeH="0" baseline="0" noProof="0" dirty="0">
                  <a:ln>
                    <a:noFill/>
                  </a:ln>
                  <a:solidFill>
                    <a:prstClr val="white"/>
                  </a:solidFill>
                  <a:effectLst/>
                  <a:uLnTx/>
                  <a:uFillTx/>
                  <a:latin typeface="Samsung Sharp Sans" pitchFamily="2" charset="0"/>
                  <a:ea typeface="Samsung Sharp Sans" pitchFamily="2" charset="0"/>
                  <a:cs typeface="Samsung Sharp Sans" pitchFamily="2" charset="0"/>
                </a:rPr>
                <a:t>Document</a:t>
              </a:r>
            </a:p>
          </p:txBody>
        </p:sp>
      </p:grpSp>
      <p:cxnSp>
        <p:nvCxnSpPr>
          <p:cNvPr id="21" name="직선 연결선 8">
            <a:extLst>
              <a:ext uri="{FF2B5EF4-FFF2-40B4-BE49-F238E27FC236}">
                <a16:creationId xmlns:a16="http://schemas.microsoft.com/office/drawing/2014/main" id="{25DE7436-47BD-40B7-92CB-A7CD2878D696}"/>
              </a:ext>
            </a:extLst>
          </p:cNvPr>
          <p:cNvCxnSpPr/>
          <p:nvPr/>
        </p:nvCxnSpPr>
        <p:spPr>
          <a:xfrm>
            <a:off x="569681" y="6209429"/>
            <a:ext cx="877434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직사각형 7">
            <a:extLst>
              <a:ext uri="{FF2B5EF4-FFF2-40B4-BE49-F238E27FC236}">
                <a16:creationId xmlns:a16="http://schemas.microsoft.com/office/drawing/2014/main" id="{7FDCF192-C90A-4624-9B5C-7829663CF369}"/>
              </a:ext>
            </a:extLst>
          </p:cNvPr>
          <p:cNvSpPr/>
          <p:nvPr/>
        </p:nvSpPr>
        <p:spPr>
          <a:xfrm>
            <a:off x="572597" y="6355371"/>
            <a:ext cx="2888788" cy="200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3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2903702247"/>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2594402"/>
      </p:ext>
    </p:extLst>
  </p:cSld>
  <p:clrMapOvr>
    <a:masterClrMapping/>
  </p:clrMapOvr>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80271A0ADD9D41958F941CC4FAD6EA" ma:contentTypeVersion="11" ma:contentTypeDescription="Create a new document." ma:contentTypeScope="" ma:versionID="e5f945425305af6f75b51a08ee849767">
  <xsd:schema xmlns:xsd="http://www.w3.org/2001/XMLSchema" xmlns:xs="http://www.w3.org/2001/XMLSchema" xmlns:p="http://schemas.microsoft.com/office/2006/metadata/properties" xmlns:ns2="878c1438-30d9-4a75-9686-8cc774bca061" xmlns:ns3="27a7aac7-e5ba-4700-ac46-3b2ab3341c5b" targetNamespace="http://schemas.microsoft.com/office/2006/metadata/properties" ma:root="true" ma:fieldsID="9f568fcfd9d0aa9d241d624b2ff951df" ns2:_="" ns3:_="">
    <xsd:import namespace="878c1438-30d9-4a75-9686-8cc774bca061"/>
    <xsd:import namespace="27a7aac7-e5ba-4700-ac46-3b2ab3341c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8c1438-30d9-4a75-9686-8cc774bca0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c73b4be-bf3d-47be-b06d-dcb1511cbed2"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7a7aac7-e5ba-4700-ac46-3b2ab3341c5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661931b-e689-47c5-bd42-dc91ba47aa63}" ma:internalName="TaxCatchAll" ma:showField="CatchAllData" ma:web="27a7aac7-e5ba-4700-ac46-3b2ab3341c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7a7aac7-e5ba-4700-ac46-3b2ab3341c5b" xsi:nil="true"/>
    <lcf76f155ced4ddcb4097134ff3c332f xmlns="878c1438-30d9-4a75-9686-8cc774bca06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15EFAEB-78B3-44D4-9614-123504B8E8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8c1438-30d9-4a75-9686-8cc774bca061"/>
    <ds:schemaRef ds:uri="27a7aac7-e5ba-4700-ac46-3b2ab3341c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FAEF8E-4CB8-4619-98F7-807060EDD7F0}">
  <ds:schemaRefs>
    <ds:schemaRef ds:uri="http://schemas.microsoft.com/sharepoint/v3/contenttype/forms"/>
  </ds:schemaRefs>
</ds:datastoreItem>
</file>

<file path=customXml/itemProps3.xml><?xml version="1.0" encoding="utf-8"?>
<ds:datastoreItem xmlns:ds="http://schemas.openxmlformats.org/officeDocument/2006/customXml" ds:itemID="{2ADA86A1-77B9-4C34-936E-814B43FD0AE9}">
  <ds:schemaRefs>
    <ds:schemaRef ds:uri="http://schemas.microsoft.com/office/2006/metadata/properties"/>
    <ds:schemaRef ds:uri="http://schemas.microsoft.com/office/infopath/2007/PartnerControls"/>
    <ds:schemaRef ds:uri="27a7aac7-e5ba-4700-ac46-3b2ab3341c5b"/>
    <ds:schemaRef ds:uri="878c1438-30d9-4a75-9686-8cc774bca061"/>
  </ds:schemaRefs>
</ds:datastoreItem>
</file>

<file path=docProps/app.xml><?xml version="1.0" encoding="utf-8"?>
<Properties xmlns="http://schemas.openxmlformats.org/officeDocument/2006/extended-properties" xmlns:vt="http://schemas.openxmlformats.org/officeDocument/2006/docPropsVTypes">
  <Template>AI 0201-Python Libraries v1_Content Commented</Template>
  <TotalTime>47204</TotalTime>
  <Words>31011</Words>
  <Application>Microsoft Office PowerPoint</Application>
  <PresentationFormat>Custom</PresentationFormat>
  <Paragraphs>4422</Paragraphs>
  <Slides>329</Slides>
  <Notes>328</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329</vt:i4>
      </vt:variant>
    </vt:vector>
  </HeadingPairs>
  <TitlesOfParts>
    <vt:vector size="349" baseType="lpstr">
      <vt:lpstr>Calibri</vt:lpstr>
      <vt:lpstr>Samsung Sharp Sans Bold</vt:lpstr>
      <vt:lpstr>HY견고딕</vt:lpstr>
      <vt:lpstr>Samsung Sharp Sans</vt:lpstr>
      <vt:lpstr>나눔고딕 ExtraBold</vt:lpstr>
      <vt:lpstr>SamsungOne-700</vt:lpstr>
      <vt:lpstr>Arial</vt:lpstr>
      <vt:lpstr>맑은 고딕</vt:lpstr>
      <vt:lpstr>D2Coding</vt:lpstr>
      <vt:lpstr>SamsungOne 700</vt:lpstr>
      <vt:lpstr>Samsung Sharp Sans Medium</vt:lpstr>
      <vt:lpstr>SamsungOne 400</vt:lpstr>
      <vt:lpstr>Noto Sans CJK KR Medium</vt:lpstr>
      <vt:lpstr>Times New Roman</vt:lpstr>
      <vt:lpstr>Wingdings</vt:lpstr>
      <vt:lpstr>SamsungOne 400C</vt:lpstr>
      <vt:lpstr>Cambria Math</vt:lpstr>
      <vt:lpstr>Symbol</vt:lpstr>
      <vt:lpstr>SamsungOne-400</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sena.kim</dc:creator>
  <cp:lastModifiedBy>Noreen Khalid</cp:lastModifiedBy>
  <cp:revision>1059</cp:revision>
  <dcterms:created xsi:type="dcterms:W3CDTF">2019-08-14T11:07:19Z</dcterms:created>
  <dcterms:modified xsi:type="dcterms:W3CDTF">2025-02-23T18:28:35Z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0x010100A380271A0ADD9D41958F941CC4FAD6EA</vt:lpwstr>
  </property>
</Properties>
</file>