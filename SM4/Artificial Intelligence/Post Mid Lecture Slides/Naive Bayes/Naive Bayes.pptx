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84" r:id="rId14"/>
    <p:sldId id="285" r:id="rId15"/>
    <p:sldId id="286" r:id="rId16"/>
    <p:sldId id="287" r:id="rId17"/>
    <p:sldId id="288" r:id="rId18"/>
    <p:sldId id="289" r:id="rId19"/>
    <p:sldId id="273" r:id="rId20"/>
    <p:sldId id="274" r:id="rId21"/>
    <p:sldId id="275" r:id="rId22"/>
    <p:sldId id="290" r:id="rId23"/>
    <p:sldId id="282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144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AD934A-8D7E-4474-9980-B9DDF24F6FA0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E41B13-EFE6-41A9-9C53-94B9F2DCBF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503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-Naive-Bayes-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-Naive-Bayes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00113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Naive-Bayes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Naive-Bayes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Naive-Bayes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Naive-Bayes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Naive-Bayes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Naive-Bayes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Naive-Bayes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Naive-Bayes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-Naive-Bayes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>
            <a:extLst>
              <a:ext uri="{FF2B5EF4-FFF2-40B4-BE49-F238E27FC236}">
                <a16:creationId xmlns:a16="http://schemas.microsoft.com/office/drawing/2014/main" id="{29DA3141-6F02-5211-3E25-40B31B0EEE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114" y="2651395"/>
            <a:ext cx="8187397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Problem: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 are given some past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data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about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Income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whether they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bought a computer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Yes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or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No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).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Now,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new customer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has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Medium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income.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 need to predict: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Will they buy a computer?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4C0F94-0665-385B-3444-16D84DAD1DED}"/>
              </a:ext>
            </a:extLst>
          </p:cNvPr>
          <p:cNvSpPr txBox="1"/>
          <p:nvPr/>
        </p:nvSpPr>
        <p:spPr>
          <a:xfrm>
            <a:off x="699786" y="1308295"/>
            <a:ext cx="7744428" cy="584775"/>
          </a:xfrm>
          <a:prstGeom prst="rect">
            <a:avLst/>
          </a:prstGeom>
          <a:solidFill>
            <a:schemeClr val="tx2"/>
          </a:solidFill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Naive Bayes Example (Buying a Computer</a:t>
            </a:r>
            <a:r>
              <a:rPr lang="en-US" dirty="0">
                <a:solidFill>
                  <a:schemeClr val="bg1"/>
                </a:solidFill>
              </a:rPr>
              <a:t>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88FCC88-0A25-A253-05F2-9D50DDED6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0742239"/>
              </p:ext>
            </p:extLst>
          </p:nvPr>
        </p:nvGraphicFramePr>
        <p:xfrm>
          <a:off x="1177528" y="1808025"/>
          <a:ext cx="6788944" cy="4673025"/>
        </p:xfrm>
        <a:graphic>
          <a:graphicData uri="http://schemas.openxmlformats.org/drawingml/2006/table">
            <a:tbl>
              <a:tblPr/>
              <a:tblGrid>
                <a:gridCol w="1697236">
                  <a:extLst>
                    <a:ext uri="{9D8B030D-6E8A-4147-A177-3AD203B41FA5}">
                      <a16:colId xmlns:a16="http://schemas.microsoft.com/office/drawing/2014/main" val="1151526920"/>
                    </a:ext>
                  </a:extLst>
                </a:gridCol>
                <a:gridCol w="1697236">
                  <a:extLst>
                    <a:ext uri="{9D8B030D-6E8A-4147-A177-3AD203B41FA5}">
                      <a16:colId xmlns:a16="http://schemas.microsoft.com/office/drawing/2014/main" val="4200403702"/>
                    </a:ext>
                  </a:extLst>
                </a:gridCol>
                <a:gridCol w="1697236">
                  <a:extLst>
                    <a:ext uri="{9D8B030D-6E8A-4147-A177-3AD203B41FA5}">
                      <a16:colId xmlns:a16="http://schemas.microsoft.com/office/drawing/2014/main" val="1210961299"/>
                    </a:ext>
                  </a:extLst>
                </a:gridCol>
                <a:gridCol w="1697236">
                  <a:extLst>
                    <a:ext uri="{9D8B030D-6E8A-4147-A177-3AD203B41FA5}">
                      <a16:colId xmlns:a16="http://schemas.microsoft.com/office/drawing/2014/main" val="329365868"/>
                    </a:ext>
                  </a:extLst>
                </a:gridCol>
              </a:tblGrid>
              <a:tr h="311535"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effectLst/>
                        </a:rPr>
                        <a:t>Person</a:t>
                      </a:r>
                    </a:p>
                  </a:txBody>
                  <a:tcPr marL="75433" marR="75433" marT="37716" marB="37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effectLst/>
                        </a:rPr>
                        <a:t>Age</a:t>
                      </a:r>
                    </a:p>
                  </a:txBody>
                  <a:tcPr marL="75433" marR="75433" marT="37716" marB="37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effectLst/>
                        </a:rPr>
                        <a:t>Income</a:t>
                      </a:r>
                    </a:p>
                  </a:txBody>
                  <a:tcPr marL="75433" marR="75433" marT="37716" marB="37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effectLst/>
                        </a:rPr>
                        <a:t>Buys Computer</a:t>
                      </a:r>
                    </a:p>
                  </a:txBody>
                  <a:tcPr marL="75433" marR="75433" marT="37716" marB="37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4293404"/>
                  </a:ext>
                </a:extLst>
              </a:tr>
              <a:tr h="311535"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effectLst/>
                        </a:rPr>
                        <a:t>1</a:t>
                      </a:r>
                    </a:p>
                  </a:txBody>
                  <a:tcPr marL="75433" marR="75433" marT="37716" marB="37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effectLst/>
                        </a:rPr>
                        <a:t>Young</a:t>
                      </a:r>
                    </a:p>
                  </a:txBody>
                  <a:tcPr marL="75433" marR="75433" marT="37716" marB="37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effectLst/>
                        </a:rPr>
                        <a:t>High</a:t>
                      </a:r>
                    </a:p>
                  </a:txBody>
                  <a:tcPr marL="75433" marR="75433" marT="37716" marB="37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effectLst/>
                        </a:rPr>
                        <a:t>No</a:t>
                      </a:r>
                    </a:p>
                  </a:txBody>
                  <a:tcPr marL="75433" marR="75433" marT="37716" marB="37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3530102"/>
                  </a:ext>
                </a:extLst>
              </a:tr>
              <a:tr h="311535"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effectLst/>
                        </a:rPr>
                        <a:t>2</a:t>
                      </a:r>
                    </a:p>
                  </a:txBody>
                  <a:tcPr marL="75433" marR="75433" marT="37716" marB="37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effectLst/>
                        </a:rPr>
                        <a:t>Young</a:t>
                      </a:r>
                    </a:p>
                  </a:txBody>
                  <a:tcPr marL="75433" marR="75433" marT="37716" marB="37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effectLst/>
                        </a:rPr>
                        <a:t>High</a:t>
                      </a:r>
                    </a:p>
                  </a:txBody>
                  <a:tcPr marL="75433" marR="75433" marT="37716" marB="37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effectLst/>
                        </a:rPr>
                        <a:t>No</a:t>
                      </a:r>
                    </a:p>
                  </a:txBody>
                  <a:tcPr marL="75433" marR="75433" marT="37716" marB="37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6897448"/>
                  </a:ext>
                </a:extLst>
              </a:tr>
              <a:tr h="311535"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effectLst/>
                        </a:rPr>
                        <a:t>3</a:t>
                      </a:r>
                    </a:p>
                  </a:txBody>
                  <a:tcPr marL="75433" marR="75433" marT="37716" marB="37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effectLst/>
                        </a:rPr>
                        <a:t>Middle</a:t>
                      </a:r>
                    </a:p>
                  </a:txBody>
                  <a:tcPr marL="75433" marR="75433" marT="37716" marB="37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effectLst/>
                        </a:rPr>
                        <a:t>High</a:t>
                      </a:r>
                    </a:p>
                  </a:txBody>
                  <a:tcPr marL="75433" marR="75433" marT="37716" marB="37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effectLst/>
                        </a:rPr>
                        <a:t>Yes</a:t>
                      </a:r>
                    </a:p>
                  </a:txBody>
                  <a:tcPr marL="75433" marR="75433" marT="37716" marB="37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1034750"/>
                  </a:ext>
                </a:extLst>
              </a:tr>
              <a:tr h="311535"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effectLst/>
                        </a:rPr>
                        <a:t>4</a:t>
                      </a:r>
                    </a:p>
                  </a:txBody>
                  <a:tcPr marL="75433" marR="75433" marT="37716" marB="37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effectLst/>
                        </a:rPr>
                        <a:t>Senior</a:t>
                      </a:r>
                    </a:p>
                  </a:txBody>
                  <a:tcPr marL="75433" marR="75433" marT="37716" marB="37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effectLst/>
                        </a:rPr>
                        <a:t>Medium</a:t>
                      </a:r>
                    </a:p>
                  </a:txBody>
                  <a:tcPr marL="75433" marR="75433" marT="37716" marB="37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effectLst/>
                        </a:rPr>
                        <a:t>Yes</a:t>
                      </a:r>
                    </a:p>
                  </a:txBody>
                  <a:tcPr marL="75433" marR="75433" marT="37716" marB="37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4599169"/>
                  </a:ext>
                </a:extLst>
              </a:tr>
              <a:tr h="311535"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effectLst/>
                        </a:rPr>
                        <a:t>5</a:t>
                      </a:r>
                    </a:p>
                  </a:txBody>
                  <a:tcPr marL="75433" marR="75433" marT="37716" marB="37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effectLst/>
                        </a:rPr>
                        <a:t>Senior</a:t>
                      </a:r>
                    </a:p>
                  </a:txBody>
                  <a:tcPr marL="75433" marR="75433" marT="37716" marB="37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effectLst/>
                        </a:rPr>
                        <a:t>Low</a:t>
                      </a:r>
                    </a:p>
                  </a:txBody>
                  <a:tcPr marL="75433" marR="75433" marT="37716" marB="37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effectLst/>
                        </a:rPr>
                        <a:t>Yes</a:t>
                      </a:r>
                    </a:p>
                  </a:txBody>
                  <a:tcPr marL="75433" marR="75433" marT="37716" marB="37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8677493"/>
                  </a:ext>
                </a:extLst>
              </a:tr>
              <a:tr h="311535"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effectLst/>
                        </a:rPr>
                        <a:t>6</a:t>
                      </a:r>
                    </a:p>
                  </a:txBody>
                  <a:tcPr marL="75433" marR="75433" marT="37716" marB="37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effectLst/>
                        </a:rPr>
                        <a:t>Senior</a:t>
                      </a:r>
                    </a:p>
                  </a:txBody>
                  <a:tcPr marL="75433" marR="75433" marT="37716" marB="37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effectLst/>
                        </a:rPr>
                        <a:t>Low</a:t>
                      </a:r>
                    </a:p>
                  </a:txBody>
                  <a:tcPr marL="75433" marR="75433" marT="37716" marB="37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effectLst/>
                        </a:rPr>
                        <a:t>No</a:t>
                      </a:r>
                    </a:p>
                  </a:txBody>
                  <a:tcPr marL="75433" marR="75433" marT="37716" marB="37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5033088"/>
                  </a:ext>
                </a:extLst>
              </a:tr>
              <a:tr h="311535"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effectLst/>
                        </a:rPr>
                        <a:t>7</a:t>
                      </a:r>
                    </a:p>
                  </a:txBody>
                  <a:tcPr marL="75433" marR="75433" marT="37716" marB="37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effectLst/>
                        </a:rPr>
                        <a:t>Middle</a:t>
                      </a:r>
                    </a:p>
                  </a:txBody>
                  <a:tcPr marL="75433" marR="75433" marT="37716" marB="37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effectLst/>
                        </a:rPr>
                        <a:t>Low</a:t>
                      </a:r>
                    </a:p>
                  </a:txBody>
                  <a:tcPr marL="75433" marR="75433" marT="37716" marB="37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effectLst/>
                        </a:rPr>
                        <a:t>Yes</a:t>
                      </a:r>
                    </a:p>
                  </a:txBody>
                  <a:tcPr marL="75433" marR="75433" marT="37716" marB="37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7766192"/>
                  </a:ext>
                </a:extLst>
              </a:tr>
              <a:tr h="311535"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effectLst/>
                        </a:rPr>
                        <a:t>8</a:t>
                      </a:r>
                    </a:p>
                  </a:txBody>
                  <a:tcPr marL="75433" marR="75433" marT="37716" marB="37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effectLst/>
                        </a:rPr>
                        <a:t>Young</a:t>
                      </a:r>
                    </a:p>
                  </a:txBody>
                  <a:tcPr marL="75433" marR="75433" marT="37716" marB="37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effectLst/>
                        </a:rPr>
                        <a:t>Medium</a:t>
                      </a:r>
                    </a:p>
                  </a:txBody>
                  <a:tcPr marL="75433" marR="75433" marT="37716" marB="37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effectLst/>
                        </a:rPr>
                        <a:t>No</a:t>
                      </a:r>
                    </a:p>
                  </a:txBody>
                  <a:tcPr marL="75433" marR="75433" marT="37716" marB="37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3810223"/>
                  </a:ext>
                </a:extLst>
              </a:tr>
              <a:tr h="311535"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effectLst/>
                        </a:rPr>
                        <a:t>9</a:t>
                      </a:r>
                    </a:p>
                  </a:txBody>
                  <a:tcPr marL="75433" marR="75433" marT="37716" marB="37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effectLst/>
                        </a:rPr>
                        <a:t>Young</a:t>
                      </a:r>
                    </a:p>
                  </a:txBody>
                  <a:tcPr marL="75433" marR="75433" marT="37716" marB="37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effectLst/>
                        </a:rPr>
                        <a:t>Low</a:t>
                      </a:r>
                    </a:p>
                  </a:txBody>
                  <a:tcPr marL="75433" marR="75433" marT="37716" marB="37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effectLst/>
                        </a:rPr>
                        <a:t>Yes</a:t>
                      </a:r>
                    </a:p>
                  </a:txBody>
                  <a:tcPr marL="75433" marR="75433" marT="37716" marB="37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0962055"/>
                  </a:ext>
                </a:extLst>
              </a:tr>
              <a:tr h="311535"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effectLst/>
                        </a:rPr>
                        <a:t>10</a:t>
                      </a:r>
                    </a:p>
                  </a:txBody>
                  <a:tcPr marL="75433" marR="75433" marT="37716" marB="37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effectLst/>
                        </a:rPr>
                        <a:t>Senior</a:t>
                      </a:r>
                    </a:p>
                  </a:txBody>
                  <a:tcPr marL="75433" marR="75433" marT="37716" marB="37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effectLst/>
                        </a:rPr>
                        <a:t>Medium</a:t>
                      </a:r>
                    </a:p>
                  </a:txBody>
                  <a:tcPr marL="75433" marR="75433" marT="37716" marB="37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effectLst/>
                        </a:rPr>
                        <a:t>Yes</a:t>
                      </a:r>
                    </a:p>
                  </a:txBody>
                  <a:tcPr marL="75433" marR="75433" marT="37716" marB="37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9290842"/>
                  </a:ext>
                </a:extLst>
              </a:tr>
              <a:tr h="311535"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effectLst/>
                        </a:rPr>
                        <a:t>11</a:t>
                      </a:r>
                    </a:p>
                  </a:txBody>
                  <a:tcPr marL="75433" marR="75433" marT="37716" marB="37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effectLst/>
                        </a:rPr>
                        <a:t>Young</a:t>
                      </a:r>
                    </a:p>
                  </a:txBody>
                  <a:tcPr marL="75433" marR="75433" marT="37716" marB="37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effectLst/>
                        </a:rPr>
                        <a:t>Medium</a:t>
                      </a:r>
                    </a:p>
                  </a:txBody>
                  <a:tcPr marL="75433" marR="75433" marT="37716" marB="37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effectLst/>
                        </a:rPr>
                        <a:t>Yes</a:t>
                      </a:r>
                    </a:p>
                  </a:txBody>
                  <a:tcPr marL="75433" marR="75433" marT="37716" marB="37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7411413"/>
                  </a:ext>
                </a:extLst>
              </a:tr>
              <a:tr h="311535"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effectLst/>
                        </a:rPr>
                        <a:t>12</a:t>
                      </a:r>
                    </a:p>
                  </a:txBody>
                  <a:tcPr marL="75433" marR="75433" marT="37716" marB="37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effectLst/>
                        </a:rPr>
                        <a:t>Middle</a:t>
                      </a:r>
                    </a:p>
                  </a:txBody>
                  <a:tcPr marL="75433" marR="75433" marT="37716" marB="37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effectLst/>
                        </a:rPr>
                        <a:t>Medium</a:t>
                      </a:r>
                    </a:p>
                  </a:txBody>
                  <a:tcPr marL="75433" marR="75433" marT="37716" marB="37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effectLst/>
                        </a:rPr>
                        <a:t>Yes</a:t>
                      </a:r>
                    </a:p>
                  </a:txBody>
                  <a:tcPr marL="75433" marR="75433" marT="37716" marB="37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0840129"/>
                  </a:ext>
                </a:extLst>
              </a:tr>
              <a:tr h="311535"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effectLst/>
                        </a:rPr>
                        <a:t>13</a:t>
                      </a:r>
                    </a:p>
                  </a:txBody>
                  <a:tcPr marL="75433" marR="75433" marT="37716" marB="37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effectLst/>
                        </a:rPr>
                        <a:t>Middle</a:t>
                      </a:r>
                    </a:p>
                  </a:txBody>
                  <a:tcPr marL="75433" marR="75433" marT="37716" marB="37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effectLst/>
                        </a:rPr>
                        <a:t>High</a:t>
                      </a:r>
                    </a:p>
                  </a:txBody>
                  <a:tcPr marL="75433" marR="75433" marT="37716" marB="37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effectLst/>
                        </a:rPr>
                        <a:t>Yes</a:t>
                      </a:r>
                    </a:p>
                  </a:txBody>
                  <a:tcPr marL="75433" marR="75433" marT="37716" marB="37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0401746"/>
                  </a:ext>
                </a:extLst>
              </a:tr>
              <a:tr h="311535"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effectLst/>
                        </a:rPr>
                        <a:t>14</a:t>
                      </a:r>
                    </a:p>
                  </a:txBody>
                  <a:tcPr marL="75433" marR="75433" marT="37716" marB="37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effectLst/>
                        </a:rPr>
                        <a:t>Senior</a:t>
                      </a:r>
                    </a:p>
                  </a:txBody>
                  <a:tcPr marL="75433" marR="75433" marT="37716" marB="37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effectLst/>
                        </a:rPr>
                        <a:t>Medium</a:t>
                      </a:r>
                    </a:p>
                  </a:txBody>
                  <a:tcPr marL="75433" marR="75433" marT="37716" marB="37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dirty="0">
                          <a:effectLst/>
                        </a:rPr>
                        <a:t>No</a:t>
                      </a:r>
                    </a:p>
                  </a:txBody>
                  <a:tcPr marL="75433" marR="75433" marT="37716" marB="3771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3406067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124264A-1350-1F1C-87D9-7D560E784E1C}"/>
              </a:ext>
            </a:extLst>
          </p:cNvPr>
          <p:cNvSpPr txBox="1"/>
          <p:nvPr/>
        </p:nvSpPr>
        <p:spPr>
          <a:xfrm>
            <a:off x="0" y="602036"/>
            <a:ext cx="9144000" cy="954107"/>
          </a:xfrm>
          <a:prstGeom prst="rect">
            <a:avLst/>
          </a:prstGeom>
          <a:solidFill>
            <a:schemeClr val="tx2"/>
          </a:solidFill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Problem: Predict if a person will buy a computer based on Age and Income</a:t>
            </a:r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567766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F3EBD38-4A83-8BC8-B4CC-2BC7B79DEF13}"/>
              </a:ext>
            </a:extLst>
          </p:cNvPr>
          <p:cNvSpPr txBox="1"/>
          <p:nvPr/>
        </p:nvSpPr>
        <p:spPr>
          <a:xfrm>
            <a:off x="2056152" y="532959"/>
            <a:ext cx="4563044" cy="861774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Step-by-Step Breakdown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AF7899-EA4B-E25A-ECC7-3DAE71D846FA}"/>
              </a:ext>
            </a:extLst>
          </p:cNvPr>
          <p:cNvSpPr txBox="1"/>
          <p:nvPr/>
        </p:nvSpPr>
        <p:spPr>
          <a:xfrm>
            <a:off x="717452" y="1726809"/>
            <a:ext cx="7240444" cy="2492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Prior Probabilities</a:t>
            </a:r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First, we need to know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likely overall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customers buy or not buy.</a:t>
            </a:r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the table: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 customers said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(they bought a computer).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 customers said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So:</a:t>
            </a:r>
          </a:p>
          <a:p>
            <a:r>
              <a:rPr lang="en-US" dirty="0"/>
              <a:t>  </a:t>
            </a:r>
          </a:p>
          <a:p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E70B659-F96B-D5A1-EE35-F4992E510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3366" y="3429000"/>
            <a:ext cx="2672862" cy="160723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3BF6D57-1284-C315-F8F8-4510AF340966}"/>
              </a:ext>
            </a:extLst>
          </p:cNvPr>
          <p:cNvSpPr txBox="1"/>
          <p:nvPr/>
        </p:nvSpPr>
        <p:spPr>
          <a:xfrm>
            <a:off x="520505" y="5414158"/>
            <a:ext cx="81311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means that,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any extra information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buying is more common.</a:t>
            </a:r>
          </a:p>
        </p:txBody>
      </p:sp>
    </p:spTree>
    <p:extLst>
      <p:ext uri="{BB962C8B-B14F-4D97-AF65-F5344CB8AC3E}">
        <p14:creationId xmlns:p14="http://schemas.microsoft.com/office/powerpoint/2010/main" val="30566758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E88C07-ABCC-8286-69A3-F4E5F8C2B77D}"/>
              </a:ext>
            </a:extLst>
          </p:cNvPr>
          <p:cNvSpPr txBox="1"/>
          <p:nvPr/>
        </p:nvSpPr>
        <p:spPr>
          <a:xfrm>
            <a:off x="422030" y="327018"/>
            <a:ext cx="872197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Likelihood Probabilities</a:t>
            </a:r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we use the new customer’s features (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Medium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to update our prediction.</a:t>
            </a:r>
          </a:p>
          <a:p>
            <a:pPr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calculate: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often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people bought / did not buy.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often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Medium Income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people bought / did not buy.</a:t>
            </a:r>
          </a:p>
          <a:p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8983195-5800-ED13-5439-E12C08AEB4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009" y="2435287"/>
            <a:ext cx="8316229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Age = Young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Among customers who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bought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(Yes), 2 of them were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Young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Among customers who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did not buy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(No), 3 were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Young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Calculations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5CC486-5DFC-308F-1031-ECDBDD7ECA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738" y="3974184"/>
            <a:ext cx="3108960" cy="14665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38FFB2A-CAA1-204C-46B5-25826B31F647}"/>
              </a:ext>
            </a:extLst>
          </p:cNvPr>
          <p:cNvSpPr txBox="1"/>
          <p:nvPr/>
        </p:nvSpPr>
        <p:spPr>
          <a:xfrm>
            <a:off x="583377" y="5656199"/>
            <a:ext cx="79772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🔵 So if you </a:t>
            </a:r>
            <a:r>
              <a:rPr lang="en-US" b="1" dirty="0"/>
              <a:t>bought</a:t>
            </a:r>
            <a:r>
              <a:rPr lang="en-US" dirty="0"/>
              <a:t>, you were Young only about </a:t>
            </a:r>
            <a:r>
              <a:rPr lang="en-US" b="1" dirty="0"/>
              <a:t>22%</a:t>
            </a:r>
            <a:r>
              <a:rPr lang="en-US" dirty="0"/>
              <a:t> of the time.</a:t>
            </a:r>
            <a:br>
              <a:rPr lang="en-US" dirty="0"/>
            </a:br>
            <a:r>
              <a:rPr lang="en-US" dirty="0"/>
              <a:t>🔴 If you </a:t>
            </a:r>
            <a:r>
              <a:rPr lang="en-US" b="1" dirty="0"/>
              <a:t>didn’t buy</a:t>
            </a:r>
            <a:r>
              <a:rPr lang="en-US" dirty="0"/>
              <a:t>, you were Young </a:t>
            </a:r>
            <a:r>
              <a:rPr lang="en-US" b="1" dirty="0"/>
              <a:t>60%</a:t>
            </a:r>
            <a:r>
              <a:rPr lang="en-US" dirty="0"/>
              <a:t> of the time.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09914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>
            <a:extLst>
              <a:ext uri="{FF2B5EF4-FFF2-40B4-BE49-F238E27FC236}">
                <a16:creationId xmlns:a16="http://schemas.microsoft.com/office/drawing/2014/main" id="{FEFDD27A-2DFB-BCCF-2D4F-A4FA21187C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624" y="807068"/>
            <a:ext cx="8980344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Income = Medium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Among customers who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bought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(Yes), 4 had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Medium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income.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Among customers who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did not buy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(No), 1 had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Medium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income.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Calculations: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Medium∣Yes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)=49≈0.444P(\text{Medium}|\text{Yes}) = \frac{4}{9} \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approx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0.444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2F67B5-D75B-1D66-BE1B-F2EA40334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365" y="3179298"/>
            <a:ext cx="3077764" cy="15052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A158F0E-5D85-025E-5DC9-7499DC26DC72}"/>
              </a:ext>
            </a:extLst>
          </p:cNvPr>
          <p:cNvSpPr txBox="1"/>
          <p:nvPr/>
        </p:nvSpPr>
        <p:spPr>
          <a:xfrm>
            <a:off x="970671" y="5081436"/>
            <a:ext cx="59224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🔵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about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44%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buyers had Medium income.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🔴 Only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20%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non-buyers had Medium income.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81816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C342EE-CBDA-9077-D001-648B8E9302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994" y="717452"/>
            <a:ext cx="7807569" cy="5345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14261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7C3929-D580-1F89-5BD6-8A6D3E3ECDE2}"/>
              </a:ext>
            </a:extLst>
          </p:cNvPr>
          <p:cNvSpPr txBox="1"/>
          <p:nvPr/>
        </p:nvSpPr>
        <p:spPr>
          <a:xfrm>
            <a:off x="998805" y="2166425"/>
            <a:ext cx="7512121" cy="29546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Compare</a:t>
            </a:r>
          </a:p>
          <a:p>
            <a:pPr>
              <a:buNone/>
            </a:pPr>
            <a:endParaRPr lang="en-US" sz="2400" b="1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Probability of buying: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0.0635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Probability of not buying: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0.0428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Since 0.0635&gt; 0.0428,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✅ We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predict: YES, the customer will buy a computer!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63909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8-Naive-Bayes-1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9-Naive-Bayes-1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5638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-Naive-Bayes-2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B3A3C8-E16B-09FD-449D-4CE2CD4E23A1}"/>
              </a:ext>
            </a:extLst>
          </p:cNvPr>
          <p:cNvSpPr txBox="1"/>
          <p:nvPr/>
        </p:nvSpPr>
        <p:spPr>
          <a:xfrm>
            <a:off x="886265" y="184128"/>
            <a:ext cx="7135287" cy="954107"/>
          </a:xfrm>
          <a:prstGeom prst="rect">
            <a:avLst/>
          </a:prstGeom>
          <a:solidFill>
            <a:schemeClr val="tx2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Home Task</a:t>
            </a:r>
          </a:p>
          <a:p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Naive Bayes Example: Spam Email Detection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9EDB70-3A9E-2B20-FE70-B1211F2BB105}"/>
              </a:ext>
            </a:extLst>
          </p:cNvPr>
          <p:cNvSpPr txBox="1"/>
          <p:nvPr/>
        </p:nvSpPr>
        <p:spPr>
          <a:xfrm>
            <a:off x="126609" y="1138235"/>
            <a:ext cx="9017391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are building a simple model 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if an email is Spam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the presence of certain words:</a:t>
            </a:r>
          </a:p>
          <a:p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F9B94FD-09CC-45AF-A1EB-97B3C922CA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9847412"/>
              </p:ext>
            </p:extLst>
          </p:nvPr>
        </p:nvGraphicFramePr>
        <p:xfrm>
          <a:off x="339108" y="2394792"/>
          <a:ext cx="8229600" cy="256032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3900057716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4087685629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540120008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3524402914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324464807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Email 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"Free"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"Win"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"Money"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Spam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06528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4101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35244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9073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80452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2559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315882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F400D52-2236-B73D-D272-5F22CF71A8EF}"/>
              </a:ext>
            </a:extLst>
          </p:cNvPr>
          <p:cNvSpPr txBox="1"/>
          <p:nvPr/>
        </p:nvSpPr>
        <p:spPr>
          <a:xfrm>
            <a:off x="698329" y="5011341"/>
            <a:ext cx="7323223" cy="184665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Email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classify: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"Free" = Yes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"Win" = Yes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"Money" = No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 if it's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Spam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Spam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code is also required for the task with output.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14962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7-Naive-Bayes-2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964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535</Words>
  <Application>Microsoft Office PowerPoint</Application>
  <PresentationFormat>On-screen Show (4:3)</PresentationFormat>
  <Paragraphs>141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Arial Unicode MS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Noreen Khalid</dc:creator>
  <cp:keywords/>
  <dc:description>generated using python-pptx</dc:description>
  <cp:lastModifiedBy>Noreen Khalid</cp:lastModifiedBy>
  <cp:revision>2</cp:revision>
  <dcterms:created xsi:type="dcterms:W3CDTF">2013-01-27T09:14:16Z</dcterms:created>
  <dcterms:modified xsi:type="dcterms:W3CDTF">2025-04-27T16:46:24Z</dcterms:modified>
  <cp:category/>
</cp:coreProperties>
</file>