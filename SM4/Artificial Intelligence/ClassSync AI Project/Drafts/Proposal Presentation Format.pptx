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257" r:id="rId3"/>
    <p:sldId id="258" r:id="rId4"/>
    <p:sldId id="259" r:id="rId5"/>
    <p:sldId id="264" r:id="rId6"/>
    <p:sldId id="266" r:id="rId7"/>
    <p:sldId id="265" r:id="rId8"/>
    <p:sldId id="268" r:id="rId9"/>
    <p:sldId id="260" r:id="rId10"/>
    <p:sldId id="261" r:id="rId11"/>
    <p:sldId id="262" r:id="rId12"/>
    <p:sldId id="263" r:id="rId13"/>
    <p:sldId id="267" r:id="rId14"/>
    <p:sldId id="269" r:id="rId1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8" d="100"/>
          <a:sy n="68" d="100"/>
        </p:scale>
        <p:origin x="1446" y="7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905000"/>
            <a:ext cx="7543800" cy="2593975"/>
          </a:xfrm>
        </p:spPr>
        <p:txBody>
          <a:bodyPr anchor="b"/>
          <a:lstStyle>
            <a:lvl1pPr>
              <a:defRPr sz="6600">
                <a:ln>
                  <a:noFill/>
                </a:ln>
                <a:solidFill>
                  <a:schemeClr val="tx2"/>
                </a:solidFill>
              </a:defRPr>
            </a:lvl1pPr>
          </a:lstStyle>
          <a:p>
            <a:r>
              <a:rPr lang="en-US"/>
              <a:t>Click to edit Master title style</a:t>
            </a:r>
            <a:endParaRPr lang="en-US" dirty="0"/>
          </a:p>
        </p:txBody>
      </p:sp>
      <p:sp>
        <p:nvSpPr>
          <p:cNvPr id="3" name="Subtitle 2"/>
          <p:cNvSpPr>
            <a:spLocks noGrp="1"/>
          </p:cNvSpPr>
          <p:nvPr>
            <p:ph type="subTitle" idx="1"/>
          </p:nvPr>
        </p:nvSpPr>
        <p:spPr>
          <a:xfrm>
            <a:off x="685800" y="4572000"/>
            <a:ext cx="6461760" cy="1066800"/>
          </a:xfrm>
        </p:spPr>
        <p:txBody>
          <a:bodyPr anchor="t">
            <a:normAutofit/>
          </a:bodyPr>
          <a:lstStyle>
            <a:lvl1pPr marL="0" indent="0" algn="l">
              <a:buNone/>
              <a:defRPr sz="20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7BBE1A6C-44A0-473C-B1CB-9D7BC7BE06D5}" type="datetimeFigureOut">
              <a:rPr lang="en-US" smtClean="0"/>
              <a:t>3/7/2025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5ABDB32-5993-43A1-B916-7A51AAC961A4}"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BBE1A6C-44A0-473C-B1CB-9D7BC7BE06D5}" type="datetimeFigureOut">
              <a:rPr lang="en-US" smtClean="0"/>
              <a:t>3/7/2025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5ABDB32-5993-43A1-B916-7A51AAC961A4}"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5486400"/>
            <a:ext cx="7659687" cy="1168400"/>
          </a:xfrm>
        </p:spPr>
        <p:txBody>
          <a:bodyPr anchor="t"/>
          <a:lstStyle>
            <a:lvl1pPr algn="l">
              <a:defRPr sz="3600" b="0" cap="all"/>
            </a:lvl1pPr>
          </a:lstStyle>
          <a:p>
            <a:r>
              <a:rPr lang="en-US"/>
              <a:t>Click to edit Master title style</a:t>
            </a:r>
            <a:endParaRPr lang="en-US" dirty="0"/>
          </a:p>
        </p:txBody>
      </p:sp>
      <p:sp>
        <p:nvSpPr>
          <p:cNvPr id="3" name="Text Placeholder 2"/>
          <p:cNvSpPr>
            <a:spLocks noGrp="1"/>
          </p:cNvSpPr>
          <p:nvPr>
            <p:ph type="body" idx="1"/>
          </p:nvPr>
        </p:nvSpPr>
        <p:spPr>
          <a:xfrm>
            <a:off x="722313" y="3852863"/>
            <a:ext cx="6135687" cy="1633538"/>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BBE1A6C-44A0-473C-B1CB-9D7BC7BE06D5}" type="datetimeFigureOut">
              <a:rPr lang="en-US" smtClean="0"/>
              <a:t>3/7/2025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5ABDB32-5993-43A1-B916-7A51AAC961A4}"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536192"/>
            <a:ext cx="3657600" cy="45902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419600" y="1536192"/>
            <a:ext cx="3657600" cy="45902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BBE1A6C-44A0-473C-B1CB-9D7BC7BE06D5}" type="datetimeFigureOut">
              <a:rPr lang="en-US" smtClean="0"/>
              <a:t>3/7/2025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5ABDB32-5993-43A1-B916-7A51AAC961A4}"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3657600" cy="639762"/>
          </a:xfrm>
        </p:spPr>
        <p:txBody>
          <a:bodyPr anchor="b">
            <a:noAutofit/>
          </a:bodyPr>
          <a:lstStyle>
            <a:lvl1pPr marL="0" indent="0" algn="ctr">
              <a:buNone/>
              <a:defRPr sz="20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365760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419600" y="1535113"/>
            <a:ext cx="3657600" cy="639762"/>
          </a:xfrm>
        </p:spPr>
        <p:txBody>
          <a:bodyPr anchor="b">
            <a:noAutofit/>
          </a:bodyPr>
          <a:lstStyle>
            <a:lvl1pPr marL="0" indent="0" algn="ctr">
              <a:buNone/>
              <a:defRPr sz="20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419600" y="2174875"/>
            <a:ext cx="365760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7BBE1A6C-44A0-473C-B1CB-9D7BC7BE06D5}" type="datetimeFigureOut">
              <a:rPr lang="en-US" smtClean="0"/>
              <a:t>3/7/2025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5ABDB32-5993-43A1-B916-7A51AAC961A4}"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7BBE1A6C-44A0-473C-B1CB-9D7BC7BE06D5}" type="datetimeFigureOut">
              <a:rPr lang="en-US" smtClean="0"/>
              <a:t>3/7/2025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5ABDB32-5993-43A1-B916-7A51AAC961A4}"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BBE1A6C-44A0-473C-B1CB-9D7BC7BE06D5}" type="datetimeFigureOut">
              <a:rPr lang="en-US" smtClean="0"/>
              <a:t>3/7/2025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5ABDB32-5993-43A1-B916-7A51AAC961A4}"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4801" y="5495544"/>
            <a:ext cx="7772400" cy="594360"/>
          </a:xfrm>
        </p:spPr>
        <p:txBody>
          <a:bodyPr anchor="b"/>
          <a:lstStyle>
            <a:lvl1pPr algn="ctr">
              <a:defRPr sz="2200" b="1"/>
            </a:lvl1pPr>
          </a:lstStyle>
          <a:p>
            <a:r>
              <a:rPr lang="en-US"/>
              <a:t>Click to edit Master title style</a:t>
            </a:r>
            <a:endParaRPr lang="en-US" dirty="0"/>
          </a:p>
        </p:txBody>
      </p:sp>
      <p:sp>
        <p:nvSpPr>
          <p:cNvPr id="4" name="Text Placeholder 3"/>
          <p:cNvSpPr>
            <a:spLocks noGrp="1"/>
          </p:cNvSpPr>
          <p:nvPr>
            <p:ph type="body" sz="half" idx="2"/>
          </p:nvPr>
        </p:nvSpPr>
        <p:spPr>
          <a:xfrm>
            <a:off x="304799" y="6096000"/>
            <a:ext cx="7772401" cy="6096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BBE1A6C-44A0-473C-B1CB-9D7BC7BE06D5}" type="datetimeFigureOut">
              <a:rPr lang="en-US" smtClean="0"/>
              <a:t>3/7/2025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5ABDB32-5993-43A1-B916-7A51AAC961A4}" type="slidenum">
              <a:rPr lang="en-US" smtClean="0"/>
              <a:t>‹#›</a:t>
            </a:fld>
            <a:endParaRPr lang="en-US"/>
          </a:p>
        </p:txBody>
      </p:sp>
      <p:sp>
        <p:nvSpPr>
          <p:cNvPr id="9" name="Content Placeholder 8"/>
          <p:cNvSpPr>
            <a:spLocks noGrp="1"/>
          </p:cNvSpPr>
          <p:nvPr>
            <p:ph sz="quarter" idx="13"/>
          </p:nvPr>
        </p:nvSpPr>
        <p:spPr>
          <a:xfrm>
            <a:off x="304800" y="381000"/>
            <a:ext cx="7772400" cy="49428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1752" y="5495278"/>
            <a:ext cx="7772400" cy="594626"/>
          </a:xfrm>
        </p:spPr>
        <p:txBody>
          <a:bodyPr anchor="b"/>
          <a:lstStyle>
            <a:lvl1pPr algn="ctr">
              <a:defRPr sz="2200" b="1">
                <a:ln>
                  <a:noFill/>
                </a:ln>
                <a:solidFill>
                  <a:schemeClr val="tx2"/>
                </a:solidFill>
              </a:defRPr>
            </a:lvl1pPr>
          </a:lstStyle>
          <a:p>
            <a:r>
              <a:rPr lang="en-US"/>
              <a:t>Click to edit Master title style</a:t>
            </a:r>
            <a:endParaRPr lang="en-US" dirty="0"/>
          </a:p>
        </p:txBody>
      </p:sp>
      <p:sp>
        <p:nvSpPr>
          <p:cNvPr id="3" name="Picture Placeholder 2"/>
          <p:cNvSpPr>
            <a:spLocks noGrp="1"/>
          </p:cNvSpPr>
          <p:nvPr>
            <p:ph type="pic" idx="1"/>
          </p:nvPr>
        </p:nvSpPr>
        <p:spPr>
          <a:xfrm>
            <a:off x="0" y="0"/>
            <a:ext cx="8458200" cy="54864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301752" y="6096000"/>
            <a:ext cx="7772400" cy="612648"/>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p:txBody>
          <a:bodyPr/>
          <a:lstStyle/>
          <a:p>
            <a:fld id="{7BBE1A6C-44A0-473C-B1CB-9D7BC7BE06D5}" type="datetimeFigureOut">
              <a:rPr lang="en-US" smtClean="0"/>
              <a:t>3/7/2025</a:t>
            </a:fld>
            <a:endParaRPr lang="en-US"/>
          </a:p>
        </p:txBody>
      </p:sp>
      <p:sp>
        <p:nvSpPr>
          <p:cNvPr id="9" name="Slide Number Placeholder 8"/>
          <p:cNvSpPr>
            <a:spLocks noGrp="1"/>
          </p:cNvSpPr>
          <p:nvPr>
            <p:ph type="sldNum" sz="quarter" idx="11"/>
          </p:nvPr>
        </p:nvSpPr>
        <p:spPr/>
        <p:txBody>
          <a:bodyPr/>
          <a:lstStyle/>
          <a:p>
            <a:fld id="{95ABDB32-5993-43A1-B916-7A51AAC961A4}" type="slidenum">
              <a:rPr lang="en-US" smtClean="0"/>
              <a:t>‹#›</a:t>
            </a:fld>
            <a:endParaRPr lang="en-US"/>
          </a:p>
        </p:txBody>
      </p:sp>
      <p:sp>
        <p:nvSpPr>
          <p:cNvPr id="10" name="Footer Placeholder 9"/>
          <p:cNvSpPr>
            <a:spLocks noGrp="1"/>
          </p:cNvSpPr>
          <p:nvPr>
            <p:ph type="ftr" sz="quarter" idx="12"/>
          </p:nvPr>
        </p:nvSpPr>
        <p:spPr/>
        <p:txBody>
          <a:bodyPr/>
          <a:lstStyle/>
          <a:p>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BBE1A6C-44A0-473C-B1CB-9D7BC7BE06D5}" type="datetimeFigureOut">
              <a:rPr lang="en-US" smtClean="0"/>
              <a:t>3/7/2025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5ABDB32-5993-43A1-B916-7A51AAC961A4}"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1752600" cy="58515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BBE1A6C-44A0-473C-B1CB-9D7BC7BE06D5}" type="datetimeFigureOut">
              <a:rPr lang="en-US" smtClean="0"/>
              <a:t>3/7/2025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5ABDB32-5993-43A1-B916-7A51AAC961A4}"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7620000" cy="1143000"/>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457200" y="1600200"/>
            <a:ext cx="7620000" cy="48006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Rectangle 6"/>
          <p:cNvSpPr/>
          <p:nvPr/>
        </p:nvSpPr>
        <p:spPr>
          <a:xfrm>
            <a:off x="8458200" y="0"/>
            <a:ext cx="6858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8458200" y="5486400"/>
            <a:ext cx="685800" cy="6858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lide Number Placeholder 5"/>
          <p:cNvSpPr>
            <a:spLocks noGrp="1"/>
          </p:cNvSpPr>
          <p:nvPr>
            <p:ph type="sldNum" sz="quarter" idx="4"/>
          </p:nvPr>
        </p:nvSpPr>
        <p:spPr>
          <a:xfrm>
            <a:off x="8531788" y="5648960"/>
            <a:ext cx="548640" cy="396240"/>
          </a:xfrm>
          <a:prstGeom prst="bracketPair">
            <a:avLst>
              <a:gd name="adj" fmla="val 17949"/>
            </a:avLst>
          </a:prstGeom>
          <a:ln w="19050">
            <a:solidFill>
              <a:srgbClr val="FFFFFF"/>
            </a:solidFill>
          </a:ln>
        </p:spPr>
        <p:txBody>
          <a:bodyPr vert="horz" lIns="0" tIns="0" rIns="0" bIns="0" rtlCol="0" anchor="ctr"/>
          <a:lstStyle>
            <a:lvl1pPr algn="ctr">
              <a:defRPr sz="1800">
                <a:solidFill>
                  <a:srgbClr val="FFFFFF"/>
                </a:solidFill>
              </a:defRPr>
            </a:lvl1pPr>
          </a:lstStyle>
          <a:p>
            <a:fld id="{95ABDB32-5993-43A1-B916-7A51AAC961A4}" type="slidenum">
              <a:rPr lang="en-US" smtClean="0"/>
              <a:t>‹#›</a:t>
            </a:fld>
            <a:endParaRPr lang="en-US"/>
          </a:p>
        </p:txBody>
      </p:sp>
      <p:sp>
        <p:nvSpPr>
          <p:cNvPr id="5" name="Footer Placeholder 4"/>
          <p:cNvSpPr>
            <a:spLocks noGrp="1"/>
          </p:cNvSpPr>
          <p:nvPr>
            <p:ph type="ftr" sz="quarter" idx="3"/>
          </p:nvPr>
        </p:nvSpPr>
        <p:spPr>
          <a:xfrm rot="16200000">
            <a:off x="7586910" y="4048760"/>
            <a:ext cx="2367281" cy="365760"/>
          </a:xfrm>
          <a:prstGeom prst="rect">
            <a:avLst/>
          </a:prstGeom>
        </p:spPr>
        <p:txBody>
          <a:bodyPr vert="horz" lIns="91440" tIns="45720" rIns="91440" bIns="45720" rtlCol="0" anchor="ctr"/>
          <a:lstStyle>
            <a:lvl1pPr algn="r">
              <a:defRPr sz="1200">
                <a:solidFill>
                  <a:schemeClr val="bg2"/>
                </a:solidFill>
              </a:defRPr>
            </a:lvl1pPr>
          </a:lstStyle>
          <a:p>
            <a:endParaRPr lang="en-US"/>
          </a:p>
        </p:txBody>
      </p:sp>
      <p:sp>
        <p:nvSpPr>
          <p:cNvPr id="4" name="Date Placeholder 3"/>
          <p:cNvSpPr>
            <a:spLocks noGrp="1"/>
          </p:cNvSpPr>
          <p:nvPr>
            <p:ph type="dt" sz="half" idx="2"/>
          </p:nvPr>
        </p:nvSpPr>
        <p:spPr>
          <a:xfrm rot="16200000">
            <a:off x="7551351" y="1645920"/>
            <a:ext cx="2438399" cy="365760"/>
          </a:xfrm>
          <a:prstGeom prst="rect">
            <a:avLst/>
          </a:prstGeom>
        </p:spPr>
        <p:txBody>
          <a:bodyPr vert="horz" lIns="91440" tIns="45720" rIns="91440" bIns="45720" rtlCol="0" anchor="ctr"/>
          <a:lstStyle>
            <a:lvl1pPr algn="l">
              <a:defRPr sz="1200">
                <a:solidFill>
                  <a:schemeClr val="bg2"/>
                </a:solidFill>
              </a:defRPr>
            </a:lvl1pPr>
          </a:lstStyle>
          <a:p>
            <a:fld id="{7BBE1A6C-44A0-473C-B1CB-9D7BC7BE06D5}" type="datetimeFigureOut">
              <a:rPr lang="en-US" smtClean="0"/>
              <a:t>3/7/2025</a:t>
            </a:fld>
            <a:endParaRPr lang="en-US"/>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spcBef>
          <a:spcPct val="0"/>
        </a:spcBef>
        <a:buNone/>
        <a:defRPr sz="4600" kern="1200" cap="none" spc="-100" baseline="0">
          <a:ln>
            <a:noFill/>
          </a:ln>
          <a:solidFill>
            <a:schemeClr val="tx2"/>
          </a:solidFill>
          <a:effectLst/>
          <a:latin typeface="+mj-lt"/>
          <a:ea typeface="+mj-ea"/>
          <a:cs typeface="+mj-cs"/>
        </a:defRPr>
      </a:lvl1pPr>
    </p:titleStyle>
    <p:body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381000"/>
            <a:ext cx="7772400" cy="743744"/>
          </a:xfrm>
        </p:spPr>
        <p:txBody>
          <a:bodyPr>
            <a:noAutofit/>
          </a:bodyPr>
          <a:lstStyle/>
          <a:p>
            <a:r>
              <a:rPr lang="en-US" sz="2400" dirty="0"/>
              <a:t> Title________________________________</a:t>
            </a:r>
          </a:p>
        </p:txBody>
      </p:sp>
      <p:sp>
        <p:nvSpPr>
          <p:cNvPr id="3" name="Subtitle 2"/>
          <p:cNvSpPr>
            <a:spLocks noGrp="1"/>
          </p:cNvSpPr>
          <p:nvPr>
            <p:ph type="subTitle" idx="1"/>
          </p:nvPr>
        </p:nvSpPr>
        <p:spPr>
          <a:xfrm>
            <a:off x="323528" y="2996952"/>
            <a:ext cx="8496944" cy="3384376"/>
          </a:xfrm>
        </p:spPr>
        <p:txBody>
          <a:bodyPr>
            <a:normAutofit/>
          </a:bodyPr>
          <a:lstStyle/>
          <a:p>
            <a:pPr algn="ctr"/>
            <a:r>
              <a:rPr lang="en-US" i="1" dirty="0"/>
              <a:t>[University Logo attach here]</a:t>
            </a:r>
          </a:p>
          <a:p>
            <a:pPr algn="ctr"/>
            <a:r>
              <a:rPr lang="en-US" i="1" dirty="0"/>
              <a:t>By </a:t>
            </a:r>
            <a:endParaRPr lang="en-US" dirty="0"/>
          </a:p>
          <a:p>
            <a:pPr algn="ctr"/>
            <a:r>
              <a:rPr lang="en-US" dirty="0"/>
              <a:t>Student Name_______________________</a:t>
            </a:r>
          </a:p>
          <a:p>
            <a:pPr algn="ctr"/>
            <a:r>
              <a:rPr lang="en-US" dirty="0"/>
              <a:t> </a:t>
            </a:r>
          </a:p>
          <a:p>
            <a:pPr algn="ctr"/>
            <a:r>
              <a:rPr lang="en-US" dirty="0"/>
              <a:t>Registration Number  -________</a:t>
            </a:r>
          </a:p>
          <a:p>
            <a:pPr algn="ctr"/>
            <a:r>
              <a:rPr lang="en-US" dirty="0"/>
              <a:t>Project Proposal</a:t>
            </a:r>
          </a:p>
          <a:p>
            <a:pPr algn="ctr"/>
            <a:r>
              <a:rPr lang="en-US" dirty="0"/>
              <a:t>BSCS </a:t>
            </a:r>
          </a:p>
          <a:p>
            <a:pPr algn="ctr"/>
            <a:r>
              <a:rPr lang="en-US" dirty="0"/>
              <a:t> Instructor Name________________</a:t>
            </a:r>
          </a:p>
          <a:p>
            <a:pPr algn="ctr"/>
            <a:r>
              <a:rPr lang="en-US" dirty="0"/>
              <a:t> </a:t>
            </a:r>
          </a:p>
          <a:p>
            <a:pPr algn="ctr"/>
            <a:endParaRPr lang="en-US" dirty="0"/>
          </a:p>
          <a:p>
            <a:pPr algn="ctr"/>
            <a:endParaRPr lang="en-US" dirty="0"/>
          </a:p>
        </p:txBody>
      </p:sp>
    </p:spTree>
    <p:extLst>
      <p:ext uri="{BB962C8B-B14F-4D97-AF65-F5344CB8AC3E}">
        <p14:creationId xmlns:p14="http://schemas.microsoft.com/office/powerpoint/2010/main" val="9823951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Background and Justification</a:t>
            </a:r>
          </a:p>
        </p:txBody>
      </p:sp>
      <p:sp>
        <p:nvSpPr>
          <p:cNvPr id="3" name="Content Placeholder 2"/>
          <p:cNvSpPr>
            <a:spLocks noGrp="1"/>
          </p:cNvSpPr>
          <p:nvPr>
            <p:ph idx="1"/>
          </p:nvPr>
        </p:nvSpPr>
        <p:spPr>
          <a:xfrm>
            <a:off x="301752" y="1527048"/>
            <a:ext cx="8014664" cy="5142312"/>
          </a:xfrm>
        </p:spPr>
        <p:txBody>
          <a:bodyPr>
            <a:normAutofit/>
          </a:bodyPr>
          <a:lstStyle/>
          <a:p>
            <a:pPr algn="just"/>
            <a:r>
              <a:rPr lang="en-US" dirty="0"/>
              <a:t>Despite the growth in solar energy adoption, significant challenges persist in maximizing energy yield and maintaining system efficiency. </a:t>
            </a:r>
          </a:p>
          <a:p>
            <a:pPr algn="just"/>
            <a:r>
              <a:rPr lang="en-US" dirty="0"/>
              <a:t>Many studies lack detailed real-world implementation results</a:t>
            </a:r>
          </a:p>
          <a:p>
            <a:pPr algn="just"/>
            <a:r>
              <a:rPr lang="en-US" dirty="0"/>
              <a:t>There is a need for deeper exploration into how AI and IoT can be leveraged to create more intuitive and user-friendly solar mobile applications that enhance user engagement and satisfaction.</a:t>
            </a:r>
          </a:p>
          <a:p>
            <a:pPr algn="just"/>
            <a:endParaRPr lang="en-US" dirty="0"/>
          </a:p>
        </p:txBody>
      </p:sp>
    </p:spTree>
    <p:extLst>
      <p:ext uri="{BB962C8B-B14F-4D97-AF65-F5344CB8AC3E}">
        <p14:creationId xmlns:p14="http://schemas.microsoft.com/office/powerpoint/2010/main" val="17493739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Problem Statement</a:t>
            </a:r>
          </a:p>
        </p:txBody>
      </p:sp>
      <p:sp>
        <p:nvSpPr>
          <p:cNvPr id="3" name="Content Placeholder 2"/>
          <p:cNvSpPr>
            <a:spLocks noGrp="1"/>
          </p:cNvSpPr>
          <p:nvPr>
            <p:ph idx="1"/>
          </p:nvPr>
        </p:nvSpPr>
        <p:spPr>
          <a:xfrm>
            <a:off x="251520" y="1628800"/>
            <a:ext cx="7704856" cy="4572000"/>
          </a:xfrm>
        </p:spPr>
        <p:txBody>
          <a:bodyPr>
            <a:normAutofit fontScale="92500" lnSpcReduction="20000"/>
          </a:bodyPr>
          <a:lstStyle/>
          <a:p>
            <a:pPr algn="just"/>
            <a:endParaRPr lang="en-US" dirty="0"/>
          </a:p>
          <a:p>
            <a:pPr algn="just"/>
            <a:r>
              <a:rPr lang="en-US" dirty="0"/>
              <a:t>Previous research in the field of solar energy has predominantly focused on predictions of solar energy output and photovoltaic (PV) system performance, largely ignoring the nuanced user-level variables that can significantly affect energy production.</a:t>
            </a:r>
          </a:p>
          <a:p>
            <a:pPr algn="just"/>
            <a:r>
              <a:rPr lang="en-US" dirty="0"/>
              <a:t>There is a notable gap in understanding how local environmental factors like wind and temperature, as well as issues related to PV system maintenance such as sensor efficiency and cleanliness, impact the energy output. </a:t>
            </a:r>
          </a:p>
          <a:p>
            <a:pPr algn="just"/>
            <a:r>
              <a:rPr lang="en-US" dirty="0"/>
              <a:t>This research aims to bridge this gap by investigating the specific causes of reduced solar energy production at the user level, including the efficiency and operational health of solar sensors and the impact of environmental and maintenance-related factors. </a:t>
            </a:r>
          </a:p>
          <a:p>
            <a:pPr algn="just"/>
            <a:r>
              <a:rPr lang="en-US" dirty="0"/>
              <a:t>By identifying these variables, this study will provide actionable insights that could enhance the efficiency and reliability of solar energy systems in residential and commercial settings.</a:t>
            </a:r>
          </a:p>
        </p:txBody>
      </p:sp>
    </p:spTree>
    <p:extLst>
      <p:ext uri="{BB962C8B-B14F-4D97-AF65-F5344CB8AC3E}">
        <p14:creationId xmlns:p14="http://schemas.microsoft.com/office/powerpoint/2010/main" val="28737705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3528" y="548680"/>
            <a:ext cx="8534400" cy="758952"/>
          </a:xfrm>
        </p:spPr>
        <p:txBody>
          <a:bodyPr>
            <a:normAutofit fontScale="90000"/>
          </a:bodyPr>
          <a:lstStyle/>
          <a:p>
            <a:r>
              <a:rPr lang="en-US" b="1" dirty="0"/>
              <a:t>Aims and Objectives</a:t>
            </a:r>
            <a:br>
              <a:rPr lang="en-US" b="1" dirty="0"/>
            </a:br>
            <a:endParaRPr lang="en-US" dirty="0"/>
          </a:p>
        </p:txBody>
      </p:sp>
      <p:sp>
        <p:nvSpPr>
          <p:cNvPr id="3" name="Content Placeholder 2"/>
          <p:cNvSpPr>
            <a:spLocks noGrp="1"/>
          </p:cNvSpPr>
          <p:nvPr>
            <p:ph idx="1"/>
          </p:nvPr>
        </p:nvSpPr>
        <p:spPr>
          <a:xfrm>
            <a:off x="179512" y="1484784"/>
            <a:ext cx="7920880" cy="4998296"/>
          </a:xfrm>
        </p:spPr>
        <p:txBody>
          <a:bodyPr>
            <a:normAutofit/>
          </a:bodyPr>
          <a:lstStyle/>
          <a:p>
            <a:pPr algn="just"/>
            <a:r>
              <a:rPr lang="en-US" dirty="0"/>
              <a:t>To develop and validate an AI-enabled IoT mobile application that enhances the efficiency of solar energy system and reduce downtime of solar system working through advanced monitoring, predictive maintenance, and user-centric features.</a:t>
            </a:r>
          </a:p>
          <a:p>
            <a:endParaRPr lang="en-US" dirty="0"/>
          </a:p>
          <a:p>
            <a:pPr algn="just"/>
            <a:endParaRPr lang="en-US" dirty="0"/>
          </a:p>
        </p:txBody>
      </p:sp>
    </p:spTree>
    <p:extLst>
      <p:ext uri="{BB962C8B-B14F-4D97-AF65-F5344CB8AC3E}">
        <p14:creationId xmlns:p14="http://schemas.microsoft.com/office/powerpoint/2010/main" val="38943211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Previous Research Gap</a:t>
            </a:r>
          </a:p>
        </p:txBody>
      </p:sp>
      <p:sp>
        <p:nvSpPr>
          <p:cNvPr id="3" name="Content Placeholder 2"/>
          <p:cNvSpPr>
            <a:spLocks noGrp="1"/>
          </p:cNvSpPr>
          <p:nvPr>
            <p:ph idx="1"/>
          </p:nvPr>
        </p:nvSpPr>
        <p:spPr/>
        <p:txBody>
          <a:bodyPr>
            <a:normAutofit/>
          </a:bodyPr>
          <a:lstStyle/>
          <a:p>
            <a:r>
              <a:rPr lang="en-US" b="1" dirty="0"/>
              <a:t>Identified Research Gap</a:t>
            </a:r>
            <a:r>
              <a:rPr lang="en-US" dirty="0"/>
              <a:t>: Many studies overlook the precise causes of energy yield reductions under various environmental parameters such as solar irradiance, wind speed, wind direction, PV temperature, ambient temperature, and humidity.</a:t>
            </a:r>
          </a:p>
          <a:p>
            <a:r>
              <a:rPr lang="en-US" b="1" dirty="0"/>
              <a:t>Potential Causes of Energy Reduction</a:t>
            </a:r>
            <a:r>
              <a:rPr lang="en-US" dirty="0"/>
              <a:t>: Factors contributing to decreased energy yields may include panel degradation, soiling, shading, and equipment inefficiencies.</a:t>
            </a:r>
          </a:p>
          <a:p>
            <a:r>
              <a:rPr lang="en-US" b="1" dirty="0"/>
              <a:t>Lack of Focused Research</a:t>
            </a:r>
            <a:r>
              <a:rPr lang="en-US" dirty="0"/>
              <a:t>: There is a notable absence of detailed research focused on systematically analyzing the root causes of energy yield reductions, highlighting a significant gap in existing literature.</a:t>
            </a:r>
          </a:p>
        </p:txBody>
      </p:sp>
    </p:spTree>
    <p:extLst>
      <p:ext uri="{BB962C8B-B14F-4D97-AF65-F5344CB8AC3E}">
        <p14:creationId xmlns:p14="http://schemas.microsoft.com/office/powerpoint/2010/main" val="24989975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3528" y="476672"/>
            <a:ext cx="8534400" cy="758952"/>
          </a:xfrm>
        </p:spPr>
        <p:txBody>
          <a:bodyPr>
            <a:normAutofit fontScale="90000"/>
          </a:bodyPr>
          <a:lstStyle/>
          <a:p>
            <a:r>
              <a:rPr lang="en-US" b="1" dirty="0"/>
              <a:t>Research questions</a:t>
            </a:r>
            <a:br>
              <a:rPr lang="en-US" b="1" dirty="0"/>
            </a:br>
            <a:endParaRPr lang="en-US" dirty="0"/>
          </a:p>
        </p:txBody>
      </p:sp>
      <p:sp>
        <p:nvSpPr>
          <p:cNvPr id="3" name="Content Placeholder 2"/>
          <p:cNvSpPr>
            <a:spLocks noGrp="1"/>
          </p:cNvSpPr>
          <p:nvPr>
            <p:ph idx="1"/>
          </p:nvPr>
        </p:nvSpPr>
        <p:spPr>
          <a:xfrm>
            <a:off x="323528" y="1196752"/>
            <a:ext cx="7620000" cy="4800600"/>
          </a:xfrm>
        </p:spPr>
        <p:txBody>
          <a:bodyPr>
            <a:normAutofit/>
          </a:bodyPr>
          <a:lstStyle/>
          <a:p>
            <a:pPr algn="just"/>
            <a:r>
              <a:rPr lang="en-US" dirty="0"/>
              <a:t>RQ1: How can the integration of IoT devices for real-time data streaming be optimized to improve the effectiveness of data analysis in solar PV systems?</a:t>
            </a:r>
          </a:p>
          <a:p>
            <a:pPr algn="just"/>
            <a:r>
              <a:rPr lang="en-US" dirty="0"/>
              <a:t>RQ2:  How accurate are AI-driven models in identifying changes in energy patterns, predicting potential system failures, and assisting in performance degradation analysis?</a:t>
            </a:r>
          </a:p>
          <a:p>
            <a:pPr algn="just"/>
            <a:r>
              <a:rPr lang="en-US" dirty="0"/>
              <a:t>RQ3: What are the impacts of sensor-output discrepancies on the efficiency and reliability of solar energy systems?</a:t>
            </a:r>
          </a:p>
        </p:txBody>
      </p:sp>
    </p:spTree>
    <p:extLst>
      <p:ext uri="{BB962C8B-B14F-4D97-AF65-F5344CB8AC3E}">
        <p14:creationId xmlns:p14="http://schemas.microsoft.com/office/powerpoint/2010/main" val="21619999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Objectives</a:t>
            </a:r>
          </a:p>
        </p:txBody>
      </p:sp>
      <p:sp>
        <p:nvSpPr>
          <p:cNvPr id="3" name="Content Placeholder 2"/>
          <p:cNvSpPr>
            <a:spLocks noGrp="1"/>
          </p:cNvSpPr>
          <p:nvPr>
            <p:ph idx="1"/>
          </p:nvPr>
        </p:nvSpPr>
        <p:spPr>
          <a:xfrm>
            <a:off x="395536" y="1124744"/>
            <a:ext cx="7620000" cy="4800600"/>
          </a:xfrm>
        </p:spPr>
        <p:txBody>
          <a:bodyPr>
            <a:normAutofit/>
          </a:bodyPr>
          <a:lstStyle/>
          <a:p>
            <a:pPr lvl="0" algn="just"/>
            <a:endParaRPr lang="en-US" dirty="0"/>
          </a:p>
          <a:p>
            <a:pPr lvl="0" algn="just"/>
            <a:r>
              <a:rPr lang="en-US" dirty="0"/>
              <a:t>RQ1: To ensure that the system can handle real-time data streaming from IoT devices for effective analysis.</a:t>
            </a:r>
          </a:p>
          <a:p>
            <a:pPr lvl="0" algn="just"/>
            <a:r>
              <a:rPr lang="en-US" dirty="0"/>
              <a:t>RO2: To ensure AI models predict accurately for maintenance, performance degradation analysis, and fault diagnosis based on real-time and historical data to identify changings in energy patterns, predict potential system failures.</a:t>
            </a:r>
          </a:p>
          <a:p>
            <a:pPr lvl="0" algn="just"/>
            <a:r>
              <a:rPr lang="en-US" dirty="0"/>
              <a:t>RO3: To assess the effect of sensor-output related and other issues on the efficiency and reliability of solar energy output.</a:t>
            </a:r>
          </a:p>
        </p:txBody>
      </p:sp>
    </p:spTree>
    <p:extLst>
      <p:ext uri="{BB962C8B-B14F-4D97-AF65-F5344CB8AC3E}">
        <p14:creationId xmlns:p14="http://schemas.microsoft.com/office/powerpoint/2010/main" val="9761788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Significance of Research</a:t>
            </a:r>
          </a:p>
        </p:txBody>
      </p:sp>
      <p:sp>
        <p:nvSpPr>
          <p:cNvPr id="3" name="Content Placeholder 2"/>
          <p:cNvSpPr>
            <a:spLocks noGrp="1"/>
          </p:cNvSpPr>
          <p:nvPr>
            <p:ph idx="1"/>
          </p:nvPr>
        </p:nvSpPr>
        <p:spPr/>
        <p:txBody>
          <a:bodyPr>
            <a:normAutofit/>
          </a:bodyPr>
          <a:lstStyle/>
          <a:p>
            <a:r>
              <a:rPr lang="en-US" dirty="0"/>
              <a:t>Real Time Insight of sudden drop in energy production and fluctuations</a:t>
            </a:r>
          </a:p>
          <a:p>
            <a:r>
              <a:rPr lang="en-US" dirty="0"/>
              <a:t>Predictive maintenance alerts to users</a:t>
            </a:r>
          </a:p>
          <a:p>
            <a:r>
              <a:rPr lang="en-US" dirty="0"/>
              <a:t>Performance degradation analysis from long term data</a:t>
            </a:r>
          </a:p>
          <a:p>
            <a:r>
              <a:rPr lang="en-US" dirty="0"/>
              <a:t>Fault diagnosis and root cause analysis based on historical data </a:t>
            </a:r>
          </a:p>
          <a:p>
            <a:r>
              <a:rPr lang="en-US" dirty="0"/>
              <a:t>Recommendation for corrective action to users using Machine learning</a:t>
            </a:r>
          </a:p>
          <a:p>
            <a:r>
              <a:rPr lang="en-US" dirty="0"/>
              <a:t>Visualization of real time data on user demand</a:t>
            </a:r>
          </a:p>
        </p:txBody>
      </p:sp>
    </p:spTree>
    <p:extLst>
      <p:ext uri="{BB962C8B-B14F-4D97-AF65-F5344CB8AC3E}">
        <p14:creationId xmlns:p14="http://schemas.microsoft.com/office/powerpoint/2010/main" val="19831970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Methodology</a:t>
            </a:r>
          </a:p>
        </p:txBody>
      </p:sp>
      <p:sp>
        <p:nvSpPr>
          <p:cNvPr id="3" name="Content Placeholder 2"/>
          <p:cNvSpPr>
            <a:spLocks noGrp="1"/>
          </p:cNvSpPr>
          <p:nvPr>
            <p:ph idx="1"/>
          </p:nvPr>
        </p:nvSpPr>
        <p:spPr/>
        <p:txBody>
          <a:bodyPr>
            <a:normAutofit/>
          </a:bodyPr>
          <a:lstStyle/>
          <a:p>
            <a:r>
              <a:rPr lang="en-US" dirty="0"/>
              <a:t>To achieve the outlined aims and objectives </a:t>
            </a:r>
          </a:p>
          <a:p>
            <a:r>
              <a:rPr lang="en-US" dirty="0"/>
              <a:t>The following strategic steps will be undertaken:</a:t>
            </a:r>
          </a:p>
          <a:p>
            <a:endParaRPr lang="en-US" dirty="0"/>
          </a:p>
          <a:p>
            <a:r>
              <a:rPr lang="en-US" b="1" dirty="0"/>
              <a:t>System Design and Integration</a:t>
            </a:r>
            <a:endParaRPr lang="en-US" dirty="0"/>
          </a:p>
          <a:p>
            <a:r>
              <a:rPr lang="en-US" b="1" dirty="0"/>
              <a:t>Development of Predictive Maintenance Algorithms</a:t>
            </a:r>
          </a:p>
          <a:p>
            <a:r>
              <a:rPr lang="en-US" b="1" dirty="0"/>
              <a:t>User Interface Development</a:t>
            </a:r>
          </a:p>
          <a:p>
            <a:r>
              <a:rPr lang="en-US" b="1" dirty="0"/>
              <a:t>Application implementation with AI and IoT</a:t>
            </a:r>
            <a:endParaRPr lang="en-US" dirty="0"/>
          </a:p>
        </p:txBody>
      </p:sp>
    </p:spTree>
    <p:extLst>
      <p:ext uri="{BB962C8B-B14F-4D97-AF65-F5344CB8AC3E}">
        <p14:creationId xmlns:p14="http://schemas.microsoft.com/office/powerpoint/2010/main" val="6846557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Methodology plan</a:t>
            </a:r>
          </a:p>
        </p:txBody>
      </p:sp>
      <p:sp>
        <p:nvSpPr>
          <p:cNvPr id="3" name="Content Placeholder 2"/>
          <p:cNvSpPr>
            <a:spLocks noGrp="1"/>
          </p:cNvSpPr>
          <p:nvPr>
            <p:ph idx="1"/>
          </p:nvPr>
        </p:nvSpPr>
        <p:spPr/>
        <p:txBody>
          <a:bodyPr/>
          <a:lstStyle/>
          <a:p>
            <a:endParaRPr lang="en-US"/>
          </a:p>
        </p:txBody>
      </p:sp>
      <p:pic>
        <p:nvPicPr>
          <p:cNvPr id="4" name="Picture 3"/>
          <p:cNvPicPr/>
          <p:nvPr/>
        </p:nvPicPr>
        <p:blipFill>
          <a:blip r:embed="rId2" cstate="print">
            <a:extLst>
              <a:ext uri="{28A0092B-C50C-407E-A947-70E740481C1C}">
                <a14:useLocalDpi xmlns:a14="http://schemas.microsoft.com/office/drawing/2010/main" val="0"/>
              </a:ext>
            </a:extLst>
          </a:blip>
          <a:stretch>
            <a:fillRect/>
          </a:stretch>
        </p:blipFill>
        <p:spPr>
          <a:xfrm>
            <a:off x="323528" y="1988840"/>
            <a:ext cx="8208912" cy="3312368"/>
          </a:xfrm>
          <a:prstGeom prst="rect">
            <a:avLst/>
          </a:prstGeom>
        </p:spPr>
      </p:pic>
    </p:spTree>
    <p:extLst>
      <p:ext uri="{BB962C8B-B14F-4D97-AF65-F5344CB8AC3E}">
        <p14:creationId xmlns:p14="http://schemas.microsoft.com/office/powerpoint/2010/main" val="4803958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Importance</a:t>
            </a:r>
          </a:p>
        </p:txBody>
      </p:sp>
      <p:sp>
        <p:nvSpPr>
          <p:cNvPr id="3" name="Content Placeholder 2"/>
          <p:cNvSpPr>
            <a:spLocks noGrp="1"/>
          </p:cNvSpPr>
          <p:nvPr>
            <p:ph idx="1"/>
          </p:nvPr>
        </p:nvSpPr>
        <p:spPr/>
        <p:txBody>
          <a:bodyPr/>
          <a:lstStyle/>
          <a:p>
            <a:pPr algn="just"/>
            <a:r>
              <a:rPr lang="en-US" dirty="0"/>
              <a:t>It is worth pursuing because it promises to significantly enhance the efficiency and reduce cost of renewable energy sources, which is crucial for achieving broader sustainability goals. </a:t>
            </a:r>
          </a:p>
          <a:p>
            <a:pPr algn="just"/>
            <a:endParaRPr lang="en-US" dirty="0"/>
          </a:p>
          <a:p>
            <a:pPr algn="just"/>
            <a:r>
              <a:rPr lang="en-US" dirty="0"/>
              <a:t>The project not only has the potential to revolutionize the solar energy sector but also serves as a model for other renewable energy technologies, promoting wider adoption and smarter energy practices globally.</a:t>
            </a:r>
          </a:p>
        </p:txBody>
      </p:sp>
    </p:spTree>
    <p:extLst>
      <p:ext uri="{BB962C8B-B14F-4D97-AF65-F5344CB8AC3E}">
        <p14:creationId xmlns:p14="http://schemas.microsoft.com/office/powerpoint/2010/main" val="31509932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Timeline</a:t>
            </a:r>
          </a:p>
        </p:txBody>
      </p:sp>
      <p:sp>
        <p:nvSpPr>
          <p:cNvPr id="3" name="Content Placeholder 2"/>
          <p:cNvSpPr>
            <a:spLocks noGrp="1"/>
          </p:cNvSpPr>
          <p:nvPr>
            <p:ph idx="1"/>
          </p:nvPr>
        </p:nvSpPr>
        <p:spPr/>
        <p:txBody>
          <a:bodyPr/>
          <a:lstStyle/>
          <a:p>
            <a:endParaRPr lang="en-US"/>
          </a:p>
        </p:txBody>
      </p:sp>
      <p:pic>
        <p:nvPicPr>
          <p:cNvPr id="4" name="Picture 3"/>
          <p:cNvPicPr/>
          <p:nvPr/>
        </p:nvPicPr>
        <p:blipFill>
          <a:blip r:embed="rId2">
            <a:extLst>
              <a:ext uri="{28A0092B-C50C-407E-A947-70E740481C1C}">
                <a14:useLocalDpi xmlns:a14="http://schemas.microsoft.com/office/drawing/2010/main" val="0"/>
              </a:ext>
            </a:extLst>
          </a:blip>
          <a:stretch>
            <a:fillRect/>
          </a:stretch>
        </p:blipFill>
        <p:spPr>
          <a:xfrm>
            <a:off x="539552" y="2276872"/>
            <a:ext cx="7773840" cy="3096344"/>
          </a:xfrm>
          <a:prstGeom prst="rect">
            <a:avLst/>
          </a:prstGeom>
        </p:spPr>
      </p:pic>
    </p:spTree>
    <p:extLst>
      <p:ext uri="{BB962C8B-B14F-4D97-AF65-F5344CB8AC3E}">
        <p14:creationId xmlns:p14="http://schemas.microsoft.com/office/powerpoint/2010/main" val="232519683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Real Time insights</a:t>
            </a:r>
          </a:p>
        </p:txBody>
      </p:sp>
      <p:pic>
        <p:nvPicPr>
          <p:cNvPr id="1027" name="Picture 3"/>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0" y="2564904"/>
            <a:ext cx="3780522" cy="26661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6"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211960" y="2276872"/>
            <a:ext cx="3561407" cy="24204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32386366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Conclusion</a:t>
            </a:r>
          </a:p>
        </p:txBody>
      </p:sp>
      <p:sp>
        <p:nvSpPr>
          <p:cNvPr id="3" name="Content Placeholder 2"/>
          <p:cNvSpPr>
            <a:spLocks noGrp="1"/>
          </p:cNvSpPr>
          <p:nvPr>
            <p:ph idx="1"/>
          </p:nvPr>
        </p:nvSpPr>
        <p:spPr/>
        <p:txBody>
          <a:bodyPr>
            <a:normAutofit/>
          </a:bodyPr>
          <a:lstStyle/>
          <a:p>
            <a:pPr algn="just"/>
            <a:r>
              <a:rPr lang="en-US" b="1" dirty="0"/>
              <a:t>Purpose of Proposed Research</a:t>
            </a:r>
            <a:r>
              <a:rPr lang="en-US" dirty="0"/>
              <a:t>: The research aims to develop an AI-enabled IoT mobile application for remote monitoring and maintenance that optimizes solar system performance and provides detailed analytics.</a:t>
            </a:r>
          </a:p>
          <a:p>
            <a:pPr algn="just"/>
            <a:r>
              <a:rPr lang="en-US" b="1" dirty="0"/>
              <a:t>Benefits of the AI-enabled Application</a:t>
            </a:r>
            <a:r>
              <a:rPr lang="en-US" dirty="0"/>
              <a:t>: The application allows solar system operators and users to:</a:t>
            </a:r>
          </a:p>
          <a:p>
            <a:pPr lvl="1" algn="just"/>
            <a:r>
              <a:rPr lang="en-US" dirty="0"/>
              <a:t>Engage directly with real-time data and insights.</a:t>
            </a:r>
          </a:p>
          <a:p>
            <a:pPr lvl="1" algn="just"/>
            <a:r>
              <a:rPr lang="en-US" dirty="0"/>
              <a:t>Understand specific reasons for energy yield declines.</a:t>
            </a:r>
          </a:p>
          <a:p>
            <a:pPr lvl="1" algn="just"/>
            <a:r>
              <a:rPr lang="en-US" dirty="0"/>
              <a:t>Make informed and timely decisions to maximize energy output.</a:t>
            </a:r>
          </a:p>
          <a:p>
            <a:pPr algn="just"/>
            <a:r>
              <a:rPr lang="en-US" b="1" dirty="0"/>
              <a:t>Impact on Solar Energy Management</a:t>
            </a:r>
            <a:r>
              <a:rPr lang="en-US" dirty="0"/>
              <a:t>: This research promises to be a pivotal advancement in solar energy management by seamlessly connecting general maintenance tasks with targeted actions to enhance energy efficiency and output.</a:t>
            </a:r>
          </a:p>
          <a:p>
            <a:pPr algn="just"/>
            <a:endParaRPr lang="en-US" dirty="0"/>
          </a:p>
          <a:p>
            <a:pPr algn="just"/>
            <a:endParaRPr lang="en-US" dirty="0"/>
          </a:p>
        </p:txBody>
      </p:sp>
    </p:spTree>
    <p:extLst>
      <p:ext uri="{BB962C8B-B14F-4D97-AF65-F5344CB8AC3E}">
        <p14:creationId xmlns:p14="http://schemas.microsoft.com/office/powerpoint/2010/main" val="1711963580"/>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Adjacency">
  <a:themeElements>
    <a:clrScheme name="Adjacency">
      <a:dk1>
        <a:srgbClr val="2F2B20"/>
      </a:dk1>
      <a:lt1>
        <a:srgbClr val="FFFFFF"/>
      </a:lt1>
      <a:dk2>
        <a:srgbClr val="675E47"/>
      </a:dk2>
      <a:lt2>
        <a:srgbClr val="DFDCB7"/>
      </a:lt2>
      <a:accent1>
        <a:srgbClr val="A9A57C"/>
      </a:accent1>
      <a:accent2>
        <a:srgbClr val="9CBEBD"/>
      </a:accent2>
      <a:accent3>
        <a:srgbClr val="D2CB6C"/>
      </a:accent3>
      <a:accent4>
        <a:srgbClr val="95A39D"/>
      </a:accent4>
      <a:accent5>
        <a:srgbClr val="C89F5D"/>
      </a:accent5>
      <a:accent6>
        <a:srgbClr val="B1A089"/>
      </a:accent6>
      <a:hlink>
        <a:srgbClr val="D25814"/>
      </a:hlink>
      <a:folHlink>
        <a:srgbClr val="849A0A"/>
      </a:folHlink>
    </a:clrScheme>
    <a:fontScheme name="Office">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Adjacency">
      <a:fillStyleLst>
        <a:solidFill>
          <a:schemeClr val="phClr"/>
        </a:solidFill>
        <a:solidFill>
          <a:schemeClr val="phClr">
            <a:tint val="55000"/>
          </a:schemeClr>
        </a:solidFill>
        <a:solidFill>
          <a:schemeClr val="phClr"/>
        </a:soli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outerShdw blurRad="50800" dist="25400" algn="bl" rotWithShape="0">
              <a:srgbClr val="000000">
                <a:alpha val="60000"/>
              </a:srgbClr>
            </a:outerShdw>
          </a:effectLst>
        </a:effectStyle>
        <a:effectStyle>
          <a:effectLst/>
          <a:scene3d>
            <a:camera prst="orthographicFront">
              <a:rot lat="0" lon="0" rev="0"/>
            </a:camera>
            <a:lightRig rig="brightRoom" dir="tl">
              <a:rot lat="0" lon="0" rev="1800000"/>
            </a:lightRig>
          </a:scene3d>
          <a:sp3d contourW="10160" prstMaterial="dkEdge">
            <a:bevelT w="38100" h="50800" prst="angle"/>
            <a:contourClr>
              <a:schemeClr val="phClr">
                <a:shade val="40000"/>
                <a:satMod val="150000"/>
              </a:schemeClr>
            </a:contourClr>
          </a:sp3d>
        </a:effectStyle>
      </a:effectStyleLst>
      <a:bgFillStyleLst>
        <a:solidFill>
          <a:schemeClr val="phClr"/>
        </a:solidFill>
        <a:gradFill rotWithShape="1">
          <a:gsLst>
            <a:gs pos="0">
              <a:schemeClr val="phClr">
                <a:tint val="90000"/>
              </a:schemeClr>
            </a:gs>
            <a:gs pos="75000">
              <a:schemeClr val="phClr">
                <a:shade val="100000"/>
                <a:satMod val="115000"/>
              </a:schemeClr>
            </a:gs>
            <a:gs pos="100000">
              <a:schemeClr val="phClr">
                <a:shade val="70000"/>
                <a:satMod val="130000"/>
              </a:schemeClr>
            </a:gs>
          </a:gsLst>
          <a:path path="circle">
            <a:fillToRect l="20000" t="50000" r="100000" b="50000"/>
          </a:path>
        </a:gradFill>
        <a:blipFill rotWithShape="1">
          <a:blip xmlns:r="http://schemas.openxmlformats.org/officeDocument/2006/relationships" r:embed="rId1">
            <a:duotone>
              <a:schemeClr val="phClr">
                <a:tint val="97000"/>
              </a:schemeClr>
              <a:schemeClr val="phClr">
                <a:shade val="96000"/>
              </a:schemeClr>
            </a:duotone>
          </a:blip>
          <a:tile tx="0" ty="0" sx="32000" sy="32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Adjacency</Template>
  <TotalTime>105</TotalTime>
  <Words>786</Words>
  <Application>Microsoft Office PowerPoint</Application>
  <PresentationFormat>On-screen Show (4:3)</PresentationFormat>
  <Paragraphs>64</Paragraphs>
  <Slides>14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Calibri</vt:lpstr>
      <vt:lpstr>Cambria</vt:lpstr>
      <vt:lpstr>Adjacency</vt:lpstr>
      <vt:lpstr> Title________________________________</vt:lpstr>
      <vt:lpstr>Background and Justification</vt:lpstr>
      <vt:lpstr>Problem Statement</vt:lpstr>
      <vt:lpstr>Aims and Objectives </vt:lpstr>
      <vt:lpstr>Previous Research Gap</vt:lpstr>
      <vt:lpstr>Research questions </vt:lpstr>
      <vt:lpstr>Objectives</vt:lpstr>
      <vt:lpstr>Significance of Research</vt:lpstr>
      <vt:lpstr>Methodology</vt:lpstr>
      <vt:lpstr>Methodology plan</vt:lpstr>
      <vt:lpstr>Importance</vt:lpstr>
      <vt:lpstr>Timeline</vt:lpstr>
      <vt:lpstr>Real Time insights</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User-Centric Solar Energy Management: Developing an AI-Enabled IoT Mobile Application for Remote Monitoring and Maintenance to Maximize Performance</dc:title>
  <dc:creator>Shehla Noor</dc:creator>
  <cp:lastModifiedBy>Noreen Khalid</cp:lastModifiedBy>
  <cp:revision>12</cp:revision>
  <dcterms:created xsi:type="dcterms:W3CDTF">2024-04-28T11:42:29Z</dcterms:created>
  <dcterms:modified xsi:type="dcterms:W3CDTF">2025-03-07T09:21:47Z</dcterms:modified>
</cp:coreProperties>
</file>