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8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6" r:id="rId9"/>
    <p:sldId id="267" r:id="rId10"/>
    <p:sldId id="265" r:id="rId11"/>
    <p:sldId id="261" r:id="rId12"/>
    <p:sldId id="268" r:id="rId13"/>
    <p:sldId id="270" r:id="rId14"/>
    <p:sldId id="269" r:id="rId15"/>
    <p:sldId id="271" r:id="rId16"/>
    <p:sldId id="277" r:id="rId17"/>
    <p:sldId id="278" r:id="rId18"/>
    <p:sldId id="279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1B0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16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1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83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273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85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237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67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89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729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08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334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66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475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605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jzExZQlSQLncjBCRgWhg4a3eGZ9FxJnL/view?usp=sharing" TargetMode="External"/><Relationship Id="rId2" Type="http://schemas.openxmlformats.org/officeDocument/2006/relationships/hyperlink" Target="https://emu8086.en.lo4d.com/window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6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6080" y="1690818"/>
            <a:ext cx="9481312" cy="3006810"/>
          </a:xfrm>
          <a:noFill/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algn="l"/>
            <a:r>
              <a:rPr lang="en-US" sz="4800" b="1" dirty="0" smtClean="0">
                <a:solidFill>
                  <a:schemeClr val="bg1"/>
                </a:solidFill>
                <a:latin typeface="Corbel" panose="020B0503020204020204" pitchFamily="34" charset="0"/>
              </a:rPr>
              <a:t>LAB-226 </a:t>
            </a:r>
            <a:r>
              <a:rPr lang="en-US" sz="4800" b="1" dirty="0">
                <a:solidFill>
                  <a:schemeClr val="bg1"/>
                </a:solidFill>
                <a:latin typeface="Corbel" panose="020B0503020204020204" pitchFamily="34" charset="0"/>
              </a:rPr>
              <a:t>| Computer Organization &amp; Assembly </a:t>
            </a:r>
            <a:r>
              <a:rPr lang="en-US" sz="4800" b="1" dirty="0" smtClean="0">
                <a:solidFill>
                  <a:schemeClr val="bg1"/>
                </a:solidFill>
                <a:latin typeface="Corbel" panose="020B0503020204020204" pitchFamily="34" charset="0"/>
              </a:rPr>
              <a:t>Language</a:t>
            </a:r>
            <a:br>
              <a:rPr lang="en-US" sz="4800" b="1" dirty="0" smtClean="0">
                <a:solidFill>
                  <a:schemeClr val="bg1"/>
                </a:solidFill>
                <a:latin typeface="Corbel" panose="020B0503020204020204" pitchFamily="34" charset="0"/>
              </a:rPr>
            </a:br>
            <a:r>
              <a:rPr lang="en-US" sz="4800" b="1" dirty="0" smtClean="0">
                <a:solidFill>
                  <a:schemeClr val="bg1"/>
                </a:solidFill>
                <a:latin typeface="Corbel" panose="020B0503020204020204" pitchFamily="34" charset="0"/>
              </a:rPr>
              <a:t>  </a:t>
            </a:r>
            <a:br>
              <a:rPr lang="en-US" sz="4800" b="1" dirty="0" smtClean="0">
                <a:solidFill>
                  <a:schemeClr val="bg1"/>
                </a:solidFill>
                <a:latin typeface="Corbel" panose="020B0503020204020204" pitchFamily="34" charset="0"/>
              </a:rPr>
            </a:br>
            <a:endParaRPr lang="en-US" sz="4000" b="1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56080" y="4966042"/>
            <a:ext cx="9481312" cy="369332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nsolas" panose="020B0609020204030204" pitchFamily="49" charset="0"/>
              </a:rPr>
              <a:t>Week 1 | 10 Feb, 25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95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" y="451292"/>
            <a:ext cx="10515600" cy="1325563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latin typeface="Consolas" panose="020B0609020204030204" pitchFamily="49" charset="0"/>
              </a:rPr>
              <a:t>Lab 1</a:t>
            </a:r>
            <a:endParaRPr lang="en-US" b="1" u="sng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6260" y="2167494"/>
            <a:ext cx="10988040" cy="4351338"/>
          </a:xfrm>
        </p:spPr>
        <p:txBody>
          <a:bodyPr>
            <a:normAutofit/>
          </a:bodyPr>
          <a:lstStyle/>
          <a:p>
            <a:pPr marL="687388" indent="-514350"/>
            <a:r>
              <a:rPr lang="en-US" sz="2400" dirty="0" smtClean="0">
                <a:latin typeface="Consolas" panose="020B0609020204030204" pitchFamily="49" charset="0"/>
              </a:rPr>
              <a:t>Installation and </a:t>
            </a:r>
            <a:r>
              <a:rPr lang="en-US" sz="2400" dirty="0">
                <a:latin typeface="Consolas" panose="020B0609020204030204" pitchFamily="49" charset="0"/>
              </a:rPr>
              <a:t>setup </a:t>
            </a:r>
            <a:r>
              <a:rPr lang="en-US" sz="2400" dirty="0" smtClean="0">
                <a:latin typeface="Consolas" panose="020B0609020204030204" pitchFamily="49" charset="0"/>
              </a:rPr>
              <a:t>of assembly programming environment.</a:t>
            </a:r>
          </a:p>
          <a:p>
            <a:pPr marL="173038" indent="0">
              <a:buNone/>
            </a:pPr>
            <a:r>
              <a:rPr lang="en-US" sz="2400" dirty="0" smtClean="0">
                <a:latin typeface="Consolas" panose="020B0609020204030204" pitchFamily="49" charset="0"/>
              </a:rPr>
              <a:t> </a:t>
            </a:r>
          </a:p>
          <a:p>
            <a:pPr marL="687388" indent="-514350"/>
            <a:r>
              <a:rPr lang="en-US" sz="2400" dirty="0" smtClean="0">
                <a:latin typeface="Consolas" panose="020B0609020204030204" pitchFamily="49" charset="0"/>
              </a:rPr>
              <a:t>Understanding of Compiler and emulator.</a:t>
            </a:r>
          </a:p>
          <a:p>
            <a:pPr marL="687388" indent="-514350"/>
            <a:endParaRPr lang="en-US" sz="2400" dirty="0">
              <a:latin typeface="Consolas" panose="020B0609020204030204" pitchFamily="49" charset="0"/>
            </a:endParaRPr>
          </a:p>
          <a:p>
            <a:pPr marL="687388" indent="-514350"/>
            <a:r>
              <a:rPr lang="en-US" sz="2400" dirty="0" smtClean="0">
                <a:latin typeface="Consolas" panose="020B0609020204030204" pitchFamily="49" charset="0"/>
              </a:rPr>
              <a:t>Understanding of basic registers.</a:t>
            </a:r>
          </a:p>
          <a:p>
            <a:pPr marL="687388" indent="-514350"/>
            <a:endParaRPr lang="en-US" sz="2400" dirty="0" smtClean="0">
              <a:latin typeface="Consolas" panose="020B0609020204030204" pitchFamily="49" charset="0"/>
            </a:endParaRPr>
          </a:p>
          <a:p>
            <a:pPr marL="687388" indent="-514350"/>
            <a:r>
              <a:rPr lang="en-US" sz="2400" dirty="0" smtClean="0">
                <a:latin typeface="Consolas" panose="020B0609020204030204" pitchFamily="49" charset="0"/>
              </a:rPr>
              <a:t>Writing a Basic program. 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947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38119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1: Download Emu8086 </a:t>
            </a:r>
            <a:r>
              <a:rPr lang="en-US" dirty="0">
                <a:latin typeface="Consolas" panose="020B0609020204030204" pitchFamily="49" charset="0"/>
              </a:rPr>
              <a:t/>
            </a:r>
            <a:br>
              <a:rPr lang="en-US" dirty="0">
                <a:latin typeface="Consolas" panose="020B0609020204030204" pitchFamily="49" charset="0"/>
              </a:rPr>
            </a:b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037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Consolas" panose="020B0609020204030204" pitchFamily="49" charset="0"/>
              </a:rPr>
              <a:t>Download link 1: 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hlinkClick r:id="rId2"/>
              </a:rPr>
              <a:t>https://emu8086.en.lo4d.com/windows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latin typeface="Consolas" panose="020B0609020204030204" pitchFamily="49" charset="0"/>
              </a:rPr>
              <a:t>Download link 2: 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hlinkClick r:id="rId3"/>
              </a:rPr>
              <a:t>https://</a:t>
            </a:r>
            <a:r>
              <a:rPr lang="en-US" sz="2400" dirty="0" smtClean="0">
                <a:latin typeface="Consolas" panose="020B0609020204030204" pitchFamily="49" charset="0"/>
                <a:hlinkClick r:id="rId3"/>
              </a:rPr>
              <a:t>drive.google.com/file/d/1jzExZQlSQLncjBCRgWhg4a3eGZ9FxJnL/view?usp=sharing</a:t>
            </a:r>
            <a:endParaRPr lang="en-US" sz="2400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400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400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400" b="1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59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608" y="365125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2: Download Emulator 8086.rar 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608" y="1791272"/>
            <a:ext cx="10515600" cy="297771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0" y="1690688"/>
            <a:ext cx="8092440" cy="167430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2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11840" cy="1325563"/>
          </a:xfrm>
        </p:spPr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3: Extract Emulator 8086.rar file.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2785"/>
            <a:ext cx="4934639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57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4: Click Setup.exe 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2258" y="1778340"/>
            <a:ext cx="8502376" cy="43513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37960" y="3024193"/>
            <a:ext cx="1316736" cy="15361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704" y="264541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5: </a:t>
            </a:r>
            <a:r>
              <a:rPr lang="en-US" dirty="0">
                <a:latin typeface="Consolas" panose="020B0609020204030204" pitchFamily="49" charset="0"/>
              </a:rPr>
              <a:t>E</a:t>
            </a:r>
            <a:r>
              <a:rPr lang="en-US" dirty="0" smtClean="0">
                <a:latin typeface="Consolas" panose="020B0609020204030204" pitchFamily="49" charset="0"/>
              </a:rPr>
              <a:t>mulator </a:t>
            </a:r>
            <a:r>
              <a:rPr lang="en-US" dirty="0">
                <a:latin typeface="Consolas" panose="020B0609020204030204" pitchFamily="49" charset="0"/>
              </a:rPr>
              <a:t>setup wizard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123" y="1650430"/>
            <a:ext cx="5475181" cy="449679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3704844" y="5531353"/>
            <a:ext cx="1225296" cy="676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916" t="1" b="1445"/>
          <a:stretch/>
        </p:blipFill>
        <p:spPr>
          <a:xfrm>
            <a:off x="5998462" y="1650430"/>
            <a:ext cx="6014547" cy="449679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9680448" y="5591679"/>
            <a:ext cx="1225296" cy="676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825" r="1055"/>
          <a:stretch/>
        </p:blipFill>
        <p:spPr>
          <a:xfrm>
            <a:off x="475487" y="1590736"/>
            <a:ext cx="5579324" cy="455358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482" y="265174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5: </a:t>
            </a:r>
            <a:r>
              <a:rPr lang="en-US" dirty="0">
                <a:latin typeface="Consolas" panose="020B0609020204030204" pitchFamily="49" charset="0"/>
              </a:rPr>
              <a:t>E</a:t>
            </a:r>
            <a:r>
              <a:rPr lang="en-US" dirty="0" smtClean="0">
                <a:latin typeface="Consolas" panose="020B0609020204030204" pitchFamily="49" charset="0"/>
              </a:rPr>
              <a:t>mulator </a:t>
            </a:r>
            <a:r>
              <a:rPr lang="en-US" dirty="0">
                <a:latin typeface="Consolas" panose="020B0609020204030204" pitchFamily="49" charset="0"/>
              </a:rPr>
              <a:t>setup wizard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3338" y="5535389"/>
            <a:ext cx="1225296" cy="676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1185" r="889"/>
          <a:stretch/>
        </p:blipFill>
        <p:spPr>
          <a:xfrm>
            <a:off x="6136816" y="1571684"/>
            <a:ext cx="5567504" cy="45916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683786" y="5535389"/>
            <a:ext cx="1225296" cy="676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36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825" r="1055"/>
          <a:stretch/>
        </p:blipFill>
        <p:spPr>
          <a:xfrm>
            <a:off x="475487" y="1590737"/>
            <a:ext cx="5562848" cy="45726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482" y="265174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5: </a:t>
            </a:r>
            <a:r>
              <a:rPr lang="en-US" dirty="0">
                <a:latin typeface="Consolas" panose="020B0609020204030204" pitchFamily="49" charset="0"/>
              </a:rPr>
              <a:t>E</a:t>
            </a:r>
            <a:r>
              <a:rPr lang="en-US" dirty="0" smtClean="0">
                <a:latin typeface="Consolas" panose="020B0609020204030204" pitchFamily="49" charset="0"/>
              </a:rPr>
              <a:t>mulator </a:t>
            </a:r>
            <a:r>
              <a:rPr lang="en-US" dirty="0">
                <a:latin typeface="Consolas" panose="020B0609020204030204" pitchFamily="49" charset="0"/>
              </a:rPr>
              <a:t>setup wizard 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7686" y="5609968"/>
            <a:ext cx="1219240" cy="5534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1185" r="889"/>
          <a:stretch/>
        </p:blipFill>
        <p:spPr>
          <a:xfrm>
            <a:off x="6120340" y="1571684"/>
            <a:ext cx="5583980" cy="45916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656064" y="5609968"/>
            <a:ext cx="1119028" cy="5534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520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5: </a:t>
            </a:r>
            <a:r>
              <a:rPr lang="en-US" dirty="0" smtClean="0">
                <a:latin typeface="Consolas" panose="020B0609020204030204" pitchFamily="49" charset="0"/>
              </a:rPr>
              <a:t>Emulator </a:t>
            </a:r>
            <a:r>
              <a:rPr lang="en-US" dirty="0" smtClean="0">
                <a:latin typeface="Consolas" panose="020B0609020204030204" pitchFamily="49" charset="0"/>
              </a:rPr>
              <a:t>setup wizard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8457"/>
            <a:ext cx="5496692" cy="45631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951" y="1535936"/>
            <a:ext cx="5534797" cy="45631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89033" y="5595900"/>
            <a:ext cx="1225296" cy="6081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953492" y="5490858"/>
            <a:ext cx="1115278" cy="7132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4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6: Launch emu8086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8923"/>
          <a:stretch/>
        </p:blipFill>
        <p:spPr>
          <a:xfrm>
            <a:off x="966217" y="1496441"/>
            <a:ext cx="4602480" cy="492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12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6: </a:t>
            </a:r>
            <a:r>
              <a:rPr lang="en-US" dirty="0">
                <a:latin typeface="Consolas" panose="020B0609020204030204" pitchFamily="49" charset="0"/>
              </a:rPr>
              <a:t>Launch emu8086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986" y="1361503"/>
            <a:ext cx="4797654" cy="53758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4464" y="4425695"/>
            <a:ext cx="4837176" cy="5394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88153" y="176482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License Name:  </a:t>
            </a:r>
            <a:r>
              <a:rPr lang="en-US" dirty="0" err="1">
                <a:solidFill>
                  <a:srgbClr val="FF0000"/>
                </a:solidFill>
              </a:rPr>
              <a:t>glaitm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Registration Key: 27R3VDEFYFX4N0VC3FRTQZX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3" y="2653865"/>
            <a:ext cx="5971032" cy="354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80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6: </a:t>
            </a:r>
            <a:r>
              <a:rPr lang="en-US" dirty="0">
                <a:latin typeface="Consolas" panose="020B0609020204030204" pitchFamily="49" charset="0"/>
              </a:rPr>
              <a:t>Launch </a:t>
            </a:r>
            <a:r>
              <a:rPr lang="en-US" dirty="0" smtClean="0">
                <a:latin typeface="Consolas" panose="020B0609020204030204" pitchFamily="49" charset="0"/>
              </a:rPr>
              <a:t>emu8086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9946" y="1380744"/>
            <a:ext cx="5297974" cy="502369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94816" y="3630168"/>
            <a:ext cx="1200912" cy="5943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3938" b="19735"/>
          <a:stretch/>
        </p:blipFill>
        <p:spPr>
          <a:xfrm>
            <a:off x="6314463" y="1380744"/>
            <a:ext cx="5490441" cy="502369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848600" y="4690871"/>
            <a:ext cx="1200912" cy="347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89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7: Working and Features 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6263" indent="-119063"/>
            <a:r>
              <a:rPr lang="en-US" sz="2400" dirty="0" smtClean="0">
                <a:latin typeface="Consolas" panose="020B0609020204030204" pitchFamily="49" charset="0"/>
              </a:rPr>
              <a:t>  Increase font size for  better  readability of  code.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" r="1449" b="59230"/>
          <a:stretch/>
        </p:blipFill>
        <p:spPr>
          <a:xfrm>
            <a:off x="1007363" y="2671115"/>
            <a:ext cx="5594605" cy="10779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212080" y="2980944"/>
            <a:ext cx="694944" cy="5669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269" y="3831336"/>
            <a:ext cx="3891875" cy="273405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5236" y="2901316"/>
            <a:ext cx="3112008" cy="33864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750298" y="3016567"/>
            <a:ext cx="894587" cy="12994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907024" y="4594529"/>
            <a:ext cx="822960" cy="4255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513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754" y="405438"/>
            <a:ext cx="10515600" cy="699675"/>
          </a:xfrm>
        </p:spPr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7: </a:t>
            </a:r>
            <a:r>
              <a:rPr lang="en-US" dirty="0" smtClean="0">
                <a:latin typeface="Consolas" panose="020B0609020204030204" pitchFamily="49" charset="0"/>
              </a:rPr>
              <a:t>Working </a:t>
            </a:r>
            <a:r>
              <a:rPr lang="en-US" dirty="0">
                <a:latin typeface="Consolas" panose="020B0609020204030204" pitchFamily="49" charset="0"/>
              </a:rPr>
              <a:t>and Features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691" b="21928"/>
          <a:stretch/>
        </p:blipFill>
        <p:spPr>
          <a:xfrm>
            <a:off x="579614" y="2690598"/>
            <a:ext cx="3918245" cy="3397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9054" y="3996363"/>
            <a:ext cx="2779363" cy="545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1719" r="116" b="117"/>
          <a:stretch/>
        </p:blipFill>
        <p:spPr>
          <a:xfrm>
            <a:off x="4688400" y="2690598"/>
            <a:ext cx="6908828" cy="300461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1083151" y="1295054"/>
            <a:ext cx="1044817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onsolas" panose="020B0609020204030204" pitchFamily="49" charset="0"/>
              </a:rPr>
              <a:t>Create a new file using the COM template standard for the 8086. Click "Compile" to save the COM file, or choose "</a:t>
            </a:r>
            <a:r>
              <a:rPr lang="en-US" sz="2000" b="1" dirty="0">
                <a:latin typeface="Consolas" panose="020B0609020204030204" pitchFamily="49" charset="0"/>
              </a:rPr>
              <a:t>Save As</a:t>
            </a:r>
            <a:r>
              <a:rPr lang="en-US" sz="2000" dirty="0">
                <a:latin typeface="Consolas" panose="020B0609020204030204" pitchFamily="49" charset="0"/>
              </a:rPr>
              <a:t>" to save it with a filename ending in `</a:t>
            </a:r>
            <a:r>
              <a:rPr lang="en-US" sz="2000" b="1" dirty="0">
                <a:latin typeface="Consolas" panose="020B0609020204030204" pitchFamily="49" charset="0"/>
              </a:rPr>
              <a:t>.</a:t>
            </a:r>
            <a:r>
              <a:rPr lang="en-US" sz="2000" b="1" dirty="0" err="1">
                <a:latin typeface="Consolas" panose="020B0609020204030204" pitchFamily="49" charset="0"/>
              </a:rPr>
              <a:t>asm</a:t>
            </a:r>
            <a:r>
              <a:rPr lang="en-US" sz="2000" dirty="0">
                <a:latin typeface="Consolas" panose="020B0609020204030204" pitchFamily="49" charset="0"/>
              </a:rPr>
              <a:t>`.</a:t>
            </a:r>
          </a:p>
        </p:txBody>
      </p:sp>
    </p:spTree>
    <p:extLst>
      <p:ext uri="{BB962C8B-B14F-4D97-AF65-F5344CB8AC3E}">
        <p14:creationId xmlns:p14="http://schemas.microsoft.com/office/powerpoint/2010/main" val="954991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231" y="406743"/>
            <a:ext cx="10515600" cy="699675"/>
          </a:xfrm>
        </p:spPr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7: </a:t>
            </a:r>
            <a:r>
              <a:rPr lang="en-US" dirty="0" smtClean="0">
                <a:latin typeface="Consolas" panose="020B0609020204030204" pitchFamily="49" charset="0"/>
              </a:rPr>
              <a:t>Working </a:t>
            </a:r>
            <a:r>
              <a:rPr lang="en-US" dirty="0">
                <a:latin typeface="Consolas" panose="020B0609020204030204" pitchFamily="49" charset="0"/>
              </a:rPr>
              <a:t>and Features 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4712" y="2995621"/>
            <a:ext cx="10229088" cy="37147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8200" y="1338364"/>
            <a:ext cx="1086612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0238" indent="-346075">
              <a:buFont typeface="Arial" panose="020B0604020202020204" pitchFamily="34" charset="0"/>
              <a:buChar char="•"/>
            </a:pPr>
            <a:r>
              <a:rPr lang="en-US" sz="2000" dirty="0">
                <a:latin typeface="Consolas" panose="020B0609020204030204" pitchFamily="49" charset="0"/>
              </a:rPr>
              <a:t>Type your code inside the text area, </a:t>
            </a:r>
            <a:r>
              <a:rPr lang="en-US" sz="2000" dirty="0" smtClean="0">
                <a:latin typeface="Consolas" panose="020B0609020204030204" pitchFamily="49" charset="0"/>
              </a:rPr>
              <a:t>click</a:t>
            </a:r>
            <a:r>
              <a:rPr lang="en-US" sz="2000" b="1" dirty="0" smtClean="0">
                <a:solidFill>
                  <a:srgbClr val="3333FF"/>
                </a:solidFill>
                <a:latin typeface="Consolas" panose="020B0609020204030204" pitchFamily="49" charset="0"/>
              </a:rPr>
              <a:t>[Compile]</a:t>
            </a:r>
            <a:r>
              <a:rPr lang="en-US" sz="2000" dirty="0" smtClean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You will be asked for a place where to save the compiled file. </a:t>
            </a:r>
            <a:endParaRPr lang="en-US" sz="2000" dirty="0" smtClean="0">
              <a:latin typeface="Consolas" panose="020B0609020204030204" pitchFamily="49" charset="0"/>
            </a:endParaRPr>
          </a:p>
          <a:p>
            <a:pPr marL="630238" indent="-346075">
              <a:buFont typeface="Arial" panose="020B0604020202020204" pitchFamily="34" charset="0"/>
              <a:buChar char="•"/>
            </a:pPr>
            <a:endParaRPr lang="en-US" sz="2000" dirty="0" smtClean="0">
              <a:latin typeface="Consolas" panose="020B0609020204030204" pitchFamily="49" charset="0"/>
            </a:endParaRPr>
          </a:p>
          <a:p>
            <a:pPr marL="630238" indent="-346075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onsolas" panose="020B0609020204030204" pitchFamily="49" charset="0"/>
              </a:rPr>
              <a:t>After </a:t>
            </a:r>
            <a:r>
              <a:rPr lang="en-US" sz="2000" dirty="0">
                <a:latin typeface="Consolas" panose="020B0609020204030204" pitchFamily="49" charset="0"/>
              </a:rPr>
              <a:t>successful compilation you can click </a:t>
            </a:r>
            <a:r>
              <a:rPr lang="en-US" sz="2000" b="1" dirty="0">
                <a:solidFill>
                  <a:srgbClr val="3333FF"/>
                </a:solidFill>
                <a:latin typeface="Consolas" panose="020B0609020204030204" pitchFamily="49" charset="0"/>
              </a:rPr>
              <a:t>[Emulate]</a:t>
            </a:r>
            <a:r>
              <a:rPr lang="en-US" sz="2000" dirty="0">
                <a:solidFill>
                  <a:srgbClr val="3333FF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button to load the compiled file in emulator. </a:t>
            </a:r>
          </a:p>
        </p:txBody>
      </p:sp>
      <p:sp>
        <p:nvSpPr>
          <p:cNvPr id="5" name="Rectangle 4"/>
          <p:cNvSpPr/>
          <p:nvPr/>
        </p:nvSpPr>
        <p:spPr>
          <a:xfrm>
            <a:off x="7808976" y="3285765"/>
            <a:ext cx="658368" cy="545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84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657" y="420902"/>
            <a:ext cx="10515600" cy="699675"/>
          </a:xfrm>
        </p:spPr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7: </a:t>
            </a:r>
            <a:r>
              <a:rPr lang="en-US" dirty="0" smtClean="0">
                <a:latin typeface="Consolas" panose="020B0609020204030204" pitchFamily="49" charset="0"/>
              </a:rPr>
              <a:t>Working </a:t>
            </a:r>
            <a:r>
              <a:rPr lang="en-US" dirty="0">
                <a:latin typeface="Consolas" panose="020B0609020204030204" pitchFamily="49" charset="0"/>
              </a:rPr>
              <a:t>and Features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1338364"/>
            <a:ext cx="108661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163"/>
            <a:endParaRPr lang="en-US" sz="2000" dirty="0" smtClean="0">
              <a:latin typeface="Consolas" panose="020B0609020204030204" pitchFamily="49" charset="0"/>
            </a:endParaRPr>
          </a:p>
          <a:p>
            <a:pPr marL="630238" indent="-346075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onsolas" panose="020B0609020204030204" pitchFamily="49" charset="0"/>
              </a:rPr>
              <a:t>After </a:t>
            </a:r>
            <a:r>
              <a:rPr lang="en-US" sz="2000" dirty="0">
                <a:latin typeface="Consolas" panose="020B0609020204030204" pitchFamily="49" charset="0"/>
              </a:rPr>
              <a:t>successful </a:t>
            </a:r>
            <a:r>
              <a:rPr lang="en-US" sz="2000" dirty="0" smtClean="0">
                <a:latin typeface="Consolas" panose="020B0609020204030204" pitchFamily="49" charset="0"/>
              </a:rPr>
              <a:t>compilation explore listing file.</a:t>
            </a:r>
            <a:endParaRPr lang="en-US" sz="2000" dirty="0"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961" y="3246741"/>
            <a:ext cx="3177417" cy="116050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34251" y="3682314"/>
            <a:ext cx="1705727" cy="3212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827" y="2785371"/>
            <a:ext cx="5062524" cy="362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21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145" y="383315"/>
            <a:ext cx="10515600" cy="699675"/>
          </a:xfrm>
        </p:spPr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7: </a:t>
            </a:r>
            <a:r>
              <a:rPr lang="en-US" dirty="0" smtClean="0">
                <a:latin typeface="Consolas" panose="020B0609020204030204" pitchFamily="49" charset="0"/>
              </a:rPr>
              <a:t>Working </a:t>
            </a:r>
            <a:r>
              <a:rPr lang="en-US" dirty="0">
                <a:latin typeface="Consolas" panose="020B0609020204030204" pitchFamily="49" charset="0"/>
              </a:rPr>
              <a:t>and Features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1338364"/>
            <a:ext cx="108661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0238" indent="-346075">
              <a:buFont typeface="Arial" panose="020B0604020202020204" pitchFamily="34" charset="0"/>
              <a:buChar char="•"/>
            </a:pPr>
            <a:r>
              <a:rPr lang="en-US" sz="2000" dirty="0">
                <a:latin typeface="Consolas" panose="020B0609020204030204" pitchFamily="49" charset="0"/>
              </a:rPr>
              <a:t>In Emu8086, a </a:t>
            </a:r>
            <a:r>
              <a:rPr lang="en-US" sz="2000" b="1" dirty="0">
                <a:latin typeface="Consolas" panose="020B0609020204030204" pitchFamily="49" charset="0"/>
              </a:rPr>
              <a:t>listing file </a:t>
            </a:r>
            <a:r>
              <a:rPr lang="en-US" sz="2000" dirty="0">
                <a:latin typeface="Consolas" panose="020B0609020204030204" pitchFamily="49" charset="0"/>
              </a:rPr>
              <a:t>is a detailed output file that includes both the </a:t>
            </a:r>
            <a:r>
              <a:rPr lang="en-US" sz="2000" b="1" dirty="0">
                <a:latin typeface="Consolas" panose="020B0609020204030204" pitchFamily="49" charset="0"/>
              </a:rPr>
              <a:t>assembly </a:t>
            </a:r>
            <a:r>
              <a:rPr lang="en-US" sz="2000" b="1" dirty="0" smtClean="0">
                <a:latin typeface="Consolas" panose="020B0609020204030204" pitchFamily="49" charset="0"/>
              </a:rPr>
              <a:t>source code </a:t>
            </a:r>
            <a:r>
              <a:rPr lang="en-US" sz="2000" dirty="0">
                <a:latin typeface="Consolas" panose="020B0609020204030204" pitchFamily="49" charset="0"/>
              </a:rPr>
              <a:t>and the corresponding machine code generated during compilation.</a:t>
            </a:r>
            <a:endParaRPr lang="en-US" sz="2000" dirty="0">
              <a:latin typeface="Consolas" panose="020B06090202040302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b="19796"/>
          <a:stretch/>
        </p:blipFill>
        <p:spPr>
          <a:xfrm>
            <a:off x="3353416" y="2421925"/>
            <a:ext cx="7825329" cy="41601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353416" y="2354027"/>
            <a:ext cx="1152681" cy="3232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080421" y="3665838"/>
            <a:ext cx="3142736" cy="26608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262184" y="3665837"/>
            <a:ext cx="3163330" cy="26608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4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8662"/>
          </a:xfrm>
        </p:spPr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8: General Purpose Registers 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172" b="17617"/>
          <a:stretch/>
        </p:blipFill>
        <p:spPr>
          <a:xfrm>
            <a:off x="871620" y="1626953"/>
            <a:ext cx="3277291" cy="3539407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33427" y="1647471"/>
            <a:ext cx="4434840" cy="512997"/>
            <a:chOff x="5129784" y="1925209"/>
            <a:chExt cx="4434840" cy="512997"/>
          </a:xfrm>
        </p:grpSpPr>
        <p:sp>
          <p:nvSpPr>
            <p:cNvPr id="5" name="Rectangle 4"/>
            <p:cNvSpPr/>
            <p:nvPr/>
          </p:nvSpPr>
          <p:spPr>
            <a:xfrm>
              <a:off x="5129784" y="1925209"/>
              <a:ext cx="4434840" cy="512997"/>
            </a:xfrm>
            <a:prstGeom prst="rect">
              <a:avLst/>
            </a:prstGeom>
            <a:noFill/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5219509" y="2002996"/>
              <a:ext cx="4255389" cy="357420"/>
              <a:chOff x="5189601" y="2004532"/>
              <a:chExt cx="4255389" cy="35742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5189601" y="2004533"/>
                <a:ext cx="2276856" cy="357419"/>
              </a:xfrm>
              <a:prstGeom prst="rect">
                <a:avLst/>
              </a:prstGeom>
              <a:solidFill>
                <a:srgbClr val="3333FF"/>
              </a:solidFill>
              <a:ln>
                <a:solidFill>
                  <a:srgbClr val="3333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8 bit</a:t>
                </a:r>
                <a:endParaRPr lang="en-US" dirty="0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7526274" y="2004532"/>
                <a:ext cx="1918716" cy="357419"/>
              </a:xfrm>
              <a:prstGeom prst="rect">
                <a:avLst/>
              </a:prstGeom>
              <a:solidFill>
                <a:srgbClr val="3333FF"/>
              </a:solidFill>
              <a:ln>
                <a:solidFill>
                  <a:srgbClr val="3333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8 bit</a:t>
                </a:r>
                <a:endParaRPr lang="en-US" dirty="0"/>
              </a:p>
            </p:txBody>
          </p:sp>
        </p:grpSp>
      </p:grp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528" y="3920922"/>
            <a:ext cx="7682634" cy="2532821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8390714" y="2340948"/>
            <a:ext cx="876468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4bit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349300" y="2969352"/>
            <a:ext cx="2093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orbel" panose="020B0503020204020204" pitchFamily="34" charset="0"/>
              </a:rPr>
              <a:t>1 nibble </a:t>
            </a:r>
            <a:r>
              <a:rPr lang="en-US" sz="2000" b="1" dirty="0">
                <a:latin typeface="Corbel" panose="020B0503020204020204" pitchFamily="34" charset="0"/>
              </a:rPr>
              <a:t>a four-bit aggregation</a:t>
            </a:r>
            <a:r>
              <a:rPr lang="en-US" sz="2000" b="1" dirty="0" smtClean="0">
                <a:latin typeface="Corbel" panose="020B0503020204020204" pitchFamily="34" charset="0"/>
              </a:rPr>
              <a:t> </a:t>
            </a:r>
            <a:endParaRPr lang="en-US" sz="2000" b="1" dirty="0">
              <a:latin typeface="Corbel" panose="020B0503020204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359824" y="2340948"/>
            <a:ext cx="961216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4bit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9443276" y="1626953"/>
            <a:ext cx="2512886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1 </a:t>
            </a:r>
            <a:r>
              <a:rPr lang="en-US" b="1" dirty="0"/>
              <a:t>Word</a:t>
            </a:r>
            <a:r>
              <a:rPr lang="en-US" dirty="0"/>
              <a:t> </a:t>
            </a:r>
            <a:r>
              <a:rPr lang="en-US" dirty="0" smtClean="0"/>
              <a:t>=</a:t>
            </a:r>
          </a:p>
          <a:p>
            <a:pPr lvl="1"/>
            <a:r>
              <a:rPr lang="en-US" dirty="0" smtClean="0"/>
              <a:t>16 bits (2 bytes) in a 16-bit system.</a:t>
            </a:r>
          </a:p>
          <a:p>
            <a:pPr lvl="1"/>
            <a:r>
              <a:rPr lang="en-US" dirty="0" smtClean="0"/>
              <a:t>32 </a:t>
            </a:r>
            <a:r>
              <a:rPr lang="en-US" dirty="0"/>
              <a:t>bits (4 bytes) in a 32-bit system.</a:t>
            </a:r>
          </a:p>
          <a:p>
            <a:pPr lvl="1"/>
            <a:r>
              <a:rPr lang="en-US" dirty="0"/>
              <a:t>64 bits (8 bytes) in a 64-bit system.</a:t>
            </a:r>
          </a:p>
        </p:txBody>
      </p:sp>
    </p:spTree>
    <p:extLst>
      <p:ext uri="{BB962C8B-B14F-4D97-AF65-F5344CB8AC3E}">
        <p14:creationId xmlns:p14="http://schemas.microsoft.com/office/powerpoint/2010/main" val="1403891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6253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8: Registers Slicing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r="1176" b="7366"/>
          <a:stretch/>
        </p:blipFill>
        <p:spPr>
          <a:xfrm>
            <a:off x="911352" y="1452063"/>
            <a:ext cx="5123688" cy="396118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8200" y="6004483"/>
            <a:ext cx="98877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rgbClr val="3333FF"/>
                </a:solidFill>
                <a:latin typeface="Consolas" panose="020B0609020204030204" pitchFamily="49" charset="0"/>
              </a:rPr>
              <a:t>You </a:t>
            </a:r>
            <a:r>
              <a:rPr lang="en-US" dirty="0">
                <a:solidFill>
                  <a:srgbClr val="3333FF"/>
                </a:solidFill>
                <a:latin typeface="Consolas" panose="020B0609020204030204" pitchFamily="49" charset="0"/>
              </a:rPr>
              <a:t>can think of the small registers as being pieces (or slices) of the big ones.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961" y="2678240"/>
            <a:ext cx="5447680" cy="26476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020824" y="1746504"/>
            <a:ext cx="9198864" cy="42579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5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1406" t="26551" r="60671"/>
          <a:stretch/>
        </p:blipFill>
        <p:spPr>
          <a:xfrm>
            <a:off x="500979" y="1823686"/>
            <a:ext cx="3589301" cy="45454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359020" y="1906344"/>
            <a:ext cx="10145173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 smtClean="0">
              <a:latin typeface="Consolas" panose="020B0609020204030204" pitchFamily="49" charset="0"/>
            </a:endParaRPr>
          </a:p>
          <a:p>
            <a:r>
              <a:rPr lang="en-US" sz="2000" b="1" dirty="0" smtClean="0">
                <a:latin typeface="Consolas" panose="020B0609020204030204" pitchFamily="49" charset="0"/>
              </a:rPr>
              <a:t>MOV  </a:t>
            </a:r>
            <a:r>
              <a:rPr lang="en-US" sz="2000" b="1" dirty="0" smtClean="0">
                <a:solidFill>
                  <a:srgbClr val="00B050"/>
                </a:solidFill>
                <a:latin typeface="Consolas" panose="020B0609020204030204" pitchFamily="49" charset="0"/>
              </a:rPr>
              <a:t>EAX</a:t>
            </a:r>
            <a:r>
              <a:rPr lang="en-US" sz="20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,11223344</a:t>
            </a:r>
            <a:r>
              <a:rPr lang="en-US" sz="2000" b="1" dirty="0" smtClean="0">
                <a:latin typeface="Consolas" panose="020B0609020204030204" pitchFamily="49" charset="0"/>
              </a:rPr>
              <a:t>    ;</a:t>
            </a:r>
            <a:r>
              <a:rPr lang="en-US" sz="2000" b="1" dirty="0">
                <a:latin typeface="Consolas" panose="020B0609020204030204" pitchFamily="49" charset="0"/>
              </a:rPr>
              <a:t>Store hex number 11223344 </a:t>
            </a:r>
            <a:endParaRPr lang="en-US" sz="2000" b="1" dirty="0" smtClean="0">
              <a:latin typeface="Consolas" panose="020B0609020204030204" pitchFamily="49" charset="0"/>
            </a:endParaRPr>
          </a:p>
          <a:p>
            <a:r>
              <a:rPr lang="en-US" sz="2000" b="1" dirty="0">
                <a:latin typeface="Consolas" panose="020B0609020204030204" pitchFamily="49" charset="0"/>
              </a:rPr>
              <a:t> </a:t>
            </a:r>
            <a:r>
              <a:rPr lang="en-US" sz="2000" b="1" dirty="0" smtClean="0">
                <a:latin typeface="Consolas" panose="020B0609020204030204" pitchFamily="49" charset="0"/>
              </a:rPr>
              <a:t>                    to </a:t>
            </a:r>
            <a:r>
              <a:rPr lang="en-US" sz="2000" b="1" dirty="0">
                <a:latin typeface="Consolas" panose="020B0609020204030204" pitchFamily="49" charset="0"/>
              </a:rPr>
              <a:t>EAX.</a:t>
            </a:r>
          </a:p>
          <a:p>
            <a:endParaRPr lang="en-US" sz="2000" b="1" dirty="0" smtClean="0">
              <a:latin typeface="Consolas" panose="020B0609020204030204" pitchFamily="49" charset="0"/>
            </a:endParaRPr>
          </a:p>
          <a:p>
            <a:endParaRPr lang="en-US" sz="2000" b="1" dirty="0">
              <a:latin typeface="Consolas" panose="020B0609020204030204" pitchFamily="49" charset="0"/>
            </a:endParaRPr>
          </a:p>
          <a:p>
            <a:r>
              <a:rPr lang="en-US" sz="2000" b="1" dirty="0" smtClean="0">
                <a:latin typeface="Consolas" panose="020B0609020204030204" pitchFamily="49" charset="0"/>
              </a:rPr>
              <a:t>MOV  </a:t>
            </a:r>
            <a:r>
              <a:rPr lang="en-US" sz="2000" b="1" dirty="0" smtClean="0">
                <a:solidFill>
                  <a:srgbClr val="00B050"/>
                </a:solidFill>
                <a:latin typeface="Consolas" panose="020B0609020204030204" pitchFamily="49" charset="0"/>
              </a:rPr>
              <a:t>AX</a:t>
            </a:r>
            <a:r>
              <a:rPr lang="en-US" sz="2000" b="1" dirty="0" smtClean="0">
                <a:latin typeface="Consolas" panose="020B0609020204030204" pitchFamily="49" charset="0"/>
              </a:rPr>
              <a:t>,</a:t>
            </a:r>
            <a:r>
              <a:rPr lang="en-US" sz="20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0 </a:t>
            </a:r>
            <a:r>
              <a:rPr lang="en-US" sz="2000" b="1" dirty="0" smtClean="0">
                <a:latin typeface="Consolas" panose="020B0609020204030204" pitchFamily="49" charset="0"/>
              </a:rPr>
              <a:t>          </a:t>
            </a:r>
            <a:r>
              <a:rPr lang="en-US" sz="2000" b="1" dirty="0">
                <a:latin typeface="Consolas" panose="020B0609020204030204" pitchFamily="49" charset="0"/>
              </a:rPr>
              <a:t>;Store 0 to AX</a:t>
            </a:r>
            <a:r>
              <a:rPr lang="en-US" sz="2000" b="1" dirty="0" smtClean="0">
                <a:latin typeface="Consolas" panose="020B0609020204030204" pitchFamily="49" charset="0"/>
              </a:rPr>
              <a:t>,</a:t>
            </a:r>
            <a:endParaRPr lang="en-US" sz="2000" b="1" dirty="0">
              <a:latin typeface="Consolas" panose="020B0609020204030204" pitchFamily="49" charset="0"/>
            </a:endParaRPr>
          </a:p>
          <a:p>
            <a:endParaRPr lang="en-US" sz="2000" b="1" dirty="0" smtClean="0">
              <a:latin typeface="Consolas" panose="020B0609020204030204" pitchFamily="49" charset="0"/>
            </a:endParaRPr>
          </a:p>
          <a:p>
            <a:endParaRPr lang="en-US" sz="2000" b="1" dirty="0">
              <a:latin typeface="Consolas" panose="020B0609020204030204" pitchFamily="49" charset="0"/>
            </a:endParaRPr>
          </a:p>
          <a:p>
            <a:endParaRPr lang="en-US" sz="2000" b="1" dirty="0">
              <a:latin typeface="Consolas" panose="020B0609020204030204" pitchFamily="49" charset="0"/>
            </a:endParaRPr>
          </a:p>
          <a:p>
            <a:r>
              <a:rPr lang="en-US" sz="2000" b="1" dirty="0" smtClean="0">
                <a:latin typeface="Consolas" panose="020B0609020204030204" pitchFamily="49" charset="0"/>
              </a:rPr>
              <a:t>MOV  </a:t>
            </a:r>
            <a:r>
              <a:rPr lang="en-US" sz="2000" b="1" dirty="0" smtClean="0">
                <a:solidFill>
                  <a:srgbClr val="00B050"/>
                </a:solidFill>
                <a:latin typeface="Consolas" panose="020B0609020204030204" pitchFamily="49" charset="0"/>
              </a:rPr>
              <a:t>AL</a:t>
            </a:r>
            <a:r>
              <a:rPr lang="en-US" sz="2000" b="1" dirty="0" smtClean="0">
                <a:latin typeface="Consolas" panose="020B0609020204030204" pitchFamily="49" charset="0"/>
              </a:rPr>
              <a:t>,</a:t>
            </a:r>
            <a:r>
              <a:rPr lang="en-US" sz="20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5B </a:t>
            </a:r>
            <a:r>
              <a:rPr lang="en-US" sz="2000" b="1" dirty="0" smtClean="0">
                <a:latin typeface="Consolas" panose="020B0609020204030204" pitchFamily="49" charset="0"/>
              </a:rPr>
              <a:t>         </a:t>
            </a:r>
            <a:r>
              <a:rPr lang="en-US" sz="2000" b="1" dirty="0">
                <a:latin typeface="Consolas" panose="020B0609020204030204" pitchFamily="49" charset="0"/>
              </a:rPr>
              <a:t>;Store 5B to AL, </a:t>
            </a:r>
          </a:p>
          <a:p>
            <a:endParaRPr lang="en-US" sz="2000" b="1" dirty="0" smtClean="0">
              <a:latin typeface="Consolas" panose="020B0609020204030204" pitchFamily="49" charset="0"/>
            </a:endParaRPr>
          </a:p>
          <a:p>
            <a:endParaRPr lang="en-US" sz="2000" b="1" dirty="0">
              <a:latin typeface="Consolas" panose="020B0609020204030204" pitchFamily="49" charset="0"/>
            </a:endParaRPr>
          </a:p>
          <a:p>
            <a:endParaRPr lang="en-US" sz="2000" b="1" dirty="0" smtClean="0">
              <a:latin typeface="Consolas" panose="020B0609020204030204" pitchFamily="49" charset="0"/>
            </a:endParaRPr>
          </a:p>
          <a:p>
            <a:r>
              <a:rPr lang="en-US" sz="2000" b="1" dirty="0" smtClean="0">
                <a:latin typeface="Consolas" panose="020B0609020204030204" pitchFamily="49" charset="0"/>
              </a:rPr>
              <a:t>MOV </a:t>
            </a:r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AH</a:t>
            </a:r>
            <a:r>
              <a:rPr lang="en-US" sz="2000" b="1" dirty="0">
                <a:latin typeface="Consolas" panose="020B0609020204030204" pitchFamily="49" charset="0"/>
              </a:rPr>
              <a:t>,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CC</a:t>
            </a:r>
            <a:r>
              <a:rPr lang="en-US" sz="2000" b="1" dirty="0">
                <a:latin typeface="Consolas" panose="020B0609020204030204" pitchFamily="49" charset="0"/>
              </a:rPr>
              <a:t>          </a:t>
            </a:r>
            <a:r>
              <a:rPr lang="en-US" sz="2000" b="1" dirty="0" smtClean="0">
                <a:latin typeface="Consolas" panose="020B0609020204030204" pitchFamily="49" charset="0"/>
              </a:rPr>
              <a:t> ;</a:t>
            </a:r>
            <a:r>
              <a:rPr lang="en-US" sz="2000" b="1" dirty="0">
                <a:latin typeface="Consolas" panose="020B0609020204030204" pitchFamily="49" charset="0"/>
              </a:rPr>
              <a:t>Store CC to AH, 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882" y="389594"/>
            <a:ext cx="1169102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 smtClean="0">
                <a:latin typeface="Consolas" panose="020B0609020204030204" pitchFamily="49" charset="0"/>
              </a:rPr>
              <a:t>8: </a:t>
            </a:r>
            <a:r>
              <a:rPr lang="en-US" sz="4400" dirty="0">
                <a:latin typeface="Consolas" panose="020B0609020204030204" pitchFamily="49" charset="0"/>
              </a:rPr>
              <a:t>General Purpose </a:t>
            </a:r>
            <a:r>
              <a:rPr lang="en-US" sz="4400" dirty="0" smtClean="0">
                <a:latin typeface="Consolas" panose="020B0609020204030204" pitchFamily="49" charset="0"/>
              </a:rPr>
              <a:t>Registers Working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30014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Task 1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120" y="1846136"/>
            <a:ext cx="858316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onsolas" panose="020B0609020204030204" pitchFamily="49" charset="0"/>
              </a:rPr>
              <a:t>Write a program to add two </a:t>
            </a:r>
            <a:r>
              <a:rPr lang="en-US" dirty="0" smtClean="0">
                <a:latin typeface="Consolas" panose="020B0609020204030204" pitchFamily="49" charset="0"/>
              </a:rPr>
              <a:t>numbers.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69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9497568" cy="1325563"/>
          </a:xfrm>
        </p:spPr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Submission guidelines</a:t>
            </a:r>
            <a:r>
              <a:rPr lang="en-US" dirty="0">
                <a:latin typeface="Consolas" panose="020B0609020204030204" pitchFamily="49" charset="0"/>
              </a:rPr>
              <a:t/>
            </a:r>
            <a:br>
              <a:rPr lang="en-US" dirty="0">
                <a:latin typeface="Consolas" panose="020B0609020204030204" pitchFamily="49" charset="0"/>
              </a:rPr>
            </a:b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anose="020B0609020204030204" pitchFamily="49" charset="0"/>
              </a:rPr>
              <a:t>Submit </a:t>
            </a:r>
            <a:r>
              <a:rPr lang="en-US" sz="2400" dirty="0">
                <a:latin typeface="Consolas" panose="020B0609020204030204" pitchFamily="49" charset="0"/>
              </a:rPr>
              <a:t>a screenshot of the emulator and output window on GCR, including your name and ID. Additionally, submit the code using Notepad</a:t>
            </a:r>
            <a:r>
              <a:rPr lang="en-US" sz="2400" dirty="0" smtClean="0">
                <a:latin typeface="Consolas" panose="020B0609020204030204" pitchFamily="49" charset="0"/>
              </a:rPr>
              <a:t>.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 smtClean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461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447</TotalTime>
  <Words>388</Words>
  <Application>Microsoft Office PowerPoint</Application>
  <PresentationFormat>Widescreen</PresentationFormat>
  <Paragraphs>83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Consolas</vt:lpstr>
      <vt:lpstr>Corbel</vt:lpstr>
      <vt:lpstr>Wingdings</vt:lpstr>
      <vt:lpstr>Office Theme</vt:lpstr>
      <vt:lpstr>LAB-226 | Computer Organization &amp; Assembly Language    </vt:lpstr>
      <vt:lpstr>Lab 1</vt:lpstr>
      <vt:lpstr>1: Download Emu8086  </vt:lpstr>
      <vt:lpstr>2: Download Emulator 8086.rar </vt:lpstr>
      <vt:lpstr>3: Extract Emulator 8086.rar file.</vt:lpstr>
      <vt:lpstr>4: Click Setup.exe </vt:lpstr>
      <vt:lpstr>5: Emulator setup wizard </vt:lpstr>
      <vt:lpstr>5: Emulator setup wizard </vt:lpstr>
      <vt:lpstr>5: Emulator setup wizard </vt:lpstr>
      <vt:lpstr>5: Emulator setup wizard </vt:lpstr>
      <vt:lpstr>6: Launch emu8086</vt:lpstr>
      <vt:lpstr>6: Launch emu8086</vt:lpstr>
      <vt:lpstr>6: Launch emu8086</vt:lpstr>
      <vt:lpstr>7: Working and Features </vt:lpstr>
      <vt:lpstr>7: Working and Features </vt:lpstr>
      <vt:lpstr>7: Working and Features </vt:lpstr>
      <vt:lpstr>7: Working and Features </vt:lpstr>
      <vt:lpstr>7: Working and Features </vt:lpstr>
      <vt:lpstr>8: General Purpose Registers </vt:lpstr>
      <vt:lpstr>8: Registers Slicing</vt:lpstr>
      <vt:lpstr>PowerPoint Presentation</vt:lpstr>
      <vt:lpstr>Task 1</vt:lpstr>
      <vt:lpstr>Submission guidelines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LAB-226 | Computer Organization &amp; Assembly Language LAB</dc:title>
  <dc:creator>Hp</dc:creator>
  <cp:lastModifiedBy>Hp</cp:lastModifiedBy>
  <cp:revision>103</cp:revision>
  <dcterms:created xsi:type="dcterms:W3CDTF">2025-02-09T09:59:40Z</dcterms:created>
  <dcterms:modified xsi:type="dcterms:W3CDTF">2025-02-09T20:19:25Z</dcterms:modified>
</cp:coreProperties>
</file>