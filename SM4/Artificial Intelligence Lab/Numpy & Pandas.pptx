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4"/>
    <p:sldMasterId id="2147483709" r:id="rId5"/>
  </p:sldMasterIdLst>
  <p:notesMasterIdLst>
    <p:notesMasterId r:id="rId310"/>
  </p:notesMasterIdLst>
  <p:sldIdLst>
    <p:sldId id="2363" r:id="rId6"/>
    <p:sldId id="2844" r:id="rId7"/>
    <p:sldId id="2389" r:id="rId8"/>
    <p:sldId id="2823" r:id="rId9"/>
    <p:sldId id="2849" r:id="rId10"/>
    <p:sldId id="2850" r:id="rId11"/>
    <p:sldId id="2851" r:id="rId12"/>
    <p:sldId id="2852" r:id="rId13"/>
    <p:sldId id="2853" r:id="rId14"/>
    <p:sldId id="2854" r:id="rId15"/>
    <p:sldId id="2855" r:id="rId16"/>
    <p:sldId id="2856" r:id="rId17"/>
    <p:sldId id="2857" r:id="rId18"/>
    <p:sldId id="2858" r:id="rId19"/>
    <p:sldId id="2859" r:id="rId20"/>
    <p:sldId id="2860" r:id="rId21"/>
    <p:sldId id="2861" r:id="rId22"/>
    <p:sldId id="2862" r:id="rId23"/>
    <p:sldId id="2864" r:id="rId24"/>
    <p:sldId id="2865" r:id="rId25"/>
    <p:sldId id="2866" r:id="rId26"/>
    <p:sldId id="2867" r:id="rId27"/>
    <p:sldId id="2869" r:id="rId28"/>
    <p:sldId id="2868" r:id="rId29"/>
    <p:sldId id="2870" r:id="rId30"/>
    <p:sldId id="2871" r:id="rId31"/>
    <p:sldId id="2872" r:id="rId32"/>
    <p:sldId id="2873" r:id="rId33"/>
    <p:sldId id="2874" r:id="rId34"/>
    <p:sldId id="2875" r:id="rId35"/>
    <p:sldId id="2876" r:id="rId36"/>
    <p:sldId id="2877" r:id="rId37"/>
    <p:sldId id="2878" r:id="rId38"/>
    <p:sldId id="2879" r:id="rId39"/>
    <p:sldId id="2880" r:id="rId40"/>
    <p:sldId id="2881" r:id="rId41"/>
    <p:sldId id="2882" r:id="rId42"/>
    <p:sldId id="2883" r:id="rId43"/>
    <p:sldId id="2908" r:id="rId44"/>
    <p:sldId id="2885" r:id="rId45"/>
    <p:sldId id="2886" r:id="rId46"/>
    <p:sldId id="2887" r:id="rId47"/>
    <p:sldId id="2888" r:id="rId48"/>
    <p:sldId id="2889" r:id="rId49"/>
    <p:sldId id="2890" r:id="rId50"/>
    <p:sldId id="2891" r:id="rId51"/>
    <p:sldId id="2892" r:id="rId52"/>
    <p:sldId id="2893" r:id="rId53"/>
    <p:sldId id="3207" r:id="rId54"/>
    <p:sldId id="2894" r:id="rId55"/>
    <p:sldId id="2895" r:id="rId56"/>
    <p:sldId id="2909" r:id="rId57"/>
    <p:sldId id="2910" r:id="rId58"/>
    <p:sldId id="2911" r:id="rId59"/>
    <p:sldId id="2912" r:id="rId60"/>
    <p:sldId id="2913" r:id="rId61"/>
    <p:sldId id="2914" r:id="rId62"/>
    <p:sldId id="2915" r:id="rId63"/>
    <p:sldId id="2916" r:id="rId64"/>
    <p:sldId id="2917" r:id="rId65"/>
    <p:sldId id="2918" r:id="rId66"/>
    <p:sldId id="2919" r:id="rId67"/>
    <p:sldId id="2920" r:id="rId68"/>
    <p:sldId id="2921" r:id="rId69"/>
    <p:sldId id="2922" r:id="rId70"/>
    <p:sldId id="2923" r:id="rId71"/>
    <p:sldId id="2924" r:id="rId72"/>
    <p:sldId id="2925" r:id="rId73"/>
    <p:sldId id="2926" r:id="rId74"/>
    <p:sldId id="2927" r:id="rId75"/>
    <p:sldId id="2928" r:id="rId76"/>
    <p:sldId id="2929" r:id="rId77"/>
    <p:sldId id="2930" r:id="rId78"/>
    <p:sldId id="2931" r:id="rId79"/>
    <p:sldId id="2932" r:id="rId80"/>
    <p:sldId id="2933" r:id="rId81"/>
    <p:sldId id="2934" r:id="rId82"/>
    <p:sldId id="2935" r:id="rId83"/>
    <p:sldId id="2936" r:id="rId84"/>
    <p:sldId id="2937" r:id="rId85"/>
    <p:sldId id="2938" r:id="rId86"/>
    <p:sldId id="2939" r:id="rId87"/>
    <p:sldId id="2940" r:id="rId88"/>
    <p:sldId id="2941" r:id="rId89"/>
    <p:sldId id="2942" r:id="rId90"/>
    <p:sldId id="2943" r:id="rId91"/>
    <p:sldId id="3208" r:id="rId92"/>
    <p:sldId id="2944" r:id="rId93"/>
    <p:sldId id="2945" r:id="rId94"/>
    <p:sldId id="2946" r:id="rId95"/>
    <p:sldId id="2947" r:id="rId96"/>
    <p:sldId id="2948" r:id="rId97"/>
    <p:sldId id="2949" r:id="rId98"/>
    <p:sldId id="3206" r:id="rId99"/>
    <p:sldId id="2951" r:id="rId100"/>
    <p:sldId id="2952" r:id="rId101"/>
    <p:sldId id="2953" r:id="rId102"/>
    <p:sldId id="2954" r:id="rId103"/>
    <p:sldId id="2955" r:id="rId104"/>
    <p:sldId id="2956" r:id="rId105"/>
    <p:sldId id="2957" r:id="rId106"/>
    <p:sldId id="2958" r:id="rId107"/>
    <p:sldId id="2959" r:id="rId108"/>
    <p:sldId id="2960" r:id="rId109"/>
    <p:sldId id="2961" r:id="rId110"/>
    <p:sldId id="2962" r:id="rId111"/>
    <p:sldId id="2963" r:id="rId112"/>
    <p:sldId id="2964" r:id="rId113"/>
    <p:sldId id="2965" r:id="rId114"/>
    <p:sldId id="2433" r:id="rId115"/>
    <p:sldId id="2434" r:id="rId116"/>
    <p:sldId id="2966" r:id="rId117"/>
    <p:sldId id="2967" r:id="rId118"/>
    <p:sldId id="2968" r:id="rId119"/>
    <p:sldId id="2969" r:id="rId120"/>
    <p:sldId id="2970" r:id="rId121"/>
    <p:sldId id="2971" r:id="rId122"/>
    <p:sldId id="2972" r:id="rId123"/>
    <p:sldId id="2973" r:id="rId124"/>
    <p:sldId id="2457" r:id="rId125"/>
    <p:sldId id="2974" r:id="rId126"/>
    <p:sldId id="2975" r:id="rId127"/>
    <p:sldId id="3209" r:id="rId128"/>
    <p:sldId id="2459" r:id="rId129"/>
    <p:sldId id="2976" r:id="rId130"/>
    <p:sldId id="2977" r:id="rId131"/>
    <p:sldId id="2978" r:id="rId132"/>
    <p:sldId id="2979" r:id="rId133"/>
    <p:sldId id="2980" r:id="rId134"/>
    <p:sldId id="2981" r:id="rId135"/>
    <p:sldId id="2982" r:id="rId136"/>
    <p:sldId id="2983" r:id="rId137"/>
    <p:sldId id="2984" r:id="rId138"/>
    <p:sldId id="2985" r:id="rId139"/>
    <p:sldId id="2988" r:id="rId140"/>
    <p:sldId id="3205" r:id="rId141"/>
    <p:sldId id="2987" r:id="rId142"/>
    <p:sldId id="2989" r:id="rId143"/>
    <p:sldId id="2990" r:id="rId144"/>
    <p:sldId id="2991" r:id="rId145"/>
    <p:sldId id="2992" r:id="rId146"/>
    <p:sldId id="2993" r:id="rId147"/>
    <p:sldId id="2995" r:id="rId148"/>
    <p:sldId id="2996" r:id="rId149"/>
    <p:sldId id="2994" r:id="rId150"/>
    <p:sldId id="2997" r:id="rId151"/>
    <p:sldId id="2998" r:id="rId152"/>
    <p:sldId id="2999" r:id="rId153"/>
    <p:sldId id="3000" r:id="rId154"/>
    <p:sldId id="3001" r:id="rId155"/>
    <p:sldId id="3002" r:id="rId156"/>
    <p:sldId id="3003" r:id="rId157"/>
    <p:sldId id="3004" r:id="rId158"/>
    <p:sldId id="3005" r:id="rId159"/>
    <p:sldId id="3006" r:id="rId160"/>
    <p:sldId id="3007" r:id="rId161"/>
    <p:sldId id="3008" r:id="rId162"/>
    <p:sldId id="3009" r:id="rId163"/>
    <p:sldId id="3010" r:id="rId164"/>
    <p:sldId id="3011" r:id="rId165"/>
    <p:sldId id="3012" r:id="rId166"/>
    <p:sldId id="3013" r:id="rId167"/>
    <p:sldId id="3014" r:id="rId168"/>
    <p:sldId id="3015" r:id="rId169"/>
    <p:sldId id="3016" r:id="rId170"/>
    <p:sldId id="3017" r:id="rId171"/>
    <p:sldId id="3018" r:id="rId172"/>
    <p:sldId id="3019" r:id="rId173"/>
    <p:sldId id="3020" r:id="rId174"/>
    <p:sldId id="3021" r:id="rId175"/>
    <p:sldId id="3022" r:id="rId176"/>
    <p:sldId id="3023" r:id="rId177"/>
    <p:sldId id="3024" r:id="rId178"/>
    <p:sldId id="3025" r:id="rId179"/>
    <p:sldId id="3026" r:id="rId180"/>
    <p:sldId id="3027" r:id="rId181"/>
    <p:sldId id="3028" r:id="rId182"/>
    <p:sldId id="3029" r:id="rId183"/>
    <p:sldId id="3030" r:id="rId184"/>
    <p:sldId id="3031" r:id="rId185"/>
    <p:sldId id="3032" r:id="rId186"/>
    <p:sldId id="3033" r:id="rId187"/>
    <p:sldId id="3034" r:id="rId188"/>
    <p:sldId id="3035" r:id="rId189"/>
    <p:sldId id="3036" r:id="rId190"/>
    <p:sldId id="3037" r:id="rId191"/>
    <p:sldId id="3038" r:id="rId192"/>
    <p:sldId id="3039" r:id="rId193"/>
    <p:sldId id="3040" r:id="rId194"/>
    <p:sldId id="3041" r:id="rId195"/>
    <p:sldId id="3042" r:id="rId196"/>
    <p:sldId id="3043" r:id="rId197"/>
    <p:sldId id="3044" r:id="rId198"/>
    <p:sldId id="3045" r:id="rId199"/>
    <p:sldId id="3046" r:id="rId200"/>
    <p:sldId id="3047" r:id="rId201"/>
    <p:sldId id="3048" r:id="rId202"/>
    <p:sldId id="3049" r:id="rId203"/>
    <p:sldId id="3050" r:id="rId204"/>
    <p:sldId id="3051" r:id="rId205"/>
    <p:sldId id="3052" r:id="rId206"/>
    <p:sldId id="3053" r:id="rId207"/>
    <p:sldId id="3054" r:id="rId208"/>
    <p:sldId id="3055" r:id="rId209"/>
    <p:sldId id="3056" r:id="rId210"/>
    <p:sldId id="3057" r:id="rId211"/>
    <p:sldId id="3058" r:id="rId212"/>
    <p:sldId id="3059" r:id="rId213"/>
    <p:sldId id="3060" r:id="rId214"/>
    <p:sldId id="3061" r:id="rId215"/>
    <p:sldId id="3062" r:id="rId216"/>
    <p:sldId id="3063" r:id="rId217"/>
    <p:sldId id="3064" r:id="rId218"/>
    <p:sldId id="3065" r:id="rId219"/>
    <p:sldId id="3066" r:id="rId220"/>
    <p:sldId id="3067" r:id="rId221"/>
    <p:sldId id="3068" r:id="rId222"/>
    <p:sldId id="3069" r:id="rId223"/>
    <p:sldId id="3070" r:id="rId224"/>
    <p:sldId id="3071" r:id="rId225"/>
    <p:sldId id="3072" r:id="rId226"/>
    <p:sldId id="3073" r:id="rId227"/>
    <p:sldId id="3074" r:id="rId228"/>
    <p:sldId id="3075" r:id="rId229"/>
    <p:sldId id="3076" r:id="rId230"/>
    <p:sldId id="3077" r:id="rId231"/>
    <p:sldId id="3078" r:id="rId232"/>
    <p:sldId id="3079" r:id="rId233"/>
    <p:sldId id="3080" r:id="rId234"/>
    <p:sldId id="3081" r:id="rId235"/>
    <p:sldId id="3082" r:id="rId236"/>
    <p:sldId id="3083" r:id="rId237"/>
    <p:sldId id="3084" r:id="rId238"/>
    <p:sldId id="3085" r:id="rId239"/>
    <p:sldId id="3086" r:id="rId240"/>
    <p:sldId id="3087" r:id="rId241"/>
    <p:sldId id="3088" r:id="rId242"/>
    <p:sldId id="3089" r:id="rId243"/>
    <p:sldId id="3090" r:id="rId244"/>
    <p:sldId id="3091" r:id="rId245"/>
    <p:sldId id="3092" r:id="rId246"/>
    <p:sldId id="3093" r:id="rId247"/>
    <p:sldId id="3095" r:id="rId248"/>
    <p:sldId id="3096" r:id="rId249"/>
    <p:sldId id="3097" r:id="rId250"/>
    <p:sldId id="3098" r:id="rId251"/>
    <p:sldId id="3099" r:id="rId252"/>
    <p:sldId id="3100" r:id="rId253"/>
    <p:sldId id="3101" r:id="rId254"/>
    <p:sldId id="3102" r:id="rId255"/>
    <p:sldId id="3103" r:id="rId256"/>
    <p:sldId id="2535" r:id="rId257"/>
    <p:sldId id="2536" r:id="rId258"/>
    <p:sldId id="2537" r:id="rId259"/>
    <p:sldId id="2538" r:id="rId260"/>
    <p:sldId id="2539" r:id="rId261"/>
    <p:sldId id="2540" r:id="rId262"/>
    <p:sldId id="2541" r:id="rId263"/>
    <p:sldId id="2542" r:id="rId264"/>
    <p:sldId id="2543" r:id="rId265"/>
    <p:sldId id="2544" r:id="rId266"/>
    <p:sldId id="2545" r:id="rId267"/>
    <p:sldId id="2546" r:id="rId268"/>
    <p:sldId id="2547" r:id="rId269"/>
    <p:sldId id="3161" r:id="rId270"/>
    <p:sldId id="3210" r:id="rId271"/>
    <p:sldId id="3162" r:id="rId272"/>
    <p:sldId id="3163" r:id="rId273"/>
    <p:sldId id="3164" r:id="rId274"/>
    <p:sldId id="3165" r:id="rId275"/>
    <p:sldId id="3166" r:id="rId276"/>
    <p:sldId id="3167" r:id="rId277"/>
    <p:sldId id="3168" r:id="rId278"/>
    <p:sldId id="3169" r:id="rId279"/>
    <p:sldId id="3170" r:id="rId280"/>
    <p:sldId id="3171" r:id="rId281"/>
    <p:sldId id="3172" r:id="rId282"/>
    <p:sldId id="3173" r:id="rId283"/>
    <p:sldId id="3174" r:id="rId284"/>
    <p:sldId id="3175" r:id="rId285"/>
    <p:sldId id="3176" r:id="rId286"/>
    <p:sldId id="3177" r:id="rId287"/>
    <p:sldId id="3211" r:id="rId288"/>
    <p:sldId id="2550" r:id="rId289"/>
    <p:sldId id="2551" r:id="rId290"/>
    <p:sldId id="3212" r:id="rId291"/>
    <p:sldId id="2747" r:id="rId292"/>
    <p:sldId id="3213" r:id="rId293"/>
    <p:sldId id="3104" r:id="rId294"/>
    <p:sldId id="3193" r:id="rId295"/>
    <p:sldId id="3194" r:id="rId296"/>
    <p:sldId id="3195" r:id="rId297"/>
    <p:sldId id="3196" r:id="rId298"/>
    <p:sldId id="3197" r:id="rId299"/>
    <p:sldId id="3198" r:id="rId300"/>
    <p:sldId id="3199" r:id="rId301"/>
    <p:sldId id="3200" r:id="rId302"/>
    <p:sldId id="3201" r:id="rId303"/>
    <p:sldId id="3202" r:id="rId304"/>
    <p:sldId id="3203" r:id="rId305"/>
    <p:sldId id="2557" r:id="rId306"/>
    <p:sldId id="3214" r:id="rId307"/>
    <p:sldId id="2565" r:id="rId308"/>
    <p:sldId id="3215" r:id="rId309"/>
  </p:sldIdLst>
  <p:sldSz cx="9902825" cy="6858000"/>
  <p:notesSz cx="6858000" cy="9144000"/>
  <p:embeddedFontLst>
    <p:embeddedFont>
      <p:font typeface="D2Coding" panose="020B0604020202020204" charset="-127"/>
      <p:regular r:id="rId311"/>
      <p:bold r:id="rId312"/>
    </p:embeddedFont>
    <p:embeddedFont>
      <p:font typeface="맑은 고딕" panose="020B0503020000020004" pitchFamily="34" charset="-127"/>
      <p:regular r:id="rId313"/>
      <p:bold r:id="rId314"/>
    </p:embeddedFont>
    <p:embeddedFont>
      <p:font typeface="Cambria Math" panose="02040503050406030204" pitchFamily="18" charset="0"/>
      <p:regular r:id="rId315"/>
    </p:embeddedFont>
    <p:embeddedFont>
      <p:font typeface="Samsung Sharp Sans" panose="020B0604020202020204" charset="0"/>
      <p:bold r:id="rId316"/>
    </p:embeddedFont>
    <p:embeddedFont>
      <p:font typeface="SamsungOne 400" panose="020B0503030303020204" charset="0"/>
      <p:regular r:id="rId317"/>
    </p:embeddedFont>
    <p:embeddedFont>
      <p:font typeface="SamsungOne 400C" panose="020B0506030303020204" charset="0"/>
      <p:regular r:id="rId318"/>
    </p:embeddedFont>
    <p:embeddedFont>
      <p:font typeface="SamsungOne 700" panose="020B0803030303020204" charset="0"/>
      <p:bold r:id="rId319"/>
    </p:embeddedFont>
    <p:embeddedFont>
      <p:font typeface="SamsungOne-400" panose="020B0503030303020204" charset="0"/>
      <p:regular r:id="rId320"/>
    </p:embeddedFont>
    <p:embeddedFont>
      <p:font typeface="SamsungOne-700" panose="020B0803030303020204" charset="0"/>
      <p:bold r:id="rId3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A65B7-4FCF-4E22-BC70-62D475D2EF02}">
          <p14:sldIdLst/>
        </p14:section>
        <p14:section name="Unit 1" id="{0FF23291-DE9E-4E12-9D45-A2C40881402E}">
          <p14:sldIdLst>
            <p14:sldId id="2363"/>
            <p14:sldId id="2844"/>
            <p14:sldId id="2389"/>
            <p14:sldId id="2823"/>
            <p14:sldId id="2849"/>
            <p14:sldId id="2850"/>
            <p14:sldId id="2851"/>
            <p14:sldId id="2852"/>
            <p14:sldId id="2853"/>
            <p14:sldId id="2854"/>
            <p14:sldId id="2855"/>
            <p14:sldId id="2856"/>
            <p14:sldId id="2857"/>
            <p14:sldId id="2858"/>
            <p14:sldId id="2859"/>
            <p14:sldId id="2860"/>
            <p14:sldId id="2861"/>
            <p14:sldId id="2862"/>
            <p14:sldId id="2864"/>
            <p14:sldId id="2865"/>
            <p14:sldId id="2866"/>
            <p14:sldId id="2867"/>
            <p14:sldId id="2869"/>
            <p14:sldId id="2868"/>
            <p14:sldId id="2870"/>
            <p14:sldId id="2871"/>
            <p14:sldId id="2872"/>
            <p14:sldId id="2873"/>
            <p14:sldId id="2874"/>
            <p14:sldId id="2875"/>
            <p14:sldId id="2876"/>
            <p14:sldId id="2877"/>
            <p14:sldId id="2878"/>
            <p14:sldId id="2879"/>
            <p14:sldId id="2880"/>
            <p14:sldId id="2881"/>
            <p14:sldId id="2882"/>
            <p14:sldId id="2883"/>
            <p14:sldId id="2908"/>
            <p14:sldId id="2885"/>
            <p14:sldId id="2886"/>
            <p14:sldId id="2887"/>
            <p14:sldId id="2888"/>
            <p14:sldId id="2889"/>
            <p14:sldId id="2890"/>
            <p14:sldId id="2891"/>
            <p14:sldId id="2892"/>
            <p14:sldId id="2893"/>
            <p14:sldId id="3207"/>
            <p14:sldId id="2894"/>
            <p14:sldId id="2895"/>
            <p14:sldId id="2909"/>
            <p14:sldId id="2910"/>
            <p14:sldId id="2911"/>
            <p14:sldId id="2912"/>
            <p14:sldId id="2913"/>
            <p14:sldId id="2914"/>
            <p14:sldId id="2915"/>
            <p14:sldId id="2916"/>
            <p14:sldId id="2917"/>
            <p14:sldId id="2918"/>
            <p14:sldId id="2919"/>
            <p14:sldId id="2920"/>
            <p14:sldId id="2921"/>
            <p14:sldId id="2922"/>
            <p14:sldId id="2923"/>
            <p14:sldId id="2924"/>
            <p14:sldId id="2925"/>
            <p14:sldId id="2926"/>
            <p14:sldId id="2927"/>
            <p14:sldId id="2928"/>
            <p14:sldId id="2929"/>
            <p14:sldId id="2930"/>
            <p14:sldId id="2931"/>
            <p14:sldId id="2932"/>
            <p14:sldId id="2933"/>
            <p14:sldId id="2934"/>
            <p14:sldId id="2935"/>
            <p14:sldId id="2936"/>
            <p14:sldId id="2937"/>
            <p14:sldId id="2938"/>
            <p14:sldId id="2939"/>
            <p14:sldId id="2940"/>
            <p14:sldId id="2941"/>
            <p14:sldId id="2942"/>
            <p14:sldId id="2943"/>
            <p14:sldId id="3208"/>
            <p14:sldId id="2944"/>
            <p14:sldId id="2945"/>
            <p14:sldId id="2946"/>
            <p14:sldId id="2947"/>
            <p14:sldId id="2948"/>
            <p14:sldId id="2949"/>
            <p14:sldId id="3206"/>
            <p14:sldId id="2951"/>
            <p14:sldId id="2952"/>
            <p14:sldId id="2953"/>
            <p14:sldId id="2954"/>
            <p14:sldId id="2955"/>
            <p14:sldId id="2956"/>
            <p14:sldId id="2957"/>
            <p14:sldId id="2958"/>
            <p14:sldId id="2959"/>
            <p14:sldId id="2960"/>
            <p14:sldId id="2961"/>
            <p14:sldId id="2962"/>
            <p14:sldId id="2963"/>
            <p14:sldId id="2964"/>
            <p14:sldId id="2965"/>
            <p14:sldId id="2433"/>
            <p14:sldId id="2434"/>
            <p14:sldId id="2966"/>
            <p14:sldId id="2967"/>
            <p14:sldId id="2968"/>
            <p14:sldId id="2969"/>
            <p14:sldId id="2970"/>
            <p14:sldId id="2971"/>
            <p14:sldId id="2972"/>
            <p14:sldId id="2973"/>
          </p14:sldIdLst>
        </p14:section>
        <p14:section name="Unit 2" id="{296498FD-5CAC-4EA8-82AF-2834F10AFADB}">
          <p14:sldIdLst>
            <p14:sldId id="2457"/>
            <p14:sldId id="2974"/>
            <p14:sldId id="2975"/>
            <p14:sldId id="3209"/>
            <p14:sldId id="2459"/>
            <p14:sldId id="2976"/>
            <p14:sldId id="2977"/>
            <p14:sldId id="2978"/>
            <p14:sldId id="2979"/>
            <p14:sldId id="2980"/>
            <p14:sldId id="2981"/>
            <p14:sldId id="2982"/>
            <p14:sldId id="2983"/>
            <p14:sldId id="2984"/>
            <p14:sldId id="2985"/>
            <p14:sldId id="2988"/>
            <p14:sldId id="3205"/>
            <p14:sldId id="2987"/>
            <p14:sldId id="2989"/>
            <p14:sldId id="2990"/>
            <p14:sldId id="2991"/>
            <p14:sldId id="2992"/>
            <p14:sldId id="2993"/>
            <p14:sldId id="2995"/>
            <p14:sldId id="2996"/>
            <p14:sldId id="2994"/>
            <p14:sldId id="2997"/>
            <p14:sldId id="2998"/>
            <p14:sldId id="2999"/>
            <p14:sldId id="3000"/>
            <p14:sldId id="3001"/>
            <p14:sldId id="3002"/>
            <p14:sldId id="3003"/>
            <p14:sldId id="3004"/>
            <p14:sldId id="3005"/>
            <p14:sldId id="3006"/>
            <p14:sldId id="3007"/>
            <p14:sldId id="3008"/>
            <p14:sldId id="3009"/>
            <p14:sldId id="3010"/>
            <p14:sldId id="3011"/>
            <p14:sldId id="3012"/>
            <p14:sldId id="3013"/>
            <p14:sldId id="3014"/>
            <p14:sldId id="3015"/>
            <p14:sldId id="3016"/>
            <p14:sldId id="3017"/>
            <p14:sldId id="3018"/>
            <p14:sldId id="3019"/>
            <p14:sldId id="3020"/>
            <p14:sldId id="3021"/>
            <p14:sldId id="3022"/>
            <p14:sldId id="3023"/>
            <p14:sldId id="3024"/>
            <p14:sldId id="3025"/>
            <p14:sldId id="3026"/>
            <p14:sldId id="3027"/>
            <p14:sldId id="3028"/>
            <p14:sldId id="3029"/>
            <p14:sldId id="3030"/>
            <p14:sldId id="3031"/>
            <p14:sldId id="3032"/>
            <p14:sldId id="3033"/>
            <p14:sldId id="3034"/>
            <p14:sldId id="3035"/>
            <p14:sldId id="3036"/>
            <p14:sldId id="3037"/>
            <p14:sldId id="3038"/>
            <p14:sldId id="3039"/>
            <p14:sldId id="3040"/>
            <p14:sldId id="3041"/>
            <p14:sldId id="3042"/>
            <p14:sldId id="3043"/>
            <p14:sldId id="3044"/>
            <p14:sldId id="3045"/>
            <p14:sldId id="3046"/>
            <p14:sldId id="3047"/>
            <p14:sldId id="3048"/>
            <p14:sldId id="3049"/>
            <p14:sldId id="3050"/>
            <p14:sldId id="3051"/>
            <p14:sldId id="3052"/>
            <p14:sldId id="3053"/>
            <p14:sldId id="3054"/>
            <p14:sldId id="3055"/>
            <p14:sldId id="3056"/>
            <p14:sldId id="3057"/>
            <p14:sldId id="3058"/>
            <p14:sldId id="3059"/>
            <p14:sldId id="3060"/>
            <p14:sldId id="3061"/>
            <p14:sldId id="3062"/>
            <p14:sldId id="3063"/>
            <p14:sldId id="3064"/>
            <p14:sldId id="3065"/>
            <p14:sldId id="3066"/>
            <p14:sldId id="3067"/>
            <p14:sldId id="3068"/>
            <p14:sldId id="3069"/>
            <p14:sldId id="3070"/>
            <p14:sldId id="3071"/>
            <p14:sldId id="3072"/>
            <p14:sldId id="3073"/>
            <p14:sldId id="3074"/>
            <p14:sldId id="3075"/>
            <p14:sldId id="3076"/>
            <p14:sldId id="3077"/>
            <p14:sldId id="3078"/>
            <p14:sldId id="3079"/>
            <p14:sldId id="3080"/>
            <p14:sldId id="3081"/>
            <p14:sldId id="3082"/>
            <p14:sldId id="3083"/>
            <p14:sldId id="3084"/>
            <p14:sldId id="3085"/>
            <p14:sldId id="3086"/>
            <p14:sldId id="3087"/>
            <p14:sldId id="3088"/>
            <p14:sldId id="3089"/>
            <p14:sldId id="3090"/>
            <p14:sldId id="3091"/>
            <p14:sldId id="3092"/>
            <p14:sldId id="3093"/>
            <p14:sldId id="3095"/>
            <p14:sldId id="3096"/>
            <p14:sldId id="3097"/>
            <p14:sldId id="3098"/>
            <p14:sldId id="3099"/>
            <p14:sldId id="3100"/>
            <p14:sldId id="3101"/>
            <p14:sldId id="3102"/>
            <p14:sldId id="3103"/>
            <p14:sldId id="2535"/>
            <p14:sldId id="2536"/>
            <p14:sldId id="2537"/>
            <p14:sldId id="2538"/>
            <p14:sldId id="2539"/>
            <p14:sldId id="2540"/>
            <p14:sldId id="2541"/>
            <p14:sldId id="2542"/>
            <p14:sldId id="2543"/>
            <p14:sldId id="2544"/>
            <p14:sldId id="2545"/>
            <p14:sldId id="2546"/>
            <p14:sldId id="2547"/>
            <p14:sldId id="3161"/>
            <p14:sldId id="3210"/>
            <p14:sldId id="3162"/>
            <p14:sldId id="3163"/>
            <p14:sldId id="3164"/>
            <p14:sldId id="3165"/>
            <p14:sldId id="3166"/>
            <p14:sldId id="3167"/>
            <p14:sldId id="3168"/>
            <p14:sldId id="3169"/>
            <p14:sldId id="3170"/>
            <p14:sldId id="3171"/>
            <p14:sldId id="3172"/>
            <p14:sldId id="3173"/>
            <p14:sldId id="3174"/>
            <p14:sldId id="3175"/>
            <p14:sldId id="3176"/>
            <p14:sldId id="3177"/>
            <p14:sldId id="3211"/>
            <p14:sldId id="2550"/>
            <p14:sldId id="2551"/>
            <p14:sldId id="3212"/>
            <p14:sldId id="2747"/>
            <p14:sldId id="3213"/>
            <p14:sldId id="3104"/>
            <p14:sldId id="3193"/>
            <p14:sldId id="3194"/>
            <p14:sldId id="3195"/>
            <p14:sldId id="3196"/>
            <p14:sldId id="3197"/>
            <p14:sldId id="3198"/>
            <p14:sldId id="3199"/>
            <p14:sldId id="3200"/>
            <p14:sldId id="3201"/>
            <p14:sldId id="3202"/>
            <p14:sldId id="3203"/>
            <p14:sldId id="2557"/>
            <p14:sldId id="3214"/>
            <p14:sldId id="2565"/>
            <p14:sldId id="3215"/>
          </p14:sldIdLst>
        </p14:section>
      </p14:sectionLst>
    </p:ext>
    <p:ext uri="{EFAFB233-063F-42B5-8137-9DF3F51BA10A}">
      <p15:sldGuideLst xmlns:p15="http://schemas.microsoft.com/office/powerpoint/2012/main">
        <p15:guide id="2" orient="horz" pos="794" userDrawn="1">
          <p15:clr>
            <a:srgbClr val="A4A3A4"/>
          </p15:clr>
        </p15:guide>
        <p15:guide id="3" orient="horz" pos="1023" userDrawn="1">
          <p15:clr>
            <a:srgbClr val="A4A3A4"/>
          </p15:clr>
        </p15:guide>
        <p15:guide id="4" pos="311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계정" initials="M계" lastIdx="2" clrIdx="0">
    <p:extLst>
      <p:ext uri="{19B8F6BF-5375-455C-9EA6-DF929625EA0E}">
        <p15:presenceInfo xmlns:p15="http://schemas.microsoft.com/office/powerpoint/2012/main" userId="4502cc2f324a9f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3F11"/>
    <a:srgbClr val="BC2119"/>
    <a:srgbClr val="2D3C9D"/>
    <a:srgbClr val="D92C36"/>
    <a:srgbClr val="2C3239"/>
    <a:srgbClr val="3C29A9"/>
    <a:srgbClr val="1429A0"/>
    <a:srgbClr val="F5F5F5"/>
    <a:srgbClr val="D9EDFD"/>
    <a:srgbClr val="0076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90274" autoAdjust="0"/>
  </p:normalViewPr>
  <p:slideViewPr>
    <p:cSldViewPr>
      <p:cViewPr varScale="1">
        <p:scale>
          <a:sx n="101" d="100"/>
          <a:sy n="101" d="100"/>
        </p:scale>
        <p:origin x="1956" y="102"/>
      </p:cViewPr>
      <p:guideLst>
        <p:guide orient="horz" pos="794"/>
        <p:guide orient="horz" pos="1023"/>
        <p:guide pos="3119"/>
      </p:guideLst>
    </p:cSldViewPr>
  </p:slideViewPr>
  <p:outlineViewPr>
    <p:cViewPr>
      <p:scale>
        <a:sx n="33" d="100"/>
        <a:sy n="33" d="100"/>
      </p:scale>
      <p:origin x="0" y="-568"/>
    </p:cViewPr>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99" Type="http://schemas.openxmlformats.org/officeDocument/2006/relationships/slide" Target="slides/slide294.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324" Type="http://schemas.openxmlformats.org/officeDocument/2006/relationships/viewProps" Target="viewProps.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5" Type="http://schemas.openxmlformats.org/officeDocument/2006/relationships/slideMaster" Target="slideMasters/slideMaster2.xml"/><Relationship Id="rId181" Type="http://schemas.openxmlformats.org/officeDocument/2006/relationships/slide" Target="slides/slide176.xml"/><Relationship Id="rId237" Type="http://schemas.openxmlformats.org/officeDocument/2006/relationships/slide" Target="slides/slide232.xml"/><Relationship Id="rId279" Type="http://schemas.openxmlformats.org/officeDocument/2006/relationships/slide" Target="slides/slide274.xml"/><Relationship Id="rId43" Type="http://schemas.openxmlformats.org/officeDocument/2006/relationships/slide" Target="slides/slide38.xml"/><Relationship Id="rId139" Type="http://schemas.openxmlformats.org/officeDocument/2006/relationships/slide" Target="slides/slide134.xml"/><Relationship Id="rId290" Type="http://schemas.openxmlformats.org/officeDocument/2006/relationships/slide" Target="slides/slide285.xml"/><Relationship Id="rId304" Type="http://schemas.openxmlformats.org/officeDocument/2006/relationships/slide" Target="slides/slide299.xml"/><Relationship Id="rId85" Type="http://schemas.openxmlformats.org/officeDocument/2006/relationships/slide" Target="slides/slide80.xml"/><Relationship Id="rId150" Type="http://schemas.openxmlformats.org/officeDocument/2006/relationships/slide" Target="slides/slide145.xml"/><Relationship Id="rId192" Type="http://schemas.openxmlformats.org/officeDocument/2006/relationships/slide" Target="slides/slide187.xml"/><Relationship Id="rId206" Type="http://schemas.openxmlformats.org/officeDocument/2006/relationships/slide" Target="slides/slide201.xml"/><Relationship Id="rId248" Type="http://schemas.openxmlformats.org/officeDocument/2006/relationships/slide" Target="slides/slide243.xml"/><Relationship Id="rId12" Type="http://schemas.openxmlformats.org/officeDocument/2006/relationships/slide" Target="slides/slide7.xml"/><Relationship Id="rId108" Type="http://schemas.openxmlformats.org/officeDocument/2006/relationships/slide" Target="slides/slide103.xml"/><Relationship Id="rId315" Type="http://schemas.openxmlformats.org/officeDocument/2006/relationships/font" Target="fonts/font5.fntdata"/><Relationship Id="rId54" Type="http://schemas.openxmlformats.org/officeDocument/2006/relationships/slide" Target="slides/slide49.xml"/><Relationship Id="rId96" Type="http://schemas.openxmlformats.org/officeDocument/2006/relationships/slide" Target="slides/slide91.xml"/><Relationship Id="rId161" Type="http://schemas.openxmlformats.org/officeDocument/2006/relationships/slide" Target="slides/slide156.xml"/><Relationship Id="rId217" Type="http://schemas.openxmlformats.org/officeDocument/2006/relationships/slide" Target="slides/slide212.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326" Type="http://schemas.openxmlformats.org/officeDocument/2006/relationships/tableStyles" Target="tableStyles.xml"/><Relationship Id="rId65" Type="http://schemas.openxmlformats.org/officeDocument/2006/relationships/slide" Target="slides/slide60.xml"/><Relationship Id="rId130" Type="http://schemas.openxmlformats.org/officeDocument/2006/relationships/slide" Target="slides/slide125.xml"/><Relationship Id="rId172" Type="http://schemas.openxmlformats.org/officeDocument/2006/relationships/slide" Target="slides/slide167.xml"/><Relationship Id="rId228" Type="http://schemas.openxmlformats.org/officeDocument/2006/relationships/slide" Target="slides/slide223.xml"/><Relationship Id="rId281" Type="http://schemas.openxmlformats.org/officeDocument/2006/relationships/slide" Target="slides/slide276.xml"/><Relationship Id="rId34" Type="http://schemas.openxmlformats.org/officeDocument/2006/relationships/slide" Target="slides/slide29.xml"/><Relationship Id="rId76" Type="http://schemas.openxmlformats.org/officeDocument/2006/relationships/slide" Target="slides/slide71.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39" Type="http://schemas.openxmlformats.org/officeDocument/2006/relationships/slide" Target="slides/slide234.xml"/><Relationship Id="rId250" Type="http://schemas.openxmlformats.org/officeDocument/2006/relationships/slide" Target="slides/slide245.xml"/><Relationship Id="rId271" Type="http://schemas.openxmlformats.org/officeDocument/2006/relationships/slide" Target="slides/slide266.xml"/><Relationship Id="rId292" Type="http://schemas.openxmlformats.org/officeDocument/2006/relationships/slide" Target="slides/slide287.xml"/><Relationship Id="rId306" Type="http://schemas.openxmlformats.org/officeDocument/2006/relationships/slide" Target="slides/slide301.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slide" Target="slides/slide224.xml"/><Relationship Id="rId240" Type="http://schemas.openxmlformats.org/officeDocument/2006/relationships/slide" Target="slides/slide235.xml"/><Relationship Id="rId261" Type="http://schemas.openxmlformats.org/officeDocument/2006/relationships/slide" Target="slides/slide256.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slide" Target="slides/slide277.xml"/><Relationship Id="rId317" Type="http://schemas.openxmlformats.org/officeDocument/2006/relationships/font" Target="fonts/font7.fntdata"/><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slide" Target="slides/slide225.xml"/><Relationship Id="rId251" Type="http://schemas.openxmlformats.org/officeDocument/2006/relationships/slide" Target="slides/slide246.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72" Type="http://schemas.openxmlformats.org/officeDocument/2006/relationships/slide" Target="slides/slide267.xml"/><Relationship Id="rId293" Type="http://schemas.openxmlformats.org/officeDocument/2006/relationships/slide" Target="slides/slide288.xml"/><Relationship Id="rId307" Type="http://schemas.openxmlformats.org/officeDocument/2006/relationships/slide" Target="slides/slide302.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283" Type="http://schemas.openxmlformats.org/officeDocument/2006/relationships/slide" Target="slides/slide278.xml"/><Relationship Id="rId318" Type="http://schemas.openxmlformats.org/officeDocument/2006/relationships/font" Target="fonts/font8.fntdata"/><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273" Type="http://schemas.openxmlformats.org/officeDocument/2006/relationships/slide" Target="slides/slide268.xml"/><Relationship Id="rId294" Type="http://schemas.openxmlformats.org/officeDocument/2006/relationships/slide" Target="slides/slide289.xml"/><Relationship Id="rId308" Type="http://schemas.openxmlformats.org/officeDocument/2006/relationships/slide" Target="slides/slide303.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284" Type="http://schemas.openxmlformats.org/officeDocument/2006/relationships/slide" Target="slides/slide279.xml"/><Relationship Id="rId319" Type="http://schemas.openxmlformats.org/officeDocument/2006/relationships/font" Target="fonts/font9.fntdata"/><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4" Type="http://schemas.openxmlformats.org/officeDocument/2006/relationships/slide" Target="slides/slide269.xml"/><Relationship Id="rId295" Type="http://schemas.openxmlformats.org/officeDocument/2006/relationships/slide" Target="slides/slide290.xml"/><Relationship Id="rId309" Type="http://schemas.openxmlformats.org/officeDocument/2006/relationships/slide" Target="slides/slide304.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320" Type="http://schemas.openxmlformats.org/officeDocument/2006/relationships/font" Target="fonts/font10.fntdata"/><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285" Type="http://schemas.openxmlformats.org/officeDocument/2006/relationships/slide" Target="slides/slide280.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310" Type="http://schemas.openxmlformats.org/officeDocument/2006/relationships/notesMaster" Target="notesMasters/notesMaster1.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customXml" Target="../customXml/item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275" Type="http://schemas.openxmlformats.org/officeDocument/2006/relationships/slide" Target="slides/slide270.xml"/><Relationship Id="rId296" Type="http://schemas.openxmlformats.org/officeDocument/2006/relationships/slide" Target="slides/slide291.xml"/><Relationship Id="rId300" Type="http://schemas.openxmlformats.org/officeDocument/2006/relationships/slide" Target="slides/slide295.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321" Type="http://schemas.openxmlformats.org/officeDocument/2006/relationships/font" Target="fonts/font11.fntdata"/><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286" Type="http://schemas.openxmlformats.org/officeDocument/2006/relationships/slide" Target="slides/slide281.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311" Type="http://schemas.openxmlformats.org/officeDocument/2006/relationships/font" Target="fonts/font1.fntdata"/><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customXml" Target="../customXml/item2.xml"/><Relationship Id="rId29" Type="http://schemas.openxmlformats.org/officeDocument/2006/relationships/slide" Target="slides/slide24.xml"/><Relationship Id="rId255" Type="http://schemas.openxmlformats.org/officeDocument/2006/relationships/slide" Target="slides/slide250.xml"/><Relationship Id="rId276" Type="http://schemas.openxmlformats.org/officeDocument/2006/relationships/slide" Target="slides/slide271.xml"/><Relationship Id="rId297" Type="http://schemas.openxmlformats.org/officeDocument/2006/relationships/slide" Target="slides/slide292.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301" Type="http://schemas.openxmlformats.org/officeDocument/2006/relationships/slide" Target="slides/slide296.xml"/><Relationship Id="rId322" Type="http://schemas.openxmlformats.org/officeDocument/2006/relationships/commentAuthors" Target="commentAuthors.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287" Type="http://schemas.openxmlformats.org/officeDocument/2006/relationships/slide" Target="slides/slide282.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312" Type="http://schemas.openxmlformats.org/officeDocument/2006/relationships/font" Target="fonts/font2.fntdata"/><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customXml" Target="../customXml/item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slide" Target="slides/slide272.xml"/><Relationship Id="rId298" Type="http://schemas.openxmlformats.org/officeDocument/2006/relationships/slide" Target="slides/slide293.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302" Type="http://schemas.openxmlformats.org/officeDocument/2006/relationships/slide" Target="slides/slide297.xml"/><Relationship Id="rId323"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288" Type="http://schemas.openxmlformats.org/officeDocument/2006/relationships/slide" Target="slides/slide283.xml"/><Relationship Id="rId106" Type="http://schemas.openxmlformats.org/officeDocument/2006/relationships/slide" Target="slides/slide101.xml"/><Relationship Id="rId127" Type="http://schemas.openxmlformats.org/officeDocument/2006/relationships/slide" Target="slides/slide122.xml"/><Relationship Id="rId313" Type="http://schemas.openxmlformats.org/officeDocument/2006/relationships/font" Target="fonts/font3.fntdata"/><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4" Type="http://schemas.openxmlformats.org/officeDocument/2006/relationships/slideMaster" Target="slideMasters/slideMaster1.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slide" Target="slides/slide273.xml"/><Relationship Id="rId303" Type="http://schemas.openxmlformats.org/officeDocument/2006/relationships/slide" Target="slides/slide298.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 Id="rId289" Type="http://schemas.openxmlformats.org/officeDocument/2006/relationships/slide" Target="slides/slide284.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314" Type="http://schemas.openxmlformats.org/officeDocument/2006/relationships/font" Target="fonts/font4.fntdata"/><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325" Type="http://schemas.openxmlformats.org/officeDocument/2006/relationships/theme" Target="theme/theme1.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 Id="rId33" Type="http://schemas.openxmlformats.org/officeDocument/2006/relationships/slide" Target="slides/slide28.xml"/><Relationship Id="rId129" Type="http://schemas.openxmlformats.org/officeDocument/2006/relationships/slide" Target="slides/slide124.xml"/><Relationship Id="rId280" Type="http://schemas.openxmlformats.org/officeDocument/2006/relationships/slide" Target="slides/slide275.xml"/><Relationship Id="rId75" Type="http://schemas.openxmlformats.org/officeDocument/2006/relationships/slide" Target="slides/slide70.xml"/><Relationship Id="rId140" Type="http://schemas.openxmlformats.org/officeDocument/2006/relationships/slide" Target="slides/slide135.xml"/><Relationship Id="rId182" Type="http://schemas.openxmlformats.org/officeDocument/2006/relationships/slide" Target="slides/slide177.xml"/><Relationship Id="rId6" Type="http://schemas.openxmlformats.org/officeDocument/2006/relationships/slide" Target="slides/slide1.xml"/><Relationship Id="rId238" Type="http://schemas.openxmlformats.org/officeDocument/2006/relationships/slide" Target="slides/slide233.xml"/><Relationship Id="rId291" Type="http://schemas.openxmlformats.org/officeDocument/2006/relationships/slide" Target="slides/slide286.xml"/><Relationship Id="rId305" Type="http://schemas.openxmlformats.org/officeDocument/2006/relationships/slide" Target="slides/slide300.xml"/><Relationship Id="rId44" Type="http://schemas.openxmlformats.org/officeDocument/2006/relationships/slide" Target="slides/slide39.xml"/><Relationship Id="rId86" Type="http://schemas.openxmlformats.org/officeDocument/2006/relationships/slide" Target="slides/slide81.xml"/><Relationship Id="rId151" Type="http://schemas.openxmlformats.org/officeDocument/2006/relationships/slide" Target="slides/slide146.xml"/><Relationship Id="rId193" Type="http://schemas.openxmlformats.org/officeDocument/2006/relationships/slide" Target="slides/slide188.xml"/><Relationship Id="rId207" Type="http://schemas.openxmlformats.org/officeDocument/2006/relationships/slide" Target="slides/slide202.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16" Type="http://schemas.openxmlformats.org/officeDocument/2006/relationships/font" Target="fonts/font6.fntdata"/><Relationship Id="rId55" Type="http://schemas.openxmlformats.org/officeDocument/2006/relationships/slide" Target="slides/slide50.xml"/><Relationship Id="rId97" Type="http://schemas.openxmlformats.org/officeDocument/2006/relationships/slide" Target="slides/slide92.xml"/><Relationship Id="rId120" Type="http://schemas.openxmlformats.org/officeDocument/2006/relationships/slide" Target="slides/slide1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2025-02-19</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648898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a:t>
            </a:fld>
            <a:endParaRPr lang="ko-KR" altLang="en-US" dirty="0"/>
          </a:p>
        </p:txBody>
      </p:sp>
    </p:spTree>
    <p:extLst>
      <p:ext uri="{BB962C8B-B14F-4D97-AF65-F5344CB8AC3E}">
        <p14:creationId xmlns:p14="http://schemas.microsoft.com/office/powerpoint/2010/main" val="873428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indent="0" algn="l" rtl="0" eaLnBrk="1" fontAlgn="auto" latinLnBrk="1" hangingPunct="1">
              <a:spcBef>
                <a:spcPts val="0"/>
              </a:spcBef>
              <a:spcAft>
                <a:spcPts val="0"/>
              </a:spcAft>
            </a:pPr>
            <a:endParaRPr lang="ko-KR" altLang="ko-KR" dirty="0">
              <a:effectLst/>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574637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a:t>
            </a:fld>
            <a:endParaRPr lang="ko-KR" altLang="en-US" dirty="0"/>
          </a:p>
        </p:txBody>
      </p:sp>
    </p:spTree>
    <p:extLst>
      <p:ext uri="{BB962C8B-B14F-4D97-AF65-F5344CB8AC3E}">
        <p14:creationId xmlns:p14="http://schemas.microsoft.com/office/powerpoint/2010/main" val="3297001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NumPy arrays can be</a:t>
            </a:r>
            <a:r>
              <a:rPr lang="en-US" altLang="ko-KR" baseline="0" dirty="0"/>
              <a:t> created in many different ways.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Be careful to avoid simple assignments. You are not creating a new object.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Instead, you are creating a different name for the same object. </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a:t>
            </a:fld>
            <a:endParaRPr lang="ko-KR" altLang="en-US" dirty="0"/>
          </a:p>
        </p:txBody>
      </p:sp>
    </p:spTree>
    <p:extLst>
      <p:ext uri="{BB962C8B-B14F-4D97-AF65-F5344CB8AC3E}">
        <p14:creationId xmlns:p14="http://schemas.microsoft.com/office/powerpoint/2010/main" val="3931497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a:t>
            </a:fld>
            <a:endParaRPr lang="ko-KR" altLang="en-US" dirty="0"/>
          </a:p>
        </p:txBody>
      </p:sp>
    </p:spTree>
    <p:extLst>
      <p:ext uri="{BB962C8B-B14F-4D97-AF65-F5344CB8AC3E}">
        <p14:creationId xmlns:p14="http://schemas.microsoft.com/office/powerpoint/2010/main" val="1705853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aseline="0" dirty="0">
                <a:solidFill>
                  <a:schemeClr val="tx1">
                    <a:lumMod val="85000"/>
                    <a:lumOff val="15000"/>
                  </a:schemeClr>
                </a:solidFill>
                <a:latin typeface="SamsungOne-400" panose="020B0503030303020204" pitchFamily="34" charset="0"/>
                <a:ea typeface="SamsungOne-400" panose="020B0503030303020204" pitchFamily="34" charset="0"/>
              </a:rPr>
              <a:t>Help students don’t be confused because they see different address on their computer monitor.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85000"/>
                    <a:lumOff val="15000"/>
                  </a:schemeClr>
                </a:solidFill>
                <a:latin typeface="SamsungOne-400" panose="020B0503030303020204" pitchFamily="34" charset="0"/>
                <a:ea typeface="SamsungOne-400" panose="020B0503030303020204" pitchFamily="34" charset="0"/>
              </a:rPr>
              <a:t>Each</a:t>
            </a:r>
            <a:r>
              <a:rPr lang="en-US" altLang="ko-KR" sz="1200" baseline="0" dirty="0">
                <a:solidFill>
                  <a:schemeClr val="tx1">
                    <a:lumMod val="85000"/>
                    <a:lumOff val="15000"/>
                  </a:schemeClr>
                </a:solidFill>
                <a:latin typeface="SamsungOne-400" panose="020B0503030303020204" pitchFamily="34" charset="0"/>
                <a:ea typeface="SamsungOne-400" panose="020B0503030303020204" pitchFamily="34" charset="0"/>
              </a:rPr>
              <a:t> computer has its unique address. So students will see the different address in their computer screen.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a:t>
            </a:fld>
            <a:endParaRPr lang="ko-KR" altLang="en-US" dirty="0"/>
          </a:p>
        </p:txBody>
      </p:sp>
    </p:spTree>
    <p:extLst>
      <p:ext uri="{BB962C8B-B14F-4D97-AF65-F5344CB8AC3E}">
        <p14:creationId xmlns:p14="http://schemas.microsoft.com/office/powerpoint/2010/main" val="3398650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a:t>
            </a:fld>
            <a:endParaRPr lang="ko-KR" altLang="en-US" dirty="0"/>
          </a:p>
        </p:txBody>
      </p:sp>
    </p:spTree>
    <p:extLst>
      <p:ext uri="{BB962C8B-B14F-4D97-AF65-F5344CB8AC3E}">
        <p14:creationId xmlns:p14="http://schemas.microsoft.com/office/powerpoint/2010/main" val="3005028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a:t>
            </a:fld>
            <a:endParaRPr lang="ko-KR" altLang="en-US" dirty="0"/>
          </a:p>
        </p:txBody>
      </p:sp>
    </p:spTree>
    <p:extLst>
      <p:ext uri="{BB962C8B-B14F-4D97-AF65-F5344CB8AC3E}">
        <p14:creationId xmlns:p14="http://schemas.microsoft.com/office/powerpoint/2010/main" val="90921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a:t>
            </a:fld>
            <a:endParaRPr lang="ko-KR" altLang="en-US" dirty="0"/>
          </a:p>
        </p:txBody>
      </p:sp>
    </p:spTree>
    <p:extLst>
      <p:ext uri="{BB962C8B-B14F-4D97-AF65-F5344CB8AC3E}">
        <p14:creationId xmlns:p14="http://schemas.microsoft.com/office/powerpoint/2010/main" val="2792674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a:t>
            </a:fld>
            <a:endParaRPr lang="ko-KR" altLang="en-US" dirty="0"/>
          </a:p>
        </p:txBody>
      </p:sp>
    </p:spTree>
    <p:extLst>
      <p:ext uri="{BB962C8B-B14F-4D97-AF65-F5344CB8AC3E}">
        <p14:creationId xmlns:p14="http://schemas.microsoft.com/office/powerpoint/2010/main" val="3960319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a:t>
            </a:fld>
            <a:endParaRPr lang="ko-KR" altLang="en-US" dirty="0"/>
          </a:p>
        </p:txBody>
      </p:sp>
    </p:spTree>
    <p:extLst>
      <p:ext uri="{BB962C8B-B14F-4D97-AF65-F5344CB8AC3E}">
        <p14:creationId xmlns:p14="http://schemas.microsoft.com/office/powerpoint/2010/main" val="1493133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a:t>
            </a:fld>
            <a:endParaRPr lang="ko-KR" altLang="en-US" dirty="0"/>
          </a:p>
        </p:txBody>
      </p:sp>
    </p:spTree>
    <p:extLst>
      <p:ext uri="{BB962C8B-B14F-4D97-AF65-F5344CB8AC3E}">
        <p14:creationId xmlns:p14="http://schemas.microsoft.com/office/powerpoint/2010/main" val="3604798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a:t>
            </a:fld>
            <a:endParaRPr lang="ko-KR" altLang="en-US" dirty="0"/>
          </a:p>
        </p:txBody>
      </p:sp>
    </p:spTree>
    <p:extLst>
      <p:ext uri="{BB962C8B-B14F-4D97-AF65-F5344CB8AC3E}">
        <p14:creationId xmlns:p14="http://schemas.microsoft.com/office/powerpoint/2010/main" val="2783454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a:t>
            </a:fld>
            <a:endParaRPr lang="ko-KR" altLang="en-US" dirty="0"/>
          </a:p>
        </p:txBody>
      </p:sp>
    </p:spTree>
    <p:extLst>
      <p:ext uri="{BB962C8B-B14F-4D97-AF65-F5344CB8AC3E}">
        <p14:creationId xmlns:p14="http://schemas.microsoft.com/office/powerpoint/2010/main" val="1870836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a:t>
            </a:fld>
            <a:endParaRPr lang="ko-KR" altLang="en-US" dirty="0"/>
          </a:p>
        </p:txBody>
      </p:sp>
    </p:spTree>
    <p:extLst>
      <p:ext uri="{BB962C8B-B14F-4D97-AF65-F5344CB8AC3E}">
        <p14:creationId xmlns:p14="http://schemas.microsoft.com/office/powerpoint/2010/main" val="2117529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a:t>
            </a:fld>
            <a:endParaRPr lang="ko-KR" altLang="en-US" dirty="0"/>
          </a:p>
        </p:txBody>
      </p:sp>
    </p:spTree>
    <p:extLst>
      <p:ext uri="{BB962C8B-B14F-4D97-AF65-F5344CB8AC3E}">
        <p14:creationId xmlns:p14="http://schemas.microsoft.com/office/powerpoint/2010/main" val="2138046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a:t>
            </a:fld>
            <a:endParaRPr lang="ko-KR" altLang="en-US" dirty="0"/>
          </a:p>
        </p:txBody>
      </p:sp>
    </p:spTree>
    <p:extLst>
      <p:ext uri="{BB962C8B-B14F-4D97-AF65-F5344CB8AC3E}">
        <p14:creationId xmlns:p14="http://schemas.microsoft.com/office/powerpoint/2010/main" val="4030066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a:t>
            </a:fld>
            <a:endParaRPr lang="ko-KR" altLang="en-US" dirty="0"/>
          </a:p>
        </p:txBody>
      </p:sp>
    </p:spTree>
    <p:extLst>
      <p:ext uri="{BB962C8B-B14F-4D97-AF65-F5344CB8AC3E}">
        <p14:creationId xmlns:p14="http://schemas.microsoft.com/office/powerpoint/2010/main" val="3522011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a:t>
            </a:fld>
            <a:endParaRPr lang="ko-KR" altLang="en-US" dirty="0"/>
          </a:p>
        </p:txBody>
      </p:sp>
    </p:spTree>
    <p:extLst>
      <p:ext uri="{BB962C8B-B14F-4D97-AF65-F5344CB8AC3E}">
        <p14:creationId xmlns:p14="http://schemas.microsoft.com/office/powerpoint/2010/main" val="3768019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a:t>
            </a:fld>
            <a:endParaRPr lang="ko-KR" altLang="en-US" dirty="0"/>
          </a:p>
        </p:txBody>
      </p:sp>
    </p:spTree>
    <p:extLst>
      <p:ext uri="{BB962C8B-B14F-4D97-AF65-F5344CB8AC3E}">
        <p14:creationId xmlns:p14="http://schemas.microsoft.com/office/powerpoint/2010/main" val="3634234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a:t>
            </a:fld>
            <a:endParaRPr lang="ko-KR" altLang="en-US" dirty="0"/>
          </a:p>
        </p:txBody>
      </p:sp>
    </p:spTree>
    <p:extLst>
      <p:ext uri="{BB962C8B-B14F-4D97-AF65-F5344CB8AC3E}">
        <p14:creationId xmlns:p14="http://schemas.microsoft.com/office/powerpoint/2010/main" val="1361025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a:t>
            </a:fld>
            <a:endParaRPr lang="ko-KR" altLang="en-US" dirty="0"/>
          </a:p>
        </p:txBody>
      </p:sp>
    </p:spTree>
    <p:extLst>
      <p:ext uri="{BB962C8B-B14F-4D97-AF65-F5344CB8AC3E}">
        <p14:creationId xmlns:p14="http://schemas.microsoft.com/office/powerpoint/2010/main" val="1537110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a:t>
            </a:fld>
            <a:endParaRPr lang="ko-KR" altLang="en-US" dirty="0"/>
          </a:p>
        </p:txBody>
      </p:sp>
    </p:spTree>
    <p:extLst>
      <p:ext uri="{BB962C8B-B14F-4D97-AF65-F5344CB8AC3E}">
        <p14:creationId xmlns:p14="http://schemas.microsoft.com/office/powerpoint/2010/main" val="21800844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a:t>
            </a:fld>
            <a:endParaRPr lang="ko-KR" altLang="en-US" dirty="0"/>
          </a:p>
        </p:txBody>
      </p:sp>
    </p:spTree>
    <p:extLst>
      <p:ext uri="{BB962C8B-B14F-4D97-AF65-F5344CB8AC3E}">
        <p14:creationId xmlns:p14="http://schemas.microsoft.com/office/powerpoint/2010/main" val="1469812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a:t>
            </a:fld>
            <a:endParaRPr lang="ko-KR" altLang="en-US" dirty="0"/>
          </a:p>
        </p:txBody>
      </p:sp>
    </p:spTree>
    <p:extLst>
      <p:ext uri="{BB962C8B-B14F-4D97-AF65-F5344CB8AC3E}">
        <p14:creationId xmlns:p14="http://schemas.microsoft.com/office/powerpoint/2010/main" val="3267853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a:t>
            </a:fld>
            <a:endParaRPr lang="ko-KR" altLang="en-US" dirty="0"/>
          </a:p>
        </p:txBody>
      </p:sp>
    </p:spTree>
    <p:extLst>
      <p:ext uri="{BB962C8B-B14F-4D97-AF65-F5344CB8AC3E}">
        <p14:creationId xmlns:p14="http://schemas.microsoft.com/office/powerpoint/2010/main" val="2570716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a:t>
            </a:fld>
            <a:endParaRPr lang="ko-KR" altLang="en-US" dirty="0"/>
          </a:p>
        </p:txBody>
      </p:sp>
    </p:spTree>
    <p:extLst>
      <p:ext uri="{BB962C8B-B14F-4D97-AF65-F5344CB8AC3E}">
        <p14:creationId xmlns:p14="http://schemas.microsoft.com/office/powerpoint/2010/main" val="9729758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a:t>
            </a:fld>
            <a:endParaRPr lang="ko-KR" altLang="en-US" dirty="0"/>
          </a:p>
        </p:txBody>
      </p:sp>
    </p:spTree>
    <p:extLst>
      <p:ext uri="{BB962C8B-B14F-4D97-AF65-F5344CB8AC3E}">
        <p14:creationId xmlns:p14="http://schemas.microsoft.com/office/powerpoint/2010/main" val="36795262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a:t>
            </a:fld>
            <a:endParaRPr lang="ko-KR" altLang="en-US" dirty="0"/>
          </a:p>
        </p:txBody>
      </p:sp>
    </p:spTree>
    <p:extLst>
      <p:ext uri="{BB962C8B-B14F-4D97-AF65-F5344CB8AC3E}">
        <p14:creationId xmlns:p14="http://schemas.microsoft.com/office/powerpoint/2010/main" val="18744977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a:t>
            </a:fld>
            <a:endParaRPr lang="ko-KR" altLang="en-US" dirty="0"/>
          </a:p>
        </p:txBody>
      </p:sp>
    </p:spTree>
    <p:extLst>
      <p:ext uri="{BB962C8B-B14F-4D97-AF65-F5344CB8AC3E}">
        <p14:creationId xmlns:p14="http://schemas.microsoft.com/office/powerpoint/2010/main" val="433187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a:t>
            </a:fld>
            <a:endParaRPr lang="ko-KR" altLang="en-US" dirty="0"/>
          </a:p>
        </p:txBody>
      </p:sp>
    </p:spTree>
    <p:extLst>
      <p:ext uri="{BB962C8B-B14F-4D97-AF65-F5344CB8AC3E}">
        <p14:creationId xmlns:p14="http://schemas.microsoft.com/office/powerpoint/2010/main" val="3679832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33</a:t>
            </a:fld>
            <a:endParaRPr lang="ko-KR" altLang="en-US" dirty="0"/>
          </a:p>
        </p:txBody>
      </p:sp>
    </p:spTree>
    <p:extLst>
      <p:ext uri="{BB962C8B-B14F-4D97-AF65-F5344CB8AC3E}">
        <p14:creationId xmlns:p14="http://schemas.microsoft.com/office/powerpoint/2010/main" val="2206803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34</a:t>
            </a:fld>
            <a:endParaRPr lang="ko-KR" altLang="en-US" dirty="0"/>
          </a:p>
        </p:txBody>
      </p:sp>
    </p:spTree>
    <p:extLst>
      <p:ext uri="{BB962C8B-B14F-4D97-AF65-F5344CB8AC3E}">
        <p14:creationId xmlns:p14="http://schemas.microsoft.com/office/powerpoint/2010/main" val="1339473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35</a:t>
            </a:fld>
            <a:endParaRPr lang="ko-KR" altLang="en-US" dirty="0"/>
          </a:p>
        </p:txBody>
      </p:sp>
    </p:spTree>
    <p:extLst>
      <p:ext uri="{BB962C8B-B14F-4D97-AF65-F5344CB8AC3E}">
        <p14:creationId xmlns:p14="http://schemas.microsoft.com/office/powerpoint/2010/main" val="3493807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A special case of the Normal probability density is that of the Standard Normal probability density.</a:t>
                </a:r>
              </a:p>
              <a:p>
                <a:r>
                  <a:rPr lang="en-US" altLang="ko-KR" dirty="0"/>
                  <a:t>I</a:t>
                </a:r>
                <a:r>
                  <a:rPr lang="en-US" altLang="ko-KR" baseline="0" dirty="0"/>
                  <a:t>n this case</a:t>
                </a:r>
                <a:r>
                  <a:rPr lang="en-US" altLang="ko-KR" dirty="0"/>
                  <a:t>,</a:t>
                </a:r>
                <a:r>
                  <a:rPr lang="en-US" altLang="ko-KR" baseline="0" dirty="0"/>
                  <a:t> you</a:t>
                </a:r>
                <a:r>
                  <a:rPr lang="en-US" altLang="ko-KR" dirty="0"/>
                  <a:t> have </a:t>
                </a:r>
                <a14:m>
                  <m:oMath xmlns:m="http://schemas.openxmlformats.org/officeDocument/2006/math">
                    <m:r>
                      <a:rPr lang="ko-KR" altLang="en-US" sz="1200" i="1" smtClean="0">
                        <a:latin typeface="Cambria Math" panose="02040503050406030204" pitchFamily="18" charset="0"/>
                        <a:cs typeface="Times New Roman" panose="02020603050405020304" pitchFamily="18" charset="0"/>
                      </a:rPr>
                      <m:t>𝜇</m:t>
                    </m:r>
                    <m:r>
                      <a:rPr lang="en-US" altLang="ko-KR" sz="1200" b="0" i="0" smtClean="0">
                        <a:latin typeface="Cambria Math" panose="02040503050406030204" pitchFamily="18" charset="0"/>
                        <a:cs typeface="Times New Roman" panose="02020603050405020304" pitchFamily="18" charset="0"/>
                      </a:rPr>
                      <m:t>=0</m:t>
                    </m:r>
                  </m:oMath>
                </a14:m>
                <a:r>
                  <a:rPr lang="ko-KR" altLang="en-US" dirty="0"/>
                  <a:t> </a:t>
                </a:r>
                <a:r>
                  <a:rPr lang="en-US" altLang="ko-KR" dirty="0"/>
                  <a:t>and </a:t>
                </a:r>
                <a14:m>
                  <m:oMath xmlns:m="http://schemas.openxmlformats.org/officeDocument/2006/math">
                    <m:r>
                      <a:rPr lang="ko-KR" altLang="en-US" i="1" smtClean="0">
                        <a:latin typeface="Cambria Math" panose="02040503050406030204" pitchFamily="18" charset="0"/>
                      </a:rPr>
                      <m:t>𝜎</m:t>
                    </m:r>
                    <m:r>
                      <a:rPr lang="en-US" altLang="ko-KR" b="0" i="1" smtClean="0">
                        <a:latin typeface="Cambria Math" panose="02040503050406030204" pitchFamily="18" charset="0"/>
                      </a:rPr>
                      <m:t>=1</m:t>
                    </m:r>
                  </m:oMath>
                </a14:m>
                <a:r>
                  <a:rPr lang="en-US" altLang="ko-KR" dirty="0"/>
                  <a:t>.</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Normal distribution</a:t>
                </a:r>
                <a:r>
                  <a:rPr lang="en-US" altLang="ko-KR" baseline="0" dirty="0"/>
                  <a:t> will be explained in detail in </a:t>
                </a:r>
                <a:r>
                  <a:rPr lang="en-US" altLang="ko-KR" dirty="0"/>
                  <a:t>Unit 2 of Chapter</a:t>
                </a:r>
                <a:r>
                  <a:rPr lang="en-US" altLang="ko-KR" baseline="0" dirty="0"/>
                  <a:t> 4</a:t>
                </a:r>
                <a:r>
                  <a:rPr lang="en-US" altLang="ko-KR" dirty="0"/>
                  <a:t> </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r>
                  <a:rPr lang="en-US" altLang="ko-KR" dirty="0" smtClean="0"/>
                  <a:t>:</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smtClean="0"/>
                  <a:t>표준 정규분포는 </a:t>
                </a:r>
                <a:r>
                  <a:rPr lang="en-US" altLang="ko-KR" dirty="0" smtClean="0"/>
                  <a:t>4</a:t>
                </a:r>
                <a:r>
                  <a:rPr lang="ko-KR" altLang="en-US" smtClean="0"/>
                  <a:t>챕터 </a:t>
                </a:r>
                <a:r>
                  <a:rPr lang="en-US" altLang="ko-KR" dirty="0" smtClean="0"/>
                  <a:t>Unit2 </a:t>
                </a:r>
                <a:r>
                  <a:rPr lang="ko-KR" altLang="en-US" smtClean="0"/>
                  <a:t>참조</a:t>
                </a:r>
                <a:r>
                  <a:rPr lang="en-US" altLang="ko-KR" dirty="0" smtClean="0"/>
                  <a:t>.</a:t>
                </a:r>
              </a:p>
              <a:p>
                <a:r>
                  <a:rPr lang="en-US" altLang="ko-KR" dirty="0" smtClean="0"/>
                  <a:t>A special case of the Normal probability density is that of the Standard Normal probability density.</a:t>
                </a:r>
              </a:p>
              <a:p>
                <a:r>
                  <a:rPr lang="en-US" altLang="ko-KR" dirty="0"/>
                  <a:t>I</a:t>
                </a:r>
                <a:r>
                  <a:rPr lang="en-US" altLang="ko-KR" baseline="0" dirty="0"/>
                  <a:t>n this case</a:t>
                </a:r>
                <a:r>
                  <a:rPr lang="en-US" altLang="ko-KR" dirty="0"/>
                  <a:t>,</a:t>
                </a:r>
                <a:r>
                  <a:rPr lang="en-US" altLang="ko-KR" baseline="0" dirty="0"/>
                  <a:t> you</a:t>
                </a:r>
                <a:r>
                  <a:rPr lang="en-US" altLang="ko-KR" dirty="0"/>
                  <a:t> have </a:t>
                </a:r>
                <a:r>
                  <a:rPr lang="ko-KR" altLang="en-US" sz="1200" i="0" smtClean="0">
                    <a:latin typeface="Cambria Math" panose="02040503050406030204" pitchFamily="18" charset="0"/>
                    <a:cs typeface="Times New Roman" panose="02020603050405020304" pitchFamily="18" charset="0"/>
                  </a:rPr>
                  <a:t>𝜇</a:t>
                </a:r>
                <a:r>
                  <a:rPr lang="en-US" altLang="ko-KR" sz="1200" b="0" i="0" smtClean="0">
                    <a:latin typeface="Cambria Math" panose="02040503050406030204" pitchFamily="18" charset="0"/>
                    <a:cs typeface="Times New Roman" panose="02020603050405020304" pitchFamily="18" charset="0"/>
                  </a:rPr>
                  <a:t>=0</a:t>
                </a:r>
                <a:r>
                  <a:rPr lang="ko-KR" altLang="en-US" dirty="0"/>
                  <a:t> </a:t>
                </a:r>
                <a:r>
                  <a:rPr lang="en-US" altLang="ko-KR" dirty="0"/>
                  <a:t>and </a:t>
                </a:r>
                <a:r>
                  <a:rPr lang="ko-KR" altLang="en-US" i="0" smtClean="0">
                    <a:latin typeface="Cambria Math" panose="02040503050406030204" pitchFamily="18" charset="0"/>
                  </a:rPr>
                  <a:t>𝜎</a:t>
                </a:r>
                <a:r>
                  <a:rPr lang="en-US" altLang="ko-KR" b="0" i="0" smtClean="0">
                    <a:latin typeface="Cambria Math" panose="02040503050406030204" pitchFamily="18" charset="0"/>
                  </a:rPr>
                  <a:t>=1</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36</a:t>
            </a:fld>
            <a:endParaRPr lang="ko-KR" altLang="en-US" dirty="0"/>
          </a:p>
        </p:txBody>
      </p:sp>
    </p:spTree>
    <p:extLst>
      <p:ext uri="{BB962C8B-B14F-4D97-AF65-F5344CB8AC3E}">
        <p14:creationId xmlns:p14="http://schemas.microsoft.com/office/powerpoint/2010/main" val="28252778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37</a:t>
            </a:fld>
            <a:endParaRPr lang="ko-KR" altLang="en-US" dirty="0"/>
          </a:p>
        </p:txBody>
      </p:sp>
    </p:spTree>
    <p:extLst>
      <p:ext uri="{BB962C8B-B14F-4D97-AF65-F5344CB8AC3E}">
        <p14:creationId xmlns:p14="http://schemas.microsoft.com/office/powerpoint/2010/main" val="3353984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38</a:t>
            </a:fld>
            <a:endParaRPr lang="ko-KR" altLang="en-US" dirty="0"/>
          </a:p>
        </p:txBody>
      </p:sp>
    </p:spTree>
    <p:extLst>
      <p:ext uri="{BB962C8B-B14F-4D97-AF65-F5344CB8AC3E}">
        <p14:creationId xmlns:p14="http://schemas.microsoft.com/office/powerpoint/2010/main" val="15310597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39</a:t>
            </a:fld>
            <a:endParaRPr lang="ko-KR" altLang="en-US" dirty="0"/>
          </a:p>
        </p:txBody>
      </p:sp>
    </p:spTree>
    <p:extLst>
      <p:ext uri="{BB962C8B-B14F-4D97-AF65-F5344CB8AC3E}">
        <p14:creationId xmlns:p14="http://schemas.microsoft.com/office/powerpoint/2010/main" val="419196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40</a:t>
            </a:fld>
            <a:endParaRPr lang="ko-KR" altLang="en-US" dirty="0"/>
          </a:p>
        </p:txBody>
      </p:sp>
    </p:spTree>
    <p:extLst>
      <p:ext uri="{BB962C8B-B14F-4D97-AF65-F5344CB8AC3E}">
        <p14:creationId xmlns:p14="http://schemas.microsoft.com/office/powerpoint/2010/main" val="34186686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41</a:t>
            </a:fld>
            <a:endParaRPr lang="ko-KR" altLang="en-US" dirty="0"/>
          </a:p>
        </p:txBody>
      </p:sp>
    </p:spTree>
    <p:extLst>
      <p:ext uri="{BB962C8B-B14F-4D97-AF65-F5344CB8AC3E}">
        <p14:creationId xmlns:p14="http://schemas.microsoft.com/office/powerpoint/2010/main" val="1931726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42</a:t>
            </a:fld>
            <a:endParaRPr lang="ko-KR" altLang="en-US" dirty="0"/>
          </a:p>
        </p:txBody>
      </p:sp>
    </p:spTree>
    <p:extLst>
      <p:ext uri="{BB962C8B-B14F-4D97-AF65-F5344CB8AC3E}">
        <p14:creationId xmlns:p14="http://schemas.microsoft.com/office/powerpoint/2010/main" val="28997657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43</a:t>
            </a:fld>
            <a:endParaRPr lang="ko-KR" altLang="en-US" dirty="0"/>
          </a:p>
        </p:txBody>
      </p:sp>
    </p:spTree>
    <p:extLst>
      <p:ext uri="{BB962C8B-B14F-4D97-AF65-F5344CB8AC3E}">
        <p14:creationId xmlns:p14="http://schemas.microsoft.com/office/powerpoint/2010/main" val="5104233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44</a:t>
            </a:fld>
            <a:endParaRPr lang="ko-KR" altLang="en-US" dirty="0"/>
          </a:p>
        </p:txBody>
      </p:sp>
    </p:spTree>
    <p:extLst>
      <p:ext uri="{BB962C8B-B14F-4D97-AF65-F5344CB8AC3E}">
        <p14:creationId xmlns:p14="http://schemas.microsoft.com/office/powerpoint/2010/main" val="518251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45</a:t>
            </a:fld>
            <a:endParaRPr lang="ko-KR" altLang="en-US" dirty="0"/>
          </a:p>
        </p:txBody>
      </p:sp>
    </p:spTree>
    <p:extLst>
      <p:ext uri="{BB962C8B-B14F-4D97-AF65-F5344CB8AC3E}">
        <p14:creationId xmlns:p14="http://schemas.microsoft.com/office/powerpoint/2010/main" val="4978222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46</a:t>
            </a:fld>
            <a:endParaRPr lang="ko-KR" altLang="en-US" dirty="0"/>
          </a:p>
        </p:txBody>
      </p:sp>
    </p:spTree>
    <p:extLst>
      <p:ext uri="{BB962C8B-B14F-4D97-AF65-F5344CB8AC3E}">
        <p14:creationId xmlns:p14="http://schemas.microsoft.com/office/powerpoint/2010/main" val="35351299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47</a:t>
            </a:fld>
            <a:endParaRPr lang="ko-KR" altLang="en-US" dirty="0"/>
          </a:p>
        </p:txBody>
      </p:sp>
    </p:spTree>
    <p:extLst>
      <p:ext uri="{BB962C8B-B14F-4D97-AF65-F5344CB8AC3E}">
        <p14:creationId xmlns:p14="http://schemas.microsoft.com/office/powerpoint/2010/main" val="19012745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48</a:t>
            </a:fld>
            <a:endParaRPr lang="ko-KR" altLang="en-US" dirty="0"/>
          </a:p>
        </p:txBody>
      </p:sp>
    </p:spTree>
    <p:extLst>
      <p:ext uri="{BB962C8B-B14F-4D97-AF65-F5344CB8AC3E}">
        <p14:creationId xmlns:p14="http://schemas.microsoft.com/office/powerpoint/2010/main" val="10828196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indent="0" algn="l" rtl="0" eaLnBrk="1" fontAlgn="auto" latinLnBrk="1" hangingPunct="1">
              <a:spcBef>
                <a:spcPts val="0"/>
              </a:spcBef>
              <a:spcAft>
                <a:spcPts val="0"/>
              </a:spcAft>
            </a:pPr>
            <a:endParaRPr lang="ko-KR" altLang="ko-KR" dirty="0">
              <a:effectLst/>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49</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3716742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50</a:t>
            </a:fld>
            <a:endParaRPr lang="ko-KR" altLang="en-US" dirty="0"/>
          </a:p>
        </p:txBody>
      </p:sp>
    </p:spTree>
    <p:extLst>
      <p:ext uri="{BB962C8B-B14F-4D97-AF65-F5344CB8AC3E}">
        <p14:creationId xmlns:p14="http://schemas.microsoft.com/office/powerpoint/2010/main" val="20854742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51</a:t>
            </a:fld>
            <a:endParaRPr lang="ko-KR" altLang="en-US" dirty="0"/>
          </a:p>
        </p:txBody>
      </p:sp>
    </p:spTree>
    <p:extLst>
      <p:ext uri="{BB962C8B-B14F-4D97-AF65-F5344CB8AC3E}">
        <p14:creationId xmlns:p14="http://schemas.microsoft.com/office/powerpoint/2010/main" val="10812251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52</a:t>
            </a:fld>
            <a:endParaRPr lang="ko-KR" altLang="en-US" dirty="0"/>
          </a:p>
        </p:txBody>
      </p:sp>
    </p:spTree>
    <p:extLst>
      <p:ext uri="{BB962C8B-B14F-4D97-AF65-F5344CB8AC3E}">
        <p14:creationId xmlns:p14="http://schemas.microsoft.com/office/powerpoint/2010/main" val="36661483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53</a:t>
            </a:fld>
            <a:endParaRPr lang="ko-KR" altLang="en-US" dirty="0"/>
          </a:p>
        </p:txBody>
      </p:sp>
    </p:spTree>
    <p:extLst>
      <p:ext uri="{BB962C8B-B14F-4D97-AF65-F5344CB8AC3E}">
        <p14:creationId xmlns:p14="http://schemas.microsoft.com/office/powerpoint/2010/main" val="24874259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54</a:t>
            </a:fld>
            <a:endParaRPr lang="ko-KR" altLang="en-US" dirty="0"/>
          </a:p>
        </p:txBody>
      </p:sp>
    </p:spTree>
    <p:extLst>
      <p:ext uri="{BB962C8B-B14F-4D97-AF65-F5344CB8AC3E}">
        <p14:creationId xmlns:p14="http://schemas.microsoft.com/office/powerpoint/2010/main" val="4345351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55</a:t>
            </a:fld>
            <a:endParaRPr lang="ko-KR" altLang="en-US" dirty="0"/>
          </a:p>
        </p:txBody>
      </p:sp>
    </p:spTree>
    <p:extLst>
      <p:ext uri="{BB962C8B-B14F-4D97-AF65-F5344CB8AC3E}">
        <p14:creationId xmlns:p14="http://schemas.microsoft.com/office/powerpoint/2010/main" val="36821092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56</a:t>
            </a:fld>
            <a:endParaRPr lang="ko-KR" altLang="en-US" dirty="0"/>
          </a:p>
        </p:txBody>
      </p:sp>
    </p:spTree>
    <p:extLst>
      <p:ext uri="{BB962C8B-B14F-4D97-AF65-F5344CB8AC3E}">
        <p14:creationId xmlns:p14="http://schemas.microsoft.com/office/powerpoint/2010/main" val="29682108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57</a:t>
            </a:fld>
            <a:endParaRPr lang="ko-KR" altLang="en-US" dirty="0"/>
          </a:p>
        </p:txBody>
      </p:sp>
    </p:spTree>
    <p:extLst>
      <p:ext uri="{BB962C8B-B14F-4D97-AF65-F5344CB8AC3E}">
        <p14:creationId xmlns:p14="http://schemas.microsoft.com/office/powerpoint/2010/main" val="8842232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58</a:t>
            </a:fld>
            <a:endParaRPr lang="ko-KR" altLang="en-US" dirty="0"/>
          </a:p>
        </p:txBody>
      </p:sp>
    </p:spTree>
    <p:extLst>
      <p:ext uri="{BB962C8B-B14F-4D97-AF65-F5344CB8AC3E}">
        <p14:creationId xmlns:p14="http://schemas.microsoft.com/office/powerpoint/2010/main" val="12364573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59</a:t>
            </a:fld>
            <a:endParaRPr lang="ko-KR" altLang="en-US" dirty="0"/>
          </a:p>
        </p:txBody>
      </p:sp>
    </p:spTree>
    <p:extLst>
      <p:ext uri="{BB962C8B-B14F-4D97-AF65-F5344CB8AC3E}">
        <p14:creationId xmlns:p14="http://schemas.microsoft.com/office/powerpoint/2010/main" val="3611128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60</a:t>
            </a:fld>
            <a:endParaRPr lang="ko-KR" altLang="en-US" dirty="0"/>
          </a:p>
        </p:txBody>
      </p:sp>
    </p:spTree>
    <p:extLst>
      <p:ext uri="{BB962C8B-B14F-4D97-AF65-F5344CB8AC3E}">
        <p14:creationId xmlns:p14="http://schemas.microsoft.com/office/powerpoint/2010/main" val="8195187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61</a:t>
            </a:fld>
            <a:endParaRPr lang="ko-KR" altLang="en-US" dirty="0"/>
          </a:p>
        </p:txBody>
      </p:sp>
    </p:spTree>
    <p:extLst>
      <p:ext uri="{BB962C8B-B14F-4D97-AF65-F5344CB8AC3E}">
        <p14:creationId xmlns:p14="http://schemas.microsoft.com/office/powerpoint/2010/main" val="28621774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62</a:t>
            </a:fld>
            <a:endParaRPr lang="ko-KR" altLang="en-US" dirty="0"/>
          </a:p>
        </p:txBody>
      </p:sp>
    </p:spTree>
    <p:extLst>
      <p:ext uri="{BB962C8B-B14F-4D97-AF65-F5344CB8AC3E}">
        <p14:creationId xmlns:p14="http://schemas.microsoft.com/office/powerpoint/2010/main" val="6547568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63</a:t>
            </a:fld>
            <a:endParaRPr lang="ko-KR" altLang="en-US" dirty="0"/>
          </a:p>
        </p:txBody>
      </p:sp>
    </p:spTree>
    <p:extLst>
      <p:ext uri="{BB962C8B-B14F-4D97-AF65-F5344CB8AC3E}">
        <p14:creationId xmlns:p14="http://schemas.microsoft.com/office/powerpoint/2010/main" val="7176990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64</a:t>
            </a:fld>
            <a:endParaRPr lang="ko-KR" altLang="en-US" dirty="0"/>
          </a:p>
        </p:txBody>
      </p:sp>
    </p:spTree>
    <p:extLst>
      <p:ext uri="{BB962C8B-B14F-4D97-AF65-F5344CB8AC3E}">
        <p14:creationId xmlns:p14="http://schemas.microsoft.com/office/powerpoint/2010/main" val="38731209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65</a:t>
            </a:fld>
            <a:endParaRPr lang="ko-KR" altLang="en-US" dirty="0"/>
          </a:p>
        </p:txBody>
      </p:sp>
    </p:spTree>
    <p:extLst>
      <p:ext uri="{BB962C8B-B14F-4D97-AF65-F5344CB8AC3E}">
        <p14:creationId xmlns:p14="http://schemas.microsoft.com/office/powerpoint/2010/main" val="23059413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66</a:t>
            </a:fld>
            <a:endParaRPr lang="ko-KR" altLang="en-US" dirty="0"/>
          </a:p>
        </p:txBody>
      </p:sp>
    </p:spTree>
    <p:extLst>
      <p:ext uri="{BB962C8B-B14F-4D97-AF65-F5344CB8AC3E}">
        <p14:creationId xmlns:p14="http://schemas.microsoft.com/office/powerpoint/2010/main" val="10368434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67</a:t>
            </a:fld>
            <a:endParaRPr lang="ko-KR" altLang="en-US" dirty="0"/>
          </a:p>
        </p:txBody>
      </p:sp>
    </p:spTree>
    <p:extLst>
      <p:ext uri="{BB962C8B-B14F-4D97-AF65-F5344CB8AC3E}">
        <p14:creationId xmlns:p14="http://schemas.microsoft.com/office/powerpoint/2010/main" val="41923388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68</a:t>
            </a:fld>
            <a:endParaRPr lang="ko-KR" altLang="en-US" dirty="0"/>
          </a:p>
        </p:txBody>
      </p:sp>
    </p:spTree>
    <p:extLst>
      <p:ext uri="{BB962C8B-B14F-4D97-AF65-F5344CB8AC3E}">
        <p14:creationId xmlns:p14="http://schemas.microsoft.com/office/powerpoint/2010/main" val="7772919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69</a:t>
            </a:fld>
            <a:endParaRPr lang="ko-KR" altLang="en-US" dirty="0"/>
          </a:p>
        </p:txBody>
      </p:sp>
    </p:spTree>
    <p:extLst>
      <p:ext uri="{BB962C8B-B14F-4D97-AF65-F5344CB8AC3E}">
        <p14:creationId xmlns:p14="http://schemas.microsoft.com/office/powerpoint/2010/main" val="28650532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i="0" kern="1200" baseline="0" dirty="0">
                <a:solidFill>
                  <a:schemeClr val="tx1"/>
                </a:solidFill>
                <a:effectLst/>
                <a:latin typeface="+mn-lt"/>
                <a:ea typeface="+mn-ea"/>
                <a:cs typeface="+mn-cs"/>
              </a:rPr>
              <a:t>Setting </a:t>
            </a:r>
            <a:r>
              <a:rPr lang="en-US" altLang="ko-KR" sz="1200" b="0" i="0" kern="1200" baseline="0" dirty="0" err="1">
                <a:solidFill>
                  <a:schemeClr val="tx1"/>
                </a:solidFill>
                <a:effectLst/>
                <a:latin typeface="+mn-lt"/>
                <a:ea typeface="+mn-ea"/>
                <a:cs typeface="+mn-cs"/>
              </a:rPr>
              <a:t>np.random.seed</a:t>
            </a:r>
            <a:r>
              <a:rPr lang="en-US" altLang="ko-KR" sz="1200" b="0" i="0" kern="1200" baseline="0" dirty="0">
                <a:solidFill>
                  <a:schemeClr val="tx1"/>
                </a:solidFill>
                <a:effectLst/>
                <a:latin typeface="+mn-lt"/>
                <a:ea typeface="+mn-ea"/>
                <a:cs typeface="+mn-cs"/>
              </a:rPr>
              <a:t>() to a fixed value generates u</a:t>
            </a:r>
            <a:r>
              <a:rPr lang="en-US" altLang="ko-KR" sz="1200" b="0" i="0" kern="1200" dirty="0">
                <a:solidFill>
                  <a:schemeClr val="tx1"/>
                </a:solidFill>
                <a:effectLst/>
                <a:latin typeface="+mn-lt"/>
                <a:ea typeface="+mn-ea"/>
                <a:cs typeface="+mn-cs"/>
              </a:rPr>
              <a:t>niform</a:t>
            </a:r>
            <a:r>
              <a:rPr lang="en-US" altLang="ko-KR" sz="1200" b="0" i="0" kern="1200" baseline="0" dirty="0">
                <a:solidFill>
                  <a:schemeClr val="tx1"/>
                </a:solidFill>
                <a:effectLst/>
                <a:latin typeface="+mn-lt"/>
                <a:ea typeface="+mn-ea"/>
                <a:cs typeface="+mn-cs"/>
              </a:rPr>
              <a:t> random numbers.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i="0" kern="1200" baseline="0" dirty="0">
                <a:solidFill>
                  <a:schemeClr val="tx1"/>
                </a:solidFill>
                <a:effectLst/>
                <a:latin typeface="+mn-lt"/>
                <a:ea typeface="+mn-ea"/>
                <a:cs typeface="+mn-cs"/>
              </a:rPr>
              <a:t>Run the codes below. You can see that the same seed generates the same set of numbers and using a different seed produces different set of numbers.  </a:t>
            </a:r>
          </a:p>
          <a:p>
            <a:r>
              <a:rPr lang="en-US" altLang="ko-KR" sz="1200" kern="1200" dirty="0">
                <a:solidFill>
                  <a:schemeClr val="tx1"/>
                </a:solidFill>
                <a:effectLst/>
                <a:latin typeface="+mn-lt"/>
                <a:ea typeface="+mn-ea"/>
                <a:cs typeface="+mn-cs"/>
              </a:rPr>
              <a:t>When setting</a:t>
            </a:r>
            <a:r>
              <a:rPr lang="en-US" altLang="ko-KR" sz="1200" kern="1200" baseline="0" dirty="0">
                <a:solidFill>
                  <a:schemeClr val="tx1"/>
                </a:solidFill>
                <a:effectLst/>
                <a:latin typeface="+mn-lt"/>
                <a:ea typeface="+mn-ea"/>
                <a:cs typeface="+mn-cs"/>
              </a:rPr>
              <a:t> the seed to a same value, same random numbers are generated in order. </a:t>
            </a:r>
            <a:endParaRPr lang="en-US" altLang="ko-KR" sz="1200" kern="1200" dirty="0">
              <a:solidFill>
                <a:schemeClr val="tx1"/>
              </a:solidFill>
              <a:effectLst/>
              <a:latin typeface="+mn-lt"/>
              <a:ea typeface="+mn-ea"/>
              <a:cs typeface="+mn-cs"/>
            </a:endParaRPr>
          </a:p>
          <a:p>
            <a:r>
              <a:rPr lang="en-US" altLang="ko-KR" sz="1200" kern="1200" dirty="0" err="1">
                <a:solidFill>
                  <a:schemeClr val="tx1"/>
                </a:solidFill>
                <a:effectLst/>
                <a:latin typeface="+mn-lt"/>
                <a:ea typeface="+mn-ea"/>
                <a:cs typeface="+mn-cs"/>
              </a:rPr>
              <a:t>np.random.seed</a:t>
            </a:r>
            <a:r>
              <a:rPr lang="en-US" altLang="ko-KR" sz="1200" kern="1200" dirty="0">
                <a:solidFill>
                  <a:schemeClr val="tx1"/>
                </a:solidFill>
                <a:effectLst/>
                <a:latin typeface="+mn-lt"/>
                <a:ea typeface="+mn-ea"/>
                <a:cs typeface="+mn-cs"/>
              </a:rPr>
              <a:t>(0)</a:t>
            </a:r>
          </a:p>
          <a:p>
            <a:r>
              <a:rPr lang="en-US" altLang="ko-KR" sz="1200" kern="1200" dirty="0">
                <a:solidFill>
                  <a:schemeClr val="tx1"/>
                </a:solidFill>
                <a:effectLst/>
                <a:latin typeface="+mn-lt"/>
                <a:ea typeface="+mn-ea"/>
                <a:cs typeface="+mn-cs"/>
              </a:rPr>
              <a:t>print(</a:t>
            </a:r>
            <a:r>
              <a:rPr lang="en-US" altLang="ko-KR" sz="1200" kern="1200" dirty="0" err="1">
                <a:solidFill>
                  <a:schemeClr val="tx1"/>
                </a:solidFill>
                <a:effectLst/>
                <a:latin typeface="+mn-lt"/>
                <a:ea typeface="+mn-ea"/>
                <a:cs typeface="+mn-cs"/>
              </a:rPr>
              <a:t>np.random.random</a:t>
            </a:r>
            <a:r>
              <a:rPr lang="en-US" altLang="ko-KR" sz="1200" kern="1200" dirty="0">
                <a:solidFill>
                  <a:schemeClr val="tx1"/>
                </a:solidFill>
                <a:effectLst/>
                <a:latin typeface="+mn-lt"/>
                <a:ea typeface="+mn-ea"/>
                <a:cs typeface="+mn-cs"/>
              </a:rPr>
              <a:t>(3))</a:t>
            </a:r>
          </a:p>
          <a:p>
            <a:r>
              <a:rPr lang="en-US" altLang="ko-KR" sz="1200" kern="1200" dirty="0" err="1">
                <a:solidFill>
                  <a:schemeClr val="tx1"/>
                </a:solidFill>
                <a:effectLst/>
                <a:latin typeface="+mn-lt"/>
                <a:ea typeface="+mn-ea"/>
                <a:cs typeface="+mn-cs"/>
              </a:rPr>
              <a:t>np.random.seed</a:t>
            </a:r>
            <a:r>
              <a:rPr lang="en-US" altLang="ko-KR" sz="1200" kern="1200" dirty="0">
                <a:solidFill>
                  <a:schemeClr val="tx1"/>
                </a:solidFill>
                <a:effectLst/>
                <a:latin typeface="+mn-lt"/>
                <a:ea typeface="+mn-ea"/>
                <a:cs typeface="+mn-cs"/>
              </a:rPr>
              <a:t>(2)</a:t>
            </a:r>
          </a:p>
          <a:p>
            <a:r>
              <a:rPr lang="en-US" altLang="ko-KR" sz="1200" kern="1200" dirty="0">
                <a:solidFill>
                  <a:schemeClr val="tx1"/>
                </a:solidFill>
                <a:effectLst/>
                <a:latin typeface="+mn-lt"/>
                <a:ea typeface="+mn-ea"/>
                <a:cs typeface="+mn-cs"/>
              </a:rPr>
              <a:t>print(</a:t>
            </a:r>
            <a:r>
              <a:rPr lang="en-US" altLang="ko-KR" sz="1200" kern="1200" dirty="0" err="1">
                <a:solidFill>
                  <a:schemeClr val="tx1"/>
                </a:solidFill>
                <a:effectLst/>
                <a:latin typeface="+mn-lt"/>
                <a:ea typeface="+mn-ea"/>
                <a:cs typeface="+mn-cs"/>
              </a:rPr>
              <a:t>np.random.random</a:t>
            </a:r>
            <a:r>
              <a:rPr lang="en-US" altLang="ko-KR" sz="1200" kern="1200" dirty="0">
                <a:solidFill>
                  <a:schemeClr val="tx1"/>
                </a:solidFill>
                <a:effectLst/>
                <a:latin typeface="+mn-lt"/>
                <a:ea typeface="+mn-ea"/>
                <a:cs typeface="+mn-cs"/>
              </a:rPr>
              <a:t>(3))</a:t>
            </a:r>
          </a:p>
          <a:p>
            <a:r>
              <a:rPr lang="en-US" altLang="ko-KR" sz="1200" kern="1200" dirty="0" err="1">
                <a:solidFill>
                  <a:schemeClr val="tx1"/>
                </a:solidFill>
                <a:effectLst/>
                <a:latin typeface="+mn-lt"/>
                <a:ea typeface="+mn-ea"/>
                <a:cs typeface="+mn-cs"/>
              </a:rPr>
              <a:t>np.random.seed</a:t>
            </a:r>
            <a:r>
              <a:rPr lang="en-US" altLang="ko-KR" sz="1200" kern="1200" dirty="0">
                <a:solidFill>
                  <a:schemeClr val="tx1"/>
                </a:solidFill>
                <a:effectLst/>
                <a:latin typeface="+mn-lt"/>
                <a:ea typeface="+mn-ea"/>
                <a:cs typeface="+mn-cs"/>
              </a:rPr>
              <a:t>(0)</a:t>
            </a:r>
          </a:p>
          <a:p>
            <a:r>
              <a:rPr lang="en-US" altLang="ko-KR" sz="1200" kern="1200" dirty="0">
                <a:solidFill>
                  <a:schemeClr val="tx1"/>
                </a:solidFill>
                <a:effectLst/>
                <a:latin typeface="+mn-lt"/>
                <a:ea typeface="+mn-ea"/>
                <a:cs typeface="+mn-cs"/>
              </a:rPr>
              <a:t>print(</a:t>
            </a:r>
            <a:r>
              <a:rPr lang="en-US" altLang="ko-KR" sz="1200" kern="1200" dirty="0" err="1">
                <a:solidFill>
                  <a:schemeClr val="tx1"/>
                </a:solidFill>
                <a:effectLst/>
                <a:latin typeface="+mn-lt"/>
                <a:ea typeface="+mn-ea"/>
                <a:cs typeface="+mn-cs"/>
              </a:rPr>
              <a:t>np.random.random</a:t>
            </a:r>
            <a:r>
              <a:rPr lang="en-US" altLang="ko-KR" sz="1200" kern="1200" dirty="0">
                <a:solidFill>
                  <a:schemeClr val="tx1"/>
                </a:solidFill>
                <a:effectLst/>
                <a:latin typeface="+mn-lt"/>
                <a:ea typeface="+mn-ea"/>
                <a:cs typeface="+mn-cs"/>
              </a:rPr>
              <a:t>(3))</a:t>
            </a:r>
            <a:endParaRPr lang="en-US" altLang="ko-KR" sz="1200" b="0" i="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70</a:t>
            </a:fld>
            <a:endParaRPr lang="ko-KR" altLang="en-US" dirty="0"/>
          </a:p>
        </p:txBody>
      </p:sp>
    </p:spTree>
    <p:extLst>
      <p:ext uri="{BB962C8B-B14F-4D97-AF65-F5344CB8AC3E}">
        <p14:creationId xmlns:p14="http://schemas.microsoft.com/office/powerpoint/2010/main" val="248310642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71</a:t>
            </a:fld>
            <a:endParaRPr lang="ko-KR" altLang="en-US" dirty="0"/>
          </a:p>
        </p:txBody>
      </p:sp>
    </p:spTree>
    <p:extLst>
      <p:ext uri="{BB962C8B-B14F-4D97-AF65-F5344CB8AC3E}">
        <p14:creationId xmlns:p14="http://schemas.microsoft.com/office/powerpoint/2010/main" val="13982632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72</a:t>
            </a:fld>
            <a:endParaRPr lang="ko-KR" altLang="en-US" dirty="0"/>
          </a:p>
        </p:txBody>
      </p:sp>
    </p:spTree>
    <p:extLst>
      <p:ext uri="{BB962C8B-B14F-4D97-AF65-F5344CB8AC3E}">
        <p14:creationId xmlns:p14="http://schemas.microsoft.com/office/powerpoint/2010/main" val="19992572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73</a:t>
            </a:fld>
            <a:endParaRPr lang="ko-KR" altLang="en-US" dirty="0"/>
          </a:p>
        </p:txBody>
      </p:sp>
    </p:spTree>
    <p:extLst>
      <p:ext uri="{BB962C8B-B14F-4D97-AF65-F5344CB8AC3E}">
        <p14:creationId xmlns:p14="http://schemas.microsoft.com/office/powerpoint/2010/main" val="22851638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74</a:t>
            </a:fld>
            <a:endParaRPr lang="ko-KR" altLang="en-US" dirty="0"/>
          </a:p>
        </p:txBody>
      </p:sp>
    </p:spTree>
    <p:extLst>
      <p:ext uri="{BB962C8B-B14F-4D97-AF65-F5344CB8AC3E}">
        <p14:creationId xmlns:p14="http://schemas.microsoft.com/office/powerpoint/2010/main" val="35471971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75</a:t>
            </a:fld>
            <a:endParaRPr lang="ko-KR" altLang="en-US" dirty="0"/>
          </a:p>
        </p:txBody>
      </p:sp>
    </p:spTree>
    <p:extLst>
      <p:ext uri="{BB962C8B-B14F-4D97-AF65-F5344CB8AC3E}">
        <p14:creationId xmlns:p14="http://schemas.microsoft.com/office/powerpoint/2010/main" val="231891977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76</a:t>
            </a:fld>
            <a:endParaRPr lang="ko-KR" altLang="en-US" dirty="0"/>
          </a:p>
        </p:txBody>
      </p:sp>
    </p:spTree>
    <p:extLst>
      <p:ext uri="{BB962C8B-B14F-4D97-AF65-F5344CB8AC3E}">
        <p14:creationId xmlns:p14="http://schemas.microsoft.com/office/powerpoint/2010/main" val="239597037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77</a:t>
            </a:fld>
            <a:endParaRPr lang="ko-KR" altLang="en-US" dirty="0"/>
          </a:p>
        </p:txBody>
      </p:sp>
    </p:spTree>
    <p:extLst>
      <p:ext uri="{BB962C8B-B14F-4D97-AF65-F5344CB8AC3E}">
        <p14:creationId xmlns:p14="http://schemas.microsoft.com/office/powerpoint/2010/main" val="287396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78</a:t>
            </a:fld>
            <a:endParaRPr lang="ko-KR" altLang="en-US" dirty="0"/>
          </a:p>
        </p:txBody>
      </p:sp>
    </p:spTree>
    <p:extLst>
      <p:ext uri="{BB962C8B-B14F-4D97-AF65-F5344CB8AC3E}">
        <p14:creationId xmlns:p14="http://schemas.microsoft.com/office/powerpoint/2010/main" val="36787944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79</a:t>
            </a:fld>
            <a:endParaRPr lang="ko-KR" altLang="en-US" dirty="0"/>
          </a:p>
        </p:txBody>
      </p:sp>
    </p:spTree>
    <p:extLst>
      <p:ext uri="{BB962C8B-B14F-4D97-AF65-F5344CB8AC3E}">
        <p14:creationId xmlns:p14="http://schemas.microsoft.com/office/powerpoint/2010/main" val="298530236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80</a:t>
            </a:fld>
            <a:endParaRPr lang="ko-KR" altLang="en-US" dirty="0"/>
          </a:p>
        </p:txBody>
      </p:sp>
    </p:spTree>
    <p:extLst>
      <p:ext uri="{BB962C8B-B14F-4D97-AF65-F5344CB8AC3E}">
        <p14:creationId xmlns:p14="http://schemas.microsoft.com/office/powerpoint/2010/main" val="15705797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81</a:t>
            </a:fld>
            <a:endParaRPr lang="ko-KR" altLang="en-US" dirty="0"/>
          </a:p>
        </p:txBody>
      </p:sp>
    </p:spTree>
    <p:extLst>
      <p:ext uri="{BB962C8B-B14F-4D97-AF65-F5344CB8AC3E}">
        <p14:creationId xmlns:p14="http://schemas.microsoft.com/office/powerpoint/2010/main" val="310031079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dirty="0">
                <a:solidFill>
                  <a:schemeClr val="tx1">
                    <a:lumMod val="85000"/>
                    <a:lumOff val="15000"/>
                  </a:schemeClr>
                </a:solidFill>
                <a:latin typeface="SamsungOne 400" panose="020B0503030303020204" pitchFamily="34" charset="0"/>
                <a:ea typeface="SamsungOne 400" panose="020B0503030303020204" pitchFamily="34" charset="0"/>
              </a:rPr>
              <a:t>수학부분에서 이미 자세히 다루었다</a:t>
            </a:r>
            <a:r>
              <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82</a:t>
            </a:fld>
            <a:endParaRPr lang="ko-KR" altLang="en-US" dirty="0"/>
          </a:p>
        </p:txBody>
      </p:sp>
    </p:spTree>
    <p:extLst>
      <p:ext uri="{BB962C8B-B14F-4D97-AF65-F5344CB8AC3E}">
        <p14:creationId xmlns:p14="http://schemas.microsoft.com/office/powerpoint/2010/main" val="25097902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83</a:t>
            </a:fld>
            <a:endParaRPr lang="ko-KR" altLang="en-US" dirty="0"/>
          </a:p>
        </p:txBody>
      </p:sp>
    </p:spTree>
    <p:extLst>
      <p:ext uri="{BB962C8B-B14F-4D97-AF65-F5344CB8AC3E}">
        <p14:creationId xmlns:p14="http://schemas.microsoft.com/office/powerpoint/2010/main" val="270816783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84</a:t>
            </a:fld>
            <a:endParaRPr lang="ko-KR" altLang="en-US" dirty="0"/>
          </a:p>
        </p:txBody>
      </p:sp>
    </p:spTree>
    <p:extLst>
      <p:ext uri="{BB962C8B-B14F-4D97-AF65-F5344CB8AC3E}">
        <p14:creationId xmlns:p14="http://schemas.microsoft.com/office/powerpoint/2010/main" val="289029298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85</a:t>
            </a:fld>
            <a:endParaRPr lang="ko-KR" altLang="en-US" dirty="0"/>
          </a:p>
        </p:txBody>
      </p:sp>
    </p:spTree>
    <p:extLst>
      <p:ext uri="{BB962C8B-B14F-4D97-AF65-F5344CB8AC3E}">
        <p14:creationId xmlns:p14="http://schemas.microsoft.com/office/powerpoint/2010/main" val="22391020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86</a:t>
            </a:fld>
            <a:endParaRPr lang="ko-KR" altLang="en-US" dirty="0"/>
          </a:p>
        </p:txBody>
      </p:sp>
    </p:spTree>
    <p:extLst>
      <p:ext uri="{BB962C8B-B14F-4D97-AF65-F5344CB8AC3E}">
        <p14:creationId xmlns:p14="http://schemas.microsoft.com/office/powerpoint/2010/main" val="19007257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indent="0" algn="l" rtl="0" eaLnBrk="1" fontAlgn="auto" latinLnBrk="1" hangingPunct="1">
              <a:spcBef>
                <a:spcPts val="0"/>
              </a:spcBef>
              <a:spcAft>
                <a:spcPts val="0"/>
              </a:spcAft>
            </a:pPr>
            <a:endParaRPr lang="ko-KR" altLang="ko-KR" dirty="0">
              <a:effectLst/>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87</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09167537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88</a:t>
            </a:fld>
            <a:endParaRPr lang="ko-KR" altLang="en-US" dirty="0"/>
          </a:p>
        </p:txBody>
      </p:sp>
    </p:spTree>
    <p:extLst>
      <p:ext uri="{BB962C8B-B14F-4D97-AF65-F5344CB8AC3E}">
        <p14:creationId xmlns:p14="http://schemas.microsoft.com/office/powerpoint/2010/main" val="56992017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89</a:t>
            </a:fld>
            <a:endParaRPr lang="ko-KR" altLang="en-US" dirty="0"/>
          </a:p>
        </p:txBody>
      </p:sp>
    </p:spTree>
    <p:extLst>
      <p:ext uri="{BB962C8B-B14F-4D97-AF65-F5344CB8AC3E}">
        <p14:creationId xmlns:p14="http://schemas.microsoft.com/office/powerpoint/2010/main" val="174952968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90</a:t>
            </a:fld>
            <a:endParaRPr lang="ko-KR" altLang="en-US" dirty="0"/>
          </a:p>
        </p:txBody>
      </p:sp>
    </p:spTree>
    <p:extLst>
      <p:ext uri="{BB962C8B-B14F-4D97-AF65-F5344CB8AC3E}">
        <p14:creationId xmlns:p14="http://schemas.microsoft.com/office/powerpoint/2010/main" val="17042454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91</a:t>
            </a:fld>
            <a:endParaRPr lang="ko-KR" altLang="en-US" dirty="0"/>
          </a:p>
        </p:txBody>
      </p:sp>
    </p:spTree>
    <p:extLst>
      <p:ext uri="{BB962C8B-B14F-4D97-AF65-F5344CB8AC3E}">
        <p14:creationId xmlns:p14="http://schemas.microsoft.com/office/powerpoint/2010/main" val="286149549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92</a:t>
            </a:fld>
            <a:endParaRPr lang="ko-KR" altLang="en-US" dirty="0"/>
          </a:p>
        </p:txBody>
      </p:sp>
    </p:spTree>
    <p:extLst>
      <p:ext uri="{BB962C8B-B14F-4D97-AF65-F5344CB8AC3E}">
        <p14:creationId xmlns:p14="http://schemas.microsoft.com/office/powerpoint/2010/main" val="296076338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93</a:t>
            </a:fld>
            <a:endParaRPr lang="ko-KR" altLang="en-US" dirty="0"/>
          </a:p>
        </p:txBody>
      </p:sp>
    </p:spTree>
    <p:extLst>
      <p:ext uri="{BB962C8B-B14F-4D97-AF65-F5344CB8AC3E}">
        <p14:creationId xmlns:p14="http://schemas.microsoft.com/office/powerpoint/2010/main" val="185369153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94</a:t>
            </a:fld>
            <a:endParaRPr lang="ko-KR" altLang="en-US" dirty="0"/>
          </a:p>
        </p:txBody>
      </p:sp>
    </p:spTree>
    <p:extLst>
      <p:ext uri="{BB962C8B-B14F-4D97-AF65-F5344CB8AC3E}">
        <p14:creationId xmlns:p14="http://schemas.microsoft.com/office/powerpoint/2010/main" val="368217435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95</a:t>
            </a:fld>
            <a:endParaRPr lang="ko-KR" altLang="en-US" dirty="0"/>
          </a:p>
        </p:txBody>
      </p:sp>
    </p:spTree>
    <p:extLst>
      <p:ext uri="{BB962C8B-B14F-4D97-AF65-F5344CB8AC3E}">
        <p14:creationId xmlns:p14="http://schemas.microsoft.com/office/powerpoint/2010/main" val="33322510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96</a:t>
            </a:fld>
            <a:endParaRPr lang="ko-KR" altLang="en-US" dirty="0"/>
          </a:p>
        </p:txBody>
      </p:sp>
    </p:spTree>
    <p:extLst>
      <p:ext uri="{BB962C8B-B14F-4D97-AF65-F5344CB8AC3E}">
        <p14:creationId xmlns:p14="http://schemas.microsoft.com/office/powerpoint/2010/main" val="334526354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rgbClr val="FF1414"/>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97</a:t>
            </a:fld>
            <a:endParaRPr lang="ko-KR" altLang="en-US" dirty="0"/>
          </a:p>
        </p:txBody>
      </p:sp>
    </p:spTree>
    <p:extLst>
      <p:ext uri="{BB962C8B-B14F-4D97-AF65-F5344CB8AC3E}">
        <p14:creationId xmlns:p14="http://schemas.microsoft.com/office/powerpoint/2010/main" val="371677944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98</a:t>
            </a:fld>
            <a:endParaRPr lang="ko-KR" altLang="en-US" dirty="0"/>
          </a:p>
        </p:txBody>
      </p:sp>
    </p:spTree>
    <p:extLst>
      <p:ext uri="{BB962C8B-B14F-4D97-AF65-F5344CB8AC3E}">
        <p14:creationId xmlns:p14="http://schemas.microsoft.com/office/powerpoint/2010/main" val="123789026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99</a:t>
            </a:fld>
            <a:endParaRPr lang="ko-KR" altLang="en-US" dirty="0"/>
          </a:p>
        </p:txBody>
      </p:sp>
    </p:spTree>
    <p:extLst>
      <p:ext uri="{BB962C8B-B14F-4D97-AF65-F5344CB8AC3E}">
        <p14:creationId xmlns:p14="http://schemas.microsoft.com/office/powerpoint/2010/main" val="336244693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100</a:t>
            </a:fld>
            <a:endParaRPr lang="ko-KR" altLang="en-US" dirty="0"/>
          </a:p>
        </p:txBody>
      </p:sp>
    </p:spTree>
    <p:extLst>
      <p:ext uri="{BB962C8B-B14F-4D97-AF65-F5344CB8AC3E}">
        <p14:creationId xmlns:p14="http://schemas.microsoft.com/office/powerpoint/2010/main" val="405675247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101</a:t>
            </a:fld>
            <a:endParaRPr lang="ko-KR" altLang="en-US" dirty="0"/>
          </a:p>
        </p:txBody>
      </p:sp>
    </p:spTree>
    <p:extLst>
      <p:ext uri="{BB962C8B-B14F-4D97-AF65-F5344CB8AC3E}">
        <p14:creationId xmlns:p14="http://schemas.microsoft.com/office/powerpoint/2010/main" val="402010982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102</a:t>
            </a:fld>
            <a:endParaRPr lang="ko-KR" altLang="en-US" dirty="0"/>
          </a:p>
        </p:txBody>
      </p:sp>
    </p:spTree>
    <p:extLst>
      <p:ext uri="{BB962C8B-B14F-4D97-AF65-F5344CB8AC3E}">
        <p14:creationId xmlns:p14="http://schemas.microsoft.com/office/powerpoint/2010/main" val="64715445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103</a:t>
            </a:fld>
            <a:endParaRPr lang="ko-KR" altLang="en-US" dirty="0"/>
          </a:p>
        </p:txBody>
      </p:sp>
    </p:spTree>
    <p:extLst>
      <p:ext uri="{BB962C8B-B14F-4D97-AF65-F5344CB8AC3E}">
        <p14:creationId xmlns:p14="http://schemas.microsoft.com/office/powerpoint/2010/main" val="58758064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104</a:t>
            </a:fld>
            <a:endParaRPr lang="ko-KR" altLang="en-US" dirty="0"/>
          </a:p>
        </p:txBody>
      </p:sp>
    </p:spTree>
    <p:extLst>
      <p:ext uri="{BB962C8B-B14F-4D97-AF65-F5344CB8AC3E}">
        <p14:creationId xmlns:p14="http://schemas.microsoft.com/office/powerpoint/2010/main" val="181313854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105</a:t>
            </a:fld>
            <a:endParaRPr lang="ko-KR" altLang="en-US" dirty="0"/>
          </a:p>
        </p:txBody>
      </p:sp>
    </p:spTree>
    <p:extLst>
      <p:ext uri="{BB962C8B-B14F-4D97-AF65-F5344CB8AC3E}">
        <p14:creationId xmlns:p14="http://schemas.microsoft.com/office/powerpoint/2010/main" val="267200153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106</a:t>
            </a:fld>
            <a:endParaRPr lang="ko-KR" altLang="en-US" dirty="0"/>
          </a:p>
        </p:txBody>
      </p:sp>
    </p:spTree>
    <p:extLst>
      <p:ext uri="{BB962C8B-B14F-4D97-AF65-F5344CB8AC3E}">
        <p14:creationId xmlns:p14="http://schemas.microsoft.com/office/powerpoint/2010/main" val="376356733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107</a:t>
            </a:fld>
            <a:endParaRPr lang="ko-KR" altLang="en-US" dirty="0"/>
          </a:p>
        </p:txBody>
      </p:sp>
    </p:spTree>
    <p:extLst>
      <p:ext uri="{BB962C8B-B14F-4D97-AF65-F5344CB8AC3E}">
        <p14:creationId xmlns:p14="http://schemas.microsoft.com/office/powerpoint/2010/main" val="268386044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108</a:t>
            </a:fld>
            <a:endParaRPr lang="ko-KR" altLang="en-US" dirty="0"/>
          </a:p>
        </p:txBody>
      </p:sp>
    </p:spTree>
    <p:extLst>
      <p:ext uri="{BB962C8B-B14F-4D97-AF65-F5344CB8AC3E}">
        <p14:creationId xmlns:p14="http://schemas.microsoft.com/office/powerpoint/2010/main" val="377421363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109</a:t>
            </a:fld>
            <a:endParaRPr lang="ko-KR" altLang="en-US" dirty="0"/>
          </a:p>
        </p:txBody>
      </p:sp>
    </p:spTree>
    <p:extLst>
      <p:ext uri="{BB962C8B-B14F-4D97-AF65-F5344CB8AC3E}">
        <p14:creationId xmlns:p14="http://schemas.microsoft.com/office/powerpoint/2010/main" val="166335026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US" altLang="ko-KR"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110</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75994699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B59C55F-00F1-4985-9065-F2D92AE05D03}" type="slidenum">
              <a:rPr kumimoji="0"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111</a:t>
            </a:fld>
            <a:endParaRPr kumimoji="0" lang="ko-KR" altLang="en-US" sz="12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16772419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112</a:t>
            </a:fld>
            <a:endParaRPr lang="ko-KR" altLang="en-US" dirty="0"/>
          </a:p>
        </p:txBody>
      </p:sp>
    </p:spTree>
    <p:extLst>
      <p:ext uri="{BB962C8B-B14F-4D97-AF65-F5344CB8AC3E}">
        <p14:creationId xmlns:p14="http://schemas.microsoft.com/office/powerpoint/2010/main" val="95157668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113</a:t>
            </a:fld>
            <a:endParaRPr lang="ko-KR" altLang="en-US" dirty="0"/>
          </a:p>
        </p:txBody>
      </p:sp>
    </p:spTree>
    <p:extLst>
      <p:ext uri="{BB962C8B-B14F-4D97-AF65-F5344CB8AC3E}">
        <p14:creationId xmlns:p14="http://schemas.microsoft.com/office/powerpoint/2010/main" val="152605054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aseline="0" dirty="0">
                <a:solidFill>
                  <a:schemeClr val="tx1">
                    <a:lumMod val="85000"/>
                    <a:lumOff val="15000"/>
                  </a:schemeClr>
                </a:solidFill>
                <a:latin typeface="SamsungOne-400" panose="020B0503030303020204" pitchFamily="34" charset="0"/>
                <a:ea typeface="SamsungOne-400" panose="020B0503030303020204" pitchFamily="34" charset="0"/>
              </a:rPr>
              <a:t>You can check about the inner part of matrix in Unit 4 of Chapter 2.</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114</a:t>
            </a:fld>
            <a:endParaRPr lang="ko-KR" altLang="en-US" dirty="0"/>
          </a:p>
        </p:txBody>
      </p:sp>
    </p:spTree>
    <p:extLst>
      <p:ext uri="{BB962C8B-B14F-4D97-AF65-F5344CB8AC3E}">
        <p14:creationId xmlns:p14="http://schemas.microsoft.com/office/powerpoint/2010/main" val="56788297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115</a:t>
            </a:fld>
            <a:endParaRPr lang="ko-KR" altLang="en-US" dirty="0"/>
          </a:p>
        </p:txBody>
      </p:sp>
    </p:spTree>
    <p:extLst>
      <p:ext uri="{BB962C8B-B14F-4D97-AF65-F5344CB8AC3E}">
        <p14:creationId xmlns:p14="http://schemas.microsoft.com/office/powerpoint/2010/main" val="257965902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116</a:t>
            </a:fld>
            <a:endParaRPr lang="ko-KR" altLang="en-US" dirty="0"/>
          </a:p>
        </p:txBody>
      </p:sp>
    </p:spTree>
    <p:extLst>
      <p:ext uri="{BB962C8B-B14F-4D97-AF65-F5344CB8AC3E}">
        <p14:creationId xmlns:p14="http://schemas.microsoft.com/office/powerpoint/2010/main" val="238834908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117</a:t>
            </a:fld>
            <a:endParaRPr lang="ko-KR" altLang="en-US" dirty="0"/>
          </a:p>
        </p:txBody>
      </p:sp>
    </p:spTree>
    <p:extLst>
      <p:ext uri="{BB962C8B-B14F-4D97-AF65-F5344CB8AC3E}">
        <p14:creationId xmlns:p14="http://schemas.microsoft.com/office/powerpoint/2010/main" val="242946621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118</a:t>
            </a:fld>
            <a:endParaRPr lang="ko-KR" altLang="en-US" dirty="0"/>
          </a:p>
        </p:txBody>
      </p:sp>
    </p:spTree>
    <p:extLst>
      <p:ext uri="{BB962C8B-B14F-4D97-AF65-F5344CB8AC3E}">
        <p14:creationId xmlns:p14="http://schemas.microsoft.com/office/powerpoint/2010/main" val="237696281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119</a:t>
            </a:fld>
            <a:endParaRPr lang="ko-KR" altLang="en-US" dirty="0"/>
          </a:p>
        </p:txBody>
      </p:sp>
    </p:spTree>
    <p:extLst>
      <p:ext uri="{BB962C8B-B14F-4D97-AF65-F5344CB8AC3E}">
        <p14:creationId xmlns:p14="http://schemas.microsoft.com/office/powerpoint/2010/main" val="328325751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120</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93100789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121</a:t>
            </a:fld>
            <a:endParaRPr lang="ko-KR" altLang="en-US" dirty="0"/>
          </a:p>
        </p:txBody>
      </p:sp>
    </p:spTree>
    <p:extLst>
      <p:ext uri="{BB962C8B-B14F-4D97-AF65-F5344CB8AC3E}">
        <p14:creationId xmlns:p14="http://schemas.microsoft.com/office/powerpoint/2010/main" val="27978228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122</a:t>
            </a:fld>
            <a:endParaRPr lang="ko-KR" altLang="en-US" dirty="0"/>
          </a:p>
        </p:txBody>
      </p:sp>
    </p:spTree>
    <p:extLst>
      <p:ext uri="{BB962C8B-B14F-4D97-AF65-F5344CB8AC3E}">
        <p14:creationId xmlns:p14="http://schemas.microsoft.com/office/powerpoint/2010/main" val="395101535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123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008660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pandas is a must have library when dealing with data.</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It is versatile and powerful. It is packed full of useful features.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It is no overstatement to say that you begin our journey in data science with the pandas library!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124</a:t>
            </a:fld>
            <a:endParaRPr lang="ko-KR" altLang="en-US" dirty="0"/>
          </a:p>
        </p:txBody>
      </p:sp>
    </p:spTree>
    <p:extLst>
      <p:ext uri="{BB962C8B-B14F-4D97-AF65-F5344CB8AC3E}">
        <p14:creationId xmlns:p14="http://schemas.microsoft.com/office/powerpoint/2010/main" val="258189110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125</a:t>
            </a:fld>
            <a:endParaRPr lang="ko-KR" altLang="en-US" dirty="0"/>
          </a:p>
        </p:txBody>
      </p:sp>
    </p:spTree>
    <p:extLst>
      <p:ext uri="{BB962C8B-B14F-4D97-AF65-F5344CB8AC3E}">
        <p14:creationId xmlns:p14="http://schemas.microsoft.com/office/powerpoint/2010/main" val="5959381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126</a:t>
            </a:fld>
            <a:endParaRPr lang="ko-KR" altLang="en-US" dirty="0"/>
          </a:p>
        </p:txBody>
      </p:sp>
    </p:spTree>
    <p:extLst>
      <p:ext uri="{BB962C8B-B14F-4D97-AF65-F5344CB8AC3E}">
        <p14:creationId xmlns:p14="http://schemas.microsoft.com/office/powerpoint/2010/main" val="325923788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127</a:t>
            </a:fld>
            <a:endParaRPr lang="ko-KR" altLang="en-US" dirty="0"/>
          </a:p>
        </p:txBody>
      </p:sp>
    </p:spTree>
    <p:extLst>
      <p:ext uri="{BB962C8B-B14F-4D97-AF65-F5344CB8AC3E}">
        <p14:creationId xmlns:p14="http://schemas.microsoft.com/office/powerpoint/2010/main" val="268853091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128</a:t>
            </a:fld>
            <a:endParaRPr lang="ko-KR" altLang="en-US" dirty="0"/>
          </a:p>
        </p:txBody>
      </p:sp>
    </p:spTree>
    <p:extLst>
      <p:ext uri="{BB962C8B-B14F-4D97-AF65-F5344CB8AC3E}">
        <p14:creationId xmlns:p14="http://schemas.microsoft.com/office/powerpoint/2010/main" val="312187165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129</a:t>
            </a:fld>
            <a:endParaRPr lang="ko-KR" altLang="en-US" dirty="0"/>
          </a:p>
        </p:txBody>
      </p:sp>
    </p:spTree>
    <p:extLst>
      <p:ext uri="{BB962C8B-B14F-4D97-AF65-F5344CB8AC3E}">
        <p14:creationId xmlns:p14="http://schemas.microsoft.com/office/powerpoint/2010/main" val="353358794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130</a:t>
            </a:fld>
            <a:endParaRPr lang="ko-KR" altLang="en-US" dirty="0"/>
          </a:p>
        </p:txBody>
      </p:sp>
    </p:spTree>
    <p:extLst>
      <p:ext uri="{BB962C8B-B14F-4D97-AF65-F5344CB8AC3E}">
        <p14:creationId xmlns:p14="http://schemas.microsoft.com/office/powerpoint/2010/main" val="243275038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131</a:t>
            </a:fld>
            <a:endParaRPr lang="ko-KR" altLang="en-US" dirty="0"/>
          </a:p>
        </p:txBody>
      </p:sp>
    </p:spTree>
    <p:extLst>
      <p:ext uri="{BB962C8B-B14F-4D97-AF65-F5344CB8AC3E}">
        <p14:creationId xmlns:p14="http://schemas.microsoft.com/office/powerpoint/2010/main" val="121262231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132</a:t>
            </a:fld>
            <a:endParaRPr lang="ko-KR" altLang="en-US" dirty="0"/>
          </a:p>
        </p:txBody>
      </p:sp>
    </p:spTree>
    <p:extLst>
      <p:ext uri="{BB962C8B-B14F-4D97-AF65-F5344CB8AC3E}">
        <p14:creationId xmlns:p14="http://schemas.microsoft.com/office/powerpoint/2010/main" val="101946768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133</a:t>
            </a:fld>
            <a:endParaRPr lang="ko-KR" altLang="en-US" dirty="0"/>
          </a:p>
        </p:txBody>
      </p:sp>
    </p:spTree>
    <p:extLst>
      <p:ext uri="{BB962C8B-B14F-4D97-AF65-F5344CB8AC3E}">
        <p14:creationId xmlns:p14="http://schemas.microsoft.com/office/powerpoint/2010/main" val="211064822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134</a:t>
            </a:fld>
            <a:endParaRPr lang="ko-KR" altLang="en-US" dirty="0"/>
          </a:p>
        </p:txBody>
      </p:sp>
    </p:spTree>
    <p:extLst>
      <p:ext uri="{BB962C8B-B14F-4D97-AF65-F5344CB8AC3E}">
        <p14:creationId xmlns:p14="http://schemas.microsoft.com/office/powerpoint/2010/main" val="96176577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135</a:t>
            </a:fld>
            <a:endParaRPr lang="ko-KR" altLang="en-US" dirty="0"/>
          </a:p>
        </p:txBody>
      </p:sp>
    </p:spTree>
    <p:extLst>
      <p:ext uri="{BB962C8B-B14F-4D97-AF65-F5344CB8AC3E}">
        <p14:creationId xmlns:p14="http://schemas.microsoft.com/office/powerpoint/2010/main" val="76285446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136</a:t>
            </a:fld>
            <a:endParaRPr lang="ko-KR" altLang="en-US" dirty="0"/>
          </a:p>
        </p:txBody>
      </p:sp>
    </p:spTree>
    <p:extLst>
      <p:ext uri="{BB962C8B-B14F-4D97-AF65-F5344CB8AC3E}">
        <p14:creationId xmlns:p14="http://schemas.microsoft.com/office/powerpoint/2010/main" val="42147702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137</a:t>
            </a:fld>
            <a:endParaRPr lang="ko-KR" altLang="en-US" dirty="0"/>
          </a:p>
        </p:txBody>
      </p:sp>
    </p:spTree>
    <p:extLst>
      <p:ext uri="{BB962C8B-B14F-4D97-AF65-F5344CB8AC3E}">
        <p14:creationId xmlns:p14="http://schemas.microsoft.com/office/powerpoint/2010/main" val="148798637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138</a:t>
            </a:fld>
            <a:endParaRPr lang="ko-KR" altLang="en-US" dirty="0"/>
          </a:p>
        </p:txBody>
      </p:sp>
    </p:spTree>
    <p:extLst>
      <p:ext uri="{BB962C8B-B14F-4D97-AF65-F5344CB8AC3E}">
        <p14:creationId xmlns:p14="http://schemas.microsoft.com/office/powerpoint/2010/main" val="225175120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139</a:t>
            </a:fld>
            <a:endParaRPr lang="ko-KR" altLang="en-US" dirty="0"/>
          </a:p>
        </p:txBody>
      </p:sp>
    </p:spTree>
    <p:extLst>
      <p:ext uri="{BB962C8B-B14F-4D97-AF65-F5344CB8AC3E}">
        <p14:creationId xmlns:p14="http://schemas.microsoft.com/office/powerpoint/2010/main" val="193078655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140</a:t>
            </a:fld>
            <a:endParaRPr lang="ko-KR" altLang="en-US" dirty="0"/>
          </a:p>
        </p:txBody>
      </p:sp>
    </p:spTree>
    <p:extLst>
      <p:ext uri="{BB962C8B-B14F-4D97-AF65-F5344CB8AC3E}">
        <p14:creationId xmlns:p14="http://schemas.microsoft.com/office/powerpoint/2010/main" val="1268017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141</a:t>
            </a:fld>
            <a:endParaRPr lang="ko-KR" altLang="en-US" dirty="0"/>
          </a:p>
        </p:txBody>
      </p:sp>
    </p:spTree>
    <p:extLst>
      <p:ext uri="{BB962C8B-B14F-4D97-AF65-F5344CB8AC3E}">
        <p14:creationId xmlns:p14="http://schemas.microsoft.com/office/powerpoint/2010/main" val="46120343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142</a:t>
            </a:fld>
            <a:endParaRPr lang="ko-KR" altLang="en-US" dirty="0"/>
          </a:p>
        </p:txBody>
      </p:sp>
    </p:spTree>
    <p:extLst>
      <p:ext uri="{BB962C8B-B14F-4D97-AF65-F5344CB8AC3E}">
        <p14:creationId xmlns:p14="http://schemas.microsoft.com/office/powerpoint/2010/main" val="24091291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143</a:t>
            </a:fld>
            <a:endParaRPr lang="ko-KR" altLang="en-US" dirty="0"/>
          </a:p>
        </p:txBody>
      </p:sp>
    </p:spTree>
    <p:extLst>
      <p:ext uri="{BB962C8B-B14F-4D97-AF65-F5344CB8AC3E}">
        <p14:creationId xmlns:p14="http://schemas.microsoft.com/office/powerpoint/2010/main" val="41775164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144</a:t>
            </a:fld>
            <a:endParaRPr lang="ko-KR" altLang="en-US" dirty="0"/>
          </a:p>
        </p:txBody>
      </p:sp>
    </p:spTree>
    <p:extLst>
      <p:ext uri="{BB962C8B-B14F-4D97-AF65-F5344CB8AC3E}">
        <p14:creationId xmlns:p14="http://schemas.microsoft.com/office/powerpoint/2010/main" val="420778778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145</a:t>
            </a:fld>
            <a:endParaRPr lang="ko-KR" altLang="en-US" dirty="0"/>
          </a:p>
        </p:txBody>
      </p:sp>
    </p:spTree>
    <p:extLst>
      <p:ext uri="{BB962C8B-B14F-4D97-AF65-F5344CB8AC3E}">
        <p14:creationId xmlns:p14="http://schemas.microsoft.com/office/powerpoint/2010/main" val="328023848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146</a:t>
            </a:fld>
            <a:endParaRPr lang="ko-KR" altLang="en-US" dirty="0"/>
          </a:p>
        </p:txBody>
      </p:sp>
    </p:spTree>
    <p:extLst>
      <p:ext uri="{BB962C8B-B14F-4D97-AF65-F5344CB8AC3E}">
        <p14:creationId xmlns:p14="http://schemas.microsoft.com/office/powerpoint/2010/main" val="220757419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147</a:t>
            </a:fld>
            <a:endParaRPr lang="ko-KR" altLang="en-US" dirty="0"/>
          </a:p>
        </p:txBody>
      </p:sp>
    </p:spTree>
    <p:extLst>
      <p:ext uri="{BB962C8B-B14F-4D97-AF65-F5344CB8AC3E}">
        <p14:creationId xmlns:p14="http://schemas.microsoft.com/office/powerpoint/2010/main" val="13693832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148</a:t>
            </a:fld>
            <a:endParaRPr lang="ko-KR" altLang="en-US" dirty="0"/>
          </a:p>
        </p:txBody>
      </p:sp>
    </p:spTree>
    <p:extLst>
      <p:ext uri="{BB962C8B-B14F-4D97-AF65-F5344CB8AC3E}">
        <p14:creationId xmlns:p14="http://schemas.microsoft.com/office/powerpoint/2010/main" val="160838621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149</a:t>
            </a:fld>
            <a:endParaRPr lang="ko-KR" altLang="en-US" dirty="0"/>
          </a:p>
        </p:txBody>
      </p:sp>
    </p:spTree>
    <p:extLst>
      <p:ext uri="{BB962C8B-B14F-4D97-AF65-F5344CB8AC3E}">
        <p14:creationId xmlns:p14="http://schemas.microsoft.com/office/powerpoint/2010/main" val="1518208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150</a:t>
            </a:fld>
            <a:endParaRPr lang="ko-KR" altLang="en-US" dirty="0"/>
          </a:p>
        </p:txBody>
      </p:sp>
    </p:spTree>
    <p:extLst>
      <p:ext uri="{BB962C8B-B14F-4D97-AF65-F5344CB8AC3E}">
        <p14:creationId xmlns:p14="http://schemas.microsoft.com/office/powerpoint/2010/main" val="46029722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151</a:t>
            </a:fld>
            <a:endParaRPr lang="ko-KR" altLang="en-US" dirty="0"/>
          </a:p>
        </p:txBody>
      </p:sp>
    </p:spTree>
    <p:extLst>
      <p:ext uri="{BB962C8B-B14F-4D97-AF65-F5344CB8AC3E}">
        <p14:creationId xmlns:p14="http://schemas.microsoft.com/office/powerpoint/2010/main" val="324299385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152</a:t>
            </a:fld>
            <a:endParaRPr lang="ko-KR" altLang="en-US" dirty="0"/>
          </a:p>
        </p:txBody>
      </p:sp>
    </p:spTree>
    <p:extLst>
      <p:ext uri="{BB962C8B-B14F-4D97-AF65-F5344CB8AC3E}">
        <p14:creationId xmlns:p14="http://schemas.microsoft.com/office/powerpoint/2010/main" val="189668844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153</a:t>
            </a:fld>
            <a:endParaRPr lang="ko-KR" altLang="en-US" dirty="0"/>
          </a:p>
        </p:txBody>
      </p:sp>
    </p:spTree>
    <p:extLst>
      <p:ext uri="{BB962C8B-B14F-4D97-AF65-F5344CB8AC3E}">
        <p14:creationId xmlns:p14="http://schemas.microsoft.com/office/powerpoint/2010/main" val="19614907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154</a:t>
            </a:fld>
            <a:endParaRPr lang="ko-KR" altLang="en-US" dirty="0"/>
          </a:p>
        </p:txBody>
      </p:sp>
    </p:spTree>
    <p:extLst>
      <p:ext uri="{BB962C8B-B14F-4D97-AF65-F5344CB8AC3E}">
        <p14:creationId xmlns:p14="http://schemas.microsoft.com/office/powerpoint/2010/main" val="388298169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155</a:t>
            </a:fld>
            <a:endParaRPr lang="ko-KR" altLang="en-US" dirty="0"/>
          </a:p>
        </p:txBody>
      </p:sp>
    </p:spTree>
    <p:extLst>
      <p:ext uri="{BB962C8B-B14F-4D97-AF65-F5344CB8AC3E}">
        <p14:creationId xmlns:p14="http://schemas.microsoft.com/office/powerpoint/2010/main" val="144070914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156</a:t>
            </a:fld>
            <a:endParaRPr lang="ko-KR" altLang="en-US" dirty="0"/>
          </a:p>
        </p:txBody>
      </p:sp>
    </p:spTree>
    <p:extLst>
      <p:ext uri="{BB962C8B-B14F-4D97-AF65-F5344CB8AC3E}">
        <p14:creationId xmlns:p14="http://schemas.microsoft.com/office/powerpoint/2010/main" val="289731869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157</a:t>
            </a:fld>
            <a:endParaRPr lang="ko-KR" altLang="en-US" dirty="0"/>
          </a:p>
        </p:txBody>
      </p:sp>
    </p:spTree>
    <p:extLst>
      <p:ext uri="{BB962C8B-B14F-4D97-AF65-F5344CB8AC3E}">
        <p14:creationId xmlns:p14="http://schemas.microsoft.com/office/powerpoint/2010/main" val="3541526300"/>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158</a:t>
            </a:fld>
            <a:endParaRPr lang="ko-KR" altLang="en-US" dirty="0"/>
          </a:p>
        </p:txBody>
      </p:sp>
    </p:spTree>
    <p:extLst>
      <p:ext uri="{BB962C8B-B14F-4D97-AF65-F5344CB8AC3E}">
        <p14:creationId xmlns:p14="http://schemas.microsoft.com/office/powerpoint/2010/main" val="29075341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159</a:t>
            </a:fld>
            <a:endParaRPr lang="ko-KR" altLang="en-US" dirty="0"/>
          </a:p>
        </p:txBody>
      </p:sp>
    </p:spTree>
    <p:extLst>
      <p:ext uri="{BB962C8B-B14F-4D97-AF65-F5344CB8AC3E}">
        <p14:creationId xmlns:p14="http://schemas.microsoft.com/office/powerpoint/2010/main" val="270419087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160</a:t>
            </a:fld>
            <a:endParaRPr lang="ko-KR" altLang="en-US" dirty="0"/>
          </a:p>
        </p:txBody>
      </p:sp>
    </p:spTree>
    <p:extLst>
      <p:ext uri="{BB962C8B-B14F-4D97-AF65-F5344CB8AC3E}">
        <p14:creationId xmlns:p14="http://schemas.microsoft.com/office/powerpoint/2010/main" val="2950298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161</a:t>
            </a:fld>
            <a:endParaRPr lang="ko-KR" altLang="en-US" dirty="0"/>
          </a:p>
        </p:txBody>
      </p:sp>
    </p:spTree>
    <p:extLst>
      <p:ext uri="{BB962C8B-B14F-4D97-AF65-F5344CB8AC3E}">
        <p14:creationId xmlns:p14="http://schemas.microsoft.com/office/powerpoint/2010/main" val="319514930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162</a:t>
            </a:fld>
            <a:endParaRPr lang="ko-KR" altLang="en-US" dirty="0"/>
          </a:p>
        </p:txBody>
      </p:sp>
    </p:spTree>
    <p:extLst>
      <p:ext uri="{BB962C8B-B14F-4D97-AF65-F5344CB8AC3E}">
        <p14:creationId xmlns:p14="http://schemas.microsoft.com/office/powerpoint/2010/main" val="219399608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163</a:t>
            </a:fld>
            <a:endParaRPr lang="ko-KR" altLang="en-US" dirty="0"/>
          </a:p>
        </p:txBody>
      </p:sp>
    </p:spTree>
    <p:extLst>
      <p:ext uri="{BB962C8B-B14F-4D97-AF65-F5344CB8AC3E}">
        <p14:creationId xmlns:p14="http://schemas.microsoft.com/office/powerpoint/2010/main" val="425661597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164</a:t>
            </a:fld>
            <a:endParaRPr lang="ko-KR" altLang="en-US" dirty="0"/>
          </a:p>
        </p:txBody>
      </p:sp>
    </p:spTree>
    <p:extLst>
      <p:ext uri="{BB962C8B-B14F-4D97-AF65-F5344CB8AC3E}">
        <p14:creationId xmlns:p14="http://schemas.microsoft.com/office/powerpoint/2010/main" val="79951624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165</a:t>
            </a:fld>
            <a:endParaRPr lang="ko-KR" altLang="en-US" dirty="0"/>
          </a:p>
        </p:txBody>
      </p:sp>
    </p:spTree>
    <p:extLst>
      <p:ext uri="{BB962C8B-B14F-4D97-AF65-F5344CB8AC3E}">
        <p14:creationId xmlns:p14="http://schemas.microsoft.com/office/powerpoint/2010/main" val="243232214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166</a:t>
            </a:fld>
            <a:endParaRPr lang="ko-KR" altLang="en-US" dirty="0"/>
          </a:p>
        </p:txBody>
      </p:sp>
    </p:spTree>
    <p:extLst>
      <p:ext uri="{BB962C8B-B14F-4D97-AF65-F5344CB8AC3E}">
        <p14:creationId xmlns:p14="http://schemas.microsoft.com/office/powerpoint/2010/main" val="696561344"/>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167</a:t>
            </a:fld>
            <a:endParaRPr lang="ko-KR" altLang="en-US" dirty="0"/>
          </a:p>
        </p:txBody>
      </p:sp>
    </p:spTree>
    <p:extLst>
      <p:ext uri="{BB962C8B-B14F-4D97-AF65-F5344CB8AC3E}">
        <p14:creationId xmlns:p14="http://schemas.microsoft.com/office/powerpoint/2010/main" val="326972552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168</a:t>
            </a:fld>
            <a:endParaRPr lang="ko-KR" altLang="en-US" dirty="0"/>
          </a:p>
        </p:txBody>
      </p:sp>
    </p:spTree>
    <p:extLst>
      <p:ext uri="{BB962C8B-B14F-4D97-AF65-F5344CB8AC3E}">
        <p14:creationId xmlns:p14="http://schemas.microsoft.com/office/powerpoint/2010/main" val="261100122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169</a:t>
            </a:fld>
            <a:endParaRPr lang="ko-KR" altLang="en-US" dirty="0"/>
          </a:p>
        </p:txBody>
      </p:sp>
    </p:spTree>
    <p:extLst>
      <p:ext uri="{BB962C8B-B14F-4D97-AF65-F5344CB8AC3E}">
        <p14:creationId xmlns:p14="http://schemas.microsoft.com/office/powerpoint/2010/main" val="217500347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170</a:t>
            </a:fld>
            <a:endParaRPr lang="ko-KR" altLang="en-US" dirty="0"/>
          </a:p>
        </p:txBody>
      </p:sp>
    </p:spTree>
    <p:extLst>
      <p:ext uri="{BB962C8B-B14F-4D97-AF65-F5344CB8AC3E}">
        <p14:creationId xmlns:p14="http://schemas.microsoft.com/office/powerpoint/2010/main" val="421908077"/>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171</a:t>
            </a:fld>
            <a:endParaRPr lang="ko-KR" altLang="en-US" dirty="0"/>
          </a:p>
        </p:txBody>
      </p:sp>
    </p:spTree>
    <p:extLst>
      <p:ext uri="{BB962C8B-B14F-4D97-AF65-F5344CB8AC3E}">
        <p14:creationId xmlns:p14="http://schemas.microsoft.com/office/powerpoint/2010/main" val="95796681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172</a:t>
            </a:fld>
            <a:endParaRPr lang="ko-KR" altLang="en-US" dirty="0"/>
          </a:p>
        </p:txBody>
      </p:sp>
    </p:spTree>
    <p:extLst>
      <p:ext uri="{BB962C8B-B14F-4D97-AF65-F5344CB8AC3E}">
        <p14:creationId xmlns:p14="http://schemas.microsoft.com/office/powerpoint/2010/main" val="554998659"/>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173</a:t>
            </a:fld>
            <a:endParaRPr lang="ko-KR" altLang="en-US" dirty="0"/>
          </a:p>
        </p:txBody>
      </p:sp>
    </p:spTree>
    <p:extLst>
      <p:ext uri="{BB962C8B-B14F-4D97-AF65-F5344CB8AC3E}">
        <p14:creationId xmlns:p14="http://schemas.microsoft.com/office/powerpoint/2010/main" val="219663241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174</a:t>
            </a:fld>
            <a:endParaRPr lang="ko-KR" altLang="en-US" dirty="0"/>
          </a:p>
        </p:txBody>
      </p:sp>
    </p:spTree>
    <p:extLst>
      <p:ext uri="{BB962C8B-B14F-4D97-AF65-F5344CB8AC3E}">
        <p14:creationId xmlns:p14="http://schemas.microsoft.com/office/powerpoint/2010/main" val="1001817076"/>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175</a:t>
            </a:fld>
            <a:endParaRPr lang="ko-KR" altLang="en-US" dirty="0"/>
          </a:p>
        </p:txBody>
      </p:sp>
    </p:spTree>
    <p:extLst>
      <p:ext uri="{BB962C8B-B14F-4D97-AF65-F5344CB8AC3E}">
        <p14:creationId xmlns:p14="http://schemas.microsoft.com/office/powerpoint/2010/main" val="101476532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176</a:t>
            </a:fld>
            <a:endParaRPr lang="ko-KR" altLang="en-US" dirty="0"/>
          </a:p>
        </p:txBody>
      </p:sp>
    </p:spTree>
    <p:extLst>
      <p:ext uri="{BB962C8B-B14F-4D97-AF65-F5344CB8AC3E}">
        <p14:creationId xmlns:p14="http://schemas.microsoft.com/office/powerpoint/2010/main" val="3860667278"/>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177</a:t>
            </a:fld>
            <a:endParaRPr lang="ko-KR" altLang="en-US" dirty="0"/>
          </a:p>
        </p:txBody>
      </p:sp>
    </p:spTree>
    <p:extLst>
      <p:ext uri="{BB962C8B-B14F-4D97-AF65-F5344CB8AC3E}">
        <p14:creationId xmlns:p14="http://schemas.microsoft.com/office/powerpoint/2010/main" val="3968835686"/>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178</a:t>
            </a:fld>
            <a:endParaRPr lang="ko-KR" altLang="en-US" dirty="0"/>
          </a:p>
        </p:txBody>
      </p:sp>
    </p:spTree>
    <p:extLst>
      <p:ext uri="{BB962C8B-B14F-4D97-AF65-F5344CB8AC3E}">
        <p14:creationId xmlns:p14="http://schemas.microsoft.com/office/powerpoint/2010/main" val="4114177059"/>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179</a:t>
            </a:fld>
            <a:endParaRPr lang="ko-KR" altLang="en-US" dirty="0"/>
          </a:p>
        </p:txBody>
      </p:sp>
    </p:spTree>
    <p:extLst>
      <p:ext uri="{BB962C8B-B14F-4D97-AF65-F5344CB8AC3E}">
        <p14:creationId xmlns:p14="http://schemas.microsoft.com/office/powerpoint/2010/main" val="2865700538"/>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180</a:t>
            </a:fld>
            <a:endParaRPr lang="ko-KR" altLang="en-US" dirty="0"/>
          </a:p>
        </p:txBody>
      </p:sp>
    </p:spTree>
    <p:extLst>
      <p:ext uri="{BB962C8B-B14F-4D97-AF65-F5344CB8AC3E}">
        <p14:creationId xmlns:p14="http://schemas.microsoft.com/office/powerpoint/2010/main" val="2195659009"/>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181</a:t>
            </a:fld>
            <a:endParaRPr lang="ko-KR" altLang="en-US" dirty="0"/>
          </a:p>
        </p:txBody>
      </p:sp>
    </p:spTree>
    <p:extLst>
      <p:ext uri="{BB962C8B-B14F-4D97-AF65-F5344CB8AC3E}">
        <p14:creationId xmlns:p14="http://schemas.microsoft.com/office/powerpoint/2010/main" val="95035153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182</a:t>
            </a:fld>
            <a:endParaRPr lang="ko-KR" altLang="en-US" dirty="0"/>
          </a:p>
        </p:txBody>
      </p:sp>
    </p:spTree>
    <p:extLst>
      <p:ext uri="{BB962C8B-B14F-4D97-AF65-F5344CB8AC3E}">
        <p14:creationId xmlns:p14="http://schemas.microsoft.com/office/powerpoint/2010/main" val="285818588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183</a:t>
            </a:fld>
            <a:endParaRPr lang="ko-KR" altLang="en-US" dirty="0"/>
          </a:p>
        </p:txBody>
      </p:sp>
    </p:spTree>
    <p:extLst>
      <p:ext uri="{BB962C8B-B14F-4D97-AF65-F5344CB8AC3E}">
        <p14:creationId xmlns:p14="http://schemas.microsoft.com/office/powerpoint/2010/main" val="620975876"/>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184</a:t>
            </a:fld>
            <a:endParaRPr lang="ko-KR" altLang="en-US" dirty="0"/>
          </a:p>
        </p:txBody>
      </p:sp>
    </p:spTree>
    <p:extLst>
      <p:ext uri="{BB962C8B-B14F-4D97-AF65-F5344CB8AC3E}">
        <p14:creationId xmlns:p14="http://schemas.microsoft.com/office/powerpoint/2010/main" val="169651719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185</a:t>
            </a:fld>
            <a:endParaRPr lang="ko-KR" altLang="en-US" dirty="0"/>
          </a:p>
        </p:txBody>
      </p:sp>
    </p:spTree>
    <p:extLst>
      <p:ext uri="{BB962C8B-B14F-4D97-AF65-F5344CB8AC3E}">
        <p14:creationId xmlns:p14="http://schemas.microsoft.com/office/powerpoint/2010/main" val="173361376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186</a:t>
            </a:fld>
            <a:endParaRPr lang="ko-KR" altLang="en-US" dirty="0"/>
          </a:p>
        </p:txBody>
      </p:sp>
    </p:spTree>
    <p:extLst>
      <p:ext uri="{BB962C8B-B14F-4D97-AF65-F5344CB8AC3E}">
        <p14:creationId xmlns:p14="http://schemas.microsoft.com/office/powerpoint/2010/main" val="3376075112"/>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187</a:t>
            </a:fld>
            <a:endParaRPr lang="ko-KR" altLang="en-US" dirty="0"/>
          </a:p>
        </p:txBody>
      </p:sp>
    </p:spTree>
    <p:extLst>
      <p:ext uri="{BB962C8B-B14F-4D97-AF65-F5344CB8AC3E}">
        <p14:creationId xmlns:p14="http://schemas.microsoft.com/office/powerpoint/2010/main" val="1789454907"/>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188</a:t>
            </a:fld>
            <a:endParaRPr lang="ko-KR" altLang="en-US" dirty="0"/>
          </a:p>
        </p:txBody>
      </p:sp>
    </p:spTree>
    <p:extLst>
      <p:ext uri="{BB962C8B-B14F-4D97-AF65-F5344CB8AC3E}">
        <p14:creationId xmlns:p14="http://schemas.microsoft.com/office/powerpoint/2010/main" val="10771170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189</a:t>
            </a:fld>
            <a:endParaRPr lang="ko-KR" altLang="en-US" dirty="0"/>
          </a:p>
        </p:txBody>
      </p:sp>
    </p:spTree>
    <p:extLst>
      <p:ext uri="{BB962C8B-B14F-4D97-AF65-F5344CB8AC3E}">
        <p14:creationId xmlns:p14="http://schemas.microsoft.com/office/powerpoint/2010/main" val="2397097910"/>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190</a:t>
            </a:fld>
            <a:endParaRPr lang="ko-KR" altLang="en-US" dirty="0"/>
          </a:p>
        </p:txBody>
      </p:sp>
    </p:spTree>
    <p:extLst>
      <p:ext uri="{BB962C8B-B14F-4D97-AF65-F5344CB8AC3E}">
        <p14:creationId xmlns:p14="http://schemas.microsoft.com/office/powerpoint/2010/main" val="3310279398"/>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191</a:t>
            </a:fld>
            <a:endParaRPr lang="ko-KR" altLang="en-US" dirty="0"/>
          </a:p>
        </p:txBody>
      </p:sp>
    </p:spTree>
    <p:extLst>
      <p:ext uri="{BB962C8B-B14F-4D97-AF65-F5344CB8AC3E}">
        <p14:creationId xmlns:p14="http://schemas.microsoft.com/office/powerpoint/2010/main" val="2290268886"/>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192</a:t>
            </a:fld>
            <a:endParaRPr lang="ko-KR" altLang="en-US" dirty="0"/>
          </a:p>
        </p:txBody>
      </p:sp>
    </p:spTree>
    <p:extLst>
      <p:ext uri="{BB962C8B-B14F-4D97-AF65-F5344CB8AC3E}">
        <p14:creationId xmlns:p14="http://schemas.microsoft.com/office/powerpoint/2010/main" val="1548090184"/>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193</a:t>
            </a:fld>
            <a:endParaRPr lang="ko-KR" altLang="en-US" dirty="0"/>
          </a:p>
        </p:txBody>
      </p:sp>
    </p:spTree>
    <p:extLst>
      <p:ext uri="{BB962C8B-B14F-4D97-AF65-F5344CB8AC3E}">
        <p14:creationId xmlns:p14="http://schemas.microsoft.com/office/powerpoint/2010/main" val="188672002"/>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194</a:t>
            </a:fld>
            <a:endParaRPr lang="ko-KR" altLang="en-US" dirty="0"/>
          </a:p>
        </p:txBody>
      </p:sp>
    </p:spTree>
    <p:extLst>
      <p:ext uri="{BB962C8B-B14F-4D97-AF65-F5344CB8AC3E}">
        <p14:creationId xmlns:p14="http://schemas.microsoft.com/office/powerpoint/2010/main" val="1803309447"/>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195</a:t>
            </a:fld>
            <a:endParaRPr lang="ko-KR" altLang="en-US" dirty="0"/>
          </a:p>
        </p:txBody>
      </p:sp>
    </p:spTree>
    <p:extLst>
      <p:ext uri="{BB962C8B-B14F-4D97-AF65-F5344CB8AC3E}">
        <p14:creationId xmlns:p14="http://schemas.microsoft.com/office/powerpoint/2010/main" val="2908677104"/>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196</a:t>
            </a:fld>
            <a:endParaRPr lang="ko-KR" altLang="en-US" dirty="0"/>
          </a:p>
        </p:txBody>
      </p:sp>
    </p:spTree>
    <p:extLst>
      <p:ext uri="{BB962C8B-B14F-4D97-AF65-F5344CB8AC3E}">
        <p14:creationId xmlns:p14="http://schemas.microsoft.com/office/powerpoint/2010/main" val="178546833"/>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197</a:t>
            </a:fld>
            <a:endParaRPr lang="ko-KR" altLang="en-US" dirty="0"/>
          </a:p>
        </p:txBody>
      </p:sp>
    </p:spTree>
    <p:extLst>
      <p:ext uri="{BB962C8B-B14F-4D97-AF65-F5344CB8AC3E}">
        <p14:creationId xmlns:p14="http://schemas.microsoft.com/office/powerpoint/2010/main" val="303666156"/>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198</a:t>
            </a:fld>
            <a:endParaRPr lang="ko-KR" altLang="en-US" dirty="0"/>
          </a:p>
        </p:txBody>
      </p:sp>
    </p:spTree>
    <p:extLst>
      <p:ext uri="{BB962C8B-B14F-4D97-AF65-F5344CB8AC3E}">
        <p14:creationId xmlns:p14="http://schemas.microsoft.com/office/powerpoint/2010/main" val="61375190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199</a:t>
            </a:fld>
            <a:endParaRPr lang="ko-KR" altLang="en-US" dirty="0"/>
          </a:p>
        </p:txBody>
      </p:sp>
    </p:spTree>
    <p:extLst>
      <p:ext uri="{BB962C8B-B14F-4D97-AF65-F5344CB8AC3E}">
        <p14:creationId xmlns:p14="http://schemas.microsoft.com/office/powerpoint/2010/main" val="248556502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200</a:t>
            </a:fld>
            <a:endParaRPr lang="ko-KR" altLang="en-US" dirty="0"/>
          </a:p>
        </p:txBody>
      </p:sp>
    </p:spTree>
    <p:extLst>
      <p:ext uri="{BB962C8B-B14F-4D97-AF65-F5344CB8AC3E}">
        <p14:creationId xmlns:p14="http://schemas.microsoft.com/office/powerpoint/2010/main" val="2310141942"/>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201</a:t>
            </a:fld>
            <a:endParaRPr lang="ko-KR" altLang="en-US" dirty="0"/>
          </a:p>
        </p:txBody>
      </p:sp>
    </p:spTree>
    <p:extLst>
      <p:ext uri="{BB962C8B-B14F-4D97-AF65-F5344CB8AC3E}">
        <p14:creationId xmlns:p14="http://schemas.microsoft.com/office/powerpoint/2010/main" val="398602020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202</a:t>
            </a:fld>
            <a:endParaRPr lang="ko-KR" altLang="en-US" dirty="0"/>
          </a:p>
        </p:txBody>
      </p:sp>
    </p:spTree>
    <p:extLst>
      <p:ext uri="{BB962C8B-B14F-4D97-AF65-F5344CB8AC3E}">
        <p14:creationId xmlns:p14="http://schemas.microsoft.com/office/powerpoint/2010/main" val="693869852"/>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203</a:t>
            </a:fld>
            <a:endParaRPr lang="ko-KR" altLang="en-US" dirty="0"/>
          </a:p>
        </p:txBody>
      </p:sp>
    </p:spTree>
    <p:extLst>
      <p:ext uri="{BB962C8B-B14F-4D97-AF65-F5344CB8AC3E}">
        <p14:creationId xmlns:p14="http://schemas.microsoft.com/office/powerpoint/2010/main" val="1764320115"/>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204</a:t>
            </a:fld>
            <a:endParaRPr lang="ko-KR" altLang="en-US" dirty="0"/>
          </a:p>
        </p:txBody>
      </p:sp>
    </p:spTree>
    <p:extLst>
      <p:ext uri="{BB962C8B-B14F-4D97-AF65-F5344CB8AC3E}">
        <p14:creationId xmlns:p14="http://schemas.microsoft.com/office/powerpoint/2010/main" val="1765721087"/>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205</a:t>
            </a:fld>
            <a:endParaRPr lang="ko-KR" altLang="en-US" dirty="0"/>
          </a:p>
        </p:txBody>
      </p:sp>
    </p:spTree>
    <p:extLst>
      <p:ext uri="{BB962C8B-B14F-4D97-AF65-F5344CB8AC3E}">
        <p14:creationId xmlns:p14="http://schemas.microsoft.com/office/powerpoint/2010/main" val="1456182834"/>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206</a:t>
            </a:fld>
            <a:endParaRPr lang="ko-KR" altLang="en-US" dirty="0"/>
          </a:p>
        </p:txBody>
      </p:sp>
    </p:spTree>
    <p:extLst>
      <p:ext uri="{BB962C8B-B14F-4D97-AF65-F5344CB8AC3E}">
        <p14:creationId xmlns:p14="http://schemas.microsoft.com/office/powerpoint/2010/main" val="1302185230"/>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207</a:t>
            </a:fld>
            <a:endParaRPr lang="ko-KR" altLang="en-US" dirty="0"/>
          </a:p>
        </p:txBody>
      </p:sp>
    </p:spTree>
    <p:extLst>
      <p:ext uri="{BB962C8B-B14F-4D97-AF65-F5344CB8AC3E}">
        <p14:creationId xmlns:p14="http://schemas.microsoft.com/office/powerpoint/2010/main" val="523827935"/>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208</a:t>
            </a:fld>
            <a:endParaRPr lang="ko-KR" altLang="en-US" dirty="0"/>
          </a:p>
        </p:txBody>
      </p:sp>
    </p:spTree>
    <p:extLst>
      <p:ext uri="{BB962C8B-B14F-4D97-AF65-F5344CB8AC3E}">
        <p14:creationId xmlns:p14="http://schemas.microsoft.com/office/powerpoint/2010/main" val="2108320936"/>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209</a:t>
            </a:fld>
            <a:endParaRPr lang="ko-KR" altLang="en-US" dirty="0"/>
          </a:p>
        </p:txBody>
      </p:sp>
    </p:spTree>
    <p:extLst>
      <p:ext uri="{BB962C8B-B14F-4D97-AF65-F5344CB8AC3E}">
        <p14:creationId xmlns:p14="http://schemas.microsoft.com/office/powerpoint/2010/main" val="4001850099"/>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210</a:t>
            </a:fld>
            <a:endParaRPr lang="ko-KR" altLang="en-US" dirty="0"/>
          </a:p>
        </p:txBody>
      </p:sp>
    </p:spTree>
    <p:extLst>
      <p:ext uri="{BB962C8B-B14F-4D97-AF65-F5344CB8AC3E}">
        <p14:creationId xmlns:p14="http://schemas.microsoft.com/office/powerpoint/2010/main" val="3574001754"/>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211</a:t>
            </a:fld>
            <a:endParaRPr lang="ko-KR" altLang="en-US" dirty="0"/>
          </a:p>
        </p:txBody>
      </p:sp>
    </p:spTree>
    <p:extLst>
      <p:ext uri="{BB962C8B-B14F-4D97-AF65-F5344CB8AC3E}">
        <p14:creationId xmlns:p14="http://schemas.microsoft.com/office/powerpoint/2010/main" val="262867092"/>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212</a:t>
            </a:fld>
            <a:endParaRPr lang="ko-KR" altLang="en-US" dirty="0"/>
          </a:p>
        </p:txBody>
      </p:sp>
    </p:spTree>
    <p:extLst>
      <p:ext uri="{BB962C8B-B14F-4D97-AF65-F5344CB8AC3E}">
        <p14:creationId xmlns:p14="http://schemas.microsoft.com/office/powerpoint/2010/main" val="1480586837"/>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213</a:t>
            </a:fld>
            <a:endParaRPr lang="ko-KR" altLang="en-US" dirty="0"/>
          </a:p>
        </p:txBody>
      </p:sp>
    </p:spTree>
    <p:extLst>
      <p:ext uri="{BB962C8B-B14F-4D97-AF65-F5344CB8AC3E}">
        <p14:creationId xmlns:p14="http://schemas.microsoft.com/office/powerpoint/2010/main" val="2774727127"/>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214</a:t>
            </a:fld>
            <a:endParaRPr lang="ko-KR" altLang="en-US" dirty="0"/>
          </a:p>
        </p:txBody>
      </p:sp>
    </p:spTree>
    <p:extLst>
      <p:ext uri="{BB962C8B-B14F-4D97-AF65-F5344CB8AC3E}">
        <p14:creationId xmlns:p14="http://schemas.microsoft.com/office/powerpoint/2010/main" val="117372962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215</a:t>
            </a:fld>
            <a:endParaRPr lang="ko-KR" altLang="en-US" dirty="0"/>
          </a:p>
        </p:txBody>
      </p:sp>
    </p:spTree>
    <p:extLst>
      <p:ext uri="{BB962C8B-B14F-4D97-AF65-F5344CB8AC3E}">
        <p14:creationId xmlns:p14="http://schemas.microsoft.com/office/powerpoint/2010/main" val="2511760144"/>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216</a:t>
            </a:fld>
            <a:endParaRPr lang="ko-KR" altLang="en-US" dirty="0"/>
          </a:p>
        </p:txBody>
      </p:sp>
    </p:spTree>
    <p:extLst>
      <p:ext uri="{BB962C8B-B14F-4D97-AF65-F5344CB8AC3E}">
        <p14:creationId xmlns:p14="http://schemas.microsoft.com/office/powerpoint/2010/main" val="972562316"/>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217</a:t>
            </a:fld>
            <a:endParaRPr lang="ko-KR" altLang="en-US" dirty="0"/>
          </a:p>
        </p:txBody>
      </p:sp>
    </p:spTree>
    <p:extLst>
      <p:ext uri="{BB962C8B-B14F-4D97-AF65-F5344CB8AC3E}">
        <p14:creationId xmlns:p14="http://schemas.microsoft.com/office/powerpoint/2010/main" val="212886004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218</a:t>
            </a:fld>
            <a:endParaRPr lang="ko-KR" altLang="en-US" dirty="0"/>
          </a:p>
        </p:txBody>
      </p:sp>
    </p:spTree>
    <p:extLst>
      <p:ext uri="{BB962C8B-B14F-4D97-AF65-F5344CB8AC3E}">
        <p14:creationId xmlns:p14="http://schemas.microsoft.com/office/powerpoint/2010/main" val="282813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219</a:t>
            </a:fld>
            <a:endParaRPr lang="ko-KR" altLang="en-US" dirty="0"/>
          </a:p>
        </p:txBody>
      </p:sp>
    </p:spTree>
    <p:extLst>
      <p:ext uri="{BB962C8B-B14F-4D97-AF65-F5344CB8AC3E}">
        <p14:creationId xmlns:p14="http://schemas.microsoft.com/office/powerpoint/2010/main" val="310694354"/>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220</a:t>
            </a:fld>
            <a:endParaRPr lang="ko-KR" altLang="en-US" dirty="0"/>
          </a:p>
        </p:txBody>
      </p:sp>
    </p:spTree>
    <p:extLst>
      <p:ext uri="{BB962C8B-B14F-4D97-AF65-F5344CB8AC3E}">
        <p14:creationId xmlns:p14="http://schemas.microsoft.com/office/powerpoint/2010/main" val="4012917316"/>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221</a:t>
            </a:fld>
            <a:endParaRPr lang="ko-KR" altLang="en-US" dirty="0"/>
          </a:p>
        </p:txBody>
      </p:sp>
    </p:spTree>
    <p:extLst>
      <p:ext uri="{BB962C8B-B14F-4D97-AF65-F5344CB8AC3E}">
        <p14:creationId xmlns:p14="http://schemas.microsoft.com/office/powerpoint/2010/main" val="4125938814"/>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222</a:t>
            </a:fld>
            <a:endParaRPr lang="ko-KR" altLang="en-US" dirty="0"/>
          </a:p>
        </p:txBody>
      </p:sp>
    </p:spTree>
    <p:extLst>
      <p:ext uri="{BB962C8B-B14F-4D97-AF65-F5344CB8AC3E}">
        <p14:creationId xmlns:p14="http://schemas.microsoft.com/office/powerpoint/2010/main" val="3148872625"/>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223</a:t>
            </a:fld>
            <a:endParaRPr lang="ko-KR" altLang="en-US" dirty="0"/>
          </a:p>
        </p:txBody>
      </p:sp>
    </p:spTree>
    <p:extLst>
      <p:ext uri="{BB962C8B-B14F-4D97-AF65-F5344CB8AC3E}">
        <p14:creationId xmlns:p14="http://schemas.microsoft.com/office/powerpoint/2010/main" val="993296762"/>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224</a:t>
            </a:fld>
            <a:endParaRPr lang="ko-KR" altLang="en-US" dirty="0"/>
          </a:p>
        </p:txBody>
      </p:sp>
    </p:spTree>
    <p:extLst>
      <p:ext uri="{BB962C8B-B14F-4D97-AF65-F5344CB8AC3E}">
        <p14:creationId xmlns:p14="http://schemas.microsoft.com/office/powerpoint/2010/main" val="1865060260"/>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225</a:t>
            </a:fld>
            <a:endParaRPr lang="ko-KR" altLang="en-US" dirty="0"/>
          </a:p>
        </p:txBody>
      </p:sp>
    </p:spTree>
    <p:extLst>
      <p:ext uri="{BB962C8B-B14F-4D97-AF65-F5344CB8AC3E}">
        <p14:creationId xmlns:p14="http://schemas.microsoft.com/office/powerpoint/2010/main" val="1488835490"/>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226</a:t>
            </a:fld>
            <a:endParaRPr lang="ko-KR" altLang="en-US" dirty="0"/>
          </a:p>
        </p:txBody>
      </p:sp>
    </p:spTree>
    <p:extLst>
      <p:ext uri="{BB962C8B-B14F-4D97-AF65-F5344CB8AC3E}">
        <p14:creationId xmlns:p14="http://schemas.microsoft.com/office/powerpoint/2010/main" val="2040915422"/>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227</a:t>
            </a:fld>
            <a:endParaRPr lang="ko-KR" altLang="en-US" dirty="0"/>
          </a:p>
        </p:txBody>
      </p:sp>
    </p:spTree>
    <p:extLst>
      <p:ext uri="{BB962C8B-B14F-4D97-AF65-F5344CB8AC3E}">
        <p14:creationId xmlns:p14="http://schemas.microsoft.com/office/powerpoint/2010/main" val="108329127"/>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228</a:t>
            </a:fld>
            <a:endParaRPr lang="ko-KR" altLang="en-US" dirty="0"/>
          </a:p>
        </p:txBody>
      </p:sp>
    </p:spTree>
    <p:extLst>
      <p:ext uri="{BB962C8B-B14F-4D97-AF65-F5344CB8AC3E}">
        <p14:creationId xmlns:p14="http://schemas.microsoft.com/office/powerpoint/2010/main" val="809430917"/>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229</a:t>
            </a:fld>
            <a:endParaRPr lang="ko-KR" altLang="en-US" dirty="0"/>
          </a:p>
        </p:txBody>
      </p:sp>
    </p:spTree>
    <p:extLst>
      <p:ext uri="{BB962C8B-B14F-4D97-AF65-F5344CB8AC3E}">
        <p14:creationId xmlns:p14="http://schemas.microsoft.com/office/powerpoint/2010/main" val="2220903433"/>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230</a:t>
            </a:fld>
            <a:endParaRPr lang="ko-KR" altLang="en-US" dirty="0"/>
          </a:p>
        </p:txBody>
      </p:sp>
    </p:spTree>
    <p:extLst>
      <p:ext uri="{BB962C8B-B14F-4D97-AF65-F5344CB8AC3E}">
        <p14:creationId xmlns:p14="http://schemas.microsoft.com/office/powerpoint/2010/main" val="1422035815"/>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231</a:t>
            </a:fld>
            <a:endParaRPr lang="ko-KR" altLang="en-US" dirty="0"/>
          </a:p>
        </p:txBody>
      </p:sp>
    </p:spTree>
    <p:extLst>
      <p:ext uri="{BB962C8B-B14F-4D97-AF65-F5344CB8AC3E}">
        <p14:creationId xmlns:p14="http://schemas.microsoft.com/office/powerpoint/2010/main" val="211359583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232</a:t>
            </a:fld>
            <a:endParaRPr lang="ko-KR" altLang="en-US" dirty="0"/>
          </a:p>
        </p:txBody>
      </p:sp>
    </p:spTree>
    <p:extLst>
      <p:ext uri="{BB962C8B-B14F-4D97-AF65-F5344CB8AC3E}">
        <p14:creationId xmlns:p14="http://schemas.microsoft.com/office/powerpoint/2010/main" val="388968502"/>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233</a:t>
            </a:fld>
            <a:endParaRPr lang="ko-KR" altLang="en-US" dirty="0"/>
          </a:p>
        </p:txBody>
      </p:sp>
    </p:spTree>
    <p:extLst>
      <p:ext uri="{BB962C8B-B14F-4D97-AF65-F5344CB8AC3E}">
        <p14:creationId xmlns:p14="http://schemas.microsoft.com/office/powerpoint/2010/main" val="453321416"/>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234</a:t>
            </a:fld>
            <a:endParaRPr lang="ko-KR" altLang="en-US" dirty="0"/>
          </a:p>
        </p:txBody>
      </p:sp>
    </p:spTree>
    <p:extLst>
      <p:ext uri="{BB962C8B-B14F-4D97-AF65-F5344CB8AC3E}">
        <p14:creationId xmlns:p14="http://schemas.microsoft.com/office/powerpoint/2010/main" val="2350728136"/>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235</a:t>
            </a:fld>
            <a:endParaRPr lang="ko-KR" altLang="en-US" dirty="0"/>
          </a:p>
        </p:txBody>
      </p:sp>
    </p:spTree>
    <p:extLst>
      <p:ext uri="{BB962C8B-B14F-4D97-AF65-F5344CB8AC3E}">
        <p14:creationId xmlns:p14="http://schemas.microsoft.com/office/powerpoint/2010/main" val="2966107278"/>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236</a:t>
            </a:fld>
            <a:endParaRPr lang="ko-KR" altLang="en-US" dirty="0"/>
          </a:p>
        </p:txBody>
      </p:sp>
    </p:spTree>
    <p:extLst>
      <p:ext uri="{BB962C8B-B14F-4D97-AF65-F5344CB8AC3E}">
        <p14:creationId xmlns:p14="http://schemas.microsoft.com/office/powerpoint/2010/main" val="261531554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237</a:t>
            </a:fld>
            <a:endParaRPr lang="ko-KR" altLang="en-US" dirty="0"/>
          </a:p>
        </p:txBody>
      </p:sp>
    </p:spTree>
    <p:extLst>
      <p:ext uri="{BB962C8B-B14F-4D97-AF65-F5344CB8AC3E}">
        <p14:creationId xmlns:p14="http://schemas.microsoft.com/office/powerpoint/2010/main" val="911813633"/>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238</a:t>
            </a:fld>
            <a:endParaRPr lang="ko-KR" altLang="en-US" dirty="0"/>
          </a:p>
        </p:txBody>
      </p:sp>
    </p:spTree>
    <p:extLst>
      <p:ext uri="{BB962C8B-B14F-4D97-AF65-F5344CB8AC3E}">
        <p14:creationId xmlns:p14="http://schemas.microsoft.com/office/powerpoint/2010/main" val="3503939107"/>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239</a:t>
            </a:fld>
            <a:endParaRPr lang="ko-KR" altLang="en-US" dirty="0"/>
          </a:p>
        </p:txBody>
      </p:sp>
    </p:spTree>
    <p:extLst>
      <p:ext uri="{BB962C8B-B14F-4D97-AF65-F5344CB8AC3E}">
        <p14:creationId xmlns:p14="http://schemas.microsoft.com/office/powerpoint/2010/main" val="327812513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240</a:t>
            </a:fld>
            <a:endParaRPr lang="ko-KR" altLang="en-US" dirty="0"/>
          </a:p>
        </p:txBody>
      </p:sp>
    </p:spTree>
    <p:extLst>
      <p:ext uri="{BB962C8B-B14F-4D97-AF65-F5344CB8AC3E}">
        <p14:creationId xmlns:p14="http://schemas.microsoft.com/office/powerpoint/2010/main" val="2567605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241</a:t>
            </a:fld>
            <a:endParaRPr lang="ko-KR" altLang="en-US" dirty="0"/>
          </a:p>
        </p:txBody>
      </p:sp>
    </p:spTree>
    <p:extLst>
      <p:ext uri="{BB962C8B-B14F-4D97-AF65-F5344CB8AC3E}">
        <p14:creationId xmlns:p14="http://schemas.microsoft.com/office/powerpoint/2010/main" val="3530249504"/>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242</a:t>
            </a:fld>
            <a:endParaRPr lang="ko-KR" altLang="en-US" dirty="0"/>
          </a:p>
        </p:txBody>
      </p:sp>
    </p:spTree>
    <p:extLst>
      <p:ext uri="{BB962C8B-B14F-4D97-AF65-F5344CB8AC3E}">
        <p14:creationId xmlns:p14="http://schemas.microsoft.com/office/powerpoint/2010/main" val="2633923039"/>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243</a:t>
            </a:fld>
            <a:endParaRPr lang="ko-KR" altLang="en-US" dirty="0"/>
          </a:p>
        </p:txBody>
      </p:sp>
    </p:spTree>
    <p:extLst>
      <p:ext uri="{BB962C8B-B14F-4D97-AF65-F5344CB8AC3E}">
        <p14:creationId xmlns:p14="http://schemas.microsoft.com/office/powerpoint/2010/main" val="4192323168"/>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244</a:t>
            </a:fld>
            <a:endParaRPr lang="ko-KR" altLang="en-US" dirty="0"/>
          </a:p>
        </p:txBody>
      </p:sp>
    </p:spTree>
    <p:extLst>
      <p:ext uri="{BB962C8B-B14F-4D97-AF65-F5344CB8AC3E}">
        <p14:creationId xmlns:p14="http://schemas.microsoft.com/office/powerpoint/2010/main" val="1303367753"/>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pandas is a must have library when dealing with data.</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It is versatile and powerful. It is packed full of useful features.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It is no overstatement to say that you begin our journey in data science with the pandas library!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245</a:t>
            </a:fld>
            <a:endParaRPr lang="ko-KR" altLang="en-US" dirty="0"/>
          </a:p>
        </p:txBody>
      </p:sp>
    </p:spTree>
    <p:extLst>
      <p:ext uri="{BB962C8B-B14F-4D97-AF65-F5344CB8AC3E}">
        <p14:creationId xmlns:p14="http://schemas.microsoft.com/office/powerpoint/2010/main" val="2655240497"/>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246</a:t>
            </a:fld>
            <a:endParaRPr lang="ko-KR" altLang="en-US" dirty="0"/>
          </a:p>
        </p:txBody>
      </p:sp>
    </p:spTree>
    <p:extLst>
      <p:ext uri="{BB962C8B-B14F-4D97-AF65-F5344CB8AC3E}">
        <p14:creationId xmlns:p14="http://schemas.microsoft.com/office/powerpoint/2010/main" val="3026965849"/>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247</a:t>
            </a:fld>
            <a:endParaRPr lang="ko-KR" altLang="en-US" dirty="0"/>
          </a:p>
        </p:txBody>
      </p:sp>
    </p:spTree>
    <p:extLst>
      <p:ext uri="{BB962C8B-B14F-4D97-AF65-F5344CB8AC3E}">
        <p14:creationId xmlns:p14="http://schemas.microsoft.com/office/powerpoint/2010/main" val="78894005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248</a:t>
            </a:fld>
            <a:endParaRPr lang="ko-KR" altLang="en-US" dirty="0"/>
          </a:p>
        </p:txBody>
      </p:sp>
    </p:spTree>
    <p:extLst>
      <p:ext uri="{BB962C8B-B14F-4D97-AF65-F5344CB8AC3E}">
        <p14:creationId xmlns:p14="http://schemas.microsoft.com/office/powerpoint/2010/main" val="2649142390"/>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249</a:t>
            </a:fld>
            <a:endParaRPr lang="ko-KR" altLang="en-US" dirty="0"/>
          </a:p>
        </p:txBody>
      </p:sp>
    </p:spTree>
    <p:extLst>
      <p:ext uri="{BB962C8B-B14F-4D97-AF65-F5344CB8AC3E}">
        <p14:creationId xmlns:p14="http://schemas.microsoft.com/office/powerpoint/2010/main" val="1054654293"/>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250</a:t>
            </a:fld>
            <a:endParaRPr lang="ko-KR" altLang="en-US" dirty="0"/>
          </a:p>
        </p:txBody>
      </p:sp>
    </p:spTree>
    <p:extLst>
      <p:ext uri="{BB962C8B-B14F-4D97-AF65-F5344CB8AC3E}">
        <p14:creationId xmlns:p14="http://schemas.microsoft.com/office/powerpoint/2010/main" val="375423816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251</a:t>
            </a:fld>
            <a:endParaRPr lang="ko-KR" altLang="en-US" dirty="0"/>
          </a:p>
        </p:txBody>
      </p:sp>
    </p:spTree>
    <p:extLst>
      <p:ext uri="{BB962C8B-B14F-4D97-AF65-F5344CB8AC3E}">
        <p14:creationId xmlns:p14="http://schemas.microsoft.com/office/powerpoint/2010/main" val="599448714"/>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252</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826913334"/>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Suppose that you have two data tables or DataFrames.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You would like to merge (join) them side by side.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253</a:t>
            </a:fld>
            <a:endParaRPr lang="ko-KR" altLang="en-US" dirty="0"/>
          </a:p>
        </p:txBody>
      </p:sp>
    </p:spTree>
    <p:extLst>
      <p:ext uri="{BB962C8B-B14F-4D97-AF65-F5344CB8AC3E}">
        <p14:creationId xmlns:p14="http://schemas.microsoft.com/office/powerpoint/2010/main" val="2141351705"/>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You can merge the DataFrames by using a common key variable.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In this example, “Name” is a variable that is shared by the DataFrames A (left) and B (right).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You can identify the rows (observations) where the key variable has the same value.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254</a:t>
            </a:fld>
            <a:endParaRPr lang="ko-KR" altLang="en-US" dirty="0"/>
          </a:p>
        </p:txBody>
      </p:sp>
    </p:spTree>
    <p:extLst>
      <p:ext uri="{BB962C8B-B14F-4D97-AF65-F5344CB8AC3E}">
        <p14:creationId xmlns:p14="http://schemas.microsoft.com/office/powerpoint/2010/main" val="1253747783"/>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Inner join means merging the DataFrames only for those rows (observations) where the key variable has the same values.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255</a:t>
            </a:fld>
            <a:endParaRPr lang="ko-KR" altLang="en-US" dirty="0"/>
          </a:p>
        </p:txBody>
      </p:sp>
    </p:spTree>
    <p:extLst>
      <p:ext uri="{BB962C8B-B14F-4D97-AF65-F5344CB8AC3E}">
        <p14:creationId xmlns:p14="http://schemas.microsoft.com/office/powerpoint/2010/main" val="1992217245"/>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After the inner join, the resulting DataFrame is composed of the intersection of A and B.</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256</a:t>
            </a:fld>
            <a:endParaRPr lang="ko-KR" altLang="en-US" dirty="0"/>
          </a:p>
        </p:txBody>
      </p:sp>
    </p:spTree>
    <p:extLst>
      <p:ext uri="{BB962C8B-B14F-4D97-AF65-F5344CB8AC3E}">
        <p14:creationId xmlns:p14="http://schemas.microsoft.com/office/powerpoint/2010/main" val="3230103163"/>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For the left join, all the rows of the A (left) are kept.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While from the B (right), only the intersection (by the key variable) is brought in for merging.</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257</a:t>
            </a:fld>
            <a:endParaRPr lang="ko-KR" altLang="en-US" dirty="0"/>
          </a:p>
        </p:txBody>
      </p:sp>
    </p:spTree>
    <p:extLst>
      <p:ext uri="{BB962C8B-B14F-4D97-AF65-F5344CB8AC3E}">
        <p14:creationId xmlns:p14="http://schemas.microsoft.com/office/powerpoint/2010/main" val="3396159343"/>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After the left join, the resulting DataFrame may have missing values on the right hand side. </a:t>
            </a: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258</a:t>
            </a:fld>
            <a:endParaRPr lang="ko-KR" altLang="en-US" dirty="0"/>
          </a:p>
        </p:txBody>
      </p:sp>
    </p:spTree>
    <p:extLst>
      <p:ext uri="{BB962C8B-B14F-4D97-AF65-F5344CB8AC3E}">
        <p14:creationId xmlns:p14="http://schemas.microsoft.com/office/powerpoint/2010/main" val="4094408733"/>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the right join, all the rows of the B (right) are kept.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While from the A (left), only the intersection (by the key variable) is brought in for merging.</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259</a:t>
            </a:fld>
            <a:endParaRPr lang="ko-KR" altLang="en-US" dirty="0"/>
          </a:p>
        </p:txBody>
      </p:sp>
    </p:spTree>
    <p:extLst>
      <p:ext uri="{BB962C8B-B14F-4D97-AF65-F5344CB8AC3E}">
        <p14:creationId xmlns:p14="http://schemas.microsoft.com/office/powerpoint/2010/main" val="2829803632"/>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After the right join, the resulting DataFrame may have missing values on the left hand side.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260</a:t>
            </a:fld>
            <a:endParaRPr lang="ko-KR" altLang="en-US" dirty="0"/>
          </a:p>
        </p:txBody>
      </p:sp>
    </p:spTree>
    <p:extLst>
      <p:ext uri="{BB962C8B-B14F-4D97-AF65-F5344CB8AC3E}">
        <p14:creationId xmlns:p14="http://schemas.microsoft.com/office/powerpoint/2010/main" val="2530610783"/>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the full outer join, all the rows of the A (left) and the B (right) are kept.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261</a:t>
            </a:fld>
            <a:endParaRPr lang="ko-KR" altLang="en-US" dirty="0"/>
          </a:p>
        </p:txBody>
      </p:sp>
    </p:spTree>
    <p:extLst>
      <p:ext uri="{BB962C8B-B14F-4D97-AF65-F5344CB8AC3E}">
        <p14:creationId xmlns:p14="http://schemas.microsoft.com/office/powerpoint/2010/main" val="773252032"/>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After the full outer join, the resulting DataFrame may have missing values on the left as well as on the right.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262</a:t>
            </a:fld>
            <a:endParaRPr lang="ko-KR" altLang="en-US" dirty="0"/>
          </a:p>
        </p:txBody>
      </p:sp>
    </p:spTree>
    <p:extLst>
      <p:ext uri="{BB962C8B-B14F-4D97-AF65-F5344CB8AC3E}">
        <p14:creationId xmlns:p14="http://schemas.microsoft.com/office/powerpoint/2010/main" val="1493367373"/>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263</a:t>
            </a:fld>
            <a:endParaRPr lang="ko-KR" altLang="en-US" dirty="0"/>
          </a:p>
        </p:txBody>
      </p:sp>
    </p:spTree>
    <p:extLst>
      <p:ext uri="{BB962C8B-B14F-4D97-AF65-F5344CB8AC3E}">
        <p14:creationId xmlns:p14="http://schemas.microsoft.com/office/powerpoint/2010/main" val="1923039164"/>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264</a:t>
            </a:fld>
            <a:endParaRPr lang="ko-KR" altLang="en-US" dirty="0"/>
          </a:p>
        </p:txBody>
      </p:sp>
    </p:spTree>
    <p:extLst>
      <p:ext uri="{BB962C8B-B14F-4D97-AF65-F5344CB8AC3E}">
        <p14:creationId xmlns:p14="http://schemas.microsoft.com/office/powerpoint/2010/main" val="423800875"/>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265</a:t>
            </a:fld>
            <a:endParaRPr lang="ko-KR" altLang="en-US" dirty="0"/>
          </a:p>
        </p:txBody>
      </p:sp>
    </p:spTree>
    <p:extLst>
      <p:ext uri="{BB962C8B-B14F-4D97-AF65-F5344CB8AC3E}">
        <p14:creationId xmlns:p14="http://schemas.microsoft.com/office/powerpoint/2010/main" val="370020964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266</a:t>
            </a:fld>
            <a:endParaRPr lang="ko-KR" altLang="en-US" dirty="0"/>
          </a:p>
        </p:txBody>
      </p:sp>
    </p:spTree>
    <p:extLst>
      <p:ext uri="{BB962C8B-B14F-4D97-AF65-F5344CB8AC3E}">
        <p14:creationId xmlns:p14="http://schemas.microsoft.com/office/powerpoint/2010/main" val="1902608854"/>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267</a:t>
            </a:fld>
            <a:endParaRPr lang="ko-KR" altLang="en-US" dirty="0"/>
          </a:p>
        </p:txBody>
      </p:sp>
    </p:spTree>
    <p:extLst>
      <p:ext uri="{BB962C8B-B14F-4D97-AF65-F5344CB8AC3E}">
        <p14:creationId xmlns:p14="http://schemas.microsoft.com/office/powerpoint/2010/main" val="3650591676"/>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268</a:t>
            </a:fld>
            <a:endParaRPr lang="ko-KR" altLang="en-US" dirty="0"/>
          </a:p>
        </p:txBody>
      </p:sp>
    </p:spTree>
    <p:extLst>
      <p:ext uri="{BB962C8B-B14F-4D97-AF65-F5344CB8AC3E}">
        <p14:creationId xmlns:p14="http://schemas.microsoft.com/office/powerpoint/2010/main" val="1042735696"/>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269</a:t>
            </a:fld>
            <a:endParaRPr lang="ko-KR" altLang="en-US" dirty="0"/>
          </a:p>
        </p:txBody>
      </p:sp>
    </p:spTree>
    <p:extLst>
      <p:ext uri="{BB962C8B-B14F-4D97-AF65-F5344CB8AC3E}">
        <p14:creationId xmlns:p14="http://schemas.microsoft.com/office/powerpoint/2010/main" val="2957573714"/>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270</a:t>
            </a:fld>
            <a:endParaRPr lang="ko-KR" altLang="en-US" dirty="0"/>
          </a:p>
        </p:txBody>
      </p:sp>
    </p:spTree>
    <p:extLst>
      <p:ext uri="{BB962C8B-B14F-4D97-AF65-F5344CB8AC3E}">
        <p14:creationId xmlns:p14="http://schemas.microsoft.com/office/powerpoint/2010/main" val="877341693"/>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271</a:t>
            </a:fld>
            <a:endParaRPr lang="ko-KR" altLang="en-US" dirty="0"/>
          </a:p>
        </p:txBody>
      </p:sp>
    </p:spTree>
    <p:extLst>
      <p:ext uri="{BB962C8B-B14F-4D97-AF65-F5344CB8AC3E}">
        <p14:creationId xmlns:p14="http://schemas.microsoft.com/office/powerpoint/2010/main" val="2382950687"/>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272</a:t>
            </a:fld>
            <a:endParaRPr lang="ko-KR" altLang="en-US" dirty="0"/>
          </a:p>
        </p:txBody>
      </p:sp>
    </p:spTree>
    <p:extLst>
      <p:ext uri="{BB962C8B-B14F-4D97-AF65-F5344CB8AC3E}">
        <p14:creationId xmlns:p14="http://schemas.microsoft.com/office/powerpoint/2010/main" val="2717363455"/>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273</a:t>
            </a:fld>
            <a:endParaRPr lang="ko-KR" altLang="en-US" dirty="0"/>
          </a:p>
        </p:txBody>
      </p:sp>
    </p:spTree>
    <p:extLst>
      <p:ext uri="{BB962C8B-B14F-4D97-AF65-F5344CB8AC3E}">
        <p14:creationId xmlns:p14="http://schemas.microsoft.com/office/powerpoint/2010/main" val="674688690"/>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274</a:t>
            </a:fld>
            <a:endParaRPr lang="ko-KR" altLang="en-US" dirty="0"/>
          </a:p>
        </p:txBody>
      </p:sp>
    </p:spTree>
    <p:extLst>
      <p:ext uri="{BB962C8B-B14F-4D97-AF65-F5344CB8AC3E}">
        <p14:creationId xmlns:p14="http://schemas.microsoft.com/office/powerpoint/2010/main" val="1183275233"/>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275</a:t>
            </a:fld>
            <a:endParaRPr lang="ko-KR" altLang="en-US" dirty="0"/>
          </a:p>
        </p:txBody>
      </p:sp>
    </p:spTree>
    <p:extLst>
      <p:ext uri="{BB962C8B-B14F-4D97-AF65-F5344CB8AC3E}">
        <p14:creationId xmlns:p14="http://schemas.microsoft.com/office/powerpoint/2010/main" val="2867640296"/>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276</a:t>
            </a:fld>
            <a:endParaRPr lang="ko-KR" altLang="en-US" dirty="0"/>
          </a:p>
        </p:txBody>
      </p:sp>
    </p:spTree>
    <p:extLst>
      <p:ext uri="{BB962C8B-B14F-4D97-AF65-F5344CB8AC3E}">
        <p14:creationId xmlns:p14="http://schemas.microsoft.com/office/powerpoint/2010/main" val="1002966125"/>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277</a:t>
            </a:fld>
            <a:endParaRPr lang="ko-KR" altLang="en-US" dirty="0"/>
          </a:p>
        </p:txBody>
      </p:sp>
    </p:spTree>
    <p:extLst>
      <p:ext uri="{BB962C8B-B14F-4D97-AF65-F5344CB8AC3E}">
        <p14:creationId xmlns:p14="http://schemas.microsoft.com/office/powerpoint/2010/main" val="2732924582"/>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278</a:t>
            </a:fld>
            <a:endParaRPr lang="ko-KR" altLang="en-US" dirty="0"/>
          </a:p>
        </p:txBody>
      </p:sp>
    </p:spTree>
    <p:extLst>
      <p:ext uri="{BB962C8B-B14F-4D97-AF65-F5344CB8AC3E}">
        <p14:creationId xmlns:p14="http://schemas.microsoft.com/office/powerpoint/2010/main" val="204060115"/>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279</a:t>
            </a:fld>
            <a:endParaRPr lang="ko-KR" altLang="en-US" dirty="0"/>
          </a:p>
        </p:txBody>
      </p:sp>
    </p:spTree>
    <p:extLst>
      <p:ext uri="{BB962C8B-B14F-4D97-AF65-F5344CB8AC3E}">
        <p14:creationId xmlns:p14="http://schemas.microsoft.com/office/powerpoint/2010/main" val="2041644625"/>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280</a:t>
            </a:fld>
            <a:endParaRPr lang="ko-KR" altLang="en-US" dirty="0"/>
          </a:p>
        </p:txBody>
      </p:sp>
    </p:spTree>
    <p:extLst>
      <p:ext uri="{BB962C8B-B14F-4D97-AF65-F5344CB8AC3E}">
        <p14:creationId xmlns:p14="http://schemas.microsoft.com/office/powerpoint/2010/main" val="1992666227"/>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281</a:t>
            </a:fld>
            <a:endParaRPr lang="ko-KR" altLang="en-US" dirty="0"/>
          </a:p>
        </p:txBody>
      </p:sp>
    </p:spTree>
    <p:extLst>
      <p:ext uri="{BB962C8B-B14F-4D97-AF65-F5344CB8AC3E}">
        <p14:creationId xmlns:p14="http://schemas.microsoft.com/office/powerpoint/2010/main" val="167932196"/>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282</a:t>
            </a:fld>
            <a:endParaRPr lang="ko-KR" altLang="en-US" dirty="0"/>
          </a:p>
        </p:txBody>
      </p:sp>
    </p:spTree>
    <p:extLst>
      <p:ext uri="{BB962C8B-B14F-4D97-AF65-F5344CB8AC3E}">
        <p14:creationId xmlns:p14="http://schemas.microsoft.com/office/powerpoint/2010/main" val="46381896"/>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283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079756598"/>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You can sort a DataFrame with the sort_values() method.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In these examples, you explore a variety of scenarios.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284</a:t>
            </a:fld>
            <a:endParaRPr lang="ko-KR" altLang="en-US" dirty="0"/>
          </a:p>
        </p:txBody>
      </p:sp>
    </p:spTree>
    <p:extLst>
      <p:ext uri="{BB962C8B-B14F-4D97-AF65-F5344CB8AC3E}">
        <p14:creationId xmlns:p14="http://schemas.microsoft.com/office/powerpoint/2010/main" val="2645821484"/>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pandas supports hierarchical indexing through MultiIndex.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This example shows step by step how to create a MultiIndex object.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This object can be passed as value for the </a:t>
            </a:r>
            <a:r>
              <a:rPr lang="en-US" b="1" dirty="0"/>
              <a:t>index</a:t>
            </a:r>
            <a:r>
              <a:rPr lang="en-US" dirty="0"/>
              <a:t> argument when creating a DataFrame.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285</a:t>
            </a:fld>
            <a:endParaRPr lang="ko-KR" altLang="en-US" dirty="0"/>
          </a:p>
        </p:txBody>
      </p:sp>
    </p:spTree>
    <p:extLst>
      <p:ext uri="{BB962C8B-B14F-4D97-AF65-F5344CB8AC3E}">
        <p14:creationId xmlns:p14="http://schemas.microsoft.com/office/powerpoint/2010/main" val="3198389844"/>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286</a:t>
            </a:fld>
            <a:endParaRPr lang="ko-KR" altLang="en-US" dirty="0"/>
          </a:p>
        </p:txBody>
      </p:sp>
    </p:spTree>
    <p:extLst>
      <p:ext uri="{BB962C8B-B14F-4D97-AF65-F5344CB8AC3E}">
        <p14:creationId xmlns:p14="http://schemas.microsoft.com/office/powerpoint/2010/main" val="4132270782"/>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287</a:t>
            </a:fld>
            <a:endParaRPr lang="ko-KR" altLang="en-US" dirty="0"/>
          </a:p>
        </p:txBody>
      </p:sp>
    </p:spTree>
    <p:extLst>
      <p:ext uri="{BB962C8B-B14F-4D97-AF65-F5344CB8AC3E}">
        <p14:creationId xmlns:p14="http://schemas.microsoft.com/office/powerpoint/2010/main" val="988399492"/>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288</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069358362"/>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289</a:t>
            </a:fld>
            <a:endParaRPr lang="ko-KR" altLang="en-US" dirty="0"/>
          </a:p>
        </p:txBody>
      </p:sp>
    </p:spTree>
    <p:extLst>
      <p:ext uri="{BB962C8B-B14F-4D97-AF65-F5344CB8AC3E}">
        <p14:creationId xmlns:p14="http://schemas.microsoft.com/office/powerpoint/2010/main" val="3511787373"/>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290</a:t>
            </a:fld>
            <a:endParaRPr lang="ko-KR" altLang="en-US" dirty="0"/>
          </a:p>
        </p:txBody>
      </p:sp>
    </p:spTree>
    <p:extLst>
      <p:ext uri="{BB962C8B-B14F-4D97-AF65-F5344CB8AC3E}">
        <p14:creationId xmlns:p14="http://schemas.microsoft.com/office/powerpoint/2010/main" val="2869693056"/>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291</a:t>
            </a:fld>
            <a:endParaRPr lang="ko-KR" altLang="en-US" dirty="0"/>
          </a:p>
        </p:txBody>
      </p:sp>
    </p:spTree>
    <p:extLst>
      <p:ext uri="{BB962C8B-B14F-4D97-AF65-F5344CB8AC3E}">
        <p14:creationId xmlns:p14="http://schemas.microsoft.com/office/powerpoint/2010/main" val="1733187843"/>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292</a:t>
            </a:fld>
            <a:endParaRPr lang="ko-KR" altLang="en-US" dirty="0"/>
          </a:p>
        </p:txBody>
      </p:sp>
    </p:spTree>
    <p:extLst>
      <p:ext uri="{BB962C8B-B14F-4D97-AF65-F5344CB8AC3E}">
        <p14:creationId xmlns:p14="http://schemas.microsoft.com/office/powerpoint/2010/main" val="3490071817"/>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293</a:t>
            </a:fld>
            <a:endParaRPr lang="ko-KR" altLang="en-US" dirty="0"/>
          </a:p>
        </p:txBody>
      </p:sp>
    </p:spTree>
    <p:extLst>
      <p:ext uri="{BB962C8B-B14F-4D97-AF65-F5344CB8AC3E}">
        <p14:creationId xmlns:p14="http://schemas.microsoft.com/office/powerpoint/2010/main" val="449547658"/>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294</a:t>
            </a:fld>
            <a:endParaRPr lang="ko-KR" altLang="en-US" dirty="0"/>
          </a:p>
        </p:txBody>
      </p:sp>
    </p:spTree>
    <p:extLst>
      <p:ext uri="{BB962C8B-B14F-4D97-AF65-F5344CB8AC3E}">
        <p14:creationId xmlns:p14="http://schemas.microsoft.com/office/powerpoint/2010/main" val="1614400213"/>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295</a:t>
            </a:fld>
            <a:endParaRPr lang="ko-KR" altLang="en-US" dirty="0"/>
          </a:p>
        </p:txBody>
      </p:sp>
    </p:spTree>
    <p:extLst>
      <p:ext uri="{BB962C8B-B14F-4D97-AF65-F5344CB8AC3E}">
        <p14:creationId xmlns:p14="http://schemas.microsoft.com/office/powerpoint/2010/main" val="2364799509"/>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296</a:t>
            </a:fld>
            <a:endParaRPr lang="ko-KR" altLang="en-US" dirty="0"/>
          </a:p>
        </p:txBody>
      </p:sp>
    </p:spTree>
    <p:extLst>
      <p:ext uri="{BB962C8B-B14F-4D97-AF65-F5344CB8AC3E}">
        <p14:creationId xmlns:p14="http://schemas.microsoft.com/office/powerpoint/2010/main" val="428202458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297</a:t>
            </a:fld>
            <a:endParaRPr lang="ko-KR" altLang="en-US" dirty="0"/>
          </a:p>
        </p:txBody>
      </p:sp>
    </p:spTree>
    <p:extLst>
      <p:ext uri="{BB962C8B-B14F-4D97-AF65-F5344CB8AC3E}">
        <p14:creationId xmlns:p14="http://schemas.microsoft.com/office/powerpoint/2010/main" val="1313365376"/>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298</a:t>
            </a:fld>
            <a:endParaRPr lang="ko-KR" altLang="en-US" dirty="0"/>
          </a:p>
        </p:txBody>
      </p:sp>
    </p:spTree>
    <p:extLst>
      <p:ext uri="{BB962C8B-B14F-4D97-AF65-F5344CB8AC3E}">
        <p14:creationId xmlns:p14="http://schemas.microsoft.com/office/powerpoint/2010/main" val="760541722"/>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299</a:t>
            </a:fld>
            <a:endParaRPr lang="ko-KR" altLang="en-US" dirty="0"/>
          </a:p>
        </p:txBody>
      </p:sp>
    </p:spTree>
    <p:extLst>
      <p:ext uri="{BB962C8B-B14F-4D97-AF65-F5344CB8AC3E}">
        <p14:creationId xmlns:p14="http://schemas.microsoft.com/office/powerpoint/2010/main" val="224266875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300</a:t>
            </a:fld>
            <a:endParaRPr lang="ko-KR" altLang="en-US" dirty="0"/>
          </a:p>
        </p:txBody>
      </p:sp>
    </p:spTree>
    <p:extLst>
      <p:ext uri="{BB962C8B-B14F-4D97-AF65-F5344CB8AC3E}">
        <p14:creationId xmlns:p14="http://schemas.microsoft.com/office/powerpoint/2010/main" val="1772492803"/>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A DataFrame object comes with the standard set of statistical methods such as sum(), mean(), count(), corr(), etc.</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301</a:t>
            </a:fld>
            <a:endParaRPr lang="ko-KR" altLang="en-US" dirty="0"/>
          </a:p>
        </p:txBody>
      </p:sp>
    </p:spTree>
    <p:extLst>
      <p:ext uri="{BB962C8B-B14F-4D97-AF65-F5344CB8AC3E}">
        <p14:creationId xmlns:p14="http://schemas.microsoft.com/office/powerpoint/2010/main" val="35453572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302</a:t>
            </a:fld>
            <a:endParaRPr lang="ko-KR" altLang="en-US" dirty="0"/>
          </a:p>
        </p:txBody>
      </p:sp>
    </p:spTree>
    <p:extLst>
      <p:ext uri="{BB962C8B-B14F-4D97-AF65-F5344CB8AC3E}">
        <p14:creationId xmlns:p14="http://schemas.microsoft.com/office/powerpoint/2010/main" val="298189168"/>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There are useful methods that come with the DataFrame objects for the detection and processing of the missing values.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These examples are self-explanatory.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303</a:t>
            </a:fld>
            <a:endParaRPr lang="ko-KR" altLang="en-US" dirty="0"/>
          </a:p>
        </p:txBody>
      </p:sp>
    </p:spTree>
    <p:extLst>
      <p:ext uri="{BB962C8B-B14F-4D97-AF65-F5344CB8AC3E}">
        <p14:creationId xmlns:p14="http://schemas.microsoft.com/office/powerpoint/2010/main" val="1006882832"/>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304</a:t>
            </a:fld>
            <a:endParaRPr lang="ko-KR" altLang="en-US" dirty="0"/>
          </a:p>
        </p:txBody>
      </p:sp>
    </p:spTree>
    <p:extLst>
      <p:ext uri="{BB962C8B-B14F-4D97-AF65-F5344CB8AC3E}">
        <p14:creationId xmlns:p14="http://schemas.microsoft.com/office/powerpoint/2010/main" val="22053510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466643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
        <p:nvSpPr>
          <p:cNvPr id="2" name="Title 1">
            <a:extLst>
              <a:ext uri="{FF2B5EF4-FFF2-40B4-BE49-F238E27FC236}">
                <a16:creationId xmlns:a16="http://schemas.microsoft.com/office/drawing/2014/main" id="{E58EC76E-8CB6-D04F-B751-855F50EC3F99}"/>
              </a:ext>
            </a:extLst>
          </p:cNvPr>
          <p:cNvSpPr>
            <a:spLocks noGrp="1"/>
          </p:cNvSpPr>
          <p:nvPr>
            <p:ph type="title"/>
          </p:nvPr>
        </p:nvSpPr>
        <p:spPr>
          <a:xfrm>
            <a:off x="681038" y="365125"/>
            <a:ext cx="854075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20458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3" name="그룹 2">
            <a:extLst>
              <a:ext uri="{FF2B5EF4-FFF2-40B4-BE49-F238E27FC236}">
                <a16:creationId xmlns:a16="http://schemas.microsoft.com/office/drawing/2014/main" id="{423B230F-BF07-4420-8C5E-EAE4EFC61AF1}"/>
              </a:ext>
            </a:extLst>
          </p:cNvPr>
          <p:cNvGrpSpPr/>
          <p:nvPr userDrawn="1"/>
        </p:nvGrpSpPr>
        <p:grpSpPr>
          <a:xfrm>
            <a:off x="0" y="1"/>
            <a:ext cx="9902825" cy="999802"/>
            <a:chOff x="0" y="1"/>
            <a:chExt cx="9906000" cy="999802"/>
          </a:xfrm>
        </p:grpSpPr>
        <p:sp>
          <p:nvSpPr>
            <p:cNvPr id="10" name="직사각형 9">
              <a:extLst>
                <a:ext uri="{FF2B5EF4-FFF2-40B4-BE49-F238E27FC236}">
                  <a16:creationId xmlns:a16="http://schemas.microsoft.com/office/drawing/2014/main" id="{85CF76A4-51CF-4D05-A1A1-2F9ED08538A3}"/>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8" name="직사각형 7">
              <a:extLst>
                <a:ext uri="{FF2B5EF4-FFF2-40B4-BE49-F238E27FC236}">
                  <a16:creationId xmlns:a16="http://schemas.microsoft.com/office/drawing/2014/main" id="{B99AF68C-BDD5-4210-9E4D-B73D0E1AF2BC}"/>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16" name="그룹 15">
            <a:extLst>
              <a:ext uri="{FF2B5EF4-FFF2-40B4-BE49-F238E27FC236}">
                <a16:creationId xmlns:a16="http://schemas.microsoft.com/office/drawing/2014/main" id="{1AD70F94-445E-41A7-8574-B25CBA89D8C1}"/>
              </a:ext>
            </a:extLst>
          </p:cNvPr>
          <p:cNvGrpSpPr/>
          <p:nvPr userDrawn="1"/>
        </p:nvGrpSpPr>
        <p:grpSpPr>
          <a:xfrm>
            <a:off x="449855" y="1251376"/>
            <a:ext cx="9015111" cy="4993976"/>
            <a:chOff x="578678" y="1436154"/>
            <a:chExt cx="8748000" cy="4993976"/>
          </a:xfrm>
          <a:solidFill>
            <a:srgbClr val="ECEFF6"/>
          </a:solidFill>
        </p:grpSpPr>
        <p:sp>
          <p:nvSpPr>
            <p:cNvPr id="17" name="직사각형 16">
              <a:extLst>
                <a:ext uri="{FF2B5EF4-FFF2-40B4-BE49-F238E27FC236}">
                  <a16:creationId xmlns:a16="http://schemas.microsoft.com/office/drawing/2014/main" id="{DD7B4B47-6621-481B-B3CE-E8345036F393}"/>
                </a:ext>
              </a:extLst>
            </p:cNvPr>
            <p:cNvSpPr/>
            <p:nvPr/>
          </p:nvSpPr>
          <p:spPr>
            <a:xfrm>
              <a:off x="578678" y="1436154"/>
              <a:ext cx="8748000" cy="811746"/>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8" name="직사각형 17">
              <a:extLst>
                <a:ext uri="{FF2B5EF4-FFF2-40B4-BE49-F238E27FC236}">
                  <a16:creationId xmlns:a16="http://schemas.microsoft.com/office/drawing/2014/main" id="{CF06F76F-5148-46B2-9B1F-DC949288372A}"/>
                </a:ext>
              </a:extLst>
            </p:cNvPr>
            <p:cNvSpPr/>
            <p:nvPr/>
          </p:nvSpPr>
          <p:spPr>
            <a:xfrm>
              <a:off x="578678" y="2286000"/>
              <a:ext cx="8748000" cy="414413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9F696305-6820-48F1-BDDE-99074AB95DFF}"/>
                </a:ext>
              </a:extLst>
            </p:cNvPr>
            <p:cNvSpPr/>
            <p:nvPr/>
          </p:nvSpPr>
          <p:spPr>
            <a:xfrm>
              <a:off x="768350" y="1631455"/>
              <a:ext cx="1029652" cy="492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grpSp>
      <p:sp>
        <p:nvSpPr>
          <p:cNvPr id="20"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512958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id="{85278258-AEB2-4213-B5E6-13FC86FAB418}"/>
              </a:ext>
            </a:extLst>
          </p:cNvPr>
          <p:cNvGrpSpPr/>
          <p:nvPr userDrawn="1"/>
        </p:nvGrpSpPr>
        <p:grpSpPr>
          <a:xfrm>
            <a:off x="449468" y="1462227"/>
            <a:ext cx="9000714" cy="4500283"/>
            <a:chOff x="578678" y="1445207"/>
            <a:chExt cx="8748000" cy="4136077"/>
          </a:xfrm>
        </p:grpSpPr>
        <p:sp>
          <p:nvSpPr>
            <p:cNvPr id="52" name="직사각형 51">
              <a:extLst>
                <a:ext uri="{FF2B5EF4-FFF2-40B4-BE49-F238E27FC236}">
                  <a16:creationId xmlns:a16="http://schemas.microsoft.com/office/drawing/2014/main"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3" name="직사각형 52">
              <a:extLst>
                <a:ext uri="{FF2B5EF4-FFF2-40B4-BE49-F238E27FC236}">
                  <a16:creationId xmlns:a16="http://schemas.microsoft.com/office/drawing/2014/main"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4" name="이등변 삼각형 53">
              <a:extLst>
                <a:ext uri="{FF2B5EF4-FFF2-40B4-BE49-F238E27FC236}">
                  <a16:creationId xmlns:a16="http://schemas.microsoft.com/office/drawing/2014/main"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8" name="그룹 7">
            <a:extLst>
              <a:ext uri="{FF2B5EF4-FFF2-40B4-BE49-F238E27FC236}">
                <a16:creationId xmlns:a16="http://schemas.microsoft.com/office/drawing/2014/main" id="{E8CA0DD3-9254-499A-BE4D-7F93C9791163}"/>
              </a:ext>
            </a:extLst>
          </p:cNvPr>
          <p:cNvGrpSpPr/>
          <p:nvPr userDrawn="1"/>
        </p:nvGrpSpPr>
        <p:grpSpPr>
          <a:xfrm>
            <a:off x="747594" y="2408824"/>
            <a:ext cx="8536863" cy="3303528"/>
            <a:chOff x="747834" y="2129937"/>
            <a:chExt cx="8539600" cy="3303528"/>
          </a:xfrm>
        </p:grpSpPr>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5" name="그룹 34">
              <a:extLst>
                <a:ext uri="{FF2B5EF4-FFF2-40B4-BE49-F238E27FC236}">
                  <a16:creationId xmlns:a16="http://schemas.microsoft.com/office/drawing/2014/main"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619" y="1588472"/>
            <a:ext cx="661354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
        <p:nvSpPr>
          <p:cNvPr id="43"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4013709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7" name="그룹 6">
            <a:extLst>
              <a:ext uri="{FF2B5EF4-FFF2-40B4-BE49-F238E27FC236}">
                <a16:creationId xmlns:a16="http://schemas.microsoft.com/office/drawing/2014/main" id="{FDEC6B4D-744D-4E9D-89EE-6B4FB27E7344}"/>
              </a:ext>
            </a:extLst>
          </p:cNvPr>
          <p:cNvGrpSpPr/>
          <p:nvPr userDrawn="1"/>
        </p:nvGrpSpPr>
        <p:grpSpPr>
          <a:xfrm>
            <a:off x="449468" y="1462227"/>
            <a:ext cx="9000714" cy="4500283"/>
            <a:chOff x="449612" y="1219200"/>
            <a:chExt cx="9003600" cy="4500283"/>
          </a:xfrm>
        </p:grpSpPr>
        <p:grpSp>
          <p:nvGrpSpPr>
            <p:cNvPr id="2" name="그룹 1">
              <a:extLst>
                <a:ext uri="{FF2B5EF4-FFF2-40B4-BE49-F238E27FC236}">
                  <a16:creationId xmlns:a16="http://schemas.microsoft.com/office/drawing/2014/main"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
        <p:nvSpPr>
          <p:cNvPr id="3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SharpSans-Medium" pitchFamily="2" charset="0"/>
                <a:ea typeface="SamsungSharpSans-Medium" pitchFamily="2" charset="0"/>
                <a:cs typeface="SamsungSharpSans-Medium" pitchFamily="2" charset="0"/>
              </a:rPr>
              <a:t>Chapter 3. </a:t>
            </a:r>
            <a:r>
              <a:rPr lang="ko-KR" altLang="en-US" sz="900" dirty="0">
                <a:solidFill>
                  <a:schemeClr val="bg1">
                    <a:lumMod val="50000"/>
                  </a:schemeClr>
                </a:solidFill>
                <a:latin typeface="SamsungSharpSans-Medium" pitchFamily="2" charset="0"/>
                <a:ea typeface="SamsungSharpSans-Medium" pitchFamily="2" charset="0"/>
                <a:cs typeface="SamsungSharpSans-Medium" pitchFamily="2" charset="0"/>
              </a:rPr>
              <a:t>빠른 연산을 위한 </a:t>
            </a:r>
            <a:r>
              <a:rPr lang="en-US" altLang="ko-KR" sz="900" dirty="0">
                <a:solidFill>
                  <a:schemeClr val="bg1">
                    <a:lumMod val="50000"/>
                  </a:schemeClr>
                </a:solidFill>
                <a:latin typeface="SamsungSharpSans-Medium" pitchFamily="2" charset="0"/>
                <a:ea typeface="SamsungSharpSans-Medium" pitchFamily="2" charset="0"/>
                <a:cs typeface="SamsungSharpSans-Medium" pitchFamily="2" charset="0"/>
              </a:rPr>
              <a:t>NumPy</a:t>
            </a:r>
            <a:r>
              <a:rPr lang="ko-KR" altLang="en-US" sz="900" dirty="0">
                <a:solidFill>
                  <a:schemeClr val="bg1">
                    <a:lumMod val="50000"/>
                  </a:schemeClr>
                </a:solidFill>
                <a:latin typeface="SamsungSharpSans-Medium" pitchFamily="2" charset="0"/>
                <a:ea typeface="SamsungSharpSans-Medium" pitchFamily="2" charset="0"/>
                <a:cs typeface="SamsungSharpSans-Medium" pitchFamily="2" charset="0"/>
              </a:rPr>
              <a:t> 배열과 </a:t>
            </a:r>
            <a:r>
              <a:rPr lang="en-US" altLang="ko-KR" sz="900" dirty="0">
                <a:solidFill>
                  <a:schemeClr val="bg1">
                    <a:lumMod val="50000"/>
                  </a:schemeClr>
                </a:solidFill>
                <a:latin typeface="SamsungSharpSans-Medium" pitchFamily="2" charset="0"/>
                <a:ea typeface="SamsungSharpSans-Medium" pitchFamily="2" charset="0"/>
                <a:cs typeface="SamsungSharpSans-Medium" pitchFamily="2" charset="0"/>
              </a:rPr>
              <a:t>pandas</a:t>
            </a:r>
            <a:r>
              <a:rPr lang="ko-KR" altLang="en-US" sz="900" dirty="0">
                <a:solidFill>
                  <a:schemeClr val="bg1">
                    <a:lumMod val="50000"/>
                  </a:schemeClr>
                </a:solidFill>
                <a:latin typeface="SamsungSharpSans-Medium" pitchFamily="2" charset="0"/>
                <a:ea typeface="SamsungSharpSans-Medium" pitchFamily="2" charset="0"/>
                <a:cs typeface="SamsungSharpSans-Medium" pitchFamily="2" charset="0"/>
              </a:rPr>
              <a:t>를 활용한 탐색적 데이터 분석</a:t>
            </a:r>
          </a:p>
        </p:txBody>
      </p:sp>
    </p:spTree>
    <p:extLst>
      <p:ext uri="{BB962C8B-B14F-4D97-AF65-F5344CB8AC3E}">
        <p14:creationId xmlns:p14="http://schemas.microsoft.com/office/powerpoint/2010/main" val="4159768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3" name="직사각형 2"/>
          <p:cNvSpPr/>
          <p:nvPr userDrawn="1"/>
        </p:nvSpPr>
        <p:spPr>
          <a:xfrm>
            <a:off x="451162" y="1220478"/>
            <a:ext cx="8999020" cy="811746"/>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4" name="직사각형 3"/>
          <p:cNvSpPr/>
          <p:nvPr userDrawn="1"/>
        </p:nvSpPr>
        <p:spPr>
          <a:xfrm>
            <a:off x="451162" y="2070324"/>
            <a:ext cx="8999020" cy="4231864"/>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 name="직사각형 4">
            <a:extLst>
              <a:ext uri="{FF2B5EF4-FFF2-40B4-BE49-F238E27FC236}">
                <a16:creationId xmlns:a16="http://schemas.microsoft.com/office/drawing/2014/main" id="{3B885908-D506-4EF6-8EA9-375133536ADE}"/>
              </a:ext>
            </a:extLst>
          </p:cNvPr>
          <p:cNvSpPr/>
          <p:nvPr userDrawn="1"/>
        </p:nvSpPr>
        <p:spPr>
          <a:xfrm>
            <a:off x="646276" y="1415780"/>
            <a:ext cx="105919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pic>
        <p:nvPicPr>
          <p:cNvPr id="22" name="그림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2139" y="5406365"/>
            <a:ext cx="112868" cy="109719"/>
          </a:xfrm>
          <a:prstGeom prst="rect">
            <a:avLst/>
          </a:prstGeom>
        </p:spPr>
      </p:pic>
      <p:cxnSp>
        <p:nvCxnSpPr>
          <p:cNvPr id="14" name="직선 연결선 13">
            <a:extLst>
              <a:ext uri="{FF2B5EF4-FFF2-40B4-BE49-F238E27FC236}">
                <a16:creationId xmlns:a16="http://schemas.microsoft.com/office/drawing/2014/main" id="{3BBBBCF4-8F64-4C44-B381-7016C297D04F}"/>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슬라이드 번호 개체 틀 15">
            <a:extLst>
              <a:ext uri="{FF2B5EF4-FFF2-40B4-BE49-F238E27FC236}">
                <a16:creationId xmlns:a16="http://schemas.microsoft.com/office/drawing/2014/main" id="{2FC1FA6A-7119-4287-A121-C31068A9FCD3}"/>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94BFF8EC-69D9-42AE-A84D-CEFDE15AD513}"/>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27" name="그룹 26">
            <a:extLst>
              <a:ext uri="{FF2B5EF4-FFF2-40B4-BE49-F238E27FC236}">
                <a16:creationId xmlns:a16="http://schemas.microsoft.com/office/drawing/2014/main" id="{A3338F14-C71C-49FB-9B8F-636CAA3F7EFA}"/>
              </a:ext>
            </a:extLst>
          </p:cNvPr>
          <p:cNvGrpSpPr/>
          <p:nvPr userDrawn="1"/>
        </p:nvGrpSpPr>
        <p:grpSpPr>
          <a:xfrm>
            <a:off x="0" y="1"/>
            <a:ext cx="9902825" cy="999802"/>
            <a:chOff x="0" y="1"/>
            <a:chExt cx="9906000" cy="999802"/>
          </a:xfrm>
        </p:grpSpPr>
        <p:sp>
          <p:nvSpPr>
            <p:cNvPr id="28" name="직사각형 27">
              <a:extLst>
                <a:ext uri="{FF2B5EF4-FFF2-40B4-BE49-F238E27FC236}">
                  <a16:creationId xmlns:a16="http://schemas.microsoft.com/office/drawing/2014/main" id="{845141B1-0821-46A7-A897-9E66E1D5B440}"/>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29" name="직사각형 28">
              <a:extLst>
                <a:ext uri="{FF2B5EF4-FFF2-40B4-BE49-F238E27FC236}">
                  <a16:creationId xmlns:a16="http://schemas.microsoft.com/office/drawing/2014/main" id="{1C7333F1-B594-4B0D-BB31-CF147773CE81}"/>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sp>
        <p:nvSpPr>
          <p:cNvPr id="13"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3312563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670280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2021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281179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093141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2464999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reak Time Slide">
    <p:spTree>
      <p:nvGrpSpPr>
        <p:cNvPr id="1" name=""/>
        <p:cNvGrpSpPr/>
        <p:nvPr/>
      </p:nvGrpSpPr>
      <p:grpSpPr>
        <a:xfrm>
          <a:off x="0" y="0"/>
          <a:ext cx="0" cy="0"/>
          <a:chOff x="0" y="0"/>
          <a:chExt cx="0" cy="0"/>
        </a:xfrm>
      </p:grpSpPr>
      <p:sp>
        <p:nvSpPr>
          <p:cNvPr id="3" name="슬라이드 번호 개체 틀 15">
            <a:extLst>
              <a:ext uri="{FF2B5EF4-FFF2-40B4-BE49-F238E27FC236}">
                <a16:creationId xmlns:a16="http://schemas.microsoft.com/office/drawing/2014/main" id="{8C6D6C91-60C1-41CF-B03F-1735A6A41637}"/>
              </a:ext>
            </a:extLst>
          </p:cNvPr>
          <p:cNvSpPr txBox="1">
            <a:spLocks/>
          </p:cNvSpPr>
          <p:nvPr userDrawn="1"/>
        </p:nvSpPr>
        <p:spPr>
          <a:xfrm>
            <a:off x="8805867" y="6347726"/>
            <a:ext cx="538163" cy="16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1100" smtClean="0">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Tree>
    <p:extLst>
      <p:ext uri="{BB962C8B-B14F-4D97-AF65-F5344CB8AC3E}">
        <p14:creationId xmlns:p14="http://schemas.microsoft.com/office/powerpoint/2010/main" val="3445438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6"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3991825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143600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2849494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3837883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3979062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2021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31290918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4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3318703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9" name="직선 연결선 8">
            <a:extLst>
              <a:ext uri="{FF2B5EF4-FFF2-40B4-BE49-F238E27FC236}">
                <a16:creationId xmlns:a16="http://schemas.microsoft.com/office/drawing/2014/main" id="{C1C72A62-C683-4E28-9DB3-48070C29EDE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직사각형 7">
            <a:extLst>
              <a:ext uri="{FF2B5EF4-FFF2-40B4-BE49-F238E27FC236}">
                <a16:creationId xmlns:a16="http://schemas.microsoft.com/office/drawing/2014/main" id="{7E1E12FC-CEBB-4147-9EEB-E670A93F6B1E}"/>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solidFill>
                <a:latin typeface="Samsung Sharp Sans Bold" pitchFamily="2" charset="0"/>
                <a:ea typeface="Samsung Sharp Sans Bold" pitchFamily="2" charset="0"/>
                <a:cs typeface="Samsung Sharp Sans Bold" pitchFamily="2" charset="0"/>
              </a:rPr>
              <a:t>Samsung Innovation Campus</a:t>
            </a:r>
          </a:p>
        </p:txBody>
      </p:sp>
      <p:sp>
        <p:nvSpPr>
          <p:cNvPr id="6"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807396" y="6498001"/>
            <a:ext cx="438896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solidFill>
                <a:latin typeface="SamsungSharpSans-Medium" pitchFamily="2" charset="0"/>
                <a:ea typeface="SamsungSharpSans-Medium" pitchFamily="2" charset="0"/>
                <a:cs typeface="SamsungSharpSans-Medium" pitchFamily="2" charset="0"/>
              </a:rPr>
              <a:t>Chapter 3. </a:t>
            </a:r>
            <a:r>
              <a:rPr lang="ko-KR" altLang="en-US" sz="900" dirty="0">
                <a:solidFill>
                  <a:schemeClr val="bg1"/>
                </a:solidFill>
                <a:latin typeface="SamsungSharpSans-Medium" pitchFamily="2" charset="0"/>
                <a:ea typeface="SamsungSharpSans-Medium" pitchFamily="2" charset="0"/>
                <a:cs typeface="SamsungSharpSans-Medium" pitchFamily="2" charset="0"/>
              </a:rPr>
              <a:t>빠른 연산을 위한 </a:t>
            </a:r>
            <a:r>
              <a:rPr lang="en-US" altLang="ko-KR" sz="900" dirty="0">
                <a:solidFill>
                  <a:schemeClr val="bg1"/>
                </a:solidFill>
                <a:latin typeface="SamsungSharpSans-Medium" pitchFamily="2" charset="0"/>
                <a:ea typeface="SamsungSharpSans-Medium" pitchFamily="2" charset="0"/>
                <a:cs typeface="SamsungSharpSans-Medium" pitchFamily="2" charset="0"/>
              </a:rPr>
              <a:t>NumPy </a:t>
            </a:r>
            <a:r>
              <a:rPr lang="ko-KR" altLang="en-US" sz="900" dirty="0">
                <a:solidFill>
                  <a:schemeClr val="bg1"/>
                </a:solidFill>
                <a:latin typeface="SamsungSharpSans-Medium" pitchFamily="2" charset="0"/>
                <a:ea typeface="SamsungSharpSans-Medium" pitchFamily="2" charset="0"/>
                <a:cs typeface="SamsungSharpSans-Medium" pitchFamily="2" charset="0"/>
              </a:rPr>
              <a:t>배열과 </a:t>
            </a:r>
            <a:r>
              <a:rPr lang="en-US" altLang="ko-KR" sz="900" dirty="0">
                <a:solidFill>
                  <a:schemeClr val="bg1"/>
                </a:solidFill>
                <a:latin typeface="SamsungSharpSans-Medium" pitchFamily="2" charset="0"/>
                <a:ea typeface="SamsungSharpSans-Medium" pitchFamily="2" charset="0"/>
                <a:cs typeface="SamsungSharpSans-Medium" pitchFamily="2" charset="0"/>
              </a:rPr>
              <a:t>pandas</a:t>
            </a:r>
            <a:r>
              <a:rPr lang="ko-KR" altLang="en-US" sz="900" dirty="0">
                <a:solidFill>
                  <a:schemeClr val="bg1"/>
                </a:solidFill>
                <a:latin typeface="SamsungSharpSans-Medium" pitchFamily="2" charset="0"/>
                <a:ea typeface="SamsungSharpSans-Medium" pitchFamily="2" charset="0"/>
                <a:cs typeface="SamsungSharpSans-Medium" pitchFamily="2" charset="0"/>
              </a:rPr>
              <a:t>를 활용한 탐색적 데이터 분석</a:t>
            </a:r>
          </a:p>
        </p:txBody>
      </p:sp>
    </p:spTree>
    <p:extLst>
      <p:ext uri="{BB962C8B-B14F-4D97-AF65-F5344CB8AC3E}">
        <p14:creationId xmlns:p14="http://schemas.microsoft.com/office/powerpoint/2010/main" val="13999607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1C6FDD4E-0A3F-4462-AE4E-9E355C127FA2}"/>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192416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408681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9712378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8" name="슬라이드 번호 개체 틀 15">
            <a:extLst>
              <a:ext uri="{FF2B5EF4-FFF2-40B4-BE49-F238E27FC236}">
                <a16:creationId xmlns:a16="http://schemas.microsoft.com/office/drawing/2014/main" id="{3EA2BA50-854F-4607-A832-4CD942AE77FB}"/>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2163853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3" name="그룹 2">
            <a:extLst>
              <a:ext uri="{FF2B5EF4-FFF2-40B4-BE49-F238E27FC236}">
                <a16:creationId xmlns:a16="http://schemas.microsoft.com/office/drawing/2014/main" id="{423B230F-BF07-4420-8C5E-EAE4EFC61AF1}"/>
              </a:ext>
            </a:extLst>
          </p:cNvPr>
          <p:cNvGrpSpPr/>
          <p:nvPr userDrawn="1"/>
        </p:nvGrpSpPr>
        <p:grpSpPr>
          <a:xfrm>
            <a:off x="0" y="1"/>
            <a:ext cx="9902825" cy="999802"/>
            <a:chOff x="0" y="1"/>
            <a:chExt cx="9906000" cy="999802"/>
          </a:xfrm>
        </p:grpSpPr>
        <p:sp>
          <p:nvSpPr>
            <p:cNvPr id="10" name="직사각형 9">
              <a:extLst>
                <a:ext uri="{FF2B5EF4-FFF2-40B4-BE49-F238E27FC236}">
                  <a16:creationId xmlns:a16="http://schemas.microsoft.com/office/drawing/2014/main" id="{85CF76A4-51CF-4D05-A1A1-2F9ED08538A3}"/>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8" name="직사각형 7">
              <a:extLst>
                <a:ext uri="{FF2B5EF4-FFF2-40B4-BE49-F238E27FC236}">
                  <a16:creationId xmlns:a16="http://schemas.microsoft.com/office/drawing/2014/main" id="{B99AF68C-BDD5-4210-9E4D-B73D0E1AF2BC}"/>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16" name="그룹 15">
            <a:extLst>
              <a:ext uri="{FF2B5EF4-FFF2-40B4-BE49-F238E27FC236}">
                <a16:creationId xmlns:a16="http://schemas.microsoft.com/office/drawing/2014/main" id="{1AD70F94-445E-41A7-8574-B25CBA89D8C1}"/>
              </a:ext>
            </a:extLst>
          </p:cNvPr>
          <p:cNvGrpSpPr/>
          <p:nvPr userDrawn="1"/>
        </p:nvGrpSpPr>
        <p:grpSpPr>
          <a:xfrm>
            <a:off x="449855" y="1251376"/>
            <a:ext cx="9015111" cy="4993976"/>
            <a:chOff x="578678" y="1436154"/>
            <a:chExt cx="8748000" cy="4993976"/>
          </a:xfrm>
          <a:solidFill>
            <a:srgbClr val="ECEFF6"/>
          </a:solidFill>
        </p:grpSpPr>
        <p:sp>
          <p:nvSpPr>
            <p:cNvPr id="17" name="직사각형 16">
              <a:extLst>
                <a:ext uri="{FF2B5EF4-FFF2-40B4-BE49-F238E27FC236}">
                  <a16:creationId xmlns:a16="http://schemas.microsoft.com/office/drawing/2014/main" id="{DD7B4B47-6621-481B-B3CE-E8345036F393}"/>
                </a:ext>
              </a:extLst>
            </p:cNvPr>
            <p:cNvSpPr/>
            <p:nvPr/>
          </p:nvSpPr>
          <p:spPr>
            <a:xfrm>
              <a:off x="578678" y="1436154"/>
              <a:ext cx="8748000" cy="811746"/>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8" name="직사각형 17">
              <a:extLst>
                <a:ext uri="{FF2B5EF4-FFF2-40B4-BE49-F238E27FC236}">
                  <a16:creationId xmlns:a16="http://schemas.microsoft.com/office/drawing/2014/main" id="{CF06F76F-5148-46B2-9B1F-DC949288372A}"/>
                </a:ext>
              </a:extLst>
            </p:cNvPr>
            <p:cNvSpPr/>
            <p:nvPr/>
          </p:nvSpPr>
          <p:spPr>
            <a:xfrm>
              <a:off x="578678" y="2286000"/>
              <a:ext cx="8748000" cy="414413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9F696305-6820-48F1-BDDE-99074AB95DFF}"/>
                </a:ext>
              </a:extLst>
            </p:cNvPr>
            <p:cNvSpPr/>
            <p:nvPr/>
          </p:nvSpPr>
          <p:spPr>
            <a:xfrm>
              <a:off x="768350" y="1631455"/>
              <a:ext cx="1029652" cy="492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grpSp>
      <p:sp>
        <p:nvSpPr>
          <p:cNvPr id="15" name="슬라이드 번호 개체 틀 15">
            <a:extLst>
              <a:ext uri="{FF2B5EF4-FFF2-40B4-BE49-F238E27FC236}">
                <a16:creationId xmlns:a16="http://schemas.microsoft.com/office/drawing/2014/main" id="{F9E05717-20BE-430E-9F96-81DCC3F4311A}"/>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6960235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id="{85278258-AEB2-4213-B5E6-13FC86FAB418}"/>
              </a:ext>
            </a:extLst>
          </p:cNvPr>
          <p:cNvGrpSpPr/>
          <p:nvPr userDrawn="1"/>
        </p:nvGrpSpPr>
        <p:grpSpPr>
          <a:xfrm>
            <a:off x="449468" y="1462227"/>
            <a:ext cx="9000714" cy="4500283"/>
            <a:chOff x="578678" y="1445207"/>
            <a:chExt cx="8748000" cy="4136077"/>
          </a:xfrm>
        </p:grpSpPr>
        <p:sp>
          <p:nvSpPr>
            <p:cNvPr id="52" name="직사각형 51">
              <a:extLst>
                <a:ext uri="{FF2B5EF4-FFF2-40B4-BE49-F238E27FC236}">
                  <a16:creationId xmlns:a16="http://schemas.microsoft.com/office/drawing/2014/main"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3" name="직사각형 52">
              <a:extLst>
                <a:ext uri="{FF2B5EF4-FFF2-40B4-BE49-F238E27FC236}">
                  <a16:creationId xmlns:a16="http://schemas.microsoft.com/office/drawing/2014/main"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4" name="이등변 삼각형 53">
              <a:extLst>
                <a:ext uri="{FF2B5EF4-FFF2-40B4-BE49-F238E27FC236}">
                  <a16:creationId xmlns:a16="http://schemas.microsoft.com/office/drawing/2014/main"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8" name="그룹 7">
            <a:extLst>
              <a:ext uri="{FF2B5EF4-FFF2-40B4-BE49-F238E27FC236}">
                <a16:creationId xmlns:a16="http://schemas.microsoft.com/office/drawing/2014/main" id="{E8CA0DD3-9254-499A-BE4D-7F93C9791163}"/>
              </a:ext>
            </a:extLst>
          </p:cNvPr>
          <p:cNvGrpSpPr/>
          <p:nvPr userDrawn="1"/>
        </p:nvGrpSpPr>
        <p:grpSpPr>
          <a:xfrm>
            <a:off x="747594" y="2408824"/>
            <a:ext cx="8536863" cy="3303528"/>
            <a:chOff x="747834" y="2129937"/>
            <a:chExt cx="8539600" cy="3303528"/>
          </a:xfrm>
        </p:grpSpPr>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5" name="그룹 34">
              <a:extLst>
                <a:ext uri="{FF2B5EF4-FFF2-40B4-BE49-F238E27FC236}">
                  <a16:creationId xmlns:a16="http://schemas.microsoft.com/office/drawing/2014/main"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619" y="1588472"/>
            <a:ext cx="661354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
        <p:nvSpPr>
          <p:cNvPr id="43"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2576133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7" name="그룹 6">
            <a:extLst>
              <a:ext uri="{FF2B5EF4-FFF2-40B4-BE49-F238E27FC236}">
                <a16:creationId xmlns:a16="http://schemas.microsoft.com/office/drawing/2014/main" id="{FDEC6B4D-744D-4E9D-89EE-6B4FB27E7344}"/>
              </a:ext>
            </a:extLst>
          </p:cNvPr>
          <p:cNvGrpSpPr/>
          <p:nvPr userDrawn="1"/>
        </p:nvGrpSpPr>
        <p:grpSpPr>
          <a:xfrm>
            <a:off x="449468" y="1462227"/>
            <a:ext cx="9000714" cy="4500283"/>
            <a:chOff x="449612" y="1219200"/>
            <a:chExt cx="9003600" cy="4500283"/>
          </a:xfrm>
        </p:grpSpPr>
        <p:grpSp>
          <p:nvGrpSpPr>
            <p:cNvPr id="2" name="그룹 1">
              <a:extLst>
                <a:ext uri="{FF2B5EF4-FFF2-40B4-BE49-F238E27FC236}">
                  <a16:creationId xmlns:a16="http://schemas.microsoft.com/office/drawing/2014/main"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solidFill>
                    <a:prstClr val="white"/>
                  </a:solidFill>
                  <a:latin typeface="SamsungOne 400" panose="020B0503030303020204" pitchFamily="34" charset="0"/>
                </a:endParaRPr>
              </a:p>
            </p:txBody>
          </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
        <p:nvSpPr>
          <p:cNvPr id="36" name="슬라이드 번호 개체 틀 15">
            <a:extLst>
              <a:ext uri="{FF2B5EF4-FFF2-40B4-BE49-F238E27FC236}">
                <a16:creationId xmlns:a16="http://schemas.microsoft.com/office/drawing/2014/main" id="{C605F523-2355-4EBD-A1BE-131AE3DF0669}"/>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0513923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3" name="직사각형 2"/>
          <p:cNvSpPr/>
          <p:nvPr userDrawn="1"/>
        </p:nvSpPr>
        <p:spPr>
          <a:xfrm>
            <a:off x="451162" y="1220478"/>
            <a:ext cx="8999020" cy="811746"/>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4" name="직사각형 3"/>
          <p:cNvSpPr/>
          <p:nvPr userDrawn="1"/>
        </p:nvSpPr>
        <p:spPr>
          <a:xfrm>
            <a:off x="451162" y="2070324"/>
            <a:ext cx="8999020" cy="4231864"/>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5" name="직사각형 4">
            <a:extLst>
              <a:ext uri="{FF2B5EF4-FFF2-40B4-BE49-F238E27FC236}">
                <a16:creationId xmlns:a16="http://schemas.microsoft.com/office/drawing/2014/main" id="{3B885908-D506-4EF6-8EA9-375133536ADE}"/>
              </a:ext>
            </a:extLst>
          </p:cNvPr>
          <p:cNvSpPr/>
          <p:nvPr userDrawn="1"/>
        </p:nvSpPr>
        <p:spPr>
          <a:xfrm>
            <a:off x="646276" y="1415780"/>
            <a:ext cx="105919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pic>
        <p:nvPicPr>
          <p:cNvPr id="22" name="그림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2139" y="5406365"/>
            <a:ext cx="112868" cy="109719"/>
          </a:xfrm>
          <a:prstGeom prst="rect">
            <a:avLst/>
          </a:prstGeom>
        </p:spPr>
      </p:pic>
      <p:cxnSp>
        <p:nvCxnSpPr>
          <p:cNvPr id="14" name="직선 연결선 13">
            <a:extLst>
              <a:ext uri="{FF2B5EF4-FFF2-40B4-BE49-F238E27FC236}">
                <a16:creationId xmlns:a16="http://schemas.microsoft.com/office/drawing/2014/main" id="{3BBBBCF4-8F64-4C44-B381-7016C297D04F}"/>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슬라이드 번호 개체 틀 15">
            <a:extLst>
              <a:ext uri="{FF2B5EF4-FFF2-40B4-BE49-F238E27FC236}">
                <a16:creationId xmlns:a16="http://schemas.microsoft.com/office/drawing/2014/main" id="{2FC1FA6A-7119-4287-A121-C31068A9FCD3}"/>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94BFF8EC-69D9-42AE-A84D-CEFDE15AD513}"/>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27" name="그룹 26">
            <a:extLst>
              <a:ext uri="{FF2B5EF4-FFF2-40B4-BE49-F238E27FC236}">
                <a16:creationId xmlns:a16="http://schemas.microsoft.com/office/drawing/2014/main" id="{A3338F14-C71C-49FB-9B8F-636CAA3F7EFA}"/>
              </a:ext>
            </a:extLst>
          </p:cNvPr>
          <p:cNvGrpSpPr/>
          <p:nvPr userDrawn="1"/>
        </p:nvGrpSpPr>
        <p:grpSpPr>
          <a:xfrm>
            <a:off x="0" y="1"/>
            <a:ext cx="9902825" cy="999802"/>
            <a:chOff x="0" y="1"/>
            <a:chExt cx="9906000" cy="999802"/>
          </a:xfrm>
        </p:grpSpPr>
        <p:sp>
          <p:nvSpPr>
            <p:cNvPr id="28" name="직사각형 27">
              <a:extLst>
                <a:ext uri="{FF2B5EF4-FFF2-40B4-BE49-F238E27FC236}">
                  <a16:creationId xmlns:a16="http://schemas.microsoft.com/office/drawing/2014/main" id="{845141B1-0821-46A7-A897-9E66E1D5B440}"/>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29" name="직사각형 28">
              <a:extLst>
                <a:ext uri="{FF2B5EF4-FFF2-40B4-BE49-F238E27FC236}">
                  <a16:creationId xmlns:a16="http://schemas.microsoft.com/office/drawing/2014/main" id="{1C7333F1-B594-4B0D-BB31-CF147773CE81}"/>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grpSp>
      <p:sp>
        <p:nvSpPr>
          <p:cNvPr id="15" name="슬라이드 번호 개체 틀 15">
            <a:extLst>
              <a:ext uri="{FF2B5EF4-FFF2-40B4-BE49-F238E27FC236}">
                <a16:creationId xmlns:a16="http://schemas.microsoft.com/office/drawing/2014/main" id="{86998F19-9A1B-455B-A336-FAE9116A5D4A}"/>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185172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8" name="슬라이드 번호 개체 틀 15">
            <a:extLst>
              <a:ext uri="{FF2B5EF4-FFF2-40B4-BE49-F238E27FC236}">
                <a16:creationId xmlns:a16="http://schemas.microsoft.com/office/drawing/2014/main" id="{DC936B2F-79C3-4923-949E-A3549C5FC800}"/>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8954996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2023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23763014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726668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36828224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8" name="슬라이드 번호 개체 틀 15">
            <a:extLst>
              <a:ext uri="{FF2B5EF4-FFF2-40B4-BE49-F238E27FC236}">
                <a16:creationId xmlns:a16="http://schemas.microsoft.com/office/drawing/2014/main" id="{74FAF18D-119B-42EA-8505-AC2F66D97AB3}"/>
              </a:ext>
            </a:extLst>
          </p:cNvPr>
          <p:cNvSpPr txBox="1">
            <a:spLocks/>
          </p:cNvSpPr>
          <p:nvPr userDrawn="1"/>
        </p:nvSpPr>
        <p:spPr>
          <a:xfrm>
            <a:off x="3338256" y="6507526"/>
            <a:ext cx="5858103"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457063" fontAlgn="base" latinLnBrk="1">
              <a:spcBef>
                <a:spcPct val="0"/>
              </a:spcBef>
              <a:spcAft>
                <a:spcPct val="0"/>
              </a:spcAft>
              <a:defRPr/>
            </a:pPr>
            <a:r>
              <a:rPr lang="en-US" altLang="ko-KR" sz="900" kern="1200" dirty="0">
                <a:solidFill>
                  <a:schemeClr val="bg1">
                    <a:lumMod val="50000"/>
                  </a:schemeClr>
                </a:solidFill>
                <a:latin typeface="SamsungSharpSans-Medium" pitchFamily="2" charset="0"/>
                <a:ea typeface="SamsungSharpSans-Medium" pitchFamily="2" charset="0"/>
                <a:cs typeface="SamsungSharpSans-Medium" pitchFamily="2" charset="0"/>
              </a:rPr>
              <a:t>Chapter 3. Exploratory Data Analysis</a:t>
            </a:r>
          </a:p>
        </p:txBody>
      </p:sp>
    </p:spTree>
    <p:extLst>
      <p:ext uri="{BB962C8B-B14F-4D97-AF65-F5344CB8AC3E}">
        <p14:creationId xmlns:p14="http://schemas.microsoft.com/office/powerpoint/2010/main" val="325217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93559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816">
          <p15:clr>
            <a:srgbClr val="F26B43"/>
          </p15:clr>
        </p15:guide>
        <p15:guide id="1" orient="horz" pos="3997">
          <p15:clr>
            <a:srgbClr val="F26B43"/>
          </p15:clr>
        </p15:guide>
        <p15:guide id="2" pos="352">
          <p15:clr>
            <a:srgbClr val="F26B43"/>
          </p15:clr>
        </p15:guide>
        <p15:guide id="3" pos="5886">
          <p15:clr>
            <a:srgbClr val="F26B43"/>
          </p15:clr>
        </p15:guide>
        <p15:guide id="4" orient="horz" pos="323">
          <p15:clr>
            <a:srgbClr val="F26B43"/>
          </p15:clr>
        </p15:guide>
        <p15:guide id="5" orient="horz" pos="222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22827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8" r:id="rId6"/>
    <p:sldLayoutId id="2147483719" r:id="rId7"/>
    <p:sldLayoutId id="2147483720" r:id="rId8"/>
    <p:sldLayoutId id="2147483721" r:id="rId9"/>
    <p:sldLayoutId id="2147483722" r:id="rId10"/>
    <p:sldLayoutId id="2147483723" r:id="rId11"/>
    <p:sldLayoutId id="2147483724" r:id="rId12"/>
    <p:sldLayoutId id="2147483727" r:id="rId13"/>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3.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3.xml"/><Relationship Id="rId5" Type="http://schemas.openxmlformats.org/officeDocument/2006/relationships/image" Target="../media/image51.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23.xml"/><Relationship Id="rId5" Type="http://schemas.openxmlformats.org/officeDocument/2006/relationships/image" Target="../media/image67.png"/><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3.xml"/><Relationship Id="rId5" Type="http://schemas.openxmlformats.org/officeDocument/2006/relationships/image" Target="../media/image68.png"/><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23.xml"/><Relationship Id="rId5" Type="http://schemas.openxmlformats.org/officeDocument/2006/relationships/image" Target="../media/image73.png"/><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79.png"/></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0.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1.png"/></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83.png"/><Relationship Id="rId4" Type="http://schemas.openxmlformats.org/officeDocument/2006/relationships/image" Target="../media/image82.png"/></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6.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82.png"/><Relationship Id="rId4" Type="http://schemas.openxmlformats.org/officeDocument/2006/relationships/image" Target="../media/image15.png"/></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5.png"/></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6.png"/></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7.png"/></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8.png"/></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89.png"/></Relationships>
</file>

<file path=ppt/slides/_rels/slide7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3.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92.png"/><Relationship Id="rId4" Type="http://schemas.openxmlformats.org/officeDocument/2006/relationships/image" Target="../media/image91.png"/></Relationships>
</file>

<file path=ppt/slides/_rels/slide7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7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95.png"/></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96.png"/></Relationships>
</file>

<file path=ppt/slides/_rels/slide7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7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99.png"/></Relationships>
</file>

<file path=ppt/slides/_rels/slide8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1.xml"/><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2.xml"/><Relationship Id="rId1" Type="http://schemas.openxmlformats.org/officeDocument/2006/relationships/slideLayout" Target="../slideLayouts/slideLayout23.xml"/></Relationships>
</file>

<file path=ppt/slides/_rels/slide8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8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8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8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04.png"/></Relationships>
</file>

<file path=ppt/slides/_rels/slide8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7.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8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8.xml"/><Relationship Id="rId1" Type="http://schemas.openxmlformats.org/officeDocument/2006/relationships/slideLayout" Target="../slideLayouts/slideLayout32.xml"/></Relationships>
</file>

<file path=ppt/slides/_rels/slide8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9.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9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0.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06.png"/></Relationships>
</file>

<file path=ppt/slides/_rels/slide9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1.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9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92.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3.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09.png"/></Relationships>
</file>

<file path=ppt/slides/_rels/slide9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4.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9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5.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12.png"/></Relationships>
</file>

<file path=ppt/slides/_rels/slide9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6.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14.png"/></Relationships>
</file>

<file path=ppt/slides/_rels/slide9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7.xml"/><Relationship Id="rId1" Type="http://schemas.openxmlformats.org/officeDocument/2006/relationships/slideLayout" Target="../slideLayouts/slideLayout32.xml"/><Relationship Id="rId5" Type="http://schemas.openxmlformats.org/officeDocument/2006/relationships/image" Target="../media/image115.png"/><Relationship Id="rId4" Type="http://schemas.openxmlformats.org/officeDocument/2006/relationships/image" Target="../media/image12.png"/></Relationships>
</file>

<file path=ppt/slides/_rels/slide9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8.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16.png"/></Relationships>
</file>

<file path=ppt/slides/_rels/slide9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99.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10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0.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10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1.xml"/><Relationship Id="rId1" Type="http://schemas.openxmlformats.org/officeDocument/2006/relationships/slideLayout" Target="../slideLayouts/slideLayout32.xml"/><Relationship Id="rId6" Type="http://schemas.openxmlformats.org/officeDocument/2006/relationships/image" Target="../media/image12.png"/><Relationship Id="rId5" Type="http://schemas.openxmlformats.org/officeDocument/2006/relationships/image" Target="../media/image120.png"/><Relationship Id="rId4" Type="http://schemas.openxmlformats.org/officeDocument/2006/relationships/image" Target="../media/image15.png"/></Relationships>
</file>

<file path=ppt/slides/_rels/slide10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02.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22.png"/></Relationships>
</file>

<file path=ppt/slides/_rels/slide10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3.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24.png"/></Relationships>
</file>

<file path=ppt/slides/_rels/slide10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4.xml"/><Relationship Id="rId1" Type="http://schemas.openxmlformats.org/officeDocument/2006/relationships/slideLayout" Target="../slideLayouts/slideLayout3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5.xml"/><Relationship Id="rId1" Type="http://schemas.openxmlformats.org/officeDocument/2006/relationships/slideLayout" Target="../slideLayouts/slideLayout32.xml"/><Relationship Id="rId6" Type="http://schemas.openxmlformats.org/officeDocument/2006/relationships/image" Target="../media/image12.png"/><Relationship Id="rId5" Type="http://schemas.openxmlformats.org/officeDocument/2006/relationships/image" Target="../media/image127.png"/><Relationship Id="rId4" Type="http://schemas.openxmlformats.org/officeDocument/2006/relationships/image" Target="../media/image126.png"/></Relationships>
</file>

<file path=ppt/slides/_rels/slide10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06.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10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07.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30.png"/></Relationships>
</file>

<file path=ppt/slides/_rels/slide10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8.xml"/><Relationship Id="rId1" Type="http://schemas.openxmlformats.org/officeDocument/2006/relationships/slideLayout" Target="../slideLayouts/slideLayout32.xml"/><Relationship Id="rId5" Type="http://schemas.openxmlformats.org/officeDocument/2006/relationships/image" Target="../media/image132.png"/><Relationship Id="rId4" Type="http://schemas.openxmlformats.org/officeDocument/2006/relationships/image" Target="../media/image131.png"/></Relationships>
</file>

<file path=ppt/slides/_rels/slide10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09.xml"/><Relationship Id="rId1" Type="http://schemas.openxmlformats.org/officeDocument/2006/relationships/slideLayout" Target="../slideLayouts/slideLayout32.xml"/><Relationship Id="rId5" Type="http://schemas.openxmlformats.org/officeDocument/2006/relationships/image" Target="../media/image12.png"/><Relationship Id="rId4" Type="http://schemas.openxmlformats.org/officeDocument/2006/relationships/image" Target="../media/image134.png"/></Relationships>
</file>

<file path=ppt/slides/_rels/slide1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0.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1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1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1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1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1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40.png"/></Relationships>
</file>

<file path=ppt/slides/_rels/slide1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41.png"/></Relationships>
</file>

<file path=ppt/slides/_rels/slide11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1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1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0.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1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1.xml"/><Relationship Id="rId1" Type="http://schemas.openxmlformats.org/officeDocument/2006/relationships/slideLayout" Target="../slideLayouts/slideLayout23.xml"/></Relationships>
</file>

<file path=ppt/slides/_rels/slide1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2.xml"/><Relationship Id="rId1" Type="http://schemas.openxmlformats.org/officeDocument/2006/relationships/slideLayout" Target="../slideLayouts/slideLayout23.xml"/></Relationships>
</file>

<file path=ppt/slides/_rels/slide1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3.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4.xml"/><Relationship Id="rId1" Type="http://schemas.openxmlformats.org/officeDocument/2006/relationships/slideLayout" Target="../slideLayouts/slideLayout23.xml"/></Relationships>
</file>

<file path=ppt/slides/_rels/slide1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5.xml"/><Relationship Id="rId1" Type="http://schemas.openxmlformats.org/officeDocument/2006/relationships/slideLayout" Target="../slideLayouts/slideLayout23.xml"/></Relationships>
</file>

<file path=ppt/slides/_rels/slide1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6.xml"/><Relationship Id="rId1" Type="http://schemas.openxmlformats.org/officeDocument/2006/relationships/slideLayout" Target="../slideLayouts/slideLayout23.xml"/></Relationships>
</file>

<file path=ppt/slides/_rels/slide1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7.xml"/><Relationship Id="rId1" Type="http://schemas.openxmlformats.org/officeDocument/2006/relationships/slideLayout" Target="../slideLayouts/slideLayout23.xml"/></Relationships>
</file>

<file path=ppt/slides/_rels/slide12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2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45.png"/></Relationships>
</file>

<file path=ppt/slides/_rels/slide12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47.png"/></Relationships>
</file>

<file path=ppt/slides/_rels/slide1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0.xml"/><Relationship Id="rId1" Type="http://schemas.openxmlformats.org/officeDocument/2006/relationships/slideLayout" Target="../slideLayouts/slideLayout23.xml"/><Relationship Id="rId5" Type="http://schemas.openxmlformats.org/officeDocument/2006/relationships/image" Target="../media/image148.png"/><Relationship Id="rId4" Type="http://schemas.openxmlformats.org/officeDocument/2006/relationships/image" Target="../media/image15.png"/></Relationships>
</file>

<file path=ppt/slides/_rels/slide13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3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3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2.png"/></Relationships>
</file>

<file path=ppt/slides/_rels/slide1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3.png"/></Relationships>
</file>

<file path=ppt/slides/_rels/slide1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5.xml"/><Relationship Id="rId1" Type="http://schemas.openxmlformats.org/officeDocument/2006/relationships/slideLayout" Target="../slideLayouts/slideLayout23.xml"/></Relationships>
</file>

<file path=ppt/slides/_rels/slide13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3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3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6.png"/></Relationships>
</file>

<file path=ppt/slides/_rels/slide1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7.png"/></Relationships>
</file>

<file path=ppt/slides/_rels/slide1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58.png"/></Relationships>
</file>

<file path=ppt/slides/_rels/slide1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2.xml"/><Relationship Id="rId1" Type="http://schemas.openxmlformats.org/officeDocument/2006/relationships/slideLayout" Target="../slideLayouts/slideLayout23.xml"/><Relationship Id="rId5" Type="http://schemas.openxmlformats.org/officeDocument/2006/relationships/image" Target="../media/image159.png"/><Relationship Id="rId4" Type="http://schemas.openxmlformats.org/officeDocument/2006/relationships/image" Target="../media/image12.png"/></Relationships>
</file>

<file path=ppt/slides/_rels/slide1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3.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161.png"/><Relationship Id="rId4" Type="http://schemas.openxmlformats.org/officeDocument/2006/relationships/image" Target="../media/image160.png"/></Relationships>
</file>

<file path=ppt/slides/_rels/slide14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4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4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4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64.png"/></Relationships>
</file>

<file path=ppt/slides/_rels/slide1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4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66.png"/></Relationships>
</file>

<file path=ppt/slides/_rels/slide14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4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5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1.xml"/><Relationship Id="rId1" Type="http://schemas.openxmlformats.org/officeDocument/2006/relationships/slideLayout" Target="../slideLayouts/slideLayout23.xml"/><Relationship Id="rId4" Type="http://schemas.openxmlformats.org/officeDocument/2006/relationships/image" Target="../media/image169.png"/></Relationships>
</file>

<file path=ppt/slides/_rels/slide15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5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3.xml"/><Relationship Id="rId1" Type="http://schemas.openxmlformats.org/officeDocument/2006/relationships/slideLayout" Target="../slideLayouts/slideLayout23.xml"/><Relationship Id="rId4" Type="http://schemas.openxmlformats.org/officeDocument/2006/relationships/image" Target="../media/image171.png"/></Relationships>
</file>

<file path=ppt/slides/_rels/slide15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5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5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74.png"/></Relationships>
</file>

<file path=ppt/slides/_rels/slide15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5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8.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5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9.xml"/><Relationship Id="rId1" Type="http://schemas.openxmlformats.org/officeDocument/2006/relationships/slideLayout" Target="../slideLayouts/slideLayout23.xml"/><Relationship Id="rId4" Type="http://schemas.openxmlformats.org/officeDocument/2006/relationships/image" Target="../media/image177.png"/></Relationships>
</file>

<file path=ppt/slides/_rels/slide16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6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6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16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0.png"/></Relationships>
</file>

<file path=ppt/slides/_rels/slide1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1.png"/></Relationships>
</file>

<file path=ppt/slides/_rels/slide1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2.png"/></Relationships>
</file>

<file path=ppt/slides/_rels/slide1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3.png"/></Relationships>
</file>

<file path=ppt/slides/_rels/slide1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84.png"/></Relationships>
</file>

<file path=ppt/slides/_rels/slide167.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16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68.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16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9.xml"/><Relationship Id="rId1" Type="http://schemas.openxmlformats.org/officeDocument/2006/relationships/slideLayout" Target="../slideLayouts/slideLayout23.xml"/></Relationships>
</file>

<file path=ppt/slides/_rels/slide170.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7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17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7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7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4.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7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5.xml"/><Relationship Id="rId1" Type="http://schemas.openxmlformats.org/officeDocument/2006/relationships/slideLayout" Target="../slideLayouts/slideLayout23.xml"/></Relationships>
</file>

<file path=ppt/slides/_rels/slide1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92.png"/></Relationships>
</file>

<file path=ppt/slides/_rels/slide177.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7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7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9.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7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96.png"/></Relationships>
</file>

<file path=ppt/slides/_rels/slide181.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8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2.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8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99.png"/></Relationships>
</file>

<file path=ppt/slides/_rels/slide18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8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01.png"/></Relationships>
</file>

<file path=ppt/slides/_rels/slide18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8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8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8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05.png"/></Relationships>
</file>

<file path=ppt/slides/_rels/slide190.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9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91.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9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9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08.png"/></Relationships>
</file>

<file path=ppt/slides/_rels/slide1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09.png"/></Relationships>
</file>

<file path=ppt/slides/_rels/slide19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9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9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9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96.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9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9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13.png"/></Relationships>
</file>

<file path=ppt/slides/_rels/slide19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14.png"/></Relationships>
</file>

<file path=ppt/slides/_rels/slide19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9.xml"/><Relationship Id="rId1" Type="http://schemas.openxmlformats.org/officeDocument/2006/relationships/slideLayout" Target="../slideLayouts/slideLayout23.xml"/><Relationship Id="rId5" Type="http://schemas.openxmlformats.org/officeDocument/2006/relationships/image" Target="../media/image215.png"/><Relationship Id="rId4" Type="http://schemas.openxmlformats.org/officeDocument/2006/relationships/image" Target="../media/image12.png"/></Relationships>
</file>

<file path=ppt/slides/_rels/slide20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0.xml"/><Relationship Id="rId1" Type="http://schemas.openxmlformats.org/officeDocument/2006/relationships/slideLayout" Target="../slideLayouts/slideLayout23.xml"/><Relationship Id="rId5" Type="http://schemas.openxmlformats.org/officeDocument/2006/relationships/image" Target="../media/image216.png"/><Relationship Id="rId4" Type="http://schemas.openxmlformats.org/officeDocument/2006/relationships/image" Target="../media/image12.png"/></Relationships>
</file>

<file path=ppt/slides/_rels/slide20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1.xml"/><Relationship Id="rId1" Type="http://schemas.openxmlformats.org/officeDocument/2006/relationships/slideLayout" Target="../slideLayouts/slideLayout23.xml"/><Relationship Id="rId5" Type="http://schemas.openxmlformats.org/officeDocument/2006/relationships/image" Target="../media/image217.png"/><Relationship Id="rId4" Type="http://schemas.openxmlformats.org/officeDocument/2006/relationships/image" Target="../media/image12.png"/></Relationships>
</file>

<file path=ppt/slides/_rels/slide20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2.xml"/><Relationship Id="rId1" Type="http://schemas.openxmlformats.org/officeDocument/2006/relationships/slideLayout" Target="../slideLayouts/slideLayout23.xml"/><Relationship Id="rId4" Type="http://schemas.openxmlformats.org/officeDocument/2006/relationships/image" Target="../media/image218.png"/></Relationships>
</file>

<file path=ppt/slides/_rels/slide20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19.png"/></Relationships>
</file>

<file path=ppt/slides/_rels/slide20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0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05.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0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06.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20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0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23.png"/></Relationships>
</file>

<file path=ppt/slides/_rels/slide208.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20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0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25.png"/></Relationships>
</file>

<file path=ppt/slides/_rels/slide2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26.png"/></Relationships>
</file>

<file path=ppt/slides/_rels/slide211.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21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12.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21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13.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213.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30.png"/></Relationships>
</file>

<file path=ppt/slides/_rels/slide21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1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32.png"/></Relationships>
</file>

<file path=ppt/slides/_rels/slide2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33.png"/></Relationships>
</file>

<file path=ppt/slides/_rels/slide218.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21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19.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21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36.png"/></Relationships>
</file>

<file path=ppt/slides/_rels/slide221.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22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22.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22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39.png"/></Relationships>
</file>

<file path=ppt/slides/_rels/slide2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0.png"/></Relationships>
</file>

<file path=ppt/slides/_rels/slide2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1.png"/></Relationships>
</file>

<file path=ppt/slides/_rels/slide226.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22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3.png"/></Relationships>
</file>

<file path=ppt/slides/_rels/slide2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4.png"/></Relationships>
</file>

<file path=ppt/slides/_rels/slide2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5.png"/></Relationships>
</file>

<file path=ppt/slides/_rels/slide2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6.png"/></Relationships>
</file>

<file path=ppt/slides/_rels/slide2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7.png"/></Relationships>
</file>

<file path=ppt/slides/_rels/slide2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2.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8.png"/></Relationships>
</file>

<file path=ppt/slides/_rels/slide2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3.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49.png"/></Relationships>
</file>

<file path=ppt/slides/_rels/slide2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50.png"/></Relationships>
</file>

<file path=ppt/slides/_rels/slide2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5.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51.png"/></Relationships>
</file>

<file path=ppt/slides/_rels/slide2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52.png"/></Relationships>
</file>

<file path=ppt/slides/_rels/slide237.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23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54.png"/></Relationships>
</file>

<file path=ppt/slides/_rels/slide2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9.xml"/><Relationship Id="rId1" Type="http://schemas.openxmlformats.org/officeDocument/2006/relationships/slideLayout" Target="../slideLayouts/slideLayout23.xml"/><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12.png"/></Relationships>
</file>

<file path=ppt/slides/_rels/slide2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0.xml"/><Relationship Id="rId1" Type="http://schemas.openxmlformats.org/officeDocument/2006/relationships/slideLayout" Target="../slideLayouts/slideLayout23.xml"/><Relationship Id="rId5" Type="http://schemas.openxmlformats.org/officeDocument/2006/relationships/image" Target="../media/image257.png"/><Relationship Id="rId4" Type="http://schemas.openxmlformats.org/officeDocument/2006/relationships/image" Target="../media/image12.png"/></Relationships>
</file>

<file path=ppt/slides/_rels/slide2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1.xml"/><Relationship Id="rId1" Type="http://schemas.openxmlformats.org/officeDocument/2006/relationships/slideLayout" Target="../slideLayouts/slideLayout23.xml"/><Relationship Id="rId6" Type="http://schemas.openxmlformats.org/officeDocument/2006/relationships/image" Target="../media/image256.png"/><Relationship Id="rId5" Type="http://schemas.openxmlformats.org/officeDocument/2006/relationships/image" Target="../media/image258.png"/><Relationship Id="rId4" Type="http://schemas.openxmlformats.org/officeDocument/2006/relationships/image" Target="../media/image12.png"/></Relationships>
</file>

<file path=ppt/slides/_rels/slide2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2.xml"/><Relationship Id="rId1" Type="http://schemas.openxmlformats.org/officeDocument/2006/relationships/slideLayout" Target="../slideLayouts/slideLayout23.xml"/><Relationship Id="rId5" Type="http://schemas.openxmlformats.org/officeDocument/2006/relationships/image" Target="../media/image259.png"/><Relationship Id="rId4" Type="http://schemas.openxmlformats.org/officeDocument/2006/relationships/image" Target="../media/image12.png"/></Relationships>
</file>

<file path=ppt/slides/_rels/slide2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3.xml"/><Relationship Id="rId1" Type="http://schemas.openxmlformats.org/officeDocument/2006/relationships/slideLayout" Target="../slideLayouts/slideLayout23.xml"/><Relationship Id="rId5" Type="http://schemas.openxmlformats.org/officeDocument/2006/relationships/image" Target="../media/image260.png"/><Relationship Id="rId4" Type="http://schemas.openxmlformats.org/officeDocument/2006/relationships/image" Target="../media/image12.png"/></Relationships>
</file>

<file path=ppt/slides/_rels/slide2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4.xml"/><Relationship Id="rId1" Type="http://schemas.openxmlformats.org/officeDocument/2006/relationships/slideLayout" Target="../slideLayouts/slideLayout23.xml"/><Relationship Id="rId5" Type="http://schemas.openxmlformats.org/officeDocument/2006/relationships/image" Target="../media/image261.png"/><Relationship Id="rId4" Type="http://schemas.openxmlformats.org/officeDocument/2006/relationships/image" Target="../media/image12.png"/></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23.xml"/></Relationships>
</file>

<file path=ppt/slides/_rels/slide2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2.png"/></Relationships>
</file>

<file path=ppt/slides/_rels/slide2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7.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3.png"/></Relationships>
</file>

<file path=ppt/slides/_rels/slide2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4.png"/></Relationships>
</file>

<file path=ppt/slides/_rels/slide2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9.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5.png"/></Relationships>
</file>

<file path=ppt/slides/_rels/slide2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0.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6.png"/></Relationships>
</file>

<file path=ppt/slides/_rels/slide2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1.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7.png"/></Relationships>
</file>

<file path=ppt/slides/_rels/slide2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2.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2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3.xml"/><Relationship Id="rId1" Type="http://schemas.openxmlformats.org/officeDocument/2006/relationships/slideLayout" Target="../slideLayouts/slideLayout23.xml"/></Relationships>
</file>

<file path=ppt/slides/_rels/slide2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4.xml"/><Relationship Id="rId1" Type="http://schemas.openxmlformats.org/officeDocument/2006/relationships/slideLayout" Target="../slideLayouts/slideLayout23.xml"/></Relationships>
</file>

<file path=ppt/slides/_rels/slide2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5.xml"/><Relationship Id="rId1" Type="http://schemas.openxmlformats.org/officeDocument/2006/relationships/slideLayout" Target="../slideLayouts/slideLayout23.xml"/></Relationships>
</file>

<file path=ppt/slides/_rels/slide2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6.xml"/><Relationship Id="rId1" Type="http://schemas.openxmlformats.org/officeDocument/2006/relationships/slideLayout" Target="../slideLayouts/slideLayout23.xml"/></Relationships>
</file>

<file path=ppt/slides/_rels/slide2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7.xml"/><Relationship Id="rId1" Type="http://schemas.openxmlformats.org/officeDocument/2006/relationships/slideLayout" Target="../slideLayouts/slideLayout23.xml"/></Relationships>
</file>

<file path=ppt/slides/_rels/slide2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8.xml"/><Relationship Id="rId1" Type="http://schemas.openxmlformats.org/officeDocument/2006/relationships/slideLayout" Target="../slideLayouts/slideLayout23.xml"/></Relationships>
</file>

<file path=ppt/slides/_rels/slide2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9.xml"/><Relationship Id="rId1" Type="http://schemas.openxmlformats.org/officeDocument/2006/relationships/slideLayout" Target="../slideLayouts/slideLayout23.xml"/></Relationships>
</file>

<file path=ppt/slides/_rels/slide2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0.xml"/><Relationship Id="rId1" Type="http://schemas.openxmlformats.org/officeDocument/2006/relationships/slideLayout" Target="../slideLayouts/slideLayout23.xml"/></Relationships>
</file>

<file path=ppt/slides/_rels/slide2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1.xml"/><Relationship Id="rId1" Type="http://schemas.openxmlformats.org/officeDocument/2006/relationships/slideLayout" Target="../slideLayouts/slideLayout23.xml"/></Relationships>
</file>

<file path=ppt/slides/_rels/slide2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2.xml"/><Relationship Id="rId1" Type="http://schemas.openxmlformats.org/officeDocument/2006/relationships/slideLayout" Target="../slideLayouts/slideLayout23.xml"/></Relationships>
</file>

<file path=ppt/slides/_rels/slide263.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263.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2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4.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69.png"/></Relationships>
</file>

<file path=ppt/slides/_rels/slide2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5.xml"/><Relationship Id="rId1" Type="http://schemas.openxmlformats.org/officeDocument/2006/relationships/slideLayout" Target="../slideLayouts/slideLayout23.xml"/></Relationships>
</file>

<file path=ppt/slides/_rels/slide26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6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7.xml"/><Relationship Id="rId1" Type="http://schemas.openxmlformats.org/officeDocument/2006/relationships/slideLayout" Target="../slideLayouts/slideLayout23.xml"/><Relationship Id="rId4" Type="http://schemas.openxmlformats.org/officeDocument/2006/relationships/image" Target="../media/image271.png"/></Relationships>
</file>

<file path=ppt/slides/_rels/slide268.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notesSlide" Target="../notesSlides/notesSlide26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69.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26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70.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notesSlide" Target="../notesSlides/notesSlide27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1.xml"/><Relationship Id="rId1" Type="http://schemas.openxmlformats.org/officeDocument/2006/relationships/slideLayout" Target="../slideLayouts/slideLayout23.xml"/><Relationship Id="rId4" Type="http://schemas.openxmlformats.org/officeDocument/2006/relationships/image" Target="../media/image275.png"/></Relationships>
</file>

<file path=ppt/slides/_rels/slide27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2.xml"/><Relationship Id="rId1" Type="http://schemas.openxmlformats.org/officeDocument/2006/relationships/slideLayout" Target="../slideLayouts/slideLayout23.xml"/><Relationship Id="rId5" Type="http://schemas.openxmlformats.org/officeDocument/2006/relationships/image" Target="../media/image277.png"/><Relationship Id="rId4" Type="http://schemas.openxmlformats.org/officeDocument/2006/relationships/image" Target="../media/image276.png"/></Relationships>
</file>

<file path=ppt/slides/_rels/slide2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3.xml"/><Relationship Id="rId1" Type="http://schemas.openxmlformats.org/officeDocument/2006/relationships/slideLayout" Target="../slideLayouts/slideLayout23.xml"/><Relationship Id="rId5" Type="http://schemas.openxmlformats.org/officeDocument/2006/relationships/image" Target="../media/image278.png"/><Relationship Id="rId4" Type="http://schemas.openxmlformats.org/officeDocument/2006/relationships/image" Target="../media/image276.png"/></Relationships>
</file>

<file path=ppt/slides/_rels/slide2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4.xml"/><Relationship Id="rId1" Type="http://schemas.openxmlformats.org/officeDocument/2006/relationships/slideLayout" Target="../slideLayouts/slideLayout23.xml"/><Relationship Id="rId5" Type="http://schemas.openxmlformats.org/officeDocument/2006/relationships/image" Target="../media/image279.png"/><Relationship Id="rId4" Type="http://schemas.openxmlformats.org/officeDocument/2006/relationships/image" Target="../media/image276.png"/></Relationships>
</file>

<file path=ppt/slides/_rels/slide2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5.xml"/><Relationship Id="rId1" Type="http://schemas.openxmlformats.org/officeDocument/2006/relationships/slideLayout" Target="../slideLayouts/slideLayout23.xml"/><Relationship Id="rId5" Type="http://schemas.openxmlformats.org/officeDocument/2006/relationships/image" Target="../media/image280.png"/><Relationship Id="rId4" Type="http://schemas.openxmlformats.org/officeDocument/2006/relationships/image" Target="../media/image276.png"/></Relationships>
</file>

<file path=ppt/slides/_rels/slide276.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27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7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7.xml"/><Relationship Id="rId1" Type="http://schemas.openxmlformats.org/officeDocument/2006/relationships/slideLayout" Target="../slideLayouts/slideLayout23.xml"/><Relationship Id="rId5" Type="http://schemas.openxmlformats.org/officeDocument/2006/relationships/image" Target="../media/image276.png"/><Relationship Id="rId4" Type="http://schemas.openxmlformats.org/officeDocument/2006/relationships/image" Target="../media/image282.png"/></Relationships>
</file>

<file path=ppt/slides/_rels/slide27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8.xml"/><Relationship Id="rId1" Type="http://schemas.openxmlformats.org/officeDocument/2006/relationships/slideLayout" Target="../slideLayouts/slideLayout23.xml"/></Relationships>
</file>

<file path=ppt/slides/_rels/slide2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9.xml"/><Relationship Id="rId1" Type="http://schemas.openxmlformats.org/officeDocument/2006/relationships/slideLayout" Target="../slideLayouts/slideLayout23.xml"/><Relationship Id="rId5" Type="http://schemas.openxmlformats.org/officeDocument/2006/relationships/image" Target="../media/image283.png"/><Relationship Id="rId4" Type="http://schemas.openxmlformats.org/officeDocument/2006/relationships/image" Target="../media/image276.png"/></Relationships>
</file>

<file path=ppt/slides/_rels/slide28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0.xml"/><Relationship Id="rId1" Type="http://schemas.openxmlformats.org/officeDocument/2006/relationships/slideLayout" Target="../slideLayouts/slideLayout23.xml"/><Relationship Id="rId5" Type="http://schemas.openxmlformats.org/officeDocument/2006/relationships/image" Target="../media/image276.png"/><Relationship Id="rId4" Type="http://schemas.openxmlformats.org/officeDocument/2006/relationships/image" Target="../media/image284.png"/></Relationships>
</file>

<file path=ppt/slides/_rels/slide28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1.xml"/><Relationship Id="rId1" Type="http://schemas.openxmlformats.org/officeDocument/2006/relationships/slideLayout" Target="../slideLayouts/slideLayout23.xml"/><Relationship Id="rId5" Type="http://schemas.openxmlformats.org/officeDocument/2006/relationships/image" Target="../media/image276.png"/><Relationship Id="rId4" Type="http://schemas.openxmlformats.org/officeDocument/2006/relationships/image" Target="../media/image285.png"/></Relationships>
</file>

<file path=ppt/slides/_rels/slide28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2.xml"/><Relationship Id="rId1" Type="http://schemas.openxmlformats.org/officeDocument/2006/relationships/slideLayout" Target="../slideLayouts/slideLayout23.xml"/><Relationship Id="rId5" Type="http://schemas.openxmlformats.org/officeDocument/2006/relationships/image" Target="../media/image276.png"/><Relationship Id="rId4" Type="http://schemas.openxmlformats.org/officeDocument/2006/relationships/image" Target="../media/image286.png"/></Relationships>
</file>

<file path=ppt/slides/_rels/slide28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3.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284.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notesSlide" Target="../notesSlides/notesSlide284.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285.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notesSlide" Target="../notesSlides/notesSlide285.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286.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notesSlide" Target="../notesSlides/notesSlide286.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287.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28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8.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28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8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0.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29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1.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29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2.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292.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3.xml"/><Relationship Id="rId1" Type="http://schemas.openxmlformats.org/officeDocument/2006/relationships/slideLayout" Target="../slideLayouts/slideLayout23.xml"/><Relationship Id="rId5" Type="http://schemas.openxmlformats.org/officeDocument/2006/relationships/image" Target="../media/image292.png"/><Relationship Id="rId4" Type="http://schemas.openxmlformats.org/officeDocument/2006/relationships/image" Target="../media/image294.png"/></Relationships>
</file>

<file path=ppt/slides/_rels/slide294.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notesSlide" Target="../notesSlides/notesSlide294.xml"/><Relationship Id="rId1" Type="http://schemas.openxmlformats.org/officeDocument/2006/relationships/slideLayout" Target="../slideLayouts/slideLayout23.xml"/><Relationship Id="rId5" Type="http://schemas.openxmlformats.org/officeDocument/2006/relationships/image" Target="../media/image294.png"/><Relationship Id="rId4" Type="http://schemas.openxmlformats.org/officeDocument/2006/relationships/image" Target="../media/image12.png"/></Relationships>
</file>

<file path=ppt/slides/_rels/slide295.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notesSlide" Target="../notesSlides/notesSlide295.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6.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297.png"/></Relationships>
</file>

<file path=ppt/slides/_rels/slide297.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notesSlide" Target="../notesSlides/notesSlide297.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8.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298.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9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9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00.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300.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301.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notesSlide" Target="../notesSlides/notesSlide301.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302.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notesSlide" Target="../notesSlides/notesSlide302.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303.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notesSlide" Target="../notesSlides/notesSlide303.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_rels/slide304.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notesSlide" Target="../notesSlides/notesSlide304.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fontAlgn="base" latinLnBrk="1">
              <a:spcBef>
                <a:spcPct val="0"/>
              </a:spcBef>
              <a:spcAft>
                <a:spcPct val="0"/>
              </a:spcAft>
              <a:defRPr/>
            </a:pPr>
            <a:r>
              <a:rPr kumimoji="1" lang="en-US" altLang="ko-KR" sz="3400" dirty="0">
                <a:solidFill>
                  <a:schemeClr val="tx1"/>
                </a:solidFill>
                <a:latin typeface="Samsung Sharp Sans" pitchFamily="2" charset="0"/>
                <a:ea typeface="Samsung Sharp Sans" pitchFamily="2" charset="0"/>
                <a:cs typeface="Samsung Sharp Sans" pitchFamily="2" charset="0"/>
              </a:rPr>
              <a:t>NumPy Array Data Structure for Optimal Computational Performance</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grpSp>
        <p:nvGrpSpPr>
          <p:cNvPr id="2" name="그룹 1">
            <a:extLst>
              <a:ext uri="{FF2B5EF4-FFF2-40B4-BE49-F238E27FC236}">
                <a16:creationId xmlns:a16="http://schemas.microsoft.com/office/drawing/2014/main" id="{A084659F-CE00-493F-A38A-E9AD0ED809F4}"/>
              </a:ext>
            </a:extLst>
          </p:cNvPr>
          <p:cNvGrpSpPr/>
          <p:nvPr/>
        </p:nvGrpSpPr>
        <p:grpSpPr>
          <a:xfrm>
            <a:off x="1025537" y="4628753"/>
            <a:ext cx="7851751" cy="1087349"/>
            <a:chOff x="1025537" y="4609703"/>
            <a:chExt cx="7851751" cy="1087349"/>
          </a:xfrm>
        </p:grpSpPr>
        <p:sp>
          <p:nvSpPr>
            <p:cNvPr id="19" name="직사각형 18">
              <a:extLst>
                <a:ext uri="{FF2B5EF4-FFF2-40B4-BE49-F238E27FC236}">
                  <a16:creationId xmlns:a16="http://schemas.microsoft.com/office/drawing/2014/main" id="{20E12F40-87DE-4A58-8084-AA0E1F8437F9}"/>
                </a:ext>
              </a:extLst>
            </p:cNvPr>
            <p:cNvSpPr/>
            <p:nvPr/>
          </p:nvSpPr>
          <p:spPr>
            <a:xfrm>
              <a:off x="1025537" y="4609703"/>
              <a:ext cx="4185332" cy="1087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defTabSz="914400" fontAlgn="base" latinLnBrk="1">
                <a:spcBef>
                  <a:spcPct val="0"/>
                </a:spcBef>
                <a:spcAft>
                  <a:spcPts val="1000"/>
                </a:spcAft>
                <a:buSzPct val="120000"/>
                <a:buBlip>
                  <a:blip r:embed="rId3"/>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1.1. NumPy Arrays</a:t>
              </a:r>
            </a:p>
            <a:p>
              <a:pPr marL="176213" indent="-176213" fontAlgn="base">
                <a:spcBef>
                  <a:spcPct val="0"/>
                </a:spcBef>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1.2. NumPy Array Basics</a:t>
              </a:r>
              <a:endParaRPr lang="en-US" altLang="ko-KR" dirty="0">
                <a:solidFill>
                  <a:srgbClr val="A6A6A6"/>
                </a:solidFill>
                <a:latin typeface="SamsungOne 400" panose="020B0503030303020204" pitchFamily="34" charset="0"/>
                <a:ea typeface="SamsungOne 400" panose="020B0503030303020204" pitchFamily="34" charset="0"/>
              </a:endParaRPr>
            </a:p>
            <a:p>
              <a:pPr marL="176213" indent="-176213">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1.3. NumPy Array Operations</a:t>
              </a:r>
            </a:p>
          </p:txBody>
        </p:sp>
        <p:sp>
          <p:nvSpPr>
            <p:cNvPr id="22" name="직사각형 21">
              <a:extLst>
                <a:ext uri="{FF2B5EF4-FFF2-40B4-BE49-F238E27FC236}">
                  <a16:creationId xmlns:a16="http://schemas.microsoft.com/office/drawing/2014/main" id="{DA72D26E-7E37-40FE-8181-24CEEB58121C}"/>
                </a:ext>
              </a:extLst>
            </p:cNvPr>
            <p:cNvSpPr/>
            <p:nvPr/>
          </p:nvSpPr>
          <p:spPr>
            <a:xfrm>
              <a:off x="4691956" y="4609703"/>
              <a:ext cx="4185332" cy="681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1.4. NumPy Indexing and Slicing</a:t>
              </a:r>
            </a:p>
            <a:p>
              <a:pPr marL="176213" indent="-176213">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1.5. Array Transposition and Axis Swap</a:t>
              </a:r>
            </a:p>
          </p:txBody>
        </p:sp>
      </p:grpSp>
    </p:spTree>
    <p:extLst>
      <p:ext uri="{BB962C8B-B14F-4D97-AF65-F5344CB8AC3E}">
        <p14:creationId xmlns:p14="http://schemas.microsoft.com/office/powerpoint/2010/main" val="1339580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1.1. NumPy Arrays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What is NumPy?</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62" name="직사각형 61">
            <a:extLst>
              <a:ext uri="{FF2B5EF4-FFF2-40B4-BE49-F238E27FC236}">
                <a16:creationId xmlns:a16="http://schemas.microsoft.com/office/drawing/2014/main" id="{D8BF98C4-B566-4812-B5F0-560CFBA969E7}"/>
              </a:ext>
            </a:extLst>
          </p:cNvPr>
          <p:cNvSpPr/>
          <p:nvPr/>
        </p:nvSpPr>
        <p:spPr>
          <a:xfrm>
            <a:off x="702940" y="2160659"/>
            <a:ext cx="8632825"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a Python Library that provides multidimensional array objects, various derived objects (matrices, etc.), and an assortment of routines for fast operation on arrays.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supports discrete Fourier transforms, basic linear algebra, basic statistical operations, random simulations, etc.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ndarray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object is the core of the NumPy package. It processes n-dimensional arrays of homogenous data types.</a:t>
            </a:r>
          </a:p>
        </p:txBody>
      </p:sp>
      <p:sp>
        <p:nvSpPr>
          <p:cNvPr id="11" name="직사각형 10">
            <a:extLst>
              <a:ext uri="{FF2B5EF4-FFF2-40B4-BE49-F238E27FC236}">
                <a16:creationId xmlns:a16="http://schemas.microsoft.com/office/drawing/2014/main" id="{64998867-7F10-4B13-B112-CD31D5A01B43}"/>
              </a:ext>
            </a:extLst>
          </p:cNvPr>
          <p:cNvSpPr/>
          <p:nvPr/>
        </p:nvSpPr>
        <p:spPr>
          <a:xfrm>
            <a:off x="580388" y="184482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NumPy stands for Numerical Python, which is a basic package for Data Science.</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931384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33">
            <a:extLst>
              <a:ext uri="{FF2B5EF4-FFF2-40B4-BE49-F238E27FC236}">
                <a16:creationId xmlns:a16="http://schemas.microsoft.com/office/drawing/2014/main" id="{86DA347F-AA3A-4C85-BA53-489ED1BBA39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fontAlgn="base" latinLnBrk="1">
              <a:spcBef>
                <a:spcPct val="0"/>
              </a:spcBef>
              <a:spcAft>
                <a:spcPct val="0"/>
              </a:spcAft>
              <a:defRPr/>
            </a:pPr>
            <a:r>
              <a:rPr kumimoji="1" lang="en-US" altLang="ko-KR" sz="3400" dirty="0">
                <a:solidFill>
                  <a:schemeClr val="tx1"/>
                </a:solidFill>
                <a:latin typeface="Samsung Sharp Sans" pitchFamily="2" charset="0"/>
                <a:ea typeface="Samsung Sharp Sans" pitchFamily="2" charset="0"/>
                <a:cs typeface="Samsung Sharp Sans" pitchFamily="2" charset="0"/>
              </a:rPr>
              <a:t>NumPy Array Data Structure for Optimal Computational Performance</a:t>
            </a:r>
          </a:p>
        </p:txBody>
      </p:sp>
      <p:sp>
        <p:nvSpPr>
          <p:cNvPr id="22" name="직사각형 133">
            <a:extLst>
              <a:ext uri="{FF2B5EF4-FFF2-40B4-BE49-F238E27FC236}">
                <a16:creationId xmlns:a16="http://schemas.microsoft.com/office/drawing/2014/main" id="{475F72F3-A457-49C1-B859-09245F327721}"/>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grpSp>
        <p:nvGrpSpPr>
          <p:cNvPr id="25" name="그룹 24">
            <a:extLst>
              <a:ext uri="{FF2B5EF4-FFF2-40B4-BE49-F238E27FC236}">
                <a16:creationId xmlns:a16="http://schemas.microsoft.com/office/drawing/2014/main" id="{46E08036-8F3E-486A-B6C8-49F6930AC658}"/>
              </a:ext>
            </a:extLst>
          </p:cNvPr>
          <p:cNvGrpSpPr/>
          <p:nvPr/>
        </p:nvGrpSpPr>
        <p:grpSpPr>
          <a:xfrm>
            <a:off x="1025537" y="4628753"/>
            <a:ext cx="7851751" cy="1087349"/>
            <a:chOff x="1025537" y="4609703"/>
            <a:chExt cx="7851751" cy="1087349"/>
          </a:xfrm>
        </p:grpSpPr>
        <p:sp>
          <p:nvSpPr>
            <p:cNvPr id="31" name="직사각형 30">
              <a:extLst>
                <a:ext uri="{FF2B5EF4-FFF2-40B4-BE49-F238E27FC236}">
                  <a16:creationId xmlns:a16="http://schemas.microsoft.com/office/drawing/2014/main" id="{28AA8F4B-E0A0-449B-AEBE-4AFFD56BE13C}"/>
                </a:ext>
              </a:extLst>
            </p:cNvPr>
            <p:cNvSpPr/>
            <p:nvPr/>
          </p:nvSpPr>
          <p:spPr>
            <a:xfrm>
              <a:off x="1025537" y="4609703"/>
              <a:ext cx="4185332" cy="1087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1.1. NumPy Arrays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1.2. NumPy Array Basics</a:t>
              </a:r>
            </a:p>
            <a:p>
              <a:pPr marL="176213" indent="-176213">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1.3. NumPy Array Operations</a:t>
              </a:r>
            </a:p>
          </p:txBody>
        </p:sp>
        <p:sp>
          <p:nvSpPr>
            <p:cNvPr id="32" name="직사각형 31">
              <a:extLst>
                <a:ext uri="{FF2B5EF4-FFF2-40B4-BE49-F238E27FC236}">
                  <a16:creationId xmlns:a16="http://schemas.microsoft.com/office/drawing/2014/main" id="{3A74E5AB-B7FC-4188-BB1E-85BC77A45DAD}"/>
                </a:ext>
              </a:extLst>
            </p:cNvPr>
            <p:cNvSpPr/>
            <p:nvPr/>
          </p:nvSpPr>
          <p:spPr>
            <a:xfrm>
              <a:off x="4691956" y="4609703"/>
              <a:ext cx="4185332" cy="681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1.4. NumPy Indexing and Slicing</a:t>
              </a:r>
            </a:p>
            <a:p>
              <a:pPr marL="176213" indent="-176213">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1.5. Array Transposition and Axis Swap</a:t>
              </a:r>
            </a:p>
          </p:txBody>
        </p:sp>
      </p:grpSp>
    </p:spTree>
    <p:extLst>
      <p:ext uri="{BB962C8B-B14F-4D97-AF65-F5344CB8AC3E}">
        <p14:creationId xmlns:p14="http://schemas.microsoft.com/office/powerpoint/2010/main" val="240146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How to Import NumPy</a:t>
            </a:r>
          </a:p>
        </p:txBody>
      </p:sp>
      <p:grpSp>
        <p:nvGrpSpPr>
          <p:cNvPr id="3" name="그룹 2">
            <a:extLst>
              <a:ext uri="{FF2B5EF4-FFF2-40B4-BE49-F238E27FC236}">
                <a16:creationId xmlns:a16="http://schemas.microsoft.com/office/drawing/2014/main" id="{EABDC60E-5BF6-4C7D-82E6-508D067456D8}"/>
              </a:ext>
            </a:extLst>
          </p:cNvPr>
          <p:cNvGrpSpPr/>
          <p:nvPr/>
        </p:nvGrpSpPr>
        <p:grpSpPr>
          <a:xfrm>
            <a:off x="557644" y="3412066"/>
            <a:ext cx="8782050" cy="1217120"/>
            <a:chOff x="558396" y="3298896"/>
            <a:chExt cx="8782050" cy="1217120"/>
          </a:xfrm>
        </p:grpSpPr>
        <p:sp>
          <p:nvSpPr>
            <p:cNvPr id="22" name="모서리가 둥근 직사각형 4">
              <a:extLst>
                <a:ext uri="{FF2B5EF4-FFF2-40B4-BE49-F238E27FC236}">
                  <a16:creationId xmlns:a16="http://schemas.microsoft.com/office/drawing/2014/main" id="{A36E3BA1-83BF-4EF9-8B22-BB45DE7AA1FC}"/>
                </a:ext>
              </a:extLst>
            </p:cNvPr>
            <p:cNvSpPr/>
            <p:nvPr/>
          </p:nvSpPr>
          <p:spPr>
            <a:xfrm>
              <a:off x="558396" y="3298896"/>
              <a:ext cx="8782050" cy="12171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00" r="12825"/>
            <a:stretch/>
          </p:blipFill>
          <p:spPr>
            <a:xfrm>
              <a:off x="634480" y="3326364"/>
              <a:ext cx="8705214" cy="1124574"/>
            </a:xfrm>
            <a:prstGeom prst="rect">
              <a:avLst/>
            </a:prstGeom>
            <a:ln>
              <a:noFill/>
            </a:ln>
          </p:spPr>
        </p:pic>
      </p:grpSp>
      <p:sp>
        <p:nvSpPr>
          <p:cNvPr id="19" name="Rectangle 12">
            <a:extLst>
              <a:ext uri="{FF2B5EF4-FFF2-40B4-BE49-F238E27FC236}">
                <a16:creationId xmlns:a16="http://schemas.microsoft.com/office/drawing/2014/main" id="{39C1D0BA-7152-4AAC-B295-DCCB5F8378F4}"/>
              </a:ext>
            </a:extLst>
          </p:cNvPr>
          <p:cNvSpPr/>
          <p:nvPr/>
        </p:nvSpPr>
        <p:spPr>
          <a:xfrm>
            <a:off x="711201" y="2106754"/>
            <a:ext cx="8632824" cy="12482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For better readability of the code, abbreviate NumPy to np. This is a rule adopted by all those working with codes so that it can be easily understood.</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Python, objects generally have properties and methods. The property is another Python object stored inside the object, and the method refers to a function that allows access to the internal data of the object. It can be approached in the form of np.attrribute_name.</a:t>
            </a:r>
          </a:p>
        </p:txBody>
      </p:sp>
      <p:grpSp>
        <p:nvGrpSpPr>
          <p:cNvPr id="4" name="그룹 3">
            <a:extLst>
              <a:ext uri="{FF2B5EF4-FFF2-40B4-BE49-F238E27FC236}">
                <a16:creationId xmlns:a16="http://schemas.microsoft.com/office/drawing/2014/main" id="{F1353B94-770C-4E91-BD0F-46194618DC56}"/>
              </a:ext>
            </a:extLst>
          </p:cNvPr>
          <p:cNvGrpSpPr/>
          <p:nvPr/>
        </p:nvGrpSpPr>
        <p:grpSpPr>
          <a:xfrm>
            <a:off x="557644" y="4734475"/>
            <a:ext cx="8782050" cy="1291076"/>
            <a:chOff x="557644" y="4734475"/>
            <a:chExt cx="8782050" cy="1291076"/>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4734475"/>
              <a:ext cx="8782050" cy="12910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4" name="그룹 13">
              <a:extLst>
                <a:ext uri="{FF2B5EF4-FFF2-40B4-BE49-F238E27FC236}">
                  <a16:creationId xmlns:a16="http://schemas.microsoft.com/office/drawing/2014/main" id="{F18919BF-DD65-4EDD-8E99-5FA6C053E53B}"/>
                </a:ext>
              </a:extLst>
            </p:cNvPr>
            <p:cNvGrpSpPr/>
            <p:nvPr/>
          </p:nvGrpSpPr>
          <p:grpSpPr>
            <a:xfrm>
              <a:off x="665154" y="4823112"/>
              <a:ext cx="2918106" cy="292387"/>
              <a:chOff x="732985" y="5582396"/>
              <a:chExt cx="2918106" cy="302131"/>
            </a:xfrm>
          </p:grpSpPr>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5" name="TextBox 14">
              <a:extLst>
                <a:ext uri="{FF2B5EF4-FFF2-40B4-BE49-F238E27FC236}">
                  <a16:creationId xmlns:a16="http://schemas.microsoft.com/office/drawing/2014/main" id="{0800EE66-B78E-4CCD-A49E-31BBE412C7F6}"/>
                </a:ext>
              </a:extLst>
            </p:cNvPr>
            <p:cNvSpPr txBox="1"/>
            <p:nvPr/>
          </p:nvSpPr>
          <p:spPr>
            <a:xfrm>
              <a:off x="1024575" y="5158005"/>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As stands for alias, meaning it is abbreviated.</a:t>
              </a:r>
              <a:endParaRPr lang="ko-KR" altLang="en-US" sz="1300" dirty="0">
                <a:solidFill>
                  <a:prstClr val="black">
                    <a:lumMod val="85000"/>
                    <a:lumOff val="15000"/>
                  </a:prstClr>
                </a:solidFill>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5154" y="539917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3935" y="537644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0" name="TextBox 29">
              <a:extLst>
                <a:ext uri="{FF2B5EF4-FFF2-40B4-BE49-F238E27FC236}">
                  <a16:creationId xmlns:a16="http://schemas.microsoft.com/office/drawing/2014/main" id="{0800EE66-B78E-4CCD-A49E-31BBE412C7F6}"/>
                </a:ext>
              </a:extLst>
            </p:cNvPr>
            <p:cNvSpPr txBox="1"/>
            <p:nvPr/>
          </p:nvSpPr>
          <p:spPr>
            <a:xfrm>
              <a:off x="1024575" y="571133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To view the version of NumPy, use the built-in property ____version__.</a:t>
              </a:r>
              <a:endParaRPr lang="ko-KR" altLang="en-US" sz="1300" dirty="0">
                <a:solidFill>
                  <a:prstClr val="black">
                    <a:lumMod val="85000"/>
                    <a:lumOff val="15000"/>
                  </a:prstClr>
                </a:solidFill>
                <a:latin typeface="SamsungOne 400" panose="020B0503030303020204" pitchFamily="34" charset="0"/>
              </a:endParaRPr>
            </a:p>
          </p:txBody>
        </p:sp>
      </p:grpSp>
      <p:sp>
        <p:nvSpPr>
          <p:cNvPr id="31" name="직사각형 30">
            <a:extLst>
              <a:ext uri="{FF2B5EF4-FFF2-40B4-BE49-F238E27FC236}">
                <a16:creationId xmlns:a16="http://schemas.microsoft.com/office/drawing/2014/main" id="{BF4FC372-8A0A-4AA3-9506-00D796590A6F}"/>
              </a:ext>
            </a:extLst>
          </p:cNvPr>
          <p:cNvSpPr/>
          <p:nvPr/>
        </p:nvSpPr>
        <p:spPr>
          <a:xfrm>
            <a:off x="580388" y="184482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NumPy Library Import</a:t>
            </a:r>
          </a:p>
        </p:txBody>
      </p:sp>
    </p:spTree>
    <p:extLst>
      <p:ext uri="{BB962C8B-B14F-4D97-AF65-F5344CB8AC3E}">
        <p14:creationId xmlns:p14="http://schemas.microsoft.com/office/powerpoint/2010/main" val="2935885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NumPy</a:t>
            </a:r>
            <a:r>
              <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rPr>
              <a:t> </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Array Basics</a:t>
            </a:r>
          </a:p>
        </p:txBody>
      </p:sp>
      <p:grpSp>
        <p:nvGrpSpPr>
          <p:cNvPr id="2" name="그룹 1">
            <a:extLst>
              <a:ext uri="{FF2B5EF4-FFF2-40B4-BE49-F238E27FC236}">
                <a16:creationId xmlns:a16="http://schemas.microsoft.com/office/drawing/2014/main" id="{CC50D0E5-647A-43DC-999F-D20B4F96142F}"/>
              </a:ext>
            </a:extLst>
          </p:cNvPr>
          <p:cNvGrpSpPr/>
          <p:nvPr/>
        </p:nvGrpSpPr>
        <p:grpSpPr>
          <a:xfrm>
            <a:off x="559817" y="3417439"/>
            <a:ext cx="8782050" cy="2387825"/>
            <a:chOff x="559817" y="3789039"/>
            <a:chExt cx="8782050" cy="2387825"/>
          </a:xfrm>
        </p:grpSpPr>
        <p:sp>
          <p:nvSpPr>
            <p:cNvPr id="34" name="모서리가 둥근 직사각형 4">
              <a:extLst>
                <a:ext uri="{FF2B5EF4-FFF2-40B4-BE49-F238E27FC236}">
                  <a16:creationId xmlns:a16="http://schemas.microsoft.com/office/drawing/2014/main" id="{A36E3BA1-83BF-4EF9-8B22-BB45DE7AA1FC}"/>
                </a:ext>
              </a:extLst>
            </p:cNvPr>
            <p:cNvSpPr/>
            <p:nvPr/>
          </p:nvSpPr>
          <p:spPr>
            <a:xfrm>
              <a:off x="559817" y="3789039"/>
              <a:ext cx="8782050" cy="238782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357" r="14281"/>
            <a:stretch/>
          </p:blipFill>
          <p:spPr>
            <a:xfrm>
              <a:off x="604360" y="3855800"/>
              <a:ext cx="8737507" cy="2223583"/>
            </a:xfrm>
            <a:prstGeom prst="rect">
              <a:avLst/>
            </a:prstGeom>
            <a:ln>
              <a:noFill/>
            </a:ln>
          </p:spPr>
        </p:pic>
      </p:grpSp>
      <p:sp>
        <p:nvSpPr>
          <p:cNvPr id="15" name="Rectangle 12">
            <a:extLst>
              <a:ext uri="{FF2B5EF4-FFF2-40B4-BE49-F238E27FC236}">
                <a16:creationId xmlns:a16="http://schemas.microsoft.com/office/drawing/2014/main" id="{DDC3CFC0-B815-4081-ADBF-D7721003F2F2}"/>
              </a:ext>
            </a:extLst>
          </p:cNvPr>
          <p:cNvSpPr/>
          <p:nvPr/>
        </p:nvSpPr>
        <p:spPr>
          <a:xfrm>
            <a:off x="711201" y="2106754"/>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 n-dimensional array object is called a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ndarry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It can be used to process and store large datasets.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Fast and flexible arrangements use a similar grammar used for operations between scalar elements. They use mathematical operations for the entire data block.</a:t>
            </a:r>
          </a:p>
        </p:txBody>
      </p:sp>
      <p:sp>
        <p:nvSpPr>
          <p:cNvPr id="16" name="직사각형 15">
            <a:extLst>
              <a:ext uri="{FF2B5EF4-FFF2-40B4-BE49-F238E27FC236}">
                <a16:creationId xmlns:a16="http://schemas.microsoft.com/office/drawing/2014/main" id="{BA7BFE4E-0FFC-49CB-8243-11C7F533ADFB}"/>
              </a:ext>
            </a:extLst>
          </p:cNvPr>
          <p:cNvSpPr/>
          <p:nvPr/>
        </p:nvSpPr>
        <p:spPr>
          <a:xfrm>
            <a:off x="580388" y="184482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NumPy </a:t>
            </a:r>
            <a:r>
              <a:rPr lang="en-US" altLang="ko-KR" sz="1400" dirty="0" err="1">
                <a:solidFill>
                  <a:schemeClr val="tx1"/>
                </a:solidFill>
                <a:latin typeface="SamsungOne 400" panose="020B0503030303020204" pitchFamily="34" charset="0"/>
                <a:ea typeface="SamsungOne 400" panose="020B0503030303020204" pitchFamily="34" charset="0"/>
              </a:rPr>
              <a:t>ndarray</a:t>
            </a:r>
            <a:endParaRPr lang="en-US" altLang="ko-KR" sz="1400" dirty="0">
              <a:solidFill>
                <a:schemeClr val="tx1"/>
              </a:solidFill>
              <a:latin typeface="SamsungOne 400" panose="020B0503030303020204" pitchFamily="34" charset="0"/>
              <a:ea typeface="SamsungOne 400" panose="020B0503030303020204" pitchFamily="34" charset="0"/>
            </a:endParaRPr>
          </a:p>
        </p:txBody>
      </p:sp>
      <p:sp>
        <p:nvSpPr>
          <p:cNvPr id="17" name="직사각형 16">
            <a:extLst>
              <a:ext uri="{FF2B5EF4-FFF2-40B4-BE49-F238E27FC236}">
                <a16:creationId xmlns:a16="http://schemas.microsoft.com/office/drawing/2014/main" id="{6823BC7D-2DA5-4A7F-9FEB-A32D7FEA3DD9}"/>
              </a:ext>
            </a:extLst>
          </p:cNvPr>
          <p:cNvSpPr/>
          <p:nvPr/>
        </p:nvSpPr>
        <p:spPr>
          <a:xfrm>
            <a:off x="581098" y="3018542"/>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First, an arrangement may be made into a sequence (list, tuple, array, set).</a:t>
            </a:r>
          </a:p>
        </p:txBody>
      </p:sp>
    </p:spTree>
    <p:extLst>
      <p:ext uri="{BB962C8B-B14F-4D97-AF65-F5344CB8AC3E}">
        <p14:creationId xmlns:p14="http://schemas.microsoft.com/office/powerpoint/2010/main" val="267508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그룹 4">
            <a:extLst>
              <a:ext uri="{FF2B5EF4-FFF2-40B4-BE49-F238E27FC236}">
                <a16:creationId xmlns:a16="http://schemas.microsoft.com/office/drawing/2014/main" id="{DC5E03AC-9BA0-4FB2-92BE-F3C813918B10}"/>
              </a:ext>
            </a:extLst>
          </p:cNvPr>
          <p:cNvGrpSpPr/>
          <p:nvPr/>
        </p:nvGrpSpPr>
        <p:grpSpPr>
          <a:xfrm>
            <a:off x="558396" y="1720481"/>
            <a:ext cx="8782050" cy="487829"/>
            <a:chOff x="558396" y="1844824"/>
            <a:chExt cx="8782050" cy="487829"/>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4878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088" t="6954" r="12779"/>
            <a:stretch/>
          </p:blipFill>
          <p:spPr>
            <a:xfrm>
              <a:off x="648375" y="1905042"/>
              <a:ext cx="8692071" cy="418280"/>
            </a:xfrm>
            <a:prstGeom prst="rect">
              <a:avLst/>
            </a:prstGeom>
            <a:ln>
              <a:noFill/>
            </a:ln>
          </p:spPr>
        </p:pic>
      </p:grpSp>
      <p:grpSp>
        <p:nvGrpSpPr>
          <p:cNvPr id="6" name="그룹 5">
            <a:extLst>
              <a:ext uri="{FF2B5EF4-FFF2-40B4-BE49-F238E27FC236}">
                <a16:creationId xmlns:a16="http://schemas.microsoft.com/office/drawing/2014/main" id="{5ECB97FB-3926-4B1F-8D3D-5CD09D15DE96}"/>
              </a:ext>
            </a:extLst>
          </p:cNvPr>
          <p:cNvGrpSpPr/>
          <p:nvPr/>
        </p:nvGrpSpPr>
        <p:grpSpPr>
          <a:xfrm>
            <a:off x="558396" y="2744276"/>
            <a:ext cx="8782050" cy="1542042"/>
            <a:chOff x="558396" y="3113933"/>
            <a:chExt cx="8782050" cy="1542042"/>
          </a:xfrm>
        </p:grpSpPr>
        <p:sp>
          <p:nvSpPr>
            <p:cNvPr id="15" name="모서리가 둥근 직사각형 4">
              <a:extLst>
                <a:ext uri="{FF2B5EF4-FFF2-40B4-BE49-F238E27FC236}">
                  <a16:creationId xmlns:a16="http://schemas.microsoft.com/office/drawing/2014/main" id="{A36E3BA1-83BF-4EF9-8B22-BB45DE7AA1FC}"/>
                </a:ext>
              </a:extLst>
            </p:cNvPr>
            <p:cNvSpPr/>
            <p:nvPr/>
          </p:nvSpPr>
          <p:spPr>
            <a:xfrm>
              <a:off x="558396" y="3113933"/>
              <a:ext cx="8782050" cy="15420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665" r="17786"/>
            <a:stretch/>
          </p:blipFill>
          <p:spPr>
            <a:xfrm>
              <a:off x="606489" y="3177598"/>
              <a:ext cx="8733957" cy="1407980"/>
            </a:xfrm>
            <a:prstGeom prst="rect">
              <a:avLst/>
            </a:prstGeom>
            <a:ln>
              <a:noFill/>
            </a:ln>
          </p:spPr>
        </p:pic>
      </p:grpSp>
      <p:grpSp>
        <p:nvGrpSpPr>
          <p:cNvPr id="18" name="그룹 17">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9" name="직사각형 18">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1" name="직사각형 2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7" name="직사각형 16">
            <a:extLst>
              <a:ext uri="{FF2B5EF4-FFF2-40B4-BE49-F238E27FC236}">
                <a16:creationId xmlns:a16="http://schemas.microsoft.com/office/drawing/2014/main" id="{1BBE638F-80EB-4AA3-BFEA-B21985344B3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Here is one more arrangement.</a:t>
            </a:r>
            <a:endParaRPr lang="ko-KR" altLang="en-US" sz="1400" dirty="0">
              <a:solidFill>
                <a:schemeClr val="tx1"/>
              </a:solidFill>
              <a:latin typeface="SamsungOne 400" panose="020B0503030303020204" pitchFamily="34" charset="0"/>
            </a:endParaRPr>
          </a:p>
        </p:txBody>
      </p:sp>
      <p:sp>
        <p:nvSpPr>
          <p:cNvPr id="22" name="직사각형 21">
            <a:extLst>
              <a:ext uri="{FF2B5EF4-FFF2-40B4-BE49-F238E27FC236}">
                <a16:creationId xmlns:a16="http://schemas.microsoft.com/office/drawing/2014/main" id="{05DBEBFF-99D0-40A7-AEF5-DDA3D1B37B84}"/>
              </a:ext>
            </a:extLst>
          </p:cNvPr>
          <p:cNvSpPr/>
          <p:nvPr/>
        </p:nvSpPr>
        <p:spPr>
          <a:xfrm>
            <a:off x="580388" y="245500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Check the address of each array using a function representing the address id.</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267192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2">
            <a:extLst>
              <a:ext uri="{FF2B5EF4-FFF2-40B4-BE49-F238E27FC236}">
                <a16:creationId xmlns:a16="http://schemas.microsoft.com/office/drawing/2014/main" id="{39C1D0BA-7152-4AAC-B295-DCCB5F8378F4}"/>
              </a:ext>
            </a:extLst>
          </p:cNvPr>
          <p:cNvSpPr/>
          <p:nvPr/>
        </p:nvSpPr>
        <p:spPr>
          <a:xfrm>
            <a:off x="711201" y="5731319"/>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Python, the = symbol is an assignment operator that assigns address values.</a:t>
            </a:r>
          </a:p>
        </p:txBody>
      </p:sp>
      <p:grpSp>
        <p:nvGrpSpPr>
          <p:cNvPr id="19" name="그룹 1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0" name="직사각형 1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1" name="직사각형 2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3" name="직사각형 12">
            <a:extLst>
              <a:ext uri="{FF2B5EF4-FFF2-40B4-BE49-F238E27FC236}">
                <a16:creationId xmlns:a16="http://schemas.microsoft.com/office/drawing/2014/main" id="{B3C7987B-99D7-42C4-B36D-8584E3F5237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The actual value inside is the same, but the address is confirmed to be different because it is its own object. </a:t>
            </a:r>
            <a:endParaRPr lang="ko-KR" altLang="en-US" sz="1400" dirty="0">
              <a:solidFill>
                <a:schemeClr val="tx1"/>
              </a:solidFill>
              <a:latin typeface="SamsungOne 400" panose="020B0503030303020204" pitchFamily="34" charset="0"/>
            </a:endParaRPr>
          </a:p>
        </p:txBody>
      </p:sp>
      <p:grpSp>
        <p:nvGrpSpPr>
          <p:cNvPr id="2" name="그룹 1">
            <a:extLst>
              <a:ext uri="{FF2B5EF4-FFF2-40B4-BE49-F238E27FC236}">
                <a16:creationId xmlns:a16="http://schemas.microsoft.com/office/drawing/2014/main" id="{71B0654C-0D99-4135-B809-458D779D22E5}"/>
              </a:ext>
            </a:extLst>
          </p:cNvPr>
          <p:cNvGrpSpPr/>
          <p:nvPr/>
        </p:nvGrpSpPr>
        <p:grpSpPr>
          <a:xfrm>
            <a:off x="558396" y="1744188"/>
            <a:ext cx="8782050" cy="3858817"/>
            <a:chOff x="558396" y="1982149"/>
            <a:chExt cx="8782050" cy="3858817"/>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982149"/>
              <a:ext cx="8782050" cy="385881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9545" t="4662" r="1566" b="3062"/>
            <a:stretch/>
          </p:blipFill>
          <p:spPr>
            <a:xfrm>
              <a:off x="712182" y="2132856"/>
              <a:ext cx="8343686" cy="3600400"/>
            </a:xfrm>
            <a:prstGeom prst="rect">
              <a:avLst/>
            </a:prstGeom>
            <a:ln>
              <a:noFill/>
            </a:ln>
          </p:spPr>
        </p:pic>
        <p:sp>
          <p:nvSpPr>
            <p:cNvPr id="5" name="TextBox 4"/>
            <p:cNvSpPr txBox="1"/>
            <p:nvPr/>
          </p:nvSpPr>
          <p:spPr>
            <a:xfrm>
              <a:off x="1285828" y="3018724"/>
              <a:ext cx="1603324" cy="338554"/>
            </a:xfrm>
            <a:prstGeom prst="rect">
              <a:avLst/>
            </a:prstGeom>
            <a:solidFill>
              <a:schemeClr val="bg1"/>
            </a:solidFill>
          </p:spPr>
          <p:txBody>
            <a:bodyPr wrap="none" rtlCol="0">
              <a:spAutoFit/>
            </a:bodyPr>
            <a:lstStyle/>
            <a:p>
              <a:r>
                <a:rPr lang="en-US" sz="1600" dirty="0">
                  <a:latin typeface="SamsungOne 400" panose="020B0503030303020204" pitchFamily="34" charset="0"/>
                  <a:ea typeface="SamsungOne 400" panose="020B0503030303020204" pitchFamily="34" charset="0"/>
                </a:rPr>
                <a:t>2246716570240</a:t>
              </a:r>
            </a:p>
          </p:txBody>
        </p:sp>
        <p:sp>
          <p:nvSpPr>
            <p:cNvPr id="18" name="TextBox 17"/>
            <p:cNvSpPr txBox="1"/>
            <p:nvPr/>
          </p:nvSpPr>
          <p:spPr>
            <a:xfrm>
              <a:off x="1279003" y="4032360"/>
              <a:ext cx="1651414" cy="338554"/>
            </a:xfrm>
            <a:prstGeom prst="rect">
              <a:avLst/>
            </a:prstGeom>
            <a:solidFill>
              <a:schemeClr val="bg1"/>
            </a:solidFill>
          </p:spPr>
          <p:txBody>
            <a:bodyPr wrap="none" rtlCol="0">
              <a:spAutoFit/>
            </a:bodyPr>
            <a:lstStyle/>
            <a:p>
              <a:r>
                <a:rPr lang="en-US" sz="1600" dirty="0">
                  <a:latin typeface="SamsungOne 400" panose="020B0503030303020204" pitchFamily="34" charset="0"/>
                  <a:ea typeface="SamsungOne 400" panose="020B0503030303020204" pitchFamily="34" charset="0"/>
                </a:rPr>
                <a:t>2247660678400</a:t>
              </a:r>
            </a:p>
          </p:txBody>
        </p:sp>
        <p:sp>
          <p:nvSpPr>
            <p:cNvPr id="14" name="TextBox 13">
              <a:extLst>
                <a:ext uri="{FF2B5EF4-FFF2-40B4-BE49-F238E27FC236}">
                  <a16:creationId xmlns:a16="http://schemas.microsoft.com/office/drawing/2014/main" id="{12781011-F270-4A95-BD08-792F25F3D074}"/>
                </a:ext>
              </a:extLst>
            </p:cNvPr>
            <p:cNvSpPr txBox="1"/>
            <p:nvPr/>
          </p:nvSpPr>
          <p:spPr>
            <a:xfrm>
              <a:off x="3146141" y="3020050"/>
              <a:ext cx="540533" cy="338554"/>
            </a:xfrm>
            <a:prstGeom prst="rect">
              <a:avLst/>
            </a:prstGeom>
            <a:solidFill>
              <a:schemeClr val="bg1"/>
            </a:solidFill>
          </p:spPr>
          <p:txBody>
            <a:bodyPr wrap="none" rtlCol="0">
              <a:spAutoFit/>
            </a:bodyPr>
            <a:lstStyle/>
            <a:p>
              <a:r>
                <a:rPr lang="en-US" sz="1600" b="1" dirty="0">
                  <a:latin typeface="SamsungOne 400" panose="020B0503030303020204" pitchFamily="34" charset="0"/>
                  <a:ea typeface="SamsungOne 400" panose="020B0503030303020204" pitchFamily="34" charset="0"/>
                </a:rPr>
                <a:t>arr1</a:t>
              </a:r>
            </a:p>
          </p:txBody>
        </p:sp>
        <p:sp>
          <p:nvSpPr>
            <p:cNvPr id="15" name="TextBox 14">
              <a:extLst>
                <a:ext uri="{FF2B5EF4-FFF2-40B4-BE49-F238E27FC236}">
                  <a16:creationId xmlns:a16="http://schemas.microsoft.com/office/drawing/2014/main" id="{D55D5E47-7FBA-4118-B791-73FABC46FBCA}"/>
                </a:ext>
              </a:extLst>
            </p:cNvPr>
            <p:cNvSpPr txBox="1"/>
            <p:nvPr/>
          </p:nvSpPr>
          <p:spPr>
            <a:xfrm>
              <a:off x="3102598" y="4040197"/>
              <a:ext cx="556563" cy="338554"/>
            </a:xfrm>
            <a:prstGeom prst="rect">
              <a:avLst/>
            </a:prstGeom>
            <a:solidFill>
              <a:schemeClr val="bg1"/>
            </a:solidFill>
          </p:spPr>
          <p:txBody>
            <a:bodyPr wrap="none" rtlCol="0">
              <a:spAutoFit/>
            </a:bodyPr>
            <a:lstStyle/>
            <a:p>
              <a:r>
                <a:rPr lang="en-US" sz="1600" b="1" dirty="0">
                  <a:latin typeface="SamsungOne 400" panose="020B0503030303020204" pitchFamily="34" charset="0"/>
                  <a:ea typeface="SamsungOne 400" panose="020B0503030303020204" pitchFamily="34" charset="0"/>
                </a:rPr>
                <a:t>arr2</a:t>
              </a:r>
            </a:p>
          </p:txBody>
        </p:sp>
        <p:sp>
          <p:nvSpPr>
            <p:cNvPr id="22" name="TextBox 21">
              <a:extLst>
                <a:ext uri="{FF2B5EF4-FFF2-40B4-BE49-F238E27FC236}">
                  <a16:creationId xmlns:a16="http://schemas.microsoft.com/office/drawing/2014/main" id="{CCF935C4-26DF-4B08-BCB6-9E5192B17BCE}"/>
                </a:ext>
              </a:extLst>
            </p:cNvPr>
            <p:cNvSpPr txBox="1"/>
            <p:nvPr/>
          </p:nvSpPr>
          <p:spPr>
            <a:xfrm>
              <a:off x="5471490" y="234185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1</a:t>
              </a:r>
            </a:p>
          </p:txBody>
        </p:sp>
        <p:sp>
          <p:nvSpPr>
            <p:cNvPr id="23" name="TextBox 22">
              <a:extLst>
                <a:ext uri="{FF2B5EF4-FFF2-40B4-BE49-F238E27FC236}">
                  <a16:creationId xmlns:a16="http://schemas.microsoft.com/office/drawing/2014/main" id="{518EEE59-6678-4B28-B08F-8CC5AB9221A4}"/>
                </a:ext>
              </a:extLst>
            </p:cNvPr>
            <p:cNvSpPr txBox="1"/>
            <p:nvPr/>
          </p:nvSpPr>
          <p:spPr>
            <a:xfrm>
              <a:off x="6103540" y="234185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3</a:t>
              </a:r>
            </a:p>
          </p:txBody>
        </p:sp>
        <p:sp>
          <p:nvSpPr>
            <p:cNvPr id="24" name="TextBox 23">
              <a:extLst>
                <a:ext uri="{FF2B5EF4-FFF2-40B4-BE49-F238E27FC236}">
                  <a16:creationId xmlns:a16="http://schemas.microsoft.com/office/drawing/2014/main" id="{839D4E03-259D-43BD-A683-A4835F2C641E}"/>
                </a:ext>
              </a:extLst>
            </p:cNvPr>
            <p:cNvSpPr txBox="1"/>
            <p:nvPr/>
          </p:nvSpPr>
          <p:spPr>
            <a:xfrm>
              <a:off x="6735590" y="234185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5</a:t>
              </a:r>
            </a:p>
          </p:txBody>
        </p:sp>
        <p:sp>
          <p:nvSpPr>
            <p:cNvPr id="25" name="TextBox 24">
              <a:extLst>
                <a:ext uri="{FF2B5EF4-FFF2-40B4-BE49-F238E27FC236}">
                  <a16:creationId xmlns:a16="http://schemas.microsoft.com/office/drawing/2014/main" id="{385E44E5-D1EF-4168-A090-1202965B213A}"/>
                </a:ext>
              </a:extLst>
            </p:cNvPr>
            <p:cNvSpPr txBox="1"/>
            <p:nvPr/>
          </p:nvSpPr>
          <p:spPr>
            <a:xfrm>
              <a:off x="7365226" y="234185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7</a:t>
              </a:r>
            </a:p>
          </p:txBody>
        </p:sp>
        <p:sp>
          <p:nvSpPr>
            <p:cNvPr id="26" name="TextBox 25">
              <a:extLst>
                <a:ext uri="{FF2B5EF4-FFF2-40B4-BE49-F238E27FC236}">
                  <a16:creationId xmlns:a16="http://schemas.microsoft.com/office/drawing/2014/main" id="{F0752BFE-F0C5-4B62-A52E-D1C7284652A6}"/>
                </a:ext>
              </a:extLst>
            </p:cNvPr>
            <p:cNvSpPr txBox="1"/>
            <p:nvPr/>
          </p:nvSpPr>
          <p:spPr>
            <a:xfrm>
              <a:off x="7994862" y="234185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9</a:t>
              </a:r>
            </a:p>
          </p:txBody>
        </p:sp>
        <p:sp>
          <p:nvSpPr>
            <p:cNvPr id="30" name="TextBox 29">
              <a:extLst>
                <a:ext uri="{FF2B5EF4-FFF2-40B4-BE49-F238E27FC236}">
                  <a16:creationId xmlns:a16="http://schemas.microsoft.com/office/drawing/2014/main" id="{F0CCD057-2C4D-42EC-B6D7-D68B24031467}"/>
                </a:ext>
              </a:extLst>
            </p:cNvPr>
            <p:cNvSpPr txBox="1"/>
            <p:nvPr/>
          </p:nvSpPr>
          <p:spPr>
            <a:xfrm>
              <a:off x="5469057" y="405102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1</a:t>
              </a:r>
            </a:p>
          </p:txBody>
        </p:sp>
        <p:sp>
          <p:nvSpPr>
            <p:cNvPr id="31" name="TextBox 30">
              <a:extLst>
                <a:ext uri="{FF2B5EF4-FFF2-40B4-BE49-F238E27FC236}">
                  <a16:creationId xmlns:a16="http://schemas.microsoft.com/office/drawing/2014/main" id="{19C9487C-267B-4C30-A37A-8647C1AAD87C}"/>
                </a:ext>
              </a:extLst>
            </p:cNvPr>
            <p:cNvSpPr txBox="1"/>
            <p:nvPr/>
          </p:nvSpPr>
          <p:spPr>
            <a:xfrm>
              <a:off x="6101107" y="405102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3</a:t>
              </a:r>
            </a:p>
          </p:txBody>
        </p:sp>
        <p:sp>
          <p:nvSpPr>
            <p:cNvPr id="32" name="TextBox 31">
              <a:extLst>
                <a:ext uri="{FF2B5EF4-FFF2-40B4-BE49-F238E27FC236}">
                  <a16:creationId xmlns:a16="http://schemas.microsoft.com/office/drawing/2014/main" id="{C6449723-44F8-483D-BD67-AC739B8B793B}"/>
                </a:ext>
              </a:extLst>
            </p:cNvPr>
            <p:cNvSpPr txBox="1"/>
            <p:nvPr/>
          </p:nvSpPr>
          <p:spPr>
            <a:xfrm>
              <a:off x="6733157" y="405102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5</a:t>
              </a:r>
            </a:p>
          </p:txBody>
        </p:sp>
        <p:sp>
          <p:nvSpPr>
            <p:cNvPr id="33" name="TextBox 32">
              <a:extLst>
                <a:ext uri="{FF2B5EF4-FFF2-40B4-BE49-F238E27FC236}">
                  <a16:creationId xmlns:a16="http://schemas.microsoft.com/office/drawing/2014/main" id="{8E7A05A5-CBC7-42F9-99C4-D68B52A36C21}"/>
                </a:ext>
              </a:extLst>
            </p:cNvPr>
            <p:cNvSpPr txBox="1"/>
            <p:nvPr/>
          </p:nvSpPr>
          <p:spPr>
            <a:xfrm>
              <a:off x="7362793" y="405102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7</a:t>
              </a:r>
            </a:p>
          </p:txBody>
        </p:sp>
        <p:sp>
          <p:nvSpPr>
            <p:cNvPr id="34" name="TextBox 33">
              <a:extLst>
                <a:ext uri="{FF2B5EF4-FFF2-40B4-BE49-F238E27FC236}">
                  <a16:creationId xmlns:a16="http://schemas.microsoft.com/office/drawing/2014/main" id="{BC5E8DF9-ACE8-4E4D-B9F3-230BEC364AB1}"/>
                </a:ext>
              </a:extLst>
            </p:cNvPr>
            <p:cNvSpPr txBox="1"/>
            <p:nvPr/>
          </p:nvSpPr>
          <p:spPr>
            <a:xfrm>
              <a:off x="7992429" y="405102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9</a:t>
              </a:r>
            </a:p>
          </p:txBody>
        </p:sp>
      </p:grpSp>
    </p:spTree>
    <p:extLst>
      <p:ext uri="{BB962C8B-B14F-4D97-AF65-F5344CB8AC3E}">
        <p14:creationId xmlns:p14="http://schemas.microsoft.com/office/powerpoint/2010/main" val="1088535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14F86B1-AF15-4835-BB50-BBA1600CBB8C}"/>
              </a:ext>
            </a:extLst>
          </p:cNvPr>
          <p:cNvGrpSpPr/>
          <p:nvPr/>
        </p:nvGrpSpPr>
        <p:grpSpPr>
          <a:xfrm>
            <a:off x="558396" y="1744823"/>
            <a:ext cx="8782050" cy="1656184"/>
            <a:chOff x="558396" y="1844824"/>
            <a:chExt cx="8782050" cy="1656184"/>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16561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001" r="16195"/>
            <a:stretch/>
          </p:blipFill>
          <p:spPr>
            <a:xfrm>
              <a:off x="625149" y="1928378"/>
              <a:ext cx="8714545" cy="1486626"/>
            </a:xfrm>
            <a:prstGeom prst="rect">
              <a:avLst/>
            </a:prstGeom>
          </p:spPr>
        </p:pic>
      </p:grpSp>
      <p:grpSp>
        <p:nvGrpSpPr>
          <p:cNvPr id="14" name="그룹 13">
            <a:extLst>
              <a:ext uri="{FF2B5EF4-FFF2-40B4-BE49-F238E27FC236}">
                <a16:creationId xmlns:a16="http://schemas.microsoft.com/office/drawing/2014/main" id="{2DD374C3-05CB-48D7-A1D6-6E076A1FC74E}"/>
              </a:ext>
            </a:extLst>
          </p:cNvPr>
          <p:cNvGrpSpPr/>
          <p:nvPr/>
        </p:nvGrpSpPr>
        <p:grpSpPr>
          <a:xfrm>
            <a:off x="557644" y="3482346"/>
            <a:ext cx="8782050" cy="720080"/>
            <a:chOff x="568325" y="5114924"/>
            <a:chExt cx="8782050" cy="744077"/>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68325" y="5114924"/>
              <a:ext cx="8782050" cy="7440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7" name="그룹 16">
              <a:extLst>
                <a:ext uri="{FF2B5EF4-FFF2-40B4-BE49-F238E27FC236}">
                  <a16:creationId xmlns:a16="http://schemas.microsoft.com/office/drawing/2014/main" id="{F18919BF-DD65-4EDD-8E99-5FA6C053E53B}"/>
                </a:ext>
              </a:extLst>
            </p:cNvPr>
            <p:cNvGrpSpPr/>
            <p:nvPr/>
          </p:nvGrpSpPr>
          <p:grpSpPr>
            <a:xfrm>
              <a:off x="675835" y="5210921"/>
              <a:ext cx="2918106" cy="302131"/>
              <a:chOff x="732985" y="5582396"/>
              <a:chExt cx="2918106" cy="302131"/>
            </a:xfrm>
          </p:grpSpPr>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9" name="TextBox 18">
              <a:extLst>
                <a:ext uri="{FF2B5EF4-FFF2-40B4-BE49-F238E27FC236}">
                  <a16:creationId xmlns:a16="http://schemas.microsoft.com/office/drawing/2014/main" id="{0800EE66-B78E-4CCD-A49E-31BBE412C7F6}"/>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After assigning the address values, we can see that the address values are the same. </a:t>
              </a:r>
              <a:endParaRPr lang="ko-KR" altLang="en-US" sz="1300" dirty="0">
                <a:solidFill>
                  <a:prstClr val="black">
                    <a:lumMod val="85000"/>
                    <a:lumOff val="15000"/>
                  </a:prstClr>
                </a:solidFill>
                <a:latin typeface="SamsungOne 400" panose="020B0503030303020204" pitchFamily="34" charset="0"/>
              </a:endParaRPr>
            </a:p>
          </p:txBody>
        </p:sp>
      </p:grpSp>
      <p:grpSp>
        <p:nvGrpSpPr>
          <p:cNvPr id="26" name="그룹 25">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30" name="직사각형 2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31" name="직사각형 3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8" name="직사각형 17">
            <a:extLst>
              <a:ext uri="{FF2B5EF4-FFF2-40B4-BE49-F238E27FC236}">
                <a16:creationId xmlns:a16="http://schemas.microsoft.com/office/drawing/2014/main" id="{423D71B5-CAB5-4343-86D7-DA513655336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Let’s assign the address arr1 to the variable arr3.</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60423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그룹 34">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36" name="직사각형 35">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37" name="직사각형 3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5" name="직사각형 14">
            <a:extLst>
              <a:ext uri="{FF2B5EF4-FFF2-40B4-BE49-F238E27FC236}">
                <a16:creationId xmlns:a16="http://schemas.microsoft.com/office/drawing/2014/main" id="{9BA04E42-C308-4CB8-AAD7-7F371DE293F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We can see that the address values are the same. </a:t>
            </a:r>
            <a:endParaRPr lang="ko-KR" altLang="en-US" sz="1400" dirty="0">
              <a:solidFill>
                <a:schemeClr val="tx1"/>
              </a:solidFill>
              <a:latin typeface="SamsungOne 400" panose="020B0503030303020204" pitchFamily="34" charset="0"/>
            </a:endParaRPr>
          </a:p>
        </p:txBody>
      </p:sp>
      <p:grpSp>
        <p:nvGrpSpPr>
          <p:cNvPr id="5" name="그룹 4">
            <a:extLst>
              <a:ext uri="{FF2B5EF4-FFF2-40B4-BE49-F238E27FC236}">
                <a16:creationId xmlns:a16="http://schemas.microsoft.com/office/drawing/2014/main" id="{9B82C6F5-C261-4A5A-B3F5-54D78F839938}"/>
              </a:ext>
            </a:extLst>
          </p:cNvPr>
          <p:cNvGrpSpPr/>
          <p:nvPr/>
        </p:nvGrpSpPr>
        <p:grpSpPr>
          <a:xfrm>
            <a:off x="558396" y="1735492"/>
            <a:ext cx="8782050" cy="4024131"/>
            <a:chOff x="558396" y="1844824"/>
            <a:chExt cx="8782050" cy="4024131"/>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40241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9341" r="4855"/>
            <a:stretch/>
          </p:blipFill>
          <p:spPr>
            <a:xfrm>
              <a:off x="702940" y="1988840"/>
              <a:ext cx="8496944" cy="3835497"/>
            </a:xfrm>
            <a:prstGeom prst="rect">
              <a:avLst/>
            </a:prstGeom>
          </p:spPr>
        </p:pic>
        <p:sp>
          <p:nvSpPr>
            <p:cNvPr id="18" name="TextBox 17"/>
            <p:cNvSpPr txBox="1"/>
            <p:nvPr/>
          </p:nvSpPr>
          <p:spPr>
            <a:xfrm>
              <a:off x="1121340" y="2911296"/>
              <a:ext cx="1644589" cy="338554"/>
            </a:xfrm>
            <a:prstGeom prst="rect">
              <a:avLst/>
            </a:prstGeom>
            <a:solidFill>
              <a:schemeClr val="bg1"/>
            </a:solidFill>
          </p:spPr>
          <p:txBody>
            <a:bodyPr wrap="square" rtlCol="0">
              <a:spAutoFit/>
            </a:bodyPr>
            <a:lstStyle/>
            <a:p>
              <a:r>
                <a:rPr lang="en-US" sz="1600" dirty="0">
                  <a:latin typeface="SamsungOne 400" panose="020B0503030303020204" pitchFamily="34" charset="0"/>
                  <a:ea typeface="SamsungOne 400" panose="020B0503030303020204" pitchFamily="34" charset="0"/>
                </a:rPr>
                <a:t>2246716570240</a:t>
              </a:r>
            </a:p>
          </p:txBody>
        </p:sp>
        <p:sp>
          <p:nvSpPr>
            <p:cNvPr id="26" name="TextBox 25"/>
            <p:cNvSpPr txBox="1"/>
            <p:nvPr/>
          </p:nvSpPr>
          <p:spPr>
            <a:xfrm>
              <a:off x="1114516" y="3924932"/>
              <a:ext cx="1651414" cy="338554"/>
            </a:xfrm>
            <a:prstGeom prst="rect">
              <a:avLst/>
            </a:prstGeom>
            <a:solidFill>
              <a:schemeClr val="bg1"/>
            </a:solidFill>
          </p:spPr>
          <p:txBody>
            <a:bodyPr wrap="none" rtlCol="0">
              <a:spAutoFit/>
            </a:bodyPr>
            <a:lstStyle/>
            <a:p>
              <a:r>
                <a:rPr lang="en-US" sz="1600" dirty="0">
                  <a:latin typeface="SamsungOne 400" panose="020B0503030303020204" pitchFamily="34" charset="0"/>
                  <a:ea typeface="SamsungOne 400" panose="020B0503030303020204" pitchFamily="34" charset="0"/>
                </a:rPr>
                <a:t>2247660678400</a:t>
              </a:r>
            </a:p>
          </p:txBody>
        </p:sp>
        <p:sp>
          <p:nvSpPr>
            <p:cNvPr id="30" name="TextBox 29"/>
            <p:cNvSpPr txBox="1"/>
            <p:nvPr/>
          </p:nvSpPr>
          <p:spPr>
            <a:xfrm>
              <a:off x="1117928" y="5016665"/>
              <a:ext cx="1644589" cy="338554"/>
            </a:xfrm>
            <a:prstGeom prst="rect">
              <a:avLst/>
            </a:prstGeom>
            <a:solidFill>
              <a:schemeClr val="bg1"/>
            </a:solidFill>
          </p:spPr>
          <p:txBody>
            <a:bodyPr wrap="square" rtlCol="0">
              <a:spAutoFit/>
            </a:bodyPr>
            <a:lstStyle/>
            <a:p>
              <a:r>
                <a:rPr lang="en-US" sz="1600" dirty="0">
                  <a:latin typeface="SamsungOne 400" panose="020B0503030303020204" pitchFamily="34" charset="0"/>
                  <a:ea typeface="SamsungOne 400" panose="020B0503030303020204" pitchFamily="34" charset="0"/>
                </a:rPr>
                <a:t>2246716570240</a:t>
              </a:r>
            </a:p>
          </p:txBody>
        </p:sp>
        <p:sp>
          <p:nvSpPr>
            <p:cNvPr id="4" name="직사각형 3"/>
            <p:cNvSpPr/>
            <p:nvPr/>
          </p:nvSpPr>
          <p:spPr>
            <a:xfrm>
              <a:off x="3007196" y="4941168"/>
              <a:ext cx="504056" cy="4140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p:cNvSpPr txBox="1"/>
            <p:nvPr/>
          </p:nvSpPr>
          <p:spPr>
            <a:xfrm>
              <a:off x="2924289" y="4982545"/>
              <a:ext cx="1644589" cy="400110"/>
            </a:xfrm>
            <a:prstGeom prst="rect">
              <a:avLst/>
            </a:prstGeom>
            <a:noFill/>
          </p:spPr>
          <p:txBody>
            <a:bodyPr wrap="square" rtlCol="0">
              <a:spAutoFit/>
            </a:bodyPr>
            <a:lstStyle/>
            <a:p>
              <a:r>
                <a:rPr lang="en-US" altLang="ko-KR" sz="2000" dirty="0">
                  <a:ea typeface="SamsungOne 400" panose="020B0503030303020204" pitchFamily="34" charset="0"/>
                </a:rPr>
                <a:t>arr3</a:t>
              </a:r>
              <a:endParaRPr lang="en-US" sz="2000" dirty="0">
                <a:ea typeface="SamsungOne 400" panose="020B0503030303020204" pitchFamily="34" charset="0"/>
              </a:endParaRPr>
            </a:p>
          </p:txBody>
        </p:sp>
        <p:sp>
          <p:nvSpPr>
            <p:cNvPr id="16" name="TextBox 15">
              <a:extLst>
                <a:ext uri="{FF2B5EF4-FFF2-40B4-BE49-F238E27FC236}">
                  <a16:creationId xmlns:a16="http://schemas.microsoft.com/office/drawing/2014/main" id="{87287275-1F12-4E27-A770-1A50126AC725}"/>
                </a:ext>
              </a:extLst>
            </p:cNvPr>
            <p:cNvSpPr txBox="1"/>
            <p:nvPr/>
          </p:nvSpPr>
          <p:spPr>
            <a:xfrm>
              <a:off x="2991477" y="2911296"/>
              <a:ext cx="556563" cy="338554"/>
            </a:xfrm>
            <a:prstGeom prst="rect">
              <a:avLst/>
            </a:prstGeom>
            <a:solidFill>
              <a:schemeClr val="bg1"/>
            </a:solidFill>
          </p:spPr>
          <p:txBody>
            <a:bodyPr wrap="none" rtlCol="0">
              <a:spAutoFit/>
            </a:bodyPr>
            <a:lstStyle/>
            <a:p>
              <a:r>
                <a:rPr lang="en-US" sz="1600" b="1" dirty="0">
                  <a:latin typeface="SamsungOne 400" panose="020B0503030303020204" pitchFamily="34" charset="0"/>
                  <a:ea typeface="SamsungOne 400" panose="020B0503030303020204" pitchFamily="34" charset="0"/>
                </a:rPr>
                <a:t>arr1</a:t>
              </a:r>
            </a:p>
          </p:txBody>
        </p:sp>
        <p:sp>
          <p:nvSpPr>
            <p:cNvPr id="17" name="TextBox 16">
              <a:extLst>
                <a:ext uri="{FF2B5EF4-FFF2-40B4-BE49-F238E27FC236}">
                  <a16:creationId xmlns:a16="http://schemas.microsoft.com/office/drawing/2014/main" id="{8C828C8A-D130-4773-968B-113CF96DED7B}"/>
                </a:ext>
              </a:extLst>
            </p:cNvPr>
            <p:cNvSpPr txBox="1"/>
            <p:nvPr/>
          </p:nvSpPr>
          <p:spPr>
            <a:xfrm>
              <a:off x="3009556" y="3964773"/>
              <a:ext cx="424110" cy="271325"/>
            </a:xfrm>
            <a:prstGeom prst="rect">
              <a:avLst/>
            </a:prstGeom>
            <a:solidFill>
              <a:schemeClr val="bg1"/>
            </a:solidFill>
          </p:spPr>
          <p:txBody>
            <a:bodyPr wrap="square" lIns="0" rIns="0" rtlCol="0">
              <a:noAutofit/>
            </a:bodyPr>
            <a:lstStyle/>
            <a:p>
              <a:pPr algn="ctr"/>
              <a:r>
                <a:rPr lang="en-US" sz="1600" b="1" dirty="0">
                  <a:latin typeface="SamsungOne 400" panose="020B0503030303020204" pitchFamily="34" charset="0"/>
                  <a:ea typeface="SamsungOne 400" panose="020B0503030303020204" pitchFamily="34" charset="0"/>
                </a:rPr>
                <a:t>arr2</a:t>
              </a:r>
            </a:p>
          </p:txBody>
        </p:sp>
        <p:sp>
          <p:nvSpPr>
            <p:cNvPr id="19" name="TextBox 18">
              <a:extLst>
                <a:ext uri="{FF2B5EF4-FFF2-40B4-BE49-F238E27FC236}">
                  <a16:creationId xmlns:a16="http://schemas.microsoft.com/office/drawing/2014/main" id="{D1A4B451-2953-4272-958E-3641E24D6C88}"/>
                </a:ext>
              </a:extLst>
            </p:cNvPr>
            <p:cNvSpPr txBox="1"/>
            <p:nvPr/>
          </p:nvSpPr>
          <p:spPr>
            <a:xfrm>
              <a:off x="3009556" y="5050347"/>
              <a:ext cx="424110" cy="271325"/>
            </a:xfrm>
            <a:prstGeom prst="rect">
              <a:avLst/>
            </a:prstGeom>
            <a:solidFill>
              <a:schemeClr val="bg1"/>
            </a:solidFill>
          </p:spPr>
          <p:txBody>
            <a:bodyPr wrap="square" lIns="0" rIns="0" rtlCol="0">
              <a:noAutofit/>
            </a:bodyPr>
            <a:lstStyle/>
            <a:p>
              <a:pPr algn="ctr"/>
              <a:r>
                <a:rPr lang="en-US" sz="1600" b="1" dirty="0">
                  <a:latin typeface="SamsungOne 400" panose="020B0503030303020204" pitchFamily="34" charset="0"/>
                  <a:ea typeface="SamsungOne 400" panose="020B0503030303020204" pitchFamily="34" charset="0"/>
                </a:rPr>
                <a:t>arr3</a:t>
              </a:r>
            </a:p>
          </p:txBody>
        </p:sp>
        <p:grpSp>
          <p:nvGrpSpPr>
            <p:cNvPr id="2" name="그룹 1">
              <a:extLst>
                <a:ext uri="{FF2B5EF4-FFF2-40B4-BE49-F238E27FC236}">
                  <a16:creationId xmlns:a16="http://schemas.microsoft.com/office/drawing/2014/main" id="{3FF25FD9-1216-4577-A400-425C9FA5DB1F}"/>
                </a:ext>
              </a:extLst>
            </p:cNvPr>
            <p:cNvGrpSpPr/>
            <p:nvPr/>
          </p:nvGrpSpPr>
          <p:grpSpPr>
            <a:xfrm>
              <a:off x="5471490" y="2192241"/>
              <a:ext cx="2909367" cy="204817"/>
              <a:chOff x="5471490" y="2089604"/>
              <a:chExt cx="2909367" cy="204817"/>
            </a:xfrm>
          </p:grpSpPr>
          <p:sp>
            <p:nvSpPr>
              <p:cNvPr id="20" name="TextBox 19">
                <a:extLst>
                  <a:ext uri="{FF2B5EF4-FFF2-40B4-BE49-F238E27FC236}">
                    <a16:creationId xmlns:a16="http://schemas.microsoft.com/office/drawing/2014/main" id="{CC0218CB-5951-46EC-ABDE-12E75A2CC60C}"/>
                  </a:ext>
                </a:extLst>
              </p:cNvPr>
              <p:cNvSpPr txBox="1"/>
              <p:nvPr/>
            </p:nvSpPr>
            <p:spPr>
              <a:xfrm>
                <a:off x="5471490" y="2089604"/>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1</a:t>
                </a:r>
              </a:p>
            </p:txBody>
          </p:sp>
          <p:sp>
            <p:nvSpPr>
              <p:cNvPr id="21" name="TextBox 20">
                <a:extLst>
                  <a:ext uri="{FF2B5EF4-FFF2-40B4-BE49-F238E27FC236}">
                    <a16:creationId xmlns:a16="http://schemas.microsoft.com/office/drawing/2014/main" id="{705DBFD6-637F-4A6A-8F71-D45B365C5132}"/>
                  </a:ext>
                </a:extLst>
              </p:cNvPr>
              <p:cNvSpPr txBox="1"/>
              <p:nvPr/>
            </p:nvSpPr>
            <p:spPr>
              <a:xfrm>
                <a:off x="6103540" y="209368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3</a:t>
                </a:r>
              </a:p>
            </p:txBody>
          </p:sp>
          <p:sp>
            <p:nvSpPr>
              <p:cNvPr id="22" name="TextBox 21">
                <a:extLst>
                  <a:ext uri="{FF2B5EF4-FFF2-40B4-BE49-F238E27FC236}">
                    <a16:creationId xmlns:a16="http://schemas.microsoft.com/office/drawing/2014/main" id="{8EBD9543-02DA-4E9E-B90B-6630546F6E62}"/>
                  </a:ext>
                </a:extLst>
              </p:cNvPr>
              <p:cNvSpPr txBox="1"/>
              <p:nvPr/>
            </p:nvSpPr>
            <p:spPr>
              <a:xfrm>
                <a:off x="6735590" y="209368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5</a:t>
                </a:r>
              </a:p>
            </p:txBody>
          </p:sp>
          <p:sp>
            <p:nvSpPr>
              <p:cNvPr id="23" name="TextBox 22">
                <a:extLst>
                  <a:ext uri="{FF2B5EF4-FFF2-40B4-BE49-F238E27FC236}">
                    <a16:creationId xmlns:a16="http://schemas.microsoft.com/office/drawing/2014/main" id="{7D6CB1B8-9AB0-42D6-8305-DA9F5D226ABB}"/>
                  </a:ext>
                </a:extLst>
              </p:cNvPr>
              <p:cNvSpPr txBox="1"/>
              <p:nvPr/>
            </p:nvSpPr>
            <p:spPr>
              <a:xfrm>
                <a:off x="7413289" y="2089604"/>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7</a:t>
                </a:r>
              </a:p>
            </p:txBody>
          </p:sp>
          <p:sp>
            <p:nvSpPr>
              <p:cNvPr id="24" name="TextBox 23">
                <a:extLst>
                  <a:ext uri="{FF2B5EF4-FFF2-40B4-BE49-F238E27FC236}">
                    <a16:creationId xmlns:a16="http://schemas.microsoft.com/office/drawing/2014/main" id="{E3B43E09-816E-4DC7-A796-85650EDA8226}"/>
                  </a:ext>
                </a:extLst>
              </p:cNvPr>
              <p:cNvSpPr txBox="1"/>
              <p:nvPr/>
            </p:nvSpPr>
            <p:spPr>
              <a:xfrm>
                <a:off x="8076700" y="2093683"/>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9</a:t>
                </a:r>
              </a:p>
            </p:txBody>
          </p:sp>
        </p:grpSp>
        <p:grpSp>
          <p:nvGrpSpPr>
            <p:cNvPr id="25" name="그룹 24">
              <a:extLst>
                <a:ext uri="{FF2B5EF4-FFF2-40B4-BE49-F238E27FC236}">
                  <a16:creationId xmlns:a16="http://schemas.microsoft.com/office/drawing/2014/main" id="{E8CFEDC8-ACC7-4FF2-9860-E94A9E8E3B1B}"/>
                </a:ext>
              </a:extLst>
            </p:cNvPr>
            <p:cNvGrpSpPr/>
            <p:nvPr/>
          </p:nvGrpSpPr>
          <p:grpSpPr>
            <a:xfrm>
              <a:off x="5473903" y="3960813"/>
              <a:ext cx="2906953" cy="200738"/>
              <a:chOff x="5471490" y="2103892"/>
              <a:chExt cx="2906953" cy="200738"/>
            </a:xfrm>
          </p:grpSpPr>
          <p:sp>
            <p:nvSpPr>
              <p:cNvPr id="27" name="TextBox 26">
                <a:extLst>
                  <a:ext uri="{FF2B5EF4-FFF2-40B4-BE49-F238E27FC236}">
                    <a16:creationId xmlns:a16="http://schemas.microsoft.com/office/drawing/2014/main" id="{45814D99-D49A-4DF8-99AA-D209911353BD}"/>
                  </a:ext>
                </a:extLst>
              </p:cNvPr>
              <p:cNvSpPr txBox="1"/>
              <p:nvPr/>
            </p:nvSpPr>
            <p:spPr>
              <a:xfrm>
                <a:off x="5471490" y="210389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1</a:t>
                </a:r>
              </a:p>
            </p:txBody>
          </p:sp>
          <p:sp>
            <p:nvSpPr>
              <p:cNvPr id="28" name="TextBox 27">
                <a:extLst>
                  <a:ext uri="{FF2B5EF4-FFF2-40B4-BE49-F238E27FC236}">
                    <a16:creationId xmlns:a16="http://schemas.microsoft.com/office/drawing/2014/main" id="{B66BC6E7-27E8-4853-8629-B8E7DBC06C02}"/>
                  </a:ext>
                </a:extLst>
              </p:cNvPr>
              <p:cNvSpPr txBox="1"/>
              <p:nvPr/>
            </p:nvSpPr>
            <p:spPr>
              <a:xfrm>
                <a:off x="6103540" y="210389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3</a:t>
                </a:r>
              </a:p>
            </p:txBody>
          </p:sp>
          <p:sp>
            <p:nvSpPr>
              <p:cNvPr id="29" name="TextBox 28">
                <a:extLst>
                  <a:ext uri="{FF2B5EF4-FFF2-40B4-BE49-F238E27FC236}">
                    <a16:creationId xmlns:a16="http://schemas.microsoft.com/office/drawing/2014/main" id="{5ACAB9F2-4327-4D60-843D-954EE2682D9F}"/>
                  </a:ext>
                </a:extLst>
              </p:cNvPr>
              <p:cNvSpPr txBox="1"/>
              <p:nvPr/>
            </p:nvSpPr>
            <p:spPr>
              <a:xfrm>
                <a:off x="6735590" y="210389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5</a:t>
                </a:r>
              </a:p>
            </p:txBody>
          </p:sp>
          <p:sp>
            <p:nvSpPr>
              <p:cNvPr id="38" name="TextBox 37">
                <a:extLst>
                  <a:ext uri="{FF2B5EF4-FFF2-40B4-BE49-F238E27FC236}">
                    <a16:creationId xmlns:a16="http://schemas.microsoft.com/office/drawing/2014/main" id="{235D65D4-554E-42FC-AA46-C5467274A041}"/>
                  </a:ext>
                </a:extLst>
              </p:cNvPr>
              <p:cNvSpPr txBox="1"/>
              <p:nvPr/>
            </p:nvSpPr>
            <p:spPr>
              <a:xfrm>
                <a:off x="7410876" y="210389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7</a:t>
                </a:r>
              </a:p>
            </p:txBody>
          </p:sp>
          <p:sp>
            <p:nvSpPr>
              <p:cNvPr id="39" name="TextBox 38">
                <a:extLst>
                  <a:ext uri="{FF2B5EF4-FFF2-40B4-BE49-F238E27FC236}">
                    <a16:creationId xmlns:a16="http://schemas.microsoft.com/office/drawing/2014/main" id="{1937411F-9B25-48DF-A21A-DDE018F0D776}"/>
                  </a:ext>
                </a:extLst>
              </p:cNvPr>
              <p:cNvSpPr txBox="1"/>
              <p:nvPr/>
            </p:nvSpPr>
            <p:spPr>
              <a:xfrm>
                <a:off x="8074286" y="2103892"/>
                <a:ext cx="304157" cy="200738"/>
              </a:xfrm>
              <a:prstGeom prst="rect">
                <a:avLst/>
              </a:prstGeom>
              <a:solidFill>
                <a:schemeClr val="bg1"/>
              </a:solidFill>
            </p:spPr>
            <p:txBody>
              <a:bodyPr wrap="none" lIns="0" tIns="0" rIns="0" bIns="0" rtlCol="0">
                <a:noAutofit/>
              </a:bodyPr>
              <a:lstStyle/>
              <a:p>
                <a:pPr algn="ctr"/>
                <a:r>
                  <a:rPr lang="en-US" sz="1600" b="1" dirty="0">
                    <a:latin typeface="SamsungOne 400" panose="020B0503030303020204" pitchFamily="34" charset="0"/>
                    <a:ea typeface="SamsungOne 400" panose="020B0503030303020204" pitchFamily="34" charset="0"/>
                  </a:rPr>
                  <a:t>9</a:t>
                </a:r>
              </a:p>
            </p:txBody>
          </p:sp>
        </p:grpSp>
      </p:grpSp>
    </p:spTree>
    <p:extLst>
      <p:ext uri="{BB962C8B-B14F-4D97-AF65-F5344CB8AC3E}">
        <p14:creationId xmlns:p14="http://schemas.microsoft.com/office/powerpoint/2010/main" val="3163689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FBD36A14-2E5A-4601-AD27-86DF052F41D1}"/>
              </a:ext>
            </a:extLst>
          </p:cNvPr>
          <p:cNvGrpSpPr/>
          <p:nvPr/>
        </p:nvGrpSpPr>
        <p:grpSpPr>
          <a:xfrm>
            <a:off x="558396" y="1747463"/>
            <a:ext cx="8782050" cy="1296144"/>
            <a:chOff x="558396" y="1844824"/>
            <a:chExt cx="8782050" cy="1296144"/>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129614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83" r="22126"/>
            <a:stretch/>
          </p:blipFill>
          <p:spPr>
            <a:xfrm>
              <a:off x="643811" y="1911795"/>
              <a:ext cx="8695355" cy="1170709"/>
            </a:xfrm>
            <a:prstGeom prst="rect">
              <a:avLst/>
            </a:prstGeom>
          </p:spPr>
        </p:pic>
      </p:grpSp>
      <p:grpSp>
        <p:nvGrpSpPr>
          <p:cNvPr id="6" name="그룹 5">
            <a:extLst>
              <a:ext uri="{FF2B5EF4-FFF2-40B4-BE49-F238E27FC236}">
                <a16:creationId xmlns:a16="http://schemas.microsoft.com/office/drawing/2014/main" id="{DE835C0B-9ED3-47E8-929A-3E01C12FCAB5}"/>
              </a:ext>
            </a:extLst>
          </p:cNvPr>
          <p:cNvGrpSpPr/>
          <p:nvPr/>
        </p:nvGrpSpPr>
        <p:grpSpPr>
          <a:xfrm>
            <a:off x="558396" y="3632909"/>
            <a:ext cx="8782050" cy="864096"/>
            <a:chOff x="558396" y="3700854"/>
            <a:chExt cx="8782050" cy="864096"/>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3700854"/>
              <a:ext cx="8782050" cy="8640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l="1303" t="7079" r="26056"/>
            <a:stretch/>
          </p:blipFill>
          <p:spPr>
            <a:xfrm>
              <a:off x="625151" y="3788227"/>
              <a:ext cx="8714015" cy="740345"/>
            </a:xfrm>
            <a:prstGeom prst="rect">
              <a:avLst/>
            </a:prstGeom>
          </p:spPr>
        </p:pic>
      </p:grpSp>
      <p:grpSp>
        <p:nvGrpSpPr>
          <p:cNvPr id="22" name="그룹 21">
            <a:extLst>
              <a:ext uri="{FF2B5EF4-FFF2-40B4-BE49-F238E27FC236}">
                <a16:creationId xmlns:a16="http://schemas.microsoft.com/office/drawing/2014/main" id="{2DD374C3-05CB-48D7-A1D6-6E076A1FC74E}"/>
              </a:ext>
            </a:extLst>
          </p:cNvPr>
          <p:cNvGrpSpPr/>
          <p:nvPr/>
        </p:nvGrpSpPr>
        <p:grpSpPr>
          <a:xfrm>
            <a:off x="557116" y="4581128"/>
            <a:ext cx="8782050" cy="720080"/>
            <a:chOff x="568325" y="5114924"/>
            <a:chExt cx="8782050" cy="744077"/>
          </a:xfrm>
        </p:grpSpPr>
        <p:sp>
          <p:nvSpPr>
            <p:cNvPr id="27" name="모서리가 둥근 직사각형 4">
              <a:extLst>
                <a:ext uri="{FF2B5EF4-FFF2-40B4-BE49-F238E27FC236}">
                  <a16:creationId xmlns:a16="http://schemas.microsoft.com/office/drawing/2014/main" id="{C3569CBD-5212-483A-A582-6794A42BDB63}"/>
                </a:ext>
              </a:extLst>
            </p:cNvPr>
            <p:cNvSpPr/>
            <p:nvPr/>
          </p:nvSpPr>
          <p:spPr>
            <a:xfrm>
              <a:off x="568325" y="5114924"/>
              <a:ext cx="8782050" cy="7440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28" name="그룹 27">
              <a:extLst>
                <a:ext uri="{FF2B5EF4-FFF2-40B4-BE49-F238E27FC236}">
                  <a16:creationId xmlns:a16="http://schemas.microsoft.com/office/drawing/2014/main" id="{F18919BF-DD65-4EDD-8E99-5FA6C053E53B}"/>
                </a:ext>
              </a:extLst>
            </p:cNvPr>
            <p:cNvGrpSpPr/>
            <p:nvPr/>
          </p:nvGrpSpPr>
          <p:grpSpPr>
            <a:xfrm>
              <a:off x="675835" y="5210921"/>
              <a:ext cx="2918106" cy="302131"/>
              <a:chOff x="732985" y="5582396"/>
              <a:chExt cx="2918106" cy="302131"/>
            </a:xfrm>
          </p:grpSpPr>
          <p:pic>
            <p:nvPicPr>
              <p:cNvPr id="3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9" name="TextBox 28">
              <a:extLst>
                <a:ext uri="{FF2B5EF4-FFF2-40B4-BE49-F238E27FC236}">
                  <a16:creationId xmlns:a16="http://schemas.microsoft.com/office/drawing/2014/main" id="{0800EE66-B78E-4CCD-A49E-31BBE412C7F6}"/>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Since only the value was copied, you can see that the address value is different. </a:t>
              </a:r>
              <a:endParaRPr lang="ko-KR" altLang="en-US" sz="1300" dirty="0">
                <a:solidFill>
                  <a:prstClr val="black">
                    <a:lumMod val="85000"/>
                    <a:lumOff val="15000"/>
                  </a:prstClr>
                </a:solidFill>
                <a:latin typeface="SamsungOne 400" panose="020B0503030303020204" pitchFamily="34" charset="0"/>
              </a:endParaRPr>
            </a:p>
          </p:txBody>
        </p:sp>
      </p:grpSp>
      <p:grpSp>
        <p:nvGrpSpPr>
          <p:cNvPr id="37" name="그룹 36">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38" name="직사각형 37">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39" name="직사각형 38">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3" name="직사각형 22">
            <a:extLst>
              <a:ext uri="{FF2B5EF4-FFF2-40B4-BE49-F238E27FC236}">
                <a16:creationId xmlns:a16="http://schemas.microsoft.com/office/drawing/2014/main" id="{C86CA309-EBBB-4E14-93A8-215E2AC24AF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If you want to copy only the value, you can use </a:t>
            </a:r>
            <a:r>
              <a:rPr lang="en-US" altLang="ko-KR" sz="1400" dirty="0" err="1">
                <a:solidFill>
                  <a:schemeClr val="tx1"/>
                </a:solidFill>
                <a:latin typeface="SamsungOne 400" panose="020B0503030303020204" pitchFamily="34" charset="0"/>
                <a:ea typeface="SamsungOne 400" panose="020B0503030303020204" pitchFamily="34" charset="0"/>
              </a:rPr>
              <a:t>np.copy</a:t>
            </a:r>
            <a:r>
              <a:rPr lang="en-US" altLang="ko-KR" sz="1400" dirty="0">
                <a:solidFill>
                  <a:schemeClr val="tx1"/>
                </a:solidFill>
                <a:latin typeface="SamsungOne 400" panose="020B0503030303020204" pitchFamily="34" charset="0"/>
                <a:ea typeface="SamsungOne 400" panose="020B0503030303020204" pitchFamily="34" charset="0"/>
              </a:rPr>
              <a:t>(). See help(</a:t>
            </a:r>
            <a:r>
              <a:rPr lang="en-US" altLang="ko-KR" sz="1400" dirty="0" err="1">
                <a:solidFill>
                  <a:schemeClr val="tx1"/>
                </a:solidFill>
                <a:latin typeface="SamsungOne 400" panose="020B0503030303020204" pitchFamily="34" charset="0"/>
                <a:ea typeface="SamsungOne 400" panose="020B0503030303020204" pitchFamily="34" charset="0"/>
              </a:rPr>
              <a:t>np.copy</a:t>
            </a:r>
            <a:r>
              <a:rPr lang="en-US" altLang="ko-KR" sz="1400" dirty="0">
                <a:solidFill>
                  <a:schemeClr val="tx1"/>
                </a:solidFill>
                <a:latin typeface="SamsungOne 400" panose="020B0503030303020204" pitchFamily="34" charset="0"/>
                <a:ea typeface="SamsungOne 400" panose="020B0503030303020204" pitchFamily="34" charset="0"/>
              </a:rPr>
              <a:t>) for more detail.</a:t>
            </a:r>
            <a:endParaRPr lang="ko-KR" altLang="en-US" sz="1400" dirty="0">
              <a:solidFill>
                <a:schemeClr val="tx1"/>
              </a:solidFill>
              <a:latin typeface="SamsungOne 400" panose="020B0503030303020204" pitchFamily="34" charset="0"/>
            </a:endParaRPr>
          </a:p>
        </p:txBody>
      </p:sp>
      <p:sp>
        <p:nvSpPr>
          <p:cNvPr id="24" name="직사각형 23">
            <a:extLst>
              <a:ext uri="{FF2B5EF4-FFF2-40B4-BE49-F238E27FC236}">
                <a16:creationId xmlns:a16="http://schemas.microsoft.com/office/drawing/2014/main" id="{B74DBB2D-213E-462F-BFBC-6A45DA686EE8}"/>
              </a:ext>
            </a:extLst>
          </p:cNvPr>
          <p:cNvSpPr/>
          <p:nvPr/>
        </p:nvSpPr>
        <p:spPr>
          <a:xfrm>
            <a:off x="580388" y="3301832"/>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Then let’s check the address value.</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9588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8C2923E-4C22-4140-82BB-15C0FAC3A296}"/>
              </a:ext>
            </a:extLst>
          </p:cNvPr>
          <p:cNvGrpSpPr/>
          <p:nvPr/>
        </p:nvGrpSpPr>
        <p:grpSpPr>
          <a:xfrm>
            <a:off x="558396" y="1721498"/>
            <a:ext cx="8782050" cy="1635494"/>
            <a:chOff x="558396" y="1844824"/>
            <a:chExt cx="8782050" cy="1635494"/>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163549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71" r="22520" b="7999"/>
            <a:stretch/>
          </p:blipFill>
          <p:spPr>
            <a:xfrm>
              <a:off x="690465" y="1879907"/>
              <a:ext cx="8649981" cy="1549093"/>
            </a:xfrm>
            <a:prstGeom prst="rect">
              <a:avLst/>
            </a:prstGeom>
          </p:spPr>
        </p:pic>
      </p:grpSp>
      <p:grpSp>
        <p:nvGrpSpPr>
          <p:cNvPr id="5" name="그룹 4">
            <a:extLst>
              <a:ext uri="{FF2B5EF4-FFF2-40B4-BE49-F238E27FC236}">
                <a16:creationId xmlns:a16="http://schemas.microsoft.com/office/drawing/2014/main" id="{2B838C73-DFDE-4F73-A1CC-D34C98E13058}"/>
              </a:ext>
            </a:extLst>
          </p:cNvPr>
          <p:cNvGrpSpPr/>
          <p:nvPr/>
        </p:nvGrpSpPr>
        <p:grpSpPr>
          <a:xfrm>
            <a:off x="558924" y="3879334"/>
            <a:ext cx="8782050" cy="1709906"/>
            <a:chOff x="558924" y="4205119"/>
            <a:chExt cx="8782050" cy="1709906"/>
          </a:xfrm>
        </p:grpSpPr>
        <p:sp>
          <p:nvSpPr>
            <p:cNvPr id="26" name="모서리가 둥근 직사각형 4">
              <a:extLst>
                <a:ext uri="{FF2B5EF4-FFF2-40B4-BE49-F238E27FC236}">
                  <a16:creationId xmlns:a16="http://schemas.microsoft.com/office/drawing/2014/main" id="{A36E3BA1-83BF-4EF9-8B22-BB45DE7AA1FC}"/>
                </a:ext>
              </a:extLst>
            </p:cNvPr>
            <p:cNvSpPr/>
            <p:nvPr/>
          </p:nvSpPr>
          <p:spPr>
            <a:xfrm>
              <a:off x="558924" y="4205119"/>
              <a:ext cx="8782050" cy="17099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288" r="22965"/>
            <a:stretch/>
          </p:blipFill>
          <p:spPr>
            <a:xfrm>
              <a:off x="625151" y="4271622"/>
              <a:ext cx="8715296" cy="1571354"/>
            </a:xfrm>
            <a:prstGeom prst="rect">
              <a:avLst/>
            </a:prstGeom>
          </p:spPr>
        </p:pic>
      </p:grpSp>
      <p:grpSp>
        <p:nvGrpSpPr>
          <p:cNvPr id="39" name="그룹 3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40" name="직사각형 3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41" name="직사각형 4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5" name="직사각형 14">
            <a:extLst>
              <a:ext uri="{FF2B5EF4-FFF2-40B4-BE49-F238E27FC236}">
                <a16:creationId xmlns:a16="http://schemas.microsoft.com/office/drawing/2014/main" id="{9C0D3D8A-0145-4294-A0FC-9DC39A7DACA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Tuples</a:t>
            </a:r>
            <a:endParaRPr lang="ko-KR" altLang="en-US" sz="1400" dirty="0">
              <a:solidFill>
                <a:schemeClr val="tx1"/>
              </a:solidFill>
              <a:latin typeface="SamsungOne 400" panose="020B0503030303020204" pitchFamily="34" charset="0"/>
            </a:endParaRPr>
          </a:p>
        </p:txBody>
      </p:sp>
      <p:sp>
        <p:nvSpPr>
          <p:cNvPr id="17" name="직사각형 16">
            <a:extLst>
              <a:ext uri="{FF2B5EF4-FFF2-40B4-BE49-F238E27FC236}">
                <a16:creationId xmlns:a16="http://schemas.microsoft.com/office/drawing/2014/main" id="{80820B81-196E-4C3F-A9AC-37148A321033}"/>
              </a:ext>
            </a:extLst>
          </p:cNvPr>
          <p:cNvSpPr/>
          <p:nvPr/>
        </p:nvSpPr>
        <p:spPr>
          <a:xfrm>
            <a:off x="580388" y="3583610"/>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Dictionaries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006508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9C056CAE-A7C2-49D2-A091-B707CC89AC3F}"/>
              </a:ext>
            </a:extLst>
          </p:cNvPr>
          <p:cNvGrpSpPr/>
          <p:nvPr/>
        </p:nvGrpSpPr>
        <p:grpSpPr>
          <a:xfrm>
            <a:off x="558396" y="1728801"/>
            <a:ext cx="8782050" cy="2381943"/>
            <a:chOff x="558396" y="1844823"/>
            <a:chExt cx="8782050" cy="2381943"/>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3"/>
              <a:ext cx="8782050" cy="238194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83" r="21667"/>
            <a:stretch/>
          </p:blipFill>
          <p:spPr>
            <a:xfrm>
              <a:off x="643811" y="1918612"/>
              <a:ext cx="8696635" cy="2302476"/>
            </a:xfrm>
            <a:prstGeom prst="rect">
              <a:avLst/>
            </a:prstGeom>
          </p:spPr>
        </p:pic>
      </p:grpSp>
      <p:sp>
        <p:nvSpPr>
          <p:cNvPr id="16" name="Rectangle 12">
            <a:extLst>
              <a:ext uri="{FF2B5EF4-FFF2-40B4-BE49-F238E27FC236}">
                <a16:creationId xmlns:a16="http://schemas.microsoft.com/office/drawing/2014/main" id="{39C1D0BA-7152-4AAC-B295-DCCB5F8378F4}"/>
              </a:ext>
            </a:extLst>
          </p:cNvPr>
          <p:cNvSpPr/>
          <p:nvPr/>
        </p:nvSpPr>
        <p:spPr>
          <a:xfrm>
            <a:off x="711201" y="421072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Normally, lists are commonly used to create arrays.</a:t>
            </a:r>
          </a:p>
        </p:txBody>
      </p:sp>
      <p:grpSp>
        <p:nvGrpSpPr>
          <p:cNvPr id="17" name="그룹 16">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8" name="직사각형 17">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9" name="직사각형 18">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1" name="직사각형 10">
            <a:extLst>
              <a:ext uri="{FF2B5EF4-FFF2-40B4-BE49-F238E27FC236}">
                <a16:creationId xmlns:a16="http://schemas.microsoft.com/office/drawing/2014/main" id="{E013A73D-AC80-4878-9807-9CAA25ECE07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Sets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81333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944360"/>
            <a:ext cx="8782050" cy="294325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047200"/>
            <a:ext cx="8782050" cy="7893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16" name="Rectangle 12">
            <a:extLst>
              <a:ext uri="{FF2B5EF4-FFF2-40B4-BE49-F238E27FC236}">
                <a16:creationId xmlns:a16="http://schemas.microsoft.com/office/drawing/2014/main" id="{39C1D0BA-7152-4AAC-B295-DCCB5F8378F4}"/>
              </a:ext>
            </a:extLst>
          </p:cNvPr>
          <p:cNvSpPr/>
          <p:nvPr/>
        </p:nvSpPr>
        <p:spPr>
          <a:xfrm>
            <a:off x="711201" y="1687394"/>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is the same concept as the range in standard Python.</a:t>
            </a:r>
          </a:p>
        </p:txBody>
      </p:sp>
      <p:pic>
        <p:nvPicPr>
          <p:cNvPr id="3" name="그림 2"/>
          <p:cNvPicPr>
            <a:picLocks noChangeAspect="1"/>
          </p:cNvPicPr>
          <p:nvPr/>
        </p:nvPicPr>
        <p:blipFill rotWithShape="1">
          <a:blip r:embed="rId3"/>
          <a:srcRect l="1203" r="20712"/>
          <a:stretch/>
        </p:blipFill>
        <p:spPr>
          <a:xfrm>
            <a:off x="606489" y="2090084"/>
            <a:ext cx="8729276" cy="725811"/>
          </a:xfrm>
          <a:prstGeom prst="rect">
            <a:avLst/>
          </a:prstGeom>
        </p:spPr>
      </p:pic>
      <p:pic>
        <p:nvPicPr>
          <p:cNvPr id="4" name="그림 3"/>
          <p:cNvPicPr>
            <a:picLocks noChangeAspect="1"/>
          </p:cNvPicPr>
          <p:nvPr/>
        </p:nvPicPr>
        <p:blipFill rotWithShape="1">
          <a:blip r:embed="rId4"/>
          <a:srcRect l="1392" r="16049"/>
          <a:stretch/>
        </p:blipFill>
        <p:spPr>
          <a:xfrm>
            <a:off x="662473" y="2991793"/>
            <a:ext cx="8681428" cy="2832888"/>
          </a:xfrm>
          <a:prstGeom prst="rect">
            <a:avLst/>
          </a:prstGeom>
        </p:spPr>
      </p:pic>
      <p:grpSp>
        <p:nvGrpSpPr>
          <p:cNvPr id="15" name="그룹 14">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7" name="직사각형 16">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8" name="직사각형 17">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4" name="직사각형 13">
            <a:extLst>
              <a:ext uri="{FF2B5EF4-FFF2-40B4-BE49-F238E27FC236}">
                <a16:creationId xmlns:a16="http://schemas.microsoft.com/office/drawing/2014/main" id="{4A422E67-58E1-49A7-A601-21BB5F7BDF5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a:t>
            </a:r>
            <a:r>
              <a:rPr lang="en-US" altLang="ko-KR" sz="1400" dirty="0" err="1">
                <a:solidFill>
                  <a:schemeClr val="tx1"/>
                </a:solidFill>
                <a:latin typeface="SamsungOne 400" panose="020B0503030303020204" pitchFamily="34" charset="0"/>
                <a:ea typeface="SamsungOne 400" panose="020B0503030303020204" pitchFamily="34" charset="0"/>
              </a:rPr>
              <a:t>arange</a:t>
            </a:r>
            <a:endParaRPr lang="ko-KR" altLang="en-US" sz="1400" dirty="0">
              <a:solidFill>
                <a:schemeClr val="tx1"/>
              </a:solidFill>
              <a:latin typeface="SamsungOne 400" panose="020B0503030303020204" pitchFamily="34" charset="0"/>
            </a:endParaRPr>
          </a:p>
        </p:txBody>
      </p:sp>
      <p:sp>
        <p:nvSpPr>
          <p:cNvPr id="19" name="Rectangle 12">
            <a:extLst>
              <a:ext uri="{FF2B5EF4-FFF2-40B4-BE49-F238E27FC236}">
                <a16:creationId xmlns:a16="http://schemas.microsoft.com/office/drawing/2014/main" id="{59D1C1A2-A3E8-4A1E-A6C6-6B3994070650}"/>
              </a:ext>
            </a:extLst>
          </p:cNvPr>
          <p:cNvSpPr/>
          <p:nvPr/>
        </p:nvSpPr>
        <p:spPr>
          <a:xfrm>
            <a:off x="702941" y="596233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NumPy arrays, use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np.arrange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290281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188B2431-39C5-4BDE-9DEB-AF871B987D13}"/>
              </a:ext>
            </a:extLst>
          </p:cNvPr>
          <p:cNvGrpSpPr/>
          <p:nvPr/>
        </p:nvGrpSpPr>
        <p:grpSpPr>
          <a:xfrm>
            <a:off x="558396" y="1744823"/>
            <a:ext cx="8782051" cy="2016224"/>
            <a:chOff x="558396" y="1772816"/>
            <a:chExt cx="8782051" cy="2016224"/>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20162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006" r="17739"/>
            <a:stretch/>
          </p:blipFill>
          <p:spPr>
            <a:xfrm>
              <a:off x="662473" y="1805561"/>
              <a:ext cx="8677974" cy="1920802"/>
            </a:xfrm>
            <a:prstGeom prst="rect">
              <a:avLst/>
            </a:prstGeom>
          </p:spPr>
        </p:pic>
      </p:gr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1" name="직사각형 10">
            <a:extLst>
              <a:ext uri="{FF2B5EF4-FFF2-40B4-BE49-F238E27FC236}">
                <a16:creationId xmlns:a16="http://schemas.microsoft.com/office/drawing/2014/main" id="{871D1C04-7EDD-4844-97E8-38EAC770798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Use the </a:t>
            </a:r>
            <a:r>
              <a:rPr lang="en-US" altLang="ko-KR" sz="1400" dirty="0" err="1">
                <a:solidFill>
                  <a:schemeClr val="tx1"/>
                </a:solidFill>
                <a:latin typeface="SamsungOne 400" panose="020B0503030303020204" pitchFamily="34" charset="0"/>
                <a:ea typeface="SamsungOne 400" panose="020B0503030303020204" pitchFamily="34" charset="0"/>
              </a:rPr>
              <a:t>len</a:t>
            </a:r>
            <a:r>
              <a:rPr lang="en-US" altLang="ko-KR" sz="1400" dirty="0">
                <a:solidFill>
                  <a:schemeClr val="tx1"/>
                </a:solidFill>
                <a:latin typeface="SamsungOne 400" panose="020B0503030303020204" pitchFamily="34" charset="0"/>
                <a:ea typeface="SamsungOne 400" panose="020B0503030303020204" pitchFamily="34" charset="0"/>
              </a:rPr>
              <a:t>() method and the size property for the size of the array.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693362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1" name="Rectangle 12">
            <a:extLst>
              <a:ext uri="{FF2B5EF4-FFF2-40B4-BE49-F238E27FC236}">
                <a16:creationId xmlns:a16="http://schemas.microsoft.com/office/drawing/2014/main" id="{39C1D0BA-7152-4AAC-B295-DCCB5F8378F4}"/>
              </a:ext>
            </a:extLst>
          </p:cNvPr>
          <p:cNvSpPr/>
          <p:nvPr/>
        </p:nvSpPr>
        <p:spPr>
          <a:xfrm>
            <a:off x="711201" y="1700808"/>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important thing is that the NumPy arrays process the same type quickly and effectively, as one of its characteristics.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However, although arrays can be made with different types of arrays, each type is converted into the same type. </a:t>
            </a:r>
          </a:p>
        </p:txBody>
      </p:sp>
      <p:grpSp>
        <p:nvGrpSpPr>
          <p:cNvPr id="12" name="그룹 11">
            <a:extLst>
              <a:ext uri="{FF2B5EF4-FFF2-40B4-BE49-F238E27FC236}">
                <a16:creationId xmlns:a16="http://schemas.microsoft.com/office/drawing/2014/main" id="{2DD374C3-05CB-48D7-A1D6-6E076A1FC74E}"/>
              </a:ext>
            </a:extLst>
          </p:cNvPr>
          <p:cNvGrpSpPr/>
          <p:nvPr/>
        </p:nvGrpSpPr>
        <p:grpSpPr>
          <a:xfrm>
            <a:off x="557644" y="3538897"/>
            <a:ext cx="8782050" cy="720080"/>
            <a:chOff x="568325" y="5114924"/>
            <a:chExt cx="8782050" cy="744077"/>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68325" y="5114924"/>
              <a:ext cx="8782050" cy="7440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6" name="그룹 15">
              <a:extLst>
                <a:ext uri="{FF2B5EF4-FFF2-40B4-BE49-F238E27FC236}">
                  <a16:creationId xmlns:a16="http://schemas.microsoft.com/office/drawing/2014/main" id="{F18919BF-DD65-4EDD-8E99-5FA6C053E53B}"/>
                </a:ext>
              </a:extLst>
            </p:cNvPr>
            <p:cNvGrpSpPr/>
            <p:nvPr/>
          </p:nvGrpSpPr>
          <p:grpSpPr>
            <a:xfrm>
              <a:off x="675835" y="5210921"/>
              <a:ext cx="2918106" cy="302131"/>
              <a:chOff x="732985" y="5582396"/>
              <a:chExt cx="2918106" cy="302131"/>
            </a:xfrm>
          </p:grpSpPr>
          <p:pic>
            <p:nvPicPr>
              <p:cNvPr id="19"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8" name="TextBox 17">
              <a:extLst>
                <a:ext uri="{FF2B5EF4-FFF2-40B4-BE49-F238E27FC236}">
                  <a16:creationId xmlns:a16="http://schemas.microsoft.com/office/drawing/2014/main" id="{0800EE66-B78E-4CCD-A49E-31BBE412C7F6}"/>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Different types of arrays can be created, such as integers, floats, and Booleans.</a:t>
              </a:r>
              <a:endParaRPr lang="ko-KR" altLang="en-US" sz="1300" dirty="0">
                <a:solidFill>
                  <a:prstClr val="black">
                    <a:lumMod val="85000"/>
                    <a:lumOff val="15000"/>
                  </a:prstClr>
                </a:solidFill>
                <a:latin typeface="SamsungOne 400" panose="020B0503030303020204" pitchFamily="34" charset="0"/>
              </a:endParaRPr>
            </a:p>
          </p:txBody>
        </p:sp>
      </p:grpSp>
      <p:grpSp>
        <p:nvGrpSpPr>
          <p:cNvPr id="2" name="그룹 1">
            <a:extLst>
              <a:ext uri="{FF2B5EF4-FFF2-40B4-BE49-F238E27FC236}">
                <a16:creationId xmlns:a16="http://schemas.microsoft.com/office/drawing/2014/main" id="{F8CBAD02-1059-4BCD-9593-AF884B7A5056}"/>
              </a:ext>
            </a:extLst>
          </p:cNvPr>
          <p:cNvGrpSpPr/>
          <p:nvPr/>
        </p:nvGrpSpPr>
        <p:grpSpPr>
          <a:xfrm>
            <a:off x="558396" y="2636912"/>
            <a:ext cx="8782050" cy="838229"/>
            <a:chOff x="558396" y="3306295"/>
            <a:chExt cx="8782050" cy="838229"/>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3306295"/>
              <a:ext cx="8782050" cy="8382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391" r="20204"/>
            <a:stretch/>
          </p:blipFill>
          <p:spPr>
            <a:xfrm>
              <a:off x="643813" y="3328232"/>
              <a:ext cx="8695882" cy="720080"/>
            </a:xfrm>
            <a:prstGeom prst="rect">
              <a:avLst/>
            </a:prstGeom>
          </p:spPr>
        </p:pic>
      </p:grpSp>
      <p:sp>
        <p:nvSpPr>
          <p:cNvPr id="21" name="직사각형 20">
            <a:extLst>
              <a:ext uri="{FF2B5EF4-FFF2-40B4-BE49-F238E27FC236}">
                <a16:creationId xmlns:a16="http://schemas.microsoft.com/office/drawing/2014/main" id="{BFEF1F5A-A2BE-4114-9E89-29CADF15DDE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NumPy array deals with each element by converting it to the same data type. (1/3)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1365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1" name="Rectangle 12">
            <a:extLst>
              <a:ext uri="{FF2B5EF4-FFF2-40B4-BE49-F238E27FC236}">
                <a16:creationId xmlns:a16="http://schemas.microsoft.com/office/drawing/2014/main" id="{39C1D0BA-7152-4AAC-B295-DCCB5F8378F4}"/>
              </a:ext>
            </a:extLst>
          </p:cNvPr>
          <p:cNvSpPr/>
          <p:nvPr/>
        </p:nvSpPr>
        <p:spPr>
          <a:xfrm>
            <a:off x="711201" y="1700808"/>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Due to the . in the integer type, the array is converted into a float when integer, float, and Boolean types are together.</a:t>
            </a:r>
          </a:p>
        </p:txBody>
      </p:sp>
      <p:grpSp>
        <p:nvGrpSpPr>
          <p:cNvPr id="2" name="그룹 1"/>
          <p:cNvGrpSpPr/>
          <p:nvPr/>
        </p:nvGrpSpPr>
        <p:grpSpPr>
          <a:xfrm>
            <a:off x="557644" y="4148621"/>
            <a:ext cx="8782050" cy="1309791"/>
            <a:chOff x="557644" y="3861050"/>
            <a:chExt cx="8782050" cy="1309791"/>
          </a:xfrm>
        </p:grpSpPr>
        <p:grpSp>
          <p:nvGrpSpPr>
            <p:cNvPr id="12" name="그룹 11">
              <a:extLst>
                <a:ext uri="{FF2B5EF4-FFF2-40B4-BE49-F238E27FC236}">
                  <a16:creationId xmlns:a16="http://schemas.microsoft.com/office/drawing/2014/main" id="{2DD374C3-05CB-48D7-A1D6-6E076A1FC74E}"/>
                </a:ext>
              </a:extLst>
            </p:cNvPr>
            <p:cNvGrpSpPr/>
            <p:nvPr/>
          </p:nvGrpSpPr>
          <p:grpSpPr>
            <a:xfrm>
              <a:off x="557644" y="3861050"/>
              <a:ext cx="8782050" cy="1309791"/>
              <a:chOff x="568325" y="5114924"/>
              <a:chExt cx="8782050" cy="1353440"/>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68325" y="5114924"/>
                <a:ext cx="8782050" cy="135344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6" name="그룹 15">
                <a:extLst>
                  <a:ext uri="{FF2B5EF4-FFF2-40B4-BE49-F238E27FC236}">
                    <a16:creationId xmlns:a16="http://schemas.microsoft.com/office/drawing/2014/main" id="{F18919BF-DD65-4EDD-8E99-5FA6C053E53B}"/>
                  </a:ext>
                </a:extLst>
              </p:cNvPr>
              <p:cNvGrpSpPr/>
              <p:nvPr/>
            </p:nvGrpSpPr>
            <p:grpSpPr>
              <a:xfrm>
                <a:off x="675835" y="5210921"/>
                <a:ext cx="2918106" cy="302131"/>
                <a:chOff x="732985" y="5582396"/>
                <a:chExt cx="2918106" cy="302131"/>
              </a:xfrm>
            </p:grpSpPr>
            <p:pic>
              <p:nvPicPr>
                <p:cNvPr id="19"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8" name="TextBox 17">
                <a:extLst>
                  <a:ext uri="{FF2B5EF4-FFF2-40B4-BE49-F238E27FC236}">
                    <a16:creationId xmlns:a16="http://schemas.microsoft.com/office/drawing/2014/main" id="{0800EE66-B78E-4CCD-A49E-31BBE412C7F6}"/>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data type of NumPy is returned in </a:t>
                </a:r>
                <a:r>
                  <a:rPr lang="en-US" altLang="ko-KR" sz="1300" dirty="0" err="1">
                    <a:solidFill>
                      <a:prstClr val="black">
                        <a:lumMod val="85000"/>
                        <a:lumOff val="15000"/>
                      </a:prstClr>
                    </a:solidFill>
                    <a:latin typeface="SamsungOne 400" panose="020B0503030303020204" pitchFamily="34" charset="0"/>
                  </a:rPr>
                  <a:t>NumPy.datatype</a:t>
                </a:r>
                <a:r>
                  <a:rPr lang="en-US" altLang="ko-KR" sz="1300" dirty="0">
                    <a:solidFill>
                      <a:prstClr val="black">
                        <a:lumMod val="85000"/>
                        <a:lumOff val="15000"/>
                      </a:prstClr>
                    </a:solidFill>
                    <a:latin typeface="SamsungOne 400" panose="020B0503030303020204" pitchFamily="34" charset="0"/>
                  </a:rPr>
                  <a:t> format.</a:t>
                </a:r>
                <a:endParaRPr lang="ko-KR" altLang="en-US" sz="1300" dirty="0">
                  <a:solidFill>
                    <a:prstClr val="black">
                      <a:lumMod val="85000"/>
                      <a:lumOff val="15000"/>
                    </a:prstClr>
                  </a:solidFill>
                  <a:latin typeface="SamsungOne 400" panose="020B0503030303020204" pitchFamily="34" charset="0"/>
                </a:endParaRPr>
              </a:p>
            </p:txBody>
          </p:sp>
        </p:grpSp>
        <p:pic>
          <p:nvPicPr>
            <p:cNvPr id="21"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457296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E836FE5-4E63-409C-97E4-2898B8159708}"/>
                </a:ext>
              </a:extLst>
            </p:cNvPr>
            <p:cNvSpPr txBox="1"/>
            <p:nvPr/>
          </p:nvSpPr>
          <p:spPr>
            <a:xfrm>
              <a:off x="921178" y="455023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3" name="TextBox 22">
              <a:extLst>
                <a:ext uri="{FF2B5EF4-FFF2-40B4-BE49-F238E27FC236}">
                  <a16:creationId xmlns:a16="http://schemas.microsoft.com/office/drawing/2014/main" id="{0800EE66-B78E-4CCD-A49E-31BBE412C7F6}"/>
                </a:ext>
              </a:extLst>
            </p:cNvPr>
            <p:cNvSpPr txBox="1"/>
            <p:nvPr/>
          </p:nvSpPr>
          <p:spPr>
            <a:xfrm>
              <a:off x="1021818" y="488512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Different types of arrays are created, such as integers, floats, and strings. </a:t>
              </a:r>
              <a:endParaRPr lang="ko-KR" altLang="en-US" sz="1300" dirty="0">
                <a:solidFill>
                  <a:prstClr val="black">
                    <a:lumMod val="85000"/>
                    <a:lumOff val="15000"/>
                  </a:prstClr>
                </a:solidFill>
                <a:latin typeface="SamsungOne 400" panose="020B0503030303020204" pitchFamily="34" charset="0"/>
              </a:endParaRPr>
            </a:p>
          </p:txBody>
        </p:sp>
      </p:grpSp>
      <p:grpSp>
        <p:nvGrpSpPr>
          <p:cNvPr id="4" name="그룹 3">
            <a:extLst>
              <a:ext uri="{FF2B5EF4-FFF2-40B4-BE49-F238E27FC236}">
                <a16:creationId xmlns:a16="http://schemas.microsoft.com/office/drawing/2014/main" id="{208DF228-FA9C-451F-A687-380CA3DF5F06}"/>
              </a:ext>
            </a:extLst>
          </p:cNvPr>
          <p:cNvGrpSpPr/>
          <p:nvPr/>
        </p:nvGrpSpPr>
        <p:grpSpPr>
          <a:xfrm>
            <a:off x="558396" y="2330192"/>
            <a:ext cx="8782050" cy="1732074"/>
            <a:chOff x="558396" y="2789854"/>
            <a:chExt cx="8782050" cy="1732074"/>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789854"/>
              <a:ext cx="8782050" cy="173207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l="1769" r="16582"/>
            <a:stretch/>
          </p:blipFill>
          <p:spPr>
            <a:xfrm>
              <a:off x="709127" y="2887556"/>
              <a:ext cx="8630567" cy="1569753"/>
            </a:xfrm>
            <a:prstGeom prst="rect">
              <a:avLst/>
            </a:prstGeom>
          </p:spPr>
        </p:pic>
      </p:grpSp>
      <p:sp>
        <p:nvSpPr>
          <p:cNvPr id="24" name="직사각형 23">
            <a:extLst>
              <a:ext uri="{FF2B5EF4-FFF2-40B4-BE49-F238E27FC236}">
                <a16:creationId xmlns:a16="http://schemas.microsoft.com/office/drawing/2014/main" id="{242F9F21-9E75-4E69-A2BE-E45235F66E8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NumPy array deals with each element by converting it to the same data type. (2/3)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28264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2" name="그룹 1"/>
          <p:cNvGrpSpPr/>
          <p:nvPr/>
        </p:nvGrpSpPr>
        <p:grpSpPr>
          <a:xfrm>
            <a:off x="557644" y="3417701"/>
            <a:ext cx="8782050" cy="914421"/>
            <a:chOff x="557644" y="5085184"/>
            <a:chExt cx="8782050" cy="914421"/>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91442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6" name="TextBox 2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Due to the '111’ in the integer type, the array is converted into a string when integer, float, and string types are together.</a:t>
              </a:r>
              <a:endParaRPr lang="ko-KR" altLang="en-US" sz="1300" dirty="0">
                <a:solidFill>
                  <a:prstClr val="black">
                    <a:lumMod val="85000"/>
                    <a:lumOff val="15000"/>
                  </a:prstClr>
                </a:solidFill>
                <a:latin typeface="SamsungOne 400" panose="020B0503030303020204" pitchFamily="34" charset="0"/>
              </a:endParaRPr>
            </a:p>
          </p:txBody>
        </p:sp>
      </p:grpSp>
      <p:grpSp>
        <p:nvGrpSpPr>
          <p:cNvPr id="4" name="그룹 3">
            <a:extLst>
              <a:ext uri="{FF2B5EF4-FFF2-40B4-BE49-F238E27FC236}">
                <a16:creationId xmlns:a16="http://schemas.microsoft.com/office/drawing/2014/main" id="{311DE1E3-74B0-435E-81A8-D2A3817E189B}"/>
              </a:ext>
            </a:extLst>
          </p:cNvPr>
          <p:cNvGrpSpPr/>
          <p:nvPr/>
        </p:nvGrpSpPr>
        <p:grpSpPr>
          <a:xfrm>
            <a:off x="558396" y="1772816"/>
            <a:ext cx="8782050" cy="1560848"/>
            <a:chOff x="558396" y="1844825"/>
            <a:chExt cx="8782050" cy="1560848"/>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15608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288" r="17046"/>
            <a:stretch/>
          </p:blipFill>
          <p:spPr>
            <a:xfrm>
              <a:off x="643812" y="1919531"/>
              <a:ext cx="8695882" cy="1382699"/>
            </a:xfrm>
            <a:prstGeom prst="rect">
              <a:avLst/>
            </a:prstGeom>
          </p:spPr>
        </p:pic>
      </p:grpSp>
      <p:sp>
        <p:nvSpPr>
          <p:cNvPr id="16" name="직사각형 15">
            <a:extLst>
              <a:ext uri="{FF2B5EF4-FFF2-40B4-BE49-F238E27FC236}">
                <a16:creationId xmlns:a16="http://schemas.microsoft.com/office/drawing/2014/main" id="{0B485F12-726C-4C7C-A578-9DA7E6DD001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NumPy array deals with each element by converting it to the same data type. (3/3)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094435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aphicFrame>
        <p:nvGraphicFramePr>
          <p:cNvPr id="16" name="Table 10">
            <a:extLst>
              <a:ext uri="{FF2B5EF4-FFF2-40B4-BE49-F238E27FC236}">
                <a16:creationId xmlns:a16="http://schemas.microsoft.com/office/drawing/2014/main" id="{1F07731A-1D2C-465F-9E21-6C0E2AE99642}"/>
              </a:ext>
            </a:extLst>
          </p:cNvPr>
          <p:cNvGraphicFramePr>
            <a:graphicFrameLocks noGrp="1"/>
          </p:cNvGraphicFramePr>
          <p:nvPr>
            <p:extLst>
              <p:ext uri="{D42A27DB-BD31-4B8C-83A1-F6EECF244321}">
                <p14:modId xmlns:p14="http://schemas.microsoft.com/office/powerpoint/2010/main" val="508170669"/>
              </p:ext>
            </p:extLst>
          </p:nvPr>
        </p:nvGraphicFramePr>
        <p:xfrm>
          <a:off x="556449" y="1772816"/>
          <a:ext cx="8632824" cy="1849384"/>
        </p:xfrm>
        <a:graphic>
          <a:graphicData uri="http://schemas.openxmlformats.org/drawingml/2006/table">
            <a:tbl>
              <a:tblPr firstRow="1" bandRow="1">
                <a:tableStyleId>{5940675A-B579-460E-94D1-54222C63F5DA}</a:tableStyleId>
              </a:tblPr>
              <a:tblGrid>
                <a:gridCol w="5013842">
                  <a:extLst>
                    <a:ext uri="{9D8B030D-6E8A-4147-A177-3AD203B41FA5}">
                      <a16:colId xmlns:a16="http://schemas.microsoft.com/office/drawing/2014/main" val="20000"/>
                    </a:ext>
                  </a:extLst>
                </a:gridCol>
                <a:gridCol w="3618982">
                  <a:extLst>
                    <a:ext uri="{9D8B030D-6E8A-4147-A177-3AD203B41FA5}">
                      <a16:colId xmlns:a16="http://schemas.microsoft.com/office/drawing/2014/main" val="20001"/>
                    </a:ext>
                  </a:extLst>
                </a:gridCol>
              </a:tblGrid>
              <a:tr h="122610">
                <a:tc>
                  <a:txBody>
                    <a:bodyPr/>
                    <a:lstStyle/>
                    <a:p>
                      <a:pPr marL="0" algn="ctr" defTabSz="914400" rtl="0" eaLnBrk="1" latinLnBrk="1" hangingPunct="1"/>
                      <a:r>
                        <a:rPr lang="en-US" altLang="ko-KR" sz="14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Data Type</a:t>
                      </a:r>
                      <a:endParaRPr lang="en-US" sz="14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algn="ctr" defTabSz="914400" rtl="0" eaLnBrk="1" latinLnBrk="1" hangingPunct="1"/>
                      <a:r>
                        <a:rPr lang="en-US" sz="14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p>
                  </a:txBody>
                  <a:tcPr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0"/>
                  </a:ext>
                </a:extLst>
              </a:tr>
              <a:tr h="383672">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int8, int16, int32, int64, int_</a:t>
                      </a:r>
                    </a:p>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uint8, uint16, uint32, uint64</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Integer</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3672">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float16, float32, float64, float128, float_</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Floating point</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3672">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bool_</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Boolean</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string_, unicode_</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String</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18" name="사각형: 둥근 모서리 32">
            <a:extLst>
              <a:ext uri="{FF2B5EF4-FFF2-40B4-BE49-F238E27FC236}">
                <a16:creationId xmlns:a16="http://schemas.microsoft.com/office/drawing/2014/main" id="{9F9FFF6C-7C72-4E08-8072-03F5113CBF51}"/>
              </a:ext>
            </a:extLst>
          </p:cNvPr>
          <p:cNvSpPr/>
          <p:nvPr/>
        </p:nvSpPr>
        <p:spPr>
          <a:xfrm>
            <a:off x="711201" y="4110221"/>
            <a:ext cx="4442946" cy="204921"/>
          </a:xfrm>
          <a:prstGeom prst="roundRect">
            <a:avLst>
              <a:gd name="adj" fmla="val 50000"/>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scene3d>
              <a:camera prst="orthographicFront"/>
              <a:lightRig rig="threePt" dir="t"/>
            </a:scene3d>
            <a:sp3d>
              <a:bevelT w="0" h="6350"/>
              <a:bevelB w="0" h="0"/>
            </a:sp3d>
          </a:bodyPr>
          <a:lstStyle/>
          <a:p>
            <a:pPr algn="ctr">
              <a:spcAft>
                <a:spcPts val="600"/>
              </a:spcAft>
            </a:pPr>
            <a:r>
              <a:rPr lang="en-US" altLang="ko-KR" sz="1050" b="1" dirty="0">
                <a:solidFill>
                  <a:schemeClr val="bg1"/>
                </a:solidFill>
                <a:latin typeface="SamsungOne 400" panose="020B0503030303020204" pitchFamily="34" charset="0"/>
                <a:ea typeface="SamsungOne 400" panose="020B0503030303020204" pitchFamily="34" charset="0"/>
              </a:rPr>
              <a:t>https://docs.scipy.org/doc/NumPy-1.17.0/reference/arrays.dtypes.html</a:t>
            </a:r>
          </a:p>
        </p:txBody>
      </p:sp>
      <p:sp>
        <p:nvSpPr>
          <p:cNvPr id="19" name="Rectangle 12">
            <a:extLst>
              <a:ext uri="{FF2B5EF4-FFF2-40B4-BE49-F238E27FC236}">
                <a16:creationId xmlns:a16="http://schemas.microsoft.com/office/drawing/2014/main" id="{39C1D0BA-7152-4AAC-B295-DCCB5F8378F4}"/>
              </a:ext>
            </a:extLst>
          </p:cNvPr>
          <p:cNvSpPr/>
          <p:nvPr/>
        </p:nvSpPr>
        <p:spPr>
          <a:xfrm>
            <a:off x="711201" y="376476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8 in int8 is 8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bitss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which is the range of values that this value can represent.</a:t>
            </a:r>
          </a:p>
        </p:txBody>
      </p:sp>
      <p:sp>
        <p:nvSpPr>
          <p:cNvPr id="11" name="직사각형 10">
            <a:extLst>
              <a:ext uri="{FF2B5EF4-FFF2-40B4-BE49-F238E27FC236}">
                <a16:creationId xmlns:a16="http://schemas.microsoft.com/office/drawing/2014/main" id="{6EC8CE3A-8014-4747-ABA5-005C835DB7D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The Data Types of NumPy</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Arrays are as follows: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328509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9" name="Rectangle 12">
            <a:extLst>
              <a:ext uri="{FF2B5EF4-FFF2-40B4-BE49-F238E27FC236}">
                <a16:creationId xmlns:a16="http://schemas.microsoft.com/office/drawing/2014/main" id="{39C1D0BA-7152-4AAC-B295-DCCB5F8378F4}"/>
              </a:ext>
            </a:extLst>
          </p:cNvPr>
          <p:cNvSpPr/>
          <p:nvPr/>
        </p:nvSpPr>
        <p:spPr>
          <a:xfrm>
            <a:off x="711201" y="2686360"/>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Since the bit represents two values, 8 bits can become 2 to the power of 8, representing up to 256 integers. In integers, this value ranges from -128 to 127. The range is up to 127, and not 128, because zero is excluded.</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only positive values are used, the space in the range of negative numbers needs to be crossed over to positive numbers. At this time, u, the first letter of the unsigned (meaning positive), is used.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Therefore, uint8 ranges from 0 to 255. </a:t>
            </a:r>
          </a:p>
        </p:txBody>
      </p:sp>
      <p:grpSp>
        <p:nvGrpSpPr>
          <p:cNvPr id="5" name="그룹 4">
            <a:extLst>
              <a:ext uri="{FF2B5EF4-FFF2-40B4-BE49-F238E27FC236}">
                <a16:creationId xmlns:a16="http://schemas.microsoft.com/office/drawing/2014/main" id="{9A4CF319-9125-4B26-AD69-1CFDA12C594D}"/>
              </a:ext>
            </a:extLst>
          </p:cNvPr>
          <p:cNvGrpSpPr/>
          <p:nvPr/>
        </p:nvGrpSpPr>
        <p:grpSpPr>
          <a:xfrm>
            <a:off x="558396" y="1772816"/>
            <a:ext cx="8782050" cy="814399"/>
            <a:chOff x="558396" y="1844825"/>
            <a:chExt cx="8782050" cy="81439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8143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92" r="21951" b="15348"/>
            <a:stretch/>
          </p:blipFill>
          <p:spPr>
            <a:xfrm>
              <a:off x="671803" y="1898769"/>
              <a:ext cx="8668643" cy="685812"/>
            </a:xfrm>
            <a:prstGeom prst="rect">
              <a:avLst/>
            </a:prstGeom>
          </p:spPr>
        </p:pic>
      </p:grpSp>
      <p:sp>
        <p:nvSpPr>
          <p:cNvPr id="13" name="직사각형 12">
            <a:extLst>
              <a:ext uri="{FF2B5EF4-FFF2-40B4-BE49-F238E27FC236}">
                <a16:creationId xmlns:a16="http://schemas.microsoft.com/office/drawing/2014/main" id="{422A653E-7CB0-465C-A0E5-0BD4E87179C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Explanation of 8 bits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316867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DBCEBE67-F530-4DE5-BC18-4D07B21B9877}"/>
              </a:ext>
            </a:extLst>
          </p:cNvPr>
          <p:cNvGrpSpPr/>
          <p:nvPr/>
        </p:nvGrpSpPr>
        <p:grpSpPr>
          <a:xfrm>
            <a:off x="558396" y="1772816"/>
            <a:ext cx="8782050" cy="1962065"/>
            <a:chOff x="558396" y="1844825"/>
            <a:chExt cx="8782050" cy="1962065"/>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196206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15" r="17166"/>
            <a:stretch/>
          </p:blipFill>
          <p:spPr>
            <a:xfrm>
              <a:off x="681135" y="1898735"/>
              <a:ext cx="8658559" cy="1835543"/>
            </a:xfrm>
            <a:prstGeom prst="rect">
              <a:avLst/>
            </a:prstGeom>
          </p:spPr>
        </p:pic>
      </p:grpSp>
      <p:grpSp>
        <p:nvGrpSpPr>
          <p:cNvPr id="12" name="그룹 11"/>
          <p:cNvGrpSpPr/>
          <p:nvPr/>
        </p:nvGrpSpPr>
        <p:grpSpPr>
          <a:xfrm>
            <a:off x="557644" y="3812523"/>
            <a:ext cx="8782050" cy="720079"/>
            <a:chOff x="557644" y="5085184"/>
            <a:chExt cx="8782050" cy="720079"/>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2007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0" name="TextBox 19">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U10, here, represents Unicode, and the &lt; symbol represents 10byte or less.</a:t>
              </a:r>
              <a:endParaRPr lang="ko-KR" altLang="en-US" sz="1300" dirty="0">
                <a:solidFill>
                  <a:prstClr val="black">
                    <a:lumMod val="85000"/>
                    <a:lumOff val="15000"/>
                  </a:prstClr>
                </a:solidFill>
                <a:latin typeface="SamsungOne 400" panose="020B0503030303020204" pitchFamily="34" charset="0"/>
              </a:endParaRPr>
            </a:p>
          </p:txBody>
        </p:sp>
      </p:grpSp>
      <p:sp>
        <p:nvSpPr>
          <p:cNvPr id="19" name="직사각형 18">
            <a:extLst>
              <a:ext uri="{FF2B5EF4-FFF2-40B4-BE49-F238E27FC236}">
                <a16:creationId xmlns:a16="http://schemas.microsoft.com/office/drawing/2014/main" id="{1126DA66-7D76-4A5F-930A-1A19897CE1C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 Types of NumPy</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191217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mc:AlternateContent xmlns:mc="http://schemas.openxmlformats.org/markup-compatibility/2006" xmlns:a14="http://schemas.microsoft.com/office/drawing/2010/main">
        <mc:Choice Requires="a14">
          <p:sp>
            <p:nvSpPr>
              <p:cNvPr id="19" name="Rectangle 12">
                <a:extLst>
                  <a:ext uri="{FF2B5EF4-FFF2-40B4-BE49-F238E27FC236}">
                    <a16:creationId xmlns:a16="http://schemas.microsoft.com/office/drawing/2014/main" id="{39C1D0BA-7152-4AAC-B295-DCCB5F8378F4}"/>
                  </a:ext>
                </a:extLst>
              </p:cNvPr>
              <p:cNvSpPr/>
              <p:nvPr/>
            </p:nvSpPr>
            <p:spPr>
              <a:xfrm>
                <a:off x="711200" y="1682146"/>
                <a:ext cx="8756799" cy="1853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Linear means that it can be expressed in the form of linear bonds with respect to the elements of set A.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That is, where the elements of  set A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1</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2</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m:t>
                        </m:r>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3</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𝑛</m:t>
                        </m:r>
                      </m:sub>
                    </m:sSub>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are multiplied and added by constants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1</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2</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m:t>
                        </m:r>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3</m:t>
                        </m:r>
                      </m:sub>
                    </m:sSub>
                    <m:r>
                      <a:rPr lang="en-US" altLang="ko-KR" sz="1300">
                        <a:solidFill>
                          <a:prstClr val="black">
                            <a:lumMod val="85000"/>
                            <a:lumOff val="15000"/>
                          </a:prstClr>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forming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1</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1</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2</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2</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3</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3</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𝑎</m:t>
                        </m:r>
                      </m:e>
                      <m:sub>
                        <m:r>
                          <a:rPr lang="en-US" altLang="ko-KR" sz="1300">
                            <a:solidFill>
                              <a:prstClr val="black">
                                <a:lumMod val="85000"/>
                                <a:lumOff val="15000"/>
                              </a:prstClr>
                            </a:solidFill>
                            <a:latin typeface="Cambria Math" panose="02040503050406030204" pitchFamily="18" charset="0"/>
                          </a:rPr>
                          <m:t>𝑛</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𝑛</m:t>
                        </m:r>
                      </m:sub>
                    </m:sSub>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belongs to this set A. This type of expression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1</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2</m:t>
                        </m:r>
                      </m:sub>
                    </m:sSub>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m:t>
                        </m:r>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3</m:t>
                        </m:r>
                      </m:sub>
                    </m:sSub>
                    <m:r>
                      <a:rPr lang="en-US" altLang="ko-KR" sz="1300">
                        <a:solidFill>
                          <a:prstClr val="black">
                            <a:lumMod val="85000"/>
                            <a:lumOff val="15000"/>
                          </a:prstClr>
                        </a:solidFill>
                        <a:latin typeface="Cambria Math" panose="02040503050406030204" pitchFamily="18" charset="0"/>
                      </a:rPr>
                      <m:t>,…,</m:t>
                    </m:r>
                    <m:sSub>
                      <m:sSubPr>
                        <m:ctrlPr>
                          <a:rPr lang="en-US" altLang="ko-KR" sz="1300" i="1">
                            <a:solidFill>
                              <a:prstClr val="black">
                                <a:lumMod val="85000"/>
                                <a:lumOff val="15000"/>
                              </a:prstClr>
                            </a:solidFill>
                            <a:latin typeface="Cambria Math" panose="02040503050406030204" pitchFamily="18" charset="0"/>
                          </a:rPr>
                        </m:ctrlPr>
                      </m:sSubPr>
                      <m:e>
                        <m:r>
                          <a:rPr lang="en-US" altLang="ko-KR" sz="1300">
                            <a:solidFill>
                              <a:prstClr val="black">
                                <a:lumMod val="85000"/>
                                <a:lumOff val="15000"/>
                              </a:prstClr>
                            </a:solidFill>
                            <a:latin typeface="Cambria Math" panose="02040503050406030204" pitchFamily="18" charset="0"/>
                          </a:rPr>
                          <m:t>𝑥</m:t>
                        </m:r>
                      </m:e>
                      <m:sub>
                        <m:r>
                          <a:rPr lang="en-US" altLang="ko-KR" sz="1300">
                            <a:solidFill>
                              <a:prstClr val="black">
                                <a:lumMod val="85000"/>
                                <a:lumOff val="15000"/>
                              </a:prstClr>
                            </a:solidFill>
                            <a:latin typeface="Cambria Math" panose="02040503050406030204" pitchFamily="18" charset="0"/>
                          </a:rPr>
                          <m:t>𝑛</m:t>
                        </m:r>
                      </m:sub>
                    </m:sSub>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called a linear combination.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this way, representing the heat of the basic element in the form of a linear bond is called linear. Linear combination is the corresponding coefficients and variables, and the solution can be obtained through this equation.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figure below shows the concept of linearity in mathematics and daily life. </a:t>
                </a:r>
              </a:p>
            </p:txBody>
          </p:sp>
        </mc:Choice>
        <mc:Fallback xmlns="">
          <p:sp>
            <p:nvSpPr>
              <p:cNvPr id="19" name="Rectangle 12">
                <a:extLst>
                  <a:ext uri="{FF2B5EF4-FFF2-40B4-BE49-F238E27FC236}">
                    <a16:creationId xmlns:a16="http://schemas.microsoft.com/office/drawing/2014/main" xmlns="" xmlns:a14="http://schemas.microsoft.com/office/drawing/2010/main" id="{39C1D0BA-7152-4AAC-B295-DCCB5F8378F4}"/>
                  </a:ext>
                </a:extLst>
              </p:cNvPr>
              <p:cNvSpPr>
                <a:spLocks noRot="1" noChangeAspect="1" noMove="1" noResize="1" noEditPoints="1" noAdjustHandles="1" noChangeArrowheads="1" noChangeShapeType="1" noTextEdit="1"/>
              </p:cNvSpPr>
              <p:nvPr/>
            </p:nvSpPr>
            <p:spPr>
              <a:xfrm>
                <a:off x="711200" y="1682146"/>
                <a:ext cx="8756799" cy="1853566"/>
              </a:xfrm>
              <a:prstGeom prst="rect">
                <a:avLst/>
              </a:prstGeom>
              <a:blipFill rotWithShape="0">
                <a:blip r:embed="rId3"/>
                <a:stretch>
                  <a:fillRect l="-70"/>
                </a:stretch>
              </a:blipFill>
              <a:ln>
                <a:noFill/>
              </a:ln>
            </p:spPr>
            <p:txBody>
              <a:bodyPr/>
              <a:lstStyle/>
              <a:p>
                <a:r>
                  <a:rPr lang="ko-KR" altLang="en-US">
                    <a:noFill/>
                  </a:rPr>
                  <a:t> </a:t>
                </a:r>
              </a:p>
            </p:txBody>
          </p:sp>
        </mc:Fallback>
      </mc:AlternateContent>
      <p:sp>
        <p:nvSpPr>
          <p:cNvPr id="29" name="직사각형 28">
            <a:extLst>
              <a:ext uri="{FF2B5EF4-FFF2-40B4-BE49-F238E27FC236}">
                <a16:creationId xmlns:a16="http://schemas.microsoft.com/office/drawing/2014/main" id="{40E22606-181B-4BFE-8DF7-35DBA483BC6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the </a:t>
            </a:r>
            <a:r>
              <a:rPr lang="en-US" altLang="ko-KR" sz="1400" dirty="0" err="1">
                <a:solidFill>
                  <a:schemeClr val="tx1"/>
                </a:solidFill>
                <a:latin typeface="SamsungOne 400" panose="020B0503030303020204" pitchFamily="34" charset="0"/>
                <a:ea typeface="SamsungOne 400" panose="020B0503030303020204" pitchFamily="34" charset="0"/>
              </a:rPr>
              <a:t>linspace</a:t>
            </a:r>
            <a:r>
              <a:rPr lang="en-US" altLang="ko-KR" sz="1400" dirty="0">
                <a:solidFill>
                  <a:schemeClr val="tx1"/>
                </a:solidFill>
                <a:latin typeface="SamsungOne 400" panose="020B0503030303020204" pitchFamily="34" charset="0"/>
                <a:ea typeface="SamsungOne 400" panose="020B0503030303020204" pitchFamily="34" charset="0"/>
              </a:rPr>
              <a:t> Function</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(1/2) – See help(</a:t>
            </a:r>
            <a:r>
              <a:rPr lang="en-US" altLang="ko-KR" sz="1400" dirty="0" err="1">
                <a:solidFill>
                  <a:schemeClr val="tx1"/>
                </a:solidFill>
                <a:latin typeface="SamsungOne 400" panose="020B0503030303020204" pitchFamily="34" charset="0"/>
                <a:ea typeface="SamsungOne 400" panose="020B0503030303020204" pitchFamily="34" charset="0"/>
              </a:rPr>
              <a:t>np.linspace</a:t>
            </a:r>
            <a:r>
              <a:rPr lang="en-US" altLang="ko-KR" sz="1400" dirty="0">
                <a:solidFill>
                  <a:schemeClr val="tx1"/>
                </a:solidFill>
                <a:latin typeface="SamsungOne 400" panose="020B0503030303020204" pitchFamily="34" charset="0"/>
                <a:ea typeface="SamsungOne 400" panose="020B0503030303020204" pitchFamily="34" charset="0"/>
              </a:rPr>
              <a:t>) for more detail.</a:t>
            </a:r>
          </a:p>
        </p:txBody>
      </p:sp>
      <p:grpSp>
        <p:nvGrpSpPr>
          <p:cNvPr id="5" name="그룹 4">
            <a:extLst>
              <a:ext uri="{FF2B5EF4-FFF2-40B4-BE49-F238E27FC236}">
                <a16:creationId xmlns:a16="http://schemas.microsoft.com/office/drawing/2014/main" id="{8F78C2DB-6265-4BA1-953D-312F31E581BA}"/>
              </a:ext>
            </a:extLst>
          </p:cNvPr>
          <p:cNvGrpSpPr/>
          <p:nvPr/>
        </p:nvGrpSpPr>
        <p:grpSpPr>
          <a:xfrm>
            <a:off x="580388" y="3578083"/>
            <a:ext cx="8789854" cy="2662928"/>
            <a:chOff x="580388" y="3615407"/>
            <a:chExt cx="8789854" cy="2662928"/>
          </a:xfrm>
        </p:grpSpPr>
        <p:grpSp>
          <p:nvGrpSpPr>
            <p:cNvPr id="26" name="그룹 25">
              <a:extLst>
                <a:ext uri="{FF2B5EF4-FFF2-40B4-BE49-F238E27FC236}">
                  <a16:creationId xmlns:a16="http://schemas.microsoft.com/office/drawing/2014/main" id="{3BC6370D-0B1C-4F62-BEF6-D95045F97406}"/>
                </a:ext>
              </a:extLst>
            </p:cNvPr>
            <p:cNvGrpSpPr/>
            <p:nvPr/>
          </p:nvGrpSpPr>
          <p:grpSpPr>
            <a:xfrm>
              <a:off x="580388" y="3615407"/>
              <a:ext cx="8789854" cy="2662928"/>
              <a:chOff x="630932" y="3092427"/>
              <a:chExt cx="8789854" cy="2662928"/>
            </a:xfrm>
          </p:grpSpPr>
          <p:grpSp>
            <p:nvGrpSpPr>
              <p:cNvPr id="25" name="그룹 24">
                <a:extLst>
                  <a:ext uri="{FF2B5EF4-FFF2-40B4-BE49-F238E27FC236}">
                    <a16:creationId xmlns:a16="http://schemas.microsoft.com/office/drawing/2014/main" id="{E73F3FED-39BB-4FCE-91F9-BC90EC0D84F8}"/>
                  </a:ext>
                </a:extLst>
              </p:cNvPr>
              <p:cNvGrpSpPr/>
              <p:nvPr/>
            </p:nvGrpSpPr>
            <p:grpSpPr>
              <a:xfrm>
                <a:off x="630932" y="3411030"/>
                <a:ext cx="8789854" cy="2344325"/>
                <a:chOff x="630932" y="3411030"/>
                <a:chExt cx="8789854" cy="2344325"/>
              </a:xfrm>
            </p:grpSpPr>
            <p:grpSp>
              <p:nvGrpSpPr>
                <p:cNvPr id="23" name="그룹 22">
                  <a:extLst>
                    <a:ext uri="{FF2B5EF4-FFF2-40B4-BE49-F238E27FC236}">
                      <a16:creationId xmlns:a16="http://schemas.microsoft.com/office/drawing/2014/main" id="{2AD07D10-A3C3-41D4-B0BE-41D7FA32BEE1}"/>
                    </a:ext>
                  </a:extLst>
                </p:cNvPr>
                <p:cNvGrpSpPr/>
                <p:nvPr/>
              </p:nvGrpSpPr>
              <p:grpSpPr>
                <a:xfrm>
                  <a:off x="630932" y="3411030"/>
                  <a:ext cx="8789854" cy="2344325"/>
                  <a:chOff x="-1514546" y="2848807"/>
                  <a:chExt cx="13189524" cy="3517752"/>
                </a:xfrm>
              </p:grpSpPr>
              <p:pic>
                <p:nvPicPr>
                  <p:cNvPr id="4" name="그림 3">
                    <a:extLst>
                      <a:ext uri="{FF2B5EF4-FFF2-40B4-BE49-F238E27FC236}">
                        <a16:creationId xmlns:a16="http://schemas.microsoft.com/office/drawing/2014/main" id="{16C5694E-D1DF-46F1-8D0C-6EB0A31DE76E}"/>
                      </a:ext>
                    </a:extLst>
                  </p:cNvPr>
                  <p:cNvPicPr>
                    <a:picLocks noChangeAspect="1"/>
                  </p:cNvPicPr>
                  <p:nvPr/>
                </p:nvPicPr>
                <p:blipFill rotWithShape="1">
                  <a:blip r:embed="rId5">
                    <a:extLst>
                      <a:ext uri="{28A0092B-C50C-407E-A947-70E740481C1C}">
                        <a14:useLocalDpi xmlns:a14="http://schemas.microsoft.com/office/drawing/2010/main" val="0"/>
                      </a:ext>
                    </a:extLst>
                  </a:blip>
                  <a:srcRect l="12895" t="11656" r="12112" b="14480"/>
                  <a:stretch/>
                </p:blipFill>
                <p:spPr>
                  <a:xfrm>
                    <a:off x="-1514546" y="2848807"/>
                    <a:ext cx="3571538" cy="3517752"/>
                  </a:xfrm>
                  <a:prstGeom prst="rect">
                    <a:avLst/>
                  </a:prstGeom>
                </p:spPr>
              </p:pic>
              <p:grpSp>
                <p:nvGrpSpPr>
                  <p:cNvPr id="22" name="그룹 21">
                    <a:extLst>
                      <a:ext uri="{FF2B5EF4-FFF2-40B4-BE49-F238E27FC236}">
                        <a16:creationId xmlns:a16="http://schemas.microsoft.com/office/drawing/2014/main" id="{03B7D018-0E14-444F-83AF-DA5184CDC19D}"/>
                      </a:ext>
                    </a:extLst>
                  </p:cNvPr>
                  <p:cNvGrpSpPr/>
                  <p:nvPr/>
                </p:nvGrpSpPr>
                <p:grpSpPr>
                  <a:xfrm>
                    <a:off x="2060415" y="3076686"/>
                    <a:ext cx="9614563" cy="3108961"/>
                    <a:chOff x="2060415" y="3076686"/>
                    <a:chExt cx="9614563" cy="3108961"/>
                  </a:xfrm>
                </p:grpSpPr>
                <p:pic>
                  <p:nvPicPr>
                    <p:cNvPr id="6" name="그림 5">
                      <a:extLst>
                        <a:ext uri="{FF2B5EF4-FFF2-40B4-BE49-F238E27FC236}">
                          <a16:creationId xmlns:a16="http://schemas.microsoft.com/office/drawing/2014/main" id="{37FE1BF1-DF6F-4278-9BD0-A248050090C0}"/>
                        </a:ext>
                      </a:extLst>
                    </p:cNvPr>
                    <p:cNvPicPr>
                      <a:picLocks noChangeAspect="1"/>
                    </p:cNvPicPr>
                    <p:nvPr/>
                  </p:nvPicPr>
                  <p:blipFill rotWithShape="1">
                    <a:blip r:embed="rId6">
                      <a:extLst>
                        <a:ext uri="{28A0092B-C50C-407E-A947-70E740481C1C}">
                          <a14:useLocalDpi xmlns:a14="http://schemas.microsoft.com/office/drawing/2010/main" val="0"/>
                        </a:ext>
                      </a:extLst>
                    </a:blip>
                    <a:srcRect l="18089" t="12334" r="17308" b="13350"/>
                    <a:stretch/>
                  </p:blipFill>
                  <p:spPr>
                    <a:xfrm>
                      <a:off x="2060415" y="3076686"/>
                      <a:ext cx="2702622" cy="3108959"/>
                    </a:xfrm>
                    <a:prstGeom prst="rect">
                      <a:avLst/>
                    </a:prstGeom>
                  </p:spPr>
                </p:pic>
                <p:pic>
                  <p:nvPicPr>
                    <p:cNvPr id="8" name="그림 7">
                      <a:extLst>
                        <a:ext uri="{FF2B5EF4-FFF2-40B4-BE49-F238E27FC236}">
                          <a16:creationId xmlns:a16="http://schemas.microsoft.com/office/drawing/2014/main" id="{35E60B18-E512-44F9-9062-3B96435300CB}"/>
                        </a:ext>
                      </a:extLst>
                    </p:cNvPr>
                    <p:cNvPicPr>
                      <a:picLocks noChangeAspect="1"/>
                    </p:cNvPicPr>
                    <p:nvPr/>
                  </p:nvPicPr>
                  <p:blipFill rotWithShape="1">
                    <a:blip r:embed="rId7">
                      <a:extLst>
                        <a:ext uri="{28A0092B-C50C-407E-A947-70E740481C1C}">
                          <a14:useLocalDpi xmlns:a14="http://schemas.microsoft.com/office/drawing/2010/main" val="0"/>
                        </a:ext>
                      </a:extLst>
                    </a:blip>
                    <a:srcRect l="17186" t="17755" r="19567" b="19223"/>
                    <a:stretch/>
                  </p:blipFill>
                  <p:spPr>
                    <a:xfrm>
                      <a:off x="4727928" y="3087446"/>
                      <a:ext cx="3076918" cy="3065928"/>
                    </a:xfrm>
                    <a:prstGeom prst="rect">
                      <a:avLst/>
                    </a:prstGeom>
                  </p:spPr>
                </p:pic>
                <p:pic>
                  <p:nvPicPr>
                    <p:cNvPr id="21" name="그림 20">
                      <a:extLst>
                        <a:ext uri="{FF2B5EF4-FFF2-40B4-BE49-F238E27FC236}">
                          <a16:creationId xmlns:a16="http://schemas.microsoft.com/office/drawing/2014/main" id="{B5D8999B-F788-4E0F-9206-F4EEE86D20B7}"/>
                        </a:ext>
                      </a:extLst>
                    </p:cNvPr>
                    <p:cNvPicPr>
                      <a:picLocks noChangeAspect="1"/>
                    </p:cNvPicPr>
                    <p:nvPr/>
                  </p:nvPicPr>
                  <p:blipFill rotWithShape="1">
                    <a:blip r:embed="rId8">
                      <a:extLst>
                        <a:ext uri="{28A0092B-C50C-407E-A947-70E740481C1C}">
                          <a14:useLocalDpi xmlns:a14="http://schemas.microsoft.com/office/drawing/2010/main" val="0"/>
                        </a:ext>
                      </a:extLst>
                    </a:blip>
                    <a:srcRect l="9732" t="17530" r="10305" b="18546"/>
                    <a:stretch/>
                  </p:blipFill>
                  <p:spPr>
                    <a:xfrm>
                      <a:off x="7804614" y="3091543"/>
                      <a:ext cx="3870364" cy="3094104"/>
                    </a:xfrm>
                    <a:prstGeom prst="rect">
                      <a:avLst/>
                    </a:prstGeom>
                  </p:spPr>
                </p:pic>
              </p:grpSp>
            </p:grpSp>
            <p:sp>
              <p:nvSpPr>
                <p:cNvPr id="24" name="직사각형 23">
                  <a:extLst>
                    <a:ext uri="{FF2B5EF4-FFF2-40B4-BE49-F238E27FC236}">
                      <a16:creationId xmlns:a16="http://schemas.microsoft.com/office/drawing/2014/main" id="{E3B365FE-6F2B-4F6D-A3AA-6A73BB42C0BE}"/>
                    </a:ext>
                  </a:extLst>
                </p:cNvPr>
                <p:cNvSpPr/>
                <p:nvPr/>
              </p:nvSpPr>
              <p:spPr>
                <a:xfrm>
                  <a:off x="4898143" y="3637545"/>
                  <a:ext cx="1448869" cy="2136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7" name="TextBox 26">
                <a:extLst>
                  <a:ext uri="{FF2B5EF4-FFF2-40B4-BE49-F238E27FC236}">
                    <a16:creationId xmlns:a16="http://schemas.microsoft.com/office/drawing/2014/main" id="{0A7972DA-C226-48E5-A6EF-1BF18ED5CD34}"/>
                  </a:ext>
                </a:extLst>
              </p:cNvPr>
              <p:cNvSpPr txBox="1"/>
              <p:nvPr/>
            </p:nvSpPr>
            <p:spPr>
              <a:xfrm>
                <a:off x="4641916" y="3092427"/>
                <a:ext cx="2469443" cy="461665"/>
              </a:xfrm>
              <a:prstGeom prst="rect">
                <a:avLst/>
              </a:prstGeom>
              <a:noFill/>
            </p:spPr>
            <p:txBody>
              <a:bodyPr wrap="square" rtlCol="0">
                <a:spAutoFit/>
              </a:bodyPr>
              <a:lstStyle/>
              <a:p>
                <a:pPr>
                  <a:spcAft>
                    <a:spcPts val="800"/>
                  </a:spcAft>
                  <a:buClr>
                    <a:srgbClr val="193EB0"/>
                  </a:buClr>
                </a:pPr>
                <a:r>
                  <a:rPr lang="en-US" altLang="ko-KR" sz="1200" dirty="0">
                    <a:solidFill>
                      <a:srgbClr val="193EB0"/>
                    </a:solidFill>
                    <a:latin typeface="SamsungOne 400" panose="020B0503030303020204" pitchFamily="34" charset="0"/>
                    <a:ea typeface="SamsungOne 400" panose="020B0503030303020204" pitchFamily="34" charset="0"/>
                  </a:rPr>
                  <a:t>Linear relationship between time and the height of the water bottle</a:t>
                </a:r>
                <a:endParaRPr lang="ko-KR" altLang="en-US" sz="1200" dirty="0">
                  <a:solidFill>
                    <a:srgbClr val="193EB0"/>
                  </a:solidFill>
                  <a:latin typeface="SamsungOne 400" panose="020B0503030303020204" pitchFamily="34" charset="0"/>
                </a:endParaRPr>
              </a:p>
            </p:txBody>
          </p:sp>
        </p:grpSp>
        <p:sp>
          <p:nvSpPr>
            <p:cNvPr id="2" name="화살표: 아래쪽 1">
              <a:extLst>
                <a:ext uri="{FF2B5EF4-FFF2-40B4-BE49-F238E27FC236}">
                  <a16:creationId xmlns:a16="http://schemas.microsoft.com/office/drawing/2014/main" id="{31E09BCD-0C2B-4D3D-8BF5-F0131948A51B}"/>
                </a:ext>
              </a:extLst>
            </p:cNvPr>
            <p:cNvSpPr/>
            <p:nvPr/>
          </p:nvSpPr>
          <p:spPr>
            <a:xfrm>
              <a:off x="5671491" y="4065054"/>
              <a:ext cx="253447" cy="281172"/>
            </a:xfrm>
            <a:prstGeom prst="downArrow">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25154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EC6CFB3F-230B-478D-B573-51908D383097}"/>
              </a:ext>
            </a:extLst>
          </p:cNvPr>
          <p:cNvGrpSpPr/>
          <p:nvPr/>
        </p:nvGrpSpPr>
        <p:grpSpPr>
          <a:xfrm>
            <a:off x="557644" y="3847400"/>
            <a:ext cx="8782050" cy="1237784"/>
            <a:chOff x="557644" y="3847400"/>
            <a:chExt cx="8782050" cy="1237784"/>
          </a:xfrm>
        </p:grpSpPr>
        <p:grpSp>
          <p:nvGrpSpPr>
            <p:cNvPr id="21" name="그룹 20"/>
            <p:cNvGrpSpPr/>
            <p:nvPr/>
          </p:nvGrpSpPr>
          <p:grpSpPr>
            <a:xfrm>
              <a:off x="557644" y="3847400"/>
              <a:ext cx="8782050" cy="1237784"/>
              <a:chOff x="557644" y="5085184"/>
              <a:chExt cx="8782050" cy="1237784"/>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12377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Five numbers in the linear space from 1 to 10. </a:t>
                </a:r>
              </a:p>
            </p:txBody>
          </p:sp>
        </p:grpSp>
        <p:pic>
          <p:nvPicPr>
            <p:cNvPr id="2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5052" y="4466668"/>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EE836FE5-4E63-409C-97E4-2898B8159708}"/>
                </a:ext>
              </a:extLst>
            </p:cNvPr>
            <p:cNvSpPr txBox="1"/>
            <p:nvPr/>
          </p:nvSpPr>
          <p:spPr>
            <a:xfrm>
              <a:off x="923833" y="4443936"/>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8" name="TextBox 27">
              <a:extLst>
                <a:ext uri="{FF2B5EF4-FFF2-40B4-BE49-F238E27FC236}">
                  <a16:creationId xmlns:a16="http://schemas.microsoft.com/office/drawing/2014/main" id="{0800EE66-B78E-4CCD-A49E-31BBE412C7F6}"/>
                </a:ext>
              </a:extLst>
            </p:cNvPr>
            <p:cNvSpPr txBox="1"/>
            <p:nvPr/>
          </p:nvSpPr>
          <p:spPr>
            <a:xfrm>
              <a:off x="1024473" y="477883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20 numbers in the linear space from 10 to 10.</a:t>
              </a:r>
            </a:p>
          </p:txBody>
        </p:sp>
      </p:grpSp>
      <p:grpSp>
        <p:nvGrpSpPr>
          <p:cNvPr id="4" name="그룹 3">
            <a:extLst>
              <a:ext uri="{FF2B5EF4-FFF2-40B4-BE49-F238E27FC236}">
                <a16:creationId xmlns:a16="http://schemas.microsoft.com/office/drawing/2014/main" id="{73F03724-2A17-4951-A919-8D7DA0E571B6}"/>
              </a:ext>
            </a:extLst>
          </p:cNvPr>
          <p:cNvGrpSpPr/>
          <p:nvPr/>
        </p:nvGrpSpPr>
        <p:grpSpPr>
          <a:xfrm>
            <a:off x="558396" y="1719470"/>
            <a:ext cx="8782050" cy="2027379"/>
            <a:chOff x="558396" y="1844825"/>
            <a:chExt cx="8782050" cy="2027379"/>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202737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384" r="18320"/>
            <a:stretch/>
          </p:blipFill>
          <p:spPr>
            <a:xfrm>
              <a:off x="643813" y="1875433"/>
              <a:ext cx="8695882" cy="1971967"/>
            </a:xfrm>
            <a:prstGeom prst="rect">
              <a:avLst/>
            </a:prstGeom>
          </p:spPr>
        </p:pic>
      </p:grpSp>
      <p:sp>
        <p:nvSpPr>
          <p:cNvPr id="18" name="직사각형 17">
            <a:extLst>
              <a:ext uri="{FF2B5EF4-FFF2-40B4-BE49-F238E27FC236}">
                <a16:creationId xmlns:a16="http://schemas.microsoft.com/office/drawing/2014/main" id="{20E4BD26-B4BC-4721-83D7-E470DE68AA9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the </a:t>
            </a:r>
            <a:r>
              <a:rPr lang="en-US" altLang="ko-KR" sz="1400" dirty="0" err="1">
                <a:solidFill>
                  <a:schemeClr val="tx1"/>
                </a:solidFill>
                <a:latin typeface="SamsungOne 400" panose="020B0503030303020204" pitchFamily="34" charset="0"/>
                <a:ea typeface="SamsungOne 400" panose="020B0503030303020204" pitchFamily="34" charset="0"/>
              </a:rPr>
              <a:t>linspace</a:t>
            </a:r>
            <a:r>
              <a:rPr lang="en-US" altLang="ko-KR" sz="1400" dirty="0">
                <a:solidFill>
                  <a:schemeClr val="tx1"/>
                </a:solidFill>
                <a:latin typeface="SamsungOne 400" panose="020B0503030303020204" pitchFamily="34" charset="0"/>
                <a:ea typeface="SamsungOne 400" panose="020B0503030303020204" pitchFamily="34" charset="0"/>
              </a:rPr>
              <a:t> Function</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(2/2)</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679425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21" name="그룹 20"/>
          <p:cNvGrpSpPr/>
          <p:nvPr/>
        </p:nvGrpSpPr>
        <p:grpSpPr>
          <a:xfrm>
            <a:off x="557644" y="3410338"/>
            <a:ext cx="8782050" cy="733728"/>
            <a:chOff x="557644" y="5085184"/>
            <a:chExt cx="8782050" cy="733728"/>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3372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Be careful not to skip the “s.”</a:t>
              </a:r>
            </a:p>
          </p:txBody>
        </p:sp>
      </p:grpSp>
      <p:grpSp>
        <p:nvGrpSpPr>
          <p:cNvPr id="2" name="그룹 1">
            <a:extLst>
              <a:ext uri="{FF2B5EF4-FFF2-40B4-BE49-F238E27FC236}">
                <a16:creationId xmlns:a16="http://schemas.microsoft.com/office/drawing/2014/main" id="{85F3FAE2-8870-4113-A474-233D94101D7E}"/>
              </a:ext>
            </a:extLst>
          </p:cNvPr>
          <p:cNvGrpSpPr/>
          <p:nvPr/>
        </p:nvGrpSpPr>
        <p:grpSpPr>
          <a:xfrm>
            <a:off x="558396" y="1719470"/>
            <a:ext cx="8782050" cy="1600578"/>
            <a:chOff x="558396" y="1844825"/>
            <a:chExt cx="8782050" cy="1600578"/>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160057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991" r="22039"/>
            <a:stretch/>
          </p:blipFill>
          <p:spPr>
            <a:xfrm>
              <a:off x="698286" y="1870627"/>
              <a:ext cx="8641408" cy="1558373"/>
            </a:xfrm>
            <a:prstGeom prst="rect">
              <a:avLst/>
            </a:prstGeom>
          </p:spPr>
        </p:pic>
      </p:grpSp>
      <p:sp>
        <p:nvSpPr>
          <p:cNvPr id="16" name="직사각형 15">
            <a:extLst>
              <a:ext uri="{FF2B5EF4-FFF2-40B4-BE49-F238E27FC236}">
                <a16:creationId xmlns:a16="http://schemas.microsoft.com/office/drawing/2014/main" id="{85B61D89-6885-4DC7-8D94-C41B7FAC76A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Arrays with </a:t>
            </a:r>
            <a:r>
              <a:rPr lang="en-US" altLang="ko-KR" sz="1400" dirty="0" err="1">
                <a:solidFill>
                  <a:schemeClr val="tx1"/>
                </a:solidFill>
                <a:latin typeface="SamsungOne 400" panose="020B0503030303020204" pitchFamily="34" charset="0"/>
                <a:ea typeface="SamsungOne 400" panose="020B0503030303020204" pitchFamily="34" charset="0"/>
              </a:rPr>
              <a:t>np.zeros</a:t>
            </a:r>
            <a:r>
              <a:rPr lang="en-US" altLang="ko-KR" sz="1400" dirty="0">
                <a:solidFill>
                  <a:schemeClr val="tx1"/>
                </a:solidFill>
                <a:latin typeface="SamsungOne 400" panose="020B0503030303020204" pitchFamily="34" charset="0"/>
                <a:ea typeface="SamsungOne 400" panose="020B0503030303020204" pitchFamily="34" charset="0"/>
              </a:rPr>
              <a:t>() and</a:t>
            </a:r>
            <a:r>
              <a:rPr lang="ko-KR" altLang="en-US" sz="1400" dirty="0">
                <a:solidFill>
                  <a:schemeClr val="tx1"/>
                </a:solidFill>
                <a:latin typeface="SamsungOne 400" panose="020B0503030303020204" pitchFamily="34" charset="0"/>
              </a:rPr>
              <a:t> </a:t>
            </a:r>
            <a:r>
              <a:rPr lang="en-US" altLang="ko-KR" sz="1400" dirty="0" err="1">
                <a:solidFill>
                  <a:schemeClr val="tx1"/>
                </a:solidFill>
                <a:latin typeface="SamsungOne 400" panose="020B0503030303020204" pitchFamily="34" charset="0"/>
                <a:ea typeface="SamsungOne 400" panose="020B0503030303020204" pitchFamily="34" charset="0"/>
              </a:rPr>
              <a:t>np.ones</a:t>
            </a:r>
            <a:r>
              <a:rPr lang="en-US" altLang="ko-KR" sz="1400" dirty="0">
                <a:solidFill>
                  <a:schemeClr val="tx1"/>
                </a:solidFill>
                <a:latin typeface="SamsungOne 400" panose="020B0503030303020204" pitchFamily="34" charset="0"/>
                <a:ea typeface="SamsungOne 400" panose="020B0503030303020204" pitchFamily="34" charset="0"/>
              </a:rPr>
              <a:t>()</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051678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Multidimensional Arrays</a:t>
            </a:r>
          </a:p>
        </p:txBody>
      </p:sp>
      <p:grpSp>
        <p:nvGrpSpPr>
          <p:cNvPr id="6" name="그룹 5">
            <a:extLst>
              <a:ext uri="{FF2B5EF4-FFF2-40B4-BE49-F238E27FC236}">
                <a16:creationId xmlns:a16="http://schemas.microsoft.com/office/drawing/2014/main" id="{3EBFF513-9EFF-41D7-8B86-42A16019DFA3}"/>
              </a:ext>
            </a:extLst>
          </p:cNvPr>
          <p:cNvGrpSpPr/>
          <p:nvPr/>
        </p:nvGrpSpPr>
        <p:grpSpPr>
          <a:xfrm>
            <a:off x="557644" y="4994514"/>
            <a:ext cx="8782050" cy="1309792"/>
            <a:chOff x="557644" y="4994514"/>
            <a:chExt cx="8782050" cy="1309792"/>
          </a:xfrm>
        </p:grpSpPr>
        <p:grpSp>
          <p:nvGrpSpPr>
            <p:cNvPr id="16" name="그룹 15"/>
            <p:cNvGrpSpPr/>
            <p:nvPr/>
          </p:nvGrpSpPr>
          <p:grpSpPr>
            <a:xfrm>
              <a:off x="557644" y="4994514"/>
              <a:ext cx="8782050" cy="1309792"/>
              <a:chOff x="557644" y="5085184"/>
              <a:chExt cx="8782050" cy="1309792"/>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13097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first element in this list is also a list, so the first element in that list is 1.</a:t>
                </a:r>
              </a:p>
            </p:txBody>
          </p:sp>
        </p:grpSp>
        <p:grpSp>
          <p:nvGrpSpPr>
            <p:cNvPr id="5" name="그룹 4">
              <a:extLst>
                <a:ext uri="{FF2B5EF4-FFF2-40B4-BE49-F238E27FC236}">
                  <a16:creationId xmlns:a16="http://schemas.microsoft.com/office/drawing/2014/main" id="{6132DD71-35DB-45A2-9ACA-3699F6EDE9D0}"/>
                </a:ext>
              </a:extLst>
            </p:cNvPr>
            <p:cNvGrpSpPr/>
            <p:nvPr/>
          </p:nvGrpSpPr>
          <p:grpSpPr>
            <a:xfrm>
              <a:off x="658228" y="5671166"/>
              <a:ext cx="8640559" cy="534949"/>
              <a:chOff x="658228" y="5736483"/>
              <a:chExt cx="8640559" cy="534949"/>
            </a:xfrm>
          </p:grpSpPr>
          <p:pic>
            <p:nvPicPr>
              <p:cNvPr id="3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58228" y="575921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E836FE5-4E63-409C-97E4-2898B8159708}"/>
                  </a:ext>
                </a:extLst>
              </p:cNvPr>
              <p:cNvSpPr txBox="1"/>
              <p:nvPr/>
            </p:nvSpPr>
            <p:spPr>
              <a:xfrm>
                <a:off x="917009" y="573648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6" name="TextBox 35">
                <a:extLst>
                  <a:ext uri="{FF2B5EF4-FFF2-40B4-BE49-F238E27FC236}">
                    <a16:creationId xmlns:a16="http://schemas.microsoft.com/office/drawing/2014/main" id="{0800EE66-B78E-4CCD-A49E-31BBE412C7F6}"/>
                  </a:ext>
                </a:extLst>
              </p:cNvPr>
              <p:cNvSpPr txBox="1"/>
              <p:nvPr/>
            </p:nvSpPr>
            <p:spPr>
              <a:xfrm>
                <a:off x="1017649" y="60713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Two-dimensional Array</a:t>
                </a:r>
              </a:p>
            </p:txBody>
          </p:sp>
        </p:grpSp>
      </p:grpSp>
      <p:grpSp>
        <p:nvGrpSpPr>
          <p:cNvPr id="4" name="그룹 3">
            <a:extLst>
              <a:ext uri="{FF2B5EF4-FFF2-40B4-BE49-F238E27FC236}">
                <a16:creationId xmlns:a16="http://schemas.microsoft.com/office/drawing/2014/main" id="{93C87593-65FE-4F16-B16F-89C02E105633}"/>
              </a:ext>
            </a:extLst>
          </p:cNvPr>
          <p:cNvGrpSpPr/>
          <p:nvPr/>
        </p:nvGrpSpPr>
        <p:grpSpPr>
          <a:xfrm>
            <a:off x="558396" y="2365732"/>
            <a:ext cx="8782050" cy="2540752"/>
            <a:chOff x="558396" y="2328408"/>
            <a:chExt cx="8782050" cy="2540752"/>
          </a:xfrm>
        </p:grpSpPr>
        <p:sp>
          <p:nvSpPr>
            <p:cNvPr id="15" name="모서리가 둥근 직사각형 4">
              <a:extLst>
                <a:ext uri="{FF2B5EF4-FFF2-40B4-BE49-F238E27FC236}">
                  <a16:creationId xmlns:a16="http://schemas.microsoft.com/office/drawing/2014/main" id="{A36E3BA1-83BF-4EF9-8B22-BB45DE7AA1FC}"/>
                </a:ext>
              </a:extLst>
            </p:cNvPr>
            <p:cNvSpPr/>
            <p:nvPr/>
          </p:nvSpPr>
          <p:spPr>
            <a:xfrm>
              <a:off x="558396" y="2328408"/>
              <a:ext cx="8782050" cy="25407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4607"/>
            <a:stretch/>
          </p:blipFill>
          <p:spPr>
            <a:xfrm>
              <a:off x="590885" y="2347192"/>
              <a:ext cx="8748809" cy="2477256"/>
            </a:xfrm>
            <a:prstGeom prst="rect">
              <a:avLst/>
            </a:prstGeom>
          </p:spPr>
        </p:pic>
      </p:grpSp>
      <p:sp>
        <p:nvSpPr>
          <p:cNvPr id="31" name="직사각형 30">
            <a:extLst>
              <a:ext uri="{FF2B5EF4-FFF2-40B4-BE49-F238E27FC236}">
                <a16:creationId xmlns:a16="http://schemas.microsoft.com/office/drawing/2014/main" id="{FD5C1558-2E02-435F-9B7E-0BA2782F415B}"/>
              </a:ext>
            </a:extLst>
          </p:cNvPr>
          <p:cNvSpPr/>
          <p:nvPr/>
        </p:nvSpPr>
        <p:spPr>
          <a:xfrm>
            <a:off x="580388" y="1833801"/>
            <a:ext cx="878205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 multidimensional array refers to an array of two or more dimensions. It can be made in the form of a list in the list. </a:t>
            </a:r>
          </a:p>
        </p:txBody>
      </p:sp>
    </p:spTree>
    <p:extLst>
      <p:ext uri="{BB962C8B-B14F-4D97-AF65-F5344CB8AC3E}">
        <p14:creationId xmlns:p14="http://schemas.microsoft.com/office/powerpoint/2010/main" val="2163132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26648D12-6F70-4179-A1B5-BEE386D2FBCC}"/>
              </a:ext>
            </a:extLst>
          </p:cNvPr>
          <p:cNvGrpSpPr/>
          <p:nvPr/>
        </p:nvGrpSpPr>
        <p:grpSpPr>
          <a:xfrm>
            <a:off x="558396" y="1700808"/>
            <a:ext cx="8782050" cy="864095"/>
            <a:chOff x="558396" y="1844825"/>
            <a:chExt cx="8782050" cy="864095"/>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86409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3164"/>
            <a:stretch/>
          </p:blipFill>
          <p:spPr>
            <a:xfrm>
              <a:off x="581554" y="1913761"/>
              <a:ext cx="8758892" cy="731606"/>
            </a:xfrm>
            <a:prstGeom prst="rect">
              <a:avLst/>
            </a:prstGeom>
          </p:spPr>
        </p:pic>
      </p:grpSp>
      <p:grpSp>
        <p:nvGrpSpPr>
          <p:cNvPr id="5" name="그룹 4">
            <a:extLst>
              <a:ext uri="{FF2B5EF4-FFF2-40B4-BE49-F238E27FC236}">
                <a16:creationId xmlns:a16="http://schemas.microsoft.com/office/drawing/2014/main" id="{27AC219B-52C3-4334-B77E-3CE51AF58B0B}"/>
              </a:ext>
            </a:extLst>
          </p:cNvPr>
          <p:cNvGrpSpPr/>
          <p:nvPr/>
        </p:nvGrpSpPr>
        <p:grpSpPr>
          <a:xfrm>
            <a:off x="558924" y="3080297"/>
            <a:ext cx="8782050" cy="1200403"/>
            <a:chOff x="558924" y="3212977"/>
            <a:chExt cx="8782050" cy="1200403"/>
          </a:xfrm>
        </p:grpSpPr>
        <p:sp>
          <p:nvSpPr>
            <p:cNvPr id="26" name="모서리가 둥근 직사각형 4">
              <a:extLst>
                <a:ext uri="{FF2B5EF4-FFF2-40B4-BE49-F238E27FC236}">
                  <a16:creationId xmlns:a16="http://schemas.microsoft.com/office/drawing/2014/main" id="{A36E3BA1-83BF-4EF9-8B22-BB45DE7AA1FC}"/>
                </a:ext>
              </a:extLst>
            </p:cNvPr>
            <p:cNvSpPr/>
            <p:nvPr/>
          </p:nvSpPr>
          <p:spPr>
            <a:xfrm>
              <a:off x="558924" y="3212977"/>
              <a:ext cx="8782050" cy="120040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16894"/>
            <a:stretch/>
          </p:blipFill>
          <p:spPr>
            <a:xfrm>
              <a:off x="589991" y="3257767"/>
              <a:ext cx="8750455" cy="1100081"/>
            </a:xfrm>
            <a:prstGeom prst="rect">
              <a:avLst/>
            </a:prstGeom>
          </p:spPr>
        </p:pic>
      </p:grpSp>
      <p:sp>
        <p:nvSpPr>
          <p:cNvPr id="21" name="직사각형 20">
            <a:extLst>
              <a:ext uri="{FF2B5EF4-FFF2-40B4-BE49-F238E27FC236}">
                <a16:creationId xmlns:a16="http://schemas.microsoft.com/office/drawing/2014/main" id="{A4BEF5ED-4DF1-4540-B359-2692426D1F3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Check the dimensions of the array with </a:t>
            </a:r>
            <a:r>
              <a:rPr lang="en-US" altLang="ko-KR" sz="1400" dirty="0" err="1">
                <a:solidFill>
                  <a:schemeClr val="tx1"/>
                </a:solidFill>
                <a:latin typeface="SamsungOne 400" panose="020B0503030303020204" pitchFamily="34" charset="0"/>
                <a:ea typeface="SamsungOne 400" panose="020B0503030303020204" pitchFamily="34" charset="0"/>
              </a:rPr>
              <a:t>ndim</a:t>
            </a:r>
            <a:r>
              <a:rPr lang="en-US" altLang="ko-KR" sz="1400" dirty="0">
                <a:solidFill>
                  <a:schemeClr val="tx1"/>
                </a:solidFill>
                <a:latin typeface="SamsungOne 400" panose="020B0503030303020204" pitchFamily="34" charset="0"/>
                <a:ea typeface="SamsungOne 400" panose="020B0503030303020204" pitchFamily="34" charset="0"/>
              </a:rPr>
              <a:t>.</a:t>
            </a:r>
            <a:endParaRPr lang="ko-KR" altLang="en-US" sz="1400" dirty="0">
              <a:solidFill>
                <a:schemeClr val="tx1"/>
              </a:solidFill>
              <a:latin typeface="SamsungOne 400" panose="020B0503030303020204" pitchFamily="34" charset="0"/>
            </a:endParaRPr>
          </a:p>
        </p:txBody>
      </p:sp>
      <p:sp>
        <p:nvSpPr>
          <p:cNvPr id="22" name="직사각형 21">
            <a:extLst>
              <a:ext uri="{FF2B5EF4-FFF2-40B4-BE49-F238E27FC236}">
                <a16:creationId xmlns:a16="http://schemas.microsoft.com/office/drawing/2014/main" id="{3FF5A93B-B390-4F2D-A90E-5E5084677B6F}"/>
              </a:ext>
            </a:extLst>
          </p:cNvPr>
          <p:cNvSpPr/>
          <p:nvPr/>
        </p:nvSpPr>
        <p:spPr>
          <a:xfrm>
            <a:off x="585155" y="278092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Then, let’s check the one-dimensional array that we learned before.</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1896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2CEAB96C-538D-43FD-9760-2C8213EE1D42}"/>
              </a:ext>
            </a:extLst>
          </p:cNvPr>
          <p:cNvGrpSpPr/>
          <p:nvPr/>
        </p:nvGrpSpPr>
        <p:grpSpPr>
          <a:xfrm>
            <a:off x="558396" y="1700808"/>
            <a:ext cx="8782051" cy="1318253"/>
            <a:chOff x="558396" y="1844825"/>
            <a:chExt cx="8782051" cy="1318253"/>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131825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0602" b="60079"/>
            <a:stretch/>
          </p:blipFill>
          <p:spPr>
            <a:xfrm>
              <a:off x="602171" y="1904865"/>
              <a:ext cx="8738276" cy="1236104"/>
            </a:xfrm>
            <a:prstGeom prst="rect">
              <a:avLst/>
            </a:prstGeom>
          </p:spPr>
        </p:pic>
      </p:grpSp>
      <p:sp>
        <p:nvSpPr>
          <p:cNvPr id="10" name="직사각형 9">
            <a:extLst>
              <a:ext uri="{FF2B5EF4-FFF2-40B4-BE49-F238E27FC236}">
                <a16:creationId xmlns:a16="http://schemas.microsoft.com/office/drawing/2014/main" id="{9E935A0F-073D-4BF7-975B-F9D8CDFC7B0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We will also make a three-dimensional array.</a:t>
            </a:r>
            <a:endParaRPr lang="ko-KR" altLang="en-US" sz="1400" dirty="0">
              <a:solidFill>
                <a:schemeClr val="tx1"/>
              </a:solidFill>
              <a:latin typeface="SamsungOne 400" panose="020B0503030303020204" pitchFamily="34" charset="0"/>
            </a:endParaRPr>
          </a:p>
        </p:txBody>
      </p:sp>
      <p:grpSp>
        <p:nvGrpSpPr>
          <p:cNvPr id="6" name="그룹 5">
            <a:extLst>
              <a:ext uri="{FF2B5EF4-FFF2-40B4-BE49-F238E27FC236}">
                <a16:creationId xmlns:a16="http://schemas.microsoft.com/office/drawing/2014/main" id="{BE141E4A-C98C-43FE-A8DB-9A5FA87DB83F}"/>
              </a:ext>
            </a:extLst>
          </p:cNvPr>
          <p:cNvGrpSpPr/>
          <p:nvPr/>
        </p:nvGrpSpPr>
        <p:grpSpPr>
          <a:xfrm>
            <a:off x="3649851" y="3317390"/>
            <a:ext cx="2599140" cy="1767794"/>
            <a:chOff x="6620915" y="3848192"/>
            <a:chExt cx="2599140" cy="1767794"/>
          </a:xfrm>
        </p:grpSpPr>
        <p:grpSp>
          <p:nvGrpSpPr>
            <p:cNvPr id="5" name="그룹 4">
              <a:extLst>
                <a:ext uri="{FF2B5EF4-FFF2-40B4-BE49-F238E27FC236}">
                  <a16:creationId xmlns:a16="http://schemas.microsoft.com/office/drawing/2014/main" id="{86A08C4C-EB99-47C9-92D8-C951E571BFAB}"/>
                </a:ext>
              </a:extLst>
            </p:cNvPr>
            <p:cNvGrpSpPr/>
            <p:nvPr/>
          </p:nvGrpSpPr>
          <p:grpSpPr>
            <a:xfrm>
              <a:off x="7447305" y="3848192"/>
              <a:ext cx="1772750" cy="1179569"/>
              <a:chOff x="7255668" y="3257543"/>
              <a:chExt cx="1195561" cy="1179569"/>
            </a:xfrm>
          </p:grpSpPr>
          <p:sp>
            <p:nvSpPr>
              <p:cNvPr id="4" name="정육면체 3">
                <a:extLst>
                  <a:ext uri="{FF2B5EF4-FFF2-40B4-BE49-F238E27FC236}">
                    <a16:creationId xmlns:a16="http://schemas.microsoft.com/office/drawing/2014/main" id="{B1D5D6B2-0A81-475C-817F-F3F3AA7741B5}"/>
                  </a:ext>
                </a:extLst>
              </p:cNvPr>
              <p:cNvSpPr/>
              <p:nvPr/>
            </p:nvSpPr>
            <p:spPr>
              <a:xfrm>
                <a:off x="7255668" y="3789040"/>
                <a:ext cx="648072" cy="648072"/>
              </a:xfrm>
              <a:prstGeom prst="cube">
                <a:avLst>
                  <a:gd name="adj" fmla="val 16182"/>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7</a:t>
                </a:r>
                <a:endParaRPr lang="ko-KR" altLang="en-US" sz="1600" b="1" dirty="0">
                  <a:solidFill>
                    <a:schemeClr val="bg1"/>
                  </a:solidFill>
                  <a:latin typeface="SamsungOne 400" panose="020B0503030303020204" pitchFamily="34" charset="0"/>
                </a:endParaRPr>
              </a:p>
            </p:txBody>
          </p:sp>
          <p:sp>
            <p:nvSpPr>
              <p:cNvPr id="16" name="정육면체 15">
                <a:extLst>
                  <a:ext uri="{FF2B5EF4-FFF2-40B4-BE49-F238E27FC236}">
                    <a16:creationId xmlns:a16="http://schemas.microsoft.com/office/drawing/2014/main" id="{AA61A074-594B-4785-875D-44C6B2B962ED}"/>
                  </a:ext>
                </a:extLst>
              </p:cNvPr>
              <p:cNvSpPr/>
              <p:nvPr/>
            </p:nvSpPr>
            <p:spPr>
              <a:xfrm>
                <a:off x="7803157" y="3789040"/>
                <a:ext cx="648072" cy="648072"/>
              </a:xfrm>
              <a:prstGeom prst="cube">
                <a:avLst>
                  <a:gd name="adj" fmla="val 16182"/>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8</a:t>
                </a:r>
                <a:endParaRPr lang="ko-KR" altLang="en-US" sz="1600" b="1" dirty="0">
                  <a:solidFill>
                    <a:schemeClr val="bg1"/>
                  </a:solidFill>
                  <a:latin typeface="SamsungOne 400" panose="020B0503030303020204" pitchFamily="34" charset="0"/>
                </a:endParaRPr>
              </a:p>
            </p:txBody>
          </p:sp>
          <p:sp>
            <p:nvSpPr>
              <p:cNvPr id="18" name="정육면체 17">
                <a:extLst>
                  <a:ext uri="{FF2B5EF4-FFF2-40B4-BE49-F238E27FC236}">
                    <a16:creationId xmlns:a16="http://schemas.microsoft.com/office/drawing/2014/main" id="{5C1B516D-7A04-4AC6-B76E-0CA3136D8F80}"/>
                  </a:ext>
                </a:extLst>
              </p:cNvPr>
              <p:cNvSpPr/>
              <p:nvPr/>
            </p:nvSpPr>
            <p:spPr>
              <a:xfrm>
                <a:off x="7255668" y="3257543"/>
                <a:ext cx="648072" cy="648072"/>
              </a:xfrm>
              <a:prstGeom prst="cube">
                <a:avLst>
                  <a:gd name="adj" fmla="val 16182"/>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5</a:t>
                </a:r>
                <a:endParaRPr lang="ko-KR" altLang="en-US" sz="1600" b="1" dirty="0">
                  <a:solidFill>
                    <a:schemeClr val="bg1"/>
                  </a:solidFill>
                  <a:latin typeface="SamsungOne 400" panose="020B0503030303020204" pitchFamily="34" charset="0"/>
                </a:endParaRPr>
              </a:p>
            </p:txBody>
          </p:sp>
          <p:sp>
            <p:nvSpPr>
              <p:cNvPr id="19" name="정육면체 18">
                <a:extLst>
                  <a:ext uri="{FF2B5EF4-FFF2-40B4-BE49-F238E27FC236}">
                    <a16:creationId xmlns:a16="http://schemas.microsoft.com/office/drawing/2014/main" id="{05DFEDAE-56BE-42E3-9130-8E6146A3C353}"/>
                  </a:ext>
                </a:extLst>
              </p:cNvPr>
              <p:cNvSpPr/>
              <p:nvPr/>
            </p:nvSpPr>
            <p:spPr>
              <a:xfrm>
                <a:off x="7803157" y="3257543"/>
                <a:ext cx="648072" cy="648072"/>
              </a:xfrm>
              <a:prstGeom prst="cube">
                <a:avLst>
                  <a:gd name="adj" fmla="val 16182"/>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6</a:t>
                </a:r>
                <a:endParaRPr lang="ko-KR" altLang="en-US" sz="1600" b="1" dirty="0">
                  <a:solidFill>
                    <a:schemeClr val="bg1"/>
                  </a:solidFill>
                  <a:latin typeface="SamsungOne 400" panose="020B0503030303020204" pitchFamily="34" charset="0"/>
                </a:endParaRPr>
              </a:p>
            </p:txBody>
          </p:sp>
        </p:grpSp>
        <p:grpSp>
          <p:nvGrpSpPr>
            <p:cNvPr id="21" name="그룹 20">
              <a:extLst>
                <a:ext uri="{FF2B5EF4-FFF2-40B4-BE49-F238E27FC236}">
                  <a16:creationId xmlns:a16="http://schemas.microsoft.com/office/drawing/2014/main" id="{13BEEE83-E16F-4E71-993D-66A225460BA9}"/>
                </a:ext>
              </a:extLst>
            </p:cNvPr>
            <p:cNvGrpSpPr/>
            <p:nvPr/>
          </p:nvGrpSpPr>
          <p:grpSpPr>
            <a:xfrm>
              <a:off x="6620915" y="4436417"/>
              <a:ext cx="1772750" cy="1179569"/>
              <a:chOff x="7255668" y="3257543"/>
              <a:chExt cx="1195561" cy="1179569"/>
            </a:xfrm>
          </p:grpSpPr>
          <p:sp>
            <p:nvSpPr>
              <p:cNvPr id="22" name="정육면체 21">
                <a:extLst>
                  <a:ext uri="{FF2B5EF4-FFF2-40B4-BE49-F238E27FC236}">
                    <a16:creationId xmlns:a16="http://schemas.microsoft.com/office/drawing/2014/main" id="{3E9525C2-FBBB-408B-BD97-7542D4FACBD8}"/>
                  </a:ext>
                </a:extLst>
              </p:cNvPr>
              <p:cNvSpPr/>
              <p:nvPr/>
            </p:nvSpPr>
            <p:spPr>
              <a:xfrm>
                <a:off x="7255668" y="3789040"/>
                <a:ext cx="648072" cy="648072"/>
              </a:xfrm>
              <a:prstGeom prst="cube">
                <a:avLst>
                  <a:gd name="adj" fmla="val 16182"/>
                </a:avLst>
              </a:prstGeom>
            </p:spPr>
            <p:style>
              <a:lnRef idx="3">
                <a:schemeClr val="lt1"/>
              </a:lnRef>
              <a:fillRef idx="1">
                <a:schemeClr val="accent5"/>
              </a:fillRef>
              <a:effectRef idx="1">
                <a:schemeClr val="accent5"/>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3</a:t>
                </a:r>
                <a:endParaRPr lang="ko-KR" altLang="en-US" sz="1600" b="1" dirty="0">
                  <a:solidFill>
                    <a:schemeClr val="bg1"/>
                  </a:solidFill>
                  <a:latin typeface="SamsungOne 400" panose="020B0503030303020204" pitchFamily="34" charset="0"/>
                </a:endParaRPr>
              </a:p>
            </p:txBody>
          </p:sp>
          <p:sp>
            <p:nvSpPr>
              <p:cNvPr id="23" name="정육면체 22">
                <a:extLst>
                  <a:ext uri="{FF2B5EF4-FFF2-40B4-BE49-F238E27FC236}">
                    <a16:creationId xmlns:a16="http://schemas.microsoft.com/office/drawing/2014/main" id="{D41E2D09-01A6-4EBA-AF4D-69C60E1F46BB}"/>
                  </a:ext>
                </a:extLst>
              </p:cNvPr>
              <p:cNvSpPr/>
              <p:nvPr/>
            </p:nvSpPr>
            <p:spPr>
              <a:xfrm>
                <a:off x="7803157" y="3789040"/>
                <a:ext cx="648072" cy="648072"/>
              </a:xfrm>
              <a:prstGeom prst="cube">
                <a:avLst>
                  <a:gd name="adj" fmla="val 16182"/>
                </a:avLst>
              </a:prstGeom>
            </p:spPr>
            <p:style>
              <a:lnRef idx="3">
                <a:schemeClr val="lt1"/>
              </a:lnRef>
              <a:fillRef idx="1">
                <a:schemeClr val="accent5"/>
              </a:fillRef>
              <a:effectRef idx="1">
                <a:schemeClr val="accent5"/>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4</a:t>
                </a:r>
                <a:endParaRPr lang="ko-KR" altLang="en-US" sz="1600" b="1" dirty="0">
                  <a:solidFill>
                    <a:schemeClr val="bg1"/>
                  </a:solidFill>
                  <a:latin typeface="SamsungOne 400" panose="020B0503030303020204" pitchFamily="34" charset="0"/>
                </a:endParaRPr>
              </a:p>
            </p:txBody>
          </p:sp>
          <p:sp>
            <p:nvSpPr>
              <p:cNvPr id="24" name="정육면체 23">
                <a:extLst>
                  <a:ext uri="{FF2B5EF4-FFF2-40B4-BE49-F238E27FC236}">
                    <a16:creationId xmlns:a16="http://schemas.microsoft.com/office/drawing/2014/main" id="{5CA71966-09DB-4B02-821D-9192EBB837CE}"/>
                  </a:ext>
                </a:extLst>
              </p:cNvPr>
              <p:cNvSpPr/>
              <p:nvPr/>
            </p:nvSpPr>
            <p:spPr>
              <a:xfrm>
                <a:off x="7255668" y="3257543"/>
                <a:ext cx="648072" cy="648072"/>
              </a:xfrm>
              <a:prstGeom prst="cube">
                <a:avLst>
                  <a:gd name="adj" fmla="val 16182"/>
                </a:avLst>
              </a:prstGeom>
            </p:spPr>
            <p:style>
              <a:lnRef idx="3">
                <a:schemeClr val="lt1"/>
              </a:lnRef>
              <a:fillRef idx="1">
                <a:schemeClr val="accent5"/>
              </a:fillRef>
              <a:effectRef idx="1">
                <a:schemeClr val="accent5"/>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1</a:t>
                </a:r>
                <a:endParaRPr lang="ko-KR" altLang="en-US" sz="1600" b="1" dirty="0">
                  <a:solidFill>
                    <a:schemeClr val="bg1"/>
                  </a:solidFill>
                  <a:latin typeface="SamsungOne 400" panose="020B0503030303020204" pitchFamily="34" charset="0"/>
                </a:endParaRPr>
              </a:p>
            </p:txBody>
          </p:sp>
          <p:sp>
            <p:nvSpPr>
              <p:cNvPr id="25" name="정육면체 24">
                <a:extLst>
                  <a:ext uri="{FF2B5EF4-FFF2-40B4-BE49-F238E27FC236}">
                    <a16:creationId xmlns:a16="http://schemas.microsoft.com/office/drawing/2014/main" id="{80982843-ADED-47A4-B61E-D541FC27531A}"/>
                  </a:ext>
                </a:extLst>
              </p:cNvPr>
              <p:cNvSpPr/>
              <p:nvPr/>
            </p:nvSpPr>
            <p:spPr>
              <a:xfrm>
                <a:off x="7803157" y="3257543"/>
                <a:ext cx="648072" cy="648072"/>
              </a:xfrm>
              <a:prstGeom prst="cube">
                <a:avLst>
                  <a:gd name="adj" fmla="val 16182"/>
                </a:avLst>
              </a:prstGeom>
            </p:spPr>
            <p:style>
              <a:lnRef idx="3">
                <a:schemeClr val="lt1"/>
              </a:lnRef>
              <a:fillRef idx="1">
                <a:schemeClr val="accent5"/>
              </a:fillRef>
              <a:effectRef idx="1">
                <a:schemeClr val="accent5"/>
              </a:effectRef>
              <a:fontRef idx="minor">
                <a:schemeClr val="lt1"/>
              </a:fontRef>
            </p:style>
            <p:txBody>
              <a:bodyPr rtlCol="0" anchor="ctr"/>
              <a:lstStyle/>
              <a:p>
                <a:pPr algn="ctr">
                  <a:spcAft>
                    <a:spcPts val="1000"/>
                  </a:spcAft>
                  <a:buClr>
                    <a:srgbClr val="A5A5A5"/>
                  </a:buClr>
                  <a:buSzPct val="120000"/>
                  <a:defRPr/>
                </a:pPr>
                <a:r>
                  <a:rPr lang="en-US" altLang="ko-KR" sz="1600" b="1" dirty="0">
                    <a:solidFill>
                      <a:schemeClr val="bg1"/>
                    </a:solidFill>
                    <a:latin typeface="SamsungOne 400" panose="020B0503030303020204" pitchFamily="34" charset="0"/>
                    <a:ea typeface="SamsungOne 400" panose="020B0503030303020204" pitchFamily="34" charset="0"/>
                  </a:rPr>
                  <a:t>2</a:t>
                </a:r>
                <a:endParaRPr lang="ko-KR" altLang="en-US" sz="1600" b="1" dirty="0">
                  <a:solidFill>
                    <a:schemeClr val="bg1"/>
                  </a:solidFill>
                  <a:latin typeface="SamsungOne 400" panose="020B0503030303020204" pitchFamily="34" charset="0"/>
                </a:endParaRPr>
              </a:p>
            </p:txBody>
          </p:sp>
        </p:grpSp>
      </p:grpSp>
    </p:spTree>
    <p:extLst>
      <p:ext uri="{BB962C8B-B14F-4D97-AF65-F5344CB8AC3E}">
        <p14:creationId xmlns:p14="http://schemas.microsoft.com/office/powerpoint/2010/main" val="2794046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6" name="그룹 5">
            <a:extLst>
              <a:ext uri="{FF2B5EF4-FFF2-40B4-BE49-F238E27FC236}">
                <a16:creationId xmlns:a16="http://schemas.microsoft.com/office/drawing/2014/main" id="{B212D5F5-AB89-4C7C-A27F-3D7CDAE8BE5E}"/>
              </a:ext>
            </a:extLst>
          </p:cNvPr>
          <p:cNvGrpSpPr/>
          <p:nvPr/>
        </p:nvGrpSpPr>
        <p:grpSpPr>
          <a:xfrm>
            <a:off x="557823" y="3814165"/>
            <a:ext cx="8782050" cy="1559051"/>
            <a:chOff x="460741" y="4581127"/>
            <a:chExt cx="8782050" cy="1559051"/>
          </a:xfrm>
        </p:grpSpPr>
        <p:grpSp>
          <p:nvGrpSpPr>
            <p:cNvPr id="10" name="그룹 9"/>
            <p:cNvGrpSpPr/>
            <p:nvPr/>
          </p:nvGrpSpPr>
          <p:grpSpPr>
            <a:xfrm>
              <a:off x="460741" y="4581127"/>
              <a:ext cx="8782050" cy="1559051"/>
              <a:chOff x="557644" y="5085183"/>
              <a:chExt cx="8782050" cy="1559051"/>
            </a:xfrm>
          </p:grpSpPr>
          <p:sp>
            <p:nvSpPr>
              <p:cNvPr id="11"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155905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105879"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surface is two-dimensional and can be stacked. It’s easy to understand if you think of the surface as a piece of paper.</a:t>
                </a:r>
              </a:p>
            </p:txBody>
          </p:sp>
        </p:grpSp>
        <p:grpSp>
          <p:nvGrpSpPr>
            <p:cNvPr id="5" name="그룹 4">
              <a:extLst>
                <a:ext uri="{FF2B5EF4-FFF2-40B4-BE49-F238E27FC236}">
                  <a16:creationId xmlns:a16="http://schemas.microsoft.com/office/drawing/2014/main" id="{B413B37C-75BB-41A9-B232-932B4F26AAD5}"/>
                </a:ext>
              </a:extLst>
            </p:cNvPr>
            <p:cNvGrpSpPr/>
            <p:nvPr/>
          </p:nvGrpSpPr>
          <p:grpSpPr>
            <a:xfrm>
              <a:off x="561325" y="5433789"/>
              <a:ext cx="8576819" cy="534949"/>
              <a:chOff x="561325" y="5246075"/>
              <a:chExt cx="8576819" cy="534949"/>
            </a:xfrm>
          </p:grpSpPr>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561325" y="526880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E836FE5-4E63-409C-97E4-2898B8159708}"/>
                  </a:ext>
                </a:extLst>
              </p:cNvPr>
              <p:cNvSpPr txBox="1"/>
              <p:nvPr/>
            </p:nvSpPr>
            <p:spPr>
              <a:xfrm>
                <a:off x="820106" y="524607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920746" y="5580969"/>
                <a:ext cx="821739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When extracting a three-dimensional value, it’s easier to think of it as a method of approaching step by step.</a:t>
                </a:r>
              </a:p>
            </p:txBody>
          </p:sp>
        </p:grpSp>
      </p:grpSp>
      <p:grpSp>
        <p:nvGrpSpPr>
          <p:cNvPr id="3" name="그룹 2">
            <a:extLst>
              <a:ext uri="{FF2B5EF4-FFF2-40B4-BE49-F238E27FC236}">
                <a16:creationId xmlns:a16="http://schemas.microsoft.com/office/drawing/2014/main" id="{68D76ED7-6FD5-43C7-93A8-8F571D5A04BF}"/>
              </a:ext>
            </a:extLst>
          </p:cNvPr>
          <p:cNvGrpSpPr/>
          <p:nvPr/>
        </p:nvGrpSpPr>
        <p:grpSpPr>
          <a:xfrm>
            <a:off x="558396" y="1700808"/>
            <a:ext cx="8782050" cy="2012800"/>
            <a:chOff x="558396" y="1844826"/>
            <a:chExt cx="8782050" cy="201280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6"/>
              <a:ext cx="8782050" cy="201280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t="3835" r="19823"/>
            <a:stretch/>
          </p:blipFill>
          <p:spPr>
            <a:xfrm>
              <a:off x="607408" y="1914525"/>
              <a:ext cx="8732286" cy="1938420"/>
            </a:xfrm>
            <a:prstGeom prst="rect">
              <a:avLst/>
            </a:prstGeom>
          </p:spPr>
        </p:pic>
      </p:grpSp>
      <p:sp>
        <p:nvSpPr>
          <p:cNvPr id="25" name="직사각형 24">
            <a:extLst>
              <a:ext uri="{FF2B5EF4-FFF2-40B4-BE49-F238E27FC236}">
                <a16:creationId xmlns:a16="http://schemas.microsoft.com/office/drawing/2014/main" id="{EFC87A58-58C2-498F-A12C-3AEB54430D6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Three-Dimensional Array</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16059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10" name="그룹 9"/>
          <p:cNvGrpSpPr/>
          <p:nvPr/>
        </p:nvGrpSpPr>
        <p:grpSpPr>
          <a:xfrm>
            <a:off x="557644" y="2805311"/>
            <a:ext cx="8782050" cy="733728"/>
            <a:chOff x="557644" y="5085184"/>
            <a:chExt cx="8782050" cy="733728"/>
          </a:xfrm>
        </p:grpSpPr>
        <p:sp>
          <p:nvSpPr>
            <p:cNvPr id="11"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3372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Designate it as two rows and three columns in the form of a tuple. </a:t>
              </a:r>
            </a:p>
          </p:txBody>
        </p:sp>
      </p:grpSp>
      <p:grpSp>
        <p:nvGrpSpPr>
          <p:cNvPr id="2" name="그룹 1">
            <a:extLst>
              <a:ext uri="{FF2B5EF4-FFF2-40B4-BE49-F238E27FC236}">
                <a16:creationId xmlns:a16="http://schemas.microsoft.com/office/drawing/2014/main" id="{A77780D0-5B14-43E7-B6FB-DCD65E9B1767}"/>
              </a:ext>
            </a:extLst>
          </p:cNvPr>
          <p:cNvGrpSpPr/>
          <p:nvPr/>
        </p:nvGrpSpPr>
        <p:grpSpPr>
          <a:xfrm>
            <a:off x="558396" y="1700808"/>
            <a:ext cx="8782050" cy="1014270"/>
            <a:chOff x="558396" y="1844826"/>
            <a:chExt cx="8782050" cy="101427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6"/>
              <a:ext cx="8782050" cy="101427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3187"/>
            <a:stretch/>
          </p:blipFill>
          <p:spPr>
            <a:xfrm>
              <a:off x="588357" y="1891851"/>
              <a:ext cx="8751337" cy="935248"/>
            </a:xfrm>
            <a:prstGeom prst="rect">
              <a:avLst/>
            </a:prstGeom>
          </p:spPr>
        </p:pic>
      </p:grpSp>
      <p:sp>
        <p:nvSpPr>
          <p:cNvPr id="24" name="Rectangle 12">
            <a:extLst>
              <a:ext uri="{FF2B5EF4-FFF2-40B4-BE49-F238E27FC236}">
                <a16:creationId xmlns:a16="http://schemas.microsoft.com/office/drawing/2014/main" id="{39C1D0BA-7152-4AAC-B295-DCCB5F8378F4}"/>
              </a:ext>
            </a:extLst>
          </p:cNvPr>
          <p:cNvSpPr/>
          <p:nvPr/>
        </p:nvSpPr>
        <p:spPr>
          <a:xfrm>
            <a:off x="711201" y="37757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created, the element within it is normally a float.</a:t>
            </a:r>
          </a:p>
        </p:txBody>
      </p:sp>
      <p:grpSp>
        <p:nvGrpSpPr>
          <p:cNvPr id="4" name="그룹 3">
            <a:extLst>
              <a:ext uri="{FF2B5EF4-FFF2-40B4-BE49-F238E27FC236}">
                <a16:creationId xmlns:a16="http://schemas.microsoft.com/office/drawing/2014/main" id="{4BDDDD88-D8AE-443A-B69F-7D74294D7458}"/>
              </a:ext>
            </a:extLst>
          </p:cNvPr>
          <p:cNvGrpSpPr/>
          <p:nvPr/>
        </p:nvGrpSpPr>
        <p:grpSpPr>
          <a:xfrm>
            <a:off x="558924" y="4143747"/>
            <a:ext cx="8782050" cy="1302302"/>
            <a:chOff x="558924" y="4219083"/>
            <a:chExt cx="8782050" cy="1302302"/>
          </a:xfrm>
        </p:grpSpPr>
        <p:sp>
          <p:nvSpPr>
            <p:cNvPr id="25" name="모서리가 둥근 직사각형 4">
              <a:extLst>
                <a:ext uri="{FF2B5EF4-FFF2-40B4-BE49-F238E27FC236}">
                  <a16:creationId xmlns:a16="http://schemas.microsoft.com/office/drawing/2014/main" id="{A36E3BA1-83BF-4EF9-8B22-BB45DE7AA1FC}"/>
                </a:ext>
              </a:extLst>
            </p:cNvPr>
            <p:cNvSpPr/>
            <p:nvPr/>
          </p:nvSpPr>
          <p:spPr>
            <a:xfrm>
              <a:off x="558924" y="4219083"/>
              <a:ext cx="8782050" cy="13023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5"/>
            <a:srcRect r="20939"/>
            <a:stretch/>
          </p:blipFill>
          <p:spPr>
            <a:xfrm>
              <a:off x="568326" y="4268957"/>
              <a:ext cx="8771368" cy="1175661"/>
            </a:xfrm>
            <a:prstGeom prst="rect">
              <a:avLst/>
            </a:prstGeom>
          </p:spPr>
        </p:pic>
      </p:grpSp>
      <p:sp>
        <p:nvSpPr>
          <p:cNvPr id="18" name="직사각형 17">
            <a:extLst>
              <a:ext uri="{FF2B5EF4-FFF2-40B4-BE49-F238E27FC236}">
                <a16:creationId xmlns:a16="http://schemas.microsoft.com/office/drawing/2014/main" id="{1FD8EA10-12C1-45CC-B280-DEF8B4993E7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Creating two-dimensional shapes using </a:t>
            </a:r>
            <a:r>
              <a:rPr lang="en-US" altLang="ko-KR" sz="1400" dirty="0" err="1">
                <a:solidFill>
                  <a:schemeClr val="tx1"/>
                </a:solidFill>
                <a:latin typeface="SamsungOne 400" panose="020B0503030303020204" pitchFamily="34" charset="0"/>
                <a:ea typeface="SamsungOne 400" panose="020B0503030303020204" pitchFamily="34" charset="0"/>
              </a:rPr>
              <a:t>np.zeros</a:t>
            </a:r>
            <a:r>
              <a:rPr lang="en-US" altLang="ko-KR" sz="1400" dirty="0">
                <a:solidFill>
                  <a:schemeClr val="tx1"/>
                </a:solidFill>
                <a:latin typeface="SamsungOne 400" panose="020B0503030303020204" pitchFamily="34" charset="0"/>
                <a:ea typeface="SamsungOne 400" panose="020B0503030303020204" pitchFamily="34" charset="0"/>
              </a:rPr>
              <a:t>()</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703422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9EA4814A-96E5-4458-B52B-CA63A15A0316}"/>
              </a:ext>
            </a:extLst>
          </p:cNvPr>
          <p:cNvGrpSpPr/>
          <p:nvPr/>
        </p:nvGrpSpPr>
        <p:grpSpPr>
          <a:xfrm>
            <a:off x="558396" y="1700808"/>
            <a:ext cx="8782050" cy="2146149"/>
            <a:chOff x="558396" y="1844825"/>
            <a:chExt cx="8782050" cy="2146149"/>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21461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291"/>
            <a:stretch/>
          </p:blipFill>
          <p:spPr>
            <a:xfrm>
              <a:off x="607407" y="1946617"/>
              <a:ext cx="8733039" cy="1986439"/>
            </a:xfrm>
            <a:prstGeom prst="rect">
              <a:avLst/>
            </a:prstGeom>
          </p:spPr>
        </p:pic>
      </p:grpSp>
      <p:sp>
        <p:nvSpPr>
          <p:cNvPr id="10" name="직사각형 9">
            <a:extLst>
              <a:ext uri="{FF2B5EF4-FFF2-40B4-BE49-F238E27FC236}">
                <a16:creationId xmlns:a16="http://schemas.microsoft.com/office/drawing/2014/main" id="{9F30AB3B-479C-42B7-9829-4EF3B9A2FA5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If it is created by a different type, designate the parameter name using </a:t>
            </a:r>
            <a:r>
              <a:rPr lang="en-US" altLang="ko-KR" sz="1400" dirty="0" err="1">
                <a:solidFill>
                  <a:schemeClr val="tx1"/>
                </a:solidFill>
                <a:latin typeface="SamsungOne 400" panose="020B0503030303020204" pitchFamily="34" charset="0"/>
                <a:ea typeface="SamsungOne 400" panose="020B0503030303020204" pitchFamily="34" charset="0"/>
              </a:rPr>
              <a:t>dtype</a:t>
            </a:r>
            <a:r>
              <a:rPr lang="en-US" altLang="ko-KR" sz="1400" dirty="0">
                <a:solidFill>
                  <a:schemeClr val="tx1"/>
                </a:solidFill>
                <a:latin typeface="SamsungOne 400" panose="020B0503030303020204" pitchFamily="34" charset="0"/>
                <a:ea typeface="SamsungOne 400" panose="020B0503030303020204" pitchFamily="34" charset="0"/>
              </a:rPr>
              <a:t>.</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13798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3C663656-06E9-45E3-803F-2B7033A65400}"/>
              </a:ext>
            </a:extLst>
          </p:cNvPr>
          <p:cNvGrpSpPr/>
          <p:nvPr/>
        </p:nvGrpSpPr>
        <p:grpSpPr>
          <a:xfrm>
            <a:off x="558396" y="1700808"/>
            <a:ext cx="8782051" cy="2231874"/>
            <a:chOff x="558396" y="1844826"/>
            <a:chExt cx="8782051" cy="2231874"/>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6"/>
              <a:ext cx="8782050" cy="223187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19916" b="6626"/>
            <a:stretch/>
          </p:blipFill>
          <p:spPr>
            <a:xfrm>
              <a:off x="597883" y="1916161"/>
              <a:ext cx="8742564" cy="2084339"/>
            </a:xfrm>
            <a:prstGeom prst="rect">
              <a:avLst/>
            </a:prstGeom>
          </p:spPr>
        </p:pic>
      </p:grpSp>
      <p:sp>
        <p:nvSpPr>
          <p:cNvPr id="12" name="직사각형 11">
            <a:extLst>
              <a:ext uri="{FF2B5EF4-FFF2-40B4-BE49-F238E27FC236}">
                <a16:creationId xmlns:a16="http://schemas.microsoft.com/office/drawing/2014/main" id="{173EB71D-E075-45F8-A676-7D737D9EF4B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Use the </a:t>
            </a:r>
            <a:r>
              <a:rPr lang="en-US" altLang="ko-KR" sz="1400" dirty="0" err="1">
                <a:solidFill>
                  <a:schemeClr val="tx1"/>
                </a:solidFill>
                <a:latin typeface="SamsungOne 400" panose="020B0503030303020204" pitchFamily="34" charset="0"/>
                <a:ea typeface="SamsungOne 400" panose="020B0503030303020204" pitchFamily="34" charset="0"/>
              </a:rPr>
              <a:t>astype</a:t>
            </a:r>
            <a:r>
              <a:rPr lang="en-US" altLang="ko-KR" sz="1400" dirty="0">
                <a:solidFill>
                  <a:schemeClr val="tx1"/>
                </a:solidFill>
                <a:latin typeface="SamsungOne 400" panose="020B0503030303020204" pitchFamily="34" charset="0"/>
                <a:ea typeface="SamsungOne 400" panose="020B0503030303020204" pitchFamily="34" charset="0"/>
              </a:rPr>
              <a:t>() method if you want to change the type to a float.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477243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Properties of the NumPy Array</a:t>
            </a:r>
          </a:p>
        </p:txBody>
      </p:sp>
      <p:grpSp>
        <p:nvGrpSpPr>
          <p:cNvPr id="2" name="그룹 1">
            <a:extLst>
              <a:ext uri="{FF2B5EF4-FFF2-40B4-BE49-F238E27FC236}">
                <a16:creationId xmlns:a16="http://schemas.microsoft.com/office/drawing/2014/main" id="{42E697EC-305C-47BB-8B6D-B75BF6DF0777}"/>
              </a:ext>
            </a:extLst>
          </p:cNvPr>
          <p:cNvGrpSpPr/>
          <p:nvPr/>
        </p:nvGrpSpPr>
        <p:grpSpPr>
          <a:xfrm>
            <a:off x="557644" y="5108207"/>
            <a:ext cx="8782050" cy="1224136"/>
            <a:chOff x="557644" y="5157192"/>
            <a:chExt cx="8782050" cy="1224136"/>
          </a:xfrm>
        </p:grpSpPr>
        <p:grpSp>
          <p:nvGrpSpPr>
            <p:cNvPr id="16" name="그룹 15"/>
            <p:cNvGrpSpPr/>
            <p:nvPr/>
          </p:nvGrpSpPr>
          <p:grpSpPr>
            <a:xfrm>
              <a:off x="557644" y="5157192"/>
              <a:ext cx="8782050" cy="1224136"/>
              <a:chOff x="557644" y="5085184"/>
              <a:chExt cx="8782050" cy="1224136"/>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12241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Size</a:t>
                </a:r>
              </a:p>
            </p:txBody>
          </p:sp>
        </p:grpSp>
        <p:pic>
          <p:nvPicPr>
            <p:cNvPr id="3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58228" y="5797103"/>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E836FE5-4E63-409C-97E4-2898B8159708}"/>
                </a:ext>
              </a:extLst>
            </p:cNvPr>
            <p:cNvSpPr txBox="1"/>
            <p:nvPr/>
          </p:nvSpPr>
          <p:spPr>
            <a:xfrm>
              <a:off x="917009" y="5774371"/>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6" name="TextBox 35">
              <a:extLst>
                <a:ext uri="{FF2B5EF4-FFF2-40B4-BE49-F238E27FC236}">
                  <a16:creationId xmlns:a16="http://schemas.microsoft.com/office/drawing/2014/main" id="{0800EE66-B78E-4CCD-A49E-31BBE412C7F6}"/>
                </a:ext>
              </a:extLst>
            </p:cNvPr>
            <p:cNvSpPr txBox="1"/>
            <p:nvPr/>
          </p:nvSpPr>
          <p:spPr>
            <a:xfrm>
              <a:off x="1017649" y="6109265"/>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the row and columns into a tuple</a:t>
              </a:r>
            </a:p>
          </p:txBody>
        </p:sp>
      </p:grpSp>
      <p:sp>
        <p:nvSpPr>
          <p:cNvPr id="33" name="Rectangle 12">
            <a:extLst>
              <a:ext uri="{FF2B5EF4-FFF2-40B4-BE49-F238E27FC236}">
                <a16:creationId xmlns:a16="http://schemas.microsoft.com/office/drawing/2014/main" id="{39C1D0BA-7152-4AAC-B295-DCCB5F8378F4}"/>
              </a:ext>
            </a:extLst>
          </p:cNvPr>
          <p:cNvSpPr/>
          <p:nvPr/>
        </p:nvSpPr>
        <p:spPr>
          <a:xfrm>
            <a:off x="711201" y="204233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Note that since it is not a method, () should not be attached. </a:t>
            </a:r>
          </a:p>
        </p:txBody>
      </p:sp>
      <p:sp>
        <p:nvSpPr>
          <p:cNvPr id="32" name="직사각형 31">
            <a:extLst>
              <a:ext uri="{FF2B5EF4-FFF2-40B4-BE49-F238E27FC236}">
                <a16:creationId xmlns:a16="http://schemas.microsoft.com/office/drawing/2014/main" id="{6FEB5214-D12C-463F-8576-F8918DCD1943}"/>
              </a:ext>
            </a:extLst>
          </p:cNvPr>
          <p:cNvSpPr/>
          <p:nvPr/>
        </p:nvSpPr>
        <p:spPr>
          <a:xfrm>
            <a:off x="580388" y="1833801"/>
            <a:ext cx="878205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Explanation of Each Property</a:t>
            </a:r>
          </a:p>
        </p:txBody>
      </p:sp>
      <p:grpSp>
        <p:nvGrpSpPr>
          <p:cNvPr id="6" name="그룹 5">
            <a:extLst>
              <a:ext uri="{FF2B5EF4-FFF2-40B4-BE49-F238E27FC236}">
                <a16:creationId xmlns:a16="http://schemas.microsoft.com/office/drawing/2014/main" id="{75EE43C2-FA57-4DA6-A760-8CE26F66459E}"/>
              </a:ext>
            </a:extLst>
          </p:cNvPr>
          <p:cNvGrpSpPr/>
          <p:nvPr/>
        </p:nvGrpSpPr>
        <p:grpSpPr>
          <a:xfrm>
            <a:off x="558396" y="2420888"/>
            <a:ext cx="8782050" cy="2603862"/>
            <a:chOff x="558396" y="2564904"/>
            <a:chExt cx="8782050" cy="2603862"/>
          </a:xfrm>
        </p:grpSpPr>
        <p:sp>
          <p:nvSpPr>
            <p:cNvPr id="15" name="모서리가 둥근 직사각형 4">
              <a:extLst>
                <a:ext uri="{FF2B5EF4-FFF2-40B4-BE49-F238E27FC236}">
                  <a16:creationId xmlns:a16="http://schemas.microsoft.com/office/drawing/2014/main" id="{A36E3BA1-83BF-4EF9-8B22-BB45DE7AA1FC}"/>
                </a:ext>
              </a:extLst>
            </p:cNvPr>
            <p:cNvSpPr/>
            <p:nvPr/>
          </p:nvSpPr>
          <p:spPr>
            <a:xfrm>
              <a:off x="558396" y="2564904"/>
              <a:ext cx="8782050" cy="260386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5" name="그룹 4">
              <a:extLst>
                <a:ext uri="{FF2B5EF4-FFF2-40B4-BE49-F238E27FC236}">
                  <a16:creationId xmlns:a16="http://schemas.microsoft.com/office/drawing/2014/main" id="{74A6BC96-749F-498F-BAB4-7AAB293937CC}"/>
                </a:ext>
              </a:extLst>
            </p:cNvPr>
            <p:cNvGrpSpPr/>
            <p:nvPr/>
          </p:nvGrpSpPr>
          <p:grpSpPr>
            <a:xfrm>
              <a:off x="607408" y="2617962"/>
              <a:ext cx="8732286" cy="2486372"/>
              <a:chOff x="607408" y="2608337"/>
              <a:chExt cx="8732286" cy="2486372"/>
            </a:xfrm>
          </p:grpSpPr>
          <p:pic>
            <p:nvPicPr>
              <p:cNvPr id="3" name="그림 2"/>
              <p:cNvPicPr>
                <a:picLocks noChangeAspect="1"/>
              </p:cNvPicPr>
              <p:nvPr/>
            </p:nvPicPr>
            <p:blipFill rotWithShape="1">
              <a:blip r:embed="rId5"/>
              <a:srcRect r="15605"/>
              <a:stretch/>
            </p:blipFill>
            <p:spPr>
              <a:xfrm>
                <a:off x="607408" y="2608337"/>
                <a:ext cx="8732286" cy="2486372"/>
              </a:xfrm>
              <a:prstGeom prst="rect">
                <a:avLst/>
              </a:prstGeom>
            </p:spPr>
          </p:pic>
          <p:sp>
            <p:nvSpPr>
              <p:cNvPr id="39" name="직사각형 38"/>
              <p:cNvSpPr/>
              <p:nvPr/>
            </p:nvSpPr>
            <p:spPr>
              <a:xfrm>
                <a:off x="1942584" y="4553219"/>
                <a:ext cx="4573954" cy="21602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직사각형 36">
                <a:extLst>
                  <a:ext uri="{FF2B5EF4-FFF2-40B4-BE49-F238E27FC236}">
                    <a16:creationId xmlns:a16="http://schemas.microsoft.com/office/drawing/2014/main" id="{5284CFC5-6B3A-4C47-9F69-C8C2FCB80174}"/>
                  </a:ext>
                </a:extLst>
              </p:cNvPr>
              <p:cNvSpPr/>
              <p:nvPr/>
            </p:nvSpPr>
            <p:spPr>
              <a:xfrm>
                <a:off x="1947495" y="3835280"/>
                <a:ext cx="4573954" cy="21602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직사각형 37">
                <a:extLst>
                  <a:ext uri="{FF2B5EF4-FFF2-40B4-BE49-F238E27FC236}">
                    <a16:creationId xmlns:a16="http://schemas.microsoft.com/office/drawing/2014/main" id="{EE8E7027-F49C-4667-8C5C-4E9F8D966322}"/>
                  </a:ext>
                </a:extLst>
              </p:cNvPr>
              <p:cNvSpPr/>
              <p:nvPr/>
            </p:nvSpPr>
            <p:spPr>
              <a:xfrm>
                <a:off x="1894656" y="3145004"/>
                <a:ext cx="4573954" cy="21602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2789499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3315CF20-5B99-46F1-87DA-1B6697B73A55}"/>
              </a:ext>
            </a:extLst>
          </p:cNvPr>
          <p:cNvGrpSpPr/>
          <p:nvPr/>
        </p:nvGrpSpPr>
        <p:grpSpPr>
          <a:xfrm>
            <a:off x="558396" y="1700808"/>
            <a:ext cx="8782051" cy="1326999"/>
            <a:chOff x="558396" y="1844826"/>
            <a:chExt cx="8782051" cy="1326999"/>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6"/>
              <a:ext cx="8782050" cy="13269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247"/>
            <a:stretch/>
          </p:blipFill>
          <p:spPr>
            <a:xfrm>
              <a:off x="616933" y="1883326"/>
              <a:ext cx="8723514" cy="1257641"/>
            </a:xfrm>
            <a:prstGeom prst="rect">
              <a:avLst/>
            </a:prstGeom>
          </p:spPr>
        </p:pic>
      </p:grpSp>
      <p:sp>
        <p:nvSpPr>
          <p:cNvPr id="10" name="직사각형 9">
            <a:extLst>
              <a:ext uri="{FF2B5EF4-FFF2-40B4-BE49-F238E27FC236}">
                <a16:creationId xmlns:a16="http://schemas.microsoft.com/office/drawing/2014/main" id="{7C49809D-6C7F-49D7-B626-B408E4266E2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It should be noted that for one-dimensional arrays, the tuples return the number of elements.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288307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Reshape</a:t>
            </a:r>
          </a:p>
        </p:txBody>
      </p:sp>
      <p:grpSp>
        <p:nvGrpSpPr>
          <p:cNvPr id="16" name="그룹 15"/>
          <p:cNvGrpSpPr/>
          <p:nvPr/>
        </p:nvGrpSpPr>
        <p:grpSpPr>
          <a:xfrm>
            <a:off x="557644" y="4540170"/>
            <a:ext cx="8782050" cy="720080"/>
            <a:chOff x="557644" y="5085184"/>
            <a:chExt cx="8782050" cy="720080"/>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Be sure to input the shape as a tuple.</a:t>
              </a:r>
            </a:p>
          </p:txBody>
        </p:sp>
      </p:grpSp>
      <p:grpSp>
        <p:nvGrpSpPr>
          <p:cNvPr id="3" name="그룹 2">
            <a:extLst>
              <a:ext uri="{FF2B5EF4-FFF2-40B4-BE49-F238E27FC236}">
                <a16:creationId xmlns:a16="http://schemas.microsoft.com/office/drawing/2014/main" id="{DD87FDFC-AF4E-4CCC-8654-137A76925048}"/>
              </a:ext>
            </a:extLst>
          </p:cNvPr>
          <p:cNvGrpSpPr/>
          <p:nvPr/>
        </p:nvGrpSpPr>
        <p:grpSpPr>
          <a:xfrm>
            <a:off x="558396" y="2132856"/>
            <a:ext cx="8782050" cy="2323703"/>
            <a:chOff x="558396" y="2276871"/>
            <a:chExt cx="8782050" cy="2323703"/>
          </a:xfrm>
        </p:grpSpPr>
        <p:sp>
          <p:nvSpPr>
            <p:cNvPr id="15" name="모서리가 둥근 직사각형 4">
              <a:extLst>
                <a:ext uri="{FF2B5EF4-FFF2-40B4-BE49-F238E27FC236}">
                  <a16:creationId xmlns:a16="http://schemas.microsoft.com/office/drawing/2014/main" id="{A36E3BA1-83BF-4EF9-8B22-BB45DE7AA1FC}"/>
                </a:ext>
              </a:extLst>
            </p:cNvPr>
            <p:cNvSpPr/>
            <p:nvPr/>
          </p:nvSpPr>
          <p:spPr>
            <a:xfrm>
              <a:off x="558396" y="2276871"/>
              <a:ext cx="8782050" cy="232370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1246"/>
            <a:stretch/>
          </p:blipFill>
          <p:spPr>
            <a:xfrm>
              <a:off x="626457" y="2334081"/>
              <a:ext cx="8713237" cy="2204540"/>
            </a:xfrm>
            <a:prstGeom prst="rect">
              <a:avLst/>
            </a:prstGeom>
          </p:spPr>
        </p:pic>
      </p:grpSp>
      <p:sp>
        <p:nvSpPr>
          <p:cNvPr id="19" name="직사각형 18">
            <a:extLst>
              <a:ext uri="{FF2B5EF4-FFF2-40B4-BE49-F238E27FC236}">
                <a16:creationId xmlns:a16="http://schemas.microsoft.com/office/drawing/2014/main" id="{27A4AF17-48D3-4F69-BF3A-0F2F4C963D84}"/>
              </a:ext>
            </a:extLst>
          </p:cNvPr>
          <p:cNvSpPr/>
          <p:nvPr/>
        </p:nvSpPr>
        <p:spPr>
          <a:xfrm>
            <a:off x="580388" y="1833801"/>
            <a:ext cx="878205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How to Reshape</a:t>
            </a:r>
          </a:p>
        </p:txBody>
      </p:sp>
    </p:spTree>
    <p:extLst>
      <p:ext uri="{BB962C8B-B14F-4D97-AF65-F5344CB8AC3E}">
        <p14:creationId xmlns:p14="http://schemas.microsoft.com/office/powerpoint/2010/main" val="4252392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10" name="그룹 9"/>
          <p:cNvGrpSpPr/>
          <p:nvPr/>
        </p:nvGrpSpPr>
        <p:grpSpPr>
          <a:xfrm>
            <a:off x="557644" y="4063617"/>
            <a:ext cx="8782050" cy="880975"/>
            <a:chOff x="557644" y="5085183"/>
            <a:chExt cx="8782050" cy="880975"/>
          </a:xfrm>
        </p:grpSpPr>
        <p:sp>
          <p:nvSpPr>
            <p:cNvPr id="11"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88097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When checked, the shape of the object remains the same. Thus, it should be assigned again to create a new object.</a:t>
              </a:r>
            </a:p>
          </p:txBody>
        </p:sp>
      </p:grpSp>
      <p:grpSp>
        <p:nvGrpSpPr>
          <p:cNvPr id="2" name="그룹 1">
            <a:extLst>
              <a:ext uri="{FF2B5EF4-FFF2-40B4-BE49-F238E27FC236}">
                <a16:creationId xmlns:a16="http://schemas.microsoft.com/office/drawing/2014/main" id="{E351EE51-FB89-4D24-A650-BD6E69C96EF7}"/>
              </a:ext>
            </a:extLst>
          </p:cNvPr>
          <p:cNvGrpSpPr/>
          <p:nvPr/>
        </p:nvGrpSpPr>
        <p:grpSpPr>
          <a:xfrm>
            <a:off x="558396" y="1700808"/>
            <a:ext cx="8782050" cy="2269975"/>
            <a:chOff x="558396" y="1844825"/>
            <a:chExt cx="8782050" cy="2269975"/>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226997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0013"/>
            <a:stretch/>
          </p:blipFill>
          <p:spPr>
            <a:xfrm>
              <a:off x="626457" y="1906068"/>
              <a:ext cx="8713237" cy="2129888"/>
            </a:xfrm>
            <a:prstGeom prst="rect">
              <a:avLst/>
            </a:prstGeom>
          </p:spPr>
        </p:pic>
      </p:grpSp>
      <p:sp>
        <p:nvSpPr>
          <p:cNvPr id="19" name="직사각형 18">
            <a:extLst>
              <a:ext uri="{FF2B5EF4-FFF2-40B4-BE49-F238E27FC236}">
                <a16:creationId xmlns:a16="http://schemas.microsoft.com/office/drawing/2014/main" id="{03A4BA8C-C3E2-43CD-9438-1FA1C1BC8C5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Checking the shape of the object</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775595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BCBA173D-EAFD-4FF5-80AD-B49CDC301F8E}"/>
              </a:ext>
            </a:extLst>
          </p:cNvPr>
          <p:cNvGrpSpPr/>
          <p:nvPr/>
        </p:nvGrpSpPr>
        <p:grpSpPr>
          <a:xfrm>
            <a:off x="558396" y="1700808"/>
            <a:ext cx="8782050" cy="2946250"/>
            <a:chOff x="558396" y="1844825"/>
            <a:chExt cx="8782050" cy="294625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294625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879"/>
            <a:stretch/>
          </p:blipFill>
          <p:spPr>
            <a:xfrm>
              <a:off x="626457" y="1927567"/>
              <a:ext cx="8713989" cy="2808310"/>
            </a:xfrm>
            <a:prstGeom prst="rect">
              <a:avLst/>
            </a:prstGeom>
          </p:spPr>
        </p:pic>
      </p:grpSp>
      <p:sp>
        <p:nvSpPr>
          <p:cNvPr id="10" name="직사각형 9">
            <a:extLst>
              <a:ext uri="{FF2B5EF4-FFF2-40B4-BE49-F238E27FC236}">
                <a16:creationId xmlns:a16="http://schemas.microsoft.com/office/drawing/2014/main" id="{BBD9FFDE-D7D3-483C-A2F2-FDE9560976F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shape can be changed directly.</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27632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Random Numbers</a:t>
            </a:r>
          </a:p>
        </p:txBody>
      </p:sp>
      <p:grpSp>
        <p:nvGrpSpPr>
          <p:cNvPr id="16" name="그룹 15"/>
          <p:cNvGrpSpPr/>
          <p:nvPr/>
        </p:nvGrpSpPr>
        <p:grpSpPr>
          <a:xfrm>
            <a:off x="557644" y="4602531"/>
            <a:ext cx="8782050" cy="712419"/>
            <a:chOff x="557644" y="5085184"/>
            <a:chExt cx="8782050" cy="712419"/>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1241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generated data follows the standard normal distribution with shapes in two rows and three columns. </a:t>
              </a:r>
            </a:p>
          </p:txBody>
        </p:sp>
      </p:grpSp>
      <p:grpSp>
        <p:nvGrpSpPr>
          <p:cNvPr id="2" name="그룹 1">
            <a:extLst>
              <a:ext uri="{FF2B5EF4-FFF2-40B4-BE49-F238E27FC236}">
                <a16:creationId xmlns:a16="http://schemas.microsoft.com/office/drawing/2014/main" id="{EB680A44-588C-49A7-939F-A0A56FB94E57}"/>
              </a:ext>
            </a:extLst>
          </p:cNvPr>
          <p:cNvGrpSpPr/>
          <p:nvPr/>
        </p:nvGrpSpPr>
        <p:grpSpPr>
          <a:xfrm>
            <a:off x="558396" y="2348880"/>
            <a:ext cx="8782050" cy="2169021"/>
            <a:chOff x="558396" y="2564903"/>
            <a:chExt cx="8782050" cy="2169021"/>
          </a:xfrm>
        </p:grpSpPr>
        <p:sp>
          <p:nvSpPr>
            <p:cNvPr id="15" name="모서리가 둥근 직사각형 4">
              <a:extLst>
                <a:ext uri="{FF2B5EF4-FFF2-40B4-BE49-F238E27FC236}">
                  <a16:creationId xmlns:a16="http://schemas.microsoft.com/office/drawing/2014/main" id="{A36E3BA1-83BF-4EF9-8B22-BB45DE7AA1FC}"/>
                </a:ext>
              </a:extLst>
            </p:cNvPr>
            <p:cNvSpPr/>
            <p:nvPr/>
          </p:nvSpPr>
          <p:spPr>
            <a:xfrm>
              <a:off x="558396" y="2564903"/>
              <a:ext cx="8782050" cy="216902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1986"/>
            <a:stretch/>
          </p:blipFill>
          <p:spPr>
            <a:xfrm>
              <a:off x="607407" y="2627485"/>
              <a:ext cx="8732287" cy="2021465"/>
            </a:xfrm>
            <a:prstGeom prst="rect">
              <a:avLst/>
            </a:prstGeom>
          </p:spPr>
        </p:pic>
      </p:grpSp>
      <p:sp>
        <p:nvSpPr>
          <p:cNvPr id="19" name="직사각형 18">
            <a:extLst>
              <a:ext uri="{FF2B5EF4-FFF2-40B4-BE49-F238E27FC236}">
                <a16:creationId xmlns:a16="http://schemas.microsoft.com/office/drawing/2014/main" id="{945E5AE4-75C1-4DFC-958C-109E7CD53CE7}"/>
              </a:ext>
            </a:extLst>
          </p:cNvPr>
          <p:cNvSpPr/>
          <p:nvPr/>
        </p:nvSpPr>
        <p:spPr>
          <a:xfrm>
            <a:off x="580388" y="1833801"/>
            <a:ext cx="878205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 following the standard normal distribution (average 0, standard deviation 1) is generated as random numbers. See help(</a:t>
            </a:r>
            <a:r>
              <a:rPr lang="en-US" altLang="ko-KR" sz="1400" dirty="0" err="1">
                <a:solidFill>
                  <a:schemeClr val="tx1"/>
                </a:solidFill>
                <a:latin typeface="SamsungOne 400" panose="020B0503030303020204" pitchFamily="34" charset="0"/>
                <a:ea typeface="SamsungOne 400" panose="020B0503030303020204" pitchFamily="34" charset="0"/>
              </a:rPr>
              <a:t>np.random.randn</a:t>
            </a:r>
            <a:r>
              <a:rPr lang="en-US" altLang="ko-KR" sz="1400" dirty="0">
                <a:solidFill>
                  <a:schemeClr val="tx1"/>
                </a:solidFill>
                <a:latin typeface="SamsungOne 400" panose="020B0503030303020204" pitchFamily="34" charset="0"/>
                <a:ea typeface="SamsungOne 400" panose="020B0503030303020204" pitchFamily="34" charset="0"/>
              </a:rPr>
              <a:t>) for more detail.</a:t>
            </a:r>
          </a:p>
        </p:txBody>
      </p:sp>
    </p:spTree>
    <p:extLst>
      <p:ext uri="{BB962C8B-B14F-4D97-AF65-F5344CB8AC3E}">
        <p14:creationId xmlns:p14="http://schemas.microsoft.com/office/powerpoint/2010/main" val="510253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B7598838-1D53-46D4-95E0-4339E4258084}"/>
              </a:ext>
            </a:extLst>
          </p:cNvPr>
          <p:cNvGrpSpPr/>
          <p:nvPr/>
        </p:nvGrpSpPr>
        <p:grpSpPr>
          <a:xfrm>
            <a:off x="558396" y="1700808"/>
            <a:ext cx="8782050" cy="3517750"/>
            <a:chOff x="558396" y="1844825"/>
            <a:chExt cx="8782050" cy="351775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351775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0032"/>
            <a:stretch/>
          </p:blipFill>
          <p:spPr>
            <a:xfrm>
              <a:off x="597883" y="1915340"/>
              <a:ext cx="8742563" cy="3385867"/>
            </a:xfrm>
            <a:prstGeom prst="rect">
              <a:avLst/>
            </a:prstGeom>
          </p:spPr>
        </p:pic>
      </p:grpSp>
      <p:sp>
        <p:nvSpPr>
          <p:cNvPr id="10" name="직사각형 9">
            <a:extLst>
              <a:ext uri="{FF2B5EF4-FFF2-40B4-BE49-F238E27FC236}">
                <a16:creationId xmlns:a16="http://schemas.microsoft.com/office/drawing/2014/main" id="{D70B14E8-4771-40A6-821B-790C377053E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data2 with 100 rows and 100 columns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449003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2">
            <a:extLst>
              <a:ext uri="{FF2B5EF4-FFF2-40B4-BE49-F238E27FC236}">
                <a16:creationId xmlns:a16="http://schemas.microsoft.com/office/drawing/2014/main" id="{39C1D0BA-7152-4AAC-B295-DCCB5F8378F4}"/>
              </a:ext>
            </a:extLst>
          </p:cNvPr>
          <p:cNvSpPr/>
          <p:nvPr/>
        </p:nvSpPr>
        <p:spPr>
          <a:xfrm>
            <a:off x="711201" y="5132483"/>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average is close to zero but not completely zero. If more data is generated, then the results get closer to zero.</a:t>
            </a:r>
          </a:p>
        </p:txBody>
      </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A9A2B0F8-BB14-46C1-ACDC-1B28E89DF498}"/>
              </a:ext>
            </a:extLst>
          </p:cNvPr>
          <p:cNvGrpSpPr/>
          <p:nvPr/>
        </p:nvGrpSpPr>
        <p:grpSpPr>
          <a:xfrm>
            <a:off x="558396" y="1700808"/>
            <a:ext cx="8782050" cy="3365350"/>
            <a:chOff x="558396" y="1844825"/>
            <a:chExt cx="8782050" cy="336535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5"/>
              <a:ext cx="8782050" cy="336535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2032"/>
            <a:stretch/>
          </p:blipFill>
          <p:spPr>
            <a:xfrm>
              <a:off x="616933" y="1877241"/>
              <a:ext cx="8723513" cy="3273126"/>
            </a:xfrm>
            <a:prstGeom prst="rect">
              <a:avLst/>
            </a:prstGeom>
          </p:spPr>
        </p:pic>
      </p:grpSp>
      <p:sp>
        <p:nvSpPr>
          <p:cNvPr id="12" name="직사각형 11">
            <a:extLst>
              <a:ext uri="{FF2B5EF4-FFF2-40B4-BE49-F238E27FC236}">
                <a16:creationId xmlns:a16="http://schemas.microsoft.com/office/drawing/2014/main" id="{8E56C333-BF0D-4CC7-A29B-9C4E00C049D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Go ahead and create data3 as well.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859090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6" name="Rectangle 12">
            <a:extLst>
              <a:ext uri="{FF2B5EF4-FFF2-40B4-BE49-F238E27FC236}">
                <a16:creationId xmlns:a16="http://schemas.microsoft.com/office/drawing/2014/main" id="{39C1D0BA-7152-4AAC-B295-DCCB5F8378F4}"/>
              </a:ext>
            </a:extLst>
          </p:cNvPr>
          <p:cNvSpPr/>
          <p:nvPr/>
        </p:nvSpPr>
        <p:spPr>
          <a:xfrm>
            <a:off x="711201" y="1647850"/>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Let’s compare a Python list and a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NumPy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array that stores a million integers.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you run the example below, you can see that the code using NumPy is much faster than the code written with pure Python.</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By approaching np objects, denoted by abbreviating NumPy, you can create 1 million arrays starting from 0 using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arange</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method.</a:t>
            </a:r>
          </a:p>
        </p:txBody>
      </p:sp>
      <p:grpSp>
        <p:nvGrpSpPr>
          <p:cNvPr id="2" name="그룹 1">
            <a:extLst>
              <a:ext uri="{FF2B5EF4-FFF2-40B4-BE49-F238E27FC236}">
                <a16:creationId xmlns:a16="http://schemas.microsoft.com/office/drawing/2014/main" id="{D5A00361-CF6E-486B-B2AB-C5ABFA9D1BE1}"/>
              </a:ext>
            </a:extLst>
          </p:cNvPr>
          <p:cNvGrpSpPr/>
          <p:nvPr/>
        </p:nvGrpSpPr>
        <p:grpSpPr>
          <a:xfrm>
            <a:off x="558396" y="2996952"/>
            <a:ext cx="8782050" cy="841623"/>
            <a:chOff x="558396" y="2996952"/>
            <a:chExt cx="8782050" cy="841623"/>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2996952"/>
              <a:ext cx="8782050" cy="84162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0" name="그림 9"/>
            <p:cNvPicPr>
              <a:picLocks noChangeAspect="1"/>
            </p:cNvPicPr>
            <p:nvPr/>
          </p:nvPicPr>
          <p:blipFill rotWithShape="1">
            <a:blip r:embed="rId3"/>
            <a:srcRect r="22537" b="15168"/>
            <a:stretch/>
          </p:blipFill>
          <p:spPr>
            <a:xfrm>
              <a:off x="577851" y="3032001"/>
              <a:ext cx="8762595" cy="701799"/>
            </a:xfrm>
            <a:prstGeom prst="rect">
              <a:avLst/>
            </a:prstGeom>
          </p:spPr>
        </p:pic>
      </p:grpSp>
      <p:grpSp>
        <p:nvGrpSpPr>
          <p:cNvPr id="3" name="그룹 2">
            <a:extLst>
              <a:ext uri="{FF2B5EF4-FFF2-40B4-BE49-F238E27FC236}">
                <a16:creationId xmlns:a16="http://schemas.microsoft.com/office/drawing/2014/main" id="{32E90C9F-8062-4211-87EB-A31458B8641C}"/>
              </a:ext>
            </a:extLst>
          </p:cNvPr>
          <p:cNvGrpSpPr/>
          <p:nvPr/>
        </p:nvGrpSpPr>
        <p:grpSpPr>
          <a:xfrm>
            <a:off x="558924" y="4316455"/>
            <a:ext cx="8782050" cy="1656184"/>
            <a:chOff x="558924" y="4581128"/>
            <a:chExt cx="8782050" cy="1656184"/>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4581128"/>
              <a:ext cx="8782050" cy="16561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그림 11"/>
            <p:cNvPicPr>
              <a:picLocks noChangeAspect="1"/>
            </p:cNvPicPr>
            <p:nvPr/>
          </p:nvPicPr>
          <p:blipFill rotWithShape="1">
            <a:blip r:embed="rId4"/>
            <a:srcRect r="20018"/>
            <a:stretch/>
          </p:blipFill>
          <p:spPr>
            <a:xfrm>
              <a:off x="650093" y="4648038"/>
              <a:ext cx="8690353" cy="1589274"/>
            </a:xfrm>
            <a:prstGeom prst="rect">
              <a:avLst/>
            </a:prstGeom>
          </p:spPr>
        </p:pic>
      </p:grpSp>
      <p:sp>
        <p:nvSpPr>
          <p:cNvPr id="13" name="직사각형 12">
            <a:extLst>
              <a:ext uri="{FF2B5EF4-FFF2-40B4-BE49-F238E27FC236}">
                <a16:creationId xmlns:a16="http://schemas.microsoft.com/office/drawing/2014/main" id="{D744603E-ED61-438E-A55E-87BB4EFB566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vs. </a:t>
            </a:r>
            <a:r>
              <a:rPr lang="en-US" altLang="ko-KR" sz="1400" dirty="0" err="1">
                <a:solidFill>
                  <a:schemeClr val="tx1"/>
                </a:solidFill>
                <a:latin typeface="SamsungOne 400" panose="020B0503030303020204" pitchFamily="34" charset="0"/>
                <a:ea typeface="SamsungOne 400" panose="020B0503030303020204" pitchFamily="34" charset="0"/>
              </a:rPr>
              <a:t>NumPy</a:t>
            </a:r>
            <a:r>
              <a:rPr lang="en-US" altLang="ko-KR" sz="1400" dirty="0">
                <a:solidFill>
                  <a:schemeClr val="tx1"/>
                </a:solidFill>
                <a:latin typeface="SamsungOne 400" panose="020B0503030303020204" pitchFamily="34" charset="0"/>
                <a:ea typeface="SamsungOne 400" panose="020B0503030303020204" pitchFamily="34" charset="0"/>
              </a:rPr>
              <a:t> Arrays: Processing Speed (1/4)</a:t>
            </a:r>
            <a:endParaRPr lang="ko-KR" altLang="en-US" sz="1400" dirty="0">
              <a:solidFill>
                <a:schemeClr val="tx1"/>
              </a:solidFill>
              <a:latin typeface="SamsungOne 400" panose="020B0503030303020204" pitchFamily="34" charset="0"/>
            </a:endParaRPr>
          </a:p>
        </p:txBody>
      </p:sp>
      <p:sp>
        <p:nvSpPr>
          <p:cNvPr id="18" name="Rectangle 12">
            <a:extLst>
              <a:ext uri="{FF2B5EF4-FFF2-40B4-BE49-F238E27FC236}">
                <a16:creationId xmlns:a16="http://schemas.microsoft.com/office/drawing/2014/main" id="{C17AA88D-5AB2-4814-A771-09D069CE59E3}"/>
              </a:ext>
            </a:extLst>
          </p:cNvPr>
          <p:cNvSpPr/>
          <p:nvPr/>
        </p:nvSpPr>
        <p:spPr>
          <a:xfrm>
            <a:off x="711201" y="395311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Here is a data structure of the list for comparison's sake. </a:t>
            </a:r>
          </a:p>
        </p:txBody>
      </p:sp>
    </p:spTree>
    <p:extLst>
      <p:ext uri="{BB962C8B-B14F-4D97-AF65-F5344CB8AC3E}">
        <p14:creationId xmlns:p14="http://schemas.microsoft.com/office/powerpoint/2010/main" val="563054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2A7987A4-7DCB-4B6D-AB21-1A25E45043AB}"/>
              </a:ext>
            </a:extLst>
          </p:cNvPr>
          <p:cNvGrpSpPr/>
          <p:nvPr/>
        </p:nvGrpSpPr>
        <p:grpSpPr>
          <a:xfrm>
            <a:off x="558396" y="1729383"/>
            <a:ext cx="8782050" cy="1008111"/>
            <a:chOff x="558396" y="1844824"/>
            <a:chExt cx="8782050" cy="1008111"/>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100811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5773"/>
            <a:stretch/>
          </p:blipFill>
          <p:spPr>
            <a:xfrm>
              <a:off x="578833" y="1892260"/>
              <a:ext cx="8760861" cy="854389"/>
            </a:xfrm>
            <a:prstGeom prst="rect">
              <a:avLst/>
            </a:prstGeom>
          </p:spPr>
        </p:pic>
        <p:sp>
          <p:nvSpPr>
            <p:cNvPr id="4" name="직사각형 3"/>
            <p:cNvSpPr/>
            <p:nvPr/>
          </p:nvSpPr>
          <p:spPr>
            <a:xfrm>
              <a:off x="3666703" y="2021574"/>
              <a:ext cx="5601122" cy="27395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그룹 12"/>
          <p:cNvGrpSpPr/>
          <p:nvPr/>
        </p:nvGrpSpPr>
        <p:grpSpPr>
          <a:xfrm>
            <a:off x="557644" y="2846112"/>
            <a:ext cx="8782050" cy="726904"/>
            <a:chOff x="557644" y="5085184"/>
            <a:chExt cx="8782050" cy="726904"/>
          </a:xfrm>
        </p:grpSpPr>
        <p:sp>
          <p:nvSpPr>
            <p:cNvPr id="21"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2690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4" name="TextBox 23">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returns the result in the form of </a:t>
              </a:r>
              <a:r>
                <a:rPr lang="en-US" altLang="ko-KR" sz="1300" dirty="0" err="1">
                  <a:solidFill>
                    <a:prstClr val="black">
                      <a:lumMod val="85000"/>
                      <a:lumOff val="15000"/>
                    </a:prstClr>
                  </a:solidFill>
                  <a:latin typeface="SamsungOne 400" panose="020B0503030303020204" pitchFamily="34" charset="0"/>
                </a:rPr>
                <a:t>NumPy.ndarray</a:t>
              </a:r>
              <a:r>
                <a:rPr lang="en-US" altLang="ko-KR" sz="1300" dirty="0">
                  <a:solidFill>
                    <a:prstClr val="black">
                      <a:lumMod val="85000"/>
                      <a:lumOff val="15000"/>
                    </a:prstClr>
                  </a:solidFill>
                  <a:latin typeface="SamsungOne 400" panose="020B0503030303020204" pitchFamily="34" charset="0"/>
                </a:rPr>
                <a:t>. This means that there is an array with n-dimensions.</a:t>
              </a:r>
            </a:p>
          </p:txBody>
        </p:sp>
      </p:grpSp>
      <p:sp>
        <p:nvSpPr>
          <p:cNvPr id="16" name="직사각형 15">
            <a:extLst>
              <a:ext uri="{FF2B5EF4-FFF2-40B4-BE49-F238E27FC236}">
                <a16:creationId xmlns:a16="http://schemas.microsoft.com/office/drawing/2014/main" id="{DD7A6560-51BC-4832-B0EA-5B8787FF0FA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vs. NumPy Arrays: Processing Speed (2/4)</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133050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FAE7517C-A27B-47C6-9F65-E60DDE76C8F9}"/>
              </a:ext>
            </a:extLst>
          </p:cNvPr>
          <p:cNvGrpSpPr/>
          <p:nvPr/>
        </p:nvGrpSpPr>
        <p:grpSpPr>
          <a:xfrm>
            <a:off x="558396" y="2228107"/>
            <a:ext cx="8782050" cy="819894"/>
            <a:chOff x="558396" y="2228107"/>
            <a:chExt cx="8782050" cy="819894"/>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396" y="2228107"/>
              <a:ext cx="8782050" cy="81989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t="7633" r="23196" b="35463"/>
            <a:stretch/>
          </p:blipFill>
          <p:spPr>
            <a:xfrm>
              <a:off x="635983" y="2263911"/>
              <a:ext cx="8704463" cy="745989"/>
            </a:xfrm>
            <a:prstGeom prst="rect">
              <a:avLst/>
            </a:prstGeom>
          </p:spPr>
        </p:pic>
      </p:grpSp>
      <p:sp>
        <p:nvSpPr>
          <p:cNvPr id="12" name="Rectangle 12">
            <a:extLst>
              <a:ext uri="{FF2B5EF4-FFF2-40B4-BE49-F238E27FC236}">
                <a16:creationId xmlns:a16="http://schemas.microsoft.com/office/drawing/2014/main" id="{39C1D0BA-7152-4AAC-B295-DCCB5F8378F4}"/>
              </a:ext>
            </a:extLst>
          </p:cNvPr>
          <p:cNvSpPr/>
          <p:nvPr/>
        </p:nvSpPr>
        <p:spPr>
          <a:xfrm>
            <a:off x="711201" y="3144434"/>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%time is an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IPython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magic command that returns a single execution time. This magic command is a special command designed to easily control general tasks and other operations in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IPython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system.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Magic commands are labeled with a % sign.</a:t>
            </a:r>
          </a:p>
        </p:txBody>
      </p:sp>
      <p:grpSp>
        <p:nvGrpSpPr>
          <p:cNvPr id="4" name="그룹 3">
            <a:extLst>
              <a:ext uri="{FF2B5EF4-FFF2-40B4-BE49-F238E27FC236}">
                <a16:creationId xmlns:a16="http://schemas.microsoft.com/office/drawing/2014/main" id="{9AF670D2-6EC8-44B1-9D2E-94DFB4DDF5CE}"/>
              </a:ext>
            </a:extLst>
          </p:cNvPr>
          <p:cNvGrpSpPr/>
          <p:nvPr/>
        </p:nvGrpSpPr>
        <p:grpSpPr>
          <a:xfrm>
            <a:off x="558924" y="4111803"/>
            <a:ext cx="8782050" cy="786854"/>
            <a:chOff x="558924" y="4375697"/>
            <a:chExt cx="8782050" cy="786854"/>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4375697"/>
              <a:ext cx="8782050" cy="7868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r="24696" b="15132"/>
            <a:stretch/>
          </p:blipFill>
          <p:spPr>
            <a:xfrm>
              <a:off x="587376" y="4434197"/>
              <a:ext cx="8753070" cy="633103"/>
            </a:xfrm>
            <a:prstGeom prst="rect">
              <a:avLst/>
            </a:prstGeom>
          </p:spPr>
        </p:pic>
      </p:grpSp>
      <p:sp>
        <p:nvSpPr>
          <p:cNvPr id="16" name="Rectangle 12">
            <a:extLst>
              <a:ext uri="{FF2B5EF4-FFF2-40B4-BE49-F238E27FC236}">
                <a16:creationId xmlns:a16="http://schemas.microsoft.com/office/drawing/2014/main" id="{39C1D0BA-7152-4AAC-B295-DCCB5F8378F4}"/>
              </a:ext>
            </a:extLst>
          </p:cNvPr>
          <p:cNvSpPr/>
          <p:nvPr/>
        </p:nvSpPr>
        <p:spPr>
          <a:xfrm>
            <a:off x="707622" y="1643658"/>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following shows the speed of the Python array and the operation of multiplying each value of 1 million lists by 2, 1000 times.</a:t>
            </a:r>
          </a:p>
        </p:txBody>
      </p:sp>
      <p:sp>
        <p:nvSpPr>
          <p:cNvPr id="18" name="Rectangle 12">
            <a:extLst>
              <a:ext uri="{FF2B5EF4-FFF2-40B4-BE49-F238E27FC236}">
                <a16:creationId xmlns:a16="http://schemas.microsoft.com/office/drawing/2014/main" id="{39C1D0BA-7152-4AAC-B295-DCCB5F8378F4}"/>
              </a:ext>
            </a:extLst>
          </p:cNvPr>
          <p:cNvSpPr/>
          <p:nvPr/>
        </p:nvSpPr>
        <p:spPr>
          <a:xfrm>
            <a:off x="707622" y="4957157"/>
            <a:ext cx="8632824"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took 46.5 seconds. There is a difference of more than 20 times.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Once again, it is important to understand the pros and cons of the arrays and lists we learned earlier to perform large-scale Big Data AI operations in the future. This would be a clear reason why we must learn and use NumPy when operating with such operations.</a:t>
            </a:r>
          </a:p>
        </p:txBody>
      </p:sp>
      <p:sp>
        <p:nvSpPr>
          <p:cNvPr id="19" name="직사각형 18">
            <a:extLst>
              <a:ext uri="{FF2B5EF4-FFF2-40B4-BE49-F238E27FC236}">
                <a16:creationId xmlns:a16="http://schemas.microsoft.com/office/drawing/2014/main" id="{26704344-1A3E-4CA1-843B-EDBDA5576D9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vs. NumPy Arrays: Processing Speed (3/4)</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92953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6" name="Rectangle 12">
            <a:extLst>
              <a:ext uri="{FF2B5EF4-FFF2-40B4-BE49-F238E27FC236}">
                <a16:creationId xmlns:a16="http://schemas.microsoft.com/office/drawing/2014/main" id="{39C1D0BA-7152-4AAC-B295-DCCB5F8378F4}"/>
              </a:ext>
            </a:extLst>
          </p:cNvPr>
          <p:cNvSpPr/>
          <p:nvPr/>
        </p:nvSpPr>
        <p:spPr>
          <a:xfrm>
            <a:off x="711201" y="1700808"/>
            <a:ext cx="8632824" cy="1956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results may differ in each user’s system, as we just saw on the screen.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Wall time, also called Wall-clock time, is the sum of the entire time it takes for the program to run and end, including CPU, I/O, Sub Program, etc.</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summarize vectorization once more, vectorization is one of the biggest reasons for using NumPy.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Vectorization is the operation of placing data without using loops or indexing.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NumPy’s vectorization optimizes the placement operation with compiled C code by performing it out of sight. For example, the loop statement code for calculating the weight of machine learning uses NumPy vectorization.</a:t>
            </a:r>
          </a:p>
        </p:txBody>
      </p:sp>
      <p:sp>
        <p:nvSpPr>
          <p:cNvPr id="9" name="직사각형 8">
            <a:extLst>
              <a:ext uri="{FF2B5EF4-FFF2-40B4-BE49-F238E27FC236}">
                <a16:creationId xmlns:a16="http://schemas.microsoft.com/office/drawing/2014/main" id="{277ECEDA-85D9-4E8F-9C27-B4976815812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vs. NumPy Arrays: Processing Speed (4/4)</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205498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Adding Elements to NumPy Arrays</a:t>
            </a:r>
          </a:p>
        </p:txBody>
      </p:sp>
      <p:grpSp>
        <p:nvGrpSpPr>
          <p:cNvPr id="2" name="그룹 1">
            <a:extLst>
              <a:ext uri="{FF2B5EF4-FFF2-40B4-BE49-F238E27FC236}">
                <a16:creationId xmlns:a16="http://schemas.microsoft.com/office/drawing/2014/main" id="{DA61E7DB-0484-4087-9EED-8324D3555DE0}"/>
              </a:ext>
            </a:extLst>
          </p:cNvPr>
          <p:cNvGrpSpPr/>
          <p:nvPr/>
        </p:nvGrpSpPr>
        <p:grpSpPr>
          <a:xfrm>
            <a:off x="558396" y="2375748"/>
            <a:ext cx="8782050" cy="1813722"/>
            <a:chOff x="558396" y="4082253"/>
            <a:chExt cx="8782050" cy="1813722"/>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396" y="4082253"/>
              <a:ext cx="8782050" cy="181372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3586"/>
            <a:stretch/>
          </p:blipFill>
          <p:spPr>
            <a:xfrm>
              <a:off x="623247" y="4125838"/>
              <a:ext cx="8717199" cy="1694131"/>
            </a:xfrm>
            <a:prstGeom prst="rect">
              <a:avLst/>
            </a:prstGeom>
          </p:spPr>
        </p:pic>
      </p:grpSp>
      <p:sp>
        <p:nvSpPr>
          <p:cNvPr id="11" name="직사각형 10">
            <a:extLst>
              <a:ext uri="{FF2B5EF4-FFF2-40B4-BE49-F238E27FC236}">
                <a16:creationId xmlns:a16="http://schemas.microsoft.com/office/drawing/2014/main" id="{5995726E-E9D4-4FB5-836A-BFF0A27B8BFF}"/>
              </a:ext>
            </a:extLst>
          </p:cNvPr>
          <p:cNvSpPr/>
          <p:nvPr/>
        </p:nvSpPr>
        <p:spPr>
          <a:xfrm>
            <a:off x="580388" y="1833801"/>
            <a:ext cx="878205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 value is added to the one-dimensional data. The rank of the first-dimension is 1. See help.(</a:t>
            </a:r>
            <a:r>
              <a:rPr lang="en-US" altLang="ko-KR" sz="1400" dirty="0" err="1">
                <a:solidFill>
                  <a:schemeClr val="tx1"/>
                </a:solidFill>
                <a:latin typeface="SamsungOne 400" panose="020B0503030303020204" pitchFamily="34" charset="0"/>
                <a:ea typeface="SamsungOne 400" panose="020B0503030303020204" pitchFamily="34" charset="0"/>
              </a:rPr>
              <a:t>np.append</a:t>
            </a:r>
            <a:r>
              <a:rPr lang="en-US" altLang="ko-KR" sz="1400">
                <a:solidFill>
                  <a:schemeClr val="tx1"/>
                </a:solidFill>
                <a:latin typeface="SamsungOne 400" panose="020B0503030303020204" pitchFamily="34" charset="0"/>
                <a:ea typeface="SamsungOne 400" panose="020B0503030303020204" pitchFamily="34" charset="0"/>
              </a:rPr>
              <a:t>) for more detail. </a:t>
            </a:r>
            <a:endParaRPr lang="en-US" altLang="ko-KR" sz="1400" dirty="0">
              <a:solidFill>
                <a:schemeClr val="tx1"/>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1378436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16" name="Rectangle 12">
            <a:extLst>
              <a:ext uri="{FF2B5EF4-FFF2-40B4-BE49-F238E27FC236}">
                <a16:creationId xmlns:a16="http://schemas.microsoft.com/office/drawing/2014/main" id="{39C1D0BA-7152-4AAC-B295-DCCB5F8378F4}"/>
              </a:ext>
            </a:extLst>
          </p:cNvPr>
          <p:cNvSpPr/>
          <p:nvPr/>
        </p:nvSpPr>
        <p:spPr>
          <a:xfrm>
            <a:off x="711201" y="1700808"/>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You can extend a NumPy array by calling the NumPy.append() method. Note that, unlike the lists, the plus ‘+’ operator cannot be used for this purpose.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an array has orientations, you can specify the directions. For a 2D array, the axis argument set to 0 means vertical extension, while 1 means horizontal extension.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NumPy.append() provides just a view. For the changes to remain, the result should be assigned to a variable.</a:t>
            </a:r>
          </a:p>
        </p:txBody>
      </p:sp>
      <p:sp>
        <p:nvSpPr>
          <p:cNvPr id="9" name="직사각형 8">
            <a:extLst>
              <a:ext uri="{FF2B5EF4-FFF2-40B4-BE49-F238E27FC236}">
                <a16:creationId xmlns:a16="http://schemas.microsoft.com/office/drawing/2014/main" id="{12EABBD2-CBC8-4B5D-9593-B867D7B85BC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NumPy.append</a:t>
            </a:r>
            <a:r>
              <a:rPr lang="en-US" altLang="ko-KR" sz="1400" dirty="0">
                <a:solidFill>
                  <a:schemeClr val="tx1"/>
                </a:solidFill>
                <a:latin typeface="SamsungOne 400" panose="020B0503030303020204" pitchFamily="34" charset="0"/>
                <a:ea typeface="SamsungOne 400" panose="020B0503030303020204" pitchFamily="34" charset="0"/>
              </a:rPr>
              <a:t>() method (1/3)</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977643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11" name="그룹 10"/>
          <p:cNvGrpSpPr/>
          <p:nvPr/>
        </p:nvGrpSpPr>
        <p:grpSpPr>
          <a:xfrm>
            <a:off x="557644" y="4653508"/>
            <a:ext cx="8782050" cy="726904"/>
            <a:chOff x="557644" y="5085184"/>
            <a:chExt cx="8782050" cy="72690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2690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axis=0 is a row.</a:t>
              </a:r>
            </a:p>
          </p:txBody>
        </p:sp>
      </p:grpSp>
      <p:grpSp>
        <p:nvGrpSpPr>
          <p:cNvPr id="4" name="그룹 3">
            <a:extLst>
              <a:ext uri="{FF2B5EF4-FFF2-40B4-BE49-F238E27FC236}">
                <a16:creationId xmlns:a16="http://schemas.microsoft.com/office/drawing/2014/main" id="{6BC96053-D13E-4D28-98F5-2C9C729B7D36}"/>
              </a:ext>
            </a:extLst>
          </p:cNvPr>
          <p:cNvGrpSpPr/>
          <p:nvPr/>
        </p:nvGrpSpPr>
        <p:grpSpPr>
          <a:xfrm>
            <a:off x="558396" y="1700808"/>
            <a:ext cx="8782050" cy="2880717"/>
            <a:chOff x="558396" y="1772815"/>
            <a:chExt cx="8782050" cy="2880717"/>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5"/>
              <a:ext cx="8782050" cy="288071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2681" b="33975"/>
            <a:stretch/>
          </p:blipFill>
          <p:spPr>
            <a:xfrm>
              <a:off x="616933" y="1820160"/>
              <a:ext cx="8722761" cy="2745995"/>
            </a:xfrm>
            <a:prstGeom prst="rect">
              <a:avLst/>
            </a:prstGeom>
          </p:spPr>
        </p:pic>
        <p:sp>
          <p:nvSpPr>
            <p:cNvPr id="3" name="직사각형 2"/>
            <p:cNvSpPr/>
            <p:nvPr/>
          </p:nvSpPr>
          <p:spPr>
            <a:xfrm>
              <a:off x="4295724" y="3289175"/>
              <a:ext cx="1209725"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직사각형 20">
            <a:extLst>
              <a:ext uri="{FF2B5EF4-FFF2-40B4-BE49-F238E27FC236}">
                <a16:creationId xmlns:a16="http://schemas.microsoft.com/office/drawing/2014/main" id="{CF2EFB94-8B68-400E-80FC-E1E5A2BC958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err="1">
                <a:solidFill>
                  <a:schemeClr val="tx1"/>
                </a:solidFill>
                <a:latin typeface="SamsungOne 400" panose="020B0503030303020204" pitchFamily="34" charset="0"/>
                <a:ea typeface="SamsungOne 400" panose="020B0503030303020204" pitchFamily="34" charset="0"/>
              </a:rPr>
              <a:t>NumPy.append</a:t>
            </a:r>
            <a:r>
              <a:rPr lang="en-US" altLang="ko-KR" sz="1400" dirty="0">
                <a:solidFill>
                  <a:schemeClr val="tx1"/>
                </a:solidFill>
                <a:latin typeface="SamsungOne 400" panose="020B0503030303020204" pitchFamily="34" charset="0"/>
                <a:ea typeface="SamsungOne 400" panose="020B0503030303020204" pitchFamily="34" charset="0"/>
              </a:rPr>
              <a:t>() method (2/3)</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149622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11" name="그룹 10"/>
          <p:cNvGrpSpPr/>
          <p:nvPr/>
        </p:nvGrpSpPr>
        <p:grpSpPr>
          <a:xfrm>
            <a:off x="557644" y="3241551"/>
            <a:ext cx="8782050" cy="726904"/>
            <a:chOff x="557644" y="5085184"/>
            <a:chExt cx="8782050" cy="72690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72690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axis=1 is a column.</a:t>
              </a:r>
            </a:p>
          </p:txBody>
        </p:sp>
      </p:grpSp>
      <p:grpSp>
        <p:nvGrpSpPr>
          <p:cNvPr id="2" name="그룹 1">
            <a:extLst>
              <a:ext uri="{FF2B5EF4-FFF2-40B4-BE49-F238E27FC236}">
                <a16:creationId xmlns:a16="http://schemas.microsoft.com/office/drawing/2014/main" id="{CDEF4D07-3646-4BC0-85D2-368867ECD7D0}"/>
              </a:ext>
            </a:extLst>
          </p:cNvPr>
          <p:cNvGrpSpPr/>
          <p:nvPr/>
        </p:nvGrpSpPr>
        <p:grpSpPr>
          <a:xfrm>
            <a:off x="558396" y="1700808"/>
            <a:ext cx="8782050" cy="1440159"/>
            <a:chOff x="558396" y="1772816"/>
            <a:chExt cx="8782050" cy="1440159"/>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144015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24039"/>
            <a:stretch/>
          </p:blipFill>
          <p:spPr>
            <a:xfrm>
              <a:off x="607408" y="1817196"/>
              <a:ext cx="8732286" cy="1338316"/>
            </a:xfrm>
            <a:prstGeom prst="rect">
              <a:avLst/>
            </a:prstGeom>
          </p:spPr>
        </p:pic>
      </p:grpSp>
      <p:sp>
        <p:nvSpPr>
          <p:cNvPr id="16" name="직사각형 15">
            <a:extLst>
              <a:ext uri="{FF2B5EF4-FFF2-40B4-BE49-F238E27FC236}">
                <a16:creationId xmlns:a16="http://schemas.microsoft.com/office/drawing/2014/main" id="{2111DCE7-A3C7-449B-A26E-08DF675F39F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err="1">
                <a:solidFill>
                  <a:schemeClr val="tx1"/>
                </a:solidFill>
                <a:latin typeface="SamsungOne 400" panose="020B0503030303020204" pitchFamily="34" charset="0"/>
                <a:ea typeface="SamsungOne 400" panose="020B0503030303020204" pitchFamily="34" charset="0"/>
              </a:rPr>
              <a:t>NumPy.append</a:t>
            </a:r>
            <a:r>
              <a:rPr lang="en-US" altLang="ko-KR" sz="1400" dirty="0">
                <a:solidFill>
                  <a:schemeClr val="tx1"/>
                </a:solidFill>
                <a:latin typeface="SamsungOne 400" panose="020B0503030303020204" pitchFamily="34" charset="0"/>
                <a:ea typeface="SamsungOne 400" panose="020B0503030303020204" pitchFamily="34" charset="0"/>
              </a:rPr>
              <a:t>() method (3/3)</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444354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Deleting Elements from NumPy Arrays</a:t>
            </a:r>
          </a:p>
        </p:txBody>
      </p:sp>
      <p:grpSp>
        <p:nvGrpSpPr>
          <p:cNvPr id="12" name="그룹 11"/>
          <p:cNvGrpSpPr/>
          <p:nvPr/>
        </p:nvGrpSpPr>
        <p:grpSpPr>
          <a:xfrm>
            <a:off x="557644" y="5094709"/>
            <a:ext cx="8782050" cy="1220366"/>
            <a:chOff x="557644" y="5085184"/>
            <a:chExt cx="8782050" cy="1220366"/>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4"/>
              <a:ext cx="8782050" cy="122036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a:t>
              </a:r>
              <a:r>
                <a:rPr lang="ko-KR" altLang="en-US"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 </a:t>
              </a: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102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6351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Delete the corresponding index element.</a:t>
              </a:r>
            </a:p>
          </p:txBody>
        </p:sp>
      </p:grpSp>
      <p:grpSp>
        <p:nvGrpSpPr>
          <p:cNvPr id="5" name="그룹 4">
            <a:extLst>
              <a:ext uri="{FF2B5EF4-FFF2-40B4-BE49-F238E27FC236}">
                <a16:creationId xmlns:a16="http://schemas.microsoft.com/office/drawing/2014/main" id="{2921CE23-B2F5-4966-B711-F991F2522585}"/>
              </a:ext>
            </a:extLst>
          </p:cNvPr>
          <p:cNvGrpSpPr/>
          <p:nvPr/>
        </p:nvGrpSpPr>
        <p:grpSpPr>
          <a:xfrm>
            <a:off x="662397" y="5733187"/>
            <a:ext cx="8640559" cy="506374"/>
            <a:chOff x="662397" y="5818912"/>
            <a:chExt cx="8640559" cy="506374"/>
          </a:xfrm>
        </p:grpSpPr>
        <p:pic>
          <p:nvPicPr>
            <p:cNvPr id="19"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84164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81891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a:t>
              </a:r>
              <a:r>
                <a:rPr lang="ko-KR" altLang="en-US"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 </a:t>
              </a: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103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612523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Although the element was deleted, the array remains the same because no assignment was made. </a:t>
              </a:r>
            </a:p>
          </p:txBody>
        </p:sp>
      </p:grpSp>
      <p:sp>
        <p:nvSpPr>
          <p:cNvPr id="30" name="직사각형 29">
            <a:extLst>
              <a:ext uri="{FF2B5EF4-FFF2-40B4-BE49-F238E27FC236}">
                <a16:creationId xmlns:a16="http://schemas.microsoft.com/office/drawing/2014/main" id="{392F96A6-14A4-4598-AB1B-892AC3FBE7D4}"/>
              </a:ext>
            </a:extLst>
          </p:cNvPr>
          <p:cNvSpPr/>
          <p:nvPr/>
        </p:nvSpPr>
        <p:spPr>
          <a:xfrm>
            <a:off x="580388" y="1833801"/>
            <a:ext cx="878205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Method of Deleting Elements from Arrays</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(1/2)</a:t>
            </a:r>
          </a:p>
        </p:txBody>
      </p:sp>
      <p:grpSp>
        <p:nvGrpSpPr>
          <p:cNvPr id="3" name="그룹 2">
            <a:extLst>
              <a:ext uri="{FF2B5EF4-FFF2-40B4-BE49-F238E27FC236}">
                <a16:creationId xmlns:a16="http://schemas.microsoft.com/office/drawing/2014/main" id="{8B48E453-3911-46E2-9C39-3C09C7DF3331}"/>
              </a:ext>
            </a:extLst>
          </p:cNvPr>
          <p:cNvGrpSpPr/>
          <p:nvPr/>
        </p:nvGrpSpPr>
        <p:grpSpPr>
          <a:xfrm>
            <a:off x="558396" y="2132856"/>
            <a:ext cx="8782050" cy="2880319"/>
            <a:chOff x="558396" y="2276873"/>
            <a:chExt cx="8782050" cy="2880319"/>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396" y="2276873"/>
              <a:ext cx="8782050" cy="288031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5"/>
            <a:srcRect t="2574" r="19072"/>
            <a:stretch/>
          </p:blipFill>
          <p:spPr>
            <a:xfrm>
              <a:off x="688297" y="2357829"/>
              <a:ext cx="8651397" cy="2789838"/>
            </a:xfrm>
            <a:prstGeom prst="rect">
              <a:avLst/>
            </a:prstGeom>
          </p:spPr>
        </p:pic>
        <p:sp>
          <p:nvSpPr>
            <p:cNvPr id="31" name="직사각형 30">
              <a:extLst>
                <a:ext uri="{FF2B5EF4-FFF2-40B4-BE49-F238E27FC236}">
                  <a16:creationId xmlns:a16="http://schemas.microsoft.com/office/drawing/2014/main" id="{C75308A4-7424-4217-820B-8FF8CF346748}"/>
                </a:ext>
              </a:extLst>
            </p:cNvPr>
            <p:cNvSpPr/>
            <p:nvPr/>
          </p:nvSpPr>
          <p:spPr>
            <a:xfrm>
              <a:off x="2705049" y="3702943"/>
              <a:ext cx="2246363"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38783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SharpSans-Medium" pitchFamily="2" charset="0"/>
                  <a:ea typeface="SamsungSharpSans-Medium" pitchFamily="2" charset="0"/>
                  <a:cs typeface="SamsungSharpSans-Medium" pitchFamily="2" charset="0"/>
                </a:rPr>
                <a:t>1.2. NumPy Array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SharpSans-Medium" pitchFamily="2" charset="0"/>
                  <a:ea typeface="SamsungSharpSans-Medium" pitchFamily="2" charset="0"/>
                  <a:cs typeface="SamsungSharpSans-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87619224-E61C-4510-8792-F87E2444CC3A}"/>
              </a:ext>
            </a:extLst>
          </p:cNvPr>
          <p:cNvGrpSpPr/>
          <p:nvPr/>
        </p:nvGrpSpPr>
        <p:grpSpPr>
          <a:xfrm>
            <a:off x="557644" y="4321667"/>
            <a:ext cx="8782050" cy="1267573"/>
            <a:chOff x="557644" y="4790327"/>
            <a:chExt cx="8782050" cy="1267573"/>
          </a:xfrm>
        </p:grpSpPr>
        <p:grpSp>
          <p:nvGrpSpPr>
            <p:cNvPr id="11" name="그룹 10"/>
            <p:cNvGrpSpPr/>
            <p:nvPr/>
          </p:nvGrpSpPr>
          <p:grpSpPr>
            <a:xfrm>
              <a:off x="557644" y="4790327"/>
              <a:ext cx="8782050" cy="1267573"/>
              <a:chOff x="557644" y="5085183"/>
              <a:chExt cx="8782050" cy="1267573"/>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126757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Delete the first row.</a:t>
                </a:r>
              </a:p>
            </p:txBody>
          </p:sp>
        </p:gr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5052" y="545753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23833" y="543480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24473" y="576969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Delete the second column.</a:t>
              </a:r>
            </a:p>
          </p:txBody>
        </p:sp>
      </p:grpSp>
      <p:sp>
        <p:nvSpPr>
          <p:cNvPr id="27" name="직사각형 26">
            <a:extLst>
              <a:ext uri="{FF2B5EF4-FFF2-40B4-BE49-F238E27FC236}">
                <a16:creationId xmlns:a16="http://schemas.microsoft.com/office/drawing/2014/main" id="{45917177-0863-4D80-B179-7C655D63A63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Method of Deleting Elements from Arrays</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(2/2)</a:t>
            </a:r>
          </a:p>
        </p:txBody>
      </p:sp>
      <p:grpSp>
        <p:nvGrpSpPr>
          <p:cNvPr id="5" name="그룹 4">
            <a:extLst>
              <a:ext uri="{FF2B5EF4-FFF2-40B4-BE49-F238E27FC236}">
                <a16:creationId xmlns:a16="http://schemas.microsoft.com/office/drawing/2014/main" id="{6A2827E6-14E6-460F-A884-7D78C9EDFBA5}"/>
              </a:ext>
            </a:extLst>
          </p:cNvPr>
          <p:cNvGrpSpPr/>
          <p:nvPr/>
        </p:nvGrpSpPr>
        <p:grpSpPr>
          <a:xfrm>
            <a:off x="558396" y="1700808"/>
            <a:ext cx="8782050" cy="2542009"/>
            <a:chOff x="558396" y="1772815"/>
            <a:chExt cx="8782050" cy="2542009"/>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5"/>
              <a:ext cx="8782050" cy="254200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5"/>
            <a:srcRect r="20165"/>
            <a:stretch/>
          </p:blipFill>
          <p:spPr>
            <a:xfrm>
              <a:off x="674083" y="1812751"/>
              <a:ext cx="8665612" cy="2421984"/>
            </a:xfrm>
            <a:prstGeom prst="rect">
              <a:avLst/>
            </a:prstGeom>
          </p:spPr>
        </p:pic>
        <p:sp>
          <p:nvSpPr>
            <p:cNvPr id="28" name="직사각형 27">
              <a:extLst>
                <a:ext uri="{FF2B5EF4-FFF2-40B4-BE49-F238E27FC236}">
                  <a16:creationId xmlns:a16="http://schemas.microsoft.com/office/drawing/2014/main" id="{C85B1721-F02B-43A8-A32F-093C0A69966C}"/>
                </a:ext>
              </a:extLst>
            </p:cNvPr>
            <p:cNvSpPr/>
            <p:nvPr/>
          </p:nvSpPr>
          <p:spPr>
            <a:xfrm>
              <a:off x="3257499" y="1959868"/>
              <a:ext cx="1466901"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직사각형 28">
              <a:extLst>
                <a:ext uri="{FF2B5EF4-FFF2-40B4-BE49-F238E27FC236}">
                  <a16:creationId xmlns:a16="http://schemas.microsoft.com/office/drawing/2014/main" id="{7E552CCD-98C6-40C0-92B7-2BE783584934}"/>
                </a:ext>
              </a:extLst>
            </p:cNvPr>
            <p:cNvSpPr/>
            <p:nvPr/>
          </p:nvSpPr>
          <p:spPr>
            <a:xfrm>
              <a:off x="3257499" y="3541018"/>
              <a:ext cx="1466901"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05234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33">
            <a:extLst>
              <a:ext uri="{FF2B5EF4-FFF2-40B4-BE49-F238E27FC236}">
                <a16:creationId xmlns:a16="http://schemas.microsoft.com/office/drawing/2014/main" id="{86DA347F-AA3A-4C85-BA53-489ED1BBA39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NumPy Array Data Structure for Optimal Computational Performance</a:t>
            </a:r>
          </a:p>
        </p:txBody>
      </p:sp>
      <p:sp>
        <p:nvSpPr>
          <p:cNvPr id="22" name="직사각형 133">
            <a:extLst>
              <a:ext uri="{FF2B5EF4-FFF2-40B4-BE49-F238E27FC236}">
                <a16:creationId xmlns:a16="http://schemas.microsoft.com/office/drawing/2014/main" id="{475F72F3-A457-49C1-B859-09245F327721}"/>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1.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25" name="그룹 24">
            <a:extLst>
              <a:ext uri="{FF2B5EF4-FFF2-40B4-BE49-F238E27FC236}">
                <a16:creationId xmlns:a16="http://schemas.microsoft.com/office/drawing/2014/main" id="{46E08036-8F3E-486A-B6C8-49F6930AC658}"/>
              </a:ext>
            </a:extLst>
          </p:cNvPr>
          <p:cNvGrpSpPr/>
          <p:nvPr/>
        </p:nvGrpSpPr>
        <p:grpSpPr>
          <a:xfrm>
            <a:off x="1025537" y="4628753"/>
            <a:ext cx="7851751" cy="1087349"/>
            <a:chOff x="1025537" y="4609703"/>
            <a:chExt cx="7851751" cy="1087349"/>
          </a:xfrm>
        </p:grpSpPr>
        <p:sp>
          <p:nvSpPr>
            <p:cNvPr id="31" name="직사각형 30">
              <a:extLst>
                <a:ext uri="{FF2B5EF4-FFF2-40B4-BE49-F238E27FC236}">
                  <a16:creationId xmlns:a16="http://schemas.microsoft.com/office/drawing/2014/main" id="{28AA8F4B-E0A0-449B-AEBE-4AFFD56BE13C}"/>
                </a:ext>
              </a:extLst>
            </p:cNvPr>
            <p:cNvSpPr/>
            <p:nvPr/>
          </p:nvSpPr>
          <p:spPr>
            <a:xfrm>
              <a:off x="1025537" y="4609703"/>
              <a:ext cx="4185332" cy="1087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1.1. NumPy Arrays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1.2. NumPy Array Basics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1.3. NumPy Array Operations</a:t>
              </a:r>
            </a:p>
          </p:txBody>
        </p:sp>
        <p:sp>
          <p:nvSpPr>
            <p:cNvPr id="32" name="직사각형 31">
              <a:extLst>
                <a:ext uri="{FF2B5EF4-FFF2-40B4-BE49-F238E27FC236}">
                  <a16:creationId xmlns:a16="http://schemas.microsoft.com/office/drawing/2014/main" id="{3A74E5AB-B7FC-4188-BB1E-85BC77A45DAD}"/>
                </a:ext>
              </a:extLst>
            </p:cNvPr>
            <p:cNvSpPr/>
            <p:nvPr/>
          </p:nvSpPr>
          <p:spPr>
            <a:xfrm>
              <a:off x="4691956" y="4609703"/>
              <a:ext cx="4185332" cy="681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457200" rtl="0" eaLnBrk="1" fontAlgn="auto" latinLnBrk="0" hangingPunct="1">
                <a:lnSpc>
                  <a:spcPct val="100000"/>
                </a:lnSpc>
                <a:spcBef>
                  <a:spcPts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1.4. NumPy Indexing and Slicing</a:t>
              </a:r>
            </a:p>
            <a:p>
              <a:pPr marL="176213" marR="0" lvl="0" indent="-176213" algn="l" defTabSz="457200" rtl="0" eaLnBrk="1" fontAlgn="auto" latinLnBrk="0" hangingPunct="1">
                <a:lnSpc>
                  <a:spcPct val="100000"/>
                </a:lnSpc>
                <a:spcBef>
                  <a:spcPts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1.5. Array Transposition and Axis Swap</a:t>
              </a:r>
            </a:p>
          </p:txBody>
        </p:sp>
      </p:grpSp>
    </p:spTree>
    <p:extLst>
      <p:ext uri="{BB962C8B-B14F-4D97-AF65-F5344CB8AC3E}">
        <p14:creationId xmlns:p14="http://schemas.microsoft.com/office/powerpoint/2010/main" val="3156653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Basic Operations</a:t>
            </a:r>
          </a:p>
        </p:txBody>
      </p:sp>
      <p:grpSp>
        <p:nvGrpSpPr>
          <p:cNvPr id="30" name="그룹 2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31" name="직사각형 3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marL="0" marR="0" lvl="0" indent="0" algn="l" defTabSz="457187" rtl="0" eaLnBrk="1" fontAlgn="auto" latinLnBrk="0" hangingPunct="1">
                <a:lnSpc>
                  <a:spcPct val="100000"/>
                </a:lnSpc>
                <a:spcBef>
                  <a:spcPts val="0"/>
                </a:spcBef>
                <a:spcAft>
                  <a:spcPts val="0"/>
                </a:spcAft>
                <a:buClrTx/>
                <a:buSzTx/>
                <a:buFontTx/>
                <a:buNone/>
                <a:tabLst/>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32" name="직사각형 3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sp>
        <p:nvSpPr>
          <p:cNvPr id="23" name="Rectangle 12">
            <a:extLst>
              <a:ext uri="{FF2B5EF4-FFF2-40B4-BE49-F238E27FC236}">
                <a16:creationId xmlns:a16="http://schemas.microsoft.com/office/drawing/2014/main" id="{39C1D0BA-7152-4AAC-B295-DCCB5F8378F4}"/>
              </a:ext>
            </a:extLst>
          </p:cNvPr>
          <p:cNvSpPr/>
          <p:nvPr/>
        </p:nvSpPr>
        <p:spPr>
          <a:xfrm>
            <a:off x="712182" y="2507754"/>
            <a:ext cx="8632824" cy="1956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this reason, popular machine learning and deep learning libraries, such as scikit-learn,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TensorFlow</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PyTorch</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etc., were all made based on NumPy.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is a summary of the characteristics of NumPy that we’ve learned so far. </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low-level, high-performance library implemented in C</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Supports fast, memory-effective multidimensional array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ndarray</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operations</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Supports various computational functions such as linear algebra, random number generator, Fourier transform, etc. </a:t>
            </a:r>
          </a:p>
        </p:txBody>
      </p:sp>
      <p:sp>
        <p:nvSpPr>
          <p:cNvPr id="10" name="직사각형 9">
            <a:extLst>
              <a:ext uri="{FF2B5EF4-FFF2-40B4-BE49-F238E27FC236}">
                <a16:creationId xmlns:a16="http://schemas.microsoft.com/office/drawing/2014/main" id="{6A76555F-7FF2-424D-A19D-33C90DF72AF5}"/>
              </a:ext>
            </a:extLst>
          </p:cNvPr>
          <p:cNvSpPr/>
          <p:nvPr/>
        </p:nvSpPr>
        <p:spPr>
          <a:xfrm>
            <a:off x="580388" y="1833801"/>
            <a:ext cx="878205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We learned earlier that the unique feature of the NumPy array operation is that data can be processed collectively without using a for loop statement, which is called vectorization. In this case, arithmetic operations between arrays of the same size are applied in each element unit of the array. </a:t>
            </a:r>
          </a:p>
        </p:txBody>
      </p:sp>
    </p:spTree>
    <p:extLst>
      <p:ext uri="{BB962C8B-B14F-4D97-AF65-F5344CB8AC3E}">
        <p14:creationId xmlns:p14="http://schemas.microsoft.com/office/powerpoint/2010/main" val="867976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B4209AC6-12C9-469F-B53F-EFACA4746B90}"/>
              </a:ext>
            </a:extLst>
          </p:cNvPr>
          <p:cNvGrpSpPr/>
          <p:nvPr/>
        </p:nvGrpSpPr>
        <p:grpSpPr>
          <a:xfrm>
            <a:off x="558396" y="1700808"/>
            <a:ext cx="8782050" cy="2113384"/>
            <a:chOff x="558396" y="1772816"/>
            <a:chExt cx="8782050" cy="2113384"/>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21133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419" r="17472"/>
            <a:stretch/>
          </p:blipFill>
          <p:spPr>
            <a:xfrm>
              <a:off x="723131" y="1822481"/>
              <a:ext cx="8616564" cy="1999254"/>
            </a:xfrm>
            <a:prstGeom prst="rect">
              <a:avLst/>
            </a:prstGeom>
          </p:spPr>
        </p:pic>
      </p:grpSp>
      <p:grpSp>
        <p:nvGrpSpPr>
          <p:cNvPr id="21" name="그룹 20"/>
          <p:cNvGrpSpPr/>
          <p:nvPr/>
        </p:nvGrpSpPr>
        <p:grpSpPr>
          <a:xfrm>
            <a:off x="558396" y="3918546"/>
            <a:ext cx="8782050" cy="726905"/>
            <a:chOff x="557644" y="5085183"/>
            <a:chExt cx="8782050" cy="726905"/>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72690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8" name="TextBox 2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a list, the + operator means connecting the given elements.</a:t>
              </a:r>
            </a:p>
          </p:txBody>
        </p:sp>
      </p:grpSp>
      <p:sp>
        <p:nvSpPr>
          <p:cNvPr id="15" name="직사각형 14">
            <a:extLst>
              <a:ext uri="{FF2B5EF4-FFF2-40B4-BE49-F238E27FC236}">
                <a16:creationId xmlns:a16="http://schemas.microsoft.com/office/drawing/2014/main" id="{CFCB4BBA-297B-41A5-849C-EFBB85CBB29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and NumPy Arrays: + Operator</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082159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1" name="그룹 20"/>
          <p:cNvGrpSpPr/>
          <p:nvPr/>
        </p:nvGrpSpPr>
        <p:grpSpPr>
          <a:xfrm>
            <a:off x="548119" y="3284959"/>
            <a:ext cx="8782050" cy="726905"/>
            <a:chOff x="557644" y="5085183"/>
            <a:chExt cx="8782050" cy="726905"/>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72690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8" name="TextBox 2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a NumPy array, each element is calculated. </a:t>
              </a:r>
            </a:p>
          </p:txBody>
        </p:sp>
      </p:grpSp>
      <p:grpSp>
        <p:nvGrpSpPr>
          <p:cNvPr id="3" name="그룹 2">
            <a:extLst>
              <a:ext uri="{FF2B5EF4-FFF2-40B4-BE49-F238E27FC236}">
                <a16:creationId xmlns:a16="http://schemas.microsoft.com/office/drawing/2014/main" id="{7D98267D-2BD7-441F-BFAA-DB90DBE7233C}"/>
              </a:ext>
            </a:extLst>
          </p:cNvPr>
          <p:cNvGrpSpPr/>
          <p:nvPr/>
        </p:nvGrpSpPr>
        <p:grpSpPr>
          <a:xfrm>
            <a:off x="558396" y="1700808"/>
            <a:ext cx="8782050" cy="1512168"/>
            <a:chOff x="558396" y="1772816"/>
            <a:chExt cx="8782050" cy="1512168"/>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151216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692" r="21863"/>
            <a:stretch/>
          </p:blipFill>
          <p:spPr>
            <a:xfrm>
              <a:off x="670173" y="1847017"/>
              <a:ext cx="8669522" cy="1365959"/>
            </a:xfrm>
            <a:prstGeom prst="rect">
              <a:avLst/>
            </a:prstGeom>
          </p:spPr>
        </p:pic>
      </p:grpSp>
      <p:sp>
        <p:nvSpPr>
          <p:cNvPr id="15" name="직사각형 14">
            <a:extLst>
              <a:ext uri="{FF2B5EF4-FFF2-40B4-BE49-F238E27FC236}">
                <a16:creationId xmlns:a16="http://schemas.microsoft.com/office/drawing/2014/main" id="{ADC64C44-A4A1-49B8-84E0-12FF8FABED0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and NumPy Arrays: + Operator</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2675853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71F6C6A8-3A39-4C96-9343-7D4930DE2B5C}"/>
              </a:ext>
            </a:extLst>
          </p:cNvPr>
          <p:cNvGrpSpPr/>
          <p:nvPr/>
        </p:nvGrpSpPr>
        <p:grpSpPr>
          <a:xfrm>
            <a:off x="558396" y="1916832"/>
            <a:ext cx="8782051" cy="4392488"/>
            <a:chOff x="558396" y="1979401"/>
            <a:chExt cx="8782051" cy="4392488"/>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979401"/>
              <a:ext cx="8782050" cy="43924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088" r="14290"/>
            <a:stretch/>
          </p:blipFill>
          <p:spPr>
            <a:xfrm>
              <a:off x="685801" y="2084418"/>
              <a:ext cx="8654646" cy="4203432"/>
            </a:xfrm>
            <a:prstGeom prst="rect">
              <a:avLst/>
            </a:prstGeom>
          </p:spPr>
        </p:pic>
      </p:grpSp>
      <p:sp>
        <p:nvSpPr>
          <p:cNvPr id="10" name="직사각형 9">
            <a:extLst>
              <a:ext uri="{FF2B5EF4-FFF2-40B4-BE49-F238E27FC236}">
                <a16:creationId xmlns:a16="http://schemas.microsoft.com/office/drawing/2014/main" id="{70BDCA2E-00E3-4689-9B0E-59AE17399794}"/>
              </a:ext>
            </a:extLst>
          </p:cNvPr>
          <p:cNvSpPr/>
          <p:nvPr/>
        </p:nvSpPr>
        <p:spPr>
          <a:xfrm>
            <a:off x="580388" y="1413381"/>
            <a:ext cx="8887612"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If the shape of the array is the same, you can perform addition, subtraction, multiplication, and division operations.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691772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56CF2D2D-E2F1-462C-AE28-24D7A4229175}"/>
              </a:ext>
            </a:extLst>
          </p:cNvPr>
          <p:cNvGrpSpPr/>
          <p:nvPr/>
        </p:nvGrpSpPr>
        <p:grpSpPr>
          <a:xfrm>
            <a:off x="558396" y="1700808"/>
            <a:ext cx="8782050" cy="1941934"/>
            <a:chOff x="558396" y="1772816"/>
            <a:chExt cx="8782050" cy="1941934"/>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194193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1040"/>
            <a:stretch/>
          </p:blipFill>
          <p:spPr>
            <a:xfrm>
              <a:off x="578833" y="1846674"/>
              <a:ext cx="8760861" cy="1798349"/>
            </a:xfrm>
            <a:prstGeom prst="rect">
              <a:avLst/>
            </a:prstGeom>
          </p:spPr>
        </p:pic>
      </p:grpSp>
      <p:grpSp>
        <p:nvGrpSpPr>
          <p:cNvPr id="3" name="그룹 2">
            <a:extLst>
              <a:ext uri="{FF2B5EF4-FFF2-40B4-BE49-F238E27FC236}">
                <a16:creationId xmlns:a16="http://schemas.microsoft.com/office/drawing/2014/main" id="{1B8BA689-6693-4145-AF08-B1E7FCB783E1}"/>
              </a:ext>
            </a:extLst>
          </p:cNvPr>
          <p:cNvGrpSpPr/>
          <p:nvPr/>
        </p:nvGrpSpPr>
        <p:grpSpPr>
          <a:xfrm>
            <a:off x="557644" y="3714724"/>
            <a:ext cx="8782050" cy="1226443"/>
            <a:chOff x="557644" y="4301721"/>
            <a:chExt cx="8782050" cy="1226443"/>
          </a:xfrm>
        </p:grpSpPr>
        <p:grpSp>
          <p:nvGrpSpPr>
            <p:cNvPr id="11" name="그룹 10"/>
            <p:cNvGrpSpPr/>
            <p:nvPr/>
          </p:nvGrpSpPr>
          <p:grpSpPr>
            <a:xfrm>
              <a:off x="557644" y="4301721"/>
              <a:ext cx="8782050" cy="1226443"/>
              <a:chOff x="557644" y="5085182"/>
              <a:chExt cx="8782050" cy="1226443"/>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122644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a list, the * operator means repetition.</a:t>
                </a:r>
              </a:p>
            </p:txBody>
          </p:sp>
        </p:gr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93300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18992" y="491027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19632" y="524516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Multiplication in a NumPy array returns the multiplication result of each element.</a:t>
              </a:r>
            </a:p>
          </p:txBody>
        </p:sp>
      </p:grpSp>
      <p:sp>
        <p:nvSpPr>
          <p:cNvPr id="19" name="직사각형 18">
            <a:extLst>
              <a:ext uri="{FF2B5EF4-FFF2-40B4-BE49-F238E27FC236}">
                <a16:creationId xmlns:a16="http://schemas.microsoft.com/office/drawing/2014/main" id="{7560F508-ADFB-42B8-9511-99388EB09E3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Comparing Python Lists and NumPy Arrays: Multiplication</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014984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7" name="그룹 6">
            <a:extLst>
              <a:ext uri="{FF2B5EF4-FFF2-40B4-BE49-F238E27FC236}">
                <a16:creationId xmlns:a16="http://schemas.microsoft.com/office/drawing/2014/main" id="{A17FF4FC-551F-422F-A534-1C4FFDE2A193}"/>
              </a:ext>
            </a:extLst>
          </p:cNvPr>
          <p:cNvGrpSpPr/>
          <p:nvPr/>
        </p:nvGrpSpPr>
        <p:grpSpPr>
          <a:xfrm>
            <a:off x="557644" y="4088742"/>
            <a:ext cx="8782050" cy="1337432"/>
            <a:chOff x="557644" y="4491868"/>
            <a:chExt cx="8782050" cy="1337432"/>
          </a:xfrm>
        </p:grpSpPr>
        <p:grpSp>
          <p:nvGrpSpPr>
            <p:cNvPr id="11" name="그룹 10"/>
            <p:cNvGrpSpPr/>
            <p:nvPr/>
          </p:nvGrpSpPr>
          <p:grpSpPr>
            <a:xfrm>
              <a:off x="557644" y="4491868"/>
              <a:ext cx="8782050" cy="1337432"/>
              <a:chOff x="557644" y="5085183"/>
              <a:chExt cx="8782050" cy="133743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13374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NumPy, the repeat method is used to repeat each element.</a:t>
                </a:r>
              </a:p>
            </p:txBody>
          </p:sp>
        </p:gr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221039"/>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18992" y="5198307"/>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19632" y="553320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NumPy, the tile method is used for repeating the array.</a:t>
              </a:r>
            </a:p>
          </p:txBody>
        </p:sp>
      </p:grpSp>
      <p:sp>
        <p:nvSpPr>
          <p:cNvPr id="19" name="직사각형 18">
            <a:extLst>
              <a:ext uri="{FF2B5EF4-FFF2-40B4-BE49-F238E27FC236}">
                <a16:creationId xmlns:a16="http://schemas.microsoft.com/office/drawing/2014/main" id="{8E693F57-4752-4A26-BCF4-A5FEFDC5C4E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repeat &amp; tile</a:t>
            </a:r>
            <a:endParaRPr lang="ko-KR" altLang="en-US" sz="1400" dirty="0">
              <a:solidFill>
                <a:schemeClr val="tx1"/>
              </a:solidFill>
              <a:latin typeface="SamsungOne 400" panose="020B0503030303020204" pitchFamily="34" charset="0"/>
            </a:endParaRPr>
          </a:p>
        </p:txBody>
      </p:sp>
      <p:grpSp>
        <p:nvGrpSpPr>
          <p:cNvPr id="4" name="그룹 3">
            <a:extLst>
              <a:ext uri="{FF2B5EF4-FFF2-40B4-BE49-F238E27FC236}">
                <a16:creationId xmlns:a16="http://schemas.microsoft.com/office/drawing/2014/main" id="{6667501E-FBB4-4847-A13B-11B0D04CFE81}"/>
              </a:ext>
            </a:extLst>
          </p:cNvPr>
          <p:cNvGrpSpPr/>
          <p:nvPr/>
        </p:nvGrpSpPr>
        <p:grpSpPr>
          <a:xfrm>
            <a:off x="558396" y="1700808"/>
            <a:ext cx="8782050" cy="2284750"/>
            <a:chOff x="558396" y="1700808"/>
            <a:chExt cx="8782050" cy="2284750"/>
          </a:xfrm>
        </p:grpSpPr>
        <p:grpSp>
          <p:nvGrpSpPr>
            <p:cNvPr id="2" name="그룹 1">
              <a:extLst>
                <a:ext uri="{FF2B5EF4-FFF2-40B4-BE49-F238E27FC236}">
                  <a16:creationId xmlns:a16="http://schemas.microsoft.com/office/drawing/2014/main" id="{0D174889-A96E-4B2F-8880-C76F6E95F6D4}"/>
                </a:ext>
              </a:extLst>
            </p:cNvPr>
            <p:cNvGrpSpPr/>
            <p:nvPr/>
          </p:nvGrpSpPr>
          <p:grpSpPr>
            <a:xfrm>
              <a:off x="558396" y="1700808"/>
              <a:ext cx="8782050" cy="2284750"/>
              <a:chOff x="558396" y="1772816"/>
              <a:chExt cx="8782050" cy="2284750"/>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228475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5"/>
              <a:srcRect r="17291"/>
              <a:stretch/>
            </p:blipFill>
            <p:spPr>
              <a:xfrm>
                <a:off x="578833" y="1829952"/>
                <a:ext cx="8760862" cy="2157859"/>
              </a:xfrm>
              <a:prstGeom prst="rect">
                <a:avLst/>
              </a:prstGeom>
            </p:spPr>
          </p:pic>
        </p:grpSp>
        <p:sp>
          <p:nvSpPr>
            <p:cNvPr id="20" name="직사각형 19">
              <a:extLst>
                <a:ext uri="{FF2B5EF4-FFF2-40B4-BE49-F238E27FC236}">
                  <a16:creationId xmlns:a16="http://schemas.microsoft.com/office/drawing/2014/main" id="{98C89599-2D31-4346-B04C-D914646E86C1}"/>
                </a:ext>
              </a:extLst>
            </p:cNvPr>
            <p:cNvSpPr/>
            <p:nvPr/>
          </p:nvSpPr>
          <p:spPr>
            <a:xfrm>
              <a:off x="2575148" y="2602634"/>
              <a:ext cx="5040560"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직사각형 20">
              <a:extLst>
                <a:ext uri="{FF2B5EF4-FFF2-40B4-BE49-F238E27FC236}">
                  <a16:creationId xmlns:a16="http://schemas.microsoft.com/office/drawing/2014/main" id="{84ED791D-F15B-4A87-93ED-89F0931B28C1}"/>
                </a:ext>
              </a:extLst>
            </p:cNvPr>
            <p:cNvSpPr/>
            <p:nvPr/>
          </p:nvSpPr>
          <p:spPr>
            <a:xfrm>
              <a:off x="2428389" y="3328493"/>
              <a:ext cx="5040560" cy="2636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27135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83106C8D-92A8-4F0D-AF3F-47DA474D3C83}"/>
              </a:ext>
            </a:extLst>
          </p:cNvPr>
          <p:cNvGrpSpPr/>
          <p:nvPr/>
        </p:nvGrpSpPr>
        <p:grpSpPr>
          <a:xfrm>
            <a:off x="558396" y="1700808"/>
            <a:ext cx="8782050" cy="3675484"/>
            <a:chOff x="558396" y="1772816"/>
            <a:chExt cx="8782050" cy="3675484"/>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36754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860"/>
            <a:stretch/>
          </p:blipFill>
          <p:spPr>
            <a:xfrm>
              <a:off x="569308" y="1857821"/>
              <a:ext cx="8771138" cy="3515369"/>
            </a:xfrm>
            <a:prstGeom prst="rect">
              <a:avLst/>
            </a:prstGeom>
          </p:spPr>
        </p:pic>
      </p:grpSp>
      <p:sp>
        <p:nvSpPr>
          <p:cNvPr id="10" name="직사각형 9">
            <a:extLst>
              <a:ext uri="{FF2B5EF4-FFF2-40B4-BE49-F238E27FC236}">
                <a16:creationId xmlns:a16="http://schemas.microsoft.com/office/drawing/2014/main" id="{2965B147-44E6-448B-AD1E-253CDE25202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When using the tile method, the array can be repeated into a two-dimensional form.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2724457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1410F01D-3ECD-41CA-A6F7-4CF1F29A982A}"/>
              </a:ext>
            </a:extLst>
          </p:cNvPr>
          <p:cNvGrpSpPr/>
          <p:nvPr/>
        </p:nvGrpSpPr>
        <p:grpSpPr>
          <a:xfrm>
            <a:off x="558396" y="1700808"/>
            <a:ext cx="8782050" cy="1584176"/>
            <a:chOff x="558396" y="1772816"/>
            <a:chExt cx="8782050" cy="1584176"/>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772816"/>
              <a:ext cx="8782050" cy="15841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1782"/>
            <a:stretch/>
          </p:blipFill>
          <p:spPr>
            <a:xfrm>
              <a:off x="578833" y="1802532"/>
              <a:ext cx="8761613" cy="1482452"/>
            </a:xfrm>
            <a:prstGeom prst="rect">
              <a:avLst/>
            </a:prstGeom>
          </p:spPr>
        </p:pic>
      </p:grpSp>
      <p:grpSp>
        <p:nvGrpSpPr>
          <p:cNvPr id="5" name="그룹 4">
            <a:extLst>
              <a:ext uri="{FF2B5EF4-FFF2-40B4-BE49-F238E27FC236}">
                <a16:creationId xmlns:a16="http://schemas.microsoft.com/office/drawing/2014/main" id="{AFE47FA8-DA27-4C1E-9481-87C476798A9A}"/>
              </a:ext>
            </a:extLst>
          </p:cNvPr>
          <p:cNvGrpSpPr/>
          <p:nvPr/>
        </p:nvGrpSpPr>
        <p:grpSpPr>
          <a:xfrm>
            <a:off x="558924" y="3429000"/>
            <a:ext cx="8782050" cy="880065"/>
            <a:chOff x="558924" y="3917087"/>
            <a:chExt cx="8782050" cy="880065"/>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3917087"/>
              <a:ext cx="8782050" cy="88006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25012"/>
            <a:stretch/>
          </p:blipFill>
          <p:spPr>
            <a:xfrm>
              <a:off x="588358" y="4004902"/>
              <a:ext cx="8752088" cy="720241"/>
            </a:xfrm>
            <a:prstGeom prst="rect">
              <a:avLst/>
            </a:prstGeom>
          </p:spPr>
        </p:pic>
      </p:grpSp>
      <p:sp>
        <p:nvSpPr>
          <p:cNvPr id="15" name="직사각형 14">
            <a:extLst>
              <a:ext uri="{FF2B5EF4-FFF2-40B4-BE49-F238E27FC236}">
                <a16:creationId xmlns:a16="http://schemas.microsoft.com/office/drawing/2014/main" id="{2ECD1E63-ABCB-4D99-8D4F-EBF44D0990C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Arrays can also perform exponential operations.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014371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3A568332-2E4E-4337-BCA7-EA3856B69B9A}"/>
              </a:ext>
            </a:extLst>
          </p:cNvPr>
          <p:cNvGrpSpPr/>
          <p:nvPr/>
        </p:nvGrpSpPr>
        <p:grpSpPr>
          <a:xfrm>
            <a:off x="558396" y="1988840"/>
            <a:ext cx="8782050" cy="2448272"/>
            <a:chOff x="558396" y="1988840"/>
            <a:chExt cx="8782050" cy="2448272"/>
          </a:xfrm>
        </p:grpSpPr>
        <p:sp>
          <p:nvSpPr>
            <p:cNvPr id="9" name="모서리가 둥근 직사각형 4">
              <a:extLst>
                <a:ext uri="{FF2B5EF4-FFF2-40B4-BE49-F238E27FC236}">
                  <a16:creationId xmlns:a16="http://schemas.microsoft.com/office/drawing/2014/main" id="{A36E3BA1-83BF-4EF9-8B22-BB45DE7AA1FC}"/>
                </a:ext>
              </a:extLst>
            </p:cNvPr>
            <p:cNvSpPr/>
            <p:nvPr/>
          </p:nvSpPr>
          <p:spPr>
            <a:xfrm>
              <a:off x="558396" y="1988840"/>
              <a:ext cx="8782050" cy="244827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7678"/>
            <a:stretch/>
          </p:blipFill>
          <p:spPr>
            <a:xfrm>
              <a:off x="616933" y="2056656"/>
              <a:ext cx="8723513" cy="2308448"/>
            </a:xfrm>
            <a:prstGeom prst="rect">
              <a:avLst/>
            </a:prstGeom>
          </p:spPr>
        </p:pic>
      </p:grpSp>
      <p:sp>
        <p:nvSpPr>
          <p:cNvPr id="10" name="직사각형 9">
            <a:extLst>
              <a:ext uri="{FF2B5EF4-FFF2-40B4-BE49-F238E27FC236}">
                <a16:creationId xmlns:a16="http://schemas.microsoft.com/office/drawing/2014/main" id="{5290ADEF-4E00-4EA3-AD5B-5DF884DBC601}"/>
              </a:ext>
            </a:extLst>
          </p:cNvPr>
          <p:cNvSpPr/>
          <p:nvPr/>
        </p:nvSpPr>
        <p:spPr>
          <a:xfrm>
            <a:off x="580388" y="1413381"/>
            <a:ext cx="8887612"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array can also perform comparison operations. After checking whether each element matches the conditions, it returns True if there is a match and False if otherwise. </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814495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68C7B091-389E-4524-BA4F-A928DBA43A90}"/>
              </a:ext>
            </a:extLst>
          </p:cNvPr>
          <p:cNvGrpSpPr/>
          <p:nvPr/>
        </p:nvGrpSpPr>
        <p:grpSpPr>
          <a:xfrm>
            <a:off x="558396" y="2060848"/>
            <a:ext cx="8782050" cy="2105769"/>
            <a:chOff x="558396" y="2132855"/>
            <a:chExt cx="8782050" cy="210576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396" y="2132855"/>
              <a:ext cx="8782050" cy="210576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2550"/>
            <a:stretch/>
          </p:blipFill>
          <p:spPr>
            <a:xfrm>
              <a:off x="596901" y="2210197"/>
              <a:ext cx="8743545" cy="1938883"/>
            </a:xfrm>
            <a:prstGeom prst="rect">
              <a:avLst/>
            </a:prstGeom>
          </p:spPr>
        </p:pic>
      </p:grpSp>
      <p:sp>
        <p:nvSpPr>
          <p:cNvPr id="2" name="Rectangle 1">
            <a:extLst>
              <a:ext uri="{FF2B5EF4-FFF2-40B4-BE49-F238E27FC236}">
                <a16:creationId xmlns:a16="http://schemas.microsoft.com/office/drawing/2014/main" id="{61DD5657-9923-C248-A1F3-09517A3D96DD}"/>
              </a:ext>
            </a:extLst>
          </p:cNvPr>
          <p:cNvSpPr/>
          <p:nvPr/>
        </p:nvSpPr>
        <p:spPr>
          <a:xfrm>
            <a:off x="3210903" y="3244334"/>
            <a:ext cx="3547766" cy="369332"/>
          </a:xfrm>
          <a:prstGeom prst="rect">
            <a:avLst/>
          </a:prstGeom>
        </p:spPr>
        <p:txBody>
          <a:bodyPr wrap="none">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grpSp>
        <p:nvGrpSpPr>
          <p:cNvPr id="5" name="그룹 4">
            <a:extLst>
              <a:ext uri="{FF2B5EF4-FFF2-40B4-BE49-F238E27FC236}">
                <a16:creationId xmlns:a16="http://schemas.microsoft.com/office/drawing/2014/main" id="{FFA0F0E5-DB18-4C83-BA86-7B3C302B3830}"/>
              </a:ext>
            </a:extLst>
          </p:cNvPr>
          <p:cNvGrpSpPr/>
          <p:nvPr/>
        </p:nvGrpSpPr>
        <p:grpSpPr>
          <a:xfrm>
            <a:off x="580388" y="1413381"/>
            <a:ext cx="8887612" cy="579930"/>
            <a:chOff x="580388" y="1413381"/>
            <a:chExt cx="8887612" cy="579930"/>
          </a:xfrm>
        </p:grpSpPr>
        <p:sp>
          <p:nvSpPr>
            <p:cNvPr id="10" name="Rectangle 12">
              <a:extLst>
                <a:ext uri="{FF2B5EF4-FFF2-40B4-BE49-F238E27FC236}">
                  <a16:creationId xmlns:a16="http://schemas.microsoft.com/office/drawing/2014/main" id="{39C1D0BA-7152-4AAC-B295-DCCB5F8378F4}"/>
                </a:ext>
              </a:extLst>
            </p:cNvPr>
            <p:cNvSpPr/>
            <p:nvPr/>
          </p:nvSpPr>
          <p:spPr>
            <a:xfrm>
              <a:off x="711201" y="164785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Universal functions operate element by element on whole arrays. See help(np.ufunc)</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for more detail.</a:t>
              </a:r>
            </a:p>
          </p:txBody>
        </p:sp>
        <p:sp>
          <p:nvSpPr>
            <p:cNvPr id="12" name="직사각형 11">
              <a:extLst>
                <a:ext uri="{FF2B5EF4-FFF2-40B4-BE49-F238E27FC236}">
                  <a16:creationId xmlns:a16="http://schemas.microsoft.com/office/drawing/2014/main" id="{181E46CD-8BA6-4F4D-B7B2-E9A46C553F5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Universal Functions (1/3)</a:t>
              </a:r>
              <a:endParaRPr lang="ko-KR" altLang="en-US" sz="1400" dirty="0">
                <a:solidFill>
                  <a:schemeClr val="tx1"/>
                </a:solidFill>
                <a:latin typeface="SamsungOne 400" panose="020B0503030303020204" pitchFamily="34" charset="0"/>
              </a:endParaRPr>
            </a:p>
          </p:txBody>
        </p:sp>
      </p:grpSp>
    </p:spTree>
    <p:extLst>
      <p:ext uri="{BB962C8B-B14F-4D97-AF65-F5344CB8AC3E}">
        <p14:creationId xmlns:p14="http://schemas.microsoft.com/office/powerpoint/2010/main" val="62893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aphicFrame>
        <p:nvGraphicFramePr>
          <p:cNvPr id="12" name="Table 10">
            <a:extLst>
              <a:ext uri="{FF2B5EF4-FFF2-40B4-BE49-F238E27FC236}">
                <a16:creationId xmlns:a16="http://schemas.microsoft.com/office/drawing/2014/main" id="{DF6BF1FD-2805-41C0-B027-5478F62953C8}"/>
              </a:ext>
            </a:extLst>
          </p:cNvPr>
          <p:cNvGraphicFramePr>
            <a:graphicFrameLocks noGrp="1"/>
          </p:cNvGraphicFramePr>
          <p:nvPr>
            <p:extLst>
              <p:ext uri="{D42A27DB-BD31-4B8C-83A1-F6EECF244321}">
                <p14:modId xmlns:p14="http://schemas.microsoft.com/office/powerpoint/2010/main" val="980742712"/>
              </p:ext>
            </p:extLst>
          </p:nvPr>
        </p:nvGraphicFramePr>
        <p:xfrm>
          <a:off x="710185" y="2017762"/>
          <a:ext cx="8632824" cy="3556856"/>
        </p:xfrm>
        <a:graphic>
          <a:graphicData uri="http://schemas.openxmlformats.org/drawingml/2006/table">
            <a:tbl>
              <a:tblPr firstRow="1" bandRow="1">
                <a:tableStyleId>{5940675A-B579-460E-94D1-54222C63F5DA}</a:tableStyleId>
              </a:tblPr>
              <a:tblGrid>
                <a:gridCol w="2646760">
                  <a:extLst>
                    <a:ext uri="{9D8B030D-6E8A-4147-A177-3AD203B41FA5}">
                      <a16:colId xmlns:a16="http://schemas.microsoft.com/office/drawing/2014/main" val="20000"/>
                    </a:ext>
                  </a:extLst>
                </a:gridCol>
                <a:gridCol w="4041701">
                  <a:extLst>
                    <a:ext uri="{9D8B030D-6E8A-4147-A177-3AD203B41FA5}">
                      <a16:colId xmlns:a16="http://schemas.microsoft.com/office/drawing/2014/main" val="20001"/>
                    </a:ext>
                  </a:extLst>
                </a:gridCol>
                <a:gridCol w="1944363">
                  <a:extLst>
                    <a:ext uri="{9D8B030D-6E8A-4147-A177-3AD203B41FA5}">
                      <a16:colId xmlns:a16="http://schemas.microsoft.com/office/drawing/2014/main" val="20002"/>
                    </a:ext>
                  </a:extLst>
                </a:gridCol>
              </a:tblGrid>
              <a:tr h="288392">
                <a:tc>
                  <a:txBody>
                    <a:bodyPr/>
                    <a:lstStyle/>
                    <a:p>
                      <a:pPr marL="0" algn="ctr" defTabSz="914400" rtl="0" eaLnBrk="1" latinLnBrk="1" hangingPunct="1"/>
                      <a:r>
                        <a:rPr lang="en-US" sz="12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Function</a:t>
                      </a:r>
                    </a:p>
                  </a:txBody>
                  <a:tcPr marT="0" marB="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algn="ctr" defTabSz="914400" rtl="0" eaLnBrk="1" latinLnBrk="1" hangingPunct="1"/>
                      <a:r>
                        <a:rPr lang="en-US" sz="12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algn="ctr" defTabSz="914400" rtl="0" eaLnBrk="1" latinLnBrk="1" hangingPunct="1"/>
                      <a:r>
                        <a:rPr lang="en-US" sz="12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Universal function?</a:t>
                      </a:r>
                    </a:p>
                  </a:txBody>
                  <a:tcPr marT="0" marB="0"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0"/>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sin, cos, tan</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Trigonometric functions</a:t>
                      </a:r>
                      <a:endPar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arcsin, arccos, arctan</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Inverse trigonometric functions</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round</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Round to a given number of decimals</a:t>
                      </a:r>
                      <a:endPar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floor</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nearest smaller integer</a:t>
                      </a:r>
                      <a:endPar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ceil</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nearest greater integer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fix</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nearest integer closer to 0</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prod</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product of the array elements</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cumsum</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cumulative sums of an array</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72372">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sum, mean, var, std, median</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Statistical functions</a:t>
                      </a:r>
                      <a:endPar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exp, log</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Exponential and logarithmic functions</a:t>
                      </a:r>
                      <a:endPar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Yes</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unique</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Returns the unique values of an array</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272372">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 max, argmax, argmin</a:t>
                      </a:r>
                    </a:p>
                  </a:txBody>
                  <a:tcPr marT="0"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Minimum, maximum, and the corresponding indices</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1" hangingPunct="1"/>
                      <a:r>
                        <a:rPr 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a:t>
                      </a:r>
                    </a:p>
                  </a:txBody>
                  <a:tcPr marT="0" marB="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sp>
        <p:nvSpPr>
          <p:cNvPr id="13" name="사각형: 둥근 모서리 32">
            <a:extLst>
              <a:ext uri="{FF2B5EF4-FFF2-40B4-BE49-F238E27FC236}">
                <a16:creationId xmlns:a16="http://schemas.microsoft.com/office/drawing/2014/main" id="{9F9FFF6C-7C72-4E08-8072-03F5113CBF51}"/>
              </a:ext>
            </a:extLst>
          </p:cNvPr>
          <p:cNvSpPr/>
          <p:nvPr/>
        </p:nvSpPr>
        <p:spPr>
          <a:xfrm>
            <a:off x="691607" y="5677594"/>
            <a:ext cx="3321594" cy="199678"/>
          </a:xfrm>
          <a:prstGeom prst="roundRect">
            <a:avLst>
              <a:gd name="adj" fmla="val 50000"/>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scene3d>
              <a:camera prst="orthographicFront"/>
              <a:lightRig rig="threePt" dir="t"/>
            </a:scene3d>
            <a:sp3d>
              <a:bevelT w="0" h="6350"/>
              <a:bevelB w="0" h="0"/>
            </a:sp3d>
          </a:bodyPr>
          <a:lstStyle/>
          <a:p>
            <a:pPr algn="ctr">
              <a:spcAft>
                <a:spcPts val="600"/>
              </a:spcAft>
            </a:pPr>
            <a:r>
              <a:rPr lang="en-US" altLang="ko-KR" sz="1050" b="1" dirty="0">
                <a:solidFill>
                  <a:schemeClr val="bg1"/>
                </a:solidFill>
                <a:latin typeface="SamsungOne 400" panose="020B0503030303020204" pitchFamily="34" charset="0"/>
                <a:ea typeface="SamsungOne 400" panose="020B0503030303020204" pitchFamily="34" charset="0"/>
              </a:rPr>
              <a:t>https://docs.scipy.org/doc/NumPy-1.17.0/reference/</a:t>
            </a:r>
          </a:p>
        </p:txBody>
      </p:sp>
      <p:grpSp>
        <p:nvGrpSpPr>
          <p:cNvPr id="11" name="그룹 10">
            <a:extLst>
              <a:ext uri="{FF2B5EF4-FFF2-40B4-BE49-F238E27FC236}">
                <a16:creationId xmlns:a16="http://schemas.microsoft.com/office/drawing/2014/main" id="{9CEDF429-2A49-493D-8D07-B66BFEF7AE84}"/>
              </a:ext>
            </a:extLst>
          </p:cNvPr>
          <p:cNvGrpSpPr/>
          <p:nvPr/>
        </p:nvGrpSpPr>
        <p:grpSpPr>
          <a:xfrm>
            <a:off x="580388" y="1413381"/>
            <a:ext cx="8887612" cy="579930"/>
            <a:chOff x="580388" y="1413381"/>
            <a:chExt cx="8887612" cy="579930"/>
          </a:xfrm>
        </p:grpSpPr>
        <p:sp>
          <p:nvSpPr>
            <p:cNvPr id="15" name="Rectangle 12">
              <a:extLst>
                <a:ext uri="{FF2B5EF4-FFF2-40B4-BE49-F238E27FC236}">
                  <a16:creationId xmlns:a16="http://schemas.microsoft.com/office/drawing/2014/main" id="{0199D1B5-7C73-4750-AEB2-FD14649E431E}"/>
                </a:ext>
              </a:extLst>
            </p:cNvPr>
            <p:cNvSpPr/>
            <p:nvPr/>
          </p:nvSpPr>
          <p:spPr>
            <a:xfrm>
              <a:off x="711201" y="164785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 </a:t>
              </a:r>
            </a:p>
          </p:txBody>
        </p:sp>
        <p:sp>
          <p:nvSpPr>
            <p:cNvPr id="16" name="직사각형 15">
              <a:extLst>
                <a:ext uri="{FF2B5EF4-FFF2-40B4-BE49-F238E27FC236}">
                  <a16:creationId xmlns:a16="http://schemas.microsoft.com/office/drawing/2014/main" id="{4C4AC2E6-CD39-469F-A20B-DAEF3AF5ADA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Universal Functions (2/3)</a:t>
              </a:r>
              <a:endParaRPr lang="ko-KR" altLang="en-US" sz="1400" dirty="0">
                <a:solidFill>
                  <a:schemeClr val="tx1"/>
                </a:solidFill>
                <a:latin typeface="SamsungOne 400" panose="020B0503030303020204" pitchFamily="34" charset="0"/>
              </a:endParaRPr>
            </a:p>
          </p:txBody>
        </p:sp>
      </p:grpSp>
    </p:spTree>
    <p:extLst>
      <p:ext uri="{BB962C8B-B14F-4D97-AF65-F5344CB8AC3E}">
        <p14:creationId xmlns:p14="http://schemas.microsoft.com/office/powerpoint/2010/main" val="548084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sp>
        <p:nvSpPr>
          <p:cNvPr id="13" name="사각형: 둥근 모서리 32">
            <a:extLst>
              <a:ext uri="{FF2B5EF4-FFF2-40B4-BE49-F238E27FC236}">
                <a16:creationId xmlns:a16="http://schemas.microsoft.com/office/drawing/2014/main" id="{9F9FFF6C-7C72-4E08-8072-03F5113CBF51}"/>
              </a:ext>
            </a:extLst>
          </p:cNvPr>
          <p:cNvSpPr/>
          <p:nvPr/>
        </p:nvSpPr>
        <p:spPr>
          <a:xfrm>
            <a:off x="709167" y="4559914"/>
            <a:ext cx="3241676" cy="223780"/>
          </a:xfrm>
          <a:prstGeom prst="roundRect">
            <a:avLst>
              <a:gd name="adj" fmla="val 50000"/>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scene3d>
              <a:camera prst="orthographicFront"/>
              <a:lightRig rig="threePt" dir="t"/>
            </a:scene3d>
            <a:sp3d>
              <a:bevelT w="0" h="6350"/>
              <a:bevelB w="0" h="0"/>
            </a:sp3d>
          </a:bodyPr>
          <a:lstStyle/>
          <a:p>
            <a:pPr algn="ctr">
              <a:spcAft>
                <a:spcPts val="600"/>
              </a:spcAft>
            </a:pPr>
            <a:r>
              <a:rPr lang="en-US" altLang="ko-KR" sz="1050" b="1" dirty="0">
                <a:solidFill>
                  <a:schemeClr val="bg1"/>
                </a:solidFill>
                <a:latin typeface="SamsungOne 400" panose="020B0503030303020204" pitchFamily="34" charset="0"/>
                <a:ea typeface="SamsungOne 400" panose="020B0503030303020204" pitchFamily="34" charset="0"/>
              </a:rPr>
              <a:t>https://docs.scipy.org/doc/NumPy-1.17.0/reference/</a:t>
            </a:r>
          </a:p>
        </p:txBody>
      </p:sp>
      <p:graphicFrame>
        <p:nvGraphicFramePr>
          <p:cNvPr id="10" name="Table 11">
            <a:extLst>
              <a:ext uri="{FF2B5EF4-FFF2-40B4-BE49-F238E27FC236}">
                <a16:creationId xmlns:a16="http://schemas.microsoft.com/office/drawing/2014/main" id="{DF5D9247-ECDF-43B1-8FDD-FDB1912A4B74}"/>
              </a:ext>
            </a:extLst>
          </p:cNvPr>
          <p:cNvGraphicFramePr>
            <a:graphicFrameLocks noGrp="1"/>
          </p:cNvGraphicFramePr>
          <p:nvPr>
            <p:extLst>
              <p:ext uri="{D42A27DB-BD31-4B8C-83A1-F6EECF244321}">
                <p14:modId xmlns:p14="http://schemas.microsoft.com/office/powerpoint/2010/main" val="2635560540"/>
              </p:ext>
            </p:extLst>
          </p:nvPr>
        </p:nvGraphicFramePr>
        <p:xfrm>
          <a:off x="709167" y="2060848"/>
          <a:ext cx="8632824" cy="2331720"/>
        </p:xfrm>
        <a:graphic>
          <a:graphicData uri="http://schemas.openxmlformats.org/drawingml/2006/table">
            <a:tbl>
              <a:tblPr firstRow="1" bandRow="1">
                <a:tableStyleId>{5940675A-B579-460E-94D1-54222C63F5DA}</a:tableStyleId>
              </a:tblPr>
              <a:tblGrid>
                <a:gridCol w="3559507">
                  <a:extLst>
                    <a:ext uri="{9D8B030D-6E8A-4147-A177-3AD203B41FA5}">
                      <a16:colId xmlns:a16="http://schemas.microsoft.com/office/drawing/2014/main" val="20000"/>
                    </a:ext>
                  </a:extLst>
                </a:gridCol>
                <a:gridCol w="5073317">
                  <a:extLst>
                    <a:ext uri="{9D8B030D-6E8A-4147-A177-3AD203B41FA5}">
                      <a16:colId xmlns:a16="http://schemas.microsoft.com/office/drawing/2014/main" val="20001"/>
                    </a:ext>
                  </a:extLst>
                </a:gridCol>
              </a:tblGrid>
              <a:tr h="141928">
                <a:tc>
                  <a:txBody>
                    <a:bodyPr/>
                    <a:lstStyle/>
                    <a:p>
                      <a:pPr marL="0" algn="ctr" defTabSz="914400" rtl="0" eaLnBrk="1" latinLnBrk="1" hangingPunct="1"/>
                      <a:r>
                        <a:rPr lang="en-US" sz="14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Method</a:t>
                      </a:r>
                    </a:p>
                  </a:txBody>
                  <a:tcPr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algn="ctr" defTabSz="914400" rtl="0" eaLnBrk="1" latinLnBrk="1" hangingPunct="1"/>
                      <a:r>
                        <a:rPr lang="en-US" sz="14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p>
                  </a:txBody>
                  <a:tcPr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0"/>
                  </a:ext>
                </a:extLst>
              </a:tr>
              <a:tr h="178654">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mean</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Average</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78654">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var</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Variance</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3483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std</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Standard deviation</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3483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sum</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Total sum</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13483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cumsum</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cumulative sums of an array</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13483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 min</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maximum and the minimum of an array</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3483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argmax, argmin</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Indices of the maximum and the minimum</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grpSp>
        <p:nvGrpSpPr>
          <p:cNvPr id="12" name="그룹 11">
            <a:extLst>
              <a:ext uri="{FF2B5EF4-FFF2-40B4-BE49-F238E27FC236}">
                <a16:creationId xmlns:a16="http://schemas.microsoft.com/office/drawing/2014/main" id="{B3C49AAA-BC3F-40C5-8835-EC9333D79F8F}"/>
              </a:ext>
            </a:extLst>
          </p:cNvPr>
          <p:cNvGrpSpPr/>
          <p:nvPr/>
        </p:nvGrpSpPr>
        <p:grpSpPr>
          <a:xfrm>
            <a:off x="580388" y="1413381"/>
            <a:ext cx="8887612" cy="579930"/>
            <a:chOff x="580388" y="1413381"/>
            <a:chExt cx="8887612" cy="579930"/>
          </a:xfrm>
        </p:grpSpPr>
        <p:sp>
          <p:nvSpPr>
            <p:cNvPr id="14" name="Rectangle 12">
              <a:extLst>
                <a:ext uri="{FF2B5EF4-FFF2-40B4-BE49-F238E27FC236}">
                  <a16:creationId xmlns:a16="http://schemas.microsoft.com/office/drawing/2014/main" id="{5144905E-4162-4380-8580-5E2F9C74A7D5}"/>
                </a:ext>
              </a:extLst>
            </p:cNvPr>
            <p:cNvSpPr/>
            <p:nvPr/>
          </p:nvSpPr>
          <p:spPr>
            <a:xfrm>
              <a:off x="711201" y="164785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Statistical methods of NumPy arrays:</a:t>
              </a:r>
            </a:p>
          </p:txBody>
        </p:sp>
        <p:sp>
          <p:nvSpPr>
            <p:cNvPr id="15" name="직사각형 14">
              <a:extLst>
                <a:ext uri="{FF2B5EF4-FFF2-40B4-BE49-F238E27FC236}">
                  <a16:creationId xmlns:a16="http://schemas.microsoft.com/office/drawing/2014/main" id="{26698E1C-2CB5-4C87-A415-95616791C7F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Universal Functions (3/3)</a:t>
              </a:r>
              <a:endParaRPr lang="ko-KR" altLang="en-US" sz="1400" dirty="0">
                <a:solidFill>
                  <a:schemeClr val="tx1"/>
                </a:solidFill>
                <a:latin typeface="SamsungOne 400" panose="020B0503030303020204" pitchFamily="34" charset="0"/>
              </a:endParaRPr>
            </a:p>
          </p:txBody>
        </p:sp>
      </p:grpSp>
    </p:spTree>
    <p:extLst>
      <p:ext uri="{BB962C8B-B14F-4D97-AF65-F5344CB8AC3E}">
        <p14:creationId xmlns:p14="http://schemas.microsoft.com/office/powerpoint/2010/main" val="194861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C5532465-8E49-46A5-87E0-63391C63BC0A}"/>
              </a:ext>
            </a:extLst>
          </p:cNvPr>
          <p:cNvGrpSpPr/>
          <p:nvPr/>
        </p:nvGrpSpPr>
        <p:grpSpPr>
          <a:xfrm>
            <a:off x="557644" y="4581754"/>
            <a:ext cx="8782050" cy="1305019"/>
            <a:chOff x="557644" y="4610006"/>
            <a:chExt cx="8782050" cy="1305019"/>
          </a:xfrm>
        </p:grpSpPr>
        <p:grpSp>
          <p:nvGrpSpPr>
            <p:cNvPr id="14" name="그룹 13"/>
            <p:cNvGrpSpPr/>
            <p:nvPr/>
          </p:nvGrpSpPr>
          <p:grpSpPr>
            <a:xfrm>
              <a:off x="557644" y="4610006"/>
              <a:ext cx="8782050" cy="1305019"/>
              <a:chOff x="557644" y="5085183"/>
              <a:chExt cx="8782050" cy="1305019"/>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130501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Sum</a:t>
                </a:r>
              </a:p>
            </p:txBody>
          </p:sp>
        </p:grpSp>
        <p:grpSp>
          <p:nvGrpSpPr>
            <p:cNvPr id="4" name="그룹 3">
              <a:extLst>
                <a:ext uri="{FF2B5EF4-FFF2-40B4-BE49-F238E27FC236}">
                  <a16:creationId xmlns:a16="http://schemas.microsoft.com/office/drawing/2014/main" id="{6D14A3B4-58F7-4991-A34F-A901E9513778}"/>
                </a:ext>
              </a:extLst>
            </p:cNvPr>
            <p:cNvGrpSpPr/>
            <p:nvPr/>
          </p:nvGrpSpPr>
          <p:grpSpPr>
            <a:xfrm>
              <a:off x="660211" y="5297395"/>
              <a:ext cx="8640559" cy="534949"/>
              <a:chOff x="660211" y="5316445"/>
              <a:chExt cx="8640559" cy="534949"/>
            </a:xfrm>
          </p:grpSpPr>
          <p:pic>
            <p:nvPicPr>
              <p:cNvPr id="19"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33917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18992" y="531644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19632" y="565133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Average</a:t>
                </a:r>
              </a:p>
            </p:txBody>
          </p:sp>
        </p:grpSp>
      </p:grpSp>
      <p:grpSp>
        <p:nvGrpSpPr>
          <p:cNvPr id="6" name="그룹 5">
            <a:extLst>
              <a:ext uri="{FF2B5EF4-FFF2-40B4-BE49-F238E27FC236}">
                <a16:creationId xmlns:a16="http://schemas.microsoft.com/office/drawing/2014/main" id="{918EF937-48E8-4353-B1E9-6E4788D0BDB0}"/>
              </a:ext>
            </a:extLst>
          </p:cNvPr>
          <p:cNvGrpSpPr/>
          <p:nvPr/>
        </p:nvGrpSpPr>
        <p:grpSpPr>
          <a:xfrm>
            <a:off x="558396" y="1700808"/>
            <a:ext cx="8782050" cy="2784326"/>
            <a:chOff x="558396" y="1844824"/>
            <a:chExt cx="8782050" cy="2784326"/>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278432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1139"/>
            <a:stretch/>
          </p:blipFill>
          <p:spPr>
            <a:xfrm>
              <a:off x="569307" y="1922165"/>
              <a:ext cx="8770387" cy="2629462"/>
            </a:xfrm>
            <a:prstGeom prst="rect">
              <a:avLst/>
            </a:prstGeom>
          </p:spPr>
        </p:pic>
        <p:sp>
          <p:nvSpPr>
            <p:cNvPr id="3" name="직사각형 2"/>
            <p:cNvSpPr/>
            <p:nvPr/>
          </p:nvSpPr>
          <p:spPr>
            <a:xfrm>
              <a:off x="2137767" y="3250721"/>
              <a:ext cx="864096" cy="18247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직사각형 21"/>
            <p:cNvSpPr/>
            <p:nvPr/>
          </p:nvSpPr>
          <p:spPr>
            <a:xfrm>
              <a:off x="2219300" y="4022060"/>
              <a:ext cx="864096" cy="18247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직사각형 25">
            <a:extLst>
              <a:ext uri="{FF2B5EF4-FFF2-40B4-BE49-F238E27FC236}">
                <a16:creationId xmlns:a16="http://schemas.microsoft.com/office/drawing/2014/main" id="{12768956-4C7B-4E38-AF02-46E5C7760CC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0757129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8" name="그룹 7">
            <a:extLst>
              <a:ext uri="{FF2B5EF4-FFF2-40B4-BE49-F238E27FC236}">
                <a16:creationId xmlns:a16="http://schemas.microsoft.com/office/drawing/2014/main" id="{821DF8EF-C92A-4EA4-84EB-9CDBA6834A31}"/>
              </a:ext>
            </a:extLst>
          </p:cNvPr>
          <p:cNvGrpSpPr/>
          <p:nvPr/>
        </p:nvGrpSpPr>
        <p:grpSpPr>
          <a:xfrm>
            <a:off x="557644" y="4005064"/>
            <a:ext cx="8782050" cy="1881386"/>
            <a:chOff x="557644" y="4005064"/>
            <a:chExt cx="8782050" cy="1881386"/>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4005064"/>
              <a:ext cx="8782050" cy="18813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409980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407707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439111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Average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5.5</a:t>
              </a:r>
            </a:p>
          </p:txBody>
        </p:sp>
        <p:grpSp>
          <p:nvGrpSpPr>
            <p:cNvPr id="7" name="그룹 6">
              <a:extLst>
                <a:ext uri="{FF2B5EF4-FFF2-40B4-BE49-F238E27FC236}">
                  <a16:creationId xmlns:a16="http://schemas.microsoft.com/office/drawing/2014/main" id="{C76E3F80-0FBB-4665-BCD9-0D89C28F0FF5}"/>
                </a:ext>
              </a:extLst>
            </p:cNvPr>
            <p:cNvGrpSpPr/>
            <p:nvPr/>
          </p:nvGrpSpPr>
          <p:grpSpPr>
            <a:xfrm>
              <a:off x="645425" y="4677833"/>
              <a:ext cx="8655345" cy="531408"/>
              <a:chOff x="645425" y="4696883"/>
              <a:chExt cx="8655345" cy="531408"/>
            </a:xfrm>
          </p:grpSpPr>
          <p:pic>
            <p:nvPicPr>
              <p:cNvPr id="19"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45425" y="4722385"/>
                <a:ext cx="325287" cy="26069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18992" y="4696883"/>
                <a:ext cx="2659325" cy="321626"/>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19632" y="5008230"/>
                <a:ext cx="8281138" cy="220061"/>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Deviation (difference from average)</a:t>
                </a:r>
              </a:p>
            </p:txBody>
          </p:sp>
        </p:grpSp>
        <p:grpSp>
          <p:nvGrpSpPr>
            <p:cNvPr id="6" name="그룹 5">
              <a:extLst>
                <a:ext uri="{FF2B5EF4-FFF2-40B4-BE49-F238E27FC236}">
                  <a16:creationId xmlns:a16="http://schemas.microsoft.com/office/drawing/2014/main" id="{BE82BE43-F3A4-4AB7-BA4B-4581D2FE4C17}"/>
                </a:ext>
              </a:extLst>
            </p:cNvPr>
            <p:cNvGrpSpPr/>
            <p:nvPr/>
          </p:nvGrpSpPr>
          <p:grpSpPr>
            <a:xfrm>
              <a:off x="660211" y="5304116"/>
              <a:ext cx="8640559" cy="492442"/>
              <a:chOff x="660211" y="5359575"/>
              <a:chExt cx="8640559" cy="492442"/>
            </a:xfrm>
          </p:grpSpPr>
          <p:pic>
            <p:nvPicPr>
              <p:cNvPr id="2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38230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EE836FE5-4E63-409C-97E4-2898B8159708}"/>
                  </a:ext>
                </a:extLst>
              </p:cNvPr>
              <p:cNvSpPr txBox="1"/>
              <p:nvPr/>
            </p:nvSpPr>
            <p:spPr>
              <a:xfrm>
                <a:off x="918992" y="535957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7" name="TextBox 26">
                <a:extLst>
                  <a:ext uri="{FF2B5EF4-FFF2-40B4-BE49-F238E27FC236}">
                    <a16:creationId xmlns:a16="http://schemas.microsoft.com/office/drawing/2014/main" id="{0800EE66-B78E-4CCD-A49E-31BBE412C7F6}"/>
                  </a:ext>
                </a:extLst>
              </p:cNvPr>
              <p:cNvSpPr txBox="1"/>
              <p:nvPr/>
            </p:nvSpPr>
            <p:spPr>
              <a:xfrm>
                <a:off x="1019632" y="565196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Square of Deviation</a:t>
                </a:r>
              </a:p>
            </p:txBody>
          </p:sp>
        </p:grpSp>
      </p:grpSp>
      <p:grpSp>
        <p:nvGrpSpPr>
          <p:cNvPr id="2" name="그룹 1">
            <a:extLst>
              <a:ext uri="{FF2B5EF4-FFF2-40B4-BE49-F238E27FC236}">
                <a16:creationId xmlns:a16="http://schemas.microsoft.com/office/drawing/2014/main" id="{0DCDBF1E-8BA3-476E-AECC-4FB5C1575E97}"/>
              </a:ext>
            </a:extLst>
          </p:cNvPr>
          <p:cNvGrpSpPr/>
          <p:nvPr/>
        </p:nvGrpSpPr>
        <p:grpSpPr>
          <a:xfrm>
            <a:off x="558396" y="1700808"/>
            <a:ext cx="8782050" cy="2185392"/>
            <a:chOff x="558396" y="1700808"/>
            <a:chExt cx="8782050" cy="2185392"/>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700808"/>
              <a:ext cx="8782050" cy="21853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22492"/>
            <a:stretch/>
          </p:blipFill>
          <p:spPr>
            <a:xfrm>
              <a:off x="578833" y="1750249"/>
              <a:ext cx="8760861" cy="2106057"/>
            </a:xfrm>
            <a:prstGeom prst="rect">
              <a:avLst/>
            </a:prstGeom>
          </p:spPr>
        </p:pic>
      </p:grpSp>
      <p:sp>
        <p:nvSpPr>
          <p:cNvPr id="28" name="직사각형 27">
            <a:extLst>
              <a:ext uri="{FF2B5EF4-FFF2-40B4-BE49-F238E27FC236}">
                <a16:creationId xmlns:a16="http://schemas.microsoft.com/office/drawing/2014/main" id="{AF72EF9C-E3DE-4765-9288-BBE41D3E1A3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597873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7644" y="3152820"/>
            <a:ext cx="8782050" cy="691202"/>
            <a:chOff x="557644" y="5085183"/>
            <a:chExt cx="8782050" cy="691202"/>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6912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Sum of Squared Deviation</a:t>
              </a:r>
            </a:p>
          </p:txBody>
        </p:sp>
      </p:grpSp>
      <p:grpSp>
        <p:nvGrpSpPr>
          <p:cNvPr id="3" name="그룹 2">
            <a:extLst>
              <a:ext uri="{FF2B5EF4-FFF2-40B4-BE49-F238E27FC236}">
                <a16:creationId xmlns:a16="http://schemas.microsoft.com/office/drawing/2014/main" id="{9C94C1AB-E9B8-4212-83CC-879ECE3A1855}"/>
              </a:ext>
            </a:extLst>
          </p:cNvPr>
          <p:cNvGrpSpPr/>
          <p:nvPr/>
        </p:nvGrpSpPr>
        <p:grpSpPr>
          <a:xfrm>
            <a:off x="558396" y="1700808"/>
            <a:ext cx="8782050" cy="1355577"/>
            <a:chOff x="558396" y="1844823"/>
            <a:chExt cx="8782050" cy="1355577"/>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3"/>
              <a:ext cx="8782050" cy="13555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4577"/>
            <a:stretch/>
          </p:blipFill>
          <p:spPr>
            <a:xfrm>
              <a:off x="569308" y="1884065"/>
              <a:ext cx="8770386" cy="1244970"/>
            </a:xfrm>
            <a:prstGeom prst="rect">
              <a:avLst/>
            </a:prstGeom>
          </p:spPr>
        </p:pic>
      </p:grpSp>
      <p:sp>
        <p:nvSpPr>
          <p:cNvPr id="19" name="직사각형 18">
            <a:extLst>
              <a:ext uri="{FF2B5EF4-FFF2-40B4-BE49-F238E27FC236}">
                <a16:creationId xmlns:a16="http://schemas.microsoft.com/office/drawing/2014/main" id="{D13F18A0-B701-4D20-8CA9-EBA9310962D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5773058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7644" y="2641104"/>
            <a:ext cx="8782050" cy="665324"/>
            <a:chOff x="557644" y="5085183"/>
            <a:chExt cx="8782050" cy="665324"/>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6653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64273"/>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sum of the squared deviations divided by the number of arrays is called a variance. </a:t>
              </a:r>
            </a:p>
          </p:txBody>
        </p:sp>
      </p:grpSp>
      <p:grpSp>
        <p:nvGrpSpPr>
          <p:cNvPr id="2" name="그룹 1">
            <a:extLst>
              <a:ext uri="{FF2B5EF4-FFF2-40B4-BE49-F238E27FC236}">
                <a16:creationId xmlns:a16="http://schemas.microsoft.com/office/drawing/2014/main" id="{02D21D00-E431-4315-B3C2-D3979A5F2704}"/>
              </a:ext>
            </a:extLst>
          </p:cNvPr>
          <p:cNvGrpSpPr/>
          <p:nvPr/>
        </p:nvGrpSpPr>
        <p:grpSpPr>
          <a:xfrm>
            <a:off x="558396" y="1700808"/>
            <a:ext cx="8782050" cy="831702"/>
            <a:chOff x="558396" y="1844824"/>
            <a:chExt cx="8782050" cy="831702"/>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8317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3918"/>
            <a:stretch/>
          </p:blipFill>
          <p:spPr>
            <a:xfrm>
              <a:off x="588358" y="1903115"/>
              <a:ext cx="8751336" cy="720902"/>
            </a:xfrm>
            <a:prstGeom prst="rect">
              <a:avLst/>
            </a:prstGeom>
          </p:spPr>
        </p:pic>
      </p:grpSp>
      <p:sp>
        <p:nvSpPr>
          <p:cNvPr id="19" name="Rectangle 12">
            <a:extLst>
              <a:ext uri="{FF2B5EF4-FFF2-40B4-BE49-F238E27FC236}">
                <a16:creationId xmlns:a16="http://schemas.microsoft.com/office/drawing/2014/main" id="{39C1D0BA-7152-4AAC-B295-DCCB5F8378F4}"/>
              </a:ext>
            </a:extLst>
          </p:cNvPr>
          <p:cNvSpPr/>
          <p:nvPr/>
        </p:nvSpPr>
        <p:spPr>
          <a:xfrm>
            <a:off x="711201" y="334005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result can be calculated directly through the process above, or the var() can be used.</a:t>
            </a:r>
          </a:p>
        </p:txBody>
      </p:sp>
      <p:grpSp>
        <p:nvGrpSpPr>
          <p:cNvPr id="5" name="그룹 4">
            <a:extLst>
              <a:ext uri="{FF2B5EF4-FFF2-40B4-BE49-F238E27FC236}">
                <a16:creationId xmlns:a16="http://schemas.microsoft.com/office/drawing/2014/main" id="{B1C36CEB-BA97-4794-BEBC-0B8906007EFC}"/>
              </a:ext>
            </a:extLst>
          </p:cNvPr>
          <p:cNvGrpSpPr/>
          <p:nvPr/>
        </p:nvGrpSpPr>
        <p:grpSpPr>
          <a:xfrm>
            <a:off x="558924" y="3818659"/>
            <a:ext cx="8782050" cy="1621160"/>
            <a:chOff x="558924" y="3779515"/>
            <a:chExt cx="8782050" cy="162116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3779515"/>
              <a:ext cx="8782050" cy="1621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5"/>
            <a:srcRect r="24145"/>
            <a:stretch/>
          </p:blipFill>
          <p:spPr>
            <a:xfrm>
              <a:off x="568327" y="3833395"/>
              <a:ext cx="8771368" cy="1530297"/>
            </a:xfrm>
            <a:prstGeom prst="rect">
              <a:avLst/>
            </a:prstGeom>
          </p:spPr>
        </p:pic>
      </p:grpSp>
      <p:grpSp>
        <p:nvGrpSpPr>
          <p:cNvPr id="22" name="그룹 21"/>
          <p:cNvGrpSpPr/>
          <p:nvPr/>
        </p:nvGrpSpPr>
        <p:grpSpPr>
          <a:xfrm>
            <a:off x="558924" y="5533888"/>
            <a:ext cx="8782050" cy="665324"/>
            <a:chOff x="557644" y="5085183"/>
            <a:chExt cx="8782050" cy="665324"/>
          </a:xfrm>
        </p:grpSpPr>
        <p:sp>
          <p:nvSpPr>
            <p:cNvPr id="26"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6653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9" name="TextBox 28">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square root of the variance is the standard deviation.</a:t>
              </a:r>
            </a:p>
          </p:txBody>
        </p:sp>
      </p:grpSp>
      <p:sp>
        <p:nvSpPr>
          <p:cNvPr id="30" name="직사각형 29">
            <a:extLst>
              <a:ext uri="{FF2B5EF4-FFF2-40B4-BE49-F238E27FC236}">
                <a16:creationId xmlns:a16="http://schemas.microsoft.com/office/drawing/2014/main" id="{8FFC3DCE-6E91-4306-9CA3-0FC093EBC07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3339152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sp>
        <p:nvSpPr>
          <p:cNvPr id="19" name="Rectangle 12">
            <a:extLst>
              <a:ext uri="{FF2B5EF4-FFF2-40B4-BE49-F238E27FC236}">
                <a16:creationId xmlns:a16="http://schemas.microsoft.com/office/drawing/2014/main" id="{39C1D0BA-7152-4AAC-B295-DCCB5F8378F4}"/>
              </a:ext>
            </a:extLst>
          </p:cNvPr>
          <p:cNvSpPr/>
          <p:nvPr/>
        </p:nvSpPr>
        <p:spPr>
          <a:xfrm>
            <a:off x="711201" y="3377683"/>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result can be calculated directly through the process above, or the std() method can be used.</a:t>
            </a:r>
          </a:p>
        </p:txBody>
      </p:sp>
      <p:grpSp>
        <p:nvGrpSpPr>
          <p:cNvPr id="5" name="그룹 4">
            <a:extLst>
              <a:ext uri="{FF2B5EF4-FFF2-40B4-BE49-F238E27FC236}">
                <a16:creationId xmlns:a16="http://schemas.microsoft.com/office/drawing/2014/main" id="{E124B330-71EC-4EA0-B1CD-732BA4B25B97}"/>
              </a:ext>
            </a:extLst>
          </p:cNvPr>
          <p:cNvGrpSpPr/>
          <p:nvPr/>
        </p:nvGrpSpPr>
        <p:grpSpPr>
          <a:xfrm>
            <a:off x="558924" y="3773331"/>
            <a:ext cx="8782050" cy="814586"/>
            <a:chOff x="558924" y="4005064"/>
            <a:chExt cx="8782050" cy="814586"/>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4005064"/>
              <a:ext cx="8782050" cy="8145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3476"/>
            <a:stretch/>
          </p:blipFill>
          <p:spPr>
            <a:xfrm>
              <a:off x="577851" y="4047430"/>
              <a:ext cx="8761843" cy="715070"/>
            </a:xfrm>
            <a:prstGeom prst="rect">
              <a:avLst/>
            </a:prstGeom>
          </p:spPr>
        </p:pic>
      </p:grpSp>
      <p:grpSp>
        <p:nvGrpSpPr>
          <p:cNvPr id="12" name="그룹 11"/>
          <p:cNvGrpSpPr/>
          <p:nvPr/>
        </p:nvGrpSpPr>
        <p:grpSpPr>
          <a:xfrm>
            <a:off x="557644" y="2617618"/>
            <a:ext cx="8782050" cy="665324"/>
            <a:chOff x="557644" y="5085183"/>
            <a:chExt cx="8782050" cy="66532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6653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sum of the squared deviations divided by the number of arrays is called a variance.</a:t>
              </a:r>
            </a:p>
          </p:txBody>
        </p:sp>
      </p:grpSp>
      <p:grpSp>
        <p:nvGrpSpPr>
          <p:cNvPr id="4" name="그룹 3">
            <a:extLst>
              <a:ext uri="{FF2B5EF4-FFF2-40B4-BE49-F238E27FC236}">
                <a16:creationId xmlns:a16="http://schemas.microsoft.com/office/drawing/2014/main" id="{1004152D-CB85-4330-8C1B-A586C489923F}"/>
              </a:ext>
            </a:extLst>
          </p:cNvPr>
          <p:cNvGrpSpPr/>
          <p:nvPr/>
        </p:nvGrpSpPr>
        <p:grpSpPr>
          <a:xfrm>
            <a:off x="558396" y="1700808"/>
            <a:ext cx="8782050" cy="831702"/>
            <a:chOff x="558396" y="1844824"/>
            <a:chExt cx="8782050" cy="83170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8317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그림 16"/>
            <p:cNvPicPr>
              <a:picLocks noChangeAspect="1"/>
            </p:cNvPicPr>
            <p:nvPr/>
          </p:nvPicPr>
          <p:blipFill rotWithShape="1">
            <a:blip r:embed="rId5"/>
            <a:srcRect r="24102"/>
            <a:stretch/>
          </p:blipFill>
          <p:spPr>
            <a:xfrm>
              <a:off x="578833" y="1903115"/>
              <a:ext cx="8760862" cy="720902"/>
            </a:xfrm>
            <a:prstGeom prst="rect">
              <a:avLst/>
            </a:prstGeom>
          </p:spPr>
        </p:pic>
      </p:grpSp>
      <p:sp>
        <p:nvSpPr>
          <p:cNvPr id="22" name="직사각형 21">
            <a:extLst>
              <a:ext uri="{FF2B5EF4-FFF2-40B4-BE49-F238E27FC236}">
                <a16:creationId xmlns:a16="http://schemas.microsoft.com/office/drawing/2014/main" id="{9C2AB641-D70B-4B8E-8F9F-11304E51BC9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40838410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7644" y="2645539"/>
            <a:ext cx="8782050" cy="711454"/>
            <a:chOff x="557644" y="5085183"/>
            <a:chExt cx="8782050" cy="711454"/>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3"/>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a:t>
              </a:r>
              <a:r>
                <a:rPr lang="en-US" altLang="ko-KR" sz="1300" dirty="0" err="1">
                  <a:solidFill>
                    <a:prstClr val="black">
                      <a:lumMod val="85000"/>
                      <a:lumOff val="15000"/>
                    </a:prstClr>
                  </a:solidFill>
                  <a:latin typeface="SamsungOne 400" panose="020B0503030303020204" pitchFamily="34" charset="0"/>
                </a:rPr>
                <a:t>cumsum</a:t>
              </a:r>
              <a:r>
                <a:rPr lang="en-US" altLang="ko-KR" sz="1300" dirty="0">
                  <a:solidFill>
                    <a:prstClr val="black">
                      <a:lumMod val="85000"/>
                      <a:lumOff val="15000"/>
                    </a:prstClr>
                  </a:solidFill>
                  <a:latin typeface="SamsungOne 400" panose="020B0503030303020204" pitchFamily="34" charset="0"/>
                </a:rPr>
                <a:t>() method is used to find the cumulative sum of x.</a:t>
              </a:r>
            </a:p>
          </p:txBody>
        </p:sp>
      </p:grpSp>
      <p:grpSp>
        <p:nvGrpSpPr>
          <p:cNvPr id="2" name="그룹 1">
            <a:extLst>
              <a:ext uri="{FF2B5EF4-FFF2-40B4-BE49-F238E27FC236}">
                <a16:creationId xmlns:a16="http://schemas.microsoft.com/office/drawing/2014/main" id="{2B67495E-F7D1-45F0-B6DE-DC404070E15E}"/>
              </a:ext>
            </a:extLst>
          </p:cNvPr>
          <p:cNvGrpSpPr/>
          <p:nvPr/>
        </p:nvGrpSpPr>
        <p:grpSpPr>
          <a:xfrm>
            <a:off x="558396" y="1700808"/>
            <a:ext cx="8782050" cy="864097"/>
            <a:chOff x="558396" y="1844823"/>
            <a:chExt cx="8782050" cy="864097"/>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3"/>
              <a:ext cx="8782050" cy="86409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22263"/>
            <a:stretch/>
          </p:blipFill>
          <p:spPr>
            <a:xfrm>
              <a:off x="588357" y="1913901"/>
              <a:ext cx="8751337" cy="711454"/>
            </a:xfrm>
            <a:prstGeom prst="rect">
              <a:avLst/>
            </a:prstGeom>
          </p:spPr>
        </p:pic>
      </p:grpSp>
      <p:sp>
        <p:nvSpPr>
          <p:cNvPr id="19" name="직사각형 18">
            <a:extLst>
              <a:ext uri="{FF2B5EF4-FFF2-40B4-BE49-F238E27FC236}">
                <a16:creationId xmlns:a16="http://schemas.microsoft.com/office/drawing/2014/main" id="{E35A79D5-55B3-4942-9282-08D17282B4B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4897530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3291" y="5431674"/>
            <a:ext cx="8782050" cy="843738"/>
            <a:chOff x="557644" y="5085182"/>
            <a:chExt cx="8782050" cy="843738"/>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84373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63511"/>
              <a:ext cx="8217761"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this way, you can designate it as two rows and three columns. However, if you designate only a row, use -1 to change the rest on its own. </a:t>
              </a:r>
            </a:p>
          </p:txBody>
        </p:sp>
      </p:grpSp>
      <p:grpSp>
        <p:nvGrpSpPr>
          <p:cNvPr id="3" name="그룹 2">
            <a:extLst>
              <a:ext uri="{FF2B5EF4-FFF2-40B4-BE49-F238E27FC236}">
                <a16:creationId xmlns:a16="http://schemas.microsoft.com/office/drawing/2014/main" id="{D59ED488-70FE-44AF-8C69-40D2FA394ECD}"/>
              </a:ext>
            </a:extLst>
          </p:cNvPr>
          <p:cNvGrpSpPr/>
          <p:nvPr/>
        </p:nvGrpSpPr>
        <p:grpSpPr>
          <a:xfrm>
            <a:off x="558396" y="1700808"/>
            <a:ext cx="8786033" cy="3633933"/>
            <a:chOff x="558396" y="1700808"/>
            <a:chExt cx="8786033" cy="3633933"/>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700808"/>
              <a:ext cx="8782050" cy="363393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3640"/>
            <a:stretch/>
          </p:blipFill>
          <p:spPr>
            <a:xfrm>
              <a:off x="588357" y="1765971"/>
              <a:ext cx="8756072" cy="3475167"/>
            </a:xfrm>
            <a:prstGeom prst="rect">
              <a:avLst/>
            </a:prstGeom>
          </p:spPr>
        </p:pic>
      </p:grpSp>
      <p:sp>
        <p:nvSpPr>
          <p:cNvPr id="19" name="직사각형 18">
            <a:extLst>
              <a:ext uri="{FF2B5EF4-FFF2-40B4-BE49-F238E27FC236}">
                <a16:creationId xmlns:a16="http://schemas.microsoft.com/office/drawing/2014/main" id="{00B0B359-59E6-4907-AFCE-3B0620F7C08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9766824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64877" y="4922118"/>
            <a:ext cx="8782050" cy="1315194"/>
            <a:chOff x="557644" y="5085182"/>
            <a:chExt cx="8782050" cy="1315194"/>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131519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4305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average of 1 and 4 is 2.5. When the axis = 0, the operation is carried out along the columns.</a:t>
              </a:r>
            </a:p>
          </p:txBody>
        </p:sp>
      </p:grpSp>
      <p:sp>
        <p:nvSpPr>
          <p:cNvPr id="19" name="Rectangle 12">
            <a:extLst>
              <a:ext uri="{FF2B5EF4-FFF2-40B4-BE49-F238E27FC236}">
                <a16:creationId xmlns:a16="http://schemas.microsoft.com/office/drawing/2014/main" id="{39C1D0BA-7152-4AAC-B295-DCCB5F8378F4}"/>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Statistical functions can also be used for each row and column. </a:t>
            </a:r>
          </a:p>
        </p:txBody>
      </p:sp>
      <p:grpSp>
        <p:nvGrpSpPr>
          <p:cNvPr id="4" name="그룹 3">
            <a:extLst>
              <a:ext uri="{FF2B5EF4-FFF2-40B4-BE49-F238E27FC236}">
                <a16:creationId xmlns:a16="http://schemas.microsoft.com/office/drawing/2014/main" id="{DC211EB5-D921-4D26-856C-E4054E103213}"/>
              </a:ext>
            </a:extLst>
          </p:cNvPr>
          <p:cNvGrpSpPr/>
          <p:nvPr/>
        </p:nvGrpSpPr>
        <p:grpSpPr>
          <a:xfrm>
            <a:off x="665436" y="5623148"/>
            <a:ext cx="8640559" cy="468312"/>
            <a:chOff x="665436" y="5661248"/>
            <a:chExt cx="8640559" cy="468312"/>
          </a:xfrm>
        </p:grpSpPr>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5436" y="5683980"/>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4217" y="5661248"/>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0800EE66-B78E-4CCD-A49E-31BBE412C7F6}"/>
                </a:ext>
              </a:extLst>
            </p:cNvPr>
            <p:cNvSpPr txBox="1"/>
            <p:nvPr/>
          </p:nvSpPr>
          <p:spPr>
            <a:xfrm>
              <a:off x="1024857" y="5929505"/>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average of 1, 2, and 3 is 2. When the axis = 1, the operation is carried out along the rows.</a:t>
              </a:r>
            </a:p>
          </p:txBody>
        </p:sp>
      </p:grpSp>
      <p:grpSp>
        <p:nvGrpSpPr>
          <p:cNvPr id="2" name="그룹 1">
            <a:extLst>
              <a:ext uri="{FF2B5EF4-FFF2-40B4-BE49-F238E27FC236}">
                <a16:creationId xmlns:a16="http://schemas.microsoft.com/office/drawing/2014/main" id="{864CBB87-8E65-442A-86E1-717271F61791}"/>
              </a:ext>
            </a:extLst>
          </p:cNvPr>
          <p:cNvGrpSpPr/>
          <p:nvPr/>
        </p:nvGrpSpPr>
        <p:grpSpPr>
          <a:xfrm>
            <a:off x="558396" y="2007890"/>
            <a:ext cx="8782050" cy="2821285"/>
            <a:chOff x="558396" y="2204864"/>
            <a:chExt cx="8782050" cy="2821285"/>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4"/>
              <a:ext cx="8782050" cy="282128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0684"/>
            <a:stretch/>
          </p:blipFill>
          <p:spPr>
            <a:xfrm>
              <a:off x="587376" y="2250685"/>
              <a:ext cx="8753070" cy="2707642"/>
            </a:xfrm>
            <a:prstGeom prst="rect">
              <a:avLst/>
            </a:prstGeom>
          </p:spPr>
        </p:pic>
      </p:grpSp>
      <p:sp>
        <p:nvSpPr>
          <p:cNvPr id="26" name="직사각형 25">
            <a:extLst>
              <a:ext uri="{FF2B5EF4-FFF2-40B4-BE49-F238E27FC236}">
                <a16:creationId xmlns:a16="http://schemas.microsoft.com/office/drawing/2014/main" id="{43F1D7AD-43FD-469E-8DAF-4904C8F3940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Statistical methods of NumPy arrays:</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5548589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7644" y="2381889"/>
            <a:ext cx="8782050" cy="836420"/>
            <a:chOff x="557644" y="5085182"/>
            <a:chExt cx="8782050" cy="836420"/>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8364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43455"/>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Initializing the seed value using </a:t>
              </a:r>
              <a:r>
                <a:rPr lang="en-US" altLang="ko-KR" sz="1300" dirty="0" err="1">
                  <a:solidFill>
                    <a:prstClr val="black">
                      <a:lumMod val="85000"/>
                      <a:lumOff val="15000"/>
                    </a:prstClr>
                  </a:solidFill>
                  <a:latin typeface="SamsungOne 400" panose="020B0503030303020204" pitchFamily="34" charset="0"/>
                </a:rPr>
                <a:t>np.ramdom</a:t>
              </a:r>
              <a:r>
                <a:rPr lang="en-US" altLang="ko-KR" sz="1300" dirty="0">
                  <a:solidFill>
                    <a:prstClr val="black">
                      <a:lumMod val="85000"/>
                      <a:lumOff val="15000"/>
                    </a:prstClr>
                  </a:solidFill>
                  <a:latin typeface="SamsungOne 400" panose="020B0503030303020204" pitchFamily="34" charset="0"/>
                </a:rPr>
                <a:t> will generate a fixed random number when generating random number values.</a:t>
              </a:r>
            </a:p>
          </p:txBody>
        </p:sp>
      </p:grpSp>
      <p:grpSp>
        <p:nvGrpSpPr>
          <p:cNvPr id="2" name="그룹 1">
            <a:extLst>
              <a:ext uri="{FF2B5EF4-FFF2-40B4-BE49-F238E27FC236}">
                <a16:creationId xmlns:a16="http://schemas.microsoft.com/office/drawing/2014/main" id="{598161F5-D62F-4BB5-A697-662B8DD804D8}"/>
              </a:ext>
            </a:extLst>
          </p:cNvPr>
          <p:cNvGrpSpPr/>
          <p:nvPr/>
        </p:nvGrpSpPr>
        <p:grpSpPr>
          <a:xfrm>
            <a:off x="558396" y="1700808"/>
            <a:ext cx="8782050" cy="565002"/>
            <a:chOff x="558396" y="1844824"/>
            <a:chExt cx="8782050" cy="565002"/>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4"/>
              <a:ext cx="8782050" cy="5650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081" t="7044" r="21946" b="9593"/>
            <a:stretch/>
          </p:blipFill>
          <p:spPr>
            <a:xfrm>
              <a:off x="609599" y="1905000"/>
              <a:ext cx="8730095" cy="400682"/>
            </a:xfrm>
            <a:prstGeom prst="rect">
              <a:avLst/>
            </a:prstGeom>
          </p:spPr>
        </p:pic>
      </p:grpSp>
      <p:sp>
        <p:nvSpPr>
          <p:cNvPr id="19" name="직사각형 18">
            <a:extLst>
              <a:ext uri="{FF2B5EF4-FFF2-40B4-BE49-F238E27FC236}">
                <a16:creationId xmlns:a16="http://schemas.microsoft.com/office/drawing/2014/main" id="{D80C1A08-A846-4F8F-9AD1-39037AA7949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About Random Numbers in NumPy</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9158235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63EFE476-3446-47E4-BE9F-0B5C40F0DB30}"/>
              </a:ext>
            </a:extLst>
          </p:cNvPr>
          <p:cNvGrpSpPr/>
          <p:nvPr/>
        </p:nvGrpSpPr>
        <p:grpSpPr>
          <a:xfrm>
            <a:off x="564877" y="3736082"/>
            <a:ext cx="8782050" cy="1287518"/>
            <a:chOff x="564877" y="3717032"/>
            <a:chExt cx="8782050" cy="1287518"/>
          </a:xfrm>
        </p:grpSpPr>
        <p:grpSp>
          <p:nvGrpSpPr>
            <p:cNvPr id="14" name="그룹 13"/>
            <p:cNvGrpSpPr/>
            <p:nvPr/>
          </p:nvGrpSpPr>
          <p:grpSpPr>
            <a:xfrm>
              <a:off x="564877" y="3717032"/>
              <a:ext cx="8782050" cy="1287518"/>
              <a:chOff x="557644" y="5085182"/>
              <a:chExt cx="8782050" cy="1287518"/>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128751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7303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random number is returned from integers 0 to 9.</a:t>
                </a:r>
              </a:p>
            </p:txBody>
          </p:sp>
        </p:grpSp>
        <p:grpSp>
          <p:nvGrpSpPr>
            <p:cNvPr id="4" name="그룹 3">
              <a:extLst>
                <a:ext uri="{FF2B5EF4-FFF2-40B4-BE49-F238E27FC236}">
                  <a16:creationId xmlns:a16="http://schemas.microsoft.com/office/drawing/2014/main" id="{3DC6E80E-932B-411C-9D9B-D958DF338AB9}"/>
                </a:ext>
              </a:extLst>
            </p:cNvPr>
            <p:cNvGrpSpPr/>
            <p:nvPr/>
          </p:nvGrpSpPr>
          <p:grpSpPr>
            <a:xfrm>
              <a:off x="665436" y="4398113"/>
              <a:ext cx="8640559" cy="515899"/>
              <a:chOff x="665436" y="4445738"/>
              <a:chExt cx="8640559" cy="515899"/>
            </a:xfrm>
          </p:grpSpPr>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5436" y="4468470"/>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4217" y="4445738"/>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0800EE66-B78E-4CCD-A49E-31BBE412C7F6}"/>
                  </a:ext>
                </a:extLst>
              </p:cNvPr>
              <p:cNvSpPr txBox="1"/>
              <p:nvPr/>
            </p:nvSpPr>
            <p:spPr>
              <a:xfrm>
                <a:off x="1024857" y="476158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This is how you would return a random number from integers 1 to 10. </a:t>
                </a:r>
              </a:p>
            </p:txBody>
          </p:sp>
        </p:grpSp>
      </p:grpSp>
      <p:grpSp>
        <p:nvGrpSpPr>
          <p:cNvPr id="3" name="그룹 2">
            <a:extLst>
              <a:ext uri="{FF2B5EF4-FFF2-40B4-BE49-F238E27FC236}">
                <a16:creationId xmlns:a16="http://schemas.microsoft.com/office/drawing/2014/main" id="{5E07E38B-0D15-48FE-841C-9A110F8C02A1}"/>
              </a:ext>
            </a:extLst>
          </p:cNvPr>
          <p:cNvGrpSpPr/>
          <p:nvPr/>
        </p:nvGrpSpPr>
        <p:grpSpPr>
          <a:xfrm>
            <a:off x="558396" y="2060848"/>
            <a:ext cx="8782050" cy="1567035"/>
            <a:chOff x="558396" y="2204864"/>
            <a:chExt cx="8782050" cy="1567035"/>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4"/>
              <a:ext cx="8782050" cy="15670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0537"/>
            <a:stretch/>
          </p:blipFill>
          <p:spPr>
            <a:xfrm>
              <a:off x="577851" y="2251414"/>
              <a:ext cx="8762595" cy="1434761"/>
            </a:xfrm>
            <a:prstGeom prst="rect">
              <a:avLst/>
            </a:prstGeom>
          </p:spPr>
        </p:pic>
      </p:grpSp>
      <p:sp>
        <p:nvSpPr>
          <p:cNvPr id="26" name="직사각형 25">
            <a:extLst>
              <a:ext uri="{FF2B5EF4-FFF2-40B4-BE49-F238E27FC236}">
                <a16:creationId xmlns:a16="http://schemas.microsoft.com/office/drawing/2014/main" id="{E1068051-A1EF-4038-9DD3-9243FB88AEC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About Random Numbers in NumPy</a:t>
            </a:r>
            <a:endParaRPr lang="ko-KR" altLang="en-US" sz="1400" dirty="0">
              <a:solidFill>
                <a:schemeClr val="tx1"/>
              </a:solidFill>
              <a:latin typeface="SamsungOne 400" panose="020B0503030303020204" pitchFamily="34" charset="0"/>
            </a:endParaRPr>
          </a:p>
        </p:txBody>
      </p:sp>
      <p:sp>
        <p:nvSpPr>
          <p:cNvPr id="27" name="Rectangle 12">
            <a:extLst>
              <a:ext uri="{FF2B5EF4-FFF2-40B4-BE49-F238E27FC236}">
                <a16:creationId xmlns:a16="http://schemas.microsoft.com/office/drawing/2014/main" id="{E620C2B2-ECCC-4893-98FE-8C75BDE01736}"/>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Return random integers from ‘low’ (inclusive) to ‘high’ (exclusive). Refer to help(</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np.random.randint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31481120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7D163DD6-B278-433C-B263-435D93995638}"/>
              </a:ext>
            </a:extLst>
          </p:cNvPr>
          <p:cNvGrpSpPr/>
          <p:nvPr/>
        </p:nvGrpSpPr>
        <p:grpSpPr>
          <a:xfrm>
            <a:off x="558396" y="2015878"/>
            <a:ext cx="8782050" cy="2205210"/>
            <a:chOff x="558396" y="2204865"/>
            <a:chExt cx="8782050" cy="2205210"/>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20521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3108"/>
            <a:stretch/>
          </p:blipFill>
          <p:spPr>
            <a:xfrm>
              <a:off x="596901" y="2279259"/>
              <a:ext cx="8743545" cy="2088231"/>
            </a:xfrm>
            <a:prstGeom prst="rect">
              <a:avLst/>
            </a:prstGeom>
          </p:spPr>
        </p:pic>
      </p:grpSp>
      <p:sp>
        <p:nvSpPr>
          <p:cNvPr id="11" name="직사각형 10">
            <a:extLst>
              <a:ext uri="{FF2B5EF4-FFF2-40B4-BE49-F238E27FC236}">
                <a16:creationId xmlns:a16="http://schemas.microsoft.com/office/drawing/2014/main" id="{0D0609BA-4CD5-4C3F-BA29-1007791FB7E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About Random Numbers in NumPy</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15A394C5-23F1-48EA-B6C1-D375A7614CF4}"/>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Write the code below to check if the code will return 10 every time.</a:t>
            </a:r>
          </a:p>
        </p:txBody>
      </p:sp>
    </p:spTree>
    <p:extLst>
      <p:ext uri="{BB962C8B-B14F-4D97-AF65-F5344CB8AC3E}">
        <p14:creationId xmlns:p14="http://schemas.microsoft.com/office/powerpoint/2010/main" val="6285550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7644" y="4503361"/>
            <a:ext cx="8782050" cy="730157"/>
            <a:chOff x="557644" y="5085182"/>
            <a:chExt cx="8782050" cy="730157"/>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301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8" name="TextBox 17">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this case, 11 is not returned, so it repeats indefinitely. Click (interrupt kernel) to stop the repetition.</a:t>
              </a:r>
            </a:p>
          </p:txBody>
        </p:sp>
      </p:grpSp>
      <p:grpSp>
        <p:nvGrpSpPr>
          <p:cNvPr id="6" name="그룹 5">
            <a:extLst>
              <a:ext uri="{FF2B5EF4-FFF2-40B4-BE49-F238E27FC236}">
                <a16:creationId xmlns:a16="http://schemas.microsoft.com/office/drawing/2014/main" id="{7D8C7002-8E7E-423C-A3A1-BF918A593786}"/>
              </a:ext>
            </a:extLst>
          </p:cNvPr>
          <p:cNvGrpSpPr/>
          <p:nvPr/>
        </p:nvGrpSpPr>
        <p:grpSpPr>
          <a:xfrm>
            <a:off x="558396" y="1700808"/>
            <a:ext cx="8782050" cy="2698603"/>
            <a:chOff x="558396" y="1844822"/>
            <a:chExt cx="8782050" cy="2698603"/>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1844822"/>
              <a:ext cx="8782050" cy="269860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4" name="그룹 3">
              <a:extLst>
                <a:ext uri="{FF2B5EF4-FFF2-40B4-BE49-F238E27FC236}">
                  <a16:creationId xmlns:a16="http://schemas.microsoft.com/office/drawing/2014/main" id="{0C2A14A7-BE87-429C-B0B6-0C2104B9DA9C}"/>
                </a:ext>
              </a:extLst>
            </p:cNvPr>
            <p:cNvGrpSpPr/>
            <p:nvPr/>
          </p:nvGrpSpPr>
          <p:grpSpPr>
            <a:xfrm>
              <a:off x="664557" y="1930144"/>
              <a:ext cx="8675137" cy="2515594"/>
              <a:chOff x="712182" y="1977769"/>
              <a:chExt cx="7744127" cy="2245622"/>
            </a:xfrm>
          </p:grpSpPr>
          <p:pic>
            <p:nvPicPr>
              <p:cNvPr id="2" name="그림 1"/>
              <p:cNvPicPr>
                <a:picLocks noChangeAspect="1"/>
              </p:cNvPicPr>
              <p:nvPr/>
            </p:nvPicPr>
            <p:blipFill rotWithShape="1">
              <a:blip r:embed="rId4"/>
              <a:srcRect l="1" r="21798"/>
              <a:stretch/>
            </p:blipFill>
            <p:spPr>
              <a:xfrm>
                <a:off x="712183" y="1977769"/>
                <a:ext cx="7744126" cy="2245622"/>
              </a:xfrm>
              <a:prstGeom prst="rect">
                <a:avLst/>
              </a:prstGeom>
            </p:spPr>
          </p:pic>
          <p:pic>
            <p:nvPicPr>
              <p:cNvPr id="5" name="그림 4"/>
              <p:cNvPicPr>
                <a:picLocks noChangeAspect="1"/>
              </p:cNvPicPr>
              <p:nvPr/>
            </p:nvPicPr>
            <p:blipFill rotWithShape="1">
              <a:blip r:embed="rId5"/>
              <a:srcRect t="48240" r="92503" b="35727"/>
              <a:stretch/>
            </p:blipFill>
            <p:spPr>
              <a:xfrm>
                <a:off x="712182" y="1985895"/>
                <a:ext cx="742447" cy="360040"/>
              </a:xfrm>
              <a:prstGeom prst="rect">
                <a:avLst/>
              </a:prstGeom>
            </p:spPr>
          </p:pic>
        </p:grpSp>
      </p:grpSp>
      <p:sp>
        <p:nvSpPr>
          <p:cNvPr id="19" name="직사각형 18">
            <a:extLst>
              <a:ext uri="{FF2B5EF4-FFF2-40B4-BE49-F238E27FC236}">
                <a16:creationId xmlns:a16="http://schemas.microsoft.com/office/drawing/2014/main" id="{EA98892B-7F29-4C2B-9A95-9AF541EA488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About Random Numbers in NumPy</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19083156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4A8DE237-CCD3-4A38-9245-BC55D9819275}"/>
              </a:ext>
            </a:extLst>
          </p:cNvPr>
          <p:cNvGrpSpPr/>
          <p:nvPr/>
        </p:nvGrpSpPr>
        <p:grpSpPr>
          <a:xfrm>
            <a:off x="558396" y="2007890"/>
            <a:ext cx="8782050" cy="2243310"/>
            <a:chOff x="558396" y="2204865"/>
            <a:chExt cx="8782050" cy="2243310"/>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24331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0133"/>
            <a:stretch/>
          </p:blipFill>
          <p:spPr>
            <a:xfrm>
              <a:off x="577851" y="2277981"/>
              <a:ext cx="8762595" cy="2088232"/>
            </a:xfrm>
            <a:prstGeom prst="rect">
              <a:avLst/>
            </a:prstGeom>
          </p:spPr>
        </p:pic>
      </p:grpSp>
      <p:grpSp>
        <p:nvGrpSpPr>
          <p:cNvPr id="4" name="그룹 3">
            <a:extLst>
              <a:ext uri="{FF2B5EF4-FFF2-40B4-BE49-F238E27FC236}">
                <a16:creationId xmlns:a16="http://schemas.microsoft.com/office/drawing/2014/main" id="{0E42F338-7692-4DF8-9DD8-E9FED77B190A}"/>
              </a:ext>
            </a:extLst>
          </p:cNvPr>
          <p:cNvGrpSpPr/>
          <p:nvPr/>
        </p:nvGrpSpPr>
        <p:grpSpPr>
          <a:xfrm>
            <a:off x="580388" y="1413381"/>
            <a:ext cx="8887612" cy="571382"/>
            <a:chOff x="580388" y="1413381"/>
            <a:chExt cx="8887612" cy="571382"/>
          </a:xfrm>
        </p:grpSpPr>
        <p:sp>
          <p:nvSpPr>
            <p:cNvPr id="11" name="직사각형 10">
              <a:extLst>
                <a:ext uri="{FF2B5EF4-FFF2-40B4-BE49-F238E27FC236}">
                  <a16:creationId xmlns:a16="http://schemas.microsoft.com/office/drawing/2014/main" id="{2BBD449B-E390-4E43-B76E-58F52D6FFC7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7F2A55B6-215C-4893-AD74-9E355CB1221E}"/>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Universal functions:</a:t>
              </a:r>
            </a:p>
          </p:txBody>
        </p:sp>
      </p:grpSp>
    </p:spTree>
    <p:extLst>
      <p:ext uri="{BB962C8B-B14F-4D97-AF65-F5344CB8AC3E}">
        <p14:creationId xmlns:p14="http://schemas.microsoft.com/office/powerpoint/2010/main" val="20308187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2636721E-0DF7-4786-A3B6-3887DDA3A3C0}"/>
              </a:ext>
            </a:extLst>
          </p:cNvPr>
          <p:cNvGrpSpPr/>
          <p:nvPr/>
        </p:nvGrpSpPr>
        <p:grpSpPr>
          <a:xfrm>
            <a:off x="558396" y="2003252"/>
            <a:ext cx="8782050" cy="4176463"/>
            <a:chOff x="558396" y="2003252"/>
            <a:chExt cx="8782050" cy="4176463"/>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003252"/>
              <a:ext cx="8782050" cy="41764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a:blip r:embed="rId3"/>
            <a:stretch>
              <a:fillRect/>
            </a:stretch>
          </p:blipFill>
          <p:spPr>
            <a:xfrm>
              <a:off x="635001" y="2053895"/>
              <a:ext cx="8628737" cy="4080205"/>
            </a:xfrm>
            <a:prstGeom prst="rect">
              <a:avLst/>
            </a:prstGeom>
          </p:spPr>
        </p:pic>
      </p:grpSp>
      <p:grpSp>
        <p:nvGrpSpPr>
          <p:cNvPr id="13" name="그룹 12">
            <a:extLst>
              <a:ext uri="{FF2B5EF4-FFF2-40B4-BE49-F238E27FC236}">
                <a16:creationId xmlns:a16="http://schemas.microsoft.com/office/drawing/2014/main" id="{0F365A41-CCC0-4F14-878C-9E417C67CB43}"/>
              </a:ext>
            </a:extLst>
          </p:cNvPr>
          <p:cNvGrpSpPr/>
          <p:nvPr/>
        </p:nvGrpSpPr>
        <p:grpSpPr>
          <a:xfrm>
            <a:off x="580388" y="1413381"/>
            <a:ext cx="8887612" cy="571382"/>
            <a:chOff x="580388" y="1413381"/>
            <a:chExt cx="8887612" cy="571382"/>
          </a:xfrm>
        </p:grpSpPr>
        <p:sp>
          <p:nvSpPr>
            <p:cNvPr id="14" name="직사각형 13">
              <a:extLst>
                <a:ext uri="{FF2B5EF4-FFF2-40B4-BE49-F238E27FC236}">
                  <a16:creationId xmlns:a16="http://schemas.microsoft.com/office/drawing/2014/main" id="{EA9B1CE3-03A6-4CD2-9949-120FD403C63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15" name="Rectangle 12">
              <a:extLst>
                <a:ext uri="{FF2B5EF4-FFF2-40B4-BE49-F238E27FC236}">
                  <a16:creationId xmlns:a16="http://schemas.microsoft.com/office/drawing/2014/main" id="{DB1C0A0C-01A5-47E5-AB8F-41E820ABAAC9}"/>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a:t>
              </a:r>
            </a:p>
          </p:txBody>
        </p:sp>
      </p:grpSp>
    </p:spTree>
    <p:extLst>
      <p:ext uri="{BB962C8B-B14F-4D97-AF65-F5344CB8AC3E}">
        <p14:creationId xmlns:p14="http://schemas.microsoft.com/office/powerpoint/2010/main" val="22841059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3" name="그룹 12"/>
          <p:cNvGrpSpPr/>
          <p:nvPr/>
        </p:nvGrpSpPr>
        <p:grpSpPr>
          <a:xfrm>
            <a:off x="557644" y="5049440"/>
            <a:ext cx="8782050" cy="752258"/>
            <a:chOff x="557644" y="5085182"/>
            <a:chExt cx="8782050" cy="752258"/>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5225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Returns only unique values that are not repeated. </a:t>
              </a:r>
            </a:p>
          </p:txBody>
        </p:sp>
      </p:grpSp>
      <p:grpSp>
        <p:nvGrpSpPr>
          <p:cNvPr id="3" name="그룹 2">
            <a:extLst>
              <a:ext uri="{FF2B5EF4-FFF2-40B4-BE49-F238E27FC236}">
                <a16:creationId xmlns:a16="http://schemas.microsoft.com/office/drawing/2014/main" id="{F9B2C731-2FD1-4841-B786-3EDA7972BB5F}"/>
              </a:ext>
            </a:extLst>
          </p:cNvPr>
          <p:cNvGrpSpPr/>
          <p:nvPr/>
        </p:nvGrpSpPr>
        <p:grpSpPr>
          <a:xfrm>
            <a:off x="557644" y="1998365"/>
            <a:ext cx="8782802" cy="2952328"/>
            <a:chOff x="557644" y="2204865"/>
            <a:chExt cx="8782802" cy="2952328"/>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7644" y="2204865"/>
              <a:ext cx="8782802" cy="295232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8286"/>
            <a:stretch/>
          </p:blipFill>
          <p:spPr>
            <a:xfrm>
              <a:off x="577851" y="2279260"/>
              <a:ext cx="8761843" cy="2877933"/>
            </a:xfrm>
            <a:prstGeom prst="rect">
              <a:avLst/>
            </a:prstGeom>
          </p:spPr>
        </p:pic>
        <p:sp>
          <p:nvSpPr>
            <p:cNvPr id="4" name="직사각형 3"/>
            <p:cNvSpPr/>
            <p:nvPr/>
          </p:nvSpPr>
          <p:spPr>
            <a:xfrm>
              <a:off x="2504937" y="3084717"/>
              <a:ext cx="3029087" cy="2014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그룹 17">
            <a:extLst>
              <a:ext uri="{FF2B5EF4-FFF2-40B4-BE49-F238E27FC236}">
                <a16:creationId xmlns:a16="http://schemas.microsoft.com/office/drawing/2014/main" id="{2D607F51-54DF-41A6-A26D-441E649BE02A}"/>
              </a:ext>
            </a:extLst>
          </p:cNvPr>
          <p:cNvGrpSpPr/>
          <p:nvPr/>
        </p:nvGrpSpPr>
        <p:grpSpPr>
          <a:xfrm>
            <a:off x="580388" y="1413381"/>
            <a:ext cx="8887612" cy="571382"/>
            <a:chOff x="580388" y="1413381"/>
            <a:chExt cx="8887612" cy="571382"/>
          </a:xfrm>
        </p:grpSpPr>
        <p:sp>
          <p:nvSpPr>
            <p:cNvPr id="20" name="직사각형 19">
              <a:extLst>
                <a:ext uri="{FF2B5EF4-FFF2-40B4-BE49-F238E27FC236}">
                  <a16:creationId xmlns:a16="http://schemas.microsoft.com/office/drawing/2014/main" id="{34BCFD6C-0959-42F4-B20D-4EB21D00FB7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0D4AB88C-51AF-47EC-93F5-7DD1D380814E}"/>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a:t>
              </a:r>
            </a:p>
          </p:txBody>
        </p:sp>
      </p:grpSp>
    </p:spTree>
    <p:extLst>
      <p:ext uri="{BB962C8B-B14F-4D97-AF65-F5344CB8AC3E}">
        <p14:creationId xmlns:p14="http://schemas.microsoft.com/office/powerpoint/2010/main" val="37178662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3" name="그룹 12"/>
          <p:cNvGrpSpPr/>
          <p:nvPr/>
        </p:nvGrpSpPr>
        <p:grpSpPr>
          <a:xfrm>
            <a:off x="557644" y="4451311"/>
            <a:ext cx="8782050" cy="777889"/>
            <a:chOff x="557644" y="5085182"/>
            <a:chExt cx="8782050" cy="777889"/>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7788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Rounded up to the second decimal place.</a:t>
              </a:r>
            </a:p>
          </p:txBody>
        </p:sp>
      </p:grpSp>
      <p:sp>
        <p:nvSpPr>
          <p:cNvPr id="4" name="직사각형 3"/>
          <p:cNvSpPr/>
          <p:nvPr/>
        </p:nvSpPr>
        <p:spPr>
          <a:xfrm>
            <a:off x="2485888" y="3132342"/>
            <a:ext cx="2880320" cy="1440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그룹 5">
            <a:extLst>
              <a:ext uri="{FF2B5EF4-FFF2-40B4-BE49-F238E27FC236}">
                <a16:creationId xmlns:a16="http://schemas.microsoft.com/office/drawing/2014/main" id="{277DCBE5-B28B-4279-BB5E-41E20B08BD22}"/>
              </a:ext>
            </a:extLst>
          </p:cNvPr>
          <p:cNvGrpSpPr/>
          <p:nvPr/>
        </p:nvGrpSpPr>
        <p:grpSpPr>
          <a:xfrm>
            <a:off x="558396" y="2017019"/>
            <a:ext cx="8782050" cy="2329035"/>
            <a:chOff x="558396" y="2204865"/>
            <a:chExt cx="8782050" cy="2329035"/>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3290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0806" b="39429"/>
            <a:stretch/>
          </p:blipFill>
          <p:spPr>
            <a:xfrm>
              <a:off x="596901" y="2259437"/>
              <a:ext cx="8742793" cy="2232247"/>
            </a:xfrm>
            <a:prstGeom prst="rect">
              <a:avLst/>
            </a:prstGeom>
          </p:spPr>
        </p:pic>
        <p:sp>
          <p:nvSpPr>
            <p:cNvPr id="5" name="직사각형 4"/>
            <p:cNvSpPr/>
            <p:nvPr/>
          </p:nvSpPr>
          <p:spPr>
            <a:xfrm>
              <a:off x="3341712" y="2383744"/>
              <a:ext cx="3097188" cy="20705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그룹 17">
            <a:extLst>
              <a:ext uri="{FF2B5EF4-FFF2-40B4-BE49-F238E27FC236}">
                <a16:creationId xmlns:a16="http://schemas.microsoft.com/office/drawing/2014/main" id="{C5F27926-76CD-4885-BDB2-97B94320318B}"/>
              </a:ext>
            </a:extLst>
          </p:cNvPr>
          <p:cNvGrpSpPr/>
          <p:nvPr/>
        </p:nvGrpSpPr>
        <p:grpSpPr>
          <a:xfrm>
            <a:off x="580388" y="1413381"/>
            <a:ext cx="8887612" cy="571382"/>
            <a:chOff x="580388" y="1413381"/>
            <a:chExt cx="8887612" cy="571382"/>
          </a:xfrm>
        </p:grpSpPr>
        <p:sp>
          <p:nvSpPr>
            <p:cNvPr id="20" name="직사각형 19">
              <a:extLst>
                <a:ext uri="{FF2B5EF4-FFF2-40B4-BE49-F238E27FC236}">
                  <a16:creationId xmlns:a16="http://schemas.microsoft.com/office/drawing/2014/main" id="{62CA3D08-CD89-4A2B-9459-AD5F1EBEDD7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7602F601-1894-4142-BAFA-AF3A8BC82709}"/>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a:t>
              </a:r>
            </a:p>
          </p:txBody>
        </p:sp>
      </p:grpSp>
    </p:spTree>
    <p:extLst>
      <p:ext uri="{BB962C8B-B14F-4D97-AF65-F5344CB8AC3E}">
        <p14:creationId xmlns:p14="http://schemas.microsoft.com/office/powerpoint/2010/main" val="7382936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38E0FACF-FE74-404C-8520-589CB38DF73A}"/>
              </a:ext>
            </a:extLst>
          </p:cNvPr>
          <p:cNvGrpSpPr/>
          <p:nvPr/>
        </p:nvGrpSpPr>
        <p:grpSpPr>
          <a:xfrm>
            <a:off x="558396" y="2026172"/>
            <a:ext cx="8782050" cy="1662285"/>
            <a:chOff x="558396" y="2204865"/>
            <a:chExt cx="8782050" cy="1662285"/>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166228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4331"/>
            <a:stretch/>
          </p:blipFill>
          <p:spPr>
            <a:xfrm>
              <a:off x="577851" y="2250610"/>
              <a:ext cx="8762595" cy="1584174"/>
            </a:xfrm>
            <a:prstGeom prst="rect">
              <a:avLst/>
            </a:prstGeom>
          </p:spPr>
        </p:pic>
      </p:grpSp>
      <p:grpSp>
        <p:nvGrpSpPr>
          <p:cNvPr id="11" name="그룹 10">
            <a:extLst>
              <a:ext uri="{FF2B5EF4-FFF2-40B4-BE49-F238E27FC236}">
                <a16:creationId xmlns:a16="http://schemas.microsoft.com/office/drawing/2014/main" id="{2404AF47-CD23-4DE5-8693-C384809F0315}"/>
              </a:ext>
            </a:extLst>
          </p:cNvPr>
          <p:cNvGrpSpPr/>
          <p:nvPr/>
        </p:nvGrpSpPr>
        <p:grpSpPr>
          <a:xfrm>
            <a:off x="580388" y="1413381"/>
            <a:ext cx="8887612" cy="571382"/>
            <a:chOff x="580388" y="1413381"/>
            <a:chExt cx="8887612" cy="571382"/>
          </a:xfrm>
        </p:grpSpPr>
        <p:sp>
          <p:nvSpPr>
            <p:cNvPr id="13" name="직사각형 12">
              <a:extLst>
                <a:ext uri="{FF2B5EF4-FFF2-40B4-BE49-F238E27FC236}">
                  <a16:creationId xmlns:a16="http://schemas.microsoft.com/office/drawing/2014/main" id="{BF816044-1435-4341-B6B6-E5B3ADC2D38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14" name="Rectangle 12">
              <a:extLst>
                <a:ext uri="{FF2B5EF4-FFF2-40B4-BE49-F238E27FC236}">
                  <a16:creationId xmlns:a16="http://schemas.microsoft.com/office/drawing/2014/main" id="{E85CF9CF-7A7D-43AB-98D5-9FAFC73113E0}"/>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a:t>
              </a:r>
            </a:p>
          </p:txBody>
        </p:sp>
      </p:grpSp>
    </p:spTree>
    <p:extLst>
      <p:ext uri="{BB962C8B-B14F-4D97-AF65-F5344CB8AC3E}">
        <p14:creationId xmlns:p14="http://schemas.microsoft.com/office/powerpoint/2010/main" val="5927011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0D96D3F8-3262-4A7B-95E8-76A518495381}"/>
              </a:ext>
            </a:extLst>
          </p:cNvPr>
          <p:cNvGrpSpPr/>
          <p:nvPr/>
        </p:nvGrpSpPr>
        <p:grpSpPr>
          <a:xfrm>
            <a:off x="558396" y="2032273"/>
            <a:ext cx="8782050" cy="2090910"/>
            <a:chOff x="558396" y="2204865"/>
            <a:chExt cx="8782050" cy="2090910"/>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09091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1767"/>
            <a:stretch/>
          </p:blipFill>
          <p:spPr>
            <a:xfrm>
              <a:off x="577851" y="2268836"/>
              <a:ext cx="8762595" cy="1923677"/>
            </a:xfrm>
            <a:prstGeom prst="rect">
              <a:avLst/>
            </a:prstGeom>
          </p:spPr>
        </p:pic>
      </p:grpSp>
      <p:grpSp>
        <p:nvGrpSpPr>
          <p:cNvPr id="11" name="그룹 10">
            <a:extLst>
              <a:ext uri="{FF2B5EF4-FFF2-40B4-BE49-F238E27FC236}">
                <a16:creationId xmlns:a16="http://schemas.microsoft.com/office/drawing/2014/main" id="{D9931594-9EEF-4D84-ABE8-7CB5C66CD4A4}"/>
              </a:ext>
            </a:extLst>
          </p:cNvPr>
          <p:cNvGrpSpPr/>
          <p:nvPr/>
        </p:nvGrpSpPr>
        <p:grpSpPr>
          <a:xfrm>
            <a:off x="580388" y="1413381"/>
            <a:ext cx="8887612" cy="571382"/>
            <a:chOff x="580388" y="1413381"/>
            <a:chExt cx="8887612" cy="571382"/>
          </a:xfrm>
        </p:grpSpPr>
        <p:sp>
          <p:nvSpPr>
            <p:cNvPr id="13" name="직사각형 12">
              <a:extLst>
                <a:ext uri="{FF2B5EF4-FFF2-40B4-BE49-F238E27FC236}">
                  <a16:creationId xmlns:a16="http://schemas.microsoft.com/office/drawing/2014/main" id="{4DC2CC80-8AD5-44E8-A890-1D55E14BA10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14" name="Rectangle 12">
              <a:extLst>
                <a:ext uri="{FF2B5EF4-FFF2-40B4-BE49-F238E27FC236}">
                  <a16:creationId xmlns:a16="http://schemas.microsoft.com/office/drawing/2014/main" id="{0455536F-8AA6-4D7B-8795-CFDF6D59A801}"/>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NumPy functions:</a:t>
              </a:r>
            </a:p>
          </p:txBody>
        </p:sp>
      </p:grpSp>
    </p:spTree>
    <p:extLst>
      <p:ext uri="{BB962C8B-B14F-4D97-AF65-F5344CB8AC3E}">
        <p14:creationId xmlns:p14="http://schemas.microsoft.com/office/powerpoint/2010/main" val="36423302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F56DAD3F-4813-48E9-A6CA-031E79AA6278}"/>
              </a:ext>
            </a:extLst>
          </p:cNvPr>
          <p:cNvGrpSpPr/>
          <p:nvPr/>
        </p:nvGrpSpPr>
        <p:grpSpPr>
          <a:xfrm>
            <a:off x="557644" y="4151036"/>
            <a:ext cx="8782050" cy="1294188"/>
            <a:chOff x="557644" y="4293096"/>
            <a:chExt cx="8782050" cy="1294188"/>
          </a:xfrm>
        </p:grpSpPr>
        <p:grpSp>
          <p:nvGrpSpPr>
            <p:cNvPr id="13" name="그룹 12"/>
            <p:cNvGrpSpPr/>
            <p:nvPr/>
          </p:nvGrpSpPr>
          <p:grpSpPr>
            <a:xfrm>
              <a:off x="557644" y="4293096"/>
              <a:ext cx="8782050" cy="1294188"/>
              <a:chOff x="557644" y="5085182"/>
              <a:chExt cx="8782050" cy="1294188"/>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12941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Returns the index location with the highest value into an integer.</a:t>
                </a:r>
              </a:p>
            </p:txBody>
          </p:sp>
        </p:grpSp>
        <p:grpSp>
          <p:nvGrpSpPr>
            <p:cNvPr id="3" name="그룹 2">
              <a:extLst>
                <a:ext uri="{FF2B5EF4-FFF2-40B4-BE49-F238E27FC236}">
                  <a16:creationId xmlns:a16="http://schemas.microsoft.com/office/drawing/2014/main" id="{20131CB2-4EAF-4D3F-83A1-D11DAB1E803F}"/>
                </a:ext>
              </a:extLst>
            </p:cNvPr>
            <p:cNvGrpSpPr/>
            <p:nvPr/>
          </p:nvGrpSpPr>
          <p:grpSpPr>
            <a:xfrm>
              <a:off x="660211" y="4936153"/>
              <a:ext cx="8640559" cy="506374"/>
              <a:chOff x="660211" y="4936153"/>
              <a:chExt cx="8640559" cy="506374"/>
            </a:xfrm>
          </p:grpSpPr>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95888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18992" y="493615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19632" y="524247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Returns the index location with the lowest value into an integer.</a:t>
                </a:r>
              </a:p>
            </p:txBody>
          </p:sp>
        </p:grpSp>
      </p:grpSp>
      <p:grpSp>
        <p:nvGrpSpPr>
          <p:cNvPr id="6" name="그룹 5">
            <a:extLst>
              <a:ext uri="{FF2B5EF4-FFF2-40B4-BE49-F238E27FC236}">
                <a16:creationId xmlns:a16="http://schemas.microsoft.com/office/drawing/2014/main" id="{22DD9B10-6CA8-43CD-9CF4-D9CE3DA9329B}"/>
              </a:ext>
            </a:extLst>
          </p:cNvPr>
          <p:cNvGrpSpPr/>
          <p:nvPr/>
        </p:nvGrpSpPr>
        <p:grpSpPr>
          <a:xfrm>
            <a:off x="558396" y="2032274"/>
            <a:ext cx="8782050" cy="2016223"/>
            <a:chOff x="558396" y="2204865"/>
            <a:chExt cx="8782050" cy="2016223"/>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01622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1213"/>
            <a:stretch/>
          </p:blipFill>
          <p:spPr>
            <a:xfrm>
              <a:off x="568327" y="2251090"/>
              <a:ext cx="8771368" cy="1969998"/>
            </a:xfrm>
            <a:prstGeom prst="rect">
              <a:avLst/>
            </a:prstGeom>
          </p:spPr>
        </p:pic>
        <p:sp>
          <p:nvSpPr>
            <p:cNvPr id="4" name="직사각형 3"/>
            <p:cNvSpPr/>
            <p:nvPr/>
          </p:nvSpPr>
          <p:spPr>
            <a:xfrm>
              <a:off x="2287116" y="2828925"/>
              <a:ext cx="3637434" cy="240035"/>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직사각형 21"/>
            <p:cNvSpPr/>
            <p:nvPr/>
          </p:nvSpPr>
          <p:spPr>
            <a:xfrm>
              <a:off x="2365906" y="3590925"/>
              <a:ext cx="3558643" cy="239312"/>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그룹 25">
            <a:extLst>
              <a:ext uri="{FF2B5EF4-FFF2-40B4-BE49-F238E27FC236}">
                <a16:creationId xmlns:a16="http://schemas.microsoft.com/office/drawing/2014/main" id="{B9AEEAA3-40AF-4C87-8DDD-6ACA5CCB4D01}"/>
              </a:ext>
            </a:extLst>
          </p:cNvPr>
          <p:cNvGrpSpPr/>
          <p:nvPr/>
        </p:nvGrpSpPr>
        <p:grpSpPr>
          <a:xfrm>
            <a:off x="580388" y="1413381"/>
            <a:ext cx="8887612" cy="571382"/>
            <a:chOff x="580388" y="1413381"/>
            <a:chExt cx="8887612" cy="571382"/>
          </a:xfrm>
        </p:grpSpPr>
        <p:sp>
          <p:nvSpPr>
            <p:cNvPr id="27" name="직사각형 26">
              <a:extLst>
                <a:ext uri="{FF2B5EF4-FFF2-40B4-BE49-F238E27FC236}">
                  <a16:creationId xmlns:a16="http://schemas.microsoft.com/office/drawing/2014/main" id="{8CE2AE24-98D0-4500-A551-2846B14677D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Final Summary</a:t>
              </a:r>
              <a:endParaRPr lang="ko-KR" altLang="en-US" sz="1400" dirty="0">
                <a:solidFill>
                  <a:schemeClr val="tx1"/>
                </a:solidFill>
                <a:latin typeface="SamsungOne 400" panose="020B0503030303020204" pitchFamily="34" charset="0"/>
              </a:endParaRPr>
            </a:p>
          </p:txBody>
        </p:sp>
        <p:sp>
          <p:nvSpPr>
            <p:cNvPr id="28" name="Rectangle 12">
              <a:extLst>
                <a:ext uri="{FF2B5EF4-FFF2-40B4-BE49-F238E27FC236}">
                  <a16:creationId xmlns:a16="http://schemas.microsoft.com/office/drawing/2014/main" id="{FC1F5477-0FB6-4DEF-A522-8DCAB8C9970A}"/>
                </a:ext>
              </a:extLst>
            </p:cNvPr>
            <p:cNvSpPr/>
            <p:nvPr/>
          </p:nvSpPr>
          <p:spPr>
            <a:xfrm>
              <a:off x="711201" y="163930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Universal functions:</a:t>
              </a:r>
            </a:p>
          </p:txBody>
        </p:sp>
      </p:grpSp>
    </p:spTree>
    <p:extLst>
      <p:ext uri="{BB962C8B-B14F-4D97-AF65-F5344CB8AC3E}">
        <p14:creationId xmlns:p14="http://schemas.microsoft.com/office/powerpoint/2010/main" val="37816076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9" name="그룹 8">
            <a:extLst>
              <a:ext uri="{FF2B5EF4-FFF2-40B4-BE49-F238E27FC236}">
                <a16:creationId xmlns:a16="http://schemas.microsoft.com/office/drawing/2014/main" id="{5A41CFE1-FBB7-436E-BE76-158E59573FAF}"/>
              </a:ext>
            </a:extLst>
          </p:cNvPr>
          <p:cNvGrpSpPr/>
          <p:nvPr/>
        </p:nvGrpSpPr>
        <p:grpSpPr>
          <a:xfrm>
            <a:off x="580388" y="1413381"/>
            <a:ext cx="8887612" cy="1302714"/>
            <a:chOff x="580388" y="1413381"/>
            <a:chExt cx="8887612" cy="1302714"/>
          </a:xfrm>
        </p:grpSpPr>
        <p:sp>
          <p:nvSpPr>
            <p:cNvPr id="10" name="직사각형 9">
              <a:extLst>
                <a:ext uri="{FF2B5EF4-FFF2-40B4-BE49-F238E27FC236}">
                  <a16:creationId xmlns:a16="http://schemas.microsoft.com/office/drawing/2014/main" id="{C4A79235-9B33-482B-AA12-FFC934C682D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Linear Algebra of the NumPy Array</a:t>
              </a:r>
              <a:endParaRPr lang="ko-KR" altLang="en-US" sz="1400" dirty="0">
                <a:solidFill>
                  <a:schemeClr val="tx1"/>
                </a:solidFill>
                <a:latin typeface="SamsungOne 400" panose="020B0503030303020204" pitchFamily="34" charset="0"/>
              </a:endParaRPr>
            </a:p>
          </p:txBody>
        </p:sp>
        <p:sp>
          <p:nvSpPr>
            <p:cNvPr id="11" name="Rectangle 12">
              <a:extLst>
                <a:ext uri="{FF2B5EF4-FFF2-40B4-BE49-F238E27FC236}">
                  <a16:creationId xmlns:a16="http://schemas.microsoft.com/office/drawing/2014/main" id="{999C88B2-CF3D-4C35-96F3-2500B5948F7F}"/>
                </a:ext>
              </a:extLst>
            </p:cNvPr>
            <p:cNvSpPr/>
            <p:nvPr/>
          </p:nvSpPr>
          <p:spPr>
            <a:xfrm>
              <a:off x="711201" y="1667877"/>
              <a:ext cx="8632824"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NumPy supports not only simple operations of arrays but also matrix (two-dimensional array) operations for linear algebra.</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Among the various methods, let’s first look at how to obtain matrix multiplication, transpose matrix, inverse matrix, and determinant.</a:t>
              </a:r>
            </a:p>
          </p:txBody>
        </p:sp>
      </p:grpSp>
    </p:spTree>
    <p:extLst>
      <p:ext uri="{BB962C8B-B14F-4D97-AF65-F5344CB8AC3E}">
        <p14:creationId xmlns:p14="http://schemas.microsoft.com/office/powerpoint/2010/main" val="31585652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9" name="그룹 8">
            <a:extLst>
              <a:ext uri="{FF2B5EF4-FFF2-40B4-BE49-F238E27FC236}">
                <a16:creationId xmlns:a16="http://schemas.microsoft.com/office/drawing/2014/main" id="{070FB755-0F6B-4515-B5D2-DF07E065DB26}"/>
              </a:ext>
            </a:extLst>
          </p:cNvPr>
          <p:cNvGrpSpPr/>
          <p:nvPr/>
        </p:nvGrpSpPr>
        <p:grpSpPr>
          <a:xfrm>
            <a:off x="580388" y="1413381"/>
            <a:ext cx="8887612" cy="2010600"/>
            <a:chOff x="580388" y="1413381"/>
            <a:chExt cx="8887612" cy="2010600"/>
          </a:xfrm>
        </p:grpSpPr>
        <p:sp>
          <p:nvSpPr>
            <p:cNvPr id="10" name="직사각형 9">
              <a:extLst>
                <a:ext uri="{FF2B5EF4-FFF2-40B4-BE49-F238E27FC236}">
                  <a16:creationId xmlns:a16="http://schemas.microsoft.com/office/drawing/2014/main" id="{DC3B57BD-E3E4-4234-A5B7-D43B9976163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Matrix Operations</a:t>
              </a:r>
              <a:endParaRPr lang="ko-KR" altLang="en-US" sz="1400" dirty="0">
                <a:solidFill>
                  <a:schemeClr val="tx1"/>
                </a:solidFill>
                <a:latin typeface="SamsungOne 400" panose="020B0503030303020204" pitchFamily="34" charset="0"/>
              </a:endParaRPr>
            </a:p>
          </p:txBody>
        </p:sp>
        <p:sp>
          <p:nvSpPr>
            <p:cNvPr id="11" name="Rectangle 12">
              <a:extLst>
                <a:ext uri="{FF2B5EF4-FFF2-40B4-BE49-F238E27FC236}">
                  <a16:creationId xmlns:a16="http://schemas.microsoft.com/office/drawing/2014/main" id="{A6D3F89B-3FD9-4EF5-AC2C-DA6CAB97665B}"/>
                </a:ext>
              </a:extLst>
            </p:cNvPr>
            <p:cNvSpPr/>
            <p:nvPr/>
          </p:nvSpPr>
          <p:spPr>
            <a:xfrm>
              <a:off x="711201" y="1667877"/>
              <a:ext cx="8632824" cy="1756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following is the method for obtaining matrix product, transpose matrix, inverse matrix, and determinant for matrices A and B.</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matrix product</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transpose matrix</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inverse matrix</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determinant</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6888675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BDEFDA0F-D342-4CD3-A17B-296115F25B70}"/>
              </a:ext>
            </a:extLst>
          </p:cNvPr>
          <p:cNvGrpSpPr/>
          <p:nvPr/>
        </p:nvGrpSpPr>
        <p:grpSpPr>
          <a:xfrm>
            <a:off x="558396" y="2052390"/>
            <a:ext cx="8782050" cy="2088231"/>
            <a:chOff x="558396" y="4240541"/>
            <a:chExt cx="8782050" cy="2088231"/>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4240541"/>
              <a:ext cx="8782050" cy="20882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787"/>
            <a:stretch/>
          </p:blipFill>
          <p:spPr>
            <a:xfrm>
              <a:off x="577851" y="4295482"/>
              <a:ext cx="8762595" cy="2014240"/>
            </a:xfrm>
            <a:prstGeom prst="rect">
              <a:avLst/>
            </a:prstGeom>
          </p:spPr>
        </p:pic>
      </p:grpSp>
      <p:grpSp>
        <p:nvGrpSpPr>
          <p:cNvPr id="11" name="그룹 10">
            <a:extLst>
              <a:ext uri="{FF2B5EF4-FFF2-40B4-BE49-F238E27FC236}">
                <a16:creationId xmlns:a16="http://schemas.microsoft.com/office/drawing/2014/main" id="{F0D58790-C3C8-41DE-8C5E-625FD92B2DF4}"/>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A16AE515-4439-48BD-BB89-FCD90AE5FB2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Matrix Operations</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1B4A11EF-31B3-4BCF-9721-9095915D5B82}"/>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matrix operations, make 2x2 matrices A and B as follows:</a:t>
              </a:r>
            </a:p>
          </p:txBody>
        </p:sp>
      </p:grpSp>
    </p:spTree>
    <p:extLst>
      <p:ext uri="{BB962C8B-B14F-4D97-AF65-F5344CB8AC3E}">
        <p14:creationId xmlns:p14="http://schemas.microsoft.com/office/powerpoint/2010/main" val="7207404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6429E0BF-132F-4E88-BE43-EF3FAD894A8F}"/>
              </a:ext>
            </a:extLst>
          </p:cNvPr>
          <p:cNvGrpSpPr/>
          <p:nvPr/>
        </p:nvGrpSpPr>
        <p:grpSpPr>
          <a:xfrm>
            <a:off x="558396" y="2060848"/>
            <a:ext cx="8782050" cy="1757535"/>
            <a:chOff x="558396" y="2204865"/>
            <a:chExt cx="8782050" cy="1757535"/>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17575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1062"/>
            <a:stretch/>
          </p:blipFill>
          <p:spPr>
            <a:xfrm>
              <a:off x="577851" y="2241160"/>
              <a:ext cx="8762595" cy="1691896"/>
            </a:xfrm>
            <a:prstGeom prst="rect">
              <a:avLst/>
            </a:prstGeom>
          </p:spPr>
        </p:pic>
      </p:grpSp>
      <p:grpSp>
        <p:nvGrpSpPr>
          <p:cNvPr id="11" name="그룹 10">
            <a:extLst>
              <a:ext uri="{FF2B5EF4-FFF2-40B4-BE49-F238E27FC236}">
                <a16:creationId xmlns:a16="http://schemas.microsoft.com/office/drawing/2014/main" id="{590C66AF-A1B3-4E4C-9870-3C50E0EB9017}"/>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8934DB7A-EF03-41B4-8615-3E4FD8CBD13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Matrix Operations</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AE3BC7DF-C035-45AD-BEAD-CE3028F409CB}"/>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Example of the product of matrices A and B (A*B). Both methods can be used. </a:t>
              </a:r>
            </a:p>
          </p:txBody>
        </p:sp>
      </p:grpSp>
    </p:spTree>
    <p:extLst>
      <p:ext uri="{BB962C8B-B14F-4D97-AF65-F5344CB8AC3E}">
        <p14:creationId xmlns:p14="http://schemas.microsoft.com/office/powerpoint/2010/main" val="3649279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74C9623C-85B3-4BFA-9CD4-D673F624AE42}"/>
              </a:ext>
            </a:extLst>
          </p:cNvPr>
          <p:cNvGrpSpPr/>
          <p:nvPr/>
        </p:nvGrpSpPr>
        <p:grpSpPr>
          <a:xfrm>
            <a:off x="558396" y="2060848"/>
            <a:ext cx="8782050" cy="1748010"/>
            <a:chOff x="558396" y="2204866"/>
            <a:chExt cx="8782050" cy="1748010"/>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04866"/>
              <a:ext cx="8782050" cy="174801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0222"/>
            <a:stretch/>
          </p:blipFill>
          <p:spPr>
            <a:xfrm>
              <a:off x="577851" y="2234468"/>
              <a:ext cx="8762595" cy="1698588"/>
            </a:xfrm>
            <a:prstGeom prst="rect">
              <a:avLst/>
            </a:prstGeom>
          </p:spPr>
        </p:pic>
      </p:grpSp>
      <p:grpSp>
        <p:nvGrpSpPr>
          <p:cNvPr id="11" name="그룹 10">
            <a:extLst>
              <a:ext uri="{FF2B5EF4-FFF2-40B4-BE49-F238E27FC236}">
                <a16:creationId xmlns:a16="http://schemas.microsoft.com/office/drawing/2014/main" id="{577CA625-18AC-4776-978B-0289B75A2B19}"/>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E63A1EFD-81C8-4652-9159-D1F81810904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Matrix Operations</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93AD675F-6B92-4703-B34D-2679AD8E483E}"/>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following is an example of finding the transpose matrix of matrix A. Both methods can be used.</a:t>
              </a:r>
            </a:p>
          </p:txBody>
        </p:sp>
      </p:grpSp>
    </p:spTree>
    <p:extLst>
      <p:ext uri="{BB962C8B-B14F-4D97-AF65-F5344CB8AC3E}">
        <p14:creationId xmlns:p14="http://schemas.microsoft.com/office/powerpoint/2010/main" val="22259846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1.3. NumPy Array Operations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CEBDC3E3-3822-4589-8FAF-FF7FF6B306F1}"/>
              </a:ext>
            </a:extLst>
          </p:cNvPr>
          <p:cNvGrpSpPr/>
          <p:nvPr/>
        </p:nvGrpSpPr>
        <p:grpSpPr>
          <a:xfrm>
            <a:off x="558396" y="2060848"/>
            <a:ext cx="8782050" cy="938385"/>
            <a:chOff x="558396" y="2204865"/>
            <a:chExt cx="8782050" cy="938385"/>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93838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r="19380"/>
            <a:stretch/>
          </p:blipFill>
          <p:spPr>
            <a:xfrm>
              <a:off x="587376" y="2257573"/>
              <a:ext cx="8753070" cy="847577"/>
            </a:xfrm>
            <a:prstGeom prst="rect">
              <a:avLst/>
            </a:prstGeom>
          </p:spPr>
        </p:pic>
      </p:grpSp>
      <p:grpSp>
        <p:nvGrpSpPr>
          <p:cNvPr id="6" name="그룹 5">
            <a:extLst>
              <a:ext uri="{FF2B5EF4-FFF2-40B4-BE49-F238E27FC236}">
                <a16:creationId xmlns:a16="http://schemas.microsoft.com/office/drawing/2014/main" id="{8F53349D-5BDB-41C5-A827-D41C6D798966}"/>
              </a:ext>
            </a:extLst>
          </p:cNvPr>
          <p:cNvGrpSpPr/>
          <p:nvPr/>
        </p:nvGrpSpPr>
        <p:grpSpPr>
          <a:xfrm>
            <a:off x="567550" y="3501008"/>
            <a:ext cx="8782050" cy="788292"/>
            <a:chOff x="567550" y="3717034"/>
            <a:chExt cx="8782050" cy="788292"/>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67550" y="3717034"/>
              <a:ext cx="8782050" cy="7882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r="18722"/>
            <a:stretch/>
          </p:blipFill>
          <p:spPr>
            <a:xfrm>
              <a:off x="587376" y="3783331"/>
              <a:ext cx="8756650" cy="664843"/>
            </a:xfrm>
            <a:prstGeom prst="rect">
              <a:avLst/>
            </a:prstGeom>
          </p:spPr>
        </p:pic>
      </p:grpSp>
      <p:grpSp>
        <p:nvGrpSpPr>
          <p:cNvPr id="14" name="그룹 13">
            <a:extLst>
              <a:ext uri="{FF2B5EF4-FFF2-40B4-BE49-F238E27FC236}">
                <a16:creationId xmlns:a16="http://schemas.microsoft.com/office/drawing/2014/main" id="{11EC93D7-4A8B-49C2-9E5F-45643E11D1A7}"/>
              </a:ext>
            </a:extLst>
          </p:cNvPr>
          <p:cNvGrpSpPr/>
          <p:nvPr/>
        </p:nvGrpSpPr>
        <p:grpSpPr>
          <a:xfrm>
            <a:off x="580388" y="1413381"/>
            <a:ext cx="8887612" cy="2051061"/>
            <a:chOff x="580388" y="1413381"/>
            <a:chExt cx="8887612" cy="2051061"/>
          </a:xfrm>
        </p:grpSpPr>
        <p:sp>
          <p:nvSpPr>
            <p:cNvPr id="15" name="직사각형 14">
              <a:extLst>
                <a:ext uri="{FF2B5EF4-FFF2-40B4-BE49-F238E27FC236}">
                  <a16:creationId xmlns:a16="http://schemas.microsoft.com/office/drawing/2014/main" id="{06861E34-BDAB-40D2-9567-650B5D2DDC9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Matrix Operations</a:t>
              </a:r>
              <a:endParaRPr lang="ko-KR" altLang="en-US" sz="1400" dirty="0">
                <a:solidFill>
                  <a:schemeClr val="tx1"/>
                </a:solidFill>
                <a:latin typeface="SamsungOne 400" panose="020B0503030303020204" pitchFamily="34" charset="0"/>
              </a:endParaRPr>
            </a:p>
          </p:txBody>
        </p:sp>
        <p:sp>
          <p:nvSpPr>
            <p:cNvPr id="16" name="Rectangle 12">
              <a:extLst>
                <a:ext uri="{FF2B5EF4-FFF2-40B4-BE49-F238E27FC236}">
                  <a16:creationId xmlns:a16="http://schemas.microsoft.com/office/drawing/2014/main" id="{BF71126C-EEB6-4C43-BB15-1D17D3C1EFCF}"/>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How to find the inverse matrix of matrix A</a:t>
              </a:r>
            </a:p>
          </p:txBody>
        </p:sp>
        <p:sp>
          <p:nvSpPr>
            <p:cNvPr id="18" name="Rectangle 12">
              <a:extLst>
                <a:ext uri="{FF2B5EF4-FFF2-40B4-BE49-F238E27FC236}">
                  <a16:creationId xmlns:a16="http://schemas.microsoft.com/office/drawing/2014/main" id="{086D1AD1-67E0-4AA2-BED6-6B657DC386B1}"/>
                </a:ext>
              </a:extLst>
            </p:cNvPr>
            <p:cNvSpPr/>
            <p:nvPr/>
          </p:nvSpPr>
          <p:spPr>
            <a:xfrm>
              <a:off x="711201" y="3118981"/>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 example of obtaining a determinant of matrix A</a:t>
              </a:r>
            </a:p>
          </p:txBody>
        </p:sp>
      </p:grpSp>
    </p:spTree>
    <p:extLst>
      <p:ext uri="{BB962C8B-B14F-4D97-AF65-F5344CB8AC3E}">
        <p14:creationId xmlns:p14="http://schemas.microsoft.com/office/powerpoint/2010/main" val="18503382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67103CAE-8F82-4BD5-A81B-889421A19C44}"/>
              </a:ext>
            </a:extLst>
          </p:cNvPr>
          <p:cNvGrpSpPr/>
          <p:nvPr/>
        </p:nvGrpSpPr>
        <p:grpSpPr>
          <a:xfrm>
            <a:off x="989683" y="2748696"/>
            <a:ext cx="8354217" cy="2967406"/>
            <a:chOff x="989683" y="2748696"/>
            <a:chExt cx="8354217" cy="2967406"/>
          </a:xfrm>
        </p:grpSpPr>
        <p:sp>
          <p:nvSpPr>
            <p:cNvPr id="19" name="직사각형 133">
              <a:extLst>
                <a:ext uri="{FF2B5EF4-FFF2-40B4-BE49-F238E27FC236}">
                  <a16:creationId xmlns:a16="http://schemas.microsoft.com/office/drawing/2014/main" id="{86DA347F-AA3A-4C85-BA53-489ED1BBA39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NumPy Array Data Structure for Optimal Computational Performance</a:t>
              </a:r>
            </a:p>
          </p:txBody>
        </p:sp>
        <p:sp>
          <p:nvSpPr>
            <p:cNvPr id="22" name="직사각형 133">
              <a:extLst>
                <a:ext uri="{FF2B5EF4-FFF2-40B4-BE49-F238E27FC236}">
                  <a16:creationId xmlns:a16="http://schemas.microsoft.com/office/drawing/2014/main" id="{475F72F3-A457-49C1-B859-09245F327721}"/>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1.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25" name="그룹 24">
              <a:extLst>
                <a:ext uri="{FF2B5EF4-FFF2-40B4-BE49-F238E27FC236}">
                  <a16:creationId xmlns:a16="http://schemas.microsoft.com/office/drawing/2014/main" id="{46E08036-8F3E-486A-B6C8-49F6930AC658}"/>
                </a:ext>
              </a:extLst>
            </p:cNvPr>
            <p:cNvGrpSpPr/>
            <p:nvPr/>
          </p:nvGrpSpPr>
          <p:grpSpPr>
            <a:xfrm>
              <a:off x="1025537" y="4628753"/>
              <a:ext cx="7851751" cy="1087349"/>
              <a:chOff x="1025537" y="4609703"/>
              <a:chExt cx="7851751" cy="1087349"/>
            </a:xfrm>
          </p:grpSpPr>
          <p:sp>
            <p:nvSpPr>
              <p:cNvPr id="31" name="직사각형 30">
                <a:extLst>
                  <a:ext uri="{FF2B5EF4-FFF2-40B4-BE49-F238E27FC236}">
                    <a16:creationId xmlns:a16="http://schemas.microsoft.com/office/drawing/2014/main" id="{28AA8F4B-E0A0-449B-AEBE-4AFFD56BE13C}"/>
                  </a:ext>
                </a:extLst>
              </p:cNvPr>
              <p:cNvSpPr/>
              <p:nvPr/>
            </p:nvSpPr>
            <p:spPr>
              <a:xfrm>
                <a:off x="1025537" y="4609703"/>
                <a:ext cx="4185332" cy="1087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1.1. NumPy Arrays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1.2. NumPy Array Basics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1.3. NumPy Array Operations</a:t>
                </a:r>
              </a:p>
            </p:txBody>
          </p:sp>
          <p:sp>
            <p:nvSpPr>
              <p:cNvPr id="32" name="직사각형 31">
                <a:extLst>
                  <a:ext uri="{FF2B5EF4-FFF2-40B4-BE49-F238E27FC236}">
                    <a16:creationId xmlns:a16="http://schemas.microsoft.com/office/drawing/2014/main" id="{3A74E5AB-B7FC-4188-BB1E-85BC77A45DAD}"/>
                  </a:ext>
                </a:extLst>
              </p:cNvPr>
              <p:cNvSpPr/>
              <p:nvPr/>
            </p:nvSpPr>
            <p:spPr>
              <a:xfrm>
                <a:off x="4691956" y="4609703"/>
                <a:ext cx="4185332" cy="681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defTabSz="914400" fontAlgn="base" latinLnBrk="1">
                  <a:lnSpc>
                    <a:spcPct val="100000"/>
                  </a:lnSpc>
                  <a:spcBef>
                    <a:spcPct val="0"/>
                  </a:spcBef>
                  <a:spcAft>
                    <a:spcPts val="1000"/>
                  </a:spcAft>
                  <a:buClrTx/>
                  <a:buSzPct val="120000"/>
                  <a:buBlip>
                    <a:blip r:embed="rId4"/>
                  </a:buBlip>
                  <a:tabLst/>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1.4. NumPy Indexing and Slicing</a:t>
                </a:r>
              </a:p>
              <a:p>
                <a:pPr marL="176213" marR="0" lvl="0" indent="-176213" algn="l" defTabSz="457200" rtl="0" eaLnBrk="1" fontAlgn="auto" latinLnBrk="0" hangingPunct="1">
                  <a:lnSpc>
                    <a:spcPct val="100000"/>
                  </a:lnSpc>
                  <a:spcBef>
                    <a:spcPts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1.5. Array Transposition and Axis Swap</a:t>
                </a:r>
              </a:p>
            </p:txBody>
          </p:sp>
        </p:grpSp>
      </p:grpSp>
    </p:spTree>
    <p:extLst>
      <p:ext uri="{BB962C8B-B14F-4D97-AF65-F5344CB8AC3E}">
        <p14:creationId xmlns:p14="http://schemas.microsoft.com/office/powerpoint/2010/main" val="14220621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Indexing and Slicing</a:t>
            </a:r>
          </a:p>
        </p:txBody>
      </p:sp>
      <p:sp>
        <p:nvSpPr>
          <p:cNvPr id="23" name="Rectangle 12">
            <a:extLst>
              <a:ext uri="{FF2B5EF4-FFF2-40B4-BE49-F238E27FC236}">
                <a16:creationId xmlns:a16="http://schemas.microsoft.com/office/drawing/2014/main" id="{39C1D0BA-7152-4AAC-B295-DCCB5F8378F4}"/>
              </a:ext>
            </a:extLst>
          </p:cNvPr>
          <p:cNvSpPr/>
          <p:nvPr/>
        </p:nvSpPr>
        <p:spPr>
          <a:xfrm>
            <a:off x="711201" y="2303524"/>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select an element at a specific location in a one-dimensional array, the element’s position must be specified as shown below, and the element in the array starts at 0.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 Name[Location]</a:t>
            </a:r>
          </a:p>
        </p:txBody>
      </p:sp>
      <p:grpSp>
        <p:nvGrpSpPr>
          <p:cNvPr id="10" name="그룹 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1" name="직사각형 1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marL="0" marR="0" lvl="0" indent="0" algn="l" defTabSz="457187" rtl="0" eaLnBrk="1" fontAlgn="auto" latinLnBrk="0" hangingPunct="1">
                <a:lnSpc>
                  <a:spcPct val="100000"/>
                </a:lnSpc>
                <a:spcBef>
                  <a:spcPts val="0"/>
                </a:spcBef>
                <a:spcAft>
                  <a:spcPts val="0"/>
                </a:spcAft>
                <a:buClrTx/>
                <a:buSzTx/>
                <a:buFontTx/>
                <a:buNone/>
                <a:tabLst/>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2" name="직사각형 1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3" name="그룹 12">
            <a:extLst>
              <a:ext uri="{FF2B5EF4-FFF2-40B4-BE49-F238E27FC236}">
                <a16:creationId xmlns:a16="http://schemas.microsoft.com/office/drawing/2014/main" id="{7EF0EADC-EDC1-4624-8769-20EBFF9AC9F8}"/>
              </a:ext>
            </a:extLst>
          </p:cNvPr>
          <p:cNvGrpSpPr/>
          <p:nvPr/>
        </p:nvGrpSpPr>
        <p:grpSpPr>
          <a:xfrm>
            <a:off x="2822818" y="3212976"/>
            <a:ext cx="4039590" cy="2427593"/>
            <a:chOff x="3054033" y="3813693"/>
            <a:chExt cx="3794759" cy="2280458"/>
          </a:xfrm>
        </p:grpSpPr>
        <p:sp>
          <p:nvSpPr>
            <p:cNvPr id="14" name="TextBox 13">
              <a:extLst>
                <a:ext uri="{FF2B5EF4-FFF2-40B4-BE49-F238E27FC236}">
                  <a16:creationId xmlns:a16="http://schemas.microsoft.com/office/drawing/2014/main" id="{809B80EA-1E85-448F-9AF5-F70D1ACBDB5E}"/>
                </a:ext>
              </a:extLst>
            </p:cNvPr>
            <p:cNvSpPr txBox="1"/>
            <p:nvPr/>
          </p:nvSpPr>
          <p:spPr>
            <a:xfrm>
              <a:off x="3374725" y="3813693"/>
              <a:ext cx="3153374" cy="398990"/>
            </a:xfrm>
            <a:prstGeom prst="rect">
              <a:avLst/>
            </a:prstGeom>
            <a:noFill/>
            <a:ln w="12700">
              <a:noFill/>
            </a:ln>
          </p:spPr>
          <p:txBody>
            <a:bodyPr wrap="square" rtlCol="0" anchor="ctr">
              <a:spAutoFit/>
              <a:scene3d>
                <a:camera prst="orthographicFront"/>
                <a:lightRig rig="threePt" dir="t"/>
              </a:scene3d>
              <a:sp3d>
                <a:bevelT w="0" h="6350"/>
              </a:sp3d>
            </a:bodyPr>
            <a:lstStyle/>
            <a:p>
              <a:pPr algn="ctr" defTabSz="914400">
                <a:lnSpc>
                  <a:spcPct val="150000"/>
                </a:lnSpc>
              </a:pPr>
              <a:r>
                <a:rPr lang="en-US" sz="1600"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Indexing</a:t>
              </a:r>
            </a:p>
          </p:txBody>
        </p:sp>
        <p:grpSp>
          <p:nvGrpSpPr>
            <p:cNvPr id="15" name="Group 11">
              <a:extLst>
                <a:ext uri="{FF2B5EF4-FFF2-40B4-BE49-F238E27FC236}">
                  <a16:creationId xmlns:a16="http://schemas.microsoft.com/office/drawing/2014/main" id="{2E8AEA3F-C970-493A-A9B0-9862F4A0B70C}"/>
                </a:ext>
              </a:extLst>
            </p:cNvPr>
            <p:cNvGrpSpPr/>
            <p:nvPr/>
          </p:nvGrpSpPr>
          <p:grpSpPr>
            <a:xfrm>
              <a:off x="3054033" y="4212692"/>
              <a:ext cx="3794759" cy="1881459"/>
              <a:chOff x="4168140" y="3817523"/>
              <a:chExt cx="3794759" cy="1881459"/>
            </a:xfrm>
          </p:grpSpPr>
          <p:sp>
            <p:nvSpPr>
              <p:cNvPr id="16" name="Down Arrow 2">
                <a:extLst>
                  <a:ext uri="{FF2B5EF4-FFF2-40B4-BE49-F238E27FC236}">
                    <a16:creationId xmlns:a16="http://schemas.microsoft.com/office/drawing/2014/main" id="{CB133DBD-C04E-4B0A-85FF-D5B53D9D4F27}"/>
                  </a:ext>
                </a:extLst>
              </p:cNvPr>
              <p:cNvSpPr/>
              <p:nvPr/>
            </p:nvSpPr>
            <p:spPr>
              <a:xfrm>
                <a:off x="4754880" y="4183441"/>
                <a:ext cx="630936" cy="1452116"/>
              </a:xfrm>
              <a:prstGeom prst="downArrow">
                <a:avLst/>
              </a:prstGeom>
              <a:gradFill>
                <a:gsLst>
                  <a:gs pos="0">
                    <a:schemeClr val="bg1">
                      <a:lumMod val="65000"/>
                      <a:alpha val="0"/>
                    </a:schemeClr>
                  </a:gs>
                  <a:gs pos="100000">
                    <a:schemeClr val="bg1">
                      <a:lumMod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dirty="0"/>
              </a:p>
            </p:txBody>
          </p:sp>
          <p:sp>
            <p:nvSpPr>
              <p:cNvPr id="17" name="TextBox 16">
                <a:extLst>
                  <a:ext uri="{FF2B5EF4-FFF2-40B4-BE49-F238E27FC236}">
                    <a16:creationId xmlns:a16="http://schemas.microsoft.com/office/drawing/2014/main" id="{2A8239F9-1E73-44B2-8CA4-2EF43C5D752A}"/>
                  </a:ext>
                </a:extLst>
              </p:cNvPr>
              <p:cNvSpPr txBox="1"/>
              <p:nvPr/>
            </p:nvSpPr>
            <p:spPr>
              <a:xfrm>
                <a:off x="4864608" y="4193712"/>
                <a:ext cx="411480" cy="1387790"/>
              </a:xfrm>
              <a:prstGeom prst="rect">
                <a:avLst/>
              </a:prstGeom>
              <a:noFill/>
            </p:spPr>
            <p:txBody>
              <a:bodyPr wrap="square" rtlCol="0">
                <a:spAutoFit/>
                <a:scene3d>
                  <a:camera prst="orthographicFront"/>
                  <a:lightRig rig="threePt" dir="t"/>
                </a:scene3d>
                <a:sp3d>
                  <a:bevelT w="0" h="6350"/>
                </a:sp3d>
              </a:bodyPr>
              <a:lstStyle/>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0</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1</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2</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3</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4</a:t>
                </a:r>
              </a:p>
            </p:txBody>
          </p:sp>
          <p:sp>
            <p:nvSpPr>
              <p:cNvPr id="18" name="TextBox 17">
                <a:extLst>
                  <a:ext uri="{FF2B5EF4-FFF2-40B4-BE49-F238E27FC236}">
                    <a16:creationId xmlns:a16="http://schemas.microsoft.com/office/drawing/2014/main" id="{0C0CA075-762F-4319-84D6-908E178655E8}"/>
                  </a:ext>
                </a:extLst>
              </p:cNvPr>
              <p:cNvSpPr txBox="1"/>
              <p:nvPr/>
            </p:nvSpPr>
            <p:spPr>
              <a:xfrm>
                <a:off x="4168140" y="3817523"/>
                <a:ext cx="1804416" cy="289123"/>
              </a:xfrm>
              <a:prstGeom prst="rect">
                <a:avLst/>
              </a:prstGeom>
              <a:noFill/>
            </p:spPr>
            <p:txBody>
              <a:bodyPr wrap="square" rtlCol="0">
                <a:spAutoFit/>
                <a:scene3d>
                  <a:camera prst="orthographicFront"/>
                  <a:lightRig rig="threePt" dir="t"/>
                </a:scene3d>
                <a:sp3d>
                  <a:bevelT w="0" h="6350"/>
                </a:sp3d>
              </a:bodyPr>
              <a:lstStyle/>
              <a:p>
                <a:pPr algn="ctr" defTabSz="914400"/>
                <a:r>
                  <a:rPr lang="en-US" sz="14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rPr>
                  <a:t>The first</a:t>
                </a:r>
              </a:p>
            </p:txBody>
          </p:sp>
          <p:sp>
            <p:nvSpPr>
              <p:cNvPr id="19" name="TextBox 18">
                <a:extLst>
                  <a:ext uri="{FF2B5EF4-FFF2-40B4-BE49-F238E27FC236}">
                    <a16:creationId xmlns:a16="http://schemas.microsoft.com/office/drawing/2014/main" id="{2BCC6794-BF11-455B-ACF5-EBE08C1B4574}"/>
                  </a:ext>
                </a:extLst>
              </p:cNvPr>
              <p:cNvSpPr txBox="1"/>
              <p:nvPr/>
            </p:nvSpPr>
            <p:spPr>
              <a:xfrm>
                <a:off x="6158483" y="5409859"/>
                <a:ext cx="1804416" cy="289123"/>
              </a:xfrm>
              <a:prstGeom prst="rect">
                <a:avLst/>
              </a:prstGeom>
              <a:noFill/>
            </p:spPr>
            <p:txBody>
              <a:bodyPr wrap="square" rtlCol="0">
                <a:spAutoFit/>
                <a:scene3d>
                  <a:camera prst="orthographicFront"/>
                  <a:lightRig rig="threePt" dir="t"/>
                </a:scene3d>
                <a:sp3d>
                  <a:bevelT w="0" h="6350"/>
                </a:sp3d>
              </a:bodyPr>
              <a:lstStyle/>
              <a:p>
                <a:pPr algn="ctr" defTabSz="914400"/>
                <a:r>
                  <a:rPr lang="en-US" sz="14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rPr>
                  <a:t>The last</a:t>
                </a:r>
              </a:p>
            </p:txBody>
          </p:sp>
          <p:sp>
            <p:nvSpPr>
              <p:cNvPr id="20" name="Down Arrow 13">
                <a:extLst>
                  <a:ext uri="{FF2B5EF4-FFF2-40B4-BE49-F238E27FC236}">
                    <a16:creationId xmlns:a16="http://schemas.microsoft.com/office/drawing/2014/main" id="{021710B6-BDBA-45F6-AD3C-CA0E602E87C7}"/>
                  </a:ext>
                </a:extLst>
              </p:cNvPr>
              <p:cNvSpPr/>
              <p:nvPr/>
            </p:nvSpPr>
            <p:spPr>
              <a:xfrm rot="10800000">
                <a:off x="6745223" y="3850251"/>
                <a:ext cx="630936" cy="1576306"/>
              </a:xfrm>
              <a:prstGeom prst="downArrow">
                <a:avLst/>
              </a:prstGeom>
              <a:gradFill>
                <a:gsLst>
                  <a:gs pos="0">
                    <a:schemeClr val="bg1">
                      <a:lumMod val="65000"/>
                      <a:alpha val="0"/>
                    </a:schemeClr>
                  </a:gs>
                  <a:gs pos="100000">
                    <a:schemeClr val="bg1">
                      <a:lumMod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dirty="0"/>
              </a:p>
            </p:txBody>
          </p:sp>
          <p:sp>
            <p:nvSpPr>
              <p:cNvPr id="21" name="TextBox 20">
                <a:extLst>
                  <a:ext uri="{FF2B5EF4-FFF2-40B4-BE49-F238E27FC236}">
                    <a16:creationId xmlns:a16="http://schemas.microsoft.com/office/drawing/2014/main" id="{D3087386-E9A4-4CD0-BC79-65C188162AD2}"/>
                  </a:ext>
                </a:extLst>
              </p:cNvPr>
              <p:cNvSpPr txBox="1"/>
              <p:nvPr/>
            </p:nvSpPr>
            <p:spPr>
              <a:xfrm>
                <a:off x="6854951" y="3850251"/>
                <a:ext cx="411480" cy="1387790"/>
              </a:xfrm>
              <a:prstGeom prst="rect">
                <a:avLst/>
              </a:prstGeom>
              <a:noFill/>
            </p:spPr>
            <p:txBody>
              <a:bodyPr wrap="square" rtlCol="0">
                <a:spAutoFit/>
                <a:scene3d>
                  <a:camera prst="orthographicFront"/>
                  <a:lightRig rig="threePt" dir="t"/>
                </a:scene3d>
                <a:sp3d>
                  <a:bevelT w="0" h="6350"/>
                </a:sp3d>
              </a:bodyPr>
              <a:lstStyle/>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-5</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-4</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-3</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-2</a:t>
                </a:r>
              </a:p>
              <a:p>
                <a:pPr algn="ctr" defTabSz="914400">
                  <a:lnSpc>
                    <a:spcPct val="150000"/>
                  </a:lnSpc>
                </a:pPr>
                <a:r>
                  <a:rPr lang="en-US" sz="1200" dirty="0">
                    <a:latin typeface="SamsungOne 400" panose="020B0503030303020204" pitchFamily="34" charset="0"/>
                    <a:ea typeface="SamsungOne 400" panose="020B0503030303020204" pitchFamily="34" charset="0"/>
                    <a:cs typeface="Times New Roman" panose="02020603050405020304" pitchFamily="18" charset="0"/>
                  </a:rPr>
                  <a:t>-1</a:t>
                </a:r>
              </a:p>
            </p:txBody>
          </p:sp>
        </p:grpSp>
      </p:grpSp>
      <p:sp>
        <p:nvSpPr>
          <p:cNvPr id="35" name="직사각형 34">
            <a:extLst>
              <a:ext uri="{FF2B5EF4-FFF2-40B4-BE49-F238E27FC236}">
                <a16:creationId xmlns:a16="http://schemas.microsoft.com/office/drawing/2014/main" id="{C61303DA-D85B-4345-806F-3AA828D61EA0}"/>
              </a:ext>
            </a:extLst>
          </p:cNvPr>
          <p:cNvSpPr/>
          <p:nvPr/>
        </p:nvSpPr>
        <p:spPr>
          <a:xfrm>
            <a:off x="580388" y="1867087"/>
            <a:ext cx="8887612"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Selecting elements in an array by specifying the location or condition of an array is called indexing. And selecting elements in an array by specifying a range is called slicing.</a:t>
            </a:r>
          </a:p>
        </p:txBody>
      </p:sp>
    </p:spTree>
    <p:extLst>
      <p:ext uri="{BB962C8B-B14F-4D97-AF65-F5344CB8AC3E}">
        <p14:creationId xmlns:p14="http://schemas.microsoft.com/office/powerpoint/2010/main" val="37421322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E527C766-BA1D-45AD-9DE0-1484DED2EB7F}"/>
              </a:ext>
            </a:extLst>
          </p:cNvPr>
          <p:cNvGrpSpPr/>
          <p:nvPr/>
        </p:nvGrpSpPr>
        <p:grpSpPr>
          <a:xfrm>
            <a:off x="558396" y="2060848"/>
            <a:ext cx="8782051" cy="2367135"/>
            <a:chOff x="558396" y="2204865"/>
            <a:chExt cx="8782051" cy="2367135"/>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23671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420" r="18954"/>
            <a:stretch/>
          </p:blipFill>
          <p:spPr>
            <a:xfrm>
              <a:off x="638175" y="2267582"/>
              <a:ext cx="8702272" cy="2169530"/>
            </a:xfrm>
            <a:prstGeom prst="rect">
              <a:avLst/>
            </a:prstGeom>
          </p:spPr>
        </p:pic>
      </p:grpSp>
      <p:grpSp>
        <p:nvGrpSpPr>
          <p:cNvPr id="11" name="그룹 10">
            <a:extLst>
              <a:ext uri="{FF2B5EF4-FFF2-40B4-BE49-F238E27FC236}">
                <a16:creationId xmlns:a16="http://schemas.microsoft.com/office/drawing/2014/main" id="{B29DEFDF-36DB-4BB5-8BEE-6331CC7CFB20}"/>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A77FF1F1-4DC7-4805-913E-60FD16898D5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20EE7A4E-79CE-4778-8085-0609E35CD188}"/>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Indexing a one-dimensional array is like Python list indexing.</a:t>
              </a:r>
            </a:p>
          </p:txBody>
        </p:sp>
      </p:grpSp>
    </p:spTree>
    <p:extLst>
      <p:ext uri="{BB962C8B-B14F-4D97-AF65-F5344CB8AC3E}">
        <p14:creationId xmlns:p14="http://schemas.microsoft.com/office/powerpoint/2010/main" val="41768603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FD15E310-4654-45AF-92C2-8C9F4792968F}"/>
              </a:ext>
            </a:extLst>
          </p:cNvPr>
          <p:cNvGrpSpPr/>
          <p:nvPr/>
        </p:nvGrpSpPr>
        <p:grpSpPr>
          <a:xfrm>
            <a:off x="557644" y="2060848"/>
            <a:ext cx="8782802" cy="2385788"/>
            <a:chOff x="557644" y="2204865"/>
            <a:chExt cx="8782802" cy="2385788"/>
          </a:xfrm>
        </p:grpSpPr>
        <p:grpSp>
          <p:nvGrpSpPr>
            <p:cNvPr id="12" name="그룹 11"/>
            <p:cNvGrpSpPr/>
            <p:nvPr/>
          </p:nvGrpSpPr>
          <p:grpSpPr>
            <a:xfrm>
              <a:off x="557644" y="3879199"/>
              <a:ext cx="8782050" cy="711454"/>
              <a:chOff x="557644" y="5085182"/>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0" name="TextBox 19">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Can access one specific multi-dimensional value.</a:t>
                </a:r>
              </a:p>
            </p:txBody>
          </p:sp>
        </p:grpSp>
        <p:grpSp>
          <p:nvGrpSpPr>
            <p:cNvPr id="3" name="그룹 2">
              <a:extLst>
                <a:ext uri="{FF2B5EF4-FFF2-40B4-BE49-F238E27FC236}">
                  <a16:creationId xmlns:a16="http://schemas.microsoft.com/office/drawing/2014/main" id="{D0F891E3-5333-497B-BB8A-39B828171FA1}"/>
                </a:ext>
              </a:extLst>
            </p:cNvPr>
            <p:cNvGrpSpPr/>
            <p:nvPr/>
          </p:nvGrpSpPr>
          <p:grpSpPr>
            <a:xfrm>
              <a:off x="558396" y="2204865"/>
              <a:ext cx="8782050" cy="1567035"/>
              <a:chOff x="558396" y="2204865"/>
              <a:chExt cx="8782050" cy="1567035"/>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04865"/>
                <a:ext cx="8782050" cy="15670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371" r="18763"/>
              <a:stretch/>
            </p:blipFill>
            <p:spPr>
              <a:xfrm>
                <a:off x="637406" y="2233111"/>
                <a:ext cx="8702288" cy="1474396"/>
              </a:xfrm>
              <a:prstGeom prst="rect">
                <a:avLst/>
              </a:prstGeom>
            </p:spPr>
          </p:pic>
        </p:grpSp>
      </p:grpSp>
      <p:grpSp>
        <p:nvGrpSpPr>
          <p:cNvPr id="21" name="그룹 20">
            <a:extLst>
              <a:ext uri="{FF2B5EF4-FFF2-40B4-BE49-F238E27FC236}">
                <a16:creationId xmlns:a16="http://schemas.microsoft.com/office/drawing/2014/main" id="{37E649AC-74C7-4016-B40B-782DBDD37035}"/>
              </a:ext>
            </a:extLst>
          </p:cNvPr>
          <p:cNvGrpSpPr/>
          <p:nvPr/>
        </p:nvGrpSpPr>
        <p:grpSpPr>
          <a:xfrm>
            <a:off x="580388" y="1413381"/>
            <a:ext cx="8887612" cy="599957"/>
            <a:chOff x="580388" y="1413381"/>
            <a:chExt cx="8887612" cy="599957"/>
          </a:xfrm>
        </p:grpSpPr>
        <p:sp>
          <p:nvSpPr>
            <p:cNvPr id="22" name="직사각형 21">
              <a:extLst>
                <a:ext uri="{FF2B5EF4-FFF2-40B4-BE49-F238E27FC236}">
                  <a16:creationId xmlns:a16="http://schemas.microsoft.com/office/drawing/2014/main" id="{762CDFC4-DCF0-4FF3-9BE4-0211AB93D1D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23" name="Rectangle 12">
              <a:extLst>
                <a:ext uri="{FF2B5EF4-FFF2-40B4-BE49-F238E27FC236}">
                  <a16:creationId xmlns:a16="http://schemas.microsoft.com/office/drawing/2014/main" id="{54C1566D-1EC5-4BB5-942B-F35EA371B1A7}"/>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Multi-dimensional arrays can also be approached like list indexing.</a:t>
              </a:r>
            </a:p>
          </p:txBody>
        </p:sp>
      </p:grpSp>
    </p:spTree>
    <p:extLst>
      <p:ext uri="{BB962C8B-B14F-4D97-AF65-F5344CB8AC3E}">
        <p14:creationId xmlns:p14="http://schemas.microsoft.com/office/powerpoint/2010/main" val="33996169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BC8A490B-A811-4D39-963A-215C306F3055}"/>
              </a:ext>
            </a:extLst>
          </p:cNvPr>
          <p:cNvGrpSpPr/>
          <p:nvPr/>
        </p:nvGrpSpPr>
        <p:grpSpPr>
          <a:xfrm>
            <a:off x="558396" y="2795786"/>
            <a:ext cx="8782050" cy="777230"/>
            <a:chOff x="558396" y="2737496"/>
            <a:chExt cx="8782050" cy="777230"/>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737496"/>
              <a:ext cx="8782050" cy="77723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669" r="21724"/>
            <a:stretch/>
          </p:blipFill>
          <p:spPr>
            <a:xfrm>
              <a:off x="600075" y="2763010"/>
              <a:ext cx="8740371" cy="737998"/>
            </a:xfrm>
            <a:prstGeom prst="rect">
              <a:avLst/>
            </a:prstGeom>
          </p:spPr>
        </p:pic>
      </p:grpSp>
      <p:grpSp>
        <p:nvGrpSpPr>
          <p:cNvPr id="11" name="그룹 10">
            <a:extLst>
              <a:ext uri="{FF2B5EF4-FFF2-40B4-BE49-F238E27FC236}">
                <a16:creationId xmlns:a16="http://schemas.microsoft.com/office/drawing/2014/main" id="{B681D2EF-1CBB-49FB-8718-79459B824750}"/>
              </a:ext>
            </a:extLst>
          </p:cNvPr>
          <p:cNvGrpSpPr/>
          <p:nvPr/>
        </p:nvGrpSpPr>
        <p:grpSpPr>
          <a:xfrm>
            <a:off x="580388" y="1413381"/>
            <a:ext cx="8887612" cy="1302714"/>
            <a:chOff x="580388" y="1413381"/>
            <a:chExt cx="8887612" cy="1302714"/>
          </a:xfrm>
        </p:grpSpPr>
        <p:sp>
          <p:nvSpPr>
            <p:cNvPr id="12" name="직사각형 11">
              <a:extLst>
                <a:ext uri="{FF2B5EF4-FFF2-40B4-BE49-F238E27FC236}">
                  <a16:creationId xmlns:a16="http://schemas.microsoft.com/office/drawing/2014/main" id="{6E4D48FF-153E-40A1-9D9C-24AAC14BD9C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942C48C6-B1D9-47DD-8A07-9D53A935C837}"/>
                </a:ext>
              </a:extLst>
            </p:cNvPr>
            <p:cNvSpPr/>
            <p:nvPr/>
          </p:nvSpPr>
          <p:spPr>
            <a:xfrm>
              <a:off x="711201" y="1667877"/>
              <a:ext cx="8632824"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Unlike list indexing, dimensions can be divided into commas (,) and approached in a multidimensional array. The dimension divided by commas is called an axis. Since b is a two-dimensional array, we can treat it as a matrix. Vales in columns 1 and 2 can be accessed as on the previous page.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can also be approached as shown below.</a:t>
              </a:r>
            </a:p>
          </p:txBody>
        </p:sp>
      </p:grpSp>
    </p:spTree>
    <p:extLst>
      <p:ext uri="{BB962C8B-B14F-4D97-AF65-F5344CB8AC3E}">
        <p14:creationId xmlns:p14="http://schemas.microsoft.com/office/powerpoint/2010/main" val="17366045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63B54039-0E57-4221-9235-4D4266908031}"/>
              </a:ext>
            </a:extLst>
          </p:cNvPr>
          <p:cNvGrpSpPr/>
          <p:nvPr/>
        </p:nvGrpSpPr>
        <p:grpSpPr>
          <a:xfrm>
            <a:off x="558396" y="2246904"/>
            <a:ext cx="8782050" cy="2210796"/>
            <a:chOff x="558396" y="2246904"/>
            <a:chExt cx="8782050" cy="2210796"/>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396" y="2246904"/>
              <a:ext cx="8782050" cy="22107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097" r="18557"/>
            <a:stretch/>
          </p:blipFill>
          <p:spPr>
            <a:xfrm>
              <a:off x="709414" y="2318976"/>
              <a:ext cx="8631032" cy="2046127"/>
            </a:xfrm>
            <a:prstGeom prst="rect">
              <a:avLst/>
            </a:prstGeom>
          </p:spPr>
        </p:pic>
      </p:grpSp>
      <p:grpSp>
        <p:nvGrpSpPr>
          <p:cNvPr id="11" name="그룹 10">
            <a:extLst>
              <a:ext uri="{FF2B5EF4-FFF2-40B4-BE49-F238E27FC236}">
                <a16:creationId xmlns:a16="http://schemas.microsoft.com/office/drawing/2014/main" id="{A0F9B744-9FB5-4CA4-ACD5-BE694D0ED298}"/>
              </a:ext>
            </a:extLst>
          </p:cNvPr>
          <p:cNvGrpSpPr/>
          <p:nvPr/>
        </p:nvGrpSpPr>
        <p:grpSpPr>
          <a:xfrm>
            <a:off x="580388" y="1413381"/>
            <a:ext cx="8887612" cy="800012"/>
            <a:chOff x="580388" y="1413381"/>
            <a:chExt cx="8887612" cy="800012"/>
          </a:xfrm>
        </p:grpSpPr>
        <p:sp>
          <p:nvSpPr>
            <p:cNvPr id="12" name="직사각형 11">
              <a:extLst>
                <a:ext uri="{FF2B5EF4-FFF2-40B4-BE49-F238E27FC236}">
                  <a16:creationId xmlns:a16="http://schemas.microsoft.com/office/drawing/2014/main" id="{C744FFF5-A83E-4CF2-8900-6B14EB48C44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EFAB3FCE-9513-43CD-B9BF-4001F264802C}"/>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Not only can the array’s elements be imported, but the value of the corresponding index can be changed as follows.</a:t>
              </a:r>
            </a:p>
          </p:txBody>
        </p:sp>
      </p:grpSp>
    </p:spTree>
    <p:extLst>
      <p:ext uri="{BB962C8B-B14F-4D97-AF65-F5344CB8AC3E}">
        <p14:creationId xmlns:p14="http://schemas.microsoft.com/office/powerpoint/2010/main" val="24422049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3" name="그룹 12"/>
          <p:cNvGrpSpPr/>
          <p:nvPr/>
        </p:nvGrpSpPr>
        <p:grpSpPr>
          <a:xfrm>
            <a:off x="557644" y="3961631"/>
            <a:ext cx="8782050" cy="711454"/>
            <a:chOff x="557644" y="5085182"/>
            <a:chExt cx="8782050" cy="711454"/>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Elements 10, 30, and 40 located at positions 1, 3, and 4 were taken from the one-dimensional array a1.</a:t>
              </a:r>
            </a:p>
          </p:txBody>
        </p:sp>
      </p:grpSp>
      <p:grpSp>
        <p:nvGrpSpPr>
          <p:cNvPr id="3" name="그룹 2">
            <a:extLst>
              <a:ext uri="{FF2B5EF4-FFF2-40B4-BE49-F238E27FC236}">
                <a16:creationId xmlns:a16="http://schemas.microsoft.com/office/drawing/2014/main" id="{55000FE9-4FF5-4078-8FC8-E486ECB8BF0A}"/>
              </a:ext>
            </a:extLst>
          </p:cNvPr>
          <p:cNvGrpSpPr/>
          <p:nvPr/>
        </p:nvGrpSpPr>
        <p:grpSpPr>
          <a:xfrm>
            <a:off x="558396" y="2996952"/>
            <a:ext cx="8782050" cy="864096"/>
            <a:chOff x="558396" y="3068960"/>
            <a:chExt cx="8782050" cy="864096"/>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3068960"/>
              <a:ext cx="8782050" cy="8640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474" r="21394"/>
            <a:stretch/>
          </p:blipFill>
          <p:spPr>
            <a:xfrm>
              <a:off x="676275" y="3097695"/>
              <a:ext cx="8663419" cy="759930"/>
            </a:xfrm>
            <a:prstGeom prst="rect">
              <a:avLst/>
            </a:prstGeom>
          </p:spPr>
        </p:pic>
        <p:sp>
          <p:nvSpPr>
            <p:cNvPr id="4" name="직사각형 3"/>
            <p:cNvSpPr/>
            <p:nvPr/>
          </p:nvSpPr>
          <p:spPr>
            <a:xfrm>
              <a:off x="2396325" y="3264919"/>
              <a:ext cx="5480850" cy="21170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그룹 21">
            <a:extLst>
              <a:ext uri="{FF2B5EF4-FFF2-40B4-BE49-F238E27FC236}">
                <a16:creationId xmlns:a16="http://schemas.microsoft.com/office/drawing/2014/main" id="{3742BAC0-DA4A-458F-BA82-97EA02FA7C64}"/>
              </a:ext>
            </a:extLst>
          </p:cNvPr>
          <p:cNvGrpSpPr/>
          <p:nvPr/>
        </p:nvGrpSpPr>
        <p:grpSpPr>
          <a:xfrm>
            <a:off x="580388" y="1413381"/>
            <a:ext cx="8887612" cy="1507898"/>
            <a:chOff x="580388" y="1413381"/>
            <a:chExt cx="8887612" cy="1507898"/>
          </a:xfrm>
        </p:grpSpPr>
        <p:sp>
          <p:nvSpPr>
            <p:cNvPr id="23" name="직사각형 22">
              <a:extLst>
                <a:ext uri="{FF2B5EF4-FFF2-40B4-BE49-F238E27FC236}">
                  <a16:creationId xmlns:a16="http://schemas.microsoft.com/office/drawing/2014/main" id="{5AF88C5D-27B2-4F08-A075-AF713B0E019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24" name="Rectangle 12">
              <a:extLst>
                <a:ext uri="{FF2B5EF4-FFF2-40B4-BE49-F238E27FC236}">
                  <a16:creationId xmlns:a16="http://schemas.microsoft.com/office/drawing/2014/main" id="{A51D1E40-1866-4819-9EFC-DD16902C5383}"/>
                </a:ext>
              </a:extLst>
            </p:cNvPr>
            <p:cNvSpPr/>
            <p:nvPr/>
          </p:nvSpPr>
          <p:spPr>
            <a:xfrm>
              <a:off x="711201" y="1667877"/>
              <a:ext cx="8632824"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select multiple elements from a one-dimensional array, store them as follows.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outer brackets are brackets for indexing, and the inner brackets are brackets for the list.</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 name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 name [[position 1, position 2, ..., position n]]</a:t>
              </a:r>
            </a:p>
          </p:txBody>
        </p:sp>
      </p:grpSp>
    </p:spTree>
    <p:extLst>
      <p:ext uri="{BB962C8B-B14F-4D97-AF65-F5344CB8AC3E}">
        <p14:creationId xmlns:p14="http://schemas.microsoft.com/office/powerpoint/2010/main" val="40477965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D0850746-79AC-4899-8AD6-F00B35A1BE84}"/>
              </a:ext>
            </a:extLst>
          </p:cNvPr>
          <p:cNvGrpSpPr/>
          <p:nvPr/>
        </p:nvGrpSpPr>
        <p:grpSpPr>
          <a:xfrm>
            <a:off x="558396" y="3429000"/>
            <a:ext cx="8782051" cy="1237686"/>
            <a:chOff x="558396" y="3677214"/>
            <a:chExt cx="8782051" cy="1237686"/>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3677214"/>
              <a:ext cx="8782050" cy="12376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370" r="20545"/>
            <a:stretch/>
          </p:blipFill>
          <p:spPr>
            <a:xfrm>
              <a:off x="665981" y="3712840"/>
              <a:ext cx="8674466" cy="1156320"/>
            </a:xfrm>
            <a:prstGeom prst="rect">
              <a:avLst/>
            </a:prstGeom>
          </p:spPr>
        </p:pic>
      </p:grpSp>
      <p:grpSp>
        <p:nvGrpSpPr>
          <p:cNvPr id="13" name="그룹 12">
            <a:extLst>
              <a:ext uri="{FF2B5EF4-FFF2-40B4-BE49-F238E27FC236}">
                <a16:creationId xmlns:a16="http://schemas.microsoft.com/office/drawing/2014/main" id="{E2B9A2F4-681A-4114-9F2B-220DCE43A2C6}"/>
              </a:ext>
            </a:extLst>
          </p:cNvPr>
          <p:cNvGrpSpPr/>
          <p:nvPr/>
        </p:nvGrpSpPr>
        <p:grpSpPr>
          <a:xfrm>
            <a:off x="580388" y="1413381"/>
            <a:ext cx="8887612" cy="1908007"/>
            <a:chOff x="580388" y="1413381"/>
            <a:chExt cx="8887612" cy="1908007"/>
          </a:xfrm>
        </p:grpSpPr>
        <p:sp>
          <p:nvSpPr>
            <p:cNvPr id="17" name="직사각형 16">
              <a:extLst>
                <a:ext uri="{FF2B5EF4-FFF2-40B4-BE49-F238E27FC236}">
                  <a16:creationId xmlns:a16="http://schemas.microsoft.com/office/drawing/2014/main" id="{BA242121-D0A1-4CB5-8984-547E33D4B3C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18" name="Rectangle 12">
              <a:extLst>
                <a:ext uri="{FF2B5EF4-FFF2-40B4-BE49-F238E27FC236}">
                  <a16:creationId xmlns:a16="http://schemas.microsoft.com/office/drawing/2014/main" id="{4B2BEBB2-1314-4A12-8E44-21AA46E3E655}"/>
                </a:ext>
              </a:extLst>
            </p:cNvPr>
            <p:cNvSpPr/>
            <p:nvPr/>
          </p:nvSpPr>
          <p:spPr>
            <a:xfrm>
              <a:off x="711201" y="1667877"/>
              <a:ext cx="8632824" cy="165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select an element at a specific location in a two-dimensional array, specify the positions of rows and columns as follows.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 name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only the array name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entered without a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the entire designated row is selected.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a method of selecting and importing a specific element by indexing in a two-dimensional array.</a:t>
              </a:r>
              <a:endParaRPr lang="en-US" altLang="ko-KR" sz="1300" dirty="0">
                <a:solidFill>
                  <a:srgbClr val="FF0000"/>
                </a:solidFill>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10046888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5822EA53-CE5F-414B-953A-78BD81524903}"/>
              </a:ext>
            </a:extLst>
          </p:cNvPr>
          <p:cNvGrpSpPr/>
          <p:nvPr/>
        </p:nvGrpSpPr>
        <p:grpSpPr>
          <a:xfrm>
            <a:off x="558396" y="2260389"/>
            <a:ext cx="8782050" cy="827621"/>
            <a:chOff x="558396" y="2115604"/>
            <a:chExt cx="8782050" cy="827621"/>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115604"/>
              <a:ext cx="8782050" cy="82762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71" r="25409"/>
            <a:stretch/>
          </p:blipFill>
          <p:spPr>
            <a:xfrm>
              <a:off x="656455" y="2139445"/>
              <a:ext cx="8683991" cy="775974"/>
            </a:xfrm>
            <a:prstGeom prst="rect">
              <a:avLst/>
            </a:prstGeom>
          </p:spPr>
        </p:pic>
      </p:grpSp>
      <p:grpSp>
        <p:nvGrpSpPr>
          <p:cNvPr id="6" name="그룹 5">
            <a:extLst>
              <a:ext uri="{FF2B5EF4-FFF2-40B4-BE49-F238E27FC236}">
                <a16:creationId xmlns:a16="http://schemas.microsoft.com/office/drawing/2014/main" id="{4E6299E8-F038-4EBB-BA7A-4303BAE8B137}"/>
              </a:ext>
            </a:extLst>
          </p:cNvPr>
          <p:cNvGrpSpPr/>
          <p:nvPr/>
        </p:nvGrpSpPr>
        <p:grpSpPr>
          <a:xfrm>
            <a:off x="558924" y="3802361"/>
            <a:ext cx="8782050" cy="1296144"/>
            <a:chOff x="558924" y="4149080"/>
            <a:chExt cx="8782050" cy="1296144"/>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4149080"/>
              <a:ext cx="8782050" cy="129614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371" r="21605"/>
            <a:stretch/>
          </p:blipFill>
          <p:spPr>
            <a:xfrm>
              <a:off x="665981" y="4192600"/>
              <a:ext cx="8674466" cy="1180616"/>
            </a:xfrm>
            <a:prstGeom prst="rect">
              <a:avLst/>
            </a:prstGeom>
          </p:spPr>
        </p:pic>
      </p:grpSp>
      <p:sp>
        <p:nvSpPr>
          <p:cNvPr id="17" name="Rectangle 12">
            <a:extLst>
              <a:ext uri="{FF2B5EF4-FFF2-40B4-BE49-F238E27FC236}">
                <a16:creationId xmlns:a16="http://schemas.microsoft.com/office/drawing/2014/main" id="{39C1D0BA-7152-4AAC-B295-DCCB5F8378F4}"/>
              </a:ext>
            </a:extLst>
          </p:cNvPr>
          <p:cNvSpPr/>
          <p:nvPr/>
        </p:nvSpPr>
        <p:spPr>
          <a:xfrm>
            <a:off x="711201" y="3224475"/>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 shown below, you can also change the value after selecting an element by specifying the positions of rows and columns in a two-dimensional array. </a:t>
            </a:r>
          </a:p>
        </p:txBody>
      </p:sp>
      <p:grpSp>
        <p:nvGrpSpPr>
          <p:cNvPr id="18" name="그룹 17">
            <a:extLst>
              <a:ext uri="{FF2B5EF4-FFF2-40B4-BE49-F238E27FC236}">
                <a16:creationId xmlns:a16="http://schemas.microsoft.com/office/drawing/2014/main" id="{399A0F19-ECC8-4BC5-8693-DFC844A409CB}"/>
              </a:ext>
            </a:extLst>
          </p:cNvPr>
          <p:cNvGrpSpPr/>
          <p:nvPr/>
        </p:nvGrpSpPr>
        <p:grpSpPr>
          <a:xfrm>
            <a:off x="580388" y="1413381"/>
            <a:ext cx="8887612" cy="800012"/>
            <a:chOff x="580388" y="1413381"/>
            <a:chExt cx="8887612" cy="800012"/>
          </a:xfrm>
        </p:grpSpPr>
        <p:sp>
          <p:nvSpPr>
            <p:cNvPr id="20" name="직사각형 19">
              <a:extLst>
                <a:ext uri="{FF2B5EF4-FFF2-40B4-BE49-F238E27FC236}">
                  <a16:creationId xmlns:a16="http://schemas.microsoft.com/office/drawing/2014/main" id="{0EF17BF5-189D-4443-AD97-E10E2FDAEA4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5266F322-CE1D-4AD2-B32B-04105D4E7308}"/>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two-dimensional array a2, an element having a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of 0 and a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of 2 is selected and imported as follows. </a:t>
              </a:r>
            </a:p>
          </p:txBody>
        </p:sp>
      </p:grpSp>
    </p:spTree>
    <p:extLst>
      <p:ext uri="{BB962C8B-B14F-4D97-AF65-F5344CB8AC3E}">
        <p14:creationId xmlns:p14="http://schemas.microsoft.com/office/powerpoint/2010/main" val="34601638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B98C709A-1F0B-429C-845A-CAB9C489EB75}"/>
              </a:ext>
            </a:extLst>
          </p:cNvPr>
          <p:cNvGrpSpPr/>
          <p:nvPr/>
        </p:nvGrpSpPr>
        <p:grpSpPr>
          <a:xfrm>
            <a:off x="558396" y="2060848"/>
            <a:ext cx="8782050" cy="864096"/>
            <a:chOff x="558396" y="2115604"/>
            <a:chExt cx="8782050" cy="864096"/>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396" y="2115604"/>
              <a:ext cx="8782050" cy="8640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091" r="27085"/>
            <a:stretch/>
          </p:blipFill>
          <p:spPr>
            <a:xfrm>
              <a:off x="628649" y="2158091"/>
              <a:ext cx="8711797" cy="784566"/>
            </a:xfrm>
            <a:prstGeom prst="rect">
              <a:avLst/>
            </a:prstGeom>
          </p:spPr>
        </p:pic>
      </p:grpSp>
      <p:grpSp>
        <p:nvGrpSpPr>
          <p:cNvPr id="4" name="그룹 3">
            <a:extLst>
              <a:ext uri="{FF2B5EF4-FFF2-40B4-BE49-F238E27FC236}">
                <a16:creationId xmlns:a16="http://schemas.microsoft.com/office/drawing/2014/main" id="{24ABC86A-C9A1-4B41-BC13-3A5800B24335}"/>
              </a:ext>
            </a:extLst>
          </p:cNvPr>
          <p:cNvGrpSpPr/>
          <p:nvPr/>
        </p:nvGrpSpPr>
        <p:grpSpPr>
          <a:xfrm>
            <a:off x="558924" y="3506882"/>
            <a:ext cx="8782050" cy="1296144"/>
            <a:chOff x="558924" y="3506882"/>
            <a:chExt cx="8782050" cy="1296144"/>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3506882"/>
              <a:ext cx="8782050" cy="129614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l="1371" r="26019"/>
            <a:stretch/>
          </p:blipFill>
          <p:spPr>
            <a:xfrm>
              <a:off x="656455" y="3567046"/>
              <a:ext cx="8683991" cy="1235980"/>
            </a:xfrm>
            <a:prstGeom prst="rect">
              <a:avLst/>
            </a:prstGeom>
          </p:spPr>
        </p:pic>
      </p:grpSp>
      <p:sp>
        <p:nvSpPr>
          <p:cNvPr id="17" name="Rectangle 12">
            <a:extLst>
              <a:ext uri="{FF2B5EF4-FFF2-40B4-BE49-F238E27FC236}">
                <a16:creationId xmlns:a16="http://schemas.microsoft.com/office/drawing/2014/main" id="{39C1D0BA-7152-4AAC-B295-DCCB5F8378F4}"/>
              </a:ext>
            </a:extLst>
          </p:cNvPr>
          <p:cNvSpPr/>
          <p:nvPr/>
        </p:nvSpPr>
        <p:spPr>
          <a:xfrm>
            <a:off x="711201" y="310759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entire row can also be changed by specifying a specific row in a two-dimensional array, as shown below. </a:t>
            </a:r>
          </a:p>
        </p:txBody>
      </p:sp>
      <p:grpSp>
        <p:nvGrpSpPr>
          <p:cNvPr id="18" name="그룹 17">
            <a:extLst>
              <a:ext uri="{FF2B5EF4-FFF2-40B4-BE49-F238E27FC236}">
                <a16:creationId xmlns:a16="http://schemas.microsoft.com/office/drawing/2014/main" id="{87F456E7-1FA8-4D9B-ADA0-059EEA5D1C11}"/>
              </a:ext>
            </a:extLst>
          </p:cNvPr>
          <p:cNvGrpSpPr/>
          <p:nvPr/>
        </p:nvGrpSpPr>
        <p:grpSpPr>
          <a:xfrm>
            <a:off x="580388" y="1413381"/>
            <a:ext cx="8887612" cy="599957"/>
            <a:chOff x="580388" y="1413381"/>
            <a:chExt cx="8887612" cy="599957"/>
          </a:xfrm>
        </p:grpSpPr>
        <p:sp>
          <p:nvSpPr>
            <p:cNvPr id="20" name="직사각형 19">
              <a:extLst>
                <a:ext uri="{FF2B5EF4-FFF2-40B4-BE49-F238E27FC236}">
                  <a16:creationId xmlns:a16="http://schemas.microsoft.com/office/drawing/2014/main" id="{14D612DB-3744-42D3-A242-446CC2544FC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B7E79D45-6757-4FE2-8F1C-84B44BC10674}"/>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method of obtaining the entire row by specifying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row_position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in a two-dimensional array is shown below. </a:t>
              </a:r>
            </a:p>
          </p:txBody>
        </p:sp>
      </p:grpSp>
    </p:spTree>
    <p:extLst>
      <p:ext uri="{BB962C8B-B14F-4D97-AF65-F5344CB8AC3E}">
        <p14:creationId xmlns:p14="http://schemas.microsoft.com/office/powerpoint/2010/main" val="17056182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7" name="그룹 16"/>
          <p:cNvGrpSpPr/>
          <p:nvPr/>
        </p:nvGrpSpPr>
        <p:grpSpPr>
          <a:xfrm>
            <a:off x="557644" y="5041751"/>
            <a:ext cx="8782050" cy="711454"/>
            <a:chOff x="557644" y="5085182"/>
            <a:chExt cx="8782050" cy="711454"/>
          </a:xfrm>
        </p:grpSpPr>
        <p:sp>
          <p:nvSpPr>
            <p:cNvPr id="18" name="모서리가 둥근 직사각형 4">
              <a:extLst>
                <a:ext uri="{FF2B5EF4-FFF2-40B4-BE49-F238E27FC236}">
                  <a16:creationId xmlns:a16="http://schemas.microsoft.com/office/drawing/2014/main" id="{C3569CBD-5212-483A-A582-6794A42BDB63}"/>
                </a:ext>
              </a:extLst>
            </p:cNvPr>
            <p:cNvSpPr/>
            <p:nvPr/>
          </p:nvSpPr>
          <p:spPr>
            <a:xfrm>
              <a:off x="557644" y="5085182"/>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If you select the row first from [10, 20, 30] and the column from [45, 55, 65], then 10 and 55 are returned.</a:t>
              </a:r>
            </a:p>
          </p:txBody>
        </p:sp>
      </p:grpSp>
      <p:grpSp>
        <p:nvGrpSpPr>
          <p:cNvPr id="23" name="그룹 22">
            <a:extLst>
              <a:ext uri="{FF2B5EF4-FFF2-40B4-BE49-F238E27FC236}">
                <a16:creationId xmlns:a16="http://schemas.microsoft.com/office/drawing/2014/main" id="{B7559185-24F1-4E92-80E5-C9BC12FE70D7}"/>
              </a:ext>
            </a:extLst>
          </p:cNvPr>
          <p:cNvGrpSpPr/>
          <p:nvPr/>
        </p:nvGrpSpPr>
        <p:grpSpPr>
          <a:xfrm>
            <a:off x="580388" y="1413381"/>
            <a:ext cx="8887612" cy="1605360"/>
            <a:chOff x="580388" y="1413381"/>
            <a:chExt cx="8887612" cy="1605360"/>
          </a:xfrm>
        </p:grpSpPr>
        <p:sp>
          <p:nvSpPr>
            <p:cNvPr id="24" name="직사각형 23">
              <a:extLst>
                <a:ext uri="{FF2B5EF4-FFF2-40B4-BE49-F238E27FC236}">
                  <a16:creationId xmlns:a16="http://schemas.microsoft.com/office/drawing/2014/main" id="{1B7B79C2-F9B7-4853-AFF9-1F025270CA9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Indexing</a:t>
              </a:r>
              <a:endParaRPr lang="ko-KR" altLang="en-US" sz="1400" dirty="0">
                <a:solidFill>
                  <a:schemeClr val="tx1"/>
                </a:solidFill>
                <a:latin typeface="SamsungOne 400" panose="020B0503030303020204" pitchFamily="34" charset="0"/>
              </a:endParaRPr>
            </a:p>
          </p:txBody>
        </p:sp>
        <p:sp>
          <p:nvSpPr>
            <p:cNvPr id="25" name="Rectangle 12">
              <a:extLst>
                <a:ext uri="{FF2B5EF4-FFF2-40B4-BE49-F238E27FC236}">
                  <a16:creationId xmlns:a16="http://schemas.microsoft.com/office/drawing/2014/main" id="{4230BEA9-C52D-4AD9-9456-353FCAF10760}"/>
                </a:ext>
              </a:extLst>
            </p:cNvPr>
            <p:cNvSpPr/>
            <p:nvPr/>
          </p:nvSpPr>
          <p:spPr>
            <a:xfrm>
              <a:off x="711201" y="1667877"/>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select several elements in a two-dimensional array, do as follows.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 name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1,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2, …,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row_position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n],[</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n],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2, …,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column_position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n]]</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following is an example of selecting multiple elements by specifying the positions of rows and columns in a two-dimensional array. </a:t>
              </a:r>
            </a:p>
          </p:txBody>
        </p:sp>
      </p:grpSp>
      <p:grpSp>
        <p:nvGrpSpPr>
          <p:cNvPr id="6" name="그룹 5">
            <a:extLst>
              <a:ext uri="{FF2B5EF4-FFF2-40B4-BE49-F238E27FC236}">
                <a16:creationId xmlns:a16="http://schemas.microsoft.com/office/drawing/2014/main" id="{156CB7FC-2B37-4AB8-874C-C3434C12A172}"/>
              </a:ext>
            </a:extLst>
          </p:cNvPr>
          <p:cNvGrpSpPr/>
          <p:nvPr/>
        </p:nvGrpSpPr>
        <p:grpSpPr>
          <a:xfrm>
            <a:off x="558924" y="3053790"/>
            <a:ext cx="8785101" cy="1880160"/>
            <a:chOff x="558924" y="3053790"/>
            <a:chExt cx="8785101" cy="1880160"/>
          </a:xfrm>
        </p:grpSpPr>
        <p:grpSp>
          <p:nvGrpSpPr>
            <p:cNvPr id="4" name="그룹 3">
              <a:extLst>
                <a:ext uri="{FF2B5EF4-FFF2-40B4-BE49-F238E27FC236}">
                  <a16:creationId xmlns:a16="http://schemas.microsoft.com/office/drawing/2014/main" id="{6307E5B9-B133-4BE9-ABAD-FB7624A76EEF}"/>
                </a:ext>
              </a:extLst>
            </p:cNvPr>
            <p:cNvGrpSpPr/>
            <p:nvPr/>
          </p:nvGrpSpPr>
          <p:grpSpPr>
            <a:xfrm>
              <a:off x="558924" y="3053790"/>
              <a:ext cx="8782050" cy="1880160"/>
              <a:chOff x="558924" y="3053790"/>
              <a:chExt cx="8782050" cy="1880160"/>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3053790"/>
                <a:ext cx="8782050" cy="1880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5"/>
              <a:srcRect l="1182" r="22406" b="6703"/>
              <a:stretch/>
            </p:blipFill>
            <p:spPr>
              <a:xfrm>
                <a:off x="711201" y="3072940"/>
                <a:ext cx="8628493" cy="1746710"/>
              </a:xfrm>
              <a:prstGeom prst="rect">
                <a:avLst/>
              </a:prstGeom>
            </p:spPr>
          </p:pic>
        </p:grpSp>
        <p:sp>
          <p:nvSpPr>
            <p:cNvPr id="5" name="직사각형 4">
              <a:extLst>
                <a:ext uri="{FF2B5EF4-FFF2-40B4-BE49-F238E27FC236}">
                  <a16:creationId xmlns:a16="http://schemas.microsoft.com/office/drawing/2014/main" id="{A5294411-B344-4F6A-98C3-30F06E2D32B3}"/>
                </a:ext>
              </a:extLst>
            </p:cNvPr>
            <p:cNvSpPr/>
            <p:nvPr/>
          </p:nvSpPr>
          <p:spPr>
            <a:xfrm>
              <a:off x="2791172" y="4260596"/>
              <a:ext cx="6552853" cy="25425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882740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88B8B6AF-5B67-4487-88DD-DF078302361C}"/>
              </a:ext>
            </a:extLst>
          </p:cNvPr>
          <p:cNvGrpSpPr/>
          <p:nvPr/>
        </p:nvGrpSpPr>
        <p:grpSpPr>
          <a:xfrm>
            <a:off x="557644" y="4164528"/>
            <a:ext cx="8782050" cy="1215511"/>
            <a:chOff x="557644" y="4445737"/>
            <a:chExt cx="8782050" cy="1215511"/>
          </a:xfrm>
        </p:grpSpPr>
        <p:grpSp>
          <p:nvGrpSpPr>
            <p:cNvPr id="17" name="그룹 16"/>
            <p:cNvGrpSpPr/>
            <p:nvPr/>
          </p:nvGrpSpPr>
          <p:grpSpPr>
            <a:xfrm>
              <a:off x="557644" y="4445737"/>
              <a:ext cx="8782050" cy="1215511"/>
              <a:chOff x="557644" y="5085181"/>
              <a:chExt cx="8782050" cy="1215511"/>
            </a:xfrm>
          </p:grpSpPr>
          <p:sp>
            <p:nvSpPr>
              <p:cNvPr id="18"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21551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Only elements that meet the conditions of “a&gt;3” are returned.</a:t>
                </a:r>
              </a:p>
            </p:txBody>
          </p:sp>
        </p:gr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59810" y="5079038"/>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18591" y="5056306"/>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19231" y="539120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Only even numbers are returned.</a:t>
              </a:r>
            </a:p>
          </p:txBody>
        </p:sp>
      </p:grpSp>
      <p:grpSp>
        <p:nvGrpSpPr>
          <p:cNvPr id="4" name="그룹 3">
            <a:extLst>
              <a:ext uri="{FF2B5EF4-FFF2-40B4-BE49-F238E27FC236}">
                <a16:creationId xmlns:a16="http://schemas.microsoft.com/office/drawing/2014/main" id="{9DFAE2BD-B8DF-424C-904F-0BCFB4337497}"/>
              </a:ext>
            </a:extLst>
          </p:cNvPr>
          <p:cNvGrpSpPr/>
          <p:nvPr/>
        </p:nvGrpSpPr>
        <p:grpSpPr>
          <a:xfrm>
            <a:off x="558924" y="2060848"/>
            <a:ext cx="8782050" cy="1995661"/>
            <a:chOff x="558924" y="2204864"/>
            <a:chExt cx="8782050" cy="1995661"/>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19956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371" r="17093"/>
            <a:stretch/>
          </p:blipFill>
          <p:spPr>
            <a:xfrm>
              <a:off x="675505" y="2221573"/>
              <a:ext cx="8664189" cy="1967197"/>
            </a:xfrm>
            <a:prstGeom prst="rect">
              <a:avLst/>
            </a:prstGeom>
          </p:spPr>
        </p:pic>
      </p:grpSp>
      <p:grpSp>
        <p:nvGrpSpPr>
          <p:cNvPr id="26" name="그룹 25">
            <a:extLst>
              <a:ext uri="{FF2B5EF4-FFF2-40B4-BE49-F238E27FC236}">
                <a16:creationId xmlns:a16="http://schemas.microsoft.com/office/drawing/2014/main" id="{49272D56-9539-4555-ADDF-D92A9A0A9F76}"/>
              </a:ext>
            </a:extLst>
          </p:cNvPr>
          <p:cNvGrpSpPr/>
          <p:nvPr/>
        </p:nvGrpSpPr>
        <p:grpSpPr>
          <a:xfrm>
            <a:off x="580388" y="1413381"/>
            <a:ext cx="8887612" cy="599957"/>
            <a:chOff x="580388" y="1413381"/>
            <a:chExt cx="8887612" cy="599957"/>
          </a:xfrm>
        </p:grpSpPr>
        <p:sp>
          <p:nvSpPr>
            <p:cNvPr id="27" name="직사각형 26">
              <a:extLst>
                <a:ext uri="{FF2B5EF4-FFF2-40B4-BE49-F238E27FC236}">
                  <a16:creationId xmlns:a16="http://schemas.microsoft.com/office/drawing/2014/main" id="{21D87A2E-EDAE-4D9F-BEF3-6A8878FD66C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Selecting the Array by Specifying the Conditions</a:t>
              </a:r>
              <a:endParaRPr lang="ko-KR" altLang="en-US" sz="1400" dirty="0">
                <a:solidFill>
                  <a:schemeClr val="tx1"/>
                </a:solidFill>
                <a:latin typeface="SamsungOne 400" panose="020B0503030303020204" pitchFamily="34" charset="0"/>
              </a:endParaRPr>
            </a:p>
          </p:txBody>
        </p:sp>
        <p:sp>
          <p:nvSpPr>
            <p:cNvPr id="28" name="Rectangle 12">
              <a:extLst>
                <a:ext uri="{FF2B5EF4-FFF2-40B4-BE49-F238E27FC236}">
                  <a16:creationId xmlns:a16="http://schemas.microsoft.com/office/drawing/2014/main" id="{0A3E3BE7-E450-48B9-A488-14D783A6BA8D}"/>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Array Name[Condition]</a:t>
              </a:r>
            </a:p>
          </p:txBody>
        </p:sp>
      </p:grpSp>
    </p:spTree>
    <p:extLst>
      <p:ext uri="{BB962C8B-B14F-4D97-AF65-F5344CB8AC3E}">
        <p14:creationId xmlns:p14="http://schemas.microsoft.com/office/powerpoint/2010/main" val="3152743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Array Slicing</a:t>
            </a:r>
          </a:p>
        </p:txBody>
      </p:sp>
      <p:sp>
        <p:nvSpPr>
          <p:cNvPr id="23" name="Rectangle 12">
            <a:extLst>
              <a:ext uri="{FF2B5EF4-FFF2-40B4-BE49-F238E27FC236}">
                <a16:creationId xmlns:a16="http://schemas.microsoft.com/office/drawing/2014/main" id="{39C1D0BA-7152-4AAC-B295-DCCB5F8378F4}"/>
              </a:ext>
            </a:extLst>
          </p:cNvPr>
          <p:cNvSpPr/>
          <p:nvPr/>
        </p:nvSpPr>
        <p:spPr>
          <a:xfrm>
            <a:off x="711201" y="2089402"/>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For a one-dimensional array, slicing specifies the positions of the beginning and the end, as shown below.</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Array[</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start_position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end_position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the start position is not specified, the start position becomes 0, and the range becomes “0 to end position -1.” If the end position is not specified, the “end position” becomes the array’s length, and the range becomes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start_position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to end of the array.”</a:t>
            </a:r>
          </a:p>
        </p:txBody>
      </p:sp>
      <p:grpSp>
        <p:nvGrpSpPr>
          <p:cNvPr id="10" name="그룹 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1" name="직사각형 1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2" name="직사각형 1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149718C4-8371-400F-8362-A3094D6B568B}"/>
              </a:ext>
            </a:extLst>
          </p:cNvPr>
          <p:cNvGrpSpPr/>
          <p:nvPr/>
        </p:nvGrpSpPr>
        <p:grpSpPr>
          <a:xfrm>
            <a:off x="560387" y="3501008"/>
            <a:ext cx="8782050" cy="1093093"/>
            <a:chOff x="558924" y="3717032"/>
            <a:chExt cx="8782050" cy="1093093"/>
          </a:xfrm>
        </p:grpSpPr>
        <p:sp>
          <p:nvSpPr>
            <p:cNvPr id="22" name="모서리가 둥근 직사각형 4">
              <a:extLst>
                <a:ext uri="{FF2B5EF4-FFF2-40B4-BE49-F238E27FC236}">
                  <a16:creationId xmlns:a16="http://schemas.microsoft.com/office/drawing/2014/main" id="{A36E3BA1-83BF-4EF9-8B22-BB45DE7AA1FC}"/>
                </a:ext>
              </a:extLst>
            </p:cNvPr>
            <p:cNvSpPr/>
            <p:nvPr/>
          </p:nvSpPr>
          <p:spPr>
            <a:xfrm>
              <a:off x="558924" y="3717032"/>
              <a:ext cx="8782050" cy="109309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87" r="19654"/>
            <a:stretch/>
          </p:blipFill>
          <p:spPr>
            <a:xfrm>
              <a:off x="657225" y="3739648"/>
              <a:ext cx="8683749" cy="1035822"/>
            </a:xfrm>
            <a:prstGeom prst="rect">
              <a:avLst/>
            </a:prstGeom>
          </p:spPr>
        </p:pic>
      </p:grpSp>
      <p:sp>
        <p:nvSpPr>
          <p:cNvPr id="13" name="직사각형 12">
            <a:extLst>
              <a:ext uri="{FF2B5EF4-FFF2-40B4-BE49-F238E27FC236}">
                <a16:creationId xmlns:a16="http://schemas.microsoft.com/office/drawing/2014/main" id="{E1AA32DA-A295-4F78-9DC5-7921E0065104}"/>
              </a:ext>
            </a:extLst>
          </p:cNvPr>
          <p:cNvSpPr/>
          <p:nvPr/>
        </p:nvSpPr>
        <p:spPr>
          <a:xfrm>
            <a:off x="580388" y="1867087"/>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Instead of selecting one element through indexing, slicing selects a portion of the array by specifying a range.</a:t>
            </a:r>
          </a:p>
        </p:txBody>
      </p:sp>
    </p:spTree>
    <p:extLst>
      <p:ext uri="{BB962C8B-B14F-4D97-AF65-F5344CB8AC3E}">
        <p14:creationId xmlns:p14="http://schemas.microsoft.com/office/powerpoint/2010/main" val="24570187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DCB8CD7B-773F-4EAB-B3D0-A2AF97E4411C}"/>
              </a:ext>
            </a:extLst>
          </p:cNvPr>
          <p:cNvGrpSpPr/>
          <p:nvPr/>
        </p:nvGrpSpPr>
        <p:grpSpPr>
          <a:xfrm>
            <a:off x="558924" y="2250579"/>
            <a:ext cx="8782050" cy="1538461"/>
            <a:chOff x="558924" y="2204864"/>
            <a:chExt cx="8782050" cy="1538461"/>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15384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444"/>
            <a:stretch/>
          </p:blipFill>
          <p:spPr>
            <a:xfrm>
              <a:off x="594143" y="2226436"/>
              <a:ext cx="8746831" cy="1469264"/>
            </a:xfrm>
            <a:prstGeom prst="rect">
              <a:avLst/>
            </a:prstGeom>
          </p:spPr>
        </p:pic>
      </p:grpSp>
      <p:grpSp>
        <p:nvGrpSpPr>
          <p:cNvPr id="11" name="그룹 10">
            <a:extLst>
              <a:ext uri="{FF2B5EF4-FFF2-40B4-BE49-F238E27FC236}">
                <a16:creationId xmlns:a16="http://schemas.microsoft.com/office/drawing/2014/main" id="{1A0F3510-064C-43BF-BADB-11D5201F07C7}"/>
              </a:ext>
            </a:extLst>
          </p:cNvPr>
          <p:cNvGrpSpPr/>
          <p:nvPr/>
        </p:nvGrpSpPr>
        <p:grpSpPr>
          <a:xfrm>
            <a:off x="580388" y="1413381"/>
            <a:ext cx="8887612" cy="800012"/>
            <a:chOff x="580388" y="1413381"/>
            <a:chExt cx="8887612" cy="800012"/>
          </a:xfrm>
        </p:grpSpPr>
        <p:sp>
          <p:nvSpPr>
            <p:cNvPr id="12" name="직사각형 11">
              <a:extLst>
                <a:ext uri="{FF2B5EF4-FFF2-40B4-BE49-F238E27FC236}">
                  <a16:creationId xmlns:a16="http://schemas.microsoft.com/office/drawing/2014/main" id="{1BCA495D-A3B4-43A7-B23F-FF78BB64B9D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Slicing</a:t>
              </a:r>
              <a:endParaRPr lang="ko-KR" altLang="en-US" sz="1400" dirty="0">
                <a:solidFill>
                  <a:schemeClr val="tx1"/>
                </a:solidFill>
                <a:latin typeface="SamsungOne 400" panose="020B0503030303020204" pitchFamily="34" charset="0"/>
              </a:endParaRPr>
            </a:p>
          </p:txBody>
        </p:sp>
        <p:sp>
          <p:nvSpPr>
            <p:cNvPr id="17" name="Rectangle 12">
              <a:extLst>
                <a:ext uri="{FF2B5EF4-FFF2-40B4-BE49-F238E27FC236}">
                  <a16:creationId xmlns:a16="http://schemas.microsoft.com/office/drawing/2014/main" id="{2C24831A-2BBD-4085-B364-2277BF087095}"/>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a one-dimensional array, slicing is performed without specifying a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start_position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an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end_position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as shown below.</a:t>
              </a:r>
            </a:p>
          </p:txBody>
        </p:sp>
      </p:grpSp>
    </p:spTree>
    <p:extLst>
      <p:ext uri="{BB962C8B-B14F-4D97-AF65-F5344CB8AC3E}">
        <p14:creationId xmlns:p14="http://schemas.microsoft.com/office/powerpoint/2010/main" val="1848029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6437A9D4-E8F5-4E11-A817-CFA21F9F31C7}"/>
              </a:ext>
            </a:extLst>
          </p:cNvPr>
          <p:cNvGrpSpPr/>
          <p:nvPr/>
        </p:nvGrpSpPr>
        <p:grpSpPr>
          <a:xfrm>
            <a:off x="558924" y="2060848"/>
            <a:ext cx="8782050" cy="1538461"/>
            <a:chOff x="558924" y="2204864"/>
            <a:chExt cx="8782050" cy="1538461"/>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15384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2580"/>
            <a:stretch/>
          </p:blipFill>
          <p:spPr>
            <a:xfrm>
              <a:off x="587376" y="2239362"/>
              <a:ext cx="8752318" cy="1437288"/>
            </a:xfrm>
            <a:prstGeom prst="rect">
              <a:avLst/>
            </a:prstGeom>
          </p:spPr>
        </p:pic>
      </p:grpSp>
      <p:grpSp>
        <p:nvGrpSpPr>
          <p:cNvPr id="18" name="그룹 17"/>
          <p:cNvGrpSpPr/>
          <p:nvPr/>
        </p:nvGrpSpPr>
        <p:grpSpPr>
          <a:xfrm>
            <a:off x="557644" y="5214863"/>
            <a:ext cx="8782050" cy="725791"/>
            <a:chOff x="557644" y="5085181"/>
            <a:chExt cx="8782050" cy="725791"/>
          </a:xfrm>
        </p:grpSpPr>
        <p:sp>
          <p:nvSpPr>
            <p:cNvPr id="20"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1"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3" name="TextBox 22">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Choose from the beginning to the second line of “arr2d.”</a:t>
              </a:r>
            </a:p>
          </p:txBody>
        </p:sp>
      </p:grpSp>
      <p:grpSp>
        <p:nvGrpSpPr>
          <p:cNvPr id="6" name="그룹 5">
            <a:extLst>
              <a:ext uri="{FF2B5EF4-FFF2-40B4-BE49-F238E27FC236}">
                <a16:creationId xmlns:a16="http://schemas.microsoft.com/office/drawing/2014/main" id="{9C82505D-4E6C-4998-84F2-E4E9CD5ADA72}"/>
              </a:ext>
            </a:extLst>
          </p:cNvPr>
          <p:cNvGrpSpPr/>
          <p:nvPr/>
        </p:nvGrpSpPr>
        <p:grpSpPr>
          <a:xfrm>
            <a:off x="558924" y="4077072"/>
            <a:ext cx="8782050" cy="1061535"/>
            <a:chOff x="558924" y="4221088"/>
            <a:chExt cx="8782050" cy="1061535"/>
          </a:xfrm>
        </p:grpSpPr>
        <p:sp>
          <p:nvSpPr>
            <p:cNvPr id="17" name="모서리가 둥근 직사각형 4">
              <a:extLst>
                <a:ext uri="{FF2B5EF4-FFF2-40B4-BE49-F238E27FC236}">
                  <a16:creationId xmlns:a16="http://schemas.microsoft.com/office/drawing/2014/main" id="{A36E3BA1-83BF-4EF9-8B22-BB45DE7AA1FC}"/>
                </a:ext>
              </a:extLst>
            </p:cNvPr>
            <p:cNvSpPr/>
            <p:nvPr/>
          </p:nvSpPr>
          <p:spPr>
            <a:xfrm>
              <a:off x="558924" y="4221088"/>
              <a:ext cx="8782050" cy="106153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5"/>
            <a:srcRect r="22941"/>
            <a:stretch/>
          </p:blipFill>
          <p:spPr>
            <a:xfrm>
              <a:off x="577851" y="4265506"/>
              <a:ext cx="8761843" cy="963719"/>
            </a:xfrm>
            <a:prstGeom prst="rect">
              <a:avLst/>
            </a:prstGeom>
          </p:spPr>
        </p:pic>
        <p:sp>
          <p:nvSpPr>
            <p:cNvPr id="5" name="직사각형 4"/>
            <p:cNvSpPr/>
            <p:nvPr/>
          </p:nvSpPr>
          <p:spPr>
            <a:xfrm>
              <a:off x="2338932" y="4408655"/>
              <a:ext cx="3738017" cy="239545"/>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그룹 23">
            <a:extLst>
              <a:ext uri="{FF2B5EF4-FFF2-40B4-BE49-F238E27FC236}">
                <a16:creationId xmlns:a16="http://schemas.microsoft.com/office/drawing/2014/main" id="{3439DAEE-D4F6-4B11-A4C4-A0186BB5049D}"/>
              </a:ext>
            </a:extLst>
          </p:cNvPr>
          <p:cNvGrpSpPr/>
          <p:nvPr/>
        </p:nvGrpSpPr>
        <p:grpSpPr>
          <a:xfrm>
            <a:off x="580388" y="1413381"/>
            <a:ext cx="8887612" cy="599957"/>
            <a:chOff x="580388" y="1413381"/>
            <a:chExt cx="8887612" cy="599957"/>
          </a:xfrm>
        </p:grpSpPr>
        <p:sp>
          <p:nvSpPr>
            <p:cNvPr id="25" name="직사각형 24">
              <a:extLst>
                <a:ext uri="{FF2B5EF4-FFF2-40B4-BE49-F238E27FC236}">
                  <a16:creationId xmlns:a16="http://schemas.microsoft.com/office/drawing/2014/main" id="{EABEBA2D-CF6D-47A8-9F33-16C3865DC59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Slicing</a:t>
              </a:r>
              <a:endParaRPr lang="ko-KR" altLang="en-US" sz="1400" dirty="0">
                <a:solidFill>
                  <a:schemeClr val="tx1"/>
                </a:solidFill>
                <a:latin typeface="SamsungOne 400" panose="020B0503030303020204" pitchFamily="34" charset="0"/>
              </a:endParaRPr>
            </a:p>
          </p:txBody>
        </p:sp>
        <p:sp>
          <p:nvSpPr>
            <p:cNvPr id="26" name="Rectangle 12">
              <a:extLst>
                <a:ext uri="{FF2B5EF4-FFF2-40B4-BE49-F238E27FC236}">
                  <a16:creationId xmlns:a16="http://schemas.microsoft.com/office/drawing/2014/main" id="{92B27420-3C4E-42A5-82B8-E2DF0616831E}"/>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Now, let’s consider the case for a two-dimensional array.</a:t>
              </a:r>
            </a:p>
          </p:txBody>
        </p:sp>
      </p:grpSp>
      <p:sp>
        <p:nvSpPr>
          <p:cNvPr id="27" name="Rectangle 12">
            <a:extLst>
              <a:ext uri="{FF2B5EF4-FFF2-40B4-BE49-F238E27FC236}">
                <a16:creationId xmlns:a16="http://schemas.microsoft.com/office/drawing/2014/main" id="{F21E22CD-4F9D-4AEC-9376-7F7A874AA523}"/>
              </a:ext>
            </a:extLst>
          </p:cNvPr>
          <p:cNvSpPr/>
          <p:nvPr/>
        </p:nvSpPr>
        <p:spPr>
          <a:xfrm>
            <a:off x="711201" y="3714239"/>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Try slicing the array above.</a:t>
            </a:r>
          </a:p>
        </p:txBody>
      </p:sp>
    </p:spTree>
    <p:extLst>
      <p:ext uri="{BB962C8B-B14F-4D97-AF65-F5344CB8AC3E}">
        <p14:creationId xmlns:p14="http://schemas.microsoft.com/office/powerpoint/2010/main" val="30472273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07782" y="3121378"/>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shown above, slicing always gives a view of the array in the same dimension. An integer index and a slice can be used together to obtain a lower-dimension slice.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example, if you want to select only the first two columns in the second row, do as follows.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3" name="그룹 2">
            <a:extLst>
              <a:ext uri="{FF2B5EF4-FFF2-40B4-BE49-F238E27FC236}">
                <a16:creationId xmlns:a16="http://schemas.microsoft.com/office/drawing/2014/main" id="{D4FD9EBD-DE68-47D2-9516-9096CDF3C856}"/>
              </a:ext>
            </a:extLst>
          </p:cNvPr>
          <p:cNvGrpSpPr/>
          <p:nvPr/>
        </p:nvGrpSpPr>
        <p:grpSpPr>
          <a:xfrm>
            <a:off x="558924" y="2060848"/>
            <a:ext cx="8782050" cy="938386"/>
            <a:chOff x="558924" y="2204864"/>
            <a:chExt cx="8782050" cy="938386"/>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9383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1582"/>
            <a:stretch/>
          </p:blipFill>
          <p:spPr>
            <a:xfrm>
              <a:off x="587376" y="2245416"/>
              <a:ext cx="8753598" cy="821634"/>
            </a:xfrm>
            <a:prstGeom prst="rect">
              <a:avLst/>
            </a:prstGeom>
          </p:spPr>
        </p:pic>
      </p:grpSp>
      <p:grpSp>
        <p:nvGrpSpPr>
          <p:cNvPr id="4" name="그룹 3">
            <a:extLst>
              <a:ext uri="{FF2B5EF4-FFF2-40B4-BE49-F238E27FC236}">
                <a16:creationId xmlns:a16="http://schemas.microsoft.com/office/drawing/2014/main" id="{C55F11C2-86FF-4F32-B1B1-2AC56A50AA62}"/>
              </a:ext>
            </a:extLst>
          </p:cNvPr>
          <p:cNvGrpSpPr/>
          <p:nvPr/>
        </p:nvGrpSpPr>
        <p:grpSpPr>
          <a:xfrm>
            <a:off x="558924" y="4005064"/>
            <a:ext cx="8782050" cy="793674"/>
            <a:chOff x="558924" y="4269214"/>
            <a:chExt cx="8782050" cy="793674"/>
          </a:xfrm>
        </p:grpSpPr>
        <p:sp>
          <p:nvSpPr>
            <p:cNvPr id="17" name="모서리가 둥근 직사각형 4">
              <a:extLst>
                <a:ext uri="{FF2B5EF4-FFF2-40B4-BE49-F238E27FC236}">
                  <a16:creationId xmlns:a16="http://schemas.microsoft.com/office/drawing/2014/main" id="{A36E3BA1-83BF-4EF9-8B22-BB45DE7AA1FC}"/>
                </a:ext>
              </a:extLst>
            </p:cNvPr>
            <p:cNvSpPr/>
            <p:nvPr/>
          </p:nvSpPr>
          <p:spPr>
            <a:xfrm>
              <a:off x="558924" y="4269214"/>
              <a:ext cx="8782050" cy="79367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5" name="직사각형 4"/>
            <p:cNvSpPr/>
            <p:nvPr/>
          </p:nvSpPr>
          <p:spPr>
            <a:xfrm>
              <a:off x="2215108" y="4465805"/>
              <a:ext cx="3456384" cy="18733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그림 5"/>
            <p:cNvPicPr>
              <a:picLocks noChangeAspect="1"/>
            </p:cNvPicPr>
            <p:nvPr/>
          </p:nvPicPr>
          <p:blipFill rotWithShape="1">
            <a:blip r:embed="rId4"/>
            <a:srcRect t="10733" r="25676" b="-1"/>
            <a:stretch/>
          </p:blipFill>
          <p:spPr>
            <a:xfrm>
              <a:off x="577851" y="4333083"/>
              <a:ext cx="8762755" cy="704237"/>
            </a:xfrm>
            <a:prstGeom prst="rect">
              <a:avLst/>
            </a:prstGeom>
          </p:spPr>
        </p:pic>
      </p:grpSp>
      <p:grpSp>
        <p:nvGrpSpPr>
          <p:cNvPr id="18" name="그룹 17">
            <a:extLst>
              <a:ext uri="{FF2B5EF4-FFF2-40B4-BE49-F238E27FC236}">
                <a16:creationId xmlns:a16="http://schemas.microsoft.com/office/drawing/2014/main" id="{4A96F802-DED0-4230-BE3A-C35C2FA28050}"/>
              </a:ext>
            </a:extLst>
          </p:cNvPr>
          <p:cNvGrpSpPr/>
          <p:nvPr/>
        </p:nvGrpSpPr>
        <p:grpSpPr>
          <a:xfrm>
            <a:off x="580388" y="1413381"/>
            <a:ext cx="8887612" cy="599957"/>
            <a:chOff x="580388" y="1413381"/>
            <a:chExt cx="8887612" cy="599957"/>
          </a:xfrm>
        </p:grpSpPr>
        <p:sp>
          <p:nvSpPr>
            <p:cNvPr id="20" name="직사각형 19">
              <a:extLst>
                <a:ext uri="{FF2B5EF4-FFF2-40B4-BE49-F238E27FC236}">
                  <a16:creationId xmlns:a16="http://schemas.microsoft.com/office/drawing/2014/main" id="{67DDFD89-AC94-493E-A4B6-9FCD976F66E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Slicing</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15E5F572-2110-4B1D-A43D-8077EBE49784}"/>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is also possible to slice multi-dimensional arrays by crossing several indices.</a:t>
              </a:r>
            </a:p>
          </p:txBody>
        </p:sp>
      </p:grpSp>
    </p:spTree>
    <p:extLst>
      <p:ext uri="{BB962C8B-B14F-4D97-AF65-F5344CB8AC3E}">
        <p14:creationId xmlns:p14="http://schemas.microsoft.com/office/powerpoint/2010/main" val="18953483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07782" y="3083539"/>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just use a colon, you choose the entire axis, so the slice of the original dimension is returned.</a:t>
            </a:r>
          </a:p>
        </p:txBody>
      </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10E90032-E471-4CE3-9446-002F3FA9989A}"/>
              </a:ext>
            </a:extLst>
          </p:cNvPr>
          <p:cNvGrpSpPr/>
          <p:nvPr/>
        </p:nvGrpSpPr>
        <p:grpSpPr>
          <a:xfrm>
            <a:off x="558924" y="2060848"/>
            <a:ext cx="8782050" cy="843136"/>
            <a:chOff x="558924" y="2204865"/>
            <a:chExt cx="8782050" cy="843136"/>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204865"/>
              <a:ext cx="8782050" cy="8431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4227"/>
            <a:stretch/>
          </p:blipFill>
          <p:spPr>
            <a:xfrm>
              <a:off x="577851" y="2222807"/>
              <a:ext cx="8763123" cy="739467"/>
            </a:xfrm>
            <a:prstGeom prst="rect">
              <a:avLst/>
            </a:prstGeom>
          </p:spPr>
        </p:pic>
      </p:grpSp>
      <p:grpSp>
        <p:nvGrpSpPr>
          <p:cNvPr id="5" name="그룹 4">
            <a:extLst>
              <a:ext uri="{FF2B5EF4-FFF2-40B4-BE49-F238E27FC236}">
                <a16:creationId xmlns:a16="http://schemas.microsoft.com/office/drawing/2014/main" id="{AC3C8B49-2922-4266-8718-BFBB03EF25F6}"/>
              </a:ext>
            </a:extLst>
          </p:cNvPr>
          <p:cNvGrpSpPr/>
          <p:nvPr/>
        </p:nvGrpSpPr>
        <p:grpSpPr>
          <a:xfrm>
            <a:off x="558924" y="3448250"/>
            <a:ext cx="8782050" cy="1080120"/>
            <a:chOff x="558924" y="3717032"/>
            <a:chExt cx="8782050" cy="1080120"/>
          </a:xfrm>
        </p:grpSpPr>
        <p:sp>
          <p:nvSpPr>
            <p:cNvPr id="17" name="모서리가 둥근 직사각형 4">
              <a:extLst>
                <a:ext uri="{FF2B5EF4-FFF2-40B4-BE49-F238E27FC236}">
                  <a16:creationId xmlns:a16="http://schemas.microsoft.com/office/drawing/2014/main" id="{A36E3BA1-83BF-4EF9-8B22-BB45DE7AA1FC}"/>
                </a:ext>
              </a:extLst>
            </p:cNvPr>
            <p:cNvSpPr/>
            <p:nvPr/>
          </p:nvSpPr>
          <p:spPr>
            <a:xfrm>
              <a:off x="558924" y="3717032"/>
              <a:ext cx="8782050" cy="10801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r="25098"/>
            <a:stretch/>
          </p:blipFill>
          <p:spPr>
            <a:xfrm>
              <a:off x="574432" y="3751484"/>
              <a:ext cx="8766174" cy="991966"/>
            </a:xfrm>
            <a:prstGeom prst="rect">
              <a:avLst/>
            </a:prstGeom>
          </p:spPr>
        </p:pic>
      </p:grpSp>
      <p:grpSp>
        <p:nvGrpSpPr>
          <p:cNvPr id="18" name="그룹 17">
            <a:extLst>
              <a:ext uri="{FF2B5EF4-FFF2-40B4-BE49-F238E27FC236}">
                <a16:creationId xmlns:a16="http://schemas.microsoft.com/office/drawing/2014/main" id="{5E1295B3-0C88-400E-A3E4-7FEF3C11F00F}"/>
              </a:ext>
            </a:extLst>
          </p:cNvPr>
          <p:cNvGrpSpPr/>
          <p:nvPr/>
        </p:nvGrpSpPr>
        <p:grpSpPr>
          <a:xfrm>
            <a:off x="580388" y="1413381"/>
            <a:ext cx="8887612" cy="599957"/>
            <a:chOff x="580388" y="1413381"/>
            <a:chExt cx="8887612" cy="599957"/>
          </a:xfrm>
        </p:grpSpPr>
        <p:sp>
          <p:nvSpPr>
            <p:cNvPr id="20" name="직사각형 19">
              <a:extLst>
                <a:ext uri="{FF2B5EF4-FFF2-40B4-BE49-F238E27FC236}">
                  <a16:creationId xmlns:a16="http://schemas.microsoft.com/office/drawing/2014/main" id="{C0C6EE8C-C900-496D-A39B-0D13D3E36C8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Slicing</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39A7E6CF-9E70-4707-93AF-B7AF0813DC93}"/>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select only the third column in the first two rows, do as follows.</a:t>
              </a:r>
            </a:p>
          </p:txBody>
        </p:sp>
      </p:grpSp>
    </p:spTree>
    <p:extLst>
      <p:ext uri="{BB962C8B-B14F-4D97-AF65-F5344CB8AC3E}">
        <p14:creationId xmlns:p14="http://schemas.microsoft.com/office/powerpoint/2010/main" val="232570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280954376"/>
              </p:ext>
            </p:extLst>
          </p:nvPr>
        </p:nvGraphicFramePr>
        <p:xfrm>
          <a:off x="1711052" y="1844824"/>
          <a:ext cx="5878854" cy="4372556"/>
        </p:xfrm>
        <a:graphic>
          <a:graphicData uri="http://schemas.openxmlformats.org/drawingml/2006/table">
            <a:tbl>
              <a:tblPr firstRow="1" bandRow="1">
                <a:tableStyleId>{5940675A-B579-460E-94D1-54222C63F5DA}</a:tableStyleId>
              </a:tblPr>
              <a:tblGrid>
                <a:gridCol w="1959618">
                  <a:extLst>
                    <a:ext uri="{9D8B030D-6E8A-4147-A177-3AD203B41FA5}">
                      <a16:colId xmlns:a16="http://schemas.microsoft.com/office/drawing/2014/main" val="20000"/>
                    </a:ext>
                  </a:extLst>
                </a:gridCol>
                <a:gridCol w="1959618">
                  <a:extLst>
                    <a:ext uri="{9D8B030D-6E8A-4147-A177-3AD203B41FA5}">
                      <a16:colId xmlns:a16="http://schemas.microsoft.com/office/drawing/2014/main" val="20001"/>
                    </a:ext>
                  </a:extLst>
                </a:gridCol>
                <a:gridCol w="1959618">
                  <a:extLst>
                    <a:ext uri="{9D8B030D-6E8A-4147-A177-3AD203B41FA5}">
                      <a16:colId xmlns:a16="http://schemas.microsoft.com/office/drawing/2014/main" val="20002"/>
                    </a:ext>
                  </a:extLst>
                </a:gridCol>
              </a:tblGrid>
              <a:tr h="286930">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endParaRPr lang="ko-KR" altLang="en-US" sz="1400" b="0" kern="12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1"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Code</a:t>
                      </a:r>
                      <a:endParaRPr lang="ko-KR" altLang="en-US" sz="1400" b="1"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1"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Form of Slice</a:t>
                      </a:r>
                      <a:endParaRPr lang="ko-KR" altLang="en-US" sz="1400" b="1"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016939">
                <a:tc>
                  <a:txBody>
                    <a:bodyPr/>
                    <a:lstStyle/>
                    <a:p>
                      <a:pPr algn="ctr" latinLnBrk="1"/>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arr[:2,</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1016939">
                <a:tc>
                  <a:txBody>
                    <a:bodyPr/>
                    <a:lstStyle/>
                    <a:p>
                      <a:pPr algn="ctr" latinLnBrk="1"/>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arr[2]</a:t>
                      </a:r>
                    </a:p>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arr[2,</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p>
                    <a:p>
                      <a:pPr algn="ctr" latinLnBrk="1"/>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arr[2:, :]</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p>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p>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1016939">
                <a:tc>
                  <a:txBody>
                    <a:bodyPr/>
                    <a:lstStyle/>
                    <a:p>
                      <a:pPr algn="ctr" latinLnBrk="1"/>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 :2]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016939">
                <a:tc>
                  <a:txBody>
                    <a:bodyPr/>
                    <a:lstStyle/>
                    <a:p>
                      <a:pPr algn="ctr" latinLnBrk="1"/>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arr[1, :2]</a:t>
                      </a:r>
                    </a:p>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arr[1:2, :2]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p>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aphicFrame>
        <p:nvGraphicFramePr>
          <p:cNvPr id="3" name="표 2"/>
          <p:cNvGraphicFramePr>
            <a:graphicFrameLocks noGrp="1"/>
          </p:cNvGraphicFramePr>
          <p:nvPr>
            <p:extLst>
              <p:ext uri="{D42A27DB-BD31-4B8C-83A1-F6EECF244321}">
                <p14:modId xmlns:p14="http://schemas.microsoft.com/office/powerpoint/2010/main" val="3626820076"/>
              </p:ext>
            </p:extLst>
          </p:nvPr>
        </p:nvGraphicFramePr>
        <p:xfrm>
          <a:off x="2274214" y="2243374"/>
          <a:ext cx="806718" cy="792087"/>
        </p:xfrm>
        <a:graphic>
          <a:graphicData uri="http://schemas.openxmlformats.org/drawingml/2006/table">
            <a:tbl>
              <a:tblPr firstRow="1" bandRow="1">
                <a:tableStyleId>{2D5ABB26-0587-4C30-8999-92F81FD0307C}</a:tableStyleId>
              </a:tblPr>
              <a:tblGrid>
                <a:gridCol w="268906">
                  <a:extLst>
                    <a:ext uri="{9D8B030D-6E8A-4147-A177-3AD203B41FA5}">
                      <a16:colId xmlns:a16="http://schemas.microsoft.com/office/drawing/2014/main" val="20000"/>
                    </a:ext>
                  </a:extLst>
                </a:gridCol>
                <a:gridCol w="268906">
                  <a:extLst>
                    <a:ext uri="{9D8B030D-6E8A-4147-A177-3AD203B41FA5}">
                      <a16:colId xmlns:a16="http://schemas.microsoft.com/office/drawing/2014/main" val="20001"/>
                    </a:ext>
                  </a:extLst>
                </a:gridCol>
                <a:gridCol w="268906">
                  <a:extLst>
                    <a:ext uri="{9D8B030D-6E8A-4147-A177-3AD203B41FA5}">
                      <a16:colId xmlns:a16="http://schemas.microsoft.com/office/drawing/2014/main" val="20002"/>
                    </a:ext>
                  </a:extLst>
                </a:gridCol>
              </a:tblGrid>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p:cNvGraphicFramePr>
            <a:graphicFrameLocks noGrp="1"/>
          </p:cNvGraphicFramePr>
          <p:nvPr>
            <p:extLst>
              <p:ext uri="{D42A27DB-BD31-4B8C-83A1-F6EECF244321}">
                <p14:modId xmlns:p14="http://schemas.microsoft.com/office/powerpoint/2010/main" val="7634353"/>
              </p:ext>
            </p:extLst>
          </p:nvPr>
        </p:nvGraphicFramePr>
        <p:xfrm>
          <a:off x="2274214" y="3276573"/>
          <a:ext cx="806718" cy="792087"/>
        </p:xfrm>
        <a:graphic>
          <a:graphicData uri="http://schemas.openxmlformats.org/drawingml/2006/table">
            <a:tbl>
              <a:tblPr firstRow="1" bandRow="1">
                <a:tableStyleId>{2D5ABB26-0587-4C30-8999-92F81FD0307C}</a:tableStyleId>
              </a:tblPr>
              <a:tblGrid>
                <a:gridCol w="268906">
                  <a:extLst>
                    <a:ext uri="{9D8B030D-6E8A-4147-A177-3AD203B41FA5}">
                      <a16:colId xmlns:a16="http://schemas.microsoft.com/office/drawing/2014/main" val="20000"/>
                    </a:ext>
                  </a:extLst>
                </a:gridCol>
                <a:gridCol w="268906">
                  <a:extLst>
                    <a:ext uri="{9D8B030D-6E8A-4147-A177-3AD203B41FA5}">
                      <a16:colId xmlns:a16="http://schemas.microsoft.com/office/drawing/2014/main" val="20001"/>
                    </a:ext>
                  </a:extLst>
                </a:gridCol>
                <a:gridCol w="268906">
                  <a:extLst>
                    <a:ext uri="{9D8B030D-6E8A-4147-A177-3AD203B41FA5}">
                      <a16:colId xmlns:a16="http://schemas.microsoft.com/office/drawing/2014/main" val="20002"/>
                    </a:ext>
                  </a:extLst>
                </a:gridCol>
              </a:tblGrid>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2"/>
                  </a:ext>
                </a:extLst>
              </a:tr>
            </a:tbl>
          </a:graphicData>
        </a:graphic>
      </p:graphicFrame>
      <p:graphicFrame>
        <p:nvGraphicFramePr>
          <p:cNvPr id="11" name="표 10"/>
          <p:cNvGraphicFramePr>
            <a:graphicFrameLocks noGrp="1"/>
          </p:cNvGraphicFramePr>
          <p:nvPr>
            <p:extLst>
              <p:ext uri="{D42A27DB-BD31-4B8C-83A1-F6EECF244321}">
                <p14:modId xmlns:p14="http://schemas.microsoft.com/office/powerpoint/2010/main" val="1728885453"/>
              </p:ext>
            </p:extLst>
          </p:nvPr>
        </p:nvGraphicFramePr>
        <p:xfrm>
          <a:off x="2274214" y="4274630"/>
          <a:ext cx="806718" cy="792087"/>
        </p:xfrm>
        <a:graphic>
          <a:graphicData uri="http://schemas.openxmlformats.org/drawingml/2006/table">
            <a:tbl>
              <a:tblPr firstRow="1" bandRow="1">
                <a:tableStyleId>{2D5ABB26-0587-4C30-8999-92F81FD0307C}</a:tableStyleId>
              </a:tblPr>
              <a:tblGrid>
                <a:gridCol w="268906">
                  <a:extLst>
                    <a:ext uri="{9D8B030D-6E8A-4147-A177-3AD203B41FA5}">
                      <a16:colId xmlns:a16="http://schemas.microsoft.com/office/drawing/2014/main" val="20000"/>
                    </a:ext>
                  </a:extLst>
                </a:gridCol>
                <a:gridCol w="268906">
                  <a:extLst>
                    <a:ext uri="{9D8B030D-6E8A-4147-A177-3AD203B41FA5}">
                      <a16:colId xmlns:a16="http://schemas.microsoft.com/office/drawing/2014/main" val="20001"/>
                    </a:ext>
                  </a:extLst>
                </a:gridCol>
                <a:gridCol w="268906">
                  <a:extLst>
                    <a:ext uri="{9D8B030D-6E8A-4147-A177-3AD203B41FA5}">
                      <a16:colId xmlns:a16="http://schemas.microsoft.com/office/drawing/2014/main" val="20002"/>
                    </a:ext>
                  </a:extLst>
                </a:gridCol>
              </a:tblGrid>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575280294"/>
              </p:ext>
            </p:extLst>
          </p:nvPr>
        </p:nvGraphicFramePr>
        <p:xfrm>
          <a:off x="2274214" y="5301208"/>
          <a:ext cx="806718" cy="792087"/>
        </p:xfrm>
        <a:graphic>
          <a:graphicData uri="http://schemas.openxmlformats.org/drawingml/2006/table">
            <a:tbl>
              <a:tblPr firstRow="1" bandRow="1">
                <a:tableStyleId>{2D5ABB26-0587-4C30-8999-92F81FD0307C}</a:tableStyleId>
              </a:tblPr>
              <a:tblGrid>
                <a:gridCol w="268906">
                  <a:extLst>
                    <a:ext uri="{9D8B030D-6E8A-4147-A177-3AD203B41FA5}">
                      <a16:colId xmlns:a16="http://schemas.microsoft.com/office/drawing/2014/main" val="20000"/>
                    </a:ext>
                  </a:extLst>
                </a:gridCol>
                <a:gridCol w="268906">
                  <a:extLst>
                    <a:ext uri="{9D8B030D-6E8A-4147-A177-3AD203B41FA5}">
                      <a16:colId xmlns:a16="http://schemas.microsoft.com/office/drawing/2014/main" val="20001"/>
                    </a:ext>
                  </a:extLst>
                </a:gridCol>
                <a:gridCol w="268906">
                  <a:extLst>
                    <a:ext uri="{9D8B030D-6E8A-4147-A177-3AD203B41FA5}">
                      <a16:colId xmlns:a16="http://schemas.microsoft.com/office/drawing/2014/main" val="20002"/>
                    </a:ext>
                  </a:extLst>
                </a:gridCol>
              </a:tblGrid>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50000"/>
                      </a:schemeClr>
                    </a:solidFill>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64029">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latinLnBrk="1"/>
                      <a:endParaRPr lang="ko-KR" altLang="en-US" sz="1300" dirty="0"/>
                    </a:p>
                  </a:txBody>
                  <a:tcPr marL="64668" marR="64668" marT="32333" marB="32333">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직사각형 12">
            <a:extLst>
              <a:ext uri="{FF2B5EF4-FFF2-40B4-BE49-F238E27FC236}">
                <a16:creationId xmlns:a16="http://schemas.microsoft.com/office/drawing/2014/main" id="{2EC0CE0D-E984-4831-B7BE-E1D458EF572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Slicing</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9803609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11201" y="3158069"/>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Boolean array determines whether the name “Bob” is in the names array.</a:t>
            </a:r>
          </a:p>
        </p:txBody>
      </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5BC75E15-722B-49E4-8CD1-675198F4CB85}"/>
              </a:ext>
            </a:extLst>
          </p:cNvPr>
          <p:cNvGrpSpPr/>
          <p:nvPr/>
        </p:nvGrpSpPr>
        <p:grpSpPr>
          <a:xfrm>
            <a:off x="558924" y="1700808"/>
            <a:ext cx="8782050" cy="1296144"/>
            <a:chOff x="558924" y="1844824"/>
            <a:chExt cx="8782050" cy="1296144"/>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129614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70" r="19498"/>
            <a:stretch/>
          </p:blipFill>
          <p:spPr>
            <a:xfrm>
              <a:off x="608831" y="1881381"/>
              <a:ext cx="8732143" cy="1214244"/>
            </a:xfrm>
            <a:prstGeom prst="rect">
              <a:avLst/>
            </a:prstGeom>
          </p:spPr>
        </p:pic>
      </p:grpSp>
      <p:grpSp>
        <p:nvGrpSpPr>
          <p:cNvPr id="3" name="그룹 2">
            <a:extLst>
              <a:ext uri="{FF2B5EF4-FFF2-40B4-BE49-F238E27FC236}">
                <a16:creationId xmlns:a16="http://schemas.microsoft.com/office/drawing/2014/main" id="{1FCFAA75-1492-4671-B032-3058558D1548}"/>
              </a:ext>
            </a:extLst>
          </p:cNvPr>
          <p:cNvGrpSpPr/>
          <p:nvPr/>
        </p:nvGrpSpPr>
        <p:grpSpPr>
          <a:xfrm>
            <a:off x="558924" y="3510533"/>
            <a:ext cx="8782050" cy="816206"/>
            <a:chOff x="558924" y="3573016"/>
            <a:chExt cx="8782050" cy="816206"/>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3573016"/>
              <a:ext cx="8782050" cy="8162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l="1764" r="20554"/>
            <a:stretch/>
          </p:blipFill>
          <p:spPr>
            <a:xfrm>
              <a:off x="647700" y="3596875"/>
              <a:ext cx="8693274" cy="698899"/>
            </a:xfrm>
            <a:prstGeom prst="rect">
              <a:avLst/>
            </a:prstGeom>
          </p:spPr>
        </p:pic>
      </p:grpSp>
      <p:grpSp>
        <p:nvGrpSpPr>
          <p:cNvPr id="7" name="그룹 6">
            <a:extLst>
              <a:ext uri="{FF2B5EF4-FFF2-40B4-BE49-F238E27FC236}">
                <a16:creationId xmlns:a16="http://schemas.microsoft.com/office/drawing/2014/main" id="{2147F355-3703-4420-B6F5-CFEFC78E1A97}"/>
              </a:ext>
            </a:extLst>
          </p:cNvPr>
          <p:cNvGrpSpPr/>
          <p:nvPr/>
        </p:nvGrpSpPr>
        <p:grpSpPr>
          <a:xfrm>
            <a:off x="558924" y="4835252"/>
            <a:ext cx="8782050" cy="816206"/>
            <a:chOff x="558924" y="4797152"/>
            <a:chExt cx="8782050" cy="816206"/>
          </a:xfrm>
        </p:grpSpPr>
        <p:sp>
          <p:nvSpPr>
            <p:cNvPr id="21" name="모서리가 둥근 직사각형 4">
              <a:extLst>
                <a:ext uri="{FF2B5EF4-FFF2-40B4-BE49-F238E27FC236}">
                  <a16:creationId xmlns:a16="http://schemas.microsoft.com/office/drawing/2014/main" id="{A36E3BA1-83BF-4EF9-8B22-BB45DE7AA1FC}"/>
                </a:ext>
              </a:extLst>
            </p:cNvPr>
            <p:cNvSpPr/>
            <p:nvPr/>
          </p:nvSpPr>
          <p:spPr>
            <a:xfrm>
              <a:off x="558924" y="4797152"/>
              <a:ext cx="8782050" cy="8162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6" name="그림 5"/>
            <p:cNvPicPr>
              <a:picLocks noChangeAspect="1"/>
            </p:cNvPicPr>
            <p:nvPr/>
          </p:nvPicPr>
          <p:blipFill rotWithShape="1">
            <a:blip r:embed="rId5"/>
            <a:srcRect l="2098" r="20513"/>
            <a:stretch/>
          </p:blipFill>
          <p:spPr>
            <a:xfrm>
              <a:off x="666750" y="4860212"/>
              <a:ext cx="8674224" cy="750013"/>
            </a:xfrm>
            <a:prstGeom prst="rect">
              <a:avLst/>
            </a:prstGeom>
          </p:spPr>
        </p:pic>
      </p:grpSp>
      <p:sp>
        <p:nvSpPr>
          <p:cNvPr id="17" name="직사각형 16">
            <a:extLst>
              <a:ext uri="{FF2B5EF4-FFF2-40B4-BE49-F238E27FC236}">
                <a16:creationId xmlns:a16="http://schemas.microsoft.com/office/drawing/2014/main" id="{2A999109-74D5-473C-A62D-251F197A840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Selecting in Boolean Values</a:t>
            </a:r>
            <a:endParaRPr lang="ko-KR" altLang="en-US" sz="1400" dirty="0">
              <a:solidFill>
                <a:schemeClr val="tx1"/>
              </a:solidFill>
              <a:latin typeface="SamsungOne 400" panose="020B0503030303020204" pitchFamily="34" charset="0"/>
            </a:endParaRPr>
          </a:p>
        </p:txBody>
      </p:sp>
      <p:sp>
        <p:nvSpPr>
          <p:cNvPr id="22" name="Rectangle 12">
            <a:extLst>
              <a:ext uri="{FF2B5EF4-FFF2-40B4-BE49-F238E27FC236}">
                <a16:creationId xmlns:a16="http://schemas.microsoft.com/office/drawing/2014/main" id="{62984FF8-A927-4881-B56A-653FCA58B6AB}"/>
              </a:ext>
            </a:extLst>
          </p:cNvPr>
          <p:cNvSpPr/>
          <p:nvPr/>
        </p:nvSpPr>
        <p:spPr>
          <a:xfrm>
            <a:off x="711201" y="4485334"/>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By indexing under this condition, only those whose name is “Bob” can be returned.</a:t>
            </a:r>
          </a:p>
        </p:txBody>
      </p:sp>
    </p:spTree>
    <p:extLst>
      <p:ext uri="{BB962C8B-B14F-4D97-AF65-F5344CB8AC3E}">
        <p14:creationId xmlns:p14="http://schemas.microsoft.com/office/powerpoint/2010/main" val="24171047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Fancy Indexing</a:t>
            </a:r>
          </a:p>
        </p:txBody>
      </p:sp>
      <p:grpSp>
        <p:nvGrpSpPr>
          <p:cNvPr id="10" name="그룹 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1" name="직사각형 1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2" name="직사각형 1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3661D34A-E23D-4892-B442-535466294D21}"/>
              </a:ext>
            </a:extLst>
          </p:cNvPr>
          <p:cNvGrpSpPr/>
          <p:nvPr/>
        </p:nvGrpSpPr>
        <p:grpSpPr>
          <a:xfrm>
            <a:off x="558924" y="2177302"/>
            <a:ext cx="8782050" cy="4118301"/>
            <a:chOff x="558924" y="2263027"/>
            <a:chExt cx="8782050" cy="4118301"/>
          </a:xfrm>
        </p:grpSpPr>
        <p:sp>
          <p:nvSpPr>
            <p:cNvPr id="22" name="모서리가 둥근 직사각형 4">
              <a:extLst>
                <a:ext uri="{FF2B5EF4-FFF2-40B4-BE49-F238E27FC236}">
                  <a16:creationId xmlns:a16="http://schemas.microsoft.com/office/drawing/2014/main" id="{A36E3BA1-83BF-4EF9-8B22-BB45DE7AA1FC}"/>
                </a:ext>
              </a:extLst>
            </p:cNvPr>
            <p:cNvSpPr/>
            <p:nvPr/>
          </p:nvSpPr>
          <p:spPr>
            <a:xfrm>
              <a:off x="558924" y="2263027"/>
              <a:ext cx="8782050" cy="41183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088" r="14290"/>
            <a:stretch/>
          </p:blipFill>
          <p:spPr>
            <a:xfrm>
              <a:off x="728463" y="2308068"/>
              <a:ext cx="8610972" cy="4050103"/>
            </a:xfrm>
            <a:prstGeom prst="rect">
              <a:avLst/>
            </a:prstGeom>
          </p:spPr>
        </p:pic>
      </p:grpSp>
      <p:sp>
        <p:nvSpPr>
          <p:cNvPr id="13" name="직사각형 12">
            <a:extLst>
              <a:ext uri="{FF2B5EF4-FFF2-40B4-BE49-F238E27FC236}">
                <a16:creationId xmlns:a16="http://schemas.microsoft.com/office/drawing/2014/main" id="{F4C5D3EA-7D6D-405D-9A28-6AE3F3FF821D}"/>
              </a:ext>
            </a:extLst>
          </p:cNvPr>
          <p:cNvSpPr/>
          <p:nvPr/>
        </p:nvSpPr>
        <p:spPr>
          <a:xfrm>
            <a:off x="580388" y="1879997"/>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Return a new array of given shape and type without initializing entries. See help(</a:t>
            </a:r>
            <a:r>
              <a:rPr lang="en-US" altLang="ko-KR" sz="1400" dirty="0" err="1">
                <a:solidFill>
                  <a:schemeClr val="tx1"/>
                </a:solidFill>
                <a:latin typeface="SamsungOne 400" panose="020B0503030303020204" pitchFamily="34" charset="0"/>
                <a:ea typeface="SamsungOne 400" panose="020B0503030303020204" pitchFamily="34" charset="0"/>
              </a:rPr>
              <a:t>np.empty</a:t>
            </a:r>
            <a:r>
              <a:rPr lang="en-US" altLang="ko-KR" sz="1400" dirty="0">
                <a:solidFill>
                  <a:schemeClr val="tx1"/>
                </a:solidFill>
                <a:latin typeface="SamsungOne 400" panose="020B0503030303020204" pitchFamily="34" charset="0"/>
                <a:ea typeface="SamsungOne 400" panose="020B0503030303020204" pitchFamily="34" charset="0"/>
              </a:rPr>
              <a:t>) for more detail.</a:t>
            </a:r>
          </a:p>
        </p:txBody>
      </p:sp>
    </p:spTree>
    <p:extLst>
      <p:ext uri="{BB962C8B-B14F-4D97-AF65-F5344CB8AC3E}">
        <p14:creationId xmlns:p14="http://schemas.microsoft.com/office/powerpoint/2010/main" val="5728920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11201" y="3329278"/>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use negative numbers as an index, select a row from the end.</a:t>
            </a:r>
          </a:p>
        </p:txBody>
      </p:sp>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2BA8327C-6510-48C6-9EB4-E9A3F8013357}"/>
              </a:ext>
            </a:extLst>
          </p:cNvPr>
          <p:cNvGrpSpPr/>
          <p:nvPr/>
        </p:nvGrpSpPr>
        <p:grpSpPr>
          <a:xfrm>
            <a:off x="558924" y="2045990"/>
            <a:ext cx="8782050" cy="1157461"/>
            <a:chOff x="558924" y="2204864"/>
            <a:chExt cx="8782050" cy="1157461"/>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11574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860" r="19969"/>
            <a:stretch/>
          </p:blipFill>
          <p:spPr>
            <a:xfrm>
              <a:off x="638174" y="2231634"/>
              <a:ext cx="8702800" cy="1092591"/>
            </a:xfrm>
            <a:prstGeom prst="rect">
              <a:avLst/>
            </a:prstGeom>
          </p:spPr>
        </p:pic>
      </p:grpSp>
      <p:grpSp>
        <p:nvGrpSpPr>
          <p:cNvPr id="5" name="그룹 4">
            <a:extLst>
              <a:ext uri="{FF2B5EF4-FFF2-40B4-BE49-F238E27FC236}">
                <a16:creationId xmlns:a16="http://schemas.microsoft.com/office/drawing/2014/main" id="{9812F67B-1F73-4429-8841-CC45765F38BA}"/>
              </a:ext>
            </a:extLst>
          </p:cNvPr>
          <p:cNvGrpSpPr/>
          <p:nvPr/>
        </p:nvGrpSpPr>
        <p:grpSpPr>
          <a:xfrm>
            <a:off x="558924" y="3697982"/>
            <a:ext cx="8782051" cy="943744"/>
            <a:chOff x="558924" y="3933056"/>
            <a:chExt cx="8782051" cy="943744"/>
          </a:xfrm>
        </p:grpSpPr>
        <p:sp>
          <p:nvSpPr>
            <p:cNvPr id="17" name="모서리가 둥근 직사각형 4">
              <a:extLst>
                <a:ext uri="{FF2B5EF4-FFF2-40B4-BE49-F238E27FC236}">
                  <a16:creationId xmlns:a16="http://schemas.microsoft.com/office/drawing/2014/main" id="{A36E3BA1-83BF-4EF9-8B22-BB45DE7AA1FC}"/>
                </a:ext>
              </a:extLst>
            </p:cNvPr>
            <p:cNvSpPr/>
            <p:nvPr/>
          </p:nvSpPr>
          <p:spPr>
            <a:xfrm>
              <a:off x="558924" y="3933056"/>
              <a:ext cx="8782050" cy="94374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860" t="-1" r="22692" b="38661"/>
            <a:stretch/>
          </p:blipFill>
          <p:spPr>
            <a:xfrm>
              <a:off x="657225" y="3981766"/>
              <a:ext cx="8683750" cy="818834"/>
            </a:xfrm>
            <a:prstGeom prst="rect">
              <a:avLst/>
            </a:prstGeom>
          </p:spPr>
        </p:pic>
      </p:grpSp>
      <p:grpSp>
        <p:nvGrpSpPr>
          <p:cNvPr id="13" name="그룹 12">
            <a:extLst>
              <a:ext uri="{FF2B5EF4-FFF2-40B4-BE49-F238E27FC236}">
                <a16:creationId xmlns:a16="http://schemas.microsoft.com/office/drawing/2014/main" id="{51C41110-CE66-453F-9A8F-CDDF40CF1AA1}"/>
              </a:ext>
            </a:extLst>
          </p:cNvPr>
          <p:cNvGrpSpPr/>
          <p:nvPr/>
        </p:nvGrpSpPr>
        <p:grpSpPr>
          <a:xfrm>
            <a:off x="580388" y="1413381"/>
            <a:ext cx="8887612" cy="599957"/>
            <a:chOff x="580388" y="1413381"/>
            <a:chExt cx="8887612" cy="599957"/>
          </a:xfrm>
        </p:grpSpPr>
        <p:sp>
          <p:nvSpPr>
            <p:cNvPr id="18" name="직사각형 17">
              <a:extLst>
                <a:ext uri="{FF2B5EF4-FFF2-40B4-BE49-F238E27FC236}">
                  <a16:creationId xmlns:a16="http://schemas.microsoft.com/office/drawing/2014/main" id="{DC86DD8C-BB9F-4CE9-B7FB-A47B2399324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Fancy Indexing</a:t>
              </a:r>
              <a:endParaRPr lang="ko-KR" altLang="en-US" sz="1400" dirty="0">
                <a:solidFill>
                  <a:schemeClr val="tx1"/>
                </a:solidFill>
                <a:latin typeface="SamsungOne 400" panose="020B0503030303020204" pitchFamily="34" charset="0"/>
              </a:endParaRPr>
            </a:p>
          </p:txBody>
        </p:sp>
        <p:sp>
          <p:nvSpPr>
            <p:cNvPr id="21" name="Rectangle 12">
              <a:extLst>
                <a:ext uri="{FF2B5EF4-FFF2-40B4-BE49-F238E27FC236}">
                  <a16:creationId xmlns:a16="http://schemas.microsoft.com/office/drawing/2014/main" id="{77B9AF49-5871-4ADD-95C0-64C4E030DDA2}"/>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Selecting rows in a specific order can skip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ndarrray</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or the list containing the desired order.</a:t>
              </a:r>
            </a:p>
          </p:txBody>
        </p:sp>
      </p:grpSp>
    </p:spTree>
    <p:extLst>
      <p:ext uri="{BB962C8B-B14F-4D97-AF65-F5344CB8AC3E}">
        <p14:creationId xmlns:p14="http://schemas.microsoft.com/office/powerpoint/2010/main" val="27707841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1" name="그룹 10">
            <a:extLst>
              <a:ext uri="{FF2B5EF4-FFF2-40B4-BE49-F238E27FC236}">
                <a16:creationId xmlns:a16="http://schemas.microsoft.com/office/drawing/2014/main" id="{21AF4532-4F3F-4044-98BE-D74866D7463B}"/>
              </a:ext>
            </a:extLst>
          </p:cNvPr>
          <p:cNvGrpSpPr/>
          <p:nvPr/>
        </p:nvGrpSpPr>
        <p:grpSpPr>
          <a:xfrm>
            <a:off x="580388" y="1413381"/>
            <a:ext cx="8887612" cy="800012"/>
            <a:chOff x="580388" y="1413381"/>
            <a:chExt cx="8887612" cy="800012"/>
          </a:xfrm>
        </p:grpSpPr>
        <p:sp>
          <p:nvSpPr>
            <p:cNvPr id="12" name="직사각형 11">
              <a:extLst>
                <a:ext uri="{FF2B5EF4-FFF2-40B4-BE49-F238E27FC236}">
                  <a16:creationId xmlns:a16="http://schemas.microsoft.com/office/drawing/2014/main" id="{1462A982-0D94-414F-9159-E84F65ECBD8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Fancy Indexing</a:t>
              </a:r>
              <a:endParaRPr lang="ko-KR" altLang="en-US" sz="1400" dirty="0">
                <a:solidFill>
                  <a:schemeClr val="tx1"/>
                </a:solidFill>
                <a:latin typeface="SamsungOne 400" panose="020B0503030303020204" pitchFamily="34" charset="0"/>
              </a:endParaRPr>
            </a:p>
          </p:txBody>
        </p:sp>
        <p:sp>
          <p:nvSpPr>
            <p:cNvPr id="13" name="Rectangle 12">
              <a:extLst>
                <a:ext uri="{FF2B5EF4-FFF2-40B4-BE49-F238E27FC236}">
                  <a16:creationId xmlns:a16="http://schemas.microsoft.com/office/drawing/2014/main" id="{91BCB31D-FCF3-4E7D-B5B6-4512EC6D846A}"/>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index values that are only multiples of 5, the Boolean array for the condition can be put into the variable and obtained.</a:t>
              </a:r>
            </a:p>
          </p:txBody>
        </p:sp>
      </p:grpSp>
      <p:grpSp>
        <p:nvGrpSpPr>
          <p:cNvPr id="8" name="그룹 7"/>
          <p:cNvGrpSpPr/>
          <p:nvPr/>
        </p:nvGrpSpPr>
        <p:grpSpPr>
          <a:xfrm>
            <a:off x="558924" y="2263759"/>
            <a:ext cx="8782050" cy="1739281"/>
            <a:chOff x="558924" y="2263759"/>
            <a:chExt cx="8782050" cy="1739281"/>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263759"/>
              <a:ext cx="8782050" cy="173928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 name="그룹 6"/>
            <p:cNvGrpSpPr/>
            <p:nvPr/>
          </p:nvGrpSpPr>
          <p:grpSpPr>
            <a:xfrm>
              <a:off x="651252" y="2366762"/>
              <a:ext cx="8689722" cy="1607822"/>
              <a:chOff x="651252" y="2418080"/>
              <a:chExt cx="8689722" cy="1607822"/>
            </a:xfrm>
          </p:grpSpPr>
          <p:pic>
            <p:nvPicPr>
              <p:cNvPr id="2" name="그림 1"/>
              <p:cNvPicPr>
                <a:picLocks noChangeAspect="1"/>
              </p:cNvPicPr>
              <p:nvPr/>
            </p:nvPicPr>
            <p:blipFill rotWithShape="1">
              <a:blip r:embed="rId4"/>
              <a:srcRect l="2027" r="19536"/>
              <a:stretch/>
            </p:blipFill>
            <p:spPr>
              <a:xfrm>
                <a:off x="652263" y="2815231"/>
                <a:ext cx="8688711" cy="1210671"/>
              </a:xfrm>
              <a:prstGeom prst="rect">
                <a:avLst/>
              </a:prstGeom>
            </p:spPr>
          </p:pic>
          <p:pic>
            <p:nvPicPr>
              <p:cNvPr id="5" name="그림 4"/>
              <p:cNvPicPr>
                <a:picLocks noChangeAspect="1"/>
              </p:cNvPicPr>
              <p:nvPr/>
            </p:nvPicPr>
            <p:blipFill rotWithShape="1">
              <a:blip r:embed="rId5"/>
              <a:srcRect l="4694" r="18813"/>
              <a:stretch/>
            </p:blipFill>
            <p:spPr>
              <a:xfrm>
                <a:off x="651252" y="2418080"/>
                <a:ext cx="8689722" cy="457264"/>
              </a:xfrm>
              <a:prstGeom prst="rect">
                <a:avLst/>
              </a:prstGeom>
            </p:spPr>
          </p:pic>
        </p:grpSp>
      </p:grpSp>
    </p:spTree>
    <p:extLst>
      <p:ext uri="{BB962C8B-B14F-4D97-AF65-F5344CB8AC3E}">
        <p14:creationId xmlns:p14="http://schemas.microsoft.com/office/powerpoint/2010/main" val="23555339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5" name="직사각형 14">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lvl="0"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1.4. NumPy Indexing and Slicing</a:t>
              </a:r>
            </a:p>
          </p:txBody>
        </p:sp>
        <p:sp>
          <p:nvSpPr>
            <p:cNvPr id="16" name="직사각형 15">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5" name="그룹 4">
            <a:extLst>
              <a:ext uri="{FF2B5EF4-FFF2-40B4-BE49-F238E27FC236}">
                <a16:creationId xmlns:a16="http://schemas.microsoft.com/office/drawing/2014/main" id="{862135DF-9C63-44BB-BF57-F1C0C9AA7CE6}"/>
              </a:ext>
            </a:extLst>
          </p:cNvPr>
          <p:cNvGrpSpPr/>
          <p:nvPr/>
        </p:nvGrpSpPr>
        <p:grpSpPr>
          <a:xfrm>
            <a:off x="558924" y="2060848"/>
            <a:ext cx="8782051" cy="2232248"/>
            <a:chOff x="558924" y="2204864"/>
            <a:chExt cx="8782051" cy="2232248"/>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22322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855" r="16759"/>
            <a:stretch/>
          </p:blipFill>
          <p:spPr>
            <a:xfrm>
              <a:off x="657225" y="2269735"/>
              <a:ext cx="8683750" cy="2102240"/>
            </a:xfrm>
            <a:prstGeom prst="rect">
              <a:avLst/>
            </a:prstGeom>
          </p:spPr>
        </p:pic>
      </p:grpSp>
      <p:pic>
        <p:nvPicPr>
          <p:cNvPr id="4" name="그림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6161" y="4545682"/>
            <a:ext cx="7267575" cy="971550"/>
          </a:xfrm>
          <a:prstGeom prst="rect">
            <a:avLst/>
          </a:prstGeom>
        </p:spPr>
      </p:pic>
      <p:grpSp>
        <p:nvGrpSpPr>
          <p:cNvPr id="21" name="그룹 20">
            <a:extLst>
              <a:ext uri="{FF2B5EF4-FFF2-40B4-BE49-F238E27FC236}">
                <a16:creationId xmlns:a16="http://schemas.microsoft.com/office/drawing/2014/main" id="{AF831290-A417-4257-BB74-43639EAF1844}"/>
              </a:ext>
            </a:extLst>
          </p:cNvPr>
          <p:cNvGrpSpPr/>
          <p:nvPr/>
        </p:nvGrpSpPr>
        <p:grpSpPr>
          <a:xfrm>
            <a:off x="580388" y="1413381"/>
            <a:ext cx="8887612" cy="599957"/>
            <a:chOff x="580388" y="1413381"/>
            <a:chExt cx="8887612" cy="599957"/>
          </a:xfrm>
        </p:grpSpPr>
        <p:sp>
          <p:nvSpPr>
            <p:cNvPr id="22" name="직사각형 21">
              <a:extLst>
                <a:ext uri="{FF2B5EF4-FFF2-40B4-BE49-F238E27FC236}">
                  <a16:creationId xmlns:a16="http://schemas.microsoft.com/office/drawing/2014/main" id="{97925D7F-AC52-4641-A602-C88D1ACDE52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Fancy Indexing</a:t>
              </a:r>
              <a:endParaRPr lang="ko-KR" altLang="en-US" sz="1400" dirty="0">
                <a:solidFill>
                  <a:schemeClr val="tx1"/>
                </a:solidFill>
                <a:latin typeface="SamsungOne 400" panose="020B0503030303020204" pitchFamily="34" charset="0"/>
              </a:endParaRPr>
            </a:p>
          </p:txBody>
        </p:sp>
        <p:sp>
          <p:nvSpPr>
            <p:cNvPr id="23" name="Rectangle 12">
              <a:extLst>
                <a:ext uri="{FF2B5EF4-FFF2-40B4-BE49-F238E27FC236}">
                  <a16:creationId xmlns:a16="http://schemas.microsoft.com/office/drawing/2014/main" id="{F0D83451-2834-46D1-9D9A-F9AACF486439}"/>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can also be obtained by combining two conditions.</a:t>
              </a:r>
            </a:p>
          </p:txBody>
        </p:sp>
      </p:grpSp>
    </p:spTree>
    <p:extLst>
      <p:ext uri="{BB962C8B-B14F-4D97-AF65-F5344CB8AC3E}">
        <p14:creationId xmlns:p14="http://schemas.microsoft.com/office/powerpoint/2010/main" val="19500441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그룹 18">
            <a:extLst>
              <a:ext uri="{FF2B5EF4-FFF2-40B4-BE49-F238E27FC236}">
                <a16:creationId xmlns:a16="http://schemas.microsoft.com/office/drawing/2014/main" id="{60624387-1F00-4826-84E2-EB843CAED73F}"/>
              </a:ext>
            </a:extLst>
          </p:cNvPr>
          <p:cNvGrpSpPr/>
          <p:nvPr/>
        </p:nvGrpSpPr>
        <p:grpSpPr>
          <a:xfrm>
            <a:off x="989683" y="2748696"/>
            <a:ext cx="8354217" cy="2967406"/>
            <a:chOff x="989683" y="2748696"/>
            <a:chExt cx="8354217" cy="2967406"/>
          </a:xfrm>
        </p:grpSpPr>
        <p:sp>
          <p:nvSpPr>
            <p:cNvPr id="22" name="직사각형 133">
              <a:extLst>
                <a:ext uri="{FF2B5EF4-FFF2-40B4-BE49-F238E27FC236}">
                  <a16:creationId xmlns:a16="http://schemas.microsoft.com/office/drawing/2014/main" id="{6D2E5B5B-64DB-4588-91F0-3EB155275AD7}"/>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NumPy Array Data Structure for Optimal Computational Performance</a:t>
              </a:r>
            </a:p>
          </p:txBody>
        </p:sp>
        <p:sp>
          <p:nvSpPr>
            <p:cNvPr id="25" name="직사각형 133">
              <a:extLst>
                <a:ext uri="{FF2B5EF4-FFF2-40B4-BE49-F238E27FC236}">
                  <a16:creationId xmlns:a16="http://schemas.microsoft.com/office/drawing/2014/main" id="{B2E3FB5F-CE09-4290-BE51-9A41A646FF00}"/>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1.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1" name="그룹 30">
              <a:extLst>
                <a:ext uri="{FF2B5EF4-FFF2-40B4-BE49-F238E27FC236}">
                  <a16:creationId xmlns:a16="http://schemas.microsoft.com/office/drawing/2014/main" id="{C9A2F499-446B-4F80-B7BC-D9875A43DB84}"/>
                </a:ext>
              </a:extLst>
            </p:cNvPr>
            <p:cNvGrpSpPr/>
            <p:nvPr/>
          </p:nvGrpSpPr>
          <p:grpSpPr>
            <a:xfrm>
              <a:off x="1025537" y="4628753"/>
              <a:ext cx="7851751" cy="1087349"/>
              <a:chOff x="1025537" y="4609703"/>
              <a:chExt cx="7851751" cy="1087349"/>
            </a:xfrm>
          </p:grpSpPr>
          <p:sp>
            <p:nvSpPr>
              <p:cNvPr id="32" name="직사각형 31">
                <a:extLst>
                  <a:ext uri="{FF2B5EF4-FFF2-40B4-BE49-F238E27FC236}">
                    <a16:creationId xmlns:a16="http://schemas.microsoft.com/office/drawing/2014/main" id="{21DE85FD-5895-4DD6-8412-9C03CF5A5CDF}"/>
                  </a:ext>
                </a:extLst>
              </p:cNvPr>
              <p:cNvSpPr/>
              <p:nvPr/>
            </p:nvSpPr>
            <p:spPr>
              <a:xfrm>
                <a:off x="1025537" y="4609703"/>
                <a:ext cx="4185332" cy="1087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1.1. NumPy Arrays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1.2. NumPy Array Basics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1.3. NumPy Array Operations</a:t>
                </a:r>
              </a:p>
            </p:txBody>
          </p:sp>
          <p:sp>
            <p:nvSpPr>
              <p:cNvPr id="33" name="직사각형 32">
                <a:extLst>
                  <a:ext uri="{FF2B5EF4-FFF2-40B4-BE49-F238E27FC236}">
                    <a16:creationId xmlns:a16="http://schemas.microsoft.com/office/drawing/2014/main" id="{29BEAD2A-F0E7-48BB-844C-4629766CA97F}"/>
                  </a:ext>
                </a:extLst>
              </p:cNvPr>
              <p:cNvSpPr/>
              <p:nvPr/>
            </p:nvSpPr>
            <p:spPr>
              <a:xfrm>
                <a:off x="4691956" y="4609703"/>
                <a:ext cx="4185332" cy="681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1.4. NumPy Indexing and Slicing</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1.5. Array Transposition and Axis Swap</a:t>
                </a:r>
              </a:p>
            </p:txBody>
          </p:sp>
        </p:grpSp>
      </p:grpSp>
    </p:spTree>
    <p:extLst>
      <p:ext uri="{BB962C8B-B14F-4D97-AF65-F5344CB8AC3E}">
        <p14:creationId xmlns:p14="http://schemas.microsoft.com/office/powerpoint/2010/main" val="36432353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sp>
        <p:nvSpPr>
          <p:cNvPr id="18" name="직사각형 17">
            <a:extLst>
              <a:ext uri="{FF2B5EF4-FFF2-40B4-BE49-F238E27FC236}">
                <a16:creationId xmlns:a16="http://schemas.microsoft.com/office/drawing/2014/main" id="{01EEF320-460B-4AD9-8F41-CC83E11518BC}"/>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cs typeface="Samsung Sharp Sans" pitchFamily="2" charset="0"/>
              </a:rPr>
              <a:t>Array Transposition</a:t>
            </a:r>
            <a:endPar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grpSp>
        <p:nvGrpSpPr>
          <p:cNvPr id="4" name="그룹 3">
            <a:extLst>
              <a:ext uri="{FF2B5EF4-FFF2-40B4-BE49-F238E27FC236}">
                <a16:creationId xmlns:a16="http://schemas.microsoft.com/office/drawing/2014/main" id="{AD8ACBEA-25E2-403C-B591-61FCCE2EE641}"/>
              </a:ext>
            </a:extLst>
          </p:cNvPr>
          <p:cNvGrpSpPr/>
          <p:nvPr/>
        </p:nvGrpSpPr>
        <p:grpSpPr>
          <a:xfrm>
            <a:off x="557644" y="2420888"/>
            <a:ext cx="8782050" cy="1038541"/>
            <a:chOff x="557644" y="2479101"/>
            <a:chExt cx="8782050" cy="1038541"/>
          </a:xfrm>
        </p:grpSpPr>
        <p:sp>
          <p:nvSpPr>
            <p:cNvPr id="29" name="모서리가 둥근 직사각형 4">
              <a:extLst>
                <a:ext uri="{FF2B5EF4-FFF2-40B4-BE49-F238E27FC236}">
                  <a16:creationId xmlns:a16="http://schemas.microsoft.com/office/drawing/2014/main" id="{5D87548C-37A0-4C5A-90FC-607E60799A1E}"/>
                </a:ext>
              </a:extLst>
            </p:cNvPr>
            <p:cNvSpPr/>
            <p:nvPr/>
          </p:nvSpPr>
          <p:spPr>
            <a:xfrm>
              <a:off x="557644" y="2479101"/>
              <a:ext cx="8782050" cy="103854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pic>
          <p:nvPicPr>
            <p:cNvPr id="3" name="그림 2"/>
            <p:cNvPicPr>
              <a:picLocks noChangeAspect="1"/>
            </p:cNvPicPr>
            <p:nvPr/>
          </p:nvPicPr>
          <p:blipFill rotWithShape="1">
            <a:blip r:embed="rId3"/>
            <a:srcRect l="2230" r="16488"/>
            <a:stretch/>
          </p:blipFill>
          <p:spPr>
            <a:xfrm>
              <a:off x="606490" y="2510438"/>
              <a:ext cx="8733204" cy="990569"/>
            </a:xfrm>
            <a:prstGeom prst="rect">
              <a:avLst/>
            </a:prstGeom>
          </p:spPr>
        </p:pic>
      </p:grpSp>
      <p:sp>
        <p:nvSpPr>
          <p:cNvPr id="12" name="직사각형 11">
            <a:extLst>
              <a:ext uri="{FF2B5EF4-FFF2-40B4-BE49-F238E27FC236}">
                <a16:creationId xmlns:a16="http://schemas.microsoft.com/office/drawing/2014/main" id="{1EA6680B-1605-46E2-8D43-8EFE9B3CB4ED}"/>
              </a:ext>
            </a:extLst>
          </p:cNvPr>
          <p:cNvSpPr/>
          <p:nvPr/>
        </p:nvSpPr>
        <p:spPr>
          <a:xfrm>
            <a:off x="580388" y="1879997"/>
            <a:ext cx="8887612"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 is a special function that returns a view in which the data shape has changed without copying the data. </a:t>
            </a:r>
            <a:r>
              <a:rPr lang="en-US" altLang="ko-KR" sz="1400" dirty="0" err="1">
                <a:solidFill>
                  <a:schemeClr val="tx1"/>
                </a:solidFill>
                <a:latin typeface="SamsungOne 400" panose="020B0503030303020204" pitchFamily="34" charset="0"/>
                <a:ea typeface="SamsungOne 400" panose="020B0503030303020204" pitchFamily="34" charset="0"/>
              </a:rPr>
              <a:t>ndarray</a:t>
            </a:r>
            <a:r>
              <a:rPr lang="en-US" altLang="ko-KR" sz="1400" dirty="0">
                <a:solidFill>
                  <a:schemeClr val="tx1"/>
                </a:solidFill>
                <a:latin typeface="SamsungOne 400" panose="020B0503030303020204" pitchFamily="34" charset="0"/>
                <a:ea typeface="SamsungOne 400" panose="020B0503030303020204" pitchFamily="34" charset="0"/>
              </a:rPr>
              <a:t> has a </a:t>
            </a:r>
            <a:r>
              <a:rPr lang="en-US" altLang="ko-KR" sz="1400" dirty="0" err="1">
                <a:solidFill>
                  <a:schemeClr val="tx1"/>
                </a:solidFill>
                <a:latin typeface="SamsungOne 400" panose="020B0503030303020204" pitchFamily="34" charset="0"/>
                <a:ea typeface="SamsungOne 400" panose="020B0503030303020204" pitchFamily="34" charset="0"/>
              </a:rPr>
              <a:t>transponse</a:t>
            </a:r>
            <a:r>
              <a:rPr lang="en-US" altLang="ko-KR" sz="1400" dirty="0">
                <a:solidFill>
                  <a:schemeClr val="tx1"/>
                </a:solidFill>
                <a:latin typeface="SamsungOne 400" panose="020B0503030303020204" pitchFamily="34" charset="0"/>
                <a:ea typeface="SamsungOne 400" panose="020B0503030303020204" pitchFamily="34" charset="0"/>
              </a:rPr>
              <a:t> method and a special property named T. </a:t>
            </a:r>
          </a:p>
        </p:txBody>
      </p:sp>
    </p:spTree>
    <p:extLst>
      <p:ext uri="{BB962C8B-B14F-4D97-AF65-F5344CB8AC3E}">
        <p14:creationId xmlns:p14="http://schemas.microsoft.com/office/powerpoint/2010/main" val="36587678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9B33753C-63E7-4ED7-B08C-1A272C8E72FC}"/>
              </a:ext>
            </a:extLst>
          </p:cNvPr>
          <p:cNvGrpSpPr/>
          <p:nvPr/>
        </p:nvGrpSpPr>
        <p:grpSpPr>
          <a:xfrm>
            <a:off x="558924" y="2244013"/>
            <a:ext cx="8782050" cy="4083969"/>
            <a:chOff x="558924" y="2204864"/>
            <a:chExt cx="8782050" cy="4083969"/>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204864"/>
              <a:ext cx="8782050" cy="408396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428" r="10124"/>
            <a:stretch/>
          </p:blipFill>
          <p:spPr>
            <a:xfrm>
              <a:off x="681134" y="2236933"/>
              <a:ext cx="8659839" cy="4005306"/>
            </a:xfrm>
            <a:prstGeom prst="rect">
              <a:avLst/>
            </a:prstGeom>
          </p:spPr>
        </p:pic>
      </p:grpSp>
      <p:grpSp>
        <p:nvGrpSpPr>
          <p:cNvPr id="14" name="그룹 13">
            <a:extLst>
              <a:ext uri="{FF2B5EF4-FFF2-40B4-BE49-F238E27FC236}">
                <a16:creationId xmlns:a16="http://schemas.microsoft.com/office/drawing/2014/main" id="{EDFC78F5-194A-4B24-AC24-40C2A0DE5A9E}"/>
              </a:ext>
            </a:extLst>
          </p:cNvPr>
          <p:cNvGrpSpPr/>
          <p:nvPr/>
        </p:nvGrpSpPr>
        <p:grpSpPr>
          <a:xfrm>
            <a:off x="580388" y="1413381"/>
            <a:ext cx="8887612" cy="800012"/>
            <a:chOff x="580388" y="1413381"/>
            <a:chExt cx="8887612" cy="800012"/>
          </a:xfrm>
        </p:grpSpPr>
        <p:sp>
          <p:nvSpPr>
            <p:cNvPr id="15" name="직사각형 14">
              <a:extLst>
                <a:ext uri="{FF2B5EF4-FFF2-40B4-BE49-F238E27FC236}">
                  <a16:creationId xmlns:a16="http://schemas.microsoft.com/office/drawing/2014/main" id="{2EA7222A-5B79-43B7-9D0D-827CC8F48B9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16" name="Rectangle 12">
              <a:extLst>
                <a:ext uri="{FF2B5EF4-FFF2-40B4-BE49-F238E27FC236}">
                  <a16:creationId xmlns:a16="http://schemas.microsoft.com/office/drawing/2014/main" id="{17002459-0A56-4A81-88CC-71A1C0EB8AD1}"/>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Transpose can change the dimensional order of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ndarray</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 can be used to reverse the order of all dimensions with transpose. Since this is a frequently used function, it was made into a shortcut function. </a:t>
              </a:r>
            </a:p>
          </p:txBody>
        </p:sp>
      </p:grpSp>
    </p:spTree>
    <p:extLst>
      <p:ext uri="{BB962C8B-B14F-4D97-AF65-F5344CB8AC3E}">
        <p14:creationId xmlns:p14="http://schemas.microsoft.com/office/powerpoint/2010/main" val="301577211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6406245D-D12F-4677-BD7A-351C48C49371}"/>
              </a:ext>
            </a:extLst>
          </p:cNvPr>
          <p:cNvGrpSpPr/>
          <p:nvPr/>
        </p:nvGrpSpPr>
        <p:grpSpPr>
          <a:xfrm>
            <a:off x="558924" y="3076455"/>
            <a:ext cx="8782050" cy="3158250"/>
            <a:chOff x="558924" y="3057793"/>
            <a:chExt cx="8782050" cy="3158250"/>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3057793"/>
              <a:ext cx="8782050" cy="315825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425" r="14281"/>
            <a:stretch/>
          </p:blipFill>
          <p:spPr>
            <a:xfrm>
              <a:off x="580571" y="3085784"/>
              <a:ext cx="8760403" cy="3025767"/>
            </a:xfrm>
            <a:prstGeom prst="rect">
              <a:avLst/>
            </a:prstGeom>
          </p:spPr>
        </p:pic>
      </p:grpSp>
      <p:grpSp>
        <p:nvGrpSpPr>
          <p:cNvPr id="14" name="그룹 13">
            <a:extLst>
              <a:ext uri="{FF2B5EF4-FFF2-40B4-BE49-F238E27FC236}">
                <a16:creationId xmlns:a16="http://schemas.microsoft.com/office/drawing/2014/main" id="{F820EA80-E778-4ABF-A62D-9BB81CEFB0F7}"/>
              </a:ext>
            </a:extLst>
          </p:cNvPr>
          <p:cNvGrpSpPr/>
          <p:nvPr/>
        </p:nvGrpSpPr>
        <p:grpSpPr>
          <a:xfrm>
            <a:off x="580388" y="1413381"/>
            <a:ext cx="8887612" cy="1605360"/>
            <a:chOff x="580388" y="1413381"/>
            <a:chExt cx="8887612" cy="1605360"/>
          </a:xfrm>
        </p:grpSpPr>
        <p:sp>
          <p:nvSpPr>
            <p:cNvPr id="15" name="직사각형 14">
              <a:extLst>
                <a:ext uri="{FF2B5EF4-FFF2-40B4-BE49-F238E27FC236}">
                  <a16:creationId xmlns:a16="http://schemas.microsoft.com/office/drawing/2014/main" id="{ECFA0865-202B-405E-A6AD-B530C229580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16" name="Rectangle 12">
              <a:extLst>
                <a:ext uri="{FF2B5EF4-FFF2-40B4-BE49-F238E27FC236}">
                  <a16:creationId xmlns:a16="http://schemas.microsoft.com/office/drawing/2014/main" id="{7457044F-2A40-4A01-8417-166CF3488B04}"/>
                </a:ext>
              </a:extLst>
            </p:cNvPr>
            <p:cNvSpPr/>
            <p:nvPr/>
          </p:nvSpPr>
          <p:spPr>
            <a:xfrm>
              <a:off x="711201" y="1667877"/>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Linear algebra, such as matrix multiplication, division, determinant, and square matrix, is an important part of the library dealing with arrays.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Multiplying two two-dimensional arrays by * operators yields the product of each corresponding element, not the multiplication of the matrix.</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Matrix multiplication is calculated using a dot function in the NumPy namespace and an array method.</a:t>
              </a:r>
            </a:p>
          </p:txBody>
        </p:sp>
      </p:grpSp>
    </p:spTree>
    <p:extLst>
      <p:ext uri="{BB962C8B-B14F-4D97-AF65-F5344CB8AC3E}">
        <p14:creationId xmlns:p14="http://schemas.microsoft.com/office/powerpoint/2010/main" val="15204093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82366D1B-C602-4A43-B1A0-1EB05BE01A33}"/>
              </a:ext>
            </a:extLst>
          </p:cNvPr>
          <p:cNvGrpSpPr/>
          <p:nvPr/>
        </p:nvGrpSpPr>
        <p:grpSpPr>
          <a:xfrm>
            <a:off x="558924" y="2060848"/>
            <a:ext cx="8782050" cy="1076875"/>
            <a:chOff x="558924" y="2132856"/>
            <a:chExt cx="8782050" cy="1076875"/>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107687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70" r="15546"/>
            <a:stretch/>
          </p:blipFill>
          <p:spPr>
            <a:xfrm>
              <a:off x="595029" y="2183566"/>
              <a:ext cx="8745945" cy="923528"/>
            </a:xfrm>
            <a:prstGeom prst="rect">
              <a:avLst/>
            </a:prstGeom>
          </p:spPr>
        </p:pic>
      </p:grpSp>
      <p:grpSp>
        <p:nvGrpSpPr>
          <p:cNvPr id="14" name="그룹 13">
            <a:extLst>
              <a:ext uri="{FF2B5EF4-FFF2-40B4-BE49-F238E27FC236}">
                <a16:creationId xmlns:a16="http://schemas.microsoft.com/office/drawing/2014/main" id="{81A29A9C-CCF5-43C0-A146-AE33A66C2F5F}"/>
              </a:ext>
            </a:extLst>
          </p:cNvPr>
          <p:cNvGrpSpPr/>
          <p:nvPr/>
        </p:nvGrpSpPr>
        <p:grpSpPr>
          <a:xfrm>
            <a:off x="580388" y="1413381"/>
            <a:ext cx="8887612" cy="599957"/>
            <a:chOff x="580388" y="1413381"/>
            <a:chExt cx="8887612" cy="599957"/>
          </a:xfrm>
        </p:grpSpPr>
        <p:sp>
          <p:nvSpPr>
            <p:cNvPr id="15" name="직사각형 14">
              <a:extLst>
                <a:ext uri="{FF2B5EF4-FFF2-40B4-BE49-F238E27FC236}">
                  <a16:creationId xmlns:a16="http://schemas.microsoft.com/office/drawing/2014/main" id="{C1CA0846-21DA-4D2B-9595-8BBB17EA3D9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16" name="Rectangle 12">
              <a:extLst>
                <a:ext uri="{FF2B5EF4-FFF2-40B4-BE49-F238E27FC236}">
                  <a16:creationId xmlns:a16="http://schemas.microsoft.com/office/drawing/2014/main" id="{A08723AD-8D1A-47CA-A912-3F648505B846}"/>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is often used in matrix calculation, and np.dot is also used to find the inner part of the matrix. </a:t>
              </a:r>
            </a:p>
          </p:txBody>
        </p:sp>
      </p:grpSp>
    </p:spTree>
    <p:extLst>
      <p:ext uri="{BB962C8B-B14F-4D97-AF65-F5344CB8AC3E}">
        <p14:creationId xmlns:p14="http://schemas.microsoft.com/office/powerpoint/2010/main" val="138644356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740D2BA3-2D0A-4B28-8602-5EC624D7D508}"/>
              </a:ext>
            </a:extLst>
          </p:cNvPr>
          <p:cNvGrpSpPr/>
          <p:nvPr/>
        </p:nvGrpSpPr>
        <p:grpSpPr>
          <a:xfrm>
            <a:off x="558924" y="2046269"/>
            <a:ext cx="8782050" cy="4261225"/>
            <a:chOff x="558924" y="2046269"/>
            <a:chExt cx="8782050" cy="4261225"/>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046269"/>
              <a:ext cx="8782050" cy="426122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14281"/>
            <a:stretch/>
          </p:blipFill>
          <p:spPr>
            <a:xfrm>
              <a:off x="645887" y="2114194"/>
              <a:ext cx="8695087" cy="4159923"/>
            </a:xfrm>
            <a:prstGeom prst="rect">
              <a:avLst/>
            </a:prstGeom>
          </p:spPr>
        </p:pic>
      </p:grpSp>
      <p:grpSp>
        <p:nvGrpSpPr>
          <p:cNvPr id="14" name="그룹 13">
            <a:extLst>
              <a:ext uri="{FF2B5EF4-FFF2-40B4-BE49-F238E27FC236}">
                <a16:creationId xmlns:a16="http://schemas.microsoft.com/office/drawing/2014/main" id="{C8CECC29-4B56-4C76-AEFD-1C047508B7C0}"/>
              </a:ext>
            </a:extLst>
          </p:cNvPr>
          <p:cNvGrpSpPr/>
          <p:nvPr/>
        </p:nvGrpSpPr>
        <p:grpSpPr>
          <a:xfrm>
            <a:off x="580388" y="1413381"/>
            <a:ext cx="8887612" cy="599957"/>
            <a:chOff x="580388" y="1413381"/>
            <a:chExt cx="8887612" cy="599957"/>
          </a:xfrm>
        </p:grpSpPr>
        <p:sp>
          <p:nvSpPr>
            <p:cNvPr id="15" name="직사각형 14">
              <a:extLst>
                <a:ext uri="{FF2B5EF4-FFF2-40B4-BE49-F238E27FC236}">
                  <a16:creationId xmlns:a16="http://schemas.microsoft.com/office/drawing/2014/main" id="{7C6E7F4C-570A-40E2-A94B-0A0913BDC40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16" name="Rectangle 12">
              <a:extLst>
                <a:ext uri="{FF2B5EF4-FFF2-40B4-BE49-F238E27FC236}">
                  <a16:creationId xmlns:a16="http://schemas.microsoft.com/office/drawing/2014/main" id="{3A522FCB-DC08-4FD4-8901-DCDFE1F303B4}"/>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First, let’s reshape 3 rows and 4 columns in 2D into 4 rows and 3 columns. </a:t>
              </a:r>
            </a:p>
          </p:txBody>
        </p:sp>
      </p:grpSp>
    </p:spTree>
    <p:extLst>
      <p:ext uri="{BB962C8B-B14F-4D97-AF65-F5344CB8AC3E}">
        <p14:creationId xmlns:p14="http://schemas.microsoft.com/office/powerpoint/2010/main" val="18555112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8924" y="4311712"/>
            <a:ext cx="8782050" cy="725791"/>
            <a:chOff x="557644" y="5085181"/>
            <a:chExt cx="8782050" cy="725791"/>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Second page, second row, fourth row. </a:t>
              </a:r>
            </a:p>
          </p:txBody>
        </p:sp>
      </p:grpSp>
      <p:grpSp>
        <p:nvGrpSpPr>
          <p:cNvPr id="6" name="그룹 5">
            <a:extLst>
              <a:ext uri="{FF2B5EF4-FFF2-40B4-BE49-F238E27FC236}">
                <a16:creationId xmlns:a16="http://schemas.microsoft.com/office/drawing/2014/main" id="{6936FB7D-2C9D-4708-AAF1-5761B9982EA5}"/>
              </a:ext>
            </a:extLst>
          </p:cNvPr>
          <p:cNvGrpSpPr/>
          <p:nvPr/>
        </p:nvGrpSpPr>
        <p:grpSpPr>
          <a:xfrm>
            <a:off x="558924" y="2405535"/>
            <a:ext cx="8782050" cy="1815553"/>
            <a:chOff x="558924" y="2405535"/>
            <a:chExt cx="8782050" cy="1815553"/>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405535"/>
              <a:ext cx="8782050" cy="181555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8609"/>
            <a:stretch/>
          </p:blipFill>
          <p:spPr>
            <a:xfrm>
              <a:off x="571242" y="2428540"/>
              <a:ext cx="8769732" cy="1658267"/>
            </a:xfrm>
            <a:prstGeom prst="rect">
              <a:avLst/>
            </a:prstGeom>
          </p:spPr>
        </p:pic>
        <p:sp>
          <p:nvSpPr>
            <p:cNvPr id="4" name="직사각형 3"/>
            <p:cNvSpPr/>
            <p:nvPr/>
          </p:nvSpPr>
          <p:spPr>
            <a:xfrm>
              <a:off x="4227274" y="2596953"/>
              <a:ext cx="1109835" cy="20223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그룹 21">
            <a:extLst>
              <a:ext uri="{FF2B5EF4-FFF2-40B4-BE49-F238E27FC236}">
                <a16:creationId xmlns:a16="http://schemas.microsoft.com/office/drawing/2014/main" id="{48F2B9B1-CFDA-415D-85BB-0E975ADE2F1A}"/>
              </a:ext>
            </a:extLst>
          </p:cNvPr>
          <p:cNvGrpSpPr/>
          <p:nvPr/>
        </p:nvGrpSpPr>
        <p:grpSpPr>
          <a:xfrm>
            <a:off x="580388" y="1413381"/>
            <a:ext cx="8887612" cy="902604"/>
            <a:chOff x="580388" y="1413381"/>
            <a:chExt cx="8887612" cy="902604"/>
          </a:xfrm>
        </p:grpSpPr>
        <p:sp>
          <p:nvSpPr>
            <p:cNvPr id="23" name="직사각형 22">
              <a:extLst>
                <a:ext uri="{FF2B5EF4-FFF2-40B4-BE49-F238E27FC236}">
                  <a16:creationId xmlns:a16="http://schemas.microsoft.com/office/drawing/2014/main" id="{A323A49E-1272-4F43-B958-86F29FA420B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24" name="Rectangle 12">
              <a:extLst>
                <a:ext uri="{FF2B5EF4-FFF2-40B4-BE49-F238E27FC236}">
                  <a16:creationId xmlns:a16="http://schemas.microsoft.com/office/drawing/2014/main" id="{92E5B3BD-B998-49F0-AD52-C2F15A2294B5}"/>
                </a:ext>
              </a:extLst>
            </p:cNvPr>
            <p:cNvSpPr/>
            <p:nvPr/>
          </p:nvSpPr>
          <p:spPr>
            <a:xfrm>
              <a:off x="711201" y="1667877"/>
              <a:ext cx="863282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time, let’s try with a three-dimensional array.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Even in a three-dimensional array, the transpose method receives the tuple axis number and replaces it. </a:t>
              </a:r>
            </a:p>
          </p:txBody>
        </p:sp>
      </p:grpSp>
    </p:spTree>
    <p:extLst>
      <p:ext uri="{BB962C8B-B14F-4D97-AF65-F5344CB8AC3E}">
        <p14:creationId xmlns:p14="http://schemas.microsoft.com/office/powerpoint/2010/main" val="18188308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14" name="그룹 13"/>
          <p:cNvGrpSpPr/>
          <p:nvPr/>
        </p:nvGrpSpPr>
        <p:grpSpPr>
          <a:xfrm>
            <a:off x="558924" y="5583529"/>
            <a:ext cx="8782050" cy="725791"/>
            <a:chOff x="557644" y="5085181"/>
            <a:chExt cx="8782050" cy="725791"/>
          </a:xfrm>
        </p:grpSpPr>
        <p:sp>
          <p:nvSpPr>
            <p:cNvPr id="15"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order of the first and second axes was reversed, and the last axis remained the same.</a:t>
              </a:r>
            </a:p>
          </p:txBody>
        </p:sp>
      </p:grpSp>
      <p:grpSp>
        <p:nvGrpSpPr>
          <p:cNvPr id="2" name="그룹 1">
            <a:extLst>
              <a:ext uri="{FF2B5EF4-FFF2-40B4-BE49-F238E27FC236}">
                <a16:creationId xmlns:a16="http://schemas.microsoft.com/office/drawing/2014/main" id="{F53EC11E-E50F-4FA7-8427-D9C08953CC1F}"/>
              </a:ext>
            </a:extLst>
          </p:cNvPr>
          <p:cNvGrpSpPr/>
          <p:nvPr/>
        </p:nvGrpSpPr>
        <p:grpSpPr>
          <a:xfrm>
            <a:off x="558924" y="1770748"/>
            <a:ext cx="8782050" cy="3765961"/>
            <a:chOff x="558924" y="1770748"/>
            <a:chExt cx="8782050" cy="3765961"/>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1770748"/>
              <a:ext cx="8782050" cy="37659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3062"/>
            <a:stretch/>
          </p:blipFill>
          <p:spPr>
            <a:xfrm>
              <a:off x="600215" y="1807029"/>
              <a:ext cx="8728457" cy="3688701"/>
            </a:xfrm>
            <a:prstGeom prst="rect">
              <a:avLst/>
            </a:prstGeom>
          </p:spPr>
        </p:pic>
      </p:grpSp>
      <p:sp>
        <p:nvSpPr>
          <p:cNvPr id="19" name="직사각형 18">
            <a:extLst>
              <a:ext uri="{FF2B5EF4-FFF2-40B4-BE49-F238E27FC236}">
                <a16:creationId xmlns:a16="http://schemas.microsoft.com/office/drawing/2014/main" id="{8B016725-4A74-4506-9FEF-9A8325DFAB1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27025038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2" name="그룹 1">
            <a:extLst>
              <a:ext uri="{FF2B5EF4-FFF2-40B4-BE49-F238E27FC236}">
                <a16:creationId xmlns:a16="http://schemas.microsoft.com/office/drawing/2014/main" id="{86454362-5CF3-470A-9FE6-529D3E388F84}"/>
              </a:ext>
            </a:extLst>
          </p:cNvPr>
          <p:cNvGrpSpPr/>
          <p:nvPr/>
        </p:nvGrpSpPr>
        <p:grpSpPr>
          <a:xfrm>
            <a:off x="558924" y="2102888"/>
            <a:ext cx="8783125" cy="3943349"/>
            <a:chOff x="558924" y="2102888"/>
            <a:chExt cx="8783125" cy="3943349"/>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2102888"/>
              <a:ext cx="8782050" cy="39433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14281"/>
            <a:stretch/>
          </p:blipFill>
          <p:spPr>
            <a:xfrm>
              <a:off x="608565" y="2141588"/>
              <a:ext cx="8733484" cy="3885988"/>
            </a:xfrm>
            <a:prstGeom prst="rect">
              <a:avLst/>
            </a:prstGeom>
          </p:spPr>
        </p:pic>
      </p:grpSp>
      <p:grpSp>
        <p:nvGrpSpPr>
          <p:cNvPr id="18" name="그룹 17">
            <a:extLst>
              <a:ext uri="{FF2B5EF4-FFF2-40B4-BE49-F238E27FC236}">
                <a16:creationId xmlns:a16="http://schemas.microsoft.com/office/drawing/2014/main" id="{A661D495-57EC-4238-80AE-8DFB15EF6AFB}"/>
              </a:ext>
            </a:extLst>
          </p:cNvPr>
          <p:cNvGrpSpPr/>
          <p:nvPr/>
        </p:nvGrpSpPr>
        <p:grpSpPr>
          <a:xfrm>
            <a:off x="580388" y="1413381"/>
            <a:ext cx="8887612" cy="599957"/>
            <a:chOff x="580388" y="1413381"/>
            <a:chExt cx="8887612" cy="599957"/>
          </a:xfrm>
        </p:grpSpPr>
        <p:sp>
          <p:nvSpPr>
            <p:cNvPr id="21" name="직사각형 20">
              <a:extLst>
                <a:ext uri="{FF2B5EF4-FFF2-40B4-BE49-F238E27FC236}">
                  <a16:creationId xmlns:a16="http://schemas.microsoft.com/office/drawing/2014/main" id="{A3A7048B-543F-4FAB-B55B-106C0F8C600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
          <p:nvSpPr>
            <p:cNvPr id="22" name="Rectangle 12">
              <a:extLst>
                <a:ext uri="{FF2B5EF4-FFF2-40B4-BE49-F238E27FC236}">
                  <a16:creationId xmlns:a16="http://schemas.microsoft.com/office/drawing/2014/main" id="{49E1120D-54FD-4662-A6DE-FEA79A9546B9}"/>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is a method called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swapaxes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ndarray</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which receives two axis numbers and reverses the array.</a:t>
              </a:r>
            </a:p>
          </p:txBody>
        </p:sp>
      </p:grpSp>
    </p:spTree>
    <p:extLst>
      <p:ext uri="{BB962C8B-B14F-4D97-AF65-F5344CB8AC3E}">
        <p14:creationId xmlns:p14="http://schemas.microsoft.com/office/powerpoint/2010/main" val="27305466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1.5. Array Transposition and Axis Swap</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01</a:t>
              </a:r>
            </a:p>
          </p:txBody>
        </p:sp>
      </p:grpSp>
      <p:grpSp>
        <p:nvGrpSpPr>
          <p:cNvPr id="4" name="그룹 3">
            <a:extLst>
              <a:ext uri="{FF2B5EF4-FFF2-40B4-BE49-F238E27FC236}">
                <a16:creationId xmlns:a16="http://schemas.microsoft.com/office/drawing/2014/main" id="{61A8D547-5144-4370-A07F-90ABCB60E4A9}"/>
              </a:ext>
            </a:extLst>
          </p:cNvPr>
          <p:cNvGrpSpPr/>
          <p:nvPr/>
        </p:nvGrpSpPr>
        <p:grpSpPr>
          <a:xfrm>
            <a:off x="558924" y="1770748"/>
            <a:ext cx="8782050" cy="2954396"/>
            <a:chOff x="558924" y="1770748"/>
            <a:chExt cx="8782050" cy="2954396"/>
          </a:xfrm>
        </p:grpSpPr>
        <p:sp>
          <p:nvSpPr>
            <p:cNvPr id="20" name="모서리가 둥근 직사각형 4">
              <a:extLst>
                <a:ext uri="{FF2B5EF4-FFF2-40B4-BE49-F238E27FC236}">
                  <a16:creationId xmlns:a16="http://schemas.microsoft.com/office/drawing/2014/main" id="{A36E3BA1-83BF-4EF9-8B22-BB45DE7AA1FC}"/>
                </a:ext>
              </a:extLst>
            </p:cNvPr>
            <p:cNvSpPr/>
            <p:nvPr/>
          </p:nvSpPr>
          <p:spPr>
            <a:xfrm>
              <a:off x="558924" y="1770748"/>
              <a:ext cx="8782050" cy="29543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4290"/>
            <a:stretch/>
          </p:blipFill>
          <p:spPr>
            <a:xfrm>
              <a:off x="581554" y="1851518"/>
              <a:ext cx="8759420" cy="2729813"/>
            </a:xfrm>
            <a:prstGeom prst="rect">
              <a:avLst/>
            </a:prstGeom>
          </p:spPr>
        </p:pic>
      </p:grpSp>
      <p:sp>
        <p:nvSpPr>
          <p:cNvPr id="11" name="직사각형 10">
            <a:extLst>
              <a:ext uri="{FF2B5EF4-FFF2-40B4-BE49-F238E27FC236}">
                <a16:creationId xmlns:a16="http://schemas.microsoft.com/office/drawing/2014/main" id="{BE0BE9DE-06AF-48F8-8CB0-54A3BF7BA74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Array Transposition</a:t>
            </a:r>
            <a:endParaRPr lang="ko-KR" altLang="en-US" sz="1400" dirty="0">
              <a:solidFill>
                <a:schemeClr val="tx1"/>
              </a:solidFill>
              <a:latin typeface="SamsungOne 400" panose="020B0503030303020204" pitchFamily="34" charset="0"/>
            </a:endParaRPr>
          </a:p>
        </p:txBody>
      </p:sp>
    </p:spTree>
    <p:extLst>
      <p:ext uri="{BB962C8B-B14F-4D97-AF65-F5344CB8AC3E}">
        <p14:creationId xmlns:p14="http://schemas.microsoft.com/office/powerpoint/2010/main" val="36351680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C2AA5626-1534-41DA-BA4E-67D4571B34A9}"/>
              </a:ext>
            </a:extLst>
          </p:cNvPr>
          <p:cNvGrpSpPr/>
          <p:nvPr/>
        </p:nvGrpSpPr>
        <p:grpSpPr>
          <a:xfrm>
            <a:off x="989683" y="2748696"/>
            <a:ext cx="8354217" cy="3124387"/>
            <a:chOff x="989683" y="2748696"/>
            <a:chExt cx="8354217" cy="3124387"/>
          </a:xfrm>
        </p:grpSpPr>
        <p:sp>
          <p:nvSpPr>
            <p:cNvPr id="22" name="직사각형 133">
              <a:extLst>
                <a:ext uri="{FF2B5EF4-FFF2-40B4-BE49-F238E27FC236}">
                  <a16:creationId xmlns:a16="http://schemas.microsoft.com/office/drawing/2014/main" id="{9242843F-6CE4-4D3F-84E3-07D1852FEAB8}"/>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fontAlgn="base" latinLnBrk="1">
                <a:spcBef>
                  <a:spcPct val="0"/>
                </a:spcBef>
                <a:spcAft>
                  <a:spcPct val="0"/>
                </a:spcAft>
                <a:defRPr/>
              </a:pPr>
              <a:r>
                <a:rPr kumimoji="1" lang="en-US" altLang="ko-KR" sz="3400" dirty="0">
                  <a:solidFill>
                    <a:prstClr val="black"/>
                  </a:solidFill>
                  <a:latin typeface="Samsung Sharp Sans" pitchFamily="2" charset="0"/>
                  <a:ea typeface="Samsung Sharp Sans" pitchFamily="2" charset="0"/>
                  <a:cs typeface="Samsung Sharp Sans" pitchFamily="2" charset="0"/>
                </a:rPr>
                <a:t>Optimal Data Exploration Through Pandas</a:t>
              </a:r>
              <a:endParaRPr kumimoji="1" lang="ko-KR" altLang="en-US" sz="3400" dirty="0">
                <a:solidFill>
                  <a:prstClr val="black"/>
                </a:solidFill>
                <a:latin typeface="Samsung Sharp Sans" pitchFamily="2" charset="0"/>
                <a:cs typeface="Samsung Sharp Sans" pitchFamily="2" charset="0"/>
              </a:endParaRPr>
            </a:p>
          </p:txBody>
        </p:sp>
        <p:sp>
          <p:nvSpPr>
            <p:cNvPr id="25" name="직사각형 133">
              <a:extLst>
                <a:ext uri="{FF2B5EF4-FFF2-40B4-BE49-F238E27FC236}">
                  <a16:creationId xmlns:a16="http://schemas.microsoft.com/office/drawing/2014/main" id="{93785E26-3326-4DAA-B476-C12B794F303F}"/>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2.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1" name="그룹 30">
              <a:extLst>
                <a:ext uri="{FF2B5EF4-FFF2-40B4-BE49-F238E27FC236}">
                  <a16:creationId xmlns:a16="http://schemas.microsoft.com/office/drawing/2014/main" id="{E9D1F461-F2BB-4004-8CE5-E8AE484340E1}"/>
                </a:ext>
              </a:extLst>
            </p:cNvPr>
            <p:cNvGrpSpPr/>
            <p:nvPr/>
          </p:nvGrpSpPr>
          <p:grpSpPr>
            <a:xfrm>
              <a:off x="1025537" y="4509120"/>
              <a:ext cx="8297776" cy="1363963"/>
              <a:chOff x="1025537" y="4609703"/>
              <a:chExt cx="8297776" cy="1363963"/>
            </a:xfrm>
          </p:grpSpPr>
          <p:sp>
            <p:nvSpPr>
              <p:cNvPr id="32" name="직사각형 31">
                <a:extLst>
                  <a:ext uri="{FF2B5EF4-FFF2-40B4-BE49-F238E27FC236}">
                    <a16:creationId xmlns:a16="http://schemas.microsoft.com/office/drawing/2014/main" id="{2BCC8184-A1E3-4399-83D7-18B4753C0091}"/>
                  </a:ext>
                </a:extLst>
              </p:cNvPr>
              <p:cNvSpPr/>
              <p:nvPr/>
            </p:nvSpPr>
            <p:spPr>
              <a:xfrm>
                <a:off x="1025537" y="4609703"/>
                <a:ext cx="4185332" cy="136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defTabSz="914400" fontAlgn="base" latinLnBrk="1">
                  <a:spcBef>
                    <a:spcPct val="0"/>
                  </a:spcBef>
                  <a:spcAft>
                    <a:spcPts val="1000"/>
                  </a:spcAft>
                  <a:buSzPct val="120000"/>
                  <a:buBlip>
                    <a:blip r:embed="rId3"/>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2.1. Pipelines: Data Structures According to Data Types</a:t>
                </a:r>
              </a:p>
              <a:p>
                <a:pPr marL="176213" indent="-176213" fontAlgn="base">
                  <a:spcBef>
                    <a:spcPct val="0"/>
                  </a:spcBef>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2.2. Pandas Series and DataFrames</a:t>
                </a:r>
              </a:p>
              <a:p>
                <a:pPr marL="176213" indent="-176213" fontAlgn="base">
                  <a:spcBef>
                    <a:spcPct val="0"/>
                  </a:spcBef>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2.3. Merging and Binding DataFrames</a:t>
                </a:r>
              </a:p>
            </p:txBody>
          </p:sp>
          <p:sp>
            <p:nvSpPr>
              <p:cNvPr id="33" name="직사각형 32">
                <a:extLst>
                  <a:ext uri="{FF2B5EF4-FFF2-40B4-BE49-F238E27FC236}">
                    <a16:creationId xmlns:a16="http://schemas.microsoft.com/office/drawing/2014/main" id="{A9BD437C-C13F-4F2B-B721-FCFA983DC83B}"/>
                  </a:ext>
                </a:extLst>
              </p:cNvPr>
              <p:cNvSpPr/>
              <p:nvPr/>
            </p:nvSpPr>
            <p:spPr>
              <a:xfrm>
                <a:off x="5137981" y="4609703"/>
                <a:ext cx="4185332" cy="12357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2.4. DataFrame Sorting and Multi-Index</a:t>
                </a:r>
              </a:p>
              <a:p>
                <a:pPr marL="176213" indent="-176213" fontAlgn="base">
                  <a:spcBef>
                    <a:spcPct val="0"/>
                  </a:spcBef>
                  <a:spcAft>
                    <a:spcPts val="1000"/>
                  </a:spcAft>
                  <a:buSzPct val="120000"/>
                  <a:buBlip>
                    <a:blip r:embed="rId4"/>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2.5. Examining the Characteristics of Data Through Descriptive Statistics and Data Samples</a:t>
                </a:r>
                <a:endParaRPr kumimoji="1" lang="ko-KR" altLang="en-US" sz="1799" dirty="0">
                  <a:solidFill>
                    <a:prstClr val="white">
                      <a:lumMod val="65000"/>
                    </a:prstClr>
                  </a:solidFill>
                  <a:latin typeface="SamsungOne-400" panose="020B0503030303020204" pitchFamily="34" charset="0"/>
                  <a:ea typeface="SamsungOne-400" panose="020B0503030303020204" pitchFamily="34" charset="0"/>
                </a:endParaRPr>
              </a:p>
            </p:txBody>
          </p:sp>
        </p:grpSp>
      </p:grpSp>
    </p:spTree>
    <p:extLst>
      <p:ext uri="{BB962C8B-B14F-4D97-AF65-F5344CB8AC3E}">
        <p14:creationId xmlns:p14="http://schemas.microsoft.com/office/powerpoint/2010/main" val="36280166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그룹 2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3" name="직사각형 2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2.1. Pipelines: Data Structures According to Data Types</a:t>
              </a:r>
              <a:endParaRPr lang="ko-KR" altLang="en-US" dirty="0">
                <a:solidFill>
                  <a:prstClr val="white"/>
                </a:solidFill>
                <a:latin typeface="SamsungSharpSans-Medium" pitchFamily="2" charset="0"/>
                <a:cs typeface="SamsungSharpSans-Medium" pitchFamily="2" charset="0"/>
              </a:endParaRPr>
            </a:p>
          </p:txBody>
        </p:sp>
        <p:sp>
          <p:nvSpPr>
            <p:cNvPr id="24" name="직사각형 23">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9" name="그룹 8">
            <a:extLst>
              <a:ext uri="{FF2B5EF4-FFF2-40B4-BE49-F238E27FC236}">
                <a16:creationId xmlns:a16="http://schemas.microsoft.com/office/drawing/2014/main" id="{EE5A546D-4A57-47A0-9997-FB47811E1709}"/>
              </a:ext>
            </a:extLst>
          </p:cNvPr>
          <p:cNvGrpSpPr/>
          <p:nvPr/>
        </p:nvGrpSpPr>
        <p:grpSpPr>
          <a:xfrm>
            <a:off x="580388" y="1916832"/>
            <a:ext cx="8887612" cy="2308117"/>
            <a:chOff x="580388" y="1413381"/>
            <a:chExt cx="8887612" cy="2308117"/>
          </a:xfrm>
        </p:grpSpPr>
        <p:sp>
          <p:nvSpPr>
            <p:cNvPr id="10" name="직사각형 9">
              <a:extLst>
                <a:ext uri="{FF2B5EF4-FFF2-40B4-BE49-F238E27FC236}">
                  <a16:creationId xmlns:a16="http://schemas.microsoft.com/office/drawing/2014/main" id="{3D3FA8E4-F52C-47BC-9494-F889DBDECDE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Structural Perspective of Data Types</a:t>
              </a:r>
              <a:endParaRPr lang="ko-KR" altLang="en-US" sz="1400" dirty="0">
                <a:solidFill>
                  <a:schemeClr val="tx1"/>
                </a:solidFill>
                <a:latin typeface="SamsungOne 400" panose="020B0503030303020204" pitchFamily="34" charset="0"/>
              </a:endParaRPr>
            </a:p>
          </p:txBody>
        </p:sp>
        <p:sp>
          <p:nvSpPr>
            <p:cNvPr id="11" name="Rectangle 12">
              <a:extLst>
                <a:ext uri="{FF2B5EF4-FFF2-40B4-BE49-F238E27FC236}">
                  <a16:creationId xmlns:a16="http://schemas.microsoft.com/office/drawing/2014/main" id="{A565D94B-402B-4972-AFFC-93522B4F8711}"/>
                </a:ext>
              </a:extLst>
            </p:cNvPr>
            <p:cNvSpPr/>
            <p:nvPr/>
          </p:nvSpPr>
          <p:spPr>
            <a:xfrm>
              <a:off x="711201" y="1667877"/>
              <a:ext cx="8632824" cy="2053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Collected data, from a structural perspective (schema structure or computability), can be divided into three categories: structured, unstructured, and semi-structured data. </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Structured data refers to data that has a structure-based form of the structured schema (form) and is stored in fixed fields such as RDB and spreadsheet and is consistent in value and format. </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Unstructured data refers to data that does not have a schema structure and is not stored in fixed fields such as social media, web bulletin boards, and NoSQL.</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Semi-Structured data refers to data that has a schema(formal) structure and contains metadata such as XML, HTML, weblogs, system logs, and alarms and is inconsistent in value and format.</a:t>
              </a:r>
            </a:p>
          </p:txBody>
        </p:sp>
      </p:grpSp>
      <p:sp>
        <p:nvSpPr>
          <p:cNvPr id="8" name="직사각형 7">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Pipelines</a:t>
            </a:r>
          </a:p>
        </p:txBody>
      </p:sp>
    </p:spTree>
    <p:extLst>
      <p:ext uri="{BB962C8B-B14F-4D97-AF65-F5344CB8AC3E}">
        <p14:creationId xmlns:p14="http://schemas.microsoft.com/office/powerpoint/2010/main" val="12894012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그룹 8">
            <a:extLst>
              <a:ext uri="{FF2B5EF4-FFF2-40B4-BE49-F238E27FC236}">
                <a16:creationId xmlns:a16="http://schemas.microsoft.com/office/drawing/2014/main" id="{C463AB2E-5B86-4907-8D1C-84F247828FC5}"/>
              </a:ext>
            </a:extLst>
          </p:cNvPr>
          <p:cNvGrpSpPr/>
          <p:nvPr/>
        </p:nvGrpSpPr>
        <p:grpSpPr>
          <a:xfrm>
            <a:off x="560959" y="2492896"/>
            <a:ext cx="8782050" cy="3646048"/>
            <a:chOff x="558800" y="2432140"/>
            <a:chExt cx="8782050" cy="3646048"/>
          </a:xfrm>
        </p:grpSpPr>
        <p:sp>
          <p:nvSpPr>
            <p:cNvPr id="10" name="모서리가 둥근 직사각형 41">
              <a:extLst>
                <a:ext uri="{FF2B5EF4-FFF2-40B4-BE49-F238E27FC236}">
                  <a16:creationId xmlns:a16="http://schemas.microsoft.com/office/drawing/2014/main" id="{F9140C23-63A7-4F7A-875F-3E83D098455E}"/>
                </a:ext>
              </a:extLst>
            </p:cNvPr>
            <p:cNvSpPr/>
            <p:nvPr/>
          </p:nvSpPr>
          <p:spPr>
            <a:xfrm>
              <a:off x="558800" y="2432140"/>
              <a:ext cx="8782050" cy="36460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1" name="그룹 10">
              <a:extLst>
                <a:ext uri="{FF2B5EF4-FFF2-40B4-BE49-F238E27FC236}">
                  <a16:creationId xmlns:a16="http://schemas.microsoft.com/office/drawing/2014/main" id="{04934D64-FC63-468C-8D80-4356A4961140}"/>
                </a:ext>
              </a:extLst>
            </p:cNvPr>
            <p:cNvGrpSpPr/>
            <p:nvPr/>
          </p:nvGrpSpPr>
          <p:grpSpPr>
            <a:xfrm>
              <a:off x="1421433" y="2575505"/>
              <a:ext cx="7416252" cy="3438236"/>
              <a:chOff x="990972" y="2323746"/>
              <a:chExt cx="7851389" cy="3639971"/>
            </a:xfrm>
          </p:grpSpPr>
          <p:grpSp>
            <p:nvGrpSpPr>
              <p:cNvPr id="14" name="그룹 13"/>
              <p:cNvGrpSpPr/>
              <p:nvPr/>
            </p:nvGrpSpPr>
            <p:grpSpPr>
              <a:xfrm>
                <a:off x="990972" y="2323746"/>
                <a:ext cx="7851389" cy="3639971"/>
                <a:chOff x="251520" y="1583504"/>
                <a:chExt cx="9043286" cy="4692213"/>
              </a:xfrm>
            </p:grpSpPr>
            <p:sp>
              <p:nvSpPr>
                <p:cNvPr id="16" name="직사각형 15"/>
                <p:cNvSpPr/>
                <p:nvPr/>
              </p:nvSpPr>
              <p:spPr>
                <a:xfrm>
                  <a:off x="2839993" y="3102304"/>
                  <a:ext cx="1573562" cy="2727670"/>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endParaRPr lang="ko-KR" altLang="en-US" sz="1400" dirty="0"/>
                </a:p>
              </p:txBody>
            </p:sp>
            <p:sp>
              <p:nvSpPr>
                <p:cNvPr id="18" name="직사각형 17"/>
                <p:cNvSpPr/>
                <p:nvPr/>
              </p:nvSpPr>
              <p:spPr>
                <a:xfrm>
                  <a:off x="2828709" y="2175080"/>
                  <a:ext cx="1573563" cy="799192"/>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endParaRPr lang="ko-KR" altLang="en-US" sz="1400" dirty="0"/>
                </a:p>
              </p:txBody>
            </p:sp>
            <p:sp>
              <p:nvSpPr>
                <p:cNvPr id="20" name="모서리가 둥근 직사각형 19"/>
                <p:cNvSpPr/>
                <p:nvPr/>
              </p:nvSpPr>
              <p:spPr>
                <a:xfrm>
                  <a:off x="503548" y="2348880"/>
                  <a:ext cx="1224136" cy="43204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rPr>
                    <a:t>Internet</a:t>
                  </a:r>
                  <a:endParaRPr lang="ko-KR" altLang="en-US" sz="1400" dirty="0">
                    <a:latin typeface="SamsungOne 400" panose="020B0503030303020204" pitchFamily="34" charset="0"/>
                  </a:endParaRPr>
                </a:p>
              </p:txBody>
            </p:sp>
            <p:sp>
              <p:nvSpPr>
                <p:cNvPr id="21" name="모서리가 둥근 직사각형 20"/>
                <p:cNvSpPr/>
                <p:nvPr/>
              </p:nvSpPr>
              <p:spPr>
                <a:xfrm>
                  <a:off x="503548" y="3573016"/>
                  <a:ext cx="1224136" cy="432048"/>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rPr>
                    <a:t>File</a:t>
                  </a:r>
                  <a:endParaRPr lang="ko-KR" altLang="en-US" sz="1400" dirty="0">
                    <a:latin typeface="SamsungOne 400" panose="020B0503030303020204" pitchFamily="34" charset="0"/>
                  </a:endParaRPr>
                </a:p>
              </p:txBody>
            </p:sp>
            <p:sp>
              <p:nvSpPr>
                <p:cNvPr id="22" name="모서리가 둥근 직사각형 21"/>
                <p:cNvSpPr/>
                <p:nvPr/>
              </p:nvSpPr>
              <p:spPr>
                <a:xfrm>
                  <a:off x="251520" y="4941168"/>
                  <a:ext cx="1728192" cy="432048"/>
                </a:xfrm>
                <a:prstGeom prst="roundRect">
                  <a:avLst/>
                </a:prstGeom>
                <a:ln>
                  <a:solidFill>
                    <a:srgbClr val="FFB546"/>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rPr>
                    <a:t>Database</a:t>
                  </a:r>
                  <a:endParaRPr lang="ko-KR" altLang="en-US" sz="1200" dirty="0">
                    <a:latin typeface="SamsungOne 400" panose="020B0503030303020204" pitchFamily="34" charset="0"/>
                  </a:endParaRPr>
                </a:p>
              </p:txBody>
            </p:sp>
            <p:sp>
              <p:nvSpPr>
                <p:cNvPr id="23" name="TextBox 6"/>
                <p:cNvSpPr txBox="1"/>
                <p:nvPr/>
              </p:nvSpPr>
              <p:spPr>
                <a:xfrm>
                  <a:off x="629562" y="1583504"/>
                  <a:ext cx="972108" cy="420028"/>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dirty="0">
                      <a:latin typeface="SamsungOne 700" panose="020B0803030303020204" pitchFamily="34" charset="0"/>
                    </a:rPr>
                    <a:t>Source</a:t>
                  </a:r>
                  <a:endParaRPr lang="ko-KR" altLang="en-US" sz="1400" dirty="0">
                    <a:latin typeface="SamsungOne 700" panose="020B0803030303020204" pitchFamily="34" charset="0"/>
                  </a:endParaRPr>
                </a:p>
              </p:txBody>
            </p:sp>
            <p:sp>
              <p:nvSpPr>
                <p:cNvPr id="24" name="모서리가 둥근 직사각형 23"/>
                <p:cNvSpPr/>
                <p:nvPr/>
              </p:nvSpPr>
              <p:spPr>
                <a:xfrm>
                  <a:off x="2951820" y="2348880"/>
                  <a:ext cx="1296144" cy="43204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ea typeface="SamsungOne 400" panose="020B0503030303020204" pitchFamily="34" charset="0"/>
                    </a:rPr>
                    <a:t>plain text</a:t>
                  </a:r>
                  <a:endParaRPr lang="ko-KR" altLang="en-US" sz="1400" dirty="0">
                    <a:latin typeface="SamsungOne 400" panose="020B0503030303020204" pitchFamily="34" charset="0"/>
                  </a:endParaRPr>
                </a:p>
              </p:txBody>
            </p:sp>
            <p:sp>
              <p:nvSpPr>
                <p:cNvPr id="25" name="모서리가 둥근 직사각형 24"/>
                <p:cNvSpPr/>
                <p:nvPr/>
              </p:nvSpPr>
              <p:spPr>
                <a:xfrm>
                  <a:off x="2940739" y="3249372"/>
                  <a:ext cx="1296144" cy="43204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ea typeface="SamsungOne 400" panose="020B0503030303020204" pitchFamily="34" charset="0"/>
                    </a:rPr>
                    <a:t>CSV</a:t>
                  </a:r>
                  <a:endParaRPr lang="ko-KR" altLang="en-US" sz="1400" dirty="0">
                    <a:latin typeface="SamsungOne 400" panose="020B0503030303020204" pitchFamily="34" charset="0"/>
                  </a:endParaRPr>
                </a:p>
              </p:txBody>
            </p:sp>
            <p:sp>
              <p:nvSpPr>
                <p:cNvPr id="26" name="모서리가 둥근 직사각형 25"/>
                <p:cNvSpPr/>
                <p:nvPr/>
              </p:nvSpPr>
              <p:spPr>
                <a:xfrm>
                  <a:off x="2951820" y="3857802"/>
                  <a:ext cx="1296144" cy="43204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ea typeface="SamsungOne 400" panose="020B0503030303020204" pitchFamily="34" charset="0"/>
                    </a:rPr>
                    <a:t>HTML/XML</a:t>
                  </a:r>
                  <a:endParaRPr lang="ko-KR" altLang="en-US" sz="1200" dirty="0">
                    <a:latin typeface="SamsungOne 400" panose="020B0503030303020204" pitchFamily="34" charset="0"/>
                  </a:endParaRPr>
                </a:p>
              </p:txBody>
            </p:sp>
            <p:sp>
              <p:nvSpPr>
                <p:cNvPr id="27" name="모서리가 둥근 직사각형 26"/>
                <p:cNvSpPr/>
                <p:nvPr/>
              </p:nvSpPr>
              <p:spPr>
                <a:xfrm>
                  <a:off x="2951820" y="4524819"/>
                  <a:ext cx="1296144" cy="43204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ea typeface="SamsungOne 400" panose="020B0503030303020204" pitchFamily="34" charset="0"/>
                    </a:rPr>
                    <a:t>JSON</a:t>
                  </a:r>
                  <a:endParaRPr lang="ko-KR" altLang="en-US" sz="1400" dirty="0">
                    <a:latin typeface="SamsungOne 400" panose="020B0503030303020204" pitchFamily="34" charset="0"/>
                  </a:endParaRPr>
                </a:p>
              </p:txBody>
            </p:sp>
            <p:sp>
              <p:nvSpPr>
                <p:cNvPr id="28" name="모서리가 둥근 직사각형 27"/>
                <p:cNvSpPr/>
                <p:nvPr/>
              </p:nvSpPr>
              <p:spPr>
                <a:xfrm>
                  <a:off x="2951820" y="5191836"/>
                  <a:ext cx="1296144" cy="43204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lIns="0" rIns="0"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400" dirty="0">
                      <a:latin typeface="SamsungOne 400" panose="020B0503030303020204" pitchFamily="34" charset="0"/>
                      <a:ea typeface="SamsungOne 400" panose="020B0503030303020204" pitchFamily="34" charset="0"/>
                    </a:rPr>
                    <a:t>Table form</a:t>
                  </a:r>
                  <a:endParaRPr lang="ko-KR" altLang="en-US" sz="1400" dirty="0">
                    <a:latin typeface="SamsungOne 400" panose="020B0503030303020204" pitchFamily="34" charset="0"/>
                  </a:endParaRPr>
                </a:p>
              </p:txBody>
            </p:sp>
            <p:sp>
              <p:nvSpPr>
                <p:cNvPr id="29" name="모서리가 둥근 직사각형 28"/>
                <p:cNvSpPr/>
                <p:nvPr/>
              </p:nvSpPr>
              <p:spPr>
                <a:xfrm>
                  <a:off x="5256076" y="2284721"/>
                  <a:ext cx="1872208" cy="432048"/>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rPr>
                    <a:t>List, Tuple, Set</a:t>
                  </a:r>
                  <a:endParaRPr lang="ko-KR" altLang="en-US" sz="1200" dirty="0">
                    <a:latin typeface="SamsungOne 400" panose="020B0503030303020204" pitchFamily="34" charset="0"/>
                  </a:endParaRPr>
                </a:p>
              </p:txBody>
            </p:sp>
            <p:sp>
              <p:nvSpPr>
                <p:cNvPr id="30" name="모서리가 둥근 직사각형 29"/>
                <p:cNvSpPr/>
                <p:nvPr/>
              </p:nvSpPr>
              <p:spPr>
                <a:xfrm>
                  <a:off x="5256076" y="3190785"/>
                  <a:ext cx="1872208" cy="432048"/>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rPr>
                    <a:t>Array, Matrix</a:t>
                  </a:r>
                  <a:endParaRPr lang="ko-KR" altLang="en-US" sz="1200" dirty="0">
                    <a:latin typeface="SamsungOne 400" panose="020B0503030303020204" pitchFamily="34" charset="0"/>
                  </a:endParaRPr>
                </a:p>
              </p:txBody>
            </p:sp>
            <p:sp>
              <p:nvSpPr>
                <p:cNvPr id="31" name="모서리가 둥근 직사각형 30"/>
                <p:cNvSpPr/>
                <p:nvPr/>
              </p:nvSpPr>
              <p:spPr>
                <a:xfrm>
                  <a:off x="5256076" y="4047700"/>
                  <a:ext cx="1872208" cy="432048"/>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rPr>
                    <a:t>Frame, Series</a:t>
                  </a:r>
                  <a:endParaRPr lang="ko-KR" altLang="en-US" sz="1200" dirty="0">
                    <a:latin typeface="SamsungOne 400" panose="020B0503030303020204" pitchFamily="34" charset="0"/>
                  </a:endParaRPr>
                </a:p>
              </p:txBody>
            </p:sp>
            <p:sp>
              <p:nvSpPr>
                <p:cNvPr id="35" name="모서리가 둥근 직사각형 34"/>
                <p:cNvSpPr/>
                <p:nvPr/>
              </p:nvSpPr>
              <p:spPr>
                <a:xfrm>
                  <a:off x="5256076" y="4904614"/>
                  <a:ext cx="1872209" cy="432048"/>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defPPr>
                    <a:defRPr lang="ko-KR"/>
                  </a:defPPr>
                  <a:lvl1pPr marL="0" algn="l" defTabSz="914400" rtl="0" eaLnBrk="1" latinLnBrk="1" hangingPunct="1">
                    <a:defRPr sz="1800" kern="1200">
                      <a:solidFill>
                        <a:schemeClr val="dk1"/>
                      </a:solidFill>
                      <a:latin typeface="+mn-lt"/>
                      <a:ea typeface="+mn-ea"/>
                      <a:cs typeface="+mn-cs"/>
                    </a:defRPr>
                  </a:lvl1pPr>
                  <a:lvl2pPr marL="457200" algn="l" defTabSz="914400" rtl="0" eaLnBrk="1" latinLnBrk="1" hangingPunct="1">
                    <a:defRPr sz="1800" kern="1200">
                      <a:solidFill>
                        <a:schemeClr val="dk1"/>
                      </a:solidFill>
                      <a:latin typeface="+mn-lt"/>
                      <a:ea typeface="+mn-ea"/>
                      <a:cs typeface="+mn-cs"/>
                    </a:defRPr>
                  </a:lvl2pPr>
                  <a:lvl3pPr marL="914400" algn="l" defTabSz="914400" rtl="0" eaLnBrk="1" latinLnBrk="1" hangingPunct="1">
                    <a:defRPr sz="1800" kern="1200">
                      <a:solidFill>
                        <a:schemeClr val="dk1"/>
                      </a:solidFill>
                      <a:latin typeface="+mn-lt"/>
                      <a:ea typeface="+mn-ea"/>
                      <a:cs typeface="+mn-cs"/>
                    </a:defRPr>
                  </a:lvl3pPr>
                  <a:lvl4pPr marL="1371600" algn="l" defTabSz="914400" rtl="0" eaLnBrk="1" latinLnBrk="1" hangingPunct="1">
                    <a:defRPr sz="1800" kern="1200">
                      <a:solidFill>
                        <a:schemeClr val="dk1"/>
                      </a:solidFill>
                      <a:latin typeface="+mn-lt"/>
                      <a:ea typeface="+mn-ea"/>
                      <a:cs typeface="+mn-cs"/>
                    </a:defRPr>
                  </a:lvl4pPr>
                  <a:lvl5pPr marL="1828800" algn="l" defTabSz="914400" rtl="0" eaLnBrk="1" latinLnBrk="1" hangingPunct="1">
                    <a:defRPr sz="1800" kern="1200">
                      <a:solidFill>
                        <a:schemeClr val="dk1"/>
                      </a:solidFill>
                      <a:latin typeface="+mn-lt"/>
                      <a:ea typeface="+mn-ea"/>
                      <a:cs typeface="+mn-cs"/>
                    </a:defRPr>
                  </a:lvl5pPr>
                  <a:lvl6pPr marL="2286000" algn="l" defTabSz="914400" rtl="0" eaLnBrk="1" latinLnBrk="1" hangingPunct="1">
                    <a:defRPr sz="1800" kern="1200">
                      <a:solidFill>
                        <a:schemeClr val="dk1"/>
                      </a:solidFill>
                      <a:latin typeface="+mn-lt"/>
                      <a:ea typeface="+mn-ea"/>
                      <a:cs typeface="+mn-cs"/>
                    </a:defRPr>
                  </a:lvl6pPr>
                  <a:lvl7pPr marL="2743200" algn="l" defTabSz="914400" rtl="0" eaLnBrk="1" latinLnBrk="1" hangingPunct="1">
                    <a:defRPr sz="1800" kern="1200">
                      <a:solidFill>
                        <a:schemeClr val="dk1"/>
                      </a:solidFill>
                      <a:latin typeface="+mn-lt"/>
                      <a:ea typeface="+mn-ea"/>
                      <a:cs typeface="+mn-cs"/>
                    </a:defRPr>
                  </a:lvl7pPr>
                  <a:lvl8pPr marL="3200400" algn="l" defTabSz="914400" rtl="0" eaLnBrk="1" latinLnBrk="1" hangingPunct="1">
                    <a:defRPr sz="1800" kern="1200">
                      <a:solidFill>
                        <a:schemeClr val="dk1"/>
                      </a:solidFill>
                      <a:latin typeface="+mn-lt"/>
                      <a:ea typeface="+mn-ea"/>
                      <a:cs typeface="+mn-cs"/>
                    </a:defRPr>
                  </a:lvl8pPr>
                  <a:lvl9pPr marL="3657600" algn="l" defTabSz="914400" rtl="0" eaLnBrk="1" latinLnBrk="1" hangingPunct="1">
                    <a:defRPr sz="1800" kern="1200">
                      <a:solidFill>
                        <a:schemeClr val="dk1"/>
                      </a:solidFill>
                      <a:latin typeface="+mn-lt"/>
                      <a:ea typeface="+mn-ea"/>
                      <a:cs typeface="+mn-cs"/>
                    </a:defRPr>
                  </a:lvl9pPr>
                </a:lstStyle>
                <a:p>
                  <a:pPr algn="ctr"/>
                  <a:r>
                    <a:rPr lang="en-US" altLang="ko-KR" sz="1200" dirty="0">
                      <a:latin typeface="SamsungOne 400" panose="020B0503030303020204" pitchFamily="34" charset="0"/>
                    </a:rPr>
                    <a:t>Dictionary</a:t>
                  </a:r>
                  <a:endParaRPr lang="ko-KR" altLang="en-US" sz="1200" dirty="0">
                    <a:latin typeface="SamsungOne 400" panose="020B0503030303020204" pitchFamily="34" charset="0"/>
                  </a:endParaRPr>
                </a:p>
              </p:txBody>
            </p:sp>
            <p:sp>
              <p:nvSpPr>
                <p:cNvPr id="36" name="TextBox 16"/>
                <p:cNvSpPr txBox="1"/>
                <p:nvPr/>
              </p:nvSpPr>
              <p:spPr>
                <a:xfrm>
                  <a:off x="3113839" y="1583504"/>
                  <a:ext cx="1123044" cy="588038"/>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dirty="0">
                      <a:latin typeface="SamsungOne 700" panose="020B0803030303020204" pitchFamily="34" charset="0"/>
                    </a:rPr>
                    <a:t>Format</a:t>
                  </a:r>
                  <a:endParaRPr lang="en-US" altLang="ko-KR" sz="1400" dirty="0">
                    <a:latin typeface="SamsungOne 700" panose="020B0803030303020204" pitchFamily="34" charset="0"/>
                    <a:ea typeface="SamsungOne 700" panose="020B0803030303020204" pitchFamily="34" charset="0"/>
                  </a:endParaRPr>
                </a:p>
                <a:p>
                  <a:pPr algn="ctr"/>
                  <a:r>
                    <a:rPr lang="en-US" altLang="ko-KR" sz="800" dirty="0">
                      <a:latin typeface="SamsungOne 700" panose="020B0803030303020204" pitchFamily="34" charset="0"/>
                      <a:ea typeface="SamsungOne 700" panose="020B0803030303020204" pitchFamily="34" charset="0"/>
                    </a:rPr>
                    <a:t>(Unstructured)</a:t>
                  </a:r>
                  <a:endParaRPr lang="ko-KR" altLang="en-US" sz="800" dirty="0">
                    <a:latin typeface="SamsungOne 700" panose="020B0803030303020204" pitchFamily="34" charset="0"/>
                  </a:endParaRPr>
                </a:p>
              </p:txBody>
            </p:sp>
            <p:sp>
              <p:nvSpPr>
                <p:cNvPr id="37" name="TextBox 17"/>
                <p:cNvSpPr txBox="1"/>
                <p:nvPr/>
              </p:nvSpPr>
              <p:spPr>
                <a:xfrm>
                  <a:off x="5598113" y="1583504"/>
                  <a:ext cx="972108" cy="420028"/>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dirty="0">
                      <a:latin typeface="SamsungOne 700" panose="020B0803030303020204" pitchFamily="34" charset="0"/>
                    </a:rPr>
                    <a:t>Form</a:t>
                  </a:r>
                  <a:endParaRPr lang="ko-KR" altLang="en-US" sz="1400" dirty="0">
                    <a:latin typeface="SamsungOne 700" panose="020B0803030303020204" pitchFamily="34" charset="0"/>
                  </a:endParaRPr>
                </a:p>
              </p:txBody>
            </p:sp>
            <p:sp>
              <p:nvSpPr>
                <p:cNvPr id="38" name="TextBox 18"/>
                <p:cNvSpPr txBox="1"/>
                <p:nvPr/>
              </p:nvSpPr>
              <p:spPr>
                <a:xfrm>
                  <a:off x="7884367" y="1583504"/>
                  <a:ext cx="1410439" cy="420028"/>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dirty="0">
                      <a:latin typeface="SamsungOne 700" panose="020B0803030303020204" pitchFamily="34" charset="0"/>
                    </a:rPr>
                    <a:t>Processing</a:t>
                  </a:r>
                  <a:endParaRPr lang="ko-KR" altLang="en-US" sz="1400" dirty="0">
                    <a:latin typeface="SamsungOne 700" panose="020B0803030303020204" pitchFamily="34" charset="0"/>
                  </a:endParaRPr>
                </a:p>
              </p:txBody>
            </p:sp>
            <p:cxnSp>
              <p:nvCxnSpPr>
                <p:cNvPr id="39" name="직선 화살표 연결선 38"/>
                <p:cNvCxnSpPr>
                  <a:endCxn id="24" idx="1"/>
                </p:cNvCxnSpPr>
                <p:nvPr/>
              </p:nvCxnSpPr>
              <p:spPr>
                <a:xfrm>
                  <a:off x="1811071" y="2492895"/>
                  <a:ext cx="1140749" cy="7200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p:cNvCxnSpPr/>
                <p:nvPr/>
              </p:nvCxnSpPr>
              <p:spPr>
                <a:xfrm>
                  <a:off x="1849239" y="2678856"/>
                  <a:ext cx="1091499" cy="78654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p:cNvCxnSpPr/>
                <p:nvPr/>
              </p:nvCxnSpPr>
              <p:spPr>
                <a:xfrm>
                  <a:off x="1835696" y="2702956"/>
                  <a:ext cx="1116124" cy="137087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p:cNvCxnSpPr>
                  <a:endCxn id="27" idx="1"/>
                </p:cNvCxnSpPr>
                <p:nvPr/>
              </p:nvCxnSpPr>
              <p:spPr>
                <a:xfrm>
                  <a:off x="1811071" y="2702956"/>
                  <a:ext cx="1140749" cy="20378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p:cNvCxnSpPr/>
                <p:nvPr/>
              </p:nvCxnSpPr>
              <p:spPr>
                <a:xfrm flipV="1">
                  <a:off x="1763688" y="2564904"/>
                  <a:ext cx="1188132" cy="1255921"/>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직선 화살표 연결선 43"/>
                <p:cNvCxnSpPr>
                  <a:stCxn id="21" idx="3"/>
                </p:cNvCxnSpPr>
                <p:nvPr/>
              </p:nvCxnSpPr>
              <p:spPr>
                <a:xfrm flipV="1">
                  <a:off x="1727684" y="3465396"/>
                  <a:ext cx="1213055" cy="323644"/>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직선 화살표 연결선 44"/>
                <p:cNvCxnSpPr>
                  <a:stCxn id="21" idx="3"/>
                </p:cNvCxnSpPr>
                <p:nvPr/>
              </p:nvCxnSpPr>
              <p:spPr>
                <a:xfrm>
                  <a:off x="1727684" y="3789040"/>
                  <a:ext cx="1224136" cy="284786"/>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직선 화살표 연결선 45"/>
                <p:cNvCxnSpPr>
                  <a:stCxn id="21" idx="3"/>
                  <a:endCxn id="27" idx="1"/>
                </p:cNvCxnSpPr>
                <p:nvPr/>
              </p:nvCxnSpPr>
              <p:spPr>
                <a:xfrm>
                  <a:off x="1727684" y="3789040"/>
                  <a:ext cx="1224136" cy="951804"/>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p:cNvCxnSpPr>
                  <a:endCxn id="28" idx="1"/>
                </p:cNvCxnSpPr>
                <p:nvPr/>
              </p:nvCxnSpPr>
              <p:spPr>
                <a:xfrm>
                  <a:off x="2046030" y="5168044"/>
                  <a:ext cx="905790" cy="239817"/>
                </a:xfrm>
                <a:prstGeom prst="straightConnector1">
                  <a:avLst/>
                </a:prstGeom>
                <a:ln>
                  <a:solidFill>
                    <a:srgbClr val="FFB54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직선 화살표 연결선 47"/>
                <p:cNvCxnSpPr/>
                <p:nvPr/>
              </p:nvCxnSpPr>
              <p:spPr>
                <a:xfrm flipV="1">
                  <a:off x="2046030" y="4740843"/>
                  <a:ext cx="905790" cy="377363"/>
                </a:xfrm>
                <a:prstGeom prst="straightConnector1">
                  <a:avLst/>
                </a:prstGeom>
                <a:ln>
                  <a:solidFill>
                    <a:srgbClr val="FFB54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p:cNvCxnSpPr>
                  <a:stCxn id="24" idx="3"/>
                  <a:endCxn id="29" idx="1"/>
                </p:cNvCxnSpPr>
                <p:nvPr/>
              </p:nvCxnSpPr>
              <p:spPr>
                <a:xfrm flipV="1">
                  <a:off x="4247965" y="2500745"/>
                  <a:ext cx="1008112" cy="641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직선 화살표 연결선 49"/>
                <p:cNvCxnSpPr>
                  <a:endCxn id="30" idx="1"/>
                </p:cNvCxnSpPr>
                <p:nvPr/>
              </p:nvCxnSpPr>
              <p:spPr>
                <a:xfrm flipV="1">
                  <a:off x="4236882" y="3406810"/>
                  <a:ext cx="1019195" cy="5858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직선 화살표 연결선 50"/>
                <p:cNvCxnSpPr>
                  <a:endCxn id="30" idx="1"/>
                </p:cNvCxnSpPr>
                <p:nvPr/>
              </p:nvCxnSpPr>
              <p:spPr>
                <a:xfrm flipV="1">
                  <a:off x="4247965" y="3406810"/>
                  <a:ext cx="1008112" cy="13340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직선 화살표 연결선 51"/>
                <p:cNvCxnSpPr>
                  <a:endCxn id="31" idx="1"/>
                </p:cNvCxnSpPr>
                <p:nvPr/>
              </p:nvCxnSpPr>
              <p:spPr>
                <a:xfrm>
                  <a:off x="4236882" y="3465395"/>
                  <a:ext cx="1019195" cy="79833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p:cNvCxnSpPr>
                  <a:endCxn id="35" idx="1"/>
                </p:cNvCxnSpPr>
                <p:nvPr/>
              </p:nvCxnSpPr>
              <p:spPr>
                <a:xfrm>
                  <a:off x="4259045" y="4066333"/>
                  <a:ext cx="997031" cy="105430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직선 화살표 연결선 53"/>
                <p:cNvCxnSpPr/>
                <p:nvPr/>
              </p:nvCxnSpPr>
              <p:spPr>
                <a:xfrm>
                  <a:off x="4247964" y="4740843"/>
                  <a:ext cx="1008112" cy="37979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직선 화살표 연결선 54"/>
                <p:cNvCxnSpPr/>
                <p:nvPr/>
              </p:nvCxnSpPr>
              <p:spPr>
                <a:xfrm flipV="1">
                  <a:off x="4247964" y="3406809"/>
                  <a:ext cx="1008112" cy="200105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직선 화살표 연결선 55"/>
                <p:cNvCxnSpPr>
                  <a:stCxn id="28" idx="3"/>
                </p:cNvCxnSpPr>
                <p:nvPr/>
              </p:nvCxnSpPr>
              <p:spPr>
                <a:xfrm flipV="1">
                  <a:off x="4247965" y="4263725"/>
                  <a:ext cx="1008111" cy="11441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p:cNvCxnSpPr/>
                <p:nvPr/>
              </p:nvCxnSpPr>
              <p:spPr>
                <a:xfrm>
                  <a:off x="7132100" y="3447362"/>
                  <a:ext cx="1436681" cy="137484"/>
                </a:xfrm>
                <a:prstGeom prst="straightConnector1">
                  <a:avLst/>
                </a:prstGeom>
                <a:ln>
                  <a:solidFill>
                    <a:srgbClr val="FF141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p:cNvCxnSpPr>
                  <a:endCxn id="15" idx="1"/>
                </p:cNvCxnSpPr>
                <p:nvPr/>
              </p:nvCxnSpPr>
              <p:spPr>
                <a:xfrm>
                  <a:off x="7212047" y="2425248"/>
                  <a:ext cx="1356733" cy="1154082"/>
                </a:xfrm>
                <a:prstGeom prst="straightConnector1">
                  <a:avLst/>
                </a:prstGeom>
                <a:ln>
                  <a:solidFill>
                    <a:srgbClr val="FF141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p:cNvCxnSpPr>
                  <a:endCxn id="15" idx="1"/>
                </p:cNvCxnSpPr>
                <p:nvPr/>
              </p:nvCxnSpPr>
              <p:spPr>
                <a:xfrm flipV="1">
                  <a:off x="7128284" y="3579330"/>
                  <a:ext cx="1440497" cy="684394"/>
                </a:xfrm>
                <a:prstGeom prst="straightConnector1">
                  <a:avLst/>
                </a:prstGeom>
                <a:ln>
                  <a:solidFill>
                    <a:srgbClr val="FF141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p:cNvCxnSpPr>
                  <a:endCxn id="15" idx="1"/>
                </p:cNvCxnSpPr>
                <p:nvPr/>
              </p:nvCxnSpPr>
              <p:spPr>
                <a:xfrm flipV="1">
                  <a:off x="7219567" y="3579330"/>
                  <a:ext cx="1349214" cy="1453352"/>
                </a:xfrm>
                <a:prstGeom prst="straightConnector1">
                  <a:avLst/>
                </a:prstGeom>
                <a:ln>
                  <a:solidFill>
                    <a:srgbClr val="FF141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TextBox 91"/>
                <p:cNvSpPr txBox="1"/>
                <p:nvPr/>
              </p:nvSpPr>
              <p:spPr>
                <a:xfrm>
                  <a:off x="2919368" y="5897692"/>
                  <a:ext cx="1283381" cy="378025"/>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200" dirty="0">
                      <a:latin typeface="SamsungOne 400" panose="020B0503030303020204" pitchFamily="34" charset="0"/>
                    </a:rPr>
                    <a:t>Structured</a:t>
                  </a:r>
                  <a:endParaRPr lang="ko-KR" altLang="en-US" sz="1200" dirty="0">
                    <a:latin typeface="SamsungOne 400" panose="020B0503030303020204" pitchFamily="34" charset="0"/>
                  </a:endParaRPr>
                </a:p>
              </p:txBody>
            </p:sp>
          </p:grpSp>
          <p:sp>
            <p:nvSpPr>
              <p:cNvPr id="15" name="갈매기형 수장 14"/>
              <p:cNvSpPr/>
              <p:nvPr/>
            </p:nvSpPr>
            <p:spPr>
              <a:xfrm>
                <a:off x="8104013" y="3655978"/>
                <a:ext cx="216024" cy="43204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grpSp>
      </p:grpSp>
      <p:grpSp>
        <p:nvGrpSpPr>
          <p:cNvPr id="62" name="그룹 6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63" name="직사각형 6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2.1. Pipelines: Data Structures According to Data Types</a:t>
              </a:r>
              <a:endParaRPr lang="ko-KR" altLang="en-US" dirty="0">
                <a:solidFill>
                  <a:prstClr val="white"/>
                </a:solidFill>
                <a:latin typeface="SamsungSharpSans-Medium" pitchFamily="2" charset="0"/>
                <a:cs typeface="SamsungSharpSans-Medium" pitchFamily="2" charset="0"/>
              </a:endParaRPr>
            </a:p>
          </p:txBody>
        </p:sp>
        <p:sp>
          <p:nvSpPr>
            <p:cNvPr id="64" name="직사각형 63">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65" name="그룹 64">
            <a:extLst>
              <a:ext uri="{FF2B5EF4-FFF2-40B4-BE49-F238E27FC236}">
                <a16:creationId xmlns:a16="http://schemas.microsoft.com/office/drawing/2014/main" id="{6FD9239D-A7F9-4BA2-BB84-0D3E6A1C26F3}"/>
              </a:ext>
            </a:extLst>
          </p:cNvPr>
          <p:cNvGrpSpPr/>
          <p:nvPr/>
        </p:nvGrpSpPr>
        <p:grpSpPr>
          <a:xfrm>
            <a:off x="580388" y="1413381"/>
            <a:ext cx="8887612" cy="1000067"/>
            <a:chOff x="580388" y="1413381"/>
            <a:chExt cx="8887612" cy="1000067"/>
          </a:xfrm>
        </p:grpSpPr>
        <p:sp>
          <p:nvSpPr>
            <p:cNvPr id="66" name="직사각형 65">
              <a:extLst>
                <a:ext uri="{FF2B5EF4-FFF2-40B4-BE49-F238E27FC236}">
                  <a16:creationId xmlns:a16="http://schemas.microsoft.com/office/drawing/2014/main" id="{85C3F5A2-1773-41A7-81E2-532A7FDBD32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Python Data Structure Pipeline</a:t>
              </a:r>
              <a:endParaRPr lang="ko-KR" altLang="en-US" sz="1400" dirty="0">
                <a:solidFill>
                  <a:schemeClr val="tx1"/>
                </a:solidFill>
                <a:latin typeface="SamsungOne 400" panose="020B0503030303020204" pitchFamily="34" charset="0"/>
              </a:endParaRPr>
            </a:p>
          </p:txBody>
        </p:sp>
        <p:sp>
          <p:nvSpPr>
            <p:cNvPr id="67" name="Rectangle 12">
              <a:extLst>
                <a:ext uri="{FF2B5EF4-FFF2-40B4-BE49-F238E27FC236}">
                  <a16:creationId xmlns:a16="http://schemas.microsoft.com/office/drawing/2014/main" id="{080F389D-E6D7-476F-AA83-BA2170017332}"/>
                </a:ext>
              </a:extLst>
            </p:cNvPr>
            <p:cNvSpPr/>
            <p:nvPr/>
          </p:nvSpPr>
          <p:spPr>
            <a:xfrm>
              <a:off x="711201" y="1667877"/>
              <a:ext cx="8632824"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Data collected from various sources have various forms and properties, as shown in the figure below. Thus, for analysis, it is necessary to integrate various data types in the same format so that computers can understand them. </a:t>
              </a:r>
            </a:p>
          </p:txBody>
        </p:sp>
      </p:grpSp>
    </p:spTree>
    <p:extLst>
      <p:ext uri="{BB962C8B-B14F-4D97-AF65-F5344CB8AC3E}">
        <p14:creationId xmlns:p14="http://schemas.microsoft.com/office/powerpoint/2010/main" val="29892054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C2AA5626-1534-41DA-BA4E-67D4571B34A9}"/>
              </a:ext>
            </a:extLst>
          </p:cNvPr>
          <p:cNvGrpSpPr/>
          <p:nvPr/>
        </p:nvGrpSpPr>
        <p:grpSpPr>
          <a:xfrm>
            <a:off x="989683" y="2748696"/>
            <a:ext cx="8354217" cy="3124387"/>
            <a:chOff x="989683" y="2748696"/>
            <a:chExt cx="8354217" cy="3124387"/>
          </a:xfrm>
        </p:grpSpPr>
        <p:sp>
          <p:nvSpPr>
            <p:cNvPr id="22" name="직사각형 133">
              <a:extLst>
                <a:ext uri="{FF2B5EF4-FFF2-40B4-BE49-F238E27FC236}">
                  <a16:creationId xmlns:a16="http://schemas.microsoft.com/office/drawing/2014/main" id="{9242843F-6CE4-4D3F-84E3-07D1852FEAB8}"/>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Optimal Data Exploration Through Pandas</a:t>
              </a:r>
              <a:endParaRPr kumimoji="1" lang="ko-KR" altLang="en-US" sz="3400" b="0" i="0" u="none" strike="noStrike" kern="1200" cap="none" spc="0" normalizeH="0" baseline="0" noProof="0" dirty="0">
                <a:ln>
                  <a:noFill/>
                </a:ln>
                <a:solidFill>
                  <a:prstClr val="black"/>
                </a:solidFill>
                <a:effectLst/>
                <a:uLnTx/>
                <a:uFillTx/>
                <a:latin typeface="Samsung Sharp Sans" pitchFamily="2" charset="0"/>
                <a:ea typeface="맑은 고딕" panose="020B0503020000020004" pitchFamily="50" charset="-127"/>
                <a:cs typeface="Samsung Sharp Sans" pitchFamily="2" charset="0"/>
              </a:endParaRPr>
            </a:p>
          </p:txBody>
        </p:sp>
        <p:sp>
          <p:nvSpPr>
            <p:cNvPr id="25" name="직사각형 133">
              <a:extLst>
                <a:ext uri="{FF2B5EF4-FFF2-40B4-BE49-F238E27FC236}">
                  <a16:creationId xmlns:a16="http://schemas.microsoft.com/office/drawing/2014/main" id="{93785E26-3326-4DAA-B476-C12B794F303F}"/>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2.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1" name="그룹 30">
              <a:extLst>
                <a:ext uri="{FF2B5EF4-FFF2-40B4-BE49-F238E27FC236}">
                  <a16:creationId xmlns:a16="http://schemas.microsoft.com/office/drawing/2014/main" id="{E9D1F461-F2BB-4004-8CE5-E8AE484340E1}"/>
                </a:ext>
              </a:extLst>
            </p:cNvPr>
            <p:cNvGrpSpPr/>
            <p:nvPr/>
          </p:nvGrpSpPr>
          <p:grpSpPr>
            <a:xfrm>
              <a:off x="1025537" y="4509120"/>
              <a:ext cx="8297776" cy="1363963"/>
              <a:chOff x="1025537" y="4609703"/>
              <a:chExt cx="8297776" cy="1363963"/>
            </a:xfrm>
          </p:grpSpPr>
          <p:sp>
            <p:nvSpPr>
              <p:cNvPr id="32" name="직사각형 31">
                <a:extLst>
                  <a:ext uri="{FF2B5EF4-FFF2-40B4-BE49-F238E27FC236}">
                    <a16:creationId xmlns:a16="http://schemas.microsoft.com/office/drawing/2014/main" id="{2BCC8184-A1E3-4399-83D7-18B4753C0091}"/>
                  </a:ext>
                </a:extLst>
              </p:cNvPr>
              <p:cNvSpPr/>
              <p:nvPr/>
            </p:nvSpPr>
            <p:spPr>
              <a:xfrm>
                <a:off x="1025537" y="4609703"/>
                <a:ext cx="4185332" cy="136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2.1. Pipelines: Data Structures According to Data Types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2.2. Pandas Series and DataFrames</a:t>
                </a:r>
              </a:p>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2.3. Merging and Binding DataFrames</a:t>
                </a:r>
              </a:p>
            </p:txBody>
          </p:sp>
          <p:sp>
            <p:nvSpPr>
              <p:cNvPr id="33" name="직사각형 32">
                <a:extLst>
                  <a:ext uri="{FF2B5EF4-FFF2-40B4-BE49-F238E27FC236}">
                    <a16:creationId xmlns:a16="http://schemas.microsoft.com/office/drawing/2014/main" id="{A9BD437C-C13F-4F2B-B721-FCFA983DC83B}"/>
                  </a:ext>
                </a:extLst>
              </p:cNvPr>
              <p:cNvSpPr/>
              <p:nvPr/>
            </p:nvSpPr>
            <p:spPr>
              <a:xfrm>
                <a:off x="5137981" y="4609703"/>
                <a:ext cx="4185332" cy="12357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2.4. DataFrame Sorting and Multi-Index</a:t>
                </a:r>
              </a:p>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2.5. Examining the Characteristics of Data Through Descriptive Statistics and Data Samples</a:t>
                </a:r>
                <a:endParaRPr kumimoji="1" lang="ko-KR" altLang="en-US"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endParaRPr>
              </a:p>
            </p:txBody>
          </p:sp>
        </p:grpSp>
      </p:grpSp>
    </p:spTree>
    <p:extLst>
      <p:ext uri="{BB962C8B-B14F-4D97-AF65-F5344CB8AC3E}">
        <p14:creationId xmlns:p14="http://schemas.microsoft.com/office/powerpoint/2010/main" val="3705645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Pandas Outline</a:t>
            </a:r>
          </a:p>
        </p:txBody>
      </p:sp>
      <p:sp>
        <p:nvSpPr>
          <p:cNvPr id="14" name="직사각형 13"/>
          <p:cNvSpPr/>
          <p:nvPr/>
        </p:nvSpPr>
        <p:spPr>
          <a:xfrm>
            <a:off x="651633" y="2540527"/>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pandas library is built based on NumPy but specializes in more complex data analysis.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While NumPy processes only the same array of data types, Pandas can process different data types.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pandas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library is an optimal tool for collecting and organizing data.</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Pandas is an important tool that can handle most of the work in data science and is essential for data scientists. </a:t>
            </a:r>
          </a:p>
        </p:txBody>
      </p:sp>
      <p:grpSp>
        <p:nvGrpSpPr>
          <p:cNvPr id="9" name="그룹 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0" name="직사각형 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1" name="직사각형 1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6" name="직사각형 15">
            <a:extLst>
              <a:ext uri="{FF2B5EF4-FFF2-40B4-BE49-F238E27FC236}">
                <a16:creationId xmlns:a16="http://schemas.microsoft.com/office/drawing/2014/main" id="{B9911584-7C52-4333-A1B3-5FEE211FBD88}"/>
              </a:ext>
            </a:extLst>
          </p:cNvPr>
          <p:cNvSpPr/>
          <p:nvPr/>
        </p:nvSpPr>
        <p:spPr>
          <a:xfrm>
            <a:off x="524240" y="1870666"/>
            <a:ext cx="8887612"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 table is the most optimal form of data that a person can understand. Therefore, the ability to handle tabular data well is the basis of analysis. In Python, the table form is called a DataFrame and is implemented as a pandas library. </a:t>
            </a:r>
          </a:p>
        </p:txBody>
      </p:sp>
    </p:spTree>
    <p:extLst>
      <p:ext uri="{BB962C8B-B14F-4D97-AF65-F5344CB8AC3E}">
        <p14:creationId xmlns:p14="http://schemas.microsoft.com/office/powerpoint/2010/main" val="42477192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5" name="직사각형 1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직사각형 9">
            <a:extLst>
              <a:ext uri="{FF2B5EF4-FFF2-40B4-BE49-F238E27FC236}">
                <a16:creationId xmlns:a16="http://schemas.microsoft.com/office/drawing/2014/main" id="{6A013444-2A0B-4C4F-94C5-C314B91A536D}"/>
              </a:ext>
            </a:extLst>
          </p:cNvPr>
          <p:cNvSpPr/>
          <p:nvPr/>
        </p:nvSpPr>
        <p:spPr>
          <a:xfrm>
            <a:off x="651633" y="2109365"/>
            <a:ext cx="8632825" cy="165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Statistics-based effective representation and data collection summary</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 alignment and manipulation to merge and weave various types of data</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Processing data such as collection, transformation, and function application can be applied to the entire data bundle.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Since NumPy is a general arithmetic data processing-based library, pandas must be used to process tabular data for statistics or analysis. Pandas also provides time series processing capabilities that NumPy lacks.</a:t>
            </a:r>
          </a:p>
        </p:txBody>
      </p:sp>
      <p:sp>
        <p:nvSpPr>
          <p:cNvPr id="11" name="직사각형 10">
            <a:extLst>
              <a:ext uri="{FF2B5EF4-FFF2-40B4-BE49-F238E27FC236}">
                <a16:creationId xmlns:a16="http://schemas.microsoft.com/office/drawing/2014/main" id="{B0445DF1-7EAB-47AD-AA97-03AB43E4E3FE}"/>
              </a:ext>
            </a:extLst>
          </p:cNvPr>
          <p:cNvSpPr/>
          <p:nvPr/>
        </p:nvSpPr>
        <p:spPr>
          <a:xfrm>
            <a:off x="524240" y="1879997"/>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Essential Library for Data Analysis</a:t>
            </a:r>
          </a:p>
        </p:txBody>
      </p:sp>
      <p:sp>
        <p:nvSpPr>
          <p:cNvPr id="14" name="직사각형 13">
            <a:extLst>
              <a:ext uri="{FF2B5EF4-FFF2-40B4-BE49-F238E27FC236}">
                <a16:creationId xmlns:a16="http://schemas.microsoft.com/office/drawing/2014/main" id="{26250DD2-810F-4A7F-A5B1-8B5532E8F61D}"/>
              </a:ext>
            </a:extLst>
          </p:cNvPr>
          <p:cNvSpPr/>
          <p:nvPr/>
        </p:nvSpPr>
        <p:spPr>
          <a:xfrm>
            <a:off x="444580" y="1370195"/>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Pandas for Data Analysis</a:t>
            </a:r>
          </a:p>
        </p:txBody>
      </p:sp>
    </p:spTree>
    <p:extLst>
      <p:ext uri="{BB962C8B-B14F-4D97-AF65-F5344CB8AC3E}">
        <p14:creationId xmlns:p14="http://schemas.microsoft.com/office/powerpoint/2010/main" val="186342002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11201" y="1672815"/>
            <a:ext cx="8632824" cy="4479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learn about pandas, it is important to familiarize oneself with Series and DataFrame data structures.</a:t>
            </a: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basic data structures of pandas include Series (1D) and DataFrame (2D). DataFrame is a container for Series, and Series is a container for scalar (0D). They can add or delete data in a dictionary manner.</a:t>
            </a:r>
          </a:p>
        </p:txBody>
      </p:sp>
      <p:grpSp>
        <p:nvGrpSpPr>
          <p:cNvPr id="65" name="그룹 64">
            <a:extLst>
              <a:ext uri="{FF2B5EF4-FFF2-40B4-BE49-F238E27FC236}">
                <a16:creationId xmlns:a16="http://schemas.microsoft.com/office/drawing/2014/main" id="{FEA084D8-6DDD-46B3-BC94-DCFEA84083F9}"/>
              </a:ext>
            </a:extLst>
          </p:cNvPr>
          <p:cNvGrpSpPr/>
          <p:nvPr/>
        </p:nvGrpSpPr>
        <p:grpSpPr>
          <a:xfrm>
            <a:off x="2261887" y="2070179"/>
            <a:ext cx="5328592" cy="292388"/>
            <a:chOff x="2261887" y="2656373"/>
            <a:chExt cx="5328592" cy="292388"/>
          </a:xfrm>
        </p:grpSpPr>
        <p:sp>
          <p:nvSpPr>
            <p:cNvPr id="66" name="TextBox 65"/>
            <p:cNvSpPr txBox="1"/>
            <p:nvPr/>
          </p:nvSpPr>
          <p:spPr>
            <a:xfrm>
              <a:off x="2261887" y="2656373"/>
              <a:ext cx="792088" cy="292388"/>
            </a:xfrm>
            <a:prstGeom prst="rect">
              <a:avLst/>
            </a:prstGeom>
            <a:noFill/>
          </p:spPr>
          <p:txBody>
            <a:bodyPr wrap="square" rtlCol="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a:t>
              </a:r>
              <a:endParaRPr lang="ko-KR" altLang="en-US" sz="1300" dirty="0">
                <a:solidFill>
                  <a:schemeClr val="tx1">
                    <a:lumMod val="85000"/>
                    <a:lumOff val="15000"/>
                  </a:schemeClr>
                </a:solidFill>
                <a:latin typeface="SamsungOne 400" panose="020B0503030303020204" pitchFamily="34" charset="0"/>
              </a:endParaRPr>
            </a:p>
          </p:txBody>
        </p:sp>
        <p:sp>
          <p:nvSpPr>
            <p:cNvPr id="67" name="TextBox 66"/>
            <p:cNvSpPr txBox="1"/>
            <p:nvPr/>
          </p:nvSpPr>
          <p:spPr>
            <a:xfrm>
              <a:off x="3774055" y="2656373"/>
              <a:ext cx="792088" cy="292388"/>
            </a:xfrm>
            <a:prstGeom prst="rect">
              <a:avLst/>
            </a:prstGeom>
            <a:noFill/>
          </p:spPr>
          <p:txBody>
            <a:bodyPr wrap="square" rtlCol="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a:t>
              </a:r>
              <a:endParaRPr lang="ko-KR" altLang="en-US" sz="1300" dirty="0">
                <a:solidFill>
                  <a:schemeClr val="tx1">
                    <a:lumMod val="85000"/>
                    <a:lumOff val="15000"/>
                  </a:schemeClr>
                </a:solidFill>
                <a:latin typeface="SamsungOne 400" panose="020B0503030303020204" pitchFamily="34" charset="0"/>
              </a:endParaRPr>
            </a:p>
          </p:txBody>
        </p:sp>
        <p:sp>
          <p:nvSpPr>
            <p:cNvPr id="68" name="TextBox 67"/>
            <p:cNvSpPr txBox="1"/>
            <p:nvPr/>
          </p:nvSpPr>
          <p:spPr>
            <a:xfrm>
              <a:off x="5286223" y="2656373"/>
              <a:ext cx="792088" cy="292388"/>
            </a:xfrm>
            <a:prstGeom prst="rect">
              <a:avLst/>
            </a:prstGeom>
            <a:noFill/>
          </p:spPr>
          <p:txBody>
            <a:bodyPr wrap="square" rtlCol="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a:t>
              </a:r>
              <a:endParaRPr lang="ko-KR" altLang="en-US" sz="1300" dirty="0">
                <a:solidFill>
                  <a:schemeClr val="tx1">
                    <a:lumMod val="85000"/>
                    <a:lumOff val="15000"/>
                  </a:schemeClr>
                </a:solidFill>
                <a:latin typeface="SamsungOne 400" panose="020B0503030303020204" pitchFamily="34" charset="0"/>
              </a:endParaRPr>
            </a:p>
          </p:txBody>
        </p:sp>
        <p:sp>
          <p:nvSpPr>
            <p:cNvPr id="69" name="TextBox 68"/>
            <p:cNvSpPr txBox="1"/>
            <p:nvPr/>
          </p:nvSpPr>
          <p:spPr>
            <a:xfrm>
              <a:off x="6798391" y="2656373"/>
              <a:ext cx="792088" cy="292388"/>
            </a:xfrm>
            <a:prstGeom prst="rect">
              <a:avLst/>
            </a:prstGeom>
            <a:noFill/>
          </p:spPr>
          <p:txBody>
            <a:bodyPr wrap="square" rtlCol="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a:t>
              </a:r>
              <a:endParaRPr lang="ko-KR" altLang="en-US" sz="1300" dirty="0">
                <a:solidFill>
                  <a:schemeClr val="tx1">
                    <a:lumMod val="85000"/>
                    <a:lumOff val="15000"/>
                  </a:schemeClr>
                </a:solidFill>
                <a:latin typeface="SamsungOne 400" panose="020B0503030303020204" pitchFamily="34" charset="0"/>
              </a:endParaRPr>
            </a:p>
          </p:txBody>
        </p:sp>
      </p:grpSp>
      <p:graphicFrame>
        <p:nvGraphicFramePr>
          <p:cNvPr id="70" name="Table 4">
            <a:extLst>
              <a:ext uri="{FF2B5EF4-FFF2-40B4-BE49-F238E27FC236}">
                <a16:creationId xmlns:a16="http://schemas.microsoft.com/office/drawing/2014/main" id="{EED9E90C-2C64-4842-935E-CF44A8576479}"/>
              </a:ext>
            </a:extLst>
          </p:cNvPr>
          <p:cNvGraphicFramePr>
            <a:graphicFrameLocks noGrp="1"/>
          </p:cNvGraphicFramePr>
          <p:nvPr>
            <p:extLst>
              <p:ext uri="{D42A27DB-BD31-4B8C-83A1-F6EECF244321}">
                <p14:modId xmlns:p14="http://schemas.microsoft.com/office/powerpoint/2010/main" val="1664678631"/>
              </p:ext>
            </p:extLst>
          </p:nvPr>
        </p:nvGraphicFramePr>
        <p:xfrm>
          <a:off x="2250267" y="2398042"/>
          <a:ext cx="807287" cy="2375848"/>
        </p:xfrm>
        <a:graphic>
          <a:graphicData uri="http://schemas.openxmlformats.org/drawingml/2006/table">
            <a:tbl>
              <a:tblPr firstRow="1" bandRow="1">
                <a:tableStyleId>{5940675A-B579-460E-94D1-54222C63F5DA}</a:tableStyleId>
              </a:tblPr>
              <a:tblGrid>
                <a:gridCol w="807287">
                  <a:extLst>
                    <a:ext uri="{9D8B030D-6E8A-4147-A177-3AD203B41FA5}">
                      <a16:colId xmlns:a16="http://schemas.microsoft.com/office/drawing/2014/main" val="20000"/>
                    </a:ext>
                  </a:extLst>
                </a:gridCol>
              </a:tblGrid>
              <a:tr h="296981">
                <a:tc>
                  <a:txBody>
                    <a:bodyPr/>
                    <a:lstStyle/>
                    <a:p>
                      <a:pPr algn="ctr"/>
                      <a:r>
                        <a:rPr lang="en-US" sz="13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1" name="Table 4">
            <a:extLst>
              <a:ext uri="{FF2B5EF4-FFF2-40B4-BE49-F238E27FC236}">
                <a16:creationId xmlns:a16="http://schemas.microsoft.com/office/drawing/2014/main" id="{EED9E90C-2C64-4842-935E-CF44A8576479}"/>
              </a:ext>
            </a:extLst>
          </p:cNvPr>
          <p:cNvGraphicFramePr>
            <a:graphicFrameLocks noGrp="1"/>
          </p:cNvGraphicFramePr>
          <p:nvPr>
            <p:extLst>
              <p:ext uri="{D42A27DB-BD31-4B8C-83A1-F6EECF244321}">
                <p14:modId xmlns:p14="http://schemas.microsoft.com/office/powerpoint/2010/main" val="384158523"/>
              </p:ext>
            </p:extLst>
          </p:nvPr>
        </p:nvGraphicFramePr>
        <p:xfrm>
          <a:off x="3821673" y="2398450"/>
          <a:ext cx="850019" cy="2375848"/>
        </p:xfrm>
        <a:graphic>
          <a:graphicData uri="http://schemas.openxmlformats.org/drawingml/2006/table">
            <a:tbl>
              <a:tblPr firstRow="1" bandRow="1">
                <a:tableStyleId>{5940675A-B579-460E-94D1-54222C63F5DA}</a:tableStyleId>
              </a:tblPr>
              <a:tblGrid>
                <a:gridCol w="850019">
                  <a:extLst>
                    <a:ext uri="{9D8B030D-6E8A-4147-A177-3AD203B41FA5}">
                      <a16:colId xmlns:a16="http://schemas.microsoft.com/office/drawing/2014/main" val="20000"/>
                    </a:ext>
                  </a:extLst>
                </a:gridCol>
              </a:tblGrid>
              <a:tr h="296981">
                <a:tc>
                  <a:txBody>
                    <a:bodyPr/>
                    <a:lstStyle/>
                    <a:p>
                      <a:pPr algn="ctr"/>
                      <a:r>
                        <a:rPr lang="en-US" sz="13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Bloodtype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solidFill>
                      <a:srgbClr val="FFB546"/>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2" name="Table 4">
            <a:extLst>
              <a:ext uri="{FF2B5EF4-FFF2-40B4-BE49-F238E27FC236}">
                <a16:creationId xmlns:a16="http://schemas.microsoft.com/office/drawing/2014/main" id="{EED9E90C-2C64-4842-935E-CF44A8576479}"/>
              </a:ext>
            </a:extLst>
          </p:cNvPr>
          <p:cNvGraphicFramePr>
            <a:graphicFrameLocks noGrp="1"/>
          </p:cNvGraphicFramePr>
          <p:nvPr>
            <p:extLst>
              <p:ext uri="{D42A27DB-BD31-4B8C-83A1-F6EECF244321}">
                <p14:modId xmlns:p14="http://schemas.microsoft.com/office/powerpoint/2010/main" val="2126163156"/>
              </p:ext>
            </p:extLst>
          </p:nvPr>
        </p:nvGraphicFramePr>
        <p:xfrm>
          <a:off x="5326652" y="2398646"/>
          <a:ext cx="744975" cy="2375848"/>
        </p:xfrm>
        <a:graphic>
          <a:graphicData uri="http://schemas.openxmlformats.org/drawingml/2006/table">
            <a:tbl>
              <a:tblPr firstRow="1" bandRow="1">
                <a:tableStyleId>{5940675A-B579-460E-94D1-54222C63F5DA}</a:tableStyleId>
              </a:tblPr>
              <a:tblGrid>
                <a:gridCol w="744975">
                  <a:extLst>
                    <a:ext uri="{9D8B030D-6E8A-4147-A177-3AD203B41FA5}">
                      <a16:colId xmlns:a16="http://schemas.microsoft.com/office/drawing/2014/main" val="20000"/>
                    </a:ext>
                  </a:extLst>
                </a:gridCol>
              </a:tblGrid>
              <a:tr h="296981">
                <a:tc>
                  <a:txBody>
                    <a:bodyPr/>
                    <a:lstStyle/>
                    <a:p>
                      <a:pPr algn="ctr"/>
                      <a:r>
                        <a:rPr lang="en-US" sz="13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Height</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22</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3" name="Table 4">
            <a:extLst>
              <a:ext uri="{FF2B5EF4-FFF2-40B4-BE49-F238E27FC236}">
                <a16:creationId xmlns:a16="http://schemas.microsoft.com/office/drawing/2014/main" id="{EED9E90C-2C64-4842-935E-CF44A8576479}"/>
              </a:ext>
            </a:extLst>
          </p:cNvPr>
          <p:cNvGraphicFramePr>
            <a:graphicFrameLocks noGrp="1"/>
          </p:cNvGraphicFramePr>
          <p:nvPr>
            <p:extLst>
              <p:ext uri="{D42A27DB-BD31-4B8C-83A1-F6EECF244321}">
                <p14:modId xmlns:p14="http://schemas.microsoft.com/office/powerpoint/2010/main" val="2522023506"/>
              </p:ext>
            </p:extLst>
          </p:nvPr>
        </p:nvGraphicFramePr>
        <p:xfrm>
          <a:off x="6827434" y="2398042"/>
          <a:ext cx="778346" cy="2375848"/>
        </p:xfrm>
        <a:graphic>
          <a:graphicData uri="http://schemas.openxmlformats.org/drawingml/2006/table">
            <a:tbl>
              <a:tblPr firstRow="1" bandRow="1">
                <a:tableStyleId>{5940675A-B579-460E-94D1-54222C63F5DA}</a:tableStyleId>
              </a:tblPr>
              <a:tblGrid>
                <a:gridCol w="778346">
                  <a:extLst>
                    <a:ext uri="{9D8B030D-6E8A-4147-A177-3AD203B41FA5}">
                      <a16:colId xmlns:a16="http://schemas.microsoft.com/office/drawing/2014/main" val="20000"/>
                    </a:ext>
                  </a:extLst>
                </a:gridCol>
              </a:tblGrid>
              <a:tr h="296981">
                <a:tc>
                  <a:txBody>
                    <a:bodyPr/>
                    <a:lstStyle/>
                    <a:p>
                      <a:pPr algn="ctr"/>
                      <a:r>
                        <a:rPr lang="en-US" sz="13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Weight</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solidFill>
                      <a:srgbClr val="FF4337"/>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68.2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53</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80.1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85.7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49.5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9698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45.3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
        <p:nvSpPr>
          <p:cNvPr id="74" name="덧셈 기호 73"/>
          <p:cNvSpPr/>
          <p:nvPr/>
        </p:nvSpPr>
        <p:spPr>
          <a:xfrm>
            <a:off x="3249183" y="3427275"/>
            <a:ext cx="321066" cy="321066"/>
          </a:xfrm>
          <a:prstGeom prst="mathPlus">
            <a:avLst>
              <a:gd name="adj1" fmla="val 16102"/>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75" name="왼쪽 중괄호 74"/>
          <p:cNvSpPr/>
          <p:nvPr/>
        </p:nvSpPr>
        <p:spPr>
          <a:xfrm rot="16200000">
            <a:off x="4782057" y="2771901"/>
            <a:ext cx="338710" cy="4595002"/>
          </a:xfrm>
          <a:prstGeom prst="leftBrace">
            <a:avLst>
              <a:gd name="adj1" fmla="val 68325"/>
              <a:gd name="adj2" fmla="val 50166"/>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p>
        </p:txBody>
      </p:sp>
      <p:sp>
        <p:nvSpPr>
          <p:cNvPr id="76" name="TextBox 75"/>
          <p:cNvSpPr txBox="1"/>
          <p:nvPr/>
        </p:nvSpPr>
        <p:spPr>
          <a:xfrm>
            <a:off x="4350003" y="5286837"/>
            <a:ext cx="1224544" cy="292388"/>
          </a:xfrm>
          <a:prstGeom prst="rect">
            <a:avLst/>
          </a:prstGeom>
          <a:noFill/>
        </p:spPr>
        <p:txBody>
          <a:bodyPr wrap="square" rtlCol="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DataFrame</a:t>
            </a:r>
            <a:endParaRPr lang="ko-KR" altLang="en-US" sz="1300" dirty="0">
              <a:solidFill>
                <a:schemeClr val="tx1">
                  <a:lumMod val="85000"/>
                  <a:lumOff val="15000"/>
                </a:schemeClr>
              </a:solidFill>
              <a:latin typeface="SamsungOne 400" panose="020B0503030303020204" pitchFamily="34" charset="0"/>
            </a:endParaRPr>
          </a:p>
        </p:txBody>
      </p:sp>
      <p:sp>
        <p:nvSpPr>
          <p:cNvPr id="77" name="덧셈 기호 4">
            <a:extLst>
              <a:ext uri="{FF2B5EF4-FFF2-40B4-BE49-F238E27FC236}">
                <a16:creationId xmlns:a16="http://schemas.microsoft.com/office/drawing/2014/main" id="{E6BA8B43-3B9B-40D1-B0DE-714120EC4EAB}"/>
              </a:ext>
            </a:extLst>
          </p:cNvPr>
          <p:cNvSpPr/>
          <p:nvPr/>
        </p:nvSpPr>
        <p:spPr>
          <a:xfrm>
            <a:off x="4813957" y="3427275"/>
            <a:ext cx="321066" cy="321066"/>
          </a:xfrm>
          <a:prstGeom prst="mathPlus">
            <a:avLst>
              <a:gd name="adj1" fmla="val 16102"/>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78" name="덧셈 기호 4">
            <a:extLst>
              <a:ext uri="{FF2B5EF4-FFF2-40B4-BE49-F238E27FC236}">
                <a16:creationId xmlns:a16="http://schemas.microsoft.com/office/drawing/2014/main" id="{36332F09-947A-46E9-B4A4-092917CB0438}"/>
              </a:ext>
            </a:extLst>
          </p:cNvPr>
          <p:cNvSpPr/>
          <p:nvPr/>
        </p:nvSpPr>
        <p:spPr>
          <a:xfrm>
            <a:off x="6288997" y="3427275"/>
            <a:ext cx="321066" cy="321066"/>
          </a:xfrm>
          <a:prstGeom prst="mathPlus">
            <a:avLst>
              <a:gd name="adj1" fmla="val 16102"/>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6" name="직사각형 25">
            <a:extLst>
              <a:ext uri="{FF2B5EF4-FFF2-40B4-BE49-F238E27FC236}">
                <a16:creationId xmlns:a16="http://schemas.microsoft.com/office/drawing/2014/main" id="{3EDD0A7B-B482-4860-AD51-52AEAA49EA4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a:t>
            </a:r>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Pandas Data Structure:</a:t>
            </a:r>
          </a:p>
        </p:txBody>
      </p:sp>
    </p:spTree>
    <p:extLst>
      <p:ext uri="{BB962C8B-B14F-4D97-AF65-F5344CB8AC3E}">
        <p14:creationId xmlns:p14="http://schemas.microsoft.com/office/powerpoint/2010/main" val="6482980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Series</a:t>
            </a:r>
          </a:p>
        </p:txBody>
      </p:sp>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5" name="직사각형 1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AC7B1D63-ED62-4022-B7F1-8D47F0EE431F}"/>
              </a:ext>
            </a:extLst>
          </p:cNvPr>
          <p:cNvGrpSpPr/>
          <p:nvPr/>
        </p:nvGrpSpPr>
        <p:grpSpPr>
          <a:xfrm>
            <a:off x="524240" y="1870666"/>
            <a:ext cx="8887612" cy="2611091"/>
            <a:chOff x="524240" y="1870666"/>
            <a:chExt cx="8887612" cy="2611091"/>
          </a:xfrm>
        </p:grpSpPr>
        <p:sp>
          <p:nvSpPr>
            <p:cNvPr id="21" name="직사각형 20">
              <a:extLst>
                <a:ext uri="{FF2B5EF4-FFF2-40B4-BE49-F238E27FC236}">
                  <a16:creationId xmlns:a16="http://schemas.microsoft.com/office/drawing/2014/main" id="{0EAADE14-A9CF-4F9E-A727-79B03A18EB74}"/>
                </a:ext>
              </a:extLst>
            </p:cNvPr>
            <p:cNvSpPr/>
            <p:nvPr/>
          </p:nvSpPr>
          <p:spPr>
            <a:xfrm>
              <a:off x="651633" y="2120359"/>
              <a:ext cx="8632825" cy="2361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Since it is an array, all elements in the series must belong to one data type.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Simple series can be created from sequences such as lists, tuples, and arrays.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word ‘series’ is singular AND plural. Its Latin origin,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serere</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means to join or connect.</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default value of the series is an integer index. The label of the first item is 0, the label of the second item is 1, and it increases in this manner.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attribute value of the series is the list of all values in the series.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attribute value of the index means an index of a series.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attribute value of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index.values</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an array of all index values.</a:t>
              </a:r>
            </a:p>
          </p:txBody>
        </p:sp>
        <p:sp>
          <p:nvSpPr>
            <p:cNvPr id="22" name="직사각형 21">
              <a:extLst>
                <a:ext uri="{FF2B5EF4-FFF2-40B4-BE49-F238E27FC236}">
                  <a16:creationId xmlns:a16="http://schemas.microsoft.com/office/drawing/2014/main" id="{50E3A15A-9606-4813-BDE1-1EAB2A513AB4}"/>
                </a:ext>
              </a:extLst>
            </p:cNvPr>
            <p:cNvSpPr/>
            <p:nvPr/>
          </p:nvSpPr>
          <p:spPr>
            <a:xfrm>
              <a:off x="524240" y="1870666"/>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 series is a form of sequentially listed one-dimensional arrays. </a:t>
              </a:r>
            </a:p>
          </p:txBody>
        </p:sp>
      </p:grpSp>
    </p:spTree>
    <p:extLst>
      <p:ext uri="{BB962C8B-B14F-4D97-AF65-F5344CB8AC3E}">
        <p14:creationId xmlns:p14="http://schemas.microsoft.com/office/powerpoint/2010/main" val="264708634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11201" y="2350370"/>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Creating from a List</a:t>
            </a: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6C7C46AA-9910-45D7-A455-E0EA35D33F41}"/>
              </a:ext>
            </a:extLst>
          </p:cNvPr>
          <p:cNvGrpSpPr/>
          <p:nvPr/>
        </p:nvGrpSpPr>
        <p:grpSpPr>
          <a:xfrm>
            <a:off x="558924" y="1728801"/>
            <a:ext cx="8782050" cy="497160"/>
            <a:chOff x="558924" y="1844824"/>
            <a:chExt cx="8782050" cy="497160"/>
          </a:xfrm>
        </p:grpSpPr>
        <p:sp>
          <p:nvSpPr>
            <p:cNvPr id="24"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497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770" t="8195" r="18462" b="3815"/>
            <a:stretch/>
          </p:blipFill>
          <p:spPr>
            <a:xfrm>
              <a:off x="578498" y="1894114"/>
              <a:ext cx="8762476" cy="402432"/>
            </a:xfrm>
            <a:prstGeom prst="rect">
              <a:avLst/>
            </a:prstGeom>
          </p:spPr>
        </p:pic>
      </p:grpSp>
      <p:grpSp>
        <p:nvGrpSpPr>
          <p:cNvPr id="5" name="그룹 4">
            <a:extLst>
              <a:ext uri="{FF2B5EF4-FFF2-40B4-BE49-F238E27FC236}">
                <a16:creationId xmlns:a16="http://schemas.microsoft.com/office/drawing/2014/main" id="{03D06BA0-C52B-4C69-B0BF-EA94261ECF13}"/>
              </a:ext>
            </a:extLst>
          </p:cNvPr>
          <p:cNvGrpSpPr/>
          <p:nvPr/>
        </p:nvGrpSpPr>
        <p:grpSpPr>
          <a:xfrm>
            <a:off x="558924" y="2699685"/>
            <a:ext cx="8782051" cy="1656184"/>
            <a:chOff x="558924" y="2996952"/>
            <a:chExt cx="8782051" cy="1656184"/>
          </a:xfrm>
        </p:grpSpPr>
        <p:sp>
          <p:nvSpPr>
            <p:cNvPr id="25" name="모서리가 둥근 직사각형 4">
              <a:extLst>
                <a:ext uri="{FF2B5EF4-FFF2-40B4-BE49-F238E27FC236}">
                  <a16:creationId xmlns:a16="http://schemas.microsoft.com/office/drawing/2014/main" id="{A36E3BA1-83BF-4EF9-8B22-BB45DE7AA1FC}"/>
                </a:ext>
              </a:extLst>
            </p:cNvPr>
            <p:cNvSpPr/>
            <p:nvPr/>
          </p:nvSpPr>
          <p:spPr>
            <a:xfrm>
              <a:off x="558924" y="2996952"/>
              <a:ext cx="8782050" cy="16561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674" r="18909"/>
            <a:stretch/>
          </p:blipFill>
          <p:spPr>
            <a:xfrm>
              <a:off x="625151" y="3037384"/>
              <a:ext cx="8715824" cy="1566663"/>
            </a:xfrm>
            <a:prstGeom prst="rect">
              <a:avLst/>
            </a:prstGeom>
          </p:spPr>
        </p:pic>
      </p:grpSp>
      <p:sp>
        <p:nvSpPr>
          <p:cNvPr id="13" name="직사각형 12">
            <a:extLst>
              <a:ext uri="{FF2B5EF4-FFF2-40B4-BE49-F238E27FC236}">
                <a16:creationId xmlns:a16="http://schemas.microsoft.com/office/drawing/2014/main" id="{E29D82DB-616D-44E1-9270-16BD9F0617C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How to Create a Series</a:t>
            </a:r>
          </a:p>
        </p:txBody>
      </p:sp>
    </p:spTree>
    <p:extLst>
      <p:ext uri="{BB962C8B-B14F-4D97-AF65-F5344CB8AC3E}">
        <p14:creationId xmlns:p14="http://schemas.microsoft.com/office/powerpoint/2010/main" val="9444256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a:extLst>
              <a:ext uri="{FF2B5EF4-FFF2-40B4-BE49-F238E27FC236}">
                <a16:creationId xmlns:a16="http://schemas.microsoft.com/office/drawing/2014/main" id="{39C1D0BA-7152-4AAC-B295-DCCB5F8378F4}"/>
              </a:ext>
            </a:extLst>
          </p:cNvPr>
          <p:cNvSpPr/>
          <p:nvPr/>
        </p:nvSpPr>
        <p:spPr>
          <a:xfrm>
            <a:off x="711201" y="238675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Creating from NumPy Arrays. See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help(pd.Series)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more detail.</a:t>
            </a: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167E5428-981C-4B43-86E7-09E3D58CC2DF}"/>
              </a:ext>
            </a:extLst>
          </p:cNvPr>
          <p:cNvGrpSpPr/>
          <p:nvPr/>
        </p:nvGrpSpPr>
        <p:grpSpPr>
          <a:xfrm>
            <a:off x="558924" y="1747464"/>
            <a:ext cx="8782051" cy="529206"/>
            <a:chOff x="558924" y="1844825"/>
            <a:chExt cx="8782051" cy="529206"/>
          </a:xfrm>
        </p:grpSpPr>
        <p:sp>
          <p:nvSpPr>
            <p:cNvPr id="24" name="모서리가 둥근 직사각형 4">
              <a:extLst>
                <a:ext uri="{FF2B5EF4-FFF2-40B4-BE49-F238E27FC236}">
                  <a16:creationId xmlns:a16="http://schemas.microsoft.com/office/drawing/2014/main" id="{A36E3BA1-83BF-4EF9-8B22-BB45DE7AA1FC}"/>
                </a:ext>
              </a:extLst>
            </p:cNvPr>
            <p:cNvSpPr/>
            <p:nvPr/>
          </p:nvSpPr>
          <p:spPr>
            <a:xfrm>
              <a:off x="558924" y="1844825"/>
              <a:ext cx="8782050" cy="5292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l="2052" t="11946" r="18235"/>
            <a:stretch/>
          </p:blipFill>
          <p:spPr>
            <a:xfrm>
              <a:off x="625151" y="1898168"/>
              <a:ext cx="8715824" cy="443814"/>
            </a:xfrm>
            <a:prstGeom prst="rect">
              <a:avLst/>
            </a:prstGeom>
          </p:spPr>
        </p:pic>
      </p:grpSp>
      <p:grpSp>
        <p:nvGrpSpPr>
          <p:cNvPr id="3" name="그룹 2">
            <a:extLst>
              <a:ext uri="{FF2B5EF4-FFF2-40B4-BE49-F238E27FC236}">
                <a16:creationId xmlns:a16="http://schemas.microsoft.com/office/drawing/2014/main" id="{88F9CBD3-1D17-4EF5-9A38-97F29331E3BB}"/>
              </a:ext>
            </a:extLst>
          </p:cNvPr>
          <p:cNvGrpSpPr/>
          <p:nvPr/>
        </p:nvGrpSpPr>
        <p:grpSpPr>
          <a:xfrm>
            <a:off x="558924" y="2741468"/>
            <a:ext cx="8782050" cy="1789652"/>
            <a:chOff x="558924" y="2996952"/>
            <a:chExt cx="8782050" cy="1789652"/>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2996952"/>
              <a:ext cx="8782050" cy="17896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p:cNvPicPr>
              <a:picLocks noChangeAspect="1"/>
            </p:cNvPicPr>
            <p:nvPr/>
          </p:nvPicPr>
          <p:blipFill rotWithShape="1">
            <a:blip r:embed="rId4"/>
            <a:srcRect l="2097" r="21193"/>
            <a:stretch/>
          </p:blipFill>
          <p:spPr>
            <a:xfrm>
              <a:off x="667037" y="3062495"/>
              <a:ext cx="8673937" cy="1656184"/>
            </a:xfrm>
            <a:prstGeom prst="rect">
              <a:avLst/>
            </a:prstGeom>
          </p:spPr>
        </p:pic>
      </p:grpSp>
      <p:sp>
        <p:nvSpPr>
          <p:cNvPr id="13" name="직사각형 12">
            <a:extLst>
              <a:ext uri="{FF2B5EF4-FFF2-40B4-BE49-F238E27FC236}">
                <a16:creationId xmlns:a16="http://schemas.microsoft.com/office/drawing/2014/main" id="{51613210-C6B8-4FC3-9D1B-155EAB357AE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How to Create a Series</a:t>
            </a:r>
          </a:p>
        </p:txBody>
      </p:sp>
    </p:spTree>
    <p:extLst>
      <p:ext uri="{BB962C8B-B14F-4D97-AF65-F5344CB8AC3E}">
        <p14:creationId xmlns:p14="http://schemas.microsoft.com/office/powerpoint/2010/main" val="8392933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3" name="그룹 12">
            <a:extLst>
              <a:ext uri="{FF2B5EF4-FFF2-40B4-BE49-F238E27FC236}">
                <a16:creationId xmlns:a16="http://schemas.microsoft.com/office/drawing/2014/main" id="{E53371C3-8732-457C-9C1C-26300CFC8D5C}"/>
              </a:ext>
            </a:extLst>
          </p:cNvPr>
          <p:cNvGrpSpPr/>
          <p:nvPr/>
        </p:nvGrpSpPr>
        <p:grpSpPr>
          <a:xfrm>
            <a:off x="580388" y="1413381"/>
            <a:ext cx="8887612" cy="599957"/>
            <a:chOff x="580388" y="1413381"/>
            <a:chExt cx="8887612" cy="599957"/>
          </a:xfrm>
        </p:grpSpPr>
        <p:sp>
          <p:nvSpPr>
            <p:cNvPr id="15" name="직사각형 14">
              <a:extLst>
                <a:ext uri="{FF2B5EF4-FFF2-40B4-BE49-F238E27FC236}">
                  <a16:creationId xmlns:a16="http://schemas.microsoft.com/office/drawing/2014/main" id="{AFACF473-2A8D-411E-A3C3-6C3BE7E0225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How to Create a Series</a:t>
              </a:r>
            </a:p>
          </p:txBody>
        </p:sp>
        <p:sp>
          <p:nvSpPr>
            <p:cNvPr id="16" name="Rectangle 12">
              <a:extLst>
                <a:ext uri="{FF2B5EF4-FFF2-40B4-BE49-F238E27FC236}">
                  <a16:creationId xmlns:a16="http://schemas.microsoft.com/office/drawing/2014/main" id="{B415C32B-46DD-43EF-8F22-3EC6581C640F}"/>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 can also be created with array-like,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Iterable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dict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or scalar value.</a:t>
              </a:r>
            </a:p>
          </p:txBody>
        </p:sp>
      </p:grpSp>
      <p:grpSp>
        <p:nvGrpSpPr>
          <p:cNvPr id="17" name="그룹 16">
            <a:extLst>
              <a:ext uri="{FF2B5EF4-FFF2-40B4-BE49-F238E27FC236}">
                <a16:creationId xmlns:a16="http://schemas.microsoft.com/office/drawing/2014/main" id="{B42E67F3-E763-41D5-94B0-73EF1FA579BA}"/>
              </a:ext>
            </a:extLst>
          </p:cNvPr>
          <p:cNvGrpSpPr/>
          <p:nvPr/>
        </p:nvGrpSpPr>
        <p:grpSpPr>
          <a:xfrm>
            <a:off x="558924" y="3423289"/>
            <a:ext cx="8782050" cy="725791"/>
            <a:chOff x="557644" y="5085181"/>
            <a:chExt cx="8782050" cy="725791"/>
          </a:xfrm>
        </p:grpSpPr>
        <p:sp>
          <p:nvSpPr>
            <p:cNvPr id="18" name="모서리가 둥근 직사각형 4">
              <a:extLst>
                <a:ext uri="{FF2B5EF4-FFF2-40B4-BE49-F238E27FC236}">
                  <a16:creationId xmlns:a16="http://schemas.microsoft.com/office/drawing/2014/main" id="{3778203A-E807-4DF2-A04B-3DB512D4C5BC}"/>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0A2B332D-17A1-449B-A9F0-9C7DFD64E64F}"/>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42947B43-2368-47B1-BE0F-CB909476DAB2}"/>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AFA4E00A-5840-4701-A9B2-B5B3CE4B79E4}"/>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We can know that the data type is a series.</a:t>
              </a:r>
            </a:p>
          </p:txBody>
        </p:sp>
      </p:grpSp>
      <p:grpSp>
        <p:nvGrpSpPr>
          <p:cNvPr id="7" name="그룹 6">
            <a:extLst>
              <a:ext uri="{FF2B5EF4-FFF2-40B4-BE49-F238E27FC236}">
                <a16:creationId xmlns:a16="http://schemas.microsoft.com/office/drawing/2014/main" id="{D2C0AEFD-E387-4E67-8F4E-FAFDDFAA2B0E}"/>
              </a:ext>
            </a:extLst>
          </p:cNvPr>
          <p:cNvGrpSpPr/>
          <p:nvPr/>
        </p:nvGrpSpPr>
        <p:grpSpPr>
          <a:xfrm>
            <a:off x="558924" y="2060848"/>
            <a:ext cx="8782050" cy="1263487"/>
            <a:chOff x="558924" y="2060848"/>
            <a:chExt cx="8782050" cy="1263487"/>
          </a:xfrm>
        </p:grpSpPr>
        <p:grpSp>
          <p:nvGrpSpPr>
            <p:cNvPr id="5" name="그룹 4">
              <a:extLst>
                <a:ext uri="{FF2B5EF4-FFF2-40B4-BE49-F238E27FC236}">
                  <a16:creationId xmlns:a16="http://schemas.microsoft.com/office/drawing/2014/main" id="{25AC5124-8132-4BC9-913B-75E4F5CC9780}"/>
                </a:ext>
              </a:extLst>
            </p:cNvPr>
            <p:cNvGrpSpPr/>
            <p:nvPr/>
          </p:nvGrpSpPr>
          <p:grpSpPr>
            <a:xfrm>
              <a:off x="558924" y="2060848"/>
              <a:ext cx="8782050" cy="1263487"/>
              <a:chOff x="558924" y="2132856"/>
              <a:chExt cx="8782050" cy="1263487"/>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12634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5"/>
              <a:srcRect l="2164" r="20224"/>
              <a:stretch/>
            </p:blipFill>
            <p:spPr>
              <a:xfrm>
                <a:off x="681135" y="2194992"/>
                <a:ext cx="8659839" cy="1169701"/>
              </a:xfrm>
              <a:prstGeom prst="rect">
                <a:avLst/>
              </a:prstGeom>
            </p:spPr>
          </p:pic>
        </p:grpSp>
        <p:sp>
          <p:nvSpPr>
            <p:cNvPr id="6" name="직사각형 5">
              <a:extLst>
                <a:ext uri="{FF2B5EF4-FFF2-40B4-BE49-F238E27FC236}">
                  <a16:creationId xmlns:a16="http://schemas.microsoft.com/office/drawing/2014/main" id="{2CDDE446-71F1-443F-A2AA-EF1E6EFF6594}"/>
                </a:ext>
              </a:extLst>
            </p:cNvPr>
            <p:cNvSpPr/>
            <p:nvPr/>
          </p:nvSpPr>
          <p:spPr>
            <a:xfrm>
              <a:off x="2143100" y="2692591"/>
              <a:ext cx="3268655" cy="22789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001312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p:cNvGrpSpPr/>
          <p:nvPr/>
        </p:nvGrpSpPr>
        <p:grpSpPr>
          <a:xfrm>
            <a:off x="2320848" y="2458216"/>
            <a:ext cx="5211435" cy="3628014"/>
            <a:chOff x="2215108" y="2586389"/>
            <a:chExt cx="5211435" cy="3628014"/>
          </a:xfrm>
        </p:grpSpPr>
        <p:pic>
          <p:nvPicPr>
            <p:cNvPr id="3" name="그림 2"/>
            <p:cNvPicPr>
              <a:picLocks noChangeAspect="1"/>
            </p:cNvPicPr>
            <p:nvPr/>
          </p:nvPicPr>
          <p:blipFill rotWithShape="1">
            <a:blip r:embed="rId3">
              <a:extLst>
                <a:ext uri="{28A0092B-C50C-407E-A947-70E740481C1C}">
                  <a14:useLocalDpi xmlns:a14="http://schemas.microsoft.com/office/drawing/2010/main" val="0"/>
                </a:ext>
              </a:extLst>
            </a:blip>
            <a:srcRect l="8889" t="16619" r="17878" b="12936"/>
            <a:stretch/>
          </p:blipFill>
          <p:spPr>
            <a:xfrm>
              <a:off x="2215108" y="2924943"/>
              <a:ext cx="4680520" cy="2952329"/>
            </a:xfrm>
            <a:prstGeom prst="rect">
              <a:avLst/>
            </a:prstGeom>
          </p:spPr>
        </p:pic>
        <p:sp>
          <p:nvSpPr>
            <p:cNvPr id="2" name="TextBox 1"/>
            <p:cNvSpPr txBox="1"/>
            <p:nvPr/>
          </p:nvSpPr>
          <p:spPr>
            <a:xfrm>
              <a:off x="4135586" y="2586389"/>
              <a:ext cx="1202573" cy="338554"/>
            </a:xfrm>
            <a:prstGeom prst="rect">
              <a:avLst/>
            </a:prstGeom>
            <a:noFill/>
          </p:spPr>
          <p:txBody>
            <a:bodyPr wrap="none" rtlCol="0">
              <a:spAutoFit/>
            </a:bodyPr>
            <a:lstStyle/>
            <a:p>
              <a:r>
                <a:rPr lang="en-US" altLang="ko-KR" sz="1600" dirty="0">
                  <a:latin typeface="SamsungOne 700" panose="020B0803030303020204" pitchFamily="34" charset="0"/>
                  <a:ea typeface="SamsungOne 700" panose="020B0803030303020204" pitchFamily="34" charset="0"/>
                </a:rPr>
                <a:t>DataFrame</a:t>
              </a:r>
              <a:endParaRPr lang="ko-KR" altLang="en-US" sz="1600" dirty="0">
                <a:latin typeface="SamsungOne 700" panose="020B0803030303020204" pitchFamily="34" charset="0"/>
              </a:endParaRPr>
            </a:p>
          </p:txBody>
        </p:sp>
        <p:sp>
          <p:nvSpPr>
            <p:cNvPr id="11" name="TextBox 10"/>
            <p:cNvSpPr txBox="1"/>
            <p:nvPr/>
          </p:nvSpPr>
          <p:spPr>
            <a:xfrm>
              <a:off x="6895628" y="4499828"/>
              <a:ext cx="530915" cy="338554"/>
            </a:xfrm>
            <a:prstGeom prst="rect">
              <a:avLst/>
            </a:prstGeom>
            <a:noFill/>
          </p:spPr>
          <p:txBody>
            <a:bodyPr wrap="none" rtlCol="0">
              <a:spAutoFit/>
            </a:bodyPr>
            <a:lstStyle/>
            <a:p>
              <a:r>
                <a:rPr lang="en-US" altLang="ko-KR" sz="1600" dirty="0">
                  <a:latin typeface="SamsungOne 400" panose="020B0503030303020204" pitchFamily="34" charset="0"/>
                  <a:ea typeface="SamsungOne 400" panose="020B0503030303020204" pitchFamily="34" charset="0"/>
                </a:rPr>
                <a:t>row</a:t>
              </a:r>
              <a:endParaRPr lang="ko-KR" altLang="en-US" sz="1600" dirty="0">
                <a:latin typeface="SamsungOne 400" panose="020B0503030303020204" pitchFamily="34" charset="0"/>
              </a:endParaRPr>
            </a:p>
          </p:txBody>
        </p:sp>
        <p:sp>
          <p:nvSpPr>
            <p:cNvPr id="12" name="TextBox 11"/>
            <p:cNvSpPr txBox="1"/>
            <p:nvPr/>
          </p:nvSpPr>
          <p:spPr>
            <a:xfrm>
              <a:off x="5039162" y="5875849"/>
              <a:ext cx="861133" cy="338554"/>
            </a:xfrm>
            <a:prstGeom prst="rect">
              <a:avLst/>
            </a:prstGeom>
            <a:noFill/>
          </p:spPr>
          <p:txBody>
            <a:bodyPr wrap="none" rtlCol="0">
              <a:spAutoFit/>
            </a:bodyPr>
            <a:lstStyle/>
            <a:p>
              <a:r>
                <a:rPr lang="en-US" altLang="ko-KR" sz="1600" dirty="0">
                  <a:latin typeface="SamsungOne 400" panose="020B0503030303020204" pitchFamily="34" charset="0"/>
                  <a:ea typeface="SamsungOne 400" panose="020B0503030303020204" pitchFamily="34" charset="0"/>
                </a:rPr>
                <a:t>column</a:t>
              </a:r>
              <a:endParaRPr lang="ko-KR" altLang="en-US" sz="1600" dirty="0">
                <a:latin typeface="SamsungOne 400" panose="020B0503030303020204" pitchFamily="34" charset="0"/>
              </a:endParaRPr>
            </a:p>
          </p:txBody>
        </p:sp>
      </p:grpSp>
      <p:grpSp>
        <p:nvGrpSpPr>
          <p:cNvPr id="15" name="그룹 14">
            <a:extLst>
              <a:ext uri="{FF2B5EF4-FFF2-40B4-BE49-F238E27FC236}">
                <a16:creationId xmlns:a16="http://schemas.microsoft.com/office/drawing/2014/main" id="{0B81DB69-14F7-40AF-83B3-350E2D22F0D8}"/>
              </a:ext>
            </a:extLst>
          </p:cNvPr>
          <p:cNvGrpSpPr/>
          <p:nvPr/>
        </p:nvGrpSpPr>
        <p:grpSpPr>
          <a:xfrm>
            <a:off x="580388" y="1413381"/>
            <a:ext cx="8887612" cy="800012"/>
            <a:chOff x="580388" y="1413381"/>
            <a:chExt cx="8887612" cy="800012"/>
          </a:xfrm>
        </p:grpSpPr>
        <p:sp>
          <p:nvSpPr>
            <p:cNvPr id="16" name="직사각형 15">
              <a:extLst>
                <a:ext uri="{FF2B5EF4-FFF2-40B4-BE49-F238E27FC236}">
                  <a16:creationId xmlns:a16="http://schemas.microsoft.com/office/drawing/2014/main" id="{307B7BAE-38EF-4C67-9A4B-49BA836DC8C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How to Create a Series</a:t>
              </a:r>
            </a:p>
          </p:txBody>
        </p:sp>
        <p:sp>
          <p:nvSpPr>
            <p:cNvPr id="17" name="Rectangle 12">
              <a:extLst>
                <a:ext uri="{FF2B5EF4-FFF2-40B4-BE49-F238E27FC236}">
                  <a16:creationId xmlns:a16="http://schemas.microsoft.com/office/drawing/2014/main" id="{835E2A68-8082-47EC-B433-D4BED2ABFC54}"/>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deal with DataFrames in the future, you must first understand the series data and think of the column part as a series in the figure below.</a:t>
              </a:r>
            </a:p>
          </p:txBody>
        </p:sp>
      </p:grpSp>
    </p:spTree>
    <p:extLst>
      <p:ext uri="{BB962C8B-B14F-4D97-AF65-F5344CB8AC3E}">
        <p14:creationId xmlns:p14="http://schemas.microsoft.com/office/powerpoint/2010/main" val="37402649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409A0BD4-1F60-4E4F-90E8-B9FEF37C4F90}"/>
              </a:ext>
            </a:extLst>
          </p:cNvPr>
          <p:cNvGrpSpPr/>
          <p:nvPr/>
        </p:nvGrpSpPr>
        <p:grpSpPr>
          <a:xfrm>
            <a:off x="558924" y="1772816"/>
            <a:ext cx="8782050" cy="2773829"/>
            <a:chOff x="558924" y="1844823"/>
            <a:chExt cx="8782050" cy="2773829"/>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1844823"/>
              <a:ext cx="8782050" cy="27738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098" r="14960"/>
            <a:stretch/>
          </p:blipFill>
          <p:spPr>
            <a:xfrm>
              <a:off x="630932" y="1885756"/>
              <a:ext cx="8710042" cy="2623363"/>
            </a:xfrm>
            <a:prstGeom prst="rect">
              <a:avLst/>
            </a:prstGeom>
          </p:spPr>
        </p:pic>
      </p:grpSp>
      <p:sp>
        <p:nvSpPr>
          <p:cNvPr id="10" name="직사각형 9">
            <a:extLst>
              <a:ext uri="{FF2B5EF4-FFF2-40B4-BE49-F238E27FC236}">
                <a16:creationId xmlns:a16="http://schemas.microsoft.com/office/drawing/2014/main" id="{BBF3F212-9836-43FD-9C11-A16C7429ECE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with Dictionary</a:t>
            </a:r>
          </a:p>
        </p:txBody>
      </p:sp>
    </p:spTree>
    <p:extLst>
      <p:ext uri="{BB962C8B-B14F-4D97-AF65-F5344CB8AC3E}">
        <p14:creationId xmlns:p14="http://schemas.microsoft.com/office/powerpoint/2010/main" val="9096124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3CA21EFC-B59C-45AD-BD6C-B2C5A445C158}"/>
              </a:ext>
            </a:extLst>
          </p:cNvPr>
          <p:cNvGrpSpPr/>
          <p:nvPr/>
        </p:nvGrpSpPr>
        <p:grpSpPr>
          <a:xfrm>
            <a:off x="558924" y="2042186"/>
            <a:ext cx="8782050" cy="806287"/>
            <a:chOff x="558924" y="2132856"/>
            <a:chExt cx="8782050" cy="806287"/>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8062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958" r="20219"/>
            <a:stretch/>
          </p:blipFill>
          <p:spPr>
            <a:xfrm>
              <a:off x="634481" y="2174322"/>
              <a:ext cx="8706493" cy="731960"/>
            </a:xfrm>
            <a:prstGeom prst="rect">
              <a:avLst/>
            </a:prstGeom>
          </p:spPr>
        </p:pic>
      </p:grpSp>
      <p:grpSp>
        <p:nvGrpSpPr>
          <p:cNvPr id="5" name="그룹 4">
            <a:extLst>
              <a:ext uri="{FF2B5EF4-FFF2-40B4-BE49-F238E27FC236}">
                <a16:creationId xmlns:a16="http://schemas.microsoft.com/office/drawing/2014/main" id="{83DD13FC-BCBA-4EAC-BC64-5B71009C3E5A}"/>
              </a:ext>
            </a:extLst>
          </p:cNvPr>
          <p:cNvGrpSpPr/>
          <p:nvPr/>
        </p:nvGrpSpPr>
        <p:grpSpPr>
          <a:xfrm>
            <a:off x="558924" y="3573016"/>
            <a:ext cx="8782050" cy="812002"/>
            <a:chOff x="558924" y="3664748"/>
            <a:chExt cx="8782050" cy="812002"/>
          </a:xfrm>
        </p:grpSpPr>
        <p:sp>
          <p:nvSpPr>
            <p:cNvPr id="12" name="모서리가 둥근 직사각형 4">
              <a:extLst>
                <a:ext uri="{FF2B5EF4-FFF2-40B4-BE49-F238E27FC236}">
                  <a16:creationId xmlns:a16="http://schemas.microsoft.com/office/drawing/2014/main" id="{A36E3BA1-83BF-4EF9-8B22-BB45DE7AA1FC}"/>
                </a:ext>
              </a:extLst>
            </p:cNvPr>
            <p:cNvSpPr/>
            <p:nvPr/>
          </p:nvSpPr>
          <p:spPr>
            <a:xfrm>
              <a:off x="558924" y="3664748"/>
              <a:ext cx="8782050" cy="8120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958" t="2642" r="18834"/>
            <a:stretch/>
          </p:blipFill>
          <p:spPr>
            <a:xfrm>
              <a:off x="634482" y="3738935"/>
              <a:ext cx="8706124" cy="731960"/>
            </a:xfrm>
            <a:prstGeom prst="rect">
              <a:avLst/>
            </a:prstGeom>
          </p:spPr>
        </p:pic>
      </p:grpSp>
      <p:grpSp>
        <p:nvGrpSpPr>
          <p:cNvPr id="18" name="그룹 17">
            <a:extLst>
              <a:ext uri="{FF2B5EF4-FFF2-40B4-BE49-F238E27FC236}">
                <a16:creationId xmlns:a16="http://schemas.microsoft.com/office/drawing/2014/main" id="{CF0F296F-EAB4-4CC5-8D15-5D208C52286D}"/>
              </a:ext>
            </a:extLst>
          </p:cNvPr>
          <p:cNvGrpSpPr/>
          <p:nvPr/>
        </p:nvGrpSpPr>
        <p:grpSpPr>
          <a:xfrm>
            <a:off x="580388" y="1413381"/>
            <a:ext cx="8887612" cy="2109640"/>
            <a:chOff x="580388" y="1413381"/>
            <a:chExt cx="8887612" cy="2109640"/>
          </a:xfrm>
        </p:grpSpPr>
        <p:sp>
          <p:nvSpPr>
            <p:cNvPr id="19" name="직사각형 18">
              <a:extLst>
                <a:ext uri="{FF2B5EF4-FFF2-40B4-BE49-F238E27FC236}">
                  <a16:creationId xmlns:a16="http://schemas.microsoft.com/office/drawing/2014/main" id="{951D4273-3E30-4D96-ADCF-C62698AC4B2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with Dictionary</a:t>
              </a:r>
            </a:p>
          </p:txBody>
        </p:sp>
        <p:sp>
          <p:nvSpPr>
            <p:cNvPr id="20" name="Rectangle 12">
              <a:extLst>
                <a:ext uri="{FF2B5EF4-FFF2-40B4-BE49-F238E27FC236}">
                  <a16:creationId xmlns:a16="http://schemas.microsoft.com/office/drawing/2014/main" id="{634EBC67-6348-4719-9761-18CC0E1B9FA5}"/>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 arrays can be selected separately using index attributes of the series class.</a:t>
              </a:r>
            </a:p>
          </p:txBody>
        </p:sp>
        <p:sp>
          <p:nvSpPr>
            <p:cNvPr id="21" name="Rectangle 12">
              <a:extLst>
                <a:ext uri="{FF2B5EF4-FFF2-40B4-BE49-F238E27FC236}">
                  <a16:creationId xmlns:a16="http://schemas.microsoft.com/office/drawing/2014/main" id="{B1051684-597C-4D15-B0FD-B61475F7210D}"/>
                </a:ext>
              </a:extLst>
            </p:cNvPr>
            <p:cNvSpPr/>
            <p:nvPr/>
          </p:nvSpPr>
          <p:spPr>
            <a:xfrm>
              <a:off x="707782" y="2977505"/>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Selecting the data value array separately is also possible. At that time, the values attribute of the series class is used.</a:t>
              </a:r>
            </a:p>
          </p:txBody>
        </p:sp>
      </p:grpSp>
    </p:spTree>
    <p:extLst>
      <p:ext uri="{BB962C8B-B14F-4D97-AF65-F5344CB8AC3E}">
        <p14:creationId xmlns:p14="http://schemas.microsoft.com/office/powerpoint/2010/main" val="302967375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Rectangle 12">
            <a:extLst>
              <a:ext uri="{FF2B5EF4-FFF2-40B4-BE49-F238E27FC236}">
                <a16:creationId xmlns:a16="http://schemas.microsoft.com/office/drawing/2014/main" id="{39C1D0BA-7152-4AAC-B295-DCCB5F8378F4}"/>
              </a:ext>
            </a:extLst>
          </p:cNvPr>
          <p:cNvSpPr/>
          <p:nvPr/>
        </p:nvSpPr>
        <p:spPr>
          <a:xfrm>
            <a:off x="711201" y="5822832"/>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data value array maintains the order of the list element array of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list_data</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which is the original data.</a:t>
            </a:r>
          </a:p>
        </p:txBody>
      </p:sp>
      <p:grpSp>
        <p:nvGrpSpPr>
          <p:cNvPr id="15" name="그룹 14"/>
          <p:cNvGrpSpPr/>
          <p:nvPr/>
        </p:nvGrpSpPr>
        <p:grpSpPr>
          <a:xfrm>
            <a:off x="558924" y="4870276"/>
            <a:ext cx="8782050" cy="854249"/>
            <a:chOff x="557644" y="5085181"/>
            <a:chExt cx="8782050" cy="854249"/>
          </a:xfrm>
        </p:grpSpPr>
        <p:sp>
          <p:nvSpPr>
            <p:cNvPr id="16"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8542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1818" y="5444461"/>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index is represented by an integer-like </a:t>
              </a:r>
              <a:r>
                <a:rPr lang="en-US" altLang="ko-KR" sz="1300" dirty="0" err="1">
                  <a:solidFill>
                    <a:prstClr val="black">
                      <a:lumMod val="85000"/>
                      <a:lumOff val="15000"/>
                    </a:prstClr>
                  </a:solidFill>
                  <a:latin typeface="SamsungOne 400" panose="020B0503030303020204" pitchFamily="34" charset="0"/>
                </a:rPr>
                <a:t>RangeIndex</a:t>
              </a:r>
              <a:r>
                <a:rPr lang="en-US" altLang="ko-KR" sz="1300" dirty="0">
                  <a:solidFill>
                    <a:prstClr val="black">
                      <a:lumMod val="85000"/>
                      <a:lumOff val="15000"/>
                    </a:prstClr>
                  </a:solidFill>
                  <a:latin typeface="SamsungOne 400" panose="020B0503030303020204" pitchFamily="34" charset="0"/>
                </a:rPr>
                <a:t> object in the range of 0 and 4. At this time, the last value is not included.</a:t>
              </a:r>
            </a:p>
          </p:txBody>
        </p:sp>
      </p:grpSp>
      <p:grpSp>
        <p:nvGrpSpPr>
          <p:cNvPr id="2" name="그룹 1">
            <a:extLst>
              <a:ext uri="{FF2B5EF4-FFF2-40B4-BE49-F238E27FC236}">
                <a16:creationId xmlns:a16="http://schemas.microsoft.com/office/drawing/2014/main" id="{D260EEAB-883D-4B07-B2EA-7C37278B35D5}"/>
              </a:ext>
            </a:extLst>
          </p:cNvPr>
          <p:cNvGrpSpPr/>
          <p:nvPr/>
        </p:nvGrpSpPr>
        <p:grpSpPr>
          <a:xfrm>
            <a:off x="558924" y="1729383"/>
            <a:ext cx="8782050" cy="3041501"/>
            <a:chOff x="558924" y="1844823"/>
            <a:chExt cx="8782050" cy="3041501"/>
          </a:xfrm>
        </p:grpSpPr>
        <p:sp>
          <p:nvSpPr>
            <p:cNvPr id="14" name="모서리가 둥근 직사각형 4">
              <a:extLst>
                <a:ext uri="{FF2B5EF4-FFF2-40B4-BE49-F238E27FC236}">
                  <a16:creationId xmlns:a16="http://schemas.microsoft.com/office/drawing/2014/main" id="{A36E3BA1-83BF-4EF9-8B22-BB45DE7AA1FC}"/>
                </a:ext>
              </a:extLst>
            </p:cNvPr>
            <p:cNvSpPr/>
            <p:nvPr/>
          </p:nvSpPr>
          <p:spPr>
            <a:xfrm>
              <a:off x="558924" y="1844823"/>
              <a:ext cx="8782050" cy="30415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956" r="17479"/>
            <a:stretch/>
          </p:blipFill>
          <p:spPr>
            <a:xfrm>
              <a:off x="657225" y="1884661"/>
              <a:ext cx="8683749" cy="2973089"/>
            </a:xfrm>
            <a:prstGeom prst="rect">
              <a:avLst/>
            </a:prstGeom>
          </p:spPr>
        </p:pic>
        <p:sp>
          <p:nvSpPr>
            <p:cNvPr id="5" name="직사각형 4"/>
            <p:cNvSpPr/>
            <p:nvPr/>
          </p:nvSpPr>
          <p:spPr>
            <a:xfrm>
              <a:off x="2290054" y="4264025"/>
              <a:ext cx="7050919" cy="2603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직사각형 19">
            <a:extLst>
              <a:ext uri="{FF2B5EF4-FFF2-40B4-BE49-F238E27FC236}">
                <a16:creationId xmlns:a16="http://schemas.microsoft.com/office/drawing/2014/main" id="{0BA33733-C922-4804-BE0D-B957E6EB0A4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with List</a:t>
            </a:r>
          </a:p>
        </p:txBody>
      </p:sp>
    </p:spTree>
    <p:extLst>
      <p:ext uri="{BB962C8B-B14F-4D97-AF65-F5344CB8AC3E}">
        <p14:creationId xmlns:p14="http://schemas.microsoft.com/office/powerpoint/2010/main" val="5790169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aphicFrame>
        <p:nvGraphicFramePr>
          <p:cNvPr id="2" name="표 1"/>
          <p:cNvGraphicFramePr>
            <a:graphicFrameLocks noGrp="1"/>
          </p:cNvGraphicFramePr>
          <p:nvPr>
            <p:extLst>
              <p:ext uri="{D42A27DB-BD31-4B8C-83A1-F6EECF244321}">
                <p14:modId xmlns:p14="http://schemas.microsoft.com/office/powerpoint/2010/main" val="306323810"/>
              </p:ext>
            </p:extLst>
          </p:nvPr>
        </p:nvGraphicFramePr>
        <p:xfrm>
          <a:off x="711200" y="2564904"/>
          <a:ext cx="8524026" cy="1306716"/>
        </p:xfrm>
        <a:graphic>
          <a:graphicData uri="http://schemas.openxmlformats.org/drawingml/2006/table">
            <a:tbl>
              <a:tblPr firstRow="1" bandRow="1">
                <a:tableStyleId>{5940675A-B579-460E-94D1-54222C63F5DA}</a:tableStyleId>
              </a:tblPr>
              <a:tblGrid>
                <a:gridCol w="3376116">
                  <a:extLst>
                    <a:ext uri="{9D8B030D-6E8A-4147-A177-3AD203B41FA5}">
                      <a16:colId xmlns:a16="http://schemas.microsoft.com/office/drawing/2014/main" val="20000"/>
                    </a:ext>
                  </a:extLst>
                </a:gridCol>
                <a:gridCol w="2573955">
                  <a:extLst>
                    <a:ext uri="{9D8B030D-6E8A-4147-A177-3AD203B41FA5}">
                      <a16:colId xmlns:a16="http://schemas.microsoft.com/office/drawing/2014/main" val="20001"/>
                    </a:ext>
                  </a:extLst>
                </a:gridCol>
                <a:gridCol w="2573955">
                  <a:extLst>
                    <a:ext uri="{9D8B030D-6E8A-4147-A177-3AD203B41FA5}">
                      <a16:colId xmlns:a16="http://schemas.microsoft.com/office/drawing/2014/main" val="20002"/>
                    </a:ext>
                  </a:extLst>
                </a:gridCol>
              </a:tblGrid>
              <a:tr h="360000">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Sex</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5572">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Braund, Mr. Owen Harris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5572">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Allen, Mr. William Henry</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5572">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Bonnell, Miss. Elizabeth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58</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10" name="그룹 9">
            <a:extLst>
              <a:ext uri="{FF2B5EF4-FFF2-40B4-BE49-F238E27FC236}">
                <a16:creationId xmlns:a16="http://schemas.microsoft.com/office/drawing/2014/main" id="{889EDA32-70AA-433B-93D4-F67E25D1DAF0}"/>
              </a:ext>
            </a:extLst>
          </p:cNvPr>
          <p:cNvGrpSpPr/>
          <p:nvPr/>
        </p:nvGrpSpPr>
        <p:grpSpPr>
          <a:xfrm>
            <a:off x="580388" y="1413381"/>
            <a:ext cx="8887612" cy="1000067"/>
            <a:chOff x="580388" y="1413381"/>
            <a:chExt cx="8887612" cy="1000067"/>
          </a:xfrm>
        </p:grpSpPr>
        <p:sp>
          <p:nvSpPr>
            <p:cNvPr id="11" name="직사각형 10">
              <a:extLst>
                <a:ext uri="{FF2B5EF4-FFF2-40B4-BE49-F238E27FC236}">
                  <a16:creationId xmlns:a16="http://schemas.microsoft.com/office/drawing/2014/main" id="{789DE884-8522-45BE-8E95-AD8ACEEBE9E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DataFrame and Series</a:t>
              </a:r>
            </a:p>
          </p:txBody>
        </p:sp>
        <p:sp>
          <p:nvSpPr>
            <p:cNvPr id="12" name="Rectangle 12">
              <a:extLst>
                <a:ext uri="{FF2B5EF4-FFF2-40B4-BE49-F238E27FC236}">
                  <a16:creationId xmlns:a16="http://schemas.microsoft.com/office/drawing/2014/main" id="{D35CE3C6-1884-49DF-8B77-38C7F35F8BB8}"/>
                </a:ext>
              </a:extLst>
            </p:cNvPr>
            <p:cNvSpPr/>
            <p:nvPr/>
          </p:nvSpPr>
          <p:spPr>
            <a:xfrm>
              <a:off x="711201" y="1667877"/>
              <a:ext cx="8632824"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Let’s create a simple DataFrame and learn how to manipulate data in a series. This data stores passenger data of the Titanic. It is assumed that the passenger’s name (character), age (integer), and gender (male/female) data are known.</a:t>
              </a:r>
            </a:p>
          </p:txBody>
        </p:sp>
      </p:grpSp>
    </p:spTree>
    <p:extLst>
      <p:ext uri="{BB962C8B-B14F-4D97-AF65-F5344CB8AC3E}">
        <p14:creationId xmlns:p14="http://schemas.microsoft.com/office/powerpoint/2010/main" val="38884107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FBE8C915-A624-4798-9C40-ED60139DF3BF}"/>
              </a:ext>
            </a:extLst>
          </p:cNvPr>
          <p:cNvGrpSpPr/>
          <p:nvPr/>
        </p:nvGrpSpPr>
        <p:grpSpPr>
          <a:xfrm>
            <a:off x="561850" y="2276872"/>
            <a:ext cx="8782050" cy="2983547"/>
            <a:chOff x="561850" y="2316240"/>
            <a:chExt cx="8782050" cy="2983547"/>
          </a:xfrm>
        </p:grpSpPr>
        <p:sp>
          <p:nvSpPr>
            <p:cNvPr id="23" name="모서리가 둥근 직사각형 4">
              <a:extLst>
                <a:ext uri="{FF2B5EF4-FFF2-40B4-BE49-F238E27FC236}">
                  <a16:creationId xmlns:a16="http://schemas.microsoft.com/office/drawing/2014/main" id="{A36E3BA1-83BF-4EF9-8B22-BB45DE7AA1FC}"/>
                </a:ext>
              </a:extLst>
            </p:cNvPr>
            <p:cNvSpPr/>
            <p:nvPr/>
          </p:nvSpPr>
          <p:spPr>
            <a:xfrm>
              <a:off x="561850" y="2316240"/>
              <a:ext cx="8782050" cy="298354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4" name="그림 23"/>
            <p:cNvPicPr>
              <a:picLocks noChangeAspect="1"/>
            </p:cNvPicPr>
            <p:nvPr/>
          </p:nvPicPr>
          <p:blipFill rotWithShape="1">
            <a:blip r:embed="rId3"/>
            <a:srcRect l="1371" r="18019"/>
            <a:stretch/>
          </p:blipFill>
          <p:spPr>
            <a:xfrm>
              <a:off x="632351" y="2394943"/>
              <a:ext cx="8708624" cy="2795180"/>
            </a:xfrm>
            <a:prstGeom prst="rect">
              <a:avLst/>
            </a:prstGeom>
          </p:spPr>
        </p:pic>
      </p:grpSp>
      <p:grpSp>
        <p:nvGrpSpPr>
          <p:cNvPr id="11" name="그룹 10">
            <a:extLst>
              <a:ext uri="{FF2B5EF4-FFF2-40B4-BE49-F238E27FC236}">
                <a16:creationId xmlns:a16="http://schemas.microsoft.com/office/drawing/2014/main" id="{443AB677-8D87-469B-9E85-E29BA9AA0177}"/>
              </a:ext>
            </a:extLst>
          </p:cNvPr>
          <p:cNvGrpSpPr/>
          <p:nvPr/>
        </p:nvGrpSpPr>
        <p:grpSpPr>
          <a:xfrm>
            <a:off x="580388" y="1413381"/>
            <a:ext cx="8887612" cy="800012"/>
            <a:chOff x="580388" y="1413381"/>
            <a:chExt cx="8887612" cy="800012"/>
          </a:xfrm>
        </p:grpSpPr>
        <p:sp>
          <p:nvSpPr>
            <p:cNvPr id="12" name="직사각형 11">
              <a:extLst>
                <a:ext uri="{FF2B5EF4-FFF2-40B4-BE49-F238E27FC236}">
                  <a16:creationId xmlns:a16="http://schemas.microsoft.com/office/drawing/2014/main" id="{CBF44A0B-87AB-4A31-BC7A-48832AD1BA0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DataFrame and Series</a:t>
              </a:r>
            </a:p>
          </p:txBody>
        </p:sp>
        <p:sp>
          <p:nvSpPr>
            <p:cNvPr id="13" name="Rectangle 12">
              <a:extLst>
                <a:ext uri="{FF2B5EF4-FFF2-40B4-BE49-F238E27FC236}">
                  <a16:creationId xmlns:a16="http://schemas.microsoft.com/office/drawing/2014/main" id="{1921FDFC-D211-4E04-8222-3895D609DBE4}"/>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data frame must be used to view the proceeding table and store data in the form of a table. The column name, also called a column header, is mainly set as a key value of a dictionary.</a:t>
              </a:r>
            </a:p>
          </p:txBody>
        </p:sp>
      </p:grpSp>
    </p:spTree>
    <p:extLst>
      <p:ext uri="{BB962C8B-B14F-4D97-AF65-F5344CB8AC3E}">
        <p14:creationId xmlns:p14="http://schemas.microsoft.com/office/powerpoint/2010/main" val="40244360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0" name="Rectangle 12">
            <a:extLst>
              <a:ext uri="{FF2B5EF4-FFF2-40B4-BE49-F238E27FC236}">
                <a16:creationId xmlns:a16="http://schemas.microsoft.com/office/drawing/2014/main" id="{39C1D0BA-7152-4AAC-B295-DCCB5F8378F4}"/>
              </a:ext>
            </a:extLst>
          </p:cNvPr>
          <p:cNvSpPr/>
          <p:nvPr/>
        </p:nvSpPr>
        <p:spPr>
          <a:xfrm>
            <a:off x="711201" y="3429000"/>
            <a:ext cx="8632824" cy="165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DataFrame is a two-dimensional data structure that stores various data types (letters, integers, floating point values, categorical data, etc.) in a column.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Each table has three columns with a column label. The column labels are “Name,” “Age,” and “Sex.”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Column “Name” consists of text data in which each value is a string, column “Age” is a silver number, and column “Sex” is text data.</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similar to data table representation in a spreadsheet. </a:t>
            </a:r>
          </a:p>
        </p:txBody>
      </p:sp>
      <p:grpSp>
        <p:nvGrpSpPr>
          <p:cNvPr id="3" name="그룹 2">
            <a:extLst>
              <a:ext uri="{FF2B5EF4-FFF2-40B4-BE49-F238E27FC236}">
                <a16:creationId xmlns:a16="http://schemas.microsoft.com/office/drawing/2014/main" id="{165109C6-1FB2-4B4D-9385-5EBA49292361}"/>
              </a:ext>
            </a:extLst>
          </p:cNvPr>
          <p:cNvGrpSpPr/>
          <p:nvPr/>
        </p:nvGrpSpPr>
        <p:grpSpPr>
          <a:xfrm>
            <a:off x="3156276" y="1772816"/>
            <a:ext cx="3590272" cy="1542188"/>
            <a:chOff x="561850" y="1844824"/>
            <a:chExt cx="3590272" cy="1542188"/>
          </a:xfrm>
        </p:grpSpPr>
        <p:sp>
          <p:nvSpPr>
            <p:cNvPr id="21" name="모서리가 둥근 직사각형 4">
              <a:extLst>
                <a:ext uri="{FF2B5EF4-FFF2-40B4-BE49-F238E27FC236}">
                  <a16:creationId xmlns:a16="http://schemas.microsoft.com/office/drawing/2014/main" id="{A36E3BA1-83BF-4EF9-8B22-BB45DE7AA1FC}"/>
                </a:ext>
              </a:extLst>
            </p:cNvPr>
            <p:cNvSpPr/>
            <p:nvPr/>
          </p:nvSpPr>
          <p:spPr>
            <a:xfrm>
              <a:off x="561850" y="1844824"/>
              <a:ext cx="3590272" cy="15421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8271" t="47189" r="59113"/>
            <a:stretch/>
          </p:blipFill>
          <p:spPr>
            <a:xfrm>
              <a:off x="615820" y="1894980"/>
              <a:ext cx="3489872" cy="1462012"/>
            </a:xfrm>
            <a:prstGeom prst="rect">
              <a:avLst/>
            </a:prstGeom>
          </p:spPr>
        </p:pic>
      </p:grpSp>
      <p:sp>
        <p:nvSpPr>
          <p:cNvPr id="11" name="직사각형 10">
            <a:extLst>
              <a:ext uri="{FF2B5EF4-FFF2-40B4-BE49-F238E27FC236}">
                <a16:creationId xmlns:a16="http://schemas.microsoft.com/office/drawing/2014/main" id="{EFA44121-067D-4874-A935-978D4003729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DataFrame and Series</a:t>
            </a:r>
          </a:p>
        </p:txBody>
      </p:sp>
    </p:spTree>
    <p:extLst>
      <p:ext uri="{BB962C8B-B14F-4D97-AF65-F5344CB8AC3E}">
        <p14:creationId xmlns:p14="http://schemas.microsoft.com/office/powerpoint/2010/main" val="377392774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p:cNvGrpSpPr/>
          <p:nvPr/>
        </p:nvGrpSpPr>
        <p:grpSpPr>
          <a:xfrm>
            <a:off x="4014521" y="1844824"/>
            <a:ext cx="1656184" cy="2313548"/>
            <a:chOff x="4015308" y="2123564"/>
            <a:chExt cx="1656184" cy="2313548"/>
          </a:xfrm>
        </p:grpSpPr>
        <p:pic>
          <p:nvPicPr>
            <p:cNvPr id="3" name="그림 2"/>
            <p:cNvPicPr>
              <a:picLocks noChangeAspect="1"/>
            </p:cNvPicPr>
            <p:nvPr/>
          </p:nvPicPr>
          <p:blipFill rotWithShape="1">
            <a:blip r:embed="rId3"/>
            <a:srcRect l="12519" t="21649" r="12447" b="5404"/>
            <a:stretch/>
          </p:blipFill>
          <p:spPr>
            <a:xfrm>
              <a:off x="4015308" y="2492896"/>
              <a:ext cx="1656184" cy="1944216"/>
            </a:xfrm>
            <a:prstGeom prst="rect">
              <a:avLst/>
            </a:prstGeom>
          </p:spPr>
        </p:pic>
        <p:sp>
          <p:nvSpPr>
            <p:cNvPr id="9" name="TextBox 8"/>
            <p:cNvSpPr txBox="1"/>
            <p:nvPr/>
          </p:nvSpPr>
          <p:spPr>
            <a:xfrm>
              <a:off x="4433686" y="2123564"/>
              <a:ext cx="817853" cy="369332"/>
            </a:xfrm>
            <a:prstGeom prst="rect">
              <a:avLst/>
            </a:prstGeom>
            <a:noFill/>
          </p:spPr>
          <p:txBody>
            <a:bodyPr wrap="none" rtlCol="0">
              <a:spAutoFit/>
            </a:bodyPr>
            <a:lstStyle/>
            <a:p>
              <a:r>
                <a:rPr lang="en-US" altLang="ko-KR" dirty="0">
                  <a:latin typeface="SamsungOne 700" panose="020B0803030303020204" pitchFamily="34" charset="0"/>
                  <a:ea typeface="SamsungOne 700" panose="020B0803030303020204" pitchFamily="34" charset="0"/>
                </a:rPr>
                <a:t>Series</a:t>
              </a:r>
              <a:endParaRPr lang="ko-KR" altLang="en-US" dirty="0">
                <a:latin typeface="SamsungOne 700" panose="020B0803030303020204" pitchFamily="34" charset="0"/>
              </a:endParaRPr>
            </a:p>
          </p:txBody>
        </p:sp>
      </p:grpSp>
      <p:sp>
        <p:nvSpPr>
          <p:cNvPr id="11" name="직사각형 10">
            <a:extLst>
              <a:ext uri="{FF2B5EF4-FFF2-40B4-BE49-F238E27FC236}">
                <a16:creationId xmlns:a16="http://schemas.microsoft.com/office/drawing/2014/main" id="{17188EA8-BFB2-4655-87A0-3865E97A9B6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column of a DataFrame is a series.</a:t>
            </a:r>
          </a:p>
        </p:txBody>
      </p:sp>
    </p:spTree>
    <p:extLst>
      <p:ext uri="{BB962C8B-B14F-4D97-AF65-F5344CB8AC3E}">
        <p14:creationId xmlns:p14="http://schemas.microsoft.com/office/powerpoint/2010/main" val="30655676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295497"/>
            <a:ext cx="8782050" cy="900030"/>
            <a:chOff x="557644" y="5085181"/>
            <a:chExt cx="8782050" cy="900030"/>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90003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7"/>
              <a:ext cx="810477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If you are familiar with dictionary, selecting a single column is very similar to selecting a dictionary value based on a key. </a:t>
              </a:r>
            </a:p>
          </p:txBody>
        </p:sp>
      </p:grpSp>
      <p:grpSp>
        <p:nvGrpSpPr>
          <p:cNvPr id="2" name="그룹 1">
            <a:extLst>
              <a:ext uri="{FF2B5EF4-FFF2-40B4-BE49-F238E27FC236}">
                <a16:creationId xmlns:a16="http://schemas.microsoft.com/office/drawing/2014/main" id="{8DD53FE7-A925-4211-883D-13D046D794E3}"/>
              </a:ext>
            </a:extLst>
          </p:cNvPr>
          <p:cNvGrpSpPr/>
          <p:nvPr/>
        </p:nvGrpSpPr>
        <p:grpSpPr>
          <a:xfrm>
            <a:off x="561850" y="2060848"/>
            <a:ext cx="8782050" cy="3129609"/>
            <a:chOff x="561850" y="2132855"/>
            <a:chExt cx="8782050" cy="312960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61850" y="2132855"/>
              <a:ext cx="8782050" cy="312960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2133" r="16722"/>
            <a:stretch/>
          </p:blipFill>
          <p:spPr>
            <a:xfrm>
              <a:off x="642539" y="2255948"/>
              <a:ext cx="8698435" cy="2877156"/>
            </a:xfrm>
            <a:prstGeom prst="rect">
              <a:avLst/>
            </a:prstGeom>
          </p:spPr>
        </p:pic>
      </p:grpSp>
      <p:grpSp>
        <p:nvGrpSpPr>
          <p:cNvPr id="3" name="그룹 2">
            <a:extLst>
              <a:ext uri="{FF2B5EF4-FFF2-40B4-BE49-F238E27FC236}">
                <a16:creationId xmlns:a16="http://schemas.microsoft.com/office/drawing/2014/main" id="{EB3BB8CE-FD0F-4847-B013-B8F21424F34E}"/>
              </a:ext>
            </a:extLst>
          </p:cNvPr>
          <p:cNvGrpSpPr/>
          <p:nvPr/>
        </p:nvGrpSpPr>
        <p:grpSpPr>
          <a:xfrm>
            <a:off x="580388" y="1413381"/>
            <a:ext cx="8887612" cy="599957"/>
            <a:chOff x="580388" y="1413381"/>
            <a:chExt cx="8887612" cy="599957"/>
          </a:xfrm>
        </p:grpSpPr>
        <p:sp>
          <p:nvSpPr>
            <p:cNvPr id="17" name="직사각형 16">
              <a:extLst>
                <a:ext uri="{FF2B5EF4-FFF2-40B4-BE49-F238E27FC236}">
                  <a16:creationId xmlns:a16="http://schemas.microsoft.com/office/drawing/2014/main" id="{0F19C292-5329-4508-AAC8-F2A1269491D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column of a DataFrame is a series.</a:t>
              </a:r>
            </a:p>
          </p:txBody>
        </p:sp>
        <p:sp>
          <p:nvSpPr>
            <p:cNvPr id="18" name="Rectangle 12">
              <a:extLst>
                <a:ext uri="{FF2B5EF4-FFF2-40B4-BE49-F238E27FC236}">
                  <a16:creationId xmlns:a16="http://schemas.microsoft.com/office/drawing/2014/main" id="{09110AD8-D310-4386-ADDC-F78C6EA1D7B6}"/>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are only interested in the “Age” column and want to pull out the column, use the dictionary key value.</a:t>
              </a:r>
            </a:p>
          </p:txBody>
        </p:sp>
      </p:grpSp>
    </p:spTree>
    <p:extLst>
      <p:ext uri="{BB962C8B-B14F-4D97-AF65-F5344CB8AC3E}">
        <p14:creationId xmlns:p14="http://schemas.microsoft.com/office/powerpoint/2010/main" val="400982113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140968"/>
            <a:ext cx="8782050" cy="725791"/>
            <a:chOff x="557644" y="5085181"/>
            <a:chExt cx="8782050" cy="725791"/>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is possible to index a series.</a:t>
              </a:r>
            </a:p>
          </p:txBody>
        </p:sp>
      </p:grpSp>
      <p:grpSp>
        <p:nvGrpSpPr>
          <p:cNvPr id="3" name="그룹 2">
            <a:extLst>
              <a:ext uri="{FF2B5EF4-FFF2-40B4-BE49-F238E27FC236}">
                <a16:creationId xmlns:a16="http://schemas.microsoft.com/office/drawing/2014/main" id="{E6EDBF54-D38B-47CC-8F32-8B9C321E7DF1}"/>
              </a:ext>
            </a:extLst>
          </p:cNvPr>
          <p:cNvGrpSpPr/>
          <p:nvPr/>
        </p:nvGrpSpPr>
        <p:grpSpPr>
          <a:xfrm>
            <a:off x="561850" y="2132856"/>
            <a:ext cx="8782050" cy="929521"/>
            <a:chOff x="561850" y="2132856"/>
            <a:chExt cx="8782050" cy="92952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61850" y="2132856"/>
              <a:ext cx="8782050" cy="92952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20471"/>
            <a:stretch/>
          </p:blipFill>
          <p:spPr>
            <a:xfrm>
              <a:off x="617895" y="2186292"/>
              <a:ext cx="8723079" cy="725790"/>
            </a:xfrm>
            <a:prstGeom prst="rect">
              <a:avLst/>
            </a:prstGeom>
          </p:spPr>
        </p:pic>
      </p:grpSp>
      <p:grpSp>
        <p:nvGrpSpPr>
          <p:cNvPr id="18" name="그룹 17">
            <a:extLst>
              <a:ext uri="{FF2B5EF4-FFF2-40B4-BE49-F238E27FC236}">
                <a16:creationId xmlns:a16="http://schemas.microsoft.com/office/drawing/2014/main" id="{EAE71F75-0CBB-4FE2-87DB-0000ABD80F2E}"/>
              </a:ext>
            </a:extLst>
          </p:cNvPr>
          <p:cNvGrpSpPr/>
          <p:nvPr/>
        </p:nvGrpSpPr>
        <p:grpSpPr>
          <a:xfrm>
            <a:off x="580388" y="1413381"/>
            <a:ext cx="8887612" cy="599957"/>
            <a:chOff x="580388" y="1413381"/>
            <a:chExt cx="8887612" cy="599957"/>
          </a:xfrm>
        </p:grpSpPr>
        <p:sp>
          <p:nvSpPr>
            <p:cNvPr id="19" name="직사각형 18">
              <a:extLst>
                <a:ext uri="{FF2B5EF4-FFF2-40B4-BE49-F238E27FC236}">
                  <a16:creationId xmlns:a16="http://schemas.microsoft.com/office/drawing/2014/main" id="{2684E1CF-CC22-406F-A50C-73F9645C4E1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column of a DataFrame is a series.</a:t>
              </a:r>
            </a:p>
          </p:txBody>
        </p:sp>
        <p:sp>
          <p:nvSpPr>
            <p:cNvPr id="20" name="Rectangle 12">
              <a:extLst>
                <a:ext uri="{FF2B5EF4-FFF2-40B4-BE49-F238E27FC236}">
                  <a16:creationId xmlns:a16="http://schemas.microsoft.com/office/drawing/2014/main" id="{415A5FBF-497A-4130-9688-2764D3EF377A}"/>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are only interested in the “Age” column and want to pull out the column, use the dictionary key value.</a:t>
              </a:r>
            </a:p>
          </p:txBody>
        </p:sp>
      </p:grpSp>
    </p:spTree>
    <p:extLst>
      <p:ext uri="{BB962C8B-B14F-4D97-AF65-F5344CB8AC3E}">
        <p14:creationId xmlns:p14="http://schemas.microsoft.com/office/powerpoint/2010/main" val="10848754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249531"/>
            <a:ext cx="8782050" cy="725791"/>
            <a:chOff x="557644" y="5085181"/>
            <a:chExt cx="8782050" cy="725791"/>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Since the column name is not specified, it appears as a </a:t>
              </a:r>
              <a:r>
                <a:rPr lang="en-US" altLang="ko-KR" sz="1300" dirty="0" err="1">
                  <a:solidFill>
                    <a:prstClr val="black">
                      <a:lumMod val="85000"/>
                      <a:lumOff val="15000"/>
                    </a:prstClr>
                  </a:solidFill>
                  <a:latin typeface="SamsungOne 400" panose="020B0503030303020204" pitchFamily="34" charset="0"/>
                </a:rPr>
                <a:t>RangeIndex</a:t>
              </a:r>
              <a:r>
                <a:rPr lang="en-US" altLang="ko-KR" sz="1300" dirty="0">
                  <a:solidFill>
                    <a:prstClr val="black">
                      <a:lumMod val="85000"/>
                      <a:lumOff val="15000"/>
                    </a:prstClr>
                  </a:solidFill>
                  <a:latin typeface="SamsungOne 400" panose="020B0503030303020204" pitchFamily="34" charset="0"/>
                </a:rPr>
                <a:t> object.</a:t>
              </a:r>
            </a:p>
          </p:txBody>
        </p:sp>
      </p:grpSp>
      <p:grpSp>
        <p:nvGrpSpPr>
          <p:cNvPr id="5" name="그룹 4">
            <a:extLst>
              <a:ext uri="{FF2B5EF4-FFF2-40B4-BE49-F238E27FC236}">
                <a16:creationId xmlns:a16="http://schemas.microsoft.com/office/drawing/2014/main" id="{9DBED7F0-0431-4134-9F46-0EAA0A62BE44}"/>
              </a:ext>
            </a:extLst>
          </p:cNvPr>
          <p:cNvGrpSpPr/>
          <p:nvPr/>
        </p:nvGrpSpPr>
        <p:grpSpPr>
          <a:xfrm>
            <a:off x="561850" y="2060848"/>
            <a:ext cx="8782050" cy="3092287"/>
            <a:chOff x="561850" y="2132855"/>
            <a:chExt cx="8782050" cy="309228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61850" y="2132855"/>
              <a:ext cx="8782050" cy="30922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769" r="16830"/>
            <a:stretch/>
          </p:blipFill>
          <p:spPr>
            <a:xfrm>
              <a:off x="681133" y="2197196"/>
              <a:ext cx="8659841" cy="2910720"/>
            </a:xfrm>
            <a:prstGeom prst="rect">
              <a:avLst/>
            </a:prstGeom>
          </p:spPr>
        </p:pic>
      </p:grpSp>
      <p:grpSp>
        <p:nvGrpSpPr>
          <p:cNvPr id="18" name="그룹 17">
            <a:extLst>
              <a:ext uri="{FF2B5EF4-FFF2-40B4-BE49-F238E27FC236}">
                <a16:creationId xmlns:a16="http://schemas.microsoft.com/office/drawing/2014/main" id="{53ACC035-41AC-43A7-BE8B-F00EE764CD6A}"/>
              </a:ext>
            </a:extLst>
          </p:cNvPr>
          <p:cNvGrpSpPr/>
          <p:nvPr/>
        </p:nvGrpSpPr>
        <p:grpSpPr>
          <a:xfrm>
            <a:off x="580388" y="1413381"/>
            <a:ext cx="8887612" cy="599957"/>
            <a:chOff x="580388" y="1413381"/>
            <a:chExt cx="8887612" cy="599957"/>
          </a:xfrm>
        </p:grpSpPr>
        <p:sp>
          <p:nvSpPr>
            <p:cNvPr id="19" name="직사각형 18">
              <a:extLst>
                <a:ext uri="{FF2B5EF4-FFF2-40B4-BE49-F238E27FC236}">
                  <a16:creationId xmlns:a16="http://schemas.microsoft.com/office/drawing/2014/main" id="{5BEBBD5E-76E0-49CF-9AF3-1DD78A25C92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column of a DataFrame is a series.</a:t>
              </a:r>
            </a:p>
          </p:txBody>
        </p:sp>
        <p:sp>
          <p:nvSpPr>
            <p:cNvPr id="21" name="Rectangle 12">
              <a:extLst>
                <a:ext uri="{FF2B5EF4-FFF2-40B4-BE49-F238E27FC236}">
                  <a16:creationId xmlns:a16="http://schemas.microsoft.com/office/drawing/2014/main" id="{64359276-09DD-4FCD-AD38-83472F6914DE}"/>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Let’s make a DataFrame into a list of list types and organize it in a two-dimensional form. </a:t>
              </a:r>
            </a:p>
          </p:txBody>
        </p:sp>
      </p:grpSp>
    </p:spTree>
    <p:extLst>
      <p:ext uri="{BB962C8B-B14F-4D97-AF65-F5344CB8AC3E}">
        <p14:creationId xmlns:p14="http://schemas.microsoft.com/office/powerpoint/2010/main" val="62873100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931081"/>
            <a:ext cx="8782050" cy="725791"/>
            <a:chOff x="557644" y="5085181"/>
            <a:chExt cx="8782050" cy="725791"/>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57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Note that string data types in the series are recognized in the form of objects.</a:t>
              </a:r>
            </a:p>
          </p:txBody>
        </p:sp>
      </p:grpSp>
      <p:sp>
        <p:nvSpPr>
          <p:cNvPr id="17" name="직사각형 16">
            <a:extLst>
              <a:ext uri="{FF2B5EF4-FFF2-40B4-BE49-F238E27FC236}">
                <a16:creationId xmlns:a16="http://schemas.microsoft.com/office/drawing/2014/main" id="{E8A1509D-68EB-4C8C-98CF-4A02CBBE590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by designating index</a:t>
            </a:r>
          </a:p>
        </p:txBody>
      </p:sp>
      <p:grpSp>
        <p:nvGrpSpPr>
          <p:cNvPr id="29" name="그룹 28">
            <a:extLst>
              <a:ext uri="{FF2B5EF4-FFF2-40B4-BE49-F238E27FC236}">
                <a16:creationId xmlns:a16="http://schemas.microsoft.com/office/drawing/2014/main" id="{09ACA36A-FA07-F550-BCFD-0EAE700C825B}"/>
              </a:ext>
            </a:extLst>
          </p:cNvPr>
          <p:cNvGrpSpPr/>
          <p:nvPr/>
        </p:nvGrpSpPr>
        <p:grpSpPr>
          <a:xfrm>
            <a:off x="558924" y="1700808"/>
            <a:ext cx="8782051" cy="2139672"/>
            <a:chOff x="558924" y="1700808"/>
            <a:chExt cx="8782051" cy="2139672"/>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1700808"/>
              <a:ext cx="8782050" cy="213967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D2679701-2747-F9FD-82DE-F54DC0BE42C2}"/>
                </a:ext>
              </a:extLst>
            </p:cNvPr>
            <p:cNvPicPr>
              <a:picLocks noChangeAspect="1"/>
            </p:cNvPicPr>
            <p:nvPr/>
          </p:nvPicPr>
          <p:blipFill rotWithShape="1">
            <a:blip r:embed="rId5"/>
            <a:srcRect r="12014"/>
            <a:stretch/>
          </p:blipFill>
          <p:spPr>
            <a:xfrm>
              <a:off x="627865" y="1791409"/>
              <a:ext cx="8713110" cy="1979520"/>
            </a:xfrm>
            <a:prstGeom prst="rect">
              <a:avLst/>
            </a:prstGeom>
          </p:spPr>
        </p:pic>
        <p:sp>
          <p:nvSpPr>
            <p:cNvPr id="24" name="직사각형 23">
              <a:extLst>
                <a:ext uri="{FF2B5EF4-FFF2-40B4-BE49-F238E27FC236}">
                  <a16:creationId xmlns:a16="http://schemas.microsoft.com/office/drawing/2014/main" id="{831AB6C6-0A7B-23A9-E080-DA7E9EBC6CDC}"/>
                </a:ext>
              </a:extLst>
            </p:cNvPr>
            <p:cNvSpPr/>
            <p:nvPr/>
          </p:nvSpPr>
          <p:spPr>
            <a:xfrm>
              <a:off x="1016763" y="1906321"/>
              <a:ext cx="161797"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28</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25" name="직사각형 24">
              <a:extLst>
                <a:ext uri="{FF2B5EF4-FFF2-40B4-BE49-F238E27FC236}">
                  <a16:creationId xmlns:a16="http://schemas.microsoft.com/office/drawing/2014/main" id="{3BE6C905-3B51-FB18-0050-EA2DFFD9632B}"/>
                </a:ext>
              </a:extLst>
            </p:cNvPr>
            <p:cNvSpPr/>
            <p:nvPr/>
          </p:nvSpPr>
          <p:spPr>
            <a:xfrm>
              <a:off x="1026491" y="2381402"/>
              <a:ext cx="161797"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29</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26" name="직사각형 25">
              <a:extLst>
                <a:ext uri="{FF2B5EF4-FFF2-40B4-BE49-F238E27FC236}">
                  <a16:creationId xmlns:a16="http://schemas.microsoft.com/office/drawing/2014/main" id="{CDBDD7D4-BCA3-321F-A037-166CAAD9B0B3}"/>
                </a:ext>
              </a:extLst>
            </p:cNvPr>
            <p:cNvSpPr/>
            <p:nvPr/>
          </p:nvSpPr>
          <p:spPr>
            <a:xfrm>
              <a:off x="1026491" y="2720495"/>
              <a:ext cx="161797"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92C36"/>
                  </a:solidFill>
                  <a:latin typeface="D2Coding" panose="020B0609020101020101" pitchFamily="49" charset="-127"/>
                  <a:ea typeface="D2Coding" panose="020B0609020101020101" pitchFamily="49" charset="-127"/>
                </a:rPr>
                <a:t>29</a:t>
              </a:r>
              <a:endParaRPr lang="ko-KR" altLang="en-US" sz="1050" dirty="0">
                <a:solidFill>
                  <a:srgbClr val="D92C36"/>
                </a:solidFill>
                <a:latin typeface="D2Coding" panose="020B0609020101020101" pitchFamily="49" charset="-127"/>
                <a:ea typeface="D2Coding" panose="020B0609020101020101" pitchFamily="49" charset="-127"/>
              </a:endParaRPr>
            </a:p>
          </p:txBody>
        </p:sp>
        <p:sp>
          <p:nvSpPr>
            <p:cNvPr id="27" name="직사각형 26">
              <a:extLst>
                <a:ext uri="{FF2B5EF4-FFF2-40B4-BE49-F238E27FC236}">
                  <a16:creationId xmlns:a16="http://schemas.microsoft.com/office/drawing/2014/main" id="{C15164F8-589B-9EAF-CC0D-58BC46DA708A}"/>
                </a:ext>
              </a:extLst>
            </p:cNvPr>
            <p:cNvSpPr/>
            <p:nvPr/>
          </p:nvSpPr>
          <p:spPr>
            <a:xfrm>
              <a:off x="1026490" y="3204657"/>
              <a:ext cx="161797"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30</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28" name="직사각형 27">
              <a:extLst>
                <a:ext uri="{FF2B5EF4-FFF2-40B4-BE49-F238E27FC236}">
                  <a16:creationId xmlns:a16="http://schemas.microsoft.com/office/drawing/2014/main" id="{6DA820CF-D817-0A1D-51DA-C954024A3CE4}"/>
                </a:ext>
              </a:extLst>
            </p:cNvPr>
            <p:cNvSpPr/>
            <p:nvPr/>
          </p:nvSpPr>
          <p:spPr>
            <a:xfrm>
              <a:off x="1026490" y="3539013"/>
              <a:ext cx="161797"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92C36"/>
                  </a:solidFill>
                  <a:latin typeface="D2Coding" panose="020B0609020101020101" pitchFamily="49" charset="-127"/>
                  <a:ea typeface="D2Coding" panose="020B0609020101020101" pitchFamily="49" charset="-127"/>
                </a:rPr>
                <a:t>30</a:t>
              </a:r>
              <a:endParaRPr lang="ko-KR" altLang="en-US" sz="1050" dirty="0">
                <a:solidFill>
                  <a:srgbClr val="D92C36"/>
                </a:solidFill>
                <a:latin typeface="D2Coding" panose="020B0609020101020101" pitchFamily="49" charset="-127"/>
                <a:ea typeface="D2Coding" panose="020B0609020101020101" pitchFamily="49" charset="-127"/>
              </a:endParaRPr>
            </a:p>
          </p:txBody>
        </p:sp>
      </p:grpSp>
    </p:spTree>
    <p:extLst>
      <p:ext uri="{BB962C8B-B14F-4D97-AF65-F5344CB8AC3E}">
        <p14:creationId xmlns:p14="http://schemas.microsoft.com/office/powerpoint/2010/main" val="5549223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4566122"/>
            <a:ext cx="8782050" cy="783462"/>
            <a:chOff x="557644" y="5085181"/>
            <a:chExt cx="8782050" cy="783462"/>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8346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Designate the index name with the name attribute.</a:t>
              </a:r>
            </a:p>
          </p:txBody>
        </p:sp>
      </p:grpSp>
      <p:grpSp>
        <p:nvGrpSpPr>
          <p:cNvPr id="4" name="그룹 3">
            <a:extLst>
              <a:ext uri="{FF2B5EF4-FFF2-40B4-BE49-F238E27FC236}">
                <a16:creationId xmlns:a16="http://schemas.microsoft.com/office/drawing/2014/main" id="{A0957F20-5CE7-4918-90E0-079E77B87B1F}"/>
              </a:ext>
            </a:extLst>
          </p:cNvPr>
          <p:cNvGrpSpPr/>
          <p:nvPr/>
        </p:nvGrpSpPr>
        <p:grpSpPr>
          <a:xfrm>
            <a:off x="558924" y="1751720"/>
            <a:ext cx="8782050" cy="506490"/>
            <a:chOff x="558924" y="1844825"/>
            <a:chExt cx="8782050" cy="506490"/>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1844825"/>
              <a:ext cx="8782050" cy="50649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2153" t="5384" r="18140"/>
            <a:stretch/>
          </p:blipFill>
          <p:spPr>
            <a:xfrm>
              <a:off x="615820" y="1907500"/>
              <a:ext cx="8725154" cy="415821"/>
            </a:xfrm>
            <a:prstGeom prst="rect">
              <a:avLst/>
            </a:prstGeom>
          </p:spPr>
        </p:pic>
      </p:grpSp>
      <p:sp>
        <p:nvSpPr>
          <p:cNvPr id="23" name="Rectangle 12">
            <a:extLst>
              <a:ext uri="{FF2B5EF4-FFF2-40B4-BE49-F238E27FC236}">
                <a16:creationId xmlns:a16="http://schemas.microsoft.com/office/drawing/2014/main" id="{39C1D0BA-7152-4AAC-B295-DCCB5F8378F4}"/>
              </a:ext>
            </a:extLst>
          </p:cNvPr>
          <p:cNvSpPr/>
          <p:nvPr/>
        </p:nvSpPr>
        <p:spPr>
          <a:xfrm>
            <a:off x="711201" y="2381105"/>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attributes of the series are as follows.</a:t>
            </a:r>
          </a:p>
        </p:txBody>
      </p:sp>
      <p:grpSp>
        <p:nvGrpSpPr>
          <p:cNvPr id="5" name="그룹 4">
            <a:extLst>
              <a:ext uri="{FF2B5EF4-FFF2-40B4-BE49-F238E27FC236}">
                <a16:creationId xmlns:a16="http://schemas.microsoft.com/office/drawing/2014/main" id="{8CA0C5C7-9011-46B7-94E5-6B27448985FE}"/>
              </a:ext>
            </a:extLst>
          </p:cNvPr>
          <p:cNvGrpSpPr/>
          <p:nvPr/>
        </p:nvGrpSpPr>
        <p:grpSpPr>
          <a:xfrm>
            <a:off x="558924" y="2752935"/>
            <a:ext cx="8782050" cy="1738751"/>
            <a:chOff x="558924" y="2975339"/>
            <a:chExt cx="8782050" cy="1738751"/>
          </a:xfrm>
        </p:grpSpPr>
        <p:sp>
          <p:nvSpPr>
            <p:cNvPr id="24" name="모서리가 둥근 직사각형 4">
              <a:extLst>
                <a:ext uri="{FF2B5EF4-FFF2-40B4-BE49-F238E27FC236}">
                  <a16:creationId xmlns:a16="http://schemas.microsoft.com/office/drawing/2014/main" id="{A36E3BA1-83BF-4EF9-8B22-BB45DE7AA1FC}"/>
                </a:ext>
              </a:extLst>
            </p:cNvPr>
            <p:cNvSpPr/>
            <p:nvPr/>
          </p:nvSpPr>
          <p:spPr>
            <a:xfrm>
              <a:off x="558924" y="2975339"/>
              <a:ext cx="8782050" cy="173875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5"/>
            <a:srcRect l="2013" r="17246"/>
            <a:stretch/>
          </p:blipFill>
          <p:spPr>
            <a:xfrm>
              <a:off x="653143" y="3053318"/>
              <a:ext cx="8687831" cy="1583995"/>
            </a:xfrm>
            <a:prstGeom prst="rect">
              <a:avLst/>
            </a:prstGeom>
          </p:spPr>
        </p:pic>
      </p:grpSp>
      <p:sp>
        <p:nvSpPr>
          <p:cNvPr id="19" name="직사각형 18">
            <a:extLst>
              <a:ext uri="{FF2B5EF4-FFF2-40B4-BE49-F238E27FC236}">
                <a16:creationId xmlns:a16="http://schemas.microsoft.com/office/drawing/2014/main" id="{0435F770-581D-4B17-B9A0-8386C3CB1F9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6"/>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by designating index</a:t>
            </a:r>
          </a:p>
        </p:txBody>
      </p:sp>
    </p:spTree>
    <p:extLst>
      <p:ext uri="{BB962C8B-B14F-4D97-AF65-F5344CB8AC3E}">
        <p14:creationId xmlns:p14="http://schemas.microsoft.com/office/powerpoint/2010/main" val="37991568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2E2042AA-EF4A-4D66-9194-AEF4C813B839}"/>
              </a:ext>
            </a:extLst>
          </p:cNvPr>
          <p:cNvGrpSpPr/>
          <p:nvPr/>
        </p:nvGrpSpPr>
        <p:grpSpPr>
          <a:xfrm>
            <a:off x="558924" y="1763485"/>
            <a:ext cx="8782050" cy="2381943"/>
            <a:chOff x="558924" y="1844823"/>
            <a:chExt cx="8782050" cy="2381943"/>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1844823"/>
              <a:ext cx="8782050" cy="238194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l="1805" r="19883"/>
            <a:stretch/>
          </p:blipFill>
          <p:spPr>
            <a:xfrm>
              <a:off x="662473" y="1911558"/>
              <a:ext cx="8678501" cy="2175250"/>
            </a:xfrm>
            <a:prstGeom prst="rect">
              <a:avLst/>
            </a:prstGeom>
          </p:spPr>
        </p:pic>
      </p:grpSp>
      <p:sp>
        <p:nvSpPr>
          <p:cNvPr id="10" name="직사각형 9">
            <a:extLst>
              <a:ext uri="{FF2B5EF4-FFF2-40B4-BE49-F238E27FC236}">
                <a16:creationId xmlns:a16="http://schemas.microsoft.com/office/drawing/2014/main" id="{A41BD966-784E-4F52-B6BA-C1702CB9D15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by designating index</a:t>
            </a:r>
          </a:p>
        </p:txBody>
      </p:sp>
    </p:spTree>
    <p:extLst>
      <p:ext uri="{BB962C8B-B14F-4D97-AF65-F5344CB8AC3E}">
        <p14:creationId xmlns:p14="http://schemas.microsoft.com/office/powerpoint/2010/main" val="408838648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5FFAD70B-508B-45A8-B19D-701C87EE3BAC}"/>
              </a:ext>
            </a:extLst>
          </p:cNvPr>
          <p:cNvGrpSpPr/>
          <p:nvPr/>
        </p:nvGrpSpPr>
        <p:grpSpPr>
          <a:xfrm>
            <a:off x="558924" y="2042186"/>
            <a:ext cx="8782050" cy="2525991"/>
            <a:chOff x="558924" y="2127144"/>
            <a:chExt cx="8782050" cy="2525991"/>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4"/>
              <a:ext cx="8782050" cy="25259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81" r="17562"/>
            <a:stretch/>
          </p:blipFill>
          <p:spPr>
            <a:xfrm>
              <a:off x="643813" y="2151530"/>
              <a:ext cx="8697161" cy="2439130"/>
            </a:xfrm>
            <a:prstGeom prst="rect">
              <a:avLst/>
            </a:prstGeom>
          </p:spPr>
        </p:pic>
      </p:grpSp>
      <p:grpSp>
        <p:nvGrpSpPr>
          <p:cNvPr id="11" name="그룹 10">
            <a:extLst>
              <a:ext uri="{FF2B5EF4-FFF2-40B4-BE49-F238E27FC236}">
                <a16:creationId xmlns:a16="http://schemas.microsoft.com/office/drawing/2014/main" id="{910E99E4-BD09-4809-B0EE-A15AED45468F}"/>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A8E5A278-C702-4A2C-8571-0F8D99AECF3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Creating a series by designating index</a:t>
              </a:r>
            </a:p>
          </p:txBody>
        </p:sp>
        <p:sp>
          <p:nvSpPr>
            <p:cNvPr id="13" name="Rectangle 12">
              <a:extLst>
                <a:ext uri="{FF2B5EF4-FFF2-40B4-BE49-F238E27FC236}">
                  <a16:creationId xmlns:a16="http://schemas.microsoft.com/office/drawing/2014/main" id="{2DCF86CD-6AF1-49CB-86D8-EF6476AFFA6C}"/>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methods of the series are as follows.</a:t>
              </a:r>
            </a:p>
          </p:txBody>
        </p:sp>
      </p:grpSp>
    </p:spTree>
    <p:extLst>
      <p:ext uri="{BB962C8B-B14F-4D97-AF65-F5344CB8AC3E}">
        <p14:creationId xmlns:p14="http://schemas.microsoft.com/office/powerpoint/2010/main" val="269841535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B80A2043-4713-47C8-89CE-0EE6A154BBC4}"/>
              </a:ext>
            </a:extLst>
          </p:cNvPr>
          <p:cNvGrpSpPr/>
          <p:nvPr/>
        </p:nvGrpSpPr>
        <p:grpSpPr>
          <a:xfrm>
            <a:off x="558924" y="1738132"/>
            <a:ext cx="8782050" cy="2861861"/>
            <a:chOff x="558924" y="1844824"/>
            <a:chExt cx="8782050" cy="2861861"/>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15178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1" name="그룹 10"/>
            <p:cNvGrpSpPr/>
            <p:nvPr/>
          </p:nvGrpSpPr>
          <p:grpSpPr>
            <a:xfrm>
              <a:off x="558924" y="3443337"/>
              <a:ext cx="8782050" cy="1263348"/>
              <a:chOff x="557644" y="5085181"/>
              <a:chExt cx="8782050" cy="1263348"/>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2633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Only non-duplicate values are returned.	</a:t>
                </a:r>
              </a:p>
            </p:txBody>
          </p:sp>
        </p:gr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12276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18992" y="410003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443492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This is the number of values that are not duplicates.</a:t>
              </a:r>
            </a:p>
          </p:txBody>
        </p:sp>
        <p:pic>
          <p:nvPicPr>
            <p:cNvPr id="2" name="그림 1"/>
            <p:cNvPicPr>
              <a:picLocks noChangeAspect="1"/>
            </p:cNvPicPr>
            <p:nvPr/>
          </p:nvPicPr>
          <p:blipFill rotWithShape="1">
            <a:blip r:embed="rId4"/>
            <a:srcRect l="1675" r="17174"/>
            <a:stretch/>
          </p:blipFill>
          <p:spPr>
            <a:xfrm>
              <a:off x="625152" y="1883743"/>
              <a:ext cx="8715822" cy="1397426"/>
            </a:xfrm>
            <a:prstGeom prst="rect">
              <a:avLst/>
            </a:prstGeom>
          </p:spPr>
        </p:pic>
      </p:grpSp>
      <p:sp>
        <p:nvSpPr>
          <p:cNvPr id="20" name="직사각형 19">
            <a:extLst>
              <a:ext uri="{FF2B5EF4-FFF2-40B4-BE49-F238E27FC236}">
                <a16:creationId xmlns:a16="http://schemas.microsoft.com/office/drawing/2014/main" id="{87C5611E-16EA-4A29-AD30-A307681730C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Tree>
    <p:extLst>
      <p:ext uri="{BB962C8B-B14F-4D97-AF65-F5344CB8AC3E}">
        <p14:creationId xmlns:p14="http://schemas.microsoft.com/office/powerpoint/2010/main" val="339211443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BA2D0569-7330-4690-B69B-D604C712FDBF}"/>
              </a:ext>
            </a:extLst>
          </p:cNvPr>
          <p:cNvGrpSpPr/>
          <p:nvPr/>
        </p:nvGrpSpPr>
        <p:grpSpPr>
          <a:xfrm>
            <a:off x="558924" y="2055137"/>
            <a:ext cx="8782050" cy="2309967"/>
            <a:chOff x="558924" y="2127144"/>
            <a:chExt cx="8782050" cy="2309967"/>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4"/>
              <a:ext cx="8782050" cy="230996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486" r="17286"/>
            <a:stretch/>
          </p:blipFill>
          <p:spPr>
            <a:xfrm>
              <a:off x="653141" y="2205007"/>
              <a:ext cx="8687833" cy="2194780"/>
            </a:xfrm>
            <a:prstGeom prst="rect">
              <a:avLst/>
            </a:prstGeom>
          </p:spPr>
        </p:pic>
      </p:grpSp>
      <p:grpSp>
        <p:nvGrpSpPr>
          <p:cNvPr id="12" name="그룹 11">
            <a:extLst>
              <a:ext uri="{FF2B5EF4-FFF2-40B4-BE49-F238E27FC236}">
                <a16:creationId xmlns:a16="http://schemas.microsoft.com/office/drawing/2014/main" id="{97D8E7E5-59DE-4F2B-91E1-5C7FCAD7E7A1}"/>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2F2E489D-DAA7-4E8B-B723-8630118F3DF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4" name="Rectangle 12">
              <a:extLst>
                <a:ext uri="{FF2B5EF4-FFF2-40B4-BE49-F238E27FC236}">
                  <a16:creationId xmlns:a16="http://schemas.microsoft.com/office/drawing/2014/main" id="{F96FEF81-BBDB-48CC-A0D4-19FC34EB0218}"/>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Now, let’s try and duplicate the values.</a:t>
              </a:r>
            </a:p>
          </p:txBody>
        </p:sp>
      </p:grpSp>
    </p:spTree>
    <p:extLst>
      <p:ext uri="{BB962C8B-B14F-4D97-AF65-F5344CB8AC3E}">
        <p14:creationId xmlns:p14="http://schemas.microsoft.com/office/powerpoint/2010/main" val="379991818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D5553216-C0A2-4A46-BE0B-D4DC4D5E4D3B}"/>
              </a:ext>
            </a:extLst>
          </p:cNvPr>
          <p:cNvGrpSpPr/>
          <p:nvPr/>
        </p:nvGrpSpPr>
        <p:grpSpPr>
          <a:xfrm>
            <a:off x="558924" y="4756534"/>
            <a:ext cx="8782050" cy="1480778"/>
            <a:chOff x="558924" y="4756534"/>
            <a:chExt cx="8782050" cy="1480778"/>
          </a:xfrm>
        </p:grpSpPr>
        <p:grpSp>
          <p:nvGrpSpPr>
            <p:cNvPr id="11" name="그룹 10"/>
            <p:cNvGrpSpPr/>
            <p:nvPr/>
          </p:nvGrpSpPr>
          <p:grpSpPr>
            <a:xfrm>
              <a:off x="558924" y="4756534"/>
              <a:ext cx="8782050" cy="1480778"/>
              <a:chOff x="557644" y="5085181"/>
              <a:chExt cx="8782050" cy="1480778"/>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48077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Only non-duplicate values are returned.	</a:t>
                </a:r>
              </a:p>
            </p:txBody>
          </p:sp>
        </p:grpSp>
        <p:pic>
          <p:nvPicPr>
            <p:cNvPr id="16"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3677" y="545823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836FE5-4E63-409C-97E4-2898B8159708}"/>
                </a:ext>
              </a:extLst>
            </p:cNvPr>
            <p:cNvSpPr txBox="1"/>
            <p:nvPr/>
          </p:nvSpPr>
          <p:spPr>
            <a:xfrm>
              <a:off x="922458" y="543550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3098" y="5770399"/>
              <a:ext cx="821212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Using the </a:t>
              </a:r>
              <a:r>
                <a:rPr lang="en-US" altLang="ko-KR" sz="1300" dirty="0" err="1">
                  <a:solidFill>
                    <a:prstClr val="black">
                      <a:lumMod val="85000"/>
                      <a:lumOff val="15000"/>
                    </a:prstClr>
                  </a:solidFill>
                  <a:latin typeface="SamsungOne 400" panose="020B0503030303020204" pitchFamily="34" charset="0"/>
                </a:rPr>
                <a:t>value_counts</a:t>
              </a:r>
              <a:r>
                <a:rPr lang="en-US" altLang="ko-KR" sz="1300" dirty="0">
                  <a:solidFill>
                    <a:prstClr val="black">
                      <a:lumMod val="85000"/>
                      <a:lumOff val="15000"/>
                    </a:prstClr>
                  </a:solidFill>
                  <a:latin typeface="SamsungOne 400" panose="020B0503030303020204" pitchFamily="34" charset="0"/>
                </a:rPr>
                <a:t>() method, the same value is added to the number. It’s a method that is used quite often, so be sure to remember it. </a:t>
              </a:r>
            </a:p>
          </p:txBody>
        </p:sp>
      </p:grpSp>
      <p:grpSp>
        <p:nvGrpSpPr>
          <p:cNvPr id="4" name="그룹 3">
            <a:extLst>
              <a:ext uri="{FF2B5EF4-FFF2-40B4-BE49-F238E27FC236}">
                <a16:creationId xmlns:a16="http://schemas.microsoft.com/office/drawing/2014/main" id="{8F008FD1-43AA-4910-86AA-B862BC4CF1AC}"/>
              </a:ext>
            </a:extLst>
          </p:cNvPr>
          <p:cNvGrpSpPr/>
          <p:nvPr/>
        </p:nvGrpSpPr>
        <p:grpSpPr>
          <a:xfrm>
            <a:off x="558924" y="2014518"/>
            <a:ext cx="8782051" cy="2654039"/>
            <a:chOff x="558924" y="2127144"/>
            <a:chExt cx="8782051" cy="2654039"/>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4"/>
              <a:ext cx="8782050" cy="265403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674" r="14990"/>
            <a:stretch/>
          </p:blipFill>
          <p:spPr>
            <a:xfrm>
              <a:off x="643813" y="2172506"/>
              <a:ext cx="8697162" cy="2599346"/>
            </a:xfrm>
            <a:prstGeom prst="rect">
              <a:avLst/>
            </a:prstGeom>
          </p:spPr>
        </p:pic>
      </p:grpSp>
      <p:grpSp>
        <p:nvGrpSpPr>
          <p:cNvPr id="21" name="그룹 20">
            <a:extLst>
              <a:ext uri="{FF2B5EF4-FFF2-40B4-BE49-F238E27FC236}">
                <a16:creationId xmlns:a16="http://schemas.microsoft.com/office/drawing/2014/main" id="{30E925E3-2E7B-4273-9322-62A9BDB3AE15}"/>
              </a:ext>
            </a:extLst>
          </p:cNvPr>
          <p:cNvGrpSpPr/>
          <p:nvPr/>
        </p:nvGrpSpPr>
        <p:grpSpPr>
          <a:xfrm>
            <a:off x="580388" y="1413381"/>
            <a:ext cx="8887612" cy="599957"/>
            <a:chOff x="580388" y="1413381"/>
            <a:chExt cx="8887612" cy="599957"/>
          </a:xfrm>
        </p:grpSpPr>
        <p:sp>
          <p:nvSpPr>
            <p:cNvPr id="22" name="직사각형 21">
              <a:extLst>
                <a:ext uri="{FF2B5EF4-FFF2-40B4-BE49-F238E27FC236}">
                  <a16:creationId xmlns:a16="http://schemas.microsoft.com/office/drawing/2014/main" id="{C493D1A7-49CC-4FB8-89C4-06A163F6FC3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23" name="Rectangle 12">
              <a:extLst>
                <a:ext uri="{FF2B5EF4-FFF2-40B4-BE49-F238E27FC236}">
                  <a16:creationId xmlns:a16="http://schemas.microsoft.com/office/drawing/2014/main" id="{EB471B3E-EF58-4C54-A4C8-647654FEAB95}"/>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Now, let’s try and duplicate the values.</a:t>
              </a:r>
            </a:p>
          </p:txBody>
        </p:sp>
      </p:grpSp>
    </p:spTree>
    <p:extLst>
      <p:ext uri="{BB962C8B-B14F-4D97-AF65-F5344CB8AC3E}">
        <p14:creationId xmlns:p14="http://schemas.microsoft.com/office/powerpoint/2010/main" val="105200964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D4C38ED3-9179-4BE8-A3F6-560C813D0FAE}"/>
              </a:ext>
            </a:extLst>
          </p:cNvPr>
          <p:cNvGrpSpPr/>
          <p:nvPr/>
        </p:nvGrpSpPr>
        <p:grpSpPr>
          <a:xfrm>
            <a:off x="558924" y="2006345"/>
            <a:ext cx="8782051" cy="3006831"/>
            <a:chOff x="558924" y="2127143"/>
            <a:chExt cx="8782051" cy="3006831"/>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3"/>
              <a:ext cx="8782050" cy="30068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71" r="18427"/>
            <a:stretch/>
          </p:blipFill>
          <p:spPr>
            <a:xfrm>
              <a:off x="628651" y="2203459"/>
              <a:ext cx="8712324" cy="2825741"/>
            </a:xfrm>
            <a:prstGeom prst="rect">
              <a:avLst/>
            </a:prstGeom>
          </p:spPr>
        </p:pic>
      </p:grpSp>
      <p:grpSp>
        <p:nvGrpSpPr>
          <p:cNvPr id="11" name="그룹 10">
            <a:extLst>
              <a:ext uri="{FF2B5EF4-FFF2-40B4-BE49-F238E27FC236}">
                <a16:creationId xmlns:a16="http://schemas.microsoft.com/office/drawing/2014/main" id="{5B76F299-5C68-4863-8363-37205C11E920}"/>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93306F4C-36BC-44BA-BC47-19391D65898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3" name="Rectangle 12">
              <a:extLst>
                <a:ext uri="{FF2B5EF4-FFF2-40B4-BE49-F238E27FC236}">
                  <a16:creationId xmlns:a16="http://schemas.microsoft.com/office/drawing/2014/main" id="{B4D67194-1AFF-4F73-899D-0DBB482A2D2E}"/>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Series can be indexed and sliced like a NumPy array. </a:t>
              </a:r>
            </a:p>
          </p:txBody>
        </p:sp>
      </p:grpSp>
    </p:spTree>
    <p:extLst>
      <p:ext uri="{BB962C8B-B14F-4D97-AF65-F5344CB8AC3E}">
        <p14:creationId xmlns:p14="http://schemas.microsoft.com/office/powerpoint/2010/main" val="18884601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F5C34E74-AC57-4D05-B85D-7B4D67EFE17A}"/>
              </a:ext>
            </a:extLst>
          </p:cNvPr>
          <p:cNvGrpSpPr/>
          <p:nvPr/>
        </p:nvGrpSpPr>
        <p:grpSpPr>
          <a:xfrm>
            <a:off x="558924" y="2055339"/>
            <a:ext cx="8782050" cy="3461893"/>
            <a:chOff x="558924" y="2127144"/>
            <a:chExt cx="8782050" cy="3461893"/>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4"/>
              <a:ext cx="8782050" cy="346189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097" r="18196"/>
            <a:stretch/>
          </p:blipFill>
          <p:spPr>
            <a:xfrm>
              <a:off x="723021" y="2208082"/>
              <a:ext cx="8617953" cy="3255739"/>
            </a:xfrm>
            <a:prstGeom prst="rect">
              <a:avLst/>
            </a:prstGeom>
          </p:spPr>
        </p:pic>
      </p:grpSp>
      <p:grpSp>
        <p:nvGrpSpPr>
          <p:cNvPr id="12" name="그룹 11">
            <a:extLst>
              <a:ext uri="{FF2B5EF4-FFF2-40B4-BE49-F238E27FC236}">
                <a16:creationId xmlns:a16="http://schemas.microsoft.com/office/drawing/2014/main" id="{4AE342FA-A9BC-46FA-841F-97074BDF4B3E}"/>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4FFDC237-D17B-49AC-9817-4F7AD28C856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4" name="Rectangle 12">
              <a:extLst>
                <a:ext uri="{FF2B5EF4-FFF2-40B4-BE49-F238E27FC236}">
                  <a16:creationId xmlns:a16="http://schemas.microsoft.com/office/drawing/2014/main" id="{930FAA14-9E46-431C-BEF7-F2CD16D7B586}"/>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Operations in the series are also possible.</a:t>
              </a:r>
            </a:p>
          </p:txBody>
        </p:sp>
      </p:grpSp>
    </p:spTree>
    <p:extLst>
      <p:ext uri="{BB962C8B-B14F-4D97-AF65-F5344CB8AC3E}">
        <p14:creationId xmlns:p14="http://schemas.microsoft.com/office/powerpoint/2010/main" val="6673220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aphicFrame>
        <p:nvGraphicFramePr>
          <p:cNvPr id="2" name="표 1"/>
          <p:cNvGraphicFramePr>
            <a:graphicFrameLocks noGrp="1"/>
          </p:cNvGraphicFramePr>
          <p:nvPr>
            <p:extLst>
              <p:ext uri="{D42A27DB-BD31-4B8C-83A1-F6EECF244321}">
                <p14:modId xmlns:p14="http://schemas.microsoft.com/office/powerpoint/2010/main" val="3908319942"/>
              </p:ext>
            </p:extLst>
          </p:nvPr>
        </p:nvGraphicFramePr>
        <p:xfrm>
          <a:off x="3205386" y="3717032"/>
          <a:ext cx="3489126" cy="2064684"/>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20000"/>
                    </a:ext>
                  </a:extLst>
                </a:gridCol>
                <a:gridCol w="972108">
                  <a:extLst>
                    <a:ext uri="{9D8B030D-6E8A-4147-A177-3AD203B41FA5}">
                      <a16:colId xmlns:a16="http://schemas.microsoft.com/office/drawing/2014/main" val="20001"/>
                    </a:ext>
                  </a:extLst>
                </a:gridCol>
                <a:gridCol w="1544910">
                  <a:extLst>
                    <a:ext uri="{9D8B030D-6E8A-4147-A177-3AD203B41FA5}">
                      <a16:colId xmlns:a16="http://schemas.microsoft.com/office/drawing/2014/main" val="20002"/>
                    </a:ext>
                  </a:extLst>
                </a:gridCol>
              </a:tblGrid>
              <a:tr h="344114">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ser1</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ser2</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ser1+ser2</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3" name="그룹 12">
            <a:extLst>
              <a:ext uri="{FF2B5EF4-FFF2-40B4-BE49-F238E27FC236}">
                <a16:creationId xmlns:a16="http://schemas.microsoft.com/office/drawing/2014/main" id="{90CE8816-CC00-46C7-A33C-8503FE51762F}"/>
              </a:ext>
            </a:extLst>
          </p:cNvPr>
          <p:cNvGrpSpPr/>
          <p:nvPr/>
        </p:nvGrpSpPr>
        <p:grpSpPr>
          <a:xfrm>
            <a:off x="580388" y="1413381"/>
            <a:ext cx="8887612" cy="599957"/>
            <a:chOff x="580388" y="1413381"/>
            <a:chExt cx="8887612" cy="599957"/>
          </a:xfrm>
        </p:grpSpPr>
        <p:sp>
          <p:nvSpPr>
            <p:cNvPr id="14" name="직사각형 13">
              <a:extLst>
                <a:ext uri="{FF2B5EF4-FFF2-40B4-BE49-F238E27FC236}">
                  <a16:creationId xmlns:a16="http://schemas.microsoft.com/office/drawing/2014/main" id="{6C3A2AFA-4C06-47D0-8E69-BDD29DAA02D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5" name="Rectangle 12">
              <a:extLst>
                <a:ext uri="{FF2B5EF4-FFF2-40B4-BE49-F238E27FC236}">
                  <a16:creationId xmlns:a16="http://schemas.microsoft.com/office/drawing/2014/main" id="{B364D372-984F-43C6-BF03-935E63A70CBC}"/>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Operations in the series are also possible.</a:t>
              </a:r>
            </a:p>
          </p:txBody>
        </p:sp>
      </p:grpSp>
      <p:grpSp>
        <p:nvGrpSpPr>
          <p:cNvPr id="6" name="그룹 5">
            <a:extLst>
              <a:ext uri="{FF2B5EF4-FFF2-40B4-BE49-F238E27FC236}">
                <a16:creationId xmlns:a16="http://schemas.microsoft.com/office/drawing/2014/main" id="{3907AD5A-6424-4519-9521-4B43659CD9C0}"/>
              </a:ext>
            </a:extLst>
          </p:cNvPr>
          <p:cNvGrpSpPr/>
          <p:nvPr/>
        </p:nvGrpSpPr>
        <p:grpSpPr>
          <a:xfrm>
            <a:off x="558924" y="2055138"/>
            <a:ext cx="8782050" cy="1425046"/>
            <a:chOff x="558924" y="2055138"/>
            <a:chExt cx="8782050" cy="1425046"/>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055138"/>
              <a:ext cx="8782050" cy="142504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그림 16">
              <a:extLst>
                <a:ext uri="{FF2B5EF4-FFF2-40B4-BE49-F238E27FC236}">
                  <a16:creationId xmlns:a16="http://schemas.microsoft.com/office/drawing/2014/main" id="{E0CC8C69-2402-4853-8E7D-217ADE052B4F}"/>
                </a:ext>
              </a:extLst>
            </p:cNvPr>
            <p:cNvPicPr>
              <a:picLocks noChangeAspect="1"/>
            </p:cNvPicPr>
            <p:nvPr/>
          </p:nvPicPr>
          <p:blipFill rotWithShape="1">
            <a:blip r:embed="rId4"/>
            <a:srcRect l="1770" r="19788"/>
            <a:stretch/>
          </p:blipFill>
          <p:spPr>
            <a:xfrm>
              <a:off x="643812" y="2100603"/>
              <a:ext cx="8697162" cy="1379580"/>
            </a:xfrm>
            <a:prstGeom prst="rect">
              <a:avLst/>
            </a:prstGeom>
          </p:spPr>
        </p:pic>
      </p:grpSp>
    </p:spTree>
    <p:extLst>
      <p:ext uri="{BB962C8B-B14F-4D97-AF65-F5344CB8AC3E}">
        <p14:creationId xmlns:p14="http://schemas.microsoft.com/office/powerpoint/2010/main" val="42708984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3A678285-4313-4848-967C-67F8E679C232}"/>
              </a:ext>
            </a:extLst>
          </p:cNvPr>
          <p:cNvGrpSpPr/>
          <p:nvPr/>
        </p:nvGrpSpPr>
        <p:grpSpPr>
          <a:xfrm>
            <a:off x="558924" y="2055137"/>
            <a:ext cx="8782050" cy="1453173"/>
            <a:chOff x="558924" y="2055137"/>
            <a:chExt cx="8782050" cy="1453173"/>
          </a:xfrm>
        </p:grpSpPr>
        <p:sp>
          <p:nvSpPr>
            <p:cNvPr id="12" name="모서리가 둥근 직사각형 4">
              <a:extLst>
                <a:ext uri="{FF2B5EF4-FFF2-40B4-BE49-F238E27FC236}">
                  <a16:creationId xmlns:a16="http://schemas.microsoft.com/office/drawing/2014/main" id="{F81A94F4-E260-469D-AD40-733815732E02}"/>
                </a:ext>
              </a:extLst>
            </p:cNvPr>
            <p:cNvSpPr/>
            <p:nvPr/>
          </p:nvSpPr>
          <p:spPr>
            <a:xfrm>
              <a:off x="558924" y="2055137"/>
              <a:ext cx="8782050" cy="145317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449" r="20124"/>
            <a:stretch/>
          </p:blipFill>
          <p:spPr>
            <a:xfrm>
              <a:off x="606490" y="2100603"/>
              <a:ext cx="8734484" cy="1391074"/>
            </a:xfrm>
            <a:prstGeom prst="rect">
              <a:avLst/>
            </a:prstGeom>
          </p:spPr>
        </p:pic>
      </p:grpSp>
      <p:graphicFrame>
        <p:nvGraphicFramePr>
          <p:cNvPr id="14" name="표 13"/>
          <p:cNvGraphicFramePr>
            <a:graphicFrameLocks noGrp="1"/>
          </p:cNvGraphicFramePr>
          <p:nvPr>
            <p:extLst>
              <p:ext uri="{D42A27DB-BD31-4B8C-83A1-F6EECF244321}">
                <p14:modId xmlns:p14="http://schemas.microsoft.com/office/powerpoint/2010/main" val="2731086802"/>
              </p:ext>
            </p:extLst>
          </p:nvPr>
        </p:nvGraphicFramePr>
        <p:xfrm>
          <a:off x="3205386" y="3740580"/>
          <a:ext cx="3489126" cy="2064684"/>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20000"/>
                    </a:ext>
                  </a:extLst>
                </a:gridCol>
                <a:gridCol w="972108">
                  <a:extLst>
                    <a:ext uri="{9D8B030D-6E8A-4147-A177-3AD203B41FA5}">
                      <a16:colId xmlns:a16="http://schemas.microsoft.com/office/drawing/2014/main" val="20001"/>
                    </a:ext>
                  </a:extLst>
                </a:gridCol>
                <a:gridCol w="1544910">
                  <a:extLst>
                    <a:ext uri="{9D8B030D-6E8A-4147-A177-3AD203B41FA5}">
                      <a16:colId xmlns:a16="http://schemas.microsoft.com/office/drawing/2014/main" val="20002"/>
                    </a:ext>
                  </a:extLst>
                </a:gridCol>
              </a:tblGrid>
              <a:tr h="344114">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ser1</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ser2</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ser1*ser2</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44114">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5" name="그룹 14">
            <a:extLst>
              <a:ext uri="{FF2B5EF4-FFF2-40B4-BE49-F238E27FC236}">
                <a16:creationId xmlns:a16="http://schemas.microsoft.com/office/drawing/2014/main" id="{FCD8FA68-251C-49EA-B2AF-81936877F176}"/>
              </a:ext>
            </a:extLst>
          </p:cNvPr>
          <p:cNvGrpSpPr/>
          <p:nvPr/>
        </p:nvGrpSpPr>
        <p:grpSpPr>
          <a:xfrm>
            <a:off x="580388" y="1413381"/>
            <a:ext cx="8887612" cy="599957"/>
            <a:chOff x="580388" y="1413381"/>
            <a:chExt cx="8887612" cy="599957"/>
          </a:xfrm>
        </p:grpSpPr>
        <p:sp>
          <p:nvSpPr>
            <p:cNvPr id="16" name="직사각형 15">
              <a:extLst>
                <a:ext uri="{FF2B5EF4-FFF2-40B4-BE49-F238E27FC236}">
                  <a16:creationId xmlns:a16="http://schemas.microsoft.com/office/drawing/2014/main" id="{05C36C3F-DC83-413D-AA34-EE3EFFB6D3B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7" name="Rectangle 12">
              <a:extLst>
                <a:ext uri="{FF2B5EF4-FFF2-40B4-BE49-F238E27FC236}">
                  <a16:creationId xmlns:a16="http://schemas.microsoft.com/office/drawing/2014/main" id="{0AB026AF-78EC-4E31-BD6D-D6CA09A6D9A6}"/>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Operations in the series are also possible.</a:t>
              </a:r>
            </a:p>
          </p:txBody>
        </p:sp>
      </p:grpSp>
    </p:spTree>
    <p:extLst>
      <p:ext uri="{BB962C8B-B14F-4D97-AF65-F5344CB8AC3E}">
        <p14:creationId xmlns:p14="http://schemas.microsoft.com/office/powerpoint/2010/main" val="106253109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3" name="그룹 12">
            <a:extLst>
              <a:ext uri="{FF2B5EF4-FFF2-40B4-BE49-F238E27FC236}">
                <a16:creationId xmlns:a16="http://schemas.microsoft.com/office/drawing/2014/main" id="{6E6162EB-27F6-4566-A1F9-CD791E1CA4F3}"/>
              </a:ext>
            </a:extLst>
          </p:cNvPr>
          <p:cNvGrpSpPr/>
          <p:nvPr/>
        </p:nvGrpSpPr>
        <p:grpSpPr>
          <a:xfrm>
            <a:off x="580388" y="1413381"/>
            <a:ext cx="8887612" cy="599957"/>
            <a:chOff x="580388" y="1413381"/>
            <a:chExt cx="8887612" cy="599957"/>
          </a:xfrm>
        </p:grpSpPr>
        <p:sp>
          <p:nvSpPr>
            <p:cNvPr id="14" name="직사각형 13">
              <a:extLst>
                <a:ext uri="{FF2B5EF4-FFF2-40B4-BE49-F238E27FC236}">
                  <a16:creationId xmlns:a16="http://schemas.microsoft.com/office/drawing/2014/main" id="{1AA4C4A4-C623-492E-A0E3-6BEFEE427A7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5" name="Rectangle 12">
              <a:extLst>
                <a:ext uri="{FF2B5EF4-FFF2-40B4-BE49-F238E27FC236}">
                  <a16:creationId xmlns:a16="http://schemas.microsoft.com/office/drawing/2014/main" id="{A2DF987E-AEAB-4585-BFB8-C519C9E17561}"/>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Operations in the series are also possible.</a:t>
              </a:r>
            </a:p>
          </p:txBody>
        </p:sp>
      </p:grpSp>
      <p:grpSp>
        <p:nvGrpSpPr>
          <p:cNvPr id="4" name="그룹 3">
            <a:extLst>
              <a:ext uri="{FF2B5EF4-FFF2-40B4-BE49-F238E27FC236}">
                <a16:creationId xmlns:a16="http://schemas.microsoft.com/office/drawing/2014/main" id="{B6456099-B8B5-4BD7-B8E8-0E8ECE91BBD0}"/>
              </a:ext>
            </a:extLst>
          </p:cNvPr>
          <p:cNvGrpSpPr/>
          <p:nvPr/>
        </p:nvGrpSpPr>
        <p:grpSpPr>
          <a:xfrm>
            <a:off x="558924" y="2055137"/>
            <a:ext cx="8782051" cy="1453173"/>
            <a:chOff x="558924" y="2055137"/>
            <a:chExt cx="8782051" cy="1453173"/>
          </a:xfrm>
        </p:grpSpPr>
        <p:sp>
          <p:nvSpPr>
            <p:cNvPr id="11" name="모서리가 둥근 직사각형 4">
              <a:extLst>
                <a:ext uri="{FF2B5EF4-FFF2-40B4-BE49-F238E27FC236}">
                  <a16:creationId xmlns:a16="http://schemas.microsoft.com/office/drawing/2014/main" id="{549E3544-F5E6-420D-BB4F-0EE049DDD075}"/>
                </a:ext>
              </a:extLst>
            </p:cNvPr>
            <p:cNvSpPr/>
            <p:nvPr/>
          </p:nvSpPr>
          <p:spPr>
            <a:xfrm>
              <a:off x="558924" y="2055137"/>
              <a:ext cx="8782050" cy="145317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그림 15">
              <a:extLst>
                <a:ext uri="{FF2B5EF4-FFF2-40B4-BE49-F238E27FC236}">
                  <a16:creationId xmlns:a16="http://schemas.microsoft.com/office/drawing/2014/main" id="{CE00C5AE-FDEE-40F1-8676-C78A67D41955}"/>
                </a:ext>
              </a:extLst>
            </p:cNvPr>
            <p:cNvPicPr>
              <a:picLocks noChangeAspect="1"/>
            </p:cNvPicPr>
            <p:nvPr/>
          </p:nvPicPr>
          <p:blipFill rotWithShape="1">
            <a:blip r:embed="rId4"/>
            <a:srcRect l="1696" t="7289" r="19692"/>
            <a:stretch/>
          </p:blipFill>
          <p:spPr>
            <a:xfrm>
              <a:off x="634483" y="2164702"/>
              <a:ext cx="8706492" cy="1343608"/>
            </a:xfrm>
            <a:prstGeom prst="rect">
              <a:avLst/>
            </a:prstGeom>
          </p:spPr>
        </p:pic>
      </p:grpSp>
    </p:spTree>
    <p:extLst>
      <p:ext uri="{BB962C8B-B14F-4D97-AF65-F5344CB8AC3E}">
        <p14:creationId xmlns:p14="http://schemas.microsoft.com/office/powerpoint/2010/main" val="20110952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066BED6A-1C0C-4A01-9C2A-D9854BB08CEF}"/>
              </a:ext>
            </a:extLst>
          </p:cNvPr>
          <p:cNvGrpSpPr/>
          <p:nvPr/>
        </p:nvGrpSpPr>
        <p:grpSpPr>
          <a:xfrm>
            <a:off x="558924" y="2061192"/>
            <a:ext cx="8782050" cy="2332888"/>
            <a:chOff x="558924" y="2127145"/>
            <a:chExt cx="8782050" cy="2332888"/>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5"/>
              <a:ext cx="8782050" cy="23328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486" r="19028"/>
            <a:stretch/>
          </p:blipFill>
          <p:spPr>
            <a:xfrm>
              <a:off x="625149" y="2204660"/>
              <a:ext cx="8715825" cy="2160444"/>
            </a:xfrm>
            <a:prstGeom prst="rect">
              <a:avLst/>
            </a:prstGeom>
          </p:spPr>
        </p:pic>
      </p:grpSp>
      <p:grpSp>
        <p:nvGrpSpPr>
          <p:cNvPr id="11" name="그룹 10">
            <a:extLst>
              <a:ext uri="{FF2B5EF4-FFF2-40B4-BE49-F238E27FC236}">
                <a16:creationId xmlns:a16="http://schemas.microsoft.com/office/drawing/2014/main" id="{D19190BA-7986-4A58-AEDB-A62DFF39BEC6}"/>
              </a:ext>
            </a:extLst>
          </p:cNvPr>
          <p:cNvGrpSpPr/>
          <p:nvPr/>
        </p:nvGrpSpPr>
        <p:grpSpPr>
          <a:xfrm>
            <a:off x="580388" y="1413381"/>
            <a:ext cx="8887612" cy="599957"/>
            <a:chOff x="580388" y="1413381"/>
            <a:chExt cx="8887612" cy="599957"/>
          </a:xfrm>
        </p:grpSpPr>
        <p:sp>
          <p:nvSpPr>
            <p:cNvPr id="12" name="직사각형 11">
              <a:extLst>
                <a:ext uri="{FF2B5EF4-FFF2-40B4-BE49-F238E27FC236}">
                  <a16:creationId xmlns:a16="http://schemas.microsoft.com/office/drawing/2014/main" id="{97CECC4F-2E1B-49C9-8D88-B38DF8056CA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3" name="Rectangle 12">
              <a:extLst>
                <a:ext uri="{FF2B5EF4-FFF2-40B4-BE49-F238E27FC236}">
                  <a16:creationId xmlns:a16="http://schemas.microsoft.com/office/drawing/2014/main" id="{C5A99D77-9AC1-4C3C-BB0B-8487E21EF3DE}"/>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Methods Related to Statistics in the Series</a:t>
              </a:r>
            </a:p>
          </p:txBody>
        </p:sp>
      </p:grpSp>
    </p:spTree>
    <p:extLst>
      <p:ext uri="{BB962C8B-B14F-4D97-AF65-F5344CB8AC3E}">
        <p14:creationId xmlns:p14="http://schemas.microsoft.com/office/powerpoint/2010/main" val="176980239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2A5DE437-68D8-4926-891D-46E995688881}"/>
              </a:ext>
            </a:extLst>
          </p:cNvPr>
          <p:cNvGrpSpPr/>
          <p:nvPr/>
        </p:nvGrpSpPr>
        <p:grpSpPr>
          <a:xfrm>
            <a:off x="558924" y="2060848"/>
            <a:ext cx="8782050" cy="3723149"/>
            <a:chOff x="558924" y="2127145"/>
            <a:chExt cx="8782050" cy="3723149"/>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5"/>
              <a:ext cx="8782050" cy="37231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81" r="19440"/>
            <a:stretch/>
          </p:blipFill>
          <p:spPr>
            <a:xfrm>
              <a:off x="643813" y="2156279"/>
              <a:ext cx="8697161" cy="3618776"/>
            </a:xfrm>
            <a:prstGeom prst="rect">
              <a:avLst/>
            </a:prstGeom>
          </p:spPr>
        </p:pic>
      </p:grpSp>
      <p:grpSp>
        <p:nvGrpSpPr>
          <p:cNvPr id="12" name="그룹 11">
            <a:extLst>
              <a:ext uri="{FF2B5EF4-FFF2-40B4-BE49-F238E27FC236}">
                <a16:creationId xmlns:a16="http://schemas.microsoft.com/office/drawing/2014/main" id="{1D3AE8C9-1EC1-4CBC-8F28-BE69E2788980}"/>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A61F5D73-4F3F-4625-A387-1140CC3EE74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14" name="Rectangle 12">
              <a:extLst>
                <a:ext uri="{FF2B5EF4-FFF2-40B4-BE49-F238E27FC236}">
                  <a16:creationId xmlns:a16="http://schemas.microsoft.com/office/drawing/2014/main" id="{BFB6E41C-EC68-4EA8-94E8-FFECA9E38C64}"/>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Methods Related to Statistics in the Series</a:t>
              </a:r>
            </a:p>
          </p:txBody>
        </p:sp>
      </p:grpSp>
    </p:spTree>
    <p:extLst>
      <p:ext uri="{BB962C8B-B14F-4D97-AF65-F5344CB8AC3E}">
        <p14:creationId xmlns:p14="http://schemas.microsoft.com/office/powerpoint/2010/main" val="414622591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11D6A56B-4501-404A-B149-BBCADC577512}"/>
              </a:ext>
            </a:extLst>
          </p:cNvPr>
          <p:cNvGrpSpPr/>
          <p:nvPr/>
        </p:nvGrpSpPr>
        <p:grpSpPr>
          <a:xfrm>
            <a:off x="558924" y="4904665"/>
            <a:ext cx="8782050" cy="1279301"/>
            <a:chOff x="558924" y="4869160"/>
            <a:chExt cx="8782050" cy="1279301"/>
          </a:xfrm>
        </p:grpSpPr>
        <p:grpSp>
          <p:nvGrpSpPr>
            <p:cNvPr id="12" name="그룹 11"/>
            <p:cNvGrpSpPr/>
            <p:nvPr/>
          </p:nvGrpSpPr>
          <p:grpSpPr>
            <a:xfrm>
              <a:off x="558924" y="4869160"/>
              <a:ext cx="8782050" cy="1279301"/>
              <a:chOff x="557644" y="5085181"/>
              <a:chExt cx="8782050" cy="1279301"/>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2793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We will replace the lambda function with what we learned in Python Basics.</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3677" y="5549689"/>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E836FE5-4E63-409C-97E4-2898B8159708}"/>
                </a:ext>
              </a:extLst>
            </p:cNvPr>
            <p:cNvSpPr txBox="1"/>
            <p:nvPr/>
          </p:nvSpPr>
          <p:spPr>
            <a:xfrm>
              <a:off x="922458" y="5526957"/>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1" name="TextBox 20">
              <a:extLst>
                <a:ext uri="{FF2B5EF4-FFF2-40B4-BE49-F238E27FC236}">
                  <a16:creationId xmlns:a16="http://schemas.microsoft.com/office/drawing/2014/main" id="{0800EE66-B78E-4CCD-A49E-31BBE412C7F6}"/>
                </a:ext>
              </a:extLst>
            </p:cNvPr>
            <p:cNvSpPr txBox="1"/>
            <p:nvPr/>
          </p:nvSpPr>
          <p:spPr>
            <a:xfrm>
              <a:off x="1023098" y="586185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10 to each element and return it to the series.</a:t>
              </a:r>
            </a:p>
          </p:txBody>
        </p:sp>
      </p:grpSp>
      <p:grpSp>
        <p:nvGrpSpPr>
          <p:cNvPr id="6" name="그룹 5">
            <a:extLst>
              <a:ext uri="{FF2B5EF4-FFF2-40B4-BE49-F238E27FC236}">
                <a16:creationId xmlns:a16="http://schemas.microsoft.com/office/drawing/2014/main" id="{0E8B6747-DDD0-421D-B268-668B72FB5CF5}"/>
              </a:ext>
            </a:extLst>
          </p:cNvPr>
          <p:cNvGrpSpPr/>
          <p:nvPr/>
        </p:nvGrpSpPr>
        <p:grpSpPr>
          <a:xfrm>
            <a:off x="558924" y="2029784"/>
            <a:ext cx="8782050" cy="2771426"/>
            <a:chOff x="558924" y="2127145"/>
            <a:chExt cx="8782050" cy="2771426"/>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27145"/>
              <a:ext cx="8782050" cy="277142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518" r="17387"/>
            <a:stretch/>
          </p:blipFill>
          <p:spPr>
            <a:xfrm>
              <a:off x="643813" y="2184449"/>
              <a:ext cx="8697161" cy="2655210"/>
            </a:xfrm>
            <a:prstGeom prst="rect">
              <a:avLst/>
            </a:prstGeom>
          </p:spPr>
        </p:pic>
        <p:sp>
          <p:nvSpPr>
            <p:cNvPr id="4" name="직사각형 3"/>
            <p:cNvSpPr/>
            <p:nvPr/>
          </p:nvSpPr>
          <p:spPr>
            <a:xfrm>
              <a:off x="3274116" y="2782755"/>
              <a:ext cx="4255688" cy="17505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직사각형 22"/>
            <p:cNvSpPr/>
            <p:nvPr/>
          </p:nvSpPr>
          <p:spPr>
            <a:xfrm>
              <a:off x="4015308" y="3921194"/>
              <a:ext cx="3402529" cy="22159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그룹 21">
            <a:extLst>
              <a:ext uri="{FF2B5EF4-FFF2-40B4-BE49-F238E27FC236}">
                <a16:creationId xmlns:a16="http://schemas.microsoft.com/office/drawing/2014/main" id="{8F7FAE21-C583-4E77-85C3-2D9C072E492E}"/>
              </a:ext>
            </a:extLst>
          </p:cNvPr>
          <p:cNvGrpSpPr/>
          <p:nvPr/>
        </p:nvGrpSpPr>
        <p:grpSpPr>
          <a:xfrm>
            <a:off x="580388" y="1413381"/>
            <a:ext cx="8887612" cy="599957"/>
            <a:chOff x="580388" y="1413381"/>
            <a:chExt cx="8887612" cy="599957"/>
          </a:xfrm>
        </p:grpSpPr>
        <p:sp>
          <p:nvSpPr>
            <p:cNvPr id="24" name="직사각형 23">
              <a:extLst>
                <a:ext uri="{FF2B5EF4-FFF2-40B4-BE49-F238E27FC236}">
                  <a16:creationId xmlns:a16="http://schemas.microsoft.com/office/drawing/2014/main" id="{C4599423-ECBE-4529-9741-36FA54F76C9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The methods of the series are as follows.</a:t>
              </a:r>
            </a:p>
          </p:txBody>
        </p:sp>
        <p:sp>
          <p:nvSpPr>
            <p:cNvPr id="25" name="Rectangle 12">
              <a:extLst>
                <a:ext uri="{FF2B5EF4-FFF2-40B4-BE49-F238E27FC236}">
                  <a16:creationId xmlns:a16="http://schemas.microsoft.com/office/drawing/2014/main" id="{1BBDBAF3-B3B8-4D01-A5C9-0E5D8FFC6373}"/>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lambda function can be applied to the series using the apply function.</a:t>
              </a:r>
            </a:p>
          </p:txBody>
        </p:sp>
      </p:grpSp>
    </p:spTree>
    <p:extLst>
      <p:ext uri="{BB962C8B-B14F-4D97-AF65-F5344CB8AC3E}">
        <p14:creationId xmlns:p14="http://schemas.microsoft.com/office/powerpoint/2010/main" val="86726411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Pandas Series and DataFrame Practice</a:t>
            </a:r>
          </a:p>
        </p:txBody>
      </p:sp>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5" name="직사각형 1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776F715B-41FC-4865-A511-01946F41186E}"/>
              </a:ext>
            </a:extLst>
          </p:cNvPr>
          <p:cNvGrpSpPr/>
          <p:nvPr/>
        </p:nvGrpSpPr>
        <p:grpSpPr>
          <a:xfrm>
            <a:off x="558923" y="4811245"/>
            <a:ext cx="8782050" cy="525866"/>
            <a:chOff x="558923" y="4811245"/>
            <a:chExt cx="8782050" cy="525866"/>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923" y="4811245"/>
              <a:ext cx="8782050" cy="52586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806" t="17769" r="19978" b="10742"/>
            <a:stretch/>
          </p:blipFill>
          <p:spPr>
            <a:xfrm>
              <a:off x="625151" y="4833257"/>
              <a:ext cx="8715822" cy="467951"/>
            </a:xfrm>
            <a:prstGeom prst="rect">
              <a:avLst/>
            </a:prstGeom>
          </p:spPr>
        </p:pic>
      </p:grpSp>
      <p:grpSp>
        <p:nvGrpSpPr>
          <p:cNvPr id="14" name="그룹 13">
            <a:extLst>
              <a:ext uri="{FF2B5EF4-FFF2-40B4-BE49-F238E27FC236}">
                <a16:creationId xmlns:a16="http://schemas.microsoft.com/office/drawing/2014/main" id="{EF8CA1F0-F106-48B9-A1BA-483AF1450FFD}"/>
              </a:ext>
            </a:extLst>
          </p:cNvPr>
          <p:cNvGrpSpPr/>
          <p:nvPr/>
        </p:nvGrpSpPr>
        <p:grpSpPr>
          <a:xfrm>
            <a:off x="524240" y="1870666"/>
            <a:ext cx="8887612" cy="2806016"/>
            <a:chOff x="524240" y="1870666"/>
            <a:chExt cx="8887612" cy="2806016"/>
          </a:xfrm>
        </p:grpSpPr>
        <p:sp>
          <p:nvSpPr>
            <p:cNvPr id="20" name="직사각형 19">
              <a:extLst>
                <a:ext uri="{FF2B5EF4-FFF2-40B4-BE49-F238E27FC236}">
                  <a16:creationId xmlns:a16="http://schemas.microsoft.com/office/drawing/2014/main" id="{3713312A-16A0-4518-AD53-E197D8FE3D9A}"/>
                </a:ext>
              </a:extLst>
            </p:cNvPr>
            <p:cNvSpPr/>
            <p:nvPr/>
          </p:nvSpPr>
          <p:spPr>
            <a:xfrm>
              <a:off x="651633" y="2120359"/>
              <a:ext cx="8632825" cy="2556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was mentioned that DataFrame is a two-dimensional array consisting of rows and columns. The two-dimensional array is the most commonly used form of data for computers.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field of image processing and data analysis, most of the data are searched and processed in the form of a two-dimensional array. The DataFrame data structure of pandas originated from the DataFrame of R, a popular statistical package.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similar to the two-dimensional NumPy array. The data type of the column may be different. It is ideal for storing data from CSV files, Excel spreadsheets, SQL tables, etc. There are properties such as columns, indices, etc.</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DataFrame can be thought of as a collection of Series objects. Pandas DataFrames allows for data representation similar to Excel spreadsheets.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DataFrame consists of rows and columns. Rows are observations or instances. Columns are variables.</a:t>
              </a:r>
            </a:p>
          </p:txBody>
        </p:sp>
        <p:sp>
          <p:nvSpPr>
            <p:cNvPr id="21" name="직사각형 20">
              <a:extLst>
                <a:ext uri="{FF2B5EF4-FFF2-40B4-BE49-F238E27FC236}">
                  <a16:creationId xmlns:a16="http://schemas.microsoft.com/office/drawing/2014/main" id="{C9355E71-E27A-48EE-A0C4-C9E9F9CDABAC}"/>
                </a:ext>
              </a:extLst>
            </p:cNvPr>
            <p:cNvSpPr/>
            <p:nvPr/>
          </p:nvSpPr>
          <p:spPr>
            <a:xfrm>
              <a:off x="524240" y="1870666"/>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Two-Dimensional Array</a:t>
              </a:r>
            </a:p>
          </p:txBody>
        </p:sp>
      </p:grpSp>
    </p:spTree>
    <p:extLst>
      <p:ext uri="{BB962C8B-B14F-4D97-AF65-F5344CB8AC3E}">
        <p14:creationId xmlns:p14="http://schemas.microsoft.com/office/powerpoint/2010/main" val="296671981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B5D2A9E5-D833-4B15-A4CF-D7D42C6B9131}"/>
              </a:ext>
            </a:extLst>
          </p:cNvPr>
          <p:cNvGrpSpPr/>
          <p:nvPr/>
        </p:nvGrpSpPr>
        <p:grpSpPr>
          <a:xfrm>
            <a:off x="558924" y="2227199"/>
            <a:ext cx="8782050" cy="4136981"/>
            <a:chOff x="558924" y="2255192"/>
            <a:chExt cx="8782050" cy="4136981"/>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255192"/>
              <a:ext cx="8782050" cy="413698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836"/>
            <a:stretch/>
          </p:blipFill>
          <p:spPr>
            <a:xfrm>
              <a:off x="867747" y="2312053"/>
              <a:ext cx="8473227" cy="4049704"/>
            </a:xfrm>
            <a:prstGeom prst="rect">
              <a:avLst/>
            </a:prstGeom>
          </p:spPr>
        </p:pic>
      </p:grpSp>
      <p:grpSp>
        <p:nvGrpSpPr>
          <p:cNvPr id="12" name="그룹 11">
            <a:extLst>
              <a:ext uri="{FF2B5EF4-FFF2-40B4-BE49-F238E27FC236}">
                <a16:creationId xmlns:a16="http://schemas.microsoft.com/office/drawing/2014/main" id="{4CB13AA6-2F40-4AA1-97B5-95EC9C0BB49C}"/>
              </a:ext>
            </a:extLst>
          </p:cNvPr>
          <p:cNvGrpSpPr/>
          <p:nvPr/>
        </p:nvGrpSpPr>
        <p:grpSpPr>
          <a:xfrm>
            <a:off x="580388" y="1413381"/>
            <a:ext cx="8887612" cy="800012"/>
            <a:chOff x="580388" y="1413381"/>
            <a:chExt cx="8887612" cy="800012"/>
          </a:xfrm>
        </p:grpSpPr>
        <p:sp>
          <p:nvSpPr>
            <p:cNvPr id="13" name="직사각형 12">
              <a:extLst>
                <a:ext uri="{FF2B5EF4-FFF2-40B4-BE49-F238E27FC236}">
                  <a16:creationId xmlns:a16="http://schemas.microsoft.com/office/drawing/2014/main" id="{B9F61321-A092-4258-A358-06A401AE898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C6EEFC0F-BFF3-4C1D-BDC2-34139C08D795}"/>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pandas DataFrame is very convenient when reading an external data set, especially when data is stored in a comma-separated (CSV) format.</a:t>
              </a:r>
            </a:p>
          </p:txBody>
        </p:sp>
      </p:grpSp>
    </p:spTree>
    <p:extLst>
      <p:ext uri="{BB962C8B-B14F-4D97-AF65-F5344CB8AC3E}">
        <p14:creationId xmlns:p14="http://schemas.microsoft.com/office/powerpoint/2010/main" val="57614686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직사각형 9">
            <a:extLst>
              <a:ext uri="{FF2B5EF4-FFF2-40B4-BE49-F238E27FC236}">
                <a16:creationId xmlns:a16="http://schemas.microsoft.com/office/drawing/2014/main" id="{335691D1-944E-483E-B9A0-0869FACDB80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grpSp>
        <p:nvGrpSpPr>
          <p:cNvPr id="19" name="그룹 18">
            <a:extLst>
              <a:ext uri="{FF2B5EF4-FFF2-40B4-BE49-F238E27FC236}">
                <a16:creationId xmlns:a16="http://schemas.microsoft.com/office/drawing/2014/main" id="{CD0CB9E5-DD56-5B4F-84DE-20F79B733310}"/>
              </a:ext>
            </a:extLst>
          </p:cNvPr>
          <p:cNvGrpSpPr/>
          <p:nvPr/>
        </p:nvGrpSpPr>
        <p:grpSpPr>
          <a:xfrm>
            <a:off x="558924" y="1726964"/>
            <a:ext cx="8782050" cy="1298338"/>
            <a:chOff x="558924" y="1726964"/>
            <a:chExt cx="8782050" cy="1298338"/>
          </a:xfrm>
        </p:grpSpPr>
        <p:sp>
          <p:nvSpPr>
            <p:cNvPr id="8" name="모서리가 둥근 직사각형 4">
              <a:extLst>
                <a:ext uri="{FF2B5EF4-FFF2-40B4-BE49-F238E27FC236}">
                  <a16:creationId xmlns:a16="http://schemas.microsoft.com/office/drawing/2014/main" id="{D8A8E53A-5097-B49B-D229-74FB22E65F02}"/>
                </a:ext>
              </a:extLst>
            </p:cNvPr>
            <p:cNvSpPr/>
            <p:nvPr/>
          </p:nvSpPr>
          <p:spPr>
            <a:xfrm>
              <a:off x="558924" y="1726964"/>
              <a:ext cx="8782050" cy="129833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8" name="그룹 17">
              <a:extLst>
                <a:ext uri="{FF2B5EF4-FFF2-40B4-BE49-F238E27FC236}">
                  <a16:creationId xmlns:a16="http://schemas.microsoft.com/office/drawing/2014/main" id="{0A377ED8-E8E4-1EA6-CE00-34B6EDEA0CC8}"/>
                </a:ext>
              </a:extLst>
            </p:cNvPr>
            <p:cNvGrpSpPr/>
            <p:nvPr/>
          </p:nvGrpSpPr>
          <p:grpSpPr>
            <a:xfrm>
              <a:off x="661481" y="1843191"/>
              <a:ext cx="8679493" cy="1087426"/>
              <a:chOff x="661481" y="1822871"/>
              <a:chExt cx="8679493" cy="1087426"/>
            </a:xfrm>
          </p:grpSpPr>
          <p:pic>
            <p:nvPicPr>
              <p:cNvPr id="9" name="그림 8">
                <a:extLst>
                  <a:ext uri="{FF2B5EF4-FFF2-40B4-BE49-F238E27FC236}">
                    <a16:creationId xmlns:a16="http://schemas.microsoft.com/office/drawing/2014/main" id="{E3EDD7F4-7EDD-42E4-FC20-4C62771A1953}"/>
                  </a:ext>
                </a:extLst>
              </p:cNvPr>
              <p:cNvPicPr>
                <a:picLocks noChangeAspect="1"/>
              </p:cNvPicPr>
              <p:nvPr/>
            </p:nvPicPr>
            <p:blipFill rotWithShape="1">
              <a:blip r:embed="rId4"/>
              <a:srcRect r="15746"/>
              <a:stretch/>
            </p:blipFill>
            <p:spPr>
              <a:xfrm>
                <a:off x="661481" y="1822871"/>
                <a:ext cx="8679493" cy="1087426"/>
              </a:xfrm>
              <a:prstGeom prst="rect">
                <a:avLst/>
              </a:prstGeom>
            </p:spPr>
          </p:pic>
          <p:sp>
            <p:nvSpPr>
              <p:cNvPr id="11" name="직사각형 10">
                <a:extLst>
                  <a:ext uri="{FF2B5EF4-FFF2-40B4-BE49-F238E27FC236}">
                    <a16:creationId xmlns:a16="http://schemas.microsoft.com/office/drawing/2014/main" id="{0FAE9D22-C75E-266C-6D40-18EA5779AA97}"/>
                  </a:ext>
                </a:extLst>
              </p:cNvPr>
              <p:cNvSpPr/>
              <p:nvPr/>
            </p:nvSpPr>
            <p:spPr>
              <a:xfrm>
                <a:off x="1011936" y="1926336"/>
                <a:ext cx="152400" cy="1752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50" dirty="0">
                    <a:solidFill>
                      <a:srgbClr val="2D3C9D"/>
                    </a:solidFill>
                    <a:latin typeface="D2Coding" panose="020B0609020101020101" pitchFamily="49" charset="-127"/>
                    <a:ea typeface="D2Coding" panose="020B0609020101020101" pitchFamily="49" charset="-127"/>
                  </a:rPr>
                  <a:t>3</a:t>
                </a:r>
                <a:endParaRPr lang="ko-KR" altLang="en-US" sz="1150" dirty="0">
                  <a:solidFill>
                    <a:srgbClr val="2D3C9D"/>
                  </a:solidFill>
                  <a:latin typeface="D2Coding" panose="020B0609020101020101" pitchFamily="49" charset="-127"/>
                  <a:ea typeface="D2Coding" panose="020B0609020101020101" pitchFamily="49" charset="-127"/>
                </a:endParaRPr>
              </a:p>
            </p:txBody>
          </p:sp>
          <p:sp>
            <p:nvSpPr>
              <p:cNvPr id="15" name="직사각형 14">
                <a:extLst>
                  <a:ext uri="{FF2B5EF4-FFF2-40B4-BE49-F238E27FC236}">
                    <a16:creationId xmlns:a16="http://schemas.microsoft.com/office/drawing/2014/main" id="{82A213D9-05BF-73B3-16A9-2709B95D99B1}"/>
                  </a:ext>
                </a:extLst>
              </p:cNvPr>
              <p:cNvSpPr/>
              <p:nvPr/>
            </p:nvSpPr>
            <p:spPr>
              <a:xfrm>
                <a:off x="1006596" y="2400729"/>
                <a:ext cx="163836" cy="125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50" dirty="0">
                    <a:solidFill>
                      <a:srgbClr val="2D3C9D"/>
                    </a:solidFill>
                    <a:latin typeface="D2Coding" panose="020B0609020101020101" pitchFamily="49" charset="-127"/>
                    <a:ea typeface="D2Coding" panose="020B0609020101020101" pitchFamily="49" charset="-127"/>
                  </a:rPr>
                  <a:t>4</a:t>
                </a:r>
                <a:endParaRPr lang="ko-KR" altLang="en-US" sz="1150" dirty="0">
                  <a:solidFill>
                    <a:srgbClr val="2D3C9D"/>
                  </a:solidFill>
                  <a:latin typeface="D2Coding" panose="020B0609020101020101" pitchFamily="49" charset="-127"/>
                  <a:ea typeface="D2Coding" panose="020B0609020101020101" pitchFamily="49" charset="-127"/>
                </a:endParaRPr>
              </a:p>
            </p:txBody>
          </p:sp>
          <p:sp>
            <p:nvSpPr>
              <p:cNvPr id="16" name="직사각형 15">
                <a:extLst>
                  <a:ext uri="{FF2B5EF4-FFF2-40B4-BE49-F238E27FC236}">
                    <a16:creationId xmlns:a16="http://schemas.microsoft.com/office/drawing/2014/main" id="{6F274D0E-768F-C40F-D67E-2ACB61BD1B56}"/>
                  </a:ext>
                </a:extLst>
              </p:cNvPr>
              <p:cNvSpPr/>
              <p:nvPr/>
            </p:nvSpPr>
            <p:spPr>
              <a:xfrm>
                <a:off x="1006596" y="2709243"/>
                <a:ext cx="163836" cy="125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50" dirty="0">
                    <a:solidFill>
                      <a:srgbClr val="D92C36"/>
                    </a:solidFill>
                    <a:latin typeface="D2Coding" panose="020B0609020101020101" pitchFamily="49" charset="-127"/>
                    <a:ea typeface="D2Coding" panose="020B0609020101020101" pitchFamily="49" charset="-127"/>
                  </a:rPr>
                  <a:t>4</a:t>
                </a:r>
                <a:endParaRPr lang="ko-KR" altLang="en-US" sz="1150" dirty="0">
                  <a:solidFill>
                    <a:srgbClr val="D92C36"/>
                  </a:solidFill>
                  <a:latin typeface="D2Coding" panose="020B0609020101020101" pitchFamily="49" charset="-127"/>
                  <a:ea typeface="D2Coding" panose="020B0609020101020101" pitchFamily="49" charset="-127"/>
                </a:endParaRPr>
              </a:p>
            </p:txBody>
          </p:sp>
        </p:grpSp>
      </p:grpSp>
    </p:spTree>
    <p:extLst>
      <p:ext uri="{BB962C8B-B14F-4D97-AF65-F5344CB8AC3E}">
        <p14:creationId xmlns:p14="http://schemas.microsoft.com/office/powerpoint/2010/main" val="423541095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EDE74EDE-D5BC-4793-BF0A-AC7C99E26ECA}"/>
              </a:ext>
            </a:extLst>
          </p:cNvPr>
          <p:cNvGrpSpPr/>
          <p:nvPr/>
        </p:nvGrpSpPr>
        <p:grpSpPr>
          <a:xfrm>
            <a:off x="558924" y="2042186"/>
            <a:ext cx="8782050" cy="3381536"/>
            <a:chOff x="558924" y="2132856"/>
            <a:chExt cx="8782050" cy="3381536"/>
          </a:xfrm>
        </p:grpSpPr>
        <p:sp>
          <p:nvSpPr>
            <p:cNvPr id="18"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33815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958" r="14281"/>
            <a:stretch/>
          </p:blipFill>
          <p:spPr>
            <a:xfrm>
              <a:off x="606489" y="2216993"/>
              <a:ext cx="8734485" cy="3227625"/>
            </a:xfrm>
            <a:prstGeom prst="rect">
              <a:avLst/>
            </a:prstGeom>
          </p:spPr>
        </p:pic>
      </p:grpSp>
      <p:grpSp>
        <p:nvGrpSpPr>
          <p:cNvPr id="12" name="그룹 11">
            <a:extLst>
              <a:ext uri="{FF2B5EF4-FFF2-40B4-BE49-F238E27FC236}">
                <a16:creationId xmlns:a16="http://schemas.microsoft.com/office/drawing/2014/main" id="{FF0B7C0B-D609-4436-8B08-033A8DBBC48E}"/>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FCDF57E7-AD64-47AE-9FA9-C5D8D8B7253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07CA62C3-7303-4C2C-852C-D96A7171312C}"/>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DataFrame objects can be created from dictionary objects. </a:t>
              </a:r>
            </a:p>
          </p:txBody>
        </p:sp>
      </p:grpSp>
    </p:spTree>
    <p:extLst>
      <p:ext uri="{BB962C8B-B14F-4D97-AF65-F5344CB8AC3E}">
        <p14:creationId xmlns:p14="http://schemas.microsoft.com/office/powerpoint/2010/main" val="96501251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Rectangle 12">
            <a:extLst>
              <a:ext uri="{FF2B5EF4-FFF2-40B4-BE49-F238E27FC236}">
                <a16:creationId xmlns:a16="http://schemas.microsoft.com/office/drawing/2014/main" id="{39C1D0BA-7152-4AAC-B295-DCCB5F8378F4}"/>
              </a:ext>
            </a:extLst>
          </p:cNvPr>
          <p:cNvSpPr/>
          <p:nvPr/>
        </p:nvSpPr>
        <p:spPr>
          <a:xfrm>
            <a:off x="707782" y="2260309"/>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method prints information about a DataFrame, including the index dtype and columns, non-null values, and memory usage. See help(df.info) for more detail.</a:t>
            </a:r>
          </a:p>
        </p:txBody>
      </p:sp>
      <p:grpSp>
        <p:nvGrpSpPr>
          <p:cNvPr id="3" name="그룹 2">
            <a:extLst>
              <a:ext uri="{FF2B5EF4-FFF2-40B4-BE49-F238E27FC236}">
                <a16:creationId xmlns:a16="http://schemas.microsoft.com/office/drawing/2014/main" id="{74590CFA-7FD2-4085-9099-C3F87547FA4F}"/>
              </a:ext>
            </a:extLst>
          </p:cNvPr>
          <p:cNvGrpSpPr/>
          <p:nvPr/>
        </p:nvGrpSpPr>
        <p:grpSpPr>
          <a:xfrm>
            <a:off x="558924" y="2860486"/>
            <a:ext cx="8782050" cy="2597922"/>
            <a:chOff x="558924" y="2860486"/>
            <a:chExt cx="8782050" cy="2597922"/>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860486"/>
              <a:ext cx="8782050" cy="259792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2335" r="16206"/>
            <a:stretch/>
          </p:blipFill>
          <p:spPr>
            <a:xfrm>
              <a:off x="615819" y="2912976"/>
              <a:ext cx="8724787" cy="2452653"/>
            </a:xfrm>
            <a:prstGeom prst="rect">
              <a:avLst/>
            </a:prstGeom>
          </p:spPr>
        </p:pic>
      </p:grpSp>
      <p:grpSp>
        <p:nvGrpSpPr>
          <p:cNvPr id="11" name="그룹 10">
            <a:extLst>
              <a:ext uri="{FF2B5EF4-FFF2-40B4-BE49-F238E27FC236}">
                <a16:creationId xmlns:a16="http://schemas.microsoft.com/office/drawing/2014/main" id="{E2E15D8F-BC51-4B43-B6EA-2FE8D64208A2}"/>
              </a:ext>
            </a:extLst>
          </p:cNvPr>
          <p:cNvGrpSpPr/>
          <p:nvPr/>
        </p:nvGrpSpPr>
        <p:grpSpPr>
          <a:xfrm>
            <a:off x="580388" y="1413381"/>
            <a:ext cx="8887612" cy="876956"/>
            <a:chOff x="580388" y="1413381"/>
            <a:chExt cx="8887612" cy="876956"/>
          </a:xfrm>
        </p:grpSpPr>
        <p:sp>
          <p:nvSpPr>
            <p:cNvPr id="12" name="직사각형 11">
              <a:extLst>
                <a:ext uri="{FF2B5EF4-FFF2-40B4-BE49-F238E27FC236}">
                  <a16:creationId xmlns:a16="http://schemas.microsoft.com/office/drawing/2014/main" id="{D1F3DEA5-7555-4AB5-9DA1-E1F360F47D2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
          <p:nvSpPr>
            <p:cNvPr id="14" name="Rectangle 12">
              <a:extLst>
                <a:ext uri="{FF2B5EF4-FFF2-40B4-BE49-F238E27FC236}">
                  <a16:creationId xmlns:a16="http://schemas.microsoft.com/office/drawing/2014/main" id="{A3888058-71B9-4174-A14F-A0104B997E06}"/>
                </a:ext>
              </a:extLst>
            </p:cNvPr>
            <p:cNvSpPr/>
            <p:nvPr/>
          </p:nvSpPr>
          <p:spPr>
            <a:xfrm>
              <a:off x="711201" y="1667877"/>
              <a:ext cx="8632824" cy="622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77800" indent="-177800">
                <a:spcAft>
                  <a:spcPts val="600"/>
                </a:spcAft>
                <a:buClr>
                  <a:srgbClr val="193EB0"/>
                </a:buClr>
                <a:buFont typeface="+mj-lt"/>
                <a:buAutoNum type="arabicParen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df.info()</a:t>
              </a:r>
            </a:p>
            <a:p>
              <a:pPr marL="177800" indent="-177800">
                <a:spcAft>
                  <a:spcPts val="600"/>
                </a:spcAft>
                <a:buClr>
                  <a:srgbClr val="193EB0"/>
                </a:buClr>
                <a:buFont typeface="+mj-lt"/>
                <a:buAutoNum type="arabicParen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df.head</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grpSp>
    </p:spTree>
    <p:extLst>
      <p:ext uri="{BB962C8B-B14F-4D97-AF65-F5344CB8AC3E}">
        <p14:creationId xmlns:p14="http://schemas.microsoft.com/office/powerpoint/2010/main" val="145025277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4754327"/>
            <a:ext cx="8782050" cy="728706"/>
            <a:chOff x="557644" y="5085181"/>
            <a:chExt cx="8782050" cy="728706"/>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87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only shows the first five data. It is used to quickly view the state or value of the data.</a:t>
              </a:r>
            </a:p>
          </p:txBody>
        </p:sp>
      </p:grpSp>
      <p:grpSp>
        <p:nvGrpSpPr>
          <p:cNvPr id="2" name="그룹 1">
            <a:extLst>
              <a:ext uri="{FF2B5EF4-FFF2-40B4-BE49-F238E27FC236}">
                <a16:creationId xmlns:a16="http://schemas.microsoft.com/office/drawing/2014/main" id="{ABCD76FC-1E84-47F7-9021-DE74A61642F2}"/>
              </a:ext>
            </a:extLst>
          </p:cNvPr>
          <p:cNvGrpSpPr/>
          <p:nvPr/>
        </p:nvGrpSpPr>
        <p:grpSpPr>
          <a:xfrm>
            <a:off x="558924" y="1748678"/>
            <a:ext cx="8782050" cy="2904458"/>
            <a:chOff x="558924" y="1844824"/>
            <a:chExt cx="8782050" cy="2904458"/>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290445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2289" r="16415"/>
            <a:stretch/>
          </p:blipFill>
          <p:spPr>
            <a:xfrm>
              <a:off x="625151" y="1913005"/>
              <a:ext cx="8715823" cy="2749971"/>
            </a:xfrm>
            <a:prstGeom prst="rect">
              <a:avLst/>
            </a:prstGeom>
          </p:spPr>
        </p:pic>
      </p:grpSp>
      <p:sp>
        <p:nvSpPr>
          <p:cNvPr id="18" name="직사각형 17">
            <a:extLst>
              <a:ext uri="{FF2B5EF4-FFF2-40B4-BE49-F238E27FC236}">
                <a16:creationId xmlns:a16="http://schemas.microsoft.com/office/drawing/2014/main" id="{EA51FE63-1550-4823-9A03-246E95E8B6D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Tree>
    <p:extLst>
      <p:ext uri="{BB962C8B-B14F-4D97-AF65-F5344CB8AC3E}">
        <p14:creationId xmlns:p14="http://schemas.microsoft.com/office/powerpoint/2010/main" val="21380440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4747965"/>
            <a:ext cx="8782050" cy="728706"/>
            <a:chOff x="557644" y="5085181"/>
            <a:chExt cx="8782050" cy="728706"/>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87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only shows the last five data.</a:t>
              </a:r>
            </a:p>
          </p:txBody>
        </p:sp>
      </p:grpSp>
      <p:grpSp>
        <p:nvGrpSpPr>
          <p:cNvPr id="3" name="그룹 2">
            <a:extLst>
              <a:ext uri="{FF2B5EF4-FFF2-40B4-BE49-F238E27FC236}">
                <a16:creationId xmlns:a16="http://schemas.microsoft.com/office/drawing/2014/main" id="{07E42625-624D-47D1-9E29-DCC7A5BCC6EF}"/>
              </a:ext>
            </a:extLst>
          </p:cNvPr>
          <p:cNvGrpSpPr/>
          <p:nvPr/>
        </p:nvGrpSpPr>
        <p:grpSpPr>
          <a:xfrm>
            <a:off x="558924" y="1776670"/>
            <a:ext cx="8782050" cy="2876466"/>
            <a:chOff x="558924" y="1844824"/>
            <a:chExt cx="8782050" cy="2876466"/>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287646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571" r="16117"/>
            <a:stretch/>
          </p:blipFill>
          <p:spPr>
            <a:xfrm>
              <a:off x="606490" y="1949871"/>
              <a:ext cx="8734484" cy="2690374"/>
            </a:xfrm>
            <a:prstGeom prst="rect">
              <a:avLst/>
            </a:prstGeom>
          </p:spPr>
        </p:pic>
      </p:grpSp>
      <p:sp>
        <p:nvSpPr>
          <p:cNvPr id="18" name="직사각형 17">
            <a:extLst>
              <a:ext uri="{FF2B5EF4-FFF2-40B4-BE49-F238E27FC236}">
                <a16:creationId xmlns:a16="http://schemas.microsoft.com/office/drawing/2014/main" id="{3B91AC54-A069-4135-8CC9-E379CF951B3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Tree>
    <p:extLst>
      <p:ext uri="{BB962C8B-B14F-4D97-AF65-F5344CB8AC3E}">
        <p14:creationId xmlns:p14="http://schemas.microsoft.com/office/powerpoint/2010/main" val="51883153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015208"/>
            <a:ext cx="8782050" cy="989856"/>
            <a:chOff x="557644" y="5085181"/>
            <a:chExt cx="8782050" cy="989856"/>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9898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477054"/>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Used to check the column name.</a:t>
              </a:r>
              <a:r>
                <a:rPr lang="ko-KR" altLang="en-US" sz="1300" dirty="0">
                  <a:solidFill>
                    <a:prstClr val="black">
                      <a:lumMod val="85000"/>
                      <a:lumOff val="15000"/>
                    </a:prstClr>
                  </a:solidFill>
                  <a:latin typeface="SamsungOne 400" panose="020B0503030303020204" pitchFamily="34" charset="0"/>
                </a:rPr>
                <a:t> </a:t>
              </a:r>
              <a:endParaRPr lang="en-US" altLang="ko-KR" sz="1300" dirty="0">
                <a:solidFill>
                  <a:prstClr val="black">
                    <a:lumMod val="85000"/>
                    <a:lumOff val="15000"/>
                  </a:prstClr>
                </a:solidFill>
                <a:latin typeface="SamsungOne 400" panose="020B0503030303020204" pitchFamily="34" charset="0"/>
              </a:endParaRPr>
            </a:p>
            <a:p>
              <a:pPr marL="182563" indent="-182563">
                <a:spcAft>
                  <a:spcPts val="600"/>
                </a:spcAft>
                <a:buFont typeface="Arial" panose="020B0604020202020204" pitchFamily="34" charset="0"/>
                <a:buChar char="•"/>
              </a:pPr>
              <a:r>
                <a:rPr lang="en-US" altLang="ko-KR" sz="1300" dirty="0" err="1">
                  <a:solidFill>
                    <a:prstClr val="black">
                      <a:lumMod val="85000"/>
                      <a:lumOff val="15000"/>
                    </a:prstClr>
                  </a:solidFill>
                  <a:latin typeface="SamsungOne 400" panose="020B0503030303020204" pitchFamily="34" charset="0"/>
                </a:rPr>
                <a:t>iris_df.columns</a:t>
              </a:r>
              <a:r>
                <a:rPr lang="en-US" altLang="ko-KR" sz="1300" dirty="0">
                  <a:solidFill>
                    <a:prstClr val="black">
                      <a:lumMod val="85000"/>
                      <a:lumOff val="15000"/>
                    </a:prstClr>
                  </a:solidFill>
                  <a:latin typeface="SamsungOne 400" panose="020B0503030303020204" pitchFamily="34" charset="0"/>
                </a:rPr>
                <a:t>() #caution: Since it is not a method, () is not used.</a:t>
              </a:r>
            </a:p>
          </p:txBody>
        </p:sp>
      </p:grpSp>
      <p:grpSp>
        <p:nvGrpSpPr>
          <p:cNvPr id="2" name="그룹 1">
            <a:extLst>
              <a:ext uri="{FF2B5EF4-FFF2-40B4-BE49-F238E27FC236}">
                <a16:creationId xmlns:a16="http://schemas.microsoft.com/office/drawing/2014/main" id="{B320B912-7661-4B71-ACBB-4B9111C67A9C}"/>
              </a:ext>
            </a:extLst>
          </p:cNvPr>
          <p:cNvGrpSpPr/>
          <p:nvPr/>
        </p:nvGrpSpPr>
        <p:grpSpPr>
          <a:xfrm>
            <a:off x="558924" y="1763485"/>
            <a:ext cx="8782051" cy="1152127"/>
            <a:chOff x="558924" y="1763485"/>
            <a:chExt cx="8782051" cy="1152127"/>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763485"/>
              <a:ext cx="8782050" cy="115212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758" r="24240"/>
            <a:stretch/>
          </p:blipFill>
          <p:spPr>
            <a:xfrm>
              <a:off x="614911" y="1795534"/>
              <a:ext cx="8726064" cy="1034494"/>
            </a:xfrm>
            <a:prstGeom prst="rect">
              <a:avLst/>
            </a:prstGeom>
          </p:spPr>
        </p:pic>
      </p:grpSp>
      <p:sp>
        <p:nvSpPr>
          <p:cNvPr id="18" name="직사각형 17">
            <a:extLst>
              <a:ext uri="{FF2B5EF4-FFF2-40B4-BE49-F238E27FC236}">
                <a16:creationId xmlns:a16="http://schemas.microsoft.com/office/drawing/2014/main" id="{71121C7C-EED7-4DF5-928F-A53E5030F43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Tree>
    <p:extLst>
      <p:ext uri="{BB962C8B-B14F-4D97-AF65-F5344CB8AC3E}">
        <p14:creationId xmlns:p14="http://schemas.microsoft.com/office/powerpoint/2010/main" val="16819193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2708920"/>
            <a:ext cx="8782050" cy="720080"/>
            <a:chOff x="557644" y="5085181"/>
            <a:chExt cx="8782050" cy="720080"/>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Used the check index.</a:t>
              </a:r>
            </a:p>
          </p:txBody>
        </p:sp>
      </p:grpSp>
      <p:grpSp>
        <p:nvGrpSpPr>
          <p:cNvPr id="4" name="그룹 3">
            <a:extLst>
              <a:ext uri="{FF2B5EF4-FFF2-40B4-BE49-F238E27FC236}">
                <a16:creationId xmlns:a16="http://schemas.microsoft.com/office/drawing/2014/main" id="{4285BFCB-20CC-4DD0-B57B-F9595339115D}"/>
              </a:ext>
            </a:extLst>
          </p:cNvPr>
          <p:cNvGrpSpPr/>
          <p:nvPr/>
        </p:nvGrpSpPr>
        <p:grpSpPr>
          <a:xfrm>
            <a:off x="558924" y="1754155"/>
            <a:ext cx="8782050" cy="842392"/>
            <a:chOff x="558924" y="1844825"/>
            <a:chExt cx="8782050" cy="842392"/>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844825"/>
              <a:ext cx="8782050" cy="8423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665" r="22499"/>
            <a:stretch/>
          </p:blipFill>
          <p:spPr>
            <a:xfrm>
              <a:off x="597159" y="1889975"/>
              <a:ext cx="8743815" cy="720079"/>
            </a:xfrm>
            <a:prstGeom prst="rect">
              <a:avLst/>
            </a:prstGeom>
          </p:spPr>
        </p:pic>
      </p:grpSp>
      <p:sp>
        <p:nvSpPr>
          <p:cNvPr id="19" name="직사각형 18">
            <a:extLst>
              <a:ext uri="{FF2B5EF4-FFF2-40B4-BE49-F238E27FC236}">
                <a16:creationId xmlns:a16="http://schemas.microsoft.com/office/drawing/2014/main" id="{9A261ED7-062B-4282-9974-DBDD84A6E7D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Tree>
    <p:extLst>
      <p:ext uri="{BB962C8B-B14F-4D97-AF65-F5344CB8AC3E}">
        <p14:creationId xmlns:p14="http://schemas.microsoft.com/office/powerpoint/2010/main" val="425822290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501210"/>
            <a:ext cx="8782050" cy="720080"/>
            <a:chOff x="557644" y="5085181"/>
            <a:chExt cx="8782050" cy="720080"/>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You can see that it has changed from . to _.</a:t>
              </a:r>
            </a:p>
          </p:txBody>
        </p:sp>
      </p:grpSp>
      <p:grpSp>
        <p:nvGrpSpPr>
          <p:cNvPr id="3" name="그룹 2">
            <a:extLst>
              <a:ext uri="{FF2B5EF4-FFF2-40B4-BE49-F238E27FC236}">
                <a16:creationId xmlns:a16="http://schemas.microsoft.com/office/drawing/2014/main" id="{A418E2BD-314B-42D7-9B77-4B6FE769DE2A}"/>
              </a:ext>
            </a:extLst>
          </p:cNvPr>
          <p:cNvGrpSpPr/>
          <p:nvPr/>
        </p:nvGrpSpPr>
        <p:grpSpPr>
          <a:xfrm>
            <a:off x="558924" y="2065113"/>
            <a:ext cx="8782050" cy="3338999"/>
            <a:chOff x="558924" y="2137121"/>
            <a:chExt cx="8782050" cy="3338999"/>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137121"/>
              <a:ext cx="8782050" cy="33389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486" r="11842"/>
            <a:stretch/>
          </p:blipFill>
          <p:spPr>
            <a:xfrm>
              <a:off x="597158" y="2210982"/>
              <a:ext cx="8743816" cy="3172779"/>
            </a:xfrm>
            <a:prstGeom prst="rect">
              <a:avLst/>
            </a:prstGeom>
          </p:spPr>
        </p:pic>
        <p:sp>
          <p:nvSpPr>
            <p:cNvPr id="5" name="직사각형 4"/>
            <p:cNvSpPr/>
            <p:nvPr/>
          </p:nvSpPr>
          <p:spPr>
            <a:xfrm>
              <a:off x="1899799" y="2705877"/>
              <a:ext cx="2896136" cy="205273"/>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그룹 18">
            <a:extLst>
              <a:ext uri="{FF2B5EF4-FFF2-40B4-BE49-F238E27FC236}">
                <a16:creationId xmlns:a16="http://schemas.microsoft.com/office/drawing/2014/main" id="{1AEE243E-6068-4CEC-95BD-ED05B54E501E}"/>
              </a:ext>
            </a:extLst>
          </p:cNvPr>
          <p:cNvGrpSpPr/>
          <p:nvPr/>
        </p:nvGrpSpPr>
        <p:grpSpPr>
          <a:xfrm>
            <a:off x="580388" y="1413381"/>
            <a:ext cx="8887612" cy="599957"/>
            <a:chOff x="580388" y="1413381"/>
            <a:chExt cx="8887612" cy="599957"/>
          </a:xfrm>
        </p:grpSpPr>
        <p:sp>
          <p:nvSpPr>
            <p:cNvPr id="20" name="직사각형 19">
              <a:extLst>
                <a:ext uri="{FF2B5EF4-FFF2-40B4-BE49-F238E27FC236}">
                  <a16:creationId xmlns:a16="http://schemas.microsoft.com/office/drawing/2014/main" id="{E320684C-56F0-496A-94B6-452A58CF92B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
          <p:nvSpPr>
            <p:cNvPr id="21" name="Rectangle 12">
              <a:extLst>
                <a:ext uri="{FF2B5EF4-FFF2-40B4-BE49-F238E27FC236}">
                  <a16:creationId xmlns:a16="http://schemas.microsoft.com/office/drawing/2014/main" id="{ABE1C511-3388-4B4D-B79F-3A1B13B315DA}"/>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You can also change the column name, as shown below. </a:t>
              </a:r>
            </a:p>
          </p:txBody>
        </p:sp>
      </p:grpSp>
    </p:spTree>
    <p:extLst>
      <p:ext uri="{BB962C8B-B14F-4D97-AF65-F5344CB8AC3E}">
        <p14:creationId xmlns:p14="http://schemas.microsoft.com/office/powerpoint/2010/main" val="396858057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C9123B1F-D33F-4EA4-ACBA-12ACC9EC9222}"/>
              </a:ext>
            </a:extLst>
          </p:cNvPr>
          <p:cNvGrpSpPr/>
          <p:nvPr/>
        </p:nvGrpSpPr>
        <p:grpSpPr>
          <a:xfrm>
            <a:off x="558924" y="2065113"/>
            <a:ext cx="8782050" cy="4100191"/>
            <a:chOff x="558924" y="2137121"/>
            <a:chExt cx="8782050" cy="4100191"/>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2137121"/>
              <a:ext cx="8782050" cy="41001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91" r="13358"/>
            <a:stretch/>
          </p:blipFill>
          <p:spPr>
            <a:xfrm>
              <a:off x="615819" y="2203239"/>
              <a:ext cx="8725155" cy="3934072"/>
            </a:xfrm>
            <a:prstGeom prst="rect">
              <a:avLst/>
            </a:prstGeom>
          </p:spPr>
        </p:pic>
      </p:grpSp>
      <p:grpSp>
        <p:nvGrpSpPr>
          <p:cNvPr id="12" name="그룹 11">
            <a:extLst>
              <a:ext uri="{FF2B5EF4-FFF2-40B4-BE49-F238E27FC236}">
                <a16:creationId xmlns:a16="http://schemas.microsoft.com/office/drawing/2014/main" id="{D653280F-F9B6-49D2-AF8C-A0EFFC5F4630}"/>
              </a:ext>
            </a:extLst>
          </p:cNvPr>
          <p:cNvGrpSpPr/>
          <p:nvPr/>
        </p:nvGrpSpPr>
        <p:grpSpPr>
          <a:xfrm>
            <a:off x="580388" y="1413381"/>
            <a:ext cx="8887612" cy="599957"/>
            <a:chOff x="580388" y="1413381"/>
            <a:chExt cx="8887612" cy="599957"/>
          </a:xfrm>
        </p:grpSpPr>
        <p:sp>
          <p:nvSpPr>
            <p:cNvPr id="14" name="직사각형 13">
              <a:extLst>
                <a:ext uri="{FF2B5EF4-FFF2-40B4-BE49-F238E27FC236}">
                  <a16:creationId xmlns:a16="http://schemas.microsoft.com/office/drawing/2014/main" id="{D5A0211F-15DE-49D1-935D-7607057016E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Things to Check After Bringing in the DataFrame</a:t>
              </a:r>
            </a:p>
          </p:txBody>
        </p:sp>
        <p:sp>
          <p:nvSpPr>
            <p:cNvPr id="15" name="Rectangle 12">
              <a:extLst>
                <a:ext uri="{FF2B5EF4-FFF2-40B4-BE49-F238E27FC236}">
                  <a16:creationId xmlns:a16="http://schemas.microsoft.com/office/drawing/2014/main" id="{01437C75-7E2F-433B-A002-AEE8E225C457}"/>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Indexing and slicing are also possible in DataFrames.</a:t>
              </a:r>
            </a:p>
          </p:txBody>
        </p:sp>
      </p:grpSp>
    </p:spTree>
    <p:extLst>
      <p:ext uri="{BB962C8B-B14F-4D97-AF65-F5344CB8AC3E}">
        <p14:creationId xmlns:p14="http://schemas.microsoft.com/office/powerpoint/2010/main" val="182532441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FC447B23-8837-41BD-9CD2-A79AF7BC4F09}"/>
              </a:ext>
            </a:extLst>
          </p:cNvPr>
          <p:cNvGrpSpPr/>
          <p:nvPr/>
        </p:nvGrpSpPr>
        <p:grpSpPr>
          <a:xfrm>
            <a:off x="558924" y="1700808"/>
            <a:ext cx="8782050" cy="4569363"/>
            <a:chOff x="558924" y="1700808"/>
            <a:chExt cx="8782050" cy="4569363"/>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700808"/>
              <a:ext cx="8782050" cy="45693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651" r="6157" b="2348"/>
            <a:stretch/>
          </p:blipFill>
          <p:spPr>
            <a:xfrm>
              <a:off x="653142" y="1753565"/>
              <a:ext cx="8687832" cy="4426799"/>
            </a:xfrm>
            <a:prstGeom prst="rect">
              <a:avLst/>
            </a:prstGeom>
          </p:spPr>
        </p:pic>
      </p:grpSp>
      <p:sp>
        <p:nvSpPr>
          <p:cNvPr id="10" name="직사각형 9">
            <a:extLst>
              <a:ext uri="{FF2B5EF4-FFF2-40B4-BE49-F238E27FC236}">
                <a16:creationId xmlns:a16="http://schemas.microsoft.com/office/drawing/2014/main" id="{74E468AF-11C6-4440-BCD6-0999ED2A9F2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Several columns are brought into the two-dimensional form, as shown below.</a:t>
            </a:r>
          </a:p>
        </p:txBody>
      </p:sp>
    </p:spTree>
    <p:extLst>
      <p:ext uri="{BB962C8B-B14F-4D97-AF65-F5344CB8AC3E}">
        <p14:creationId xmlns:p14="http://schemas.microsoft.com/office/powerpoint/2010/main" val="201486227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aphicFrame>
        <p:nvGraphicFramePr>
          <p:cNvPr id="11" name="표 10"/>
          <p:cNvGraphicFramePr>
            <a:graphicFrameLocks noGrp="1"/>
          </p:cNvGraphicFramePr>
          <p:nvPr>
            <p:extLst>
              <p:ext uri="{D42A27DB-BD31-4B8C-83A1-F6EECF244321}">
                <p14:modId xmlns:p14="http://schemas.microsoft.com/office/powerpoint/2010/main" val="1291148799"/>
              </p:ext>
            </p:extLst>
          </p:nvPr>
        </p:nvGraphicFramePr>
        <p:xfrm>
          <a:off x="1881367" y="2348880"/>
          <a:ext cx="5922492" cy="1152129"/>
        </p:xfrm>
        <a:graphic>
          <a:graphicData uri="http://schemas.openxmlformats.org/drawingml/2006/table">
            <a:tbl>
              <a:tblPr firstRow="1" bandRow="1">
                <a:tableStyleId>{5940675A-B579-460E-94D1-54222C63F5DA}</a:tableStyleId>
              </a:tblPr>
              <a:tblGrid>
                <a:gridCol w="1480623">
                  <a:extLst>
                    <a:ext uri="{9D8B030D-6E8A-4147-A177-3AD203B41FA5}">
                      <a16:colId xmlns:a16="http://schemas.microsoft.com/office/drawing/2014/main" val="20000"/>
                    </a:ext>
                  </a:extLst>
                </a:gridCol>
                <a:gridCol w="1480623">
                  <a:extLst>
                    <a:ext uri="{9D8B030D-6E8A-4147-A177-3AD203B41FA5}">
                      <a16:colId xmlns:a16="http://schemas.microsoft.com/office/drawing/2014/main" val="20001"/>
                    </a:ext>
                  </a:extLst>
                </a:gridCol>
                <a:gridCol w="1480623">
                  <a:extLst>
                    <a:ext uri="{9D8B030D-6E8A-4147-A177-3AD203B41FA5}">
                      <a16:colId xmlns:a16="http://schemas.microsoft.com/office/drawing/2014/main" val="20002"/>
                    </a:ext>
                  </a:extLst>
                </a:gridCol>
                <a:gridCol w="1480623">
                  <a:extLst>
                    <a:ext uri="{9D8B030D-6E8A-4147-A177-3AD203B41FA5}">
                      <a16:colId xmlns:a16="http://schemas.microsoft.com/office/drawing/2014/main" val="20003"/>
                    </a:ext>
                  </a:extLst>
                </a:gridCol>
              </a:tblGrid>
              <a:tr h="384043">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Sex</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School</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84043">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Tom</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middle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84043">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Alice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elementary</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12" name="그룹 11">
            <a:extLst>
              <a:ext uri="{FF2B5EF4-FFF2-40B4-BE49-F238E27FC236}">
                <a16:creationId xmlns:a16="http://schemas.microsoft.com/office/drawing/2014/main" id="{2889707C-3FF7-4D79-955A-7377813A0FDD}"/>
              </a:ext>
            </a:extLst>
          </p:cNvPr>
          <p:cNvGrpSpPr/>
          <p:nvPr/>
        </p:nvGrpSpPr>
        <p:grpSpPr>
          <a:xfrm>
            <a:off x="580388" y="1413381"/>
            <a:ext cx="8887612" cy="800012"/>
            <a:chOff x="580388" y="1413381"/>
            <a:chExt cx="8887612" cy="800012"/>
          </a:xfrm>
        </p:grpSpPr>
        <p:sp>
          <p:nvSpPr>
            <p:cNvPr id="13" name="직사각형 12">
              <a:extLst>
                <a:ext uri="{FF2B5EF4-FFF2-40B4-BE49-F238E27FC236}">
                  <a16:creationId xmlns:a16="http://schemas.microsoft.com/office/drawing/2014/main" id="{418D7A7D-F684-429E-A8DA-84928FBC7E3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7E273022-885A-4E67-AEDE-6D8CF8CD8E3F}"/>
                </a:ext>
              </a:extLst>
            </p:cNvPr>
            <p:cNvSpPr/>
            <p:nvPr/>
          </p:nvSpPr>
          <p:spPr>
            <a:xfrm>
              <a:off x="711201" y="1667877"/>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DataFrame can also be created into a two-dimensional array. Let’s make the table below into a two-dimensional array of DataFrames.</a:t>
              </a:r>
            </a:p>
          </p:txBody>
        </p:sp>
      </p:grpSp>
    </p:spTree>
    <p:extLst>
      <p:ext uri="{BB962C8B-B14F-4D97-AF65-F5344CB8AC3E}">
        <p14:creationId xmlns:p14="http://schemas.microsoft.com/office/powerpoint/2010/main" val="66356201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Rectangle 12">
            <a:extLst>
              <a:ext uri="{FF2B5EF4-FFF2-40B4-BE49-F238E27FC236}">
                <a16:creationId xmlns:a16="http://schemas.microsoft.com/office/drawing/2014/main" id="{39C1D0BA-7152-4AAC-B295-DCCB5F8378F4}"/>
              </a:ext>
            </a:extLst>
          </p:cNvPr>
          <p:cNvSpPr/>
          <p:nvPr/>
        </p:nvSpPr>
        <p:spPr>
          <a:xfrm>
            <a:off x="711201" y="2295295"/>
            <a:ext cx="8632824"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shown above, the column name is not recognized when the data is entered. Thus, you have to set the columns yourself and create a DataFrame.</a:t>
            </a:r>
          </a:p>
        </p:txBody>
      </p:sp>
      <p:grpSp>
        <p:nvGrpSpPr>
          <p:cNvPr id="2" name="그룹 1">
            <a:extLst>
              <a:ext uri="{FF2B5EF4-FFF2-40B4-BE49-F238E27FC236}">
                <a16:creationId xmlns:a16="http://schemas.microsoft.com/office/drawing/2014/main" id="{564E533E-5A43-43B0-B639-AD64973725F2}"/>
              </a:ext>
            </a:extLst>
          </p:cNvPr>
          <p:cNvGrpSpPr/>
          <p:nvPr/>
        </p:nvGrpSpPr>
        <p:grpSpPr>
          <a:xfrm>
            <a:off x="558924" y="1726830"/>
            <a:ext cx="8782050" cy="497160"/>
            <a:chOff x="558924" y="1844824"/>
            <a:chExt cx="8782050" cy="49716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497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2089" t="2536" r="8535" b="85182"/>
            <a:stretch/>
          </p:blipFill>
          <p:spPr>
            <a:xfrm>
              <a:off x="643811" y="1922103"/>
              <a:ext cx="8697163" cy="335905"/>
            </a:xfrm>
            <a:prstGeom prst="rect">
              <a:avLst/>
            </a:prstGeom>
          </p:spPr>
        </p:pic>
      </p:grpSp>
      <p:grpSp>
        <p:nvGrpSpPr>
          <p:cNvPr id="4" name="그룹 3">
            <a:extLst>
              <a:ext uri="{FF2B5EF4-FFF2-40B4-BE49-F238E27FC236}">
                <a16:creationId xmlns:a16="http://schemas.microsoft.com/office/drawing/2014/main" id="{E3BABB7B-45B4-45B7-B859-18A89A4BCE4A}"/>
              </a:ext>
            </a:extLst>
          </p:cNvPr>
          <p:cNvGrpSpPr/>
          <p:nvPr/>
        </p:nvGrpSpPr>
        <p:grpSpPr>
          <a:xfrm>
            <a:off x="558924" y="2943606"/>
            <a:ext cx="8782050" cy="2270787"/>
            <a:chOff x="558924" y="3140967"/>
            <a:chExt cx="8782050" cy="2270787"/>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3140967"/>
              <a:ext cx="8782050" cy="22707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그림 11"/>
            <p:cNvPicPr>
              <a:picLocks noChangeAspect="1"/>
            </p:cNvPicPr>
            <p:nvPr/>
          </p:nvPicPr>
          <p:blipFill rotWithShape="1">
            <a:blip r:embed="rId3"/>
            <a:srcRect l="1392" t="31049" r="17654"/>
            <a:stretch/>
          </p:blipFill>
          <p:spPr>
            <a:xfrm>
              <a:off x="597159" y="3220310"/>
              <a:ext cx="8743815" cy="2102188"/>
            </a:xfrm>
            <a:prstGeom prst="rect">
              <a:avLst/>
            </a:prstGeom>
          </p:spPr>
        </p:pic>
      </p:grpSp>
      <p:sp>
        <p:nvSpPr>
          <p:cNvPr id="14" name="직사각형 13">
            <a:extLst>
              <a:ext uri="{FF2B5EF4-FFF2-40B4-BE49-F238E27FC236}">
                <a16:creationId xmlns:a16="http://schemas.microsoft.com/office/drawing/2014/main" id="{00B5526C-50F3-41C6-9B60-13B111C507B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Tree>
    <p:extLst>
      <p:ext uri="{BB962C8B-B14F-4D97-AF65-F5344CB8AC3E}">
        <p14:creationId xmlns:p14="http://schemas.microsoft.com/office/powerpoint/2010/main" val="118665018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00B2A562-2A03-43DD-99F6-F71800ACEA98}"/>
              </a:ext>
            </a:extLst>
          </p:cNvPr>
          <p:cNvGrpSpPr/>
          <p:nvPr/>
        </p:nvGrpSpPr>
        <p:grpSpPr>
          <a:xfrm>
            <a:off x="558924" y="1722918"/>
            <a:ext cx="8785334" cy="1850098"/>
            <a:chOff x="558924" y="1844825"/>
            <a:chExt cx="8785334" cy="185009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844825"/>
              <a:ext cx="8782050" cy="18500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l="1381" r="1635" b="3723"/>
            <a:stretch/>
          </p:blipFill>
          <p:spPr>
            <a:xfrm>
              <a:off x="606490" y="1872219"/>
              <a:ext cx="8737768" cy="1772806"/>
            </a:xfrm>
            <a:prstGeom prst="rect">
              <a:avLst/>
            </a:prstGeom>
          </p:spPr>
        </p:pic>
      </p:grpSp>
      <p:sp>
        <p:nvSpPr>
          <p:cNvPr id="10" name="직사각형 9">
            <a:extLst>
              <a:ext uri="{FF2B5EF4-FFF2-40B4-BE49-F238E27FC236}">
                <a16:creationId xmlns:a16="http://schemas.microsoft.com/office/drawing/2014/main" id="{7AF9C479-C2E1-4ADD-A4A2-FA7D87E6DD6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Tree>
    <p:extLst>
      <p:ext uri="{BB962C8B-B14F-4D97-AF65-F5344CB8AC3E}">
        <p14:creationId xmlns:p14="http://schemas.microsoft.com/office/powerpoint/2010/main" val="238525183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A7BCA11F-5298-4007-8F5B-8257F439BFEB}"/>
              </a:ext>
            </a:extLst>
          </p:cNvPr>
          <p:cNvGrpSpPr/>
          <p:nvPr/>
        </p:nvGrpSpPr>
        <p:grpSpPr>
          <a:xfrm>
            <a:off x="558924" y="3212191"/>
            <a:ext cx="8782050" cy="792873"/>
            <a:chOff x="558924" y="3228621"/>
            <a:chExt cx="8782050" cy="79287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3228621"/>
              <a:ext cx="8782050" cy="79287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863" t="10708" r="21860"/>
            <a:stretch/>
          </p:blipFill>
          <p:spPr>
            <a:xfrm>
              <a:off x="615820" y="3312367"/>
              <a:ext cx="8725154" cy="648619"/>
            </a:xfrm>
            <a:prstGeom prst="rect">
              <a:avLst/>
            </a:prstGeom>
          </p:spPr>
        </p:pic>
      </p:grpSp>
      <p:grpSp>
        <p:nvGrpSpPr>
          <p:cNvPr id="12" name="그룹 11">
            <a:extLst>
              <a:ext uri="{FF2B5EF4-FFF2-40B4-BE49-F238E27FC236}">
                <a16:creationId xmlns:a16="http://schemas.microsoft.com/office/drawing/2014/main" id="{1DFFCFAD-9DFA-4FD2-90D9-BBB37C4EDC07}"/>
              </a:ext>
            </a:extLst>
          </p:cNvPr>
          <p:cNvGrpSpPr/>
          <p:nvPr/>
        </p:nvGrpSpPr>
        <p:grpSpPr>
          <a:xfrm>
            <a:off x="580388" y="1413381"/>
            <a:ext cx="8887612" cy="1707953"/>
            <a:chOff x="580388" y="1413381"/>
            <a:chExt cx="8887612" cy="1707953"/>
          </a:xfrm>
        </p:grpSpPr>
        <p:sp>
          <p:nvSpPr>
            <p:cNvPr id="13" name="직사각형 12">
              <a:extLst>
                <a:ext uri="{FF2B5EF4-FFF2-40B4-BE49-F238E27FC236}">
                  <a16:creationId xmlns:a16="http://schemas.microsoft.com/office/drawing/2014/main" id="{A59849F6-1C9D-4735-9B7F-09B8F90630B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93E737D3-DEE0-4C77-8F24-3AC6686A9ECD}"/>
                </a:ext>
              </a:extLst>
            </p:cNvPr>
            <p:cNvSpPr/>
            <p:nvPr/>
          </p:nvSpPr>
          <p:spPr>
            <a:xfrm>
              <a:off x="711201" y="1667877"/>
              <a:ext cx="8632824" cy="1453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row index and column name object of the df of the DataFrame, represented as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df.index</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df.columns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can be changed by assigning a new list to the attributes of the row index and column.</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#Row Index Change: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Object.index</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new row index list</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#Column Name Change: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Object.columns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new column name list</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is no index at this time. </a:t>
              </a:r>
            </a:p>
          </p:txBody>
        </p:sp>
      </p:grpSp>
    </p:spTree>
    <p:extLst>
      <p:ext uri="{BB962C8B-B14F-4D97-AF65-F5344CB8AC3E}">
        <p14:creationId xmlns:p14="http://schemas.microsoft.com/office/powerpoint/2010/main" val="137352177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04AB9689-4AF1-40F7-97A9-40954D4F6A2A}"/>
              </a:ext>
            </a:extLst>
          </p:cNvPr>
          <p:cNvGrpSpPr/>
          <p:nvPr/>
        </p:nvGrpSpPr>
        <p:grpSpPr>
          <a:xfrm>
            <a:off x="558924" y="1718051"/>
            <a:ext cx="8782050" cy="3007093"/>
            <a:chOff x="558924" y="1844824"/>
            <a:chExt cx="8782050" cy="300709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844824"/>
              <a:ext cx="8782050" cy="300709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571" r="17402"/>
            <a:stretch/>
          </p:blipFill>
          <p:spPr>
            <a:xfrm>
              <a:off x="615821" y="1914195"/>
              <a:ext cx="8725153" cy="2829611"/>
            </a:xfrm>
            <a:prstGeom prst="rect">
              <a:avLst/>
            </a:prstGeom>
          </p:spPr>
        </p:pic>
      </p:grpSp>
      <p:sp>
        <p:nvSpPr>
          <p:cNvPr id="10" name="직사각형 9">
            <a:extLst>
              <a:ext uri="{FF2B5EF4-FFF2-40B4-BE49-F238E27FC236}">
                <a16:creationId xmlns:a16="http://schemas.microsoft.com/office/drawing/2014/main" id="{5315AC40-22C0-4AD1-BDF5-CC608D931E3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Tree>
    <p:extLst>
      <p:ext uri="{BB962C8B-B14F-4D97-AF65-F5344CB8AC3E}">
        <p14:creationId xmlns:p14="http://schemas.microsoft.com/office/powerpoint/2010/main" val="32274064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E970F110-BBB9-4FAD-BCEC-8B3D7385CBE1}"/>
              </a:ext>
            </a:extLst>
          </p:cNvPr>
          <p:cNvGrpSpPr/>
          <p:nvPr/>
        </p:nvGrpSpPr>
        <p:grpSpPr>
          <a:xfrm>
            <a:off x="558924" y="2060848"/>
            <a:ext cx="8782050" cy="2232248"/>
            <a:chOff x="558924" y="2132856"/>
            <a:chExt cx="8782050" cy="223224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22322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675" r="16801"/>
            <a:stretch/>
          </p:blipFill>
          <p:spPr>
            <a:xfrm>
              <a:off x="653143" y="2192896"/>
              <a:ext cx="8687831" cy="2100200"/>
            </a:xfrm>
            <a:prstGeom prst="rect">
              <a:avLst/>
            </a:prstGeom>
          </p:spPr>
        </p:pic>
      </p:grpSp>
      <p:grpSp>
        <p:nvGrpSpPr>
          <p:cNvPr id="12" name="그룹 11">
            <a:extLst>
              <a:ext uri="{FF2B5EF4-FFF2-40B4-BE49-F238E27FC236}">
                <a16:creationId xmlns:a16="http://schemas.microsoft.com/office/drawing/2014/main" id="{F2135B04-FFAA-44ED-A1FA-7BD303B88913}"/>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E615D12F-BB39-457C-9CAD-EA9CFB2340C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6BADEF20-0029-4140-92C9-723084A3172B}"/>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Columns can also be changed.</a:t>
              </a:r>
            </a:p>
          </p:txBody>
        </p:sp>
      </p:grpSp>
    </p:spTree>
    <p:extLst>
      <p:ext uri="{BB962C8B-B14F-4D97-AF65-F5344CB8AC3E}">
        <p14:creationId xmlns:p14="http://schemas.microsoft.com/office/powerpoint/2010/main" val="27033562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9" name="그룹 8">
            <a:extLst>
              <a:ext uri="{FF2B5EF4-FFF2-40B4-BE49-F238E27FC236}">
                <a16:creationId xmlns:a16="http://schemas.microsoft.com/office/drawing/2014/main" id="{E7991987-6F16-492A-AD10-99D7FE0E4548}"/>
              </a:ext>
            </a:extLst>
          </p:cNvPr>
          <p:cNvGrpSpPr/>
          <p:nvPr/>
        </p:nvGrpSpPr>
        <p:grpSpPr>
          <a:xfrm>
            <a:off x="580388" y="1413381"/>
            <a:ext cx="8887612" cy="1605360"/>
            <a:chOff x="580388" y="1413381"/>
            <a:chExt cx="8887612" cy="1605360"/>
          </a:xfrm>
        </p:grpSpPr>
        <p:sp>
          <p:nvSpPr>
            <p:cNvPr id="11" name="직사각형 10">
              <a:extLst>
                <a:ext uri="{FF2B5EF4-FFF2-40B4-BE49-F238E27FC236}">
                  <a16:creationId xmlns:a16="http://schemas.microsoft.com/office/drawing/2014/main" id="{02F2D70D-B16C-45B4-8159-1138BA3AC05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2" name="Rectangle 12">
              <a:extLst>
                <a:ext uri="{FF2B5EF4-FFF2-40B4-BE49-F238E27FC236}">
                  <a16:creationId xmlns:a16="http://schemas.microsoft.com/office/drawing/2014/main" id="{E90ED5C1-1286-4575-B88F-782BE392419A}"/>
                </a:ext>
              </a:extLst>
            </p:cNvPr>
            <p:cNvSpPr/>
            <p:nvPr/>
          </p:nvSpPr>
          <p:spPr>
            <a:xfrm>
              <a:off x="711201" y="1667877"/>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is also possible to select and replace a row index or a part of the column name using the rename method in the DataFrame. It should be noted, however, that the original object is not directly modified, but a new DataFrame object is returned. Use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inplace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True option to change the original object.</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Row Index Change: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Object.rename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(index={Existing index: New index,…})</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Column Name Change: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Object.renames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=(columns={Existing Name: New Name,…})</a:t>
              </a:r>
            </a:p>
          </p:txBody>
        </p:sp>
      </p:grpSp>
    </p:spTree>
    <p:extLst>
      <p:ext uri="{BB962C8B-B14F-4D97-AF65-F5344CB8AC3E}">
        <p14:creationId xmlns:p14="http://schemas.microsoft.com/office/powerpoint/2010/main" val="48639478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705073"/>
            <a:ext cx="8782050" cy="33389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138530"/>
            <a:ext cx="8782050" cy="720080"/>
            <a:chOff x="557644" y="5085181"/>
            <a:chExt cx="8782050" cy="720080"/>
          </a:xfrm>
        </p:grpSpPr>
        <p:sp>
          <p:nvSpPr>
            <p:cNvPr id="14"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7" name="TextBox 16">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Looking at it again, notice that it didn’t change. Let’s try the </a:t>
              </a:r>
              <a:r>
                <a:rPr lang="en-US" altLang="ko-KR" sz="1300" dirty="0" err="1">
                  <a:solidFill>
                    <a:prstClr val="black">
                      <a:lumMod val="85000"/>
                      <a:lumOff val="15000"/>
                    </a:prstClr>
                  </a:solidFill>
                  <a:latin typeface="SamsungOne 400" panose="020B0503030303020204" pitchFamily="34" charset="0"/>
                </a:rPr>
                <a:t>inplace</a:t>
              </a:r>
              <a:r>
                <a:rPr lang="en-US" altLang="ko-KR" sz="1300" dirty="0">
                  <a:solidFill>
                    <a:prstClr val="black">
                      <a:lumMod val="85000"/>
                      <a:lumOff val="15000"/>
                    </a:prstClr>
                  </a:solidFill>
                  <a:latin typeface="SamsungOne 400" panose="020B0503030303020204" pitchFamily="34" charset="0"/>
                </a:rPr>
                <a:t>=True option.</a:t>
              </a:r>
            </a:p>
          </p:txBody>
        </p:sp>
      </p:grpSp>
      <p:pic>
        <p:nvPicPr>
          <p:cNvPr id="2" name="그림 1"/>
          <p:cNvPicPr>
            <a:picLocks noChangeAspect="1"/>
          </p:cNvPicPr>
          <p:nvPr/>
        </p:nvPicPr>
        <p:blipFill rotWithShape="1">
          <a:blip r:embed="rId4"/>
          <a:srcRect l="1476" r="14290"/>
          <a:stretch/>
        </p:blipFill>
        <p:spPr>
          <a:xfrm>
            <a:off x="634481" y="1765236"/>
            <a:ext cx="8706494" cy="3198857"/>
          </a:xfrm>
          <a:prstGeom prst="rect">
            <a:avLst/>
          </a:prstGeom>
        </p:spPr>
      </p:pic>
      <p:sp>
        <p:nvSpPr>
          <p:cNvPr id="18" name="직사각형 17">
            <a:extLst>
              <a:ext uri="{FF2B5EF4-FFF2-40B4-BE49-F238E27FC236}">
                <a16:creationId xmlns:a16="http://schemas.microsoft.com/office/drawing/2014/main" id="{A4E10670-0239-442B-9DB1-1EADD2E144E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Tree>
    <p:extLst>
      <p:ext uri="{BB962C8B-B14F-4D97-AF65-F5344CB8AC3E}">
        <p14:creationId xmlns:p14="http://schemas.microsoft.com/office/powerpoint/2010/main" val="422970707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D6DAAB86-BB53-45E2-8080-556D32DC1235}"/>
              </a:ext>
            </a:extLst>
          </p:cNvPr>
          <p:cNvGrpSpPr/>
          <p:nvPr/>
        </p:nvGrpSpPr>
        <p:grpSpPr>
          <a:xfrm>
            <a:off x="558924" y="1710139"/>
            <a:ext cx="8782050" cy="2183363"/>
            <a:chOff x="558924" y="1772817"/>
            <a:chExt cx="8782050" cy="2183363"/>
          </a:xfrm>
        </p:grpSpPr>
        <p:sp>
          <p:nvSpPr>
            <p:cNvPr id="13"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1833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476" r="15890"/>
            <a:stretch/>
          </p:blipFill>
          <p:spPr>
            <a:xfrm>
              <a:off x="625150" y="1823526"/>
              <a:ext cx="8715824" cy="2109530"/>
            </a:xfrm>
            <a:prstGeom prst="rect">
              <a:avLst/>
            </a:prstGeom>
          </p:spPr>
        </p:pic>
      </p:grpSp>
      <p:sp>
        <p:nvSpPr>
          <p:cNvPr id="10" name="직사각형 9">
            <a:extLst>
              <a:ext uri="{FF2B5EF4-FFF2-40B4-BE49-F238E27FC236}">
                <a16:creationId xmlns:a16="http://schemas.microsoft.com/office/drawing/2014/main" id="{1CD39A8F-2B93-47CA-97D2-1A90CA41071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Tree>
    <p:extLst>
      <p:ext uri="{BB962C8B-B14F-4D97-AF65-F5344CB8AC3E}">
        <p14:creationId xmlns:p14="http://schemas.microsoft.com/office/powerpoint/2010/main" val="22492854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54E650DF-A91E-4EA8-869A-C436C67CC9BB}"/>
              </a:ext>
            </a:extLst>
          </p:cNvPr>
          <p:cNvGrpSpPr/>
          <p:nvPr/>
        </p:nvGrpSpPr>
        <p:grpSpPr>
          <a:xfrm>
            <a:off x="558924" y="2564904"/>
            <a:ext cx="8782050" cy="2232247"/>
            <a:chOff x="558924" y="2708921"/>
            <a:chExt cx="8782050" cy="223224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708921"/>
              <a:ext cx="8782050" cy="223224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486" r="18060"/>
            <a:stretch/>
          </p:blipFill>
          <p:spPr>
            <a:xfrm>
              <a:off x="615820" y="2789030"/>
              <a:ext cx="8619406" cy="2080130"/>
            </a:xfrm>
            <a:prstGeom prst="rect">
              <a:avLst/>
            </a:prstGeom>
          </p:spPr>
        </p:pic>
      </p:grpSp>
      <p:grpSp>
        <p:nvGrpSpPr>
          <p:cNvPr id="12" name="그룹 11">
            <a:extLst>
              <a:ext uri="{FF2B5EF4-FFF2-40B4-BE49-F238E27FC236}">
                <a16:creationId xmlns:a16="http://schemas.microsoft.com/office/drawing/2014/main" id="{E55A892C-344B-449E-9C54-39690907BD9F}"/>
              </a:ext>
            </a:extLst>
          </p:cNvPr>
          <p:cNvGrpSpPr/>
          <p:nvPr/>
        </p:nvGrpSpPr>
        <p:grpSpPr>
          <a:xfrm>
            <a:off x="580388" y="1413381"/>
            <a:ext cx="8887612" cy="1102659"/>
            <a:chOff x="580388" y="1413381"/>
            <a:chExt cx="8887612" cy="1102659"/>
          </a:xfrm>
        </p:grpSpPr>
        <p:sp>
          <p:nvSpPr>
            <p:cNvPr id="13" name="직사각형 12">
              <a:extLst>
                <a:ext uri="{FF2B5EF4-FFF2-40B4-BE49-F238E27FC236}">
                  <a16:creationId xmlns:a16="http://schemas.microsoft.com/office/drawing/2014/main" id="{4C888FEA-21A3-4C85-AC37-7B1EF57CD88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1ABDDC5E-0A91-461B-B1DF-3C3D8776B898}"/>
                </a:ext>
              </a:extLst>
            </p:cNvPr>
            <p:cNvSpPr/>
            <p:nvPr/>
          </p:nvSpPr>
          <p:spPr>
            <a:xfrm>
              <a:off x="711201" y="1667877"/>
              <a:ext cx="8632824"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don’t want to use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inplace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=True option, you can reassign new objects with the same name, but it’s a bit cumbersome.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want to change the index 'stu2’ to 'student2’, do it as follows.</a:t>
              </a:r>
            </a:p>
          </p:txBody>
        </p:sp>
      </p:grpSp>
    </p:spTree>
    <p:extLst>
      <p:ext uri="{BB962C8B-B14F-4D97-AF65-F5344CB8AC3E}">
        <p14:creationId xmlns:p14="http://schemas.microsoft.com/office/powerpoint/2010/main" val="277808744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65DDE20E-7C51-410B-8C6A-B094FA0A979B}"/>
              </a:ext>
            </a:extLst>
          </p:cNvPr>
          <p:cNvGrpSpPr/>
          <p:nvPr/>
        </p:nvGrpSpPr>
        <p:grpSpPr>
          <a:xfrm>
            <a:off x="558924" y="2348880"/>
            <a:ext cx="8782051" cy="2200487"/>
            <a:chOff x="558924" y="2423271"/>
            <a:chExt cx="8782051" cy="220048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423271"/>
              <a:ext cx="8782050" cy="22004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769" r="15952"/>
            <a:stretch/>
          </p:blipFill>
          <p:spPr>
            <a:xfrm>
              <a:off x="653143" y="2499588"/>
              <a:ext cx="8687832" cy="2042427"/>
            </a:xfrm>
            <a:prstGeom prst="rect">
              <a:avLst/>
            </a:prstGeom>
          </p:spPr>
        </p:pic>
      </p:grpSp>
      <p:grpSp>
        <p:nvGrpSpPr>
          <p:cNvPr id="12" name="그룹 11">
            <a:extLst>
              <a:ext uri="{FF2B5EF4-FFF2-40B4-BE49-F238E27FC236}">
                <a16:creationId xmlns:a16="http://schemas.microsoft.com/office/drawing/2014/main" id="{C2580A45-1C34-4BA4-962C-BD78A0DFFC1A}"/>
              </a:ext>
            </a:extLst>
          </p:cNvPr>
          <p:cNvGrpSpPr/>
          <p:nvPr/>
        </p:nvGrpSpPr>
        <p:grpSpPr>
          <a:xfrm>
            <a:off x="580388" y="1413381"/>
            <a:ext cx="8887612" cy="902604"/>
            <a:chOff x="580388" y="1413381"/>
            <a:chExt cx="8887612" cy="902604"/>
          </a:xfrm>
        </p:grpSpPr>
        <p:sp>
          <p:nvSpPr>
            <p:cNvPr id="13" name="직사각형 12">
              <a:extLst>
                <a:ext uri="{FF2B5EF4-FFF2-40B4-BE49-F238E27FC236}">
                  <a16:creationId xmlns:a16="http://schemas.microsoft.com/office/drawing/2014/main" id="{A7811B7F-ADE0-438C-8E85-B8C525CC943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Pandas Series &amp; DataFrame Practice</a:t>
              </a:r>
            </a:p>
          </p:txBody>
        </p:sp>
        <p:sp>
          <p:nvSpPr>
            <p:cNvPr id="14" name="Rectangle 12">
              <a:extLst>
                <a:ext uri="{FF2B5EF4-FFF2-40B4-BE49-F238E27FC236}">
                  <a16:creationId xmlns:a16="http://schemas.microsoft.com/office/drawing/2014/main" id="{F309C40D-66A6-42CB-AA5E-5C765A61D46D}"/>
                </a:ext>
              </a:extLst>
            </p:cNvPr>
            <p:cNvSpPr/>
            <p:nvPr/>
          </p:nvSpPr>
          <p:spPr>
            <a:xfrm>
              <a:off x="711201" y="1667877"/>
              <a:ext cx="863282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Column names can be created in the same way.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changing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student_name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to</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stu_name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following two methods can be used.</a:t>
              </a:r>
            </a:p>
          </p:txBody>
        </p:sp>
      </p:grpSp>
    </p:spTree>
    <p:extLst>
      <p:ext uri="{BB962C8B-B14F-4D97-AF65-F5344CB8AC3E}">
        <p14:creationId xmlns:p14="http://schemas.microsoft.com/office/powerpoint/2010/main" val="305831794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C6931206-2243-435A-905D-6CE41550951B}"/>
              </a:ext>
            </a:extLst>
          </p:cNvPr>
          <p:cNvGrpSpPr/>
          <p:nvPr/>
        </p:nvGrpSpPr>
        <p:grpSpPr>
          <a:xfrm>
            <a:off x="558924" y="3045965"/>
            <a:ext cx="8782050" cy="2615283"/>
            <a:chOff x="558924" y="3140968"/>
            <a:chExt cx="8782050" cy="261528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3140968"/>
              <a:ext cx="8782050" cy="181214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2" name="그룹 11"/>
            <p:cNvGrpSpPr/>
            <p:nvPr/>
          </p:nvGrpSpPr>
          <p:grpSpPr>
            <a:xfrm>
              <a:off x="558924" y="5036171"/>
              <a:ext cx="8782050" cy="720080"/>
              <a:chOff x="557644" y="5085181"/>
              <a:chExt cx="8782050" cy="720080"/>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a DataFrame with a DataFrame() function. Save to variable df. </a:t>
                </a:r>
              </a:p>
            </p:txBody>
          </p:sp>
        </p:grpSp>
        <p:pic>
          <p:nvPicPr>
            <p:cNvPr id="2" name="그림 1"/>
            <p:cNvPicPr>
              <a:picLocks noChangeAspect="1"/>
            </p:cNvPicPr>
            <p:nvPr/>
          </p:nvPicPr>
          <p:blipFill rotWithShape="1">
            <a:blip r:embed="rId4"/>
            <a:srcRect l="1581" t="851" r="20090"/>
            <a:stretch/>
          </p:blipFill>
          <p:spPr>
            <a:xfrm>
              <a:off x="625151" y="3207793"/>
              <a:ext cx="8715823" cy="1715257"/>
            </a:xfrm>
            <a:prstGeom prst="rect">
              <a:avLst/>
            </a:prstGeom>
          </p:spPr>
        </p:pic>
      </p:grpSp>
      <p:grpSp>
        <p:nvGrpSpPr>
          <p:cNvPr id="17" name="그룹 16">
            <a:extLst>
              <a:ext uri="{FF2B5EF4-FFF2-40B4-BE49-F238E27FC236}">
                <a16:creationId xmlns:a16="http://schemas.microsoft.com/office/drawing/2014/main" id="{4171B0F6-F738-4C7C-A32E-B64B423316B1}"/>
              </a:ext>
            </a:extLst>
          </p:cNvPr>
          <p:cNvGrpSpPr/>
          <p:nvPr/>
        </p:nvGrpSpPr>
        <p:grpSpPr>
          <a:xfrm>
            <a:off x="580388" y="1413381"/>
            <a:ext cx="8887612" cy="1605360"/>
            <a:chOff x="580388" y="1413381"/>
            <a:chExt cx="8887612" cy="1605360"/>
          </a:xfrm>
        </p:grpSpPr>
        <p:sp>
          <p:nvSpPr>
            <p:cNvPr id="18" name="직사각형 17">
              <a:extLst>
                <a:ext uri="{FF2B5EF4-FFF2-40B4-BE49-F238E27FC236}">
                  <a16:creationId xmlns:a16="http://schemas.microsoft.com/office/drawing/2014/main" id="{DC085973-343F-4463-9313-DE997410BFB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9" name="Rectangle 12">
              <a:extLst>
                <a:ext uri="{FF2B5EF4-FFF2-40B4-BE49-F238E27FC236}">
                  <a16:creationId xmlns:a16="http://schemas.microsoft.com/office/drawing/2014/main" id="{03FF5C80-A9DB-456F-8E47-723A6E7B0C57}"/>
                </a:ext>
              </a:extLst>
            </p:cNvPr>
            <p:cNvSpPr/>
            <p:nvPr/>
          </p:nvSpPr>
          <p:spPr>
            <a:xfrm>
              <a:off x="711201" y="1667877"/>
              <a:ext cx="863282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deleting a row or column of a DataFrame, use the drop() method. When deleting a row, enter Axis=0 as the axis option, or do not enter anything at all. On the other hand, if Axis=1 is entered as an axis option, the column is deleted. If you want to delete multiple rows or columns at the same time, enter them in the form of a list.</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Delete Row: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Object.drop</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(row index or list, axis=0)</a:t>
              </a:r>
            </a:p>
            <a:p>
              <a:pPr marL="354013" lvl="1" indent="-176213">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Delete Column: DataFrame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Object.drop</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(column name or list, axis=1)</a:t>
              </a:r>
            </a:p>
          </p:txBody>
        </p:sp>
      </p:grpSp>
    </p:spTree>
    <p:extLst>
      <p:ext uri="{BB962C8B-B14F-4D97-AF65-F5344CB8AC3E}">
        <p14:creationId xmlns:p14="http://schemas.microsoft.com/office/powerpoint/2010/main" val="150697807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Rectangle 12">
            <a:extLst>
              <a:ext uri="{FF2B5EF4-FFF2-40B4-BE49-F238E27FC236}">
                <a16:creationId xmlns:a16="http://schemas.microsoft.com/office/drawing/2014/main" id="{39C1D0BA-7152-4AAC-B295-DCCB5F8378F4}"/>
              </a:ext>
            </a:extLst>
          </p:cNvPr>
          <p:cNvSpPr/>
          <p:nvPr/>
        </p:nvSpPr>
        <p:spPr>
          <a:xfrm>
            <a:off x="711201" y="4750497"/>
            <a:ext cx="8632824"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Always be in the habit of copying the original before deleting the row. This is because if the data is incorrectly deleted when checking with the data prior to deleting, it needs to be brought back from the original. This is the only way to save time if the amount of data is large.</a:t>
            </a:r>
          </a:p>
        </p:txBody>
      </p:sp>
      <p:grpSp>
        <p:nvGrpSpPr>
          <p:cNvPr id="4" name="그룹 3">
            <a:extLst>
              <a:ext uri="{FF2B5EF4-FFF2-40B4-BE49-F238E27FC236}">
                <a16:creationId xmlns:a16="http://schemas.microsoft.com/office/drawing/2014/main" id="{2D20429D-EA3D-42E2-B157-8FE56071E314}"/>
              </a:ext>
            </a:extLst>
          </p:cNvPr>
          <p:cNvGrpSpPr/>
          <p:nvPr/>
        </p:nvGrpSpPr>
        <p:grpSpPr>
          <a:xfrm>
            <a:off x="558924" y="2064702"/>
            <a:ext cx="8782050" cy="2588434"/>
            <a:chOff x="558924" y="2132856"/>
            <a:chExt cx="8782050" cy="2588434"/>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32856"/>
              <a:ext cx="8782050" cy="258843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674" r="18803"/>
            <a:stretch/>
          </p:blipFill>
          <p:spPr>
            <a:xfrm>
              <a:off x="643813" y="2180276"/>
              <a:ext cx="8697161" cy="2530608"/>
            </a:xfrm>
            <a:prstGeom prst="rect">
              <a:avLst/>
            </a:prstGeom>
          </p:spPr>
        </p:pic>
      </p:grpSp>
      <p:grpSp>
        <p:nvGrpSpPr>
          <p:cNvPr id="12" name="그룹 11">
            <a:extLst>
              <a:ext uri="{FF2B5EF4-FFF2-40B4-BE49-F238E27FC236}">
                <a16:creationId xmlns:a16="http://schemas.microsoft.com/office/drawing/2014/main" id="{E9DA4E27-EC36-435F-98C0-52306E17F9D2}"/>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0313748C-1453-439C-86FB-0AF20B35F81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4" name="Rectangle 12">
              <a:extLst>
                <a:ext uri="{FF2B5EF4-FFF2-40B4-BE49-F238E27FC236}">
                  <a16:creationId xmlns:a16="http://schemas.microsoft.com/office/drawing/2014/main" id="{DB54A4E1-A094-4B7A-B9C7-1BA4E38CA9F6}"/>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Let’s create a DataFrame with an index as follows.</a:t>
              </a:r>
            </a:p>
          </p:txBody>
        </p:sp>
      </p:grpSp>
    </p:spTree>
    <p:extLst>
      <p:ext uri="{BB962C8B-B14F-4D97-AF65-F5344CB8AC3E}">
        <p14:creationId xmlns:p14="http://schemas.microsoft.com/office/powerpoint/2010/main" val="203878969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B5B8D506-8ECE-4F1B-9BD0-DE970D74D48A}"/>
              </a:ext>
            </a:extLst>
          </p:cNvPr>
          <p:cNvGrpSpPr/>
          <p:nvPr/>
        </p:nvGrpSpPr>
        <p:grpSpPr>
          <a:xfrm>
            <a:off x="558924" y="1738537"/>
            <a:ext cx="8782050" cy="970383"/>
            <a:chOff x="558924" y="1772817"/>
            <a:chExt cx="8782050" cy="97038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97038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909" r="15896" b="59169"/>
            <a:stretch/>
          </p:blipFill>
          <p:spPr>
            <a:xfrm>
              <a:off x="643813" y="1842186"/>
              <a:ext cx="8697161" cy="794725"/>
            </a:xfrm>
            <a:prstGeom prst="rect">
              <a:avLst/>
            </a:prstGeom>
          </p:spPr>
        </p:pic>
      </p:grpSp>
      <p:sp>
        <p:nvSpPr>
          <p:cNvPr id="10" name="직사각형 9">
            <a:extLst>
              <a:ext uri="{FF2B5EF4-FFF2-40B4-BE49-F238E27FC236}">
                <a16:creationId xmlns:a16="http://schemas.microsoft.com/office/drawing/2014/main" id="{C7A60AE6-E688-41A5-A1CE-CF9D76C068D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Tree>
    <p:extLst>
      <p:ext uri="{BB962C8B-B14F-4D97-AF65-F5344CB8AC3E}">
        <p14:creationId xmlns:p14="http://schemas.microsoft.com/office/powerpoint/2010/main" val="101570401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498570"/>
            <a:ext cx="8782050" cy="720080"/>
            <a:chOff x="557644" y="5085181"/>
            <a:chExt cx="8782050" cy="720080"/>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original remains.</a:t>
              </a:r>
            </a:p>
          </p:txBody>
        </p:sp>
      </p:grpSp>
      <p:grpSp>
        <p:nvGrpSpPr>
          <p:cNvPr id="2" name="그룹 1">
            <a:extLst>
              <a:ext uri="{FF2B5EF4-FFF2-40B4-BE49-F238E27FC236}">
                <a16:creationId xmlns:a16="http://schemas.microsoft.com/office/drawing/2014/main" id="{F4F6272D-E247-4F45-9AAA-6049B7F0E904}"/>
              </a:ext>
            </a:extLst>
          </p:cNvPr>
          <p:cNvGrpSpPr/>
          <p:nvPr/>
        </p:nvGrpSpPr>
        <p:grpSpPr>
          <a:xfrm>
            <a:off x="558924" y="1719470"/>
            <a:ext cx="8782050" cy="3672407"/>
            <a:chOff x="558924" y="1772816"/>
            <a:chExt cx="8782050" cy="367240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367240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665" r="14290"/>
            <a:stretch/>
          </p:blipFill>
          <p:spPr>
            <a:xfrm>
              <a:off x="653143" y="1827760"/>
              <a:ext cx="8687831" cy="3576352"/>
            </a:xfrm>
            <a:prstGeom prst="rect">
              <a:avLst/>
            </a:prstGeom>
          </p:spPr>
        </p:pic>
        <p:sp>
          <p:nvSpPr>
            <p:cNvPr id="4" name="직사각형 3"/>
            <p:cNvSpPr/>
            <p:nvPr/>
          </p:nvSpPr>
          <p:spPr>
            <a:xfrm>
              <a:off x="1596448" y="3579708"/>
              <a:ext cx="1939854" cy="23651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직사각형 16">
            <a:extLst>
              <a:ext uri="{FF2B5EF4-FFF2-40B4-BE49-F238E27FC236}">
                <a16:creationId xmlns:a16="http://schemas.microsoft.com/office/drawing/2014/main" id="{9EEECE4D-BFE8-4648-836C-F2A23CB09DE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Tree>
    <p:extLst>
      <p:ext uri="{BB962C8B-B14F-4D97-AF65-F5344CB8AC3E}">
        <p14:creationId xmlns:p14="http://schemas.microsoft.com/office/powerpoint/2010/main" val="406726660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2836FA96-1350-49B1-984B-63D4D64CD2FD}"/>
              </a:ext>
            </a:extLst>
          </p:cNvPr>
          <p:cNvGrpSpPr/>
          <p:nvPr/>
        </p:nvGrpSpPr>
        <p:grpSpPr>
          <a:xfrm>
            <a:off x="558924" y="1719065"/>
            <a:ext cx="8782050" cy="2285999"/>
            <a:chOff x="558924" y="1772817"/>
            <a:chExt cx="8782050" cy="228599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2859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2" name="그룹 1">
              <a:extLst>
                <a:ext uri="{FF2B5EF4-FFF2-40B4-BE49-F238E27FC236}">
                  <a16:creationId xmlns:a16="http://schemas.microsoft.com/office/drawing/2014/main" id="{E4F0FF89-8ECA-4655-83BB-7762C8585E51}"/>
                </a:ext>
              </a:extLst>
            </p:cNvPr>
            <p:cNvGrpSpPr/>
            <p:nvPr/>
          </p:nvGrpSpPr>
          <p:grpSpPr>
            <a:xfrm>
              <a:off x="625151" y="1819263"/>
              <a:ext cx="8715823" cy="2160239"/>
              <a:chOff x="839755" y="3816016"/>
              <a:chExt cx="7144853" cy="1770870"/>
            </a:xfrm>
          </p:grpSpPr>
          <p:pic>
            <p:nvPicPr>
              <p:cNvPr id="5" name="그림 4"/>
              <p:cNvPicPr>
                <a:picLocks noChangeAspect="1"/>
              </p:cNvPicPr>
              <p:nvPr/>
            </p:nvPicPr>
            <p:blipFill rotWithShape="1">
              <a:blip r:embed="rId3"/>
              <a:srcRect l="1478" r="15719" b="75789"/>
              <a:stretch/>
            </p:blipFill>
            <p:spPr>
              <a:xfrm>
                <a:off x="839755" y="3816016"/>
                <a:ext cx="7144853" cy="648071"/>
              </a:xfrm>
              <a:prstGeom prst="rect">
                <a:avLst/>
              </a:prstGeom>
            </p:spPr>
          </p:pic>
          <p:pic>
            <p:nvPicPr>
              <p:cNvPr id="12" name="그림 11"/>
              <p:cNvPicPr>
                <a:picLocks noChangeAspect="1"/>
              </p:cNvPicPr>
              <p:nvPr/>
            </p:nvPicPr>
            <p:blipFill rotWithShape="1">
              <a:blip r:embed="rId3"/>
              <a:srcRect l="1478" t="60434" r="15719"/>
              <a:stretch/>
            </p:blipFill>
            <p:spPr>
              <a:xfrm>
                <a:off x="839755" y="4527782"/>
                <a:ext cx="7144853" cy="1059104"/>
              </a:xfrm>
              <a:prstGeom prst="rect">
                <a:avLst/>
              </a:prstGeom>
            </p:spPr>
          </p:pic>
        </p:grpSp>
      </p:grpSp>
      <p:sp>
        <p:nvSpPr>
          <p:cNvPr id="13" name="직사각형 12">
            <a:extLst>
              <a:ext uri="{FF2B5EF4-FFF2-40B4-BE49-F238E27FC236}">
                <a16:creationId xmlns:a16="http://schemas.microsoft.com/office/drawing/2014/main" id="{72E16EA4-FD04-488A-B861-687EB3A4ADB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Tree>
    <p:extLst>
      <p:ext uri="{BB962C8B-B14F-4D97-AF65-F5344CB8AC3E}">
        <p14:creationId xmlns:p14="http://schemas.microsoft.com/office/powerpoint/2010/main" val="359079266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4736998"/>
            <a:ext cx="8782050" cy="720080"/>
            <a:chOff x="557644" y="5085181"/>
            <a:chExt cx="8782050" cy="720080"/>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Replicate the DataFrame df and store it in the variable df4. Delete one column of df4. </a:t>
              </a:r>
            </a:p>
          </p:txBody>
        </p:sp>
      </p:grpSp>
      <p:grpSp>
        <p:nvGrpSpPr>
          <p:cNvPr id="2" name="그룹 1">
            <a:extLst>
              <a:ext uri="{FF2B5EF4-FFF2-40B4-BE49-F238E27FC236}">
                <a16:creationId xmlns:a16="http://schemas.microsoft.com/office/drawing/2014/main" id="{F8F4120D-E6B8-42BC-86A2-B8DCAAE43C9C}"/>
              </a:ext>
            </a:extLst>
          </p:cNvPr>
          <p:cNvGrpSpPr/>
          <p:nvPr/>
        </p:nvGrpSpPr>
        <p:grpSpPr>
          <a:xfrm>
            <a:off x="558924" y="2060848"/>
            <a:ext cx="8782050" cy="2594648"/>
            <a:chOff x="558924" y="2149880"/>
            <a:chExt cx="8782050" cy="259464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5946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2219" r="15890"/>
            <a:stretch/>
          </p:blipFill>
          <p:spPr>
            <a:xfrm>
              <a:off x="706997" y="2221608"/>
              <a:ext cx="8632825" cy="2431528"/>
            </a:xfrm>
            <a:prstGeom prst="rect">
              <a:avLst/>
            </a:prstGeom>
          </p:spPr>
        </p:pic>
      </p:grpSp>
      <p:grpSp>
        <p:nvGrpSpPr>
          <p:cNvPr id="17" name="그룹 16">
            <a:extLst>
              <a:ext uri="{FF2B5EF4-FFF2-40B4-BE49-F238E27FC236}">
                <a16:creationId xmlns:a16="http://schemas.microsoft.com/office/drawing/2014/main" id="{CF75F71B-D53B-4A5C-8D9C-7C342C171C35}"/>
              </a:ext>
            </a:extLst>
          </p:cNvPr>
          <p:cNvGrpSpPr/>
          <p:nvPr/>
        </p:nvGrpSpPr>
        <p:grpSpPr>
          <a:xfrm>
            <a:off x="580388" y="1413381"/>
            <a:ext cx="8887612" cy="599957"/>
            <a:chOff x="580388" y="1413381"/>
            <a:chExt cx="8887612" cy="599957"/>
          </a:xfrm>
        </p:grpSpPr>
        <p:sp>
          <p:nvSpPr>
            <p:cNvPr id="18" name="직사각형 17">
              <a:extLst>
                <a:ext uri="{FF2B5EF4-FFF2-40B4-BE49-F238E27FC236}">
                  <a16:creationId xmlns:a16="http://schemas.microsoft.com/office/drawing/2014/main" id="{B18CB2C1-E7ED-41F5-8F9F-2CDE8CD90D9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9" name="Rectangle 12">
              <a:extLst>
                <a:ext uri="{FF2B5EF4-FFF2-40B4-BE49-F238E27FC236}">
                  <a16:creationId xmlns:a16="http://schemas.microsoft.com/office/drawing/2014/main" id="{7FE0E784-8EE3-4289-B192-BF7357503E9F}"/>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same goes for deleting columns. </a:t>
              </a:r>
            </a:p>
          </p:txBody>
        </p:sp>
      </p:grpSp>
    </p:spTree>
    <p:extLst>
      <p:ext uri="{BB962C8B-B14F-4D97-AF65-F5344CB8AC3E}">
        <p14:creationId xmlns:p14="http://schemas.microsoft.com/office/powerpoint/2010/main" val="67985968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FD966383-184D-4AE7-B615-6343EC9957C7}"/>
              </a:ext>
            </a:extLst>
          </p:cNvPr>
          <p:cNvGrpSpPr/>
          <p:nvPr/>
        </p:nvGrpSpPr>
        <p:grpSpPr>
          <a:xfrm>
            <a:off x="558924" y="2060848"/>
            <a:ext cx="8782050" cy="2359240"/>
            <a:chOff x="558924" y="2149880"/>
            <a:chExt cx="8782050" cy="235924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35924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4" name="그룹 3">
              <a:extLst>
                <a:ext uri="{FF2B5EF4-FFF2-40B4-BE49-F238E27FC236}">
                  <a16:creationId xmlns:a16="http://schemas.microsoft.com/office/drawing/2014/main" id="{518834EC-0C7E-45F2-8F9C-8ED4F9736D54}"/>
                </a:ext>
              </a:extLst>
            </p:cNvPr>
            <p:cNvGrpSpPr/>
            <p:nvPr/>
          </p:nvGrpSpPr>
          <p:grpSpPr>
            <a:xfrm>
              <a:off x="709126" y="2232136"/>
              <a:ext cx="8631848" cy="2204977"/>
              <a:chOff x="877077" y="2318688"/>
              <a:chExt cx="7772159" cy="1985372"/>
            </a:xfrm>
          </p:grpSpPr>
          <p:pic>
            <p:nvPicPr>
              <p:cNvPr id="3" name="그림 2"/>
              <p:cNvPicPr>
                <a:picLocks noChangeAspect="1"/>
              </p:cNvPicPr>
              <p:nvPr/>
            </p:nvPicPr>
            <p:blipFill rotWithShape="1">
              <a:blip r:embed="rId3">
                <a:extLst>
                  <a:ext uri="{28A0092B-C50C-407E-A947-70E740481C1C}">
                    <a14:useLocalDpi xmlns:a14="http://schemas.microsoft.com/office/drawing/2010/main" val="0"/>
                  </a:ext>
                </a:extLst>
              </a:blip>
              <a:srcRect l="841" t="-80" r="14209" b="89103"/>
              <a:stretch/>
            </p:blipFill>
            <p:spPr>
              <a:xfrm>
                <a:off x="877078" y="2318688"/>
                <a:ext cx="7772158" cy="321874"/>
              </a:xfrm>
              <a:prstGeom prst="rect">
                <a:avLst/>
              </a:prstGeom>
            </p:spPr>
          </p:pic>
          <p:pic>
            <p:nvPicPr>
              <p:cNvPr id="16" name="그림 15"/>
              <p:cNvPicPr>
                <a:picLocks noChangeAspect="1"/>
              </p:cNvPicPr>
              <p:nvPr/>
            </p:nvPicPr>
            <p:blipFill rotWithShape="1">
              <a:blip r:embed="rId3">
                <a:extLst>
                  <a:ext uri="{28A0092B-C50C-407E-A947-70E740481C1C}">
                    <a14:useLocalDpi xmlns:a14="http://schemas.microsoft.com/office/drawing/2010/main" val="0"/>
                  </a:ext>
                </a:extLst>
              </a:blip>
              <a:srcRect l="841" t="44090" r="14209"/>
              <a:stretch/>
            </p:blipFill>
            <p:spPr>
              <a:xfrm>
                <a:off x="877077" y="2664905"/>
                <a:ext cx="7772158" cy="1639155"/>
              </a:xfrm>
              <a:prstGeom prst="rect">
                <a:avLst/>
              </a:prstGeom>
            </p:spPr>
          </p:pic>
        </p:grpSp>
      </p:grpSp>
      <p:grpSp>
        <p:nvGrpSpPr>
          <p:cNvPr id="12" name="그룹 11">
            <a:extLst>
              <a:ext uri="{FF2B5EF4-FFF2-40B4-BE49-F238E27FC236}">
                <a16:creationId xmlns:a16="http://schemas.microsoft.com/office/drawing/2014/main" id="{A1F08BD3-09F7-45A5-9A3C-5B64D8119CFC}"/>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31740A95-12E4-4D06-96C3-9F3EB9B40C0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4" name="Rectangle 12">
              <a:extLst>
                <a:ext uri="{FF2B5EF4-FFF2-40B4-BE49-F238E27FC236}">
                  <a16:creationId xmlns:a16="http://schemas.microsoft.com/office/drawing/2014/main" id="{E04D7ED6-9C55-4ACD-A967-6DC9DC63FCFC}"/>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same goes for deleting columns. </a:t>
              </a:r>
            </a:p>
          </p:txBody>
        </p:sp>
      </p:grpSp>
    </p:spTree>
    <p:extLst>
      <p:ext uri="{BB962C8B-B14F-4D97-AF65-F5344CB8AC3E}">
        <p14:creationId xmlns:p14="http://schemas.microsoft.com/office/powerpoint/2010/main" val="369042074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4E276E8D-A436-4648-8B6C-1D83CD2D8031}"/>
              </a:ext>
            </a:extLst>
          </p:cNvPr>
          <p:cNvGrpSpPr/>
          <p:nvPr/>
        </p:nvGrpSpPr>
        <p:grpSpPr>
          <a:xfrm>
            <a:off x="558924" y="2060848"/>
            <a:ext cx="8782050" cy="2524757"/>
            <a:chOff x="558924" y="2149880"/>
            <a:chExt cx="8782050" cy="252475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5247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958" t="2806" r="14281"/>
            <a:stretch/>
          </p:blipFill>
          <p:spPr>
            <a:xfrm>
              <a:off x="662474" y="2230017"/>
              <a:ext cx="8678500" cy="2351111"/>
            </a:xfrm>
            <a:prstGeom prst="rect">
              <a:avLst/>
            </a:prstGeom>
          </p:spPr>
        </p:pic>
      </p:grpSp>
      <p:grpSp>
        <p:nvGrpSpPr>
          <p:cNvPr id="12" name="그룹 11">
            <a:extLst>
              <a:ext uri="{FF2B5EF4-FFF2-40B4-BE49-F238E27FC236}">
                <a16:creationId xmlns:a16="http://schemas.microsoft.com/office/drawing/2014/main" id="{B9D1DA9E-9F31-4D13-945C-7BC0A07FB6D4}"/>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EF4686DC-999E-4599-9C60-F59491CEF9D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4" name="Rectangle 12">
              <a:extLst>
                <a:ext uri="{FF2B5EF4-FFF2-40B4-BE49-F238E27FC236}">
                  <a16:creationId xmlns:a16="http://schemas.microsoft.com/office/drawing/2014/main" id="{FD0F2A52-D400-490D-B710-A4FCE3CEB2E8}"/>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same goes for deleting columns. </a:t>
              </a:r>
            </a:p>
          </p:txBody>
        </p:sp>
      </p:grpSp>
    </p:spTree>
    <p:extLst>
      <p:ext uri="{BB962C8B-B14F-4D97-AF65-F5344CB8AC3E}">
        <p14:creationId xmlns:p14="http://schemas.microsoft.com/office/powerpoint/2010/main" val="122703514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7ACDC63F-855A-4194-A75F-CE270A94393A}"/>
              </a:ext>
            </a:extLst>
          </p:cNvPr>
          <p:cNvGrpSpPr/>
          <p:nvPr/>
        </p:nvGrpSpPr>
        <p:grpSpPr>
          <a:xfrm>
            <a:off x="558924" y="2060848"/>
            <a:ext cx="8782051" cy="2359240"/>
            <a:chOff x="558924" y="2149880"/>
            <a:chExt cx="8782051" cy="235924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35924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3" name="그룹 2">
              <a:extLst>
                <a:ext uri="{FF2B5EF4-FFF2-40B4-BE49-F238E27FC236}">
                  <a16:creationId xmlns:a16="http://schemas.microsoft.com/office/drawing/2014/main" id="{A9846C16-E22C-4759-8766-46865D44F312}"/>
                </a:ext>
              </a:extLst>
            </p:cNvPr>
            <p:cNvGrpSpPr/>
            <p:nvPr/>
          </p:nvGrpSpPr>
          <p:grpSpPr>
            <a:xfrm>
              <a:off x="641683" y="2217227"/>
              <a:ext cx="8699292" cy="2263901"/>
              <a:chOff x="846957" y="2295018"/>
              <a:chExt cx="7526617" cy="1958724"/>
            </a:xfrm>
          </p:grpSpPr>
          <p:pic>
            <p:nvPicPr>
              <p:cNvPr id="4" name="그림 3"/>
              <p:cNvPicPr>
                <a:picLocks noChangeAspect="1"/>
              </p:cNvPicPr>
              <p:nvPr/>
            </p:nvPicPr>
            <p:blipFill rotWithShape="1">
              <a:blip r:embed="rId3"/>
              <a:srcRect l="1552" t="276" r="11212" b="89271"/>
              <a:stretch/>
            </p:blipFill>
            <p:spPr>
              <a:xfrm>
                <a:off x="846957" y="2295018"/>
                <a:ext cx="7526617" cy="298892"/>
              </a:xfrm>
              <a:prstGeom prst="rect">
                <a:avLst/>
              </a:prstGeom>
            </p:spPr>
          </p:pic>
          <p:pic>
            <p:nvPicPr>
              <p:cNvPr id="13" name="그림 12"/>
              <p:cNvPicPr>
                <a:picLocks noChangeAspect="1"/>
              </p:cNvPicPr>
              <p:nvPr/>
            </p:nvPicPr>
            <p:blipFill rotWithShape="1">
              <a:blip r:embed="rId3"/>
              <a:srcRect l="1552" t="42814" r="11212"/>
              <a:stretch/>
            </p:blipFill>
            <p:spPr>
              <a:xfrm>
                <a:off x="846957" y="2618695"/>
                <a:ext cx="7526617" cy="1635047"/>
              </a:xfrm>
              <a:prstGeom prst="rect">
                <a:avLst/>
              </a:prstGeom>
            </p:spPr>
          </p:pic>
        </p:grpSp>
      </p:grpSp>
      <p:grpSp>
        <p:nvGrpSpPr>
          <p:cNvPr id="14" name="그룹 13">
            <a:extLst>
              <a:ext uri="{FF2B5EF4-FFF2-40B4-BE49-F238E27FC236}">
                <a16:creationId xmlns:a16="http://schemas.microsoft.com/office/drawing/2014/main" id="{5021F4D2-B060-4AA6-AAFA-2779826FEAAE}"/>
              </a:ext>
            </a:extLst>
          </p:cNvPr>
          <p:cNvGrpSpPr/>
          <p:nvPr/>
        </p:nvGrpSpPr>
        <p:grpSpPr>
          <a:xfrm>
            <a:off x="580388" y="1413381"/>
            <a:ext cx="8887612" cy="599957"/>
            <a:chOff x="580388" y="1413381"/>
            <a:chExt cx="8887612" cy="599957"/>
          </a:xfrm>
        </p:grpSpPr>
        <p:sp>
          <p:nvSpPr>
            <p:cNvPr id="15" name="직사각형 14">
              <a:extLst>
                <a:ext uri="{FF2B5EF4-FFF2-40B4-BE49-F238E27FC236}">
                  <a16:creationId xmlns:a16="http://schemas.microsoft.com/office/drawing/2014/main" id="{2B2B3F92-7EC0-4363-B8BD-0FAE1D07DC4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6" name="Rectangle 12">
              <a:extLst>
                <a:ext uri="{FF2B5EF4-FFF2-40B4-BE49-F238E27FC236}">
                  <a16:creationId xmlns:a16="http://schemas.microsoft.com/office/drawing/2014/main" id="{D4D93077-9584-468D-A77B-24C6B4C977F1}"/>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same goes for deleting columns. </a:t>
              </a:r>
            </a:p>
          </p:txBody>
        </p:sp>
      </p:grpSp>
    </p:spTree>
    <p:extLst>
      <p:ext uri="{BB962C8B-B14F-4D97-AF65-F5344CB8AC3E}">
        <p14:creationId xmlns:p14="http://schemas.microsoft.com/office/powerpoint/2010/main" val="106222371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3C27ED3A-311D-4F6B-B5AB-1253D7BA2273}"/>
              </a:ext>
            </a:extLst>
          </p:cNvPr>
          <p:cNvGrpSpPr/>
          <p:nvPr/>
        </p:nvGrpSpPr>
        <p:grpSpPr>
          <a:xfrm>
            <a:off x="558924" y="4869160"/>
            <a:ext cx="8782050" cy="1224136"/>
            <a:chOff x="558924" y="4941168"/>
            <a:chExt cx="8782050" cy="1224136"/>
          </a:xfrm>
        </p:grpSpPr>
        <p:grpSp>
          <p:nvGrpSpPr>
            <p:cNvPr id="12" name="그룹 11"/>
            <p:cNvGrpSpPr/>
            <p:nvPr/>
          </p:nvGrpSpPr>
          <p:grpSpPr>
            <a:xfrm>
              <a:off x="558924" y="4941168"/>
              <a:ext cx="8782050" cy="1224136"/>
              <a:chOff x="557644" y="5085181"/>
              <a:chExt cx="8782050" cy="1224136"/>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2241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57-1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Use the loc indexer.</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581079"/>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5558347"/>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57-2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89324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Use the </a:t>
              </a:r>
              <a:r>
                <a:rPr lang="en-US" altLang="ko-KR" sz="1300" dirty="0" err="1">
                  <a:solidFill>
                    <a:prstClr val="black">
                      <a:lumMod val="85000"/>
                      <a:lumOff val="15000"/>
                    </a:prstClr>
                  </a:solidFill>
                  <a:latin typeface="SamsungOne 400" panose="020B0503030303020204" pitchFamily="34" charset="0"/>
                </a:rPr>
                <a:t>iloc</a:t>
              </a:r>
              <a:r>
                <a:rPr lang="en-US" altLang="ko-KR" sz="1300" dirty="0">
                  <a:solidFill>
                    <a:prstClr val="black">
                      <a:lumMod val="85000"/>
                      <a:lumOff val="15000"/>
                    </a:prstClr>
                  </a:solidFill>
                  <a:latin typeface="SamsungOne 400" panose="020B0503030303020204" pitchFamily="34" charset="0"/>
                </a:rPr>
                <a:t> indexer. </a:t>
              </a:r>
            </a:p>
          </p:txBody>
        </p:sp>
      </p:grpSp>
      <p:grpSp>
        <p:nvGrpSpPr>
          <p:cNvPr id="4" name="그룹 3">
            <a:extLst>
              <a:ext uri="{FF2B5EF4-FFF2-40B4-BE49-F238E27FC236}">
                <a16:creationId xmlns:a16="http://schemas.microsoft.com/office/drawing/2014/main" id="{9D65A23D-DA21-4FBC-8710-CD127901E868}"/>
              </a:ext>
            </a:extLst>
          </p:cNvPr>
          <p:cNvGrpSpPr/>
          <p:nvPr/>
        </p:nvGrpSpPr>
        <p:grpSpPr>
          <a:xfrm>
            <a:off x="558924" y="2049879"/>
            <a:ext cx="8782050" cy="2719280"/>
            <a:chOff x="558924" y="2149880"/>
            <a:chExt cx="8782050" cy="271928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7192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769" r="15526"/>
            <a:stretch/>
          </p:blipFill>
          <p:spPr>
            <a:xfrm>
              <a:off x="653143" y="2230642"/>
              <a:ext cx="8687831" cy="2583954"/>
            </a:xfrm>
            <a:prstGeom prst="rect">
              <a:avLst/>
            </a:prstGeom>
          </p:spPr>
        </p:pic>
        <p:sp>
          <p:nvSpPr>
            <p:cNvPr id="3" name="직사각형 2"/>
            <p:cNvSpPr/>
            <p:nvPr/>
          </p:nvSpPr>
          <p:spPr>
            <a:xfrm>
              <a:off x="3743301" y="4363380"/>
              <a:ext cx="1584176" cy="31917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그룹 19">
            <a:extLst>
              <a:ext uri="{FF2B5EF4-FFF2-40B4-BE49-F238E27FC236}">
                <a16:creationId xmlns:a16="http://schemas.microsoft.com/office/drawing/2014/main" id="{A20EF8AD-A0C3-49C2-A42C-1C35F469F3E9}"/>
              </a:ext>
            </a:extLst>
          </p:cNvPr>
          <p:cNvGrpSpPr/>
          <p:nvPr/>
        </p:nvGrpSpPr>
        <p:grpSpPr>
          <a:xfrm>
            <a:off x="580388" y="1413381"/>
            <a:ext cx="8887612" cy="599957"/>
            <a:chOff x="580388" y="1413381"/>
            <a:chExt cx="8887612" cy="599957"/>
          </a:xfrm>
        </p:grpSpPr>
        <p:sp>
          <p:nvSpPr>
            <p:cNvPr id="21" name="직사각형 20">
              <a:extLst>
                <a:ext uri="{FF2B5EF4-FFF2-40B4-BE49-F238E27FC236}">
                  <a16:creationId xmlns:a16="http://schemas.microsoft.com/office/drawing/2014/main" id="{7CA59DD0-092A-4816-AEA5-711EF62DEBD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22" name="Rectangle 12">
              <a:extLst>
                <a:ext uri="{FF2B5EF4-FFF2-40B4-BE49-F238E27FC236}">
                  <a16:creationId xmlns:a16="http://schemas.microsoft.com/office/drawing/2014/main" id="{F3C5EAB6-ADAB-44C0-BCDB-6580BAF94C31}"/>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the row index to select one row. </a:t>
              </a:r>
            </a:p>
          </p:txBody>
        </p:sp>
      </p:grpSp>
    </p:spTree>
    <p:extLst>
      <p:ext uri="{BB962C8B-B14F-4D97-AF65-F5344CB8AC3E}">
        <p14:creationId xmlns:p14="http://schemas.microsoft.com/office/powerpoint/2010/main" val="61991150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87495AF5-D2AF-4CAE-BB5F-8450A14A145A}"/>
              </a:ext>
            </a:extLst>
          </p:cNvPr>
          <p:cNvGrpSpPr/>
          <p:nvPr/>
        </p:nvGrpSpPr>
        <p:grpSpPr>
          <a:xfrm>
            <a:off x="558924" y="2060848"/>
            <a:ext cx="8782050" cy="2503256"/>
            <a:chOff x="558924" y="2149880"/>
            <a:chExt cx="8782050" cy="2503256"/>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5032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l="1371" r="18579"/>
            <a:stretch/>
          </p:blipFill>
          <p:spPr>
            <a:xfrm>
              <a:off x="595030" y="2188698"/>
              <a:ext cx="8745944" cy="2392429"/>
            </a:xfrm>
            <a:prstGeom prst="rect">
              <a:avLst/>
            </a:prstGeom>
          </p:spPr>
        </p:pic>
      </p:grpSp>
      <p:grpSp>
        <p:nvGrpSpPr>
          <p:cNvPr id="12" name="그룹 11">
            <a:extLst>
              <a:ext uri="{FF2B5EF4-FFF2-40B4-BE49-F238E27FC236}">
                <a16:creationId xmlns:a16="http://schemas.microsoft.com/office/drawing/2014/main" id="{5B8E0AF7-EB8F-4BE0-8001-76E673A8F9E1}"/>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44B1C3BC-F35B-4191-81FB-9E673B1A346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4" name="Rectangle 12">
              <a:extLst>
                <a:ext uri="{FF2B5EF4-FFF2-40B4-BE49-F238E27FC236}">
                  <a16:creationId xmlns:a16="http://schemas.microsoft.com/office/drawing/2014/main" id="{52C60987-6471-4E9A-90B0-4214F71DF4FD}"/>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the row index to select one row. </a:t>
              </a:r>
            </a:p>
          </p:txBody>
        </p:sp>
      </p:grpSp>
    </p:spTree>
    <p:extLst>
      <p:ext uri="{BB962C8B-B14F-4D97-AF65-F5344CB8AC3E}">
        <p14:creationId xmlns:p14="http://schemas.microsoft.com/office/powerpoint/2010/main" val="412289671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1C384A68-FD64-4F6B-BA73-A107DC98C09E}"/>
              </a:ext>
            </a:extLst>
          </p:cNvPr>
          <p:cNvGrpSpPr/>
          <p:nvPr/>
        </p:nvGrpSpPr>
        <p:grpSpPr>
          <a:xfrm>
            <a:off x="558924" y="2060848"/>
            <a:ext cx="8782050" cy="4082969"/>
            <a:chOff x="558924" y="2149879"/>
            <a:chExt cx="8782050" cy="408296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79"/>
              <a:ext cx="8782050" cy="408296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486" r="17391"/>
            <a:stretch/>
          </p:blipFill>
          <p:spPr>
            <a:xfrm>
              <a:off x="662473" y="2230219"/>
              <a:ext cx="8678501" cy="3943416"/>
            </a:xfrm>
            <a:prstGeom prst="rect">
              <a:avLst/>
            </a:prstGeom>
          </p:spPr>
        </p:pic>
      </p:grpSp>
      <p:grpSp>
        <p:nvGrpSpPr>
          <p:cNvPr id="12" name="그룹 11">
            <a:extLst>
              <a:ext uri="{FF2B5EF4-FFF2-40B4-BE49-F238E27FC236}">
                <a16:creationId xmlns:a16="http://schemas.microsoft.com/office/drawing/2014/main" id="{00330285-DCA7-4553-997D-451B1EBBA7B7}"/>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249FD97E-E1F8-45A0-B88F-9685F80CAA6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Deleting Rows and Columns</a:t>
              </a:r>
            </a:p>
          </p:txBody>
        </p:sp>
        <p:sp>
          <p:nvSpPr>
            <p:cNvPr id="14" name="Rectangle 12">
              <a:extLst>
                <a:ext uri="{FF2B5EF4-FFF2-40B4-BE49-F238E27FC236}">
                  <a16:creationId xmlns:a16="http://schemas.microsoft.com/office/drawing/2014/main" id="{9536C2FF-AFC1-46FC-B088-E104CF55429A}"/>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the row index to select one row. </a:t>
              </a:r>
            </a:p>
          </p:txBody>
        </p:sp>
      </p:grpSp>
    </p:spTree>
    <p:extLst>
      <p:ext uri="{BB962C8B-B14F-4D97-AF65-F5344CB8AC3E}">
        <p14:creationId xmlns:p14="http://schemas.microsoft.com/office/powerpoint/2010/main" val="135442787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503955"/>
            <a:ext cx="8782050" cy="735795"/>
            <a:chOff x="557644" y="5085181"/>
            <a:chExt cx="8782050" cy="735795"/>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579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Select only the “math” score data. Save it to variable math1. </a:t>
              </a:r>
            </a:p>
          </p:txBody>
        </p:sp>
      </p:grpSp>
      <p:grpSp>
        <p:nvGrpSpPr>
          <p:cNvPr id="2" name="그룹 1">
            <a:extLst>
              <a:ext uri="{FF2B5EF4-FFF2-40B4-BE49-F238E27FC236}">
                <a16:creationId xmlns:a16="http://schemas.microsoft.com/office/drawing/2014/main" id="{20B90372-4F19-4EF0-B1EF-C974D5C4E903}"/>
              </a:ext>
            </a:extLst>
          </p:cNvPr>
          <p:cNvGrpSpPr/>
          <p:nvPr/>
        </p:nvGrpSpPr>
        <p:grpSpPr>
          <a:xfrm>
            <a:off x="558924" y="1756168"/>
            <a:ext cx="8782050" cy="1639160"/>
            <a:chOff x="558924" y="1789840"/>
            <a:chExt cx="8782050" cy="163916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89840"/>
              <a:ext cx="8782050" cy="1639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571" r="21340"/>
            <a:stretch/>
          </p:blipFill>
          <p:spPr>
            <a:xfrm>
              <a:off x="634481" y="1820844"/>
              <a:ext cx="8706493" cy="1566342"/>
            </a:xfrm>
            <a:prstGeom prst="rect">
              <a:avLst/>
            </a:prstGeom>
          </p:spPr>
        </p:pic>
      </p:grpSp>
      <p:sp>
        <p:nvSpPr>
          <p:cNvPr id="17" name="직사각형 16">
            <a:extLst>
              <a:ext uri="{FF2B5EF4-FFF2-40B4-BE49-F238E27FC236}">
                <a16:creationId xmlns:a16="http://schemas.microsoft.com/office/drawing/2014/main" id="{004D20E3-1B35-4B28-9E99-632581E0ED1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Selecting Columns</a:t>
            </a:r>
          </a:p>
        </p:txBody>
      </p:sp>
    </p:spTree>
    <p:extLst>
      <p:ext uri="{BB962C8B-B14F-4D97-AF65-F5344CB8AC3E}">
        <p14:creationId xmlns:p14="http://schemas.microsoft.com/office/powerpoint/2010/main" val="117786204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501008"/>
            <a:ext cx="8782050" cy="792088"/>
            <a:chOff x="557644" y="5085181"/>
            <a:chExt cx="8782050" cy="792088"/>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920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Select only the “</a:t>
              </a:r>
              <a:r>
                <a:rPr lang="en-US" altLang="ko-KR" sz="1300" dirty="0" err="1">
                  <a:solidFill>
                    <a:prstClr val="black">
                      <a:lumMod val="85000"/>
                      <a:lumOff val="15000"/>
                    </a:prstClr>
                  </a:solidFill>
                  <a:latin typeface="SamsungOne 400" panose="020B0503030303020204" pitchFamily="34" charset="0"/>
                </a:rPr>
                <a:t>english</a:t>
              </a:r>
              <a:r>
                <a:rPr lang="en-US" altLang="ko-KR" sz="1300" dirty="0">
                  <a:solidFill>
                    <a:prstClr val="black">
                      <a:lumMod val="85000"/>
                      <a:lumOff val="15000"/>
                    </a:prstClr>
                  </a:solidFill>
                  <a:latin typeface="SamsungOne 400" panose="020B0503030303020204" pitchFamily="34" charset="0"/>
                </a:rPr>
                <a:t>” score data. Save it to variable </a:t>
              </a:r>
              <a:r>
                <a:rPr lang="en-US" altLang="ko-KR" sz="1300" dirty="0" err="1">
                  <a:solidFill>
                    <a:prstClr val="black">
                      <a:lumMod val="85000"/>
                      <a:lumOff val="15000"/>
                    </a:prstClr>
                  </a:solidFill>
                  <a:latin typeface="SamsungOne 400" panose="020B0503030303020204" pitchFamily="34" charset="0"/>
                </a:rPr>
                <a:t>english</a:t>
              </a:r>
              <a:r>
                <a:rPr lang="en-US" altLang="ko-KR" sz="1300" dirty="0">
                  <a:solidFill>
                    <a:prstClr val="black">
                      <a:lumMod val="85000"/>
                      <a:lumOff val="15000"/>
                    </a:prstClr>
                  </a:solidFill>
                  <a:latin typeface="SamsungOne 400" panose="020B0503030303020204" pitchFamily="34" charset="0"/>
                </a:rPr>
                <a:t>. </a:t>
              </a:r>
            </a:p>
          </p:txBody>
        </p:sp>
      </p:grpSp>
      <p:grpSp>
        <p:nvGrpSpPr>
          <p:cNvPr id="4" name="그룹 3">
            <a:extLst>
              <a:ext uri="{FF2B5EF4-FFF2-40B4-BE49-F238E27FC236}">
                <a16:creationId xmlns:a16="http://schemas.microsoft.com/office/drawing/2014/main" id="{13DC923A-EEEC-45A7-B814-81D15F2D8E1E}"/>
              </a:ext>
            </a:extLst>
          </p:cNvPr>
          <p:cNvGrpSpPr/>
          <p:nvPr/>
        </p:nvGrpSpPr>
        <p:grpSpPr>
          <a:xfrm>
            <a:off x="558924" y="1762552"/>
            <a:ext cx="8782050" cy="1639160"/>
            <a:chOff x="558924" y="1781214"/>
            <a:chExt cx="8782050" cy="163916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81214"/>
              <a:ext cx="8782050" cy="163916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759" r="20676"/>
            <a:stretch/>
          </p:blipFill>
          <p:spPr>
            <a:xfrm>
              <a:off x="634481" y="1831170"/>
              <a:ext cx="8706493" cy="1556721"/>
            </a:xfrm>
            <a:prstGeom prst="rect">
              <a:avLst/>
            </a:prstGeom>
          </p:spPr>
        </p:pic>
      </p:grpSp>
      <p:sp>
        <p:nvSpPr>
          <p:cNvPr id="17" name="직사각형 16">
            <a:extLst>
              <a:ext uri="{FF2B5EF4-FFF2-40B4-BE49-F238E27FC236}">
                <a16:creationId xmlns:a16="http://schemas.microsoft.com/office/drawing/2014/main" id="{D6422214-8B2A-446B-A783-4349EB64E63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Selecting Columns</a:t>
            </a:r>
          </a:p>
        </p:txBody>
      </p:sp>
    </p:spTree>
    <p:extLst>
      <p:ext uri="{BB962C8B-B14F-4D97-AF65-F5344CB8AC3E}">
        <p14:creationId xmlns:p14="http://schemas.microsoft.com/office/powerpoint/2010/main" val="262433379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5CC3C4EB-4875-434A-B9F7-99FD0C3826E9}"/>
              </a:ext>
            </a:extLst>
          </p:cNvPr>
          <p:cNvGrpSpPr/>
          <p:nvPr/>
        </p:nvGrpSpPr>
        <p:grpSpPr>
          <a:xfrm>
            <a:off x="558924" y="2060848"/>
            <a:ext cx="8782050" cy="2636724"/>
            <a:chOff x="558924" y="2149880"/>
            <a:chExt cx="8782050" cy="2636724"/>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80"/>
              <a:ext cx="8782050" cy="26367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958" r="19174"/>
            <a:stretch/>
          </p:blipFill>
          <p:spPr>
            <a:xfrm>
              <a:off x="671803" y="2230218"/>
              <a:ext cx="8669171" cy="2503255"/>
            </a:xfrm>
            <a:prstGeom prst="rect">
              <a:avLst/>
            </a:prstGeom>
          </p:spPr>
        </p:pic>
      </p:grpSp>
      <p:grpSp>
        <p:nvGrpSpPr>
          <p:cNvPr id="12" name="그룹 11">
            <a:extLst>
              <a:ext uri="{FF2B5EF4-FFF2-40B4-BE49-F238E27FC236}">
                <a16:creationId xmlns:a16="http://schemas.microsoft.com/office/drawing/2014/main" id="{D7ABB7DC-FE44-496E-859B-322496AC2904}"/>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BF3C481B-3B50-40DC-BE46-B8FDA0F0ED3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Selecting Columns</a:t>
              </a:r>
            </a:p>
          </p:txBody>
        </p:sp>
        <p:sp>
          <p:nvSpPr>
            <p:cNvPr id="14" name="Rectangle 12">
              <a:extLst>
                <a:ext uri="{FF2B5EF4-FFF2-40B4-BE49-F238E27FC236}">
                  <a16:creationId xmlns:a16="http://schemas.microsoft.com/office/drawing/2014/main" id="{FE73EAF4-8C44-4AD2-B029-793B4BB77D3D}"/>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Select “music” and “science” score data. Save it to variable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music_sci</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grpSp>
    </p:spTree>
    <p:extLst>
      <p:ext uri="{BB962C8B-B14F-4D97-AF65-F5344CB8AC3E}">
        <p14:creationId xmlns:p14="http://schemas.microsoft.com/office/powerpoint/2010/main" val="145038027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ACE46EE5-43FB-48B6-B06B-A10013C7659E}"/>
              </a:ext>
            </a:extLst>
          </p:cNvPr>
          <p:cNvGrpSpPr/>
          <p:nvPr/>
        </p:nvGrpSpPr>
        <p:grpSpPr>
          <a:xfrm>
            <a:off x="558924" y="2046027"/>
            <a:ext cx="8782050" cy="3345851"/>
            <a:chOff x="558924" y="2149879"/>
            <a:chExt cx="8782050" cy="334585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149879"/>
              <a:ext cx="8782050" cy="334585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92" r="21487"/>
            <a:stretch/>
          </p:blipFill>
          <p:spPr>
            <a:xfrm>
              <a:off x="606490" y="2190743"/>
              <a:ext cx="8734484" cy="3298495"/>
            </a:xfrm>
            <a:prstGeom prst="rect">
              <a:avLst/>
            </a:prstGeom>
          </p:spPr>
        </p:pic>
      </p:grpSp>
      <p:grpSp>
        <p:nvGrpSpPr>
          <p:cNvPr id="12" name="그룹 11">
            <a:extLst>
              <a:ext uri="{FF2B5EF4-FFF2-40B4-BE49-F238E27FC236}">
                <a16:creationId xmlns:a16="http://schemas.microsoft.com/office/drawing/2014/main" id="{FCE8D28C-C3B1-423E-9B2F-0DEEB752E095}"/>
              </a:ext>
            </a:extLst>
          </p:cNvPr>
          <p:cNvGrpSpPr/>
          <p:nvPr/>
        </p:nvGrpSpPr>
        <p:grpSpPr>
          <a:xfrm>
            <a:off x="580388" y="1413381"/>
            <a:ext cx="8887612" cy="599957"/>
            <a:chOff x="580388" y="1413381"/>
            <a:chExt cx="8887612" cy="599957"/>
          </a:xfrm>
        </p:grpSpPr>
        <p:sp>
          <p:nvSpPr>
            <p:cNvPr id="13" name="직사각형 12">
              <a:extLst>
                <a:ext uri="{FF2B5EF4-FFF2-40B4-BE49-F238E27FC236}">
                  <a16:creationId xmlns:a16="http://schemas.microsoft.com/office/drawing/2014/main" id="{77AD1F63-4AF2-4551-BA66-18991E6E78C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Selecting Columns</a:t>
              </a:r>
            </a:p>
          </p:txBody>
        </p:sp>
        <p:sp>
          <p:nvSpPr>
            <p:cNvPr id="14" name="Rectangle 12">
              <a:extLst>
                <a:ext uri="{FF2B5EF4-FFF2-40B4-BE49-F238E27FC236}">
                  <a16:creationId xmlns:a16="http://schemas.microsoft.com/office/drawing/2014/main" id="{FBA54F3D-D2BF-4179-ABF1-6027201E1E62}"/>
                </a:ext>
              </a:extLst>
            </p:cNvPr>
            <p:cNvSpPr/>
            <p:nvPr/>
          </p:nvSpPr>
          <p:spPr>
            <a:xfrm>
              <a:off x="711201" y="1667877"/>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want to store it in a two-dimensional form, and there is only one column, use the list form[]. </a:t>
              </a:r>
            </a:p>
          </p:txBody>
        </p:sp>
      </p:grpSp>
    </p:spTree>
    <p:extLst>
      <p:ext uri="{BB962C8B-B14F-4D97-AF65-F5344CB8AC3E}">
        <p14:creationId xmlns:p14="http://schemas.microsoft.com/office/powerpoint/2010/main" val="9368621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87B7C872-6FA7-4677-9CC8-E51DA12DCA42}"/>
              </a:ext>
            </a:extLst>
          </p:cNvPr>
          <p:cNvGrpSpPr/>
          <p:nvPr/>
        </p:nvGrpSpPr>
        <p:grpSpPr>
          <a:xfrm>
            <a:off x="558924" y="1745825"/>
            <a:ext cx="8782050" cy="2359240"/>
            <a:chOff x="558924" y="1789840"/>
            <a:chExt cx="8782050" cy="235924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89840"/>
              <a:ext cx="8782050" cy="235924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288" t="3904" r="19949"/>
            <a:stretch/>
          </p:blipFill>
          <p:spPr>
            <a:xfrm>
              <a:off x="615820" y="1875451"/>
              <a:ext cx="8725154" cy="2245635"/>
            </a:xfrm>
            <a:prstGeom prst="rect">
              <a:avLst/>
            </a:prstGeom>
          </p:spPr>
        </p:pic>
      </p:grpSp>
      <p:sp>
        <p:nvSpPr>
          <p:cNvPr id="10" name="직사각형 9">
            <a:extLst>
              <a:ext uri="{FF2B5EF4-FFF2-40B4-BE49-F238E27FC236}">
                <a16:creationId xmlns:a16="http://schemas.microsoft.com/office/drawing/2014/main" id="{9FF96563-3B4F-4AC7-9FE5-DCDCC7949BD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6931106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5679910"/>
            <a:ext cx="8782050" cy="646246"/>
            <a:chOff x="557644" y="5085181"/>
            <a:chExt cx="8782050" cy="646246"/>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64624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5891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If the name part moves down, it is set as an index.</a:t>
              </a:r>
            </a:p>
          </p:txBody>
        </p:sp>
      </p:grpSp>
      <p:grpSp>
        <p:nvGrpSpPr>
          <p:cNvPr id="5" name="그룹 4">
            <a:extLst>
              <a:ext uri="{FF2B5EF4-FFF2-40B4-BE49-F238E27FC236}">
                <a16:creationId xmlns:a16="http://schemas.microsoft.com/office/drawing/2014/main" id="{2D86EF1E-8C88-4767-B0B7-F518748E77C6}"/>
              </a:ext>
            </a:extLst>
          </p:cNvPr>
          <p:cNvGrpSpPr/>
          <p:nvPr/>
        </p:nvGrpSpPr>
        <p:grpSpPr>
          <a:xfrm>
            <a:off x="558924" y="2333189"/>
            <a:ext cx="8785035" cy="3285552"/>
            <a:chOff x="558924" y="2333189"/>
            <a:chExt cx="8785035" cy="328555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333189"/>
              <a:ext cx="8782050" cy="32855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390" r="11435"/>
            <a:stretch/>
          </p:blipFill>
          <p:spPr>
            <a:xfrm>
              <a:off x="699796" y="2395984"/>
              <a:ext cx="8644163" cy="3174391"/>
            </a:xfrm>
            <a:prstGeom prst="rect">
              <a:avLst/>
            </a:prstGeom>
          </p:spPr>
        </p:pic>
        <p:sp>
          <p:nvSpPr>
            <p:cNvPr id="4" name="직사각형 3"/>
            <p:cNvSpPr/>
            <p:nvPr/>
          </p:nvSpPr>
          <p:spPr>
            <a:xfrm>
              <a:off x="3946849" y="2474235"/>
              <a:ext cx="4086807" cy="20365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그룹 17">
            <a:extLst>
              <a:ext uri="{FF2B5EF4-FFF2-40B4-BE49-F238E27FC236}">
                <a16:creationId xmlns:a16="http://schemas.microsoft.com/office/drawing/2014/main" id="{5427E28F-FFCA-4CA3-9A79-1BF744B1F6D4}"/>
              </a:ext>
            </a:extLst>
          </p:cNvPr>
          <p:cNvGrpSpPr/>
          <p:nvPr/>
        </p:nvGrpSpPr>
        <p:grpSpPr>
          <a:xfrm>
            <a:off x="580388" y="1413381"/>
            <a:ext cx="8887612" cy="876956"/>
            <a:chOff x="580388" y="1413381"/>
            <a:chExt cx="8887612" cy="876956"/>
          </a:xfrm>
        </p:grpSpPr>
        <p:sp>
          <p:nvSpPr>
            <p:cNvPr id="19" name="직사각형 18">
              <a:extLst>
                <a:ext uri="{FF2B5EF4-FFF2-40B4-BE49-F238E27FC236}">
                  <a16:creationId xmlns:a16="http://schemas.microsoft.com/office/drawing/2014/main" id="{1FB4A97B-6A1B-4078-AA36-9F9E7004A8D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
          <p:nvSpPr>
            <p:cNvPr id="20" name="Rectangle 12">
              <a:extLst>
                <a:ext uri="{FF2B5EF4-FFF2-40B4-BE49-F238E27FC236}">
                  <a16:creationId xmlns:a16="http://schemas.microsoft.com/office/drawing/2014/main" id="{E9B7CCF2-D235-4A73-B91D-A27E75B6E1CF}"/>
                </a:ext>
              </a:extLst>
            </p:cNvPr>
            <p:cNvSpPr/>
            <p:nvPr/>
          </p:nvSpPr>
          <p:spPr>
            <a:xfrm>
              <a:off x="711201" y="1667877"/>
              <a:ext cx="8632824" cy="622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6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is no index, but an index may be selected among the columns.</a:t>
              </a:r>
            </a:p>
            <a:p>
              <a:pPr marL="182563" indent="-182563">
                <a:spcAft>
                  <a:spcPts val="6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Designate the column “Name” as a new index and reflect the changes to the df object.</a:t>
              </a:r>
            </a:p>
          </p:txBody>
        </p:sp>
      </p:grpSp>
    </p:spTree>
    <p:extLst>
      <p:ext uri="{BB962C8B-B14F-4D97-AF65-F5344CB8AC3E}">
        <p14:creationId xmlns:p14="http://schemas.microsoft.com/office/powerpoint/2010/main" val="133838984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150493"/>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Select one specific element of the DataFrame df (“music” score of “</a:t>
              </a:r>
              <a:r>
                <a:rPr lang="en-US" altLang="ko-KR" sz="1300" dirty="0" err="1">
                  <a:solidFill>
                    <a:prstClr val="black">
                      <a:lumMod val="85000"/>
                      <a:lumOff val="15000"/>
                    </a:prstClr>
                  </a:solidFill>
                  <a:latin typeface="SamsungOne 400" panose="020B0503030303020204" pitchFamily="34" charset="0"/>
                </a:rPr>
                <a:t>honggildong</a:t>
              </a:r>
              <a:r>
                <a:rPr lang="en-US" altLang="ko-KR" sz="1300" dirty="0">
                  <a:solidFill>
                    <a:prstClr val="black">
                      <a:lumMod val="85000"/>
                      <a:lumOff val="15000"/>
                    </a:prstClr>
                  </a:solidFill>
                  <a:latin typeface="SamsungOne 400" panose="020B0503030303020204" pitchFamily="34" charset="0"/>
                </a:rPr>
                <a:t>”).</a:t>
              </a:r>
            </a:p>
          </p:txBody>
        </p:sp>
      </p:grpSp>
      <p:grpSp>
        <p:nvGrpSpPr>
          <p:cNvPr id="2" name="그룹 1">
            <a:extLst>
              <a:ext uri="{FF2B5EF4-FFF2-40B4-BE49-F238E27FC236}">
                <a16:creationId xmlns:a16="http://schemas.microsoft.com/office/drawing/2014/main" id="{F18B21D3-BB55-4B57-8255-6D7BACF9CC45}"/>
              </a:ext>
            </a:extLst>
          </p:cNvPr>
          <p:cNvGrpSpPr/>
          <p:nvPr/>
        </p:nvGrpSpPr>
        <p:grpSpPr>
          <a:xfrm>
            <a:off x="558924" y="1772816"/>
            <a:ext cx="8782050" cy="1284709"/>
            <a:chOff x="558924" y="1772816"/>
            <a:chExt cx="8782050" cy="128470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28470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571" t="3893" r="21230"/>
            <a:stretch/>
          </p:blipFill>
          <p:spPr>
            <a:xfrm>
              <a:off x="606489" y="1838130"/>
              <a:ext cx="8734485" cy="1158822"/>
            </a:xfrm>
            <a:prstGeom prst="rect">
              <a:avLst/>
            </a:prstGeom>
          </p:spPr>
        </p:pic>
      </p:grpSp>
      <p:sp>
        <p:nvSpPr>
          <p:cNvPr id="18" name="직사각형 17">
            <a:extLst>
              <a:ext uri="{FF2B5EF4-FFF2-40B4-BE49-F238E27FC236}">
                <a16:creationId xmlns:a16="http://schemas.microsoft.com/office/drawing/2014/main" id="{BB527A23-24D0-4FE4-8859-4D44288A602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244404534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365618"/>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Select two or more elements of the DataFrame df (“music” and “</a:t>
              </a:r>
              <a:r>
                <a:rPr lang="en-US" altLang="ko-KR" sz="1300" dirty="0" err="1">
                  <a:solidFill>
                    <a:prstClr val="black">
                      <a:lumMod val="85000"/>
                      <a:lumOff val="15000"/>
                    </a:prstClr>
                  </a:solidFill>
                  <a:latin typeface="SamsungOne 400" panose="020B0503030303020204" pitchFamily="34" charset="0"/>
                </a:rPr>
                <a:t>phys_tra</a:t>
              </a:r>
              <a:r>
                <a:rPr lang="en-US" altLang="ko-KR" sz="1300" dirty="0">
                  <a:solidFill>
                    <a:prstClr val="black">
                      <a:lumMod val="85000"/>
                      <a:lumOff val="15000"/>
                    </a:prstClr>
                  </a:solidFill>
                  <a:latin typeface="SamsungOne 400" panose="020B0503030303020204" pitchFamily="34" charset="0"/>
                </a:rPr>
                <a:t>” scores of “</a:t>
              </a:r>
              <a:r>
                <a:rPr lang="en-US" altLang="ko-KR" sz="1300" dirty="0" err="1">
                  <a:solidFill>
                    <a:prstClr val="black">
                      <a:lumMod val="85000"/>
                      <a:lumOff val="15000"/>
                    </a:prstClr>
                  </a:solidFill>
                  <a:latin typeface="SamsungOne 400" panose="020B0503030303020204" pitchFamily="34" charset="0"/>
                </a:rPr>
                <a:t>honggildong</a:t>
              </a:r>
              <a:r>
                <a:rPr lang="en-US" altLang="ko-KR" sz="1300" dirty="0">
                  <a:solidFill>
                    <a:prstClr val="black">
                      <a:lumMod val="85000"/>
                      <a:lumOff val="15000"/>
                    </a:prstClr>
                  </a:solidFill>
                  <a:latin typeface="SamsungOne 400" panose="020B0503030303020204" pitchFamily="34" charset="0"/>
                </a:rPr>
                <a:t>”).</a:t>
              </a:r>
            </a:p>
          </p:txBody>
        </p:sp>
      </p:grpSp>
      <p:sp>
        <p:nvSpPr>
          <p:cNvPr id="17" name="직사각형 16">
            <a:extLst>
              <a:ext uri="{FF2B5EF4-FFF2-40B4-BE49-F238E27FC236}">
                <a16:creationId xmlns:a16="http://schemas.microsoft.com/office/drawing/2014/main" id="{813E2123-0610-4DAF-BF58-7CB16FE775E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grpSp>
        <p:nvGrpSpPr>
          <p:cNvPr id="3" name="그룹 2">
            <a:extLst>
              <a:ext uri="{FF2B5EF4-FFF2-40B4-BE49-F238E27FC236}">
                <a16:creationId xmlns:a16="http://schemas.microsoft.com/office/drawing/2014/main" id="{40428536-CF2A-45CE-B96A-D5C1FA8B583B}"/>
              </a:ext>
            </a:extLst>
          </p:cNvPr>
          <p:cNvGrpSpPr/>
          <p:nvPr/>
        </p:nvGrpSpPr>
        <p:grpSpPr>
          <a:xfrm>
            <a:off x="558924" y="1772816"/>
            <a:ext cx="8782050" cy="1492898"/>
            <a:chOff x="558924" y="1772816"/>
            <a:chExt cx="8782050" cy="149289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4928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그림 17">
              <a:extLst>
                <a:ext uri="{FF2B5EF4-FFF2-40B4-BE49-F238E27FC236}">
                  <a16:creationId xmlns:a16="http://schemas.microsoft.com/office/drawing/2014/main" id="{675B93C0-793B-4CE2-B780-1C1D798654E9}"/>
                </a:ext>
              </a:extLst>
            </p:cNvPr>
            <p:cNvPicPr>
              <a:picLocks noChangeAspect="1"/>
            </p:cNvPicPr>
            <p:nvPr/>
          </p:nvPicPr>
          <p:blipFill rotWithShape="1">
            <a:blip r:embed="rId5"/>
            <a:srcRect l="1665" r="21887"/>
            <a:stretch/>
          </p:blipFill>
          <p:spPr>
            <a:xfrm>
              <a:off x="615821" y="1812565"/>
              <a:ext cx="8725153" cy="1399572"/>
            </a:xfrm>
            <a:prstGeom prst="rect">
              <a:avLst/>
            </a:prstGeom>
          </p:spPr>
        </p:pic>
      </p:grpSp>
    </p:spTree>
    <p:extLst>
      <p:ext uri="{BB962C8B-B14F-4D97-AF65-F5344CB8AC3E}">
        <p14:creationId xmlns:p14="http://schemas.microsoft.com/office/powerpoint/2010/main" val="253311841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356287"/>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This can also be done with the integer index </a:t>
              </a:r>
              <a:r>
                <a:rPr lang="en-US" altLang="ko-KR" sz="1300" dirty="0" err="1">
                  <a:solidFill>
                    <a:prstClr val="black">
                      <a:lumMod val="85000"/>
                      <a:lumOff val="15000"/>
                    </a:prstClr>
                  </a:solidFill>
                  <a:latin typeface="SamsungOne 400" panose="020B0503030303020204" pitchFamily="34" charset="0"/>
                </a:rPr>
                <a:t>iloc</a:t>
              </a:r>
              <a:r>
                <a:rPr lang="en-US" altLang="ko-KR" sz="1300" dirty="0">
                  <a:solidFill>
                    <a:prstClr val="black">
                      <a:lumMod val="85000"/>
                      <a:lumOff val="15000"/>
                    </a:prstClr>
                  </a:solidFill>
                  <a:latin typeface="SamsungOne 400" panose="020B0503030303020204" pitchFamily="34" charset="0"/>
                </a:rPr>
                <a:t>.</a:t>
              </a:r>
            </a:p>
          </p:txBody>
        </p:sp>
      </p:grpSp>
      <p:sp>
        <p:nvSpPr>
          <p:cNvPr id="17" name="직사각형 16">
            <a:extLst>
              <a:ext uri="{FF2B5EF4-FFF2-40B4-BE49-F238E27FC236}">
                <a16:creationId xmlns:a16="http://schemas.microsoft.com/office/drawing/2014/main" id="{A277BFC5-A207-4CF8-ABDA-0E3BA33A51C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grpSp>
        <p:nvGrpSpPr>
          <p:cNvPr id="2" name="그룹 1">
            <a:extLst>
              <a:ext uri="{FF2B5EF4-FFF2-40B4-BE49-F238E27FC236}">
                <a16:creationId xmlns:a16="http://schemas.microsoft.com/office/drawing/2014/main" id="{7EAD60A7-42C9-4A93-88A7-BBB0CF262517}"/>
              </a:ext>
            </a:extLst>
          </p:cNvPr>
          <p:cNvGrpSpPr/>
          <p:nvPr/>
        </p:nvGrpSpPr>
        <p:grpSpPr>
          <a:xfrm>
            <a:off x="558924" y="1772816"/>
            <a:ext cx="8782050" cy="1483568"/>
            <a:chOff x="558924" y="1772816"/>
            <a:chExt cx="8782050" cy="148356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48356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그림 17">
              <a:extLst>
                <a:ext uri="{FF2B5EF4-FFF2-40B4-BE49-F238E27FC236}">
                  <a16:creationId xmlns:a16="http://schemas.microsoft.com/office/drawing/2014/main" id="{9E5A4559-7335-4DE4-8AD9-C9E977B69977}"/>
                </a:ext>
              </a:extLst>
            </p:cNvPr>
            <p:cNvPicPr>
              <a:picLocks noChangeAspect="1"/>
            </p:cNvPicPr>
            <p:nvPr/>
          </p:nvPicPr>
          <p:blipFill rotWithShape="1">
            <a:blip r:embed="rId5"/>
            <a:srcRect l="1476" r="20407"/>
            <a:stretch/>
          </p:blipFill>
          <p:spPr>
            <a:xfrm>
              <a:off x="597157" y="1810139"/>
              <a:ext cx="8743817" cy="1371600"/>
            </a:xfrm>
            <a:prstGeom prst="rect">
              <a:avLst/>
            </a:prstGeom>
          </p:spPr>
        </p:pic>
      </p:grpSp>
    </p:spTree>
    <p:extLst>
      <p:ext uri="{BB962C8B-B14F-4D97-AF65-F5344CB8AC3E}">
        <p14:creationId xmlns:p14="http://schemas.microsoft.com/office/powerpoint/2010/main" val="316856745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3341149"/>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is also possible through slicing.</a:t>
              </a:r>
            </a:p>
          </p:txBody>
        </p:sp>
      </p:grpSp>
      <p:sp>
        <p:nvSpPr>
          <p:cNvPr id="17" name="직사각형 16">
            <a:extLst>
              <a:ext uri="{FF2B5EF4-FFF2-40B4-BE49-F238E27FC236}">
                <a16:creationId xmlns:a16="http://schemas.microsoft.com/office/drawing/2014/main" id="{511E916B-2FE0-4A56-B2CB-A0E0A0DA4A1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grpSp>
        <p:nvGrpSpPr>
          <p:cNvPr id="3" name="그룹 2">
            <a:extLst>
              <a:ext uri="{FF2B5EF4-FFF2-40B4-BE49-F238E27FC236}">
                <a16:creationId xmlns:a16="http://schemas.microsoft.com/office/drawing/2014/main" id="{AF5F5209-CE3A-4B92-B748-3AE86037AD53}"/>
              </a:ext>
            </a:extLst>
          </p:cNvPr>
          <p:cNvGrpSpPr/>
          <p:nvPr/>
        </p:nvGrpSpPr>
        <p:grpSpPr>
          <a:xfrm>
            <a:off x="558924" y="1772816"/>
            <a:ext cx="8782051" cy="1472902"/>
            <a:chOff x="558924" y="1772816"/>
            <a:chExt cx="8782051" cy="147290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4729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그림 17">
              <a:extLst>
                <a:ext uri="{FF2B5EF4-FFF2-40B4-BE49-F238E27FC236}">
                  <a16:creationId xmlns:a16="http://schemas.microsoft.com/office/drawing/2014/main" id="{67306C4A-67BA-4E74-9CD6-43B8A3CBB86B}"/>
                </a:ext>
              </a:extLst>
            </p:cNvPr>
            <p:cNvPicPr>
              <a:picLocks noChangeAspect="1"/>
            </p:cNvPicPr>
            <p:nvPr/>
          </p:nvPicPr>
          <p:blipFill rotWithShape="1">
            <a:blip r:embed="rId5"/>
            <a:srcRect l="1617" r="19151"/>
            <a:stretch/>
          </p:blipFill>
          <p:spPr>
            <a:xfrm>
              <a:off x="615819" y="1810139"/>
              <a:ext cx="8725156" cy="1418253"/>
            </a:xfrm>
            <a:prstGeom prst="rect">
              <a:avLst/>
            </a:prstGeom>
          </p:spPr>
        </p:pic>
      </p:grpSp>
    </p:spTree>
    <p:extLst>
      <p:ext uri="{BB962C8B-B14F-4D97-AF65-F5344CB8AC3E}">
        <p14:creationId xmlns:p14="http://schemas.microsoft.com/office/powerpoint/2010/main" val="170558382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0" name="직사각형 9">
            <a:extLst>
              <a:ext uri="{FF2B5EF4-FFF2-40B4-BE49-F238E27FC236}">
                <a16:creationId xmlns:a16="http://schemas.microsoft.com/office/drawing/2014/main" id="{756D92C3-9FD0-40AE-880D-095433C0FD7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grpSp>
        <p:nvGrpSpPr>
          <p:cNvPr id="2" name="그룹 1">
            <a:extLst>
              <a:ext uri="{FF2B5EF4-FFF2-40B4-BE49-F238E27FC236}">
                <a16:creationId xmlns:a16="http://schemas.microsoft.com/office/drawing/2014/main" id="{5A0448C4-15B6-44F6-A17B-B835BDCEDA9B}"/>
              </a:ext>
            </a:extLst>
          </p:cNvPr>
          <p:cNvGrpSpPr/>
          <p:nvPr/>
        </p:nvGrpSpPr>
        <p:grpSpPr>
          <a:xfrm>
            <a:off x="558924" y="1772816"/>
            <a:ext cx="8782050" cy="1472902"/>
            <a:chOff x="558924" y="1772816"/>
            <a:chExt cx="8782050" cy="147290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4729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그림 11">
              <a:extLst>
                <a:ext uri="{FF2B5EF4-FFF2-40B4-BE49-F238E27FC236}">
                  <a16:creationId xmlns:a16="http://schemas.microsoft.com/office/drawing/2014/main" id="{B0889E86-2871-4073-ABB6-5750F6D75104}"/>
                </a:ext>
              </a:extLst>
            </p:cNvPr>
            <p:cNvPicPr>
              <a:picLocks noChangeAspect="1"/>
            </p:cNvPicPr>
            <p:nvPr/>
          </p:nvPicPr>
          <p:blipFill rotWithShape="1">
            <a:blip r:embed="rId4"/>
            <a:srcRect l="1361" r="20748"/>
            <a:stretch/>
          </p:blipFill>
          <p:spPr>
            <a:xfrm>
              <a:off x="580388" y="1800922"/>
              <a:ext cx="8760586" cy="1436685"/>
            </a:xfrm>
            <a:prstGeom prst="rect">
              <a:avLst/>
            </a:prstGeom>
          </p:spPr>
        </p:pic>
      </p:grpSp>
    </p:spTree>
    <p:extLst>
      <p:ext uri="{BB962C8B-B14F-4D97-AF65-F5344CB8AC3E}">
        <p14:creationId xmlns:p14="http://schemas.microsoft.com/office/powerpoint/2010/main" val="90661125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58924" y="4465989"/>
            <a:ext cx="8782050" cy="889782"/>
            <a:chOff x="557644" y="5085181"/>
            <a:chExt cx="8782050" cy="889782"/>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88978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Select an element from two or more rows and columns of df (”music” and “</a:t>
              </a:r>
              <a:r>
                <a:rPr lang="en-US" altLang="ko-KR" sz="1300" dirty="0" err="1">
                  <a:solidFill>
                    <a:prstClr val="black">
                      <a:lumMod val="85000"/>
                      <a:lumOff val="15000"/>
                    </a:prstClr>
                  </a:solidFill>
                  <a:latin typeface="SamsungOne 400" panose="020B0503030303020204" pitchFamily="34" charset="0"/>
                </a:rPr>
                <a:t>phys_tra</a:t>
              </a:r>
              <a:r>
                <a:rPr lang="en-US" altLang="ko-KR" sz="1300" dirty="0">
                  <a:solidFill>
                    <a:prstClr val="black">
                      <a:lumMod val="85000"/>
                      <a:lumOff val="15000"/>
                    </a:prstClr>
                  </a:solidFill>
                  <a:latin typeface="SamsungOne 400" panose="020B0503030303020204" pitchFamily="34" charset="0"/>
                </a:rPr>
                <a:t>” scores of “</a:t>
              </a:r>
              <a:r>
                <a:rPr lang="en-US" altLang="ko-KR" sz="1300" dirty="0" err="1">
                  <a:solidFill>
                    <a:prstClr val="black">
                      <a:lumMod val="85000"/>
                      <a:lumOff val="15000"/>
                    </a:prstClr>
                  </a:solidFill>
                  <a:latin typeface="SamsungOne 400" panose="020B0503030303020204" pitchFamily="34" charset="0"/>
                </a:rPr>
                <a:t>honggildong</a:t>
              </a:r>
              <a:r>
                <a:rPr lang="en-US" altLang="ko-KR" sz="1300" dirty="0">
                  <a:solidFill>
                    <a:prstClr val="black">
                      <a:lumMod val="85000"/>
                      <a:lumOff val="15000"/>
                    </a:prstClr>
                  </a:solidFill>
                  <a:latin typeface="SamsungOne 400" panose="020B0503030303020204" pitchFamily="34" charset="0"/>
                </a:rPr>
                <a:t>” and “</a:t>
              </a:r>
              <a:r>
                <a:rPr lang="en-US" altLang="ko-KR" sz="1300" dirty="0" err="1">
                  <a:solidFill>
                    <a:prstClr val="black">
                      <a:lumMod val="85000"/>
                      <a:lumOff val="15000"/>
                    </a:prstClr>
                  </a:solidFill>
                  <a:latin typeface="SamsungOne 400" panose="020B0503030303020204" pitchFamily="34" charset="0"/>
                </a:rPr>
                <a:t>hongeedong</a:t>
              </a:r>
              <a:r>
                <a:rPr lang="en-US" altLang="ko-KR" sz="1300" dirty="0">
                  <a:solidFill>
                    <a:prstClr val="black">
                      <a:lumMod val="85000"/>
                      <a:lumOff val="15000"/>
                    </a:prstClr>
                  </a:solidFill>
                  <a:latin typeface="SamsungOne 400" panose="020B0503030303020204" pitchFamily="34" charset="0"/>
                </a:rPr>
                <a:t>”).</a:t>
              </a:r>
            </a:p>
          </p:txBody>
        </p:sp>
      </p:grpSp>
      <p:grpSp>
        <p:nvGrpSpPr>
          <p:cNvPr id="2" name="그룹 1">
            <a:extLst>
              <a:ext uri="{FF2B5EF4-FFF2-40B4-BE49-F238E27FC236}">
                <a16:creationId xmlns:a16="http://schemas.microsoft.com/office/drawing/2014/main" id="{324B754C-9C7F-44F2-BF6D-C2B2C6E03922}"/>
              </a:ext>
            </a:extLst>
          </p:cNvPr>
          <p:cNvGrpSpPr/>
          <p:nvPr/>
        </p:nvGrpSpPr>
        <p:grpSpPr>
          <a:xfrm>
            <a:off x="558924" y="1772815"/>
            <a:ext cx="8782051" cy="2613901"/>
            <a:chOff x="558924" y="1772815"/>
            <a:chExt cx="8782051" cy="261390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6139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2124" r="19398"/>
            <a:stretch/>
          </p:blipFill>
          <p:spPr>
            <a:xfrm>
              <a:off x="670531" y="1820807"/>
              <a:ext cx="8670444" cy="2540290"/>
            </a:xfrm>
            <a:prstGeom prst="rect">
              <a:avLst/>
            </a:prstGeom>
          </p:spPr>
        </p:pic>
      </p:grpSp>
      <p:sp>
        <p:nvSpPr>
          <p:cNvPr id="17" name="직사각형 16">
            <a:extLst>
              <a:ext uri="{FF2B5EF4-FFF2-40B4-BE49-F238E27FC236}">
                <a16:creationId xmlns:a16="http://schemas.microsoft.com/office/drawing/2014/main" id="{2961EAEC-04D5-4EF9-A083-E8C85E85173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59774857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35089F11-B4E8-41EF-9A23-16ED2B922DC0}"/>
              </a:ext>
            </a:extLst>
          </p:cNvPr>
          <p:cNvGrpSpPr/>
          <p:nvPr/>
        </p:nvGrpSpPr>
        <p:grpSpPr>
          <a:xfrm>
            <a:off x="558924" y="1772815"/>
            <a:ext cx="8782051" cy="2613901"/>
            <a:chOff x="558924" y="1772815"/>
            <a:chExt cx="8782051" cy="261390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6139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l="1571" t="4220" r="18336"/>
            <a:stretch/>
          </p:blipFill>
          <p:spPr>
            <a:xfrm>
              <a:off x="643813" y="1884783"/>
              <a:ext cx="8697162" cy="2398982"/>
            </a:xfrm>
            <a:prstGeom prst="rect">
              <a:avLst/>
            </a:prstGeom>
          </p:spPr>
        </p:pic>
      </p:grpSp>
      <p:sp>
        <p:nvSpPr>
          <p:cNvPr id="10" name="직사각형 9">
            <a:extLst>
              <a:ext uri="{FF2B5EF4-FFF2-40B4-BE49-F238E27FC236}">
                <a16:creationId xmlns:a16="http://schemas.microsoft.com/office/drawing/2014/main" id="{AACEB387-C7C8-4288-B8B4-9D8046C533A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194956398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2A05378C-640E-49FD-819F-3E6879F81B1A}"/>
              </a:ext>
            </a:extLst>
          </p:cNvPr>
          <p:cNvGrpSpPr/>
          <p:nvPr/>
        </p:nvGrpSpPr>
        <p:grpSpPr>
          <a:xfrm>
            <a:off x="558924" y="1772815"/>
            <a:ext cx="8782050" cy="2613901"/>
            <a:chOff x="558924" y="1772815"/>
            <a:chExt cx="8782050" cy="261390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6139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382" r="19844"/>
            <a:stretch/>
          </p:blipFill>
          <p:spPr>
            <a:xfrm>
              <a:off x="625151" y="1799830"/>
              <a:ext cx="8715823" cy="2568224"/>
            </a:xfrm>
            <a:prstGeom prst="rect">
              <a:avLst/>
            </a:prstGeom>
          </p:spPr>
        </p:pic>
      </p:grpSp>
      <p:sp>
        <p:nvSpPr>
          <p:cNvPr id="10" name="직사각형 9">
            <a:extLst>
              <a:ext uri="{FF2B5EF4-FFF2-40B4-BE49-F238E27FC236}">
                <a16:creationId xmlns:a16="http://schemas.microsoft.com/office/drawing/2014/main" id="{E9E21DE5-8FAA-4811-90B0-DCFD1BF4DF1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52455877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68371DC8-1A86-4BB6-A8D1-BFFB4B71CA0D}"/>
              </a:ext>
            </a:extLst>
          </p:cNvPr>
          <p:cNvGrpSpPr/>
          <p:nvPr/>
        </p:nvGrpSpPr>
        <p:grpSpPr>
          <a:xfrm>
            <a:off x="558924" y="1772815"/>
            <a:ext cx="8782050" cy="2613901"/>
            <a:chOff x="558924" y="1772815"/>
            <a:chExt cx="8782050" cy="261390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61390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854" r="18270" b="5181"/>
            <a:stretch/>
          </p:blipFill>
          <p:spPr>
            <a:xfrm>
              <a:off x="662473" y="1849174"/>
              <a:ext cx="8678501" cy="2443921"/>
            </a:xfrm>
            <a:prstGeom prst="rect">
              <a:avLst/>
            </a:prstGeom>
          </p:spPr>
        </p:pic>
      </p:grpSp>
      <p:sp>
        <p:nvSpPr>
          <p:cNvPr id="10" name="직사각형 9">
            <a:extLst>
              <a:ext uri="{FF2B5EF4-FFF2-40B4-BE49-F238E27FC236}">
                <a16:creationId xmlns:a16="http://schemas.microsoft.com/office/drawing/2014/main" id="{63B890A4-7086-4DA8-A5D7-6B879C8BB27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Designating Index</a:t>
            </a:r>
          </a:p>
        </p:txBody>
      </p:sp>
    </p:spTree>
    <p:extLst>
      <p:ext uri="{BB962C8B-B14F-4D97-AF65-F5344CB8AC3E}">
        <p14:creationId xmlns:p14="http://schemas.microsoft.com/office/powerpoint/2010/main" val="231075522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58924" y="4753137"/>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a ”kor” score column to the DataFrame df. The value of the data is 80.</a:t>
              </a:r>
            </a:p>
          </p:txBody>
        </p:sp>
      </p:grpSp>
      <p:grpSp>
        <p:nvGrpSpPr>
          <p:cNvPr id="3" name="그룹 2">
            <a:extLst>
              <a:ext uri="{FF2B5EF4-FFF2-40B4-BE49-F238E27FC236}">
                <a16:creationId xmlns:a16="http://schemas.microsoft.com/office/drawing/2014/main" id="{0BA2CDE1-6035-4267-848C-02159160ABFD}"/>
              </a:ext>
            </a:extLst>
          </p:cNvPr>
          <p:cNvGrpSpPr/>
          <p:nvPr/>
        </p:nvGrpSpPr>
        <p:grpSpPr>
          <a:xfrm>
            <a:off x="558924" y="1772815"/>
            <a:ext cx="8782050" cy="2876823"/>
            <a:chOff x="558924" y="1772815"/>
            <a:chExt cx="8782050" cy="287682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87682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665" r="16102"/>
            <a:stretch/>
          </p:blipFill>
          <p:spPr>
            <a:xfrm>
              <a:off x="638855" y="1831275"/>
              <a:ext cx="8702119" cy="2749853"/>
            </a:xfrm>
            <a:prstGeom prst="rect">
              <a:avLst/>
            </a:prstGeom>
          </p:spPr>
        </p:pic>
      </p:grpSp>
      <p:sp>
        <p:nvSpPr>
          <p:cNvPr id="16" name="직사각형 15">
            <a:extLst>
              <a:ext uri="{FF2B5EF4-FFF2-40B4-BE49-F238E27FC236}">
                <a16:creationId xmlns:a16="http://schemas.microsoft.com/office/drawing/2014/main" id="{2BC8FDB1-C6FF-441B-9A75-8BD93407654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Add a Column</a:t>
            </a:r>
          </a:p>
        </p:txBody>
      </p:sp>
    </p:spTree>
    <p:extLst>
      <p:ext uri="{BB962C8B-B14F-4D97-AF65-F5344CB8AC3E}">
        <p14:creationId xmlns:p14="http://schemas.microsoft.com/office/powerpoint/2010/main" val="314573366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9005307B-8A86-4263-9087-D1E829BDEF59}"/>
              </a:ext>
            </a:extLst>
          </p:cNvPr>
          <p:cNvGrpSpPr/>
          <p:nvPr/>
        </p:nvGrpSpPr>
        <p:grpSpPr>
          <a:xfrm>
            <a:off x="558924" y="1772815"/>
            <a:ext cx="8782050" cy="2448273"/>
            <a:chOff x="558924" y="1772815"/>
            <a:chExt cx="8782050" cy="244827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44827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948" r="14289"/>
            <a:stretch/>
          </p:blipFill>
          <p:spPr>
            <a:xfrm>
              <a:off x="625148" y="1817676"/>
              <a:ext cx="8715825" cy="2331404"/>
            </a:xfrm>
            <a:prstGeom prst="rect">
              <a:avLst/>
            </a:prstGeom>
          </p:spPr>
        </p:pic>
      </p:grpSp>
      <p:sp>
        <p:nvSpPr>
          <p:cNvPr id="10" name="직사각형 9">
            <a:extLst>
              <a:ext uri="{FF2B5EF4-FFF2-40B4-BE49-F238E27FC236}">
                <a16:creationId xmlns:a16="http://schemas.microsoft.com/office/drawing/2014/main" id="{9B5D44AE-8B63-4191-857A-3FA4D260CA8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Tree>
    <p:extLst>
      <p:ext uri="{BB962C8B-B14F-4D97-AF65-F5344CB8AC3E}">
        <p14:creationId xmlns:p14="http://schemas.microsoft.com/office/powerpoint/2010/main" val="408717768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5085184"/>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a new row – enter the same element value.</a:t>
              </a:r>
            </a:p>
          </p:txBody>
        </p:sp>
      </p:grpSp>
      <p:grpSp>
        <p:nvGrpSpPr>
          <p:cNvPr id="3" name="그룹 2">
            <a:extLst>
              <a:ext uri="{FF2B5EF4-FFF2-40B4-BE49-F238E27FC236}">
                <a16:creationId xmlns:a16="http://schemas.microsoft.com/office/drawing/2014/main" id="{8C328150-7667-44A4-9491-27F6CB750435}"/>
              </a:ext>
            </a:extLst>
          </p:cNvPr>
          <p:cNvGrpSpPr/>
          <p:nvPr/>
        </p:nvGrpSpPr>
        <p:grpSpPr>
          <a:xfrm>
            <a:off x="558924" y="1772815"/>
            <a:ext cx="8782050" cy="3207875"/>
            <a:chOff x="558924" y="1772815"/>
            <a:chExt cx="8782050" cy="3207875"/>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320787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759" r="14290"/>
            <a:stretch/>
          </p:blipFill>
          <p:spPr>
            <a:xfrm>
              <a:off x="653142" y="1811514"/>
              <a:ext cx="8687832" cy="3051748"/>
            </a:xfrm>
            <a:prstGeom prst="rect">
              <a:avLst/>
            </a:prstGeom>
          </p:spPr>
        </p:pic>
      </p:grpSp>
      <p:sp>
        <p:nvSpPr>
          <p:cNvPr id="16" name="직사각형 15">
            <a:extLst>
              <a:ext uri="{FF2B5EF4-FFF2-40B4-BE49-F238E27FC236}">
                <a16:creationId xmlns:a16="http://schemas.microsoft.com/office/drawing/2014/main" id="{90D087A6-1DCE-44EC-A0B8-94EDA454800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Tree>
    <p:extLst>
      <p:ext uri="{BB962C8B-B14F-4D97-AF65-F5344CB8AC3E}">
        <p14:creationId xmlns:p14="http://schemas.microsoft.com/office/powerpoint/2010/main" val="61601100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995924"/>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99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a new row – enter an array of element values.</a:t>
              </a:r>
            </a:p>
          </p:txBody>
        </p:sp>
      </p:grpSp>
      <p:grpSp>
        <p:nvGrpSpPr>
          <p:cNvPr id="2" name="그룹 1">
            <a:extLst>
              <a:ext uri="{FF2B5EF4-FFF2-40B4-BE49-F238E27FC236}">
                <a16:creationId xmlns:a16="http://schemas.microsoft.com/office/drawing/2014/main" id="{D6F105C7-9CAE-4A9B-B976-6841A3182CAA}"/>
              </a:ext>
            </a:extLst>
          </p:cNvPr>
          <p:cNvGrpSpPr/>
          <p:nvPr/>
        </p:nvGrpSpPr>
        <p:grpSpPr>
          <a:xfrm>
            <a:off x="558924" y="1772816"/>
            <a:ext cx="8782050" cy="3144242"/>
            <a:chOff x="558924" y="1772816"/>
            <a:chExt cx="8782050" cy="314424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31442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287" r="15810"/>
            <a:stretch/>
          </p:blipFill>
          <p:spPr>
            <a:xfrm>
              <a:off x="671804" y="1812416"/>
              <a:ext cx="8669170" cy="3039502"/>
            </a:xfrm>
            <a:prstGeom prst="rect">
              <a:avLst/>
            </a:prstGeom>
          </p:spPr>
        </p:pic>
      </p:grpSp>
      <p:sp>
        <p:nvSpPr>
          <p:cNvPr id="16" name="직사각형 15">
            <a:extLst>
              <a:ext uri="{FF2B5EF4-FFF2-40B4-BE49-F238E27FC236}">
                <a16:creationId xmlns:a16="http://schemas.microsoft.com/office/drawing/2014/main" id="{576AD764-6A1F-4FF7-B5BA-6BFA96EFF51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Tree>
    <p:extLst>
      <p:ext uri="{BB962C8B-B14F-4D97-AF65-F5344CB8AC3E}">
        <p14:creationId xmlns:p14="http://schemas.microsoft.com/office/powerpoint/2010/main" val="384746061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A6A1D4D2-5AB5-4A39-B336-53A4048BBBFB}"/>
              </a:ext>
            </a:extLst>
          </p:cNvPr>
          <p:cNvGrpSpPr/>
          <p:nvPr/>
        </p:nvGrpSpPr>
        <p:grpSpPr>
          <a:xfrm>
            <a:off x="558924" y="1772816"/>
            <a:ext cx="8782050" cy="1584176"/>
            <a:chOff x="558924" y="1772816"/>
            <a:chExt cx="8782050" cy="1584176"/>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15841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288" t="5580" r="21774"/>
            <a:stretch/>
          </p:blipFill>
          <p:spPr>
            <a:xfrm>
              <a:off x="662473" y="1894115"/>
              <a:ext cx="8678501" cy="1360477"/>
            </a:xfrm>
            <a:prstGeom prst="rect">
              <a:avLst/>
            </a:prstGeom>
          </p:spPr>
        </p:pic>
      </p:grpSp>
      <p:sp>
        <p:nvSpPr>
          <p:cNvPr id="10" name="직사각형 9">
            <a:extLst>
              <a:ext uri="{FF2B5EF4-FFF2-40B4-BE49-F238E27FC236}">
                <a16:creationId xmlns:a16="http://schemas.microsoft.com/office/drawing/2014/main" id="{DD8F7159-7465-44AA-A665-41DB8606A94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Tree>
    <p:extLst>
      <p:ext uri="{BB962C8B-B14F-4D97-AF65-F5344CB8AC3E}">
        <p14:creationId xmlns:p14="http://schemas.microsoft.com/office/powerpoint/2010/main" val="283568391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8CBCAC67-87E2-45F9-90FB-EE25FBAC79E0}"/>
              </a:ext>
            </a:extLst>
          </p:cNvPr>
          <p:cNvGrpSpPr/>
          <p:nvPr/>
        </p:nvGrpSpPr>
        <p:grpSpPr>
          <a:xfrm>
            <a:off x="558924" y="1988840"/>
            <a:ext cx="8782050" cy="4326191"/>
            <a:chOff x="558924" y="2055137"/>
            <a:chExt cx="8782050" cy="432619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055137"/>
              <a:ext cx="8782050" cy="43261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a:blip r:embed="rId3"/>
            <a:stretch>
              <a:fillRect/>
            </a:stretch>
          </p:blipFill>
          <p:spPr>
            <a:xfrm>
              <a:off x="711201" y="2101962"/>
              <a:ext cx="8272659" cy="4202752"/>
            </a:xfrm>
            <a:prstGeom prst="rect">
              <a:avLst/>
            </a:prstGeom>
          </p:spPr>
        </p:pic>
      </p:grpSp>
      <p:grpSp>
        <p:nvGrpSpPr>
          <p:cNvPr id="12" name="그룹 11">
            <a:extLst>
              <a:ext uri="{FF2B5EF4-FFF2-40B4-BE49-F238E27FC236}">
                <a16:creationId xmlns:a16="http://schemas.microsoft.com/office/drawing/2014/main" id="{57C2D2DA-CE54-4A93-B965-6C967C27254B}"/>
              </a:ext>
            </a:extLst>
          </p:cNvPr>
          <p:cNvGrpSpPr/>
          <p:nvPr/>
        </p:nvGrpSpPr>
        <p:grpSpPr>
          <a:xfrm>
            <a:off x="580388" y="1413381"/>
            <a:ext cx="8887612" cy="581295"/>
            <a:chOff x="580388" y="1413381"/>
            <a:chExt cx="8887612" cy="581295"/>
          </a:xfrm>
        </p:grpSpPr>
        <p:sp>
          <p:nvSpPr>
            <p:cNvPr id="13" name="직사각형 12">
              <a:extLst>
                <a:ext uri="{FF2B5EF4-FFF2-40B4-BE49-F238E27FC236}">
                  <a16:creationId xmlns:a16="http://schemas.microsoft.com/office/drawing/2014/main" id="{14C79C11-8FCC-4283-A29E-71A27AD0D7D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
          <p:nvSpPr>
            <p:cNvPr id="14" name="Rectangle 12">
              <a:extLst>
                <a:ext uri="{FF2B5EF4-FFF2-40B4-BE49-F238E27FC236}">
                  <a16:creationId xmlns:a16="http://schemas.microsoft.com/office/drawing/2014/main" id="{78EEE360-B18E-4C3C-A936-1976E4B122BE}"/>
                </a:ext>
              </a:extLst>
            </p:cNvPr>
            <p:cNvSpPr/>
            <p:nvPr/>
          </p:nvSpPr>
          <p:spPr>
            <a:xfrm>
              <a:off x="711201" y="1649215"/>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help(</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df.reset_index</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grpSp>
    </p:spTree>
    <p:extLst>
      <p:ext uri="{BB962C8B-B14F-4D97-AF65-F5344CB8AC3E}">
        <p14:creationId xmlns:p14="http://schemas.microsoft.com/office/powerpoint/2010/main" val="130117487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725131C0-39AF-42EF-87A5-144ADD5E746D}"/>
              </a:ext>
            </a:extLst>
          </p:cNvPr>
          <p:cNvGrpSpPr/>
          <p:nvPr/>
        </p:nvGrpSpPr>
        <p:grpSpPr>
          <a:xfrm>
            <a:off x="558924" y="1772816"/>
            <a:ext cx="8782050" cy="2814023"/>
            <a:chOff x="558924" y="1772816"/>
            <a:chExt cx="8782050" cy="2814023"/>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281402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93" r="16110"/>
            <a:stretch/>
          </p:blipFill>
          <p:spPr>
            <a:xfrm>
              <a:off x="662473" y="1832402"/>
              <a:ext cx="8678501" cy="2658056"/>
            </a:xfrm>
            <a:prstGeom prst="rect">
              <a:avLst/>
            </a:prstGeom>
          </p:spPr>
        </p:pic>
      </p:grpSp>
      <p:sp>
        <p:nvSpPr>
          <p:cNvPr id="10" name="직사각형 9">
            <a:extLst>
              <a:ext uri="{FF2B5EF4-FFF2-40B4-BE49-F238E27FC236}">
                <a16:creationId xmlns:a16="http://schemas.microsoft.com/office/drawing/2014/main" id="{AF477478-BCCF-4FEE-A817-2AC69DA7244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spTree>
    <p:extLst>
      <p:ext uri="{BB962C8B-B14F-4D97-AF65-F5344CB8AC3E}">
        <p14:creationId xmlns:p14="http://schemas.microsoft.com/office/powerpoint/2010/main" val="258970476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61850" y="4950499"/>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When the index is set this way, pay close attention when adding rows.</a:t>
              </a:r>
            </a:p>
          </p:txBody>
        </p:sp>
      </p:grpSp>
      <p:grpSp>
        <p:nvGrpSpPr>
          <p:cNvPr id="2" name="그룹 1">
            <a:extLst>
              <a:ext uri="{FF2B5EF4-FFF2-40B4-BE49-F238E27FC236}">
                <a16:creationId xmlns:a16="http://schemas.microsoft.com/office/drawing/2014/main" id="{C957F4BB-910C-4BFB-AAA5-5FF7CCFCF813}"/>
              </a:ext>
            </a:extLst>
          </p:cNvPr>
          <p:cNvGrpSpPr/>
          <p:nvPr/>
        </p:nvGrpSpPr>
        <p:grpSpPr>
          <a:xfrm>
            <a:off x="558924" y="1413381"/>
            <a:ext cx="8909076" cy="3438537"/>
            <a:chOff x="558924" y="1413381"/>
            <a:chExt cx="8909076" cy="343853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307910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288" t="1136" r="14289" b="-1"/>
            <a:stretch/>
          </p:blipFill>
          <p:spPr>
            <a:xfrm>
              <a:off x="653142" y="1838130"/>
              <a:ext cx="8687832" cy="3007659"/>
            </a:xfrm>
            <a:prstGeom prst="rect">
              <a:avLst/>
            </a:prstGeom>
          </p:spPr>
        </p:pic>
        <p:sp>
          <p:nvSpPr>
            <p:cNvPr id="4" name="직사각형 3"/>
            <p:cNvSpPr/>
            <p:nvPr/>
          </p:nvSpPr>
          <p:spPr>
            <a:xfrm>
              <a:off x="1643100" y="2388638"/>
              <a:ext cx="5177577" cy="17363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직사각형 16">
              <a:extLst>
                <a:ext uri="{FF2B5EF4-FFF2-40B4-BE49-F238E27FC236}">
                  <a16:creationId xmlns:a16="http://schemas.microsoft.com/office/drawing/2014/main" id="{7DE37A04-0BF6-4DF0-B756-DA791612C8F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Add a Row</a:t>
              </a:r>
            </a:p>
          </p:txBody>
        </p:sp>
      </p:grpSp>
    </p:spTree>
    <p:extLst>
      <p:ext uri="{BB962C8B-B14F-4D97-AF65-F5344CB8AC3E}">
        <p14:creationId xmlns:p14="http://schemas.microsoft.com/office/powerpoint/2010/main" val="65998208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4" name="직사각형 3"/>
          <p:cNvSpPr/>
          <p:nvPr/>
        </p:nvSpPr>
        <p:spPr>
          <a:xfrm>
            <a:off x="1783060" y="2475781"/>
            <a:ext cx="5040560" cy="16113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그룹 2">
            <a:extLst>
              <a:ext uri="{FF2B5EF4-FFF2-40B4-BE49-F238E27FC236}">
                <a16:creationId xmlns:a16="http://schemas.microsoft.com/office/drawing/2014/main" id="{D12E207F-5C08-4395-B68C-9DC0F05C2E26}"/>
              </a:ext>
            </a:extLst>
          </p:cNvPr>
          <p:cNvGrpSpPr/>
          <p:nvPr/>
        </p:nvGrpSpPr>
        <p:grpSpPr>
          <a:xfrm>
            <a:off x="558924" y="1772816"/>
            <a:ext cx="8782050" cy="4077478"/>
            <a:chOff x="558924" y="1772816"/>
            <a:chExt cx="8782050" cy="407747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407747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913" r="15807"/>
            <a:stretch/>
          </p:blipFill>
          <p:spPr>
            <a:xfrm>
              <a:off x="653143" y="1842187"/>
              <a:ext cx="8687831" cy="3891069"/>
            </a:xfrm>
            <a:prstGeom prst="rect">
              <a:avLst/>
            </a:prstGeom>
          </p:spPr>
        </p:pic>
      </p:grpSp>
      <p:sp>
        <p:nvSpPr>
          <p:cNvPr id="12" name="직사각형 11">
            <a:extLst>
              <a:ext uri="{FF2B5EF4-FFF2-40B4-BE49-F238E27FC236}">
                <a16:creationId xmlns:a16="http://schemas.microsoft.com/office/drawing/2014/main" id="{D32F7B95-5A83-4D90-94BB-F4BD58FD5F5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401686429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61850" y="4749792"/>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Designate the column “name” as a new index and reflect the changes to the df object.</a:t>
              </a:r>
            </a:p>
          </p:txBody>
        </p:sp>
      </p:grpSp>
      <p:grpSp>
        <p:nvGrpSpPr>
          <p:cNvPr id="2" name="그룹 1">
            <a:extLst>
              <a:ext uri="{FF2B5EF4-FFF2-40B4-BE49-F238E27FC236}">
                <a16:creationId xmlns:a16="http://schemas.microsoft.com/office/drawing/2014/main" id="{85824C95-E2B3-4C6E-86D2-1DFA1104647C}"/>
              </a:ext>
            </a:extLst>
          </p:cNvPr>
          <p:cNvGrpSpPr/>
          <p:nvPr/>
        </p:nvGrpSpPr>
        <p:grpSpPr>
          <a:xfrm>
            <a:off x="558924" y="1772817"/>
            <a:ext cx="8782050" cy="2880320"/>
            <a:chOff x="558924" y="1772817"/>
            <a:chExt cx="8782050" cy="288032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803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288" r="17598"/>
            <a:stretch/>
          </p:blipFill>
          <p:spPr>
            <a:xfrm>
              <a:off x="678042" y="1804863"/>
              <a:ext cx="8662932" cy="2806455"/>
            </a:xfrm>
            <a:prstGeom prst="rect">
              <a:avLst/>
            </a:prstGeom>
          </p:spPr>
        </p:pic>
      </p:grpSp>
      <p:sp>
        <p:nvSpPr>
          <p:cNvPr id="17" name="직사각형 16">
            <a:extLst>
              <a:ext uri="{FF2B5EF4-FFF2-40B4-BE49-F238E27FC236}">
                <a16:creationId xmlns:a16="http://schemas.microsoft.com/office/drawing/2014/main" id="{292288BD-4E59-4E98-AE07-D144F835657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312905086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0851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61850" y="4681129"/>
            <a:ext cx="8782050" cy="901215"/>
            <a:chOff x="557644" y="5085180"/>
            <a:chExt cx="8782050" cy="901215"/>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0"/>
              <a:ext cx="8782050" cy="90121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7813820"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method for changing a specific element for the DataFrame df: There are various methods for changing a “</a:t>
              </a:r>
              <a:r>
                <a:rPr lang="en-US" altLang="ko-KR" sz="1300" dirty="0" err="1">
                  <a:solidFill>
                    <a:prstClr val="black">
                      <a:lumMod val="85000"/>
                      <a:lumOff val="15000"/>
                    </a:prstClr>
                  </a:solidFill>
                  <a:latin typeface="SamsungOne 400" panose="020B0503030303020204" pitchFamily="34" charset="0"/>
                </a:rPr>
                <a:t>phy</a:t>
              </a:r>
              <a:r>
                <a:rPr lang="en-US" altLang="ko-KR" sz="1300" dirty="0">
                  <a:solidFill>
                    <a:prstClr val="black">
                      <a:lumMod val="85000"/>
                      <a:lumOff val="15000"/>
                    </a:prstClr>
                  </a:solidFill>
                  <a:latin typeface="SamsungOne 400" panose="020B0503030303020204" pitchFamily="34" charset="0"/>
                </a:rPr>
                <a:t>” score of “stu1.”</a:t>
              </a:r>
            </a:p>
          </p:txBody>
        </p:sp>
      </p:grpSp>
      <p:pic>
        <p:nvPicPr>
          <p:cNvPr id="2" name="그림 1"/>
          <p:cNvPicPr>
            <a:picLocks noChangeAspect="1"/>
          </p:cNvPicPr>
          <p:nvPr/>
        </p:nvPicPr>
        <p:blipFill rotWithShape="1">
          <a:blip r:embed="rId4"/>
          <a:srcRect l="1100" r="15267"/>
          <a:stretch/>
        </p:blipFill>
        <p:spPr>
          <a:xfrm>
            <a:off x="653142" y="1847755"/>
            <a:ext cx="8687832" cy="2706989"/>
          </a:xfrm>
          <a:prstGeom prst="rect">
            <a:avLst/>
          </a:prstGeom>
        </p:spPr>
      </p:pic>
      <p:sp>
        <p:nvSpPr>
          <p:cNvPr id="17" name="직사각형 16">
            <a:extLst>
              <a:ext uri="{FF2B5EF4-FFF2-40B4-BE49-F238E27FC236}">
                <a16:creationId xmlns:a16="http://schemas.microsoft.com/office/drawing/2014/main" id="{D6BEFF9F-EFF9-4089-8C36-E23CADD210A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21245606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341A678B-4538-4AD8-A874-DCEFC65E48A9}"/>
              </a:ext>
            </a:extLst>
          </p:cNvPr>
          <p:cNvGrpSpPr/>
          <p:nvPr/>
        </p:nvGrpSpPr>
        <p:grpSpPr>
          <a:xfrm>
            <a:off x="558924" y="1772817"/>
            <a:ext cx="8782050" cy="2880320"/>
            <a:chOff x="558924" y="1772817"/>
            <a:chExt cx="8782050" cy="288032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803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382" r="16749"/>
            <a:stretch/>
          </p:blipFill>
          <p:spPr>
            <a:xfrm>
              <a:off x="681135" y="1819160"/>
              <a:ext cx="8659839" cy="2818154"/>
            </a:xfrm>
            <a:prstGeom prst="rect">
              <a:avLst/>
            </a:prstGeom>
          </p:spPr>
        </p:pic>
      </p:grpSp>
      <p:sp>
        <p:nvSpPr>
          <p:cNvPr id="10" name="직사각형 9">
            <a:extLst>
              <a:ext uri="{FF2B5EF4-FFF2-40B4-BE49-F238E27FC236}">
                <a16:creationId xmlns:a16="http://schemas.microsoft.com/office/drawing/2014/main" id="{211186F3-D542-4B22-B7C3-A4FB9EC525A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349503993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04B12A53-FDC5-4527-8D08-DC4C6FE7BF4D}"/>
              </a:ext>
            </a:extLst>
          </p:cNvPr>
          <p:cNvGrpSpPr/>
          <p:nvPr/>
        </p:nvGrpSpPr>
        <p:grpSpPr>
          <a:xfrm>
            <a:off x="558924" y="1772817"/>
            <a:ext cx="8782051" cy="2880320"/>
            <a:chOff x="558924" y="1772817"/>
            <a:chExt cx="8782051" cy="288032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803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942" r="16641"/>
            <a:stretch/>
          </p:blipFill>
          <p:spPr>
            <a:xfrm>
              <a:off x="634481" y="1834153"/>
              <a:ext cx="8706494" cy="2768198"/>
            </a:xfrm>
            <a:prstGeom prst="rect">
              <a:avLst/>
            </a:prstGeom>
          </p:spPr>
        </p:pic>
      </p:grpSp>
      <p:sp>
        <p:nvSpPr>
          <p:cNvPr id="10" name="직사각형 9">
            <a:extLst>
              <a:ext uri="{FF2B5EF4-FFF2-40B4-BE49-F238E27FC236}">
                <a16:creationId xmlns:a16="http://schemas.microsoft.com/office/drawing/2014/main" id="{3EC1F0FA-FA32-4264-91F9-D41F5A8FB9E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48370736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p:cNvGrpSpPr/>
          <p:nvPr/>
        </p:nvGrpSpPr>
        <p:grpSpPr>
          <a:xfrm>
            <a:off x="561850" y="4762468"/>
            <a:ext cx="8782050" cy="711454"/>
            <a:chOff x="557644" y="5085181"/>
            <a:chExt cx="8782050" cy="711454"/>
          </a:xfrm>
        </p:grpSpPr>
        <p:sp>
          <p:nvSpPr>
            <p:cNvPr id="13"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method for changing several elements of stu1 df: “</a:t>
              </a:r>
              <a:r>
                <a:rPr lang="en-US" altLang="ko-KR" sz="1300" dirty="0" err="1">
                  <a:solidFill>
                    <a:prstClr val="black">
                      <a:lumMod val="85000"/>
                      <a:lumOff val="15000"/>
                    </a:prstClr>
                  </a:solidFill>
                  <a:latin typeface="SamsungOne 400" panose="020B0503030303020204" pitchFamily="34" charset="0"/>
                </a:rPr>
                <a:t>mus</a:t>
              </a:r>
              <a:r>
                <a:rPr lang="en-US" altLang="ko-KR" sz="1300" dirty="0">
                  <a:solidFill>
                    <a:prstClr val="black">
                      <a:lumMod val="85000"/>
                      <a:lumOff val="15000"/>
                    </a:prstClr>
                  </a:solidFill>
                  <a:latin typeface="SamsungOne 400" panose="020B0503030303020204" pitchFamily="34" charset="0"/>
                </a:rPr>
                <a:t>” and “</a:t>
              </a:r>
              <a:r>
                <a:rPr lang="en-US" altLang="ko-KR" sz="1300" dirty="0" err="1">
                  <a:solidFill>
                    <a:prstClr val="black">
                      <a:lumMod val="85000"/>
                      <a:lumOff val="15000"/>
                    </a:prstClr>
                  </a:solidFill>
                  <a:latin typeface="SamsungOne 400" panose="020B0503030303020204" pitchFamily="34" charset="0"/>
                </a:rPr>
                <a:t>phy</a:t>
              </a:r>
              <a:r>
                <a:rPr lang="en-US" altLang="ko-KR" sz="1300" dirty="0">
                  <a:solidFill>
                    <a:prstClr val="black">
                      <a:lumMod val="85000"/>
                      <a:lumOff val="15000"/>
                    </a:prstClr>
                  </a:solidFill>
                  <a:latin typeface="SamsungOne 400" panose="020B0503030303020204" pitchFamily="34" charset="0"/>
                </a:rPr>
                <a:t>” scores of “stu1.”</a:t>
              </a:r>
            </a:p>
          </p:txBody>
        </p:sp>
      </p:grpSp>
      <p:grpSp>
        <p:nvGrpSpPr>
          <p:cNvPr id="2" name="그룹 1">
            <a:extLst>
              <a:ext uri="{FF2B5EF4-FFF2-40B4-BE49-F238E27FC236}">
                <a16:creationId xmlns:a16="http://schemas.microsoft.com/office/drawing/2014/main" id="{416244BB-916B-48BD-A8DD-5881D9C7A1FA}"/>
              </a:ext>
            </a:extLst>
          </p:cNvPr>
          <p:cNvGrpSpPr/>
          <p:nvPr/>
        </p:nvGrpSpPr>
        <p:grpSpPr>
          <a:xfrm>
            <a:off x="558924" y="1772817"/>
            <a:ext cx="8782050" cy="2880320"/>
            <a:chOff x="558924" y="1772817"/>
            <a:chExt cx="8782050" cy="288032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803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383" r="17415"/>
            <a:stretch/>
          </p:blipFill>
          <p:spPr>
            <a:xfrm>
              <a:off x="674947" y="1824080"/>
              <a:ext cx="8666027" cy="2796570"/>
            </a:xfrm>
            <a:prstGeom prst="rect">
              <a:avLst/>
            </a:prstGeom>
          </p:spPr>
        </p:pic>
      </p:grpSp>
      <p:sp>
        <p:nvSpPr>
          <p:cNvPr id="17" name="직사각형 16">
            <a:extLst>
              <a:ext uri="{FF2B5EF4-FFF2-40B4-BE49-F238E27FC236}">
                <a16:creationId xmlns:a16="http://schemas.microsoft.com/office/drawing/2014/main" id="{AD90CFDB-ABF4-469A-BCD2-FCD1E5F1138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66556858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8761BBDA-CDD0-4D4E-A54A-812340C2165C}"/>
              </a:ext>
            </a:extLst>
          </p:cNvPr>
          <p:cNvGrpSpPr/>
          <p:nvPr/>
        </p:nvGrpSpPr>
        <p:grpSpPr>
          <a:xfrm>
            <a:off x="558924" y="1772817"/>
            <a:ext cx="8782050" cy="2880320"/>
            <a:chOff x="558924" y="1772817"/>
            <a:chExt cx="8782050" cy="288032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8803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53" t="2711" r="16704"/>
            <a:stretch/>
          </p:blipFill>
          <p:spPr>
            <a:xfrm>
              <a:off x="653141" y="1875452"/>
              <a:ext cx="8687833" cy="2733885"/>
            </a:xfrm>
            <a:prstGeom prst="rect">
              <a:avLst/>
            </a:prstGeom>
          </p:spPr>
        </p:pic>
      </p:grpSp>
      <p:sp>
        <p:nvSpPr>
          <p:cNvPr id="10" name="직사각형 9">
            <a:extLst>
              <a:ext uri="{FF2B5EF4-FFF2-40B4-BE49-F238E27FC236}">
                <a16:creationId xmlns:a16="http://schemas.microsoft.com/office/drawing/2014/main" id="{B7FC02D3-9EA7-4922-93D5-C3E3AB516AB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Change the </a:t>
            </a:r>
            <a:r>
              <a:rPr lang="en-US" altLang="ko-KR" sz="1400" dirty="0" err="1">
                <a:solidFill>
                  <a:schemeClr val="tx1"/>
                </a:solidFill>
                <a:latin typeface="SamsungOne 400" panose="020B0503030303020204" pitchFamily="34" charset="0"/>
                <a:ea typeface="SamsungOne 400" panose="020B0503030303020204" pitchFamily="34" charset="0"/>
              </a:rPr>
              <a:t>DataFame</a:t>
            </a:r>
            <a:r>
              <a:rPr lang="en-US" altLang="ko-KR" sz="1400" dirty="0">
                <a:solidFill>
                  <a:schemeClr val="tx1"/>
                </a:solidFill>
                <a:latin typeface="SamsungOne 400" panose="020B0503030303020204" pitchFamily="34" charset="0"/>
                <a:ea typeface="SamsungOne 400" panose="020B0503030303020204" pitchFamily="34" charset="0"/>
              </a:rPr>
              <a:t> Element</a:t>
            </a:r>
          </a:p>
        </p:txBody>
      </p:sp>
    </p:spTree>
    <p:extLst>
      <p:ext uri="{BB962C8B-B14F-4D97-AF65-F5344CB8AC3E}">
        <p14:creationId xmlns:p14="http://schemas.microsoft.com/office/powerpoint/2010/main" val="362401732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 name="그룹 1">
            <a:extLst>
              <a:ext uri="{FF2B5EF4-FFF2-40B4-BE49-F238E27FC236}">
                <a16:creationId xmlns:a16="http://schemas.microsoft.com/office/drawing/2014/main" id="{C3F637A1-9C2F-4B16-A46F-EFB600409E82}"/>
              </a:ext>
            </a:extLst>
          </p:cNvPr>
          <p:cNvGrpSpPr/>
          <p:nvPr/>
        </p:nvGrpSpPr>
        <p:grpSpPr>
          <a:xfrm>
            <a:off x="558924" y="1772817"/>
            <a:ext cx="8782051" cy="2547256"/>
            <a:chOff x="558924" y="1772817"/>
            <a:chExt cx="8782051" cy="2547256"/>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5472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052" r="16837"/>
            <a:stretch/>
          </p:blipFill>
          <p:spPr>
            <a:xfrm>
              <a:off x="653143" y="1860848"/>
              <a:ext cx="8687832" cy="2394177"/>
            </a:xfrm>
            <a:prstGeom prst="rect">
              <a:avLst/>
            </a:prstGeom>
          </p:spPr>
        </p:pic>
      </p:grpSp>
      <p:sp>
        <p:nvSpPr>
          <p:cNvPr id="10" name="직사각형 9">
            <a:extLst>
              <a:ext uri="{FF2B5EF4-FFF2-40B4-BE49-F238E27FC236}">
                <a16:creationId xmlns:a16="http://schemas.microsoft.com/office/drawing/2014/main" id="{2B245213-6FF9-47EA-BAD4-A1D656C6453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249897924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5093810"/>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Transposing the DataFrame df (using the method).</a:t>
              </a:r>
            </a:p>
          </p:txBody>
        </p:sp>
      </p:grpSp>
      <p:grpSp>
        <p:nvGrpSpPr>
          <p:cNvPr id="3" name="그룹 2">
            <a:extLst>
              <a:ext uri="{FF2B5EF4-FFF2-40B4-BE49-F238E27FC236}">
                <a16:creationId xmlns:a16="http://schemas.microsoft.com/office/drawing/2014/main" id="{4F202936-666B-4D40-ABF1-2988752BEFC6}"/>
              </a:ext>
            </a:extLst>
          </p:cNvPr>
          <p:cNvGrpSpPr/>
          <p:nvPr/>
        </p:nvGrpSpPr>
        <p:grpSpPr>
          <a:xfrm>
            <a:off x="558924" y="1772817"/>
            <a:ext cx="8782050" cy="3216499"/>
            <a:chOff x="558924" y="1772817"/>
            <a:chExt cx="8782050" cy="321649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32164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006" r="16260"/>
            <a:stretch/>
          </p:blipFill>
          <p:spPr>
            <a:xfrm>
              <a:off x="653141" y="1831853"/>
              <a:ext cx="8687833" cy="3081322"/>
            </a:xfrm>
            <a:prstGeom prst="rect">
              <a:avLst/>
            </a:prstGeom>
          </p:spPr>
        </p:pic>
      </p:grpSp>
      <p:sp>
        <p:nvSpPr>
          <p:cNvPr id="16" name="직사각형 15">
            <a:extLst>
              <a:ext uri="{FF2B5EF4-FFF2-40B4-BE49-F238E27FC236}">
                <a16:creationId xmlns:a16="http://schemas.microsoft.com/office/drawing/2014/main" id="{3B02C3E8-E7E7-472E-9E5E-1B3FB3D665F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34116650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471091"/>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Transposing the DataFrame df again (using class attributes).</a:t>
              </a:r>
            </a:p>
          </p:txBody>
        </p:sp>
      </p:grpSp>
      <p:grpSp>
        <p:nvGrpSpPr>
          <p:cNvPr id="2" name="그룹 1">
            <a:extLst>
              <a:ext uri="{FF2B5EF4-FFF2-40B4-BE49-F238E27FC236}">
                <a16:creationId xmlns:a16="http://schemas.microsoft.com/office/drawing/2014/main" id="{161FD478-F901-4502-B2BA-B892224FAB48}"/>
              </a:ext>
            </a:extLst>
          </p:cNvPr>
          <p:cNvGrpSpPr/>
          <p:nvPr/>
        </p:nvGrpSpPr>
        <p:grpSpPr>
          <a:xfrm>
            <a:off x="558924" y="1772817"/>
            <a:ext cx="8782050" cy="2592287"/>
            <a:chOff x="558924" y="1772817"/>
            <a:chExt cx="8782050" cy="259228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25922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1288" r="17944"/>
            <a:stretch/>
          </p:blipFill>
          <p:spPr>
            <a:xfrm>
              <a:off x="671804" y="1827137"/>
              <a:ext cx="8669170" cy="2483605"/>
            </a:xfrm>
            <a:prstGeom prst="rect">
              <a:avLst/>
            </a:prstGeom>
          </p:spPr>
        </p:pic>
      </p:grpSp>
      <p:sp>
        <p:nvSpPr>
          <p:cNvPr id="16" name="직사각형 15">
            <a:extLst>
              <a:ext uri="{FF2B5EF4-FFF2-40B4-BE49-F238E27FC236}">
                <a16:creationId xmlns:a16="http://schemas.microsoft.com/office/drawing/2014/main" id="{50254E1F-C1B1-41F1-B82F-00695313535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10366469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026979"/>
            <a:ext cx="8782050" cy="36003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5710335"/>
            <a:ext cx="8782050" cy="634482"/>
            <a:chOff x="557644" y="5125642"/>
            <a:chExt cx="8782050" cy="63448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125642"/>
              <a:ext cx="8782050" cy="63448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222415"/>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99683"/>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specific column is set as a row index of a DataFrame.</a:t>
              </a:r>
            </a:p>
          </p:txBody>
        </p:sp>
      </p:grpSp>
      <p:sp>
        <p:nvSpPr>
          <p:cNvPr id="16" name="Rectangle 12">
            <a:extLst>
              <a:ext uri="{FF2B5EF4-FFF2-40B4-BE49-F238E27FC236}">
                <a16:creationId xmlns:a16="http://schemas.microsoft.com/office/drawing/2014/main" id="{39C1D0BA-7152-4AAC-B295-DCCB5F8378F4}"/>
              </a:ext>
            </a:extLst>
          </p:cNvPr>
          <p:cNvSpPr/>
          <p:nvPr/>
        </p:nvSpPr>
        <p:spPr>
          <a:xfrm>
            <a:off x="711201" y="1666124"/>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 Setting</a:t>
            </a:r>
          </a:p>
        </p:txBody>
      </p:sp>
      <p:pic>
        <p:nvPicPr>
          <p:cNvPr id="2" name="그림 1"/>
          <p:cNvPicPr>
            <a:picLocks noChangeAspect="1"/>
          </p:cNvPicPr>
          <p:nvPr/>
        </p:nvPicPr>
        <p:blipFill rotWithShape="1">
          <a:blip r:embed="rId4"/>
          <a:srcRect r="5402"/>
          <a:stretch/>
        </p:blipFill>
        <p:spPr>
          <a:xfrm>
            <a:off x="645886" y="2111293"/>
            <a:ext cx="8695087" cy="3401572"/>
          </a:xfrm>
          <a:prstGeom prst="rect">
            <a:avLst/>
          </a:prstGeom>
        </p:spPr>
      </p:pic>
      <p:sp>
        <p:nvSpPr>
          <p:cNvPr id="17" name="직사각형 16">
            <a:extLst>
              <a:ext uri="{FF2B5EF4-FFF2-40B4-BE49-F238E27FC236}">
                <a16:creationId xmlns:a16="http://schemas.microsoft.com/office/drawing/2014/main" id="{4085A296-8042-436F-9FCD-CBA631E8BC5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83017046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10C25CF0-5F30-4605-A241-FE3B36AAEEA6}"/>
              </a:ext>
            </a:extLst>
          </p:cNvPr>
          <p:cNvGrpSpPr/>
          <p:nvPr/>
        </p:nvGrpSpPr>
        <p:grpSpPr>
          <a:xfrm>
            <a:off x="558924" y="1772817"/>
            <a:ext cx="8782050" cy="3004456"/>
            <a:chOff x="558924" y="1772817"/>
            <a:chExt cx="8782050" cy="3004456"/>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7"/>
              <a:ext cx="8782050" cy="30044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00" r="18625"/>
            <a:stretch/>
          </p:blipFill>
          <p:spPr>
            <a:xfrm>
              <a:off x="662472" y="1837154"/>
              <a:ext cx="8678502" cy="2880319"/>
            </a:xfrm>
            <a:prstGeom prst="rect">
              <a:avLst/>
            </a:prstGeom>
          </p:spPr>
        </p:pic>
      </p:grpSp>
      <p:sp>
        <p:nvSpPr>
          <p:cNvPr id="10" name="직사각형 9">
            <a:extLst>
              <a:ext uri="{FF2B5EF4-FFF2-40B4-BE49-F238E27FC236}">
                <a16:creationId xmlns:a16="http://schemas.microsoft.com/office/drawing/2014/main" id="{0CAD0BA6-0571-498A-BD36-253F6AD6BBD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48508881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762468"/>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Multi-index</a:t>
              </a:r>
            </a:p>
          </p:txBody>
        </p:sp>
      </p:grpSp>
      <p:grpSp>
        <p:nvGrpSpPr>
          <p:cNvPr id="3" name="그룹 2">
            <a:extLst>
              <a:ext uri="{FF2B5EF4-FFF2-40B4-BE49-F238E27FC236}">
                <a16:creationId xmlns:a16="http://schemas.microsoft.com/office/drawing/2014/main" id="{C3850C96-9EC1-4B2B-8F9F-5F0237CF4D2F}"/>
              </a:ext>
            </a:extLst>
          </p:cNvPr>
          <p:cNvGrpSpPr/>
          <p:nvPr/>
        </p:nvGrpSpPr>
        <p:grpSpPr>
          <a:xfrm>
            <a:off x="558924" y="1772818"/>
            <a:ext cx="8782050" cy="2880318"/>
            <a:chOff x="558924" y="1772818"/>
            <a:chExt cx="8782050" cy="288031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8"/>
              <a:ext cx="8782050" cy="288031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043" r="17191"/>
            <a:stretch/>
          </p:blipFill>
          <p:spPr>
            <a:xfrm>
              <a:off x="662471" y="1828440"/>
              <a:ext cx="8678503" cy="2773548"/>
            </a:xfrm>
            <a:prstGeom prst="rect">
              <a:avLst/>
            </a:prstGeom>
          </p:spPr>
        </p:pic>
      </p:grpSp>
      <p:sp>
        <p:nvSpPr>
          <p:cNvPr id="16" name="직사각형 15">
            <a:extLst>
              <a:ext uri="{FF2B5EF4-FFF2-40B4-BE49-F238E27FC236}">
                <a16:creationId xmlns:a16="http://schemas.microsoft.com/office/drawing/2014/main" id="{578F74C2-8309-4022-98BF-8B11DF6EE56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48502627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2960152"/>
            <a:ext cx="8782050" cy="1332943"/>
            <a:chOff x="557644" y="5085180"/>
            <a:chExt cx="8782050" cy="1332943"/>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0"/>
              <a:ext cx="8782050" cy="133294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138-1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Definition of the dictionary</a:t>
              </a:r>
            </a:p>
          </p:txBody>
        </p:sp>
      </p:grpSp>
      <p:sp>
        <p:nvSpPr>
          <p:cNvPr id="16" name="Rectangle 12">
            <a:extLst>
              <a:ext uri="{FF2B5EF4-FFF2-40B4-BE49-F238E27FC236}">
                <a16:creationId xmlns:a16="http://schemas.microsoft.com/office/drawing/2014/main" id="{39C1D0BA-7152-4AAC-B295-DCCB5F8378F4}"/>
              </a:ext>
            </a:extLst>
          </p:cNvPr>
          <p:cNvSpPr/>
          <p:nvPr/>
        </p:nvSpPr>
        <p:spPr>
          <a:xfrm>
            <a:off x="711201" y="1666124"/>
            <a:ext cx="863282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Index</a:t>
            </a:r>
          </a:p>
        </p:txBody>
      </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8837" y="3667756"/>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7618" y="3645024"/>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138-2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8258" y="3979918"/>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the dictionary into a DataFrame. Specify the index as [r0, r1, r2].</a:t>
            </a:r>
          </a:p>
        </p:txBody>
      </p:sp>
      <p:grpSp>
        <p:nvGrpSpPr>
          <p:cNvPr id="2" name="그룹 1">
            <a:extLst>
              <a:ext uri="{FF2B5EF4-FFF2-40B4-BE49-F238E27FC236}">
                <a16:creationId xmlns:a16="http://schemas.microsoft.com/office/drawing/2014/main" id="{74E9F114-0A85-454D-B299-A587E76537C1}"/>
              </a:ext>
            </a:extLst>
          </p:cNvPr>
          <p:cNvGrpSpPr/>
          <p:nvPr/>
        </p:nvGrpSpPr>
        <p:grpSpPr>
          <a:xfrm>
            <a:off x="558924" y="2026979"/>
            <a:ext cx="8782051" cy="846937"/>
            <a:chOff x="558924" y="2026979"/>
            <a:chExt cx="8782051" cy="84693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026979"/>
              <a:ext cx="8782050" cy="84693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3748"/>
            <a:stretch/>
          </p:blipFill>
          <p:spPr>
            <a:xfrm>
              <a:off x="571243" y="2086812"/>
              <a:ext cx="8769732" cy="629612"/>
            </a:xfrm>
            <a:prstGeom prst="rect">
              <a:avLst/>
            </a:prstGeom>
          </p:spPr>
        </p:pic>
      </p:grpSp>
      <p:sp>
        <p:nvSpPr>
          <p:cNvPr id="20" name="직사각형 19">
            <a:extLst>
              <a:ext uri="{FF2B5EF4-FFF2-40B4-BE49-F238E27FC236}">
                <a16:creationId xmlns:a16="http://schemas.microsoft.com/office/drawing/2014/main" id="{9868AA0E-758C-4A1E-803C-01C6AA4E18E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177704221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869160"/>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Redesignate the index to</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[r0, r1, r2, r3, r4].</a:t>
              </a:r>
            </a:p>
          </p:txBody>
        </p:sp>
      </p:grpSp>
      <p:grpSp>
        <p:nvGrpSpPr>
          <p:cNvPr id="2" name="그룹 1">
            <a:extLst>
              <a:ext uri="{FF2B5EF4-FFF2-40B4-BE49-F238E27FC236}">
                <a16:creationId xmlns:a16="http://schemas.microsoft.com/office/drawing/2014/main" id="{1FAFEA18-6DBB-41F2-AA72-2D24CA764D5E}"/>
              </a:ext>
            </a:extLst>
          </p:cNvPr>
          <p:cNvGrpSpPr/>
          <p:nvPr/>
        </p:nvGrpSpPr>
        <p:grpSpPr>
          <a:xfrm>
            <a:off x="558924" y="1772818"/>
            <a:ext cx="8782050" cy="3013280"/>
            <a:chOff x="558924" y="1772818"/>
            <a:chExt cx="8782050" cy="301328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8"/>
              <a:ext cx="8782050" cy="30132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14758"/>
            <a:stretch/>
          </p:blipFill>
          <p:spPr>
            <a:xfrm>
              <a:off x="618877" y="1830884"/>
              <a:ext cx="8722097" cy="2853083"/>
            </a:xfrm>
            <a:prstGeom prst="rect">
              <a:avLst/>
            </a:prstGeom>
          </p:spPr>
        </p:pic>
      </p:grpSp>
      <p:sp>
        <p:nvSpPr>
          <p:cNvPr id="16" name="직사각형 15">
            <a:extLst>
              <a:ext uri="{FF2B5EF4-FFF2-40B4-BE49-F238E27FC236}">
                <a16:creationId xmlns:a16="http://schemas.microsoft.com/office/drawing/2014/main" id="{091E5D56-CFC2-46C2-8080-DA740323497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124088728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5220574"/>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Fill in the NaN value generated by </a:t>
              </a:r>
              <a:r>
                <a:rPr lang="en-US" altLang="ko-KR" sz="1300" dirty="0" err="1">
                  <a:solidFill>
                    <a:schemeClr val="tx1">
                      <a:lumMod val="85000"/>
                      <a:lumOff val="15000"/>
                    </a:schemeClr>
                  </a:solidFill>
                  <a:latin typeface="SamsungOne 400" panose="020B0503030303020204" pitchFamily="34" charset="0"/>
                </a:rPr>
                <a:t>reindexing</a:t>
              </a:r>
              <a:r>
                <a:rPr lang="en-US" altLang="ko-KR" sz="1300" dirty="0">
                  <a:solidFill>
                    <a:schemeClr val="tx1">
                      <a:lumMod val="85000"/>
                      <a:lumOff val="15000"/>
                    </a:schemeClr>
                  </a:solidFill>
                  <a:latin typeface="SamsungOne 400" panose="020B0503030303020204" pitchFamily="34" charset="0"/>
                </a:rPr>
                <a:t> with the number 0.</a:t>
              </a:r>
            </a:p>
          </p:txBody>
        </p:sp>
      </p:grpSp>
      <p:grpSp>
        <p:nvGrpSpPr>
          <p:cNvPr id="3" name="그룹 2">
            <a:extLst>
              <a:ext uri="{FF2B5EF4-FFF2-40B4-BE49-F238E27FC236}">
                <a16:creationId xmlns:a16="http://schemas.microsoft.com/office/drawing/2014/main" id="{A83035CD-EBA5-4D9C-9783-156ED23543EE}"/>
              </a:ext>
            </a:extLst>
          </p:cNvPr>
          <p:cNvGrpSpPr/>
          <p:nvPr/>
        </p:nvGrpSpPr>
        <p:grpSpPr>
          <a:xfrm>
            <a:off x="558924" y="1772818"/>
            <a:ext cx="8782050" cy="3368525"/>
            <a:chOff x="558924" y="1772818"/>
            <a:chExt cx="8782050" cy="3368525"/>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8"/>
              <a:ext cx="8782050" cy="336852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5872"/>
            <a:stretch/>
          </p:blipFill>
          <p:spPr>
            <a:xfrm>
              <a:off x="618877" y="1836881"/>
              <a:ext cx="8722097" cy="3238972"/>
            </a:xfrm>
            <a:prstGeom prst="rect">
              <a:avLst/>
            </a:prstGeom>
          </p:spPr>
        </p:pic>
      </p:grpSp>
      <p:sp>
        <p:nvSpPr>
          <p:cNvPr id="16" name="직사각형 15">
            <a:extLst>
              <a:ext uri="{FF2B5EF4-FFF2-40B4-BE49-F238E27FC236}">
                <a16:creationId xmlns:a16="http://schemas.microsoft.com/office/drawing/2014/main" id="{8486170C-FC76-4662-8426-A6D25D3B5E4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24335794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187CE3CA-207F-4038-A4B7-00874E955AA7}"/>
              </a:ext>
            </a:extLst>
          </p:cNvPr>
          <p:cNvGrpSpPr/>
          <p:nvPr/>
        </p:nvGrpSpPr>
        <p:grpSpPr>
          <a:xfrm>
            <a:off x="561850" y="4399788"/>
            <a:ext cx="8782050" cy="1405476"/>
            <a:chOff x="561850" y="4542990"/>
            <a:chExt cx="8782050" cy="1405476"/>
          </a:xfrm>
        </p:grpSpPr>
        <p:grpSp>
          <p:nvGrpSpPr>
            <p:cNvPr id="10" name="그룹 9"/>
            <p:cNvGrpSpPr/>
            <p:nvPr/>
          </p:nvGrpSpPr>
          <p:grpSpPr>
            <a:xfrm>
              <a:off x="561850" y="4542990"/>
              <a:ext cx="8782050" cy="1405476"/>
              <a:chOff x="557644" y="5085181"/>
              <a:chExt cx="8782050" cy="1405476"/>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4054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142-1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Definition of the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8837" y="5292233"/>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7618" y="5269501"/>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142-2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8258" y="559363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the dictionary into a DataFrame. Specify the index as [r0, r1, r2].</a:t>
              </a:r>
            </a:p>
          </p:txBody>
        </p:sp>
      </p:grpSp>
      <p:grpSp>
        <p:nvGrpSpPr>
          <p:cNvPr id="3" name="그룹 2">
            <a:extLst>
              <a:ext uri="{FF2B5EF4-FFF2-40B4-BE49-F238E27FC236}">
                <a16:creationId xmlns:a16="http://schemas.microsoft.com/office/drawing/2014/main" id="{14AAC41C-3247-423E-B113-35B1B05E8AE9}"/>
              </a:ext>
            </a:extLst>
          </p:cNvPr>
          <p:cNvGrpSpPr/>
          <p:nvPr/>
        </p:nvGrpSpPr>
        <p:grpSpPr>
          <a:xfrm>
            <a:off x="558924" y="1772816"/>
            <a:ext cx="8782050" cy="2532629"/>
            <a:chOff x="558924" y="1772816"/>
            <a:chExt cx="8782050" cy="253262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25326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6912"/>
            <a:stretch/>
          </p:blipFill>
          <p:spPr>
            <a:xfrm>
              <a:off x="617895" y="1838553"/>
              <a:ext cx="8723079" cy="2367896"/>
            </a:xfrm>
            <a:prstGeom prst="rect">
              <a:avLst/>
            </a:prstGeom>
          </p:spPr>
        </p:pic>
      </p:grpSp>
      <p:sp>
        <p:nvSpPr>
          <p:cNvPr id="20" name="직사각형 19">
            <a:extLst>
              <a:ext uri="{FF2B5EF4-FFF2-40B4-BE49-F238E27FC236}">
                <a16:creationId xmlns:a16="http://schemas.microsoft.com/office/drawing/2014/main" id="{98A36636-BC80-4041-81B4-44AB2F0D9E7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262941249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401018"/>
            <a:ext cx="8782050" cy="756174"/>
            <a:chOff x="557644" y="5085181"/>
            <a:chExt cx="8782050" cy="75617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5617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Reset the row index to integer.</a:t>
              </a:r>
            </a:p>
          </p:txBody>
        </p:sp>
      </p:grpSp>
      <p:grpSp>
        <p:nvGrpSpPr>
          <p:cNvPr id="2" name="그룹 1">
            <a:extLst>
              <a:ext uri="{FF2B5EF4-FFF2-40B4-BE49-F238E27FC236}">
                <a16:creationId xmlns:a16="http://schemas.microsoft.com/office/drawing/2014/main" id="{0FA11A6B-17C9-4192-BF41-E15CA79B680C}"/>
              </a:ext>
            </a:extLst>
          </p:cNvPr>
          <p:cNvGrpSpPr/>
          <p:nvPr/>
        </p:nvGrpSpPr>
        <p:grpSpPr>
          <a:xfrm>
            <a:off x="558924" y="1772819"/>
            <a:ext cx="8782050" cy="2530566"/>
            <a:chOff x="558924" y="1772819"/>
            <a:chExt cx="8782050" cy="2530566"/>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9"/>
              <a:ext cx="8782050" cy="253056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16578"/>
            <a:stretch/>
          </p:blipFill>
          <p:spPr>
            <a:xfrm>
              <a:off x="637537" y="1847338"/>
              <a:ext cx="8703437" cy="2360767"/>
            </a:xfrm>
            <a:prstGeom prst="rect">
              <a:avLst/>
            </a:prstGeom>
          </p:spPr>
        </p:pic>
      </p:grpSp>
      <p:sp>
        <p:nvSpPr>
          <p:cNvPr id="16" name="직사각형 15">
            <a:extLst>
              <a:ext uri="{FF2B5EF4-FFF2-40B4-BE49-F238E27FC236}">
                <a16:creationId xmlns:a16="http://schemas.microsoft.com/office/drawing/2014/main" id="{6633980F-9AA0-4EBA-B121-3F6551DF4EE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426383162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832903DB-5841-448E-BE37-0D4118F15433}"/>
              </a:ext>
            </a:extLst>
          </p:cNvPr>
          <p:cNvGrpSpPr/>
          <p:nvPr/>
        </p:nvGrpSpPr>
        <p:grpSpPr>
          <a:xfrm>
            <a:off x="561850" y="4399678"/>
            <a:ext cx="8782050" cy="1333577"/>
            <a:chOff x="561850" y="4390347"/>
            <a:chExt cx="8782050" cy="1333577"/>
          </a:xfrm>
        </p:grpSpPr>
        <p:grpSp>
          <p:nvGrpSpPr>
            <p:cNvPr id="10" name="그룹 9"/>
            <p:cNvGrpSpPr/>
            <p:nvPr/>
          </p:nvGrpSpPr>
          <p:grpSpPr>
            <a:xfrm>
              <a:off x="561850" y="4390347"/>
              <a:ext cx="8782050" cy="1333577"/>
              <a:chOff x="557644" y="5085180"/>
              <a:chExt cx="8782050" cy="1333577"/>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0"/>
                <a:ext cx="8782050" cy="13335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145-1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81328"/>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Definition of the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8837" y="5094230"/>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7618" y="5071498"/>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145-2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8258" y="537985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the dictionary into a DataFrame. Specify the index as [r0, r1, r2].</a:t>
              </a:r>
            </a:p>
          </p:txBody>
        </p:sp>
      </p:grpSp>
      <p:grpSp>
        <p:nvGrpSpPr>
          <p:cNvPr id="2" name="그룹 1">
            <a:extLst>
              <a:ext uri="{FF2B5EF4-FFF2-40B4-BE49-F238E27FC236}">
                <a16:creationId xmlns:a16="http://schemas.microsoft.com/office/drawing/2014/main" id="{A6C44AA8-937F-4542-BD7E-7D6ACCEC6AAB}"/>
              </a:ext>
            </a:extLst>
          </p:cNvPr>
          <p:cNvGrpSpPr/>
          <p:nvPr/>
        </p:nvGrpSpPr>
        <p:grpSpPr>
          <a:xfrm>
            <a:off x="558924" y="1772816"/>
            <a:ext cx="8782051" cy="2532629"/>
            <a:chOff x="558924" y="1772816"/>
            <a:chExt cx="8782051" cy="253262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25326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17373"/>
            <a:stretch/>
          </p:blipFill>
          <p:spPr>
            <a:xfrm>
              <a:off x="634577" y="1832857"/>
              <a:ext cx="8706398" cy="2391958"/>
            </a:xfrm>
            <a:prstGeom prst="rect">
              <a:avLst/>
            </a:prstGeom>
          </p:spPr>
        </p:pic>
      </p:grpSp>
      <p:sp>
        <p:nvSpPr>
          <p:cNvPr id="20" name="직사각형 19">
            <a:extLst>
              <a:ext uri="{FF2B5EF4-FFF2-40B4-BE49-F238E27FC236}">
                <a16:creationId xmlns:a16="http://schemas.microsoft.com/office/drawing/2014/main" id="{A9B3C515-FF5A-43A1-AA3A-8939F40595C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117192448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149080"/>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Sort row indices in descending order.</a:t>
              </a:r>
            </a:p>
          </p:txBody>
        </p:sp>
      </p:grpSp>
      <p:grpSp>
        <p:nvGrpSpPr>
          <p:cNvPr id="3" name="그룹 2">
            <a:extLst>
              <a:ext uri="{FF2B5EF4-FFF2-40B4-BE49-F238E27FC236}">
                <a16:creationId xmlns:a16="http://schemas.microsoft.com/office/drawing/2014/main" id="{C156BA65-9511-4E56-982E-EE04BF45784A}"/>
              </a:ext>
            </a:extLst>
          </p:cNvPr>
          <p:cNvGrpSpPr/>
          <p:nvPr/>
        </p:nvGrpSpPr>
        <p:grpSpPr>
          <a:xfrm>
            <a:off x="558924" y="1772819"/>
            <a:ext cx="8782050" cy="2301828"/>
            <a:chOff x="558924" y="1772819"/>
            <a:chExt cx="8782050" cy="230182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9"/>
              <a:ext cx="8782050" cy="230182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9389"/>
            <a:stretch/>
          </p:blipFill>
          <p:spPr>
            <a:xfrm>
              <a:off x="637538" y="1847863"/>
              <a:ext cx="8703436" cy="2198791"/>
            </a:xfrm>
            <a:prstGeom prst="rect">
              <a:avLst/>
            </a:prstGeom>
          </p:spPr>
        </p:pic>
      </p:grpSp>
      <p:sp>
        <p:nvSpPr>
          <p:cNvPr id="16" name="직사각형 15">
            <a:extLst>
              <a:ext uri="{FF2B5EF4-FFF2-40B4-BE49-F238E27FC236}">
                <a16:creationId xmlns:a16="http://schemas.microsoft.com/office/drawing/2014/main" id="{9526FF7B-D53A-477B-BBE1-7863013466A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73688615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390348"/>
            <a:ext cx="8782050" cy="1342908"/>
            <a:chOff x="557644" y="5085181"/>
            <a:chExt cx="8782050" cy="1342908"/>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34290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147-1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Definition of the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8837" y="5077023"/>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27618" y="5054291"/>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147-2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28258" y="5389185"/>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Converting the dictionary into a DataFrame. Specify the index as [r0, r1, r2].</a:t>
            </a:r>
          </a:p>
        </p:txBody>
      </p:sp>
      <p:grpSp>
        <p:nvGrpSpPr>
          <p:cNvPr id="3" name="그룹 2">
            <a:extLst>
              <a:ext uri="{FF2B5EF4-FFF2-40B4-BE49-F238E27FC236}">
                <a16:creationId xmlns:a16="http://schemas.microsoft.com/office/drawing/2014/main" id="{4846D85C-92CF-46A9-94CD-721B7B339C66}"/>
              </a:ext>
            </a:extLst>
          </p:cNvPr>
          <p:cNvGrpSpPr/>
          <p:nvPr/>
        </p:nvGrpSpPr>
        <p:grpSpPr>
          <a:xfrm>
            <a:off x="558924" y="1772816"/>
            <a:ext cx="8782050" cy="2532629"/>
            <a:chOff x="558924" y="1772816"/>
            <a:chExt cx="8782050" cy="253262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253262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r="17965"/>
            <a:stretch/>
          </p:blipFill>
          <p:spPr>
            <a:xfrm>
              <a:off x="643444" y="1825778"/>
              <a:ext cx="8697530" cy="2399037"/>
            </a:xfrm>
            <a:prstGeom prst="rect">
              <a:avLst/>
            </a:prstGeom>
          </p:spPr>
        </p:pic>
      </p:grpSp>
      <p:sp>
        <p:nvSpPr>
          <p:cNvPr id="20" name="직사각형 19">
            <a:extLst>
              <a:ext uri="{FF2B5EF4-FFF2-40B4-BE49-F238E27FC236}">
                <a16:creationId xmlns:a16="http://schemas.microsoft.com/office/drawing/2014/main" id="{8F35A5CB-046A-4774-9002-EE7A9380BF8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376725473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3509634"/>
            <a:ext cx="8782050" cy="711454"/>
            <a:chOff x="557644" y="5085181"/>
            <a:chExt cx="8782050" cy="711454"/>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114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Sort in descending order based on column c1.</a:t>
              </a:r>
            </a:p>
          </p:txBody>
        </p:sp>
      </p:grpSp>
      <p:grpSp>
        <p:nvGrpSpPr>
          <p:cNvPr id="2" name="그룹 1">
            <a:extLst>
              <a:ext uri="{FF2B5EF4-FFF2-40B4-BE49-F238E27FC236}">
                <a16:creationId xmlns:a16="http://schemas.microsoft.com/office/drawing/2014/main" id="{9179A0A2-9FD8-4968-9AE2-D87C63B50B14}"/>
              </a:ext>
            </a:extLst>
          </p:cNvPr>
          <p:cNvGrpSpPr/>
          <p:nvPr/>
        </p:nvGrpSpPr>
        <p:grpSpPr>
          <a:xfrm>
            <a:off x="558924" y="1772819"/>
            <a:ext cx="8782051" cy="1656181"/>
            <a:chOff x="558924" y="1772819"/>
            <a:chExt cx="8782051" cy="165618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9"/>
              <a:ext cx="8782050" cy="165618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2736"/>
            <a:stretch/>
          </p:blipFill>
          <p:spPr>
            <a:xfrm>
              <a:off x="618877" y="1857662"/>
              <a:ext cx="8722098" cy="1557342"/>
            </a:xfrm>
            <a:prstGeom prst="rect">
              <a:avLst/>
            </a:prstGeom>
          </p:spPr>
        </p:pic>
      </p:grpSp>
      <p:sp>
        <p:nvSpPr>
          <p:cNvPr id="16" name="직사각형 15">
            <a:extLst>
              <a:ext uri="{FF2B5EF4-FFF2-40B4-BE49-F238E27FC236}">
                <a16:creationId xmlns:a16="http://schemas.microsoft.com/office/drawing/2014/main" id="{A7789036-5FE6-4F87-8046-10F2275D43C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Transpose the DataFrame</a:t>
            </a:r>
          </a:p>
        </p:txBody>
      </p:sp>
    </p:spTree>
    <p:extLst>
      <p:ext uri="{BB962C8B-B14F-4D97-AF65-F5344CB8AC3E}">
        <p14:creationId xmlns:p14="http://schemas.microsoft.com/office/powerpoint/2010/main" val="186416449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Series Operations</a:t>
            </a:r>
          </a:p>
        </p:txBody>
      </p:sp>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5" name="직사각형 1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E2C565C5-8B02-4EC7-9774-A8102346F5B5}"/>
              </a:ext>
            </a:extLst>
          </p:cNvPr>
          <p:cNvGrpSpPr/>
          <p:nvPr/>
        </p:nvGrpSpPr>
        <p:grpSpPr>
          <a:xfrm>
            <a:off x="558923" y="2810502"/>
            <a:ext cx="8782050" cy="1050546"/>
            <a:chOff x="558923" y="3680695"/>
            <a:chExt cx="8782050" cy="1050546"/>
          </a:xfrm>
        </p:grpSpPr>
        <p:sp>
          <p:nvSpPr>
            <p:cNvPr id="10" name="모서리가 둥근 직사각형 4">
              <a:extLst>
                <a:ext uri="{FF2B5EF4-FFF2-40B4-BE49-F238E27FC236}">
                  <a16:creationId xmlns:a16="http://schemas.microsoft.com/office/drawing/2014/main" id="{A36E3BA1-83BF-4EF9-8B22-BB45DE7AA1FC}"/>
                </a:ext>
              </a:extLst>
            </p:cNvPr>
            <p:cNvSpPr/>
            <p:nvPr/>
          </p:nvSpPr>
          <p:spPr>
            <a:xfrm>
              <a:off x="558923" y="3680695"/>
              <a:ext cx="8782050" cy="105054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769" r="19093"/>
            <a:stretch/>
          </p:blipFill>
          <p:spPr>
            <a:xfrm>
              <a:off x="653142" y="3771701"/>
              <a:ext cx="8687831" cy="881435"/>
            </a:xfrm>
            <a:prstGeom prst="rect">
              <a:avLst/>
            </a:prstGeom>
          </p:spPr>
        </p:pic>
      </p:grpSp>
      <p:grpSp>
        <p:nvGrpSpPr>
          <p:cNvPr id="14" name="그룹 13">
            <a:extLst>
              <a:ext uri="{FF2B5EF4-FFF2-40B4-BE49-F238E27FC236}">
                <a16:creationId xmlns:a16="http://schemas.microsoft.com/office/drawing/2014/main" id="{2B293D9F-BCF2-4050-A6E5-6BEB90827B8A}"/>
              </a:ext>
            </a:extLst>
          </p:cNvPr>
          <p:cNvGrpSpPr/>
          <p:nvPr/>
        </p:nvGrpSpPr>
        <p:grpSpPr>
          <a:xfrm>
            <a:off x="524240" y="1870666"/>
            <a:ext cx="8887612" cy="795209"/>
            <a:chOff x="524240" y="1870666"/>
            <a:chExt cx="8887612" cy="795209"/>
          </a:xfrm>
        </p:grpSpPr>
        <p:sp>
          <p:nvSpPr>
            <p:cNvPr id="20" name="직사각형 19">
              <a:extLst>
                <a:ext uri="{FF2B5EF4-FFF2-40B4-BE49-F238E27FC236}">
                  <a16:creationId xmlns:a16="http://schemas.microsoft.com/office/drawing/2014/main" id="{EC87B877-768F-44C8-96AD-A7DFB1BE27D5}"/>
                </a:ext>
              </a:extLst>
            </p:cNvPr>
            <p:cNvSpPr/>
            <p:nvPr/>
          </p:nvSpPr>
          <p:spPr>
            <a:xfrm>
              <a:off x="651633" y="2120359"/>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Adding a number to a series object adds a number to each of the series’ individual elements and converts the calculated result into a series object.</a:t>
              </a:r>
            </a:p>
          </p:txBody>
        </p:sp>
        <p:sp>
          <p:nvSpPr>
            <p:cNvPr id="21" name="직사각형 20">
              <a:extLst>
                <a:ext uri="{FF2B5EF4-FFF2-40B4-BE49-F238E27FC236}">
                  <a16:creationId xmlns:a16="http://schemas.microsoft.com/office/drawing/2014/main" id="{A5D00255-EF88-4569-B82A-4066EF42E426}"/>
                </a:ext>
              </a:extLst>
            </p:cNvPr>
            <p:cNvSpPr/>
            <p:nvPr/>
          </p:nvSpPr>
          <p:spPr>
            <a:xfrm>
              <a:off x="524240" y="1870666"/>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Series vs. Numbers</a:t>
              </a:r>
            </a:p>
          </p:txBody>
        </p:sp>
      </p:grpSp>
    </p:spTree>
    <p:extLst>
      <p:ext uri="{BB962C8B-B14F-4D97-AF65-F5344CB8AC3E}">
        <p14:creationId xmlns:p14="http://schemas.microsoft.com/office/powerpoint/2010/main" val="71085618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E9191AD4-6369-4A2E-A7A0-98D26073F288}"/>
              </a:ext>
            </a:extLst>
          </p:cNvPr>
          <p:cNvGrpSpPr/>
          <p:nvPr/>
        </p:nvGrpSpPr>
        <p:grpSpPr>
          <a:xfrm>
            <a:off x="561850" y="5016444"/>
            <a:ext cx="8782050" cy="1292875"/>
            <a:chOff x="561850" y="4589753"/>
            <a:chExt cx="8782050" cy="1292875"/>
          </a:xfrm>
        </p:grpSpPr>
        <p:grpSp>
          <p:nvGrpSpPr>
            <p:cNvPr id="10" name="그룹 9"/>
            <p:cNvGrpSpPr/>
            <p:nvPr/>
          </p:nvGrpSpPr>
          <p:grpSpPr>
            <a:xfrm>
              <a:off x="561850" y="4589753"/>
              <a:ext cx="8782050" cy="1292875"/>
              <a:chOff x="557644" y="5085180"/>
              <a:chExt cx="8782050" cy="1292875"/>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0"/>
                <a:ext cx="8782050" cy="129287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pandas series with data from a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27104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524831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58320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Divide the student’s scores by 200 per subject. </a:t>
              </a:r>
            </a:p>
          </p:txBody>
        </p:sp>
      </p:grpSp>
      <p:grpSp>
        <p:nvGrpSpPr>
          <p:cNvPr id="5" name="그룹 4">
            <a:extLst>
              <a:ext uri="{FF2B5EF4-FFF2-40B4-BE49-F238E27FC236}">
                <a16:creationId xmlns:a16="http://schemas.microsoft.com/office/drawing/2014/main" id="{ED5E2F27-272D-4805-91F8-F25C36792FB4}"/>
              </a:ext>
            </a:extLst>
          </p:cNvPr>
          <p:cNvGrpSpPr/>
          <p:nvPr/>
        </p:nvGrpSpPr>
        <p:grpSpPr>
          <a:xfrm>
            <a:off x="558924" y="2216970"/>
            <a:ext cx="8782050" cy="2700261"/>
            <a:chOff x="558924" y="2235632"/>
            <a:chExt cx="8782050" cy="270026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235632"/>
              <a:ext cx="8782050" cy="270026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1486" r="22473"/>
            <a:stretch/>
          </p:blipFill>
          <p:spPr>
            <a:xfrm>
              <a:off x="690464" y="2306853"/>
              <a:ext cx="8650510" cy="2574176"/>
            </a:xfrm>
            <a:prstGeom prst="rect">
              <a:avLst/>
            </a:prstGeom>
          </p:spPr>
        </p:pic>
      </p:grpSp>
      <p:grpSp>
        <p:nvGrpSpPr>
          <p:cNvPr id="6" name="그룹 5">
            <a:extLst>
              <a:ext uri="{FF2B5EF4-FFF2-40B4-BE49-F238E27FC236}">
                <a16:creationId xmlns:a16="http://schemas.microsoft.com/office/drawing/2014/main" id="{BBAC7F5F-FD2B-448A-A8E6-1C0EFDDCBF34}"/>
              </a:ext>
            </a:extLst>
          </p:cNvPr>
          <p:cNvGrpSpPr/>
          <p:nvPr/>
        </p:nvGrpSpPr>
        <p:grpSpPr>
          <a:xfrm>
            <a:off x="580388" y="1413381"/>
            <a:ext cx="8887612" cy="769091"/>
            <a:chOff x="580388" y="1413381"/>
            <a:chExt cx="8887612" cy="769091"/>
          </a:xfrm>
        </p:grpSpPr>
        <p:sp>
          <p:nvSpPr>
            <p:cNvPr id="16" name="직사각형 15"/>
            <p:cNvSpPr/>
            <p:nvPr/>
          </p:nvSpPr>
          <p:spPr>
            <a:xfrm>
              <a:off x="711201" y="1636956"/>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Adding a number to a series object adds a number to each of the series’ individual elements and converts the calculated result into a series object.</a:t>
              </a:r>
            </a:p>
          </p:txBody>
        </p:sp>
        <p:sp>
          <p:nvSpPr>
            <p:cNvPr id="20" name="직사각형 19">
              <a:extLst>
                <a:ext uri="{FF2B5EF4-FFF2-40B4-BE49-F238E27FC236}">
                  <a16:creationId xmlns:a16="http://schemas.microsoft.com/office/drawing/2014/main" id="{FCDBC5E7-D315-4483-B05A-6667F2E8B91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Series vs. Numbers</a:t>
              </a:r>
            </a:p>
          </p:txBody>
        </p:sp>
      </p:grpSp>
    </p:spTree>
    <p:extLst>
      <p:ext uri="{BB962C8B-B14F-4D97-AF65-F5344CB8AC3E}">
        <p14:creationId xmlns:p14="http://schemas.microsoft.com/office/powerpoint/2010/main" val="111400877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78502464-CF85-468C-BF21-283F05B18CCA}"/>
              </a:ext>
            </a:extLst>
          </p:cNvPr>
          <p:cNvGrpSpPr/>
          <p:nvPr/>
        </p:nvGrpSpPr>
        <p:grpSpPr>
          <a:xfrm>
            <a:off x="550275" y="3735016"/>
            <a:ext cx="8782050" cy="1327018"/>
            <a:chOff x="561850" y="3771788"/>
            <a:chExt cx="8782050" cy="1327018"/>
          </a:xfrm>
        </p:grpSpPr>
        <p:grpSp>
          <p:nvGrpSpPr>
            <p:cNvPr id="10" name="그룹 9"/>
            <p:cNvGrpSpPr/>
            <p:nvPr/>
          </p:nvGrpSpPr>
          <p:grpSpPr>
            <a:xfrm>
              <a:off x="561850" y="3771788"/>
              <a:ext cx="8782050" cy="1327018"/>
              <a:chOff x="557644" y="5085181"/>
              <a:chExt cx="8782050" cy="1327018"/>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32701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pandas series with data from a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464089"/>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4441357"/>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5-4 ~ 5-7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477625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Perform the four fundamental arithmetic calculations based on the scores of each student per subject.</a:t>
              </a:r>
            </a:p>
          </p:txBody>
        </p:sp>
      </p:grpSp>
      <p:grpSp>
        <p:nvGrpSpPr>
          <p:cNvPr id="23" name="그룹 22">
            <a:extLst>
              <a:ext uri="{FF2B5EF4-FFF2-40B4-BE49-F238E27FC236}">
                <a16:creationId xmlns:a16="http://schemas.microsoft.com/office/drawing/2014/main" id="{65926F18-E46C-426A-AB5B-605A87F1CB08}"/>
              </a:ext>
            </a:extLst>
          </p:cNvPr>
          <p:cNvGrpSpPr/>
          <p:nvPr/>
        </p:nvGrpSpPr>
        <p:grpSpPr>
          <a:xfrm>
            <a:off x="580388" y="1413381"/>
            <a:ext cx="8887612" cy="569036"/>
            <a:chOff x="580388" y="1413381"/>
            <a:chExt cx="8887612" cy="569036"/>
          </a:xfrm>
        </p:grpSpPr>
        <p:sp>
          <p:nvSpPr>
            <p:cNvPr id="24" name="직사각형 23">
              <a:extLst>
                <a:ext uri="{FF2B5EF4-FFF2-40B4-BE49-F238E27FC236}">
                  <a16:creationId xmlns:a16="http://schemas.microsoft.com/office/drawing/2014/main" id="{E2D6BAB6-20DF-4AB7-A9B5-3C6E2C367AF0}"/>
                </a:ext>
              </a:extLst>
            </p:cNvPr>
            <p:cNvSpPr/>
            <p:nvPr/>
          </p:nvSpPr>
          <p:spPr>
            <a:xfrm>
              <a:off x="711201" y="1636956"/>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all indices in the series, elements with the same index are calculated. </a:t>
              </a:r>
            </a:p>
          </p:txBody>
        </p:sp>
        <p:sp>
          <p:nvSpPr>
            <p:cNvPr id="25" name="직사각형 24">
              <a:extLst>
                <a:ext uri="{FF2B5EF4-FFF2-40B4-BE49-F238E27FC236}">
                  <a16:creationId xmlns:a16="http://schemas.microsoft.com/office/drawing/2014/main" id="{7043414E-C605-4980-BA32-288411D00EA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Series vs. Series</a:t>
              </a:r>
            </a:p>
          </p:txBody>
        </p:sp>
      </p:grpSp>
      <p:grpSp>
        <p:nvGrpSpPr>
          <p:cNvPr id="21" name="그룹 20">
            <a:extLst>
              <a:ext uri="{FF2B5EF4-FFF2-40B4-BE49-F238E27FC236}">
                <a16:creationId xmlns:a16="http://schemas.microsoft.com/office/drawing/2014/main" id="{85F98508-0724-6F62-5634-8CBB2DADACC2}"/>
              </a:ext>
            </a:extLst>
          </p:cNvPr>
          <p:cNvGrpSpPr/>
          <p:nvPr/>
        </p:nvGrpSpPr>
        <p:grpSpPr>
          <a:xfrm>
            <a:off x="558397" y="1990548"/>
            <a:ext cx="8782050" cy="1642699"/>
            <a:chOff x="558397" y="1990548"/>
            <a:chExt cx="8782050" cy="1642699"/>
          </a:xfrm>
        </p:grpSpPr>
        <p:sp>
          <p:nvSpPr>
            <p:cNvPr id="3" name="모서리가 둥근 직사각형 4">
              <a:extLst>
                <a:ext uri="{FF2B5EF4-FFF2-40B4-BE49-F238E27FC236}">
                  <a16:creationId xmlns:a16="http://schemas.microsoft.com/office/drawing/2014/main" id="{25BB193B-3C2D-A1AA-9D9E-4B59019E3352}"/>
                </a:ext>
              </a:extLst>
            </p:cNvPr>
            <p:cNvSpPr/>
            <p:nvPr/>
          </p:nvSpPr>
          <p:spPr>
            <a:xfrm>
              <a:off x="558397" y="1990548"/>
              <a:ext cx="8782050" cy="164269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7" name="그림 6">
              <a:extLst>
                <a:ext uri="{FF2B5EF4-FFF2-40B4-BE49-F238E27FC236}">
                  <a16:creationId xmlns:a16="http://schemas.microsoft.com/office/drawing/2014/main" id="{90B734BB-5B62-B420-181E-92647A03DB28}"/>
                </a:ext>
              </a:extLst>
            </p:cNvPr>
            <p:cNvPicPr>
              <a:picLocks noChangeAspect="1"/>
            </p:cNvPicPr>
            <p:nvPr/>
          </p:nvPicPr>
          <p:blipFill rotWithShape="1">
            <a:blip r:embed="rId5"/>
            <a:srcRect r="17810"/>
            <a:stretch/>
          </p:blipFill>
          <p:spPr>
            <a:xfrm>
              <a:off x="1201317" y="2066255"/>
              <a:ext cx="8139130" cy="1473776"/>
            </a:xfrm>
            <a:prstGeom prst="rect">
              <a:avLst/>
            </a:prstGeom>
          </p:spPr>
        </p:pic>
        <p:pic>
          <p:nvPicPr>
            <p:cNvPr id="20" name="그림 19">
              <a:extLst>
                <a:ext uri="{FF2B5EF4-FFF2-40B4-BE49-F238E27FC236}">
                  <a16:creationId xmlns:a16="http://schemas.microsoft.com/office/drawing/2014/main" id="{F814D63B-BEF7-5CA3-F9E0-7EE3660A05C8}"/>
                </a:ext>
              </a:extLst>
            </p:cNvPr>
            <p:cNvPicPr>
              <a:picLocks noChangeAspect="1"/>
            </p:cNvPicPr>
            <p:nvPr/>
          </p:nvPicPr>
          <p:blipFill>
            <a:blip r:embed="rId6"/>
            <a:stretch>
              <a:fillRect/>
            </a:stretch>
          </p:blipFill>
          <p:spPr>
            <a:xfrm>
              <a:off x="726090" y="2182472"/>
              <a:ext cx="468443" cy="172108"/>
            </a:xfrm>
            <a:prstGeom prst="rect">
              <a:avLst/>
            </a:prstGeom>
          </p:spPr>
        </p:pic>
        <p:sp>
          <p:nvSpPr>
            <p:cNvPr id="11" name="직사각형 10">
              <a:extLst>
                <a:ext uri="{FF2B5EF4-FFF2-40B4-BE49-F238E27FC236}">
                  <a16:creationId xmlns:a16="http://schemas.microsoft.com/office/drawing/2014/main" id="{99DAAF82-7984-3426-AA32-02749CC5ABC7}"/>
                </a:ext>
              </a:extLst>
            </p:cNvPr>
            <p:cNvSpPr/>
            <p:nvPr/>
          </p:nvSpPr>
          <p:spPr>
            <a:xfrm>
              <a:off x="1009597" y="2209799"/>
              <a:ext cx="49682" cy="1219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5</a:t>
              </a:r>
              <a:endParaRPr lang="ko-KR" altLang="en-US" sz="1050" dirty="0">
                <a:solidFill>
                  <a:srgbClr val="2D3C9D"/>
                </a:solidFill>
                <a:latin typeface="D2Coding" panose="020B0609020101020101" pitchFamily="49" charset="-127"/>
                <a:ea typeface="D2Coding" panose="020B0609020101020101" pitchFamily="49" charset="-127"/>
              </a:endParaRPr>
            </a:p>
          </p:txBody>
        </p:sp>
      </p:grpSp>
    </p:spTree>
    <p:extLst>
      <p:ext uri="{BB962C8B-B14F-4D97-AF65-F5344CB8AC3E}">
        <p14:creationId xmlns:p14="http://schemas.microsoft.com/office/powerpoint/2010/main" val="3573075537"/>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553317"/>
            <a:ext cx="8782050" cy="737332"/>
            <a:chOff x="557644" y="5085181"/>
            <a:chExt cx="8782050" cy="73733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Combine the results of the arithmetic operation into a DataFrame (series -&gt; DataFrame).</a:t>
              </a:r>
            </a:p>
          </p:txBody>
        </p:sp>
      </p:grpSp>
      <p:sp>
        <p:nvSpPr>
          <p:cNvPr id="20" name="직사각형 19"/>
          <p:cNvSpPr/>
          <p:nvPr/>
        </p:nvSpPr>
        <p:spPr>
          <a:xfrm>
            <a:off x="711200" y="5361227"/>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example above, the order of subject names given by index is different. However, pandas finds and sorts the same subject name (index), and it adds scores of the same subject name (index).</a:t>
            </a:r>
          </a:p>
        </p:txBody>
      </p:sp>
      <p:sp>
        <p:nvSpPr>
          <p:cNvPr id="16" name="직사각형 15">
            <a:extLst>
              <a:ext uri="{FF2B5EF4-FFF2-40B4-BE49-F238E27FC236}">
                <a16:creationId xmlns:a16="http://schemas.microsoft.com/office/drawing/2014/main" id="{ED2CB474-F06E-49DE-969C-19FFE29AED8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Series vs. Series</a:t>
            </a:r>
          </a:p>
        </p:txBody>
      </p:sp>
      <p:grpSp>
        <p:nvGrpSpPr>
          <p:cNvPr id="9" name="그룹 8">
            <a:extLst>
              <a:ext uri="{FF2B5EF4-FFF2-40B4-BE49-F238E27FC236}">
                <a16:creationId xmlns:a16="http://schemas.microsoft.com/office/drawing/2014/main" id="{F6D5AF4B-F3EF-48CA-88B2-4C1ACD923CE1}"/>
              </a:ext>
            </a:extLst>
          </p:cNvPr>
          <p:cNvGrpSpPr/>
          <p:nvPr/>
        </p:nvGrpSpPr>
        <p:grpSpPr>
          <a:xfrm>
            <a:off x="558924" y="1719470"/>
            <a:ext cx="8782050" cy="2733871"/>
            <a:chOff x="558924" y="1719470"/>
            <a:chExt cx="8782050" cy="2733871"/>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19470"/>
              <a:ext cx="8782050" cy="273387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5"/>
            <a:srcRect l="1665" r="15445"/>
            <a:stretch/>
          </p:blipFill>
          <p:spPr>
            <a:xfrm>
              <a:off x="653142" y="1786857"/>
              <a:ext cx="8687832" cy="2585868"/>
            </a:xfrm>
            <a:prstGeom prst="rect">
              <a:avLst/>
            </a:prstGeom>
          </p:spPr>
        </p:pic>
        <p:sp>
          <p:nvSpPr>
            <p:cNvPr id="18" name="직사각형 17">
              <a:extLst>
                <a:ext uri="{FF2B5EF4-FFF2-40B4-BE49-F238E27FC236}">
                  <a16:creationId xmlns:a16="http://schemas.microsoft.com/office/drawing/2014/main" id="{8B388DFD-D504-4451-BA62-5156A0913CDF}"/>
                </a:ext>
              </a:extLst>
            </p:cNvPr>
            <p:cNvSpPr/>
            <p:nvPr/>
          </p:nvSpPr>
          <p:spPr>
            <a:xfrm>
              <a:off x="824694" y="3056822"/>
              <a:ext cx="1109433" cy="307975"/>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altLang="ko-KR" sz="1200" b="1" dirty="0">
                  <a:solidFill>
                    <a:schemeClr val="tx1"/>
                  </a:solidFill>
                  <a:latin typeface="D2Coding" panose="020B0609020101020101" pitchFamily="49" charset="-127"/>
                  <a:ea typeface="D2Coding" panose="020B0609020101020101" pitchFamily="49" charset="-127"/>
                </a:rPr>
                <a:t>addition</a:t>
              </a:r>
            </a:p>
          </p:txBody>
        </p:sp>
        <p:sp>
          <p:nvSpPr>
            <p:cNvPr id="19" name="직사각형 18">
              <a:extLst>
                <a:ext uri="{FF2B5EF4-FFF2-40B4-BE49-F238E27FC236}">
                  <a16:creationId xmlns:a16="http://schemas.microsoft.com/office/drawing/2014/main" id="{D12E2F75-8857-47E1-BC85-6FFE0B1874F3}"/>
                </a:ext>
              </a:extLst>
            </p:cNvPr>
            <p:cNvSpPr/>
            <p:nvPr/>
          </p:nvSpPr>
          <p:spPr>
            <a:xfrm>
              <a:off x="3930418" y="2770092"/>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eng</a:t>
              </a:r>
            </a:p>
          </p:txBody>
        </p:sp>
        <p:sp>
          <p:nvSpPr>
            <p:cNvPr id="22" name="직사각형 21">
              <a:extLst>
                <a:ext uri="{FF2B5EF4-FFF2-40B4-BE49-F238E27FC236}">
                  <a16:creationId xmlns:a16="http://schemas.microsoft.com/office/drawing/2014/main" id="{0A711880-CE7D-4D9D-98CC-15110CFCB2DE}"/>
                </a:ext>
              </a:extLst>
            </p:cNvPr>
            <p:cNvSpPr/>
            <p:nvPr/>
          </p:nvSpPr>
          <p:spPr>
            <a:xfrm>
              <a:off x="1150315" y="4080943"/>
              <a:ext cx="79208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division</a:t>
              </a:r>
            </a:p>
          </p:txBody>
        </p:sp>
        <p:sp>
          <p:nvSpPr>
            <p:cNvPr id="23" name="직사각형 22">
              <a:extLst>
                <a:ext uri="{FF2B5EF4-FFF2-40B4-BE49-F238E27FC236}">
                  <a16:creationId xmlns:a16="http://schemas.microsoft.com/office/drawing/2014/main" id="{357FB9C0-52F2-4654-876E-A6FD25EED504}"/>
                </a:ext>
              </a:extLst>
            </p:cNvPr>
            <p:cNvSpPr/>
            <p:nvPr/>
          </p:nvSpPr>
          <p:spPr>
            <a:xfrm>
              <a:off x="824694" y="3705625"/>
              <a:ext cx="1134185" cy="32574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Multiplication</a:t>
              </a:r>
            </a:p>
          </p:txBody>
        </p:sp>
        <p:sp>
          <p:nvSpPr>
            <p:cNvPr id="24" name="직사각형 23">
              <a:extLst>
                <a:ext uri="{FF2B5EF4-FFF2-40B4-BE49-F238E27FC236}">
                  <a16:creationId xmlns:a16="http://schemas.microsoft.com/office/drawing/2014/main" id="{14F4FA35-590D-4519-AD89-9444AEEEE37E}"/>
                </a:ext>
              </a:extLst>
            </p:cNvPr>
            <p:cNvSpPr/>
            <p:nvPr/>
          </p:nvSpPr>
          <p:spPr>
            <a:xfrm>
              <a:off x="1056099" y="3409281"/>
              <a:ext cx="87802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subtraction</a:t>
              </a:r>
            </a:p>
          </p:txBody>
        </p:sp>
        <p:sp>
          <p:nvSpPr>
            <p:cNvPr id="25" name="직사각형 24">
              <a:extLst>
                <a:ext uri="{FF2B5EF4-FFF2-40B4-BE49-F238E27FC236}">
                  <a16:creationId xmlns:a16="http://schemas.microsoft.com/office/drawing/2014/main" id="{7C7EE3B1-9182-4443-BA21-9FC16A01EFFD}"/>
                </a:ext>
              </a:extLst>
            </p:cNvPr>
            <p:cNvSpPr/>
            <p:nvPr/>
          </p:nvSpPr>
          <p:spPr>
            <a:xfrm>
              <a:off x="3306113" y="2770092"/>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math</a:t>
              </a:r>
            </a:p>
          </p:txBody>
        </p:sp>
        <p:sp>
          <p:nvSpPr>
            <p:cNvPr id="26" name="직사각형 25">
              <a:extLst>
                <a:ext uri="{FF2B5EF4-FFF2-40B4-BE49-F238E27FC236}">
                  <a16:creationId xmlns:a16="http://schemas.microsoft.com/office/drawing/2014/main" id="{A0FF3C8E-3B6A-468B-A42D-5FB4F2EC3E3F}"/>
                </a:ext>
              </a:extLst>
            </p:cNvPr>
            <p:cNvSpPr/>
            <p:nvPr/>
          </p:nvSpPr>
          <p:spPr>
            <a:xfrm>
              <a:off x="2514767" y="2770092"/>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kor</a:t>
              </a:r>
            </a:p>
          </p:txBody>
        </p:sp>
        <p:sp>
          <p:nvSpPr>
            <p:cNvPr id="27" name="직사각형 26">
              <a:extLst>
                <a:ext uri="{FF2B5EF4-FFF2-40B4-BE49-F238E27FC236}">
                  <a16:creationId xmlns:a16="http://schemas.microsoft.com/office/drawing/2014/main" id="{A75C7887-319E-489B-862C-D2FEB56AEB55}"/>
                </a:ext>
              </a:extLst>
            </p:cNvPr>
            <p:cNvSpPr/>
            <p:nvPr/>
          </p:nvSpPr>
          <p:spPr>
            <a:xfrm>
              <a:off x="3471280" y="2074350"/>
              <a:ext cx="4293250" cy="18988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‘addition’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‘subtraction’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‘multiplication’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‘division’</a:t>
              </a:r>
              <a:r>
                <a:rPr lang="en-US" altLang="ko-KR" sz="1200" dirty="0">
                  <a:solidFill>
                    <a:schemeClr val="tx1"/>
                  </a:solidFill>
                  <a:latin typeface="D2Coding" panose="020B0609020101020101" pitchFamily="49" charset="-127"/>
                  <a:ea typeface="D2Coding" panose="020B0609020101020101" pitchFamily="49" charset="-127"/>
                </a:rPr>
                <a:t>]</a:t>
              </a:r>
            </a:p>
          </p:txBody>
        </p:sp>
        <p:sp>
          <p:nvSpPr>
            <p:cNvPr id="7" name="직사각형 6">
              <a:extLst>
                <a:ext uri="{FF2B5EF4-FFF2-40B4-BE49-F238E27FC236}">
                  <a16:creationId xmlns:a16="http://schemas.microsoft.com/office/drawing/2014/main" id="{05AF7398-1D95-4DDB-BA53-2B5520346F71}"/>
                </a:ext>
              </a:extLst>
            </p:cNvPr>
            <p:cNvSpPr/>
            <p:nvPr/>
          </p:nvSpPr>
          <p:spPr>
            <a:xfrm>
              <a:off x="752474" y="2981324"/>
              <a:ext cx="3724275" cy="715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직선 연결선 34">
              <a:extLst>
                <a:ext uri="{FF2B5EF4-FFF2-40B4-BE49-F238E27FC236}">
                  <a16:creationId xmlns:a16="http://schemas.microsoft.com/office/drawing/2014/main" id="{6347CE5A-2845-4089-8ED6-245BA4D1CDCC}"/>
                </a:ext>
              </a:extLst>
            </p:cNvPr>
            <p:cNvCxnSpPr>
              <a:cxnSpLocks/>
            </p:cNvCxnSpPr>
            <p:nvPr/>
          </p:nvCxnSpPr>
          <p:spPr>
            <a:xfrm>
              <a:off x="824694" y="3064065"/>
              <a:ext cx="3472915" cy="0"/>
            </a:xfrm>
            <a:prstGeom prst="line">
              <a:avLst/>
            </a:prstGeom>
            <a:ln w="2032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776365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모서리가 둥근 직사각형 4">
            <a:extLst>
              <a:ext uri="{FF2B5EF4-FFF2-40B4-BE49-F238E27FC236}">
                <a16:creationId xmlns:a16="http://schemas.microsoft.com/office/drawing/2014/main" id="{E7B303D6-57F6-B37C-872F-9CCB42A659B9}"/>
              </a:ext>
            </a:extLst>
          </p:cNvPr>
          <p:cNvSpPr/>
          <p:nvPr/>
        </p:nvSpPr>
        <p:spPr>
          <a:xfrm>
            <a:off x="558396" y="2190285"/>
            <a:ext cx="8782050" cy="173039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12CC1054-EFBA-42D1-85C8-9B8222543A18}"/>
              </a:ext>
            </a:extLst>
          </p:cNvPr>
          <p:cNvGrpSpPr/>
          <p:nvPr/>
        </p:nvGrpSpPr>
        <p:grpSpPr>
          <a:xfrm>
            <a:off x="561850" y="4028214"/>
            <a:ext cx="8782050" cy="1527859"/>
            <a:chOff x="561850" y="4056729"/>
            <a:chExt cx="8782050" cy="1527859"/>
          </a:xfrm>
        </p:grpSpPr>
        <p:grpSp>
          <p:nvGrpSpPr>
            <p:cNvPr id="10" name="그룹 9"/>
            <p:cNvGrpSpPr/>
            <p:nvPr/>
          </p:nvGrpSpPr>
          <p:grpSpPr>
            <a:xfrm>
              <a:off x="561850" y="4056729"/>
              <a:ext cx="8782050" cy="1527859"/>
              <a:chOff x="557644" y="5067512"/>
              <a:chExt cx="8782050" cy="1527859"/>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67512"/>
                <a:ext cx="8782050" cy="152785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pandas series with data from a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79600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4773275"/>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7-4 ~ 7-7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108169"/>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Perform the four fundamental arithmetic calculations based on the scores of each student per subject. </a:t>
              </a:r>
              <a:br>
                <a:rPr lang="en-US" altLang="ko-KR" sz="1300" dirty="0">
                  <a:solidFill>
                    <a:prstClr val="black">
                      <a:lumMod val="85000"/>
                      <a:lumOff val="15000"/>
                    </a:prstClr>
                  </a:solidFill>
                  <a:latin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rPr>
                <a:t>(Series vs. Series)</a:t>
              </a:r>
            </a:p>
          </p:txBody>
        </p:sp>
      </p:grpSp>
      <p:grpSp>
        <p:nvGrpSpPr>
          <p:cNvPr id="5" name="그룹 4">
            <a:extLst>
              <a:ext uri="{FF2B5EF4-FFF2-40B4-BE49-F238E27FC236}">
                <a16:creationId xmlns:a16="http://schemas.microsoft.com/office/drawing/2014/main" id="{73A4BE8C-9DC9-4E16-9AE2-4679448F5580}"/>
              </a:ext>
            </a:extLst>
          </p:cNvPr>
          <p:cNvGrpSpPr/>
          <p:nvPr/>
        </p:nvGrpSpPr>
        <p:grpSpPr>
          <a:xfrm>
            <a:off x="580388" y="1413381"/>
            <a:ext cx="8887612" cy="769091"/>
            <a:chOff x="580388" y="1413381"/>
            <a:chExt cx="8887612" cy="769091"/>
          </a:xfrm>
        </p:grpSpPr>
        <p:sp>
          <p:nvSpPr>
            <p:cNvPr id="23" name="직사각형 22">
              <a:extLst>
                <a:ext uri="{FF2B5EF4-FFF2-40B4-BE49-F238E27FC236}">
                  <a16:creationId xmlns:a16="http://schemas.microsoft.com/office/drawing/2014/main" id="{65C89CF2-1B44-40A5-97AD-90423BDAE1B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Series vs. Series</a:t>
              </a:r>
            </a:p>
          </p:txBody>
        </p:sp>
        <p:sp>
          <p:nvSpPr>
            <p:cNvPr id="24" name="직사각형 23">
              <a:extLst>
                <a:ext uri="{FF2B5EF4-FFF2-40B4-BE49-F238E27FC236}">
                  <a16:creationId xmlns:a16="http://schemas.microsoft.com/office/drawing/2014/main" id="{187E853F-89C7-4A65-8D86-9DE9985348DD}"/>
                </a:ext>
              </a:extLst>
            </p:cNvPr>
            <p:cNvSpPr/>
            <p:nvPr/>
          </p:nvSpPr>
          <p:spPr>
            <a:xfrm>
              <a:off x="711201" y="1636956"/>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number of elements in the two series is different or the size of the series is the same, it is treated as a not-a-number (NaN), meaning that there is no valid value.</a:t>
              </a:r>
            </a:p>
          </p:txBody>
        </p:sp>
      </p:grpSp>
      <p:pic>
        <p:nvPicPr>
          <p:cNvPr id="6" name="그림 5">
            <a:extLst>
              <a:ext uri="{FF2B5EF4-FFF2-40B4-BE49-F238E27FC236}">
                <a16:creationId xmlns:a16="http://schemas.microsoft.com/office/drawing/2014/main" id="{2971483B-C620-0BE4-772D-E9C55B4B7BF6}"/>
              </a:ext>
            </a:extLst>
          </p:cNvPr>
          <p:cNvPicPr>
            <a:picLocks noChangeAspect="1"/>
          </p:cNvPicPr>
          <p:nvPr/>
        </p:nvPicPr>
        <p:blipFill rotWithShape="1">
          <a:blip r:embed="rId5"/>
          <a:srcRect r="7888"/>
          <a:stretch/>
        </p:blipFill>
        <p:spPr>
          <a:xfrm>
            <a:off x="1217882" y="2276872"/>
            <a:ext cx="8122564" cy="1546500"/>
          </a:xfrm>
          <a:prstGeom prst="rect">
            <a:avLst/>
          </a:prstGeom>
        </p:spPr>
      </p:pic>
      <p:pic>
        <p:nvPicPr>
          <p:cNvPr id="8" name="그림 7">
            <a:extLst>
              <a:ext uri="{FF2B5EF4-FFF2-40B4-BE49-F238E27FC236}">
                <a16:creationId xmlns:a16="http://schemas.microsoft.com/office/drawing/2014/main" id="{421F3081-BB6F-B6EA-F7A2-B9AD0B6CDACA}"/>
              </a:ext>
            </a:extLst>
          </p:cNvPr>
          <p:cNvPicPr>
            <a:picLocks noChangeAspect="1"/>
          </p:cNvPicPr>
          <p:nvPr/>
        </p:nvPicPr>
        <p:blipFill>
          <a:blip r:embed="rId6"/>
          <a:stretch>
            <a:fillRect/>
          </a:stretch>
        </p:blipFill>
        <p:spPr>
          <a:xfrm>
            <a:off x="667806" y="2343938"/>
            <a:ext cx="526727" cy="193522"/>
          </a:xfrm>
          <a:prstGeom prst="rect">
            <a:avLst/>
          </a:prstGeom>
        </p:spPr>
      </p:pic>
      <p:sp>
        <p:nvSpPr>
          <p:cNvPr id="9" name="직사각형 8">
            <a:extLst>
              <a:ext uri="{FF2B5EF4-FFF2-40B4-BE49-F238E27FC236}">
                <a16:creationId xmlns:a16="http://schemas.microsoft.com/office/drawing/2014/main" id="{87DDE67C-87F9-35D2-4A4C-D6BAF2091EA2}"/>
              </a:ext>
            </a:extLst>
          </p:cNvPr>
          <p:cNvSpPr/>
          <p:nvPr/>
        </p:nvSpPr>
        <p:spPr>
          <a:xfrm>
            <a:off x="977900" y="2378885"/>
            <a:ext cx="73759" cy="1219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solidFill>
                  <a:srgbClr val="2D3C9D"/>
                </a:solidFill>
                <a:latin typeface="D2Coding" panose="020B0609020101020101" pitchFamily="49" charset="-127"/>
                <a:ea typeface="D2Coding" panose="020B0609020101020101" pitchFamily="49" charset="-127"/>
              </a:rPr>
              <a:t>7</a:t>
            </a:r>
            <a:endParaRPr lang="ko-KR" altLang="en-US" sz="1200" dirty="0">
              <a:solidFill>
                <a:srgbClr val="2D3C9D"/>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97678219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5017638"/>
            <a:ext cx="8782050" cy="737332"/>
            <a:chOff x="557644" y="5085181"/>
            <a:chExt cx="8782050" cy="73733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Combine the results of the arithmetic operation into a DataFrame (series -&gt; DataFrame).</a:t>
              </a:r>
            </a:p>
          </p:txBody>
        </p:sp>
      </p:grpSp>
      <p:sp>
        <p:nvSpPr>
          <p:cNvPr id="16" name="직사각형 15">
            <a:extLst>
              <a:ext uri="{FF2B5EF4-FFF2-40B4-BE49-F238E27FC236}">
                <a16:creationId xmlns:a16="http://schemas.microsoft.com/office/drawing/2014/main" id="{9BFD18E8-0649-4F11-8D7C-A731888DB66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Series vs. Series</a:t>
            </a:r>
          </a:p>
        </p:txBody>
      </p:sp>
      <p:grpSp>
        <p:nvGrpSpPr>
          <p:cNvPr id="7" name="그룹 6">
            <a:extLst>
              <a:ext uri="{FF2B5EF4-FFF2-40B4-BE49-F238E27FC236}">
                <a16:creationId xmlns:a16="http://schemas.microsoft.com/office/drawing/2014/main" id="{E30D093C-7C38-407E-891A-09F02C75BA49}"/>
              </a:ext>
            </a:extLst>
          </p:cNvPr>
          <p:cNvGrpSpPr/>
          <p:nvPr/>
        </p:nvGrpSpPr>
        <p:grpSpPr>
          <a:xfrm>
            <a:off x="558924" y="1772815"/>
            <a:ext cx="8782050" cy="3142085"/>
            <a:chOff x="558924" y="1772815"/>
            <a:chExt cx="8782050" cy="3142085"/>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314208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5"/>
            <a:srcRect l="1369" r="19110"/>
            <a:stretch/>
          </p:blipFill>
          <p:spPr>
            <a:xfrm>
              <a:off x="638175" y="1854773"/>
              <a:ext cx="8702799" cy="2987646"/>
            </a:xfrm>
            <a:prstGeom prst="rect">
              <a:avLst/>
            </a:prstGeom>
          </p:spPr>
        </p:pic>
        <p:sp>
          <p:nvSpPr>
            <p:cNvPr id="17" name="직사각형 16">
              <a:extLst>
                <a:ext uri="{FF2B5EF4-FFF2-40B4-BE49-F238E27FC236}">
                  <a16:creationId xmlns:a16="http://schemas.microsoft.com/office/drawing/2014/main" id="{CA6BF69B-9B3E-4944-A0A7-8CABF3EBB173}"/>
                </a:ext>
              </a:extLst>
            </p:cNvPr>
            <p:cNvSpPr/>
            <p:nvPr/>
          </p:nvSpPr>
          <p:spPr>
            <a:xfrm>
              <a:off x="3617797" y="2178606"/>
              <a:ext cx="5617429" cy="19129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‘addition’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‘subtraction’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‘multiplication’</a:t>
              </a:r>
              <a:r>
                <a:rPr lang="en-US" altLang="ko-KR" sz="1200" dirty="0">
                  <a:solidFill>
                    <a:schemeClr val="tx1"/>
                  </a:solidFill>
                  <a:latin typeface="D2Coding" panose="020B0609020101020101" pitchFamily="49" charset="-127"/>
                  <a:ea typeface="D2Coding" panose="020B0609020101020101" pitchFamily="49" charset="-127"/>
                </a:rPr>
                <a:t>,</a:t>
              </a:r>
              <a:r>
                <a:rPr lang="en-US" altLang="ko-KR" sz="1200" dirty="0">
                  <a:solidFill>
                    <a:srgbClr val="B8151E"/>
                  </a:solidFill>
                  <a:latin typeface="D2Coding" panose="020B0609020101020101" pitchFamily="49" charset="-127"/>
                  <a:ea typeface="D2Coding" panose="020B0609020101020101" pitchFamily="49" charset="-127"/>
                </a:rPr>
                <a:t> ‘division’</a:t>
              </a:r>
              <a:r>
                <a:rPr lang="en-US" altLang="ko-KR" sz="1200" dirty="0">
                  <a:solidFill>
                    <a:schemeClr val="tx1"/>
                  </a:solidFill>
                  <a:latin typeface="D2Coding" panose="020B0609020101020101" pitchFamily="49" charset="-127"/>
                  <a:ea typeface="D2Coding" panose="020B0609020101020101" pitchFamily="49" charset="-127"/>
                </a:rPr>
                <a:t>])</a:t>
              </a:r>
            </a:p>
          </p:txBody>
        </p:sp>
        <p:sp>
          <p:nvSpPr>
            <p:cNvPr id="27" name="직사각형 26">
              <a:extLst>
                <a:ext uri="{FF2B5EF4-FFF2-40B4-BE49-F238E27FC236}">
                  <a16:creationId xmlns:a16="http://schemas.microsoft.com/office/drawing/2014/main" id="{B8C23768-733E-484B-A098-B0C4D5FC584A}"/>
                </a:ext>
              </a:extLst>
            </p:cNvPr>
            <p:cNvSpPr/>
            <p:nvPr/>
          </p:nvSpPr>
          <p:spPr>
            <a:xfrm>
              <a:off x="862794" y="3475922"/>
              <a:ext cx="1109433" cy="307975"/>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altLang="ko-KR" sz="1200" b="1" dirty="0">
                  <a:solidFill>
                    <a:schemeClr val="tx1"/>
                  </a:solidFill>
                  <a:latin typeface="D2Coding" panose="020B0609020101020101" pitchFamily="49" charset="-127"/>
                  <a:ea typeface="D2Coding" panose="020B0609020101020101" pitchFamily="49" charset="-127"/>
                </a:rPr>
                <a:t>addition</a:t>
              </a:r>
            </a:p>
          </p:txBody>
        </p:sp>
        <p:sp>
          <p:nvSpPr>
            <p:cNvPr id="28" name="직사각형 27">
              <a:extLst>
                <a:ext uri="{FF2B5EF4-FFF2-40B4-BE49-F238E27FC236}">
                  <a16:creationId xmlns:a16="http://schemas.microsoft.com/office/drawing/2014/main" id="{AC6D005C-84EA-4B7C-BCFF-9A1115E2DBA1}"/>
                </a:ext>
              </a:extLst>
            </p:cNvPr>
            <p:cNvSpPr/>
            <p:nvPr/>
          </p:nvSpPr>
          <p:spPr>
            <a:xfrm>
              <a:off x="3384737" y="3160617"/>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eng</a:t>
              </a:r>
            </a:p>
          </p:txBody>
        </p:sp>
        <p:sp>
          <p:nvSpPr>
            <p:cNvPr id="29" name="직사각형 28">
              <a:extLst>
                <a:ext uri="{FF2B5EF4-FFF2-40B4-BE49-F238E27FC236}">
                  <a16:creationId xmlns:a16="http://schemas.microsoft.com/office/drawing/2014/main" id="{90730B1E-52DB-4360-8E84-5050ECF484D0}"/>
                </a:ext>
              </a:extLst>
            </p:cNvPr>
            <p:cNvSpPr/>
            <p:nvPr/>
          </p:nvSpPr>
          <p:spPr>
            <a:xfrm>
              <a:off x="1188415" y="4500043"/>
              <a:ext cx="79208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division</a:t>
              </a:r>
            </a:p>
          </p:txBody>
        </p:sp>
        <p:sp>
          <p:nvSpPr>
            <p:cNvPr id="30" name="직사각형 29">
              <a:extLst>
                <a:ext uri="{FF2B5EF4-FFF2-40B4-BE49-F238E27FC236}">
                  <a16:creationId xmlns:a16="http://schemas.microsoft.com/office/drawing/2014/main" id="{1E513FE9-5689-47D8-B6DC-80C4493ED225}"/>
                </a:ext>
              </a:extLst>
            </p:cNvPr>
            <p:cNvSpPr/>
            <p:nvPr/>
          </p:nvSpPr>
          <p:spPr>
            <a:xfrm>
              <a:off x="862794" y="4124725"/>
              <a:ext cx="1134185" cy="32574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Multiplication</a:t>
              </a:r>
            </a:p>
          </p:txBody>
        </p:sp>
        <p:sp>
          <p:nvSpPr>
            <p:cNvPr id="31" name="직사각형 30">
              <a:extLst>
                <a:ext uri="{FF2B5EF4-FFF2-40B4-BE49-F238E27FC236}">
                  <a16:creationId xmlns:a16="http://schemas.microsoft.com/office/drawing/2014/main" id="{4ABB3F90-598F-4AE9-9541-DD93779AAF1A}"/>
                </a:ext>
              </a:extLst>
            </p:cNvPr>
            <p:cNvSpPr/>
            <p:nvPr/>
          </p:nvSpPr>
          <p:spPr>
            <a:xfrm>
              <a:off x="1094199" y="3828381"/>
              <a:ext cx="87802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tx1"/>
                  </a:solidFill>
                  <a:latin typeface="D2Coding" panose="020B0609020101020101" pitchFamily="49" charset="-127"/>
                  <a:ea typeface="D2Coding" panose="020B0609020101020101" pitchFamily="49" charset="-127"/>
                </a:rPr>
                <a:t>subtraction</a:t>
              </a:r>
            </a:p>
          </p:txBody>
        </p:sp>
        <p:sp>
          <p:nvSpPr>
            <p:cNvPr id="35" name="직사각형 34">
              <a:extLst>
                <a:ext uri="{FF2B5EF4-FFF2-40B4-BE49-F238E27FC236}">
                  <a16:creationId xmlns:a16="http://schemas.microsoft.com/office/drawing/2014/main" id="{41895BE1-B2C9-4C0A-A0BA-493B02AC7AA7}"/>
                </a:ext>
              </a:extLst>
            </p:cNvPr>
            <p:cNvSpPr/>
            <p:nvPr/>
          </p:nvSpPr>
          <p:spPr>
            <a:xfrm>
              <a:off x="2858438" y="3160617"/>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math</a:t>
              </a:r>
            </a:p>
          </p:txBody>
        </p:sp>
        <p:sp>
          <p:nvSpPr>
            <p:cNvPr id="36" name="직사각형 35">
              <a:extLst>
                <a:ext uri="{FF2B5EF4-FFF2-40B4-BE49-F238E27FC236}">
                  <a16:creationId xmlns:a16="http://schemas.microsoft.com/office/drawing/2014/main" id="{6B902D72-93C6-4C7A-A589-4CA18D216E88}"/>
                </a:ext>
              </a:extLst>
            </p:cNvPr>
            <p:cNvSpPr/>
            <p:nvPr/>
          </p:nvSpPr>
          <p:spPr>
            <a:xfrm>
              <a:off x="2067092" y="3160617"/>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kor</a:t>
              </a:r>
            </a:p>
          </p:txBody>
        </p:sp>
        <p:sp>
          <p:nvSpPr>
            <p:cNvPr id="37" name="직사각형 36">
              <a:extLst>
                <a:ext uri="{FF2B5EF4-FFF2-40B4-BE49-F238E27FC236}">
                  <a16:creationId xmlns:a16="http://schemas.microsoft.com/office/drawing/2014/main" id="{268008E9-84D3-48F7-873A-3431EE57710A}"/>
                </a:ext>
              </a:extLst>
            </p:cNvPr>
            <p:cNvSpPr/>
            <p:nvPr/>
          </p:nvSpPr>
          <p:spPr>
            <a:xfrm>
              <a:off x="790574" y="3400424"/>
              <a:ext cx="3724275" cy="715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8" name="직선 연결선 37">
              <a:extLst>
                <a:ext uri="{FF2B5EF4-FFF2-40B4-BE49-F238E27FC236}">
                  <a16:creationId xmlns:a16="http://schemas.microsoft.com/office/drawing/2014/main" id="{9F32E50D-6668-4847-89DC-16BE5E820CCE}"/>
                </a:ext>
              </a:extLst>
            </p:cNvPr>
            <p:cNvCxnSpPr>
              <a:cxnSpLocks/>
            </p:cNvCxnSpPr>
            <p:nvPr/>
          </p:nvCxnSpPr>
          <p:spPr>
            <a:xfrm>
              <a:off x="862794" y="3483165"/>
              <a:ext cx="2916000" cy="0"/>
            </a:xfrm>
            <a:prstGeom prst="line">
              <a:avLst/>
            </a:prstGeom>
            <a:ln w="2032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713091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6" name="직사각형 15"/>
          <p:cNvSpPr/>
          <p:nvPr/>
        </p:nvSpPr>
        <p:spPr>
          <a:xfrm>
            <a:off x="711200" y="1667959"/>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As you learned in previous slides, when there is no common index or NAN in values, it returns </a:t>
            </a:r>
            <a:r>
              <a:rPr lang="en-US" altLang="ko-KR" sz="1300" dirty="0" err="1">
                <a:solidFill>
                  <a:schemeClr val="tx1">
                    <a:lumMod val="85000"/>
                    <a:lumOff val="15000"/>
                  </a:schemeClr>
                </a:solidFill>
                <a:latin typeface="SamsungOne-400" panose="020B0503030303020204" pitchFamily="34" charset="0"/>
                <a:ea typeface="SamsungOne-400" panose="020B0503030303020204" pitchFamily="34" charset="0"/>
              </a:rPr>
              <a:t>NaN</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 To not occur this result, set the fill value for the data set.  </a:t>
            </a:r>
          </a:p>
        </p:txBody>
      </p:sp>
      <p:grpSp>
        <p:nvGrpSpPr>
          <p:cNvPr id="5" name="그룹 4">
            <a:extLst>
              <a:ext uri="{FF2B5EF4-FFF2-40B4-BE49-F238E27FC236}">
                <a16:creationId xmlns:a16="http://schemas.microsoft.com/office/drawing/2014/main" id="{56230903-F8AB-48DB-9869-1A3BABD9FBB9}"/>
              </a:ext>
            </a:extLst>
          </p:cNvPr>
          <p:cNvGrpSpPr/>
          <p:nvPr/>
        </p:nvGrpSpPr>
        <p:grpSpPr>
          <a:xfrm>
            <a:off x="561850" y="4057155"/>
            <a:ext cx="8782050" cy="1532085"/>
            <a:chOff x="561850" y="4074397"/>
            <a:chExt cx="8782050" cy="1532085"/>
          </a:xfrm>
        </p:grpSpPr>
        <p:grpSp>
          <p:nvGrpSpPr>
            <p:cNvPr id="10" name="그룹 9"/>
            <p:cNvGrpSpPr/>
            <p:nvPr/>
          </p:nvGrpSpPr>
          <p:grpSpPr>
            <a:xfrm>
              <a:off x="561850" y="4074397"/>
              <a:ext cx="8782050" cy="1532085"/>
              <a:chOff x="557644" y="5085180"/>
              <a:chExt cx="8782050" cy="1532085"/>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0"/>
                <a:ext cx="8782050" cy="153208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pandas series with data from a dictionary.</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4771710"/>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4748978"/>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10-4 ~ 5-7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083872"/>
              <a:ext cx="8281138"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Perform the four fundamental arithmetic calculations based on the scores of each student per subject. </a:t>
              </a:r>
              <a:br>
                <a:rPr lang="en-US" altLang="ko-KR" sz="1300" dirty="0">
                  <a:solidFill>
                    <a:prstClr val="black">
                      <a:lumMod val="85000"/>
                      <a:lumOff val="15000"/>
                    </a:prstClr>
                  </a:solidFill>
                  <a:latin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rPr>
                <a:t>(Use the Operation Method)</a:t>
              </a:r>
            </a:p>
          </p:txBody>
        </p:sp>
      </p:grpSp>
      <p:sp>
        <p:nvSpPr>
          <p:cNvPr id="28" name="직사각형 27">
            <a:extLst>
              <a:ext uri="{FF2B5EF4-FFF2-40B4-BE49-F238E27FC236}">
                <a16:creationId xmlns:a16="http://schemas.microsoft.com/office/drawing/2014/main" id="{45345BD3-53C4-4146-91AE-CD5BD0D96C2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Operation Method</a:t>
            </a:r>
          </a:p>
        </p:txBody>
      </p:sp>
      <p:grpSp>
        <p:nvGrpSpPr>
          <p:cNvPr id="7" name="그룹 6">
            <a:extLst>
              <a:ext uri="{FF2B5EF4-FFF2-40B4-BE49-F238E27FC236}">
                <a16:creationId xmlns:a16="http://schemas.microsoft.com/office/drawing/2014/main" id="{DE3C67E8-3FEB-4048-9280-148523E7BE89}"/>
              </a:ext>
            </a:extLst>
          </p:cNvPr>
          <p:cNvGrpSpPr/>
          <p:nvPr/>
        </p:nvGrpSpPr>
        <p:grpSpPr>
          <a:xfrm>
            <a:off x="558924" y="2276872"/>
            <a:ext cx="8782050" cy="1665337"/>
            <a:chOff x="558924" y="2276872"/>
            <a:chExt cx="8782050" cy="1665337"/>
          </a:xfrm>
        </p:grpSpPr>
        <p:grpSp>
          <p:nvGrpSpPr>
            <p:cNvPr id="6" name="그룹 5">
              <a:extLst>
                <a:ext uri="{FF2B5EF4-FFF2-40B4-BE49-F238E27FC236}">
                  <a16:creationId xmlns:a16="http://schemas.microsoft.com/office/drawing/2014/main" id="{31EEA556-C182-47FF-89EB-5156A4D3311B}"/>
                </a:ext>
              </a:extLst>
            </p:cNvPr>
            <p:cNvGrpSpPr/>
            <p:nvPr/>
          </p:nvGrpSpPr>
          <p:grpSpPr>
            <a:xfrm>
              <a:off x="558924" y="2276872"/>
              <a:ext cx="8782050" cy="1665337"/>
              <a:chOff x="558924" y="2420887"/>
              <a:chExt cx="8782050" cy="1665337"/>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420887"/>
                <a:ext cx="8782050" cy="166533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SamsungOne 400" panose="020B0503030303020204" pitchFamily="34" charset="0"/>
                </a:endParaRPr>
              </a:p>
            </p:txBody>
          </p:sp>
          <p:pic>
            <p:nvPicPr>
              <p:cNvPr id="3" name="그림 2"/>
              <p:cNvPicPr>
                <a:picLocks noChangeAspect="1"/>
              </p:cNvPicPr>
              <p:nvPr/>
            </p:nvPicPr>
            <p:blipFill rotWithShape="1">
              <a:blip r:embed="rId5"/>
              <a:srcRect l="1186" r="20147"/>
              <a:stretch/>
            </p:blipFill>
            <p:spPr>
              <a:xfrm>
                <a:off x="647700" y="2455876"/>
                <a:ext cx="8693274" cy="1540640"/>
              </a:xfrm>
              <a:prstGeom prst="rect">
                <a:avLst/>
              </a:prstGeom>
            </p:spPr>
          </p:pic>
        </p:grpSp>
        <p:sp>
          <p:nvSpPr>
            <p:cNvPr id="35" name="직사각형 34">
              <a:extLst>
                <a:ext uri="{FF2B5EF4-FFF2-40B4-BE49-F238E27FC236}">
                  <a16:creationId xmlns:a16="http://schemas.microsoft.com/office/drawing/2014/main" id="{78C4C77A-D026-4D3F-9282-FAB8A02C1E55}"/>
                </a:ext>
              </a:extLst>
            </p:cNvPr>
            <p:cNvSpPr/>
            <p:nvPr/>
          </p:nvSpPr>
          <p:spPr>
            <a:xfrm>
              <a:off x="3587030" y="2499969"/>
              <a:ext cx="337270" cy="180469"/>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B8151E"/>
                  </a:solidFill>
                  <a:latin typeface="D2Coding" panose="020B0609020101020101" pitchFamily="49" charset="-127"/>
                  <a:ea typeface="D2Coding" panose="020B0609020101020101" pitchFamily="49" charset="-127"/>
                </a:rPr>
                <a:t>kor</a:t>
              </a:r>
            </a:p>
          </p:txBody>
        </p:sp>
        <p:sp>
          <p:nvSpPr>
            <p:cNvPr id="36" name="직사각형 35">
              <a:extLst>
                <a:ext uri="{FF2B5EF4-FFF2-40B4-BE49-F238E27FC236}">
                  <a16:creationId xmlns:a16="http://schemas.microsoft.com/office/drawing/2014/main" id="{9EED900B-D421-4864-A003-FB583284C72F}"/>
                </a:ext>
              </a:extLst>
            </p:cNvPr>
            <p:cNvSpPr/>
            <p:nvPr/>
          </p:nvSpPr>
          <p:spPr>
            <a:xfrm>
              <a:off x="4793276" y="2487269"/>
              <a:ext cx="367191" cy="178023"/>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B8151E"/>
                  </a:solidFill>
                  <a:latin typeface="D2Coding" panose="020B0609020101020101" pitchFamily="49" charset="-127"/>
                  <a:ea typeface="D2Coding" panose="020B0609020101020101" pitchFamily="49" charset="-127"/>
                </a:rPr>
                <a:t>eng</a:t>
              </a:r>
            </a:p>
          </p:txBody>
        </p:sp>
        <p:sp>
          <p:nvSpPr>
            <p:cNvPr id="37" name="직사각형 36">
              <a:extLst>
                <a:ext uri="{FF2B5EF4-FFF2-40B4-BE49-F238E27FC236}">
                  <a16:creationId xmlns:a16="http://schemas.microsoft.com/office/drawing/2014/main" id="{8DF5B08D-A54B-41F2-A51E-FCA4B053A4D2}"/>
                </a:ext>
              </a:extLst>
            </p:cNvPr>
            <p:cNvSpPr/>
            <p:nvPr/>
          </p:nvSpPr>
          <p:spPr>
            <a:xfrm>
              <a:off x="5684595" y="2494357"/>
              <a:ext cx="367191" cy="19513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B8151E"/>
                  </a:solidFill>
                  <a:latin typeface="D2Coding" panose="020B0609020101020101" pitchFamily="49" charset="-127"/>
                  <a:ea typeface="D2Coding" panose="020B0609020101020101" pitchFamily="49" charset="-127"/>
                </a:rPr>
                <a:t>math</a:t>
              </a:r>
            </a:p>
          </p:txBody>
        </p:sp>
        <p:sp>
          <p:nvSpPr>
            <p:cNvPr id="38" name="직사각형 37">
              <a:extLst>
                <a:ext uri="{FF2B5EF4-FFF2-40B4-BE49-F238E27FC236}">
                  <a16:creationId xmlns:a16="http://schemas.microsoft.com/office/drawing/2014/main" id="{785EDC95-A291-4577-968A-484576EC223D}"/>
                </a:ext>
              </a:extLst>
            </p:cNvPr>
            <p:cNvSpPr/>
            <p:nvPr/>
          </p:nvSpPr>
          <p:spPr>
            <a:xfrm>
              <a:off x="3591059" y="2671642"/>
              <a:ext cx="367191" cy="19513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B8151E"/>
                  </a:solidFill>
                  <a:latin typeface="D2Coding" panose="020B0609020101020101" pitchFamily="49" charset="-127"/>
                  <a:ea typeface="D2Coding" panose="020B0609020101020101" pitchFamily="49" charset="-127"/>
                </a:rPr>
                <a:t>math</a:t>
              </a:r>
            </a:p>
          </p:txBody>
        </p:sp>
        <p:sp>
          <p:nvSpPr>
            <p:cNvPr id="39" name="직사각형 38">
              <a:extLst>
                <a:ext uri="{FF2B5EF4-FFF2-40B4-BE49-F238E27FC236}">
                  <a16:creationId xmlns:a16="http://schemas.microsoft.com/office/drawing/2014/main" id="{6D034AD7-86B5-40C2-B961-C1C8C3001918}"/>
                </a:ext>
              </a:extLst>
            </p:cNvPr>
            <p:cNvSpPr/>
            <p:nvPr/>
          </p:nvSpPr>
          <p:spPr>
            <a:xfrm>
              <a:off x="4497281" y="2681053"/>
              <a:ext cx="337270" cy="180469"/>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B8151E"/>
                  </a:solidFill>
                  <a:latin typeface="D2Coding" panose="020B0609020101020101" pitchFamily="49" charset="-127"/>
                  <a:ea typeface="D2Coding" panose="020B0609020101020101" pitchFamily="49" charset="-127"/>
                </a:rPr>
                <a:t>kor</a:t>
              </a:r>
            </a:p>
          </p:txBody>
        </p:sp>
      </p:grpSp>
    </p:spTree>
    <p:extLst>
      <p:ext uri="{BB962C8B-B14F-4D97-AF65-F5344CB8AC3E}">
        <p14:creationId xmlns:p14="http://schemas.microsoft.com/office/powerpoint/2010/main" val="4080780813"/>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782065"/>
            <a:ext cx="8782050" cy="737332"/>
            <a:chOff x="557644" y="5085181"/>
            <a:chExt cx="8782050" cy="73733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Combine the results of the arithmetic operation into a DataFrame (series -&gt; DataFrame).</a:t>
              </a:r>
            </a:p>
          </p:txBody>
        </p:sp>
      </p:grpSp>
      <p:sp>
        <p:nvSpPr>
          <p:cNvPr id="16" name="직사각형 15">
            <a:extLst>
              <a:ext uri="{FF2B5EF4-FFF2-40B4-BE49-F238E27FC236}">
                <a16:creationId xmlns:a16="http://schemas.microsoft.com/office/drawing/2014/main" id="{CD6094B5-323F-4EF2-8576-43C42C62C30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Operation Method</a:t>
            </a:r>
          </a:p>
        </p:txBody>
      </p:sp>
      <p:grpSp>
        <p:nvGrpSpPr>
          <p:cNvPr id="6" name="그룹 5">
            <a:extLst>
              <a:ext uri="{FF2B5EF4-FFF2-40B4-BE49-F238E27FC236}">
                <a16:creationId xmlns:a16="http://schemas.microsoft.com/office/drawing/2014/main" id="{536FAFEB-D5BC-4DC4-AC2D-7FE904887DFC}"/>
              </a:ext>
            </a:extLst>
          </p:cNvPr>
          <p:cNvGrpSpPr/>
          <p:nvPr/>
        </p:nvGrpSpPr>
        <p:grpSpPr>
          <a:xfrm>
            <a:off x="558924" y="1772815"/>
            <a:ext cx="8782051" cy="2903959"/>
            <a:chOff x="558924" y="1772815"/>
            <a:chExt cx="8782051" cy="2903959"/>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5"/>
              <a:ext cx="8782050" cy="290395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latin typeface="SamsungOne 400" panose="020B0503030303020204" pitchFamily="34" charset="0"/>
              </a:endParaRPr>
            </a:p>
          </p:txBody>
        </p:sp>
        <p:pic>
          <p:nvPicPr>
            <p:cNvPr id="2" name="그림 1"/>
            <p:cNvPicPr>
              <a:picLocks noChangeAspect="1"/>
            </p:cNvPicPr>
            <p:nvPr/>
          </p:nvPicPr>
          <p:blipFill rotWithShape="1">
            <a:blip r:embed="rId5"/>
            <a:srcRect l="1177" r="19348"/>
            <a:stretch/>
          </p:blipFill>
          <p:spPr>
            <a:xfrm>
              <a:off x="676275" y="1879701"/>
              <a:ext cx="8664700" cy="2713676"/>
            </a:xfrm>
            <a:prstGeom prst="rect">
              <a:avLst/>
            </a:prstGeom>
          </p:spPr>
        </p:pic>
        <p:sp>
          <p:nvSpPr>
            <p:cNvPr id="17" name="직사각형 16">
              <a:extLst>
                <a:ext uri="{FF2B5EF4-FFF2-40B4-BE49-F238E27FC236}">
                  <a16:creationId xmlns:a16="http://schemas.microsoft.com/office/drawing/2014/main" id="{15C04ACD-9E56-45FD-9D9D-A26335C2DB74}"/>
                </a:ext>
              </a:extLst>
            </p:cNvPr>
            <p:cNvSpPr/>
            <p:nvPr/>
          </p:nvSpPr>
          <p:spPr>
            <a:xfrm>
              <a:off x="3617798" y="2184261"/>
              <a:ext cx="4449877" cy="177939"/>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1100" dirty="0">
                  <a:solidFill>
                    <a:schemeClr val="tx1"/>
                  </a:solidFill>
                  <a:latin typeface="D2Coding" panose="020B0609020101020101" pitchFamily="49" charset="-127"/>
                  <a:ea typeface="D2Coding" panose="020B0609020101020101" pitchFamily="49" charset="-127"/>
                </a:rPr>
                <a:t>[</a:t>
              </a:r>
              <a:r>
                <a:rPr lang="en-US" altLang="ko-KR" sz="1100" dirty="0">
                  <a:solidFill>
                    <a:srgbClr val="B8151E"/>
                  </a:solidFill>
                  <a:latin typeface="D2Coding" panose="020B0609020101020101" pitchFamily="49" charset="-127"/>
                  <a:ea typeface="D2Coding" panose="020B0609020101020101" pitchFamily="49" charset="-127"/>
                </a:rPr>
                <a:t>‘addition’</a:t>
              </a:r>
              <a:r>
                <a:rPr lang="en-US" altLang="ko-KR" sz="1100" dirty="0">
                  <a:solidFill>
                    <a:schemeClr val="tx1"/>
                  </a:solidFill>
                  <a:latin typeface="D2Coding" panose="020B0609020101020101" pitchFamily="49" charset="-127"/>
                  <a:ea typeface="D2Coding" panose="020B0609020101020101" pitchFamily="49" charset="-127"/>
                </a:rPr>
                <a:t>,</a:t>
              </a:r>
              <a:r>
                <a:rPr lang="en-US" altLang="ko-KR" sz="1100" dirty="0">
                  <a:solidFill>
                    <a:srgbClr val="B8151E"/>
                  </a:solidFill>
                  <a:latin typeface="D2Coding" panose="020B0609020101020101" pitchFamily="49" charset="-127"/>
                  <a:ea typeface="D2Coding" panose="020B0609020101020101" pitchFamily="49" charset="-127"/>
                </a:rPr>
                <a:t> ‘subtraction’</a:t>
              </a:r>
              <a:r>
                <a:rPr lang="en-US" altLang="ko-KR" sz="1100" dirty="0">
                  <a:solidFill>
                    <a:schemeClr val="tx1"/>
                  </a:solidFill>
                  <a:latin typeface="D2Coding" panose="020B0609020101020101" pitchFamily="49" charset="-127"/>
                  <a:ea typeface="D2Coding" panose="020B0609020101020101" pitchFamily="49" charset="-127"/>
                </a:rPr>
                <a:t>,</a:t>
              </a:r>
              <a:r>
                <a:rPr lang="en-US" altLang="ko-KR" sz="1100" dirty="0">
                  <a:solidFill>
                    <a:srgbClr val="B8151E"/>
                  </a:solidFill>
                  <a:latin typeface="D2Coding" panose="020B0609020101020101" pitchFamily="49" charset="-127"/>
                  <a:ea typeface="D2Coding" panose="020B0609020101020101" pitchFamily="49" charset="-127"/>
                </a:rPr>
                <a:t> ‘multiplication’</a:t>
              </a:r>
              <a:r>
                <a:rPr lang="en-US" altLang="ko-KR" sz="1100" dirty="0">
                  <a:solidFill>
                    <a:schemeClr val="tx1"/>
                  </a:solidFill>
                  <a:latin typeface="D2Coding" panose="020B0609020101020101" pitchFamily="49" charset="-127"/>
                  <a:ea typeface="D2Coding" panose="020B0609020101020101" pitchFamily="49" charset="-127"/>
                </a:rPr>
                <a:t>,</a:t>
              </a:r>
              <a:r>
                <a:rPr lang="en-US" altLang="ko-KR" sz="1100" dirty="0">
                  <a:solidFill>
                    <a:srgbClr val="B8151E"/>
                  </a:solidFill>
                  <a:latin typeface="D2Coding" panose="020B0609020101020101" pitchFamily="49" charset="-127"/>
                  <a:ea typeface="D2Coding" panose="020B0609020101020101" pitchFamily="49" charset="-127"/>
                </a:rPr>
                <a:t> ‘division’</a:t>
              </a:r>
              <a:r>
                <a:rPr lang="en-US" altLang="ko-KR" sz="1100" dirty="0">
                  <a:solidFill>
                    <a:schemeClr val="tx1"/>
                  </a:solidFill>
                  <a:latin typeface="D2Coding" panose="020B0609020101020101" pitchFamily="49" charset="-127"/>
                  <a:ea typeface="D2Coding" panose="020B0609020101020101" pitchFamily="49" charset="-127"/>
                </a:rPr>
                <a:t>])</a:t>
              </a:r>
            </a:p>
          </p:txBody>
        </p:sp>
        <p:sp>
          <p:nvSpPr>
            <p:cNvPr id="18" name="직사각형 17">
              <a:extLst>
                <a:ext uri="{FF2B5EF4-FFF2-40B4-BE49-F238E27FC236}">
                  <a16:creationId xmlns:a16="http://schemas.microsoft.com/office/drawing/2014/main" id="{D3A63398-4C78-425A-B69F-0138DBE77324}"/>
                </a:ext>
              </a:extLst>
            </p:cNvPr>
            <p:cNvSpPr/>
            <p:nvPr/>
          </p:nvSpPr>
          <p:spPr>
            <a:xfrm>
              <a:off x="891369" y="3228272"/>
              <a:ext cx="1109433" cy="307975"/>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r>
                <a:rPr lang="en-US" altLang="ko-KR" sz="1100" b="1" dirty="0">
                  <a:solidFill>
                    <a:schemeClr val="tx1"/>
                  </a:solidFill>
                  <a:latin typeface="D2Coding" panose="020B0609020101020101" pitchFamily="49" charset="-127"/>
                  <a:ea typeface="D2Coding" panose="020B0609020101020101" pitchFamily="49" charset="-127"/>
                </a:rPr>
                <a:t>addition</a:t>
              </a:r>
            </a:p>
          </p:txBody>
        </p:sp>
        <p:sp>
          <p:nvSpPr>
            <p:cNvPr id="19" name="직사각형 18">
              <a:extLst>
                <a:ext uri="{FF2B5EF4-FFF2-40B4-BE49-F238E27FC236}">
                  <a16:creationId xmlns:a16="http://schemas.microsoft.com/office/drawing/2014/main" id="{F9BD936F-B588-4579-9D52-1B95E999716A}"/>
                </a:ext>
              </a:extLst>
            </p:cNvPr>
            <p:cNvSpPr/>
            <p:nvPr/>
          </p:nvSpPr>
          <p:spPr>
            <a:xfrm>
              <a:off x="3513626" y="2941542"/>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solidFill>
                    <a:schemeClr val="tx1"/>
                  </a:solidFill>
                  <a:latin typeface="D2Coding" panose="020B0609020101020101" pitchFamily="49" charset="-127"/>
                  <a:ea typeface="D2Coding" panose="020B0609020101020101" pitchFamily="49" charset="-127"/>
                </a:rPr>
                <a:t>eng</a:t>
              </a:r>
            </a:p>
          </p:txBody>
        </p:sp>
        <p:sp>
          <p:nvSpPr>
            <p:cNvPr id="20" name="직사각형 19">
              <a:extLst>
                <a:ext uri="{FF2B5EF4-FFF2-40B4-BE49-F238E27FC236}">
                  <a16:creationId xmlns:a16="http://schemas.microsoft.com/office/drawing/2014/main" id="{2A326062-3B86-4392-8469-0673C0201993}"/>
                </a:ext>
              </a:extLst>
            </p:cNvPr>
            <p:cNvSpPr/>
            <p:nvPr/>
          </p:nvSpPr>
          <p:spPr>
            <a:xfrm>
              <a:off x="1216990" y="4252393"/>
              <a:ext cx="79208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b="1" dirty="0">
                  <a:solidFill>
                    <a:schemeClr val="tx1"/>
                  </a:solidFill>
                  <a:latin typeface="D2Coding" panose="020B0609020101020101" pitchFamily="49" charset="-127"/>
                  <a:ea typeface="D2Coding" panose="020B0609020101020101" pitchFamily="49" charset="-127"/>
                </a:rPr>
                <a:t>division</a:t>
              </a:r>
            </a:p>
          </p:txBody>
        </p:sp>
        <p:sp>
          <p:nvSpPr>
            <p:cNvPr id="21" name="직사각형 20">
              <a:extLst>
                <a:ext uri="{FF2B5EF4-FFF2-40B4-BE49-F238E27FC236}">
                  <a16:creationId xmlns:a16="http://schemas.microsoft.com/office/drawing/2014/main" id="{D42A6FD2-6044-4842-8F2A-33A7B28C6F7B}"/>
                </a:ext>
              </a:extLst>
            </p:cNvPr>
            <p:cNvSpPr/>
            <p:nvPr/>
          </p:nvSpPr>
          <p:spPr>
            <a:xfrm>
              <a:off x="891369" y="3877075"/>
              <a:ext cx="1134185" cy="32574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b="1" dirty="0">
                  <a:solidFill>
                    <a:schemeClr val="tx1"/>
                  </a:solidFill>
                  <a:latin typeface="D2Coding" panose="020B0609020101020101" pitchFamily="49" charset="-127"/>
                  <a:ea typeface="D2Coding" panose="020B0609020101020101" pitchFamily="49" charset="-127"/>
                </a:rPr>
                <a:t>Multiplication</a:t>
              </a:r>
            </a:p>
          </p:txBody>
        </p:sp>
        <p:sp>
          <p:nvSpPr>
            <p:cNvPr id="22" name="직사각형 21">
              <a:extLst>
                <a:ext uri="{FF2B5EF4-FFF2-40B4-BE49-F238E27FC236}">
                  <a16:creationId xmlns:a16="http://schemas.microsoft.com/office/drawing/2014/main" id="{2D436737-E990-4435-AE29-06EB57292AA0}"/>
                </a:ext>
              </a:extLst>
            </p:cNvPr>
            <p:cNvSpPr/>
            <p:nvPr/>
          </p:nvSpPr>
          <p:spPr>
            <a:xfrm>
              <a:off x="1122774" y="3580731"/>
              <a:ext cx="878028" cy="24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b="1" dirty="0">
                  <a:solidFill>
                    <a:schemeClr val="tx1"/>
                  </a:solidFill>
                  <a:latin typeface="D2Coding" panose="020B0609020101020101" pitchFamily="49" charset="-127"/>
                  <a:ea typeface="D2Coding" panose="020B0609020101020101" pitchFamily="49" charset="-127"/>
                </a:rPr>
                <a:t>subtraction</a:t>
              </a:r>
            </a:p>
          </p:txBody>
        </p:sp>
        <p:sp>
          <p:nvSpPr>
            <p:cNvPr id="23" name="직사각형 22">
              <a:extLst>
                <a:ext uri="{FF2B5EF4-FFF2-40B4-BE49-F238E27FC236}">
                  <a16:creationId xmlns:a16="http://schemas.microsoft.com/office/drawing/2014/main" id="{8F55C576-B24A-4754-B06B-FD6C45189352}"/>
                </a:ext>
              </a:extLst>
            </p:cNvPr>
            <p:cNvSpPr/>
            <p:nvPr/>
          </p:nvSpPr>
          <p:spPr>
            <a:xfrm>
              <a:off x="2956680" y="2934784"/>
              <a:ext cx="410556" cy="1847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solidFill>
                    <a:schemeClr val="tx1"/>
                  </a:solidFill>
                  <a:latin typeface="D2Coding" panose="020B0609020101020101" pitchFamily="49" charset="-127"/>
                  <a:ea typeface="D2Coding" panose="020B0609020101020101" pitchFamily="49" charset="-127"/>
                </a:rPr>
                <a:t>math</a:t>
              </a:r>
            </a:p>
          </p:txBody>
        </p:sp>
        <p:sp>
          <p:nvSpPr>
            <p:cNvPr id="24" name="직사각형 23">
              <a:extLst>
                <a:ext uri="{FF2B5EF4-FFF2-40B4-BE49-F238E27FC236}">
                  <a16:creationId xmlns:a16="http://schemas.microsoft.com/office/drawing/2014/main" id="{C3F6D31E-BC83-4DEA-8C89-6F2222E409BD}"/>
                </a:ext>
              </a:extLst>
            </p:cNvPr>
            <p:cNvSpPr/>
            <p:nvPr/>
          </p:nvSpPr>
          <p:spPr>
            <a:xfrm>
              <a:off x="2207259" y="2941542"/>
              <a:ext cx="367191" cy="17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solidFill>
                    <a:schemeClr val="tx1"/>
                  </a:solidFill>
                  <a:latin typeface="D2Coding" panose="020B0609020101020101" pitchFamily="49" charset="-127"/>
                  <a:ea typeface="D2Coding" panose="020B0609020101020101" pitchFamily="49" charset="-127"/>
                </a:rPr>
                <a:t>kor</a:t>
              </a:r>
            </a:p>
          </p:txBody>
        </p:sp>
        <p:sp>
          <p:nvSpPr>
            <p:cNvPr id="25" name="직사각형 24">
              <a:extLst>
                <a:ext uri="{FF2B5EF4-FFF2-40B4-BE49-F238E27FC236}">
                  <a16:creationId xmlns:a16="http://schemas.microsoft.com/office/drawing/2014/main" id="{BF933BA1-6BD9-4D4D-89FE-6C54D7D8BCD3}"/>
                </a:ext>
              </a:extLst>
            </p:cNvPr>
            <p:cNvSpPr/>
            <p:nvPr/>
          </p:nvSpPr>
          <p:spPr>
            <a:xfrm>
              <a:off x="819149" y="3152774"/>
              <a:ext cx="3724275" cy="715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cxnSp>
          <p:nvCxnSpPr>
            <p:cNvPr id="26" name="직선 연결선 25">
              <a:extLst>
                <a:ext uri="{FF2B5EF4-FFF2-40B4-BE49-F238E27FC236}">
                  <a16:creationId xmlns:a16="http://schemas.microsoft.com/office/drawing/2014/main" id="{C785FBC3-6BD7-41F9-B927-3B9132919F9B}"/>
                </a:ext>
              </a:extLst>
            </p:cNvPr>
            <p:cNvCxnSpPr>
              <a:cxnSpLocks/>
            </p:cNvCxnSpPr>
            <p:nvPr/>
          </p:nvCxnSpPr>
          <p:spPr>
            <a:xfrm>
              <a:off x="900894" y="3235515"/>
              <a:ext cx="2979923" cy="0"/>
            </a:xfrm>
            <a:prstGeom prst="line">
              <a:avLst/>
            </a:prstGeom>
            <a:ln w="2032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537349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DataFrame Operations</a:t>
            </a:r>
          </a:p>
        </p:txBody>
      </p:sp>
      <p:grpSp>
        <p:nvGrpSpPr>
          <p:cNvPr id="12" name="그룹 1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3" name="직사각형 1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15" name="직사각형 1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7" name="직사각형 16">
            <a:extLst>
              <a:ext uri="{FF2B5EF4-FFF2-40B4-BE49-F238E27FC236}">
                <a16:creationId xmlns:a16="http://schemas.microsoft.com/office/drawing/2014/main" id="{2955CA29-BBD7-41B9-B588-5BE75FF1A41B}"/>
              </a:ext>
            </a:extLst>
          </p:cNvPr>
          <p:cNvSpPr/>
          <p:nvPr/>
        </p:nvSpPr>
        <p:spPr>
          <a:xfrm>
            <a:off x="711200" y="1911316"/>
            <a:ext cx="8632825"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DataFrames can be understood as concepts that expand series operations. First, it is sorted based on the row/column index and calculated between corresponding elements one by one.</a:t>
            </a:r>
          </a:p>
        </p:txBody>
      </p:sp>
      <p:sp>
        <p:nvSpPr>
          <p:cNvPr id="18" name="직사각형 17">
            <a:extLst>
              <a:ext uri="{FF2B5EF4-FFF2-40B4-BE49-F238E27FC236}">
                <a16:creationId xmlns:a16="http://schemas.microsoft.com/office/drawing/2014/main" id="{43511744-F027-4716-A457-49D15C49E2D8}"/>
              </a:ext>
            </a:extLst>
          </p:cNvPr>
          <p:cNvSpPr/>
          <p:nvPr/>
        </p:nvSpPr>
        <p:spPr>
          <a:xfrm>
            <a:off x="558800" y="1916445"/>
            <a:ext cx="36000" cy="180000"/>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dirty="0"/>
          </a:p>
        </p:txBody>
      </p:sp>
    </p:spTree>
    <p:extLst>
      <p:ext uri="{BB962C8B-B14F-4D97-AF65-F5344CB8AC3E}">
        <p14:creationId xmlns:p14="http://schemas.microsoft.com/office/powerpoint/2010/main" val="121596333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8" name="그룹 17"/>
          <p:cNvGrpSpPr/>
          <p:nvPr/>
        </p:nvGrpSpPr>
        <p:grpSpPr>
          <a:xfrm>
            <a:off x="561850" y="3092373"/>
            <a:ext cx="8782050" cy="737332"/>
            <a:chOff x="557644" y="5085181"/>
            <a:chExt cx="8782050" cy="737332"/>
          </a:xfrm>
        </p:grpSpPr>
        <p:sp>
          <p:nvSpPr>
            <p:cNvPr id="19"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DataFrame by selecting two columns, age and fare, from the titanic dataset. </a:t>
              </a:r>
            </a:p>
          </p:txBody>
        </p:sp>
      </p:grpSp>
      <p:grpSp>
        <p:nvGrpSpPr>
          <p:cNvPr id="2" name="그룹 1">
            <a:extLst>
              <a:ext uri="{FF2B5EF4-FFF2-40B4-BE49-F238E27FC236}">
                <a16:creationId xmlns:a16="http://schemas.microsoft.com/office/drawing/2014/main" id="{D690B303-0413-4230-A1D3-53219D01CA4A}"/>
              </a:ext>
            </a:extLst>
          </p:cNvPr>
          <p:cNvGrpSpPr/>
          <p:nvPr/>
        </p:nvGrpSpPr>
        <p:grpSpPr>
          <a:xfrm>
            <a:off x="558924" y="2060848"/>
            <a:ext cx="8782050" cy="929088"/>
            <a:chOff x="558924" y="2235006"/>
            <a:chExt cx="8782050" cy="929088"/>
          </a:xfrm>
        </p:grpSpPr>
        <p:sp>
          <p:nvSpPr>
            <p:cNvPr id="17" name="모서리가 둥근 직사각형 4">
              <a:extLst>
                <a:ext uri="{FF2B5EF4-FFF2-40B4-BE49-F238E27FC236}">
                  <a16:creationId xmlns:a16="http://schemas.microsoft.com/office/drawing/2014/main" id="{A36E3BA1-83BF-4EF9-8B22-BB45DE7AA1FC}"/>
                </a:ext>
              </a:extLst>
            </p:cNvPr>
            <p:cNvSpPr/>
            <p:nvPr/>
          </p:nvSpPr>
          <p:spPr>
            <a:xfrm>
              <a:off x="558924" y="2235006"/>
              <a:ext cx="8782050" cy="9290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091" r="22748"/>
            <a:stretch/>
          </p:blipFill>
          <p:spPr>
            <a:xfrm>
              <a:off x="609599" y="2278667"/>
              <a:ext cx="8731375" cy="820065"/>
            </a:xfrm>
            <a:prstGeom prst="rect">
              <a:avLst/>
            </a:prstGeom>
          </p:spPr>
        </p:pic>
      </p:grpSp>
      <p:grpSp>
        <p:nvGrpSpPr>
          <p:cNvPr id="23" name="그룹 22">
            <a:extLst>
              <a:ext uri="{FF2B5EF4-FFF2-40B4-BE49-F238E27FC236}">
                <a16:creationId xmlns:a16="http://schemas.microsoft.com/office/drawing/2014/main" id="{AF36DD26-5290-435C-B288-3E75CFB76537}"/>
              </a:ext>
            </a:extLst>
          </p:cNvPr>
          <p:cNvGrpSpPr/>
          <p:nvPr/>
        </p:nvGrpSpPr>
        <p:grpSpPr>
          <a:xfrm>
            <a:off x="580388" y="1413381"/>
            <a:ext cx="8887612" cy="569036"/>
            <a:chOff x="580388" y="1413381"/>
            <a:chExt cx="8887612" cy="569036"/>
          </a:xfrm>
        </p:grpSpPr>
        <p:sp>
          <p:nvSpPr>
            <p:cNvPr id="24" name="직사각형 23">
              <a:extLst>
                <a:ext uri="{FF2B5EF4-FFF2-40B4-BE49-F238E27FC236}">
                  <a16:creationId xmlns:a16="http://schemas.microsoft.com/office/drawing/2014/main" id="{8247F8F6-5F70-4C7F-A9AD-B4780DF173D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Numbers</a:t>
              </a:r>
            </a:p>
          </p:txBody>
        </p:sp>
        <p:sp>
          <p:nvSpPr>
            <p:cNvPr id="25" name="직사각형 24">
              <a:extLst>
                <a:ext uri="{FF2B5EF4-FFF2-40B4-BE49-F238E27FC236}">
                  <a16:creationId xmlns:a16="http://schemas.microsoft.com/office/drawing/2014/main" id="{41102090-E1C9-4DE6-AEE6-F77E1509570D}"/>
                </a:ext>
              </a:extLst>
            </p:cNvPr>
            <p:cNvSpPr/>
            <p:nvPr/>
          </p:nvSpPr>
          <p:spPr>
            <a:xfrm>
              <a:off x="711201" y="1636956"/>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seaborn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library will be covered later in visualization, but here, it was used to import data.</a:t>
              </a:r>
            </a:p>
          </p:txBody>
        </p:sp>
      </p:grpSp>
    </p:spTree>
    <p:extLst>
      <p:ext uri="{BB962C8B-B14F-4D97-AF65-F5344CB8AC3E}">
        <p14:creationId xmlns:p14="http://schemas.microsoft.com/office/powerpoint/2010/main" val="99595834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8BB1A74A-0B1C-4232-894F-C7020862AFAF}"/>
              </a:ext>
            </a:extLst>
          </p:cNvPr>
          <p:cNvGrpSpPr/>
          <p:nvPr/>
        </p:nvGrpSpPr>
        <p:grpSpPr>
          <a:xfrm>
            <a:off x="561850" y="5024605"/>
            <a:ext cx="8782050" cy="1138070"/>
            <a:chOff x="561850" y="5381842"/>
            <a:chExt cx="8782050" cy="1138070"/>
          </a:xfrm>
        </p:grpSpPr>
        <p:grpSp>
          <p:nvGrpSpPr>
            <p:cNvPr id="10" name="그룹 9"/>
            <p:cNvGrpSpPr/>
            <p:nvPr/>
          </p:nvGrpSpPr>
          <p:grpSpPr>
            <a:xfrm>
              <a:off x="561850" y="5381842"/>
              <a:ext cx="8782050" cy="1138070"/>
              <a:chOff x="557644" y="5085181"/>
              <a:chExt cx="8782050" cy="1138070"/>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13807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3379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DataFrame by selecting two columns, age and fare, from the titanic dataset. </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946477"/>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5946477"/>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623450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Shows only the first five lines. </a:t>
              </a:r>
            </a:p>
          </p:txBody>
        </p:sp>
      </p:grpSp>
      <p:grpSp>
        <p:nvGrpSpPr>
          <p:cNvPr id="3" name="그룹 2">
            <a:extLst>
              <a:ext uri="{FF2B5EF4-FFF2-40B4-BE49-F238E27FC236}">
                <a16:creationId xmlns:a16="http://schemas.microsoft.com/office/drawing/2014/main" id="{F8BFAA1E-846A-493F-89A1-5C1F6A44F47C}"/>
              </a:ext>
            </a:extLst>
          </p:cNvPr>
          <p:cNvGrpSpPr/>
          <p:nvPr/>
        </p:nvGrpSpPr>
        <p:grpSpPr>
          <a:xfrm>
            <a:off x="558924" y="1700808"/>
            <a:ext cx="8782050" cy="3231648"/>
            <a:chOff x="558924" y="1864227"/>
            <a:chExt cx="8782050" cy="3231648"/>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864227"/>
              <a:ext cx="8782050" cy="32316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888" r="19718"/>
            <a:stretch/>
          </p:blipFill>
          <p:spPr>
            <a:xfrm>
              <a:off x="638174" y="1941878"/>
              <a:ext cx="8702800" cy="3040417"/>
            </a:xfrm>
            <a:prstGeom prst="rect">
              <a:avLst/>
            </a:prstGeom>
          </p:spPr>
        </p:pic>
      </p:grpSp>
      <p:sp>
        <p:nvSpPr>
          <p:cNvPr id="20" name="직사각형 19">
            <a:extLst>
              <a:ext uri="{FF2B5EF4-FFF2-40B4-BE49-F238E27FC236}">
                <a16:creationId xmlns:a16="http://schemas.microsoft.com/office/drawing/2014/main" id="{D9AC5217-353F-4CA0-98F1-6C98B3BFEDA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Numbers</a:t>
            </a:r>
          </a:p>
        </p:txBody>
      </p:sp>
    </p:spTree>
    <p:extLst>
      <p:ext uri="{BB962C8B-B14F-4D97-AF65-F5344CB8AC3E}">
        <p14:creationId xmlns:p14="http://schemas.microsoft.com/office/powerpoint/2010/main" val="189013640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692683"/>
            <a:ext cx="8782050" cy="28697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0" name="그룹 9"/>
          <p:cNvGrpSpPr/>
          <p:nvPr/>
        </p:nvGrpSpPr>
        <p:grpSpPr>
          <a:xfrm>
            <a:off x="561850" y="4651338"/>
            <a:ext cx="8782050" cy="1177962"/>
            <a:chOff x="557644" y="5085181"/>
            <a:chExt cx="8782050" cy="1177962"/>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17796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2796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10 to the DataFrame.</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210150"/>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5210150"/>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14-2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49818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Shows only the first five lines. </a:t>
            </a:r>
          </a:p>
        </p:txBody>
      </p:sp>
      <p:pic>
        <p:nvPicPr>
          <p:cNvPr id="3" name="그림 2"/>
          <p:cNvPicPr>
            <a:picLocks noChangeAspect="1"/>
          </p:cNvPicPr>
          <p:nvPr/>
        </p:nvPicPr>
        <p:blipFill rotWithShape="1">
          <a:blip r:embed="rId4"/>
          <a:srcRect l="1006" r="14289"/>
          <a:stretch/>
        </p:blipFill>
        <p:spPr>
          <a:xfrm>
            <a:off x="639299" y="1729449"/>
            <a:ext cx="8701675" cy="2762494"/>
          </a:xfrm>
          <a:prstGeom prst="rect">
            <a:avLst/>
          </a:prstGeom>
        </p:spPr>
      </p:pic>
      <p:sp>
        <p:nvSpPr>
          <p:cNvPr id="20" name="직사각형 19"/>
          <p:cNvSpPr/>
          <p:nvPr/>
        </p:nvSpPr>
        <p:spPr>
          <a:xfrm>
            <a:off x="711200" y="5858222"/>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While maintaining the form of the existing DataFrame, only the element value is replaced with a new calculated value and returned as a new DataFrame object.</a:t>
            </a:r>
          </a:p>
        </p:txBody>
      </p:sp>
      <p:sp>
        <p:nvSpPr>
          <p:cNvPr id="21" name="직사각형 20">
            <a:extLst>
              <a:ext uri="{FF2B5EF4-FFF2-40B4-BE49-F238E27FC236}">
                <a16:creationId xmlns:a16="http://schemas.microsoft.com/office/drawing/2014/main" id="{04224E79-9F78-434F-8507-79D10F9F8F2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Numbers</a:t>
            </a:r>
          </a:p>
        </p:txBody>
      </p:sp>
    </p:spTree>
    <p:extLst>
      <p:ext uri="{BB962C8B-B14F-4D97-AF65-F5344CB8AC3E}">
        <p14:creationId xmlns:p14="http://schemas.microsoft.com/office/powerpoint/2010/main" val="293211976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1" name="그룹 20"/>
          <p:cNvGrpSpPr/>
          <p:nvPr/>
        </p:nvGrpSpPr>
        <p:grpSpPr>
          <a:xfrm>
            <a:off x="561850" y="3051708"/>
            <a:ext cx="8782050" cy="737332"/>
            <a:chOff x="557644" y="5085181"/>
            <a:chExt cx="8782050" cy="737332"/>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Create a DataFrame by selecting two columns, age and fare, from the titanic dataset. </a:t>
              </a:r>
            </a:p>
          </p:txBody>
        </p:sp>
      </p:grpSp>
      <p:grpSp>
        <p:nvGrpSpPr>
          <p:cNvPr id="3" name="그룹 2">
            <a:extLst>
              <a:ext uri="{FF2B5EF4-FFF2-40B4-BE49-F238E27FC236}">
                <a16:creationId xmlns:a16="http://schemas.microsoft.com/office/drawing/2014/main" id="{88E2C806-2517-4D02-9D6A-725C1146CCE2}"/>
              </a:ext>
            </a:extLst>
          </p:cNvPr>
          <p:cNvGrpSpPr/>
          <p:nvPr/>
        </p:nvGrpSpPr>
        <p:grpSpPr>
          <a:xfrm>
            <a:off x="558924" y="2216188"/>
            <a:ext cx="8782050" cy="727694"/>
            <a:chOff x="558924" y="2348881"/>
            <a:chExt cx="8782050" cy="727694"/>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2348881"/>
              <a:ext cx="8782050" cy="72769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879" r="18947"/>
            <a:stretch/>
          </p:blipFill>
          <p:spPr>
            <a:xfrm>
              <a:off x="596759" y="2393030"/>
              <a:ext cx="8744215" cy="628920"/>
            </a:xfrm>
            <a:prstGeom prst="rect">
              <a:avLst/>
            </a:prstGeom>
          </p:spPr>
        </p:pic>
      </p:grpSp>
      <p:grpSp>
        <p:nvGrpSpPr>
          <p:cNvPr id="26" name="그룹 25">
            <a:extLst>
              <a:ext uri="{FF2B5EF4-FFF2-40B4-BE49-F238E27FC236}">
                <a16:creationId xmlns:a16="http://schemas.microsoft.com/office/drawing/2014/main" id="{F15E5240-63CD-4BBB-9695-BBBBF9047386}"/>
              </a:ext>
            </a:extLst>
          </p:cNvPr>
          <p:cNvGrpSpPr/>
          <p:nvPr/>
        </p:nvGrpSpPr>
        <p:grpSpPr>
          <a:xfrm>
            <a:off x="580388" y="1413381"/>
            <a:ext cx="8887612" cy="769091"/>
            <a:chOff x="580388" y="1413381"/>
            <a:chExt cx="8887612" cy="769091"/>
          </a:xfrm>
        </p:grpSpPr>
        <p:sp>
          <p:nvSpPr>
            <p:cNvPr id="27" name="직사각형 26">
              <a:extLst>
                <a:ext uri="{FF2B5EF4-FFF2-40B4-BE49-F238E27FC236}">
                  <a16:creationId xmlns:a16="http://schemas.microsoft.com/office/drawing/2014/main" id="{EC4730E1-6EC1-4465-ACE0-8FA9C9CD4F76}"/>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DataFrame</a:t>
              </a:r>
            </a:p>
          </p:txBody>
        </p:sp>
        <p:sp>
          <p:nvSpPr>
            <p:cNvPr id="28" name="직사각형 27">
              <a:extLst>
                <a:ext uri="{FF2B5EF4-FFF2-40B4-BE49-F238E27FC236}">
                  <a16:creationId xmlns:a16="http://schemas.microsoft.com/office/drawing/2014/main" id="{D6CE4F87-59B1-4A7E-86D1-7CE4E0957BEB}"/>
                </a:ext>
              </a:extLst>
            </p:cNvPr>
            <p:cNvSpPr/>
            <p:nvPr/>
          </p:nvSpPr>
          <p:spPr>
            <a:xfrm>
              <a:off x="711201" y="1636956"/>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Elements in the same row and column positions of each DataFrame are calculated. If the element is not present on either side or NaN, the calculation result is treated as NaN.</a:t>
              </a:r>
            </a:p>
          </p:txBody>
        </p:sp>
      </p:grpSp>
    </p:spTree>
    <p:extLst>
      <p:ext uri="{BB962C8B-B14F-4D97-AF65-F5344CB8AC3E}">
        <p14:creationId xmlns:p14="http://schemas.microsoft.com/office/powerpoint/2010/main" val="212425194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21" name="그룹 20"/>
          <p:cNvGrpSpPr/>
          <p:nvPr/>
        </p:nvGrpSpPr>
        <p:grpSpPr>
          <a:xfrm>
            <a:off x="561850" y="4995924"/>
            <a:ext cx="8782050" cy="737332"/>
            <a:chOff x="557644" y="5085181"/>
            <a:chExt cx="8782050" cy="737332"/>
          </a:xfrm>
        </p:grpSpPr>
        <p:sp>
          <p:nvSpPr>
            <p:cNvPr id="2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7373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5" name="TextBox 24">
              <a:extLst>
                <a:ext uri="{FF2B5EF4-FFF2-40B4-BE49-F238E27FC236}">
                  <a16:creationId xmlns:a16="http://schemas.microsoft.com/office/drawing/2014/main" id="{0800EE66-B78E-4CCD-A49E-31BBE412C7F6}"/>
                </a:ext>
              </a:extLst>
            </p:cNvPr>
            <p:cNvSpPr txBox="1"/>
            <p:nvPr/>
          </p:nvSpPr>
          <p:spPr>
            <a:xfrm>
              <a:off x="1021818" y="549208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Add 10 to the DataFrame.</a:t>
              </a:r>
            </a:p>
          </p:txBody>
        </p:sp>
      </p:grpSp>
      <p:grpSp>
        <p:nvGrpSpPr>
          <p:cNvPr id="2" name="그룹 1">
            <a:extLst>
              <a:ext uri="{FF2B5EF4-FFF2-40B4-BE49-F238E27FC236}">
                <a16:creationId xmlns:a16="http://schemas.microsoft.com/office/drawing/2014/main" id="{594A8398-6F10-41B1-8A3E-6B5DB6ACF174}"/>
              </a:ext>
            </a:extLst>
          </p:cNvPr>
          <p:cNvGrpSpPr/>
          <p:nvPr/>
        </p:nvGrpSpPr>
        <p:grpSpPr>
          <a:xfrm>
            <a:off x="558924" y="1727888"/>
            <a:ext cx="8782050" cy="3168352"/>
            <a:chOff x="558924" y="1772816"/>
            <a:chExt cx="8782050" cy="3168352"/>
          </a:xfrm>
        </p:grpSpPr>
        <p:sp>
          <p:nvSpPr>
            <p:cNvPr id="11" name="모서리가 둥근 직사각형 4">
              <a:extLst>
                <a:ext uri="{FF2B5EF4-FFF2-40B4-BE49-F238E27FC236}">
                  <a16:creationId xmlns:a16="http://schemas.microsoft.com/office/drawing/2014/main" id="{A36E3BA1-83BF-4EF9-8B22-BB45DE7AA1FC}"/>
                </a:ext>
              </a:extLst>
            </p:cNvPr>
            <p:cNvSpPr/>
            <p:nvPr/>
          </p:nvSpPr>
          <p:spPr>
            <a:xfrm>
              <a:off x="558924" y="1772816"/>
              <a:ext cx="8782050" cy="31683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4"/>
            <a:srcRect l="757" r="16358"/>
            <a:stretch/>
          </p:blipFill>
          <p:spPr>
            <a:xfrm>
              <a:off x="609600" y="1808376"/>
              <a:ext cx="8731374" cy="3044953"/>
            </a:xfrm>
            <a:prstGeom prst="rect">
              <a:avLst/>
            </a:prstGeom>
          </p:spPr>
        </p:pic>
      </p:grpSp>
      <p:sp>
        <p:nvSpPr>
          <p:cNvPr id="15" name="직사각형 14">
            <a:extLst>
              <a:ext uri="{FF2B5EF4-FFF2-40B4-BE49-F238E27FC236}">
                <a16:creationId xmlns:a16="http://schemas.microsoft.com/office/drawing/2014/main" id="{4003FCBB-0C45-4CD4-93AE-54D09E6EDCB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Numbers</a:t>
            </a:r>
          </a:p>
        </p:txBody>
      </p:sp>
    </p:spTree>
    <p:extLst>
      <p:ext uri="{BB962C8B-B14F-4D97-AF65-F5344CB8AC3E}">
        <p14:creationId xmlns:p14="http://schemas.microsoft.com/office/powerpoint/2010/main" val="262773661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그룹 7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80" name="직사각형 7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2.2. Pandas Series and DataFrames</a:t>
              </a:r>
              <a:endParaRPr lang="ko-KR" altLang="en-US" dirty="0">
                <a:solidFill>
                  <a:prstClr val="white"/>
                </a:solidFill>
                <a:latin typeface="SamsungSharpSans-Medium" pitchFamily="2" charset="0"/>
                <a:cs typeface="SamsungSharpSans-Medium" pitchFamily="2" charset="0"/>
              </a:endParaRPr>
            </a:p>
          </p:txBody>
        </p:sp>
        <p:sp>
          <p:nvSpPr>
            <p:cNvPr id="81" name="직사각형 8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F5735E1D-688E-46A5-A1E8-68F446FF0F04}"/>
              </a:ext>
            </a:extLst>
          </p:cNvPr>
          <p:cNvGrpSpPr/>
          <p:nvPr/>
        </p:nvGrpSpPr>
        <p:grpSpPr>
          <a:xfrm>
            <a:off x="561850" y="4853396"/>
            <a:ext cx="8782050" cy="1177417"/>
            <a:chOff x="561850" y="4851908"/>
            <a:chExt cx="8782050" cy="1177417"/>
          </a:xfrm>
        </p:grpSpPr>
        <p:grpSp>
          <p:nvGrpSpPr>
            <p:cNvPr id="10" name="그룹 9"/>
            <p:cNvGrpSpPr/>
            <p:nvPr/>
          </p:nvGrpSpPr>
          <p:grpSpPr>
            <a:xfrm>
              <a:off x="561850" y="4851908"/>
              <a:ext cx="8782050" cy="1177417"/>
              <a:chOff x="557644" y="5085181"/>
              <a:chExt cx="8782050" cy="1177417"/>
            </a:xfrm>
          </p:grpSpPr>
          <p:sp>
            <p:nvSpPr>
              <p:cNvPr id="12" name="모서리가 둥근 직사각형 4">
                <a:extLst>
                  <a:ext uri="{FF2B5EF4-FFF2-40B4-BE49-F238E27FC236}">
                    <a16:creationId xmlns:a16="http://schemas.microsoft.com/office/drawing/2014/main" id="{C3569CBD-5212-483A-A582-6794A42BDB63}"/>
                  </a:ext>
                </a:extLst>
              </p:cNvPr>
              <p:cNvSpPr/>
              <p:nvPr/>
            </p:nvSpPr>
            <p:spPr>
              <a:xfrm>
                <a:off x="557644" y="5085181"/>
                <a:ext cx="8782050" cy="117741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2397" y="5179924"/>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E836FE5-4E63-409C-97E4-2898B8159708}"/>
                  </a:ext>
                </a:extLst>
              </p:cNvPr>
              <p:cNvSpPr txBox="1"/>
              <p:nvPr/>
            </p:nvSpPr>
            <p:spPr>
              <a:xfrm>
                <a:off x="921178" y="5157192"/>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17-1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5" name="TextBox 14">
                <a:extLst>
                  <a:ext uri="{FF2B5EF4-FFF2-40B4-BE49-F238E27FC236}">
                    <a16:creationId xmlns:a16="http://schemas.microsoft.com/office/drawing/2014/main" id="{0800EE66-B78E-4CCD-A49E-31BBE412C7F6}"/>
                  </a:ext>
                </a:extLst>
              </p:cNvPr>
              <p:cNvSpPr txBox="1"/>
              <p:nvPr/>
            </p:nvSpPr>
            <p:spPr>
              <a:xfrm>
                <a:off x="1021818" y="5462473"/>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Calculate between DataFrames</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(additon - </a:t>
                </a:r>
                <a:r>
                  <a:rPr lang="en-US" altLang="ko-KR" sz="1300" dirty="0" err="1">
                    <a:solidFill>
                      <a:prstClr val="black">
                        <a:lumMod val="85000"/>
                        <a:lumOff val="15000"/>
                      </a:prstClr>
                    </a:solidFill>
                    <a:latin typeface="SamsungOne 400" panose="020B0503030303020204" pitchFamily="34" charset="0"/>
                  </a:rPr>
                  <a:t>df</a:t>
                </a:r>
                <a:r>
                  <a:rPr lang="en-US" altLang="ko-KR" sz="1300" dirty="0">
                    <a:solidFill>
                      <a:prstClr val="black">
                        <a:lumMod val="85000"/>
                        <a:lumOff val="15000"/>
                      </a:prstClr>
                    </a:solidFill>
                    <a:latin typeface="SamsungOne 400" panose="020B0503030303020204" pitchFamily="34" charset="0"/>
                  </a:rPr>
                  <a:t>).</a:t>
                </a:r>
              </a:p>
            </p:txBody>
          </p:sp>
        </p:grpSp>
        <p:pic>
          <p:nvPicPr>
            <p:cNvPr id="17"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60211" y="5483193"/>
              <a:ext cx="295715" cy="2369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E836FE5-4E63-409C-97E4-2898B8159708}"/>
                </a:ext>
              </a:extLst>
            </p:cNvPr>
            <p:cNvSpPr txBox="1"/>
            <p:nvPr/>
          </p:nvSpPr>
          <p:spPr>
            <a:xfrm>
              <a:off x="918992" y="5460461"/>
              <a:ext cx="2659325" cy="292387"/>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17-2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9" name="TextBox 18">
              <a:extLst>
                <a:ext uri="{FF2B5EF4-FFF2-40B4-BE49-F238E27FC236}">
                  <a16:creationId xmlns:a16="http://schemas.microsoft.com/office/drawing/2014/main" id="{0800EE66-B78E-4CCD-A49E-31BBE412C7F6}"/>
                </a:ext>
              </a:extLst>
            </p:cNvPr>
            <p:cNvSpPr txBox="1"/>
            <p:nvPr/>
          </p:nvSpPr>
          <p:spPr>
            <a:xfrm>
              <a:off x="1019632" y="5733256"/>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Shows only the last five lines. </a:t>
              </a:r>
            </a:p>
          </p:txBody>
        </p:sp>
      </p:grpSp>
      <p:grpSp>
        <p:nvGrpSpPr>
          <p:cNvPr id="4" name="그룹 3">
            <a:extLst>
              <a:ext uri="{FF2B5EF4-FFF2-40B4-BE49-F238E27FC236}">
                <a16:creationId xmlns:a16="http://schemas.microsoft.com/office/drawing/2014/main" id="{F3A2AD33-8B50-4054-B9B1-50BF9568ACE1}"/>
              </a:ext>
            </a:extLst>
          </p:cNvPr>
          <p:cNvGrpSpPr/>
          <p:nvPr/>
        </p:nvGrpSpPr>
        <p:grpSpPr>
          <a:xfrm>
            <a:off x="558924" y="1727888"/>
            <a:ext cx="8782051" cy="3025087"/>
            <a:chOff x="558924" y="1727888"/>
            <a:chExt cx="8782051" cy="3025087"/>
          </a:xfrm>
        </p:grpSpPr>
        <p:sp>
          <p:nvSpPr>
            <p:cNvPr id="21" name="모서리가 둥근 직사각형 4">
              <a:extLst>
                <a:ext uri="{FF2B5EF4-FFF2-40B4-BE49-F238E27FC236}">
                  <a16:creationId xmlns:a16="http://schemas.microsoft.com/office/drawing/2014/main" id="{BF3F3CEA-7347-44BA-9275-8ED89B65DA0C}"/>
                </a:ext>
              </a:extLst>
            </p:cNvPr>
            <p:cNvSpPr/>
            <p:nvPr/>
          </p:nvSpPr>
          <p:spPr>
            <a:xfrm>
              <a:off x="558924" y="1727888"/>
              <a:ext cx="8782050" cy="30250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4"/>
            <a:srcRect l="888" r="18273"/>
            <a:stretch/>
          </p:blipFill>
          <p:spPr>
            <a:xfrm>
              <a:off x="628649" y="1759843"/>
              <a:ext cx="8712326" cy="2902818"/>
            </a:xfrm>
            <a:prstGeom prst="rect">
              <a:avLst/>
            </a:prstGeom>
          </p:spPr>
        </p:pic>
      </p:grpSp>
      <p:sp>
        <p:nvSpPr>
          <p:cNvPr id="20" name="직사각형 19">
            <a:extLst>
              <a:ext uri="{FF2B5EF4-FFF2-40B4-BE49-F238E27FC236}">
                <a16:creationId xmlns:a16="http://schemas.microsoft.com/office/drawing/2014/main" id="{D0B87D0D-6174-4574-BE08-450723C3277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DataFrame vs. Numbers</a:t>
            </a:r>
          </a:p>
        </p:txBody>
      </p:sp>
    </p:spTree>
    <p:extLst>
      <p:ext uri="{BB962C8B-B14F-4D97-AF65-F5344CB8AC3E}">
        <p14:creationId xmlns:p14="http://schemas.microsoft.com/office/powerpoint/2010/main" val="425624011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그룹 33">
            <a:extLst>
              <a:ext uri="{FF2B5EF4-FFF2-40B4-BE49-F238E27FC236}">
                <a16:creationId xmlns:a16="http://schemas.microsoft.com/office/drawing/2014/main" id="{92222342-E7C1-4D3B-92E9-4C220D313A6F}"/>
              </a:ext>
            </a:extLst>
          </p:cNvPr>
          <p:cNvGrpSpPr/>
          <p:nvPr/>
        </p:nvGrpSpPr>
        <p:grpSpPr>
          <a:xfrm>
            <a:off x="989683" y="2748696"/>
            <a:ext cx="8354217" cy="3124387"/>
            <a:chOff x="989683" y="2748696"/>
            <a:chExt cx="8354217" cy="3124387"/>
          </a:xfrm>
        </p:grpSpPr>
        <p:sp>
          <p:nvSpPr>
            <p:cNvPr id="35" name="직사각형 133">
              <a:extLst>
                <a:ext uri="{FF2B5EF4-FFF2-40B4-BE49-F238E27FC236}">
                  <a16:creationId xmlns:a16="http://schemas.microsoft.com/office/drawing/2014/main" id="{670FB0E2-082B-4509-A996-8766389F22F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fontAlgn="base" latinLnBrk="1">
                <a:spcBef>
                  <a:spcPct val="0"/>
                </a:spcBef>
                <a:spcAft>
                  <a:spcPct val="0"/>
                </a:spcAft>
                <a:defRPr/>
              </a:pPr>
              <a:r>
                <a:rPr kumimoji="1" lang="en-US" altLang="ko-KR" sz="3400" dirty="0">
                  <a:solidFill>
                    <a:prstClr val="black"/>
                  </a:solidFill>
                  <a:latin typeface="Samsung Sharp Sans" pitchFamily="2" charset="0"/>
                  <a:ea typeface="Samsung Sharp Sans" pitchFamily="2" charset="0"/>
                  <a:cs typeface="Samsung Sharp Sans" pitchFamily="2" charset="0"/>
                </a:rPr>
                <a:t>Optimal Data Exploration Through Pandas</a:t>
              </a:r>
              <a:endParaRPr kumimoji="1" lang="ko-KR" altLang="en-US" sz="3400" dirty="0">
                <a:solidFill>
                  <a:prstClr val="black"/>
                </a:solidFill>
                <a:latin typeface="Samsung Sharp Sans" pitchFamily="2" charset="0"/>
                <a:cs typeface="Samsung Sharp Sans" pitchFamily="2" charset="0"/>
              </a:endParaRPr>
            </a:p>
          </p:txBody>
        </p:sp>
        <p:sp>
          <p:nvSpPr>
            <p:cNvPr id="36" name="직사각형 133">
              <a:extLst>
                <a:ext uri="{FF2B5EF4-FFF2-40B4-BE49-F238E27FC236}">
                  <a16:creationId xmlns:a16="http://schemas.microsoft.com/office/drawing/2014/main" id="{ABC20F91-AFEA-4FD6-9A3F-FE6290A3D139}"/>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2.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7" name="그룹 36">
              <a:extLst>
                <a:ext uri="{FF2B5EF4-FFF2-40B4-BE49-F238E27FC236}">
                  <a16:creationId xmlns:a16="http://schemas.microsoft.com/office/drawing/2014/main" id="{97AF80FA-4629-4B59-AC93-BD7BFC0754B0}"/>
                </a:ext>
              </a:extLst>
            </p:cNvPr>
            <p:cNvGrpSpPr/>
            <p:nvPr/>
          </p:nvGrpSpPr>
          <p:grpSpPr>
            <a:xfrm>
              <a:off x="1025537" y="4509120"/>
              <a:ext cx="8297776" cy="1363963"/>
              <a:chOff x="1025537" y="4609703"/>
              <a:chExt cx="8297776" cy="1363963"/>
            </a:xfrm>
          </p:grpSpPr>
          <p:sp>
            <p:nvSpPr>
              <p:cNvPr id="38" name="직사각형 37">
                <a:extLst>
                  <a:ext uri="{FF2B5EF4-FFF2-40B4-BE49-F238E27FC236}">
                    <a16:creationId xmlns:a16="http://schemas.microsoft.com/office/drawing/2014/main" id="{F028663D-60B3-45CC-BA52-A806672A9D4A}"/>
                  </a:ext>
                </a:extLst>
              </p:cNvPr>
              <p:cNvSpPr/>
              <p:nvPr/>
            </p:nvSpPr>
            <p:spPr>
              <a:xfrm>
                <a:off x="1025537" y="4609703"/>
                <a:ext cx="4185332" cy="136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2.1. Pipelines: Data Structures According to Data Types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2.2. Pandas Series and DataFrames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2.3. Merging and Binding DataFrames</a:t>
                </a:r>
              </a:p>
            </p:txBody>
          </p:sp>
          <p:sp>
            <p:nvSpPr>
              <p:cNvPr id="39" name="직사각형 38">
                <a:extLst>
                  <a:ext uri="{FF2B5EF4-FFF2-40B4-BE49-F238E27FC236}">
                    <a16:creationId xmlns:a16="http://schemas.microsoft.com/office/drawing/2014/main" id="{12880166-340D-4A6A-973D-3B7E5B916869}"/>
                  </a:ext>
                </a:extLst>
              </p:cNvPr>
              <p:cNvSpPr/>
              <p:nvPr/>
            </p:nvSpPr>
            <p:spPr>
              <a:xfrm>
                <a:off x="5137981" y="4609703"/>
                <a:ext cx="4185332" cy="12357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2.4. DataFrame Sorting and Multi-Index</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2.5. Examining the Characteristics of Data Through Descriptive Statistics and Data Samples</a:t>
                </a:r>
                <a:endParaRPr kumimoji="1" lang="ko-KR" altLang="en-US" sz="1799" dirty="0">
                  <a:solidFill>
                    <a:prstClr val="white">
                      <a:lumMod val="65000"/>
                    </a:prstClr>
                  </a:solidFill>
                  <a:latin typeface="SamsungOne-400" panose="020B0503030303020204" pitchFamily="34" charset="0"/>
                  <a:ea typeface="SamsungOne-400" panose="020B0503030303020204" pitchFamily="34" charset="0"/>
                </a:endParaRPr>
              </a:p>
            </p:txBody>
          </p:sp>
        </p:grpSp>
      </p:grpSp>
    </p:spTree>
    <p:extLst>
      <p:ext uri="{BB962C8B-B14F-4D97-AF65-F5344CB8AC3E}">
        <p14:creationId xmlns:p14="http://schemas.microsoft.com/office/powerpoint/2010/main" val="358793433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able 4">
            <a:extLst>
              <a:ext uri="{FF2B5EF4-FFF2-40B4-BE49-F238E27FC236}">
                <a16:creationId xmlns:a16="http://schemas.microsoft.com/office/drawing/2014/main" id="{EED9E90C-2C64-4842-935E-CF44A8576479}"/>
              </a:ext>
            </a:extLst>
          </p:cNvPr>
          <p:cNvGraphicFramePr>
            <a:graphicFrameLocks noGrp="1"/>
          </p:cNvGraphicFramePr>
          <p:nvPr>
            <p:extLst>
              <p:ext uri="{D42A27DB-BD31-4B8C-83A1-F6EECF244321}">
                <p14:modId xmlns:p14="http://schemas.microsoft.com/office/powerpoint/2010/main" val="936256249"/>
              </p:ext>
            </p:extLst>
          </p:nvPr>
        </p:nvGraphicFramePr>
        <p:xfrm>
          <a:off x="699295" y="4142044"/>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45" name="Table 19">
            <a:extLst>
              <a:ext uri="{FF2B5EF4-FFF2-40B4-BE49-F238E27FC236}">
                <a16:creationId xmlns:a16="http://schemas.microsoft.com/office/drawing/2014/main" id="{53DAEC5B-013C-41FB-A53B-C3E5925CA421}"/>
              </a:ext>
            </a:extLst>
          </p:cNvPr>
          <p:cNvGraphicFramePr>
            <a:graphicFrameLocks noGrp="1"/>
          </p:cNvGraphicFramePr>
          <p:nvPr>
            <p:extLst>
              <p:ext uri="{D42A27DB-BD31-4B8C-83A1-F6EECF244321}">
                <p14:modId xmlns:p14="http://schemas.microsoft.com/office/powerpoint/2010/main" val="1474051984"/>
              </p:ext>
            </p:extLst>
          </p:nvPr>
        </p:nvGraphicFramePr>
        <p:xfrm>
          <a:off x="5579265" y="4142282"/>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47" name="그룹 46">
            <a:extLst>
              <a:ext uri="{FF2B5EF4-FFF2-40B4-BE49-F238E27FC236}">
                <a16:creationId xmlns:a16="http://schemas.microsoft.com/office/drawing/2014/main" id="{F5A86451-F4D5-4EC7-8265-0D3908355D1D}"/>
              </a:ext>
            </a:extLst>
          </p:cNvPr>
          <p:cNvGrpSpPr/>
          <p:nvPr/>
        </p:nvGrpSpPr>
        <p:grpSpPr>
          <a:xfrm>
            <a:off x="1945676" y="2564904"/>
            <a:ext cx="1287239" cy="1287239"/>
            <a:chOff x="12525064" y="1807108"/>
            <a:chExt cx="1584176" cy="1584176"/>
          </a:xfrm>
        </p:grpSpPr>
        <p:sp>
          <p:nvSpPr>
            <p:cNvPr id="48"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49" name="TextBox 48">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50" name="그룹 49">
            <a:extLst>
              <a:ext uri="{FF2B5EF4-FFF2-40B4-BE49-F238E27FC236}">
                <a16:creationId xmlns:a16="http://schemas.microsoft.com/office/drawing/2014/main" id="{08BA71DE-8A59-4463-9861-F9073AD73FEB}"/>
              </a:ext>
            </a:extLst>
          </p:cNvPr>
          <p:cNvGrpSpPr/>
          <p:nvPr/>
        </p:nvGrpSpPr>
        <p:grpSpPr>
          <a:xfrm>
            <a:off x="6825646" y="2564904"/>
            <a:ext cx="1287239" cy="1287239"/>
            <a:chOff x="18141687" y="1807108"/>
            <a:chExt cx="1584176" cy="1584176"/>
          </a:xfrm>
        </p:grpSpPr>
        <p:sp>
          <p:nvSpPr>
            <p:cNvPr id="51"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52" name="TextBox 51">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sp>
        <p:nvSpPr>
          <p:cNvPr id="16" name="직사각형 15">
            <a:extLst>
              <a:ext uri="{FF2B5EF4-FFF2-40B4-BE49-F238E27FC236}">
                <a16:creationId xmlns:a16="http://schemas.microsoft.com/office/drawing/2014/main" id="{58B1BC1D-DFB7-4482-BA23-F01AD71B1BBE}"/>
              </a:ext>
            </a:extLst>
          </p:cNvPr>
          <p:cNvSpPr/>
          <p:nvPr/>
        </p:nvSpPr>
        <p:spPr>
          <a:xfrm>
            <a:off x="450378" y="1371248"/>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DataFrame Manipulation</a:t>
            </a:r>
          </a:p>
        </p:txBody>
      </p:sp>
      <p:grpSp>
        <p:nvGrpSpPr>
          <p:cNvPr id="20" name="그룹 1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1" name="직사각형 2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2" name="직사각형 2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8" name="직사각형 17">
            <a:extLst>
              <a:ext uri="{FF2B5EF4-FFF2-40B4-BE49-F238E27FC236}">
                <a16:creationId xmlns:a16="http://schemas.microsoft.com/office/drawing/2014/main" id="{FBC15F59-A4D7-4968-A7E8-5C861EF87111}"/>
              </a:ext>
            </a:extLst>
          </p:cNvPr>
          <p:cNvSpPr/>
          <p:nvPr/>
        </p:nvSpPr>
        <p:spPr>
          <a:xfrm>
            <a:off x="507606" y="1854349"/>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a:t>
            </a:r>
          </a:p>
        </p:txBody>
      </p:sp>
    </p:spTree>
    <p:extLst>
      <p:ext uri="{BB962C8B-B14F-4D97-AF65-F5344CB8AC3E}">
        <p14:creationId xmlns:p14="http://schemas.microsoft.com/office/powerpoint/2010/main" val="75370425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Table 4">
            <a:extLst>
              <a:ext uri="{FF2B5EF4-FFF2-40B4-BE49-F238E27FC236}">
                <a16:creationId xmlns:a16="http://schemas.microsoft.com/office/drawing/2014/main" id="{51AAE296-C5D2-42BC-8C9C-99C19223B94C}"/>
              </a:ext>
            </a:extLst>
          </p:cNvPr>
          <p:cNvGraphicFramePr>
            <a:graphicFrameLocks noGrp="1"/>
          </p:cNvGraphicFramePr>
          <p:nvPr>
            <p:extLst>
              <p:ext uri="{D42A27DB-BD31-4B8C-83A1-F6EECF244321}">
                <p14:modId xmlns:p14="http://schemas.microsoft.com/office/powerpoint/2010/main" val="1600730840"/>
              </p:ext>
            </p:extLst>
          </p:nvPr>
        </p:nvGraphicFramePr>
        <p:xfrm>
          <a:off x="699295" y="3646167"/>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33" name="Table 19">
            <a:extLst>
              <a:ext uri="{FF2B5EF4-FFF2-40B4-BE49-F238E27FC236}">
                <a16:creationId xmlns:a16="http://schemas.microsoft.com/office/drawing/2014/main" id="{C845231E-2A6F-4F2E-BA43-E916AE91C9BF}"/>
              </a:ext>
            </a:extLst>
          </p:cNvPr>
          <p:cNvGraphicFramePr>
            <a:graphicFrameLocks noGrp="1"/>
          </p:cNvGraphicFramePr>
          <p:nvPr>
            <p:extLst>
              <p:ext uri="{D42A27DB-BD31-4B8C-83A1-F6EECF244321}">
                <p14:modId xmlns:p14="http://schemas.microsoft.com/office/powerpoint/2010/main" val="4263296643"/>
              </p:ext>
            </p:extLst>
          </p:nvPr>
        </p:nvGraphicFramePr>
        <p:xfrm>
          <a:off x="5579265" y="3646405"/>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grpSp>
        <p:nvGrpSpPr>
          <p:cNvPr id="15" name="그룹 14">
            <a:extLst>
              <a:ext uri="{FF2B5EF4-FFF2-40B4-BE49-F238E27FC236}">
                <a16:creationId xmlns:a16="http://schemas.microsoft.com/office/drawing/2014/main" id="{F5A86451-F4D5-4EC7-8265-0D3908355D1D}"/>
              </a:ext>
            </a:extLst>
          </p:cNvPr>
          <p:cNvGrpSpPr/>
          <p:nvPr/>
        </p:nvGrpSpPr>
        <p:grpSpPr>
          <a:xfrm>
            <a:off x="1945676" y="2069027"/>
            <a:ext cx="1287239" cy="1287239"/>
            <a:chOff x="12525064" y="1807108"/>
            <a:chExt cx="1584176" cy="1584176"/>
          </a:xfrm>
        </p:grpSpPr>
        <p:sp>
          <p:nvSpPr>
            <p:cNvPr id="16"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17" name="TextBox 16">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18" name="그룹 17">
            <a:extLst>
              <a:ext uri="{FF2B5EF4-FFF2-40B4-BE49-F238E27FC236}">
                <a16:creationId xmlns:a16="http://schemas.microsoft.com/office/drawing/2014/main" id="{08BA71DE-8A59-4463-9861-F9073AD73FEB}"/>
              </a:ext>
            </a:extLst>
          </p:cNvPr>
          <p:cNvGrpSpPr/>
          <p:nvPr/>
        </p:nvGrpSpPr>
        <p:grpSpPr>
          <a:xfrm>
            <a:off x="6825646" y="2069027"/>
            <a:ext cx="1287239" cy="1287239"/>
            <a:chOff x="18141687" y="1807108"/>
            <a:chExt cx="1584176" cy="1584176"/>
          </a:xfrm>
        </p:grpSpPr>
        <p:sp>
          <p:nvSpPr>
            <p:cNvPr id="24"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25" name="TextBox 24">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grpSp>
        <p:nvGrpSpPr>
          <p:cNvPr id="21" name="그룹 20">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2" name="직사각형 21">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3" name="직사각형 22">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9" name="직사각형 18">
            <a:extLst>
              <a:ext uri="{FF2B5EF4-FFF2-40B4-BE49-F238E27FC236}">
                <a16:creationId xmlns:a16="http://schemas.microsoft.com/office/drawing/2014/main" id="{7F55488A-78AD-4D3A-B58A-DDC281E949E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a:t>
            </a:r>
            <a:r>
              <a:rPr lang="en-US" altLang="ko-KR" sz="1400" dirty="0" err="1">
                <a:solidFill>
                  <a:schemeClr val="tx1"/>
                </a:solidFill>
                <a:latin typeface="SamsungOne 400" panose="020B0503030303020204" pitchFamily="34" charset="0"/>
                <a:ea typeface="SamsungOne 400" panose="020B0503030303020204" pitchFamily="34" charset="0"/>
              </a:rPr>
              <a:t>A.Name</a:t>
            </a:r>
            <a:r>
              <a:rPr lang="en-US" altLang="ko-KR" sz="1400" dirty="0">
                <a:solidFill>
                  <a:schemeClr val="tx1"/>
                </a:solidFill>
                <a:latin typeface="SamsungOne 400" panose="020B0503030303020204" pitchFamily="34" charset="0"/>
                <a:ea typeface="SamsungOne 400" panose="020B0503030303020204" pitchFamily="34" charset="0"/>
              </a:rPr>
              <a:t> and </a:t>
            </a:r>
            <a:r>
              <a:rPr lang="en-US" altLang="ko-KR" sz="1400" dirty="0" err="1">
                <a:solidFill>
                  <a:schemeClr val="tx1"/>
                </a:solidFill>
                <a:latin typeface="SamsungOne 400" panose="020B0503030303020204" pitchFamily="34" charset="0"/>
                <a:ea typeface="SamsungOne 400" panose="020B0503030303020204" pitchFamily="34" charset="0"/>
              </a:rPr>
              <a:t>B.Name</a:t>
            </a:r>
            <a:r>
              <a:rPr lang="en-US" altLang="ko-KR" sz="1400" dirty="0">
                <a:solidFill>
                  <a:schemeClr val="tx1"/>
                </a:solidFill>
                <a:latin typeface="SamsungOne 400" panose="020B0503030303020204" pitchFamily="34" charset="0"/>
                <a:ea typeface="SamsungOne 400" panose="020B0503030303020204" pitchFamily="34" charset="0"/>
              </a:rPr>
              <a:t> used as keys</a:t>
            </a:r>
          </a:p>
        </p:txBody>
      </p:sp>
    </p:spTree>
    <p:extLst>
      <p:ext uri="{BB962C8B-B14F-4D97-AF65-F5344CB8AC3E}">
        <p14:creationId xmlns:p14="http://schemas.microsoft.com/office/powerpoint/2010/main" val="161636553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able 4">
            <a:extLst>
              <a:ext uri="{FF2B5EF4-FFF2-40B4-BE49-F238E27FC236}">
                <a16:creationId xmlns:a16="http://schemas.microsoft.com/office/drawing/2014/main" id="{8C4C9508-25C9-485E-A84E-D5279D2CB144}"/>
              </a:ext>
            </a:extLst>
          </p:cNvPr>
          <p:cNvGraphicFramePr>
            <a:graphicFrameLocks noGrp="1"/>
          </p:cNvGraphicFramePr>
          <p:nvPr>
            <p:extLst>
              <p:ext uri="{D42A27DB-BD31-4B8C-83A1-F6EECF244321}">
                <p14:modId xmlns:p14="http://schemas.microsoft.com/office/powerpoint/2010/main" val="1742401007"/>
              </p:ext>
            </p:extLst>
          </p:nvPr>
        </p:nvGraphicFramePr>
        <p:xfrm>
          <a:off x="699295" y="3644473"/>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45" name="Table 19">
            <a:extLst>
              <a:ext uri="{FF2B5EF4-FFF2-40B4-BE49-F238E27FC236}">
                <a16:creationId xmlns:a16="http://schemas.microsoft.com/office/drawing/2014/main" id="{679B1029-10A3-4BBB-ADB8-B66B1BFAB31E}"/>
              </a:ext>
            </a:extLst>
          </p:cNvPr>
          <p:cNvGraphicFramePr>
            <a:graphicFrameLocks noGrp="1"/>
          </p:cNvGraphicFramePr>
          <p:nvPr>
            <p:extLst>
              <p:ext uri="{D42A27DB-BD31-4B8C-83A1-F6EECF244321}">
                <p14:modId xmlns:p14="http://schemas.microsoft.com/office/powerpoint/2010/main" val="1708601026"/>
              </p:ext>
            </p:extLst>
          </p:nvPr>
        </p:nvGraphicFramePr>
        <p:xfrm>
          <a:off x="5579265" y="3644711"/>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cxnSp>
        <p:nvCxnSpPr>
          <p:cNvPr id="39" name="Straight Connector 5">
            <a:extLst>
              <a:ext uri="{FF2B5EF4-FFF2-40B4-BE49-F238E27FC236}">
                <a16:creationId xmlns:a16="http://schemas.microsoft.com/office/drawing/2014/main" id="{4AEDB801-B095-408B-AB39-8D5C16B7FBC4}"/>
              </a:ext>
            </a:extLst>
          </p:cNvPr>
          <p:cNvCxnSpPr>
            <a:cxnSpLocks/>
          </p:cNvCxnSpPr>
          <p:nvPr/>
        </p:nvCxnSpPr>
        <p:spPr>
          <a:xfrm>
            <a:off x="701040" y="438785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
            <a:extLst>
              <a:ext uri="{FF2B5EF4-FFF2-40B4-BE49-F238E27FC236}">
                <a16:creationId xmlns:a16="http://schemas.microsoft.com/office/drawing/2014/main" id="{A4A12FC8-4803-468B-9655-213FCD2A5BF0}"/>
              </a:ext>
            </a:extLst>
          </p:cNvPr>
          <p:cNvCxnSpPr>
            <a:cxnSpLocks/>
          </p:cNvCxnSpPr>
          <p:nvPr/>
        </p:nvCxnSpPr>
        <p:spPr>
          <a:xfrm>
            <a:off x="701040" y="497713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
            <a:extLst>
              <a:ext uri="{FF2B5EF4-FFF2-40B4-BE49-F238E27FC236}">
                <a16:creationId xmlns:a16="http://schemas.microsoft.com/office/drawing/2014/main" id="{2D4F6DDC-36D8-4D3A-A450-D8E79F787946}"/>
              </a:ext>
            </a:extLst>
          </p:cNvPr>
          <p:cNvCxnSpPr>
            <a:cxnSpLocks/>
          </p:cNvCxnSpPr>
          <p:nvPr/>
        </p:nvCxnSpPr>
        <p:spPr>
          <a:xfrm>
            <a:off x="5562600" y="467774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
            <a:extLst>
              <a:ext uri="{FF2B5EF4-FFF2-40B4-BE49-F238E27FC236}">
                <a16:creationId xmlns:a16="http://schemas.microsoft.com/office/drawing/2014/main" id="{53C7B54D-4E88-45B4-992E-4C048929D722}"/>
              </a:ext>
            </a:extLst>
          </p:cNvPr>
          <p:cNvCxnSpPr>
            <a:cxnSpLocks/>
          </p:cNvCxnSpPr>
          <p:nvPr/>
        </p:nvCxnSpPr>
        <p:spPr>
          <a:xfrm>
            <a:off x="5562600" y="438785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8" name="자유형: 도형 57">
            <a:extLst>
              <a:ext uri="{FF2B5EF4-FFF2-40B4-BE49-F238E27FC236}">
                <a16:creationId xmlns:a16="http://schemas.microsoft.com/office/drawing/2014/main" id="{A220686D-7993-42D4-AB78-32C4000A149A}"/>
              </a:ext>
            </a:extLst>
          </p:cNvPr>
          <p:cNvSpPr/>
          <p:nvPr/>
        </p:nvSpPr>
        <p:spPr>
          <a:xfrm>
            <a:off x="4541520" y="5000027"/>
            <a:ext cx="960120" cy="277368"/>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sp>
        <p:nvSpPr>
          <p:cNvPr id="61" name="자유형: 도형 60">
            <a:extLst>
              <a:ext uri="{FF2B5EF4-FFF2-40B4-BE49-F238E27FC236}">
                <a16:creationId xmlns:a16="http://schemas.microsoft.com/office/drawing/2014/main" id="{D02E47EF-9F6B-4D28-86B9-4AE49A93A7A5}"/>
              </a:ext>
            </a:extLst>
          </p:cNvPr>
          <p:cNvSpPr/>
          <p:nvPr/>
        </p:nvSpPr>
        <p:spPr>
          <a:xfrm>
            <a:off x="4541520" y="4111015"/>
            <a:ext cx="960120" cy="576445"/>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cxnSp>
        <p:nvCxnSpPr>
          <p:cNvPr id="62" name="Straight Connector 5">
            <a:extLst>
              <a:ext uri="{FF2B5EF4-FFF2-40B4-BE49-F238E27FC236}">
                <a16:creationId xmlns:a16="http://schemas.microsoft.com/office/drawing/2014/main" id="{12ED6EBB-57EE-4BB4-8A4C-A87AF8F6853C}"/>
              </a:ext>
            </a:extLst>
          </p:cNvPr>
          <p:cNvCxnSpPr>
            <a:cxnSpLocks/>
          </p:cNvCxnSpPr>
          <p:nvPr/>
        </p:nvCxnSpPr>
        <p:spPr>
          <a:xfrm>
            <a:off x="701040" y="408305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F5A86451-F4D5-4EC7-8265-0D3908355D1D}"/>
              </a:ext>
            </a:extLst>
          </p:cNvPr>
          <p:cNvGrpSpPr/>
          <p:nvPr/>
        </p:nvGrpSpPr>
        <p:grpSpPr>
          <a:xfrm>
            <a:off x="1945676" y="2067333"/>
            <a:ext cx="1287239" cy="1287239"/>
            <a:chOff x="12525064" y="1807108"/>
            <a:chExt cx="1584176" cy="1584176"/>
          </a:xfrm>
        </p:grpSpPr>
        <p:sp>
          <p:nvSpPr>
            <p:cNvPr id="23"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24" name="TextBox 23">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25" name="그룹 24">
            <a:extLst>
              <a:ext uri="{FF2B5EF4-FFF2-40B4-BE49-F238E27FC236}">
                <a16:creationId xmlns:a16="http://schemas.microsoft.com/office/drawing/2014/main" id="{08BA71DE-8A59-4463-9861-F9073AD73FEB}"/>
              </a:ext>
            </a:extLst>
          </p:cNvPr>
          <p:cNvGrpSpPr/>
          <p:nvPr/>
        </p:nvGrpSpPr>
        <p:grpSpPr>
          <a:xfrm>
            <a:off x="6825646" y="2067333"/>
            <a:ext cx="1287239" cy="1287239"/>
            <a:chOff x="18141687" y="1807108"/>
            <a:chExt cx="1584176" cy="1584176"/>
          </a:xfrm>
        </p:grpSpPr>
        <p:sp>
          <p:nvSpPr>
            <p:cNvPr id="31"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32" name="TextBox 31">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grpSp>
        <p:nvGrpSpPr>
          <p:cNvPr id="28" name="그룹 27">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9" name="직사각형 28">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30" name="직사각형 29">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6" name="직사각형 25">
            <a:extLst>
              <a:ext uri="{FF2B5EF4-FFF2-40B4-BE49-F238E27FC236}">
                <a16:creationId xmlns:a16="http://schemas.microsoft.com/office/drawing/2014/main" id="{69AF6C0A-3764-4C9A-BDEE-0DF3A4463AA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Inner join</a:t>
            </a:r>
          </a:p>
        </p:txBody>
      </p:sp>
    </p:spTree>
    <p:extLst>
      <p:ext uri="{BB962C8B-B14F-4D97-AF65-F5344CB8AC3E}">
        <p14:creationId xmlns:p14="http://schemas.microsoft.com/office/powerpoint/2010/main" val="62547497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4">
            <a:extLst>
              <a:ext uri="{FF2B5EF4-FFF2-40B4-BE49-F238E27FC236}">
                <a16:creationId xmlns:a16="http://schemas.microsoft.com/office/drawing/2014/main" id="{609A12CE-FAB8-4A29-BBFC-EFF444AC9226}"/>
              </a:ext>
            </a:extLst>
          </p:cNvPr>
          <p:cNvGraphicFramePr>
            <a:graphicFrameLocks noGrp="1"/>
          </p:cNvGraphicFramePr>
          <p:nvPr>
            <p:extLst>
              <p:ext uri="{D42A27DB-BD31-4B8C-83A1-F6EECF244321}">
                <p14:modId xmlns:p14="http://schemas.microsoft.com/office/powerpoint/2010/main" val="556071119"/>
              </p:ext>
            </p:extLst>
          </p:nvPr>
        </p:nvGraphicFramePr>
        <p:xfrm>
          <a:off x="699295" y="3782004"/>
          <a:ext cx="8659970" cy="902400"/>
        </p:xfrm>
        <a:graphic>
          <a:graphicData uri="http://schemas.openxmlformats.org/drawingml/2006/table">
            <a:tbl>
              <a:tblPr firstRow="1" bandRow="1">
                <a:tableStyleId>{5940675A-B579-460E-94D1-54222C63F5DA}</a:tableStyleId>
              </a:tblPr>
              <a:tblGrid>
                <a:gridCol w="1530864">
                  <a:extLst>
                    <a:ext uri="{9D8B030D-6E8A-4147-A177-3AD203B41FA5}">
                      <a16:colId xmlns:a16="http://schemas.microsoft.com/office/drawing/2014/main" val="20000"/>
                    </a:ext>
                  </a:extLst>
                </a:gridCol>
                <a:gridCol w="1309702">
                  <a:extLst>
                    <a:ext uri="{9D8B030D-6E8A-4147-A177-3AD203B41FA5}">
                      <a16:colId xmlns:a16="http://schemas.microsoft.com/office/drawing/2014/main" val="20001"/>
                    </a:ext>
                  </a:extLst>
                </a:gridCol>
                <a:gridCol w="1385020">
                  <a:extLst>
                    <a:ext uri="{9D8B030D-6E8A-4147-A177-3AD203B41FA5}">
                      <a16:colId xmlns:a16="http://schemas.microsoft.com/office/drawing/2014/main" val="20002"/>
                    </a:ext>
                  </a:extLst>
                </a:gridCol>
                <a:gridCol w="1757427">
                  <a:extLst>
                    <a:ext uri="{9D8B030D-6E8A-4147-A177-3AD203B41FA5}">
                      <a16:colId xmlns:a16="http://schemas.microsoft.com/office/drawing/2014/main" val="1767892721"/>
                    </a:ext>
                  </a:extLst>
                </a:gridCol>
                <a:gridCol w="1221830">
                  <a:extLst>
                    <a:ext uri="{9D8B030D-6E8A-4147-A177-3AD203B41FA5}">
                      <a16:colId xmlns:a16="http://schemas.microsoft.com/office/drawing/2014/main" val="774661330"/>
                    </a:ext>
                  </a:extLst>
                </a:gridCol>
                <a:gridCol w="1455127">
                  <a:extLst>
                    <a:ext uri="{9D8B030D-6E8A-4147-A177-3AD203B41FA5}">
                      <a16:colId xmlns:a16="http://schemas.microsoft.com/office/drawing/2014/main" val="1836977935"/>
                    </a:ext>
                  </a:extLst>
                </a:gridCol>
              </a:tblGrid>
              <a:tr h="298800">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A.Name</a:t>
                      </a: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B.Name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8800">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pSp>
        <p:nvGrpSpPr>
          <p:cNvPr id="5" name="그룹 4"/>
          <p:cNvGrpSpPr/>
          <p:nvPr/>
        </p:nvGrpSpPr>
        <p:grpSpPr>
          <a:xfrm>
            <a:off x="3853896" y="2204864"/>
            <a:ext cx="2195033" cy="1287239"/>
            <a:chOff x="3853896" y="2705299"/>
            <a:chExt cx="2195033" cy="1287239"/>
          </a:xfrm>
        </p:grpSpPr>
        <p:grpSp>
          <p:nvGrpSpPr>
            <p:cNvPr id="2" name="그룹 1"/>
            <p:cNvGrpSpPr/>
            <p:nvPr/>
          </p:nvGrpSpPr>
          <p:grpSpPr>
            <a:xfrm>
              <a:off x="3853896" y="2705299"/>
              <a:ext cx="2195033" cy="1287239"/>
              <a:chOff x="5917852" y="2705299"/>
              <a:chExt cx="2195033" cy="1287239"/>
            </a:xfrm>
          </p:grpSpPr>
          <p:sp>
            <p:nvSpPr>
              <p:cNvPr id="16" name="Oval 3">
                <a:extLst>
                  <a:ext uri="{FF2B5EF4-FFF2-40B4-BE49-F238E27FC236}">
                    <a16:creationId xmlns:a16="http://schemas.microsoft.com/office/drawing/2014/main" id="{C3A2620E-F710-44ED-91A1-92594597DCB8}"/>
                  </a:ext>
                </a:extLst>
              </p:cNvPr>
              <p:cNvSpPr/>
              <p:nvPr/>
            </p:nvSpPr>
            <p:spPr>
              <a:xfrm>
                <a:off x="5917852" y="2705299"/>
                <a:ext cx="1287239" cy="1287239"/>
              </a:xfrm>
              <a:prstGeom prst="ellipse">
                <a:avLst/>
              </a:prstGeom>
              <a:solidFill>
                <a:schemeClr val="bg1">
                  <a:alpha val="2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19" name="Oval 16">
                <a:extLst>
                  <a:ext uri="{FF2B5EF4-FFF2-40B4-BE49-F238E27FC236}">
                    <a16:creationId xmlns:a16="http://schemas.microsoft.com/office/drawing/2014/main" id="{3D63BBA8-13FD-4824-88B8-2D454435DC2A}"/>
                  </a:ext>
                </a:extLst>
              </p:cNvPr>
              <p:cNvSpPr/>
              <p:nvPr/>
            </p:nvSpPr>
            <p:spPr>
              <a:xfrm>
                <a:off x="6825646" y="2705299"/>
                <a:ext cx="1287239" cy="1287239"/>
              </a:xfrm>
              <a:prstGeom prst="ellipse">
                <a:avLst/>
              </a:prstGeom>
              <a:solidFill>
                <a:schemeClr val="bg1">
                  <a:alpha val="2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grpSp>
        <p:sp>
          <p:nvSpPr>
            <p:cNvPr id="25" name="자유형 24">
              <a:extLst>
                <a:ext uri="{FF2B5EF4-FFF2-40B4-BE49-F238E27FC236}">
                  <a16:creationId xmlns:a16="http://schemas.microsoft.com/office/drawing/2014/main" id="{C3A2620E-F710-44ED-91A1-92594597DCB8}"/>
                </a:ext>
              </a:extLst>
            </p:cNvPr>
            <p:cNvSpPr/>
            <p:nvPr/>
          </p:nvSpPr>
          <p:spPr>
            <a:xfrm>
              <a:off x="4761689" y="2892812"/>
              <a:ext cx="379446" cy="912215"/>
            </a:xfrm>
            <a:custGeom>
              <a:avLst/>
              <a:gdLst>
                <a:gd name="connsiteX0" fmla="*/ 189723 w 379446"/>
                <a:gd name="connsiteY0" fmla="*/ 0 h 912215"/>
                <a:gd name="connsiteX1" fmla="*/ 190934 w 379446"/>
                <a:gd name="connsiteY1" fmla="*/ 999 h 912215"/>
                <a:gd name="connsiteX2" fmla="*/ 379446 w 379446"/>
                <a:gd name="connsiteY2" fmla="*/ 456107 h 912215"/>
                <a:gd name="connsiteX3" fmla="*/ 190934 w 379446"/>
                <a:gd name="connsiteY3" fmla="*/ 911215 h 912215"/>
                <a:gd name="connsiteX4" fmla="*/ 189723 w 379446"/>
                <a:gd name="connsiteY4" fmla="*/ 912215 h 912215"/>
                <a:gd name="connsiteX5" fmla="*/ 188512 w 379446"/>
                <a:gd name="connsiteY5" fmla="*/ 911215 h 912215"/>
                <a:gd name="connsiteX6" fmla="*/ 0 w 379446"/>
                <a:gd name="connsiteY6" fmla="*/ 456107 h 912215"/>
                <a:gd name="connsiteX7" fmla="*/ 188512 w 379446"/>
                <a:gd name="connsiteY7" fmla="*/ 999 h 91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446" h="912215">
                  <a:moveTo>
                    <a:pt x="189723" y="0"/>
                  </a:moveTo>
                  <a:lnTo>
                    <a:pt x="190934" y="999"/>
                  </a:lnTo>
                  <a:cubicBezTo>
                    <a:pt x="307407" y="117471"/>
                    <a:pt x="379446" y="278376"/>
                    <a:pt x="379446" y="456107"/>
                  </a:cubicBezTo>
                  <a:cubicBezTo>
                    <a:pt x="379446" y="633838"/>
                    <a:pt x="307407" y="794743"/>
                    <a:pt x="190934" y="911215"/>
                  </a:cubicBezTo>
                  <a:lnTo>
                    <a:pt x="189723" y="912215"/>
                  </a:lnTo>
                  <a:lnTo>
                    <a:pt x="188512" y="911215"/>
                  </a:lnTo>
                  <a:cubicBezTo>
                    <a:pt x="72040" y="794743"/>
                    <a:pt x="0" y="633838"/>
                    <a:pt x="0" y="456107"/>
                  </a:cubicBezTo>
                  <a:cubicBezTo>
                    <a:pt x="0" y="278376"/>
                    <a:pt x="72040" y="117471"/>
                    <a:pt x="188512" y="999"/>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msungOne 700" panose="020B0803030303020204" pitchFamily="34" charset="0"/>
              </a:endParaRPr>
            </a:p>
          </p:txBody>
        </p:sp>
      </p:grpSp>
      <p:grpSp>
        <p:nvGrpSpPr>
          <p:cNvPr id="21" name="그룹 20">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2" name="직사각형 21">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3" name="직사각형 22">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4" name="직사각형 23">
            <a:extLst>
              <a:ext uri="{FF2B5EF4-FFF2-40B4-BE49-F238E27FC236}">
                <a16:creationId xmlns:a16="http://schemas.microsoft.com/office/drawing/2014/main" id="{11E58764-66AA-4A60-83F6-81AC2C9CDEB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Inner join</a:t>
            </a:r>
          </a:p>
        </p:txBody>
      </p:sp>
    </p:spTree>
    <p:extLst>
      <p:ext uri="{BB962C8B-B14F-4D97-AF65-F5344CB8AC3E}">
        <p14:creationId xmlns:p14="http://schemas.microsoft.com/office/powerpoint/2010/main" val="13431843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able 4">
            <a:extLst>
              <a:ext uri="{FF2B5EF4-FFF2-40B4-BE49-F238E27FC236}">
                <a16:creationId xmlns:a16="http://schemas.microsoft.com/office/drawing/2014/main" id="{E107F1A7-DFAF-4E79-81F1-6B2DC2137F93}"/>
              </a:ext>
            </a:extLst>
          </p:cNvPr>
          <p:cNvGraphicFramePr>
            <a:graphicFrameLocks noGrp="1"/>
          </p:cNvGraphicFramePr>
          <p:nvPr>
            <p:extLst>
              <p:ext uri="{D42A27DB-BD31-4B8C-83A1-F6EECF244321}">
                <p14:modId xmlns:p14="http://schemas.microsoft.com/office/powerpoint/2010/main" val="1756489229"/>
              </p:ext>
            </p:extLst>
          </p:nvPr>
        </p:nvGraphicFramePr>
        <p:xfrm>
          <a:off x="699295" y="3645146"/>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41" name="Table 19">
            <a:extLst>
              <a:ext uri="{FF2B5EF4-FFF2-40B4-BE49-F238E27FC236}">
                <a16:creationId xmlns:a16="http://schemas.microsoft.com/office/drawing/2014/main" id="{52AF84F2-11C9-449C-87F8-9E8A083EF988}"/>
              </a:ext>
            </a:extLst>
          </p:cNvPr>
          <p:cNvGraphicFramePr>
            <a:graphicFrameLocks noGrp="1"/>
          </p:cNvGraphicFramePr>
          <p:nvPr>
            <p:extLst>
              <p:ext uri="{D42A27DB-BD31-4B8C-83A1-F6EECF244321}">
                <p14:modId xmlns:p14="http://schemas.microsoft.com/office/powerpoint/2010/main" val="2174237161"/>
              </p:ext>
            </p:extLst>
          </p:nvPr>
        </p:nvGraphicFramePr>
        <p:xfrm>
          <a:off x="5579265" y="3645384"/>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cxnSp>
        <p:nvCxnSpPr>
          <p:cNvPr id="50" name="Straight Connector 5">
            <a:extLst>
              <a:ext uri="{FF2B5EF4-FFF2-40B4-BE49-F238E27FC236}">
                <a16:creationId xmlns:a16="http://schemas.microsoft.com/office/drawing/2014/main" id="{2C37307C-0907-4774-A1F3-5B3876DD73A0}"/>
              </a:ext>
            </a:extLst>
          </p:cNvPr>
          <p:cNvCxnSpPr>
            <a:cxnSpLocks/>
          </p:cNvCxnSpPr>
          <p:nvPr/>
        </p:nvCxnSpPr>
        <p:spPr>
          <a:xfrm>
            <a:off x="5562600" y="4678419"/>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
            <a:extLst>
              <a:ext uri="{FF2B5EF4-FFF2-40B4-BE49-F238E27FC236}">
                <a16:creationId xmlns:a16="http://schemas.microsoft.com/office/drawing/2014/main" id="{5335153A-60E1-4551-8755-082C23A241BA}"/>
              </a:ext>
            </a:extLst>
          </p:cNvPr>
          <p:cNvCxnSpPr>
            <a:cxnSpLocks/>
          </p:cNvCxnSpPr>
          <p:nvPr/>
        </p:nvCxnSpPr>
        <p:spPr>
          <a:xfrm>
            <a:off x="5562600" y="4388529"/>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4" name="자유형: 도형 53">
            <a:extLst>
              <a:ext uri="{FF2B5EF4-FFF2-40B4-BE49-F238E27FC236}">
                <a16:creationId xmlns:a16="http://schemas.microsoft.com/office/drawing/2014/main" id="{8C7DAA48-973F-4212-A87A-89217F3DD94F}"/>
              </a:ext>
            </a:extLst>
          </p:cNvPr>
          <p:cNvSpPr/>
          <p:nvPr/>
        </p:nvSpPr>
        <p:spPr>
          <a:xfrm>
            <a:off x="4541520" y="4087108"/>
            <a:ext cx="1036320" cy="591312"/>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sp>
        <p:nvSpPr>
          <p:cNvPr id="55" name="자유형: 도형 54">
            <a:extLst>
              <a:ext uri="{FF2B5EF4-FFF2-40B4-BE49-F238E27FC236}">
                <a16:creationId xmlns:a16="http://schemas.microsoft.com/office/drawing/2014/main" id="{83FDA903-C500-42EF-B642-9E6BA3089C69}"/>
              </a:ext>
            </a:extLst>
          </p:cNvPr>
          <p:cNvSpPr/>
          <p:nvPr/>
        </p:nvSpPr>
        <p:spPr>
          <a:xfrm>
            <a:off x="4541520" y="4995410"/>
            <a:ext cx="1036320" cy="274321"/>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grpSp>
        <p:nvGrpSpPr>
          <p:cNvPr id="19" name="그룹 18">
            <a:extLst>
              <a:ext uri="{FF2B5EF4-FFF2-40B4-BE49-F238E27FC236}">
                <a16:creationId xmlns:a16="http://schemas.microsoft.com/office/drawing/2014/main" id="{F5A86451-F4D5-4EC7-8265-0D3908355D1D}"/>
              </a:ext>
            </a:extLst>
          </p:cNvPr>
          <p:cNvGrpSpPr/>
          <p:nvPr/>
        </p:nvGrpSpPr>
        <p:grpSpPr>
          <a:xfrm>
            <a:off x="1945676" y="2068006"/>
            <a:ext cx="1287239" cy="1287239"/>
            <a:chOff x="12525064" y="1807108"/>
            <a:chExt cx="1584176" cy="1584176"/>
          </a:xfrm>
        </p:grpSpPr>
        <p:sp>
          <p:nvSpPr>
            <p:cNvPr id="20"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21" name="TextBox 20">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22" name="그룹 21">
            <a:extLst>
              <a:ext uri="{FF2B5EF4-FFF2-40B4-BE49-F238E27FC236}">
                <a16:creationId xmlns:a16="http://schemas.microsoft.com/office/drawing/2014/main" id="{08BA71DE-8A59-4463-9861-F9073AD73FEB}"/>
              </a:ext>
            </a:extLst>
          </p:cNvPr>
          <p:cNvGrpSpPr/>
          <p:nvPr/>
        </p:nvGrpSpPr>
        <p:grpSpPr>
          <a:xfrm>
            <a:off x="6825646" y="2068006"/>
            <a:ext cx="1287239" cy="1287239"/>
            <a:chOff x="18141687" y="1807108"/>
            <a:chExt cx="1584176" cy="1584176"/>
          </a:xfrm>
        </p:grpSpPr>
        <p:sp>
          <p:nvSpPr>
            <p:cNvPr id="23"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24" name="TextBox 23">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grpSp>
        <p:nvGrpSpPr>
          <p:cNvPr id="30" name="그룹 29">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31" name="직사각형 30">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32" name="직사각형 31">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5" name="직사각형 24">
            <a:extLst>
              <a:ext uri="{FF2B5EF4-FFF2-40B4-BE49-F238E27FC236}">
                <a16:creationId xmlns:a16="http://schemas.microsoft.com/office/drawing/2014/main" id="{A67CC263-4925-4D22-90F8-B2BA5DCE37E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Left join</a:t>
            </a:r>
          </a:p>
        </p:txBody>
      </p:sp>
    </p:spTree>
    <p:extLst>
      <p:ext uri="{BB962C8B-B14F-4D97-AF65-F5344CB8AC3E}">
        <p14:creationId xmlns:p14="http://schemas.microsoft.com/office/powerpoint/2010/main" val="3011912160"/>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Table 4">
            <a:extLst>
              <a:ext uri="{FF2B5EF4-FFF2-40B4-BE49-F238E27FC236}">
                <a16:creationId xmlns:a16="http://schemas.microsoft.com/office/drawing/2014/main" id="{B46287C6-D2D0-4C87-96E4-1B59BC223098}"/>
              </a:ext>
            </a:extLst>
          </p:cNvPr>
          <p:cNvGraphicFramePr>
            <a:graphicFrameLocks noGrp="1"/>
          </p:cNvGraphicFramePr>
          <p:nvPr>
            <p:extLst>
              <p:ext uri="{D42A27DB-BD31-4B8C-83A1-F6EECF244321}">
                <p14:modId xmlns:p14="http://schemas.microsoft.com/office/powerpoint/2010/main" val="3428461546"/>
              </p:ext>
            </p:extLst>
          </p:nvPr>
        </p:nvGraphicFramePr>
        <p:xfrm>
          <a:off x="699295" y="3580416"/>
          <a:ext cx="8659970" cy="1792800"/>
        </p:xfrm>
        <a:graphic>
          <a:graphicData uri="http://schemas.openxmlformats.org/drawingml/2006/table">
            <a:tbl>
              <a:tblPr firstRow="1" bandRow="1">
                <a:tableStyleId>{5940675A-B579-460E-94D1-54222C63F5DA}</a:tableStyleId>
              </a:tblPr>
              <a:tblGrid>
                <a:gridCol w="1530864">
                  <a:extLst>
                    <a:ext uri="{9D8B030D-6E8A-4147-A177-3AD203B41FA5}">
                      <a16:colId xmlns:a16="http://schemas.microsoft.com/office/drawing/2014/main" val="20000"/>
                    </a:ext>
                  </a:extLst>
                </a:gridCol>
                <a:gridCol w="1309702">
                  <a:extLst>
                    <a:ext uri="{9D8B030D-6E8A-4147-A177-3AD203B41FA5}">
                      <a16:colId xmlns:a16="http://schemas.microsoft.com/office/drawing/2014/main" val="20001"/>
                    </a:ext>
                  </a:extLst>
                </a:gridCol>
                <a:gridCol w="1385020">
                  <a:extLst>
                    <a:ext uri="{9D8B030D-6E8A-4147-A177-3AD203B41FA5}">
                      <a16:colId xmlns:a16="http://schemas.microsoft.com/office/drawing/2014/main" val="20002"/>
                    </a:ext>
                  </a:extLst>
                </a:gridCol>
                <a:gridCol w="1757427">
                  <a:extLst>
                    <a:ext uri="{9D8B030D-6E8A-4147-A177-3AD203B41FA5}">
                      <a16:colId xmlns:a16="http://schemas.microsoft.com/office/drawing/2014/main" val="1767892721"/>
                    </a:ext>
                  </a:extLst>
                </a:gridCol>
                <a:gridCol w="1221830">
                  <a:extLst>
                    <a:ext uri="{9D8B030D-6E8A-4147-A177-3AD203B41FA5}">
                      <a16:colId xmlns:a16="http://schemas.microsoft.com/office/drawing/2014/main" val="774661330"/>
                    </a:ext>
                  </a:extLst>
                </a:gridCol>
                <a:gridCol w="1455127">
                  <a:extLst>
                    <a:ext uri="{9D8B030D-6E8A-4147-A177-3AD203B41FA5}">
                      <a16:colId xmlns:a16="http://schemas.microsoft.com/office/drawing/2014/main" val="1836977935"/>
                    </a:ext>
                  </a:extLst>
                </a:gridCol>
              </a:tblGrid>
              <a:tr h="298800">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A.Name</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B.Name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8800">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43686523"/>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4206271"/>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19788350"/>
                  </a:ext>
                </a:extLst>
              </a:tr>
            </a:tbl>
          </a:graphicData>
        </a:graphic>
      </p:graphicFrame>
      <p:grpSp>
        <p:nvGrpSpPr>
          <p:cNvPr id="12" name="그룹 11"/>
          <p:cNvGrpSpPr/>
          <p:nvPr/>
        </p:nvGrpSpPr>
        <p:grpSpPr>
          <a:xfrm>
            <a:off x="3853896" y="2003276"/>
            <a:ext cx="2195033" cy="1287239"/>
            <a:chOff x="5917852" y="2705299"/>
            <a:chExt cx="2195033" cy="1287239"/>
          </a:xfrm>
        </p:grpSpPr>
        <p:sp>
          <p:nvSpPr>
            <p:cNvPr id="14" name="Oval 3">
              <a:extLst>
                <a:ext uri="{FF2B5EF4-FFF2-40B4-BE49-F238E27FC236}">
                  <a16:creationId xmlns:a16="http://schemas.microsoft.com/office/drawing/2014/main" id="{C3A2620E-F710-44ED-91A1-92594597DCB8}"/>
                </a:ext>
              </a:extLst>
            </p:cNvPr>
            <p:cNvSpPr/>
            <p:nvPr/>
          </p:nvSpPr>
          <p:spPr>
            <a:xfrm>
              <a:off x="5917852" y="2705299"/>
              <a:ext cx="1287239" cy="1287239"/>
            </a:xfrm>
            <a:prstGeom prst="ellipse">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msungOne 700" panose="020B0803030303020204" pitchFamily="34" charset="0"/>
              </a:endParaRPr>
            </a:p>
          </p:txBody>
        </p:sp>
        <p:sp>
          <p:nvSpPr>
            <p:cNvPr id="15" name="Oval 16">
              <a:extLst>
                <a:ext uri="{FF2B5EF4-FFF2-40B4-BE49-F238E27FC236}">
                  <a16:creationId xmlns:a16="http://schemas.microsoft.com/office/drawing/2014/main" id="{3D63BBA8-13FD-4824-88B8-2D454435DC2A}"/>
                </a:ext>
              </a:extLst>
            </p:cNvPr>
            <p:cNvSpPr/>
            <p:nvPr/>
          </p:nvSpPr>
          <p:spPr>
            <a:xfrm>
              <a:off x="6825646" y="2705299"/>
              <a:ext cx="1287239" cy="1287239"/>
            </a:xfrm>
            <a:prstGeom prst="ellipse">
              <a:avLst/>
            </a:prstGeom>
            <a:solidFill>
              <a:schemeClr val="bg1">
                <a:alpha val="2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grpSp>
      <p:grpSp>
        <p:nvGrpSpPr>
          <p:cNvPr id="19" name="그룹 1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0" name="직사각형 1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1" name="직사각형 2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7" name="직사각형 16">
            <a:extLst>
              <a:ext uri="{FF2B5EF4-FFF2-40B4-BE49-F238E27FC236}">
                <a16:creationId xmlns:a16="http://schemas.microsoft.com/office/drawing/2014/main" id="{C5B667C2-2A8D-46BD-B0E1-2B2E5D6ED0A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Left join</a:t>
            </a:r>
          </a:p>
        </p:txBody>
      </p:sp>
    </p:spTree>
    <p:extLst>
      <p:ext uri="{BB962C8B-B14F-4D97-AF65-F5344CB8AC3E}">
        <p14:creationId xmlns:p14="http://schemas.microsoft.com/office/powerpoint/2010/main" val="43672465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4">
            <a:extLst>
              <a:ext uri="{FF2B5EF4-FFF2-40B4-BE49-F238E27FC236}">
                <a16:creationId xmlns:a16="http://schemas.microsoft.com/office/drawing/2014/main" id="{31322B75-3BD5-411A-9397-630BC4ECF8E7}"/>
              </a:ext>
            </a:extLst>
          </p:cNvPr>
          <p:cNvGraphicFramePr>
            <a:graphicFrameLocks noGrp="1"/>
          </p:cNvGraphicFramePr>
          <p:nvPr>
            <p:extLst>
              <p:ext uri="{D42A27DB-BD31-4B8C-83A1-F6EECF244321}">
                <p14:modId xmlns:p14="http://schemas.microsoft.com/office/powerpoint/2010/main" val="1540431716"/>
              </p:ext>
            </p:extLst>
          </p:nvPr>
        </p:nvGraphicFramePr>
        <p:xfrm>
          <a:off x="699295" y="3644473"/>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31" name="Table 19">
            <a:extLst>
              <a:ext uri="{FF2B5EF4-FFF2-40B4-BE49-F238E27FC236}">
                <a16:creationId xmlns:a16="http://schemas.microsoft.com/office/drawing/2014/main" id="{93975B58-995C-4C38-929D-8ABB9981BEF0}"/>
              </a:ext>
            </a:extLst>
          </p:cNvPr>
          <p:cNvGraphicFramePr>
            <a:graphicFrameLocks noGrp="1"/>
          </p:cNvGraphicFramePr>
          <p:nvPr>
            <p:extLst>
              <p:ext uri="{D42A27DB-BD31-4B8C-83A1-F6EECF244321}">
                <p14:modId xmlns:p14="http://schemas.microsoft.com/office/powerpoint/2010/main" val="2014985743"/>
              </p:ext>
            </p:extLst>
          </p:nvPr>
        </p:nvGraphicFramePr>
        <p:xfrm>
          <a:off x="5579265" y="3644711"/>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40" name="자유형: 도형 39">
            <a:extLst>
              <a:ext uri="{FF2B5EF4-FFF2-40B4-BE49-F238E27FC236}">
                <a16:creationId xmlns:a16="http://schemas.microsoft.com/office/drawing/2014/main" id="{194A5645-8268-43DD-8586-18F675A4F745}"/>
              </a:ext>
            </a:extLst>
          </p:cNvPr>
          <p:cNvSpPr/>
          <p:nvPr/>
        </p:nvSpPr>
        <p:spPr>
          <a:xfrm flipH="1" flipV="1">
            <a:off x="4482269" y="4086435"/>
            <a:ext cx="1036320" cy="591312"/>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sp>
        <p:nvSpPr>
          <p:cNvPr id="41" name="자유형: 도형 40">
            <a:extLst>
              <a:ext uri="{FF2B5EF4-FFF2-40B4-BE49-F238E27FC236}">
                <a16:creationId xmlns:a16="http://schemas.microsoft.com/office/drawing/2014/main" id="{20830116-44FD-4052-A736-0DF13E2360E9}"/>
              </a:ext>
            </a:extLst>
          </p:cNvPr>
          <p:cNvSpPr/>
          <p:nvPr/>
        </p:nvSpPr>
        <p:spPr>
          <a:xfrm flipH="1" flipV="1">
            <a:off x="4482269" y="4994737"/>
            <a:ext cx="1036320" cy="274321"/>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cxnSp>
        <p:nvCxnSpPr>
          <p:cNvPr id="42" name="Straight Connector 5">
            <a:extLst>
              <a:ext uri="{FF2B5EF4-FFF2-40B4-BE49-F238E27FC236}">
                <a16:creationId xmlns:a16="http://schemas.microsoft.com/office/drawing/2014/main" id="{A8EE75A5-434C-4F44-BF0F-D9EE157C2FB5}"/>
              </a:ext>
            </a:extLst>
          </p:cNvPr>
          <p:cNvCxnSpPr>
            <a:cxnSpLocks/>
          </p:cNvCxnSpPr>
          <p:nvPr/>
        </p:nvCxnSpPr>
        <p:spPr>
          <a:xfrm>
            <a:off x="701040" y="438785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5">
            <a:extLst>
              <a:ext uri="{FF2B5EF4-FFF2-40B4-BE49-F238E27FC236}">
                <a16:creationId xmlns:a16="http://schemas.microsoft.com/office/drawing/2014/main" id="{86587675-C150-4F8A-BB8F-1C0E6B6E8306}"/>
              </a:ext>
            </a:extLst>
          </p:cNvPr>
          <p:cNvCxnSpPr>
            <a:cxnSpLocks/>
          </p:cNvCxnSpPr>
          <p:nvPr/>
        </p:nvCxnSpPr>
        <p:spPr>
          <a:xfrm>
            <a:off x="701040" y="408305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5">
            <a:extLst>
              <a:ext uri="{FF2B5EF4-FFF2-40B4-BE49-F238E27FC236}">
                <a16:creationId xmlns:a16="http://schemas.microsoft.com/office/drawing/2014/main" id="{49563199-C3B6-4710-A98F-369DD58B7454}"/>
              </a:ext>
            </a:extLst>
          </p:cNvPr>
          <p:cNvCxnSpPr>
            <a:cxnSpLocks/>
          </p:cNvCxnSpPr>
          <p:nvPr/>
        </p:nvCxnSpPr>
        <p:spPr>
          <a:xfrm>
            <a:off x="701040" y="4977136"/>
            <a:ext cx="3774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F5A86451-F4D5-4EC7-8265-0D3908355D1D}"/>
              </a:ext>
            </a:extLst>
          </p:cNvPr>
          <p:cNvGrpSpPr/>
          <p:nvPr/>
        </p:nvGrpSpPr>
        <p:grpSpPr>
          <a:xfrm>
            <a:off x="1945676" y="2067333"/>
            <a:ext cx="1287239" cy="1287239"/>
            <a:chOff x="12525064" y="1807108"/>
            <a:chExt cx="1584176" cy="1584176"/>
          </a:xfrm>
        </p:grpSpPr>
        <p:sp>
          <p:nvSpPr>
            <p:cNvPr id="21"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22" name="TextBox 21">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25" name="그룹 24">
            <a:extLst>
              <a:ext uri="{FF2B5EF4-FFF2-40B4-BE49-F238E27FC236}">
                <a16:creationId xmlns:a16="http://schemas.microsoft.com/office/drawing/2014/main" id="{08BA71DE-8A59-4463-9861-F9073AD73FEB}"/>
              </a:ext>
            </a:extLst>
          </p:cNvPr>
          <p:cNvGrpSpPr/>
          <p:nvPr/>
        </p:nvGrpSpPr>
        <p:grpSpPr>
          <a:xfrm>
            <a:off x="6825646" y="2067333"/>
            <a:ext cx="1287239" cy="1287239"/>
            <a:chOff x="18141687" y="1807108"/>
            <a:chExt cx="1584176" cy="1584176"/>
          </a:xfrm>
        </p:grpSpPr>
        <p:sp>
          <p:nvSpPr>
            <p:cNvPr id="26"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38" name="TextBox 37">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grpSp>
        <p:nvGrpSpPr>
          <p:cNvPr id="27" name="그룹 26">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8" name="직사각형 27">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9" name="직사각형 28">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4" name="직사각형 23">
            <a:extLst>
              <a:ext uri="{FF2B5EF4-FFF2-40B4-BE49-F238E27FC236}">
                <a16:creationId xmlns:a16="http://schemas.microsoft.com/office/drawing/2014/main" id="{43E9D6AC-36FC-4C44-91F6-F6C74A90DD0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Right join</a:t>
            </a:r>
          </a:p>
        </p:txBody>
      </p:sp>
    </p:spTree>
    <p:extLst>
      <p:ext uri="{BB962C8B-B14F-4D97-AF65-F5344CB8AC3E}">
        <p14:creationId xmlns:p14="http://schemas.microsoft.com/office/powerpoint/2010/main" val="155935598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4">
            <a:extLst>
              <a:ext uri="{FF2B5EF4-FFF2-40B4-BE49-F238E27FC236}">
                <a16:creationId xmlns:a16="http://schemas.microsoft.com/office/drawing/2014/main" id="{75796F97-625B-470D-B047-89F6A944264E}"/>
              </a:ext>
            </a:extLst>
          </p:cNvPr>
          <p:cNvGraphicFramePr>
            <a:graphicFrameLocks noGrp="1"/>
          </p:cNvGraphicFramePr>
          <p:nvPr>
            <p:extLst>
              <p:ext uri="{D42A27DB-BD31-4B8C-83A1-F6EECF244321}">
                <p14:modId xmlns:p14="http://schemas.microsoft.com/office/powerpoint/2010/main" val="2248047529"/>
              </p:ext>
            </p:extLst>
          </p:nvPr>
        </p:nvGraphicFramePr>
        <p:xfrm>
          <a:off x="699295" y="3709996"/>
          <a:ext cx="8659970" cy="1494000"/>
        </p:xfrm>
        <a:graphic>
          <a:graphicData uri="http://schemas.openxmlformats.org/drawingml/2006/table">
            <a:tbl>
              <a:tblPr firstRow="1" bandRow="1">
                <a:tableStyleId>{5940675A-B579-460E-94D1-54222C63F5DA}</a:tableStyleId>
              </a:tblPr>
              <a:tblGrid>
                <a:gridCol w="1530864">
                  <a:extLst>
                    <a:ext uri="{9D8B030D-6E8A-4147-A177-3AD203B41FA5}">
                      <a16:colId xmlns:a16="http://schemas.microsoft.com/office/drawing/2014/main" val="20000"/>
                    </a:ext>
                  </a:extLst>
                </a:gridCol>
                <a:gridCol w="1309702">
                  <a:extLst>
                    <a:ext uri="{9D8B030D-6E8A-4147-A177-3AD203B41FA5}">
                      <a16:colId xmlns:a16="http://schemas.microsoft.com/office/drawing/2014/main" val="20001"/>
                    </a:ext>
                  </a:extLst>
                </a:gridCol>
                <a:gridCol w="1385020">
                  <a:extLst>
                    <a:ext uri="{9D8B030D-6E8A-4147-A177-3AD203B41FA5}">
                      <a16:colId xmlns:a16="http://schemas.microsoft.com/office/drawing/2014/main" val="20002"/>
                    </a:ext>
                  </a:extLst>
                </a:gridCol>
                <a:gridCol w="1757427">
                  <a:extLst>
                    <a:ext uri="{9D8B030D-6E8A-4147-A177-3AD203B41FA5}">
                      <a16:colId xmlns:a16="http://schemas.microsoft.com/office/drawing/2014/main" val="1767892721"/>
                    </a:ext>
                  </a:extLst>
                </a:gridCol>
                <a:gridCol w="1221830">
                  <a:extLst>
                    <a:ext uri="{9D8B030D-6E8A-4147-A177-3AD203B41FA5}">
                      <a16:colId xmlns:a16="http://schemas.microsoft.com/office/drawing/2014/main" val="774661330"/>
                    </a:ext>
                  </a:extLst>
                </a:gridCol>
                <a:gridCol w="1455127">
                  <a:extLst>
                    <a:ext uri="{9D8B030D-6E8A-4147-A177-3AD203B41FA5}">
                      <a16:colId xmlns:a16="http://schemas.microsoft.com/office/drawing/2014/main" val="1836977935"/>
                    </a:ext>
                  </a:extLst>
                </a:gridCol>
              </a:tblGrid>
              <a:tr h="298800">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A.Name</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B.Name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88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88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43686523"/>
                  </a:ext>
                </a:extLst>
              </a:tr>
              <a:tr h="298800">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84206271"/>
                  </a:ext>
                </a:extLst>
              </a:tr>
            </a:tbl>
          </a:graphicData>
        </a:graphic>
      </p:graphicFrame>
      <p:grpSp>
        <p:nvGrpSpPr>
          <p:cNvPr id="11" name="그룹 10"/>
          <p:cNvGrpSpPr/>
          <p:nvPr/>
        </p:nvGrpSpPr>
        <p:grpSpPr>
          <a:xfrm>
            <a:off x="3853896" y="2132856"/>
            <a:ext cx="2195033" cy="1287239"/>
            <a:chOff x="5917852" y="2705299"/>
            <a:chExt cx="2195033" cy="1287239"/>
          </a:xfrm>
        </p:grpSpPr>
        <p:sp>
          <p:nvSpPr>
            <p:cNvPr id="12" name="Oval 3">
              <a:extLst>
                <a:ext uri="{FF2B5EF4-FFF2-40B4-BE49-F238E27FC236}">
                  <a16:creationId xmlns:a16="http://schemas.microsoft.com/office/drawing/2014/main" id="{C3A2620E-F710-44ED-91A1-92594597DCB8}"/>
                </a:ext>
              </a:extLst>
            </p:cNvPr>
            <p:cNvSpPr/>
            <p:nvPr/>
          </p:nvSpPr>
          <p:spPr>
            <a:xfrm>
              <a:off x="5917852" y="2705299"/>
              <a:ext cx="1287239" cy="1287239"/>
            </a:xfrm>
            <a:prstGeom prst="ellipse">
              <a:avLst/>
            </a:prstGeom>
            <a:solidFill>
              <a:schemeClr val="bg1">
                <a:alpha val="2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13" name="Oval 16">
              <a:extLst>
                <a:ext uri="{FF2B5EF4-FFF2-40B4-BE49-F238E27FC236}">
                  <a16:creationId xmlns:a16="http://schemas.microsoft.com/office/drawing/2014/main" id="{3D63BBA8-13FD-4824-88B8-2D454435DC2A}"/>
                </a:ext>
              </a:extLst>
            </p:cNvPr>
            <p:cNvSpPr/>
            <p:nvPr/>
          </p:nvSpPr>
          <p:spPr>
            <a:xfrm>
              <a:off x="6825646" y="2705299"/>
              <a:ext cx="1287239" cy="1287239"/>
            </a:xfrm>
            <a:prstGeom prst="ellipse">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msungOne 700" panose="020B0803030303020204" pitchFamily="34" charset="0"/>
              </a:endParaRPr>
            </a:p>
          </p:txBody>
        </p:sp>
      </p:grpSp>
      <p:grpSp>
        <p:nvGrpSpPr>
          <p:cNvPr id="19" name="그룹 1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0" name="직사각형 1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1" name="직사각형 2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5" name="직사각형 14">
            <a:extLst>
              <a:ext uri="{FF2B5EF4-FFF2-40B4-BE49-F238E27FC236}">
                <a16:creationId xmlns:a16="http://schemas.microsoft.com/office/drawing/2014/main" id="{8C9FA390-2B73-48DD-97DB-FA93D1562AD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Right join</a:t>
            </a:r>
          </a:p>
        </p:txBody>
      </p:sp>
    </p:spTree>
    <p:extLst>
      <p:ext uri="{BB962C8B-B14F-4D97-AF65-F5344CB8AC3E}">
        <p14:creationId xmlns:p14="http://schemas.microsoft.com/office/powerpoint/2010/main" val="2527252331"/>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4">
            <a:extLst>
              <a:ext uri="{FF2B5EF4-FFF2-40B4-BE49-F238E27FC236}">
                <a16:creationId xmlns:a16="http://schemas.microsoft.com/office/drawing/2014/main" id="{C0B71A64-77A5-411D-8783-80AD80C52C44}"/>
              </a:ext>
            </a:extLst>
          </p:cNvPr>
          <p:cNvGraphicFramePr>
            <a:graphicFrameLocks noGrp="1"/>
          </p:cNvGraphicFramePr>
          <p:nvPr>
            <p:extLst>
              <p:ext uri="{D42A27DB-BD31-4B8C-83A1-F6EECF244321}">
                <p14:modId xmlns:p14="http://schemas.microsoft.com/office/powerpoint/2010/main" val="4177388304"/>
              </p:ext>
            </p:extLst>
          </p:nvPr>
        </p:nvGraphicFramePr>
        <p:xfrm>
          <a:off x="699295" y="3644473"/>
          <a:ext cx="3780000" cy="1781886"/>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6981">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96981">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9698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27" name="Table 19">
            <a:extLst>
              <a:ext uri="{FF2B5EF4-FFF2-40B4-BE49-F238E27FC236}">
                <a16:creationId xmlns:a16="http://schemas.microsoft.com/office/drawing/2014/main" id="{AD2134F5-B308-4E14-AFC3-29C1E681F787}"/>
              </a:ext>
            </a:extLst>
          </p:cNvPr>
          <p:cNvGraphicFramePr>
            <a:graphicFrameLocks noGrp="1"/>
          </p:cNvGraphicFramePr>
          <p:nvPr>
            <p:extLst>
              <p:ext uri="{D42A27DB-BD31-4B8C-83A1-F6EECF244321}">
                <p14:modId xmlns:p14="http://schemas.microsoft.com/office/powerpoint/2010/main" val="1627263750"/>
              </p:ext>
            </p:extLst>
          </p:nvPr>
        </p:nvGraphicFramePr>
        <p:xfrm>
          <a:off x="5579265" y="3644711"/>
          <a:ext cx="3780000" cy="149400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298800">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Name</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38" name="자유형: 도형 37">
            <a:extLst>
              <a:ext uri="{FF2B5EF4-FFF2-40B4-BE49-F238E27FC236}">
                <a16:creationId xmlns:a16="http://schemas.microsoft.com/office/drawing/2014/main" id="{CBB0AEE0-B4AE-49FE-A9A8-F991E11DCF5E}"/>
              </a:ext>
            </a:extLst>
          </p:cNvPr>
          <p:cNvSpPr/>
          <p:nvPr/>
        </p:nvSpPr>
        <p:spPr>
          <a:xfrm>
            <a:off x="4541520" y="5000027"/>
            <a:ext cx="960120" cy="277368"/>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sp>
        <p:nvSpPr>
          <p:cNvPr id="39" name="자유형: 도형 38">
            <a:extLst>
              <a:ext uri="{FF2B5EF4-FFF2-40B4-BE49-F238E27FC236}">
                <a16:creationId xmlns:a16="http://schemas.microsoft.com/office/drawing/2014/main" id="{67370C5E-8ED4-443C-B204-18EF3E831717}"/>
              </a:ext>
            </a:extLst>
          </p:cNvPr>
          <p:cNvSpPr/>
          <p:nvPr/>
        </p:nvSpPr>
        <p:spPr>
          <a:xfrm>
            <a:off x="4541520" y="4111015"/>
            <a:ext cx="960120" cy="576445"/>
          </a:xfrm>
          <a:custGeom>
            <a:avLst/>
            <a:gdLst>
              <a:gd name="connsiteX0" fmla="*/ 0 w 960120"/>
              <a:gd name="connsiteY0" fmla="*/ 579120 h 579120"/>
              <a:gd name="connsiteX1" fmla="*/ 533400 w 960120"/>
              <a:gd name="connsiteY1" fmla="*/ 579120 h 579120"/>
              <a:gd name="connsiteX2" fmla="*/ 533400 w 960120"/>
              <a:gd name="connsiteY2" fmla="*/ 0 h 579120"/>
              <a:gd name="connsiteX3" fmla="*/ 960120 w 960120"/>
              <a:gd name="connsiteY3" fmla="*/ 0 h 579120"/>
            </a:gdLst>
            <a:ahLst/>
            <a:cxnLst>
              <a:cxn ang="0">
                <a:pos x="connsiteX0" y="connsiteY0"/>
              </a:cxn>
              <a:cxn ang="0">
                <a:pos x="connsiteX1" y="connsiteY1"/>
              </a:cxn>
              <a:cxn ang="0">
                <a:pos x="connsiteX2" y="connsiteY2"/>
              </a:cxn>
              <a:cxn ang="0">
                <a:pos x="connsiteX3" y="connsiteY3"/>
              </a:cxn>
            </a:cxnLst>
            <a:rect l="l" t="t" r="r" b="b"/>
            <a:pathLst>
              <a:path w="960120" h="579120">
                <a:moveTo>
                  <a:pt x="0" y="579120"/>
                </a:moveTo>
                <a:lnTo>
                  <a:pt x="533400" y="579120"/>
                </a:lnTo>
                <a:lnTo>
                  <a:pt x="533400" y="0"/>
                </a:lnTo>
                <a:lnTo>
                  <a:pt x="960120" y="0"/>
                </a:lnTo>
              </a:path>
            </a:pathLst>
          </a:custGeom>
          <a:ln w="127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grpSp>
        <p:nvGrpSpPr>
          <p:cNvPr id="17" name="그룹 16">
            <a:extLst>
              <a:ext uri="{FF2B5EF4-FFF2-40B4-BE49-F238E27FC236}">
                <a16:creationId xmlns:a16="http://schemas.microsoft.com/office/drawing/2014/main" id="{F5A86451-F4D5-4EC7-8265-0D3908355D1D}"/>
              </a:ext>
            </a:extLst>
          </p:cNvPr>
          <p:cNvGrpSpPr/>
          <p:nvPr/>
        </p:nvGrpSpPr>
        <p:grpSpPr>
          <a:xfrm>
            <a:off x="1945676" y="2067333"/>
            <a:ext cx="1287239" cy="1287239"/>
            <a:chOff x="12525064" y="1807108"/>
            <a:chExt cx="1584176" cy="1584176"/>
          </a:xfrm>
        </p:grpSpPr>
        <p:sp>
          <p:nvSpPr>
            <p:cNvPr id="18" name="Oval 3">
              <a:extLst>
                <a:ext uri="{FF2B5EF4-FFF2-40B4-BE49-F238E27FC236}">
                  <a16:creationId xmlns:a16="http://schemas.microsoft.com/office/drawing/2014/main" id="{C3A2620E-F710-44ED-91A1-92594597DCB8}"/>
                </a:ext>
              </a:extLst>
            </p:cNvPr>
            <p:cNvSpPr/>
            <p:nvPr/>
          </p:nvSpPr>
          <p:spPr>
            <a:xfrm>
              <a:off x="12525064" y="1807108"/>
              <a:ext cx="1584176" cy="1584176"/>
            </a:xfrm>
            <a:prstGeom prst="ellipse">
              <a:avLst/>
            </a:prstGeom>
            <a:solidFill>
              <a:srgbClr val="193EB0">
                <a:alpha val="20000"/>
              </a:srgbClr>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19" name="TextBox 18">
              <a:extLst>
                <a:ext uri="{FF2B5EF4-FFF2-40B4-BE49-F238E27FC236}">
                  <a16:creationId xmlns:a16="http://schemas.microsoft.com/office/drawing/2014/main" id="{B08AF2EF-F67F-4C80-BF3A-E8D058DF48EE}"/>
                </a:ext>
              </a:extLst>
            </p:cNvPr>
            <p:cNvSpPr txBox="1"/>
            <p:nvPr/>
          </p:nvSpPr>
          <p:spPr>
            <a:xfrm>
              <a:off x="13158420" y="2460696"/>
              <a:ext cx="317462" cy="340896"/>
            </a:xfrm>
            <a:prstGeom prst="rect">
              <a:avLst/>
            </a:prstGeom>
            <a:noFill/>
          </p:spPr>
          <p:txBody>
            <a:bodyPr wrap="square" lIns="0" tIns="0" rIns="0" bIns="0" rtlCol="0">
              <a:spAutoFit/>
            </a:bodyPr>
            <a:lstStyle/>
            <a:p>
              <a:pPr algn="ctr"/>
              <a:r>
                <a:rPr lang="en-US" dirty="0">
                  <a:solidFill>
                    <a:srgbClr val="193EB0"/>
                  </a:solidFill>
                  <a:latin typeface="SamsungOne 700" panose="020B0803030303020204" pitchFamily="34" charset="0"/>
                  <a:ea typeface="SamsungOne 700" panose="020B0803030303020204" pitchFamily="34" charset="0"/>
                  <a:cs typeface="Times New Roman" panose="02020603050405020304" pitchFamily="18" charset="0"/>
                </a:rPr>
                <a:t>A</a:t>
              </a:r>
            </a:p>
          </p:txBody>
        </p:sp>
      </p:grpSp>
      <p:grpSp>
        <p:nvGrpSpPr>
          <p:cNvPr id="20" name="그룹 19">
            <a:extLst>
              <a:ext uri="{FF2B5EF4-FFF2-40B4-BE49-F238E27FC236}">
                <a16:creationId xmlns:a16="http://schemas.microsoft.com/office/drawing/2014/main" id="{08BA71DE-8A59-4463-9861-F9073AD73FEB}"/>
              </a:ext>
            </a:extLst>
          </p:cNvPr>
          <p:cNvGrpSpPr/>
          <p:nvPr/>
        </p:nvGrpSpPr>
        <p:grpSpPr>
          <a:xfrm>
            <a:off x="6825646" y="2067333"/>
            <a:ext cx="1287239" cy="1287239"/>
            <a:chOff x="18141687" y="1807108"/>
            <a:chExt cx="1584176" cy="1584176"/>
          </a:xfrm>
        </p:grpSpPr>
        <p:sp>
          <p:nvSpPr>
            <p:cNvPr id="34" name="Oval 16">
              <a:extLst>
                <a:ext uri="{FF2B5EF4-FFF2-40B4-BE49-F238E27FC236}">
                  <a16:creationId xmlns:a16="http://schemas.microsoft.com/office/drawing/2014/main" id="{3D63BBA8-13FD-4824-88B8-2D454435DC2A}"/>
                </a:ext>
              </a:extLst>
            </p:cNvPr>
            <p:cNvSpPr/>
            <p:nvPr/>
          </p:nvSpPr>
          <p:spPr>
            <a:xfrm>
              <a:off x="18141687" y="1807108"/>
              <a:ext cx="1584176" cy="1584176"/>
            </a:xfrm>
            <a:prstGeom prst="ellipse">
              <a:avLst/>
            </a:prstGeom>
            <a:solidFill>
              <a:srgbClr val="00B050">
                <a:alpha val="20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msungOne 700" panose="020B0803030303020204" pitchFamily="34" charset="0"/>
              </a:endParaRPr>
            </a:p>
          </p:txBody>
        </p:sp>
        <p:sp>
          <p:nvSpPr>
            <p:cNvPr id="35" name="TextBox 34">
              <a:extLst>
                <a:ext uri="{FF2B5EF4-FFF2-40B4-BE49-F238E27FC236}">
                  <a16:creationId xmlns:a16="http://schemas.microsoft.com/office/drawing/2014/main" id="{084E9328-9167-46A4-833F-8C91EDE43C9E}"/>
                </a:ext>
              </a:extLst>
            </p:cNvPr>
            <p:cNvSpPr txBox="1"/>
            <p:nvPr/>
          </p:nvSpPr>
          <p:spPr>
            <a:xfrm>
              <a:off x="18775044" y="2460696"/>
              <a:ext cx="317462" cy="340896"/>
            </a:xfrm>
            <a:prstGeom prst="rect">
              <a:avLst/>
            </a:prstGeom>
            <a:noFill/>
          </p:spPr>
          <p:txBody>
            <a:bodyPr wrap="square" lIns="0" tIns="0" rIns="0" bIns="0" rtlCol="0">
              <a:spAutoFit/>
            </a:bodyPr>
            <a:lstStyle/>
            <a:p>
              <a:pPr algn="ctr"/>
              <a:r>
                <a:rPr lang="en-US" dirty="0">
                  <a:solidFill>
                    <a:srgbClr val="00B050"/>
                  </a:solidFill>
                  <a:latin typeface="SamsungOne 700" panose="020B0803030303020204" pitchFamily="34" charset="0"/>
                  <a:ea typeface="SamsungOne 700" panose="020B0803030303020204" pitchFamily="34" charset="0"/>
                  <a:cs typeface="Times New Roman" panose="02020603050405020304" pitchFamily="18" charset="0"/>
                </a:rPr>
                <a:t>B</a:t>
              </a:r>
            </a:p>
          </p:txBody>
        </p:sp>
      </p:gr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2" name="직사각형 21">
            <a:extLst>
              <a:ext uri="{FF2B5EF4-FFF2-40B4-BE49-F238E27FC236}">
                <a16:creationId xmlns:a16="http://schemas.microsoft.com/office/drawing/2014/main" id="{96E4BEAC-2E85-42C9-8E72-7358D8EEFBE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Full outer join</a:t>
            </a:r>
          </a:p>
        </p:txBody>
      </p:sp>
    </p:spTree>
    <p:extLst>
      <p:ext uri="{BB962C8B-B14F-4D97-AF65-F5344CB8AC3E}">
        <p14:creationId xmlns:p14="http://schemas.microsoft.com/office/powerpoint/2010/main" val="75867322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4">
            <a:extLst>
              <a:ext uri="{FF2B5EF4-FFF2-40B4-BE49-F238E27FC236}">
                <a16:creationId xmlns:a16="http://schemas.microsoft.com/office/drawing/2014/main" id="{79BEBF7F-C896-4427-833A-F8D6401109CC}"/>
              </a:ext>
            </a:extLst>
          </p:cNvPr>
          <p:cNvGraphicFramePr>
            <a:graphicFrameLocks noGrp="1"/>
          </p:cNvGraphicFramePr>
          <p:nvPr>
            <p:extLst>
              <p:ext uri="{D42A27DB-BD31-4B8C-83A1-F6EECF244321}">
                <p14:modId xmlns:p14="http://schemas.microsoft.com/office/powerpoint/2010/main" val="607533897"/>
              </p:ext>
            </p:extLst>
          </p:nvPr>
        </p:nvGraphicFramePr>
        <p:xfrm>
          <a:off x="699295" y="3488033"/>
          <a:ext cx="8659970" cy="2390400"/>
        </p:xfrm>
        <a:graphic>
          <a:graphicData uri="http://schemas.openxmlformats.org/drawingml/2006/table">
            <a:tbl>
              <a:tblPr firstRow="1" bandRow="1">
                <a:tableStyleId>{5940675A-B579-460E-94D1-54222C63F5DA}</a:tableStyleId>
              </a:tblPr>
              <a:tblGrid>
                <a:gridCol w="1530864">
                  <a:extLst>
                    <a:ext uri="{9D8B030D-6E8A-4147-A177-3AD203B41FA5}">
                      <a16:colId xmlns:a16="http://schemas.microsoft.com/office/drawing/2014/main" val="20000"/>
                    </a:ext>
                  </a:extLst>
                </a:gridCol>
                <a:gridCol w="1309702">
                  <a:extLst>
                    <a:ext uri="{9D8B030D-6E8A-4147-A177-3AD203B41FA5}">
                      <a16:colId xmlns:a16="http://schemas.microsoft.com/office/drawing/2014/main" val="20001"/>
                    </a:ext>
                  </a:extLst>
                </a:gridCol>
                <a:gridCol w="1385020">
                  <a:extLst>
                    <a:ext uri="{9D8B030D-6E8A-4147-A177-3AD203B41FA5}">
                      <a16:colId xmlns:a16="http://schemas.microsoft.com/office/drawing/2014/main" val="20002"/>
                    </a:ext>
                  </a:extLst>
                </a:gridCol>
                <a:gridCol w="1757427">
                  <a:extLst>
                    <a:ext uri="{9D8B030D-6E8A-4147-A177-3AD203B41FA5}">
                      <a16:colId xmlns:a16="http://schemas.microsoft.com/office/drawing/2014/main" val="1767892721"/>
                    </a:ext>
                  </a:extLst>
                </a:gridCol>
                <a:gridCol w="1221830">
                  <a:extLst>
                    <a:ext uri="{9D8B030D-6E8A-4147-A177-3AD203B41FA5}">
                      <a16:colId xmlns:a16="http://schemas.microsoft.com/office/drawing/2014/main" val="774661330"/>
                    </a:ext>
                  </a:extLst>
                </a:gridCol>
                <a:gridCol w="1455127">
                  <a:extLst>
                    <a:ext uri="{9D8B030D-6E8A-4147-A177-3AD203B41FA5}">
                      <a16:colId xmlns:a16="http://schemas.microsoft.com/office/drawing/2014/main" val="1836977935"/>
                    </a:ext>
                  </a:extLst>
                </a:gridCol>
              </a:tblGrid>
              <a:tr h="298800">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A.Name</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Gender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algn="ctr"/>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Age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193EB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B.Name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Position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tc>
                  <a:txBody>
                    <a:bodyPr/>
                    <a:lstStyle/>
                    <a:p>
                      <a:pPr marL="0" algn="ctr" defTabSz="914400" rtl="0" eaLnBrk="1" latinLnBrk="1" hangingPunct="1"/>
                      <a:r>
                        <a:rPr lang="en-US" sz="1400" b="0" kern="1200" dirty="0">
                          <a:gradFill>
                            <a:gsLst>
                              <a:gs pos="0">
                                <a:schemeClr val="bg1"/>
                              </a:gs>
                              <a:gs pos="100000">
                                <a:schemeClr val="bg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Wage</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Harry</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Potter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23</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8800">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David Baker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31</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8800">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22</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John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Smith</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Intern</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25000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43686523"/>
                  </a:ext>
                </a:extLst>
              </a:tr>
              <a:tr h="298800">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Juan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Martinez</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36</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4206271"/>
                  </a:ext>
                </a:extLst>
              </a:tr>
              <a:tr h="298800">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Female</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30</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Jane Connor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Manager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70000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19788350"/>
                  </a:ext>
                </a:extLst>
              </a:tr>
              <a:tr h="2988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Alex Du Bois</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Team Lead</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75000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925341"/>
                  </a:ext>
                </a:extLst>
              </a:tr>
              <a:tr h="2988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NA</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Joanne Rowling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Manager</a:t>
                      </a:r>
                    </a:p>
                  </a:txBody>
                  <a:tcPr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90000</a:t>
                      </a:r>
                    </a:p>
                  </a:txBody>
                  <a:tcPr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84061580"/>
                  </a:ext>
                </a:extLst>
              </a:tr>
            </a:tbl>
          </a:graphicData>
        </a:graphic>
      </p:graphicFrame>
      <p:grpSp>
        <p:nvGrpSpPr>
          <p:cNvPr id="11" name="그룹 10"/>
          <p:cNvGrpSpPr/>
          <p:nvPr/>
        </p:nvGrpSpPr>
        <p:grpSpPr>
          <a:xfrm>
            <a:off x="3853896" y="2060848"/>
            <a:ext cx="2195033" cy="1287239"/>
            <a:chOff x="5917852" y="2705299"/>
            <a:chExt cx="2195033" cy="1287239"/>
          </a:xfrm>
        </p:grpSpPr>
        <p:sp>
          <p:nvSpPr>
            <p:cNvPr id="12" name="Oval 3">
              <a:extLst>
                <a:ext uri="{FF2B5EF4-FFF2-40B4-BE49-F238E27FC236}">
                  <a16:creationId xmlns:a16="http://schemas.microsoft.com/office/drawing/2014/main" id="{C3A2620E-F710-44ED-91A1-92594597DCB8}"/>
                </a:ext>
              </a:extLst>
            </p:cNvPr>
            <p:cNvSpPr/>
            <p:nvPr/>
          </p:nvSpPr>
          <p:spPr>
            <a:xfrm>
              <a:off x="5917852" y="2705299"/>
              <a:ext cx="1287239" cy="1287239"/>
            </a:xfrm>
            <a:prstGeom prst="ellipse">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msungOne 700" panose="020B0803030303020204" pitchFamily="34" charset="0"/>
              </a:endParaRPr>
            </a:p>
          </p:txBody>
        </p:sp>
        <p:sp>
          <p:nvSpPr>
            <p:cNvPr id="13" name="Oval 16">
              <a:extLst>
                <a:ext uri="{FF2B5EF4-FFF2-40B4-BE49-F238E27FC236}">
                  <a16:creationId xmlns:a16="http://schemas.microsoft.com/office/drawing/2014/main" id="{3D63BBA8-13FD-4824-88B8-2D454435DC2A}"/>
                </a:ext>
              </a:extLst>
            </p:cNvPr>
            <p:cNvSpPr/>
            <p:nvPr/>
          </p:nvSpPr>
          <p:spPr>
            <a:xfrm>
              <a:off x="6825646" y="2705299"/>
              <a:ext cx="1287239" cy="1287239"/>
            </a:xfrm>
            <a:prstGeom prst="ellipse">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msungOne 700" panose="020B0803030303020204" pitchFamily="34" charset="0"/>
              </a:endParaRPr>
            </a:p>
          </p:txBody>
        </p:sp>
      </p:grpSp>
      <p:grpSp>
        <p:nvGrpSpPr>
          <p:cNvPr id="19" name="그룹 18">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0" name="직사각형 19">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1" name="직사각형 20">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5" name="직사각형 14">
            <a:extLst>
              <a:ext uri="{FF2B5EF4-FFF2-40B4-BE49-F238E27FC236}">
                <a16:creationId xmlns:a16="http://schemas.microsoft.com/office/drawing/2014/main" id="{7532BD83-F2C1-48D6-991A-48068CCD2B3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Merging DataFrames: Full outer join</a:t>
            </a:r>
          </a:p>
        </p:txBody>
      </p:sp>
    </p:spTree>
    <p:extLst>
      <p:ext uri="{BB962C8B-B14F-4D97-AF65-F5344CB8AC3E}">
        <p14:creationId xmlns:p14="http://schemas.microsoft.com/office/powerpoint/2010/main" val="164207846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CF375338-14F1-47EC-8EA3-FCDC82F89882}"/>
              </a:ext>
            </a:extLst>
          </p:cNvPr>
          <p:cNvGrpSpPr/>
          <p:nvPr/>
        </p:nvGrpSpPr>
        <p:grpSpPr>
          <a:xfrm>
            <a:off x="558396" y="1772816"/>
            <a:ext cx="8782050" cy="1355576"/>
            <a:chOff x="558396" y="1844824"/>
            <a:chExt cx="8782050" cy="135557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8396" y="1844824"/>
              <a:ext cx="8782050" cy="13555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3070"/>
            <a:stretch/>
          </p:blipFill>
          <p:spPr>
            <a:xfrm>
              <a:off x="596901" y="1931778"/>
              <a:ext cx="8742793" cy="1212783"/>
            </a:xfrm>
            <a:prstGeom prst="rect">
              <a:avLst/>
            </a:prstGeom>
          </p:spPr>
        </p:pic>
      </p:gr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8" name="직사각형 27">
            <a:extLst>
              <a:ext uri="{FF2B5EF4-FFF2-40B4-BE49-F238E27FC236}">
                <a16:creationId xmlns:a16="http://schemas.microsoft.com/office/drawing/2014/main" id="{7E3EAE4C-FB58-4499-B9BB-6AAF4F855F3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Merging and Binding DataFrames:</a:t>
            </a:r>
          </a:p>
        </p:txBody>
      </p:sp>
      <p:grpSp>
        <p:nvGrpSpPr>
          <p:cNvPr id="5" name="그룹 4">
            <a:extLst>
              <a:ext uri="{FF2B5EF4-FFF2-40B4-BE49-F238E27FC236}">
                <a16:creationId xmlns:a16="http://schemas.microsoft.com/office/drawing/2014/main" id="{89767CB6-E1CE-41C5-B7A4-9DBDC9C932CB}"/>
              </a:ext>
            </a:extLst>
          </p:cNvPr>
          <p:cNvGrpSpPr/>
          <p:nvPr/>
        </p:nvGrpSpPr>
        <p:grpSpPr>
          <a:xfrm>
            <a:off x="557644" y="3215346"/>
            <a:ext cx="8782050" cy="2594904"/>
            <a:chOff x="557644" y="3215346"/>
            <a:chExt cx="8782050" cy="2594904"/>
          </a:xfrm>
        </p:grpSpPr>
        <p:grpSp>
          <p:nvGrpSpPr>
            <p:cNvPr id="17" name="그룹 16"/>
            <p:cNvGrpSpPr/>
            <p:nvPr/>
          </p:nvGrpSpPr>
          <p:grpSpPr>
            <a:xfrm>
              <a:off x="557644" y="3215346"/>
              <a:ext cx="8782050" cy="2594904"/>
              <a:chOff x="568325" y="5114924"/>
              <a:chExt cx="8782050" cy="2681380"/>
            </a:xfrm>
          </p:grpSpPr>
          <p:sp>
            <p:nvSpPr>
              <p:cNvPr id="18" name="모서리가 둥근 직사각형 4">
                <a:extLst>
                  <a:ext uri="{FF2B5EF4-FFF2-40B4-BE49-F238E27FC236}">
                    <a16:creationId xmlns:a16="http://schemas.microsoft.com/office/drawing/2014/main" id="{930158F8-A5B7-4F97-8E44-C73FC55364FC}"/>
                  </a:ext>
                </a:extLst>
              </p:cNvPr>
              <p:cNvSpPr/>
              <p:nvPr/>
            </p:nvSpPr>
            <p:spPr>
              <a:xfrm>
                <a:off x="568325" y="5114924"/>
                <a:ext cx="8782050" cy="26813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9" name="그룹 18"/>
              <p:cNvGrpSpPr/>
              <p:nvPr/>
            </p:nvGrpSpPr>
            <p:grpSpPr>
              <a:xfrm>
                <a:off x="675835" y="5210921"/>
                <a:ext cx="1477946" cy="302132"/>
                <a:chOff x="732985" y="5582396"/>
                <a:chExt cx="1477946" cy="302132"/>
              </a:xfrm>
            </p:grpSpPr>
            <p:pic>
              <p:nvPicPr>
                <p:cNvPr id="21"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0" name="TextBox 19">
                <a:extLst>
                  <a:ext uri="{FF2B5EF4-FFF2-40B4-BE49-F238E27FC236}">
                    <a16:creationId xmlns:a16="http://schemas.microsoft.com/office/drawing/2014/main" id="{FF266B98-5C19-4B37-8678-61D0A80AF6D7}"/>
                  </a:ext>
                </a:extLst>
              </p:cNvPr>
              <p:cNvSpPr txBox="1"/>
              <p:nvPr/>
            </p:nvSpPr>
            <p:spPr>
              <a:xfrm>
                <a:off x="1035256" y="5556976"/>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Inner join</a:t>
                </a:r>
              </a:p>
            </p:txBody>
          </p:sp>
        </p:grpSp>
        <p:grpSp>
          <p:nvGrpSpPr>
            <p:cNvPr id="31" name="그룹 30">
              <a:extLst>
                <a:ext uri="{FF2B5EF4-FFF2-40B4-BE49-F238E27FC236}">
                  <a16:creationId xmlns:a16="http://schemas.microsoft.com/office/drawing/2014/main" id="{0D8F4CA7-4F7A-4C13-A794-7B942B19785E}"/>
                </a:ext>
              </a:extLst>
            </p:cNvPr>
            <p:cNvGrpSpPr/>
            <p:nvPr/>
          </p:nvGrpSpPr>
          <p:grpSpPr>
            <a:xfrm>
              <a:off x="665154" y="3938835"/>
              <a:ext cx="8640559" cy="534950"/>
              <a:chOff x="665154" y="3305875"/>
              <a:chExt cx="8640559" cy="534950"/>
            </a:xfrm>
          </p:grpSpPr>
          <p:grpSp>
            <p:nvGrpSpPr>
              <p:cNvPr id="32" name="그룹 31">
                <a:extLst>
                  <a:ext uri="{FF2B5EF4-FFF2-40B4-BE49-F238E27FC236}">
                    <a16:creationId xmlns:a16="http://schemas.microsoft.com/office/drawing/2014/main" id="{0D0A2EEA-3D91-473A-99E3-BDAF8298C6B5}"/>
                  </a:ext>
                </a:extLst>
              </p:cNvPr>
              <p:cNvGrpSpPr/>
              <p:nvPr/>
            </p:nvGrpSpPr>
            <p:grpSpPr>
              <a:xfrm>
                <a:off x="665154" y="3305875"/>
                <a:ext cx="1477946" cy="292388"/>
                <a:chOff x="732985" y="5582396"/>
                <a:chExt cx="1477946" cy="302132"/>
              </a:xfrm>
            </p:grpSpPr>
            <p:pic>
              <p:nvPicPr>
                <p:cNvPr id="34" name="Picture 2" descr="Byte - Free electronics icons">
                  <a:extLst>
                    <a:ext uri="{FF2B5EF4-FFF2-40B4-BE49-F238E27FC236}">
                      <a16:creationId xmlns:a16="http://schemas.microsoft.com/office/drawing/2014/main" id="{F9901F6A-645F-489B-8320-268E28081247}"/>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2847488B-DF2D-4C23-AB65-EE1F3A4C2EE0}"/>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3" name="TextBox 32">
                <a:extLst>
                  <a:ext uri="{FF2B5EF4-FFF2-40B4-BE49-F238E27FC236}">
                    <a16:creationId xmlns:a16="http://schemas.microsoft.com/office/drawing/2014/main" id="{EA335F7D-5FA0-4A1E-8249-2C231DDBE7C9}"/>
                  </a:ext>
                </a:extLst>
              </p:cNvPr>
              <p:cNvSpPr txBox="1"/>
              <p:nvPr/>
            </p:nvSpPr>
            <p:spPr>
              <a:xfrm>
                <a:off x="1024575" y="364077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Left join</a:t>
                </a:r>
              </a:p>
            </p:txBody>
          </p:sp>
        </p:grpSp>
        <p:grpSp>
          <p:nvGrpSpPr>
            <p:cNvPr id="36" name="그룹 35">
              <a:extLst>
                <a:ext uri="{FF2B5EF4-FFF2-40B4-BE49-F238E27FC236}">
                  <a16:creationId xmlns:a16="http://schemas.microsoft.com/office/drawing/2014/main" id="{78BAD899-86F1-4DF4-888C-5DFEEF26DE55}"/>
                </a:ext>
              </a:extLst>
            </p:cNvPr>
            <p:cNvGrpSpPr/>
            <p:nvPr/>
          </p:nvGrpSpPr>
          <p:grpSpPr>
            <a:xfrm>
              <a:off x="665154" y="4559490"/>
              <a:ext cx="8640559" cy="534950"/>
              <a:chOff x="665154" y="3327085"/>
              <a:chExt cx="8640559" cy="534950"/>
            </a:xfrm>
          </p:grpSpPr>
          <p:grpSp>
            <p:nvGrpSpPr>
              <p:cNvPr id="37" name="그룹 36">
                <a:extLst>
                  <a:ext uri="{FF2B5EF4-FFF2-40B4-BE49-F238E27FC236}">
                    <a16:creationId xmlns:a16="http://schemas.microsoft.com/office/drawing/2014/main" id="{E50AA644-3556-417A-B368-6C21F55C35B1}"/>
                  </a:ext>
                </a:extLst>
              </p:cNvPr>
              <p:cNvGrpSpPr/>
              <p:nvPr/>
            </p:nvGrpSpPr>
            <p:grpSpPr>
              <a:xfrm>
                <a:off x="665154" y="3327085"/>
                <a:ext cx="1477946" cy="292388"/>
                <a:chOff x="732985" y="5582396"/>
                <a:chExt cx="1477946" cy="302132"/>
              </a:xfrm>
            </p:grpSpPr>
            <p:pic>
              <p:nvPicPr>
                <p:cNvPr id="39" name="Picture 2" descr="Byte - Free electronics icons">
                  <a:extLst>
                    <a:ext uri="{FF2B5EF4-FFF2-40B4-BE49-F238E27FC236}">
                      <a16:creationId xmlns:a16="http://schemas.microsoft.com/office/drawing/2014/main" id="{BEFCF574-7621-4B84-8236-7C114F8A904F}"/>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CB35A0F5-2AF4-4E7E-B81A-4A327698A51E}"/>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8" name="TextBox 37">
                <a:extLst>
                  <a:ext uri="{FF2B5EF4-FFF2-40B4-BE49-F238E27FC236}">
                    <a16:creationId xmlns:a16="http://schemas.microsoft.com/office/drawing/2014/main" id="{665FDA29-FF0E-4BF1-A316-2DFBC946BEEB}"/>
                  </a:ext>
                </a:extLst>
              </p:cNvPr>
              <p:cNvSpPr txBox="1"/>
              <p:nvPr/>
            </p:nvSpPr>
            <p:spPr>
              <a:xfrm>
                <a:off x="1024575" y="366198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Right join</a:t>
                </a:r>
              </a:p>
            </p:txBody>
          </p:sp>
        </p:grpSp>
        <p:grpSp>
          <p:nvGrpSpPr>
            <p:cNvPr id="41" name="그룹 40">
              <a:extLst>
                <a:ext uri="{FF2B5EF4-FFF2-40B4-BE49-F238E27FC236}">
                  <a16:creationId xmlns:a16="http://schemas.microsoft.com/office/drawing/2014/main" id="{DB2D60BE-C16D-42C2-BF81-217178FC28AD}"/>
                </a:ext>
              </a:extLst>
            </p:cNvPr>
            <p:cNvGrpSpPr/>
            <p:nvPr/>
          </p:nvGrpSpPr>
          <p:grpSpPr>
            <a:xfrm>
              <a:off x="665154" y="5155997"/>
              <a:ext cx="8640559" cy="534950"/>
              <a:chOff x="665154" y="3327085"/>
              <a:chExt cx="8640559" cy="534950"/>
            </a:xfrm>
          </p:grpSpPr>
          <p:grpSp>
            <p:nvGrpSpPr>
              <p:cNvPr id="42" name="그룹 41">
                <a:extLst>
                  <a:ext uri="{FF2B5EF4-FFF2-40B4-BE49-F238E27FC236}">
                    <a16:creationId xmlns:a16="http://schemas.microsoft.com/office/drawing/2014/main" id="{EA015894-4F55-45D5-AD45-D12E6862FFD6}"/>
                  </a:ext>
                </a:extLst>
              </p:cNvPr>
              <p:cNvGrpSpPr/>
              <p:nvPr/>
            </p:nvGrpSpPr>
            <p:grpSpPr>
              <a:xfrm>
                <a:off x="665154" y="3327085"/>
                <a:ext cx="1477946" cy="292388"/>
                <a:chOff x="732985" y="5582396"/>
                <a:chExt cx="1477946" cy="302132"/>
              </a:xfrm>
            </p:grpSpPr>
            <p:pic>
              <p:nvPicPr>
                <p:cNvPr id="44" name="Picture 2" descr="Byte - Free electronics icons">
                  <a:extLst>
                    <a:ext uri="{FF2B5EF4-FFF2-40B4-BE49-F238E27FC236}">
                      <a16:creationId xmlns:a16="http://schemas.microsoft.com/office/drawing/2014/main" id="{6E223764-EB8C-40EA-82E8-95885C5114E5}"/>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F52DDBB2-5938-4076-9DF4-CF017DA48B74}"/>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3" name="TextBox 42">
                <a:extLst>
                  <a:ext uri="{FF2B5EF4-FFF2-40B4-BE49-F238E27FC236}">
                    <a16:creationId xmlns:a16="http://schemas.microsoft.com/office/drawing/2014/main" id="{47851B71-A885-44F9-9D9F-077013D3F9CE}"/>
                  </a:ext>
                </a:extLst>
              </p:cNvPr>
              <p:cNvSpPr txBox="1"/>
              <p:nvPr/>
            </p:nvSpPr>
            <p:spPr>
              <a:xfrm>
                <a:off x="1024575" y="3661980"/>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Full outer join</a:t>
                </a:r>
              </a:p>
            </p:txBody>
          </p:sp>
        </p:grpSp>
      </p:grpSp>
    </p:spTree>
    <p:extLst>
      <p:ext uri="{BB962C8B-B14F-4D97-AF65-F5344CB8AC3E}">
        <p14:creationId xmlns:p14="http://schemas.microsoft.com/office/powerpoint/2010/main" val="409731293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그룹 16"/>
          <p:cNvGrpSpPr/>
          <p:nvPr/>
        </p:nvGrpSpPr>
        <p:grpSpPr>
          <a:xfrm>
            <a:off x="557644" y="2621289"/>
            <a:ext cx="8782050" cy="1360161"/>
            <a:chOff x="568325" y="5114924"/>
            <a:chExt cx="8782050" cy="1405487"/>
          </a:xfrm>
        </p:grpSpPr>
        <p:sp>
          <p:nvSpPr>
            <p:cNvPr id="18" name="모서리가 둥근 직사각형 4">
              <a:extLst>
                <a:ext uri="{FF2B5EF4-FFF2-40B4-BE49-F238E27FC236}">
                  <a16:creationId xmlns:a16="http://schemas.microsoft.com/office/drawing/2014/main" id="{930158F8-A5B7-4F97-8E44-C73FC55364FC}"/>
                </a:ext>
              </a:extLst>
            </p:cNvPr>
            <p:cNvSpPr/>
            <p:nvPr/>
          </p:nvSpPr>
          <p:spPr>
            <a:xfrm>
              <a:off x="568325" y="5114924"/>
              <a:ext cx="8782050" cy="14054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9" name="그룹 18"/>
            <p:cNvGrpSpPr/>
            <p:nvPr/>
          </p:nvGrpSpPr>
          <p:grpSpPr>
            <a:xfrm>
              <a:off x="675835" y="5210921"/>
              <a:ext cx="1477946" cy="302132"/>
              <a:chOff x="732985" y="5582396"/>
              <a:chExt cx="1477946" cy="302132"/>
            </a:xfrm>
          </p:grpSpPr>
          <p:pic>
            <p:nvPicPr>
              <p:cNvPr id="21"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0" name="TextBox 19">
              <a:extLst>
                <a:ext uri="{FF2B5EF4-FFF2-40B4-BE49-F238E27FC236}">
                  <a16:creationId xmlns:a16="http://schemas.microsoft.com/office/drawing/2014/main" id="{FF266B98-5C19-4B37-8678-61D0A80AF6D7}"/>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Bind vertically by matching the column names.</a:t>
              </a:r>
            </a:p>
          </p:txBody>
        </p:sp>
      </p:grpSp>
      <p:grpSp>
        <p:nvGrpSpPr>
          <p:cNvPr id="2" name="그룹 1">
            <a:extLst>
              <a:ext uri="{FF2B5EF4-FFF2-40B4-BE49-F238E27FC236}">
                <a16:creationId xmlns:a16="http://schemas.microsoft.com/office/drawing/2014/main" id="{F85FA0A2-A8ED-46BE-A18E-70E78782F06F}"/>
              </a:ext>
            </a:extLst>
          </p:cNvPr>
          <p:cNvGrpSpPr/>
          <p:nvPr/>
        </p:nvGrpSpPr>
        <p:grpSpPr>
          <a:xfrm>
            <a:off x="558396" y="1772816"/>
            <a:ext cx="8782050" cy="745976"/>
            <a:chOff x="558396" y="1844825"/>
            <a:chExt cx="8782050" cy="74597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8396" y="1844825"/>
              <a:ext cx="8782050" cy="7459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23374"/>
            <a:stretch/>
          </p:blipFill>
          <p:spPr>
            <a:xfrm>
              <a:off x="568325" y="1887367"/>
              <a:ext cx="8771369" cy="674857"/>
            </a:xfrm>
            <a:prstGeom prst="rect">
              <a:avLst/>
            </a:prstGeom>
          </p:spPr>
        </p:pic>
      </p:gr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8" name="직사각형 27">
            <a:extLst>
              <a:ext uri="{FF2B5EF4-FFF2-40B4-BE49-F238E27FC236}">
                <a16:creationId xmlns:a16="http://schemas.microsoft.com/office/drawing/2014/main" id="{C61202A9-31E7-42A7-AC35-7CC304B5F5E8}"/>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Merging and Binding DataFrames:</a:t>
            </a:r>
          </a:p>
        </p:txBody>
      </p:sp>
      <p:grpSp>
        <p:nvGrpSpPr>
          <p:cNvPr id="31" name="그룹 30">
            <a:extLst>
              <a:ext uri="{FF2B5EF4-FFF2-40B4-BE49-F238E27FC236}">
                <a16:creationId xmlns:a16="http://schemas.microsoft.com/office/drawing/2014/main" id="{C007FB95-53BB-4390-A96A-6BF2FCBDDE98}"/>
              </a:ext>
            </a:extLst>
          </p:cNvPr>
          <p:cNvGrpSpPr/>
          <p:nvPr/>
        </p:nvGrpSpPr>
        <p:grpSpPr>
          <a:xfrm>
            <a:off x="665154" y="3330859"/>
            <a:ext cx="8640559" cy="534949"/>
            <a:chOff x="665154" y="2842461"/>
            <a:chExt cx="8640559" cy="534949"/>
          </a:xfrm>
        </p:grpSpPr>
        <p:grpSp>
          <p:nvGrpSpPr>
            <p:cNvPr id="32" name="그룹 31">
              <a:extLst>
                <a:ext uri="{FF2B5EF4-FFF2-40B4-BE49-F238E27FC236}">
                  <a16:creationId xmlns:a16="http://schemas.microsoft.com/office/drawing/2014/main" id="{FA22EB4E-3C2A-4202-B16F-D05E13557F0D}"/>
                </a:ext>
              </a:extLst>
            </p:cNvPr>
            <p:cNvGrpSpPr/>
            <p:nvPr/>
          </p:nvGrpSpPr>
          <p:grpSpPr>
            <a:xfrm>
              <a:off x="665154" y="2842461"/>
              <a:ext cx="1477946" cy="292388"/>
              <a:chOff x="732985" y="5582396"/>
              <a:chExt cx="1477946" cy="302132"/>
            </a:xfrm>
          </p:grpSpPr>
          <p:pic>
            <p:nvPicPr>
              <p:cNvPr id="34" name="Picture 2" descr="Byte - Free electronics icons">
                <a:extLst>
                  <a:ext uri="{FF2B5EF4-FFF2-40B4-BE49-F238E27FC236}">
                    <a16:creationId xmlns:a16="http://schemas.microsoft.com/office/drawing/2014/main" id="{518480D1-D613-47A2-A213-71708D37896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4AA8D39F-939C-4D8B-867E-B4BCDE7C5A14}"/>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3" name="TextBox 32">
              <a:extLst>
                <a:ext uri="{FF2B5EF4-FFF2-40B4-BE49-F238E27FC236}">
                  <a16:creationId xmlns:a16="http://schemas.microsoft.com/office/drawing/2014/main" id="{A569ED95-094C-4F8A-B932-BC3C85A52970}"/>
                </a:ext>
              </a:extLst>
            </p:cNvPr>
            <p:cNvSpPr txBox="1"/>
            <p:nvPr/>
          </p:nvSpPr>
          <p:spPr>
            <a:xfrm>
              <a:off x="1024575" y="3177355"/>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Bind horizontally by matching the indices.</a:t>
              </a:r>
            </a:p>
          </p:txBody>
        </p:sp>
      </p:grpSp>
    </p:spTree>
    <p:extLst>
      <p:ext uri="{BB962C8B-B14F-4D97-AF65-F5344CB8AC3E}">
        <p14:creationId xmlns:p14="http://schemas.microsoft.com/office/powerpoint/2010/main" val="294993978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04C69D5D-4F90-48AE-897C-D14DD4ED05E4}"/>
              </a:ext>
            </a:extLst>
          </p:cNvPr>
          <p:cNvGrpSpPr/>
          <p:nvPr/>
        </p:nvGrpSpPr>
        <p:grpSpPr>
          <a:xfrm>
            <a:off x="580388" y="1413381"/>
            <a:ext cx="8887612" cy="1535699"/>
            <a:chOff x="580388" y="1413381"/>
            <a:chExt cx="8887612" cy="1535699"/>
          </a:xfrm>
        </p:grpSpPr>
        <p:sp>
          <p:nvSpPr>
            <p:cNvPr id="28" name="직사각형 27">
              <a:extLst>
                <a:ext uri="{FF2B5EF4-FFF2-40B4-BE49-F238E27FC236}">
                  <a16:creationId xmlns:a16="http://schemas.microsoft.com/office/drawing/2014/main" id="{6AAC80D9-DBC8-41DA-83D9-AAFB759990D8}"/>
                </a:ext>
              </a:extLst>
            </p:cNvPr>
            <p:cNvSpPr/>
            <p:nvPr/>
          </p:nvSpPr>
          <p:spPr>
            <a:xfrm>
              <a:off x="711200" y="1700808"/>
              <a:ext cx="8632825" cy="12482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data is divided into several places, it may be necessary to combine them into one or bind the data. In pandas, functions used to combine or bind DataFrames include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concat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merge(), and join.</a:t>
              </a:r>
            </a:p>
            <a:p>
              <a:pPr marL="182563" indent="-182563">
                <a:spcAft>
                  <a:spcPts val="4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pandas.concat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(list of DataFrames)</a:t>
              </a:r>
            </a:p>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axial direction is not specified, the default option axis=0 is applied and connected in the up/down row direction.</a:t>
              </a:r>
            </a:p>
          </p:txBody>
        </p:sp>
        <p:sp>
          <p:nvSpPr>
            <p:cNvPr id="11" name="직사각형 10">
              <a:extLst>
                <a:ext uri="{FF2B5EF4-FFF2-40B4-BE49-F238E27FC236}">
                  <a16:creationId xmlns:a16="http://schemas.microsoft.com/office/drawing/2014/main" id="{7E1050CB-55D4-4D7C-A4E1-BB2C1F853B9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Binding DataFrames</a:t>
              </a:r>
            </a:p>
          </p:txBody>
        </p:sp>
      </p:grpSp>
    </p:spTree>
    <p:extLst>
      <p:ext uri="{BB962C8B-B14F-4D97-AF65-F5344CB8AC3E}">
        <p14:creationId xmlns:p14="http://schemas.microsoft.com/office/powerpoint/2010/main" val="326162770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EBDABF7D-4394-4770-9A96-AF210FDB1CD9}"/>
              </a:ext>
            </a:extLst>
          </p:cNvPr>
          <p:cNvGrpSpPr/>
          <p:nvPr/>
        </p:nvGrpSpPr>
        <p:grpSpPr>
          <a:xfrm>
            <a:off x="559817" y="1729383"/>
            <a:ext cx="8782050" cy="3880842"/>
            <a:chOff x="559817" y="1729383"/>
            <a:chExt cx="8782050" cy="3880842"/>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729383"/>
              <a:ext cx="8782050" cy="38808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85" r="17419" b="3723"/>
            <a:stretch/>
          </p:blipFill>
          <p:spPr>
            <a:xfrm>
              <a:off x="609601" y="1783085"/>
              <a:ext cx="8732266" cy="3679136"/>
            </a:xfrm>
            <a:prstGeom prst="rect">
              <a:avLst/>
            </a:prstGeom>
          </p:spPr>
        </p:pic>
      </p:grpSp>
      <p:sp>
        <p:nvSpPr>
          <p:cNvPr id="11" name="직사각형 10">
            <a:extLst>
              <a:ext uri="{FF2B5EF4-FFF2-40B4-BE49-F238E27FC236}">
                <a16:creationId xmlns:a16="http://schemas.microsoft.com/office/drawing/2014/main" id="{F6FAC94E-CD1E-4E7B-A5EF-6EF9C31E615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Binding DataFrames</a:t>
            </a:r>
          </a:p>
        </p:txBody>
      </p:sp>
    </p:spTree>
    <p:extLst>
      <p:ext uri="{BB962C8B-B14F-4D97-AF65-F5344CB8AC3E}">
        <p14:creationId xmlns:p14="http://schemas.microsoft.com/office/powerpoint/2010/main" val="189430414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1" name="직사각형 10">
            <a:extLst>
              <a:ext uri="{FF2B5EF4-FFF2-40B4-BE49-F238E27FC236}">
                <a16:creationId xmlns:a16="http://schemas.microsoft.com/office/drawing/2014/main" id="{00A1EE0D-48B3-47DF-9317-98763AD3D582}"/>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Binding DataFrames</a:t>
            </a:r>
          </a:p>
        </p:txBody>
      </p:sp>
      <p:grpSp>
        <p:nvGrpSpPr>
          <p:cNvPr id="2" name="그룹 1">
            <a:extLst>
              <a:ext uri="{FF2B5EF4-FFF2-40B4-BE49-F238E27FC236}">
                <a16:creationId xmlns:a16="http://schemas.microsoft.com/office/drawing/2014/main" id="{24AF668B-1D60-4117-A371-0DC689DC2C83}"/>
              </a:ext>
            </a:extLst>
          </p:cNvPr>
          <p:cNvGrpSpPr/>
          <p:nvPr/>
        </p:nvGrpSpPr>
        <p:grpSpPr>
          <a:xfrm>
            <a:off x="559817" y="1729383"/>
            <a:ext cx="8782051" cy="3537942"/>
            <a:chOff x="559817" y="1729383"/>
            <a:chExt cx="8782051" cy="3537942"/>
          </a:xfrm>
        </p:grpSpPr>
        <p:sp>
          <p:nvSpPr>
            <p:cNvPr id="10" name="모서리가 둥근 직사각형 4">
              <a:extLst>
                <a:ext uri="{FF2B5EF4-FFF2-40B4-BE49-F238E27FC236}">
                  <a16:creationId xmlns:a16="http://schemas.microsoft.com/office/drawing/2014/main" id="{DB65F2FF-6A27-4550-8C61-DC8E0A0D58A3}"/>
                </a:ext>
              </a:extLst>
            </p:cNvPr>
            <p:cNvSpPr/>
            <p:nvPr/>
          </p:nvSpPr>
          <p:spPr>
            <a:xfrm>
              <a:off x="559817" y="1729383"/>
              <a:ext cx="8782050" cy="35379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그림 11">
              <a:extLst>
                <a:ext uri="{FF2B5EF4-FFF2-40B4-BE49-F238E27FC236}">
                  <a16:creationId xmlns:a16="http://schemas.microsoft.com/office/drawing/2014/main" id="{7465CC86-6AF9-4715-A4FB-657E0183837A}"/>
                </a:ext>
              </a:extLst>
            </p:cNvPr>
            <p:cNvPicPr>
              <a:picLocks noChangeAspect="1"/>
            </p:cNvPicPr>
            <p:nvPr/>
          </p:nvPicPr>
          <p:blipFill rotWithShape="1">
            <a:blip r:embed="rId4"/>
            <a:srcRect l="1560" r="16117" b="4045"/>
            <a:stretch/>
          </p:blipFill>
          <p:spPr>
            <a:xfrm>
              <a:off x="666750" y="1783086"/>
              <a:ext cx="8675118" cy="3350890"/>
            </a:xfrm>
            <a:prstGeom prst="rect">
              <a:avLst/>
            </a:prstGeom>
          </p:spPr>
        </p:pic>
      </p:grpSp>
    </p:spTree>
    <p:extLst>
      <p:ext uri="{BB962C8B-B14F-4D97-AF65-F5344CB8AC3E}">
        <p14:creationId xmlns:p14="http://schemas.microsoft.com/office/powerpoint/2010/main" val="2990227664"/>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9D540CFA-253D-4193-9F1F-B303D6DA9686}"/>
              </a:ext>
            </a:extLst>
          </p:cNvPr>
          <p:cNvGrpSpPr/>
          <p:nvPr/>
        </p:nvGrpSpPr>
        <p:grpSpPr>
          <a:xfrm>
            <a:off x="559817" y="2043010"/>
            <a:ext cx="8782051" cy="3690246"/>
            <a:chOff x="559817" y="2100954"/>
            <a:chExt cx="8782051" cy="369024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2100954"/>
              <a:ext cx="8782050" cy="369024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187" r="14992"/>
            <a:stretch/>
          </p:blipFill>
          <p:spPr>
            <a:xfrm>
              <a:off x="624414" y="2176530"/>
              <a:ext cx="8717454" cy="3560294"/>
            </a:xfrm>
            <a:prstGeom prst="rect">
              <a:avLst/>
            </a:prstGeom>
          </p:spPr>
        </p:pic>
      </p:grpSp>
      <p:grpSp>
        <p:nvGrpSpPr>
          <p:cNvPr id="12" name="그룹 11">
            <a:extLst>
              <a:ext uri="{FF2B5EF4-FFF2-40B4-BE49-F238E27FC236}">
                <a16:creationId xmlns:a16="http://schemas.microsoft.com/office/drawing/2014/main" id="{5BF64A29-E07C-4DDB-B3FC-230689BD99B9}"/>
              </a:ext>
            </a:extLst>
          </p:cNvPr>
          <p:cNvGrpSpPr/>
          <p:nvPr/>
        </p:nvGrpSpPr>
        <p:grpSpPr>
          <a:xfrm>
            <a:off x="580388" y="1413381"/>
            <a:ext cx="8887612" cy="568109"/>
            <a:chOff x="580388" y="1413381"/>
            <a:chExt cx="8887612" cy="568109"/>
          </a:xfrm>
        </p:grpSpPr>
        <p:sp>
          <p:nvSpPr>
            <p:cNvPr id="13" name="직사각형 12">
              <a:extLst>
                <a:ext uri="{FF2B5EF4-FFF2-40B4-BE49-F238E27FC236}">
                  <a16:creationId xmlns:a16="http://schemas.microsoft.com/office/drawing/2014/main" id="{E2B6747E-823E-4529-BBF3-8AB78BA31420}"/>
                </a:ext>
              </a:extLst>
            </p:cNvPr>
            <p:cNvSpPr/>
            <p:nvPr/>
          </p:nvSpPr>
          <p:spPr>
            <a:xfrm>
              <a:off x="711200" y="163602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Rows 0, 1, 2, and 3 derived from df1 are entered as NaN because there is no column ”d.”</a:t>
              </a:r>
            </a:p>
          </p:txBody>
        </p:sp>
        <p:sp>
          <p:nvSpPr>
            <p:cNvPr id="14" name="직사각형 13">
              <a:extLst>
                <a:ext uri="{FF2B5EF4-FFF2-40B4-BE49-F238E27FC236}">
                  <a16:creationId xmlns:a16="http://schemas.microsoft.com/office/drawing/2014/main" id="{06545082-FD7E-44CE-A243-9A540C3BAD1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Binding DataFrames</a:t>
              </a:r>
            </a:p>
          </p:txBody>
        </p:sp>
      </p:grpSp>
    </p:spTree>
    <p:extLst>
      <p:ext uri="{BB962C8B-B14F-4D97-AF65-F5344CB8AC3E}">
        <p14:creationId xmlns:p14="http://schemas.microsoft.com/office/powerpoint/2010/main" val="56501743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793C851C-6DDC-4133-8485-41CD6DD74B15}"/>
              </a:ext>
            </a:extLst>
          </p:cNvPr>
          <p:cNvGrpSpPr/>
          <p:nvPr/>
        </p:nvGrpSpPr>
        <p:grpSpPr>
          <a:xfrm>
            <a:off x="559817" y="2043010"/>
            <a:ext cx="8782051" cy="3690246"/>
            <a:chOff x="559817" y="2043010"/>
            <a:chExt cx="8782051" cy="3690246"/>
          </a:xfrm>
        </p:grpSpPr>
        <p:sp>
          <p:nvSpPr>
            <p:cNvPr id="17" name="모서리가 둥근 직사각형 4">
              <a:extLst>
                <a:ext uri="{FF2B5EF4-FFF2-40B4-BE49-F238E27FC236}">
                  <a16:creationId xmlns:a16="http://schemas.microsoft.com/office/drawing/2014/main" id="{D5612FAD-3380-4818-B2AB-CC1D14E56811}"/>
                </a:ext>
              </a:extLst>
            </p:cNvPr>
            <p:cNvSpPr/>
            <p:nvPr/>
          </p:nvSpPr>
          <p:spPr>
            <a:xfrm>
              <a:off x="559817" y="2043010"/>
              <a:ext cx="8782050" cy="369024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991" r="16015"/>
            <a:stretch/>
          </p:blipFill>
          <p:spPr>
            <a:xfrm>
              <a:off x="628650" y="2089423"/>
              <a:ext cx="8713218" cy="3632302"/>
            </a:xfrm>
            <a:prstGeom prst="rect">
              <a:avLst/>
            </a:prstGeom>
          </p:spPr>
        </p:pic>
      </p:grpSp>
      <p:grpSp>
        <p:nvGrpSpPr>
          <p:cNvPr id="12" name="그룹 11">
            <a:extLst>
              <a:ext uri="{FF2B5EF4-FFF2-40B4-BE49-F238E27FC236}">
                <a16:creationId xmlns:a16="http://schemas.microsoft.com/office/drawing/2014/main" id="{E6A23ABA-8FFE-46BE-9BC6-00339205BE23}"/>
              </a:ext>
            </a:extLst>
          </p:cNvPr>
          <p:cNvGrpSpPr/>
          <p:nvPr/>
        </p:nvGrpSpPr>
        <p:grpSpPr>
          <a:xfrm>
            <a:off x="580388" y="1413381"/>
            <a:ext cx="8887612" cy="560905"/>
            <a:chOff x="580388" y="1413381"/>
            <a:chExt cx="8887612" cy="560905"/>
          </a:xfrm>
        </p:grpSpPr>
        <p:sp>
          <p:nvSpPr>
            <p:cNvPr id="13" name="직사각형 12">
              <a:extLst>
                <a:ext uri="{FF2B5EF4-FFF2-40B4-BE49-F238E27FC236}">
                  <a16:creationId xmlns:a16="http://schemas.microsoft.com/office/drawing/2014/main" id="{3B461E04-FBA2-4473-8C06-E068892B74E5}"/>
                </a:ext>
              </a:extLst>
            </p:cNvPr>
            <p:cNvSpPr/>
            <p:nvPr/>
          </p:nvSpPr>
          <p:spPr>
            <a:xfrm>
              <a:off x="711200" y="162882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help(</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pd.concat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ignore_index</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F332CA64-4770-4413-8553-4DDED65DAE7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Binding DataFrames</a:t>
              </a:r>
            </a:p>
          </p:txBody>
        </p:sp>
      </p:grpSp>
    </p:spTree>
    <p:extLst>
      <p:ext uri="{BB962C8B-B14F-4D97-AF65-F5344CB8AC3E}">
        <p14:creationId xmlns:p14="http://schemas.microsoft.com/office/powerpoint/2010/main" val="43191640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5" name="그룹 4">
            <a:extLst>
              <a:ext uri="{FF2B5EF4-FFF2-40B4-BE49-F238E27FC236}">
                <a16:creationId xmlns:a16="http://schemas.microsoft.com/office/drawing/2014/main" id="{1F94A2CF-6614-46A1-95D8-6B43E4129CFB}"/>
              </a:ext>
            </a:extLst>
          </p:cNvPr>
          <p:cNvGrpSpPr/>
          <p:nvPr/>
        </p:nvGrpSpPr>
        <p:grpSpPr>
          <a:xfrm>
            <a:off x="559817" y="2043010"/>
            <a:ext cx="8782050" cy="3062390"/>
            <a:chOff x="559817" y="2043010"/>
            <a:chExt cx="8782050" cy="3062390"/>
          </a:xfrm>
        </p:grpSpPr>
        <p:sp>
          <p:nvSpPr>
            <p:cNvPr id="20" name="모서리가 둥근 직사각형 4">
              <a:extLst>
                <a:ext uri="{FF2B5EF4-FFF2-40B4-BE49-F238E27FC236}">
                  <a16:creationId xmlns:a16="http://schemas.microsoft.com/office/drawing/2014/main" id="{ECAC25D5-EA07-4FFF-A45F-E98C5D8385B7}"/>
                </a:ext>
              </a:extLst>
            </p:cNvPr>
            <p:cNvSpPr/>
            <p:nvPr/>
          </p:nvSpPr>
          <p:spPr>
            <a:xfrm>
              <a:off x="559817" y="2043010"/>
              <a:ext cx="8782050" cy="306239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283" r="16028"/>
            <a:stretch/>
          </p:blipFill>
          <p:spPr>
            <a:xfrm>
              <a:off x="638174" y="2147714"/>
              <a:ext cx="8703693" cy="2934900"/>
            </a:xfrm>
            <a:prstGeom prst="rect">
              <a:avLst/>
            </a:prstGeom>
          </p:spPr>
        </p:pic>
      </p:grpSp>
      <p:grpSp>
        <p:nvGrpSpPr>
          <p:cNvPr id="17" name="그룹 16">
            <a:extLst>
              <a:ext uri="{FF2B5EF4-FFF2-40B4-BE49-F238E27FC236}">
                <a16:creationId xmlns:a16="http://schemas.microsoft.com/office/drawing/2014/main" id="{374BE43B-9192-419E-8A51-4E4B822FE569}"/>
              </a:ext>
            </a:extLst>
          </p:cNvPr>
          <p:cNvGrpSpPr/>
          <p:nvPr/>
        </p:nvGrpSpPr>
        <p:grpSpPr>
          <a:xfrm>
            <a:off x="580388" y="1413381"/>
            <a:ext cx="8887612" cy="560905"/>
            <a:chOff x="580388" y="1413381"/>
            <a:chExt cx="8887612" cy="560905"/>
          </a:xfrm>
        </p:grpSpPr>
        <p:sp>
          <p:nvSpPr>
            <p:cNvPr id="18" name="직사각형 17">
              <a:extLst>
                <a:ext uri="{FF2B5EF4-FFF2-40B4-BE49-F238E27FC236}">
                  <a16:creationId xmlns:a16="http://schemas.microsoft.com/office/drawing/2014/main" id="{7F183272-B905-45B6-99E3-250799250821}"/>
                </a:ext>
              </a:extLst>
            </p:cNvPr>
            <p:cNvSpPr/>
            <p:nvPr/>
          </p:nvSpPr>
          <p:spPr>
            <a:xfrm>
              <a:off x="711200" y="162882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Axis=1 option binds the DataFrame in the left/right column directions.</a:t>
              </a:r>
            </a:p>
          </p:txBody>
        </p:sp>
        <p:sp>
          <p:nvSpPr>
            <p:cNvPr id="19" name="직사각형 18">
              <a:extLst>
                <a:ext uri="{FF2B5EF4-FFF2-40B4-BE49-F238E27FC236}">
                  <a16:creationId xmlns:a16="http://schemas.microsoft.com/office/drawing/2014/main" id="{519D014B-B50C-4133-9EDA-C1491C785FB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Binding DataFrames</a:t>
              </a:r>
            </a:p>
          </p:txBody>
        </p:sp>
      </p:grpSp>
    </p:spTree>
    <p:extLst>
      <p:ext uri="{BB962C8B-B14F-4D97-AF65-F5344CB8AC3E}">
        <p14:creationId xmlns:p14="http://schemas.microsoft.com/office/powerpoint/2010/main" val="372663130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3" name="그룹 12">
            <a:extLst>
              <a:ext uri="{FF2B5EF4-FFF2-40B4-BE49-F238E27FC236}">
                <a16:creationId xmlns:a16="http://schemas.microsoft.com/office/drawing/2014/main" id="{8E8EC2E1-0748-47CE-89EF-D5285C514537}"/>
              </a:ext>
            </a:extLst>
          </p:cNvPr>
          <p:cNvGrpSpPr/>
          <p:nvPr/>
        </p:nvGrpSpPr>
        <p:grpSpPr>
          <a:xfrm>
            <a:off x="580388" y="1413381"/>
            <a:ext cx="8887612" cy="979677"/>
            <a:chOff x="580388" y="1413381"/>
            <a:chExt cx="8887612" cy="979677"/>
          </a:xfrm>
        </p:grpSpPr>
        <p:sp>
          <p:nvSpPr>
            <p:cNvPr id="14" name="직사각형 13">
              <a:extLst>
                <a:ext uri="{FF2B5EF4-FFF2-40B4-BE49-F238E27FC236}">
                  <a16:creationId xmlns:a16="http://schemas.microsoft.com/office/drawing/2014/main" id="{0E89F545-982E-4B25-8AF0-96B1E1836B64}"/>
                </a:ext>
              </a:extLst>
            </p:cNvPr>
            <p:cNvSpPr/>
            <p:nvPr/>
          </p:nvSpPr>
          <p:spPr>
            <a:xfrm>
              <a:off x="711200" y="1647487"/>
              <a:ext cx="8632825"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concat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function is a concept that merges the two DataFrames by a certain criterion in a manner similar to SQL’s join command. In this case, the column or index that is the reference is referred to as a key. The key must exist in both DataFrames.</a:t>
              </a:r>
            </a:p>
          </p:txBody>
        </p:sp>
        <p:sp>
          <p:nvSpPr>
            <p:cNvPr id="15" name="직사각형 14">
              <a:extLst>
                <a:ext uri="{FF2B5EF4-FFF2-40B4-BE49-F238E27FC236}">
                  <a16:creationId xmlns:a16="http://schemas.microsoft.com/office/drawing/2014/main" id="{4FF06A6C-EE95-4045-97AD-CD7873A045EB}"/>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5" name="그룹 4">
            <a:extLst>
              <a:ext uri="{FF2B5EF4-FFF2-40B4-BE49-F238E27FC236}">
                <a16:creationId xmlns:a16="http://schemas.microsoft.com/office/drawing/2014/main" id="{6ECC0A6F-9967-4598-AAE8-8C71B13675C5}"/>
              </a:ext>
            </a:extLst>
          </p:cNvPr>
          <p:cNvGrpSpPr/>
          <p:nvPr/>
        </p:nvGrpSpPr>
        <p:grpSpPr>
          <a:xfrm>
            <a:off x="559817" y="2420888"/>
            <a:ext cx="8782050" cy="3427462"/>
            <a:chOff x="559817" y="2420888"/>
            <a:chExt cx="8782050" cy="3427462"/>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2420888"/>
              <a:ext cx="8782050" cy="342746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l="1371" r="16166"/>
            <a:stretch/>
          </p:blipFill>
          <p:spPr>
            <a:xfrm>
              <a:off x="665981" y="2523017"/>
              <a:ext cx="8675886" cy="3279108"/>
            </a:xfrm>
            <a:prstGeom prst="rect">
              <a:avLst/>
            </a:prstGeom>
          </p:spPr>
        </p:pic>
        <p:sp>
          <p:nvSpPr>
            <p:cNvPr id="17" name="직사각형 16">
              <a:extLst>
                <a:ext uri="{FF2B5EF4-FFF2-40B4-BE49-F238E27FC236}">
                  <a16:creationId xmlns:a16="http://schemas.microsoft.com/office/drawing/2014/main" id="{23EEFAD1-ECC5-4B55-8027-92DEADC1A8F9}"/>
                </a:ext>
              </a:extLst>
            </p:cNvPr>
            <p:cNvSpPr/>
            <p:nvPr/>
          </p:nvSpPr>
          <p:spPr>
            <a:xfrm>
              <a:off x="1358156" y="2597178"/>
              <a:ext cx="4752528" cy="20527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1200" i="1" dirty="0">
                  <a:solidFill>
                    <a:srgbClr val="007671"/>
                  </a:solidFill>
                  <a:latin typeface="D2Coding" panose="020B0609020101020101" pitchFamily="49" charset="-127"/>
                  <a:ea typeface="D2Coding" panose="020B0609020101020101" pitchFamily="49" charset="-127"/>
                </a:rPr>
                <a:t># Creating a DataFrame with Stock Market Data</a:t>
              </a:r>
            </a:p>
          </p:txBody>
        </p:sp>
      </p:grpSp>
    </p:spTree>
    <p:extLst>
      <p:ext uri="{BB962C8B-B14F-4D97-AF65-F5344CB8AC3E}">
        <p14:creationId xmlns:p14="http://schemas.microsoft.com/office/powerpoint/2010/main" val="3704410422"/>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8" name="직사각형 17">
            <a:extLst>
              <a:ext uri="{FF2B5EF4-FFF2-40B4-BE49-F238E27FC236}">
                <a16:creationId xmlns:a16="http://schemas.microsoft.com/office/drawing/2014/main" id="{ACBC2D78-C315-487E-A101-9B56F6FC1E54}"/>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nvGrpSpPr>
          <p:cNvPr id="29" name="그룹 28">
            <a:extLst>
              <a:ext uri="{FF2B5EF4-FFF2-40B4-BE49-F238E27FC236}">
                <a16:creationId xmlns:a16="http://schemas.microsoft.com/office/drawing/2014/main" id="{9EE1BA4E-3A24-8CF7-676F-D3F674D3E591}"/>
              </a:ext>
            </a:extLst>
          </p:cNvPr>
          <p:cNvGrpSpPr/>
          <p:nvPr/>
        </p:nvGrpSpPr>
        <p:grpSpPr>
          <a:xfrm>
            <a:off x="559817" y="1729992"/>
            <a:ext cx="8782050" cy="2501540"/>
            <a:chOff x="559817" y="1729992"/>
            <a:chExt cx="8782050" cy="2501540"/>
          </a:xfrm>
        </p:grpSpPr>
        <p:sp>
          <p:nvSpPr>
            <p:cNvPr id="7" name="모서리가 둥근 직사각형 4">
              <a:extLst>
                <a:ext uri="{FF2B5EF4-FFF2-40B4-BE49-F238E27FC236}">
                  <a16:creationId xmlns:a16="http://schemas.microsoft.com/office/drawing/2014/main" id="{898BD0C3-40EC-9C6D-434A-FC9DFD4C0DE0}"/>
                </a:ext>
              </a:extLst>
            </p:cNvPr>
            <p:cNvSpPr/>
            <p:nvPr/>
          </p:nvSpPr>
          <p:spPr>
            <a:xfrm>
              <a:off x="559817" y="1729992"/>
              <a:ext cx="8782050" cy="250154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13CC4902-028B-0499-8AF3-B4EA65138469}"/>
                </a:ext>
              </a:extLst>
            </p:cNvPr>
            <p:cNvPicPr>
              <a:picLocks noChangeAspect="1"/>
            </p:cNvPicPr>
            <p:nvPr/>
          </p:nvPicPr>
          <p:blipFill>
            <a:blip r:embed="rId4"/>
            <a:stretch>
              <a:fillRect/>
            </a:stretch>
          </p:blipFill>
          <p:spPr>
            <a:xfrm>
              <a:off x="713192" y="1901596"/>
              <a:ext cx="677863" cy="602545"/>
            </a:xfrm>
            <a:prstGeom prst="rect">
              <a:avLst/>
            </a:prstGeom>
          </p:spPr>
        </p:pic>
        <p:sp>
          <p:nvSpPr>
            <p:cNvPr id="13" name="직사각형 12">
              <a:extLst>
                <a:ext uri="{FF2B5EF4-FFF2-40B4-BE49-F238E27FC236}">
                  <a16:creationId xmlns:a16="http://schemas.microsoft.com/office/drawing/2014/main" id="{9EB8DADC-E512-0C4B-A7C9-F895408ED798}"/>
                </a:ext>
              </a:extLst>
            </p:cNvPr>
            <p:cNvSpPr/>
            <p:nvPr/>
          </p:nvSpPr>
          <p:spPr>
            <a:xfrm>
              <a:off x="1059640" y="1965037"/>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11</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15" name="직사각형 14">
              <a:extLst>
                <a:ext uri="{FF2B5EF4-FFF2-40B4-BE49-F238E27FC236}">
                  <a16:creationId xmlns:a16="http://schemas.microsoft.com/office/drawing/2014/main" id="{8905A9DA-9459-5F94-B643-A0B5A222ED59}"/>
                </a:ext>
              </a:extLst>
            </p:cNvPr>
            <p:cNvSpPr/>
            <p:nvPr/>
          </p:nvSpPr>
          <p:spPr>
            <a:xfrm>
              <a:off x="1057100" y="2312584"/>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11</a:t>
              </a:r>
              <a:endParaRPr lang="ko-KR" altLang="en-US" sz="1050" dirty="0">
                <a:solidFill>
                  <a:srgbClr val="D73F11"/>
                </a:solidFill>
                <a:latin typeface="D2Coding" panose="020B0609020101020101" pitchFamily="49" charset="-127"/>
                <a:ea typeface="D2Coding" panose="020B0609020101020101" pitchFamily="49" charset="-127"/>
              </a:endParaRPr>
            </a:p>
          </p:txBody>
        </p:sp>
        <p:pic>
          <p:nvPicPr>
            <p:cNvPr id="28" name="그림 27">
              <a:extLst>
                <a:ext uri="{FF2B5EF4-FFF2-40B4-BE49-F238E27FC236}">
                  <a16:creationId xmlns:a16="http://schemas.microsoft.com/office/drawing/2014/main" id="{D83B72DD-A428-0FDD-96CE-C673213DD3D7}"/>
                </a:ext>
              </a:extLst>
            </p:cNvPr>
            <p:cNvPicPr>
              <a:picLocks noChangeAspect="1"/>
            </p:cNvPicPr>
            <p:nvPr/>
          </p:nvPicPr>
          <p:blipFill rotWithShape="1">
            <a:blip r:embed="rId5"/>
            <a:srcRect l="8487" r="17074"/>
            <a:stretch/>
          </p:blipFill>
          <p:spPr>
            <a:xfrm>
              <a:off x="1429365" y="1843378"/>
              <a:ext cx="7912502" cy="2349131"/>
            </a:xfrm>
            <a:prstGeom prst="rect">
              <a:avLst/>
            </a:prstGeom>
          </p:spPr>
        </p:pic>
      </p:grpSp>
    </p:spTree>
    <p:extLst>
      <p:ext uri="{BB962C8B-B14F-4D97-AF65-F5344CB8AC3E}">
        <p14:creationId xmlns:p14="http://schemas.microsoft.com/office/powerpoint/2010/main" val="1362802701"/>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1" name="직사각형 10">
            <a:extLst>
              <a:ext uri="{FF2B5EF4-FFF2-40B4-BE49-F238E27FC236}">
                <a16:creationId xmlns:a16="http://schemas.microsoft.com/office/drawing/2014/main" id="{6AAC80D9-DBC8-41DA-83D9-AAFB759990D8}"/>
              </a:ext>
            </a:extLst>
          </p:cNvPr>
          <p:cNvSpPr/>
          <p:nvPr/>
        </p:nvSpPr>
        <p:spPr>
          <a:xfrm>
            <a:off x="711200" y="439194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key here must be an id with a non-overlapping value.</a:t>
            </a:r>
          </a:p>
        </p:txBody>
      </p:sp>
      <p:sp>
        <p:nvSpPr>
          <p:cNvPr id="15" name="직사각형 14">
            <a:extLst>
              <a:ext uri="{FF2B5EF4-FFF2-40B4-BE49-F238E27FC236}">
                <a16:creationId xmlns:a16="http://schemas.microsoft.com/office/drawing/2014/main" id="{2268E0FF-0222-4A34-A3CA-815B5F49431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nvGrpSpPr>
          <p:cNvPr id="18" name="그룹 17">
            <a:extLst>
              <a:ext uri="{FF2B5EF4-FFF2-40B4-BE49-F238E27FC236}">
                <a16:creationId xmlns:a16="http://schemas.microsoft.com/office/drawing/2014/main" id="{2C5CC4A1-1129-B0BD-B1FE-CDC9F724F1F8}"/>
              </a:ext>
            </a:extLst>
          </p:cNvPr>
          <p:cNvGrpSpPr/>
          <p:nvPr/>
        </p:nvGrpSpPr>
        <p:grpSpPr>
          <a:xfrm>
            <a:off x="559817" y="1729991"/>
            <a:ext cx="8782050" cy="2587365"/>
            <a:chOff x="559817" y="1729991"/>
            <a:chExt cx="8782050" cy="2587365"/>
          </a:xfrm>
        </p:grpSpPr>
        <p:grpSp>
          <p:nvGrpSpPr>
            <p:cNvPr id="3" name="그룹 2">
              <a:extLst>
                <a:ext uri="{FF2B5EF4-FFF2-40B4-BE49-F238E27FC236}">
                  <a16:creationId xmlns:a16="http://schemas.microsoft.com/office/drawing/2014/main" id="{F87943A8-3AC1-400B-B617-A75AD50FC4C0}"/>
                </a:ext>
              </a:extLst>
            </p:cNvPr>
            <p:cNvGrpSpPr/>
            <p:nvPr/>
          </p:nvGrpSpPr>
          <p:grpSpPr>
            <a:xfrm>
              <a:off x="559817" y="1729991"/>
              <a:ext cx="8782050" cy="2587365"/>
              <a:chOff x="559817" y="1729991"/>
              <a:chExt cx="8782050" cy="2587365"/>
            </a:xfrm>
          </p:grpSpPr>
          <p:sp>
            <p:nvSpPr>
              <p:cNvPr id="12" name="모서리가 둥근 직사각형 4">
                <a:extLst>
                  <a:ext uri="{FF2B5EF4-FFF2-40B4-BE49-F238E27FC236}">
                    <a16:creationId xmlns:a16="http://schemas.microsoft.com/office/drawing/2014/main" id="{99A3683D-13AA-35A1-27C8-6C2E0BE2852B}"/>
                  </a:ext>
                </a:extLst>
              </p:cNvPr>
              <p:cNvSpPr/>
              <p:nvPr/>
            </p:nvSpPr>
            <p:spPr>
              <a:xfrm>
                <a:off x="559817" y="1729991"/>
                <a:ext cx="8782050" cy="258736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7" name="그룹 6">
                <a:extLst>
                  <a:ext uri="{FF2B5EF4-FFF2-40B4-BE49-F238E27FC236}">
                    <a16:creationId xmlns:a16="http://schemas.microsoft.com/office/drawing/2014/main" id="{21C7E014-D059-232A-8B41-AABA4D85076B}"/>
                  </a:ext>
                </a:extLst>
              </p:cNvPr>
              <p:cNvGrpSpPr/>
              <p:nvPr/>
            </p:nvGrpSpPr>
            <p:grpSpPr>
              <a:xfrm>
                <a:off x="713192" y="1901596"/>
                <a:ext cx="677863" cy="602545"/>
                <a:chOff x="713192" y="2457856"/>
                <a:chExt cx="677863" cy="602545"/>
              </a:xfrm>
            </p:grpSpPr>
            <p:pic>
              <p:nvPicPr>
                <p:cNvPr id="8" name="그림 7">
                  <a:extLst>
                    <a:ext uri="{FF2B5EF4-FFF2-40B4-BE49-F238E27FC236}">
                      <a16:creationId xmlns:a16="http://schemas.microsoft.com/office/drawing/2014/main" id="{D706788D-7620-97FF-55D1-BAD4EB342FB5}"/>
                    </a:ext>
                  </a:extLst>
                </p:cNvPr>
                <p:cNvPicPr>
                  <a:picLocks noChangeAspect="1"/>
                </p:cNvPicPr>
                <p:nvPr/>
              </p:nvPicPr>
              <p:blipFill>
                <a:blip r:embed="rId4"/>
                <a:stretch>
                  <a:fillRect/>
                </a:stretch>
              </p:blipFill>
              <p:spPr>
                <a:xfrm>
                  <a:off x="713192" y="2457856"/>
                  <a:ext cx="677863" cy="602545"/>
                </a:xfrm>
                <a:prstGeom prst="rect">
                  <a:avLst/>
                </a:prstGeom>
              </p:spPr>
            </p:pic>
            <p:sp>
              <p:nvSpPr>
                <p:cNvPr id="9" name="직사각형 8">
                  <a:extLst>
                    <a:ext uri="{FF2B5EF4-FFF2-40B4-BE49-F238E27FC236}">
                      <a16:creationId xmlns:a16="http://schemas.microsoft.com/office/drawing/2014/main" id="{7E4B92CC-B1B6-8C98-AB78-50FA40F7E5CD}"/>
                    </a:ext>
                  </a:extLst>
                </p:cNvPr>
                <p:cNvSpPr/>
                <p:nvPr/>
              </p:nvSpPr>
              <p:spPr>
                <a:xfrm>
                  <a:off x="1049130" y="2521297"/>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12</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10" name="직사각형 9">
                  <a:extLst>
                    <a:ext uri="{FF2B5EF4-FFF2-40B4-BE49-F238E27FC236}">
                      <a16:creationId xmlns:a16="http://schemas.microsoft.com/office/drawing/2014/main" id="{0DECA2D5-BDED-87E9-B382-A4BBDD999902}"/>
                    </a:ext>
                  </a:extLst>
                </p:cNvPr>
                <p:cNvSpPr/>
                <p:nvPr/>
              </p:nvSpPr>
              <p:spPr>
                <a:xfrm>
                  <a:off x="1057100" y="2868844"/>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12</a:t>
                  </a:r>
                  <a:endParaRPr lang="ko-KR" altLang="en-US" sz="1050" dirty="0">
                    <a:solidFill>
                      <a:srgbClr val="D73F11"/>
                    </a:solidFill>
                    <a:latin typeface="D2Coding" panose="020B0609020101020101" pitchFamily="49" charset="-127"/>
                    <a:ea typeface="D2Coding" panose="020B0609020101020101" pitchFamily="49" charset="-127"/>
                  </a:endParaRPr>
                </a:p>
              </p:txBody>
            </p:sp>
          </p:grpSp>
        </p:grpSp>
        <p:pic>
          <p:nvPicPr>
            <p:cNvPr id="14" name="그림 13">
              <a:extLst>
                <a:ext uri="{FF2B5EF4-FFF2-40B4-BE49-F238E27FC236}">
                  <a16:creationId xmlns:a16="http://schemas.microsoft.com/office/drawing/2014/main" id="{C116FD21-0703-38E3-75B4-A6B0F1DD7668}"/>
                </a:ext>
              </a:extLst>
            </p:cNvPr>
            <p:cNvPicPr>
              <a:picLocks noChangeAspect="1"/>
            </p:cNvPicPr>
            <p:nvPr/>
          </p:nvPicPr>
          <p:blipFill rotWithShape="1">
            <a:blip r:embed="rId5"/>
            <a:srcRect r="19686"/>
            <a:stretch/>
          </p:blipFill>
          <p:spPr>
            <a:xfrm>
              <a:off x="1413075" y="1840385"/>
              <a:ext cx="7928791" cy="2372800"/>
            </a:xfrm>
            <a:prstGeom prst="rect">
              <a:avLst/>
            </a:prstGeom>
          </p:spPr>
        </p:pic>
      </p:grpSp>
    </p:spTree>
    <p:extLst>
      <p:ext uri="{BB962C8B-B14F-4D97-AF65-F5344CB8AC3E}">
        <p14:creationId xmlns:p14="http://schemas.microsoft.com/office/powerpoint/2010/main" val="111362626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3" name="그룹 12">
            <a:extLst>
              <a:ext uri="{FF2B5EF4-FFF2-40B4-BE49-F238E27FC236}">
                <a16:creationId xmlns:a16="http://schemas.microsoft.com/office/drawing/2014/main" id="{49511CB0-354D-4155-A663-6F40AA465669}"/>
              </a:ext>
            </a:extLst>
          </p:cNvPr>
          <p:cNvGrpSpPr/>
          <p:nvPr/>
        </p:nvGrpSpPr>
        <p:grpSpPr>
          <a:xfrm>
            <a:off x="580388" y="1413381"/>
            <a:ext cx="8887612" cy="598229"/>
            <a:chOff x="580388" y="1413381"/>
            <a:chExt cx="8887612" cy="598229"/>
          </a:xfrm>
        </p:grpSpPr>
        <p:sp>
          <p:nvSpPr>
            <p:cNvPr id="14" name="직사각형 13">
              <a:extLst>
                <a:ext uri="{FF2B5EF4-FFF2-40B4-BE49-F238E27FC236}">
                  <a16:creationId xmlns:a16="http://schemas.microsoft.com/office/drawing/2014/main" id="{31A044F0-8302-4236-ADC6-4CC7048C1870}"/>
                </a:ext>
              </a:extLst>
            </p:cNvPr>
            <p:cNvSpPr/>
            <p:nvPr/>
          </p:nvSpPr>
          <p:spPr>
            <a:xfrm>
              <a:off x="711200" y="16661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See help(pd.merge) for more detail. Let’s just put two DataFrames as parameters and merge them. </a:t>
              </a:r>
            </a:p>
          </p:txBody>
        </p:sp>
        <p:sp>
          <p:nvSpPr>
            <p:cNvPr id="15" name="직사각형 14">
              <a:extLst>
                <a:ext uri="{FF2B5EF4-FFF2-40B4-BE49-F238E27FC236}">
                  <a16:creationId xmlns:a16="http://schemas.microsoft.com/office/drawing/2014/main" id="{24793A4B-466B-46E2-8709-56C3C9538FD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20" name="그룹 19">
            <a:extLst>
              <a:ext uri="{FF2B5EF4-FFF2-40B4-BE49-F238E27FC236}">
                <a16:creationId xmlns:a16="http://schemas.microsoft.com/office/drawing/2014/main" id="{15984D25-5837-54EA-5DDD-2707052FB9AD}"/>
              </a:ext>
            </a:extLst>
          </p:cNvPr>
          <p:cNvGrpSpPr/>
          <p:nvPr/>
        </p:nvGrpSpPr>
        <p:grpSpPr>
          <a:xfrm>
            <a:off x="559817" y="2054196"/>
            <a:ext cx="8782051" cy="2436781"/>
            <a:chOff x="559817" y="2054196"/>
            <a:chExt cx="8782051" cy="2436781"/>
          </a:xfrm>
        </p:grpSpPr>
        <p:grpSp>
          <p:nvGrpSpPr>
            <p:cNvPr id="4" name="그룹 3">
              <a:extLst>
                <a:ext uri="{FF2B5EF4-FFF2-40B4-BE49-F238E27FC236}">
                  <a16:creationId xmlns:a16="http://schemas.microsoft.com/office/drawing/2014/main" id="{96B971B1-8001-44C1-D700-C5007C8FAFD7}"/>
                </a:ext>
              </a:extLst>
            </p:cNvPr>
            <p:cNvGrpSpPr/>
            <p:nvPr/>
          </p:nvGrpSpPr>
          <p:grpSpPr>
            <a:xfrm>
              <a:off x="559817" y="2054196"/>
              <a:ext cx="8782050" cy="2436781"/>
              <a:chOff x="559817" y="1729991"/>
              <a:chExt cx="8782050" cy="2436781"/>
            </a:xfrm>
          </p:grpSpPr>
          <p:sp>
            <p:nvSpPr>
              <p:cNvPr id="6" name="모서리가 둥근 직사각형 4">
                <a:extLst>
                  <a:ext uri="{FF2B5EF4-FFF2-40B4-BE49-F238E27FC236}">
                    <a16:creationId xmlns:a16="http://schemas.microsoft.com/office/drawing/2014/main" id="{2BE84B35-E745-BDF7-58C2-598EFEC6E119}"/>
                  </a:ext>
                </a:extLst>
              </p:cNvPr>
              <p:cNvSpPr/>
              <p:nvPr/>
            </p:nvSpPr>
            <p:spPr>
              <a:xfrm>
                <a:off x="559817" y="1729991"/>
                <a:ext cx="8782050" cy="243678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9" name="그룹 8">
                <a:extLst>
                  <a:ext uri="{FF2B5EF4-FFF2-40B4-BE49-F238E27FC236}">
                    <a16:creationId xmlns:a16="http://schemas.microsoft.com/office/drawing/2014/main" id="{8998B112-041C-4137-DEE2-B82E3FB27A8C}"/>
                  </a:ext>
                </a:extLst>
              </p:cNvPr>
              <p:cNvGrpSpPr/>
              <p:nvPr/>
            </p:nvGrpSpPr>
            <p:grpSpPr>
              <a:xfrm>
                <a:off x="713192" y="1901596"/>
                <a:ext cx="677863" cy="602545"/>
                <a:chOff x="713192" y="2457856"/>
                <a:chExt cx="677863" cy="602545"/>
              </a:xfrm>
            </p:grpSpPr>
            <p:pic>
              <p:nvPicPr>
                <p:cNvPr id="10" name="그림 9">
                  <a:extLst>
                    <a:ext uri="{FF2B5EF4-FFF2-40B4-BE49-F238E27FC236}">
                      <a16:creationId xmlns:a16="http://schemas.microsoft.com/office/drawing/2014/main" id="{09E2DA55-C37C-A7B5-A996-920A74EF958C}"/>
                    </a:ext>
                  </a:extLst>
                </p:cNvPr>
                <p:cNvPicPr>
                  <a:picLocks noChangeAspect="1"/>
                </p:cNvPicPr>
                <p:nvPr/>
              </p:nvPicPr>
              <p:blipFill>
                <a:blip r:embed="rId4"/>
                <a:stretch>
                  <a:fillRect/>
                </a:stretch>
              </p:blipFill>
              <p:spPr>
                <a:xfrm>
                  <a:off x="713192" y="2457856"/>
                  <a:ext cx="677863" cy="602545"/>
                </a:xfrm>
                <a:prstGeom prst="rect">
                  <a:avLst/>
                </a:prstGeom>
              </p:spPr>
            </p:pic>
            <p:sp>
              <p:nvSpPr>
                <p:cNvPr id="11" name="직사각형 10">
                  <a:extLst>
                    <a:ext uri="{FF2B5EF4-FFF2-40B4-BE49-F238E27FC236}">
                      <a16:creationId xmlns:a16="http://schemas.microsoft.com/office/drawing/2014/main" id="{B94E2F59-7EC6-7F37-C18B-8097E071CCE8}"/>
                    </a:ext>
                  </a:extLst>
                </p:cNvPr>
                <p:cNvSpPr/>
                <p:nvPr/>
              </p:nvSpPr>
              <p:spPr>
                <a:xfrm>
                  <a:off x="1059640" y="2521297"/>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13</a:t>
                  </a:r>
                  <a:endParaRPr lang="ko-KR" altLang="en-US" sz="1050" dirty="0">
                    <a:solidFill>
                      <a:srgbClr val="2D3C9D"/>
                    </a:solidFill>
                    <a:latin typeface="D2Coding" panose="020B0609020101020101" pitchFamily="49" charset="-127"/>
                    <a:ea typeface="D2Coding" panose="020B0609020101020101" pitchFamily="49" charset="-127"/>
                  </a:endParaRPr>
                </a:p>
              </p:txBody>
            </p:sp>
            <p:sp>
              <p:nvSpPr>
                <p:cNvPr id="12" name="직사각형 11">
                  <a:extLst>
                    <a:ext uri="{FF2B5EF4-FFF2-40B4-BE49-F238E27FC236}">
                      <a16:creationId xmlns:a16="http://schemas.microsoft.com/office/drawing/2014/main" id="{A372C015-E1E5-2E2B-33C6-2325E52A516F}"/>
                    </a:ext>
                  </a:extLst>
                </p:cNvPr>
                <p:cNvSpPr/>
                <p:nvPr/>
              </p:nvSpPr>
              <p:spPr>
                <a:xfrm>
                  <a:off x="1057100" y="2868844"/>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13</a:t>
                  </a:r>
                  <a:endParaRPr lang="ko-KR" altLang="en-US" sz="1050" dirty="0">
                    <a:solidFill>
                      <a:srgbClr val="D73F11"/>
                    </a:solidFill>
                    <a:latin typeface="D2Coding" panose="020B0609020101020101" pitchFamily="49" charset="-127"/>
                    <a:ea typeface="D2Coding" panose="020B0609020101020101" pitchFamily="49" charset="-127"/>
                  </a:endParaRPr>
                </a:p>
              </p:txBody>
            </p:sp>
          </p:grpSp>
        </p:grpSp>
        <p:pic>
          <p:nvPicPr>
            <p:cNvPr id="18" name="그림 17">
              <a:extLst>
                <a:ext uri="{FF2B5EF4-FFF2-40B4-BE49-F238E27FC236}">
                  <a16:creationId xmlns:a16="http://schemas.microsoft.com/office/drawing/2014/main" id="{01F81A5D-D95E-46D1-D40D-DE7A7BC3858A}"/>
                </a:ext>
              </a:extLst>
            </p:cNvPr>
            <p:cNvPicPr>
              <a:picLocks noChangeAspect="1"/>
            </p:cNvPicPr>
            <p:nvPr/>
          </p:nvPicPr>
          <p:blipFill rotWithShape="1">
            <a:blip r:embed="rId5"/>
            <a:srcRect r="19924" b="81058"/>
            <a:stretch/>
          </p:blipFill>
          <p:spPr>
            <a:xfrm>
              <a:off x="1412112" y="2159523"/>
              <a:ext cx="7929756" cy="456355"/>
            </a:xfrm>
            <a:prstGeom prst="rect">
              <a:avLst/>
            </a:prstGeom>
          </p:spPr>
        </p:pic>
        <p:pic>
          <p:nvPicPr>
            <p:cNvPr id="19" name="그림 18">
              <a:extLst>
                <a:ext uri="{FF2B5EF4-FFF2-40B4-BE49-F238E27FC236}">
                  <a16:creationId xmlns:a16="http://schemas.microsoft.com/office/drawing/2014/main" id="{B5C94D2F-63AB-F771-BBB4-76B487D2694E}"/>
                </a:ext>
              </a:extLst>
            </p:cNvPr>
            <p:cNvPicPr>
              <a:picLocks noChangeAspect="1"/>
            </p:cNvPicPr>
            <p:nvPr/>
          </p:nvPicPr>
          <p:blipFill rotWithShape="1">
            <a:blip r:embed="rId5"/>
            <a:srcRect t="18384" r="14101"/>
            <a:stretch/>
          </p:blipFill>
          <p:spPr>
            <a:xfrm>
              <a:off x="1354578" y="2620106"/>
              <a:ext cx="7880648" cy="1821681"/>
            </a:xfrm>
            <a:prstGeom prst="rect">
              <a:avLst/>
            </a:prstGeom>
          </p:spPr>
        </p:pic>
      </p:grpSp>
    </p:spTree>
    <p:extLst>
      <p:ext uri="{BB962C8B-B14F-4D97-AF65-F5344CB8AC3E}">
        <p14:creationId xmlns:p14="http://schemas.microsoft.com/office/powerpoint/2010/main" val="335353949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2" name="직사각형 11">
            <a:extLst>
              <a:ext uri="{FF2B5EF4-FFF2-40B4-BE49-F238E27FC236}">
                <a16:creationId xmlns:a16="http://schemas.microsoft.com/office/drawing/2014/main" id="{6AAC80D9-DBC8-41DA-83D9-AAFB759990D8}"/>
              </a:ext>
            </a:extLst>
          </p:cNvPr>
          <p:cNvSpPr/>
          <p:nvPr/>
        </p:nvSpPr>
        <p:spPr>
          <a:xfrm>
            <a:off x="711200" y="510848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there are no common column names, an error occurs.</a:t>
            </a:r>
          </a:p>
        </p:txBody>
      </p:sp>
      <p:sp>
        <p:nvSpPr>
          <p:cNvPr id="11" name="직사각형 10">
            <a:extLst>
              <a:ext uri="{FF2B5EF4-FFF2-40B4-BE49-F238E27FC236}">
                <a16:creationId xmlns:a16="http://schemas.microsoft.com/office/drawing/2014/main" id="{B33B8B30-2D34-403C-8FE2-C4BDA4E151F3}"/>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nvGrpSpPr>
          <p:cNvPr id="35" name="그룹 34">
            <a:extLst>
              <a:ext uri="{FF2B5EF4-FFF2-40B4-BE49-F238E27FC236}">
                <a16:creationId xmlns:a16="http://schemas.microsoft.com/office/drawing/2014/main" id="{F59D9EDE-1E7F-B42B-00D5-289F2F264700}"/>
              </a:ext>
            </a:extLst>
          </p:cNvPr>
          <p:cNvGrpSpPr/>
          <p:nvPr/>
        </p:nvGrpSpPr>
        <p:grpSpPr>
          <a:xfrm>
            <a:off x="559817" y="1723583"/>
            <a:ext cx="8782051" cy="3276680"/>
            <a:chOff x="559817" y="1723583"/>
            <a:chExt cx="8782051" cy="3276680"/>
          </a:xfrm>
        </p:grpSpPr>
        <p:sp>
          <p:nvSpPr>
            <p:cNvPr id="9" name="모서리가 둥근 직사각형 4">
              <a:extLst>
                <a:ext uri="{FF2B5EF4-FFF2-40B4-BE49-F238E27FC236}">
                  <a16:creationId xmlns:a16="http://schemas.microsoft.com/office/drawing/2014/main" id="{0B927A9F-1538-AB7C-D26D-3219EEEE2186}"/>
                </a:ext>
              </a:extLst>
            </p:cNvPr>
            <p:cNvSpPr/>
            <p:nvPr/>
          </p:nvSpPr>
          <p:spPr>
            <a:xfrm>
              <a:off x="559817" y="1723583"/>
              <a:ext cx="8782050" cy="32766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0" name="그룹 9">
              <a:extLst>
                <a:ext uri="{FF2B5EF4-FFF2-40B4-BE49-F238E27FC236}">
                  <a16:creationId xmlns:a16="http://schemas.microsoft.com/office/drawing/2014/main" id="{50D59E69-76A4-515F-2336-1D106DC3D953}"/>
                </a:ext>
              </a:extLst>
            </p:cNvPr>
            <p:cNvGrpSpPr/>
            <p:nvPr/>
          </p:nvGrpSpPr>
          <p:grpSpPr>
            <a:xfrm>
              <a:off x="713192" y="1895187"/>
              <a:ext cx="677863" cy="253653"/>
              <a:chOff x="713192" y="2457856"/>
              <a:chExt cx="677863" cy="253653"/>
            </a:xfrm>
          </p:grpSpPr>
          <p:pic>
            <p:nvPicPr>
              <p:cNvPr id="13" name="그림 12">
                <a:extLst>
                  <a:ext uri="{FF2B5EF4-FFF2-40B4-BE49-F238E27FC236}">
                    <a16:creationId xmlns:a16="http://schemas.microsoft.com/office/drawing/2014/main" id="{9762742B-08D2-9275-D874-CFA3CE582DCA}"/>
                  </a:ext>
                </a:extLst>
              </p:cNvPr>
              <p:cNvPicPr>
                <a:picLocks noChangeAspect="1"/>
              </p:cNvPicPr>
              <p:nvPr/>
            </p:nvPicPr>
            <p:blipFill rotWithShape="1">
              <a:blip r:embed="rId4"/>
              <a:srcRect b="57903"/>
              <a:stretch/>
            </p:blipFill>
            <p:spPr>
              <a:xfrm>
                <a:off x="713192" y="2457856"/>
                <a:ext cx="677863" cy="253653"/>
              </a:xfrm>
              <a:prstGeom prst="rect">
                <a:avLst/>
              </a:prstGeom>
            </p:spPr>
          </p:pic>
          <p:sp>
            <p:nvSpPr>
              <p:cNvPr id="14" name="직사각형 13">
                <a:extLst>
                  <a:ext uri="{FF2B5EF4-FFF2-40B4-BE49-F238E27FC236}">
                    <a16:creationId xmlns:a16="http://schemas.microsoft.com/office/drawing/2014/main" id="{2897C2EA-71D7-5EF4-4500-E26F838B493F}"/>
                  </a:ext>
                </a:extLst>
              </p:cNvPr>
              <p:cNvSpPr/>
              <p:nvPr/>
            </p:nvSpPr>
            <p:spPr>
              <a:xfrm>
                <a:off x="1059640" y="2517931"/>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14</a:t>
                </a:r>
                <a:endParaRPr lang="ko-KR" altLang="en-US" sz="1050" dirty="0">
                  <a:solidFill>
                    <a:srgbClr val="2D3C9D"/>
                  </a:solidFill>
                  <a:latin typeface="D2Coding" panose="020B0609020101020101" pitchFamily="49" charset="-127"/>
                  <a:ea typeface="D2Coding" panose="020B0609020101020101" pitchFamily="49" charset="-127"/>
                </a:endParaRPr>
              </a:p>
            </p:txBody>
          </p:sp>
        </p:grpSp>
        <p:pic>
          <p:nvPicPr>
            <p:cNvPr id="19" name="그림 18">
              <a:extLst>
                <a:ext uri="{FF2B5EF4-FFF2-40B4-BE49-F238E27FC236}">
                  <a16:creationId xmlns:a16="http://schemas.microsoft.com/office/drawing/2014/main" id="{409A80F1-070F-CE31-60C7-3F3ACA6A7030}"/>
                </a:ext>
              </a:extLst>
            </p:cNvPr>
            <p:cNvPicPr>
              <a:picLocks noChangeAspect="1"/>
            </p:cNvPicPr>
            <p:nvPr/>
          </p:nvPicPr>
          <p:blipFill rotWithShape="1">
            <a:blip r:embed="rId5"/>
            <a:srcRect r="19962" b="63013"/>
            <a:stretch/>
          </p:blipFill>
          <p:spPr>
            <a:xfrm>
              <a:off x="1415810" y="1810526"/>
              <a:ext cx="7926058" cy="1141018"/>
            </a:xfrm>
            <a:prstGeom prst="rect">
              <a:avLst/>
            </a:prstGeom>
          </p:spPr>
        </p:pic>
        <p:grpSp>
          <p:nvGrpSpPr>
            <p:cNvPr id="27" name="그룹 26">
              <a:extLst>
                <a:ext uri="{FF2B5EF4-FFF2-40B4-BE49-F238E27FC236}">
                  <a16:creationId xmlns:a16="http://schemas.microsoft.com/office/drawing/2014/main" id="{2C8CF08F-2F24-45A3-9B2A-F98A079ECD9F}"/>
                </a:ext>
              </a:extLst>
            </p:cNvPr>
            <p:cNvGrpSpPr/>
            <p:nvPr/>
          </p:nvGrpSpPr>
          <p:grpSpPr>
            <a:xfrm>
              <a:off x="711034" y="2590315"/>
              <a:ext cx="677863" cy="253653"/>
              <a:chOff x="713192" y="2457856"/>
              <a:chExt cx="677863" cy="253653"/>
            </a:xfrm>
          </p:grpSpPr>
          <p:pic>
            <p:nvPicPr>
              <p:cNvPr id="28" name="그림 27">
                <a:extLst>
                  <a:ext uri="{FF2B5EF4-FFF2-40B4-BE49-F238E27FC236}">
                    <a16:creationId xmlns:a16="http://schemas.microsoft.com/office/drawing/2014/main" id="{841C1373-37D1-27A9-77E7-F945FF799D9C}"/>
                  </a:ext>
                </a:extLst>
              </p:cNvPr>
              <p:cNvPicPr>
                <a:picLocks noChangeAspect="1"/>
              </p:cNvPicPr>
              <p:nvPr/>
            </p:nvPicPr>
            <p:blipFill rotWithShape="1">
              <a:blip r:embed="rId4"/>
              <a:srcRect b="57903"/>
              <a:stretch/>
            </p:blipFill>
            <p:spPr>
              <a:xfrm>
                <a:off x="713192" y="2457856"/>
                <a:ext cx="677863" cy="253653"/>
              </a:xfrm>
              <a:prstGeom prst="rect">
                <a:avLst/>
              </a:prstGeom>
            </p:spPr>
          </p:pic>
          <p:sp>
            <p:nvSpPr>
              <p:cNvPr id="29" name="직사각형 28">
                <a:extLst>
                  <a:ext uri="{FF2B5EF4-FFF2-40B4-BE49-F238E27FC236}">
                    <a16:creationId xmlns:a16="http://schemas.microsoft.com/office/drawing/2014/main" id="{E6718713-3F9D-4D7E-F384-16B7255191A0}"/>
                  </a:ext>
                </a:extLst>
              </p:cNvPr>
              <p:cNvSpPr/>
              <p:nvPr/>
            </p:nvSpPr>
            <p:spPr>
              <a:xfrm>
                <a:off x="1058575" y="2521297"/>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15</a:t>
                </a:r>
                <a:endParaRPr lang="ko-KR" altLang="en-US" sz="1050" dirty="0">
                  <a:solidFill>
                    <a:srgbClr val="2D3C9D"/>
                  </a:solidFill>
                  <a:latin typeface="D2Coding" panose="020B0609020101020101" pitchFamily="49" charset="-127"/>
                  <a:ea typeface="D2Coding" panose="020B0609020101020101" pitchFamily="49" charset="-127"/>
                </a:endParaRPr>
              </a:p>
            </p:txBody>
          </p:sp>
        </p:grpSp>
        <p:grpSp>
          <p:nvGrpSpPr>
            <p:cNvPr id="30" name="그룹 29">
              <a:extLst>
                <a:ext uri="{FF2B5EF4-FFF2-40B4-BE49-F238E27FC236}">
                  <a16:creationId xmlns:a16="http://schemas.microsoft.com/office/drawing/2014/main" id="{29C763A6-EC19-8E74-0DCB-4626274F98AB}"/>
                </a:ext>
              </a:extLst>
            </p:cNvPr>
            <p:cNvGrpSpPr/>
            <p:nvPr/>
          </p:nvGrpSpPr>
          <p:grpSpPr>
            <a:xfrm>
              <a:off x="704073" y="2985377"/>
              <a:ext cx="694706" cy="262093"/>
              <a:chOff x="713192" y="2798308"/>
              <a:chExt cx="694706" cy="262093"/>
            </a:xfrm>
          </p:grpSpPr>
          <p:pic>
            <p:nvPicPr>
              <p:cNvPr id="31" name="그림 30">
                <a:extLst>
                  <a:ext uri="{FF2B5EF4-FFF2-40B4-BE49-F238E27FC236}">
                    <a16:creationId xmlns:a16="http://schemas.microsoft.com/office/drawing/2014/main" id="{33FC40AB-236B-1014-5A40-EE7ECB2BFF55}"/>
                  </a:ext>
                </a:extLst>
              </p:cNvPr>
              <p:cNvPicPr>
                <a:picLocks noChangeAspect="1"/>
              </p:cNvPicPr>
              <p:nvPr/>
            </p:nvPicPr>
            <p:blipFill rotWithShape="1">
              <a:blip r:embed="rId4"/>
              <a:srcRect t="56503" r="-2484"/>
              <a:stretch/>
            </p:blipFill>
            <p:spPr>
              <a:xfrm>
                <a:off x="713192" y="2798308"/>
                <a:ext cx="694706" cy="262093"/>
              </a:xfrm>
              <a:prstGeom prst="rect">
                <a:avLst/>
              </a:prstGeom>
            </p:spPr>
          </p:pic>
          <p:sp>
            <p:nvSpPr>
              <p:cNvPr id="33" name="직사각형 32">
                <a:extLst>
                  <a:ext uri="{FF2B5EF4-FFF2-40B4-BE49-F238E27FC236}">
                    <a16:creationId xmlns:a16="http://schemas.microsoft.com/office/drawing/2014/main" id="{A755D1EB-6646-5A2E-0D85-A9ED9D26DB55}"/>
                  </a:ext>
                </a:extLst>
              </p:cNvPr>
              <p:cNvSpPr/>
              <p:nvPr/>
            </p:nvSpPr>
            <p:spPr>
              <a:xfrm>
                <a:off x="1064244" y="2868844"/>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15</a:t>
                </a:r>
                <a:endParaRPr lang="ko-KR" altLang="en-US" sz="1050" dirty="0">
                  <a:solidFill>
                    <a:srgbClr val="D73F11"/>
                  </a:solidFill>
                  <a:latin typeface="D2Coding" panose="020B0609020101020101" pitchFamily="49" charset="-127"/>
                  <a:ea typeface="D2Coding" panose="020B0609020101020101" pitchFamily="49" charset="-127"/>
                </a:endParaRPr>
              </a:p>
            </p:txBody>
          </p:sp>
        </p:grpSp>
        <p:pic>
          <p:nvPicPr>
            <p:cNvPr id="34" name="그림 33">
              <a:extLst>
                <a:ext uri="{FF2B5EF4-FFF2-40B4-BE49-F238E27FC236}">
                  <a16:creationId xmlns:a16="http://schemas.microsoft.com/office/drawing/2014/main" id="{D7FA71C8-8A93-B737-CE5F-AD3FA46B8DF1}"/>
                </a:ext>
              </a:extLst>
            </p:cNvPr>
            <p:cNvPicPr>
              <a:picLocks noChangeAspect="1"/>
            </p:cNvPicPr>
            <p:nvPr/>
          </p:nvPicPr>
          <p:blipFill rotWithShape="1">
            <a:blip r:embed="rId5"/>
            <a:srcRect t="36567" r="13993"/>
            <a:stretch/>
          </p:blipFill>
          <p:spPr>
            <a:xfrm>
              <a:off x="1341379" y="3101386"/>
              <a:ext cx="7926057" cy="1821090"/>
            </a:xfrm>
            <a:prstGeom prst="rect">
              <a:avLst/>
            </a:prstGeom>
          </p:spPr>
        </p:pic>
      </p:grpSp>
    </p:spTree>
    <p:extLst>
      <p:ext uri="{BB962C8B-B14F-4D97-AF65-F5344CB8AC3E}">
        <p14:creationId xmlns:p14="http://schemas.microsoft.com/office/powerpoint/2010/main" val="194294236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4" name="그룹 3">
            <a:extLst>
              <a:ext uri="{FF2B5EF4-FFF2-40B4-BE49-F238E27FC236}">
                <a16:creationId xmlns:a16="http://schemas.microsoft.com/office/drawing/2014/main" id="{29F27DBF-D3CE-4508-B50D-C7CFA5F71AEE}"/>
              </a:ext>
            </a:extLst>
          </p:cNvPr>
          <p:cNvGrpSpPr/>
          <p:nvPr/>
        </p:nvGrpSpPr>
        <p:grpSpPr>
          <a:xfrm>
            <a:off x="559817" y="2315207"/>
            <a:ext cx="8782051" cy="3024336"/>
            <a:chOff x="559817" y="2315207"/>
            <a:chExt cx="8782051" cy="302433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2315207"/>
              <a:ext cx="8782050" cy="30243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3283"/>
            <a:stretch/>
          </p:blipFill>
          <p:spPr>
            <a:xfrm>
              <a:off x="631378" y="2393723"/>
              <a:ext cx="8710490" cy="2878072"/>
            </a:xfrm>
            <a:prstGeom prst="rect">
              <a:avLst/>
            </a:prstGeom>
          </p:spPr>
        </p:pic>
      </p:grpSp>
      <p:grpSp>
        <p:nvGrpSpPr>
          <p:cNvPr id="12" name="그룹 11">
            <a:extLst>
              <a:ext uri="{FF2B5EF4-FFF2-40B4-BE49-F238E27FC236}">
                <a16:creationId xmlns:a16="http://schemas.microsoft.com/office/drawing/2014/main" id="{5BC4FB4A-3CA8-4556-8526-EA897BF22ED0}"/>
              </a:ext>
            </a:extLst>
          </p:cNvPr>
          <p:cNvGrpSpPr/>
          <p:nvPr/>
        </p:nvGrpSpPr>
        <p:grpSpPr>
          <a:xfrm>
            <a:off x="580388" y="1413381"/>
            <a:ext cx="8887612" cy="849580"/>
            <a:chOff x="580388" y="1413381"/>
            <a:chExt cx="8887612" cy="849580"/>
          </a:xfrm>
        </p:grpSpPr>
        <p:sp>
          <p:nvSpPr>
            <p:cNvPr id="13" name="직사각형 12">
              <a:extLst>
                <a:ext uri="{FF2B5EF4-FFF2-40B4-BE49-F238E27FC236}">
                  <a16:creationId xmlns:a16="http://schemas.microsoft.com/office/drawing/2014/main" id="{F004C536-87E6-4C27-A185-D6665F5959BB}"/>
                </a:ext>
              </a:extLst>
            </p:cNvPr>
            <p:cNvSpPr/>
            <p:nvPr/>
          </p:nvSpPr>
          <p:spPr>
            <a:xfrm>
              <a:off x="711200" y="1666149"/>
              <a:ext cx="8632825" cy="596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Here is how to solve the error.</a:t>
              </a:r>
            </a:p>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Bring the file again.</a:t>
              </a:r>
            </a:p>
          </p:txBody>
        </p:sp>
        <p:sp>
          <p:nvSpPr>
            <p:cNvPr id="14" name="직사각형 13">
              <a:extLst>
                <a:ext uri="{FF2B5EF4-FFF2-40B4-BE49-F238E27FC236}">
                  <a16:creationId xmlns:a16="http://schemas.microsoft.com/office/drawing/2014/main" id="{CFFFBD08-1A68-4485-876A-E062158A3B7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spTree>
    <p:extLst>
      <p:ext uri="{BB962C8B-B14F-4D97-AF65-F5344CB8AC3E}">
        <p14:creationId xmlns:p14="http://schemas.microsoft.com/office/powerpoint/2010/main" val="1662395307"/>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1" name="그룹 10">
            <a:extLst>
              <a:ext uri="{FF2B5EF4-FFF2-40B4-BE49-F238E27FC236}">
                <a16:creationId xmlns:a16="http://schemas.microsoft.com/office/drawing/2014/main" id="{09C85312-E9B5-4FDB-9258-63817A53E649}"/>
              </a:ext>
            </a:extLst>
          </p:cNvPr>
          <p:cNvGrpSpPr/>
          <p:nvPr/>
        </p:nvGrpSpPr>
        <p:grpSpPr>
          <a:xfrm>
            <a:off x="580388" y="1413381"/>
            <a:ext cx="8887612" cy="598229"/>
            <a:chOff x="580388" y="1413381"/>
            <a:chExt cx="8887612" cy="598229"/>
          </a:xfrm>
        </p:grpSpPr>
        <p:sp>
          <p:nvSpPr>
            <p:cNvPr id="12" name="직사각형 11">
              <a:extLst>
                <a:ext uri="{FF2B5EF4-FFF2-40B4-BE49-F238E27FC236}">
                  <a16:creationId xmlns:a16="http://schemas.microsoft.com/office/drawing/2014/main" id="{86053AEB-3C95-427A-9B65-44C6B6C5EB30}"/>
                </a:ext>
              </a:extLst>
            </p:cNvPr>
            <p:cNvSpPr/>
            <p:nvPr/>
          </p:nvSpPr>
          <p:spPr>
            <a:xfrm>
              <a:off x="711200" y="16661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Here is how to solve the error.</a:t>
              </a:r>
            </a:p>
          </p:txBody>
        </p:sp>
        <p:sp>
          <p:nvSpPr>
            <p:cNvPr id="13" name="직사각형 12">
              <a:extLst>
                <a:ext uri="{FF2B5EF4-FFF2-40B4-BE49-F238E27FC236}">
                  <a16:creationId xmlns:a16="http://schemas.microsoft.com/office/drawing/2014/main" id="{4C7EB74A-52CE-4115-9420-05F08182F37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20" name="그룹 19">
            <a:extLst>
              <a:ext uri="{FF2B5EF4-FFF2-40B4-BE49-F238E27FC236}">
                <a16:creationId xmlns:a16="http://schemas.microsoft.com/office/drawing/2014/main" id="{CC349B65-9DBE-2DC2-67F6-56D282B03D51}"/>
              </a:ext>
            </a:extLst>
          </p:cNvPr>
          <p:cNvGrpSpPr/>
          <p:nvPr/>
        </p:nvGrpSpPr>
        <p:grpSpPr>
          <a:xfrm>
            <a:off x="559817" y="2030612"/>
            <a:ext cx="8782051" cy="2378828"/>
            <a:chOff x="559817" y="2030612"/>
            <a:chExt cx="8782051" cy="2378828"/>
          </a:xfrm>
        </p:grpSpPr>
        <p:sp>
          <p:nvSpPr>
            <p:cNvPr id="14" name="모서리가 둥근 직사각형 4">
              <a:extLst>
                <a:ext uri="{FF2B5EF4-FFF2-40B4-BE49-F238E27FC236}">
                  <a16:creationId xmlns:a16="http://schemas.microsoft.com/office/drawing/2014/main" id="{CF2E79C9-B406-F7A4-B5F4-E41FD72DF990}"/>
                </a:ext>
              </a:extLst>
            </p:cNvPr>
            <p:cNvSpPr/>
            <p:nvPr/>
          </p:nvSpPr>
          <p:spPr>
            <a:xfrm>
              <a:off x="559817" y="2030612"/>
              <a:ext cx="8782050" cy="237882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a:extLst>
                <a:ext uri="{FF2B5EF4-FFF2-40B4-BE49-F238E27FC236}">
                  <a16:creationId xmlns:a16="http://schemas.microsoft.com/office/drawing/2014/main" id="{6868E267-3CC6-1CE4-2949-B32A57E290B6}"/>
                </a:ext>
              </a:extLst>
            </p:cNvPr>
            <p:cNvPicPr>
              <a:picLocks noChangeAspect="1"/>
            </p:cNvPicPr>
            <p:nvPr/>
          </p:nvPicPr>
          <p:blipFill rotWithShape="1">
            <a:blip r:embed="rId4"/>
            <a:srcRect r="19676" b="81361"/>
            <a:stretch/>
          </p:blipFill>
          <p:spPr>
            <a:xfrm>
              <a:off x="1387548" y="2120395"/>
              <a:ext cx="7954320" cy="450086"/>
            </a:xfrm>
            <a:prstGeom prst="rect">
              <a:avLst/>
            </a:prstGeom>
          </p:spPr>
        </p:pic>
        <p:grpSp>
          <p:nvGrpSpPr>
            <p:cNvPr id="15" name="그룹 14">
              <a:extLst>
                <a:ext uri="{FF2B5EF4-FFF2-40B4-BE49-F238E27FC236}">
                  <a16:creationId xmlns:a16="http://schemas.microsoft.com/office/drawing/2014/main" id="{63C1EEE4-AA5E-A30E-4F79-DFDE5A5D2052}"/>
                </a:ext>
              </a:extLst>
            </p:cNvPr>
            <p:cNvGrpSpPr/>
            <p:nvPr/>
          </p:nvGrpSpPr>
          <p:grpSpPr>
            <a:xfrm>
              <a:off x="691733" y="2195631"/>
              <a:ext cx="677863" cy="602545"/>
              <a:chOff x="713192" y="2457856"/>
              <a:chExt cx="677863" cy="602545"/>
            </a:xfrm>
          </p:grpSpPr>
          <p:pic>
            <p:nvPicPr>
              <p:cNvPr id="16" name="그림 15">
                <a:extLst>
                  <a:ext uri="{FF2B5EF4-FFF2-40B4-BE49-F238E27FC236}">
                    <a16:creationId xmlns:a16="http://schemas.microsoft.com/office/drawing/2014/main" id="{A23ECC8D-9FB9-2D84-2604-9E2241B0EFCC}"/>
                  </a:ext>
                </a:extLst>
              </p:cNvPr>
              <p:cNvPicPr>
                <a:picLocks noChangeAspect="1"/>
              </p:cNvPicPr>
              <p:nvPr/>
            </p:nvPicPr>
            <p:blipFill>
              <a:blip r:embed="rId5"/>
              <a:stretch>
                <a:fillRect/>
              </a:stretch>
            </p:blipFill>
            <p:spPr>
              <a:xfrm>
                <a:off x="713192" y="2457856"/>
                <a:ext cx="677863" cy="602545"/>
              </a:xfrm>
              <a:prstGeom prst="rect">
                <a:avLst/>
              </a:prstGeom>
            </p:spPr>
          </p:pic>
          <p:sp>
            <p:nvSpPr>
              <p:cNvPr id="17" name="직사각형 16">
                <a:extLst>
                  <a:ext uri="{FF2B5EF4-FFF2-40B4-BE49-F238E27FC236}">
                    <a16:creationId xmlns:a16="http://schemas.microsoft.com/office/drawing/2014/main" id="{B3490574-0E04-C221-05AF-A993AFE64504}"/>
                  </a:ext>
                </a:extLst>
              </p:cNvPr>
              <p:cNvSpPr/>
              <p:nvPr/>
            </p:nvSpPr>
            <p:spPr>
              <a:xfrm>
                <a:off x="1052020" y="2516217"/>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18</a:t>
                </a:r>
                <a:endParaRPr lang="ko-KR" altLang="en-US" sz="1100" dirty="0">
                  <a:solidFill>
                    <a:srgbClr val="2D3C9D"/>
                  </a:solidFill>
                  <a:latin typeface="D2Coding" panose="020B0609020101020101" pitchFamily="49" charset="-127"/>
                  <a:ea typeface="D2Coding" panose="020B0609020101020101" pitchFamily="49" charset="-127"/>
                </a:endParaRPr>
              </a:p>
            </p:txBody>
          </p:sp>
          <p:sp>
            <p:nvSpPr>
              <p:cNvPr id="18" name="직사각형 17">
                <a:extLst>
                  <a:ext uri="{FF2B5EF4-FFF2-40B4-BE49-F238E27FC236}">
                    <a16:creationId xmlns:a16="http://schemas.microsoft.com/office/drawing/2014/main" id="{6CE0E5E2-EB6C-81CC-1C04-AB354FFC55C8}"/>
                  </a:ext>
                </a:extLst>
              </p:cNvPr>
              <p:cNvSpPr/>
              <p:nvPr/>
            </p:nvSpPr>
            <p:spPr>
              <a:xfrm>
                <a:off x="1054560" y="2868844"/>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D73F11"/>
                    </a:solidFill>
                    <a:latin typeface="D2Coding" panose="020B0609020101020101" pitchFamily="49" charset="-127"/>
                    <a:ea typeface="D2Coding" panose="020B0609020101020101" pitchFamily="49" charset="-127"/>
                  </a:rPr>
                  <a:t>18</a:t>
                </a:r>
                <a:endParaRPr lang="ko-KR" altLang="en-US" sz="1100" dirty="0">
                  <a:solidFill>
                    <a:srgbClr val="D73F11"/>
                  </a:solidFill>
                  <a:latin typeface="D2Coding" panose="020B0609020101020101" pitchFamily="49" charset="-127"/>
                  <a:ea typeface="D2Coding" panose="020B0609020101020101" pitchFamily="49" charset="-127"/>
                </a:endParaRPr>
              </a:p>
            </p:txBody>
          </p:sp>
        </p:grpSp>
        <p:pic>
          <p:nvPicPr>
            <p:cNvPr id="19" name="그림 18">
              <a:extLst>
                <a:ext uri="{FF2B5EF4-FFF2-40B4-BE49-F238E27FC236}">
                  <a16:creationId xmlns:a16="http://schemas.microsoft.com/office/drawing/2014/main" id="{D1758A27-EBDD-943F-6D2B-CC72B1451BA5}"/>
                </a:ext>
              </a:extLst>
            </p:cNvPr>
            <p:cNvPicPr>
              <a:picLocks noChangeAspect="1"/>
            </p:cNvPicPr>
            <p:nvPr/>
          </p:nvPicPr>
          <p:blipFill rotWithShape="1">
            <a:blip r:embed="rId4"/>
            <a:srcRect t="19481" r="13923"/>
            <a:stretch/>
          </p:blipFill>
          <p:spPr>
            <a:xfrm>
              <a:off x="1369597" y="2589483"/>
              <a:ext cx="7841496" cy="1788687"/>
            </a:xfrm>
            <a:prstGeom prst="rect">
              <a:avLst/>
            </a:prstGeom>
          </p:spPr>
        </p:pic>
      </p:grpSp>
    </p:spTree>
    <p:extLst>
      <p:ext uri="{BB962C8B-B14F-4D97-AF65-F5344CB8AC3E}">
        <p14:creationId xmlns:p14="http://schemas.microsoft.com/office/powerpoint/2010/main" val="15547694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9" name="그룹 8">
            <a:extLst>
              <a:ext uri="{FF2B5EF4-FFF2-40B4-BE49-F238E27FC236}">
                <a16:creationId xmlns:a16="http://schemas.microsoft.com/office/drawing/2014/main" id="{6D7FF944-7027-4101-9E63-51145ACB76C8}"/>
              </a:ext>
            </a:extLst>
          </p:cNvPr>
          <p:cNvGrpSpPr/>
          <p:nvPr/>
        </p:nvGrpSpPr>
        <p:grpSpPr>
          <a:xfrm>
            <a:off x="580388" y="1413381"/>
            <a:ext cx="8887612" cy="1603632"/>
            <a:chOff x="580388" y="1413381"/>
            <a:chExt cx="8887612" cy="1603632"/>
          </a:xfrm>
        </p:grpSpPr>
        <p:sp>
          <p:nvSpPr>
            <p:cNvPr id="11" name="직사각형 10">
              <a:extLst>
                <a:ext uri="{FF2B5EF4-FFF2-40B4-BE49-F238E27FC236}">
                  <a16:creationId xmlns:a16="http://schemas.microsoft.com/office/drawing/2014/main" id="{67DD63DD-44BF-4C8F-8552-93203D5B8AAA}"/>
                </a:ext>
              </a:extLst>
            </p:cNvPr>
            <p:cNvSpPr/>
            <p:nvPr/>
          </p:nvSpPr>
          <p:spPr>
            <a:xfrm>
              <a:off x="711200" y="1666149"/>
              <a:ext cx="8632825"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on=None and how='inner’ options are applied as default values. The on=None option means merging all columns that belong in common to the two DataFrames into a reference (key).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how='inner’ option means that data in the reference column is extracted only when the data is an intersection common to both DataFrames.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merged and returned five commonly existing stocks based on the column “id.”</a:t>
              </a:r>
            </a:p>
          </p:txBody>
        </p:sp>
        <p:sp>
          <p:nvSpPr>
            <p:cNvPr id="12" name="직사각형 11">
              <a:extLst>
                <a:ext uri="{FF2B5EF4-FFF2-40B4-BE49-F238E27FC236}">
                  <a16:creationId xmlns:a16="http://schemas.microsoft.com/office/drawing/2014/main" id="{C70F0B4B-2039-4E09-8CFD-3EFA5EC7FCE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spTree>
    <p:extLst>
      <p:ext uri="{BB962C8B-B14F-4D97-AF65-F5344CB8AC3E}">
        <p14:creationId xmlns:p14="http://schemas.microsoft.com/office/powerpoint/2010/main" val="369495217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12" name="직사각형 11">
            <a:extLst>
              <a:ext uri="{FF2B5EF4-FFF2-40B4-BE49-F238E27FC236}">
                <a16:creationId xmlns:a16="http://schemas.microsoft.com/office/drawing/2014/main" id="{6AAC80D9-DBC8-41DA-83D9-AAFB759990D8}"/>
              </a:ext>
            </a:extLst>
          </p:cNvPr>
          <p:cNvSpPr/>
          <p:nvPr/>
        </p:nvSpPr>
        <p:spPr>
          <a:xfrm>
            <a:off x="711200" y="535039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the two columns are the same, the results are merged based on the values in the common column name. </a:t>
            </a:r>
          </a:p>
        </p:txBody>
      </p:sp>
      <p:grpSp>
        <p:nvGrpSpPr>
          <p:cNvPr id="13" name="그룹 12">
            <a:extLst>
              <a:ext uri="{FF2B5EF4-FFF2-40B4-BE49-F238E27FC236}">
                <a16:creationId xmlns:a16="http://schemas.microsoft.com/office/drawing/2014/main" id="{702F5418-74B5-43F9-ACEF-D6295E00BF6B}"/>
              </a:ext>
            </a:extLst>
          </p:cNvPr>
          <p:cNvGrpSpPr/>
          <p:nvPr/>
        </p:nvGrpSpPr>
        <p:grpSpPr>
          <a:xfrm>
            <a:off x="580388" y="1413381"/>
            <a:ext cx="8887612" cy="798284"/>
            <a:chOff x="580388" y="1413381"/>
            <a:chExt cx="8887612" cy="798284"/>
          </a:xfrm>
        </p:grpSpPr>
        <p:sp>
          <p:nvSpPr>
            <p:cNvPr id="14" name="직사각형 13">
              <a:extLst>
                <a:ext uri="{FF2B5EF4-FFF2-40B4-BE49-F238E27FC236}">
                  <a16:creationId xmlns:a16="http://schemas.microsoft.com/office/drawing/2014/main" id="{1B5629FB-B770-406D-8889-82DD4C909997}"/>
                </a:ext>
              </a:extLst>
            </p:cNvPr>
            <p:cNvSpPr/>
            <p:nvPr/>
          </p:nvSpPr>
          <p:spPr>
            <a:xfrm>
              <a:off x="711200" y="1666149"/>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Let’s deliberately change and see what happens if there are columns “id_1” and “name_1” on the left side of the DataFrame and if there are columns “id_1” and “name_1” on its right side.</a:t>
              </a:r>
            </a:p>
          </p:txBody>
        </p:sp>
        <p:sp>
          <p:nvSpPr>
            <p:cNvPr id="15" name="직사각형 14">
              <a:extLst>
                <a:ext uri="{FF2B5EF4-FFF2-40B4-BE49-F238E27FC236}">
                  <a16:creationId xmlns:a16="http://schemas.microsoft.com/office/drawing/2014/main" id="{70F8581F-9040-4B27-992E-16B56D5FC82A}"/>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29" name="그룹 28">
            <a:extLst>
              <a:ext uri="{FF2B5EF4-FFF2-40B4-BE49-F238E27FC236}">
                <a16:creationId xmlns:a16="http://schemas.microsoft.com/office/drawing/2014/main" id="{A8DAF409-3743-107E-2C49-070C6704FD74}"/>
              </a:ext>
            </a:extLst>
          </p:cNvPr>
          <p:cNvGrpSpPr/>
          <p:nvPr/>
        </p:nvGrpSpPr>
        <p:grpSpPr>
          <a:xfrm>
            <a:off x="559817" y="2235344"/>
            <a:ext cx="8782050" cy="3047856"/>
            <a:chOff x="559817" y="2235344"/>
            <a:chExt cx="8782050" cy="3047856"/>
          </a:xfrm>
        </p:grpSpPr>
        <p:sp>
          <p:nvSpPr>
            <p:cNvPr id="4" name="모서리가 둥근 직사각형 4">
              <a:extLst>
                <a:ext uri="{FF2B5EF4-FFF2-40B4-BE49-F238E27FC236}">
                  <a16:creationId xmlns:a16="http://schemas.microsoft.com/office/drawing/2014/main" id="{7D7D4D0C-D7AB-6B0B-CBFC-C150D730FDDD}"/>
                </a:ext>
              </a:extLst>
            </p:cNvPr>
            <p:cNvSpPr/>
            <p:nvPr/>
          </p:nvSpPr>
          <p:spPr>
            <a:xfrm>
              <a:off x="559817" y="2235344"/>
              <a:ext cx="8782050" cy="30478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a:extLst>
                <a:ext uri="{FF2B5EF4-FFF2-40B4-BE49-F238E27FC236}">
                  <a16:creationId xmlns:a16="http://schemas.microsoft.com/office/drawing/2014/main" id="{5825AF2E-6228-8679-FD11-0EF9302BDB83}"/>
                </a:ext>
              </a:extLst>
            </p:cNvPr>
            <p:cNvPicPr>
              <a:picLocks noChangeAspect="1"/>
            </p:cNvPicPr>
            <p:nvPr/>
          </p:nvPicPr>
          <p:blipFill rotWithShape="1">
            <a:blip r:embed="rId4"/>
            <a:srcRect b="54624"/>
            <a:stretch/>
          </p:blipFill>
          <p:spPr>
            <a:xfrm>
              <a:off x="664055" y="2389921"/>
              <a:ext cx="677863" cy="273408"/>
            </a:xfrm>
            <a:prstGeom prst="rect">
              <a:avLst/>
            </a:prstGeom>
          </p:spPr>
        </p:pic>
        <p:pic>
          <p:nvPicPr>
            <p:cNvPr id="11" name="그림 10">
              <a:extLst>
                <a:ext uri="{FF2B5EF4-FFF2-40B4-BE49-F238E27FC236}">
                  <a16:creationId xmlns:a16="http://schemas.microsoft.com/office/drawing/2014/main" id="{43516AAF-C3CE-84BF-70A2-B21E0B8C110C}"/>
                </a:ext>
              </a:extLst>
            </p:cNvPr>
            <p:cNvPicPr>
              <a:picLocks noChangeAspect="1"/>
            </p:cNvPicPr>
            <p:nvPr/>
          </p:nvPicPr>
          <p:blipFill rotWithShape="1">
            <a:blip r:embed="rId5"/>
            <a:srcRect r="17808" b="63255"/>
            <a:stretch/>
          </p:blipFill>
          <p:spPr>
            <a:xfrm>
              <a:off x="1348025" y="2317698"/>
              <a:ext cx="7993842" cy="1111302"/>
            </a:xfrm>
            <a:prstGeom prst="rect">
              <a:avLst/>
            </a:prstGeom>
          </p:spPr>
        </p:pic>
        <p:pic>
          <p:nvPicPr>
            <p:cNvPr id="16" name="그림 15">
              <a:extLst>
                <a:ext uri="{FF2B5EF4-FFF2-40B4-BE49-F238E27FC236}">
                  <a16:creationId xmlns:a16="http://schemas.microsoft.com/office/drawing/2014/main" id="{72074972-6854-D5CF-AB35-2031C361BC55}"/>
                </a:ext>
              </a:extLst>
            </p:cNvPr>
            <p:cNvPicPr>
              <a:picLocks noChangeAspect="1"/>
            </p:cNvPicPr>
            <p:nvPr/>
          </p:nvPicPr>
          <p:blipFill rotWithShape="1">
            <a:blip r:embed="rId5"/>
            <a:srcRect t="36746" r="14021"/>
            <a:stretch/>
          </p:blipFill>
          <p:spPr>
            <a:xfrm>
              <a:off x="1341917" y="3437295"/>
              <a:ext cx="7924003" cy="1812825"/>
            </a:xfrm>
            <a:prstGeom prst="rect">
              <a:avLst/>
            </a:prstGeom>
          </p:spPr>
        </p:pic>
        <p:sp>
          <p:nvSpPr>
            <p:cNvPr id="21" name="직사각형 20">
              <a:extLst>
                <a:ext uri="{FF2B5EF4-FFF2-40B4-BE49-F238E27FC236}">
                  <a16:creationId xmlns:a16="http://schemas.microsoft.com/office/drawing/2014/main" id="{06600778-B142-4B06-7D7B-F55782F1B63D}"/>
                </a:ext>
              </a:extLst>
            </p:cNvPr>
            <p:cNvSpPr/>
            <p:nvPr/>
          </p:nvSpPr>
          <p:spPr>
            <a:xfrm>
              <a:off x="1002986" y="2448851"/>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19</a:t>
              </a:r>
              <a:endParaRPr lang="ko-KR" altLang="en-US" sz="1050" dirty="0">
                <a:solidFill>
                  <a:srgbClr val="2D3C9D"/>
                </a:solidFill>
                <a:latin typeface="D2Coding" panose="020B0609020101020101" pitchFamily="49" charset="-127"/>
                <a:ea typeface="D2Coding" panose="020B0609020101020101" pitchFamily="49" charset="-127"/>
              </a:endParaRPr>
            </a:p>
          </p:txBody>
        </p:sp>
        <p:pic>
          <p:nvPicPr>
            <p:cNvPr id="22" name="그림 21">
              <a:extLst>
                <a:ext uri="{FF2B5EF4-FFF2-40B4-BE49-F238E27FC236}">
                  <a16:creationId xmlns:a16="http://schemas.microsoft.com/office/drawing/2014/main" id="{CE642D5B-5A74-0443-CF1E-C74DCF527177}"/>
                </a:ext>
              </a:extLst>
            </p:cNvPr>
            <p:cNvPicPr>
              <a:picLocks noChangeAspect="1"/>
            </p:cNvPicPr>
            <p:nvPr/>
          </p:nvPicPr>
          <p:blipFill rotWithShape="1">
            <a:blip r:embed="rId4"/>
            <a:srcRect b="54624"/>
            <a:stretch/>
          </p:blipFill>
          <p:spPr>
            <a:xfrm>
              <a:off x="664055" y="3088400"/>
              <a:ext cx="677863" cy="273408"/>
            </a:xfrm>
            <a:prstGeom prst="rect">
              <a:avLst/>
            </a:prstGeom>
          </p:spPr>
        </p:pic>
        <p:sp>
          <p:nvSpPr>
            <p:cNvPr id="26" name="직사각형 25">
              <a:extLst>
                <a:ext uri="{FF2B5EF4-FFF2-40B4-BE49-F238E27FC236}">
                  <a16:creationId xmlns:a16="http://schemas.microsoft.com/office/drawing/2014/main" id="{5540B60E-0407-CBBB-773A-72CEA7170FF5}"/>
                </a:ext>
              </a:extLst>
            </p:cNvPr>
            <p:cNvSpPr/>
            <p:nvPr/>
          </p:nvSpPr>
          <p:spPr>
            <a:xfrm>
              <a:off x="1013496" y="3147330"/>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20</a:t>
              </a:r>
              <a:endParaRPr lang="ko-KR" altLang="en-US" sz="1050" dirty="0">
                <a:solidFill>
                  <a:srgbClr val="2D3C9D"/>
                </a:solidFill>
                <a:latin typeface="D2Coding" panose="020B0609020101020101" pitchFamily="49" charset="-127"/>
                <a:ea typeface="D2Coding" panose="020B0609020101020101" pitchFamily="49" charset="-127"/>
              </a:endParaRPr>
            </a:p>
          </p:txBody>
        </p:sp>
        <p:pic>
          <p:nvPicPr>
            <p:cNvPr id="27" name="그림 26">
              <a:extLst>
                <a:ext uri="{FF2B5EF4-FFF2-40B4-BE49-F238E27FC236}">
                  <a16:creationId xmlns:a16="http://schemas.microsoft.com/office/drawing/2014/main" id="{6CD64EAD-7DFA-706B-FCB2-BCB4B153A4F7}"/>
                </a:ext>
              </a:extLst>
            </p:cNvPr>
            <p:cNvPicPr>
              <a:picLocks noChangeAspect="1"/>
            </p:cNvPicPr>
            <p:nvPr/>
          </p:nvPicPr>
          <p:blipFill rotWithShape="1">
            <a:blip r:embed="rId4"/>
            <a:srcRect t="57962" b="4262"/>
            <a:stretch/>
          </p:blipFill>
          <p:spPr>
            <a:xfrm>
              <a:off x="664054" y="3429000"/>
              <a:ext cx="677863" cy="227614"/>
            </a:xfrm>
            <a:prstGeom prst="rect">
              <a:avLst/>
            </a:prstGeom>
          </p:spPr>
        </p:pic>
        <p:sp>
          <p:nvSpPr>
            <p:cNvPr id="28" name="직사각형 27">
              <a:extLst>
                <a:ext uri="{FF2B5EF4-FFF2-40B4-BE49-F238E27FC236}">
                  <a16:creationId xmlns:a16="http://schemas.microsoft.com/office/drawing/2014/main" id="{2651CF75-1ED5-3877-C8FC-F54653C05C48}"/>
                </a:ext>
              </a:extLst>
            </p:cNvPr>
            <p:cNvSpPr/>
            <p:nvPr/>
          </p:nvSpPr>
          <p:spPr>
            <a:xfrm>
              <a:off x="1016256" y="3486725"/>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20</a:t>
              </a:r>
              <a:endParaRPr lang="ko-KR" altLang="en-US" sz="1050" dirty="0">
                <a:solidFill>
                  <a:srgbClr val="D73F11"/>
                </a:solidFill>
                <a:latin typeface="D2Coding" panose="020B0609020101020101" pitchFamily="49" charset="-127"/>
                <a:ea typeface="D2Coding" panose="020B0609020101020101" pitchFamily="49" charset="-127"/>
              </a:endParaRPr>
            </a:p>
          </p:txBody>
        </p:sp>
      </p:grpSp>
    </p:spTree>
    <p:extLst>
      <p:ext uri="{BB962C8B-B14F-4D97-AF65-F5344CB8AC3E}">
        <p14:creationId xmlns:p14="http://schemas.microsoft.com/office/powerpoint/2010/main" val="350004653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4" name="그룹 13">
            <a:extLst>
              <a:ext uri="{FF2B5EF4-FFF2-40B4-BE49-F238E27FC236}">
                <a16:creationId xmlns:a16="http://schemas.microsoft.com/office/drawing/2014/main" id="{66E598DD-FC78-4859-A0F6-296492E64E35}"/>
              </a:ext>
            </a:extLst>
          </p:cNvPr>
          <p:cNvGrpSpPr/>
          <p:nvPr/>
        </p:nvGrpSpPr>
        <p:grpSpPr>
          <a:xfrm>
            <a:off x="580388" y="1413381"/>
            <a:ext cx="8887612" cy="798284"/>
            <a:chOff x="580388" y="1413381"/>
            <a:chExt cx="8887612" cy="798284"/>
          </a:xfrm>
        </p:grpSpPr>
        <p:sp>
          <p:nvSpPr>
            <p:cNvPr id="15" name="직사각형 14">
              <a:extLst>
                <a:ext uri="{FF2B5EF4-FFF2-40B4-BE49-F238E27FC236}">
                  <a16:creationId xmlns:a16="http://schemas.microsoft.com/office/drawing/2014/main" id="{017F6762-1E3B-40E0-A4E5-D54A388A8625}"/>
                </a:ext>
              </a:extLst>
            </p:cNvPr>
            <p:cNvSpPr/>
            <p:nvPr/>
          </p:nvSpPr>
          <p:spPr>
            <a:xfrm>
              <a:off x="711200" y="1666149"/>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you use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how='left,’ all the companies in the left DataFrame will be returned, and those not on the right will be treated as NaN.</a:t>
              </a:r>
            </a:p>
          </p:txBody>
        </p:sp>
        <p:sp>
          <p:nvSpPr>
            <p:cNvPr id="17" name="직사각형 16">
              <a:extLst>
                <a:ext uri="{FF2B5EF4-FFF2-40B4-BE49-F238E27FC236}">
                  <a16:creationId xmlns:a16="http://schemas.microsoft.com/office/drawing/2014/main" id="{D9AEDC3A-83E6-401B-AAF2-52D88FB73F05}"/>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22" name="그룹 21">
            <a:extLst>
              <a:ext uri="{FF2B5EF4-FFF2-40B4-BE49-F238E27FC236}">
                <a16:creationId xmlns:a16="http://schemas.microsoft.com/office/drawing/2014/main" id="{BEF29086-24E0-623A-1555-DA3B5E756D4E}"/>
              </a:ext>
            </a:extLst>
          </p:cNvPr>
          <p:cNvGrpSpPr/>
          <p:nvPr/>
        </p:nvGrpSpPr>
        <p:grpSpPr>
          <a:xfrm>
            <a:off x="559817" y="2204312"/>
            <a:ext cx="8782050" cy="4074567"/>
            <a:chOff x="559817" y="2204312"/>
            <a:chExt cx="8782050" cy="4074567"/>
          </a:xfrm>
        </p:grpSpPr>
        <p:sp>
          <p:nvSpPr>
            <p:cNvPr id="7" name="모서리가 둥근 직사각형 4">
              <a:extLst>
                <a:ext uri="{FF2B5EF4-FFF2-40B4-BE49-F238E27FC236}">
                  <a16:creationId xmlns:a16="http://schemas.microsoft.com/office/drawing/2014/main" id="{18BBA3D5-B622-E9BC-9129-B969EC883CA8}"/>
                </a:ext>
              </a:extLst>
            </p:cNvPr>
            <p:cNvSpPr/>
            <p:nvPr/>
          </p:nvSpPr>
          <p:spPr>
            <a:xfrm>
              <a:off x="559817" y="2204312"/>
              <a:ext cx="8782050" cy="407456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6" name="그림 5">
              <a:extLst>
                <a:ext uri="{FF2B5EF4-FFF2-40B4-BE49-F238E27FC236}">
                  <a16:creationId xmlns:a16="http://schemas.microsoft.com/office/drawing/2014/main" id="{D7B6F29A-69CA-1D94-12E6-87DC33ED7ADA}"/>
                </a:ext>
              </a:extLst>
            </p:cNvPr>
            <p:cNvPicPr>
              <a:picLocks noChangeAspect="1"/>
            </p:cNvPicPr>
            <p:nvPr/>
          </p:nvPicPr>
          <p:blipFill rotWithShape="1">
            <a:blip r:embed="rId4"/>
            <a:srcRect r="15534" b="74592"/>
            <a:stretch/>
          </p:blipFill>
          <p:spPr>
            <a:xfrm>
              <a:off x="1320499" y="2300745"/>
              <a:ext cx="8021368" cy="1081968"/>
            </a:xfrm>
            <a:prstGeom prst="rect">
              <a:avLst/>
            </a:prstGeom>
          </p:spPr>
        </p:pic>
        <p:pic>
          <p:nvPicPr>
            <p:cNvPr id="8" name="그림 7">
              <a:extLst>
                <a:ext uri="{FF2B5EF4-FFF2-40B4-BE49-F238E27FC236}">
                  <a16:creationId xmlns:a16="http://schemas.microsoft.com/office/drawing/2014/main" id="{0CA77991-23E3-2A69-643F-95F343CCE452}"/>
                </a:ext>
              </a:extLst>
            </p:cNvPr>
            <p:cNvPicPr>
              <a:picLocks noChangeAspect="1"/>
            </p:cNvPicPr>
            <p:nvPr/>
          </p:nvPicPr>
          <p:blipFill rotWithShape="1">
            <a:blip r:embed="rId4"/>
            <a:srcRect t="24527"/>
            <a:stretch/>
          </p:blipFill>
          <p:spPr>
            <a:xfrm>
              <a:off x="1273215" y="3433049"/>
              <a:ext cx="8032832" cy="2718526"/>
            </a:xfrm>
            <a:prstGeom prst="rect">
              <a:avLst/>
            </a:prstGeom>
          </p:spPr>
        </p:pic>
        <p:pic>
          <p:nvPicPr>
            <p:cNvPr id="13" name="그림 12">
              <a:extLst>
                <a:ext uri="{FF2B5EF4-FFF2-40B4-BE49-F238E27FC236}">
                  <a16:creationId xmlns:a16="http://schemas.microsoft.com/office/drawing/2014/main" id="{79549F28-A42E-7C6E-6672-CF199B156087}"/>
                </a:ext>
              </a:extLst>
            </p:cNvPr>
            <p:cNvPicPr>
              <a:picLocks noChangeAspect="1"/>
            </p:cNvPicPr>
            <p:nvPr/>
          </p:nvPicPr>
          <p:blipFill rotWithShape="1">
            <a:blip r:embed="rId5"/>
            <a:srcRect b="57084"/>
            <a:stretch/>
          </p:blipFill>
          <p:spPr>
            <a:xfrm>
              <a:off x="687622" y="2361433"/>
              <a:ext cx="620560" cy="236728"/>
            </a:xfrm>
            <a:prstGeom prst="rect">
              <a:avLst/>
            </a:prstGeom>
          </p:spPr>
        </p:pic>
        <p:sp>
          <p:nvSpPr>
            <p:cNvPr id="16" name="직사각형 15">
              <a:extLst>
                <a:ext uri="{FF2B5EF4-FFF2-40B4-BE49-F238E27FC236}">
                  <a16:creationId xmlns:a16="http://schemas.microsoft.com/office/drawing/2014/main" id="{16978C5B-5E13-4A79-E2FF-D3BE8C657062}"/>
                </a:ext>
              </a:extLst>
            </p:cNvPr>
            <p:cNvSpPr/>
            <p:nvPr/>
          </p:nvSpPr>
          <p:spPr>
            <a:xfrm>
              <a:off x="999262" y="2405763"/>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21</a:t>
              </a:r>
              <a:endParaRPr lang="ko-KR" altLang="en-US" sz="1050" dirty="0">
                <a:solidFill>
                  <a:srgbClr val="2D3C9D"/>
                </a:solidFill>
                <a:latin typeface="D2Coding" panose="020B0609020101020101" pitchFamily="49" charset="-127"/>
                <a:ea typeface="D2Coding" panose="020B0609020101020101" pitchFamily="49" charset="-127"/>
              </a:endParaRPr>
            </a:p>
          </p:txBody>
        </p:sp>
        <p:pic>
          <p:nvPicPr>
            <p:cNvPr id="18" name="그림 17">
              <a:extLst>
                <a:ext uri="{FF2B5EF4-FFF2-40B4-BE49-F238E27FC236}">
                  <a16:creationId xmlns:a16="http://schemas.microsoft.com/office/drawing/2014/main" id="{C63C2ED5-BCBA-E228-0D79-C277904CCF03}"/>
                </a:ext>
              </a:extLst>
            </p:cNvPr>
            <p:cNvPicPr>
              <a:picLocks noChangeAspect="1"/>
            </p:cNvPicPr>
            <p:nvPr/>
          </p:nvPicPr>
          <p:blipFill rotWithShape="1">
            <a:blip r:embed="rId5"/>
            <a:srcRect b="57084"/>
            <a:stretch/>
          </p:blipFill>
          <p:spPr>
            <a:xfrm>
              <a:off x="687622" y="3024249"/>
              <a:ext cx="620560" cy="236728"/>
            </a:xfrm>
            <a:prstGeom prst="rect">
              <a:avLst/>
            </a:prstGeom>
          </p:spPr>
        </p:pic>
        <p:sp>
          <p:nvSpPr>
            <p:cNvPr id="19" name="직사각형 18">
              <a:extLst>
                <a:ext uri="{FF2B5EF4-FFF2-40B4-BE49-F238E27FC236}">
                  <a16:creationId xmlns:a16="http://schemas.microsoft.com/office/drawing/2014/main" id="{5F183505-01C7-C0F2-418A-2C92064A1DAC}"/>
                </a:ext>
              </a:extLst>
            </p:cNvPr>
            <p:cNvSpPr/>
            <p:nvPr/>
          </p:nvSpPr>
          <p:spPr>
            <a:xfrm>
              <a:off x="999262" y="3068579"/>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22</a:t>
              </a:r>
              <a:endParaRPr lang="ko-KR" altLang="en-US" sz="1050" dirty="0">
                <a:solidFill>
                  <a:srgbClr val="2D3C9D"/>
                </a:solidFill>
                <a:latin typeface="D2Coding" panose="020B0609020101020101" pitchFamily="49" charset="-127"/>
                <a:ea typeface="D2Coding" panose="020B0609020101020101" pitchFamily="49" charset="-127"/>
              </a:endParaRPr>
            </a:p>
          </p:txBody>
        </p:sp>
        <p:pic>
          <p:nvPicPr>
            <p:cNvPr id="20" name="그림 19">
              <a:extLst>
                <a:ext uri="{FF2B5EF4-FFF2-40B4-BE49-F238E27FC236}">
                  <a16:creationId xmlns:a16="http://schemas.microsoft.com/office/drawing/2014/main" id="{FBB16B58-A6B4-1C64-3FA3-1CAC4FA93537}"/>
                </a:ext>
              </a:extLst>
            </p:cNvPr>
            <p:cNvPicPr>
              <a:picLocks noChangeAspect="1"/>
            </p:cNvPicPr>
            <p:nvPr/>
          </p:nvPicPr>
          <p:blipFill rotWithShape="1">
            <a:blip r:embed="rId5"/>
            <a:srcRect t="56994" b="90"/>
            <a:stretch/>
          </p:blipFill>
          <p:spPr>
            <a:xfrm>
              <a:off x="687622" y="3352517"/>
              <a:ext cx="620560" cy="236728"/>
            </a:xfrm>
            <a:prstGeom prst="rect">
              <a:avLst/>
            </a:prstGeom>
          </p:spPr>
        </p:pic>
        <p:sp>
          <p:nvSpPr>
            <p:cNvPr id="21" name="직사각형 20">
              <a:extLst>
                <a:ext uri="{FF2B5EF4-FFF2-40B4-BE49-F238E27FC236}">
                  <a16:creationId xmlns:a16="http://schemas.microsoft.com/office/drawing/2014/main" id="{16D08C48-E322-216E-446C-87841F006FC6}"/>
                </a:ext>
              </a:extLst>
            </p:cNvPr>
            <p:cNvSpPr/>
            <p:nvPr/>
          </p:nvSpPr>
          <p:spPr>
            <a:xfrm>
              <a:off x="1004102" y="3399908"/>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22</a:t>
              </a:r>
              <a:endParaRPr lang="ko-KR" altLang="en-US" sz="1050" dirty="0">
                <a:solidFill>
                  <a:srgbClr val="D73F11"/>
                </a:solidFill>
                <a:latin typeface="D2Coding" panose="020B0609020101020101" pitchFamily="49" charset="-127"/>
                <a:ea typeface="D2Coding" panose="020B0609020101020101" pitchFamily="49" charset="-127"/>
              </a:endParaRPr>
            </a:p>
          </p:txBody>
        </p:sp>
      </p:grpSp>
    </p:spTree>
    <p:extLst>
      <p:ext uri="{BB962C8B-B14F-4D97-AF65-F5344CB8AC3E}">
        <p14:creationId xmlns:p14="http://schemas.microsoft.com/office/powerpoint/2010/main" val="3648684012"/>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2" name="그룹 11">
            <a:extLst>
              <a:ext uri="{FF2B5EF4-FFF2-40B4-BE49-F238E27FC236}">
                <a16:creationId xmlns:a16="http://schemas.microsoft.com/office/drawing/2014/main" id="{1D5C3F30-7355-4924-9F34-480E86C4ADFF}"/>
              </a:ext>
            </a:extLst>
          </p:cNvPr>
          <p:cNvGrpSpPr/>
          <p:nvPr/>
        </p:nvGrpSpPr>
        <p:grpSpPr>
          <a:xfrm>
            <a:off x="580388" y="1413381"/>
            <a:ext cx="8887612" cy="798284"/>
            <a:chOff x="580388" y="1413381"/>
            <a:chExt cx="8887612" cy="798284"/>
          </a:xfrm>
        </p:grpSpPr>
        <p:sp>
          <p:nvSpPr>
            <p:cNvPr id="13" name="직사각형 12">
              <a:extLst>
                <a:ext uri="{FF2B5EF4-FFF2-40B4-BE49-F238E27FC236}">
                  <a16:creationId xmlns:a16="http://schemas.microsoft.com/office/drawing/2014/main" id="{C0AB2056-E8D7-4B3A-A3A7-37A715DD9E53}"/>
                </a:ext>
              </a:extLst>
            </p:cNvPr>
            <p:cNvSpPr/>
            <p:nvPr/>
          </p:nvSpPr>
          <p:spPr>
            <a:xfrm>
              <a:off x="711200" y="1666149"/>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how='right,’ all the companies in the right DataFrame will be returned, and those not on the left will be treated as NaN.</a:t>
              </a:r>
            </a:p>
          </p:txBody>
        </p:sp>
        <p:sp>
          <p:nvSpPr>
            <p:cNvPr id="14" name="직사각형 13">
              <a:extLst>
                <a:ext uri="{FF2B5EF4-FFF2-40B4-BE49-F238E27FC236}">
                  <a16:creationId xmlns:a16="http://schemas.microsoft.com/office/drawing/2014/main" id="{FF2C4909-8122-4DBE-8695-B6F4E7EB1900}"/>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19" name="그룹 18">
            <a:extLst>
              <a:ext uri="{FF2B5EF4-FFF2-40B4-BE49-F238E27FC236}">
                <a16:creationId xmlns:a16="http://schemas.microsoft.com/office/drawing/2014/main" id="{86AF5F52-EF7F-251B-1C64-3FB94ABA3333}"/>
              </a:ext>
            </a:extLst>
          </p:cNvPr>
          <p:cNvGrpSpPr/>
          <p:nvPr/>
        </p:nvGrpSpPr>
        <p:grpSpPr>
          <a:xfrm>
            <a:off x="559817" y="2204312"/>
            <a:ext cx="8782050" cy="3675627"/>
            <a:chOff x="559817" y="2204312"/>
            <a:chExt cx="8782050" cy="3675627"/>
          </a:xfrm>
        </p:grpSpPr>
        <p:sp>
          <p:nvSpPr>
            <p:cNvPr id="7" name="모서리가 둥근 직사각형 4">
              <a:extLst>
                <a:ext uri="{FF2B5EF4-FFF2-40B4-BE49-F238E27FC236}">
                  <a16:creationId xmlns:a16="http://schemas.microsoft.com/office/drawing/2014/main" id="{AF2D49BA-E395-01F6-0862-62E287CEEEA4}"/>
                </a:ext>
              </a:extLst>
            </p:cNvPr>
            <p:cNvSpPr/>
            <p:nvPr/>
          </p:nvSpPr>
          <p:spPr>
            <a:xfrm>
              <a:off x="559817" y="2204312"/>
              <a:ext cx="8782050" cy="367562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a:extLst>
                <a:ext uri="{FF2B5EF4-FFF2-40B4-BE49-F238E27FC236}">
                  <a16:creationId xmlns:a16="http://schemas.microsoft.com/office/drawing/2014/main" id="{89B449D7-2B69-3040-3E01-30C1D0A2F666}"/>
                </a:ext>
              </a:extLst>
            </p:cNvPr>
            <p:cNvPicPr>
              <a:picLocks noChangeAspect="1"/>
            </p:cNvPicPr>
            <p:nvPr/>
          </p:nvPicPr>
          <p:blipFill rotWithShape="1">
            <a:blip r:embed="rId4"/>
            <a:srcRect r="18989" b="89632"/>
            <a:stretch/>
          </p:blipFill>
          <p:spPr>
            <a:xfrm>
              <a:off x="1319514" y="2308582"/>
              <a:ext cx="8022353" cy="388319"/>
            </a:xfrm>
            <a:prstGeom prst="rect">
              <a:avLst/>
            </a:prstGeom>
          </p:spPr>
        </p:pic>
        <p:pic>
          <p:nvPicPr>
            <p:cNvPr id="10" name="그림 9">
              <a:extLst>
                <a:ext uri="{FF2B5EF4-FFF2-40B4-BE49-F238E27FC236}">
                  <a16:creationId xmlns:a16="http://schemas.microsoft.com/office/drawing/2014/main" id="{B0C2A2BA-ACDC-0FC4-FA86-217C2CCFA09B}"/>
                </a:ext>
              </a:extLst>
            </p:cNvPr>
            <p:cNvPicPr>
              <a:picLocks noChangeAspect="1"/>
            </p:cNvPicPr>
            <p:nvPr/>
          </p:nvPicPr>
          <p:blipFill rotWithShape="1">
            <a:blip r:embed="rId4"/>
            <a:srcRect t="11300" r="11810"/>
            <a:stretch/>
          </p:blipFill>
          <p:spPr>
            <a:xfrm>
              <a:off x="1296122" y="2766795"/>
              <a:ext cx="7963626" cy="3029517"/>
            </a:xfrm>
            <a:prstGeom prst="rect">
              <a:avLst/>
            </a:prstGeom>
          </p:spPr>
        </p:pic>
        <p:grpSp>
          <p:nvGrpSpPr>
            <p:cNvPr id="18" name="그룹 17">
              <a:extLst>
                <a:ext uri="{FF2B5EF4-FFF2-40B4-BE49-F238E27FC236}">
                  <a16:creationId xmlns:a16="http://schemas.microsoft.com/office/drawing/2014/main" id="{8F4CBC8A-D5C6-8629-D0D0-6EC58E75786A}"/>
                </a:ext>
              </a:extLst>
            </p:cNvPr>
            <p:cNvGrpSpPr/>
            <p:nvPr/>
          </p:nvGrpSpPr>
          <p:grpSpPr>
            <a:xfrm>
              <a:off x="687622" y="2361433"/>
              <a:ext cx="620560" cy="635519"/>
              <a:chOff x="687622" y="2361433"/>
              <a:chExt cx="620560" cy="635519"/>
            </a:xfrm>
          </p:grpSpPr>
          <p:pic>
            <p:nvPicPr>
              <p:cNvPr id="8" name="그림 7">
                <a:extLst>
                  <a:ext uri="{FF2B5EF4-FFF2-40B4-BE49-F238E27FC236}">
                    <a16:creationId xmlns:a16="http://schemas.microsoft.com/office/drawing/2014/main" id="{671C11B3-D783-02F6-1707-C65CF9D363B9}"/>
                  </a:ext>
                </a:extLst>
              </p:cNvPr>
              <p:cNvPicPr>
                <a:picLocks noChangeAspect="1"/>
              </p:cNvPicPr>
              <p:nvPr/>
            </p:nvPicPr>
            <p:blipFill rotWithShape="1">
              <a:blip r:embed="rId5"/>
              <a:srcRect b="57084"/>
              <a:stretch/>
            </p:blipFill>
            <p:spPr>
              <a:xfrm>
                <a:off x="687622" y="2361433"/>
                <a:ext cx="620560" cy="236728"/>
              </a:xfrm>
              <a:prstGeom prst="rect">
                <a:avLst/>
              </a:prstGeom>
            </p:spPr>
          </p:pic>
          <p:sp>
            <p:nvSpPr>
              <p:cNvPr id="9" name="직사각형 8">
                <a:extLst>
                  <a:ext uri="{FF2B5EF4-FFF2-40B4-BE49-F238E27FC236}">
                    <a16:creationId xmlns:a16="http://schemas.microsoft.com/office/drawing/2014/main" id="{F533B496-3E4F-B7DE-E032-B333AE7544AF}"/>
                  </a:ext>
                </a:extLst>
              </p:cNvPr>
              <p:cNvSpPr/>
              <p:nvPr/>
            </p:nvSpPr>
            <p:spPr>
              <a:xfrm>
                <a:off x="999262" y="2405763"/>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23</a:t>
                </a:r>
                <a:endParaRPr lang="ko-KR" altLang="en-US" sz="1050" dirty="0">
                  <a:solidFill>
                    <a:srgbClr val="2D3C9D"/>
                  </a:solidFill>
                  <a:latin typeface="D2Coding" panose="020B0609020101020101" pitchFamily="49" charset="-127"/>
                  <a:ea typeface="D2Coding" panose="020B0609020101020101" pitchFamily="49" charset="-127"/>
                </a:endParaRPr>
              </a:p>
            </p:txBody>
          </p:sp>
          <p:grpSp>
            <p:nvGrpSpPr>
              <p:cNvPr id="16" name="그룹 15">
                <a:extLst>
                  <a:ext uri="{FF2B5EF4-FFF2-40B4-BE49-F238E27FC236}">
                    <a16:creationId xmlns:a16="http://schemas.microsoft.com/office/drawing/2014/main" id="{CEB4A971-8323-3E92-ED7A-B8B8ACF69AE9}"/>
                  </a:ext>
                </a:extLst>
              </p:cNvPr>
              <p:cNvGrpSpPr/>
              <p:nvPr/>
            </p:nvGrpSpPr>
            <p:grpSpPr>
              <a:xfrm>
                <a:off x="687622" y="2760224"/>
                <a:ext cx="620560" cy="236728"/>
                <a:chOff x="687622" y="3352517"/>
                <a:chExt cx="620560" cy="236728"/>
              </a:xfrm>
            </p:grpSpPr>
            <p:pic>
              <p:nvPicPr>
                <p:cNvPr id="11" name="그림 10">
                  <a:extLst>
                    <a:ext uri="{FF2B5EF4-FFF2-40B4-BE49-F238E27FC236}">
                      <a16:creationId xmlns:a16="http://schemas.microsoft.com/office/drawing/2014/main" id="{7F216FA9-9C16-B1B5-F24E-293A907D58FA}"/>
                    </a:ext>
                  </a:extLst>
                </p:cNvPr>
                <p:cNvPicPr>
                  <a:picLocks noChangeAspect="1"/>
                </p:cNvPicPr>
                <p:nvPr/>
              </p:nvPicPr>
              <p:blipFill rotWithShape="1">
                <a:blip r:embed="rId5"/>
                <a:srcRect t="56994" b="90"/>
                <a:stretch/>
              </p:blipFill>
              <p:spPr>
                <a:xfrm>
                  <a:off x="687622" y="3352517"/>
                  <a:ext cx="620560" cy="236728"/>
                </a:xfrm>
                <a:prstGeom prst="rect">
                  <a:avLst/>
                </a:prstGeom>
              </p:spPr>
            </p:pic>
            <p:sp>
              <p:nvSpPr>
                <p:cNvPr id="15" name="직사각형 14">
                  <a:extLst>
                    <a:ext uri="{FF2B5EF4-FFF2-40B4-BE49-F238E27FC236}">
                      <a16:creationId xmlns:a16="http://schemas.microsoft.com/office/drawing/2014/main" id="{A8337D2A-6B96-4B2E-B267-053E45489AE4}"/>
                    </a:ext>
                  </a:extLst>
                </p:cNvPr>
                <p:cNvSpPr/>
                <p:nvPr/>
              </p:nvSpPr>
              <p:spPr>
                <a:xfrm>
                  <a:off x="1004102" y="3410418"/>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23</a:t>
                  </a:r>
                  <a:endParaRPr lang="ko-KR" altLang="en-US" sz="1050" dirty="0">
                    <a:solidFill>
                      <a:srgbClr val="D73F11"/>
                    </a:solidFill>
                    <a:latin typeface="D2Coding" panose="020B0609020101020101" pitchFamily="49" charset="-127"/>
                    <a:ea typeface="D2Coding" panose="020B0609020101020101" pitchFamily="49" charset="-127"/>
                  </a:endParaRPr>
                </a:p>
              </p:txBody>
            </p:sp>
          </p:grpSp>
        </p:grpSp>
      </p:grpSp>
    </p:spTree>
    <p:extLst>
      <p:ext uri="{BB962C8B-B14F-4D97-AF65-F5344CB8AC3E}">
        <p14:creationId xmlns:p14="http://schemas.microsoft.com/office/powerpoint/2010/main" val="345675086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2.3. Merging and Binding DataFrames</a:t>
              </a:r>
              <a:endParaRPr lang="en-US" altLang="ko-KR"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5" name="그룹 14">
            <a:extLst>
              <a:ext uri="{FF2B5EF4-FFF2-40B4-BE49-F238E27FC236}">
                <a16:creationId xmlns:a16="http://schemas.microsoft.com/office/drawing/2014/main" id="{44EECC1C-64A0-48DF-8A57-C6AAA71CFCED}"/>
              </a:ext>
            </a:extLst>
          </p:cNvPr>
          <p:cNvGrpSpPr/>
          <p:nvPr/>
        </p:nvGrpSpPr>
        <p:grpSpPr>
          <a:xfrm>
            <a:off x="580388" y="1413381"/>
            <a:ext cx="8887612" cy="598229"/>
            <a:chOff x="580388" y="1413381"/>
            <a:chExt cx="8887612" cy="598229"/>
          </a:xfrm>
        </p:grpSpPr>
        <p:sp>
          <p:nvSpPr>
            <p:cNvPr id="17" name="직사각형 16">
              <a:extLst>
                <a:ext uri="{FF2B5EF4-FFF2-40B4-BE49-F238E27FC236}">
                  <a16:creationId xmlns:a16="http://schemas.microsoft.com/office/drawing/2014/main" id="{488C3FE2-ECE6-4822-8C01-3B2061C450A2}"/>
                </a:ext>
              </a:extLst>
            </p:cNvPr>
            <p:cNvSpPr/>
            <p:nvPr/>
          </p:nvSpPr>
          <p:spPr>
            <a:xfrm>
              <a:off x="711200" y="16661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you use how=“outer,” all the data on the left and right is returned.</a:t>
              </a:r>
            </a:p>
          </p:txBody>
        </p:sp>
        <p:sp>
          <p:nvSpPr>
            <p:cNvPr id="18" name="직사각형 17">
              <a:extLst>
                <a:ext uri="{FF2B5EF4-FFF2-40B4-BE49-F238E27FC236}">
                  <a16:creationId xmlns:a16="http://schemas.microsoft.com/office/drawing/2014/main" id="{EA5F0707-3366-4957-ADBA-545CEEE0F75D}"/>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Merging DataFrames</a:t>
              </a:r>
            </a:p>
          </p:txBody>
        </p:sp>
      </p:grpSp>
      <p:grpSp>
        <p:nvGrpSpPr>
          <p:cNvPr id="27" name="그룹 26">
            <a:extLst>
              <a:ext uri="{FF2B5EF4-FFF2-40B4-BE49-F238E27FC236}">
                <a16:creationId xmlns:a16="http://schemas.microsoft.com/office/drawing/2014/main" id="{3DBAD3FD-F341-A1CD-F315-B530D589150C}"/>
              </a:ext>
            </a:extLst>
          </p:cNvPr>
          <p:cNvGrpSpPr/>
          <p:nvPr/>
        </p:nvGrpSpPr>
        <p:grpSpPr>
          <a:xfrm>
            <a:off x="559817" y="2035140"/>
            <a:ext cx="8782050" cy="4238338"/>
            <a:chOff x="559817" y="2035140"/>
            <a:chExt cx="8782050" cy="4238338"/>
          </a:xfrm>
        </p:grpSpPr>
        <p:sp>
          <p:nvSpPr>
            <p:cNvPr id="3" name="모서리가 둥근 직사각형 4">
              <a:extLst>
                <a:ext uri="{FF2B5EF4-FFF2-40B4-BE49-F238E27FC236}">
                  <a16:creationId xmlns:a16="http://schemas.microsoft.com/office/drawing/2014/main" id="{6E690103-53FD-EE77-E6CE-32BF948423C7}"/>
                </a:ext>
              </a:extLst>
            </p:cNvPr>
            <p:cNvSpPr/>
            <p:nvPr/>
          </p:nvSpPr>
          <p:spPr>
            <a:xfrm>
              <a:off x="559817" y="2035140"/>
              <a:ext cx="8782050" cy="423833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7" name="그림 6">
              <a:extLst>
                <a:ext uri="{FF2B5EF4-FFF2-40B4-BE49-F238E27FC236}">
                  <a16:creationId xmlns:a16="http://schemas.microsoft.com/office/drawing/2014/main" id="{92A02846-CEFF-7615-273A-2DA311A326BF}"/>
                </a:ext>
              </a:extLst>
            </p:cNvPr>
            <p:cNvPicPr>
              <a:picLocks noChangeAspect="1"/>
            </p:cNvPicPr>
            <p:nvPr/>
          </p:nvPicPr>
          <p:blipFill rotWithShape="1">
            <a:blip r:embed="rId4"/>
            <a:srcRect r="19231" b="92625"/>
            <a:stretch/>
          </p:blipFill>
          <p:spPr>
            <a:xfrm>
              <a:off x="1343490" y="2127205"/>
              <a:ext cx="7998377" cy="372928"/>
            </a:xfrm>
            <a:prstGeom prst="rect">
              <a:avLst/>
            </a:prstGeom>
          </p:spPr>
        </p:pic>
        <p:grpSp>
          <p:nvGrpSpPr>
            <p:cNvPr id="14" name="그룹 13">
              <a:extLst>
                <a:ext uri="{FF2B5EF4-FFF2-40B4-BE49-F238E27FC236}">
                  <a16:creationId xmlns:a16="http://schemas.microsoft.com/office/drawing/2014/main" id="{DD71EFB2-40DF-5AA0-DEFA-EEFBF26ACDE1}"/>
                </a:ext>
              </a:extLst>
            </p:cNvPr>
            <p:cNvGrpSpPr/>
            <p:nvPr/>
          </p:nvGrpSpPr>
          <p:grpSpPr>
            <a:xfrm>
              <a:off x="687622" y="2179156"/>
              <a:ext cx="620560" cy="635519"/>
              <a:chOff x="687622" y="2361433"/>
              <a:chExt cx="620560" cy="635519"/>
            </a:xfrm>
          </p:grpSpPr>
          <p:pic>
            <p:nvPicPr>
              <p:cNvPr id="16" name="그림 15">
                <a:extLst>
                  <a:ext uri="{FF2B5EF4-FFF2-40B4-BE49-F238E27FC236}">
                    <a16:creationId xmlns:a16="http://schemas.microsoft.com/office/drawing/2014/main" id="{9968A40A-0649-A7B1-FC2B-7EF3652E78ED}"/>
                  </a:ext>
                </a:extLst>
              </p:cNvPr>
              <p:cNvPicPr>
                <a:picLocks noChangeAspect="1"/>
              </p:cNvPicPr>
              <p:nvPr/>
            </p:nvPicPr>
            <p:blipFill rotWithShape="1">
              <a:blip r:embed="rId5"/>
              <a:srcRect b="57084"/>
              <a:stretch/>
            </p:blipFill>
            <p:spPr>
              <a:xfrm>
                <a:off x="687622" y="2361433"/>
                <a:ext cx="620560" cy="236728"/>
              </a:xfrm>
              <a:prstGeom prst="rect">
                <a:avLst/>
              </a:prstGeom>
            </p:spPr>
          </p:pic>
          <p:sp>
            <p:nvSpPr>
              <p:cNvPr id="19" name="직사각형 18">
                <a:extLst>
                  <a:ext uri="{FF2B5EF4-FFF2-40B4-BE49-F238E27FC236}">
                    <a16:creationId xmlns:a16="http://schemas.microsoft.com/office/drawing/2014/main" id="{2644B4B2-8247-CC7F-E35D-6725EE3A026D}"/>
                  </a:ext>
                </a:extLst>
              </p:cNvPr>
              <p:cNvSpPr/>
              <p:nvPr/>
            </p:nvSpPr>
            <p:spPr>
              <a:xfrm>
                <a:off x="988752" y="2405763"/>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2D3C9D"/>
                    </a:solidFill>
                    <a:latin typeface="D2Coding" panose="020B0609020101020101" pitchFamily="49" charset="-127"/>
                    <a:ea typeface="D2Coding" panose="020B0609020101020101" pitchFamily="49" charset="-127"/>
                  </a:rPr>
                  <a:t>24</a:t>
                </a:r>
                <a:endParaRPr lang="ko-KR" altLang="en-US" sz="1050" dirty="0">
                  <a:solidFill>
                    <a:srgbClr val="2D3C9D"/>
                  </a:solidFill>
                  <a:latin typeface="D2Coding" panose="020B0609020101020101" pitchFamily="49" charset="-127"/>
                  <a:ea typeface="D2Coding" panose="020B0609020101020101" pitchFamily="49" charset="-127"/>
                </a:endParaRPr>
              </a:p>
            </p:txBody>
          </p:sp>
          <p:grpSp>
            <p:nvGrpSpPr>
              <p:cNvPr id="20" name="그룹 19">
                <a:extLst>
                  <a:ext uri="{FF2B5EF4-FFF2-40B4-BE49-F238E27FC236}">
                    <a16:creationId xmlns:a16="http://schemas.microsoft.com/office/drawing/2014/main" id="{8CE9A63E-78BB-0A9C-DAC1-A0979DDD1E3B}"/>
                  </a:ext>
                </a:extLst>
              </p:cNvPr>
              <p:cNvGrpSpPr/>
              <p:nvPr/>
            </p:nvGrpSpPr>
            <p:grpSpPr>
              <a:xfrm>
                <a:off x="687622" y="2760224"/>
                <a:ext cx="620560" cy="236728"/>
                <a:chOff x="687622" y="3352517"/>
                <a:chExt cx="620560" cy="236728"/>
              </a:xfrm>
            </p:grpSpPr>
            <p:pic>
              <p:nvPicPr>
                <p:cNvPr id="21" name="그림 20">
                  <a:extLst>
                    <a:ext uri="{FF2B5EF4-FFF2-40B4-BE49-F238E27FC236}">
                      <a16:creationId xmlns:a16="http://schemas.microsoft.com/office/drawing/2014/main" id="{6E9BEFB8-20BA-4CD3-92FF-1B1999A816E4}"/>
                    </a:ext>
                  </a:extLst>
                </p:cNvPr>
                <p:cNvPicPr>
                  <a:picLocks noChangeAspect="1"/>
                </p:cNvPicPr>
                <p:nvPr/>
              </p:nvPicPr>
              <p:blipFill rotWithShape="1">
                <a:blip r:embed="rId5"/>
                <a:srcRect t="56994" b="90"/>
                <a:stretch/>
              </p:blipFill>
              <p:spPr>
                <a:xfrm>
                  <a:off x="687622" y="3352517"/>
                  <a:ext cx="620560" cy="236728"/>
                </a:xfrm>
                <a:prstGeom prst="rect">
                  <a:avLst/>
                </a:prstGeom>
              </p:spPr>
            </p:pic>
            <p:sp>
              <p:nvSpPr>
                <p:cNvPr id="22" name="직사각형 21">
                  <a:extLst>
                    <a:ext uri="{FF2B5EF4-FFF2-40B4-BE49-F238E27FC236}">
                      <a16:creationId xmlns:a16="http://schemas.microsoft.com/office/drawing/2014/main" id="{CA68F91F-EA77-4CDA-349A-87FE6666D9DD}"/>
                    </a:ext>
                  </a:extLst>
                </p:cNvPr>
                <p:cNvSpPr/>
                <p:nvPr/>
              </p:nvSpPr>
              <p:spPr>
                <a:xfrm>
                  <a:off x="993592" y="3399908"/>
                  <a:ext cx="16972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rgbClr val="D73F11"/>
                      </a:solidFill>
                      <a:latin typeface="D2Coding" panose="020B0609020101020101" pitchFamily="49" charset="-127"/>
                      <a:ea typeface="D2Coding" panose="020B0609020101020101" pitchFamily="49" charset="-127"/>
                    </a:rPr>
                    <a:t>24</a:t>
                  </a:r>
                  <a:endParaRPr lang="ko-KR" altLang="en-US" sz="1050" dirty="0">
                    <a:solidFill>
                      <a:srgbClr val="D73F11"/>
                    </a:solidFill>
                    <a:latin typeface="D2Coding" panose="020B0609020101020101" pitchFamily="49" charset="-127"/>
                    <a:ea typeface="D2Coding" panose="020B0609020101020101" pitchFamily="49" charset="-127"/>
                  </a:endParaRPr>
                </a:p>
              </p:txBody>
            </p:sp>
          </p:grpSp>
        </p:grpSp>
        <p:pic>
          <p:nvPicPr>
            <p:cNvPr id="26" name="그림 25">
              <a:extLst>
                <a:ext uri="{FF2B5EF4-FFF2-40B4-BE49-F238E27FC236}">
                  <a16:creationId xmlns:a16="http://schemas.microsoft.com/office/drawing/2014/main" id="{05F61B55-25A5-1A73-DE6C-CC6B472BE338}"/>
                </a:ext>
              </a:extLst>
            </p:cNvPr>
            <p:cNvPicPr>
              <a:picLocks noChangeAspect="1"/>
            </p:cNvPicPr>
            <p:nvPr/>
          </p:nvPicPr>
          <p:blipFill rotWithShape="1">
            <a:blip r:embed="rId4"/>
            <a:srcRect t="8445"/>
            <a:stretch/>
          </p:blipFill>
          <p:spPr>
            <a:xfrm>
              <a:off x="1338301" y="2519871"/>
              <a:ext cx="7944596" cy="3714355"/>
            </a:xfrm>
            <a:prstGeom prst="rect">
              <a:avLst/>
            </a:prstGeom>
          </p:spPr>
        </p:pic>
      </p:grpSp>
    </p:spTree>
    <p:extLst>
      <p:ext uri="{BB962C8B-B14F-4D97-AF65-F5344CB8AC3E}">
        <p14:creationId xmlns:p14="http://schemas.microsoft.com/office/powerpoint/2010/main" val="247192552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그룹 33">
            <a:extLst>
              <a:ext uri="{FF2B5EF4-FFF2-40B4-BE49-F238E27FC236}">
                <a16:creationId xmlns:a16="http://schemas.microsoft.com/office/drawing/2014/main" id="{92222342-E7C1-4D3B-92E9-4C220D313A6F}"/>
              </a:ext>
            </a:extLst>
          </p:cNvPr>
          <p:cNvGrpSpPr/>
          <p:nvPr/>
        </p:nvGrpSpPr>
        <p:grpSpPr>
          <a:xfrm>
            <a:off x="989683" y="2748696"/>
            <a:ext cx="8354217" cy="3124387"/>
            <a:chOff x="989683" y="2748696"/>
            <a:chExt cx="8354217" cy="3124387"/>
          </a:xfrm>
        </p:grpSpPr>
        <p:sp>
          <p:nvSpPr>
            <p:cNvPr id="35" name="직사각형 133">
              <a:extLst>
                <a:ext uri="{FF2B5EF4-FFF2-40B4-BE49-F238E27FC236}">
                  <a16:creationId xmlns:a16="http://schemas.microsoft.com/office/drawing/2014/main" id="{670FB0E2-082B-4509-A996-8766389F22F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Optimal Data Exploration Through Pandas</a:t>
              </a:r>
              <a:endParaRPr kumimoji="1" lang="ko-KR" altLang="en-US" sz="3400" b="0" i="0" u="none" strike="noStrike" kern="1200" cap="none" spc="0" normalizeH="0" baseline="0" noProof="0" dirty="0">
                <a:ln>
                  <a:noFill/>
                </a:ln>
                <a:solidFill>
                  <a:prstClr val="black"/>
                </a:solidFill>
                <a:effectLst/>
                <a:uLnTx/>
                <a:uFillTx/>
                <a:latin typeface="Samsung Sharp Sans" pitchFamily="2" charset="0"/>
                <a:ea typeface="맑은 고딕" panose="020B0503020000020004" pitchFamily="50" charset="-127"/>
                <a:cs typeface="Samsung Sharp Sans" pitchFamily="2" charset="0"/>
              </a:endParaRPr>
            </a:p>
          </p:txBody>
        </p:sp>
        <p:sp>
          <p:nvSpPr>
            <p:cNvPr id="36" name="직사각형 133">
              <a:extLst>
                <a:ext uri="{FF2B5EF4-FFF2-40B4-BE49-F238E27FC236}">
                  <a16:creationId xmlns:a16="http://schemas.microsoft.com/office/drawing/2014/main" id="{ABC20F91-AFEA-4FD6-9A3F-FE6290A3D139}"/>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2.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7" name="그룹 36">
              <a:extLst>
                <a:ext uri="{FF2B5EF4-FFF2-40B4-BE49-F238E27FC236}">
                  <a16:creationId xmlns:a16="http://schemas.microsoft.com/office/drawing/2014/main" id="{97AF80FA-4629-4B59-AC93-BD7BFC0754B0}"/>
                </a:ext>
              </a:extLst>
            </p:cNvPr>
            <p:cNvGrpSpPr/>
            <p:nvPr/>
          </p:nvGrpSpPr>
          <p:grpSpPr>
            <a:xfrm>
              <a:off x="1025537" y="4509120"/>
              <a:ext cx="8318362" cy="1363963"/>
              <a:chOff x="1025537" y="4609703"/>
              <a:chExt cx="8318362" cy="1363963"/>
            </a:xfrm>
          </p:grpSpPr>
          <p:sp>
            <p:nvSpPr>
              <p:cNvPr id="38" name="직사각형 37">
                <a:extLst>
                  <a:ext uri="{FF2B5EF4-FFF2-40B4-BE49-F238E27FC236}">
                    <a16:creationId xmlns:a16="http://schemas.microsoft.com/office/drawing/2014/main" id="{F028663D-60B3-45CC-BA52-A806672A9D4A}"/>
                  </a:ext>
                </a:extLst>
              </p:cNvPr>
              <p:cNvSpPr/>
              <p:nvPr/>
            </p:nvSpPr>
            <p:spPr>
              <a:xfrm>
                <a:off x="1025537" y="4609703"/>
                <a:ext cx="4185332" cy="136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2.1. Pipelines: Data Structures According to Data Types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2.2. Pandas Series and DataFrames</a:t>
                </a:r>
              </a:p>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2.3. Merging and Binding DataFrames</a:t>
                </a:r>
              </a:p>
            </p:txBody>
          </p:sp>
          <p:sp>
            <p:nvSpPr>
              <p:cNvPr id="39" name="직사각형 38">
                <a:extLst>
                  <a:ext uri="{FF2B5EF4-FFF2-40B4-BE49-F238E27FC236}">
                    <a16:creationId xmlns:a16="http://schemas.microsoft.com/office/drawing/2014/main" id="{12880166-340D-4A6A-973D-3B7E5B916869}"/>
                  </a:ext>
                </a:extLst>
              </p:cNvPr>
              <p:cNvSpPr/>
              <p:nvPr/>
            </p:nvSpPr>
            <p:spPr>
              <a:xfrm>
                <a:off x="5137980" y="4609703"/>
                <a:ext cx="4205919" cy="12358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2.4. DataFrame Sorting and Multi-Index</a:t>
                </a:r>
              </a:p>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2.5. Examining the Characteristics of Data Through Descriptive Statistics and Data Samples</a:t>
                </a:r>
                <a:endParaRPr kumimoji="1" lang="ko-KR" altLang="en-US"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endParaRPr>
              </a:p>
            </p:txBody>
          </p:sp>
        </p:grpSp>
      </p:grpSp>
    </p:spTree>
    <p:extLst>
      <p:ext uri="{BB962C8B-B14F-4D97-AF65-F5344CB8AC3E}">
        <p14:creationId xmlns:p14="http://schemas.microsoft.com/office/powerpoint/2010/main" val="114356172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EBB9A9ED-2650-4764-BF4A-5019AD59DE70}"/>
              </a:ext>
            </a:extLst>
          </p:cNvPr>
          <p:cNvGrpSpPr/>
          <p:nvPr/>
        </p:nvGrpSpPr>
        <p:grpSpPr>
          <a:xfrm>
            <a:off x="558396" y="2528414"/>
            <a:ext cx="8782050" cy="942574"/>
            <a:chOff x="558396" y="2528414"/>
            <a:chExt cx="8782050" cy="942574"/>
          </a:xfrm>
        </p:grpSpPr>
        <p:sp>
          <p:nvSpPr>
            <p:cNvPr id="13" name="모서리가 둥근 직사각형 4">
              <a:extLst>
                <a:ext uri="{FF2B5EF4-FFF2-40B4-BE49-F238E27FC236}">
                  <a16:creationId xmlns:a16="http://schemas.microsoft.com/office/drawing/2014/main" id="{930158F8-A5B7-4F97-8E44-C73FC55364FC}"/>
                </a:ext>
              </a:extLst>
            </p:cNvPr>
            <p:cNvSpPr/>
            <p:nvPr/>
          </p:nvSpPr>
          <p:spPr>
            <a:xfrm>
              <a:off x="558396" y="2528414"/>
              <a:ext cx="8782050" cy="94257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0278"/>
            <a:stretch/>
          </p:blipFill>
          <p:spPr>
            <a:xfrm>
              <a:off x="589903" y="2565816"/>
              <a:ext cx="8749791" cy="863183"/>
            </a:xfrm>
            <a:prstGeom prst="rect">
              <a:avLst/>
            </a:prstGeom>
          </p:spPr>
        </p:pic>
      </p:grpSp>
      <p:grpSp>
        <p:nvGrpSpPr>
          <p:cNvPr id="22" name="그룹 21">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3" name="직사각형 22">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2.4. DataFrame Sorting and Multi-Index</a:t>
              </a:r>
              <a:endParaRPr lang="ko-KR" altLang="en-US" dirty="0">
                <a:solidFill>
                  <a:prstClr val="white"/>
                </a:solidFill>
                <a:latin typeface="SamsungSharpSans-Medium" pitchFamily="2" charset="0"/>
                <a:cs typeface="SamsungSharpSans-Medium" pitchFamily="2" charset="0"/>
              </a:endParaRPr>
            </a:p>
          </p:txBody>
        </p:sp>
        <p:sp>
          <p:nvSpPr>
            <p:cNvPr id="24" name="직사각형 23">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7" name="직사각형 26">
            <a:extLst>
              <a:ext uri="{FF2B5EF4-FFF2-40B4-BE49-F238E27FC236}">
                <a16:creationId xmlns:a16="http://schemas.microsoft.com/office/drawing/2014/main" id="{58B1BC1D-DFB7-4482-BA23-F01AD71B1BBE}"/>
              </a:ext>
            </a:extLst>
          </p:cNvPr>
          <p:cNvSpPr/>
          <p:nvPr/>
        </p:nvSpPr>
        <p:spPr>
          <a:xfrm>
            <a:off x="445388" y="137300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DataFrame Manipulation</a:t>
            </a:r>
          </a:p>
        </p:txBody>
      </p:sp>
      <p:grpSp>
        <p:nvGrpSpPr>
          <p:cNvPr id="30" name="그룹 29">
            <a:extLst>
              <a:ext uri="{FF2B5EF4-FFF2-40B4-BE49-F238E27FC236}">
                <a16:creationId xmlns:a16="http://schemas.microsoft.com/office/drawing/2014/main" id="{B6CABCFF-C343-40C8-A464-3ADE8C8C925E}"/>
              </a:ext>
            </a:extLst>
          </p:cNvPr>
          <p:cNvGrpSpPr/>
          <p:nvPr/>
        </p:nvGrpSpPr>
        <p:grpSpPr>
          <a:xfrm>
            <a:off x="557644" y="1850942"/>
            <a:ext cx="8887612" cy="598229"/>
            <a:chOff x="580388" y="1413381"/>
            <a:chExt cx="8887612" cy="598229"/>
          </a:xfrm>
        </p:grpSpPr>
        <p:sp>
          <p:nvSpPr>
            <p:cNvPr id="31" name="직사각형 30">
              <a:extLst>
                <a:ext uri="{FF2B5EF4-FFF2-40B4-BE49-F238E27FC236}">
                  <a16:creationId xmlns:a16="http://schemas.microsoft.com/office/drawing/2014/main" id="{39232B15-612A-4E7C-BF1A-96412ED17D66}"/>
                </a:ext>
              </a:extLst>
            </p:cNvPr>
            <p:cNvSpPr/>
            <p:nvPr/>
          </p:nvSpPr>
          <p:spPr>
            <a:xfrm>
              <a:off x="711200" y="16661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possible to sort the rows of a DataFrame using one or more columns.</a:t>
              </a:r>
            </a:p>
          </p:txBody>
        </p:sp>
        <p:sp>
          <p:nvSpPr>
            <p:cNvPr id="32" name="직사각형 31">
              <a:extLst>
                <a:ext uri="{FF2B5EF4-FFF2-40B4-BE49-F238E27FC236}">
                  <a16:creationId xmlns:a16="http://schemas.microsoft.com/office/drawing/2014/main" id="{D11D675B-D631-46E5-B2CC-B71948AEB64F}"/>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Sorting:</a:t>
              </a:r>
            </a:p>
          </p:txBody>
        </p:sp>
      </p:grpSp>
      <p:grpSp>
        <p:nvGrpSpPr>
          <p:cNvPr id="4" name="그룹 3">
            <a:extLst>
              <a:ext uri="{FF2B5EF4-FFF2-40B4-BE49-F238E27FC236}">
                <a16:creationId xmlns:a16="http://schemas.microsoft.com/office/drawing/2014/main" id="{E66D7888-4B15-4902-876D-B80CD6F036D6}"/>
              </a:ext>
            </a:extLst>
          </p:cNvPr>
          <p:cNvGrpSpPr/>
          <p:nvPr/>
        </p:nvGrpSpPr>
        <p:grpSpPr>
          <a:xfrm>
            <a:off x="557644" y="3574373"/>
            <a:ext cx="8782050" cy="1996004"/>
            <a:chOff x="557644" y="3574373"/>
            <a:chExt cx="8782050" cy="1996004"/>
          </a:xfrm>
        </p:grpSpPr>
        <p:grpSp>
          <p:nvGrpSpPr>
            <p:cNvPr id="15" name="그룹 14"/>
            <p:cNvGrpSpPr/>
            <p:nvPr/>
          </p:nvGrpSpPr>
          <p:grpSpPr>
            <a:xfrm>
              <a:off x="557644" y="3574373"/>
              <a:ext cx="8782050" cy="1996004"/>
              <a:chOff x="568325" y="5114924"/>
              <a:chExt cx="8782050" cy="2062520"/>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68325" y="5114924"/>
                <a:ext cx="8782050" cy="206252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7" name="그룹 16"/>
              <p:cNvGrpSpPr/>
              <p:nvPr/>
            </p:nvGrpSpPr>
            <p:grpSpPr>
              <a:xfrm>
                <a:off x="675835" y="5210921"/>
                <a:ext cx="1477946" cy="302132"/>
                <a:chOff x="732985" y="5582396"/>
                <a:chExt cx="1477946" cy="302132"/>
              </a:xfrm>
            </p:grpSpPr>
            <p:pic>
              <p:nvPicPr>
                <p:cNvPr id="19"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8" name="TextBox 17">
                <a:extLst>
                  <a:ext uri="{FF2B5EF4-FFF2-40B4-BE49-F238E27FC236}">
                    <a16:creationId xmlns:a16="http://schemas.microsoft.com/office/drawing/2014/main" id="{FF266B98-5C19-4B37-8678-61D0A80AF6D7}"/>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Sort in ascending order.</a:t>
                </a:r>
              </a:p>
            </p:txBody>
          </p:sp>
        </p:grpSp>
        <p:grpSp>
          <p:nvGrpSpPr>
            <p:cNvPr id="33" name="그룹 32">
              <a:extLst>
                <a:ext uri="{FF2B5EF4-FFF2-40B4-BE49-F238E27FC236}">
                  <a16:creationId xmlns:a16="http://schemas.microsoft.com/office/drawing/2014/main" id="{DEF87E9A-2FDE-4BBF-A8AB-DFC95DD87BA6}"/>
                </a:ext>
              </a:extLst>
            </p:cNvPr>
            <p:cNvGrpSpPr/>
            <p:nvPr/>
          </p:nvGrpSpPr>
          <p:grpSpPr>
            <a:xfrm>
              <a:off x="665154" y="4305607"/>
              <a:ext cx="8640559" cy="534949"/>
              <a:chOff x="665154" y="3144518"/>
              <a:chExt cx="8640559" cy="534949"/>
            </a:xfrm>
          </p:grpSpPr>
          <p:grpSp>
            <p:nvGrpSpPr>
              <p:cNvPr id="34" name="그룹 33">
                <a:extLst>
                  <a:ext uri="{FF2B5EF4-FFF2-40B4-BE49-F238E27FC236}">
                    <a16:creationId xmlns:a16="http://schemas.microsoft.com/office/drawing/2014/main" id="{0B95BEBB-E64F-40D9-BB6C-32BAA0B4A643}"/>
                  </a:ext>
                </a:extLst>
              </p:cNvPr>
              <p:cNvGrpSpPr/>
              <p:nvPr/>
            </p:nvGrpSpPr>
            <p:grpSpPr>
              <a:xfrm>
                <a:off x="665154" y="3144518"/>
                <a:ext cx="1477946" cy="292388"/>
                <a:chOff x="732985" y="5582396"/>
                <a:chExt cx="1477946" cy="302132"/>
              </a:xfrm>
            </p:grpSpPr>
            <p:pic>
              <p:nvPicPr>
                <p:cNvPr id="36" name="Picture 2" descr="Byte - Free electronics icons">
                  <a:extLst>
                    <a:ext uri="{FF2B5EF4-FFF2-40B4-BE49-F238E27FC236}">
                      <a16:creationId xmlns:a16="http://schemas.microsoft.com/office/drawing/2014/main" id="{2B256675-424E-48EC-8011-92DBD399AF09}"/>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85B29EC3-B1E5-4C7A-AD65-DED7F1028D20}"/>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5" name="TextBox 34">
                <a:extLst>
                  <a:ext uri="{FF2B5EF4-FFF2-40B4-BE49-F238E27FC236}">
                    <a16:creationId xmlns:a16="http://schemas.microsoft.com/office/drawing/2014/main" id="{38585290-1A9D-49C6-9D80-9FE6DD2D0235}"/>
                  </a:ext>
                </a:extLst>
              </p:cNvPr>
              <p:cNvSpPr txBox="1"/>
              <p:nvPr/>
            </p:nvSpPr>
            <p:spPr>
              <a:xfrm>
                <a:off x="1024575" y="3479412"/>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Sort in descending order.</a:t>
                </a:r>
              </a:p>
            </p:txBody>
          </p:sp>
        </p:grpSp>
        <p:grpSp>
          <p:nvGrpSpPr>
            <p:cNvPr id="38" name="그룹 37">
              <a:extLst>
                <a:ext uri="{FF2B5EF4-FFF2-40B4-BE49-F238E27FC236}">
                  <a16:creationId xmlns:a16="http://schemas.microsoft.com/office/drawing/2014/main" id="{363AEA7B-E151-4507-A25A-32AB5F8B8B16}"/>
                </a:ext>
              </a:extLst>
            </p:cNvPr>
            <p:cNvGrpSpPr/>
            <p:nvPr/>
          </p:nvGrpSpPr>
          <p:grpSpPr>
            <a:xfrm>
              <a:off x="665154" y="4900034"/>
              <a:ext cx="8640559" cy="534949"/>
              <a:chOff x="665154" y="3143199"/>
              <a:chExt cx="8640559" cy="534949"/>
            </a:xfrm>
          </p:grpSpPr>
          <p:grpSp>
            <p:nvGrpSpPr>
              <p:cNvPr id="39" name="그룹 38">
                <a:extLst>
                  <a:ext uri="{FF2B5EF4-FFF2-40B4-BE49-F238E27FC236}">
                    <a16:creationId xmlns:a16="http://schemas.microsoft.com/office/drawing/2014/main" id="{4F288C14-590E-4195-9529-6B50CF3515C9}"/>
                  </a:ext>
                </a:extLst>
              </p:cNvPr>
              <p:cNvGrpSpPr/>
              <p:nvPr/>
            </p:nvGrpSpPr>
            <p:grpSpPr>
              <a:xfrm>
                <a:off x="665154" y="3143199"/>
                <a:ext cx="1477946" cy="292388"/>
                <a:chOff x="732985" y="5582396"/>
                <a:chExt cx="1477946" cy="302132"/>
              </a:xfrm>
            </p:grpSpPr>
            <p:pic>
              <p:nvPicPr>
                <p:cNvPr id="41" name="Picture 2" descr="Byte - Free electronics icons">
                  <a:extLst>
                    <a:ext uri="{FF2B5EF4-FFF2-40B4-BE49-F238E27FC236}">
                      <a16:creationId xmlns:a16="http://schemas.microsoft.com/office/drawing/2014/main" id="{3F6BA621-A29F-4A27-85B4-663811777C0C}"/>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DC738910-CDDE-418A-835B-0BB0C456841B}"/>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0" name="TextBox 39">
                <a:extLst>
                  <a:ext uri="{FF2B5EF4-FFF2-40B4-BE49-F238E27FC236}">
                    <a16:creationId xmlns:a16="http://schemas.microsoft.com/office/drawing/2014/main" id="{8CEA595A-F46C-4851-8F05-7DA69B435C72}"/>
                  </a:ext>
                </a:extLst>
              </p:cNvPr>
              <p:cNvSpPr txBox="1"/>
              <p:nvPr/>
            </p:nvSpPr>
            <p:spPr>
              <a:xfrm>
                <a:off x="1024575" y="3478093"/>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Sort using two columns.</a:t>
                </a:r>
              </a:p>
            </p:txBody>
          </p:sp>
        </p:grpSp>
      </p:grpSp>
    </p:spTree>
    <p:extLst>
      <p:ext uri="{BB962C8B-B14F-4D97-AF65-F5344CB8AC3E}">
        <p14:creationId xmlns:p14="http://schemas.microsoft.com/office/powerpoint/2010/main" val="191925227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C001AB92-C222-45B4-9FA3-4B08B19C9046}"/>
              </a:ext>
            </a:extLst>
          </p:cNvPr>
          <p:cNvGrpSpPr/>
          <p:nvPr/>
        </p:nvGrpSpPr>
        <p:grpSpPr>
          <a:xfrm>
            <a:off x="558396" y="1691477"/>
            <a:ext cx="8782050" cy="2208719"/>
            <a:chOff x="558396" y="1691477"/>
            <a:chExt cx="8782050" cy="2208719"/>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8396" y="1691477"/>
              <a:ext cx="8782050" cy="220871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17701"/>
            <a:stretch/>
          </p:blipFill>
          <p:spPr>
            <a:xfrm>
              <a:off x="589903" y="1753174"/>
              <a:ext cx="8749792" cy="2086670"/>
            </a:xfrm>
            <a:prstGeom prst="rect">
              <a:avLst/>
            </a:prstGeom>
          </p:spPr>
        </p:pic>
      </p:gr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2.4. DataFrame Sorting and Multi-Index</a:t>
              </a:r>
              <a:endParaRPr lang="ko-KR" altLang="en-US"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35" name="직사각형 34">
            <a:extLst>
              <a:ext uri="{FF2B5EF4-FFF2-40B4-BE49-F238E27FC236}">
                <a16:creationId xmlns:a16="http://schemas.microsoft.com/office/drawing/2014/main" id="{CF4BE3B8-4C43-46ED-ABA8-A7C18C026E21}"/>
              </a:ext>
            </a:extLst>
          </p:cNvPr>
          <p:cNvSpPr/>
          <p:nvPr/>
        </p:nvSpPr>
        <p:spPr>
          <a:xfrm>
            <a:off x="557644" y="138926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Hierarchical indexing with MultiIndex:</a:t>
            </a:r>
          </a:p>
        </p:txBody>
      </p:sp>
      <p:grpSp>
        <p:nvGrpSpPr>
          <p:cNvPr id="4" name="그룹 3">
            <a:extLst>
              <a:ext uri="{FF2B5EF4-FFF2-40B4-BE49-F238E27FC236}">
                <a16:creationId xmlns:a16="http://schemas.microsoft.com/office/drawing/2014/main" id="{E2DAE6E0-70FF-4A71-8431-01247C8687D9}"/>
              </a:ext>
            </a:extLst>
          </p:cNvPr>
          <p:cNvGrpSpPr/>
          <p:nvPr/>
        </p:nvGrpSpPr>
        <p:grpSpPr>
          <a:xfrm>
            <a:off x="557644" y="4005064"/>
            <a:ext cx="8782050" cy="1938536"/>
            <a:chOff x="557644" y="4005064"/>
            <a:chExt cx="8782050" cy="1938536"/>
          </a:xfrm>
        </p:grpSpPr>
        <p:sp>
          <p:nvSpPr>
            <p:cNvPr id="18" name="모서리가 둥근 직사각형 4">
              <a:extLst>
                <a:ext uri="{FF2B5EF4-FFF2-40B4-BE49-F238E27FC236}">
                  <a16:creationId xmlns:a16="http://schemas.microsoft.com/office/drawing/2014/main" id="{930158F8-A5B7-4F97-8E44-C73FC55364FC}"/>
                </a:ext>
              </a:extLst>
            </p:cNvPr>
            <p:cNvSpPr/>
            <p:nvPr/>
          </p:nvSpPr>
          <p:spPr>
            <a:xfrm>
              <a:off x="557644" y="4005064"/>
              <a:ext cx="8782050" cy="19385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9" name="그룹 18"/>
            <p:cNvGrpSpPr/>
            <p:nvPr/>
          </p:nvGrpSpPr>
          <p:grpSpPr>
            <a:xfrm>
              <a:off x="665154" y="4097965"/>
              <a:ext cx="1477946" cy="292388"/>
              <a:chOff x="732985" y="5582396"/>
              <a:chExt cx="1477946" cy="302132"/>
            </a:xfrm>
          </p:grpSpPr>
          <p:pic>
            <p:nvPicPr>
              <p:cNvPr id="21"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0" name="TextBox 19">
              <a:extLst>
                <a:ext uri="{FF2B5EF4-FFF2-40B4-BE49-F238E27FC236}">
                  <a16:creationId xmlns:a16="http://schemas.microsoft.com/office/drawing/2014/main" id="{FF266B98-5C19-4B37-8678-61D0A80AF6D7}"/>
                </a:ext>
              </a:extLst>
            </p:cNvPr>
            <p:cNvSpPr txBox="1"/>
            <p:nvPr/>
          </p:nvSpPr>
          <p:spPr>
            <a:xfrm>
              <a:off x="1024575" y="443285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Column names</a:t>
              </a:r>
            </a:p>
          </p:txBody>
        </p:sp>
        <p:grpSp>
          <p:nvGrpSpPr>
            <p:cNvPr id="36" name="그룹 35">
              <a:extLst>
                <a:ext uri="{FF2B5EF4-FFF2-40B4-BE49-F238E27FC236}">
                  <a16:creationId xmlns:a16="http://schemas.microsoft.com/office/drawing/2014/main" id="{2ECB9BA6-5609-4112-951E-05E960016BCA}"/>
                </a:ext>
              </a:extLst>
            </p:cNvPr>
            <p:cNvGrpSpPr/>
            <p:nvPr/>
          </p:nvGrpSpPr>
          <p:grpSpPr>
            <a:xfrm>
              <a:off x="665154" y="4694082"/>
              <a:ext cx="8640559" cy="534949"/>
              <a:chOff x="665154" y="4115645"/>
              <a:chExt cx="8640559" cy="534949"/>
            </a:xfrm>
          </p:grpSpPr>
          <p:grpSp>
            <p:nvGrpSpPr>
              <p:cNvPr id="37" name="그룹 36">
                <a:extLst>
                  <a:ext uri="{FF2B5EF4-FFF2-40B4-BE49-F238E27FC236}">
                    <a16:creationId xmlns:a16="http://schemas.microsoft.com/office/drawing/2014/main" id="{D74F2E01-4BAC-4074-A6FF-48AE5937B1BC}"/>
                  </a:ext>
                </a:extLst>
              </p:cNvPr>
              <p:cNvGrpSpPr/>
              <p:nvPr/>
            </p:nvGrpSpPr>
            <p:grpSpPr>
              <a:xfrm>
                <a:off x="665154" y="4115645"/>
                <a:ext cx="1477946" cy="292388"/>
                <a:chOff x="732985" y="5582396"/>
                <a:chExt cx="1477946" cy="302132"/>
              </a:xfrm>
            </p:grpSpPr>
            <p:pic>
              <p:nvPicPr>
                <p:cNvPr id="39" name="Picture 2" descr="Byte - Free electronics icons">
                  <a:extLst>
                    <a:ext uri="{FF2B5EF4-FFF2-40B4-BE49-F238E27FC236}">
                      <a16:creationId xmlns:a16="http://schemas.microsoft.com/office/drawing/2014/main" id="{F50A321A-9438-4D77-9E7B-53C9B6E2B0C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CFF044F0-8336-4466-B1E1-D2A460CB20DE}"/>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8" name="TextBox 37">
                <a:extLst>
                  <a:ext uri="{FF2B5EF4-FFF2-40B4-BE49-F238E27FC236}">
                    <a16:creationId xmlns:a16="http://schemas.microsoft.com/office/drawing/2014/main" id="{23F9BCBF-18F3-44FE-931C-263233DC23CE}"/>
                  </a:ext>
                </a:extLst>
              </p:cNvPr>
              <p:cNvSpPr txBox="1"/>
              <p:nvPr/>
            </p:nvSpPr>
            <p:spPr>
              <a:xfrm>
                <a:off x="1024575" y="445053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Labels for the outer layer</a:t>
                </a:r>
              </a:p>
            </p:txBody>
          </p:sp>
        </p:grpSp>
        <p:grpSp>
          <p:nvGrpSpPr>
            <p:cNvPr id="41" name="그룹 40">
              <a:extLst>
                <a:ext uri="{FF2B5EF4-FFF2-40B4-BE49-F238E27FC236}">
                  <a16:creationId xmlns:a16="http://schemas.microsoft.com/office/drawing/2014/main" id="{B1B37499-1806-4F48-9190-7A1499C81064}"/>
                </a:ext>
              </a:extLst>
            </p:cNvPr>
            <p:cNvGrpSpPr/>
            <p:nvPr/>
          </p:nvGrpSpPr>
          <p:grpSpPr>
            <a:xfrm>
              <a:off x="665154" y="5297921"/>
              <a:ext cx="8640559" cy="534949"/>
              <a:chOff x="665154" y="4115645"/>
              <a:chExt cx="8640559" cy="534949"/>
            </a:xfrm>
          </p:grpSpPr>
          <p:grpSp>
            <p:nvGrpSpPr>
              <p:cNvPr id="42" name="그룹 41">
                <a:extLst>
                  <a:ext uri="{FF2B5EF4-FFF2-40B4-BE49-F238E27FC236}">
                    <a16:creationId xmlns:a16="http://schemas.microsoft.com/office/drawing/2014/main" id="{DC6989FF-A906-4811-A7F3-6EB0940C0B82}"/>
                  </a:ext>
                </a:extLst>
              </p:cNvPr>
              <p:cNvGrpSpPr/>
              <p:nvPr/>
            </p:nvGrpSpPr>
            <p:grpSpPr>
              <a:xfrm>
                <a:off x="665154" y="4115645"/>
                <a:ext cx="1477946" cy="292388"/>
                <a:chOff x="732985" y="5582396"/>
                <a:chExt cx="1477946" cy="302132"/>
              </a:xfrm>
            </p:grpSpPr>
            <p:pic>
              <p:nvPicPr>
                <p:cNvPr id="44" name="Picture 2" descr="Byte - Free electronics icons">
                  <a:extLst>
                    <a:ext uri="{FF2B5EF4-FFF2-40B4-BE49-F238E27FC236}">
                      <a16:creationId xmlns:a16="http://schemas.microsoft.com/office/drawing/2014/main" id="{A4488AC4-3093-41A2-9DBE-434C0751D1E2}"/>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401090D-BE09-4033-A190-586FBF3605DE}"/>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3" name="TextBox 42">
                <a:extLst>
                  <a:ext uri="{FF2B5EF4-FFF2-40B4-BE49-F238E27FC236}">
                    <a16:creationId xmlns:a16="http://schemas.microsoft.com/office/drawing/2014/main" id="{132F6423-F1F6-40B5-9D30-14E5C0916F6F}"/>
                  </a:ext>
                </a:extLst>
              </p:cNvPr>
              <p:cNvSpPr txBox="1"/>
              <p:nvPr/>
            </p:nvSpPr>
            <p:spPr>
              <a:xfrm>
                <a:off x="1024575" y="445053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Labels for the inner layer</a:t>
                </a:r>
              </a:p>
            </p:txBody>
          </p:sp>
        </p:grpSp>
      </p:grpSp>
    </p:spTree>
    <p:extLst>
      <p:ext uri="{BB962C8B-B14F-4D97-AF65-F5344CB8AC3E}">
        <p14:creationId xmlns:p14="http://schemas.microsoft.com/office/powerpoint/2010/main" val="413671972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C001AB92-C222-45B4-9FA3-4B08B19C9046}"/>
              </a:ext>
            </a:extLst>
          </p:cNvPr>
          <p:cNvGrpSpPr/>
          <p:nvPr/>
        </p:nvGrpSpPr>
        <p:grpSpPr>
          <a:xfrm>
            <a:off x="558396" y="1691477"/>
            <a:ext cx="8782050" cy="2208719"/>
            <a:chOff x="558396" y="1691477"/>
            <a:chExt cx="8782050" cy="2208719"/>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8396" y="1691477"/>
              <a:ext cx="8782050" cy="220871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17701"/>
            <a:stretch/>
          </p:blipFill>
          <p:spPr>
            <a:xfrm>
              <a:off x="589903" y="1753174"/>
              <a:ext cx="8749792" cy="2086670"/>
            </a:xfrm>
            <a:prstGeom prst="rect">
              <a:avLst/>
            </a:prstGeom>
          </p:spPr>
        </p:pic>
      </p:gr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2.4. DataFrame Sorting and Multi-Index</a:t>
              </a:r>
              <a:endParaRPr lang="ko-KR" altLang="en-US"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35" name="직사각형 34">
            <a:extLst>
              <a:ext uri="{FF2B5EF4-FFF2-40B4-BE49-F238E27FC236}">
                <a16:creationId xmlns:a16="http://schemas.microsoft.com/office/drawing/2014/main" id="{CF4BE3B8-4C43-46ED-ABA8-A7C18C026E21}"/>
              </a:ext>
            </a:extLst>
          </p:cNvPr>
          <p:cNvSpPr/>
          <p:nvPr/>
        </p:nvSpPr>
        <p:spPr>
          <a:xfrm>
            <a:off x="557644" y="138926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Hierarchical indexing with MultiIndex:</a:t>
            </a:r>
          </a:p>
        </p:txBody>
      </p:sp>
      <p:grpSp>
        <p:nvGrpSpPr>
          <p:cNvPr id="4" name="그룹 3">
            <a:extLst>
              <a:ext uri="{FF2B5EF4-FFF2-40B4-BE49-F238E27FC236}">
                <a16:creationId xmlns:a16="http://schemas.microsoft.com/office/drawing/2014/main" id="{E2DAE6E0-70FF-4A71-8431-01247C8687D9}"/>
              </a:ext>
            </a:extLst>
          </p:cNvPr>
          <p:cNvGrpSpPr/>
          <p:nvPr/>
        </p:nvGrpSpPr>
        <p:grpSpPr>
          <a:xfrm>
            <a:off x="557644" y="4005064"/>
            <a:ext cx="8782050" cy="1938536"/>
            <a:chOff x="557644" y="4005064"/>
            <a:chExt cx="8782050" cy="1938536"/>
          </a:xfrm>
        </p:grpSpPr>
        <p:sp>
          <p:nvSpPr>
            <p:cNvPr id="18" name="모서리가 둥근 직사각형 4">
              <a:extLst>
                <a:ext uri="{FF2B5EF4-FFF2-40B4-BE49-F238E27FC236}">
                  <a16:creationId xmlns:a16="http://schemas.microsoft.com/office/drawing/2014/main" id="{930158F8-A5B7-4F97-8E44-C73FC55364FC}"/>
                </a:ext>
              </a:extLst>
            </p:cNvPr>
            <p:cNvSpPr/>
            <p:nvPr/>
          </p:nvSpPr>
          <p:spPr>
            <a:xfrm>
              <a:off x="557644" y="4005064"/>
              <a:ext cx="8782050" cy="19385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9" name="그룹 18"/>
            <p:cNvGrpSpPr/>
            <p:nvPr/>
          </p:nvGrpSpPr>
          <p:grpSpPr>
            <a:xfrm>
              <a:off x="665154" y="4097965"/>
              <a:ext cx="1477946" cy="292388"/>
              <a:chOff x="732985" y="5582396"/>
              <a:chExt cx="1477946" cy="302132"/>
            </a:xfrm>
          </p:grpSpPr>
          <p:pic>
            <p:nvPicPr>
              <p:cNvPr id="21"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0" name="TextBox 19">
              <a:extLst>
                <a:ext uri="{FF2B5EF4-FFF2-40B4-BE49-F238E27FC236}">
                  <a16:creationId xmlns:a16="http://schemas.microsoft.com/office/drawing/2014/main" id="{FF266B98-5C19-4B37-8678-61D0A80AF6D7}"/>
                </a:ext>
              </a:extLst>
            </p:cNvPr>
            <p:cNvSpPr txBox="1"/>
            <p:nvPr/>
          </p:nvSpPr>
          <p:spPr>
            <a:xfrm>
              <a:off x="1024575" y="443285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Create a list of tuples with the labels.</a:t>
              </a:r>
            </a:p>
          </p:txBody>
        </p:sp>
        <p:grpSp>
          <p:nvGrpSpPr>
            <p:cNvPr id="36" name="그룹 35">
              <a:extLst>
                <a:ext uri="{FF2B5EF4-FFF2-40B4-BE49-F238E27FC236}">
                  <a16:creationId xmlns:a16="http://schemas.microsoft.com/office/drawing/2014/main" id="{2ECB9BA6-5609-4112-951E-05E960016BCA}"/>
                </a:ext>
              </a:extLst>
            </p:cNvPr>
            <p:cNvGrpSpPr/>
            <p:nvPr/>
          </p:nvGrpSpPr>
          <p:grpSpPr>
            <a:xfrm>
              <a:off x="665154" y="4694082"/>
              <a:ext cx="8640559" cy="534949"/>
              <a:chOff x="665154" y="4115645"/>
              <a:chExt cx="8640559" cy="534949"/>
            </a:xfrm>
          </p:grpSpPr>
          <p:grpSp>
            <p:nvGrpSpPr>
              <p:cNvPr id="37" name="그룹 36">
                <a:extLst>
                  <a:ext uri="{FF2B5EF4-FFF2-40B4-BE49-F238E27FC236}">
                    <a16:creationId xmlns:a16="http://schemas.microsoft.com/office/drawing/2014/main" id="{D74F2E01-4BAC-4074-A6FF-48AE5937B1BC}"/>
                  </a:ext>
                </a:extLst>
              </p:cNvPr>
              <p:cNvGrpSpPr/>
              <p:nvPr/>
            </p:nvGrpSpPr>
            <p:grpSpPr>
              <a:xfrm>
                <a:off x="665154" y="4115645"/>
                <a:ext cx="1477946" cy="292388"/>
                <a:chOff x="732985" y="5582396"/>
                <a:chExt cx="1477946" cy="302132"/>
              </a:xfrm>
            </p:grpSpPr>
            <p:pic>
              <p:nvPicPr>
                <p:cNvPr id="39" name="Picture 2" descr="Byte - Free electronics icons">
                  <a:extLst>
                    <a:ext uri="{FF2B5EF4-FFF2-40B4-BE49-F238E27FC236}">
                      <a16:creationId xmlns:a16="http://schemas.microsoft.com/office/drawing/2014/main" id="{F50A321A-9438-4D77-9E7B-53C9B6E2B0C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CFF044F0-8336-4466-B1E1-D2A460CB20DE}"/>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8" name="TextBox 37">
                <a:extLst>
                  <a:ext uri="{FF2B5EF4-FFF2-40B4-BE49-F238E27FC236}">
                    <a16:creationId xmlns:a16="http://schemas.microsoft.com/office/drawing/2014/main" id="{23F9BCBF-18F3-44FE-931C-263233DC23CE}"/>
                  </a:ext>
                </a:extLst>
              </p:cNvPr>
              <p:cNvSpPr txBox="1"/>
              <p:nvPr/>
            </p:nvSpPr>
            <p:spPr>
              <a:xfrm>
                <a:off x="1024575" y="445053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Create the MultiIndex.</a:t>
                </a:r>
              </a:p>
            </p:txBody>
          </p:sp>
        </p:grpSp>
        <p:grpSp>
          <p:nvGrpSpPr>
            <p:cNvPr id="41" name="그룹 40">
              <a:extLst>
                <a:ext uri="{FF2B5EF4-FFF2-40B4-BE49-F238E27FC236}">
                  <a16:creationId xmlns:a16="http://schemas.microsoft.com/office/drawing/2014/main" id="{B1B37499-1806-4F48-9190-7A1499C81064}"/>
                </a:ext>
              </a:extLst>
            </p:cNvPr>
            <p:cNvGrpSpPr/>
            <p:nvPr/>
          </p:nvGrpSpPr>
          <p:grpSpPr>
            <a:xfrm>
              <a:off x="665154" y="5297921"/>
              <a:ext cx="8640559" cy="534949"/>
              <a:chOff x="665154" y="4115645"/>
              <a:chExt cx="8640559" cy="534949"/>
            </a:xfrm>
          </p:grpSpPr>
          <p:grpSp>
            <p:nvGrpSpPr>
              <p:cNvPr id="42" name="그룹 41">
                <a:extLst>
                  <a:ext uri="{FF2B5EF4-FFF2-40B4-BE49-F238E27FC236}">
                    <a16:creationId xmlns:a16="http://schemas.microsoft.com/office/drawing/2014/main" id="{DC6989FF-A906-4811-A7F3-6EB0940C0B82}"/>
                  </a:ext>
                </a:extLst>
              </p:cNvPr>
              <p:cNvGrpSpPr/>
              <p:nvPr/>
            </p:nvGrpSpPr>
            <p:grpSpPr>
              <a:xfrm>
                <a:off x="665154" y="4115645"/>
                <a:ext cx="1477946" cy="292388"/>
                <a:chOff x="732985" y="5582396"/>
                <a:chExt cx="1477946" cy="302132"/>
              </a:xfrm>
            </p:grpSpPr>
            <p:pic>
              <p:nvPicPr>
                <p:cNvPr id="44" name="Picture 2" descr="Byte - Free electronics icons">
                  <a:extLst>
                    <a:ext uri="{FF2B5EF4-FFF2-40B4-BE49-F238E27FC236}">
                      <a16:creationId xmlns:a16="http://schemas.microsoft.com/office/drawing/2014/main" id="{A4488AC4-3093-41A2-9DBE-434C0751D1E2}"/>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401090D-BE09-4033-A190-586FBF3605DE}"/>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3" name="TextBox 42">
                <a:extLst>
                  <a:ext uri="{FF2B5EF4-FFF2-40B4-BE49-F238E27FC236}">
                    <a16:creationId xmlns:a16="http://schemas.microsoft.com/office/drawing/2014/main" id="{132F6423-F1F6-40B5-9D30-14E5C0916F6F}"/>
                  </a:ext>
                </a:extLst>
              </p:cNvPr>
              <p:cNvSpPr txBox="1"/>
              <p:nvPr/>
            </p:nvSpPr>
            <p:spPr>
              <a:xfrm>
                <a:off x="1024575" y="4450539"/>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Apply the MultiIndex.</a:t>
                </a:r>
              </a:p>
            </p:txBody>
          </p:sp>
        </p:grpSp>
      </p:grpSp>
    </p:spTree>
    <p:extLst>
      <p:ext uri="{BB962C8B-B14F-4D97-AF65-F5344CB8AC3E}">
        <p14:creationId xmlns:p14="http://schemas.microsoft.com/office/powerpoint/2010/main" val="56663449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prstClr val="white"/>
                  </a:solidFill>
                  <a:latin typeface="SamsungSharpSans-Medium" pitchFamily="2" charset="0"/>
                  <a:ea typeface="맑은 고딕" panose="020B0503020000020004" pitchFamily="50" charset="-127"/>
                  <a:cs typeface="SamsungSharpSans-Medium" pitchFamily="2" charset="0"/>
                </a:rPr>
                <a:t>2.4. DataFrame Sorting and Multi-Index</a:t>
              </a:r>
              <a:endParaRPr lang="ko-KR" altLang="en-US" dirty="0">
                <a:solidFill>
                  <a:prstClr val="white"/>
                </a:solidFill>
                <a:latin typeface="SamsungSharpSans-Medium" pitchFamily="2" charset="0"/>
                <a:cs typeface="SamsungSharpSans-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3" name="그룹 2">
            <a:extLst>
              <a:ext uri="{FF2B5EF4-FFF2-40B4-BE49-F238E27FC236}">
                <a16:creationId xmlns:a16="http://schemas.microsoft.com/office/drawing/2014/main" id="{111073F6-0789-4B23-9B2A-378B69A684DE}"/>
              </a:ext>
            </a:extLst>
          </p:cNvPr>
          <p:cNvGrpSpPr/>
          <p:nvPr/>
        </p:nvGrpSpPr>
        <p:grpSpPr>
          <a:xfrm>
            <a:off x="558396" y="1691477"/>
            <a:ext cx="8782050" cy="2777886"/>
            <a:chOff x="558396" y="1691477"/>
            <a:chExt cx="8782050" cy="2777886"/>
          </a:xfrm>
        </p:grpSpPr>
        <p:sp>
          <p:nvSpPr>
            <p:cNvPr id="15" name="모서리가 둥근 직사각형 4">
              <a:extLst>
                <a:ext uri="{FF2B5EF4-FFF2-40B4-BE49-F238E27FC236}">
                  <a16:creationId xmlns:a16="http://schemas.microsoft.com/office/drawing/2014/main" id="{373CC0E7-9C9A-4AFF-97CC-AE64CEE2819A}"/>
                </a:ext>
              </a:extLst>
            </p:cNvPr>
            <p:cNvSpPr/>
            <p:nvPr/>
          </p:nvSpPr>
          <p:spPr>
            <a:xfrm>
              <a:off x="558396" y="1691477"/>
              <a:ext cx="8782050" cy="27778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4820"/>
            <a:stretch/>
          </p:blipFill>
          <p:spPr>
            <a:xfrm>
              <a:off x="646893" y="1794297"/>
              <a:ext cx="8487678" cy="2552827"/>
            </a:xfrm>
            <a:prstGeom prst="rect">
              <a:avLst/>
            </a:prstGeom>
          </p:spPr>
        </p:pic>
      </p:grpSp>
      <p:sp>
        <p:nvSpPr>
          <p:cNvPr id="14" name="직사각형 13">
            <a:extLst>
              <a:ext uri="{FF2B5EF4-FFF2-40B4-BE49-F238E27FC236}">
                <a16:creationId xmlns:a16="http://schemas.microsoft.com/office/drawing/2014/main" id="{0DE87079-600B-4DE8-AC80-B7738B7EC541}"/>
              </a:ext>
            </a:extLst>
          </p:cNvPr>
          <p:cNvSpPr/>
          <p:nvPr/>
        </p:nvSpPr>
        <p:spPr>
          <a:xfrm>
            <a:off x="557644" y="1389264"/>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Hierarchical indexing with MultiIndex:</a:t>
            </a:r>
          </a:p>
        </p:txBody>
      </p:sp>
    </p:spTree>
    <p:extLst>
      <p:ext uri="{BB962C8B-B14F-4D97-AF65-F5344CB8AC3E}">
        <p14:creationId xmlns:p14="http://schemas.microsoft.com/office/powerpoint/2010/main" val="333850922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그룹 33">
            <a:extLst>
              <a:ext uri="{FF2B5EF4-FFF2-40B4-BE49-F238E27FC236}">
                <a16:creationId xmlns:a16="http://schemas.microsoft.com/office/drawing/2014/main" id="{92222342-E7C1-4D3B-92E9-4C220D313A6F}"/>
              </a:ext>
            </a:extLst>
          </p:cNvPr>
          <p:cNvGrpSpPr/>
          <p:nvPr/>
        </p:nvGrpSpPr>
        <p:grpSpPr>
          <a:xfrm>
            <a:off x="989683" y="2748696"/>
            <a:ext cx="8354217" cy="3124387"/>
            <a:chOff x="989683" y="2748696"/>
            <a:chExt cx="8354217" cy="3124387"/>
          </a:xfrm>
        </p:grpSpPr>
        <p:sp>
          <p:nvSpPr>
            <p:cNvPr id="35" name="직사각형 133">
              <a:extLst>
                <a:ext uri="{FF2B5EF4-FFF2-40B4-BE49-F238E27FC236}">
                  <a16:creationId xmlns:a16="http://schemas.microsoft.com/office/drawing/2014/main" id="{670FB0E2-082B-4509-A996-8766389F22FA}"/>
                </a:ext>
              </a:extLst>
            </p:cNvPr>
            <p:cNvSpPr/>
            <p:nvPr/>
          </p:nvSpPr>
          <p:spPr>
            <a:xfrm>
              <a:off x="990600" y="3133792"/>
              <a:ext cx="8353300" cy="1046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457200" rtl="0" eaLnBrk="1" fontAlgn="base" latinLnBrk="1" hangingPunct="1">
                <a:lnSpc>
                  <a:spcPct val="100000"/>
                </a:lnSpc>
                <a:spcBef>
                  <a:spcPct val="0"/>
                </a:spcBef>
                <a:spcAft>
                  <a:spcPct val="0"/>
                </a:spcAft>
                <a:buClrTx/>
                <a:buSzTx/>
                <a:buFontTx/>
                <a:buNone/>
                <a:tabLst/>
                <a:defRPr/>
              </a:pPr>
              <a:r>
                <a:rPr kumimoji="1" lang="en-US" altLang="ko-KR" sz="3400" b="0" i="0" u="none" strike="noStrike" kern="1200" cap="none" spc="0" normalizeH="0" baseline="0" noProof="0" dirty="0">
                  <a:ln>
                    <a:noFill/>
                  </a:ln>
                  <a:solidFill>
                    <a:prstClr val="black"/>
                  </a:solidFill>
                  <a:effectLst/>
                  <a:uLnTx/>
                  <a:uFillTx/>
                  <a:latin typeface="Samsung Sharp Sans" pitchFamily="2" charset="0"/>
                  <a:ea typeface="Samsung Sharp Sans" pitchFamily="2" charset="0"/>
                  <a:cs typeface="Samsung Sharp Sans" pitchFamily="2" charset="0"/>
                </a:rPr>
                <a:t>Optimal Data Exploration Through Pandas</a:t>
              </a:r>
              <a:endParaRPr kumimoji="1" lang="ko-KR" altLang="en-US" sz="3400" b="0" i="0" u="none" strike="noStrike" kern="1200" cap="none" spc="0" normalizeH="0" baseline="0" noProof="0" dirty="0">
                <a:ln>
                  <a:noFill/>
                </a:ln>
                <a:solidFill>
                  <a:prstClr val="black"/>
                </a:solidFill>
                <a:effectLst/>
                <a:uLnTx/>
                <a:uFillTx/>
                <a:latin typeface="Samsung Sharp Sans" pitchFamily="2" charset="0"/>
                <a:ea typeface="맑은 고딕" panose="020B0503020000020004" pitchFamily="50" charset="-127"/>
                <a:cs typeface="Samsung Sharp Sans" pitchFamily="2" charset="0"/>
              </a:endParaRPr>
            </a:p>
          </p:txBody>
        </p:sp>
        <p:sp>
          <p:nvSpPr>
            <p:cNvPr id="36" name="직사각형 133">
              <a:extLst>
                <a:ext uri="{FF2B5EF4-FFF2-40B4-BE49-F238E27FC236}">
                  <a16:creationId xmlns:a16="http://schemas.microsoft.com/office/drawing/2014/main" id="{ABC20F91-AFEA-4FD6-9A3F-FE6290A3D139}"/>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457063" rtl="0" eaLnBrk="1" fontAlgn="base" latinLnBrk="1" hangingPunct="1">
                <a:lnSpc>
                  <a:spcPct val="100000"/>
                </a:lnSpc>
                <a:spcBef>
                  <a:spcPct val="0"/>
                </a:spcBef>
                <a:spcAft>
                  <a:spcPct val="0"/>
                </a:spcAft>
                <a:buClrTx/>
                <a:buSzTx/>
                <a:buFontTx/>
                <a:buNone/>
                <a:tabLst/>
                <a:defRPr/>
              </a:pPr>
              <a:r>
                <a:rPr kumimoji="1" lang="en-US" altLang="ko-KR" sz="1999"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rPr>
                <a:t>Unit 2. </a:t>
              </a:r>
              <a:endParaRPr kumimoji="1" lang="en-US" altLang="ko-KR" sz="5398" b="0" i="0" u="none" strike="noStrike" kern="1200" cap="none" spc="0" normalizeH="0" baseline="0" noProof="0" dirty="0">
                <a:ln>
                  <a:noFill/>
                </a:ln>
                <a:solidFill>
                  <a:prstClr val="white">
                    <a:lumMod val="50000"/>
                  </a:prstClr>
                </a:solidFill>
                <a:effectLst/>
                <a:uLnTx/>
                <a:uFillTx/>
                <a:latin typeface="Samsung Sharp Sans" pitchFamily="2" charset="0"/>
                <a:ea typeface="Samsung Sharp Sans" pitchFamily="2" charset="0"/>
                <a:cs typeface="Samsung Sharp Sans" pitchFamily="2" charset="0"/>
              </a:endParaRPr>
            </a:p>
          </p:txBody>
        </p:sp>
        <p:grpSp>
          <p:nvGrpSpPr>
            <p:cNvPr id="37" name="그룹 36">
              <a:extLst>
                <a:ext uri="{FF2B5EF4-FFF2-40B4-BE49-F238E27FC236}">
                  <a16:creationId xmlns:a16="http://schemas.microsoft.com/office/drawing/2014/main" id="{97AF80FA-4629-4B59-AC93-BD7BFC0754B0}"/>
                </a:ext>
              </a:extLst>
            </p:cNvPr>
            <p:cNvGrpSpPr/>
            <p:nvPr/>
          </p:nvGrpSpPr>
          <p:grpSpPr>
            <a:xfrm>
              <a:off x="1025537" y="4509120"/>
              <a:ext cx="8297776" cy="1363963"/>
              <a:chOff x="1025537" y="4609703"/>
              <a:chExt cx="8297776" cy="1363963"/>
            </a:xfrm>
          </p:grpSpPr>
          <p:sp>
            <p:nvSpPr>
              <p:cNvPr id="38" name="직사각형 37">
                <a:extLst>
                  <a:ext uri="{FF2B5EF4-FFF2-40B4-BE49-F238E27FC236}">
                    <a16:creationId xmlns:a16="http://schemas.microsoft.com/office/drawing/2014/main" id="{F028663D-60B3-45CC-BA52-A806672A9D4A}"/>
                  </a:ext>
                </a:extLst>
              </p:cNvPr>
              <p:cNvSpPr/>
              <p:nvPr/>
            </p:nvSpPr>
            <p:spPr>
              <a:xfrm>
                <a:off x="1025537" y="4609703"/>
                <a:ext cx="4185332" cy="136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2.1. Pipelines: Data Structures According to Data Types</a:t>
                </a:r>
              </a:p>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2.2. Pandas Series and DataFrames</a:t>
                </a:r>
              </a:p>
              <a:p>
                <a:pPr marL="176213" marR="0" lvl="0" indent="-176213" algn="l" defTabSz="457200" rtl="0" eaLnBrk="1" fontAlgn="base" latinLnBrk="0" hangingPunct="1">
                  <a:lnSpc>
                    <a:spcPct val="100000"/>
                  </a:lnSpc>
                  <a:spcBef>
                    <a:spcPct val="0"/>
                  </a:spcBef>
                  <a:spcAft>
                    <a:spcPts val="1000"/>
                  </a:spcAft>
                  <a:buClrTx/>
                  <a:buSzPct val="120000"/>
                  <a:buFontTx/>
                  <a:buBlip>
                    <a:blip r:embed="rId3"/>
                  </a:buBlip>
                  <a:tabLst/>
                  <a:defRPr/>
                </a:pPr>
                <a:r>
                  <a:rPr kumimoji="1" lang="en-US" altLang="ko-KR" sz="1799" b="0" i="0" u="none" strike="noStrike" kern="1200" cap="none" spc="0" normalizeH="0" baseline="0" noProof="0" dirty="0">
                    <a:ln>
                      <a:noFill/>
                    </a:ln>
                    <a:solidFill>
                      <a:prstClr val="white">
                        <a:lumMod val="65000"/>
                      </a:prstClr>
                    </a:solidFill>
                    <a:effectLst/>
                    <a:uLnTx/>
                    <a:uFillTx/>
                    <a:latin typeface="SamsungOne-400" panose="020B0503030303020204" pitchFamily="34" charset="0"/>
                    <a:ea typeface="SamsungOne-400" panose="020B0503030303020204" pitchFamily="34" charset="0"/>
                    <a:cs typeface="+mn-cs"/>
                  </a:rPr>
                  <a:t>2.3. Merging and Binding DataFrames</a:t>
                </a:r>
              </a:p>
            </p:txBody>
          </p:sp>
          <p:sp>
            <p:nvSpPr>
              <p:cNvPr id="39" name="직사각형 38">
                <a:extLst>
                  <a:ext uri="{FF2B5EF4-FFF2-40B4-BE49-F238E27FC236}">
                    <a16:creationId xmlns:a16="http://schemas.microsoft.com/office/drawing/2014/main" id="{12880166-340D-4A6A-973D-3B7E5B916869}"/>
                  </a:ext>
                </a:extLst>
              </p:cNvPr>
              <p:cNvSpPr/>
              <p:nvPr/>
            </p:nvSpPr>
            <p:spPr>
              <a:xfrm>
                <a:off x="5137981" y="4609703"/>
                <a:ext cx="4185332" cy="12357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kumimoji="1" lang="en-US" altLang="ko-KR" sz="1799" dirty="0">
                    <a:solidFill>
                      <a:prstClr val="white">
                        <a:lumMod val="65000"/>
                      </a:prstClr>
                    </a:solidFill>
                    <a:latin typeface="SamsungOne-400" panose="020B0503030303020204" pitchFamily="34" charset="0"/>
                    <a:ea typeface="SamsungOne-400" panose="020B0503030303020204" pitchFamily="34" charset="0"/>
                  </a:rPr>
                  <a:t>2.4. DataFrame Sorting and Multi-Index</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2.5. Examining the Characteristics of Data Through Descriptive Statistics and Data Samples</a:t>
                </a:r>
                <a:endParaRPr kumimoji="1" lang="ko-KR" altLang="en-US" dirty="0">
                  <a:solidFill>
                    <a:prstClr val="black">
                      <a:lumMod val="75000"/>
                      <a:lumOff val="25000"/>
                    </a:prstClr>
                  </a:solidFill>
                  <a:latin typeface="SamsungOne-700" panose="020B0803030303020204" pitchFamily="34" charset="0"/>
                </a:endParaRPr>
              </a:p>
            </p:txBody>
          </p:sp>
        </p:grpSp>
      </p:grpSp>
    </p:spTree>
    <p:extLst>
      <p:ext uri="{BB962C8B-B14F-4D97-AF65-F5344CB8AC3E}">
        <p14:creationId xmlns:p14="http://schemas.microsoft.com/office/powerpoint/2010/main" val="171232305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8B1BC1D-DFB7-4482-BA23-F01AD71B1BBE}"/>
              </a:ext>
            </a:extLst>
          </p:cNvPr>
          <p:cNvSpPr/>
          <p:nvPr/>
        </p:nvSpPr>
        <p:spPr>
          <a:xfrm>
            <a:off x="444580" y="1360864"/>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DataFrame Summarization</a:t>
            </a:r>
          </a:p>
        </p:txBody>
      </p:sp>
      <p:grpSp>
        <p:nvGrpSpPr>
          <p:cNvPr id="4" name="그룹 3">
            <a:extLst>
              <a:ext uri="{FF2B5EF4-FFF2-40B4-BE49-F238E27FC236}">
                <a16:creationId xmlns:a16="http://schemas.microsoft.com/office/drawing/2014/main" id="{F5578069-048C-4454-9961-E94F9BD60025}"/>
              </a:ext>
            </a:extLst>
          </p:cNvPr>
          <p:cNvGrpSpPr/>
          <p:nvPr/>
        </p:nvGrpSpPr>
        <p:grpSpPr>
          <a:xfrm>
            <a:off x="558396" y="2140167"/>
            <a:ext cx="8782050" cy="4145096"/>
            <a:chOff x="558396" y="2140167"/>
            <a:chExt cx="8782050" cy="4145096"/>
          </a:xfrm>
        </p:grpSpPr>
        <p:sp>
          <p:nvSpPr>
            <p:cNvPr id="11" name="모서리가 둥근 직사각형 4">
              <a:extLst>
                <a:ext uri="{FF2B5EF4-FFF2-40B4-BE49-F238E27FC236}">
                  <a16:creationId xmlns:a16="http://schemas.microsoft.com/office/drawing/2014/main" id="{930158F8-A5B7-4F97-8E44-C73FC55364FC}"/>
                </a:ext>
              </a:extLst>
            </p:cNvPr>
            <p:cNvSpPr/>
            <p:nvPr/>
          </p:nvSpPr>
          <p:spPr>
            <a:xfrm>
              <a:off x="558396" y="2140167"/>
              <a:ext cx="8782050" cy="414509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6439"/>
            <a:stretch/>
          </p:blipFill>
          <p:spPr>
            <a:xfrm>
              <a:off x="589903" y="2205243"/>
              <a:ext cx="8750543" cy="4014186"/>
            </a:xfrm>
            <a:prstGeom prst="rect">
              <a:avLst/>
            </a:prstGeom>
          </p:spPr>
        </p:pic>
      </p:grpSp>
      <p:sp>
        <p:nvSpPr>
          <p:cNvPr id="20" name="직사각형 19">
            <a:extLst>
              <a:ext uri="{FF2B5EF4-FFF2-40B4-BE49-F238E27FC236}">
                <a16:creationId xmlns:a16="http://schemas.microsoft.com/office/drawing/2014/main" id="{E7542FEF-2998-4F04-9C71-8A8C9DB0F29F}"/>
              </a:ext>
            </a:extLst>
          </p:cNvPr>
          <p:cNvSpPr/>
          <p:nvPr/>
        </p:nvSpPr>
        <p:spPr>
          <a:xfrm>
            <a:off x="557644" y="1822949"/>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Grouping and Summarizing:</a:t>
            </a:r>
          </a:p>
        </p:txBody>
      </p:sp>
      <p:grpSp>
        <p:nvGrpSpPr>
          <p:cNvPr id="21" name="그룹 20">
            <a:extLst>
              <a:ext uri="{FF2B5EF4-FFF2-40B4-BE49-F238E27FC236}">
                <a16:creationId xmlns:a16="http://schemas.microsoft.com/office/drawing/2014/main" id="{EDB27E0B-42FA-4858-B249-CECD9F18EF9A}"/>
              </a:ext>
            </a:extLst>
          </p:cNvPr>
          <p:cNvGrpSpPr/>
          <p:nvPr/>
        </p:nvGrpSpPr>
        <p:grpSpPr>
          <a:xfrm>
            <a:off x="450000" y="355025"/>
            <a:ext cx="9033082" cy="492443"/>
            <a:chOff x="450000" y="448335"/>
            <a:chExt cx="9033082" cy="492443"/>
          </a:xfrm>
        </p:grpSpPr>
        <p:sp>
          <p:nvSpPr>
            <p:cNvPr id="22" name="직사각형 21">
              <a:extLst>
                <a:ext uri="{FF2B5EF4-FFF2-40B4-BE49-F238E27FC236}">
                  <a16:creationId xmlns:a16="http://schemas.microsoft.com/office/drawing/2014/main" id="{9D41ED82-E31E-4FE5-B388-CC12B30CC302}"/>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3" name="직사각형 22">
              <a:extLst>
                <a:ext uri="{FF2B5EF4-FFF2-40B4-BE49-F238E27FC236}">
                  <a16:creationId xmlns:a16="http://schemas.microsoft.com/office/drawing/2014/main" id="{9BF7E163-F44A-448E-AA8B-BCF7C4BAE481}"/>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333434547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B60E08E3-24F6-497B-AAC7-F5BA767E0855}"/>
              </a:ext>
            </a:extLst>
          </p:cNvPr>
          <p:cNvGrpSpPr/>
          <p:nvPr/>
        </p:nvGrpSpPr>
        <p:grpSpPr>
          <a:xfrm>
            <a:off x="559817" y="1951516"/>
            <a:ext cx="8782050" cy="4392488"/>
            <a:chOff x="559817" y="1951516"/>
            <a:chExt cx="8782050" cy="4392488"/>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951516"/>
              <a:ext cx="8782050" cy="43924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5653"/>
            <a:stretch/>
          </p:blipFill>
          <p:spPr>
            <a:xfrm>
              <a:off x="585772" y="2019167"/>
              <a:ext cx="8756095" cy="4288123"/>
            </a:xfrm>
            <a:prstGeom prst="rect">
              <a:avLst/>
            </a:prstGeom>
          </p:spPr>
        </p:pic>
      </p:grpSp>
      <p:grpSp>
        <p:nvGrpSpPr>
          <p:cNvPr id="22" name="그룹 21">
            <a:extLst>
              <a:ext uri="{FF2B5EF4-FFF2-40B4-BE49-F238E27FC236}">
                <a16:creationId xmlns:a16="http://schemas.microsoft.com/office/drawing/2014/main" id="{6D5D63FC-71BD-4706-82B4-5F8E519035FB}"/>
              </a:ext>
            </a:extLst>
          </p:cNvPr>
          <p:cNvGrpSpPr/>
          <p:nvPr/>
        </p:nvGrpSpPr>
        <p:grpSpPr>
          <a:xfrm>
            <a:off x="580388" y="1340768"/>
            <a:ext cx="8887612" cy="579567"/>
            <a:chOff x="580388" y="1413381"/>
            <a:chExt cx="8887612" cy="579567"/>
          </a:xfrm>
        </p:grpSpPr>
        <p:sp>
          <p:nvSpPr>
            <p:cNvPr id="26" name="직사각형 25">
              <a:extLst>
                <a:ext uri="{FF2B5EF4-FFF2-40B4-BE49-F238E27FC236}">
                  <a16:creationId xmlns:a16="http://schemas.microsoft.com/office/drawing/2014/main" id="{876AD833-CA84-4D4B-A9A1-A620CC9BF59F}"/>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Manipulate the indices and the columns and then summarize.</a:t>
              </a:r>
            </a:p>
          </p:txBody>
        </p:sp>
        <p:sp>
          <p:nvSpPr>
            <p:cNvPr id="28" name="직사각형 27">
              <a:extLst>
                <a:ext uri="{FF2B5EF4-FFF2-40B4-BE49-F238E27FC236}">
                  <a16:creationId xmlns:a16="http://schemas.microsoft.com/office/drawing/2014/main" id="{95026205-37B2-4EF1-85B9-003BBA2FEBAE}"/>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grpSp>
        <p:nvGrpSpPr>
          <p:cNvPr id="31" name="그룹 30">
            <a:extLst>
              <a:ext uri="{FF2B5EF4-FFF2-40B4-BE49-F238E27FC236}">
                <a16:creationId xmlns:a16="http://schemas.microsoft.com/office/drawing/2014/main" id="{919EF437-FC11-4B7E-8D3B-6B70D6BA6ADD}"/>
              </a:ext>
            </a:extLst>
          </p:cNvPr>
          <p:cNvGrpSpPr/>
          <p:nvPr/>
        </p:nvGrpSpPr>
        <p:grpSpPr>
          <a:xfrm>
            <a:off x="450000" y="355025"/>
            <a:ext cx="9033082" cy="492443"/>
            <a:chOff x="450000" y="448335"/>
            <a:chExt cx="9033082" cy="492443"/>
          </a:xfrm>
        </p:grpSpPr>
        <p:sp>
          <p:nvSpPr>
            <p:cNvPr id="32" name="직사각형 31">
              <a:extLst>
                <a:ext uri="{FF2B5EF4-FFF2-40B4-BE49-F238E27FC236}">
                  <a16:creationId xmlns:a16="http://schemas.microsoft.com/office/drawing/2014/main" id="{CDEAC86A-F51E-4542-B667-92DE230BD4D3}"/>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33" name="직사각형 32">
              <a:extLst>
                <a:ext uri="{FF2B5EF4-FFF2-40B4-BE49-F238E27FC236}">
                  <a16:creationId xmlns:a16="http://schemas.microsoft.com/office/drawing/2014/main" id="{3C4B7BB5-ED4E-4834-92F2-519F6644FB50}"/>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75843928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C2D61B91-6EAA-4C47-8FDE-A23946607C62}"/>
              </a:ext>
            </a:extLst>
          </p:cNvPr>
          <p:cNvGrpSpPr/>
          <p:nvPr/>
        </p:nvGrpSpPr>
        <p:grpSpPr>
          <a:xfrm>
            <a:off x="559817" y="1988839"/>
            <a:ext cx="8782050" cy="3236303"/>
            <a:chOff x="559817" y="1988839"/>
            <a:chExt cx="8782050" cy="3236303"/>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988839"/>
              <a:ext cx="8782050" cy="323630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1016" r="19154"/>
            <a:stretch/>
          </p:blipFill>
          <p:spPr>
            <a:xfrm>
              <a:off x="625152" y="2056868"/>
              <a:ext cx="8716715" cy="3100324"/>
            </a:xfrm>
            <a:prstGeom prst="rect">
              <a:avLst/>
            </a:prstGeom>
          </p:spPr>
        </p:pic>
      </p:grpSp>
      <p:grpSp>
        <p:nvGrpSpPr>
          <p:cNvPr id="12" name="그룹 11">
            <a:extLst>
              <a:ext uri="{FF2B5EF4-FFF2-40B4-BE49-F238E27FC236}">
                <a16:creationId xmlns:a16="http://schemas.microsoft.com/office/drawing/2014/main" id="{D766E3FE-7A93-4504-84CA-A0CDE5C2ADCE}"/>
              </a:ext>
            </a:extLst>
          </p:cNvPr>
          <p:cNvGrpSpPr/>
          <p:nvPr/>
        </p:nvGrpSpPr>
        <p:grpSpPr>
          <a:xfrm>
            <a:off x="580388" y="1340768"/>
            <a:ext cx="8887612" cy="579567"/>
            <a:chOff x="580388" y="1413381"/>
            <a:chExt cx="8887612" cy="579567"/>
          </a:xfrm>
        </p:grpSpPr>
        <p:sp>
          <p:nvSpPr>
            <p:cNvPr id="13" name="직사각형 12">
              <a:extLst>
                <a:ext uri="{FF2B5EF4-FFF2-40B4-BE49-F238E27FC236}">
                  <a16:creationId xmlns:a16="http://schemas.microsoft.com/office/drawing/2014/main" id="{A5602F38-4DF3-480D-B36E-267B8678B05B}"/>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Index by 'Size' and 'Type.' Columns by 'Location.' Values provided by the 'B' column.</a:t>
              </a:r>
            </a:p>
          </p:txBody>
        </p:sp>
        <p:sp>
          <p:nvSpPr>
            <p:cNvPr id="14" name="직사각형 13">
              <a:extLst>
                <a:ext uri="{FF2B5EF4-FFF2-40B4-BE49-F238E27FC236}">
                  <a16:creationId xmlns:a16="http://schemas.microsoft.com/office/drawing/2014/main" id="{619B1C50-FA2F-4B7A-B9B0-5E298B3936C1}"/>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grpSp>
        <p:nvGrpSpPr>
          <p:cNvPr id="22" name="그룹 21">
            <a:extLst>
              <a:ext uri="{FF2B5EF4-FFF2-40B4-BE49-F238E27FC236}">
                <a16:creationId xmlns:a16="http://schemas.microsoft.com/office/drawing/2014/main" id="{C27EC496-F792-49CE-A30E-71068E46B646}"/>
              </a:ext>
            </a:extLst>
          </p:cNvPr>
          <p:cNvGrpSpPr/>
          <p:nvPr/>
        </p:nvGrpSpPr>
        <p:grpSpPr>
          <a:xfrm>
            <a:off x="450000" y="355025"/>
            <a:ext cx="9033082" cy="492443"/>
            <a:chOff x="450000" y="448335"/>
            <a:chExt cx="9033082" cy="492443"/>
          </a:xfrm>
        </p:grpSpPr>
        <p:sp>
          <p:nvSpPr>
            <p:cNvPr id="26" name="직사각형 25">
              <a:extLst>
                <a:ext uri="{FF2B5EF4-FFF2-40B4-BE49-F238E27FC236}">
                  <a16:creationId xmlns:a16="http://schemas.microsoft.com/office/drawing/2014/main" id="{4EA1040C-7510-4302-8A36-243D282AF9AB}"/>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8" name="직사각형 27">
              <a:extLst>
                <a:ext uri="{FF2B5EF4-FFF2-40B4-BE49-F238E27FC236}">
                  <a16:creationId xmlns:a16="http://schemas.microsoft.com/office/drawing/2014/main" id="{9785887A-1B27-4F60-82D6-2E915E631F0E}"/>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217871903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2696450-040D-4583-A217-5E0AA56ABE46}"/>
              </a:ext>
            </a:extLst>
          </p:cNvPr>
          <p:cNvGrpSpPr/>
          <p:nvPr/>
        </p:nvGrpSpPr>
        <p:grpSpPr>
          <a:xfrm>
            <a:off x="559817" y="1677684"/>
            <a:ext cx="8782050" cy="2183364"/>
            <a:chOff x="559817" y="1772816"/>
            <a:chExt cx="8782050" cy="2183364"/>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772816"/>
              <a:ext cx="8782050" cy="218336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r="20334"/>
            <a:stretch/>
          </p:blipFill>
          <p:spPr>
            <a:xfrm>
              <a:off x="589904" y="1816247"/>
              <a:ext cx="8751963" cy="2044801"/>
            </a:xfrm>
            <a:prstGeom prst="rect">
              <a:avLst/>
            </a:prstGeom>
          </p:spPr>
        </p:pic>
      </p:grpSp>
      <p:sp>
        <p:nvSpPr>
          <p:cNvPr id="10" name="직사각형 9">
            <a:extLst>
              <a:ext uri="{FF2B5EF4-FFF2-40B4-BE49-F238E27FC236}">
                <a16:creationId xmlns:a16="http://schemas.microsoft.com/office/drawing/2014/main" id="{426D56A9-4B6B-4D40-AC8F-BD18C0151B88}"/>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nvGrpSpPr>
          <p:cNvPr id="15" name="그룹 14">
            <a:extLst>
              <a:ext uri="{FF2B5EF4-FFF2-40B4-BE49-F238E27FC236}">
                <a16:creationId xmlns:a16="http://schemas.microsoft.com/office/drawing/2014/main" id="{E801D66C-8FAD-4457-8EED-86BB75EBE30B}"/>
              </a:ext>
            </a:extLst>
          </p:cNvPr>
          <p:cNvGrpSpPr/>
          <p:nvPr/>
        </p:nvGrpSpPr>
        <p:grpSpPr>
          <a:xfrm>
            <a:off x="450000" y="355025"/>
            <a:ext cx="9033082" cy="492443"/>
            <a:chOff x="450000" y="448335"/>
            <a:chExt cx="9033082" cy="492443"/>
          </a:xfrm>
        </p:grpSpPr>
        <p:sp>
          <p:nvSpPr>
            <p:cNvPr id="17" name="직사각형 16">
              <a:extLst>
                <a:ext uri="{FF2B5EF4-FFF2-40B4-BE49-F238E27FC236}">
                  <a16:creationId xmlns:a16="http://schemas.microsoft.com/office/drawing/2014/main" id="{CE9B1AD7-88CD-4B87-BC6A-EC27E44AAA80}"/>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18" name="직사각형 17">
              <a:extLst>
                <a:ext uri="{FF2B5EF4-FFF2-40B4-BE49-F238E27FC236}">
                  <a16:creationId xmlns:a16="http://schemas.microsoft.com/office/drawing/2014/main" id="{C5DF9952-0754-4C5F-91F0-EC50EB706256}"/>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38227686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6AAC80D9-DBC8-41DA-83D9-AAFB759990D8}"/>
              </a:ext>
            </a:extLst>
          </p:cNvPr>
          <p:cNvSpPr/>
          <p:nvPr/>
        </p:nvSpPr>
        <p:spPr>
          <a:xfrm>
            <a:off x="711200" y="467100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same as the graph on the right, but fill the missing values with 0.</a:t>
            </a:r>
          </a:p>
        </p:txBody>
      </p:sp>
      <p:sp>
        <p:nvSpPr>
          <p:cNvPr id="19" name="직사각형 18">
            <a:extLst>
              <a:ext uri="{FF2B5EF4-FFF2-40B4-BE49-F238E27FC236}">
                <a16:creationId xmlns:a16="http://schemas.microsoft.com/office/drawing/2014/main" id="{6A29FD0A-94E2-40AA-95A3-FBA8E86766E8}"/>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nvGrpSpPr>
          <p:cNvPr id="4" name="그룹 3">
            <a:extLst>
              <a:ext uri="{FF2B5EF4-FFF2-40B4-BE49-F238E27FC236}">
                <a16:creationId xmlns:a16="http://schemas.microsoft.com/office/drawing/2014/main" id="{38456664-0E65-43DF-A5D9-09BA93182980}"/>
              </a:ext>
            </a:extLst>
          </p:cNvPr>
          <p:cNvGrpSpPr/>
          <p:nvPr/>
        </p:nvGrpSpPr>
        <p:grpSpPr>
          <a:xfrm>
            <a:off x="559817" y="1646665"/>
            <a:ext cx="8782050" cy="2945837"/>
            <a:chOff x="559817" y="1700807"/>
            <a:chExt cx="8782050" cy="2945837"/>
          </a:xfrm>
        </p:grpSpPr>
        <p:sp>
          <p:nvSpPr>
            <p:cNvPr id="17" name="모서리가 둥근 직사각형 4">
              <a:extLst>
                <a:ext uri="{FF2B5EF4-FFF2-40B4-BE49-F238E27FC236}">
                  <a16:creationId xmlns:a16="http://schemas.microsoft.com/office/drawing/2014/main" id="{95CF0448-300B-45B6-A47E-D07563680EB8}"/>
                </a:ext>
              </a:extLst>
            </p:cNvPr>
            <p:cNvSpPr/>
            <p:nvPr/>
          </p:nvSpPr>
          <p:spPr>
            <a:xfrm>
              <a:off x="559817" y="1700807"/>
              <a:ext cx="8782050" cy="294583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1" name="그림 20">
              <a:extLst>
                <a:ext uri="{FF2B5EF4-FFF2-40B4-BE49-F238E27FC236}">
                  <a16:creationId xmlns:a16="http://schemas.microsoft.com/office/drawing/2014/main" id="{C308617E-DAAE-4A00-ADD0-8C6C2D59AC75}"/>
                </a:ext>
              </a:extLst>
            </p:cNvPr>
            <p:cNvPicPr>
              <a:picLocks noChangeAspect="1"/>
            </p:cNvPicPr>
            <p:nvPr/>
          </p:nvPicPr>
          <p:blipFill rotWithShape="1">
            <a:blip r:embed="rId4"/>
            <a:srcRect l="-1" t="3438" r="17206" b="2274"/>
            <a:stretch/>
          </p:blipFill>
          <p:spPr>
            <a:xfrm>
              <a:off x="617896" y="1772815"/>
              <a:ext cx="8723971" cy="2799186"/>
            </a:xfrm>
            <a:prstGeom prst="rect">
              <a:avLst/>
            </a:prstGeom>
          </p:spPr>
        </p:pic>
      </p:grpSp>
      <p:pic>
        <p:nvPicPr>
          <p:cNvPr id="22" name="그림 21">
            <a:extLst>
              <a:ext uri="{FF2B5EF4-FFF2-40B4-BE49-F238E27FC236}">
                <a16:creationId xmlns:a16="http://schemas.microsoft.com/office/drawing/2014/main" id="{C66C1507-F54A-4725-A67A-D0D833A5B5F7}"/>
              </a:ext>
            </a:extLst>
          </p:cNvPr>
          <p:cNvPicPr>
            <a:picLocks noChangeAspect="1"/>
          </p:cNvPicPr>
          <p:nvPr/>
        </p:nvPicPr>
        <p:blipFill rotWithShape="1">
          <a:blip r:embed="rId5"/>
          <a:srcRect l="1701" t="18243" r="71651"/>
          <a:stretch/>
        </p:blipFill>
        <p:spPr>
          <a:xfrm>
            <a:off x="6242179" y="3687433"/>
            <a:ext cx="2761861" cy="2405863"/>
          </a:xfrm>
          <a:prstGeom prst="rect">
            <a:avLst/>
          </a:prstGeom>
          <a:ln w="28575">
            <a:solidFill>
              <a:srgbClr val="1429A0"/>
            </a:solidFill>
          </a:ln>
        </p:spPr>
      </p:pic>
      <p:grpSp>
        <p:nvGrpSpPr>
          <p:cNvPr id="31" name="그룹 30">
            <a:extLst>
              <a:ext uri="{FF2B5EF4-FFF2-40B4-BE49-F238E27FC236}">
                <a16:creationId xmlns:a16="http://schemas.microsoft.com/office/drawing/2014/main" id="{FC4C0C65-192E-475A-8A0A-8F053340AC65}"/>
              </a:ext>
            </a:extLst>
          </p:cNvPr>
          <p:cNvGrpSpPr/>
          <p:nvPr/>
        </p:nvGrpSpPr>
        <p:grpSpPr>
          <a:xfrm>
            <a:off x="450000" y="355025"/>
            <a:ext cx="9033082" cy="492443"/>
            <a:chOff x="450000" y="448335"/>
            <a:chExt cx="9033082" cy="492443"/>
          </a:xfrm>
        </p:grpSpPr>
        <p:sp>
          <p:nvSpPr>
            <p:cNvPr id="32" name="직사각형 31">
              <a:extLst>
                <a:ext uri="{FF2B5EF4-FFF2-40B4-BE49-F238E27FC236}">
                  <a16:creationId xmlns:a16="http://schemas.microsoft.com/office/drawing/2014/main" id="{688C27C2-0833-415F-9AFF-67214568E43D}"/>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33" name="직사각형 32">
              <a:extLst>
                <a:ext uri="{FF2B5EF4-FFF2-40B4-BE49-F238E27FC236}">
                  <a16:creationId xmlns:a16="http://schemas.microsoft.com/office/drawing/2014/main" id="{C1409FE0-A4BD-48A5-800D-98BCE424A73C}"/>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1908987528"/>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6AAC80D9-DBC8-41DA-83D9-AAFB759990D8}"/>
              </a:ext>
            </a:extLst>
          </p:cNvPr>
          <p:cNvSpPr/>
          <p:nvPr/>
        </p:nvSpPr>
        <p:spPr>
          <a:xfrm>
            <a:off x="711200" y="5040636"/>
            <a:ext cx="5392339"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same as the graph on the right with the aggregation function specified.</a:t>
            </a:r>
          </a:p>
        </p:txBody>
      </p:sp>
      <p:grpSp>
        <p:nvGrpSpPr>
          <p:cNvPr id="2" name="그룹 1">
            <a:extLst>
              <a:ext uri="{FF2B5EF4-FFF2-40B4-BE49-F238E27FC236}">
                <a16:creationId xmlns:a16="http://schemas.microsoft.com/office/drawing/2014/main" id="{145A9285-9475-47A1-841B-B294BD7C9888}"/>
              </a:ext>
            </a:extLst>
          </p:cNvPr>
          <p:cNvGrpSpPr/>
          <p:nvPr/>
        </p:nvGrpSpPr>
        <p:grpSpPr>
          <a:xfrm>
            <a:off x="559817" y="1628800"/>
            <a:ext cx="8782050" cy="3291071"/>
            <a:chOff x="559817" y="1700807"/>
            <a:chExt cx="8782050" cy="3291071"/>
          </a:xfrm>
        </p:grpSpPr>
        <p:sp>
          <p:nvSpPr>
            <p:cNvPr id="17" name="모서리가 둥근 직사각형 4">
              <a:extLst>
                <a:ext uri="{FF2B5EF4-FFF2-40B4-BE49-F238E27FC236}">
                  <a16:creationId xmlns:a16="http://schemas.microsoft.com/office/drawing/2014/main" id="{EBBF05BF-9D99-4721-A584-32E85ED010DF}"/>
                </a:ext>
              </a:extLst>
            </p:cNvPr>
            <p:cNvSpPr/>
            <p:nvPr/>
          </p:nvSpPr>
          <p:spPr>
            <a:xfrm>
              <a:off x="559817" y="1700807"/>
              <a:ext cx="8782050" cy="329107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4" name="그림 3"/>
            <p:cNvPicPr>
              <a:picLocks noChangeAspect="1"/>
            </p:cNvPicPr>
            <p:nvPr/>
          </p:nvPicPr>
          <p:blipFill rotWithShape="1">
            <a:blip r:embed="rId3"/>
            <a:srcRect r="13601"/>
            <a:stretch/>
          </p:blipFill>
          <p:spPr>
            <a:xfrm>
              <a:off x="580572" y="1743774"/>
              <a:ext cx="8761295" cy="3182789"/>
            </a:xfrm>
            <a:prstGeom prst="rect">
              <a:avLst/>
            </a:prstGeom>
          </p:spPr>
        </p:pic>
      </p:grpSp>
      <p:sp>
        <p:nvSpPr>
          <p:cNvPr id="15" name="직사각형 14">
            <a:extLst>
              <a:ext uri="{FF2B5EF4-FFF2-40B4-BE49-F238E27FC236}">
                <a16:creationId xmlns:a16="http://schemas.microsoft.com/office/drawing/2014/main" id="{420BAAC5-4B4D-4854-9988-9C466F601E10}"/>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pic>
        <p:nvPicPr>
          <p:cNvPr id="19" name="그림 18">
            <a:extLst>
              <a:ext uri="{FF2B5EF4-FFF2-40B4-BE49-F238E27FC236}">
                <a16:creationId xmlns:a16="http://schemas.microsoft.com/office/drawing/2014/main" id="{727093A0-C98D-4686-9754-0CBBBD5B1391}"/>
              </a:ext>
            </a:extLst>
          </p:cNvPr>
          <p:cNvPicPr>
            <a:picLocks noChangeAspect="1"/>
          </p:cNvPicPr>
          <p:nvPr/>
        </p:nvPicPr>
        <p:blipFill rotWithShape="1">
          <a:blip r:embed="rId5"/>
          <a:srcRect l="1087" t="15522" r="72913"/>
          <a:stretch/>
        </p:blipFill>
        <p:spPr>
          <a:xfrm>
            <a:off x="6242179" y="3664092"/>
            <a:ext cx="2765209" cy="2502887"/>
          </a:xfrm>
          <a:prstGeom prst="rect">
            <a:avLst/>
          </a:prstGeom>
          <a:ln w="28575">
            <a:solidFill>
              <a:srgbClr val="1429A0"/>
            </a:solidFill>
          </a:ln>
        </p:spPr>
      </p:pic>
      <p:grpSp>
        <p:nvGrpSpPr>
          <p:cNvPr id="20" name="그룹 19">
            <a:extLst>
              <a:ext uri="{FF2B5EF4-FFF2-40B4-BE49-F238E27FC236}">
                <a16:creationId xmlns:a16="http://schemas.microsoft.com/office/drawing/2014/main" id="{6408483E-912C-4A6A-849D-6365114B4B20}"/>
              </a:ext>
            </a:extLst>
          </p:cNvPr>
          <p:cNvGrpSpPr/>
          <p:nvPr/>
        </p:nvGrpSpPr>
        <p:grpSpPr>
          <a:xfrm>
            <a:off x="450000" y="355025"/>
            <a:ext cx="9033082" cy="492443"/>
            <a:chOff x="450000" y="448335"/>
            <a:chExt cx="9033082" cy="492443"/>
          </a:xfrm>
        </p:grpSpPr>
        <p:sp>
          <p:nvSpPr>
            <p:cNvPr id="21" name="직사각형 20">
              <a:extLst>
                <a:ext uri="{FF2B5EF4-FFF2-40B4-BE49-F238E27FC236}">
                  <a16:creationId xmlns:a16="http://schemas.microsoft.com/office/drawing/2014/main" id="{20C5E475-C659-44CF-B557-27ACCB5ACC54}"/>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2" name="직사각형 21">
              <a:extLst>
                <a:ext uri="{FF2B5EF4-FFF2-40B4-BE49-F238E27FC236}">
                  <a16:creationId xmlns:a16="http://schemas.microsoft.com/office/drawing/2014/main" id="{1356F2B8-BB15-44D0-A4F8-13809E908909}"/>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2589706272"/>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A77AEF5A-7B22-433A-85AC-2AE74F2D8B97}"/>
              </a:ext>
            </a:extLst>
          </p:cNvPr>
          <p:cNvGrpSpPr/>
          <p:nvPr/>
        </p:nvGrpSpPr>
        <p:grpSpPr>
          <a:xfrm>
            <a:off x="559817" y="1957658"/>
            <a:ext cx="8782050" cy="2549027"/>
            <a:chOff x="559817" y="1957658"/>
            <a:chExt cx="8782050" cy="2549027"/>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957658"/>
              <a:ext cx="8782050" cy="254902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1510"/>
            <a:stretch/>
          </p:blipFill>
          <p:spPr>
            <a:xfrm>
              <a:off x="608564" y="2016898"/>
              <a:ext cx="8733303" cy="2420214"/>
            </a:xfrm>
            <a:prstGeom prst="rect">
              <a:avLst/>
            </a:prstGeom>
          </p:spPr>
        </p:pic>
      </p:grpSp>
      <p:grpSp>
        <p:nvGrpSpPr>
          <p:cNvPr id="14" name="그룹 13">
            <a:extLst>
              <a:ext uri="{FF2B5EF4-FFF2-40B4-BE49-F238E27FC236}">
                <a16:creationId xmlns:a16="http://schemas.microsoft.com/office/drawing/2014/main" id="{9A54CF57-96DE-4630-A266-00083B0E5013}"/>
              </a:ext>
            </a:extLst>
          </p:cNvPr>
          <p:cNvGrpSpPr/>
          <p:nvPr/>
        </p:nvGrpSpPr>
        <p:grpSpPr>
          <a:xfrm>
            <a:off x="580388" y="1340768"/>
            <a:ext cx="8887612" cy="579567"/>
            <a:chOff x="580388" y="1413381"/>
            <a:chExt cx="8887612" cy="579567"/>
          </a:xfrm>
        </p:grpSpPr>
        <p:sp>
          <p:nvSpPr>
            <p:cNvPr id="15" name="직사각형 14">
              <a:extLst>
                <a:ext uri="{FF2B5EF4-FFF2-40B4-BE49-F238E27FC236}">
                  <a16:creationId xmlns:a16="http://schemas.microsoft.com/office/drawing/2014/main" id="{4B2E615A-B3A3-400E-930C-08A14C23FE13}"/>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Index by 'Location.' Columns by 'Size' and 'Type.' Values provided by the 'B' column.</a:t>
              </a:r>
            </a:p>
          </p:txBody>
        </p:sp>
        <p:sp>
          <p:nvSpPr>
            <p:cNvPr id="17" name="직사각형 16">
              <a:extLst>
                <a:ext uri="{FF2B5EF4-FFF2-40B4-BE49-F238E27FC236}">
                  <a16:creationId xmlns:a16="http://schemas.microsoft.com/office/drawing/2014/main" id="{DEA7B427-E8DD-4420-B812-A517C71F7C47}"/>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grpSp>
        <p:nvGrpSpPr>
          <p:cNvPr id="19" name="그룹 18">
            <a:extLst>
              <a:ext uri="{FF2B5EF4-FFF2-40B4-BE49-F238E27FC236}">
                <a16:creationId xmlns:a16="http://schemas.microsoft.com/office/drawing/2014/main" id="{1375CFCA-0285-4503-BE49-1946BE42ADAC}"/>
              </a:ext>
            </a:extLst>
          </p:cNvPr>
          <p:cNvGrpSpPr/>
          <p:nvPr/>
        </p:nvGrpSpPr>
        <p:grpSpPr>
          <a:xfrm>
            <a:off x="450000" y="355025"/>
            <a:ext cx="9033082" cy="492443"/>
            <a:chOff x="450000" y="448335"/>
            <a:chExt cx="9033082" cy="492443"/>
          </a:xfrm>
        </p:grpSpPr>
        <p:sp>
          <p:nvSpPr>
            <p:cNvPr id="20" name="직사각형 19">
              <a:extLst>
                <a:ext uri="{FF2B5EF4-FFF2-40B4-BE49-F238E27FC236}">
                  <a16:creationId xmlns:a16="http://schemas.microsoft.com/office/drawing/2014/main" id="{EF04837A-D07C-4B9C-A9D9-5A371B912C69}"/>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1" name="직사각형 20">
              <a:extLst>
                <a:ext uri="{FF2B5EF4-FFF2-40B4-BE49-F238E27FC236}">
                  <a16:creationId xmlns:a16="http://schemas.microsoft.com/office/drawing/2014/main" id="{B177F9D0-67D8-4A50-820F-E0C73D619DEA}"/>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202988213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p:cNvGrpSpPr/>
          <p:nvPr/>
        </p:nvGrpSpPr>
        <p:grpSpPr>
          <a:xfrm>
            <a:off x="557644" y="3838488"/>
            <a:ext cx="8782050" cy="720080"/>
            <a:chOff x="568325" y="5114924"/>
            <a:chExt cx="8782050" cy="744077"/>
          </a:xfrm>
        </p:grpSpPr>
        <p:sp>
          <p:nvSpPr>
            <p:cNvPr id="13" name="모서리가 둥근 직사각형 4">
              <a:extLst>
                <a:ext uri="{FF2B5EF4-FFF2-40B4-BE49-F238E27FC236}">
                  <a16:creationId xmlns:a16="http://schemas.microsoft.com/office/drawing/2014/main" id="{930158F8-A5B7-4F97-8E44-C73FC55364FC}"/>
                </a:ext>
              </a:extLst>
            </p:cNvPr>
            <p:cNvSpPr/>
            <p:nvPr/>
          </p:nvSpPr>
          <p:spPr>
            <a:xfrm>
              <a:off x="568325" y="5114924"/>
              <a:ext cx="8782050" cy="7440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4" name="그룹 13"/>
            <p:cNvGrpSpPr/>
            <p:nvPr/>
          </p:nvGrpSpPr>
          <p:grpSpPr>
            <a:xfrm>
              <a:off x="675835" y="5210921"/>
              <a:ext cx="1477946" cy="302132"/>
              <a:chOff x="732985" y="5582396"/>
              <a:chExt cx="1477946" cy="302132"/>
            </a:xfrm>
          </p:grpSpPr>
          <p:pic>
            <p:nvPicPr>
              <p:cNvPr id="17" name="Picture 2" descr="Byte - Free electronics icons">
                <a:extLst>
                  <a:ext uri="{FF2B5EF4-FFF2-40B4-BE49-F238E27FC236}">
                    <a16:creationId xmlns:a16="http://schemas.microsoft.com/office/drawing/2014/main" id="{2E1868BC-E3F2-46C6-A15E-1A8572E0F8A8}"/>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FCF8530-89F0-4211-819E-6AFF60A92E66}"/>
                  </a:ext>
                </a:extLst>
              </p:cNvPr>
              <p:cNvSpPr txBox="1"/>
              <p:nvPr/>
            </p:nvSpPr>
            <p:spPr>
              <a:xfrm>
                <a:off x="991766" y="5582396"/>
                <a:ext cx="1219165" cy="302132"/>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5" name="TextBox 14">
              <a:extLst>
                <a:ext uri="{FF2B5EF4-FFF2-40B4-BE49-F238E27FC236}">
                  <a16:creationId xmlns:a16="http://schemas.microsoft.com/office/drawing/2014/main" id="{FF266B98-5C19-4B37-8678-61D0A80AF6D7}"/>
                </a:ext>
              </a:extLst>
            </p:cNvPr>
            <p:cNvSpPr txBox="1"/>
            <p:nvPr/>
          </p:nvSpPr>
          <p:spPr>
            <a:xfrm>
              <a:off x="1035256" y="5556975"/>
              <a:ext cx="8281138" cy="206722"/>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latin typeface="SamsungOne 400" panose="020B0503030303020204" pitchFamily="34" charset="0"/>
                  <a:ea typeface="SamsungOne 400" panose="020B0503030303020204" pitchFamily="34" charset="0"/>
                  <a:cs typeface="Tahoma" panose="020B0604030504040204" pitchFamily="34" charset="0"/>
                </a:rPr>
                <a:t>Now, MultiIndex object for the columns.</a:t>
              </a:r>
            </a:p>
          </p:txBody>
        </p:sp>
      </p:grpSp>
      <p:grpSp>
        <p:nvGrpSpPr>
          <p:cNvPr id="5" name="그룹 4">
            <a:extLst>
              <a:ext uri="{FF2B5EF4-FFF2-40B4-BE49-F238E27FC236}">
                <a16:creationId xmlns:a16="http://schemas.microsoft.com/office/drawing/2014/main" id="{0DBFA0B0-3015-4953-856E-D21FA6E396CD}"/>
              </a:ext>
            </a:extLst>
          </p:cNvPr>
          <p:cNvGrpSpPr/>
          <p:nvPr/>
        </p:nvGrpSpPr>
        <p:grpSpPr>
          <a:xfrm>
            <a:off x="559817" y="1641770"/>
            <a:ext cx="8782663" cy="2099806"/>
            <a:chOff x="559817" y="1641770"/>
            <a:chExt cx="8782663" cy="2099806"/>
          </a:xfrm>
        </p:grpSpPr>
        <p:grpSp>
          <p:nvGrpSpPr>
            <p:cNvPr id="2" name="그룹 1">
              <a:extLst>
                <a:ext uri="{FF2B5EF4-FFF2-40B4-BE49-F238E27FC236}">
                  <a16:creationId xmlns:a16="http://schemas.microsoft.com/office/drawing/2014/main" id="{7441B106-CBB9-4762-AA2E-2E86F4B44BC0}"/>
                </a:ext>
              </a:extLst>
            </p:cNvPr>
            <p:cNvGrpSpPr/>
            <p:nvPr/>
          </p:nvGrpSpPr>
          <p:grpSpPr>
            <a:xfrm>
              <a:off x="559817" y="1641770"/>
              <a:ext cx="8782050" cy="2099806"/>
              <a:chOff x="559817" y="1641770"/>
              <a:chExt cx="8782050" cy="209980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641770"/>
                <a:ext cx="8782050" cy="20998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4"/>
              <a:srcRect r="18027"/>
              <a:stretch/>
            </p:blipFill>
            <p:spPr>
              <a:xfrm>
                <a:off x="599235" y="1666540"/>
                <a:ext cx="8740460" cy="2007986"/>
              </a:xfrm>
              <a:prstGeom prst="rect">
                <a:avLst/>
              </a:prstGeom>
            </p:spPr>
          </p:pic>
        </p:grpSp>
        <p:sp>
          <p:nvSpPr>
            <p:cNvPr id="4" name="한쪽 모서리가 잘린 사각형 3"/>
            <p:cNvSpPr/>
            <p:nvPr/>
          </p:nvSpPr>
          <p:spPr>
            <a:xfrm>
              <a:off x="6462160" y="2530974"/>
              <a:ext cx="2880320" cy="190916"/>
            </a:xfrm>
            <a:prstGeom prst="snip1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그룹 18">
            <a:extLst>
              <a:ext uri="{FF2B5EF4-FFF2-40B4-BE49-F238E27FC236}">
                <a16:creationId xmlns:a16="http://schemas.microsoft.com/office/drawing/2014/main" id="{0C8A97DD-42D5-492C-9899-A795AE9BDE9D}"/>
              </a:ext>
            </a:extLst>
          </p:cNvPr>
          <p:cNvGrpSpPr/>
          <p:nvPr/>
        </p:nvGrpSpPr>
        <p:grpSpPr>
          <a:xfrm>
            <a:off x="450000" y="355025"/>
            <a:ext cx="9033082" cy="492443"/>
            <a:chOff x="450000" y="448335"/>
            <a:chExt cx="9033082" cy="492443"/>
          </a:xfrm>
        </p:grpSpPr>
        <p:sp>
          <p:nvSpPr>
            <p:cNvPr id="20" name="직사각형 19">
              <a:extLst>
                <a:ext uri="{FF2B5EF4-FFF2-40B4-BE49-F238E27FC236}">
                  <a16:creationId xmlns:a16="http://schemas.microsoft.com/office/drawing/2014/main" id="{2CCCFF49-8C6C-45AE-8678-BB39CC00FC1B}"/>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1" name="직사각형 20">
              <a:extLst>
                <a:ext uri="{FF2B5EF4-FFF2-40B4-BE49-F238E27FC236}">
                  <a16:creationId xmlns:a16="http://schemas.microsoft.com/office/drawing/2014/main" id="{EC9DD973-0717-41EE-98BE-DBD1A861D40E}"/>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2" name="직사각형 21">
            <a:extLst>
              <a:ext uri="{FF2B5EF4-FFF2-40B4-BE49-F238E27FC236}">
                <a16:creationId xmlns:a16="http://schemas.microsoft.com/office/drawing/2014/main" id="{298815F9-0B14-4E22-9529-E71D93E0BA59}"/>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spTree>
    <p:extLst>
      <p:ext uri="{BB962C8B-B14F-4D97-AF65-F5344CB8AC3E}">
        <p14:creationId xmlns:p14="http://schemas.microsoft.com/office/powerpoint/2010/main" val="762416554"/>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4ECA1560-0174-4A73-BA5C-1B443C68C0AA}"/>
              </a:ext>
            </a:extLst>
          </p:cNvPr>
          <p:cNvGrpSpPr/>
          <p:nvPr/>
        </p:nvGrpSpPr>
        <p:grpSpPr>
          <a:xfrm>
            <a:off x="559817" y="1960847"/>
            <a:ext cx="8782050" cy="2816426"/>
            <a:chOff x="559817" y="1960847"/>
            <a:chExt cx="8782050" cy="2816426"/>
          </a:xfrm>
        </p:grpSpPr>
        <p:sp>
          <p:nvSpPr>
            <p:cNvPr id="16" name="모서리가 둥근 직사각형 4">
              <a:extLst>
                <a:ext uri="{FF2B5EF4-FFF2-40B4-BE49-F238E27FC236}">
                  <a16:creationId xmlns:a16="http://schemas.microsoft.com/office/drawing/2014/main" id="{930158F8-A5B7-4F97-8E44-C73FC55364FC}"/>
                </a:ext>
              </a:extLst>
            </p:cNvPr>
            <p:cNvSpPr/>
            <p:nvPr/>
          </p:nvSpPr>
          <p:spPr>
            <a:xfrm>
              <a:off x="559817" y="1960847"/>
              <a:ext cx="8782050" cy="281642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758" t="4181" r="12220"/>
            <a:stretch/>
          </p:blipFill>
          <p:spPr>
            <a:xfrm>
              <a:off x="625151" y="2034072"/>
              <a:ext cx="8716716" cy="2640565"/>
            </a:xfrm>
            <a:prstGeom prst="rect">
              <a:avLst/>
            </a:prstGeom>
          </p:spPr>
        </p:pic>
      </p:grpSp>
      <p:grpSp>
        <p:nvGrpSpPr>
          <p:cNvPr id="11" name="그룹 10">
            <a:extLst>
              <a:ext uri="{FF2B5EF4-FFF2-40B4-BE49-F238E27FC236}">
                <a16:creationId xmlns:a16="http://schemas.microsoft.com/office/drawing/2014/main" id="{0FA53F66-B046-4426-B8CB-BC7DB4767441}"/>
              </a:ext>
            </a:extLst>
          </p:cNvPr>
          <p:cNvGrpSpPr/>
          <p:nvPr/>
        </p:nvGrpSpPr>
        <p:grpSpPr>
          <a:xfrm>
            <a:off x="450000" y="355025"/>
            <a:ext cx="9033082" cy="492443"/>
            <a:chOff x="450000" y="448335"/>
            <a:chExt cx="9033082" cy="492443"/>
          </a:xfrm>
        </p:grpSpPr>
        <p:sp>
          <p:nvSpPr>
            <p:cNvPr id="12" name="직사각형 11">
              <a:extLst>
                <a:ext uri="{FF2B5EF4-FFF2-40B4-BE49-F238E27FC236}">
                  <a16:creationId xmlns:a16="http://schemas.microsoft.com/office/drawing/2014/main" id="{9E1E8D96-36FD-4FDD-A34E-C7D64094DCF2}"/>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13" name="직사각형 12">
              <a:extLst>
                <a:ext uri="{FF2B5EF4-FFF2-40B4-BE49-F238E27FC236}">
                  <a16:creationId xmlns:a16="http://schemas.microsoft.com/office/drawing/2014/main" id="{C94B77D2-A493-4982-AE51-64908F589467}"/>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4" name="그룹 13">
            <a:extLst>
              <a:ext uri="{FF2B5EF4-FFF2-40B4-BE49-F238E27FC236}">
                <a16:creationId xmlns:a16="http://schemas.microsoft.com/office/drawing/2014/main" id="{3996A4E1-5639-48FD-A387-3BC18563E83C}"/>
              </a:ext>
            </a:extLst>
          </p:cNvPr>
          <p:cNvGrpSpPr/>
          <p:nvPr/>
        </p:nvGrpSpPr>
        <p:grpSpPr>
          <a:xfrm>
            <a:off x="580388" y="1340768"/>
            <a:ext cx="8887612" cy="579567"/>
            <a:chOff x="580388" y="1413381"/>
            <a:chExt cx="8887612" cy="579567"/>
          </a:xfrm>
        </p:grpSpPr>
        <p:sp>
          <p:nvSpPr>
            <p:cNvPr id="15" name="직사각형 14">
              <a:extLst>
                <a:ext uri="{FF2B5EF4-FFF2-40B4-BE49-F238E27FC236}">
                  <a16:creationId xmlns:a16="http://schemas.microsoft.com/office/drawing/2014/main" id="{FAB420ED-2A57-462B-83CE-BCF81A4DCB0E}"/>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aggregation function is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NumPy.median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sp>
          <p:nvSpPr>
            <p:cNvPr id="17" name="직사각형 16">
              <a:extLst>
                <a:ext uri="{FF2B5EF4-FFF2-40B4-BE49-F238E27FC236}">
                  <a16:creationId xmlns:a16="http://schemas.microsoft.com/office/drawing/2014/main" id="{A3490684-AE2A-4389-9177-C66B0E8F957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spTree>
    <p:extLst>
      <p:ext uri="{BB962C8B-B14F-4D97-AF65-F5344CB8AC3E}">
        <p14:creationId xmlns:p14="http://schemas.microsoft.com/office/powerpoint/2010/main" val="340442417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DC5BEF38-686E-416F-AF68-46FEC7772EC0}"/>
              </a:ext>
            </a:extLst>
          </p:cNvPr>
          <p:cNvGrpSpPr/>
          <p:nvPr/>
        </p:nvGrpSpPr>
        <p:grpSpPr>
          <a:xfrm>
            <a:off x="559817" y="1960847"/>
            <a:ext cx="8782050" cy="2984377"/>
            <a:chOff x="559817" y="1960847"/>
            <a:chExt cx="8782050" cy="2984377"/>
          </a:xfrm>
        </p:grpSpPr>
        <p:sp>
          <p:nvSpPr>
            <p:cNvPr id="18" name="모서리가 둥근 직사각형 4">
              <a:extLst>
                <a:ext uri="{FF2B5EF4-FFF2-40B4-BE49-F238E27FC236}">
                  <a16:creationId xmlns:a16="http://schemas.microsoft.com/office/drawing/2014/main" id="{575E1E89-5C6B-4776-8F77-B180EEEE3629}"/>
                </a:ext>
              </a:extLst>
            </p:cNvPr>
            <p:cNvSpPr/>
            <p:nvPr/>
          </p:nvSpPr>
          <p:spPr>
            <a:xfrm>
              <a:off x="559817" y="1960847"/>
              <a:ext cx="8782050" cy="29843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t="2244" r="18334"/>
            <a:stretch/>
          </p:blipFill>
          <p:spPr>
            <a:xfrm>
              <a:off x="594533" y="2015410"/>
              <a:ext cx="8747334" cy="2904255"/>
            </a:xfrm>
            <a:prstGeom prst="rect">
              <a:avLst/>
            </a:prstGeom>
          </p:spPr>
        </p:pic>
      </p:grpSp>
      <p:grpSp>
        <p:nvGrpSpPr>
          <p:cNvPr id="11" name="그룹 10">
            <a:extLst>
              <a:ext uri="{FF2B5EF4-FFF2-40B4-BE49-F238E27FC236}">
                <a16:creationId xmlns:a16="http://schemas.microsoft.com/office/drawing/2014/main" id="{6E3BA543-4771-44D7-831B-57BBCA43721F}"/>
              </a:ext>
            </a:extLst>
          </p:cNvPr>
          <p:cNvGrpSpPr/>
          <p:nvPr/>
        </p:nvGrpSpPr>
        <p:grpSpPr>
          <a:xfrm>
            <a:off x="580388" y="1340768"/>
            <a:ext cx="8887612" cy="579567"/>
            <a:chOff x="580388" y="1413381"/>
            <a:chExt cx="8887612" cy="579567"/>
          </a:xfrm>
        </p:grpSpPr>
        <p:sp>
          <p:nvSpPr>
            <p:cNvPr id="12" name="직사각형 11">
              <a:extLst>
                <a:ext uri="{FF2B5EF4-FFF2-40B4-BE49-F238E27FC236}">
                  <a16:creationId xmlns:a16="http://schemas.microsoft.com/office/drawing/2014/main" id="{92332A55-883E-461F-8EF0-6B3CCFB14D6F}"/>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Group averages of the columns 'A' and 'B'</a:t>
              </a:r>
            </a:p>
          </p:txBody>
        </p:sp>
        <p:sp>
          <p:nvSpPr>
            <p:cNvPr id="13" name="직사각형 12">
              <a:extLst>
                <a:ext uri="{FF2B5EF4-FFF2-40B4-BE49-F238E27FC236}">
                  <a16:creationId xmlns:a16="http://schemas.microsoft.com/office/drawing/2014/main" id="{F0270A02-B30F-4332-A01D-9C65E7EE5699}"/>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grpSp>
        <p:nvGrpSpPr>
          <p:cNvPr id="14" name="그룹 13">
            <a:extLst>
              <a:ext uri="{FF2B5EF4-FFF2-40B4-BE49-F238E27FC236}">
                <a16:creationId xmlns:a16="http://schemas.microsoft.com/office/drawing/2014/main" id="{070BF841-5CF6-4555-9E73-E657469780EF}"/>
              </a:ext>
            </a:extLst>
          </p:cNvPr>
          <p:cNvGrpSpPr/>
          <p:nvPr/>
        </p:nvGrpSpPr>
        <p:grpSpPr>
          <a:xfrm>
            <a:off x="450000" y="355025"/>
            <a:ext cx="9033082" cy="492443"/>
            <a:chOff x="450000" y="448335"/>
            <a:chExt cx="9033082" cy="492443"/>
          </a:xfrm>
        </p:grpSpPr>
        <p:sp>
          <p:nvSpPr>
            <p:cNvPr id="15" name="직사각형 14">
              <a:extLst>
                <a:ext uri="{FF2B5EF4-FFF2-40B4-BE49-F238E27FC236}">
                  <a16:creationId xmlns:a16="http://schemas.microsoft.com/office/drawing/2014/main" id="{F941B623-1F80-45E7-8BC4-1FF0F46A5E17}"/>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17" name="직사각형 16">
              <a:extLst>
                <a:ext uri="{FF2B5EF4-FFF2-40B4-BE49-F238E27FC236}">
                  <a16:creationId xmlns:a16="http://schemas.microsoft.com/office/drawing/2014/main" id="{4DE0391E-51B6-4E8D-B6F7-7A7C12F51E84}"/>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189661357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2DA0BC27-511D-4237-97B7-AD5775E1400B}"/>
              </a:ext>
            </a:extLst>
          </p:cNvPr>
          <p:cNvGrpSpPr/>
          <p:nvPr/>
        </p:nvGrpSpPr>
        <p:grpSpPr>
          <a:xfrm>
            <a:off x="559817" y="1960847"/>
            <a:ext cx="8782051" cy="3021700"/>
            <a:chOff x="559817" y="1960847"/>
            <a:chExt cx="8782051" cy="3021700"/>
          </a:xfrm>
        </p:grpSpPr>
        <p:sp>
          <p:nvSpPr>
            <p:cNvPr id="19" name="모서리가 둥근 직사각형 4">
              <a:extLst>
                <a:ext uri="{FF2B5EF4-FFF2-40B4-BE49-F238E27FC236}">
                  <a16:creationId xmlns:a16="http://schemas.microsoft.com/office/drawing/2014/main" id="{1AADDF1B-738B-464E-BEF5-C1E350285CC7}"/>
                </a:ext>
              </a:extLst>
            </p:cNvPr>
            <p:cNvSpPr/>
            <p:nvPr/>
          </p:nvSpPr>
          <p:spPr>
            <a:xfrm>
              <a:off x="559817" y="1960847"/>
              <a:ext cx="8782050" cy="302170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p:cNvPicPr>
              <a:picLocks noChangeAspect="1"/>
            </p:cNvPicPr>
            <p:nvPr/>
          </p:nvPicPr>
          <p:blipFill rotWithShape="1">
            <a:blip r:embed="rId3"/>
            <a:srcRect l="1110" t="2087" r="19004"/>
            <a:stretch/>
          </p:blipFill>
          <p:spPr>
            <a:xfrm>
              <a:off x="687012" y="2034073"/>
              <a:ext cx="8654856" cy="2942332"/>
            </a:xfrm>
            <a:prstGeom prst="rect">
              <a:avLst/>
            </a:prstGeom>
          </p:spPr>
        </p:pic>
      </p:grpSp>
      <p:grpSp>
        <p:nvGrpSpPr>
          <p:cNvPr id="11" name="그룹 10">
            <a:extLst>
              <a:ext uri="{FF2B5EF4-FFF2-40B4-BE49-F238E27FC236}">
                <a16:creationId xmlns:a16="http://schemas.microsoft.com/office/drawing/2014/main" id="{EB847733-72E3-4A7D-A182-8A5032A0A460}"/>
              </a:ext>
            </a:extLst>
          </p:cNvPr>
          <p:cNvGrpSpPr/>
          <p:nvPr/>
        </p:nvGrpSpPr>
        <p:grpSpPr>
          <a:xfrm>
            <a:off x="450000" y="355025"/>
            <a:ext cx="9033082" cy="492443"/>
            <a:chOff x="450000" y="448335"/>
            <a:chExt cx="9033082" cy="492443"/>
          </a:xfrm>
        </p:grpSpPr>
        <p:sp>
          <p:nvSpPr>
            <p:cNvPr id="12" name="직사각형 11">
              <a:extLst>
                <a:ext uri="{FF2B5EF4-FFF2-40B4-BE49-F238E27FC236}">
                  <a16:creationId xmlns:a16="http://schemas.microsoft.com/office/drawing/2014/main" id="{27BA7188-8290-44E7-A883-42BF668D72F3}"/>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13" name="직사각형 12">
              <a:extLst>
                <a:ext uri="{FF2B5EF4-FFF2-40B4-BE49-F238E27FC236}">
                  <a16:creationId xmlns:a16="http://schemas.microsoft.com/office/drawing/2014/main" id="{4254B860-A437-4FAA-A944-B65F920D22F7}"/>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5" name="그룹 14">
            <a:extLst>
              <a:ext uri="{FF2B5EF4-FFF2-40B4-BE49-F238E27FC236}">
                <a16:creationId xmlns:a16="http://schemas.microsoft.com/office/drawing/2014/main" id="{32164F74-4C13-42B3-ACE8-C6D2E5D9CE30}"/>
              </a:ext>
            </a:extLst>
          </p:cNvPr>
          <p:cNvGrpSpPr/>
          <p:nvPr/>
        </p:nvGrpSpPr>
        <p:grpSpPr>
          <a:xfrm>
            <a:off x="580388" y="1340768"/>
            <a:ext cx="8887612" cy="579567"/>
            <a:chOff x="580388" y="1413381"/>
            <a:chExt cx="8887612" cy="579567"/>
          </a:xfrm>
        </p:grpSpPr>
        <p:sp>
          <p:nvSpPr>
            <p:cNvPr id="17" name="직사각형 16">
              <a:extLst>
                <a:ext uri="{FF2B5EF4-FFF2-40B4-BE49-F238E27FC236}">
                  <a16:creationId xmlns:a16="http://schemas.microsoft.com/office/drawing/2014/main" id="{0453ED81-0EC7-4B1E-80C4-9A9EFDC7D562}"/>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Now, with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groupby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method. The result is the same. </a:t>
              </a:r>
            </a:p>
          </p:txBody>
        </p:sp>
        <p:sp>
          <p:nvSpPr>
            <p:cNvPr id="18" name="직사각형 17">
              <a:extLst>
                <a:ext uri="{FF2B5EF4-FFF2-40B4-BE49-F238E27FC236}">
                  <a16:creationId xmlns:a16="http://schemas.microsoft.com/office/drawing/2014/main" id="{05A06DC2-4CDF-42D9-A51F-4943D09E5D4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spTree>
    <p:extLst>
      <p:ext uri="{BB962C8B-B14F-4D97-AF65-F5344CB8AC3E}">
        <p14:creationId xmlns:p14="http://schemas.microsoft.com/office/powerpoint/2010/main" val="3037622864"/>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81B5FB19-FBD9-4FFE-AC9C-1186EE5C560D}"/>
              </a:ext>
            </a:extLst>
          </p:cNvPr>
          <p:cNvGrpSpPr/>
          <p:nvPr/>
        </p:nvGrpSpPr>
        <p:grpSpPr>
          <a:xfrm>
            <a:off x="559817" y="1960847"/>
            <a:ext cx="8782051" cy="2984377"/>
            <a:chOff x="559817" y="1960847"/>
            <a:chExt cx="8782051" cy="2984377"/>
          </a:xfrm>
        </p:grpSpPr>
        <p:sp>
          <p:nvSpPr>
            <p:cNvPr id="18" name="모서리가 둥근 직사각형 4">
              <a:extLst>
                <a:ext uri="{FF2B5EF4-FFF2-40B4-BE49-F238E27FC236}">
                  <a16:creationId xmlns:a16="http://schemas.microsoft.com/office/drawing/2014/main" id="{B9B0665C-54FA-4E1E-BB3B-4A47731E3D2A}"/>
                </a:ext>
              </a:extLst>
            </p:cNvPr>
            <p:cNvSpPr/>
            <p:nvPr/>
          </p:nvSpPr>
          <p:spPr>
            <a:xfrm>
              <a:off x="559817" y="1960847"/>
              <a:ext cx="8782050" cy="29843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l="639" r="18059"/>
            <a:stretch/>
          </p:blipFill>
          <p:spPr>
            <a:xfrm>
              <a:off x="625152" y="2011261"/>
              <a:ext cx="8716716" cy="2848567"/>
            </a:xfrm>
            <a:prstGeom prst="rect">
              <a:avLst/>
            </a:prstGeom>
          </p:spPr>
        </p:pic>
      </p:grpSp>
      <p:grpSp>
        <p:nvGrpSpPr>
          <p:cNvPr id="11" name="그룹 10">
            <a:extLst>
              <a:ext uri="{FF2B5EF4-FFF2-40B4-BE49-F238E27FC236}">
                <a16:creationId xmlns:a16="http://schemas.microsoft.com/office/drawing/2014/main" id="{A1C1926A-D59E-4C68-B963-5A03EC4AD1A1}"/>
              </a:ext>
            </a:extLst>
          </p:cNvPr>
          <p:cNvGrpSpPr/>
          <p:nvPr/>
        </p:nvGrpSpPr>
        <p:grpSpPr>
          <a:xfrm>
            <a:off x="450000" y="355025"/>
            <a:ext cx="9033082" cy="492443"/>
            <a:chOff x="450000" y="448335"/>
            <a:chExt cx="9033082" cy="492443"/>
          </a:xfrm>
        </p:grpSpPr>
        <p:sp>
          <p:nvSpPr>
            <p:cNvPr id="12" name="직사각형 11">
              <a:extLst>
                <a:ext uri="{FF2B5EF4-FFF2-40B4-BE49-F238E27FC236}">
                  <a16:creationId xmlns:a16="http://schemas.microsoft.com/office/drawing/2014/main" id="{AF589F47-28E4-40BF-8B38-F05665BABC06}"/>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13" name="직사각형 12">
              <a:extLst>
                <a:ext uri="{FF2B5EF4-FFF2-40B4-BE49-F238E27FC236}">
                  <a16:creationId xmlns:a16="http://schemas.microsoft.com/office/drawing/2014/main" id="{4A6B90A2-355D-40D0-925C-47A8D91FA9BA}"/>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grpSp>
        <p:nvGrpSpPr>
          <p:cNvPr id="14" name="그룹 13">
            <a:extLst>
              <a:ext uri="{FF2B5EF4-FFF2-40B4-BE49-F238E27FC236}">
                <a16:creationId xmlns:a16="http://schemas.microsoft.com/office/drawing/2014/main" id="{46203E38-6F15-4381-8A48-ADD87F716C20}"/>
              </a:ext>
            </a:extLst>
          </p:cNvPr>
          <p:cNvGrpSpPr/>
          <p:nvPr/>
        </p:nvGrpSpPr>
        <p:grpSpPr>
          <a:xfrm>
            <a:off x="580388" y="1340768"/>
            <a:ext cx="8887612" cy="579567"/>
            <a:chOff x="580388" y="1413381"/>
            <a:chExt cx="8887612" cy="579567"/>
          </a:xfrm>
        </p:grpSpPr>
        <p:sp>
          <p:nvSpPr>
            <p:cNvPr id="15" name="직사각형 14">
              <a:extLst>
                <a:ext uri="{FF2B5EF4-FFF2-40B4-BE49-F238E27FC236}">
                  <a16:creationId xmlns:a16="http://schemas.microsoft.com/office/drawing/2014/main" id="{E56F38A5-32F3-47E2-9A2A-D0DAE70CB3EA}"/>
                </a:ext>
              </a:extLst>
            </p:cNvPr>
            <p:cNvSpPr/>
            <p:nvPr/>
          </p:nvSpPr>
          <p:spPr>
            <a:xfrm>
              <a:off x="711200" y="164748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Aggregate the columns 'A' and 'B' differently.</a:t>
              </a:r>
            </a:p>
          </p:txBody>
        </p:sp>
        <p:sp>
          <p:nvSpPr>
            <p:cNvPr id="17" name="직사각형 16">
              <a:extLst>
                <a:ext uri="{FF2B5EF4-FFF2-40B4-BE49-F238E27FC236}">
                  <a16:creationId xmlns:a16="http://schemas.microsoft.com/office/drawing/2014/main" id="{B7940309-31CB-4607-93FE-B44A3F1D7ABC}"/>
                </a:ext>
              </a:extLst>
            </p:cNvPr>
            <p:cNvSpPr/>
            <p:nvPr/>
          </p:nvSpPr>
          <p:spPr>
            <a:xfrm>
              <a:off x="580388" y="1413381"/>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Pivoting:</a:t>
              </a:r>
            </a:p>
          </p:txBody>
        </p:sp>
      </p:grpSp>
    </p:spTree>
    <p:extLst>
      <p:ext uri="{BB962C8B-B14F-4D97-AF65-F5344CB8AC3E}">
        <p14:creationId xmlns:p14="http://schemas.microsoft.com/office/powerpoint/2010/main" val="2617885233"/>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7BA75F2A-D4E1-441E-917E-BEF72062ECFF}"/>
              </a:ext>
            </a:extLst>
          </p:cNvPr>
          <p:cNvGrpSpPr/>
          <p:nvPr/>
        </p:nvGrpSpPr>
        <p:grpSpPr>
          <a:xfrm>
            <a:off x="558396" y="1628800"/>
            <a:ext cx="8782050" cy="1832857"/>
            <a:chOff x="558396" y="1628800"/>
            <a:chExt cx="8782050" cy="1832857"/>
          </a:xfrm>
        </p:grpSpPr>
        <p:sp>
          <p:nvSpPr>
            <p:cNvPr id="17" name="모서리가 둥근 직사각형 4">
              <a:extLst>
                <a:ext uri="{FF2B5EF4-FFF2-40B4-BE49-F238E27FC236}">
                  <a16:creationId xmlns:a16="http://schemas.microsoft.com/office/drawing/2014/main" id="{930158F8-A5B7-4F97-8E44-C73FC55364FC}"/>
                </a:ext>
              </a:extLst>
            </p:cNvPr>
            <p:cNvSpPr/>
            <p:nvPr/>
          </p:nvSpPr>
          <p:spPr>
            <a:xfrm>
              <a:off x="558396" y="1628800"/>
              <a:ext cx="8782050" cy="18328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latin typeface="SamsungOne 400" panose="020B0503030303020204" pitchFamily="34" charset="0"/>
                </a:rPr>
                <a:t> </a:t>
              </a: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819"/>
            <a:stretch/>
          </p:blipFill>
          <p:spPr>
            <a:xfrm>
              <a:off x="608564" y="1655607"/>
              <a:ext cx="8731130" cy="1779659"/>
            </a:xfrm>
            <a:prstGeom prst="rect">
              <a:avLst/>
            </a:prstGeom>
          </p:spPr>
        </p:pic>
      </p:grpSp>
      <p:grpSp>
        <p:nvGrpSpPr>
          <p:cNvPr id="26" name="그룹 25">
            <a:extLst>
              <a:ext uri="{FF2B5EF4-FFF2-40B4-BE49-F238E27FC236}">
                <a16:creationId xmlns:a16="http://schemas.microsoft.com/office/drawing/2014/main" id="{2E454F0D-9F77-4C52-AE48-6FF28C69D9B8}"/>
              </a:ext>
            </a:extLst>
          </p:cNvPr>
          <p:cNvGrpSpPr/>
          <p:nvPr/>
        </p:nvGrpSpPr>
        <p:grpSpPr>
          <a:xfrm>
            <a:off x="450000" y="355025"/>
            <a:ext cx="9033082" cy="492443"/>
            <a:chOff x="450000" y="448335"/>
            <a:chExt cx="9033082" cy="492443"/>
          </a:xfrm>
        </p:grpSpPr>
        <p:sp>
          <p:nvSpPr>
            <p:cNvPr id="27" name="직사각형 26">
              <a:extLst>
                <a:ext uri="{FF2B5EF4-FFF2-40B4-BE49-F238E27FC236}">
                  <a16:creationId xmlns:a16="http://schemas.microsoft.com/office/drawing/2014/main" id="{BB66FEE8-4648-42BD-AB4F-A1429A73D221}"/>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8" name="직사각형 27">
              <a:extLst>
                <a:ext uri="{FF2B5EF4-FFF2-40B4-BE49-F238E27FC236}">
                  <a16:creationId xmlns:a16="http://schemas.microsoft.com/office/drawing/2014/main" id="{83C65D00-4756-4AFB-A4F2-A06310389C60}"/>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9" name="직사각형 28">
            <a:extLst>
              <a:ext uri="{FF2B5EF4-FFF2-40B4-BE49-F238E27FC236}">
                <a16:creationId xmlns:a16="http://schemas.microsoft.com/office/drawing/2014/main" id="{0FE0AA00-A4F6-4F2A-9F81-3823CE0ADFCB}"/>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Statistics:</a:t>
            </a:r>
          </a:p>
        </p:txBody>
      </p:sp>
      <p:grpSp>
        <p:nvGrpSpPr>
          <p:cNvPr id="4" name="그룹 3">
            <a:extLst>
              <a:ext uri="{FF2B5EF4-FFF2-40B4-BE49-F238E27FC236}">
                <a16:creationId xmlns:a16="http://schemas.microsoft.com/office/drawing/2014/main" id="{817EC7A0-B632-4DEA-8C66-19E77B1318E3}"/>
              </a:ext>
            </a:extLst>
          </p:cNvPr>
          <p:cNvGrpSpPr/>
          <p:nvPr/>
        </p:nvGrpSpPr>
        <p:grpSpPr>
          <a:xfrm>
            <a:off x="557644" y="3566442"/>
            <a:ext cx="8782050" cy="2461132"/>
            <a:chOff x="557644" y="3603766"/>
            <a:chExt cx="8782050" cy="2461132"/>
          </a:xfrm>
        </p:grpSpPr>
        <p:sp>
          <p:nvSpPr>
            <p:cNvPr id="19" name="모서리가 둥근 직사각형 4">
              <a:extLst>
                <a:ext uri="{FF2B5EF4-FFF2-40B4-BE49-F238E27FC236}">
                  <a16:creationId xmlns:a16="http://schemas.microsoft.com/office/drawing/2014/main" id="{C3569CBD-5212-483A-A582-6794A42BDB63}"/>
                </a:ext>
              </a:extLst>
            </p:cNvPr>
            <p:cNvSpPr/>
            <p:nvPr/>
          </p:nvSpPr>
          <p:spPr>
            <a:xfrm>
              <a:off x="557644" y="3603766"/>
              <a:ext cx="8782050" cy="24611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20" name="그룹 19">
              <a:extLst>
                <a:ext uri="{FF2B5EF4-FFF2-40B4-BE49-F238E27FC236}">
                  <a16:creationId xmlns:a16="http://schemas.microsoft.com/office/drawing/2014/main" id="{F18919BF-DD65-4EDD-8E99-5FA6C053E53B}"/>
                </a:ext>
              </a:extLst>
            </p:cNvPr>
            <p:cNvGrpSpPr/>
            <p:nvPr/>
          </p:nvGrpSpPr>
          <p:grpSpPr>
            <a:xfrm>
              <a:off x="665154" y="3696667"/>
              <a:ext cx="2918106" cy="292387"/>
              <a:chOff x="732985" y="5582396"/>
              <a:chExt cx="2918106" cy="302131"/>
            </a:xfrm>
          </p:grpSpPr>
          <p:pic>
            <p:nvPicPr>
              <p:cNvPr id="2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1" name="TextBox 20">
              <a:extLst>
                <a:ext uri="{FF2B5EF4-FFF2-40B4-BE49-F238E27FC236}">
                  <a16:creationId xmlns:a16="http://schemas.microsoft.com/office/drawing/2014/main" id="{0800EE66-B78E-4CCD-A49E-31BBE412C7F6}"/>
                </a:ext>
              </a:extLst>
            </p:cNvPr>
            <p:cNvSpPr txBox="1"/>
            <p:nvPr/>
          </p:nvSpPr>
          <p:spPr>
            <a:xfrm>
              <a:off x="1024575" y="403156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Column sums</a:t>
              </a:r>
              <a:endParaRPr lang="ko-KR" altLang="en-US" sz="1300" dirty="0">
                <a:solidFill>
                  <a:schemeClr val="tx1">
                    <a:lumMod val="85000"/>
                    <a:lumOff val="15000"/>
                  </a:schemeClr>
                </a:solidFill>
                <a:latin typeface="SamsungOne 400" panose="020B0503030303020204" pitchFamily="34" charset="0"/>
              </a:endParaRPr>
            </a:p>
          </p:txBody>
        </p:sp>
        <p:grpSp>
          <p:nvGrpSpPr>
            <p:cNvPr id="34" name="그룹 33">
              <a:extLst>
                <a:ext uri="{FF2B5EF4-FFF2-40B4-BE49-F238E27FC236}">
                  <a16:creationId xmlns:a16="http://schemas.microsoft.com/office/drawing/2014/main" id="{8BDD1350-0B03-4FB6-87D4-CD286CBF3E0F}"/>
                </a:ext>
              </a:extLst>
            </p:cNvPr>
            <p:cNvGrpSpPr/>
            <p:nvPr/>
          </p:nvGrpSpPr>
          <p:grpSpPr>
            <a:xfrm>
              <a:off x="665154" y="4269832"/>
              <a:ext cx="8640559" cy="534949"/>
              <a:chOff x="665154" y="3840683"/>
              <a:chExt cx="8640559" cy="534949"/>
            </a:xfrm>
          </p:grpSpPr>
          <p:grpSp>
            <p:nvGrpSpPr>
              <p:cNvPr id="35" name="그룹 34">
                <a:extLst>
                  <a:ext uri="{FF2B5EF4-FFF2-40B4-BE49-F238E27FC236}">
                    <a16:creationId xmlns:a16="http://schemas.microsoft.com/office/drawing/2014/main" id="{256A30F2-8F22-4300-8A33-1DB3903B165E}"/>
                  </a:ext>
                </a:extLst>
              </p:cNvPr>
              <p:cNvGrpSpPr/>
              <p:nvPr/>
            </p:nvGrpSpPr>
            <p:grpSpPr>
              <a:xfrm>
                <a:off x="665154" y="3840683"/>
                <a:ext cx="2918106" cy="292387"/>
                <a:chOff x="732985" y="5582396"/>
                <a:chExt cx="2918106" cy="302131"/>
              </a:xfrm>
            </p:grpSpPr>
            <p:pic>
              <p:nvPicPr>
                <p:cNvPr id="37" name="Picture 2" descr="Byte - Free electronics icons">
                  <a:extLst>
                    <a:ext uri="{FF2B5EF4-FFF2-40B4-BE49-F238E27FC236}">
                      <a16:creationId xmlns:a16="http://schemas.microsoft.com/office/drawing/2014/main" id="{5C59C578-7EDD-45C9-90DE-21A8884B545D}"/>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6F3A4513-DF20-4F70-9C41-E6E33039C2BF}"/>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6" name="TextBox 35">
                <a:extLst>
                  <a:ext uri="{FF2B5EF4-FFF2-40B4-BE49-F238E27FC236}">
                    <a16:creationId xmlns:a16="http://schemas.microsoft.com/office/drawing/2014/main" id="{C550D399-3D86-4345-91AD-5AF238778F33}"/>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Row sums</a:t>
                </a:r>
                <a:endParaRPr lang="ko-KR" altLang="en-US" sz="1300" dirty="0">
                  <a:solidFill>
                    <a:schemeClr val="tx1">
                      <a:lumMod val="85000"/>
                      <a:lumOff val="15000"/>
                    </a:schemeClr>
                  </a:solidFill>
                  <a:latin typeface="SamsungOne 400" panose="020B0503030303020204" pitchFamily="34" charset="0"/>
                </a:endParaRPr>
              </a:p>
            </p:txBody>
          </p:sp>
        </p:grpSp>
        <p:grpSp>
          <p:nvGrpSpPr>
            <p:cNvPr id="39" name="그룹 38">
              <a:extLst>
                <a:ext uri="{FF2B5EF4-FFF2-40B4-BE49-F238E27FC236}">
                  <a16:creationId xmlns:a16="http://schemas.microsoft.com/office/drawing/2014/main" id="{233DED8B-5BEB-4E38-9A49-E98F26A0102A}"/>
                </a:ext>
              </a:extLst>
            </p:cNvPr>
            <p:cNvGrpSpPr/>
            <p:nvPr/>
          </p:nvGrpSpPr>
          <p:grpSpPr>
            <a:xfrm>
              <a:off x="665154" y="4833065"/>
              <a:ext cx="8640559" cy="534949"/>
              <a:chOff x="665154" y="3840683"/>
              <a:chExt cx="8640559" cy="534949"/>
            </a:xfrm>
          </p:grpSpPr>
          <p:grpSp>
            <p:nvGrpSpPr>
              <p:cNvPr id="40" name="그룹 39">
                <a:extLst>
                  <a:ext uri="{FF2B5EF4-FFF2-40B4-BE49-F238E27FC236}">
                    <a16:creationId xmlns:a16="http://schemas.microsoft.com/office/drawing/2014/main" id="{845F00C1-134A-4B99-AFD5-A33AA20AF1A4}"/>
                  </a:ext>
                </a:extLst>
              </p:cNvPr>
              <p:cNvGrpSpPr/>
              <p:nvPr/>
            </p:nvGrpSpPr>
            <p:grpSpPr>
              <a:xfrm>
                <a:off x="665154" y="3840683"/>
                <a:ext cx="2918106" cy="292387"/>
                <a:chOff x="732985" y="5582396"/>
                <a:chExt cx="2918106" cy="302131"/>
              </a:xfrm>
            </p:grpSpPr>
            <p:pic>
              <p:nvPicPr>
                <p:cNvPr id="42" name="Picture 2" descr="Byte - Free electronics icons">
                  <a:extLst>
                    <a:ext uri="{FF2B5EF4-FFF2-40B4-BE49-F238E27FC236}">
                      <a16:creationId xmlns:a16="http://schemas.microsoft.com/office/drawing/2014/main" id="{8D7ECA21-1E71-41FA-9A9D-F04ED531F69A}"/>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0E0B6AA-94D8-4837-BAB0-52DBC070F3EF}"/>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1" name="TextBox 40">
                <a:extLst>
                  <a:ext uri="{FF2B5EF4-FFF2-40B4-BE49-F238E27FC236}">
                    <a16:creationId xmlns:a16="http://schemas.microsoft.com/office/drawing/2014/main" id="{03763CA9-6FC2-448F-ADFD-2E52B4E1E3C9}"/>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Column averages without skipping the missing values</a:t>
                </a:r>
                <a:endParaRPr lang="ko-KR" altLang="en-US" sz="1300" dirty="0">
                  <a:solidFill>
                    <a:schemeClr val="tx1">
                      <a:lumMod val="85000"/>
                      <a:lumOff val="15000"/>
                    </a:schemeClr>
                  </a:solidFill>
                  <a:latin typeface="SamsungOne 400" panose="020B0503030303020204" pitchFamily="34" charset="0"/>
                </a:endParaRPr>
              </a:p>
            </p:txBody>
          </p:sp>
        </p:grpSp>
        <p:grpSp>
          <p:nvGrpSpPr>
            <p:cNvPr id="44" name="그룹 43">
              <a:extLst>
                <a:ext uri="{FF2B5EF4-FFF2-40B4-BE49-F238E27FC236}">
                  <a16:creationId xmlns:a16="http://schemas.microsoft.com/office/drawing/2014/main" id="{5EDD4D94-4D5A-491A-ACF1-A8DBE4769C9F}"/>
                </a:ext>
              </a:extLst>
            </p:cNvPr>
            <p:cNvGrpSpPr/>
            <p:nvPr/>
          </p:nvGrpSpPr>
          <p:grpSpPr>
            <a:xfrm>
              <a:off x="665154" y="5428305"/>
              <a:ext cx="8640559" cy="534949"/>
              <a:chOff x="665154" y="3840683"/>
              <a:chExt cx="8640559" cy="534949"/>
            </a:xfrm>
          </p:grpSpPr>
          <p:grpSp>
            <p:nvGrpSpPr>
              <p:cNvPr id="45" name="그룹 44">
                <a:extLst>
                  <a:ext uri="{FF2B5EF4-FFF2-40B4-BE49-F238E27FC236}">
                    <a16:creationId xmlns:a16="http://schemas.microsoft.com/office/drawing/2014/main" id="{A11206EA-C605-4039-9E33-645CA325D3E8}"/>
                  </a:ext>
                </a:extLst>
              </p:cNvPr>
              <p:cNvGrpSpPr/>
              <p:nvPr/>
            </p:nvGrpSpPr>
            <p:grpSpPr>
              <a:xfrm>
                <a:off x="665154" y="3840683"/>
                <a:ext cx="2918106" cy="292387"/>
                <a:chOff x="732985" y="5582396"/>
                <a:chExt cx="2918106" cy="302131"/>
              </a:xfrm>
            </p:grpSpPr>
            <p:pic>
              <p:nvPicPr>
                <p:cNvPr id="47" name="Picture 2" descr="Byte - Free electronics icons">
                  <a:extLst>
                    <a:ext uri="{FF2B5EF4-FFF2-40B4-BE49-F238E27FC236}">
                      <a16:creationId xmlns:a16="http://schemas.microsoft.com/office/drawing/2014/main" id="{7E5C0CCB-0D17-422D-825A-F3FE6E1661C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865E125A-A68E-4A5B-8537-DFFFD39093F7}"/>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6" name="TextBox 45">
                <a:extLst>
                  <a:ext uri="{FF2B5EF4-FFF2-40B4-BE49-F238E27FC236}">
                    <a16:creationId xmlns:a16="http://schemas.microsoft.com/office/drawing/2014/main" id="{C12C67B3-88F3-4AA7-9262-79870DE088C7}"/>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ahoma" panose="020B0604030504040204" pitchFamily="34" charset="0"/>
                  </a:rPr>
                  <a:t>Descriptive statistics of the columns (variables)</a:t>
                </a:r>
                <a:endParaRPr lang="ko-KR" altLang="en-US" sz="1300" dirty="0">
                  <a:solidFill>
                    <a:schemeClr val="tx1">
                      <a:lumMod val="85000"/>
                      <a:lumOff val="15000"/>
                    </a:schemeClr>
                  </a:solidFill>
                  <a:latin typeface="SamsungOne 400" panose="020B0503030303020204" pitchFamily="34" charset="0"/>
                </a:endParaRPr>
              </a:p>
            </p:txBody>
          </p:sp>
        </p:grpSp>
      </p:grpSp>
    </p:spTree>
    <p:extLst>
      <p:ext uri="{BB962C8B-B14F-4D97-AF65-F5344CB8AC3E}">
        <p14:creationId xmlns:p14="http://schemas.microsoft.com/office/powerpoint/2010/main" val="396934679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7BA75F2A-D4E1-441E-917E-BEF72062ECFF}"/>
              </a:ext>
            </a:extLst>
          </p:cNvPr>
          <p:cNvGrpSpPr/>
          <p:nvPr/>
        </p:nvGrpSpPr>
        <p:grpSpPr>
          <a:xfrm>
            <a:off x="558396" y="1628800"/>
            <a:ext cx="8782050" cy="1832857"/>
            <a:chOff x="558396" y="1628800"/>
            <a:chExt cx="8782050" cy="1832857"/>
          </a:xfrm>
        </p:grpSpPr>
        <p:sp>
          <p:nvSpPr>
            <p:cNvPr id="17" name="모서리가 둥근 직사각형 4">
              <a:extLst>
                <a:ext uri="{FF2B5EF4-FFF2-40B4-BE49-F238E27FC236}">
                  <a16:creationId xmlns:a16="http://schemas.microsoft.com/office/drawing/2014/main" id="{930158F8-A5B7-4F97-8E44-C73FC55364FC}"/>
                </a:ext>
              </a:extLst>
            </p:cNvPr>
            <p:cNvSpPr/>
            <p:nvPr/>
          </p:nvSpPr>
          <p:spPr>
            <a:xfrm>
              <a:off x="558396" y="1628800"/>
              <a:ext cx="8782050" cy="18328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latin typeface="SamsungOne 400" panose="020B0503030303020204" pitchFamily="34" charset="0"/>
                </a:rPr>
                <a:t> </a:t>
              </a: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19819"/>
            <a:stretch/>
          </p:blipFill>
          <p:spPr>
            <a:xfrm>
              <a:off x="608564" y="1655607"/>
              <a:ext cx="8731130" cy="1779659"/>
            </a:xfrm>
            <a:prstGeom prst="rect">
              <a:avLst/>
            </a:prstGeom>
          </p:spPr>
        </p:pic>
      </p:grpSp>
      <p:grpSp>
        <p:nvGrpSpPr>
          <p:cNvPr id="26" name="그룹 25">
            <a:extLst>
              <a:ext uri="{FF2B5EF4-FFF2-40B4-BE49-F238E27FC236}">
                <a16:creationId xmlns:a16="http://schemas.microsoft.com/office/drawing/2014/main" id="{2E454F0D-9F77-4C52-AE48-6FF28C69D9B8}"/>
              </a:ext>
            </a:extLst>
          </p:cNvPr>
          <p:cNvGrpSpPr/>
          <p:nvPr/>
        </p:nvGrpSpPr>
        <p:grpSpPr>
          <a:xfrm>
            <a:off x="450000" y="355025"/>
            <a:ext cx="9033082" cy="492443"/>
            <a:chOff x="450000" y="448335"/>
            <a:chExt cx="9033082" cy="492443"/>
          </a:xfrm>
        </p:grpSpPr>
        <p:sp>
          <p:nvSpPr>
            <p:cNvPr id="27" name="직사각형 26">
              <a:extLst>
                <a:ext uri="{FF2B5EF4-FFF2-40B4-BE49-F238E27FC236}">
                  <a16:creationId xmlns:a16="http://schemas.microsoft.com/office/drawing/2014/main" id="{BB66FEE8-4648-42BD-AB4F-A1429A73D221}"/>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8" name="직사각형 27">
              <a:extLst>
                <a:ext uri="{FF2B5EF4-FFF2-40B4-BE49-F238E27FC236}">
                  <a16:creationId xmlns:a16="http://schemas.microsoft.com/office/drawing/2014/main" id="{83C65D00-4756-4AFB-A4F2-A06310389C60}"/>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9" name="직사각형 28">
            <a:extLst>
              <a:ext uri="{FF2B5EF4-FFF2-40B4-BE49-F238E27FC236}">
                <a16:creationId xmlns:a16="http://schemas.microsoft.com/office/drawing/2014/main" id="{0FE0AA00-A4F6-4F2A-9F81-3823CE0ADFCB}"/>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Statistics:</a:t>
            </a:r>
          </a:p>
        </p:txBody>
      </p:sp>
      <p:grpSp>
        <p:nvGrpSpPr>
          <p:cNvPr id="4" name="그룹 3">
            <a:extLst>
              <a:ext uri="{FF2B5EF4-FFF2-40B4-BE49-F238E27FC236}">
                <a16:creationId xmlns:a16="http://schemas.microsoft.com/office/drawing/2014/main" id="{817EC7A0-B632-4DEA-8C66-19E77B1318E3}"/>
              </a:ext>
            </a:extLst>
          </p:cNvPr>
          <p:cNvGrpSpPr/>
          <p:nvPr/>
        </p:nvGrpSpPr>
        <p:grpSpPr>
          <a:xfrm>
            <a:off x="557644" y="3566442"/>
            <a:ext cx="8782050" cy="2461132"/>
            <a:chOff x="557644" y="3603766"/>
            <a:chExt cx="8782050" cy="2461132"/>
          </a:xfrm>
        </p:grpSpPr>
        <p:sp>
          <p:nvSpPr>
            <p:cNvPr id="19" name="모서리가 둥근 직사각형 4">
              <a:extLst>
                <a:ext uri="{FF2B5EF4-FFF2-40B4-BE49-F238E27FC236}">
                  <a16:creationId xmlns:a16="http://schemas.microsoft.com/office/drawing/2014/main" id="{C3569CBD-5212-483A-A582-6794A42BDB63}"/>
                </a:ext>
              </a:extLst>
            </p:cNvPr>
            <p:cNvSpPr/>
            <p:nvPr/>
          </p:nvSpPr>
          <p:spPr>
            <a:xfrm>
              <a:off x="557644" y="3603766"/>
              <a:ext cx="8782050" cy="246113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20" name="그룹 19">
              <a:extLst>
                <a:ext uri="{FF2B5EF4-FFF2-40B4-BE49-F238E27FC236}">
                  <a16:creationId xmlns:a16="http://schemas.microsoft.com/office/drawing/2014/main" id="{F18919BF-DD65-4EDD-8E99-5FA6C053E53B}"/>
                </a:ext>
              </a:extLst>
            </p:cNvPr>
            <p:cNvGrpSpPr/>
            <p:nvPr/>
          </p:nvGrpSpPr>
          <p:grpSpPr>
            <a:xfrm>
              <a:off x="665154" y="3696667"/>
              <a:ext cx="2918106" cy="292387"/>
              <a:chOff x="732985" y="5582396"/>
              <a:chExt cx="2918106" cy="302131"/>
            </a:xfrm>
          </p:grpSpPr>
          <p:pic>
            <p:nvPicPr>
              <p:cNvPr id="22"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21" name="TextBox 20">
              <a:extLst>
                <a:ext uri="{FF2B5EF4-FFF2-40B4-BE49-F238E27FC236}">
                  <a16:creationId xmlns:a16="http://schemas.microsoft.com/office/drawing/2014/main" id="{0800EE66-B78E-4CCD-A49E-31BBE412C7F6}"/>
                </a:ext>
              </a:extLst>
            </p:cNvPr>
            <p:cNvSpPr txBox="1"/>
            <p:nvPr/>
          </p:nvSpPr>
          <p:spPr>
            <a:xfrm>
              <a:off x="1024575" y="4031561"/>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Non-missing values along the columns</a:t>
              </a:r>
              <a:endParaRPr lang="ko-KR" altLang="en-US" sz="1300" dirty="0">
                <a:solidFill>
                  <a:prstClr val="black">
                    <a:lumMod val="85000"/>
                    <a:lumOff val="15000"/>
                  </a:prstClr>
                </a:solidFill>
                <a:latin typeface="SamsungOne 400" panose="020B0503030303020204" pitchFamily="34" charset="0"/>
              </a:endParaRPr>
            </a:p>
          </p:txBody>
        </p:sp>
        <p:grpSp>
          <p:nvGrpSpPr>
            <p:cNvPr id="34" name="그룹 33">
              <a:extLst>
                <a:ext uri="{FF2B5EF4-FFF2-40B4-BE49-F238E27FC236}">
                  <a16:creationId xmlns:a16="http://schemas.microsoft.com/office/drawing/2014/main" id="{8BDD1350-0B03-4FB6-87D4-CD286CBF3E0F}"/>
                </a:ext>
              </a:extLst>
            </p:cNvPr>
            <p:cNvGrpSpPr/>
            <p:nvPr/>
          </p:nvGrpSpPr>
          <p:grpSpPr>
            <a:xfrm>
              <a:off x="665154" y="4269832"/>
              <a:ext cx="8640559" cy="534949"/>
              <a:chOff x="665154" y="3840683"/>
              <a:chExt cx="8640559" cy="534949"/>
            </a:xfrm>
          </p:grpSpPr>
          <p:grpSp>
            <p:nvGrpSpPr>
              <p:cNvPr id="35" name="그룹 34">
                <a:extLst>
                  <a:ext uri="{FF2B5EF4-FFF2-40B4-BE49-F238E27FC236}">
                    <a16:creationId xmlns:a16="http://schemas.microsoft.com/office/drawing/2014/main" id="{256A30F2-8F22-4300-8A33-1DB3903B165E}"/>
                  </a:ext>
                </a:extLst>
              </p:cNvPr>
              <p:cNvGrpSpPr/>
              <p:nvPr/>
            </p:nvGrpSpPr>
            <p:grpSpPr>
              <a:xfrm>
                <a:off x="665154" y="3840683"/>
                <a:ext cx="2918106" cy="292387"/>
                <a:chOff x="732985" y="5582396"/>
                <a:chExt cx="2918106" cy="302131"/>
              </a:xfrm>
            </p:grpSpPr>
            <p:pic>
              <p:nvPicPr>
                <p:cNvPr id="37" name="Picture 2" descr="Byte - Free electronics icons">
                  <a:extLst>
                    <a:ext uri="{FF2B5EF4-FFF2-40B4-BE49-F238E27FC236}">
                      <a16:creationId xmlns:a16="http://schemas.microsoft.com/office/drawing/2014/main" id="{5C59C578-7EDD-45C9-90DE-21A8884B545D}"/>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6F3A4513-DF20-4F70-9C41-E6E33039C2BF}"/>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6" name="TextBox 35">
                <a:extLst>
                  <a:ext uri="{FF2B5EF4-FFF2-40B4-BE49-F238E27FC236}">
                    <a16:creationId xmlns:a16="http://schemas.microsoft.com/office/drawing/2014/main" id="{C550D399-3D86-4345-91AD-5AF238778F33}"/>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Correlation between the column 'A' and the column 'B'</a:t>
                </a:r>
                <a:endParaRPr lang="ko-KR" altLang="en-US" sz="1300" dirty="0">
                  <a:solidFill>
                    <a:prstClr val="black">
                      <a:lumMod val="85000"/>
                      <a:lumOff val="15000"/>
                    </a:prstClr>
                  </a:solidFill>
                  <a:latin typeface="SamsungOne 400" panose="020B0503030303020204" pitchFamily="34" charset="0"/>
                </a:endParaRPr>
              </a:p>
            </p:txBody>
          </p:sp>
        </p:grpSp>
        <p:grpSp>
          <p:nvGrpSpPr>
            <p:cNvPr id="39" name="그룹 38">
              <a:extLst>
                <a:ext uri="{FF2B5EF4-FFF2-40B4-BE49-F238E27FC236}">
                  <a16:creationId xmlns:a16="http://schemas.microsoft.com/office/drawing/2014/main" id="{233DED8B-5BEB-4E38-9A49-E98F26A0102A}"/>
                </a:ext>
              </a:extLst>
            </p:cNvPr>
            <p:cNvGrpSpPr/>
            <p:nvPr/>
          </p:nvGrpSpPr>
          <p:grpSpPr>
            <a:xfrm>
              <a:off x="665154" y="4833065"/>
              <a:ext cx="8640559" cy="534949"/>
              <a:chOff x="665154" y="3840683"/>
              <a:chExt cx="8640559" cy="534949"/>
            </a:xfrm>
          </p:grpSpPr>
          <p:grpSp>
            <p:nvGrpSpPr>
              <p:cNvPr id="40" name="그룹 39">
                <a:extLst>
                  <a:ext uri="{FF2B5EF4-FFF2-40B4-BE49-F238E27FC236}">
                    <a16:creationId xmlns:a16="http://schemas.microsoft.com/office/drawing/2014/main" id="{845F00C1-134A-4B99-AFD5-A33AA20AF1A4}"/>
                  </a:ext>
                </a:extLst>
              </p:cNvPr>
              <p:cNvGrpSpPr/>
              <p:nvPr/>
            </p:nvGrpSpPr>
            <p:grpSpPr>
              <a:xfrm>
                <a:off x="665154" y="3840683"/>
                <a:ext cx="2918106" cy="292387"/>
                <a:chOff x="732985" y="5582396"/>
                <a:chExt cx="2918106" cy="302131"/>
              </a:xfrm>
            </p:grpSpPr>
            <p:pic>
              <p:nvPicPr>
                <p:cNvPr id="42" name="Picture 2" descr="Byte - Free electronics icons">
                  <a:extLst>
                    <a:ext uri="{FF2B5EF4-FFF2-40B4-BE49-F238E27FC236}">
                      <a16:creationId xmlns:a16="http://schemas.microsoft.com/office/drawing/2014/main" id="{8D7ECA21-1E71-41FA-9A9D-F04ED531F69A}"/>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0E0B6AA-94D8-4837-BAB0-52DBC070F3EF}"/>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1" name="TextBox 40">
                <a:extLst>
                  <a:ext uri="{FF2B5EF4-FFF2-40B4-BE49-F238E27FC236}">
                    <a16:creationId xmlns:a16="http://schemas.microsoft.com/office/drawing/2014/main" id="{03763CA9-6FC2-448F-ADFD-2E52B4E1E3C9}"/>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Correlation matrix taking the numeric variables pair-wise</a:t>
                </a:r>
                <a:endParaRPr lang="ko-KR" altLang="en-US" sz="1300" dirty="0">
                  <a:solidFill>
                    <a:prstClr val="black">
                      <a:lumMod val="85000"/>
                      <a:lumOff val="15000"/>
                    </a:prstClr>
                  </a:solidFill>
                  <a:latin typeface="SamsungOne 400" panose="020B0503030303020204" pitchFamily="34" charset="0"/>
                </a:endParaRPr>
              </a:p>
            </p:txBody>
          </p:sp>
        </p:grpSp>
        <p:grpSp>
          <p:nvGrpSpPr>
            <p:cNvPr id="44" name="그룹 43">
              <a:extLst>
                <a:ext uri="{FF2B5EF4-FFF2-40B4-BE49-F238E27FC236}">
                  <a16:creationId xmlns:a16="http://schemas.microsoft.com/office/drawing/2014/main" id="{5EDD4D94-4D5A-491A-ACF1-A8DBE4769C9F}"/>
                </a:ext>
              </a:extLst>
            </p:cNvPr>
            <p:cNvGrpSpPr/>
            <p:nvPr/>
          </p:nvGrpSpPr>
          <p:grpSpPr>
            <a:xfrm>
              <a:off x="665154" y="5428305"/>
              <a:ext cx="8640559" cy="534949"/>
              <a:chOff x="665154" y="3840683"/>
              <a:chExt cx="8640559" cy="534949"/>
            </a:xfrm>
          </p:grpSpPr>
          <p:grpSp>
            <p:nvGrpSpPr>
              <p:cNvPr id="45" name="그룹 44">
                <a:extLst>
                  <a:ext uri="{FF2B5EF4-FFF2-40B4-BE49-F238E27FC236}">
                    <a16:creationId xmlns:a16="http://schemas.microsoft.com/office/drawing/2014/main" id="{A11206EA-C605-4039-9E33-645CA325D3E8}"/>
                  </a:ext>
                </a:extLst>
              </p:cNvPr>
              <p:cNvGrpSpPr/>
              <p:nvPr/>
            </p:nvGrpSpPr>
            <p:grpSpPr>
              <a:xfrm>
                <a:off x="665154" y="3840683"/>
                <a:ext cx="2918106" cy="292387"/>
                <a:chOff x="732985" y="5582396"/>
                <a:chExt cx="2918106" cy="302131"/>
              </a:xfrm>
            </p:grpSpPr>
            <p:pic>
              <p:nvPicPr>
                <p:cNvPr id="47" name="Picture 2" descr="Byte - Free electronics icons">
                  <a:extLst>
                    <a:ext uri="{FF2B5EF4-FFF2-40B4-BE49-F238E27FC236}">
                      <a16:creationId xmlns:a16="http://schemas.microsoft.com/office/drawing/2014/main" id="{7E5C0CCB-0D17-422D-825A-F3FE6E1661C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865E125A-A68E-4A5B-8537-DFFFD39093F7}"/>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8</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6" name="TextBox 45">
                <a:extLst>
                  <a:ext uri="{FF2B5EF4-FFF2-40B4-BE49-F238E27FC236}">
                    <a16:creationId xmlns:a16="http://schemas.microsoft.com/office/drawing/2014/main" id="{C12C67B3-88F3-4AA7-9262-79870DE088C7}"/>
                  </a:ext>
                </a:extLst>
              </p:cNvPr>
              <p:cNvSpPr txBox="1"/>
              <p:nvPr/>
            </p:nvSpPr>
            <p:spPr>
              <a:xfrm>
                <a:off x="1024575" y="4175577"/>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Correlations between 'A' and the other numeric variables</a:t>
                </a:r>
                <a:endParaRPr lang="ko-KR" altLang="en-US" sz="1300" dirty="0">
                  <a:solidFill>
                    <a:prstClr val="black">
                      <a:lumMod val="85000"/>
                      <a:lumOff val="15000"/>
                    </a:prstClr>
                  </a:solidFill>
                  <a:latin typeface="SamsungOne 400" panose="020B0503030303020204" pitchFamily="34" charset="0"/>
                </a:endParaRPr>
              </a:p>
            </p:txBody>
          </p:sp>
        </p:grpSp>
      </p:grpSp>
    </p:spTree>
    <p:extLst>
      <p:ext uri="{BB962C8B-B14F-4D97-AF65-F5344CB8AC3E}">
        <p14:creationId xmlns:p14="http://schemas.microsoft.com/office/powerpoint/2010/main" val="1889985963"/>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7E5CE6DE-B3BB-405C-8359-83C1C5FF6030}"/>
              </a:ext>
            </a:extLst>
          </p:cNvPr>
          <p:cNvGrpSpPr/>
          <p:nvPr/>
        </p:nvGrpSpPr>
        <p:grpSpPr>
          <a:xfrm>
            <a:off x="558396" y="1628801"/>
            <a:ext cx="8782050" cy="1692898"/>
            <a:chOff x="558396" y="1628801"/>
            <a:chExt cx="8782050" cy="1692898"/>
          </a:xfrm>
        </p:grpSpPr>
        <p:sp>
          <p:nvSpPr>
            <p:cNvPr id="33" name="모서리가 둥근 직사각형 4">
              <a:extLst>
                <a:ext uri="{FF2B5EF4-FFF2-40B4-BE49-F238E27FC236}">
                  <a16:creationId xmlns:a16="http://schemas.microsoft.com/office/drawing/2014/main" id="{38C9E3A6-821A-4D70-AE4E-B2E6542B92B2}"/>
                </a:ext>
              </a:extLst>
            </p:cNvPr>
            <p:cNvSpPr/>
            <p:nvPr/>
          </p:nvSpPr>
          <p:spPr>
            <a:xfrm>
              <a:off x="558396" y="1628801"/>
              <a:ext cx="8782050" cy="16928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latin typeface="SamsungOne 400" panose="020B0503030303020204" pitchFamily="34" charset="0"/>
                </a:rPr>
                <a:t> </a:t>
              </a: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2064"/>
            <a:stretch/>
          </p:blipFill>
          <p:spPr>
            <a:xfrm>
              <a:off x="620159" y="1690198"/>
              <a:ext cx="8719535" cy="1603067"/>
            </a:xfrm>
            <a:prstGeom prst="rect">
              <a:avLst/>
            </a:prstGeom>
          </p:spPr>
        </p:pic>
      </p:grpSp>
      <p:grpSp>
        <p:nvGrpSpPr>
          <p:cNvPr id="26" name="그룹 25">
            <a:extLst>
              <a:ext uri="{FF2B5EF4-FFF2-40B4-BE49-F238E27FC236}">
                <a16:creationId xmlns:a16="http://schemas.microsoft.com/office/drawing/2014/main" id="{47845FA7-473B-4E4D-ABD9-70301E296824}"/>
              </a:ext>
            </a:extLst>
          </p:cNvPr>
          <p:cNvGrpSpPr/>
          <p:nvPr/>
        </p:nvGrpSpPr>
        <p:grpSpPr>
          <a:xfrm>
            <a:off x="450000" y="355025"/>
            <a:ext cx="9033082" cy="492443"/>
            <a:chOff x="450000" y="448335"/>
            <a:chExt cx="9033082" cy="492443"/>
          </a:xfrm>
        </p:grpSpPr>
        <p:sp>
          <p:nvSpPr>
            <p:cNvPr id="27" name="직사각형 26">
              <a:extLst>
                <a:ext uri="{FF2B5EF4-FFF2-40B4-BE49-F238E27FC236}">
                  <a16:creationId xmlns:a16="http://schemas.microsoft.com/office/drawing/2014/main" id="{5DEF3844-DB0F-4BEB-AB02-4915E770D726}"/>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8" name="직사각형 27">
              <a:extLst>
                <a:ext uri="{FF2B5EF4-FFF2-40B4-BE49-F238E27FC236}">
                  <a16:creationId xmlns:a16="http://schemas.microsoft.com/office/drawing/2014/main" id="{AF8B754F-070B-4FEF-AAD7-F35ACA3C8F75}"/>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9" name="직사각형 28">
            <a:extLst>
              <a:ext uri="{FF2B5EF4-FFF2-40B4-BE49-F238E27FC236}">
                <a16:creationId xmlns:a16="http://schemas.microsoft.com/office/drawing/2014/main" id="{17FF6241-CB1A-4063-B8A0-9BDCE15CC9BE}"/>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detection and processing</a:t>
            </a:r>
          </a:p>
        </p:txBody>
      </p:sp>
      <p:grpSp>
        <p:nvGrpSpPr>
          <p:cNvPr id="4" name="그룹 3">
            <a:extLst>
              <a:ext uri="{FF2B5EF4-FFF2-40B4-BE49-F238E27FC236}">
                <a16:creationId xmlns:a16="http://schemas.microsoft.com/office/drawing/2014/main" id="{E77D7934-47AF-4760-8F8F-8574F2C1B65B}"/>
              </a:ext>
            </a:extLst>
          </p:cNvPr>
          <p:cNvGrpSpPr/>
          <p:nvPr/>
        </p:nvGrpSpPr>
        <p:grpSpPr>
          <a:xfrm>
            <a:off x="557644" y="3419669"/>
            <a:ext cx="8782050" cy="2486609"/>
            <a:chOff x="557644" y="3419669"/>
            <a:chExt cx="8782050" cy="2486609"/>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3419669"/>
              <a:ext cx="8782050" cy="248660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8" name="그룹 17">
              <a:extLst>
                <a:ext uri="{FF2B5EF4-FFF2-40B4-BE49-F238E27FC236}">
                  <a16:creationId xmlns:a16="http://schemas.microsoft.com/office/drawing/2014/main" id="{F18919BF-DD65-4EDD-8E99-5FA6C053E53B}"/>
                </a:ext>
              </a:extLst>
            </p:cNvPr>
            <p:cNvGrpSpPr/>
            <p:nvPr/>
          </p:nvGrpSpPr>
          <p:grpSpPr>
            <a:xfrm>
              <a:off x="665154" y="3512570"/>
              <a:ext cx="2918106" cy="292387"/>
              <a:chOff x="732985" y="5582396"/>
              <a:chExt cx="2918106" cy="302131"/>
            </a:xfrm>
          </p:grpSpPr>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9" name="TextBox 18">
              <a:extLst>
                <a:ext uri="{FF2B5EF4-FFF2-40B4-BE49-F238E27FC236}">
                  <a16:creationId xmlns:a16="http://schemas.microsoft.com/office/drawing/2014/main" id="{0800EE66-B78E-4CCD-A49E-31BBE412C7F6}"/>
                </a:ext>
              </a:extLst>
            </p:cNvPr>
            <p:cNvSpPr txBox="1"/>
            <p:nvPr/>
          </p:nvSpPr>
          <p:spPr>
            <a:xfrm>
              <a:off x="1024575" y="38474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A DataFrame with </a:t>
              </a:r>
              <a:r>
                <a:rPr lang="en-US" altLang="ko-KR" sz="1300" dirty="0">
                  <a:solidFill>
                    <a:prstClr val="black"/>
                  </a:solidFill>
                  <a:latin typeface="SamsungOne 700" panose="020B0803030303020204" pitchFamily="34" charset="0"/>
                  <a:ea typeface="SamsungOne 700" panose="020B0803030303020204" pitchFamily="34" charset="0"/>
                  <a:cs typeface="Tahoma" panose="020B0604030504040204" pitchFamily="34" charset="0"/>
                </a:rPr>
                <a:t>True</a:t>
              </a: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 where missing values are found.</a:t>
              </a:r>
              <a:endParaRPr lang="ko-KR" altLang="en-US" sz="1300" dirty="0">
                <a:solidFill>
                  <a:prstClr val="black">
                    <a:lumMod val="85000"/>
                    <a:lumOff val="15000"/>
                  </a:prstClr>
                </a:solidFill>
                <a:latin typeface="SamsungOne 400" panose="020B0503030303020204" pitchFamily="34" charset="0"/>
              </a:endParaRPr>
            </a:p>
          </p:txBody>
        </p:sp>
        <p:grpSp>
          <p:nvGrpSpPr>
            <p:cNvPr id="34" name="그룹 33">
              <a:extLst>
                <a:ext uri="{FF2B5EF4-FFF2-40B4-BE49-F238E27FC236}">
                  <a16:creationId xmlns:a16="http://schemas.microsoft.com/office/drawing/2014/main" id="{130F43D1-AAAE-4586-BA1E-9B10D87FA787}"/>
                </a:ext>
              </a:extLst>
            </p:cNvPr>
            <p:cNvGrpSpPr/>
            <p:nvPr/>
          </p:nvGrpSpPr>
          <p:grpSpPr>
            <a:xfrm>
              <a:off x="665154" y="4101368"/>
              <a:ext cx="8640559" cy="534949"/>
              <a:chOff x="665154" y="3642070"/>
              <a:chExt cx="8640559" cy="534949"/>
            </a:xfrm>
          </p:grpSpPr>
          <p:grpSp>
            <p:nvGrpSpPr>
              <p:cNvPr id="35" name="그룹 34">
                <a:extLst>
                  <a:ext uri="{FF2B5EF4-FFF2-40B4-BE49-F238E27FC236}">
                    <a16:creationId xmlns:a16="http://schemas.microsoft.com/office/drawing/2014/main" id="{55079EF9-2934-4494-9858-D01284BAB7B4}"/>
                  </a:ext>
                </a:extLst>
              </p:cNvPr>
              <p:cNvGrpSpPr/>
              <p:nvPr/>
            </p:nvGrpSpPr>
            <p:grpSpPr>
              <a:xfrm>
                <a:off x="665154" y="3642070"/>
                <a:ext cx="2918106" cy="292387"/>
                <a:chOff x="732985" y="5582396"/>
                <a:chExt cx="2918106" cy="302131"/>
              </a:xfrm>
            </p:grpSpPr>
            <p:pic>
              <p:nvPicPr>
                <p:cNvPr id="37" name="Picture 2" descr="Byte - Free electronics icons">
                  <a:extLst>
                    <a:ext uri="{FF2B5EF4-FFF2-40B4-BE49-F238E27FC236}">
                      <a16:creationId xmlns:a16="http://schemas.microsoft.com/office/drawing/2014/main" id="{0805DB7C-D0DF-4CB5-BA91-8BCBF962E9D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E1FF3C16-910F-4098-83CF-6E81AF5E70F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6" name="TextBox 35">
                <a:extLst>
                  <a:ext uri="{FF2B5EF4-FFF2-40B4-BE49-F238E27FC236}">
                    <a16:creationId xmlns:a16="http://schemas.microsoft.com/office/drawing/2014/main" id="{CBE9E60E-A169-41FE-A953-E72E911D711F}"/>
                  </a:ext>
                </a:extLst>
              </p:cNvPr>
              <p:cNvSpPr txBox="1"/>
              <p:nvPr/>
            </p:nvSpPr>
            <p:spPr>
              <a:xfrm>
                <a:off x="1024575" y="39769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Count the missing values for each column.</a:t>
                </a:r>
                <a:endParaRPr lang="ko-KR" altLang="en-US" sz="1300" dirty="0">
                  <a:solidFill>
                    <a:prstClr val="black">
                      <a:lumMod val="85000"/>
                      <a:lumOff val="15000"/>
                    </a:prstClr>
                  </a:solidFill>
                  <a:latin typeface="SamsungOne 400" panose="020B0503030303020204" pitchFamily="34" charset="0"/>
                </a:endParaRPr>
              </a:p>
            </p:txBody>
          </p:sp>
        </p:grpSp>
        <p:grpSp>
          <p:nvGrpSpPr>
            <p:cNvPr id="39" name="그룹 38">
              <a:extLst>
                <a:ext uri="{FF2B5EF4-FFF2-40B4-BE49-F238E27FC236}">
                  <a16:creationId xmlns:a16="http://schemas.microsoft.com/office/drawing/2014/main" id="{6E65CAB3-5C85-4A23-B194-BA2E6DCAD597}"/>
                </a:ext>
              </a:extLst>
            </p:cNvPr>
            <p:cNvGrpSpPr/>
            <p:nvPr/>
          </p:nvGrpSpPr>
          <p:grpSpPr>
            <a:xfrm>
              <a:off x="665154" y="4672572"/>
              <a:ext cx="8640559" cy="534949"/>
              <a:chOff x="665154" y="3642070"/>
              <a:chExt cx="8640559" cy="534949"/>
            </a:xfrm>
          </p:grpSpPr>
          <p:grpSp>
            <p:nvGrpSpPr>
              <p:cNvPr id="40" name="그룹 39">
                <a:extLst>
                  <a:ext uri="{FF2B5EF4-FFF2-40B4-BE49-F238E27FC236}">
                    <a16:creationId xmlns:a16="http://schemas.microsoft.com/office/drawing/2014/main" id="{21A90E21-36E2-4B1D-B33E-6F18704D3C72}"/>
                  </a:ext>
                </a:extLst>
              </p:cNvPr>
              <p:cNvGrpSpPr/>
              <p:nvPr/>
            </p:nvGrpSpPr>
            <p:grpSpPr>
              <a:xfrm>
                <a:off x="665154" y="3642070"/>
                <a:ext cx="2918106" cy="292387"/>
                <a:chOff x="732985" y="5582396"/>
                <a:chExt cx="2918106" cy="302131"/>
              </a:xfrm>
            </p:grpSpPr>
            <p:pic>
              <p:nvPicPr>
                <p:cNvPr id="42" name="Picture 2" descr="Byte - Free electronics icons">
                  <a:extLst>
                    <a:ext uri="{FF2B5EF4-FFF2-40B4-BE49-F238E27FC236}">
                      <a16:creationId xmlns:a16="http://schemas.microsoft.com/office/drawing/2014/main" id="{5C41412C-3A9C-4700-9ABD-35A95EF98F3A}"/>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E7A65C93-BBCB-4779-B517-4808C4C77191}"/>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1" name="TextBox 40">
                <a:extLst>
                  <a:ext uri="{FF2B5EF4-FFF2-40B4-BE49-F238E27FC236}">
                    <a16:creationId xmlns:a16="http://schemas.microsoft.com/office/drawing/2014/main" id="{27F62231-B446-4FAA-B3CA-E2AD20693E88}"/>
                  </a:ext>
                </a:extLst>
              </p:cNvPr>
              <p:cNvSpPr txBox="1"/>
              <p:nvPr/>
            </p:nvSpPr>
            <p:spPr>
              <a:xfrm>
                <a:off x="1024575" y="39769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Proportions of the missing values for each column.</a:t>
                </a:r>
                <a:endParaRPr lang="ko-KR" altLang="en-US" sz="1300" dirty="0">
                  <a:solidFill>
                    <a:prstClr val="black">
                      <a:lumMod val="85000"/>
                      <a:lumOff val="15000"/>
                    </a:prstClr>
                  </a:solidFill>
                  <a:latin typeface="SamsungOne 400" panose="020B0503030303020204" pitchFamily="34" charset="0"/>
                </a:endParaRPr>
              </a:p>
            </p:txBody>
          </p:sp>
        </p:grpSp>
        <p:grpSp>
          <p:nvGrpSpPr>
            <p:cNvPr id="44" name="그룹 43">
              <a:extLst>
                <a:ext uri="{FF2B5EF4-FFF2-40B4-BE49-F238E27FC236}">
                  <a16:creationId xmlns:a16="http://schemas.microsoft.com/office/drawing/2014/main" id="{904468FC-EF4E-46C9-9DDD-740E18911644}"/>
                </a:ext>
              </a:extLst>
            </p:cNvPr>
            <p:cNvGrpSpPr/>
            <p:nvPr/>
          </p:nvGrpSpPr>
          <p:grpSpPr>
            <a:xfrm>
              <a:off x="665154" y="5278578"/>
              <a:ext cx="8640559" cy="534949"/>
              <a:chOff x="665154" y="3642070"/>
              <a:chExt cx="8640559" cy="534949"/>
            </a:xfrm>
          </p:grpSpPr>
          <p:grpSp>
            <p:nvGrpSpPr>
              <p:cNvPr id="45" name="그룹 44">
                <a:extLst>
                  <a:ext uri="{FF2B5EF4-FFF2-40B4-BE49-F238E27FC236}">
                    <a16:creationId xmlns:a16="http://schemas.microsoft.com/office/drawing/2014/main" id="{A9F32559-9239-466E-9E3C-2B100D82BAFC}"/>
                  </a:ext>
                </a:extLst>
              </p:cNvPr>
              <p:cNvGrpSpPr/>
              <p:nvPr/>
            </p:nvGrpSpPr>
            <p:grpSpPr>
              <a:xfrm>
                <a:off x="665154" y="3642070"/>
                <a:ext cx="2918106" cy="292387"/>
                <a:chOff x="732985" y="5582396"/>
                <a:chExt cx="2918106" cy="302131"/>
              </a:xfrm>
            </p:grpSpPr>
            <p:pic>
              <p:nvPicPr>
                <p:cNvPr id="47" name="Picture 2" descr="Byte - Free electronics icons">
                  <a:extLst>
                    <a:ext uri="{FF2B5EF4-FFF2-40B4-BE49-F238E27FC236}">
                      <a16:creationId xmlns:a16="http://schemas.microsoft.com/office/drawing/2014/main" id="{6AB32BE8-3EE0-401E-BE62-088A1C9FCED3}"/>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2D936455-8905-4B28-AF48-A3C1165555A3}"/>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6" name="TextBox 45">
                <a:extLst>
                  <a:ext uri="{FF2B5EF4-FFF2-40B4-BE49-F238E27FC236}">
                    <a16:creationId xmlns:a16="http://schemas.microsoft.com/office/drawing/2014/main" id="{9E732E5D-0905-4407-BC4C-F349B0954100}"/>
                  </a:ext>
                </a:extLst>
              </p:cNvPr>
              <p:cNvSpPr txBox="1"/>
              <p:nvPr/>
            </p:nvSpPr>
            <p:spPr>
              <a:xfrm>
                <a:off x="1024575" y="39769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Drop the rows where one or more missing values are found.</a:t>
                </a:r>
                <a:endParaRPr lang="ko-KR" altLang="en-US" sz="1300" dirty="0">
                  <a:solidFill>
                    <a:prstClr val="black">
                      <a:lumMod val="85000"/>
                      <a:lumOff val="15000"/>
                    </a:prstClr>
                  </a:solidFill>
                  <a:latin typeface="SamsungOne 400" panose="020B0503030303020204" pitchFamily="34" charset="0"/>
                </a:endParaRPr>
              </a:p>
            </p:txBody>
          </p:sp>
        </p:grpSp>
      </p:grpSp>
    </p:spTree>
    <p:extLst>
      <p:ext uri="{BB962C8B-B14F-4D97-AF65-F5344CB8AC3E}">
        <p14:creationId xmlns:p14="http://schemas.microsoft.com/office/powerpoint/2010/main" val="1346471660"/>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7E5CE6DE-B3BB-405C-8359-83C1C5FF6030}"/>
              </a:ext>
            </a:extLst>
          </p:cNvPr>
          <p:cNvGrpSpPr/>
          <p:nvPr/>
        </p:nvGrpSpPr>
        <p:grpSpPr>
          <a:xfrm>
            <a:off x="558396" y="1628801"/>
            <a:ext cx="8782050" cy="1692898"/>
            <a:chOff x="558396" y="1628801"/>
            <a:chExt cx="8782050" cy="1692898"/>
          </a:xfrm>
        </p:grpSpPr>
        <p:sp>
          <p:nvSpPr>
            <p:cNvPr id="33" name="모서리가 둥근 직사각형 4">
              <a:extLst>
                <a:ext uri="{FF2B5EF4-FFF2-40B4-BE49-F238E27FC236}">
                  <a16:creationId xmlns:a16="http://schemas.microsoft.com/office/drawing/2014/main" id="{38C9E3A6-821A-4D70-AE4E-B2E6542B92B2}"/>
                </a:ext>
              </a:extLst>
            </p:cNvPr>
            <p:cNvSpPr/>
            <p:nvPr/>
          </p:nvSpPr>
          <p:spPr>
            <a:xfrm>
              <a:off x="558396" y="1628801"/>
              <a:ext cx="8782050" cy="16928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latin typeface="SamsungOne 400" panose="020B0503030303020204" pitchFamily="34" charset="0"/>
                </a:rPr>
                <a:t> </a:t>
              </a:r>
              <a:endParaRPr lang="ko-KR" altLang="en-US" dirty="0">
                <a:latin typeface="SamsungOne 400" panose="020B0503030303020204" pitchFamily="34" charset="0"/>
              </a:endParaRPr>
            </a:p>
          </p:txBody>
        </p:sp>
        <p:pic>
          <p:nvPicPr>
            <p:cNvPr id="2" name="그림 1"/>
            <p:cNvPicPr>
              <a:picLocks noChangeAspect="1"/>
            </p:cNvPicPr>
            <p:nvPr/>
          </p:nvPicPr>
          <p:blipFill rotWithShape="1">
            <a:blip r:embed="rId3"/>
            <a:srcRect r="22064"/>
            <a:stretch/>
          </p:blipFill>
          <p:spPr>
            <a:xfrm>
              <a:off x="620159" y="1690198"/>
              <a:ext cx="8719535" cy="1603067"/>
            </a:xfrm>
            <a:prstGeom prst="rect">
              <a:avLst/>
            </a:prstGeom>
          </p:spPr>
        </p:pic>
      </p:grpSp>
      <p:grpSp>
        <p:nvGrpSpPr>
          <p:cNvPr id="26" name="그룹 25">
            <a:extLst>
              <a:ext uri="{FF2B5EF4-FFF2-40B4-BE49-F238E27FC236}">
                <a16:creationId xmlns:a16="http://schemas.microsoft.com/office/drawing/2014/main" id="{47845FA7-473B-4E4D-ABD9-70301E296824}"/>
              </a:ext>
            </a:extLst>
          </p:cNvPr>
          <p:cNvGrpSpPr/>
          <p:nvPr/>
        </p:nvGrpSpPr>
        <p:grpSpPr>
          <a:xfrm>
            <a:off x="450000" y="355025"/>
            <a:ext cx="9033082" cy="492443"/>
            <a:chOff x="450000" y="448335"/>
            <a:chExt cx="9033082" cy="492443"/>
          </a:xfrm>
        </p:grpSpPr>
        <p:sp>
          <p:nvSpPr>
            <p:cNvPr id="27" name="직사각형 26">
              <a:extLst>
                <a:ext uri="{FF2B5EF4-FFF2-40B4-BE49-F238E27FC236}">
                  <a16:creationId xmlns:a16="http://schemas.microsoft.com/office/drawing/2014/main" id="{5DEF3844-DB0F-4BEB-AB02-4915E770D726}"/>
                </a:ext>
              </a:extLst>
            </p:cNvPr>
            <p:cNvSpPr/>
            <p:nvPr/>
          </p:nvSpPr>
          <p:spPr>
            <a:xfrm>
              <a:off x="450000" y="448335"/>
              <a:ext cx="7885788" cy="492443"/>
            </a:xfrm>
            <a:prstGeom prst="rect">
              <a:avLst/>
            </a:prstGeom>
          </p:spPr>
          <p:txBody>
            <a:bodyPr wrap="square" lIns="0" tIns="0" rIns="0" bIns="0">
              <a:spAutoFit/>
            </a:bodyPr>
            <a:lstStyle/>
            <a:p>
              <a:pPr marL="336550" indent="-336550" defTabSz="457187">
                <a:defRPr/>
              </a:pPr>
              <a:r>
                <a:rPr lang="en-US" altLang="ko-KR" sz="1600" dirty="0">
                  <a:solidFill>
                    <a:prstClr val="white"/>
                  </a:solidFill>
                  <a:latin typeface="SamsungSharpSans-Medium" pitchFamily="2" charset="0"/>
                  <a:cs typeface="SamsungSharpSans-Medium" pitchFamily="2" charset="0"/>
                </a:rPr>
                <a:t>2.5. Examining the Characteristics of Data Through Descriptive Statistics and Data Samples</a:t>
              </a:r>
              <a:endParaRPr lang="ko-KR" altLang="en-US" sz="1600" dirty="0">
                <a:solidFill>
                  <a:prstClr val="white"/>
                </a:solidFill>
                <a:latin typeface="SamsungSharpSans-Medium" pitchFamily="2" charset="0"/>
                <a:cs typeface="SamsungSharpSans-Medium" pitchFamily="2" charset="0"/>
              </a:endParaRPr>
            </a:p>
          </p:txBody>
        </p:sp>
        <p:sp>
          <p:nvSpPr>
            <p:cNvPr id="28" name="직사각형 27">
              <a:extLst>
                <a:ext uri="{FF2B5EF4-FFF2-40B4-BE49-F238E27FC236}">
                  <a16:creationId xmlns:a16="http://schemas.microsoft.com/office/drawing/2014/main" id="{AF8B754F-070B-4FEF-AAD7-F35ACA3C8F75}"/>
                </a:ext>
              </a:extLst>
            </p:cNvPr>
            <p:cNvSpPr/>
            <p:nvPr/>
          </p:nvSpPr>
          <p:spPr>
            <a:xfrm>
              <a:off x="8689543" y="46071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SharpSans-Medium" pitchFamily="2" charset="0"/>
                  <a:ea typeface="SamsungSharpSans-Medium" pitchFamily="2" charset="0"/>
                  <a:cs typeface="SamsungSharpSans-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
        <p:nvSpPr>
          <p:cNvPr id="29" name="직사각형 28">
            <a:extLst>
              <a:ext uri="{FF2B5EF4-FFF2-40B4-BE49-F238E27FC236}">
                <a16:creationId xmlns:a16="http://schemas.microsoft.com/office/drawing/2014/main" id="{17FF6241-CB1A-4063-B8A0-9BDCE15CC9BE}"/>
              </a:ext>
            </a:extLst>
          </p:cNvPr>
          <p:cNvSpPr/>
          <p:nvPr/>
        </p:nvSpPr>
        <p:spPr>
          <a:xfrm>
            <a:off x="580388" y="1340768"/>
            <a:ext cx="888761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detection and processing.</a:t>
            </a:r>
          </a:p>
        </p:txBody>
      </p:sp>
      <p:grpSp>
        <p:nvGrpSpPr>
          <p:cNvPr id="4" name="그룹 3">
            <a:extLst>
              <a:ext uri="{FF2B5EF4-FFF2-40B4-BE49-F238E27FC236}">
                <a16:creationId xmlns:a16="http://schemas.microsoft.com/office/drawing/2014/main" id="{E77D7934-47AF-4760-8F8F-8574F2C1B65B}"/>
              </a:ext>
            </a:extLst>
          </p:cNvPr>
          <p:cNvGrpSpPr/>
          <p:nvPr/>
        </p:nvGrpSpPr>
        <p:grpSpPr>
          <a:xfrm>
            <a:off x="557644" y="3419669"/>
            <a:ext cx="8782050" cy="1908111"/>
            <a:chOff x="557644" y="3419669"/>
            <a:chExt cx="8782050" cy="1908111"/>
          </a:xfrm>
        </p:grpSpPr>
        <p:sp>
          <p:nvSpPr>
            <p:cNvPr id="17" name="모서리가 둥근 직사각형 4">
              <a:extLst>
                <a:ext uri="{FF2B5EF4-FFF2-40B4-BE49-F238E27FC236}">
                  <a16:creationId xmlns:a16="http://schemas.microsoft.com/office/drawing/2014/main" id="{C3569CBD-5212-483A-A582-6794A42BDB63}"/>
                </a:ext>
              </a:extLst>
            </p:cNvPr>
            <p:cNvSpPr/>
            <p:nvPr/>
          </p:nvSpPr>
          <p:spPr>
            <a:xfrm>
              <a:off x="557644" y="3419669"/>
              <a:ext cx="8782050" cy="190811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8" name="그룹 17">
              <a:extLst>
                <a:ext uri="{FF2B5EF4-FFF2-40B4-BE49-F238E27FC236}">
                  <a16:creationId xmlns:a16="http://schemas.microsoft.com/office/drawing/2014/main" id="{F18919BF-DD65-4EDD-8E99-5FA6C053E53B}"/>
                </a:ext>
              </a:extLst>
            </p:cNvPr>
            <p:cNvGrpSpPr/>
            <p:nvPr/>
          </p:nvGrpSpPr>
          <p:grpSpPr>
            <a:xfrm>
              <a:off x="665154" y="3512570"/>
              <a:ext cx="2918106" cy="292387"/>
              <a:chOff x="732985" y="5582396"/>
              <a:chExt cx="2918106" cy="302131"/>
            </a:xfrm>
          </p:grpSpPr>
          <p:pic>
            <p:nvPicPr>
              <p:cNvPr id="20" name="Picture 2" descr="Byte - Free electronics icons">
                <a:extLst>
                  <a:ext uri="{FF2B5EF4-FFF2-40B4-BE49-F238E27FC236}">
                    <a16:creationId xmlns:a16="http://schemas.microsoft.com/office/drawing/2014/main" id="{E5CD2B9E-5402-4FD3-BC25-18C76183AF0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E836FE5-4E63-409C-97E4-2898B815970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19" name="TextBox 18">
              <a:extLst>
                <a:ext uri="{FF2B5EF4-FFF2-40B4-BE49-F238E27FC236}">
                  <a16:creationId xmlns:a16="http://schemas.microsoft.com/office/drawing/2014/main" id="{0800EE66-B78E-4CCD-A49E-31BBE412C7F6}"/>
                </a:ext>
              </a:extLst>
            </p:cNvPr>
            <p:cNvSpPr txBox="1"/>
            <p:nvPr/>
          </p:nvSpPr>
          <p:spPr>
            <a:xfrm>
              <a:off x="1024575" y="38474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Drop the columns where one or more missing values are found.</a:t>
              </a:r>
              <a:endParaRPr lang="ko-KR" altLang="en-US" sz="1300" dirty="0">
                <a:solidFill>
                  <a:prstClr val="black">
                    <a:lumMod val="85000"/>
                    <a:lumOff val="15000"/>
                  </a:prstClr>
                </a:solidFill>
                <a:latin typeface="SamsungOne 400" panose="020B0503030303020204" pitchFamily="34" charset="0"/>
              </a:endParaRPr>
            </a:p>
          </p:txBody>
        </p:sp>
        <p:grpSp>
          <p:nvGrpSpPr>
            <p:cNvPr id="34" name="그룹 33">
              <a:extLst>
                <a:ext uri="{FF2B5EF4-FFF2-40B4-BE49-F238E27FC236}">
                  <a16:creationId xmlns:a16="http://schemas.microsoft.com/office/drawing/2014/main" id="{130F43D1-AAAE-4586-BA1E-9B10D87FA787}"/>
                </a:ext>
              </a:extLst>
            </p:cNvPr>
            <p:cNvGrpSpPr/>
            <p:nvPr/>
          </p:nvGrpSpPr>
          <p:grpSpPr>
            <a:xfrm>
              <a:off x="665154" y="4101368"/>
              <a:ext cx="8640559" cy="534949"/>
              <a:chOff x="665154" y="3642070"/>
              <a:chExt cx="8640559" cy="534949"/>
            </a:xfrm>
          </p:grpSpPr>
          <p:grpSp>
            <p:nvGrpSpPr>
              <p:cNvPr id="35" name="그룹 34">
                <a:extLst>
                  <a:ext uri="{FF2B5EF4-FFF2-40B4-BE49-F238E27FC236}">
                    <a16:creationId xmlns:a16="http://schemas.microsoft.com/office/drawing/2014/main" id="{55079EF9-2934-4494-9858-D01284BAB7B4}"/>
                  </a:ext>
                </a:extLst>
              </p:cNvPr>
              <p:cNvGrpSpPr/>
              <p:nvPr/>
            </p:nvGrpSpPr>
            <p:grpSpPr>
              <a:xfrm>
                <a:off x="665154" y="3642070"/>
                <a:ext cx="2918106" cy="292387"/>
                <a:chOff x="732985" y="5582396"/>
                <a:chExt cx="2918106" cy="302131"/>
              </a:xfrm>
            </p:grpSpPr>
            <p:pic>
              <p:nvPicPr>
                <p:cNvPr id="37" name="Picture 2" descr="Byte - Free electronics icons">
                  <a:extLst>
                    <a:ext uri="{FF2B5EF4-FFF2-40B4-BE49-F238E27FC236}">
                      <a16:creationId xmlns:a16="http://schemas.microsoft.com/office/drawing/2014/main" id="{0805DB7C-D0DF-4CB5-BA91-8BCBF962E9D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E1FF3C16-910F-4098-83CF-6E81AF5E70F8}"/>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36" name="TextBox 35">
                <a:extLst>
                  <a:ext uri="{FF2B5EF4-FFF2-40B4-BE49-F238E27FC236}">
                    <a16:creationId xmlns:a16="http://schemas.microsoft.com/office/drawing/2014/main" id="{CBE9E60E-A169-41FE-A953-E72E911D711F}"/>
                  </a:ext>
                </a:extLst>
              </p:cNvPr>
              <p:cNvSpPr txBox="1"/>
              <p:nvPr/>
            </p:nvSpPr>
            <p:spPr>
              <a:xfrm>
                <a:off x="1024575" y="39769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Drop the rows with less than 3 normal values.</a:t>
                </a:r>
                <a:endParaRPr lang="ko-KR" altLang="en-US" sz="1300" dirty="0">
                  <a:solidFill>
                    <a:prstClr val="black">
                      <a:lumMod val="85000"/>
                      <a:lumOff val="15000"/>
                    </a:prstClr>
                  </a:solidFill>
                  <a:latin typeface="SamsungOne 400" panose="020B0503030303020204" pitchFamily="34" charset="0"/>
                </a:endParaRPr>
              </a:p>
            </p:txBody>
          </p:sp>
        </p:grpSp>
        <p:grpSp>
          <p:nvGrpSpPr>
            <p:cNvPr id="39" name="그룹 38">
              <a:extLst>
                <a:ext uri="{FF2B5EF4-FFF2-40B4-BE49-F238E27FC236}">
                  <a16:creationId xmlns:a16="http://schemas.microsoft.com/office/drawing/2014/main" id="{6E65CAB3-5C85-4A23-B194-BA2E6DCAD597}"/>
                </a:ext>
              </a:extLst>
            </p:cNvPr>
            <p:cNvGrpSpPr/>
            <p:nvPr/>
          </p:nvGrpSpPr>
          <p:grpSpPr>
            <a:xfrm>
              <a:off x="665154" y="4672572"/>
              <a:ext cx="8640559" cy="534949"/>
              <a:chOff x="665154" y="3642070"/>
              <a:chExt cx="8640559" cy="534949"/>
            </a:xfrm>
          </p:grpSpPr>
          <p:grpSp>
            <p:nvGrpSpPr>
              <p:cNvPr id="40" name="그룹 39">
                <a:extLst>
                  <a:ext uri="{FF2B5EF4-FFF2-40B4-BE49-F238E27FC236}">
                    <a16:creationId xmlns:a16="http://schemas.microsoft.com/office/drawing/2014/main" id="{21A90E21-36E2-4B1D-B33E-6F18704D3C72}"/>
                  </a:ext>
                </a:extLst>
              </p:cNvPr>
              <p:cNvGrpSpPr/>
              <p:nvPr/>
            </p:nvGrpSpPr>
            <p:grpSpPr>
              <a:xfrm>
                <a:off x="665154" y="3642070"/>
                <a:ext cx="2918106" cy="292387"/>
                <a:chOff x="732985" y="5582396"/>
                <a:chExt cx="2918106" cy="302131"/>
              </a:xfrm>
            </p:grpSpPr>
            <p:pic>
              <p:nvPicPr>
                <p:cNvPr id="42" name="Picture 2" descr="Byte - Free electronics icons">
                  <a:extLst>
                    <a:ext uri="{FF2B5EF4-FFF2-40B4-BE49-F238E27FC236}">
                      <a16:creationId xmlns:a16="http://schemas.microsoft.com/office/drawing/2014/main" id="{5C41412C-3A9C-4700-9ABD-35A95EF98F3A}"/>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32985" y="56058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E7A65C93-BBCB-4779-B517-4808C4C77191}"/>
                    </a:ext>
                  </a:extLst>
                </p:cNvPr>
                <p:cNvSpPr txBox="1"/>
                <p:nvPr/>
              </p:nvSpPr>
              <p:spPr>
                <a:xfrm>
                  <a:off x="991766" y="5582396"/>
                  <a:ext cx="2659325" cy="302131"/>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grpSp>
          <p:sp>
            <p:nvSpPr>
              <p:cNvPr id="41" name="TextBox 40">
                <a:extLst>
                  <a:ext uri="{FF2B5EF4-FFF2-40B4-BE49-F238E27FC236}">
                    <a16:creationId xmlns:a16="http://schemas.microsoft.com/office/drawing/2014/main" id="{27F62231-B446-4FAA-B3CA-E2AD20693E88}"/>
                  </a:ext>
                </a:extLst>
              </p:cNvPr>
              <p:cNvSpPr txBox="1"/>
              <p:nvPr/>
            </p:nvSpPr>
            <p:spPr>
              <a:xfrm>
                <a:off x="1024575" y="3976964"/>
                <a:ext cx="8281138"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ahoma" panose="020B0604030504040204" pitchFamily="34" charset="0"/>
                  </a:rPr>
                  <a:t>Fill the missing values with 0.</a:t>
                </a:r>
                <a:endParaRPr lang="ko-KR" altLang="en-US" sz="1300" dirty="0">
                  <a:solidFill>
                    <a:prstClr val="black">
                      <a:lumMod val="85000"/>
                      <a:lumOff val="15000"/>
                    </a:prstClr>
                  </a:solidFill>
                  <a:latin typeface="SamsungOne 400" panose="020B0503030303020204" pitchFamily="34" charset="0"/>
                </a:endParaRPr>
              </a:p>
            </p:txBody>
          </p:sp>
        </p:grpSp>
      </p:grpSp>
    </p:spTree>
    <p:extLst>
      <p:ext uri="{BB962C8B-B14F-4D97-AF65-F5344CB8AC3E}">
        <p14:creationId xmlns:p14="http://schemas.microsoft.com/office/powerpoint/2010/main" val="2527366014"/>
      </p:ext>
    </p:extLst>
  </p:cSld>
  <p:clrMapOvr>
    <a:masterClrMapping/>
  </p:clrMapOvr>
</p:sld>
</file>

<file path=ppt/theme/theme1.xml><?xml version="1.0" encoding="utf-8"?>
<a:theme xmlns:a="http://schemas.openxmlformats.org/drawingml/2006/main" name="SIC_Template_AI">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380271A0ADD9D41958F941CC4FAD6EA" ma:contentTypeVersion="11" ma:contentTypeDescription="Create a new document." ma:contentTypeScope="" ma:versionID="e5f945425305af6f75b51a08ee849767">
  <xsd:schema xmlns:xsd="http://www.w3.org/2001/XMLSchema" xmlns:xs="http://www.w3.org/2001/XMLSchema" xmlns:p="http://schemas.microsoft.com/office/2006/metadata/properties" xmlns:ns2="878c1438-30d9-4a75-9686-8cc774bca061" xmlns:ns3="27a7aac7-e5ba-4700-ac46-3b2ab3341c5b" targetNamespace="http://schemas.microsoft.com/office/2006/metadata/properties" ma:root="true" ma:fieldsID="9f568fcfd9d0aa9d241d624b2ff951df" ns2:_="" ns3:_="">
    <xsd:import namespace="878c1438-30d9-4a75-9686-8cc774bca061"/>
    <xsd:import namespace="27a7aac7-e5ba-4700-ac46-3b2ab3341c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8c1438-30d9-4a75-9686-8cc774bca0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c73b4be-bf3d-47be-b06d-dcb1511cbed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a7aac7-e5ba-4700-ac46-3b2ab3341c5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661931b-e689-47c5-bd42-dc91ba47aa63}" ma:internalName="TaxCatchAll" ma:showField="CatchAllData" ma:web="27a7aac7-e5ba-4700-ac46-3b2ab3341c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7a7aac7-e5ba-4700-ac46-3b2ab3341c5b" xsi:nil="true"/>
    <lcf76f155ced4ddcb4097134ff3c332f xmlns="878c1438-30d9-4a75-9686-8cc774bca06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228A914-FDBF-4EC7-9BDE-7D8FC24F02AF}">
  <ds:schemaRefs>
    <ds:schemaRef ds:uri="http://schemas.microsoft.com/sharepoint/v3/contenttype/forms"/>
  </ds:schemaRefs>
</ds:datastoreItem>
</file>

<file path=customXml/itemProps2.xml><?xml version="1.0" encoding="utf-8"?>
<ds:datastoreItem xmlns:ds="http://schemas.openxmlformats.org/officeDocument/2006/customXml" ds:itemID="{74A4DD93-B6A2-46C5-B794-AF5CAABB41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8c1438-30d9-4a75-9686-8cc774bca061"/>
    <ds:schemaRef ds:uri="27a7aac7-e5ba-4700-ac46-3b2ab3341c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7FAEBA-8936-4157-AFE1-B5DF4E043CE5}">
  <ds:schemaRefs>
    <ds:schemaRef ds:uri="http://schemas.microsoft.com/office/2006/metadata/properties"/>
    <ds:schemaRef ds:uri="http://schemas.microsoft.com/office/infopath/2007/PartnerControls"/>
    <ds:schemaRef ds:uri="27a7aac7-e5ba-4700-ac46-3b2ab3341c5b"/>
    <ds:schemaRef ds:uri="878c1438-30d9-4a75-9686-8cc774bca061"/>
  </ds:schemaRefs>
</ds:datastoreItem>
</file>

<file path=docProps/app.xml><?xml version="1.0" encoding="utf-8"?>
<Properties xmlns="http://schemas.openxmlformats.org/officeDocument/2006/extended-properties" xmlns:vt="http://schemas.openxmlformats.org/officeDocument/2006/docPropsVTypes">
  <Template>AI 0201-Python Libraries v1_Content Commented</Template>
  <TotalTime>40490</TotalTime>
  <Words>14497</Words>
  <Application>Microsoft Office PowerPoint</Application>
  <PresentationFormat>Custom</PresentationFormat>
  <Paragraphs>2613</Paragraphs>
  <Slides>304</Slides>
  <Notes>304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304</vt:i4>
      </vt:variant>
    </vt:vector>
  </HeadingPairs>
  <TitlesOfParts>
    <vt:vector size="318" baseType="lpstr">
      <vt:lpstr>Arial</vt:lpstr>
      <vt:lpstr>SamsungOne-400</vt:lpstr>
      <vt:lpstr>SamsungOne 700</vt:lpstr>
      <vt:lpstr>맑은 고딕</vt:lpstr>
      <vt:lpstr>D2Coding</vt:lpstr>
      <vt:lpstr>SamsungOne-700</vt:lpstr>
      <vt:lpstr>SamsungOne 400C</vt:lpstr>
      <vt:lpstr>Cambria Math</vt:lpstr>
      <vt:lpstr>Samsung Sharp Sans</vt:lpstr>
      <vt:lpstr>SamsungOne 400</vt:lpstr>
      <vt:lpstr>SamsungSharpSans-Medium</vt:lpstr>
      <vt:lpstr>Samsung Sharp Sans Bold</vt:lpstr>
      <vt:lpstr>SIC_Template_AI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BNU</dc:creator>
  <cp:keywords/>
  <dc:description/>
  <cp:lastModifiedBy>BNU</cp:lastModifiedBy>
  <cp:revision>913</cp:revision>
  <dcterms:created xsi:type="dcterms:W3CDTF">2019-08-14T11:07:19Z</dcterms:created>
  <dcterms:modified xsi:type="dcterms:W3CDTF">2025-02-19T06:12:21Z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0x010100A380271A0ADD9D41958F941CC4FAD6EA</vt:lpwstr>
  </property>
</Properties>
</file>