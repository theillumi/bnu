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28"/>
  </p:notesMasterIdLst>
  <p:sldIdLst>
    <p:sldId id="256" r:id="rId5"/>
    <p:sldId id="618" r:id="rId6"/>
    <p:sldId id="634" r:id="rId7"/>
    <p:sldId id="636" r:id="rId8"/>
    <p:sldId id="645" r:id="rId9"/>
    <p:sldId id="646" r:id="rId10"/>
    <p:sldId id="647" r:id="rId11"/>
    <p:sldId id="648" r:id="rId12"/>
    <p:sldId id="649" r:id="rId13"/>
    <p:sldId id="650" r:id="rId14"/>
    <p:sldId id="651" r:id="rId15"/>
    <p:sldId id="652" r:id="rId16"/>
    <p:sldId id="653" r:id="rId17"/>
    <p:sldId id="654" r:id="rId18"/>
    <p:sldId id="655" r:id="rId19"/>
    <p:sldId id="656" r:id="rId20"/>
    <p:sldId id="657" r:id="rId21"/>
    <p:sldId id="658" r:id="rId22"/>
    <p:sldId id="659" r:id="rId23"/>
    <p:sldId id="660" r:id="rId24"/>
    <p:sldId id="661" r:id="rId25"/>
    <p:sldId id="662" r:id="rId26"/>
    <p:sldId id="37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18</a:t>
            </a:r>
            <a:endParaRPr lang="en-US" sz="24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(CSC-236)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5870"/>
            <a:ext cx="8229600" cy="5306060"/>
          </a:xfrm>
        </p:spPr>
        <p:txBody>
          <a:bodyPr/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Register Limitations</a:t>
            </a:r>
            <a:endParaRPr lang="en-US">
              <a:solidFill>
                <a:srgbClr val="FF0000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Only 7 general-purpose registers are available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/>
              <a:t>Subroutines + nested calls can clash on register use</a:t>
            </a:r>
            <a:endParaRPr lang="en-US" sz="2000"/>
          </a:p>
          <a:p>
            <a:r>
              <a:rPr lang="en-US" sz="2000"/>
              <a:t>Registers are fast, but not scalable</a:t>
            </a:r>
            <a:endParaRPr lang="en-US" sz="2000"/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  <a:sym typeface="+mn-ea"/>
              </a:rPr>
              <a:t>Stack: A Better Alternative</a:t>
            </a:r>
            <a:endParaRPr lang="en-US">
              <a:solidFill>
                <a:srgbClr val="FF0000"/>
              </a:solidFill>
            </a:endParaRPr>
          </a:p>
          <a:p>
            <a:r>
              <a:rPr lang="en-US" sz="2000">
                <a:sym typeface="+mn-ea"/>
              </a:rPr>
              <a:t>Parameters stay in memory across function calls</a:t>
            </a:r>
            <a:endParaRPr lang="en-US" sz="2000">
              <a:sym typeface="+mn-ea"/>
            </a:endParaRPr>
          </a:p>
          <a:p>
            <a:r>
              <a:rPr lang="en-US" sz="2000"/>
              <a:t>Stack automatically stores:</a:t>
            </a:r>
            <a:endParaRPr lang="en-US" sz="2000"/>
          </a:p>
          <a:p>
            <a:pPr lvl="1"/>
            <a:r>
              <a:rPr lang="en-US" sz="1845"/>
              <a:t>Return Address (via CALL)</a:t>
            </a:r>
            <a:endParaRPr lang="en-US" sz="1845"/>
          </a:p>
          <a:p>
            <a:pPr lvl="1"/>
            <a:r>
              <a:rPr lang="en-US" sz="1845"/>
              <a:t>Parameters (pushed before CALL)</a:t>
            </a:r>
            <a:endParaRPr lang="en-US" sz="1845"/>
          </a:p>
          <a:p>
            <a:pPr marL="0" algn="l">
              <a:buNone/>
            </a:pPr>
            <a:r>
              <a:rPr lang="en-US" sz="2600">
                <a:solidFill>
                  <a:srgbClr val="FF0000"/>
                </a:solidFill>
              </a:rPr>
              <a:t>Problem</a:t>
            </a:r>
            <a:endParaRPr lang="en-US" sz="26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45">
                <a:sym typeface="+mn-ea"/>
              </a:rPr>
              <a:t>First thing on top of stack = return address</a:t>
            </a:r>
            <a:endParaRPr lang="en-US" sz="1845">
              <a:sym typeface="+mn-ea"/>
            </a:endParaRPr>
          </a:p>
          <a:p>
            <a:pPr marL="0" indent="0">
              <a:buNone/>
            </a:pPr>
            <a:r>
              <a:rPr lang="en-US" sz="1845">
                <a:sym typeface="+mn-ea"/>
              </a:rPr>
              <a:t>Can’t pop parameters without messing up return flow</a:t>
            </a:r>
            <a:endParaRPr lang="en-US" sz="1845">
              <a:sym typeface="+mn-ea"/>
            </a:endParaRPr>
          </a:p>
          <a:p>
            <a:pPr marL="0" indent="0">
              <a:buNone/>
            </a:pPr>
            <a:endParaRPr lang="en-US" sz="1845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84225"/>
          </a:xfrm>
        </p:spPr>
        <p:txBody>
          <a:bodyPr>
            <a:normAutofit fontScale="90000"/>
          </a:bodyPr>
          <a:p>
            <a:r>
              <a:rPr lang="en-US" sz="3110"/>
              <a:t>5.5. PARAMETER PASSING THROUGH STACK</a:t>
            </a:r>
            <a:endParaRPr lang="en-US" sz="31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859790"/>
            <a:ext cx="8229600" cy="5692140"/>
          </a:xfrm>
        </p:spPr>
        <p:txBody>
          <a:bodyPr>
            <a:normAutofit lnSpcReduction="10000"/>
          </a:bodyPr>
          <a:p>
            <a:pPr marL="0" algn="l">
              <a:buNone/>
            </a:pPr>
            <a:r>
              <a:rPr lang="en-US" sz="2000">
                <a:solidFill>
                  <a:srgbClr val="FF0000"/>
                </a:solidFill>
              </a:rPr>
              <a:t>Solution – Accessing Stack Parameters Safely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/>
              <a:t>Problem with POP:</a:t>
            </a:r>
            <a:endParaRPr lang="en-US" sz="2000"/>
          </a:p>
          <a:p>
            <a:r>
              <a:rPr lang="en-US" sz="2000"/>
              <a:t>To get parameters:</a:t>
            </a:r>
            <a:endParaRPr lang="en-US" sz="2000"/>
          </a:p>
          <a:p>
            <a:pPr lvl="1"/>
            <a:r>
              <a:rPr lang="en-US" sz="1845"/>
              <a:t>Must POP return address first</a:t>
            </a:r>
            <a:endParaRPr lang="en-US" sz="1845"/>
          </a:p>
          <a:p>
            <a:pPr lvl="1"/>
            <a:r>
              <a:rPr lang="en-US" sz="1845"/>
              <a:t>Then POP parameters</a:t>
            </a:r>
            <a:endParaRPr lang="en-US" sz="1845"/>
          </a:p>
          <a:p>
            <a:pPr lvl="1"/>
            <a:r>
              <a:rPr lang="en-US" sz="1845"/>
              <a:t>Then PUSH return address back</a:t>
            </a:r>
            <a:endParaRPr lang="en-US" sz="1845"/>
          </a:p>
          <a:p>
            <a:r>
              <a:rPr lang="en-US" sz="2000"/>
              <a:t>Too messy, error-prone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FF0000"/>
                </a:solidFill>
                <a:sym typeface="+mn-ea"/>
              </a:rPr>
              <a:t>Elegant Fix: Use BP (Base Pointer)</a:t>
            </a:r>
            <a:endParaRPr lang="en-US" sz="2000">
              <a:solidFill>
                <a:srgbClr val="FF0000"/>
              </a:solidFill>
              <a:sym typeface="+mn-ea"/>
            </a:endParaRPr>
          </a:p>
          <a:p>
            <a:r>
              <a:rPr lang="en-US" sz="2000">
                <a:sym typeface="+mn-ea"/>
              </a:rPr>
              <a:t>BP can peek into the stack without modifying it</a:t>
            </a:r>
            <a:endParaRPr lang="en-US" sz="2000">
              <a:sym typeface="+mn-ea"/>
            </a:endParaRPr>
          </a:p>
          <a:p>
            <a:r>
              <a:rPr lang="en-US" sz="2000">
                <a:sym typeface="+mn-ea"/>
              </a:rPr>
              <a:t>SP can’t be used in effective address — it’s unstable</a:t>
            </a:r>
            <a:endParaRPr lang="en-US" sz="2000">
              <a:sym typeface="+mn-ea"/>
            </a:endParaRPr>
          </a:p>
          <a:p>
            <a:r>
              <a:rPr lang="en-US" sz="2000">
                <a:sym typeface="+mn-ea"/>
              </a:rPr>
              <a:t>BP = safe, reliable, snapshot of current stack frame</a:t>
            </a:r>
            <a:endParaRPr lang="en-US" sz="2000">
              <a:sym typeface="+mn-ea"/>
            </a:endParaRPr>
          </a:p>
          <a:p>
            <a:pPr marL="0" indent="0">
              <a:buNone/>
            </a:pPr>
            <a:endParaRPr lang="en-US" sz="1845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725805"/>
          </a:xfrm>
        </p:spPr>
        <p:txBody>
          <a:bodyPr>
            <a:normAutofit fontScale="90000"/>
          </a:bodyPr>
          <a:p>
            <a:r>
              <a:rPr lang="en-US" sz="3110"/>
              <a:t>5.5. PARAMETER PASSING THROUGH STACK</a:t>
            </a:r>
            <a:endParaRPr lang="en-US" sz="3110"/>
          </a:p>
        </p:txBody>
      </p:sp>
      <p:pic>
        <p:nvPicPr>
          <p:cNvPr id="4" name="Picture 3" descr="Image 19-05-2025 at 12.0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0120" y="4564380"/>
            <a:ext cx="4050665" cy="22313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5386705"/>
          </a:xfrm>
        </p:spPr>
        <p:txBody>
          <a:bodyPr>
            <a:normAutofit lnSpcReduction="10000"/>
          </a:bodyPr>
          <a:p>
            <a:pPr marL="0" algn="l">
              <a:buNone/>
            </a:pPr>
            <a:r>
              <a:rPr lang="en-US" sz="2000">
                <a:solidFill>
                  <a:srgbClr val="FF0000"/>
                </a:solidFill>
              </a:rPr>
              <a:t>Advantages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/>
              <a:t>Can safely read parameters at fixed offsets</a:t>
            </a:r>
            <a:endParaRPr lang="en-US" sz="2000"/>
          </a:p>
          <a:p>
            <a:r>
              <a:rPr lang="en-US" sz="2000">
                <a:sym typeface="+mn-ea"/>
              </a:rPr>
              <a:t>Nesting safe (old BP is preserved)</a:t>
            </a:r>
            <a:endParaRPr lang="en-US" sz="2000">
              <a:sym typeface="+mn-ea"/>
            </a:endParaRPr>
          </a:p>
          <a:p>
            <a:r>
              <a:rPr lang="en-US" sz="2000">
                <a:sym typeface="+mn-ea"/>
              </a:rPr>
              <a:t>Common standard in all structured assembly subroutines</a:t>
            </a:r>
            <a:endParaRPr lang="en-US" sz="2000">
              <a:sym typeface="+mn-ea"/>
            </a:endParaRPr>
          </a:p>
          <a:p>
            <a:pPr marL="0" indent="0"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endParaRPr lang="en-US" sz="1845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784225"/>
          </a:xfrm>
        </p:spPr>
        <p:txBody>
          <a:bodyPr>
            <a:normAutofit fontScale="90000"/>
          </a:bodyPr>
          <a:p>
            <a:r>
              <a:rPr lang="en-US" sz="3110"/>
              <a:t>5.5. PARAMETER PASSING THROUGH STACK</a:t>
            </a:r>
            <a:endParaRPr lang="en-US" sz="311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6-05-2025 at 2.2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0985" y="756285"/>
            <a:ext cx="8646795" cy="5459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30-04-2024 at 1.1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580390"/>
            <a:ext cx="8407400" cy="5477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1.2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886460"/>
            <a:ext cx="8361680" cy="5318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30-04-2024 at 1.3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001395"/>
            <a:ext cx="8229600" cy="4570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1.3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457200"/>
            <a:ext cx="8613140" cy="5041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30-04-2024 at 1.33 PM"/>
          <p:cNvPicPr>
            <a:picLocks noChangeAspect="1"/>
          </p:cNvPicPr>
          <p:nvPr>
            <p:ph idx="1"/>
          </p:nvPr>
        </p:nvPicPr>
        <p:blipFill>
          <a:blip r:embed="rId1"/>
          <a:srcRect b="53534"/>
          <a:stretch>
            <a:fillRect/>
          </a:stretch>
        </p:blipFill>
        <p:spPr>
          <a:xfrm>
            <a:off x="304800" y="1676400"/>
            <a:ext cx="8704580" cy="23666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1.4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768985"/>
            <a:ext cx="8331200" cy="5191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1.5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202690"/>
            <a:ext cx="8229600" cy="4319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30-04-2024 at 1.5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990600"/>
            <a:ext cx="8462645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1.5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049655"/>
            <a:ext cx="8229600" cy="4805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30-04-2024 at 1.5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6865" y="533400"/>
            <a:ext cx="8510270" cy="53994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2.0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066800"/>
            <a:ext cx="8229600" cy="27819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30-04-2024 at 2.0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0995" y="1066800"/>
            <a:ext cx="8554085" cy="40017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2.0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914400"/>
            <a:ext cx="8423275" cy="45078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30-04-2024 at 2.0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143000"/>
            <a:ext cx="8423275" cy="44215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2.0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3380" y="914400"/>
            <a:ext cx="8491220" cy="42932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30-04-2024 at 2.09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685800"/>
            <a:ext cx="8229600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30-04-2024 at 2.1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520825"/>
            <a:ext cx="8229600" cy="38157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1104</Words>
  <Application>WPS Presentation</Application>
  <PresentationFormat>On-screen Show (4:3)</PresentationFormat>
  <Paragraphs>52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SimSun</vt:lpstr>
      <vt:lpstr>Wingdings</vt:lpstr>
      <vt:lpstr>Wingdings 2</vt:lpstr>
      <vt:lpstr>Wingdings 2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1_Paper</vt:lpstr>
      <vt:lpstr>3_Paper</vt:lpstr>
      <vt:lpstr>Computer Organization &amp; Assembly Language (CSC-236)</vt:lpstr>
      <vt:lpstr>5.5. PARAMETER PASSING THROUGH STACK</vt:lpstr>
      <vt:lpstr>5.5. PARAMETER PASSING THROUGH STACK</vt:lpstr>
      <vt:lpstr>5.5. PARAMETER PASSING THROUGH STACK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281</cp:revision>
  <dcterms:created xsi:type="dcterms:W3CDTF">2025-05-26T09:32:44Z</dcterms:created>
  <dcterms:modified xsi:type="dcterms:W3CDTF">2025-05-26T09:32:44Z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