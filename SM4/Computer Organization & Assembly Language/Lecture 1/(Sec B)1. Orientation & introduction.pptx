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3"/>
    <p:sldId id="270" r:id="rId4"/>
    <p:sldId id="257" r:id="rId5"/>
    <p:sldId id="258" r:id="rId6"/>
    <p:sldId id="259" r:id="rId7"/>
    <p:sldId id="285" r:id="rId8"/>
    <p:sldId id="301" r:id="rId9"/>
    <p:sldId id="262" r:id="rId10"/>
    <p:sldId id="260" r:id="rId11"/>
    <p:sldId id="263" r:id="rId12"/>
    <p:sldId id="264" r:id="rId13"/>
    <p:sldId id="265" r:id="rId14"/>
    <p:sldId id="268" r:id="rId15"/>
    <p:sldId id="269" r:id="rId16"/>
    <p:sldId id="271" r:id="rId17"/>
    <p:sldId id="283" r:id="rId18"/>
    <p:sldId id="284" r:id="rId19"/>
    <p:sldId id="302" r:id="rId20"/>
    <p:sldId id="272" r:id="rId21"/>
    <p:sldId id="274" r:id="rId23"/>
    <p:sldId id="278" r:id="rId24"/>
    <p:sldId id="316" r:id="rId25"/>
    <p:sldId id="317" r:id="rId26"/>
    <p:sldId id="318" r:id="rId27"/>
    <p:sldId id="319" r:id="rId28"/>
    <p:sldId id="320" r:id="rId29"/>
    <p:sldId id="323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354DA1-F83B-4989-9ABF-D7CA1B737D0E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7220CD-587B-4CE2-BBC7-05E05C263F2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7220CD-587B-4CE2-BBC7-05E05C263F2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 1: Orientation &amp; Introduction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Computer Organization &amp; Assembly Language</a:t>
            </a:r>
            <a:br>
              <a:rPr lang="en-US" dirty="0" smtClean="0"/>
            </a:br>
            <a:r>
              <a:rPr lang="en-US" smtClean="0"/>
              <a:t>(CSC-205)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mtClean="0"/>
              <a:t>Course Orientation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Introduction to the internal organization of computer systems, including the relationship between</a:t>
            </a:r>
            <a:endParaRPr lang="en-US" dirty="0" smtClean="0"/>
          </a:p>
          <a:p>
            <a:pPr lvl="1"/>
            <a:r>
              <a:rPr lang="en-US" dirty="0" smtClean="0"/>
              <a:t>Computer hardware</a:t>
            </a:r>
            <a:endParaRPr lang="en-US" dirty="0" smtClean="0"/>
          </a:p>
          <a:p>
            <a:pPr lvl="1"/>
            <a:r>
              <a:rPr lang="en-US" dirty="0" smtClean="0"/>
              <a:t>It’s native instruction set</a:t>
            </a:r>
            <a:endParaRPr lang="en-US" dirty="0" smtClean="0"/>
          </a:p>
          <a:p>
            <a:pPr lvl="1"/>
            <a:r>
              <a:rPr lang="en-US" dirty="0" smtClean="0"/>
              <a:t>Implementation of high level languages on that machine</a:t>
            </a:r>
            <a:endParaRPr lang="en-US" dirty="0" smtClean="0"/>
          </a:p>
          <a:p>
            <a:r>
              <a:rPr lang="en-US" dirty="0" smtClean="0"/>
              <a:t>Practical work using the x86 based Microsoft Macro Assembler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mtClean="0"/>
              <a:t>Course Objective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Understanding the process that occurs when high level code is translated into machine code</a:t>
            </a:r>
            <a:endParaRPr lang="en-US" dirty="0" smtClean="0"/>
          </a:p>
          <a:p>
            <a:r>
              <a:rPr lang="en-US" dirty="0" smtClean="0"/>
              <a:t>A better understanding of how code actually works</a:t>
            </a:r>
            <a:endParaRPr lang="en-US" dirty="0" smtClean="0"/>
          </a:p>
          <a:p>
            <a:r>
              <a:rPr lang="en-US" dirty="0" smtClean="0"/>
              <a:t>Ability to program using Intel’s x86 assembly language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mtClean="0"/>
              <a:t>Learning Outcome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mtClean="0"/>
              <a:t>Text Book</a:t>
            </a:r>
            <a:endParaRPr lang="en-US" dirty="0"/>
          </a:p>
        </p:txBody>
      </p:sp>
      <p:pic>
        <p:nvPicPr>
          <p:cNvPr id="2" name="Picture 2" descr="C:\Users\Huda\Desktop\0722170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572000" y="533400"/>
            <a:ext cx="3733800" cy="596631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 Book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6355" y="762000"/>
            <a:ext cx="3962400" cy="57245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229600" cy="1219200"/>
          </a:xfrm>
        </p:spPr>
        <p:txBody>
          <a:bodyPr/>
          <a:p>
            <a:r>
              <a:rPr smtClean="0">
                <a:sym typeface="+mn-ea"/>
              </a:rPr>
              <a:t>Reference Book</a:t>
            </a:r>
            <a:endParaRPr lang="en-US"/>
          </a:p>
        </p:txBody>
      </p:sp>
      <p:pic>
        <p:nvPicPr>
          <p:cNvPr id="3" name="Picture 2" descr="Image 30-01-2024 at 9.55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5950" y="311150"/>
            <a:ext cx="4531995" cy="61779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2 credit hour course</a:t>
            </a:r>
            <a:endParaRPr lang="en-US" dirty="0" smtClean="0"/>
          </a:p>
          <a:p>
            <a:pPr lvl="1"/>
            <a:r>
              <a:rPr lang="en-US" dirty="0" smtClean="0"/>
              <a:t>2 lectures in a week 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mtClean="0"/>
              <a:t>Course Format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400" y="762000"/>
          <a:ext cx="8077200" cy="54840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600"/>
                <a:gridCol w="4038600"/>
              </a:tblGrid>
              <a:tr h="486985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US" dirty="0" smtClean="0"/>
                        <a:t>Lectures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Labs</a:t>
                      </a:r>
                      <a:endParaRPr lang="en-US" dirty="0"/>
                    </a:p>
                  </a:txBody>
                  <a:tcPr/>
                </a:tc>
              </a:tr>
              <a:tr h="1200784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Intro to course</a:t>
                      </a:r>
                      <a:endParaRPr lang="en-US" dirty="0" smtClean="0"/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A sample first</a:t>
                      </a:r>
                      <a:r>
                        <a:rPr lang="en-US" baseline="0" dirty="0" smtClean="0"/>
                        <a:t> program</a:t>
                      </a:r>
                      <a:endParaRPr lang="en-US" baseline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Lab: A sample first program</a:t>
                      </a:r>
                      <a:endParaRPr lang="en-US" dirty="0"/>
                    </a:p>
                  </a:txBody>
                  <a:tcPr/>
                </a:tc>
              </a:tr>
              <a:tr h="840549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Binary, hexadecimal, logic</a:t>
                      </a:r>
                      <a:r>
                        <a:rPr lang="en-US" baseline="0" dirty="0" smtClean="0"/>
                        <a:t> and arithmetic revision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Problem set: Conversion practice</a:t>
                      </a:r>
                      <a:endParaRPr lang="en-US" dirty="0"/>
                    </a:p>
                  </a:txBody>
                  <a:tcPr/>
                </a:tc>
              </a:tr>
              <a:tr h="840549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Variable declaration</a:t>
                      </a:r>
                      <a:endParaRPr lang="en-US" dirty="0" smtClean="0"/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Registers</a:t>
                      </a:r>
                      <a:endParaRPr lang="en-US" dirty="0" smtClean="0"/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Data movement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Lab: Inspecting register and variable values</a:t>
                      </a:r>
                      <a:endParaRPr lang="en-US" dirty="0"/>
                    </a:p>
                  </a:txBody>
                  <a:tcPr/>
                </a:tc>
              </a:tr>
              <a:tr h="840740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Character data</a:t>
                      </a:r>
                      <a:endParaRPr lang="en-US" dirty="0" smtClean="0"/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Errors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Lab: A complete program</a:t>
                      </a:r>
                      <a:endParaRPr lang="en-US" dirty="0"/>
                    </a:p>
                  </a:txBody>
                  <a:tcPr/>
                </a:tc>
              </a:tr>
              <a:tr h="1200784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Input and output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Lab:</a:t>
                      </a:r>
                      <a:r>
                        <a:rPr lang="en-US" baseline="0" dirty="0" smtClean="0"/>
                        <a:t> A complete program using input, data transfer and output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400" y="762000"/>
          <a:ext cx="8077200" cy="54840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600"/>
                <a:gridCol w="4038600"/>
              </a:tblGrid>
              <a:tr h="486985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US" dirty="0" smtClean="0"/>
                        <a:t>Lectures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Labs</a:t>
                      </a:r>
                      <a:endParaRPr lang="en-US" dirty="0"/>
                    </a:p>
                  </a:txBody>
                  <a:tcPr/>
                </a:tc>
              </a:tr>
              <a:tr h="1200784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Arithmetic</a:t>
                      </a:r>
                      <a:r>
                        <a:rPr lang="en-US" baseline="0" dirty="0" smtClean="0"/>
                        <a:t> instructions</a:t>
                      </a:r>
                      <a:endParaRPr lang="en-US" baseline="0" dirty="0" smtClean="0"/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 smtClean="0"/>
                        <a:t>Addition &amp; subtraction</a:t>
                      </a:r>
                      <a:endParaRPr lang="en-US" baseline="0" dirty="0" smtClean="0"/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 smtClean="0"/>
                        <a:t>Multiplication &amp; division</a:t>
                      </a:r>
                      <a:endParaRPr lang="en-US" baseline="0" dirty="0" smtClean="0"/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 smtClean="0"/>
                        <a:t>Unary operators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Lab: Implementing I/O and arithmetic</a:t>
                      </a:r>
                      <a:endParaRPr lang="en-US" dirty="0"/>
                    </a:p>
                  </a:txBody>
                  <a:tcPr/>
                </a:tc>
              </a:tr>
              <a:tr h="840549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Selection structures</a:t>
                      </a:r>
                      <a:endParaRPr lang="en-US" dirty="0" smtClean="0"/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 smtClean="0"/>
                        <a:t>High level directives</a:t>
                      </a:r>
                      <a:endParaRPr lang="en-US" baseline="0" dirty="0" smtClean="0"/>
                    </a:p>
                    <a:p>
                      <a:pPr>
                        <a:buFont typeface="Arial" panose="020B0604020202020204" pitchFamily="34" charset="0"/>
                        <a:buNone/>
                      </a:pP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Lab: Selection structures</a:t>
                      </a:r>
                      <a:endParaRPr lang="en-US" dirty="0"/>
                    </a:p>
                  </a:txBody>
                  <a:tcPr/>
                </a:tc>
              </a:tr>
              <a:tr h="840549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Iteration</a:t>
                      </a:r>
                      <a:r>
                        <a:rPr lang="en-US" baseline="0" dirty="0" smtClean="0"/>
                        <a:t> structures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Lab: Power function implementation</a:t>
                      </a:r>
                      <a:endParaRPr lang="en-US" dirty="0"/>
                    </a:p>
                  </a:txBody>
                  <a:tcPr/>
                </a:tc>
              </a:tr>
              <a:tr h="840549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Logic instructions (shift, rotate)</a:t>
                      </a:r>
                      <a:endParaRPr lang="en-US" dirty="0" smtClean="0"/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Stacks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Lab: Simulating an OCR machine</a:t>
                      </a:r>
                      <a:endParaRPr lang="en-US" dirty="0"/>
                    </a:p>
                  </a:txBody>
                  <a:tcPr/>
                </a:tc>
              </a:tr>
              <a:tr h="1200784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Procedures and macros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Lab: Implementing a macro calculator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400" y="762000"/>
          <a:ext cx="8077200" cy="541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600"/>
                <a:gridCol w="4038600"/>
              </a:tblGrid>
              <a:tr h="486985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US" dirty="0" smtClean="0"/>
                        <a:t>Lectures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Labs</a:t>
                      </a:r>
                      <a:endParaRPr lang="en-US" dirty="0"/>
                    </a:p>
                  </a:txBody>
                  <a:tcPr/>
                </a:tc>
              </a:tr>
              <a:tr h="1200784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Arrays</a:t>
                      </a:r>
                      <a:endParaRPr lang="en-US" dirty="0" smtClean="0"/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Declaration</a:t>
                      </a:r>
                      <a:endParaRPr lang="en-US" dirty="0" smtClean="0"/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Indexing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Lab: Selection sort</a:t>
                      </a:r>
                      <a:endParaRPr lang="en-US" dirty="0"/>
                    </a:p>
                  </a:txBody>
                  <a:tcPr/>
                </a:tc>
              </a:tr>
              <a:tr h="840549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Strings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Lab: An array of strings</a:t>
                      </a:r>
                      <a:endParaRPr lang="en-US" dirty="0"/>
                    </a:p>
                  </a:txBody>
                  <a:tcPr/>
                </a:tc>
              </a:tr>
              <a:tr h="840549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Interrupts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Lab: Using interrupts</a:t>
                      </a:r>
                      <a:endParaRPr lang="en-US" dirty="0"/>
                    </a:p>
                  </a:txBody>
                  <a:tcPr/>
                </a:tc>
              </a:tr>
              <a:tr h="840549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Selected machine language instructions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Lab: Using machine language instructions</a:t>
                      </a:r>
                      <a:endParaRPr lang="en-US" dirty="0"/>
                    </a:p>
                  </a:txBody>
                  <a:tcPr/>
                </a:tc>
              </a:tr>
              <a:tr h="1200784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Recap and revision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Lab: Practice exercises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mtClean="0"/>
              <a:t>Division of Marks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0" y="2286000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Total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Assignments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Quizes (4)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Midterm Test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Project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Final Exam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Google </a:t>
            </a:r>
            <a:r>
              <a:rPr lang="en-US" dirty="0"/>
              <a:t>Classroom code: p5vf35j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text books, slides, assignments, course updates etc.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44135"/>
          </a:xfrm>
        </p:spPr>
        <p:txBody>
          <a:bodyPr>
            <a:noAutofit/>
          </a:bodyPr>
          <a:lstStyle/>
          <a:p>
            <a:r>
              <a:rPr lang="en-US" sz="2400" dirty="0" smtClean="0"/>
              <a:t>Be careful with attendance (for both lectures and labs)</a:t>
            </a:r>
            <a:endParaRPr lang="en-US" sz="2400" dirty="0" smtClean="0"/>
          </a:p>
          <a:p>
            <a:r>
              <a:rPr lang="en-US" sz="2400" dirty="0" smtClean="0"/>
              <a:t>Keep a record of all your assessment till your grade has been finalized </a:t>
            </a:r>
            <a:endParaRPr lang="en-US" sz="2400" dirty="0" smtClean="0"/>
          </a:p>
          <a:p>
            <a:r>
              <a:rPr lang="en-US" sz="2400" dirty="0">
                <a:sym typeface="+mn-ea"/>
              </a:rPr>
              <a:t>No Makeup for an announced quiz and assignments</a:t>
            </a:r>
            <a:endParaRPr lang="en-US" sz="2400" dirty="0" smtClean="0"/>
          </a:p>
          <a:p>
            <a:r>
              <a:rPr lang="en-US" sz="2400" dirty="0" smtClean="0"/>
              <a:t>All activities assigned in class or for home are marked and will contribute to your grade</a:t>
            </a:r>
            <a:endParaRPr lang="en-US" sz="2400" dirty="0" smtClean="0"/>
          </a:p>
          <a:p>
            <a:r>
              <a:rPr lang="en-US" sz="2400" dirty="0" smtClean="0"/>
              <a:t>Don’ make requests for attendance via email</a:t>
            </a:r>
            <a:endParaRPr lang="en-US" sz="2400" dirty="0" smtClean="0"/>
          </a:p>
          <a:p>
            <a:r>
              <a:rPr lang="en-US" sz="2400" dirty="0" smtClean="0"/>
              <a:t>No tolerance for plagiarism</a:t>
            </a:r>
            <a:endParaRPr lang="en-US" sz="2400" dirty="0" smtClean="0"/>
          </a:p>
          <a:p>
            <a:r>
              <a:rPr lang="en-US" sz="2400" dirty="0">
                <a:sym typeface="+mn-ea"/>
              </a:rPr>
              <a:t>Late assignments will not be accepted</a:t>
            </a:r>
            <a:endParaRPr lang="en-US" sz="2400" dirty="0" smtClean="0"/>
          </a:p>
          <a:p>
            <a:endParaRPr lang="en-US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74090"/>
          </a:xfrm>
        </p:spPr>
        <p:txBody>
          <a:bodyPr/>
          <a:lstStyle/>
          <a:p>
            <a:r>
              <a:rPr smtClean="0"/>
              <a:t>Administrative Info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mtClean="0"/>
              <a:t>Introduction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Practically, the need for assembly language programming has decreased</a:t>
            </a:r>
            <a:endParaRPr lang="en-US" dirty="0" smtClean="0"/>
          </a:p>
          <a:p>
            <a:r>
              <a:rPr lang="en-US" dirty="0" smtClean="0"/>
              <a:t>However, the need to understand it has not decreased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Importance of Assembly Language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Some practical programming experience needed to understand the language</a:t>
            </a:r>
            <a:endParaRPr lang="en-US" dirty="0" smtClean="0"/>
          </a:p>
          <a:p>
            <a:r>
              <a:rPr lang="en-US" dirty="0" smtClean="0"/>
              <a:t>Some high level languages include low level features, but sometimes using assembly language is efficient in terms of speed and memory</a:t>
            </a:r>
            <a:endParaRPr lang="en-US" dirty="0" smtClean="0"/>
          </a:p>
          <a:p>
            <a:r>
              <a:rPr lang="en-US" dirty="0" smtClean="0"/>
              <a:t>Like programming in machine language, but easier – helps gain insight into computer organization and architecture</a:t>
            </a:r>
            <a:endParaRPr lang="en-US" dirty="0" smtClean="0"/>
          </a:p>
          <a:p>
            <a:r>
              <a:rPr lang="en-US" dirty="0" smtClean="0"/>
              <a:t>Builds understanding of high level language implementations and compiler construction concepts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Importance of Assembly Language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834515"/>
            <a:ext cx="8229600" cy="4261485"/>
          </a:xfrm>
        </p:spPr>
        <p:txBody>
          <a:bodyPr/>
          <a:p>
            <a:r>
              <a:rPr lang="en-US" smtClean="0">
                <a:sym typeface="+mn-ea"/>
              </a:rPr>
              <a:t>What is the difference between a </a:t>
            </a:r>
            <a:r>
              <a:rPr smtClean="0">
                <a:sym typeface="+mn-ea"/>
              </a:rPr>
              <a:t>High Level Language</a:t>
            </a:r>
            <a:r>
              <a:rPr lang="en-US" smtClean="0">
                <a:sym typeface="+mn-ea"/>
              </a:rPr>
              <a:t> and a Low Level Language?</a:t>
            </a:r>
            <a:endParaRPr lang="en-US" smtClean="0"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High-level languages are human-friendly. They are, thus, very easy to understand and learn by any programmer. C, FORTRAN, Java</a:t>
            </a:r>
            <a:endParaRPr lang="en-US" dirty="0" smtClean="0"/>
          </a:p>
          <a:p>
            <a:r>
              <a:rPr lang="en-US" dirty="0" smtClean="0"/>
              <a:t>Closer to natural languages</a:t>
            </a:r>
            <a:endParaRPr lang="en-US" dirty="0" smtClean="0"/>
          </a:p>
          <a:p>
            <a:r>
              <a:rPr lang="en-US" dirty="0" smtClean="0"/>
              <a:t>Make programs easier to read and write</a:t>
            </a:r>
            <a:endParaRPr lang="en-US" dirty="0" smtClean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mtClean="0"/>
              <a:t>High Level Languages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5345"/>
          </a:xfrm>
        </p:spPr>
        <p:txBody>
          <a:bodyPr/>
          <a:lstStyle/>
          <a:p>
            <a:r>
              <a:rPr smtClean="0"/>
              <a:t>Low Level Languages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755"/>
            <a:ext cx="8229600" cy="524002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Closer to machines</a:t>
            </a:r>
            <a:endParaRPr lang="en-US" dirty="0" smtClean="0"/>
          </a:p>
          <a:p>
            <a:r>
              <a:rPr lang="en-US" dirty="0" smtClean="0"/>
              <a:t>High level to low level language</a:t>
            </a:r>
            <a:endParaRPr lang="en-US" dirty="0" smtClean="0"/>
          </a:p>
          <a:p>
            <a:pPr lvl="1"/>
            <a:r>
              <a:rPr lang="en-US" dirty="0" smtClean="0">
                <a:sym typeface="Wingdings" panose="05000000000000000000" pitchFamily="2" charset="2"/>
              </a:rPr>
              <a:t> One to many relationship</a:t>
            </a:r>
            <a:endParaRPr lang="en-US" dirty="0" smtClean="0">
              <a:sym typeface="Wingdings" panose="05000000000000000000" pitchFamily="2" charset="2"/>
            </a:endParaRPr>
          </a:p>
          <a:p>
            <a:pPr lvl="2"/>
            <a:r>
              <a:rPr lang="en-US" dirty="0" smtClean="0">
                <a:sym typeface="Wingdings" panose="05000000000000000000" pitchFamily="2" charset="2"/>
              </a:rPr>
              <a:t>Language translators (compilers, interpreters) convert one high level instruction into many low level instructions</a:t>
            </a:r>
            <a:endParaRPr lang="en-US" dirty="0" smtClean="0">
              <a:sym typeface="Wingdings" panose="05000000000000000000" pitchFamily="2" charset="2"/>
            </a:endParaRPr>
          </a:p>
          <a:p>
            <a:pPr lvl="2"/>
            <a:r>
              <a:rPr lang="en-US" dirty="0" smtClean="0">
                <a:sym typeface="Wingdings" panose="05000000000000000000" pitchFamily="2" charset="2"/>
              </a:rPr>
              <a:t>Native language of machines  machine language  low level  0s and 1s</a:t>
            </a:r>
            <a:endParaRPr lang="en-US" dirty="0" smtClean="0">
              <a:sym typeface="Wingdings" panose="05000000000000000000" pitchFamily="2" charset="2"/>
            </a:endParaRPr>
          </a:p>
          <a:p>
            <a:r>
              <a:rPr lang="en-US" dirty="0" smtClean="0">
                <a:sym typeface="Wingdings" panose="05000000000000000000" pitchFamily="2" charset="2"/>
              </a:rPr>
              <a:t>Different microprocessors have different machine languages</a:t>
            </a:r>
            <a:endParaRPr lang="en-US" dirty="0" smtClean="0">
              <a:sym typeface="Wingdings" panose="05000000000000000000" pitchFamily="2" charset="2"/>
            </a:endParaRPr>
          </a:p>
          <a:p>
            <a:r>
              <a:rPr lang="en-US" dirty="0" smtClean="0">
                <a:sym typeface="+mn-ea"/>
              </a:rPr>
              <a:t>Low-level languages are machine-friendly. They are, thus, very difficult to understand and learn by any human.</a:t>
            </a:r>
            <a:endParaRPr lang="en-US" dirty="0" smtClean="0">
              <a:sym typeface="+mn-ea"/>
            </a:endParaRPr>
          </a:p>
          <a:p>
            <a:r>
              <a:rPr lang="en-US" dirty="0" smtClean="0">
                <a:sym typeface="+mn-ea"/>
              </a:rPr>
              <a:t>Examples include assembly langauge, machine language</a:t>
            </a:r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Midway, whereas programming in machine language is extremely tedious, assembly language is still manageable</a:t>
            </a:r>
            <a:endParaRPr lang="en-US" dirty="0" smtClean="0"/>
          </a:p>
          <a:p>
            <a:r>
              <a:rPr lang="en-US" dirty="0" smtClean="0"/>
              <a:t>Assemblers convert assembly language to machine language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mtClean="0"/>
              <a:t>Assembly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45920"/>
            <a:ext cx="8229600" cy="4450080"/>
          </a:xfrm>
        </p:spPr>
        <p:txBody>
          <a:bodyPr>
            <a:normAutofit lnSpcReduction="10000"/>
          </a:bodyPr>
          <a:p>
            <a:pPr marL="0" indent="0" algn="just">
              <a:buNone/>
            </a:pPr>
            <a:r>
              <a:rPr lang="en-US"/>
              <a:t>An assembler is a utility program that converts source code programs from assembly language into machine language. </a:t>
            </a:r>
            <a:endParaRPr lang="en-US"/>
          </a:p>
          <a:p>
            <a:pPr marL="0" indent="0" algn="just">
              <a:buNone/>
            </a:pPr>
            <a:endParaRPr lang="en-US"/>
          </a:p>
          <a:p>
            <a:pPr marL="0" indent="0" algn="just">
              <a:buNone/>
            </a:pPr>
            <a:r>
              <a:rPr lang="en-US"/>
              <a:t>A linker is a utility program that combines individual files created by an assembler into a single executable program. </a:t>
            </a:r>
            <a:endParaRPr lang="en-US"/>
          </a:p>
          <a:p>
            <a:pPr marL="0" indent="0" algn="just">
              <a:buNone/>
            </a:pPr>
            <a:endParaRPr lang="en-US"/>
          </a:p>
          <a:p>
            <a:pPr marL="0" indent="0" algn="just">
              <a:buNone/>
            </a:pPr>
            <a:r>
              <a:rPr lang="en-US"/>
              <a:t>A related utility, called a debugger, lets you to step through a program while it’s running and examine registers and memory.</a:t>
            </a: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>
                <a:sym typeface="+mn-ea"/>
              </a:rPr>
              <a:t>What Are Assemblers and Linkers? </a:t>
            </a:r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algn="just"/>
            <a:r>
              <a:rPr lang="en-US"/>
              <a:t>Machine language is a numeric language specifically understood by a computer’s processor (the CPU). All x86 processors understand a common machine language. Assembly language consists of statements written with short mnemonics such as ADD, MOV, SUB, and CALL. </a:t>
            </a:r>
            <a:endParaRPr lang="en-US"/>
          </a:p>
          <a:p>
            <a:pPr algn="just"/>
            <a:r>
              <a:rPr lang="en-US"/>
              <a:t>Assembly language has a one-to-one relationship with machine language.</a:t>
            </a:r>
            <a:endParaRPr lang="en-US"/>
          </a:p>
          <a:p>
            <a:pPr algn="just"/>
            <a:r>
              <a:rPr lang="en-US"/>
              <a:t>Each assembly language instruction corresponds to a single machine-language instruction.</a:t>
            </a: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pPr algn="just"/>
            <a:r>
              <a:rPr>
                <a:sym typeface="+mn-ea"/>
              </a:rPr>
              <a:t>How Does Assembly Language Relate to Machine Language? </a:t>
            </a:r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algn="just"/>
            <a:r>
              <a:rPr lang="en-US"/>
              <a:t>High-level languages such as Python, C++, and Java have a one-to-many relationship with assembly language and machine language. </a:t>
            </a:r>
            <a:endParaRPr lang="en-US"/>
          </a:p>
          <a:p>
            <a:pPr algn="just"/>
            <a:r>
              <a:rPr lang="en-US"/>
              <a:t>A single statement in C++, for example, expands into multiple assembly language or machine instructions. </a:t>
            </a:r>
            <a:endParaRPr lang="en-US"/>
          </a:p>
          <a:p>
            <a:pPr algn="just"/>
            <a:r>
              <a:rPr lang="en-US"/>
              <a:t>Most people cannot read raw machine code, so in this book, we examine its closest relative, assembly language. </a:t>
            </a:r>
            <a:endParaRPr lang="en-US"/>
          </a:p>
          <a:p>
            <a:pPr algn="just"/>
            <a:r>
              <a:rPr lang="en-US"/>
              <a:t>Understand this through an example</a:t>
            </a:r>
            <a:endParaRPr lang="en-US"/>
          </a:p>
          <a:p>
            <a:pPr algn="just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430530"/>
            <a:ext cx="8229600" cy="928370"/>
          </a:xfrm>
        </p:spPr>
        <p:txBody>
          <a:bodyPr>
            <a:normAutofit fontScale="90000"/>
          </a:bodyPr>
          <a:p>
            <a:r>
              <a:rPr lang="en-US"/>
              <a:t>How Do C++ and Java Relate to Assembly Language?</a:t>
            </a: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>
                <a:sym typeface="+mn-ea"/>
              </a:rPr>
              <a:t>For example, the following C++ code carries out two arithmetic operations and assigns the result to a variable. Assume X and Y are integers:</a:t>
            </a:r>
            <a:endParaRPr lang="en-US"/>
          </a:p>
          <a:p>
            <a:pPr algn="just"/>
            <a:endParaRPr lang="en-US"/>
          </a:p>
          <a:p>
            <a:pPr algn="just"/>
            <a:r>
              <a:rPr lang="en-US"/>
              <a:t>int Y;</a:t>
            </a:r>
            <a:endParaRPr lang="en-US"/>
          </a:p>
          <a:p>
            <a:pPr algn="just"/>
            <a:r>
              <a:rPr lang="en-US"/>
              <a:t>int X = (Y + 4) * 3;</a:t>
            </a:r>
            <a:endParaRPr lang="en-US"/>
          </a:p>
          <a:p>
            <a:pPr algn="just"/>
            <a:endParaRPr lang="en-US"/>
          </a:p>
          <a:p>
            <a:pPr marL="0" indent="0" algn="just">
              <a:buNone/>
            </a:pPr>
            <a:r>
              <a:rPr lang="en-US"/>
              <a:t>How to write this code in assembly language?</a:t>
            </a: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algn="just"/>
            <a:r>
              <a:rPr lang="en-US"/>
              <a:t>Following is the equivalent translation to assembly language. The translation requires multiple statements because each assembly language statement corresponds to a single machine instruction:</a:t>
            </a:r>
            <a:endParaRPr lang="en-US"/>
          </a:p>
          <a:p>
            <a:pPr algn="just"/>
            <a:endParaRPr lang="en-US"/>
          </a:p>
          <a:p>
            <a:pPr algn="just"/>
            <a:r>
              <a:rPr lang="en-US"/>
              <a:t>mov eax,Y ; </a:t>
            </a:r>
            <a:r>
              <a:rPr lang="en-US" sz="1600">
                <a:solidFill>
                  <a:srgbClr val="FF0000"/>
                </a:solidFill>
                <a:latin typeface="Verdana" panose="020B0604030504040204" charset="0"/>
                <a:cs typeface="Verdana" panose="020B0604030504040204" charset="0"/>
              </a:rPr>
              <a:t>move Y to the EAX register</a:t>
            </a:r>
            <a:endParaRPr lang="en-US" sz="1600">
              <a:solidFill>
                <a:srgbClr val="FF0000"/>
              </a:solidFill>
              <a:latin typeface="Verdana" panose="020B0604030504040204" charset="0"/>
              <a:cs typeface="Verdana" panose="020B0604030504040204" charset="0"/>
            </a:endParaRPr>
          </a:p>
          <a:p>
            <a:pPr algn="just"/>
            <a:r>
              <a:rPr lang="en-US"/>
              <a:t>add eax,4 ; </a:t>
            </a:r>
            <a:r>
              <a:rPr lang="en-US" sz="1600">
                <a:solidFill>
                  <a:srgbClr val="FF0000"/>
                </a:solidFill>
                <a:latin typeface="Verdana" panose="020B0604030504040204" charset="0"/>
                <a:cs typeface="Verdana" panose="020B0604030504040204" charset="0"/>
              </a:rPr>
              <a:t>add 4 to the EAX register</a:t>
            </a:r>
            <a:endParaRPr lang="en-US"/>
          </a:p>
          <a:p>
            <a:pPr algn="just"/>
            <a:r>
              <a:rPr lang="en-US"/>
              <a:t>mov ebx,3 ; </a:t>
            </a:r>
            <a:r>
              <a:rPr lang="en-US" sz="1600">
                <a:solidFill>
                  <a:srgbClr val="FF0000"/>
                </a:solidFill>
                <a:latin typeface="Verdana" panose="020B0604030504040204" charset="0"/>
                <a:cs typeface="Verdana" panose="020B0604030504040204" charset="0"/>
              </a:rPr>
              <a:t>move 3 to the EBX register</a:t>
            </a:r>
            <a:endParaRPr lang="en-US"/>
          </a:p>
          <a:p>
            <a:pPr algn="just"/>
            <a:r>
              <a:rPr lang="en-US"/>
              <a:t>imul ebx ; </a:t>
            </a:r>
            <a:r>
              <a:rPr lang="en-US" sz="1600">
                <a:solidFill>
                  <a:srgbClr val="FF0000"/>
                </a:solidFill>
                <a:latin typeface="Verdana" panose="020B0604030504040204" charset="0"/>
                <a:cs typeface="Verdana" panose="020B0604030504040204" charset="0"/>
              </a:rPr>
              <a:t>multiply EAX by EBX</a:t>
            </a:r>
            <a:endParaRPr lang="en-US"/>
          </a:p>
          <a:p>
            <a:pPr algn="just"/>
            <a:r>
              <a:rPr lang="en-US"/>
              <a:t>mov X,eax ; </a:t>
            </a:r>
            <a:r>
              <a:rPr lang="en-US" sz="1600">
                <a:solidFill>
                  <a:srgbClr val="FF0000"/>
                </a:solidFill>
                <a:latin typeface="Verdana" panose="020B0604030504040204" charset="0"/>
                <a:cs typeface="Verdana" panose="020B0604030504040204" charset="0"/>
              </a:rPr>
              <a:t>move EAX to X</a:t>
            </a:r>
            <a:endParaRPr lang="en-US" sz="1600">
              <a:solidFill>
                <a:srgbClr val="FF0000"/>
              </a:solidFill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Example</a:t>
            </a:r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667000"/>
            <a:ext cx="8229600" cy="1039495"/>
          </a:xfrm>
        </p:spPr>
        <p:txBody>
          <a:bodyPr/>
          <a:p>
            <a:pPr marL="0" indent="0" algn="ctr">
              <a:buNone/>
            </a:pPr>
            <a:r>
              <a:rPr lang="en-US" sz="3200"/>
              <a:t>End of Lecture</a:t>
            </a:r>
            <a:endParaRPr lang="en-US" sz="320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0</TotalTime>
  <Words>5672</Words>
  <Application>WPS Presentation</Application>
  <PresentationFormat>On-screen Show (4:3)</PresentationFormat>
  <Paragraphs>240</Paragraphs>
  <Slides>27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1" baseType="lpstr">
      <vt:lpstr>Arial</vt:lpstr>
      <vt:lpstr>SimSun</vt:lpstr>
      <vt:lpstr>Wingdings</vt:lpstr>
      <vt:lpstr>Wingdings 2</vt:lpstr>
      <vt:lpstr>Wingdings 2</vt:lpstr>
      <vt:lpstr>Verdana</vt:lpstr>
      <vt:lpstr>Microsoft YaHei</vt:lpstr>
      <vt:lpstr>汉仪旗黑</vt:lpstr>
      <vt:lpstr>Arial Unicode MS</vt:lpstr>
      <vt:lpstr>Calibri</vt:lpstr>
      <vt:lpstr>Helvetica Neue</vt:lpstr>
      <vt:lpstr>宋体-简</vt:lpstr>
      <vt:lpstr>Verdana Bold</vt:lpstr>
      <vt:lpstr>Paper</vt:lpstr>
      <vt:lpstr>Computer Organization &amp; Assembly Language (CSC-205)</vt:lpstr>
      <vt:lpstr>Course Orientation</vt:lpstr>
      <vt:lpstr>Course Objective</vt:lpstr>
      <vt:lpstr>Learning Outcome</vt:lpstr>
      <vt:lpstr>Text Book</vt:lpstr>
      <vt:lpstr>Reference Book</vt:lpstr>
      <vt:lpstr>Reference Book</vt:lpstr>
      <vt:lpstr>Course Format</vt:lpstr>
      <vt:lpstr>PowerPoint 演示文稿</vt:lpstr>
      <vt:lpstr>PowerPoint 演示文稿</vt:lpstr>
      <vt:lpstr>PowerPoint 演示文稿</vt:lpstr>
      <vt:lpstr>Division of Marks</vt:lpstr>
      <vt:lpstr>Google Classroom code: p5vf35j</vt:lpstr>
      <vt:lpstr>Administrative Info</vt:lpstr>
      <vt:lpstr>Introduction</vt:lpstr>
      <vt:lpstr>Importance of Assembly Language</vt:lpstr>
      <vt:lpstr>Importance of Assembly Language</vt:lpstr>
      <vt:lpstr>PowerPoint 演示文稿</vt:lpstr>
      <vt:lpstr>High Level Languages</vt:lpstr>
      <vt:lpstr>Low Level Languages</vt:lpstr>
      <vt:lpstr>Assembly</vt:lpstr>
      <vt:lpstr>What Are Assemblers and Linkers? </vt:lpstr>
      <vt:lpstr>How Does Assembly Language Relate to Machine Language? </vt:lpstr>
      <vt:lpstr>How Do C++ and Java Relate to Assembly Language?</vt:lpstr>
      <vt:lpstr>Example</vt:lpstr>
      <vt:lpstr>Example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Creating Digital Content (CSC-</dc:title>
  <dc:creator>Huda Sarfraz</dc:creator>
  <cp:lastModifiedBy>Nimra Abbas</cp:lastModifiedBy>
  <cp:revision>111</cp:revision>
  <dcterms:created xsi:type="dcterms:W3CDTF">2025-02-17T08:18:42Z</dcterms:created>
  <dcterms:modified xsi:type="dcterms:W3CDTF">2025-02-17T08:18:42Z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