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479" r:id="rId4"/>
    <p:sldId id="513" r:id="rId5"/>
    <p:sldId id="540" r:id="rId6"/>
    <p:sldId id="541" r:id="rId7"/>
    <p:sldId id="542" r:id="rId8"/>
    <p:sldId id="543" r:id="rId9"/>
    <p:sldId id="544" r:id="rId10"/>
    <p:sldId id="545" r:id="rId11"/>
    <p:sldId id="546" r:id="rId12"/>
    <p:sldId id="547" r:id="rId13"/>
    <p:sldId id="548" r:id="rId14"/>
    <p:sldId id="549" r:id="rId15"/>
    <p:sldId id="550" r:id="rId16"/>
    <p:sldId id="551" r:id="rId17"/>
    <p:sldId id="552" r:id="rId18"/>
    <p:sldId id="553" r:id="rId19"/>
    <p:sldId id="554" r:id="rId20"/>
    <p:sldId id="37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15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(CSC-205)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2-05-2025 at 1.0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905000"/>
            <a:ext cx="8229600" cy="26155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14-05-2025 at 1.3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6200" y="0"/>
            <a:ext cx="8971915" cy="67125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Image 14-05-2025 at 1.33 PM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10" y="76200"/>
            <a:ext cx="9110345" cy="6116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94485"/>
            <a:ext cx="8229600" cy="4911090"/>
          </a:xfrm>
        </p:spPr>
        <p:txBody>
          <a:bodyPr/>
          <a:p>
            <a:pPr algn="just"/>
            <a:r>
              <a:rPr lang="en-US"/>
              <a:t>What is a Stack?</a:t>
            </a:r>
            <a:endParaRPr lang="en-US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A Stack is a data structure following Last In, First Out (LIFO) principle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/>
              <a:t>Only the top element can be accessed for addition or removal</a:t>
            </a:r>
            <a:endParaRPr lang="en-US" sz="2000"/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olidFill>
                  <a:srgbClr val="FF0000"/>
                </a:solidFill>
              </a:rPr>
              <a:t>Visual Example:</a:t>
            </a:r>
            <a:r>
              <a:rPr lang="en-US" sz="2000"/>
              <a:t> Like a test tube of balls - only the top ball can be removed.</a:t>
            </a:r>
            <a:endParaRPr lang="en-US" sz="2000"/>
          </a:p>
          <a:p>
            <a:pPr marL="365760" lvl="1" indent="0" algn="just">
              <a:buFont typeface="Wingdings" panose="05000000000000000000" charset="0"/>
              <a:buNone/>
            </a:pPr>
            <a:endParaRPr lang="en-US" sz="2000"/>
          </a:p>
          <a:p>
            <a:pPr algn="just"/>
            <a:r>
              <a:rPr lang="en-US" sz="2000">
                <a:sym typeface="+mn-ea"/>
              </a:rPr>
              <a:t>Key Stack Operations ? 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Push: Add an element to the top of the stack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Pop: Remove the top element from the stack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Peek (Read): You can look at elements inside, but can only remove from the top</a:t>
            </a:r>
            <a:endParaRPr lang="en-US" sz="2000">
              <a:sym typeface="+mn-ea"/>
            </a:endParaRPr>
          </a:p>
          <a:p>
            <a:pPr lvl="1" algn="just">
              <a:buFont typeface="Wingdings" panose="05000000000000000000" charset="0"/>
              <a:buChar char=""/>
            </a:pPr>
            <a:endParaRPr lang="en-US" sz="20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085850"/>
          </a:xfrm>
        </p:spPr>
        <p:txBody>
          <a:bodyPr/>
          <a:p>
            <a:r>
              <a:rPr lang="en-US" sz="3600"/>
              <a:t>5.3. STACK</a:t>
            </a:r>
            <a:endParaRPr lang="en-US"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 fontScale="90000" lnSpcReduction="20000"/>
          </a:bodyPr>
          <a:p>
            <a:pPr algn="just">
              <a:lnSpc>
                <a:spcPct val="120000"/>
              </a:lnSpc>
            </a:pPr>
            <a:r>
              <a:rPr lang="en-US"/>
              <a:t>Stack Behavior in Processors ?</a:t>
            </a:r>
            <a:endParaRPr lang="en-US"/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/>
              <a:t>In 8088 processor, stack works with word-sized (2 bytes) data only</a:t>
            </a:r>
            <a:endParaRPr lang="en-US" sz="2000"/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/>
              <a:t>The stack uses two registers:</a:t>
            </a:r>
            <a:endParaRPr lang="en-US" sz="2000"/>
          </a:p>
          <a:p>
            <a:pPr lvl="2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50"/>
              <a:t>SP (Stack Pointer): Points to top of the stack</a:t>
            </a:r>
            <a:endParaRPr lang="en-US" sz="1750"/>
          </a:p>
          <a:p>
            <a:pPr lvl="2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750"/>
              <a:t>SS (Stack Segment): Identifies stack's memory area</a:t>
            </a:r>
            <a:endParaRPr lang="en-US" sz="1750"/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/>
              <a:t>Physical Address = SS:SP</a:t>
            </a:r>
            <a:endParaRPr lang="en-US" sz="2000"/>
          </a:p>
          <a:p>
            <a:pPr algn="just">
              <a:lnSpc>
                <a:spcPct val="120000"/>
              </a:lnSpc>
            </a:pPr>
            <a:endParaRPr lang="en-US" sz="2000"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sz="2000">
                <a:sym typeface="+mn-ea"/>
              </a:rPr>
              <a:t>Decrementing vs Incrementing Stack </a:t>
            </a:r>
            <a:endParaRPr lang="en-US" sz="2000">
              <a:sym typeface="+mn-ea"/>
            </a:endParaRPr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8088 uses a Decrementing Stack:</a:t>
            </a:r>
            <a:endParaRPr lang="en-US" sz="2000">
              <a:sym typeface="+mn-ea"/>
            </a:endParaRPr>
          </a:p>
          <a:p>
            <a:pPr lvl="2" algn="just">
              <a:lnSpc>
                <a:spcPct val="120000"/>
              </a:lnSpc>
            </a:pPr>
            <a:r>
              <a:rPr lang="en-US" sz="1750">
                <a:sym typeface="+mn-ea"/>
              </a:rPr>
              <a:t>Stack grows from higher to lower memory addresses</a:t>
            </a:r>
            <a:endParaRPr lang="en-US" sz="1750">
              <a:sym typeface="+mn-ea"/>
            </a:endParaRPr>
          </a:p>
          <a:p>
            <a:pPr lvl="2" algn="just">
              <a:lnSpc>
                <a:spcPct val="120000"/>
              </a:lnSpc>
            </a:pPr>
            <a:r>
              <a:rPr lang="en-US" sz="1750">
                <a:sym typeface="+mn-ea"/>
              </a:rPr>
              <a:t>SP is decremented by 2 on push</a:t>
            </a:r>
            <a:endParaRPr lang="en-US" sz="1750">
              <a:sym typeface="+mn-ea"/>
            </a:endParaRPr>
          </a:p>
          <a:p>
            <a:pPr lvl="2" algn="just">
              <a:lnSpc>
                <a:spcPct val="120000"/>
              </a:lnSpc>
            </a:pPr>
            <a:r>
              <a:rPr lang="en-US" sz="1750">
                <a:sym typeface="+mn-ea"/>
              </a:rPr>
              <a:t>SP is incremented by 2 on pop</a:t>
            </a:r>
            <a:endParaRPr lang="en-US" sz="1750">
              <a:sym typeface="+mn-ea"/>
            </a:endParaRPr>
          </a:p>
          <a:p>
            <a:pPr marL="365760" lvl="1" indent="0" algn="just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sz="2000">
                <a:solidFill>
                  <a:srgbClr val="FF0000"/>
                </a:solidFill>
                <a:sym typeface="+mn-ea"/>
              </a:rPr>
              <a:t>Example: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pPr marL="365760" lvl="1" indent="0" algn="just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sz="2000">
                <a:sym typeface="+mn-ea"/>
              </a:rPr>
              <a:t>Start at shelf 5 → next item in shelf 4 → then shelf 3</a:t>
            </a:r>
            <a:endParaRPr lang="en-US" sz="2000">
              <a:sym typeface="+mn-ea"/>
            </a:endParaRPr>
          </a:p>
          <a:p>
            <a:pPr marL="365760" lvl="1"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US" sz="2000">
              <a:sym typeface="+mn-ea"/>
            </a:endParaRPr>
          </a:p>
          <a:p>
            <a:pPr marL="0" lvl="1" indent="0" algn="just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sz="2000">
                <a:solidFill>
                  <a:srgbClr val="FF0000"/>
                </a:solidFill>
                <a:sym typeface="+mn-ea"/>
              </a:rPr>
              <a:t>*Other processors (like 8051) may use incrementing stacks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pPr marL="365760" lvl="1"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US" sz="2000"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/>
          <a:p>
            <a:r>
              <a:rPr lang="en-US" sz="3600"/>
              <a:t>5.3. STACK</a:t>
            </a:r>
            <a:endParaRPr lang="en-US"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/>
          </a:bodyPr>
          <a:p>
            <a:pPr algn="just">
              <a:lnSpc>
                <a:spcPct val="130000"/>
              </a:lnSpc>
            </a:pPr>
            <a:r>
              <a:rPr lang="en-US"/>
              <a:t>PUSH and POP Operations (Examples)</a:t>
            </a:r>
            <a:endParaRPr lang="en-US" sz="2000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Push Operation: </a:t>
            </a:r>
            <a:endParaRPr lang="en-US" sz="200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SP = SP - 2 </a:t>
            </a:r>
            <a:endParaRPr lang="en-US" sz="175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[SP] = Operand (e.g. AX)</a:t>
            </a:r>
            <a:endParaRPr lang="en-US" sz="1750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POP Operation: </a:t>
            </a:r>
            <a:endParaRPr lang="en-US" sz="200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>
                <a:sym typeface="+mn-ea"/>
              </a:rPr>
              <a:t>Operand = [SP]</a:t>
            </a:r>
            <a:endParaRPr lang="en-US" sz="2000">
              <a:sym typeface="+mn-ea"/>
            </a:endParaRPr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>
                <a:sym typeface="+mn-ea"/>
              </a:rPr>
              <a:t>SP = SP + 2</a:t>
            </a:r>
            <a:endParaRPr lang="en-US" sz="2000">
              <a:sym typeface="+mn-ea"/>
            </a:endParaRPr>
          </a:p>
          <a:p>
            <a:pPr algn="just">
              <a:lnSpc>
                <a:spcPct val="120000"/>
              </a:lnSpc>
            </a:pPr>
            <a:r>
              <a:rPr lang="en-US" sz="2000">
                <a:sym typeface="+mn-ea"/>
              </a:rPr>
              <a:t>Example </a:t>
            </a:r>
            <a:endParaRPr lang="en-US" sz="2000">
              <a:sym typeface="+mn-ea"/>
            </a:endParaRPr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push ax pushes AX register onto stack</a:t>
            </a:r>
            <a:endParaRPr lang="en-US" sz="2000">
              <a:sym typeface="+mn-ea"/>
            </a:endParaRPr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pop ax retrieves it back</a:t>
            </a:r>
            <a:endParaRPr lang="en-US" sz="2000">
              <a:sym typeface="+mn-ea"/>
            </a:endParaRPr>
          </a:p>
          <a:p>
            <a:pPr marL="365760" lvl="1"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US" sz="2000"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/>
          <a:p>
            <a:r>
              <a:rPr lang="en-US" sz="3600"/>
              <a:t>5.3. STACK</a:t>
            </a:r>
            <a:endParaRPr lang="en-US"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 lnSpcReduction="10000"/>
          </a:bodyPr>
          <a:p>
            <a:pPr algn="just">
              <a:lnSpc>
                <a:spcPct val="130000"/>
              </a:lnSpc>
            </a:pPr>
            <a:r>
              <a:rPr lang="en-US"/>
              <a:t>Importance of Stack </a:t>
            </a:r>
            <a:endParaRPr lang="en-US" sz="2000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Used to save and restore values (like register contents)</a:t>
            </a:r>
            <a:endParaRPr lang="en-US" sz="2000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Helps in:</a:t>
            </a:r>
            <a:endParaRPr lang="en-US" sz="200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Subroutine calls (saving caller's registers)</a:t>
            </a:r>
            <a:endParaRPr lang="en-US" sz="175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Program flow control (via CALL and RET)</a:t>
            </a:r>
            <a:endParaRPr lang="en-US" sz="1750"/>
          </a:p>
          <a:p>
            <a:pPr algn="just">
              <a:lnSpc>
                <a:spcPct val="120000"/>
              </a:lnSpc>
            </a:pPr>
            <a:r>
              <a:rPr lang="en-US" sz="2000">
                <a:sym typeface="+mn-ea"/>
              </a:rPr>
              <a:t>CALL and RET Instructions</a:t>
            </a:r>
            <a:endParaRPr lang="en-US" sz="2000">
              <a:sym typeface="+mn-ea"/>
            </a:endParaRPr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CALL:</a:t>
            </a:r>
            <a:endParaRPr lang="en-US" sz="2000">
              <a:sym typeface="+mn-ea"/>
            </a:endParaRPr>
          </a:p>
          <a:p>
            <a:pPr lvl="2" algn="just">
              <a:lnSpc>
                <a:spcPct val="120000"/>
              </a:lnSpc>
            </a:pPr>
            <a:r>
              <a:rPr lang="en-US" sz="1750">
                <a:sym typeface="+mn-ea"/>
              </a:rPr>
              <a:t>Saves current Instruction Pointer (IP) on stack</a:t>
            </a:r>
            <a:endParaRPr lang="en-US" sz="1750">
              <a:sym typeface="+mn-ea"/>
            </a:endParaRPr>
          </a:p>
          <a:p>
            <a:pPr lvl="2" algn="just">
              <a:lnSpc>
                <a:spcPct val="120000"/>
              </a:lnSpc>
            </a:pPr>
            <a:r>
              <a:rPr lang="en-US" sz="1750">
                <a:sym typeface="+mn-ea"/>
              </a:rPr>
              <a:t>Loads new address in IP</a:t>
            </a:r>
            <a:endParaRPr lang="en-US" sz="1750">
              <a:sym typeface="+mn-ea"/>
            </a:endParaRPr>
          </a:p>
          <a:p>
            <a:pPr lvl="1" algn="just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RET:</a:t>
            </a:r>
            <a:endParaRPr lang="en-US" sz="2000">
              <a:sym typeface="+mn-ea"/>
            </a:endParaRPr>
          </a:p>
          <a:p>
            <a:pPr lvl="2" algn="just">
              <a:lnSpc>
                <a:spcPct val="120000"/>
              </a:lnSpc>
            </a:pPr>
            <a:r>
              <a:rPr lang="en-US" sz="2000">
                <a:sym typeface="+mn-ea"/>
              </a:rPr>
              <a:t>Pops saved IP back to continue execution</a:t>
            </a:r>
            <a:endParaRPr lang="en-US" sz="2000">
              <a:sym typeface="+mn-ea"/>
            </a:endParaRPr>
          </a:p>
          <a:p>
            <a:pPr lvl="2" algn="just">
              <a:lnSpc>
                <a:spcPct val="120000"/>
              </a:lnSpc>
            </a:pPr>
            <a:r>
              <a:rPr lang="en-US" sz="2000">
                <a:solidFill>
                  <a:srgbClr val="FF0000"/>
                </a:solidFill>
                <a:sym typeface="+mn-ea"/>
              </a:rPr>
              <a:t>RET n: Additionally increments SP by n after return (used in parameter passing)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pPr marL="365760" lvl="1" indent="0" algn="just">
              <a:lnSpc>
                <a:spcPct val="100000"/>
              </a:lnSpc>
              <a:buFont typeface="Wingdings" panose="05000000000000000000" charset="0"/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/>
          <a:p>
            <a:r>
              <a:rPr lang="en-US" sz="3600"/>
              <a:t>5.3. STACK</a:t>
            </a:r>
            <a:endParaRPr lang="en-US"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 lnSpcReduction="10000"/>
          </a:bodyPr>
          <a:p>
            <a:pPr algn="just">
              <a:lnSpc>
                <a:spcPct val="130000"/>
              </a:lnSpc>
            </a:pPr>
            <a:r>
              <a:rPr lang="en-US"/>
              <a:t>CALL and RET - Near and Far</a:t>
            </a:r>
            <a:endParaRPr lang="en-US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Near CALL/RET:</a:t>
            </a:r>
            <a:endParaRPr lang="en-US" sz="200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Within the same segment</a:t>
            </a:r>
            <a:endParaRPr lang="en-US" sz="1750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Far CALL/RET (RETF): </a:t>
            </a:r>
            <a:endParaRPr lang="en-US" sz="200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Across segments</a:t>
            </a:r>
            <a:endParaRPr lang="en-US" sz="175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Pushes both Segment (CS) and Offset (IP) on stack</a:t>
            </a:r>
            <a:endParaRPr lang="en-US" sz="175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RETF restores both</a:t>
            </a:r>
            <a:endParaRPr lang="en-US" sz="1750"/>
          </a:p>
          <a:p>
            <a:pPr algn="just">
              <a:lnSpc>
                <a:spcPct val="130000"/>
              </a:lnSpc>
            </a:pPr>
            <a:r>
              <a:rPr lang="en-US" sz="2000">
                <a:sym typeface="+mn-ea"/>
              </a:rPr>
              <a:t>CAUTION with PUSH and POP </a:t>
            </a:r>
            <a:endParaRPr lang="en-US" sz="2000">
              <a:sym typeface="+mn-ea"/>
            </a:endParaRPr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The processor doesn't check logical correctness. </a:t>
            </a:r>
            <a:endParaRPr lang="en-US" sz="2000">
              <a:sym typeface="+mn-ea"/>
            </a:endParaRPr>
          </a:p>
          <a:p>
            <a:pPr lvl="2" algn="just">
              <a:lnSpc>
                <a:spcPct val="130000"/>
              </a:lnSpc>
            </a:pPr>
            <a:r>
              <a:rPr lang="en-US" sz="1750">
                <a:sym typeface="+mn-ea"/>
              </a:rPr>
              <a:t>push ax followed by pop dx is technically valid but may be logically wrong</a:t>
            </a:r>
            <a:endParaRPr lang="en-US" sz="1750">
              <a:sym typeface="+mn-ea"/>
            </a:endParaRPr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>
                <a:sym typeface="+mn-ea"/>
              </a:rPr>
              <a:t>Ensure correct order:</a:t>
            </a:r>
            <a:endParaRPr lang="en-US" sz="2000">
              <a:sym typeface="+mn-ea"/>
            </a:endParaRPr>
          </a:p>
          <a:p>
            <a:pPr lvl="2" algn="just">
              <a:lnSpc>
                <a:spcPct val="130000"/>
              </a:lnSpc>
            </a:pPr>
            <a:r>
              <a:rPr lang="en-US" sz="2000">
                <a:sym typeface="+mn-ea"/>
              </a:rPr>
              <a:t>The order of POP must be the reverse of PUSH</a:t>
            </a: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/>
          <a:p>
            <a:r>
              <a:rPr lang="en-US" sz="3600"/>
              <a:t>5.3. STACK</a:t>
            </a:r>
            <a:endParaRPr lang="en-US"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 lnSpcReduction="20000"/>
          </a:bodyPr>
          <a:p>
            <a:pPr algn="just">
              <a:lnSpc>
                <a:spcPct val="130000"/>
              </a:lnSpc>
            </a:pPr>
            <a:r>
              <a:rPr lang="en-US"/>
              <a:t>Stack during Nested Subroutine Calls</a:t>
            </a:r>
            <a:endParaRPr lang="en-US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Stack can handle nested subroutines</a:t>
            </a:r>
            <a:endParaRPr lang="en-US" sz="2000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Each subroutine can:</a:t>
            </a:r>
            <a:endParaRPr lang="en-US" sz="200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Push its own data and return address</a:t>
            </a:r>
            <a:endParaRPr lang="en-US" sz="1750"/>
          </a:p>
          <a:p>
            <a:pPr lvl="2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50"/>
              <a:t>Use stack to manage data safely during complex calls</a:t>
            </a:r>
            <a:endParaRPr lang="en-US" sz="1750"/>
          </a:p>
          <a:p>
            <a:pPr marL="0" indent="0" algn="just">
              <a:lnSpc>
                <a:spcPct val="130000"/>
              </a:lnSpc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/>
          <a:p>
            <a:r>
              <a:rPr lang="en-US" sz="3600"/>
              <a:t>5.3. STACK</a:t>
            </a:r>
            <a:endParaRPr lang="en-US" sz="3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 lnSpcReduction="20000"/>
          </a:bodyPr>
          <a:p>
            <a:pPr algn="just">
              <a:lnSpc>
                <a:spcPct val="130000"/>
              </a:lnSpc>
            </a:pPr>
            <a:r>
              <a:rPr lang="en-US"/>
              <a:t>Scenario:</a:t>
            </a:r>
            <a:endParaRPr lang="en-US"/>
          </a:p>
          <a:p>
            <a:pPr lvl="1" algn="just">
              <a:lnSpc>
                <a:spcPct val="130000"/>
              </a:lnSpc>
              <a:buFont typeface="Wingdings" panose="05000000000000000000" charset="0"/>
              <a:buChar char=""/>
            </a:pPr>
            <a:r>
              <a:rPr lang="en-US" sz="2000"/>
              <a:t>Main program at IP = 3000 calls subroutine at 4000</a:t>
            </a:r>
            <a:endParaRPr lang="en-US" sz="2000"/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 fontScale="90000"/>
          </a:bodyPr>
          <a:p>
            <a:r>
              <a:rPr lang="en-US" sz="3600"/>
              <a:t>5.3. CALL and RET Example (Near CALL) </a:t>
            </a:r>
            <a:endParaRPr lang="en-US" sz="3600"/>
          </a:p>
        </p:txBody>
      </p:sp>
      <p:pic>
        <p:nvPicPr>
          <p:cNvPr id="4" name="Picture 3" descr="Image 14-05-2025 at 2.11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360" y="2286000"/>
            <a:ext cx="7447280" cy="3758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/>
          </a:bodyPr>
          <a:p>
            <a:pPr algn="just">
              <a:lnSpc>
                <a:spcPct val="130000"/>
              </a:lnSpc>
            </a:pPr>
            <a:r>
              <a:rPr lang="en-US"/>
              <a:t>During CALL: </a:t>
            </a:r>
            <a:endParaRPr lang="en-US"/>
          </a:p>
          <a:p>
            <a:pPr lvl="1" algn="just">
              <a:lnSpc>
                <a:spcPct val="130000"/>
              </a:lnSpc>
            </a:pPr>
            <a:r>
              <a:rPr lang="en-US" sz="1845"/>
              <a:t>IP (3000) is pushed on stack</a:t>
            </a:r>
            <a:endParaRPr lang="en-US" sz="1845"/>
          </a:p>
          <a:p>
            <a:pPr lvl="1" algn="just">
              <a:lnSpc>
                <a:spcPct val="130000"/>
              </a:lnSpc>
            </a:pPr>
            <a:r>
              <a:rPr lang="en-US" sz="1845"/>
              <a:t>SP becomes 1FFE</a:t>
            </a:r>
            <a:endParaRPr lang="en-US" sz="1845"/>
          </a:p>
          <a:p>
            <a:pPr lvl="1" algn="just">
              <a:lnSpc>
                <a:spcPct val="130000"/>
              </a:lnSpc>
            </a:pPr>
            <a:r>
              <a:rPr lang="en-US" sz="1845"/>
              <a:t>IP becomes 4000</a:t>
            </a:r>
            <a:endParaRPr lang="en-US" sz="1845"/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 fontScale="90000"/>
          </a:bodyPr>
          <a:p>
            <a:r>
              <a:rPr lang="en-US" sz="3600"/>
              <a:t>5.3. CALL and RET Example (Near CALL) </a:t>
            </a:r>
            <a:endParaRPr lang="en-US" sz="3600"/>
          </a:p>
        </p:txBody>
      </p:sp>
      <p:pic>
        <p:nvPicPr>
          <p:cNvPr id="5" name="Picture 4" descr="Image 14-05-2025 at 2.1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3048000"/>
            <a:ext cx="7336155" cy="2778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/>
          </a:bodyPr>
          <a:p>
            <a:pPr algn="just">
              <a:lnSpc>
                <a:spcPct val="130000"/>
              </a:lnSpc>
            </a:pPr>
            <a:r>
              <a:rPr lang="en-US"/>
              <a:t>During RET: </a:t>
            </a:r>
            <a:endParaRPr lang="en-US"/>
          </a:p>
          <a:p>
            <a:pPr lvl="1" algn="just">
              <a:lnSpc>
                <a:spcPct val="130000"/>
              </a:lnSpc>
            </a:pPr>
            <a:r>
              <a:rPr lang="en-US" sz="1845"/>
              <a:t>IP is popped from stack</a:t>
            </a:r>
            <a:endParaRPr lang="en-US" sz="1845"/>
          </a:p>
          <a:p>
            <a:pPr lvl="1" algn="just">
              <a:lnSpc>
                <a:spcPct val="130000"/>
              </a:lnSpc>
            </a:pPr>
            <a:r>
              <a:rPr lang="en-US" sz="1845"/>
              <a:t>SP becomes 2000</a:t>
            </a:r>
            <a:endParaRPr lang="en-US" sz="1845"/>
          </a:p>
          <a:p>
            <a:pPr lvl="1" algn="just">
              <a:lnSpc>
                <a:spcPct val="130000"/>
              </a:lnSpc>
            </a:pPr>
            <a:r>
              <a:rPr lang="en-US" sz="1845"/>
              <a:t>IP becomes 3000 (back to main program)</a:t>
            </a:r>
            <a:endParaRPr lang="en-US" sz="1845"/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 fontScale="90000"/>
          </a:bodyPr>
          <a:p>
            <a:r>
              <a:rPr lang="en-US" sz="3600"/>
              <a:t>5.3. CALL and RET Example (Near CALL) </a:t>
            </a:r>
            <a:endParaRPr lang="en-US" sz="3600"/>
          </a:p>
        </p:txBody>
      </p:sp>
      <p:pic>
        <p:nvPicPr>
          <p:cNvPr id="4" name="Picture 3" descr="Image 14-05-2025 at 2.1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200400"/>
            <a:ext cx="7788275" cy="2692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/>
          </a:bodyPr>
          <a:p>
            <a:pPr algn="just">
              <a:lnSpc>
                <a:spcPct val="130000"/>
              </a:lnSpc>
            </a:pPr>
            <a:r>
              <a:rPr lang="en-US"/>
              <a:t>PUSH AX (AX = 017B):</a:t>
            </a:r>
            <a:endParaRPr lang="en-US"/>
          </a:p>
          <a:p>
            <a:pPr lvl="1" algn="just">
              <a:lnSpc>
                <a:spcPct val="130000"/>
              </a:lnSpc>
            </a:pPr>
            <a:r>
              <a:rPr lang="en-US" sz="1845"/>
              <a:t>AX is pushed on stack</a:t>
            </a:r>
            <a:endParaRPr lang="en-US" sz="1845"/>
          </a:p>
          <a:p>
            <a:pPr lvl="1" algn="just">
              <a:lnSpc>
                <a:spcPct val="130000"/>
              </a:lnSpc>
            </a:pPr>
            <a:r>
              <a:rPr lang="en-US" sz="1845"/>
              <a:t>SP becomes 1FFE</a:t>
            </a:r>
            <a:endParaRPr lang="en-US" sz="1845"/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/>
          </a:bodyPr>
          <a:p>
            <a:r>
              <a:rPr lang="en-US" sz="3600"/>
              <a:t>Diagram 2: PUSH and POP Example</a:t>
            </a:r>
            <a:endParaRPr lang="en-US" sz="3600"/>
          </a:p>
        </p:txBody>
      </p:sp>
      <p:pic>
        <p:nvPicPr>
          <p:cNvPr id="5" name="Picture 4" descr="Image 14-05-2025 at 2.1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2819400"/>
            <a:ext cx="6659880" cy="2759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/>
          </a:bodyPr>
          <a:p>
            <a:pPr algn="just">
              <a:lnSpc>
                <a:spcPct val="130000"/>
              </a:lnSpc>
            </a:pPr>
            <a:r>
              <a:rPr lang="en-US"/>
              <a:t>POP AX :</a:t>
            </a:r>
            <a:endParaRPr lang="en-US"/>
          </a:p>
          <a:p>
            <a:pPr lvl="1" algn="just">
              <a:lnSpc>
                <a:spcPct val="130000"/>
              </a:lnSpc>
            </a:pPr>
            <a:r>
              <a:rPr lang="en-US" sz="1845"/>
              <a:t>AX is popped from stack</a:t>
            </a:r>
            <a:endParaRPr lang="en-US" sz="1845"/>
          </a:p>
          <a:p>
            <a:pPr lvl="1" algn="just">
              <a:lnSpc>
                <a:spcPct val="130000"/>
              </a:lnSpc>
            </a:pPr>
            <a:r>
              <a:rPr lang="en-US" sz="1845"/>
              <a:t>SP becomes 2000</a:t>
            </a:r>
            <a:endParaRPr lang="en-US" sz="1845"/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/>
          </a:bodyPr>
          <a:p>
            <a:r>
              <a:rPr lang="en-US" sz="3600"/>
              <a:t>Diagram 2: PUSH and POP Example</a:t>
            </a:r>
            <a:endParaRPr lang="en-US" sz="3600"/>
          </a:p>
        </p:txBody>
      </p:sp>
      <p:pic>
        <p:nvPicPr>
          <p:cNvPr id="4" name="Picture 3" descr="Image 14-05-2025 at 2.19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2895600"/>
            <a:ext cx="79756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/>
          </a:bodyPr>
          <a:p>
            <a:pPr algn="just">
              <a:lnSpc>
                <a:spcPct val="130000"/>
              </a:lnSpc>
            </a:pPr>
            <a:r>
              <a:rPr lang="en-US"/>
              <a:t>Main Program → CALL Subroutine1 → Subroutine1 calls Subroutine2</a:t>
            </a:r>
            <a:endParaRPr lang="en-US"/>
          </a:p>
          <a:p>
            <a:pPr lvl="1" algn="just">
              <a:lnSpc>
                <a:spcPct val="130000"/>
              </a:lnSpc>
            </a:pPr>
            <a:r>
              <a:rPr lang="en-US" sz="1845"/>
              <a:t>CALL Subroutine1:</a:t>
            </a:r>
            <a:endParaRPr lang="en-US" sz="1845"/>
          </a:p>
          <a:p>
            <a:pPr lvl="2" algn="just">
              <a:lnSpc>
                <a:spcPct val="130000"/>
              </a:lnSpc>
            </a:pPr>
            <a:r>
              <a:rPr lang="en-US" sz="1610"/>
              <a:t>Push IP1 (Main address)</a:t>
            </a:r>
            <a:endParaRPr lang="en-US" sz="1610"/>
          </a:p>
          <a:p>
            <a:pPr lvl="2" algn="just">
              <a:lnSpc>
                <a:spcPct val="130000"/>
              </a:lnSpc>
            </a:pPr>
            <a:r>
              <a:rPr lang="en-US" sz="1610"/>
              <a:t>SP = 1FFE</a:t>
            </a:r>
            <a:endParaRPr lang="en-US" sz="1610"/>
          </a:p>
          <a:p>
            <a:pPr lvl="1" algn="just">
              <a:lnSpc>
                <a:spcPct val="130000"/>
              </a:lnSpc>
            </a:pPr>
            <a:r>
              <a:rPr lang="en-US" sz="1845"/>
              <a:t>In Subroutine1 → CALL Subroutine2:</a:t>
            </a:r>
            <a:endParaRPr lang="en-US" sz="1845"/>
          </a:p>
          <a:p>
            <a:pPr lvl="2" algn="just">
              <a:lnSpc>
                <a:spcPct val="130000"/>
              </a:lnSpc>
            </a:pPr>
            <a:r>
              <a:rPr lang="en-US" sz="1610"/>
              <a:t>Push IP2 (Subroutine1 address)</a:t>
            </a:r>
            <a:endParaRPr lang="en-US" sz="1610"/>
          </a:p>
          <a:p>
            <a:pPr lvl="2" algn="just">
              <a:lnSpc>
                <a:spcPct val="130000"/>
              </a:lnSpc>
            </a:pPr>
            <a:r>
              <a:rPr lang="en-US" sz="1610"/>
              <a:t>SP = 1FFC</a:t>
            </a:r>
            <a:endParaRPr lang="en-US" sz="1610"/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sz="2000">
                <a:solidFill>
                  <a:srgbClr val="FF0000"/>
                </a:solidFill>
                <a:sym typeface="+mn-ea"/>
              </a:rPr>
              <a:t>Make the diagram ?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sz="2000">
                <a:solidFill>
                  <a:srgbClr val="FF0000"/>
                </a:solidFill>
                <a:sym typeface="+mn-ea"/>
              </a:rPr>
              <a:t>Also tell me :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sz="2000">
                <a:solidFill>
                  <a:srgbClr val="FF0000"/>
                </a:solidFill>
                <a:sym typeface="+mn-ea"/>
              </a:rPr>
              <a:t>Output of RET from Subroutine2 ?</a:t>
            </a:r>
            <a:endParaRPr lang="en-US" sz="2000">
              <a:solidFill>
                <a:srgbClr val="FF0000"/>
              </a:solidFill>
              <a:sym typeface="+mn-ea"/>
            </a:endParaRPr>
          </a:p>
          <a:p>
            <a:pPr marL="365760" lvl="1" indent="0" algn="just">
              <a:lnSpc>
                <a:spcPct val="130000"/>
              </a:lnSpc>
              <a:buFont typeface="Wingdings" panose="05000000000000000000" charset="0"/>
              <a:buNone/>
            </a:pPr>
            <a:r>
              <a:rPr lang="en-US" sz="2000">
                <a:solidFill>
                  <a:srgbClr val="FF0000"/>
                </a:solidFill>
                <a:sym typeface="+mn-ea"/>
              </a:rPr>
              <a:t>Output of RET from Subroutine1 ?</a:t>
            </a: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/>
          </a:bodyPr>
          <a:p>
            <a:r>
              <a:rPr lang="en-US" sz="3600"/>
              <a:t>Diagram 3: Nested CALL Example</a:t>
            </a:r>
            <a:endParaRPr lang="en-US" sz="3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/>
          </a:bodyPr>
          <a:p>
            <a:r>
              <a:rPr lang="en-US" sz="3600"/>
              <a:t>Diagram 3: Nested Call Example</a:t>
            </a:r>
            <a:endParaRPr lang="en-US" sz="3600"/>
          </a:p>
        </p:txBody>
      </p:sp>
      <p:pic>
        <p:nvPicPr>
          <p:cNvPr id="5" name="Content Placeholder 4" descr="Image 14-05-2025 at 2.2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1065" y="1415415"/>
            <a:ext cx="7340600" cy="4775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11885"/>
            <a:ext cx="8229600" cy="5383530"/>
          </a:xfrm>
        </p:spPr>
        <p:txBody>
          <a:bodyPr>
            <a:normAutofit/>
          </a:bodyPr>
          <a:p>
            <a:pPr algn="just">
              <a:lnSpc>
                <a:spcPct val="130000"/>
              </a:lnSpc>
            </a:pPr>
            <a:r>
              <a:rPr lang="en-US"/>
              <a:t>RET from Subroutine2:</a:t>
            </a:r>
            <a:endParaRPr lang="en-US"/>
          </a:p>
          <a:p>
            <a:pPr lvl="2" algn="just">
              <a:lnSpc>
                <a:spcPct val="130000"/>
              </a:lnSpc>
            </a:pPr>
            <a:r>
              <a:rPr lang="en-US" sz="1610"/>
              <a:t>IP2 is popped</a:t>
            </a:r>
            <a:endParaRPr lang="en-US" sz="1610"/>
          </a:p>
          <a:p>
            <a:pPr lvl="2" algn="just">
              <a:lnSpc>
                <a:spcPct val="130000"/>
              </a:lnSpc>
            </a:pPr>
            <a:r>
              <a:rPr lang="en-US" sz="1610"/>
              <a:t>SP becomes 1FFE</a:t>
            </a:r>
            <a:endParaRPr lang="en-US" sz="1610"/>
          </a:p>
          <a:p>
            <a:pPr algn="just">
              <a:lnSpc>
                <a:spcPct val="130000"/>
              </a:lnSpc>
            </a:pPr>
            <a:r>
              <a:rPr lang="en-US" sz="2000">
                <a:sym typeface="+mn-ea"/>
              </a:rPr>
              <a:t>RET from Subroutine2:</a:t>
            </a:r>
            <a:endParaRPr lang="en-US" sz="2000"/>
          </a:p>
          <a:p>
            <a:pPr lvl="2" algn="just">
              <a:lnSpc>
                <a:spcPct val="130000"/>
              </a:lnSpc>
            </a:pPr>
            <a:r>
              <a:rPr lang="en-US" sz="2000">
                <a:sym typeface="+mn-ea"/>
              </a:rPr>
              <a:t>IP1 is popped</a:t>
            </a:r>
            <a:endParaRPr lang="en-US" sz="2000">
              <a:sym typeface="+mn-ea"/>
            </a:endParaRPr>
          </a:p>
          <a:p>
            <a:pPr lvl="2" algn="just">
              <a:lnSpc>
                <a:spcPct val="130000"/>
              </a:lnSpc>
            </a:pPr>
            <a:r>
              <a:rPr lang="en-US" sz="2000">
                <a:sym typeface="+mn-ea"/>
              </a:rPr>
              <a:t>SP becomes 2000</a:t>
            </a:r>
            <a:endParaRPr lang="en-US" sz="2000">
              <a:sym typeface="+mn-ea"/>
            </a:endParaRPr>
          </a:p>
          <a:p>
            <a:pPr marL="777240" lvl="2" indent="0" algn="just">
              <a:lnSpc>
                <a:spcPct val="130000"/>
              </a:lnSpc>
              <a:buNone/>
            </a:pPr>
            <a:endParaRPr lang="en-US" sz="20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10895"/>
          </a:xfrm>
        </p:spPr>
        <p:txBody>
          <a:bodyPr>
            <a:normAutofit/>
          </a:bodyPr>
          <a:p>
            <a:r>
              <a:rPr lang="en-US" sz="3600"/>
              <a:t>Diagram 3: Nested CALL Example</a:t>
            </a:r>
            <a:endParaRPr lang="en-US" sz="3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3198</Words>
  <Application>WPS Writer</Application>
  <PresentationFormat>On-screen Show (4:3)</PresentationFormat>
  <Paragraphs>155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3" baseType="lpstr">
      <vt:lpstr>Arial</vt:lpstr>
      <vt:lpstr>SimSun</vt:lpstr>
      <vt:lpstr>Wingdings</vt:lpstr>
      <vt:lpstr>Wingdings 2</vt:lpstr>
      <vt:lpstr>Wingdings 2</vt:lpstr>
      <vt:lpstr>Wingdings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Computer Organization &amp; Assembly Language (CSC-205)</vt:lpstr>
      <vt:lpstr>PowerPoint 演示文稿</vt:lpstr>
      <vt:lpstr>PowerPoint 演示文稿</vt:lpstr>
      <vt:lpstr>PowerPoint 演示文稿</vt:lpstr>
      <vt:lpstr>5.1. PROGRAM FLOW</vt:lpstr>
      <vt:lpstr>5.3. STACK</vt:lpstr>
      <vt:lpstr>5.3. STACK</vt:lpstr>
      <vt:lpstr>5.3. STACK</vt:lpstr>
      <vt:lpstr>5.3. STACK</vt:lpstr>
      <vt:lpstr>5.3. STACK</vt:lpstr>
      <vt:lpstr>5.3. STACK</vt:lpstr>
      <vt:lpstr>5.3. CALL and RET Example (Near CALL) </vt:lpstr>
      <vt:lpstr>5.3. CALL and RET Example (Near CALL) </vt:lpstr>
      <vt:lpstr>5.3. CALL and RET Example (Near CALL) </vt:lpstr>
      <vt:lpstr>Diagram 2: PUSH and POP Example</vt:lpstr>
      <vt:lpstr>Diagram 2: PUSH and POP Example</vt:lpstr>
      <vt:lpstr>Diagram 2: PUSH and POP Example</vt:lpstr>
      <vt:lpstr>Diagram 3: Nested CALL Example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297</cp:revision>
  <dcterms:created xsi:type="dcterms:W3CDTF">2025-05-14T10:16:25Z</dcterms:created>
  <dcterms:modified xsi:type="dcterms:W3CDTF">2025-05-14T10:16:25Z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