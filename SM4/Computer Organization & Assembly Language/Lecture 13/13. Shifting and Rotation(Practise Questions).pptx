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  <p:sldMasterId id="2147483696" r:id="rId6"/>
    <p:sldMasterId id="2147483708" r:id="rId7"/>
    <p:sldMasterId id="2147483720" r:id="rId8"/>
    <p:sldMasterId id="2147483732" r:id="rId9"/>
    <p:sldMasterId id="2147483744" r:id="rId10"/>
    <p:sldMasterId id="2147483756" r:id="rId11"/>
    <p:sldMasterId id="2147483768" r:id="rId12"/>
    <p:sldMasterId id="2147483780" r:id="rId13"/>
    <p:sldMasterId id="2147483792" r:id="rId14"/>
    <p:sldMasterId id="2147483804" r:id="rId15"/>
  </p:sldMasterIdLst>
  <p:notesMasterIdLst>
    <p:notesMasterId r:id="rId18"/>
  </p:notesMasterIdLst>
  <p:sldIdLst>
    <p:sldId id="256" r:id="rId16"/>
    <p:sldId id="527" r:id="rId17"/>
    <p:sldId id="530" r:id="rId19"/>
    <p:sldId id="536" r:id="rId20"/>
    <p:sldId id="596" r:id="rId21"/>
    <p:sldId id="597" r:id="rId22"/>
    <p:sldId id="598" r:id="rId23"/>
    <p:sldId id="599" r:id="rId24"/>
    <p:sldId id="600" r:id="rId25"/>
    <p:sldId id="601" r:id="rId26"/>
    <p:sldId id="602" r:id="rId27"/>
    <p:sldId id="603" r:id="rId28"/>
    <p:sldId id="604" r:id="rId29"/>
    <p:sldId id="606" r:id="rId30"/>
    <p:sldId id="605" r:id="rId31"/>
    <p:sldId id="608" r:id="rId32"/>
    <p:sldId id="607" r:id="rId33"/>
    <p:sldId id="609" r:id="rId34"/>
    <p:sldId id="379" r:id="rId3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mraabbas" initials="n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53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9" Type="http://schemas.openxmlformats.org/officeDocument/2006/relationships/commentAuthors" Target="commentAuthors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19.xml"/><Relationship Id="rId34" Type="http://schemas.openxmlformats.org/officeDocument/2006/relationships/slide" Target="slides/slide18.xml"/><Relationship Id="rId33" Type="http://schemas.openxmlformats.org/officeDocument/2006/relationships/slide" Target="slides/slide17.xml"/><Relationship Id="rId32" Type="http://schemas.openxmlformats.org/officeDocument/2006/relationships/slide" Target="slides/slide16.xml"/><Relationship Id="rId31" Type="http://schemas.openxmlformats.org/officeDocument/2006/relationships/slide" Target="slides/slide15.xml"/><Relationship Id="rId30" Type="http://schemas.openxmlformats.org/officeDocument/2006/relationships/slide" Target="slides/slide14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3.xml"/><Relationship Id="rId28" Type="http://schemas.openxmlformats.org/officeDocument/2006/relationships/slide" Target="slides/slide12.xml"/><Relationship Id="rId27" Type="http://schemas.openxmlformats.org/officeDocument/2006/relationships/slide" Target="slides/slide11.xml"/><Relationship Id="rId26" Type="http://schemas.openxmlformats.org/officeDocument/2006/relationships/slide" Target="slides/slide10.xml"/><Relationship Id="rId25" Type="http://schemas.openxmlformats.org/officeDocument/2006/relationships/slide" Target="slides/slide9.xml"/><Relationship Id="rId24" Type="http://schemas.openxmlformats.org/officeDocument/2006/relationships/slide" Target="slides/slide8.xml"/><Relationship Id="rId23" Type="http://schemas.openxmlformats.org/officeDocument/2006/relationships/slide" Target="slides/slide7.xml"/><Relationship Id="rId22" Type="http://schemas.openxmlformats.org/officeDocument/2006/relationships/slide" Target="slides/slide6.xml"/><Relationship Id="rId21" Type="http://schemas.openxmlformats.org/officeDocument/2006/relationships/slide" Target="slides/slide5.xml"/><Relationship Id="rId20" Type="http://schemas.openxmlformats.org/officeDocument/2006/relationships/slide" Target="slides/slide4.xml"/><Relationship Id="rId2" Type="http://schemas.openxmlformats.org/officeDocument/2006/relationships/theme" Target="theme/theme1.xml"/><Relationship Id="rId19" Type="http://schemas.openxmlformats.org/officeDocument/2006/relationships/slide" Target="slides/slide3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2.xml"/><Relationship Id="rId16" Type="http://schemas.openxmlformats.org/officeDocument/2006/relationships/slide" Target="slides/slide1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1.xml"/><Relationship Id="rId5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7.xml"/><Relationship Id="rId12" Type="http://schemas.openxmlformats.org/officeDocument/2006/relationships/theme" Target="../theme/theme6.xml"/><Relationship Id="rId11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56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5.xml"/><Relationship Id="rId8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2.xml"/><Relationship Id="rId5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0.xml"/><Relationship Id="rId3" Type="http://schemas.openxmlformats.org/officeDocument/2006/relationships/slideLayout" Target="../slideLayouts/slideLayout69.xml"/><Relationship Id="rId2" Type="http://schemas.openxmlformats.org/officeDocument/2006/relationships/slideLayout" Target="../slideLayouts/slideLayout68.xml"/><Relationship Id="rId12" Type="http://schemas.openxmlformats.org/officeDocument/2006/relationships/theme" Target="../theme/theme7.xml"/><Relationship Id="rId11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6.xml"/><Relationship Id="rId1" Type="http://schemas.openxmlformats.org/officeDocument/2006/relationships/slideLayout" Target="../slideLayouts/slideLayout67.xml"/></Relationships>
</file>

<file path=ppt/slideMasters/_rels/slideMaster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6.xml"/><Relationship Id="rId8" Type="http://schemas.openxmlformats.org/officeDocument/2006/relationships/slideLayout" Target="../slideLayouts/slideLayout85.xml"/><Relationship Id="rId7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3.xml"/><Relationship Id="rId5" Type="http://schemas.openxmlformats.org/officeDocument/2006/relationships/slideLayout" Target="../slideLayouts/slideLayout82.xml"/><Relationship Id="rId4" Type="http://schemas.openxmlformats.org/officeDocument/2006/relationships/slideLayout" Target="../slideLayouts/slideLayout81.xml"/><Relationship Id="rId3" Type="http://schemas.openxmlformats.org/officeDocument/2006/relationships/slideLayout" Target="../slideLayouts/slideLayout80.xml"/><Relationship Id="rId2" Type="http://schemas.openxmlformats.org/officeDocument/2006/relationships/slideLayout" Target="../slideLayouts/slideLayout79.xml"/><Relationship Id="rId12" Type="http://schemas.openxmlformats.org/officeDocument/2006/relationships/theme" Target="../theme/theme8.xml"/><Relationship Id="rId11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87.xml"/><Relationship Id="rId1" Type="http://schemas.openxmlformats.org/officeDocument/2006/relationships/slideLayout" Target="../slideLayouts/slideLayout78.xml"/></Relationships>
</file>

<file path=ppt/slideMasters/_rels/slideMaster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7.xml"/><Relationship Id="rId8" Type="http://schemas.openxmlformats.org/officeDocument/2006/relationships/slideLayout" Target="../slideLayouts/slideLayout96.xml"/><Relationship Id="rId7" Type="http://schemas.openxmlformats.org/officeDocument/2006/relationships/slideLayout" Target="../slideLayouts/slideLayout95.xml"/><Relationship Id="rId6" Type="http://schemas.openxmlformats.org/officeDocument/2006/relationships/slideLayout" Target="../slideLayouts/slideLayout94.xml"/><Relationship Id="rId5" Type="http://schemas.openxmlformats.org/officeDocument/2006/relationships/slideLayout" Target="../slideLayouts/slideLayout93.xml"/><Relationship Id="rId4" Type="http://schemas.openxmlformats.org/officeDocument/2006/relationships/slideLayout" Target="../slideLayouts/slideLayout92.xml"/><Relationship Id="rId3" Type="http://schemas.openxmlformats.org/officeDocument/2006/relationships/slideLayout" Target="../slideLayouts/slideLayout91.xml"/><Relationship Id="rId2" Type="http://schemas.openxmlformats.org/officeDocument/2006/relationships/slideLayout" Target="../slideLayouts/slideLayout90.xml"/><Relationship Id="rId12" Type="http://schemas.openxmlformats.org/officeDocument/2006/relationships/theme" Target="../theme/theme9.xml"/><Relationship Id="rId11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98.xml"/><Relationship Id="rId1" Type="http://schemas.openxmlformats.org/officeDocument/2006/relationships/slideLayout" Target="../slideLayouts/slideLayout89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8.xml"/><Relationship Id="rId8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05.xml"/><Relationship Id="rId5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101.xml"/><Relationship Id="rId12" Type="http://schemas.openxmlformats.org/officeDocument/2006/relationships/theme" Target="../theme/theme10.xml"/><Relationship Id="rId11" Type="http://schemas.openxmlformats.org/officeDocument/2006/relationships/slideLayout" Target="../slideLayouts/slideLayout110.xml"/><Relationship Id="rId10" Type="http://schemas.openxmlformats.org/officeDocument/2006/relationships/slideLayout" Target="../slideLayouts/slideLayout109.xml"/><Relationship Id="rId1" Type="http://schemas.openxmlformats.org/officeDocument/2006/relationships/slideLayout" Target="../slideLayouts/slideLayout100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9.xml"/><Relationship Id="rId8" Type="http://schemas.openxmlformats.org/officeDocument/2006/relationships/slideLayout" Target="../slideLayouts/slideLayout118.xml"/><Relationship Id="rId7" Type="http://schemas.openxmlformats.org/officeDocument/2006/relationships/slideLayout" Target="../slideLayouts/slideLayout117.xml"/><Relationship Id="rId6" Type="http://schemas.openxmlformats.org/officeDocument/2006/relationships/slideLayout" Target="../slideLayouts/slideLayout116.xml"/><Relationship Id="rId5" Type="http://schemas.openxmlformats.org/officeDocument/2006/relationships/slideLayout" Target="../slideLayouts/slideLayout115.xml"/><Relationship Id="rId4" Type="http://schemas.openxmlformats.org/officeDocument/2006/relationships/slideLayout" Target="../slideLayouts/slideLayout114.xml"/><Relationship Id="rId3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112.xml"/><Relationship Id="rId12" Type="http://schemas.openxmlformats.org/officeDocument/2006/relationships/theme" Target="../theme/theme11.xml"/><Relationship Id="rId11" Type="http://schemas.openxmlformats.org/officeDocument/2006/relationships/slideLayout" Target="../slideLayouts/slideLayout121.xml"/><Relationship Id="rId10" Type="http://schemas.openxmlformats.org/officeDocument/2006/relationships/slideLayout" Target="../slideLayouts/slideLayout120.xml"/><Relationship Id="rId1" Type="http://schemas.openxmlformats.org/officeDocument/2006/relationships/slideLayout" Target="../slideLayouts/slideLayout111.xml"/></Relationships>
</file>

<file path=ppt/slideMasters/_rels/slideMaster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0.xml"/><Relationship Id="rId8" Type="http://schemas.openxmlformats.org/officeDocument/2006/relationships/slideLayout" Target="../slideLayouts/slideLayout129.xml"/><Relationship Id="rId7" Type="http://schemas.openxmlformats.org/officeDocument/2006/relationships/slideLayout" Target="../slideLayouts/slideLayout128.xml"/><Relationship Id="rId6" Type="http://schemas.openxmlformats.org/officeDocument/2006/relationships/slideLayout" Target="../slideLayouts/slideLayout127.xml"/><Relationship Id="rId5" Type="http://schemas.openxmlformats.org/officeDocument/2006/relationships/slideLayout" Target="../slideLayouts/slideLayout126.xml"/><Relationship Id="rId4" Type="http://schemas.openxmlformats.org/officeDocument/2006/relationships/slideLayout" Target="../slideLayouts/slideLayout125.xml"/><Relationship Id="rId3" Type="http://schemas.openxmlformats.org/officeDocument/2006/relationships/slideLayout" Target="../slideLayouts/slideLayout124.xml"/><Relationship Id="rId2" Type="http://schemas.openxmlformats.org/officeDocument/2006/relationships/slideLayout" Target="../slideLayouts/slideLayout123.xml"/><Relationship Id="rId12" Type="http://schemas.openxmlformats.org/officeDocument/2006/relationships/theme" Target="../theme/theme12.xml"/><Relationship Id="rId11" Type="http://schemas.openxmlformats.org/officeDocument/2006/relationships/slideLayout" Target="../slideLayouts/slideLayout132.xml"/><Relationship Id="rId10" Type="http://schemas.openxmlformats.org/officeDocument/2006/relationships/slideLayout" Target="../slideLayouts/slideLayout131.xml"/><Relationship Id="rId1" Type="http://schemas.openxmlformats.org/officeDocument/2006/relationships/slideLayout" Target="../slideLayouts/slideLayout122.xml"/></Relationships>
</file>

<file path=ppt/slideMasters/_rels/slideMaster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1.xml"/><Relationship Id="rId8" Type="http://schemas.openxmlformats.org/officeDocument/2006/relationships/slideLayout" Target="../slideLayouts/slideLayout140.xml"/><Relationship Id="rId7" Type="http://schemas.openxmlformats.org/officeDocument/2006/relationships/slideLayout" Target="../slideLayouts/slideLayout139.xml"/><Relationship Id="rId6" Type="http://schemas.openxmlformats.org/officeDocument/2006/relationships/slideLayout" Target="../slideLayouts/slideLayout138.xml"/><Relationship Id="rId5" Type="http://schemas.openxmlformats.org/officeDocument/2006/relationships/slideLayout" Target="../slideLayouts/slideLayout137.xml"/><Relationship Id="rId4" Type="http://schemas.openxmlformats.org/officeDocument/2006/relationships/slideLayout" Target="../slideLayouts/slideLayout136.xml"/><Relationship Id="rId3" Type="http://schemas.openxmlformats.org/officeDocument/2006/relationships/slideLayout" Target="../slideLayouts/slideLayout135.xml"/><Relationship Id="rId2" Type="http://schemas.openxmlformats.org/officeDocument/2006/relationships/slideLayout" Target="../slideLayouts/slideLayout134.xml"/><Relationship Id="rId12" Type="http://schemas.openxmlformats.org/officeDocument/2006/relationships/theme" Target="../theme/theme13.xml"/><Relationship Id="rId11" Type="http://schemas.openxmlformats.org/officeDocument/2006/relationships/slideLayout" Target="../slideLayouts/slideLayout143.xml"/><Relationship Id="rId10" Type="http://schemas.openxmlformats.org/officeDocument/2006/relationships/slideLayout" Target="../slideLayouts/slideLayout142.xml"/><Relationship Id="rId1" Type="http://schemas.openxmlformats.org/officeDocument/2006/relationships/slideLayout" Target="../slideLayouts/slideLayout133.xml"/></Relationships>
</file>

<file path=ppt/slideMasters/_rels/slideMaster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2.xml"/><Relationship Id="rId8" Type="http://schemas.openxmlformats.org/officeDocument/2006/relationships/slideLayout" Target="../slideLayouts/slideLayout151.xml"/><Relationship Id="rId7" Type="http://schemas.openxmlformats.org/officeDocument/2006/relationships/slideLayout" Target="../slideLayouts/slideLayout150.xml"/><Relationship Id="rId6" Type="http://schemas.openxmlformats.org/officeDocument/2006/relationships/slideLayout" Target="../slideLayouts/slideLayout149.xml"/><Relationship Id="rId5" Type="http://schemas.openxmlformats.org/officeDocument/2006/relationships/slideLayout" Target="../slideLayouts/slideLayout148.xml"/><Relationship Id="rId4" Type="http://schemas.openxmlformats.org/officeDocument/2006/relationships/slideLayout" Target="../slideLayouts/slideLayout147.xml"/><Relationship Id="rId3" Type="http://schemas.openxmlformats.org/officeDocument/2006/relationships/slideLayout" Target="../slideLayouts/slideLayout146.xml"/><Relationship Id="rId2" Type="http://schemas.openxmlformats.org/officeDocument/2006/relationships/slideLayout" Target="../slideLayouts/slideLayout145.xml"/><Relationship Id="rId12" Type="http://schemas.openxmlformats.org/officeDocument/2006/relationships/theme" Target="../theme/theme14.xml"/><Relationship Id="rId11" Type="http://schemas.openxmlformats.org/officeDocument/2006/relationships/slideLayout" Target="../slideLayouts/slideLayout154.xml"/><Relationship Id="rId10" Type="http://schemas.openxmlformats.org/officeDocument/2006/relationships/slideLayout" Target="../slideLayouts/slideLayout153.xml"/><Relationship Id="rId1" Type="http://schemas.openxmlformats.org/officeDocument/2006/relationships/slideLayout" Target="../slideLayouts/slideLayout1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57.xml"/><Relationship Id="rId1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9.xml"/><Relationship Id="rId1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12.xml"/><Relationship Id="rId1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34.xml"/><Relationship Id="rId1" Type="http://schemas.openxmlformats.org/officeDocument/2006/relationships/image" Target="../media/image9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45.xml"/><Relationship Id="rId1" Type="http://schemas.openxmlformats.org/officeDocument/2006/relationships/image" Target="../media/image10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dirty="0" smtClean="0"/>
              <a:t>Lecture 13</a:t>
            </a:r>
            <a:endParaRPr lang="en-US" sz="2400" dirty="0" smtClean="0"/>
          </a:p>
          <a:p>
            <a:endParaRPr lang="en-US" sz="320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Computer Organization &amp; Assembly Language</a:t>
            </a:r>
            <a:br>
              <a:rPr lang="en-US" dirty="0" smtClean="0"/>
            </a:br>
            <a:r>
              <a:rPr lang="en-US" dirty="0" smtClean="0"/>
              <a:t>(CSC-236)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22-04-2025 at 10.47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2186940"/>
            <a:ext cx="8229600" cy="22396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en-US" sz="2400"/>
              <a:t>The set of shifting and rotation instructions is one of the most useful set in any processor’s instruction set</a:t>
            </a:r>
            <a:endParaRPr lang="en-US" sz="2400"/>
          </a:p>
          <a:p>
            <a:pPr algn="just"/>
            <a:r>
              <a:rPr lang="en-US" sz="2400"/>
              <a:t>They simplify really complex tasks to a very neat and concise algorithm</a:t>
            </a:r>
            <a:endParaRPr lang="en-US" sz="2400"/>
          </a:p>
          <a:p>
            <a:pPr algn="just"/>
            <a:r>
              <a:rPr lang="en-US" sz="2400"/>
              <a:t>The shifting and rotation operations which are available in our processor are mentioned in the next slide</a:t>
            </a:r>
            <a:endParaRPr lang="en-US" sz="2400"/>
          </a:p>
          <a:p>
            <a:pPr marL="0" indent="0" algn="just">
              <a:buNone/>
            </a:pPr>
            <a:endParaRPr lang="en-US" sz="240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b="1">
                <a:latin typeface="Verdana Bold" panose="020B0604030504040204" charset="0"/>
                <a:cs typeface="Verdana Bold" panose="020B0604030504040204" charset="0"/>
              </a:rPr>
              <a:t>4.2. SHIFTING AND ROTATIONS</a:t>
            </a:r>
            <a:endParaRPr lang="en-US" b="1">
              <a:latin typeface="Verdana Bold" panose="020B0604030504040204" charset="0"/>
              <a:cs typeface="Verdana Bold" panose="020B060403050404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15-04-2024 at 1.33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53060" y="751840"/>
            <a:ext cx="8424545" cy="54921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/>
          <p:nvPr>
            <p:ph idx="1"/>
          </p:nvPr>
        </p:nvSpPr>
        <p:spPr>
          <a:xfrm>
            <a:off x="457200" y="298450"/>
            <a:ext cx="8229600" cy="6017260"/>
          </a:xfrm>
        </p:spPr>
        <p:txBody>
          <a:bodyPr/>
          <a:p>
            <a:pPr marL="0" indent="0">
              <a:buNone/>
            </a:pPr>
            <a:r>
              <a:rPr lang="en-US"/>
              <a:t>Practise Questions</a:t>
            </a:r>
            <a:endParaRPr lang="en-US"/>
          </a:p>
          <a:p>
            <a:pPr marL="0" indent="0" algn="just">
              <a:buNone/>
            </a:pP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marL="0" indent="0" algn="just">
              <a:buNone/>
            </a:pPr>
            <a:r>
              <a:rPr lang="en-US" sz="1800" b="1">
                <a:latin typeface="Verdana Bold" panose="020B0604030504040204" charset="0"/>
                <a:cs typeface="Verdana Bold" panose="020B0604030504040204" charset="0"/>
              </a:rPr>
              <a:t>1.) Write a program that multiplies a number by 2 using the Shift instruction and stores the result in memory.</a:t>
            </a: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marL="0" indent="0" algn="just">
              <a:buNone/>
            </a:pP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algn="just"/>
            <a:r>
              <a:rPr lang="en-US" sz="1800">
                <a:solidFill>
                  <a:srgbClr val="FF0000"/>
                </a:solidFill>
              </a:rPr>
              <a:t>For Example:</a:t>
            </a:r>
            <a:endParaRPr lang="en-US" sz="180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US" sz="1800">
                <a:solidFill>
                  <a:srgbClr val="FF0000"/>
                </a:solidFill>
              </a:rPr>
              <a:t>7 * 2 = 14</a:t>
            </a:r>
            <a:endParaRPr lang="en-US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/>
          <p:nvPr>
            <p:ph idx="1"/>
          </p:nvPr>
        </p:nvSpPr>
        <p:spPr>
          <a:xfrm>
            <a:off x="457200" y="246380"/>
            <a:ext cx="8361045" cy="5849620"/>
          </a:xfrm>
        </p:spPr>
        <p:txBody>
          <a:bodyPr/>
          <a:p>
            <a:r>
              <a:rPr lang="en-US"/>
              <a:t>Solution</a:t>
            </a:r>
            <a:endParaRPr lang="en-US"/>
          </a:p>
          <a:p>
            <a:pPr marL="0" indent="0" algn="just">
              <a:buNone/>
            </a:pP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marL="0" indent="0" algn="just">
              <a:buNone/>
            </a:pPr>
            <a:endParaRPr lang="en-US" sz="1660"/>
          </a:p>
        </p:txBody>
      </p:sp>
      <p:pic>
        <p:nvPicPr>
          <p:cNvPr id="3" name="Picture 2" descr="Image 05-05-2025 at 12.25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8361045" cy="56889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/>
          <p:nvPr>
            <p:ph idx="1"/>
          </p:nvPr>
        </p:nvSpPr>
        <p:spPr>
          <a:xfrm>
            <a:off x="457200" y="298450"/>
            <a:ext cx="8229600" cy="6017260"/>
          </a:xfrm>
        </p:spPr>
        <p:txBody>
          <a:bodyPr/>
          <a:p>
            <a:pPr marL="0" indent="0">
              <a:buNone/>
            </a:pPr>
            <a:r>
              <a:rPr lang="en-US"/>
              <a:t>Practise Questions</a:t>
            </a:r>
            <a:endParaRPr lang="en-US"/>
          </a:p>
          <a:p>
            <a:pPr marL="0" indent="0" algn="just">
              <a:buNone/>
            </a:pP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marL="0" indent="0" algn="just">
              <a:buNone/>
            </a:pPr>
            <a:r>
              <a:rPr lang="en-US" sz="1800" b="1">
                <a:latin typeface="Verdana Bold" panose="020B0604030504040204" charset="0"/>
                <a:cs typeface="Verdana Bold" panose="020B0604030504040204" charset="0"/>
              </a:rPr>
              <a:t>2.) Write a program that multiplies a number by 4 using the Shift instruction and stores the result in memory.</a:t>
            </a: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marL="0" indent="0" algn="just">
              <a:buNone/>
            </a:pP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algn="just"/>
            <a:r>
              <a:rPr lang="en-US" sz="1800">
                <a:solidFill>
                  <a:srgbClr val="FF0000"/>
                </a:solidFill>
              </a:rPr>
              <a:t>For Example:</a:t>
            </a:r>
            <a:endParaRPr lang="en-US" sz="180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US" sz="1800">
                <a:solidFill>
                  <a:srgbClr val="FF0000"/>
                </a:solidFill>
              </a:rPr>
              <a:t>5 * 4 = 20</a:t>
            </a:r>
            <a:endParaRPr lang="en-US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/>
          <p:nvPr>
            <p:ph idx="1"/>
          </p:nvPr>
        </p:nvSpPr>
        <p:spPr>
          <a:xfrm>
            <a:off x="457200" y="246380"/>
            <a:ext cx="8361045" cy="5849620"/>
          </a:xfrm>
        </p:spPr>
        <p:txBody>
          <a:bodyPr/>
          <a:p>
            <a:r>
              <a:rPr lang="en-US"/>
              <a:t>Solution</a:t>
            </a:r>
            <a:endParaRPr lang="en-US"/>
          </a:p>
          <a:p>
            <a:pPr marL="0" indent="0" algn="just">
              <a:buNone/>
            </a:pP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marL="0" indent="0" algn="just">
              <a:buNone/>
            </a:pPr>
            <a:endParaRPr lang="en-US" sz="1660"/>
          </a:p>
        </p:txBody>
      </p:sp>
      <p:pic>
        <p:nvPicPr>
          <p:cNvPr id="4" name="Picture 3" descr="Image 05-05-2025 at 12.28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914400"/>
            <a:ext cx="8325485" cy="5562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/>
          <p:nvPr>
            <p:ph idx="1"/>
          </p:nvPr>
        </p:nvSpPr>
        <p:spPr>
          <a:xfrm>
            <a:off x="457200" y="298450"/>
            <a:ext cx="8229600" cy="6017260"/>
          </a:xfrm>
        </p:spPr>
        <p:txBody>
          <a:bodyPr/>
          <a:p>
            <a:pPr marL="0" indent="0">
              <a:buNone/>
            </a:pPr>
            <a:r>
              <a:rPr lang="en-US"/>
              <a:t>Practise Questions</a:t>
            </a:r>
            <a:endParaRPr lang="en-US"/>
          </a:p>
          <a:p>
            <a:pPr marL="0" indent="0" algn="just">
              <a:buNone/>
            </a:pP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marL="0" indent="0" algn="just">
              <a:buNone/>
            </a:pPr>
            <a:r>
              <a:rPr lang="en-US" sz="1800" b="1">
                <a:latin typeface="Verdana Bold" panose="020B0604030504040204" charset="0"/>
                <a:cs typeface="Verdana Bold" panose="020B0604030504040204" charset="0"/>
              </a:rPr>
              <a:t>3.) Write a program that divides a number by 2 using the shift instruction and stores the result in memory.</a:t>
            </a: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marL="0" indent="0" algn="just">
              <a:buNone/>
            </a:pP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algn="just"/>
            <a:r>
              <a:rPr lang="en-US" sz="1800">
                <a:solidFill>
                  <a:srgbClr val="FF0000"/>
                </a:solidFill>
              </a:rPr>
              <a:t>For Example:</a:t>
            </a:r>
            <a:endParaRPr lang="en-US" sz="180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US" sz="1800">
                <a:solidFill>
                  <a:srgbClr val="FF0000"/>
                </a:solidFill>
              </a:rPr>
              <a:t>18 % 2 = 9</a:t>
            </a:r>
            <a:endParaRPr lang="en-US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/>
          <p:nvPr>
            <p:ph idx="1"/>
          </p:nvPr>
        </p:nvSpPr>
        <p:spPr>
          <a:xfrm>
            <a:off x="457200" y="246380"/>
            <a:ext cx="8361045" cy="5849620"/>
          </a:xfrm>
        </p:spPr>
        <p:txBody>
          <a:bodyPr/>
          <a:p>
            <a:r>
              <a:rPr lang="en-US"/>
              <a:t>Solution</a:t>
            </a:r>
            <a:endParaRPr lang="en-US"/>
          </a:p>
          <a:p>
            <a:pPr marL="0" indent="0" algn="just">
              <a:buNone/>
            </a:pP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marL="0" indent="0" algn="just">
              <a:buNone/>
            </a:pPr>
            <a:endParaRPr lang="en-US" sz="1660"/>
          </a:p>
        </p:txBody>
      </p:sp>
      <p:pic>
        <p:nvPicPr>
          <p:cNvPr id="3" name="Picture 2" descr="Image 05-05-2025 at 12.30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990600"/>
            <a:ext cx="8285480" cy="56908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/>
          <p:nvPr>
            <p:ph idx="1"/>
          </p:nvPr>
        </p:nvSpPr>
        <p:spPr>
          <a:xfrm>
            <a:off x="457200" y="298450"/>
            <a:ext cx="8229600" cy="6017260"/>
          </a:xfrm>
        </p:spPr>
        <p:txBody>
          <a:bodyPr/>
          <a:p>
            <a:pPr marL="0" indent="0">
              <a:buNone/>
            </a:pPr>
            <a:r>
              <a:rPr lang="en-US"/>
              <a:t>Practise Questions</a:t>
            </a:r>
            <a:endParaRPr lang="en-US"/>
          </a:p>
          <a:p>
            <a:pPr marL="0" indent="0" algn="just">
              <a:buNone/>
            </a:pP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marL="0" indent="0" algn="just">
              <a:buNone/>
            </a:pPr>
            <a:r>
              <a:rPr lang="en-US" sz="1800" b="1">
                <a:latin typeface="Verdana Bold" panose="020B0604030504040204" charset="0"/>
                <a:cs typeface="Verdana Bold" panose="020B0604030504040204" charset="0"/>
              </a:rPr>
              <a:t>4.) Write a program that divides a number by 4 using the shift instruction and stores the result in memory.</a:t>
            </a: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marL="0" indent="0" algn="just">
              <a:buNone/>
            </a:pP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algn="just"/>
            <a:r>
              <a:rPr lang="en-US" sz="1800">
                <a:solidFill>
                  <a:srgbClr val="FF0000"/>
                </a:solidFill>
              </a:rPr>
              <a:t>For Example:</a:t>
            </a:r>
            <a:endParaRPr lang="en-US" sz="180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US" sz="1800">
                <a:solidFill>
                  <a:srgbClr val="FF0000"/>
                </a:solidFill>
              </a:rPr>
              <a:t>36 % 4 = 9</a:t>
            </a:r>
            <a:endParaRPr lang="en-US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/>
          <p:nvPr>
            <p:ph idx="1"/>
          </p:nvPr>
        </p:nvSpPr>
        <p:spPr>
          <a:xfrm>
            <a:off x="457200" y="246380"/>
            <a:ext cx="8361045" cy="5849620"/>
          </a:xfrm>
        </p:spPr>
        <p:txBody>
          <a:bodyPr/>
          <a:p>
            <a:r>
              <a:rPr lang="en-US"/>
              <a:t>Solution</a:t>
            </a:r>
            <a:endParaRPr lang="en-US"/>
          </a:p>
          <a:p>
            <a:pPr marL="0" indent="0" algn="just">
              <a:buNone/>
            </a:pP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marL="0" indent="0" algn="just">
              <a:buNone/>
            </a:pPr>
            <a:endParaRPr lang="en-US" sz="1660"/>
          </a:p>
        </p:txBody>
      </p:sp>
      <p:pic>
        <p:nvPicPr>
          <p:cNvPr id="4" name="Picture 3" descr="Image 05-05-2025 at 12.32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90600"/>
            <a:ext cx="8305800" cy="53568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/>
          <p:nvPr>
            <p:ph idx="1"/>
          </p:nvPr>
        </p:nvSpPr>
        <p:spPr>
          <a:xfrm>
            <a:off x="457200" y="298450"/>
            <a:ext cx="8229600" cy="6017260"/>
          </a:xfrm>
        </p:spPr>
        <p:txBody>
          <a:bodyPr/>
          <a:p>
            <a:pPr marL="0" indent="0">
              <a:buNone/>
            </a:pPr>
            <a:r>
              <a:rPr lang="en-US"/>
              <a:t>Practise Questions</a:t>
            </a:r>
            <a:endParaRPr lang="en-US"/>
          </a:p>
          <a:p>
            <a:pPr marL="0" indent="0" algn="just">
              <a:buNone/>
            </a:pP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marL="0" indent="0" algn="just">
              <a:buNone/>
            </a:pPr>
            <a:r>
              <a:rPr lang="en-US" sz="1800" b="1">
                <a:latin typeface="Verdana Bold" panose="020B0604030504040204" charset="0"/>
                <a:cs typeface="Verdana Bold" panose="020B0604030504040204" charset="0"/>
              </a:rPr>
              <a:t>5.) Write a program to rotate an 8-bit number left by one bit using ROL and store the result.</a:t>
            </a: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marL="0" indent="0" algn="just">
              <a:buNone/>
            </a:pP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marL="0" indent="0" algn="just">
              <a:buNone/>
            </a:pPr>
            <a:r>
              <a:rPr lang="en-US" sz="1800">
                <a:solidFill>
                  <a:srgbClr val="FF0000"/>
                </a:solidFill>
              </a:rPr>
              <a:t>Example:</a:t>
            </a:r>
            <a:endParaRPr lang="en-US" sz="180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US" sz="1800">
                <a:solidFill>
                  <a:srgbClr val="FF0000"/>
                </a:solidFill>
              </a:rPr>
              <a:t> Input = 10110001b → Output = 01100011b</a:t>
            </a:r>
            <a:endParaRPr lang="en-US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/>
          <p:nvPr>
            <p:ph idx="1"/>
          </p:nvPr>
        </p:nvSpPr>
        <p:spPr>
          <a:xfrm>
            <a:off x="457200" y="246380"/>
            <a:ext cx="8361045" cy="5849620"/>
          </a:xfrm>
        </p:spPr>
        <p:txBody>
          <a:bodyPr/>
          <a:p>
            <a:r>
              <a:rPr lang="en-US"/>
              <a:t>Solution</a:t>
            </a:r>
            <a:endParaRPr lang="en-US"/>
          </a:p>
          <a:p>
            <a:pPr marL="0" indent="0" algn="just">
              <a:buNone/>
            </a:pP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marL="0" indent="0" algn="just">
              <a:buNone/>
            </a:pPr>
            <a:endParaRPr lang="en-US" sz="1660"/>
          </a:p>
        </p:txBody>
      </p:sp>
      <p:pic>
        <p:nvPicPr>
          <p:cNvPr id="3" name="Picture 2" descr="Image 05-05-2025 at 12.40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914400"/>
            <a:ext cx="6035675" cy="571881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/>
          <p:nvPr>
            <p:ph idx="1"/>
          </p:nvPr>
        </p:nvSpPr>
        <p:spPr>
          <a:xfrm>
            <a:off x="457200" y="298450"/>
            <a:ext cx="8229600" cy="6017260"/>
          </a:xfrm>
        </p:spPr>
        <p:txBody>
          <a:bodyPr/>
          <a:p>
            <a:pPr marL="0" indent="0">
              <a:buNone/>
            </a:pPr>
            <a:r>
              <a:rPr lang="en-US"/>
              <a:t>Practise Questions</a:t>
            </a:r>
            <a:endParaRPr lang="en-US"/>
          </a:p>
          <a:p>
            <a:pPr marL="0" indent="0" algn="just">
              <a:buNone/>
            </a:pP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marL="0" indent="0" algn="just">
              <a:buNone/>
            </a:pPr>
            <a:r>
              <a:rPr lang="en-US" sz="1800" b="1">
                <a:latin typeface="Verdana Bold" panose="020B0604030504040204" charset="0"/>
                <a:cs typeface="Verdana Bold" panose="020B0604030504040204" charset="0"/>
              </a:rPr>
              <a:t>6.) Write a program to rotate an 8-bit number right by one bit using ROR and store the result.</a:t>
            </a: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marL="0" indent="0" algn="just">
              <a:buNone/>
            </a:pP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marL="0" indent="0" algn="just">
              <a:buNone/>
            </a:pPr>
            <a:r>
              <a:rPr lang="en-US" sz="1800">
                <a:solidFill>
                  <a:srgbClr val="FF0000"/>
                </a:solidFill>
              </a:rPr>
              <a:t>Example:</a:t>
            </a:r>
            <a:endParaRPr lang="en-US" sz="1800">
              <a:solidFill>
                <a:srgbClr val="FF0000"/>
              </a:solidFill>
            </a:endParaRPr>
          </a:p>
          <a:p>
            <a:pPr marL="0" indent="0" algn="just">
              <a:buNone/>
            </a:pPr>
            <a:r>
              <a:rPr lang="en-US" sz="1800">
                <a:solidFill>
                  <a:srgbClr val="FF0000"/>
                </a:solidFill>
              </a:rPr>
              <a:t> Input = 10110001b → Output = 11011000b</a:t>
            </a:r>
            <a:endParaRPr lang="en-US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/>
          <p:nvPr>
            <p:ph idx="1"/>
          </p:nvPr>
        </p:nvSpPr>
        <p:spPr>
          <a:xfrm>
            <a:off x="457200" y="246380"/>
            <a:ext cx="8361045" cy="5849620"/>
          </a:xfrm>
        </p:spPr>
        <p:txBody>
          <a:bodyPr/>
          <a:p>
            <a:r>
              <a:rPr lang="en-US"/>
              <a:t>Solution</a:t>
            </a:r>
            <a:endParaRPr lang="en-US"/>
          </a:p>
          <a:p>
            <a:pPr marL="0" indent="0" algn="just">
              <a:buNone/>
            </a:pP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marL="0" indent="0" algn="just">
              <a:buNone/>
            </a:pPr>
            <a:endParaRPr lang="en-US" sz="1660"/>
          </a:p>
        </p:txBody>
      </p:sp>
      <p:pic>
        <p:nvPicPr>
          <p:cNvPr id="3" name="Picture 2" descr="Image 05-05-2025 at 12.41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914400"/>
            <a:ext cx="7132955" cy="569023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/>
          <p:nvPr>
            <p:ph idx="1"/>
          </p:nvPr>
        </p:nvSpPr>
        <p:spPr>
          <a:xfrm>
            <a:off x="457200" y="298450"/>
            <a:ext cx="8229600" cy="6017260"/>
          </a:xfrm>
        </p:spPr>
        <p:txBody>
          <a:bodyPr/>
          <a:p>
            <a:pPr marL="0" indent="0">
              <a:buNone/>
            </a:pPr>
            <a:r>
              <a:rPr lang="en-US"/>
              <a:t>Practise Questions</a:t>
            </a:r>
            <a:endParaRPr lang="en-US"/>
          </a:p>
          <a:p>
            <a:pPr marL="0" indent="0" algn="just">
              <a:buNone/>
            </a:pP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marL="0" indent="0" algn="just">
              <a:buNone/>
            </a:pPr>
            <a:r>
              <a:rPr lang="en-US" sz="1800" b="1">
                <a:latin typeface="Verdana Bold" panose="020B0604030504040204" charset="0"/>
                <a:cs typeface="Verdana Bold" panose="020B0604030504040204" charset="0"/>
              </a:rPr>
              <a:t>7.) Rotate a number right bit-by-bit using ROR and count how many 1s were shifted into the carry flag.</a:t>
            </a: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marL="0" indent="0" algn="just">
              <a:buNone/>
            </a:pPr>
            <a:endParaRPr lang="en-US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/>
          <p:nvPr>
            <p:ph idx="1"/>
          </p:nvPr>
        </p:nvSpPr>
        <p:spPr>
          <a:xfrm>
            <a:off x="457200" y="246380"/>
            <a:ext cx="8361045" cy="5849620"/>
          </a:xfrm>
        </p:spPr>
        <p:txBody>
          <a:bodyPr/>
          <a:p>
            <a:r>
              <a:rPr lang="en-US"/>
              <a:t>Solution</a:t>
            </a:r>
            <a:endParaRPr lang="en-US"/>
          </a:p>
          <a:p>
            <a:pPr marL="0" indent="0" algn="just">
              <a:buNone/>
            </a:pP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marL="0" indent="0" algn="just">
              <a:buNone/>
            </a:pPr>
            <a:endParaRPr lang="en-US" sz="1660"/>
          </a:p>
        </p:txBody>
      </p:sp>
      <p:pic>
        <p:nvPicPr>
          <p:cNvPr id="3" name="Picture 2" descr="Image 05-05-2025 at 12.45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4950" y="246380"/>
            <a:ext cx="6010275" cy="6540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049780"/>
            <a:ext cx="8229600" cy="4046220"/>
          </a:xfrm>
        </p:spPr>
        <p:txBody>
          <a:bodyPr/>
          <a:p>
            <a:pPr marL="0" indent="0" algn="ctr">
              <a:buNone/>
            </a:pPr>
            <a:r>
              <a:rPr lang="en-US"/>
              <a:t> End of Lecture</a:t>
            </a:r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1_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2_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3_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0</TotalTime>
  <Words>1476</Words>
  <Application>WPS Writer</Application>
  <PresentationFormat>On-screen Show (4:3)</PresentationFormat>
  <Paragraphs>89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14</vt:i4>
      </vt:variant>
      <vt:variant>
        <vt:lpstr>幻灯片标题</vt:lpstr>
      </vt:variant>
      <vt:variant>
        <vt:i4>19</vt:i4>
      </vt:variant>
    </vt:vector>
  </HeadingPairs>
  <TitlesOfParts>
    <vt:vector size="47" baseType="lpstr">
      <vt:lpstr>Arial</vt:lpstr>
      <vt:lpstr>SimSun</vt:lpstr>
      <vt:lpstr>Wingdings</vt:lpstr>
      <vt:lpstr>Wingdings 2</vt:lpstr>
      <vt:lpstr>Wingdings 2</vt:lpstr>
      <vt:lpstr>Verdana Bold</vt:lpstr>
      <vt:lpstr>Arial Bold</vt:lpstr>
      <vt:lpstr>Verdana</vt:lpstr>
      <vt:lpstr>Microsoft YaHei</vt:lpstr>
      <vt:lpstr>汉仪旗黑</vt:lpstr>
      <vt:lpstr>Arial Unicode MS</vt:lpstr>
      <vt:lpstr>Calibri</vt:lpstr>
      <vt:lpstr>Helvetica Neue</vt:lpstr>
      <vt:lpstr>宋体-简</vt:lpstr>
      <vt:lpstr>Paper</vt:lpstr>
      <vt:lpstr>1_Paper</vt:lpstr>
      <vt:lpstr>2_Paper</vt:lpstr>
      <vt:lpstr>3_Paper</vt:lpstr>
      <vt:lpstr>4_Paper</vt:lpstr>
      <vt:lpstr>5_Paper</vt:lpstr>
      <vt:lpstr>6_Paper</vt:lpstr>
      <vt:lpstr>7_Paper</vt:lpstr>
      <vt:lpstr>8_Paper</vt:lpstr>
      <vt:lpstr>9_Paper</vt:lpstr>
      <vt:lpstr>10_Paper</vt:lpstr>
      <vt:lpstr>11_Paper</vt:lpstr>
      <vt:lpstr>12_Paper</vt:lpstr>
      <vt:lpstr>13_Paper</vt:lpstr>
      <vt:lpstr>Computer Organization &amp; Assembly Language (CSC-236)</vt:lpstr>
      <vt:lpstr>PowerPoint 演示文稿</vt:lpstr>
      <vt:lpstr>4.2. SHIFTING AND ROTATIONS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Creating Digital Content (CSC-</dc:title>
  <dc:creator>Huda Sarfraz</dc:creator>
  <cp:lastModifiedBy>Nimra Abbas</cp:lastModifiedBy>
  <cp:revision>268</cp:revision>
  <dcterms:created xsi:type="dcterms:W3CDTF">2025-05-05T07:45:54Z</dcterms:created>
  <dcterms:modified xsi:type="dcterms:W3CDTF">2025-05-05T07:45:54Z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1033-5.7.0.8090</vt:lpwstr>
  </property>
</Properties>
</file>