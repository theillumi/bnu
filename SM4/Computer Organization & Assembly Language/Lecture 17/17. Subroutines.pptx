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</p:sldMasterIdLst>
  <p:notesMasterIdLst>
    <p:notesMasterId r:id="rId32"/>
  </p:notesMasterIdLst>
  <p:sldIdLst>
    <p:sldId id="256" r:id="rId16"/>
    <p:sldId id="618" r:id="rId17"/>
    <p:sldId id="619" r:id="rId18"/>
    <p:sldId id="620" r:id="rId19"/>
    <p:sldId id="621" r:id="rId20"/>
    <p:sldId id="622" r:id="rId21"/>
    <p:sldId id="623" r:id="rId22"/>
    <p:sldId id="624" r:id="rId23"/>
    <p:sldId id="625" r:id="rId24"/>
    <p:sldId id="626" r:id="rId25"/>
    <p:sldId id="627" r:id="rId26"/>
    <p:sldId id="628" r:id="rId27"/>
    <p:sldId id="629" r:id="rId28"/>
    <p:sldId id="630" r:id="rId29"/>
    <p:sldId id="632" r:id="rId30"/>
    <p:sldId id="37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slide" Target="slides/slide3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17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(CSC-236)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45870"/>
            <a:ext cx="8229600" cy="5306060"/>
          </a:xfrm>
        </p:spPr>
        <p:txBody>
          <a:bodyPr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Why Save Registers in Subroutines?</a:t>
            </a:r>
            <a:endParaRPr lang="en-US">
              <a:solidFill>
                <a:srgbClr val="FF0000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Subroutines sometimes change (or destroy) values in registers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This causes problems if the main program needs those values later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We can’t remember which subroutine changes which register all the time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 b="1">
                <a:solidFill>
                  <a:schemeClr val="tx1"/>
                </a:solidFill>
                <a:latin typeface="Verdana Bold" panose="020B0604030504040204" charset="0"/>
                <a:cs typeface="Verdana Bold" panose="020B0604030504040204" charset="0"/>
              </a:rPr>
              <a:t>Solution:</a:t>
            </a:r>
            <a:r>
              <a:rPr lang="en-US" sz="2000">
                <a:solidFill>
                  <a:schemeClr val="tx1"/>
                </a:solidFill>
              </a:rPr>
              <a:t> Use PUSH to save register values and POP to get them back.</a:t>
            </a:r>
            <a:endParaRPr lang="en-US" sz="2000">
              <a:solidFill>
                <a:schemeClr val="tx1"/>
              </a:solidFill>
            </a:endParaRPr>
          </a:p>
          <a:p>
            <a:pPr>
              <a:buNone/>
            </a:pPr>
            <a:endParaRPr lang="en-US" sz="260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07770"/>
            <a:ext cx="8229600" cy="5344160"/>
          </a:xfrm>
        </p:spPr>
        <p:txBody>
          <a:bodyPr/>
          <a:p>
            <a:pPr>
              <a:buNone/>
            </a:pP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600">
                <a:solidFill>
                  <a:srgbClr val="FF0000"/>
                </a:solidFill>
              </a:rPr>
              <a:t>PUSH &amp; POP to the Rescue!</a:t>
            </a:r>
            <a:endParaRPr lang="en-US" sz="2600">
              <a:solidFill>
                <a:srgbClr val="FF0000"/>
              </a:solidFill>
            </a:endParaRPr>
          </a:p>
          <a:p>
            <a:pPr algn="l"/>
            <a:r>
              <a:rPr lang="en-US" sz="2000"/>
              <a:t>Before changing a register ➡️ PUSH it (save it on the stack)</a:t>
            </a:r>
            <a:endParaRPr lang="en-US" sz="2000"/>
          </a:p>
          <a:p>
            <a:pPr algn="l"/>
            <a:r>
              <a:rPr lang="en-US" sz="2000"/>
              <a:t>After subroutine work is done ➡️ POP it (get it back from the stack)</a:t>
            </a:r>
            <a:endParaRPr lang="en-US" sz="2000"/>
          </a:p>
          <a:p>
            <a:pPr algn="l"/>
            <a:r>
              <a:rPr lang="en-US" sz="2000"/>
              <a:t>This way, the subroutine doesn’t mess up the main program</a:t>
            </a:r>
            <a:endParaRPr lang="en-US" sz="2000"/>
          </a:p>
          <a:p>
            <a:pPr algn="l"/>
            <a:endParaRPr lang="en-US" sz="2000"/>
          </a:p>
          <a:p>
            <a:pPr marL="0" indent="0" algn="l">
              <a:buNone/>
            </a:pP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  <p:pic>
        <p:nvPicPr>
          <p:cNvPr id="4" name="Picture 3" descr="Image 19-05-2025 at 10.5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3429000"/>
            <a:ext cx="6350000" cy="271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07770"/>
            <a:ext cx="8229600" cy="5344160"/>
          </a:xfrm>
        </p:spPr>
        <p:txBody>
          <a:bodyPr/>
          <a:p>
            <a:pPr marL="0" indent="0" algn="l">
              <a:buNone/>
            </a:pPr>
            <a:r>
              <a:rPr lang="en-US" sz="2000">
                <a:solidFill>
                  <a:srgbClr val="FF0000"/>
                </a:solidFill>
              </a:rPr>
              <a:t>PUSH AX 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rgbClr val="FF0000"/>
                </a:solidFill>
              </a:rPr>
              <a:t>MOV AX, 5 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rgbClr val="FF0000"/>
                </a:solidFill>
              </a:rPr>
              <a:t>PUSH AX  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rgbClr val="FF0000"/>
                </a:solidFill>
              </a:rPr>
              <a:t>POP AX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l">
              <a:buNone/>
            </a:pP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What is the output of this?</a:t>
            </a:r>
            <a:endParaRPr lang="en-US" sz="31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44160"/>
          </a:xfrm>
        </p:spPr>
        <p:txBody>
          <a:bodyPr/>
          <a:p>
            <a:pPr marL="0" indent="0" algn="l">
              <a:buNone/>
            </a:pPr>
            <a:r>
              <a:rPr lang="en-US" sz="2000">
                <a:solidFill>
                  <a:schemeClr val="tx1"/>
                </a:solidFill>
              </a:rPr>
              <a:t>MOV AX, 6</a:t>
            </a:r>
            <a:endParaRPr lang="en-US" sz="20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chemeClr val="tx1"/>
                </a:solidFill>
              </a:rPr>
              <a:t>PUSH AX </a:t>
            </a:r>
            <a:endParaRPr lang="en-US" sz="20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chemeClr val="tx1"/>
                </a:solidFill>
              </a:rPr>
              <a:t>MOV AX, 5 </a:t>
            </a:r>
            <a:endParaRPr lang="en-US" sz="20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chemeClr val="tx1"/>
                </a:solidFill>
              </a:rPr>
              <a:t>PUSH AX   ; Return 5 </a:t>
            </a:r>
            <a:endParaRPr lang="en-US" sz="200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2000">
                <a:solidFill>
                  <a:schemeClr val="tx1"/>
                </a:solidFill>
              </a:rPr>
              <a:t>POP AX     ; Return 6</a:t>
            </a:r>
            <a:endParaRPr lang="en-US" sz="2000">
              <a:solidFill>
                <a:schemeClr val="tx1"/>
              </a:solidFill>
            </a:endParaRPr>
          </a:p>
          <a:p>
            <a:pPr marL="0" indent="0" algn="l">
              <a:buNone/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4225"/>
          </a:xfrm>
        </p:spPr>
        <p:txBody>
          <a:bodyPr>
            <a:normAutofit/>
          </a:bodyPr>
          <a:p>
            <a:r>
              <a:rPr lang="en-US" sz="3110"/>
              <a:t>Example</a:t>
            </a:r>
            <a:endParaRPr lang="en-US" sz="3110"/>
          </a:p>
        </p:txBody>
      </p:sp>
      <p:pic>
        <p:nvPicPr>
          <p:cNvPr id="4" name="Picture 3" descr="Image 19-05-2025 at 11.0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05" y="2971800"/>
            <a:ext cx="8479155" cy="1499235"/>
          </a:xfrm>
          <a:prstGeom prst="rect">
            <a:avLst/>
          </a:prstGeom>
        </p:spPr>
      </p:pic>
      <p:pic>
        <p:nvPicPr>
          <p:cNvPr id="5" name="Picture 4" descr="Image 19-05-2025 at 11.0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5" y="4648200"/>
            <a:ext cx="8503285" cy="21501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4225"/>
          </a:xfrm>
        </p:spPr>
        <p:txBody>
          <a:bodyPr>
            <a:normAutofit/>
          </a:bodyPr>
          <a:p>
            <a:r>
              <a:rPr lang="en-US" sz="3110"/>
              <a:t>Example - 5.4</a:t>
            </a:r>
            <a:endParaRPr lang="en-US" sz="3110"/>
          </a:p>
        </p:txBody>
      </p:sp>
      <p:pic>
        <p:nvPicPr>
          <p:cNvPr id="6" name="Content Placeholder 5" descr="Image 19-05-2025 at 11.0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914400"/>
            <a:ext cx="7973695" cy="58362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4225"/>
          </a:xfrm>
        </p:spPr>
        <p:txBody>
          <a:bodyPr>
            <a:normAutofit/>
          </a:bodyPr>
          <a:p>
            <a:r>
              <a:rPr lang="en-US" sz="3110"/>
              <a:t>Example : 5.4</a:t>
            </a:r>
            <a:endParaRPr lang="en-US" sz="3110"/>
          </a:p>
        </p:txBody>
      </p:sp>
      <p:pic>
        <p:nvPicPr>
          <p:cNvPr id="4" name="Content Placeholder 3" descr="Image 19-05-2025 at 11.04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3565" y="887730"/>
            <a:ext cx="8105775" cy="5937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07770"/>
            <a:ext cx="8229600" cy="5344160"/>
          </a:xfrm>
        </p:spPr>
        <p:txBody>
          <a:bodyPr/>
          <a:p>
            <a:pPr>
              <a:buNone/>
            </a:pP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rgbClr val="FF0000"/>
                </a:solidFill>
              </a:rPr>
              <a:t>Observing Register Behavior with CALL, PUSH, and POP </a:t>
            </a:r>
            <a:endParaRPr lang="en-US" sz="2600">
              <a:solidFill>
                <a:srgbClr val="FF0000"/>
              </a:solidFill>
            </a:endParaRPr>
          </a:p>
          <a:p>
            <a:pPr algn="l"/>
            <a:r>
              <a:rPr lang="en-US" sz="2000"/>
              <a:t>Inside a debugger, registers look unchanged before and after a CALL</a:t>
            </a:r>
            <a:endParaRPr lang="en-US" sz="2000"/>
          </a:p>
          <a:p>
            <a:pPr algn="l"/>
            <a:r>
              <a:rPr lang="en-US" sz="2000"/>
              <a:t>Why? Because the subroutine saves registers using PUSH and restores them using POP</a:t>
            </a:r>
            <a:endParaRPr lang="en-US" sz="2000"/>
          </a:p>
          <a:p>
            <a:pPr algn="l"/>
            <a:r>
              <a:rPr lang="en-US" sz="2000"/>
              <a:t>This is standard practice — every well-written subroutine should do this</a:t>
            </a:r>
            <a:endParaRPr lang="en-US" sz="2000"/>
          </a:p>
          <a:p>
            <a:pPr algn="l"/>
            <a:r>
              <a:rPr lang="en-US" sz="2000"/>
              <a:t>PUSH stores values on the stack + POP retrieves them</a:t>
            </a:r>
            <a:endParaRPr lang="en-US" sz="2000"/>
          </a:p>
          <a:p>
            <a:pPr algn="l"/>
            <a:r>
              <a:rPr lang="en-US" sz="2000"/>
              <a:t>This makes subroutines safe — they don’t disturb the caller’s data</a:t>
            </a:r>
            <a:endParaRPr lang="en-US" sz="2000"/>
          </a:p>
          <a:p>
            <a:pPr marL="0" indent="0" algn="l">
              <a:buNone/>
            </a:pP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44160"/>
          </a:xfrm>
        </p:spPr>
        <p:txBody>
          <a:bodyPr>
            <a:normAutofit lnSpcReduction="10000"/>
          </a:bodyPr>
          <a:p>
            <a:pPr>
              <a:buNone/>
            </a:pPr>
            <a:r>
              <a:rPr lang="en-US" sz="2000">
                <a:solidFill>
                  <a:srgbClr val="FF0000"/>
                </a:solidFill>
              </a:rPr>
              <a:t>How PUSH and POP Work?</a:t>
            </a:r>
            <a:endParaRPr lang="en-US" sz="2000">
              <a:solidFill>
                <a:srgbClr val="FF0000"/>
              </a:solidFill>
            </a:endParaRPr>
          </a:p>
          <a:p>
            <a:pPr marL="0" indent="0" algn="l">
              <a:buNone/>
            </a:pPr>
            <a:r>
              <a:rPr lang="en-US" sz="2000"/>
              <a:t>PUSH:</a:t>
            </a:r>
            <a:endParaRPr lang="en-US" sz="2000"/>
          </a:p>
          <a:p>
            <a:pPr algn="l"/>
            <a:r>
              <a:rPr lang="en-US" sz="2000"/>
              <a:t>Decreases SP (stack pointer) by 2</a:t>
            </a:r>
            <a:endParaRPr lang="en-US" sz="2000"/>
          </a:p>
          <a:p>
            <a:pPr algn="l"/>
            <a:r>
              <a:rPr lang="en-US" sz="2000"/>
              <a:t>Moves a word from the source operand (e.g., AX) onto the stack</a:t>
            </a:r>
            <a:endParaRPr lang="en-US" sz="2000"/>
          </a:p>
          <a:p>
            <a:pPr algn="l"/>
            <a:r>
              <a:rPr lang="en-US" sz="2000"/>
              <a:t>Often used to:</a:t>
            </a:r>
            <a:endParaRPr lang="en-US" sz="2000"/>
          </a:p>
          <a:p>
            <a:pPr lvl="1" algn="l"/>
            <a:r>
              <a:rPr lang="en-US" sz="1845"/>
              <a:t>Save register values</a:t>
            </a:r>
            <a:endParaRPr lang="en-US" sz="1845"/>
          </a:p>
          <a:p>
            <a:pPr lvl="1" algn="l"/>
            <a:r>
              <a:rPr lang="en-US" sz="1845"/>
              <a:t>Pass parameters to subroutines</a:t>
            </a:r>
            <a:endParaRPr lang="en-US" sz="1845"/>
          </a:p>
          <a:p>
            <a:pPr lvl="1" algn="l"/>
            <a:r>
              <a:rPr lang="en-US" sz="1845"/>
              <a:t>Store temporary data</a:t>
            </a:r>
            <a:endParaRPr lang="en-US" sz="1845"/>
          </a:p>
          <a:p>
            <a:pPr marL="0" indent="0" algn="l">
              <a:buNone/>
            </a:pPr>
            <a:r>
              <a:rPr lang="en-US" sz="2000">
                <a:sym typeface="+mn-ea"/>
              </a:rPr>
              <a:t>POP:</a:t>
            </a:r>
            <a:endParaRPr lang="en-US" sz="2000"/>
          </a:p>
          <a:p>
            <a:pPr algn="l"/>
            <a:r>
              <a:rPr lang="en-US" sz="2000">
                <a:sym typeface="+mn-ea"/>
              </a:rPr>
              <a:t>Moves a word from the top of the stack to the destination operand</a:t>
            </a:r>
            <a:endParaRPr lang="en-US" sz="2000">
              <a:sym typeface="+mn-ea"/>
            </a:endParaRPr>
          </a:p>
          <a:p>
            <a:pPr algn="l"/>
            <a:r>
              <a:rPr lang="en-US" sz="2000"/>
              <a:t>Increases SP by 2 (to remove that item from the stack)</a:t>
            </a:r>
            <a:endParaRPr lang="en-US" sz="2000"/>
          </a:p>
          <a:p>
            <a:pPr algn="l"/>
            <a:r>
              <a:rPr lang="en-US" sz="2000"/>
              <a:t>Often used to:</a:t>
            </a:r>
            <a:endParaRPr lang="en-US" sz="2000"/>
          </a:p>
          <a:p>
            <a:pPr lvl="1" algn="l"/>
            <a:r>
              <a:rPr lang="en-US" sz="1845"/>
              <a:t>Restore register values</a:t>
            </a:r>
            <a:endParaRPr lang="en-US" sz="1845"/>
          </a:p>
          <a:p>
            <a:pPr lvl="1" algn="l"/>
            <a:r>
              <a:rPr lang="en-US" sz="1845"/>
              <a:t>Retrieve parameters or temporary variables</a:t>
            </a:r>
            <a:endParaRPr lang="en-US" sz="1845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44160"/>
          </a:xfrm>
        </p:spPr>
        <p:txBody>
          <a:bodyPr>
            <a:normAutofit fontScale="90000" lnSpcReduction="20000"/>
          </a:bodyPr>
          <a:p>
            <a:pPr>
              <a:buNone/>
            </a:pPr>
            <a:r>
              <a:rPr lang="en-US" sz="2000">
                <a:solidFill>
                  <a:srgbClr val="FF0000"/>
                </a:solidFill>
              </a:rPr>
              <a:t>CALL Instruction – Near vs Far </a:t>
            </a:r>
            <a:endParaRPr lang="en-US" sz="2000">
              <a:solidFill>
                <a:srgbClr val="FF0000"/>
              </a:solidFill>
            </a:endParaRPr>
          </a:p>
          <a:p>
            <a:r>
              <a:rPr lang="en-US" sz="2000"/>
              <a:t>CALL starts an out-of-line procedure (a subroutine)</a:t>
            </a:r>
            <a:endParaRPr lang="en-US" sz="2000"/>
          </a:p>
          <a:p>
            <a:r>
              <a:rPr lang="en-US" sz="1845"/>
              <a:t>It saves return information on the stack, allowing RET to bring</a:t>
            </a:r>
            <a:endParaRPr lang="en-US" sz="1845"/>
          </a:p>
          <a:p>
            <a:pPr marL="0" indent="0">
              <a:buNone/>
            </a:pPr>
            <a:r>
              <a:rPr lang="en-US" sz="1845"/>
              <a:t>   control back</a:t>
            </a:r>
            <a:endParaRPr lang="en-US" sz="1845"/>
          </a:p>
          <a:p>
            <a:pPr marL="0" indent="0">
              <a:buNone/>
            </a:pPr>
            <a:endParaRPr lang="en-US" sz="1845"/>
          </a:p>
          <a:p>
            <a:pPr marL="0" indent="0">
              <a:buNone/>
            </a:pPr>
            <a:r>
              <a:rPr lang="en-US" sz="1845">
                <a:solidFill>
                  <a:srgbClr val="FF0000"/>
                </a:solidFill>
              </a:rPr>
              <a:t>Near CALL (Intra-Segment Call):</a:t>
            </a:r>
            <a:endParaRPr lang="en-US" sz="1845">
              <a:solidFill>
                <a:srgbClr val="FF0000"/>
              </a:solidFill>
            </a:endParaRPr>
          </a:p>
          <a:p>
            <a:r>
              <a:rPr lang="en-US" sz="1845"/>
              <a:t>Procedure is in the same segment</a:t>
            </a:r>
            <a:endParaRPr lang="en-US" sz="1845"/>
          </a:p>
          <a:p>
            <a:r>
              <a:rPr lang="en-US" sz="1845"/>
              <a:t>SP is decremented by 2</a:t>
            </a:r>
            <a:endParaRPr lang="en-US" sz="1845"/>
          </a:p>
          <a:p>
            <a:r>
              <a:rPr lang="en-US" sz="1845"/>
              <a:t>IP (Instruction Pointer) is pushed onto the stack</a:t>
            </a:r>
            <a:endParaRPr lang="en-US" sz="1845"/>
          </a:p>
          <a:p>
            <a:r>
              <a:rPr lang="en-US" sz="1845"/>
              <a:t>Also called "Near Call".</a:t>
            </a:r>
            <a:endParaRPr lang="en-US" sz="1845"/>
          </a:p>
          <a:p>
            <a:pPr marL="0" indent="0">
              <a:buNone/>
            </a:pPr>
            <a:endParaRPr lang="en-US" sz="1845"/>
          </a:p>
          <a:p>
            <a:pPr marL="0" indent="0">
              <a:buNone/>
            </a:pPr>
            <a:r>
              <a:rPr lang="en-US" sz="1845">
                <a:solidFill>
                  <a:srgbClr val="FF0000"/>
                </a:solidFill>
                <a:sym typeface="+mn-ea"/>
              </a:rPr>
              <a:t>FAR CALL (Inter-Segment Call):</a:t>
            </a:r>
            <a:endParaRPr lang="en-US" sz="1845">
              <a:solidFill>
                <a:srgbClr val="FF0000"/>
              </a:solidFill>
            </a:endParaRPr>
          </a:p>
          <a:p>
            <a:r>
              <a:rPr lang="en-US" sz="1845">
                <a:sym typeface="+mn-ea"/>
              </a:rPr>
              <a:t>Procedure is in a different segment</a:t>
            </a:r>
            <a:endParaRPr lang="en-US" sz="1845">
              <a:sym typeface="+mn-ea"/>
            </a:endParaRPr>
          </a:p>
          <a:p>
            <a:r>
              <a:rPr lang="en-US" sz="1845"/>
              <a:t>SP is decremented by 2, and CS is pushed</a:t>
            </a:r>
            <a:endParaRPr lang="en-US" sz="1845"/>
          </a:p>
          <a:p>
            <a:r>
              <a:rPr lang="en-US" sz="1845"/>
              <a:t>Then SP is decremented by 2 again, and IP is pushed</a:t>
            </a:r>
            <a:endParaRPr lang="en-US" sz="1845"/>
          </a:p>
          <a:p>
            <a:r>
              <a:rPr lang="en-US" sz="1845"/>
              <a:t>CS and IP are updated with the segment and offset of the target procedure</a:t>
            </a:r>
            <a:endParaRPr lang="en-US" sz="1845"/>
          </a:p>
          <a:p>
            <a:r>
              <a:rPr lang="en-US" sz="1845"/>
              <a:t>Also called "Far Call"</a:t>
            </a:r>
            <a:endParaRPr lang="en-US" sz="1845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  <p:pic>
        <p:nvPicPr>
          <p:cNvPr id="4" name="Content Placeholder 3" descr="Image 19-05-2025 at 11.32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3400" y="1066800"/>
            <a:ext cx="8229600" cy="1449705"/>
          </a:xfrm>
          <a:prstGeom prst="rect">
            <a:avLst/>
          </a:prstGeom>
        </p:spPr>
      </p:pic>
      <p:pic>
        <p:nvPicPr>
          <p:cNvPr id="5" name="Picture 4" descr="Image 19-05-2025 at 11.33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67000"/>
            <a:ext cx="8216900" cy="4121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5540"/>
            <a:ext cx="8229600" cy="5189220"/>
          </a:xfrm>
        </p:spPr>
        <p:txBody>
          <a:bodyPr>
            <a:normAutofit/>
          </a:bodyPr>
          <a:p>
            <a:pPr>
              <a:buNone/>
            </a:pPr>
            <a:r>
              <a:rPr lang="en-US" sz="2400">
                <a:solidFill>
                  <a:srgbClr val="FF0000"/>
                </a:solidFill>
              </a:rPr>
              <a:t>Q: What is the difference between RET and RETF ?</a:t>
            </a:r>
            <a:endParaRPr lang="en-US" sz="2400">
              <a:solidFill>
                <a:srgbClr val="FF0000"/>
              </a:solidFill>
            </a:endParaRPr>
          </a:p>
          <a:p>
            <a:pPr>
              <a:buNone/>
            </a:pP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5540"/>
            <a:ext cx="8229600" cy="5189220"/>
          </a:xfrm>
        </p:spPr>
        <p:txBody>
          <a:bodyPr>
            <a:normAutofit/>
          </a:bodyPr>
          <a:p>
            <a:pPr>
              <a:buNone/>
            </a:pPr>
            <a:r>
              <a:rPr lang="en-US" sz="1800">
                <a:solidFill>
                  <a:srgbClr val="FF0000"/>
                </a:solidFill>
              </a:rPr>
              <a:t>Q: What is the difference between RET and RETF ?</a:t>
            </a:r>
            <a:endParaRPr lang="en-US" sz="180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tx1"/>
                </a:solidFill>
              </a:rPr>
              <a:t>The difference between RET and RETF is directly tied to the type of</a:t>
            </a:r>
            <a:endParaRPr lang="en-US" sz="180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tx1"/>
                </a:solidFill>
              </a:rPr>
              <a:t>CALL used — NEAR or FAR.</a:t>
            </a:r>
            <a:endParaRPr lang="en-US" sz="1800">
              <a:solidFill>
                <a:schemeClr val="tx1"/>
              </a:solidFill>
            </a:endParaRPr>
          </a:p>
          <a:p>
            <a:pPr>
              <a:buNone/>
            </a:pPr>
            <a:endParaRPr lang="en-US" sz="180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tx1"/>
                </a:solidFill>
              </a:rPr>
              <a:t>RET = Return from NEAR CALL </a:t>
            </a:r>
            <a:endParaRPr lang="en-US" sz="1800">
              <a:solidFill>
                <a:schemeClr val="tx1"/>
              </a:solidFill>
            </a:endParaRPr>
          </a:p>
          <a:p>
            <a:pPr lvl="1"/>
            <a:r>
              <a:rPr lang="en-US" sz="1660">
                <a:solidFill>
                  <a:schemeClr val="tx1"/>
                </a:solidFill>
              </a:rPr>
              <a:t>When the procedure was called using CALL (near)</a:t>
            </a:r>
            <a:endParaRPr lang="en-US" sz="1660">
              <a:solidFill>
                <a:schemeClr val="tx1"/>
              </a:solidFill>
            </a:endParaRPr>
          </a:p>
          <a:p>
            <a:pPr lvl="1"/>
            <a:r>
              <a:rPr lang="en-US" sz="1660">
                <a:solidFill>
                  <a:schemeClr val="tx1"/>
                </a:solidFill>
              </a:rPr>
              <a:t>The subroutine is in the same code segment</a:t>
            </a:r>
            <a:endParaRPr lang="en-US" sz="1660">
              <a:solidFill>
                <a:schemeClr val="tx1"/>
              </a:solidFill>
            </a:endParaRPr>
          </a:p>
          <a:p>
            <a:pPr>
              <a:buNone/>
            </a:pPr>
            <a:endParaRPr lang="en-US" sz="166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660">
                <a:solidFill>
                  <a:schemeClr val="tx1"/>
                </a:solidFill>
              </a:rPr>
              <a:t>What it does?</a:t>
            </a:r>
            <a:endParaRPr lang="en-US" sz="1660">
              <a:solidFill>
                <a:schemeClr val="tx1"/>
              </a:solidFill>
            </a:endParaRPr>
          </a:p>
          <a:p>
            <a:pPr lvl="1"/>
            <a:r>
              <a:rPr lang="en-US" sz="1660">
                <a:solidFill>
                  <a:schemeClr val="tx1"/>
                </a:solidFill>
                <a:sym typeface="+mn-ea"/>
              </a:rPr>
              <a:t>Pops 2 bytes from the stack into IP</a:t>
            </a:r>
            <a:endParaRPr lang="en-US" sz="1660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sz="1660">
                <a:solidFill>
                  <a:schemeClr val="tx1"/>
                </a:solidFill>
                <a:sym typeface="+mn-ea"/>
              </a:rPr>
              <a:t>CS is NOT changed</a:t>
            </a:r>
            <a:endParaRPr lang="en-US" sz="1660">
              <a:solidFill>
                <a:schemeClr val="tx1"/>
              </a:solidFill>
              <a:sym typeface="+mn-ea"/>
            </a:endParaRPr>
          </a:p>
          <a:p>
            <a:pPr marL="365760" lvl="1" indent="0">
              <a:buNone/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5540"/>
            <a:ext cx="8229600" cy="5189220"/>
          </a:xfrm>
        </p:spPr>
        <p:txBody>
          <a:bodyPr>
            <a:normAutofit/>
          </a:bodyPr>
          <a:p>
            <a:pPr>
              <a:buNone/>
            </a:pPr>
            <a:r>
              <a:rPr lang="en-US" sz="1800">
                <a:solidFill>
                  <a:srgbClr val="FF0000"/>
                </a:solidFill>
              </a:rPr>
              <a:t>Q: What is the difference between RET and RETF ?</a:t>
            </a:r>
            <a:endParaRPr lang="en-US" sz="180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tx1"/>
                </a:solidFill>
              </a:rPr>
              <a:t>The difference between RET and RETF is directly tied to the type of</a:t>
            </a:r>
            <a:endParaRPr lang="en-US" sz="180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tx1"/>
                </a:solidFill>
              </a:rPr>
              <a:t>CALL used — NEAR or FAR.</a:t>
            </a:r>
            <a:endParaRPr lang="en-US" sz="1800">
              <a:solidFill>
                <a:schemeClr val="tx1"/>
              </a:solidFill>
            </a:endParaRPr>
          </a:p>
          <a:p>
            <a:pPr>
              <a:buNone/>
            </a:pPr>
            <a:endParaRPr lang="en-US" sz="180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>
                <a:solidFill>
                  <a:schemeClr val="tx1"/>
                </a:solidFill>
              </a:rPr>
              <a:t>RETF = Return from FAR CALL </a:t>
            </a:r>
            <a:endParaRPr lang="en-US" sz="1800">
              <a:solidFill>
                <a:schemeClr val="tx1"/>
              </a:solidFill>
            </a:endParaRPr>
          </a:p>
          <a:p>
            <a:pPr lvl="1"/>
            <a:r>
              <a:rPr lang="en-US" sz="1660">
                <a:solidFill>
                  <a:schemeClr val="tx1"/>
                </a:solidFill>
              </a:rPr>
              <a:t>When the procedure was called using CALL FAR</a:t>
            </a:r>
            <a:endParaRPr lang="en-US" sz="1660">
              <a:solidFill>
                <a:schemeClr val="tx1"/>
              </a:solidFill>
            </a:endParaRPr>
          </a:p>
          <a:p>
            <a:pPr lvl="1"/>
            <a:r>
              <a:rPr lang="en-US" sz="1660">
                <a:solidFill>
                  <a:schemeClr val="tx1"/>
                </a:solidFill>
              </a:rPr>
              <a:t>The subroutine is in a different segment</a:t>
            </a:r>
            <a:endParaRPr lang="en-US" sz="1660">
              <a:solidFill>
                <a:schemeClr val="tx1"/>
              </a:solidFill>
            </a:endParaRPr>
          </a:p>
          <a:p>
            <a:pPr>
              <a:buNone/>
            </a:pPr>
            <a:endParaRPr lang="en-US" sz="166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660">
                <a:solidFill>
                  <a:schemeClr val="tx1"/>
                </a:solidFill>
              </a:rPr>
              <a:t>What it does?</a:t>
            </a:r>
            <a:endParaRPr lang="en-US" sz="1660">
              <a:solidFill>
                <a:schemeClr val="tx1"/>
              </a:solidFill>
            </a:endParaRPr>
          </a:p>
          <a:p>
            <a:pPr lvl="1"/>
            <a:r>
              <a:rPr lang="en-US" sz="1660">
                <a:solidFill>
                  <a:schemeClr val="tx1"/>
                </a:solidFill>
                <a:sym typeface="+mn-ea"/>
              </a:rPr>
              <a:t>Pops 2 bytes into IP (offset)</a:t>
            </a:r>
            <a:endParaRPr lang="en-US" sz="1660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sz="1660">
                <a:solidFill>
                  <a:schemeClr val="tx1"/>
                </a:solidFill>
                <a:sym typeface="+mn-ea"/>
              </a:rPr>
              <a:t>Pops 2 more bytes into CS (segment)</a:t>
            </a:r>
            <a:endParaRPr lang="en-US" sz="1660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sz="1800">
                <a:solidFill>
                  <a:schemeClr val="tx1"/>
                </a:solidFill>
              </a:rPr>
              <a:t>So it restores both IP and CS → full address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5.4. SAVING AND RESTORING REGISTERS</a:t>
            </a:r>
            <a:endParaRPr lang="en-US" sz="311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84225"/>
          </a:xfrm>
        </p:spPr>
        <p:txBody>
          <a:bodyPr>
            <a:normAutofit/>
          </a:bodyPr>
          <a:p>
            <a:r>
              <a:rPr lang="en-US" sz="3110"/>
              <a:t>Announcement</a:t>
            </a:r>
            <a:endParaRPr lang="en-US" sz="3110"/>
          </a:p>
        </p:txBody>
      </p:sp>
      <p:sp>
        <p:nvSpPr>
          <p:cNvPr id="6" name="Text Box 5"/>
          <p:cNvSpPr txBox="1"/>
          <p:nvPr/>
        </p:nvSpPr>
        <p:spPr>
          <a:xfrm>
            <a:off x="609600" y="1600200"/>
            <a:ext cx="8230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rgbClr val="FF0000"/>
                </a:solidFill>
              </a:rPr>
              <a:t>As announced earlier, there will be a quiz 4 in your next class, i.e., 21-May-2025</a:t>
            </a:r>
            <a:endParaRPr lang="en-US">
              <a:solidFill>
                <a:srgbClr val="FF0000"/>
              </a:solidFill>
            </a:endParaRPr>
          </a:p>
          <a:p>
            <a:pPr algn="l"/>
            <a:r>
              <a:rPr lang="en-US">
                <a:solidFill>
                  <a:srgbClr val="FF0000"/>
                </a:solidFill>
              </a:rPr>
              <a:t>Syllabus includes : </a:t>
            </a:r>
            <a:r>
              <a:rPr lang="en-US"/>
              <a:t>Lecture no 14, 15, 16 (Q.no: 1,2,4,5,9), 17 </a:t>
            </a:r>
            <a:endParaRPr lang="en-US"/>
          </a:p>
          <a:p>
            <a:pPr algn="l"/>
            <a:r>
              <a:rPr lang="en-US">
                <a:solidFill>
                  <a:srgbClr val="FF0000"/>
                </a:solidFill>
              </a:rPr>
              <a:t>Quiz Type: </a:t>
            </a:r>
            <a:r>
              <a:rPr lang="en-US">
                <a:solidFill>
                  <a:schemeClr val="tx1"/>
                </a:solidFill>
              </a:rPr>
              <a:t>3 short questions + 1 programming question 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3385</Words>
  <Application>WPS Presentation</Application>
  <PresentationFormat>On-screen Show (4:3)</PresentationFormat>
  <Paragraphs>136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16</vt:i4>
      </vt:variant>
    </vt:vector>
  </HeadingPairs>
  <TitlesOfParts>
    <vt:vector size="44" baseType="lpstr">
      <vt:lpstr>Arial</vt:lpstr>
      <vt:lpstr>SimSun</vt:lpstr>
      <vt:lpstr>Wingdings</vt:lpstr>
      <vt:lpstr>Wingdings 2</vt:lpstr>
      <vt:lpstr>Wingdings 2</vt:lpstr>
      <vt:lpstr>Verdana Bold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Apple Color Emoji</vt:lpstr>
      <vt:lpstr>Paper</vt:lpstr>
      <vt:lpstr>1_Paper</vt:lpstr>
      <vt:lpstr>2_Paper</vt:lpstr>
      <vt:lpstr>3_Paper</vt:lpstr>
      <vt:lpstr>4_Paper</vt:lpstr>
      <vt:lpstr>5_Paper</vt:lpstr>
      <vt:lpstr>6_Paper</vt:lpstr>
      <vt:lpstr>7_Paper</vt:lpstr>
      <vt:lpstr>8_Paper</vt:lpstr>
      <vt:lpstr>9_Paper</vt:lpstr>
      <vt:lpstr>10_Paper</vt:lpstr>
      <vt:lpstr>11_Paper</vt:lpstr>
      <vt:lpstr>12_Paper</vt:lpstr>
      <vt:lpstr>13_Paper</vt:lpstr>
      <vt:lpstr>Computer Organization &amp; Assembly Language (CSC-236)</vt:lpstr>
      <vt:lpstr>5.4. SAVING AND RESTORING REGISTERS</vt:lpstr>
      <vt:lpstr>5.4. SAVING AND RESTORING REGISTERS</vt:lpstr>
      <vt:lpstr>What is the output of this?</vt:lpstr>
      <vt:lpstr>Example</vt:lpstr>
      <vt:lpstr>Example - 5.4</vt:lpstr>
      <vt:lpstr>Example : 5.4</vt:lpstr>
      <vt:lpstr>5.4. SAVING AND RESTORING REGISTERS</vt:lpstr>
      <vt:lpstr>5.4. SAVING AND RESTORING REGISTERS</vt:lpstr>
      <vt:lpstr>5.4. SAVING AND RESTORING REGISTERS</vt:lpstr>
      <vt:lpstr>5.4. SAVING AND RESTORING REGISTERS</vt:lpstr>
      <vt:lpstr>5.4. SAVING AND RESTORING REGISTERS</vt:lpstr>
      <vt:lpstr>5.4. SAVING AND RESTORING REGISTERS</vt:lpstr>
      <vt:lpstr>5.4. SAVING AND RESTORING REGISTERS</vt:lpstr>
      <vt:lpstr>Announcement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274</cp:revision>
  <dcterms:created xsi:type="dcterms:W3CDTF">2025-05-19T11:34:26Z</dcterms:created>
  <dcterms:modified xsi:type="dcterms:W3CDTF">2025-05-19T11:34:26Z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