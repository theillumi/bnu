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3"/>
    <p:sldId id="359" r:id="rId4"/>
    <p:sldId id="331" r:id="rId5"/>
    <p:sldId id="332" r:id="rId6"/>
    <p:sldId id="333" r:id="rId7"/>
    <p:sldId id="280" r:id="rId8"/>
    <p:sldId id="336" r:id="rId9"/>
    <p:sldId id="317" r:id="rId10"/>
    <p:sldId id="339" r:id="rId11"/>
    <p:sldId id="320" r:id="rId12"/>
    <p:sldId id="335" r:id="rId13"/>
    <p:sldId id="321" r:id="rId14"/>
    <p:sldId id="322" r:id="rId16"/>
    <p:sldId id="342" r:id="rId17"/>
    <p:sldId id="323" r:id="rId18"/>
    <p:sldId id="343" r:id="rId19"/>
    <p:sldId id="324" r:id="rId20"/>
    <p:sldId id="325" r:id="rId21"/>
    <p:sldId id="326" r:id="rId22"/>
    <p:sldId id="327" r:id="rId23"/>
    <p:sldId id="386" r:id="rId24"/>
    <p:sldId id="387" r:id="rId25"/>
    <p:sldId id="388" r:id="rId26"/>
    <p:sldId id="389" r:id="rId27"/>
    <p:sldId id="328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mraabbas" initials="n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536" y="60"/>
      </p:cViewPr>
      <p:guideLst>
        <p:guide orient="horz" pos="2160"/>
        <p:guide pos="285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commentAuthors" Target="commentAuthors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Lecture 2: Variables, Registers and Data Movement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Computer Organization &amp; Assembly Language</a:t>
            </a:r>
            <a:br>
              <a:rPr lang="en-US" dirty="0" smtClean="0"/>
            </a:br>
            <a:r>
              <a:rPr lang="en-US" dirty="0" smtClean="0"/>
              <a:t>(CSC-205)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Google </a:t>
            </a:r>
            <a:r>
              <a:rPr lang="en-US" dirty="0"/>
              <a:t>Classroom code: p5vf35j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For text books, slides, assignments, course updates etc.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Practically, the need for assembly language programming has decreased</a:t>
            </a:r>
            <a:endParaRPr lang="en-US" dirty="0" smtClean="0"/>
          </a:p>
          <a:p>
            <a:r>
              <a:rPr lang="en-US" dirty="0" smtClean="0"/>
              <a:t>However, the need to understand it has not decreased</a:t>
            </a:r>
            <a:endParaRPr lang="en-US" dirty="0" smtClean="0"/>
          </a:p>
          <a:p>
            <a:r>
              <a:rPr lang="en-US" dirty="0" smtClean="0">
                <a:sym typeface="+mn-ea"/>
              </a:rPr>
              <a:t>Like programming in machine language, but easier – helps gain insight into computer organization and architecture</a:t>
            </a:r>
            <a:endParaRPr lang="en-US" dirty="0" smtClean="0"/>
          </a:p>
          <a:p>
            <a:r>
              <a:rPr lang="en-US" dirty="0" smtClean="0">
                <a:sym typeface="+mn-ea"/>
              </a:rPr>
              <a:t>Builds understanding of high level language implementations and compiler construction concepts</a:t>
            </a:r>
            <a:endParaRPr lang="en-US" dirty="0"/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Importance of Assembly Language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dirty="0" smtClean="0">
                <a:sym typeface="+mn-ea"/>
              </a:rPr>
              <a:t>High-level languages are human-friendly. They are, thus, very easy to understand and learn by any programmer. C, FORTRAN, Java</a:t>
            </a:r>
            <a:endParaRPr lang="en-US" dirty="0" smtClean="0"/>
          </a:p>
          <a:p>
            <a:r>
              <a:rPr lang="en-US" dirty="0" smtClean="0">
                <a:sym typeface="+mn-ea"/>
              </a:rPr>
              <a:t>Closer to natural languages</a:t>
            </a:r>
            <a:endParaRPr lang="en-US" dirty="0" smtClean="0"/>
          </a:p>
          <a:p>
            <a:r>
              <a:rPr lang="en-US" dirty="0" smtClean="0">
                <a:sym typeface="+mn-ea"/>
              </a:rPr>
              <a:t>Make programs easier to read and write</a:t>
            </a:r>
            <a:endParaRPr lang="en-US" dirty="0" smtClean="0">
              <a:sym typeface="+mn-ea"/>
            </a:endParaRPr>
          </a:p>
          <a:p>
            <a:r>
              <a:rPr lang="en-US" dirty="0" smtClean="0">
                <a:sym typeface="+mn-ea"/>
              </a:rPr>
              <a:t>Low level languages, on the other hand are cl</a:t>
            </a:r>
            <a:r>
              <a:rPr lang="en-US" dirty="0" smtClean="0">
                <a:sym typeface="+mn-ea"/>
              </a:rPr>
              <a:t>oser to machines</a:t>
            </a:r>
            <a:endParaRPr lang="en-US" dirty="0" smtClean="0"/>
          </a:p>
          <a:p>
            <a:r>
              <a:rPr lang="en-US" dirty="0" smtClean="0">
                <a:sym typeface="+mn-ea"/>
              </a:rPr>
              <a:t>Low-level languages are machine-friendly. They are, thus, very difficult to understand and learn by any human. Examples include assembly langauge, machine language</a:t>
            </a:r>
            <a:endParaRPr lang="en-US" dirty="0" smtClean="0"/>
          </a:p>
          <a:p>
            <a:endParaRPr lang="en-US" dirty="0" smtClean="0">
              <a:sym typeface="+mn-ea"/>
            </a:endParaRPr>
          </a:p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D/F b/w High level and Low level Lang?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Midway, whereas programming in machine language is extremely tedious, assembly language is still manageable</a:t>
            </a:r>
            <a:endParaRPr lang="en-US" dirty="0" smtClean="0"/>
          </a:p>
          <a:p>
            <a:r>
              <a:rPr lang="en-US" dirty="0" smtClean="0"/>
              <a:t>Assemblers convert assembly language to machine language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mtClean="0"/>
              <a:t>Assembly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76193" y="1981200"/>
            <a:ext cx="8791618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12-02-2024 at 10.39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609600"/>
            <a:ext cx="8229600" cy="380428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457200" y="4953000"/>
            <a:ext cx="811466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/>
            <a:r>
              <a:rPr lang="en-US"/>
              <a:t>A compiler takes our source code and generates the corresponding assembly code. An assembler converts the assembly code to the machine code. A linker merges all the machine-code modules referenced in our code, whereas a loader moves the executable to RAM and lets it be executed by a CPU.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57200" y="533400"/>
            <a:ext cx="79686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>
                <a:solidFill>
                  <a:schemeClr val="accent6"/>
                </a:solidFill>
                <a:latin typeface="Verdana Bold" panose="020B0604030504040204" charset="0"/>
                <a:cs typeface="Verdana Bold" panose="020B0604030504040204" charset="0"/>
              </a:rPr>
              <a:t>Are There Rules in Assembly Language?</a:t>
            </a:r>
            <a:endParaRPr lang="en-US" sz="2000" b="1">
              <a:solidFill>
                <a:schemeClr val="accent6"/>
              </a:solidFill>
              <a:latin typeface="Verdana Bold" panose="020B0604030504040204" charset="0"/>
              <a:cs typeface="Verdana Bold" panose="020B06040305040402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31470" y="1447800"/>
            <a:ext cx="848106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/>
            <a:r>
              <a:rPr lang="en-US"/>
              <a:t>• Most rules in assembly language are based on physical limitations of the target processor and its machine language. The CPU, for example,</a:t>
            </a:r>
            <a:endParaRPr lang="en-US"/>
          </a:p>
          <a:p>
            <a:pPr algn="just"/>
            <a:r>
              <a:rPr lang="en-US"/>
              <a:t>requires two instruction operands to be the same size. Assembly language has fewer rules than C++ or Java because the latter use syntax rules to reduce unintended logic errors at the expense of low-level data access. Assembly language programmers can easily bypass restrictions characteristic of high-level languages.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12-02-2024 at 12.14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57935" y="1524000"/>
            <a:ext cx="662749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331470" y="1447800"/>
            <a:ext cx="848106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</p:txBody>
      </p:sp>
      <p:pic>
        <p:nvPicPr>
          <p:cNvPr id="2" name="Picture 1" descr="Image 01-02-2024 at 10.52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185" y="494665"/>
            <a:ext cx="8792210" cy="61747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08430"/>
            <a:ext cx="8229600" cy="4787900"/>
          </a:xfrm>
        </p:spPr>
        <p:txBody>
          <a:bodyPr>
            <a:normAutofit fontScale="80000"/>
          </a:bodyPr>
          <a:p>
            <a:pPr algn="just"/>
            <a:r>
              <a:rPr lang="en-US"/>
              <a:t>A language whose source programs can be compiled and run on a wide variety of computer systems is said to be portable.</a:t>
            </a:r>
            <a:endParaRPr lang="en-US"/>
          </a:p>
          <a:p>
            <a:pPr algn="just"/>
            <a:r>
              <a:rPr lang="en-US"/>
              <a:t>A C++ program, for example, will compile and run on just about any computer, unless it makes specific references to library functions that exist under a single operating system. A major feature of the Java language is that compiled programs run on nearly any computer system.</a:t>
            </a:r>
            <a:endParaRPr lang="en-US"/>
          </a:p>
          <a:p>
            <a:pPr algn="just"/>
            <a:r>
              <a:rPr lang="en-US"/>
              <a:t>Assembly language is not portable, because it is designed for a specific processor family. There are a number of different assembly languages widely used today, each based on a processor family.</a:t>
            </a:r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83210"/>
            <a:ext cx="8229600" cy="830580"/>
          </a:xfrm>
        </p:spPr>
        <p:txBody>
          <a:bodyPr/>
          <a:p>
            <a:r>
              <a:rPr lang="en-US"/>
              <a:t>Is Assembly Language Portable?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331470" y="1447800"/>
            <a:ext cx="848106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</p:txBody>
      </p:sp>
      <p:pic>
        <p:nvPicPr>
          <p:cNvPr id="4" name="Picture 3" descr="Image 01-02-2024 at 10.54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" y="298450"/>
            <a:ext cx="9063990" cy="65595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331470" y="1447800"/>
            <a:ext cx="848106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</p:txBody>
      </p:sp>
      <p:pic>
        <p:nvPicPr>
          <p:cNvPr id="2" name="Picture 1" descr="Image 01-02-2024 at 10.55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609600"/>
            <a:ext cx="8706485" cy="58953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12-02-2024 at 1.01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53085" y="1047115"/>
            <a:ext cx="7964805" cy="54660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331470" y="1447800"/>
            <a:ext cx="848106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</p:txBody>
      </p:sp>
      <p:pic>
        <p:nvPicPr>
          <p:cNvPr id="4" name="Picture 3" descr="Image 01-02-2024 at 10.57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095" y="294640"/>
            <a:ext cx="8689975" cy="626808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12-02-2024 at 1.02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79425" y="958215"/>
            <a:ext cx="8207375" cy="54584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331470" y="1447800"/>
            <a:ext cx="848106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</p:txBody>
      </p:sp>
      <p:pic>
        <p:nvPicPr>
          <p:cNvPr id="2" name="Picture 1" descr="Image 01-02-2024 at 10.58 AM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185" y="284480"/>
            <a:ext cx="8797925" cy="644779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331470" y="1447800"/>
            <a:ext cx="848106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</p:txBody>
      </p:sp>
      <p:pic>
        <p:nvPicPr>
          <p:cNvPr id="4" name="Picture 3" descr="Image 01-02-2024 at 10.59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435" y="249555"/>
            <a:ext cx="8798560" cy="634682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331470" y="1447800"/>
            <a:ext cx="848106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</p:txBody>
      </p:sp>
      <p:pic>
        <p:nvPicPr>
          <p:cNvPr id="2" name="Picture 1" descr="Image 01-02-2024 at 11.01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878840"/>
            <a:ext cx="8811895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331470" y="1447800"/>
            <a:ext cx="848106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</p:txBody>
      </p:sp>
      <p:pic>
        <p:nvPicPr>
          <p:cNvPr id="4" name="Picture 3" descr="Image 01-02-2024 at 11.01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85800"/>
            <a:ext cx="9144000" cy="573786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23950"/>
          </a:xfrm>
        </p:spPr>
        <p:txBody>
          <a:bodyPr/>
          <a:p>
            <a:r>
              <a:rPr lang="en-US"/>
              <a:t>Instruction Execute Cycle</a:t>
            </a:r>
            <a:endParaRPr lang="en-US"/>
          </a:p>
        </p:txBody>
      </p:sp>
      <p:pic>
        <p:nvPicPr>
          <p:cNvPr id="4" name="Content Placeholder 3" descr="Image 14-02-2024 at 12.41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630680"/>
            <a:ext cx="8229600" cy="476567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>
                <a:sym typeface="+mn-ea"/>
              </a:rPr>
              <a:t>Instruction Execute Cycle.. cont’d</a:t>
            </a:r>
            <a:endParaRPr lang="en-US"/>
          </a:p>
        </p:txBody>
      </p:sp>
      <p:pic>
        <p:nvPicPr>
          <p:cNvPr id="4" name="Content Placeholder 3" descr="Image 14-02-2024 at 12.49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66090" y="1524000"/>
            <a:ext cx="8146415" cy="477964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443865"/>
            <a:ext cx="8229600" cy="769620"/>
          </a:xfrm>
        </p:spPr>
        <p:txBody>
          <a:bodyPr/>
          <a:p>
            <a:r>
              <a:rPr lang="en-US"/>
              <a:t>Instruction Group</a:t>
            </a:r>
            <a:endParaRPr lang="en-US"/>
          </a:p>
        </p:txBody>
      </p:sp>
      <p:pic>
        <p:nvPicPr>
          <p:cNvPr id="4" name="Content Placeholder 3" descr="Image 14-02-2024 at 1.00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71170" y="1524000"/>
            <a:ext cx="8215630" cy="486854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594995"/>
          </a:xfrm>
        </p:spPr>
        <p:txBody>
          <a:bodyPr>
            <a:normAutofit fontScale="90000"/>
          </a:bodyPr>
          <a:p>
            <a:r>
              <a:rPr>
                <a:sym typeface="+mn-ea"/>
              </a:rPr>
              <a:t>Instruction Group</a:t>
            </a:r>
            <a:endParaRPr lang="en-US"/>
          </a:p>
        </p:txBody>
      </p:sp>
      <p:pic>
        <p:nvPicPr>
          <p:cNvPr id="4" name="Content Placeholder 3" descr="Image 14-02-2024 at 1.04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79730" y="1342390"/>
            <a:ext cx="8488045" cy="505015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331470" y="1447800"/>
            <a:ext cx="848106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  <a:p>
            <a:pPr algn="just"/>
            <a:endParaRPr lang="en-US"/>
          </a:p>
        </p:txBody>
      </p:sp>
      <p:pic>
        <p:nvPicPr>
          <p:cNvPr id="2" name="Picture 1" descr="Image 01-02-2024 at 11.02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7810" cy="5742940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0</TotalTime>
  <Words>2669</Words>
  <Application>WPS Presentation</Application>
  <PresentationFormat>On-screen Show (4:3)</PresentationFormat>
  <Paragraphs>133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9" baseType="lpstr">
      <vt:lpstr>Arial</vt:lpstr>
      <vt:lpstr>SimSun</vt:lpstr>
      <vt:lpstr>Wingdings</vt:lpstr>
      <vt:lpstr>Wingdings 2</vt:lpstr>
      <vt:lpstr>Wingdings 2</vt:lpstr>
      <vt:lpstr>Verdana Bold</vt:lpstr>
      <vt:lpstr>Verdana</vt:lpstr>
      <vt:lpstr>Microsoft YaHei</vt:lpstr>
      <vt:lpstr>汉仪旗黑</vt:lpstr>
      <vt:lpstr>Arial Unicode MS</vt:lpstr>
      <vt:lpstr>Calibri</vt:lpstr>
      <vt:lpstr>Helvetica Neue</vt:lpstr>
      <vt:lpstr>宋体-简</vt:lpstr>
      <vt:lpstr>Paper</vt:lpstr>
      <vt:lpstr>Computer Organization &amp; Assembly Language (CSC-205)</vt:lpstr>
      <vt:lpstr>Google Classroom code: p5vf35j</vt:lpstr>
      <vt:lpstr>Importance of Assembly Language</vt:lpstr>
      <vt:lpstr>D/F b/w High level and Low level Lang?</vt:lpstr>
      <vt:lpstr>Assembly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Is Assembly Language Portable?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Instruction Execute Cycle</vt:lpstr>
      <vt:lpstr>Instruction Execute Cycle.. cont’d</vt:lpstr>
      <vt:lpstr>Instruction Group</vt:lpstr>
      <vt:lpstr>Instruction Group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Creating Digital Content (CSC-</dc:title>
  <dc:creator>Huda Sarfraz</dc:creator>
  <cp:lastModifiedBy>Nimra Abbas</cp:lastModifiedBy>
  <cp:revision>155</cp:revision>
  <dcterms:created xsi:type="dcterms:W3CDTF">2025-02-19T08:43:03Z</dcterms:created>
  <dcterms:modified xsi:type="dcterms:W3CDTF">2025-02-19T08:43:03Z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1033-5.7.0.8090</vt:lpwstr>
  </property>
</Properties>
</file>