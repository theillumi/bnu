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401" r:id="rId4"/>
    <p:sldId id="455" r:id="rId6"/>
    <p:sldId id="456" r:id="rId7"/>
    <p:sldId id="435" r:id="rId8"/>
    <p:sldId id="484" r:id="rId9"/>
    <p:sldId id="485" r:id="rId10"/>
    <p:sldId id="478" r:id="rId11"/>
    <p:sldId id="477" r:id="rId12"/>
    <p:sldId id="480" r:id="rId13"/>
    <p:sldId id="481" r:id="rId14"/>
    <p:sldId id="482" r:id="rId15"/>
    <p:sldId id="483" r:id="rId16"/>
    <p:sldId id="479" r:id="rId17"/>
    <p:sldId id="486" r:id="rId18"/>
    <p:sldId id="487" r:id="rId19"/>
    <p:sldId id="37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536" y="60"/>
      </p:cViewPr>
      <p:guideLst>
        <p:guide orient="horz" pos="2160"/>
        <p:guide pos="287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Read page 25 from bilal hashmi notes</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Read page 25 from bilal hashmi notes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Read page 25 from bilal hashmi notes</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Subtitle 8"/>
          <p:cNvSpPr>
            <a:spLocks noGrp="1"/>
          </p:cNvSpPr>
          <p:nvPr>
            <p:ph type="subTitle" idx="1"/>
          </p:nvPr>
        </p:nvSpPr>
        <p:spPr>
          <a:xfrm>
            <a:off x="457200" y="3699804"/>
            <a:ext cx="8305800" cy="1143000"/>
          </a:xfrm>
        </p:spPr>
        <p:txBody>
          <a:bodyPr>
            <a:noAutofit/>
          </a:bodyPr>
          <a:lstStyle>
            <a:lvl1pPr marL="0" indent="0" algn="ctr">
              <a:buNone/>
              <a:defRPr sz="2200" spc="10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Title 27"/>
          <p:cNvSpPr>
            <a:spLocks noGrp="1"/>
          </p:cNvSpPr>
          <p:nvPr>
            <p:ph type="ctrTitle"/>
          </p:nvPr>
        </p:nvSpPr>
        <p:spPr>
          <a:xfrm>
            <a:off x="457200" y="1433732"/>
            <a:ext cx="8305800" cy="1981200"/>
          </a:xfrm>
          <a:ln w="6350" cap="rnd">
            <a:noFill/>
          </a:ln>
        </p:spPr>
        <p:txBody>
          <a:bodyPr anchor="b" anchorCtr="0">
            <a:noAutofit/>
          </a:bodyPr>
          <a:lstStyle>
            <a:lvl1pPr algn="ctr">
              <a:defRPr lang="en-US" sz="4800" b="0" dirty="0">
                <a:ln w="3200">
                  <a:solidFill>
                    <a:schemeClr val="bg2">
                      <a:shade val="75000"/>
                      <a:alpha val="25000"/>
                    </a:schemeClr>
                  </a:solidFill>
                  <a:prstDash val="solid"/>
                  <a:round/>
                </a:ln>
                <a:solidFill>
                  <a:srgbClr val="F9F9F9"/>
                </a:solidFill>
                <a:effectLst>
                  <a:innerShdw blurRad="50800" dist="25400" dir="13500000">
                    <a:srgbClr val="000000">
                      <a:alpha val="70000"/>
                    </a:srgbClr>
                  </a:innerShdw>
                </a:effectLst>
              </a:defRPr>
            </a:lvl1pPr>
          </a:lstStyle>
          <a:p>
            <a:r>
              <a:rPr kumimoji="0" lang="en-US" smtClean="0"/>
              <a:t>Click to edit Master title style</a:t>
            </a:r>
            <a:endParaRPr kumimoji="0" lang="en-US"/>
          </a:p>
        </p:txBody>
      </p:sp>
      <p:cxnSp>
        <p:nvCxnSpPr>
          <p:cNvPr id="8" name="Straight Connector 7"/>
          <p:cNvCxnSpPr/>
          <p:nvPr/>
        </p:nvCxnSpPr>
        <p:spPr>
          <a:xfrm>
            <a:off x="1463626"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08574" y="3550126"/>
            <a:ext cx="2971800" cy="1588"/>
          </a:xfrm>
          <a:prstGeom prst="line">
            <a:avLst/>
          </a:prstGeom>
          <a:ln w="9525" cap="flat" cmpd="sng" algn="ctr">
            <a:solidFill>
              <a:schemeClr val="bg2">
                <a:tint val="20000"/>
              </a:schemeClr>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4540348" y="3526302"/>
            <a:ext cx="45720" cy="45720"/>
          </a:xfrm>
          <a:prstGeom prst="ellipse">
            <a:avLst/>
          </a:prstGeom>
          <a:effectLst>
            <a:outerShdw blurRad="31750" dir="2700000" algn="tl" rotWithShape="0">
              <a:srgbClr val="000000">
                <a:alpha val="55000"/>
              </a:srgbClr>
            </a:outerShdw>
          </a:effectLst>
        </p:spPr>
        <p:style>
          <a:lnRef idx="2">
            <a:schemeClr val="accent2"/>
          </a:lnRef>
          <a:fillRef idx="1">
            <a:schemeClr val="accent2"/>
          </a:fillRef>
          <a:effectRef idx="0">
            <a:schemeClr val="accent2"/>
          </a:effectRef>
          <a:fontRef idx="minor">
            <a:schemeClr val="lt1"/>
          </a:fontRef>
        </p:style>
        <p:txBody>
          <a:bodyPr rtlCol="0" anchor="ctr"/>
          <a:lstStyle/>
          <a:p>
            <a:pPr algn="ctr" eaLnBrk="1" latinLnBrk="0" hangingPunct="1"/>
            <a:endParaRPr kumimoji="0" lang="en-US"/>
          </a:p>
        </p:txBody>
      </p:sp>
      <p:sp>
        <p:nvSpPr>
          <p:cNvPr id="15" name="Date Placeholder 14"/>
          <p:cNvSpPr>
            <a:spLocks noGrp="1"/>
          </p:cNvSpPr>
          <p:nvPr>
            <p:ph type="dt" sz="half" idx="10"/>
          </p:nvPr>
        </p:nvSpPr>
        <p:spPr/>
        <p:txBody>
          <a:bodyPr/>
          <a:lstStyle/>
          <a:p>
            <a:fld id="{1D8BD707-D9CF-40AE-B4C6-C98DA3205C09}" type="datetimeFigureOut">
              <a:rPr lang="en-US" smtClean="0"/>
            </a:fld>
            <a:endParaRPr lang="en-US"/>
          </a:p>
        </p:txBody>
      </p:sp>
      <p:sp>
        <p:nvSpPr>
          <p:cNvPr id="16" name="Slide Number Placeholder 15"/>
          <p:cNvSpPr>
            <a:spLocks noGrp="1"/>
          </p:cNvSpPr>
          <p:nvPr>
            <p:ph type="sldNum" sz="quarter" idx="11"/>
          </p:nvPr>
        </p:nvSpPr>
        <p:spPr/>
        <p:txBody>
          <a:bodyPr/>
          <a:lstStyle/>
          <a:p>
            <a:fld id="{B6F15528-21DE-4FAA-801E-634DDDAF4B2B}" type="slidenum">
              <a:rPr lang="en-US" smtClean="0"/>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Content Placeholder 8"/>
          <p:cNvSpPr>
            <a:spLocks noGrp="1"/>
          </p:cNvSpPr>
          <p:nvPr>
            <p:ph idx="1"/>
          </p:nvPr>
        </p:nvSpPr>
        <p:spPr>
          <a:xfrm>
            <a:off x="457200" y="1524000"/>
            <a:ext cx="82296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4" name="Date Placeholder 13"/>
          <p:cNvSpPr>
            <a:spLocks noGrp="1"/>
          </p:cNvSpPr>
          <p:nvPr>
            <p:ph type="dt" sz="half" idx="14"/>
          </p:nvPr>
        </p:nvSpPr>
        <p:spPr/>
        <p:txBody>
          <a:bodyPr/>
          <a:lstStyle/>
          <a:p>
            <a:fld id="{1D8BD707-D9CF-40AE-B4C6-C98DA3205C09}" type="datetimeFigureOut">
              <a:rPr lang="en-US" smtClean="0"/>
            </a:fld>
            <a:endParaRPr lang="en-US"/>
          </a:p>
        </p:txBody>
      </p:sp>
      <p:sp>
        <p:nvSpPr>
          <p:cNvPr id="15" name="Slide Number Placeholder 14"/>
          <p:cNvSpPr>
            <a:spLocks noGrp="1"/>
          </p:cNvSpPr>
          <p:nvPr>
            <p:ph type="sldNum" sz="quarter" idx="15"/>
          </p:nvPr>
        </p:nvSpPr>
        <p:spPr/>
        <p:txBody>
          <a:bodyPr/>
          <a:lstStyle>
            <a:lvl1pPr algn="ctr">
              <a:defRPr/>
            </a:lvl1pPr>
          </a:lstStyle>
          <a:p>
            <a:fld id="{B6F15528-21DE-4FAA-801E-634DDDAF4B2B}" type="slidenum">
              <a:rPr lang="en-US" smtClean="0"/>
            </a:fld>
            <a:endParaRPr lang="en-US"/>
          </a:p>
        </p:txBody>
      </p:sp>
      <p:sp>
        <p:nvSpPr>
          <p:cNvPr id="16" name="Footer Placeholder 15"/>
          <p:cNvSpPr>
            <a:spLocks noGrp="1"/>
          </p:cNvSpPr>
          <p:nvPr>
            <p:ph type="ftr" sz="quarter" idx="16"/>
          </p:nvPr>
        </p:nvSpPr>
        <p:spPr/>
        <p:txBody>
          <a:bodyPr/>
          <a:lstStyle/>
          <a:p>
            <a:endParaRPr lang="en-US"/>
          </a:p>
        </p:txBody>
      </p:sp>
      <p:sp>
        <p:nvSpPr>
          <p:cNvPr id="17" name="Title 16"/>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a:xfrm>
            <a:off x="685800" y="3505200"/>
            <a:ext cx="7924800" cy="1371600"/>
          </a:xfrm>
        </p:spPr>
        <p:txBody>
          <a:bodyPr>
            <a:noAutofit/>
          </a:bodyPr>
          <a:lstStyle>
            <a:lvl1pPr algn="l" rtl="0">
              <a:spcBef>
                <a:spcPct val="0"/>
              </a:spcBef>
              <a:buNone/>
              <a:defRPr lang="en-US" sz="4800" b="0" dirty="0">
                <a:ln w="3200">
                  <a:solidFill>
                    <a:schemeClr val="bg2">
                      <a:shade val="25000"/>
                      <a:alpha val="25000"/>
                    </a:schemeClr>
                  </a:solidFill>
                  <a:prstDash val="solid"/>
                  <a:round/>
                </a:ln>
                <a:solidFill>
                  <a:srgbClr val="F9F9F9"/>
                </a:solidFill>
                <a:effectLst>
                  <a:innerShdw blurRad="38100" dist="25400" dir="13500000">
                    <a:prstClr val="black">
                      <a:alpha val="70000"/>
                    </a:prstClr>
                  </a:inn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4958864"/>
            <a:ext cx="7924800" cy="984736"/>
          </a:xfrm>
        </p:spPr>
        <p:txBody>
          <a:bodyPr anchor="t"/>
          <a:lstStyle>
            <a:lvl1pPr marL="0" indent="0">
              <a:buNone/>
              <a:defRPr sz="2000" spc="10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cxnSp>
        <p:nvCxnSpPr>
          <p:cNvPr id="7" name="Straight Connector 6"/>
          <p:cNvCxnSpPr/>
          <p:nvPr/>
        </p:nvCxnSpPr>
        <p:spPr>
          <a:xfrm>
            <a:off x="685800" y="4916992"/>
            <a:ext cx="7924800" cy="4301"/>
          </a:xfrm>
          <a:prstGeom prst="line">
            <a:avLst/>
          </a:prstGeom>
          <a:noFill/>
          <a:ln w="9525" cap="flat" cmpd="sng" algn="ctr">
            <a:solidFill>
              <a:srgbClr val="E9E9E8"/>
            </a:solidFill>
            <a:prstDash val="solid"/>
          </a:ln>
          <a:effectLst>
            <a:outerShdw blurRad="31750"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11" name="Content Placeholder 10"/>
          <p:cNvSpPr>
            <a:spLocks noGrp="1"/>
          </p:cNvSpPr>
          <p:nvPr>
            <p:ph sz="half" idx="1"/>
          </p:nvPr>
        </p:nvSpPr>
        <p:spPr>
          <a:xfrm>
            <a:off x="457200" y="1524000"/>
            <a:ext cx="4059936"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524000"/>
            <a:ext cx="4059936"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3" name="Text Placeholder 2"/>
          <p:cNvSpPr>
            <a:spLocks noGrp="1"/>
          </p:cNvSpPr>
          <p:nvPr>
            <p:ph type="body" idx="1"/>
          </p:nvPr>
        </p:nvSpPr>
        <p:spPr>
          <a:xfrm>
            <a:off x="457200" y="1399593"/>
            <a:ext cx="4040188" cy="762000"/>
          </a:xfrm>
          <a:noFill/>
          <a:ln w="25400" cap="rnd" cmpd="sng" algn="ctr">
            <a:noFill/>
            <a:prstDash val="solid"/>
          </a:ln>
          <a:effectLst>
            <a:softEdge rad="63500"/>
          </a:effectLst>
          <a:sp3d prstMaterial="fla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32" name="Content Placeholder 31"/>
          <p:cNvSpPr>
            <a:spLocks noGrp="1"/>
          </p:cNvSpPr>
          <p:nvPr>
            <p:ph sz="half" idx="2"/>
          </p:nvPr>
        </p:nvSpPr>
        <p:spPr>
          <a:xfrm>
            <a:off x="457200" y="2201896"/>
            <a:ext cx="4038600" cy="391363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34" name="Content Placeholder 33"/>
          <p:cNvSpPr>
            <a:spLocks noGrp="1"/>
          </p:cNvSpPr>
          <p:nvPr>
            <p:ph sz="quarter" idx="4"/>
          </p:nvPr>
        </p:nvSpPr>
        <p:spPr>
          <a:xfrm>
            <a:off x="4649788" y="2201896"/>
            <a:ext cx="4038600" cy="391363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 name="Title 1"/>
          <p:cNvSpPr>
            <a:spLocks noGrp="1"/>
          </p:cNvSpPr>
          <p:nvPr>
            <p:ph type="title"/>
          </p:nvPr>
        </p:nvSpPr>
        <p:spPr>
          <a:xfrm>
            <a:off x="457200" y="155448"/>
            <a:ext cx="8229600" cy="1143000"/>
          </a:xfrm>
        </p:spPr>
        <p:txBody>
          <a:bodyPr anchor="b" anchorCtr="0"/>
          <a:lstStyle>
            <a:lvl1pPr>
              <a:defRPr/>
            </a:lvl1pPr>
          </a:lstStyle>
          <a:p>
            <a:r>
              <a:rPr kumimoji="0" lang="en-US" smtClean="0"/>
              <a:t>Click to edit Master title style</a:t>
            </a:r>
            <a:endParaRPr kumimoji="0" lang="en-US"/>
          </a:p>
        </p:txBody>
      </p:sp>
      <p:sp>
        <p:nvSpPr>
          <p:cNvPr id="12" name="Text Placeholder 11"/>
          <p:cNvSpPr>
            <a:spLocks noGrp="1"/>
          </p:cNvSpPr>
          <p:nvPr>
            <p:ph type="body" idx="3"/>
          </p:nvPr>
        </p:nvSpPr>
        <p:spPr>
          <a:xfrm>
            <a:off x="4648200" y="1399593"/>
            <a:ext cx="4040188" cy="762000"/>
          </a:xfrm>
          <a:noFill/>
          <a:ln w="25400" cap="rnd" cmpd="sng" algn="ctr">
            <a:noFill/>
            <a:prstDash val="solid"/>
          </a:ln>
          <a:effectLst>
            <a:softEdge rad="63500"/>
          </a:effectLst>
        </p:spPr>
        <p:style>
          <a:lnRef idx="3">
            <a:schemeClr val="lt1"/>
          </a:lnRef>
          <a:fillRef idx="1">
            <a:schemeClr val="accent5"/>
          </a:fillRef>
          <a:effectRef idx="1">
            <a:schemeClr val="accent5"/>
          </a:effectRef>
          <a:fontRef idx="minor">
            <a:schemeClr val="lt1"/>
          </a:fontRef>
        </p:style>
        <p:txBody>
          <a:bodyPr lIns="91440" tIns="45720" rIns="91440" bIns="45720" anchor="b">
            <a:noAutofit/>
          </a:bodyPr>
          <a:lstStyle>
            <a:lvl1pPr marL="0" indent="0" algn="l">
              <a:spcBef>
                <a:spcPts val="0"/>
              </a:spcBef>
              <a:buNone/>
              <a:defRPr sz="2600" b="1" baseline="0">
                <a:solidFill>
                  <a:schemeClr val="tx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cxnSp>
        <p:nvCxnSpPr>
          <p:cNvPr id="10" name="Straight Connector 9"/>
          <p:cNvCxnSpPr/>
          <p:nvPr/>
        </p:nvCxnSpPr>
        <p:spPr>
          <a:xfrm>
            <a:off x="562945"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754880" y="2180219"/>
            <a:ext cx="3749040" cy="1588"/>
          </a:xfrm>
          <a:prstGeom prst="line">
            <a:avLst/>
          </a:prstGeom>
          <a:noFill/>
          <a:ln w="12700" cap="flat" cmpd="sng" algn="ctr">
            <a:solidFill>
              <a:schemeClr val="bg2">
                <a:tint val="20000"/>
              </a:schemeClr>
            </a:solidFill>
            <a:prstDash val="solid"/>
          </a:ln>
          <a:effectLst>
            <a:outerShdw blurRad="34925" dir="2700000" algn="tl" rotWithShape="0">
              <a:srgbClr val="000000">
                <a:alpha val="55000"/>
              </a:srgb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
        <p:nvSpPr>
          <p:cNvPr id="2" name="Title 1"/>
          <p:cNvSpPr>
            <a:spLocks noGrp="1"/>
          </p:cNvSpPr>
          <p:nvPr>
            <p:ph type="title"/>
          </p:nvPr>
        </p:nvSpPr>
        <p:spPr/>
        <p:txBody>
          <a:bodyPr/>
          <a:lstStyle/>
          <a:p>
            <a:r>
              <a:rPr kumimoji="0" lang="en-US" smtClean="0"/>
              <a:t>Click to edit Master title style</a:t>
            </a:r>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9" name="Content Placeholder 28"/>
          <p:cNvSpPr>
            <a:spLocks noGrp="1"/>
          </p:cNvSpPr>
          <p:nvPr>
            <p:ph sz="quarter" idx="1"/>
          </p:nvPr>
        </p:nvSpPr>
        <p:spPr>
          <a:xfrm>
            <a:off x="457200" y="457200"/>
            <a:ext cx="6248400" cy="5715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3" name="Text Placeholder 2"/>
          <p:cNvSpPr>
            <a:spLocks noGrp="1"/>
          </p:cNvSpPr>
          <p:nvPr>
            <p:ph type="body" idx="2"/>
          </p:nvPr>
        </p:nvSpPr>
        <p:spPr>
          <a:xfrm>
            <a:off x="6781800" y="1600200"/>
            <a:ext cx="1984248" cy="3733800"/>
          </a:xfrm>
        </p:spPr>
        <p:txBody>
          <a:bodyPr tIns="45720" bIns="45720" anchor="t" anchorCtr="0"/>
          <a:lstStyle>
            <a:lvl1pPr marL="0" indent="0">
              <a:lnSpc>
                <a:spcPct val="1250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31" name="Title 30"/>
          <p:cNvSpPr>
            <a:spLocks noGrp="1"/>
          </p:cNvSpPr>
          <p:nvPr>
            <p:ph type="title"/>
          </p:nvPr>
        </p:nvSpPr>
        <p:spPr>
          <a:xfrm>
            <a:off x="6781800" y="457200"/>
            <a:ext cx="19812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8" name="Date Placeholder 7"/>
          <p:cNvSpPr>
            <a:spLocks noGrp="1"/>
          </p:cNvSpPr>
          <p:nvPr>
            <p:ph type="dt" sz="half" idx="14"/>
          </p:nvPr>
        </p:nvSpPr>
        <p:spPr/>
        <p:txBody>
          <a:bodyPr/>
          <a:lstStyle/>
          <a:p>
            <a:fld id="{1D8BD707-D9CF-40AE-B4C6-C98DA3205C09}" type="datetimeFigureOut">
              <a:rPr lang="en-US" smtClean="0"/>
            </a:fld>
            <a:endParaRPr lang="en-US"/>
          </a:p>
        </p:txBody>
      </p:sp>
      <p:sp>
        <p:nvSpPr>
          <p:cNvPr id="9" name="Slide Number Placeholder 8"/>
          <p:cNvSpPr>
            <a:spLocks noGrp="1"/>
          </p:cNvSpPr>
          <p:nvPr>
            <p:ph type="sldNum" sz="quarter" idx="15"/>
          </p:nvPr>
        </p:nvSpPr>
        <p:spPr/>
        <p:txBody>
          <a:bodyPr/>
          <a:lstStyle/>
          <a:p>
            <a:fld id="{B6F15528-21DE-4FAA-801E-634DDDAF4B2B}" type="slidenum">
              <a:rPr lang="en-US" smtClean="0"/>
            </a:fld>
            <a:endParaRPr lang="en-US"/>
          </a:p>
        </p:txBody>
      </p:sp>
      <p:sp>
        <p:nvSpPr>
          <p:cNvPr id="10" name="Footer Placeholder 9"/>
          <p:cNvSpPr>
            <a:spLocks noGrp="1"/>
          </p:cNvSpPr>
          <p:nvPr>
            <p:ph type="ftr" sz="quarter" idx="16"/>
          </p:nvPr>
        </p:nvSpPr>
        <p:spPr/>
        <p:txBody>
          <a:bodyPr/>
          <a:lstStyle/>
          <a:p>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29400" y="457200"/>
            <a:ext cx="2057400" cy="1066800"/>
          </a:xfrm>
        </p:spPr>
        <p:txBody>
          <a:bodyPr lIns="91440" tIns="91440" anchor="b" anchorCtr="0"/>
          <a:lstStyle>
            <a:lvl1pPr algn="l">
              <a:buNone/>
              <a:defRPr sz="1800" b="1" spc="-50" baseline="0">
                <a:ln w="3175">
                  <a:noFill/>
                </a:ln>
                <a:solidFill>
                  <a:schemeClr val="tx2"/>
                </a:solidFill>
                <a:effectLst/>
                <a:latin typeface="+mn-lt"/>
                <a:ea typeface="+mn-ea"/>
                <a:cs typeface="+mn-cs"/>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457200"/>
            <a:ext cx="6019800" cy="5562600"/>
          </a:xfrm>
          <a:solidFill>
            <a:schemeClr val="tx2">
              <a:tint val="40000"/>
            </a:schemeClr>
          </a:solidFill>
          <a:effectLst>
            <a:outerShdw blurRad="88900" sx="103000" sy="103000" algn="ctr" rotWithShape="0">
              <a:prstClr val="black">
                <a:alpha val="32000"/>
              </a:prstClr>
            </a:outerShdw>
            <a:softEdge rad="127000"/>
          </a:effectLst>
        </p:spPr>
        <p:txBody>
          <a:bodyPr/>
          <a:lstStyle>
            <a:lvl1pPr marL="0" indent="0">
              <a:buNone/>
              <a:defRPr sz="3200">
                <a:solidFill>
                  <a:schemeClr val="bg1"/>
                </a:solidFill>
              </a:defRPr>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6629400" y="1600200"/>
            <a:ext cx="2057400" cy="4419600"/>
          </a:xfrm>
        </p:spPr>
        <p:txBody>
          <a:bodyPr anchor="t" anchorCtr="0"/>
          <a:lstStyle>
            <a:lvl1pPr marL="0" indent="0">
              <a:lnSpc>
                <a:spcPct val="125000"/>
              </a:lnSpc>
              <a:spcAft>
                <a:spcPts val="1000"/>
              </a:spcAft>
              <a:buFontTx/>
              <a:buNone/>
              <a:defRPr sz="1600" b="0">
                <a:solidFill>
                  <a:schemeClr val="tx2"/>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8" name="Date Placeholder 7"/>
          <p:cNvSpPr>
            <a:spLocks noGrp="1"/>
          </p:cNvSpPr>
          <p:nvPr>
            <p:ph type="dt" sz="half" idx="10"/>
          </p:nvPr>
        </p:nvSpPr>
        <p:spPr/>
        <p:txBody>
          <a:bodyPr/>
          <a:lstStyle/>
          <a:p>
            <a:fld id="{1D8BD707-D9CF-40AE-B4C6-C98DA3205C09}" type="datetimeFigureOut">
              <a:rPr lang="en-US" smtClean="0"/>
            </a:fld>
            <a:endParaRPr lang="en-US"/>
          </a:p>
        </p:txBody>
      </p:sp>
      <p:sp>
        <p:nvSpPr>
          <p:cNvPr id="9" name="Slide Number Placeholder 8"/>
          <p:cNvSpPr>
            <a:spLocks noGrp="1"/>
          </p:cNvSpPr>
          <p:nvPr>
            <p:ph type="sldNum" sz="quarter" idx="11"/>
          </p:nvPr>
        </p:nvSpPr>
        <p:spPr/>
        <p:txBody>
          <a:bodyPr/>
          <a:lstStyle/>
          <a:p>
            <a:fld id="{B6F15528-21DE-4FAA-801E-634DDDAF4B2B}" type="slidenum">
              <a:rPr lang="en-US" smtClean="0"/>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9" name="Text Placeholder 8"/>
          <p:cNvSpPr>
            <a:spLocks noGrp="1"/>
          </p:cNvSpPr>
          <p:nvPr>
            <p:ph type="body" idx="1"/>
          </p:nvPr>
        </p:nvSpPr>
        <p:spPr>
          <a:xfrm>
            <a:off x="457200" y="1447800"/>
            <a:ext cx="8229600" cy="4678363"/>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5791200" y="6203667"/>
            <a:ext cx="2590800" cy="384048"/>
          </a:xfrm>
          <a:prstGeom prst="rect">
            <a:avLst/>
          </a:prstGeom>
        </p:spPr>
        <p:txBody>
          <a:bodyPr vert="horz" anchor="ctr" anchorCtr="0"/>
          <a:lstStyle>
            <a:lvl1pPr algn="l" eaLnBrk="1" latinLnBrk="0" hangingPunct="1">
              <a:defRPr kumimoji="0" sz="1200">
                <a:solidFill>
                  <a:schemeClr val="tx2"/>
                </a:solidFill>
              </a:defRPr>
            </a:lvl1pPr>
          </a:lstStyle>
          <a:p>
            <a:fld id="{1D8BD707-D9CF-40AE-B4C6-C98DA3205C09}" type="datetimeFigureOut">
              <a:rPr lang="en-US" smtClean="0"/>
            </a:fld>
            <a:endParaRPr lang="en-US"/>
          </a:p>
        </p:txBody>
      </p:sp>
      <p:sp>
        <p:nvSpPr>
          <p:cNvPr id="10" name="Footer Placeholder 9"/>
          <p:cNvSpPr>
            <a:spLocks noGrp="1"/>
          </p:cNvSpPr>
          <p:nvPr>
            <p:ph type="ftr" sz="quarter" idx="3"/>
          </p:nvPr>
        </p:nvSpPr>
        <p:spPr>
          <a:xfrm>
            <a:off x="2133600" y="6203667"/>
            <a:ext cx="3581400" cy="384048"/>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22" name="Slide Number Placeholder 21"/>
          <p:cNvSpPr>
            <a:spLocks noGrp="1"/>
          </p:cNvSpPr>
          <p:nvPr>
            <p:ph type="sldNum" sz="quarter" idx="4"/>
          </p:nvPr>
        </p:nvSpPr>
        <p:spPr>
          <a:xfrm>
            <a:off x="8410575" y="6181531"/>
            <a:ext cx="609600" cy="457200"/>
          </a:xfrm>
          <a:prstGeom prst="rect">
            <a:avLst/>
          </a:prstGeom>
          <a:noFill/>
        </p:spPr>
        <p:txBody>
          <a:bodyPr vert="horz" lIns="0" tIns="0" rIns="0" bIns="0" anchor="ctr" anchorCtr="0">
            <a:noAutofit/>
          </a:bodyPr>
          <a:lstStyle>
            <a:lvl1pPr algn="ctr" eaLnBrk="1" latinLnBrk="0" hangingPunct="1">
              <a:defRPr kumimoji="0" sz="1600" baseline="0">
                <a:solidFill>
                  <a:schemeClr val="tx2"/>
                </a:solidFill>
              </a:defRPr>
            </a:lvl1pPr>
          </a:lstStyle>
          <a:p>
            <a:fld id="{B6F15528-21DE-4FAA-801E-634DDDAF4B2B}" type="slidenum">
              <a:rPr lang="en-US" smtClean="0"/>
            </a:fld>
            <a:endParaRPr lang="en-US"/>
          </a:p>
        </p:txBody>
      </p:sp>
      <p:sp>
        <p:nvSpPr>
          <p:cNvPr id="5" name="Title Placeholder 4"/>
          <p:cNvSpPr>
            <a:spLocks noGrp="1"/>
          </p:cNvSpPr>
          <p:nvPr>
            <p:ph type="title"/>
          </p:nvPr>
        </p:nvSpPr>
        <p:spPr>
          <a:xfrm>
            <a:off x="457200" y="152400"/>
            <a:ext cx="8229600" cy="1219200"/>
          </a:xfrm>
          <a:prstGeom prst="rect">
            <a:avLst/>
          </a:prstGeom>
          <a:ln w="6350" cap="rnd">
            <a:noFill/>
          </a:ln>
        </p:spPr>
        <p:txBody>
          <a:bodyPr vert="horz" anchor="b" anchorCtr="0">
            <a:normAutofit/>
          </a:bodyPr>
          <a:lstStyle/>
          <a:p>
            <a:r>
              <a:rPr kumimoji="0" lang="en-US" smtClean="0"/>
              <a:t>Click to edit Master title style</a:t>
            </a:r>
            <a:endParaRPr kumimoji="0"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lang="en-US" sz="4200" b="0" kern="1200" spc="-100" baseline="0" dirty="0">
          <a:ln w="3200">
            <a:solidFill>
              <a:schemeClr val="bg2">
                <a:shade val="75000"/>
                <a:alpha val="25000"/>
              </a:schemeClr>
            </a:solidFill>
            <a:prstDash val="solid"/>
            <a:round/>
          </a:ln>
          <a:solidFill>
            <a:srgbClr val="F9F9F9"/>
          </a:solidFill>
          <a:effectLst>
            <a:innerShdw blurRad="50800" dist="25400" dir="13500000">
              <a:prstClr val="black">
                <a:alpha val="70000"/>
              </a:prstClr>
            </a:innerShdw>
          </a:effectLst>
          <a:latin typeface="+mj-lt"/>
          <a:ea typeface="+mj-ea"/>
          <a:cs typeface="+mj-cs"/>
        </a:defRPr>
      </a:lvl1pPr>
    </p:titleStyle>
    <p:bodyStyle>
      <a:lvl1pPr marL="274320" indent="-274320" algn="l" rtl="0" eaLnBrk="1" latinLnBrk="0" hangingPunct="1">
        <a:spcBef>
          <a:spcPts val="600"/>
        </a:spcBef>
        <a:buClr>
          <a:schemeClr val="accent2"/>
        </a:buClr>
        <a:buSzPct val="85000"/>
        <a:buFont typeface="Wingdings 2" panose="05020102010507070707"/>
        <a:buChar char=""/>
        <a:defRPr kumimoji="0" sz="2600" kern="1200">
          <a:solidFill>
            <a:schemeClr val="tx1"/>
          </a:solidFill>
          <a:latin typeface="+mn-lt"/>
          <a:ea typeface="+mn-ea"/>
          <a:cs typeface="+mn-cs"/>
        </a:defRPr>
      </a:lvl1pPr>
      <a:lvl2pPr marL="640080" indent="-274320" algn="l" rtl="0" eaLnBrk="1" latinLnBrk="0" hangingPunct="1">
        <a:spcBef>
          <a:spcPts val="300"/>
        </a:spcBef>
        <a:buClr>
          <a:schemeClr val="accent2">
            <a:shade val="75000"/>
          </a:schemeClr>
        </a:buClr>
        <a:buSzPct val="85000"/>
        <a:buFont typeface="Wingdings 2" panose="05020102010507070707"/>
        <a:buChar char=""/>
        <a:defRPr kumimoji="0" sz="2400" kern="1200">
          <a:solidFill>
            <a:schemeClr val="tx2"/>
          </a:solidFill>
          <a:latin typeface="+mn-lt"/>
          <a:ea typeface="+mn-ea"/>
          <a:cs typeface="+mn-cs"/>
        </a:defRPr>
      </a:lvl2pPr>
      <a:lvl3pPr marL="1005840" indent="-228600" algn="l" rtl="0" eaLnBrk="1" latinLnBrk="0" hangingPunct="1">
        <a:spcBef>
          <a:spcPts val="300"/>
        </a:spcBef>
        <a:buClr>
          <a:schemeClr val="accent2">
            <a:shade val="50000"/>
          </a:schemeClr>
        </a:buClr>
        <a:buSzPct val="85000"/>
        <a:buFont typeface="Wingdings 2" panose="05020102010507070707"/>
        <a:buChar char=""/>
        <a:defRPr kumimoji="0" sz="2100" kern="1200">
          <a:solidFill>
            <a:schemeClr val="tx1"/>
          </a:solidFill>
          <a:latin typeface="+mn-lt"/>
          <a:ea typeface="+mn-ea"/>
          <a:cs typeface="+mn-cs"/>
        </a:defRPr>
      </a:lvl3pPr>
      <a:lvl4pPr marL="1280160" indent="-228600" algn="l" rtl="0" eaLnBrk="1" latinLnBrk="0" hangingPunct="1">
        <a:spcBef>
          <a:spcPts val="300"/>
        </a:spcBef>
        <a:buClr>
          <a:schemeClr val="accent2">
            <a:shade val="75000"/>
          </a:schemeClr>
        </a:buClr>
        <a:buSzPct val="85000"/>
        <a:buFont typeface="Wingdings 2" panose="05020102010507070707" pitchFamily="18" charset="2"/>
        <a:buChar char=""/>
        <a:defRPr kumimoji="0" sz="1900" kern="1200">
          <a:solidFill>
            <a:schemeClr val="tx1"/>
          </a:solidFill>
          <a:latin typeface="+mn-lt"/>
          <a:ea typeface="+mn-ea"/>
          <a:cs typeface="+mn-cs"/>
        </a:defRPr>
      </a:lvl4pPr>
      <a:lvl5pPr marL="1554480" indent="-228600" algn="l" rtl="0" eaLnBrk="1" latinLnBrk="0" hangingPunct="1">
        <a:spcBef>
          <a:spcPts val="340"/>
        </a:spcBef>
        <a:buClr>
          <a:schemeClr val="accent2">
            <a:shade val="75000"/>
          </a:schemeClr>
        </a:buClr>
        <a:buSzPct val="85000"/>
        <a:buFont typeface="Wingdings 2" panose="05020102010507070707" pitchFamily="18" charset="2"/>
        <a:buChar char=""/>
        <a:defRPr kumimoji="0" sz="1600" kern="1200">
          <a:solidFill>
            <a:schemeClr val="tx1"/>
          </a:solidFill>
          <a:latin typeface="+mn-lt"/>
          <a:ea typeface="+mn-ea"/>
          <a:cs typeface="+mn-cs"/>
        </a:defRPr>
      </a:lvl5pPr>
      <a:lvl6pPr marL="1828800" indent="-228600" algn="l" rtl="0" eaLnBrk="1" latinLnBrk="0" hangingPunct="1">
        <a:spcBef>
          <a:spcPts val="340"/>
        </a:spcBef>
        <a:buClr>
          <a:schemeClr val="accent2">
            <a:shade val="75000"/>
          </a:schemeClr>
        </a:buClr>
        <a:buSzPct val="85000"/>
        <a:buFont typeface="Wingdings 2" panose="05020102010507070707" pitchFamily="18" charset="2"/>
        <a:buChar char="?"/>
        <a:defRPr kumimoji="0" sz="1700" kern="1200">
          <a:solidFill>
            <a:schemeClr val="tx1"/>
          </a:solidFill>
          <a:latin typeface="+mn-lt"/>
          <a:ea typeface="+mn-ea"/>
          <a:cs typeface="+mn-cs"/>
        </a:defRPr>
      </a:lvl6pPr>
      <a:lvl7pPr marL="201168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600" kern="1200" baseline="0">
          <a:solidFill>
            <a:schemeClr val="tx1"/>
          </a:solidFill>
          <a:latin typeface="+mn-lt"/>
          <a:ea typeface="+mn-ea"/>
          <a:cs typeface="+mn-cs"/>
        </a:defRPr>
      </a:lvl7pPr>
      <a:lvl8pPr marL="228600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500" kern="1200">
          <a:solidFill>
            <a:schemeClr val="tx1"/>
          </a:solidFill>
          <a:latin typeface="+mn-lt"/>
          <a:ea typeface="+mn-ea"/>
          <a:cs typeface="+mn-cs"/>
        </a:defRPr>
      </a:lvl8pPr>
      <a:lvl9pPr marL="2560320" indent="-182880" algn="l" rtl="0" eaLnBrk="1" latinLnBrk="0" hangingPunct="1">
        <a:spcBef>
          <a:spcPts val="340"/>
        </a:spcBef>
        <a:buClr>
          <a:schemeClr val="accent2">
            <a:shade val="75000"/>
          </a:schemeClr>
        </a:buClr>
        <a:buSzPct val="85000"/>
        <a:buFont typeface="Wingdings 2" panose="05020102010507070707" pitchFamily="18" charset="2"/>
        <a:buChar char="?"/>
        <a:defRPr kumimoji="0" sz="15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jpeg"/><Relationship Id="rId1" Type="http://schemas.openxmlformats.org/officeDocument/2006/relationships/image" Target="../media/image1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2400" dirty="0" smtClean="0"/>
              <a:t>Lecture 8</a:t>
            </a:r>
            <a:endParaRPr lang="en-US" sz="2400" dirty="0" smtClean="0"/>
          </a:p>
          <a:p>
            <a:endParaRPr lang="en-US" sz="3200" dirty="0"/>
          </a:p>
        </p:txBody>
      </p:sp>
      <p:sp>
        <p:nvSpPr>
          <p:cNvPr id="2" name="Title 1"/>
          <p:cNvSpPr>
            <a:spLocks noGrp="1"/>
          </p:cNvSpPr>
          <p:nvPr>
            <p:ph type="ctrTitle"/>
          </p:nvPr>
        </p:nvSpPr>
        <p:spPr/>
        <p:txBody>
          <a:bodyPr>
            <a:normAutofit fontScale="90000"/>
          </a:bodyPr>
          <a:lstStyle/>
          <a:p>
            <a:r>
              <a:rPr lang="en-US" dirty="0" smtClean="0"/>
              <a:t>Computer Organization &amp; Assembly Language</a:t>
            </a:r>
            <a:br>
              <a:rPr lang="en-US" dirty="0" smtClean="0"/>
            </a:br>
            <a:r>
              <a:rPr lang="en-US" dirty="0" smtClean="0"/>
              <a:t>(CSC-205)</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532765"/>
            <a:ext cx="8229600" cy="5563235"/>
          </a:xfrm>
        </p:spPr>
        <p:txBody>
          <a:bodyPr/>
          <a:p>
            <a:r>
              <a:rPr lang="en-US"/>
              <a:t>2.6. SEGMENT ASSOCIATION</a:t>
            </a:r>
            <a:endParaRPr lang="en-US"/>
          </a:p>
          <a:p>
            <a:pPr marL="0" indent="0" algn="just">
              <a:buNone/>
            </a:pPr>
            <a:endParaRPr lang="en-US" sz="1800" b="1">
              <a:latin typeface="Verdana Bold" panose="020B0604030504040204" charset="0"/>
              <a:cs typeface="Verdana Bold" panose="020B0604030504040204" charset="0"/>
            </a:endParaRPr>
          </a:p>
          <a:p>
            <a:pPr algn="just"/>
            <a:r>
              <a:rPr lang="en-US" sz="1800" b="1">
                <a:latin typeface="Verdana Bold" panose="020B0604030504040204" charset="0"/>
                <a:cs typeface="Verdana Bold" panose="020B0604030504040204" charset="0"/>
              </a:rPr>
              <a:t>Think of a Huge Building with Apartments </a:t>
            </a:r>
            <a:endParaRPr lang="en-US" sz="1800" b="1">
              <a:latin typeface="Verdana Bold" panose="020B0604030504040204" charset="0"/>
              <a:cs typeface="Verdana Bold" panose="020B0604030504040204" charset="0"/>
            </a:endParaRPr>
          </a:p>
          <a:p>
            <a:pPr marL="0" indent="0" algn="just">
              <a:buNone/>
            </a:pPr>
            <a:r>
              <a:rPr lang="en-US" sz="1800"/>
              <a:t>Imagine you live in a big apartment building. The building has many floors, and each floor has many rooms. Now, if I tell you "Go to Room 5," you might get confused. Why? Because every floor has a Room 5! You need to know which floor to go to first.</a:t>
            </a:r>
            <a:endParaRPr lang="en-US" sz="1800"/>
          </a:p>
          <a:p>
            <a:pPr marL="0" indent="0" algn="just">
              <a:buNone/>
            </a:pPr>
            <a:endParaRPr lang="en-US" sz="1800"/>
          </a:p>
          <a:p>
            <a:pPr algn="just"/>
            <a:r>
              <a:rPr lang="en-US" sz="1800" b="1">
                <a:latin typeface="Verdana Bold" panose="020B0604030504040204" charset="0"/>
                <a:cs typeface="Verdana Bold" panose="020B0604030504040204" charset="0"/>
              </a:rPr>
              <a:t>How Does This Relate to Memory? </a:t>
            </a:r>
            <a:endParaRPr lang="en-US" sz="1800" b="1">
              <a:latin typeface="Verdana Bold" panose="020B0604030504040204" charset="0"/>
              <a:cs typeface="Verdana Bold" panose="020B0604030504040204" charset="0"/>
            </a:endParaRPr>
          </a:p>
          <a:p>
            <a:pPr marL="0" indent="0" algn="just">
              <a:buNone/>
            </a:pPr>
            <a:r>
              <a:rPr lang="en-US" sz="1800"/>
              <a:t>Your computer’s memory works the same way! It has segments (floors) and offsets (rooms). When the computer wants to find a piece of data, it needs both the segment (which floor) and the offset (which room).</a:t>
            </a:r>
            <a:endParaRPr 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532765"/>
            <a:ext cx="8361045" cy="5563235"/>
          </a:xfrm>
        </p:spPr>
        <p:txBody>
          <a:bodyPr/>
          <a:p>
            <a:r>
              <a:rPr lang="en-US"/>
              <a:t>2.6. SEGMENT ASSOCIATION</a:t>
            </a:r>
            <a:endParaRPr lang="en-US"/>
          </a:p>
          <a:p>
            <a:pPr marL="0" indent="0" algn="just">
              <a:buNone/>
            </a:pPr>
            <a:endParaRPr lang="en-US" sz="1800" b="1">
              <a:latin typeface="Verdana Bold" panose="020B0604030504040204" charset="0"/>
              <a:cs typeface="Verdana Bold" panose="020B0604030504040204" charset="0"/>
            </a:endParaRPr>
          </a:p>
          <a:p>
            <a:pPr algn="just"/>
            <a:r>
              <a:rPr lang="en-US" sz="1800" b="1">
                <a:latin typeface="Verdana Bold" panose="020B0604030504040204" charset="0"/>
                <a:cs typeface="Verdana Bold" panose="020B0604030504040204" charset="0"/>
              </a:rPr>
              <a:t>How the Address is Found</a:t>
            </a:r>
            <a:r>
              <a:rPr lang="en-US" sz="1800"/>
              <a:t> </a:t>
            </a:r>
            <a:endParaRPr lang="en-US" sz="1800"/>
          </a:p>
          <a:p>
            <a:pPr marL="342900" indent="-342900" algn="just">
              <a:buAutoNum type="arabicPeriod"/>
            </a:pPr>
            <a:r>
              <a:rPr lang="en-US" sz="1800"/>
              <a:t>The effective address is like the room number. But just knowing "Room 5" (offset) is not enough—you need to know which floor (segment) it belongs to.</a:t>
            </a:r>
            <a:endParaRPr lang="en-US" sz="1800"/>
          </a:p>
          <a:p>
            <a:pPr marL="342900" indent="-342900" algn="just">
              <a:buAutoNum type="arabicPeriod"/>
            </a:pPr>
            <a:r>
              <a:rPr lang="en-US" sz="1800"/>
              <a:t>The segment address tells you the floor.</a:t>
            </a:r>
            <a:endParaRPr lang="en-US" sz="1800"/>
          </a:p>
          <a:p>
            <a:pPr marL="342900" indent="-342900" algn="just">
              <a:buAutoNum type="arabicPeriod"/>
            </a:pPr>
            <a:r>
              <a:rPr lang="en-US" sz="1800"/>
              <a:t>To find the real physical location, the computer does some math:</a:t>
            </a:r>
            <a:endParaRPr lang="en-US" sz="1800"/>
          </a:p>
          <a:p>
            <a:pPr marL="742950" lvl="1" indent="-285750" algn="just"/>
            <a:r>
              <a:rPr lang="en-US" sz="1660"/>
              <a:t>Multiply the segment number by 16 (because each segment starts 16 bytes apart).</a:t>
            </a:r>
            <a:endParaRPr lang="en-US" sz="1660"/>
          </a:p>
          <a:p>
            <a:pPr marL="742950" lvl="1" indent="-285750" algn="just"/>
            <a:r>
              <a:rPr lang="en-US" sz="1660"/>
              <a:t>Add the offset (room number) to get the exact address.</a:t>
            </a:r>
            <a:endParaRPr lang="en-US" sz="166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532765"/>
            <a:ext cx="8361045" cy="5563235"/>
          </a:xfrm>
        </p:spPr>
        <p:txBody>
          <a:bodyPr/>
          <a:p>
            <a:r>
              <a:rPr lang="en-US"/>
              <a:t>2.6. SEGMENT ASSOCIATION</a:t>
            </a:r>
            <a:endParaRPr lang="en-US"/>
          </a:p>
          <a:p>
            <a:pPr marL="0" indent="0" algn="just">
              <a:buNone/>
            </a:pPr>
            <a:endParaRPr lang="en-US" sz="1800" b="1">
              <a:latin typeface="Verdana Bold" panose="020B0604030504040204" charset="0"/>
              <a:cs typeface="Verdana Bold" panose="020B0604030504040204" charset="0"/>
            </a:endParaRPr>
          </a:p>
          <a:p>
            <a:pPr algn="just"/>
            <a:r>
              <a:rPr lang="en-US" sz="1800" b="1">
                <a:latin typeface="Verdana Bold" panose="020B0604030504040204" charset="0"/>
                <a:cs typeface="Verdana Bold" panose="020B0604030504040204" charset="0"/>
              </a:rPr>
              <a:t>Example : Finding a Memory Address</a:t>
            </a:r>
            <a:endParaRPr lang="en-US" sz="1800" b="1">
              <a:latin typeface="Verdana Bold" panose="020B0604030504040204" charset="0"/>
              <a:cs typeface="Verdana Bold" panose="020B0604030504040204" charset="0"/>
            </a:endParaRPr>
          </a:p>
          <a:p>
            <a:pPr marL="0" indent="0" algn="just">
              <a:buNone/>
            </a:pPr>
            <a:r>
              <a:rPr lang="en-US" sz="1800">
                <a:latin typeface="Arial Regular" panose="020B0604020202020204" charset="0"/>
                <a:cs typeface="Arial Regular" panose="020B0604020202020204" charset="0"/>
              </a:rPr>
              <a:t>Let’s say:</a:t>
            </a:r>
            <a:endParaRPr lang="en-US" sz="1800">
              <a:latin typeface="Arial Regular" panose="020B0604020202020204" charset="0"/>
              <a:cs typeface="Arial Regular" panose="020B0604020202020204" charset="0"/>
            </a:endParaRPr>
          </a:p>
          <a:p>
            <a:pPr marL="0" indent="0" algn="just">
              <a:buNone/>
            </a:pPr>
            <a:r>
              <a:rPr lang="en-US" sz="1800">
                <a:latin typeface="Arial Regular" panose="020B0604020202020204" charset="0"/>
                <a:cs typeface="Arial Regular" panose="020B0604020202020204" charset="0"/>
              </a:rPr>
              <a:t>Segment (Floor) = 1000</a:t>
            </a:r>
            <a:endParaRPr lang="en-US" sz="1800">
              <a:latin typeface="Arial Regular" panose="020B0604020202020204" charset="0"/>
              <a:cs typeface="Arial Regular" panose="020B0604020202020204" charset="0"/>
            </a:endParaRPr>
          </a:p>
          <a:p>
            <a:pPr marL="0" indent="0" algn="just">
              <a:buNone/>
            </a:pPr>
            <a:r>
              <a:rPr lang="en-US" sz="1800">
                <a:latin typeface="Arial Regular" panose="020B0604020202020204" charset="0"/>
                <a:cs typeface="Arial Regular" panose="020B0604020202020204" charset="0"/>
              </a:rPr>
              <a:t>Offset (Room) = 0A00</a:t>
            </a:r>
            <a:endParaRPr lang="en-US" sz="1800">
              <a:latin typeface="Arial Regular" panose="020B0604020202020204" charset="0"/>
              <a:cs typeface="Arial Regular" panose="020B0604020202020204" charset="0"/>
            </a:endParaRPr>
          </a:p>
          <a:p>
            <a:pPr marL="0" indent="0" algn="just">
              <a:buNone/>
            </a:pPr>
            <a:r>
              <a:rPr lang="en-US" sz="1800">
                <a:latin typeface="Arial Regular" panose="020B0604020202020204" charset="0"/>
                <a:cs typeface="Arial Regular" panose="020B0604020202020204" charset="0"/>
              </a:rPr>
              <a:t>👉 First, multiply the segment by 16 → 1000 × 16 = 10000</a:t>
            </a:r>
            <a:endParaRPr lang="en-US" sz="1800">
              <a:latin typeface="Arial Regular" panose="020B0604020202020204" charset="0"/>
              <a:cs typeface="Arial Regular" panose="020B0604020202020204" charset="0"/>
            </a:endParaRPr>
          </a:p>
          <a:p>
            <a:pPr marL="0" indent="0" algn="just">
              <a:buNone/>
            </a:pPr>
            <a:r>
              <a:rPr lang="en-US" sz="1800">
                <a:latin typeface="Arial Regular" panose="020B0604020202020204" charset="0"/>
                <a:cs typeface="Arial Regular" panose="020B0604020202020204" charset="0"/>
              </a:rPr>
              <a:t>👉 Then, add the offset → 10000 + 0A00 = 10A00</a:t>
            </a:r>
            <a:endParaRPr lang="en-US" sz="1800">
              <a:latin typeface="Arial Regular" panose="020B0604020202020204" charset="0"/>
              <a:cs typeface="Arial Regular" panose="020B0604020202020204" charset="0"/>
            </a:endParaRPr>
          </a:p>
          <a:p>
            <a:pPr marL="0" indent="0" algn="just">
              <a:buNone/>
            </a:pPr>
            <a:endParaRPr lang="en-US" sz="1800">
              <a:latin typeface="Arial Regular" panose="020B0604020202020204" charset="0"/>
              <a:cs typeface="Arial Regular" panose="020B0604020202020204" charset="0"/>
            </a:endParaRPr>
          </a:p>
          <a:p>
            <a:pPr marL="0" indent="0" algn="just">
              <a:buNone/>
            </a:pPr>
            <a:r>
              <a:rPr lang="en-US" sz="1800">
                <a:latin typeface="Arial Regular" panose="020B0604020202020204" charset="0"/>
                <a:cs typeface="Arial Regular" panose="020B0604020202020204" charset="0"/>
              </a:rPr>
              <a:t>So, the real memory address is 10A00 (like saying "Go to Floor 1000, Room A00").</a:t>
            </a:r>
            <a:endParaRPr lang="en-US" sz="1800">
              <a:latin typeface="Arial Regular" panose="020B0604020202020204" charset="0"/>
              <a:cs typeface="Arial Regular"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9-03-2025 at 11.42 AM"/>
          <p:cNvPicPr>
            <a:picLocks noChangeAspect="1"/>
          </p:cNvPicPr>
          <p:nvPr>
            <p:ph idx="1"/>
          </p:nvPr>
        </p:nvPicPr>
        <p:blipFill>
          <a:blip r:embed="rId1"/>
          <a:stretch>
            <a:fillRect/>
          </a:stretch>
        </p:blipFill>
        <p:spPr>
          <a:xfrm>
            <a:off x="990600" y="1752600"/>
            <a:ext cx="7217410" cy="2534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628650"/>
            <a:ext cx="8229600" cy="5467350"/>
          </a:xfrm>
        </p:spPr>
        <p:txBody>
          <a:bodyPr>
            <a:normAutofit lnSpcReduction="20000"/>
          </a:bodyPr>
          <a:p>
            <a:r>
              <a:rPr lang="en-US"/>
              <a:t>Example : Adding Two Numbers</a:t>
            </a:r>
            <a:endParaRPr lang="en-US"/>
          </a:p>
          <a:p>
            <a:endParaRPr lang="en-US"/>
          </a:p>
          <a:p>
            <a:pPr marL="0" indent="0">
              <a:buNone/>
            </a:pPr>
            <a:r>
              <a:rPr lang="en-US"/>
              <a:t>section .data</a:t>
            </a:r>
            <a:endParaRPr lang="en-US"/>
          </a:p>
          <a:p>
            <a:pPr marL="0" indent="0">
              <a:buNone/>
            </a:pPr>
            <a:r>
              <a:rPr lang="en-US"/>
              <a:t>   </a:t>
            </a:r>
            <a:r>
              <a:rPr lang="en-US" sz="1600">
                <a:latin typeface="Arial Regular" panose="020B0604020202020204" charset="0"/>
                <a:cs typeface="Arial Regular" panose="020B0604020202020204" charset="0"/>
              </a:rPr>
              <a:t> num1 dw 5      ; First number (stored in memory)</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       num2 dw 10     ; Second number (stored in memory)</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       result dw 0        ; Variable to store result</a:t>
            </a:r>
            <a:endParaRPr lang="en-US" sz="1600">
              <a:latin typeface="Arial Regular" panose="020B0604020202020204" charset="0"/>
              <a:cs typeface="Arial Regular" panose="020B0604020202020204" charset="0"/>
            </a:endParaRPr>
          </a:p>
          <a:p>
            <a:pPr marL="0" indent="0">
              <a:buNone/>
            </a:pP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section .text</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    mov ax, num1   ; Load first number into AX</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    add ax, num2   ; Add second number to AX</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    mov result, ax ; Store result back in memory</a:t>
            </a:r>
            <a:endParaRPr lang="en-US" sz="1600">
              <a:latin typeface="Arial Regular" panose="020B0604020202020204" charset="0"/>
              <a:cs typeface="Arial Regular" panose="020B06040202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628650"/>
            <a:ext cx="8229600" cy="5467350"/>
          </a:xfrm>
        </p:spPr>
        <p:txBody>
          <a:bodyPr>
            <a:normAutofit lnSpcReduction="20000"/>
          </a:bodyPr>
          <a:p>
            <a:r>
              <a:rPr lang="en-US"/>
              <a:t>Example : Example with Segment and Offset:</a:t>
            </a:r>
            <a:endParaRPr lang="en-US"/>
          </a:p>
          <a:p>
            <a:endParaRPr lang="en-US"/>
          </a:p>
          <a:p>
            <a:pPr marL="0" indent="0">
              <a:buNone/>
            </a:pPr>
            <a:r>
              <a:rPr lang="en-US" sz="1600">
                <a:latin typeface="Arial Regular" panose="020B0604020202020204" charset="0"/>
                <a:cs typeface="Arial Regular" panose="020B0604020202020204" charset="0"/>
              </a:rPr>
              <a:t>mov bx, 0004h       ; Offset value</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mov ds, 1000h       ; Segment value</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mov ax, [ds:bx]     ; Load value at segment 1000h, offset 0004h into AX</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add ax, [ds:bx+2]   ; Add value at segment 1000h, offset 0006h</a:t>
            </a:r>
            <a:endParaRPr lang="en-US" sz="1600">
              <a:latin typeface="Arial Regular" panose="020B0604020202020204" charset="0"/>
              <a:cs typeface="Arial Regular" panose="020B0604020202020204" charset="0"/>
            </a:endParaRPr>
          </a:p>
          <a:p>
            <a:pPr marL="0" indent="0">
              <a:buNone/>
            </a:pPr>
            <a:r>
              <a:rPr lang="en-US" sz="1600">
                <a:latin typeface="Arial Regular" panose="020B0604020202020204" charset="0"/>
                <a:cs typeface="Arial Regular" panose="020B0604020202020204" charset="0"/>
              </a:rPr>
              <a:t>mov [ds:bx+4], ax   ; Store result at segment 1000h, offset 0008h</a:t>
            </a:r>
            <a:endParaRPr lang="en-US" sz="1600">
              <a:latin typeface="Arial Regular" panose="020B0604020202020204" charset="0"/>
              <a:cs typeface="Arial Regular" panose="020B06040202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1256665"/>
            <a:ext cx="8229600" cy="5325745"/>
          </a:xfrm>
        </p:spPr>
        <p:txBody>
          <a:bodyPr>
            <a:normAutofit fontScale="90000"/>
          </a:bodyPr>
          <a:p>
            <a:pPr algn="just">
              <a:lnSpc>
                <a:spcPct val="120000"/>
              </a:lnSpc>
            </a:pPr>
            <a:r>
              <a:rPr lang="en-US" sz="2000">
                <a:latin typeface="Arial Regular" panose="020B0604020202020204" charset="0"/>
                <a:cs typeface="Arial Regular" panose="020B0604020202020204" charset="0"/>
              </a:rPr>
              <a:t>For every interesting or meaningful situation of flags, a conditional jump is there. For example JZ and JNZ check the zero flag.</a:t>
            </a:r>
            <a:endParaRPr lang="en-US" sz="2000">
              <a:latin typeface="Arial Regular" panose="020B0604020202020204" charset="0"/>
              <a:cs typeface="Arial Regular" panose="020B0604020202020204" charset="0"/>
            </a:endParaRPr>
          </a:p>
          <a:p>
            <a:pPr algn="just">
              <a:lnSpc>
                <a:spcPct val="120000"/>
              </a:lnSpc>
            </a:pPr>
            <a:r>
              <a:rPr lang="en-US" sz="2000">
                <a:latin typeface="Arial Regular" panose="020B0604020202020204" charset="0"/>
                <a:cs typeface="Arial Regular" panose="020B0604020202020204" charset="0"/>
              </a:rPr>
              <a:t>If in a comparison both operands are same, the result of subtraction will be zero and the zero flag will be set. Thus JZ and JNZ can be used to test equality. That is why there are renamed versions JE and JNE read as jump if equal or jump if not equal.</a:t>
            </a:r>
            <a:endParaRPr lang="en-US" sz="2000">
              <a:latin typeface="Arial Regular" panose="020B0604020202020204" charset="0"/>
              <a:cs typeface="Arial Regular" panose="020B0604020202020204" charset="0"/>
            </a:endParaRPr>
          </a:p>
          <a:p>
            <a:pPr algn="just">
              <a:lnSpc>
                <a:spcPct val="120000"/>
              </a:lnSpc>
            </a:pPr>
            <a:r>
              <a:rPr lang="en-US" sz="2000">
                <a:latin typeface="Arial Regular" panose="020B0604020202020204" charset="0"/>
                <a:cs typeface="Arial Regular" panose="020B0604020202020204" charset="0"/>
              </a:rPr>
              <a:t>JC and JNC test the carry flag. For example we may need to test whether there was an overflow in the last unsigned addition or subtraction.</a:t>
            </a:r>
            <a:endParaRPr lang="en-US" sz="2000">
              <a:latin typeface="Arial Regular" panose="020B0604020202020204" charset="0"/>
              <a:cs typeface="Arial Regular" panose="020B0604020202020204" charset="0"/>
            </a:endParaRPr>
          </a:p>
          <a:p>
            <a:pPr algn="just">
              <a:lnSpc>
                <a:spcPct val="120000"/>
              </a:lnSpc>
            </a:pPr>
            <a:r>
              <a:rPr lang="en-US" sz="2000">
                <a:latin typeface="Arial Regular" panose="020B0604020202020204" charset="0"/>
                <a:cs typeface="Arial Regular" panose="020B0604020202020204" charset="0"/>
              </a:rPr>
              <a:t>Carry flag will also be set if two unsigned numbers are subtracted and the first is smaller than the second. Therefore the renamed versions JB, JNAE, and JNB, JAE are there standing for jump if below, jump if not above or equal, jump if not below, and jump if above or equal respectively. The operation of all jumps can be seen from the table in the next slide.</a:t>
            </a:r>
            <a:endParaRPr lang="en-US" sz="2000">
              <a:latin typeface="Arial Regular" panose="020B0604020202020204" charset="0"/>
              <a:cs typeface="Arial Regular" panose="020B0604020202020204" charset="0"/>
            </a:endParaRPr>
          </a:p>
        </p:txBody>
      </p:sp>
      <p:sp>
        <p:nvSpPr>
          <p:cNvPr id="5" name="Text Box 4"/>
          <p:cNvSpPr txBox="1"/>
          <p:nvPr/>
        </p:nvSpPr>
        <p:spPr>
          <a:xfrm>
            <a:off x="533400" y="5334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rPr>
              <a:t>3.2. CONDITIONAL JUMPS</a:t>
            </a:r>
            <a:endParaRPr lang="en-US" sz="2400" b="1">
              <a:latin typeface="Arial Bold" panose="020B0604020202020204" charset="0"/>
              <a:cs typeface="Arial Bold"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sym typeface="+mn-ea"/>
              </a:rPr>
              <a:t>3.2. CONDITIONAL JUMPS</a:t>
            </a:r>
            <a:endParaRPr lang="en-US" sz="2400" b="1">
              <a:latin typeface="Arial Bold" panose="020B0604020202020204" charset="0"/>
              <a:cs typeface="Arial Bold" panose="020B0604020202020204" charset="0"/>
            </a:endParaRPr>
          </a:p>
        </p:txBody>
      </p:sp>
      <p:pic>
        <p:nvPicPr>
          <p:cNvPr id="6" name="Content Placeholder 5" descr="Image 19-03-2025 at 11.52 AM"/>
          <p:cNvPicPr>
            <a:picLocks noChangeAspect="1"/>
          </p:cNvPicPr>
          <p:nvPr>
            <p:ph idx="1"/>
          </p:nvPr>
        </p:nvPicPr>
        <p:blipFill>
          <a:blip r:embed="rId1"/>
          <a:stretch>
            <a:fillRect/>
          </a:stretch>
        </p:blipFill>
        <p:spPr>
          <a:xfrm>
            <a:off x="457200" y="1022985"/>
            <a:ext cx="8229600" cy="2253615"/>
          </a:xfrm>
          <a:prstGeom prst="rect">
            <a:avLst/>
          </a:prstGeom>
        </p:spPr>
      </p:pic>
      <p:pic>
        <p:nvPicPr>
          <p:cNvPr id="7" name="Picture 6" descr="Image 19-03-2025 at 11.53 AM"/>
          <p:cNvPicPr>
            <a:picLocks noChangeAspect="1"/>
          </p:cNvPicPr>
          <p:nvPr/>
        </p:nvPicPr>
        <p:blipFill>
          <a:blip r:embed="rId2"/>
          <a:stretch>
            <a:fillRect/>
          </a:stretch>
        </p:blipFill>
        <p:spPr>
          <a:xfrm>
            <a:off x="457200" y="3276600"/>
            <a:ext cx="8229600" cy="993140"/>
          </a:xfrm>
          <a:prstGeom prst="rect">
            <a:avLst/>
          </a:prstGeom>
        </p:spPr>
      </p:pic>
      <p:pic>
        <p:nvPicPr>
          <p:cNvPr id="8" name="Picture 7" descr="Image 19-03-2025 at 11.54 AM"/>
          <p:cNvPicPr>
            <a:picLocks noChangeAspect="1"/>
          </p:cNvPicPr>
          <p:nvPr/>
        </p:nvPicPr>
        <p:blipFill>
          <a:blip r:embed="rId3"/>
          <a:stretch>
            <a:fillRect/>
          </a:stretch>
        </p:blipFill>
        <p:spPr>
          <a:xfrm>
            <a:off x="6057265" y="4267200"/>
            <a:ext cx="2629535" cy="17043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sym typeface="+mn-ea"/>
              </a:rPr>
              <a:t>3.2. CONDITIONAL JUMPS</a:t>
            </a:r>
            <a:endParaRPr lang="en-US" sz="2400" b="1">
              <a:latin typeface="Arial Bold" panose="020B0604020202020204" charset="0"/>
              <a:cs typeface="Arial Bold" panose="020B0604020202020204" charset="0"/>
            </a:endParaRPr>
          </a:p>
        </p:txBody>
      </p:sp>
      <p:pic>
        <p:nvPicPr>
          <p:cNvPr id="9" name="Picture 8" descr="Image 19-03-2025 at 11.55 AM"/>
          <p:cNvPicPr>
            <a:picLocks noChangeAspect="1"/>
          </p:cNvPicPr>
          <p:nvPr/>
        </p:nvPicPr>
        <p:blipFill>
          <a:blip r:embed="rId1"/>
          <a:stretch>
            <a:fillRect/>
          </a:stretch>
        </p:blipFill>
        <p:spPr>
          <a:xfrm>
            <a:off x="533400" y="914400"/>
            <a:ext cx="8265795" cy="1901190"/>
          </a:xfrm>
          <a:prstGeom prst="rect">
            <a:avLst/>
          </a:prstGeom>
        </p:spPr>
      </p:pic>
      <p:pic>
        <p:nvPicPr>
          <p:cNvPr id="3" name="Picture 2" descr="Image 19-03-2025 at 11.56 AM"/>
          <p:cNvPicPr>
            <a:picLocks noChangeAspect="1"/>
          </p:cNvPicPr>
          <p:nvPr/>
        </p:nvPicPr>
        <p:blipFill>
          <a:blip r:embed="rId2"/>
          <a:stretch>
            <a:fillRect/>
          </a:stretch>
        </p:blipFill>
        <p:spPr>
          <a:xfrm>
            <a:off x="534035" y="2819400"/>
            <a:ext cx="8265160" cy="2082800"/>
          </a:xfrm>
          <a:prstGeom prst="rect">
            <a:avLst/>
          </a:prstGeom>
        </p:spPr>
      </p:pic>
      <p:pic>
        <p:nvPicPr>
          <p:cNvPr id="4" name="Picture 3" descr="Image 19-03-2025 at 11.57 AM"/>
          <p:cNvPicPr>
            <a:picLocks noChangeAspect="1"/>
          </p:cNvPicPr>
          <p:nvPr/>
        </p:nvPicPr>
        <p:blipFill>
          <a:blip r:embed="rId3"/>
          <a:stretch>
            <a:fillRect/>
          </a:stretch>
        </p:blipFill>
        <p:spPr>
          <a:xfrm>
            <a:off x="533400" y="4902200"/>
            <a:ext cx="8265795" cy="16090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sym typeface="+mn-ea"/>
              </a:rPr>
              <a:t>3.2. CONDITIONAL JUMPS</a:t>
            </a:r>
            <a:endParaRPr lang="en-US" sz="2400" b="1">
              <a:latin typeface="Arial Bold" panose="020B0604020202020204" charset="0"/>
              <a:cs typeface="Arial Bold" panose="020B0604020202020204" charset="0"/>
            </a:endParaRPr>
          </a:p>
        </p:txBody>
      </p:sp>
      <p:pic>
        <p:nvPicPr>
          <p:cNvPr id="10" name="Picture 9" descr="Image 19-03-2025 at 12.05 PM"/>
          <p:cNvPicPr>
            <a:picLocks noChangeAspect="1"/>
          </p:cNvPicPr>
          <p:nvPr/>
        </p:nvPicPr>
        <p:blipFill>
          <a:blip r:embed="rId1"/>
          <a:stretch>
            <a:fillRect/>
          </a:stretch>
        </p:blipFill>
        <p:spPr>
          <a:xfrm>
            <a:off x="533400" y="1219200"/>
            <a:ext cx="8270875" cy="3060700"/>
          </a:xfrm>
          <a:prstGeom prst="rect">
            <a:avLst/>
          </a:prstGeom>
        </p:spPr>
      </p:pic>
      <p:pic>
        <p:nvPicPr>
          <p:cNvPr id="11" name="Picture 10" descr="Image 19-03-2025 at 12.05 PM"/>
          <p:cNvPicPr>
            <a:picLocks noChangeAspect="1"/>
          </p:cNvPicPr>
          <p:nvPr/>
        </p:nvPicPr>
        <p:blipFill>
          <a:blip r:embed="rId2"/>
          <a:stretch>
            <a:fillRect/>
          </a:stretch>
        </p:blipFill>
        <p:spPr>
          <a:xfrm>
            <a:off x="533400" y="4191000"/>
            <a:ext cx="8301355" cy="2260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sym typeface="+mn-ea"/>
              </a:rPr>
              <a:t>3.2. CONDITIONAL JUMPS</a:t>
            </a:r>
            <a:endParaRPr lang="en-US" sz="2400" b="1">
              <a:latin typeface="Arial Bold" panose="020B0604020202020204" charset="0"/>
              <a:cs typeface="Arial Bold" panose="020B0604020202020204" charset="0"/>
            </a:endParaRPr>
          </a:p>
        </p:txBody>
      </p:sp>
      <p:pic>
        <p:nvPicPr>
          <p:cNvPr id="2" name="Picture 1" descr="Image 19-03-2025 at 12.06 PM"/>
          <p:cNvPicPr>
            <a:picLocks noChangeAspect="1"/>
          </p:cNvPicPr>
          <p:nvPr/>
        </p:nvPicPr>
        <p:blipFill>
          <a:blip r:embed="rId1"/>
          <a:stretch>
            <a:fillRect/>
          </a:stretch>
        </p:blipFill>
        <p:spPr>
          <a:xfrm>
            <a:off x="614680" y="976630"/>
            <a:ext cx="8021955" cy="46285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40265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sym typeface="+mn-ea"/>
              </a:rPr>
              <a:t>3.2. CONDITIONAL JUMPS</a:t>
            </a:r>
            <a:endParaRPr lang="en-US" sz="2400" b="1">
              <a:latin typeface="Arial Bold" panose="020B0604020202020204" charset="0"/>
              <a:cs typeface="Arial Bold" panose="020B0604020202020204" charset="0"/>
            </a:endParaRPr>
          </a:p>
        </p:txBody>
      </p:sp>
      <p:pic>
        <p:nvPicPr>
          <p:cNvPr id="3" name="Picture 2" descr="Image 19-03-2025 at 12.07 PM"/>
          <p:cNvPicPr>
            <a:picLocks noChangeAspect="1"/>
          </p:cNvPicPr>
          <p:nvPr/>
        </p:nvPicPr>
        <p:blipFill>
          <a:blip r:embed="rId1"/>
          <a:stretch>
            <a:fillRect/>
          </a:stretch>
        </p:blipFill>
        <p:spPr>
          <a:xfrm>
            <a:off x="532765" y="2138045"/>
            <a:ext cx="8104505" cy="25812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533400"/>
            <a:ext cx="1436370"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rPr>
              <a:t>Example</a:t>
            </a:r>
            <a:endParaRPr lang="en-US" sz="2400" b="1">
              <a:latin typeface="Arial Bold" panose="020B0604020202020204" charset="0"/>
              <a:cs typeface="Arial Bold" panose="020B0604020202020204" charset="0"/>
            </a:endParaRPr>
          </a:p>
        </p:txBody>
      </p:sp>
      <p:pic>
        <p:nvPicPr>
          <p:cNvPr id="3" name="Content Placeholder 2" descr="Image 19-03-2025 at 11.47 AM"/>
          <p:cNvPicPr>
            <a:picLocks noChangeAspect="1"/>
          </p:cNvPicPr>
          <p:nvPr>
            <p:ph idx="1"/>
          </p:nvPr>
        </p:nvPicPr>
        <p:blipFill>
          <a:blip r:embed="rId1"/>
          <a:stretch>
            <a:fillRect/>
          </a:stretch>
        </p:blipFill>
        <p:spPr>
          <a:xfrm>
            <a:off x="457200" y="1447800"/>
            <a:ext cx="8229600" cy="39090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p:nvPr>
            <p:ph idx="1"/>
          </p:nvPr>
        </p:nvSpPr>
        <p:spPr>
          <a:xfrm>
            <a:off x="457200" y="1256665"/>
            <a:ext cx="8229600" cy="5325745"/>
          </a:xfrm>
        </p:spPr>
        <p:txBody>
          <a:bodyPr>
            <a:normAutofit fontScale="90000"/>
          </a:bodyPr>
          <a:p>
            <a:pPr algn="just">
              <a:lnSpc>
                <a:spcPct val="120000"/>
              </a:lnSpc>
            </a:pPr>
            <a:r>
              <a:rPr lang="en-US" sz="2000">
                <a:latin typeface="Arial Regular" panose="020B0604020202020204" charset="0"/>
                <a:cs typeface="Arial Regular" panose="020B0604020202020204" charset="0"/>
              </a:rPr>
              <a:t>Till now we have been placing data at the end of code. There is no such restriction and we can define data anywhere in the code. </a:t>
            </a:r>
            <a:endParaRPr lang="en-US" sz="2000">
              <a:latin typeface="Arial Regular" panose="020B0604020202020204" charset="0"/>
              <a:cs typeface="Arial Regular" panose="020B0604020202020204" charset="0"/>
            </a:endParaRPr>
          </a:p>
          <a:p>
            <a:pPr algn="just">
              <a:lnSpc>
                <a:spcPct val="120000"/>
              </a:lnSpc>
            </a:pPr>
            <a:r>
              <a:rPr lang="en-US" sz="2000">
                <a:latin typeface="Arial Regular" panose="020B0604020202020204" charset="0"/>
                <a:cs typeface="Arial Regular" panose="020B0604020202020204" charset="0"/>
              </a:rPr>
              <a:t>Taking the previous example, if we place data at the start of code instead of at the end and we load our program in the debugger. We can see our data placed at the start but the debugger is intending to start execution at our data. The COM file definition said that the first executable instruction is at offset 0100 but we have placed data there instead of code. So the debugger will try to interpret that data as code and showed whatever it could make up out of those opcodes.</a:t>
            </a:r>
            <a:endParaRPr lang="en-US" sz="2000">
              <a:latin typeface="Arial Regular" panose="020B0604020202020204" charset="0"/>
              <a:cs typeface="Arial Regular" panose="020B0604020202020204" charset="0"/>
            </a:endParaRPr>
          </a:p>
          <a:p>
            <a:pPr algn="just">
              <a:lnSpc>
                <a:spcPct val="120000"/>
              </a:lnSpc>
            </a:pPr>
            <a:r>
              <a:rPr lang="en-US" sz="2000">
                <a:latin typeface="Arial Regular" panose="020B0604020202020204" charset="0"/>
                <a:cs typeface="Arial Regular" panose="020B0604020202020204" charset="0"/>
              </a:rPr>
              <a:t>We introduce a new instruction called JMP. It is the unconditional jump that executes regardless of the state of all flags. So we write an unconditional jump as the very first instruction of our program and jump to the next instruction that follows our data declarations. This time 0100 contains a valid first instruction of our program.</a:t>
            </a:r>
            <a:endParaRPr lang="en-US" sz="2000">
              <a:latin typeface="Arial Regular" panose="020B0604020202020204" charset="0"/>
              <a:cs typeface="Arial Regular" panose="020B0604020202020204" charset="0"/>
            </a:endParaRPr>
          </a:p>
        </p:txBody>
      </p:sp>
      <p:sp>
        <p:nvSpPr>
          <p:cNvPr id="5" name="Text Box 4"/>
          <p:cNvSpPr txBox="1"/>
          <p:nvPr/>
        </p:nvSpPr>
        <p:spPr>
          <a:xfrm>
            <a:off x="533400" y="533400"/>
            <a:ext cx="4382135"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rPr>
              <a:t>3.3. UncONDITIONAL JUMPS</a:t>
            </a:r>
            <a:endParaRPr lang="en-US" sz="2400" b="1">
              <a:latin typeface="Arial Bold" panose="020B0604020202020204" charset="0"/>
              <a:cs typeface="Arial Bold" panose="020B060402020202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533400" y="228600"/>
            <a:ext cx="1436370" cy="460375"/>
          </a:xfrm>
          <a:prstGeom prst="rect">
            <a:avLst/>
          </a:prstGeom>
          <a:noFill/>
        </p:spPr>
        <p:txBody>
          <a:bodyPr wrap="none" rtlCol="0">
            <a:spAutoFit/>
          </a:bodyPr>
          <a:p>
            <a:pPr algn="l"/>
            <a:r>
              <a:rPr lang="en-US" sz="2400" b="1">
                <a:latin typeface="Arial Bold" panose="020B0604020202020204" charset="0"/>
                <a:cs typeface="Arial Bold" panose="020B0604020202020204" charset="0"/>
              </a:rPr>
              <a:t>Example</a:t>
            </a:r>
            <a:endParaRPr lang="en-US" sz="2400" b="1">
              <a:latin typeface="Arial Bold" panose="020B0604020202020204" charset="0"/>
              <a:cs typeface="Arial Bold" panose="020B0604020202020204" charset="0"/>
            </a:endParaRPr>
          </a:p>
        </p:txBody>
      </p:sp>
      <p:pic>
        <p:nvPicPr>
          <p:cNvPr id="4" name="Content Placeholder 3" descr="Image 19-03-2025 at 12.13 PM"/>
          <p:cNvPicPr>
            <a:picLocks noChangeAspect="1"/>
          </p:cNvPicPr>
          <p:nvPr>
            <p:ph idx="1"/>
          </p:nvPr>
        </p:nvPicPr>
        <p:blipFill>
          <a:blip r:embed="rId1"/>
          <a:stretch>
            <a:fillRect/>
          </a:stretch>
        </p:blipFill>
        <p:spPr>
          <a:xfrm>
            <a:off x="457200" y="793750"/>
            <a:ext cx="8229600" cy="1704340"/>
          </a:xfrm>
          <a:prstGeom prst="rect">
            <a:avLst/>
          </a:prstGeom>
        </p:spPr>
      </p:pic>
      <p:pic>
        <p:nvPicPr>
          <p:cNvPr id="6" name="Picture 5" descr="Image 19-03-2025 at 12.13 PM"/>
          <p:cNvPicPr>
            <a:picLocks noChangeAspect="1"/>
          </p:cNvPicPr>
          <p:nvPr/>
        </p:nvPicPr>
        <p:blipFill>
          <a:blip r:embed="rId2"/>
          <a:stretch>
            <a:fillRect/>
          </a:stretch>
        </p:blipFill>
        <p:spPr>
          <a:xfrm>
            <a:off x="457200" y="2438400"/>
            <a:ext cx="8229600" cy="36728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Placeholder 1"/>
          <p:cNvSpPr>
            <a:spLocks noGrp="1"/>
          </p:cNvSpPr>
          <p:nvPr>
            <p:ph idx="1"/>
          </p:nvPr>
        </p:nvSpPr>
        <p:spPr>
          <a:xfrm>
            <a:off x="457200" y="2049780"/>
            <a:ext cx="8229600" cy="4046220"/>
          </a:xfrm>
        </p:spPr>
        <p:txBody>
          <a:bodyPr/>
          <a:p>
            <a:pPr marL="0" indent="0" algn="ctr">
              <a:buNone/>
            </a:pPr>
            <a:r>
              <a:rPr lang="en-US"/>
              <a:t> End of Lecture</a:t>
            </a:r>
            <a:endParaRPr 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Pap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Paper">
      <a:fillStyleLst>
        <a:solidFill>
          <a:schemeClr val="phClr"/>
        </a:solidFill>
        <a:blipFill>
          <a:blip xmlns:r="http://schemas.openxmlformats.org/officeDocument/2006/relationships" r:embed="rId1">
            <a:duotone>
              <a:schemeClr val="phClr">
                <a:shade val="63000"/>
                <a:tint val="82000"/>
              </a:schemeClr>
              <a:schemeClr val="phClr">
                <a:tint val="10000"/>
                <a:satMod val="400000"/>
              </a:schemeClr>
            </a:duotone>
          </a:blip>
          <a:tile tx="0" ty="0" sx="40000" sy="40000" flip="none" algn="tl"/>
        </a:blipFill>
        <a:blipFill>
          <a:blip xmlns:r="http://schemas.openxmlformats.org/officeDocument/2006/relationships" r:embed="rId1">
            <a:duotone>
              <a:schemeClr val="phClr">
                <a:shade val="40000"/>
              </a:schemeClr>
              <a:schemeClr val="phClr">
                <a:tint val="42000"/>
              </a:schemeClr>
            </a:duotone>
          </a:blip>
          <a:tile tx="0" ty="0" sx="40000" sy="40000" flip="none" algn="tl"/>
        </a:blipFill>
      </a:fillStyleLst>
      <a:lnStyleLst>
        <a:ln w="12700" cap="flat" cmpd="sng" algn="ctr">
          <a:solidFill>
            <a:schemeClr val="phClr"/>
          </a:solidFill>
          <a:prstDash val="solid"/>
        </a:ln>
        <a:ln w="38100" cap="flat" cmpd="sng" algn="ctr">
          <a:solidFill>
            <a:schemeClr val="phClr"/>
          </a:solidFill>
          <a:prstDash val="solid"/>
        </a:ln>
        <a:ln w="63500" cap="flat" cmpd="sng" algn="ctr">
          <a:solidFill>
            <a:schemeClr val="phClr"/>
          </a:solidFill>
          <a:prstDash val="solid"/>
        </a:ln>
      </a:lnStyleLst>
      <a:effectStyleLst>
        <a:effectStyle>
          <a:effectLst>
            <a:outerShdw blurRad="95000" rotWithShape="0">
              <a:srgbClr val="000000">
                <a:alpha val="50000"/>
              </a:srgbClr>
            </a:outerShdw>
            <a:softEdge rad="12700"/>
          </a:effectLst>
        </a:effectStyle>
        <a:effectStyle>
          <a:effectLst>
            <a:outerShdw blurRad="95000" rotWithShape="0">
              <a:srgbClr val="000000">
                <a:alpha val="50000"/>
              </a:srgbClr>
            </a:outerShdw>
            <a:softEdge rad="12700"/>
          </a:effectLst>
        </a:effectStyle>
        <a:effectStyle>
          <a:effectLst>
            <a:outerShdw blurRad="95000" algn="tl" rotWithShape="0">
              <a:srgbClr val="000000">
                <a:alpha val="50000"/>
              </a:srgbClr>
            </a:outerShdw>
          </a:effectLst>
          <a:scene3d>
            <a:camera prst="orthographicFront"/>
            <a:lightRig rig="soft" dir="t">
              <a:rot lat="0" lon="0" rev="18000000"/>
            </a:lightRig>
          </a:scene3d>
          <a:sp3d prstMaterial="dkEdge">
            <a:bevelT w="73660" h="44450" prst="riblet"/>
          </a:sp3d>
        </a:effectStyle>
      </a:effectStyleLst>
      <a:bgFillStyleLst>
        <a:solidFill>
          <a:schemeClr val="phClr"/>
        </a:solidFill>
        <a:blipFill>
          <a:blip xmlns:r="http://schemas.openxmlformats.org/officeDocument/2006/relationships" r:embed="rId1">
            <a:duotone>
              <a:schemeClr val="phClr">
                <a:shade val="55000"/>
                <a:alpha val="20000"/>
              </a:schemeClr>
              <a:schemeClr val="phClr">
                <a:tint val="40000"/>
                <a:shade val="90000"/>
                <a:satMod val="60000"/>
                <a:alpha val="20000"/>
              </a:schemeClr>
            </a:duotone>
          </a:blip>
          <a:tile tx="0" ty="0" sx="58000" sy="38000" flip="none" algn="tl"/>
        </a:blipFill>
        <a:blipFill>
          <a:blip xmlns:r="http://schemas.openxmlformats.org/officeDocument/2006/relationships" r:embed="rId2">
            <a:duotone>
              <a:schemeClr val="phClr">
                <a:shade val="12000"/>
                <a:satMod val="240000"/>
              </a:schemeClr>
              <a:schemeClr val="phClr">
                <a:tint val="65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Paper</Template>
  <TotalTime>0</TotalTime>
  <Words>4009</Words>
  <Application>WPS Presentation</Application>
  <PresentationFormat>On-screen Show (4:3)</PresentationFormat>
  <Paragraphs>82</Paragraphs>
  <Slides>17</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17</vt:i4>
      </vt:variant>
    </vt:vector>
  </HeadingPairs>
  <TitlesOfParts>
    <vt:vector size="34" baseType="lpstr">
      <vt:lpstr>Arial</vt:lpstr>
      <vt:lpstr>SimSun</vt:lpstr>
      <vt:lpstr>Wingdings</vt:lpstr>
      <vt:lpstr>Wingdings 2</vt:lpstr>
      <vt:lpstr>Wingdings 2</vt:lpstr>
      <vt:lpstr>Verdana Bold</vt:lpstr>
      <vt:lpstr>Arial Regular</vt:lpstr>
      <vt:lpstr>Verdana</vt:lpstr>
      <vt:lpstr>Microsoft YaHei</vt:lpstr>
      <vt:lpstr>汉仪旗黑</vt:lpstr>
      <vt:lpstr>Calibri</vt:lpstr>
      <vt:lpstr>Helvetica Neue</vt:lpstr>
      <vt:lpstr>宋体-简</vt:lpstr>
      <vt:lpstr>Arial Unicode MS</vt:lpstr>
      <vt:lpstr>Apple Color Emoji</vt:lpstr>
      <vt:lpstr>Arial Bold</vt:lpstr>
      <vt:lpstr>Paper</vt:lpstr>
      <vt:lpstr>Computer Organization &amp; Assembly Language (CSC-205)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Digital Content (CSC-</dc:title>
  <dc:creator>Huda Sarfraz</dc:creator>
  <cp:lastModifiedBy>Nimra Abbas</cp:lastModifiedBy>
  <cp:revision>221</cp:revision>
  <dcterms:created xsi:type="dcterms:W3CDTF">2025-03-19T07:14:15Z</dcterms:created>
  <dcterms:modified xsi:type="dcterms:W3CDTF">2025-03-19T07:14:15Z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