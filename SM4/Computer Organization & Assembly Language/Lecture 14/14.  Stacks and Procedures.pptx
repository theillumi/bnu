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3"/>
    <p:sldId id="479" r:id="rId4"/>
    <p:sldId id="514" r:id="rId5"/>
    <p:sldId id="515" r:id="rId6"/>
    <p:sldId id="516" r:id="rId7"/>
    <p:sldId id="523" r:id="rId8"/>
    <p:sldId id="524" r:id="rId9"/>
    <p:sldId id="517" r:id="rId10"/>
    <p:sldId id="518" r:id="rId11"/>
    <p:sldId id="519" r:id="rId12"/>
    <p:sldId id="520" r:id="rId13"/>
    <p:sldId id="521" r:id="rId14"/>
    <p:sldId id="522" r:id="rId15"/>
    <p:sldId id="525" r:id="rId16"/>
    <p:sldId id="526" r:id="rId17"/>
    <p:sldId id="527" r:id="rId18"/>
    <p:sldId id="528" r:id="rId19"/>
    <p:sldId id="529" r:id="rId20"/>
    <p:sldId id="513" r:id="rId21"/>
    <p:sldId id="531" r:id="rId22"/>
    <p:sldId id="532" r:id="rId23"/>
    <p:sldId id="379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 smtClean="0"/>
              <a:t>Lecture 14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(CSC-205)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12-05-2025 at 1.05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905000"/>
            <a:ext cx="8229600" cy="26155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94485"/>
            <a:ext cx="8229600" cy="4911090"/>
          </a:xfrm>
        </p:spPr>
        <p:txBody>
          <a:bodyPr/>
          <a:p>
            <a:pPr algn="just"/>
            <a:r>
              <a:rPr lang="en-US"/>
              <a:t>What Has Been Learned So Far?</a:t>
            </a:r>
            <a:endParaRPr lang="en-US"/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You’ve learned basic tools of assembly language, especially conditional jumps.</a:t>
            </a: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You've already written useful sorting and multiplication algorithms.</a:t>
            </a:r>
            <a:endParaRPr lang="en-US" sz="2000"/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  <a:p>
            <a:pPr algn="just"/>
            <a:r>
              <a:rPr lang="en-US" sz="2000">
                <a:sym typeface="+mn-ea"/>
              </a:rPr>
              <a:t>Reusability Issue in Large Programs?</a:t>
            </a:r>
            <a:endParaRPr lang="en-US" sz="2000">
              <a:sym typeface="+mn-ea"/>
            </a:endParaRPr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Programs often need sorting or multiplication at many places.</a:t>
            </a:r>
            <a:endParaRPr lang="en-US" sz="2000">
              <a:sym typeface="+mn-ea"/>
            </a:endParaRPr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Copying the same code 100 times is hard to manage, error-prone, and wasteful</a:t>
            </a:r>
            <a:endParaRPr lang="en-US" sz="20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85850"/>
          </a:xfrm>
        </p:spPr>
        <p:txBody>
          <a:bodyPr/>
          <a:p>
            <a:r>
              <a:rPr lang="en-US" sz="3600"/>
              <a:t>5.1. PROGRAM FLOW</a:t>
            </a:r>
            <a:endParaRPr lang="en-US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07490"/>
            <a:ext cx="8229600" cy="4998085"/>
          </a:xfrm>
        </p:spPr>
        <p:txBody>
          <a:bodyPr>
            <a:normAutofit lnSpcReduction="10000"/>
          </a:bodyPr>
          <a:p>
            <a:pPr algn="just"/>
            <a:r>
              <a:rPr lang="en-US"/>
              <a:t>Naive Approach : Using Labels and Jumps</a:t>
            </a:r>
            <a:endParaRPr lang="en-US"/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One simple way is to put sorting code in one place and use JMP to go to it.</a:t>
            </a: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But once the sorting finishes, how does the code know where to return?</a:t>
            </a: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A regular jump (JMP) goes only in one direction — there’s no built-in way to go back.</a:t>
            </a:r>
            <a:endParaRPr lang="en-US" sz="2000"/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  <a:p>
            <a:pPr algn="just"/>
            <a:r>
              <a:rPr lang="en-US" sz="2000">
                <a:sym typeface="+mn-ea"/>
              </a:rPr>
              <a:t>Program Flow Analogy</a:t>
            </a:r>
            <a:endParaRPr lang="en-US" sz="2000">
              <a:sym typeface="+mn-ea"/>
            </a:endParaRPr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A program is like a thread — all instructions are connected in a line.</a:t>
            </a:r>
            <a:endParaRPr lang="en-US" sz="2000">
              <a:sym typeface="+mn-ea"/>
            </a:endParaRPr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A jump is like a permanent turn on a highway — it breaks the thread and goes away.</a:t>
            </a:r>
            <a:endParaRPr lang="en-US" sz="2000">
              <a:sym typeface="+mn-ea"/>
            </a:endParaRPr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Conditional jumps pick between two paths, but they don’t allow return either.</a:t>
            </a:r>
            <a:endParaRPr lang="en-US" sz="20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85850"/>
          </a:xfrm>
        </p:spPr>
        <p:txBody>
          <a:bodyPr/>
          <a:p>
            <a:r>
              <a:rPr lang="en-US" sz="3600"/>
              <a:t>5.1. PROGRAM FLOW</a:t>
            </a:r>
            <a:endParaRPr lang="en-US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05255"/>
            <a:ext cx="8229600" cy="5100320"/>
          </a:xfrm>
        </p:spPr>
        <p:txBody>
          <a:bodyPr>
            <a:normAutofit lnSpcReduction="20000"/>
          </a:bodyPr>
          <a:p>
            <a:pPr algn="just">
              <a:lnSpc>
                <a:spcPct val="150000"/>
              </a:lnSpc>
            </a:pPr>
            <a:r>
              <a:rPr lang="en-US"/>
              <a:t>Roundabout Analogy (Temporary Diversions)</a:t>
            </a:r>
            <a:endParaRPr lang="en-US"/>
          </a:p>
          <a:p>
            <a:pPr marL="365760" lvl="1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000"/>
              <a:t>Just like roundabouts bring you back to your original path:</a:t>
            </a: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We want a way to temporarily jump to a task (like sorting),</a:t>
            </a: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And then come back to where we left off</a:t>
            </a:r>
            <a:endParaRPr lang="en-US" sz="2000"/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  <a:p>
            <a:pPr algn="just"/>
            <a:r>
              <a:rPr lang="en-US" sz="2000">
                <a:sym typeface="+mn-ea"/>
              </a:rPr>
              <a:t>Conclusion</a:t>
            </a:r>
            <a:endParaRPr lang="en-US" sz="2000">
              <a:sym typeface="+mn-ea"/>
            </a:endParaRPr>
          </a:p>
          <a:p>
            <a:pPr marL="365760" lvl="1" indent="0" algn="just">
              <a:buFont typeface="Wingdings" panose="05000000000000000000" charset="0"/>
              <a:buNone/>
            </a:pPr>
            <a:r>
              <a:rPr lang="en-US" sz="2000">
                <a:sym typeface="+mn-ea"/>
              </a:rPr>
              <a:t>Assembly language needs a feature that lets you:</a:t>
            </a:r>
            <a:endParaRPr lang="en-US" sz="2000">
              <a:sym typeface="+mn-ea"/>
            </a:endParaRPr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Go to a task (e.g., sorting)</a:t>
            </a:r>
            <a:endParaRPr lang="en-US" sz="2000">
              <a:sym typeface="+mn-ea"/>
            </a:endParaRPr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And then return back after it’s done</a:t>
            </a:r>
            <a:endParaRPr lang="en-US" sz="2000"/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  <a:p>
            <a:pPr marL="365760" lvl="1" indent="0" algn="just">
              <a:buFont typeface="Wingdings" panose="05000000000000000000" charset="0"/>
              <a:buNone/>
            </a:pPr>
            <a:r>
              <a:rPr lang="en-US" sz="2000"/>
              <a:t>This idea leads to subroutines or procedures — a concept that will be introduced to handle such needs.</a:t>
            </a:r>
            <a:endParaRPr lang="en-US" sz="20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85850"/>
          </a:xfrm>
        </p:spPr>
        <p:txBody>
          <a:bodyPr/>
          <a:p>
            <a:r>
              <a:rPr lang="en-US" sz="3600"/>
              <a:t>5.1. PROGRAM FLOW</a:t>
            </a:r>
            <a:endParaRPr lang="en-US"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85850"/>
          </a:xfrm>
        </p:spPr>
        <p:txBody>
          <a:bodyPr/>
          <a:p>
            <a:r>
              <a:rPr lang="en-US" sz="3600"/>
              <a:t>5.1. PROGRAM FLOW</a:t>
            </a:r>
            <a:endParaRPr lang="en-US" sz="3600"/>
          </a:p>
        </p:txBody>
      </p:sp>
      <p:pic>
        <p:nvPicPr>
          <p:cNvPr id="4" name="Content Placeholder 3" descr="Image 12-05-2025 at 1.33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828800"/>
            <a:ext cx="8229600" cy="4072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05255"/>
            <a:ext cx="8229600" cy="5100320"/>
          </a:xfrm>
        </p:spPr>
        <p:txBody>
          <a:bodyPr>
            <a:normAutofit lnSpcReduction="20000"/>
          </a:bodyPr>
          <a:p>
            <a:pPr algn="just">
              <a:lnSpc>
                <a:spcPct val="150000"/>
              </a:lnSpc>
            </a:pPr>
            <a:r>
              <a:rPr lang="en-US"/>
              <a:t> Key Idea Explained:</a:t>
            </a:r>
            <a:endParaRPr lang="en-US"/>
          </a:p>
          <a:p>
            <a:pPr marL="0" indent="0" algn="just">
              <a:lnSpc>
                <a:spcPct val="150000"/>
              </a:lnSpc>
              <a:buNone/>
            </a:pP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The program calls a procedure (e.g., Bubble Sort)</a:t>
            </a: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The procedure may call another procedure (e.g., Swap)</a:t>
            </a: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After execution, control returns to the point right after the call</a:t>
            </a: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This temporary diversion is like a loop in thread </a:t>
            </a:r>
            <a:endParaRPr lang="en-US" sz="2000"/>
          </a:p>
          <a:p>
            <a:pPr algn="just"/>
            <a:endParaRPr lang="en-US" sz="20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85850"/>
          </a:xfrm>
        </p:spPr>
        <p:txBody>
          <a:bodyPr/>
          <a:p>
            <a:r>
              <a:rPr lang="en-US" sz="3600"/>
              <a:t>5.1. PROGRAM FLOW</a:t>
            </a:r>
            <a:endParaRPr lang="en-US"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05255"/>
            <a:ext cx="8229600" cy="5100320"/>
          </a:xfrm>
        </p:spPr>
        <p:txBody>
          <a:bodyPr>
            <a:normAutofit lnSpcReduction="20000"/>
          </a:bodyPr>
          <a:p>
            <a:pPr marL="0" indent="0" algn="just">
              <a:lnSpc>
                <a:spcPct val="150000"/>
              </a:lnSpc>
              <a:buNone/>
            </a:pPr>
            <a:r>
              <a:rPr lang="en-US">
                <a:solidFill>
                  <a:srgbClr val="FF0000"/>
                </a:solidFill>
              </a:rPr>
              <a:t>1. Procedure (Subroutine)</a:t>
            </a:r>
            <a:endParaRPr lang="en-US">
              <a:solidFill>
                <a:srgbClr val="FF0000"/>
              </a:solidFill>
            </a:endParaRPr>
          </a:p>
          <a:p>
            <a:pPr marL="365760" lvl="1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000"/>
              <a:t>A procedure is a reusable block of code that performs a specific task and can return to where it was called from</a:t>
            </a:r>
            <a:endParaRPr lang="en-US" sz="2000"/>
          </a:p>
          <a:p>
            <a:pPr lvl="1" algn="just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sz="2000"/>
              <a:t>Used for: Reusable code (e.g., sorting, multiplication)</a:t>
            </a:r>
            <a:endParaRPr lang="en-US" sz="2000"/>
          </a:p>
          <a:p>
            <a:pPr lvl="1" algn="just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sz="2000"/>
              <a:t> Returns back to the caller after execution (CALL and RET instructions)</a:t>
            </a:r>
            <a:endParaRPr lang="en-US" sz="2000"/>
          </a:p>
          <a:p>
            <a:pPr lvl="1" algn="just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sz="2000"/>
              <a:t> Can be called multiple times from different places in code</a:t>
            </a:r>
            <a:endParaRPr lang="en-US" sz="2000"/>
          </a:p>
          <a:p>
            <a:pPr lvl="1" algn="just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sz="2000"/>
              <a:t> Like a function in high-level languages</a:t>
            </a:r>
            <a:endParaRPr lang="en-US" sz="2000"/>
          </a:p>
          <a:p>
            <a:pPr marL="365760" lvl="1" indent="0" algn="just">
              <a:lnSpc>
                <a:spcPct val="150000"/>
              </a:lnSpc>
              <a:buFont typeface="Wingdings" panose="05000000000000000000" charset="0"/>
              <a:buNone/>
            </a:pP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endParaRPr lang="en-US" sz="2000"/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</p:txBody>
      </p:sp>
      <p:sp>
        <p:nvSpPr>
          <p:cNvPr id="4" name="Title 3"/>
          <p:cNvSpPr/>
          <p:nvPr>
            <p:ph type="title"/>
          </p:nvPr>
        </p:nvSpPr>
        <p:spPr/>
        <p:txBody>
          <a:bodyPr>
            <a:normAutofit/>
          </a:bodyPr>
          <a:p>
            <a:r>
              <a:rPr lang="en-US" sz="2665"/>
              <a:t>Simple Comparison of Procedure, Loop, and Label in Assembly Language</a:t>
            </a:r>
            <a:endParaRPr lang="en-US" sz="266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05255"/>
            <a:ext cx="8229600" cy="5100320"/>
          </a:xfrm>
        </p:spPr>
        <p:txBody>
          <a:bodyPr>
            <a:normAutofit lnSpcReduction="20000"/>
          </a:bodyPr>
          <a:p>
            <a:pPr marL="0" indent="0" algn="just">
              <a:lnSpc>
                <a:spcPct val="150000"/>
              </a:lnSpc>
              <a:buNone/>
            </a:pPr>
            <a:r>
              <a:rPr lang="en-US">
                <a:solidFill>
                  <a:srgbClr val="FF0000"/>
                </a:solidFill>
              </a:rPr>
              <a:t>1. Procedure (Subroutine) - Example</a:t>
            </a:r>
            <a:endParaRPr lang="en-US">
              <a:solidFill>
                <a:srgbClr val="FF0000"/>
              </a:solidFill>
            </a:endParaRPr>
          </a:p>
          <a:p>
            <a:pPr marL="365760" lvl="1" indent="0" algn="just">
              <a:lnSpc>
                <a:spcPct val="150000"/>
              </a:lnSpc>
              <a:buFont typeface="Wingdings" panose="05000000000000000000" charset="0"/>
              <a:buNone/>
            </a:pP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endParaRPr lang="en-US" sz="2000"/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</p:txBody>
      </p:sp>
      <p:sp>
        <p:nvSpPr>
          <p:cNvPr id="4" name="Title 3"/>
          <p:cNvSpPr/>
          <p:nvPr>
            <p:ph type="title"/>
          </p:nvPr>
        </p:nvSpPr>
        <p:spPr/>
        <p:txBody>
          <a:bodyPr>
            <a:normAutofit/>
          </a:bodyPr>
          <a:p>
            <a:r>
              <a:rPr lang="en-US" sz="2665"/>
              <a:t>Simple Comparison of Procedure, Loop, and Label in Assembly Language</a:t>
            </a:r>
            <a:endParaRPr lang="en-US" sz="2665"/>
          </a:p>
        </p:txBody>
      </p:sp>
      <p:pic>
        <p:nvPicPr>
          <p:cNvPr id="3" name="Picture 2" descr="Image 12-05-2025 at 1.2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362200"/>
            <a:ext cx="80264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05255"/>
            <a:ext cx="8229600" cy="5100320"/>
          </a:xfrm>
        </p:spPr>
        <p:txBody>
          <a:bodyPr>
            <a:normAutofit lnSpcReduction="20000"/>
          </a:bodyPr>
          <a:p>
            <a:pPr marL="0" indent="0" algn="just">
              <a:lnSpc>
                <a:spcPct val="150000"/>
              </a:lnSpc>
              <a:buNone/>
            </a:pPr>
            <a:r>
              <a:rPr lang="en-US">
                <a:solidFill>
                  <a:srgbClr val="FF0000"/>
                </a:solidFill>
              </a:rPr>
              <a:t>2. Loop</a:t>
            </a:r>
            <a:endParaRPr lang="en-US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/>
              <a:t>A loop is a structure that repeats a block of code multiple times based on a condition.</a:t>
            </a:r>
            <a:endParaRPr lang="en-US" sz="2000"/>
          </a:p>
          <a:p>
            <a:pPr lvl="1" algn="just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sz="2000"/>
              <a:t>Used for: Repeating actions (like iterating over an array)</a:t>
            </a:r>
            <a:endParaRPr lang="en-US" sz="2000"/>
          </a:p>
          <a:p>
            <a:pPr lvl="1" algn="just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sz="2000"/>
              <a:t>Stops repeating when a condition is false</a:t>
            </a:r>
            <a:endParaRPr lang="en-US" sz="2000"/>
          </a:p>
          <a:p>
            <a:pPr lvl="1" algn="just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sz="2000"/>
              <a:t>Uses instructions like LOOP, JMP, or JNZ to repeat</a:t>
            </a: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endParaRPr lang="en-US" sz="2000"/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</p:txBody>
      </p:sp>
      <p:sp>
        <p:nvSpPr>
          <p:cNvPr id="4" name="Title 3"/>
          <p:cNvSpPr/>
          <p:nvPr>
            <p:ph type="title"/>
          </p:nvPr>
        </p:nvSpPr>
        <p:spPr>
          <a:xfrm>
            <a:off x="457200" y="152400"/>
            <a:ext cx="8229600" cy="979170"/>
          </a:xfrm>
        </p:spPr>
        <p:txBody>
          <a:bodyPr>
            <a:normAutofit/>
          </a:bodyPr>
          <a:p>
            <a:r>
              <a:rPr lang="en-US" sz="2665"/>
              <a:t>Simple Comparison of Procedure, Loop, and Label in Assembly Language</a:t>
            </a:r>
            <a:endParaRPr lang="en-US" sz="266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05255"/>
            <a:ext cx="8229600" cy="5100320"/>
          </a:xfrm>
        </p:spPr>
        <p:txBody>
          <a:bodyPr>
            <a:normAutofit lnSpcReduction="20000"/>
          </a:bodyPr>
          <a:p>
            <a:pPr marL="0" indent="0" algn="just">
              <a:lnSpc>
                <a:spcPct val="150000"/>
              </a:lnSpc>
              <a:buNone/>
            </a:pPr>
            <a:r>
              <a:rPr lang="en-US">
                <a:solidFill>
                  <a:srgbClr val="FF0000"/>
                </a:solidFill>
              </a:rPr>
              <a:t>2. Loop - Example</a:t>
            </a:r>
            <a:endParaRPr lang="en-US">
              <a:solidFill>
                <a:srgbClr val="FF0000"/>
              </a:solidFill>
            </a:endParaRPr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</p:txBody>
      </p:sp>
      <p:sp>
        <p:nvSpPr>
          <p:cNvPr id="4" name="Title 3"/>
          <p:cNvSpPr/>
          <p:nvPr>
            <p:ph type="title"/>
          </p:nvPr>
        </p:nvSpPr>
        <p:spPr>
          <a:xfrm>
            <a:off x="457200" y="152400"/>
            <a:ext cx="8229600" cy="979170"/>
          </a:xfrm>
        </p:spPr>
        <p:txBody>
          <a:bodyPr>
            <a:normAutofit/>
          </a:bodyPr>
          <a:p>
            <a:r>
              <a:rPr lang="en-US" sz="2665"/>
              <a:t>Simple Comparison of Procedure, Loop, and Label in Assembly Language</a:t>
            </a:r>
            <a:endParaRPr lang="en-US" sz="2665"/>
          </a:p>
        </p:txBody>
      </p:sp>
      <p:pic>
        <p:nvPicPr>
          <p:cNvPr id="3" name="Picture 2" descr="Image 12-05-2025 at 1.30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00" y="2260600"/>
            <a:ext cx="7442200" cy="2336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05255"/>
            <a:ext cx="8229600" cy="5100320"/>
          </a:xfrm>
        </p:spPr>
        <p:txBody>
          <a:bodyPr>
            <a:normAutofit lnSpcReduction="20000"/>
          </a:bodyPr>
          <a:p>
            <a:pPr marL="0" indent="0" algn="just">
              <a:lnSpc>
                <a:spcPct val="150000"/>
              </a:lnSpc>
              <a:buNone/>
            </a:pPr>
            <a:r>
              <a:rPr lang="en-US">
                <a:solidFill>
                  <a:srgbClr val="FF0000"/>
                </a:solidFill>
              </a:rPr>
              <a:t>3. Label </a:t>
            </a:r>
            <a:endParaRPr lang="en-US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/>
              <a:t>A label is a named point in the code that you can jump to.</a:t>
            </a:r>
            <a:endParaRPr lang="en-US" sz="2000"/>
          </a:p>
          <a:p>
            <a:pPr lvl="1" algn="just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sz="2000"/>
              <a:t>Used for: Marking a location in code</a:t>
            </a:r>
            <a:endParaRPr lang="en-US" sz="2000"/>
          </a:p>
          <a:p>
            <a:pPr lvl="1" algn="just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sz="2000"/>
              <a:t>Works with jump instructions (JMP, JE, JNE, etc.)</a:t>
            </a:r>
            <a:endParaRPr lang="en-US" sz="2000"/>
          </a:p>
          <a:p>
            <a:pPr lvl="1" algn="just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sz="2000"/>
              <a:t>Does not return back automatically after jumping</a:t>
            </a:r>
            <a:endParaRPr lang="en-US" sz="2000"/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</p:txBody>
      </p:sp>
      <p:sp>
        <p:nvSpPr>
          <p:cNvPr id="4" name="Title 3"/>
          <p:cNvSpPr/>
          <p:nvPr>
            <p:ph type="title"/>
          </p:nvPr>
        </p:nvSpPr>
        <p:spPr>
          <a:xfrm>
            <a:off x="457200" y="152400"/>
            <a:ext cx="8229600" cy="979170"/>
          </a:xfrm>
        </p:spPr>
        <p:txBody>
          <a:bodyPr>
            <a:normAutofit/>
          </a:bodyPr>
          <a:p>
            <a:r>
              <a:rPr lang="en-US" sz="2665"/>
              <a:t>Simple Comparison of Procedure, Loop, and Label in Assembly Language</a:t>
            </a:r>
            <a:endParaRPr lang="en-US" sz="266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05255"/>
            <a:ext cx="8229600" cy="5100320"/>
          </a:xfrm>
        </p:spPr>
        <p:txBody>
          <a:bodyPr>
            <a:normAutofit lnSpcReduction="20000"/>
          </a:bodyPr>
          <a:p>
            <a:pPr marL="0" indent="0" algn="just">
              <a:lnSpc>
                <a:spcPct val="150000"/>
              </a:lnSpc>
              <a:buNone/>
            </a:pPr>
            <a:r>
              <a:rPr lang="en-US">
                <a:solidFill>
                  <a:srgbClr val="FF0000"/>
                </a:solidFill>
              </a:rPr>
              <a:t>3. Label - Example </a:t>
            </a:r>
            <a:endParaRPr lang="en-US">
              <a:solidFill>
                <a:srgbClr val="FF0000"/>
              </a:solidFill>
            </a:endParaRPr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</p:txBody>
      </p:sp>
      <p:sp>
        <p:nvSpPr>
          <p:cNvPr id="4" name="Title 3"/>
          <p:cNvSpPr/>
          <p:nvPr>
            <p:ph type="title"/>
          </p:nvPr>
        </p:nvSpPr>
        <p:spPr>
          <a:xfrm>
            <a:off x="457200" y="152400"/>
            <a:ext cx="8229600" cy="979170"/>
          </a:xfrm>
        </p:spPr>
        <p:txBody>
          <a:bodyPr>
            <a:normAutofit/>
          </a:bodyPr>
          <a:p>
            <a:r>
              <a:rPr lang="en-US" sz="2665"/>
              <a:t>Simple Comparison of Procedure, Loop, and Label in Assembly Language</a:t>
            </a:r>
            <a:endParaRPr lang="en-US" sz="2665"/>
          </a:p>
        </p:txBody>
      </p:sp>
      <p:pic>
        <p:nvPicPr>
          <p:cNvPr id="3" name="Picture 2" descr="Image 12-05-2025 at 1.32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317115"/>
            <a:ext cx="800100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05255"/>
            <a:ext cx="8229600" cy="5100320"/>
          </a:xfrm>
        </p:spPr>
        <p:txBody>
          <a:bodyPr>
            <a:normAutofit lnSpcReduction="20000"/>
          </a:bodyPr>
          <a:p>
            <a:pPr algn="just">
              <a:lnSpc>
                <a:spcPct val="150000"/>
              </a:lnSpc>
              <a:buFont typeface="Wingdings" panose="05000000000000000000" charset="0"/>
              <a:buChar char=""/>
            </a:pPr>
            <a:r>
              <a:rPr lang="en-US">
                <a:solidFill>
                  <a:srgbClr val="FF0000"/>
                </a:solidFill>
              </a:rPr>
              <a:t> Purpose of Diversion</a:t>
            </a:r>
            <a:endParaRPr lang="en-US">
              <a:solidFill>
                <a:srgbClr val="FF0000"/>
              </a:solidFill>
            </a:endParaRPr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  <a:p>
            <a:pPr lvl="1" algn="just"/>
            <a:r>
              <a:rPr lang="en-US" sz="2000"/>
              <a:t>Processors support both temporary and permanent diversions</a:t>
            </a:r>
            <a:endParaRPr lang="en-US" sz="2000"/>
          </a:p>
          <a:p>
            <a:pPr lvl="1" algn="just"/>
            <a:r>
              <a:rPr lang="en-US" sz="2000"/>
              <a:t>Permanent diversion: JMP (Jump Instruction)</a:t>
            </a:r>
            <a:endParaRPr lang="en-US" sz="2000"/>
          </a:p>
          <a:p>
            <a:pPr lvl="1" algn="just"/>
            <a:r>
              <a:rPr lang="en-US" sz="2000"/>
              <a:t>Temporary diversion: CALL (Call Instruction)</a:t>
            </a:r>
            <a:endParaRPr lang="en-US" sz="2000"/>
          </a:p>
          <a:p>
            <a:pPr algn="just">
              <a:lnSpc>
                <a:spcPct val="150000"/>
              </a:lnSpc>
              <a:buFont typeface="Wingdings" panose="05000000000000000000" charset="0"/>
              <a:buChar char=""/>
            </a:pPr>
            <a:r>
              <a:rPr lang="en-US" sz="2000">
                <a:solidFill>
                  <a:srgbClr val="FF0000"/>
                </a:solidFill>
              </a:rPr>
              <a:t>What is CALL?</a:t>
            </a:r>
            <a:endParaRPr lang="en-US" sz="2000">
              <a:solidFill>
                <a:srgbClr val="FF0000"/>
              </a:solidFill>
            </a:endParaRPr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  <a:p>
            <a:pPr lvl="1" algn="just"/>
            <a:r>
              <a:rPr lang="en-US" sz="2000">
                <a:sym typeface="+mn-ea"/>
              </a:rPr>
              <a:t>Similar to subroutine/function call in high-level languages</a:t>
            </a:r>
            <a:endParaRPr lang="en-US" sz="2000">
              <a:sym typeface="+mn-ea"/>
            </a:endParaRPr>
          </a:p>
          <a:p>
            <a:pPr lvl="1" algn="just"/>
            <a:r>
              <a:rPr lang="en-US" sz="2000">
                <a:sym typeface="+mn-ea"/>
              </a:rPr>
              <a:t>Allows temporary diversion for code reuse (e.g., Bubble Sort)</a:t>
            </a:r>
            <a:endParaRPr lang="en-US" sz="2000">
              <a:sym typeface="+mn-ea"/>
            </a:endParaRPr>
          </a:p>
          <a:p>
            <a:pPr lvl="1" algn="just"/>
            <a:r>
              <a:rPr lang="en-US" sz="2000">
                <a:sym typeface="+mn-ea"/>
              </a:rPr>
              <a:t>Syntax: CALL label (jumps to the label’s code)</a:t>
            </a:r>
            <a:endParaRPr lang="en-US" sz="2000">
              <a:sym typeface="+mn-ea"/>
            </a:endParaRPr>
          </a:p>
          <a:p>
            <a:pPr lvl="1" algn="just"/>
            <a:r>
              <a:rPr lang="en-US" sz="2000">
                <a:sym typeface="+mn-ea"/>
              </a:rPr>
              <a:t>Unlike JMP, CALL remembers the return address</a:t>
            </a:r>
            <a:endParaRPr lang="en-US" sz="2000">
              <a:sym typeface="+mn-ea"/>
            </a:endParaRPr>
          </a:p>
        </p:txBody>
      </p:sp>
      <p:sp>
        <p:nvSpPr>
          <p:cNvPr id="4" name="Title 3"/>
          <p:cNvSpPr/>
          <p:nvPr>
            <p:ph type="title"/>
          </p:nvPr>
        </p:nvSpPr>
        <p:spPr>
          <a:xfrm>
            <a:off x="457200" y="152400"/>
            <a:ext cx="8229600" cy="979170"/>
          </a:xfrm>
        </p:spPr>
        <p:txBody>
          <a:bodyPr>
            <a:normAutofit/>
          </a:bodyPr>
          <a:p>
            <a:r>
              <a:rPr lang="en-US" sz="2665"/>
              <a:t>CALL and RET</a:t>
            </a:r>
            <a:endParaRPr lang="en-US" sz="266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0320"/>
          </a:xfrm>
        </p:spPr>
        <p:txBody>
          <a:bodyPr>
            <a:normAutofit/>
          </a:bodyPr>
          <a:p>
            <a:pPr algn="just">
              <a:lnSpc>
                <a:spcPct val="150000"/>
              </a:lnSpc>
              <a:buFont typeface="Wingdings" panose="05000000000000000000" charset="0"/>
              <a:buChar char=""/>
            </a:pPr>
            <a:r>
              <a:rPr lang="en-US">
                <a:solidFill>
                  <a:srgbClr val="FF0000"/>
                </a:solidFill>
              </a:rPr>
              <a:t> What is RET?</a:t>
            </a:r>
            <a:endParaRPr lang="en-US">
              <a:solidFill>
                <a:srgbClr val="FF0000"/>
              </a:solidFill>
            </a:endParaRPr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  <a:p>
            <a:pPr lvl="1" algn="just"/>
            <a:r>
              <a:rPr lang="en-US" sz="2000"/>
              <a:t>RET = Return: Returns control to the instruction after CALL</a:t>
            </a:r>
            <a:endParaRPr lang="en-US" sz="2000"/>
          </a:p>
          <a:p>
            <a:pPr lvl="1" algn="just"/>
            <a:r>
              <a:rPr lang="en-US" sz="2000"/>
              <a:t>Takes no argument – the processor knows where to return</a:t>
            </a:r>
            <a:endParaRPr lang="en-US" sz="2000"/>
          </a:p>
          <a:p>
            <a:pPr lvl="1" algn="just"/>
            <a:r>
              <a:rPr lang="en-US" sz="2000"/>
              <a:t>Works using the system stack (will discuss later)</a:t>
            </a:r>
            <a:endParaRPr lang="en-US" sz="2000"/>
          </a:p>
          <a:p>
            <a:pPr algn="just">
              <a:lnSpc>
                <a:spcPct val="150000"/>
              </a:lnSpc>
              <a:buFont typeface="Wingdings" panose="05000000000000000000" charset="0"/>
              <a:buChar char=""/>
            </a:pPr>
            <a:r>
              <a:rPr lang="en-US" sz="2000">
                <a:solidFill>
                  <a:srgbClr val="FF0000"/>
                </a:solidFill>
              </a:rPr>
              <a:t>CALL and RET Pairing </a:t>
            </a:r>
            <a:endParaRPr lang="en-US" sz="2000">
              <a:solidFill>
                <a:srgbClr val="FF0000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n-US" sz="2000">
                <a:sym typeface="+mn-ea"/>
              </a:rPr>
              <a:t>Normally used together (CALL → RET)</a:t>
            </a:r>
            <a:endParaRPr lang="en-US" sz="2000">
              <a:sym typeface="+mn-ea"/>
            </a:endParaRPr>
          </a:p>
          <a:p>
            <a:pPr lvl="1" algn="just">
              <a:lnSpc>
                <a:spcPct val="150000"/>
              </a:lnSpc>
            </a:pPr>
            <a:r>
              <a:rPr lang="en-US" sz="2000">
                <a:sym typeface="+mn-ea"/>
              </a:rPr>
              <a:t>Technically independent:</a:t>
            </a:r>
            <a:endParaRPr lang="en-US" sz="2000">
              <a:sym typeface="+mn-ea"/>
            </a:endParaRPr>
          </a:p>
          <a:p>
            <a:pPr lvl="2" algn="just">
              <a:lnSpc>
                <a:spcPct val="150000"/>
              </a:lnSpc>
            </a:pPr>
            <a:r>
              <a:rPr lang="en-US" sz="1750">
                <a:sym typeface="+mn-ea"/>
              </a:rPr>
              <a:t>CALL works even without a RET</a:t>
            </a:r>
            <a:endParaRPr lang="en-US" sz="1750">
              <a:sym typeface="+mn-ea"/>
            </a:endParaRPr>
          </a:p>
          <a:p>
            <a:pPr lvl="2" algn="just">
              <a:lnSpc>
                <a:spcPct val="150000"/>
              </a:lnSpc>
            </a:pPr>
            <a:r>
              <a:rPr lang="en-US" sz="1750">
                <a:sym typeface="+mn-ea"/>
              </a:rPr>
              <a:t>RET works even without a CALL.</a:t>
            </a:r>
            <a:endParaRPr lang="en-US" sz="1750">
              <a:sym typeface="+mn-ea"/>
            </a:endParaRPr>
          </a:p>
          <a:p>
            <a:pPr lvl="1" algn="just"/>
            <a:endParaRPr lang="en-US" sz="2000">
              <a:sym typeface="+mn-ea"/>
            </a:endParaRPr>
          </a:p>
        </p:txBody>
      </p:sp>
      <p:sp>
        <p:nvSpPr>
          <p:cNvPr id="4" name="Title 3"/>
          <p:cNvSpPr/>
          <p:nvPr>
            <p:ph type="title"/>
          </p:nvPr>
        </p:nvSpPr>
        <p:spPr>
          <a:xfrm>
            <a:off x="457200" y="152400"/>
            <a:ext cx="8229600" cy="979170"/>
          </a:xfrm>
        </p:spPr>
        <p:txBody>
          <a:bodyPr>
            <a:normAutofit/>
          </a:bodyPr>
          <a:p>
            <a:r>
              <a:rPr lang="en-US" sz="2665"/>
              <a:t>CALL and RET</a:t>
            </a:r>
            <a:endParaRPr lang="en-US" sz="266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0320"/>
          </a:xfrm>
        </p:spPr>
        <p:txBody>
          <a:bodyPr>
            <a:normAutofit/>
          </a:bodyPr>
          <a:p>
            <a:pPr algn="just">
              <a:lnSpc>
                <a:spcPct val="150000"/>
              </a:lnSpc>
              <a:buFont typeface="Wingdings" panose="05000000000000000000" charset="0"/>
              <a:buChar char=""/>
            </a:pPr>
            <a:r>
              <a:rPr lang="en-US">
                <a:solidFill>
                  <a:srgbClr val="FF0000"/>
                </a:solidFill>
              </a:rPr>
              <a:t> Why Parameters Are Needed?</a:t>
            </a:r>
            <a:endParaRPr lang="en-US" sz="2000"/>
          </a:p>
          <a:p>
            <a:pPr lvl="1" algn="just">
              <a:lnSpc>
                <a:spcPct val="150000"/>
              </a:lnSpc>
            </a:pPr>
            <a:r>
              <a:rPr lang="en-US" sz="2000"/>
              <a:t>CALL lets us reuse code like Bubble Sort</a:t>
            </a:r>
            <a:endParaRPr lang="en-US" sz="2000"/>
          </a:p>
          <a:p>
            <a:pPr lvl="1" algn="just">
              <a:lnSpc>
                <a:spcPct val="150000"/>
              </a:lnSpc>
            </a:pPr>
            <a:r>
              <a:rPr lang="en-US" sz="2000"/>
              <a:t>But without parameters, it always sorts:</a:t>
            </a:r>
            <a:endParaRPr lang="en-US" sz="2000"/>
          </a:p>
          <a:p>
            <a:pPr lvl="2" algn="just">
              <a:lnSpc>
                <a:spcPct val="150000"/>
              </a:lnSpc>
            </a:pPr>
            <a:r>
              <a:rPr lang="en-US" sz="1750"/>
              <a:t>The same array</a:t>
            </a:r>
            <a:endParaRPr lang="en-US" sz="1750"/>
          </a:p>
          <a:p>
            <a:pPr lvl="2" algn="just">
              <a:lnSpc>
                <a:spcPct val="150000"/>
              </a:lnSpc>
            </a:pPr>
            <a:r>
              <a:rPr lang="en-US" sz="1750"/>
              <a:t>In the same way (e.g., ascending only)</a:t>
            </a:r>
            <a:endParaRPr lang="en-US" sz="1750"/>
          </a:p>
          <a:p>
            <a:pPr algn="just">
              <a:lnSpc>
                <a:spcPct val="150000"/>
              </a:lnSpc>
              <a:buFont typeface="Wingdings" panose="05000000000000000000" charset="0"/>
              <a:buChar char=""/>
            </a:pPr>
            <a:r>
              <a:rPr lang="en-US" sz="2000">
                <a:solidFill>
                  <a:srgbClr val="FF0000"/>
                </a:solidFill>
              </a:rPr>
              <a:t>Real applications need:</a:t>
            </a:r>
            <a:endParaRPr lang="en-US" sz="2000">
              <a:solidFill>
                <a:srgbClr val="FF0000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n-US" sz="2000">
                <a:sym typeface="+mn-ea"/>
              </a:rPr>
              <a:t>Parameters = Information passed from caller to subroutine</a:t>
            </a:r>
            <a:endParaRPr lang="en-US" sz="2000">
              <a:sym typeface="+mn-ea"/>
            </a:endParaRPr>
          </a:p>
          <a:p>
            <a:pPr lvl="1" algn="just">
              <a:lnSpc>
                <a:spcPct val="150000"/>
              </a:lnSpc>
            </a:pPr>
            <a:r>
              <a:rPr lang="en-US" sz="2000">
                <a:sym typeface="+mn-ea"/>
              </a:rPr>
              <a:t>Let the subroutine behave differently based on input</a:t>
            </a:r>
            <a:endParaRPr lang="en-US" sz="2000">
              <a:sym typeface="+mn-ea"/>
            </a:endParaRPr>
          </a:p>
        </p:txBody>
      </p:sp>
      <p:sp>
        <p:nvSpPr>
          <p:cNvPr id="4" name="Title 3"/>
          <p:cNvSpPr/>
          <p:nvPr>
            <p:ph type="title"/>
          </p:nvPr>
        </p:nvSpPr>
        <p:spPr>
          <a:xfrm>
            <a:off x="457200" y="152400"/>
            <a:ext cx="8229600" cy="979170"/>
          </a:xfrm>
        </p:spPr>
        <p:txBody>
          <a:bodyPr>
            <a:normAutofit/>
          </a:bodyPr>
          <a:p>
            <a:r>
              <a:rPr lang="en-US" sz="2665"/>
              <a:t>Parameters in Subroutines </a:t>
            </a:r>
            <a:endParaRPr lang="en-US" sz="2665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0320"/>
          </a:xfrm>
        </p:spPr>
        <p:txBody>
          <a:bodyPr>
            <a:normAutofit lnSpcReduction="20000"/>
          </a:bodyPr>
          <a:p>
            <a:pPr algn="just">
              <a:lnSpc>
                <a:spcPct val="150000"/>
              </a:lnSpc>
              <a:buFont typeface="Wingdings" panose="05000000000000000000" charset="0"/>
              <a:buChar char=""/>
            </a:pPr>
            <a:r>
              <a:rPr lang="en-US">
                <a:solidFill>
                  <a:srgbClr val="FF0000"/>
                </a:solidFill>
              </a:rPr>
              <a:t> How to Pass Parameters </a:t>
            </a:r>
            <a:endParaRPr lang="en-US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/>
              <a:t>Use registers to store parameter values</a:t>
            </a:r>
            <a:endParaRPr lang="en-US" sz="2000"/>
          </a:p>
          <a:p>
            <a:pPr lvl="1" algn="just">
              <a:lnSpc>
                <a:spcPct val="150000"/>
              </a:lnSpc>
            </a:pPr>
            <a:r>
              <a:rPr lang="en-US" sz="2000"/>
              <a:t>CALL:</a:t>
            </a:r>
            <a:endParaRPr lang="en-US" sz="2000"/>
          </a:p>
          <a:p>
            <a:pPr lvl="2" algn="just">
              <a:lnSpc>
                <a:spcPct val="150000"/>
              </a:lnSpc>
            </a:pPr>
            <a:r>
              <a:rPr lang="en-US" sz="1750"/>
              <a:t>Temporarily changes execution flow </a:t>
            </a:r>
            <a:endParaRPr lang="en-US" sz="1750"/>
          </a:p>
          <a:p>
            <a:pPr lvl="2" algn="just">
              <a:lnSpc>
                <a:spcPct val="150000"/>
              </a:lnSpc>
            </a:pPr>
            <a:r>
              <a:rPr lang="en-US" sz="1750"/>
              <a:t>Does not change registers (except IP and SP). So we can use general-purpose registers (AX, BX, etc.) to send values</a:t>
            </a:r>
            <a:endParaRPr lang="en-US" sz="1750"/>
          </a:p>
          <a:p>
            <a:pPr algn="just">
              <a:lnSpc>
                <a:spcPct val="150000"/>
              </a:lnSpc>
              <a:buFont typeface="Wingdings" panose="05000000000000000000" charset="0"/>
              <a:buChar char=""/>
            </a:pPr>
            <a:r>
              <a:rPr lang="en-US" sz="2000">
                <a:solidFill>
                  <a:srgbClr val="FF0000"/>
                </a:solidFill>
              </a:rPr>
              <a:t>Summary:</a:t>
            </a:r>
            <a:endParaRPr lang="en-US" sz="2000">
              <a:solidFill>
                <a:srgbClr val="FF0000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n-US" sz="2000">
                <a:sym typeface="+mn-ea"/>
              </a:rPr>
              <a:t>Parameters make subroutines flexible and reusable</a:t>
            </a:r>
            <a:endParaRPr lang="en-US" sz="2000">
              <a:sym typeface="+mn-ea"/>
            </a:endParaRPr>
          </a:p>
          <a:p>
            <a:pPr lvl="1" algn="just">
              <a:lnSpc>
                <a:spcPct val="150000"/>
              </a:lnSpc>
            </a:pPr>
            <a:r>
              <a:rPr lang="en-US" sz="2000">
                <a:sym typeface="+mn-ea"/>
              </a:rPr>
              <a:t>Registers are the simplest way to pass them</a:t>
            </a:r>
            <a:endParaRPr lang="en-US" sz="2000">
              <a:sym typeface="+mn-ea"/>
            </a:endParaRPr>
          </a:p>
          <a:p>
            <a:pPr lvl="1" algn="just">
              <a:lnSpc>
                <a:spcPct val="150000"/>
              </a:lnSpc>
            </a:pPr>
            <a:endParaRPr lang="en-US" sz="2000">
              <a:sym typeface="+mn-ea"/>
            </a:endParaRPr>
          </a:p>
        </p:txBody>
      </p:sp>
      <p:sp>
        <p:nvSpPr>
          <p:cNvPr id="4" name="Title 3"/>
          <p:cNvSpPr/>
          <p:nvPr>
            <p:ph type="title"/>
          </p:nvPr>
        </p:nvSpPr>
        <p:spPr>
          <a:xfrm>
            <a:off x="457200" y="152400"/>
            <a:ext cx="8229600" cy="979170"/>
          </a:xfrm>
        </p:spPr>
        <p:txBody>
          <a:bodyPr>
            <a:normAutofit/>
          </a:bodyPr>
          <a:p>
            <a:r>
              <a:rPr lang="en-US" sz="2665"/>
              <a:t>Parameters in Subroutines </a:t>
            </a:r>
            <a:endParaRPr lang="en-US" sz="2665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0320"/>
          </a:xfrm>
        </p:spPr>
        <p:txBody>
          <a:bodyPr>
            <a:normAutofit lnSpcReduction="20000"/>
          </a:bodyPr>
          <a:p>
            <a:pPr marL="365760" lvl="1" indent="0" algn="just">
              <a:lnSpc>
                <a:spcPct val="150000"/>
              </a:lnSpc>
              <a:buNone/>
            </a:pPr>
            <a:r>
              <a:rPr lang="en-US" sz="2000">
                <a:sym typeface="+mn-ea"/>
              </a:rPr>
              <a:t>Now we want to modify the bubble sort code so that it works as a subroutine. We place a label at the start of bubble sort code, which works as the anchor point and will be used in the CALL instruction to call the subroutine. We also place a RET at the end of the algorithm to return from</a:t>
            </a:r>
            <a:endParaRPr lang="en-US" sz="2000">
              <a:sym typeface="+mn-ea"/>
            </a:endParaRPr>
          </a:p>
          <a:p>
            <a:pPr marL="365760" lvl="1" indent="0" algn="just">
              <a:lnSpc>
                <a:spcPct val="150000"/>
              </a:lnSpc>
              <a:buNone/>
            </a:pPr>
            <a:r>
              <a:rPr lang="en-US" sz="2000">
                <a:sym typeface="+mn-ea"/>
              </a:rPr>
              <a:t>where we called the subroutine.</a:t>
            </a:r>
            <a:endParaRPr lang="en-US" sz="2000">
              <a:sym typeface="+mn-ea"/>
            </a:endParaRPr>
          </a:p>
        </p:txBody>
      </p:sp>
      <p:sp>
        <p:nvSpPr>
          <p:cNvPr id="4" name="Title 3"/>
          <p:cNvSpPr/>
          <p:nvPr>
            <p:ph type="title"/>
          </p:nvPr>
        </p:nvSpPr>
        <p:spPr>
          <a:xfrm>
            <a:off x="457200" y="152400"/>
            <a:ext cx="8229600" cy="979170"/>
          </a:xfrm>
        </p:spPr>
        <p:txBody>
          <a:bodyPr>
            <a:normAutofit/>
          </a:bodyPr>
          <a:p>
            <a:r>
              <a:rPr lang="en-US" sz="2665"/>
              <a:t>5.2. OUR FIRST SUBROUTINE </a:t>
            </a:r>
            <a:endParaRPr lang="en-US" sz="2665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 descr="Image 12-05-2025 at 1.56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8495" y="69215"/>
            <a:ext cx="7522210" cy="6741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0320"/>
          </a:xfrm>
        </p:spPr>
        <p:txBody>
          <a:bodyPr>
            <a:normAutofit fontScale="90000"/>
          </a:bodyPr>
          <a:p>
            <a:pPr algn="just">
              <a:lnSpc>
                <a:spcPct val="150000"/>
              </a:lnSpc>
              <a:buFont typeface="Wingdings" panose="05000000000000000000" charset="0"/>
              <a:buChar char=""/>
            </a:pPr>
            <a:r>
              <a:rPr lang="en-US">
                <a:solidFill>
                  <a:srgbClr val="FF0000"/>
                </a:solidFill>
              </a:rPr>
              <a:t>  Subroutine Structure </a:t>
            </a:r>
            <a:endParaRPr lang="en-US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000"/>
              <a:t>Label bubblesort: marks the entry point for CALL</a:t>
            </a:r>
            <a:endParaRPr lang="en-US" sz="2000"/>
          </a:p>
          <a:p>
            <a:pPr marL="0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000"/>
              <a:t>RET ends the routine and returns to the calling location</a:t>
            </a:r>
            <a:endParaRPr lang="en-US" sz="2000"/>
          </a:p>
          <a:p>
            <a:pPr algn="just">
              <a:lnSpc>
                <a:spcPct val="150000"/>
              </a:lnSpc>
              <a:buFont typeface="Wingdings" panose="05000000000000000000" charset="0"/>
              <a:buChar char=""/>
            </a:pPr>
            <a:r>
              <a:rPr lang="en-US" sz="2000">
                <a:solidFill>
                  <a:srgbClr val="FF0000"/>
                </a:solidFill>
                <a:sym typeface="+mn-ea"/>
              </a:rPr>
              <a:t>   Parameters Passed </a:t>
            </a:r>
            <a:endParaRPr lang="en-US" sz="200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000">
                <a:sym typeface="+mn-ea"/>
              </a:rPr>
              <a:t>CX: Number of elements to sort</a:t>
            </a:r>
            <a:endParaRPr lang="en-US" sz="2000">
              <a:sym typeface="+mn-ea"/>
            </a:endParaRPr>
          </a:p>
          <a:p>
            <a:pPr lvl="1" algn="just">
              <a:lnSpc>
                <a:spcPct val="150000"/>
              </a:lnSpc>
            </a:pPr>
            <a:r>
              <a:rPr lang="en-US" sz="1845"/>
              <a:t>Decremented by 1 (last element doesn't need comparison)</a:t>
            </a:r>
            <a:endParaRPr lang="en-US" sz="1845"/>
          </a:p>
          <a:p>
            <a:pPr lvl="1" algn="just">
              <a:lnSpc>
                <a:spcPct val="150000"/>
              </a:lnSpc>
            </a:pPr>
            <a:r>
              <a:rPr lang="en-US" sz="1845"/>
              <a:t>Multiplied by 2 (since it's a word array → 2 bytes per element)</a:t>
            </a:r>
            <a:endParaRPr lang="en-US" sz="1845"/>
          </a:p>
          <a:p>
            <a:pPr marL="0" lvl="1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000">
                <a:sym typeface="+mn-ea"/>
              </a:rPr>
              <a:t>BX: Base address of the array</a:t>
            </a:r>
            <a:endParaRPr lang="en-US" sz="2000">
              <a:solidFill>
                <a:schemeClr val="tx1"/>
              </a:solidFill>
              <a:sym typeface="+mn-ea"/>
            </a:endParaRPr>
          </a:p>
          <a:p>
            <a:pPr marL="0" lvl="1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000"/>
              <a:t>SI: Offset/index into the array</a:t>
            </a:r>
            <a:endParaRPr lang="en-US" sz="2000"/>
          </a:p>
          <a:p>
            <a:pPr marL="0" lvl="1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000">
                <a:sym typeface="+mn-ea"/>
              </a:rPr>
              <a:t>Base + Index + Offset addressing is used (i.e., [BX+SI], [BX+SI+2])</a:t>
            </a:r>
            <a:endParaRPr lang="en-US" sz="2000">
              <a:sym typeface="+mn-ea"/>
            </a:endParaRPr>
          </a:p>
          <a:p>
            <a:pPr marL="365760" lvl="1" indent="0" algn="just">
              <a:lnSpc>
                <a:spcPct val="150000"/>
              </a:lnSpc>
              <a:buNone/>
            </a:pPr>
            <a:endParaRPr lang="en-US" sz="2000">
              <a:sym typeface="+mn-ea"/>
            </a:endParaRPr>
          </a:p>
        </p:txBody>
      </p:sp>
      <p:sp>
        <p:nvSpPr>
          <p:cNvPr id="5" name="Title 3"/>
          <p:cNvSpPr/>
          <p:nvPr/>
        </p:nvSpPr>
        <p:spPr>
          <a:xfrm>
            <a:off x="457200" y="152400"/>
            <a:ext cx="8229600" cy="979170"/>
          </a:xfrm>
          <a:prstGeom prst="rect">
            <a:avLst/>
          </a:prstGeom>
          <a:ln w="6350" cap="rnd">
            <a:noFill/>
          </a:ln>
        </p:spPr>
        <p:txBody>
          <a:bodyPr vert="horz" rtlCol="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en-US" sz="4200" b="0" kern="1200" spc="-100" baseline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prstClr val="black">
                      <a:alpha val="70000"/>
                    </a:prstClr>
                  </a:inn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65"/>
              <a:t>5.2. OUR FIRST SUBROUTINE </a:t>
            </a:r>
            <a:endParaRPr lang="en-US" sz="2665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0320"/>
          </a:xfrm>
        </p:spPr>
        <p:txBody>
          <a:bodyPr>
            <a:normAutofit fontScale="80000"/>
          </a:bodyPr>
          <a:p>
            <a:pPr algn="just">
              <a:lnSpc>
                <a:spcPct val="150000"/>
              </a:lnSpc>
              <a:buFont typeface="Wingdings" panose="05000000000000000000" charset="0"/>
              <a:buChar char=""/>
            </a:pPr>
            <a:r>
              <a:rPr lang="en-US">
                <a:solidFill>
                  <a:srgbClr val="FF0000"/>
                </a:solidFill>
              </a:rPr>
              <a:t>  Main Program (Like C main()) </a:t>
            </a:r>
            <a:endParaRPr lang="en-US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000"/>
              <a:t>Label start: is the main routine</a:t>
            </a:r>
            <a:endParaRPr lang="en-US" sz="2000"/>
          </a:p>
          <a:p>
            <a:pPr marL="0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000"/>
              <a:t>mov bx, data → pass base address of array</a:t>
            </a:r>
            <a:endParaRPr lang="en-US" sz="2000"/>
          </a:p>
          <a:p>
            <a:pPr marL="0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000"/>
              <a:t>mov cx, 10 → pass number of elements</a:t>
            </a:r>
            <a:endParaRPr lang="en-US" sz="2000"/>
          </a:p>
          <a:p>
            <a:pPr marL="0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000"/>
              <a:t>call bubblesort → invoke subroutine</a:t>
            </a:r>
            <a:endParaRPr lang="en-US" sz="2000"/>
          </a:p>
          <a:p>
            <a:pPr algn="just">
              <a:lnSpc>
                <a:spcPct val="150000"/>
              </a:lnSpc>
              <a:buFont typeface="Wingdings" panose="05000000000000000000" charset="0"/>
              <a:buChar char=""/>
            </a:pPr>
            <a:r>
              <a:rPr lang="en-US" sz="2000">
                <a:solidFill>
                  <a:srgbClr val="FF0000"/>
                </a:solidFill>
                <a:sym typeface="+mn-ea"/>
              </a:rPr>
              <a:t>  What Happens During CALL  </a:t>
            </a:r>
            <a:endParaRPr lang="en-US" sz="2000">
              <a:solidFill>
                <a:srgbClr val="FF0000"/>
              </a:solidFill>
              <a:sym typeface="+mn-ea"/>
            </a:endParaRPr>
          </a:p>
          <a:p>
            <a:pPr lvl="1" algn="just">
              <a:lnSpc>
                <a:spcPct val="150000"/>
              </a:lnSpc>
            </a:pPr>
            <a:r>
              <a:rPr lang="en-US" sz="1845">
                <a:sym typeface="+mn-ea"/>
              </a:rPr>
              <a:t>Execution jumps to bubblesort</a:t>
            </a:r>
            <a:endParaRPr lang="en-US" sz="1845">
              <a:sym typeface="+mn-ea"/>
            </a:endParaRPr>
          </a:p>
          <a:p>
            <a:pPr lvl="1" algn="just">
              <a:lnSpc>
                <a:spcPct val="150000"/>
              </a:lnSpc>
            </a:pPr>
            <a:r>
              <a:rPr lang="en-US" sz="1845">
                <a:sym typeface="+mn-ea"/>
              </a:rPr>
              <a:t>IP (Instruction Pointer) changes</a:t>
            </a:r>
            <a:endParaRPr lang="en-US" sz="1845">
              <a:sym typeface="+mn-ea"/>
            </a:endParaRPr>
          </a:p>
          <a:p>
            <a:pPr lvl="1" algn="just">
              <a:lnSpc>
                <a:spcPct val="150000"/>
              </a:lnSpc>
            </a:pPr>
            <a:r>
              <a:rPr lang="en-US" sz="1845">
                <a:sym typeface="+mn-ea"/>
              </a:rPr>
              <a:t>SP (Stack Pointer) is decremented by 2</a:t>
            </a:r>
            <a:endParaRPr lang="en-US" sz="1845">
              <a:sym typeface="+mn-ea"/>
            </a:endParaRPr>
          </a:p>
          <a:p>
            <a:pPr lvl="1" algn="just">
              <a:lnSpc>
                <a:spcPct val="150000"/>
              </a:lnSpc>
            </a:pPr>
            <a:r>
              <a:rPr lang="en-US" sz="1845">
                <a:sym typeface="+mn-ea"/>
              </a:rPr>
              <a:t>Return address (e.g., 0150) is pushed on stack</a:t>
            </a:r>
            <a:endParaRPr lang="en-US" sz="1845">
              <a:sym typeface="+mn-ea"/>
            </a:endParaRPr>
          </a:p>
          <a:p>
            <a:pPr lvl="1" algn="just">
              <a:lnSpc>
                <a:spcPct val="150000"/>
              </a:lnSpc>
            </a:pPr>
            <a:r>
              <a:rPr lang="en-US" sz="1845">
                <a:sym typeface="+mn-ea"/>
              </a:rPr>
              <a:t>RET later pops this address back into IP → resumes from where CALL was made</a:t>
            </a:r>
            <a:endParaRPr lang="en-US" sz="1845">
              <a:sym typeface="+mn-ea"/>
            </a:endParaRPr>
          </a:p>
          <a:p>
            <a:pPr marL="365760" lvl="1" indent="0" algn="just">
              <a:lnSpc>
                <a:spcPct val="150000"/>
              </a:lnSpc>
              <a:buNone/>
            </a:pPr>
            <a:endParaRPr lang="en-US" sz="2000">
              <a:sym typeface="+mn-ea"/>
            </a:endParaRPr>
          </a:p>
        </p:txBody>
      </p:sp>
      <p:sp>
        <p:nvSpPr>
          <p:cNvPr id="5" name="Title 3"/>
          <p:cNvSpPr/>
          <p:nvPr/>
        </p:nvSpPr>
        <p:spPr>
          <a:xfrm>
            <a:off x="457200" y="152400"/>
            <a:ext cx="8229600" cy="979170"/>
          </a:xfrm>
          <a:prstGeom prst="rect">
            <a:avLst/>
          </a:prstGeom>
          <a:ln w="6350" cap="rnd">
            <a:noFill/>
          </a:ln>
        </p:spPr>
        <p:txBody>
          <a:bodyPr vert="horz" rtlCol="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en-US" sz="4200" b="0" kern="1200" spc="-100" baseline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prstClr val="black">
                      <a:alpha val="70000"/>
                    </a:prstClr>
                  </a:inn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65"/>
              <a:t>5.2. OUR FIRST SUBROUTINE </a:t>
            </a:r>
            <a:endParaRPr lang="en-US" sz="2665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End of Lecture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5603</Words>
  <Application>WPS Writer</Application>
  <PresentationFormat>On-screen Show (4:3)</PresentationFormat>
  <Paragraphs>192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Arial</vt:lpstr>
      <vt:lpstr>SimSun</vt:lpstr>
      <vt:lpstr>Wingdings</vt:lpstr>
      <vt:lpstr>Wingdings 2</vt:lpstr>
      <vt:lpstr>Wingdings 2</vt:lpstr>
      <vt:lpstr>Verdana</vt:lpstr>
      <vt:lpstr>Microsoft YaHei</vt:lpstr>
      <vt:lpstr>汉仪旗黑</vt:lpstr>
      <vt:lpstr>Arial Unicode MS</vt:lpstr>
      <vt:lpstr>Calibri</vt:lpstr>
      <vt:lpstr>Helvetica Neue</vt:lpstr>
      <vt:lpstr>宋体-简</vt:lpstr>
      <vt:lpstr>Wingdings</vt:lpstr>
      <vt:lpstr>Paper</vt:lpstr>
      <vt:lpstr>Computer Organization &amp; Assembly Language (CSC-205)</vt:lpstr>
      <vt:lpstr>PowerPoint 演示文稿</vt:lpstr>
      <vt:lpstr>PowerPoint 演示文稿</vt:lpstr>
      <vt:lpstr>5.1. PROGRAM FLOW</vt:lpstr>
      <vt:lpstr>5.1. PROGRAM FLOW</vt:lpstr>
      <vt:lpstr>5.1. PROGRAM FLOW</vt:lpstr>
      <vt:lpstr>5.1. PROGRAM FLOW</vt:lpstr>
      <vt:lpstr>5.1. PROGRAM FLOW</vt:lpstr>
      <vt:lpstr>Simple Comparison of Procedure, Loop, and Label in Assembly Language</vt:lpstr>
      <vt:lpstr>Simple Comparison of Procedure, Loop, and Label in Assembly Language</vt:lpstr>
      <vt:lpstr>Simple Comparison of Procedure, Loop, and Label in Assembly Language</vt:lpstr>
      <vt:lpstr>Simple Comparison of Procedure, Loop, and Label in Assembly Language</vt:lpstr>
      <vt:lpstr>Simple Comparison of Procedure, Loop, and Label in Assembly Language</vt:lpstr>
      <vt:lpstr>Simple Comparison of Procedure, Loop, and Label in Assembly Language</vt:lpstr>
      <vt:lpstr>CALL and RET</vt:lpstr>
      <vt:lpstr>CALL and RET</vt:lpstr>
      <vt:lpstr>Parameters in Subroutines </vt:lpstr>
      <vt:lpstr>Parameters in Subroutines </vt:lpstr>
      <vt:lpstr>5.2. OUR FIRST SUBROUTINE </vt:lpstr>
      <vt:lpstr>5.2. OUR FIRST SUBROUTINE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 Abbas</cp:lastModifiedBy>
  <cp:revision>293</cp:revision>
  <dcterms:created xsi:type="dcterms:W3CDTF">2025-05-12T09:10:16Z</dcterms:created>
  <dcterms:modified xsi:type="dcterms:W3CDTF">2025-05-12T09:10:16Z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